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22.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23.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9.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0.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11.xml" ContentType="application/vnd.openxmlformats-officedocument.drawingml.chart+xml"/>
  <Override PartName="/ppt/notesSlides/notesSlide30.xml" ContentType="application/vnd.openxmlformats-officedocument.presentationml.notesSlide+xml"/>
  <Override PartName="/ppt/charts/chart12.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15.xml" ContentType="application/vnd.openxmlformats-officedocument.drawingml.chart+xml"/>
  <Override PartName="/ppt/notesSlides/notesSlide37.xml" ContentType="application/vnd.openxmlformats-officedocument.presentationml.notesSlide+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notesSlides/notesSlide38.xml" ContentType="application/vnd.openxmlformats-officedocument.presentationml.notesSlide+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23.xml" ContentType="application/vnd.openxmlformats-officedocument.drawingml.chart+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rts/chart24.xml" ContentType="application/vnd.openxmlformats-officedocument.drawingml.chart+xml"/>
  <Override PartName="/ppt/notesSlides/notesSlide46.xml" ContentType="application/vnd.openxmlformats-officedocument.presentationml.notesSlide+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notesSlides/notesSlide47.xml" ContentType="application/vnd.openxmlformats-officedocument.presentationml.notesSlide+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rts/chart32.xml" ContentType="application/vnd.openxmlformats-officedocument.drawingml.chart+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rts/chart33.xml" ContentType="application/vnd.openxmlformats-officedocument.drawingml.chart+xml"/>
  <Override PartName="/ppt/notesSlides/notesSlide55.xml" ContentType="application/vnd.openxmlformats-officedocument.presentationml.notesSlide+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notesSlides/notesSlide56.xml" ContentType="application/vnd.openxmlformats-officedocument.presentationml.notesSlide+xml"/>
  <Override PartName="/ppt/charts/chart38.xml" ContentType="application/vnd.openxmlformats-officedocument.drawingml.chart+xml"/>
  <Override PartName="/ppt/charts/chart39.xml" ContentType="application/vnd.openxmlformats-officedocument.drawingml.chart+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charts/chart40.xml" ContentType="application/vnd.openxmlformats-officedocument.drawingml.chart+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harts/chart41.xml" ContentType="application/vnd.openxmlformats-officedocument.drawingml.chart+xml"/>
  <Override PartName="/ppt/charts/chart42.xml" ContentType="application/vnd.openxmlformats-officedocument.drawingml.chart+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0"/>
  </p:notesMasterIdLst>
  <p:sldIdLst>
    <p:sldId id="256" r:id="rId2"/>
    <p:sldId id="257" r:id="rId3"/>
    <p:sldId id="258" r:id="rId4"/>
    <p:sldId id="259" r:id="rId5"/>
    <p:sldId id="260" r:id="rId6"/>
    <p:sldId id="261" r:id="rId7"/>
    <p:sldId id="262" r:id="rId8"/>
    <p:sldId id="263" r:id="rId9"/>
    <p:sldId id="264" r:id="rId10"/>
    <p:sldId id="346" r:id="rId11"/>
    <p:sldId id="340" r:id="rId12"/>
    <p:sldId id="341" r:id="rId13"/>
    <p:sldId id="342" r:id="rId14"/>
    <p:sldId id="343" r:id="rId15"/>
    <p:sldId id="344" r:id="rId16"/>
    <p:sldId id="345" r:id="rId17"/>
    <p:sldId id="353" r:id="rId18"/>
    <p:sldId id="347" r:id="rId19"/>
    <p:sldId id="348" r:id="rId20"/>
    <p:sldId id="349" r:id="rId21"/>
    <p:sldId id="350" r:id="rId22"/>
    <p:sldId id="351" r:id="rId23"/>
    <p:sldId id="352"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289" r:id="rId49"/>
    <p:sldId id="290" r:id="rId50"/>
    <p:sldId id="291" r:id="rId51"/>
    <p:sldId id="292" r:id="rId52"/>
    <p:sldId id="293" r:id="rId53"/>
    <p:sldId id="294" r:id="rId54"/>
    <p:sldId id="295" r:id="rId55"/>
    <p:sldId id="296" r:id="rId56"/>
    <p:sldId id="297" r:id="rId57"/>
    <p:sldId id="298" r:id="rId58"/>
    <p:sldId id="299" r:id="rId59"/>
    <p:sldId id="300" r:id="rId60"/>
    <p:sldId id="301" r:id="rId61"/>
    <p:sldId id="302" r:id="rId62"/>
    <p:sldId id="303" r:id="rId63"/>
    <p:sldId id="304" r:id="rId64"/>
    <p:sldId id="305" r:id="rId65"/>
    <p:sldId id="306" r:id="rId66"/>
    <p:sldId id="307" r:id="rId67"/>
    <p:sldId id="308" r:id="rId68"/>
    <p:sldId id="309" r:id="rId69"/>
    <p:sldId id="310" r:id="rId70"/>
    <p:sldId id="311" r:id="rId71"/>
    <p:sldId id="312" r:id="rId72"/>
    <p:sldId id="313" r:id="rId73"/>
    <p:sldId id="314" r:id="rId74"/>
    <p:sldId id="315" r:id="rId75"/>
    <p:sldId id="316" r:id="rId76"/>
    <p:sldId id="317" r:id="rId77"/>
    <p:sldId id="318" r:id="rId78"/>
    <p:sldId id="319" r:id="rId79"/>
    <p:sldId id="320" r:id="rId80"/>
    <p:sldId id="321" r:id="rId81"/>
    <p:sldId id="322" r:id="rId82"/>
    <p:sldId id="323" r:id="rId83"/>
    <p:sldId id="324" r:id="rId84"/>
    <p:sldId id="325" r:id="rId85"/>
    <p:sldId id="326" r:id="rId86"/>
    <p:sldId id="327" r:id="rId87"/>
    <p:sldId id="328" r:id="rId88"/>
    <p:sldId id="329" r:id="rId89"/>
    <p:sldId id="330" r:id="rId90"/>
    <p:sldId id="331" r:id="rId91"/>
    <p:sldId id="332" r:id="rId92"/>
    <p:sldId id="333" r:id="rId93"/>
    <p:sldId id="334" r:id="rId94"/>
    <p:sldId id="335" r:id="rId95"/>
    <p:sldId id="336" r:id="rId96"/>
    <p:sldId id="337" r:id="rId97"/>
    <p:sldId id="338" r:id="rId98"/>
    <p:sldId id="339" r:id="rId9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37.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39.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40.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S1</c:v>
                </c:pt>
              </c:strCache>
            </c:strRef>
          </c:tx>
          <c:spPr>
            <a:solidFill>
              <a:srgbClr val="003E58"/>
            </a:solidFill>
            <a:ln>
              <a:noFill/>
            </a:ln>
          </c:spPr>
          <c:invertIfNegative val="1"/>
          <c:dLbls>
            <c:numFmt formatCode="0.0&quot;%&quot;"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2021–2026</c:v>
                </c:pt>
                <c:pt idx="1">
                  <c:v>2026–2036</c:v>
                </c:pt>
                <c:pt idx="2">
                  <c:v>2021–2036</c:v>
                </c:pt>
              </c:strCache>
            </c:strRef>
          </c:cat>
          <c:val>
            <c:numRef>
              <c:f>Sheet1!$B$2:$B$4</c:f>
              <c:numCache>
                <c:formatCode>General</c:formatCode>
                <c:ptCount val="3"/>
                <c:pt idx="0">
                  <c:v>4.6569100134815855</c:v>
                </c:pt>
                <c:pt idx="1">
                  <c:v>5.8433160577910037</c:v>
                </c:pt>
                <c:pt idx="2">
                  <c:v>5.4463604923619124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9ECC-4CD3-A654-C7A8CB9B0DF6}"/>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7.7131771962841249"/>
          <c:min val="0"/>
        </c:scaling>
        <c:delete val="0"/>
        <c:axPos val="l"/>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c:v>
                </c:pt>
                <c:pt idx="1">
                  <c:v>795.00799999999992</c:v>
                </c:pt>
                <c:pt idx="2">
                  <c:v>0</c:v>
                </c:pt>
                <c:pt idx="3">
                  <c:v>998.18499999999983</c:v>
                </c:pt>
                <c:pt idx="4">
                  <c:v>0</c:v>
                </c:pt>
              </c:numCache>
            </c:numRef>
          </c:val>
          <c:extLst>
            <c:ext xmlns:c16="http://schemas.microsoft.com/office/drawing/2014/chart" uri="{C3380CC4-5D6E-409C-BE32-E72D297353CC}">
              <c16:uniqueId val="{00000000-AF18-49E6-9932-C8DDAE358D7A}"/>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AF18-49E6-9932-C8DDAE358D7A}"/>
              </c:ext>
            </c:extLst>
          </c:dPt>
          <c:dPt>
            <c:idx val="1"/>
            <c:invertIfNegative val="1"/>
            <c:bubble3D val="0"/>
            <c:spPr>
              <a:solidFill>
                <a:srgbClr val="008189"/>
              </a:solidFill>
            </c:spPr>
            <c:extLst>
              <c:ext xmlns:c16="http://schemas.microsoft.com/office/drawing/2014/chart" uri="{C3380CC4-5D6E-409C-BE32-E72D297353CC}">
                <c16:uniqueId val="{00000004-AF18-49E6-9932-C8DDAE358D7A}"/>
              </c:ext>
            </c:extLst>
          </c:dPt>
          <c:dPt>
            <c:idx val="2"/>
            <c:invertIfNegative val="1"/>
            <c:bubble3D val="0"/>
            <c:spPr>
              <a:solidFill>
                <a:srgbClr val="0E72AE"/>
              </a:solidFill>
            </c:spPr>
            <c:extLst>
              <c:ext xmlns:c16="http://schemas.microsoft.com/office/drawing/2014/chart" uri="{C3380CC4-5D6E-409C-BE32-E72D297353CC}">
                <c16:uniqueId val="{00000006-AF18-49E6-9932-C8DDAE358D7A}"/>
              </c:ext>
            </c:extLst>
          </c:dPt>
          <c:dPt>
            <c:idx val="3"/>
            <c:invertIfNegative val="1"/>
            <c:bubble3D val="0"/>
            <c:spPr>
              <a:solidFill>
                <a:srgbClr val="008189"/>
              </a:solidFill>
            </c:spPr>
            <c:extLst>
              <c:ext xmlns:c16="http://schemas.microsoft.com/office/drawing/2014/chart" uri="{C3380CC4-5D6E-409C-BE32-E72D297353CC}">
                <c16:uniqueId val="{00000008-AF18-49E6-9932-C8DDAE358D7A}"/>
              </c:ext>
            </c:extLst>
          </c:dPt>
          <c:dPt>
            <c:idx val="4"/>
            <c:invertIfNegative val="1"/>
            <c:bubble3D val="0"/>
            <c:spPr>
              <a:solidFill>
                <a:srgbClr val="0E72AE"/>
              </a:solidFill>
            </c:spPr>
            <c:extLst>
              <c:ext xmlns:c16="http://schemas.microsoft.com/office/drawing/2014/chart" uri="{C3380CC4-5D6E-409C-BE32-E72D297353CC}">
                <c16:uniqueId val="{0000000A-AF18-49E6-9932-C8DDAE358D7A}"/>
              </c:ext>
            </c:extLst>
          </c:dPt>
          <c:dLbls>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795.00799999999992</c:v>
                </c:pt>
                <c:pt idx="1">
                  <c:v>203.17699999999991</c:v>
                </c:pt>
                <c:pt idx="2">
                  <c:v>998.18499999999983</c:v>
                </c:pt>
                <c:pt idx="3">
                  <c:v>763.1640000000001</c:v>
                </c:pt>
                <c:pt idx="4">
                  <c:v>1761.3489999999999</c:v>
                </c:pt>
              </c:numCache>
            </c:numRef>
          </c:val>
          <c:extLst>
            <c:ext xmlns:c16="http://schemas.microsoft.com/office/drawing/2014/chart" uri="{C3380CC4-5D6E-409C-BE32-E72D297353CC}">
              <c16:uniqueId val="{0000000B-AF18-49E6-9932-C8DDAE358D7A}"/>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S1</c:v>
                </c:pt>
              </c:strCache>
            </c:strRef>
          </c:tx>
          <c:spPr>
            <a:solidFill>
              <a:srgbClr val="003E58"/>
            </a:solidFill>
            <a:ln>
              <a:noFill/>
            </a:ln>
          </c:spPr>
          <c:invertIfNegative val="1"/>
          <c:dLbls>
            <c:numFmt formatCode="0.0&quot;%&quot;"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2021–2026</c:v>
                </c:pt>
                <c:pt idx="1">
                  <c:v>2026–2036</c:v>
                </c:pt>
                <c:pt idx="2">
                  <c:v>2021–2036</c:v>
                </c:pt>
              </c:strCache>
            </c:strRef>
          </c:cat>
          <c:val>
            <c:numRef>
              <c:f>Sheet1!$B$2:$B$4</c:f>
              <c:numCache>
                <c:formatCode>General</c:formatCode>
                <c:ptCount val="3"/>
                <c:pt idx="0">
                  <c:v>4.9086640561870398</c:v>
                </c:pt>
                <c:pt idx="1">
                  <c:v>6.6193245554655666</c:v>
                </c:pt>
                <c:pt idx="2">
                  <c:v>6.0460272668443338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62F4-4572-9ABD-8731AEFF072E}"/>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max val="8.7375084132145489"/>
          <c:min val="0"/>
        </c:scaling>
        <c:delete val="0"/>
        <c:axPos val="l"/>
        <c:numFmt formatCode="0&quot;%&quot;"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c:v>
                </c:pt>
                <c:pt idx="1">
                  <c:v>181.495</c:v>
                </c:pt>
                <c:pt idx="2">
                  <c:v>0</c:v>
                </c:pt>
                <c:pt idx="3">
                  <c:v>230.63300000000004</c:v>
                </c:pt>
                <c:pt idx="4">
                  <c:v>0</c:v>
                </c:pt>
              </c:numCache>
            </c:numRef>
          </c:val>
          <c:extLst>
            <c:ext xmlns:c16="http://schemas.microsoft.com/office/drawing/2014/chart" uri="{C3380CC4-5D6E-409C-BE32-E72D297353CC}">
              <c16:uniqueId val="{00000000-5697-45C4-A923-4599CA0B6B5E}"/>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5697-45C4-A923-4599CA0B6B5E}"/>
              </c:ext>
            </c:extLst>
          </c:dPt>
          <c:dPt>
            <c:idx val="1"/>
            <c:invertIfNegative val="1"/>
            <c:bubble3D val="0"/>
            <c:spPr>
              <a:solidFill>
                <a:srgbClr val="008189"/>
              </a:solidFill>
            </c:spPr>
            <c:extLst>
              <c:ext xmlns:c16="http://schemas.microsoft.com/office/drawing/2014/chart" uri="{C3380CC4-5D6E-409C-BE32-E72D297353CC}">
                <c16:uniqueId val="{00000004-5697-45C4-A923-4599CA0B6B5E}"/>
              </c:ext>
            </c:extLst>
          </c:dPt>
          <c:dPt>
            <c:idx val="2"/>
            <c:invertIfNegative val="1"/>
            <c:bubble3D val="0"/>
            <c:spPr>
              <a:solidFill>
                <a:srgbClr val="0E72AE"/>
              </a:solidFill>
            </c:spPr>
            <c:extLst>
              <c:ext xmlns:c16="http://schemas.microsoft.com/office/drawing/2014/chart" uri="{C3380CC4-5D6E-409C-BE32-E72D297353CC}">
                <c16:uniqueId val="{00000006-5697-45C4-A923-4599CA0B6B5E}"/>
              </c:ext>
            </c:extLst>
          </c:dPt>
          <c:dPt>
            <c:idx val="3"/>
            <c:invertIfNegative val="1"/>
            <c:bubble3D val="0"/>
            <c:spPr>
              <a:solidFill>
                <a:srgbClr val="008189"/>
              </a:solidFill>
            </c:spPr>
            <c:extLst>
              <c:ext xmlns:c16="http://schemas.microsoft.com/office/drawing/2014/chart" uri="{C3380CC4-5D6E-409C-BE32-E72D297353CC}">
                <c16:uniqueId val="{00000008-5697-45C4-A923-4599CA0B6B5E}"/>
              </c:ext>
            </c:extLst>
          </c:dPt>
          <c:dPt>
            <c:idx val="4"/>
            <c:invertIfNegative val="1"/>
            <c:bubble3D val="0"/>
            <c:spPr>
              <a:solidFill>
                <a:srgbClr val="0E72AE"/>
              </a:solidFill>
            </c:spPr>
            <c:extLst>
              <c:ext xmlns:c16="http://schemas.microsoft.com/office/drawing/2014/chart" uri="{C3380CC4-5D6E-409C-BE32-E72D297353CC}">
                <c16:uniqueId val="{0000000A-5697-45C4-A923-4599CA0B6B5E}"/>
              </c:ext>
            </c:extLst>
          </c:dPt>
          <c:dLbls>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181.495</c:v>
                </c:pt>
                <c:pt idx="1">
                  <c:v>49.138000000000034</c:v>
                </c:pt>
                <c:pt idx="2">
                  <c:v>230.63300000000004</c:v>
                </c:pt>
                <c:pt idx="3">
                  <c:v>207.17199999999997</c:v>
                </c:pt>
                <c:pt idx="4">
                  <c:v>437.80500000000001</c:v>
                </c:pt>
              </c:numCache>
            </c:numRef>
          </c:val>
          <c:extLst>
            <c:ext xmlns:c16="http://schemas.microsoft.com/office/drawing/2014/chart" uri="{C3380CC4-5D6E-409C-BE32-E72D297353CC}">
              <c16:uniqueId val="{0000000B-5697-45C4-A923-4599CA0B6B5E}"/>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Value (US$ Mn)</c:v>
                </c:pt>
              </c:strCache>
            </c:strRef>
          </c:tx>
          <c:spPr>
            <a:solidFill>
              <a:srgbClr val="69B1E0"/>
            </a:solidFill>
            <a:ln>
              <a:noFill/>
            </a:ln>
          </c:spPr>
          <c:invertIfNegative val="1"/>
          <c:dLbls>
            <c:numFmt formatCode="#,##0" sourceLinked="0"/>
            <c:spPr>
              <a:noFill/>
              <a:ln>
                <a:noFill/>
              </a:ln>
              <a:effectLst/>
            </c:spPr>
            <c:txPr>
              <a:bodyPr rot="0" vert="horz"/>
              <a:lstStyle/>
              <a:p>
                <a:pPr>
                  <a:defRPr sz="1100">
                    <a:solidFill>
                      <a:srgbClr val="6C7A89"/>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181.495</c:v>
                </c:pt>
                <c:pt idx="1">
                  <c:v>190.09</c:v>
                </c:pt>
                <c:pt idx="2">
                  <c:v>199.21100000000001</c:v>
                </c:pt>
                <c:pt idx="3">
                  <c:v>208.89000000000001</c:v>
                </c:pt>
                <c:pt idx="4">
                  <c:v>219.1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0CDD-414A-8170-9AFD0C8C98FC}"/>
            </c:ext>
          </c:extLst>
        </c:ser>
        <c:dLbls>
          <c:showLegendKey val="0"/>
          <c:showVal val="0"/>
          <c:showCatName val="0"/>
          <c:showSerName val="0"/>
          <c:showPercent val="0"/>
          <c:showBubbleSize val="0"/>
        </c:dLbls>
        <c:gapWidth val="50"/>
        <c:axId val="-2068027336"/>
        <c:axId val="-2113994440"/>
      </c:barChart>
      <c:barChart>
        <c:barDir val="col"/>
        <c:grouping val="clustered"/>
        <c:varyColors val="0"/>
        <c:ser>
          <c:idx val="1"/>
          <c:order val="1"/>
          <c:tx>
            <c:strRef>
              <c:f>Sheet1!$C$1</c:f>
              <c:strCache>
                <c:ptCount val="1"/>
                <c:pt idx="0">
                  <c:v>Volume (Mn Units)</c:v>
                </c:pt>
              </c:strCache>
            </c:strRef>
          </c:tx>
          <c:spPr>
            <a:solidFill>
              <a:srgbClr val="C55A11"/>
            </a:solidFill>
            <a:ln>
              <a:noFill/>
            </a:ln>
          </c:spPr>
          <c:invertIfNegative val="1"/>
          <c:dLbls>
            <c:numFmt formatCode="#,##0"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2021</c:v>
                </c:pt>
                <c:pt idx="1">
                  <c:v>2022</c:v>
                </c:pt>
                <c:pt idx="2">
                  <c:v>2023</c:v>
                </c:pt>
                <c:pt idx="3">
                  <c:v>2024</c:v>
                </c:pt>
                <c:pt idx="4">
                  <c:v>2025</c:v>
                </c:pt>
              </c:strCache>
            </c:strRef>
          </c:cat>
          <c:val>
            <c:numRef>
              <c:f>Sheet1!$C$2:$C$6</c:f>
              <c:numCache>
                <c:formatCode>General</c:formatCode>
                <c:ptCount val="5"/>
                <c:pt idx="0">
                  <c:v>795.00799999999992</c:v>
                </c:pt>
                <c:pt idx="1">
                  <c:v>831.52099999999996</c:v>
                </c:pt>
                <c:pt idx="2">
                  <c:v>869.9820000000002</c:v>
                </c:pt>
                <c:pt idx="3">
                  <c:v>910.27699999999993</c:v>
                </c:pt>
                <c:pt idx="4">
                  <c:v>952.60900000000004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0CDD-414A-8170-9AFD0C8C98FC}"/>
            </c:ext>
          </c:extLst>
        </c:ser>
        <c:dLbls>
          <c:showLegendKey val="0"/>
          <c:showVal val="0"/>
          <c:showCatName val="0"/>
          <c:showSerName val="0"/>
          <c:showPercent val="0"/>
          <c:showBubbleSize val="0"/>
        </c:dLbls>
        <c:gapWidth val="219"/>
        <c:axId val="90210001"/>
        <c:axId val="90210002"/>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259"/>
          <c:min val="0"/>
        </c:scaling>
        <c:delete val="0"/>
        <c:axPos val="l"/>
        <c:numFmt formatCode="General" sourceLinked="1"/>
        <c:majorTickMark val="none"/>
        <c:minorTickMark val="none"/>
        <c:tickLblPos val="none"/>
        <c:spPr>
          <a:ln>
            <a:noFill/>
          </a:ln>
        </c:spPr>
        <c:txPr>
          <a:bodyPr/>
          <a:lstStyle/>
          <a:p>
            <a:pPr>
              <a:defRPr sz="1100"/>
            </a:pPr>
            <a:endParaRPr lang="en-US"/>
          </a:p>
        </c:txPr>
        <c:crossAx val="-2068027336"/>
        <c:crosses val="autoZero"/>
        <c:crossBetween val="between"/>
      </c:valAx>
      <c:catAx>
        <c:axId val="90210001"/>
        <c:scaling>
          <c:orientation val="minMax"/>
        </c:scaling>
        <c:delete val="1"/>
        <c:axPos val="b"/>
        <c:numFmt formatCode="General" sourceLinked="1"/>
        <c:majorTickMark val="cross"/>
        <c:minorTickMark val="cross"/>
        <c:tickLblPos val="nextTo"/>
        <c:crossAx val="90210002"/>
        <c:crosses val="autoZero"/>
        <c:auto val="1"/>
        <c:lblAlgn val="ctr"/>
        <c:lblOffset val="100"/>
        <c:noMultiLvlLbl val="1"/>
      </c:catAx>
      <c:valAx>
        <c:axId val="90210002"/>
        <c:scaling>
          <c:orientation val="minMax"/>
          <c:max val="1287"/>
          <c:min val="0"/>
        </c:scaling>
        <c:delete val="0"/>
        <c:axPos val="r"/>
        <c:numFmt formatCode="General" sourceLinked="0"/>
        <c:majorTickMark val="none"/>
        <c:minorTickMark val="none"/>
        <c:tickLblPos val="none"/>
        <c:spPr>
          <a:ln>
            <a:noFill/>
          </a:ln>
        </c:spPr>
        <c:crossAx val="90210001"/>
        <c:crosses val="max"/>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Value (US$ Mn)</c:v>
                </c:pt>
              </c:strCache>
            </c:strRef>
          </c:tx>
          <c:spPr>
            <a:solidFill>
              <a:srgbClr val="69B1E0"/>
            </a:solidFill>
            <a:ln>
              <a:noFill/>
            </a:ln>
          </c:spPr>
          <c:invertIfNegative val="1"/>
          <c:dLbls>
            <c:numFmt formatCode="#,##0" sourceLinked="0"/>
            <c:spPr>
              <a:noFill/>
              <a:ln>
                <a:noFill/>
              </a:ln>
              <a:effectLst/>
            </c:spPr>
            <c:txPr>
              <a:bodyPr rot="0" vert="horz"/>
              <a:lstStyle/>
              <a:p>
                <a:pPr>
                  <a:defRPr sz="1100">
                    <a:solidFill>
                      <a:srgbClr val="6C7A89"/>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Sheet1!$B$2:$B$12</c:f>
              <c:numCache>
                <c:formatCode>General</c:formatCode>
                <c:ptCount val="11"/>
                <c:pt idx="0">
                  <c:v>230.63300000000004</c:v>
                </c:pt>
                <c:pt idx="1">
                  <c:v>243.28100000000003</c:v>
                </c:pt>
                <c:pt idx="2">
                  <c:v>257.43200000000002</c:v>
                </c:pt>
                <c:pt idx="3">
                  <c:v>273.476</c:v>
                </c:pt>
                <c:pt idx="4">
                  <c:v>291.548</c:v>
                </c:pt>
                <c:pt idx="5">
                  <c:v>311.51</c:v>
                </c:pt>
                <c:pt idx="6">
                  <c:v>333.36200000000002</c:v>
                </c:pt>
                <c:pt idx="7">
                  <c:v>357</c:v>
                </c:pt>
                <c:pt idx="8">
                  <c:v>382.39500000000004</c:v>
                </c:pt>
                <c:pt idx="9">
                  <c:v>409.31299999999999</c:v>
                </c:pt>
                <c:pt idx="10">
                  <c:v>437.80500000000001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2DAA-444B-94F5-A49084C3D7E5}"/>
            </c:ext>
          </c:extLst>
        </c:ser>
        <c:dLbls>
          <c:showLegendKey val="0"/>
          <c:showVal val="0"/>
          <c:showCatName val="0"/>
          <c:showSerName val="0"/>
          <c:showPercent val="0"/>
          <c:showBubbleSize val="0"/>
        </c:dLbls>
        <c:gapWidth val="50"/>
        <c:axId val="-2068027336"/>
        <c:axId val="-2113994440"/>
      </c:barChart>
      <c:barChart>
        <c:barDir val="col"/>
        <c:grouping val="clustered"/>
        <c:varyColors val="0"/>
        <c:ser>
          <c:idx val="1"/>
          <c:order val="1"/>
          <c:tx>
            <c:strRef>
              <c:f>Sheet1!$C$1</c:f>
              <c:strCache>
                <c:ptCount val="1"/>
                <c:pt idx="0">
                  <c:v>Volume (Mn Units)</c:v>
                </c:pt>
              </c:strCache>
            </c:strRef>
          </c:tx>
          <c:spPr>
            <a:solidFill>
              <a:srgbClr val="C55A11"/>
            </a:solidFill>
            <a:ln>
              <a:noFill/>
            </a:ln>
          </c:spPr>
          <c:invertIfNegative val="1"/>
          <c:dLbls>
            <c:numFmt formatCode="#,##0"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Sheet1!$C$2:$C$12</c:f>
              <c:numCache>
                <c:formatCode>General</c:formatCode>
                <c:ptCount val="11"/>
                <c:pt idx="0">
                  <c:v>998.18499999999983</c:v>
                </c:pt>
                <c:pt idx="1">
                  <c:v>1047.5459999999998</c:v>
                </c:pt>
                <c:pt idx="2">
                  <c:v>1102.1510000000001</c:v>
                </c:pt>
                <c:pt idx="3">
                  <c:v>1163.6990000000001</c:v>
                </c:pt>
                <c:pt idx="4">
                  <c:v>1232.3859999999997</c:v>
                </c:pt>
                <c:pt idx="5">
                  <c:v>1307.4590000000001</c:v>
                </c:pt>
                <c:pt idx="6">
                  <c:v>1388.5709999999999</c:v>
                </c:pt>
                <c:pt idx="7">
                  <c:v>1475.3030000000003</c:v>
                </c:pt>
                <c:pt idx="8">
                  <c:v>1566.9580000000003</c:v>
                </c:pt>
                <c:pt idx="9">
                  <c:v>1662.2560000000003</c:v>
                </c:pt>
                <c:pt idx="10">
                  <c:v>1761.3489999999999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2DAA-444B-94F5-A49084C3D7E5}"/>
            </c:ext>
          </c:extLst>
        </c:ser>
        <c:dLbls>
          <c:showLegendKey val="0"/>
          <c:showVal val="0"/>
          <c:showCatName val="0"/>
          <c:showSerName val="0"/>
          <c:showPercent val="0"/>
          <c:showBubbleSize val="0"/>
        </c:dLbls>
        <c:gapWidth val="219"/>
        <c:axId val="90210001"/>
        <c:axId val="90210002"/>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517"/>
          <c:min val="0"/>
        </c:scaling>
        <c:delete val="0"/>
        <c:axPos val="l"/>
        <c:numFmt formatCode="General" sourceLinked="1"/>
        <c:majorTickMark val="none"/>
        <c:minorTickMark val="none"/>
        <c:tickLblPos val="none"/>
        <c:spPr>
          <a:ln>
            <a:noFill/>
          </a:ln>
        </c:spPr>
        <c:txPr>
          <a:bodyPr/>
          <a:lstStyle/>
          <a:p>
            <a:pPr>
              <a:defRPr sz="1100"/>
            </a:pPr>
            <a:endParaRPr lang="en-US"/>
          </a:p>
        </c:txPr>
        <c:crossAx val="-2068027336"/>
        <c:crosses val="autoZero"/>
        <c:crossBetween val="between"/>
      </c:valAx>
      <c:catAx>
        <c:axId val="90210001"/>
        <c:scaling>
          <c:orientation val="minMax"/>
        </c:scaling>
        <c:delete val="1"/>
        <c:axPos val="b"/>
        <c:numFmt formatCode="General" sourceLinked="1"/>
        <c:majorTickMark val="cross"/>
        <c:minorTickMark val="cross"/>
        <c:tickLblPos val="nextTo"/>
        <c:crossAx val="90210002"/>
        <c:crosses val="autoZero"/>
        <c:auto val="1"/>
        <c:lblAlgn val="ctr"/>
        <c:lblOffset val="100"/>
        <c:noMultiLvlLbl val="1"/>
      </c:catAx>
      <c:valAx>
        <c:axId val="90210002"/>
        <c:scaling>
          <c:orientation val="minMax"/>
          <c:max val="2541"/>
          <c:min val="0"/>
        </c:scaling>
        <c:delete val="0"/>
        <c:axPos val="r"/>
        <c:numFmt formatCode="#,##0" sourceLinked="0"/>
        <c:majorTickMark val="none"/>
        <c:minorTickMark val="none"/>
        <c:tickLblPos val="none"/>
        <c:spPr>
          <a:ln>
            <a:noFill/>
          </a:ln>
        </c:spPr>
        <c:crossAx val="90210001"/>
        <c:crosses val="max"/>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Index</c:v>
                </c:pt>
              </c:strCache>
            </c:strRef>
          </c:tx>
          <c:spPr>
            <a:solidFill>
              <a:srgbClr val="0E72AE"/>
            </a:solidFill>
            <a:ln>
              <a:noFill/>
            </a:ln>
          </c:spPr>
          <c:invertIfNegative val="1"/>
          <c:dLbls>
            <c:numFmt formatCode="#,##0"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USA</c:v>
                </c:pt>
              </c:strCache>
            </c:strRef>
          </c:cat>
          <c:val>
            <c:numRef>
              <c:f>Sheet1!$B$2:$B$2</c:f>
              <c:numCache>
                <c:formatCode>General</c:formatCode>
                <c:ptCount val="1"/>
                <c:pt idx="0">
                  <c:v>100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B2C8-4B98-9A77-1E29B2094CBC}"/>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b"/>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Index</c:v>
                </c:pt>
              </c:strCache>
            </c:strRef>
          </c:tx>
          <c:spPr>
            <a:solidFill>
              <a:srgbClr val="0E72AE"/>
            </a:solidFill>
            <a:ln>
              <a:noFill/>
            </a:ln>
          </c:spPr>
          <c:invertIfNegative val="1"/>
          <c:dLbls>
            <c:numFmt formatCode="#,##0" sourceLinked="0"/>
            <c:spPr>
              <a:noFill/>
              <a:ln>
                <a:noFill/>
              </a:ln>
              <a:effectLst/>
            </c:spPr>
            <c:txPr>
              <a:bodyPr rot="0" vert="horz"/>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USA</c:v>
                </c:pt>
              </c:strCache>
            </c:strRef>
          </c:cat>
          <c:val>
            <c:numRef>
              <c:f>Sheet1!$B$2:$B$2</c:f>
              <c:numCache>
                <c:formatCode>General</c:formatCode>
                <c:ptCount val="1"/>
                <c:pt idx="0">
                  <c:v>100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23D6-499F-9EE7-473ECDD2636D}"/>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b"/>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bubble3D val="0"/>
            <c:spPr>
              <a:solidFill>
                <a:srgbClr val="3D85C6"/>
              </a:solidFill>
            </c:spPr>
            <c:extLst>
              <c:ext xmlns:c16="http://schemas.microsoft.com/office/drawing/2014/chart" uri="{C3380CC4-5D6E-409C-BE32-E72D297353CC}">
                <c16:uniqueId val="{00000001-28E4-49B3-B11A-2DF6EBF4B99F}"/>
              </c:ext>
            </c:extLst>
          </c:dPt>
          <c:dPt>
            <c:idx val="1"/>
            <c:bubble3D val="0"/>
            <c:spPr>
              <a:solidFill>
                <a:srgbClr val="9E7E0A"/>
              </a:solidFill>
            </c:spPr>
            <c:extLst>
              <c:ext xmlns:c16="http://schemas.microsoft.com/office/drawing/2014/chart" uri="{C3380CC4-5D6E-409C-BE32-E72D297353CC}">
                <c16:uniqueId val="{00000003-28E4-49B3-B11A-2DF6EBF4B99F}"/>
              </c:ext>
            </c:extLst>
          </c:dPt>
          <c:dPt>
            <c:idx val="2"/>
            <c:bubble3D val="0"/>
            <c:spPr>
              <a:solidFill>
                <a:srgbClr val="008189"/>
              </a:solidFill>
            </c:spPr>
            <c:extLst>
              <c:ext xmlns:c16="http://schemas.microsoft.com/office/drawing/2014/chart" uri="{C3380CC4-5D6E-409C-BE32-E72D297353CC}">
                <c16:uniqueId val="{00000005-28E4-49B3-B11A-2DF6EBF4B99F}"/>
              </c:ext>
            </c:extLst>
          </c:dPt>
          <c:dPt>
            <c:idx val="3"/>
            <c:bubble3D val="0"/>
            <c:spPr>
              <a:solidFill>
                <a:srgbClr val="40315E"/>
              </a:solidFill>
            </c:spPr>
            <c:extLst>
              <c:ext xmlns:c16="http://schemas.microsoft.com/office/drawing/2014/chart" uri="{C3380CC4-5D6E-409C-BE32-E72D297353CC}">
                <c16:uniqueId val="{00000007-28E4-49B3-B11A-2DF6EBF4B99F}"/>
              </c:ext>
            </c:extLst>
          </c:dPt>
          <c:dPt>
            <c:idx val="4"/>
            <c:bubble3D val="0"/>
            <c:spPr>
              <a:solidFill>
                <a:srgbClr val="A35313"/>
              </a:solidFill>
            </c:spPr>
            <c:extLst>
              <c:ext xmlns:c16="http://schemas.microsoft.com/office/drawing/2014/chart" uri="{C3380CC4-5D6E-409C-BE32-E72D297353CC}">
                <c16:uniqueId val="{00000009-28E4-49B3-B11A-2DF6EBF4B99F}"/>
              </c:ext>
            </c:extLst>
          </c:dPt>
          <c:dPt>
            <c:idx val="5"/>
            <c:bubble3D val="0"/>
            <c:spPr>
              <a:solidFill>
                <a:srgbClr val="808080"/>
              </a:solidFill>
            </c:spPr>
            <c:extLst>
              <c:ext xmlns:c16="http://schemas.microsoft.com/office/drawing/2014/chart" uri="{C3380CC4-5D6E-409C-BE32-E72D297353CC}">
                <c16:uniqueId val="{0000000B-28E4-49B3-B11A-2DF6EBF4B99F}"/>
              </c:ext>
            </c:extLst>
          </c:dPt>
          <c:dPt>
            <c:idx val="6"/>
            <c:bubble3D val="0"/>
            <c:spPr>
              <a:solidFill>
                <a:srgbClr val="0E72AE"/>
              </a:solidFill>
            </c:spPr>
            <c:extLst>
              <c:ext xmlns:c16="http://schemas.microsoft.com/office/drawing/2014/chart" uri="{C3380CC4-5D6E-409C-BE32-E72D297353CC}">
                <c16:uniqueId val="{0000000D-28E4-49B3-B11A-2DF6EBF4B99F}"/>
              </c:ext>
            </c:extLst>
          </c:dPt>
          <c:dLbls>
            <c:dLbl>
              <c:idx val="0"/>
              <c:tx>
                <c:rich>
                  <a:bodyPr/>
                  <a:lstStyle/>
                  <a:p>
                    <a:r>
                      <a:t>21.8%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28E4-49B3-B11A-2DF6EBF4B99F}"/>
                </c:ext>
              </c:extLst>
            </c:dLbl>
            <c:dLbl>
              <c:idx val="1"/>
              <c:tx>
                <c:rich>
                  <a:bodyPr/>
                  <a:lstStyle/>
                  <a:p>
                    <a:r>
                      <a:t>27.2%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28E4-49B3-B11A-2DF6EBF4B99F}"/>
                </c:ext>
              </c:extLst>
            </c:dLbl>
            <c:dLbl>
              <c:idx val="2"/>
              <c:tx>
                <c:rich>
                  <a:bodyPr/>
                  <a:lstStyle/>
                  <a:p>
                    <a:r>
                      <a:t>17.5%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28E4-49B3-B11A-2DF6EBF4B99F}"/>
                </c:ext>
              </c:extLst>
            </c:dLbl>
            <c:dLbl>
              <c:idx val="3"/>
              <c:tx>
                <c:rich>
                  <a:bodyPr/>
                  <a:lstStyle/>
                  <a:p>
                    <a:r>
                      <a:t>25.2%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28E4-49B3-B11A-2DF6EBF4B99F}"/>
                </c:ext>
              </c:extLst>
            </c:dLbl>
            <c:dLbl>
              <c:idx val="4"/>
              <c:tx>
                <c:rich>
                  <a:bodyPr/>
                  <a:lstStyle/>
                  <a:p>
                    <a:r>
                      <a:t>2.3%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28E4-49B3-B11A-2DF6EBF4B99F}"/>
                </c:ext>
              </c:extLst>
            </c:dLbl>
            <c:dLbl>
              <c:idx val="5"/>
              <c:tx>
                <c:rich>
                  <a:bodyPr/>
                  <a:lstStyle/>
                  <a:p>
                    <a:r>
                      <a:t>2.2%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28E4-49B3-B11A-2DF6EBF4B99F}"/>
                </c:ext>
              </c:extLst>
            </c:dLbl>
            <c:dLbl>
              <c:idx val="6"/>
              <c:tx>
                <c:rich>
                  <a:bodyPr/>
                  <a:lstStyle/>
                  <a:p>
                    <a:r>
                      <a:t>3.8%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28E4-49B3-B11A-2DF6EBF4B99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Ref>
              <c:f>Sheet1!$A$2:$A$8</c:f>
              <c:strCache>
                <c:ptCount val="7"/>
                <c:pt idx="0">
                  <c:v>Capsule</c:v>
                </c:pt>
                <c:pt idx="1">
                  <c:v>Tablet</c:v>
                </c:pt>
                <c:pt idx="2">
                  <c:v>Softgels</c:v>
                </c:pt>
                <c:pt idx="3">
                  <c:v>Gummies</c:v>
                </c:pt>
                <c:pt idx="4">
                  <c:v>Powder</c:v>
                </c:pt>
                <c:pt idx="5">
                  <c:v>Bar</c:v>
                </c:pt>
                <c:pt idx="6">
                  <c:v>Liquid</c:v>
                </c:pt>
              </c:strCache>
            </c:strRef>
          </c:cat>
          <c:val>
            <c:numRef>
              <c:f>Sheet1!$B$2:$B$8</c:f>
              <c:numCache>
                <c:formatCode>General</c:formatCode>
                <c:ptCount val="7"/>
                <c:pt idx="0">
                  <c:v>95.328999999999994</c:v>
                </c:pt>
                <c:pt idx="1">
                  <c:v>119.176</c:v>
                </c:pt>
                <c:pt idx="2">
                  <c:v>76.418999999999997</c:v>
                </c:pt>
                <c:pt idx="3">
                  <c:v>110.422</c:v>
                </c:pt>
                <c:pt idx="4">
                  <c:v>10.215999999999999</c:v>
                </c:pt>
                <c:pt idx="5">
                  <c:v>9.5389999999999997</c:v>
                </c:pt>
                <c:pt idx="6">
                  <c:v>16.704000000000001</c:v>
                </c:pt>
              </c:numCache>
            </c:numRef>
          </c:val>
          <c:extLst>
            <c:ext xmlns:c16="http://schemas.microsoft.com/office/drawing/2014/chart" uri="{C3380CC4-5D6E-409C-BE32-E72D297353CC}">
              <c16:uniqueId val="{0000000E-28E4-49B3-B11A-2DF6EBF4B99F}"/>
            </c:ext>
          </c:extLst>
        </c:ser>
        <c:dLbls>
          <c:showLegendKey val="0"/>
          <c:showVal val="0"/>
          <c:showCatName val="0"/>
          <c:showSerName val="0"/>
          <c:showPercent val="0"/>
          <c:showBubbleSize val="0"/>
          <c:showLeaderLines val="1"/>
        </c:dLbls>
        <c:firstSliceAng val="0"/>
        <c:holeSize val="50"/>
      </c:doughnutChart>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Sheet1!$B$2:$B$12</c:f>
              <c:numCache>
                <c:formatCode>General</c:formatCode>
                <c:ptCount val="11"/>
                <c:pt idx="0">
                  <c:v>8.8638818949506759E-2</c:v>
                </c:pt>
                <c:pt idx="1">
                  <c:v>8.6287301400893135E-2</c:v>
                </c:pt>
                <c:pt idx="2">
                  <c:v>8.3894529158444198E-2</c:v>
                </c:pt>
                <c:pt idx="3">
                  <c:v>8.1254228752983285E-2</c:v>
                </c:pt>
                <c:pt idx="4">
                  <c:v>7.9886930328726749E-2</c:v>
                </c:pt>
                <c:pt idx="5">
                  <c:v>7.9822101524128372E-2</c:v>
                </c:pt>
                <c:pt idx="6">
                  <c:v>8.039966723782295E-2</c:v>
                </c:pt>
                <c:pt idx="7">
                  <c:v>8.024643551786316E-2</c:v>
                </c:pt>
                <c:pt idx="8">
                  <c:v>7.8837882399771297E-2</c:v>
                </c:pt>
                <c:pt idx="9">
                  <c:v>7.7488264558587039E-2</c:v>
                </c:pt>
                <c:pt idx="10">
                  <c:v>7.6356707241960933E-2</c:v>
                </c:pt>
              </c:numCache>
            </c:numRef>
          </c:val>
          <c:smooth val="0"/>
          <c:extLst>
            <c:ext xmlns:c16="http://schemas.microsoft.com/office/drawing/2014/chart" uri="{C3380CC4-5D6E-409C-BE32-E72D297353CC}">
              <c16:uniqueId val="{00000000-AE50-4B3D-B885-319B9C6DACD7}"/>
            </c:ext>
          </c:extLst>
        </c:ser>
        <c:ser>
          <c:idx val="1"/>
          <c:order val="1"/>
          <c:tx>
            <c:strRef>
              <c:f>Sheet1!$C$1</c: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Sheet1!$C$2:$C$12</c:f>
              <c:numCache>
                <c:formatCode>General</c:formatCode>
                <c:ptCount val="11"/>
                <c:pt idx="0">
                  <c:v>5.7517588979249745E-2</c:v>
                </c:pt>
                <c:pt idx="1">
                  <c:v>5.9644551152717447E-2</c:v>
                </c:pt>
                <c:pt idx="2">
                  <c:v>6.0420957590271607E-2</c:v>
                </c:pt>
                <c:pt idx="3">
                  <c:v>6.1288705961655671E-2</c:v>
                </c:pt>
                <c:pt idx="4">
                  <c:v>6.271755478370912E-2</c:v>
                </c:pt>
                <c:pt idx="5">
                  <c:v>6.4909761195626747E-2</c:v>
                </c:pt>
                <c:pt idx="6">
                  <c:v>6.7030198945249461E-2</c:v>
                </c:pt>
                <c:pt idx="7">
                  <c:v>6.8511243158062854E-2</c:v>
                </c:pt>
                <c:pt idx="8">
                  <c:v>6.946380903943182E-2</c:v>
                </c:pt>
                <c:pt idx="9">
                  <c:v>7.1107963848370037E-2</c:v>
                </c:pt>
                <c:pt idx="10">
                  <c:v>7.1995285491289085E-2</c:v>
                </c:pt>
              </c:numCache>
            </c:numRef>
          </c:val>
          <c:smooth val="0"/>
          <c:extLst>
            <c:ext xmlns:c16="http://schemas.microsoft.com/office/drawing/2014/chart" uri="{C3380CC4-5D6E-409C-BE32-E72D297353CC}">
              <c16:uniqueId val="{00000001-AE50-4B3D-B885-319B9C6DACD7}"/>
            </c:ext>
          </c:extLst>
        </c:ser>
        <c:ser>
          <c:idx val="2"/>
          <c:order val="2"/>
          <c:tx>
            <c:strRef>
              <c:f>Sheet1!$D$1</c: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Sheet1!$D$2:$D$12</c:f>
              <c:numCache>
                <c:formatCode>General</c:formatCode>
                <c:ptCount val="11"/>
                <c:pt idx="0">
                  <c:v>4.7624607432394495E-2</c:v>
                </c:pt>
                <c:pt idx="1">
                  <c:v>5.1113295035132483E-2</c:v>
                </c:pt>
                <c:pt idx="2">
                  <c:v>5.4248851955568896E-2</c:v>
                </c:pt>
                <c:pt idx="3">
                  <c:v>5.4802901819179989E-2</c:v>
                </c:pt>
                <c:pt idx="4">
                  <c:v>5.2556260064537202E-2</c:v>
                </c:pt>
                <c:pt idx="5">
                  <c:v>5.0705368212473768E-2</c:v>
                </c:pt>
                <c:pt idx="6">
                  <c:v>4.8075153475330985E-2</c:v>
                </c:pt>
                <c:pt idx="7">
                  <c:v>4.6053784742156448E-2</c:v>
                </c:pt>
                <c:pt idx="8">
                  <c:v>4.5816334800608836E-2</c:v>
                </c:pt>
                <c:pt idx="9">
                  <c:v>4.372190454695811E-2</c:v>
                </c:pt>
                <c:pt idx="10">
                  <c:v>4.1280432071045481E-2</c:v>
                </c:pt>
              </c:numCache>
            </c:numRef>
          </c:val>
          <c:smooth val="0"/>
          <c:extLst>
            <c:ext xmlns:c16="http://schemas.microsoft.com/office/drawing/2014/chart" uri="{C3380CC4-5D6E-409C-BE32-E72D297353CC}">
              <c16:uniqueId val="{00000002-AE50-4B3D-B885-319B9C6DACD7}"/>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40495176"/>
        <c:crosses val="autoZero"/>
        <c:auto val="1"/>
        <c:lblAlgn val="ctr"/>
        <c:lblOffset val="100"/>
        <c:tickLblSkip val="1"/>
        <c:tickMarkSkip val="1"/>
        <c:noMultiLvlLbl val="0"/>
      </c:catAx>
      <c:valAx>
        <c:axId val="2140495176"/>
        <c:scaling>
          <c:orientation val="minMax"/>
          <c:min val="0"/>
        </c:scaling>
        <c:delete val="0"/>
        <c:axPos val="l"/>
        <c:numFmt formatCode="0.00%" sourceLinked="0"/>
        <c:majorTickMark val="out"/>
        <c:minorTickMark val="none"/>
        <c:tickLblPos val="nextTo"/>
        <c:spPr>
          <a:ln>
            <a:solidFill>
              <a:srgbClr val="C6D5E1"/>
            </a:solidFill>
          </a:ln>
        </c:spPr>
        <c:txPr>
          <a:bodyPr/>
          <a:lstStyle/>
          <a:p>
            <a:pPr>
              <a:defRPr sz="1100"/>
            </a:pPr>
            <a:endParaRPr lang="en-US"/>
          </a:p>
        </c:txPr>
        <c:crossAx val="2118791784"/>
        <c:crosses val="autoZero"/>
        <c:crossBetween val="between"/>
      </c:valAx>
    </c:plotArea>
    <c:legend>
      <c:legendPos val="b"/>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strRef>
              <c:f>Sheet1!$B$1</c:f>
              <c:strCache>
                <c:ptCount val="1"/>
                <c:pt idx="0">
                  <c:v>USA</c:v>
                </c:pt>
              </c:strCache>
            </c:strRef>
          </c:tx>
          <c:spPr>
            <a:solidFill>
              <a:srgbClr val="3D85C6"/>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2026</c:v>
                </c:pt>
                <c:pt idx="1">
                  <c:v>2036</c:v>
                </c:pt>
              </c:strCache>
            </c:strRef>
          </c:cat>
          <c:val>
            <c:numRef>
              <c:f>Sheet1!$B$2:$B$3</c:f>
              <c:numCache>
                <c:formatCode>General</c:formatCode>
                <c:ptCount val="2"/>
                <c:pt idx="0">
                  <c:v>100</c:v>
                </c:pt>
                <c:pt idx="1">
                  <c:v>100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322B-4149-88BC-287ED52D93DD}"/>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strRef>
              <c:f>Sheet1!$B$1</c:f>
              <c:strCache>
                <c:ptCount val="1"/>
                <c:pt idx="0">
                  <c:v>USA</c:v>
                </c:pt>
              </c:strCache>
            </c:strRef>
          </c:tx>
          <c:spPr>
            <a:solidFill>
              <a:srgbClr val="3D85C6"/>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2026</c:v>
                </c:pt>
                <c:pt idx="1">
                  <c:v>2036</c:v>
                </c:pt>
              </c:strCache>
            </c:strRef>
          </c:cat>
          <c:val>
            <c:numRef>
              <c:f>Sheet1!$B$2:$B$3</c:f>
              <c:numCache>
                <c:formatCode>General</c:formatCode>
                <c:ptCount val="2"/>
                <c:pt idx="0">
                  <c:v>100</c:v>
                </c:pt>
                <c:pt idx="1">
                  <c:v>100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7323-4D29-9985-DA9F91621C4F}"/>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USA</c:v>
                </c:pt>
              </c:strCache>
            </c:strRef>
          </c:tx>
          <c:spPr>
            <a:solidFill>
              <a:srgbClr val="3D85C6"/>
            </a:solidFill>
            <a:ln>
              <a:noFill/>
            </a:ln>
          </c:spPr>
          <c:invertIfNegative val="1"/>
          <c:dLbls>
            <c:numFmt formatCode="#,##0"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795.00799999999992</c:v>
                </c:pt>
                <c:pt idx="1">
                  <c:v>831.52099999999996</c:v>
                </c:pt>
                <c:pt idx="2">
                  <c:v>869.9820000000002</c:v>
                </c:pt>
                <c:pt idx="3">
                  <c:v>910.27699999999993</c:v>
                </c:pt>
                <c:pt idx="4">
                  <c:v>952.60900000000004</c:v>
                </c:pt>
                <c:pt idx="5">
                  <c:v>998.18499999999983</c:v>
                </c:pt>
                <c:pt idx="6">
                  <c:v>1047.5459999999998</c:v>
                </c:pt>
                <c:pt idx="7">
                  <c:v>1102.1510000000001</c:v>
                </c:pt>
                <c:pt idx="8">
                  <c:v>1163.6990000000001</c:v>
                </c:pt>
                <c:pt idx="9">
                  <c:v>1232.3859999999997</c:v>
                </c:pt>
                <c:pt idx="10">
                  <c:v>1307.4590000000001</c:v>
                </c:pt>
                <c:pt idx="11">
                  <c:v>1388.5709999999999</c:v>
                </c:pt>
                <c:pt idx="12">
                  <c:v>1475.3030000000003</c:v>
                </c:pt>
                <c:pt idx="13">
                  <c:v>1566.9580000000003</c:v>
                </c:pt>
                <c:pt idx="14">
                  <c:v>1662.2560000000003</c:v>
                </c:pt>
                <c:pt idx="15">
                  <c:v>1761.3489999999999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A485-4904-B7E6-815949810AC9}"/>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USA</c:v>
                </c:pt>
              </c:strCache>
            </c:strRef>
          </c:tx>
          <c:spPr>
            <a:solidFill>
              <a:srgbClr val="3D85C6"/>
            </a:solidFill>
            <a:ln>
              <a:noFill/>
            </a:ln>
          </c:spPr>
          <c:invertIfNegative val="1"/>
          <c:dLbls>
            <c:numFmt formatCode="#,##0"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181.495</c:v>
                </c:pt>
                <c:pt idx="1">
                  <c:v>190.09</c:v>
                </c:pt>
                <c:pt idx="2">
                  <c:v>199.21100000000001</c:v>
                </c:pt>
                <c:pt idx="3">
                  <c:v>208.89000000000001</c:v>
                </c:pt>
                <c:pt idx="4">
                  <c:v>219.1</c:v>
                </c:pt>
                <c:pt idx="5">
                  <c:v>230.63300000000004</c:v>
                </c:pt>
                <c:pt idx="6">
                  <c:v>243.28100000000003</c:v>
                </c:pt>
                <c:pt idx="7">
                  <c:v>257.43200000000002</c:v>
                </c:pt>
                <c:pt idx="8">
                  <c:v>273.476</c:v>
                </c:pt>
                <c:pt idx="9">
                  <c:v>291.548</c:v>
                </c:pt>
                <c:pt idx="10">
                  <c:v>311.51</c:v>
                </c:pt>
                <c:pt idx="11">
                  <c:v>333.36200000000002</c:v>
                </c:pt>
                <c:pt idx="12">
                  <c:v>357</c:v>
                </c:pt>
                <c:pt idx="13">
                  <c:v>382.39500000000004</c:v>
                </c:pt>
                <c:pt idx="14">
                  <c:v>409.31299999999999</c:v>
                </c:pt>
                <c:pt idx="15">
                  <c:v>437.80500000000001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967C-4DDB-8336-9852EFA23464}"/>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ubbleChart>
        <c:varyColors val="0"/>
        <c:ser>
          <c:idx val="0"/>
          <c:order val="0"/>
          <c:tx>
            <c:strRef>
              <c:f>Sheet1!$B$1</c:f>
              <c:strCache>
                <c:ptCount val="1"/>
                <c:pt idx="0">
                  <c:v>Capsule</c:v>
                </c:pt>
              </c:strCache>
            </c:strRef>
          </c:tx>
          <c:spPr>
            <a:solidFill>
              <a:srgbClr val="3D85C6"/>
            </a:solidFill>
          </c:spPr>
          <c:invertIfNegative val="0"/>
          <c:xVal>
            <c:numRef>
              <c:f>Sheet1!$A$2:$A$2</c:f>
              <c:numCache>
                <c:formatCode>General</c:formatCode>
                <c:ptCount val="1"/>
                <c:pt idx="0">
                  <c:v>119.27333614732653</c:v>
                </c:pt>
              </c:numCache>
            </c:numRef>
          </c:xVal>
          <c:yVal>
            <c:numRef>
              <c:f>Sheet1!$B$2:$B$2</c:f>
              <c:numCache>
                <c:formatCode>General</c:formatCode>
                <c:ptCount val="1"/>
                <c:pt idx="0">
                  <c:v>135.32712144402578</c:v>
                </c:pt>
              </c:numCache>
            </c:numRef>
          </c:yVal>
          <c:bubbleSize>
            <c:numRef>
              <c:f>Sheet1!$C$2:$C$2</c:f>
              <c:numCache>
                <c:formatCode>General</c:formatCode>
                <c:ptCount val="1"/>
                <c:pt idx="0">
                  <c:v>95.328999999999994</c:v>
                </c:pt>
              </c:numCache>
            </c:numRef>
          </c:bubbleSize>
          <c:bubble3D val="0"/>
          <c:extLst>
            <c:ext xmlns:c16="http://schemas.microsoft.com/office/drawing/2014/chart" uri="{C3380CC4-5D6E-409C-BE32-E72D297353CC}">
              <c16:uniqueId val="{00000000-34B2-4AEB-B34E-FF83572D084C}"/>
            </c:ext>
          </c:extLst>
        </c:ser>
        <c:ser>
          <c:idx val="1"/>
          <c:order val="1"/>
          <c:tx>
            <c:strRef>
              <c:f>Sheet1!$B$4</c:f>
              <c:strCache>
                <c:ptCount val="1"/>
                <c:pt idx="0">
                  <c:v>Tablet</c:v>
                </c:pt>
              </c:strCache>
            </c:strRef>
          </c:tx>
          <c:spPr>
            <a:solidFill>
              <a:srgbClr val="9E7E0A"/>
            </a:solidFill>
          </c:spPr>
          <c:invertIfNegative val="0"/>
          <c:xVal>
            <c:numRef>
              <c:f>Sheet1!$A$5:$A$5</c:f>
              <c:numCache>
                <c:formatCode>General</c:formatCode>
                <c:ptCount val="1"/>
                <c:pt idx="0">
                  <c:v>57.0638483807016</c:v>
                </c:pt>
              </c:numCache>
            </c:numRef>
          </c:xVal>
          <c:yVal>
            <c:numRef>
              <c:f>Sheet1!$B$5:$B$5</c:f>
              <c:numCache>
                <c:formatCode>General</c:formatCode>
                <c:ptCount val="1"/>
                <c:pt idx="0">
                  <c:v>249.65724766186969</c:v>
                </c:pt>
              </c:numCache>
            </c:numRef>
          </c:yVal>
          <c:bubbleSize>
            <c:numRef>
              <c:f>Sheet1!$C$5:$C$5</c:f>
              <c:numCache>
                <c:formatCode>General</c:formatCode>
                <c:ptCount val="1"/>
                <c:pt idx="0">
                  <c:v>119.176</c:v>
                </c:pt>
              </c:numCache>
            </c:numRef>
          </c:bubbleSize>
          <c:bubble3D val="0"/>
          <c:extLst>
            <c:ext xmlns:c16="http://schemas.microsoft.com/office/drawing/2014/chart" uri="{C3380CC4-5D6E-409C-BE32-E72D297353CC}">
              <c16:uniqueId val="{00000001-34B2-4AEB-B34E-FF83572D084C}"/>
            </c:ext>
          </c:extLst>
        </c:ser>
        <c:ser>
          <c:idx val="2"/>
          <c:order val="2"/>
          <c:tx>
            <c:strRef>
              <c:f>Sheet1!$B$7</c:f>
              <c:strCache>
                <c:ptCount val="1"/>
                <c:pt idx="0">
                  <c:v>Softgels</c:v>
                </c:pt>
              </c:strCache>
            </c:strRef>
          </c:tx>
          <c:spPr>
            <a:solidFill>
              <a:srgbClr val="008189"/>
            </a:solidFill>
          </c:spPr>
          <c:invertIfNegative val="0"/>
          <c:xVal>
            <c:numRef>
              <c:f>Sheet1!$A$8:$A$8</c:f>
              <c:numCache>
                <c:formatCode>General</c:formatCode>
                <c:ptCount val="1"/>
                <c:pt idx="0">
                  <c:v>80.992779578724168</c:v>
                </c:pt>
              </c:numCache>
            </c:numRef>
          </c:xVal>
          <c:yVal>
            <c:numRef>
              <c:f>Sheet1!$B$8:$B$8</c:f>
              <c:numCache>
                <c:formatCode>General</c:formatCode>
                <c:ptCount val="1"/>
                <c:pt idx="0">
                  <c:v>137.58525449523702</c:v>
                </c:pt>
              </c:numCache>
            </c:numRef>
          </c:yVal>
          <c:bubbleSize>
            <c:numRef>
              <c:f>Sheet1!$C$8:$C$8</c:f>
              <c:numCache>
                <c:formatCode>General</c:formatCode>
                <c:ptCount val="1"/>
                <c:pt idx="0">
                  <c:v>76.418999999999997</c:v>
                </c:pt>
              </c:numCache>
            </c:numRef>
          </c:bubbleSize>
          <c:bubble3D val="0"/>
          <c:extLst>
            <c:ext xmlns:c16="http://schemas.microsoft.com/office/drawing/2014/chart" uri="{C3380CC4-5D6E-409C-BE32-E72D297353CC}">
              <c16:uniqueId val="{00000002-34B2-4AEB-B34E-FF83572D084C}"/>
            </c:ext>
          </c:extLst>
        </c:ser>
        <c:ser>
          <c:idx val="3"/>
          <c:order val="3"/>
          <c:tx>
            <c:strRef>
              <c:f>Sheet1!$B$10</c:f>
              <c:strCache>
                <c:ptCount val="1"/>
                <c:pt idx="0">
                  <c:v>Gummies</c:v>
                </c:pt>
              </c:strCache>
            </c:strRef>
          </c:tx>
          <c:spPr>
            <a:solidFill>
              <a:srgbClr val="40315E"/>
            </a:solidFill>
          </c:spPr>
          <c:invertIfNegative val="0"/>
          <c:xVal>
            <c:numRef>
              <c:f>Sheet1!$A$11:$A$11</c:f>
              <c:numCache>
                <c:formatCode>General</c:formatCode>
                <c:ptCount val="1"/>
                <c:pt idx="0">
                  <c:v>135.62152705335996</c:v>
                </c:pt>
              </c:numCache>
            </c:numRef>
          </c:xVal>
          <c:yVal>
            <c:numRef>
              <c:f>Sheet1!$B$11:$B$11</c:f>
              <c:numCache>
                <c:formatCode>General</c:formatCode>
                <c:ptCount val="1"/>
                <c:pt idx="0">
                  <c:v>141.86478084229054</c:v>
                </c:pt>
              </c:numCache>
            </c:numRef>
          </c:yVal>
          <c:bubbleSize>
            <c:numRef>
              <c:f>Sheet1!$C$11:$C$11</c:f>
              <c:numCache>
                <c:formatCode>General</c:formatCode>
                <c:ptCount val="1"/>
                <c:pt idx="0">
                  <c:v>110.422</c:v>
                </c:pt>
              </c:numCache>
            </c:numRef>
          </c:bubbleSize>
          <c:bubble3D val="0"/>
          <c:extLst>
            <c:ext xmlns:c16="http://schemas.microsoft.com/office/drawing/2014/chart" uri="{C3380CC4-5D6E-409C-BE32-E72D297353CC}">
              <c16:uniqueId val="{00000003-34B2-4AEB-B34E-FF83572D084C}"/>
            </c:ext>
          </c:extLst>
        </c:ser>
        <c:ser>
          <c:idx val="4"/>
          <c:order val="4"/>
          <c:tx>
            <c:strRef>
              <c:f>Sheet1!$B$13</c:f>
              <c:strCache>
                <c:ptCount val="1"/>
                <c:pt idx="0">
                  <c:v>Powder</c:v>
                </c:pt>
              </c:strCache>
            </c:strRef>
          </c:tx>
          <c:spPr>
            <a:solidFill>
              <a:srgbClr val="A35313"/>
            </a:solidFill>
          </c:spPr>
          <c:invertIfNegative val="0"/>
          <c:xVal>
            <c:numRef>
              <c:f>Sheet1!$A$14:$A$14</c:f>
              <c:numCache>
                <c:formatCode>General</c:formatCode>
                <c:ptCount val="1"/>
                <c:pt idx="0">
                  <c:v>204.75632389109722</c:v>
                </c:pt>
              </c:numCache>
            </c:numRef>
          </c:xVal>
          <c:yVal>
            <c:numRef>
              <c:f>Sheet1!$B$14:$B$14</c:f>
              <c:numCache>
                <c:formatCode>General</c:formatCode>
                <c:ptCount val="1"/>
                <c:pt idx="0">
                  <c:v>8.6986684472733735</c:v>
                </c:pt>
              </c:numCache>
            </c:numRef>
          </c:yVal>
          <c:bubbleSize>
            <c:numRef>
              <c:f>Sheet1!$C$14:$C$14</c:f>
              <c:numCache>
                <c:formatCode>General</c:formatCode>
                <c:ptCount val="1"/>
                <c:pt idx="0">
                  <c:v>10.215999999999999</c:v>
                </c:pt>
              </c:numCache>
            </c:numRef>
          </c:bubbleSize>
          <c:bubble3D val="0"/>
          <c:extLst>
            <c:ext xmlns:c16="http://schemas.microsoft.com/office/drawing/2014/chart" uri="{C3380CC4-5D6E-409C-BE32-E72D297353CC}">
              <c16:uniqueId val="{00000004-34B2-4AEB-B34E-FF83572D084C}"/>
            </c:ext>
          </c:extLst>
        </c:ser>
        <c:ser>
          <c:idx val="5"/>
          <c:order val="5"/>
          <c:tx>
            <c:strRef>
              <c:f>Sheet1!$B$16</c:f>
              <c:strCache>
                <c:ptCount val="1"/>
                <c:pt idx="0">
                  <c:v>Bar</c:v>
                </c:pt>
              </c:strCache>
            </c:strRef>
          </c:tx>
          <c:spPr>
            <a:solidFill>
              <a:srgbClr val="808080"/>
            </a:solidFill>
          </c:spPr>
          <c:invertIfNegative val="0"/>
          <c:xVal>
            <c:numRef>
              <c:f>Sheet1!$A$17:$A$17</c:f>
              <c:numCache>
                <c:formatCode>General</c:formatCode>
                <c:ptCount val="1"/>
                <c:pt idx="0">
                  <c:v>160.95417634405644</c:v>
                </c:pt>
              </c:numCache>
            </c:numRef>
          </c:xVal>
          <c:yVal>
            <c:numRef>
              <c:f>Sheet1!$B$17:$B$17</c:f>
              <c:numCache>
                <c:formatCode>General</c:formatCode>
                <c:ptCount val="1"/>
                <c:pt idx="0">
                  <c:v>10.519743488572754</c:v>
                </c:pt>
              </c:numCache>
            </c:numRef>
          </c:yVal>
          <c:bubbleSize>
            <c:numRef>
              <c:f>Sheet1!$C$17:$C$17</c:f>
              <c:numCache>
                <c:formatCode>General</c:formatCode>
                <c:ptCount val="1"/>
                <c:pt idx="0">
                  <c:v>9.5389999999999997</c:v>
                </c:pt>
              </c:numCache>
            </c:numRef>
          </c:bubbleSize>
          <c:bubble3D val="0"/>
          <c:extLst>
            <c:ext xmlns:c16="http://schemas.microsoft.com/office/drawing/2014/chart" uri="{C3380CC4-5D6E-409C-BE32-E72D297353CC}">
              <c16:uniqueId val="{00000005-34B2-4AEB-B34E-FF83572D084C}"/>
            </c:ext>
          </c:extLst>
        </c:ser>
        <c:ser>
          <c:idx val="6"/>
          <c:order val="6"/>
          <c:tx>
            <c:strRef>
              <c:f>Sheet1!$B$19</c:f>
              <c:strCache>
                <c:ptCount val="1"/>
                <c:pt idx="0">
                  <c:v>Liquid</c:v>
                </c:pt>
              </c:strCache>
            </c:strRef>
          </c:tx>
          <c:spPr>
            <a:solidFill>
              <a:srgbClr val="0E72AE"/>
            </a:solidFill>
          </c:spPr>
          <c:invertIfNegative val="0"/>
          <c:xVal>
            <c:numRef>
              <c:f>Sheet1!$A$20:$A$20</c:f>
              <c:numCache>
                <c:formatCode>General</c:formatCode>
                <c:ptCount val="1"/>
                <c:pt idx="0">
                  <c:v>181.04346966038264</c:v>
                </c:pt>
              </c:numCache>
            </c:numRef>
          </c:xVal>
          <c:yVal>
            <c:numRef>
              <c:f>Sheet1!$B$20:$B$20</c:f>
              <c:numCache>
                <c:formatCode>General</c:formatCode>
                <c:ptCount val="1"/>
                <c:pt idx="0">
                  <c:v>16.347183620730771</c:v>
                </c:pt>
              </c:numCache>
            </c:numRef>
          </c:yVal>
          <c:bubbleSize>
            <c:numRef>
              <c:f>Sheet1!$C$20:$C$20</c:f>
              <c:numCache>
                <c:formatCode>General</c:formatCode>
                <c:ptCount val="1"/>
                <c:pt idx="0">
                  <c:v>16.704000000000001</c:v>
                </c:pt>
              </c:numCache>
            </c:numRef>
          </c:bubbleSize>
          <c:bubble3D val="0"/>
          <c:extLst>
            <c:ext xmlns:c16="http://schemas.microsoft.com/office/drawing/2014/chart" uri="{C3380CC4-5D6E-409C-BE32-E72D297353CC}">
              <c16:uniqueId val="{00000006-34B2-4AEB-B34E-FF83572D084C}"/>
            </c:ext>
          </c:extLst>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250"/>
          <c:min val="20"/>
        </c:scaling>
        <c:delete val="0"/>
        <c:axPos val="b"/>
        <c:title>
          <c:tx>
            <c:rich>
              <a:bodyPr/>
              <a:lstStyle/>
              <a:p>
                <a:r>
                  <a:rPr sz="1100" b="0">
                    <a:solidFill>
                      <a:srgbClr val="6C7A89"/>
                    </a:solidFill>
                    <a:latin typeface="Calibri"/>
                  </a:rPr>
                  <a:t>CAGR Index (100 = segment average growth)</a:t>
                </a:r>
              </a:p>
            </c:rich>
          </c:tx>
          <c:overlay val="0"/>
        </c:title>
        <c:numFmt formatCode="General" sourceLinked="1"/>
        <c:majorTickMark val="out"/>
        <c:minorTickMark val="none"/>
        <c:tickLblPos val="nextTo"/>
        <c:spPr>
          <a:ln>
            <a:solidFill>
              <a:srgbClr val="C6D5E1"/>
            </a:solidFill>
          </a:ln>
        </c:spPr>
        <c:txPr>
          <a:bodyPr/>
          <a:lstStyle/>
          <a:p>
            <a:pPr>
              <a:defRPr sz="1100"/>
            </a:pPr>
            <a:endParaRPr lang="en-US"/>
          </a:p>
        </c:txPr>
        <c:crossAx val="-2115723560"/>
        <c:crosses val="autoZero"/>
        <c:crossBetween val="midCat"/>
      </c:valAx>
      <c:valAx>
        <c:axId val="-2115723560"/>
        <c:scaling>
          <c:orientation val="minMax"/>
          <c:max val="325"/>
          <c:min val="0"/>
        </c:scaling>
        <c:delete val="0"/>
        <c:axPos val="l"/>
        <c:title>
          <c:tx>
            <c:rich>
              <a:bodyPr/>
              <a:lstStyle/>
              <a:p>
                <a:r>
                  <a:rPr sz="1100" b="0">
                    <a:solidFill>
                      <a:srgbClr val="6C7A89"/>
                    </a:solidFill>
                    <a:latin typeface="Calibri"/>
                  </a:rPr>
                  <a:t>Market Share Index (100 = equal share)</a:t>
                </a:r>
              </a:p>
            </c:rich>
          </c:tx>
          <c:overlay val="0"/>
        </c:title>
        <c:numFmt formatCode="General" sourceLinked="1"/>
        <c:majorTickMark val="out"/>
        <c:minorTickMark val="none"/>
        <c:tickLblPos val="nextTo"/>
        <c:spPr>
          <a:ln>
            <a:solidFill>
              <a:srgbClr val="C6D5E1"/>
            </a:solidFill>
          </a:ln>
        </c:spPr>
        <c:txPr>
          <a:bodyPr/>
          <a:lstStyle/>
          <a:p>
            <a:pPr>
              <a:defRPr sz="1100"/>
            </a:pPr>
            <a:endParaRPr lang="en-US"/>
          </a:p>
        </c:txPr>
        <c:crossAx val="-2115720072"/>
        <c:crosses val="autoZero"/>
        <c:crossBetween val="midCat"/>
      </c:valAx>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44.587000000000003</c:v>
                </c:pt>
                <c:pt idx="2">
                  <c:v>51.177999999999997</c:v>
                </c:pt>
                <c:pt idx="3">
                  <c:v>59.987000000000002</c:v>
                </c:pt>
                <c:pt idx="4">
                  <c:v>70.591999999999999</c:v>
                </c:pt>
                <c:pt idx="5">
                  <c:v>82.281999999999996</c:v>
                </c:pt>
                <c:pt idx="6">
                  <c:v>0</c:v>
                </c:pt>
              </c:numCache>
            </c:numRef>
          </c:val>
          <c:extLst>
            <c:ext xmlns:c16="http://schemas.microsoft.com/office/drawing/2014/chart" uri="{C3380CC4-5D6E-409C-BE32-E72D297353CC}">
              <c16:uniqueId val="{00000000-691E-4542-BF82-550E47617853}"/>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691E-4542-BF82-550E47617853}"/>
              </c:ext>
            </c:extLst>
          </c:dPt>
          <c:dPt>
            <c:idx val="1"/>
            <c:invertIfNegative val="1"/>
            <c:bubble3D val="0"/>
            <c:spPr>
              <a:solidFill>
                <a:srgbClr val="008189"/>
              </a:solidFill>
            </c:spPr>
            <c:extLst>
              <c:ext xmlns:c16="http://schemas.microsoft.com/office/drawing/2014/chart" uri="{C3380CC4-5D6E-409C-BE32-E72D297353CC}">
                <c16:uniqueId val="{00000004-691E-4542-BF82-550E47617853}"/>
              </c:ext>
            </c:extLst>
          </c:dPt>
          <c:dPt>
            <c:idx val="2"/>
            <c:invertIfNegative val="1"/>
            <c:bubble3D val="0"/>
            <c:spPr>
              <a:solidFill>
                <a:srgbClr val="008189"/>
              </a:solidFill>
            </c:spPr>
            <c:extLst>
              <c:ext xmlns:c16="http://schemas.microsoft.com/office/drawing/2014/chart" uri="{C3380CC4-5D6E-409C-BE32-E72D297353CC}">
                <c16:uniqueId val="{00000006-691E-4542-BF82-550E47617853}"/>
              </c:ext>
            </c:extLst>
          </c:dPt>
          <c:dPt>
            <c:idx val="3"/>
            <c:invertIfNegative val="1"/>
            <c:bubble3D val="0"/>
            <c:spPr>
              <a:solidFill>
                <a:srgbClr val="008189"/>
              </a:solidFill>
            </c:spPr>
            <c:extLst>
              <c:ext xmlns:c16="http://schemas.microsoft.com/office/drawing/2014/chart" uri="{C3380CC4-5D6E-409C-BE32-E72D297353CC}">
                <c16:uniqueId val="{00000008-691E-4542-BF82-550E47617853}"/>
              </c:ext>
            </c:extLst>
          </c:dPt>
          <c:dPt>
            <c:idx val="4"/>
            <c:invertIfNegative val="1"/>
            <c:bubble3D val="0"/>
            <c:spPr>
              <a:solidFill>
                <a:srgbClr val="008189"/>
              </a:solidFill>
            </c:spPr>
            <c:extLst>
              <c:ext xmlns:c16="http://schemas.microsoft.com/office/drawing/2014/chart" uri="{C3380CC4-5D6E-409C-BE32-E72D297353CC}">
                <c16:uniqueId val="{0000000A-691E-4542-BF82-550E47617853}"/>
              </c:ext>
            </c:extLst>
          </c:dPt>
          <c:dPt>
            <c:idx val="5"/>
            <c:invertIfNegative val="1"/>
            <c:bubble3D val="0"/>
            <c:spPr>
              <a:solidFill>
                <a:srgbClr val="008189"/>
              </a:solidFill>
            </c:spPr>
            <c:extLst>
              <c:ext xmlns:c16="http://schemas.microsoft.com/office/drawing/2014/chart" uri="{C3380CC4-5D6E-409C-BE32-E72D297353CC}">
                <c16:uniqueId val="{0000000C-691E-4542-BF82-550E47617853}"/>
              </c:ext>
            </c:extLst>
          </c:dPt>
          <c:dPt>
            <c:idx val="6"/>
            <c:invertIfNegative val="1"/>
            <c:bubble3D val="0"/>
            <c:spPr>
              <a:solidFill>
                <a:srgbClr val="0E72AE"/>
              </a:solidFill>
            </c:spPr>
            <c:extLst>
              <c:ext xmlns:c16="http://schemas.microsoft.com/office/drawing/2014/chart" uri="{C3380CC4-5D6E-409C-BE32-E72D297353CC}">
                <c16:uniqueId val="{0000000E-691E-4542-BF82-550E47617853}"/>
              </c:ext>
            </c:extLst>
          </c:dPt>
          <c:dLbls>
            <c:numFmt formatCode="0.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44.587000000000003</c:v>
                </c:pt>
                <c:pt idx="1">
                  <c:v>6.590999999999994</c:v>
                </c:pt>
                <c:pt idx="2">
                  <c:v>8.8090000000000046</c:v>
                </c:pt>
                <c:pt idx="3">
                  <c:v>10.604999999999997</c:v>
                </c:pt>
                <c:pt idx="4">
                  <c:v>11.689999999999998</c:v>
                </c:pt>
                <c:pt idx="5">
                  <c:v>13.046999999999997</c:v>
                </c:pt>
                <c:pt idx="6">
                  <c:v>95.328999999999994</c:v>
                </c:pt>
              </c:numCache>
            </c:numRef>
          </c:val>
          <c:extLst>
            <c:ext xmlns:c16="http://schemas.microsoft.com/office/drawing/2014/chart" uri="{C3380CC4-5D6E-409C-BE32-E72D297353CC}">
              <c16:uniqueId val="{0000000F-691E-4542-BF82-550E47617853}"/>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82.256</c:v>
                </c:pt>
                <c:pt idx="2">
                  <c:v>87.86</c:v>
                </c:pt>
                <c:pt idx="3">
                  <c:v>94.396000000000001</c:v>
                </c:pt>
                <c:pt idx="4">
                  <c:v>102.116</c:v>
                </c:pt>
                <c:pt idx="5">
                  <c:v>110.44499999999999</c:v>
                </c:pt>
                <c:pt idx="6">
                  <c:v>0</c:v>
                </c:pt>
              </c:numCache>
            </c:numRef>
          </c:val>
          <c:extLst>
            <c:ext xmlns:c16="http://schemas.microsoft.com/office/drawing/2014/chart" uri="{C3380CC4-5D6E-409C-BE32-E72D297353CC}">
              <c16:uniqueId val="{00000000-6D17-40F3-8F63-FA33196CBADD}"/>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6D17-40F3-8F63-FA33196CBADD}"/>
              </c:ext>
            </c:extLst>
          </c:dPt>
          <c:dPt>
            <c:idx val="1"/>
            <c:invertIfNegative val="1"/>
            <c:bubble3D val="0"/>
            <c:spPr>
              <a:solidFill>
                <a:srgbClr val="008189"/>
              </a:solidFill>
            </c:spPr>
            <c:extLst>
              <c:ext xmlns:c16="http://schemas.microsoft.com/office/drawing/2014/chart" uri="{C3380CC4-5D6E-409C-BE32-E72D297353CC}">
                <c16:uniqueId val="{00000004-6D17-40F3-8F63-FA33196CBADD}"/>
              </c:ext>
            </c:extLst>
          </c:dPt>
          <c:dPt>
            <c:idx val="2"/>
            <c:invertIfNegative val="1"/>
            <c:bubble3D val="0"/>
            <c:spPr>
              <a:solidFill>
                <a:srgbClr val="008189"/>
              </a:solidFill>
            </c:spPr>
            <c:extLst>
              <c:ext xmlns:c16="http://schemas.microsoft.com/office/drawing/2014/chart" uri="{C3380CC4-5D6E-409C-BE32-E72D297353CC}">
                <c16:uniqueId val="{00000006-6D17-40F3-8F63-FA33196CBADD}"/>
              </c:ext>
            </c:extLst>
          </c:dPt>
          <c:dPt>
            <c:idx val="3"/>
            <c:invertIfNegative val="1"/>
            <c:bubble3D val="0"/>
            <c:spPr>
              <a:solidFill>
                <a:srgbClr val="008189"/>
              </a:solidFill>
            </c:spPr>
            <c:extLst>
              <c:ext xmlns:c16="http://schemas.microsoft.com/office/drawing/2014/chart" uri="{C3380CC4-5D6E-409C-BE32-E72D297353CC}">
                <c16:uniqueId val="{00000008-6D17-40F3-8F63-FA33196CBADD}"/>
              </c:ext>
            </c:extLst>
          </c:dPt>
          <c:dPt>
            <c:idx val="4"/>
            <c:invertIfNegative val="1"/>
            <c:bubble3D val="0"/>
            <c:spPr>
              <a:solidFill>
                <a:srgbClr val="008189"/>
              </a:solidFill>
            </c:spPr>
            <c:extLst>
              <c:ext xmlns:c16="http://schemas.microsoft.com/office/drawing/2014/chart" uri="{C3380CC4-5D6E-409C-BE32-E72D297353CC}">
                <c16:uniqueId val="{0000000A-6D17-40F3-8F63-FA33196CBADD}"/>
              </c:ext>
            </c:extLst>
          </c:dPt>
          <c:dPt>
            <c:idx val="5"/>
            <c:invertIfNegative val="1"/>
            <c:bubble3D val="0"/>
            <c:spPr>
              <a:solidFill>
                <a:srgbClr val="008189"/>
              </a:solidFill>
            </c:spPr>
            <c:extLst>
              <c:ext xmlns:c16="http://schemas.microsoft.com/office/drawing/2014/chart" uri="{C3380CC4-5D6E-409C-BE32-E72D297353CC}">
                <c16:uniqueId val="{0000000C-6D17-40F3-8F63-FA33196CBADD}"/>
              </c:ext>
            </c:extLst>
          </c:dPt>
          <c:dPt>
            <c:idx val="6"/>
            <c:invertIfNegative val="1"/>
            <c:bubble3D val="0"/>
            <c:spPr>
              <a:solidFill>
                <a:srgbClr val="0E72AE"/>
              </a:solidFill>
            </c:spPr>
            <c:extLst>
              <c:ext xmlns:c16="http://schemas.microsoft.com/office/drawing/2014/chart" uri="{C3380CC4-5D6E-409C-BE32-E72D297353CC}">
                <c16:uniqueId val="{0000000E-6D17-40F3-8F63-FA33196CBADD}"/>
              </c:ext>
            </c:extLst>
          </c:dPt>
          <c:dLbls>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82.256</c:v>
                </c:pt>
                <c:pt idx="1">
                  <c:v>5.6039999999999992</c:v>
                </c:pt>
                <c:pt idx="2">
                  <c:v>6.5360000000000014</c:v>
                </c:pt>
                <c:pt idx="3">
                  <c:v>7.7199999999999989</c:v>
                </c:pt>
                <c:pt idx="4">
                  <c:v>8.3289999999999935</c:v>
                </c:pt>
                <c:pt idx="5">
                  <c:v>8.7310000000000088</c:v>
                </c:pt>
                <c:pt idx="6">
                  <c:v>119.176</c:v>
                </c:pt>
              </c:numCache>
            </c:numRef>
          </c:val>
          <c:extLst>
            <c:ext xmlns:c16="http://schemas.microsoft.com/office/drawing/2014/chart" uri="{C3380CC4-5D6E-409C-BE32-E72D297353CC}">
              <c16:uniqueId val="{0000000F-6D17-40F3-8F63-FA33196CBADD}"/>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45.331000000000003</c:v>
                </c:pt>
                <c:pt idx="2">
                  <c:v>50.072000000000003</c:v>
                </c:pt>
                <c:pt idx="3">
                  <c:v>55.777999999999999</c:v>
                </c:pt>
                <c:pt idx="4">
                  <c:v>61.878</c:v>
                </c:pt>
                <c:pt idx="5">
                  <c:v>68.864999999999995</c:v>
                </c:pt>
                <c:pt idx="6">
                  <c:v>0</c:v>
                </c:pt>
              </c:numCache>
            </c:numRef>
          </c:val>
          <c:extLst>
            <c:ext xmlns:c16="http://schemas.microsoft.com/office/drawing/2014/chart" uri="{C3380CC4-5D6E-409C-BE32-E72D297353CC}">
              <c16:uniqueId val="{00000000-D739-4DE0-A6AD-F50ABB4571D8}"/>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D739-4DE0-A6AD-F50ABB4571D8}"/>
              </c:ext>
            </c:extLst>
          </c:dPt>
          <c:dPt>
            <c:idx val="1"/>
            <c:invertIfNegative val="1"/>
            <c:bubble3D val="0"/>
            <c:spPr>
              <a:solidFill>
                <a:srgbClr val="008189"/>
              </a:solidFill>
            </c:spPr>
            <c:extLst>
              <c:ext xmlns:c16="http://schemas.microsoft.com/office/drawing/2014/chart" uri="{C3380CC4-5D6E-409C-BE32-E72D297353CC}">
                <c16:uniqueId val="{00000004-D739-4DE0-A6AD-F50ABB4571D8}"/>
              </c:ext>
            </c:extLst>
          </c:dPt>
          <c:dPt>
            <c:idx val="2"/>
            <c:invertIfNegative val="1"/>
            <c:bubble3D val="0"/>
            <c:spPr>
              <a:solidFill>
                <a:srgbClr val="008189"/>
              </a:solidFill>
            </c:spPr>
            <c:extLst>
              <c:ext xmlns:c16="http://schemas.microsoft.com/office/drawing/2014/chart" uri="{C3380CC4-5D6E-409C-BE32-E72D297353CC}">
                <c16:uniqueId val="{00000006-D739-4DE0-A6AD-F50ABB4571D8}"/>
              </c:ext>
            </c:extLst>
          </c:dPt>
          <c:dPt>
            <c:idx val="3"/>
            <c:invertIfNegative val="1"/>
            <c:bubble3D val="0"/>
            <c:spPr>
              <a:solidFill>
                <a:srgbClr val="008189"/>
              </a:solidFill>
            </c:spPr>
            <c:extLst>
              <c:ext xmlns:c16="http://schemas.microsoft.com/office/drawing/2014/chart" uri="{C3380CC4-5D6E-409C-BE32-E72D297353CC}">
                <c16:uniqueId val="{00000008-D739-4DE0-A6AD-F50ABB4571D8}"/>
              </c:ext>
            </c:extLst>
          </c:dPt>
          <c:dPt>
            <c:idx val="4"/>
            <c:invertIfNegative val="1"/>
            <c:bubble3D val="0"/>
            <c:spPr>
              <a:solidFill>
                <a:srgbClr val="008189"/>
              </a:solidFill>
            </c:spPr>
            <c:extLst>
              <c:ext xmlns:c16="http://schemas.microsoft.com/office/drawing/2014/chart" uri="{C3380CC4-5D6E-409C-BE32-E72D297353CC}">
                <c16:uniqueId val="{0000000A-D739-4DE0-A6AD-F50ABB4571D8}"/>
              </c:ext>
            </c:extLst>
          </c:dPt>
          <c:dPt>
            <c:idx val="5"/>
            <c:invertIfNegative val="1"/>
            <c:bubble3D val="0"/>
            <c:spPr>
              <a:solidFill>
                <a:srgbClr val="008189"/>
              </a:solidFill>
            </c:spPr>
            <c:extLst>
              <c:ext xmlns:c16="http://schemas.microsoft.com/office/drawing/2014/chart" uri="{C3380CC4-5D6E-409C-BE32-E72D297353CC}">
                <c16:uniqueId val="{0000000C-D739-4DE0-A6AD-F50ABB4571D8}"/>
              </c:ext>
            </c:extLst>
          </c:dPt>
          <c:dPt>
            <c:idx val="6"/>
            <c:invertIfNegative val="1"/>
            <c:bubble3D val="0"/>
            <c:spPr>
              <a:solidFill>
                <a:srgbClr val="0E72AE"/>
              </a:solidFill>
            </c:spPr>
            <c:extLst>
              <c:ext xmlns:c16="http://schemas.microsoft.com/office/drawing/2014/chart" uri="{C3380CC4-5D6E-409C-BE32-E72D297353CC}">
                <c16:uniqueId val="{0000000E-D739-4DE0-A6AD-F50ABB4571D8}"/>
              </c:ext>
            </c:extLst>
          </c:dPt>
          <c:dLbls>
            <c:numFmt formatCode="0.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45.331000000000003</c:v>
                </c:pt>
                <c:pt idx="1">
                  <c:v>4.7409999999999997</c:v>
                </c:pt>
                <c:pt idx="2">
                  <c:v>5.705999999999996</c:v>
                </c:pt>
                <c:pt idx="3">
                  <c:v>6.1000000000000014</c:v>
                </c:pt>
                <c:pt idx="4">
                  <c:v>6.9869999999999948</c:v>
                </c:pt>
                <c:pt idx="5">
                  <c:v>7.554000000000002</c:v>
                </c:pt>
                <c:pt idx="6">
                  <c:v>76.418999999999997</c:v>
                </c:pt>
              </c:numCache>
            </c:numRef>
          </c:val>
          <c:extLst>
            <c:ext xmlns:c16="http://schemas.microsoft.com/office/drawing/2014/chart" uri="{C3380CC4-5D6E-409C-BE32-E72D297353CC}">
              <c16:uniqueId val="{0000000F-D739-4DE0-A6AD-F50ABB4571D8}"/>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46.741</c:v>
                </c:pt>
                <c:pt idx="2">
                  <c:v>54.027999999999999</c:v>
                </c:pt>
                <c:pt idx="3">
                  <c:v>63.491999999999997</c:v>
                </c:pt>
                <c:pt idx="4">
                  <c:v>76.069000000000003</c:v>
                </c:pt>
                <c:pt idx="5">
                  <c:v>91.921999999999997</c:v>
                </c:pt>
                <c:pt idx="6">
                  <c:v>0</c:v>
                </c:pt>
              </c:numCache>
            </c:numRef>
          </c:val>
          <c:extLst>
            <c:ext xmlns:c16="http://schemas.microsoft.com/office/drawing/2014/chart" uri="{C3380CC4-5D6E-409C-BE32-E72D297353CC}">
              <c16:uniqueId val="{00000000-2C3F-4E8C-B380-A8855FE80D0E}"/>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2C3F-4E8C-B380-A8855FE80D0E}"/>
              </c:ext>
            </c:extLst>
          </c:dPt>
          <c:dPt>
            <c:idx val="1"/>
            <c:invertIfNegative val="1"/>
            <c:bubble3D val="0"/>
            <c:spPr>
              <a:solidFill>
                <a:srgbClr val="008189"/>
              </a:solidFill>
            </c:spPr>
            <c:extLst>
              <c:ext xmlns:c16="http://schemas.microsoft.com/office/drawing/2014/chart" uri="{C3380CC4-5D6E-409C-BE32-E72D297353CC}">
                <c16:uniqueId val="{00000004-2C3F-4E8C-B380-A8855FE80D0E}"/>
              </c:ext>
            </c:extLst>
          </c:dPt>
          <c:dPt>
            <c:idx val="2"/>
            <c:invertIfNegative val="1"/>
            <c:bubble3D val="0"/>
            <c:spPr>
              <a:solidFill>
                <a:srgbClr val="008189"/>
              </a:solidFill>
            </c:spPr>
            <c:extLst>
              <c:ext xmlns:c16="http://schemas.microsoft.com/office/drawing/2014/chart" uri="{C3380CC4-5D6E-409C-BE32-E72D297353CC}">
                <c16:uniqueId val="{00000006-2C3F-4E8C-B380-A8855FE80D0E}"/>
              </c:ext>
            </c:extLst>
          </c:dPt>
          <c:dPt>
            <c:idx val="3"/>
            <c:invertIfNegative val="1"/>
            <c:bubble3D val="0"/>
            <c:spPr>
              <a:solidFill>
                <a:srgbClr val="008189"/>
              </a:solidFill>
            </c:spPr>
            <c:extLst>
              <c:ext xmlns:c16="http://schemas.microsoft.com/office/drawing/2014/chart" uri="{C3380CC4-5D6E-409C-BE32-E72D297353CC}">
                <c16:uniqueId val="{00000008-2C3F-4E8C-B380-A8855FE80D0E}"/>
              </c:ext>
            </c:extLst>
          </c:dPt>
          <c:dPt>
            <c:idx val="4"/>
            <c:invertIfNegative val="1"/>
            <c:bubble3D val="0"/>
            <c:spPr>
              <a:solidFill>
                <a:srgbClr val="008189"/>
              </a:solidFill>
            </c:spPr>
            <c:extLst>
              <c:ext xmlns:c16="http://schemas.microsoft.com/office/drawing/2014/chart" uri="{C3380CC4-5D6E-409C-BE32-E72D297353CC}">
                <c16:uniqueId val="{0000000A-2C3F-4E8C-B380-A8855FE80D0E}"/>
              </c:ext>
            </c:extLst>
          </c:dPt>
          <c:dPt>
            <c:idx val="5"/>
            <c:invertIfNegative val="1"/>
            <c:bubble3D val="0"/>
            <c:spPr>
              <a:solidFill>
                <a:srgbClr val="008189"/>
              </a:solidFill>
            </c:spPr>
            <c:extLst>
              <c:ext xmlns:c16="http://schemas.microsoft.com/office/drawing/2014/chart" uri="{C3380CC4-5D6E-409C-BE32-E72D297353CC}">
                <c16:uniqueId val="{0000000C-2C3F-4E8C-B380-A8855FE80D0E}"/>
              </c:ext>
            </c:extLst>
          </c:dPt>
          <c:dPt>
            <c:idx val="6"/>
            <c:invertIfNegative val="1"/>
            <c:bubble3D val="0"/>
            <c:spPr>
              <a:solidFill>
                <a:srgbClr val="0E72AE"/>
              </a:solidFill>
            </c:spPr>
            <c:extLst>
              <c:ext xmlns:c16="http://schemas.microsoft.com/office/drawing/2014/chart" uri="{C3380CC4-5D6E-409C-BE32-E72D297353CC}">
                <c16:uniqueId val="{0000000E-2C3F-4E8C-B380-A8855FE80D0E}"/>
              </c:ext>
            </c:extLst>
          </c:dPt>
          <c:dLbls>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46.741</c:v>
                </c:pt>
                <c:pt idx="1">
                  <c:v>7.286999999999999</c:v>
                </c:pt>
                <c:pt idx="2">
                  <c:v>9.4639999999999986</c:v>
                </c:pt>
                <c:pt idx="3">
                  <c:v>12.577000000000005</c:v>
                </c:pt>
                <c:pt idx="4">
                  <c:v>15.852999999999994</c:v>
                </c:pt>
                <c:pt idx="5">
                  <c:v>18.5</c:v>
                </c:pt>
                <c:pt idx="6">
                  <c:v>110.422</c:v>
                </c:pt>
              </c:numCache>
            </c:numRef>
          </c:val>
          <c:extLst>
            <c:ext xmlns:c16="http://schemas.microsoft.com/office/drawing/2014/chart" uri="{C3380CC4-5D6E-409C-BE32-E72D297353CC}">
              <c16:uniqueId val="{0000000F-2C3F-4E8C-B380-A8855FE80D0E}"/>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2.8660000000000001</c:v>
                </c:pt>
                <c:pt idx="2">
                  <c:v>3.5379999999999998</c:v>
                </c:pt>
                <c:pt idx="3">
                  <c:v>4.5229999999999997</c:v>
                </c:pt>
                <c:pt idx="4">
                  <c:v>5.9770000000000003</c:v>
                </c:pt>
                <c:pt idx="5">
                  <c:v>7.8609999999999998</c:v>
                </c:pt>
                <c:pt idx="6">
                  <c:v>0</c:v>
                </c:pt>
              </c:numCache>
            </c:numRef>
          </c:val>
          <c:extLst>
            <c:ext xmlns:c16="http://schemas.microsoft.com/office/drawing/2014/chart" uri="{C3380CC4-5D6E-409C-BE32-E72D297353CC}">
              <c16:uniqueId val="{00000000-0124-46E9-9836-D76080D23B3F}"/>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0124-46E9-9836-D76080D23B3F}"/>
              </c:ext>
            </c:extLst>
          </c:dPt>
          <c:dPt>
            <c:idx val="1"/>
            <c:invertIfNegative val="1"/>
            <c:bubble3D val="0"/>
            <c:spPr>
              <a:solidFill>
                <a:srgbClr val="008189"/>
              </a:solidFill>
            </c:spPr>
            <c:extLst>
              <c:ext xmlns:c16="http://schemas.microsoft.com/office/drawing/2014/chart" uri="{C3380CC4-5D6E-409C-BE32-E72D297353CC}">
                <c16:uniqueId val="{00000004-0124-46E9-9836-D76080D23B3F}"/>
              </c:ext>
            </c:extLst>
          </c:dPt>
          <c:dPt>
            <c:idx val="2"/>
            <c:invertIfNegative val="1"/>
            <c:bubble3D val="0"/>
            <c:spPr>
              <a:solidFill>
                <a:srgbClr val="008189"/>
              </a:solidFill>
            </c:spPr>
            <c:extLst>
              <c:ext xmlns:c16="http://schemas.microsoft.com/office/drawing/2014/chart" uri="{C3380CC4-5D6E-409C-BE32-E72D297353CC}">
                <c16:uniqueId val="{00000006-0124-46E9-9836-D76080D23B3F}"/>
              </c:ext>
            </c:extLst>
          </c:dPt>
          <c:dPt>
            <c:idx val="3"/>
            <c:invertIfNegative val="1"/>
            <c:bubble3D val="0"/>
            <c:spPr>
              <a:solidFill>
                <a:srgbClr val="008189"/>
              </a:solidFill>
            </c:spPr>
            <c:extLst>
              <c:ext xmlns:c16="http://schemas.microsoft.com/office/drawing/2014/chart" uri="{C3380CC4-5D6E-409C-BE32-E72D297353CC}">
                <c16:uniqueId val="{00000008-0124-46E9-9836-D76080D23B3F}"/>
              </c:ext>
            </c:extLst>
          </c:dPt>
          <c:dPt>
            <c:idx val="4"/>
            <c:invertIfNegative val="1"/>
            <c:bubble3D val="0"/>
            <c:spPr>
              <a:solidFill>
                <a:srgbClr val="008189"/>
              </a:solidFill>
            </c:spPr>
            <c:extLst>
              <c:ext xmlns:c16="http://schemas.microsoft.com/office/drawing/2014/chart" uri="{C3380CC4-5D6E-409C-BE32-E72D297353CC}">
                <c16:uniqueId val="{0000000A-0124-46E9-9836-D76080D23B3F}"/>
              </c:ext>
            </c:extLst>
          </c:dPt>
          <c:dPt>
            <c:idx val="5"/>
            <c:invertIfNegative val="1"/>
            <c:bubble3D val="0"/>
            <c:spPr>
              <a:solidFill>
                <a:srgbClr val="008189"/>
              </a:solidFill>
            </c:spPr>
            <c:extLst>
              <c:ext xmlns:c16="http://schemas.microsoft.com/office/drawing/2014/chart" uri="{C3380CC4-5D6E-409C-BE32-E72D297353CC}">
                <c16:uniqueId val="{0000000C-0124-46E9-9836-D76080D23B3F}"/>
              </c:ext>
            </c:extLst>
          </c:dPt>
          <c:dPt>
            <c:idx val="6"/>
            <c:invertIfNegative val="1"/>
            <c:bubble3D val="0"/>
            <c:spPr>
              <a:solidFill>
                <a:srgbClr val="0E72AE"/>
              </a:solidFill>
            </c:spPr>
            <c:extLst>
              <c:ext xmlns:c16="http://schemas.microsoft.com/office/drawing/2014/chart" uri="{C3380CC4-5D6E-409C-BE32-E72D297353CC}">
                <c16:uniqueId val="{0000000E-0124-46E9-9836-D76080D23B3F}"/>
              </c:ext>
            </c:extLst>
          </c:dPt>
          <c:dLbls>
            <c:numFmt formatCode="0.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2.8660000000000001</c:v>
                </c:pt>
                <c:pt idx="1">
                  <c:v>0.67199999999999971</c:v>
                </c:pt>
                <c:pt idx="2">
                  <c:v>0.98499999999999988</c:v>
                </c:pt>
                <c:pt idx="3">
                  <c:v>1.4540000000000006</c:v>
                </c:pt>
                <c:pt idx="4">
                  <c:v>1.8839999999999995</c:v>
                </c:pt>
                <c:pt idx="5">
                  <c:v>2.3549999999999995</c:v>
                </c:pt>
                <c:pt idx="6">
                  <c:v>10.215999999999999</c:v>
                </c:pt>
              </c:numCache>
            </c:numRef>
          </c:val>
          <c:extLst>
            <c:ext xmlns:c16="http://schemas.microsoft.com/office/drawing/2014/chart" uri="{C3380CC4-5D6E-409C-BE32-E72D297353CC}">
              <c16:uniqueId val="{0000000F-0124-46E9-9836-D76080D23B3F}"/>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3.4660000000000002</c:v>
                </c:pt>
                <c:pt idx="2">
                  <c:v>4.0679999999999996</c:v>
                </c:pt>
                <c:pt idx="3">
                  <c:v>4.9530000000000003</c:v>
                </c:pt>
                <c:pt idx="4">
                  <c:v>6.1509999999999998</c:v>
                </c:pt>
                <c:pt idx="5">
                  <c:v>7.6820000000000004</c:v>
                </c:pt>
                <c:pt idx="6">
                  <c:v>0</c:v>
                </c:pt>
              </c:numCache>
            </c:numRef>
          </c:val>
          <c:extLst>
            <c:ext xmlns:c16="http://schemas.microsoft.com/office/drawing/2014/chart" uri="{C3380CC4-5D6E-409C-BE32-E72D297353CC}">
              <c16:uniqueId val="{00000000-95F8-426E-A768-D43E197F3C3E}"/>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95F8-426E-A768-D43E197F3C3E}"/>
              </c:ext>
            </c:extLst>
          </c:dPt>
          <c:dPt>
            <c:idx val="1"/>
            <c:invertIfNegative val="1"/>
            <c:bubble3D val="0"/>
            <c:spPr>
              <a:solidFill>
                <a:srgbClr val="008189"/>
              </a:solidFill>
            </c:spPr>
            <c:extLst>
              <c:ext xmlns:c16="http://schemas.microsoft.com/office/drawing/2014/chart" uri="{C3380CC4-5D6E-409C-BE32-E72D297353CC}">
                <c16:uniqueId val="{00000004-95F8-426E-A768-D43E197F3C3E}"/>
              </c:ext>
            </c:extLst>
          </c:dPt>
          <c:dPt>
            <c:idx val="2"/>
            <c:invertIfNegative val="1"/>
            <c:bubble3D val="0"/>
            <c:spPr>
              <a:solidFill>
                <a:srgbClr val="008189"/>
              </a:solidFill>
            </c:spPr>
            <c:extLst>
              <c:ext xmlns:c16="http://schemas.microsoft.com/office/drawing/2014/chart" uri="{C3380CC4-5D6E-409C-BE32-E72D297353CC}">
                <c16:uniqueId val="{00000006-95F8-426E-A768-D43E197F3C3E}"/>
              </c:ext>
            </c:extLst>
          </c:dPt>
          <c:dPt>
            <c:idx val="3"/>
            <c:invertIfNegative val="1"/>
            <c:bubble3D val="0"/>
            <c:spPr>
              <a:solidFill>
                <a:srgbClr val="008189"/>
              </a:solidFill>
            </c:spPr>
            <c:extLst>
              <c:ext xmlns:c16="http://schemas.microsoft.com/office/drawing/2014/chart" uri="{C3380CC4-5D6E-409C-BE32-E72D297353CC}">
                <c16:uniqueId val="{00000008-95F8-426E-A768-D43E197F3C3E}"/>
              </c:ext>
            </c:extLst>
          </c:dPt>
          <c:dPt>
            <c:idx val="4"/>
            <c:invertIfNegative val="1"/>
            <c:bubble3D val="0"/>
            <c:spPr>
              <a:solidFill>
                <a:srgbClr val="008189"/>
              </a:solidFill>
            </c:spPr>
            <c:extLst>
              <c:ext xmlns:c16="http://schemas.microsoft.com/office/drawing/2014/chart" uri="{C3380CC4-5D6E-409C-BE32-E72D297353CC}">
                <c16:uniqueId val="{0000000A-95F8-426E-A768-D43E197F3C3E}"/>
              </c:ext>
            </c:extLst>
          </c:dPt>
          <c:dPt>
            <c:idx val="5"/>
            <c:invertIfNegative val="1"/>
            <c:bubble3D val="0"/>
            <c:spPr>
              <a:solidFill>
                <a:srgbClr val="008189"/>
              </a:solidFill>
            </c:spPr>
            <c:extLst>
              <c:ext xmlns:c16="http://schemas.microsoft.com/office/drawing/2014/chart" uri="{C3380CC4-5D6E-409C-BE32-E72D297353CC}">
                <c16:uniqueId val="{0000000C-95F8-426E-A768-D43E197F3C3E}"/>
              </c:ext>
            </c:extLst>
          </c:dPt>
          <c:dPt>
            <c:idx val="6"/>
            <c:invertIfNegative val="1"/>
            <c:bubble3D val="0"/>
            <c:spPr>
              <a:solidFill>
                <a:srgbClr val="0E72AE"/>
              </a:solidFill>
            </c:spPr>
            <c:extLst>
              <c:ext xmlns:c16="http://schemas.microsoft.com/office/drawing/2014/chart" uri="{C3380CC4-5D6E-409C-BE32-E72D297353CC}">
                <c16:uniqueId val="{0000000E-95F8-426E-A768-D43E197F3C3E}"/>
              </c:ext>
            </c:extLst>
          </c:dPt>
          <c:dLbls>
            <c:numFmt formatCode="0.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3.4660000000000002</c:v>
                </c:pt>
                <c:pt idx="1">
                  <c:v>0.60199999999999942</c:v>
                </c:pt>
                <c:pt idx="2">
                  <c:v>0.88500000000000068</c:v>
                </c:pt>
                <c:pt idx="3">
                  <c:v>1.1979999999999995</c:v>
                </c:pt>
                <c:pt idx="4">
                  <c:v>1.5310000000000006</c:v>
                </c:pt>
                <c:pt idx="5">
                  <c:v>1.8569999999999993</c:v>
                </c:pt>
                <c:pt idx="6">
                  <c:v>9.5389999999999997</c:v>
                </c:pt>
              </c:numCache>
            </c:numRef>
          </c:val>
          <c:extLst>
            <c:ext xmlns:c16="http://schemas.microsoft.com/office/drawing/2014/chart" uri="{C3380CC4-5D6E-409C-BE32-E72D297353CC}">
              <c16:uniqueId val="{0000000F-95F8-426E-A768-D43E197F3C3E}"/>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5.3860000000000001</c:v>
                </c:pt>
                <c:pt idx="2">
                  <c:v>6.6879999999999997</c:v>
                </c:pt>
                <c:pt idx="3">
                  <c:v>8.4190000000000005</c:v>
                </c:pt>
                <c:pt idx="4">
                  <c:v>10.579000000000001</c:v>
                </c:pt>
                <c:pt idx="5">
                  <c:v>13.337999999999999</c:v>
                </c:pt>
                <c:pt idx="6">
                  <c:v>0</c:v>
                </c:pt>
              </c:numCache>
            </c:numRef>
          </c:val>
          <c:extLst>
            <c:ext xmlns:c16="http://schemas.microsoft.com/office/drawing/2014/chart" uri="{C3380CC4-5D6E-409C-BE32-E72D297353CC}">
              <c16:uniqueId val="{00000000-27C1-420F-B8E1-C42104BCCFDE}"/>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27C1-420F-B8E1-C42104BCCFDE}"/>
              </c:ext>
            </c:extLst>
          </c:dPt>
          <c:dPt>
            <c:idx val="1"/>
            <c:invertIfNegative val="1"/>
            <c:bubble3D val="0"/>
            <c:spPr>
              <a:solidFill>
                <a:srgbClr val="008189"/>
              </a:solidFill>
            </c:spPr>
            <c:extLst>
              <c:ext xmlns:c16="http://schemas.microsoft.com/office/drawing/2014/chart" uri="{C3380CC4-5D6E-409C-BE32-E72D297353CC}">
                <c16:uniqueId val="{00000004-27C1-420F-B8E1-C42104BCCFDE}"/>
              </c:ext>
            </c:extLst>
          </c:dPt>
          <c:dPt>
            <c:idx val="2"/>
            <c:invertIfNegative val="1"/>
            <c:bubble3D val="0"/>
            <c:spPr>
              <a:solidFill>
                <a:srgbClr val="008189"/>
              </a:solidFill>
            </c:spPr>
            <c:extLst>
              <c:ext xmlns:c16="http://schemas.microsoft.com/office/drawing/2014/chart" uri="{C3380CC4-5D6E-409C-BE32-E72D297353CC}">
                <c16:uniqueId val="{00000006-27C1-420F-B8E1-C42104BCCFDE}"/>
              </c:ext>
            </c:extLst>
          </c:dPt>
          <c:dPt>
            <c:idx val="3"/>
            <c:invertIfNegative val="1"/>
            <c:bubble3D val="0"/>
            <c:spPr>
              <a:solidFill>
                <a:srgbClr val="008189"/>
              </a:solidFill>
            </c:spPr>
            <c:extLst>
              <c:ext xmlns:c16="http://schemas.microsoft.com/office/drawing/2014/chart" uri="{C3380CC4-5D6E-409C-BE32-E72D297353CC}">
                <c16:uniqueId val="{00000008-27C1-420F-B8E1-C42104BCCFDE}"/>
              </c:ext>
            </c:extLst>
          </c:dPt>
          <c:dPt>
            <c:idx val="4"/>
            <c:invertIfNegative val="1"/>
            <c:bubble3D val="0"/>
            <c:spPr>
              <a:solidFill>
                <a:srgbClr val="008189"/>
              </a:solidFill>
            </c:spPr>
            <c:extLst>
              <c:ext xmlns:c16="http://schemas.microsoft.com/office/drawing/2014/chart" uri="{C3380CC4-5D6E-409C-BE32-E72D297353CC}">
                <c16:uniqueId val="{0000000A-27C1-420F-B8E1-C42104BCCFDE}"/>
              </c:ext>
            </c:extLst>
          </c:dPt>
          <c:dPt>
            <c:idx val="5"/>
            <c:invertIfNegative val="1"/>
            <c:bubble3D val="0"/>
            <c:spPr>
              <a:solidFill>
                <a:srgbClr val="008189"/>
              </a:solidFill>
            </c:spPr>
            <c:extLst>
              <c:ext xmlns:c16="http://schemas.microsoft.com/office/drawing/2014/chart" uri="{C3380CC4-5D6E-409C-BE32-E72D297353CC}">
                <c16:uniqueId val="{0000000C-27C1-420F-B8E1-C42104BCCFDE}"/>
              </c:ext>
            </c:extLst>
          </c:dPt>
          <c:dPt>
            <c:idx val="6"/>
            <c:invertIfNegative val="1"/>
            <c:bubble3D val="0"/>
            <c:spPr>
              <a:solidFill>
                <a:srgbClr val="0E72AE"/>
              </a:solidFill>
            </c:spPr>
            <c:extLst>
              <c:ext xmlns:c16="http://schemas.microsoft.com/office/drawing/2014/chart" uri="{C3380CC4-5D6E-409C-BE32-E72D297353CC}">
                <c16:uniqueId val="{0000000E-27C1-420F-B8E1-C42104BCCFDE}"/>
              </c:ext>
            </c:extLst>
          </c:dPt>
          <c:dLbls>
            <c:numFmt formatCode="0.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5.3860000000000001</c:v>
                </c:pt>
                <c:pt idx="1">
                  <c:v>1.3019999999999996</c:v>
                </c:pt>
                <c:pt idx="2">
                  <c:v>1.7310000000000008</c:v>
                </c:pt>
                <c:pt idx="3">
                  <c:v>2.16</c:v>
                </c:pt>
                <c:pt idx="4">
                  <c:v>2.7589999999999986</c:v>
                </c:pt>
                <c:pt idx="5">
                  <c:v>3.3660000000000014</c:v>
                </c:pt>
                <c:pt idx="6">
                  <c:v>16.704000000000001</c:v>
                </c:pt>
              </c:numCache>
            </c:numRef>
          </c:val>
          <c:extLst>
            <c:ext xmlns:c16="http://schemas.microsoft.com/office/drawing/2014/chart" uri="{C3380CC4-5D6E-409C-BE32-E72D297353CC}">
              <c16:uniqueId val="{0000000F-27C1-420F-B8E1-C42104BCCFDE}"/>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strRef>
              <c:f>Sheet1!$B$1</c:f>
              <c:strCache>
                <c:ptCount val="1"/>
                <c:pt idx="0">
                  <c:v>Tablet</c:v>
                </c:pt>
              </c:strCache>
            </c:strRef>
          </c:tx>
          <c:spPr>
            <a:solidFill>
              <a:srgbClr val="3D85C6"/>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Sheet1!$B$2:$B$4</c:f>
              <c:numCache>
                <c:formatCode>General</c:formatCode>
                <c:ptCount val="3"/>
                <c:pt idx="0">
                  <c:v>38.779580704702603</c:v>
                </c:pt>
                <c:pt idx="1">
                  <c:v>35.665321094552816</c:v>
                </c:pt>
                <c:pt idx="2">
                  <c:v>27.221251470403491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1250-4792-88B5-07D9BFAB827B}"/>
            </c:ext>
          </c:extLst>
        </c:ser>
        <c:ser>
          <c:idx val="1"/>
          <c:order val="1"/>
          <c:tx>
            <c:strRef>
              <c:f>Sheet1!$C$1</c:f>
              <c:strCache>
                <c:ptCount val="1"/>
                <c:pt idx="0">
                  <c:v>Gummies</c:v>
                </c:pt>
              </c:strCache>
            </c:strRef>
          </c:tx>
          <c:spPr>
            <a:solidFill>
              <a:srgbClr val="9E7E0A"/>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Sheet1!$C$2:$C$4</c:f>
              <c:numCache>
                <c:formatCode>General</c:formatCode>
                <c:ptCount val="3"/>
                <c:pt idx="0">
                  <c:v>18.939364720791207</c:v>
                </c:pt>
                <c:pt idx="1">
                  <c:v>20.266397263184366</c:v>
                </c:pt>
                <c:pt idx="2">
                  <c:v>25.221731136008042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1250-4792-88B5-07D9BFAB827B}"/>
            </c:ext>
          </c:extLst>
        </c:ser>
        <c:ser>
          <c:idx val="2"/>
          <c:order val="2"/>
          <c:tx>
            <c:strRef>
              <c:f>Sheet1!$D$1</c:f>
              <c:strCache>
                <c:ptCount val="1"/>
                <c:pt idx="0">
                  <c:v>Capsule</c:v>
                </c:pt>
              </c:strCache>
            </c:strRef>
          </c:tx>
          <c:spPr>
            <a:solidFill>
              <a:srgbClr val="008189"/>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Sheet1!$D$2:$D$4</c:f>
              <c:numCache>
                <c:formatCode>General</c:formatCode>
                <c:ptCount val="3"/>
                <c:pt idx="0">
                  <c:v>18.141546599079867</c:v>
                </c:pt>
                <c:pt idx="1">
                  <c:v>19.332445920575115</c:v>
                </c:pt>
                <c:pt idx="2">
                  <c:v>21.774305912449606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1250-4792-88B5-07D9BFAB827B}"/>
            </c:ext>
          </c:extLst>
        </c:ser>
        <c:ser>
          <c:idx val="3"/>
          <c:order val="3"/>
          <c:tx>
            <c:strRef>
              <c:f>Sheet1!$E$1</c:f>
              <c:strCache>
                <c:ptCount val="1"/>
                <c:pt idx="0">
                  <c:v>Softgels</c:v>
                </c:pt>
              </c:strCache>
            </c:strRef>
          </c:tx>
          <c:spPr>
            <a:solidFill>
              <a:srgbClr val="40315E"/>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Sheet1!$E$2:$E$4</c:f>
              <c:numCache>
                <c:formatCode>General</c:formatCode>
                <c:ptCount val="3"/>
                <c:pt idx="0">
                  <c:v>19.838012066448112</c:v>
                </c:pt>
                <c:pt idx="1">
                  <c:v>19.655036356462432</c:v>
                </c:pt>
                <c:pt idx="2">
                  <c:v>17.455031349573439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1250-4792-88B5-07D9BFAB827B}"/>
            </c:ext>
          </c:extLst>
        </c:ser>
        <c:ser>
          <c:idx val="4"/>
          <c:order val="4"/>
          <c:tx>
            <c:strRef>
              <c:f>Sheet1!$F$1</c:f>
              <c:strCache>
                <c:ptCount val="1"/>
                <c:pt idx="0">
                  <c:v>Liquid</c:v>
                </c:pt>
              </c:strCache>
            </c:strRef>
          </c:tx>
          <c:spPr>
            <a:solidFill>
              <a:srgbClr val="A35313"/>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Sheet1!$F$2:$F$4</c:f>
              <c:numCache>
                <c:formatCode>General</c:formatCode>
                <c:ptCount val="3"/>
                <c:pt idx="0">
                  <c:v>1.8011515468745698</c:v>
                </c:pt>
                <c:pt idx="1">
                  <c:v>2.3353119458186815</c:v>
                </c:pt>
                <c:pt idx="2">
                  <c:v>3.8153972659060544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4-1250-4792-88B5-07D9BFAB827B}"/>
            </c:ext>
          </c:extLst>
        </c:ser>
        <c:ser>
          <c:idx val="5"/>
          <c:order val="5"/>
          <c:tx>
            <c:strRef>
              <c:f>Sheet1!$G$1</c:f>
              <c:strCache>
                <c:ptCount val="1"/>
                <c:pt idx="0">
                  <c:v>Powder</c:v>
                </c:pt>
              </c:strCache>
            </c:strRef>
          </c:tx>
          <c:spPr>
            <a:solidFill>
              <a:srgbClr val="808080"/>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Sheet1!$G$2:$G$4</c:f>
              <c:numCache>
                <c:formatCode>General</c:formatCode>
                <c:ptCount val="3"/>
                <c:pt idx="0">
                  <c:v>1.0688999696961348</c:v>
                </c:pt>
                <c:pt idx="1">
                  <c:v>1.2426669210390535</c:v>
                </c:pt>
                <c:pt idx="2">
                  <c:v>2.3334589600392865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1250-4792-88B5-07D9BFAB827B}"/>
            </c:ext>
          </c:extLst>
        </c:ser>
        <c:ser>
          <c:idx val="6"/>
          <c:order val="6"/>
          <c:tx>
            <c:strRef>
              <c:f>Sheet1!$H$1</c:f>
              <c:strCache>
                <c:ptCount val="1"/>
                <c:pt idx="0">
                  <c:v>Bar</c:v>
                </c:pt>
              </c:strCache>
            </c:strRef>
          </c:tx>
          <c:spPr>
            <a:solidFill>
              <a:srgbClr val="0E72AE"/>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Sheet1!$H$2:$H$4</c:f>
              <c:numCache>
                <c:formatCode>General</c:formatCode>
                <c:ptCount val="3"/>
                <c:pt idx="0">
                  <c:v>1.4314443924075042</c:v>
                </c:pt>
                <c:pt idx="1">
                  <c:v>1.5028204983675364</c:v>
                </c:pt>
                <c:pt idx="2">
                  <c:v>2.178823905620082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1250-4792-88B5-07D9BFAB827B}"/>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ubbleChart>
        <c:varyColors val="0"/>
        <c:ser>
          <c:idx val="0"/>
          <c:order val="0"/>
          <c:tx>
            <c:strRef>
              <c:f>Sheet1!$B$1</c:f>
              <c:strCache>
                <c:ptCount val="1"/>
                <c:pt idx="0">
                  <c:v>Multivitamin</c:v>
                </c:pt>
              </c:strCache>
            </c:strRef>
          </c:tx>
          <c:spPr>
            <a:solidFill>
              <a:srgbClr val="3D85C6"/>
            </a:solidFill>
          </c:spPr>
          <c:invertIfNegative val="0"/>
          <c:xVal>
            <c:numRef>
              <c:f>Sheet1!$A$2:$A$2</c:f>
              <c:numCache>
                <c:formatCode>General</c:formatCode>
                <c:ptCount val="1"/>
                <c:pt idx="0">
                  <c:v>93.271897741411095</c:v>
                </c:pt>
              </c:numCache>
            </c:numRef>
          </c:xVal>
          <c:yVal>
            <c:numRef>
              <c:f>Sheet1!$B$2:$B$2</c:f>
              <c:numCache>
                <c:formatCode>General</c:formatCode>
                <c:ptCount val="1"/>
                <c:pt idx="0">
                  <c:v>429.94671187557731</c:v>
                </c:pt>
              </c:numCache>
            </c:numRef>
          </c:yVal>
          <c:bubbleSize>
            <c:numRef>
              <c:f>Sheet1!$C$2:$C$2</c:f>
              <c:numCache>
                <c:formatCode>General</c:formatCode>
                <c:ptCount val="1"/>
                <c:pt idx="0">
                  <c:v>257.88</c:v>
                </c:pt>
              </c:numCache>
            </c:numRef>
          </c:bubbleSize>
          <c:bubble3D val="0"/>
          <c:extLst>
            <c:ext xmlns:c16="http://schemas.microsoft.com/office/drawing/2014/chart" uri="{C3380CC4-5D6E-409C-BE32-E72D297353CC}">
              <c16:uniqueId val="{00000000-3364-4499-AE54-D4EA2E50AE8F}"/>
            </c:ext>
          </c:extLst>
        </c:ser>
        <c:ser>
          <c:idx val="1"/>
          <c:order val="1"/>
          <c:tx>
            <c:strRef>
              <c:f>Sheet1!$B$4</c:f>
              <c:strCache>
                <c:ptCount val="1"/>
                <c:pt idx="0">
                  <c:v>DHA / Omega-3</c:v>
                </c:pt>
              </c:strCache>
            </c:strRef>
          </c:tx>
          <c:spPr>
            <a:solidFill>
              <a:srgbClr val="9E7E0A"/>
            </a:solidFill>
          </c:spPr>
          <c:invertIfNegative val="0"/>
          <c:xVal>
            <c:numRef>
              <c:f>Sheet1!$A$5:$A$5</c:f>
              <c:numCache>
                <c:formatCode>General</c:formatCode>
                <c:ptCount val="1"/>
                <c:pt idx="0">
                  <c:v>117.42406654412612</c:v>
                </c:pt>
              </c:numCache>
            </c:numRef>
          </c:xVal>
          <c:yVal>
            <c:numRef>
              <c:f>Sheet1!$B$5:$B$5</c:f>
              <c:numCache>
                <c:formatCode>General</c:formatCode>
                <c:ptCount val="1"/>
                <c:pt idx="0">
                  <c:v>89.530119280415235</c:v>
                </c:pt>
              </c:numCache>
            </c:numRef>
          </c:yVal>
          <c:bubbleSize>
            <c:numRef>
              <c:f>Sheet1!$C$5:$C$5</c:f>
              <c:numCache>
                <c:formatCode>General</c:formatCode>
                <c:ptCount val="1"/>
                <c:pt idx="0">
                  <c:v>62.356000000000002</c:v>
                </c:pt>
              </c:numCache>
            </c:numRef>
          </c:bubbleSize>
          <c:bubble3D val="0"/>
          <c:extLst>
            <c:ext xmlns:c16="http://schemas.microsoft.com/office/drawing/2014/chart" uri="{C3380CC4-5D6E-409C-BE32-E72D297353CC}">
              <c16:uniqueId val="{00000001-3364-4499-AE54-D4EA2E50AE8F}"/>
            </c:ext>
          </c:extLst>
        </c:ser>
        <c:ser>
          <c:idx val="2"/>
          <c:order val="2"/>
          <c:tx>
            <c:strRef>
              <c:f>Sheet1!$B$7</c:f>
              <c:strCache>
                <c:ptCount val="1"/>
                <c:pt idx="0">
                  <c:v>Iron</c:v>
                </c:pt>
              </c:strCache>
            </c:strRef>
          </c:tx>
          <c:spPr>
            <a:solidFill>
              <a:srgbClr val="008189"/>
            </a:solidFill>
          </c:spPr>
          <c:invertIfNegative val="0"/>
          <c:xVal>
            <c:numRef>
              <c:f>Sheet1!$A$8:$A$8</c:f>
              <c:numCache>
                <c:formatCode>General</c:formatCode>
                <c:ptCount val="1"/>
                <c:pt idx="0">
                  <c:v>67.172109466545223</c:v>
                </c:pt>
              </c:numCache>
            </c:numRef>
          </c:xVal>
          <c:yVal>
            <c:numRef>
              <c:f>Sheet1!$B$8:$B$8</c:f>
              <c:numCache>
                <c:formatCode>General</c:formatCode>
                <c:ptCount val="1"/>
                <c:pt idx="0">
                  <c:v>51.011347031864481</c:v>
                </c:pt>
              </c:numCache>
            </c:numRef>
          </c:yVal>
          <c:bubbleSize>
            <c:numRef>
              <c:f>Sheet1!$C$8:$C$8</c:f>
              <c:numCache>
                <c:formatCode>General</c:formatCode>
                <c:ptCount val="1"/>
                <c:pt idx="0">
                  <c:v>25.966999999999999</c:v>
                </c:pt>
              </c:numCache>
            </c:numRef>
          </c:bubbleSize>
          <c:bubble3D val="0"/>
          <c:extLst>
            <c:ext xmlns:c16="http://schemas.microsoft.com/office/drawing/2014/chart" uri="{C3380CC4-5D6E-409C-BE32-E72D297353CC}">
              <c16:uniqueId val="{00000002-3364-4499-AE54-D4EA2E50AE8F}"/>
            </c:ext>
          </c:extLst>
        </c:ser>
        <c:ser>
          <c:idx val="3"/>
          <c:order val="3"/>
          <c:tx>
            <c:strRef>
              <c:f>Sheet1!$B$10</c:f>
              <c:strCache>
                <c:ptCount val="1"/>
                <c:pt idx="0">
                  <c:v>Folate / Folic Acid</c:v>
                </c:pt>
              </c:strCache>
            </c:strRef>
          </c:tx>
          <c:spPr>
            <a:solidFill>
              <a:srgbClr val="40315E"/>
            </a:solidFill>
          </c:spPr>
          <c:invertIfNegative val="0"/>
          <c:xVal>
            <c:numRef>
              <c:f>Sheet1!$A$11:$A$11</c:f>
              <c:numCache>
                <c:formatCode>General</c:formatCode>
                <c:ptCount val="1"/>
                <c:pt idx="0">
                  <c:v>78.136234657170647</c:v>
                </c:pt>
              </c:numCache>
            </c:numRef>
          </c:xVal>
          <c:yVal>
            <c:numRef>
              <c:f>Sheet1!$B$11:$B$11</c:f>
              <c:numCache>
                <c:formatCode>General</c:formatCode>
                <c:ptCount val="1"/>
                <c:pt idx="0">
                  <c:v>42.959160224252393</c:v>
                </c:pt>
              </c:numCache>
            </c:numRef>
          </c:yVal>
          <c:bubbleSize>
            <c:numRef>
              <c:f>Sheet1!$C$11:$C$11</c:f>
              <c:numCache>
                <c:formatCode>General</c:formatCode>
                <c:ptCount val="1"/>
                <c:pt idx="0">
                  <c:v>23.436</c:v>
                </c:pt>
              </c:numCache>
            </c:numRef>
          </c:bubbleSize>
          <c:bubble3D val="0"/>
          <c:extLst>
            <c:ext xmlns:c16="http://schemas.microsoft.com/office/drawing/2014/chart" uri="{C3380CC4-5D6E-409C-BE32-E72D297353CC}">
              <c16:uniqueId val="{00000003-3364-4499-AE54-D4EA2E50AE8F}"/>
            </c:ext>
          </c:extLst>
        </c:ser>
        <c:ser>
          <c:idx val="4"/>
          <c:order val="4"/>
          <c:tx>
            <c:strRef>
              <c:f>Sheet1!$B$13</c:f>
              <c:strCache>
                <c:ptCount val="1"/>
                <c:pt idx="0">
                  <c:v>Choline</c:v>
                </c:pt>
              </c:strCache>
            </c:strRef>
          </c:tx>
          <c:spPr>
            <a:solidFill>
              <a:srgbClr val="A35313"/>
            </a:solidFill>
          </c:spPr>
          <c:invertIfNegative val="0"/>
          <c:xVal>
            <c:numRef>
              <c:f>Sheet1!$A$14:$A$14</c:f>
              <c:numCache>
                <c:formatCode>General</c:formatCode>
                <c:ptCount val="1"/>
                <c:pt idx="0">
                  <c:v>194.21732159582578</c:v>
                </c:pt>
              </c:numCache>
            </c:numRef>
          </c:xVal>
          <c:yVal>
            <c:numRef>
              <c:f>Sheet1!$B$14:$B$14</c:f>
              <c:numCache>
                <c:formatCode>General</c:formatCode>
                <c:ptCount val="1"/>
                <c:pt idx="0">
                  <c:v>27.725867503783068</c:v>
                </c:pt>
              </c:numCache>
            </c:numRef>
          </c:yVal>
          <c:bubbleSize>
            <c:numRef>
              <c:f>Sheet1!$C$14:$C$14</c:f>
              <c:numCache>
                <c:formatCode>General</c:formatCode>
                <c:ptCount val="1"/>
                <c:pt idx="0">
                  <c:v>30.616</c:v>
                </c:pt>
              </c:numCache>
            </c:numRef>
          </c:bubbleSize>
          <c:bubble3D val="0"/>
          <c:extLst>
            <c:ext xmlns:c16="http://schemas.microsoft.com/office/drawing/2014/chart" uri="{C3380CC4-5D6E-409C-BE32-E72D297353CC}">
              <c16:uniqueId val="{00000004-3364-4499-AE54-D4EA2E50AE8F}"/>
            </c:ext>
          </c:extLst>
        </c:ser>
        <c:ser>
          <c:idx val="5"/>
          <c:order val="5"/>
          <c:tx>
            <c:strRef>
              <c:f>Sheet1!$B$16</c:f>
              <c:strCache>
                <c:ptCount val="1"/>
                <c:pt idx="0">
                  <c:v>Calcium &amp; Mineral</c:v>
                </c:pt>
              </c:strCache>
            </c:strRef>
          </c:tx>
          <c:spPr>
            <a:solidFill>
              <a:srgbClr val="808080"/>
            </a:solidFill>
          </c:spPr>
          <c:invertIfNegative val="0"/>
          <c:xVal>
            <c:numRef>
              <c:f>Sheet1!$A$17:$A$17</c:f>
              <c:numCache>
                <c:formatCode>General</c:formatCode>
                <c:ptCount val="1"/>
                <c:pt idx="0">
                  <c:v>55.1509422469084</c:v>
                </c:pt>
              </c:numCache>
            </c:numRef>
          </c:xVal>
          <c:yVal>
            <c:numRef>
              <c:f>Sheet1!$B$17:$B$17</c:f>
              <c:numCache>
                <c:formatCode>General</c:formatCode>
                <c:ptCount val="1"/>
                <c:pt idx="0">
                  <c:v>34.83716554005715</c:v>
                </c:pt>
              </c:numCache>
            </c:numRef>
          </c:yVal>
          <c:bubbleSize>
            <c:numRef>
              <c:f>Sheet1!$C$17:$C$17</c:f>
              <c:numCache>
                <c:formatCode>General</c:formatCode>
                <c:ptCount val="1"/>
                <c:pt idx="0">
                  <c:v>16.428000000000001</c:v>
                </c:pt>
              </c:numCache>
            </c:numRef>
          </c:bubbleSize>
          <c:bubble3D val="0"/>
          <c:extLst>
            <c:ext xmlns:c16="http://schemas.microsoft.com/office/drawing/2014/chart" uri="{C3380CC4-5D6E-409C-BE32-E72D297353CC}">
              <c16:uniqueId val="{00000005-3364-4499-AE54-D4EA2E50AE8F}"/>
            </c:ext>
          </c:extLst>
        </c:ser>
        <c:ser>
          <c:idx val="6"/>
          <c:order val="6"/>
          <c:tx>
            <c:strRef>
              <c:f>Sheet1!$B$19</c:f>
              <c:strCache>
                <c:ptCount val="1"/>
                <c:pt idx="0">
                  <c:v>Probiotic</c:v>
                </c:pt>
              </c:strCache>
            </c:strRef>
          </c:tx>
          <c:spPr>
            <a:solidFill>
              <a:srgbClr val="0E72AE"/>
            </a:solidFill>
          </c:spPr>
          <c:invertIfNegative val="0"/>
          <c:xVal>
            <c:numRef>
              <c:f>Sheet1!$A$20:$A$20</c:f>
              <c:numCache>
                <c:formatCode>General</c:formatCode>
                <c:ptCount val="1"/>
                <c:pt idx="0">
                  <c:v>156.03245086072516</c:v>
                </c:pt>
              </c:numCache>
            </c:numRef>
          </c:xVal>
          <c:yVal>
            <c:numRef>
              <c:f>Sheet1!$B$20:$B$20</c:f>
              <c:numCache>
                <c:formatCode>General</c:formatCode>
                <c:ptCount val="1"/>
                <c:pt idx="0">
                  <c:v>23.989628544050507</c:v>
                </c:pt>
              </c:numCache>
            </c:numRef>
          </c:yVal>
          <c:bubbleSize>
            <c:numRef>
              <c:f>Sheet1!$C$20:$C$20</c:f>
              <c:numCache>
                <c:formatCode>General</c:formatCode>
                <c:ptCount val="1"/>
                <c:pt idx="0">
                  <c:v>21.120999999999999</c:v>
                </c:pt>
              </c:numCache>
            </c:numRef>
          </c:bubbleSize>
          <c:bubble3D val="0"/>
          <c:extLst>
            <c:ext xmlns:c16="http://schemas.microsoft.com/office/drawing/2014/chart" uri="{C3380CC4-5D6E-409C-BE32-E72D297353CC}">
              <c16:uniqueId val="{00000006-3364-4499-AE54-D4EA2E50AE8F}"/>
            </c:ext>
          </c:extLst>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230"/>
          <c:min val="20"/>
        </c:scaling>
        <c:delete val="0"/>
        <c:axPos val="b"/>
        <c:title>
          <c:tx>
            <c:rich>
              <a:bodyPr/>
              <a:lstStyle/>
              <a:p>
                <a:r>
                  <a:rPr sz="1100" b="0">
                    <a:solidFill>
                      <a:srgbClr val="6C7A89"/>
                    </a:solidFill>
                    <a:latin typeface="Calibri"/>
                  </a:rPr>
                  <a:t>CAGR Index (100 = segment average growth)</a:t>
                </a:r>
              </a:p>
            </c:rich>
          </c:tx>
          <c:overlay val="0"/>
        </c:title>
        <c:numFmt formatCode="General" sourceLinked="1"/>
        <c:majorTickMark val="out"/>
        <c:minorTickMark val="none"/>
        <c:tickLblPos val="nextTo"/>
        <c:spPr>
          <a:ln>
            <a:solidFill>
              <a:srgbClr val="C6D5E1"/>
            </a:solidFill>
          </a:ln>
        </c:spPr>
        <c:txPr>
          <a:bodyPr/>
          <a:lstStyle/>
          <a:p>
            <a:pPr>
              <a:defRPr sz="1100"/>
            </a:pPr>
            <a:endParaRPr lang="en-US"/>
          </a:p>
        </c:txPr>
        <c:crossAx val="-2115723560"/>
        <c:crosses val="autoZero"/>
        <c:crossBetween val="midCat"/>
      </c:valAx>
      <c:valAx>
        <c:axId val="-2115723560"/>
        <c:scaling>
          <c:orientation val="minMax"/>
          <c:max val="550"/>
          <c:min val="0"/>
        </c:scaling>
        <c:delete val="0"/>
        <c:axPos val="l"/>
        <c:title>
          <c:tx>
            <c:rich>
              <a:bodyPr/>
              <a:lstStyle/>
              <a:p>
                <a:r>
                  <a:rPr sz="1100" b="0">
                    <a:solidFill>
                      <a:srgbClr val="6C7A89"/>
                    </a:solidFill>
                    <a:latin typeface="Calibri"/>
                  </a:rPr>
                  <a:t>Market Share Index (100 = equal share)</a:t>
                </a:r>
              </a:p>
            </c:rich>
          </c:tx>
          <c:overlay val="0"/>
        </c:title>
        <c:numFmt formatCode="General" sourceLinked="1"/>
        <c:majorTickMark val="out"/>
        <c:minorTickMark val="none"/>
        <c:tickLblPos val="nextTo"/>
        <c:spPr>
          <a:ln>
            <a:solidFill>
              <a:srgbClr val="C6D5E1"/>
            </a:solidFill>
          </a:ln>
        </c:spPr>
        <c:txPr>
          <a:bodyPr/>
          <a:lstStyle/>
          <a:p>
            <a:pPr>
              <a:defRPr sz="1100"/>
            </a:pPr>
            <a:endParaRPr lang="en-US"/>
          </a:p>
        </c:txPr>
        <c:crossAx val="-2115720072"/>
        <c:crosses val="autoZero"/>
        <c:crossBetween val="midCat"/>
      </c:valAx>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141.65700000000001</c:v>
                </c:pt>
                <c:pt idx="2">
                  <c:v>157.97300000000001</c:v>
                </c:pt>
                <c:pt idx="3">
                  <c:v>177.852</c:v>
                </c:pt>
                <c:pt idx="4">
                  <c:v>201.34100000000001</c:v>
                </c:pt>
                <c:pt idx="5">
                  <c:v>228.22399999999999</c:v>
                </c:pt>
                <c:pt idx="6">
                  <c:v>0</c:v>
                </c:pt>
              </c:numCache>
            </c:numRef>
          </c:val>
          <c:extLst>
            <c:ext xmlns:c16="http://schemas.microsoft.com/office/drawing/2014/chart" uri="{C3380CC4-5D6E-409C-BE32-E72D297353CC}">
              <c16:uniqueId val="{00000000-5481-42DD-86FF-57B12E18204C}"/>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5481-42DD-86FF-57B12E18204C}"/>
              </c:ext>
            </c:extLst>
          </c:dPt>
          <c:dPt>
            <c:idx val="1"/>
            <c:invertIfNegative val="1"/>
            <c:bubble3D val="0"/>
            <c:spPr>
              <a:solidFill>
                <a:srgbClr val="008189"/>
              </a:solidFill>
            </c:spPr>
            <c:extLst>
              <c:ext xmlns:c16="http://schemas.microsoft.com/office/drawing/2014/chart" uri="{C3380CC4-5D6E-409C-BE32-E72D297353CC}">
                <c16:uniqueId val="{00000004-5481-42DD-86FF-57B12E18204C}"/>
              </c:ext>
            </c:extLst>
          </c:dPt>
          <c:dPt>
            <c:idx val="2"/>
            <c:invertIfNegative val="1"/>
            <c:bubble3D val="0"/>
            <c:spPr>
              <a:solidFill>
                <a:srgbClr val="008189"/>
              </a:solidFill>
            </c:spPr>
            <c:extLst>
              <c:ext xmlns:c16="http://schemas.microsoft.com/office/drawing/2014/chart" uri="{C3380CC4-5D6E-409C-BE32-E72D297353CC}">
                <c16:uniqueId val="{00000006-5481-42DD-86FF-57B12E18204C}"/>
              </c:ext>
            </c:extLst>
          </c:dPt>
          <c:dPt>
            <c:idx val="3"/>
            <c:invertIfNegative val="1"/>
            <c:bubble3D val="0"/>
            <c:spPr>
              <a:solidFill>
                <a:srgbClr val="008189"/>
              </a:solidFill>
            </c:spPr>
            <c:extLst>
              <c:ext xmlns:c16="http://schemas.microsoft.com/office/drawing/2014/chart" uri="{C3380CC4-5D6E-409C-BE32-E72D297353CC}">
                <c16:uniqueId val="{00000008-5481-42DD-86FF-57B12E18204C}"/>
              </c:ext>
            </c:extLst>
          </c:dPt>
          <c:dPt>
            <c:idx val="4"/>
            <c:invertIfNegative val="1"/>
            <c:bubble3D val="0"/>
            <c:spPr>
              <a:solidFill>
                <a:srgbClr val="008189"/>
              </a:solidFill>
            </c:spPr>
            <c:extLst>
              <c:ext xmlns:c16="http://schemas.microsoft.com/office/drawing/2014/chart" uri="{C3380CC4-5D6E-409C-BE32-E72D297353CC}">
                <c16:uniqueId val="{0000000A-5481-42DD-86FF-57B12E18204C}"/>
              </c:ext>
            </c:extLst>
          </c:dPt>
          <c:dPt>
            <c:idx val="5"/>
            <c:invertIfNegative val="1"/>
            <c:bubble3D val="0"/>
            <c:spPr>
              <a:solidFill>
                <a:srgbClr val="008189"/>
              </a:solidFill>
            </c:spPr>
            <c:extLst>
              <c:ext xmlns:c16="http://schemas.microsoft.com/office/drawing/2014/chart" uri="{C3380CC4-5D6E-409C-BE32-E72D297353CC}">
                <c16:uniqueId val="{0000000C-5481-42DD-86FF-57B12E18204C}"/>
              </c:ext>
            </c:extLst>
          </c:dPt>
          <c:dPt>
            <c:idx val="6"/>
            <c:invertIfNegative val="1"/>
            <c:bubble3D val="0"/>
            <c:spPr>
              <a:solidFill>
                <a:srgbClr val="0E72AE"/>
              </a:solidFill>
            </c:spPr>
            <c:extLst>
              <c:ext xmlns:c16="http://schemas.microsoft.com/office/drawing/2014/chart" uri="{C3380CC4-5D6E-409C-BE32-E72D297353CC}">
                <c16:uniqueId val="{0000000E-5481-42DD-86FF-57B12E18204C}"/>
              </c:ext>
            </c:extLst>
          </c:dPt>
          <c:dLbls>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141.65700000000001</c:v>
                </c:pt>
                <c:pt idx="1">
                  <c:v>16.316000000000003</c:v>
                </c:pt>
                <c:pt idx="2">
                  <c:v>19.878999999999991</c:v>
                </c:pt>
                <c:pt idx="3">
                  <c:v>23.489000000000004</c:v>
                </c:pt>
                <c:pt idx="4">
                  <c:v>26.882999999999981</c:v>
                </c:pt>
                <c:pt idx="5">
                  <c:v>29.656000000000006</c:v>
                </c:pt>
                <c:pt idx="6">
                  <c:v>257.88</c:v>
                </c:pt>
              </c:numCache>
            </c:numRef>
          </c:val>
          <c:extLst>
            <c:ext xmlns:c16="http://schemas.microsoft.com/office/drawing/2014/chart" uri="{C3380CC4-5D6E-409C-BE32-E72D297353CC}">
              <c16:uniqueId val="{0000000F-5481-42DD-86FF-57B12E18204C}"/>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29.498000000000001</c:v>
                </c:pt>
                <c:pt idx="2">
                  <c:v>33.503999999999998</c:v>
                </c:pt>
                <c:pt idx="3">
                  <c:v>39.021000000000001</c:v>
                </c:pt>
                <c:pt idx="4">
                  <c:v>45.89</c:v>
                </c:pt>
                <c:pt idx="5">
                  <c:v>53.643999999999998</c:v>
                </c:pt>
                <c:pt idx="6">
                  <c:v>0</c:v>
                </c:pt>
              </c:numCache>
            </c:numRef>
          </c:val>
          <c:extLst>
            <c:ext xmlns:c16="http://schemas.microsoft.com/office/drawing/2014/chart" uri="{C3380CC4-5D6E-409C-BE32-E72D297353CC}">
              <c16:uniqueId val="{00000000-E11E-4189-A5CB-D40A2F7D219C}"/>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E11E-4189-A5CB-D40A2F7D219C}"/>
              </c:ext>
            </c:extLst>
          </c:dPt>
          <c:dPt>
            <c:idx val="1"/>
            <c:invertIfNegative val="1"/>
            <c:bubble3D val="0"/>
            <c:spPr>
              <a:solidFill>
                <a:srgbClr val="008189"/>
              </a:solidFill>
            </c:spPr>
            <c:extLst>
              <c:ext xmlns:c16="http://schemas.microsoft.com/office/drawing/2014/chart" uri="{C3380CC4-5D6E-409C-BE32-E72D297353CC}">
                <c16:uniqueId val="{00000004-E11E-4189-A5CB-D40A2F7D219C}"/>
              </c:ext>
            </c:extLst>
          </c:dPt>
          <c:dPt>
            <c:idx val="2"/>
            <c:invertIfNegative val="1"/>
            <c:bubble3D val="0"/>
            <c:spPr>
              <a:solidFill>
                <a:srgbClr val="008189"/>
              </a:solidFill>
            </c:spPr>
            <c:extLst>
              <c:ext xmlns:c16="http://schemas.microsoft.com/office/drawing/2014/chart" uri="{C3380CC4-5D6E-409C-BE32-E72D297353CC}">
                <c16:uniqueId val="{00000006-E11E-4189-A5CB-D40A2F7D219C}"/>
              </c:ext>
            </c:extLst>
          </c:dPt>
          <c:dPt>
            <c:idx val="3"/>
            <c:invertIfNegative val="1"/>
            <c:bubble3D val="0"/>
            <c:spPr>
              <a:solidFill>
                <a:srgbClr val="008189"/>
              </a:solidFill>
            </c:spPr>
            <c:extLst>
              <c:ext xmlns:c16="http://schemas.microsoft.com/office/drawing/2014/chart" uri="{C3380CC4-5D6E-409C-BE32-E72D297353CC}">
                <c16:uniqueId val="{00000008-E11E-4189-A5CB-D40A2F7D219C}"/>
              </c:ext>
            </c:extLst>
          </c:dPt>
          <c:dPt>
            <c:idx val="4"/>
            <c:invertIfNegative val="1"/>
            <c:bubble3D val="0"/>
            <c:spPr>
              <a:solidFill>
                <a:srgbClr val="008189"/>
              </a:solidFill>
            </c:spPr>
            <c:extLst>
              <c:ext xmlns:c16="http://schemas.microsoft.com/office/drawing/2014/chart" uri="{C3380CC4-5D6E-409C-BE32-E72D297353CC}">
                <c16:uniqueId val="{0000000A-E11E-4189-A5CB-D40A2F7D219C}"/>
              </c:ext>
            </c:extLst>
          </c:dPt>
          <c:dPt>
            <c:idx val="5"/>
            <c:invertIfNegative val="1"/>
            <c:bubble3D val="0"/>
            <c:spPr>
              <a:solidFill>
                <a:srgbClr val="008189"/>
              </a:solidFill>
            </c:spPr>
            <c:extLst>
              <c:ext xmlns:c16="http://schemas.microsoft.com/office/drawing/2014/chart" uri="{C3380CC4-5D6E-409C-BE32-E72D297353CC}">
                <c16:uniqueId val="{0000000C-E11E-4189-A5CB-D40A2F7D219C}"/>
              </c:ext>
            </c:extLst>
          </c:dPt>
          <c:dPt>
            <c:idx val="6"/>
            <c:invertIfNegative val="1"/>
            <c:bubble3D val="0"/>
            <c:spPr>
              <a:solidFill>
                <a:srgbClr val="0E72AE"/>
              </a:solidFill>
            </c:spPr>
            <c:extLst>
              <c:ext xmlns:c16="http://schemas.microsoft.com/office/drawing/2014/chart" uri="{C3380CC4-5D6E-409C-BE32-E72D297353CC}">
                <c16:uniqueId val="{0000000E-E11E-4189-A5CB-D40A2F7D219C}"/>
              </c:ext>
            </c:extLst>
          </c:dPt>
          <c:dLbls>
            <c:numFmt formatCode="0.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29.498000000000001</c:v>
                </c:pt>
                <c:pt idx="1">
                  <c:v>4.0059999999999967</c:v>
                </c:pt>
                <c:pt idx="2">
                  <c:v>5.517000000000003</c:v>
                </c:pt>
                <c:pt idx="3">
                  <c:v>6.8689999999999998</c:v>
                </c:pt>
                <c:pt idx="4">
                  <c:v>7.7539999999999978</c:v>
                </c:pt>
                <c:pt idx="5">
                  <c:v>8.7120000000000033</c:v>
                </c:pt>
                <c:pt idx="6">
                  <c:v>62.356000000000002</c:v>
                </c:pt>
              </c:numCache>
            </c:numRef>
          </c:val>
          <c:extLst>
            <c:ext xmlns:c16="http://schemas.microsoft.com/office/drawing/2014/chart" uri="{C3380CC4-5D6E-409C-BE32-E72D297353CC}">
              <c16:uniqueId val="{0000000F-E11E-4189-A5CB-D40A2F7D219C}"/>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16.806999999999999</c:v>
                </c:pt>
                <c:pt idx="2">
                  <c:v>18.024999999999999</c:v>
                </c:pt>
                <c:pt idx="3">
                  <c:v>19.556000000000001</c:v>
                </c:pt>
                <c:pt idx="4">
                  <c:v>21.49</c:v>
                </c:pt>
                <c:pt idx="5">
                  <c:v>23.657</c:v>
                </c:pt>
                <c:pt idx="6">
                  <c:v>0</c:v>
                </c:pt>
              </c:numCache>
            </c:numRef>
          </c:val>
          <c:extLst>
            <c:ext xmlns:c16="http://schemas.microsoft.com/office/drawing/2014/chart" uri="{C3380CC4-5D6E-409C-BE32-E72D297353CC}">
              <c16:uniqueId val="{00000000-8B10-4FD4-9046-C1808F478726}"/>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8B10-4FD4-9046-C1808F478726}"/>
              </c:ext>
            </c:extLst>
          </c:dPt>
          <c:dPt>
            <c:idx val="1"/>
            <c:invertIfNegative val="1"/>
            <c:bubble3D val="0"/>
            <c:spPr>
              <a:solidFill>
                <a:srgbClr val="008189"/>
              </a:solidFill>
            </c:spPr>
            <c:extLst>
              <c:ext xmlns:c16="http://schemas.microsoft.com/office/drawing/2014/chart" uri="{C3380CC4-5D6E-409C-BE32-E72D297353CC}">
                <c16:uniqueId val="{00000004-8B10-4FD4-9046-C1808F478726}"/>
              </c:ext>
            </c:extLst>
          </c:dPt>
          <c:dPt>
            <c:idx val="2"/>
            <c:invertIfNegative val="1"/>
            <c:bubble3D val="0"/>
            <c:spPr>
              <a:solidFill>
                <a:srgbClr val="008189"/>
              </a:solidFill>
            </c:spPr>
            <c:extLst>
              <c:ext xmlns:c16="http://schemas.microsoft.com/office/drawing/2014/chart" uri="{C3380CC4-5D6E-409C-BE32-E72D297353CC}">
                <c16:uniqueId val="{00000006-8B10-4FD4-9046-C1808F478726}"/>
              </c:ext>
            </c:extLst>
          </c:dPt>
          <c:dPt>
            <c:idx val="3"/>
            <c:invertIfNegative val="1"/>
            <c:bubble3D val="0"/>
            <c:spPr>
              <a:solidFill>
                <a:srgbClr val="008189"/>
              </a:solidFill>
            </c:spPr>
            <c:extLst>
              <c:ext xmlns:c16="http://schemas.microsoft.com/office/drawing/2014/chart" uri="{C3380CC4-5D6E-409C-BE32-E72D297353CC}">
                <c16:uniqueId val="{00000008-8B10-4FD4-9046-C1808F478726}"/>
              </c:ext>
            </c:extLst>
          </c:dPt>
          <c:dPt>
            <c:idx val="4"/>
            <c:invertIfNegative val="1"/>
            <c:bubble3D val="0"/>
            <c:spPr>
              <a:solidFill>
                <a:srgbClr val="008189"/>
              </a:solidFill>
            </c:spPr>
            <c:extLst>
              <c:ext xmlns:c16="http://schemas.microsoft.com/office/drawing/2014/chart" uri="{C3380CC4-5D6E-409C-BE32-E72D297353CC}">
                <c16:uniqueId val="{0000000A-8B10-4FD4-9046-C1808F478726}"/>
              </c:ext>
            </c:extLst>
          </c:dPt>
          <c:dPt>
            <c:idx val="5"/>
            <c:invertIfNegative val="1"/>
            <c:bubble3D val="0"/>
            <c:spPr>
              <a:solidFill>
                <a:srgbClr val="008189"/>
              </a:solidFill>
            </c:spPr>
            <c:extLst>
              <c:ext xmlns:c16="http://schemas.microsoft.com/office/drawing/2014/chart" uri="{C3380CC4-5D6E-409C-BE32-E72D297353CC}">
                <c16:uniqueId val="{0000000C-8B10-4FD4-9046-C1808F478726}"/>
              </c:ext>
            </c:extLst>
          </c:dPt>
          <c:dPt>
            <c:idx val="6"/>
            <c:invertIfNegative val="1"/>
            <c:bubble3D val="0"/>
            <c:spPr>
              <a:solidFill>
                <a:srgbClr val="0E72AE"/>
              </a:solidFill>
            </c:spPr>
            <c:extLst>
              <c:ext xmlns:c16="http://schemas.microsoft.com/office/drawing/2014/chart" uri="{C3380CC4-5D6E-409C-BE32-E72D297353CC}">
                <c16:uniqueId val="{0000000E-8B10-4FD4-9046-C1808F478726}"/>
              </c:ext>
            </c:extLst>
          </c:dPt>
          <c:dLbls>
            <c:numFmt formatCode="0.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16.806999999999999</c:v>
                </c:pt>
                <c:pt idx="1">
                  <c:v>1.218</c:v>
                </c:pt>
                <c:pt idx="2">
                  <c:v>1.5310000000000024</c:v>
                </c:pt>
                <c:pt idx="3">
                  <c:v>1.9339999999999975</c:v>
                </c:pt>
                <c:pt idx="4">
                  <c:v>2.1670000000000016</c:v>
                </c:pt>
                <c:pt idx="5">
                  <c:v>2.3099999999999987</c:v>
                </c:pt>
                <c:pt idx="6">
                  <c:v>25.966999999999999</c:v>
                </c:pt>
              </c:numCache>
            </c:numRef>
          </c:val>
          <c:extLst>
            <c:ext xmlns:c16="http://schemas.microsoft.com/office/drawing/2014/chart" uri="{C3380CC4-5D6E-409C-BE32-E72D297353CC}">
              <c16:uniqueId val="{0000000F-8B10-4FD4-9046-C1808F478726}"/>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14.154</c:v>
                </c:pt>
                <c:pt idx="2">
                  <c:v>15.452</c:v>
                </c:pt>
                <c:pt idx="3">
                  <c:v>17.082000000000001</c:v>
                </c:pt>
                <c:pt idx="4">
                  <c:v>18.928999999999998</c:v>
                </c:pt>
                <c:pt idx="5">
                  <c:v>21.085999999999999</c:v>
                </c:pt>
                <c:pt idx="6">
                  <c:v>0</c:v>
                </c:pt>
              </c:numCache>
            </c:numRef>
          </c:val>
          <c:extLst>
            <c:ext xmlns:c16="http://schemas.microsoft.com/office/drawing/2014/chart" uri="{C3380CC4-5D6E-409C-BE32-E72D297353CC}">
              <c16:uniqueId val="{00000000-F664-4EF1-8E26-86AE1182503D}"/>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F664-4EF1-8E26-86AE1182503D}"/>
              </c:ext>
            </c:extLst>
          </c:dPt>
          <c:dPt>
            <c:idx val="1"/>
            <c:invertIfNegative val="1"/>
            <c:bubble3D val="0"/>
            <c:spPr>
              <a:solidFill>
                <a:srgbClr val="008189"/>
              </a:solidFill>
            </c:spPr>
            <c:extLst>
              <c:ext xmlns:c16="http://schemas.microsoft.com/office/drawing/2014/chart" uri="{C3380CC4-5D6E-409C-BE32-E72D297353CC}">
                <c16:uniqueId val="{00000004-F664-4EF1-8E26-86AE1182503D}"/>
              </c:ext>
            </c:extLst>
          </c:dPt>
          <c:dPt>
            <c:idx val="2"/>
            <c:invertIfNegative val="1"/>
            <c:bubble3D val="0"/>
            <c:spPr>
              <a:solidFill>
                <a:srgbClr val="008189"/>
              </a:solidFill>
            </c:spPr>
            <c:extLst>
              <c:ext xmlns:c16="http://schemas.microsoft.com/office/drawing/2014/chart" uri="{C3380CC4-5D6E-409C-BE32-E72D297353CC}">
                <c16:uniqueId val="{00000006-F664-4EF1-8E26-86AE1182503D}"/>
              </c:ext>
            </c:extLst>
          </c:dPt>
          <c:dPt>
            <c:idx val="3"/>
            <c:invertIfNegative val="1"/>
            <c:bubble3D val="0"/>
            <c:spPr>
              <a:solidFill>
                <a:srgbClr val="008189"/>
              </a:solidFill>
            </c:spPr>
            <c:extLst>
              <c:ext xmlns:c16="http://schemas.microsoft.com/office/drawing/2014/chart" uri="{C3380CC4-5D6E-409C-BE32-E72D297353CC}">
                <c16:uniqueId val="{00000008-F664-4EF1-8E26-86AE1182503D}"/>
              </c:ext>
            </c:extLst>
          </c:dPt>
          <c:dPt>
            <c:idx val="4"/>
            <c:invertIfNegative val="1"/>
            <c:bubble3D val="0"/>
            <c:spPr>
              <a:solidFill>
                <a:srgbClr val="008189"/>
              </a:solidFill>
            </c:spPr>
            <c:extLst>
              <c:ext xmlns:c16="http://schemas.microsoft.com/office/drawing/2014/chart" uri="{C3380CC4-5D6E-409C-BE32-E72D297353CC}">
                <c16:uniqueId val="{0000000A-F664-4EF1-8E26-86AE1182503D}"/>
              </c:ext>
            </c:extLst>
          </c:dPt>
          <c:dPt>
            <c:idx val="5"/>
            <c:invertIfNegative val="1"/>
            <c:bubble3D val="0"/>
            <c:spPr>
              <a:solidFill>
                <a:srgbClr val="008189"/>
              </a:solidFill>
            </c:spPr>
            <c:extLst>
              <c:ext xmlns:c16="http://schemas.microsoft.com/office/drawing/2014/chart" uri="{C3380CC4-5D6E-409C-BE32-E72D297353CC}">
                <c16:uniqueId val="{0000000C-F664-4EF1-8E26-86AE1182503D}"/>
              </c:ext>
            </c:extLst>
          </c:dPt>
          <c:dPt>
            <c:idx val="6"/>
            <c:invertIfNegative val="1"/>
            <c:bubble3D val="0"/>
            <c:spPr>
              <a:solidFill>
                <a:srgbClr val="0E72AE"/>
              </a:solidFill>
            </c:spPr>
            <c:extLst>
              <c:ext xmlns:c16="http://schemas.microsoft.com/office/drawing/2014/chart" uri="{C3380CC4-5D6E-409C-BE32-E72D297353CC}">
                <c16:uniqueId val="{0000000E-F664-4EF1-8E26-86AE1182503D}"/>
              </c:ext>
            </c:extLst>
          </c:dPt>
          <c:dLbls>
            <c:numFmt formatCode="0.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14.154</c:v>
                </c:pt>
                <c:pt idx="1">
                  <c:v>1.298</c:v>
                </c:pt>
                <c:pt idx="2">
                  <c:v>1.6300000000000008</c:v>
                </c:pt>
                <c:pt idx="3">
                  <c:v>1.8469999999999978</c:v>
                </c:pt>
                <c:pt idx="4">
                  <c:v>2.157</c:v>
                </c:pt>
                <c:pt idx="5">
                  <c:v>2.3500000000000014</c:v>
                </c:pt>
                <c:pt idx="6">
                  <c:v>23.436</c:v>
                </c:pt>
              </c:numCache>
            </c:numRef>
          </c:val>
          <c:extLst>
            <c:ext xmlns:c16="http://schemas.microsoft.com/office/drawing/2014/chart" uri="{C3380CC4-5D6E-409C-BE32-E72D297353CC}">
              <c16:uniqueId val="{0000000F-F664-4EF1-8E26-86AE1182503D}"/>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9.1349999999999998</c:v>
                </c:pt>
                <c:pt idx="2">
                  <c:v>11.138999999999999</c:v>
                </c:pt>
                <c:pt idx="3">
                  <c:v>13.95</c:v>
                </c:pt>
                <c:pt idx="4">
                  <c:v>18.012</c:v>
                </c:pt>
                <c:pt idx="5">
                  <c:v>23.571999999999999</c:v>
                </c:pt>
                <c:pt idx="6">
                  <c:v>0</c:v>
                </c:pt>
              </c:numCache>
            </c:numRef>
          </c:val>
          <c:extLst>
            <c:ext xmlns:c16="http://schemas.microsoft.com/office/drawing/2014/chart" uri="{C3380CC4-5D6E-409C-BE32-E72D297353CC}">
              <c16:uniqueId val="{00000000-D59D-4464-B3C3-8848C90427F5}"/>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D59D-4464-B3C3-8848C90427F5}"/>
              </c:ext>
            </c:extLst>
          </c:dPt>
          <c:dPt>
            <c:idx val="1"/>
            <c:invertIfNegative val="1"/>
            <c:bubble3D val="0"/>
            <c:spPr>
              <a:solidFill>
                <a:srgbClr val="008189"/>
              </a:solidFill>
            </c:spPr>
            <c:extLst>
              <c:ext xmlns:c16="http://schemas.microsoft.com/office/drawing/2014/chart" uri="{C3380CC4-5D6E-409C-BE32-E72D297353CC}">
                <c16:uniqueId val="{00000004-D59D-4464-B3C3-8848C90427F5}"/>
              </c:ext>
            </c:extLst>
          </c:dPt>
          <c:dPt>
            <c:idx val="2"/>
            <c:invertIfNegative val="1"/>
            <c:bubble3D val="0"/>
            <c:spPr>
              <a:solidFill>
                <a:srgbClr val="008189"/>
              </a:solidFill>
            </c:spPr>
            <c:extLst>
              <c:ext xmlns:c16="http://schemas.microsoft.com/office/drawing/2014/chart" uri="{C3380CC4-5D6E-409C-BE32-E72D297353CC}">
                <c16:uniqueId val="{00000006-D59D-4464-B3C3-8848C90427F5}"/>
              </c:ext>
            </c:extLst>
          </c:dPt>
          <c:dPt>
            <c:idx val="3"/>
            <c:invertIfNegative val="1"/>
            <c:bubble3D val="0"/>
            <c:spPr>
              <a:solidFill>
                <a:srgbClr val="008189"/>
              </a:solidFill>
            </c:spPr>
            <c:extLst>
              <c:ext xmlns:c16="http://schemas.microsoft.com/office/drawing/2014/chart" uri="{C3380CC4-5D6E-409C-BE32-E72D297353CC}">
                <c16:uniqueId val="{00000008-D59D-4464-B3C3-8848C90427F5}"/>
              </c:ext>
            </c:extLst>
          </c:dPt>
          <c:dPt>
            <c:idx val="4"/>
            <c:invertIfNegative val="1"/>
            <c:bubble3D val="0"/>
            <c:spPr>
              <a:solidFill>
                <a:srgbClr val="008189"/>
              </a:solidFill>
            </c:spPr>
            <c:extLst>
              <c:ext xmlns:c16="http://schemas.microsoft.com/office/drawing/2014/chart" uri="{C3380CC4-5D6E-409C-BE32-E72D297353CC}">
                <c16:uniqueId val="{0000000A-D59D-4464-B3C3-8848C90427F5}"/>
              </c:ext>
            </c:extLst>
          </c:dPt>
          <c:dPt>
            <c:idx val="5"/>
            <c:invertIfNegative val="1"/>
            <c:bubble3D val="0"/>
            <c:spPr>
              <a:solidFill>
                <a:srgbClr val="008189"/>
              </a:solidFill>
            </c:spPr>
            <c:extLst>
              <c:ext xmlns:c16="http://schemas.microsoft.com/office/drawing/2014/chart" uri="{C3380CC4-5D6E-409C-BE32-E72D297353CC}">
                <c16:uniqueId val="{0000000C-D59D-4464-B3C3-8848C90427F5}"/>
              </c:ext>
            </c:extLst>
          </c:dPt>
          <c:dPt>
            <c:idx val="6"/>
            <c:invertIfNegative val="1"/>
            <c:bubble3D val="0"/>
            <c:spPr>
              <a:solidFill>
                <a:srgbClr val="0E72AE"/>
              </a:solidFill>
            </c:spPr>
            <c:extLst>
              <c:ext xmlns:c16="http://schemas.microsoft.com/office/drawing/2014/chart" uri="{C3380CC4-5D6E-409C-BE32-E72D297353CC}">
                <c16:uniqueId val="{0000000E-D59D-4464-B3C3-8848C90427F5}"/>
              </c:ext>
            </c:extLst>
          </c:dPt>
          <c:dLbls>
            <c:numFmt formatCode="0.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9.1349999999999998</c:v>
                </c:pt>
                <c:pt idx="1">
                  <c:v>2.0039999999999996</c:v>
                </c:pt>
                <c:pt idx="2">
                  <c:v>2.8109999999999999</c:v>
                </c:pt>
                <c:pt idx="3">
                  <c:v>4.0620000000000012</c:v>
                </c:pt>
                <c:pt idx="4">
                  <c:v>5.5599999999999987</c:v>
                </c:pt>
                <c:pt idx="5">
                  <c:v>7.0440000000000005</c:v>
                </c:pt>
                <c:pt idx="6">
                  <c:v>30.616</c:v>
                </c:pt>
              </c:numCache>
            </c:numRef>
          </c:val>
          <c:extLst>
            <c:ext xmlns:c16="http://schemas.microsoft.com/office/drawing/2014/chart" uri="{C3380CC4-5D6E-409C-BE32-E72D297353CC}">
              <c16:uniqueId val="{0000000F-D59D-4464-B3C3-8848C90427F5}"/>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11.478</c:v>
                </c:pt>
                <c:pt idx="2">
                  <c:v>12.170999999999999</c:v>
                </c:pt>
                <c:pt idx="3">
                  <c:v>13.03</c:v>
                </c:pt>
                <c:pt idx="4">
                  <c:v>14.035</c:v>
                </c:pt>
                <c:pt idx="5">
                  <c:v>15.185</c:v>
                </c:pt>
                <c:pt idx="6">
                  <c:v>0</c:v>
                </c:pt>
              </c:numCache>
            </c:numRef>
          </c:val>
          <c:extLst>
            <c:ext xmlns:c16="http://schemas.microsoft.com/office/drawing/2014/chart" uri="{C3380CC4-5D6E-409C-BE32-E72D297353CC}">
              <c16:uniqueId val="{00000000-9168-4133-9575-EB43B7EB2D33}"/>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9168-4133-9575-EB43B7EB2D33}"/>
              </c:ext>
            </c:extLst>
          </c:dPt>
          <c:dPt>
            <c:idx val="1"/>
            <c:invertIfNegative val="1"/>
            <c:bubble3D val="0"/>
            <c:spPr>
              <a:solidFill>
                <a:srgbClr val="008189"/>
              </a:solidFill>
            </c:spPr>
            <c:extLst>
              <c:ext xmlns:c16="http://schemas.microsoft.com/office/drawing/2014/chart" uri="{C3380CC4-5D6E-409C-BE32-E72D297353CC}">
                <c16:uniqueId val="{00000004-9168-4133-9575-EB43B7EB2D33}"/>
              </c:ext>
            </c:extLst>
          </c:dPt>
          <c:dPt>
            <c:idx val="2"/>
            <c:invertIfNegative val="1"/>
            <c:bubble3D val="0"/>
            <c:spPr>
              <a:solidFill>
                <a:srgbClr val="008189"/>
              </a:solidFill>
            </c:spPr>
            <c:extLst>
              <c:ext xmlns:c16="http://schemas.microsoft.com/office/drawing/2014/chart" uri="{C3380CC4-5D6E-409C-BE32-E72D297353CC}">
                <c16:uniqueId val="{00000006-9168-4133-9575-EB43B7EB2D33}"/>
              </c:ext>
            </c:extLst>
          </c:dPt>
          <c:dPt>
            <c:idx val="3"/>
            <c:invertIfNegative val="1"/>
            <c:bubble3D val="0"/>
            <c:spPr>
              <a:solidFill>
                <a:srgbClr val="008189"/>
              </a:solidFill>
            </c:spPr>
            <c:extLst>
              <c:ext xmlns:c16="http://schemas.microsoft.com/office/drawing/2014/chart" uri="{C3380CC4-5D6E-409C-BE32-E72D297353CC}">
                <c16:uniqueId val="{00000008-9168-4133-9575-EB43B7EB2D33}"/>
              </c:ext>
            </c:extLst>
          </c:dPt>
          <c:dPt>
            <c:idx val="4"/>
            <c:invertIfNegative val="1"/>
            <c:bubble3D val="0"/>
            <c:spPr>
              <a:solidFill>
                <a:srgbClr val="008189"/>
              </a:solidFill>
            </c:spPr>
            <c:extLst>
              <c:ext xmlns:c16="http://schemas.microsoft.com/office/drawing/2014/chart" uri="{C3380CC4-5D6E-409C-BE32-E72D297353CC}">
                <c16:uniqueId val="{0000000A-9168-4133-9575-EB43B7EB2D33}"/>
              </c:ext>
            </c:extLst>
          </c:dPt>
          <c:dPt>
            <c:idx val="5"/>
            <c:invertIfNegative val="1"/>
            <c:bubble3D val="0"/>
            <c:spPr>
              <a:solidFill>
                <a:srgbClr val="008189"/>
              </a:solidFill>
            </c:spPr>
            <c:extLst>
              <c:ext xmlns:c16="http://schemas.microsoft.com/office/drawing/2014/chart" uri="{C3380CC4-5D6E-409C-BE32-E72D297353CC}">
                <c16:uniqueId val="{0000000C-9168-4133-9575-EB43B7EB2D33}"/>
              </c:ext>
            </c:extLst>
          </c:dPt>
          <c:dPt>
            <c:idx val="6"/>
            <c:invertIfNegative val="1"/>
            <c:bubble3D val="0"/>
            <c:spPr>
              <a:solidFill>
                <a:srgbClr val="0E72AE"/>
              </a:solidFill>
            </c:spPr>
            <c:extLst>
              <c:ext xmlns:c16="http://schemas.microsoft.com/office/drawing/2014/chart" uri="{C3380CC4-5D6E-409C-BE32-E72D297353CC}">
                <c16:uniqueId val="{0000000E-9168-4133-9575-EB43B7EB2D33}"/>
              </c:ext>
            </c:extLst>
          </c:dPt>
          <c:dLbls>
            <c:numFmt formatCode="0.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11.478</c:v>
                </c:pt>
                <c:pt idx="1">
                  <c:v>0.69299999999999962</c:v>
                </c:pt>
                <c:pt idx="2">
                  <c:v>0.85899999999999999</c:v>
                </c:pt>
                <c:pt idx="3">
                  <c:v>1.0050000000000008</c:v>
                </c:pt>
                <c:pt idx="4">
                  <c:v>1.1500000000000004</c:v>
                </c:pt>
                <c:pt idx="5">
                  <c:v>1.2430000000000003</c:v>
                </c:pt>
                <c:pt idx="6">
                  <c:v>16.428000000000001</c:v>
                </c:pt>
              </c:numCache>
            </c:numRef>
          </c:val>
          <c:extLst>
            <c:ext xmlns:c16="http://schemas.microsoft.com/office/drawing/2014/chart" uri="{C3380CC4-5D6E-409C-BE32-E72D297353CC}">
              <c16:uniqueId val="{0000000F-9168-4133-9575-EB43B7EB2D33}"/>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7.9039999999999999</c:v>
                </c:pt>
                <c:pt idx="2">
                  <c:v>9.1679999999999993</c:v>
                </c:pt>
                <c:pt idx="3">
                  <c:v>11.057</c:v>
                </c:pt>
                <c:pt idx="4">
                  <c:v>13.664</c:v>
                </c:pt>
                <c:pt idx="5">
                  <c:v>17.026</c:v>
                </c:pt>
                <c:pt idx="6">
                  <c:v>0</c:v>
                </c:pt>
              </c:numCache>
            </c:numRef>
          </c:val>
          <c:extLst>
            <c:ext xmlns:c16="http://schemas.microsoft.com/office/drawing/2014/chart" uri="{C3380CC4-5D6E-409C-BE32-E72D297353CC}">
              <c16:uniqueId val="{00000000-29A5-4A43-93DF-8517C0776A2C}"/>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29A5-4A43-93DF-8517C0776A2C}"/>
              </c:ext>
            </c:extLst>
          </c:dPt>
          <c:dPt>
            <c:idx val="1"/>
            <c:invertIfNegative val="1"/>
            <c:bubble3D val="0"/>
            <c:spPr>
              <a:solidFill>
                <a:srgbClr val="008189"/>
              </a:solidFill>
            </c:spPr>
            <c:extLst>
              <c:ext xmlns:c16="http://schemas.microsoft.com/office/drawing/2014/chart" uri="{C3380CC4-5D6E-409C-BE32-E72D297353CC}">
                <c16:uniqueId val="{00000004-29A5-4A43-93DF-8517C0776A2C}"/>
              </c:ext>
            </c:extLst>
          </c:dPt>
          <c:dPt>
            <c:idx val="2"/>
            <c:invertIfNegative val="1"/>
            <c:bubble3D val="0"/>
            <c:spPr>
              <a:solidFill>
                <a:srgbClr val="008189"/>
              </a:solidFill>
            </c:spPr>
            <c:extLst>
              <c:ext xmlns:c16="http://schemas.microsoft.com/office/drawing/2014/chart" uri="{C3380CC4-5D6E-409C-BE32-E72D297353CC}">
                <c16:uniqueId val="{00000006-29A5-4A43-93DF-8517C0776A2C}"/>
              </c:ext>
            </c:extLst>
          </c:dPt>
          <c:dPt>
            <c:idx val="3"/>
            <c:invertIfNegative val="1"/>
            <c:bubble3D val="0"/>
            <c:spPr>
              <a:solidFill>
                <a:srgbClr val="008189"/>
              </a:solidFill>
            </c:spPr>
            <c:extLst>
              <c:ext xmlns:c16="http://schemas.microsoft.com/office/drawing/2014/chart" uri="{C3380CC4-5D6E-409C-BE32-E72D297353CC}">
                <c16:uniqueId val="{00000008-29A5-4A43-93DF-8517C0776A2C}"/>
              </c:ext>
            </c:extLst>
          </c:dPt>
          <c:dPt>
            <c:idx val="4"/>
            <c:invertIfNegative val="1"/>
            <c:bubble3D val="0"/>
            <c:spPr>
              <a:solidFill>
                <a:srgbClr val="008189"/>
              </a:solidFill>
            </c:spPr>
            <c:extLst>
              <c:ext xmlns:c16="http://schemas.microsoft.com/office/drawing/2014/chart" uri="{C3380CC4-5D6E-409C-BE32-E72D297353CC}">
                <c16:uniqueId val="{0000000A-29A5-4A43-93DF-8517C0776A2C}"/>
              </c:ext>
            </c:extLst>
          </c:dPt>
          <c:dPt>
            <c:idx val="5"/>
            <c:invertIfNegative val="1"/>
            <c:bubble3D val="0"/>
            <c:spPr>
              <a:solidFill>
                <a:srgbClr val="008189"/>
              </a:solidFill>
            </c:spPr>
            <c:extLst>
              <c:ext xmlns:c16="http://schemas.microsoft.com/office/drawing/2014/chart" uri="{C3380CC4-5D6E-409C-BE32-E72D297353CC}">
                <c16:uniqueId val="{0000000C-29A5-4A43-93DF-8517C0776A2C}"/>
              </c:ext>
            </c:extLst>
          </c:dPt>
          <c:dPt>
            <c:idx val="6"/>
            <c:invertIfNegative val="1"/>
            <c:bubble3D val="0"/>
            <c:spPr>
              <a:solidFill>
                <a:srgbClr val="0E72AE"/>
              </a:solidFill>
            </c:spPr>
            <c:extLst>
              <c:ext xmlns:c16="http://schemas.microsoft.com/office/drawing/2014/chart" uri="{C3380CC4-5D6E-409C-BE32-E72D297353CC}">
                <c16:uniqueId val="{0000000E-29A5-4A43-93DF-8517C0776A2C}"/>
              </c:ext>
            </c:extLst>
          </c:dPt>
          <c:dLbls>
            <c:numFmt formatCode="0.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7.9039999999999999</c:v>
                </c:pt>
                <c:pt idx="1">
                  <c:v>1.2639999999999993</c:v>
                </c:pt>
                <c:pt idx="2">
                  <c:v>1.8890000000000011</c:v>
                </c:pt>
                <c:pt idx="3">
                  <c:v>2.6069999999999993</c:v>
                </c:pt>
                <c:pt idx="4">
                  <c:v>3.3620000000000001</c:v>
                </c:pt>
                <c:pt idx="5">
                  <c:v>4.0949999999999989</c:v>
                </c:pt>
                <c:pt idx="6">
                  <c:v>21.120999999999999</c:v>
                </c:pt>
              </c:numCache>
            </c:numRef>
          </c:val>
          <c:extLst>
            <c:ext xmlns:c16="http://schemas.microsoft.com/office/drawing/2014/chart" uri="{C3380CC4-5D6E-409C-BE32-E72D297353CC}">
              <c16:uniqueId val="{0000000F-29A5-4A43-93DF-8517C0776A2C}"/>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strRef>
              <c:f>Sheet1!$B$1</c:f>
              <c:strCache>
                <c:ptCount val="1"/>
                <c:pt idx="0">
                  <c:v>Multivitamin</c:v>
                </c:pt>
              </c:strCache>
            </c:strRef>
          </c:tx>
          <c:spPr>
            <a:solidFill>
              <a:srgbClr val="3D85C6"/>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Sheet1!$B$2:$B$4</c:f>
              <c:numCache>
                <c:formatCode>General</c:formatCode>
                <c:ptCount val="3"/>
                <c:pt idx="0">
                  <c:v>61.503961563467669</c:v>
                </c:pt>
                <c:pt idx="1">
                  <c:v>61.420958839368176</c:v>
                </c:pt>
                <c:pt idx="2">
                  <c:v>58.903070780531927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E9FE-475C-97E8-0DB792F4CD2F}"/>
            </c:ext>
          </c:extLst>
        </c:ser>
        <c:ser>
          <c:idx val="1"/>
          <c:order val="1"/>
          <c:tx>
            <c:strRef>
              <c:f>Sheet1!$C$1</c:f>
              <c:strCache>
                <c:ptCount val="1"/>
                <c:pt idx="0">
                  <c:v>DHA / Omega-3</c:v>
                </c:pt>
              </c:strCache>
            </c:strRef>
          </c:tx>
          <c:spPr>
            <a:solidFill>
              <a:srgbClr val="9E7E0A"/>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Sheet1!$C$2:$C$4</c:f>
              <c:numCache>
                <c:formatCode>General</c:formatCode>
                <c:ptCount val="3"/>
                <c:pt idx="0">
                  <c:v>12.199852336716365</c:v>
                </c:pt>
                <c:pt idx="1">
                  <c:v>12.790017040059315</c:v>
                </c:pt>
                <c:pt idx="2">
                  <c:v>14.24290321696467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E9FE-475C-97E8-0DB792F4CD2F}"/>
            </c:ext>
          </c:extLst>
        </c:ser>
        <c:ser>
          <c:idx val="2"/>
          <c:order val="2"/>
          <c:tx>
            <c:strRef>
              <c:f>Sheet1!$D$1</c:f>
              <c:strCache>
                <c:ptCount val="1"/>
                <c:pt idx="0">
                  <c:v>Choline</c:v>
                </c:pt>
              </c:strCache>
            </c:strRef>
          </c:tx>
          <c:spPr>
            <a:solidFill>
              <a:srgbClr val="008189"/>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Sheet1!$D$2:$D$4</c:f>
              <c:numCache>
                <c:formatCode>General</c:formatCode>
                <c:ptCount val="3"/>
                <c:pt idx="0">
                  <c:v>3.2833041312660476</c:v>
                </c:pt>
                <c:pt idx="1">
                  <c:v>3.9608382148261518</c:v>
                </c:pt>
                <c:pt idx="2">
                  <c:v>6.9930836630090187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E9FE-475C-97E8-0DB792F4CD2F}"/>
            </c:ext>
          </c:extLst>
        </c:ser>
        <c:ser>
          <c:idx val="3"/>
          <c:order val="3"/>
          <c:tx>
            <c:strRef>
              <c:f>Sheet1!$E$1</c:f>
              <c:strCache>
                <c:ptCount val="1"/>
                <c:pt idx="0">
                  <c:v>Iron</c:v>
                </c:pt>
              </c:strCache>
            </c:strRef>
          </c:tx>
          <c:spPr>
            <a:solidFill>
              <a:srgbClr val="40315E"/>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Sheet1!$E$2:$E$4</c:f>
              <c:numCache>
                <c:formatCode>General</c:formatCode>
                <c:ptCount val="3"/>
                <c:pt idx="0">
                  <c:v>7.7859323173217847</c:v>
                </c:pt>
                <c:pt idx="1">
                  <c:v>7.2873352902663528</c:v>
                </c:pt>
                <c:pt idx="2">
                  <c:v>5.9311929539245876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E9FE-475C-97E8-0DB792F4CD2F}"/>
            </c:ext>
          </c:extLst>
        </c:ser>
        <c:ser>
          <c:idx val="4"/>
          <c:order val="4"/>
          <c:tx>
            <c:strRef>
              <c:f>Sheet1!$F$1</c:f>
              <c:strCache>
                <c:ptCount val="1"/>
                <c:pt idx="0">
                  <c:v>Folate / Folic Acid</c:v>
                </c:pt>
              </c:strCache>
            </c:strRef>
          </c:tx>
          <c:spPr>
            <a:solidFill>
              <a:srgbClr val="A35313"/>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Sheet1!$F$2:$F$4</c:f>
              <c:numCache>
                <c:formatCode>General</c:formatCode>
                <c:ptCount val="3"/>
                <c:pt idx="0">
                  <c:v>6.3511741434978566</c:v>
                </c:pt>
                <c:pt idx="1">
                  <c:v>6.1370228891789118</c:v>
                </c:pt>
                <c:pt idx="2">
                  <c:v>5.3530803738659305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4-E9FE-475C-97E8-0DB792F4CD2F}"/>
            </c:ext>
          </c:extLst>
        </c:ser>
        <c:ser>
          <c:idx val="5"/>
          <c:order val="5"/>
          <c:tx>
            <c:strRef>
              <c:f>Sheet1!$G$1</c:f>
              <c:strCache>
                <c:ptCount val="1"/>
                <c:pt idx="0">
                  <c:v>Probiotic</c:v>
                </c:pt>
              </c:strCache>
            </c:strRef>
          </c:tx>
          <c:spPr>
            <a:solidFill>
              <a:srgbClr val="808080"/>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Sheet1!$G$2:$G$4</c:f>
              <c:numCache>
                <c:formatCode>General</c:formatCode>
                <c:ptCount val="3"/>
                <c:pt idx="0">
                  <c:v>3.3262807585925702</c:v>
                </c:pt>
                <c:pt idx="1">
                  <c:v>3.4270897920072145</c:v>
                </c:pt>
                <c:pt idx="2">
                  <c:v>4.8243049401101867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E9FE-475C-97E8-0DB792F4CD2F}"/>
            </c:ext>
          </c:extLst>
        </c:ser>
        <c:ser>
          <c:idx val="6"/>
          <c:order val="6"/>
          <c:tx>
            <c:strRef>
              <c:f>Sheet1!$H$1</c:f>
              <c:strCache>
                <c:ptCount val="1"/>
                <c:pt idx="0">
                  <c:v>Calcium &amp; Mineral</c:v>
                </c:pt>
              </c:strCache>
            </c:strRef>
          </c:tx>
          <c:spPr>
            <a:solidFill>
              <a:srgbClr val="0E72AE"/>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Sheet1!$H$2:$H$4</c:f>
              <c:numCache>
                <c:formatCode>General</c:formatCode>
                <c:ptCount val="3"/>
                <c:pt idx="0">
                  <c:v>5.549494749137712</c:v>
                </c:pt>
                <c:pt idx="1">
                  <c:v>4.9767379342938778</c:v>
                </c:pt>
                <c:pt idx="2">
                  <c:v>3.7523640715936812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E9FE-475C-97E8-0DB792F4CD2F}"/>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ubbleChart>
        <c:varyColors val="0"/>
        <c:ser>
          <c:idx val="0"/>
          <c:order val="0"/>
          <c:tx>
            <c:strRef>
              <c:f>Sheet1!$B$1</c:f>
              <c:strCache>
                <c:ptCount val="1"/>
                <c:pt idx="0">
                  <c:v>Direct-to-Consumer / Brand Website</c:v>
                </c:pt>
              </c:strCache>
            </c:strRef>
          </c:tx>
          <c:spPr>
            <a:solidFill>
              <a:srgbClr val="3D85C6"/>
            </a:solidFill>
          </c:spPr>
          <c:invertIfNegative val="0"/>
          <c:xVal>
            <c:numRef>
              <c:f>Sheet1!$A$2:$A$2</c:f>
              <c:numCache>
                <c:formatCode>General</c:formatCode>
                <c:ptCount val="1"/>
                <c:pt idx="0">
                  <c:v>171.73611751745796</c:v>
                </c:pt>
              </c:numCache>
            </c:numRef>
          </c:xVal>
          <c:yVal>
            <c:numRef>
              <c:f>Sheet1!$B$2:$B$2</c:f>
              <c:numCache>
                <c:formatCode>General</c:formatCode>
                <c:ptCount val="1"/>
                <c:pt idx="0">
                  <c:v>77.900724964445516</c:v>
                </c:pt>
              </c:numCache>
            </c:numRef>
          </c:yVal>
          <c:bubbleSize>
            <c:numRef>
              <c:f>Sheet1!$C$2:$C$2</c:f>
              <c:numCache>
                <c:formatCode>General</c:formatCode>
                <c:ptCount val="1"/>
                <c:pt idx="0">
                  <c:v>87.884</c:v>
                </c:pt>
              </c:numCache>
            </c:numRef>
          </c:bubbleSize>
          <c:bubble3D val="0"/>
          <c:extLst>
            <c:ext xmlns:c16="http://schemas.microsoft.com/office/drawing/2014/chart" uri="{C3380CC4-5D6E-409C-BE32-E72D297353CC}">
              <c16:uniqueId val="{00000000-6D76-4E4C-99B7-6DEF50B882F9}"/>
            </c:ext>
          </c:extLst>
        </c:ser>
        <c:ser>
          <c:idx val="1"/>
          <c:order val="1"/>
          <c:tx>
            <c:strRef>
              <c:f>Sheet1!$B$4</c:f>
              <c:strCache>
                <c:ptCount val="1"/>
                <c:pt idx="0">
                  <c:v>Amazon / Online Marketplaces</c:v>
                </c:pt>
              </c:strCache>
            </c:strRef>
          </c:tx>
          <c:spPr>
            <a:solidFill>
              <a:srgbClr val="9E7E0A"/>
            </a:solidFill>
          </c:spPr>
          <c:invertIfNegative val="0"/>
          <c:xVal>
            <c:numRef>
              <c:f>Sheet1!$A$5:$A$5</c:f>
              <c:numCache>
                <c:formatCode>General</c:formatCode>
                <c:ptCount val="1"/>
                <c:pt idx="0">
                  <c:v>130.73776836630168</c:v>
                </c:pt>
              </c:numCache>
            </c:numRef>
          </c:xVal>
          <c:yVal>
            <c:numRef>
              <c:f>Sheet1!$B$5:$B$5</c:f>
              <c:numCache>
                <c:formatCode>General</c:formatCode>
                <c:ptCount val="1"/>
                <c:pt idx="0">
                  <c:v>191.79125186444202</c:v>
                </c:pt>
              </c:numCache>
            </c:numRef>
          </c:yVal>
          <c:bubbleSize>
            <c:numRef>
              <c:f>Sheet1!$C$5:$C$5</c:f>
              <c:numCache>
                <c:formatCode>General</c:formatCode>
                <c:ptCount val="1"/>
                <c:pt idx="0">
                  <c:v>169.066</c:v>
                </c:pt>
              </c:numCache>
            </c:numRef>
          </c:bubbleSize>
          <c:bubble3D val="0"/>
          <c:extLst>
            <c:ext xmlns:c16="http://schemas.microsoft.com/office/drawing/2014/chart" uri="{C3380CC4-5D6E-409C-BE32-E72D297353CC}">
              <c16:uniqueId val="{00000001-6D76-4E4C-99B7-6DEF50B882F9}"/>
            </c:ext>
          </c:extLst>
        </c:ser>
        <c:ser>
          <c:idx val="2"/>
          <c:order val="2"/>
          <c:tx>
            <c:strRef>
              <c:f>Sheet1!$B$7</c:f>
              <c:strCache>
                <c:ptCount val="1"/>
                <c:pt idx="0">
                  <c:v>Mass Retail</c:v>
                </c:pt>
              </c:strCache>
            </c:strRef>
          </c:tx>
          <c:spPr>
            <a:solidFill>
              <a:srgbClr val="008189"/>
            </a:solidFill>
          </c:spPr>
          <c:invertIfNegative val="0"/>
          <c:xVal>
            <c:numRef>
              <c:f>Sheet1!$A$8:$A$8</c:f>
              <c:numCache>
                <c:formatCode>General</c:formatCode>
                <c:ptCount val="1"/>
                <c:pt idx="0">
                  <c:v>62.816400717472916</c:v>
                </c:pt>
              </c:numCache>
            </c:numRef>
          </c:xVal>
          <c:yVal>
            <c:numRef>
              <c:f>Sheet1!$B$8:$B$8</c:f>
              <c:numCache>
                <c:formatCode>General</c:formatCode>
                <c:ptCount val="1"/>
                <c:pt idx="0">
                  <c:v>164.81581046862533</c:v>
                </c:pt>
              </c:numCache>
            </c:numRef>
          </c:yVal>
          <c:bubbleSize>
            <c:numRef>
              <c:f>Sheet1!$C$8:$C$8</c:f>
              <c:numCache>
                <c:formatCode>General</c:formatCode>
                <c:ptCount val="1"/>
                <c:pt idx="0">
                  <c:v>95.212999999999994</c:v>
                </c:pt>
              </c:numCache>
            </c:numRef>
          </c:bubbleSize>
          <c:bubble3D val="0"/>
          <c:extLst>
            <c:ext xmlns:c16="http://schemas.microsoft.com/office/drawing/2014/chart" uri="{C3380CC4-5D6E-409C-BE32-E72D297353CC}">
              <c16:uniqueId val="{00000002-6D76-4E4C-99B7-6DEF50B882F9}"/>
            </c:ext>
          </c:extLst>
        </c:ser>
        <c:ser>
          <c:idx val="3"/>
          <c:order val="3"/>
          <c:tx>
            <c:strRef>
              <c:f>Sheet1!$B$10</c:f>
              <c:strCache>
                <c:ptCount val="1"/>
                <c:pt idx="0">
                  <c:v>Pharmacy / Drugstores</c:v>
                </c:pt>
              </c:strCache>
            </c:strRef>
          </c:tx>
          <c:spPr>
            <a:solidFill>
              <a:srgbClr val="40315E"/>
            </a:solidFill>
          </c:spPr>
          <c:invertIfNegative val="0"/>
          <c:xVal>
            <c:numRef>
              <c:f>Sheet1!$A$11:$A$11</c:f>
              <c:numCache>
                <c:formatCode>General</c:formatCode>
                <c:ptCount val="1"/>
                <c:pt idx="0">
                  <c:v>30.705296358318208</c:v>
                </c:pt>
              </c:numCache>
            </c:numRef>
          </c:xVal>
          <c:yVal>
            <c:numRef>
              <c:f>Sheet1!$B$11:$B$11</c:f>
              <c:numCache>
                <c:formatCode>General</c:formatCode>
                <c:ptCount val="1"/>
                <c:pt idx="0">
                  <c:v>126.54965486142424</c:v>
                </c:pt>
              </c:numCache>
            </c:numRef>
          </c:yVal>
          <c:bubbleSize>
            <c:numRef>
              <c:f>Sheet1!$C$11:$C$11</c:f>
              <c:numCache>
                <c:formatCode>General</c:formatCode>
                <c:ptCount val="1"/>
                <c:pt idx="0">
                  <c:v>59.485999999999997</c:v>
                </c:pt>
              </c:numCache>
            </c:numRef>
          </c:bubbleSize>
          <c:bubble3D val="0"/>
          <c:extLst>
            <c:ext xmlns:c16="http://schemas.microsoft.com/office/drawing/2014/chart" uri="{C3380CC4-5D6E-409C-BE32-E72D297353CC}">
              <c16:uniqueId val="{00000003-6D76-4E4C-99B7-6DEF50B882F9}"/>
            </c:ext>
          </c:extLst>
        </c:ser>
        <c:ser>
          <c:idx val="4"/>
          <c:order val="4"/>
          <c:tx>
            <c:strRef>
              <c:f>Sheet1!$B$13</c:f>
              <c:strCache>
                <c:ptCount val="1"/>
                <c:pt idx="0">
                  <c:v>Specialty Health &amp; Wellness Retail</c:v>
                </c:pt>
              </c:strCache>
            </c:strRef>
          </c:tx>
          <c:spPr>
            <a:solidFill>
              <a:srgbClr val="A35313"/>
            </a:solidFill>
          </c:spPr>
          <c:invertIfNegative val="0"/>
          <c:xVal>
            <c:numRef>
              <c:f>Sheet1!$A$14:$A$14</c:f>
              <c:numCache>
                <c:formatCode>General</c:formatCode>
                <c:ptCount val="1"/>
                <c:pt idx="0">
                  <c:v>90.603577658791352</c:v>
                </c:pt>
              </c:numCache>
            </c:numRef>
          </c:xVal>
          <c:yVal>
            <c:numRef>
              <c:f>Sheet1!$B$14:$B$14</c:f>
              <c:numCache>
                <c:formatCode>General</c:formatCode>
                <c:ptCount val="1"/>
                <c:pt idx="0">
                  <c:v>28.809532068403339</c:v>
                </c:pt>
              </c:numCache>
            </c:numRef>
          </c:yVal>
          <c:bubbleSize>
            <c:numRef>
              <c:f>Sheet1!$C$14:$C$14</c:f>
              <c:numCache>
                <c:formatCode>General</c:formatCode>
                <c:ptCount val="1"/>
                <c:pt idx="0">
                  <c:v>19.827000000000002</c:v>
                </c:pt>
              </c:numCache>
            </c:numRef>
          </c:bubbleSize>
          <c:bubble3D val="0"/>
          <c:extLst>
            <c:ext xmlns:c16="http://schemas.microsoft.com/office/drawing/2014/chart" uri="{C3380CC4-5D6E-409C-BE32-E72D297353CC}">
              <c16:uniqueId val="{00000004-6D76-4E4C-99B7-6DEF50B882F9}"/>
            </c:ext>
          </c:extLst>
        </c:ser>
        <c:ser>
          <c:idx val="5"/>
          <c:order val="5"/>
          <c:tx>
            <c:strRef>
              <c:f>Sheet1!$B$16</c:f>
              <c:strCache>
                <c:ptCount val="1"/>
                <c:pt idx="0">
                  <c:v>Practitioner / Clinic Channel</c:v>
                </c:pt>
              </c:strCache>
            </c:strRef>
          </c:tx>
          <c:spPr>
            <a:solidFill>
              <a:srgbClr val="808080"/>
            </a:solidFill>
          </c:spPr>
          <c:invertIfNegative val="0"/>
          <c:xVal>
            <c:numRef>
              <c:f>Sheet1!$A$17:$A$17</c:f>
              <c:numCache>
                <c:formatCode>General</c:formatCode>
                <c:ptCount val="1"/>
                <c:pt idx="0">
                  <c:v>75.171586989750111</c:v>
                </c:pt>
              </c:numCache>
            </c:numRef>
          </c:xVal>
          <c:yVal>
            <c:numRef>
              <c:f>Sheet1!$B$17:$B$17</c:f>
              <c:numCache>
                <c:formatCode>General</c:formatCode>
                <c:ptCount val="1"/>
                <c:pt idx="0">
                  <c:v>10.133025772659474</c:v>
                </c:pt>
              </c:numCache>
            </c:numRef>
          </c:yVal>
          <c:bubbleSize>
            <c:numRef>
              <c:f>Sheet1!$C$17:$C$17</c:f>
              <c:numCache>
                <c:formatCode>General</c:formatCode>
                <c:ptCount val="1"/>
                <c:pt idx="0">
                  <c:v>6.33</c:v>
                </c:pt>
              </c:numCache>
            </c:numRef>
          </c:bubbleSize>
          <c:bubble3D val="0"/>
          <c:extLst>
            <c:ext xmlns:c16="http://schemas.microsoft.com/office/drawing/2014/chart" uri="{C3380CC4-5D6E-409C-BE32-E72D297353CC}">
              <c16:uniqueId val="{00000005-6D76-4E4C-99B7-6DEF50B882F9}"/>
            </c:ext>
          </c:extLst>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210"/>
          <c:min val="-10"/>
        </c:scaling>
        <c:delete val="0"/>
        <c:axPos val="b"/>
        <c:title>
          <c:tx>
            <c:rich>
              <a:bodyPr/>
              <a:lstStyle/>
              <a:p>
                <a:r>
                  <a:rPr sz="1100" b="0">
                    <a:solidFill>
                      <a:srgbClr val="6C7A89"/>
                    </a:solidFill>
                    <a:latin typeface="Calibri"/>
                  </a:rPr>
                  <a:t>CAGR Index (100 = segment average growth)</a:t>
                </a:r>
              </a:p>
            </c:rich>
          </c:tx>
          <c:overlay val="0"/>
        </c:title>
        <c:numFmt formatCode="General" sourceLinked="1"/>
        <c:majorTickMark val="out"/>
        <c:minorTickMark val="none"/>
        <c:tickLblPos val="nextTo"/>
        <c:spPr>
          <a:ln>
            <a:solidFill>
              <a:srgbClr val="C6D5E1"/>
            </a:solidFill>
          </a:ln>
        </c:spPr>
        <c:txPr>
          <a:bodyPr/>
          <a:lstStyle/>
          <a:p>
            <a:pPr>
              <a:defRPr sz="1100"/>
            </a:pPr>
            <a:endParaRPr lang="en-US"/>
          </a:p>
        </c:txPr>
        <c:crossAx val="-2115723560"/>
        <c:crosses val="autoZero"/>
        <c:crossBetween val="midCat"/>
      </c:valAx>
      <c:valAx>
        <c:axId val="-2115723560"/>
        <c:scaling>
          <c:orientation val="minMax"/>
          <c:max val="250"/>
          <c:min val="0"/>
        </c:scaling>
        <c:delete val="0"/>
        <c:axPos val="l"/>
        <c:title>
          <c:tx>
            <c:rich>
              <a:bodyPr/>
              <a:lstStyle/>
              <a:p>
                <a:r>
                  <a:rPr sz="1100" b="0">
                    <a:solidFill>
                      <a:srgbClr val="6C7A89"/>
                    </a:solidFill>
                    <a:latin typeface="Calibri"/>
                  </a:rPr>
                  <a:t>Market Share Index (100 = equal share)</a:t>
                </a:r>
              </a:p>
            </c:rich>
          </c:tx>
          <c:overlay val="0"/>
        </c:title>
        <c:numFmt formatCode="General" sourceLinked="1"/>
        <c:majorTickMark val="out"/>
        <c:minorTickMark val="none"/>
        <c:tickLblPos val="nextTo"/>
        <c:spPr>
          <a:ln>
            <a:solidFill>
              <a:srgbClr val="C6D5E1"/>
            </a:solidFill>
          </a:ln>
        </c:spPr>
        <c:txPr>
          <a:bodyPr/>
          <a:lstStyle/>
          <a:p>
            <a:pPr>
              <a:defRPr sz="1100"/>
            </a:pPr>
            <a:endParaRPr lang="en-US"/>
          </a:p>
        </c:txPr>
        <c:crossAx val="-2115720072"/>
        <c:crosses val="autoZero"/>
        <c:crossBetween val="midCat"/>
      </c:valAx>
    </c:plotArea>
    <c:legend>
      <c:legendPos val="r"/>
      <c:overlay val="0"/>
      <c:txPr>
        <a:bodyPr/>
        <a:lstStyle/>
        <a:p>
          <a:pPr>
            <a:defRPr sz="1100"/>
          </a:pPr>
          <a:endParaRPr lang="en-US"/>
        </a:p>
      </c:txPr>
    </c:legend>
    <c:plotVisOnly val="1"/>
    <c:dispBlanksAs val="gap"/>
    <c:showDLblsOverMax val="0"/>
  </c:chart>
  <c:txPr>
    <a:bodyPr/>
    <a:lstStyle/>
    <a:p>
      <a:pPr>
        <a:defRPr sz="1100">
          <a:latin typeface="Calibri"/>
        </a:defRPr>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29.943999999999999</c:v>
                </c:pt>
                <c:pt idx="2">
                  <c:v>35.841000000000001</c:v>
                </c:pt>
                <c:pt idx="3">
                  <c:v>44.088999999999999</c:v>
                </c:pt>
                <c:pt idx="4">
                  <c:v>55.722999999999999</c:v>
                </c:pt>
                <c:pt idx="5">
                  <c:v>70.36</c:v>
                </c:pt>
                <c:pt idx="6">
                  <c:v>0</c:v>
                </c:pt>
              </c:numCache>
            </c:numRef>
          </c:val>
          <c:extLst>
            <c:ext xmlns:c16="http://schemas.microsoft.com/office/drawing/2014/chart" uri="{C3380CC4-5D6E-409C-BE32-E72D297353CC}">
              <c16:uniqueId val="{00000000-125B-4C6C-8125-95851B4AFB9F}"/>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125B-4C6C-8125-95851B4AFB9F}"/>
              </c:ext>
            </c:extLst>
          </c:dPt>
          <c:dPt>
            <c:idx val="1"/>
            <c:invertIfNegative val="1"/>
            <c:bubble3D val="0"/>
            <c:spPr>
              <a:solidFill>
                <a:srgbClr val="008189"/>
              </a:solidFill>
            </c:spPr>
            <c:extLst>
              <c:ext xmlns:c16="http://schemas.microsoft.com/office/drawing/2014/chart" uri="{C3380CC4-5D6E-409C-BE32-E72D297353CC}">
                <c16:uniqueId val="{00000004-125B-4C6C-8125-95851B4AFB9F}"/>
              </c:ext>
            </c:extLst>
          </c:dPt>
          <c:dPt>
            <c:idx val="2"/>
            <c:invertIfNegative val="1"/>
            <c:bubble3D val="0"/>
            <c:spPr>
              <a:solidFill>
                <a:srgbClr val="008189"/>
              </a:solidFill>
            </c:spPr>
            <c:extLst>
              <c:ext xmlns:c16="http://schemas.microsoft.com/office/drawing/2014/chart" uri="{C3380CC4-5D6E-409C-BE32-E72D297353CC}">
                <c16:uniqueId val="{00000006-125B-4C6C-8125-95851B4AFB9F}"/>
              </c:ext>
            </c:extLst>
          </c:dPt>
          <c:dPt>
            <c:idx val="3"/>
            <c:invertIfNegative val="1"/>
            <c:bubble3D val="0"/>
            <c:spPr>
              <a:solidFill>
                <a:srgbClr val="008189"/>
              </a:solidFill>
            </c:spPr>
            <c:extLst>
              <c:ext xmlns:c16="http://schemas.microsoft.com/office/drawing/2014/chart" uri="{C3380CC4-5D6E-409C-BE32-E72D297353CC}">
                <c16:uniqueId val="{00000008-125B-4C6C-8125-95851B4AFB9F}"/>
              </c:ext>
            </c:extLst>
          </c:dPt>
          <c:dPt>
            <c:idx val="4"/>
            <c:invertIfNegative val="1"/>
            <c:bubble3D val="0"/>
            <c:spPr>
              <a:solidFill>
                <a:srgbClr val="008189"/>
              </a:solidFill>
            </c:spPr>
            <c:extLst>
              <c:ext xmlns:c16="http://schemas.microsoft.com/office/drawing/2014/chart" uri="{C3380CC4-5D6E-409C-BE32-E72D297353CC}">
                <c16:uniqueId val="{0000000A-125B-4C6C-8125-95851B4AFB9F}"/>
              </c:ext>
            </c:extLst>
          </c:dPt>
          <c:dPt>
            <c:idx val="5"/>
            <c:invertIfNegative val="1"/>
            <c:bubble3D val="0"/>
            <c:spPr>
              <a:solidFill>
                <a:srgbClr val="008189"/>
              </a:solidFill>
            </c:spPr>
            <c:extLst>
              <c:ext xmlns:c16="http://schemas.microsoft.com/office/drawing/2014/chart" uri="{C3380CC4-5D6E-409C-BE32-E72D297353CC}">
                <c16:uniqueId val="{0000000C-125B-4C6C-8125-95851B4AFB9F}"/>
              </c:ext>
            </c:extLst>
          </c:dPt>
          <c:dPt>
            <c:idx val="6"/>
            <c:invertIfNegative val="1"/>
            <c:bubble3D val="0"/>
            <c:spPr>
              <a:solidFill>
                <a:srgbClr val="0E72AE"/>
              </a:solidFill>
            </c:spPr>
            <c:extLst>
              <c:ext xmlns:c16="http://schemas.microsoft.com/office/drawing/2014/chart" uri="{C3380CC4-5D6E-409C-BE32-E72D297353CC}">
                <c16:uniqueId val="{0000000E-125B-4C6C-8125-95851B4AFB9F}"/>
              </c:ext>
            </c:extLst>
          </c:dPt>
          <c:dLbls>
            <c:numFmt formatCode="0.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29.943999999999999</c:v>
                </c:pt>
                <c:pt idx="1">
                  <c:v>5.897000000000002</c:v>
                </c:pt>
                <c:pt idx="2">
                  <c:v>8.2479999999999976</c:v>
                </c:pt>
                <c:pt idx="3">
                  <c:v>11.634</c:v>
                </c:pt>
                <c:pt idx="4">
                  <c:v>14.637</c:v>
                </c:pt>
                <c:pt idx="5">
                  <c:v>17.524000000000001</c:v>
                </c:pt>
                <c:pt idx="6">
                  <c:v>87.884</c:v>
                </c:pt>
              </c:numCache>
            </c:numRef>
          </c:val>
          <c:extLst>
            <c:ext xmlns:c16="http://schemas.microsoft.com/office/drawing/2014/chart" uri="{C3380CC4-5D6E-409C-BE32-E72D297353CC}">
              <c16:uniqueId val="{0000000F-125B-4C6C-8125-95851B4AFB9F}"/>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73.721999999999994</c:v>
                </c:pt>
                <c:pt idx="2">
                  <c:v>85.811999999999998</c:v>
                </c:pt>
                <c:pt idx="3">
                  <c:v>102.163</c:v>
                </c:pt>
                <c:pt idx="4">
                  <c:v>121.8</c:v>
                </c:pt>
                <c:pt idx="5">
                  <c:v>144.024</c:v>
                </c:pt>
                <c:pt idx="6">
                  <c:v>0</c:v>
                </c:pt>
              </c:numCache>
            </c:numRef>
          </c:val>
          <c:extLst>
            <c:ext xmlns:c16="http://schemas.microsoft.com/office/drawing/2014/chart" uri="{C3380CC4-5D6E-409C-BE32-E72D297353CC}">
              <c16:uniqueId val="{00000000-D664-4BCF-9261-169AA348B524}"/>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D664-4BCF-9261-169AA348B524}"/>
              </c:ext>
            </c:extLst>
          </c:dPt>
          <c:dPt>
            <c:idx val="1"/>
            <c:invertIfNegative val="1"/>
            <c:bubble3D val="0"/>
            <c:spPr>
              <a:solidFill>
                <a:srgbClr val="008189"/>
              </a:solidFill>
            </c:spPr>
            <c:extLst>
              <c:ext xmlns:c16="http://schemas.microsoft.com/office/drawing/2014/chart" uri="{C3380CC4-5D6E-409C-BE32-E72D297353CC}">
                <c16:uniqueId val="{00000004-D664-4BCF-9261-169AA348B524}"/>
              </c:ext>
            </c:extLst>
          </c:dPt>
          <c:dPt>
            <c:idx val="2"/>
            <c:invertIfNegative val="1"/>
            <c:bubble3D val="0"/>
            <c:spPr>
              <a:solidFill>
                <a:srgbClr val="008189"/>
              </a:solidFill>
            </c:spPr>
            <c:extLst>
              <c:ext xmlns:c16="http://schemas.microsoft.com/office/drawing/2014/chart" uri="{C3380CC4-5D6E-409C-BE32-E72D297353CC}">
                <c16:uniqueId val="{00000006-D664-4BCF-9261-169AA348B524}"/>
              </c:ext>
            </c:extLst>
          </c:dPt>
          <c:dPt>
            <c:idx val="3"/>
            <c:invertIfNegative val="1"/>
            <c:bubble3D val="0"/>
            <c:spPr>
              <a:solidFill>
                <a:srgbClr val="008189"/>
              </a:solidFill>
            </c:spPr>
            <c:extLst>
              <c:ext xmlns:c16="http://schemas.microsoft.com/office/drawing/2014/chart" uri="{C3380CC4-5D6E-409C-BE32-E72D297353CC}">
                <c16:uniqueId val="{00000008-D664-4BCF-9261-169AA348B524}"/>
              </c:ext>
            </c:extLst>
          </c:dPt>
          <c:dPt>
            <c:idx val="4"/>
            <c:invertIfNegative val="1"/>
            <c:bubble3D val="0"/>
            <c:spPr>
              <a:solidFill>
                <a:srgbClr val="008189"/>
              </a:solidFill>
            </c:spPr>
            <c:extLst>
              <c:ext xmlns:c16="http://schemas.microsoft.com/office/drawing/2014/chart" uri="{C3380CC4-5D6E-409C-BE32-E72D297353CC}">
                <c16:uniqueId val="{0000000A-D664-4BCF-9261-169AA348B524}"/>
              </c:ext>
            </c:extLst>
          </c:dPt>
          <c:dPt>
            <c:idx val="5"/>
            <c:invertIfNegative val="1"/>
            <c:bubble3D val="0"/>
            <c:spPr>
              <a:solidFill>
                <a:srgbClr val="008189"/>
              </a:solidFill>
            </c:spPr>
            <c:extLst>
              <c:ext xmlns:c16="http://schemas.microsoft.com/office/drawing/2014/chart" uri="{C3380CC4-5D6E-409C-BE32-E72D297353CC}">
                <c16:uniqueId val="{0000000C-D664-4BCF-9261-169AA348B524}"/>
              </c:ext>
            </c:extLst>
          </c:dPt>
          <c:dPt>
            <c:idx val="6"/>
            <c:invertIfNegative val="1"/>
            <c:bubble3D val="0"/>
            <c:spPr>
              <a:solidFill>
                <a:srgbClr val="0E72AE"/>
              </a:solidFill>
            </c:spPr>
            <c:extLst>
              <c:ext xmlns:c16="http://schemas.microsoft.com/office/drawing/2014/chart" uri="{C3380CC4-5D6E-409C-BE32-E72D297353CC}">
                <c16:uniqueId val="{0000000E-D664-4BCF-9261-169AA348B524}"/>
              </c:ext>
            </c:extLst>
          </c:dPt>
          <c:dLbls>
            <c:numFmt formatCode="#,##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73.721999999999994</c:v>
                </c:pt>
                <c:pt idx="1">
                  <c:v>12.090000000000003</c:v>
                </c:pt>
                <c:pt idx="2">
                  <c:v>16.350999999999999</c:v>
                </c:pt>
                <c:pt idx="3">
                  <c:v>19.637</c:v>
                </c:pt>
                <c:pt idx="4">
                  <c:v>22.224000000000004</c:v>
                </c:pt>
                <c:pt idx="5">
                  <c:v>25.042000000000002</c:v>
                </c:pt>
                <c:pt idx="6">
                  <c:v>169.066</c:v>
                </c:pt>
              </c:numCache>
            </c:numRef>
          </c:val>
          <c:extLst>
            <c:ext xmlns:c16="http://schemas.microsoft.com/office/drawing/2014/chart" uri="{C3380CC4-5D6E-409C-BE32-E72D297353CC}">
              <c16:uniqueId val="{0000000F-D664-4BCF-9261-169AA348B524}"/>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63.353000000000002</c:v>
                </c:pt>
                <c:pt idx="2">
                  <c:v>68.248000000000005</c:v>
                </c:pt>
                <c:pt idx="3">
                  <c:v>73.81</c:v>
                </c:pt>
                <c:pt idx="4">
                  <c:v>80.313000000000002</c:v>
                </c:pt>
                <c:pt idx="5">
                  <c:v>87.613</c:v>
                </c:pt>
                <c:pt idx="6">
                  <c:v>0</c:v>
                </c:pt>
              </c:numCache>
            </c:numRef>
          </c:val>
          <c:extLst>
            <c:ext xmlns:c16="http://schemas.microsoft.com/office/drawing/2014/chart" uri="{C3380CC4-5D6E-409C-BE32-E72D297353CC}">
              <c16:uniqueId val="{00000000-60E3-44DA-8F4F-BF7879EE1AD2}"/>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60E3-44DA-8F4F-BF7879EE1AD2}"/>
              </c:ext>
            </c:extLst>
          </c:dPt>
          <c:dPt>
            <c:idx val="1"/>
            <c:invertIfNegative val="1"/>
            <c:bubble3D val="0"/>
            <c:spPr>
              <a:solidFill>
                <a:srgbClr val="008189"/>
              </a:solidFill>
            </c:spPr>
            <c:extLst>
              <c:ext xmlns:c16="http://schemas.microsoft.com/office/drawing/2014/chart" uri="{C3380CC4-5D6E-409C-BE32-E72D297353CC}">
                <c16:uniqueId val="{00000004-60E3-44DA-8F4F-BF7879EE1AD2}"/>
              </c:ext>
            </c:extLst>
          </c:dPt>
          <c:dPt>
            <c:idx val="2"/>
            <c:invertIfNegative val="1"/>
            <c:bubble3D val="0"/>
            <c:spPr>
              <a:solidFill>
                <a:srgbClr val="008189"/>
              </a:solidFill>
            </c:spPr>
            <c:extLst>
              <c:ext xmlns:c16="http://schemas.microsoft.com/office/drawing/2014/chart" uri="{C3380CC4-5D6E-409C-BE32-E72D297353CC}">
                <c16:uniqueId val="{00000006-60E3-44DA-8F4F-BF7879EE1AD2}"/>
              </c:ext>
            </c:extLst>
          </c:dPt>
          <c:dPt>
            <c:idx val="3"/>
            <c:invertIfNegative val="1"/>
            <c:bubble3D val="0"/>
            <c:spPr>
              <a:solidFill>
                <a:srgbClr val="008189"/>
              </a:solidFill>
            </c:spPr>
            <c:extLst>
              <c:ext xmlns:c16="http://schemas.microsoft.com/office/drawing/2014/chart" uri="{C3380CC4-5D6E-409C-BE32-E72D297353CC}">
                <c16:uniqueId val="{00000008-60E3-44DA-8F4F-BF7879EE1AD2}"/>
              </c:ext>
            </c:extLst>
          </c:dPt>
          <c:dPt>
            <c:idx val="4"/>
            <c:invertIfNegative val="1"/>
            <c:bubble3D val="0"/>
            <c:spPr>
              <a:solidFill>
                <a:srgbClr val="008189"/>
              </a:solidFill>
            </c:spPr>
            <c:extLst>
              <c:ext xmlns:c16="http://schemas.microsoft.com/office/drawing/2014/chart" uri="{C3380CC4-5D6E-409C-BE32-E72D297353CC}">
                <c16:uniqueId val="{0000000A-60E3-44DA-8F4F-BF7879EE1AD2}"/>
              </c:ext>
            </c:extLst>
          </c:dPt>
          <c:dPt>
            <c:idx val="5"/>
            <c:invertIfNegative val="1"/>
            <c:bubble3D val="0"/>
            <c:spPr>
              <a:solidFill>
                <a:srgbClr val="008189"/>
              </a:solidFill>
            </c:spPr>
            <c:extLst>
              <c:ext xmlns:c16="http://schemas.microsoft.com/office/drawing/2014/chart" uri="{C3380CC4-5D6E-409C-BE32-E72D297353CC}">
                <c16:uniqueId val="{0000000C-60E3-44DA-8F4F-BF7879EE1AD2}"/>
              </c:ext>
            </c:extLst>
          </c:dPt>
          <c:dPt>
            <c:idx val="6"/>
            <c:invertIfNegative val="1"/>
            <c:bubble3D val="0"/>
            <c:spPr>
              <a:solidFill>
                <a:srgbClr val="0E72AE"/>
              </a:solidFill>
            </c:spPr>
            <c:extLst>
              <c:ext xmlns:c16="http://schemas.microsoft.com/office/drawing/2014/chart" uri="{C3380CC4-5D6E-409C-BE32-E72D297353CC}">
                <c16:uniqueId val="{0000000E-60E3-44DA-8F4F-BF7879EE1AD2}"/>
              </c:ext>
            </c:extLst>
          </c:dPt>
          <c:dLbls>
            <c:numFmt formatCode="0.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63.353000000000002</c:v>
                </c:pt>
                <c:pt idx="1">
                  <c:v>4.8950000000000031</c:v>
                </c:pt>
                <c:pt idx="2">
                  <c:v>5.5619999999999976</c:v>
                </c:pt>
                <c:pt idx="3">
                  <c:v>6.5030000000000001</c:v>
                </c:pt>
                <c:pt idx="4">
                  <c:v>7.2999999999999972</c:v>
                </c:pt>
                <c:pt idx="5">
                  <c:v>7.5999999999999943</c:v>
                </c:pt>
                <c:pt idx="6">
                  <c:v>95.212999999999994</c:v>
                </c:pt>
              </c:numCache>
            </c:numRef>
          </c:val>
          <c:extLst>
            <c:ext xmlns:c16="http://schemas.microsoft.com/office/drawing/2014/chart" uri="{C3380CC4-5D6E-409C-BE32-E72D297353CC}">
              <c16:uniqueId val="{0000000F-60E3-44DA-8F4F-BF7879EE1AD2}"/>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48.643999999999998</c:v>
                </c:pt>
                <c:pt idx="2">
                  <c:v>50.837000000000003</c:v>
                </c:pt>
                <c:pt idx="3">
                  <c:v>52.784999999999997</c:v>
                </c:pt>
                <c:pt idx="4">
                  <c:v>54.697000000000003</c:v>
                </c:pt>
                <c:pt idx="5">
                  <c:v>57.033000000000001</c:v>
                </c:pt>
                <c:pt idx="6">
                  <c:v>0</c:v>
                </c:pt>
              </c:numCache>
            </c:numRef>
          </c:val>
          <c:extLst>
            <c:ext xmlns:c16="http://schemas.microsoft.com/office/drawing/2014/chart" uri="{C3380CC4-5D6E-409C-BE32-E72D297353CC}">
              <c16:uniqueId val="{00000000-32A2-4371-B5C4-BCBDF2C67174}"/>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32A2-4371-B5C4-BCBDF2C67174}"/>
              </c:ext>
            </c:extLst>
          </c:dPt>
          <c:dPt>
            <c:idx val="1"/>
            <c:invertIfNegative val="1"/>
            <c:bubble3D val="0"/>
            <c:spPr>
              <a:solidFill>
                <a:srgbClr val="008189"/>
              </a:solidFill>
            </c:spPr>
            <c:extLst>
              <c:ext xmlns:c16="http://schemas.microsoft.com/office/drawing/2014/chart" uri="{C3380CC4-5D6E-409C-BE32-E72D297353CC}">
                <c16:uniqueId val="{00000004-32A2-4371-B5C4-BCBDF2C67174}"/>
              </c:ext>
            </c:extLst>
          </c:dPt>
          <c:dPt>
            <c:idx val="2"/>
            <c:invertIfNegative val="1"/>
            <c:bubble3D val="0"/>
            <c:spPr>
              <a:solidFill>
                <a:srgbClr val="008189"/>
              </a:solidFill>
            </c:spPr>
            <c:extLst>
              <c:ext xmlns:c16="http://schemas.microsoft.com/office/drawing/2014/chart" uri="{C3380CC4-5D6E-409C-BE32-E72D297353CC}">
                <c16:uniqueId val="{00000006-32A2-4371-B5C4-BCBDF2C67174}"/>
              </c:ext>
            </c:extLst>
          </c:dPt>
          <c:dPt>
            <c:idx val="3"/>
            <c:invertIfNegative val="1"/>
            <c:bubble3D val="0"/>
            <c:spPr>
              <a:solidFill>
                <a:srgbClr val="008189"/>
              </a:solidFill>
            </c:spPr>
            <c:extLst>
              <c:ext xmlns:c16="http://schemas.microsoft.com/office/drawing/2014/chart" uri="{C3380CC4-5D6E-409C-BE32-E72D297353CC}">
                <c16:uniqueId val="{00000008-32A2-4371-B5C4-BCBDF2C67174}"/>
              </c:ext>
            </c:extLst>
          </c:dPt>
          <c:dPt>
            <c:idx val="4"/>
            <c:invertIfNegative val="1"/>
            <c:bubble3D val="0"/>
            <c:spPr>
              <a:solidFill>
                <a:srgbClr val="008189"/>
              </a:solidFill>
            </c:spPr>
            <c:extLst>
              <c:ext xmlns:c16="http://schemas.microsoft.com/office/drawing/2014/chart" uri="{C3380CC4-5D6E-409C-BE32-E72D297353CC}">
                <c16:uniqueId val="{0000000A-32A2-4371-B5C4-BCBDF2C67174}"/>
              </c:ext>
            </c:extLst>
          </c:dPt>
          <c:dPt>
            <c:idx val="5"/>
            <c:invertIfNegative val="1"/>
            <c:bubble3D val="0"/>
            <c:spPr>
              <a:solidFill>
                <a:srgbClr val="008189"/>
              </a:solidFill>
            </c:spPr>
            <c:extLst>
              <c:ext xmlns:c16="http://schemas.microsoft.com/office/drawing/2014/chart" uri="{C3380CC4-5D6E-409C-BE32-E72D297353CC}">
                <c16:uniqueId val="{0000000C-32A2-4371-B5C4-BCBDF2C67174}"/>
              </c:ext>
            </c:extLst>
          </c:dPt>
          <c:dPt>
            <c:idx val="6"/>
            <c:invertIfNegative val="1"/>
            <c:bubble3D val="0"/>
            <c:spPr>
              <a:solidFill>
                <a:srgbClr val="0E72AE"/>
              </a:solidFill>
            </c:spPr>
            <c:extLst>
              <c:ext xmlns:c16="http://schemas.microsoft.com/office/drawing/2014/chart" uri="{C3380CC4-5D6E-409C-BE32-E72D297353CC}">
                <c16:uniqueId val="{0000000E-32A2-4371-B5C4-BCBDF2C67174}"/>
              </c:ext>
            </c:extLst>
          </c:dPt>
          <c:dLbls>
            <c:numFmt formatCode="0.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48.643999999999998</c:v>
                </c:pt>
                <c:pt idx="1">
                  <c:v>2.1930000000000049</c:v>
                </c:pt>
                <c:pt idx="2">
                  <c:v>1.9479999999999933</c:v>
                </c:pt>
                <c:pt idx="3">
                  <c:v>1.9120000000000061</c:v>
                </c:pt>
                <c:pt idx="4">
                  <c:v>2.3359999999999985</c:v>
                </c:pt>
                <c:pt idx="5">
                  <c:v>2.4529999999999959</c:v>
                </c:pt>
                <c:pt idx="6">
                  <c:v>59.485999999999997</c:v>
                </c:pt>
              </c:numCache>
            </c:numRef>
          </c:val>
          <c:extLst>
            <c:ext xmlns:c16="http://schemas.microsoft.com/office/drawing/2014/chart" uri="{C3380CC4-5D6E-409C-BE32-E72D297353CC}">
              <c16:uniqueId val="{0000000F-32A2-4371-B5C4-BCBDF2C67174}"/>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11.074</c:v>
                </c:pt>
                <c:pt idx="2">
                  <c:v>12.407</c:v>
                </c:pt>
                <c:pt idx="3">
                  <c:v>13.958</c:v>
                </c:pt>
                <c:pt idx="4">
                  <c:v>15.629</c:v>
                </c:pt>
                <c:pt idx="5">
                  <c:v>17.62</c:v>
                </c:pt>
                <c:pt idx="6">
                  <c:v>0</c:v>
                </c:pt>
              </c:numCache>
            </c:numRef>
          </c:val>
          <c:extLst>
            <c:ext xmlns:c16="http://schemas.microsoft.com/office/drawing/2014/chart" uri="{C3380CC4-5D6E-409C-BE32-E72D297353CC}">
              <c16:uniqueId val="{00000000-4282-419F-9EF2-D24EFFDE9F53}"/>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4282-419F-9EF2-D24EFFDE9F53}"/>
              </c:ext>
            </c:extLst>
          </c:dPt>
          <c:dPt>
            <c:idx val="1"/>
            <c:invertIfNegative val="1"/>
            <c:bubble3D val="0"/>
            <c:spPr>
              <a:solidFill>
                <a:srgbClr val="008189"/>
              </a:solidFill>
            </c:spPr>
            <c:extLst>
              <c:ext xmlns:c16="http://schemas.microsoft.com/office/drawing/2014/chart" uri="{C3380CC4-5D6E-409C-BE32-E72D297353CC}">
                <c16:uniqueId val="{00000004-4282-419F-9EF2-D24EFFDE9F53}"/>
              </c:ext>
            </c:extLst>
          </c:dPt>
          <c:dPt>
            <c:idx val="2"/>
            <c:invertIfNegative val="1"/>
            <c:bubble3D val="0"/>
            <c:spPr>
              <a:solidFill>
                <a:srgbClr val="008189"/>
              </a:solidFill>
            </c:spPr>
            <c:extLst>
              <c:ext xmlns:c16="http://schemas.microsoft.com/office/drawing/2014/chart" uri="{C3380CC4-5D6E-409C-BE32-E72D297353CC}">
                <c16:uniqueId val="{00000006-4282-419F-9EF2-D24EFFDE9F53}"/>
              </c:ext>
            </c:extLst>
          </c:dPt>
          <c:dPt>
            <c:idx val="3"/>
            <c:invertIfNegative val="1"/>
            <c:bubble3D val="0"/>
            <c:spPr>
              <a:solidFill>
                <a:srgbClr val="008189"/>
              </a:solidFill>
            </c:spPr>
            <c:extLst>
              <c:ext xmlns:c16="http://schemas.microsoft.com/office/drawing/2014/chart" uri="{C3380CC4-5D6E-409C-BE32-E72D297353CC}">
                <c16:uniqueId val="{00000008-4282-419F-9EF2-D24EFFDE9F53}"/>
              </c:ext>
            </c:extLst>
          </c:dPt>
          <c:dPt>
            <c:idx val="4"/>
            <c:invertIfNegative val="1"/>
            <c:bubble3D val="0"/>
            <c:spPr>
              <a:solidFill>
                <a:srgbClr val="008189"/>
              </a:solidFill>
            </c:spPr>
            <c:extLst>
              <c:ext xmlns:c16="http://schemas.microsoft.com/office/drawing/2014/chart" uri="{C3380CC4-5D6E-409C-BE32-E72D297353CC}">
                <c16:uniqueId val="{0000000A-4282-419F-9EF2-D24EFFDE9F53}"/>
              </c:ext>
            </c:extLst>
          </c:dPt>
          <c:dPt>
            <c:idx val="5"/>
            <c:invertIfNegative val="1"/>
            <c:bubble3D val="0"/>
            <c:spPr>
              <a:solidFill>
                <a:srgbClr val="008189"/>
              </a:solidFill>
            </c:spPr>
            <c:extLst>
              <c:ext xmlns:c16="http://schemas.microsoft.com/office/drawing/2014/chart" uri="{C3380CC4-5D6E-409C-BE32-E72D297353CC}">
                <c16:uniqueId val="{0000000C-4282-419F-9EF2-D24EFFDE9F53}"/>
              </c:ext>
            </c:extLst>
          </c:dPt>
          <c:dPt>
            <c:idx val="6"/>
            <c:invertIfNegative val="1"/>
            <c:bubble3D val="0"/>
            <c:spPr>
              <a:solidFill>
                <a:srgbClr val="0E72AE"/>
              </a:solidFill>
            </c:spPr>
            <c:extLst>
              <c:ext xmlns:c16="http://schemas.microsoft.com/office/drawing/2014/chart" uri="{C3380CC4-5D6E-409C-BE32-E72D297353CC}">
                <c16:uniqueId val="{0000000E-4282-419F-9EF2-D24EFFDE9F53}"/>
              </c:ext>
            </c:extLst>
          </c:dPt>
          <c:dLbls>
            <c:numFmt formatCode="0.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11.074</c:v>
                </c:pt>
                <c:pt idx="1">
                  <c:v>1.3330000000000002</c:v>
                </c:pt>
                <c:pt idx="2">
                  <c:v>1.5510000000000002</c:v>
                </c:pt>
                <c:pt idx="3">
                  <c:v>1.6709999999999994</c:v>
                </c:pt>
                <c:pt idx="4">
                  <c:v>1.9910000000000014</c:v>
                </c:pt>
                <c:pt idx="5">
                  <c:v>2.2070000000000007</c:v>
                </c:pt>
                <c:pt idx="6">
                  <c:v>19.827000000000002</c:v>
                </c:pt>
              </c:numCache>
            </c:numRef>
          </c:val>
          <c:extLst>
            <c:ext xmlns:c16="http://schemas.microsoft.com/office/drawing/2014/chart" uri="{C3380CC4-5D6E-409C-BE32-E72D297353CC}">
              <c16:uniqueId val="{0000000F-4282-419F-9EF2-D24EFFDE9F53}"/>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1"/>
          <c:cat>
            <c:strRef>
              <c:f>Sheet1!$A$2:$A$8</c:f>
              <c:strCache>
                <c:ptCount val="7"/>
                <c:pt idx="0">
                  <c:v>2026</c:v>
                </c:pt>
                <c:pt idx="1">
                  <c:v>2028</c:v>
                </c:pt>
                <c:pt idx="2">
                  <c:v>2030</c:v>
                </c:pt>
                <c:pt idx="3">
                  <c:v>2032</c:v>
                </c:pt>
                <c:pt idx="4">
                  <c:v>2034</c:v>
                </c:pt>
                <c:pt idx="5">
                  <c:v>2036</c:v>
                </c:pt>
                <c:pt idx="6">
                  <c:v>2036 Total</c:v>
                </c:pt>
              </c:strCache>
            </c:strRef>
          </c:cat>
          <c:val>
            <c:numRef>
              <c:f>Sheet1!$B$2:$B$8</c:f>
              <c:numCache>
                <c:formatCode>General</c:formatCode>
                <c:ptCount val="7"/>
                <c:pt idx="0">
                  <c:v>0</c:v>
                </c:pt>
                <c:pt idx="1">
                  <c:v>3.895</c:v>
                </c:pt>
                <c:pt idx="2">
                  <c:v>4.2869999999999999</c:v>
                </c:pt>
                <c:pt idx="3">
                  <c:v>4.7430000000000003</c:v>
                </c:pt>
                <c:pt idx="4">
                  <c:v>5.2</c:v>
                </c:pt>
                <c:pt idx="5">
                  <c:v>5.7450000000000001</c:v>
                </c:pt>
                <c:pt idx="6">
                  <c:v>0</c:v>
                </c:pt>
              </c:numCache>
            </c:numRef>
          </c:val>
          <c:extLst>
            <c:ext xmlns:c16="http://schemas.microsoft.com/office/drawing/2014/chart" uri="{C3380CC4-5D6E-409C-BE32-E72D297353CC}">
              <c16:uniqueId val="{00000000-DF24-47FA-A496-8E176F8E2CEF}"/>
            </c:ext>
          </c:extLst>
        </c:ser>
        <c:ser>
          <c:idx val="1"/>
          <c:order val="1"/>
          <c:tx>
            <c:strRef>
              <c:f>Sheet1!$C$1</c:f>
              <c:strCache>
                <c:ptCount val="1"/>
                <c:pt idx="0">
                  <c:v>value</c:v>
                </c:pt>
              </c:strCache>
            </c:strRef>
          </c:tx>
          <c:invertIfNegative val="1"/>
          <c:dPt>
            <c:idx val="0"/>
            <c:invertIfNegative val="1"/>
            <c:bubble3D val="0"/>
            <c:spPr>
              <a:solidFill>
                <a:srgbClr val="0E72AE"/>
              </a:solidFill>
            </c:spPr>
            <c:extLst>
              <c:ext xmlns:c16="http://schemas.microsoft.com/office/drawing/2014/chart" uri="{C3380CC4-5D6E-409C-BE32-E72D297353CC}">
                <c16:uniqueId val="{00000002-DF24-47FA-A496-8E176F8E2CEF}"/>
              </c:ext>
            </c:extLst>
          </c:dPt>
          <c:dPt>
            <c:idx val="1"/>
            <c:invertIfNegative val="1"/>
            <c:bubble3D val="0"/>
            <c:spPr>
              <a:solidFill>
                <a:srgbClr val="008189"/>
              </a:solidFill>
            </c:spPr>
            <c:extLst>
              <c:ext xmlns:c16="http://schemas.microsoft.com/office/drawing/2014/chart" uri="{C3380CC4-5D6E-409C-BE32-E72D297353CC}">
                <c16:uniqueId val="{00000004-DF24-47FA-A496-8E176F8E2CEF}"/>
              </c:ext>
            </c:extLst>
          </c:dPt>
          <c:dPt>
            <c:idx val="2"/>
            <c:invertIfNegative val="1"/>
            <c:bubble3D val="0"/>
            <c:spPr>
              <a:solidFill>
                <a:srgbClr val="008189"/>
              </a:solidFill>
            </c:spPr>
            <c:extLst>
              <c:ext xmlns:c16="http://schemas.microsoft.com/office/drawing/2014/chart" uri="{C3380CC4-5D6E-409C-BE32-E72D297353CC}">
                <c16:uniqueId val="{00000006-DF24-47FA-A496-8E176F8E2CEF}"/>
              </c:ext>
            </c:extLst>
          </c:dPt>
          <c:dPt>
            <c:idx val="3"/>
            <c:invertIfNegative val="1"/>
            <c:bubble3D val="0"/>
            <c:spPr>
              <a:solidFill>
                <a:srgbClr val="008189"/>
              </a:solidFill>
            </c:spPr>
            <c:extLst>
              <c:ext xmlns:c16="http://schemas.microsoft.com/office/drawing/2014/chart" uri="{C3380CC4-5D6E-409C-BE32-E72D297353CC}">
                <c16:uniqueId val="{00000008-DF24-47FA-A496-8E176F8E2CEF}"/>
              </c:ext>
            </c:extLst>
          </c:dPt>
          <c:dPt>
            <c:idx val="4"/>
            <c:invertIfNegative val="1"/>
            <c:bubble3D val="0"/>
            <c:spPr>
              <a:solidFill>
                <a:srgbClr val="008189"/>
              </a:solidFill>
            </c:spPr>
            <c:extLst>
              <c:ext xmlns:c16="http://schemas.microsoft.com/office/drawing/2014/chart" uri="{C3380CC4-5D6E-409C-BE32-E72D297353CC}">
                <c16:uniqueId val="{0000000A-DF24-47FA-A496-8E176F8E2CEF}"/>
              </c:ext>
            </c:extLst>
          </c:dPt>
          <c:dPt>
            <c:idx val="5"/>
            <c:invertIfNegative val="1"/>
            <c:bubble3D val="0"/>
            <c:spPr>
              <a:solidFill>
                <a:srgbClr val="008189"/>
              </a:solidFill>
            </c:spPr>
            <c:extLst>
              <c:ext xmlns:c16="http://schemas.microsoft.com/office/drawing/2014/chart" uri="{C3380CC4-5D6E-409C-BE32-E72D297353CC}">
                <c16:uniqueId val="{0000000C-DF24-47FA-A496-8E176F8E2CEF}"/>
              </c:ext>
            </c:extLst>
          </c:dPt>
          <c:dPt>
            <c:idx val="6"/>
            <c:invertIfNegative val="1"/>
            <c:bubble3D val="0"/>
            <c:spPr>
              <a:solidFill>
                <a:srgbClr val="0E72AE"/>
              </a:solidFill>
            </c:spPr>
            <c:extLst>
              <c:ext xmlns:c16="http://schemas.microsoft.com/office/drawing/2014/chart" uri="{C3380CC4-5D6E-409C-BE32-E72D297353CC}">
                <c16:uniqueId val="{0000000E-DF24-47FA-A496-8E176F8E2CEF}"/>
              </c:ext>
            </c:extLst>
          </c:dPt>
          <c:dLbls>
            <c:numFmt formatCode="0.0" sourceLinked="0"/>
            <c:spPr>
              <a:noFill/>
              <a:ln>
                <a:noFill/>
              </a:ln>
              <a:effectLst/>
            </c:spPr>
            <c:txPr>
              <a:bodyPr/>
              <a:lstStyle/>
              <a:p>
                <a:pPr>
                  <a:defRPr sz="1100">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2026</c:v>
                </c:pt>
                <c:pt idx="1">
                  <c:v>2028</c:v>
                </c:pt>
                <c:pt idx="2">
                  <c:v>2030</c:v>
                </c:pt>
                <c:pt idx="3">
                  <c:v>2032</c:v>
                </c:pt>
                <c:pt idx="4">
                  <c:v>2034</c:v>
                </c:pt>
                <c:pt idx="5">
                  <c:v>2036</c:v>
                </c:pt>
                <c:pt idx="6">
                  <c:v>2036 Total</c:v>
                </c:pt>
              </c:strCache>
            </c:strRef>
          </c:cat>
          <c:val>
            <c:numRef>
              <c:f>Sheet1!$C$2:$C$8</c:f>
              <c:numCache>
                <c:formatCode>General</c:formatCode>
                <c:ptCount val="7"/>
                <c:pt idx="0">
                  <c:v>3.895</c:v>
                </c:pt>
                <c:pt idx="1">
                  <c:v>0.3919999999999999</c:v>
                </c:pt>
                <c:pt idx="2">
                  <c:v>0.45600000000000041</c:v>
                </c:pt>
                <c:pt idx="3">
                  <c:v>0.45699999999999985</c:v>
                </c:pt>
                <c:pt idx="4">
                  <c:v>0.54499999999999993</c:v>
                </c:pt>
                <c:pt idx="5">
                  <c:v>0.58499999999999996</c:v>
                </c:pt>
                <c:pt idx="6">
                  <c:v>6.33</c:v>
                </c:pt>
              </c:numCache>
            </c:numRef>
          </c:val>
          <c:extLst>
            <c:ext xmlns:c16="http://schemas.microsoft.com/office/drawing/2014/chart" uri="{C3380CC4-5D6E-409C-BE32-E72D297353CC}">
              <c16:uniqueId val="{0000000F-DF24-47FA-A496-8E176F8E2CEF}"/>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strRef>
              <c:f>Sheet1!$B$1</c:f>
              <c:strCache>
                <c:ptCount val="1"/>
                <c:pt idx="0">
                  <c:v>Amazon / Online Marketplaces</c:v>
                </c:pt>
              </c:strCache>
            </c:strRef>
          </c:tx>
          <c:spPr>
            <a:solidFill>
              <a:srgbClr val="3D85C6"/>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Sheet1!$B$2:$B$4</c:f>
              <c:numCache>
                <c:formatCode>General</c:formatCode>
                <c:ptCount val="3"/>
                <c:pt idx="0">
                  <c:v>28.809450346013136</c:v>
                </c:pt>
                <c:pt idx="1">
                  <c:v>31.965208644073673</c:v>
                </c:pt>
                <c:pt idx="2">
                  <c:v>38.616647556223533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9854-493C-8EA9-3ABD70F2A338}"/>
            </c:ext>
          </c:extLst>
        </c:ser>
        <c:ser>
          <c:idx val="1"/>
          <c:order val="1"/>
          <c:tx>
            <c:strRef>
              <c:f>Sheet1!$C$1</c:f>
              <c:strCache>
                <c:ptCount val="1"/>
                <c:pt idx="0">
                  <c:v>Mass Retail</c:v>
                </c:pt>
              </c:strCache>
            </c:strRef>
          </c:tx>
          <c:spPr>
            <a:solidFill>
              <a:srgbClr val="9E7E0A"/>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Sheet1!$C$2:$C$4</c:f>
              <c:numCache>
                <c:formatCode>General</c:formatCode>
                <c:ptCount val="3"/>
                <c:pt idx="0">
                  <c:v>28.792370079781378</c:v>
                </c:pt>
                <c:pt idx="1">
                  <c:v>27.469301744770892</c:v>
                </c:pt>
                <c:pt idx="2">
                  <c:v>21.747760423566604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9854-493C-8EA9-3ABD70F2A338}"/>
            </c:ext>
          </c:extLst>
        </c:ser>
        <c:ser>
          <c:idx val="2"/>
          <c:order val="2"/>
          <c:tx>
            <c:strRef>
              <c:f>Sheet1!$D$1</c:f>
              <c:strCache>
                <c:ptCount val="1"/>
                <c:pt idx="0">
                  <c:v>Direct-to-Consumer / Brand Website</c:v>
                </c:pt>
              </c:strCache>
            </c:strRef>
          </c:tx>
          <c:spPr>
            <a:solidFill>
              <a:srgbClr val="008189"/>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Sheet1!$D$2:$D$4</c:f>
              <c:numCache>
                <c:formatCode>General</c:formatCode>
                <c:ptCount val="3"/>
                <c:pt idx="0">
                  <c:v>11.907149468858821</c:v>
                </c:pt>
                <c:pt idx="1">
                  <c:v>12.983454160740921</c:v>
                </c:pt>
                <c:pt idx="2">
                  <c:v>20.07373128737386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9854-493C-8EA9-3ABD70F2A338}"/>
            </c:ext>
          </c:extLst>
        </c:ser>
        <c:ser>
          <c:idx val="3"/>
          <c:order val="3"/>
          <c:tx>
            <c:strRef>
              <c:f>Sheet1!$E$1</c:f>
              <c:strCache>
                <c:ptCount val="1"/>
                <c:pt idx="0">
                  <c:v>Pharmacy / Drugstores</c:v>
                </c:pt>
              </c:strCache>
            </c:strRef>
          </c:tx>
          <c:spPr>
            <a:solidFill>
              <a:srgbClr val="40315E"/>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Sheet1!$E$2:$E$4</c:f>
              <c:numCache>
                <c:formatCode>General</c:formatCode>
                <c:ptCount val="3"/>
                <c:pt idx="0">
                  <c:v>24.085379292105614</c:v>
                </c:pt>
                <c:pt idx="1">
                  <c:v>21.091609143570707</c:v>
                </c:pt>
                <c:pt idx="2">
                  <c:v>13.587296656509961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9854-493C-8EA9-3ABD70F2A338}"/>
            </c:ext>
          </c:extLst>
        </c:ser>
        <c:ser>
          <c:idx val="4"/>
          <c:order val="4"/>
          <c:tx>
            <c:strRef>
              <c:f>Sheet1!$F$1</c:f>
              <c:strCache>
                <c:ptCount val="1"/>
                <c:pt idx="0">
                  <c:v>Specialty Health &amp; Wellness Retail</c:v>
                </c:pt>
              </c:strCache>
            </c:strRef>
          </c:tx>
          <c:spPr>
            <a:solidFill>
              <a:srgbClr val="A35313"/>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Sheet1!$F$2:$F$4</c:f>
              <c:numCache>
                <c:formatCode>General</c:formatCode>
                <c:ptCount val="3"/>
                <c:pt idx="0">
                  <c:v>4.6976241900647953</c:v>
                </c:pt>
                <c:pt idx="1">
                  <c:v>4.8015886780672234</c:v>
                </c:pt>
                <c:pt idx="2">
                  <c:v>4.528718199385116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4-9854-493C-8EA9-3ABD70F2A338}"/>
            </c:ext>
          </c:extLst>
        </c:ser>
        <c:ser>
          <c:idx val="5"/>
          <c:order val="5"/>
          <c:tx>
            <c:strRef>
              <c:f>Sheet1!$G$1</c:f>
              <c:strCache>
                <c:ptCount val="1"/>
                <c:pt idx="0">
                  <c:v>Practitioner / Clinic Channel</c:v>
                </c:pt>
              </c:strCache>
            </c:strRef>
          </c:tx>
          <c:spPr>
            <a:solidFill>
              <a:srgbClr val="808080"/>
            </a:solidFill>
            <a:ln>
              <a:noFill/>
            </a:ln>
          </c:spPr>
          <c:invertIfNegative val="1"/>
          <c:dLbls>
            <c:numFmt formatCode="0&quot;%&quot;" sourceLinked="0"/>
            <c:spPr>
              <a:noFill/>
              <a:ln>
                <a:noFill/>
              </a:ln>
              <a:effectLst/>
            </c:spPr>
            <c:txPr>
              <a:bodyPr rot="0" vert="horz"/>
              <a:lstStyle/>
              <a:p>
                <a:pPr>
                  <a:defRPr sz="110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2021</c:v>
                </c:pt>
                <c:pt idx="1">
                  <c:v>2026</c:v>
                </c:pt>
                <c:pt idx="2">
                  <c:v>2036</c:v>
                </c:pt>
              </c:strCache>
            </c:strRef>
          </c:cat>
          <c:val>
            <c:numRef>
              <c:f>Sheet1!$G$2:$G$4</c:f>
              <c:numCache>
                <c:formatCode>General</c:formatCode>
                <c:ptCount val="3"/>
                <c:pt idx="0">
                  <c:v>1.7080266231762686</c:v>
                </c:pt>
                <c:pt idx="1">
                  <c:v>1.6888376287765789</c:v>
                </c:pt>
                <c:pt idx="2">
                  <c:v>1.4458458769409284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9854-493C-8EA9-3ABD70F2A338}"/>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6D5E1"/>
            </a:solidFill>
          </a:ln>
        </c:spPr>
        <c:txPr>
          <a:bodyPr/>
          <a:lstStyle/>
          <a:p>
            <a:pPr>
              <a:defRPr sz="1100"/>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numFmt formatCode="0%" sourceLinked="1"/>
        <c:majorTickMark val="out"/>
        <c:minorTickMark val="none"/>
        <c:tickLblPos val="nextTo"/>
        <c:spPr>
          <a:ln>
            <a:solidFill>
              <a:srgbClr val="C6D5E1"/>
            </a:solid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Iron</c:v>
                </c:pt>
              </c:strCache>
            </c:strRef>
          </c:tx>
          <c:spPr>
            <a:ln w="25400">
              <a:solidFill>
                <a:srgbClr val="C55A11"/>
              </a:solidFill>
            </a:ln>
          </c:spPr>
          <c:marker>
            <c:symbol val="none"/>
          </c:marke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0-8EA7-4D36-9285-13470C295BED}"/>
            </c:ext>
          </c:extLst>
        </c:ser>
        <c:ser>
          <c:idx val="1"/>
          <c:order val="1"/>
          <c:tx>
            <c:strRef>
              <c:f>Sheet1!$C$1</c:f>
              <c:strCache>
                <c:ptCount val="1"/>
                <c:pt idx="0">
                  <c:v>Choline</c:v>
                </c:pt>
              </c:strCache>
            </c:strRef>
          </c:tx>
          <c:spPr>
            <a:ln w="25400">
              <a:solidFill>
                <a:srgbClr val="0B2E4A"/>
              </a:solidFill>
            </a:ln>
          </c:spPr>
          <c:marker>
            <c:symbol val="none"/>
          </c:marke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1-8EA7-4D36-9285-13470C295BED}"/>
            </c:ext>
          </c:extLst>
        </c:ser>
        <c:ser>
          <c:idx val="2"/>
          <c:order val="2"/>
          <c:tx>
            <c:strRef>
              <c:f>Sheet1!$D$1</c:f>
              <c:strCache>
                <c:ptCount val="1"/>
                <c:pt idx="0">
                  <c:v>DHA / Omega-3</c:v>
                </c:pt>
              </c:strCache>
            </c:strRef>
          </c:tx>
          <c:spPr>
            <a:ln w="25400">
              <a:solidFill>
                <a:srgbClr val="7030A0"/>
              </a:solidFill>
            </a:ln>
          </c:spPr>
          <c:marker>
            <c:symbol val="none"/>
          </c:marke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2-8EA7-4D36-9285-13470C295BED}"/>
            </c:ext>
          </c:extLst>
        </c:ser>
        <c:ser>
          <c:idx val="3"/>
          <c:order val="3"/>
          <c:tx>
            <c:strRef>
              <c:f>Sheet1!$E$1</c:f>
              <c:strCache>
                <c:ptCount val="1"/>
                <c:pt idx="0">
                  <c:v>Calcium &amp; Mineral</c:v>
                </c:pt>
              </c:strCache>
            </c:strRef>
          </c:tx>
          <c:spPr>
            <a:ln w="25400">
              <a:solidFill>
                <a:srgbClr val="008189"/>
              </a:solidFill>
            </a:ln>
          </c:spPr>
          <c:marker>
            <c:symbol val="none"/>
          </c:marke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Sheet1!$E$2:$E$17</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3-8EA7-4D36-9285-13470C295BED}"/>
            </c:ext>
          </c:extLst>
        </c:ser>
        <c:ser>
          <c:idx val="4"/>
          <c:order val="4"/>
          <c:tx>
            <c:strRef>
              <c:f>Sheet1!$F$1</c:f>
              <c:strCache>
                <c:ptCount val="1"/>
                <c:pt idx="0">
                  <c:v>Multivitamin</c:v>
                </c:pt>
              </c:strCache>
            </c:strRef>
          </c:tx>
          <c:spPr>
            <a:ln w="25400">
              <a:solidFill>
                <a:srgbClr val="9E7E0A"/>
              </a:solidFill>
            </a:ln>
          </c:spPr>
          <c:marker>
            <c:symbol val="none"/>
          </c:marke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Sheet1!$F$2:$F$17</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4-8EA7-4D36-9285-13470C295BED}"/>
            </c:ext>
          </c:extLst>
        </c:ser>
        <c:ser>
          <c:idx val="5"/>
          <c:order val="5"/>
          <c:tx>
            <c:strRef>
              <c:f>Sheet1!$G$1</c:f>
              <c:strCache>
                <c:ptCount val="1"/>
                <c:pt idx="0">
                  <c:v>Folate / Folic Acid</c:v>
                </c:pt>
              </c:strCache>
            </c:strRef>
          </c:tx>
          <c:spPr>
            <a:ln w="25400">
              <a:solidFill>
                <a:srgbClr val="5B7DB1"/>
              </a:solidFill>
            </a:ln>
          </c:spPr>
          <c:marker>
            <c:symbol val="none"/>
          </c:marke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Sheet1!$G$2:$G$17</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5-8EA7-4D36-9285-13470C295BED}"/>
            </c:ext>
          </c:extLst>
        </c:ser>
        <c:ser>
          <c:idx val="6"/>
          <c:order val="6"/>
          <c:tx>
            <c:strRef>
              <c:f>Sheet1!$H$1</c:f>
              <c:strCache>
                <c:ptCount val="1"/>
                <c:pt idx="0">
                  <c:v>Probiotic</c:v>
                </c:pt>
              </c:strCache>
            </c:strRef>
          </c:tx>
          <c:spPr>
            <a:ln w="25400">
              <a:solidFill>
                <a:srgbClr val="A23B5C"/>
              </a:solidFill>
            </a:ln>
          </c:spPr>
          <c:marker>
            <c:symbol val="none"/>
          </c:marke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Sheet1!$H$2:$H$17</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6-8EA7-4D36-9285-13470C295BED}"/>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D9DEE4"/>
            </a:solidFill>
          </a:ln>
        </c:spPr>
        <c:txPr>
          <a:bodyPr/>
          <a:lstStyle/>
          <a:p>
            <a:pPr>
              <a:defRPr sz="900">
                <a:solidFill>
                  <a:srgbClr val="59636E"/>
                </a:solidFill>
                <a:latin typeface="Calibri"/>
              </a:defRPr>
            </a:pPr>
            <a:endParaRPr lang="en-US"/>
          </a:p>
        </c:txPr>
        <c:crossAx val="2140495176"/>
        <c:crosses val="autoZero"/>
        <c:auto val="1"/>
        <c:lblAlgn val="ctr"/>
        <c:lblOffset val="100"/>
        <c:noMultiLvlLbl val="0"/>
      </c:catAx>
      <c:valAx>
        <c:axId val="2140495176"/>
        <c:scaling>
          <c:orientation val="minMax"/>
          <c:max val="500"/>
          <c:min val="0"/>
        </c:scaling>
        <c:delete val="0"/>
        <c:axPos val="l"/>
        <c:majorGridlines>
          <c:spPr>
            <a:ln>
              <a:solidFill>
                <a:srgbClr val="D9DEE4"/>
              </a:solidFill>
            </a:ln>
          </c:spPr>
        </c:majorGridlines>
        <c:numFmt formatCode="#,##0" sourceLinked="0"/>
        <c:majorTickMark val="out"/>
        <c:minorTickMark val="none"/>
        <c:tickLblPos val="nextTo"/>
        <c:spPr>
          <a:ln>
            <a:noFill/>
          </a:ln>
        </c:spPr>
        <c:txPr>
          <a:bodyPr/>
          <a:lstStyle/>
          <a:p>
            <a:pPr>
              <a:defRPr sz="900">
                <a:solidFill>
                  <a:srgbClr val="59636E"/>
                </a:solidFill>
                <a:latin typeface="Calibri"/>
              </a:defRPr>
            </a:pPr>
            <a:endParaRPr lang="en-US"/>
          </a:p>
        </c:txPr>
        <c:crossAx val="2118791784"/>
        <c:crosses val="autoZero"/>
        <c:crossBetween val="between"/>
        <c:majorUnit val="500"/>
      </c:valAx>
    </c:plotArea>
    <c:legend>
      <c:legendPos val="b"/>
      <c:overlay val="0"/>
      <c:txPr>
        <a:bodyPr/>
        <a:lstStyle/>
        <a:p>
          <a:pPr>
            <a:defRPr sz="900">
              <a:latin typeface="Calibri"/>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Index</c:v>
                </c:pt>
              </c:strCache>
            </c:strRef>
          </c:tx>
          <c:invertIfNegative val="1"/>
          <c:dPt>
            <c:idx val="0"/>
            <c:invertIfNegative val="1"/>
            <c:bubble3D val="0"/>
            <c:spPr>
              <a:solidFill>
                <a:srgbClr val="5B7DB1"/>
              </a:solidFill>
            </c:spPr>
            <c:extLst>
              <c:ext xmlns:c16="http://schemas.microsoft.com/office/drawing/2014/chart" uri="{C3380CC4-5D6E-409C-BE32-E72D297353CC}">
                <c16:uniqueId val="{00000001-99C8-4216-AB0B-D4D99B61B821}"/>
              </c:ext>
            </c:extLst>
          </c:dPt>
          <c:dPt>
            <c:idx val="1"/>
            <c:invertIfNegative val="1"/>
            <c:bubble3D val="0"/>
            <c:spPr>
              <a:solidFill>
                <a:srgbClr val="5B7DB1"/>
              </a:solidFill>
            </c:spPr>
            <c:extLst>
              <c:ext xmlns:c16="http://schemas.microsoft.com/office/drawing/2014/chart" uri="{C3380CC4-5D6E-409C-BE32-E72D297353CC}">
                <c16:uniqueId val="{00000003-99C8-4216-AB0B-D4D99B61B821}"/>
              </c:ext>
            </c:extLst>
          </c:dPt>
          <c:dPt>
            <c:idx val="2"/>
            <c:invertIfNegative val="1"/>
            <c:bubble3D val="0"/>
            <c:spPr>
              <a:solidFill>
                <a:srgbClr val="5B7DB1"/>
              </a:solidFill>
            </c:spPr>
            <c:extLst>
              <c:ext xmlns:c16="http://schemas.microsoft.com/office/drawing/2014/chart" uri="{C3380CC4-5D6E-409C-BE32-E72D297353CC}">
                <c16:uniqueId val="{00000005-99C8-4216-AB0B-D4D99B61B821}"/>
              </c:ext>
            </c:extLst>
          </c:dPt>
          <c:dPt>
            <c:idx val="3"/>
            <c:invertIfNegative val="1"/>
            <c:bubble3D val="0"/>
            <c:spPr>
              <a:solidFill>
                <a:srgbClr val="C55A11"/>
              </a:solidFill>
            </c:spPr>
            <c:extLst>
              <c:ext xmlns:c16="http://schemas.microsoft.com/office/drawing/2014/chart" uri="{C3380CC4-5D6E-409C-BE32-E72D297353CC}">
                <c16:uniqueId val="{00000007-99C8-4216-AB0B-D4D99B61B821}"/>
              </c:ext>
            </c:extLst>
          </c:dPt>
          <c:dPt>
            <c:idx val="4"/>
            <c:invertIfNegative val="1"/>
            <c:bubble3D val="0"/>
            <c:spPr>
              <a:solidFill>
                <a:srgbClr val="C55A11"/>
              </a:solidFill>
            </c:spPr>
            <c:extLst>
              <c:ext xmlns:c16="http://schemas.microsoft.com/office/drawing/2014/chart" uri="{C3380CC4-5D6E-409C-BE32-E72D297353CC}">
                <c16:uniqueId val="{00000009-99C8-4216-AB0B-D4D99B61B821}"/>
              </c:ext>
            </c:extLst>
          </c:dPt>
          <c:dPt>
            <c:idx val="5"/>
            <c:invertIfNegative val="1"/>
            <c:bubble3D val="0"/>
            <c:spPr>
              <a:solidFill>
                <a:srgbClr val="C55A11"/>
              </a:solidFill>
            </c:spPr>
            <c:extLst>
              <c:ext xmlns:c16="http://schemas.microsoft.com/office/drawing/2014/chart" uri="{C3380CC4-5D6E-409C-BE32-E72D297353CC}">
                <c16:uniqueId val="{0000000B-99C8-4216-AB0B-D4D99B61B821}"/>
              </c:ext>
            </c:extLst>
          </c:dPt>
          <c:dPt>
            <c:idx val="6"/>
            <c:invertIfNegative val="1"/>
            <c:bubble3D val="0"/>
            <c:spPr>
              <a:solidFill>
                <a:srgbClr val="C55A11"/>
              </a:solidFill>
            </c:spPr>
            <c:extLst>
              <c:ext xmlns:c16="http://schemas.microsoft.com/office/drawing/2014/chart" uri="{C3380CC4-5D6E-409C-BE32-E72D297353CC}">
                <c16:uniqueId val="{0000000D-99C8-4216-AB0B-D4D99B61B821}"/>
              </c:ext>
            </c:extLst>
          </c:dPt>
          <c:dLbls>
            <c:numFmt formatCode="0.0" sourceLinked="0"/>
            <c:spPr>
              <a:noFill/>
              <a:ln>
                <a:noFill/>
              </a:ln>
              <a:effectLst/>
            </c:spPr>
            <c:txPr>
              <a:bodyPr/>
              <a:lstStyle/>
              <a:p>
                <a:pPr>
                  <a:defRPr sz="900" b="1">
                    <a:solidFill>
                      <a:srgbClr val="1F1F1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Probiotic</c:v>
                </c:pt>
                <c:pt idx="1">
                  <c:v>Folate / Folic Acid</c:v>
                </c:pt>
                <c:pt idx="2">
                  <c:v>Multivitamin</c:v>
                </c:pt>
                <c:pt idx="3">
                  <c:v>Calcium &amp; Mineral</c:v>
                </c:pt>
                <c:pt idx="4">
                  <c:v>DHA / Omega-3</c:v>
                </c:pt>
                <c:pt idx="5">
                  <c:v>Choline</c:v>
                </c:pt>
                <c:pt idx="6">
                  <c:v>Iron</c:v>
                </c:pt>
              </c:strCache>
            </c:strRef>
          </c:cat>
          <c:val>
            <c:numRef>
              <c:f>Sheet1!$B$2:$B$8</c:f>
              <c:numCache>
                <c:formatCode>General</c:formatCode>
                <c:ptCount val="7"/>
                <c:pt idx="0">
                  <c:v>100</c:v>
                </c:pt>
                <c:pt idx="1">
                  <c:v>100</c:v>
                </c:pt>
                <c:pt idx="2">
                  <c:v>100</c:v>
                </c:pt>
                <c:pt idx="3">
                  <c:v>100</c:v>
                </c:pt>
                <c:pt idx="4">
                  <c:v>100</c:v>
                </c:pt>
                <c:pt idx="5">
                  <c:v>100</c:v>
                </c:pt>
                <c:pt idx="6">
                  <c:v>100</c:v>
                </c:pt>
              </c:numCache>
            </c:numRef>
          </c:val>
          <c:extLst>
            <c:ext xmlns:c16="http://schemas.microsoft.com/office/drawing/2014/chart" uri="{C3380CC4-5D6E-409C-BE32-E72D297353CC}">
              <c16:uniqueId val="{0000000E-99C8-4216-AB0B-D4D99B61B821}"/>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D9DEE4"/>
            </a:solidFill>
          </a:ln>
        </c:spPr>
        <c:txPr>
          <a:bodyPr/>
          <a:lstStyle/>
          <a:p>
            <a:pPr>
              <a:defRPr sz="850">
                <a:solidFill>
                  <a:srgbClr val="1F1F1F"/>
                </a:solidFill>
                <a:latin typeface="Calibri"/>
              </a:defRPr>
            </a:pPr>
            <a:endParaRPr lang="en-US"/>
          </a:p>
        </c:txPr>
        <c:crossAx val="-2113994440"/>
        <c:crosses val="autoZero"/>
        <c:auto val="1"/>
        <c:lblAlgn val="ctr"/>
        <c:lblOffset val="100"/>
        <c:tickLblSkip val="1"/>
        <c:noMultiLvlLbl val="0"/>
      </c:catAx>
      <c:valAx>
        <c:axId val="-2113994440"/>
        <c:scaling>
          <c:orientation val="minMax"/>
          <c:max val="102"/>
          <c:min val="97"/>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DB202B-C99C-472E-8685-B7C6DFC69BA5}" type="datetimeFigureOut">
              <a:rPr lang="en-IN" smtClean="0"/>
              <a:t>12-10-2026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021299-DD5A-4BB8-B338-7E8D41F94B9D}" type="slidenum">
              <a:rPr lang="en-IN" smtClean="0"/>
              <a:t>‹#›</a:t>
            </a:fld>
            <a:endParaRPr lang="en-IN"/>
          </a:p>
        </p:txBody>
      </p:sp>
    </p:spTree>
    <p:extLst>
      <p:ext uri="{BB962C8B-B14F-4D97-AF65-F5344CB8AC3E}">
        <p14:creationId xmlns:p14="http://schemas.microsoft.com/office/powerpoint/2010/main" val="2415150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Market Signals Market Signals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Market Overview (section breaker)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Market Taxonomy Geographic Coverage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Market Taxonomy Market Segments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Market Taxonomy Company Coverage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Table of Contents  (1/6)</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Table of Contents  (2/6)</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Table of Contents  (3/6)</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Table of Contents  (4/6)</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Table of Contents  (5/6)</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Table of Contents  (6/6)</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List of Figures  (1/3)</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List of Figures  (2/3)</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List of Figures  (3/3)</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List of Tables  (1/3)</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List of Tables  (2/3)</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List of Tables  (3/3)</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USA Market Outlook (section breaker)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USA Overview Volume Market Summary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USA Overview Pricing &amp; Price Index</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USA Overview Value Market Summary</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USA Overview Market Volume &amp; Value Analysis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USA Overview Country Outlook</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USA Overview Market Overview (1/4)</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USA Overview Supply Side Trends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USA Overview Analysis and Recommendation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USA Overview Scenario Outlook (4/4)</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By Country USA Prenatal Vitamin Supplements – Country Outlook</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By Country Market Analysis By Country (1/2)</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By Country Market Analysis By Country (2/2)</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By Country Volume Share Analysis By Country</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By Country Value Share Analysis By Country</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By Country Market Trends By Country</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By Country Top Countries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Format By Product Format Segment Outlook</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Format Market Structure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Format Absolute $ Analysis  (1/2)</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Format Absolute $ Analysis  (2/2)</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Format Market Volume Analysis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Format Market Value Analysis</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Format Value &amp; Share Shift</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Format YoY Analysis Volume</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Format YoY Analysis Value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Type By Product Type Segment Outlook</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Type Market Structure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Type Absolute $ Analysis  (1/2)</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Type Absolute $ Analysis  (2/2)</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Type Market Volume Analysis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Type Market Value Analysis</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Type Value &amp; Share Shift</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Type YoY Analysis Volume</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Product Type YoY Analysis Value</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Sales Channel By Sales Channel Segment Outlook</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Sales Channel Market Structure &amp; Attractiveness</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Sales Channel Absolute $ Analysis  (1/2)</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Sales Channel Absolute $ Analysis  (2/2)</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Sales Channel Market Volume Analysis</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Sales Channel Market Value Analysis</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Sales Channel Value &amp; Share Shift</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Sales Channel YoY Analysis Volume</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Sales Channel YoY Analysis Value</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Pricing Assessment (section breaker)</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Pricing Product Pricing &amp; Regional Price Index Trends</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Pricing USA Pricing Assessment</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Pricing Price Positioning &amp; Key Findings</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Pricing Key Pricing Drivers</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Pricing Factors Impacting Pricing</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Pricing Regional Price Assessment</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Pricing USA Pricing Benchmarking</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Pricing Price Forecast &amp; Dynamics  (1/2)</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Pricing Price Forecast &amp; Dynamics  (2/2)</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Supply Chain Analysis (section breaker)</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Supply Chain Analysis Value Chain &amp; Stakeholder Mapping</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Supply Chain Analysis Operating Margin Analysis</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Supply Chain Analysis Buyers Assessment</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Market Dynamics (section breaker)</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Market Dynamics Market Dynamics &amp; Forces Market Dynamics by Geography</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Market Dynamics Market Dynamics &amp; Forces Driving Factors Supply Side (1/2)</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Market Dynamics Market Dynamics &amp; Forces Driving Factors Demand Side (2/2)</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Market Dynamics Market Dynamics &amp; Forces Market Restraints</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Market Dynamics Market Dynamics &amp; Forces Market Opportunities</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Market Dynamics Market Dynamics &amp; Forces Recent Developments &amp; Milestones</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Prenatal Vitamin Supplements Market Market Dynamics Market Dynamics &amp; Forces Five Forces Analysis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24.xml"/><Relationship Id="rId13" Type="http://schemas.openxmlformats.org/officeDocument/2006/relationships/slide" Target="slide75.xml"/><Relationship Id="rId3" Type="http://schemas.openxmlformats.org/officeDocument/2006/relationships/slide" Target="slide3.xml"/><Relationship Id="rId7" Type="http://schemas.openxmlformats.org/officeDocument/2006/relationships/slide" Target="slide17.xml"/><Relationship Id="rId12" Type="http://schemas.openxmlformats.org/officeDocument/2006/relationships/slide" Target="slide74.xml"/><Relationship Id="rId2" Type="http://schemas.openxmlformats.org/officeDocument/2006/relationships/image" Target="../media/image1.png"/><Relationship Id="rId16" Type="http://schemas.openxmlformats.org/officeDocument/2006/relationships/slide" Target="slide91.xml"/><Relationship Id="rId1" Type="http://schemas.openxmlformats.org/officeDocument/2006/relationships/slideLayout" Target="../slideLayouts/slideLayout7.xml"/><Relationship Id="rId6" Type="http://schemas.openxmlformats.org/officeDocument/2006/relationships/slide" Target="slide10.xml"/><Relationship Id="rId11" Type="http://schemas.openxmlformats.org/officeDocument/2006/relationships/slide" Target="slide43.xml"/><Relationship Id="rId5" Type="http://schemas.openxmlformats.org/officeDocument/2006/relationships/slide" Target="slide6.xml"/><Relationship Id="rId15" Type="http://schemas.openxmlformats.org/officeDocument/2006/relationships/slide" Target="slide90.xml"/><Relationship Id="rId10" Type="http://schemas.openxmlformats.org/officeDocument/2006/relationships/slide" Target="slide35.xml"/><Relationship Id="rId4" Type="http://schemas.openxmlformats.org/officeDocument/2006/relationships/slide" Target="slide5.xml"/><Relationship Id="rId9" Type="http://schemas.openxmlformats.org/officeDocument/2006/relationships/slide" Target="slide25.xml"/><Relationship Id="rId14" Type="http://schemas.openxmlformats.org/officeDocument/2006/relationships/slide" Target="slide8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chart" Target="../charts/chart2.xml"/><Relationship Id="rId4" Type="http://schemas.openxmlformats.org/officeDocument/2006/relationships/chart" Target="../charts/char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chart" Target="../charts/chart4.xml"/><Relationship Id="rId4" Type="http://schemas.openxmlformats.org/officeDocument/2006/relationships/chart" Target="../charts/chart3.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chart" Target="../charts/chart6.xml"/><Relationship Id="rId4" Type="http://schemas.openxmlformats.org/officeDocument/2006/relationships/chart" Target="../charts/chart5.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chart" Target="../charts/chart8.xml"/><Relationship Id="rId4" Type="http://schemas.openxmlformats.org/officeDocument/2006/relationships/chart" Target="../charts/char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chart" Target="../charts/chart9.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chart" Target="../charts/chart10.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chart" Target="../charts/chart1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chart" Target="../charts/chart1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chart" Target="../charts/chart14.xml"/><Relationship Id="rId4" Type="http://schemas.openxmlformats.org/officeDocument/2006/relationships/chart" Target="../charts/chart13.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chart" Target="../charts/chart15.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hart" Target="../charts/chart19.xml"/><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chart" Target="../charts/chart18.xml"/><Relationship Id="rId5" Type="http://schemas.openxmlformats.org/officeDocument/2006/relationships/chart" Target="../charts/chart17.xml"/><Relationship Id="rId4" Type="http://schemas.openxmlformats.org/officeDocument/2006/relationships/chart" Target="../charts/chart16.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chart" Target="../charts/chart22.xml"/><Relationship Id="rId5" Type="http://schemas.openxmlformats.org/officeDocument/2006/relationships/chart" Target="../charts/chart21.xml"/><Relationship Id="rId4" Type="http://schemas.openxmlformats.org/officeDocument/2006/relationships/chart" Target="../charts/chart20.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chart" Target="../charts/chart23.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chart" Target="../charts/chart24.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hart" Target="../charts/chart28.xml"/><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chart" Target="../charts/chart27.xml"/><Relationship Id="rId5" Type="http://schemas.openxmlformats.org/officeDocument/2006/relationships/chart" Target="../charts/chart26.xml"/><Relationship Id="rId4" Type="http://schemas.openxmlformats.org/officeDocument/2006/relationships/chart" Target="../charts/chart25.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chart" Target="../charts/chart31.xml"/><Relationship Id="rId5" Type="http://schemas.openxmlformats.org/officeDocument/2006/relationships/chart" Target="../charts/chart30.xml"/><Relationship Id="rId4" Type="http://schemas.openxmlformats.org/officeDocument/2006/relationships/chart" Target="../charts/chart29.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chart" Target="../charts/chart3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chart" Target="../charts/chart33.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hart" Target="../charts/chart37.xml"/><Relationship Id="rId2" Type="http://schemas.openxmlformats.org/officeDocument/2006/relationships/notesSlide" Target="../notesSlides/notesSlide55.xml"/><Relationship Id="rId1" Type="http://schemas.openxmlformats.org/officeDocument/2006/relationships/slideLayout" Target="../slideLayouts/slideLayout7.xml"/><Relationship Id="rId6" Type="http://schemas.openxmlformats.org/officeDocument/2006/relationships/chart" Target="../charts/chart36.xml"/><Relationship Id="rId5" Type="http://schemas.openxmlformats.org/officeDocument/2006/relationships/chart" Target="../charts/chart35.xml"/><Relationship Id="rId4" Type="http://schemas.openxmlformats.org/officeDocument/2006/relationships/chart" Target="../charts/chart34.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7.xml"/><Relationship Id="rId5" Type="http://schemas.openxmlformats.org/officeDocument/2006/relationships/chart" Target="../charts/chart39.xml"/><Relationship Id="rId4" Type="http://schemas.openxmlformats.org/officeDocument/2006/relationships/chart" Target="../charts/chart38.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7.xml"/><Relationship Id="rId4" Type="http://schemas.openxmlformats.org/officeDocument/2006/relationships/chart" Target="../charts/chart40.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7.xml"/><Relationship Id="rId5" Type="http://schemas.openxmlformats.org/officeDocument/2006/relationships/chart" Target="../charts/chart42.xml"/><Relationship Id="rId4" Type="http://schemas.openxmlformats.org/officeDocument/2006/relationships/chart" Target="../charts/chart41.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905000" y="4476750"/>
            <a:ext cx="5334000" cy="5334000"/>
          </a:xfrm>
          <a:prstGeom prst="ellipse">
            <a:avLst/>
          </a:prstGeom>
          <a:solidFill>
            <a:srgbClr val="EA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001000" y="-2000250"/>
            <a:ext cx="5334000" cy="533400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715375" y="-1285875"/>
            <a:ext cx="3905250" cy="390525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382125" y="-619125"/>
            <a:ext cx="2571750" cy="257175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096500" y="95250"/>
            <a:ext cx="1143000" cy="1143000"/>
          </a:xfrm>
          <a:prstGeom prst="ellipse">
            <a:avLst/>
          </a:prstGeom>
          <a:solidFill>
            <a:srgbClr val="EAF6FB">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010650" y="5848350"/>
            <a:ext cx="228600" cy="2476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391650" y="5676900"/>
            <a:ext cx="228600" cy="4191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772650" y="5772150"/>
            <a:ext cx="228600" cy="3238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0153650" y="5524500"/>
            <a:ext cx="228600" cy="5715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0534650" y="5314950"/>
            <a:ext cx="228600" cy="7810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0915650" y="5600700"/>
            <a:ext cx="228600" cy="4953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1296650" y="5181600"/>
            <a:ext cx="228600" cy="9144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mi_logo_template.png"/>
          <p:cNvPicPr>
            <a:picLocks noChangeAspect="1"/>
          </p:cNvPicPr>
          <p:nvPr/>
        </p:nvPicPr>
        <p:blipFill>
          <a:blip r:embed="rId2"/>
          <a:stretch>
            <a:fillRect/>
          </a:stretch>
        </p:blipFill>
        <p:spPr>
          <a:xfrm>
            <a:off x="914400" y="381000"/>
            <a:ext cx="1307592" cy="1325880"/>
          </a:xfrm>
          <a:prstGeom prst="rect">
            <a:avLst/>
          </a:prstGeom>
        </p:spPr>
      </p:pic>
      <p:sp>
        <p:nvSpPr>
          <p:cNvPr id="16" name="TextBox 15"/>
          <p:cNvSpPr txBox="1"/>
          <p:nvPr/>
        </p:nvSpPr>
        <p:spPr>
          <a:xfrm>
            <a:off x="1143000" y="2667000"/>
            <a:ext cx="9334500" cy="1809750"/>
          </a:xfrm>
          <a:prstGeom prst="rect">
            <a:avLst/>
          </a:prstGeom>
          <a:noFill/>
        </p:spPr>
        <p:txBody>
          <a:bodyPr wrap="square" lIns="28575" tIns="9525" rIns="28575" bIns="9525" anchor="ctr">
            <a:spAutoFit/>
          </a:bodyPr>
          <a:lstStyle/>
          <a:p>
            <a:pPr algn="l"/>
            <a:r>
              <a:rPr sz="3400" b="1">
                <a:solidFill>
                  <a:srgbClr val="0B2E4A"/>
                </a:solidFill>
                <a:latin typeface="Calibri"/>
              </a:rPr>
              <a:t>USA Prenatal Vitamin Supplements Market</a:t>
            </a:r>
          </a:p>
        </p:txBody>
      </p:sp>
      <p:sp>
        <p:nvSpPr>
          <p:cNvPr id="17" name="TextBox 16"/>
          <p:cNvSpPr txBox="1"/>
          <p:nvPr/>
        </p:nvSpPr>
        <p:spPr>
          <a:xfrm>
            <a:off x="1162050" y="4686300"/>
            <a:ext cx="9334500" cy="857250"/>
          </a:xfrm>
          <a:prstGeom prst="rect">
            <a:avLst/>
          </a:prstGeom>
          <a:noFill/>
        </p:spPr>
        <p:txBody>
          <a:bodyPr wrap="square" lIns="28575" tIns="9525" rIns="28575" bIns="9525">
            <a:spAutoFit/>
          </a:bodyPr>
          <a:lstStyle/>
          <a:p>
            <a:pPr algn="l"/>
            <a:r>
              <a:rPr sz="1600" b="0">
                <a:solidFill>
                  <a:srgbClr val="6C7A89"/>
                </a:solidFill>
                <a:latin typeface="Calibri"/>
              </a:rPr>
              <a:t>Value (US$ Mn) and Volume (Mn Units) Analysis and Forecast, 2021–2036</a:t>
            </a:r>
          </a:p>
          <a:p>
            <a:pPr algn="l"/>
            <a:r>
              <a:rPr sz="1100" b="0">
                <a:solidFill>
                  <a:srgbClr val="8FCBE6"/>
                </a:solidFill>
                <a:latin typeface="Calibri"/>
              </a:rPr>
              <a:t>Region focus: USA   ·   Country focus: USA   ·   Generated 08 Oct 2026   ·   Source: FMI Analysis, 2026</a:t>
            </a: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Agenda</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Storyline of the report by section · click a section card to jump to it</a:t>
            </a:r>
          </a:p>
        </p:txBody>
      </p:sp>
      <p:sp>
        <p:nvSpPr>
          <p:cNvPr id="10" name="Rounded Rectangle 9">
            <a:hlinkClick r:id="rId3" action="ppaction://hlinksldjump"/>
          </p:cNvPr>
          <p:cNvSpPr/>
          <p:nvPr/>
        </p:nvSpPr>
        <p:spPr>
          <a:xfrm>
            <a:off x="314325" y="113503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1. Market Signals</a:t>
            </a:r>
          </a:p>
        </p:txBody>
      </p:sp>
      <p:sp>
        <p:nvSpPr>
          <p:cNvPr id="11" name="Rounded Rectangle 10">
            <a:hlinkClick r:id="rId4" action="ppaction://hlinksldjump"/>
          </p:cNvPr>
          <p:cNvSpPr/>
          <p:nvPr/>
        </p:nvSpPr>
        <p:spPr>
          <a:xfrm>
            <a:off x="142875" y="171915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300" b="1">
                <a:solidFill>
                  <a:srgbClr val="0B2E4A"/>
                </a:solidFill>
                <a:latin typeface="Calibri"/>
              </a:rPr>
              <a:t>Market Overview</a:t>
            </a:r>
          </a:p>
        </p:txBody>
      </p:sp>
      <p:sp>
        <p:nvSpPr>
          <p:cNvPr id="12" name="Rounded Rectangle 11">
            <a:hlinkClick r:id="rId5" action="ppaction://hlinksldjump"/>
          </p:cNvPr>
          <p:cNvSpPr/>
          <p:nvPr/>
        </p:nvSpPr>
        <p:spPr>
          <a:xfrm>
            <a:off x="314325" y="2285020"/>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2. Market Taxonomy</a:t>
            </a:r>
          </a:p>
        </p:txBody>
      </p:sp>
      <p:sp>
        <p:nvSpPr>
          <p:cNvPr id="13" name="Rounded Rectangle 12">
            <a:hlinkClick r:id="rId6" action="ppaction://hlinksldjump"/>
          </p:cNvPr>
          <p:cNvSpPr/>
          <p:nvPr/>
        </p:nvSpPr>
        <p:spPr>
          <a:xfrm>
            <a:off x="314325" y="286913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3. Table of Contents</a:t>
            </a:r>
          </a:p>
        </p:txBody>
      </p:sp>
      <p:sp>
        <p:nvSpPr>
          <p:cNvPr id="14" name="Rounded Rectangle 13">
            <a:hlinkClick r:id="rId7" action="ppaction://hlinksldjump"/>
          </p:cNvPr>
          <p:cNvSpPr/>
          <p:nvPr/>
        </p:nvSpPr>
        <p:spPr>
          <a:xfrm>
            <a:off x="314325" y="345325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4. List of Figures, List of Tables</a:t>
            </a:r>
          </a:p>
        </p:txBody>
      </p:sp>
      <p:sp>
        <p:nvSpPr>
          <p:cNvPr id="15" name="Rounded Rectangle 14">
            <a:hlinkClick r:id="rId8" action="ppaction://hlinksldjump"/>
          </p:cNvPr>
          <p:cNvSpPr/>
          <p:nvPr/>
        </p:nvSpPr>
        <p:spPr>
          <a:xfrm>
            <a:off x="6219825" y="113503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300" b="1">
                <a:solidFill>
                  <a:srgbClr val="0B2E4A"/>
                </a:solidFill>
                <a:latin typeface="Calibri"/>
              </a:rPr>
              <a:t>USA Market Outlook</a:t>
            </a:r>
          </a:p>
        </p:txBody>
      </p:sp>
      <p:sp>
        <p:nvSpPr>
          <p:cNvPr id="16" name="Rounded Rectangle 15">
            <a:hlinkClick r:id="rId9" action="ppaction://hlinksldjump"/>
          </p:cNvPr>
          <p:cNvSpPr/>
          <p:nvPr/>
        </p:nvSpPr>
        <p:spPr>
          <a:xfrm>
            <a:off x="6391275" y="1700902"/>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5. USA Overview</a:t>
            </a:r>
          </a:p>
        </p:txBody>
      </p:sp>
      <p:sp>
        <p:nvSpPr>
          <p:cNvPr id="17" name="Rounded Rectangle 16">
            <a:hlinkClick r:id="rId10" action="ppaction://hlinksldjump"/>
          </p:cNvPr>
          <p:cNvSpPr/>
          <p:nvPr/>
        </p:nvSpPr>
        <p:spPr>
          <a:xfrm>
            <a:off x="6391275" y="2285020"/>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6. USA Market Analysis By Country</a:t>
            </a:r>
          </a:p>
        </p:txBody>
      </p:sp>
      <p:sp>
        <p:nvSpPr>
          <p:cNvPr id="18" name="Rounded Rectangle 17">
            <a:hlinkClick r:id="rId11" action="ppaction://hlinksldjump"/>
          </p:cNvPr>
          <p:cNvSpPr/>
          <p:nvPr/>
        </p:nvSpPr>
        <p:spPr>
          <a:xfrm>
            <a:off x="6391275" y="286913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7. USA Market Analysis By Segments</a:t>
            </a:r>
          </a:p>
        </p:txBody>
      </p:sp>
      <p:sp>
        <p:nvSpPr>
          <p:cNvPr id="19" name="Rounded Rectangle 18">
            <a:hlinkClick r:id="rId12" action="ppaction://hlinksldjump"/>
          </p:cNvPr>
          <p:cNvSpPr/>
          <p:nvPr/>
        </p:nvSpPr>
        <p:spPr>
          <a:xfrm>
            <a:off x="6219825" y="345325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300" b="1">
                <a:solidFill>
                  <a:srgbClr val="0B2E4A"/>
                </a:solidFill>
                <a:latin typeface="Calibri"/>
              </a:rPr>
              <a:t>Pricing Assessment</a:t>
            </a:r>
          </a:p>
        </p:txBody>
      </p:sp>
      <p:sp>
        <p:nvSpPr>
          <p:cNvPr id="20" name="Rounded Rectangle 19">
            <a:hlinkClick r:id="rId13" action="ppaction://hlinksldjump"/>
          </p:cNvPr>
          <p:cNvSpPr/>
          <p:nvPr/>
        </p:nvSpPr>
        <p:spPr>
          <a:xfrm>
            <a:off x="6391275" y="4019121"/>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8. Prenatal Vitamin Supplements Market Pricing Analysis</a:t>
            </a:r>
          </a:p>
        </p:txBody>
      </p:sp>
      <p:sp>
        <p:nvSpPr>
          <p:cNvPr id="21" name="Rounded Rectangle 20">
            <a:hlinkClick r:id="rId14" action="ppaction://hlinksldjump"/>
          </p:cNvPr>
          <p:cNvSpPr/>
          <p:nvPr/>
        </p:nvSpPr>
        <p:spPr>
          <a:xfrm>
            <a:off x="6391275" y="4603240"/>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9. Supply Chain Analysis</a:t>
            </a:r>
          </a:p>
        </p:txBody>
      </p:sp>
      <p:sp>
        <p:nvSpPr>
          <p:cNvPr id="22" name="Rounded Rectangle 21">
            <a:hlinkClick r:id="rId15" action="ppaction://hlinksldjump"/>
          </p:cNvPr>
          <p:cNvSpPr/>
          <p:nvPr/>
        </p:nvSpPr>
        <p:spPr>
          <a:xfrm>
            <a:off x="6219825" y="5187358"/>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300" b="1">
                <a:solidFill>
                  <a:srgbClr val="0B2E4A"/>
                </a:solidFill>
                <a:latin typeface="Calibri"/>
              </a:rPr>
              <a:t>Market Dynamics</a:t>
            </a:r>
          </a:p>
        </p:txBody>
      </p:sp>
      <p:sp>
        <p:nvSpPr>
          <p:cNvPr id="23" name="Rounded Rectangle 22">
            <a:hlinkClick r:id="rId16" action="ppaction://hlinksldjump"/>
          </p:cNvPr>
          <p:cNvSpPr/>
          <p:nvPr/>
        </p:nvSpPr>
        <p:spPr>
          <a:xfrm>
            <a:off x="6391275" y="575322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l"/>
            <a:r>
              <a:rPr sz="1200" b="0">
                <a:solidFill>
                  <a:srgbClr val="0B2E4A"/>
                </a:solidFill>
                <a:latin typeface="Calibri"/>
              </a:rPr>
              <a:t>10. Market Dynamics &amp; Forces</a:t>
            </a:r>
          </a:p>
        </p:txBody>
      </p:sp>
      <p:sp>
        <p:nvSpPr>
          <p:cNvPr id="24" name="TextBox 2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Prenatal Vitamin Supplements Market</a:t>
            </a:r>
          </a:p>
        </p:txBody>
      </p:sp>
      <p:sp>
        <p:nvSpPr>
          <p:cNvPr id="10" name="FMI Section Title"/>
          <p:cNvSpPr txBox="1"/>
          <p:nvPr/>
        </p:nvSpPr>
        <p:spPr>
          <a:xfrm>
            <a:off x="914400" y="3489325"/>
            <a:ext cx="8572500" cy="514350"/>
          </a:xfrm>
          <a:prstGeom prst="rect">
            <a:avLst/>
          </a:prstGeom>
          <a:noFill/>
        </p:spPr>
        <p:txBody>
          <a:bodyPr wrap="square" lIns="0" tIns="0" rIns="0">
            <a:spAutoFit/>
          </a:bodyPr>
          <a:lstStyle/>
          <a:p>
            <a:r>
              <a:rPr sz="3000" b="1">
                <a:solidFill>
                  <a:srgbClr val="0B3C8C"/>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Market Signals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Market Signals Reshaping Prenatal Vitamin Supplements Demand</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Signals reshaping Prenatal Vitamin Supplements demand, the evidence behind each and what it implies for the USA market</a:t>
            </a:r>
          </a:p>
        </p:txBody>
      </p:sp>
      <p:graphicFrame>
        <p:nvGraphicFramePr>
          <p:cNvPr id="10" name="Table 9"/>
          <p:cNvGraphicFramePr>
            <a:graphicFrameLocks noGrp="1"/>
          </p:cNvGraphicFramePr>
          <p:nvPr/>
        </p:nvGraphicFramePr>
        <p:xfrm>
          <a:off x="142875" y="1062022"/>
          <a:ext cx="11906250" cy="5549125"/>
        </p:xfrm>
        <a:graphic>
          <a:graphicData uri="http://schemas.openxmlformats.org/drawingml/2006/table">
            <a:tbl>
              <a:tblPr>
                <a:tableStyleId>{5C22544A-7EE6-4342-B048-85BDC9FD1C3A}</a:tableStyleId>
              </a:tblPr>
              <a:tblGrid>
                <a:gridCol w="3571875">
                  <a:extLst>
                    <a:ext uri="{9D8B030D-6E8A-4147-A177-3AD203B41FA5}">
                      <a16:colId xmlns:a16="http://schemas.microsoft.com/office/drawing/2014/main" val="20000"/>
                    </a:ext>
                  </a:extLst>
                </a:gridCol>
                <a:gridCol w="5000625">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tblGrid>
              <a:tr h="346820">
                <a:tc>
                  <a:txBody>
                    <a:bodyPr/>
                    <a:lstStyle/>
                    <a:p>
                      <a:pPr algn="l"/>
                      <a:r>
                        <a:rPr sz="1100" b="1">
                          <a:solidFill>
                            <a:srgbClr val="0B2E4A"/>
                          </a:solidFill>
                          <a:latin typeface="Calibri"/>
                        </a:rPr>
                        <a:t>QUESTIONS WE'RE HEARING</a:t>
                      </a:r>
                    </a:p>
                  </a:txBody>
                  <a:tcPr marL="70000" marR="70000" marT="45000" marB="45000" anchor="ctr">
                    <a:solidFill>
                      <a:srgbClr val="EAF1F8"/>
                    </a:solidFill>
                  </a:tcPr>
                </a:tc>
                <a:tc>
                  <a:txBody>
                    <a:bodyPr/>
                    <a:lstStyle/>
                    <a:p>
                      <a:pPr algn="l"/>
                      <a:r>
                        <a:rPr sz="1100" b="1">
                          <a:solidFill>
                            <a:srgbClr val="0B2E4A"/>
                          </a:solidFill>
                          <a:latin typeface="Calibri"/>
                        </a:rPr>
                        <a:t>WHAT WE'RE OBSERVING</a:t>
                      </a:r>
                    </a:p>
                  </a:txBody>
                  <a:tcPr marL="70000" marR="70000" marT="45000" marB="45000" anchor="ctr">
                    <a:solidFill>
                      <a:srgbClr val="EAF1F8"/>
                    </a:solidFill>
                  </a:tcPr>
                </a:tc>
                <a:tc>
                  <a:txBody>
                    <a:bodyPr/>
                    <a:lstStyle/>
                    <a:p>
                      <a:pPr algn="l"/>
                      <a:r>
                        <a:rPr sz="1100" b="1">
                          <a:solidFill>
                            <a:srgbClr val="0B2E4A"/>
                          </a:solidFill>
                          <a:latin typeface="Calibri"/>
                        </a:rPr>
                        <a:t>SELECT DATA POINTS</a:t>
                      </a:r>
                    </a:p>
                  </a:txBody>
                  <a:tcPr marL="70000" marR="70000" marT="45000" marB="45000" anchor="ctr">
                    <a:solidFill>
                      <a:srgbClr val="EAF1F8"/>
                    </a:solidFill>
                  </a:tcPr>
                </a:tc>
                <a:extLst>
                  <a:ext uri="{0D108BD9-81ED-4DB2-BD59-A6C34878D82A}">
                    <a16:rowId xmlns:a16="http://schemas.microsoft.com/office/drawing/2014/main" val="10000"/>
                  </a:ext>
                </a:extLst>
              </a:tr>
              <a:tr h="1040461">
                <a:tc>
                  <a:txBody>
                    <a:bodyPr/>
                    <a:lstStyle/>
                    <a:p>
                      <a:pPr algn="l"/>
                      <a:r>
                        <a:rPr sz="1100" b="1">
                          <a:solidFill>
                            <a:srgbClr val="0B2E4A"/>
                          </a:solidFill>
                          <a:latin typeface="Calibri"/>
                        </a:rPr>
                        <a:t>How fast is Prenatal Vitamin Supplements demand set to grow through 2036?</a:t>
                      </a:r>
                    </a:p>
                  </a:txBody>
                  <a:tcPr marL="70000" marR="70000" marT="45000" marB="45000" anchor="ctr">
                    <a:solidFill>
                      <a:srgbClr val="FFFFFF"/>
                    </a:solidFill>
                  </a:tcPr>
                </a:tc>
                <a:tc>
                  <a:txBody>
                    <a:bodyPr/>
                    <a:lstStyle/>
                    <a:p>
                      <a:pPr algn="l"/>
                      <a:r>
                        <a:rPr sz="1100" b="0">
                          <a:solidFill>
                            <a:srgbClr val="2E2E2E"/>
                          </a:solidFill>
                          <a:latin typeface="Calibri"/>
                        </a:rPr>
                        <a:t>USA demand expands at a 6.6% forecast CAGR (2026–2036), accelerating from 4.8% across 2021–2025.</a:t>
                      </a:r>
                    </a:p>
                  </a:txBody>
                  <a:tcPr marL="70000" marR="70000" marT="45000" marB="45000" anchor="ctr">
                    <a:solidFill>
                      <a:srgbClr val="FFFFFF"/>
                    </a:solidFill>
                  </a:tcPr>
                </a:tc>
                <a:tc>
                  <a:txBody>
                    <a:bodyPr/>
                    <a:lstStyle/>
                    <a:p>
                      <a:pPr algn="l"/>
                      <a:r>
                        <a:rPr sz="1100" b="0">
                          <a:solidFill>
                            <a:srgbClr val="2E2E2E"/>
                          </a:solidFill>
                          <a:latin typeface="Calibri"/>
                        </a:rPr>
                        <a:t>230.6 → 437.8 US$ Mn  ·  CAGR 6.6%</a:t>
                      </a:r>
                    </a:p>
                  </a:txBody>
                  <a:tcPr marL="70000" marR="70000" marT="45000" marB="45000" anchor="ctr">
                    <a:solidFill>
                      <a:srgbClr val="FFFFFF"/>
                    </a:solidFill>
                  </a:tcPr>
                </a:tc>
                <a:extLst>
                  <a:ext uri="{0D108BD9-81ED-4DB2-BD59-A6C34878D82A}">
                    <a16:rowId xmlns:a16="http://schemas.microsoft.com/office/drawing/2014/main" val="10001"/>
                  </a:ext>
                </a:extLst>
              </a:tr>
              <a:tr h="1040461">
                <a:tc>
                  <a:txBody>
                    <a:bodyPr/>
                    <a:lstStyle/>
                    <a:p>
                      <a:pPr algn="l"/>
                      <a:r>
                        <a:rPr sz="1100" b="1">
                          <a:solidFill>
                            <a:srgbClr val="0B2E4A"/>
                          </a:solidFill>
                          <a:latin typeface="Calibri"/>
                        </a:rPr>
                        <a:t>Which product format categories are buyers prioritising?</a:t>
                      </a:r>
                    </a:p>
                  </a:txBody>
                  <a:tcPr marL="70000" marR="70000" marT="45000" marB="45000" anchor="ctr">
                    <a:solidFill>
                      <a:srgbClr val="F6F9FC"/>
                    </a:solidFill>
                  </a:tcPr>
                </a:tc>
                <a:tc>
                  <a:txBody>
                    <a:bodyPr/>
                    <a:lstStyle/>
                    <a:p>
                      <a:pPr algn="l"/>
                      <a:r>
                        <a:rPr sz="1100" b="0">
                          <a:solidFill>
                            <a:srgbClr val="2E2E2E"/>
                          </a:solidFill>
                          <a:latin typeface="Calibri"/>
                        </a:rPr>
                        <a:t>Tablet leads Product Format, at 27.2% of 2036 value, within a mix of 7 tracked categories.</a:t>
                      </a:r>
                    </a:p>
                  </a:txBody>
                  <a:tcPr marL="70000" marR="70000" marT="45000" marB="45000" anchor="ctr">
                    <a:solidFill>
                      <a:srgbClr val="F6F9FC"/>
                    </a:solidFill>
                  </a:tcPr>
                </a:tc>
                <a:tc>
                  <a:txBody>
                    <a:bodyPr/>
                    <a:lstStyle/>
                    <a:p>
                      <a:pPr algn="l"/>
                      <a:r>
                        <a:rPr sz="1100" b="0">
                          <a:solidFill>
                            <a:srgbClr val="2E2E2E"/>
                          </a:solidFill>
                          <a:latin typeface="Calibri"/>
                        </a:rPr>
                        <a:t>Lead: Tablet  ·  27.2% share (2036)</a:t>
                      </a:r>
                    </a:p>
                  </a:txBody>
                  <a:tcPr marL="70000" marR="70000" marT="45000" marB="45000" anchor="ctr">
                    <a:solidFill>
                      <a:srgbClr val="F6F9FC"/>
                    </a:solidFill>
                  </a:tcPr>
                </a:tc>
                <a:extLst>
                  <a:ext uri="{0D108BD9-81ED-4DB2-BD59-A6C34878D82A}">
                    <a16:rowId xmlns:a16="http://schemas.microsoft.com/office/drawing/2014/main" val="10002"/>
                  </a:ext>
                </a:extLst>
              </a:tr>
              <a:tr h="1040461">
                <a:tc>
                  <a:txBody>
                    <a:bodyPr/>
                    <a:lstStyle/>
                    <a:p>
                      <a:pPr algn="l"/>
                      <a:r>
                        <a:rPr sz="1100" b="1">
                          <a:solidFill>
                            <a:srgbClr val="0B2E4A"/>
                          </a:solidFill>
                          <a:latin typeface="Calibri"/>
                        </a:rPr>
                        <a:t>Where is incremental demand concentrating?</a:t>
                      </a:r>
                    </a:p>
                  </a:txBody>
                  <a:tcPr marL="70000" marR="70000" marT="45000" marB="45000" anchor="ctr">
                    <a:solidFill>
                      <a:srgbClr val="FFFFFF"/>
                    </a:solidFill>
                  </a:tcPr>
                </a:tc>
                <a:tc>
                  <a:txBody>
                    <a:bodyPr/>
                    <a:lstStyle/>
                    <a:p>
                      <a:pPr algn="l"/>
                      <a:r>
                        <a:rPr sz="1100" b="0">
                          <a:solidFill>
                            <a:srgbClr val="2E2E2E"/>
                          </a:solidFill>
                          <a:latin typeface="Calibri"/>
                        </a:rPr>
                        <a:t>Direct-to-Consumer / Brand Website is the fastest-growing part of Sales Channel, at a 11.4% forecast CAGR outpacing the wider market.</a:t>
                      </a:r>
                    </a:p>
                  </a:txBody>
                  <a:tcPr marL="70000" marR="70000" marT="45000" marB="45000" anchor="ctr">
                    <a:solidFill>
                      <a:srgbClr val="FFFFFF"/>
                    </a:solidFill>
                  </a:tcPr>
                </a:tc>
                <a:tc>
                  <a:txBody>
                    <a:bodyPr/>
                    <a:lstStyle/>
                    <a:p>
                      <a:pPr algn="l"/>
                      <a:r>
                        <a:rPr sz="1100" b="0">
                          <a:solidFill>
                            <a:srgbClr val="2E2E2E"/>
                          </a:solidFill>
                          <a:latin typeface="Calibri"/>
                        </a:rPr>
                        <a:t>Fastest: Direct-to-Consumer / Brand Website  ·  11.4% F-CAGR</a:t>
                      </a:r>
                    </a:p>
                  </a:txBody>
                  <a:tcPr marL="70000" marR="70000" marT="45000" marB="45000" anchor="ctr">
                    <a:solidFill>
                      <a:srgbClr val="FFFFFF"/>
                    </a:solidFill>
                  </a:tcPr>
                </a:tc>
                <a:extLst>
                  <a:ext uri="{0D108BD9-81ED-4DB2-BD59-A6C34878D82A}">
                    <a16:rowId xmlns:a16="http://schemas.microsoft.com/office/drawing/2014/main" val="10003"/>
                  </a:ext>
                </a:extLst>
              </a:tr>
              <a:tr h="1040461">
                <a:tc>
                  <a:txBody>
                    <a:bodyPr/>
                    <a:lstStyle/>
                    <a:p>
                      <a:pPr algn="l"/>
                      <a:r>
                        <a:rPr sz="1100" b="1">
                          <a:solidFill>
                            <a:srgbClr val="0B2E4A"/>
                          </a:solidFill>
                          <a:latin typeface="Calibri"/>
                        </a:rPr>
                        <a:t>Which regions will drive the next wave of Prenatal Vitamin Supplements demand?</a:t>
                      </a:r>
                    </a:p>
                  </a:txBody>
                  <a:tcPr marL="70000" marR="70000" marT="45000" marB="45000" anchor="ctr">
                    <a:solidFill>
                      <a:srgbClr val="F6F9FC"/>
                    </a:solidFill>
                  </a:tcPr>
                </a:tc>
                <a:tc>
                  <a:txBody>
                    <a:bodyPr/>
                    <a:lstStyle/>
                    <a:p>
                      <a:pPr algn="l"/>
                      <a:r>
                        <a:rPr sz="1100" b="0">
                          <a:solidFill>
                            <a:srgbClr val="2E2E2E"/>
                          </a:solidFill>
                          <a:latin typeface="Calibri"/>
                        </a:rPr>
                        <a:t>USA is the largest regional market (100.0% of 2036 value), while USA grows fastest at 6.6%.</a:t>
                      </a:r>
                    </a:p>
                  </a:txBody>
                  <a:tcPr marL="70000" marR="70000" marT="45000" marB="45000" anchor="ctr">
                    <a:solidFill>
                      <a:srgbClr val="F6F9FC"/>
                    </a:solidFill>
                  </a:tcPr>
                </a:tc>
                <a:tc>
                  <a:txBody>
                    <a:bodyPr/>
                    <a:lstStyle/>
                    <a:p>
                      <a:pPr algn="l"/>
                      <a:r>
                        <a:rPr sz="1100" b="0">
                          <a:solidFill>
                            <a:srgbClr val="2E2E2E"/>
                          </a:solidFill>
                          <a:latin typeface="Calibri"/>
                        </a:rPr>
                        <a:t>Largest: USA (100.0%)  ·  Fastest: USA (6.6%)</a:t>
                      </a:r>
                    </a:p>
                  </a:txBody>
                  <a:tcPr marL="70000" marR="70000" marT="45000" marB="45000" anchor="ctr">
                    <a:solidFill>
                      <a:srgbClr val="F6F9FC"/>
                    </a:solidFill>
                  </a:tcPr>
                </a:tc>
                <a:extLst>
                  <a:ext uri="{0D108BD9-81ED-4DB2-BD59-A6C34878D82A}">
                    <a16:rowId xmlns:a16="http://schemas.microsoft.com/office/drawing/2014/main" val="10004"/>
                  </a:ext>
                </a:extLst>
              </a:tr>
              <a:tr h="1040461">
                <a:tc>
                  <a:txBody>
                    <a:bodyPr/>
                    <a:lstStyle/>
                    <a:p>
                      <a:pPr algn="l"/>
                      <a:r>
                        <a:rPr sz="1100" b="1">
                          <a:solidFill>
                            <a:srgbClr val="0B2E4A"/>
                          </a:solidFill>
                          <a:latin typeface="Calibri"/>
                        </a:rPr>
                        <a:t>Where should suppliers focus investment?</a:t>
                      </a:r>
                    </a:p>
                  </a:txBody>
                  <a:tcPr marL="70000" marR="70000" marT="45000" marB="45000" anchor="ctr">
                    <a:solidFill>
                      <a:srgbClr val="FFFFFF"/>
                    </a:solidFill>
                  </a:tcPr>
                </a:tc>
                <a:tc>
                  <a:txBody>
                    <a:bodyPr/>
                    <a:lstStyle/>
                    <a:p>
                      <a:pPr algn="l"/>
                      <a:r>
                        <a:rPr sz="1100" b="0">
                          <a:solidFill>
                            <a:srgbClr val="2E2E2E"/>
                          </a:solidFill>
                          <a:latin typeface="Calibri"/>
                        </a:rPr>
                        <a:t>An incremental 207.2 US$ Mn of demand is added between 2026 and 2036, front-loaded in the leading categories and regions above.</a:t>
                      </a:r>
                    </a:p>
                  </a:txBody>
                  <a:tcPr marL="70000" marR="70000" marT="45000" marB="45000" anchor="ctr">
                    <a:solidFill>
                      <a:srgbClr val="FFFFFF"/>
                    </a:solidFill>
                  </a:tcPr>
                </a:tc>
                <a:tc>
                  <a:txBody>
                    <a:bodyPr/>
                    <a:lstStyle/>
                    <a:p>
                      <a:pPr algn="l"/>
                      <a:r>
                        <a:rPr sz="1100" b="0">
                          <a:solidFill>
                            <a:srgbClr val="2E2E2E"/>
                          </a:solidFill>
                          <a:latin typeface="Calibri"/>
                        </a:rPr>
                        <a:t>$ opportunity 207.2 US$ Mn (2026–2036)  ·  80.9 by 2031</a:t>
                      </a:r>
                    </a:p>
                  </a:txBody>
                  <a:tcPr marL="70000" marR="70000" marT="45000" marB="45000" anchor="ctr">
                    <a:solidFill>
                      <a:srgbClr val="FFFFFF"/>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2A63"/>
        </a:solidFill>
        <a:effectLst/>
      </p:bgPr>
    </p:bg>
    <p:spTree>
      <p:nvGrpSpPr>
        <p:cNvPr id="1" name=""/>
        <p:cNvGrpSpPr/>
        <p:nvPr/>
      </p:nvGrpSpPr>
      <p:grpSpPr>
        <a:xfrm>
          <a:off x="0" y="0"/>
          <a:ext cx="0" cy="0"/>
          <a:chOff x="0" y="0"/>
          <a:chExt cx="0" cy="0"/>
        </a:xfrm>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ang="19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mi_logo_template.png"/>
          <p:cNvPicPr>
            <a:picLocks noChangeAspect="1"/>
          </p:cNvPicPr>
          <p:nvPr/>
        </p:nvPicPr>
        <p:blipFill>
          <a:blip r:embed="rId3"/>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Prenatal Vitamin Supplements Market</a:t>
            </a:r>
          </a:p>
        </p:txBody>
      </p:sp>
      <p:sp>
        <p:nvSpPr>
          <p:cNvPr id="6" name="FMI Breaker Title"/>
          <p:cNvSpPr txBox="1"/>
          <p:nvPr/>
        </p:nvSpPr>
        <p:spPr>
          <a:xfrm>
            <a:off x="914400" y="3305175"/>
            <a:ext cx="7239000" cy="514350"/>
          </a:xfrm>
          <a:prstGeom prst="rect">
            <a:avLst/>
          </a:prstGeom>
          <a:noFill/>
        </p:spPr>
        <p:txBody>
          <a:bodyPr wrap="square" lIns="0" tIns="0" rIns="0">
            <a:spAutoFit/>
          </a:bodyPr>
          <a:lstStyle/>
          <a:p>
            <a:r>
              <a:rPr sz="3000" b="1" cap="all" spc="400">
                <a:solidFill>
                  <a:srgbClr val="FFFFFF"/>
                </a:solidFill>
                <a:latin typeface="Calibri"/>
              </a:rPr>
              <a:t>Market Overview</a:t>
            </a:r>
          </a:p>
        </p:txBody>
      </p:sp>
      <p:sp>
        <p:nvSpPr>
          <p:cNvPr id="7" name="TextBox 6"/>
          <p:cNvSpPr txBox="1"/>
          <p:nvPr/>
        </p:nvSpPr>
        <p:spPr>
          <a:xfrm>
            <a:off x="914400" y="4010025"/>
            <a:ext cx="71247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FFD447"/>
                </a:solidFill>
                <a:latin typeface="Calibri"/>
              </a:rPr>
              <a:t>➤	Market Taxonomy</a:t>
            </a:r>
          </a:p>
          <a:p>
            <a:pPr marL="342900" indent="-323850">
              <a:lnSpc>
                <a:spcPct val="100000"/>
              </a:lnSpc>
              <a:spcAft>
                <a:spcPts val="800"/>
              </a:spcAft>
            </a:pPr>
            <a:r>
              <a:rPr sz="2000" b="0">
                <a:solidFill>
                  <a:srgbClr val="FFD447"/>
                </a:solidFill>
                <a:latin typeface="Calibri"/>
              </a:rPr>
              <a:t>➤	Table of Contents</a:t>
            </a:r>
          </a:p>
          <a:p>
            <a:pPr marL="342900" indent="-323850">
              <a:lnSpc>
                <a:spcPct val="100000"/>
              </a:lnSpc>
              <a:spcAft>
                <a:spcPts val="800"/>
              </a:spcAft>
            </a:pPr>
            <a:r>
              <a:rPr sz="2000" b="0">
                <a:solidFill>
                  <a:srgbClr val="FFD447"/>
                </a:solidFill>
                <a:latin typeface="Calibri"/>
              </a:rPr>
              <a:t>➤	List of Figures, List of Tables</a:t>
            </a:r>
          </a:p>
        </p:txBody>
      </p:sp>
      <p:sp>
        <p:nvSpPr>
          <p:cNvPr id="8" name="TextBox 7"/>
          <p:cNvSpPr txBox="1"/>
          <p:nvPr/>
        </p:nvSpPr>
        <p:spPr>
          <a:xfrm>
            <a:off x="4000500" y="6734175"/>
            <a:ext cx="8020050" cy="123825"/>
          </a:xfrm>
          <a:prstGeom prst="rect">
            <a:avLst/>
          </a:prstGeom>
          <a:noFill/>
        </p:spPr>
        <p:txBody>
          <a:bodyPr wrap="square" lIns="28575" tIns="9525" rIns="2857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Prenatal Vitamin Supplements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Geographic Coverage</a:t>
            </a:r>
          </a:p>
          <a:p>
            <a:pPr marL="342900" indent="-323850">
              <a:lnSpc>
                <a:spcPct val="100000"/>
              </a:lnSpc>
              <a:spcAft>
                <a:spcPts val="800"/>
              </a:spcAft>
            </a:pPr>
            <a:r>
              <a:rPr sz="2000" b="0">
                <a:solidFill>
                  <a:srgbClr val="000000"/>
                </a:solidFill>
                <a:latin typeface="Calibri"/>
              </a:rPr>
              <a:t>➤	Market Segments</a:t>
            </a:r>
          </a:p>
          <a:p>
            <a:pPr marL="342900" indent="-323850">
              <a:lnSpc>
                <a:spcPct val="100000"/>
              </a:lnSpc>
              <a:spcAft>
                <a:spcPts val="800"/>
              </a:spcAft>
            </a:pPr>
            <a:r>
              <a:rPr sz="2000" b="0">
                <a:solidFill>
                  <a:srgbClr val="000000"/>
                </a:solidFill>
                <a:latin typeface="Calibri"/>
              </a:rPr>
              <a:t>➤	Company Coverage</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Market Taxonomy Regions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Geographic scope of the study: the USA market broken into countries and the countries assessed under each</a:t>
            </a:r>
          </a:p>
        </p:txBody>
      </p:sp>
      <p:cxnSp>
        <p:nvCxnSpPr>
          <p:cNvPr id="10" name="Connector 9"/>
          <p:cNvCxnSpPr/>
          <p:nvPr/>
        </p:nvCxnSpPr>
        <p:spPr>
          <a:xfrm>
            <a:off x="6096000" y="1682648"/>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600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648200" y="1080276"/>
            <a:ext cx="2895600" cy="602372"/>
          </a:xfrm>
          <a:prstGeom prst="roundRect">
            <a:avLst>
              <a:gd name="adj" fmla="val 10606"/>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FFFFFF"/>
                </a:solidFill>
                <a:latin typeface="Calibri"/>
              </a:rPr>
              <a:t>Prenatal Vitamin Supplements Market</a:t>
            </a:r>
          </a:p>
        </p:txBody>
      </p:sp>
      <p:sp>
        <p:nvSpPr>
          <p:cNvPr id="13" name="Rounded Rectangle 12"/>
          <p:cNvSpPr/>
          <p:nvPr/>
        </p:nvSpPr>
        <p:spPr>
          <a:xfrm>
            <a:off x="142875" y="2011214"/>
            <a:ext cx="119062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USA</a:t>
            </a:r>
          </a:p>
        </p:txBody>
      </p:sp>
      <p:sp>
        <p:nvSpPr>
          <p:cNvPr id="14" name="TextBox 1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Market Taxonomy Segments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Segmentation framework of the study: 3 axes and the sub-segments sized under each</a:t>
            </a:r>
          </a:p>
        </p:txBody>
      </p:sp>
      <p:sp>
        <p:nvSpPr>
          <p:cNvPr id="10" name="Rectangle 9"/>
          <p:cNvSpPr/>
          <p:nvPr/>
        </p:nvSpPr>
        <p:spPr>
          <a:xfrm>
            <a:off x="142875" y="1028700"/>
            <a:ext cx="3879850" cy="146875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42875" y="1028700"/>
            <a:ext cx="38798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9075" y="1028700"/>
            <a:ext cx="3727450" cy="228600"/>
          </a:xfrm>
          <a:prstGeom prst="rect">
            <a:avLst/>
          </a:prstGeom>
          <a:noFill/>
        </p:spPr>
        <p:txBody>
          <a:bodyPr wrap="square" lIns="28575" tIns="9525" rIns="28575" bIns="9525" anchor="ctr">
            <a:spAutoFit/>
          </a:bodyPr>
          <a:lstStyle/>
          <a:p>
            <a:pPr algn="l"/>
            <a:r>
              <a:rPr sz="1100" b="1">
                <a:solidFill>
                  <a:srgbClr val="FFFFFF"/>
                </a:solidFill>
                <a:latin typeface="Calibri"/>
              </a:rPr>
              <a:t>By Product Format</a:t>
            </a:r>
          </a:p>
        </p:txBody>
      </p:sp>
      <p:sp>
        <p:nvSpPr>
          <p:cNvPr id="13" name="TextBox 12"/>
          <p:cNvSpPr txBox="1"/>
          <p:nvPr/>
        </p:nvSpPr>
        <p:spPr>
          <a:xfrm>
            <a:off x="200025" y="125730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4" name="TextBox 13"/>
          <p:cNvSpPr txBox="1"/>
          <p:nvPr/>
        </p:nvSpPr>
        <p:spPr>
          <a:xfrm>
            <a:off x="390525" y="1257300"/>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Capsule</a:t>
            </a:r>
          </a:p>
        </p:txBody>
      </p:sp>
      <p:cxnSp>
        <p:nvCxnSpPr>
          <p:cNvPr id="15" name="Connector 14"/>
          <p:cNvCxnSpPr/>
          <p:nvPr/>
        </p:nvCxnSpPr>
        <p:spPr>
          <a:xfrm>
            <a:off x="152400" y="1434465"/>
            <a:ext cx="38608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00025" y="143446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17" name="TextBox 16"/>
          <p:cNvSpPr txBox="1"/>
          <p:nvPr/>
        </p:nvSpPr>
        <p:spPr>
          <a:xfrm>
            <a:off x="390525" y="1434465"/>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Tablet</a:t>
            </a:r>
          </a:p>
        </p:txBody>
      </p:sp>
      <p:cxnSp>
        <p:nvCxnSpPr>
          <p:cNvPr id="18" name="Connector 17"/>
          <p:cNvCxnSpPr/>
          <p:nvPr/>
        </p:nvCxnSpPr>
        <p:spPr>
          <a:xfrm>
            <a:off x="152400" y="1611630"/>
            <a:ext cx="38608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00025" y="161163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20" name="TextBox 19"/>
          <p:cNvSpPr txBox="1"/>
          <p:nvPr/>
        </p:nvSpPr>
        <p:spPr>
          <a:xfrm>
            <a:off x="390525" y="1611630"/>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Softgels</a:t>
            </a:r>
          </a:p>
        </p:txBody>
      </p:sp>
      <p:cxnSp>
        <p:nvCxnSpPr>
          <p:cNvPr id="21" name="Connector 20"/>
          <p:cNvCxnSpPr/>
          <p:nvPr/>
        </p:nvCxnSpPr>
        <p:spPr>
          <a:xfrm>
            <a:off x="152400" y="1788795"/>
            <a:ext cx="38608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00025" y="178879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23" name="TextBox 22"/>
          <p:cNvSpPr txBox="1"/>
          <p:nvPr/>
        </p:nvSpPr>
        <p:spPr>
          <a:xfrm>
            <a:off x="390525" y="1788795"/>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Gummies</a:t>
            </a:r>
          </a:p>
        </p:txBody>
      </p:sp>
      <p:cxnSp>
        <p:nvCxnSpPr>
          <p:cNvPr id="24" name="Connector 23"/>
          <p:cNvCxnSpPr/>
          <p:nvPr/>
        </p:nvCxnSpPr>
        <p:spPr>
          <a:xfrm>
            <a:off x="152400" y="1965960"/>
            <a:ext cx="38608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00025" y="196596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26" name="TextBox 25"/>
          <p:cNvSpPr txBox="1"/>
          <p:nvPr/>
        </p:nvSpPr>
        <p:spPr>
          <a:xfrm>
            <a:off x="390525" y="1965960"/>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Powder</a:t>
            </a:r>
          </a:p>
        </p:txBody>
      </p:sp>
      <p:cxnSp>
        <p:nvCxnSpPr>
          <p:cNvPr id="27" name="Connector 26"/>
          <p:cNvCxnSpPr/>
          <p:nvPr/>
        </p:nvCxnSpPr>
        <p:spPr>
          <a:xfrm>
            <a:off x="152400" y="2143125"/>
            <a:ext cx="38608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00025" y="214312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29" name="TextBox 28"/>
          <p:cNvSpPr txBox="1"/>
          <p:nvPr/>
        </p:nvSpPr>
        <p:spPr>
          <a:xfrm>
            <a:off x="390525" y="2143125"/>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Bar</a:t>
            </a:r>
          </a:p>
        </p:txBody>
      </p:sp>
      <p:cxnSp>
        <p:nvCxnSpPr>
          <p:cNvPr id="30" name="Connector 29"/>
          <p:cNvCxnSpPr/>
          <p:nvPr/>
        </p:nvCxnSpPr>
        <p:spPr>
          <a:xfrm>
            <a:off x="152400" y="2320290"/>
            <a:ext cx="38608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00025" y="232029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32" name="TextBox 31"/>
          <p:cNvSpPr txBox="1"/>
          <p:nvPr/>
        </p:nvSpPr>
        <p:spPr>
          <a:xfrm>
            <a:off x="390525" y="2320290"/>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Liquid</a:t>
            </a:r>
          </a:p>
        </p:txBody>
      </p:sp>
      <p:sp>
        <p:nvSpPr>
          <p:cNvPr id="33" name="Rectangle 32"/>
          <p:cNvSpPr/>
          <p:nvPr/>
        </p:nvSpPr>
        <p:spPr>
          <a:xfrm>
            <a:off x="4156075" y="1028700"/>
            <a:ext cx="3879850" cy="146875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156075" y="1028700"/>
            <a:ext cx="38798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232275" y="1028700"/>
            <a:ext cx="3727450" cy="228600"/>
          </a:xfrm>
          <a:prstGeom prst="rect">
            <a:avLst/>
          </a:prstGeom>
          <a:noFill/>
        </p:spPr>
        <p:txBody>
          <a:bodyPr wrap="square" lIns="28575" tIns="9525" rIns="28575" bIns="9525" anchor="ctr">
            <a:spAutoFit/>
          </a:bodyPr>
          <a:lstStyle/>
          <a:p>
            <a:pPr algn="l"/>
            <a:r>
              <a:rPr sz="1100" b="1">
                <a:solidFill>
                  <a:srgbClr val="FFFFFF"/>
                </a:solidFill>
                <a:latin typeface="Calibri"/>
              </a:rPr>
              <a:t>By Product Type</a:t>
            </a:r>
          </a:p>
        </p:txBody>
      </p:sp>
      <p:sp>
        <p:nvSpPr>
          <p:cNvPr id="36" name="TextBox 35"/>
          <p:cNvSpPr txBox="1"/>
          <p:nvPr/>
        </p:nvSpPr>
        <p:spPr>
          <a:xfrm>
            <a:off x="4213225" y="125730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37" name="TextBox 36"/>
          <p:cNvSpPr txBox="1"/>
          <p:nvPr/>
        </p:nvSpPr>
        <p:spPr>
          <a:xfrm>
            <a:off x="4403725" y="1257300"/>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Multivitamin</a:t>
            </a:r>
          </a:p>
        </p:txBody>
      </p:sp>
      <p:cxnSp>
        <p:nvCxnSpPr>
          <p:cNvPr id="38" name="Connector 37"/>
          <p:cNvCxnSpPr/>
          <p:nvPr/>
        </p:nvCxnSpPr>
        <p:spPr>
          <a:xfrm>
            <a:off x="4165600" y="1434465"/>
            <a:ext cx="38608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213225" y="143446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40" name="TextBox 39"/>
          <p:cNvSpPr txBox="1"/>
          <p:nvPr/>
        </p:nvSpPr>
        <p:spPr>
          <a:xfrm>
            <a:off x="4403725" y="1434465"/>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DHA / Omega-3</a:t>
            </a:r>
          </a:p>
        </p:txBody>
      </p:sp>
      <p:cxnSp>
        <p:nvCxnSpPr>
          <p:cNvPr id="41" name="Connector 40"/>
          <p:cNvCxnSpPr/>
          <p:nvPr/>
        </p:nvCxnSpPr>
        <p:spPr>
          <a:xfrm>
            <a:off x="4165600" y="1611630"/>
            <a:ext cx="38608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213225" y="161163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43" name="TextBox 42"/>
          <p:cNvSpPr txBox="1"/>
          <p:nvPr/>
        </p:nvSpPr>
        <p:spPr>
          <a:xfrm>
            <a:off x="4403725" y="1611630"/>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Iron</a:t>
            </a:r>
          </a:p>
        </p:txBody>
      </p:sp>
      <p:cxnSp>
        <p:nvCxnSpPr>
          <p:cNvPr id="44" name="Connector 43"/>
          <p:cNvCxnSpPr/>
          <p:nvPr/>
        </p:nvCxnSpPr>
        <p:spPr>
          <a:xfrm>
            <a:off x="4165600" y="1788795"/>
            <a:ext cx="38608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213225" y="178879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46" name="TextBox 45"/>
          <p:cNvSpPr txBox="1"/>
          <p:nvPr/>
        </p:nvSpPr>
        <p:spPr>
          <a:xfrm>
            <a:off x="4403725" y="1788795"/>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Folate / Folic Acid</a:t>
            </a:r>
          </a:p>
        </p:txBody>
      </p:sp>
      <p:cxnSp>
        <p:nvCxnSpPr>
          <p:cNvPr id="47" name="Connector 46"/>
          <p:cNvCxnSpPr/>
          <p:nvPr/>
        </p:nvCxnSpPr>
        <p:spPr>
          <a:xfrm>
            <a:off x="4165600" y="1965960"/>
            <a:ext cx="38608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4213225" y="196596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49" name="TextBox 48"/>
          <p:cNvSpPr txBox="1"/>
          <p:nvPr/>
        </p:nvSpPr>
        <p:spPr>
          <a:xfrm>
            <a:off x="4403725" y="1965960"/>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Choline</a:t>
            </a:r>
          </a:p>
        </p:txBody>
      </p:sp>
      <p:cxnSp>
        <p:nvCxnSpPr>
          <p:cNvPr id="50" name="Connector 49"/>
          <p:cNvCxnSpPr/>
          <p:nvPr/>
        </p:nvCxnSpPr>
        <p:spPr>
          <a:xfrm>
            <a:off x="4165600" y="2143125"/>
            <a:ext cx="38608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4213225" y="214312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52" name="TextBox 51"/>
          <p:cNvSpPr txBox="1"/>
          <p:nvPr/>
        </p:nvSpPr>
        <p:spPr>
          <a:xfrm>
            <a:off x="4403725" y="2143125"/>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Calcium &amp; Mineral</a:t>
            </a:r>
          </a:p>
        </p:txBody>
      </p:sp>
      <p:cxnSp>
        <p:nvCxnSpPr>
          <p:cNvPr id="53" name="Connector 52"/>
          <p:cNvCxnSpPr/>
          <p:nvPr/>
        </p:nvCxnSpPr>
        <p:spPr>
          <a:xfrm>
            <a:off x="4165600" y="2320290"/>
            <a:ext cx="38608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213225" y="232029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55" name="TextBox 54"/>
          <p:cNvSpPr txBox="1"/>
          <p:nvPr/>
        </p:nvSpPr>
        <p:spPr>
          <a:xfrm>
            <a:off x="4403725" y="2320290"/>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Probiotic</a:t>
            </a:r>
          </a:p>
        </p:txBody>
      </p:sp>
      <p:sp>
        <p:nvSpPr>
          <p:cNvPr id="56" name="Rectangle 55"/>
          <p:cNvSpPr/>
          <p:nvPr/>
        </p:nvSpPr>
        <p:spPr>
          <a:xfrm>
            <a:off x="8169275" y="1028700"/>
            <a:ext cx="38798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169275" y="1028700"/>
            <a:ext cx="38798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245475" y="1028700"/>
            <a:ext cx="3727450" cy="228600"/>
          </a:xfrm>
          <a:prstGeom prst="rect">
            <a:avLst/>
          </a:prstGeom>
          <a:noFill/>
        </p:spPr>
        <p:txBody>
          <a:bodyPr wrap="square" lIns="28575" tIns="9525" rIns="28575" bIns="9525" anchor="ctr">
            <a:spAutoFit/>
          </a:bodyPr>
          <a:lstStyle/>
          <a:p>
            <a:pPr algn="l"/>
            <a:r>
              <a:rPr sz="1100" b="1">
                <a:solidFill>
                  <a:srgbClr val="FFFFFF"/>
                </a:solidFill>
                <a:latin typeface="Calibri"/>
              </a:rPr>
              <a:t>By Sales Channel</a:t>
            </a:r>
          </a:p>
        </p:txBody>
      </p:sp>
      <p:sp>
        <p:nvSpPr>
          <p:cNvPr id="59" name="TextBox 58"/>
          <p:cNvSpPr txBox="1"/>
          <p:nvPr/>
        </p:nvSpPr>
        <p:spPr>
          <a:xfrm>
            <a:off x="8226425" y="125730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60" name="TextBox 59"/>
          <p:cNvSpPr txBox="1"/>
          <p:nvPr/>
        </p:nvSpPr>
        <p:spPr>
          <a:xfrm>
            <a:off x="8416925" y="1257300"/>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Direct-to-Consumer / Brand Website</a:t>
            </a:r>
          </a:p>
        </p:txBody>
      </p:sp>
      <p:cxnSp>
        <p:nvCxnSpPr>
          <p:cNvPr id="61" name="Connector 60"/>
          <p:cNvCxnSpPr/>
          <p:nvPr/>
        </p:nvCxnSpPr>
        <p:spPr>
          <a:xfrm>
            <a:off x="8178800" y="1434465"/>
            <a:ext cx="38608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8226425" y="143446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63" name="TextBox 62"/>
          <p:cNvSpPr txBox="1"/>
          <p:nvPr/>
        </p:nvSpPr>
        <p:spPr>
          <a:xfrm>
            <a:off x="8416925" y="1434465"/>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Amazon / Online Marketplaces</a:t>
            </a:r>
          </a:p>
        </p:txBody>
      </p:sp>
      <p:cxnSp>
        <p:nvCxnSpPr>
          <p:cNvPr id="64" name="Connector 63"/>
          <p:cNvCxnSpPr/>
          <p:nvPr/>
        </p:nvCxnSpPr>
        <p:spPr>
          <a:xfrm>
            <a:off x="8178800" y="1611630"/>
            <a:ext cx="38608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8226425" y="161163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66" name="TextBox 65"/>
          <p:cNvSpPr txBox="1"/>
          <p:nvPr/>
        </p:nvSpPr>
        <p:spPr>
          <a:xfrm>
            <a:off x="8416925" y="1611630"/>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Mass Retail</a:t>
            </a:r>
          </a:p>
        </p:txBody>
      </p:sp>
      <p:cxnSp>
        <p:nvCxnSpPr>
          <p:cNvPr id="67" name="Connector 66"/>
          <p:cNvCxnSpPr/>
          <p:nvPr/>
        </p:nvCxnSpPr>
        <p:spPr>
          <a:xfrm>
            <a:off x="8178800" y="1788795"/>
            <a:ext cx="38608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8226425" y="178879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69" name="TextBox 68"/>
          <p:cNvSpPr txBox="1"/>
          <p:nvPr/>
        </p:nvSpPr>
        <p:spPr>
          <a:xfrm>
            <a:off x="8416925" y="1788795"/>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Pharmacy / Drugstores</a:t>
            </a:r>
          </a:p>
        </p:txBody>
      </p:sp>
      <p:cxnSp>
        <p:nvCxnSpPr>
          <p:cNvPr id="70" name="Connector 69"/>
          <p:cNvCxnSpPr/>
          <p:nvPr/>
        </p:nvCxnSpPr>
        <p:spPr>
          <a:xfrm>
            <a:off x="8178800" y="1965960"/>
            <a:ext cx="38608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8226425" y="1965960"/>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72" name="TextBox 71"/>
          <p:cNvSpPr txBox="1"/>
          <p:nvPr/>
        </p:nvSpPr>
        <p:spPr>
          <a:xfrm>
            <a:off x="8416925" y="1965960"/>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Specialty Health &amp; Wellness Retail</a:t>
            </a:r>
          </a:p>
        </p:txBody>
      </p:sp>
      <p:cxnSp>
        <p:nvCxnSpPr>
          <p:cNvPr id="73" name="Connector 72"/>
          <p:cNvCxnSpPr/>
          <p:nvPr/>
        </p:nvCxnSpPr>
        <p:spPr>
          <a:xfrm>
            <a:off x="8178800" y="2143125"/>
            <a:ext cx="38608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226425" y="2143125"/>
            <a:ext cx="190500" cy="177165"/>
          </a:xfrm>
          <a:prstGeom prst="rect">
            <a:avLst/>
          </a:prstGeom>
          <a:noFill/>
        </p:spPr>
        <p:txBody>
          <a:bodyPr wrap="none" lIns="0" tIns="0" rIns="0" bIns="0" anchor="ctr">
            <a:spAutoFit/>
          </a:bodyPr>
          <a:lstStyle/>
          <a:p>
            <a:pPr algn="l"/>
            <a:r>
              <a:rPr sz="1100" b="0">
                <a:solidFill>
                  <a:srgbClr val="2E2E2E"/>
                </a:solidFill>
                <a:latin typeface="Calibri"/>
              </a:rPr>
              <a:t>❑</a:t>
            </a:r>
          </a:p>
        </p:txBody>
      </p:sp>
      <p:sp>
        <p:nvSpPr>
          <p:cNvPr id="75" name="TextBox 74"/>
          <p:cNvSpPr txBox="1"/>
          <p:nvPr/>
        </p:nvSpPr>
        <p:spPr>
          <a:xfrm>
            <a:off x="8416925" y="2143125"/>
            <a:ext cx="3594100" cy="177165"/>
          </a:xfrm>
          <a:prstGeom prst="rect">
            <a:avLst/>
          </a:prstGeom>
          <a:noFill/>
        </p:spPr>
        <p:txBody>
          <a:bodyPr wrap="square" lIns="28575" tIns="9525" rIns="28575" bIns="9525" anchor="ctr">
            <a:spAutoFit/>
          </a:bodyPr>
          <a:lstStyle/>
          <a:p>
            <a:pPr algn="l"/>
            <a:r>
              <a:rPr sz="1100" b="0">
                <a:solidFill>
                  <a:srgbClr val="2E2E2E"/>
                </a:solidFill>
                <a:latin typeface="Calibri"/>
              </a:rPr>
              <a:t>Practitioner / Clinic Channel</a:t>
            </a:r>
          </a:p>
        </p:txBody>
      </p:sp>
      <p:sp>
        <p:nvSpPr>
          <p:cNvPr id="76" name="TextBox 75"/>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Prenatal Vitamin Supplements Market Company Coverage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Companies profiled and benchmarked across the competition assessment</a:t>
            </a:r>
          </a:p>
        </p:txBody>
      </p:sp>
      <p:sp>
        <p:nvSpPr>
          <p:cNvPr id="10" name="TextBox 9"/>
          <p:cNvSpPr txBox="1"/>
          <p:nvPr/>
        </p:nvSpPr>
        <p:spPr>
          <a:xfrm>
            <a:off x="142875" y="1007261"/>
            <a:ext cx="11906250" cy="182537"/>
          </a:xfrm>
          <a:prstGeom prst="rect">
            <a:avLst/>
          </a:prstGeom>
          <a:noFill/>
        </p:spPr>
        <p:txBody>
          <a:bodyPr wrap="square" lIns="28575" tIns="9525" rIns="28575" bIns="9525" anchor="ctr">
            <a:spAutoFit/>
          </a:bodyPr>
          <a:lstStyle/>
          <a:p>
            <a:pPr algn="l"/>
            <a:r>
              <a:rPr sz="1100" b="0">
                <a:solidFill>
                  <a:srgbClr val="6C7A89"/>
                </a:solidFill>
                <a:latin typeface="Calibri"/>
              </a:rPr>
              <a:t>Companies covered in this study of the Prenatal Vitamin Supplements Market profiled and benchmarked in the Competition Assessment section.</a:t>
            </a:r>
          </a:p>
        </p:txBody>
      </p:sp>
      <p:sp>
        <p:nvSpPr>
          <p:cNvPr id="11" name="Rectangle 10"/>
          <p:cNvSpPr/>
          <p:nvPr/>
        </p:nvSpPr>
        <p:spPr>
          <a:xfrm>
            <a:off x="142875" y="2796123"/>
            <a:ext cx="5857875" cy="21721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42875" y="2796123"/>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2875" y="2860011"/>
            <a:ext cx="5857875" cy="164283"/>
          </a:xfrm>
          <a:prstGeom prst="rect">
            <a:avLst/>
          </a:prstGeom>
          <a:noFill/>
        </p:spPr>
        <p:txBody>
          <a:bodyPr wrap="square" lIns="28575" tIns="9525" rIns="28575" bIns="9525" anchor="ctr">
            <a:spAutoFit/>
          </a:bodyPr>
          <a:lstStyle/>
          <a:p>
            <a:pPr algn="ctr"/>
            <a:r>
              <a:rPr sz="1100" b="1">
                <a:solidFill>
                  <a:srgbClr val="FFFFFF"/>
                </a:solidFill>
                <a:latin typeface="Calibri"/>
              </a:rPr>
              <a:t>List Companies</a:t>
            </a:r>
          </a:p>
        </p:txBody>
      </p:sp>
      <p:sp>
        <p:nvSpPr>
          <p:cNvPr id="14" name="TextBox 13"/>
          <p:cNvSpPr txBox="1"/>
          <p:nvPr/>
        </p:nvSpPr>
        <p:spPr>
          <a:xfrm>
            <a:off x="333375" y="3069929"/>
            <a:ext cx="190500" cy="474596"/>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15" name="TextBox 14"/>
          <p:cNvSpPr txBox="1"/>
          <p:nvPr/>
        </p:nvSpPr>
        <p:spPr>
          <a:xfrm>
            <a:off x="581025" y="3069929"/>
            <a:ext cx="5324475" cy="474596"/>
          </a:xfrm>
          <a:prstGeom prst="rect">
            <a:avLst/>
          </a:prstGeom>
          <a:noFill/>
        </p:spPr>
        <p:txBody>
          <a:bodyPr wrap="square" lIns="28575" tIns="9525" rIns="28575" bIns="9525" anchor="ctr">
            <a:spAutoFit/>
          </a:bodyPr>
          <a:lstStyle/>
          <a:p>
            <a:pPr algn="l"/>
            <a:r>
              <a:rPr sz="1100" b="0">
                <a:solidFill>
                  <a:srgbClr val="2E2E2E"/>
                </a:solidFill>
                <a:latin typeface="Calibri"/>
              </a:rPr>
              <a:t>Company A</a:t>
            </a:r>
          </a:p>
        </p:txBody>
      </p:sp>
      <p:sp>
        <p:nvSpPr>
          <p:cNvPr id="16" name="Rectangle 15"/>
          <p:cNvSpPr/>
          <p:nvPr/>
        </p:nvSpPr>
        <p:spPr>
          <a:xfrm>
            <a:off x="152400" y="354452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a:off x="152400" y="354452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375" y="3544525"/>
            <a:ext cx="190500" cy="474596"/>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19" name="TextBox 18"/>
          <p:cNvSpPr txBox="1"/>
          <p:nvPr/>
        </p:nvSpPr>
        <p:spPr>
          <a:xfrm>
            <a:off x="581025" y="3544525"/>
            <a:ext cx="5324475" cy="474596"/>
          </a:xfrm>
          <a:prstGeom prst="rect">
            <a:avLst/>
          </a:prstGeom>
          <a:noFill/>
        </p:spPr>
        <p:txBody>
          <a:bodyPr wrap="square" lIns="28575" tIns="9525" rIns="28575" bIns="9525" anchor="ctr">
            <a:spAutoFit/>
          </a:bodyPr>
          <a:lstStyle/>
          <a:p>
            <a:pPr algn="l"/>
            <a:r>
              <a:rPr sz="1100" b="0">
                <a:solidFill>
                  <a:srgbClr val="2E2E2E"/>
                </a:solidFill>
                <a:latin typeface="Calibri"/>
              </a:rPr>
              <a:t>Company B</a:t>
            </a:r>
          </a:p>
        </p:txBody>
      </p:sp>
      <p:cxnSp>
        <p:nvCxnSpPr>
          <p:cNvPr id="20" name="Connector 19"/>
          <p:cNvCxnSpPr/>
          <p:nvPr/>
        </p:nvCxnSpPr>
        <p:spPr>
          <a:xfrm>
            <a:off x="152400" y="401912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33375" y="4019121"/>
            <a:ext cx="190500" cy="474596"/>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22" name="TextBox 21"/>
          <p:cNvSpPr txBox="1"/>
          <p:nvPr/>
        </p:nvSpPr>
        <p:spPr>
          <a:xfrm>
            <a:off x="581025" y="4019121"/>
            <a:ext cx="5324475" cy="474596"/>
          </a:xfrm>
          <a:prstGeom prst="rect">
            <a:avLst/>
          </a:prstGeom>
          <a:noFill/>
        </p:spPr>
        <p:txBody>
          <a:bodyPr wrap="square" lIns="28575" tIns="9525" rIns="28575" bIns="9525" anchor="ctr">
            <a:spAutoFit/>
          </a:bodyPr>
          <a:lstStyle/>
          <a:p>
            <a:pPr algn="l"/>
            <a:r>
              <a:rPr sz="1100" b="0">
                <a:solidFill>
                  <a:srgbClr val="2E2E2E"/>
                </a:solidFill>
                <a:latin typeface="Calibri"/>
              </a:rPr>
              <a:t>Company C</a:t>
            </a:r>
          </a:p>
        </p:txBody>
      </p:sp>
      <p:sp>
        <p:nvSpPr>
          <p:cNvPr id="23" name="Rectangle 22"/>
          <p:cNvSpPr/>
          <p:nvPr/>
        </p:nvSpPr>
        <p:spPr>
          <a:xfrm>
            <a:off x="152400" y="4493717"/>
            <a:ext cx="5838825" cy="46546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152400" y="449371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3375" y="4493717"/>
            <a:ext cx="190500" cy="474596"/>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26" name="TextBox 25"/>
          <p:cNvSpPr txBox="1"/>
          <p:nvPr/>
        </p:nvSpPr>
        <p:spPr>
          <a:xfrm>
            <a:off x="581025" y="4493717"/>
            <a:ext cx="5324475" cy="474596"/>
          </a:xfrm>
          <a:prstGeom prst="rect">
            <a:avLst/>
          </a:prstGeom>
          <a:noFill/>
        </p:spPr>
        <p:txBody>
          <a:bodyPr wrap="square" lIns="28575" tIns="9525" rIns="28575" bIns="9525" anchor="ctr">
            <a:spAutoFit/>
          </a:bodyPr>
          <a:lstStyle/>
          <a:p>
            <a:pPr algn="l"/>
            <a:r>
              <a:rPr sz="1100" b="0">
                <a:solidFill>
                  <a:srgbClr val="2E2E2E"/>
                </a:solidFill>
                <a:latin typeface="Calibri"/>
              </a:rPr>
              <a:t>Company D</a:t>
            </a:r>
          </a:p>
        </p:txBody>
      </p:sp>
      <p:sp>
        <p:nvSpPr>
          <p:cNvPr id="27" name="Rectangle 26"/>
          <p:cNvSpPr/>
          <p:nvPr/>
        </p:nvSpPr>
        <p:spPr>
          <a:xfrm>
            <a:off x="6191250" y="2796123"/>
            <a:ext cx="5857875" cy="21721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191250" y="2796123"/>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91250" y="2860011"/>
            <a:ext cx="5857875" cy="164283"/>
          </a:xfrm>
          <a:prstGeom prst="rect">
            <a:avLst/>
          </a:prstGeom>
          <a:noFill/>
        </p:spPr>
        <p:txBody>
          <a:bodyPr wrap="square" lIns="28575" tIns="9525" rIns="28575" bIns="9525" anchor="ctr">
            <a:spAutoFit/>
          </a:bodyPr>
          <a:lstStyle/>
          <a:p>
            <a:pPr algn="ctr"/>
            <a:r>
              <a:rPr sz="1100" b="1">
                <a:solidFill>
                  <a:srgbClr val="FFFFFF"/>
                </a:solidFill>
                <a:latin typeface="Calibri"/>
              </a:rPr>
              <a:t>List Companies</a:t>
            </a:r>
          </a:p>
        </p:txBody>
      </p:sp>
      <p:sp>
        <p:nvSpPr>
          <p:cNvPr id="30" name="TextBox 29"/>
          <p:cNvSpPr txBox="1"/>
          <p:nvPr/>
        </p:nvSpPr>
        <p:spPr>
          <a:xfrm>
            <a:off x="6381750" y="3069929"/>
            <a:ext cx="190500" cy="474596"/>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31" name="TextBox 30"/>
          <p:cNvSpPr txBox="1"/>
          <p:nvPr/>
        </p:nvSpPr>
        <p:spPr>
          <a:xfrm>
            <a:off x="6629400" y="3069929"/>
            <a:ext cx="5324475" cy="474596"/>
          </a:xfrm>
          <a:prstGeom prst="rect">
            <a:avLst/>
          </a:prstGeom>
          <a:noFill/>
        </p:spPr>
        <p:txBody>
          <a:bodyPr wrap="square" lIns="28575" tIns="9525" rIns="28575" bIns="9525" anchor="ctr">
            <a:spAutoFit/>
          </a:bodyPr>
          <a:lstStyle/>
          <a:p>
            <a:pPr algn="l"/>
            <a:r>
              <a:rPr sz="1100" b="0">
                <a:solidFill>
                  <a:srgbClr val="2E2E2E"/>
                </a:solidFill>
                <a:latin typeface="Calibri"/>
              </a:rPr>
              <a:t>Company E</a:t>
            </a:r>
          </a:p>
        </p:txBody>
      </p:sp>
      <p:sp>
        <p:nvSpPr>
          <p:cNvPr id="32" name="Rectangle 31"/>
          <p:cNvSpPr/>
          <p:nvPr/>
        </p:nvSpPr>
        <p:spPr>
          <a:xfrm>
            <a:off x="6200775" y="354452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6200775" y="354452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381750" y="3544525"/>
            <a:ext cx="190500" cy="474596"/>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35" name="TextBox 34"/>
          <p:cNvSpPr txBox="1"/>
          <p:nvPr/>
        </p:nvSpPr>
        <p:spPr>
          <a:xfrm>
            <a:off x="6629400" y="3544525"/>
            <a:ext cx="5324475" cy="474596"/>
          </a:xfrm>
          <a:prstGeom prst="rect">
            <a:avLst/>
          </a:prstGeom>
          <a:noFill/>
        </p:spPr>
        <p:txBody>
          <a:bodyPr wrap="square" lIns="28575" tIns="9525" rIns="28575" bIns="9525" anchor="ctr">
            <a:spAutoFit/>
          </a:bodyPr>
          <a:lstStyle/>
          <a:p>
            <a:pPr algn="l"/>
            <a:r>
              <a:rPr sz="1100" b="0">
                <a:solidFill>
                  <a:srgbClr val="2E2E2E"/>
                </a:solidFill>
                <a:latin typeface="Calibri"/>
              </a:rPr>
              <a:t>Company F</a:t>
            </a:r>
          </a:p>
        </p:txBody>
      </p:sp>
      <p:cxnSp>
        <p:nvCxnSpPr>
          <p:cNvPr id="36" name="Connector 35"/>
          <p:cNvCxnSpPr/>
          <p:nvPr/>
        </p:nvCxnSpPr>
        <p:spPr>
          <a:xfrm>
            <a:off x="6200775" y="401912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381750" y="4019121"/>
            <a:ext cx="190500" cy="474596"/>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38" name="TextBox 37"/>
          <p:cNvSpPr txBox="1"/>
          <p:nvPr/>
        </p:nvSpPr>
        <p:spPr>
          <a:xfrm>
            <a:off x="6629400" y="4019121"/>
            <a:ext cx="5324475" cy="474596"/>
          </a:xfrm>
          <a:prstGeom prst="rect">
            <a:avLst/>
          </a:prstGeom>
          <a:noFill/>
        </p:spPr>
        <p:txBody>
          <a:bodyPr wrap="square" lIns="28575" tIns="9525" rIns="28575" bIns="9525" anchor="ctr">
            <a:spAutoFit/>
          </a:bodyPr>
          <a:lstStyle/>
          <a:p>
            <a:pPr algn="l"/>
            <a:r>
              <a:rPr sz="1100" b="0">
                <a:solidFill>
                  <a:srgbClr val="2E2E2E"/>
                </a:solidFill>
                <a:latin typeface="Calibri"/>
              </a:rPr>
              <a:t>Company G</a:t>
            </a:r>
          </a:p>
        </p:txBody>
      </p:sp>
      <p:sp>
        <p:nvSpPr>
          <p:cNvPr id="39" name="Rectangle 38"/>
          <p:cNvSpPr/>
          <p:nvPr/>
        </p:nvSpPr>
        <p:spPr>
          <a:xfrm>
            <a:off x="6200775" y="4493717"/>
            <a:ext cx="5838825" cy="46546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0" name="Connector 39"/>
          <p:cNvCxnSpPr/>
          <p:nvPr/>
        </p:nvCxnSpPr>
        <p:spPr>
          <a:xfrm>
            <a:off x="6200775" y="449371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381750" y="4493717"/>
            <a:ext cx="190500" cy="474596"/>
          </a:xfrm>
          <a:prstGeom prst="rect">
            <a:avLst/>
          </a:prstGeom>
          <a:noFill/>
        </p:spPr>
        <p:txBody>
          <a:bodyPr wrap="none" lIns="0" tIns="0" rIns="0" bIns="0" anchor="ctr">
            <a:spAutoFit/>
          </a:bodyPr>
          <a:lstStyle/>
          <a:p>
            <a:pPr algn="l"/>
            <a:r>
              <a:rPr sz="1100" b="0">
                <a:solidFill>
                  <a:srgbClr val="6C7A89"/>
                </a:solidFill>
                <a:latin typeface="Calibri"/>
              </a:rPr>
              <a:t>❑</a:t>
            </a:r>
          </a:p>
        </p:txBody>
      </p:sp>
      <p:sp>
        <p:nvSpPr>
          <p:cNvPr id="42" name="TextBox 41"/>
          <p:cNvSpPr txBox="1"/>
          <p:nvPr/>
        </p:nvSpPr>
        <p:spPr>
          <a:xfrm>
            <a:off x="6629400" y="4493717"/>
            <a:ext cx="5324475" cy="474596"/>
          </a:xfrm>
          <a:prstGeom prst="rect">
            <a:avLst/>
          </a:prstGeom>
          <a:noFill/>
        </p:spPr>
        <p:txBody>
          <a:bodyPr wrap="square" lIns="28575" tIns="9525" rIns="28575" bIns="9525" anchor="ctr">
            <a:spAutoFit/>
          </a:bodyPr>
          <a:lstStyle/>
          <a:p>
            <a:pPr algn="l"/>
            <a:r>
              <a:rPr sz="1100" b="0">
                <a:solidFill>
                  <a:srgbClr val="2E2E2E"/>
                </a:solidFill>
                <a:latin typeface="Calibri"/>
              </a:rPr>
              <a:t>Company H</a:t>
            </a:r>
          </a:p>
        </p:txBody>
      </p:sp>
      <p:sp>
        <p:nvSpPr>
          <p:cNvPr id="43" name="TextBox 42"/>
          <p:cNvSpPr txBox="1"/>
          <p:nvPr/>
        </p:nvSpPr>
        <p:spPr>
          <a:xfrm>
            <a:off x="142875" y="6337341"/>
            <a:ext cx="11906250" cy="182537"/>
          </a:xfrm>
          <a:prstGeom prst="rect">
            <a:avLst/>
          </a:prstGeom>
          <a:noFill/>
        </p:spPr>
        <p:txBody>
          <a:bodyPr wrap="square" lIns="28575" tIns="9525" rIns="28575" bIns="9525" anchor="ctr">
            <a:spAutoFit/>
          </a:bodyPr>
          <a:lstStyle/>
          <a:p>
            <a:pPr algn="l"/>
            <a:r>
              <a:rPr sz="1100" b="1">
                <a:solidFill>
                  <a:srgbClr val="B06A2C"/>
                </a:solidFill>
                <a:latin typeface="Calibri"/>
              </a:rPr>
              <a:t>Note: the list of companies is indicative and can be customised on request.</a:t>
            </a:r>
          </a:p>
        </p:txBody>
      </p:sp>
      <p:sp>
        <p:nvSpPr>
          <p:cNvPr id="44" name="TextBox 4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Prenatal Vitamin Supplements Market</a:t>
            </a:r>
          </a:p>
        </p:txBody>
      </p:sp>
      <p:sp>
        <p:nvSpPr>
          <p:cNvPr id="10" name="FMI Section Title"/>
          <p:cNvSpPr txBox="1"/>
          <p:nvPr/>
        </p:nvSpPr>
        <p:spPr>
          <a:xfrm>
            <a:off x="914400" y="3489325"/>
            <a:ext cx="8572500" cy="514350"/>
          </a:xfrm>
          <a:prstGeom prst="rect">
            <a:avLst/>
          </a:prstGeom>
          <a:noFill/>
        </p:spPr>
        <p:txBody>
          <a:bodyPr wrap="square" lIns="0" tIns="0" rIns="0">
            <a:spAutoFit/>
          </a:bodyPr>
          <a:lstStyle/>
          <a:p>
            <a:r>
              <a:rPr sz="3000" b="1">
                <a:solidFill>
                  <a:srgbClr val="0B3C8C"/>
                </a:solidFill>
                <a:latin typeface="Calibri"/>
              </a:rPr>
              <a:t>Table of Contents</a:t>
            </a:r>
          </a:p>
        </p:txBody>
      </p:sp>
      <p:sp>
        <p:nvSpPr>
          <p:cNvPr id="11" name="TextBox 10"/>
          <p:cNvSpPr txBox="1"/>
          <p:nvPr/>
        </p:nvSpPr>
        <p:spPr>
          <a:xfrm>
            <a:off x="914400" y="4175125"/>
            <a:ext cx="8458200" cy="4889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The full contents of this study, as delivered</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Table of Contents (1/6)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Executive Summary</a:t>
                      </a:r>
                      <a:endParaRPr sz="1100"/>
                    </a:p>
                  </a:txBody>
                  <a:tcPr marL="171450" marR="9525" marT="9525" marB="0" anchor="ctr"/>
                </a:tc>
                <a:extLst>
                  <a:ext uri="{0D108BD9-81ED-4DB2-BD59-A6C34878D82A}">
                    <a16:rowId xmlns:a16="http://schemas.microsoft.com/office/drawing/2014/main" val="10000"/>
                  </a:ext>
                </a:extLst>
              </a:tr>
              <a:tr h="175260">
                <a:tc>
                  <a:txBody>
                    <a:bodyPr/>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Global Market Snapshot</a:t>
                      </a:r>
                      <a:endParaRPr sz="1100"/>
                    </a:p>
                  </a:txBody>
                  <a:tcPr marL="685800" marR="9525" marT="9525" marB="0" anchor="ctr"/>
                </a:tc>
                <a:extLst>
                  <a:ext uri="{0D108BD9-81ED-4DB2-BD59-A6C34878D82A}">
                    <a16:rowId xmlns:a16="http://schemas.microsoft.com/office/drawing/2014/main" val="10001"/>
                  </a:ext>
                </a:extLst>
              </a:tr>
              <a:tr h="175260">
                <a:tc>
                  <a:txBody>
                    <a:bodyPr/>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Demand Trends</a:t>
                      </a:r>
                      <a:endParaRPr sz="1100"/>
                    </a:p>
                  </a:txBody>
                  <a:tcPr marL="685800" marR="9525" marT="9525" marB="0" anchor="ctr"/>
                </a:tc>
                <a:extLst>
                  <a:ext uri="{0D108BD9-81ED-4DB2-BD59-A6C34878D82A}">
                    <a16:rowId xmlns:a16="http://schemas.microsoft.com/office/drawing/2014/main" val="10002"/>
                  </a:ext>
                </a:extLst>
              </a:tr>
              <a:tr h="175260">
                <a:tc>
                  <a:txBody>
                    <a:bodyPr/>
                    <a:lstStyle/>
                    <a:p>
                      <a:pPr algn="l"/>
                      <a:r>
                        <a:rPr sz="1100" b="0" i="1">
                          <a:solidFill>
                            <a:srgbClr val="000000"/>
                          </a:solidFill>
                          <a:latin typeface="Calibri"/>
                        </a:rPr>
                        <a:t>1.1.1.1.</a:t>
                      </a:r>
                      <a:r>
                        <a:rPr sz="700" b="0" i="1">
                          <a:solidFill>
                            <a:srgbClr val="000000"/>
                          </a:solidFill>
                          <a:latin typeface="Times New Roman"/>
                        </a:rPr>
                        <a:t>    </a:t>
                      </a:r>
                      <a:r>
                        <a:rPr sz="1100" b="0" i="1">
                          <a:solidFill>
                            <a:srgbClr val="000000"/>
                          </a:solidFill>
                          <a:latin typeface="Calibri"/>
                        </a:rPr>
                        <a:t>Key Supply Trends</a:t>
                      </a:r>
                      <a:endParaRPr sz="1100"/>
                    </a:p>
                  </a:txBody>
                  <a:tcPr marL="1028700" marR="9525" marT="9525" marB="0" anchor="ctr"/>
                </a:tc>
                <a:extLst>
                  <a:ext uri="{0D108BD9-81ED-4DB2-BD59-A6C34878D82A}">
                    <a16:rowId xmlns:a16="http://schemas.microsoft.com/office/drawing/2014/main" val="10003"/>
                  </a:ext>
                </a:extLst>
              </a:tr>
              <a:tr h="175260">
                <a:tc>
                  <a:txBody>
                    <a:bodyPr/>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Technology Roadmap</a:t>
                      </a:r>
                      <a:endParaRPr sz="1100"/>
                    </a:p>
                  </a:txBody>
                  <a:tcPr marL="685800" marR="9525" marT="9525" marB="0" anchor="ctr"/>
                </a:tc>
                <a:extLst>
                  <a:ext uri="{0D108BD9-81ED-4DB2-BD59-A6C34878D82A}">
                    <a16:rowId xmlns:a16="http://schemas.microsoft.com/office/drawing/2014/main" val="10004"/>
                  </a:ext>
                </a:extLst>
              </a:tr>
              <a:tr h="175260">
                <a:tc>
                  <a:txBody>
                    <a:bodyPr/>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Analyst Takeaways &amp; Recommendations</a:t>
                      </a:r>
                      <a:endParaRPr sz="1100"/>
                    </a:p>
                  </a:txBody>
                  <a:tcPr marL="685800" marR="9525" marT="9525" marB="0" anchor="ctr"/>
                </a:tc>
                <a:extLst>
                  <a:ext uri="{0D108BD9-81ED-4DB2-BD59-A6C34878D82A}">
                    <a16:rowId xmlns:a16="http://schemas.microsoft.com/office/drawing/2014/main" val="10005"/>
                  </a:ext>
                </a:extLst>
              </a:tr>
              <a:tr h="175260">
                <a:tc>
                  <a:txBody>
                    <a:bodyPr/>
                    <a:lstStyle/>
                    <a:p>
                      <a:pPr algn="l"/>
                      <a:r>
                        <a:rPr sz="1100" b="1" i="0">
                          <a:solidFill>
                            <a:srgbClr val="000000"/>
                          </a:solidFill>
                          <a:latin typeface="Calibri"/>
                        </a:rPr>
                        <a:t>2.</a:t>
                      </a:r>
                      <a:r>
                        <a:rPr sz="700" b="1" i="0">
                          <a:solidFill>
                            <a:srgbClr val="000000"/>
                          </a:solidFill>
                          <a:latin typeface="Times New Roman"/>
                        </a:rPr>
                        <a:t>       </a:t>
                      </a:r>
                      <a:r>
                        <a:rPr sz="1100" b="1" i="0">
                          <a:solidFill>
                            <a:srgbClr val="000000"/>
                          </a:solidFill>
                          <a:latin typeface="Calibri"/>
                        </a:rPr>
                        <a:t>Market Overview</a:t>
                      </a:r>
                      <a:endParaRPr sz="1100"/>
                    </a:p>
                  </a:txBody>
                  <a:tcPr marL="171450" marR="9525" marT="9525" marB="0" anchor="ctr"/>
                </a:tc>
                <a:extLst>
                  <a:ext uri="{0D108BD9-81ED-4DB2-BD59-A6C34878D82A}">
                    <a16:rowId xmlns:a16="http://schemas.microsoft.com/office/drawing/2014/main" val="10006"/>
                  </a:ext>
                </a:extLst>
              </a:tr>
              <a:tr h="175260">
                <a:tc>
                  <a:txBody>
                    <a:bodyPr/>
                    <a:lstStyle/>
                    <a:p>
                      <a:pPr algn="l"/>
                      <a:r>
                        <a:rPr sz="1100" b="0" i="0">
                          <a:solidFill>
                            <a:srgbClr val="0070C0"/>
                          </a:solidFill>
                          <a:latin typeface="Calibri"/>
                        </a:rPr>
                        <a:t>2.1.</a:t>
                      </a:r>
                      <a:r>
                        <a:rPr sz="700" b="0" i="0">
                          <a:solidFill>
                            <a:srgbClr val="0070C0"/>
                          </a:solidFill>
                          <a:latin typeface="Times New Roman"/>
                        </a:rPr>
                        <a:t>    </a:t>
                      </a:r>
                      <a:r>
                        <a:rPr sz="1100" b="0" i="0">
                          <a:solidFill>
                            <a:srgbClr val="0070C0"/>
                          </a:solidFill>
                          <a:latin typeface="Calibri"/>
                        </a:rPr>
                        <a:t>Market Coverage / Taxonomy</a:t>
                      </a:r>
                      <a:endParaRPr sz="1100"/>
                    </a:p>
                  </a:txBody>
                  <a:tcPr marL="428625" marR="9525" marT="9525" marB="0" anchor="ctr"/>
                </a:tc>
                <a:extLst>
                  <a:ext uri="{0D108BD9-81ED-4DB2-BD59-A6C34878D82A}">
                    <a16:rowId xmlns:a16="http://schemas.microsoft.com/office/drawing/2014/main" val="10007"/>
                  </a:ext>
                </a:extLst>
              </a:tr>
              <a:tr h="175260">
                <a:tc>
                  <a:txBody>
                    <a:bodyPr/>
                    <a:lstStyle/>
                    <a:p>
                      <a:pPr algn="l"/>
                      <a:r>
                        <a:rPr sz="1100" b="0" i="0">
                          <a:solidFill>
                            <a:srgbClr val="0070C0"/>
                          </a:solidFill>
                          <a:latin typeface="Calibri"/>
                        </a:rPr>
                        <a:t>2.2.</a:t>
                      </a:r>
                      <a:r>
                        <a:rPr sz="700" b="0" i="0">
                          <a:solidFill>
                            <a:srgbClr val="0070C0"/>
                          </a:solidFill>
                          <a:latin typeface="Times New Roman"/>
                        </a:rPr>
                        <a:t>    </a:t>
                      </a:r>
                      <a:r>
                        <a:rPr sz="1100" b="0" i="0">
                          <a:solidFill>
                            <a:srgbClr val="0070C0"/>
                          </a:solidFill>
                          <a:latin typeface="Calibri"/>
                        </a:rPr>
                        <a:t>Market Definition By Segments Covered</a:t>
                      </a:r>
                      <a:endParaRPr sz="1100"/>
                    </a:p>
                  </a:txBody>
                  <a:tcPr marL="428625" marR="9525" marT="9525" marB="0" anchor="ctr"/>
                </a:tc>
                <a:extLst>
                  <a:ext uri="{0D108BD9-81ED-4DB2-BD59-A6C34878D82A}">
                    <a16:rowId xmlns:a16="http://schemas.microsoft.com/office/drawing/2014/main" val="10008"/>
                  </a:ext>
                </a:extLst>
              </a:tr>
              <a:tr h="175260">
                <a:tc>
                  <a:txBody>
                    <a:bodyPr/>
                    <a:lstStyle/>
                    <a:p>
                      <a:pPr algn="l"/>
                      <a:r>
                        <a:rPr sz="1100" b="1" i="0">
                          <a:solidFill>
                            <a:srgbClr val="000000"/>
                          </a:solidFill>
                          <a:latin typeface="Calibri"/>
                        </a:rPr>
                        <a:t>Section 1: Global Market Outlook</a:t>
                      </a:r>
                      <a:endParaRPr sz="1100"/>
                    </a:p>
                  </a:txBody>
                  <a:tcPr marL="9525" marR="9525" marT="9525" marB="0" anchor="ctr"/>
                </a:tc>
                <a:extLst>
                  <a:ext uri="{0D108BD9-81ED-4DB2-BD59-A6C34878D82A}">
                    <a16:rowId xmlns:a16="http://schemas.microsoft.com/office/drawing/2014/main" val="10009"/>
                  </a:ext>
                </a:extLst>
              </a:tr>
              <a:tr h="175260">
                <a:tc>
                  <a:txBody>
                    <a:bodyPr/>
                    <a:lstStyle/>
                    <a:p>
                      <a:pPr algn="l"/>
                      <a:r>
                        <a:rPr sz="1100" b="0" i="1">
                          <a:solidFill>
                            <a:srgbClr val="000000"/>
                          </a:solidFill>
                          <a:latin typeface="Calibri"/>
                        </a:rPr>
                        <a:t>2.2.1.1.</a:t>
                      </a:r>
                      <a:r>
                        <a:rPr sz="700" b="0" i="1">
                          <a:solidFill>
                            <a:srgbClr val="000000"/>
                          </a:solidFill>
                          <a:latin typeface="Times New Roman"/>
                        </a:rPr>
                        <a:t>    </a:t>
                      </a:r>
                      <a:r>
                        <a:rPr sz="1100" b="0" i="1">
                          <a:solidFill>
                            <a:srgbClr val="000000"/>
                          </a:solidFill>
                          <a:latin typeface="Calibri"/>
                        </a:rPr>
                        <a:t>Global Market Size (Value &amp; Volume) 2021–2036</a:t>
                      </a:r>
                      <a:endParaRPr sz="1100"/>
                    </a:p>
                  </a:txBody>
                  <a:tcPr marL="1028700" marR="9525" marT="9525" marB="0" anchor="ctr"/>
                </a:tc>
                <a:extLst>
                  <a:ext uri="{0D108BD9-81ED-4DB2-BD59-A6C34878D82A}">
                    <a16:rowId xmlns:a16="http://schemas.microsoft.com/office/drawing/2014/main" val="10010"/>
                  </a:ext>
                </a:extLst>
              </a:tr>
              <a:tr h="175260">
                <a:tc>
                  <a:txBody>
                    <a:bodyPr/>
                    <a:lstStyle/>
                    <a:p>
                      <a:pPr algn="l"/>
                      <a:r>
                        <a:rPr sz="1100" b="0" i="0">
                          <a:solidFill>
                            <a:srgbClr val="0070C0"/>
                          </a:solidFill>
                          <a:latin typeface="Calibri"/>
                        </a:rPr>
                        <a:t>2.3.</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11"/>
                  </a:ext>
                </a:extLst>
              </a:tr>
              <a:tr h="175260">
                <a:tc>
                  <a:txBody>
                    <a:bodyPr/>
                    <a:lstStyle/>
                    <a:p>
                      <a:pPr algn="l"/>
                      <a:r>
                        <a:rPr sz="1100" b="0" i="0">
                          <a:solidFill>
                            <a:srgbClr val="0070C0"/>
                          </a:solidFill>
                          <a:latin typeface="Calibri"/>
                        </a:rPr>
                        <a:t>2.4.</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12"/>
                  </a:ext>
                </a:extLst>
              </a:tr>
              <a:tr h="175260">
                <a:tc>
                  <a:txBody>
                    <a:bodyPr/>
                    <a:lstStyle/>
                    <a:p>
                      <a:pPr algn="l"/>
                      <a:r>
                        <a:rPr sz="1100" b="0" i="0">
                          <a:solidFill>
                            <a:srgbClr val="0070C0"/>
                          </a:solidFill>
                          <a:latin typeface="Calibri"/>
                        </a:rPr>
                        <a:t>2.5.</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13"/>
                  </a:ext>
                </a:extLst>
              </a:tr>
              <a:tr h="175260">
                <a:tc>
                  <a:txBody>
                    <a:bodyPr/>
                    <a:lstStyle/>
                    <a:p>
                      <a:pPr algn="l"/>
                      <a:r>
                        <a:rPr sz="1100" b="0" i="0">
                          <a:solidFill>
                            <a:srgbClr val="0070C0"/>
                          </a:solidFill>
                          <a:latin typeface="Calibri"/>
                        </a:rPr>
                        <a:t>2.6.</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extLst>
                  <a:ext uri="{0D108BD9-81ED-4DB2-BD59-A6C34878D82A}">
                    <a16:rowId xmlns:a16="http://schemas.microsoft.com/office/drawing/2014/main" val="10014"/>
                  </a:ext>
                </a:extLst>
              </a:tr>
              <a:tr h="175260">
                <a:tc>
                  <a:txBody>
                    <a:bodyPr/>
                    <a:lstStyle/>
                    <a:p>
                      <a:pPr algn="l"/>
                      <a:r>
                        <a:rPr sz="1100" b="1" i="0">
                          <a:solidFill>
                            <a:srgbClr val="000000"/>
                          </a:solidFill>
                          <a:latin typeface="Calibri"/>
                        </a:rPr>
                        <a:t>3.</a:t>
                      </a:r>
                      <a:r>
                        <a:rPr sz="700" b="1" i="0">
                          <a:solidFill>
                            <a:srgbClr val="000000"/>
                          </a:solidFill>
                          <a:latin typeface="Times New Roman"/>
                        </a:rPr>
                        <a:t>       </a:t>
                      </a:r>
                      <a:r>
                        <a:rPr sz="1100" b="1" i="0">
                          <a:solidFill>
                            <a:srgbClr val="000000"/>
                          </a:solidFill>
                          <a:latin typeface="Calibri"/>
                        </a:rPr>
                        <a:t>Global Market (Value- Volume) Analysis 2021-2036, By Product Type</a:t>
                      </a:r>
                      <a:endParaRPr sz="1100"/>
                    </a:p>
                  </a:txBody>
                  <a:tcPr marL="171450" marR="9525" marT="9525" marB="0" anchor="ctr"/>
                </a:tc>
                <a:extLst>
                  <a:ext uri="{0D108BD9-81ED-4DB2-BD59-A6C34878D82A}">
                    <a16:rowId xmlns:a16="http://schemas.microsoft.com/office/drawing/2014/main" val="10015"/>
                  </a:ext>
                </a:extLst>
              </a:tr>
              <a:tr h="175260">
                <a:tc>
                  <a:txBody>
                    <a:bodyPr/>
                    <a:lstStyle/>
                    <a:p>
                      <a:pPr algn="l"/>
                      <a:r>
                        <a:rPr sz="1100" b="0" i="0">
                          <a:solidFill>
                            <a:srgbClr val="0070C0"/>
                          </a:solidFill>
                          <a:latin typeface="Calibri"/>
                        </a:rPr>
                        <a:t>3.1.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extLst>
                  <a:ext uri="{0D108BD9-81ED-4DB2-BD59-A6C34878D82A}">
                    <a16:rowId xmlns:a16="http://schemas.microsoft.com/office/drawing/2014/main" val="10016"/>
                  </a:ext>
                </a:extLst>
              </a:tr>
              <a:tr h="175260">
                <a:tc>
                  <a:txBody>
                    <a:bodyPr/>
                    <a:lstStyle/>
                    <a:p>
                      <a:pPr algn="l"/>
                      <a:r>
                        <a:rPr sz="1100" b="0" i="0">
                          <a:solidFill>
                            <a:srgbClr val="0070C0"/>
                          </a:solidFill>
                          <a:latin typeface="Calibri"/>
                        </a:rPr>
                        <a:t>3.2.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17"/>
                  </a:ext>
                </a:extLst>
              </a:tr>
              <a:tr h="175260">
                <a:tc>
                  <a:txBody>
                    <a:bodyPr/>
                    <a:lstStyle/>
                    <a:p>
                      <a:pPr algn="l"/>
                      <a:r>
                        <a:rPr sz="1100" b="0" i="0">
                          <a:solidFill>
                            <a:srgbClr val="0070C0"/>
                          </a:solidFill>
                          <a:latin typeface="Calibri"/>
                        </a:rPr>
                        <a:t>3.3.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18"/>
                  </a:ext>
                </a:extLst>
              </a:tr>
              <a:tr h="175260">
                <a:tc>
                  <a:txBody>
                    <a:bodyPr/>
                    <a:lstStyle/>
                    <a:p>
                      <a:pPr algn="l"/>
                      <a:r>
                        <a:rPr sz="1100" b="0" i="0">
                          <a:solidFill>
                            <a:srgbClr val="0070C0"/>
                          </a:solidFill>
                          <a:latin typeface="Calibri"/>
                        </a:rPr>
                        <a:t>3.4.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19"/>
                  </a:ext>
                </a:extLst>
              </a:tr>
              <a:tr h="175260">
                <a:tc>
                  <a:txBody>
                    <a:bodyPr/>
                    <a:lstStyle/>
                    <a:p>
                      <a:pPr algn="l"/>
                      <a:r>
                        <a:rPr sz="1100" b="0" i="0">
                          <a:solidFill>
                            <a:srgbClr val="0070C0"/>
                          </a:solidFill>
                          <a:latin typeface="Calibri"/>
                        </a:rPr>
                        <a:t>3.5.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extLst>
                  <a:ext uri="{0D108BD9-81ED-4DB2-BD59-A6C34878D82A}">
                    <a16:rowId xmlns:a16="http://schemas.microsoft.com/office/drawing/2014/main" val="10020"/>
                  </a:ext>
                </a:extLst>
              </a:tr>
              <a:tr h="175260">
                <a:tc>
                  <a:txBody>
                    <a:bodyPr/>
                    <a:lstStyle/>
                    <a:p>
                      <a:pPr algn="l"/>
                      <a:r>
                        <a:rPr sz="1100" b="0" i="0">
                          <a:solidFill>
                            <a:srgbClr val="000000"/>
                          </a:solidFill>
                          <a:latin typeface="Calibri"/>
                        </a:rPr>
                        <a:t>3.5.1.</a:t>
                      </a:r>
                      <a:r>
                        <a:rPr sz="700" b="0" i="0">
                          <a:solidFill>
                            <a:srgbClr val="000000"/>
                          </a:solidFill>
                          <a:latin typeface="Times New Roman"/>
                        </a:rPr>
                        <a:t>   </a:t>
                      </a:r>
                      <a:r>
                        <a:rPr sz="1100" b="0" i="0">
                          <a:solidFill>
                            <a:srgbClr val="000000"/>
                          </a:solidFill>
                          <a:latin typeface="Calibri"/>
                        </a:rPr>
                        <a:t>Flat Polybags</a:t>
                      </a:r>
                      <a:endParaRPr sz="1100"/>
                    </a:p>
                  </a:txBody>
                  <a:tcPr marL="771525" marR="9525" marT="9525" marB="0" anchor="ctr"/>
                </a:tc>
                <a:extLst>
                  <a:ext uri="{0D108BD9-81ED-4DB2-BD59-A6C34878D82A}">
                    <a16:rowId xmlns:a16="http://schemas.microsoft.com/office/drawing/2014/main" val="10021"/>
                  </a:ext>
                </a:extLst>
              </a:tr>
              <a:tr h="175260">
                <a:tc>
                  <a:txBody>
                    <a:bodyPr/>
                    <a:lstStyle/>
                    <a:p>
                      <a:pPr algn="l"/>
                      <a:r>
                        <a:rPr sz="1100" b="0" i="1">
                          <a:solidFill>
                            <a:srgbClr val="000000"/>
                          </a:solidFill>
                          <a:latin typeface="Calibri"/>
                        </a:rPr>
                        <a:t>3.5.1.1.</a:t>
                      </a:r>
                      <a:r>
                        <a:rPr sz="700" b="0" i="1">
                          <a:solidFill>
                            <a:srgbClr val="000000"/>
                          </a:solidFill>
                          <a:latin typeface="Times New Roman"/>
                        </a:rPr>
                        <a:t>    </a:t>
                      </a:r>
                      <a:r>
                        <a:rPr sz="1100" b="0" i="1">
                          <a:solidFill>
                            <a:srgbClr val="000000"/>
                          </a:solidFill>
                          <a:latin typeface="Calibri"/>
                        </a:rPr>
                        <a:t>Standard Flat Bags</a:t>
                      </a:r>
                      <a:endParaRPr sz="1100"/>
                    </a:p>
                  </a:txBody>
                  <a:tcPr marL="1028700" marR="9525" marT="9525" marB="0" anchor="ctr"/>
                </a:tc>
                <a:extLst>
                  <a:ext uri="{0D108BD9-81ED-4DB2-BD59-A6C34878D82A}">
                    <a16:rowId xmlns:a16="http://schemas.microsoft.com/office/drawing/2014/main" val="10022"/>
                  </a:ext>
                </a:extLst>
              </a:tr>
              <a:tr h="175260">
                <a:tc>
                  <a:txBody>
                    <a:bodyPr/>
                    <a:lstStyle/>
                    <a:p>
                      <a:pPr algn="l"/>
                      <a:r>
                        <a:rPr sz="1100" b="0" i="1">
                          <a:solidFill>
                            <a:srgbClr val="000000"/>
                          </a:solidFill>
                          <a:latin typeface="Calibri"/>
                        </a:rPr>
                        <a:t>3.5.1.2.</a:t>
                      </a:r>
                      <a:r>
                        <a:rPr sz="700" b="0" i="1">
                          <a:solidFill>
                            <a:srgbClr val="000000"/>
                          </a:solidFill>
                          <a:latin typeface="Times New Roman"/>
                        </a:rPr>
                        <a:t>    </a:t>
                      </a:r>
                      <a:r>
                        <a:rPr sz="1100" b="0" i="1">
                          <a:solidFill>
                            <a:srgbClr val="000000"/>
                          </a:solidFill>
                          <a:latin typeface="Calibri"/>
                        </a:rPr>
                        <a:t>Lay Flat Tubing</a:t>
                      </a:r>
                      <a:endParaRPr sz="1100"/>
                    </a:p>
                  </a:txBody>
                  <a:tcPr marL="1028700" marR="9525" marT="9525" marB="0" anchor="ctr"/>
                </a:tc>
                <a:extLst>
                  <a:ext uri="{0D108BD9-81ED-4DB2-BD59-A6C34878D82A}">
                    <a16:rowId xmlns:a16="http://schemas.microsoft.com/office/drawing/2014/main" val="10023"/>
                  </a:ext>
                </a:extLst>
              </a:tr>
              <a:tr h="175260">
                <a:tc>
                  <a:txBody>
                    <a:bodyPr/>
                    <a:lstStyle/>
                    <a:p>
                      <a:pPr algn="l"/>
                      <a:r>
                        <a:rPr sz="1100" b="0" i="1">
                          <a:solidFill>
                            <a:srgbClr val="000000"/>
                          </a:solidFill>
                          <a:latin typeface="Calibri"/>
                        </a:rPr>
                        <a:t>3.5.1.3.</a:t>
                      </a:r>
                      <a:r>
                        <a:rPr sz="700" b="0" i="1">
                          <a:solidFill>
                            <a:srgbClr val="000000"/>
                          </a:solidFill>
                          <a:latin typeface="Times New Roman"/>
                        </a:rPr>
                        <a:t>    </a:t>
                      </a:r>
                      <a:r>
                        <a:rPr sz="1100" b="0" i="1">
                          <a:solidFill>
                            <a:srgbClr val="000000"/>
                          </a:solidFill>
                          <a:latin typeface="Calibri"/>
                        </a:rPr>
                        <a:t>Flat Poly Sleeves</a:t>
                      </a:r>
                      <a:endParaRPr sz="1100"/>
                    </a:p>
                  </a:txBody>
                  <a:tcPr marL="1028700" marR="9525" marT="9525" marB="0" anchor="ctr"/>
                </a:tc>
                <a:extLst>
                  <a:ext uri="{0D108BD9-81ED-4DB2-BD59-A6C34878D82A}">
                    <a16:rowId xmlns:a16="http://schemas.microsoft.com/office/drawing/2014/main" val="10024"/>
                  </a:ext>
                </a:extLst>
              </a:tr>
              <a:tr h="175260">
                <a:tc>
                  <a:txBody>
                    <a:bodyPr/>
                    <a:lstStyle/>
                    <a:p>
                      <a:pPr algn="l"/>
                      <a:r>
                        <a:rPr sz="1100" b="0" i="0">
                          <a:solidFill>
                            <a:srgbClr val="000000"/>
                          </a:solidFill>
                          <a:latin typeface="Calibri"/>
                        </a:rPr>
                        <a:t>3.5.2.</a:t>
                      </a:r>
                      <a:r>
                        <a:rPr sz="700" b="0" i="0">
                          <a:solidFill>
                            <a:srgbClr val="000000"/>
                          </a:solidFill>
                          <a:latin typeface="Times New Roman"/>
                        </a:rPr>
                        <a:t>   </a:t>
                      </a:r>
                      <a:r>
                        <a:rPr sz="1100" b="0" i="0">
                          <a:solidFill>
                            <a:srgbClr val="000000"/>
                          </a:solidFill>
                          <a:latin typeface="Calibri"/>
                        </a:rPr>
                        <a:t>Gusseted Polybags</a:t>
                      </a:r>
                      <a:endParaRPr sz="1100"/>
                    </a:p>
                  </a:txBody>
                  <a:tcPr marL="771525" marR="9525" marT="9525" marB="0" anchor="ctr"/>
                </a:tc>
                <a:extLst>
                  <a:ext uri="{0D108BD9-81ED-4DB2-BD59-A6C34878D82A}">
                    <a16:rowId xmlns:a16="http://schemas.microsoft.com/office/drawing/2014/main" val="10025"/>
                  </a:ext>
                </a:extLst>
              </a:tr>
              <a:tr h="175260">
                <a:tc>
                  <a:txBody>
                    <a:bodyPr/>
                    <a:lstStyle/>
                    <a:p>
                      <a:pPr algn="l"/>
                      <a:r>
                        <a:rPr sz="1100" b="0" i="1">
                          <a:solidFill>
                            <a:srgbClr val="000000"/>
                          </a:solidFill>
                          <a:latin typeface="Calibri"/>
                        </a:rPr>
                        <a:t>3.5.2.1.</a:t>
                      </a:r>
                      <a:r>
                        <a:rPr sz="700" b="0" i="1">
                          <a:solidFill>
                            <a:srgbClr val="000000"/>
                          </a:solidFill>
                          <a:latin typeface="Times New Roman"/>
                        </a:rPr>
                        <a:t>    </a:t>
                      </a:r>
                      <a:r>
                        <a:rPr sz="1100" b="0" i="1">
                          <a:solidFill>
                            <a:srgbClr val="000000"/>
                          </a:solidFill>
                          <a:latin typeface="Calibri"/>
                        </a:rPr>
                        <a:t>Side Gusset Bags</a:t>
                      </a:r>
                      <a:endParaRPr sz="1100"/>
                    </a:p>
                  </a:txBody>
                  <a:tcPr marL="1028700" marR="9525" marT="9525" marB="0" anchor="ctr"/>
                </a:tc>
                <a:extLst>
                  <a:ext uri="{0D108BD9-81ED-4DB2-BD59-A6C34878D82A}">
                    <a16:rowId xmlns:a16="http://schemas.microsoft.com/office/drawing/2014/main" val="10026"/>
                  </a:ext>
                </a:extLst>
              </a:tr>
              <a:tr h="175260">
                <a:tc>
                  <a:txBody>
                    <a:bodyPr/>
                    <a:lstStyle/>
                    <a:p>
                      <a:pPr algn="l"/>
                      <a:r>
                        <a:rPr sz="1100" b="0" i="1">
                          <a:solidFill>
                            <a:srgbClr val="000000"/>
                          </a:solidFill>
                          <a:latin typeface="Calibri"/>
                        </a:rPr>
                        <a:t>3.5.2.2.</a:t>
                      </a:r>
                      <a:r>
                        <a:rPr sz="700" b="0" i="1">
                          <a:solidFill>
                            <a:srgbClr val="000000"/>
                          </a:solidFill>
                          <a:latin typeface="Times New Roman"/>
                        </a:rPr>
                        <a:t>    </a:t>
                      </a:r>
                      <a:r>
                        <a:rPr sz="1100" b="0" i="1">
                          <a:solidFill>
                            <a:srgbClr val="000000"/>
                          </a:solidFill>
                          <a:latin typeface="Calibri"/>
                        </a:rPr>
                        <a:t>Bottom Gusset Bags</a:t>
                      </a:r>
                      <a:endParaRPr sz="1100"/>
                    </a:p>
                  </a:txBody>
                  <a:tcPr marL="1028700" marR="9525" marT="9525" marB="0" anchor="ctr"/>
                </a:tc>
                <a:extLst>
                  <a:ext uri="{0D108BD9-81ED-4DB2-BD59-A6C34878D82A}">
                    <a16:rowId xmlns:a16="http://schemas.microsoft.com/office/drawing/2014/main" val="10027"/>
                  </a:ext>
                </a:extLst>
              </a:tr>
              <a:tr h="175260">
                <a:tc>
                  <a:txBody>
                    <a:bodyPr/>
                    <a:lstStyle/>
                    <a:p>
                      <a:pPr algn="l"/>
                      <a:r>
                        <a:rPr sz="1100" b="0" i="1">
                          <a:solidFill>
                            <a:srgbClr val="000000"/>
                          </a:solidFill>
                          <a:latin typeface="Calibri"/>
                        </a:rPr>
                        <a:t>3.5.2.3.</a:t>
                      </a:r>
                      <a:r>
                        <a:rPr sz="700" b="0" i="1">
                          <a:solidFill>
                            <a:srgbClr val="000000"/>
                          </a:solidFill>
                          <a:latin typeface="Times New Roman"/>
                        </a:rPr>
                        <a:t>    </a:t>
                      </a:r>
                      <a:r>
                        <a:rPr sz="1100" b="0" i="1">
                          <a:solidFill>
                            <a:srgbClr val="000000"/>
                          </a:solidFill>
                          <a:latin typeface="Calibri"/>
                        </a:rPr>
                        <a:t>Quad Seal Bags</a:t>
                      </a:r>
                      <a:endParaRPr sz="1100"/>
                    </a:p>
                  </a:txBody>
                  <a:tcPr marL="1028700" marR="9525" marT="9525" marB="0" anchor="ctr"/>
                </a:tc>
                <a:extLst>
                  <a:ext uri="{0D108BD9-81ED-4DB2-BD59-A6C34878D82A}">
                    <a16:rowId xmlns:a16="http://schemas.microsoft.com/office/drawing/2014/main" val="10028"/>
                  </a:ext>
                </a:extLst>
              </a:tr>
              <a:tr h="175260">
                <a:tc>
                  <a:txBody>
                    <a:bodyPr/>
                    <a:lstStyle/>
                    <a:p>
                      <a:pPr algn="l"/>
                      <a:r>
                        <a:rPr sz="1100" b="0" i="0">
                          <a:solidFill>
                            <a:srgbClr val="000000"/>
                          </a:solidFill>
                          <a:latin typeface="Calibri"/>
                        </a:rPr>
                        <a:t>3.5.3.</a:t>
                      </a:r>
                      <a:r>
                        <a:rPr sz="700" b="0" i="0">
                          <a:solidFill>
                            <a:srgbClr val="000000"/>
                          </a:solidFill>
                          <a:latin typeface="Times New Roman"/>
                        </a:rPr>
                        <a:t>   </a:t>
                      </a:r>
                      <a:r>
                        <a:rPr sz="1100" b="0" i="0">
                          <a:solidFill>
                            <a:srgbClr val="000000"/>
                          </a:solidFill>
                          <a:latin typeface="Calibri"/>
                        </a:rPr>
                        <a:t>Resealable Polybags</a:t>
                      </a:r>
                      <a:endParaRPr sz="1100"/>
                    </a:p>
                  </a:txBody>
                  <a:tcPr marL="771525" marR="9525" marT="9525" marB="0" anchor="ctr"/>
                </a:tc>
                <a:extLst>
                  <a:ext uri="{0D108BD9-81ED-4DB2-BD59-A6C34878D82A}">
                    <a16:rowId xmlns:a16="http://schemas.microsoft.com/office/drawing/2014/main" val="10029"/>
                  </a:ext>
                </a:extLst>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1">
                          <a:solidFill>
                            <a:srgbClr val="000000"/>
                          </a:solidFill>
                          <a:latin typeface="Calibri"/>
                        </a:rPr>
                        <a:t>3.5.3.1.</a:t>
                      </a:r>
                      <a:r>
                        <a:rPr sz="700" b="0" i="1">
                          <a:solidFill>
                            <a:srgbClr val="000000"/>
                          </a:solidFill>
                          <a:latin typeface="Times New Roman"/>
                        </a:rPr>
                        <a:t>    </a:t>
                      </a:r>
                      <a:r>
                        <a:rPr sz="1100" b="0" i="1">
                          <a:solidFill>
                            <a:srgbClr val="000000"/>
                          </a:solidFill>
                          <a:latin typeface="Calibri"/>
                        </a:rPr>
                        <a:t>Zip Lock Bags</a:t>
                      </a:r>
                      <a:endParaRPr sz="1100"/>
                    </a:p>
                  </a:txBody>
                  <a:tcPr marL="1028700" marR="9525" marT="9525" marB="0" anchor="ctr"/>
                </a:tc>
                <a:extLst>
                  <a:ext uri="{0D108BD9-81ED-4DB2-BD59-A6C34878D82A}">
                    <a16:rowId xmlns:a16="http://schemas.microsoft.com/office/drawing/2014/main" val="10000"/>
                  </a:ext>
                </a:extLst>
              </a:tr>
              <a:tr h="175260">
                <a:tc>
                  <a:txBody>
                    <a:bodyPr/>
                    <a:lstStyle/>
                    <a:p>
                      <a:pPr algn="l"/>
                      <a:r>
                        <a:rPr sz="1100" b="0" i="1">
                          <a:solidFill>
                            <a:srgbClr val="000000"/>
                          </a:solidFill>
                          <a:latin typeface="Calibri"/>
                        </a:rPr>
                        <a:t>3.5.3.2.</a:t>
                      </a:r>
                      <a:r>
                        <a:rPr sz="700" b="0" i="1">
                          <a:solidFill>
                            <a:srgbClr val="000000"/>
                          </a:solidFill>
                          <a:latin typeface="Times New Roman"/>
                        </a:rPr>
                        <a:t>    </a:t>
                      </a:r>
                      <a:r>
                        <a:rPr sz="1100" b="0" i="1">
                          <a:solidFill>
                            <a:srgbClr val="000000"/>
                          </a:solidFill>
                          <a:latin typeface="Calibri"/>
                        </a:rPr>
                        <a:t>Slider Zip Bags</a:t>
                      </a:r>
                      <a:endParaRPr sz="1100"/>
                    </a:p>
                  </a:txBody>
                  <a:tcPr marL="1028700" marR="9525" marT="9525" marB="0" anchor="ctr"/>
                </a:tc>
                <a:extLst>
                  <a:ext uri="{0D108BD9-81ED-4DB2-BD59-A6C34878D82A}">
                    <a16:rowId xmlns:a16="http://schemas.microsoft.com/office/drawing/2014/main" val="10001"/>
                  </a:ext>
                </a:extLst>
              </a:tr>
              <a:tr h="175260">
                <a:tc>
                  <a:txBody>
                    <a:bodyPr/>
                    <a:lstStyle/>
                    <a:p>
                      <a:pPr algn="l"/>
                      <a:r>
                        <a:rPr sz="1100" b="0" i="1">
                          <a:solidFill>
                            <a:srgbClr val="000000"/>
                          </a:solidFill>
                          <a:latin typeface="Calibri"/>
                        </a:rPr>
                        <a:t>3.5.3.3.</a:t>
                      </a:r>
                      <a:r>
                        <a:rPr sz="700" b="0" i="1">
                          <a:solidFill>
                            <a:srgbClr val="000000"/>
                          </a:solidFill>
                          <a:latin typeface="Times New Roman"/>
                        </a:rPr>
                        <a:t>    </a:t>
                      </a:r>
                      <a:r>
                        <a:rPr sz="1100" b="0" i="1">
                          <a:solidFill>
                            <a:srgbClr val="000000"/>
                          </a:solidFill>
                          <a:latin typeface="Calibri"/>
                        </a:rPr>
                        <a:t>Press-to-Close Bags</a:t>
                      </a:r>
                      <a:endParaRPr sz="1100"/>
                    </a:p>
                  </a:txBody>
                  <a:tcPr marL="1028700" marR="9525" marT="9525" marB="0" anchor="ctr"/>
                </a:tc>
                <a:extLst>
                  <a:ext uri="{0D108BD9-81ED-4DB2-BD59-A6C34878D82A}">
                    <a16:rowId xmlns:a16="http://schemas.microsoft.com/office/drawing/2014/main" val="10002"/>
                  </a:ext>
                </a:extLst>
              </a:tr>
              <a:tr h="175260">
                <a:tc>
                  <a:txBody>
                    <a:bodyPr/>
                    <a:lstStyle/>
                    <a:p>
                      <a:pPr algn="l"/>
                      <a:r>
                        <a:rPr sz="1100" b="0" i="1">
                          <a:solidFill>
                            <a:srgbClr val="000000"/>
                          </a:solidFill>
                          <a:latin typeface="Calibri"/>
                        </a:rPr>
                        <a:t>3.5.3.4.</a:t>
                      </a:r>
                      <a:r>
                        <a:rPr sz="700" b="0" i="1">
                          <a:solidFill>
                            <a:srgbClr val="000000"/>
                          </a:solidFill>
                          <a:latin typeface="Times New Roman"/>
                        </a:rPr>
                        <a:t>    </a:t>
                      </a:r>
                      <a:r>
                        <a:rPr sz="1100" b="0" i="1">
                          <a:solidFill>
                            <a:srgbClr val="000000"/>
                          </a:solidFill>
                          <a:latin typeface="Calibri"/>
                        </a:rPr>
                        <a:t>Double Zip Bags</a:t>
                      </a:r>
                      <a:endParaRPr sz="1100"/>
                    </a:p>
                  </a:txBody>
                  <a:tcPr marL="1028700" marR="9525" marT="9525" marB="0" anchor="ctr"/>
                </a:tc>
                <a:extLst>
                  <a:ext uri="{0D108BD9-81ED-4DB2-BD59-A6C34878D82A}">
                    <a16:rowId xmlns:a16="http://schemas.microsoft.com/office/drawing/2014/main" val="10003"/>
                  </a:ext>
                </a:extLst>
              </a:tr>
              <a:tr h="175260">
                <a:tc>
                  <a:txBody>
                    <a:bodyPr/>
                    <a:lstStyle/>
                    <a:p>
                      <a:pPr algn="l"/>
                      <a:r>
                        <a:rPr sz="1100" b="0" i="0">
                          <a:solidFill>
                            <a:srgbClr val="000000"/>
                          </a:solidFill>
                          <a:latin typeface="Calibri"/>
                        </a:rPr>
                        <a:t>3.5.4.</a:t>
                      </a:r>
                      <a:r>
                        <a:rPr sz="700" b="0" i="0">
                          <a:solidFill>
                            <a:srgbClr val="000000"/>
                          </a:solidFill>
                          <a:latin typeface="Times New Roman"/>
                        </a:rPr>
                        <a:t>   </a:t>
                      </a:r>
                      <a:r>
                        <a:rPr sz="1100" b="0" i="0">
                          <a:solidFill>
                            <a:srgbClr val="000000"/>
                          </a:solidFill>
                          <a:latin typeface="Calibri"/>
                        </a:rPr>
                        <a:t>Industrial Polybags</a:t>
                      </a:r>
                      <a:endParaRPr sz="1100"/>
                    </a:p>
                  </a:txBody>
                  <a:tcPr marL="771525" marR="9525" marT="9525" marB="0" anchor="ctr"/>
                </a:tc>
                <a:extLst>
                  <a:ext uri="{0D108BD9-81ED-4DB2-BD59-A6C34878D82A}">
                    <a16:rowId xmlns:a16="http://schemas.microsoft.com/office/drawing/2014/main" val="10004"/>
                  </a:ext>
                </a:extLst>
              </a:tr>
              <a:tr h="175260">
                <a:tc>
                  <a:txBody>
                    <a:bodyPr/>
                    <a:lstStyle/>
                    <a:p>
                      <a:pPr algn="l"/>
                      <a:r>
                        <a:rPr sz="1100" b="0" i="1">
                          <a:solidFill>
                            <a:srgbClr val="000000"/>
                          </a:solidFill>
                          <a:latin typeface="Calibri"/>
                        </a:rPr>
                        <a:t>3.5.4.1.</a:t>
                      </a:r>
                      <a:r>
                        <a:rPr sz="700" b="0" i="1">
                          <a:solidFill>
                            <a:srgbClr val="000000"/>
                          </a:solidFill>
                          <a:latin typeface="Times New Roman"/>
                        </a:rPr>
                        <a:t>    </a:t>
                      </a:r>
                      <a:r>
                        <a:rPr sz="1100" b="0" i="1">
                          <a:solidFill>
                            <a:srgbClr val="000000"/>
                          </a:solidFill>
                          <a:latin typeface="Calibri"/>
                        </a:rPr>
                        <a:t>Heavy-Duty Bags</a:t>
                      </a:r>
                      <a:endParaRPr sz="1100"/>
                    </a:p>
                  </a:txBody>
                  <a:tcPr marL="1028700" marR="9525" marT="9525" marB="0" anchor="ctr"/>
                </a:tc>
                <a:extLst>
                  <a:ext uri="{0D108BD9-81ED-4DB2-BD59-A6C34878D82A}">
                    <a16:rowId xmlns:a16="http://schemas.microsoft.com/office/drawing/2014/main" val="10005"/>
                  </a:ext>
                </a:extLst>
              </a:tr>
              <a:tr h="175260">
                <a:tc>
                  <a:txBody>
                    <a:bodyPr/>
                    <a:lstStyle/>
                    <a:p>
                      <a:pPr algn="l"/>
                      <a:r>
                        <a:rPr sz="1100" b="0" i="1">
                          <a:solidFill>
                            <a:srgbClr val="000000"/>
                          </a:solidFill>
                          <a:latin typeface="Calibri"/>
                        </a:rPr>
                        <a:t>3.5.4.2.</a:t>
                      </a:r>
                      <a:r>
                        <a:rPr sz="700" b="0" i="1">
                          <a:solidFill>
                            <a:srgbClr val="000000"/>
                          </a:solidFill>
                          <a:latin typeface="Times New Roman"/>
                        </a:rPr>
                        <a:t>    </a:t>
                      </a:r>
                      <a:r>
                        <a:rPr sz="1100" b="0" i="1">
                          <a:solidFill>
                            <a:srgbClr val="000000"/>
                          </a:solidFill>
                          <a:latin typeface="Calibri"/>
                        </a:rPr>
                        <a:t>FIBC Liners</a:t>
                      </a:r>
                      <a:endParaRPr sz="1100"/>
                    </a:p>
                  </a:txBody>
                  <a:tcPr marL="1028700" marR="9525" marT="9525" marB="0" anchor="ctr"/>
                </a:tc>
                <a:extLst>
                  <a:ext uri="{0D108BD9-81ED-4DB2-BD59-A6C34878D82A}">
                    <a16:rowId xmlns:a16="http://schemas.microsoft.com/office/drawing/2014/main" val="10006"/>
                  </a:ext>
                </a:extLst>
              </a:tr>
              <a:tr h="175260">
                <a:tc>
                  <a:txBody>
                    <a:bodyPr/>
                    <a:lstStyle/>
                    <a:p>
                      <a:pPr algn="l"/>
                      <a:r>
                        <a:rPr sz="1100" b="0" i="1">
                          <a:solidFill>
                            <a:srgbClr val="000000"/>
                          </a:solidFill>
                          <a:latin typeface="Calibri"/>
                        </a:rPr>
                        <a:t>3.5.4.3.</a:t>
                      </a:r>
                      <a:r>
                        <a:rPr sz="700" b="0" i="1">
                          <a:solidFill>
                            <a:srgbClr val="000000"/>
                          </a:solidFill>
                          <a:latin typeface="Times New Roman"/>
                        </a:rPr>
                        <a:t>    </a:t>
                      </a:r>
                      <a:r>
                        <a:rPr sz="1100" b="0" i="1">
                          <a:solidFill>
                            <a:srgbClr val="000000"/>
                          </a:solidFill>
                          <a:latin typeface="Calibri"/>
                        </a:rPr>
                        <a:t>Machinery Parts Bags</a:t>
                      </a:r>
                      <a:endParaRPr sz="1100"/>
                    </a:p>
                  </a:txBody>
                  <a:tcPr marL="1028700" marR="9525" marT="9525" marB="0" anchor="ctr"/>
                </a:tc>
                <a:extLst>
                  <a:ext uri="{0D108BD9-81ED-4DB2-BD59-A6C34878D82A}">
                    <a16:rowId xmlns:a16="http://schemas.microsoft.com/office/drawing/2014/main" val="10007"/>
                  </a:ext>
                </a:extLst>
              </a:tr>
              <a:tr h="175260">
                <a:tc>
                  <a:txBody>
                    <a:bodyPr/>
                    <a:lstStyle/>
                    <a:p>
                      <a:pPr algn="l"/>
                      <a:r>
                        <a:rPr sz="1100" b="0" i="1">
                          <a:solidFill>
                            <a:srgbClr val="000000"/>
                          </a:solidFill>
                          <a:latin typeface="Calibri"/>
                        </a:rPr>
                        <a:t>3.5.4.4.</a:t>
                      </a:r>
                      <a:r>
                        <a:rPr sz="700" b="0" i="1">
                          <a:solidFill>
                            <a:srgbClr val="000000"/>
                          </a:solidFill>
                          <a:latin typeface="Times New Roman"/>
                        </a:rPr>
                        <a:t>    </a:t>
                      </a:r>
                      <a:r>
                        <a:rPr sz="1100" b="0" i="1">
                          <a:solidFill>
                            <a:srgbClr val="000000"/>
                          </a:solidFill>
                          <a:latin typeface="Calibri"/>
                        </a:rPr>
                        <a:t>Chemical Packaging Bags</a:t>
                      </a:r>
                      <a:endParaRPr sz="1100"/>
                    </a:p>
                  </a:txBody>
                  <a:tcPr marL="1028700" marR="9525" marT="9525" marB="0" anchor="ctr"/>
                </a:tc>
                <a:extLst>
                  <a:ext uri="{0D108BD9-81ED-4DB2-BD59-A6C34878D82A}">
                    <a16:rowId xmlns:a16="http://schemas.microsoft.com/office/drawing/2014/main" val="10008"/>
                  </a:ext>
                </a:extLst>
              </a:tr>
              <a:tr h="175260">
                <a:tc>
                  <a:txBody>
                    <a:bodyPr/>
                    <a:lstStyle/>
                    <a:p>
                      <a:pPr algn="l"/>
                      <a:r>
                        <a:rPr sz="1100" b="0" i="0">
                          <a:solidFill>
                            <a:srgbClr val="000000"/>
                          </a:solidFill>
                          <a:latin typeface="Calibri"/>
                        </a:rPr>
                        <a:t>3.5.5.</a:t>
                      </a:r>
                      <a:r>
                        <a:rPr sz="700" b="0" i="0">
                          <a:solidFill>
                            <a:srgbClr val="000000"/>
                          </a:solidFill>
                          <a:latin typeface="Times New Roman"/>
                        </a:rPr>
                        <a:t>   </a:t>
                      </a:r>
                      <a:r>
                        <a:rPr sz="1100" b="0" i="0">
                          <a:solidFill>
                            <a:srgbClr val="000000"/>
                          </a:solidFill>
                          <a:latin typeface="Calibri"/>
                        </a:rPr>
                        <a:t>Protective Polybags</a:t>
                      </a:r>
                      <a:endParaRPr sz="1100"/>
                    </a:p>
                  </a:txBody>
                  <a:tcPr marL="771525" marR="9525" marT="9525" marB="0" anchor="ctr"/>
                </a:tc>
                <a:extLst>
                  <a:ext uri="{0D108BD9-81ED-4DB2-BD59-A6C34878D82A}">
                    <a16:rowId xmlns:a16="http://schemas.microsoft.com/office/drawing/2014/main" val="10009"/>
                  </a:ext>
                </a:extLst>
              </a:tr>
              <a:tr h="175260">
                <a:tc>
                  <a:txBody>
                    <a:bodyPr/>
                    <a:lstStyle/>
                    <a:p>
                      <a:pPr algn="l"/>
                      <a:r>
                        <a:rPr sz="1100" b="0" i="1">
                          <a:solidFill>
                            <a:srgbClr val="000000"/>
                          </a:solidFill>
                          <a:latin typeface="Calibri"/>
                        </a:rPr>
                        <a:t>3.5.5.1.</a:t>
                      </a:r>
                      <a:r>
                        <a:rPr sz="700" b="0" i="1">
                          <a:solidFill>
                            <a:srgbClr val="000000"/>
                          </a:solidFill>
                          <a:latin typeface="Times New Roman"/>
                        </a:rPr>
                        <a:t>    </a:t>
                      </a:r>
                      <a:r>
                        <a:rPr sz="1100" b="0" i="1">
                          <a:solidFill>
                            <a:srgbClr val="000000"/>
                          </a:solidFill>
                          <a:latin typeface="Calibri"/>
                        </a:rPr>
                        <a:t>Bubble Poly Mailers</a:t>
                      </a:r>
                      <a:endParaRPr sz="1100"/>
                    </a:p>
                  </a:txBody>
                  <a:tcPr marL="1028700" marR="9525" marT="9525" marB="0" anchor="ctr"/>
                </a:tc>
                <a:extLst>
                  <a:ext uri="{0D108BD9-81ED-4DB2-BD59-A6C34878D82A}">
                    <a16:rowId xmlns:a16="http://schemas.microsoft.com/office/drawing/2014/main" val="10010"/>
                  </a:ext>
                </a:extLst>
              </a:tr>
              <a:tr h="175260">
                <a:tc>
                  <a:txBody>
                    <a:bodyPr/>
                    <a:lstStyle/>
                    <a:p>
                      <a:pPr algn="l"/>
                      <a:r>
                        <a:rPr sz="1100" b="0" i="1">
                          <a:solidFill>
                            <a:srgbClr val="000000"/>
                          </a:solidFill>
                          <a:latin typeface="Calibri"/>
                        </a:rPr>
                        <a:t>3.5.5.2.</a:t>
                      </a:r>
                      <a:r>
                        <a:rPr sz="700" b="0" i="1">
                          <a:solidFill>
                            <a:srgbClr val="000000"/>
                          </a:solidFill>
                          <a:latin typeface="Times New Roman"/>
                        </a:rPr>
                        <a:t>    </a:t>
                      </a:r>
                      <a:r>
                        <a:rPr sz="1100" b="0" i="1">
                          <a:solidFill>
                            <a:srgbClr val="000000"/>
                          </a:solidFill>
                          <a:latin typeface="Calibri"/>
                        </a:rPr>
                        <a:t>Anti-Static (ESD) Bags</a:t>
                      </a:r>
                      <a:endParaRPr sz="1100"/>
                    </a:p>
                  </a:txBody>
                  <a:tcPr marL="1028700" marR="9525" marT="9525" marB="0" anchor="ctr"/>
                </a:tc>
                <a:extLst>
                  <a:ext uri="{0D108BD9-81ED-4DB2-BD59-A6C34878D82A}">
                    <a16:rowId xmlns:a16="http://schemas.microsoft.com/office/drawing/2014/main" val="10011"/>
                  </a:ext>
                </a:extLst>
              </a:tr>
              <a:tr h="175260">
                <a:tc>
                  <a:txBody>
                    <a:bodyPr/>
                    <a:lstStyle/>
                    <a:p>
                      <a:pPr algn="l"/>
                      <a:r>
                        <a:rPr sz="1100" b="0" i="1">
                          <a:solidFill>
                            <a:srgbClr val="000000"/>
                          </a:solidFill>
                          <a:latin typeface="Calibri"/>
                        </a:rPr>
                        <a:t>3.5.5.3.</a:t>
                      </a:r>
                      <a:r>
                        <a:rPr sz="700" b="0" i="1">
                          <a:solidFill>
                            <a:srgbClr val="000000"/>
                          </a:solidFill>
                          <a:latin typeface="Times New Roman"/>
                        </a:rPr>
                        <a:t>    </a:t>
                      </a:r>
                      <a:r>
                        <a:rPr sz="1100" b="0" i="1">
                          <a:solidFill>
                            <a:srgbClr val="000000"/>
                          </a:solidFill>
                          <a:latin typeface="Calibri"/>
                        </a:rPr>
                        <a:t>Vacuum Bags</a:t>
                      </a:r>
                      <a:endParaRPr sz="1100"/>
                    </a:p>
                  </a:txBody>
                  <a:tcPr marL="1028700" marR="9525" marT="9525" marB="0" anchor="ctr"/>
                </a:tc>
                <a:extLst>
                  <a:ext uri="{0D108BD9-81ED-4DB2-BD59-A6C34878D82A}">
                    <a16:rowId xmlns:a16="http://schemas.microsoft.com/office/drawing/2014/main" val="10012"/>
                  </a:ext>
                </a:extLst>
              </a:tr>
              <a:tr h="175260">
                <a:tc>
                  <a:txBody>
                    <a:bodyPr/>
                    <a:lstStyle/>
                    <a:p>
                      <a:pPr algn="l"/>
                      <a:r>
                        <a:rPr sz="1100" b="0" i="1">
                          <a:solidFill>
                            <a:srgbClr val="000000"/>
                          </a:solidFill>
                          <a:latin typeface="Calibri"/>
                        </a:rPr>
                        <a:t>3.5.5.4.</a:t>
                      </a:r>
                      <a:r>
                        <a:rPr sz="700" b="0" i="1">
                          <a:solidFill>
                            <a:srgbClr val="000000"/>
                          </a:solidFill>
                          <a:latin typeface="Times New Roman"/>
                        </a:rPr>
                        <a:t>    </a:t>
                      </a:r>
                      <a:r>
                        <a:rPr sz="1100" b="0" i="1">
                          <a:solidFill>
                            <a:srgbClr val="000000"/>
                          </a:solidFill>
                          <a:latin typeface="Calibri"/>
                        </a:rPr>
                        <a:t>Cushion Packaging Bags</a:t>
                      </a:r>
                      <a:endParaRPr sz="1100"/>
                    </a:p>
                  </a:txBody>
                  <a:tcPr marL="1028700" marR="9525" marT="9525" marB="0" anchor="ctr"/>
                </a:tc>
                <a:extLst>
                  <a:ext uri="{0D108BD9-81ED-4DB2-BD59-A6C34878D82A}">
                    <a16:rowId xmlns:a16="http://schemas.microsoft.com/office/drawing/2014/main" val="10013"/>
                  </a:ext>
                </a:extLst>
              </a:tr>
              <a:tr h="175260">
                <a:tc>
                  <a:txBody>
                    <a:bodyPr/>
                    <a:lstStyle/>
                    <a:p>
                      <a:pPr algn="l"/>
                      <a:r>
                        <a:rPr sz="1100" b="0" i="0">
                          <a:solidFill>
                            <a:srgbClr val="000000"/>
                          </a:solidFill>
                          <a:latin typeface="Calibri"/>
                        </a:rPr>
                        <a:t>3.5.6.</a:t>
                      </a:r>
                      <a:r>
                        <a:rPr sz="700" b="0" i="0">
                          <a:solidFill>
                            <a:srgbClr val="000000"/>
                          </a:solidFill>
                          <a:latin typeface="Times New Roman"/>
                        </a:rPr>
                        <a:t>   </a:t>
                      </a:r>
                      <a:r>
                        <a:rPr sz="1100" b="0" i="0">
                          <a:solidFill>
                            <a:srgbClr val="000000"/>
                          </a:solidFill>
                          <a:latin typeface="Calibri"/>
                        </a:rPr>
                        <a:t>Retail &amp; Merchandise Bags</a:t>
                      </a:r>
                      <a:endParaRPr sz="1100"/>
                    </a:p>
                  </a:txBody>
                  <a:tcPr marL="771525" marR="9525" marT="9525" marB="0" anchor="ctr"/>
                </a:tc>
                <a:extLst>
                  <a:ext uri="{0D108BD9-81ED-4DB2-BD59-A6C34878D82A}">
                    <a16:rowId xmlns:a16="http://schemas.microsoft.com/office/drawing/2014/main" val="10014"/>
                  </a:ext>
                </a:extLst>
              </a:tr>
              <a:tr h="175260">
                <a:tc>
                  <a:txBody>
                    <a:bodyPr/>
                    <a:lstStyle/>
                    <a:p>
                      <a:pPr algn="l"/>
                      <a:r>
                        <a:rPr sz="1100" b="0" i="1">
                          <a:solidFill>
                            <a:srgbClr val="000000"/>
                          </a:solidFill>
                          <a:latin typeface="Calibri"/>
                        </a:rPr>
                        <a:t>3.5.6.1.</a:t>
                      </a:r>
                      <a:r>
                        <a:rPr sz="700" b="0" i="1">
                          <a:solidFill>
                            <a:srgbClr val="000000"/>
                          </a:solidFill>
                          <a:latin typeface="Times New Roman"/>
                        </a:rPr>
                        <a:t>    </a:t>
                      </a:r>
                      <a:r>
                        <a:rPr sz="1100" b="0" i="1">
                          <a:solidFill>
                            <a:srgbClr val="000000"/>
                          </a:solidFill>
                          <a:latin typeface="Calibri"/>
                        </a:rPr>
                        <a:t>T-Shirt Bags</a:t>
                      </a:r>
                      <a:endParaRPr sz="1100"/>
                    </a:p>
                  </a:txBody>
                  <a:tcPr marL="1028700" marR="9525" marT="9525" marB="0" anchor="ctr"/>
                </a:tc>
                <a:extLst>
                  <a:ext uri="{0D108BD9-81ED-4DB2-BD59-A6C34878D82A}">
                    <a16:rowId xmlns:a16="http://schemas.microsoft.com/office/drawing/2014/main" val="10015"/>
                  </a:ext>
                </a:extLst>
              </a:tr>
              <a:tr h="175260">
                <a:tc>
                  <a:txBody>
                    <a:bodyPr/>
                    <a:lstStyle/>
                    <a:p>
                      <a:pPr algn="l"/>
                      <a:r>
                        <a:rPr sz="1100" b="0" i="1">
                          <a:solidFill>
                            <a:srgbClr val="000000"/>
                          </a:solidFill>
                          <a:latin typeface="Calibri"/>
                        </a:rPr>
                        <a:t>3.5.6.2.</a:t>
                      </a:r>
                      <a:r>
                        <a:rPr sz="700" b="0" i="1">
                          <a:solidFill>
                            <a:srgbClr val="000000"/>
                          </a:solidFill>
                          <a:latin typeface="Times New Roman"/>
                        </a:rPr>
                        <a:t>    </a:t>
                      </a:r>
                      <a:r>
                        <a:rPr sz="1100" b="0" i="1">
                          <a:solidFill>
                            <a:srgbClr val="000000"/>
                          </a:solidFill>
                          <a:latin typeface="Calibri"/>
                        </a:rPr>
                        <a:t>Merchandise Bags</a:t>
                      </a:r>
                      <a:endParaRPr sz="1100"/>
                    </a:p>
                  </a:txBody>
                  <a:tcPr marL="1028700" marR="9525" marT="9525" marB="0" anchor="ctr"/>
                </a:tc>
                <a:extLst>
                  <a:ext uri="{0D108BD9-81ED-4DB2-BD59-A6C34878D82A}">
                    <a16:rowId xmlns:a16="http://schemas.microsoft.com/office/drawing/2014/main" val="10016"/>
                  </a:ext>
                </a:extLst>
              </a:tr>
              <a:tr h="175260">
                <a:tc>
                  <a:txBody>
                    <a:bodyPr/>
                    <a:lstStyle/>
                    <a:p>
                      <a:pPr algn="l"/>
                      <a:r>
                        <a:rPr sz="1100" b="0" i="1">
                          <a:solidFill>
                            <a:srgbClr val="000000"/>
                          </a:solidFill>
                          <a:latin typeface="Calibri"/>
                        </a:rPr>
                        <a:t>3.5.6.3.</a:t>
                      </a:r>
                      <a:r>
                        <a:rPr sz="700" b="0" i="1">
                          <a:solidFill>
                            <a:srgbClr val="000000"/>
                          </a:solidFill>
                          <a:latin typeface="Times New Roman"/>
                        </a:rPr>
                        <a:t>    </a:t>
                      </a:r>
                      <a:r>
                        <a:rPr sz="1100" b="0" i="1">
                          <a:solidFill>
                            <a:srgbClr val="000000"/>
                          </a:solidFill>
                          <a:latin typeface="Calibri"/>
                        </a:rPr>
                        <a:t>Die-Cut Handle Bags</a:t>
                      </a:r>
                      <a:endParaRPr sz="1100"/>
                    </a:p>
                  </a:txBody>
                  <a:tcPr marL="1028700" marR="9525" marT="9525" marB="0" anchor="ctr"/>
                </a:tc>
                <a:extLst>
                  <a:ext uri="{0D108BD9-81ED-4DB2-BD59-A6C34878D82A}">
                    <a16:rowId xmlns:a16="http://schemas.microsoft.com/office/drawing/2014/main" val="10017"/>
                  </a:ext>
                </a:extLst>
              </a:tr>
              <a:tr h="175260">
                <a:tc>
                  <a:txBody>
                    <a:bodyPr/>
                    <a:lstStyle/>
                    <a:p>
                      <a:pPr algn="l"/>
                      <a:r>
                        <a:rPr sz="1100" b="0" i="1">
                          <a:solidFill>
                            <a:srgbClr val="000000"/>
                          </a:solidFill>
                          <a:latin typeface="Calibri"/>
                        </a:rPr>
                        <a:t>3.5.6.4.</a:t>
                      </a:r>
                      <a:r>
                        <a:rPr sz="700" b="0" i="1">
                          <a:solidFill>
                            <a:srgbClr val="000000"/>
                          </a:solidFill>
                          <a:latin typeface="Times New Roman"/>
                        </a:rPr>
                        <a:t>    </a:t>
                      </a:r>
                      <a:r>
                        <a:rPr sz="1100" b="0" i="1">
                          <a:solidFill>
                            <a:srgbClr val="000000"/>
                          </a:solidFill>
                          <a:latin typeface="Calibri"/>
                        </a:rPr>
                        <a:t>Patch Handle Bags</a:t>
                      </a:r>
                      <a:endParaRPr sz="1100"/>
                    </a:p>
                  </a:txBody>
                  <a:tcPr marL="1028700" marR="9525" marT="9525" marB="0" anchor="ctr"/>
                </a:tc>
                <a:extLst>
                  <a:ext uri="{0D108BD9-81ED-4DB2-BD59-A6C34878D82A}">
                    <a16:rowId xmlns:a16="http://schemas.microsoft.com/office/drawing/2014/main" val="10018"/>
                  </a:ext>
                </a:extLst>
              </a:tr>
              <a:tr h="175260">
                <a:tc>
                  <a:txBody>
                    <a:bodyPr/>
                    <a:lstStyle/>
                    <a:p>
                      <a:pPr algn="l"/>
                      <a:r>
                        <a:rPr sz="1100" b="0" i="1">
                          <a:solidFill>
                            <a:srgbClr val="000000"/>
                          </a:solidFill>
                          <a:latin typeface="Calibri"/>
                        </a:rPr>
                        <a:t>3.5.6.5.</a:t>
                      </a:r>
                      <a:r>
                        <a:rPr sz="700" b="0" i="1">
                          <a:solidFill>
                            <a:srgbClr val="000000"/>
                          </a:solidFill>
                          <a:latin typeface="Times New Roman"/>
                        </a:rPr>
                        <a:t>    </a:t>
                      </a:r>
                      <a:r>
                        <a:rPr sz="1100" b="0" i="1">
                          <a:solidFill>
                            <a:srgbClr val="000000"/>
                          </a:solidFill>
                          <a:latin typeface="Calibri"/>
                        </a:rPr>
                        <a:t>D-Cut Bags</a:t>
                      </a:r>
                      <a:endParaRPr sz="1100"/>
                    </a:p>
                  </a:txBody>
                  <a:tcPr marL="1028700" marR="9525" marT="9525" marB="0" anchor="ctr"/>
                </a:tc>
                <a:extLst>
                  <a:ext uri="{0D108BD9-81ED-4DB2-BD59-A6C34878D82A}">
                    <a16:rowId xmlns:a16="http://schemas.microsoft.com/office/drawing/2014/main" val="10019"/>
                  </a:ext>
                </a:extLst>
              </a:tr>
              <a:tr h="175260">
                <a:tc>
                  <a:txBody>
                    <a:bodyPr/>
                    <a:lstStyle/>
                    <a:p>
                      <a:pPr algn="l"/>
                      <a:r>
                        <a:rPr sz="1100" b="0" i="0">
                          <a:solidFill>
                            <a:srgbClr val="000000"/>
                          </a:solidFill>
                          <a:latin typeface="Calibri"/>
                        </a:rPr>
                        <a:t>3.5.7.</a:t>
                      </a:r>
                      <a:r>
                        <a:rPr sz="700" b="0" i="0">
                          <a:solidFill>
                            <a:srgbClr val="000000"/>
                          </a:solidFill>
                          <a:latin typeface="Times New Roman"/>
                        </a:rPr>
                        <a:t>   </a:t>
                      </a:r>
                      <a:r>
                        <a:rPr sz="1100" b="0" i="0">
                          <a:solidFill>
                            <a:srgbClr val="000000"/>
                          </a:solidFill>
                          <a:latin typeface="Calibri"/>
                        </a:rPr>
                        <a:t>E-commerce Polybags</a:t>
                      </a:r>
                      <a:endParaRPr sz="1100"/>
                    </a:p>
                  </a:txBody>
                  <a:tcPr marL="771525" marR="9525" marT="9525" marB="0" anchor="ctr"/>
                </a:tc>
                <a:extLst>
                  <a:ext uri="{0D108BD9-81ED-4DB2-BD59-A6C34878D82A}">
                    <a16:rowId xmlns:a16="http://schemas.microsoft.com/office/drawing/2014/main" val="10020"/>
                  </a:ext>
                </a:extLst>
              </a:tr>
              <a:tr h="175260">
                <a:tc>
                  <a:txBody>
                    <a:bodyPr/>
                    <a:lstStyle/>
                    <a:p>
                      <a:pPr algn="l"/>
                      <a:r>
                        <a:rPr sz="1100" b="0" i="1">
                          <a:solidFill>
                            <a:srgbClr val="000000"/>
                          </a:solidFill>
                          <a:latin typeface="Calibri"/>
                        </a:rPr>
                        <a:t>3.5.7.1.</a:t>
                      </a:r>
                      <a:r>
                        <a:rPr sz="700" b="0" i="1">
                          <a:solidFill>
                            <a:srgbClr val="000000"/>
                          </a:solidFill>
                          <a:latin typeface="Times New Roman"/>
                        </a:rPr>
                        <a:t>    </a:t>
                      </a:r>
                      <a:r>
                        <a:rPr sz="1100" b="0" i="1">
                          <a:solidFill>
                            <a:srgbClr val="000000"/>
                          </a:solidFill>
                          <a:latin typeface="Calibri"/>
                        </a:rPr>
                        <a:t>Courier Mailers</a:t>
                      </a:r>
                      <a:endParaRPr sz="1100"/>
                    </a:p>
                  </a:txBody>
                  <a:tcPr marL="1028700" marR="9525" marT="9525" marB="0" anchor="ctr"/>
                </a:tc>
                <a:extLst>
                  <a:ext uri="{0D108BD9-81ED-4DB2-BD59-A6C34878D82A}">
                    <a16:rowId xmlns:a16="http://schemas.microsoft.com/office/drawing/2014/main" val="10021"/>
                  </a:ext>
                </a:extLst>
              </a:tr>
              <a:tr h="175260">
                <a:tc>
                  <a:txBody>
                    <a:bodyPr/>
                    <a:lstStyle/>
                    <a:p>
                      <a:pPr algn="l"/>
                      <a:r>
                        <a:rPr sz="1100" b="0" i="1">
                          <a:solidFill>
                            <a:srgbClr val="000000"/>
                          </a:solidFill>
                          <a:latin typeface="Calibri"/>
                        </a:rPr>
                        <a:t>3.5.7.2.</a:t>
                      </a:r>
                      <a:r>
                        <a:rPr sz="700" b="0" i="1">
                          <a:solidFill>
                            <a:srgbClr val="000000"/>
                          </a:solidFill>
                          <a:latin typeface="Times New Roman"/>
                        </a:rPr>
                        <a:t>    </a:t>
                      </a:r>
                      <a:r>
                        <a:rPr sz="1100" b="0" i="1">
                          <a:solidFill>
                            <a:srgbClr val="000000"/>
                          </a:solidFill>
                          <a:latin typeface="Calibri"/>
                        </a:rPr>
                        <a:t>Tamper-Evident Mailers</a:t>
                      </a:r>
                      <a:endParaRPr sz="1100"/>
                    </a:p>
                  </a:txBody>
                  <a:tcPr marL="1028700" marR="9525" marT="9525" marB="0" anchor="ctr"/>
                </a:tc>
                <a:extLst>
                  <a:ext uri="{0D108BD9-81ED-4DB2-BD59-A6C34878D82A}">
                    <a16:rowId xmlns:a16="http://schemas.microsoft.com/office/drawing/2014/main" val="10022"/>
                  </a:ext>
                </a:extLst>
              </a:tr>
              <a:tr h="175260">
                <a:tc>
                  <a:txBody>
                    <a:bodyPr/>
                    <a:lstStyle/>
                    <a:p>
                      <a:pPr algn="l"/>
                      <a:r>
                        <a:rPr sz="1100" b="0" i="1">
                          <a:solidFill>
                            <a:srgbClr val="000000"/>
                          </a:solidFill>
                          <a:latin typeface="Calibri"/>
                        </a:rPr>
                        <a:t>3.5.7.3.</a:t>
                      </a:r>
                      <a:r>
                        <a:rPr sz="700" b="0" i="1">
                          <a:solidFill>
                            <a:srgbClr val="000000"/>
                          </a:solidFill>
                          <a:latin typeface="Times New Roman"/>
                        </a:rPr>
                        <a:t>    </a:t>
                      </a:r>
                      <a:r>
                        <a:rPr sz="1100" b="0" i="1">
                          <a:solidFill>
                            <a:srgbClr val="000000"/>
                          </a:solidFill>
                          <a:latin typeface="Calibri"/>
                        </a:rPr>
                        <a:t>Return Mailers</a:t>
                      </a:r>
                      <a:endParaRPr sz="1100"/>
                    </a:p>
                  </a:txBody>
                  <a:tcPr marL="1028700" marR="9525" marT="9525" marB="0" anchor="ctr"/>
                </a:tc>
                <a:extLst>
                  <a:ext uri="{0D108BD9-81ED-4DB2-BD59-A6C34878D82A}">
                    <a16:rowId xmlns:a16="http://schemas.microsoft.com/office/drawing/2014/main" val="10023"/>
                  </a:ext>
                </a:extLst>
              </a:tr>
              <a:tr h="175260">
                <a:tc>
                  <a:txBody>
                    <a:bodyPr/>
                    <a:lstStyle/>
                    <a:p>
                      <a:pPr algn="l"/>
                      <a:r>
                        <a:rPr sz="1100" b="0" i="1">
                          <a:solidFill>
                            <a:srgbClr val="000000"/>
                          </a:solidFill>
                          <a:latin typeface="Calibri"/>
                        </a:rPr>
                        <a:t>3.5.7.4.</a:t>
                      </a:r>
                      <a:r>
                        <a:rPr sz="700" b="0" i="1">
                          <a:solidFill>
                            <a:srgbClr val="000000"/>
                          </a:solidFill>
                          <a:latin typeface="Times New Roman"/>
                        </a:rPr>
                        <a:t>    </a:t>
                      </a:r>
                      <a:r>
                        <a:rPr sz="1100" b="0" i="1">
                          <a:solidFill>
                            <a:srgbClr val="000000"/>
                          </a:solidFill>
                          <a:latin typeface="Calibri"/>
                        </a:rPr>
                        <a:t>Security Mailers</a:t>
                      </a:r>
                      <a:endParaRPr sz="1100"/>
                    </a:p>
                  </a:txBody>
                  <a:tcPr marL="1028700" marR="9525" marT="9525" marB="0" anchor="ctr"/>
                </a:tc>
                <a:extLst>
                  <a:ext uri="{0D108BD9-81ED-4DB2-BD59-A6C34878D82A}">
                    <a16:rowId xmlns:a16="http://schemas.microsoft.com/office/drawing/2014/main" val="10024"/>
                  </a:ext>
                </a:extLst>
              </a:tr>
              <a:tr h="175260">
                <a:tc>
                  <a:txBody>
                    <a:bodyPr/>
                    <a:lstStyle/>
                    <a:p>
                      <a:pPr algn="l"/>
                      <a:r>
                        <a:rPr sz="1100" b="0" i="0">
                          <a:solidFill>
                            <a:srgbClr val="000000"/>
                          </a:solidFill>
                          <a:latin typeface="Calibri"/>
                        </a:rPr>
                        <a:t>3.5.8.</a:t>
                      </a:r>
                      <a:r>
                        <a:rPr sz="700" b="0" i="0">
                          <a:solidFill>
                            <a:srgbClr val="000000"/>
                          </a:solidFill>
                          <a:latin typeface="Times New Roman"/>
                        </a:rPr>
                        <a:t>   </a:t>
                      </a:r>
                      <a:r>
                        <a:rPr sz="1100" b="0" i="0">
                          <a:solidFill>
                            <a:srgbClr val="000000"/>
                          </a:solidFill>
                          <a:latin typeface="Calibri"/>
                        </a:rPr>
                        <a:t>Specialty Polybags</a:t>
                      </a:r>
                      <a:endParaRPr sz="1100"/>
                    </a:p>
                  </a:txBody>
                  <a:tcPr marL="771525" marR="9525" marT="9525" marB="0" anchor="ctr"/>
                </a:tc>
                <a:extLst>
                  <a:ext uri="{0D108BD9-81ED-4DB2-BD59-A6C34878D82A}">
                    <a16:rowId xmlns:a16="http://schemas.microsoft.com/office/drawing/2014/main" val="10025"/>
                  </a:ext>
                </a:extLst>
              </a:tr>
              <a:tr h="175260">
                <a:tc>
                  <a:txBody>
                    <a:bodyPr/>
                    <a:lstStyle/>
                    <a:p>
                      <a:pPr algn="l"/>
                      <a:r>
                        <a:rPr sz="1100" b="0" i="1">
                          <a:solidFill>
                            <a:srgbClr val="000000"/>
                          </a:solidFill>
                          <a:latin typeface="Calibri"/>
                        </a:rPr>
                        <a:t>3.5.8.1.</a:t>
                      </a:r>
                      <a:r>
                        <a:rPr sz="700" b="0" i="1">
                          <a:solidFill>
                            <a:srgbClr val="000000"/>
                          </a:solidFill>
                          <a:latin typeface="Times New Roman"/>
                        </a:rPr>
                        <a:t>    </a:t>
                      </a:r>
                      <a:r>
                        <a:rPr sz="1100" b="0" i="1">
                          <a:solidFill>
                            <a:srgbClr val="000000"/>
                          </a:solidFill>
                          <a:latin typeface="Calibri"/>
                        </a:rPr>
                        <a:t>Wicketed Bags</a:t>
                      </a:r>
                      <a:endParaRPr sz="1100"/>
                    </a:p>
                  </a:txBody>
                  <a:tcPr marL="1028700" marR="9525" marT="9525" marB="0" anchor="ctr"/>
                </a:tc>
                <a:extLst>
                  <a:ext uri="{0D108BD9-81ED-4DB2-BD59-A6C34878D82A}">
                    <a16:rowId xmlns:a16="http://schemas.microsoft.com/office/drawing/2014/main" val="10026"/>
                  </a:ext>
                </a:extLst>
              </a:tr>
              <a:tr h="175260">
                <a:tc>
                  <a:txBody>
                    <a:bodyPr/>
                    <a:lstStyle/>
                    <a:p>
                      <a:pPr algn="l"/>
                      <a:r>
                        <a:rPr sz="1100" b="0" i="1">
                          <a:solidFill>
                            <a:srgbClr val="000000"/>
                          </a:solidFill>
                          <a:latin typeface="Calibri"/>
                        </a:rPr>
                        <a:t>3.5.8.2.</a:t>
                      </a:r>
                      <a:r>
                        <a:rPr sz="700" b="0" i="1">
                          <a:solidFill>
                            <a:srgbClr val="000000"/>
                          </a:solidFill>
                          <a:latin typeface="Times New Roman"/>
                        </a:rPr>
                        <a:t>    </a:t>
                      </a:r>
                      <a:r>
                        <a:rPr sz="1100" b="0" i="1">
                          <a:solidFill>
                            <a:srgbClr val="000000"/>
                          </a:solidFill>
                          <a:latin typeface="Calibri"/>
                        </a:rPr>
                        <a:t>Header Bags</a:t>
                      </a:r>
                      <a:endParaRPr sz="1100"/>
                    </a:p>
                  </a:txBody>
                  <a:tcPr marL="1028700" marR="9525" marT="9525" marB="0" anchor="ctr"/>
                </a:tc>
                <a:extLst>
                  <a:ext uri="{0D108BD9-81ED-4DB2-BD59-A6C34878D82A}">
                    <a16:rowId xmlns:a16="http://schemas.microsoft.com/office/drawing/2014/main" val="10027"/>
                  </a:ext>
                </a:extLst>
              </a:tr>
              <a:tr h="175260">
                <a:tc>
                  <a:txBody>
                    <a:bodyPr/>
                    <a:lstStyle/>
                    <a:p>
                      <a:pPr algn="l"/>
                      <a:r>
                        <a:rPr sz="1100" b="0" i="1">
                          <a:solidFill>
                            <a:srgbClr val="000000"/>
                          </a:solidFill>
                          <a:latin typeface="Calibri"/>
                        </a:rPr>
                        <a:t>3.5.8.3.</a:t>
                      </a:r>
                      <a:r>
                        <a:rPr sz="700" b="0" i="1">
                          <a:solidFill>
                            <a:srgbClr val="000000"/>
                          </a:solidFill>
                          <a:latin typeface="Times New Roman"/>
                        </a:rPr>
                        <a:t>    </a:t>
                      </a:r>
                      <a:r>
                        <a:rPr sz="1100" b="0" i="1">
                          <a:solidFill>
                            <a:srgbClr val="000000"/>
                          </a:solidFill>
                          <a:latin typeface="Calibri"/>
                        </a:rPr>
                        <a:t>Perforated Bags</a:t>
                      </a:r>
                      <a:endParaRPr sz="1100"/>
                    </a:p>
                  </a:txBody>
                  <a:tcPr marL="1028700" marR="9525" marT="9525" marB="0" anchor="ctr"/>
                </a:tc>
                <a:extLst>
                  <a:ext uri="{0D108BD9-81ED-4DB2-BD59-A6C34878D82A}">
                    <a16:rowId xmlns:a16="http://schemas.microsoft.com/office/drawing/2014/main" val="10028"/>
                  </a:ext>
                </a:extLst>
              </a:tr>
              <a:tr h="175260">
                <a:tc>
                  <a:txBody>
                    <a:bodyPr/>
                    <a:lstStyle/>
                    <a:p>
                      <a:pPr algn="l"/>
                      <a:r>
                        <a:rPr sz="1100" b="0" i="1">
                          <a:solidFill>
                            <a:srgbClr val="000000"/>
                          </a:solidFill>
                          <a:latin typeface="Calibri"/>
                        </a:rPr>
                        <a:t>3.5.8.4.</a:t>
                      </a:r>
                      <a:r>
                        <a:rPr sz="700" b="0" i="1">
                          <a:solidFill>
                            <a:srgbClr val="000000"/>
                          </a:solidFill>
                          <a:latin typeface="Times New Roman"/>
                        </a:rPr>
                        <a:t>    </a:t>
                      </a:r>
                      <a:r>
                        <a:rPr sz="1100" b="0" i="1">
                          <a:solidFill>
                            <a:srgbClr val="000000"/>
                          </a:solidFill>
                          <a:latin typeface="Calibri"/>
                        </a:rPr>
                        <a:t>Drawstring Bags</a:t>
                      </a:r>
                      <a:endParaRPr sz="1100"/>
                    </a:p>
                  </a:txBody>
                  <a:tcPr marL="1028700" marR="9525" marT="9525" marB="0" anchor="ctr"/>
                </a:tc>
                <a:extLst>
                  <a:ext uri="{0D108BD9-81ED-4DB2-BD59-A6C34878D82A}">
                    <a16:rowId xmlns:a16="http://schemas.microsoft.com/office/drawing/2014/main" val="10029"/>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Table of Contents (2/6)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1">
                          <a:solidFill>
                            <a:srgbClr val="000000"/>
                          </a:solidFill>
                          <a:latin typeface="Calibri"/>
                        </a:rPr>
                        <a:t>3.5.8.5.</a:t>
                      </a:r>
                      <a:r>
                        <a:rPr sz="700" b="0" i="1">
                          <a:solidFill>
                            <a:srgbClr val="000000"/>
                          </a:solidFill>
                          <a:latin typeface="Times New Roman"/>
                        </a:rPr>
                        <a:t>    </a:t>
                      </a:r>
                      <a:r>
                        <a:rPr sz="1100" b="0" i="1">
                          <a:solidFill>
                            <a:srgbClr val="000000"/>
                          </a:solidFill>
                          <a:latin typeface="Calibri"/>
                        </a:rPr>
                        <a:t>Custom Printed Bags</a:t>
                      </a:r>
                      <a:endParaRPr sz="1100"/>
                    </a:p>
                  </a:txBody>
                  <a:tcPr marL="1028700" marR="9525" marT="9525" marB="0" anchor="ctr"/>
                </a:tc>
                <a:extLst>
                  <a:ext uri="{0D108BD9-81ED-4DB2-BD59-A6C34878D82A}">
                    <a16:rowId xmlns:a16="http://schemas.microsoft.com/office/drawing/2014/main" val="10000"/>
                  </a:ext>
                </a:extLst>
              </a:tr>
              <a:tr h="175260">
                <a:tc>
                  <a:txBody>
                    <a:bodyPr/>
                    <a:lstStyle/>
                    <a:p>
                      <a:pPr algn="l"/>
                      <a:r>
                        <a:rPr sz="1100" b="1" i="0">
                          <a:solidFill>
                            <a:srgbClr val="000000"/>
                          </a:solidFill>
                          <a:latin typeface="Calibri"/>
                        </a:rPr>
                        <a:t>4.</a:t>
                      </a:r>
                      <a:r>
                        <a:rPr sz="700" b="1" i="0">
                          <a:solidFill>
                            <a:srgbClr val="000000"/>
                          </a:solidFill>
                          <a:latin typeface="Times New Roman"/>
                        </a:rPr>
                        <a:t>       </a:t>
                      </a:r>
                      <a:r>
                        <a:rPr sz="1100" b="1" i="0">
                          <a:solidFill>
                            <a:srgbClr val="000000"/>
                          </a:solidFill>
                          <a:latin typeface="Calibri"/>
                        </a:rPr>
                        <a:t>Global Market (Value- Volume) Analysis 2021–2036, By Material</a:t>
                      </a:r>
                      <a:endParaRPr sz="1100"/>
                    </a:p>
                  </a:txBody>
                  <a:tcPr marL="171450" marR="9525" marT="9525" marB="0" anchor="ctr"/>
                </a:tc>
                <a:extLst>
                  <a:ext uri="{0D108BD9-81ED-4DB2-BD59-A6C34878D82A}">
                    <a16:rowId xmlns:a16="http://schemas.microsoft.com/office/drawing/2014/main" val="10001"/>
                  </a:ext>
                </a:extLst>
              </a:tr>
              <a:tr h="175260">
                <a:tc>
                  <a:txBody>
                    <a:bodyPr/>
                    <a:lstStyle/>
                    <a:p>
                      <a:pPr algn="l"/>
                      <a:r>
                        <a:rPr sz="1100" b="0" i="0">
                          <a:solidFill>
                            <a:srgbClr val="0070C0"/>
                          </a:solidFill>
                          <a:latin typeface="Calibri"/>
                        </a:rPr>
                        <a:t>4.1.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extLst>
                  <a:ext uri="{0D108BD9-81ED-4DB2-BD59-A6C34878D82A}">
                    <a16:rowId xmlns:a16="http://schemas.microsoft.com/office/drawing/2014/main" val="10002"/>
                  </a:ext>
                </a:extLst>
              </a:tr>
              <a:tr h="175260">
                <a:tc>
                  <a:txBody>
                    <a:bodyPr/>
                    <a:lstStyle/>
                    <a:p>
                      <a:pPr algn="l"/>
                      <a:r>
                        <a:rPr sz="1100" b="0" i="0">
                          <a:solidFill>
                            <a:srgbClr val="0070C0"/>
                          </a:solidFill>
                          <a:latin typeface="Calibri"/>
                        </a:rPr>
                        <a:t>4.2.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03"/>
                  </a:ext>
                </a:extLst>
              </a:tr>
              <a:tr h="175260">
                <a:tc>
                  <a:txBody>
                    <a:bodyPr/>
                    <a:lstStyle/>
                    <a:p>
                      <a:pPr algn="l"/>
                      <a:r>
                        <a:rPr sz="1100" b="0" i="0">
                          <a:solidFill>
                            <a:srgbClr val="0070C0"/>
                          </a:solidFill>
                          <a:latin typeface="Calibri"/>
                        </a:rPr>
                        <a:t>4.3.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04"/>
                  </a:ext>
                </a:extLst>
              </a:tr>
              <a:tr h="175260">
                <a:tc>
                  <a:txBody>
                    <a:bodyPr/>
                    <a:lstStyle/>
                    <a:p>
                      <a:pPr algn="l"/>
                      <a:r>
                        <a:rPr sz="1100" b="0" i="0">
                          <a:solidFill>
                            <a:srgbClr val="0070C0"/>
                          </a:solidFill>
                          <a:latin typeface="Calibri"/>
                        </a:rPr>
                        <a:t>4.4.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05"/>
                  </a:ext>
                </a:extLst>
              </a:tr>
              <a:tr h="175260">
                <a:tc>
                  <a:txBody>
                    <a:bodyPr/>
                    <a:lstStyle/>
                    <a:p>
                      <a:pPr algn="l"/>
                      <a:r>
                        <a:rPr sz="1100" b="0" i="0">
                          <a:solidFill>
                            <a:srgbClr val="0070C0"/>
                          </a:solidFill>
                          <a:latin typeface="Calibri"/>
                        </a:rPr>
                        <a:t>4.5.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extLst>
                  <a:ext uri="{0D108BD9-81ED-4DB2-BD59-A6C34878D82A}">
                    <a16:rowId xmlns:a16="http://schemas.microsoft.com/office/drawing/2014/main" val="10006"/>
                  </a:ext>
                </a:extLst>
              </a:tr>
              <a:tr h="175260">
                <a:tc>
                  <a:txBody>
                    <a:bodyPr/>
                    <a:lstStyle/>
                    <a:p>
                      <a:pPr algn="l"/>
                      <a:r>
                        <a:rPr sz="1100" b="0" i="0">
                          <a:solidFill>
                            <a:srgbClr val="000000"/>
                          </a:solidFill>
                          <a:latin typeface="Calibri"/>
                        </a:rPr>
                        <a:t>4.5.1.</a:t>
                      </a:r>
                      <a:r>
                        <a:rPr sz="700" b="0" i="0">
                          <a:solidFill>
                            <a:srgbClr val="000000"/>
                          </a:solidFill>
                          <a:latin typeface="Times New Roman"/>
                        </a:rPr>
                        <a:t>   </a:t>
                      </a:r>
                      <a:r>
                        <a:rPr sz="1100" b="0" i="0">
                          <a:solidFill>
                            <a:srgbClr val="000000"/>
                          </a:solidFill>
                          <a:latin typeface="Calibri"/>
                        </a:rPr>
                        <a:t>Polyethylene (PE)</a:t>
                      </a:r>
                      <a:endParaRPr sz="1100"/>
                    </a:p>
                  </a:txBody>
                  <a:tcPr marL="771525" marR="9525" marT="9525" marB="0" anchor="ctr"/>
                </a:tc>
                <a:extLst>
                  <a:ext uri="{0D108BD9-81ED-4DB2-BD59-A6C34878D82A}">
                    <a16:rowId xmlns:a16="http://schemas.microsoft.com/office/drawing/2014/main" val="10007"/>
                  </a:ext>
                </a:extLst>
              </a:tr>
              <a:tr h="175260">
                <a:tc>
                  <a:txBody>
                    <a:bodyPr/>
                    <a:lstStyle/>
                    <a:p>
                      <a:pPr algn="l"/>
                      <a:r>
                        <a:rPr sz="1100" b="0" i="0">
                          <a:solidFill>
                            <a:srgbClr val="000000"/>
                          </a:solidFill>
                          <a:latin typeface="Calibri"/>
                        </a:rPr>
                        <a:t>4.5.2.</a:t>
                      </a:r>
                      <a:r>
                        <a:rPr sz="700" b="0" i="0">
                          <a:solidFill>
                            <a:srgbClr val="000000"/>
                          </a:solidFill>
                          <a:latin typeface="Times New Roman"/>
                        </a:rPr>
                        <a:t>   </a:t>
                      </a:r>
                      <a:r>
                        <a:rPr sz="1100" b="0" i="0">
                          <a:solidFill>
                            <a:srgbClr val="000000"/>
                          </a:solidFill>
                          <a:latin typeface="Calibri"/>
                        </a:rPr>
                        <a:t>Low-Density Polyethylene (LDPE)</a:t>
                      </a:r>
                      <a:endParaRPr sz="1100"/>
                    </a:p>
                  </a:txBody>
                  <a:tcPr marL="771525" marR="9525" marT="9525" marB="0" anchor="ctr"/>
                </a:tc>
                <a:extLst>
                  <a:ext uri="{0D108BD9-81ED-4DB2-BD59-A6C34878D82A}">
                    <a16:rowId xmlns:a16="http://schemas.microsoft.com/office/drawing/2014/main" val="10008"/>
                  </a:ext>
                </a:extLst>
              </a:tr>
              <a:tr h="175260">
                <a:tc>
                  <a:txBody>
                    <a:bodyPr/>
                    <a:lstStyle/>
                    <a:p>
                      <a:pPr algn="l"/>
                      <a:r>
                        <a:rPr sz="1100" b="0" i="0">
                          <a:solidFill>
                            <a:srgbClr val="000000"/>
                          </a:solidFill>
                          <a:latin typeface="Calibri"/>
                        </a:rPr>
                        <a:t>4.5.3.</a:t>
                      </a:r>
                      <a:r>
                        <a:rPr sz="700" b="0" i="0">
                          <a:solidFill>
                            <a:srgbClr val="000000"/>
                          </a:solidFill>
                          <a:latin typeface="Times New Roman"/>
                        </a:rPr>
                        <a:t>   </a:t>
                      </a:r>
                      <a:r>
                        <a:rPr sz="1100" b="0" i="0">
                          <a:solidFill>
                            <a:srgbClr val="000000"/>
                          </a:solidFill>
                          <a:latin typeface="Calibri"/>
                        </a:rPr>
                        <a:t>Linear Low-Density Polyethylene (LLDPE)</a:t>
                      </a:r>
                      <a:endParaRPr sz="1100"/>
                    </a:p>
                  </a:txBody>
                  <a:tcPr marL="771525" marR="9525" marT="9525" marB="0" anchor="ctr"/>
                </a:tc>
                <a:extLst>
                  <a:ext uri="{0D108BD9-81ED-4DB2-BD59-A6C34878D82A}">
                    <a16:rowId xmlns:a16="http://schemas.microsoft.com/office/drawing/2014/main" val="10009"/>
                  </a:ext>
                </a:extLst>
              </a:tr>
              <a:tr h="175260">
                <a:tc>
                  <a:txBody>
                    <a:bodyPr/>
                    <a:lstStyle/>
                    <a:p>
                      <a:pPr algn="l"/>
                      <a:r>
                        <a:rPr sz="1100" b="0" i="0">
                          <a:solidFill>
                            <a:srgbClr val="000000"/>
                          </a:solidFill>
                          <a:latin typeface="Calibri"/>
                        </a:rPr>
                        <a:t>4.5.4.</a:t>
                      </a:r>
                      <a:r>
                        <a:rPr sz="700" b="0" i="0">
                          <a:solidFill>
                            <a:srgbClr val="000000"/>
                          </a:solidFill>
                          <a:latin typeface="Times New Roman"/>
                        </a:rPr>
                        <a:t>   </a:t>
                      </a:r>
                      <a:r>
                        <a:rPr sz="1100" b="0" i="0">
                          <a:solidFill>
                            <a:srgbClr val="000000"/>
                          </a:solidFill>
                          <a:latin typeface="Calibri"/>
                        </a:rPr>
                        <a:t>High-Density Polyethylene (HDPE)</a:t>
                      </a:r>
                      <a:endParaRPr sz="1100"/>
                    </a:p>
                  </a:txBody>
                  <a:tcPr marL="771525" marR="9525" marT="9525" marB="0" anchor="ctr"/>
                </a:tc>
                <a:extLst>
                  <a:ext uri="{0D108BD9-81ED-4DB2-BD59-A6C34878D82A}">
                    <a16:rowId xmlns:a16="http://schemas.microsoft.com/office/drawing/2014/main" val="10010"/>
                  </a:ext>
                </a:extLst>
              </a:tr>
              <a:tr h="175260">
                <a:tc>
                  <a:txBody>
                    <a:bodyPr/>
                    <a:lstStyle/>
                    <a:p>
                      <a:pPr algn="l"/>
                      <a:r>
                        <a:rPr sz="1100" b="0" i="0">
                          <a:solidFill>
                            <a:srgbClr val="000000"/>
                          </a:solidFill>
                          <a:latin typeface="Calibri"/>
                        </a:rPr>
                        <a:t>4.5.5.</a:t>
                      </a:r>
                      <a:r>
                        <a:rPr sz="700" b="0" i="0">
                          <a:solidFill>
                            <a:srgbClr val="000000"/>
                          </a:solidFill>
                          <a:latin typeface="Times New Roman"/>
                        </a:rPr>
                        <a:t>   </a:t>
                      </a:r>
                      <a:r>
                        <a:rPr sz="1100" b="0" i="0">
                          <a:solidFill>
                            <a:srgbClr val="000000"/>
                          </a:solidFill>
                          <a:latin typeface="Calibri"/>
                        </a:rPr>
                        <a:t>Medium-Density Polyethylene (MDPE)</a:t>
                      </a:r>
                      <a:endParaRPr sz="1100"/>
                    </a:p>
                  </a:txBody>
                  <a:tcPr marL="771525" marR="9525" marT="9525" marB="0" anchor="ctr"/>
                </a:tc>
                <a:extLst>
                  <a:ext uri="{0D108BD9-81ED-4DB2-BD59-A6C34878D82A}">
                    <a16:rowId xmlns:a16="http://schemas.microsoft.com/office/drawing/2014/main" val="10011"/>
                  </a:ext>
                </a:extLst>
              </a:tr>
              <a:tr h="175260">
                <a:tc>
                  <a:txBody>
                    <a:bodyPr/>
                    <a:lstStyle/>
                    <a:p>
                      <a:pPr algn="l"/>
                      <a:r>
                        <a:rPr sz="1100" b="0" i="0">
                          <a:solidFill>
                            <a:srgbClr val="000000"/>
                          </a:solidFill>
                          <a:latin typeface="Calibri"/>
                        </a:rPr>
                        <a:t>4.5.6.</a:t>
                      </a:r>
                      <a:r>
                        <a:rPr sz="700" b="0" i="0">
                          <a:solidFill>
                            <a:srgbClr val="000000"/>
                          </a:solidFill>
                          <a:latin typeface="Times New Roman"/>
                        </a:rPr>
                        <a:t>   </a:t>
                      </a:r>
                      <a:r>
                        <a:rPr sz="1100" b="0" i="0">
                          <a:solidFill>
                            <a:srgbClr val="000000"/>
                          </a:solidFill>
                          <a:latin typeface="Calibri"/>
                        </a:rPr>
                        <a:t>Polypropylene (PP)</a:t>
                      </a:r>
                      <a:endParaRPr sz="1100"/>
                    </a:p>
                  </a:txBody>
                  <a:tcPr marL="771525" marR="9525" marT="9525" marB="0" anchor="ctr"/>
                </a:tc>
                <a:extLst>
                  <a:ext uri="{0D108BD9-81ED-4DB2-BD59-A6C34878D82A}">
                    <a16:rowId xmlns:a16="http://schemas.microsoft.com/office/drawing/2014/main" val="10012"/>
                  </a:ext>
                </a:extLst>
              </a:tr>
              <a:tr h="175260">
                <a:tc>
                  <a:txBody>
                    <a:bodyPr/>
                    <a:lstStyle/>
                    <a:p>
                      <a:pPr algn="l"/>
                      <a:r>
                        <a:rPr sz="1100" b="0" i="1">
                          <a:solidFill>
                            <a:srgbClr val="000000"/>
                          </a:solidFill>
                          <a:latin typeface="Calibri"/>
                        </a:rPr>
                        <a:t>4.5.6.1.</a:t>
                      </a:r>
                      <a:r>
                        <a:rPr sz="700" b="0" i="1">
                          <a:solidFill>
                            <a:srgbClr val="000000"/>
                          </a:solidFill>
                          <a:latin typeface="Times New Roman"/>
                        </a:rPr>
                        <a:t>    </a:t>
                      </a:r>
                      <a:r>
                        <a:rPr sz="1100" b="0" i="1">
                          <a:solidFill>
                            <a:srgbClr val="000000"/>
                          </a:solidFill>
                          <a:latin typeface="Calibri"/>
                        </a:rPr>
                        <a:t>Cast Polypropylene (CPP)</a:t>
                      </a:r>
                      <a:endParaRPr sz="1100"/>
                    </a:p>
                  </a:txBody>
                  <a:tcPr marL="1028700" marR="9525" marT="9525" marB="0" anchor="ctr"/>
                </a:tc>
                <a:extLst>
                  <a:ext uri="{0D108BD9-81ED-4DB2-BD59-A6C34878D82A}">
                    <a16:rowId xmlns:a16="http://schemas.microsoft.com/office/drawing/2014/main" val="10013"/>
                  </a:ext>
                </a:extLst>
              </a:tr>
              <a:tr h="175260">
                <a:tc>
                  <a:txBody>
                    <a:bodyPr/>
                    <a:lstStyle/>
                    <a:p>
                      <a:pPr algn="l"/>
                      <a:r>
                        <a:rPr sz="1100" b="0" i="1">
                          <a:solidFill>
                            <a:srgbClr val="000000"/>
                          </a:solidFill>
                          <a:latin typeface="Calibri"/>
                        </a:rPr>
                        <a:t>4.5.6.2.</a:t>
                      </a:r>
                      <a:r>
                        <a:rPr sz="700" b="0" i="1">
                          <a:solidFill>
                            <a:srgbClr val="000000"/>
                          </a:solidFill>
                          <a:latin typeface="Times New Roman"/>
                        </a:rPr>
                        <a:t>    </a:t>
                      </a:r>
                      <a:r>
                        <a:rPr sz="1100" b="0" i="1">
                          <a:solidFill>
                            <a:srgbClr val="000000"/>
                          </a:solidFill>
                          <a:latin typeface="Calibri"/>
                        </a:rPr>
                        <a:t>Biaxially Oriented Polypropylene (BOPP)</a:t>
                      </a:r>
                      <a:endParaRPr sz="1100"/>
                    </a:p>
                  </a:txBody>
                  <a:tcPr marL="1028700" marR="9525" marT="9525" marB="0" anchor="ctr"/>
                </a:tc>
                <a:extLst>
                  <a:ext uri="{0D108BD9-81ED-4DB2-BD59-A6C34878D82A}">
                    <a16:rowId xmlns:a16="http://schemas.microsoft.com/office/drawing/2014/main" val="10014"/>
                  </a:ext>
                </a:extLst>
              </a:tr>
              <a:tr h="175260">
                <a:tc>
                  <a:txBody>
                    <a:bodyPr/>
                    <a:lstStyle/>
                    <a:p>
                      <a:pPr algn="l"/>
                      <a:r>
                        <a:rPr sz="1100" b="0" i="1">
                          <a:solidFill>
                            <a:srgbClr val="000000"/>
                          </a:solidFill>
                          <a:latin typeface="Calibri"/>
                        </a:rPr>
                        <a:t>4.5.6.3.</a:t>
                      </a:r>
                      <a:r>
                        <a:rPr sz="700" b="0" i="1">
                          <a:solidFill>
                            <a:srgbClr val="000000"/>
                          </a:solidFill>
                          <a:latin typeface="Times New Roman"/>
                        </a:rPr>
                        <a:t>    </a:t>
                      </a:r>
                      <a:r>
                        <a:rPr sz="1100" b="0" i="1">
                          <a:solidFill>
                            <a:srgbClr val="000000"/>
                          </a:solidFill>
                          <a:latin typeface="Calibri"/>
                        </a:rPr>
                        <a:t>Oriented Polypropylene (OPP)</a:t>
                      </a:r>
                      <a:endParaRPr sz="1100"/>
                    </a:p>
                  </a:txBody>
                  <a:tcPr marL="1028700" marR="9525" marT="9525" marB="0" anchor="ctr"/>
                </a:tc>
                <a:extLst>
                  <a:ext uri="{0D108BD9-81ED-4DB2-BD59-A6C34878D82A}">
                    <a16:rowId xmlns:a16="http://schemas.microsoft.com/office/drawing/2014/main" val="10015"/>
                  </a:ext>
                </a:extLst>
              </a:tr>
              <a:tr h="175260">
                <a:tc>
                  <a:txBody>
                    <a:bodyPr/>
                    <a:lstStyle/>
                    <a:p>
                      <a:pPr algn="l"/>
                      <a:r>
                        <a:rPr sz="1100" b="0" i="0">
                          <a:solidFill>
                            <a:srgbClr val="000000"/>
                          </a:solidFill>
                          <a:latin typeface="Calibri"/>
                        </a:rPr>
                        <a:t>4.5.7.</a:t>
                      </a:r>
                      <a:r>
                        <a:rPr sz="700" b="0" i="0">
                          <a:solidFill>
                            <a:srgbClr val="000000"/>
                          </a:solidFill>
                          <a:latin typeface="Times New Roman"/>
                        </a:rPr>
                        <a:t>   </a:t>
                      </a:r>
                      <a:r>
                        <a:rPr sz="1100" b="0" i="0">
                          <a:solidFill>
                            <a:srgbClr val="000000"/>
                          </a:solidFill>
                          <a:latin typeface="Calibri"/>
                        </a:rPr>
                        <a:t>Recycled Plastics</a:t>
                      </a:r>
                      <a:endParaRPr sz="1100"/>
                    </a:p>
                  </a:txBody>
                  <a:tcPr marL="771525" marR="9525" marT="9525" marB="0" anchor="ctr"/>
                </a:tc>
                <a:extLst>
                  <a:ext uri="{0D108BD9-81ED-4DB2-BD59-A6C34878D82A}">
                    <a16:rowId xmlns:a16="http://schemas.microsoft.com/office/drawing/2014/main" val="10016"/>
                  </a:ext>
                </a:extLst>
              </a:tr>
              <a:tr h="175260">
                <a:tc>
                  <a:txBody>
                    <a:bodyPr/>
                    <a:lstStyle/>
                    <a:p>
                      <a:pPr algn="l"/>
                      <a:r>
                        <a:rPr sz="1100" b="0" i="1">
                          <a:solidFill>
                            <a:srgbClr val="000000"/>
                          </a:solidFill>
                          <a:latin typeface="Calibri"/>
                        </a:rPr>
                        <a:t>4.5.7.1.</a:t>
                      </a:r>
                      <a:r>
                        <a:rPr sz="700" b="0" i="1">
                          <a:solidFill>
                            <a:srgbClr val="000000"/>
                          </a:solidFill>
                          <a:latin typeface="Times New Roman"/>
                        </a:rPr>
                        <a:t>    </a:t>
                      </a:r>
                      <a:r>
                        <a:rPr sz="1100" b="0" i="1">
                          <a:solidFill>
                            <a:srgbClr val="000000"/>
                          </a:solidFill>
                          <a:latin typeface="Calibri"/>
                        </a:rPr>
                        <a:t>Post-Consumer Recycled (PCR)</a:t>
                      </a:r>
                      <a:endParaRPr sz="1100"/>
                    </a:p>
                  </a:txBody>
                  <a:tcPr marL="1028700" marR="9525" marT="9525" marB="0" anchor="ctr"/>
                </a:tc>
                <a:extLst>
                  <a:ext uri="{0D108BD9-81ED-4DB2-BD59-A6C34878D82A}">
                    <a16:rowId xmlns:a16="http://schemas.microsoft.com/office/drawing/2014/main" val="10017"/>
                  </a:ext>
                </a:extLst>
              </a:tr>
              <a:tr h="175260">
                <a:tc>
                  <a:txBody>
                    <a:bodyPr/>
                    <a:lstStyle/>
                    <a:p>
                      <a:pPr algn="l"/>
                      <a:r>
                        <a:rPr sz="1100" b="0" i="1">
                          <a:solidFill>
                            <a:srgbClr val="000000"/>
                          </a:solidFill>
                          <a:latin typeface="Calibri"/>
                        </a:rPr>
                        <a:t>4.5.7.2.</a:t>
                      </a:r>
                      <a:r>
                        <a:rPr sz="700" b="0" i="1">
                          <a:solidFill>
                            <a:srgbClr val="000000"/>
                          </a:solidFill>
                          <a:latin typeface="Times New Roman"/>
                        </a:rPr>
                        <a:t>    </a:t>
                      </a:r>
                      <a:r>
                        <a:rPr sz="1100" b="0" i="1">
                          <a:solidFill>
                            <a:srgbClr val="000000"/>
                          </a:solidFill>
                          <a:latin typeface="Calibri"/>
                        </a:rPr>
                        <a:t>Post-Industrial Recycled (PIR)</a:t>
                      </a:r>
                      <a:endParaRPr sz="1100"/>
                    </a:p>
                  </a:txBody>
                  <a:tcPr marL="1028700" marR="9525" marT="9525" marB="0" anchor="ctr"/>
                </a:tc>
                <a:extLst>
                  <a:ext uri="{0D108BD9-81ED-4DB2-BD59-A6C34878D82A}">
                    <a16:rowId xmlns:a16="http://schemas.microsoft.com/office/drawing/2014/main" val="10018"/>
                  </a:ext>
                </a:extLst>
              </a:tr>
              <a:tr h="175260">
                <a:tc>
                  <a:txBody>
                    <a:bodyPr/>
                    <a:lstStyle/>
                    <a:p>
                      <a:pPr algn="l"/>
                      <a:r>
                        <a:rPr sz="1100" b="0" i="1">
                          <a:solidFill>
                            <a:srgbClr val="000000"/>
                          </a:solidFill>
                          <a:latin typeface="Calibri"/>
                        </a:rPr>
                        <a:t>4.5.7.3.</a:t>
                      </a:r>
                      <a:r>
                        <a:rPr sz="700" b="0" i="1">
                          <a:solidFill>
                            <a:srgbClr val="000000"/>
                          </a:solidFill>
                          <a:latin typeface="Times New Roman"/>
                        </a:rPr>
                        <a:t>    </a:t>
                      </a:r>
                      <a:r>
                        <a:rPr sz="1100" b="0" i="1">
                          <a:solidFill>
                            <a:srgbClr val="000000"/>
                          </a:solidFill>
                          <a:latin typeface="Calibri"/>
                        </a:rPr>
                        <a:t>Mixed Recycled Resin</a:t>
                      </a:r>
                      <a:endParaRPr sz="1100"/>
                    </a:p>
                  </a:txBody>
                  <a:tcPr marL="1028700" marR="9525" marT="9525" marB="0" anchor="ctr"/>
                </a:tc>
                <a:extLst>
                  <a:ext uri="{0D108BD9-81ED-4DB2-BD59-A6C34878D82A}">
                    <a16:rowId xmlns:a16="http://schemas.microsoft.com/office/drawing/2014/main" val="10019"/>
                  </a:ext>
                </a:extLst>
              </a:tr>
              <a:tr h="175260">
                <a:tc>
                  <a:txBody>
                    <a:bodyPr/>
                    <a:lstStyle/>
                    <a:p>
                      <a:pPr algn="l"/>
                      <a:r>
                        <a:rPr sz="1100" b="0" i="0">
                          <a:solidFill>
                            <a:srgbClr val="000000"/>
                          </a:solidFill>
                          <a:latin typeface="Calibri"/>
                        </a:rPr>
                        <a:t>4.5.8.</a:t>
                      </a:r>
                      <a:r>
                        <a:rPr sz="700" b="0" i="0">
                          <a:solidFill>
                            <a:srgbClr val="000000"/>
                          </a:solidFill>
                          <a:latin typeface="Times New Roman"/>
                        </a:rPr>
                        <a:t>   </a:t>
                      </a:r>
                      <a:r>
                        <a:rPr sz="1100" b="0" i="0">
                          <a:solidFill>
                            <a:srgbClr val="000000"/>
                          </a:solidFill>
                          <a:latin typeface="Calibri"/>
                        </a:rPr>
                        <a:t>Bio-Based Materials</a:t>
                      </a:r>
                      <a:endParaRPr sz="1100"/>
                    </a:p>
                  </a:txBody>
                  <a:tcPr marL="771525" marR="9525" marT="9525" marB="0" anchor="ctr"/>
                </a:tc>
                <a:extLst>
                  <a:ext uri="{0D108BD9-81ED-4DB2-BD59-A6C34878D82A}">
                    <a16:rowId xmlns:a16="http://schemas.microsoft.com/office/drawing/2014/main" val="10020"/>
                  </a:ext>
                </a:extLst>
              </a:tr>
              <a:tr h="175260">
                <a:tc>
                  <a:txBody>
                    <a:bodyPr/>
                    <a:lstStyle/>
                    <a:p>
                      <a:pPr algn="l"/>
                      <a:r>
                        <a:rPr sz="1100" b="0" i="1">
                          <a:solidFill>
                            <a:srgbClr val="000000"/>
                          </a:solidFill>
                          <a:latin typeface="Calibri"/>
                        </a:rPr>
                        <a:t>4.5.8.1.</a:t>
                      </a:r>
                      <a:r>
                        <a:rPr sz="700" b="0" i="1">
                          <a:solidFill>
                            <a:srgbClr val="000000"/>
                          </a:solidFill>
                          <a:latin typeface="Times New Roman"/>
                        </a:rPr>
                        <a:t>    </a:t>
                      </a:r>
                      <a:r>
                        <a:rPr sz="1100" b="0" i="1">
                          <a:solidFill>
                            <a:srgbClr val="000000"/>
                          </a:solidFill>
                          <a:latin typeface="Calibri"/>
                        </a:rPr>
                        <a:t>PLA</a:t>
                      </a:r>
                      <a:endParaRPr sz="1100"/>
                    </a:p>
                  </a:txBody>
                  <a:tcPr marL="1028700" marR="9525" marT="9525" marB="0" anchor="ctr"/>
                </a:tc>
                <a:extLst>
                  <a:ext uri="{0D108BD9-81ED-4DB2-BD59-A6C34878D82A}">
                    <a16:rowId xmlns:a16="http://schemas.microsoft.com/office/drawing/2014/main" val="10021"/>
                  </a:ext>
                </a:extLst>
              </a:tr>
              <a:tr h="175260">
                <a:tc>
                  <a:txBody>
                    <a:bodyPr/>
                    <a:lstStyle/>
                    <a:p>
                      <a:pPr algn="l"/>
                      <a:r>
                        <a:rPr sz="1100" b="0" i="1">
                          <a:solidFill>
                            <a:srgbClr val="000000"/>
                          </a:solidFill>
                          <a:latin typeface="Calibri"/>
                        </a:rPr>
                        <a:t>4.5.8.2.</a:t>
                      </a:r>
                      <a:r>
                        <a:rPr sz="700" b="0" i="1">
                          <a:solidFill>
                            <a:srgbClr val="000000"/>
                          </a:solidFill>
                          <a:latin typeface="Times New Roman"/>
                        </a:rPr>
                        <a:t>    </a:t>
                      </a:r>
                      <a:r>
                        <a:rPr sz="1100" b="0" i="1">
                          <a:solidFill>
                            <a:srgbClr val="000000"/>
                          </a:solidFill>
                          <a:latin typeface="Calibri"/>
                        </a:rPr>
                        <a:t>PHA</a:t>
                      </a:r>
                      <a:endParaRPr sz="1100"/>
                    </a:p>
                  </a:txBody>
                  <a:tcPr marL="1028700" marR="9525" marT="9525" marB="0" anchor="ctr"/>
                </a:tc>
                <a:extLst>
                  <a:ext uri="{0D108BD9-81ED-4DB2-BD59-A6C34878D82A}">
                    <a16:rowId xmlns:a16="http://schemas.microsoft.com/office/drawing/2014/main" val="10022"/>
                  </a:ext>
                </a:extLst>
              </a:tr>
              <a:tr h="175260">
                <a:tc>
                  <a:txBody>
                    <a:bodyPr/>
                    <a:lstStyle/>
                    <a:p>
                      <a:pPr algn="l"/>
                      <a:r>
                        <a:rPr sz="1100" b="0" i="1">
                          <a:solidFill>
                            <a:srgbClr val="000000"/>
                          </a:solidFill>
                          <a:latin typeface="Calibri"/>
                        </a:rPr>
                        <a:t>4.5.8.3.</a:t>
                      </a:r>
                      <a:r>
                        <a:rPr sz="700" b="0" i="1">
                          <a:solidFill>
                            <a:srgbClr val="000000"/>
                          </a:solidFill>
                          <a:latin typeface="Times New Roman"/>
                        </a:rPr>
                        <a:t>    </a:t>
                      </a:r>
                      <a:r>
                        <a:rPr sz="1100" b="0" i="1">
                          <a:solidFill>
                            <a:srgbClr val="000000"/>
                          </a:solidFill>
                          <a:latin typeface="Calibri"/>
                        </a:rPr>
                        <a:t>Starch Blend</a:t>
                      </a:r>
                      <a:endParaRPr sz="1100"/>
                    </a:p>
                  </a:txBody>
                  <a:tcPr marL="1028700" marR="9525" marT="9525" marB="0" anchor="ctr"/>
                </a:tc>
                <a:extLst>
                  <a:ext uri="{0D108BD9-81ED-4DB2-BD59-A6C34878D82A}">
                    <a16:rowId xmlns:a16="http://schemas.microsoft.com/office/drawing/2014/main" val="10023"/>
                  </a:ext>
                </a:extLst>
              </a:tr>
              <a:tr h="175260">
                <a:tc>
                  <a:txBody>
                    <a:bodyPr/>
                    <a:lstStyle/>
                    <a:p>
                      <a:pPr algn="l"/>
                      <a:r>
                        <a:rPr sz="1100" b="0" i="1">
                          <a:solidFill>
                            <a:srgbClr val="000000"/>
                          </a:solidFill>
                          <a:latin typeface="Calibri"/>
                        </a:rPr>
                        <a:t>4.5.8.4.</a:t>
                      </a:r>
                      <a:r>
                        <a:rPr sz="700" b="0" i="1">
                          <a:solidFill>
                            <a:srgbClr val="000000"/>
                          </a:solidFill>
                          <a:latin typeface="Times New Roman"/>
                        </a:rPr>
                        <a:t>    </a:t>
                      </a:r>
                      <a:r>
                        <a:rPr sz="1100" b="0" i="1">
                          <a:solidFill>
                            <a:srgbClr val="000000"/>
                          </a:solidFill>
                          <a:latin typeface="Calibri"/>
                        </a:rPr>
                        <a:t>PBAT Blend</a:t>
                      </a:r>
                      <a:endParaRPr sz="1100"/>
                    </a:p>
                  </a:txBody>
                  <a:tcPr marL="1028700" marR="9525" marT="9525" marB="0" anchor="ctr"/>
                </a:tc>
                <a:extLst>
                  <a:ext uri="{0D108BD9-81ED-4DB2-BD59-A6C34878D82A}">
                    <a16:rowId xmlns:a16="http://schemas.microsoft.com/office/drawing/2014/main" val="10024"/>
                  </a:ext>
                </a:extLst>
              </a:tr>
              <a:tr h="175260">
                <a:tc>
                  <a:txBody>
                    <a:bodyPr/>
                    <a:lstStyle/>
                    <a:p>
                      <a:pPr algn="l"/>
                      <a:r>
                        <a:rPr sz="1100" b="0" i="1">
                          <a:solidFill>
                            <a:srgbClr val="000000"/>
                          </a:solidFill>
                          <a:latin typeface="Calibri"/>
                        </a:rPr>
                        <a:t>4.5.8.5.</a:t>
                      </a:r>
                      <a:r>
                        <a:rPr sz="700" b="0" i="1">
                          <a:solidFill>
                            <a:srgbClr val="000000"/>
                          </a:solidFill>
                          <a:latin typeface="Times New Roman"/>
                        </a:rPr>
                        <a:t>    </a:t>
                      </a:r>
                      <a:r>
                        <a:rPr sz="1100" b="0" i="1">
                          <a:solidFill>
                            <a:srgbClr val="000000"/>
                          </a:solidFill>
                          <a:latin typeface="Calibri"/>
                        </a:rPr>
                        <a:t>Cellulose-Based Films</a:t>
                      </a:r>
                      <a:endParaRPr sz="1100"/>
                    </a:p>
                  </a:txBody>
                  <a:tcPr marL="1028700" marR="9525" marT="9525" marB="0" anchor="ctr"/>
                </a:tc>
                <a:extLst>
                  <a:ext uri="{0D108BD9-81ED-4DB2-BD59-A6C34878D82A}">
                    <a16:rowId xmlns:a16="http://schemas.microsoft.com/office/drawing/2014/main" val="10025"/>
                  </a:ext>
                </a:extLst>
              </a:tr>
              <a:tr h="175260">
                <a:tc>
                  <a:txBody>
                    <a:bodyPr/>
                    <a:lstStyle/>
                    <a:p>
                      <a:pPr algn="l"/>
                      <a:r>
                        <a:rPr sz="1100" b="0" i="0">
                          <a:solidFill>
                            <a:srgbClr val="000000"/>
                          </a:solidFill>
                          <a:latin typeface="Calibri"/>
                        </a:rPr>
                        <a:t>4.5.9.</a:t>
                      </a:r>
                      <a:r>
                        <a:rPr sz="700" b="0" i="0">
                          <a:solidFill>
                            <a:srgbClr val="000000"/>
                          </a:solidFill>
                          <a:latin typeface="Times New Roman"/>
                        </a:rPr>
                        <a:t>   </a:t>
                      </a:r>
                      <a:r>
                        <a:rPr sz="1100" b="0" i="0">
                          <a:solidFill>
                            <a:srgbClr val="000000"/>
                          </a:solidFill>
                          <a:latin typeface="Calibri"/>
                        </a:rPr>
                        <a:t>Specialty Materials</a:t>
                      </a:r>
                      <a:endParaRPr sz="1100"/>
                    </a:p>
                  </a:txBody>
                  <a:tcPr marL="771525" marR="9525" marT="9525" marB="0" anchor="ctr"/>
                </a:tc>
                <a:extLst>
                  <a:ext uri="{0D108BD9-81ED-4DB2-BD59-A6C34878D82A}">
                    <a16:rowId xmlns:a16="http://schemas.microsoft.com/office/drawing/2014/main" val="10026"/>
                  </a:ext>
                </a:extLst>
              </a:tr>
              <a:tr h="175260">
                <a:tc>
                  <a:txBody>
                    <a:bodyPr/>
                    <a:lstStyle/>
                    <a:p>
                      <a:pPr algn="l"/>
                      <a:r>
                        <a:rPr sz="1100" b="0" i="1">
                          <a:solidFill>
                            <a:srgbClr val="000000"/>
                          </a:solidFill>
                          <a:latin typeface="Calibri"/>
                        </a:rPr>
                        <a:t>4.5.9.1.</a:t>
                      </a:r>
                      <a:r>
                        <a:rPr sz="700" b="0" i="1">
                          <a:solidFill>
                            <a:srgbClr val="000000"/>
                          </a:solidFill>
                          <a:latin typeface="Times New Roman"/>
                        </a:rPr>
                        <a:t>    </a:t>
                      </a:r>
                      <a:r>
                        <a:rPr sz="1100" b="0" i="1">
                          <a:solidFill>
                            <a:srgbClr val="000000"/>
                          </a:solidFill>
                          <a:latin typeface="Calibri"/>
                        </a:rPr>
                        <a:t>EVA</a:t>
                      </a:r>
                      <a:endParaRPr sz="1100"/>
                    </a:p>
                  </a:txBody>
                  <a:tcPr marL="1028700" marR="9525" marT="9525" marB="0" anchor="ctr"/>
                </a:tc>
                <a:extLst>
                  <a:ext uri="{0D108BD9-81ED-4DB2-BD59-A6C34878D82A}">
                    <a16:rowId xmlns:a16="http://schemas.microsoft.com/office/drawing/2014/main" val="10027"/>
                  </a:ext>
                </a:extLst>
              </a:tr>
              <a:tr h="175260">
                <a:tc>
                  <a:txBody>
                    <a:bodyPr/>
                    <a:lstStyle/>
                    <a:p>
                      <a:pPr algn="l"/>
                      <a:r>
                        <a:rPr sz="1100" b="0" i="1">
                          <a:solidFill>
                            <a:srgbClr val="000000"/>
                          </a:solidFill>
                          <a:latin typeface="Calibri"/>
                        </a:rPr>
                        <a:t>4.5.9.2.</a:t>
                      </a:r>
                      <a:r>
                        <a:rPr sz="700" b="0" i="1">
                          <a:solidFill>
                            <a:srgbClr val="000000"/>
                          </a:solidFill>
                          <a:latin typeface="Times New Roman"/>
                        </a:rPr>
                        <a:t>    </a:t>
                      </a:r>
                      <a:r>
                        <a:rPr sz="1100" b="0" i="1">
                          <a:solidFill>
                            <a:srgbClr val="000000"/>
                          </a:solidFill>
                          <a:latin typeface="Calibri"/>
                        </a:rPr>
                        <a:t>Coextruded Multilayer Films</a:t>
                      </a:r>
                      <a:endParaRPr sz="1100"/>
                    </a:p>
                  </a:txBody>
                  <a:tcPr marL="1028700" marR="9525" marT="9525" marB="0" anchor="ctr"/>
                </a:tc>
                <a:extLst>
                  <a:ext uri="{0D108BD9-81ED-4DB2-BD59-A6C34878D82A}">
                    <a16:rowId xmlns:a16="http://schemas.microsoft.com/office/drawing/2014/main" val="10028"/>
                  </a:ext>
                </a:extLst>
              </a:tr>
              <a:tr h="175260">
                <a:tc>
                  <a:txBody>
                    <a:bodyPr/>
                    <a:lstStyle/>
                    <a:p>
                      <a:pPr algn="l"/>
                      <a:r>
                        <a:rPr sz="1100" b="0" i="1">
                          <a:solidFill>
                            <a:srgbClr val="000000"/>
                          </a:solidFill>
                          <a:latin typeface="Calibri"/>
                        </a:rPr>
                        <a:t>4.5.9.3.</a:t>
                      </a:r>
                      <a:r>
                        <a:rPr sz="700" b="0" i="1">
                          <a:solidFill>
                            <a:srgbClr val="000000"/>
                          </a:solidFill>
                          <a:latin typeface="Times New Roman"/>
                        </a:rPr>
                        <a:t>    </a:t>
                      </a:r>
                      <a:r>
                        <a:rPr sz="1100" b="0" i="1">
                          <a:solidFill>
                            <a:srgbClr val="000000"/>
                          </a:solidFill>
                          <a:latin typeface="Calibri"/>
                        </a:rPr>
                        <a:t>Barrier Films</a:t>
                      </a:r>
                      <a:endParaRPr sz="1100"/>
                    </a:p>
                  </a:txBody>
                  <a:tcPr marL="1028700" marR="9525" marT="9525" marB="0" anchor="ctr"/>
                </a:tc>
                <a:extLst>
                  <a:ext uri="{0D108BD9-81ED-4DB2-BD59-A6C34878D82A}">
                    <a16:rowId xmlns:a16="http://schemas.microsoft.com/office/drawing/2014/main" val="10029"/>
                  </a:ext>
                </a:extLst>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1">
                          <a:solidFill>
                            <a:srgbClr val="000000"/>
                          </a:solidFill>
                          <a:latin typeface="Calibri"/>
                        </a:rPr>
                        <a:t>4.5.9.4.</a:t>
                      </a:r>
                      <a:r>
                        <a:rPr sz="700" b="0" i="1">
                          <a:solidFill>
                            <a:srgbClr val="000000"/>
                          </a:solidFill>
                          <a:latin typeface="Times New Roman"/>
                        </a:rPr>
                        <a:t>    </a:t>
                      </a:r>
                      <a:r>
                        <a:rPr sz="1100" b="0" i="1">
                          <a:solidFill>
                            <a:srgbClr val="000000"/>
                          </a:solidFill>
                          <a:latin typeface="Calibri"/>
                        </a:rPr>
                        <a:t>Conductive Polymers</a:t>
                      </a:r>
                      <a:endParaRPr sz="1100"/>
                    </a:p>
                  </a:txBody>
                  <a:tcPr marL="1028700" marR="9525" marT="9525" marB="0" anchor="ctr"/>
                </a:tc>
                <a:extLst>
                  <a:ext uri="{0D108BD9-81ED-4DB2-BD59-A6C34878D82A}">
                    <a16:rowId xmlns:a16="http://schemas.microsoft.com/office/drawing/2014/main" val="10000"/>
                  </a:ext>
                </a:extLst>
              </a:tr>
              <a:tr h="175260">
                <a:tc>
                  <a:txBody>
                    <a:bodyPr/>
                    <a:lstStyle/>
                    <a:p>
                      <a:pPr algn="l"/>
                      <a:r>
                        <a:rPr sz="1100" b="1" i="0">
                          <a:solidFill>
                            <a:srgbClr val="000000"/>
                          </a:solidFill>
                          <a:latin typeface="Calibri"/>
                        </a:rPr>
                        <a:t>5.</a:t>
                      </a:r>
                      <a:r>
                        <a:rPr sz="700" b="1" i="0">
                          <a:solidFill>
                            <a:srgbClr val="000000"/>
                          </a:solidFill>
                          <a:latin typeface="Times New Roman"/>
                        </a:rPr>
                        <a:t>       </a:t>
                      </a:r>
                      <a:r>
                        <a:rPr sz="1100" b="1" i="0">
                          <a:solidFill>
                            <a:srgbClr val="000000"/>
                          </a:solidFill>
                          <a:latin typeface="Calibri"/>
                        </a:rPr>
                        <a:t>Global Market (Value- Volume) Analysis 2021–2036, By End-Use Industry</a:t>
                      </a:r>
                      <a:endParaRPr sz="1100"/>
                    </a:p>
                  </a:txBody>
                  <a:tcPr marL="171450" marR="9525" marT="9525" marB="0" anchor="ctr"/>
                </a:tc>
                <a:extLst>
                  <a:ext uri="{0D108BD9-81ED-4DB2-BD59-A6C34878D82A}">
                    <a16:rowId xmlns:a16="http://schemas.microsoft.com/office/drawing/2014/main" val="10001"/>
                  </a:ext>
                </a:extLst>
              </a:tr>
              <a:tr h="175260">
                <a:tc>
                  <a:txBody>
                    <a:bodyPr/>
                    <a:lstStyle/>
                    <a:p>
                      <a:pPr algn="l"/>
                      <a:r>
                        <a:rPr sz="1100" b="0" i="0">
                          <a:solidFill>
                            <a:srgbClr val="0070C0"/>
                          </a:solidFill>
                          <a:latin typeface="Calibri"/>
                        </a:rPr>
                        <a:t>5.1.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extLst>
                  <a:ext uri="{0D108BD9-81ED-4DB2-BD59-A6C34878D82A}">
                    <a16:rowId xmlns:a16="http://schemas.microsoft.com/office/drawing/2014/main" val="10002"/>
                  </a:ext>
                </a:extLst>
              </a:tr>
              <a:tr h="175260">
                <a:tc>
                  <a:txBody>
                    <a:bodyPr/>
                    <a:lstStyle/>
                    <a:p>
                      <a:pPr algn="l"/>
                      <a:r>
                        <a:rPr sz="1100" b="0" i="0">
                          <a:solidFill>
                            <a:srgbClr val="0070C0"/>
                          </a:solidFill>
                          <a:latin typeface="Calibri"/>
                        </a:rPr>
                        <a:t>5.2.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03"/>
                  </a:ext>
                </a:extLst>
              </a:tr>
              <a:tr h="175260">
                <a:tc>
                  <a:txBody>
                    <a:bodyPr/>
                    <a:lstStyle/>
                    <a:p>
                      <a:pPr algn="l"/>
                      <a:r>
                        <a:rPr sz="1100" b="0" i="0">
                          <a:solidFill>
                            <a:srgbClr val="0070C0"/>
                          </a:solidFill>
                          <a:latin typeface="Calibri"/>
                        </a:rPr>
                        <a:t>5.3.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04"/>
                  </a:ext>
                </a:extLst>
              </a:tr>
              <a:tr h="175260">
                <a:tc>
                  <a:txBody>
                    <a:bodyPr/>
                    <a:lstStyle/>
                    <a:p>
                      <a:pPr algn="l"/>
                      <a:r>
                        <a:rPr sz="1100" b="0" i="0">
                          <a:solidFill>
                            <a:srgbClr val="0070C0"/>
                          </a:solidFill>
                          <a:latin typeface="Calibri"/>
                        </a:rPr>
                        <a:t>5.4.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05"/>
                  </a:ext>
                </a:extLst>
              </a:tr>
              <a:tr h="175260">
                <a:tc>
                  <a:txBody>
                    <a:bodyPr/>
                    <a:lstStyle/>
                    <a:p>
                      <a:pPr algn="l"/>
                      <a:r>
                        <a:rPr sz="1100" b="0" i="0">
                          <a:solidFill>
                            <a:srgbClr val="0070C0"/>
                          </a:solidFill>
                          <a:latin typeface="Calibri"/>
                        </a:rPr>
                        <a:t>5.5.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extLst>
                  <a:ext uri="{0D108BD9-81ED-4DB2-BD59-A6C34878D82A}">
                    <a16:rowId xmlns:a16="http://schemas.microsoft.com/office/drawing/2014/main" val="10006"/>
                  </a:ext>
                </a:extLst>
              </a:tr>
              <a:tr h="175260">
                <a:tc>
                  <a:txBody>
                    <a:bodyPr/>
                    <a:lstStyle/>
                    <a:p>
                      <a:pPr algn="l"/>
                      <a:r>
                        <a:rPr sz="1100" b="0" i="0">
                          <a:solidFill>
                            <a:srgbClr val="000000"/>
                          </a:solidFill>
                          <a:latin typeface="Calibri"/>
                        </a:rPr>
                        <a:t>5.5.1.</a:t>
                      </a:r>
                      <a:r>
                        <a:rPr sz="700" b="0" i="0">
                          <a:solidFill>
                            <a:srgbClr val="000000"/>
                          </a:solidFill>
                          <a:latin typeface="Times New Roman"/>
                        </a:rPr>
                        <a:t>   </a:t>
                      </a:r>
                      <a:r>
                        <a:rPr sz="1100" b="0" i="0">
                          <a:solidFill>
                            <a:srgbClr val="000000"/>
                          </a:solidFill>
                          <a:latin typeface="Calibri"/>
                        </a:rPr>
                        <a:t>Food &amp; Beverage</a:t>
                      </a:r>
                      <a:endParaRPr sz="1100"/>
                    </a:p>
                  </a:txBody>
                  <a:tcPr marL="771525" marR="9525" marT="9525" marB="0" anchor="ctr"/>
                </a:tc>
                <a:extLst>
                  <a:ext uri="{0D108BD9-81ED-4DB2-BD59-A6C34878D82A}">
                    <a16:rowId xmlns:a16="http://schemas.microsoft.com/office/drawing/2014/main" val="10007"/>
                  </a:ext>
                </a:extLst>
              </a:tr>
              <a:tr h="175260">
                <a:tc>
                  <a:txBody>
                    <a:bodyPr/>
                    <a:lstStyle/>
                    <a:p>
                      <a:pPr algn="l"/>
                      <a:r>
                        <a:rPr sz="1100" b="0" i="1">
                          <a:solidFill>
                            <a:srgbClr val="000000"/>
                          </a:solidFill>
                          <a:latin typeface="Calibri"/>
                        </a:rPr>
                        <a:t>5.5.1.1.</a:t>
                      </a:r>
                      <a:r>
                        <a:rPr sz="700" b="0" i="1">
                          <a:solidFill>
                            <a:srgbClr val="000000"/>
                          </a:solidFill>
                          <a:latin typeface="Times New Roman"/>
                        </a:rPr>
                        <a:t>    </a:t>
                      </a:r>
                      <a:r>
                        <a:rPr sz="1100" b="0" i="1">
                          <a:solidFill>
                            <a:srgbClr val="000000"/>
                          </a:solidFill>
                          <a:latin typeface="Calibri"/>
                        </a:rPr>
                        <a:t>Fresh Produce</a:t>
                      </a:r>
                      <a:endParaRPr sz="1100"/>
                    </a:p>
                  </a:txBody>
                  <a:tcPr marL="1028700" marR="9525" marT="9525" marB="0" anchor="ctr"/>
                </a:tc>
                <a:extLst>
                  <a:ext uri="{0D108BD9-81ED-4DB2-BD59-A6C34878D82A}">
                    <a16:rowId xmlns:a16="http://schemas.microsoft.com/office/drawing/2014/main" val="10008"/>
                  </a:ext>
                </a:extLst>
              </a:tr>
              <a:tr h="175260">
                <a:tc>
                  <a:txBody>
                    <a:bodyPr/>
                    <a:lstStyle/>
                    <a:p>
                      <a:pPr algn="l"/>
                      <a:r>
                        <a:rPr sz="1100" b="0" i="1">
                          <a:solidFill>
                            <a:srgbClr val="000000"/>
                          </a:solidFill>
                          <a:latin typeface="Calibri"/>
                        </a:rPr>
                        <a:t>5.5.1.2.</a:t>
                      </a:r>
                      <a:r>
                        <a:rPr sz="700" b="0" i="1">
                          <a:solidFill>
                            <a:srgbClr val="000000"/>
                          </a:solidFill>
                          <a:latin typeface="Times New Roman"/>
                        </a:rPr>
                        <a:t>    </a:t>
                      </a:r>
                      <a:r>
                        <a:rPr sz="1100" b="0" i="1">
                          <a:solidFill>
                            <a:srgbClr val="000000"/>
                          </a:solidFill>
                          <a:latin typeface="Calibri"/>
                        </a:rPr>
                        <a:t>Frozen Food</a:t>
                      </a:r>
                      <a:endParaRPr sz="1100"/>
                    </a:p>
                  </a:txBody>
                  <a:tcPr marL="1028700" marR="9525" marT="9525" marB="0" anchor="ctr"/>
                </a:tc>
                <a:extLst>
                  <a:ext uri="{0D108BD9-81ED-4DB2-BD59-A6C34878D82A}">
                    <a16:rowId xmlns:a16="http://schemas.microsoft.com/office/drawing/2014/main" val="10009"/>
                  </a:ext>
                </a:extLst>
              </a:tr>
              <a:tr h="175260">
                <a:tc>
                  <a:txBody>
                    <a:bodyPr/>
                    <a:lstStyle/>
                    <a:p>
                      <a:pPr algn="l"/>
                      <a:r>
                        <a:rPr sz="1100" b="0" i="1">
                          <a:solidFill>
                            <a:srgbClr val="000000"/>
                          </a:solidFill>
                          <a:latin typeface="Calibri"/>
                        </a:rPr>
                        <a:t>5.5.1.3.</a:t>
                      </a:r>
                      <a:r>
                        <a:rPr sz="700" b="0" i="1">
                          <a:solidFill>
                            <a:srgbClr val="000000"/>
                          </a:solidFill>
                          <a:latin typeface="Times New Roman"/>
                        </a:rPr>
                        <a:t>    </a:t>
                      </a:r>
                      <a:r>
                        <a:rPr sz="1100" b="0" i="1">
                          <a:solidFill>
                            <a:srgbClr val="000000"/>
                          </a:solidFill>
                          <a:latin typeface="Calibri"/>
                        </a:rPr>
                        <a:t>Dairy Products</a:t>
                      </a:r>
                      <a:endParaRPr sz="1100"/>
                    </a:p>
                  </a:txBody>
                  <a:tcPr marL="1028700" marR="9525" marT="9525" marB="0" anchor="ctr"/>
                </a:tc>
                <a:extLst>
                  <a:ext uri="{0D108BD9-81ED-4DB2-BD59-A6C34878D82A}">
                    <a16:rowId xmlns:a16="http://schemas.microsoft.com/office/drawing/2014/main" val="10010"/>
                  </a:ext>
                </a:extLst>
              </a:tr>
              <a:tr h="175260">
                <a:tc>
                  <a:txBody>
                    <a:bodyPr/>
                    <a:lstStyle/>
                    <a:p>
                      <a:pPr algn="l"/>
                      <a:r>
                        <a:rPr sz="1100" b="0" i="1">
                          <a:solidFill>
                            <a:srgbClr val="000000"/>
                          </a:solidFill>
                          <a:latin typeface="Calibri"/>
                        </a:rPr>
                        <a:t>5.5.1.4.</a:t>
                      </a:r>
                      <a:r>
                        <a:rPr sz="700" b="0" i="1">
                          <a:solidFill>
                            <a:srgbClr val="000000"/>
                          </a:solidFill>
                          <a:latin typeface="Times New Roman"/>
                        </a:rPr>
                        <a:t>    </a:t>
                      </a:r>
                      <a:r>
                        <a:rPr sz="1100" b="0" i="1">
                          <a:solidFill>
                            <a:srgbClr val="000000"/>
                          </a:solidFill>
                          <a:latin typeface="Calibri"/>
                        </a:rPr>
                        <a:t>Bakery</a:t>
                      </a:r>
                      <a:endParaRPr sz="1100"/>
                    </a:p>
                  </a:txBody>
                  <a:tcPr marL="1028700" marR="9525" marT="9525" marB="0" anchor="ctr"/>
                </a:tc>
                <a:extLst>
                  <a:ext uri="{0D108BD9-81ED-4DB2-BD59-A6C34878D82A}">
                    <a16:rowId xmlns:a16="http://schemas.microsoft.com/office/drawing/2014/main" val="10011"/>
                  </a:ext>
                </a:extLst>
              </a:tr>
              <a:tr h="175260">
                <a:tc>
                  <a:txBody>
                    <a:bodyPr/>
                    <a:lstStyle/>
                    <a:p>
                      <a:pPr algn="l"/>
                      <a:r>
                        <a:rPr sz="1100" b="0" i="1">
                          <a:solidFill>
                            <a:srgbClr val="000000"/>
                          </a:solidFill>
                          <a:latin typeface="Calibri"/>
                        </a:rPr>
                        <a:t>5.5.1.5.</a:t>
                      </a:r>
                      <a:r>
                        <a:rPr sz="700" b="0" i="1">
                          <a:solidFill>
                            <a:srgbClr val="000000"/>
                          </a:solidFill>
                          <a:latin typeface="Times New Roman"/>
                        </a:rPr>
                        <a:t>    </a:t>
                      </a:r>
                      <a:r>
                        <a:rPr sz="1100" b="0" i="1">
                          <a:solidFill>
                            <a:srgbClr val="000000"/>
                          </a:solidFill>
                          <a:latin typeface="Calibri"/>
                        </a:rPr>
                        <a:t>Meat &amp; Poultry</a:t>
                      </a:r>
                      <a:endParaRPr sz="1100"/>
                    </a:p>
                  </a:txBody>
                  <a:tcPr marL="1028700" marR="9525" marT="9525" marB="0" anchor="ctr"/>
                </a:tc>
                <a:extLst>
                  <a:ext uri="{0D108BD9-81ED-4DB2-BD59-A6C34878D82A}">
                    <a16:rowId xmlns:a16="http://schemas.microsoft.com/office/drawing/2014/main" val="10012"/>
                  </a:ext>
                </a:extLst>
              </a:tr>
              <a:tr h="175260">
                <a:tc>
                  <a:txBody>
                    <a:bodyPr/>
                    <a:lstStyle/>
                    <a:p>
                      <a:pPr algn="l"/>
                      <a:r>
                        <a:rPr sz="1100" b="0" i="1">
                          <a:solidFill>
                            <a:srgbClr val="000000"/>
                          </a:solidFill>
                          <a:latin typeface="Calibri"/>
                        </a:rPr>
                        <a:t>5.5.1.6.</a:t>
                      </a:r>
                      <a:r>
                        <a:rPr sz="700" b="0" i="1">
                          <a:solidFill>
                            <a:srgbClr val="000000"/>
                          </a:solidFill>
                          <a:latin typeface="Times New Roman"/>
                        </a:rPr>
                        <a:t>    </a:t>
                      </a:r>
                      <a:r>
                        <a:rPr sz="1100" b="0" i="1">
                          <a:solidFill>
                            <a:srgbClr val="000000"/>
                          </a:solidFill>
                          <a:latin typeface="Calibri"/>
                        </a:rPr>
                        <a:t>Seafood</a:t>
                      </a:r>
                      <a:endParaRPr sz="1100"/>
                    </a:p>
                  </a:txBody>
                  <a:tcPr marL="1028700" marR="9525" marT="9525" marB="0" anchor="ctr"/>
                </a:tc>
                <a:extLst>
                  <a:ext uri="{0D108BD9-81ED-4DB2-BD59-A6C34878D82A}">
                    <a16:rowId xmlns:a16="http://schemas.microsoft.com/office/drawing/2014/main" val="10013"/>
                  </a:ext>
                </a:extLst>
              </a:tr>
              <a:tr h="175260">
                <a:tc>
                  <a:txBody>
                    <a:bodyPr/>
                    <a:lstStyle/>
                    <a:p>
                      <a:pPr algn="l"/>
                      <a:r>
                        <a:rPr sz="1100" b="0" i="1">
                          <a:solidFill>
                            <a:srgbClr val="000000"/>
                          </a:solidFill>
                          <a:latin typeface="Calibri"/>
                        </a:rPr>
                        <a:t>5.5.1.7.</a:t>
                      </a:r>
                      <a:r>
                        <a:rPr sz="700" b="0" i="1">
                          <a:solidFill>
                            <a:srgbClr val="000000"/>
                          </a:solidFill>
                          <a:latin typeface="Times New Roman"/>
                        </a:rPr>
                        <a:t>    </a:t>
                      </a:r>
                      <a:r>
                        <a:rPr sz="1100" b="0" i="1">
                          <a:solidFill>
                            <a:srgbClr val="000000"/>
                          </a:solidFill>
                          <a:latin typeface="Calibri"/>
                        </a:rPr>
                        <a:t>Snacks &amp; Confectionery</a:t>
                      </a:r>
                      <a:endParaRPr sz="1100"/>
                    </a:p>
                  </a:txBody>
                  <a:tcPr marL="1028700" marR="9525" marT="9525" marB="0" anchor="ctr"/>
                </a:tc>
                <a:extLst>
                  <a:ext uri="{0D108BD9-81ED-4DB2-BD59-A6C34878D82A}">
                    <a16:rowId xmlns:a16="http://schemas.microsoft.com/office/drawing/2014/main" val="10014"/>
                  </a:ext>
                </a:extLst>
              </a:tr>
              <a:tr h="175260">
                <a:tc>
                  <a:txBody>
                    <a:bodyPr/>
                    <a:lstStyle/>
                    <a:p>
                      <a:pPr algn="l"/>
                      <a:r>
                        <a:rPr sz="1100" b="0" i="1">
                          <a:solidFill>
                            <a:srgbClr val="000000"/>
                          </a:solidFill>
                          <a:latin typeface="Calibri"/>
                        </a:rPr>
                        <a:t>5.5.1.8.</a:t>
                      </a:r>
                      <a:r>
                        <a:rPr sz="700" b="0" i="1">
                          <a:solidFill>
                            <a:srgbClr val="000000"/>
                          </a:solidFill>
                          <a:latin typeface="Times New Roman"/>
                        </a:rPr>
                        <a:t>    </a:t>
                      </a:r>
                      <a:r>
                        <a:rPr sz="1100" b="0" i="1">
                          <a:solidFill>
                            <a:srgbClr val="000000"/>
                          </a:solidFill>
                          <a:latin typeface="Calibri"/>
                        </a:rPr>
                        <a:t>Beverage Packaging</a:t>
                      </a:r>
                      <a:endParaRPr sz="1100"/>
                    </a:p>
                  </a:txBody>
                  <a:tcPr marL="1028700" marR="9525" marT="9525" marB="0" anchor="ctr"/>
                </a:tc>
                <a:extLst>
                  <a:ext uri="{0D108BD9-81ED-4DB2-BD59-A6C34878D82A}">
                    <a16:rowId xmlns:a16="http://schemas.microsoft.com/office/drawing/2014/main" val="10015"/>
                  </a:ext>
                </a:extLst>
              </a:tr>
              <a:tr h="175260">
                <a:tc>
                  <a:txBody>
                    <a:bodyPr/>
                    <a:lstStyle/>
                    <a:p>
                      <a:pPr algn="l"/>
                      <a:r>
                        <a:rPr sz="1100" b="0" i="0">
                          <a:solidFill>
                            <a:srgbClr val="000000"/>
                          </a:solidFill>
                          <a:latin typeface="Calibri"/>
                        </a:rPr>
                        <a:t>5.5.2.</a:t>
                      </a:r>
                      <a:r>
                        <a:rPr sz="700" b="0" i="0">
                          <a:solidFill>
                            <a:srgbClr val="000000"/>
                          </a:solidFill>
                          <a:latin typeface="Times New Roman"/>
                        </a:rPr>
                        <a:t>   </a:t>
                      </a:r>
                      <a:r>
                        <a:rPr sz="1100" b="0" i="0">
                          <a:solidFill>
                            <a:srgbClr val="000000"/>
                          </a:solidFill>
                          <a:latin typeface="Calibri"/>
                        </a:rPr>
                        <a:t>Retail &amp; Consumer Goods</a:t>
                      </a:r>
                      <a:endParaRPr sz="1100"/>
                    </a:p>
                  </a:txBody>
                  <a:tcPr marL="771525" marR="9525" marT="9525" marB="0" anchor="ctr"/>
                </a:tc>
                <a:extLst>
                  <a:ext uri="{0D108BD9-81ED-4DB2-BD59-A6C34878D82A}">
                    <a16:rowId xmlns:a16="http://schemas.microsoft.com/office/drawing/2014/main" val="10016"/>
                  </a:ext>
                </a:extLst>
              </a:tr>
              <a:tr h="175260">
                <a:tc>
                  <a:txBody>
                    <a:bodyPr/>
                    <a:lstStyle/>
                    <a:p>
                      <a:pPr algn="l"/>
                      <a:r>
                        <a:rPr sz="1100" b="0" i="1">
                          <a:solidFill>
                            <a:srgbClr val="000000"/>
                          </a:solidFill>
                          <a:latin typeface="Calibri"/>
                        </a:rPr>
                        <a:t>5.5.2.1.</a:t>
                      </a:r>
                      <a:r>
                        <a:rPr sz="700" b="0" i="1">
                          <a:solidFill>
                            <a:srgbClr val="000000"/>
                          </a:solidFill>
                          <a:latin typeface="Times New Roman"/>
                        </a:rPr>
                        <a:t>    </a:t>
                      </a:r>
                      <a:r>
                        <a:rPr sz="1100" b="0" i="1">
                          <a:solidFill>
                            <a:srgbClr val="000000"/>
                          </a:solidFill>
                          <a:latin typeface="Calibri"/>
                        </a:rPr>
                        <a:t>Apparel</a:t>
                      </a:r>
                      <a:endParaRPr sz="1100"/>
                    </a:p>
                  </a:txBody>
                  <a:tcPr marL="1028700" marR="9525" marT="9525" marB="0" anchor="ctr"/>
                </a:tc>
                <a:extLst>
                  <a:ext uri="{0D108BD9-81ED-4DB2-BD59-A6C34878D82A}">
                    <a16:rowId xmlns:a16="http://schemas.microsoft.com/office/drawing/2014/main" val="10017"/>
                  </a:ext>
                </a:extLst>
              </a:tr>
              <a:tr h="175260">
                <a:tc>
                  <a:txBody>
                    <a:bodyPr/>
                    <a:lstStyle/>
                    <a:p>
                      <a:pPr algn="l"/>
                      <a:r>
                        <a:rPr sz="1100" b="0" i="1">
                          <a:solidFill>
                            <a:srgbClr val="000000"/>
                          </a:solidFill>
                          <a:latin typeface="Calibri"/>
                        </a:rPr>
                        <a:t>5.5.2.2.</a:t>
                      </a:r>
                      <a:r>
                        <a:rPr sz="700" b="0" i="1">
                          <a:solidFill>
                            <a:srgbClr val="000000"/>
                          </a:solidFill>
                          <a:latin typeface="Times New Roman"/>
                        </a:rPr>
                        <a:t>    </a:t>
                      </a:r>
                      <a:r>
                        <a:rPr sz="1100" b="0" i="1">
                          <a:solidFill>
                            <a:srgbClr val="000000"/>
                          </a:solidFill>
                          <a:latin typeface="Calibri"/>
                        </a:rPr>
                        <a:t>Footwear</a:t>
                      </a:r>
                      <a:endParaRPr sz="1100"/>
                    </a:p>
                  </a:txBody>
                  <a:tcPr marL="1028700" marR="9525" marT="9525" marB="0" anchor="ctr"/>
                </a:tc>
                <a:extLst>
                  <a:ext uri="{0D108BD9-81ED-4DB2-BD59-A6C34878D82A}">
                    <a16:rowId xmlns:a16="http://schemas.microsoft.com/office/drawing/2014/main" val="10018"/>
                  </a:ext>
                </a:extLst>
              </a:tr>
              <a:tr h="175260">
                <a:tc>
                  <a:txBody>
                    <a:bodyPr/>
                    <a:lstStyle/>
                    <a:p>
                      <a:pPr algn="l"/>
                      <a:r>
                        <a:rPr sz="1100" b="0" i="1">
                          <a:solidFill>
                            <a:srgbClr val="000000"/>
                          </a:solidFill>
                          <a:latin typeface="Calibri"/>
                        </a:rPr>
                        <a:t>5.5.2.3.</a:t>
                      </a:r>
                      <a:r>
                        <a:rPr sz="700" b="0" i="1">
                          <a:solidFill>
                            <a:srgbClr val="000000"/>
                          </a:solidFill>
                          <a:latin typeface="Times New Roman"/>
                        </a:rPr>
                        <a:t>    </a:t>
                      </a:r>
                      <a:r>
                        <a:rPr sz="1100" b="0" i="1">
                          <a:solidFill>
                            <a:srgbClr val="000000"/>
                          </a:solidFill>
                          <a:latin typeface="Calibri"/>
                        </a:rPr>
                        <a:t>Toys</a:t>
                      </a:r>
                      <a:endParaRPr sz="1100"/>
                    </a:p>
                  </a:txBody>
                  <a:tcPr marL="1028700" marR="9525" marT="9525" marB="0" anchor="ctr"/>
                </a:tc>
                <a:extLst>
                  <a:ext uri="{0D108BD9-81ED-4DB2-BD59-A6C34878D82A}">
                    <a16:rowId xmlns:a16="http://schemas.microsoft.com/office/drawing/2014/main" val="10019"/>
                  </a:ext>
                </a:extLst>
              </a:tr>
              <a:tr h="175260">
                <a:tc>
                  <a:txBody>
                    <a:bodyPr/>
                    <a:lstStyle/>
                    <a:p>
                      <a:pPr algn="l"/>
                      <a:r>
                        <a:rPr sz="1100" b="0" i="1">
                          <a:solidFill>
                            <a:srgbClr val="000000"/>
                          </a:solidFill>
                          <a:latin typeface="Calibri"/>
                        </a:rPr>
                        <a:t>5.5.2.4.</a:t>
                      </a:r>
                      <a:r>
                        <a:rPr sz="700" b="0" i="1">
                          <a:solidFill>
                            <a:srgbClr val="000000"/>
                          </a:solidFill>
                          <a:latin typeface="Times New Roman"/>
                        </a:rPr>
                        <a:t>    </a:t>
                      </a:r>
                      <a:r>
                        <a:rPr sz="1100" b="0" i="1">
                          <a:solidFill>
                            <a:srgbClr val="000000"/>
                          </a:solidFill>
                          <a:latin typeface="Calibri"/>
                        </a:rPr>
                        <a:t>Home Care</a:t>
                      </a:r>
                      <a:endParaRPr sz="1100"/>
                    </a:p>
                  </a:txBody>
                  <a:tcPr marL="1028700" marR="9525" marT="9525" marB="0" anchor="ctr"/>
                </a:tc>
                <a:extLst>
                  <a:ext uri="{0D108BD9-81ED-4DB2-BD59-A6C34878D82A}">
                    <a16:rowId xmlns:a16="http://schemas.microsoft.com/office/drawing/2014/main" val="10020"/>
                  </a:ext>
                </a:extLst>
              </a:tr>
              <a:tr h="175260">
                <a:tc>
                  <a:txBody>
                    <a:bodyPr/>
                    <a:lstStyle/>
                    <a:p>
                      <a:pPr algn="l"/>
                      <a:r>
                        <a:rPr sz="1100" b="0" i="1">
                          <a:solidFill>
                            <a:srgbClr val="000000"/>
                          </a:solidFill>
                          <a:latin typeface="Calibri"/>
                        </a:rPr>
                        <a:t>5.5.2.5.</a:t>
                      </a:r>
                      <a:r>
                        <a:rPr sz="700" b="0" i="1">
                          <a:solidFill>
                            <a:srgbClr val="000000"/>
                          </a:solidFill>
                          <a:latin typeface="Times New Roman"/>
                        </a:rPr>
                        <a:t>    </a:t>
                      </a:r>
                      <a:r>
                        <a:rPr sz="1100" b="0" i="1">
                          <a:solidFill>
                            <a:srgbClr val="000000"/>
                          </a:solidFill>
                          <a:latin typeface="Calibri"/>
                        </a:rPr>
                        <a:t>Household Goods</a:t>
                      </a:r>
                      <a:endParaRPr sz="1100"/>
                    </a:p>
                  </a:txBody>
                  <a:tcPr marL="1028700" marR="9525" marT="9525" marB="0" anchor="ctr"/>
                </a:tc>
                <a:extLst>
                  <a:ext uri="{0D108BD9-81ED-4DB2-BD59-A6C34878D82A}">
                    <a16:rowId xmlns:a16="http://schemas.microsoft.com/office/drawing/2014/main" val="10021"/>
                  </a:ext>
                </a:extLst>
              </a:tr>
              <a:tr h="175260">
                <a:tc>
                  <a:txBody>
                    <a:bodyPr/>
                    <a:lstStyle/>
                    <a:p>
                      <a:pPr algn="l"/>
                      <a:r>
                        <a:rPr sz="1100" b="0" i="1">
                          <a:solidFill>
                            <a:srgbClr val="000000"/>
                          </a:solidFill>
                          <a:latin typeface="Calibri"/>
                        </a:rPr>
                        <a:t>5.5.2.6.</a:t>
                      </a:r>
                      <a:r>
                        <a:rPr sz="700" b="0" i="1">
                          <a:solidFill>
                            <a:srgbClr val="000000"/>
                          </a:solidFill>
                          <a:latin typeface="Times New Roman"/>
                        </a:rPr>
                        <a:t>    </a:t>
                      </a:r>
                      <a:r>
                        <a:rPr sz="1100" b="0" i="1">
                          <a:solidFill>
                            <a:srgbClr val="000000"/>
                          </a:solidFill>
                          <a:latin typeface="Calibri"/>
                        </a:rPr>
                        <a:t>Stationery</a:t>
                      </a:r>
                      <a:endParaRPr sz="1100"/>
                    </a:p>
                  </a:txBody>
                  <a:tcPr marL="1028700" marR="9525" marT="9525" marB="0" anchor="ctr"/>
                </a:tc>
                <a:extLst>
                  <a:ext uri="{0D108BD9-81ED-4DB2-BD59-A6C34878D82A}">
                    <a16:rowId xmlns:a16="http://schemas.microsoft.com/office/drawing/2014/main" val="10022"/>
                  </a:ext>
                </a:extLst>
              </a:tr>
              <a:tr h="175260">
                <a:tc>
                  <a:txBody>
                    <a:bodyPr/>
                    <a:lstStyle/>
                    <a:p>
                      <a:pPr algn="l"/>
                      <a:r>
                        <a:rPr sz="1100" b="0" i="0">
                          <a:solidFill>
                            <a:srgbClr val="000000"/>
                          </a:solidFill>
                          <a:latin typeface="Calibri"/>
                        </a:rPr>
                        <a:t>5.5.3.</a:t>
                      </a:r>
                      <a:r>
                        <a:rPr sz="700" b="0" i="0">
                          <a:solidFill>
                            <a:srgbClr val="000000"/>
                          </a:solidFill>
                          <a:latin typeface="Times New Roman"/>
                        </a:rPr>
                        <a:t>   </a:t>
                      </a:r>
                      <a:r>
                        <a:rPr sz="1100" b="0" i="0">
                          <a:solidFill>
                            <a:srgbClr val="000000"/>
                          </a:solidFill>
                          <a:latin typeface="Calibri"/>
                        </a:rPr>
                        <a:t>Healthcare</a:t>
                      </a:r>
                      <a:endParaRPr sz="1100"/>
                    </a:p>
                  </a:txBody>
                  <a:tcPr marL="771525" marR="9525" marT="9525" marB="0" anchor="ctr"/>
                </a:tc>
                <a:extLst>
                  <a:ext uri="{0D108BD9-81ED-4DB2-BD59-A6C34878D82A}">
                    <a16:rowId xmlns:a16="http://schemas.microsoft.com/office/drawing/2014/main" val="10023"/>
                  </a:ext>
                </a:extLst>
              </a:tr>
              <a:tr h="175260">
                <a:tc>
                  <a:txBody>
                    <a:bodyPr/>
                    <a:lstStyle/>
                    <a:p>
                      <a:pPr algn="l"/>
                      <a:r>
                        <a:rPr sz="1100" b="0" i="1">
                          <a:solidFill>
                            <a:srgbClr val="000000"/>
                          </a:solidFill>
                          <a:latin typeface="Calibri"/>
                        </a:rPr>
                        <a:t>5.5.3.1.</a:t>
                      </a:r>
                      <a:r>
                        <a:rPr sz="700" b="0" i="1">
                          <a:solidFill>
                            <a:srgbClr val="000000"/>
                          </a:solidFill>
                          <a:latin typeface="Times New Roman"/>
                        </a:rPr>
                        <a:t>    </a:t>
                      </a:r>
                      <a:r>
                        <a:rPr sz="1100" b="0" i="1">
                          <a:solidFill>
                            <a:srgbClr val="000000"/>
                          </a:solidFill>
                          <a:latin typeface="Calibri"/>
                        </a:rPr>
                        <a:t>Pharmaceuticals</a:t>
                      </a:r>
                      <a:endParaRPr sz="1100"/>
                    </a:p>
                  </a:txBody>
                  <a:tcPr marL="1028700" marR="9525" marT="9525" marB="0" anchor="ctr"/>
                </a:tc>
                <a:extLst>
                  <a:ext uri="{0D108BD9-81ED-4DB2-BD59-A6C34878D82A}">
                    <a16:rowId xmlns:a16="http://schemas.microsoft.com/office/drawing/2014/main" val="10024"/>
                  </a:ext>
                </a:extLst>
              </a:tr>
              <a:tr h="175260">
                <a:tc>
                  <a:txBody>
                    <a:bodyPr/>
                    <a:lstStyle/>
                    <a:p>
                      <a:pPr algn="l"/>
                      <a:r>
                        <a:rPr sz="1100" b="0" i="1">
                          <a:solidFill>
                            <a:srgbClr val="000000"/>
                          </a:solidFill>
                          <a:latin typeface="Calibri"/>
                        </a:rPr>
                        <a:t>5.5.3.2.</a:t>
                      </a:r>
                      <a:r>
                        <a:rPr sz="700" b="0" i="1">
                          <a:solidFill>
                            <a:srgbClr val="000000"/>
                          </a:solidFill>
                          <a:latin typeface="Times New Roman"/>
                        </a:rPr>
                        <a:t>    </a:t>
                      </a:r>
                      <a:r>
                        <a:rPr sz="1100" b="0" i="1">
                          <a:solidFill>
                            <a:srgbClr val="000000"/>
                          </a:solidFill>
                          <a:latin typeface="Calibri"/>
                        </a:rPr>
                        <a:t>Medical Devices</a:t>
                      </a:r>
                      <a:endParaRPr sz="1100"/>
                    </a:p>
                  </a:txBody>
                  <a:tcPr marL="1028700" marR="9525" marT="9525" marB="0" anchor="ctr"/>
                </a:tc>
                <a:extLst>
                  <a:ext uri="{0D108BD9-81ED-4DB2-BD59-A6C34878D82A}">
                    <a16:rowId xmlns:a16="http://schemas.microsoft.com/office/drawing/2014/main" val="10025"/>
                  </a:ext>
                </a:extLst>
              </a:tr>
              <a:tr h="175260">
                <a:tc>
                  <a:txBody>
                    <a:bodyPr/>
                    <a:lstStyle/>
                    <a:p>
                      <a:pPr algn="l"/>
                      <a:r>
                        <a:rPr sz="1100" b="0" i="1">
                          <a:solidFill>
                            <a:srgbClr val="000000"/>
                          </a:solidFill>
                          <a:latin typeface="Calibri"/>
                        </a:rPr>
                        <a:t>5.5.3.3.</a:t>
                      </a:r>
                      <a:r>
                        <a:rPr sz="700" b="0" i="1">
                          <a:solidFill>
                            <a:srgbClr val="000000"/>
                          </a:solidFill>
                          <a:latin typeface="Times New Roman"/>
                        </a:rPr>
                        <a:t>    </a:t>
                      </a:r>
                      <a:r>
                        <a:rPr sz="1100" b="0" i="1">
                          <a:solidFill>
                            <a:srgbClr val="000000"/>
                          </a:solidFill>
                          <a:latin typeface="Calibri"/>
                        </a:rPr>
                        <a:t>Surgical Products</a:t>
                      </a:r>
                      <a:endParaRPr sz="1100"/>
                    </a:p>
                  </a:txBody>
                  <a:tcPr marL="1028700" marR="9525" marT="9525" marB="0" anchor="ctr"/>
                </a:tc>
                <a:extLst>
                  <a:ext uri="{0D108BD9-81ED-4DB2-BD59-A6C34878D82A}">
                    <a16:rowId xmlns:a16="http://schemas.microsoft.com/office/drawing/2014/main" val="10026"/>
                  </a:ext>
                </a:extLst>
              </a:tr>
              <a:tr h="175260">
                <a:tc>
                  <a:txBody>
                    <a:bodyPr/>
                    <a:lstStyle/>
                    <a:p>
                      <a:pPr algn="l"/>
                      <a:r>
                        <a:rPr sz="1100" b="0" i="1">
                          <a:solidFill>
                            <a:srgbClr val="000000"/>
                          </a:solidFill>
                          <a:latin typeface="Calibri"/>
                        </a:rPr>
                        <a:t>5.5.3.4.</a:t>
                      </a:r>
                      <a:r>
                        <a:rPr sz="700" b="0" i="1">
                          <a:solidFill>
                            <a:srgbClr val="000000"/>
                          </a:solidFill>
                          <a:latin typeface="Times New Roman"/>
                        </a:rPr>
                        <a:t>    </a:t>
                      </a:r>
                      <a:r>
                        <a:rPr sz="1100" b="0" i="1">
                          <a:solidFill>
                            <a:srgbClr val="000000"/>
                          </a:solidFill>
                          <a:latin typeface="Calibri"/>
                        </a:rPr>
                        <a:t>Diagnostic Kits</a:t>
                      </a:r>
                      <a:endParaRPr sz="1100"/>
                    </a:p>
                  </a:txBody>
                  <a:tcPr marL="1028700" marR="9525" marT="9525" marB="0" anchor="ctr"/>
                </a:tc>
                <a:extLst>
                  <a:ext uri="{0D108BD9-81ED-4DB2-BD59-A6C34878D82A}">
                    <a16:rowId xmlns:a16="http://schemas.microsoft.com/office/drawing/2014/main" val="10027"/>
                  </a:ext>
                </a:extLst>
              </a:tr>
              <a:tr h="175260">
                <a:tc>
                  <a:txBody>
                    <a:bodyPr/>
                    <a:lstStyle/>
                    <a:p>
                      <a:pPr algn="l"/>
                      <a:r>
                        <a:rPr sz="1100" b="0" i="1">
                          <a:solidFill>
                            <a:srgbClr val="000000"/>
                          </a:solidFill>
                          <a:latin typeface="Calibri"/>
                        </a:rPr>
                        <a:t>5.5.3.5.</a:t>
                      </a:r>
                      <a:r>
                        <a:rPr sz="700" b="0" i="1">
                          <a:solidFill>
                            <a:srgbClr val="000000"/>
                          </a:solidFill>
                          <a:latin typeface="Times New Roman"/>
                        </a:rPr>
                        <a:t>    </a:t>
                      </a:r>
                      <a:r>
                        <a:rPr sz="1100" b="0" i="1">
                          <a:solidFill>
                            <a:srgbClr val="000000"/>
                          </a:solidFill>
                          <a:latin typeface="Calibri"/>
                        </a:rPr>
                        <a:t>Laboratory Supplies</a:t>
                      </a:r>
                      <a:endParaRPr sz="1100"/>
                    </a:p>
                  </a:txBody>
                  <a:tcPr marL="1028700" marR="9525" marT="9525" marB="0" anchor="ctr"/>
                </a:tc>
                <a:extLst>
                  <a:ext uri="{0D108BD9-81ED-4DB2-BD59-A6C34878D82A}">
                    <a16:rowId xmlns:a16="http://schemas.microsoft.com/office/drawing/2014/main" val="10028"/>
                  </a:ext>
                </a:extLst>
              </a:tr>
              <a:tr h="175260">
                <a:tc>
                  <a:txBody>
                    <a:bodyPr/>
                    <a:lstStyle/>
                    <a:p>
                      <a:pPr algn="l"/>
                      <a:r>
                        <a:rPr sz="1100" b="0" i="0">
                          <a:solidFill>
                            <a:srgbClr val="000000"/>
                          </a:solidFill>
                          <a:latin typeface="Calibri"/>
                        </a:rPr>
                        <a:t>5.5.4.</a:t>
                      </a:r>
                      <a:r>
                        <a:rPr sz="700" b="0" i="0">
                          <a:solidFill>
                            <a:srgbClr val="000000"/>
                          </a:solidFill>
                          <a:latin typeface="Times New Roman"/>
                        </a:rPr>
                        <a:t>   </a:t>
                      </a:r>
                      <a:r>
                        <a:rPr sz="1100" b="0" i="0">
                          <a:solidFill>
                            <a:srgbClr val="000000"/>
                          </a:solidFill>
                          <a:latin typeface="Calibri"/>
                        </a:rPr>
                        <a:t>E-commerce &amp; Logistics</a:t>
                      </a:r>
                      <a:endParaRPr sz="1100"/>
                    </a:p>
                  </a:txBody>
                  <a:tcPr marL="771525" marR="9525" marT="9525" marB="0" anchor="ctr"/>
                </a:tc>
                <a:extLst>
                  <a:ext uri="{0D108BD9-81ED-4DB2-BD59-A6C34878D82A}">
                    <a16:rowId xmlns:a16="http://schemas.microsoft.com/office/drawing/2014/main" val="10029"/>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Table of Contents (3/6)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1">
                          <a:solidFill>
                            <a:srgbClr val="000000"/>
                          </a:solidFill>
                          <a:latin typeface="Calibri"/>
                        </a:rPr>
                        <a:t>5.5.4.1.</a:t>
                      </a:r>
                      <a:r>
                        <a:rPr sz="700" b="0" i="1">
                          <a:solidFill>
                            <a:srgbClr val="000000"/>
                          </a:solidFill>
                          <a:latin typeface="Times New Roman"/>
                        </a:rPr>
                        <a:t>    </a:t>
                      </a:r>
                      <a:r>
                        <a:rPr sz="1100" b="0" i="1">
                          <a:solidFill>
                            <a:srgbClr val="000000"/>
                          </a:solidFill>
                          <a:latin typeface="Calibri"/>
                        </a:rPr>
                        <a:t>Courier Packaging</a:t>
                      </a:r>
                      <a:endParaRPr sz="1100"/>
                    </a:p>
                  </a:txBody>
                  <a:tcPr marL="1028700" marR="9525" marT="9525" marB="0" anchor="ctr"/>
                </a:tc>
                <a:extLst>
                  <a:ext uri="{0D108BD9-81ED-4DB2-BD59-A6C34878D82A}">
                    <a16:rowId xmlns:a16="http://schemas.microsoft.com/office/drawing/2014/main" val="10000"/>
                  </a:ext>
                </a:extLst>
              </a:tr>
              <a:tr h="175260">
                <a:tc>
                  <a:txBody>
                    <a:bodyPr/>
                    <a:lstStyle/>
                    <a:p>
                      <a:pPr algn="l"/>
                      <a:r>
                        <a:rPr sz="1100" b="0" i="1">
                          <a:solidFill>
                            <a:srgbClr val="000000"/>
                          </a:solidFill>
                          <a:latin typeface="Calibri"/>
                        </a:rPr>
                        <a:t>5.5.4.2.</a:t>
                      </a:r>
                      <a:r>
                        <a:rPr sz="700" b="0" i="1">
                          <a:solidFill>
                            <a:srgbClr val="000000"/>
                          </a:solidFill>
                          <a:latin typeface="Times New Roman"/>
                        </a:rPr>
                        <a:t>    </a:t>
                      </a:r>
                      <a:r>
                        <a:rPr sz="1100" b="0" i="1">
                          <a:solidFill>
                            <a:srgbClr val="000000"/>
                          </a:solidFill>
                          <a:latin typeface="Calibri"/>
                        </a:rPr>
                        <a:t>Fulfillment Centers</a:t>
                      </a:r>
                      <a:endParaRPr sz="1100"/>
                    </a:p>
                  </a:txBody>
                  <a:tcPr marL="1028700" marR="9525" marT="9525" marB="0" anchor="ctr"/>
                </a:tc>
                <a:extLst>
                  <a:ext uri="{0D108BD9-81ED-4DB2-BD59-A6C34878D82A}">
                    <a16:rowId xmlns:a16="http://schemas.microsoft.com/office/drawing/2014/main" val="10001"/>
                  </a:ext>
                </a:extLst>
              </a:tr>
              <a:tr h="175260">
                <a:tc>
                  <a:txBody>
                    <a:bodyPr/>
                    <a:lstStyle/>
                    <a:p>
                      <a:pPr algn="l"/>
                      <a:r>
                        <a:rPr sz="1100" b="0" i="1">
                          <a:solidFill>
                            <a:srgbClr val="000000"/>
                          </a:solidFill>
                          <a:latin typeface="Calibri"/>
                        </a:rPr>
                        <a:t>5.5.4.3.</a:t>
                      </a:r>
                      <a:r>
                        <a:rPr sz="700" b="0" i="1">
                          <a:solidFill>
                            <a:srgbClr val="000000"/>
                          </a:solidFill>
                          <a:latin typeface="Times New Roman"/>
                        </a:rPr>
                        <a:t>    </a:t>
                      </a:r>
                      <a:r>
                        <a:rPr sz="1100" b="0" i="1">
                          <a:solidFill>
                            <a:srgbClr val="000000"/>
                          </a:solidFill>
                          <a:latin typeface="Calibri"/>
                        </a:rPr>
                        <a:t>Return Packaging</a:t>
                      </a:r>
                      <a:endParaRPr sz="1100"/>
                    </a:p>
                  </a:txBody>
                  <a:tcPr marL="1028700" marR="9525" marT="9525" marB="0" anchor="ctr"/>
                </a:tc>
                <a:extLst>
                  <a:ext uri="{0D108BD9-81ED-4DB2-BD59-A6C34878D82A}">
                    <a16:rowId xmlns:a16="http://schemas.microsoft.com/office/drawing/2014/main" val="10002"/>
                  </a:ext>
                </a:extLst>
              </a:tr>
              <a:tr h="175260">
                <a:tc>
                  <a:txBody>
                    <a:bodyPr/>
                    <a:lstStyle/>
                    <a:p>
                      <a:pPr algn="l"/>
                      <a:r>
                        <a:rPr sz="1100" b="0" i="1">
                          <a:solidFill>
                            <a:srgbClr val="000000"/>
                          </a:solidFill>
                          <a:latin typeface="Calibri"/>
                        </a:rPr>
                        <a:t>5.5.4.4.</a:t>
                      </a:r>
                      <a:r>
                        <a:rPr sz="700" b="0" i="1">
                          <a:solidFill>
                            <a:srgbClr val="000000"/>
                          </a:solidFill>
                          <a:latin typeface="Times New Roman"/>
                        </a:rPr>
                        <a:t>    </a:t>
                      </a:r>
                      <a:r>
                        <a:rPr sz="1100" b="0" i="1">
                          <a:solidFill>
                            <a:srgbClr val="000000"/>
                          </a:solidFill>
                          <a:latin typeface="Calibri"/>
                        </a:rPr>
                        <a:t>Warehouse Packaging</a:t>
                      </a:r>
                      <a:endParaRPr sz="1100"/>
                    </a:p>
                  </a:txBody>
                  <a:tcPr marL="1028700" marR="9525" marT="9525" marB="0" anchor="ctr"/>
                </a:tc>
                <a:extLst>
                  <a:ext uri="{0D108BD9-81ED-4DB2-BD59-A6C34878D82A}">
                    <a16:rowId xmlns:a16="http://schemas.microsoft.com/office/drawing/2014/main" val="10003"/>
                  </a:ext>
                </a:extLst>
              </a:tr>
              <a:tr h="175260">
                <a:tc>
                  <a:txBody>
                    <a:bodyPr/>
                    <a:lstStyle/>
                    <a:p>
                      <a:pPr algn="l"/>
                      <a:r>
                        <a:rPr sz="1100" b="0" i="0">
                          <a:solidFill>
                            <a:srgbClr val="000000"/>
                          </a:solidFill>
                          <a:latin typeface="Calibri"/>
                        </a:rPr>
                        <a:t>5.5.5.</a:t>
                      </a:r>
                      <a:r>
                        <a:rPr sz="700" b="0" i="0">
                          <a:solidFill>
                            <a:srgbClr val="000000"/>
                          </a:solidFill>
                          <a:latin typeface="Times New Roman"/>
                        </a:rPr>
                        <a:t>   </a:t>
                      </a:r>
                      <a:r>
                        <a:rPr sz="1100" b="0" i="0">
                          <a:solidFill>
                            <a:srgbClr val="000000"/>
                          </a:solidFill>
                          <a:latin typeface="Calibri"/>
                        </a:rPr>
                        <a:t>Industrial</a:t>
                      </a:r>
                      <a:endParaRPr sz="1100"/>
                    </a:p>
                  </a:txBody>
                  <a:tcPr marL="771525" marR="9525" marT="9525" marB="0" anchor="ctr"/>
                </a:tc>
                <a:extLst>
                  <a:ext uri="{0D108BD9-81ED-4DB2-BD59-A6C34878D82A}">
                    <a16:rowId xmlns:a16="http://schemas.microsoft.com/office/drawing/2014/main" val="10004"/>
                  </a:ext>
                </a:extLst>
              </a:tr>
              <a:tr h="175260">
                <a:tc>
                  <a:txBody>
                    <a:bodyPr/>
                    <a:lstStyle/>
                    <a:p>
                      <a:pPr algn="l"/>
                      <a:r>
                        <a:rPr sz="1100" b="0" i="1">
                          <a:solidFill>
                            <a:srgbClr val="000000"/>
                          </a:solidFill>
                          <a:latin typeface="Calibri"/>
                        </a:rPr>
                        <a:t>5.5.5.1.</a:t>
                      </a:r>
                      <a:r>
                        <a:rPr sz="700" b="0" i="1">
                          <a:solidFill>
                            <a:srgbClr val="000000"/>
                          </a:solidFill>
                          <a:latin typeface="Times New Roman"/>
                        </a:rPr>
                        <a:t>    </a:t>
                      </a:r>
                      <a:r>
                        <a:rPr sz="1100" b="0" i="1">
                          <a:solidFill>
                            <a:srgbClr val="000000"/>
                          </a:solidFill>
                          <a:latin typeface="Calibri"/>
                        </a:rPr>
                        <a:t>Automotive Components</a:t>
                      </a:r>
                      <a:endParaRPr sz="1100"/>
                    </a:p>
                  </a:txBody>
                  <a:tcPr marL="1028700" marR="9525" marT="9525" marB="0" anchor="ctr"/>
                </a:tc>
                <a:extLst>
                  <a:ext uri="{0D108BD9-81ED-4DB2-BD59-A6C34878D82A}">
                    <a16:rowId xmlns:a16="http://schemas.microsoft.com/office/drawing/2014/main" val="10005"/>
                  </a:ext>
                </a:extLst>
              </a:tr>
              <a:tr h="175260">
                <a:tc>
                  <a:txBody>
                    <a:bodyPr/>
                    <a:lstStyle/>
                    <a:p>
                      <a:pPr algn="l"/>
                      <a:r>
                        <a:rPr sz="1100" b="0" i="1">
                          <a:solidFill>
                            <a:srgbClr val="000000"/>
                          </a:solidFill>
                          <a:latin typeface="Calibri"/>
                        </a:rPr>
                        <a:t>5.5.5.2.</a:t>
                      </a:r>
                      <a:r>
                        <a:rPr sz="700" b="0" i="1">
                          <a:solidFill>
                            <a:srgbClr val="000000"/>
                          </a:solidFill>
                          <a:latin typeface="Times New Roman"/>
                        </a:rPr>
                        <a:t>    </a:t>
                      </a:r>
                      <a:r>
                        <a:rPr sz="1100" b="0" i="1">
                          <a:solidFill>
                            <a:srgbClr val="000000"/>
                          </a:solidFill>
                          <a:latin typeface="Calibri"/>
                        </a:rPr>
                        <a:t>Chemicals</a:t>
                      </a:r>
                      <a:endParaRPr sz="1100"/>
                    </a:p>
                  </a:txBody>
                  <a:tcPr marL="1028700" marR="9525" marT="9525" marB="0" anchor="ctr"/>
                </a:tc>
                <a:extLst>
                  <a:ext uri="{0D108BD9-81ED-4DB2-BD59-A6C34878D82A}">
                    <a16:rowId xmlns:a16="http://schemas.microsoft.com/office/drawing/2014/main" val="10006"/>
                  </a:ext>
                </a:extLst>
              </a:tr>
              <a:tr h="175260">
                <a:tc>
                  <a:txBody>
                    <a:bodyPr/>
                    <a:lstStyle/>
                    <a:p>
                      <a:pPr algn="l"/>
                      <a:r>
                        <a:rPr sz="1100" b="0" i="1">
                          <a:solidFill>
                            <a:srgbClr val="000000"/>
                          </a:solidFill>
                          <a:latin typeface="Calibri"/>
                        </a:rPr>
                        <a:t>5.5.5.3.</a:t>
                      </a:r>
                      <a:r>
                        <a:rPr sz="700" b="0" i="1">
                          <a:solidFill>
                            <a:srgbClr val="000000"/>
                          </a:solidFill>
                          <a:latin typeface="Times New Roman"/>
                        </a:rPr>
                        <a:t>    </a:t>
                      </a:r>
                      <a:r>
                        <a:rPr sz="1100" b="0" i="1">
                          <a:solidFill>
                            <a:srgbClr val="000000"/>
                          </a:solidFill>
                          <a:latin typeface="Calibri"/>
                        </a:rPr>
                        <a:t>Machinery Parts</a:t>
                      </a:r>
                      <a:endParaRPr sz="1100"/>
                    </a:p>
                  </a:txBody>
                  <a:tcPr marL="1028700" marR="9525" marT="9525" marB="0" anchor="ctr"/>
                </a:tc>
                <a:extLst>
                  <a:ext uri="{0D108BD9-81ED-4DB2-BD59-A6C34878D82A}">
                    <a16:rowId xmlns:a16="http://schemas.microsoft.com/office/drawing/2014/main" val="10007"/>
                  </a:ext>
                </a:extLst>
              </a:tr>
              <a:tr h="175260">
                <a:tc>
                  <a:txBody>
                    <a:bodyPr/>
                    <a:lstStyle/>
                    <a:p>
                      <a:pPr algn="l"/>
                      <a:r>
                        <a:rPr sz="1100" b="0" i="1">
                          <a:solidFill>
                            <a:srgbClr val="000000"/>
                          </a:solidFill>
                          <a:latin typeface="Calibri"/>
                        </a:rPr>
                        <a:t>5.5.5.4.</a:t>
                      </a:r>
                      <a:r>
                        <a:rPr sz="700" b="0" i="1">
                          <a:solidFill>
                            <a:srgbClr val="000000"/>
                          </a:solidFill>
                          <a:latin typeface="Times New Roman"/>
                        </a:rPr>
                        <a:t>    </a:t>
                      </a:r>
                      <a:r>
                        <a:rPr sz="1100" b="0" i="1">
                          <a:solidFill>
                            <a:srgbClr val="000000"/>
                          </a:solidFill>
                          <a:latin typeface="Calibri"/>
                        </a:rPr>
                        <a:t>Hardware</a:t>
                      </a:r>
                      <a:endParaRPr sz="1100"/>
                    </a:p>
                  </a:txBody>
                  <a:tcPr marL="1028700" marR="9525" marT="9525" marB="0" anchor="ctr"/>
                </a:tc>
                <a:extLst>
                  <a:ext uri="{0D108BD9-81ED-4DB2-BD59-A6C34878D82A}">
                    <a16:rowId xmlns:a16="http://schemas.microsoft.com/office/drawing/2014/main" val="10008"/>
                  </a:ext>
                </a:extLst>
              </a:tr>
              <a:tr h="175260">
                <a:tc>
                  <a:txBody>
                    <a:bodyPr/>
                    <a:lstStyle/>
                    <a:p>
                      <a:pPr algn="l"/>
                      <a:r>
                        <a:rPr sz="1100" b="0" i="1">
                          <a:solidFill>
                            <a:srgbClr val="000000"/>
                          </a:solidFill>
                          <a:latin typeface="Calibri"/>
                        </a:rPr>
                        <a:t>5.5.5.5.</a:t>
                      </a:r>
                      <a:r>
                        <a:rPr sz="700" b="0" i="1">
                          <a:solidFill>
                            <a:srgbClr val="000000"/>
                          </a:solidFill>
                          <a:latin typeface="Times New Roman"/>
                        </a:rPr>
                        <a:t>    </a:t>
                      </a:r>
                      <a:r>
                        <a:rPr sz="1100" b="0" i="1">
                          <a:solidFill>
                            <a:srgbClr val="000000"/>
                          </a:solidFill>
                          <a:latin typeface="Calibri"/>
                        </a:rPr>
                        <a:t>Electrical Components</a:t>
                      </a:r>
                      <a:endParaRPr sz="1100"/>
                    </a:p>
                  </a:txBody>
                  <a:tcPr marL="1028700" marR="9525" marT="9525" marB="0" anchor="ctr"/>
                </a:tc>
                <a:extLst>
                  <a:ext uri="{0D108BD9-81ED-4DB2-BD59-A6C34878D82A}">
                    <a16:rowId xmlns:a16="http://schemas.microsoft.com/office/drawing/2014/main" val="10009"/>
                  </a:ext>
                </a:extLst>
              </a:tr>
              <a:tr h="175260">
                <a:tc>
                  <a:txBody>
                    <a:bodyPr/>
                    <a:lstStyle/>
                    <a:p>
                      <a:pPr algn="l"/>
                      <a:r>
                        <a:rPr sz="1100" b="0" i="0">
                          <a:solidFill>
                            <a:srgbClr val="000000"/>
                          </a:solidFill>
                          <a:latin typeface="Calibri"/>
                        </a:rPr>
                        <a:t>5.5.6.</a:t>
                      </a:r>
                      <a:r>
                        <a:rPr sz="700" b="0" i="0">
                          <a:solidFill>
                            <a:srgbClr val="000000"/>
                          </a:solidFill>
                          <a:latin typeface="Times New Roman"/>
                        </a:rPr>
                        <a:t>   </a:t>
                      </a:r>
                      <a:r>
                        <a:rPr sz="1100" b="0" i="0">
                          <a:solidFill>
                            <a:srgbClr val="000000"/>
                          </a:solidFill>
                          <a:latin typeface="Calibri"/>
                        </a:rPr>
                        <a:t>Agriculture</a:t>
                      </a:r>
                      <a:endParaRPr sz="1100"/>
                    </a:p>
                  </a:txBody>
                  <a:tcPr marL="771525" marR="9525" marT="9525" marB="0" anchor="ctr"/>
                </a:tc>
                <a:extLst>
                  <a:ext uri="{0D108BD9-81ED-4DB2-BD59-A6C34878D82A}">
                    <a16:rowId xmlns:a16="http://schemas.microsoft.com/office/drawing/2014/main" val="10010"/>
                  </a:ext>
                </a:extLst>
              </a:tr>
              <a:tr h="175260">
                <a:tc>
                  <a:txBody>
                    <a:bodyPr/>
                    <a:lstStyle/>
                    <a:p>
                      <a:pPr algn="l"/>
                      <a:r>
                        <a:rPr sz="1100" b="0" i="1">
                          <a:solidFill>
                            <a:srgbClr val="000000"/>
                          </a:solidFill>
                          <a:latin typeface="Calibri"/>
                        </a:rPr>
                        <a:t>5.5.6.1.</a:t>
                      </a:r>
                      <a:r>
                        <a:rPr sz="700" b="0" i="1">
                          <a:solidFill>
                            <a:srgbClr val="000000"/>
                          </a:solidFill>
                          <a:latin typeface="Times New Roman"/>
                        </a:rPr>
                        <a:t>    </a:t>
                      </a:r>
                      <a:r>
                        <a:rPr sz="1100" b="0" i="1">
                          <a:solidFill>
                            <a:srgbClr val="000000"/>
                          </a:solidFill>
                          <a:latin typeface="Calibri"/>
                        </a:rPr>
                        <a:t>Seeds</a:t>
                      </a:r>
                      <a:endParaRPr sz="1100"/>
                    </a:p>
                  </a:txBody>
                  <a:tcPr marL="1028700" marR="9525" marT="9525" marB="0" anchor="ctr"/>
                </a:tc>
                <a:extLst>
                  <a:ext uri="{0D108BD9-81ED-4DB2-BD59-A6C34878D82A}">
                    <a16:rowId xmlns:a16="http://schemas.microsoft.com/office/drawing/2014/main" val="10011"/>
                  </a:ext>
                </a:extLst>
              </a:tr>
              <a:tr h="175260">
                <a:tc>
                  <a:txBody>
                    <a:bodyPr/>
                    <a:lstStyle/>
                    <a:p>
                      <a:pPr algn="l"/>
                      <a:r>
                        <a:rPr sz="1100" b="0" i="1">
                          <a:solidFill>
                            <a:srgbClr val="000000"/>
                          </a:solidFill>
                          <a:latin typeface="Calibri"/>
                        </a:rPr>
                        <a:t>5.5.6.2.</a:t>
                      </a:r>
                      <a:r>
                        <a:rPr sz="700" b="0" i="1">
                          <a:solidFill>
                            <a:srgbClr val="000000"/>
                          </a:solidFill>
                          <a:latin typeface="Times New Roman"/>
                        </a:rPr>
                        <a:t>    </a:t>
                      </a:r>
                      <a:r>
                        <a:rPr sz="1100" b="0" i="1">
                          <a:solidFill>
                            <a:srgbClr val="000000"/>
                          </a:solidFill>
                          <a:latin typeface="Calibri"/>
                        </a:rPr>
                        <a:t>Fertilizers</a:t>
                      </a:r>
                      <a:endParaRPr sz="1100"/>
                    </a:p>
                  </a:txBody>
                  <a:tcPr marL="1028700" marR="9525" marT="9525" marB="0" anchor="ctr"/>
                </a:tc>
                <a:extLst>
                  <a:ext uri="{0D108BD9-81ED-4DB2-BD59-A6C34878D82A}">
                    <a16:rowId xmlns:a16="http://schemas.microsoft.com/office/drawing/2014/main" val="10012"/>
                  </a:ext>
                </a:extLst>
              </a:tr>
              <a:tr h="175260">
                <a:tc>
                  <a:txBody>
                    <a:bodyPr/>
                    <a:lstStyle/>
                    <a:p>
                      <a:pPr algn="l"/>
                      <a:r>
                        <a:rPr sz="1100" b="0" i="1">
                          <a:solidFill>
                            <a:srgbClr val="000000"/>
                          </a:solidFill>
                          <a:latin typeface="Calibri"/>
                        </a:rPr>
                        <a:t>5.5.6.3.</a:t>
                      </a:r>
                      <a:r>
                        <a:rPr sz="700" b="0" i="1">
                          <a:solidFill>
                            <a:srgbClr val="000000"/>
                          </a:solidFill>
                          <a:latin typeface="Times New Roman"/>
                        </a:rPr>
                        <a:t>    </a:t>
                      </a:r>
                      <a:r>
                        <a:rPr sz="1100" b="0" i="1">
                          <a:solidFill>
                            <a:srgbClr val="000000"/>
                          </a:solidFill>
                          <a:latin typeface="Calibri"/>
                        </a:rPr>
                        <a:t>Animal Feed</a:t>
                      </a:r>
                      <a:endParaRPr sz="1100"/>
                    </a:p>
                  </a:txBody>
                  <a:tcPr marL="1028700" marR="9525" marT="9525" marB="0" anchor="ctr"/>
                </a:tc>
                <a:extLst>
                  <a:ext uri="{0D108BD9-81ED-4DB2-BD59-A6C34878D82A}">
                    <a16:rowId xmlns:a16="http://schemas.microsoft.com/office/drawing/2014/main" val="10013"/>
                  </a:ext>
                </a:extLst>
              </a:tr>
              <a:tr h="175260">
                <a:tc>
                  <a:txBody>
                    <a:bodyPr/>
                    <a:lstStyle/>
                    <a:p>
                      <a:pPr algn="l"/>
                      <a:r>
                        <a:rPr sz="1100" b="0" i="1">
                          <a:solidFill>
                            <a:srgbClr val="000000"/>
                          </a:solidFill>
                          <a:latin typeface="Calibri"/>
                        </a:rPr>
                        <a:t>5.5.6.4.</a:t>
                      </a:r>
                      <a:r>
                        <a:rPr sz="700" b="0" i="1">
                          <a:solidFill>
                            <a:srgbClr val="000000"/>
                          </a:solidFill>
                          <a:latin typeface="Times New Roman"/>
                        </a:rPr>
                        <a:t>    </a:t>
                      </a:r>
                      <a:r>
                        <a:rPr sz="1100" b="0" i="1">
                          <a:solidFill>
                            <a:srgbClr val="000000"/>
                          </a:solidFill>
                          <a:latin typeface="Calibri"/>
                        </a:rPr>
                        <a:t>Produce Packaging</a:t>
                      </a:r>
                      <a:endParaRPr sz="1100"/>
                    </a:p>
                  </a:txBody>
                  <a:tcPr marL="1028700" marR="9525" marT="9525" marB="0" anchor="ctr"/>
                </a:tc>
                <a:extLst>
                  <a:ext uri="{0D108BD9-81ED-4DB2-BD59-A6C34878D82A}">
                    <a16:rowId xmlns:a16="http://schemas.microsoft.com/office/drawing/2014/main" val="10014"/>
                  </a:ext>
                </a:extLst>
              </a:tr>
              <a:tr h="175260">
                <a:tc>
                  <a:txBody>
                    <a:bodyPr/>
                    <a:lstStyle/>
                    <a:p>
                      <a:pPr algn="l"/>
                      <a:r>
                        <a:rPr sz="1100" b="0" i="0">
                          <a:solidFill>
                            <a:srgbClr val="000000"/>
                          </a:solidFill>
                          <a:latin typeface="Calibri"/>
                        </a:rPr>
                        <a:t>5.5.7.</a:t>
                      </a:r>
                      <a:r>
                        <a:rPr sz="700" b="0" i="0">
                          <a:solidFill>
                            <a:srgbClr val="000000"/>
                          </a:solidFill>
                          <a:latin typeface="Times New Roman"/>
                        </a:rPr>
                        <a:t>   </a:t>
                      </a:r>
                      <a:r>
                        <a:rPr sz="1100" b="0" i="0">
                          <a:solidFill>
                            <a:srgbClr val="000000"/>
                          </a:solidFill>
                          <a:latin typeface="Calibri"/>
                        </a:rPr>
                        <a:t>Electronics</a:t>
                      </a:r>
                      <a:endParaRPr sz="1100"/>
                    </a:p>
                  </a:txBody>
                  <a:tcPr marL="771525" marR="9525" marT="9525" marB="0" anchor="ctr"/>
                </a:tc>
                <a:extLst>
                  <a:ext uri="{0D108BD9-81ED-4DB2-BD59-A6C34878D82A}">
                    <a16:rowId xmlns:a16="http://schemas.microsoft.com/office/drawing/2014/main" val="10015"/>
                  </a:ext>
                </a:extLst>
              </a:tr>
              <a:tr h="175260">
                <a:tc>
                  <a:txBody>
                    <a:bodyPr/>
                    <a:lstStyle/>
                    <a:p>
                      <a:pPr algn="l"/>
                      <a:r>
                        <a:rPr sz="1100" b="0" i="1">
                          <a:solidFill>
                            <a:srgbClr val="000000"/>
                          </a:solidFill>
                          <a:latin typeface="Calibri"/>
                        </a:rPr>
                        <a:t>5.5.7.1.</a:t>
                      </a:r>
                      <a:r>
                        <a:rPr sz="700" b="0" i="1">
                          <a:solidFill>
                            <a:srgbClr val="000000"/>
                          </a:solidFill>
                          <a:latin typeface="Times New Roman"/>
                        </a:rPr>
                        <a:t>    </a:t>
                      </a:r>
                      <a:r>
                        <a:rPr sz="1100" b="0" i="1">
                          <a:solidFill>
                            <a:srgbClr val="000000"/>
                          </a:solidFill>
                          <a:latin typeface="Calibri"/>
                        </a:rPr>
                        <a:t>Semiconductors</a:t>
                      </a:r>
                      <a:endParaRPr sz="1100"/>
                    </a:p>
                  </a:txBody>
                  <a:tcPr marL="1028700" marR="9525" marT="9525" marB="0" anchor="ctr"/>
                </a:tc>
                <a:extLst>
                  <a:ext uri="{0D108BD9-81ED-4DB2-BD59-A6C34878D82A}">
                    <a16:rowId xmlns:a16="http://schemas.microsoft.com/office/drawing/2014/main" val="10016"/>
                  </a:ext>
                </a:extLst>
              </a:tr>
              <a:tr h="175260">
                <a:tc>
                  <a:txBody>
                    <a:bodyPr/>
                    <a:lstStyle/>
                    <a:p>
                      <a:pPr algn="l"/>
                      <a:r>
                        <a:rPr sz="1100" b="0" i="1">
                          <a:solidFill>
                            <a:srgbClr val="000000"/>
                          </a:solidFill>
                          <a:latin typeface="Calibri"/>
                        </a:rPr>
                        <a:t>5.5.7.2.</a:t>
                      </a:r>
                      <a:r>
                        <a:rPr sz="700" b="0" i="1">
                          <a:solidFill>
                            <a:srgbClr val="000000"/>
                          </a:solidFill>
                          <a:latin typeface="Times New Roman"/>
                        </a:rPr>
                        <a:t>    </a:t>
                      </a:r>
                      <a:r>
                        <a:rPr sz="1100" b="0" i="1">
                          <a:solidFill>
                            <a:srgbClr val="000000"/>
                          </a:solidFill>
                          <a:latin typeface="Calibri"/>
                        </a:rPr>
                        <a:t>Consumer Electronics</a:t>
                      </a:r>
                      <a:endParaRPr sz="1100"/>
                    </a:p>
                  </a:txBody>
                  <a:tcPr marL="1028700" marR="9525" marT="9525" marB="0" anchor="ctr"/>
                </a:tc>
                <a:extLst>
                  <a:ext uri="{0D108BD9-81ED-4DB2-BD59-A6C34878D82A}">
                    <a16:rowId xmlns:a16="http://schemas.microsoft.com/office/drawing/2014/main" val="10017"/>
                  </a:ext>
                </a:extLst>
              </a:tr>
              <a:tr h="175260">
                <a:tc>
                  <a:txBody>
                    <a:bodyPr/>
                    <a:lstStyle/>
                    <a:p>
                      <a:pPr algn="l"/>
                      <a:r>
                        <a:rPr sz="1100" b="0" i="1">
                          <a:solidFill>
                            <a:srgbClr val="000000"/>
                          </a:solidFill>
                          <a:latin typeface="Calibri"/>
                        </a:rPr>
                        <a:t>5.5.7.3.</a:t>
                      </a:r>
                      <a:r>
                        <a:rPr sz="700" b="0" i="1">
                          <a:solidFill>
                            <a:srgbClr val="000000"/>
                          </a:solidFill>
                          <a:latin typeface="Times New Roman"/>
                        </a:rPr>
                        <a:t>    </a:t>
                      </a:r>
                      <a:r>
                        <a:rPr sz="1100" b="0" i="1">
                          <a:solidFill>
                            <a:srgbClr val="000000"/>
                          </a:solidFill>
                          <a:latin typeface="Calibri"/>
                        </a:rPr>
                        <a:t>Electronic Components</a:t>
                      </a:r>
                      <a:endParaRPr sz="1100"/>
                    </a:p>
                  </a:txBody>
                  <a:tcPr marL="1028700" marR="9525" marT="9525" marB="0" anchor="ctr"/>
                </a:tc>
                <a:extLst>
                  <a:ext uri="{0D108BD9-81ED-4DB2-BD59-A6C34878D82A}">
                    <a16:rowId xmlns:a16="http://schemas.microsoft.com/office/drawing/2014/main" val="10018"/>
                  </a:ext>
                </a:extLst>
              </a:tr>
              <a:tr h="175260">
                <a:tc>
                  <a:txBody>
                    <a:bodyPr/>
                    <a:lstStyle/>
                    <a:p>
                      <a:pPr algn="l"/>
                      <a:r>
                        <a:rPr sz="1100" b="0" i="1">
                          <a:solidFill>
                            <a:srgbClr val="000000"/>
                          </a:solidFill>
                          <a:latin typeface="Calibri"/>
                        </a:rPr>
                        <a:t>5.5.7.4.</a:t>
                      </a:r>
                      <a:r>
                        <a:rPr sz="700" b="0" i="1">
                          <a:solidFill>
                            <a:srgbClr val="000000"/>
                          </a:solidFill>
                          <a:latin typeface="Times New Roman"/>
                        </a:rPr>
                        <a:t>    </a:t>
                      </a:r>
                      <a:r>
                        <a:rPr sz="1100" b="0" i="1">
                          <a:solidFill>
                            <a:srgbClr val="000000"/>
                          </a:solidFill>
                          <a:latin typeface="Calibri"/>
                        </a:rPr>
                        <a:t>PCB Packaging</a:t>
                      </a:r>
                      <a:endParaRPr sz="1100"/>
                    </a:p>
                  </a:txBody>
                  <a:tcPr marL="1028700" marR="9525" marT="9525" marB="0" anchor="ctr"/>
                </a:tc>
                <a:extLst>
                  <a:ext uri="{0D108BD9-81ED-4DB2-BD59-A6C34878D82A}">
                    <a16:rowId xmlns:a16="http://schemas.microsoft.com/office/drawing/2014/main" val="10019"/>
                  </a:ext>
                </a:extLst>
              </a:tr>
              <a:tr h="175260">
                <a:tc>
                  <a:txBody>
                    <a:bodyPr/>
                    <a:lstStyle/>
                    <a:p>
                      <a:pPr algn="l"/>
                      <a:r>
                        <a:rPr sz="1100" b="0" i="0">
                          <a:solidFill>
                            <a:srgbClr val="000000"/>
                          </a:solidFill>
                          <a:latin typeface="Calibri"/>
                        </a:rPr>
                        <a:t>5.5.8.</a:t>
                      </a:r>
                      <a:r>
                        <a:rPr sz="700" b="0" i="0">
                          <a:solidFill>
                            <a:srgbClr val="000000"/>
                          </a:solidFill>
                          <a:latin typeface="Times New Roman"/>
                        </a:rPr>
                        <a:t>   </a:t>
                      </a:r>
                      <a:r>
                        <a:rPr sz="1100" b="0" i="0">
                          <a:solidFill>
                            <a:srgbClr val="000000"/>
                          </a:solidFill>
                          <a:latin typeface="Calibri"/>
                        </a:rPr>
                        <a:t>Personal Care &amp; Cosmetics</a:t>
                      </a:r>
                      <a:endParaRPr sz="1100"/>
                    </a:p>
                  </a:txBody>
                  <a:tcPr marL="771525" marR="9525" marT="9525" marB="0" anchor="ctr"/>
                </a:tc>
                <a:extLst>
                  <a:ext uri="{0D108BD9-81ED-4DB2-BD59-A6C34878D82A}">
                    <a16:rowId xmlns:a16="http://schemas.microsoft.com/office/drawing/2014/main" val="10020"/>
                  </a:ext>
                </a:extLst>
              </a:tr>
              <a:tr h="175260">
                <a:tc>
                  <a:txBody>
                    <a:bodyPr/>
                    <a:lstStyle/>
                    <a:p>
                      <a:pPr algn="l"/>
                      <a:r>
                        <a:rPr sz="1100" b="0" i="1">
                          <a:solidFill>
                            <a:srgbClr val="000000"/>
                          </a:solidFill>
                          <a:latin typeface="Calibri"/>
                        </a:rPr>
                        <a:t>5.5.8.1.</a:t>
                      </a:r>
                      <a:r>
                        <a:rPr sz="700" b="0" i="1">
                          <a:solidFill>
                            <a:srgbClr val="000000"/>
                          </a:solidFill>
                          <a:latin typeface="Times New Roman"/>
                        </a:rPr>
                        <a:t>    </a:t>
                      </a:r>
                      <a:r>
                        <a:rPr sz="1100" b="0" i="1">
                          <a:solidFill>
                            <a:srgbClr val="000000"/>
                          </a:solidFill>
                          <a:latin typeface="Calibri"/>
                        </a:rPr>
                        <a:t>Cosmetic Products</a:t>
                      </a:r>
                      <a:endParaRPr sz="1100"/>
                    </a:p>
                  </a:txBody>
                  <a:tcPr marL="1028700" marR="9525" marT="9525" marB="0" anchor="ctr"/>
                </a:tc>
                <a:extLst>
                  <a:ext uri="{0D108BD9-81ED-4DB2-BD59-A6C34878D82A}">
                    <a16:rowId xmlns:a16="http://schemas.microsoft.com/office/drawing/2014/main" val="10021"/>
                  </a:ext>
                </a:extLst>
              </a:tr>
              <a:tr h="175260">
                <a:tc>
                  <a:txBody>
                    <a:bodyPr/>
                    <a:lstStyle/>
                    <a:p>
                      <a:pPr algn="l"/>
                      <a:r>
                        <a:rPr sz="1100" b="0" i="1">
                          <a:solidFill>
                            <a:srgbClr val="000000"/>
                          </a:solidFill>
                          <a:latin typeface="Calibri"/>
                        </a:rPr>
                        <a:t>5.5.8.2.</a:t>
                      </a:r>
                      <a:r>
                        <a:rPr sz="700" b="0" i="1">
                          <a:solidFill>
                            <a:srgbClr val="000000"/>
                          </a:solidFill>
                          <a:latin typeface="Times New Roman"/>
                        </a:rPr>
                        <a:t>    </a:t>
                      </a:r>
                      <a:r>
                        <a:rPr sz="1100" b="0" i="1">
                          <a:solidFill>
                            <a:srgbClr val="000000"/>
                          </a:solidFill>
                          <a:latin typeface="Calibri"/>
                        </a:rPr>
                        <a:t>Toiletries</a:t>
                      </a:r>
                      <a:endParaRPr sz="1100"/>
                    </a:p>
                  </a:txBody>
                  <a:tcPr marL="1028700" marR="9525" marT="9525" marB="0" anchor="ctr"/>
                </a:tc>
                <a:extLst>
                  <a:ext uri="{0D108BD9-81ED-4DB2-BD59-A6C34878D82A}">
                    <a16:rowId xmlns:a16="http://schemas.microsoft.com/office/drawing/2014/main" val="10022"/>
                  </a:ext>
                </a:extLst>
              </a:tr>
              <a:tr h="175260">
                <a:tc>
                  <a:txBody>
                    <a:bodyPr/>
                    <a:lstStyle/>
                    <a:p>
                      <a:pPr algn="l"/>
                      <a:r>
                        <a:rPr sz="1100" b="0" i="1">
                          <a:solidFill>
                            <a:srgbClr val="000000"/>
                          </a:solidFill>
                          <a:latin typeface="Calibri"/>
                        </a:rPr>
                        <a:t>5.5.8.3.</a:t>
                      </a:r>
                      <a:r>
                        <a:rPr sz="700" b="0" i="1">
                          <a:solidFill>
                            <a:srgbClr val="000000"/>
                          </a:solidFill>
                          <a:latin typeface="Times New Roman"/>
                        </a:rPr>
                        <a:t>    </a:t>
                      </a:r>
                      <a:r>
                        <a:rPr sz="1100" b="0" i="1">
                          <a:solidFill>
                            <a:srgbClr val="000000"/>
                          </a:solidFill>
                          <a:latin typeface="Calibri"/>
                        </a:rPr>
                        <a:t>Beauty Products</a:t>
                      </a:r>
                      <a:endParaRPr sz="1100"/>
                    </a:p>
                  </a:txBody>
                  <a:tcPr marL="1028700" marR="9525" marT="9525" marB="0" anchor="ctr"/>
                </a:tc>
                <a:extLst>
                  <a:ext uri="{0D108BD9-81ED-4DB2-BD59-A6C34878D82A}">
                    <a16:rowId xmlns:a16="http://schemas.microsoft.com/office/drawing/2014/main" val="10023"/>
                  </a:ext>
                </a:extLst>
              </a:tr>
              <a:tr h="175260">
                <a:tc>
                  <a:txBody>
                    <a:bodyPr/>
                    <a:lstStyle/>
                    <a:p>
                      <a:pPr algn="l"/>
                      <a:r>
                        <a:rPr sz="1100" b="1" i="0">
                          <a:solidFill>
                            <a:srgbClr val="000000"/>
                          </a:solidFill>
                          <a:latin typeface="Calibri"/>
                        </a:rPr>
                        <a:t>6.</a:t>
                      </a:r>
                      <a:r>
                        <a:rPr sz="700" b="1" i="0">
                          <a:solidFill>
                            <a:srgbClr val="000000"/>
                          </a:solidFill>
                          <a:latin typeface="Times New Roman"/>
                        </a:rPr>
                        <a:t>       </a:t>
                      </a:r>
                      <a:r>
                        <a:rPr sz="1100" b="1" i="0">
                          <a:solidFill>
                            <a:srgbClr val="000000"/>
                          </a:solidFill>
                          <a:latin typeface="Calibri"/>
                        </a:rPr>
                        <a:t>Global Market (Value- Volume) Analysis 2021–2036, by Region</a:t>
                      </a:r>
                      <a:endParaRPr sz="1100"/>
                    </a:p>
                  </a:txBody>
                  <a:tcPr marL="171450" marR="9525" marT="9525" marB="0" anchor="ctr"/>
                </a:tc>
                <a:extLst>
                  <a:ext uri="{0D108BD9-81ED-4DB2-BD59-A6C34878D82A}">
                    <a16:rowId xmlns:a16="http://schemas.microsoft.com/office/drawing/2014/main" val="10024"/>
                  </a:ext>
                </a:extLst>
              </a:tr>
              <a:tr h="175260">
                <a:tc>
                  <a:txBody>
                    <a:bodyPr/>
                    <a:lstStyle/>
                    <a:p>
                      <a:pPr algn="l"/>
                      <a:r>
                        <a:rPr sz="1100" b="0" i="0">
                          <a:solidFill>
                            <a:srgbClr val="0070C0"/>
                          </a:solidFill>
                          <a:latin typeface="Calibri"/>
                        </a:rPr>
                        <a:t>6.1.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extLst>
                  <a:ext uri="{0D108BD9-81ED-4DB2-BD59-A6C34878D82A}">
                    <a16:rowId xmlns:a16="http://schemas.microsoft.com/office/drawing/2014/main" val="10025"/>
                  </a:ext>
                </a:extLst>
              </a:tr>
              <a:tr h="175260">
                <a:tc>
                  <a:txBody>
                    <a:bodyPr/>
                    <a:lstStyle/>
                    <a:p>
                      <a:pPr algn="l"/>
                      <a:r>
                        <a:rPr sz="1100" b="0" i="0">
                          <a:solidFill>
                            <a:srgbClr val="0070C0"/>
                          </a:solidFill>
                          <a:latin typeface="Calibri"/>
                        </a:rPr>
                        <a:t>6.2.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26"/>
                  </a:ext>
                </a:extLst>
              </a:tr>
              <a:tr h="175260">
                <a:tc>
                  <a:txBody>
                    <a:bodyPr/>
                    <a:lstStyle/>
                    <a:p>
                      <a:pPr algn="l"/>
                      <a:r>
                        <a:rPr sz="1100" b="0" i="0">
                          <a:solidFill>
                            <a:srgbClr val="0070C0"/>
                          </a:solidFill>
                          <a:latin typeface="Calibri"/>
                        </a:rPr>
                        <a:t>6.3.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27"/>
                  </a:ext>
                </a:extLst>
              </a:tr>
              <a:tr h="175260">
                <a:tc>
                  <a:txBody>
                    <a:bodyPr/>
                    <a:lstStyle/>
                    <a:p>
                      <a:pPr algn="l"/>
                      <a:r>
                        <a:rPr sz="1100" b="0" i="0">
                          <a:solidFill>
                            <a:srgbClr val="0070C0"/>
                          </a:solidFill>
                          <a:latin typeface="Calibri"/>
                        </a:rPr>
                        <a:t>6.4.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28"/>
                  </a:ext>
                </a:extLst>
              </a:tr>
              <a:tr h="175260">
                <a:tc>
                  <a:txBody>
                    <a:bodyPr/>
                    <a:lstStyle/>
                    <a:p>
                      <a:pPr algn="l"/>
                      <a:r>
                        <a:rPr sz="1100" b="0" i="0">
                          <a:solidFill>
                            <a:srgbClr val="0070C0"/>
                          </a:solidFill>
                          <a:latin typeface="Calibri"/>
                        </a:rPr>
                        <a:t>6.5.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extLst>
                  <a:ext uri="{0D108BD9-81ED-4DB2-BD59-A6C34878D82A}">
                    <a16:rowId xmlns:a16="http://schemas.microsoft.com/office/drawing/2014/main" val="10029"/>
                  </a:ext>
                </a:extLst>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0">
                          <a:solidFill>
                            <a:srgbClr val="000000"/>
                          </a:solidFill>
                          <a:latin typeface="Calibri"/>
                        </a:rPr>
                        <a:t>6.5.1.</a:t>
                      </a:r>
                      <a:r>
                        <a:rPr sz="700" b="0" i="0">
                          <a:solidFill>
                            <a:srgbClr val="000000"/>
                          </a:solidFill>
                          <a:latin typeface="Times New Roman"/>
                        </a:rPr>
                        <a:t>   </a:t>
                      </a:r>
                      <a:r>
                        <a:rPr sz="1100" b="0" i="0">
                          <a:solidFill>
                            <a:srgbClr val="000000"/>
                          </a:solidFill>
                          <a:latin typeface="Calibri"/>
                        </a:rPr>
                        <a:t>North America</a:t>
                      </a:r>
                      <a:endParaRPr sz="1100"/>
                    </a:p>
                  </a:txBody>
                  <a:tcPr marL="771525" marR="9525" marT="9525" marB="0" anchor="ctr"/>
                </a:tc>
                <a:extLst>
                  <a:ext uri="{0D108BD9-81ED-4DB2-BD59-A6C34878D82A}">
                    <a16:rowId xmlns:a16="http://schemas.microsoft.com/office/drawing/2014/main" val="10000"/>
                  </a:ext>
                </a:extLst>
              </a:tr>
              <a:tr h="175260">
                <a:tc>
                  <a:txBody>
                    <a:bodyPr/>
                    <a:lstStyle/>
                    <a:p>
                      <a:pPr algn="l"/>
                      <a:r>
                        <a:rPr sz="1100" b="0" i="1">
                          <a:solidFill>
                            <a:srgbClr val="000000"/>
                          </a:solidFill>
                          <a:latin typeface="Calibri"/>
                        </a:rPr>
                        <a:t>6.5.1.1.</a:t>
                      </a:r>
                      <a:r>
                        <a:rPr sz="700" b="0" i="1">
                          <a:solidFill>
                            <a:srgbClr val="000000"/>
                          </a:solidFill>
                          <a:latin typeface="Times New Roman"/>
                        </a:rPr>
                        <a:t>    </a:t>
                      </a:r>
                      <a:r>
                        <a:rPr sz="1100" b="0" i="1">
                          <a:solidFill>
                            <a:srgbClr val="000000"/>
                          </a:solidFill>
                          <a:latin typeface="Calibri"/>
                        </a:rPr>
                        <a:t>U.S.</a:t>
                      </a:r>
                      <a:endParaRPr sz="1100"/>
                    </a:p>
                  </a:txBody>
                  <a:tcPr marL="1028700" marR="9525" marT="9525" marB="0" anchor="ctr"/>
                </a:tc>
                <a:extLst>
                  <a:ext uri="{0D108BD9-81ED-4DB2-BD59-A6C34878D82A}">
                    <a16:rowId xmlns:a16="http://schemas.microsoft.com/office/drawing/2014/main" val="10001"/>
                  </a:ext>
                </a:extLst>
              </a:tr>
              <a:tr h="175260">
                <a:tc>
                  <a:txBody>
                    <a:bodyPr/>
                    <a:lstStyle/>
                    <a:p>
                      <a:pPr algn="l"/>
                      <a:r>
                        <a:rPr sz="1100" b="0" i="1">
                          <a:solidFill>
                            <a:srgbClr val="000000"/>
                          </a:solidFill>
                          <a:latin typeface="Calibri"/>
                        </a:rPr>
                        <a:t>6.5.1.2.</a:t>
                      </a:r>
                      <a:r>
                        <a:rPr sz="700" b="0" i="1">
                          <a:solidFill>
                            <a:srgbClr val="000000"/>
                          </a:solidFill>
                          <a:latin typeface="Times New Roman"/>
                        </a:rPr>
                        <a:t>    </a:t>
                      </a:r>
                      <a:r>
                        <a:rPr sz="1100" b="0" i="1">
                          <a:solidFill>
                            <a:srgbClr val="000000"/>
                          </a:solidFill>
                          <a:latin typeface="Calibri"/>
                        </a:rPr>
                        <a:t>Canada</a:t>
                      </a:r>
                      <a:endParaRPr sz="1100"/>
                    </a:p>
                  </a:txBody>
                  <a:tcPr marL="1028700" marR="9525" marT="9525" marB="0" anchor="ctr"/>
                </a:tc>
                <a:extLst>
                  <a:ext uri="{0D108BD9-81ED-4DB2-BD59-A6C34878D82A}">
                    <a16:rowId xmlns:a16="http://schemas.microsoft.com/office/drawing/2014/main" val="10002"/>
                  </a:ext>
                </a:extLst>
              </a:tr>
              <a:tr h="175260">
                <a:tc>
                  <a:txBody>
                    <a:bodyPr/>
                    <a:lstStyle/>
                    <a:p>
                      <a:pPr algn="l"/>
                      <a:r>
                        <a:rPr sz="1100" b="0" i="0">
                          <a:solidFill>
                            <a:srgbClr val="000000"/>
                          </a:solidFill>
                          <a:latin typeface="Calibri"/>
                        </a:rPr>
                        <a:t>6.5.2.</a:t>
                      </a:r>
                      <a:r>
                        <a:rPr sz="700" b="0" i="0">
                          <a:solidFill>
                            <a:srgbClr val="000000"/>
                          </a:solidFill>
                          <a:latin typeface="Times New Roman"/>
                        </a:rPr>
                        <a:t>   </a:t>
                      </a:r>
                      <a:r>
                        <a:rPr sz="1100" b="0" i="0">
                          <a:solidFill>
                            <a:srgbClr val="000000"/>
                          </a:solidFill>
                          <a:latin typeface="Calibri"/>
                        </a:rPr>
                        <a:t>Latin America</a:t>
                      </a:r>
                      <a:endParaRPr sz="1100"/>
                    </a:p>
                  </a:txBody>
                  <a:tcPr marL="771525" marR="9525" marT="9525" marB="0" anchor="ctr"/>
                </a:tc>
                <a:extLst>
                  <a:ext uri="{0D108BD9-81ED-4DB2-BD59-A6C34878D82A}">
                    <a16:rowId xmlns:a16="http://schemas.microsoft.com/office/drawing/2014/main" val="10003"/>
                  </a:ext>
                </a:extLst>
              </a:tr>
              <a:tr h="175260">
                <a:tc>
                  <a:txBody>
                    <a:bodyPr/>
                    <a:lstStyle/>
                    <a:p>
                      <a:pPr algn="l"/>
                      <a:r>
                        <a:rPr sz="1100" b="0" i="1">
                          <a:solidFill>
                            <a:srgbClr val="000000"/>
                          </a:solidFill>
                          <a:latin typeface="Calibri"/>
                        </a:rPr>
                        <a:t>6.5.2.1.</a:t>
                      </a:r>
                      <a:r>
                        <a:rPr sz="700" b="0" i="1">
                          <a:solidFill>
                            <a:srgbClr val="000000"/>
                          </a:solidFill>
                          <a:latin typeface="Times New Roman"/>
                        </a:rPr>
                        <a:t>    </a:t>
                      </a:r>
                      <a:r>
                        <a:rPr sz="1100" b="0" i="1">
                          <a:solidFill>
                            <a:srgbClr val="000000"/>
                          </a:solidFill>
                          <a:latin typeface="Calibri"/>
                        </a:rPr>
                        <a:t>Brazil</a:t>
                      </a:r>
                      <a:endParaRPr sz="1100"/>
                    </a:p>
                  </a:txBody>
                  <a:tcPr marL="1028700" marR="9525" marT="9525" marB="0" anchor="ctr"/>
                </a:tc>
                <a:extLst>
                  <a:ext uri="{0D108BD9-81ED-4DB2-BD59-A6C34878D82A}">
                    <a16:rowId xmlns:a16="http://schemas.microsoft.com/office/drawing/2014/main" val="10004"/>
                  </a:ext>
                </a:extLst>
              </a:tr>
              <a:tr h="175260">
                <a:tc>
                  <a:txBody>
                    <a:bodyPr/>
                    <a:lstStyle/>
                    <a:p>
                      <a:pPr algn="l"/>
                      <a:r>
                        <a:rPr sz="1100" b="0" i="1">
                          <a:solidFill>
                            <a:srgbClr val="000000"/>
                          </a:solidFill>
                          <a:latin typeface="Calibri"/>
                        </a:rPr>
                        <a:t>6.5.2.2.</a:t>
                      </a:r>
                      <a:r>
                        <a:rPr sz="700" b="0" i="1">
                          <a:solidFill>
                            <a:srgbClr val="000000"/>
                          </a:solidFill>
                          <a:latin typeface="Times New Roman"/>
                        </a:rPr>
                        <a:t>    </a:t>
                      </a:r>
                      <a:r>
                        <a:rPr sz="1100" b="0" i="1">
                          <a:solidFill>
                            <a:srgbClr val="000000"/>
                          </a:solidFill>
                          <a:latin typeface="Calibri"/>
                        </a:rPr>
                        <a:t>Mexico</a:t>
                      </a:r>
                      <a:endParaRPr sz="1100"/>
                    </a:p>
                  </a:txBody>
                  <a:tcPr marL="1028700" marR="9525" marT="9525" marB="0" anchor="ctr"/>
                </a:tc>
                <a:extLst>
                  <a:ext uri="{0D108BD9-81ED-4DB2-BD59-A6C34878D82A}">
                    <a16:rowId xmlns:a16="http://schemas.microsoft.com/office/drawing/2014/main" val="10005"/>
                  </a:ext>
                </a:extLst>
              </a:tr>
              <a:tr h="175260">
                <a:tc>
                  <a:txBody>
                    <a:bodyPr/>
                    <a:lstStyle/>
                    <a:p>
                      <a:pPr algn="l"/>
                      <a:r>
                        <a:rPr sz="1100" b="0" i="1">
                          <a:solidFill>
                            <a:srgbClr val="000000"/>
                          </a:solidFill>
                          <a:latin typeface="Calibri"/>
                        </a:rPr>
                        <a:t>6.5.2.3.</a:t>
                      </a:r>
                      <a:r>
                        <a:rPr sz="700" b="0" i="1">
                          <a:solidFill>
                            <a:srgbClr val="000000"/>
                          </a:solidFill>
                          <a:latin typeface="Times New Roman"/>
                        </a:rPr>
                        <a:t>    </a:t>
                      </a:r>
                      <a:r>
                        <a:rPr sz="1100" b="0" i="1">
                          <a:solidFill>
                            <a:srgbClr val="000000"/>
                          </a:solidFill>
                          <a:latin typeface="Calibri"/>
                        </a:rPr>
                        <a:t>Rest of LATAM</a:t>
                      </a:r>
                      <a:endParaRPr sz="1100"/>
                    </a:p>
                  </a:txBody>
                  <a:tcPr marL="1028700" marR="9525" marT="9525" marB="0" anchor="ctr"/>
                </a:tc>
                <a:extLst>
                  <a:ext uri="{0D108BD9-81ED-4DB2-BD59-A6C34878D82A}">
                    <a16:rowId xmlns:a16="http://schemas.microsoft.com/office/drawing/2014/main" val="10006"/>
                  </a:ext>
                </a:extLst>
              </a:tr>
              <a:tr h="175260">
                <a:tc>
                  <a:txBody>
                    <a:bodyPr/>
                    <a:lstStyle/>
                    <a:p>
                      <a:pPr algn="l"/>
                      <a:r>
                        <a:rPr sz="1100" b="0" i="0">
                          <a:solidFill>
                            <a:srgbClr val="000000"/>
                          </a:solidFill>
                          <a:latin typeface="Calibri"/>
                        </a:rPr>
                        <a:t>6.5.3.</a:t>
                      </a:r>
                      <a:r>
                        <a:rPr sz="700" b="0" i="0">
                          <a:solidFill>
                            <a:srgbClr val="000000"/>
                          </a:solidFill>
                          <a:latin typeface="Times New Roman"/>
                        </a:rPr>
                        <a:t>   </a:t>
                      </a:r>
                      <a:r>
                        <a:rPr sz="1100" b="0" i="0">
                          <a:solidFill>
                            <a:srgbClr val="000000"/>
                          </a:solidFill>
                          <a:latin typeface="Calibri"/>
                        </a:rPr>
                        <a:t>East Asia</a:t>
                      </a:r>
                      <a:endParaRPr sz="1100"/>
                    </a:p>
                  </a:txBody>
                  <a:tcPr marL="771525" marR="9525" marT="9525" marB="0" anchor="ctr"/>
                </a:tc>
                <a:extLst>
                  <a:ext uri="{0D108BD9-81ED-4DB2-BD59-A6C34878D82A}">
                    <a16:rowId xmlns:a16="http://schemas.microsoft.com/office/drawing/2014/main" val="10007"/>
                  </a:ext>
                </a:extLst>
              </a:tr>
              <a:tr h="175260">
                <a:tc>
                  <a:txBody>
                    <a:bodyPr/>
                    <a:lstStyle/>
                    <a:p>
                      <a:pPr algn="l"/>
                      <a:r>
                        <a:rPr sz="1100" b="0" i="1">
                          <a:solidFill>
                            <a:srgbClr val="000000"/>
                          </a:solidFill>
                          <a:latin typeface="Calibri"/>
                        </a:rPr>
                        <a:t>6.5.3.1.</a:t>
                      </a:r>
                      <a:r>
                        <a:rPr sz="700" b="0" i="1">
                          <a:solidFill>
                            <a:srgbClr val="000000"/>
                          </a:solidFill>
                          <a:latin typeface="Times New Roman"/>
                        </a:rPr>
                        <a:t>    </a:t>
                      </a:r>
                      <a:r>
                        <a:rPr sz="1100" b="0" i="1">
                          <a:solidFill>
                            <a:srgbClr val="000000"/>
                          </a:solidFill>
                          <a:latin typeface="Calibri"/>
                        </a:rPr>
                        <a:t>China</a:t>
                      </a:r>
                      <a:endParaRPr sz="1100"/>
                    </a:p>
                  </a:txBody>
                  <a:tcPr marL="1028700" marR="9525" marT="9525" marB="0" anchor="ctr"/>
                </a:tc>
                <a:extLst>
                  <a:ext uri="{0D108BD9-81ED-4DB2-BD59-A6C34878D82A}">
                    <a16:rowId xmlns:a16="http://schemas.microsoft.com/office/drawing/2014/main" val="10008"/>
                  </a:ext>
                </a:extLst>
              </a:tr>
              <a:tr h="175260">
                <a:tc>
                  <a:txBody>
                    <a:bodyPr/>
                    <a:lstStyle/>
                    <a:p>
                      <a:pPr algn="l"/>
                      <a:r>
                        <a:rPr sz="1100" b="0" i="1">
                          <a:solidFill>
                            <a:srgbClr val="000000"/>
                          </a:solidFill>
                          <a:latin typeface="Calibri"/>
                        </a:rPr>
                        <a:t>6.5.3.2.</a:t>
                      </a:r>
                      <a:r>
                        <a:rPr sz="700" b="0" i="1">
                          <a:solidFill>
                            <a:srgbClr val="000000"/>
                          </a:solidFill>
                          <a:latin typeface="Times New Roman"/>
                        </a:rPr>
                        <a:t>    </a:t>
                      </a:r>
                      <a:r>
                        <a:rPr sz="1100" b="0" i="1">
                          <a:solidFill>
                            <a:srgbClr val="000000"/>
                          </a:solidFill>
                          <a:latin typeface="Calibri"/>
                        </a:rPr>
                        <a:t>Japan</a:t>
                      </a:r>
                      <a:endParaRPr sz="1100"/>
                    </a:p>
                  </a:txBody>
                  <a:tcPr marL="1028700" marR="9525" marT="9525" marB="0" anchor="ctr"/>
                </a:tc>
                <a:extLst>
                  <a:ext uri="{0D108BD9-81ED-4DB2-BD59-A6C34878D82A}">
                    <a16:rowId xmlns:a16="http://schemas.microsoft.com/office/drawing/2014/main" val="10009"/>
                  </a:ext>
                </a:extLst>
              </a:tr>
              <a:tr h="175260">
                <a:tc>
                  <a:txBody>
                    <a:bodyPr/>
                    <a:lstStyle/>
                    <a:p>
                      <a:pPr algn="l"/>
                      <a:r>
                        <a:rPr sz="1100" b="0" i="1">
                          <a:solidFill>
                            <a:srgbClr val="000000"/>
                          </a:solidFill>
                          <a:latin typeface="Calibri"/>
                        </a:rPr>
                        <a:t>6.5.3.3.</a:t>
                      </a:r>
                      <a:r>
                        <a:rPr sz="700" b="0" i="1">
                          <a:solidFill>
                            <a:srgbClr val="000000"/>
                          </a:solidFill>
                          <a:latin typeface="Times New Roman"/>
                        </a:rPr>
                        <a:t>    </a:t>
                      </a:r>
                      <a:r>
                        <a:rPr sz="1100" b="0" i="1">
                          <a:solidFill>
                            <a:srgbClr val="000000"/>
                          </a:solidFill>
                          <a:latin typeface="Calibri"/>
                        </a:rPr>
                        <a:t>S Korea</a:t>
                      </a:r>
                      <a:endParaRPr sz="1100"/>
                    </a:p>
                  </a:txBody>
                  <a:tcPr marL="1028700" marR="9525" marT="9525" marB="0" anchor="ctr"/>
                </a:tc>
                <a:extLst>
                  <a:ext uri="{0D108BD9-81ED-4DB2-BD59-A6C34878D82A}">
                    <a16:rowId xmlns:a16="http://schemas.microsoft.com/office/drawing/2014/main" val="10010"/>
                  </a:ext>
                </a:extLst>
              </a:tr>
              <a:tr h="175260">
                <a:tc>
                  <a:txBody>
                    <a:bodyPr/>
                    <a:lstStyle/>
                    <a:p>
                      <a:pPr algn="l"/>
                      <a:r>
                        <a:rPr sz="1100" b="0" i="0">
                          <a:solidFill>
                            <a:srgbClr val="000000"/>
                          </a:solidFill>
                          <a:latin typeface="Calibri"/>
                        </a:rPr>
                        <a:t>6.5.4.</a:t>
                      </a:r>
                      <a:r>
                        <a:rPr sz="700" b="0" i="0">
                          <a:solidFill>
                            <a:srgbClr val="000000"/>
                          </a:solidFill>
                          <a:latin typeface="Times New Roman"/>
                        </a:rPr>
                        <a:t>   </a:t>
                      </a:r>
                      <a:r>
                        <a:rPr sz="1100" b="0" i="0">
                          <a:solidFill>
                            <a:srgbClr val="000000"/>
                          </a:solidFill>
                          <a:latin typeface="Calibri"/>
                        </a:rPr>
                        <a:t>South Asia &amp; Pacific</a:t>
                      </a:r>
                      <a:endParaRPr sz="1100"/>
                    </a:p>
                  </a:txBody>
                  <a:tcPr marL="771525" marR="9525" marT="9525" marB="0" anchor="ctr"/>
                </a:tc>
                <a:extLst>
                  <a:ext uri="{0D108BD9-81ED-4DB2-BD59-A6C34878D82A}">
                    <a16:rowId xmlns:a16="http://schemas.microsoft.com/office/drawing/2014/main" val="10011"/>
                  </a:ext>
                </a:extLst>
              </a:tr>
              <a:tr h="175260">
                <a:tc>
                  <a:txBody>
                    <a:bodyPr/>
                    <a:lstStyle/>
                    <a:p>
                      <a:pPr algn="l"/>
                      <a:r>
                        <a:rPr sz="1100" b="0" i="1">
                          <a:solidFill>
                            <a:srgbClr val="000000"/>
                          </a:solidFill>
                          <a:latin typeface="Calibri"/>
                        </a:rPr>
                        <a:t>6.5.4.1.</a:t>
                      </a:r>
                      <a:r>
                        <a:rPr sz="700" b="0" i="1">
                          <a:solidFill>
                            <a:srgbClr val="000000"/>
                          </a:solidFill>
                          <a:latin typeface="Times New Roman"/>
                        </a:rPr>
                        <a:t>    </a:t>
                      </a:r>
                      <a:r>
                        <a:rPr sz="1100" b="0" i="1">
                          <a:solidFill>
                            <a:srgbClr val="000000"/>
                          </a:solidFill>
                          <a:latin typeface="Calibri"/>
                        </a:rPr>
                        <a:t>India</a:t>
                      </a:r>
                      <a:endParaRPr sz="1100"/>
                    </a:p>
                  </a:txBody>
                  <a:tcPr marL="1028700" marR="9525" marT="9525" marB="0" anchor="ctr"/>
                </a:tc>
                <a:extLst>
                  <a:ext uri="{0D108BD9-81ED-4DB2-BD59-A6C34878D82A}">
                    <a16:rowId xmlns:a16="http://schemas.microsoft.com/office/drawing/2014/main" val="10012"/>
                  </a:ext>
                </a:extLst>
              </a:tr>
              <a:tr h="175260">
                <a:tc>
                  <a:txBody>
                    <a:bodyPr/>
                    <a:lstStyle/>
                    <a:p>
                      <a:pPr algn="l"/>
                      <a:r>
                        <a:rPr sz="1100" b="0" i="1">
                          <a:solidFill>
                            <a:srgbClr val="000000"/>
                          </a:solidFill>
                          <a:latin typeface="Calibri"/>
                        </a:rPr>
                        <a:t>6.5.4.2.</a:t>
                      </a:r>
                      <a:r>
                        <a:rPr sz="700" b="0" i="1">
                          <a:solidFill>
                            <a:srgbClr val="000000"/>
                          </a:solidFill>
                          <a:latin typeface="Times New Roman"/>
                        </a:rPr>
                        <a:t>    </a:t>
                      </a:r>
                      <a:r>
                        <a:rPr sz="1100" b="0" i="1">
                          <a:solidFill>
                            <a:srgbClr val="000000"/>
                          </a:solidFill>
                          <a:latin typeface="Calibri"/>
                        </a:rPr>
                        <a:t>Thailand</a:t>
                      </a:r>
                      <a:endParaRPr sz="1100"/>
                    </a:p>
                  </a:txBody>
                  <a:tcPr marL="1028700" marR="9525" marT="9525" marB="0" anchor="ctr"/>
                </a:tc>
                <a:extLst>
                  <a:ext uri="{0D108BD9-81ED-4DB2-BD59-A6C34878D82A}">
                    <a16:rowId xmlns:a16="http://schemas.microsoft.com/office/drawing/2014/main" val="10013"/>
                  </a:ext>
                </a:extLst>
              </a:tr>
              <a:tr h="175260">
                <a:tc>
                  <a:txBody>
                    <a:bodyPr/>
                    <a:lstStyle/>
                    <a:p>
                      <a:pPr algn="l"/>
                      <a:r>
                        <a:rPr sz="1100" b="0" i="1">
                          <a:solidFill>
                            <a:srgbClr val="000000"/>
                          </a:solidFill>
                          <a:latin typeface="Calibri"/>
                        </a:rPr>
                        <a:t>6.5.4.3.</a:t>
                      </a:r>
                      <a:r>
                        <a:rPr sz="700" b="0" i="1">
                          <a:solidFill>
                            <a:srgbClr val="000000"/>
                          </a:solidFill>
                          <a:latin typeface="Times New Roman"/>
                        </a:rPr>
                        <a:t>    </a:t>
                      </a:r>
                      <a:r>
                        <a:rPr sz="1100" b="0" i="1">
                          <a:solidFill>
                            <a:srgbClr val="000000"/>
                          </a:solidFill>
                          <a:latin typeface="Calibri"/>
                        </a:rPr>
                        <a:t>Malaysia</a:t>
                      </a:r>
                      <a:endParaRPr sz="1100"/>
                    </a:p>
                  </a:txBody>
                  <a:tcPr marL="1028700" marR="9525" marT="9525" marB="0" anchor="ctr"/>
                </a:tc>
                <a:extLst>
                  <a:ext uri="{0D108BD9-81ED-4DB2-BD59-A6C34878D82A}">
                    <a16:rowId xmlns:a16="http://schemas.microsoft.com/office/drawing/2014/main" val="10014"/>
                  </a:ext>
                </a:extLst>
              </a:tr>
              <a:tr h="175260">
                <a:tc>
                  <a:txBody>
                    <a:bodyPr/>
                    <a:lstStyle/>
                    <a:p>
                      <a:pPr algn="l"/>
                      <a:r>
                        <a:rPr sz="1100" b="0" i="1">
                          <a:solidFill>
                            <a:srgbClr val="000000"/>
                          </a:solidFill>
                          <a:latin typeface="Calibri"/>
                        </a:rPr>
                        <a:t>6.5.4.4.</a:t>
                      </a:r>
                      <a:r>
                        <a:rPr sz="700" b="0" i="1">
                          <a:solidFill>
                            <a:srgbClr val="000000"/>
                          </a:solidFill>
                          <a:latin typeface="Times New Roman"/>
                        </a:rPr>
                        <a:t>    </a:t>
                      </a:r>
                      <a:r>
                        <a:rPr sz="1100" b="0" i="1">
                          <a:solidFill>
                            <a:srgbClr val="000000"/>
                          </a:solidFill>
                          <a:latin typeface="Calibri"/>
                        </a:rPr>
                        <a:t>Indonesia</a:t>
                      </a:r>
                      <a:endParaRPr sz="1100"/>
                    </a:p>
                  </a:txBody>
                  <a:tcPr marL="1028700" marR="9525" marT="9525" marB="0" anchor="ctr"/>
                </a:tc>
                <a:extLst>
                  <a:ext uri="{0D108BD9-81ED-4DB2-BD59-A6C34878D82A}">
                    <a16:rowId xmlns:a16="http://schemas.microsoft.com/office/drawing/2014/main" val="10015"/>
                  </a:ext>
                </a:extLst>
              </a:tr>
              <a:tr h="175260">
                <a:tc>
                  <a:txBody>
                    <a:bodyPr/>
                    <a:lstStyle/>
                    <a:p>
                      <a:pPr algn="l"/>
                      <a:r>
                        <a:rPr sz="1100" b="0" i="1">
                          <a:solidFill>
                            <a:srgbClr val="000000"/>
                          </a:solidFill>
                          <a:latin typeface="Calibri"/>
                        </a:rPr>
                        <a:t>6.5.4.5.</a:t>
                      </a:r>
                      <a:r>
                        <a:rPr sz="700" b="0" i="1">
                          <a:solidFill>
                            <a:srgbClr val="000000"/>
                          </a:solidFill>
                          <a:latin typeface="Times New Roman"/>
                        </a:rPr>
                        <a:t>    </a:t>
                      </a:r>
                      <a:r>
                        <a:rPr sz="1100" b="0" i="1">
                          <a:solidFill>
                            <a:srgbClr val="000000"/>
                          </a:solidFill>
                          <a:latin typeface="Calibri"/>
                        </a:rPr>
                        <a:t>Philippines</a:t>
                      </a:r>
                      <a:endParaRPr sz="1100"/>
                    </a:p>
                  </a:txBody>
                  <a:tcPr marL="1028700" marR="9525" marT="9525" marB="0" anchor="ctr"/>
                </a:tc>
                <a:extLst>
                  <a:ext uri="{0D108BD9-81ED-4DB2-BD59-A6C34878D82A}">
                    <a16:rowId xmlns:a16="http://schemas.microsoft.com/office/drawing/2014/main" val="10016"/>
                  </a:ext>
                </a:extLst>
              </a:tr>
              <a:tr h="175260">
                <a:tc>
                  <a:txBody>
                    <a:bodyPr/>
                    <a:lstStyle/>
                    <a:p>
                      <a:pPr algn="l"/>
                      <a:r>
                        <a:rPr sz="1100" b="0" i="1">
                          <a:solidFill>
                            <a:srgbClr val="000000"/>
                          </a:solidFill>
                          <a:latin typeface="Calibri"/>
                        </a:rPr>
                        <a:t>6.5.4.6.</a:t>
                      </a:r>
                      <a:r>
                        <a:rPr sz="700" b="0" i="1">
                          <a:solidFill>
                            <a:srgbClr val="000000"/>
                          </a:solidFill>
                          <a:latin typeface="Times New Roman"/>
                        </a:rPr>
                        <a:t>    </a:t>
                      </a:r>
                      <a:r>
                        <a:rPr sz="1100" b="0" i="1">
                          <a:solidFill>
                            <a:srgbClr val="000000"/>
                          </a:solidFill>
                          <a:latin typeface="Calibri"/>
                        </a:rPr>
                        <a:t>Singapore</a:t>
                      </a:r>
                      <a:endParaRPr sz="1100"/>
                    </a:p>
                  </a:txBody>
                  <a:tcPr marL="1028700" marR="9525" marT="9525" marB="0" anchor="ctr"/>
                </a:tc>
                <a:extLst>
                  <a:ext uri="{0D108BD9-81ED-4DB2-BD59-A6C34878D82A}">
                    <a16:rowId xmlns:a16="http://schemas.microsoft.com/office/drawing/2014/main" val="10017"/>
                  </a:ext>
                </a:extLst>
              </a:tr>
              <a:tr h="175260">
                <a:tc>
                  <a:txBody>
                    <a:bodyPr/>
                    <a:lstStyle/>
                    <a:p>
                      <a:pPr algn="l"/>
                      <a:r>
                        <a:rPr sz="1100" b="0" i="1">
                          <a:solidFill>
                            <a:srgbClr val="000000"/>
                          </a:solidFill>
                          <a:latin typeface="Calibri"/>
                        </a:rPr>
                        <a:t>6.5.4.7.</a:t>
                      </a:r>
                      <a:r>
                        <a:rPr sz="700" b="0" i="1">
                          <a:solidFill>
                            <a:srgbClr val="000000"/>
                          </a:solidFill>
                          <a:latin typeface="Times New Roman"/>
                        </a:rPr>
                        <a:t>    </a:t>
                      </a:r>
                      <a:r>
                        <a:rPr sz="1100" b="0" i="1">
                          <a:solidFill>
                            <a:srgbClr val="000000"/>
                          </a:solidFill>
                          <a:latin typeface="Calibri"/>
                        </a:rPr>
                        <a:t>Australia</a:t>
                      </a:r>
                      <a:endParaRPr sz="1100"/>
                    </a:p>
                  </a:txBody>
                  <a:tcPr marL="1028700" marR="9525" marT="9525" marB="0" anchor="ctr"/>
                </a:tc>
                <a:extLst>
                  <a:ext uri="{0D108BD9-81ED-4DB2-BD59-A6C34878D82A}">
                    <a16:rowId xmlns:a16="http://schemas.microsoft.com/office/drawing/2014/main" val="10018"/>
                  </a:ext>
                </a:extLst>
              </a:tr>
              <a:tr h="175260">
                <a:tc>
                  <a:txBody>
                    <a:bodyPr/>
                    <a:lstStyle/>
                    <a:p>
                      <a:pPr algn="l"/>
                      <a:r>
                        <a:rPr sz="1100" b="0" i="1">
                          <a:solidFill>
                            <a:srgbClr val="000000"/>
                          </a:solidFill>
                          <a:latin typeface="Calibri"/>
                        </a:rPr>
                        <a:t>6.5.4.8.</a:t>
                      </a:r>
                      <a:r>
                        <a:rPr sz="700" b="0" i="1">
                          <a:solidFill>
                            <a:srgbClr val="000000"/>
                          </a:solidFill>
                          <a:latin typeface="Times New Roman"/>
                        </a:rPr>
                        <a:t>    </a:t>
                      </a:r>
                      <a:r>
                        <a:rPr sz="1100" b="0" i="1">
                          <a:solidFill>
                            <a:srgbClr val="000000"/>
                          </a:solidFill>
                          <a:latin typeface="Calibri"/>
                        </a:rPr>
                        <a:t>New Zealand</a:t>
                      </a:r>
                      <a:endParaRPr sz="1100"/>
                    </a:p>
                  </a:txBody>
                  <a:tcPr marL="1028700" marR="9525" marT="9525" marB="0" anchor="ctr"/>
                </a:tc>
                <a:extLst>
                  <a:ext uri="{0D108BD9-81ED-4DB2-BD59-A6C34878D82A}">
                    <a16:rowId xmlns:a16="http://schemas.microsoft.com/office/drawing/2014/main" val="10019"/>
                  </a:ext>
                </a:extLst>
              </a:tr>
              <a:tr h="175260">
                <a:tc>
                  <a:txBody>
                    <a:bodyPr/>
                    <a:lstStyle/>
                    <a:p>
                      <a:pPr algn="l"/>
                      <a:r>
                        <a:rPr sz="1100" b="0" i="1">
                          <a:solidFill>
                            <a:srgbClr val="000000"/>
                          </a:solidFill>
                          <a:latin typeface="Calibri"/>
                        </a:rPr>
                        <a:t>6.5.4.9.</a:t>
                      </a:r>
                      <a:r>
                        <a:rPr sz="700" b="0" i="1">
                          <a:solidFill>
                            <a:srgbClr val="000000"/>
                          </a:solidFill>
                          <a:latin typeface="Times New Roman"/>
                        </a:rPr>
                        <a:t>    </a:t>
                      </a:r>
                      <a:r>
                        <a:rPr sz="1100" b="0" i="1">
                          <a:solidFill>
                            <a:srgbClr val="000000"/>
                          </a:solidFill>
                          <a:latin typeface="Calibri"/>
                        </a:rPr>
                        <a:t>Rest of South East Asia</a:t>
                      </a:r>
                      <a:endParaRPr sz="1100"/>
                    </a:p>
                  </a:txBody>
                  <a:tcPr marL="1028700" marR="9525" marT="9525" marB="0" anchor="ctr"/>
                </a:tc>
                <a:extLst>
                  <a:ext uri="{0D108BD9-81ED-4DB2-BD59-A6C34878D82A}">
                    <a16:rowId xmlns:a16="http://schemas.microsoft.com/office/drawing/2014/main" val="10020"/>
                  </a:ext>
                </a:extLst>
              </a:tr>
              <a:tr h="175260">
                <a:tc>
                  <a:txBody>
                    <a:bodyPr/>
                    <a:lstStyle/>
                    <a:p>
                      <a:pPr algn="l"/>
                      <a:r>
                        <a:rPr sz="1100" b="0" i="0">
                          <a:solidFill>
                            <a:srgbClr val="000000"/>
                          </a:solidFill>
                          <a:latin typeface="Calibri"/>
                        </a:rPr>
                        <a:t>6.5.5.</a:t>
                      </a:r>
                      <a:r>
                        <a:rPr sz="700" b="0" i="0">
                          <a:solidFill>
                            <a:srgbClr val="000000"/>
                          </a:solidFill>
                          <a:latin typeface="Times New Roman"/>
                        </a:rPr>
                        <a:t>   </a:t>
                      </a:r>
                      <a:r>
                        <a:rPr sz="1100" b="0" i="0">
                          <a:solidFill>
                            <a:srgbClr val="000000"/>
                          </a:solidFill>
                          <a:latin typeface="Calibri"/>
                        </a:rPr>
                        <a:t>Europe</a:t>
                      </a:r>
                      <a:endParaRPr sz="1100"/>
                    </a:p>
                  </a:txBody>
                  <a:tcPr marL="771525" marR="9525" marT="9525" marB="0" anchor="ctr"/>
                </a:tc>
                <a:extLst>
                  <a:ext uri="{0D108BD9-81ED-4DB2-BD59-A6C34878D82A}">
                    <a16:rowId xmlns:a16="http://schemas.microsoft.com/office/drawing/2014/main" val="10021"/>
                  </a:ext>
                </a:extLst>
              </a:tr>
              <a:tr h="175260">
                <a:tc>
                  <a:txBody>
                    <a:bodyPr/>
                    <a:lstStyle/>
                    <a:p>
                      <a:pPr algn="l"/>
                      <a:r>
                        <a:rPr sz="1100" b="0" i="1">
                          <a:solidFill>
                            <a:srgbClr val="000000"/>
                          </a:solidFill>
                          <a:latin typeface="Calibri"/>
                        </a:rPr>
                        <a:t>6.5.5.1.</a:t>
                      </a:r>
                      <a:r>
                        <a:rPr sz="700" b="0" i="1">
                          <a:solidFill>
                            <a:srgbClr val="000000"/>
                          </a:solidFill>
                          <a:latin typeface="Times New Roman"/>
                        </a:rPr>
                        <a:t>    </a:t>
                      </a:r>
                      <a:r>
                        <a:rPr sz="1100" b="0" i="1">
                          <a:solidFill>
                            <a:srgbClr val="000000"/>
                          </a:solidFill>
                          <a:latin typeface="Calibri"/>
                        </a:rPr>
                        <a:t>Germany</a:t>
                      </a:r>
                      <a:endParaRPr sz="1100"/>
                    </a:p>
                  </a:txBody>
                  <a:tcPr marL="1028700" marR="9525" marT="9525" marB="0" anchor="ctr"/>
                </a:tc>
                <a:extLst>
                  <a:ext uri="{0D108BD9-81ED-4DB2-BD59-A6C34878D82A}">
                    <a16:rowId xmlns:a16="http://schemas.microsoft.com/office/drawing/2014/main" val="10022"/>
                  </a:ext>
                </a:extLst>
              </a:tr>
              <a:tr h="175260">
                <a:tc>
                  <a:txBody>
                    <a:bodyPr/>
                    <a:lstStyle/>
                    <a:p>
                      <a:pPr algn="l"/>
                      <a:r>
                        <a:rPr sz="1100" b="0" i="1">
                          <a:solidFill>
                            <a:srgbClr val="000000"/>
                          </a:solidFill>
                          <a:latin typeface="Calibri"/>
                        </a:rPr>
                        <a:t>6.5.5.2.</a:t>
                      </a:r>
                      <a:r>
                        <a:rPr sz="700" b="0" i="1">
                          <a:solidFill>
                            <a:srgbClr val="000000"/>
                          </a:solidFill>
                          <a:latin typeface="Times New Roman"/>
                        </a:rPr>
                        <a:t>    </a:t>
                      </a:r>
                      <a:r>
                        <a:rPr sz="1100" b="0" i="1">
                          <a:solidFill>
                            <a:srgbClr val="000000"/>
                          </a:solidFill>
                          <a:latin typeface="Calibri"/>
                        </a:rPr>
                        <a:t>U.K.</a:t>
                      </a:r>
                      <a:endParaRPr sz="1100"/>
                    </a:p>
                  </a:txBody>
                  <a:tcPr marL="1028700" marR="9525" marT="9525" marB="0" anchor="ctr"/>
                </a:tc>
                <a:extLst>
                  <a:ext uri="{0D108BD9-81ED-4DB2-BD59-A6C34878D82A}">
                    <a16:rowId xmlns:a16="http://schemas.microsoft.com/office/drawing/2014/main" val="10023"/>
                  </a:ext>
                </a:extLst>
              </a:tr>
              <a:tr h="175260">
                <a:tc>
                  <a:txBody>
                    <a:bodyPr/>
                    <a:lstStyle/>
                    <a:p>
                      <a:pPr algn="l"/>
                      <a:r>
                        <a:rPr sz="1100" b="0" i="1">
                          <a:solidFill>
                            <a:srgbClr val="000000"/>
                          </a:solidFill>
                          <a:latin typeface="Calibri"/>
                        </a:rPr>
                        <a:t>6.5.5.3.</a:t>
                      </a:r>
                      <a:r>
                        <a:rPr sz="700" b="0" i="1">
                          <a:solidFill>
                            <a:srgbClr val="000000"/>
                          </a:solidFill>
                          <a:latin typeface="Times New Roman"/>
                        </a:rPr>
                        <a:t>    </a:t>
                      </a:r>
                      <a:r>
                        <a:rPr sz="1100" b="0" i="1">
                          <a:solidFill>
                            <a:srgbClr val="000000"/>
                          </a:solidFill>
                          <a:latin typeface="Calibri"/>
                        </a:rPr>
                        <a:t>France</a:t>
                      </a:r>
                      <a:endParaRPr sz="1100"/>
                    </a:p>
                  </a:txBody>
                  <a:tcPr marL="1028700" marR="9525" marT="9525" marB="0" anchor="ctr"/>
                </a:tc>
                <a:extLst>
                  <a:ext uri="{0D108BD9-81ED-4DB2-BD59-A6C34878D82A}">
                    <a16:rowId xmlns:a16="http://schemas.microsoft.com/office/drawing/2014/main" val="10024"/>
                  </a:ext>
                </a:extLst>
              </a:tr>
              <a:tr h="175260">
                <a:tc>
                  <a:txBody>
                    <a:bodyPr/>
                    <a:lstStyle/>
                    <a:p>
                      <a:pPr algn="l"/>
                      <a:r>
                        <a:rPr sz="1100" b="0" i="1">
                          <a:solidFill>
                            <a:srgbClr val="000000"/>
                          </a:solidFill>
                          <a:latin typeface="Calibri"/>
                        </a:rPr>
                        <a:t>6.5.5.4.</a:t>
                      </a:r>
                      <a:r>
                        <a:rPr sz="700" b="0" i="1">
                          <a:solidFill>
                            <a:srgbClr val="000000"/>
                          </a:solidFill>
                          <a:latin typeface="Times New Roman"/>
                        </a:rPr>
                        <a:t>    </a:t>
                      </a:r>
                      <a:r>
                        <a:rPr sz="1100" b="0" i="1">
                          <a:solidFill>
                            <a:srgbClr val="000000"/>
                          </a:solidFill>
                          <a:latin typeface="Calibri"/>
                        </a:rPr>
                        <a:t>Italy</a:t>
                      </a:r>
                      <a:endParaRPr sz="1100"/>
                    </a:p>
                  </a:txBody>
                  <a:tcPr marL="1028700" marR="9525" marT="9525" marB="0" anchor="ctr"/>
                </a:tc>
                <a:extLst>
                  <a:ext uri="{0D108BD9-81ED-4DB2-BD59-A6C34878D82A}">
                    <a16:rowId xmlns:a16="http://schemas.microsoft.com/office/drawing/2014/main" val="10025"/>
                  </a:ext>
                </a:extLst>
              </a:tr>
              <a:tr h="175260">
                <a:tc>
                  <a:txBody>
                    <a:bodyPr/>
                    <a:lstStyle/>
                    <a:p>
                      <a:pPr algn="l"/>
                      <a:r>
                        <a:rPr sz="1100" b="0" i="1">
                          <a:solidFill>
                            <a:srgbClr val="000000"/>
                          </a:solidFill>
                          <a:latin typeface="Calibri"/>
                        </a:rPr>
                        <a:t>6.5.5.5.</a:t>
                      </a:r>
                      <a:r>
                        <a:rPr sz="700" b="0" i="1">
                          <a:solidFill>
                            <a:srgbClr val="000000"/>
                          </a:solidFill>
                          <a:latin typeface="Times New Roman"/>
                        </a:rPr>
                        <a:t>    </a:t>
                      </a:r>
                      <a:r>
                        <a:rPr sz="1100" b="0" i="1">
                          <a:solidFill>
                            <a:srgbClr val="000000"/>
                          </a:solidFill>
                          <a:latin typeface="Calibri"/>
                        </a:rPr>
                        <a:t>Spain</a:t>
                      </a:r>
                      <a:endParaRPr sz="1100"/>
                    </a:p>
                  </a:txBody>
                  <a:tcPr marL="1028700" marR="9525" marT="9525" marB="0" anchor="ctr"/>
                </a:tc>
                <a:extLst>
                  <a:ext uri="{0D108BD9-81ED-4DB2-BD59-A6C34878D82A}">
                    <a16:rowId xmlns:a16="http://schemas.microsoft.com/office/drawing/2014/main" val="10026"/>
                  </a:ext>
                </a:extLst>
              </a:tr>
              <a:tr h="175260">
                <a:tc>
                  <a:txBody>
                    <a:bodyPr/>
                    <a:lstStyle/>
                    <a:p>
                      <a:pPr algn="l"/>
                      <a:r>
                        <a:rPr sz="1100" b="0" i="1">
                          <a:solidFill>
                            <a:srgbClr val="000000"/>
                          </a:solidFill>
                          <a:latin typeface="Calibri"/>
                        </a:rPr>
                        <a:t>6.5.5.6.</a:t>
                      </a:r>
                      <a:r>
                        <a:rPr sz="700" b="0" i="1">
                          <a:solidFill>
                            <a:srgbClr val="000000"/>
                          </a:solidFill>
                          <a:latin typeface="Times New Roman"/>
                        </a:rPr>
                        <a:t>    </a:t>
                      </a:r>
                      <a:r>
                        <a:rPr sz="1100" b="0" i="1">
                          <a:solidFill>
                            <a:srgbClr val="000000"/>
                          </a:solidFill>
                          <a:latin typeface="Calibri"/>
                        </a:rPr>
                        <a:t>Belgium</a:t>
                      </a:r>
                      <a:endParaRPr sz="1100"/>
                    </a:p>
                  </a:txBody>
                  <a:tcPr marL="1028700" marR="9525" marT="9525" marB="0" anchor="ctr"/>
                </a:tc>
                <a:extLst>
                  <a:ext uri="{0D108BD9-81ED-4DB2-BD59-A6C34878D82A}">
                    <a16:rowId xmlns:a16="http://schemas.microsoft.com/office/drawing/2014/main" val="10027"/>
                  </a:ext>
                </a:extLst>
              </a:tr>
              <a:tr h="175260">
                <a:tc>
                  <a:txBody>
                    <a:bodyPr/>
                    <a:lstStyle/>
                    <a:p>
                      <a:pPr algn="l"/>
                      <a:r>
                        <a:rPr sz="1100" b="0" i="1">
                          <a:solidFill>
                            <a:srgbClr val="000000"/>
                          </a:solidFill>
                          <a:latin typeface="Calibri"/>
                        </a:rPr>
                        <a:t>6.5.5.7.</a:t>
                      </a:r>
                      <a:r>
                        <a:rPr sz="700" b="0" i="1">
                          <a:solidFill>
                            <a:srgbClr val="000000"/>
                          </a:solidFill>
                          <a:latin typeface="Times New Roman"/>
                        </a:rPr>
                        <a:t>    </a:t>
                      </a:r>
                      <a:r>
                        <a:rPr sz="1100" b="0" i="1">
                          <a:solidFill>
                            <a:srgbClr val="000000"/>
                          </a:solidFill>
                          <a:latin typeface="Calibri"/>
                        </a:rPr>
                        <a:t>Netherlands</a:t>
                      </a:r>
                      <a:endParaRPr sz="1100"/>
                    </a:p>
                  </a:txBody>
                  <a:tcPr marL="1028700" marR="9525" marT="9525" marB="0" anchor="ctr"/>
                </a:tc>
                <a:extLst>
                  <a:ext uri="{0D108BD9-81ED-4DB2-BD59-A6C34878D82A}">
                    <a16:rowId xmlns:a16="http://schemas.microsoft.com/office/drawing/2014/main" val="10028"/>
                  </a:ext>
                </a:extLst>
              </a:tr>
              <a:tr h="175260">
                <a:tc>
                  <a:txBody>
                    <a:bodyPr/>
                    <a:lstStyle/>
                    <a:p>
                      <a:pPr algn="l"/>
                      <a:r>
                        <a:rPr sz="1100" b="0" i="1">
                          <a:solidFill>
                            <a:srgbClr val="000000"/>
                          </a:solidFill>
                          <a:latin typeface="Calibri"/>
                        </a:rPr>
                        <a:t>6.5.5.8.</a:t>
                      </a:r>
                      <a:r>
                        <a:rPr sz="700" b="0" i="1">
                          <a:solidFill>
                            <a:srgbClr val="000000"/>
                          </a:solidFill>
                          <a:latin typeface="Times New Roman"/>
                        </a:rPr>
                        <a:t>    </a:t>
                      </a:r>
                      <a:r>
                        <a:rPr sz="1100" b="0" i="1">
                          <a:solidFill>
                            <a:srgbClr val="000000"/>
                          </a:solidFill>
                          <a:latin typeface="Calibri"/>
                        </a:rPr>
                        <a:t>Nordic</a:t>
                      </a:r>
                      <a:endParaRPr sz="1100"/>
                    </a:p>
                  </a:txBody>
                  <a:tcPr marL="1028700" marR="9525" marT="9525" marB="0" anchor="ctr"/>
                </a:tc>
                <a:extLst>
                  <a:ext uri="{0D108BD9-81ED-4DB2-BD59-A6C34878D82A}">
                    <a16:rowId xmlns:a16="http://schemas.microsoft.com/office/drawing/2014/main" val="10029"/>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Table of Contents (4/6)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1">
                          <a:solidFill>
                            <a:srgbClr val="000000"/>
                          </a:solidFill>
                          <a:latin typeface="Calibri"/>
                        </a:rPr>
                        <a:t>6.5.5.9.</a:t>
                      </a:r>
                      <a:r>
                        <a:rPr sz="700" b="0" i="1">
                          <a:solidFill>
                            <a:srgbClr val="000000"/>
                          </a:solidFill>
                          <a:latin typeface="Times New Roman"/>
                        </a:rPr>
                        <a:t>    </a:t>
                      </a:r>
                      <a:r>
                        <a:rPr sz="1100" b="0" i="1">
                          <a:solidFill>
                            <a:srgbClr val="000000"/>
                          </a:solidFill>
                          <a:latin typeface="Calibri"/>
                        </a:rPr>
                        <a:t>Russia</a:t>
                      </a:r>
                      <a:endParaRPr sz="1100"/>
                    </a:p>
                  </a:txBody>
                  <a:tcPr marL="1028700" marR="9525" marT="9525" marB="0" anchor="ctr"/>
                </a:tc>
                <a:extLst>
                  <a:ext uri="{0D108BD9-81ED-4DB2-BD59-A6C34878D82A}">
                    <a16:rowId xmlns:a16="http://schemas.microsoft.com/office/drawing/2014/main" val="10000"/>
                  </a:ext>
                </a:extLst>
              </a:tr>
              <a:tr h="175260">
                <a:tc>
                  <a:txBody>
                    <a:bodyPr/>
                    <a:lstStyle/>
                    <a:p>
                      <a:pPr algn="l"/>
                      <a:r>
                        <a:rPr sz="1100" b="0" i="1">
                          <a:solidFill>
                            <a:srgbClr val="000000"/>
                          </a:solidFill>
                          <a:latin typeface="Calibri"/>
                        </a:rPr>
                        <a:t>6.5.5.10.</a:t>
                      </a:r>
                      <a:r>
                        <a:rPr sz="700" b="0" i="1">
                          <a:solidFill>
                            <a:srgbClr val="000000"/>
                          </a:solidFill>
                          <a:latin typeface="Times New Roman"/>
                        </a:rPr>
                        <a:t> </a:t>
                      </a:r>
                      <a:r>
                        <a:rPr sz="1100" b="0" i="1">
                          <a:solidFill>
                            <a:srgbClr val="000000"/>
                          </a:solidFill>
                          <a:latin typeface="Calibri"/>
                        </a:rPr>
                        <a:t>Poland</a:t>
                      </a:r>
                      <a:endParaRPr sz="1100"/>
                    </a:p>
                  </a:txBody>
                  <a:tcPr marL="1028700" marR="9525" marT="9525" marB="0" anchor="ctr"/>
                </a:tc>
                <a:extLst>
                  <a:ext uri="{0D108BD9-81ED-4DB2-BD59-A6C34878D82A}">
                    <a16:rowId xmlns:a16="http://schemas.microsoft.com/office/drawing/2014/main" val="10001"/>
                  </a:ext>
                </a:extLst>
              </a:tr>
              <a:tr h="175260">
                <a:tc>
                  <a:txBody>
                    <a:bodyPr/>
                    <a:lstStyle/>
                    <a:p>
                      <a:pPr algn="l"/>
                      <a:r>
                        <a:rPr sz="1100" b="0" i="1">
                          <a:solidFill>
                            <a:srgbClr val="000000"/>
                          </a:solidFill>
                          <a:latin typeface="Calibri"/>
                        </a:rPr>
                        <a:t>6.5.5.11.</a:t>
                      </a:r>
                      <a:r>
                        <a:rPr sz="700" b="0" i="1">
                          <a:solidFill>
                            <a:srgbClr val="000000"/>
                          </a:solidFill>
                          <a:latin typeface="Times New Roman"/>
                        </a:rPr>
                        <a:t> </a:t>
                      </a:r>
                      <a:r>
                        <a:rPr sz="1100" b="0" i="1">
                          <a:solidFill>
                            <a:srgbClr val="000000"/>
                          </a:solidFill>
                          <a:latin typeface="Calibri"/>
                        </a:rPr>
                        <a:t>Switzerland</a:t>
                      </a:r>
                      <a:endParaRPr sz="1100"/>
                    </a:p>
                  </a:txBody>
                  <a:tcPr marL="1028700" marR="9525" marT="9525" marB="0" anchor="ctr"/>
                </a:tc>
                <a:extLst>
                  <a:ext uri="{0D108BD9-81ED-4DB2-BD59-A6C34878D82A}">
                    <a16:rowId xmlns:a16="http://schemas.microsoft.com/office/drawing/2014/main" val="10002"/>
                  </a:ext>
                </a:extLst>
              </a:tr>
              <a:tr h="175260">
                <a:tc>
                  <a:txBody>
                    <a:bodyPr/>
                    <a:lstStyle/>
                    <a:p>
                      <a:pPr algn="l"/>
                      <a:r>
                        <a:rPr sz="1100" b="0" i="1">
                          <a:solidFill>
                            <a:srgbClr val="000000"/>
                          </a:solidFill>
                          <a:latin typeface="Calibri"/>
                        </a:rPr>
                        <a:t>6.5.5.12.</a:t>
                      </a:r>
                      <a:r>
                        <a:rPr sz="700" b="0" i="1">
                          <a:solidFill>
                            <a:srgbClr val="000000"/>
                          </a:solidFill>
                          <a:latin typeface="Times New Roman"/>
                        </a:rPr>
                        <a:t> </a:t>
                      </a:r>
                      <a:r>
                        <a:rPr sz="1100" b="0" i="1">
                          <a:solidFill>
                            <a:srgbClr val="000000"/>
                          </a:solidFill>
                          <a:latin typeface="Calibri"/>
                        </a:rPr>
                        <a:t>Rest of Europe</a:t>
                      </a:r>
                      <a:endParaRPr sz="1100"/>
                    </a:p>
                  </a:txBody>
                  <a:tcPr marL="1028700" marR="9525" marT="9525" marB="0" anchor="ctr"/>
                </a:tc>
                <a:extLst>
                  <a:ext uri="{0D108BD9-81ED-4DB2-BD59-A6C34878D82A}">
                    <a16:rowId xmlns:a16="http://schemas.microsoft.com/office/drawing/2014/main" val="10003"/>
                  </a:ext>
                </a:extLst>
              </a:tr>
              <a:tr h="175260">
                <a:tc>
                  <a:txBody>
                    <a:bodyPr/>
                    <a:lstStyle/>
                    <a:p>
                      <a:pPr algn="l"/>
                      <a:r>
                        <a:rPr sz="1100" b="0" i="0">
                          <a:solidFill>
                            <a:srgbClr val="000000"/>
                          </a:solidFill>
                          <a:latin typeface="Calibri"/>
                        </a:rPr>
                        <a:t>6.5.6.</a:t>
                      </a:r>
                      <a:r>
                        <a:rPr sz="700" b="0" i="0">
                          <a:solidFill>
                            <a:srgbClr val="000000"/>
                          </a:solidFill>
                          <a:latin typeface="Times New Roman"/>
                        </a:rPr>
                        <a:t>   </a:t>
                      </a:r>
                      <a:r>
                        <a:rPr sz="1100" b="0" i="0">
                          <a:solidFill>
                            <a:srgbClr val="000000"/>
                          </a:solidFill>
                          <a:latin typeface="Calibri"/>
                        </a:rPr>
                        <a:t>Middle East &amp; Africa</a:t>
                      </a:r>
                      <a:endParaRPr sz="1100"/>
                    </a:p>
                  </a:txBody>
                  <a:tcPr marL="771525" marR="9525" marT="9525" marB="0" anchor="ctr"/>
                </a:tc>
                <a:extLst>
                  <a:ext uri="{0D108BD9-81ED-4DB2-BD59-A6C34878D82A}">
                    <a16:rowId xmlns:a16="http://schemas.microsoft.com/office/drawing/2014/main" val="10004"/>
                  </a:ext>
                </a:extLst>
              </a:tr>
              <a:tr h="175260">
                <a:tc>
                  <a:txBody>
                    <a:bodyPr/>
                    <a:lstStyle/>
                    <a:p>
                      <a:pPr algn="l"/>
                      <a:r>
                        <a:rPr sz="1100" b="0" i="1">
                          <a:solidFill>
                            <a:srgbClr val="000000"/>
                          </a:solidFill>
                          <a:latin typeface="Calibri"/>
                        </a:rPr>
                        <a:t>6.5.6.1.</a:t>
                      </a:r>
                      <a:r>
                        <a:rPr sz="700" b="0" i="1">
                          <a:solidFill>
                            <a:srgbClr val="000000"/>
                          </a:solidFill>
                          <a:latin typeface="Times New Roman"/>
                        </a:rPr>
                        <a:t>    </a:t>
                      </a:r>
                      <a:r>
                        <a:rPr sz="1100" b="0" i="1">
                          <a:solidFill>
                            <a:srgbClr val="000000"/>
                          </a:solidFill>
                          <a:latin typeface="Calibri"/>
                        </a:rPr>
                        <a:t>UAE</a:t>
                      </a:r>
                      <a:endParaRPr sz="1100"/>
                    </a:p>
                  </a:txBody>
                  <a:tcPr marL="1028700" marR="9525" marT="9525" marB="0" anchor="ctr"/>
                </a:tc>
                <a:extLst>
                  <a:ext uri="{0D108BD9-81ED-4DB2-BD59-A6C34878D82A}">
                    <a16:rowId xmlns:a16="http://schemas.microsoft.com/office/drawing/2014/main" val="10005"/>
                  </a:ext>
                </a:extLst>
              </a:tr>
              <a:tr h="175260">
                <a:tc>
                  <a:txBody>
                    <a:bodyPr/>
                    <a:lstStyle/>
                    <a:p>
                      <a:pPr algn="l"/>
                      <a:r>
                        <a:rPr sz="1100" b="0" i="1">
                          <a:solidFill>
                            <a:srgbClr val="000000"/>
                          </a:solidFill>
                          <a:latin typeface="Calibri"/>
                        </a:rPr>
                        <a:t>6.5.6.2.</a:t>
                      </a:r>
                      <a:r>
                        <a:rPr sz="700" b="0" i="1">
                          <a:solidFill>
                            <a:srgbClr val="000000"/>
                          </a:solidFill>
                          <a:latin typeface="Times New Roman"/>
                        </a:rPr>
                        <a:t>    </a:t>
                      </a:r>
                      <a:r>
                        <a:rPr sz="1100" b="0" i="1">
                          <a:solidFill>
                            <a:srgbClr val="000000"/>
                          </a:solidFill>
                          <a:latin typeface="Calibri"/>
                        </a:rPr>
                        <a:t>Saudi Arabia</a:t>
                      </a:r>
                      <a:endParaRPr sz="1100"/>
                    </a:p>
                  </a:txBody>
                  <a:tcPr marL="1028700" marR="9525" marT="9525" marB="0" anchor="ctr"/>
                </a:tc>
                <a:extLst>
                  <a:ext uri="{0D108BD9-81ED-4DB2-BD59-A6C34878D82A}">
                    <a16:rowId xmlns:a16="http://schemas.microsoft.com/office/drawing/2014/main" val="10006"/>
                  </a:ext>
                </a:extLst>
              </a:tr>
              <a:tr h="175260">
                <a:tc>
                  <a:txBody>
                    <a:bodyPr/>
                    <a:lstStyle/>
                    <a:p>
                      <a:pPr algn="l"/>
                      <a:r>
                        <a:rPr sz="1100" b="0" i="1">
                          <a:solidFill>
                            <a:srgbClr val="000000"/>
                          </a:solidFill>
                          <a:latin typeface="Calibri"/>
                        </a:rPr>
                        <a:t>6.5.6.3.</a:t>
                      </a:r>
                      <a:r>
                        <a:rPr sz="700" b="0" i="1">
                          <a:solidFill>
                            <a:srgbClr val="000000"/>
                          </a:solidFill>
                          <a:latin typeface="Times New Roman"/>
                        </a:rPr>
                        <a:t>    </a:t>
                      </a:r>
                      <a:r>
                        <a:rPr sz="1100" b="0" i="1">
                          <a:solidFill>
                            <a:srgbClr val="000000"/>
                          </a:solidFill>
                          <a:latin typeface="Calibri"/>
                        </a:rPr>
                        <a:t>Turkey</a:t>
                      </a:r>
                      <a:endParaRPr sz="1100"/>
                    </a:p>
                  </a:txBody>
                  <a:tcPr marL="1028700" marR="9525" marT="9525" marB="0" anchor="ctr"/>
                </a:tc>
                <a:extLst>
                  <a:ext uri="{0D108BD9-81ED-4DB2-BD59-A6C34878D82A}">
                    <a16:rowId xmlns:a16="http://schemas.microsoft.com/office/drawing/2014/main" val="10007"/>
                  </a:ext>
                </a:extLst>
              </a:tr>
              <a:tr h="175260">
                <a:tc>
                  <a:txBody>
                    <a:bodyPr/>
                    <a:lstStyle/>
                    <a:p>
                      <a:pPr algn="l"/>
                      <a:r>
                        <a:rPr sz="1100" b="0" i="1">
                          <a:solidFill>
                            <a:srgbClr val="000000"/>
                          </a:solidFill>
                          <a:latin typeface="Calibri"/>
                        </a:rPr>
                        <a:t>6.5.6.4.</a:t>
                      </a:r>
                      <a:r>
                        <a:rPr sz="700" b="0" i="1">
                          <a:solidFill>
                            <a:srgbClr val="000000"/>
                          </a:solidFill>
                          <a:latin typeface="Times New Roman"/>
                        </a:rPr>
                        <a:t>    </a:t>
                      </a:r>
                      <a:r>
                        <a:rPr sz="1100" b="0" i="1">
                          <a:solidFill>
                            <a:srgbClr val="000000"/>
                          </a:solidFill>
                          <a:latin typeface="Calibri"/>
                        </a:rPr>
                        <a:t>Israel</a:t>
                      </a:r>
                      <a:endParaRPr sz="1100"/>
                    </a:p>
                  </a:txBody>
                  <a:tcPr marL="1028700" marR="9525" marT="9525" marB="0" anchor="ctr"/>
                </a:tc>
                <a:extLst>
                  <a:ext uri="{0D108BD9-81ED-4DB2-BD59-A6C34878D82A}">
                    <a16:rowId xmlns:a16="http://schemas.microsoft.com/office/drawing/2014/main" val="10008"/>
                  </a:ext>
                </a:extLst>
              </a:tr>
              <a:tr h="175260">
                <a:tc>
                  <a:txBody>
                    <a:bodyPr/>
                    <a:lstStyle/>
                    <a:p>
                      <a:pPr algn="l"/>
                      <a:r>
                        <a:rPr sz="1100" b="0" i="1">
                          <a:solidFill>
                            <a:srgbClr val="000000"/>
                          </a:solidFill>
                          <a:latin typeface="Calibri"/>
                        </a:rPr>
                        <a:t>6.5.6.5.</a:t>
                      </a:r>
                      <a:r>
                        <a:rPr sz="700" b="0" i="1">
                          <a:solidFill>
                            <a:srgbClr val="000000"/>
                          </a:solidFill>
                          <a:latin typeface="Times New Roman"/>
                        </a:rPr>
                        <a:t>    </a:t>
                      </a:r>
                      <a:r>
                        <a:rPr sz="1100" b="0" i="1">
                          <a:solidFill>
                            <a:srgbClr val="000000"/>
                          </a:solidFill>
                          <a:latin typeface="Calibri"/>
                        </a:rPr>
                        <a:t>Rest of GCC</a:t>
                      </a:r>
                      <a:endParaRPr sz="1100"/>
                    </a:p>
                  </a:txBody>
                  <a:tcPr marL="1028700" marR="9525" marT="9525" marB="0" anchor="ctr"/>
                </a:tc>
                <a:extLst>
                  <a:ext uri="{0D108BD9-81ED-4DB2-BD59-A6C34878D82A}">
                    <a16:rowId xmlns:a16="http://schemas.microsoft.com/office/drawing/2014/main" val="10009"/>
                  </a:ext>
                </a:extLst>
              </a:tr>
              <a:tr h="175260">
                <a:tc>
                  <a:txBody>
                    <a:bodyPr/>
                    <a:lstStyle/>
                    <a:p>
                      <a:pPr algn="l"/>
                      <a:r>
                        <a:rPr sz="1100" b="0" i="1">
                          <a:solidFill>
                            <a:srgbClr val="000000"/>
                          </a:solidFill>
                          <a:latin typeface="Calibri"/>
                        </a:rPr>
                        <a:t>6.5.6.6.</a:t>
                      </a:r>
                      <a:r>
                        <a:rPr sz="700" b="0" i="1">
                          <a:solidFill>
                            <a:srgbClr val="000000"/>
                          </a:solidFill>
                          <a:latin typeface="Times New Roman"/>
                        </a:rPr>
                        <a:t>    </a:t>
                      </a:r>
                      <a:r>
                        <a:rPr sz="1100" b="0" i="1">
                          <a:solidFill>
                            <a:srgbClr val="000000"/>
                          </a:solidFill>
                          <a:latin typeface="Calibri"/>
                        </a:rPr>
                        <a:t>South Africa</a:t>
                      </a:r>
                      <a:endParaRPr sz="1100"/>
                    </a:p>
                  </a:txBody>
                  <a:tcPr marL="1028700" marR="9525" marT="9525" marB="0" anchor="ctr"/>
                </a:tc>
                <a:extLst>
                  <a:ext uri="{0D108BD9-81ED-4DB2-BD59-A6C34878D82A}">
                    <a16:rowId xmlns:a16="http://schemas.microsoft.com/office/drawing/2014/main" val="10010"/>
                  </a:ext>
                </a:extLst>
              </a:tr>
              <a:tr h="175260">
                <a:tc>
                  <a:txBody>
                    <a:bodyPr/>
                    <a:lstStyle/>
                    <a:p>
                      <a:pPr algn="l"/>
                      <a:r>
                        <a:rPr sz="1100" b="0" i="1">
                          <a:solidFill>
                            <a:srgbClr val="000000"/>
                          </a:solidFill>
                          <a:latin typeface="Calibri"/>
                        </a:rPr>
                        <a:t>6.5.6.7.</a:t>
                      </a:r>
                      <a:r>
                        <a:rPr sz="700" b="0" i="1">
                          <a:solidFill>
                            <a:srgbClr val="000000"/>
                          </a:solidFill>
                          <a:latin typeface="Times New Roman"/>
                        </a:rPr>
                        <a:t>    </a:t>
                      </a:r>
                      <a:r>
                        <a:rPr sz="1100" b="0" i="1">
                          <a:solidFill>
                            <a:srgbClr val="000000"/>
                          </a:solidFill>
                          <a:latin typeface="Calibri"/>
                        </a:rPr>
                        <a:t>Rest if MEA</a:t>
                      </a:r>
                      <a:endParaRPr sz="1100"/>
                    </a:p>
                  </a:txBody>
                  <a:tcPr marL="1028700" marR="9525" marT="9525" marB="0" anchor="ctr"/>
                </a:tc>
                <a:extLst>
                  <a:ext uri="{0D108BD9-81ED-4DB2-BD59-A6C34878D82A}">
                    <a16:rowId xmlns:a16="http://schemas.microsoft.com/office/drawing/2014/main" val="10011"/>
                  </a:ext>
                </a:extLst>
              </a:tr>
              <a:tr h="350520">
                <a:tc>
                  <a:txBody>
                    <a:bodyPr/>
                    <a:lstStyle/>
                    <a:p>
                      <a:pPr algn="l"/>
                      <a:r>
                        <a:rPr sz="1100" b="0" i="1">
                          <a:solidFill>
                            <a:srgbClr val="EE0000"/>
                          </a:solidFill>
                          <a:latin typeface="Calibri"/>
                        </a:rPr>
                        <a:t>Note: Value &amp; Volume (US$ Mn / UNITS) for all segments will be provided for each region/ Country</a:t>
                      </a:r>
                      <a:endParaRPr sz="1100"/>
                    </a:p>
                  </a:txBody>
                  <a:tcPr marL="9525" marR="9525" marT="9525" marB="0" anchor="ctr"/>
                </a:tc>
                <a:extLst>
                  <a:ext uri="{0D108BD9-81ED-4DB2-BD59-A6C34878D82A}">
                    <a16:rowId xmlns:a16="http://schemas.microsoft.com/office/drawing/2014/main" val="10012"/>
                  </a:ext>
                </a:extLst>
              </a:tr>
              <a:tr h="175260">
                <a:tc>
                  <a:txBody>
                    <a:bodyPr/>
                    <a:lstStyle/>
                    <a:p>
                      <a:pPr algn="l"/>
                      <a:r>
                        <a:rPr sz="1100" b="1" i="0">
                          <a:solidFill>
                            <a:srgbClr val="000000"/>
                          </a:solidFill>
                          <a:latin typeface="Calibri"/>
                        </a:rPr>
                        <a:t>7.</a:t>
                      </a:r>
                      <a:r>
                        <a:rPr sz="700" b="1" i="0">
                          <a:solidFill>
                            <a:srgbClr val="000000"/>
                          </a:solidFill>
                          <a:latin typeface="Times New Roman"/>
                        </a:rPr>
                        <a:t>       </a:t>
                      </a:r>
                      <a:r>
                        <a:rPr sz="1100" b="1" i="0">
                          <a:solidFill>
                            <a:srgbClr val="000000"/>
                          </a:solidFill>
                          <a:latin typeface="Calibri"/>
                        </a:rPr>
                        <a:t>Cross-sectional Assessment</a:t>
                      </a:r>
                      <a:endParaRPr sz="1100"/>
                    </a:p>
                  </a:txBody>
                  <a:tcPr marL="171450" marR="9525" marT="9525" marB="0" anchor="ctr"/>
                </a:tc>
                <a:extLst>
                  <a:ext uri="{0D108BD9-81ED-4DB2-BD59-A6C34878D82A}">
                    <a16:rowId xmlns:a16="http://schemas.microsoft.com/office/drawing/2014/main" val="10013"/>
                  </a:ext>
                </a:extLst>
              </a:tr>
              <a:tr h="175260">
                <a:tc>
                  <a:txBody>
                    <a:bodyPr/>
                    <a:lstStyle/>
                    <a:p>
                      <a:pPr algn="l"/>
                      <a:r>
                        <a:rPr sz="1100" b="0" i="0">
                          <a:solidFill>
                            <a:srgbClr val="0070C0"/>
                          </a:solidFill>
                          <a:latin typeface="Calibri"/>
                        </a:rPr>
                        <a:t>7.1.</a:t>
                      </a:r>
                      <a:r>
                        <a:rPr sz="700" b="0" i="0">
                          <a:solidFill>
                            <a:srgbClr val="0070C0"/>
                          </a:solidFill>
                          <a:latin typeface="Times New Roman"/>
                        </a:rPr>
                        <a:t>    </a:t>
                      </a:r>
                      <a:r>
                        <a:rPr sz="1100" b="0" i="0">
                          <a:solidFill>
                            <a:srgbClr val="0070C0"/>
                          </a:solidFill>
                          <a:latin typeface="Calibri"/>
                        </a:rPr>
                        <a:t>Product Type × End-Use Industry</a:t>
                      </a:r>
                      <a:endParaRPr sz="1100"/>
                    </a:p>
                  </a:txBody>
                  <a:tcPr marL="428625" marR="9525" marT="9525" marB="0" anchor="ctr"/>
                </a:tc>
                <a:extLst>
                  <a:ext uri="{0D108BD9-81ED-4DB2-BD59-A6C34878D82A}">
                    <a16:rowId xmlns:a16="http://schemas.microsoft.com/office/drawing/2014/main" val="10014"/>
                  </a:ext>
                </a:extLst>
              </a:tr>
              <a:tr h="175260">
                <a:tc>
                  <a:txBody>
                    <a:bodyPr/>
                    <a:lstStyle/>
                    <a:p>
                      <a:pPr algn="l"/>
                      <a:r>
                        <a:rPr sz="1100" b="0" i="0">
                          <a:solidFill>
                            <a:srgbClr val="0070C0"/>
                          </a:solidFill>
                          <a:latin typeface="Calibri"/>
                        </a:rPr>
                        <a:t>7.2.</a:t>
                      </a:r>
                      <a:r>
                        <a:rPr sz="700" b="0" i="0">
                          <a:solidFill>
                            <a:srgbClr val="0070C0"/>
                          </a:solidFill>
                          <a:latin typeface="Times New Roman"/>
                        </a:rPr>
                        <a:t>    </a:t>
                      </a:r>
                      <a:r>
                        <a:rPr sz="1100" b="0" i="0">
                          <a:solidFill>
                            <a:srgbClr val="0070C0"/>
                          </a:solidFill>
                          <a:latin typeface="Calibri"/>
                        </a:rPr>
                        <a:t>End-Use Industry × Material</a:t>
                      </a:r>
                      <a:endParaRPr sz="1100"/>
                    </a:p>
                  </a:txBody>
                  <a:tcPr marL="428625" marR="9525" marT="9525" marB="0" anchor="ctr"/>
                </a:tc>
                <a:extLst>
                  <a:ext uri="{0D108BD9-81ED-4DB2-BD59-A6C34878D82A}">
                    <a16:rowId xmlns:a16="http://schemas.microsoft.com/office/drawing/2014/main" val="10015"/>
                  </a:ext>
                </a:extLst>
              </a:tr>
              <a:tr h="175260">
                <a:tc>
                  <a:txBody>
                    <a:bodyPr/>
                    <a:lstStyle/>
                    <a:p>
                      <a:pPr algn="l"/>
                      <a:r>
                        <a:rPr sz="1100" b="0" i="1">
                          <a:solidFill>
                            <a:srgbClr val="EE0000"/>
                          </a:solidFill>
                          <a:latin typeface="Calibri"/>
                        </a:rPr>
                        <a:t>Note: Cross Sectional Assessment shall be provided on custom request</a:t>
                      </a:r>
                      <a:endParaRPr sz="1100"/>
                    </a:p>
                  </a:txBody>
                  <a:tcPr marL="9525" marR="9525" marT="9525" marB="0" anchor="ctr"/>
                </a:tc>
                <a:extLst>
                  <a:ext uri="{0D108BD9-81ED-4DB2-BD59-A6C34878D82A}">
                    <a16:rowId xmlns:a16="http://schemas.microsoft.com/office/drawing/2014/main" val="10016"/>
                  </a:ext>
                </a:extLst>
              </a:tr>
              <a:tr h="175260">
                <a:tc>
                  <a:txBody>
                    <a:bodyPr/>
                    <a:lstStyle/>
                    <a:p>
                      <a:pPr algn="l"/>
                      <a:r>
                        <a:rPr sz="1100" b="1" i="0">
                          <a:solidFill>
                            <a:srgbClr val="000000"/>
                          </a:solidFill>
                          <a:latin typeface="Calibri"/>
                        </a:rPr>
                        <a:t>Section 2: Regional and Country Market Outlook</a:t>
                      </a:r>
                      <a:endParaRPr sz="1100"/>
                    </a:p>
                  </a:txBody>
                  <a:tcPr marL="9525" marR="9525" marT="9525" marB="0" anchor="ctr"/>
                </a:tc>
                <a:extLst>
                  <a:ext uri="{0D108BD9-81ED-4DB2-BD59-A6C34878D82A}">
                    <a16:rowId xmlns:a16="http://schemas.microsoft.com/office/drawing/2014/main" val="10017"/>
                  </a:ext>
                </a:extLst>
              </a:tr>
              <a:tr h="175260">
                <a:tc>
                  <a:txBody>
                    <a:bodyPr/>
                    <a:lstStyle/>
                    <a:p>
                      <a:pPr algn="l"/>
                      <a:r>
                        <a:rPr sz="1100" b="1" i="0">
                          <a:solidFill>
                            <a:srgbClr val="000000"/>
                          </a:solidFill>
                          <a:latin typeface="Calibri"/>
                        </a:rPr>
                        <a:t>8.</a:t>
                      </a:r>
                      <a:r>
                        <a:rPr sz="700" b="1" i="0">
                          <a:solidFill>
                            <a:srgbClr val="000000"/>
                          </a:solidFill>
                          <a:latin typeface="Times New Roman"/>
                        </a:rPr>
                        <a:t>       </a:t>
                      </a:r>
                      <a:r>
                        <a:rPr sz="1100" b="1" i="0">
                          <a:solidFill>
                            <a:srgbClr val="000000"/>
                          </a:solidFill>
                          <a:latin typeface="Calibri"/>
                        </a:rPr>
                        <a:t>North America Market Size (Value &amp; Volume) 2021–2036</a:t>
                      </a:r>
                      <a:endParaRPr sz="1100"/>
                    </a:p>
                  </a:txBody>
                  <a:tcPr marL="171450" marR="9525" marT="9525" marB="0" anchor="ctr"/>
                </a:tc>
                <a:extLst>
                  <a:ext uri="{0D108BD9-81ED-4DB2-BD59-A6C34878D82A}">
                    <a16:rowId xmlns:a16="http://schemas.microsoft.com/office/drawing/2014/main" val="10018"/>
                  </a:ext>
                </a:extLst>
              </a:tr>
              <a:tr h="175260">
                <a:tc>
                  <a:txBody>
                    <a:bodyPr/>
                    <a:lstStyle/>
                    <a:p>
                      <a:pPr algn="l"/>
                      <a:r>
                        <a:rPr sz="1100" b="0" i="0">
                          <a:solidFill>
                            <a:srgbClr val="0070C0"/>
                          </a:solidFill>
                          <a:latin typeface="Calibri"/>
                        </a:rPr>
                        <a:t>8.1.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19"/>
                  </a:ext>
                </a:extLst>
              </a:tr>
              <a:tr h="175260">
                <a:tc>
                  <a:txBody>
                    <a:bodyPr/>
                    <a:lstStyle/>
                    <a:p>
                      <a:pPr algn="l"/>
                      <a:r>
                        <a:rPr sz="1100" b="0" i="0">
                          <a:solidFill>
                            <a:srgbClr val="0070C0"/>
                          </a:solidFill>
                          <a:latin typeface="Calibri"/>
                        </a:rPr>
                        <a:t>8.2.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20"/>
                  </a:ext>
                </a:extLst>
              </a:tr>
              <a:tr h="175260">
                <a:tc>
                  <a:txBody>
                    <a:bodyPr/>
                    <a:lstStyle/>
                    <a:p>
                      <a:pPr algn="l"/>
                      <a:r>
                        <a:rPr sz="1100" b="0" i="0">
                          <a:solidFill>
                            <a:srgbClr val="0070C0"/>
                          </a:solidFill>
                          <a:latin typeface="Calibri"/>
                        </a:rPr>
                        <a:t>8.3.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21"/>
                  </a:ext>
                </a:extLst>
              </a:tr>
              <a:tr h="175260">
                <a:tc>
                  <a:txBody>
                    <a:bodyPr/>
                    <a:lstStyle/>
                    <a:p>
                      <a:pPr algn="l"/>
                      <a:r>
                        <a:rPr sz="1100" b="0" i="0">
                          <a:solidFill>
                            <a:srgbClr val="0070C0"/>
                          </a:solidFill>
                          <a:latin typeface="Calibri"/>
                        </a:rPr>
                        <a:t>8.4.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extLst>
                  <a:ext uri="{0D108BD9-81ED-4DB2-BD59-A6C34878D82A}">
                    <a16:rowId xmlns:a16="http://schemas.microsoft.com/office/drawing/2014/main" val="10022"/>
                  </a:ext>
                </a:extLst>
              </a:tr>
              <a:tr h="175260">
                <a:tc>
                  <a:txBody>
                    <a:bodyPr/>
                    <a:lstStyle/>
                    <a:p>
                      <a:pPr algn="l"/>
                      <a:r>
                        <a:rPr sz="1100" b="0" i="0">
                          <a:solidFill>
                            <a:srgbClr val="000000"/>
                          </a:solidFill>
                          <a:latin typeface="Calibri"/>
                        </a:rPr>
                        <a:t>8.4.1.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extLst>
                  <a:ext uri="{0D108BD9-81ED-4DB2-BD59-A6C34878D82A}">
                    <a16:rowId xmlns:a16="http://schemas.microsoft.com/office/drawing/2014/main" val="10023"/>
                  </a:ext>
                </a:extLst>
              </a:tr>
              <a:tr h="175260">
                <a:tc>
                  <a:txBody>
                    <a:bodyPr/>
                    <a:lstStyle/>
                    <a:p>
                      <a:pPr algn="l"/>
                      <a:r>
                        <a:rPr sz="1100" b="0" i="0">
                          <a:solidFill>
                            <a:srgbClr val="000000"/>
                          </a:solidFill>
                          <a:latin typeface="Calibri"/>
                        </a:rPr>
                        <a:t>8.4.2.</a:t>
                      </a:r>
                      <a:r>
                        <a:rPr sz="700" b="0" i="0">
                          <a:solidFill>
                            <a:srgbClr val="000000"/>
                          </a:solidFill>
                          <a:latin typeface="Times New Roman"/>
                        </a:rPr>
                        <a:t>   </a:t>
                      </a:r>
                      <a:r>
                        <a:rPr sz="1100" b="0" i="0">
                          <a:solidFill>
                            <a:srgbClr val="000000"/>
                          </a:solidFill>
                          <a:latin typeface="Calibri"/>
                        </a:rPr>
                        <a:t>By Material</a:t>
                      </a:r>
                      <a:endParaRPr sz="1100"/>
                    </a:p>
                  </a:txBody>
                  <a:tcPr marL="771525" marR="9525" marT="9525" marB="0" anchor="ctr"/>
                </a:tc>
                <a:extLst>
                  <a:ext uri="{0D108BD9-81ED-4DB2-BD59-A6C34878D82A}">
                    <a16:rowId xmlns:a16="http://schemas.microsoft.com/office/drawing/2014/main" val="10024"/>
                  </a:ext>
                </a:extLst>
              </a:tr>
              <a:tr h="175260">
                <a:tc>
                  <a:txBody>
                    <a:bodyPr/>
                    <a:lstStyle/>
                    <a:p>
                      <a:pPr algn="l"/>
                      <a:r>
                        <a:rPr sz="1100" b="0" i="0">
                          <a:solidFill>
                            <a:srgbClr val="000000"/>
                          </a:solidFill>
                          <a:latin typeface="Calibri"/>
                        </a:rPr>
                        <a:t>8.4.3.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extLst>
                  <a:ext uri="{0D108BD9-81ED-4DB2-BD59-A6C34878D82A}">
                    <a16:rowId xmlns:a16="http://schemas.microsoft.com/office/drawing/2014/main" val="10025"/>
                  </a:ext>
                </a:extLst>
              </a:tr>
              <a:tr h="175260">
                <a:tc>
                  <a:txBody>
                    <a:bodyPr/>
                    <a:lstStyle/>
                    <a:p>
                      <a:pPr algn="l"/>
                      <a:r>
                        <a:rPr sz="1100" b="1" i="0">
                          <a:solidFill>
                            <a:srgbClr val="000000"/>
                          </a:solidFill>
                          <a:latin typeface="Calibri"/>
                        </a:rPr>
                        <a:t>9.</a:t>
                      </a:r>
                      <a:r>
                        <a:rPr sz="700" b="1" i="0">
                          <a:solidFill>
                            <a:srgbClr val="000000"/>
                          </a:solidFill>
                          <a:latin typeface="Times New Roman"/>
                        </a:rPr>
                        <a:t>       </a:t>
                      </a:r>
                      <a:r>
                        <a:rPr sz="1100" b="1" i="0">
                          <a:solidFill>
                            <a:srgbClr val="000000"/>
                          </a:solidFill>
                          <a:latin typeface="Calibri"/>
                        </a:rPr>
                        <a:t>Latin America Market Size (Value &amp; Volume) 2021–2036</a:t>
                      </a:r>
                      <a:endParaRPr sz="1100"/>
                    </a:p>
                  </a:txBody>
                  <a:tcPr marL="171450" marR="9525" marT="9525" marB="0" anchor="ctr"/>
                </a:tc>
                <a:extLst>
                  <a:ext uri="{0D108BD9-81ED-4DB2-BD59-A6C34878D82A}">
                    <a16:rowId xmlns:a16="http://schemas.microsoft.com/office/drawing/2014/main" val="10026"/>
                  </a:ext>
                </a:extLst>
              </a:tr>
              <a:tr h="175260">
                <a:tc>
                  <a:txBody>
                    <a:bodyPr/>
                    <a:lstStyle/>
                    <a:p>
                      <a:pPr algn="l"/>
                      <a:r>
                        <a:rPr sz="1100" b="0" i="0">
                          <a:solidFill>
                            <a:srgbClr val="0070C0"/>
                          </a:solidFill>
                          <a:latin typeface="Calibri"/>
                        </a:rPr>
                        <a:t>9.1.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27"/>
                  </a:ext>
                </a:extLst>
              </a:tr>
              <a:tr h="175260">
                <a:tc>
                  <a:txBody>
                    <a:bodyPr/>
                    <a:lstStyle/>
                    <a:p>
                      <a:pPr algn="l"/>
                      <a:r>
                        <a:rPr sz="1100" b="0" i="0">
                          <a:solidFill>
                            <a:srgbClr val="0070C0"/>
                          </a:solidFill>
                          <a:latin typeface="Calibri"/>
                        </a:rPr>
                        <a:t>9.2.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28"/>
                  </a:ext>
                </a:extLst>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0">
                          <a:solidFill>
                            <a:srgbClr val="0070C0"/>
                          </a:solidFill>
                          <a:latin typeface="Calibri"/>
                        </a:rPr>
                        <a:t>9.3.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00"/>
                  </a:ext>
                </a:extLst>
              </a:tr>
              <a:tr h="175260">
                <a:tc>
                  <a:txBody>
                    <a:bodyPr/>
                    <a:lstStyle/>
                    <a:p>
                      <a:pPr algn="l"/>
                      <a:r>
                        <a:rPr sz="1100" b="0" i="0">
                          <a:solidFill>
                            <a:srgbClr val="0070C0"/>
                          </a:solidFill>
                          <a:latin typeface="Calibri"/>
                        </a:rPr>
                        <a:t>9.4.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extLst>
                  <a:ext uri="{0D108BD9-81ED-4DB2-BD59-A6C34878D82A}">
                    <a16:rowId xmlns:a16="http://schemas.microsoft.com/office/drawing/2014/main" val="10001"/>
                  </a:ext>
                </a:extLst>
              </a:tr>
              <a:tr h="175260">
                <a:tc>
                  <a:txBody>
                    <a:bodyPr/>
                    <a:lstStyle/>
                    <a:p>
                      <a:pPr algn="l"/>
                      <a:r>
                        <a:rPr sz="1100" b="0" i="0">
                          <a:solidFill>
                            <a:srgbClr val="000000"/>
                          </a:solidFill>
                          <a:latin typeface="Calibri"/>
                        </a:rPr>
                        <a:t>9.4.1.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extLst>
                  <a:ext uri="{0D108BD9-81ED-4DB2-BD59-A6C34878D82A}">
                    <a16:rowId xmlns:a16="http://schemas.microsoft.com/office/drawing/2014/main" val="10002"/>
                  </a:ext>
                </a:extLst>
              </a:tr>
              <a:tr h="175260">
                <a:tc>
                  <a:txBody>
                    <a:bodyPr/>
                    <a:lstStyle/>
                    <a:p>
                      <a:pPr algn="l"/>
                      <a:r>
                        <a:rPr sz="1100" b="0" i="0">
                          <a:solidFill>
                            <a:srgbClr val="000000"/>
                          </a:solidFill>
                          <a:latin typeface="Calibri"/>
                        </a:rPr>
                        <a:t>9.4.2.</a:t>
                      </a:r>
                      <a:r>
                        <a:rPr sz="700" b="0" i="0">
                          <a:solidFill>
                            <a:srgbClr val="000000"/>
                          </a:solidFill>
                          <a:latin typeface="Times New Roman"/>
                        </a:rPr>
                        <a:t>   </a:t>
                      </a:r>
                      <a:r>
                        <a:rPr sz="1100" b="0" i="0">
                          <a:solidFill>
                            <a:srgbClr val="000000"/>
                          </a:solidFill>
                          <a:latin typeface="Calibri"/>
                        </a:rPr>
                        <a:t>By Material</a:t>
                      </a:r>
                      <a:endParaRPr sz="1100"/>
                    </a:p>
                  </a:txBody>
                  <a:tcPr marL="771525" marR="9525" marT="9525" marB="0" anchor="ctr"/>
                </a:tc>
                <a:extLst>
                  <a:ext uri="{0D108BD9-81ED-4DB2-BD59-A6C34878D82A}">
                    <a16:rowId xmlns:a16="http://schemas.microsoft.com/office/drawing/2014/main" val="10003"/>
                  </a:ext>
                </a:extLst>
              </a:tr>
              <a:tr h="175260">
                <a:tc>
                  <a:txBody>
                    <a:bodyPr/>
                    <a:lstStyle/>
                    <a:p>
                      <a:pPr algn="l"/>
                      <a:r>
                        <a:rPr sz="1100" b="0" i="0">
                          <a:solidFill>
                            <a:srgbClr val="000000"/>
                          </a:solidFill>
                          <a:latin typeface="Calibri"/>
                        </a:rPr>
                        <a:t>9.4.3.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extLst>
                  <a:ext uri="{0D108BD9-81ED-4DB2-BD59-A6C34878D82A}">
                    <a16:rowId xmlns:a16="http://schemas.microsoft.com/office/drawing/2014/main" val="10004"/>
                  </a:ext>
                </a:extLst>
              </a:tr>
              <a:tr h="175260">
                <a:tc>
                  <a:txBody>
                    <a:bodyPr/>
                    <a:lstStyle/>
                    <a:p>
                      <a:pPr algn="l"/>
                      <a:r>
                        <a:rPr sz="1100" b="1" i="0">
                          <a:solidFill>
                            <a:srgbClr val="000000"/>
                          </a:solidFill>
                          <a:latin typeface="Calibri"/>
                        </a:rPr>
                        <a:t>10.</a:t>
                      </a:r>
                      <a:r>
                        <a:rPr sz="700" b="1" i="0">
                          <a:solidFill>
                            <a:srgbClr val="000000"/>
                          </a:solidFill>
                          <a:latin typeface="Times New Roman"/>
                        </a:rPr>
                        <a:t>    </a:t>
                      </a:r>
                      <a:r>
                        <a:rPr sz="1100" b="1" i="0">
                          <a:solidFill>
                            <a:srgbClr val="000000"/>
                          </a:solidFill>
                          <a:latin typeface="Calibri"/>
                        </a:rPr>
                        <a:t>Europe Market Size (Value &amp; Volume) 2021–2036</a:t>
                      </a:r>
                      <a:endParaRPr sz="1100"/>
                    </a:p>
                  </a:txBody>
                  <a:tcPr marL="171450" marR="9525" marT="9525" marB="0" anchor="ctr"/>
                </a:tc>
                <a:extLst>
                  <a:ext uri="{0D108BD9-81ED-4DB2-BD59-A6C34878D82A}">
                    <a16:rowId xmlns:a16="http://schemas.microsoft.com/office/drawing/2014/main" val="10005"/>
                  </a:ext>
                </a:extLst>
              </a:tr>
              <a:tr h="175260">
                <a:tc>
                  <a:txBody>
                    <a:bodyPr/>
                    <a:lstStyle/>
                    <a:p>
                      <a:pPr algn="l"/>
                      <a:r>
                        <a:rPr sz="1100" b="0" i="0">
                          <a:solidFill>
                            <a:srgbClr val="0070C0"/>
                          </a:solidFill>
                          <a:latin typeface="Calibri"/>
                        </a:rPr>
                        <a:t>10.1.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06"/>
                  </a:ext>
                </a:extLst>
              </a:tr>
              <a:tr h="175260">
                <a:tc>
                  <a:txBody>
                    <a:bodyPr/>
                    <a:lstStyle/>
                    <a:p>
                      <a:pPr algn="l"/>
                      <a:r>
                        <a:rPr sz="1100" b="0" i="0">
                          <a:solidFill>
                            <a:srgbClr val="0070C0"/>
                          </a:solidFill>
                          <a:latin typeface="Calibri"/>
                        </a:rPr>
                        <a:t>10.2.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07"/>
                  </a:ext>
                </a:extLst>
              </a:tr>
              <a:tr h="175260">
                <a:tc>
                  <a:txBody>
                    <a:bodyPr/>
                    <a:lstStyle/>
                    <a:p>
                      <a:pPr algn="l"/>
                      <a:r>
                        <a:rPr sz="1100" b="0" i="0">
                          <a:solidFill>
                            <a:srgbClr val="0070C0"/>
                          </a:solidFill>
                          <a:latin typeface="Calibri"/>
                        </a:rPr>
                        <a:t>10.3.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08"/>
                  </a:ext>
                </a:extLst>
              </a:tr>
              <a:tr h="175260">
                <a:tc>
                  <a:txBody>
                    <a:bodyPr/>
                    <a:lstStyle/>
                    <a:p>
                      <a:pPr algn="l"/>
                      <a:r>
                        <a:rPr sz="1100" b="0" i="0">
                          <a:solidFill>
                            <a:srgbClr val="0070C0"/>
                          </a:solidFill>
                          <a:latin typeface="Calibri"/>
                        </a:rPr>
                        <a:t>10.4.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extLst>
                  <a:ext uri="{0D108BD9-81ED-4DB2-BD59-A6C34878D82A}">
                    <a16:rowId xmlns:a16="http://schemas.microsoft.com/office/drawing/2014/main" val="10009"/>
                  </a:ext>
                </a:extLst>
              </a:tr>
              <a:tr h="175260">
                <a:tc>
                  <a:txBody>
                    <a:bodyPr/>
                    <a:lstStyle/>
                    <a:p>
                      <a:pPr algn="l"/>
                      <a:r>
                        <a:rPr sz="1100" b="0" i="0">
                          <a:solidFill>
                            <a:srgbClr val="000000"/>
                          </a:solidFill>
                          <a:latin typeface="Calibri"/>
                        </a:rPr>
                        <a:t>10.4.1.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extLst>
                  <a:ext uri="{0D108BD9-81ED-4DB2-BD59-A6C34878D82A}">
                    <a16:rowId xmlns:a16="http://schemas.microsoft.com/office/drawing/2014/main" val="10010"/>
                  </a:ext>
                </a:extLst>
              </a:tr>
              <a:tr h="175260">
                <a:tc>
                  <a:txBody>
                    <a:bodyPr/>
                    <a:lstStyle/>
                    <a:p>
                      <a:pPr algn="l"/>
                      <a:r>
                        <a:rPr sz="1100" b="0" i="0">
                          <a:solidFill>
                            <a:srgbClr val="000000"/>
                          </a:solidFill>
                          <a:latin typeface="Calibri"/>
                        </a:rPr>
                        <a:t>10.4.2.</a:t>
                      </a:r>
                      <a:r>
                        <a:rPr sz="700" b="0" i="0">
                          <a:solidFill>
                            <a:srgbClr val="000000"/>
                          </a:solidFill>
                          <a:latin typeface="Times New Roman"/>
                        </a:rPr>
                        <a:t> </a:t>
                      </a:r>
                      <a:r>
                        <a:rPr sz="1100" b="0" i="0">
                          <a:solidFill>
                            <a:srgbClr val="000000"/>
                          </a:solidFill>
                          <a:latin typeface="Calibri"/>
                        </a:rPr>
                        <a:t>By Material</a:t>
                      </a:r>
                      <a:endParaRPr sz="1100"/>
                    </a:p>
                  </a:txBody>
                  <a:tcPr marL="771525" marR="9525" marT="9525" marB="0" anchor="ctr"/>
                </a:tc>
                <a:extLst>
                  <a:ext uri="{0D108BD9-81ED-4DB2-BD59-A6C34878D82A}">
                    <a16:rowId xmlns:a16="http://schemas.microsoft.com/office/drawing/2014/main" val="10011"/>
                  </a:ext>
                </a:extLst>
              </a:tr>
              <a:tr h="175260">
                <a:tc>
                  <a:txBody>
                    <a:bodyPr/>
                    <a:lstStyle/>
                    <a:p>
                      <a:pPr algn="l"/>
                      <a:r>
                        <a:rPr sz="1100" b="0" i="0">
                          <a:solidFill>
                            <a:srgbClr val="000000"/>
                          </a:solidFill>
                          <a:latin typeface="Calibri"/>
                        </a:rPr>
                        <a:t>10.4.3.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extLst>
                  <a:ext uri="{0D108BD9-81ED-4DB2-BD59-A6C34878D82A}">
                    <a16:rowId xmlns:a16="http://schemas.microsoft.com/office/drawing/2014/main" val="10012"/>
                  </a:ext>
                </a:extLst>
              </a:tr>
              <a:tr h="175260">
                <a:tc>
                  <a:txBody>
                    <a:bodyPr/>
                    <a:lstStyle/>
                    <a:p>
                      <a:pPr algn="l"/>
                      <a:r>
                        <a:rPr sz="1100" b="1" i="0">
                          <a:solidFill>
                            <a:srgbClr val="000000"/>
                          </a:solidFill>
                          <a:latin typeface="Calibri"/>
                        </a:rPr>
                        <a:t>11.</a:t>
                      </a:r>
                      <a:r>
                        <a:rPr sz="700" b="1" i="0">
                          <a:solidFill>
                            <a:srgbClr val="000000"/>
                          </a:solidFill>
                          <a:latin typeface="Times New Roman"/>
                        </a:rPr>
                        <a:t>    </a:t>
                      </a:r>
                      <a:r>
                        <a:rPr sz="1100" b="1" i="0">
                          <a:solidFill>
                            <a:srgbClr val="000000"/>
                          </a:solidFill>
                          <a:latin typeface="Calibri"/>
                        </a:rPr>
                        <a:t>East Asia Market Size (Value &amp; Volume) 2021–2036</a:t>
                      </a:r>
                      <a:endParaRPr sz="1100"/>
                    </a:p>
                  </a:txBody>
                  <a:tcPr marL="171450" marR="9525" marT="9525" marB="0" anchor="ctr"/>
                </a:tc>
                <a:extLst>
                  <a:ext uri="{0D108BD9-81ED-4DB2-BD59-A6C34878D82A}">
                    <a16:rowId xmlns:a16="http://schemas.microsoft.com/office/drawing/2014/main" val="10013"/>
                  </a:ext>
                </a:extLst>
              </a:tr>
              <a:tr h="175260">
                <a:tc>
                  <a:txBody>
                    <a:bodyPr/>
                    <a:lstStyle/>
                    <a:p>
                      <a:pPr algn="l"/>
                      <a:r>
                        <a:rPr sz="1100" b="0" i="0">
                          <a:solidFill>
                            <a:srgbClr val="0070C0"/>
                          </a:solidFill>
                          <a:latin typeface="Calibri"/>
                        </a:rPr>
                        <a:t>11.1.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14"/>
                  </a:ext>
                </a:extLst>
              </a:tr>
              <a:tr h="175260">
                <a:tc>
                  <a:txBody>
                    <a:bodyPr/>
                    <a:lstStyle/>
                    <a:p>
                      <a:pPr algn="l"/>
                      <a:r>
                        <a:rPr sz="1100" b="0" i="0">
                          <a:solidFill>
                            <a:srgbClr val="0070C0"/>
                          </a:solidFill>
                          <a:latin typeface="Calibri"/>
                        </a:rPr>
                        <a:t>11.2.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15"/>
                  </a:ext>
                </a:extLst>
              </a:tr>
              <a:tr h="175260">
                <a:tc>
                  <a:txBody>
                    <a:bodyPr/>
                    <a:lstStyle/>
                    <a:p>
                      <a:pPr algn="l"/>
                      <a:r>
                        <a:rPr sz="1100" b="0" i="0">
                          <a:solidFill>
                            <a:srgbClr val="0070C0"/>
                          </a:solidFill>
                          <a:latin typeface="Calibri"/>
                        </a:rPr>
                        <a:t>11.3.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16"/>
                  </a:ext>
                </a:extLst>
              </a:tr>
              <a:tr h="175260">
                <a:tc>
                  <a:txBody>
                    <a:bodyPr/>
                    <a:lstStyle/>
                    <a:p>
                      <a:pPr algn="l"/>
                      <a:r>
                        <a:rPr sz="1100" b="0" i="0">
                          <a:solidFill>
                            <a:srgbClr val="0070C0"/>
                          </a:solidFill>
                          <a:latin typeface="Calibri"/>
                        </a:rPr>
                        <a:t>11.4.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extLst>
                  <a:ext uri="{0D108BD9-81ED-4DB2-BD59-A6C34878D82A}">
                    <a16:rowId xmlns:a16="http://schemas.microsoft.com/office/drawing/2014/main" val="10017"/>
                  </a:ext>
                </a:extLst>
              </a:tr>
              <a:tr h="175260">
                <a:tc>
                  <a:txBody>
                    <a:bodyPr/>
                    <a:lstStyle/>
                    <a:p>
                      <a:pPr algn="l"/>
                      <a:r>
                        <a:rPr sz="1100" b="0" i="0">
                          <a:solidFill>
                            <a:srgbClr val="000000"/>
                          </a:solidFill>
                          <a:latin typeface="Calibri"/>
                        </a:rPr>
                        <a:t>11.4.1.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extLst>
                  <a:ext uri="{0D108BD9-81ED-4DB2-BD59-A6C34878D82A}">
                    <a16:rowId xmlns:a16="http://schemas.microsoft.com/office/drawing/2014/main" val="10018"/>
                  </a:ext>
                </a:extLst>
              </a:tr>
              <a:tr h="175260">
                <a:tc>
                  <a:txBody>
                    <a:bodyPr/>
                    <a:lstStyle/>
                    <a:p>
                      <a:pPr algn="l"/>
                      <a:r>
                        <a:rPr sz="1100" b="0" i="0">
                          <a:solidFill>
                            <a:srgbClr val="000000"/>
                          </a:solidFill>
                          <a:latin typeface="Calibri"/>
                        </a:rPr>
                        <a:t>11.4.2.</a:t>
                      </a:r>
                      <a:r>
                        <a:rPr sz="700" b="0" i="0">
                          <a:solidFill>
                            <a:srgbClr val="000000"/>
                          </a:solidFill>
                          <a:latin typeface="Times New Roman"/>
                        </a:rPr>
                        <a:t> </a:t>
                      </a:r>
                      <a:r>
                        <a:rPr sz="1100" b="0" i="0">
                          <a:solidFill>
                            <a:srgbClr val="000000"/>
                          </a:solidFill>
                          <a:latin typeface="Calibri"/>
                        </a:rPr>
                        <a:t>By Material</a:t>
                      </a:r>
                      <a:endParaRPr sz="1100"/>
                    </a:p>
                  </a:txBody>
                  <a:tcPr marL="771525" marR="9525" marT="9525" marB="0" anchor="ctr"/>
                </a:tc>
                <a:extLst>
                  <a:ext uri="{0D108BD9-81ED-4DB2-BD59-A6C34878D82A}">
                    <a16:rowId xmlns:a16="http://schemas.microsoft.com/office/drawing/2014/main" val="10019"/>
                  </a:ext>
                </a:extLst>
              </a:tr>
              <a:tr h="175260">
                <a:tc>
                  <a:txBody>
                    <a:bodyPr/>
                    <a:lstStyle/>
                    <a:p>
                      <a:pPr algn="l"/>
                      <a:r>
                        <a:rPr sz="1100" b="0" i="0">
                          <a:solidFill>
                            <a:srgbClr val="000000"/>
                          </a:solidFill>
                          <a:latin typeface="Calibri"/>
                        </a:rPr>
                        <a:t>11.4.3.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extLst>
                  <a:ext uri="{0D108BD9-81ED-4DB2-BD59-A6C34878D82A}">
                    <a16:rowId xmlns:a16="http://schemas.microsoft.com/office/drawing/2014/main" val="10020"/>
                  </a:ext>
                </a:extLst>
              </a:tr>
              <a:tr h="175260">
                <a:tc>
                  <a:txBody>
                    <a:bodyPr/>
                    <a:lstStyle/>
                    <a:p>
                      <a:pPr algn="l"/>
                      <a:r>
                        <a:rPr sz="1100" b="1" i="0">
                          <a:solidFill>
                            <a:srgbClr val="000000"/>
                          </a:solidFill>
                          <a:latin typeface="Calibri"/>
                        </a:rPr>
                        <a:t>12.</a:t>
                      </a:r>
                      <a:r>
                        <a:rPr sz="700" b="1" i="0">
                          <a:solidFill>
                            <a:srgbClr val="000000"/>
                          </a:solidFill>
                          <a:latin typeface="Times New Roman"/>
                        </a:rPr>
                        <a:t>    </a:t>
                      </a:r>
                      <a:r>
                        <a:rPr sz="1100" b="1" i="0">
                          <a:solidFill>
                            <a:srgbClr val="000000"/>
                          </a:solidFill>
                          <a:latin typeface="Calibri"/>
                        </a:rPr>
                        <a:t>South Asia &amp; Pacific Market Size (Value &amp; Volume) 2021–2036</a:t>
                      </a:r>
                      <a:endParaRPr sz="1100"/>
                    </a:p>
                  </a:txBody>
                  <a:tcPr marL="171450" marR="9525" marT="9525" marB="0" anchor="ctr"/>
                </a:tc>
                <a:extLst>
                  <a:ext uri="{0D108BD9-81ED-4DB2-BD59-A6C34878D82A}">
                    <a16:rowId xmlns:a16="http://schemas.microsoft.com/office/drawing/2014/main" val="10021"/>
                  </a:ext>
                </a:extLst>
              </a:tr>
              <a:tr h="175260">
                <a:tc>
                  <a:txBody>
                    <a:bodyPr/>
                    <a:lstStyle/>
                    <a:p>
                      <a:pPr algn="l"/>
                      <a:r>
                        <a:rPr sz="1100" b="0" i="0">
                          <a:solidFill>
                            <a:srgbClr val="0070C0"/>
                          </a:solidFill>
                          <a:latin typeface="Calibri"/>
                        </a:rPr>
                        <a:t>12.1.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22"/>
                  </a:ext>
                </a:extLst>
              </a:tr>
              <a:tr h="175260">
                <a:tc>
                  <a:txBody>
                    <a:bodyPr/>
                    <a:lstStyle/>
                    <a:p>
                      <a:pPr algn="l"/>
                      <a:r>
                        <a:rPr sz="1100" b="0" i="0">
                          <a:solidFill>
                            <a:srgbClr val="0070C0"/>
                          </a:solidFill>
                          <a:latin typeface="Calibri"/>
                        </a:rPr>
                        <a:t>12.2.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23"/>
                  </a:ext>
                </a:extLst>
              </a:tr>
              <a:tr h="175260">
                <a:tc>
                  <a:txBody>
                    <a:bodyPr/>
                    <a:lstStyle/>
                    <a:p>
                      <a:pPr algn="l"/>
                      <a:r>
                        <a:rPr sz="1100" b="0" i="0">
                          <a:solidFill>
                            <a:srgbClr val="0070C0"/>
                          </a:solidFill>
                          <a:latin typeface="Calibri"/>
                        </a:rPr>
                        <a:t>12.3.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24"/>
                  </a:ext>
                </a:extLst>
              </a:tr>
              <a:tr h="175260">
                <a:tc>
                  <a:txBody>
                    <a:bodyPr/>
                    <a:lstStyle/>
                    <a:p>
                      <a:pPr algn="l"/>
                      <a:r>
                        <a:rPr sz="1100" b="0" i="0">
                          <a:solidFill>
                            <a:srgbClr val="0070C0"/>
                          </a:solidFill>
                          <a:latin typeface="Calibri"/>
                        </a:rPr>
                        <a:t>12.4.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extLst>
                  <a:ext uri="{0D108BD9-81ED-4DB2-BD59-A6C34878D82A}">
                    <a16:rowId xmlns:a16="http://schemas.microsoft.com/office/drawing/2014/main" val="10025"/>
                  </a:ext>
                </a:extLst>
              </a:tr>
              <a:tr h="175260">
                <a:tc>
                  <a:txBody>
                    <a:bodyPr/>
                    <a:lstStyle/>
                    <a:p>
                      <a:pPr algn="l"/>
                      <a:r>
                        <a:rPr sz="1100" b="0" i="0">
                          <a:solidFill>
                            <a:srgbClr val="000000"/>
                          </a:solidFill>
                          <a:latin typeface="Calibri"/>
                        </a:rPr>
                        <a:t>12.4.1.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extLst>
                  <a:ext uri="{0D108BD9-81ED-4DB2-BD59-A6C34878D82A}">
                    <a16:rowId xmlns:a16="http://schemas.microsoft.com/office/drawing/2014/main" val="10026"/>
                  </a:ext>
                </a:extLst>
              </a:tr>
              <a:tr h="175260">
                <a:tc>
                  <a:txBody>
                    <a:bodyPr/>
                    <a:lstStyle/>
                    <a:p>
                      <a:pPr algn="l"/>
                      <a:r>
                        <a:rPr sz="1100" b="0" i="0">
                          <a:solidFill>
                            <a:srgbClr val="000000"/>
                          </a:solidFill>
                          <a:latin typeface="Calibri"/>
                        </a:rPr>
                        <a:t>12.4.2.</a:t>
                      </a:r>
                      <a:r>
                        <a:rPr sz="700" b="0" i="0">
                          <a:solidFill>
                            <a:srgbClr val="000000"/>
                          </a:solidFill>
                          <a:latin typeface="Times New Roman"/>
                        </a:rPr>
                        <a:t> </a:t>
                      </a:r>
                      <a:r>
                        <a:rPr sz="1100" b="0" i="0">
                          <a:solidFill>
                            <a:srgbClr val="000000"/>
                          </a:solidFill>
                          <a:latin typeface="Calibri"/>
                        </a:rPr>
                        <a:t>By Material</a:t>
                      </a:r>
                      <a:endParaRPr sz="1100"/>
                    </a:p>
                  </a:txBody>
                  <a:tcPr marL="771525" marR="9525" marT="9525" marB="0" anchor="ctr"/>
                </a:tc>
                <a:extLst>
                  <a:ext uri="{0D108BD9-81ED-4DB2-BD59-A6C34878D82A}">
                    <a16:rowId xmlns:a16="http://schemas.microsoft.com/office/drawing/2014/main" val="10027"/>
                  </a:ext>
                </a:extLst>
              </a:tr>
              <a:tr h="175260">
                <a:tc>
                  <a:txBody>
                    <a:bodyPr/>
                    <a:lstStyle/>
                    <a:p>
                      <a:pPr algn="l"/>
                      <a:r>
                        <a:rPr sz="1100" b="0" i="0">
                          <a:solidFill>
                            <a:srgbClr val="000000"/>
                          </a:solidFill>
                          <a:latin typeface="Calibri"/>
                        </a:rPr>
                        <a:t>12.4.3.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extLst>
                  <a:ext uri="{0D108BD9-81ED-4DB2-BD59-A6C34878D82A}">
                    <a16:rowId xmlns:a16="http://schemas.microsoft.com/office/drawing/2014/main" val="10028"/>
                  </a:ext>
                </a:extLst>
              </a:tr>
              <a:tr h="175260">
                <a:tc>
                  <a:txBody>
                    <a:bodyPr/>
                    <a:lstStyle/>
                    <a:p>
                      <a:pPr algn="l"/>
                      <a:r>
                        <a:rPr sz="1100" b="1" i="0">
                          <a:solidFill>
                            <a:srgbClr val="000000"/>
                          </a:solidFill>
                          <a:latin typeface="Calibri"/>
                        </a:rPr>
                        <a:t>13.</a:t>
                      </a:r>
                      <a:r>
                        <a:rPr sz="700" b="1" i="0">
                          <a:solidFill>
                            <a:srgbClr val="000000"/>
                          </a:solidFill>
                          <a:latin typeface="Times New Roman"/>
                        </a:rPr>
                        <a:t>    </a:t>
                      </a:r>
                      <a:r>
                        <a:rPr sz="1100" b="1" i="0">
                          <a:solidFill>
                            <a:srgbClr val="000000"/>
                          </a:solidFill>
                          <a:latin typeface="Calibri"/>
                        </a:rPr>
                        <a:t>Middle East &amp; Africa Market Size (Value &amp; Volume) 2021–2036</a:t>
                      </a:r>
                      <a:endParaRPr sz="1100"/>
                    </a:p>
                  </a:txBody>
                  <a:tcPr marL="171450" marR="9525" marT="9525" marB="0" anchor="ctr"/>
                </a:tc>
                <a:extLst>
                  <a:ext uri="{0D108BD9-81ED-4DB2-BD59-A6C34878D82A}">
                    <a16:rowId xmlns:a16="http://schemas.microsoft.com/office/drawing/2014/main" val="10029"/>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Table of Contents (5/6)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0">
                          <a:solidFill>
                            <a:srgbClr val="0070C0"/>
                          </a:solidFill>
                          <a:latin typeface="Calibri"/>
                        </a:rPr>
                        <a:t>13.1.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extLst>
                  <a:ext uri="{0D108BD9-81ED-4DB2-BD59-A6C34878D82A}">
                    <a16:rowId xmlns:a16="http://schemas.microsoft.com/office/drawing/2014/main" val="10000"/>
                  </a:ext>
                </a:extLst>
              </a:tr>
              <a:tr h="175260">
                <a:tc>
                  <a:txBody>
                    <a:bodyPr/>
                    <a:lstStyle/>
                    <a:p>
                      <a:pPr algn="l"/>
                      <a:r>
                        <a:rPr sz="1100" b="0" i="0">
                          <a:solidFill>
                            <a:srgbClr val="0070C0"/>
                          </a:solidFill>
                          <a:latin typeface="Calibri"/>
                        </a:rPr>
                        <a:t>13.2.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extLst>
                  <a:ext uri="{0D108BD9-81ED-4DB2-BD59-A6C34878D82A}">
                    <a16:rowId xmlns:a16="http://schemas.microsoft.com/office/drawing/2014/main" val="10001"/>
                  </a:ext>
                </a:extLst>
              </a:tr>
              <a:tr h="175260">
                <a:tc>
                  <a:txBody>
                    <a:bodyPr/>
                    <a:lstStyle/>
                    <a:p>
                      <a:pPr algn="l"/>
                      <a:r>
                        <a:rPr sz="1100" b="0" i="0">
                          <a:solidFill>
                            <a:srgbClr val="0070C0"/>
                          </a:solidFill>
                          <a:latin typeface="Calibri"/>
                        </a:rPr>
                        <a:t>13.3.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extLst>
                  <a:ext uri="{0D108BD9-81ED-4DB2-BD59-A6C34878D82A}">
                    <a16:rowId xmlns:a16="http://schemas.microsoft.com/office/drawing/2014/main" val="10002"/>
                  </a:ext>
                </a:extLst>
              </a:tr>
              <a:tr h="175260">
                <a:tc>
                  <a:txBody>
                    <a:bodyPr/>
                    <a:lstStyle/>
                    <a:p>
                      <a:pPr algn="l"/>
                      <a:r>
                        <a:rPr sz="1100" b="0" i="0">
                          <a:solidFill>
                            <a:srgbClr val="0070C0"/>
                          </a:solidFill>
                          <a:latin typeface="Calibri"/>
                        </a:rPr>
                        <a:t>13.4.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extLst>
                  <a:ext uri="{0D108BD9-81ED-4DB2-BD59-A6C34878D82A}">
                    <a16:rowId xmlns:a16="http://schemas.microsoft.com/office/drawing/2014/main" val="10003"/>
                  </a:ext>
                </a:extLst>
              </a:tr>
              <a:tr h="175260">
                <a:tc>
                  <a:txBody>
                    <a:bodyPr/>
                    <a:lstStyle/>
                    <a:p>
                      <a:pPr algn="l"/>
                      <a:r>
                        <a:rPr sz="1100" b="0" i="0">
                          <a:solidFill>
                            <a:srgbClr val="000000"/>
                          </a:solidFill>
                          <a:latin typeface="Calibri"/>
                        </a:rPr>
                        <a:t>13.4.1.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extLst>
                  <a:ext uri="{0D108BD9-81ED-4DB2-BD59-A6C34878D82A}">
                    <a16:rowId xmlns:a16="http://schemas.microsoft.com/office/drawing/2014/main" val="10004"/>
                  </a:ext>
                </a:extLst>
              </a:tr>
              <a:tr h="175260">
                <a:tc>
                  <a:txBody>
                    <a:bodyPr/>
                    <a:lstStyle/>
                    <a:p>
                      <a:pPr algn="l"/>
                      <a:r>
                        <a:rPr sz="1100" b="0" i="0">
                          <a:solidFill>
                            <a:srgbClr val="000000"/>
                          </a:solidFill>
                          <a:latin typeface="Calibri"/>
                        </a:rPr>
                        <a:t>13.4.2.</a:t>
                      </a:r>
                      <a:r>
                        <a:rPr sz="700" b="0" i="0">
                          <a:solidFill>
                            <a:srgbClr val="000000"/>
                          </a:solidFill>
                          <a:latin typeface="Times New Roman"/>
                        </a:rPr>
                        <a:t> </a:t>
                      </a:r>
                      <a:r>
                        <a:rPr sz="1100" b="0" i="0">
                          <a:solidFill>
                            <a:srgbClr val="000000"/>
                          </a:solidFill>
                          <a:latin typeface="Calibri"/>
                        </a:rPr>
                        <a:t>By Material</a:t>
                      </a:r>
                      <a:endParaRPr sz="1100"/>
                    </a:p>
                  </a:txBody>
                  <a:tcPr marL="771525" marR="9525" marT="9525" marB="0" anchor="ctr"/>
                </a:tc>
                <a:extLst>
                  <a:ext uri="{0D108BD9-81ED-4DB2-BD59-A6C34878D82A}">
                    <a16:rowId xmlns:a16="http://schemas.microsoft.com/office/drawing/2014/main" val="10005"/>
                  </a:ext>
                </a:extLst>
              </a:tr>
              <a:tr h="175260">
                <a:tc>
                  <a:txBody>
                    <a:bodyPr/>
                    <a:lstStyle/>
                    <a:p>
                      <a:pPr algn="l"/>
                      <a:r>
                        <a:rPr sz="1100" b="0" i="0">
                          <a:solidFill>
                            <a:srgbClr val="000000"/>
                          </a:solidFill>
                          <a:latin typeface="Calibri"/>
                        </a:rPr>
                        <a:t>13.4.3.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extLst>
                  <a:ext uri="{0D108BD9-81ED-4DB2-BD59-A6C34878D82A}">
                    <a16:rowId xmlns:a16="http://schemas.microsoft.com/office/drawing/2014/main" val="10006"/>
                  </a:ext>
                </a:extLst>
              </a:tr>
              <a:tr h="175260">
                <a:tc>
                  <a:txBody>
                    <a:bodyPr/>
                    <a:lstStyle/>
                    <a:p>
                      <a:pPr algn="l"/>
                      <a:r>
                        <a:rPr sz="1100" b="1" i="0">
                          <a:solidFill>
                            <a:srgbClr val="000000"/>
                          </a:solidFill>
                          <a:latin typeface="Calibri"/>
                        </a:rPr>
                        <a:t>Section 3: Pricing Assessment</a:t>
                      </a:r>
                      <a:endParaRPr sz="1100"/>
                    </a:p>
                  </a:txBody>
                  <a:tcPr marL="9525" marR="9525" marT="9525" marB="0" anchor="ctr"/>
                </a:tc>
                <a:extLst>
                  <a:ext uri="{0D108BD9-81ED-4DB2-BD59-A6C34878D82A}">
                    <a16:rowId xmlns:a16="http://schemas.microsoft.com/office/drawing/2014/main" val="10007"/>
                  </a:ext>
                </a:extLst>
              </a:tr>
              <a:tr h="175260">
                <a:tc>
                  <a:txBody>
                    <a:bodyPr/>
                    <a:lstStyle/>
                    <a:p>
                      <a:pPr algn="l"/>
                      <a:r>
                        <a:rPr sz="1100" b="1" i="0">
                          <a:solidFill>
                            <a:srgbClr val="000000"/>
                          </a:solidFill>
                          <a:latin typeface="Calibri"/>
                        </a:rPr>
                        <a:t>14.</a:t>
                      </a:r>
                      <a:r>
                        <a:rPr sz="700" b="1" i="0">
                          <a:solidFill>
                            <a:srgbClr val="000000"/>
                          </a:solidFill>
                          <a:latin typeface="Times New Roman"/>
                        </a:rPr>
                        <a:t>    </a:t>
                      </a:r>
                      <a:r>
                        <a:rPr sz="1100" b="1" i="0">
                          <a:solidFill>
                            <a:srgbClr val="000000"/>
                          </a:solidFill>
                          <a:latin typeface="Calibri"/>
                        </a:rPr>
                        <a:t>Global Pricing Analysis</a:t>
                      </a:r>
                      <a:endParaRPr sz="1100"/>
                    </a:p>
                  </a:txBody>
                  <a:tcPr marL="171450" marR="9525" marT="9525" marB="0" anchor="ctr"/>
                </a:tc>
                <a:extLst>
                  <a:ext uri="{0D108BD9-81ED-4DB2-BD59-A6C34878D82A}">
                    <a16:rowId xmlns:a16="http://schemas.microsoft.com/office/drawing/2014/main" val="10008"/>
                  </a:ext>
                </a:extLst>
              </a:tr>
              <a:tr h="175260">
                <a:tc>
                  <a:txBody>
                    <a:bodyPr/>
                    <a:lstStyle/>
                    <a:p>
                      <a:pPr algn="l"/>
                      <a:r>
                        <a:rPr sz="1100" b="0" i="0">
                          <a:solidFill>
                            <a:srgbClr val="0070C0"/>
                          </a:solidFill>
                          <a:latin typeface="Calibri"/>
                        </a:rPr>
                        <a:t>14.1.</a:t>
                      </a:r>
                      <a:r>
                        <a:rPr sz="700" b="0" i="0">
                          <a:solidFill>
                            <a:srgbClr val="0070C0"/>
                          </a:solidFill>
                          <a:latin typeface="Times New Roman"/>
                        </a:rPr>
                        <a:t>  </a:t>
                      </a:r>
                      <a:r>
                        <a:rPr sz="1100" b="0" i="0">
                          <a:solidFill>
                            <a:srgbClr val="0070C0"/>
                          </a:solidFill>
                          <a:latin typeface="Calibri"/>
                        </a:rPr>
                        <a:t>Regional Price Assessment</a:t>
                      </a:r>
                      <a:endParaRPr sz="1100"/>
                    </a:p>
                  </a:txBody>
                  <a:tcPr marL="428625" marR="9525" marT="9525" marB="0" anchor="ctr"/>
                </a:tc>
                <a:extLst>
                  <a:ext uri="{0D108BD9-81ED-4DB2-BD59-A6C34878D82A}">
                    <a16:rowId xmlns:a16="http://schemas.microsoft.com/office/drawing/2014/main" val="10009"/>
                  </a:ext>
                </a:extLst>
              </a:tr>
              <a:tr h="175260">
                <a:tc>
                  <a:txBody>
                    <a:bodyPr/>
                    <a:lstStyle/>
                    <a:p>
                      <a:pPr algn="l"/>
                      <a:r>
                        <a:rPr sz="1100" b="0" i="0">
                          <a:solidFill>
                            <a:srgbClr val="000000"/>
                          </a:solidFill>
                          <a:latin typeface="Calibri"/>
                        </a:rPr>
                        <a:t>14.1.1.</a:t>
                      </a:r>
                      <a:r>
                        <a:rPr sz="700" b="0" i="0">
                          <a:solidFill>
                            <a:srgbClr val="000000"/>
                          </a:solidFill>
                          <a:latin typeface="Times New Roman"/>
                        </a:rPr>
                        <a:t> </a:t>
                      </a:r>
                      <a:r>
                        <a:rPr sz="1100" b="0" i="0">
                          <a:solidFill>
                            <a:srgbClr val="000000"/>
                          </a:solidFill>
                          <a:latin typeface="Calibri"/>
                        </a:rPr>
                        <a:t>Manufacturer Level Pricing</a:t>
                      </a:r>
                      <a:endParaRPr sz="1100"/>
                    </a:p>
                  </a:txBody>
                  <a:tcPr marL="771525" marR="9525" marT="9525" marB="0" anchor="ctr"/>
                </a:tc>
                <a:extLst>
                  <a:ext uri="{0D108BD9-81ED-4DB2-BD59-A6C34878D82A}">
                    <a16:rowId xmlns:a16="http://schemas.microsoft.com/office/drawing/2014/main" val="10010"/>
                  </a:ext>
                </a:extLst>
              </a:tr>
              <a:tr h="175260">
                <a:tc>
                  <a:txBody>
                    <a:bodyPr/>
                    <a:lstStyle/>
                    <a:p>
                      <a:pPr algn="l"/>
                      <a:r>
                        <a:rPr sz="1100" b="0" i="0">
                          <a:solidFill>
                            <a:srgbClr val="000000"/>
                          </a:solidFill>
                          <a:latin typeface="Calibri"/>
                        </a:rPr>
                        <a:t>14.1.2.</a:t>
                      </a:r>
                      <a:r>
                        <a:rPr sz="700" b="0" i="0">
                          <a:solidFill>
                            <a:srgbClr val="000000"/>
                          </a:solidFill>
                          <a:latin typeface="Times New Roman"/>
                        </a:rPr>
                        <a:t> </a:t>
                      </a:r>
                      <a:r>
                        <a:rPr sz="1100" b="0" i="0">
                          <a:solidFill>
                            <a:srgbClr val="000000"/>
                          </a:solidFill>
                          <a:latin typeface="Calibri"/>
                        </a:rPr>
                        <a:t>Distributor Level Pricing</a:t>
                      </a:r>
                      <a:endParaRPr sz="1100"/>
                    </a:p>
                  </a:txBody>
                  <a:tcPr marL="771525" marR="9525" marT="9525" marB="0" anchor="ctr"/>
                </a:tc>
                <a:extLst>
                  <a:ext uri="{0D108BD9-81ED-4DB2-BD59-A6C34878D82A}">
                    <a16:rowId xmlns:a16="http://schemas.microsoft.com/office/drawing/2014/main" val="10011"/>
                  </a:ext>
                </a:extLst>
              </a:tr>
              <a:tr h="175260">
                <a:tc>
                  <a:txBody>
                    <a:bodyPr/>
                    <a:lstStyle/>
                    <a:p>
                      <a:pPr algn="l"/>
                      <a:r>
                        <a:rPr sz="1100" b="0" i="0">
                          <a:solidFill>
                            <a:srgbClr val="000000"/>
                          </a:solidFill>
                          <a:latin typeface="Calibri"/>
                        </a:rPr>
                        <a:t>14.1.3.</a:t>
                      </a:r>
                      <a:r>
                        <a:rPr sz="700" b="0" i="0">
                          <a:solidFill>
                            <a:srgbClr val="000000"/>
                          </a:solidFill>
                          <a:latin typeface="Times New Roman"/>
                        </a:rPr>
                        <a:t> </a:t>
                      </a:r>
                      <a:r>
                        <a:rPr sz="1100" b="0" i="0">
                          <a:solidFill>
                            <a:srgbClr val="000000"/>
                          </a:solidFill>
                          <a:latin typeface="Calibri"/>
                        </a:rPr>
                        <a:t>Retail Pricing (where applicable)</a:t>
                      </a:r>
                      <a:endParaRPr sz="1100"/>
                    </a:p>
                  </a:txBody>
                  <a:tcPr marL="771525" marR="9525" marT="9525" marB="0" anchor="ctr"/>
                </a:tc>
                <a:extLst>
                  <a:ext uri="{0D108BD9-81ED-4DB2-BD59-A6C34878D82A}">
                    <a16:rowId xmlns:a16="http://schemas.microsoft.com/office/drawing/2014/main" val="10012"/>
                  </a:ext>
                </a:extLst>
              </a:tr>
              <a:tr h="175260">
                <a:tc>
                  <a:txBody>
                    <a:bodyPr/>
                    <a:lstStyle/>
                    <a:p>
                      <a:pPr algn="l"/>
                      <a:r>
                        <a:rPr sz="1100" b="0" i="0">
                          <a:solidFill>
                            <a:srgbClr val="0070C0"/>
                          </a:solidFill>
                          <a:latin typeface="Calibri"/>
                        </a:rPr>
                        <a:t>14.2.</a:t>
                      </a:r>
                      <a:r>
                        <a:rPr sz="700" b="0" i="0">
                          <a:solidFill>
                            <a:srgbClr val="0070C0"/>
                          </a:solidFill>
                          <a:latin typeface="Times New Roman"/>
                        </a:rPr>
                        <a:t>  </a:t>
                      </a:r>
                      <a:r>
                        <a:rPr sz="1100" b="0" i="0">
                          <a:solidFill>
                            <a:srgbClr val="0070C0"/>
                          </a:solidFill>
                          <a:latin typeface="Calibri"/>
                        </a:rPr>
                        <a:t>Segment-wise Price Comparison (Product Type vs Material)</a:t>
                      </a:r>
                      <a:endParaRPr sz="1100"/>
                    </a:p>
                  </a:txBody>
                  <a:tcPr marL="428625" marR="9525" marT="9525" marB="0" anchor="ctr"/>
                </a:tc>
                <a:extLst>
                  <a:ext uri="{0D108BD9-81ED-4DB2-BD59-A6C34878D82A}">
                    <a16:rowId xmlns:a16="http://schemas.microsoft.com/office/drawing/2014/main" val="10013"/>
                  </a:ext>
                </a:extLst>
              </a:tr>
              <a:tr h="175260">
                <a:tc>
                  <a:txBody>
                    <a:bodyPr/>
                    <a:lstStyle/>
                    <a:p>
                      <a:pPr algn="l"/>
                      <a:r>
                        <a:rPr sz="1100" b="0" i="0">
                          <a:solidFill>
                            <a:srgbClr val="0070C0"/>
                          </a:solidFill>
                          <a:latin typeface="Calibri"/>
                        </a:rPr>
                        <a:t>14.3.</a:t>
                      </a:r>
                      <a:r>
                        <a:rPr sz="700" b="0" i="0">
                          <a:solidFill>
                            <a:srgbClr val="0070C0"/>
                          </a:solidFill>
                          <a:latin typeface="Times New Roman"/>
                        </a:rPr>
                        <a:t>  </a:t>
                      </a:r>
                      <a:r>
                        <a:rPr sz="1100" b="0" i="0">
                          <a:solidFill>
                            <a:srgbClr val="0070C0"/>
                          </a:solidFill>
                          <a:latin typeface="Calibri"/>
                        </a:rPr>
                        <a:t>Country-wise Price Comparison (Product Type)</a:t>
                      </a:r>
                      <a:endParaRPr sz="1100"/>
                    </a:p>
                  </a:txBody>
                  <a:tcPr marL="428625" marR="9525" marT="9525" marB="0" anchor="ctr"/>
                </a:tc>
                <a:extLst>
                  <a:ext uri="{0D108BD9-81ED-4DB2-BD59-A6C34878D82A}">
                    <a16:rowId xmlns:a16="http://schemas.microsoft.com/office/drawing/2014/main" val="10014"/>
                  </a:ext>
                </a:extLst>
              </a:tr>
              <a:tr h="175260">
                <a:tc>
                  <a:txBody>
                    <a:bodyPr/>
                    <a:lstStyle/>
                    <a:p>
                      <a:pPr algn="l"/>
                      <a:r>
                        <a:rPr sz="1100" b="0" i="0">
                          <a:solidFill>
                            <a:srgbClr val="0070C0"/>
                          </a:solidFill>
                          <a:latin typeface="Calibri"/>
                        </a:rPr>
                        <a:t>14.4.</a:t>
                      </a:r>
                      <a:r>
                        <a:rPr sz="700" b="0" i="0">
                          <a:solidFill>
                            <a:srgbClr val="0070C0"/>
                          </a:solidFill>
                          <a:latin typeface="Times New Roman"/>
                        </a:rPr>
                        <a:t>  </a:t>
                      </a:r>
                      <a:r>
                        <a:rPr sz="1100" b="0" i="0">
                          <a:solidFill>
                            <a:srgbClr val="0070C0"/>
                          </a:solidFill>
                          <a:latin typeface="Calibri"/>
                        </a:rPr>
                        <a:t>Price Forecast till 2036</a:t>
                      </a:r>
                      <a:endParaRPr sz="1100"/>
                    </a:p>
                  </a:txBody>
                  <a:tcPr marL="428625" marR="9525" marT="9525" marB="0" anchor="ctr"/>
                </a:tc>
                <a:extLst>
                  <a:ext uri="{0D108BD9-81ED-4DB2-BD59-A6C34878D82A}">
                    <a16:rowId xmlns:a16="http://schemas.microsoft.com/office/drawing/2014/main" val="10015"/>
                  </a:ext>
                </a:extLst>
              </a:tr>
              <a:tr h="175260">
                <a:tc>
                  <a:txBody>
                    <a:bodyPr/>
                    <a:lstStyle/>
                    <a:p>
                      <a:pPr algn="l"/>
                      <a:r>
                        <a:rPr sz="1100" b="0" i="0">
                          <a:solidFill>
                            <a:srgbClr val="0070C0"/>
                          </a:solidFill>
                          <a:latin typeface="Calibri"/>
                        </a:rPr>
                        <a:t>14.5.</a:t>
                      </a:r>
                      <a:r>
                        <a:rPr sz="700" b="0" i="0">
                          <a:solidFill>
                            <a:srgbClr val="0070C0"/>
                          </a:solidFill>
                          <a:latin typeface="Times New Roman"/>
                        </a:rPr>
                        <a:t>  </a:t>
                      </a:r>
                      <a:r>
                        <a:rPr sz="1100" b="0" i="0">
                          <a:solidFill>
                            <a:srgbClr val="0070C0"/>
                          </a:solidFill>
                          <a:latin typeface="Calibri"/>
                        </a:rPr>
                        <a:t>Factors Impacting Pricing</a:t>
                      </a:r>
                      <a:endParaRPr sz="1100"/>
                    </a:p>
                  </a:txBody>
                  <a:tcPr marL="428625" marR="9525" marT="9525" marB="0" anchor="ctr"/>
                </a:tc>
                <a:extLst>
                  <a:ext uri="{0D108BD9-81ED-4DB2-BD59-A6C34878D82A}">
                    <a16:rowId xmlns:a16="http://schemas.microsoft.com/office/drawing/2014/main" val="10016"/>
                  </a:ext>
                </a:extLst>
              </a:tr>
              <a:tr h="175260">
                <a:tc>
                  <a:txBody>
                    <a:bodyPr/>
                    <a:lstStyle/>
                    <a:p>
                      <a:pPr algn="l"/>
                      <a:r>
                        <a:rPr sz="1100" b="0" i="0">
                          <a:solidFill>
                            <a:srgbClr val="0070C0"/>
                          </a:solidFill>
                          <a:latin typeface="Calibri"/>
                        </a:rPr>
                        <a:t>14.6.</a:t>
                      </a:r>
                      <a:r>
                        <a:rPr sz="700" b="0" i="0">
                          <a:solidFill>
                            <a:srgbClr val="0070C0"/>
                          </a:solidFill>
                          <a:latin typeface="Times New Roman"/>
                        </a:rPr>
                        <a:t>  </a:t>
                      </a:r>
                      <a:r>
                        <a:rPr sz="1100" b="0" i="0">
                          <a:solidFill>
                            <a:srgbClr val="0070C0"/>
                          </a:solidFill>
                          <a:latin typeface="Calibri"/>
                        </a:rPr>
                        <a:t>Competitor Pricing Strategies</a:t>
                      </a:r>
                      <a:endParaRPr sz="1100"/>
                    </a:p>
                  </a:txBody>
                  <a:tcPr marL="428625" marR="9525" marT="9525" marB="0" anchor="ctr"/>
                </a:tc>
                <a:extLst>
                  <a:ext uri="{0D108BD9-81ED-4DB2-BD59-A6C34878D82A}">
                    <a16:rowId xmlns:a16="http://schemas.microsoft.com/office/drawing/2014/main" val="10017"/>
                  </a:ext>
                </a:extLst>
              </a:tr>
              <a:tr h="175260">
                <a:tc>
                  <a:txBody>
                    <a:bodyPr/>
                    <a:lstStyle/>
                    <a:p>
                      <a:pPr algn="l"/>
                      <a:r>
                        <a:rPr sz="1100" b="1" i="0">
                          <a:solidFill>
                            <a:srgbClr val="000000"/>
                          </a:solidFill>
                          <a:latin typeface="Calibri"/>
                        </a:rPr>
                        <a:t>Section 4: Market Dynamics</a:t>
                      </a:r>
                      <a:endParaRPr sz="1100"/>
                    </a:p>
                  </a:txBody>
                  <a:tcPr marL="9525" marR="9525" marT="9525" marB="0" anchor="ctr"/>
                </a:tc>
                <a:extLst>
                  <a:ext uri="{0D108BD9-81ED-4DB2-BD59-A6C34878D82A}">
                    <a16:rowId xmlns:a16="http://schemas.microsoft.com/office/drawing/2014/main" val="10018"/>
                  </a:ext>
                </a:extLst>
              </a:tr>
              <a:tr h="175260">
                <a:tc>
                  <a:txBody>
                    <a:bodyPr/>
                    <a:lstStyle/>
                    <a:p>
                      <a:pPr algn="l"/>
                      <a:r>
                        <a:rPr sz="1100" b="1" i="0">
                          <a:solidFill>
                            <a:srgbClr val="000000"/>
                          </a:solidFill>
                          <a:latin typeface="Calibri"/>
                        </a:rPr>
                        <a:t>15.</a:t>
                      </a:r>
                      <a:r>
                        <a:rPr sz="700" b="1" i="0">
                          <a:solidFill>
                            <a:srgbClr val="000000"/>
                          </a:solidFill>
                          <a:latin typeface="Times New Roman"/>
                        </a:rPr>
                        <a:t>    </a:t>
                      </a:r>
                      <a:r>
                        <a:rPr sz="1100" b="1" i="0">
                          <a:solidFill>
                            <a:srgbClr val="000000"/>
                          </a:solidFill>
                          <a:latin typeface="Calibri"/>
                        </a:rPr>
                        <a:t>Innovation Tracker</a:t>
                      </a:r>
                      <a:endParaRPr sz="1100"/>
                    </a:p>
                  </a:txBody>
                  <a:tcPr marL="171450" marR="9525" marT="9525" marB="0" anchor="ctr"/>
                </a:tc>
                <a:extLst>
                  <a:ext uri="{0D108BD9-81ED-4DB2-BD59-A6C34878D82A}">
                    <a16:rowId xmlns:a16="http://schemas.microsoft.com/office/drawing/2014/main" val="10019"/>
                  </a:ext>
                </a:extLst>
              </a:tr>
              <a:tr h="175260">
                <a:tc>
                  <a:txBody>
                    <a:bodyPr/>
                    <a:lstStyle/>
                    <a:p>
                      <a:pPr algn="l"/>
                      <a:r>
                        <a:rPr sz="1100" b="0" i="0">
                          <a:solidFill>
                            <a:srgbClr val="0070C0"/>
                          </a:solidFill>
                          <a:latin typeface="Calibri"/>
                        </a:rPr>
                        <a:t>15.1.</a:t>
                      </a:r>
                      <a:r>
                        <a:rPr sz="700" b="0" i="0">
                          <a:solidFill>
                            <a:srgbClr val="0070C0"/>
                          </a:solidFill>
                          <a:latin typeface="Times New Roman"/>
                        </a:rPr>
                        <a:t>  </a:t>
                      </a:r>
                      <a:r>
                        <a:rPr sz="1100" b="0" i="0">
                          <a:solidFill>
                            <a:srgbClr val="0070C0"/>
                          </a:solidFill>
                          <a:latin typeface="Calibri"/>
                        </a:rPr>
                        <a:t>Major Deals and Strategic Alliance</a:t>
                      </a:r>
                      <a:endParaRPr sz="1100"/>
                    </a:p>
                  </a:txBody>
                  <a:tcPr marL="428625" marR="9525" marT="9525" marB="0" anchor="ctr"/>
                </a:tc>
                <a:extLst>
                  <a:ext uri="{0D108BD9-81ED-4DB2-BD59-A6C34878D82A}">
                    <a16:rowId xmlns:a16="http://schemas.microsoft.com/office/drawing/2014/main" val="10020"/>
                  </a:ext>
                </a:extLst>
              </a:tr>
              <a:tr h="175260">
                <a:tc>
                  <a:txBody>
                    <a:bodyPr/>
                    <a:lstStyle/>
                    <a:p>
                      <a:pPr algn="l"/>
                      <a:r>
                        <a:rPr sz="1100" b="0" i="0">
                          <a:solidFill>
                            <a:srgbClr val="000000"/>
                          </a:solidFill>
                          <a:latin typeface="Calibri"/>
                        </a:rPr>
                        <a:t>15.1.1.</a:t>
                      </a:r>
                      <a:r>
                        <a:rPr sz="700" b="0" i="0">
                          <a:solidFill>
                            <a:srgbClr val="000000"/>
                          </a:solidFill>
                          <a:latin typeface="Times New Roman"/>
                        </a:rPr>
                        <a:t> </a:t>
                      </a:r>
                      <a:r>
                        <a:rPr sz="1100" b="0" i="0">
                          <a:solidFill>
                            <a:srgbClr val="000000"/>
                          </a:solidFill>
                          <a:latin typeface="Calibri"/>
                        </a:rPr>
                        <a:t>Joint Ventures, M&amp;A, Licensing &amp; Partnerships</a:t>
                      </a:r>
                      <a:endParaRPr sz="1100"/>
                    </a:p>
                  </a:txBody>
                  <a:tcPr marL="771525" marR="9525" marT="9525" marB="0" anchor="ctr"/>
                </a:tc>
                <a:extLst>
                  <a:ext uri="{0D108BD9-81ED-4DB2-BD59-A6C34878D82A}">
                    <a16:rowId xmlns:a16="http://schemas.microsoft.com/office/drawing/2014/main" val="10021"/>
                  </a:ext>
                </a:extLst>
              </a:tr>
              <a:tr h="175260">
                <a:tc>
                  <a:txBody>
                    <a:bodyPr/>
                    <a:lstStyle/>
                    <a:p>
                      <a:pPr algn="l"/>
                      <a:r>
                        <a:rPr sz="1100" b="0" i="0">
                          <a:solidFill>
                            <a:srgbClr val="000000"/>
                          </a:solidFill>
                          <a:latin typeface="Calibri"/>
                        </a:rPr>
                        <a:t>15.1.2.</a:t>
                      </a:r>
                      <a:r>
                        <a:rPr sz="700" b="0" i="0">
                          <a:solidFill>
                            <a:srgbClr val="000000"/>
                          </a:solidFill>
                          <a:latin typeface="Times New Roman"/>
                        </a:rPr>
                        <a:t> </a:t>
                      </a:r>
                      <a:r>
                        <a:rPr sz="1100" b="0" i="0">
                          <a:solidFill>
                            <a:srgbClr val="000000"/>
                          </a:solidFill>
                          <a:latin typeface="Calibri"/>
                        </a:rPr>
                        <a:t>Technology Collaboration</a:t>
                      </a:r>
                      <a:endParaRPr sz="1100"/>
                    </a:p>
                  </a:txBody>
                  <a:tcPr marL="771525" marR="9525" marT="9525" marB="0" anchor="ctr"/>
                </a:tc>
                <a:extLst>
                  <a:ext uri="{0D108BD9-81ED-4DB2-BD59-A6C34878D82A}">
                    <a16:rowId xmlns:a16="http://schemas.microsoft.com/office/drawing/2014/main" val="10022"/>
                  </a:ext>
                </a:extLst>
              </a:tr>
              <a:tr h="175260">
                <a:tc>
                  <a:txBody>
                    <a:bodyPr/>
                    <a:lstStyle/>
                    <a:p>
                      <a:pPr algn="l"/>
                      <a:r>
                        <a:rPr sz="1100" b="0" i="0">
                          <a:solidFill>
                            <a:srgbClr val="000000"/>
                          </a:solidFill>
                          <a:latin typeface="Calibri"/>
                        </a:rPr>
                        <a:t>15.1.3.</a:t>
                      </a:r>
                      <a:r>
                        <a:rPr sz="700" b="0" i="0">
                          <a:solidFill>
                            <a:srgbClr val="000000"/>
                          </a:solidFill>
                          <a:latin typeface="Times New Roman"/>
                        </a:rPr>
                        <a:t> </a:t>
                      </a:r>
                      <a:r>
                        <a:rPr sz="1100" b="0" i="0">
                          <a:solidFill>
                            <a:srgbClr val="000000"/>
                          </a:solidFill>
                          <a:latin typeface="Calibri"/>
                        </a:rPr>
                        <a:t>Strategic Divestments/ Investments</a:t>
                      </a:r>
                      <a:endParaRPr sz="1100"/>
                    </a:p>
                  </a:txBody>
                  <a:tcPr marL="771525" marR="9525" marT="9525" marB="0" anchor="ctr"/>
                </a:tc>
                <a:extLst>
                  <a:ext uri="{0D108BD9-81ED-4DB2-BD59-A6C34878D82A}">
                    <a16:rowId xmlns:a16="http://schemas.microsoft.com/office/drawing/2014/main" val="10023"/>
                  </a:ext>
                </a:extLst>
              </a:tr>
              <a:tr h="175260">
                <a:tc>
                  <a:txBody>
                    <a:bodyPr/>
                    <a:lstStyle/>
                    <a:p>
                      <a:pPr algn="l"/>
                      <a:r>
                        <a:rPr sz="1100" b="0" i="0">
                          <a:solidFill>
                            <a:srgbClr val="0070C0"/>
                          </a:solidFill>
                          <a:latin typeface="Calibri"/>
                        </a:rPr>
                        <a:t>15.2.</a:t>
                      </a:r>
                      <a:r>
                        <a:rPr sz="700" b="0" i="0">
                          <a:solidFill>
                            <a:srgbClr val="0070C0"/>
                          </a:solidFill>
                          <a:latin typeface="Times New Roman"/>
                        </a:rPr>
                        <a:t>  </a:t>
                      </a:r>
                      <a:r>
                        <a:rPr sz="1100" b="0" i="0">
                          <a:solidFill>
                            <a:srgbClr val="0070C0"/>
                          </a:solidFill>
                          <a:latin typeface="Calibri"/>
                        </a:rPr>
                        <a:t>Product Launches &amp; Development</a:t>
                      </a:r>
                      <a:endParaRPr sz="1100"/>
                    </a:p>
                  </a:txBody>
                  <a:tcPr marL="428625" marR="9525" marT="9525" marB="0" anchor="ctr"/>
                </a:tc>
                <a:extLst>
                  <a:ext uri="{0D108BD9-81ED-4DB2-BD59-A6C34878D82A}">
                    <a16:rowId xmlns:a16="http://schemas.microsoft.com/office/drawing/2014/main" val="10024"/>
                  </a:ext>
                </a:extLst>
              </a:tr>
              <a:tr h="175260">
                <a:tc>
                  <a:txBody>
                    <a:bodyPr/>
                    <a:lstStyle/>
                    <a:p>
                      <a:pPr algn="l"/>
                      <a:r>
                        <a:rPr sz="1100" b="1" i="0">
                          <a:solidFill>
                            <a:srgbClr val="000000"/>
                          </a:solidFill>
                          <a:latin typeface="Calibri"/>
                        </a:rPr>
                        <a:t>16.</a:t>
                      </a:r>
                      <a:r>
                        <a:rPr sz="700" b="1" i="0">
                          <a:solidFill>
                            <a:srgbClr val="000000"/>
                          </a:solidFill>
                          <a:latin typeface="Times New Roman"/>
                        </a:rPr>
                        <a:t>    </a:t>
                      </a:r>
                      <a:r>
                        <a:rPr sz="1100" b="1" i="0">
                          <a:solidFill>
                            <a:srgbClr val="000000"/>
                          </a:solidFill>
                          <a:latin typeface="Calibri"/>
                        </a:rPr>
                        <a:t>Stakeholder Perspectives – Manufacturer, Customer &amp; Distributor Insights</a:t>
                      </a:r>
                      <a:endParaRPr sz="1100"/>
                    </a:p>
                  </a:txBody>
                  <a:tcPr marL="171450" marR="9525" marT="9525" marB="0" anchor="ctr"/>
                </a:tc>
                <a:extLst>
                  <a:ext uri="{0D108BD9-81ED-4DB2-BD59-A6C34878D82A}">
                    <a16:rowId xmlns:a16="http://schemas.microsoft.com/office/drawing/2014/main" val="10025"/>
                  </a:ext>
                </a:extLst>
              </a:tr>
              <a:tr h="175260">
                <a:tc>
                  <a:txBody>
                    <a:bodyPr/>
                    <a:lstStyle/>
                    <a:p>
                      <a:pPr algn="l"/>
                      <a:r>
                        <a:rPr sz="1100" b="0" i="0">
                          <a:solidFill>
                            <a:srgbClr val="0070C0"/>
                          </a:solidFill>
                          <a:latin typeface="Calibri"/>
                        </a:rPr>
                        <a:t>16.1.</a:t>
                      </a:r>
                      <a:r>
                        <a:rPr sz="700" b="0" i="0">
                          <a:solidFill>
                            <a:srgbClr val="0070C0"/>
                          </a:solidFill>
                          <a:latin typeface="Times New Roman"/>
                        </a:rPr>
                        <a:t>  </a:t>
                      </a:r>
                      <a:r>
                        <a:rPr sz="1100" b="0" i="0">
                          <a:solidFill>
                            <a:srgbClr val="0070C0"/>
                          </a:solidFill>
                          <a:latin typeface="Calibri"/>
                        </a:rPr>
                        <a:t>Stakeholder Insights</a:t>
                      </a:r>
                      <a:endParaRPr sz="1100"/>
                    </a:p>
                  </a:txBody>
                  <a:tcPr marL="428625" marR="9525" marT="9525" marB="0" anchor="ctr"/>
                </a:tc>
                <a:extLst>
                  <a:ext uri="{0D108BD9-81ED-4DB2-BD59-A6C34878D82A}">
                    <a16:rowId xmlns:a16="http://schemas.microsoft.com/office/drawing/2014/main" val="10026"/>
                  </a:ext>
                </a:extLst>
              </a:tr>
              <a:tr h="175260">
                <a:tc>
                  <a:txBody>
                    <a:bodyPr/>
                    <a:lstStyle/>
                    <a:p>
                      <a:pPr algn="l"/>
                      <a:r>
                        <a:rPr sz="1100" b="0" i="0">
                          <a:solidFill>
                            <a:srgbClr val="000000"/>
                          </a:solidFill>
                          <a:latin typeface="Calibri"/>
                        </a:rPr>
                        <a:t>16.1.1.</a:t>
                      </a:r>
                      <a:r>
                        <a:rPr sz="700" b="0" i="0">
                          <a:solidFill>
                            <a:srgbClr val="000000"/>
                          </a:solidFill>
                          <a:latin typeface="Times New Roman"/>
                        </a:rPr>
                        <a:t> </a:t>
                      </a:r>
                      <a:r>
                        <a:rPr sz="1100" b="0" i="0">
                          <a:solidFill>
                            <a:srgbClr val="000000"/>
                          </a:solidFill>
                          <a:latin typeface="Calibri"/>
                        </a:rPr>
                        <a:t>Manufacturers</a:t>
                      </a:r>
                      <a:endParaRPr sz="1100"/>
                    </a:p>
                  </a:txBody>
                  <a:tcPr marL="771525" marR="9525" marT="9525" marB="0" anchor="ctr"/>
                </a:tc>
                <a:extLst>
                  <a:ext uri="{0D108BD9-81ED-4DB2-BD59-A6C34878D82A}">
                    <a16:rowId xmlns:a16="http://schemas.microsoft.com/office/drawing/2014/main" val="10027"/>
                  </a:ext>
                </a:extLst>
              </a:tr>
              <a:tr h="175260">
                <a:tc>
                  <a:txBody>
                    <a:bodyPr/>
                    <a:lstStyle/>
                    <a:p>
                      <a:pPr algn="l"/>
                      <a:r>
                        <a:rPr sz="1100" b="0" i="0">
                          <a:solidFill>
                            <a:srgbClr val="000000"/>
                          </a:solidFill>
                          <a:latin typeface="Calibri"/>
                        </a:rPr>
                        <a:t>16.1.2.</a:t>
                      </a:r>
                      <a:r>
                        <a:rPr sz="700" b="0" i="0">
                          <a:solidFill>
                            <a:srgbClr val="000000"/>
                          </a:solidFill>
                          <a:latin typeface="Times New Roman"/>
                        </a:rPr>
                        <a:t> </a:t>
                      </a:r>
                      <a:r>
                        <a:rPr sz="1100" b="0" i="0">
                          <a:solidFill>
                            <a:srgbClr val="000000"/>
                          </a:solidFill>
                          <a:latin typeface="Calibri"/>
                        </a:rPr>
                        <a:t>Customers</a:t>
                      </a:r>
                      <a:endParaRPr sz="1100"/>
                    </a:p>
                  </a:txBody>
                  <a:tcPr marL="771525" marR="9525" marT="9525" marB="0" anchor="ctr"/>
                </a:tc>
                <a:extLst>
                  <a:ext uri="{0D108BD9-81ED-4DB2-BD59-A6C34878D82A}">
                    <a16:rowId xmlns:a16="http://schemas.microsoft.com/office/drawing/2014/main" val="10028"/>
                  </a:ext>
                </a:extLst>
              </a:tr>
              <a:tr h="175260">
                <a:tc>
                  <a:txBody>
                    <a:bodyPr/>
                    <a:lstStyle/>
                    <a:p>
                      <a:pPr algn="l"/>
                      <a:r>
                        <a:rPr sz="1100" b="0" i="0">
                          <a:solidFill>
                            <a:srgbClr val="000000"/>
                          </a:solidFill>
                          <a:latin typeface="Calibri"/>
                        </a:rPr>
                        <a:t>16.1.3.</a:t>
                      </a:r>
                      <a:r>
                        <a:rPr sz="700" b="0" i="0">
                          <a:solidFill>
                            <a:srgbClr val="000000"/>
                          </a:solidFill>
                          <a:latin typeface="Times New Roman"/>
                        </a:rPr>
                        <a:t> </a:t>
                      </a:r>
                      <a:r>
                        <a:rPr sz="1100" b="0" i="0">
                          <a:solidFill>
                            <a:srgbClr val="000000"/>
                          </a:solidFill>
                          <a:latin typeface="Calibri"/>
                        </a:rPr>
                        <a:t>Distributors</a:t>
                      </a:r>
                      <a:endParaRPr sz="1100"/>
                    </a:p>
                  </a:txBody>
                  <a:tcPr marL="771525" marR="9525" marT="9525" marB="0" anchor="ctr"/>
                </a:tc>
                <a:extLst>
                  <a:ext uri="{0D108BD9-81ED-4DB2-BD59-A6C34878D82A}">
                    <a16:rowId xmlns:a16="http://schemas.microsoft.com/office/drawing/2014/main" val="10029"/>
                  </a:ext>
                </a:extLst>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0">
                          <a:solidFill>
                            <a:srgbClr val="0070C0"/>
                          </a:solidFill>
                          <a:latin typeface="Calibri"/>
                        </a:rPr>
                        <a:t>16.2.</a:t>
                      </a:r>
                      <a:r>
                        <a:rPr sz="700" b="0" i="0">
                          <a:solidFill>
                            <a:srgbClr val="0070C0"/>
                          </a:solidFill>
                          <a:latin typeface="Times New Roman"/>
                        </a:rPr>
                        <a:t>  </a:t>
                      </a:r>
                      <a:r>
                        <a:rPr sz="1100" b="0" i="0">
                          <a:solidFill>
                            <a:srgbClr val="0070C0"/>
                          </a:solidFill>
                          <a:latin typeface="Calibri"/>
                        </a:rPr>
                        <a:t>Country- Level Market Drivers</a:t>
                      </a:r>
                      <a:endParaRPr sz="1100"/>
                    </a:p>
                  </a:txBody>
                  <a:tcPr marL="428625" marR="9525" marT="9525" marB="0" anchor="ctr"/>
                </a:tc>
                <a:extLst>
                  <a:ext uri="{0D108BD9-81ED-4DB2-BD59-A6C34878D82A}">
                    <a16:rowId xmlns:a16="http://schemas.microsoft.com/office/drawing/2014/main" val="10000"/>
                  </a:ext>
                </a:extLst>
              </a:tr>
              <a:tr h="175260">
                <a:tc>
                  <a:txBody>
                    <a:bodyPr/>
                    <a:lstStyle/>
                    <a:p>
                      <a:pPr algn="l"/>
                      <a:r>
                        <a:rPr sz="1100" b="0" i="0">
                          <a:solidFill>
                            <a:srgbClr val="000000"/>
                          </a:solidFill>
                          <a:latin typeface="Calibri"/>
                        </a:rPr>
                        <a:t>16.2.1.</a:t>
                      </a:r>
                      <a:r>
                        <a:rPr sz="700" b="0" i="0">
                          <a:solidFill>
                            <a:srgbClr val="000000"/>
                          </a:solidFill>
                          <a:latin typeface="Times New Roman"/>
                        </a:rPr>
                        <a:t> </a:t>
                      </a:r>
                      <a:r>
                        <a:rPr sz="1100" b="0" i="0">
                          <a:solidFill>
                            <a:srgbClr val="000000"/>
                          </a:solidFill>
                          <a:latin typeface="Calibri"/>
                        </a:rPr>
                        <a:t>Supply Side Drivers</a:t>
                      </a:r>
                      <a:endParaRPr sz="1100"/>
                    </a:p>
                  </a:txBody>
                  <a:tcPr marL="771525" marR="9525" marT="9525" marB="0" anchor="ctr"/>
                </a:tc>
                <a:extLst>
                  <a:ext uri="{0D108BD9-81ED-4DB2-BD59-A6C34878D82A}">
                    <a16:rowId xmlns:a16="http://schemas.microsoft.com/office/drawing/2014/main" val="10001"/>
                  </a:ext>
                </a:extLst>
              </a:tr>
              <a:tr h="175260">
                <a:tc>
                  <a:txBody>
                    <a:bodyPr/>
                    <a:lstStyle/>
                    <a:p>
                      <a:pPr algn="l"/>
                      <a:r>
                        <a:rPr sz="1100" b="0" i="0">
                          <a:solidFill>
                            <a:srgbClr val="000000"/>
                          </a:solidFill>
                          <a:latin typeface="Calibri"/>
                        </a:rPr>
                        <a:t>16.2.2.</a:t>
                      </a:r>
                      <a:r>
                        <a:rPr sz="700" b="0" i="0">
                          <a:solidFill>
                            <a:srgbClr val="000000"/>
                          </a:solidFill>
                          <a:latin typeface="Times New Roman"/>
                        </a:rPr>
                        <a:t> </a:t>
                      </a:r>
                      <a:r>
                        <a:rPr sz="1100" b="0" i="0">
                          <a:solidFill>
                            <a:srgbClr val="000000"/>
                          </a:solidFill>
                          <a:latin typeface="Calibri"/>
                        </a:rPr>
                        <a:t>Demand Side drivers</a:t>
                      </a:r>
                      <a:endParaRPr sz="1100"/>
                    </a:p>
                  </a:txBody>
                  <a:tcPr marL="771525" marR="9525" marT="9525" marB="0" anchor="ctr"/>
                </a:tc>
                <a:extLst>
                  <a:ext uri="{0D108BD9-81ED-4DB2-BD59-A6C34878D82A}">
                    <a16:rowId xmlns:a16="http://schemas.microsoft.com/office/drawing/2014/main" val="10002"/>
                  </a:ext>
                </a:extLst>
              </a:tr>
              <a:tr h="175260">
                <a:tc>
                  <a:txBody>
                    <a:bodyPr/>
                    <a:lstStyle/>
                    <a:p>
                      <a:pPr algn="l"/>
                      <a:r>
                        <a:rPr sz="1100" b="0" i="0">
                          <a:solidFill>
                            <a:srgbClr val="000000"/>
                          </a:solidFill>
                          <a:latin typeface="Calibri"/>
                        </a:rPr>
                        <a:t>16.2.3.</a:t>
                      </a:r>
                      <a:r>
                        <a:rPr sz="700" b="0" i="0">
                          <a:solidFill>
                            <a:srgbClr val="000000"/>
                          </a:solidFill>
                          <a:latin typeface="Times New Roman"/>
                        </a:rPr>
                        <a:t> </a:t>
                      </a:r>
                      <a:r>
                        <a:rPr sz="1100" b="0" i="0">
                          <a:solidFill>
                            <a:srgbClr val="000000"/>
                          </a:solidFill>
                          <a:latin typeface="Calibri"/>
                        </a:rPr>
                        <a:t>Economic Side Drivers</a:t>
                      </a:r>
                      <a:endParaRPr sz="1100"/>
                    </a:p>
                  </a:txBody>
                  <a:tcPr marL="771525" marR="9525" marT="9525" marB="0" anchor="ctr"/>
                </a:tc>
                <a:extLst>
                  <a:ext uri="{0D108BD9-81ED-4DB2-BD59-A6C34878D82A}">
                    <a16:rowId xmlns:a16="http://schemas.microsoft.com/office/drawing/2014/main" val="10003"/>
                  </a:ext>
                </a:extLst>
              </a:tr>
              <a:tr h="175260">
                <a:tc>
                  <a:txBody>
                    <a:bodyPr/>
                    <a:lstStyle/>
                    <a:p>
                      <a:pPr algn="l"/>
                      <a:r>
                        <a:rPr sz="1100" b="0" i="0">
                          <a:solidFill>
                            <a:srgbClr val="0070C0"/>
                          </a:solidFill>
                          <a:latin typeface="Calibri"/>
                        </a:rPr>
                        <a:t>16.3.</a:t>
                      </a:r>
                      <a:r>
                        <a:rPr sz="700" b="0" i="0">
                          <a:solidFill>
                            <a:srgbClr val="0070C0"/>
                          </a:solidFill>
                          <a:latin typeface="Times New Roman"/>
                        </a:rPr>
                        <a:t>  </a:t>
                      </a:r>
                      <a:r>
                        <a:rPr sz="1100" b="0" i="0">
                          <a:solidFill>
                            <a:srgbClr val="0070C0"/>
                          </a:solidFill>
                          <a:latin typeface="Calibri"/>
                        </a:rPr>
                        <a:t>Country Level Restraints</a:t>
                      </a:r>
                      <a:endParaRPr sz="1100"/>
                    </a:p>
                  </a:txBody>
                  <a:tcPr marL="428625" marR="9525" marT="9525" marB="0" anchor="ctr"/>
                </a:tc>
                <a:extLst>
                  <a:ext uri="{0D108BD9-81ED-4DB2-BD59-A6C34878D82A}">
                    <a16:rowId xmlns:a16="http://schemas.microsoft.com/office/drawing/2014/main" val="10004"/>
                  </a:ext>
                </a:extLst>
              </a:tr>
              <a:tr h="175260">
                <a:tc>
                  <a:txBody>
                    <a:bodyPr/>
                    <a:lstStyle/>
                    <a:p>
                      <a:pPr algn="l"/>
                      <a:r>
                        <a:rPr sz="1100" b="0" i="0">
                          <a:solidFill>
                            <a:srgbClr val="0070C0"/>
                          </a:solidFill>
                          <a:latin typeface="Calibri"/>
                        </a:rPr>
                        <a:t>16.4.</a:t>
                      </a:r>
                      <a:r>
                        <a:rPr sz="700" b="0" i="0">
                          <a:solidFill>
                            <a:srgbClr val="0070C0"/>
                          </a:solidFill>
                          <a:latin typeface="Times New Roman"/>
                        </a:rPr>
                        <a:t>  </a:t>
                      </a:r>
                      <a:r>
                        <a:rPr sz="1100" b="0" i="0">
                          <a:solidFill>
                            <a:srgbClr val="0070C0"/>
                          </a:solidFill>
                          <a:latin typeface="Calibri"/>
                        </a:rPr>
                        <a:t>Country Level Opportunity</a:t>
                      </a:r>
                      <a:endParaRPr sz="1100"/>
                    </a:p>
                  </a:txBody>
                  <a:tcPr marL="428625" marR="9525" marT="9525" marB="0" anchor="ctr"/>
                </a:tc>
                <a:extLst>
                  <a:ext uri="{0D108BD9-81ED-4DB2-BD59-A6C34878D82A}">
                    <a16:rowId xmlns:a16="http://schemas.microsoft.com/office/drawing/2014/main" val="10005"/>
                  </a:ext>
                </a:extLst>
              </a:tr>
              <a:tr h="175260">
                <a:tc>
                  <a:txBody>
                    <a:bodyPr/>
                    <a:lstStyle/>
                    <a:p>
                      <a:pPr algn="l"/>
                      <a:r>
                        <a:rPr sz="1100" b="0" i="0">
                          <a:solidFill>
                            <a:srgbClr val="0070C0"/>
                          </a:solidFill>
                          <a:latin typeface="Calibri"/>
                        </a:rPr>
                        <a:t>16.5.</a:t>
                      </a:r>
                      <a:r>
                        <a:rPr sz="700" b="0" i="0">
                          <a:solidFill>
                            <a:srgbClr val="0070C0"/>
                          </a:solidFill>
                          <a:latin typeface="Times New Roman"/>
                        </a:rPr>
                        <a:t>  </a:t>
                      </a:r>
                      <a:r>
                        <a:rPr sz="1100" b="0" i="0">
                          <a:solidFill>
                            <a:srgbClr val="0070C0"/>
                          </a:solidFill>
                          <a:latin typeface="Calibri"/>
                        </a:rPr>
                        <a:t>Country Level Market Trends</a:t>
                      </a:r>
                      <a:endParaRPr sz="1100"/>
                    </a:p>
                  </a:txBody>
                  <a:tcPr marL="428625" marR="9525" marT="9525" marB="0" anchor="ctr"/>
                </a:tc>
                <a:extLst>
                  <a:ext uri="{0D108BD9-81ED-4DB2-BD59-A6C34878D82A}">
                    <a16:rowId xmlns:a16="http://schemas.microsoft.com/office/drawing/2014/main" val="10006"/>
                  </a:ext>
                </a:extLst>
              </a:tr>
              <a:tr h="175260">
                <a:tc>
                  <a:txBody>
                    <a:bodyPr/>
                    <a:lstStyle/>
                    <a:p>
                      <a:pPr algn="l"/>
                      <a:r>
                        <a:rPr sz="1100" b="0" i="0">
                          <a:solidFill>
                            <a:srgbClr val="0070C0"/>
                          </a:solidFill>
                          <a:latin typeface="Calibri"/>
                        </a:rPr>
                        <a:t>16.6.</a:t>
                      </a:r>
                      <a:r>
                        <a:rPr sz="700" b="0" i="0">
                          <a:solidFill>
                            <a:srgbClr val="0070C0"/>
                          </a:solidFill>
                          <a:latin typeface="Times New Roman"/>
                        </a:rPr>
                        <a:t>  </a:t>
                      </a:r>
                      <a:r>
                        <a:rPr sz="1100" b="0" i="0">
                          <a:solidFill>
                            <a:srgbClr val="0070C0"/>
                          </a:solidFill>
                          <a:latin typeface="Calibri"/>
                        </a:rPr>
                        <a:t>Forecast Factors – Top 20 Drivers by Relevance &amp; Impact</a:t>
                      </a:r>
                      <a:endParaRPr sz="1100"/>
                    </a:p>
                  </a:txBody>
                  <a:tcPr marL="428625" marR="9525" marT="9525" marB="0" anchor="ctr"/>
                </a:tc>
                <a:extLst>
                  <a:ext uri="{0D108BD9-81ED-4DB2-BD59-A6C34878D82A}">
                    <a16:rowId xmlns:a16="http://schemas.microsoft.com/office/drawing/2014/main" val="10007"/>
                  </a:ext>
                </a:extLst>
              </a:tr>
              <a:tr h="175260">
                <a:tc>
                  <a:txBody>
                    <a:bodyPr/>
                    <a:lstStyle/>
                    <a:p>
                      <a:pPr algn="l"/>
                      <a:r>
                        <a:rPr sz="1100" b="0" i="0">
                          <a:solidFill>
                            <a:srgbClr val="0070C0"/>
                          </a:solidFill>
                          <a:latin typeface="Calibri"/>
                        </a:rPr>
                        <a:t>16.7.</a:t>
                      </a:r>
                      <a:r>
                        <a:rPr sz="700" b="0" i="0">
                          <a:solidFill>
                            <a:srgbClr val="0070C0"/>
                          </a:solidFill>
                          <a:latin typeface="Times New Roman"/>
                        </a:rPr>
                        <a:t>  </a:t>
                      </a:r>
                      <a:r>
                        <a:rPr sz="1100" b="0" i="0">
                          <a:solidFill>
                            <a:srgbClr val="0070C0"/>
                          </a:solidFill>
                          <a:latin typeface="Calibri"/>
                        </a:rPr>
                        <a:t>Regional Macro-&amp; Micro Economic Indicators</a:t>
                      </a:r>
                      <a:endParaRPr sz="1100"/>
                    </a:p>
                  </a:txBody>
                  <a:tcPr marL="428625" marR="9525" marT="9525" marB="0" anchor="ctr"/>
                </a:tc>
                <a:extLst>
                  <a:ext uri="{0D108BD9-81ED-4DB2-BD59-A6C34878D82A}">
                    <a16:rowId xmlns:a16="http://schemas.microsoft.com/office/drawing/2014/main" val="10008"/>
                  </a:ext>
                </a:extLst>
              </a:tr>
              <a:tr h="175260">
                <a:tc>
                  <a:txBody>
                    <a:bodyPr/>
                    <a:lstStyle/>
                    <a:p>
                      <a:pPr algn="l"/>
                      <a:r>
                        <a:rPr sz="1100" b="0" i="0">
                          <a:solidFill>
                            <a:srgbClr val="0070C0"/>
                          </a:solidFill>
                          <a:latin typeface="Calibri"/>
                        </a:rPr>
                        <a:t>16.8.</a:t>
                      </a:r>
                      <a:r>
                        <a:rPr sz="700" b="0" i="0">
                          <a:solidFill>
                            <a:srgbClr val="0070C0"/>
                          </a:solidFill>
                          <a:latin typeface="Times New Roman"/>
                        </a:rPr>
                        <a:t>  </a:t>
                      </a:r>
                      <a:r>
                        <a:rPr sz="1100" b="0" i="0">
                          <a:solidFill>
                            <a:srgbClr val="0070C0"/>
                          </a:solidFill>
                          <a:latin typeface="Calibri"/>
                        </a:rPr>
                        <a:t>PESTEL Analysis</a:t>
                      </a:r>
                      <a:endParaRPr sz="1100"/>
                    </a:p>
                  </a:txBody>
                  <a:tcPr marL="428625" marR="9525" marT="9525" marB="0" anchor="ctr"/>
                </a:tc>
                <a:extLst>
                  <a:ext uri="{0D108BD9-81ED-4DB2-BD59-A6C34878D82A}">
                    <a16:rowId xmlns:a16="http://schemas.microsoft.com/office/drawing/2014/main" val="10009"/>
                  </a:ext>
                </a:extLst>
              </a:tr>
              <a:tr h="175260">
                <a:tc>
                  <a:txBody>
                    <a:bodyPr/>
                    <a:lstStyle/>
                    <a:p>
                      <a:pPr algn="l"/>
                      <a:r>
                        <a:rPr sz="1100" b="0" i="0">
                          <a:solidFill>
                            <a:srgbClr val="0070C0"/>
                          </a:solidFill>
                          <a:latin typeface="Calibri"/>
                        </a:rPr>
                        <a:t>16.9.</a:t>
                      </a:r>
                      <a:r>
                        <a:rPr sz="700" b="0" i="0">
                          <a:solidFill>
                            <a:srgbClr val="0070C0"/>
                          </a:solidFill>
                          <a:latin typeface="Times New Roman"/>
                        </a:rPr>
                        <a:t>  </a:t>
                      </a:r>
                      <a:r>
                        <a:rPr sz="1100" b="0" i="0">
                          <a:solidFill>
                            <a:srgbClr val="0070C0"/>
                          </a:solidFill>
                          <a:latin typeface="Calibri"/>
                        </a:rPr>
                        <a:t>Porter’s Analysis</a:t>
                      </a:r>
                      <a:endParaRPr sz="1100"/>
                    </a:p>
                  </a:txBody>
                  <a:tcPr marL="428625" marR="9525" marT="9525" marB="0" anchor="ctr"/>
                </a:tc>
                <a:extLst>
                  <a:ext uri="{0D108BD9-81ED-4DB2-BD59-A6C34878D82A}">
                    <a16:rowId xmlns:a16="http://schemas.microsoft.com/office/drawing/2014/main" val="10010"/>
                  </a:ext>
                </a:extLst>
              </a:tr>
              <a:tr h="175260">
                <a:tc>
                  <a:txBody>
                    <a:bodyPr/>
                    <a:lstStyle/>
                    <a:p>
                      <a:pPr algn="l"/>
                      <a:r>
                        <a:rPr sz="1100" b="1" i="0">
                          <a:solidFill>
                            <a:srgbClr val="000000"/>
                          </a:solidFill>
                          <a:latin typeface="Calibri"/>
                        </a:rPr>
                        <a:t>17.</a:t>
                      </a:r>
                      <a:r>
                        <a:rPr sz="700" b="1" i="0">
                          <a:solidFill>
                            <a:srgbClr val="000000"/>
                          </a:solidFill>
                          <a:latin typeface="Times New Roman"/>
                        </a:rPr>
                        <a:t>    </a:t>
                      </a:r>
                      <a:r>
                        <a:rPr sz="1100" b="1" i="0">
                          <a:solidFill>
                            <a:srgbClr val="000000"/>
                          </a:solidFill>
                          <a:latin typeface="Calibri"/>
                        </a:rPr>
                        <a:t>Regulations</a:t>
                      </a:r>
                      <a:endParaRPr sz="1100"/>
                    </a:p>
                  </a:txBody>
                  <a:tcPr marL="171450" marR="9525" marT="9525" marB="0" anchor="ctr"/>
                </a:tc>
                <a:extLst>
                  <a:ext uri="{0D108BD9-81ED-4DB2-BD59-A6C34878D82A}">
                    <a16:rowId xmlns:a16="http://schemas.microsoft.com/office/drawing/2014/main" val="10011"/>
                  </a:ext>
                </a:extLst>
              </a:tr>
              <a:tr h="175260">
                <a:tc>
                  <a:txBody>
                    <a:bodyPr/>
                    <a:lstStyle/>
                    <a:p>
                      <a:pPr algn="l"/>
                      <a:r>
                        <a:rPr sz="1100" b="0" i="0">
                          <a:solidFill>
                            <a:srgbClr val="0070C0"/>
                          </a:solidFill>
                          <a:latin typeface="Calibri"/>
                        </a:rPr>
                        <a:t>17.1.</a:t>
                      </a:r>
                      <a:r>
                        <a:rPr sz="700" b="0" i="0">
                          <a:solidFill>
                            <a:srgbClr val="0070C0"/>
                          </a:solidFill>
                          <a:latin typeface="Times New Roman"/>
                        </a:rPr>
                        <a:t>  </a:t>
                      </a:r>
                      <a:r>
                        <a:rPr sz="1100" b="0" i="0">
                          <a:solidFill>
                            <a:srgbClr val="0070C0"/>
                          </a:solidFill>
                          <a:latin typeface="Calibri"/>
                        </a:rPr>
                        <a:t>Certifications and Certifying Agency Overview</a:t>
                      </a:r>
                      <a:endParaRPr sz="1100"/>
                    </a:p>
                  </a:txBody>
                  <a:tcPr marL="428625" marR="9525" marT="9525" marB="0" anchor="ctr"/>
                </a:tc>
                <a:extLst>
                  <a:ext uri="{0D108BD9-81ED-4DB2-BD59-A6C34878D82A}">
                    <a16:rowId xmlns:a16="http://schemas.microsoft.com/office/drawing/2014/main" val="10012"/>
                  </a:ext>
                </a:extLst>
              </a:tr>
              <a:tr h="175260">
                <a:tc>
                  <a:txBody>
                    <a:bodyPr/>
                    <a:lstStyle/>
                    <a:p>
                      <a:pPr algn="l"/>
                      <a:r>
                        <a:rPr sz="1100" b="0" i="0">
                          <a:solidFill>
                            <a:srgbClr val="0070C0"/>
                          </a:solidFill>
                          <a:latin typeface="Calibri"/>
                        </a:rPr>
                        <a:t>17.2.</a:t>
                      </a:r>
                      <a:r>
                        <a:rPr sz="700" b="0" i="0">
                          <a:solidFill>
                            <a:srgbClr val="0070C0"/>
                          </a:solidFill>
                          <a:latin typeface="Times New Roman"/>
                        </a:rPr>
                        <a:t>  </a:t>
                      </a:r>
                      <a:r>
                        <a:rPr sz="1100" b="0" i="0">
                          <a:solidFill>
                            <a:srgbClr val="0070C0"/>
                          </a:solidFill>
                          <a:latin typeface="Calibri"/>
                        </a:rPr>
                        <a:t>Import/Export Policies</a:t>
                      </a:r>
                      <a:endParaRPr sz="1100"/>
                    </a:p>
                  </a:txBody>
                  <a:tcPr marL="428625" marR="9525" marT="9525" marB="0" anchor="ctr"/>
                </a:tc>
                <a:extLst>
                  <a:ext uri="{0D108BD9-81ED-4DB2-BD59-A6C34878D82A}">
                    <a16:rowId xmlns:a16="http://schemas.microsoft.com/office/drawing/2014/main" val="10013"/>
                  </a:ext>
                </a:extLst>
              </a:tr>
              <a:tr h="175260">
                <a:tc>
                  <a:txBody>
                    <a:bodyPr/>
                    <a:lstStyle/>
                    <a:p>
                      <a:pPr algn="l"/>
                      <a:r>
                        <a:rPr sz="1100" b="0" i="0">
                          <a:solidFill>
                            <a:srgbClr val="0070C0"/>
                          </a:solidFill>
                          <a:latin typeface="Calibri"/>
                        </a:rPr>
                        <a:t>17.3.</a:t>
                      </a:r>
                      <a:r>
                        <a:rPr sz="700" b="0" i="0">
                          <a:solidFill>
                            <a:srgbClr val="0070C0"/>
                          </a:solidFill>
                          <a:latin typeface="Times New Roman"/>
                        </a:rPr>
                        <a:t>  </a:t>
                      </a:r>
                      <a:r>
                        <a:rPr sz="1100" b="0" i="0">
                          <a:solidFill>
                            <a:srgbClr val="0070C0"/>
                          </a:solidFill>
                          <a:latin typeface="Calibri"/>
                        </a:rPr>
                        <a:t>Formula Requirements</a:t>
                      </a:r>
                      <a:endParaRPr sz="1100"/>
                    </a:p>
                  </a:txBody>
                  <a:tcPr marL="428625" marR="9525" marT="9525" marB="0" anchor="ctr"/>
                </a:tc>
                <a:extLst>
                  <a:ext uri="{0D108BD9-81ED-4DB2-BD59-A6C34878D82A}">
                    <a16:rowId xmlns:a16="http://schemas.microsoft.com/office/drawing/2014/main" val="10014"/>
                  </a:ext>
                </a:extLst>
              </a:tr>
              <a:tr h="175260">
                <a:tc>
                  <a:txBody>
                    <a:bodyPr/>
                    <a:lstStyle/>
                    <a:p>
                      <a:pPr algn="l"/>
                      <a:r>
                        <a:rPr sz="1100" b="0" i="0">
                          <a:solidFill>
                            <a:srgbClr val="0070C0"/>
                          </a:solidFill>
                          <a:latin typeface="Calibri"/>
                        </a:rPr>
                        <a:t>17.4.</a:t>
                      </a:r>
                      <a:r>
                        <a:rPr sz="700" b="0" i="0">
                          <a:solidFill>
                            <a:srgbClr val="0070C0"/>
                          </a:solidFill>
                          <a:latin typeface="Times New Roman"/>
                        </a:rPr>
                        <a:t>  </a:t>
                      </a:r>
                      <a:r>
                        <a:rPr sz="1100" b="0" i="0">
                          <a:solidFill>
                            <a:srgbClr val="0070C0"/>
                          </a:solidFill>
                          <a:latin typeface="Calibri"/>
                        </a:rPr>
                        <a:t>Standards as per institutions</a:t>
                      </a:r>
                      <a:endParaRPr sz="1100"/>
                    </a:p>
                  </a:txBody>
                  <a:tcPr marL="428625" marR="9525" marT="9525" marB="0" anchor="ctr"/>
                </a:tc>
                <a:extLst>
                  <a:ext uri="{0D108BD9-81ED-4DB2-BD59-A6C34878D82A}">
                    <a16:rowId xmlns:a16="http://schemas.microsoft.com/office/drawing/2014/main" val="10015"/>
                  </a:ext>
                </a:extLst>
              </a:tr>
              <a:tr h="175260">
                <a:tc>
                  <a:txBody>
                    <a:bodyPr/>
                    <a:lstStyle/>
                    <a:p>
                      <a:pPr algn="l"/>
                      <a:r>
                        <a:rPr sz="1100" b="0" i="0">
                          <a:solidFill>
                            <a:srgbClr val="000000"/>
                          </a:solidFill>
                          <a:latin typeface="Calibri"/>
                        </a:rPr>
                        <a:t>17.4.1.</a:t>
                      </a:r>
                      <a:r>
                        <a:rPr sz="700" b="0" i="0">
                          <a:solidFill>
                            <a:srgbClr val="000000"/>
                          </a:solidFill>
                          <a:latin typeface="Times New Roman"/>
                        </a:rPr>
                        <a:t> </a:t>
                      </a:r>
                      <a:r>
                        <a:rPr sz="1100" b="0" i="0">
                          <a:solidFill>
                            <a:srgbClr val="000000"/>
                          </a:solidFill>
                          <a:latin typeface="Calibri"/>
                        </a:rPr>
                        <a:t>FDA</a:t>
                      </a:r>
                      <a:endParaRPr sz="1100"/>
                    </a:p>
                  </a:txBody>
                  <a:tcPr marL="771525" marR="9525" marT="9525" marB="0" anchor="ctr"/>
                </a:tc>
                <a:extLst>
                  <a:ext uri="{0D108BD9-81ED-4DB2-BD59-A6C34878D82A}">
                    <a16:rowId xmlns:a16="http://schemas.microsoft.com/office/drawing/2014/main" val="10016"/>
                  </a:ext>
                </a:extLst>
              </a:tr>
              <a:tr h="175260">
                <a:tc>
                  <a:txBody>
                    <a:bodyPr/>
                    <a:lstStyle/>
                    <a:p>
                      <a:pPr algn="l"/>
                      <a:r>
                        <a:rPr sz="1100" b="0" i="0">
                          <a:solidFill>
                            <a:srgbClr val="000000"/>
                          </a:solidFill>
                          <a:latin typeface="Calibri"/>
                        </a:rPr>
                        <a:t>17.4.2.</a:t>
                      </a:r>
                      <a:r>
                        <a:rPr sz="700" b="0" i="0">
                          <a:solidFill>
                            <a:srgbClr val="000000"/>
                          </a:solidFill>
                          <a:latin typeface="Times New Roman"/>
                        </a:rPr>
                        <a:t> </a:t>
                      </a:r>
                      <a:r>
                        <a:rPr sz="1100" b="0" i="0">
                          <a:solidFill>
                            <a:srgbClr val="000000"/>
                          </a:solidFill>
                          <a:latin typeface="Calibri"/>
                        </a:rPr>
                        <a:t>USDA</a:t>
                      </a:r>
                      <a:endParaRPr sz="1100"/>
                    </a:p>
                  </a:txBody>
                  <a:tcPr marL="771525" marR="9525" marT="9525" marB="0" anchor="ctr"/>
                </a:tc>
                <a:extLst>
                  <a:ext uri="{0D108BD9-81ED-4DB2-BD59-A6C34878D82A}">
                    <a16:rowId xmlns:a16="http://schemas.microsoft.com/office/drawing/2014/main" val="10017"/>
                  </a:ext>
                </a:extLst>
              </a:tr>
              <a:tr h="175260">
                <a:tc>
                  <a:txBody>
                    <a:bodyPr/>
                    <a:lstStyle/>
                    <a:p>
                      <a:pPr algn="l"/>
                      <a:r>
                        <a:rPr sz="1100" b="0" i="0">
                          <a:solidFill>
                            <a:srgbClr val="000000"/>
                          </a:solidFill>
                          <a:latin typeface="Calibri"/>
                        </a:rPr>
                        <a:t>17.4.3.</a:t>
                      </a:r>
                      <a:r>
                        <a:rPr sz="700" b="0" i="0">
                          <a:solidFill>
                            <a:srgbClr val="000000"/>
                          </a:solidFill>
                          <a:latin typeface="Times New Roman"/>
                        </a:rPr>
                        <a:t> </a:t>
                      </a:r>
                      <a:r>
                        <a:rPr sz="1100" b="0" i="0">
                          <a:solidFill>
                            <a:srgbClr val="000000"/>
                          </a:solidFill>
                          <a:latin typeface="Calibri"/>
                        </a:rPr>
                        <a:t>FASSAI</a:t>
                      </a:r>
                      <a:endParaRPr sz="1100"/>
                    </a:p>
                  </a:txBody>
                  <a:tcPr marL="771525" marR="9525" marT="9525" marB="0" anchor="ctr"/>
                </a:tc>
                <a:extLst>
                  <a:ext uri="{0D108BD9-81ED-4DB2-BD59-A6C34878D82A}">
                    <a16:rowId xmlns:a16="http://schemas.microsoft.com/office/drawing/2014/main" val="10018"/>
                  </a:ext>
                </a:extLst>
              </a:tr>
              <a:tr h="175260">
                <a:tc>
                  <a:txBody>
                    <a:bodyPr/>
                    <a:lstStyle/>
                    <a:p>
                      <a:pPr algn="l"/>
                      <a:r>
                        <a:rPr sz="1100" b="0" i="0">
                          <a:solidFill>
                            <a:srgbClr val="000000"/>
                          </a:solidFill>
                          <a:latin typeface="Calibri"/>
                        </a:rPr>
                        <a:t>17.4.4.</a:t>
                      </a:r>
                      <a:r>
                        <a:rPr sz="700" b="0" i="0">
                          <a:solidFill>
                            <a:srgbClr val="000000"/>
                          </a:solidFill>
                          <a:latin typeface="Times New Roman"/>
                        </a:rPr>
                        <a:t> </a:t>
                      </a:r>
                      <a:r>
                        <a:rPr sz="1100" b="0" i="0">
                          <a:solidFill>
                            <a:srgbClr val="000000"/>
                          </a:solidFill>
                          <a:latin typeface="Calibri"/>
                        </a:rPr>
                        <a:t>EU Commissions</a:t>
                      </a:r>
                      <a:endParaRPr sz="1100"/>
                    </a:p>
                  </a:txBody>
                  <a:tcPr marL="771525" marR="9525" marT="9525" marB="0" anchor="ctr"/>
                </a:tc>
                <a:extLst>
                  <a:ext uri="{0D108BD9-81ED-4DB2-BD59-A6C34878D82A}">
                    <a16:rowId xmlns:a16="http://schemas.microsoft.com/office/drawing/2014/main" val="10019"/>
                  </a:ext>
                </a:extLst>
              </a:tr>
              <a:tr h="175260">
                <a:tc>
                  <a:txBody>
                    <a:bodyPr/>
                    <a:lstStyle/>
                    <a:p>
                      <a:pPr algn="l"/>
                      <a:r>
                        <a:rPr sz="1100" b="1" i="0">
                          <a:solidFill>
                            <a:srgbClr val="000000"/>
                          </a:solidFill>
                          <a:latin typeface="Calibri"/>
                        </a:rPr>
                        <a:t>Section 5: Production and Trade Outlook</a:t>
                      </a:r>
                      <a:endParaRPr sz="1100"/>
                    </a:p>
                  </a:txBody>
                  <a:tcPr marL="9525" marR="9525" marT="9525" marB="0" anchor="ctr"/>
                </a:tc>
                <a:extLst>
                  <a:ext uri="{0D108BD9-81ED-4DB2-BD59-A6C34878D82A}">
                    <a16:rowId xmlns:a16="http://schemas.microsoft.com/office/drawing/2014/main" val="10020"/>
                  </a:ext>
                </a:extLst>
              </a:tr>
              <a:tr h="175260">
                <a:tc>
                  <a:txBody>
                    <a:bodyPr/>
                    <a:lstStyle/>
                    <a:p>
                      <a:pPr algn="l"/>
                      <a:r>
                        <a:rPr sz="1100" b="1" i="0">
                          <a:solidFill>
                            <a:srgbClr val="000000"/>
                          </a:solidFill>
                          <a:latin typeface="Calibri"/>
                        </a:rPr>
                        <a:t>18.</a:t>
                      </a:r>
                      <a:r>
                        <a:rPr sz="700" b="1" i="0">
                          <a:solidFill>
                            <a:srgbClr val="000000"/>
                          </a:solidFill>
                          <a:latin typeface="Times New Roman"/>
                        </a:rPr>
                        <a:t>    </a:t>
                      </a:r>
                      <a:r>
                        <a:rPr sz="1100" b="1" i="0">
                          <a:solidFill>
                            <a:srgbClr val="000000"/>
                          </a:solidFill>
                          <a:latin typeface="Calibri"/>
                        </a:rPr>
                        <a:t>Global Market- Production and Trade Analysis</a:t>
                      </a:r>
                      <a:endParaRPr sz="1100"/>
                    </a:p>
                  </a:txBody>
                  <a:tcPr marL="171450" marR="9525" marT="9525" marB="0" anchor="ctr"/>
                </a:tc>
                <a:extLst>
                  <a:ext uri="{0D108BD9-81ED-4DB2-BD59-A6C34878D82A}">
                    <a16:rowId xmlns:a16="http://schemas.microsoft.com/office/drawing/2014/main" val="10021"/>
                  </a:ext>
                </a:extLst>
              </a:tr>
              <a:tr h="175260">
                <a:tc>
                  <a:txBody>
                    <a:bodyPr/>
                    <a:lstStyle/>
                    <a:p>
                      <a:pPr algn="l"/>
                      <a:r>
                        <a:rPr sz="1100" b="0" i="0">
                          <a:solidFill>
                            <a:srgbClr val="0070C0"/>
                          </a:solidFill>
                          <a:latin typeface="Calibri"/>
                        </a:rPr>
                        <a:t>18.1.</a:t>
                      </a:r>
                      <a:r>
                        <a:rPr sz="700" b="0" i="0">
                          <a:solidFill>
                            <a:srgbClr val="0070C0"/>
                          </a:solidFill>
                          <a:latin typeface="Times New Roman"/>
                        </a:rPr>
                        <a:t>  </a:t>
                      </a:r>
                      <a:r>
                        <a:rPr sz="1100" b="0" i="0">
                          <a:solidFill>
                            <a:srgbClr val="0070C0"/>
                          </a:solidFill>
                          <a:latin typeface="Calibri"/>
                        </a:rPr>
                        <a:t>Production Volume (UNITS), (2021-2026) by Region/ Country</a:t>
                      </a:r>
                      <a:endParaRPr sz="1100"/>
                    </a:p>
                  </a:txBody>
                  <a:tcPr marL="428625" marR="9525" marT="9525" marB="0" anchor="ctr"/>
                </a:tc>
                <a:extLst>
                  <a:ext uri="{0D108BD9-81ED-4DB2-BD59-A6C34878D82A}">
                    <a16:rowId xmlns:a16="http://schemas.microsoft.com/office/drawing/2014/main" val="10022"/>
                  </a:ext>
                </a:extLst>
              </a:tr>
              <a:tr h="175260">
                <a:tc>
                  <a:txBody>
                    <a:bodyPr/>
                    <a:lstStyle/>
                    <a:p>
                      <a:pPr algn="l"/>
                      <a:r>
                        <a:rPr sz="1100" b="0" i="0">
                          <a:solidFill>
                            <a:srgbClr val="0070C0"/>
                          </a:solidFill>
                          <a:latin typeface="Calibri"/>
                        </a:rPr>
                        <a:t>18.2.</a:t>
                      </a:r>
                      <a:r>
                        <a:rPr sz="700" b="0" i="0">
                          <a:solidFill>
                            <a:srgbClr val="0070C0"/>
                          </a:solidFill>
                          <a:latin typeface="Times New Roman"/>
                        </a:rPr>
                        <a:t>  </a:t>
                      </a:r>
                      <a:r>
                        <a:rPr sz="1100" b="0" i="0">
                          <a:solidFill>
                            <a:srgbClr val="0070C0"/>
                          </a:solidFill>
                          <a:latin typeface="Calibri"/>
                        </a:rPr>
                        <a:t>Exports: Key Countries, Share &amp; Value (US$ Mn / UNITS)</a:t>
                      </a:r>
                      <a:endParaRPr sz="1100"/>
                    </a:p>
                  </a:txBody>
                  <a:tcPr marL="428625" marR="9525" marT="9525" marB="0" anchor="ctr"/>
                </a:tc>
                <a:extLst>
                  <a:ext uri="{0D108BD9-81ED-4DB2-BD59-A6C34878D82A}">
                    <a16:rowId xmlns:a16="http://schemas.microsoft.com/office/drawing/2014/main" val="10023"/>
                  </a:ext>
                </a:extLst>
              </a:tr>
              <a:tr h="175260">
                <a:tc>
                  <a:txBody>
                    <a:bodyPr/>
                    <a:lstStyle/>
                    <a:p>
                      <a:pPr algn="l"/>
                      <a:r>
                        <a:rPr sz="1100" b="0" i="0">
                          <a:solidFill>
                            <a:srgbClr val="0070C0"/>
                          </a:solidFill>
                          <a:latin typeface="Calibri"/>
                        </a:rPr>
                        <a:t>18.3.</a:t>
                      </a:r>
                      <a:r>
                        <a:rPr sz="700" b="0" i="0">
                          <a:solidFill>
                            <a:srgbClr val="0070C0"/>
                          </a:solidFill>
                          <a:latin typeface="Times New Roman"/>
                        </a:rPr>
                        <a:t>  </a:t>
                      </a:r>
                      <a:r>
                        <a:rPr sz="1100" b="0" i="0">
                          <a:solidFill>
                            <a:srgbClr val="0070C0"/>
                          </a:solidFill>
                          <a:latin typeface="Calibri"/>
                        </a:rPr>
                        <a:t>Imports: Key Countries, Share &amp; Value (US$ Mn / UNITS)</a:t>
                      </a:r>
                      <a:endParaRPr sz="1100"/>
                    </a:p>
                  </a:txBody>
                  <a:tcPr marL="428625" marR="9525" marT="9525" marB="0" anchor="ctr"/>
                </a:tc>
                <a:extLst>
                  <a:ext uri="{0D108BD9-81ED-4DB2-BD59-A6C34878D82A}">
                    <a16:rowId xmlns:a16="http://schemas.microsoft.com/office/drawing/2014/main" val="10024"/>
                  </a:ext>
                </a:extLst>
              </a:tr>
              <a:tr h="175260">
                <a:tc>
                  <a:txBody>
                    <a:bodyPr/>
                    <a:lstStyle/>
                    <a:p>
                      <a:pPr algn="l"/>
                      <a:r>
                        <a:rPr sz="1100" b="0" i="0">
                          <a:solidFill>
                            <a:srgbClr val="0070C0"/>
                          </a:solidFill>
                          <a:latin typeface="Calibri"/>
                        </a:rPr>
                        <a:t>18.4.</a:t>
                      </a:r>
                      <a:r>
                        <a:rPr sz="700" b="0" i="0">
                          <a:solidFill>
                            <a:srgbClr val="0070C0"/>
                          </a:solidFill>
                          <a:latin typeface="Times New Roman"/>
                        </a:rPr>
                        <a:t>  </a:t>
                      </a:r>
                      <a:r>
                        <a:rPr sz="1100" b="0" i="0">
                          <a:solidFill>
                            <a:srgbClr val="0070C0"/>
                          </a:solidFill>
                          <a:latin typeface="Calibri"/>
                        </a:rPr>
                        <a:t>Global Supply-Demand Overview (Prod., Sales, Import, Export)</a:t>
                      </a:r>
                      <a:endParaRPr sz="1100"/>
                    </a:p>
                  </a:txBody>
                  <a:tcPr marL="428625" marR="9525" marT="9525" marB="0" anchor="ctr"/>
                </a:tc>
                <a:extLst>
                  <a:ext uri="{0D108BD9-81ED-4DB2-BD59-A6C34878D82A}">
                    <a16:rowId xmlns:a16="http://schemas.microsoft.com/office/drawing/2014/main" val="10025"/>
                  </a:ext>
                </a:extLst>
              </a:tr>
              <a:tr h="175260">
                <a:tc>
                  <a:txBody>
                    <a:bodyPr/>
                    <a:lstStyle/>
                    <a:p>
                      <a:pPr algn="l"/>
                      <a:r>
                        <a:rPr sz="1100" b="1" i="0">
                          <a:solidFill>
                            <a:srgbClr val="000000"/>
                          </a:solidFill>
                          <a:latin typeface="Calibri"/>
                        </a:rPr>
                        <a:t>19.</a:t>
                      </a:r>
                      <a:r>
                        <a:rPr sz="700" b="1" i="0">
                          <a:solidFill>
                            <a:srgbClr val="000000"/>
                          </a:solidFill>
                          <a:latin typeface="Times New Roman"/>
                        </a:rPr>
                        <a:t>    </a:t>
                      </a:r>
                      <a:r>
                        <a:rPr sz="1100" b="1" i="0">
                          <a:solidFill>
                            <a:srgbClr val="000000"/>
                          </a:solidFill>
                          <a:latin typeface="Calibri"/>
                        </a:rPr>
                        <a:t>Value Chain Analysis</a:t>
                      </a:r>
                      <a:endParaRPr sz="1100"/>
                    </a:p>
                  </a:txBody>
                  <a:tcPr marL="171450" marR="9525" marT="9525" marB="0" anchor="ctr"/>
                </a:tc>
                <a:extLst>
                  <a:ext uri="{0D108BD9-81ED-4DB2-BD59-A6C34878D82A}">
                    <a16:rowId xmlns:a16="http://schemas.microsoft.com/office/drawing/2014/main" val="10026"/>
                  </a:ext>
                </a:extLst>
              </a:tr>
              <a:tr h="175260">
                <a:tc>
                  <a:txBody>
                    <a:bodyPr/>
                    <a:lstStyle/>
                    <a:p>
                      <a:pPr algn="l"/>
                      <a:r>
                        <a:rPr sz="1100" b="0" i="0">
                          <a:solidFill>
                            <a:srgbClr val="0070C0"/>
                          </a:solidFill>
                          <a:latin typeface="Calibri"/>
                        </a:rPr>
                        <a:t>19.1.</a:t>
                      </a:r>
                      <a:r>
                        <a:rPr sz="700" b="0" i="0">
                          <a:solidFill>
                            <a:srgbClr val="0070C0"/>
                          </a:solidFill>
                          <a:latin typeface="Times New Roman"/>
                        </a:rPr>
                        <a:t>  </a:t>
                      </a:r>
                      <a:r>
                        <a:rPr sz="1100" b="0" i="0">
                          <a:solidFill>
                            <a:srgbClr val="0070C0"/>
                          </a:solidFill>
                          <a:latin typeface="Calibri"/>
                        </a:rPr>
                        <a:t>Industry-Wide Operating Margin</a:t>
                      </a:r>
                      <a:endParaRPr sz="1100"/>
                    </a:p>
                  </a:txBody>
                  <a:tcPr marL="428625" marR="9525" marT="9525" marB="0" anchor="ctr"/>
                </a:tc>
                <a:extLst>
                  <a:ext uri="{0D108BD9-81ED-4DB2-BD59-A6C34878D82A}">
                    <a16:rowId xmlns:a16="http://schemas.microsoft.com/office/drawing/2014/main" val="10027"/>
                  </a:ext>
                </a:extLst>
              </a:tr>
              <a:tr h="175260">
                <a:tc>
                  <a:txBody>
                    <a:bodyPr/>
                    <a:lstStyle/>
                    <a:p>
                      <a:pPr algn="l"/>
                      <a:r>
                        <a:rPr sz="1100" b="0" i="0">
                          <a:solidFill>
                            <a:srgbClr val="000000"/>
                          </a:solidFill>
                          <a:latin typeface="Calibri"/>
                        </a:rPr>
                        <a:t>19.1.1.</a:t>
                      </a:r>
                      <a:r>
                        <a:rPr sz="700" b="0" i="0">
                          <a:solidFill>
                            <a:srgbClr val="000000"/>
                          </a:solidFill>
                          <a:latin typeface="Times New Roman"/>
                        </a:rPr>
                        <a:t> </a:t>
                      </a:r>
                      <a:r>
                        <a:rPr sz="1100" b="0" i="0">
                          <a:solidFill>
                            <a:srgbClr val="000000"/>
                          </a:solidFill>
                          <a:latin typeface="Calibri"/>
                        </a:rPr>
                        <a:t>Operating margins at each node of supply chain</a:t>
                      </a:r>
                      <a:endParaRPr sz="1100"/>
                    </a:p>
                  </a:txBody>
                  <a:tcPr marL="771525" marR="9525" marT="9525" marB="0" anchor="ctr"/>
                </a:tc>
                <a:extLst>
                  <a:ext uri="{0D108BD9-81ED-4DB2-BD59-A6C34878D82A}">
                    <a16:rowId xmlns:a16="http://schemas.microsoft.com/office/drawing/2014/main" val="10028"/>
                  </a:ext>
                </a:extLst>
              </a:tr>
              <a:tr h="175260">
                <a:tc>
                  <a:txBody>
                    <a:bodyPr/>
                    <a:lstStyle/>
                    <a:p>
                      <a:pPr algn="l"/>
                      <a:r>
                        <a:rPr sz="1100" b="0" i="0">
                          <a:solidFill>
                            <a:srgbClr val="000000"/>
                          </a:solidFill>
                          <a:latin typeface="Calibri"/>
                        </a:rPr>
                        <a:t>19.1.2.</a:t>
                      </a:r>
                      <a:r>
                        <a:rPr sz="700" b="0" i="0">
                          <a:solidFill>
                            <a:srgbClr val="000000"/>
                          </a:solidFill>
                          <a:latin typeface="Times New Roman"/>
                        </a:rPr>
                        <a:t> </a:t>
                      </a:r>
                      <a:r>
                        <a:rPr sz="1100" b="0" i="0">
                          <a:solidFill>
                            <a:srgbClr val="000000"/>
                          </a:solidFill>
                          <a:latin typeface="Calibri"/>
                        </a:rPr>
                        <a:t>Operating margins Comparison to Parent/Associated Market</a:t>
                      </a:r>
                      <a:endParaRPr sz="1100"/>
                    </a:p>
                  </a:txBody>
                  <a:tcPr marL="771525" marR="9525" marT="9525" marB="0" anchor="ctr"/>
                </a:tc>
                <a:extLst>
                  <a:ext uri="{0D108BD9-81ED-4DB2-BD59-A6C34878D82A}">
                    <a16:rowId xmlns:a16="http://schemas.microsoft.com/office/drawing/2014/main" val="10029"/>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Table of Contents (6/6)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0">
                          <a:solidFill>
                            <a:srgbClr val="0070C0"/>
                          </a:solidFill>
                          <a:latin typeface="Calibri"/>
                        </a:rPr>
                        <a:t>19.2.</a:t>
                      </a:r>
                      <a:r>
                        <a:rPr sz="700" b="0" i="0">
                          <a:solidFill>
                            <a:srgbClr val="0070C0"/>
                          </a:solidFill>
                          <a:latin typeface="Times New Roman"/>
                        </a:rPr>
                        <a:t>  </a:t>
                      </a:r>
                      <a:r>
                        <a:rPr sz="1100" b="0" i="0">
                          <a:solidFill>
                            <a:srgbClr val="0070C0"/>
                          </a:solidFill>
                          <a:latin typeface="Calibri"/>
                        </a:rPr>
                        <a:t>Margin Optimization Strategies</a:t>
                      </a:r>
                      <a:endParaRPr sz="1100"/>
                    </a:p>
                  </a:txBody>
                  <a:tcPr marL="428625" marR="9525" marT="9525" marB="0" anchor="ctr"/>
                </a:tc>
                <a:extLst>
                  <a:ext uri="{0D108BD9-81ED-4DB2-BD59-A6C34878D82A}">
                    <a16:rowId xmlns:a16="http://schemas.microsoft.com/office/drawing/2014/main" val="10000"/>
                  </a:ext>
                </a:extLst>
              </a:tr>
              <a:tr h="175260">
                <a:tc>
                  <a:txBody>
                    <a:bodyPr/>
                    <a:lstStyle/>
                    <a:p>
                      <a:pPr algn="l"/>
                      <a:r>
                        <a:rPr sz="1100" b="0" i="0">
                          <a:solidFill>
                            <a:srgbClr val="0070C0"/>
                          </a:solidFill>
                          <a:latin typeface="Calibri"/>
                        </a:rPr>
                        <a:t>19.3.</a:t>
                      </a:r>
                      <a:r>
                        <a:rPr sz="700" b="0" i="0">
                          <a:solidFill>
                            <a:srgbClr val="0070C0"/>
                          </a:solidFill>
                          <a:latin typeface="Times New Roman"/>
                        </a:rPr>
                        <a:t>  </a:t>
                      </a:r>
                      <a:r>
                        <a:rPr sz="1100" b="0" i="0">
                          <a:solidFill>
                            <a:srgbClr val="0070C0"/>
                          </a:solidFill>
                          <a:latin typeface="Calibri"/>
                        </a:rPr>
                        <a:t>List of Active Market Participants</a:t>
                      </a:r>
                      <a:endParaRPr sz="1100"/>
                    </a:p>
                  </a:txBody>
                  <a:tcPr marL="428625" marR="9525" marT="9525" marB="0" anchor="ctr"/>
                </a:tc>
                <a:extLst>
                  <a:ext uri="{0D108BD9-81ED-4DB2-BD59-A6C34878D82A}">
                    <a16:rowId xmlns:a16="http://schemas.microsoft.com/office/drawing/2014/main" val="10001"/>
                  </a:ext>
                </a:extLst>
              </a:tr>
              <a:tr h="175260">
                <a:tc>
                  <a:txBody>
                    <a:bodyPr/>
                    <a:lstStyle/>
                    <a:p>
                      <a:pPr algn="l"/>
                      <a:r>
                        <a:rPr sz="1100" b="0" i="0">
                          <a:solidFill>
                            <a:srgbClr val="000000"/>
                          </a:solidFill>
                          <a:latin typeface="Calibri"/>
                        </a:rPr>
                        <a:t>19.3.1.</a:t>
                      </a:r>
                      <a:r>
                        <a:rPr sz="700" b="0" i="0">
                          <a:solidFill>
                            <a:srgbClr val="000000"/>
                          </a:solidFill>
                          <a:latin typeface="Times New Roman"/>
                        </a:rPr>
                        <a:t> </a:t>
                      </a:r>
                      <a:r>
                        <a:rPr sz="1100" b="0" i="0">
                          <a:solidFill>
                            <a:srgbClr val="000000"/>
                          </a:solidFill>
                          <a:latin typeface="Calibri"/>
                        </a:rPr>
                        <a:t>Product Manufacturers/ Key Brands</a:t>
                      </a:r>
                      <a:endParaRPr sz="1100"/>
                    </a:p>
                  </a:txBody>
                  <a:tcPr marL="771525" marR="9525" marT="9525" marB="0" anchor="ctr"/>
                </a:tc>
                <a:extLst>
                  <a:ext uri="{0D108BD9-81ED-4DB2-BD59-A6C34878D82A}">
                    <a16:rowId xmlns:a16="http://schemas.microsoft.com/office/drawing/2014/main" val="10002"/>
                  </a:ext>
                </a:extLst>
              </a:tr>
              <a:tr h="175260">
                <a:tc>
                  <a:txBody>
                    <a:bodyPr/>
                    <a:lstStyle/>
                    <a:p>
                      <a:pPr algn="l"/>
                      <a:r>
                        <a:rPr sz="1100" b="0" i="0">
                          <a:solidFill>
                            <a:srgbClr val="000000"/>
                          </a:solidFill>
                          <a:latin typeface="Calibri"/>
                        </a:rPr>
                        <a:t>19.3.2.</a:t>
                      </a:r>
                      <a:r>
                        <a:rPr sz="700" b="0" i="0">
                          <a:solidFill>
                            <a:srgbClr val="000000"/>
                          </a:solidFill>
                          <a:latin typeface="Times New Roman"/>
                        </a:rPr>
                        <a:t> </a:t>
                      </a:r>
                      <a:r>
                        <a:rPr sz="1100" b="0" i="0">
                          <a:solidFill>
                            <a:srgbClr val="000000"/>
                          </a:solidFill>
                          <a:latin typeface="Calibri"/>
                        </a:rPr>
                        <a:t>Distributors/Suppliers</a:t>
                      </a:r>
                      <a:endParaRPr sz="1100"/>
                    </a:p>
                  </a:txBody>
                  <a:tcPr marL="771525" marR="9525" marT="9525" marB="0" anchor="ctr"/>
                </a:tc>
                <a:extLst>
                  <a:ext uri="{0D108BD9-81ED-4DB2-BD59-A6C34878D82A}">
                    <a16:rowId xmlns:a16="http://schemas.microsoft.com/office/drawing/2014/main" val="10003"/>
                  </a:ext>
                </a:extLst>
              </a:tr>
              <a:tr h="175260">
                <a:tc>
                  <a:txBody>
                    <a:bodyPr/>
                    <a:lstStyle/>
                    <a:p>
                      <a:pPr algn="l"/>
                      <a:r>
                        <a:rPr sz="1100" b="0" i="0">
                          <a:solidFill>
                            <a:srgbClr val="000000"/>
                          </a:solidFill>
                          <a:latin typeface="Calibri"/>
                        </a:rPr>
                        <a:t>19.3.3.</a:t>
                      </a:r>
                      <a:r>
                        <a:rPr sz="700" b="0" i="0">
                          <a:solidFill>
                            <a:srgbClr val="000000"/>
                          </a:solidFill>
                          <a:latin typeface="Times New Roman"/>
                        </a:rPr>
                        <a:t> </a:t>
                      </a:r>
                      <a:r>
                        <a:rPr sz="1100" b="0" i="0">
                          <a:solidFill>
                            <a:srgbClr val="000000"/>
                          </a:solidFill>
                          <a:latin typeface="Calibri"/>
                        </a:rPr>
                        <a:t>End Users</a:t>
                      </a:r>
                      <a:endParaRPr sz="1100"/>
                    </a:p>
                  </a:txBody>
                  <a:tcPr marL="771525" marR="9525" marT="9525" marB="0" anchor="ctr"/>
                </a:tc>
                <a:extLst>
                  <a:ext uri="{0D108BD9-81ED-4DB2-BD59-A6C34878D82A}">
                    <a16:rowId xmlns:a16="http://schemas.microsoft.com/office/drawing/2014/main" val="10004"/>
                  </a:ext>
                </a:extLst>
              </a:tr>
              <a:tr h="350520">
                <a:tc>
                  <a:txBody>
                    <a:bodyPr/>
                    <a:lstStyle/>
                    <a:p>
                      <a:pPr algn="l"/>
                      <a:r>
                        <a:rPr sz="1100" b="0" i="1">
                          <a:solidFill>
                            <a:srgbClr val="FF0000"/>
                          </a:solidFill>
                          <a:latin typeface="Calibri"/>
                        </a:rPr>
                        <a:t>Note: The section lists 20-30 active market participants. For a comprehensive list, please contact the respective sales personnel</a:t>
                      </a:r>
                      <a:endParaRPr sz="1100"/>
                    </a:p>
                  </a:txBody>
                  <a:tcPr marL="9525" marR="9525" marT="9525" marB="0" anchor="ctr"/>
                </a:tc>
                <a:extLst>
                  <a:ext uri="{0D108BD9-81ED-4DB2-BD59-A6C34878D82A}">
                    <a16:rowId xmlns:a16="http://schemas.microsoft.com/office/drawing/2014/main" val="10005"/>
                  </a:ext>
                </a:extLst>
              </a:tr>
              <a:tr h="175260">
                <a:tc>
                  <a:txBody>
                    <a:bodyPr/>
                    <a:lstStyle/>
                    <a:p>
                      <a:pPr algn="l"/>
                      <a:r>
                        <a:rPr sz="1100" b="1" i="0">
                          <a:solidFill>
                            <a:srgbClr val="000000"/>
                          </a:solidFill>
                          <a:latin typeface="Calibri"/>
                        </a:rPr>
                        <a:t>Section 7: Competition Assessment</a:t>
                      </a:r>
                      <a:endParaRPr sz="1100"/>
                    </a:p>
                  </a:txBody>
                  <a:tcPr marL="9525" marR="9525" marT="9525" marB="0" anchor="ctr"/>
                </a:tc>
                <a:extLst>
                  <a:ext uri="{0D108BD9-81ED-4DB2-BD59-A6C34878D82A}">
                    <a16:rowId xmlns:a16="http://schemas.microsoft.com/office/drawing/2014/main" val="10006"/>
                  </a:ext>
                </a:extLst>
              </a:tr>
              <a:tr h="175260">
                <a:tc>
                  <a:txBody>
                    <a:bodyPr/>
                    <a:lstStyle/>
                    <a:p>
                      <a:pPr algn="l"/>
                      <a:r>
                        <a:rPr sz="1100" b="1" i="0">
                          <a:solidFill>
                            <a:srgbClr val="000000"/>
                          </a:solidFill>
                          <a:latin typeface="Calibri"/>
                        </a:rPr>
                        <a:t>20.</a:t>
                      </a:r>
                      <a:r>
                        <a:rPr sz="700" b="1" i="0">
                          <a:solidFill>
                            <a:srgbClr val="000000"/>
                          </a:solidFill>
                          <a:latin typeface="Times New Roman"/>
                        </a:rPr>
                        <a:t>    </a:t>
                      </a:r>
                      <a:r>
                        <a:rPr sz="1100" b="1" i="0">
                          <a:solidFill>
                            <a:srgbClr val="000000"/>
                          </a:solidFill>
                          <a:latin typeface="Calibri"/>
                        </a:rPr>
                        <a:t>Competition at a Glance- a Dashboard View</a:t>
                      </a:r>
                      <a:endParaRPr sz="1100"/>
                    </a:p>
                  </a:txBody>
                  <a:tcPr marL="171450" marR="9525" marT="9525" marB="0" anchor="ctr"/>
                </a:tc>
                <a:extLst>
                  <a:ext uri="{0D108BD9-81ED-4DB2-BD59-A6C34878D82A}">
                    <a16:rowId xmlns:a16="http://schemas.microsoft.com/office/drawing/2014/main" val="10007"/>
                  </a:ext>
                </a:extLst>
              </a:tr>
              <a:tr h="175260">
                <a:tc>
                  <a:txBody>
                    <a:bodyPr/>
                    <a:lstStyle/>
                    <a:p>
                      <a:pPr algn="l"/>
                      <a:r>
                        <a:rPr sz="1100" b="1" i="0">
                          <a:solidFill>
                            <a:srgbClr val="000000"/>
                          </a:solidFill>
                          <a:latin typeface="Calibri"/>
                        </a:rPr>
                        <a:t>21.</a:t>
                      </a:r>
                      <a:r>
                        <a:rPr sz="700" b="1" i="0">
                          <a:solidFill>
                            <a:srgbClr val="000000"/>
                          </a:solidFill>
                          <a:latin typeface="Times New Roman"/>
                        </a:rPr>
                        <a:t>    </a:t>
                      </a:r>
                      <a:r>
                        <a:rPr sz="1100" b="1" i="0">
                          <a:solidFill>
                            <a:srgbClr val="000000"/>
                          </a:solidFill>
                          <a:latin typeface="Calibri"/>
                        </a:rPr>
                        <a:t>Company Share (%) Analysis, 2023, 2025, 2026</a:t>
                      </a:r>
                      <a:endParaRPr sz="1100"/>
                    </a:p>
                  </a:txBody>
                  <a:tcPr marL="171450" marR="9525" marT="9525" marB="0" anchor="ctr"/>
                </a:tc>
                <a:extLst>
                  <a:ext uri="{0D108BD9-81ED-4DB2-BD59-A6C34878D82A}">
                    <a16:rowId xmlns:a16="http://schemas.microsoft.com/office/drawing/2014/main" val="10008"/>
                  </a:ext>
                </a:extLst>
              </a:tr>
              <a:tr h="175260">
                <a:tc>
                  <a:txBody>
                    <a:bodyPr/>
                    <a:lstStyle/>
                    <a:p>
                      <a:pPr algn="l"/>
                      <a:r>
                        <a:rPr sz="1100" b="0" i="0">
                          <a:solidFill>
                            <a:srgbClr val="0070C0"/>
                          </a:solidFill>
                          <a:latin typeface="Calibri"/>
                        </a:rPr>
                        <a:t>21.1.</a:t>
                      </a:r>
                      <a:r>
                        <a:rPr sz="700" b="0" i="0">
                          <a:solidFill>
                            <a:srgbClr val="0070C0"/>
                          </a:solidFill>
                          <a:latin typeface="Times New Roman"/>
                        </a:rPr>
                        <a:t>  </a:t>
                      </a:r>
                      <a:r>
                        <a:rPr sz="1100" b="0" i="0">
                          <a:solidFill>
                            <a:srgbClr val="0070C0"/>
                          </a:solidFill>
                          <a:latin typeface="Calibri"/>
                        </a:rPr>
                        <a:t>By Region</a:t>
                      </a:r>
                      <a:endParaRPr sz="1100"/>
                    </a:p>
                  </a:txBody>
                  <a:tcPr marL="428625" marR="9525" marT="9525" marB="0" anchor="ctr"/>
                </a:tc>
                <a:extLst>
                  <a:ext uri="{0D108BD9-81ED-4DB2-BD59-A6C34878D82A}">
                    <a16:rowId xmlns:a16="http://schemas.microsoft.com/office/drawing/2014/main" val="10009"/>
                  </a:ext>
                </a:extLst>
              </a:tr>
              <a:tr h="175260">
                <a:tc>
                  <a:txBody>
                    <a:bodyPr/>
                    <a:lstStyle/>
                    <a:p>
                      <a:pPr algn="l"/>
                      <a:r>
                        <a:rPr sz="1100" b="0" i="0">
                          <a:solidFill>
                            <a:srgbClr val="0070C0"/>
                          </a:solidFill>
                          <a:latin typeface="Calibri"/>
                        </a:rPr>
                        <a:t>21.2.</a:t>
                      </a:r>
                      <a:r>
                        <a:rPr sz="700" b="0" i="0">
                          <a:solidFill>
                            <a:srgbClr val="0070C0"/>
                          </a:solidFill>
                          <a:latin typeface="Times New Roman"/>
                        </a:rPr>
                        <a:t>  </a:t>
                      </a:r>
                      <a:r>
                        <a:rPr sz="1100" b="0" i="0">
                          <a:solidFill>
                            <a:srgbClr val="0070C0"/>
                          </a:solidFill>
                          <a:latin typeface="Calibri"/>
                        </a:rPr>
                        <a:t>By Product Type</a:t>
                      </a:r>
                      <a:endParaRPr sz="1100"/>
                    </a:p>
                  </a:txBody>
                  <a:tcPr marL="428625" marR="9525" marT="9525" marB="0" anchor="ctr"/>
                </a:tc>
                <a:extLst>
                  <a:ext uri="{0D108BD9-81ED-4DB2-BD59-A6C34878D82A}">
                    <a16:rowId xmlns:a16="http://schemas.microsoft.com/office/drawing/2014/main" val="10010"/>
                  </a:ext>
                </a:extLst>
              </a:tr>
              <a:tr h="175260">
                <a:tc>
                  <a:txBody>
                    <a:bodyPr/>
                    <a:lstStyle/>
                    <a:p>
                      <a:pPr algn="l"/>
                      <a:r>
                        <a:rPr sz="1100" b="0" i="0">
                          <a:solidFill>
                            <a:srgbClr val="0070C0"/>
                          </a:solidFill>
                          <a:latin typeface="Calibri"/>
                        </a:rPr>
                        <a:t>21.3.</a:t>
                      </a:r>
                      <a:r>
                        <a:rPr sz="700" b="0" i="0">
                          <a:solidFill>
                            <a:srgbClr val="0070C0"/>
                          </a:solidFill>
                          <a:latin typeface="Times New Roman"/>
                        </a:rPr>
                        <a:t>  </a:t>
                      </a:r>
                      <a:r>
                        <a:rPr sz="1100" b="0" i="0">
                          <a:solidFill>
                            <a:srgbClr val="0070C0"/>
                          </a:solidFill>
                          <a:latin typeface="Calibri"/>
                        </a:rPr>
                        <a:t>By End Use Application/ Sales Channel</a:t>
                      </a:r>
                      <a:endParaRPr sz="1100"/>
                    </a:p>
                  </a:txBody>
                  <a:tcPr marL="428625" marR="9525" marT="9525" marB="0" anchor="ctr"/>
                </a:tc>
                <a:extLst>
                  <a:ext uri="{0D108BD9-81ED-4DB2-BD59-A6C34878D82A}">
                    <a16:rowId xmlns:a16="http://schemas.microsoft.com/office/drawing/2014/main" val="10011"/>
                  </a:ext>
                </a:extLst>
              </a:tr>
              <a:tr h="175260">
                <a:tc>
                  <a:txBody>
                    <a:bodyPr/>
                    <a:lstStyle/>
                    <a:p>
                      <a:pPr algn="l"/>
                      <a:r>
                        <a:rPr sz="1100" b="1" i="0">
                          <a:solidFill>
                            <a:srgbClr val="000000"/>
                          </a:solidFill>
                          <a:latin typeface="Calibri"/>
                        </a:rPr>
                        <a:t>22.</a:t>
                      </a:r>
                      <a:r>
                        <a:rPr sz="700" b="1" i="0">
                          <a:solidFill>
                            <a:srgbClr val="000000"/>
                          </a:solidFill>
                          <a:latin typeface="Times New Roman"/>
                        </a:rPr>
                        <a:t>    </a:t>
                      </a:r>
                      <a:r>
                        <a:rPr sz="1100" b="1" i="0">
                          <a:solidFill>
                            <a:srgbClr val="000000"/>
                          </a:solidFill>
                          <a:latin typeface="Calibri"/>
                        </a:rPr>
                        <a:t>Company Share Breakdown (2026)</a:t>
                      </a:r>
                      <a:endParaRPr sz="1100"/>
                    </a:p>
                  </a:txBody>
                  <a:tcPr marL="171450" marR="9525" marT="9525" marB="0" anchor="ctr"/>
                </a:tc>
                <a:extLst>
                  <a:ext uri="{0D108BD9-81ED-4DB2-BD59-A6C34878D82A}">
                    <a16:rowId xmlns:a16="http://schemas.microsoft.com/office/drawing/2014/main" val="10012"/>
                  </a:ext>
                </a:extLst>
              </a:tr>
              <a:tr h="175260">
                <a:tc>
                  <a:txBody>
                    <a:bodyPr/>
                    <a:lstStyle/>
                    <a:p>
                      <a:pPr algn="l"/>
                      <a:r>
                        <a:rPr sz="1100" b="0" i="0">
                          <a:solidFill>
                            <a:srgbClr val="0070C0"/>
                          </a:solidFill>
                          <a:latin typeface="Calibri"/>
                        </a:rPr>
                        <a:t>22.1.</a:t>
                      </a:r>
                      <a:r>
                        <a:rPr sz="700" b="0" i="0">
                          <a:solidFill>
                            <a:srgbClr val="0070C0"/>
                          </a:solidFill>
                          <a:latin typeface="Times New Roman"/>
                        </a:rPr>
                        <a:t>  </a:t>
                      </a:r>
                      <a:r>
                        <a:rPr sz="1100" b="0" i="0">
                          <a:solidFill>
                            <a:srgbClr val="0070C0"/>
                          </a:solidFill>
                          <a:latin typeface="Calibri"/>
                        </a:rPr>
                        <a:t>Top Players (Tier 1)</a:t>
                      </a:r>
                      <a:endParaRPr sz="1100"/>
                    </a:p>
                  </a:txBody>
                  <a:tcPr marL="428625" marR="9525" marT="9525" marB="0" anchor="ctr"/>
                </a:tc>
                <a:extLst>
                  <a:ext uri="{0D108BD9-81ED-4DB2-BD59-A6C34878D82A}">
                    <a16:rowId xmlns:a16="http://schemas.microsoft.com/office/drawing/2014/main" val="10013"/>
                  </a:ext>
                </a:extLst>
              </a:tr>
              <a:tr h="175260">
                <a:tc>
                  <a:txBody>
                    <a:bodyPr/>
                    <a:lstStyle/>
                    <a:p>
                      <a:pPr algn="l"/>
                      <a:r>
                        <a:rPr sz="1100" b="0" i="0">
                          <a:solidFill>
                            <a:srgbClr val="0070C0"/>
                          </a:solidFill>
                          <a:latin typeface="Calibri"/>
                        </a:rPr>
                        <a:t>22.2.</a:t>
                      </a:r>
                      <a:r>
                        <a:rPr sz="700" b="0" i="0">
                          <a:solidFill>
                            <a:srgbClr val="0070C0"/>
                          </a:solidFill>
                          <a:latin typeface="Times New Roman"/>
                        </a:rPr>
                        <a:t>  </a:t>
                      </a:r>
                      <a:r>
                        <a:rPr sz="1100" b="0" i="0">
                          <a:solidFill>
                            <a:srgbClr val="0070C0"/>
                          </a:solidFill>
                          <a:latin typeface="Calibri"/>
                        </a:rPr>
                        <a:t>Mid-Sized Players (Tier 2)</a:t>
                      </a:r>
                      <a:endParaRPr sz="1100"/>
                    </a:p>
                  </a:txBody>
                  <a:tcPr marL="428625" marR="9525" marT="9525" marB="0" anchor="ctr"/>
                </a:tc>
                <a:extLst>
                  <a:ext uri="{0D108BD9-81ED-4DB2-BD59-A6C34878D82A}">
                    <a16:rowId xmlns:a16="http://schemas.microsoft.com/office/drawing/2014/main" val="10014"/>
                  </a:ext>
                </a:extLst>
              </a:tr>
              <a:tr h="175260">
                <a:tc>
                  <a:txBody>
                    <a:bodyPr/>
                    <a:lstStyle/>
                    <a:p>
                      <a:pPr algn="l"/>
                      <a:r>
                        <a:rPr sz="1100" b="0" i="0">
                          <a:solidFill>
                            <a:srgbClr val="0070C0"/>
                          </a:solidFill>
                          <a:latin typeface="Calibri"/>
                        </a:rPr>
                        <a:t>22.3.</a:t>
                      </a:r>
                      <a:r>
                        <a:rPr sz="700" b="0" i="0">
                          <a:solidFill>
                            <a:srgbClr val="0070C0"/>
                          </a:solidFill>
                          <a:latin typeface="Times New Roman"/>
                        </a:rPr>
                        <a:t>  </a:t>
                      </a:r>
                      <a:r>
                        <a:rPr sz="1100" b="0" i="0">
                          <a:solidFill>
                            <a:srgbClr val="0070C0"/>
                          </a:solidFill>
                          <a:latin typeface="Calibri"/>
                        </a:rPr>
                        <a:t>Emerging/Local Players (Tier 3)</a:t>
                      </a:r>
                      <a:endParaRPr sz="1100"/>
                    </a:p>
                  </a:txBody>
                  <a:tcPr marL="428625" marR="9525" marT="9525" marB="0" anchor="ctr"/>
                </a:tc>
                <a:extLst>
                  <a:ext uri="{0D108BD9-81ED-4DB2-BD59-A6C34878D82A}">
                    <a16:rowId xmlns:a16="http://schemas.microsoft.com/office/drawing/2014/main" val="10015"/>
                  </a:ext>
                </a:extLst>
              </a:tr>
              <a:tr h="175260">
                <a:tc>
                  <a:txBody>
                    <a:bodyPr/>
                    <a:lstStyle/>
                    <a:p>
                      <a:pPr algn="l"/>
                      <a:r>
                        <a:rPr sz="1100" b="1" i="0">
                          <a:solidFill>
                            <a:srgbClr val="000000"/>
                          </a:solidFill>
                          <a:latin typeface="Calibri"/>
                        </a:rPr>
                        <a:t>23.</a:t>
                      </a:r>
                      <a:r>
                        <a:rPr sz="700" b="1" i="0">
                          <a:solidFill>
                            <a:srgbClr val="000000"/>
                          </a:solidFill>
                          <a:latin typeface="Times New Roman"/>
                        </a:rPr>
                        <a:t>    </a:t>
                      </a:r>
                      <a:r>
                        <a:rPr sz="1100" b="1" i="0">
                          <a:solidFill>
                            <a:srgbClr val="000000"/>
                          </a:solidFill>
                          <a:latin typeface="Calibri"/>
                        </a:rPr>
                        <a:t>Company Profile- MNCs</a:t>
                      </a:r>
                      <a:endParaRPr sz="1100"/>
                    </a:p>
                  </a:txBody>
                  <a:tcPr marL="171450" marR="9525" marT="9525" marB="0" anchor="ctr"/>
                </a:tc>
                <a:extLst>
                  <a:ext uri="{0D108BD9-81ED-4DB2-BD59-A6C34878D82A}">
                    <a16:rowId xmlns:a16="http://schemas.microsoft.com/office/drawing/2014/main" val="10016"/>
                  </a:ext>
                </a:extLst>
              </a:tr>
              <a:tr h="175260">
                <a:tc>
                  <a:txBody>
                    <a:bodyPr/>
                    <a:lstStyle/>
                    <a:p>
                      <a:pPr algn="l"/>
                      <a:r>
                        <a:rPr sz="1100" b="0" i="0">
                          <a:solidFill>
                            <a:srgbClr val="0070C0"/>
                          </a:solidFill>
                          <a:latin typeface="Calibri"/>
                        </a:rPr>
                        <a:t>23.1.</a:t>
                      </a:r>
                      <a:r>
                        <a:rPr sz="700" b="0" i="0">
                          <a:solidFill>
                            <a:srgbClr val="0070C0"/>
                          </a:solidFill>
                          <a:latin typeface="Times New Roman"/>
                        </a:rPr>
                        <a:t>  </a:t>
                      </a:r>
                      <a:r>
                        <a:rPr sz="1100" b="0" i="0">
                          <a:solidFill>
                            <a:srgbClr val="0070C0"/>
                          </a:solidFill>
                          <a:latin typeface="Calibri"/>
                        </a:rPr>
                        <a:t>Amcor plc</a:t>
                      </a:r>
                      <a:endParaRPr sz="1100"/>
                    </a:p>
                  </a:txBody>
                  <a:tcPr marL="428625" marR="9525" marT="9525" marB="0" anchor="ctr"/>
                </a:tc>
                <a:extLst>
                  <a:ext uri="{0D108BD9-81ED-4DB2-BD59-A6C34878D82A}">
                    <a16:rowId xmlns:a16="http://schemas.microsoft.com/office/drawing/2014/main" val="10017"/>
                  </a:ext>
                </a:extLst>
              </a:tr>
              <a:tr h="175260">
                <a:tc>
                  <a:txBody>
                    <a:bodyPr/>
                    <a:lstStyle/>
                    <a:p>
                      <a:pPr algn="l"/>
                      <a:r>
                        <a:rPr sz="1100" b="0" i="0">
                          <a:solidFill>
                            <a:srgbClr val="000000"/>
                          </a:solidFill>
                          <a:latin typeface="Calibri"/>
                        </a:rPr>
                        <a:t>23.1.1.</a:t>
                      </a:r>
                      <a:r>
                        <a:rPr sz="700" b="0" i="0">
                          <a:solidFill>
                            <a:srgbClr val="000000"/>
                          </a:solidFill>
                          <a:latin typeface="Times New Roman"/>
                        </a:rPr>
                        <a:t> </a:t>
                      </a:r>
                      <a:r>
                        <a:rPr sz="1100" b="0" i="0">
                          <a:solidFill>
                            <a:srgbClr val="000000"/>
                          </a:solidFill>
                          <a:latin typeface="Calibri"/>
                        </a:rPr>
                        <a:t>Product Portfolio</a:t>
                      </a:r>
                      <a:endParaRPr sz="1100"/>
                    </a:p>
                  </a:txBody>
                  <a:tcPr marL="771525" marR="9525" marT="9525" marB="0" anchor="ctr"/>
                </a:tc>
                <a:extLst>
                  <a:ext uri="{0D108BD9-81ED-4DB2-BD59-A6C34878D82A}">
                    <a16:rowId xmlns:a16="http://schemas.microsoft.com/office/drawing/2014/main" val="10018"/>
                  </a:ext>
                </a:extLst>
              </a:tr>
              <a:tr h="175260">
                <a:tc>
                  <a:txBody>
                    <a:bodyPr/>
                    <a:lstStyle/>
                    <a:p>
                      <a:pPr algn="l"/>
                      <a:r>
                        <a:rPr sz="1100" b="0" i="0">
                          <a:solidFill>
                            <a:srgbClr val="000000"/>
                          </a:solidFill>
                          <a:latin typeface="Calibri"/>
                        </a:rPr>
                        <a:t>23.1.2.</a:t>
                      </a:r>
                      <a:r>
                        <a:rPr sz="700" b="0" i="0">
                          <a:solidFill>
                            <a:srgbClr val="000000"/>
                          </a:solidFill>
                          <a:latin typeface="Times New Roman"/>
                        </a:rPr>
                        <a:t> </a:t>
                      </a:r>
                      <a:r>
                        <a:rPr sz="1100" b="0" i="0">
                          <a:solidFill>
                            <a:srgbClr val="000000"/>
                          </a:solidFill>
                          <a:latin typeface="Calibri"/>
                        </a:rPr>
                        <a:t>Apparent Production Volume (UNITS)</a:t>
                      </a:r>
                      <a:endParaRPr sz="1100"/>
                    </a:p>
                  </a:txBody>
                  <a:tcPr marL="771525" marR="9525" marT="9525" marB="0" anchor="ctr"/>
                </a:tc>
                <a:extLst>
                  <a:ext uri="{0D108BD9-81ED-4DB2-BD59-A6C34878D82A}">
                    <a16:rowId xmlns:a16="http://schemas.microsoft.com/office/drawing/2014/main" val="10019"/>
                  </a:ext>
                </a:extLst>
              </a:tr>
              <a:tr h="175260">
                <a:tc>
                  <a:txBody>
                    <a:bodyPr/>
                    <a:lstStyle/>
                    <a:p>
                      <a:pPr algn="l"/>
                      <a:r>
                        <a:rPr sz="1100" b="0" i="0">
                          <a:solidFill>
                            <a:srgbClr val="000000"/>
                          </a:solidFill>
                          <a:latin typeface="Calibri"/>
                        </a:rPr>
                        <a:t>23.1.3.</a:t>
                      </a:r>
                      <a:r>
                        <a:rPr sz="700" b="0" i="0">
                          <a:solidFill>
                            <a:srgbClr val="000000"/>
                          </a:solidFill>
                          <a:latin typeface="Times New Roman"/>
                        </a:rPr>
                        <a:t> </a:t>
                      </a:r>
                      <a:r>
                        <a:rPr sz="1100" b="0" i="0">
                          <a:solidFill>
                            <a:srgbClr val="000000"/>
                          </a:solidFill>
                          <a:latin typeface="Calibri"/>
                        </a:rPr>
                        <a:t>Pricing Analysis (USD Per Unit) By Product Type</a:t>
                      </a:r>
                      <a:endParaRPr sz="1100"/>
                    </a:p>
                  </a:txBody>
                  <a:tcPr marL="771525" marR="9525" marT="9525" marB="0" anchor="ctr"/>
                </a:tc>
                <a:extLst>
                  <a:ext uri="{0D108BD9-81ED-4DB2-BD59-A6C34878D82A}">
                    <a16:rowId xmlns:a16="http://schemas.microsoft.com/office/drawing/2014/main" val="10020"/>
                  </a:ext>
                </a:extLst>
              </a:tr>
              <a:tr h="175260">
                <a:tc>
                  <a:txBody>
                    <a:bodyPr/>
                    <a:lstStyle/>
                    <a:p>
                      <a:pPr algn="l"/>
                      <a:r>
                        <a:rPr sz="1100" b="0" i="0">
                          <a:solidFill>
                            <a:srgbClr val="000000"/>
                          </a:solidFill>
                          <a:latin typeface="Calibri"/>
                        </a:rPr>
                        <a:t>23.1.4.</a:t>
                      </a:r>
                      <a:r>
                        <a:rPr sz="700" b="0" i="0">
                          <a:solidFill>
                            <a:srgbClr val="000000"/>
                          </a:solidFill>
                          <a:latin typeface="Times New Roman"/>
                        </a:rPr>
                        <a:t> </a:t>
                      </a:r>
                      <a:r>
                        <a:rPr sz="1100" b="0" i="0">
                          <a:solidFill>
                            <a:srgbClr val="000000"/>
                          </a:solidFill>
                          <a:latin typeface="Calibri"/>
                        </a:rPr>
                        <a:t>Revenue (USD Mn) and Market Share by Market Segments</a:t>
                      </a:r>
                      <a:endParaRPr sz="1100"/>
                    </a:p>
                  </a:txBody>
                  <a:tcPr marL="771525" marR="9525" marT="9525" marB="0" anchor="ctr"/>
                </a:tc>
                <a:extLst>
                  <a:ext uri="{0D108BD9-81ED-4DB2-BD59-A6C34878D82A}">
                    <a16:rowId xmlns:a16="http://schemas.microsoft.com/office/drawing/2014/main" val="10021"/>
                  </a:ext>
                </a:extLst>
              </a:tr>
              <a:tr h="175260">
                <a:tc>
                  <a:txBody>
                    <a:bodyPr/>
                    <a:lstStyle/>
                    <a:p>
                      <a:pPr algn="l"/>
                      <a:r>
                        <a:rPr sz="1100" b="0" i="1">
                          <a:solidFill>
                            <a:srgbClr val="000000"/>
                          </a:solidFill>
                          <a:latin typeface="Calibri"/>
                        </a:rPr>
                        <a:t>23.1.4.1.</a:t>
                      </a:r>
                      <a:r>
                        <a:rPr sz="700" b="0" i="1">
                          <a:solidFill>
                            <a:srgbClr val="000000"/>
                          </a:solidFill>
                          <a:latin typeface="Times New Roman"/>
                        </a:rPr>
                        <a:t> </a:t>
                      </a:r>
                      <a:r>
                        <a:rPr sz="1100" b="0" i="1">
                          <a:solidFill>
                            <a:srgbClr val="000000"/>
                          </a:solidFill>
                          <a:latin typeface="Calibri"/>
                        </a:rPr>
                        <a:t>Product Sales</a:t>
                      </a:r>
                      <a:endParaRPr sz="1100"/>
                    </a:p>
                  </a:txBody>
                  <a:tcPr marL="1028700" marR="9525" marT="9525" marB="0" anchor="ctr"/>
                </a:tc>
                <a:extLst>
                  <a:ext uri="{0D108BD9-81ED-4DB2-BD59-A6C34878D82A}">
                    <a16:rowId xmlns:a16="http://schemas.microsoft.com/office/drawing/2014/main" val="10022"/>
                  </a:ext>
                </a:extLst>
              </a:tr>
              <a:tr h="175260">
                <a:tc>
                  <a:txBody>
                    <a:bodyPr/>
                    <a:lstStyle/>
                    <a:p>
                      <a:pPr algn="l"/>
                      <a:r>
                        <a:rPr sz="1100" b="0" i="1">
                          <a:solidFill>
                            <a:srgbClr val="000000"/>
                          </a:solidFill>
                          <a:latin typeface="Calibri"/>
                        </a:rPr>
                        <a:t>23.1.4.2.</a:t>
                      </a:r>
                      <a:r>
                        <a:rPr sz="700" b="0" i="1">
                          <a:solidFill>
                            <a:srgbClr val="000000"/>
                          </a:solidFill>
                          <a:latin typeface="Times New Roman"/>
                        </a:rPr>
                        <a:t> </a:t>
                      </a:r>
                      <a:r>
                        <a:rPr sz="1100" b="0" i="1">
                          <a:solidFill>
                            <a:srgbClr val="000000"/>
                          </a:solidFill>
                          <a:latin typeface="Calibri"/>
                        </a:rPr>
                        <a:t>Channel Sales</a:t>
                      </a:r>
                      <a:endParaRPr sz="1100"/>
                    </a:p>
                  </a:txBody>
                  <a:tcPr marL="1028700" marR="9525" marT="9525" marB="0" anchor="ctr"/>
                </a:tc>
                <a:extLst>
                  <a:ext uri="{0D108BD9-81ED-4DB2-BD59-A6C34878D82A}">
                    <a16:rowId xmlns:a16="http://schemas.microsoft.com/office/drawing/2014/main" val="10023"/>
                  </a:ext>
                </a:extLst>
              </a:tr>
              <a:tr h="175260">
                <a:tc>
                  <a:txBody>
                    <a:bodyPr/>
                    <a:lstStyle/>
                    <a:p>
                      <a:pPr algn="l"/>
                      <a:r>
                        <a:rPr sz="1100" b="0" i="1">
                          <a:solidFill>
                            <a:srgbClr val="000000"/>
                          </a:solidFill>
                          <a:latin typeface="Calibri"/>
                        </a:rPr>
                        <a:t>23.1.4.3.</a:t>
                      </a:r>
                      <a:r>
                        <a:rPr sz="700" b="0" i="1">
                          <a:solidFill>
                            <a:srgbClr val="000000"/>
                          </a:solidFill>
                          <a:latin typeface="Times New Roman"/>
                        </a:rPr>
                        <a:t> </a:t>
                      </a:r>
                      <a:r>
                        <a:rPr sz="1100" b="0" i="1">
                          <a:solidFill>
                            <a:srgbClr val="000000"/>
                          </a:solidFill>
                          <a:latin typeface="Calibri"/>
                        </a:rPr>
                        <a:t>Regional Sales</a:t>
                      </a:r>
                      <a:endParaRPr sz="1100"/>
                    </a:p>
                  </a:txBody>
                  <a:tcPr marL="1028700" marR="9525" marT="9525" marB="0" anchor="ctr"/>
                </a:tc>
                <a:extLst>
                  <a:ext uri="{0D108BD9-81ED-4DB2-BD59-A6C34878D82A}">
                    <a16:rowId xmlns:a16="http://schemas.microsoft.com/office/drawing/2014/main" val="10024"/>
                  </a:ext>
                </a:extLst>
              </a:tr>
              <a:tr h="175260">
                <a:tc>
                  <a:txBody>
                    <a:bodyPr/>
                    <a:lstStyle/>
                    <a:p>
                      <a:pPr algn="l"/>
                      <a:r>
                        <a:rPr sz="1100" b="0" i="0">
                          <a:solidFill>
                            <a:srgbClr val="000000"/>
                          </a:solidFill>
                          <a:latin typeface="Calibri"/>
                        </a:rPr>
                        <a:t>23.1.5.</a:t>
                      </a:r>
                      <a:r>
                        <a:rPr sz="700" b="0" i="0">
                          <a:solidFill>
                            <a:srgbClr val="000000"/>
                          </a:solidFill>
                          <a:latin typeface="Times New Roman"/>
                        </a:rPr>
                        <a:t> </a:t>
                      </a:r>
                      <a:r>
                        <a:rPr sz="1100" b="0" i="0">
                          <a:solidFill>
                            <a:srgbClr val="000000"/>
                          </a:solidFill>
                          <a:latin typeface="Calibri"/>
                        </a:rPr>
                        <a:t>Sales Footprint</a:t>
                      </a:r>
                      <a:endParaRPr sz="1100"/>
                    </a:p>
                  </a:txBody>
                  <a:tcPr marL="771525" marR="9525" marT="9525" marB="0" anchor="ctr"/>
                </a:tc>
                <a:extLst>
                  <a:ext uri="{0D108BD9-81ED-4DB2-BD59-A6C34878D82A}">
                    <a16:rowId xmlns:a16="http://schemas.microsoft.com/office/drawing/2014/main" val="10025"/>
                  </a:ext>
                </a:extLst>
              </a:tr>
              <a:tr h="175260">
                <a:tc>
                  <a:txBody>
                    <a:bodyPr/>
                    <a:lstStyle/>
                    <a:p>
                      <a:pPr algn="l"/>
                      <a:r>
                        <a:rPr sz="1100" b="0" i="0">
                          <a:solidFill>
                            <a:srgbClr val="000000"/>
                          </a:solidFill>
                          <a:latin typeface="Calibri"/>
                        </a:rPr>
                        <a:t>23.1.6.</a:t>
                      </a:r>
                      <a:r>
                        <a:rPr sz="700" b="0" i="0">
                          <a:solidFill>
                            <a:srgbClr val="000000"/>
                          </a:solidFill>
                          <a:latin typeface="Times New Roman"/>
                        </a:rPr>
                        <a:t> </a:t>
                      </a:r>
                      <a:r>
                        <a:rPr sz="1100" b="0" i="0">
                          <a:solidFill>
                            <a:srgbClr val="000000"/>
                          </a:solidFill>
                          <a:latin typeface="Calibri"/>
                        </a:rPr>
                        <a:t>Strategy Overview</a:t>
                      </a:r>
                      <a:endParaRPr sz="1100"/>
                    </a:p>
                  </a:txBody>
                  <a:tcPr marL="771525" marR="9525" marT="9525" marB="0" anchor="ctr"/>
                </a:tc>
                <a:extLst>
                  <a:ext uri="{0D108BD9-81ED-4DB2-BD59-A6C34878D82A}">
                    <a16:rowId xmlns:a16="http://schemas.microsoft.com/office/drawing/2014/main" val="10026"/>
                  </a:ext>
                </a:extLst>
              </a:tr>
              <a:tr h="175260">
                <a:tc>
                  <a:txBody>
                    <a:bodyPr/>
                    <a:lstStyle/>
                    <a:p>
                      <a:pPr algn="l"/>
                      <a:r>
                        <a:rPr sz="1100" b="0" i="1">
                          <a:solidFill>
                            <a:srgbClr val="000000"/>
                          </a:solidFill>
                          <a:latin typeface="Calibri"/>
                        </a:rPr>
                        <a:t>23.1.6.1.</a:t>
                      </a:r>
                      <a:r>
                        <a:rPr sz="700" b="0" i="1">
                          <a:solidFill>
                            <a:srgbClr val="000000"/>
                          </a:solidFill>
                          <a:latin typeface="Times New Roman"/>
                        </a:rPr>
                        <a:t> </a:t>
                      </a:r>
                      <a:r>
                        <a:rPr sz="1100" b="0" i="1">
                          <a:solidFill>
                            <a:srgbClr val="000000"/>
                          </a:solidFill>
                          <a:latin typeface="Calibri"/>
                        </a:rPr>
                        <a:t>Marketing Strategy</a:t>
                      </a:r>
                      <a:endParaRPr sz="1100"/>
                    </a:p>
                  </a:txBody>
                  <a:tcPr marL="1028700" marR="9525" marT="9525" marB="0" anchor="ctr"/>
                </a:tc>
                <a:extLst>
                  <a:ext uri="{0D108BD9-81ED-4DB2-BD59-A6C34878D82A}">
                    <a16:rowId xmlns:a16="http://schemas.microsoft.com/office/drawing/2014/main" val="10027"/>
                  </a:ext>
                </a:extLst>
              </a:tr>
              <a:tr h="175260">
                <a:tc>
                  <a:txBody>
                    <a:bodyPr/>
                    <a:lstStyle/>
                    <a:p>
                      <a:pPr algn="l"/>
                      <a:r>
                        <a:rPr sz="1100" b="0" i="1">
                          <a:solidFill>
                            <a:srgbClr val="000000"/>
                          </a:solidFill>
                          <a:latin typeface="Calibri"/>
                        </a:rPr>
                        <a:t>23.1.6.2.</a:t>
                      </a:r>
                      <a:r>
                        <a:rPr sz="700" b="0" i="1">
                          <a:solidFill>
                            <a:srgbClr val="000000"/>
                          </a:solidFill>
                          <a:latin typeface="Times New Roman"/>
                        </a:rPr>
                        <a:t> </a:t>
                      </a:r>
                      <a:r>
                        <a:rPr sz="1100" b="0" i="1">
                          <a:solidFill>
                            <a:srgbClr val="000000"/>
                          </a:solidFill>
                          <a:latin typeface="Calibri"/>
                        </a:rPr>
                        <a:t>Product Strategy</a:t>
                      </a:r>
                      <a:endParaRPr sz="1100"/>
                    </a:p>
                  </a:txBody>
                  <a:tcPr marL="1028700" marR="9525" marT="9525" marB="0" anchor="ctr"/>
                </a:tc>
                <a:extLst>
                  <a:ext uri="{0D108BD9-81ED-4DB2-BD59-A6C34878D82A}">
                    <a16:rowId xmlns:a16="http://schemas.microsoft.com/office/drawing/2014/main" val="10028"/>
                  </a:ext>
                </a:extLst>
              </a:tr>
            </a:tbl>
          </a:graphicData>
        </a:graphic>
      </p:graphicFrame>
      <p:graphicFrame>
        <p:nvGraphicFramePr>
          <p:cNvPr id="10" name="FMI Contents Table"/>
          <p:cNvGraphicFramePr>
            <a:graphicFrameLocks noGrp="1"/>
          </p:cNvGraphicFramePr>
          <p:nvPr/>
        </p:nvGraphicFramePr>
        <p:xfrm>
          <a:off x="6172200" y="981075"/>
          <a:ext cx="5876925" cy="403098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260">
                <a:tc>
                  <a:txBody>
                    <a:bodyPr/>
                    <a:lstStyle/>
                    <a:p>
                      <a:pPr algn="l"/>
                      <a:r>
                        <a:rPr sz="1100" b="0" i="1">
                          <a:solidFill>
                            <a:srgbClr val="000000"/>
                          </a:solidFill>
                          <a:latin typeface="Calibri"/>
                        </a:rPr>
                        <a:t>23.1.6.3.</a:t>
                      </a:r>
                      <a:r>
                        <a:rPr sz="700" b="0" i="1">
                          <a:solidFill>
                            <a:srgbClr val="000000"/>
                          </a:solidFill>
                          <a:latin typeface="Times New Roman"/>
                        </a:rPr>
                        <a:t> </a:t>
                      </a:r>
                      <a:r>
                        <a:rPr sz="1100" b="0" i="1">
                          <a:solidFill>
                            <a:srgbClr val="000000"/>
                          </a:solidFill>
                          <a:latin typeface="Calibri"/>
                        </a:rPr>
                        <a:t>Channel Strategy</a:t>
                      </a:r>
                      <a:endParaRPr sz="1100"/>
                    </a:p>
                  </a:txBody>
                  <a:tcPr marL="1028700" marR="9525" marT="9525" marB="0" anchor="ctr"/>
                </a:tc>
                <a:extLst>
                  <a:ext uri="{0D108BD9-81ED-4DB2-BD59-A6C34878D82A}">
                    <a16:rowId xmlns:a16="http://schemas.microsoft.com/office/drawing/2014/main" val="10000"/>
                  </a:ext>
                </a:extLst>
              </a:tr>
              <a:tr h="175260">
                <a:tc>
                  <a:txBody>
                    <a:bodyPr/>
                    <a:lstStyle/>
                    <a:p>
                      <a:pPr algn="l"/>
                      <a:r>
                        <a:rPr sz="1100" b="0" i="1">
                          <a:solidFill>
                            <a:srgbClr val="000000"/>
                          </a:solidFill>
                          <a:latin typeface="Calibri"/>
                        </a:rPr>
                        <a:t>23.1.6.4.</a:t>
                      </a:r>
                      <a:r>
                        <a:rPr sz="700" b="0" i="1">
                          <a:solidFill>
                            <a:srgbClr val="000000"/>
                          </a:solidFill>
                          <a:latin typeface="Times New Roman"/>
                        </a:rPr>
                        <a:t> </a:t>
                      </a:r>
                      <a:r>
                        <a:rPr sz="1100" b="0" i="1">
                          <a:solidFill>
                            <a:srgbClr val="000000"/>
                          </a:solidFill>
                          <a:latin typeface="Calibri"/>
                        </a:rPr>
                        <a:t>Pricing Strategy</a:t>
                      </a:r>
                      <a:endParaRPr sz="1100"/>
                    </a:p>
                  </a:txBody>
                  <a:tcPr marL="1028700" marR="9525" marT="9525" marB="0" anchor="ctr"/>
                </a:tc>
                <a:extLst>
                  <a:ext uri="{0D108BD9-81ED-4DB2-BD59-A6C34878D82A}">
                    <a16:rowId xmlns:a16="http://schemas.microsoft.com/office/drawing/2014/main" val="10001"/>
                  </a:ext>
                </a:extLst>
              </a:tr>
              <a:tr h="175260">
                <a:tc>
                  <a:txBody>
                    <a:bodyPr/>
                    <a:lstStyle/>
                    <a:p>
                      <a:pPr algn="l"/>
                      <a:r>
                        <a:rPr sz="1100" b="0" i="0">
                          <a:solidFill>
                            <a:srgbClr val="000000"/>
                          </a:solidFill>
                          <a:latin typeface="Calibri"/>
                        </a:rPr>
                        <a:t>23.1.7.</a:t>
                      </a:r>
                      <a:r>
                        <a:rPr sz="700" b="0" i="0">
                          <a:solidFill>
                            <a:srgbClr val="000000"/>
                          </a:solidFill>
                          <a:latin typeface="Times New Roman"/>
                        </a:rPr>
                        <a:t> </a:t>
                      </a:r>
                      <a:r>
                        <a:rPr sz="1100" b="0" i="0">
                          <a:solidFill>
                            <a:srgbClr val="000000"/>
                          </a:solidFill>
                          <a:latin typeface="Calibri"/>
                        </a:rPr>
                        <a:t>SWOT</a:t>
                      </a:r>
                      <a:endParaRPr sz="1100"/>
                    </a:p>
                  </a:txBody>
                  <a:tcPr marL="771525" marR="9525" marT="9525" marB="0" anchor="ctr"/>
                </a:tc>
                <a:extLst>
                  <a:ext uri="{0D108BD9-81ED-4DB2-BD59-A6C34878D82A}">
                    <a16:rowId xmlns:a16="http://schemas.microsoft.com/office/drawing/2014/main" val="10002"/>
                  </a:ext>
                </a:extLst>
              </a:tr>
              <a:tr h="175260">
                <a:tc>
                  <a:txBody>
                    <a:bodyPr/>
                    <a:lstStyle/>
                    <a:p>
                      <a:pPr algn="l"/>
                      <a:r>
                        <a:rPr sz="1100" b="0" i="0">
                          <a:solidFill>
                            <a:srgbClr val="000000"/>
                          </a:solidFill>
                          <a:latin typeface="Calibri"/>
                        </a:rPr>
                        <a:t>23.1.8.</a:t>
                      </a:r>
                      <a:r>
                        <a:rPr sz="700" b="0" i="0">
                          <a:solidFill>
                            <a:srgbClr val="000000"/>
                          </a:solidFill>
                          <a:latin typeface="Times New Roman"/>
                        </a:rPr>
                        <a:t> </a:t>
                      </a:r>
                      <a:r>
                        <a:rPr sz="1100" b="0" i="0">
                          <a:solidFill>
                            <a:srgbClr val="000000"/>
                          </a:solidFill>
                          <a:latin typeface="Calibri"/>
                        </a:rPr>
                        <a:t>Analyst Comment</a:t>
                      </a:r>
                      <a:endParaRPr sz="1100"/>
                    </a:p>
                  </a:txBody>
                  <a:tcPr marL="771525" marR="9525" marT="9525" marB="0" anchor="ctr"/>
                </a:tc>
                <a:extLst>
                  <a:ext uri="{0D108BD9-81ED-4DB2-BD59-A6C34878D82A}">
                    <a16:rowId xmlns:a16="http://schemas.microsoft.com/office/drawing/2014/main" val="10003"/>
                  </a:ext>
                </a:extLst>
              </a:tr>
              <a:tr h="175260">
                <a:tc>
                  <a:txBody>
                    <a:bodyPr/>
                    <a:lstStyle/>
                    <a:p>
                      <a:pPr algn="l"/>
                      <a:r>
                        <a:rPr sz="1100" b="0" i="1">
                          <a:solidFill>
                            <a:srgbClr val="EE0000"/>
                          </a:solidFill>
                          <a:latin typeface="Calibri"/>
                        </a:rPr>
                        <a:t>Note: All companies shall be indicated in similar manner</a:t>
                      </a:r>
                      <a:endParaRPr sz="1100"/>
                    </a:p>
                  </a:txBody>
                  <a:tcPr marL="9525" marR="9525" marT="9525" marB="0" anchor="ctr"/>
                </a:tc>
                <a:extLst>
                  <a:ext uri="{0D108BD9-81ED-4DB2-BD59-A6C34878D82A}">
                    <a16:rowId xmlns:a16="http://schemas.microsoft.com/office/drawing/2014/main" val="10004"/>
                  </a:ext>
                </a:extLst>
              </a:tr>
              <a:tr h="175260">
                <a:tc>
                  <a:txBody>
                    <a:bodyPr/>
                    <a:lstStyle/>
                    <a:p>
                      <a:pPr algn="l"/>
                      <a:r>
                        <a:rPr sz="1100" b="0" i="0">
                          <a:solidFill>
                            <a:srgbClr val="0070C0"/>
                          </a:solidFill>
                          <a:latin typeface="Calibri"/>
                        </a:rPr>
                        <a:t>23.2.</a:t>
                      </a:r>
                      <a:r>
                        <a:rPr sz="700" b="0" i="0">
                          <a:solidFill>
                            <a:srgbClr val="0070C0"/>
                          </a:solidFill>
                          <a:latin typeface="Times New Roman"/>
                        </a:rPr>
                        <a:t>  </a:t>
                      </a:r>
                      <a:r>
                        <a:rPr sz="1100" b="0" i="0">
                          <a:solidFill>
                            <a:srgbClr val="0070C0"/>
                          </a:solidFill>
                          <a:latin typeface="Calibri"/>
                        </a:rPr>
                        <a:t>Sealed Air Corporation</a:t>
                      </a:r>
                      <a:endParaRPr sz="1100"/>
                    </a:p>
                  </a:txBody>
                  <a:tcPr marL="428625" marR="9525" marT="9525" marB="0" anchor="ctr"/>
                </a:tc>
                <a:extLst>
                  <a:ext uri="{0D108BD9-81ED-4DB2-BD59-A6C34878D82A}">
                    <a16:rowId xmlns:a16="http://schemas.microsoft.com/office/drawing/2014/main" val="10005"/>
                  </a:ext>
                </a:extLst>
              </a:tr>
              <a:tr h="175260">
                <a:tc>
                  <a:txBody>
                    <a:bodyPr/>
                    <a:lstStyle/>
                    <a:p>
                      <a:pPr algn="l"/>
                      <a:r>
                        <a:rPr sz="1100" b="0" i="0">
                          <a:solidFill>
                            <a:srgbClr val="0070C0"/>
                          </a:solidFill>
                          <a:latin typeface="Calibri"/>
                        </a:rPr>
                        <a:t>23.3.</a:t>
                      </a:r>
                      <a:r>
                        <a:rPr sz="700" b="0" i="0">
                          <a:solidFill>
                            <a:srgbClr val="0070C0"/>
                          </a:solidFill>
                          <a:latin typeface="Times New Roman"/>
                        </a:rPr>
                        <a:t>  </a:t>
                      </a:r>
                      <a:r>
                        <a:rPr sz="1100" b="0" i="0">
                          <a:solidFill>
                            <a:srgbClr val="0070C0"/>
                          </a:solidFill>
                          <a:latin typeface="Calibri"/>
                        </a:rPr>
                        <a:t>Inteplast Group</a:t>
                      </a:r>
                      <a:endParaRPr sz="1100"/>
                    </a:p>
                  </a:txBody>
                  <a:tcPr marL="428625" marR="9525" marT="9525" marB="0" anchor="ctr"/>
                </a:tc>
                <a:extLst>
                  <a:ext uri="{0D108BD9-81ED-4DB2-BD59-A6C34878D82A}">
                    <a16:rowId xmlns:a16="http://schemas.microsoft.com/office/drawing/2014/main" val="10006"/>
                  </a:ext>
                </a:extLst>
              </a:tr>
              <a:tr h="175260">
                <a:tc>
                  <a:txBody>
                    <a:bodyPr/>
                    <a:lstStyle/>
                    <a:p>
                      <a:pPr algn="l"/>
                      <a:r>
                        <a:rPr sz="1100" b="0" i="0">
                          <a:solidFill>
                            <a:srgbClr val="0070C0"/>
                          </a:solidFill>
                          <a:latin typeface="Calibri"/>
                        </a:rPr>
                        <a:t>23.4.</a:t>
                      </a:r>
                      <a:r>
                        <a:rPr sz="700" b="0" i="0">
                          <a:solidFill>
                            <a:srgbClr val="0070C0"/>
                          </a:solidFill>
                          <a:latin typeface="Times New Roman"/>
                        </a:rPr>
                        <a:t>  </a:t>
                      </a:r>
                      <a:r>
                        <a:rPr sz="1100" b="0" i="0">
                          <a:solidFill>
                            <a:srgbClr val="0070C0"/>
                          </a:solidFill>
                          <a:latin typeface="Calibri"/>
                        </a:rPr>
                        <a:t>Novolex</a:t>
                      </a:r>
                      <a:endParaRPr sz="1100"/>
                    </a:p>
                  </a:txBody>
                  <a:tcPr marL="428625" marR="9525" marT="9525" marB="0" anchor="ctr"/>
                </a:tc>
                <a:extLst>
                  <a:ext uri="{0D108BD9-81ED-4DB2-BD59-A6C34878D82A}">
                    <a16:rowId xmlns:a16="http://schemas.microsoft.com/office/drawing/2014/main" val="10007"/>
                  </a:ext>
                </a:extLst>
              </a:tr>
              <a:tr h="175260">
                <a:tc>
                  <a:txBody>
                    <a:bodyPr/>
                    <a:lstStyle/>
                    <a:p>
                      <a:pPr algn="l"/>
                      <a:r>
                        <a:rPr sz="1100" b="0" i="0">
                          <a:solidFill>
                            <a:srgbClr val="0070C0"/>
                          </a:solidFill>
                          <a:latin typeface="Calibri"/>
                        </a:rPr>
                        <a:t>23.5.</a:t>
                      </a:r>
                      <a:r>
                        <a:rPr sz="700" b="0" i="0">
                          <a:solidFill>
                            <a:srgbClr val="0070C0"/>
                          </a:solidFill>
                          <a:latin typeface="Times New Roman"/>
                        </a:rPr>
                        <a:t>  </a:t>
                      </a:r>
                      <a:r>
                        <a:rPr sz="1100" b="0" i="0">
                          <a:solidFill>
                            <a:srgbClr val="0070C0"/>
                          </a:solidFill>
                          <a:latin typeface="Calibri"/>
                        </a:rPr>
                        <a:t>Coveris</a:t>
                      </a:r>
                      <a:endParaRPr sz="1100"/>
                    </a:p>
                  </a:txBody>
                  <a:tcPr marL="428625" marR="9525" marT="9525" marB="0" anchor="ctr"/>
                </a:tc>
                <a:extLst>
                  <a:ext uri="{0D108BD9-81ED-4DB2-BD59-A6C34878D82A}">
                    <a16:rowId xmlns:a16="http://schemas.microsoft.com/office/drawing/2014/main" val="10008"/>
                  </a:ext>
                </a:extLst>
              </a:tr>
              <a:tr h="175260">
                <a:tc>
                  <a:txBody>
                    <a:bodyPr/>
                    <a:lstStyle/>
                    <a:p>
                      <a:pPr algn="l"/>
                      <a:r>
                        <a:rPr sz="1100" b="0" i="0">
                          <a:solidFill>
                            <a:srgbClr val="0070C0"/>
                          </a:solidFill>
                          <a:latin typeface="Calibri"/>
                        </a:rPr>
                        <a:t>23.6.</a:t>
                      </a:r>
                      <a:r>
                        <a:rPr sz="700" b="0" i="0">
                          <a:solidFill>
                            <a:srgbClr val="0070C0"/>
                          </a:solidFill>
                          <a:latin typeface="Times New Roman"/>
                        </a:rPr>
                        <a:t>  </a:t>
                      </a:r>
                      <a:r>
                        <a:rPr sz="1100" b="0" i="0">
                          <a:solidFill>
                            <a:srgbClr val="0070C0"/>
                          </a:solidFill>
                          <a:latin typeface="Calibri"/>
                        </a:rPr>
                        <a:t>Printpack</a:t>
                      </a:r>
                      <a:endParaRPr sz="1100"/>
                    </a:p>
                  </a:txBody>
                  <a:tcPr marL="428625" marR="9525" marT="9525" marB="0" anchor="ctr"/>
                </a:tc>
                <a:extLst>
                  <a:ext uri="{0D108BD9-81ED-4DB2-BD59-A6C34878D82A}">
                    <a16:rowId xmlns:a16="http://schemas.microsoft.com/office/drawing/2014/main" val="10009"/>
                  </a:ext>
                </a:extLst>
              </a:tr>
              <a:tr h="175260">
                <a:tc>
                  <a:txBody>
                    <a:bodyPr/>
                    <a:lstStyle/>
                    <a:p>
                      <a:pPr algn="l"/>
                      <a:r>
                        <a:rPr sz="1100" b="0" i="0">
                          <a:solidFill>
                            <a:srgbClr val="0070C0"/>
                          </a:solidFill>
                          <a:latin typeface="Calibri"/>
                        </a:rPr>
                        <a:t>23.7.</a:t>
                      </a:r>
                      <a:r>
                        <a:rPr sz="700" b="0" i="0">
                          <a:solidFill>
                            <a:srgbClr val="0070C0"/>
                          </a:solidFill>
                          <a:latin typeface="Times New Roman"/>
                        </a:rPr>
                        <a:t>  </a:t>
                      </a:r>
                      <a:r>
                        <a:rPr sz="1100" b="0" i="0">
                          <a:solidFill>
                            <a:srgbClr val="0070C0"/>
                          </a:solidFill>
                          <a:latin typeface="Calibri"/>
                        </a:rPr>
                        <a:t>Winpak Ltd.</a:t>
                      </a:r>
                      <a:endParaRPr sz="1100"/>
                    </a:p>
                  </a:txBody>
                  <a:tcPr marL="428625" marR="9525" marT="9525" marB="0" anchor="ctr"/>
                </a:tc>
                <a:extLst>
                  <a:ext uri="{0D108BD9-81ED-4DB2-BD59-A6C34878D82A}">
                    <a16:rowId xmlns:a16="http://schemas.microsoft.com/office/drawing/2014/main" val="10010"/>
                  </a:ext>
                </a:extLst>
              </a:tr>
              <a:tr h="175260">
                <a:tc>
                  <a:txBody>
                    <a:bodyPr/>
                    <a:lstStyle/>
                    <a:p>
                      <a:pPr algn="l"/>
                      <a:r>
                        <a:rPr sz="1100" b="0" i="0">
                          <a:solidFill>
                            <a:srgbClr val="0070C0"/>
                          </a:solidFill>
                          <a:latin typeface="Calibri"/>
                        </a:rPr>
                        <a:t>23.8.</a:t>
                      </a:r>
                      <a:r>
                        <a:rPr sz="700" b="0" i="0">
                          <a:solidFill>
                            <a:srgbClr val="0070C0"/>
                          </a:solidFill>
                          <a:latin typeface="Times New Roman"/>
                        </a:rPr>
                        <a:t>  </a:t>
                      </a:r>
                      <a:r>
                        <a:rPr sz="1100" b="0" i="0">
                          <a:solidFill>
                            <a:srgbClr val="0070C0"/>
                          </a:solidFill>
                          <a:latin typeface="Calibri"/>
                        </a:rPr>
                        <a:t>Huhtamaki</a:t>
                      </a:r>
                      <a:endParaRPr sz="1100"/>
                    </a:p>
                  </a:txBody>
                  <a:tcPr marL="428625" marR="9525" marT="9525" marB="0" anchor="ctr"/>
                </a:tc>
                <a:extLst>
                  <a:ext uri="{0D108BD9-81ED-4DB2-BD59-A6C34878D82A}">
                    <a16:rowId xmlns:a16="http://schemas.microsoft.com/office/drawing/2014/main" val="10011"/>
                  </a:ext>
                </a:extLst>
              </a:tr>
              <a:tr h="175260">
                <a:tc>
                  <a:txBody>
                    <a:bodyPr/>
                    <a:lstStyle/>
                    <a:p>
                      <a:pPr algn="l"/>
                      <a:r>
                        <a:rPr sz="1100" b="0" i="0">
                          <a:solidFill>
                            <a:srgbClr val="0070C0"/>
                          </a:solidFill>
                          <a:latin typeface="Calibri"/>
                        </a:rPr>
                        <a:t>23.9.</a:t>
                      </a:r>
                      <a:r>
                        <a:rPr sz="700" b="0" i="0">
                          <a:solidFill>
                            <a:srgbClr val="0070C0"/>
                          </a:solidFill>
                          <a:latin typeface="Times New Roman"/>
                        </a:rPr>
                        <a:t>  </a:t>
                      </a:r>
                      <a:r>
                        <a:rPr sz="1100" b="0" i="0">
                          <a:solidFill>
                            <a:srgbClr val="0070C0"/>
                          </a:solidFill>
                          <a:latin typeface="Calibri"/>
                        </a:rPr>
                        <a:t>Berry Global Group</a:t>
                      </a:r>
                      <a:endParaRPr sz="1100"/>
                    </a:p>
                  </a:txBody>
                  <a:tcPr marL="428625" marR="9525" marT="9525" marB="0" anchor="ctr"/>
                </a:tc>
                <a:extLst>
                  <a:ext uri="{0D108BD9-81ED-4DB2-BD59-A6C34878D82A}">
                    <a16:rowId xmlns:a16="http://schemas.microsoft.com/office/drawing/2014/main" val="10012"/>
                  </a:ext>
                </a:extLst>
              </a:tr>
              <a:tr h="175260">
                <a:tc>
                  <a:txBody>
                    <a:bodyPr/>
                    <a:lstStyle/>
                    <a:p>
                      <a:pPr algn="l"/>
                      <a:r>
                        <a:rPr sz="1100" b="0" i="0">
                          <a:solidFill>
                            <a:srgbClr val="0070C0"/>
                          </a:solidFill>
                          <a:latin typeface="Calibri"/>
                        </a:rPr>
                        <a:t>23.10.</a:t>
                      </a:r>
                      <a:r>
                        <a:rPr sz="700" b="0" i="0">
                          <a:solidFill>
                            <a:srgbClr val="0070C0"/>
                          </a:solidFill>
                          <a:latin typeface="Times New Roman"/>
                        </a:rPr>
                        <a:t> </a:t>
                      </a:r>
                      <a:r>
                        <a:rPr sz="1100" b="0" i="0">
                          <a:solidFill>
                            <a:srgbClr val="0070C0"/>
                          </a:solidFill>
                          <a:latin typeface="Calibri"/>
                        </a:rPr>
                        <a:t>Mondi Group</a:t>
                      </a:r>
                      <a:endParaRPr sz="1100"/>
                    </a:p>
                  </a:txBody>
                  <a:tcPr marL="428625" marR="9525" marT="9525" marB="0" anchor="ctr"/>
                </a:tc>
                <a:extLst>
                  <a:ext uri="{0D108BD9-81ED-4DB2-BD59-A6C34878D82A}">
                    <a16:rowId xmlns:a16="http://schemas.microsoft.com/office/drawing/2014/main" val="10013"/>
                  </a:ext>
                </a:extLst>
              </a:tr>
              <a:tr h="175260">
                <a:tc>
                  <a:txBody>
                    <a:bodyPr/>
                    <a:lstStyle/>
                    <a:p>
                      <a:pPr algn="l"/>
                      <a:r>
                        <a:rPr sz="1100" b="0" i="0">
                          <a:solidFill>
                            <a:srgbClr val="0070C0"/>
                          </a:solidFill>
                          <a:latin typeface="Calibri"/>
                        </a:rPr>
                        <a:t>23.11.</a:t>
                      </a:r>
                      <a:r>
                        <a:rPr sz="700" b="0" i="0">
                          <a:solidFill>
                            <a:srgbClr val="0070C0"/>
                          </a:solidFill>
                          <a:latin typeface="Times New Roman"/>
                        </a:rPr>
                        <a:t> </a:t>
                      </a:r>
                      <a:r>
                        <a:rPr sz="1100" b="0" i="0">
                          <a:solidFill>
                            <a:srgbClr val="0070C0"/>
                          </a:solidFill>
                          <a:latin typeface="Calibri"/>
                        </a:rPr>
                        <a:t>Pactiv Evergreen</a:t>
                      </a:r>
                      <a:endParaRPr sz="1100"/>
                    </a:p>
                  </a:txBody>
                  <a:tcPr marL="428625" marR="9525" marT="9525" marB="0" anchor="ctr"/>
                </a:tc>
                <a:extLst>
                  <a:ext uri="{0D108BD9-81ED-4DB2-BD59-A6C34878D82A}">
                    <a16:rowId xmlns:a16="http://schemas.microsoft.com/office/drawing/2014/main" val="10014"/>
                  </a:ext>
                </a:extLst>
              </a:tr>
              <a:tr h="175260">
                <a:tc>
                  <a:txBody>
                    <a:bodyPr/>
                    <a:lstStyle/>
                    <a:p>
                      <a:pPr algn="l"/>
                      <a:r>
                        <a:rPr sz="1100" b="0" i="0">
                          <a:solidFill>
                            <a:srgbClr val="0070C0"/>
                          </a:solidFill>
                          <a:latin typeface="Calibri"/>
                        </a:rPr>
                        <a:t>23.12.</a:t>
                      </a:r>
                      <a:r>
                        <a:rPr sz="700" b="0" i="0">
                          <a:solidFill>
                            <a:srgbClr val="0070C0"/>
                          </a:solidFill>
                          <a:latin typeface="Times New Roman"/>
                        </a:rPr>
                        <a:t> </a:t>
                      </a:r>
                      <a:r>
                        <a:rPr sz="1100" b="0" i="0">
                          <a:solidFill>
                            <a:srgbClr val="0070C0"/>
                          </a:solidFill>
                          <a:latin typeface="Calibri"/>
                        </a:rPr>
                        <a:t>Sonoco Products Company</a:t>
                      </a:r>
                      <a:endParaRPr sz="1100"/>
                    </a:p>
                  </a:txBody>
                  <a:tcPr marL="428625" marR="9525" marT="9525" marB="0" anchor="ctr"/>
                </a:tc>
                <a:extLst>
                  <a:ext uri="{0D108BD9-81ED-4DB2-BD59-A6C34878D82A}">
                    <a16:rowId xmlns:a16="http://schemas.microsoft.com/office/drawing/2014/main" val="10015"/>
                  </a:ext>
                </a:extLst>
              </a:tr>
              <a:tr h="175260">
                <a:tc>
                  <a:txBody>
                    <a:bodyPr/>
                    <a:lstStyle/>
                    <a:p>
                      <a:pPr algn="l"/>
                      <a:r>
                        <a:rPr sz="1100" b="0" i="0">
                          <a:solidFill>
                            <a:srgbClr val="0070C0"/>
                          </a:solidFill>
                          <a:latin typeface="Calibri"/>
                        </a:rPr>
                        <a:t>23.13.</a:t>
                      </a:r>
                      <a:r>
                        <a:rPr sz="700" b="0" i="0">
                          <a:solidFill>
                            <a:srgbClr val="0070C0"/>
                          </a:solidFill>
                          <a:latin typeface="Times New Roman"/>
                        </a:rPr>
                        <a:t> </a:t>
                      </a:r>
                      <a:r>
                        <a:rPr sz="1100" b="0" i="0">
                          <a:solidFill>
                            <a:srgbClr val="0070C0"/>
                          </a:solidFill>
                          <a:latin typeface="Calibri"/>
                        </a:rPr>
                        <a:t>A-Pac Manufacturing Co., Inc.</a:t>
                      </a:r>
                      <a:endParaRPr sz="1100"/>
                    </a:p>
                  </a:txBody>
                  <a:tcPr marL="428625" marR="9525" marT="9525" marB="0" anchor="ctr"/>
                </a:tc>
                <a:extLst>
                  <a:ext uri="{0D108BD9-81ED-4DB2-BD59-A6C34878D82A}">
                    <a16:rowId xmlns:a16="http://schemas.microsoft.com/office/drawing/2014/main" val="10016"/>
                  </a:ext>
                </a:extLst>
              </a:tr>
              <a:tr h="175260">
                <a:tc>
                  <a:txBody>
                    <a:bodyPr/>
                    <a:lstStyle/>
                    <a:p>
                      <a:pPr algn="l"/>
                      <a:r>
                        <a:rPr sz="1100" b="0" i="0">
                          <a:solidFill>
                            <a:srgbClr val="0070C0"/>
                          </a:solidFill>
                          <a:latin typeface="Calibri"/>
                        </a:rPr>
                        <a:t>23.14.</a:t>
                      </a:r>
                      <a:r>
                        <a:rPr sz="700" b="0" i="0">
                          <a:solidFill>
                            <a:srgbClr val="0070C0"/>
                          </a:solidFill>
                          <a:latin typeface="Times New Roman"/>
                        </a:rPr>
                        <a:t> </a:t>
                      </a:r>
                      <a:r>
                        <a:rPr sz="1100" b="0" i="0">
                          <a:solidFill>
                            <a:srgbClr val="0070C0"/>
                          </a:solidFill>
                          <a:latin typeface="Calibri"/>
                        </a:rPr>
                        <a:t>PPC Flex</a:t>
                      </a:r>
                      <a:endParaRPr sz="1100"/>
                    </a:p>
                  </a:txBody>
                  <a:tcPr marL="428625" marR="9525" marT="9525" marB="0" anchor="ctr"/>
                </a:tc>
                <a:extLst>
                  <a:ext uri="{0D108BD9-81ED-4DB2-BD59-A6C34878D82A}">
                    <a16:rowId xmlns:a16="http://schemas.microsoft.com/office/drawing/2014/main" val="10017"/>
                  </a:ext>
                </a:extLst>
              </a:tr>
              <a:tr h="175260">
                <a:tc>
                  <a:txBody>
                    <a:bodyPr/>
                    <a:lstStyle/>
                    <a:p>
                      <a:pPr algn="l"/>
                      <a:r>
                        <a:rPr sz="1100" b="0" i="0">
                          <a:solidFill>
                            <a:srgbClr val="0070C0"/>
                          </a:solidFill>
                          <a:latin typeface="Calibri"/>
                        </a:rPr>
                        <a:t>23.15.</a:t>
                      </a:r>
                      <a:r>
                        <a:rPr sz="700" b="0" i="0">
                          <a:solidFill>
                            <a:srgbClr val="0070C0"/>
                          </a:solidFill>
                          <a:latin typeface="Times New Roman"/>
                        </a:rPr>
                        <a:t> </a:t>
                      </a:r>
                      <a:r>
                        <a:rPr sz="1100" b="0" i="0">
                          <a:solidFill>
                            <a:srgbClr val="0070C0"/>
                          </a:solidFill>
                          <a:latin typeface="Calibri"/>
                        </a:rPr>
                        <a:t>Arihant Packers</a:t>
                      </a:r>
                      <a:endParaRPr sz="1100"/>
                    </a:p>
                  </a:txBody>
                  <a:tcPr marL="428625" marR="9525" marT="9525" marB="0" anchor="ctr"/>
                </a:tc>
                <a:extLst>
                  <a:ext uri="{0D108BD9-81ED-4DB2-BD59-A6C34878D82A}">
                    <a16:rowId xmlns:a16="http://schemas.microsoft.com/office/drawing/2014/main" val="10018"/>
                  </a:ext>
                </a:extLst>
              </a:tr>
              <a:tr h="175260">
                <a:tc>
                  <a:txBody>
                    <a:bodyPr/>
                    <a:lstStyle/>
                    <a:p>
                      <a:pPr algn="l"/>
                      <a:r>
                        <a:rPr sz="1100" b="0" i="0">
                          <a:solidFill>
                            <a:srgbClr val="0070C0"/>
                          </a:solidFill>
                          <a:latin typeface="Calibri"/>
                        </a:rPr>
                        <a:t>23.16.</a:t>
                      </a:r>
                      <a:r>
                        <a:rPr sz="700" b="0" i="0">
                          <a:solidFill>
                            <a:srgbClr val="0070C0"/>
                          </a:solidFill>
                          <a:latin typeface="Times New Roman"/>
                        </a:rPr>
                        <a:t> </a:t>
                      </a:r>
                      <a:r>
                        <a:rPr sz="1100" b="0" i="0">
                          <a:solidFill>
                            <a:srgbClr val="0070C0"/>
                          </a:solidFill>
                          <a:latin typeface="Calibri"/>
                        </a:rPr>
                        <a:t>Others on request</a:t>
                      </a:r>
                      <a:endParaRPr sz="1100"/>
                    </a:p>
                  </a:txBody>
                  <a:tcPr marL="428625" marR="9525" marT="9525" marB="0" anchor="ctr"/>
                </a:tc>
                <a:extLst>
                  <a:ext uri="{0D108BD9-81ED-4DB2-BD59-A6C34878D82A}">
                    <a16:rowId xmlns:a16="http://schemas.microsoft.com/office/drawing/2014/main" val="10019"/>
                  </a:ext>
                </a:extLst>
              </a:tr>
              <a:tr h="175260">
                <a:tc>
                  <a:txBody>
                    <a:bodyPr/>
                    <a:lstStyle/>
                    <a:p>
                      <a:pPr algn="l"/>
                      <a:r>
                        <a:rPr sz="1100" b="1" i="0">
                          <a:solidFill>
                            <a:srgbClr val="EE0000"/>
                          </a:solidFill>
                          <a:latin typeface="Calibri"/>
                        </a:rPr>
                        <a:t>ADD SECTIONS AS PER STORY LINE</a:t>
                      </a:r>
                      <a:endParaRPr sz="1100"/>
                    </a:p>
                  </a:txBody>
                  <a:tcPr marL="9525" marR="9525" marT="9525" marB="0" anchor="ctr"/>
                </a:tc>
                <a:extLst>
                  <a:ext uri="{0D108BD9-81ED-4DB2-BD59-A6C34878D82A}">
                    <a16:rowId xmlns:a16="http://schemas.microsoft.com/office/drawing/2014/main" val="10020"/>
                  </a:ext>
                </a:extLst>
              </a:tr>
              <a:tr h="175260">
                <a:tc>
                  <a:txBody>
                    <a:bodyPr/>
                    <a:lstStyle/>
                    <a:p>
                      <a:pPr algn="l"/>
                      <a:r>
                        <a:rPr sz="1100" b="1" i="0">
                          <a:solidFill>
                            <a:srgbClr val="000000"/>
                          </a:solidFill>
                          <a:latin typeface="Calibri"/>
                        </a:rPr>
                        <a:t>24.</a:t>
                      </a:r>
                      <a:r>
                        <a:rPr sz="700" b="1" i="0">
                          <a:solidFill>
                            <a:srgbClr val="000000"/>
                          </a:solidFill>
                          <a:latin typeface="Times New Roman"/>
                        </a:rPr>
                        <a:t>    </a:t>
                      </a:r>
                      <a:r>
                        <a:rPr sz="1100" b="1" i="0">
                          <a:solidFill>
                            <a:srgbClr val="000000"/>
                          </a:solidFill>
                          <a:latin typeface="Calibri"/>
                        </a:rPr>
                        <a:t>Assumptions and Acronyms Used</a:t>
                      </a:r>
                      <a:endParaRPr sz="1100"/>
                    </a:p>
                  </a:txBody>
                  <a:tcPr marL="171450" marR="9525" marT="9525" marB="0" anchor="ctr"/>
                </a:tc>
                <a:extLst>
                  <a:ext uri="{0D108BD9-81ED-4DB2-BD59-A6C34878D82A}">
                    <a16:rowId xmlns:a16="http://schemas.microsoft.com/office/drawing/2014/main" val="10021"/>
                  </a:ext>
                </a:extLst>
              </a:tr>
              <a:tr h="175260">
                <a:tc>
                  <a:txBody>
                    <a:bodyPr/>
                    <a:lstStyle/>
                    <a:p>
                      <a:pPr algn="l"/>
                      <a:r>
                        <a:rPr sz="1100" b="1" i="0">
                          <a:solidFill>
                            <a:srgbClr val="000000"/>
                          </a:solidFill>
                          <a:latin typeface="Calibri"/>
                        </a:rPr>
                        <a:t>25.</a:t>
                      </a:r>
                      <a:r>
                        <a:rPr sz="700" b="1" i="0">
                          <a:solidFill>
                            <a:srgbClr val="000000"/>
                          </a:solidFill>
                          <a:latin typeface="Times New Roman"/>
                        </a:rPr>
                        <a:t>    </a:t>
                      </a:r>
                      <a:r>
                        <a:rPr sz="1100" b="1" i="0">
                          <a:solidFill>
                            <a:srgbClr val="000000"/>
                          </a:solidFill>
                          <a:latin typeface="Calibri"/>
                        </a:rPr>
                        <a:t>Research Methodology</a:t>
                      </a:r>
                      <a:endParaRPr sz="1100"/>
                    </a:p>
                  </a:txBody>
                  <a:tcPr marL="171450" marR="9525" marT="9525" marB="0" anchor="ctr"/>
                </a:tc>
                <a:extLst>
                  <a:ext uri="{0D108BD9-81ED-4DB2-BD59-A6C34878D82A}">
                    <a16:rowId xmlns:a16="http://schemas.microsoft.com/office/drawing/2014/main" val="10022"/>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0E72AE"/>
                </a:solidFill>
                <a:latin typeface="Calibri"/>
              </a:rPr>
              <a:t>Prenatal Vitamin Supplements Market</a:t>
            </a:r>
          </a:p>
        </p:txBody>
      </p:sp>
      <p:sp>
        <p:nvSpPr>
          <p:cNvPr id="10" name="FMI Section Title"/>
          <p:cNvSpPr txBox="1"/>
          <p:nvPr/>
        </p:nvSpPr>
        <p:spPr>
          <a:xfrm>
            <a:off x="914400" y="3292475"/>
            <a:ext cx="8572500" cy="514350"/>
          </a:xfrm>
          <a:prstGeom prst="rect">
            <a:avLst/>
          </a:prstGeom>
          <a:noFill/>
        </p:spPr>
        <p:txBody>
          <a:bodyPr wrap="square" lIns="0" tIns="0" rIns="0">
            <a:spAutoFit/>
          </a:bodyPr>
          <a:lstStyle/>
          <a:p>
            <a:r>
              <a:rPr sz="3000" b="1">
                <a:solidFill>
                  <a:srgbClr val="0B3C8C"/>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Every figure in the full study, by analysis block</a:t>
            </a:r>
          </a:p>
          <a:p>
            <a:pPr marL="342900" indent="-323850">
              <a:lnSpc>
                <a:spcPct val="100000"/>
              </a:lnSpc>
              <a:spcAft>
                <a:spcPts val="800"/>
              </a:spcAft>
            </a:pPr>
            <a:r>
              <a:rPr sz="2000" b="0">
                <a:solidFill>
                  <a:srgbClr val="000000"/>
                </a:solidFill>
                <a:latin typeface="Calibri"/>
              </a:rPr>
              <a:t>➤	Every table in the full study, by analysis block</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List of Figures (1/3)</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69606">
                <a:tc>
                  <a:txBody>
                    <a:bodyPr/>
                    <a:lstStyle/>
                    <a:p>
                      <a:pPr algn="l"/>
                      <a:r>
                        <a:rPr sz="1050" b="0" i="0">
                          <a:solidFill>
                            <a:srgbClr val="000000"/>
                          </a:solidFill>
                          <a:latin typeface="Calibri"/>
                        </a:rPr>
                        <a:t>Figure 1: USA Market Value and YoY Growth, US$ Mn and %, 2021–2036</a:t>
                      </a:r>
                      <a:endParaRPr sz="1050"/>
                    </a:p>
                  </a:txBody>
                  <a:tcPr marL="9525" marR="9525" marT="9525" marB="0" anchor="ctr"/>
                </a:tc>
                <a:extLst>
                  <a:ext uri="{0D108BD9-81ED-4DB2-BD59-A6C34878D82A}">
                    <a16:rowId xmlns:a16="http://schemas.microsoft.com/office/drawing/2014/main" val="10000"/>
                  </a:ext>
                </a:extLst>
              </a:tr>
              <a:tr h="169606">
                <a:tc>
                  <a:txBody>
                    <a:bodyPr/>
                    <a:lstStyle/>
                    <a:p>
                      <a:pPr algn="l"/>
                      <a:r>
                        <a:rPr sz="1050" b="0" i="0">
                          <a:solidFill>
                            <a:srgbClr val="000000"/>
                          </a:solidFill>
                          <a:latin typeface="Calibri"/>
                        </a:rPr>
                        <a:t>Figure 2: USA Market Value Snapshot, US$ Mn, 2026 and 2036</a:t>
                      </a:r>
                      <a:endParaRPr sz="1050"/>
                    </a:p>
                  </a:txBody>
                  <a:tcPr marL="9525" marR="9525" marT="9525" marB="0" anchor="ctr"/>
                </a:tc>
                <a:extLst>
                  <a:ext uri="{0D108BD9-81ED-4DB2-BD59-A6C34878D82A}">
                    <a16:rowId xmlns:a16="http://schemas.microsoft.com/office/drawing/2014/main" val="10001"/>
                  </a:ext>
                </a:extLst>
              </a:tr>
              <a:tr h="169606">
                <a:tc>
                  <a:txBody>
                    <a:bodyPr/>
                    <a:lstStyle/>
                    <a:p>
                      <a:pPr algn="l"/>
                      <a:r>
                        <a:rPr sz="1050" b="0" i="0">
                          <a:solidFill>
                            <a:srgbClr val="000000"/>
                          </a:solidFill>
                          <a:latin typeface="Calibri"/>
                        </a:rPr>
                        <a:t>Figure 3: USA Market Taxonomy by Segment, 2026</a:t>
                      </a:r>
                      <a:endParaRPr sz="1050"/>
                    </a:p>
                  </a:txBody>
                  <a:tcPr marL="9525" marR="9525" marT="9525" marB="0" anchor="ctr"/>
                </a:tc>
                <a:extLst>
                  <a:ext uri="{0D108BD9-81ED-4DB2-BD59-A6C34878D82A}">
                    <a16:rowId xmlns:a16="http://schemas.microsoft.com/office/drawing/2014/main" val="10002"/>
                  </a:ext>
                </a:extLst>
              </a:tr>
              <a:tr h="169606">
                <a:tc>
                  <a:txBody>
                    <a:bodyPr/>
                    <a:lstStyle/>
                    <a:p>
                      <a:pPr algn="l"/>
                      <a:r>
                        <a:rPr sz="1050" b="0" i="0">
                          <a:solidFill>
                            <a:srgbClr val="000000"/>
                          </a:solidFill>
                          <a:latin typeface="Calibri"/>
                        </a:rPr>
                        <a:t>Figure 4: USA Market Share by Product Format, %, 2026</a:t>
                      </a:r>
                      <a:endParaRPr sz="1050"/>
                    </a:p>
                  </a:txBody>
                  <a:tcPr marL="9525" marR="9525" marT="9525" marB="0" anchor="ctr"/>
                </a:tc>
                <a:extLst>
                  <a:ext uri="{0D108BD9-81ED-4DB2-BD59-A6C34878D82A}">
                    <a16:rowId xmlns:a16="http://schemas.microsoft.com/office/drawing/2014/main" val="10003"/>
                  </a:ext>
                </a:extLst>
              </a:tr>
              <a:tr h="169606">
                <a:tc>
                  <a:txBody>
                    <a:bodyPr/>
                    <a:lstStyle/>
                    <a:p>
                      <a:pPr algn="l"/>
                      <a:r>
                        <a:rPr sz="1050" b="0" i="0">
                          <a:solidFill>
                            <a:srgbClr val="000000"/>
                          </a:solidFill>
                          <a:latin typeface="Calibri"/>
                        </a:rPr>
                        <a:t>Figure 5: USA Market Share by Product Type, %, 2026</a:t>
                      </a:r>
                      <a:endParaRPr sz="1050"/>
                    </a:p>
                  </a:txBody>
                  <a:tcPr marL="9525" marR="9525" marT="9525" marB="0" anchor="ctr"/>
                </a:tc>
                <a:extLst>
                  <a:ext uri="{0D108BD9-81ED-4DB2-BD59-A6C34878D82A}">
                    <a16:rowId xmlns:a16="http://schemas.microsoft.com/office/drawing/2014/main" val="10004"/>
                  </a:ext>
                </a:extLst>
              </a:tr>
              <a:tr h="169606">
                <a:tc>
                  <a:txBody>
                    <a:bodyPr/>
                    <a:lstStyle/>
                    <a:p>
                      <a:pPr algn="l"/>
                      <a:r>
                        <a:rPr sz="1050" b="0" i="0">
                          <a:solidFill>
                            <a:srgbClr val="000000"/>
                          </a:solidFill>
                          <a:latin typeface="Calibri"/>
                        </a:rPr>
                        <a:t>Figure 6: USA Market Share by Sales Channel, %, 2026</a:t>
                      </a:r>
                      <a:endParaRPr sz="1050"/>
                    </a:p>
                  </a:txBody>
                  <a:tcPr marL="9525" marR="9525" marT="9525" marB="0" anchor="ctr"/>
                </a:tc>
                <a:extLst>
                  <a:ext uri="{0D108BD9-81ED-4DB2-BD59-A6C34878D82A}">
                    <a16:rowId xmlns:a16="http://schemas.microsoft.com/office/drawing/2014/main" val="10005"/>
                  </a:ext>
                </a:extLst>
              </a:tr>
              <a:tr h="169606">
                <a:tc>
                  <a:txBody>
                    <a:bodyPr/>
                    <a:lstStyle/>
                    <a:p>
                      <a:pPr algn="l"/>
                      <a:r>
                        <a:rPr sz="1050" b="0" i="0">
                          <a:solidFill>
                            <a:srgbClr val="000000"/>
                          </a:solidFill>
                          <a:latin typeface="Calibri"/>
                        </a:rPr>
                        <a:t>Figure 7: USA Market Incremental $ Opportunity, US$ Mn, 2026–2036</a:t>
                      </a:r>
                      <a:endParaRPr sz="1050"/>
                    </a:p>
                  </a:txBody>
                  <a:tcPr marL="9525" marR="9525" marT="9525" marB="0" anchor="ctr"/>
                </a:tc>
                <a:extLst>
                  <a:ext uri="{0D108BD9-81ED-4DB2-BD59-A6C34878D82A}">
                    <a16:rowId xmlns:a16="http://schemas.microsoft.com/office/drawing/2014/main" val="10006"/>
                  </a:ext>
                </a:extLst>
              </a:tr>
              <a:tr h="169606">
                <a:tc>
                  <a:txBody>
                    <a:bodyPr/>
                    <a:lstStyle/>
                    <a:p>
                      <a:pPr algn="l"/>
                      <a:r>
                        <a:rPr sz="1050" b="0" i="0">
                          <a:solidFill>
                            <a:srgbClr val="000000"/>
                          </a:solidFill>
                          <a:latin typeface="Calibri"/>
                        </a:rPr>
                        <a:t>Figure 8: USA Market Key Demand Drivers Impact Assessment, 2026–2036</a:t>
                      </a:r>
                      <a:endParaRPr sz="1050"/>
                    </a:p>
                  </a:txBody>
                  <a:tcPr marL="9525" marR="9525" marT="9525" marB="0" anchor="ctr"/>
                </a:tc>
                <a:extLst>
                  <a:ext uri="{0D108BD9-81ED-4DB2-BD59-A6C34878D82A}">
                    <a16:rowId xmlns:a16="http://schemas.microsoft.com/office/drawing/2014/main" val="10007"/>
                  </a:ext>
                </a:extLst>
              </a:tr>
              <a:tr h="169606">
                <a:tc>
                  <a:txBody>
                    <a:bodyPr/>
                    <a:lstStyle/>
                    <a:p>
                      <a:pPr algn="l"/>
                      <a:r>
                        <a:rPr sz="1050" b="0" i="0">
                          <a:solidFill>
                            <a:srgbClr val="000000"/>
                          </a:solidFill>
                          <a:latin typeface="Calibri"/>
                        </a:rPr>
                        <a:t>Figure 9: USA Market Key Restraints Impact Assessment, 2026–2036</a:t>
                      </a:r>
                      <a:endParaRPr sz="1050"/>
                    </a:p>
                  </a:txBody>
                  <a:tcPr marL="9525" marR="9525" marT="9525" marB="0" anchor="ctr"/>
                </a:tc>
                <a:extLst>
                  <a:ext uri="{0D108BD9-81ED-4DB2-BD59-A6C34878D82A}">
                    <a16:rowId xmlns:a16="http://schemas.microsoft.com/office/drawing/2014/main" val="10008"/>
                  </a:ext>
                </a:extLst>
              </a:tr>
              <a:tr h="169606">
                <a:tc>
                  <a:txBody>
                    <a:bodyPr/>
                    <a:lstStyle/>
                    <a:p>
                      <a:pPr algn="l"/>
                      <a:r>
                        <a:rPr sz="1050" b="0" i="0">
                          <a:solidFill>
                            <a:srgbClr val="000000"/>
                          </a:solidFill>
                          <a:latin typeface="Calibri"/>
                        </a:rPr>
                        <a:t>Figure 10: USA Market Value Forecast by Scenario, US$ Mn, 2026–2036</a:t>
                      </a:r>
                      <a:endParaRPr sz="1050"/>
                    </a:p>
                  </a:txBody>
                  <a:tcPr marL="9525" marR="9525" marT="9525" marB="0" anchor="ctr"/>
                </a:tc>
                <a:extLst>
                  <a:ext uri="{0D108BD9-81ED-4DB2-BD59-A6C34878D82A}">
                    <a16:rowId xmlns:a16="http://schemas.microsoft.com/office/drawing/2014/main" val="10009"/>
                  </a:ext>
                </a:extLst>
              </a:tr>
              <a:tr h="169606">
                <a:tc>
                  <a:txBody>
                    <a:bodyPr/>
                    <a:lstStyle/>
                    <a:p>
                      <a:pPr algn="l"/>
                      <a:r>
                        <a:rPr sz="1050" b="0" i="0">
                          <a:solidFill>
                            <a:srgbClr val="000000"/>
                          </a:solidFill>
                          <a:latin typeface="Calibri"/>
                        </a:rPr>
                        <a:t>Figure 11: USA Market Supply-Side Trends Assessment, 2026</a:t>
                      </a:r>
                      <a:endParaRPr sz="1050"/>
                    </a:p>
                  </a:txBody>
                  <a:tcPr marL="9525" marR="9525" marT="9525" marB="0" anchor="ctr"/>
                </a:tc>
                <a:extLst>
                  <a:ext uri="{0D108BD9-81ED-4DB2-BD59-A6C34878D82A}">
                    <a16:rowId xmlns:a16="http://schemas.microsoft.com/office/drawing/2014/main" val="10010"/>
                  </a:ext>
                </a:extLst>
              </a:tr>
              <a:tr h="169606">
                <a:tc>
                  <a:txBody>
                    <a:bodyPr/>
                    <a:lstStyle/>
                    <a:p>
                      <a:pPr algn="l"/>
                      <a:r>
                        <a:rPr sz="1050" b="0" i="0">
                          <a:solidFill>
                            <a:srgbClr val="000000"/>
                          </a:solidFill>
                          <a:latin typeface="Calibri"/>
                        </a:rPr>
                        <a:t>Figure 12: USA Market Historical Value, US$ Mn, 2021–2025</a:t>
                      </a:r>
                      <a:endParaRPr sz="1050"/>
                    </a:p>
                  </a:txBody>
                  <a:tcPr marL="9525" marR="9525" marT="9525" marB="0" anchor="ctr"/>
                </a:tc>
                <a:extLst>
                  <a:ext uri="{0D108BD9-81ED-4DB2-BD59-A6C34878D82A}">
                    <a16:rowId xmlns:a16="http://schemas.microsoft.com/office/drawing/2014/main" val="10011"/>
                  </a:ext>
                </a:extLst>
              </a:tr>
              <a:tr h="169606">
                <a:tc>
                  <a:txBody>
                    <a:bodyPr/>
                    <a:lstStyle/>
                    <a:p>
                      <a:pPr algn="l"/>
                      <a:r>
                        <a:rPr sz="1050" b="0" i="0">
                          <a:solidFill>
                            <a:srgbClr val="000000"/>
                          </a:solidFill>
                          <a:latin typeface="Calibri"/>
                        </a:rPr>
                        <a:t>Figure 13: USA Market Forecast Value, US$ Mn, 2026–2036</a:t>
                      </a:r>
                      <a:endParaRPr sz="1050"/>
                    </a:p>
                  </a:txBody>
                  <a:tcPr marL="9525" marR="9525" marT="9525" marB="0" anchor="ctr"/>
                </a:tc>
                <a:extLst>
                  <a:ext uri="{0D108BD9-81ED-4DB2-BD59-A6C34878D82A}">
                    <a16:rowId xmlns:a16="http://schemas.microsoft.com/office/drawing/2014/main" val="10012"/>
                  </a:ext>
                </a:extLst>
              </a:tr>
              <a:tr h="169606">
                <a:tc>
                  <a:txBody>
                    <a:bodyPr/>
                    <a:lstStyle/>
                    <a:p>
                      <a:pPr algn="l"/>
                      <a:r>
                        <a:rPr sz="1050" b="0" i="0">
                          <a:solidFill>
                            <a:srgbClr val="000000"/>
                          </a:solidFill>
                          <a:latin typeface="Calibri"/>
                        </a:rPr>
                        <a:t>Figure 14: USA Market YoY Growth, %, 2021–2036</a:t>
                      </a:r>
                      <a:endParaRPr sz="1050"/>
                    </a:p>
                  </a:txBody>
                  <a:tcPr marL="9525" marR="9525" marT="9525" marB="0" anchor="ctr"/>
                </a:tc>
                <a:extLst>
                  <a:ext uri="{0D108BD9-81ED-4DB2-BD59-A6C34878D82A}">
                    <a16:rowId xmlns:a16="http://schemas.microsoft.com/office/drawing/2014/main" val="10013"/>
                  </a:ext>
                </a:extLst>
              </a:tr>
              <a:tr h="169606">
                <a:tc>
                  <a:txBody>
                    <a:bodyPr/>
                    <a:lstStyle/>
                    <a:p>
                      <a:pPr algn="l"/>
                      <a:r>
                        <a:rPr sz="1050" b="0" i="0">
                          <a:solidFill>
                            <a:srgbClr val="000000"/>
                          </a:solidFill>
                          <a:latin typeface="Calibri"/>
                        </a:rPr>
                        <a:t>Figure 15: USA Market Volume and YoY Growth, Mn Units and %, 2021–2036</a:t>
                      </a:r>
                      <a:endParaRPr sz="1050"/>
                    </a:p>
                  </a:txBody>
                  <a:tcPr marL="9525" marR="9525" marT="9525" marB="0" anchor="ctr"/>
                </a:tc>
                <a:extLst>
                  <a:ext uri="{0D108BD9-81ED-4DB2-BD59-A6C34878D82A}">
                    <a16:rowId xmlns:a16="http://schemas.microsoft.com/office/drawing/2014/main" val="10014"/>
                  </a:ext>
                </a:extLst>
              </a:tr>
              <a:tr h="169606">
                <a:tc>
                  <a:txBody>
                    <a:bodyPr/>
                    <a:lstStyle/>
                    <a:p>
                      <a:pPr algn="l"/>
                      <a:r>
                        <a:rPr sz="1050" b="0" i="0">
                          <a:solidFill>
                            <a:srgbClr val="000000"/>
                          </a:solidFill>
                          <a:latin typeface="Calibri"/>
                        </a:rPr>
                        <a:t>Figure 16: USA Market Volume vs Value CAGR Comparison, %, 2026–2036</a:t>
                      </a:r>
                      <a:endParaRPr sz="1050"/>
                    </a:p>
                  </a:txBody>
                  <a:tcPr marL="9525" marR="9525" marT="9525" marB="0" anchor="ctr"/>
                </a:tc>
                <a:extLst>
                  <a:ext uri="{0D108BD9-81ED-4DB2-BD59-A6C34878D82A}">
                    <a16:rowId xmlns:a16="http://schemas.microsoft.com/office/drawing/2014/main" val="10015"/>
                  </a:ext>
                </a:extLst>
              </a:tr>
              <a:tr h="169606">
                <a:tc>
                  <a:txBody>
                    <a:bodyPr/>
                    <a:lstStyle/>
                    <a:p>
                      <a:pPr algn="l"/>
                      <a:r>
                        <a:rPr sz="1050" b="0" i="0">
                          <a:solidFill>
                            <a:srgbClr val="000000"/>
                          </a:solidFill>
                          <a:latin typeface="Calibri"/>
                        </a:rPr>
                        <a:t>Figure 17: USA Market Average Selling Price, US$/Units, 2021–2036</a:t>
                      </a:r>
                      <a:endParaRPr sz="1050"/>
                    </a:p>
                  </a:txBody>
                  <a:tcPr marL="9525" marR="9525" marT="9525" marB="0" anchor="ctr"/>
                </a:tc>
                <a:extLst>
                  <a:ext uri="{0D108BD9-81ED-4DB2-BD59-A6C34878D82A}">
                    <a16:rowId xmlns:a16="http://schemas.microsoft.com/office/drawing/2014/main" val="10016"/>
                  </a:ext>
                </a:extLst>
              </a:tr>
              <a:tr h="169606">
                <a:tc>
                  <a:txBody>
                    <a:bodyPr/>
                    <a:lstStyle/>
                    <a:p>
                      <a:pPr algn="l"/>
                      <a:r>
                        <a:rPr sz="1050" b="0" i="0">
                          <a:solidFill>
                            <a:srgbClr val="000000"/>
                          </a:solidFill>
                          <a:latin typeface="Calibri"/>
                        </a:rPr>
                        <a:t>Figure 18: USA Market Absolute $ Opportunity, US$ Mn, 2026–2036</a:t>
                      </a:r>
                      <a:endParaRPr sz="1050"/>
                    </a:p>
                  </a:txBody>
                  <a:tcPr marL="9525" marR="9525" marT="9525" marB="0" anchor="ctr"/>
                </a:tc>
                <a:extLst>
                  <a:ext uri="{0D108BD9-81ED-4DB2-BD59-A6C34878D82A}">
                    <a16:rowId xmlns:a16="http://schemas.microsoft.com/office/drawing/2014/main" val="10017"/>
                  </a:ext>
                </a:extLst>
              </a:tr>
              <a:tr h="169606">
                <a:tc>
                  <a:txBody>
                    <a:bodyPr/>
                    <a:lstStyle/>
                    <a:p>
                      <a:pPr algn="l"/>
                      <a:r>
                        <a:rPr sz="1050" b="0" i="0">
                          <a:solidFill>
                            <a:srgbClr val="000000"/>
                          </a:solidFill>
                          <a:latin typeface="Calibri"/>
                        </a:rPr>
                        <a:t>Figure 19: USA Market Incremental Opportunity by Year, US$ Mn, 2026–2036</a:t>
                      </a:r>
                      <a:endParaRPr sz="1050"/>
                    </a:p>
                  </a:txBody>
                  <a:tcPr marL="9525" marR="9525" marT="9525" marB="0" anchor="ctr"/>
                </a:tc>
                <a:extLst>
                  <a:ext uri="{0D108BD9-81ED-4DB2-BD59-A6C34878D82A}">
                    <a16:rowId xmlns:a16="http://schemas.microsoft.com/office/drawing/2014/main" val="10018"/>
                  </a:ext>
                </a:extLst>
              </a:tr>
              <a:tr h="169606">
                <a:tc>
                  <a:txBody>
                    <a:bodyPr/>
                    <a:lstStyle/>
                    <a:p>
                      <a:pPr algn="l"/>
                      <a:r>
                        <a:rPr sz="1050" b="0" i="0">
                          <a:solidFill>
                            <a:srgbClr val="000000"/>
                          </a:solidFill>
                          <a:latin typeface="Calibri"/>
                        </a:rPr>
                        <a:t>Figure 20: USA Market Historical vs Forecast CAGR, %, 2021–2036</a:t>
                      </a:r>
                      <a:endParaRPr sz="1050"/>
                    </a:p>
                  </a:txBody>
                  <a:tcPr marL="9525" marR="9525" marT="9525" marB="0" anchor="ctr"/>
                </a:tc>
                <a:extLst>
                  <a:ext uri="{0D108BD9-81ED-4DB2-BD59-A6C34878D82A}">
                    <a16:rowId xmlns:a16="http://schemas.microsoft.com/office/drawing/2014/main" val="10019"/>
                  </a:ext>
                </a:extLst>
              </a:tr>
              <a:tr h="169606">
                <a:tc>
                  <a:txBody>
                    <a:bodyPr/>
                    <a:lstStyle/>
                    <a:p>
                      <a:pPr algn="l"/>
                      <a:r>
                        <a:rPr sz="1050" b="0" i="0">
                          <a:solidFill>
                            <a:srgbClr val="000000"/>
                          </a:solidFill>
                          <a:latin typeface="Calibri"/>
                        </a:rPr>
                        <a:t>Figure 21: USA Market Value by Scenario (Optimistic, Likely, Pessimistic), US$ Mn, 2026–2036</a:t>
                      </a:r>
                      <a:endParaRPr sz="1050"/>
                    </a:p>
                  </a:txBody>
                  <a:tcPr marL="9525" marR="9525" marT="9525" marB="0" anchor="ctr"/>
                </a:tc>
                <a:extLst>
                  <a:ext uri="{0D108BD9-81ED-4DB2-BD59-A6C34878D82A}">
                    <a16:rowId xmlns:a16="http://schemas.microsoft.com/office/drawing/2014/main" val="10020"/>
                  </a:ext>
                </a:extLst>
              </a:tr>
              <a:tr h="169606">
                <a:tc>
                  <a:txBody>
                    <a:bodyPr/>
                    <a:lstStyle/>
                    <a:p>
                      <a:pPr algn="l"/>
                      <a:r>
                        <a:rPr sz="1050" b="0" i="0">
                          <a:solidFill>
                            <a:srgbClr val="000000"/>
                          </a:solidFill>
                          <a:latin typeface="Calibri"/>
                        </a:rPr>
                        <a:t>Figure 22: USA Market Size Evolution Index, 2025=100, 2021–2036</a:t>
                      </a:r>
                      <a:endParaRPr sz="1050"/>
                    </a:p>
                  </a:txBody>
                  <a:tcPr marL="9525" marR="9525" marT="9525" marB="0" anchor="ctr"/>
                </a:tc>
                <a:extLst>
                  <a:ext uri="{0D108BD9-81ED-4DB2-BD59-A6C34878D82A}">
                    <a16:rowId xmlns:a16="http://schemas.microsoft.com/office/drawing/2014/main" val="10021"/>
                  </a:ext>
                </a:extLst>
              </a:tr>
              <a:tr h="169606">
                <a:tc>
                  <a:txBody>
                    <a:bodyPr/>
                    <a:lstStyle/>
                    <a:p>
                      <a:pPr algn="l"/>
                      <a:r>
                        <a:rPr sz="1050" b="0" i="0">
                          <a:solidFill>
                            <a:srgbClr val="000000"/>
                          </a:solidFill>
                          <a:latin typeface="Calibri"/>
                        </a:rPr>
                        <a:t>Figure 23: USA Market Cumulative Value Addition, US$ Mn, 2026–2036</a:t>
                      </a:r>
                      <a:endParaRPr sz="1050"/>
                    </a:p>
                  </a:txBody>
                  <a:tcPr marL="9525" marR="9525" marT="9525" marB="0" anchor="ctr"/>
                </a:tc>
                <a:extLst>
                  <a:ext uri="{0D108BD9-81ED-4DB2-BD59-A6C34878D82A}">
                    <a16:rowId xmlns:a16="http://schemas.microsoft.com/office/drawing/2014/main" val="10022"/>
                  </a:ext>
                </a:extLst>
              </a:tr>
              <a:tr h="169606">
                <a:tc>
                  <a:txBody>
                    <a:bodyPr/>
                    <a:lstStyle/>
                    <a:p>
                      <a:pPr algn="l"/>
                      <a:r>
                        <a:rPr sz="1050" b="0" i="0">
                          <a:solidFill>
                            <a:srgbClr val="000000"/>
                          </a:solidFill>
                          <a:latin typeface="Calibri"/>
                        </a:rPr>
                        <a:t>Figure 24: USA Market Five-Year Absolute $ Opportunity, US$ Mn, 2026–2031</a:t>
                      </a:r>
                      <a:endParaRPr sz="1050"/>
                    </a:p>
                  </a:txBody>
                  <a:tcPr marL="9525" marR="9525" marT="9525" marB="0" anchor="ctr"/>
                </a:tc>
                <a:extLst>
                  <a:ext uri="{0D108BD9-81ED-4DB2-BD59-A6C34878D82A}">
                    <a16:rowId xmlns:a16="http://schemas.microsoft.com/office/drawing/2014/main" val="10023"/>
                  </a:ext>
                </a:extLst>
              </a:tr>
              <a:tr h="169606">
                <a:tc>
                  <a:txBody>
                    <a:bodyPr/>
                    <a:lstStyle/>
                    <a:p>
                      <a:pPr algn="l"/>
                      <a:r>
                        <a:rPr sz="1050" b="0" i="0">
                          <a:solidFill>
                            <a:srgbClr val="000000"/>
                          </a:solidFill>
                          <a:latin typeface="Calibri"/>
                        </a:rPr>
                        <a:t>Figure 25: USA Market Value by Product Format, US$ Mn, 2021–2036</a:t>
                      </a:r>
                      <a:endParaRPr sz="1050"/>
                    </a:p>
                  </a:txBody>
                  <a:tcPr marL="9525" marR="9525" marT="9525" marB="0" anchor="ctr"/>
                </a:tc>
                <a:extLst>
                  <a:ext uri="{0D108BD9-81ED-4DB2-BD59-A6C34878D82A}">
                    <a16:rowId xmlns:a16="http://schemas.microsoft.com/office/drawing/2014/main" val="10024"/>
                  </a:ext>
                </a:extLst>
              </a:tr>
              <a:tr h="169606">
                <a:tc>
                  <a:txBody>
                    <a:bodyPr/>
                    <a:lstStyle/>
                    <a:p>
                      <a:pPr algn="l"/>
                      <a:r>
                        <a:rPr sz="1050" b="0" i="0">
                          <a:solidFill>
                            <a:srgbClr val="000000"/>
                          </a:solidFill>
                          <a:latin typeface="Calibri"/>
                        </a:rPr>
                        <a:t>Figure 26: USA Market Value by Product Type, US$ Mn, 2021–2036</a:t>
                      </a:r>
                      <a:endParaRPr sz="1050"/>
                    </a:p>
                  </a:txBody>
                  <a:tcPr marL="9525" marR="9525" marT="9525" marB="0" anchor="ctr"/>
                </a:tc>
                <a:extLst>
                  <a:ext uri="{0D108BD9-81ED-4DB2-BD59-A6C34878D82A}">
                    <a16:rowId xmlns:a16="http://schemas.microsoft.com/office/drawing/2014/main" val="10025"/>
                  </a:ext>
                </a:extLst>
              </a:tr>
              <a:tr h="169606">
                <a:tc>
                  <a:txBody>
                    <a:bodyPr/>
                    <a:lstStyle/>
                    <a:p>
                      <a:pPr algn="l"/>
                      <a:r>
                        <a:rPr sz="1050" b="0" i="0">
                          <a:solidFill>
                            <a:srgbClr val="000000"/>
                          </a:solidFill>
                          <a:latin typeface="Calibri"/>
                        </a:rPr>
                        <a:t>Figure 27: USA Market Value by Sales Channel, US$ Mn, 2021–2036</a:t>
                      </a:r>
                      <a:endParaRPr sz="1050"/>
                    </a:p>
                  </a:txBody>
                  <a:tcPr marL="9525" marR="9525" marT="9525" marB="0" anchor="ctr"/>
                </a:tc>
                <a:extLst>
                  <a:ext uri="{0D108BD9-81ED-4DB2-BD59-A6C34878D82A}">
                    <a16:rowId xmlns:a16="http://schemas.microsoft.com/office/drawing/2014/main" val="10026"/>
                  </a:ext>
                </a:extLst>
              </a:tr>
              <a:tr h="169606">
                <a:tc>
                  <a:txBody>
                    <a:bodyPr/>
                    <a:lstStyle/>
                    <a:p>
                      <a:pPr algn="l"/>
                      <a:r>
                        <a:rPr sz="1050" b="0" i="0">
                          <a:solidFill>
                            <a:srgbClr val="000000"/>
                          </a:solidFill>
                          <a:latin typeface="Calibri"/>
                        </a:rPr>
                        <a:t>Figure 28: USA Market Share by Product Format, %, 2026 and 2036</a:t>
                      </a:r>
                      <a:endParaRPr sz="1050"/>
                    </a:p>
                  </a:txBody>
                  <a:tcPr marL="9525" marR="9525" marT="9525" marB="0" anchor="ctr"/>
                </a:tc>
                <a:extLst>
                  <a:ext uri="{0D108BD9-81ED-4DB2-BD59-A6C34878D82A}">
                    <a16:rowId xmlns:a16="http://schemas.microsoft.com/office/drawing/2014/main" val="10027"/>
                  </a:ext>
                </a:extLst>
              </a:tr>
              <a:tr h="169606">
                <a:tc>
                  <a:txBody>
                    <a:bodyPr/>
                    <a:lstStyle/>
                    <a:p>
                      <a:pPr algn="l"/>
                      <a:r>
                        <a:rPr sz="1050" b="0" i="0">
                          <a:solidFill>
                            <a:srgbClr val="000000"/>
                          </a:solidFill>
                          <a:latin typeface="Calibri"/>
                        </a:rPr>
                        <a:t>Figure 29: USA Market Share by Product Type, %, 2026 and 2036</a:t>
                      </a:r>
                      <a:endParaRPr sz="1050"/>
                    </a:p>
                  </a:txBody>
                  <a:tcPr marL="9525" marR="9525" marT="9525" marB="0" anchor="ctr"/>
                </a:tc>
                <a:extLst>
                  <a:ext uri="{0D108BD9-81ED-4DB2-BD59-A6C34878D82A}">
                    <a16:rowId xmlns:a16="http://schemas.microsoft.com/office/drawing/2014/main" val="10028"/>
                  </a:ext>
                </a:extLst>
              </a:tr>
              <a:tr h="169606">
                <a:tc>
                  <a:txBody>
                    <a:bodyPr/>
                    <a:lstStyle/>
                    <a:p>
                      <a:pPr algn="l"/>
                      <a:r>
                        <a:rPr sz="1050" b="0" i="0">
                          <a:solidFill>
                            <a:srgbClr val="000000"/>
                          </a:solidFill>
                          <a:latin typeface="Calibri"/>
                        </a:rPr>
                        <a:t>Figure 30: USA Market Share by Sales Channel, %, 2026 and 2036</a:t>
                      </a:r>
                      <a:endParaRPr sz="1050"/>
                    </a:p>
                  </a:txBody>
                  <a:tcPr marL="9525" marR="9525" marT="9525" marB="0" anchor="ctr"/>
                </a:tc>
                <a:extLst>
                  <a:ext uri="{0D108BD9-81ED-4DB2-BD59-A6C34878D82A}">
                    <a16:rowId xmlns:a16="http://schemas.microsoft.com/office/drawing/2014/main" val="10029"/>
                  </a:ext>
                </a:extLst>
              </a:tr>
              <a:tr h="169606">
                <a:tc>
                  <a:txBody>
                    <a:bodyPr/>
                    <a:lstStyle/>
                    <a:p>
                      <a:pPr algn="l"/>
                      <a:r>
                        <a:rPr sz="1050" b="0" i="0">
                          <a:solidFill>
                            <a:srgbClr val="000000"/>
                          </a:solidFill>
                          <a:latin typeface="Calibri"/>
                        </a:rPr>
                        <a:t>Figure 31: USA Market Absolute $ Opportunity by Product Format, US$ Mn, 2026–2036</a:t>
                      </a:r>
                      <a:endParaRPr sz="1050"/>
                    </a:p>
                  </a:txBody>
                  <a:tcPr marL="9525" marR="9525" marT="9525" marB="0" anchor="ctr"/>
                </a:tc>
                <a:extLst>
                  <a:ext uri="{0D108BD9-81ED-4DB2-BD59-A6C34878D82A}">
                    <a16:rowId xmlns:a16="http://schemas.microsoft.com/office/drawing/2014/main" val="10030"/>
                  </a:ext>
                </a:extLst>
              </a:tr>
            </a:tbl>
          </a:graphicData>
        </a:graphic>
      </p:graphicFrame>
      <p:graphicFrame>
        <p:nvGraphicFramePr>
          <p:cNvPr id="10" name="FMI Contents Table"/>
          <p:cNvGraphicFramePr>
            <a:graphicFrameLocks noGrp="1"/>
          </p:cNvGraphicFramePr>
          <p:nvPr/>
        </p:nvGraphicFramePr>
        <p:xfrm>
          <a:off x="6172200" y="981075"/>
          <a:ext cx="5876925" cy="5257803"/>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5964">
                <a:tc>
                  <a:txBody>
                    <a:bodyPr/>
                    <a:lstStyle/>
                    <a:p>
                      <a:pPr algn="l"/>
                      <a:r>
                        <a:rPr sz="1050" b="0" i="0">
                          <a:solidFill>
                            <a:srgbClr val="000000"/>
                          </a:solidFill>
                          <a:latin typeface="Calibri"/>
                        </a:rPr>
                        <a:t>Figure 32: USA Market Absolute $ Opportunity by Product Type, US$ Mn, 2026–2036</a:t>
                      </a:r>
                      <a:endParaRPr sz="1050"/>
                    </a:p>
                  </a:txBody>
                  <a:tcPr marL="9525" marR="9525" marT="9525" marB="0" anchor="ctr"/>
                </a:tc>
                <a:extLst>
                  <a:ext uri="{0D108BD9-81ED-4DB2-BD59-A6C34878D82A}">
                    <a16:rowId xmlns:a16="http://schemas.microsoft.com/office/drawing/2014/main" val="10000"/>
                  </a:ext>
                </a:extLst>
              </a:tr>
              <a:tr h="175964">
                <a:tc>
                  <a:txBody>
                    <a:bodyPr/>
                    <a:lstStyle/>
                    <a:p>
                      <a:pPr algn="l"/>
                      <a:r>
                        <a:rPr sz="1050" b="0" i="0">
                          <a:solidFill>
                            <a:srgbClr val="000000"/>
                          </a:solidFill>
                          <a:latin typeface="Calibri"/>
                        </a:rPr>
                        <a:t>Figure 33: USA Market Absolute $ Opportunity by Sales Channel, US$ Mn, 2026–2036</a:t>
                      </a:r>
                      <a:endParaRPr sz="1050"/>
                    </a:p>
                  </a:txBody>
                  <a:tcPr marL="9525" marR="9525" marT="9525" marB="0" anchor="ctr"/>
                </a:tc>
                <a:extLst>
                  <a:ext uri="{0D108BD9-81ED-4DB2-BD59-A6C34878D82A}">
                    <a16:rowId xmlns:a16="http://schemas.microsoft.com/office/drawing/2014/main" val="10001"/>
                  </a:ext>
                </a:extLst>
              </a:tr>
              <a:tr h="175964">
                <a:tc>
                  <a:txBody>
                    <a:bodyPr/>
                    <a:lstStyle/>
                    <a:p>
                      <a:pPr algn="l"/>
                      <a:r>
                        <a:rPr sz="1050" b="0" i="0">
                          <a:solidFill>
                            <a:srgbClr val="000000"/>
                          </a:solidFill>
                          <a:latin typeface="Calibri"/>
                        </a:rPr>
                        <a:t>Figure 34: USA Market BPS Share Change by Product Format, 2026–2036</a:t>
                      </a:r>
                      <a:endParaRPr sz="1050"/>
                    </a:p>
                  </a:txBody>
                  <a:tcPr marL="9525" marR="9525" marT="9525" marB="0" anchor="ctr"/>
                </a:tc>
                <a:extLst>
                  <a:ext uri="{0D108BD9-81ED-4DB2-BD59-A6C34878D82A}">
                    <a16:rowId xmlns:a16="http://schemas.microsoft.com/office/drawing/2014/main" val="10002"/>
                  </a:ext>
                </a:extLst>
              </a:tr>
              <a:tr h="175964">
                <a:tc>
                  <a:txBody>
                    <a:bodyPr/>
                    <a:lstStyle/>
                    <a:p>
                      <a:pPr algn="l"/>
                      <a:r>
                        <a:rPr sz="1050" b="0" i="0">
                          <a:solidFill>
                            <a:srgbClr val="000000"/>
                          </a:solidFill>
                          <a:latin typeface="Calibri"/>
                        </a:rPr>
                        <a:t>Figure 35: USA Market BPS Share Change by Product Type, 2026–2036</a:t>
                      </a:r>
                      <a:endParaRPr sz="1050"/>
                    </a:p>
                  </a:txBody>
                  <a:tcPr marL="9525" marR="9525" marT="9525" marB="0" anchor="ctr"/>
                </a:tc>
                <a:extLst>
                  <a:ext uri="{0D108BD9-81ED-4DB2-BD59-A6C34878D82A}">
                    <a16:rowId xmlns:a16="http://schemas.microsoft.com/office/drawing/2014/main" val="10003"/>
                  </a:ext>
                </a:extLst>
              </a:tr>
              <a:tr h="175964">
                <a:tc>
                  <a:txBody>
                    <a:bodyPr/>
                    <a:lstStyle/>
                    <a:p>
                      <a:pPr algn="l"/>
                      <a:r>
                        <a:rPr sz="1050" b="0" i="0">
                          <a:solidFill>
                            <a:srgbClr val="000000"/>
                          </a:solidFill>
                          <a:latin typeface="Calibri"/>
                        </a:rPr>
                        <a:t>Figure 36: USA Market BPS Share Change by Sales Channel, 2026–2036</a:t>
                      </a:r>
                      <a:endParaRPr sz="1050"/>
                    </a:p>
                  </a:txBody>
                  <a:tcPr marL="9525" marR="9525" marT="9525" marB="0" anchor="ctr"/>
                </a:tc>
                <a:extLst>
                  <a:ext uri="{0D108BD9-81ED-4DB2-BD59-A6C34878D82A}">
                    <a16:rowId xmlns:a16="http://schemas.microsoft.com/office/drawing/2014/main" val="10004"/>
                  </a:ext>
                </a:extLst>
              </a:tr>
              <a:tr h="175964">
                <a:tc>
                  <a:txBody>
                    <a:bodyPr/>
                    <a:lstStyle/>
                    <a:p>
                      <a:pPr algn="l"/>
                      <a:r>
                        <a:rPr sz="1050" b="0" i="0">
                          <a:solidFill>
                            <a:srgbClr val="000000"/>
                          </a:solidFill>
                          <a:latin typeface="Calibri"/>
                        </a:rPr>
                        <a:t>Figure 37: USA Market YoY Growth by Product Format, %, 2026–2036</a:t>
                      </a:r>
                      <a:endParaRPr sz="1050"/>
                    </a:p>
                  </a:txBody>
                  <a:tcPr marL="9525" marR="9525" marT="9525" marB="0" anchor="ctr"/>
                </a:tc>
                <a:extLst>
                  <a:ext uri="{0D108BD9-81ED-4DB2-BD59-A6C34878D82A}">
                    <a16:rowId xmlns:a16="http://schemas.microsoft.com/office/drawing/2014/main" val="10005"/>
                  </a:ext>
                </a:extLst>
              </a:tr>
              <a:tr h="175964">
                <a:tc>
                  <a:txBody>
                    <a:bodyPr/>
                    <a:lstStyle/>
                    <a:p>
                      <a:pPr algn="l"/>
                      <a:r>
                        <a:rPr sz="1050" b="0" i="0">
                          <a:solidFill>
                            <a:srgbClr val="000000"/>
                          </a:solidFill>
                          <a:latin typeface="Calibri"/>
                        </a:rPr>
                        <a:t>Figure 38: USA Market YoY Growth by Product Type, %, 2026–2036</a:t>
                      </a:r>
                      <a:endParaRPr sz="1050"/>
                    </a:p>
                  </a:txBody>
                  <a:tcPr marL="9525" marR="9525" marT="9525" marB="0" anchor="ctr"/>
                </a:tc>
                <a:extLst>
                  <a:ext uri="{0D108BD9-81ED-4DB2-BD59-A6C34878D82A}">
                    <a16:rowId xmlns:a16="http://schemas.microsoft.com/office/drawing/2014/main" val="10006"/>
                  </a:ext>
                </a:extLst>
              </a:tr>
              <a:tr h="175964">
                <a:tc>
                  <a:txBody>
                    <a:bodyPr/>
                    <a:lstStyle/>
                    <a:p>
                      <a:pPr algn="l"/>
                      <a:r>
                        <a:rPr sz="1050" b="0" i="0">
                          <a:solidFill>
                            <a:srgbClr val="000000"/>
                          </a:solidFill>
                          <a:latin typeface="Calibri"/>
                        </a:rPr>
                        <a:t>Figure 39: USA Market YoY Growth by Sales Channel, %, 2026–2036</a:t>
                      </a:r>
                      <a:endParaRPr sz="1050"/>
                    </a:p>
                  </a:txBody>
                  <a:tcPr marL="9525" marR="9525" marT="9525" marB="0" anchor="ctr"/>
                </a:tc>
                <a:extLst>
                  <a:ext uri="{0D108BD9-81ED-4DB2-BD59-A6C34878D82A}">
                    <a16:rowId xmlns:a16="http://schemas.microsoft.com/office/drawing/2014/main" val="10007"/>
                  </a:ext>
                </a:extLst>
              </a:tr>
              <a:tr h="175964">
                <a:tc>
                  <a:txBody>
                    <a:bodyPr/>
                    <a:lstStyle/>
                    <a:p>
                      <a:pPr algn="l"/>
                      <a:r>
                        <a:rPr sz="1050" b="0" i="0">
                          <a:solidFill>
                            <a:srgbClr val="000000"/>
                          </a:solidFill>
                          <a:latin typeface="Calibri"/>
                        </a:rPr>
                        <a:t>Figure 40: USA Market Attractiveness by Product Format, 2026–2036</a:t>
                      </a:r>
                      <a:endParaRPr sz="1050"/>
                    </a:p>
                  </a:txBody>
                  <a:tcPr marL="9525" marR="9525" marT="9525" marB="0" anchor="ctr"/>
                </a:tc>
                <a:extLst>
                  <a:ext uri="{0D108BD9-81ED-4DB2-BD59-A6C34878D82A}">
                    <a16:rowId xmlns:a16="http://schemas.microsoft.com/office/drawing/2014/main" val="10008"/>
                  </a:ext>
                </a:extLst>
              </a:tr>
              <a:tr h="175964">
                <a:tc>
                  <a:txBody>
                    <a:bodyPr/>
                    <a:lstStyle/>
                    <a:p>
                      <a:pPr algn="l"/>
                      <a:r>
                        <a:rPr sz="1050" b="0" i="0">
                          <a:solidFill>
                            <a:srgbClr val="000000"/>
                          </a:solidFill>
                          <a:latin typeface="Calibri"/>
                        </a:rPr>
                        <a:t>Figure 41: USA Market Attractiveness by Product Type, 2026–2036</a:t>
                      </a:r>
                      <a:endParaRPr sz="1050"/>
                    </a:p>
                  </a:txBody>
                  <a:tcPr marL="9525" marR="9525" marT="9525" marB="0" anchor="ctr"/>
                </a:tc>
                <a:extLst>
                  <a:ext uri="{0D108BD9-81ED-4DB2-BD59-A6C34878D82A}">
                    <a16:rowId xmlns:a16="http://schemas.microsoft.com/office/drawing/2014/main" val="10009"/>
                  </a:ext>
                </a:extLst>
              </a:tr>
              <a:tr h="175964">
                <a:tc>
                  <a:txBody>
                    <a:bodyPr/>
                    <a:lstStyle/>
                    <a:p>
                      <a:pPr algn="l"/>
                      <a:r>
                        <a:rPr sz="1050" b="0" i="0">
                          <a:solidFill>
                            <a:srgbClr val="000000"/>
                          </a:solidFill>
                          <a:latin typeface="Calibri"/>
                        </a:rPr>
                        <a:t>Figure 42: USA Market Attractiveness by Sales Channel, 2026–2036</a:t>
                      </a:r>
                      <a:endParaRPr sz="1050"/>
                    </a:p>
                  </a:txBody>
                  <a:tcPr marL="9525" marR="9525" marT="9525" marB="0" anchor="ctr"/>
                </a:tc>
                <a:extLst>
                  <a:ext uri="{0D108BD9-81ED-4DB2-BD59-A6C34878D82A}">
                    <a16:rowId xmlns:a16="http://schemas.microsoft.com/office/drawing/2014/main" val="10010"/>
                  </a:ext>
                </a:extLst>
              </a:tr>
              <a:tr h="175964">
                <a:tc>
                  <a:txBody>
                    <a:bodyPr/>
                    <a:lstStyle/>
                    <a:p>
                      <a:pPr algn="l"/>
                      <a:r>
                        <a:rPr sz="1050" b="0" i="0">
                          <a:solidFill>
                            <a:srgbClr val="000000"/>
                          </a:solidFill>
                          <a:latin typeface="Calibri"/>
                        </a:rPr>
                        <a:t>Figure 43: USA Market Volume by Product Format, Mn Units, 2021–2036</a:t>
                      </a:r>
                      <a:endParaRPr sz="1050"/>
                    </a:p>
                  </a:txBody>
                  <a:tcPr marL="9525" marR="9525" marT="9525" marB="0" anchor="ctr"/>
                </a:tc>
                <a:extLst>
                  <a:ext uri="{0D108BD9-81ED-4DB2-BD59-A6C34878D82A}">
                    <a16:rowId xmlns:a16="http://schemas.microsoft.com/office/drawing/2014/main" val="10011"/>
                  </a:ext>
                </a:extLst>
              </a:tr>
              <a:tr h="175964">
                <a:tc>
                  <a:txBody>
                    <a:bodyPr/>
                    <a:lstStyle/>
                    <a:p>
                      <a:pPr algn="l"/>
                      <a:r>
                        <a:rPr sz="1050" b="0" i="0">
                          <a:solidFill>
                            <a:srgbClr val="000000"/>
                          </a:solidFill>
                          <a:latin typeface="Calibri"/>
                        </a:rPr>
                        <a:t>Figure 44: USA Market Volume by Product Type, Mn Units, 2021–2036</a:t>
                      </a:r>
                      <a:endParaRPr sz="1050"/>
                    </a:p>
                  </a:txBody>
                  <a:tcPr marL="9525" marR="9525" marT="9525" marB="0" anchor="ctr"/>
                </a:tc>
                <a:extLst>
                  <a:ext uri="{0D108BD9-81ED-4DB2-BD59-A6C34878D82A}">
                    <a16:rowId xmlns:a16="http://schemas.microsoft.com/office/drawing/2014/main" val="10012"/>
                  </a:ext>
                </a:extLst>
              </a:tr>
              <a:tr h="175964">
                <a:tc>
                  <a:txBody>
                    <a:bodyPr/>
                    <a:lstStyle/>
                    <a:p>
                      <a:pPr algn="l"/>
                      <a:r>
                        <a:rPr sz="1050" b="0" i="0">
                          <a:solidFill>
                            <a:srgbClr val="000000"/>
                          </a:solidFill>
                          <a:latin typeface="Calibri"/>
                        </a:rPr>
                        <a:t>Figure 45: USA Market Volume by Sales Channel, Mn Units, 2021–2036</a:t>
                      </a:r>
                      <a:endParaRPr sz="1050"/>
                    </a:p>
                  </a:txBody>
                  <a:tcPr marL="9525" marR="9525" marT="9525" marB="0" anchor="ctr"/>
                </a:tc>
                <a:extLst>
                  <a:ext uri="{0D108BD9-81ED-4DB2-BD59-A6C34878D82A}">
                    <a16:rowId xmlns:a16="http://schemas.microsoft.com/office/drawing/2014/main" val="10013"/>
                  </a:ext>
                </a:extLst>
              </a:tr>
              <a:tr h="175964">
                <a:tc>
                  <a:txBody>
                    <a:bodyPr/>
                    <a:lstStyle/>
                    <a:p>
                      <a:pPr algn="l"/>
                      <a:r>
                        <a:rPr sz="1050" b="0" i="0">
                          <a:solidFill>
                            <a:srgbClr val="000000"/>
                          </a:solidFill>
                          <a:latin typeface="Calibri"/>
                        </a:rPr>
                        <a:t>Figure 46: USA Market Average Selling Price by Product Format, US$/Units, 2021–2036</a:t>
                      </a:r>
                      <a:endParaRPr sz="1050"/>
                    </a:p>
                  </a:txBody>
                  <a:tcPr marL="9525" marR="9525" marT="9525" marB="0" anchor="ctr"/>
                </a:tc>
                <a:extLst>
                  <a:ext uri="{0D108BD9-81ED-4DB2-BD59-A6C34878D82A}">
                    <a16:rowId xmlns:a16="http://schemas.microsoft.com/office/drawing/2014/main" val="10014"/>
                  </a:ext>
                </a:extLst>
              </a:tr>
              <a:tr h="175964">
                <a:tc>
                  <a:txBody>
                    <a:bodyPr/>
                    <a:lstStyle/>
                    <a:p>
                      <a:pPr algn="l"/>
                      <a:r>
                        <a:rPr sz="1050" b="0" i="0">
                          <a:solidFill>
                            <a:srgbClr val="000000"/>
                          </a:solidFill>
                          <a:latin typeface="Calibri"/>
                        </a:rPr>
                        <a:t>Figure 47: USA Market Average Selling Price by Product Type, US$/Units, 2021–2036</a:t>
                      </a:r>
                      <a:endParaRPr sz="1050"/>
                    </a:p>
                  </a:txBody>
                  <a:tcPr marL="9525" marR="9525" marT="9525" marB="0" anchor="ctr"/>
                </a:tc>
                <a:extLst>
                  <a:ext uri="{0D108BD9-81ED-4DB2-BD59-A6C34878D82A}">
                    <a16:rowId xmlns:a16="http://schemas.microsoft.com/office/drawing/2014/main" val="10015"/>
                  </a:ext>
                </a:extLst>
              </a:tr>
              <a:tr h="175964">
                <a:tc>
                  <a:txBody>
                    <a:bodyPr/>
                    <a:lstStyle/>
                    <a:p>
                      <a:pPr algn="l"/>
                      <a:r>
                        <a:rPr sz="1050" b="0" i="0">
                          <a:solidFill>
                            <a:srgbClr val="000000"/>
                          </a:solidFill>
                          <a:latin typeface="Calibri"/>
                        </a:rPr>
                        <a:t>Figure 48: USA Market Average Selling Price by Sales Channel, US$/Units, 2021–2036</a:t>
                      </a:r>
                      <a:endParaRPr sz="1050"/>
                    </a:p>
                  </a:txBody>
                  <a:tcPr marL="9525" marR="9525" marT="9525" marB="0" anchor="ctr"/>
                </a:tc>
                <a:extLst>
                  <a:ext uri="{0D108BD9-81ED-4DB2-BD59-A6C34878D82A}">
                    <a16:rowId xmlns:a16="http://schemas.microsoft.com/office/drawing/2014/main" val="10016"/>
                  </a:ext>
                </a:extLst>
              </a:tr>
              <a:tr h="175964">
                <a:tc>
                  <a:txBody>
                    <a:bodyPr/>
                    <a:lstStyle/>
                    <a:p>
                      <a:pPr algn="l"/>
                      <a:r>
                        <a:rPr sz="1050" b="0" i="0">
                          <a:solidFill>
                            <a:srgbClr val="000000"/>
                          </a:solidFill>
                          <a:latin typeface="Calibri"/>
                        </a:rPr>
                        <a:t>Figure 49: USA Market Value and YoY Growth, Capsule (Product Format), US$ Mn and %, 2021–2036</a:t>
                      </a:r>
                      <a:endParaRPr sz="1050"/>
                    </a:p>
                  </a:txBody>
                  <a:tcPr marL="9525" marR="9525" marT="9525" marB="0" anchor="ctr"/>
                </a:tc>
                <a:extLst>
                  <a:ext uri="{0D108BD9-81ED-4DB2-BD59-A6C34878D82A}">
                    <a16:rowId xmlns:a16="http://schemas.microsoft.com/office/drawing/2014/main" val="10017"/>
                  </a:ext>
                </a:extLst>
              </a:tr>
              <a:tr h="175964">
                <a:tc>
                  <a:txBody>
                    <a:bodyPr/>
                    <a:lstStyle/>
                    <a:p>
                      <a:pPr algn="l"/>
                      <a:r>
                        <a:rPr sz="1050" b="0" i="0">
                          <a:solidFill>
                            <a:srgbClr val="000000"/>
                          </a:solidFill>
                          <a:latin typeface="Calibri"/>
                        </a:rPr>
                        <a:t>Figure 50: USA Market Value and YoY Growth, Multivitamin (Product Type), US$ Mn and %, 2021–2036</a:t>
                      </a:r>
                      <a:endParaRPr sz="1050"/>
                    </a:p>
                  </a:txBody>
                  <a:tcPr marL="9525" marR="9525" marT="9525" marB="0" anchor="ctr"/>
                </a:tc>
                <a:extLst>
                  <a:ext uri="{0D108BD9-81ED-4DB2-BD59-A6C34878D82A}">
                    <a16:rowId xmlns:a16="http://schemas.microsoft.com/office/drawing/2014/main" val="10018"/>
                  </a:ext>
                </a:extLst>
              </a:tr>
              <a:tr h="344889">
                <a:tc>
                  <a:txBody>
                    <a:bodyPr/>
                    <a:lstStyle/>
                    <a:p>
                      <a:pPr algn="l"/>
                      <a:r>
                        <a:rPr sz="1050" b="0" i="0">
                          <a:solidFill>
                            <a:srgbClr val="000000"/>
                          </a:solidFill>
                          <a:latin typeface="Calibri"/>
                        </a:rPr>
                        <a:t>Figure 51: USA Market Value and YoY Growth, Direct-to-Consumer / Brand Website (Sales Channel), US$ Mn and %, 2021–2036</a:t>
                      </a:r>
                      <a:endParaRPr sz="1050"/>
                    </a:p>
                  </a:txBody>
                  <a:tcPr marL="9525" marR="9525" marT="9525" marB="0" anchor="ctr"/>
                </a:tc>
                <a:extLst>
                  <a:ext uri="{0D108BD9-81ED-4DB2-BD59-A6C34878D82A}">
                    <a16:rowId xmlns:a16="http://schemas.microsoft.com/office/drawing/2014/main" val="10019"/>
                  </a:ext>
                </a:extLst>
              </a:tr>
              <a:tr h="175964">
                <a:tc>
                  <a:txBody>
                    <a:bodyPr/>
                    <a:lstStyle/>
                    <a:p>
                      <a:pPr algn="l"/>
                      <a:r>
                        <a:rPr sz="1050" b="0" i="0">
                          <a:solidFill>
                            <a:srgbClr val="000000"/>
                          </a:solidFill>
                          <a:latin typeface="Calibri"/>
                        </a:rPr>
                        <a:t>Figure 52: USA Market Value and YoY Growth, Tablet (Product Format), US$ Mn and %, 2021–2036</a:t>
                      </a:r>
                      <a:endParaRPr sz="1050"/>
                    </a:p>
                  </a:txBody>
                  <a:tcPr marL="9525" marR="9525" marT="9525" marB="0" anchor="ctr"/>
                </a:tc>
                <a:extLst>
                  <a:ext uri="{0D108BD9-81ED-4DB2-BD59-A6C34878D82A}">
                    <a16:rowId xmlns:a16="http://schemas.microsoft.com/office/drawing/2014/main" val="10020"/>
                  </a:ext>
                </a:extLst>
              </a:tr>
              <a:tr h="344889">
                <a:tc>
                  <a:txBody>
                    <a:bodyPr/>
                    <a:lstStyle/>
                    <a:p>
                      <a:pPr algn="l"/>
                      <a:r>
                        <a:rPr sz="1050" b="0" i="0">
                          <a:solidFill>
                            <a:srgbClr val="000000"/>
                          </a:solidFill>
                          <a:latin typeface="Calibri"/>
                        </a:rPr>
                        <a:t>Figure 53: USA Market Value and YoY Growth, DHA / Omega-3 (Product Type), US$ Mn and %, 2021–2036</a:t>
                      </a:r>
                      <a:endParaRPr sz="1050"/>
                    </a:p>
                  </a:txBody>
                  <a:tcPr marL="9525" marR="9525" marT="9525" marB="0" anchor="ctr"/>
                </a:tc>
                <a:extLst>
                  <a:ext uri="{0D108BD9-81ED-4DB2-BD59-A6C34878D82A}">
                    <a16:rowId xmlns:a16="http://schemas.microsoft.com/office/drawing/2014/main" val="10021"/>
                  </a:ext>
                </a:extLst>
              </a:tr>
              <a:tr h="344889">
                <a:tc>
                  <a:txBody>
                    <a:bodyPr/>
                    <a:lstStyle/>
                    <a:p>
                      <a:pPr algn="l"/>
                      <a:r>
                        <a:rPr sz="1050" b="0" i="0">
                          <a:solidFill>
                            <a:srgbClr val="000000"/>
                          </a:solidFill>
                          <a:latin typeface="Calibri"/>
                        </a:rPr>
                        <a:t>Figure 54: USA Market Value and YoY Growth, Amazon / Online Marketplaces (Sales Channel), US$ Mn and %, 2021–2036</a:t>
                      </a:r>
                      <a:endParaRPr sz="1050"/>
                    </a:p>
                  </a:txBody>
                  <a:tcPr marL="9525" marR="9525" marT="9525" marB="0" anchor="ctr"/>
                </a:tc>
                <a:extLst>
                  <a:ext uri="{0D108BD9-81ED-4DB2-BD59-A6C34878D82A}">
                    <a16:rowId xmlns:a16="http://schemas.microsoft.com/office/drawing/2014/main" val="10022"/>
                  </a:ext>
                </a:extLst>
              </a:tr>
              <a:tr h="175964">
                <a:tc>
                  <a:txBody>
                    <a:bodyPr/>
                    <a:lstStyle/>
                    <a:p>
                      <a:pPr algn="l"/>
                      <a:r>
                        <a:rPr sz="1050" b="0" i="0">
                          <a:solidFill>
                            <a:srgbClr val="000000"/>
                          </a:solidFill>
                          <a:latin typeface="Calibri"/>
                        </a:rPr>
                        <a:t>Figure 55: USA Market Value and YoY Growth, Softgels (Product Format), US$ Mn and %, 2021–2036</a:t>
                      </a:r>
                      <a:endParaRPr sz="1050"/>
                    </a:p>
                  </a:txBody>
                  <a:tcPr marL="9525" marR="9525" marT="9525" marB="0" anchor="ctr"/>
                </a:tc>
                <a:extLst>
                  <a:ext uri="{0D108BD9-81ED-4DB2-BD59-A6C34878D82A}">
                    <a16:rowId xmlns:a16="http://schemas.microsoft.com/office/drawing/2014/main" val="10023"/>
                  </a:ext>
                </a:extLst>
              </a:tr>
              <a:tr h="175964">
                <a:tc>
                  <a:txBody>
                    <a:bodyPr/>
                    <a:lstStyle/>
                    <a:p>
                      <a:pPr algn="l"/>
                      <a:r>
                        <a:rPr sz="1050" b="0" i="0">
                          <a:solidFill>
                            <a:srgbClr val="000000"/>
                          </a:solidFill>
                          <a:latin typeface="Calibri"/>
                        </a:rPr>
                        <a:t>Figure 56: USA Market Value and YoY Growth, Iron (Product Type), US$ Mn and %, 2021–2036</a:t>
                      </a:r>
                      <a:endParaRPr sz="1050"/>
                    </a:p>
                  </a:txBody>
                  <a:tcPr marL="9525" marR="9525" marT="9525" marB="0" anchor="ctr"/>
                </a:tc>
                <a:extLst>
                  <a:ext uri="{0D108BD9-81ED-4DB2-BD59-A6C34878D82A}">
                    <a16:rowId xmlns:a16="http://schemas.microsoft.com/office/drawing/2014/main" val="10024"/>
                  </a:ext>
                </a:extLst>
              </a:tr>
              <a:tr h="175964">
                <a:tc>
                  <a:txBody>
                    <a:bodyPr/>
                    <a:lstStyle/>
                    <a:p>
                      <a:pPr algn="l"/>
                      <a:r>
                        <a:rPr sz="1050" b="0" i="0">
                          <a:solidFill>
                            <a:srgbClr val="000000"/>
                          </a:solidFill>
                          <a:latin typeface="Calibri"/>
                        </a:rPr>
                        <a:t>Figure 57: USA Market Value and YoY Growth, Mass Retail (Sales Channel), US$ Mn and %, 2021–2036</a:t>
                      </a:r>
                      <a:endParaRPr sz="1050"/>
                    </a:p>
                  </a:txBody>
                  <a:tcPr marL="9525" marR="9525" marT="9525" marB="0" anchor="ctr"/>
                </a:tc>
                <a:extLst>
                  <a:ext uri="{0D108BD9-81ED-4DB2-BD59-A6C34878D82A}">
                    <a16:rowId xmlns:a16="http://schemas.microsoft.com/office/drawing/2014/main" val="10025"/>
                  </a:ext>
                </a:extLst>
              </a:tr>
              <a:tr h="175964">
                <a:tc>
                  <a:txBody>
                    <a:bodyPr/>
                    <a:lstStyle/>
                    <a:p>
                      <a:pPr algn="l"/>
                      <a:r>
                        <a:rPr sz="1050" b="0" i="0">
                          <a:solidFill>
                            <a:srgbClr val="000000"/>
                          </a:solidFill>
                          <a:latin typeface="Calibri"/>
                        </a:rPr>
                        <a:t>Figure 58: USA Market Value and YoY Growth, Gummies (Product Format), US$ Mn and %, 2021–2036</a:t>
                      </a:r>
                      <a:endParaRPr sz="1050"/>
                    </a:p>
                  </a:txBody>
                  <a:tcPr marL="9525" marR="9525" marT="9525" marB="0" anchor="ctr"/>
                </a:tc>
                <a:extLst>
                  <a:ext uri="{0D108BD9-81ED-4DB2-BD59-A6C34878D82A}">
                    <a16:rowId xmlns:a16="http://schemas.microsoft.com/office/drawing/2014/main" val="10026"/>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List of Figures (2/3)</a:t>
            </a:r>
          </a:p>
        </p:txBody>
      </p:sp>
      <p:graphicFrame>
        <p:nvGraphicFramePr>
          <p:cNvPr id="9" name="FMI Contents Table"/>
          <p:cNvGraphicFramePr>
            <a:graphicFrameLocks noGrp="1"/>
          </p:cNvGraphicFramePr>
          <p:nvPr/>
        </p:nvGraphicFramePr>
        <p:xfrm>
          <a:off x="142875" y="981075"/>
          <a:ext cx="5876925" cy="5257803"/>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334587">
                <a:tc>
                  <a:txBody>
                    <a:bodyPr/>
                    <a:lstStyle/>
                    <a:p>
                      <a:pPr algn="l"/>
                      <a:r>
                        <a:rPr sz="1050" b="0" i="0">
                          <a:solidFill>
                            <a:srgbClr val="000000"/>
                          </a:solidFill>
                          <a:latin typeface="Calibri"/>
                        </a:rPr>
                        <a:t>Figure 59: USA Market Value and YoY Growth, Folate / Folic Acid (Product Type), US$ Mn and %, 2021–2036</a:t>
                      </a:r>
                      <a:endParaRPr sz="1050"/>
                    </a:p>
                  </a:txBody>
                  <a:tcPr marL="9525" marR="9525" marT="9525" marB="0" anchor="ctr"/>
                </a:tc>
                <a:extLst>
                  <a:ext uri="{0D108BD9-81ED-4DB2-BD59-A6C34878D82A}">
                    <a16:rowId xmlns:a16="http://schemas.microsoft.com/office/drawing/2014/main" val="10000"/>
                  </a:ext>
                </a:extLst>
              </a:tr>
              <a:tr h="334587">
                <a:tc>
                  <a:txBody>
                    <a:bodyPr/>
                    <a:lstStyle/>
                    <a:p>
                      <a:pPr algn="l"/>
                      <a:r>
                        <a:rPr sz="1050" b="0" i="0">
                          <a:solidFill>
                            <a:srgbClr val="000000"/>
                          </a:solidFill>
                          <a:latin typeface="Calibri"/>
                        </a:rPr>
                        <a:t>Figure 60: USA Market Value and YoY Growth, Pharmacy / Drugstores (Sales Channel), US$ Mn and %, 2021–2036</a:t>
                      </a:r>
                      <a:endParaRPr sz="1050"/>
                    </a:p>
                  </a:txBody>
                  <a:tcPr marL="9525" marR="9525" marT="9525" marB="0" anchor="ctr"/>
                </a:tc>
                <a:extLst>
                  <a:ext uri="{0D108BD9-81ED-4DB2-BD59-A6C34878D82A}">
                    <a16:rowId xmlns:a16="http://schemas.microsoft.com/office/drawing/2014/main" val="10001"/>
                  </a:ext>
                </a:extLst>
              </a:tr>
              <a:tr h="170708">
                <a:tc>
                  <a:txBody>
                    <a:bodyPr/>
                    <a:lstStyle/>
                    <a:p>
                      <a:pPr algn="l"/>
                      <a:r>
                        <a:rPr sz="1050" b="0" i="0">
                          <a:solidFill>
                            <a:srgbClr val="000000"/>
                          </a:solidFill>
                          <a:latin typeface="Calibri"/>
                        </a:rPr>
                        <a:t>Figure 61: USA Market Value and YoY Growth, Powder (Product Format), US$ Mn and %, 2021–2036</a:t>
                      </a:r>
                      <a:endParaRPr sz="1050"/>
                    </a:p>
                  </a:txBody>
                  <a:tcPr marL="9525" marR="9525" marT="9525" marB="0" anchor="ctr"/>
                </a:tc>
                <a:extLst>
                  <a:ext uri="{0D108BD9-81ED-4DB2-BD59-A6C34878D82A}">
                    <a16:rowId xmlns:a16="http://schemas.microsoft.com/office/drawing/2014/main" val="10002"/>
                  </a:ext>
                </a:extLst>
              </a:tr>
              <a:tr h="170708">
                <a:tc>
                  <a:txBody>
                    <a:bodyPr/>
                    <a:lstStyle/>
                    <a:p>
                      <a:pPr algn="l"/>
                      <a:r>
                        <a:rPr sz="1050" b="0" i="0">
                          <a:solidFill>
                            <a:srgbClr val="000000"/>
                          </a:solidFill>
                          <a:latin typeface="Calibri"/>
                        </a:rPr>
                        <a:t>Figure 62: USA Market Value and YoY Growth, Choline (Product Type), US$ Mn and %, 2021–2036</a:t>
                      </a:r>
                      <a:endParaRPr sz="1050"/>
                    </a:p>
                  </a:txBody>
                  <a:tcPr marL="9525" marR="9525" marT="9525" marB="0" anchor="ctr"/>
                </a:tc>
                <a:extLst>
                  <a:ext uri="{0D108BD9-81ED-4DB2-BD59-A6C34878D82A}">
                    <a16:rowId xmlns:a16="http://schemas.microsoft.com/office/drawing/2014/main" val="10003"/>
                  </a:ext>
                </a:extLst>
              </a:tr>
              <a:tr h="334587">
                <a:tc>
                  <a:txBody>
                    <a:bodyPr/>
                    <a:lstStyle/>
                    <a:p>
                      <a:pPr algn="l"/>
                      <a:r>
                        <a:rPr sz="1050" b="0" i="0">
                          <a:solidFill>
                            <a:srgbClr val="000000"/>
                          </a:solidFill>
                          <a:latin typeface="Calibri"/>
                        </a:rPr>
                        <a:t>Figure 63: USA Market Value and YoY Growth, Specialty Health &amp; Wellness Retail (Sales Channel), US$ Mn and %, 2021–2036</a:t>
                      </a:r>
                      <a:endParaRPr sz="1050"/>
                    </a:p>
                  </a:txBody>
                  <a:tcPr marL="9525" marR="9525" marT="9525" marB="0" anchor="ctr"/>
                </a:tc>
                <a:extLst>
                  <a:ext uri="{0D108BD9-81ED-4DB2-BD59-A6C34878D82A}">
                    <a16:rowId xmlns:a16="http://schemas.microsoft.com/office/drawing/2014/main" val="10004"/>
                  </a:ext>
                </a:extLst>
              </a:tr>
              <a:tr h="170708">
                <a:tc>
                  <a:txBody>
                    <a:bodyPr/>
                    <a:lstStyle/>
                    <a:p>
                      <a:pPr algn="l"/>
                      <a:r>
                        <a:rPr sz="1050" b="0" i="0">
                          <a:solidFill>
                            <a:srgbClr val="000000"/>
                          </a:solidFill>
                          <a:latin typeface="Calibri"/>
                        </a:rPr>
                        <a:t>Figure 64: USA Market Value and YoY Growth, Bar (Product Format), US$ Mn and %, 2021–2036</a:t>
                      </a:r>
                      <a:endParaRPr sz="1050"/>
                    </a:p>
                  </a:txBody>
                  <a:tcPr marL="9525" marR="9525" marT="9525" marB="0" anchor="ctr"/>
                </a:tc>
                <a:extLst>
                  <a:ext uri="{0D108BD9-81ED-4DB2-BD59-A6C34878D82A}">
                    <a16:rowId xmlns:a16="http://schemas.microsoft.com/office/drawing/2014/main" val="10005"/>
                  </a:ext>
                </a:extLst>
              </a:tr>
              <a:tr h="334587">
                <a:tc>
                  <a:txBody>
                    <a:bodyPr/>
                    <a:lstStyle/>
                    <a:p>
                      <a:pPr algn="l"/>
                      <a:r>
                        <a:rPr sz="1050" b="0" i="0">
                          <a:solidFill>
                            <a:srgbClr val="000000"/>
                          </a:solidFill>
                          <a:latin typeface="Calibri"/>
                        </a:rPr>
                        <a:t>Figure 65: USA Market Value and YoY Growth, Calcium &amp; Mineral (Product Type), US$ Mn and %, 2021–2036</a:t>
                      </a:r>
                      <a:endParaRPr sz="1050"/>
                    </a:p>
                  </a:txBody>
                  <a:tcPr marL="9525" marR="9525" marT="9525" marB="0" anchor="ctr"/>
                </a:tc>
                <a:extLst>
                  <a:ext uri="{0D108BD9-81ED-4DB2-BD59-A6C34878D82A}">
                    <a16:rowId xmlns:a16="http://schemas.microsoft.com/office/drawing/2014/main" val="10006"/>
                  </a:ext>
                </a:extLst>
              </a:tr>
              <a:tr h="334587">
                <a:tc>
                  <a:txBody>
                    <a:bodyPr/>
                    <a:lstStyle/>
                    <a:p>
                      <a:pPr algn="l"/>
                      <a:r>
                        <a:rPr sz="1050" b="0" i="0">
                          <a:solidFill>
                            <a:srgbClr val="000000"/>
                          </a:solidFill>
                          <a:latin typeface="Calibri"/>
                        </a:rPr>
                        <a:t>Figure 66: USA Market Value and YoY Growth, Practitioner / Clinic Channel (Sales Channel), US$ Mn and %, 2021–2036</a:t>
                      </a:r>
                      <a:endParaRPr sz="1050"/>
                    </a:p>
                  </a:txBody>
                  <a:tcPr marL="9525" marR="9525" marT="9525" marB="0" anchor="ctr"/>
                </a:tc>
                <a:extLst>
                  <a:ext uri="{0D108BD9-81ED-4DB2-BD59-A6C34878D82A}">
                    <a16:rowId xmlns:a16="http://schemas.microsoft.com/office/drawing/2014/main" val="10007"/>
                  </a:ext>
                </a:extLst>
              </a:tr>
              <a:tr h="170708">
                <a:tc>
                  <a:txBody>
                    <a:bodyPr/>
                    <a:lstStyle/>
                    <a:p>
                      <a:pPr algn="l"/>
                      <a:r>
                        <a:rPr sz="1050" b="0" i="0">
                          <a:solidFill>
                            <a:srgbClr val="000000"/>
                          </a:solidFill>
                          <a:latin typeface="Calibri"/>
                        </a:rPr>
                        <a:t>Figure 67: USA Market Value and YoY Growth, Liquid (Product Format), US$ Mn and %, 2021–2036</a:t>
                      </a:r>
                      <a:endParaRPr sz="1050"/>
                    </a:p>
                  </a:txBody>
                  <a:tcPr marL="9525" marR="9525" marT="9525" marB="0" anchor="ctr"/>
                </a:tc>
                <a:extLst>
                  <a:ext uri="{0D108BD9-81ED-4DB2-BD59-A6C34878D82A}">
                    <a16:rowId xmlns:a16="http://schemas.microsoft.com/office/drawing/2014/main" val="10008"/>
                  </a:ext>
                </a:extLst>
              </a:tr>
              <a:tr h="170708">
                <a:tc>
                  <a:txBody>
                    <a:bodyPr/>
                    <a:lstStyle/>
                    <a:p>
                      <a:pPr algn="l"/>
                      <a:r>
                        <a:rPr sz="1050" b="0" i="0">
                          <a:solidFill>
                            <a:srgbClr val="000000"/>
                          </a:solidFill>
                          <a:latin typeface="Calibri"/>
                        </a:rPr>
                        <a:t>Figure 68: USA Market Value and YoY Growth, Probiotic (Product Type), US$ Mn and %, 2021–2036</a:t>
                      </a:r>
                      <a:endParaRPr sz="1050"/>
                    </a:p>
                  </a:txBody>
                  <a:tcPr marL="9525" marR="9525" marT="9525" marB="0" anchor="ctr"/>
                </a:tc>
                <a:extLst>
                  <a:ext uri="{0D108BD9-81ED-4DB2-BD59-A6C34878D82A}">
                    <a16:rowId xmlns:a16="http://schemas.microsoft.com/office/drawing/2014/main" val="10009"/>
                  </a:ext>
                </a:extLst>
              </a:tr>
              <a:tr h="170708">
                <a:tc>
                  <a:txBody>
                    <a:bodyPr/>
                    <a:lstStyle/>
                    <a:p>
                      <a:pPr algn="l"/>
                      <a:r>
                        <a:rPr sz="1050" b="0" i="0">
                          <a:solidFill>
                            <a:srgbClr val="000000"/>
                          </a:solidFill>
                          <a:latin typeface="Calibri"/>
                        </a:rPr>
                        <a:t>Figure 69: USA Market Value by Sales Channel by Scenario, US$ Mn, 2036</a:t>
                      </a:r>
                      <a:endParaRPr sz="1050"/>
                    </a:p>
                  </a:txBody>
                  <a:tcPr marL="9525" marR="9525" marT="9525" marB="0" anchor="ctr"/>
                </a:tc>
                <a:extLst>
                  <a:ext uri="{0D108BD9-81ED-4DB2-BD59-A6C34878D82A}">
                    <a16:rowId xmlns:a16="http://schemas.microsoft.com/office/drawing/2014/main" val="10010"/>
                  </a:ext>
                </a:extLst>
              </a:tr>
              <a:tr h="170708">
                <a:tc>
                  <a:txBody>
                    <a:bodyPr/>
                    <a:lstStyle/>
                    <a:p>
                      <a:pPr algn="l"/>
                      <a:r>
                        <a:rPr sz="1050" b="0" i="0">
                          <a:solidFill>
                            <a:srgbClr val="000000"/>
                          </a:solidFill>
                          <a:latin typeface="Calibri"/>
                        </a:rPr>
                        <a:t>Figure 70: USA Market Value by Product Format by Scenario, US$ Mn, 2036</a:t>
                      </a:r>
                      <a:endParaRPr sz="1050"/>
                    </a:p>
                  </a:txBody>
                  <a:tcPr marL="9525" marR="9525" marT="9525" marB="0" anchor="ctr"/>
                </a:tc>
                <a:extLst>
                  <a:ext uri="{0D108BD9-81ED-4DB2-BD59-A6C34878D82A}">
                    <a16:rowId xmlns:a16="http://schemas.microsoft.com/office/drawing/2014/main" val="10011"/>
                  </a:ext>
                </a:extLst>
              </a:tr>
              <a:tr h="170708">
                <a:tc>
                  <a:txBody>
                    <a:bodyPr/>
                    <a:lstStyle/>
                    <a:p>
                      <a:pPr algn="l"/>
                      <a:r>
                        <a:rPr sz="1050" b="0" i="0">
                          <a:solidFill>
                            <a:srgbClr val="000000"/>
                          </a:solidFill>
                          <a:latin typeface="Calibri"/>
                        </a:rPr>
                        <a:t>Figure 71: USA Market Value by Product Type by Scenario, US$ Mn, 2036</a:t>
                      </a:r>
                      <a:endParaRPr sz="1050"/>
                    </a:p>
                  </a:txBody>
                  <a:tcPr marL="9525" marR="9525" marT="9525" marB="0" anchor="ctr"/>
                </a:tc>
                <a:extLst>
                  <a:ext uri="{0D108BD9-81ED-4DB2-BD59-A6C34878D82A}">
                    <a16:rowId xmlns:a16="http://schemas.microsoft.com/office/drawing/2014/main" val="10012"/>
                  </a:ext>
                </a:extLst>
              </a:tr>
              <a:tr h="170708">
                <a:tc>
                  <a:txBody>
                    <a:bodyPr/>
                    <a:lstStyle/>
                    <a:p>
                      <a:pPr algn="l"/>
                      <a:r>
                        <a:rPr sz="1050" b="0" i="0">
                          <a:solidFill>
                            <a:srgbClr val="000000"/>
                          </a:solidFill>
                          <a:latin typeface="Calibri"/>
                        </a:rPr>
                        <a:t>Figure 72: Product Format × Product Type Opportunity Matrix, 2026–2036</a:t>
                      </a:r>
                      <a:endParaRPr sz="1050"/>
                    </a:p>
                  </a:txBody>
                  <a:tcPr marL="9525" marR="9525" marT="9525" marB="0" anchor="ctr"/>
                </a:tc>
                <a:extLst>
                  <a:ext uri="{0D108BD9-81ED-4DB2-BD59-A6C34878D82A}">
                    <a16:rowId xmlns:a16="http://schemas.microsoft.com/office/drawing/2014/main" val="10013"/>
                  </a:ext>
                </a:extLst>
              </a:tr>
              <a:tr h="170708">
                <a:tc>
                  <a:txBody>
                    <a:bodyPr/>
                    <a:lstStyle/>
                    <a:p>
                      <a:pPr algn="l"/>
                      <a:r>
                        <a:rPr sz="1050" b="0" i="0">
                          <a:solidFill>
                            <a:srgbClr val="000000"/>
                          </a:solidFill>
                          <a:latin typeface="Calibri"/>
                        </a:rPr>
                        <a:t>Figure 73: Product Format × Sales Channel Opportunity Matrix, 2026–2036</a:t>
                      </a:r>
                      <a:endParaRPr sz="1050"/>
                    </a:p>
                  </a:txBody>
                  <a:tcPr marL="9525" marR="9525" marT="9525" marB="0" anchor="ctr"/>
                </a:tc>
                <a:extLst>
                  <a:ext uri="{0D108BD9-81ED-4DB2-BD59-A6C34878D82A}">
                    <a16:rowId xmlns:a16="http://schemas.microsoft.com/office/drawing/2014/main" val="10014"/>
                  </a:ext>
                </a:extLst>
              </a:tr>
              <a:tr h="170708">
                <a:tc>
                  <a:txBody>
                    <a:bodyPr/>
                    <a:lstStyle/>
                    <a:p>
                      <a:pPr algn="l"/>
                      <a:r>
                        <a:rPr sz="1050" b="0" i="0">
                          <a:solidFill>
                            <a:srgbClr val="000000"/>
                          </a:solidFill>
                          <a:latin typeface="Calibri"/>
                        </a:rPr>
                        <a:t>Figure 74: Product Type × Sales Channel Opportunity Matrix, 2026–2036</a:t>
                      </a:r>
                      <a:endParaRPr sz="1050"/>
                    </a:p>
                  </a:txBody>
                  <a:tcPr marL="9525" marR="9525" marT="9525" marB="0" anchor="ctr"/>
                </a:tc>
                <a:extLst>
                  <a:ext uri="{0D108BD9-81ED-4DB2-BD59-A6C34878D82A}">
                    <a16:rowId xmlns:a16="http://schemas.microsoft.com/office/drawing/2014/main" val="10015"/>
                  </a:ext>
                </a:extLst>
              </a:tr>
              <a:tr h="170708">
                <a:tc>
                  <a:txBody>
                    <a:bodyPr/>
                    <a:lstStyle/>
                    <a:p>
                      <a:pPr algn="l"/>
                      <a:r>
                        <a:rPr sz="1050" b="0" i="0">
                          <a:solidFill>
                            <a:srgbClr val="000000"/>
                          </a:solidFill>
                          <a:latin typeface="Calibri"/>
                        </a:rPr>
                        <a:t>Figure 75: USA Market Value by Product Format and Product Type, US$ Mn, 2036</a:t>
                      </a:r>
                      <a:endParaRPr sz="1050"/>
                    </a:p>
                  </a:txBody>
                  <a:tcPr marL="9525" marR="9525" marT="9525" marB="0" anchor="ctr"/>
                </a:tc>
                <a:extLst>
                  <a:ext uri="{0D108BD9-81ED-4DB2-BD59-A6C34878D82A}">
                    <a16:rowId xmlns:a16="http://schemas.microsoft.com/office/drawing/2014/main" val="10016"/>
                  </a:ext>
                </a:extLst>
              </a:tr>
              <a:tr h="170708">
                <a:tc>
                  <a:txBody>
                    <a:bodyPr/>
                    <a:lstStyle/>
                    <a:p>
                      <a:pPr algn="l"/>
                      <a:r>
                        <a:rPr sz="1050" b="0" i="0">
                          <a:solidFill>
                            <a:srgbClr val="000000"/>
                          </a:solidFill>
                          <a:latin typeface="Calibri"/>
                        </a:rPr>
                        <a:t>Figure 76: USA Market Value by Product Format and Sales Channel, US$ Mn, 2036</a:t>
                      </a:r>
                      <a:endParaRPr sz="1050"/>
                    </a:p>
                  </a:txBody>
                  <a:tcPr marL="9525" marR="9525" marT="9525" marB="0" anchor="ctr"/>
                </a:tc>
                <a:extLst>
                  <a:ext uri="{0D108BD9-81ED-4DB2-BD59-A6C34878D82A}">
                    <a16:rowId xmlns:a16="http://schemas.microsoft.com/office/drawing/2014/main" val="10017"/>
                  </a:ext>
                </a:extLst>
              </a:tr>
              <a:tr h="170708">
                <a:tc>
                  <a:txBody>
                    <a:bodyPr/>
                    <a:lstStyle/>
                    <a:p>
                      <a:pPr algn="l"/>
                      <a:r>
                        <a:rPr sz="1050" b="0" i="0">
                          <a:solidFill>
                            <a:srgbClr val="000000"/>
                          </a:solidFill>
                          <a:latin typeface="Calibri"/>
                        </a:rPr>
                        <a:t>Figure 77: USA Market Value by Product Type and Sales Channel, US$ Mn, 2036</a:t>
                      </a:r>
                      <a:endParaRPr sz="1050"/>
                    </a:p>
                  </a:txBody>
                  <a:tcPr marL="9525" marR="9525" marT="9525" marB="0" anchor="ctr"/>
                </a:tc>
                <a:extLst>
                  <a:ext uri="{0D108BD9-81ED-4DB2-BD59-A6C34878D82A}">
                    <a16:rowId xmlns:a16="http://schemas.microsoft.com/office/drawing/2014/main" val="10018"/>
                  </a:ext>
                </a:extLst>
              </a:tr>
              <a:tr h="170708">
                <a:tc>
                  <a:txBody>
                    <a:bodyPr/>
                    <a:lstStyle/>
                    <a:p>
                      <a:pPr algn="l"/>
                      <a:r>
                        <a:rPr sz="1050" b="0" i="0">
                          <a:solidFill>
                            <a:srgbClr val="000000"/>
                          </a:solidFill>
                          <a:latin typeface="Calibri"/>
                        </a:rPr>
                        <a:t>Figure 78: USA Market Product Type Mix within Product Format, %, 2036</a:t>
                      </a:r>
                      <a:endParaRPr sz="1050"/>
                    </a:p>
                  </a:txBody>
                  <a:tcPr marL="9525" marR="9525" marT="9525" marB="0" anchor="ctr"/>
                </a:tc>
                <a:extLst>
                  <a:ext uri="{0D108BD9-81ED-4DB2-BD59-A6C34878D82A}">
                    <a16:rowId xmlns:a16="http://schemas.microsoft.com/office/drawing/2014/main" val="10019"/>
                  </a:ext>
                </a:extLst>
              </a:tr>
              <a:tr h="170708">
                <a:tc>
                  <a:txBody>
                    <a:bodyPr/>
                    <a:lstStyle/>
                    <a:p>
                      <a:pPr algn="l"/>
                      <a:r>
                        <a:rPr sz="1050" b="0" i="0">
                          <a:solidFill>
                            <a:srgbClr val="000000"/>
                          </a:solidFill>
                          <a:latin typeface="Calibri"/>
                        </a:rPr>
                        <a:t>Figure 79: USA Market Sales Channel Mix within Product Format, %, 2036</a:t>
                      </a:r>
                      <a:endParaRPr sz="1050"/>
                    </a:p>
                  </a:txBody>
                  <a:tcPr marL="9525" marR="9525" marT="9525" marB="0" anchor="ctr"/>
                </a:tc>
                <a:extLst>
                  <a:ext uri="{0D108BD9-81ED-4DB2-BD59-A6C34878D82A}">
                    <a16:rowId xmlns:a16="http://schemas.microsoft.com/office/drawing/2014/main" val="10020"/>
                  </a:ext>
                </a:extLst>
              </a:tr>
              <a:tr h="170708">
                <a:tc>
                  <a:txBody>
                    <a:bodyPr/>
                    <a:lstStyle/>
                    <a:p>
                      <a:pPr algn="l"/>
                      <a:r>
                        <a:rPr sz="1050" b="0" i="0">
                          <a:solidFill>
                            <a:srgbClr val="000000"/>
                          </a:solidFill>
                          <a:latin typeface="Calibri"/>
                        </a:rPr>
                        <a:t>Figure 80: USA Market Sales Channel Mix within Product Type, %, 2036</a:t>
                      </a:r>
                      <a:endParaRPr sz="1050"/>
                    </a:p>
                  </a:txBody>
                  <a:tcPr marL="9525" marR="9525" marT="9525" marB="0" anchor="ctr"/>
                </a:tc>
                <a:extLst>
                  <a:ext uri="{0D108BD9-81ED-4DB2-BD59-A6C34878D82A}">
                    <a16:rowId xmlns:a16="http://schemas.microsoft.com/office/drawing/2014/main" val="10021"/>
                  </a:ext>
                </a:extLst>
              </a:tr>
              <a:tr h="170708">
                <a:tc>
                  <a:txBody>
                    <a:bodyPr/>
                    <a:lstStyle/>
                    <a:p>
                      <a:pPr algn="l"/>
                      <a:r>
                        <a:rPr sz="1050" b="0" i="0">
                          <a:solidFill>
                            <a:srgbClr val="000000"/>
                          </a:solidFill>
                          <a:latin typeface="Calibri"/>
                        </a:rPr>
                        <a:t>Figure 81: USA Market Value of Capsule (Product Format), US$ Mn, 2021–2036</a:t>
                      </a:r>
                      <a:endParaRPr sz="1050"/>
                    </a:p>
                  </a:txBody>
                  <a:tcPr marL="9525" marR="9525" marT="9525" marB="0" anchor="ctr"/>
                </a:tc>
                <a:extLst>
                  <a:ext uri="{0D108BD9-81ED-4DB2-BD59-A6C34878D82A}">
                    <a16:rowId xmlns:a16="http://schemas.microsoft.com/office/drawing/2014/main" val="10022"/>
                  </a:ext>
                </a:extLst>
              </a:tr>
              <a:tr h="170708">
                <a:tc>
                  <a:txBody>
                    <a:bodyPr/>
                    <a:lstStyle/>
                    <a:p>
                      <a:pPr algn="l"/>
                      <a:r>
                        <a:rPr sz="1050" b="0" i="0">
                          <a:solidFill>
                            <a:srgbClr val="000000"/>
                          </a:solidFill>
                          <a:latin typeface="Calibri"/>
                        </a:rPr>
                        <a:t>Figure 82: USA Market Value of Tablet (Product Format), US$ Mn, 2021–2036</a:t>
                      </a:r>
                      <a:endParaRPr sz="1050"/>
                    </a:p>
                  </a:txBody>
                  <a:tcPr marL="9525" marR="9525" marT="9525" marB="0" anchor="ctr"/>
                </a:tc>
                <a:extLst>
                  <a:ext uri="{0D108BD9-81ED-4DB2-BD59-A6C34878D82A}">
                    <a16:rowId xmlns:a16="http://schemas.microsoft.com/office/drawing/2014/main" val="10023"/>
                  </a:ext>
                </a:extLst>
              </a:tr>
              <a:tr h="170708">
                <a:tc>
                  <a:txBody>
                    <a:bodyPr/>
                    <a:lstStyle/>
                    <a:p>
                      <a:pPr algn="l"/>
                      <a:r>
                        <a:rPr sz="1050" b="0" i="0">
                          <a:solidFill>
                            <a:srgbClr val="000000"/>
                          </a:solidFill>
                          <a:latin typeface="Calibri"/>
                        </a:rPr>
                        <a:t>Figure 83: USA Market Value of Softgels (Product Format), US$ Mn, 2021–2036</a:t>
                      </a:r>
                      <a:endParaRPr sz="1050"/>
                    </a:p>
                  </a:txBody>
                  <a:tcPr marL="9525" marR="9525" marT="9525" marB="0" anchor="ctr"/>
                </a:tc>
                <a:extLst>
                  <a:ext uri="{0D108BD9-81ED-4DB2-BD59-A6C34878D82A}">
                    <a16:rowId xmlns:a16="http://schemas.microsoft.com/office/drawing/2014/main" val="10024"/>
                  </a:ext>
                </a:extLst>
              </a:tr>
              <a:tr h="170708">
                <a:tc>
                  <a:txBody>
                    <a:bodyPr/>
                    <a:lstStyle/>
                    <a:p>
                      <a:pPr algn="l"/>
                      <a:r>
                        <a:rPr sz="1050" b="0" i="0">
                          <a:solidFill>
                            <a:srgbClr val="000000"/>
                          </a:solidFill>
                          <a:latin typeface="Calibri"/>
                        </a:rPr>
                        <a:t>Figure 84: USA Market Value of Gummies (Product Format), US$ Mn, 2021–2036</a:t>
                      </a:r>
                      <a:endParaRPr sz="1050"/>
                    </a:p>
                  </a:txBody>
                  <a:tcPr marL="9525" marR="9525" marT="9525" marB="0" anchor="ctr"/>
                </a:tc>
                <a:extLst>
                  <a:ext uri="{0D108BD9-81ED-4DB2-BD59-A6C34878D82A}">
                    <a16:rowId xmlns:a16="http://schemas.microsoft.com/office/drawing/2014/main" val="10025"/>
                  </a:ext>
                </a:extLst>
              </a:tr>
            </a:tbl>
          </a:graphicData>
        </a:graphic>
      </p:graphicFrame>
      <p:graphicFrame>
        <p:nvGraphicFramePr>
          <p:cNvPr id="10" name="FMI Contents Table"/>
          <p:cNvGraphicFramePr>
            <a:graphicFrameLocks noGrp="1"/>
          </p:cNvGraphicFramePr>
          <p:nvPr/>
        </p:nvGraphicFramePr>
        <p:xfrm>
          <a:off x="6172200" y="981075"/>
          <a:ext cx="5876925" cy="5257793"/>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0045">
                <a:tc>
                  <a:txBody>
                    <a:bodyPr/>
                    <a:lstStyle/>
                    <a:p>
                      <a:pPr algn="l"/>
                      <a:r>
                        <a:rPr sz="1050" b="0" i="0">
                          <a:solidFill>
                            <a:srgbClr val="000000"/>
                          </a:solidFill>
                          <a:latin typeface="Calibri"/>
                        </a:rPr>
                        <a:t>Figure 85: USA Market Value of Powder (Product Format), US$ Mn, 2021–2036</a:t>
                      </a:r>
                      <a:endParaRPr sz="1050"/>
                    </a:p>
                  </a:txBody>
                  <a:tcPr marL="9525" marR="9525" marT="9525" marB="0" anchor="ctr"/>
                </a:tc>
                <a:extLst>
                  <a:ext uri="{0D108BD9-81ED-4DB2-BD59-A6C34878D82A}">
                    <a16:rowId xmlns:a16="http://schemas.microsoft.com/office/drawing/2014/main" val="10000"/>
                  </a:ext>
                </a:extLst>
              </a:tr>
              <a:tr h="170045">
                <a:tc>
                  <a:txBody>
                    <a:bodyPr/>
                    <a:lstStyle/>
                    <a:p>
                      <a:pPr algn="l"/>
                      <a:r>
                        <a:rPr sz="1050" b="0" i="0">
                          <a:solidFill>
                            <a:srgbClr val="000000"/>
                          </a:solidFill>
                          <a:latin typeface="Calibri"/>
                        </a:rPr>
                        <a:t>Figure 86: USA Market Value of Bar (Product Format), US$ Mn, 2021–2036</a:t>
                      </a:r>
                      <a:endParaRPr sz="1050"/>
                    </a:p>
                  </a:txBody>
                  <a:tcPr marL="9525" marR="9525" marT="9525" marB="0" anchor="ctr"/>
                </a:tc>
                <a:extLst>
                  <a:ext uri="{0D108BD9-81ED-4DB2-BD59-A6C34878D82A}">
                    <a16:rowId xmlns:a16="http://schemas.microsoft.com/office/drawing/2014/main" val="10001"/>
                  </a:ext>
                </a:extLst>
              </a:tr>
              <a:tr h="170045">
                <a:tc>
                  <a:txBody>
                    <a:bodyPr/>
                    <a:lstStyle/>
                    <a:p>
                      <a:pPr algn="l"/>
                      <a:r>
                        <a:rPr sz="1050" b="0" i="0">
                          <a:solidFill>
                            <a:srgbClr val="000000"/>
                          </a:solidFill>
                          <a:latin typeface="Calibri"/>
                        </a:rPr>
                        <a:t>Figure 87: USA Market Value of Liquid (Product Format), US$ Mn, 2021–2036</a:t>
                      </a:r>
                      <a:endParaRPr sz="1050"/>
                    </a:p>
                  </a:txBody>
                  <a:tcPr marL="9525" marR="9525" marT="9525" marB="0" anchor="ctr"/>
                </a:tc>
                <a:extLst>
                  <a:ext uri="{0D108BD9-81ED-4DB2-BD59-A6C34878D82A}">
                    <a16:rowId xmlns:a16="http://schemas.microsoft.com/office/drawing/2014/main" val="10002"/>
                  </a:ext>
                </a:extLst>
              </a:tr>
              <a:tr h="170045">
                <a:tc>
                  <a:txBody>
                    <a:bodyPr/>
                    <a:lstStyle/>
                    <a:p>
                      <a:pPr algn="l"/>
                      <a:r>
                        <a:rPr sz="1050" b="0" i="0">
                          <a:solidFill>
                            <a:srgbClr val="000000"/>
                          </a:solidFill>
                          <a:latin typeface="Calibri"/>
                        </a:rPr>
                        <a:t>Figure 88: USA Market Customer and Channel Mix by Product Format, %, 2036</a:t>
                      </a:r>
                      <a:endParaRPr sz="1050"/>
                    </a:p>
                  </a:txBody>
                  <a:tcPr marL="9525" marR="9525" marT="9525" marB="0" anchor="ctr"/>
                </a:tc>
                <a:extLst>
                  <a:ext uri="{0D108BD9-81ED-4DB2-BD59-A6C34878D82A}">
                    <a16:rowId xmlns:a16="http://schemas.microsoft.com/office/drawing/2014/main" val="10003"/>
                  </a:ext>
                </a:extLst>
              </a:tr>
              <a:tr h="170045">
                <a:tc>
                  <a:txBody>
                    <a:bodyPr/>
                    <a:lstStyle/>
                    <a:p>
                      <a:pPr algn="l"/>
                      <a:r>
                        <a:rPr sz="1050" b="0" i="0">
                          <a:solidFill>
                            <a:srgbClr val="000000"/>
                          </a:solidFill>
                          <a:latin typeface="Calibri"/>
                        </a:rPr>
                        <a:t>Figure 89: USA Market Value of Multivitamin (Product Type), US$ Mn, 2021–2036</a:t>
                      </a:r>
                      <a:endParaRPr sz="1050"/>
                    </a:p>
                  </a:txBody>
                  <a:tcPr marL="9525" marR="9525" marT="9525" marB="0" anchor="ctr"/>
                </a:tc>
                <a:extLst>
                  <a:ext uri="{0D108BD9-81ED-4DB2-BD59-A6C34878D82A}">
                    <a16:rowId xmlns:a16="http://schemas.microsoft.com/office/drawing/2014/main" val="10004"/>
                  </a:ext>
                </a:extLst>
              </a:tr>
              <a:tr h="170045">
                <a:tc>
                  <a:txBody>
                    <a:bodyPr/>
                    <a:lstStyle/>
                    <a:p>
                      <a:pPr algn="l"/>
                      <a:r>
                        <a:rPr sz="1050" b="0" i="0">
                          <a:solidFill>
                            <a:srgbClr val="000000"/>
                          </a:solidFill>
                          <a:latin typeface="Calibri"/>
                        </a:rPr>
                        <a:t>Figure 90: USA Market Value of DHA / Omega-3 (Product Type), US$ Mn, 2021–2036</a:t>
                      </a:r>
                      <a:endParaRPr sz="1050"/>
                    </a:p>
                  </a:txBody>
                  <a:tcPr marL="9525" marR="9525" marT="9525" marB="0" anchor="ctr"/>
                </a:tc>
                <a:extLst>
                  <a:ext uri="{0D108BD9-81ED-4DB2-BD59-A6C34878D82A}">
                    <a16:rowId xmlns:a16="http://schemas.microsoft.com/office/drawing/2014/main" val="10005"/>
                  </a:ext>
                </a:extLst>
              </a:tr>
              <a:tr h="170045">
                <a:tc>
                  <a:txBody>
                    <a:bodyPr/>
                    <a:lstStyle/>
                    <a:p>
                      <a:pPr algn="l"/>
                      <a:r>
                        <a:rPr sz="1050" b="0" i="0">
                          <a:solidFill>
                            <a:srgbClr val="000000"/>
                          </a:solidFill>
                          <a:latin typeface="Calibri"/>
                        </a:rPr>
                        <a:t>Figure 91: USA Market Value of Iron (Product Type), US$ Mn, 2021–2036</a:t>
                      </a:r>
                      <a:endParaRPr sz="1050"/>
                    </a:p>
                  </a:txBody>
                  <a:tcPr marL="9525" marR="9525" marT="9525" marB="0" anchor="ctr"/>
                </a:tc>
                <a:extLst>
                  <a:ext uri="{0D108BD9-81ED-4DB2-BD59-A6C34878D82A}">
                    <a16:rowId xmlns:a16="http://schemas.microsoft.com/office/drawing/2014/main" val="10006"/>
                  </a:ext>
                </a:extLst>
              </a:tr>
              <a:tr h="170045">
                <a:tc>
                  <a:txBody>
                    <a:bodyPr/>
                    <a:lstStyle/>
                    <a:p>
                      <a:pPr algn="l"/>
                      <a:r>
                        <a:rPr sz="1050" b="0" i="0">
                          <a:solidFill>
                            <a:srgbClr val="000000"/>
                          </a:solidFill>
                          <a:latin typeface="Calibri"/>
                        </a:rPr>
                        <a:t>Figure 92: USA Market Value of Folate / Folic Acid (Product Type), US$ Mn, 2021–2036</a:t>
                      </a:r>
                      <a:endParaRPr sz="1050"/>
                    </a:p>
                  </a:txBody>
                  <a:tcPr marL="9525" marR="9525" marT="9525" marB="0" anchor="ctr"/>
                </a:tc>
                <a:extLst>
                  <a:ext uri="{0D108BD9-81ED-4DB2-BD59-A6C34878D82A}">
                    <a16:rowId xmlns:a16="http://schemas.microsoft.com/office/drawing/2014/main" val="10007"/>
                  </a:ext>
                </a:extLst>
              </a:tr>
              <a:tr h="170045">
                <a:tc>
                  <a:txBody>
                    <a:bodyPr/>
                    <a:lstStyle/>
                    <a:p>
                      <a:pPr algn="l"/>
                      <a:r>
                        <a:rPr sz="1050" b="0" i="0">
                          <a:solidFill>
                            <a:srgbClr val="000000"/>
                          </a:solidFill>
                          <a:latin typeface="Calibri"/>
                        </a:rPr>
                        <a:t>Figure 93: USA Market Value of Choline (Product Type), US$ Mn, 2021–2036</a:t>
                      </a:r>
                      <a:endParaRPr sz="1050"/>
                    </a:p>
                  </a:txBody>
                  <a:tcPr marL="9525" marR="9525" marT="9525" marB="0" anchor="ctr"/>
                </a:tc>
                <a:extLst>
                  <a:ext uri="{0D108BD9-81ED-4DB2-BD59-A6C34878D82A}">
                    <a16:rowId xmlns:a16="http://schemas.microsoft.com/office/drawing/2014/main" val="10008"/>
                  </a:ext>
                </a:extLst>
              </a:tr>
              <a:tr h="170045">
                <a:tc>
                  <a:txBody>
                    <a:bodyPr/>
                    <a:lstStyle/>
                    <a:p>
                      <a:pPr algn="l"/>
                      <a:r>
                        <a:rPr sz="1050" b="0" i="0">
                          <a:solidFill>
                            <a:srgbClr val="000000"/>
                          </a:solidFill>
                          <a:latin typeface="Calibri"/>
                        </a:rPr>
                        <a:t>Figure 94: USA Market Value of Calcium &amp; Mineral (Product Type), US$ Mn, 2021–2036</a:t>
                      </a:r>
                      <a:endParaRPr sz="1050"/>
                    </a:p>
                  </a:txBody>
                  <a:tcPr marL="9525" marR="9525" marT="9525" marB="0" anchor="ctr"/>
                </a:tc>
                <a:extLst>
                  <a:ext uri="{0D108BD9-81ED-4DB2-BD59-A6C34878D82A}">
                    <a16:rowId xmlns:a16="http://schemas.microsoft.com/office/drawing/2014/main" val="10009"/>
                  </a:ext>
                </a:extLst>
              </a:tr>
              <a:tr h="170045">
                <a:tc>
                  <a:txBody>
                    <a:bodyPr/>
                    <a:lstStyle/>
                    <a:p>
                      <a:pPr algn="l"/>
                      <a:r>
                        <a:rPr sz="1050" b="0" i="0">
                          <a:solidFill>
                            <a:srgbClr val="000000"/>
                          </a:solidFill>
                          <a:latin typeface="Calibri"/>
                        </a:rPr>
                        <a:t>Figure 95: USA Market Value of Probiotic (Product Type), US$ Mn, 2021–2036</a:t>
                      </a:r>
                      <a:endParaRPr sz="1050"/>
                    </a:p>
                  </a:txBody>
                  <a:tcPr marL="9525" marR="9525" marT="9525" marB="0" anchor="ctr"/>
                </a:tc>
                <a:extLst>
                  <a:ext uri="{0D108BD9-81ED-4DB2-BD59-A6C34878D82A}">
                    <a16:rowId xmlns:a16="http://schemas.microsoft.com/office/drawing/2014/main" val="10010"/>
                  </a:ext>
                </a:extLst>
              </a:tr>
              <a:tr h="170045">
                <a:tc>
                  <a:txBody>
                    <a:bodyPr/>
                    <a:lstStyle/>
                    <a:p>
                      <a:pPr algn="l"/>
                      <a:r>
                        <a:rPr sz="1050" b="0" i="0">
                          <a:solidFill>
                            <a:srgbClr val="000000"/>
                          </a:solidFill>
                          <a:latin typeface="Calibri"/>
                        </a:rPr>
                        <a:t>Figure 96: USA Market Customer and Channel Mix by Product Type, %, 2036</a:t>
                      </a:r>
                      <a:endParaRPr sz="1050"/>
                    </a:p>
                  </a:txBody>
                  <a:tcPr marL="9525" marR="9525" marT="9525" marB="0" anchor="ctr"/>
                </a:tc>
                <a:extLst>
                  <a:ext uri="{0D108BD9-81ED-4DB2-BD59-A6C34878D82A}">
                    <a16:rowId xmlns:a16="http://schemas.microsoft.com/office/drawing/2014/main" val="10011"/>
                  </a:ext>
                </a:extLst>
              </a:tr>
              <a:tr h="333289">
                <a:tc>
                  <a:txBody>
                    <a:bodyPr/>
                    <a:lstStyle/>
                    <a:p>
                      <a:pPr algn="l"/>
                      <a:r>
                        <a:rPr sz="1050" b="0" i="0">
                          <a:solidFill>
                            <a:srgbClr val="000000"/>
                          </a:solidFill>
                          <a:latin typeface="Calibri"/>
                        </a:rPr>
                        <a:t>Figure 97: USA Market Value of Direct-to-Consumer / Brand Website (Sales Channel), US$ Mn, 2021–2036</a:t>
                      </a:r>
                      <a:endParaRPr sz="1050"/>
                    </a:p>
                  </a:txBody>
                  <a:tcPr marL="9525" marR="9525" marT="9525" marB="0" anchor="ctr"/>
                </a:tc>
                <a:extLst>
                  <a:ext uri="{0D108BD9-81ED-4DB2-BD59-A6C34878D82A}">
                    <a16:rowId xmlns:a16="http://schemas.microsoft.com/office/drawing/2014/main" val="10012"/>
                  </a:ext>
                </a:extLst>
              </a:tr>
              <a:tr h="170045">
                <a:tc>
                  <a:txBody>
                    <a:bodyPr/>
                    <a:lstStyle/>
                    <a:p>
                      <a:pPr algn="l"/>
                      <a:r>
                        <a:rPr sz="1050" b="0" i="0">
                          <a:solidFill>
                            <a:srgbClr val="000000"/>
                          </a:solidFill>
                          <a:latin typeface="Calibri"/>
                        </a:rPr>
                        <a:t>Figure 98: USA Market Value of Amazon / Online Marketplaces (Sales Channel), US$ Mn, 2021–2036</a:t>
                      </a:r>
                      <a:endParaRPr sz="1050"/>
                    </a:p>
                  </a:txBody>
                  <a:tcPr marL="9525" marR="9525" marT="9525" marB="0" anchor="ctr"/>
                </a:tc>
                <a:extLst>
                  <a:ext uri="{0D108BD9-81ED-4DB2-BD59-A6C34878D82A}">
                    <a16:rowId xmlns:a16="http://schemas.microsoft.com/office/drawing/2014/main" val="10013"/>
                  </a:ext>
                </a:extLst>
              </a:tr>
              <a:tr h="170045">
                <a:tc>
                  <a:txBody>
                    <a:bodyPr/>
                    <a:lstStyle/>
                    <a:p>
                      <a:pPr algn="l"/>
                      <a:r>
                        <a:rPr sz="1050" b="0" i="0">
                          <a:solidFill>
                            <a:srgbClr val="000000"/>
                          </a:solidFill>
                          <a:latin typeface="Calibri"/>
                        </a:rPr>
                        <a:t>Figure 99: USA Market Value of Mass Retail (Sales Channel), US$ Mn, 2021–2036</a:t>
                      </a:r>
                      <a:endParaRPr sz="1050"/>
                    </a:p>
                  </a:txBody>
                  <a:tcPr marL="9525" marR="9525" marT="9525" marB="0" anchor="ctr"/>
                </a:tc>
                <a:extLst>
                  <a:ext uri="{0D108BD9-81ED-4DB2-BD59-A6C34878D82A}">
                    <a16:rowId xmlns:a16="http://schemas.microsoft.com/office/drawing/2014/main" val="10014"/>
                  </a:ext>
                </a:extLst>
              </a:tr>
              <a:tr h="170045">
                <a:tc>
                  <a:txBody>
                    <a:bodyPr/>
                    <a:lstStyle/>
                    <a:p>
                      <a:pPr algn="l"/>
                      <a:r>
                        <a:rPr sz="1050" b="0" i="0">
                          <a:solidFill>
                            <a:srgbClr val="000000"/>
                          </a:solidFill>
                          <a:latin typeface="Calibri"/>
                        </a:rPr>
                        <a:t>Figure 100: USA Market Value of Pharmacy / Drugstores (Sales Channel), US$ Mn, 2021–2036</a:t>
                      </a:r>
                      <a:endParaRPr sz="1050"/>
                    </a:p>
                  </a:txBody>
                  <a:tcPr marL="9525" marR="9525" marT="9525" marB="0" anchor="ctr"/>
                </a:tc>
                <a:extLst>
                  <a:ext uri="{0D108BD9-81ED-4DB2-BD59-A6C34878D82A}">
                    <a16:rowId xmlns:a16="http://schemas.microsoft.com/office/drawing/2014/main" val="10015"/>
                  </a:ext>
                </a:extLst>
              </a:tr>
              <a:tr h="333289">
                <a:tc>
                  <a:txBody>
                    <a:bodyPr/>
                    <a:lstStyle/>
                    <a:p>
                      <a:pPr algn="l"/>
                      <a:r>
                        <a:rPr sz="1050" b="0" i="0">
                          <a:solidFill>
                            <a:srgbClr val="000000"/>
                          </a:solidFill>
                          <a:latin typeface="Calibri"/>
                        </a:rPr>
                        <a:t>Figure 101: USA Market Value of Specialty Health &amp; Wellness Retail (Sales Channel), US$ Mn, 2021–2036</a:t>
                      </a:r>
                      <a:endParaRPr sz="1050"/>
                    </a:p>
                  </a:txBody>
                  <a:tcPr marL="9525" marR="9525" marT="9525" marB="0" anchor="ctr"/>
                </a:tc>
                <a:extLst>
                  <a:ext uri="{0D108BD9-81ED-4DB2-BD59-A6C34878D82A}">
                    <a16:rowId xmlns:a16="http://schemas.microsoft.com/office/drawing/2014/main" val="10016"/>
                  </a:ext>
                </a:extLst>
              </a:tr>
              <a:tr h="170045">
                <a:tc>
                  <a:txBody>
                    <a:bodyPr/>
                    <a:lstStyle/>
                    <a:p>
                      <a:pPr algn="l"/>
                      <a:r>
                        <a:rPr sz="1050" b="0" i="0">
                          <a:solidFill>
                            <a:srgbClr val="000000"/>
                          </a:solidFill>
                          <a:latin typeface="Calibri"/>
                        </a:rPr>
                        <a:t>Figure 102: USA Market Value of Practitioner / Clinic Channel (Sales Channel), US$ Mn, 2021–2036</a:t>
                      </a:r>
                      <a:endParaRPr sz="1050"/>
                    </a:p>
                  </a:txBody>
                  <a:tcPr marL="9525" marR="9525" marT="9525" marB="0" anchor="ctr"/>
                </a:tc>
                <a:extLst>
                  <a:ext uri="{0D108BD9-81ED-4DB2-BD59-A6C34878D82A}">
                    <a16:rowId xmlns:a16="http://schemas.microsoft.com/office/drawing/2014/main" val="10017"/>
                  </a:ext>
                </a:extLst>
              </a:tr>
              <a:tr h="170045">
                <a:tc>
                  <a:txBody>
                    <a:bodyPr/>
                    <a:lstStyle/>
                    <a:p>
                      <a:pPr algn="l"/>
                      <a:r>
                        <a:rPr sz="1050" b="0" i="0">
                          <a:solidFill>
                            <a:srgbClr val="000000"/>
                          </a:solidFill>
                          <a:latin typeface="Calibri"/>
                        </a:rPr>
                        <a:t>Figure 103: USA Market Customer and Channel Mix by Sales Channel, %, 2036</a:t>
                      </a:r>
                      <a:endParaRPr sz="1050"/>
                    </a:p>
                  </a:txBody>
                  <a:tcPr marL="9525" marR="9525" marT="9525" marB="0" anchor="ctr"/>
                </a:tc>
                <a:extLst>
                  <a:ext uri="{0D108BD9-81ED-4DB2-BD59-A6C34878D82A}">
                    <a16:rowId xmlns:a16="http://schemas.microsoft.com/office/drawing/2014/main" val="10018"/>
                  </a:ext>
                </a:extLst>
              </a:tr>
              <a:tr h="170045">
                <a:tc>
                  <a:txBody>
                    <a:bodyPr/>
                    <a:lstStyle/>
                    <a:p>
                      <a:pPr algn="l"/>
                      <a:r>
                        <a:rPr sz="1050" b="0" i="0">
                          <a:solidFill>
                            <a:srgbClr val="000000"/>
                          </a:solidFill>
                          <a:latin typeface="Calibri"/>
                        </a:rPr>
                        <a:t>Figure 104: USA Market Average Selling Price Trend, US$/Units, 2021–2036</a:t>
                      </a:r>
                      <a:endParaRPr sz="1050"/>
                    </a:p>
                  </a:txBody>
                  <a:tcPr marL="9525" marR="9525" marT="9525" marB="0" anchor="ctr"/>
                </a:tc>
                <a:extLst>
                  <a:ext uri="{0D108BD9-81ED-4DB2-BD59-A6C34878D82A}">
                    <a16:rowId xmlns:a16="http://schemas.microsoft.com/office/drawing/2014/main" val="10019"/>
                  </a:ext>
                </a:extLst>
              </a:tr>
              <a:tr h="170045">
                <a:tc>
                  <a:txBody>
                    <a:bodyPr/>
                    <a:lstStyle/>
                    <a:p>
                      <a:pPr algn="l"/>
                      <a:r>
                        <a:rPr sz="1050" b="0" i="0">
                          <a:solidFill>
                            <a:srgbClr val="000000"/>
                          </a:solidFill>
                          <a:latin typeface="Calibri"/>
                        </a:rPr>
                        <a:t>Figure 105: USA Market Average Selling Price Outlook, US$/Units, 2026–2036</a:t>
                      </a:r>
                      <a:endParaRPr sz="1050"/>
                    </a:p>
                  </a:txBody>
                  <a:tcPr marL="9525" marR="9525" marT="9525" marB="0" anchor="ctr"/>
                </a:tc>
                <a:extLst>
                  <a:ext uri="{0D108BD9-81ED-4DB2-BD59-A6C34878D82A}">
                    <a16:rowId xmlns:a16="http://schemas.microsoft.com/office/drawing/2014/main" val="10020"/>
                  </a:ext>
                </a:extLst>
              </a:tr>
              <a:tr h="170045">
                <a:tc>
                  <a:txBody>
                    <a:bodyPr/>
                    <a:lstStyle/>
                    <a:p>
                      <a:pPr algn="l"/>
                      <a:r>
                        <a:rPr sz="1050" b="0" i="0">
                          <a:solidFill>
                            <a:srgbClr val="000000"/>
                          </a:solidFill>
                          <a:latin typeface="Calibri"/>
                        </a:rPr>
                        <a:t>Figure 106: USA Market Average Selling Price by Product Format, US$/Units, 2026 and 2036</a:t>
                      </a:r>
                      <a:endParaRPr sz="1050"/>
                    </a:p>
                  </a:txBody>
                  <a:tcPr marL="9525" marR="9525" marT="9525" marB="0" anchor="ctr"/>
                </a:tc>
                <a:extLst>
                  <a:ext uri="{0D108BD9-81ED-4DB2-BD59-A6C34878D82A}">
                    <a16:rowId xmlns:a16="http://schemas.microsoft.com/office/drawing/2014/main" val="10021"/>
                  </a:ext>
                </a:extLst>
              </a:tr>
              <a:tr h="170045">
                <a:tc>
                  <a:txBody>
                    <a:bodyPr/>
                    <a:lstStyle/>
                    <a:p>
                      <a:pPr algn="l"/>
                      <a:r>
                        <a:rPr sz="1050" b="0" i="0">
                          <a:solidFill>
                            <a:srgbClr val="000000"/>
                          </a:solidFill>
                          <a:latin typeface="Calibri"/>
                        </a:rPr>
                        <a:t>Figure 107: USA Market Average Selling Price by Product Type, US$/Units, 2026 and 2036</a:t>
                      </a:r>
                      <a:endParaRPr sz="1050"/>
                    </a:p>
                  </a:txBody>
                  <a:tcPr marL="9525" marR="9525" marT="9525" marB="0" anchor="ctr"/>
                </a:tc>
                <a:extLst>
                  <a:ext uri="{0D108BD9-81ED-4DB2-BD59-A6C34878D82A}">
                    <a16:rowId xmlns:a16="http://schemas.microsoft.com/office/drawing/2014/main" val="10022"/>
                  </a:ext>
                </a:extLst>
              </a:tr>
              <a:tr h="170045">
                <a:tc>
                  <a:txBody>
                    <a:bodyPr/>
                    <a:lstStyle/>
                    <a:p>
                      <a:pPr algn="l"/>
                      <a:r>
                        <a:rPr sz="1050" b="0" i="0">
                          <a:solidFill>
                            <a:srgbClr val="000000"/>
                          </a:solidFill>
                          <a:latin typeface="Calibri"/>
                        </a:rPr>
                        <a:t>Figure 108: USA Market Average Selling Price by Sales Channel, US$/Units, 2026 and 2036</a:t>
                      </a:r>
                      <a:endParaRPr sz="1050"/>
                    </a:p>
                  </a:txBody>
                  <a:tcPr marL="9525" marR="9525" marT="9525" marB="0" anchor="ctr"/>
                </a:tc>
                <a:extLst>
                  <a:ext uri="{0D108BD9-81ED-4DB2-BD59-A6C34878D82A}">
                    <a16:rowId xmlns:a16="http://schemas.microsoft.com/office/drawing/2014/main" val="10023"/>
                  </a:ext>
                </a:extLst>
              </a:tr>
              <a:tr h="170045">
                <a:tc>
                  <a:txBody>
                    <a:bodyPr/>
                    <a:lstStyle/>
                    <a:p>
                      <a:pPr algn="l"/>
                      <a:r>
                        <a:rPr sz="1050" b="0" i="0">
                          <a:solidFill>
                            <a:srgbClr val="000000"/>
                          </a:solidFill>
                          <a:latin typeface="Calibri"/>
                        </a:rPr>
                        <a:t>Figure 109: USA Market Value Chain Structure, 2026</a:t>
                      </a:r>
                      <a:endParaRPr sz="1050"/>
                    </a:p>
                  </a:txBody>
                  <a:tcPr marL="9525" marR="9525" marT="9525" marB="0" anchor="ctr"/>
                </a:tc>
                <a:extLst>
                  <a:ext uri="{0D108BD9-81ED-4DB2-BD59-A6C34878D82A}">
                    <a16:rowId xmlns:a16="http://schemas.microsoft.com/office/drawing/2014/main" val="10024"/>
                  </a:ext>
                </a:extLst>
              </a:tr>
              <a:tr h="170045">
                <a:tc>
                  <a:txBody>
                    <a:bodyPr/>
                    <a:lstStyle/>
                    <a:p>
                      <a:pPr algn="l"/>
                      <a:r>
                        <a:rPr sz="1050" b="0" i="0">
                          <a:solidFill>
                            <a:srgbClr val="000000"/>
                          </a:solidFill>
                          <a:latin typeface="Calibri"/>
                        </a:rPr>
                        <a:t>Figure 110: USA Market Margin Distribution across the Value Chain, %, 2026</a:t>
                      </a:r>
                      <a:endParaRPr sz="1050"/>
                    </a:p>
                  </a:txBody>
                  <a:tcPr marL="9525" marR="9525" marT="9525" marB="0" anchor="ctr"/>
                </a:tc>
                <a:extLst>
                  <a:ext uri="{0D108BD9-81ED-4DB2-BD59-A6C34878D82A}">
                    <a16:rowId xmlns:a16="http://schemas.microsoft.com/office/drawing/2014/main" val="10025"/>
                  </a:ext>
                </a:extLst>
              </a:tr>
              <a:tr h="170045">
                <a:tc>
                  <a:txBody>
                    <a:bodyPr/>
                    <a:lstStyle/>
                    <a:p>
                      <a:pPr algn="l"/>
                      <a:r>
                        <a:rPr sz="1050" b="0" i="0">
                          <a:solidFill>
                            <a:srgbClr val="000000"/>
                          </a:solidFill>
                          <a:latin typeface="Calibri"/>
                        </a:rPr>
                        <a:t>Figure 111: USA Market Cost Structure Breakdown, %, 2026</a:t>
                      </a:r>
                      <a:endParaRPr sz="1050"/>
                    </a:p>
                  </a:txBody>
                  <a:tcPr marL="9525" marR="9525" marT="9525" marB="0" anchor="ctr"/>
                </a:tc>
                <a:extLst>
                  <a:ext uri="{0D108BD9-81ED-4DB2-BD59-A6C34878D82A}">
                    <a16:rowId xmlns:a16="http://schemas.microsoft.com/office/drawing/2014/main" val="10026"/>
                  </a:ext>
                </a:extLst>
              </a:tr>
              <a:tr h="170045">
                <a:tc>
                  <a:txBody>
                    <a:bodyPr/>
                    <a:lstStyle/>
                    <a:p>
                      <a:pPr algn="l"/>
                      <a:r>
                        <a:rPr sz="1050" b="0" i="0">
                          <a:solidFill>
                            <a:srgbClr val="000000"/>
                          </a:solidFill>
                          <a:latin typeface="Calibri"/>
                        </a:rPr>
                        <a:t>Figure 112: USA Market Pricing Pressure Assessment by Product Format, 2026–2036</a:t>
                      </a:r>
                      <a:endParaRPr sz="1050"/>
                    </a:p>
                  </a:txBody>
                  <a:tcPr marL="9525" marR="9525" marT="9525" marB="0" anchor="ctr"/>
                </a:tc>
                <a:extLst>
                  <a:ext uri="{0D108BD9-81ED-4DB2-BD59-A6C34878D82A}">
                    <a16:rowId xmlns:a16="http://schemas.microsoft.com/office/drawing/2014/main" val="10027"/>
                  </a:ext>
                </a:extLst>
              </a:tr>
              <a:tr h="170045">
                <a:tc>
                  <a:txBody>
                    <a:bodyPr/>
                    <a:lstStyle/>
                    <a:p>
                      <a:pPr algn="l"/>
                      <a:r>
                        <a:rPr sz="1050" b="0" i="0">
                          <a:solidFill>
                            <a:srgbClr val="000000"/>
                          </a:solidFill>
                          <a:latin typeface="Calibri"/>
                        </a:rPr>
                        <a:t>Figure 113: USA Market Import and Export Share, %, 2025</a:t>
                      </a:r>
                      <a:endParaRPr sz="1050"/>
                    </a:p>
                  </a:txBody>
                  <a:tcPr marL="9525" marR="9525" marT="9525" marB="0" anchor="ctr"/>
                </a:tc>
                <a:extLst>
                  <a:ext uri="{0D108BD9-81ED-4DB2-BD59-A6C34878D82A}">
                    <a16:rowId xmlns:a16="http://schemas.microsoft.com/office/drawing/2014/main" val="10028"/>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List of Figures (3/3)</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69606">
                <a:tc>
                  <a:txBody>
                    <a:bodyPr/>
                    <a:lstStyle/>
                    <a:p>
                      <a:pPr algn="l"/>
                      <a:r>
                        <a:rPr sz="1050" b="0" i="0">
                          <a:solidFill>
                            <a:srgbClr val="000000"/>
                          </a:solidFill>
                          <a:latin typeface="Calibri"/>
                        </a:rPr>
                        <a:t>Figure 114: USA Market Trade Balance by Leading Country, US$ Mn, 2025</a:t>
                      </a:r>
                      <a:endParaRPr sz="1050"/>
                    </a:p>
                  </a:txBody>
                  <a:tcPr marL="9525" marR="9525" marT="9525" marB="0" anchor="ctr"/>
                </a:tc>
                <a:extLst>
                  <a:ext uri="{0D108BD9-81ED-4DB2-BD59-A6C34878D82A}">
                    <a16:rowId xmlns:a16="http://schemas.microsoft.com/office/drawing/2014/main" val="10000"/>
                  </a:ext>
                </a:extLst>
              </a:tr>
              <a:tr h="169606">
                <a:tc>
                  <a:txBody>
                    <a:bodyPr/>
                    <a:lstStyle/>
                    <a:p>
                      <a:pPr algn="l"/>
                      <a:r>
                        <a:rPr sz="1050" b="0" i="0">
                          <a:solidFill>
                            <a:srgbClr val="000000"/>
                          </a:solidFill>
                          <a:latin typeface="Calibri"/>
                        </a:rPr>
                        <a:t>Figure 115: USA Market Raw Material Price Index, 2025=100, 2021–2036</a:t>
                      </a:r>
                      <a:endParaRPr sz="1050"/>
                    </a:p>
                  </a:txBody>
                  <a:tcPr marL="9525" marR="9525" marT="9525" marB="0" anchor="ctr"/>
                </a:tc>
                <a:extLst>
                  <a:ext uri="{0D108BD9-81ED-4DB2-BD59-A6C34878D82A}">
                    <a16:rowId xmlns:a16="http://schemas.microsoft.com/office/drawing/2014/main" val="10001"/>
                  </a:ext>
                </a:extLst>
              </a:tr>
              <a:tr h="169606">
                <a:tc>
                  <a:txBody>
                    <a:bodyPr/>
                    <a:lstStyle/>
                    <a:p>
                      <a:pPr algn="l"/>
                      <a:r>
                        <a:rPr sz="1050" b="0" i="0">
                          <a:solidFill>
                            <a:srgbClr val="000000"/>
                          </a:solidFill>
                          <a:latin typeface="Calibri"/>
                        </a:rPr>
                        <a:t>Figure 116: USA Market Distribution Channel Margin Comparison, %, 2026</a:t>
                      </a:r>
                      <a:endParaRPr sz="1050"/>
                    </a:p>
                  </a:txBody>
                  <a:tcPr marL="9525" marR="9525" marT="9525" marB="0" anchor="ctr"/>
                </a:tc>
                <a:extLst>
                  <a:ext uri="{0D108BD9-81ED-4DB2-BD59-A6C34878D82A}">
                    <a16:rowId xmlns:a16="http://schemas.microsoft.com/office/drawing/2014/main" val="10002"/>
                  </a:ext>
                </a:extLst>
              </a:tr>
              <a:tr h="169606">
                <a:tc>
                  <a:txBody>
                    <a:bodyPr/>
                    <a:lstStyle/>
                    <a:p>
                      <a:pPr algn="l"/>
                      <a:r>
                        <a:rPr sz="1050" b="0" i="0">
                          <a:solidFill>
                            <a:srgbClr val="000000"/>
                          </a:solidFill>
                          <a:latin typeface="Calibri"/>
                        </a:rPr>
                        <a:t>Figure 117: USA Market Price Band Distribution by Product Format, %, 2026</a:t>
                      </a:r>
                      <a:endParaRPr sz="1050"/>
                    </a:p>
                  </a:txBody>
                  <a:tcPr marL="9525" marR="9525" marT="9525" marB="0" anchor="ctr"/>
                </a:tc>
                <a:extLst>
                  <a:ext uri="{0D108BD9-81ED-4DB2-BD59-A6C34878D82A}">
                    <a16:rowId xmlns:a16="http://schemas.microsoft.com/office/drawing/2014/main" val="10003"/>
                  </a:ext>
                </a:extLst>
              </a:tr>
              <a:tr h="169606">
                <a:tc>
                  <a:txBody>
                    <a:bodyPr/>
                    <a:lstStyle/>
                    <a:p>
                      <a:pPr algn="l"/>
                      <a:r>
                        <a:rPr sz="1050" b="0" i="0">
                          <a:solidFill>
                            <a:srgbClr val="000000"/>
                          </a:solidFill>
                          <a:latin typeface="Calibri"/>
                        </a:rPr>
                        <a:t>Figure 118: USA Market Pricing Factors Impact Assessment, 2026–2036</a:t>
                      </a:r>
                      <a:endParaRPr sz="1050"/>
                    </a:p>
                  </a:txBody>
                  <a:tcPr marL="9525" marR="9525" marT="9525" marB="0" anchor="ctr"/>
                </a:tc>
                <a:extLst>
                  <a:ext uri="{0D108BD9-81ED-4DB2-BD59-A6C34878D82A}">
                    <a16:rowId xmlns:a16="http://schemas.microsoft.com/office/drawing/2014/main" val="10004"/>
                  </a:ext>
                </a:extLst>
              </a:tr>
              <a:tr h="169606">
                <a:tc>
                  <a:txBody>
                    <a:bodyPr/>
                    <a:lstStyle/>
                    <a:p>
                      <a:pPr algn="l"/>
                      <a:r>
                        <a:rPr sz="1050" b="0" i="0">
                          <a:solidFill>
                            <a:srgbClr val="000000"/>
                          </a:solidFill>
                          <a:latin typeface="Calibri"/>
                        </a:rPr>
                        <a:t>Figure 119: USA Market Supply Chain Risk Assessment, 2026</a:t>
                      </a:r>
                      <a:endParaRPr sz="1050"/>
                    </a:p>
                  </a:txBody>
                  <a:tcPr marL="9525" marR="9525" marT="9525" marB="0" anchor="ctr"/>
                </a:tc>
                <a:extLst>
                  <a:ext uri="{0D108BD9-81ED-4DB2-BD59-A6C34878D82A}">
                    <a16:rowId xmlns:a16="http://schemas.microsoft.com/office/drawing/2014/main" val="10005"/>
                  </a:ext>
                </a:extLst>
              </a:tr>
              <a:tr h="169606">
                <a:tc>
                  <a:txBody>
                    <a:bodyPr/>
                    <a:lstStyle/>
                    <a:p>
                      <a:pPr algn="l"/>
                      <a:r>
                        <a:rPr sz="1050" b="0" i="0">
                          <a:solidFill>
                            <a:srgbClr val="000000"/>
                          </a:solidFill>
                          <a:latin typeface="Calibri"/>
                        </a:rPr>
                        <a:t>Figure 120: Company Market Share in the USA Market, %, 2026</a:t>
                      </a:r>
                      <a:endParaRPr sz="1050"/>
                    </a:p>
                  </a:txBody>
                  <a:tcPr marL="9525" marR="9525" marT="9525" marB="0" anchor="ctr"/>
                </a:tc>
                <a:extLst>
                  <a:ext uri="{0D108BD9-81ED-4DB2-BD59-A6C34878D82A}">
                    <a16:rowId xmlns:a16="http://schemas.microsoft.com/office/drawing/2014/main" val="10006"/>
                  </a:ext>
                </a:extLst>
              </a:tr>
              <a:tr h="169606">
                <a:tc>
                  <a:txBody>
                    <a:bodyPr/>
                    <a:lstStyle/>
                    <a:p>
                      <a:pPr algn="l"/>
                      <a:r>
                        <a:rPr sz="1050" b="0" i="0">
                          <a:solidFill>
                            <a:srgbClr val="000000"/>
                          </a:solidFill>
                          <a:latin typeface="Calibri"/>
                        </a:rPr>
                        <a:t>Figure 121: Competitive Positioning of Leading Prenatal Vitamin Supplements Manufacturers, 2026</a:t>
                      </a:r>
                      <a:endParaRPr sz="1050"/>
                    </a:p>
                  </a:txBody>
                  <a:tcPr marL="9525" marR="9525" marT="9525" marB="0" anchor="ctr"/>
                </a:tc>
                <a:extLst>
                  <a:ext uri="{0D108BD9-81ED-4DB2-BD59-A6C34878D82A}">
                    <a16:rowId xmlns:a16="http://schemas.microsoft.com/office/drawing/2014/main" val="10007"/>
                  </a:ext>
                </a:extLst>
              </a:tr>
              <a:tr h="169606">
                <a:tc>
                  <a:txBody>
                    <a:bodyPr/>
                    <a:lstStyle/>
                    <a:p>
                      <a:pPr algn="l"/>
                      <a:r>
                        <a:rPr sz="1050" b="0" i="0">
                          <a:solidFill>
                            <a:srgbClr val="000000"/>
                          </a:solidFill>
                          <a:latin typeface="Calibri"/>
                        </a:rPr>
                        <a:t>Figure 122: Company Revenue from the USA Market, US$ Mn, 2026</a:t>
                      </a:r>
                      <a:endParaRPr sz="1050"/>
                    </a:p>
                  </a:txBody>
                  <a:tcPr marL="9525" marR="9525" marT="9525" marB="0" anchor="ctr"/>
                </a:tc>
                <a:extLst>
                  <a:ext uri="{0D108BD9-81ED-4DB2-BD59-A6C34878D82A}">
                    <a16:rowId xmlns:a16="http://schemas.microsoft.com/office/drawing/2014/main" val="10008"/>
                  </a:ext>
                </a:extLst>
              </a:tr>
              <a:tr h="169606">
                <a:tc>
                  <a:txBody>
                    <a:bodyPr/>
                    <a:lstStyle/>
                    <a:p>
                      <a:pPr algn="l"/>
                      <a:r>
                        <a:rPr sz="1050" b="0" i="0">
                          <a:solidFill>
                            <a:srgbClr val="000000"/>
                          </a:solidFill>
                          <a:latin typeface="Calibri"/>
                        </a:rPr>
                        <a:t>Figure 123: USA Market Concentration by Company Tier, %, 2026</a:t>
                      </a:r>
                      <a:endParaRPr sz="1050"/>
                    </a:p>
                  </a:txBody>
                  <a:tcPr marL="9525" marR="9525" marT="9525" marB="0" anchor="ctr"/>
                </a:tc>
                <a:extLst>
                  <a:ext uri="{0D108BD9-81ED-4DB2-BD59-A6C34878D82A}">
                    <a16:rowId xmlns:a16="http://schemas.microsoft.com/office/drawing/2014/main" val="10009"/>
                  </a:ext>
                </a:extLst>
              </a:tr>
              <a:tr h="169606">
                <a:tc>
                  <a:txBody>
                    <a:bodyPr/>
                    <a:lstStyle/>
                    <a:p>
                      <a:pPr algn="l"/>
                      <a:r>
                        <a:rPr sz="1050" b="0" i="0">
                          <a:solidFill>
                            <a:srgbClr val="000000"/>
                          </a:solidFill>
                          <a:latin typeface="Calibri"/>
                        </a:rPr>
                        <a:t>Figure 124: USA Market Competitive Intensity Assessment, 2026</a:t>
                      </a:r>
                      <a:endParaRPr sz="1050"/>
                    </a:p>
                  </a:txBody>
                  <a:tcPr marL="9525" marR="9525" marT="9525" marB="0" anchor="ctr"/>
                </a:tc>
                <a:extLst>
                  <a:ext uri="{0D108BD9-81ED-4DB2-BD59-A6C34878D82A}">
                    <a16:rowId xmlns:a16="http://schemas.microsoft.com/office/drawing/2014/main" val="10010"/>
                  </a:ext>
                </a:extLst>
              </a:tr>
              <a:tr h="169606">
                <a:tc>
                  <a:txBody>
                    <a:bodyPr/>
                    <a:lstStyle/>
                    <a:p>
                      <a:pPr algn="l"/>
                      <a:r>
                        <a:rPr sz="1050" b="0" i="0">
                          <a:solidFill>
                            <a:srgbClr val="000000"/>
                          </a:solidFill>
                          <a:latin typeface="Calibri"/>
                        </a:rPr>
                        <a:t>Figure 125: Company A: Revenue from the USA Market and Share, US$ Mn and %, 2026</a:t>
                      </a:r>
                      <a:endParaRPr sz="1050"/>
                    </a:p>
                  </a:txBody>
                  <a:tcPr marL="9525" marR="9525" marT="9525" marB="0" anchor="ctr"/>
                </a:tc>
                <a:extLst>
                  <a:ext uri="{0D108BD9-81ED-4DB2-BD59-A6C34878D82A}">
                    <a16:rowId xmlns:a16="http://schemas.microsoft.com/office/drawing/2014/main" val="10011"/>
                  </a:ext>
                </a:extLst>
              </a:tr>
              <a:tr h="169606">
                <a:tc>
                  <a:txBody>
                    <a:bodyPr/>
                    <a:lstStyle/>
                    <a:p>
                      <a:pPr algn="l"/>
                      <a:r>
                        <a:rPr sz="1050" b="0" i="0">
                          <a:solidFill>
                            <a:srgbClr val="000000"/>
                          </a:solidFill>
                          <a:latin typeface="Calibri"/>
                        </a:rPr>
                        <a:t>Figure 126: Company B: Revenue from the USA Market and Share, US$ Mn and %, 2026</a:t>
                      </a:r>
                      <a:endParaRPr sz="1050"/>
                    </a:p>
                  </a:txBody>
                  <a:tcPr marL="9525" marR="9525" marT="9525" marB="0" anchor="ctr"/>
                </a:tc>
                <a:extLst>
                  <a:ext uri="{0D108BD9-81ED-4DB2-BD59-A6C34878D82A}">
                    <a16:rowId xmlns:a16="http://schemas.microsoft.com/office/drawing/2014/main" val="10012"/>
                  </a:ext>
                </a:extLst>
              </a:tr>
              <a:tr h="169606">
                <a:tc>
                  <a:txBody>
                    <a:bodyPr/>
                    <a:lstStyle/>
                    <a:p>
                      <a:pPr algn="l"/>
                      <a:r>
                        <a:rPr sz="1050" b="0" i="0">
                          <a:solidFill>
                            <a:srgbClr val="000000"/>
                          </a:solidFill>
                          <a:latin typeface="Calibri"/>
                        </a:rPr>
                        <a:t>Figure 127: Company C: Revenue from the USA Market and Share, US$ Mn and %, 2026</a:t>
                      </a:r>
                      <a:endParaRPr sz="1050"/>
                    </a:p>
                  </a:txBody>
                  <a:tcPr marL="9525" marR="9525" marT="9525" marB="0" anchor="ctr"/>
                </a:tc>
                <a:extLst>
                  <a:ext uri="{0D108BD9-81ED-4DB2-BD59-A6C34878D82A}">
                    <a16:rowId xmlns:a16="http://schemas.microsoft.com/office/drawing/2014/main" val="10013"/>
                  </a:ext>
                </a:extLst>
              </a:tr>
              <a:tr h="169606">
                <a:tc>
                  <a:txBody>
                    <a:bodyPr/>
                    <a:lstStyle/>
                    <a:p>
                      <a:pPr algn="l"/>
                      <a:r>
                        <a:rPr sz="1050" b="0" i="0">
                          <a:solidFill>
                            <a:srgbClr val="000000"/>
                          </a:solidFill>
                          <a:latin typeface="Calibri"/>
                        </a:rPr>
                        <a:t>Figure 128: Company D: Revenue from the USA Market and Share, US$ Mn and %, 2026</a:t>
                      </a:r>
                      <a:endParaRPr sz="1050"/>
                    </a:p>
                  </a:txBody>
                  <a:tcPr marL="9525" marR="9525" marT="9525" marB="0" anchor="ctr"/>
                </a:tc>
                <a:extLst>
                  <a:ext uri="{0D108BD9-81ED-4DB2-BD59-A6C34878D82A}">
                    <a16:rowId xmlns:a16="http://schemas.microsoft.com/office/drawing/2014/main" val="10014"/>
                  </a:ext>
                </a:extLst>
              </a:tr>
              <a:tr h="169606">
                <a:tc>
                  <a:txBody>
                    <a:bodyPr/>
                    <a:lstStyle/>
                    <a:p>
                      <a:pPr algn="l"/>
                      <a:r>
                        <a:rPr sz="1050" b="0" i="0">
                          <a:solidFill>
                            <a:srgbClr val="000000"/>
                          </a:solidFill>
                          <a:latin typeface="Calibri"/>
                        </a:rPr>
                        <a:t>Figure 129: Company E: Revenue from the USA Market and Share, US$ Mn and %, 2026</a:t>
                      </a:r>
                      <a:endParaRPr sz="1050"/>
                    </a:p>
                  </a:txBody>
                  <a:tcPr marL="9525" marR="9525" marT="9525" marB="0" anchor="ctr"/>
                </a:tc>
                <a:extLst>
                  <a:ext uri="{0D108BD9-81ED-4DB2-BD59-A6C34878D82A}">
                    <a16:rowId xmlns:a16="http://schemas.microsoft.com/office/drawing/2014/main" val="10015"/>
                  </a:ext>
                </a:extLst>
              </a:tr>
              <a:tr h="169606">
                <a:tc>
                  <a:txBody>
                    <a:bodyPr/>
                    <a:lstStyle/>
                    <a:p>
                      <a:pPr algn="l"/>
                      <a:r>
                        <a:rPr sz="1050" b="0" i="0">
                          <a:solidFill>
                            <a:srgbClr val="000000"/>
                          </a:solidFill>
                          <a:latin typeface="Calibri"/>
                        </a:rPr>
                        <a:t>Figure 130: Company F: Revenue from the USA Market and Share, US$ Mn and %, 2026</a:t>
                      </a:r>
                      <a:endParaRPr sz="1050"/>
                    </a:p>
                  </a:txBody>
                  <a:tcPr marL="9525" marR="9525" marT="9525" marB="0" anchor="ctr"/>
                </a:tc>
                <a:extLst>
                  <a:ext uri="{0D108BD9-81ED-4DB2-BD59-A6C34878D82A}">
                    <a16:rowId xmlns:a16="http://schemas.microsoft.com/office/drawing/2014/main" val="10016"/>
                  </a:ext>
                </a:extLst>
              </a:tr>
              <a:tr h="169606">
                <a:tc>
                  <a:txBody>
                    <a:bodyPr/>
                    <a:lstStyle/>
                    <a:p>
                      <a:pPr algn="l"/>
                      <a:r>
                        <a:rPr sz="1050" b="0" i="0">
                          <a:solidFill>
                            <a:srgbClr val="000000"/>
                          </a:solidFill>
                          <a:latin typeface="Calibri"/>
                        </a:rPr>
                        <a:t>Figure 131: Company G: Revenue from the USA Market and Share, US$ Mn and %, 2026</a:t>
                      </a:r>
                      <a:endParaRPr sz="1050"/>
                    </a:p>
                  </a:txBody>
                  <a:tcPr marL="9525" marR="9525" marT="9525" marB="0" anchor="ctr"/>
                </a:tc>
                <a:extLst>
                  <a:ext uri="{0D108BD9-81ED-4DB2-BD59-A6C34878D82A}">
                    <a16:rowId xmlns:a16="http://schemas.microsoft.com/office/drawing/2014/main" val="10017"/>
                  </a:ext>
                </a:extLst>
              </a:tr>
              <a:tr h="169606">
                <a:tc>
                  <a:txBody>
                    <a:bodyPr/>
                    <a:lstStyle/>
                    <a:p>
                      <a:pPr algn="l"/>
                      <a:r>
                        <a:rPr sz="1050" b="0" i="0">
                          <a:solidFill>
                            <a:srgbClr val="000000"/>
                          </a:solidFill>
                          <a:latin typeface="Calibri"/>
                        </a:rPr>
                        <a:t>Figure 132: Company H: Revenue from the USA Market and Share, US$ Mn and %, 2026</a:t>
                      </a:r>
                      <a:endParaRPr sz="1050"/>
                    </a:p>
                  </a:txBody>
                  <a:tcPr marL="9525" marR="9525" marT="9525" marB="0" anchor="ctr"/>
                </a:tc>
                <a:extLst>
                  <a:ext uri="{0D108BD9-81ED-4DB2-BD59-A6C34878D82A}">
                    <a16:rowId xmlns:a16="http://schemas.microsoft.com/office/drawing/2014/main" val="10018"/>
                  </a:ext>
                </a:extLst>
              </a:tr>
              <a:tr h="169606">
                <a:tc>
                  <a:txBody>
                    <a:bodyPr/>
                    <a:lstStyle/>
                    <a:p>
                      <a:pPr algn="l"/>
                      <a:r>
                        <a:rPr sz="1050" b="0" i="0">
                          <a:solidFill>
                            <a:srgbClr val="000000"/>
                          </a:solidFill>
                          <a:latin typeface="Calibri"/>
                        </a:rPr>
                        <a:t>Figure 133: USA Market Strategic Developments by Type, %, 2025–2026</a:t>
                      </a:r>
                      <a:endParaRPr sz="1050"/>
                    </a:p>
                  </a:txBody>
                  <a:tcPr marL="9525" marR="9525" marT="9525" marB="0" anchor="ctr"/>
                </a:tc>
                <a:extLst>
                  <a:ext uri="{0D108BD9-81ED-4DB2-BD59-A6C34878D82A}">
                    <a16:rowId xmlns:a16="http://schemas.microsoft.com/office/drawing/2014/main" val="10019"/>
                  </a:ext>
                </a:extLst>
              </a:tr>
              <a:tr h="169606">
                <a:tc>
                  <a:txBody>
                    <a:bodyPr/>
                    <a:lstStyle/>
                    <a:p>
                      <a:pPr algn="l"/>
                      <a:r>
                        <a:rPr sz="1050" b="0" i="0">
                          <a:solidFill>
                            <a:srgbClr val="000000"/>
                          </a:solidFill>
                          <a:latin typeface="Calibri"/>
                        </a:rPr>
                        <a:t>Figure 134: USA Market Company Footprint by Region, 2026</a:t>
                      </a:r>
                      <a:endParaRPr sz="1050"/>
                    </a:p>
                  </a:txBody>
                  <a:tcPr marL="9525" marR="9525" marT="9525" marB="0" anchor="ctr"/>
                </a:tc>
                <a:extLst>
                  <a:ext uri="{0D108BD9-81ED-4DB2-BD59-A6C34878D82A}">
                    <a16:rowId xmlns:a16="http://schemas.microsoft.com/office/drawing/2014/main" val="10020"/>
                  </a:ext>
                </a:extLst>
              </a:tr>
              <a:tr h="169606">
                <a:tc>
                  <a:txBody>
                    <a:bodyPr/>
                    <a:lstStyle/>
                    <a:p>
                      <a:pPr algn="l"/>
                      <a:r>
                        <a:rPr sz="1050" b="0" i="0">
                          <a:solidFill>
                            <a:srgbClr val="000000"/>
                          </a:solidFill>
                          <a:latin typeface="Calibri"/>
                        </a:rPr>
                        <a:t>Figure 135: USA Market Value Forecast by Scenario, US$ Mn, 2026–2036</a:t>
                      </a:r>
                      <a:endParaRPr sz="1050"/>
                    </a:p>
                  </a:txBody>
                  <a:tcPr marL="9525" marR="9525" marT="9525" marB="0" anchor="ctr"/>
                </a:tc>
                <a:extLst>
                  <a:ext uri="{0D108BD9-81ED-4DB2-BD59-A6C34878D82A}">
                    <a16:rowId xmlns:a16="http://schemas.microsoft.com/office/drawing/2014/main" val="10021"/>
                  </a:ext>
                </a:extLst>
              </a:tr>
              <a:tr h="169606">
                <a:tc>
                  <a:txBody>
                    <a:bodyPr/>
                    <a:lstStyle/>
                    <a:p>
                      <a:pPr algn="l"/>
                      <a:r>
                        <a:rPr sz="1050" b="0" i="0">
                          <a:solidFill>
                            <a:srgbClr val="000000"/>
                          </a:solidFill>
                          <a:latin typeface="Calibri"/>
                        </a:rPr>
                        <a:t>Figure 136: USA Market YoY Growth by Scenario, %, 2026–2036</a:t>
                      </a:r>
                      <a:endParaRPr sz="1050"/>
                    </a:p>
                  </a:txBody>
                  <a:tcPr marL="9525" marR="9525" marT="9525" marB="0" anchor="ctr"/>
                </a:tc>
                <a:extLst>
                  <a:ext uri="{0D108BD9-81ED-4DB2-BD59-A6C34878D82A}">
                    <a16:rowId xmlns:a16="http://schemas.microsoft.com/office/drawing/2014/main" val="10022"/>
                  </a:ext>
                </a:extLst>
              </a:tr>
              <a:tr h="169606">
                <a:tc>
                  <a:txBody>
                    <a:bodyPr/>
                    <a:lstStyle/>
                    <a:p>
                      <a:pPr algn="l"/>
                      <a:r>
                        <a:rPr sz="1050" b="0" i="0">
                          <a:solidFill>
                            <a:srgbClr val="000000"/>
                          </a:solidFill>
                          <a:latin typeface="Calibri"/>
                        </a:rPr>
                        <a:t>Figure 137: USA Market Key Trends Impact Assessment, 2026–2036</a:t>
                      </a:r>
                      <a:endParaRPr sz="1050"/>
                    </a:p>
                  </a:txBody>
                  <a:tcPr marL="9525" marR="9525" marT="9525" marB="0" anchor="ctr"/>
                </a:tc>
                <a:extLst>
                  <a:ext uri="{0D108BD9-81ED-4DB2-BD59-A6C34878D82A}">
                    <a16:rowId xmlns:a16="http://schemas.microsoft.com/office/drawing/2014/main" val="10023"/>
                  </a:ext>
                </a:extLst>
              </a:tr>
              <a:tr h="169606">
                <a:tc>
                  <a:txBody>
                    <a:bodyPr/>
                    <a:lstStyle/>
                    <a:p>
                      <a:pPr algn="l"/>
                      <a:r>
                        <a:rPr sz="1050" b="0" i="0">
                          <a:solidFill>
                            <a:srgbClr val="000000"/>
                          </a:solidFill>
                          <a:latin typeface="Calibri"/>
                        </a:rPr>
                        <a:t>Figure 138: USA Market Drivers, Restraints and Opportunities Impact, 2026–2036</a:t>
                      </a:r>
                      <a:endParaRPr sz="1050"/>
                    </a:p>
                  </a:txBody>
                  <a:tcPr marL="9525" marR="9525" marT="9525" marB="0" anchor="ctr"/>
                </a:tc>
                <a:extLst>
                  <a:ext uri="{0D108BD9-81ED-4DB2-BD59-A6C34878D82A}">
                    <a16:rowId xmlns:a16="http://schemas.microsoft.com/office/drawing/2014/main" val="10024"/>
                  </a:ext>
                </a:extLst>
              </a:tr>
              <a:tr h="169606">
                <a:tc>
                  <a:txBody>
                    <a:bodyPr/>
                    <a:lstStyle/>
                    <a:p>
                      <a:pPr algn="l"/>
                      <a:r>
                        <a:rPr sz="1050" b="0" i="0">
                          <a:solidFill>
                            <a:srgbClr val="000000"/>
                          </a:solidFill>
                          <a:latin typeface="Calibri"/>
                        </a:rPr>
                        <a:t>Figure 139: USA Market Opportunity Map by Product Format, 2026–2036</a:t>
                      </a:r>
                      <a:endParaRPr sz="1050"/>
                    </a:p>
                  </a:txBody>
                  <a:tcPr marL="9525" marR="9525" marT="9525" marB="0" anchor="ctr"/>
                </a:tc>
                <a:extLst>
                  <a:ext uri="{0D108BD9-81ED-4DB2-BD59-A6C34878D82A}">
                    <a16:rowId xmlns:a16="http://schemas.microsoft.com/office/drawing/2014/main" val="10025"/>
                  </a:ext>
                </a:extLst>
              </a:tr>
              <a:tr h="169606">
                <a:tc>
                  <a:txBody>
                    <a:bodyPr/>
                    <a:lstStyle/>
                    <a:p>
                      <a:pPr algn="l"/>
                      <a:r>
                        <a:rPr sz="1050" b="0" i="0">
                          <a:solidFill>
                            <a:srgbClr val="000000"/>
                          </a:solidFill>
                          <a:latin typeface="Calibri"/>
                        </a:rPr>
                        <a:t>Figure 140: USA Market Technology Adoption Roadmap, 2021–2036</a:t>
                      </a:r>
                      <a:endParaRPr sz="1050"/>
                    </a:p>
                  </a:txBody>
                  <a:tcPr marL="9525" marR="9525" marT="9525" marB="0" anchor="ctr"/>
                </a:tc>
                <a:extLst>
                  <a:ext uri="{0D108BD9-81ED-4DB2-BD59-A6C34878D82A}">
                    <a16:rowId xmlns:a16="http://schemas.microsoft.com/office/drawing/2014/main" val="10026"/>
                  </a:ext>
                </a:extLst>
              </a:tr>
              <a:tr h="169606">
                <a:tc>
                  <a:txBody>
                    <a:bodyPr/>
                    <a:lstStyle/>
                    <a:p>
                      <a:pPr algn="l"/>
                      <a:r>
                        <a:rPr sz="1050" b="0" i="0">
                          <a:solidFill>
                            <a:srgbClr val="000000"/>
                          </a:solidFill>
                          <a:latin typeface="Calibri"/>
                        </a:rPr>
                        <a:t>Figure 141: USA Market Emerging Opportunity Pockets by Product Format, US$ Mn, 2026–2036</a:t>
                      </a:r>
                      <a:endParaRPr sz="1050"/>
                    </a:p>
                  </a:txBody>
                  <a:tcPr marL="9525" marR="9525" marT="9525" marB="0" anchor="ctr"/>
                </a:tc>
                <a:extLst>
                  <a:ext uri="{0D108BD9-81ED-4DB2-BD59-A6C34878D82A}">
                    <a16:rowId xmlns:a16="http://schemas.microsoft.com/office/drawing/2014/main" val="10027"/>
                  </a:ext>
                </a:extLst>
              </a:tr>
              <a:tr h="169606">
                <a:tc>
                  <a:txBody>
                    <a:bodyPr/>
                    <a:lstStyle/>
                    <a:p>
                      <a:pPr algn="l"/>
                      <a:r>
                        <a:rPr sz="1050" b="0" i="0">
                          <a:solidFill>
                            <a:srgbClr val="000000"/>
                          </a:solidFill>
                          <a:latin typeface="Calibri"/>
                        </a:rPr>
                        <a:t>Figure 142: USA Market Risk and Sensitivity Analysis, %, 2026–2036</a:t>
                      </a:r>
                      <a:endParaRPr sz="1050"/>
                    </a:p>
                  </a:txBody>
                  <a:tcPr marL="9525" marR="9525" marT="9525" marB="0" anchor="ctr"/>
                </a:tc>
                <a:extLst>
                  <a:ext uri="{0D108BD9-81ED-4DB2-BD59-A6C34878D82A}">
                    <a16:rowId xmlns:a16="http://schemas.microsoft.com/office/drawing/2014/main" val="10028"/>
                  </a:ext>
                </a:extLst>
              </a:tr>
              <a:tr h="169606">
                <a:tc>
                  <a:txBody>
                    <a:bodyPr/>
                    <a:lstStyle/>
                    <a:p>
                      <a:pPr algn="l"/>
                      <a:r>
                        <a:rPr sz="1050" b="0" i="0">
                          <a:solidFill>
                            <a:srgbClr val="000000"/>
                          </a:solidFill>
                          <a:latin typeface="Calibri"/>
                        </a:rPr>
                        <a:t>Figure 143: USA Market Regulatory Landscape Timeline, 2021–2036</a:t>
                      </a:r>
                      <a:endParaRPr sz="1050"/>
                    </a:p>
                  </a:txBody>
                  <a:tcPr marL="9525" marR="9525" marT="9525" marB="0" anchor="ctr"/>
                </a:tc>
                <a:extLst>
                  <a:ext uri="{0D108BD9-81ED-4DB2-BD59-A6C34878D82A}">
                    <a16:rowId xmlns:a16="http://schemas.microsoft.com/office/drawing/2014/main" val="10029"/>
                  </a:ext>
                </a:extLst>
              </a:tr>
              <a:tr h="169606">
                <a:tc>
                  <a:txBody>
                    <a:bodyPr/>
                    <a:lstStyle/>
                    <a:p>
                      <a:pPr algn="l"/>
                      <a:r>
                        <a:rPr sz="1050" b="0" i="0">
                          <a:solidFill>
                            <a:srgbClr val="000000"/>
                          </a:solidFill>
                          <a:latin typeface="Calibri"/>
                        </a:rPr>
                        <a:t>Figure 144: USA Market Investment Hotspots, 2026–2036</a:t>
                      </a:r>
                      <a:endParaRPr sz="1050"/>
                    </a:p>
                  </a:txBody>
                  <a:tcPr marL="9525" marR="9525" marT="9525" marB="0" anchor="ctr"/>
                </a:tc>
                <a:extLst>
                  <a:ext uri="{0D108BD9-81ED-4DB2-BD59-A6C34878D82A}">
                    <a16:rowId xmlns:a16="http://schemas.microsoft.com/office/drawing/2014/main" val="10030"/>
                  </a:ext>
                </a:extLst>
              </a:tr>
            </a:tbl>
          </a:graphicData>
        </a:graphic>
      </p:graphicFrame>
      <p:graphicFrame>
        <p:nvGraphicFramePr>
          <p:cNvPr id="10" name="FMI Contents Table"/>
          <p:cNvGraphicFramePr>
            <a:graphicFrameLocks noGrp="1"/>
          </p:cNvGraphicFramePr>
          <p:nvPr/>
        </p:nvGraphicFramePr>
        <p:xfrm>
          <a:off x="6172200" y="981075"/>
          <a:ext cx="5876925" cy="1333504"/>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66688">
                <a:tc>
                  <a:txBody>
                    <a:bodyPr/>
                    <a:lstStyle/>
                    <a:p>
                      <a:pPr algn="l"/>
                      <a:r>
                        <a:rPr sz="1050" b="0" i="0">
                          <a:solidFill>
                            <a:srgbClr val="000000"/>
                          </a:solidFill>
                          <a:latin typeface="Calibri"/>
                        </a:rPr>
                        <a:t>Figure 145: USA Market Innovation Pipeline Assessment, 2026</a:t>
                      </a:r>
                      <a:endParaRPr sz="1050"/>
                    </a:p>
                  </a:txBody>
                  <a:tcPr marL="9525" marR="9525" marT="9525" marB="0" anchor="ctr"/>
                </a:tc>
                <a:extLst>
                  <a:ext uri="{0D108BD9-81ED-4DB2-BD59-A6C34878D82A}">
                    <a16:rowId xmlns:a16="http://schemas.microsoft.com/office/drawing/2014/main" val="10000"/>
                  </a:ext>
                </a:extLst>
              </a:tr>
              <a:tr h="166688">
                <a:tc>
                  <a:txBody>
                    <a:bodyPr/>
                    <a:lstStyle/>
                    <a:p>
                      <a:pPr algn="l"/>
                      <a:r>
                        <a:rPr sz="1050" b="0" i="0">
                          <a:solidFill>
                            <a:srgbClr val="000000"/>
                          </a:solidFill>
                          <a:latin typeface="Calibri"/>
                        </a:rPr>
                        <a:t>Figure 146: USA Market Demand Shift Analysis by Product Format, %, 2026–2036</a:t>
                      </a:r>
                      <a:endParaRPr sz="1050"/>
                    </a:p>
                  </a:txBody>
                  <a:tcPr marL="9525" marR="9525" marT="9525" marB="0" anchor="ctr"/>
                </a:tc>
                <a:extLst>
                  <a:ext uri="{0D108BD9-81ED-4DB2-BD59-A6C34878D82A}">
                    <a16:rowId xmlns:a16="http://schemas.microsoft.com/office/drawing/2014/main" val="10001"/>
                  </a:ext>
                </a:extLst>
              </a:tr>
              <a:tr h="166688">
                <a:tc>
                  <a:txBody>
                    <a:bodyPr/>
                    <a:lstStyle/>
                    <a:p>
                      <a:pPr algn="l"/>
                      <a:r>
                        <a:rPr sz="1050" b="0" i="0">
                          <a:solidFill>
                            <a:srgbClr val="000000"/>
                          </a:solidFill>
                          <a:latin typeface="Calibri"/>
                        </a:rPr>
                        <a:t>Figure 147: USA Market White-Space Opportunity Assessment, 2026–2036</a:t>
                      </a:r>
                      <a:endParaRPr sz="1050"/>
                    </a:p>
                  </a:txBody>
                  <a:tcPr marL="9525" marR="9525" marT="9525" marB="0" anchor="ctr"/>
                </a:tc>
                <a:extLst>
                  <a:ext uri="{0D108BD9-81ED-4DB2-BD59-A6C34878D82A}">
                    <a16:rowId xmlns:a16="http://schemas.microsoft.com/office/drawing/2014/main" val="10002"/>
                  </a:ext>
                </a:extLst>
              </a:tr>
              <a:tr h="166688">
                <a:tc>
                  <a:txBody>
                    <a:bodyPr/>
                    <a:lstStyle/>
                    <a:p>
                      <a:pPr algn="l"/>
                      <a:r>
                        <a:rPr sz="1050" b="0" i="0">
                          <a:solidFill>
                            <a:srgbClr val="000000"/>
                          </a:solidFill>
                          <a:latin typeface="Calibri"/>
                        </a:rPr>
                        <a:t>Figure 148: USA Market Customer Purchase Criteria Assessment, 2026</a:t>
                      </a:r>
                      <a:endParaRPr sz="1050"/>
                    </a:p>
                  </a:txBody>
                  <a:tcPr marL="9525" marR="9525" marT="9525" marB="0" anchor="ctr"/>
                </a:tc>
                <a:extLst>
                  <a:ext uri="{0D108BD9-81ED-4DB2-BD59-A6C34878D82A}">
                    <a16:rowId xmlns:a16="http://schemas.microsoft.com/office/drawing/2014/main" val="10003"/>
                  </a:ext>
                </a:extLst>
              </a:tr>
              <a:tr h="166688">
                <a:tc>
                  <a:txBody>
                    <a:bodyPr/>
                    <a:lstStyle/>
                    <a:p>
                      <a:pPr algn="l"/>
                      <a:r>
                        <a:rPr sz="1050" b="0" i="0">
                          <a:solidFill>
                            <a:srgbClr val="000000"/>
                          </a:solidFill>
                          <a:latin typeface="Calibri"/>
                        </a:rPr>
                        <a:t>Figure 149: USA Market Go-to-Market Priority, 2026–2036</a:t>
                      </a:r>
                      <a:endParaRPr sz="1050"/>
                    </a:p>
                  </a:txBody>
                  <a:tcPr marL="9525" marR="9525" marT="9525" marB="0" anchor="ctr"/>
                </a:tc>
                <a:extLst>
                  <a:ext uri="{0D108BD9-81ED-4DB2-BD59-A6C34878D82A}">
                    <a16:rowId xmlns:a16="http://schemas.microsoft.com/office/drawing/2014/main" val="10004"/>
                  </a:ext>
                </a:extLst>
              </a:tr>
              <a:tr h="166688">
                <a:tc>
                  <a:txBody>
                    <a:bodyPr/>
                    <a:lstStyle/>
                    <a:p>
                      <a:pPr algn="l"/>
                      <a:r>
                        <a:rPr sz="1050" b="0" i="0">
                          <a:solidFill>
                            <a:srgbClr val="000000"/>
                          </a:solidFill>
                          <a:latin typeface="Calibri"/>
                        </a:rPr>
                        <a:t>Figure 150: USA Market Unmet Needs Analysis by Product Format, 2026</a:t>
                      </a:r>
                      <a:endParaRPr sz="1050"/>
                    </a:p>
                  </a:txBody>
                  <a:tcPr marL="9525" marR="9525" marT="9525" marB="0" anchor="ctr"/>
                </a:tc>
                <a:extLst>
                  <a:ext uri="{0D108BD9-81ED-4DB2-BD59-A6C34878D82A}">
                    <a16:rowId xmlns:a16="http://schemas.microsoft.com/office/drawing/2014/main" val="10005"/>
                  </a:ext>
                </a:extLst>
              </a:tr>
              <a:tr h="166688">
                <a:tc>
                  <a:txBody>
                    <a:bodyPr/>
                    <a:lstStyle/>
                    <a:p>
                      <a:pPr algn="l"/>
                      <a:r>
                        <a:rPr sz="1050" b="0" i="0">
                          <a:solidFill>
                            <a:srgbClr val="000000"/>
                          </a:solidFill>
                          <a:latin typeface="Calibri"/>
                        </a:rPr>
                        <a:t>Figure 151: USA Market Right-to-Win Assessment, 2026</a:t>
                      </a:r>
                      <a:endParaRPr sz="1050"/>
                    </a:p>
                  </a:txBody>
                  <a:tcPr marL="9525" marR="9525" marT="9525" marB="0" anchor="ctr"/>
                </a:tc>
                <a:extLst>
                  <a:ext uri="{0D108BD9-81ED-4DB2-BD59-A6C34878D82A}">
                    <a16:rowId xmlns:a16="http://schemas.microsoft.com/office/drawing/2014/main" val="10006"/>
                  </a:ext>
                </a:extLst>
              </a:tr>
              <a:tr h="166688">
                <a:tc>
                  <a:txBody>
                    <a:bodyPr/>
                    <a:lstStyle/>
                    <a:p>
                      <a:pPr algn="l"/>
                      <a:r>
                        <a:rPr sz="1050" b="0" i="0">
                          <a:solidFill>
                            <a:srgbClr val="000000"/>
                          </a:solidFill>
                          <a:latin typeface="Calibri"/>
                        </a:rPr>
                        <a:t>Figure 152: USA Market Entry Strategy Scorecard, 2026–2036</a:t>
                      </a:r>
                      <a:endParaRPr sz="1050"/>
                    </a:p>
                  </a:txBody>
                  <a:tcPr marL="9525" marR="9525" marT="9525" marB="0" anchor="ctr"/>
                </a:tc>
                <a:extLst>
                  <a:ext uri="{0D108BD9-81ED-4DB2-BD59-A6C34878D82A}">
                    <a16:rowId xmlns:a16="http://schemas.microsoft.com/office/drawing/2014/main" val="10007"/>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List of Tables (1/3)</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69606">
                <a:tc>
                  <a:txBody>
                    <a:bodyPr/>
                    <a:lstStyle/>
                    <a:p>
                      <a:pPr algn="l"/>
                      <a:r>
                        <a:rPr sz="1050" b="0" i="0">
                          <a:solidFill>
                            <a:srgbClr val="000000"/>
                          </a:solidFill>
                          <a:latin typeface="Calibri"/>
                        </a:rPr>
                        <a:t>Table 1: USA Market Snapshot: Value, Volume and CAGR, US$ Mn, 2025–2036</a:t>
                      </a:r>
                      <a:endParaRPr sz="1050"/>
                    </a:p>
                  </a:txBody>
                  <a:tcPr marL="9525" marR="9525" marT="9525" marB="0" anchor="ctr"/>
                </a:tc>
                <a:extLst>
                  <a:ext uri="{0D108BD9-81ED-4DB2-BD59-A6C34878D82A}">
                    <a16:rowId xmlns:a16="http://schemas.microsoft.com/office/drawing/2014/main" val="10000"/>
                  </a:ext>
                </a:extLst>
              </a:tr>
              <a:tr h="169606">
                <a:tc>
                  <a:txBody>
                    <a:bodyPr/>
                    <a:lstStyle/>
                    <a:p>
                      <a:pPr algn="l"/>
                      <a:r>
                        <a:rPr sz="1050" b="0" i="0">
                          <a:solidFill>
                            <a:srgbClr val="000000"/>
                          </a:solidFill>
                          <a:latin typeface="Calibri"/>
                        </a:rPr>
                        <a:t>Table 2: USA Market Taxonomy by Segment, 2026</a:t>
                      </a:r>
                      <a:endParaRPr sz="1050"/>
                    </a:p>
                  </a:txBody>
                  <a:tcPr marL="9525" marR="9525" marT="9525" marB="0" anchor="ctr"/>
                </a:tc>
                <a:extLst>
                  <a:ext uri="{0D108BD9-81ED-4DB2-BD59-A6C34878D82A}">
                    <a16:rowId xmlns:a16="http://schemas.microsoft.com/office/drawing/2014/main" val="10001"/>
                  </a:ext>
                </a:extLst>
              </a:tr>
              <a:tr h="169606">
                <a:tc>
                  <a:txBody>
                    <a:bodyPr/>
                    <a:lstStyle/>
                    <a:p>
                      <a:pPr algn="l"/>
                      <a:r>
                        <a:rPr sz="1050" b="0" i="0">
                          <a:solidFill>
                            <a:srgbClr val="000000"/>
                          </a:solidFill>
                          <a:latin typeface="Calibri"/>
                        </a:rPr>
                        <a:t>Table 3: USA Market Scope: Inclusions and Exclusions by Segment, 2026</a:t>
                      </a:r>
                      <a:endParaRPr sz="1050"/>
                    </a:p>
                  </a:txBody>
                  <a:tcPr marL="9525" marR="9525" marT="9525" marB="0" anchor="ctr"/>
                </a:tc>
                <a:extLst>
                  <a:ext uri="{0D108BD9-81ED-4DB2-BD59-A6C34878D82A}">
                    <a16:rowId xmlns:a16="http://schemas.microsoft.com/office/drawing/2014/main" val="10002"/>
                  </a:ext>
                </a:extLst>
              </a:tr>
              <a:tr h="169606">
                <a:tc>
                  <a:txBody>
                    <a:bodyPr/>
                    <a:lstStyle/>
                    <a:p>
                      <a:pPr algn="l"/>
                      <a:r>
                        <a:rPr sz="1050" b="0" i="0">
                          <a:solidFill>
                            <a:srgbClr val="000000"/>
                          </a:solidFill>
                          <a:latin typeface="Calibri"/>
                        </a:rPr>
                        <a:t>Table 4: USA Market Key Demand Drivers and Impact Rating, 2026–2036</a:t>
                      </a:r>
                      <a:endParaRPr sz="1050"/>
                    </a:p>
                  </a:txBody>
                  <a:tcPr marL="9525" marR="9525" marT="9525" marB="0" anchor="ctr"/>
                </a:tc>
                <a:extLst>
                  <a:ext uri="{0D108BD9-81ED-4DB2-BD59-A6C34878D82A}">
                    <a16:rowId xmlns:a16="http://schemas.microsoft.com/office/drawing/2014/main" val="10003"/>
                  </a:ext>
                </a:extLst>
              </a:tr>
              <a:tr h="169606">
                <a:tc>
                  <a:txBody>
                    <a:bodyPr/>
                    <a:lstStyle/>
                    <a:p>
                      <a:pPr algn="l"/>
                      <a:r>
                        <a:rPr sz="1050" b="0" i="0">
                          <a:solidFill>
                            <a:srgbClr val="000000"/>
                          </a:solidFill>
                          <a:latin typeface="Calibri"/>
                        </a:rPr>
                        <a:t>Table 5: USA Market Key Restraints and Impact Rating, 2026–2036</a:t>
                      </a:r>
                      <a:endParaRPr sz="1050"/>
                    </a:p>
                  </a:txBody>
                  <a:tcPr marL="9525" marR="9525" marT="9525" marB="0" anchor="ctr"/>
                </a:tc>
                <a:extLst>
                  <a:ext uri="{0D108BD9-81ED-4DB2-BD59-A6C34878D82A}">
                    <a16:rowId xmlns:a16="http://schemas.microsoft.com/office/drawing/2014/main" val="10004"/>
                  </a:ext>
                </a:extLst>
              </a:tr>
              <a:tr h="169606">
                <a:tc>
                  <a:txBody>
                    <a:bodyPr/>
                    <a:lstStyle/>
                    <a:p>
                      <a:pPr algn="l"/>
                      <a:r>
                        <a:rPr sz="1050" b="0" i="0">
                          <a:solidFill>
                            <a:srgbClr val="000000"/>
                          </a:solidFill>
                          <a:latin typeface="Calibri"/>
                        </a:rPr>
                        <a:t>Table 6: USA Market Analyst Recommendations by Segment, 2026–2036</a:t>
                      </a:r>
                      <a:endParaRPr sz="1050"/>
                    </a:p>
                  </a:txBody>
                  <a:tcPr marL="9525" marR="9525" marT="9525" marB="0" anchor="ctr"/>
                </a:tc>
                <a:extLst>
                  <a:ext uri="{0D108BD9-81ED-4DB2-BD59-A6C34878D82A}">
                    <a16:rowId xmlns:a16="http://schemas.microsoft.com/office/drawing/2014/main" val="10005"/>
                  </a:ext>
                </a:extLst>
              </a:tr>
              <a:tr h="169606">
                <a:tc>
                  <a:txBody>
                    <a:bodyPr/>
                    <a:lstStyle/>
                    <a:p>
                      <a:pPr algn="l"/>
                      <a:r>
                        <a:rPr sz="1050" b="0" i="0">
                          <a:solidFill>
                            <a:srgbClr val="000000"/>
                          </a:solidFill>
                          <a:latin typeface="Calibri"/>
                        </a:rPr>
                        <a:t>Table 7: USA Market Key Market Signals and Data Points, 2026</a:t>
                      </a:r>
                      <a:endParaRPr sz="1050"/>
                    </a:p>
                  </a:txBody>
                  <a:tcPr marL="9525" marR="9525" marT="9525" marB="0" anchor="ctr"/>
                </a:tc>
                <a:extLst>
                  <a:ext uri="{0D108BD9-81ED-4DB2-BD59-A6C34878D82A}">
                    <a16:rowId xmlns:a16="http://schemas.microsoft.com/office/drawing/2014/main" val="10006"/>
                  </a:ext>
                </a:extLst>
              </a:tr>
              <a:tr h="169606">
                <a:tc>
                  <a:txBody>
                    <a:bodyPr/>
                    <a:lstStyle/>
                    <a:p>
                      <a:pPr algn="l"/>
                      <a:r>
                        <a:rPr sz="1050" b="0" i="0">
                          <a:solidFill>
                            <a:srgbClr val="000000"/>
                          </a:solidFill>
                          <a:latin typeface="Calibri"/>
                        </a:rPr>
                        <a:t>Table 8: USA Market Research Methodology and Data Sources, 2026</a:t>
                      </a:r>
                      <a:endParaRPr sz="1050"/>
                    </a:p>
                  </a:txBody>
                  <a:tcPr marL="9525" marR="9525" marT="9525" marB="0" anchor="ctr"/>
                </a:tc>
                <a:extLst>
                  <a:ext uri="{0D108BD9-81ED-4DB2-BD59-A6C34878D82A}">
                    <a16:rowId xmlns:a16="http://schemas.microsoft.com/office/drawing/2014/main" val="10007"/>
                  </a:ext>
                </a:extLst>
              </a:tr>
              <a:tr h="169606">
                <a:tc>
                  <a:txBody>
                    <a:bodyPr/>
                    <a:lstStyle/>
                    <a:p>
                      <a:pPr algn="l"/>
                      <a:r>
                        <a:rPr sz="1050" b="0" i="0">
                          <a:solidFill>
                            <a:srgbClr val="000000"/>
                          </a:solidFill>
                          <a:latin typeface="Calibri"/>
                        </a:rPr>
                        <a:t>Table 9: USA Market Value and YoY Growth, US$ Mn and %, 2021–2036</a:t>
                      </a:r>
                      <a:endParaRPr sz="1050"/>
                    </a:p>
                  </a:txBody>
                  <a:tcPr marL="9525" marR="9525" marT="9525" marB="0" anchor="ctr"/>
                </a:tc>
                <a:extLst>
                  <a:ext uri="{0D108BD9-81ED-4DB2-BD59-A6C34878D82A}">
                    <a16:rowId xmlns:a16="http://schemas.microsoft.com/office/drawing/2014/main" val="10008"/>
                  </a:ext>
                </a:extLst>
              </a:tr>
              <a:tr h="169606">
                <a:tc>
                  <a:txBody>
                    <a:bodyPr/>
                    <a:lstStyle/>
                    <a:p>
                      <a:pPr algn="l"/>
                      <a:r>
                        <a:rPr sz="1050" b="0" i="0">
                          <a:solidFill>
                            <a:srgbClr val="000000"/>
                          </a:solidFill>
                          <a:latin typeface="Calibri"/>
                        </a:rPr>
                        <a:t>Table 10: USA Market Historical Value Analysis, US$ Mn, 2021–2025</a:t>
                      </a:r>
                      <a:endParaRPr sz="1050"/>
                    </a:p>
                  </a:txBody>
                  <a:tcPr marL="9525" marR="9525" marT="9525" marB="0" anchor="ctr"/>
                </a:tc>
                <a:extLst>
                  <a:ext uri="{0D108BD9-81ED-4DB2-BD59-A6C34878D82A}">
                    <a16:rowId xmlns:a16="http://schemas.microsoft.com/office/drawing/2014/main" val="10009"/>
                  </a:ext>
                </a:extLst>
              </a:tr>
              <a:tr h="169606">
                <a:tc>
                  <a:txBody>
                    <a:bodyPr/>
                    <a:lstStyle/>
                    <a:p>
                      <a:pPr algn="l"/>
                      <a:r>
                        <a:rPr sz="1050" b="0" i="0">
                          <a:solidFill>
                            <a:srgbClr val="000000"/>
                          </a:solidFill>
                          <a:latin typeface="Calibri"/>
                        </a:rPr>
                        <a:t>Table 11: USA Market Forecast Value Analysis, US$ Mn, 2026–2036</a:t>
                      </a:r>
                      <a:endParaRPr sz="1050"/>
                    </a:p>
                  </a:txBody>
                  <a:tcPr marL="9525" marR="9525" marT="9525" marB="0" anchor="ctr"/>
                </a:tc>
                <a:extLst>
                  <a:ext uri="{0D108BD9-81ED-4DB2-BD59-A6C34878D82A}">
                    <a16:rowId xmlns:a16="http://schemas.microsoft.com/office/drawing/2014/main" val="10010"/>
                  </a:ext>
                </a:extLst>
              </a:tr>
              <a:tr h="169606">
                <a:tc>
                  <a:txBody>
                    <a:bodyPr/>
                    <a:lstStyle/>
                    <a:p>
                      <a:pPr algn="l"/>
                      <a:r>
                        <a:rPr sz="1050" b="0" i="0">
                          <a:solidFill>
                            <a:srgbClr val="000000"/>
                          </a:solidFill>
                          <a:latin typeface="Calibri"/>
                        </a:rPr>
                        <a:t>Table 12: USA Market Volume and YoY Growth, Mn Units and %, 2021–2036</a:t>
                      </a:r>
                      <a:endParaRPr sz="1050"/>
                    </a:p>
                  </a:txBody>
                  <a:tcPr marL="9525" marR="9525" marT="9525" marB="0" anchor="ctr"/>
                </a:tc>
                <a:extLst>
                  <a:ext uri="{0D108BD9-81ED-4DB2-BD59-A6C34878D82A}">
                    <a16:rowId xmlns:a16="http://schemas.microsoft.com/office/drawing/2014/main" val="10011"/>
                  </a:ext>
                </a:extLst>
              </a:tr>
              <a:tr h="169606">
                <a:tc>
                  <a:txBody>
                    <a:bodyPr/>
                    <a:lstStyle/>
                    <a:p>
                      <a:pPr algn="l"/>
                      <a:r>
                        <a:rPr sz="1050" b="0" i="0">
                          <a:solidFill>
                            <a:srgbClr val="000000"/>
                          </a:solidFill>
                          <a:latin typeface="Calibri"/>
                        </a:rPr>
                        <a:t>Table 13: USA Market Volume Forecast, Mn Units, 2026–2036</a:t>
                      </a:r>
                      <a:endParaRPr sz="1050"/>
                    </a:p>
                  </a:txBody>
                  <a:tcPr marL="9525" marR="9525" marT="9525" marB="0" anchor="ctr"/>
                </a:tc>
                <a:extLst>
                  <a:ext uri="{0D108BD9-81ED-4DB2-BD59-A6C34878D82A}">
                    <a16:rowId xmlns:a16="http://schemas.microsoft.com/office/drawing/2014/main" val="10012"/>
                  </a:ext>
                </a:extLst>
              </a:tr>
              <a:tr h="169606">
                <a:tc>
                  <a:txBody>
                    <a:bodyPr/>
                    <a:lstStyle/>
                    <a:p>
                      <a:pPr algn="l"/>
                      <a:r>
                        <a:rPr sz="1050" b="0" i="0">
                          <a:solidFill>
                            <a:srgbClr val="000000"/>
                          </a:solidFill>
                          <a:latin typeface="Calibri"/>
                        </a:rPr>
                        <a:t>Table 14: USA Market Average Selling Price, US$/Units, 2021–2036</a:t>
                      </a:r>
                      <a:endParaRPr sz="1050"/>
                    </a:p>
                  </a:txBody>
                  <a:tcPr marL="9525" marR="9525" marT="9525" marB="0" anchor="ctr"/>
                </a:tc>
                <a:extLst>
                  <a:ext uri="{0D108BD9-81ED-4DB2-BD59-A6C34878D82A}">
                    <a16:rowId xmlns:a16="http://schemas.microsoft.com/office/drawing/2014/main" val="10013"/>
                  </a:ext>
                </a:extLst>
              </a:tr>
              <a:tr h="169606">
                <a:tc>
                  <a:txBody>
                    <a:bodyPr/>
                    <a:lstStyle/>
                    <a:p>
                      <a:pPr algn="l"/>
                      <a:r>
                        <a:rPr sz="1050" b="0" i="0">
                          <a:solidFill>
                            <a:srgbClr val="000000"/>
                          </a:solidFill>
                          <a:latin typeface="Calibri"/>
                        </a:rPr>
                        <a:t>Table 15: USA Market Average Selling Price YoY Change, %, 2026–2036</a:t>
                      </a:r>
                      <a:endParaRPr sz="1050"/>
                    </a:p>
                  </a:txBody>
                  <a:tcPr marL="9525" marR="9525" marT="9525" marB="0" anchor="ctr"/>
                </a:tc>
                <a:extLst>
                  <a:ext uri="{0D108BD9-81ED-4DB2-BD59-A6C34878D82A}">
                    <a16:rowId xmlns:a16="http://schemas.microsoft.com/office/drawing/2014/main" val="10014"/>
                  </a:ext>
                </a:extLst>
              </a:tr>
              <a:tr h="169606">
                <a:tc>
                  <a:txBody>
                    <a:bodyPr/>
                    <a:lstStyle/>
                    <a:p>
                      <a:pPr algn="l"/>
                      <a:r>
                        <a:rPr sz="1050" b="0" i="0">
                          <a:solidFill>
                            <a:srgbClr val="000000"/>
                          </a:solidFill>
                          <a:latin typeface="Calibri"/>
                        </a:rPr>
                        <a:t>Table 16: USA Market CAGR and Absolute $ Opportunity, %, US$ Mn, 2026–2036</a:t>
                      </a:r>
                      <a:endParaRPr sz="1050"/>
                    </a:p>
                  </a:txBody>
                  <a:tcPr marL="9525" marR="9525" marT="9525" marB="0" anchor="ctr"/>
                </a:tc>
                <a:extLst>
                  <a:ext uri="{0D108BD9-81ED-4DB2-BD59-A6C34878D82A}">
                    <a16:rowId xmlns:a16="http://schemas.microsoft.com/office/drawing/2014/main" val="10015"/>
                  </a:ext>
                </a:extLst>
              </a:tr>
              <a:tr h="169606">
                <a:tc>
                  <a:txBody>
                    <a:bodyPr/>
                    <a:lstStyle/>
                    <a:p>
                      <a:pPr algn="l"/>
                      <a:r>
                        <a:rPr sz="1050" b="0" i="0">
                          <a:solidFill>
                            <a:srgbClr val="000000"/>
                          </a:solidFill>
                          <a:latin typeface="Calibri"/>
                        </a:rPr>
                        <a:t>Table 17: USA Market Absolute $ Opportunity by Year, US$ Mn, 2026–2036</a:t>
                      </a:r>
                      <a:endParaRPr sz="1050"/>
                    </a:p>
                  </a:txBody>
                  <a:tcPr marL="9525" marR="9525" marT="9525" marB="0" anchor="ctr"/>
                </a:tc>
                <a:extLst>
                  <a:ext uri="{0D108BD9-81ED-4DB2-BD59-A6C34878D82A}">
                    <a16:rowId xmlns:a16="http://schemas.microsoft.com/office/drawing/2014/main" val="10016"/>
                  </a:ext>
                </a:extLst>
              </a:tr>
              <a:tr h="169606">
                <a:tc>
                  <a:txBody>
                    <a:bodyPr/>
                    <a:lstStyle/>
                    <a:p>
                      <a:pPr algn="l"/>
                      <a:r>
                        <a:rPr sz="1050" b="0" i="0">
                          <a:solidFill>
                            <a:srgbClr val="000000"/>
                          </a:solidFill>
                          <a:latin typeface="Calibri"/>
                        </a:rPr>
                        <a:t>Table 18: USA Market Value by Scenario (Optimistic, Likely, Pessimistic), US$ Mn, 2026–2036</a:t>
                      </a:r>
                      <a:endParaRPr sz="1050"/>
                    </a:p>
                  </a:txBody>
                  <a:tcPr marL="9525" marR="9525" marT="9525" marB="0" anchor="ctr"/>
                </a:tc>
                <a:extLst>
                  <a:ext uri="{0D108BD9-81ED-4DB2-BD59-A6C34878D82A}">
                    <a16:rowId xmlns:a16="http://schemas.microsoft.com/office/drawing/2014/main" val="10017"/>
                  </a:ext>
                </a:extLst>
              </a:tr>
              <a:tr h="169606">
                <a:tc>
                  <a:txBody>
                    <a:bodyPr/>
                    <a:lstStyle/>
                    <a:p>
                      <a:pPr algn="l"/>
                      <a:r>
                        <a:rPr sz="1050" b="0" i="0">
                          <a:solidFill>
                            <a:srgbClr val="000000"/>
                          </a:solidFill>
                          <a:latin typeface="Calibri"/>
                        </a:rPr>
                        <a:t>Table 19: USA Market Scenario CAGR Comparison, %, 2026–2036</a:t>
                      </a:r>
                      <a:endParaRPr sz="1050"/>
                    </a:p>
                  </a:txBody>
                  <a:tcPr marL="9525" marR="9525" marT="9525" marB="0" anchor="ctr"/>
                </a:tc>
                <a:extLst>
                  <a:ext uri="{0D108BD9-81ED-4DB2-BD59-A6C34878D82A}">
                    <a16:rowId xmlns:a16="http://schemas.microsoft.com/office/drawing/2014/main" val="10018"/>
                  </a:ext>
                </a:extLst>
              </a:tr>
              <a:tr h="169606">
                <a:tc>
                  <a:txBody>
                    <a:bodyPr/>
                    <a:lstStyle/>
                    <a:p>
                      <a:pPr algn="l"/>
                      <a:r>
                        <a:rPr sz="1050" b="0" i="0">
                          <a:solidFill>
                            <a:srgbClr val="000000"/>
                          </a:solidFill>
                          <a:latin typeface="Calibri"/>
                        </a:rPr>
                        <a:t>Table 20: USA Market Historical vs Forecast Growth Comparison, %, 2021–2036</a:t>
                      </a:r>
                      <a:endParaRPr sz="1050"/>
                    </a:p>
                  </a:txBody>
                  <a:tcPr marL="9525" marR="9525" marT="9525" marB="0" anchor="ctr"/>
                </a:tc>
                <a:extLst>
                  <a:ext uri="{0D108BD9-81ED-4DB2-BD59-A6C34878D82A}">
                    <a16:rowId xmlns:a16="http://schemas.microsoft.com/office/drawing/2014/main" val="10019"/>
                  </a:ext>
                </a:extLst>
              </a:tr>
              <a:tr h="169606">
                <a:tc>
                  <a:txBody>
                    <a:bodyPr/>
                    <a:lstStyle/>
                    <a:p>
                      <a:pPr algn="l"/>
                      <a:r>
                        <a:rPr sz="1050" b="0" i="0">
                          <a:solidFill>
                            <a:srgbClr val="000000"/>
                          </a:solidFill>
                          <a:latin typeface="Calibri"/>
                        </a:rPr>
                        <a:t>Table 21: USA Market Five-Year Block Value Summary, US$ Mn, 2021–2036</a:t>
                      </a:r>
                      <a:endParaRPr sz="1050"/>
                    </a:p>
                  </a:txBody>
                  <a:tcPr marL="9525" marR="9525" marT="9525" marB="0" anchor="ctr"/>
                </a:tc>
                <a:extLst>
                  <a:ext uri="{0D108BD9-81ED-4DB2-BD59-A6C34878D82A}">
                    <a16:rowId xmlns:a16="http://schemas.microsoft.com/office/drawing/2014/main" val="10020"/>
                  </a:ext>
                </a:extLst>
              </a:tr>
              <a:tr h="169606">
                <a:tc>
                  <a:txBody>
                    <a:bodyPr/>
                    <a:lstStyle/>
                    <a:p>
                      <a:pPr algn="l"/>
                      <a:r>
                        <a:rPr sz="1050" b="0" i="0">
                          <a:solidFill>
                            <a:srgbClr val="000000"/>
                          </a:solidFill>
                          <a:latin typeface="Calibri"/>
                        </a:rPr>
                        <a:t>Table 22: USA Market Size Evolution Index, 2025=100, 2021–2036</a:t>
                      </a:r>
                      <a:endParaRPr sz="1050"/>
                    </a:p>
                  </a:txBody>
                  <a:tcPr marL="9525" marR="9525" marT="9525" marB="0" anchor="ctr"/>
                </a:tc>
                <a:extLst>
                  <a:ext uri="{0D108BD9-81ED-4DB2-BD59-A6C34878D82A}">
                    <a16:rowId xmlns:a16="http://schemas.microsoft.com/office/drawing/2014/main" val="10021"/>
                  </a:ext>
                </a:extLst>
              </a:tr>
              <a:tr h="169606">
                <a:tc>
                  <a:txBody>
                    <a:bodyPr/>
                    <a:lstStyle/>
                    <a:p>
                      <a:pPr algn="l"/>
                      <a:r>
                        <a:rPr sz="1050" b="0" i="0">
                          <a:solidFill>
                            <a:srgbClr val="000000"/>
                          </a:solidFill>
                          <a:latin typeface="Calibri"/>
                        </a:rPr>
                        <a:t>Table 23: USA Market Key Forecast Assumptions, 2026–2036</a:t>
                      </a:r>
                      <a:endParaRPr sz="1050"/>
                    </a:p>
                  </a:txBody>
                  <a:tcPr marL="9525" marR="9525" marT="9525" marB="0" anchor="ctr"/>
                </a:tc>
                <a:extLst>
                  <a:ext uri="{0D108BD9-81ED-4DB2-BD59-A6C34878D82A}">
                    <a16:rowId xmlns:a16="http://schemas.microsoft.com/office/drawing/2014/main" val="10022"/>
                  </a:ext>
                </a:extLst>
              </a:tr>
              <a:tr h="169606">
                <a:tc>
                  <a:txBody>
                    <a:bodyPr/>
                    <a:lstStyle/>
                    <a:p>
                      <a:pPr algn="l"/>
                      <a:r>
                        <a:rPr sz="1050" b="0" i="0">
                          <a:solidFill>
                            <a:srgbClr val="000000"/>
                          </a:solidFill>
                          <a:latin typeface="Calibri"/>
                        </a:rPr>
                        <a:t>Table 24: USA Market Value by Product Format, US$ Mn, 2021–2036</a:t>
                      </a:r>
                      <a:endParaRPr sz="1050"/>
                    </a:p>
                  </a:txBody>
                  <a:tcPr marL="9525" marR="9525" marT="9525" marB="0" anchor="ctr"/>
                </a:tc>
                <a:extLst>
                  <a:ext uri="{0D108BD9-81ED-4DB2-BD59-A6C34878D82A}">
                    <a16:rowId xmlns:a16="http://schemas.microsoft.com/office/drawing/2014/main" val="10023"/>
                  </a:ext>
                </a:extLst>
              </a:tr>
              <a:tr h="169606">
                <a:tc>
                  <a:txBody>
                    <a:bodyPr/>
                    <a:lstStyle/>
                    <a:p>
                      <a:pPr algn="l"/>
                      <a:r>
                        <a:rPr sz="1050" b="0" i="0">
                          <a:solidFill>
                            <a:srgbClr val="000000"/>
                          </a:solidFill>
                          <a:latin typeface="Calibri"/>
                        </a:rPr>
                        <a:t>Table 25: USA Market Value by Product Type, US$ Mn, 2021–2036</a:t>
                      </a:r>
                      <a:endParaRPr sz="1050"/>
                    </a:p>
                  </a:txBody>
                  <a:tcPr marL="9525" marR="9525" marT="9525" marB="0" anchor="ctr"/>
                </a:tc>
                <a:extLst>
                  <a:ext uri="{0D108BD9-81ED-4DB2-BD59-A6C34878D82A}">
                    <a16:rowId xmlns:a16="http://schemas.microsoft.com/office/drawing/2014/main" val="10024"/>
                  </a:ext>
                </a:extLst>
              </a:tr>
              <a:tr h="169606">
                <a:tc>
                  <a:txBody>
                    <a:bodyPr/>
                    <a:lstStyle/>
                    <a:p>
                      <a:pPr algn="l"/>
                      <a:r>
                        <a:rPr sz="1050" b="0" i="0">
                          <a:solidFill>
                            <a:srgbClr val="000000"/>
                          </a:solidFill>
                          <a:latin typeface="Calibri"/>
                        </a:rPr>
                        <a:t>Table 26: USA Market Value by Sales Channel, US$ Mn, 2021–2036</a:t>
                      </a:r>
                      <a:endParaRPr sz="1050"/>
                    </a:p>
                  </a:txBody>
                  <a:tcPr marL="9525" marR="9525" marT="9525" marB="0" anchor="ctr"/>
                </a:tc>
                <a:extLst>
                  <a:ext uri="{0D108BD9-81ED-4DB2-BD59-A6C34878D82A}">
                    <a16:rowId xmlns:a16="http://schemas.microsoft.com/office/drawing/2014/main" val="10025"/>
                  </a:ext>
                </a:extLst>
              </a:tr>
              <a:tr h="169606">
                <a:tc>
                  <a:txBody>
                    <a:bodyPr/>
                    <a:lstStyle/>
                    <a:p>
                      <a:pPr algn="l"/>
                      <a:r>
                        <a:rPr sz="1050" b="0" i="0">
                          <a:solidFill>
                            <a:srgbClr val="000000"/>
                          </a:solidFill>
                          <a:latin typeface="Calibri"/>
                        </a:rPr>
                        <a:t>Table 27: USA Market CAGR and Absolute $ Opportunity by Product Format, %, US$ Mn, 2026–2036</a:t>
                      </a:r>
                      <a:endParaRPr sz="1050"/>
                    </a:p>
                  </a:txBody>
                  <a:tcPr marL="9525" marR="9525" marT="9525" marB="0" anchor="ctr"/>
                </a:tc>
                <a:extLst>
                  <a:ext uri="{0D108BD9-81ED-4DB2-BD59-A6C34878D82A}">
                    <a16:rowId xmlns:a16="http://schemas.microsoft.com/office/drawing/2014/main" val="10026"/>
                  </a:ext>
                </a:extLst>
              </a:tr>
              <a:tr h="169606">
                <a:tc>
                  <a:txBody>
                    <a:bodyPr/>
                    <a:lstStyle/>
                    <a:p>
                      <a:pPr algn="l"/>
                      <a:r>
                        <a:rPr sz="1050" b="0" i="0">
                          <a:solidFill>
                            <a:srgbClr val="000000"/>
                          </a:solidFill>
                          <a:latin typeface="Calibri"/>
                        </a:rPr>
                        <a:t>Table 28: USA Market CAGR and Absolute $ Opportunity by Product Type, %, US$ Mn, 2026–2036</a:t>
                      </a:r>
                      <a:endParaRPr sz="1050"/>
                    </a:p>
                  </a:txBody>
                  <a:tcPr marL="9525" marR="9525" marT="9525" marB="0" anchor="ctr"/>
                </a:tc>
                <a:extLst>
                  <a:ext uri="{0D108BD9-81ED-4DB2-BD59-A6C34878D82A}">
                    <a16:rowId xmlns:a16="http://schemas.microsoft.com/office/drawing/2014/main" val="10027"/>
                  </a:ext>
                </a:extLst>
              </a:tr>
              <a:tr h="169606">
                <a:tc>
                  <a:txBody>
                    <a:bodyPr/>
                    <a:lstStyle/>
                    <a:p>
                      <a:pPr algn="l"/>
                      <a:r>
                        <a:rPr sz="1050" b="0" i="0">
                          <a:solidFill>
                            <a:srgbClr val="000000"/>
                          </a:solidFill>
                          <a:latin typeface="Calibri"/>
                        </a:rPr>
                        <a:t>Table 29: USA Market CAGR and Absolute $ Opportunity by Sales Channel, %, US$ Mn, 2026–2036</a:t>
                      </a:r>
                      <a:endParaRPr sz="1050"/>
                    </a:p>
                  </a:txBody>
                  <a:tcPr marL="9525" marR="9525" marT="9525" marB="0" anchor="ctr"/>
                </a:tc>
                <a:extLst>
                  <a:ext uri="{0D108BD9-81ED-4DB2-BD59-A6C34878D82A}">
                    <a16:rowId xmlns:a16="http://schemas.microsoft.com/office/drawing/2014/main" val="10028"/>
                  </a:ext>
                </a:extLst>
              </a:tr>
              <a:tr h="169606">
                <a:tc>
                  <a:txBody>
                    <a:bodyPr/>
                    <a:lstStyle/>
                    <a:p>
                      <a:pPr algn="l"/>
                      <a:r>
                        <a:rPr sz="1050" b="0" i="0">
                          <a:solidFill>
                            <a:srgbClr val="000000"/>
                          </a:solidFill>
                          <a:latin typeface="Calibri"/>
                        </a:rPr>
                        <a:t>Table 30: USA Market Share and BPS Change by Product Format, %, 2025, 2026 and 2036</a:t>
                      </a:r>
                      <a:endParaRPr sz="1050"/>
                    </a:p>
                  </a:txBody>
                  <a:tcPr marL="9525" marR="9525" marT="9525" marB="0" anchor="ctr"/>
                </a:tc>
                <a:extLst>
                  <a:ext uri="{0D108BD9-81ED-4DB2-BD59-A6C34878D82A}">
                    <a16:rowId xmlns:a16="http://schemas.microsoft.com/office/drawing/2014/main" val="10029"/>
                  </a:ext>
                </a:extLst>
              </a:tr>
              <a:tr h="169606">
                <a:tc>
                  <a:txBody>
                    <a:bodyPr/>
                    <a:lstStyle/>
                    <a:p>
                      <a:pPr algn="l"/>
                      <a:r>
                        <a:rPr sz="1050" b="0" i="0">
                          <a:solidFill>
                            <a:srgbClr val="000000"/>
                          </a:solidFill>
                          <a:latin typeface="Calibri"/>
                        </a:rPr>
                        <a:t>Table 31: USA Market Share and BPS Change by Product Type, %, 2025, 2026 and 2036</a:t>
                      </a:r>
                      <a:endParaRPr sz="1050"/>
                    </a:p>
                  </a:txBody>
                  <a:tcPr marL="9525" marR="9525" marT="9525" marB="0" anchor="ctr"/>
                </a:tc>
                <a:extLst>
                  <a:ext uri="{0D108BD9-81ED-4DB2-BD59-A6C34878D82A}">
                    <a16:rowId xmlns:a16="http://schemas.microsoft.com/office/drawing/2014/main" val="10030"/>
                  </a:ext>
                </a:extLst>
              </a:tr>
            </a:tbl>
          </a:graphicData>
        </a:graphic>
      </p:graphicFrame>
      <p:graphicFrame>
        <p:nvGraphicFramePr>
          <p:cNvPr id="10" name="FMI Contents Table"/>
          <p:cNvGraphicFramePr>
            <a:graphicFrameLocks noGrp="1"/>
          </p:cNvGraphicFramePr>
          <p:nvPr/>
        </p:nvGraphicFramePr>
        <p:xfrm>
          <a:off x="6172200" y="981075"/>
          <a:ext cx="5876925" cy="5257803"/>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0708">
                <a:tc>
                  <a:txBody>
                    <a:bodyPr/>
                    <a:lstStyle/>
                    <a:p>
                      <a:pPr algn="l"/>
                      <a:r>
                        <a:rPr sz="1050" b="0" i="0">
                          <a:solidFill>
                            <a:srgbClr val="000000"/>
                          </a:solidFill>
                          <a:latin typeface="Calibri"/>
                        </a:rPr>
                        <a:t>Table 32: USA Market Share and BPS Change by Sales Channel, %, 2025, 2026 and 2036</a:t>
                      </a:r>
                      <a:endParaRPr sz="1050"/>
                    </a:p>
                  </a:txBody>
                  <a:tcPr marL="9525" marR="9525" marT="9525" marB="0" anchor="ctr"/>
                </a:tc>
                <a:extLst>
                  <a:ext uri="{0D108BD9-81ED-4DB2-BD59-A6C34878D82A}">
                    <a16:rowId xmlns:a16="http://schemas.microsoft.com/office/drawing/2014/main" val="10000"/>
                  </a:ext>
                </a:extLst>
              </a:tr>
              <a:tr h="170708">
                <a:tc>
                  <a:txBody>
                    <a:bodyPr/>
                    <a:lstStyle/>
                    <a:p>
                      <a:pPr algn="l"/>
                      <a:r>
                        <a:rPr sz="1050" b="0" i="0">
                          <a:solidFill>
                            <a:srgbClr val="000000"/>
                          </a:solidFill>
                          <a:latin typeface="Calibri"/>
                        </a:rPr>
                        <a:t>Table 33: USA Market YoY Growth by Product Format, %, 2026–2036</a:t>
                      </a:r>
                      <a:endParaRPr sz="1050"/>
                    </a:p>
                  </a:txBody>
                  <a:tcPr marL="9525" marR="9525" marT="9525" marB="0" anchor="ctr"/>
                </a:tc>
                <a:extLst>
                  <a:ext uri="{0D108BD9-81ED-4DB2-BD59-A6C34878D82A}">
                    <a16:rowId xmlns:a16="http://schemas.microsoft.com/office/drawing/2014/main" val="10001"/>
                  </a:ext>
                </a:extLst>
              </a:tr>
              <a:tr h="170708">
                <a:tc>
                  <a:txBody>
                    <a:bodyPr/>
                    <a:lstStyle/>
                    <a:p>
                      <a:pPr algn="l"/>
                      <a:r>
                        <a:rPr sz="1050" b="0" i="0">
                          <a:solidFill>
                            <a:srgbClr val="000000"/>
                          </a:solidFill>
                          <a:latin typeface="Calibri"/>
                        </a:rPr>
                        <a:t>Table 34: USA Market YoY Growth by Product Type, %, 2026–2036</a:t>
                      </a:r>
                      <a:endParaRPr sz="1050"/>
                    </a:p>
                  </a:txBody>
                  <a:tcPr marL="9525" marR="9525" marT="9525" marB="0" anchor="ctr"/>
                </a:tc>
                <a:extLst>
                  <a:ext uri="{0D108BD9-81ED-4DB2-BD59-A6C34878D82A}">
                    <a16:rowId xmlns:a16="http://schemas.microsoft.com/office/drawing/2014/main" val="10002"/>
                  </a:ext>
                </a:extLst>
              </a:tr>
              <a:tr h="170708">
                <a:tc>
                  <a:txBody>
                    <a:bodyPr/>
                    <a:lstStyle/>
                    <a:p>
                      <a:pPr algn="l"/>
                      <a:r>
                        <a:rPr sz="1050" b="0" i="0">
                          <a:solidFill>
                            <a:srgbClr val="000000"/>
                          </a:solidFill>
                          <a:latin typeface="Calibri"/>
                        </a:rPr>
                        <a:t>Table 35: USA Market YoY Growth by Sales Channel, %, 2026–2036</a:t>
                      </a:r>
                      <a:endParaRPr sz="1050"/>
                    </a:p>
                  </a:txBody>
                  <a:tcPr marL="9525" marR="9525" marT="9525" marB="0" anchor="ctr"/>
                </a:tc>
                <a:extLst>
                  <a:ext uri="{0D108BD9-81ED-4DB2-BD59-A6C34878D82A}">
                    <a16:rowId xmlns:a16="http://schemas.microsoft.com/office/drawing/2014/main" val="10003"/>
                  </a:ext>
                </a:extLst>
              </a:tr>
              <a:tr h="170708">
                <a:tc>
                  <a:txBody>
                    <a:bodyPr/>
                    <a:lstStyle/>
                    <a:p>
                      <a:pPr algn="l"/>
                      <a:r>
                        <a:rPr sz="1050" b="0" i="0">
                          <a:solidFill>
                            <a:srgbClr val="000000"/>
                          </a:solidFill>
                          <a:latin typeface="Calibri"/>
                        </a:rPr>
                        <a:t>Table 36: USA Market Volume by Product Format, Mn Units, 2021–2036</a:t>
                      </a:r>
                      <a:endParaRPr sz="1050"/>
                    </a:p>
                  </a:txBody>
                  <a:tcPr marL="9525" marR="9525" marT="9525" marB="0" anchor="ctr"/>
                </a:tc>
                <a:extLst>
                  <a:ext uri="{0D108BD9-81ED-4DB2-BD59-A6C34878D82A}">
                    <a16:rowId xmlns:a16="http://schemas.microsoft.com/office/drawing/2014/main" val="10004"/>
                  </a:ext>
                </a:extLst>
              </a:tr>
              <a:tr h="170708">
                <a:tc>
                  <a:txBody>
                    <a:bodyPr/>
                    <a:lstStyle/>
                    <a:p>
                      <a:pPr algn="l"/>
                      <a:r>
                        <a:rPr sz="1050" b="0" i="0">
                          <a:solidFill>
                            <a:srgbClr val="000000"/>
                          </a:solidFill>
                          <a:latin typeface="Calibri"/>
                        </a:rPr>
                        <a:t>Table 37: USA Market Volume by Product Type, Mn Units, 2021–2036</a:t>
                      </a:r>
                      <a:endParaRPr sz="1050"/>
                    </a:p>
                  </a:txBody>
                  <a:tcPr marL="9525" marR="9525" marT="9525" marB="0" anchor="ctr"/>
                </a:tc>
                <a:extLst>
                  <a:ext uri="{0D108BD9-81ED-4DB2-BD59-A6C34878D82A}">
                    <a16:rowId xmlns:a16="http://schemas.microsoft.com/office/drawing/2014/main" val="10005"/>
                  </a:ext>
                </a:extLst>
              </a:tr>
              <a:tr h="170708">
                <a:tc>
                  <a:txBody>
                    <a:bodyPr/>
                    <a:lstStyle/>
                    <a:p>
                      <a:pPr algn="l"/>
                      <a:r>
                        <a:rPr sz="1050" b="0" i="0">
                          <a:solidFill>
                            <a:srgbClr val="000000"/>
                          </a:solidFill>
                          <a:latin typeface="Calibri"/>
                        </a:rPr>
                        <a:t>Table 38: USA Market Volume by Sales Channel, Mn Units, 2021–2036</a:t>
                      </a:r>
                      <a:endParaRPr sz="1050"/>
                    </a:p>
                  </a:txBody>
                  <a:tcPr marL="9525" marR="9525" marT="9525" marB="0" anchor="ctr"/>
                </a:tc>
                <a:extLst>
                  <a:ext uri="{0D108BD9-81ED-4DB2-BD59-A6C34878D82A}">
                    <a16:rowId xmlns:a16="http://schemas.microsoft.com/office/drawing/2014/main" val="10006"/>
                  </a:ext>
                </a:extLst>
              </a:tr>
              <a:tr h="170708">
                <a:tc>
                  <a:txBody>
                    <a:bodyPr/>
                    <a:lstStyle/>
                    <a:p>
                      <a:pPr algn="l"/>
                      <a:r>
                        <a:rPr sz="1050" b="0" i="0">
                          <a:solidFill>
                            <a:srgbClr val="000000"/>
                          </a:solidFill>
                          <a:latin typeface="Calibri"/>
                        </a:rPr>
                        <a:t>Table 39: USA Market Average Selling Price by Product Format, US$/Units, 2021–2036</a:t>
                      </a:r>
                      <a:endParaRPr sz="1050"/>
                    </a:p>
                  </a:txBody>
                  <a:tcPr marL="9525" marR="9525" marT="9525" marB="0" anchor="ctr"/>
                </a:tc>
                <a:extLst>
                  <a:ext uri="{0D108BD9-81ED-4DB2-BD59-A6C34878D82A}">
                    <a16:rowId xmlns:a16="http://schemas.microsoft.com/office/drawing/2014/main" val="10007"/>
                  </a:ext>
                </a:extLst>
              </a:tr>
              <a:tr h="170708">
                <a:tc>
                  <a:txBody>
                    <a:bodyPr/>
                    <a:lstStyle/>
                    <a:p>
                      <a:pPr algn="l"/>
                      <a:r>
                        <a:rPr sz="1050" b="0" i="0">
                          <a:solidFill>
                            <a:srgbClr val="000000"/>
                          </a:solidFill>
                          <a:latin typeface="Calibri"/>
                        </a:rPr>
                        <a:t>Table 40: USA Market Average Selling Price by Product Type, US$/Units, 2021–2036</a:t>
                      </a:r>
                      <a:endParaRPr sz="1050"/>
                    </a:p>
                  </a:txBody>
                  <a:tcPr marL="9525" marR="9525" marT="9525" marB="0" anchor="ctr"/>
                </a:tc>
                <a:extLst>
                  <a:ext uri="{0D108BD9-81ED-4DB2-BD59-A6C34878D82A}">
                    <a16:rowId xmlns:a16="http://schemas.microsoft.com/office/drawing/2014/main" val="10008"/>
                  </a:ext>
                </a:extLst>
              </a:tr>
              <a:tr h="170708">
                <a:tc>
                  <a:txBody>
                    <a:bodyPr/>
                    <a:lstStyle/>
                    <a:p>
                      <a:pPr algn="l"/>
                      <a:r>
                        <a:rPr sz="1050" b="0" i="0">
                          <a:solidFill>
                            <a:srgbClr val="000000"/>
                          </a:solidFill>
                          <a:latin typeface="Calibri"/>
                        </a:rPr>
                        <a:t>Table 41: USA Market Average Selling Price by Sales Channel, US$/Units, 2021–2036</a:t>
                      </a:r>
                      <a:endParaRPr sz="1050"/>
                    </a:p>
                  </a:txBody>
                  <a:tcPr marL="9525" marR="9525" marT="9525" marB="0" anchor="ctr"/>
                </a:tc>
                <a:extLst>
                  <a:ext uri="{0D108BD9-81ED-4DB2-BD59-A6C34878D82A}">
                    <a16:rowId xmlns:a16="http://schemas.microsoft.com/office/drawing/2014/main" val="10009"/>
                  </a:ext>
                </a:extLst>
              </a:tr>
              <a:tr h="170708">
                <a:tc>
                  <a:txBody>
                    <a:bodyPr/>
                    <a:lstStyle/>
                    <a:p>
                      <a:pPr algn="l"/>
                      <a:r>
                        <a:rPr sz="1050" b="0" i="0">
                          <a:solidFill>
                            <a:srgbClr val="000000"/>
                          </a:solidFill>
                          <a:latin typeface="Calibri"/>
                        </a:rPr>
                        <a:t>Table 42: USA Market Attractiveness Index by Product Format, 2026–2036</a:t>
                      </a:r>
                      <a:endParaRPr sz="1050"/>
                    </a:p>
                  </a:txBody>
                  <a:tcPr marL="9525" marR="9525" marT="9525" marB="0" anchor="ctr"/>
                </a:tc>
                <a:extLst>
                  <a:ext uri="{0D108BD9-81ED-4DB2-BD59-A6C34878D82A}">
                    <a16:rowId xmlns:a16="http://schemas.microsoft.com/office/drawing/2014/main" val="10010"/>
                  </a:ext>
                </a:extLst>
              </a:tr>
              <a:tr h="170708">
                <a:tc>
                  <a:txBody>
                    <a:bodyPr/>
                    <a:lstStyle/>
                    <a:p>
                      <a:pPr algn="l"/>
                      <a:r>
                        <a:rPr sz="1050" b="0" i="0">
                          <a:solidFill>
                            <a:srgbClr val="000000"/>
                          </a:solidFill>
                          <a:latin typeface="Calibri"/>
                        </a:rPr>
                        <a:t>Table 43: USA Market Attractiveness Index by Product Type, 2026–2036</a:t>
                      </a:r>
                      <a:endParaRPr sz="1050"/>
                    </a:p>
                  </a:txBody>
                  <a:tcPr marL="9525" marR="9525" marT="9525" marB="0" anchor="ctr"/>
                </a:tc>
                <a:extLst>
                  <a:ext uri="{0D108BD9-81ED-4DB2-BD59-A6C34878D82A}">
                    <a16:rowId xmlns:a16="http://schemas.microsoft.com/office/drawing/2014/main" val="10011"/>
                  </a:ext>
                </a:extLst>
              </a:tr>
              <a:tr h="170708">
                <a:tc>
                  <a:txBody>
                    <a:bodyPr/>
                    <a:lstStyle/>
                    <a:p>
                      <a:pPr algn="l"/>
                      <a:r>
                        <a:rPr sz="1050" b="0" i="0">
                          <a:solidFill>
                            <a:srgbClr val="000000"/>
                          </a:solidFill>
                          <a:latin typeface="Calibri"/>
                        </a:rPr>
                        <a:t>Table 44: USA Market Attractiveness Index by Sales Channel, 2026–2036</a:t>
                      </a:r>
                      <a:endParaRPr sz="1050"/>
                    </a:p>
                  </a:txBody>
                  <a:tcPr marL="9525" marR="9525" marT="9525" marB="0" anchor="ctr"/>
                </a:tc>
                <a:extLst>
                  <a:ext uri="{0D108BD9-81ED-4DB2-BD59-A6C34878D82A}">
                    <a16:rowId xmlns:a16="http://schemas.microsoft.com/office/drawing/2014/main" val="10012"/>
                  </a:ext>
                </a:extLst>
              </a:tr>
              <a:tr h="170708">
                <a:tc>
                  <a:txBody>
                    <a:bodyPr/>
                    <a:lstStyle/>
                    <a:p>
                      <a:pPr algn="l"/>
                      <a:r>
                        <a:rPr sz="1050" b="0" i="0">
                          <a:solidFill>
                            <a:srgbClr val="000000"/>
                          </a:solidFill>
                          <a:latin typeface="Calibri"/>
                        </a:rPr>
                        <a:t>Table 45: USA Market Value and YoY Growth, Capsule (Product Format), US$ Mn and %, 2021–2036</a:t>
                      </a:r>
                      <a:endParaRPr sz="1050"/>
                    </a:p>
                  </a:txBody>
                  <a:tcPr marL="9525" marR="9525" marT="9525" marB="0" anchor="ctr"/>
                </a:tc>
                <a:extLst>
                  <a:ext uri="{0D108BD9-81ED-4DB2-BD59-A6C34878D82A}">
                    <a16:rowId xmlns:a16="http://schemas.microsoft.com/office/drawing/2014/main" val="10013"/>
                  </a:ext>
                </a:extLst>
              </a:tr>
              <a:tr h="170708">
                <a:tc>
                  <a:txBody>
                    <a:bodyPr/>
                    <a:lstStyle/>
                    <a:p>
                      <a:pPr algn="l"/>
                      <a:r>
                        <a:rPr sz="1050" b="0" i="0">
                          <a:solidFill>
                            <a:srgbClr val="000000"/>
                          </a:solidFill>
                          <a:latin typeface="Calibri"/>
                        </a:rPr>
                        <a:t>Table 46: USA Market Value and YoY Growth, Multivitamin (Product Type), US$ Mn and %, 2021–2036</a:t>
                      </a:r>
                      <a:endParaRPr sz="1050"/>
                    </a:p>
                  </a:txBody>
                  <a:tcPr marL="9525" marR="9525" marT="9525" marB="0" anchor="ctr"/>
                </a:tc>
                <a:extLst>
                  <a:ext uri="{0D108BD9-81ED-4DB2-BD59-A6C34878D82A}">
                    <a16:rowId xmlns:a16="http://schemas.microsoft.com/office/drawing/2014/main" val="10014"/>
                  </a:ext>
                </a:extLst>
              </a:tr>
              <a:tr h="334587">
                <a:tc>
                  <a:txBody>
                    <a:bodyPr/>
                    <a:lstStyle/>
                    <a:p>
                      <a:pPr algn="l"/>
                      <a:r>
                        <a:rPr sz="1050" b="0" i="0">
                          <a:solidFill>
                            <a:srgbClr val="000000"/>
                          </a:solidFill>
                          <a:latin typeface="Calibri"/>
                        </a:rPr>
                        <a:t>Table 47: USA Market Value and YoY Growth, Direct-to-Consumer / Brand Website (Sales Channel), US$ Mn and %, 2021–2036</a:t>
                      </a:r>
                      <a:endParaRPr sz="1050"/>
                    </a:p>
                  </a:txBody>
                  <a:tcPr marL="9525" marR="9525" marT="9525" marB="0" anchor="ctr"/>
                </a:tc>
                <a:extLst>
                  <a:ext uri="{0D108BD9-81ED-4DB2-BD59-A6C34878D82A}">
                    <a16:rowId xmlns:a16="http://schemas.microsoft.com/office/drawing/2014/main" val="10015"/>
                  </a:ext>
                </a:extLst>
              </a:tr>
              <a:tr h="170708">
                <a:tc>
                  <a:txBody>
                    <a:bodyPr/>
                    <a:lstStyle/>
                    <a:p>
                      <a:pPr algn="l"/>
                      <a:r>
                        <a:rPr sz="1050" b="0" i="0">
                          <a:solidFill>
                            <a:srgbClr val="000000"/>
                          </a:solidFill>
                          <a:latin typeface="Calibri"/>
                        </a:rPr>
                        <a:t>Table 48: USA Market Value and YoY Growth, Tablet (Product Format), US$ Mn and %, 2021–2036</a:t>
                      </a:r>
                      <a:endParaRPr sz="1050"/>
                    </a:p>
                  </a:txBody>
                  <a:tcPr marL="9525" marR="9525" marT="9525" marB="0" anchor="ctr"/>
                </a:tc>
                <a:extLst>
                  <a:ext uri="{0D108BD9-81ED-4DB2-BD59-A6C34878D82A}">
                    <a16:rowId xmlns:a16="http://schemas.microsoft.com/office/drawing/2014/main" val="10016"/>
                  </a:ext>
                </a:extLst>
              </a:tr>
              <a:tr h="334587">
                <a:tc>
                  <a:txBody>
                    <a:bodyPr/>
                    <a:lstStyle/>
                    <a:p>
                      <a:pPr algn="l"/>
                      <a:r>
                        <a:rPr sz="1050" b="0" i="0">
                          <a:solidFill>
                            <a:srgbClr val="000000"/>
                          </a:solidFill>
                          <a:latin typeface="Calibri"/>
                        </a:rPr>
                        <a:t>Table 49: USA Market Value and YoY Growth, DHA / Omega-3 (Product Type), US$ Mn and %, 2021–2036</a:t>
                      </a:r>
                      <a:endParaRPr sz="1050"/>
                    </a:p>
                  </a:txBody>
                  <a:tcPr marL="9525" marR="9525" marT="9525" marB="0" anchor="ctr"/>
                </a:tc>
                <a:extLst>
                  <a:ext uri="{0D108BD9-81ED-4DB2-BD59-A6C34878D82A}">
                    <a16:rowId xmlns:a16="http://schemas.microsoft.com/office/drawing/2014/main" val="10017"/>
                  </a:ext>
                </a:extLst>
              </a:tr>
              <a:tr h="334587">
                <a:tc>
                  <a:txBody>
                    <a:bodyPr/>
                    <a:lstStyle/>
                    <a:p>
                      <a:pPr algn="l"/>
                      <a:r>
                        <a:rPr sz="1050" b="0" i="0">
                          <a:solidFill>
                            <a:srgbClr val="000000"/>
                          </a:solidFill>
                          <a:latin typeface="Calibri"/>
                        </a:rPr>
                        <a:t>Table 50: USA Market Value and YoY Growth, Amazon / Online Marketplaces (Sales Channel), US$ Mn and %, 2021–2036</a:t>
                      </a:r>
                      <a:endParaRPr sz="1050"/>
                    </a:p>
                  </a:txBody>
                  <a:tcPr marL="9525" marR="9525" marT="9525" marB="0" anchor="ctr"/>
                </a:tc>
                <a:extLst>
                  <a:ext uri="{0D108BD9-81ED-4DB2-BD59-A6C34878D82A}">
                    <a16:rowId xmlns:a16="http://schemas.microsoft.com/office/drawing/2014/main" val="10018"/>
                  </a:ext>
                </a:extLst>
              </a:tr>
              <a:tr h="170708">
                <a:tc>
                  <a:txBody>
                    <a:bodyPr/>
                    <a:lstStyle/>
                    <a:p>
                      <a:pPr algn="l"/>
                      <a:r>
                        <a:rPr sz="1050" b="0" i="0">
                          <a:solidFill>
                            <a:srgbClr val="000000"/>
                          </a:solidFill>
                          <a:latin typeface="Calibri"/>
                        </a:rPr>
                        <a:t>Table 51: USA Market Value and YoY Growth, Softgels (Product Format), US$ Mn and %, 2021–2036</a:t>
                      </a:r>
                      <a:endParaRPr sz="1050"/>
                    </a:p>
                  </a:txBody>
                  <a:tcPr marL="9525" marR="9525" marT="9525" marB="0" anchor="ctr"/>
                </a:tc>
                <a:extLst>
                  <a:ext uri="{0D108BD9-81ED-4DB2-BD59-A6C34878D82A}">
                    <a16:rowId xmlns:a16="http://schemas.microsoft.com/office/drawing/2014/main" val="10019"/>
                  </a:ext>
                </a:extLst>
              </a:tr>
              <a:tr h="170708">
                <a:tc>
                  <a:txBody>
                    <a:bodyPr/>
                    <a:lstStyle/>
                    <a:p>
                      <a:pPr algn="l"/>
                      <a:r>
                        <a:rPr sz="1050" b="0" i="0">
                          <a:solidFill>
                            <a:srgbClr val="000000"/>
                          </a:solidFill>
                          <a:latin typeface="Calibri"/>
                        </a:rPr>
                        <a:t>Table 52: USA Market Value and YoY Growth, Iron (Product Type), US$ Mn and %, 2021–2036</a:t>
                      </a:r>
                      <a:endParaRPr sz="1050"/>
                    </a:p>
                  </a:txBody>
                  <a:tcPr marL="9525" marR="9525" marT="9525" marB="0" anchor="ctr"/>
                </a:tc>
                <a:extLst>
                  <a:ext uri="{0D108BD9-81ED-4DB2-BD59-A6C34878D82A}">
                    <a16:rowId xmlns:a16="http://schemas.microsoft.com/office/drawing/2014/main" val="10020"/>
                  </a:ext>
                </a:extLst>
              </a:tr>
              <a:tr h="170708">
                <a:tc>
                  <a:txBody>
                    <a:bodyPr/>
                    <a:lstStyle/>
                    <a:p>
                      <a:pPr algn="l"/>
                      <a:r>
                        <a:rPr sz="1050" b="0" i="0">
                          <a:solidFill>
                            <a:srgbClr val="000000"/>
                          </a:solidFill>
                          <a:latin typeface="Calibri"/>
                        </a:rPr>
                        <a:t>Table 53: USA Market Value and YoY Growth, Mass Retail (Sales Channel), US$ Mn and %, 2021–2036</a:t>
                      </a:r>
                      <a:endParaRPr sz="1050"/>
                    </a:p>
                  </a:txBody>
                  <a:tcPr marL="9525" marR="9525" marT="9525" marB="0" anchor="ctr"/>
                </a:tc>
                <a:extLst>
                  <a:ext uri="{0D108BD9-81ED-4DB2-BD59-A6C34878D82A}">
                    <a16:rowId xmlns:a16="http://schemas.microsoft.com/office/drawing/2014/main" val="10021"/>
                  </a:ext>
                </a:extLst>
              </a:tr>
              <a:tr h="170708">
                <a:tc>
                  <a:txBody>
                    <a:bodyPr/>
                    <a:lstStyle/>
                    <a:p>
                      <a:pPr algn="l"/>
                      <a:r>
                        <a:rPr sz="1050" b="0" i="0">
                          <a:solidFill>
                            <a:srgbClr val="000000"/>
                          </a:solidFill>
                          <a:latin typeface="Calibri"/>
                        </a:rPr>
                        <a:t>Table 54: USA Market Value and YoY Growth, Gummies (Product Format), US$ Mn and %, 2021–2036</a:t>
                      </a:r>
                      <a:endParaRPr sz="1050"/>
                    </a:p>
                  </a:txBody>
                  <a:tcPr marL="9525" marR="9525" marT="9525" marB="0" anchor="ctr"/>
                </a:tc>
                <a:extLst>
                  <a:ext uri="{0D108BD9-81ED-4DB2-BD59-A6C34878D82A}">
                    <a16:rowId xmlns:a16="http://schemas.microsoft.com/office/drawing/2014/main" val="10022"/>
                  </a:ext>
                </a:extLst>
              </a:tr>
              <a:tr h="334587">
                <a:tc>
                  <a:txBody>
                    <a:bodyPr/>
                    <a:lstStyle/>
                    <a:p>
                      <a:pPr algn="l"/>
                      <a:r>
                        <a:rPr sz="1050" b="0" i="0">
                          <a:solidFill>
                            <a:srgbClr val="000000"/>
                          </a:solidFill>
                          <a:latin typeface="Calibri"/>
                        </a:rPr>
                        <a:t>Table 55: USA Market Value and YoY Growth, Folate / Folic Acid (Product Type), US$ Mn and %, 2021–2036</a:t>
                      </a:r>
                      <a:endParaRPr sz="1050"/>
                    </a:p>
                  </a:txBody>
                  <a:tcPr marL="9525" marR="9525" marT="9525" marB="0" anchor="ctr"/>
                </a:tc>
                <a:extLst>
                  <a:ext uri="{0D108BD9-81ED-4DB2-BD59-A6C34878D82A}">
                    <a16:rowId xmlns:a16="http://schemas.microsoft.com/office/drawing/2014/main" val="10023"/>
                  </a:ext>
                </a:extLst>
              </a:tr>
              <a:tr h="334587">
                <a:tc>
                  <a:txBody>
                    <a:bodyPr/>
                    <a:lstStyle/>
                    <a:p>
                      <a:pPr algn="l"/>
                      <a:r>
                        <a:rPr sz="1050" b="0" i="0">
                          <a:solidFill>
                            <a:srgbClr val="000000"/>
                          </a:solidFill>
                          <a:latin typeface="Calibri"/>
                        </a:rPr>
                        <a:t>Table 56: USA Market Value and YoY Growth, Pharmacy / Drugstores (Sales Channel), US$ Mn and %, 2021–2036</a:t>
                      </a:r>
                      <a:endParaRPr sz="1050"/>
                    </a:p>
                  </a:txBody>
                  <a:tcPr marL="9525" marR="9525" marT="9525" marB="0" anchor="ctr"/>
                </a:tc>
                <a:extLst>
                  <a:ext uri="{0D108BD9-81ED-4DB2-BD59-A6C34878D82A}">
                    <a16:rowId xmlns:a16="http://schemas.microsoft.com/office/drawing/2014/main" val="10024"/>
                  </a:ext>
                </a:extLst>
              </a:tr>
              <a:tr h="170708">
                <a:tc>
                  <a:txBody>
                    <a:bodyPr/>
                    <a:lstStyle/>
                    <a:p>
                      <a:pPr algn="l"/>
                      <a:r>
                        <a:rPr sz="1050" b="0" i="0">
                          <a:solidFill>
                            <a:srgbClr val="000000"/>
                          </a:solidFill>
                          <a:latin typeface="Calibri"/>
                        </a:rPr>
                        <a:t>Table 57: USA Market Value and YoY Growth, Powder (Product Format), US$ Mn and %, 2021–2036</a:t>
                      </a:r>
                      <a:endParaRPr sz="1050"/>
                    </a:p>
                  </a:txBody>
                  <a:tcPr marL="9525" marR="9525" marT="9525" marB="0" anchor="ctr"/>
                </a:tc>
                <a:extLst>
                  <a:ext uri="{0D108BD9-81ED-4DB2-BD59-A6C34878D82A}">
                    <a16:rowId xmlns:a16="http://schemas.microsoft.com/office/drawing/2014/main" val="10025"/>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List of Tables (2/3)</a:t>
            </a:r>
          </a:p>
        </p:txBody>
      </p:sp>
      <p:graphicFrame>
        <p:nvGraphicFramePr>
          <p:cNvPr id="9" name="FMI Contents Table"/>
          <p:cNvGraphicFramePr>
            <a:graphicFrameLocks noGrp="1"/>
          </p:cNvGraphicFramePr>
          <p:nvPr/>
        </p:nvGraphicFramePr>
        <p:xfrm>
          <a:off x="142875" y="981075"/>
          <a:ext cx="5876925" cy="5257810"/>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70266">
                <a:tc>
                  <a:txBody>
                    <a:bodyPr/>
                    <a:lstStyle/>
                    <a:p>
                      <a:pPr algn="l"/>
                      <a:r>
                        <a:rPr sz="1050" b="0" i="0">
                          <a:solidFill>
                            <a:srgbClr val="000000"/>
                          </a:solidFill>
                          <a:latin typeface="Calibri"/>
                        </a:rPr>
                        <a:t>Table 58: USA Market Value and YoY Growth, Choline (Product Type), US$ Mn and %, 2021–2036</a:t>
                      </a:r>
                      <a:endParaRPr sz="1050"/>
                    </a:p>
                  </a:txBody>
                  <a:tcPr marL="9525" marR="9525" marT="9525" marB="0" anchor="ctr"/>
                </a:tc>
                <a:extLst>
                  <a:ext uri="{0D108BD9-81ED-4DB2-BD59-A6C34878D82A}">
                    <a16:rowId xmlns:a16="http://schemas.microsoft.com/office/drawing/2014/main" val="10000"/>
                  </a:ext>
                </a:extLst>
              </a:tr>
              <a:tr h="333720">
                <a:tc>
                  <a:txBody>
                    <a:bodyPr/>
                    <a:lstStyle/>
                    <a:p>
                      <a:pPr algn="l"/>
                      <a:r>
                        <a:rPr sz="1050" b="0" i="0">
                          <a:solidFill>
                            <a:srgbClr val="000000"/>
                          </a:solidFill>
                          <a:latin typeface="Calibri"/>
                        </a:rPr>
                        <a:t>Table 59: USA Market Value and YoY Growth, Specialty Health &amp; Wellness Retail (Sales Channel), US$ Mn and %, 2021–2036</a:t>
                      </a:r>
                      <a:endParaRPr sz="1050"/>
                    </a:p>
                  </a:txBody>
                  <a:tcPr marL="9525" marR="9525" marT="9525" marB="0" anchor="ctr"/>
                </a:tc>
                <a:extLst>
                  <a:ext uri="{0D108BD9-81ED-4DB2-BD59-A6C34878D82A}">
                    <a16:rowId xmlns:a16="http://schemas.microsoft.com/office/drawing/2014/main" val="10001"/>
                  </a:ext>
                </a:extLst>
              </a:tr>
              <a:tr h="170266">
                <a:tc>
                  <a:txBody>
                    <a:bodyPr/>
                    <a:lstStyle/>
                    <a:p>
                      <a:pPr algn="l"/>
                      <a:r>
                        <a:rPr sz="1050" b="0" i="0">
                          <a:solidFill>
                            <a:srgbClr val="000000"/>
                          </a:solidFill>
                          <a:latin typeface="Calibri"/>
                        </a:rPr>
                        <a:t>Table 60: USA Market Value and YoY Growth, Bar (Product Format), US$ Mn and %, 2021–2036</a:t>
                      </a:r>
                      <a:endParaRPr sz="1050"/>
                    </a:p>
                  </a:txBody>
                  <a:tcPr marL="9525" marR="9525" marT="9525" marB="0" anchor="ctr"/>
                </a:tc>
                <a:extLst>
                  <a:ext uri="{0D108BD9-81ED-4DB2-BD59-A6C34878D82A}">
                    <a16:rowId xmlns:a16="http://schemas.microsoft.com/office/drawing/2014/main" val="10002"/>
                  </a:ext>
                </a:extLst>
              </a:tr>
              <a:tr h="333720">
                <a:tc>
                  <a:txBody>
                    <a:bodyPr/>
                    <a:lstStyle/>
                    <a:p>
                      <a:pPr algn="l"/>
                      <a:r>
                        <a:rPr sz="1050" b="0" i="0">
                          <a:solidFill>
                            <a:srgbClr val="000000"/>
                          </a:solidFill>
                          <a:latin typeface="Calibri"/>
                        </a:rPr>
                        <a:t>Table 61: USA Market Value and YoY Growth, Calcium &amp; Mineral (Product Type), US$ Mn and %, 2021–2036</a:t>
                      </a:r>
                      <a:endParaRPr sz="1050"/>
                    </a:p>
                  </a:txBody>
                  <a:tcPr marL="9525" marR="9525" marT="9525" marB="0" anchor="ctr"/>
                </a:tc>
                <a:extLst>
                  <a:ext uri="{0D108BD9-81ED-4DB2-BD59-A6C34878D82A}">
                    <a16:rowId xmlns:a16="http://schemas.microsoft.com/office/drawing/2014/main" val="10003"/>
                  </a:ext>
                </a:extLst>
              </a:tr>
              <a:tr h="333720">
                <a:tc>
                  <a:txBody>
                    <a:bodyPr/>
                    <a:lstStyle/>
                    <a:p>
                      <a:pPr algn="l"/>
                      <a:r>
                        <a:rPr sz="1050" b="0" i="0">
                          <a:solidFill>
                            <a:srgbClr val="000000"/>
                          </a:solidFill>
                          <a:latin typeface="Calibri"/>
                        </a:rPr>
                        <a:t>Table 62: USA Market Value and YoY Growth, Practitioner / Clinic Channel (Sales Channel), US$ Mn and %, 2021–2036</a:t>
                      </a:r>
                      <a:endParaRPr sz="1050"/>
                    </a:p>
                  </a:txBody>
                  <a:tcPr marL="9525" marR="9525" marT="9525" marB="0" anchor="ctr"/>
                </a:tc>
                <a:extLst>
                  <a:ext uri="{0D108BD9-81ED-4DB2-BD59-A6C34878D82A}">
                    <a16:rowId xmlns:a16="http://schemas.microsoft.com/office/drawing/2014/main" val="10004"/>
                  </a:ext>
                </a:extLst>
              </a:tr>
              <a:tr h="170266">
                <a:tc>
                  <a:txBody>
                    <a:bodyPr/>
                    <a:lstStyle/>
                    <a:p>
                      <a:pPr algn="l"/>
                      <a:r>
                        <a:rPr sz="1050" b="0" i="0">
                          <a:solidFill>
                            <a:srgbClr val="000000"/>
                          </a:solidFill>
                          <a:latin typeface="Calibri"/>
                        </a:rPr>
                        <a:t>Table 63: USA Market Value and YoY Growth, Liquid (Product Format), US$ Mn and %, 2021–2036</a:t>
                      </a:r>
                      <a:endParaRPr sz="1050"/>
                    </a:p>
                  </a:txBody>
                  <a:tcPr marL="9525" marR="9525" marT="9525" marB="0" anchor="ctr"/>
                </a:tc>
                <a:extLst>
                  <a:ext uri="{0D108BD9-81ED-4DB2-BD59-A6C34878D82A}">
                    <a16:rowId xmlns:a16="http://schemas.microsoft.com/office/drawing/2014/main" val="10005"/>
                  </a:ext>
                </a:extLst>
              </a:tr>
              <a:tr h="170266">
                <a:tc>
                  <a:txBody>
                    <a:bodyPr/>
                    <a:lstStyle/>
                    <a:p>
                      <a:pPr algn="l"/>
                      <a:r>
                        <a:rPr sz="1050" b="0" i="0">
                          <a:solidFill>
                            <a:srgbClr val="000000"/>
                          </a:solidFill>
                          <a:latin typeface="Calibri"/>
                        </a:rPr>
                        <a:t>Table 64: USA Market Value and YoY Growth, Probiotic (Product Type), US$ Mn and %, 2021–2036</a:t>
                      </a:r>
                      <a:endParaRPr sz="1050"/>
                    </a:p>
                  </a:txBody>
                  <a:tcPr marL="9525" marR="9525" marT="9525" marB="0" anchor="ctr"/>
                </a:tc>
                <a:extLst>
                  <a:ext uri="{0D108BD9-81ED-4DB2-BD59-A6C34878D82A}">
                    <a16:rowId xmlns:a16="http://schemas.microsoft.com/office/drawing/2014/main" val="10006"/>
                  </a:ext>
                </a:extLst>
              </a:tr>
              <a:tr h="170266">
                <a:tc>
                  <a:txBody>
                    <a:bodyPr/>
                    <a:lstStyle/>
                    <a:p>
                      <a:pPr algn="l"/>
                      <a:r>
                        <a:rPr sz="1050" b="0" i="0">
                          <a:solidFill>
                            <a:srgbClr val="000000"/>
                          </a:solidFill>
                          <a:latin typeface="Calibri"/>
                        </a:rPr>
                        <a:t>Table 65: USA Market Value by Sales Channel by Scenario, US$ Mn, 2036</a:t>
                      </a:r>
                      <a:endParaRPr sz="1050"/>
                    </a:p>
                  </a:txBody>
                  <a:tcPr marL="9525" marR="9525" marT="9525" marB="0" anchor="ctr"/>
                </a:tc>
                <a:extLst>
                  <a:ext uri="{0D108BD9-81ED-4DB2-BD59-A6C34878D82A}">
                    <a16:rowId xmlns:a16="http://schemas.microsoft.com/office/drawing/2014/main" val="10007"/>
                  </a:ext>
                </a:extLst>
              </a:tr>
              <a:tr h="170266">
                <a:tc>
                  <a:txBody>
                    <a:bodyPr/>
                    <a:lstStyle/>
                    <a:p>
                      <a:pPr algn="l"/>
                      <a:r>
                        <a:rPr sz="1050" b="0" i="0">
                          <a:solidFill>
                            <a:srgbClr val="000000"/>
                          </a:solidFill>
                          <a:latin typeface="Calibri"/>
                        </a:rPr>
                        <a:t>Table 66: USA Market Value by Product Format by Scenario, US$ Mn, 2036</a:t>
                      </a:r>
                      <a:endParaRPr sz="1050"/>
                    </a:p>
                  </a:txBody>
                  <a:tcPr marL="9525" marR="9525" marT="9525" marB="0" anchor="ctr"/>
                </a:tc>
                <a:extLst>
                  <a:ext uri="{0D108BD9-81ED-4DB2-BD59-A6C34878D82A}">
                    <a16:rowId xmlns:a16="http://schemas.microsoft.com/office/drawing/2014/main" val="10008"/>
                  </a:ext>
                </a:extLst>
              </a:tr>
              <a:tr h="170266">
                <a:tc>
                  <a:txBody>
                    <a:bodyPr/>
                    <a:lstStyle/>
                    <a:p>
                      <a:pPr algn="l"/>
                      <a:r>
                        <a:rPr sz="1050" b="0" i="0">
                          <a:solidFill>
                            <a:srgbClr val="000000"/>
                          </a:solidFill>
                          <a:latin typeface="Calibri"/>
                        </a:rPr>
                        <a:t>Table 67: USA Market Value by Product Type by Scenario, US$ Mn, 2036</a:t>
                      </a:r>
                      <a:endParaRPr sz="1050"/>
                    </a:p>
                  </a:txBody>
                  <a:tcPr marL="9525" marR="9525" marT="9525" marB="0" anchor="ctr"/>
                </a:tc>
                <a:extLst>
                  <a:ext uri="{0D108BD9-81ED-4DB2-BD59-A6C34878D82A}">
                    <a16:rowId xmlns:a16="http://schemas.microsoft.com/office/drawing/2014/main" val="10009"/>
                  </a:ext>
                </a:extLst>
              </a:tr>
              <a:tr h="170266">
                <a:tc>
                  <a:txBody>
                    <a:bodyPr/>
                    <a:lstStyle/>
                    <a:p>
                      <a:pPr algn="l"/>
                      <a:r>
                        <a:rPr sz="1050" b="0" i="0">
                          <a:solidFill>
                            <a:srgbClr val="000000"/>
                          </a:solidFill>
                          <a:latin typeface="Calibri"/>
                        </a:rPr>
                        <a:t>Table 68: USA Market Value by Product Format and Product Type, US$ Mn, 2026–2036</a:t>
                      </a:r>
                      <a:endParaRPr sz="1050"/>
                    </a:p>
                  </a:txBody>
                  <a:tcPr marL="9525" marR="9525" marT="9525" marB="0" anchor="ctr"/>
                </a:tc>
                <a:extLst>
                  <a:ext uri="{0D108BD9-81ED-4DB2-BD59-A6C34878D82A}">
                    <a16:rowId xmlns:a16="http://schemas.microsoft.com/office/drawing/2014/main" val="10010"/>
                  </a:ext>
                </a:extLst>
              </a:tr>
              <a:tr h="170266">
                <a:tc>
                  <a:txBody>
                    <a:bodyPr/>
                    <a:lstStyle/>
                    <a:p>
                      <a:pPr algn="l"/>
                      <a:r>
                        <a:rPr sz="1050" b="0" i="0">
                          <a:solidFill>
                            <a:srgbClr val="000000"/>
                          </a:solidFill>
                          <a:latin typeface="Calibri"/>
                        </a:rPr>
                        <a:t>Table 69: USA Market Value by Product Format and Sales Channel, US$ Mn, 2026–2036</a:t>
                      </a:r>
                      <a:endParaRPr sz="1050"/>
                    </a:p>
                  </a:txBody>
                  <a:tcPr marL="9525" marR="9525" marT="9525" marB="0" anchor="ctr"/>
                </a:tc>
                <a:extLst>
                  <a:ext uri="{0D108BD9-81ED-4DB2-BD59-A6C34878D82A}">
                    <a16:rowId xmlns:a16="http://schemas.microsoft.com/office/drawing/2014/main" val="10011"/>
                  </a:ext>
                </a:extLst>
              </a:tr>
              <a:tr h="170266">
                <a:tc>
                  <a:txBody>
                    <a:bodyPr/>
                    <a:lstStyle/>
                    <a:p>
                      <a:pPr algn="l"/>
                      <a:r>
                        <a:rPr sz="1050" b="0" i="0">
                          <a:solidFill>
                            <a:srgbClr val="000000"/>
                          </a:solidFill>
                          <a:latin typeface="Calibri"/>
                        </a:rPr>
                        <a:t>Table 70: USA Market Value by Product Type and Sales Channel, US$ Mn, 2026–2036</a:t>
                      </a:r>
                      <a:endParaRPr sz="1050"/>
                    </a:p>
                  </a:txBody>
                  <a:tcPr marL="9525" marR="9525" marT="9525" marB="0" anchor="ctr"/>
                </a:tc>
                <a:extLst>
                  <a:ext uri="{0D108BD9-81ED-4DB2-BD59-A6C34878D82A}">
                    <a16:rowId xmlns:a16="http://schemas.microsoft.com/office/drawing/2014/main" val="10012"/>
                  </a:ext>
                </a:extLst>
              </a:tr>
              <a:tr h="170266">
                <a:tc>
                  <a:txBody>
                    <a:bodyPr/>
                    <a:lstStyle/>
                    <a:p>
                      <a:pPr algn="l"/>
                      <a:r>
                        <a:rPr sz="1050" b="0" i="0">
                          <a:solidFill>
                            <a:srgbClr val="000000"/>
                          </a:solidFill>
                          <a:latin typeface="Calibri"/>
                        </a:rPr>
                        <a:t>Table 71: USA Market CAGR by Product Format and Product Type, %, 2026–2036</a:t>
                      </a:r>
                      <a:endParaRPr sz="1050"/>
                    </a:p>
                  </a:txBody>
                  <a:tcPr marL="9525" marR="9525" marT="9525" marB="0" anchor="ctr"/>
                </a:tc>
                <a:extLst>
                  <a:ext uri="{0D108BD9-81ED-4DB2-BD59-A6C34878D82A}">
                    <a16:rowId xmlns:a16="http://schemas.microsoft.com/office/drawing/2014/main" val="10013"/>
                  </a:ext>
                </a:extLst>
              </a:tr>
              <a:tr h="170266">
                <a:tc>
                  <a:txBody>
                    <a:bodyPr/>
                    <a:lstStyle/>
                    <a:p>
                      <a:pPr algn="l"/>
                      <a:r>
                        <a:rPr sz="1050" b="0" i="0">
                          <a:solidFill>
                            <a:srgbClr val="000000"/>
                          </a:solidFill>
                          <a:latin typeface="Calibri"/>
                        </a:rPr>
                        <a:t>Table 72: USA Market CAGR by Product Format and Sales Channel, %, 2026–2036</a:t>
                      </a:r>
                      <a:endParaRPr sz="1050"/>
                    </a:p>
                  </a:txBody>
                  <a:tcPr marL="9525" marR="9525" marT="9525" marB="0" anchor="ctr"/>
                </a:tc>
                <a:extLst>
                  <a:ext uri="{0D108BD9-81ED-4DB2-BD59-A6C34878D82A}">
                    <a16:rowId xmlns:a16="http://schemas.microsoft.com/office/drawing/2014/main" val="10014"/>
                  </a:ext>
                </a:extLst>
              </a:tr>
              <a:tr h="170266">
                <a:tc>
                  <a:txBody>
                    <a:bodyPr/>
                    <a:lstStyle/>
                    <a:p>
                      <a:pPr algn="l"/>
                      <a:r>
                        <a:rPr sz="1050" b="0" i="0">
                          <a:solidFill>
                            <a:srgbClr val="000000"/>
                          </a:solidFill>
                          <a:latin typeface="Calibri"/>
                        </a:rPr>
                        <a:t>Table 73: USA Market CAGR by Product Type and Sales Channel, %, 2026–2036</a:t>
                      </a:r>
                      <a:endParaRPr sz="1050"/>
                    </a:p>
                  </a:txBody>
                  <a:tcPr marL="9525" marR="9525" marT="9525" marB="0" anchor="ctr"/>
                </a:tc>
                <a:extLst>
                  <a:ext uri="{0D108BD9-81ED-4DB2-BD59-A6C34878D82A}">
                    <a16:rowId xmlns:a16="http://schemas.microsoft.com/office/drawing/2014/main" val="10015"/>
                  </a:ext>
                </a:extLst>
              </a:tr>
              <a:tr h="170266">
                <a:tc>
                  <a:txBody>
                    <a:bodyPr/>
                    <a:lstStyle/>
                    <a:p>
                      <a:pPr algn="l"/>
                      <a:r>
                        <a:rPr sz="1050" b="0" i="0">
                          <a:solidFill>
                            <a:srgbClr val="000000"/>
                          </a:solidFill>
                          <a:latin typeface="Calibri"/>
                        </a:rPr>
                        <a:t>Table 74: USA Market Share of Product Type within Product Format, %, 2026 and 2036</a:t>
                      </a:r>
                      <a:endParaRPr sz="1050"/>
                    </a:p>
                  </a:txBody>
                  <a:tcPr marL="9525" marR="9525" marT="9525" marB="0" anchor="ctr"/>
                </a:tc>
                <a:extLst>
                  <a:ext uri="{0D108BD9-81ED-4DB2-BD59-A6C34878D82A}">
                    <a16:rowId xmlns:a16="http://schemas.microsoft.com/office/drawing/2014/main" val="10016"/>
                  </a:ext>
                </a:extLst>
              </a:tr>
              <a:tr h="170266">
                <a:tc>
                  <a:txBody>
                    <a:bodyPr/>
                    <a:lstStyle/>
                    <a:p>
                      <a:pPr algn="l"/>
                      <a:r>
                        <a:rPr sz="1050" b="0" i="0">
                          <a:solidFill>
                            <a:srgbClr val="000000"/>
                          </a:solidFill>
                          <a:latin typeface="Calibri"/>
                        </a:rPr>
                        <a:t>Table 75: USA Market Share of Sales Channel within Product Format, %, 2026 and 2036</a:t>
                      </a:r>
                      <a:endParaRPr sz="1050"/>
                    </a:p>
                  </a:txBody>
                  <a:tcPr marL="9525" marR="9525" marT="9525" marB="0" anchor="ctr"/>
                </a:tc>
                <a:extLst>
                  <a:ext uri="{0D108BD9-81ED-4DB2-BD59-A6C34878D82A}">
                    <a16:rowId xmlns:a16="http://schemas.microsoft.com/office/drawing/2014/main" val="10017"/>
                  </a:ext>
                </a:extLst>
              </a:tr>
              <a:tr h="170266">
                <a:tc>
                  <a:txBody>
                    <a:bodyPr/>
                    <a:lstStyle/>
                    <a:p>
                      <a:pPr algn="l"/>
                      <a:r>
                        <a:rPr sz="1050" b="0" i="0">
                          <a:solidFill>
                            <a:srgbClr val="000000"/>
                          </a:solidFill>
                          <a:latin typeface="Calibri"/>
                        </a:rPr>
                        <a:t>Table 76: USA Market Share of Sales Channel within Product Type, %, 2026 and 2036</a:t>
                      </a:r>
                      <a:endParaRPr sz="1050"/>
                    </a:p>
                  </a:txBody>
                  <a:tcPr marL="9525" marR="9525" marT="9525" marB="0" anchor="ctr"/>
                </a:tc>
                <a:extLst>
                  <a:ext uri="{0D108BD9-81ED-4DB2-BD59-A6C34878D82A}">
                    <a16:rowId xmlns:a16="http://schemas.microsoft.com/office/drawing/2014/main" val="10018"/>
                  </a:ext>
                </a:extLst>
              </a:tr>
              <a:tr h="170266">
                <a:tc>
                  <a:txBody>
                    <a:bodyPr/>
                    <a:lstStyle/>
                    <a:p>
                      <a:pPr algn="l"/>
                      <a:r>
                        <a:rPr sz="1050" b="0" i="0">
                          <a:solidFill>
                            <a:srgbClr val="000000"/>
                          </a:solidFill>
                          <a:latin typeface="Calibri"/>
                        </a:rPr>
                        <a:t>Table 77: USA Market Value of Capsule (Product Format), US$ Mn, 2021–2036</a:t>
                      </a:r>
                      <a:endParaRPr sz="1050"/>
                    </a:p>
                  </a:txBody>
                  <a:tcPr marL="9525" marR="9525" marT="9525" marB="0" anchor="ctr"/>
                </a:tc>
                <a:extLst>
                  <a:ext uri="{0D108BD9-81ED-4DB2-BD59-A6C34878D82A}">
                    <a16:rowId xmlns:a16="http://schemas.microsoft.com/office/drawing/2014/main" val="10019"/>
                  </a:ext>
                </a:extLst>
              </a:tr>
              <a:tr h="170266">
                <a:tc>
                  <a:txBody>
                    <a:bodyPr/>
                    <a:lstStyle/>
                    <a:p>
                      <a:pPr algn="l"/>
                      <a:r>
                        <a:rPr sz="1050" b="0" i="0">
                          <a:solidFill>
                            <a:srgbClr val="000000"/>
                          </a:solidFill>
                          <a:latin typeface="Calibri"/>
                        </a:rPr>
                        <a:t>Table 78: USA Market Value of Tablet (Product Format), US$ Mn, 2021–2036</a:t>
                      </a:r>
                      <a:endParaRPr sz="1050"/>
                    </a:p>
                  </a:txBody>
                  <a:tcPr marL="9525" marR="9525" marT="9525" marB="0" anchor="ctr"/>
                </a:tc>
                <a:extLst>
                  <a:ext uri="{0D108BD9-81ED-4DB2-BD59-A6C34878D82A}">
                    <a16:rowId xmlns:a16="http://schemas.microsoft.com/office/drawing/2014/main" val="10020"/>
                  </a:ext>
                </a:extLst>
              </a:tr>
              <a:tr h="170266">
                <a:tc>
                  <a:txBody>
                    <a:bodyPr/>
                    <a:lstStyle/>
                    <a:p>
                      <a:pPr algn="l"/>
                      <a:r>
                        <a:rPr sz="1050" b="0" i="0">
                          <a:solidFill>
                            <a:srgbClr val="000000"/>
                          </a:solidFill>
                          <a:latin typeface="Calibri"/>
                        </a:rPr>
                        <a:t>Table 79: USA Market Value of Softgels (Product Format), US$ Mn, 2021–2036</a:t>
                      </a:r>
                      <a:endParaRPr sz="1050"/>
                    </a:p>
                  </a:txBody>
                  <a:tcPr marL="9525" marR="9525" marT="9525" marB="0" anchor="ctr"/>
                </a:tc>
                <a:extLst>
                  <a:ext uri="{0D108BD9-81ED-4DB2-BD59-A6C34878D82A}">
                    <a16:rowId xmlns:a16="http://schemas.microsoft.com/office/drawing/2014/main" val="10021"/>
                  </a:ext>
                </a:extLst>
              </a:tr>
              <a:tr h="170266">
                <a:tc>
                  <a:txBody>
                    <a:bodyPr/>
                    <a:lstStyle/>
                    <a:p>
                      <a:pPr algn="l"/>
                      <a:r>
                        <a:rPr sz="1050" b="0" i="0">
                          <a:solidFill>
                            <a:srgbClr val="000000"/>
                          </a:solidFill>
                          <a:latin typeface="Calibri"/>
                        </a:rPr>
                        <a:t>Table 80: USA Market Value of Gummies (Product Format), US$ Mn, 2021–2036</a:t>
                      </a:r>
                      <a:endParaRPr sz="1050"/>
                    </a:p>
                  </a:txBody>
                  <a:tcPr marL="9525" marR="9525" marT="9525" marB="0" anchor="ctr"/>
                </a:tc>
                <a:extLst>
                  <a:ext uri="{0D108BD9-81ED-4DB2-BD59-A6C34878D82A}">
                    <a16:rowId xmlns:a16="http://schemas.microsoft.com/office/drawing/2014/main" val="10022"/>
                  </a:ext>
                </a:extLst>
              </a:tr>
              <a:tr h="170266">
                <a:tc>
                  <a:txBody>
                    <a:bodyPr/>
                    <a:lstStyle/>
                    <a:p>
                      <a:pPr algn="l"/>
                      <a:r>
                        <a:rPr sz="1050" b="0" i="0">
                          <a:solidFill>
                            <a:srgbClr val="000000"/>
                          </a:solidFill>
                          <a:latin typeface="Calibri"/>
                        </a:rPr>
                        <a:t>Table 81: USA Market Value of Powder (Product Format), US$ Mn, 2021–2036</a:t>
                      </a:r>
                      <a:endParaRPr sz="1050"/>
                    </a:p>
                  </a:txBody>
                  <a:tcPr marL="9525" marR="9525" marT="9525" marB="0" anchor="ctr"/>
                </a:tc>
                <a:extLst>
                  <a:ext uri="{0D108BD9-81ED-4DB2-BD59-A6C34878D82A}">
                    <a16:rowId xmlns:a16="http://schemas.microsoft.com/office/drawing/2014/main" val="10023"/>
                  </a:ext>
                </a:extLst>
              </a:tr>
              <a:tr h="170266">
                <a:tc>
                  <a:txBody>
                    <a:bodyPr/>
                    <a:lstStyle/>
                    <a:p>
                      <a:pPr algn="l"/>
                      <a:r>
                        <a:rPr sz="1050" b="0" i="0">
                          <a:solidFill>
                            <a:srgbClr val="000000"/>
                          </a:solidFill>
                          <a:latin typeface="Calibri"/>
                        </a:rPr>
                        <a:t>Table 82: USA Market Value of Bar (Product Format), US$ Mn, 2021–2036</a:t>
                      </a:r>
                      <a:endParaRPr sz="1050"/>
                    </a:p>
                  </a:txBody>
                  <a:tcPr marL="9525" marR="9525" marT="9525" marB="0" anchor="ctr"/>
                </a:tc>
                <a:extLst>
                  <a:ext uri="{0D108BD9-81ED-4DB2-BD59-A6C34878D82A}">
                    <a16:rowId xmlns:a16="http://schemas.microsoft.com/office/drawing/2014/main" val="10024"/>
                  </a:ext>
                </a:extLst>
              </a:tr>
              <a:tr h="170266">
                <a:tc>
                  <a:txBody>
                    <a:bodyPr/>
                    <a:lstStyle/>
                    <a:p>
                      <a:pPr algn="l"/>
                      <a:r>
                        <a:rPr sz="1050" b="0" i="0">
                          <a:solidFill>
                            <a:srgbClr val="000000"/>
                          </a:solidFill>
                          <a:latin typeface="Calibri"/>
                        </a:rPr>
                        <a:t>Table 83: USA Market Value of Liquid (Product Format), US$ Mn, 2021–2036</a:t>
                      </a:r>
                      <a:endParaRPr sz="1050"/>
                    </a:p>
                  </a:txBody>
                  <a:tcPr marL="9525" marR="9525" marT="9525" marB="0" anchor="ctr"/>
                </a:tc>
                <a:extLst>
                  <a:ext uri="{0D108BD9-81ED-4DB2-BD59-A6C34878D82A}">
                    <a16:rowId xmlns:a16="http://schemas.microsoft.com/office/drawing/2014/main" val="10025"/>
                  </a:ext>
                </a:extLst>
              </a:tr>
              <a:tr h="170266">
                <a:tc>
                  <a:txBody>
                    <a:bodyPr/>
                    <a:lstStyle/>
                    <a:p>
                      <a:pPr algn="l"/>
                      <a:r>
                        <a:rPr sz="1050" b="0" i="0">
                          <a:solidFill>
                            <a:srgbClr val="000000"/>
                          </a:solidFill>
                          <a:latin typeface="Calibri"/>
                        </a:rPr>
                        <a:t>Table 84: USA Market Customer and Channel Mix by Product Format, %, 2036</a:t>
                      </a:r>
                      <a:endParaRPr sz="1050"/>
                    </a:p>
                  </a:txBody>
                  <a:tcPr marL="9525" marR="9525" marT="9525" marB="0" anchor="ctr"/>
                </a:tc>
                <a:extLst>
                  <a:ext uri="{0D108BD9-81ED-4DB2-BD59-A6C34878D82A}">
                    <a16:rowId xmlns:a16="http://schemas.microsoft.com/office/drawing/2014/main" val="10026"/>
                  </a:ext>
                </a:extLst>
              </a:tr>
              <a:tr h="170266">
                <a:tc>
                  <a:txBody>
                    <a:bodyPr/>
                    <a:lstStyle/>
                    <a:p>
                      <a:pPr algn="l"/>
                      <a:r>
                        <a:rPr sz="1050" b="0" i="0">
                          <a:solidFill>
                            <a:srgbClr val="000000"/>
                          </a:solidFill>
                          <a:latin typeface="Calibri"/>
                        </a:rPr>
                        <a:t>Table 85: USA Market Value of Multivitamin (Product Type), US$ Mn, 2021–2036</a:t>
                      </a:r>
                      <a:endParaRPr sz="1050"/>
                    </a:p>
                  </a:txBody>
                  <a:tcPr marL="9525" marR="9525" marT="9525" marB="0" anchor="ctr"/>
                </a:tc>
                <a:extLst>
                  <a:ext uri="{0D108BD9-81ED-4DB2-BD59-A6C34878D82A}">
                    <a16:rowId xmlns:a16="http://schemas.microsoft.com/office/drawing/2014/main" val="10027"/>
                  </a:ext>
                </a:extLst>
              </a:tr>
            </a:tbl>
          </a:graphicData>
        </a:graphic>
      </p:graphicFrame>
      <p:graphicFrame>
        <p:nvGraphicFramePr>
          <p:cNvPr id="10" name="FMI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69826">
                <a:tc>
                  <a:txBody>
                    <a:bodyPr/>
                    <a:lstStyle/>
                    <a:p>
                      <a:pPr algn="l"/>
                      <a:r>
                        <a:rPr sz="1050" b="0" i="0">
                          <a:solidFill>
                            <a:srgbClr val="000000"/>
                          </a:solidFill>
                          <a:latin typeface="Calibri"/>
                        </a:rPr>
                        <a:t>Table 86: USA Market Value of DHA / Omega-3 (Product Type), US$ Mn, 2021–2036</a:t>
                      </a:r>
                      <a:endParaRPr sz="1050"/>
                    </a:p>
                  </a:txBody>
                  <a:tcPr marL="9525" marR="9525" marT="9525" marB="0" anchor="ctr"/>
                </a:tc>
                <a:extLst>
                  <a:ext uri="{0D108BD9-81ED-4DB2-BD59-A6C34878D82A}">
                    <a16:rowId xmlns:a16="http://schemas.microsoft.com/office/drawing/2014/main" val="10000"/>
                  </a:ext>
                </a:extLst>
              </a:tr>
              <a:tr h="169826">
                <a:tc>
                  <a:txBody>
                    <a:bodyPr/>
                    <a:lstStyle/>
                    <a:p>
                      <a:pPr algn="l"/>
                      <a:r>
                        <a:rPr sz="1050" b="0" i="0">
                          <a:solidFill>
                            <a:srgbClr val="000000"/>
                          </a:solidFill>
                          <a:latin typeface="Calibri"/>
                        </a:rPr>
                        <a:t>Table 87: USA Market Value of Iron (Product Type), US$ Mn, 2021–2036</a:t>
                      </a:r>
                      <a:endParaRPr sz="1050"/>
                    </a:p>
                  </a:txBody>
                  <a:tcPr marL="9525" marR="9525" marT="9525" marB="0" anchor="ctr"/>
                </a:tc>
                <a:extLst>
                  <a:ext uri="{0D108BD9-81ED-4DB2-BD59-A6C34878D82A}">
                    <a16:rowId xmlns:a16="http://schemas.microsoft.com/office/drawing/2014/main" val="10001"/>
                  </a:ext>
                </a:extLst>
              </a:tr>
              <a:tr h="169826">
                <a:tc>
                  <a:txBody>
                    <a:bodyPr/>
                    <a:lstStyle/>
                    <a:p>
                      <a:pPr algn="l"/>
                      <a:r>
                        <a:rPr sz="1050" b="0" i="0">
                          <a:solidFill>
                            <a:srgbClr val="000000"/>
                          </a:solidFill>
                          <a:latin typeface="Calibri"/>
                        </a:rPr>
                        <a:t>Table 88: USA Market Value of Folate / Folic Acid (Product Type), US$ Mn, 2021–2036</a:t>
                      </a:r>
                      <a:endParaRPr sz="1050"/>
                    </a:p>
                  </a:txBody>
                  <a:tcPr marL="9525" marR="9525" marT="9525" marB="0" anchor="ctr"/>
                </a:tc>
                <a:extLst>
                  <a:ext uri="{0D108BD9-81ED-4DB2-BD59-A6C34878D82A}">
                    <a16:rowId xmlns:a16="http://schemas.microsoft.com/office/drawing/2014/main" val="10002"/>
                  </a:ext>
                </a:extLst>
              </a:tr>
              <a:tr h="169826">
                <a:tc>
                  <a:txBody>
                    <a:bodyPr/>
                    <a:lstStyle/>
                    <a:p>
                      <a:pPr algn="l"/>
                      <a:r>
                        <a:rPr sz="1050" b="0" i="0">
                          <a:solidFill>
                            <a:srgbClr val="000000"/>
                          </a:solidFill>
                          <a:latin typeface="Calibri"/>
                        </a:rPr>
                        <a:t>Table 89: USA Market Value of Choline (Product Type), US$ Mn, 2021–2036</a:t>
                      </a:r>
                      <a:endParaRPr sz="1050"/>
                    </a:p>
                  </a:txBody>
                  <a:tcPr marL="9525" marR="9525" marT="9525" marB="0" anchor="ctr"/>
                </a:tc>
                <a:extLst>
                  <a:ext uri="{0D108BD9-81ED-4DB2-BD59-A6C34878D82A}">
                    <a16:rowId xmlns:a16="http://schemas.microsoft.com/office/drawing/2014/main" val="10003"/>
                  </a:ext>
                </a:extLst>
              </a:tr>
              <a:tr h="169826">
                <a:tc>
                  <a:txBody>
                    <a:bodyPr/>
                    <a:lstStyle/>
                    <a:p>
                      <a:pPr algn="l"/>
                      <a:r>
                        <a:rPr sz="1050" b="0" i="0">
                          <a:solidFill>
                            <a:srgbClr val="000000"/>
                          </a:solidFill>
                          <a:latin typeface="Calibri"/>
                        </a:rPr>
                        <a:t>Table 90: USA Market Value of Calcium &amp; Mineral (Product Type), US$ Mn, 2021–2036</a:t>
                      </a:r>
                      <a:endParaRPr sz="1050"/>
                    </a:p>
                  </a:txBody>
                  <a:tcPr marL="9525" marR="9525" marT="9525" marB="0" anchor="ctr"/>
                </a:tc>
                <a:extLst>
                  <a:ext uri="{0D108BD9-81ED-4DB2-BD59-A6C34878D82A}">
                    <a16:rowId xmlns:a16="http://schemas.microsoft.com/office/drawing/2014/main" val="10004"/>
                  </a:ext>
                </a:extLst>
              </a:tr>
              <a:tr h="169826">
                <a:tc>
                  <a:txBody>
                    <a:bodyPr/>
                    <a:lstStyle/>
                    <a:p>
                      <a:pPr algn="l"/>
                      <a:r>
                        <a:rPr sz="1050" b="0" i="0">
                          <a:solidFill>
                            <a:srgbClr val="000000"/>
                          </a:solidFill>
                          <a:latin typeface="Calibri"/>
                        </a:rPr>
                        <a:t>Table 91: USA Market Value of Probiotic (Product Type), US$ Mn, 2021–2036</a:t>
                      </a:r>
                      <a:endParaRPr sz="1050"/>
                    </a:p>
                  </a:txBody>
                  <a:tcPr marL="9525" marR="9525" marT="9525" marB="0" anchor="ctr"/>
                </a:tc>
                <a:extLst>
                  <a:ext uri="{0D108BD9-81ED-4DB2-BD59-A6C34878D82A}">
                    <a16:rowId xmlns:a16="http://schemas.microsoft.com/office/drawing/2014/main" val="10005"/>
                  </a:ext>
                </a:extLst>
              </a:tr>
              <a:tr h="169826">
                <a:tc>
                  <a:txBody>
                    <a:bodyPr/>
                    <a:lstStyle/>
                    <a:p>
                      <a:pPr algn="l"/>
                      <a:r>
                        <a:rPr sz="1050" b="0" i="0">
                          <a:solidFill>
                            <a:srgbClr val="000000"/>
                          </a:solidFill>
                          <a:latin typeface="Calibri"/>
                        </a:rPr>
                        <a:t>Table 92: USA Market Customer and Channel Mix by Product Type, %, 2036</a:t>
                      </a:r>
                      <a:endParaRPr sz="1050"/>
                    </a:p>
                  </a:txBody>
                  <a:tcPr marL="9525" marR="9525" marT="9525" marB="0" anchor="ctr"/>
                </a:tc>
                <a:extLst>
                  <a:ext uri="{0D108BD9-81ED-4DB2-BD59-A6C34878D82A}">
                    <a16:rowId xmlns:a16="http://schemas.microsoft.com/office/drawing/2014/main" val="10006"/>
                  </a:ext>
                </a:extLst>
              </a:tr>
              <a:tr h="332858">
                <a:tc>
                  <a:txBody>
                    <a:bodyPr/>
                    <a:lstStyle/>
                    <a:p>
                      <a:pPr algn="l"/>
                      <a:r>
                        <a:rPr sz="1050" b="0" i="0">
                          <a:solidFill>
                            <a:srgbClr val="000000"/>
                          </a:solidFill>
                          <a:latin typeface="Calibri"/>
                        </a:rPr>
                        <a:t>Table 93: USA Market Value of Direct-to-Consumer / Brand Website (Sales Channel), US$ Mn, 2021–2036</a:t>
                      </a:r>
                      <a:endParaRPr sz="1050"/>
                    </a:p>
                  </a:txBody>
                  <a:tcPr marL="9525" marR="9525" marT="9525" marB="0" anchor="ctr"/>
                </a:tc>
                <a:extLst>
                  <a:ext uri="{0D108BD9-81ED-4DB2-BD59-A6C34878D82A}">
                    <a16:rowId xmlns:a16="http://schemas.microsoft.com/office/drawing/2014/main" val="10007"/>
                  </a:ext>
                </a:extLst>
              </a:tr>
              <a:tr h="169826">
                <a:tc>
                  <a:txBody>
                    <a:bodyPr/>
                    <a:lstStyle/>
                    <a:p>
                      <a:pPr algn="l"/>
                      <a:r>
                        <a:rPr sz="1050" b="0" i="0">
                          <a:solidFill>
                            <a:srgbClr val="000000"/>
                          </a:solidFill>
                          <a:latin typeface="Calibri"/>
                        </a:rPr>
                        <a:t>Table 94: USA Market Value of Amazon / Online Marketplaces (Sales Channel), US$ Mn, 2021–2036</a:t>
                      </a:r>
                      <a:endParaRPr sz="1050"/>
                    </a:p>
                  </a:txBody>
                  <a:tcPr marL="9525" marR="9525" marT="9525" marB="0" anchor="ctr"/>
                </a:tc>
                <a:extLst>
                  <a:ext uri="{0D108BD9-81ED-4DB2-BD59-A6C34878D82A}">
                    <a16:rowId xmlns:a16="http://schemas.microsoft.com/office/drawing/2014/main" val="10008"/>
                  </a:ext>
                </a:extLst>
              </a:tr>
              <a:tr h="169826">
                <a:tc>
                  <a:txBody>
                    <a:bodyPr/>
                    <a:lstStyle/>
                    <a:p>
                      <a:pPr algn="l"/>
                      <a:r>
                        <a:rPr sz="1050" b="0" i="0">
                          <a:solidFill>
                            <a:srgbClr val="000000"/>
                          </a:solidFill>
                          <a:latin typeface="Calibri"/>
                        </a:rPr>
                        <a:t>Table 95: USA Market Value of Mass Retail (Sales Channel), US$ Mn, 2021–2036</a:t>
                      </a:r>
                      <a:endParaRPr sz="1050"/>
                    </a:p>
                  </a:txBody>
                  <a:tcPr marL="9525" marR="9525" marT="9525" marB="0" anchor="ctr"/>
                </a:tc>
                <a:extLst>
                  <a:ext uri="{0D108BD9-81ED-4DB2-BD59-A6C34878D82A}">
                    <a16:rowId xmlns:a16="http://schemas.microsoft.com/office/drawing/2014/main" val="10009"/>
                  </a:ext>
                </a:extLst>
              </a:tr>
              <a:tr h="169826">
                <a:tc>
                  <a:txBody>
                    <a:bodyPr/>
                    <a:lstStyle/>
                    <a:p>
                      <a:pPr algn="l"/>
                      <a:r>
                        <a:rPr sz="1050" b="0" i="0">
                          <a:solidFill>
                            <a:srgbClr val="000000"/>
                          </a:solidFill>
                          <a:latin typeface="Calibri"/>
                        </a:rPr>
                        <a:t>Table 96: USA Market Value of Pharmacy / Drugstores (Sales Channel), US$ Mn, 2021–2036</a:t>
                      </a:r>
                      <a:endParaRPr sz="1050"/>
                    </a:p>
                  </a:txBody>
                  <a:tcPr marL="9525" marR="9525" marT="9525" marB="0" anchor="ctr"/>
                </a:tc>
                <a:extLst>
                  <a:ext uri="{0D108BD9-81ED-4DB2-BD59-A6C34878D82A}">
                    <a16:rowId xmlns:a16="http://schemas.microsoft.com/office/drawing/2014/main" val="10010"/>
                  </a:ext>
                </a:extLst>
              </a:tr>
              <a:tr h="169826">
                <a:tc>
                  <a:txBody>
                    <a:bodyPr/>
                    <a:lstStyle/>
                    <a:p>
                      <a:pPr algn="l"/>
                      <a:r>
                        <a:rPr sz="1050" b="0" i="0">
                          <a:solidFill>
                            <a:srgbClr val="000000"/>
                          </a:solidFill>
                          <a:latin typeface="Calibri"/>
                        </a:rPr>
                        <a:t>Table 97: USA Market Value of Specialty Health &amp; Wellness Retail (Sales Channel), US$ Mn, 2021–2036</a:t>
                      </a:r>
                      <a:endParaRPr sz="1050"/>
                    </a:p>
                  </a:txBody>
                  <a:tcPr marL="9525" marR="9525" marT="9525" marB="0" anchor="ctr"/>
                </a:tc>
                <a:extLst>
                  <a:ext uri="{0D108BD9-81ED-4DB2-BD59-A6C34878D82A}">
                    <a16:rowId xmlns:a16="http://schemas.microsoft.com/office/drawing/2014/main" val="10011"/>
                  </a:ext>
                </a:extLst>
              </a:tr>
              <a:tr h="169826">
                <a:tc>
                  <a:txBody>
                    <a:bodyPr/>
                    <a:lstStyle/>
                    <a:p>
                      <a:pPr algn="l"/>
                      <a:r>
                        <a:rPr sz="1050" b="0" i="0">
                          <a:solidFill>
                            <a:srgbClr val="000000"/>
                          </a:solidFill>
                          <a:latin typeface="Calibri"/>
                        </a:rPr>
                        <a:t>Table 98: USA Market Value of Practitioner / Clinic Channel (Sales Channel), US$ Mn, 2021–2036</a:t>
                      </a:r>
                      <a:endParaRPr sz="1050"/>
                    </a:p>
                  </a:txBody>
                  <a:tcPr marL="9525" marR="9525" marT="9525" marB="0" anchor="ctr"/>
                </a:tc>
                <a:extLst>
                  <a:ext uri="{0D108BD9-81ED-4DB2-BD59-A6C34878D82A}">
                    <a16:rowId xmlns:a16="http://schemas.microsoft.com/office/drawing/2014/main" val="10012"/>
                  </a:ext>
                </a:extLst>
              </a:tr>
              <a:tr h="169826">
                <a:tc>
                  <a:txBody>
                    <a:bodyPr/>
                    <a:lstStyle/>
                    <a:p>
                      <a:pPr algn="l"/>
                      <a:r>
                        <a:rPr sz="1050" b="0" i="0">
                          <a:solidFill>
                            <a:srgbClr val="000000"/>
                          </a:solidFill>
                          <a:latin typeface="Calibri"/>
                        </a:rPr>
                        <a:t>Table 99: USA Market Customer and Channel Mix by Sales Channel, %, 2036</a:t>
                      </a:r>
                      <a:endParaRPr sz="1050"/>
                    </a:p>
                  </a:txBody>
                  <a:tcPr marL="9525" marR="9525" marT="9525" marB="0" anchor="ctr"/>
                </a:tc>
                <a:extLst>
                  <a:ext uri="{0D108BD9-81ED-4DB2-BD59-A6C34878D82A}">
                    <a16:rowId xmlns:a16="http://schemas.microsoft.com/office/drawing/2014/main" val="10013"/>
                  </a:ext>
                </a:extLst>
              </a:tr>
              <a:tr h="169826">
                <a:tc>
                  <a:txBody>
                    <a:bodyPr/>
                    <a:lstStyle/>
                    <a:p>
                      <a:pPr algn="l"/>
                      <a:r>
                        <a:rPr sz="1050" b="0" i="0">
                          <a:solidFill>
                            <a:srgbClr val="000000"/>
                          </a:solidFill>
                          <a:latin typeface="Calibri"/>
                        </a:rPr>
                        <a:t>Table 100: Market Product Price Comparison by Company and Product Format, US$/Units, 2026</a:t>
                      </a:r>
                      <a:endParaRPr sz="1050"/>
                    </a:p>
                  </a:txBody>
                  <a:tcPr marL="9525" marR="9525" marT="9525" marB="0" anchor="ctr"/>
                </a:tc>
                <a:extLst>
                  <a:ext uri="{0D108BD9-81ED-4DB2-BD59-A6C34878D82A}">
                    <a16:rowId xmlns:a16="http://schemas.microsoft.com/office/drawing/2014/main" val="10014"/>
                  </a:ext>
                </a:extLst>
              </a:tr>
              <a:tr h="169826">
                <a:tc>
                  <a:txBody>
                    <a:bodyPr/>
                    <a:lstStyle/>
                    <a:p>
                      <a:pPr algn="l"/>
                      <a:r>
                        <a:rPr sz="1050" b="0" i="0">
                          <a:solidFill>
                            <a:srgbClr val="000000"/>
                          </a:solidFill>
                          <a:latin typeface="Calibri"/>
                        </a:rPr>
                        <a:t>Table 101: USA Market Average Selling Price, US$/Units, 2021–2036</a:t>
                      </a:r>
                      <a:endParaRPr sz="1050"/>
                    </a:p>
                  </a:txBody>
                  <a:tcPr marL="9525" marR="9525" marT="9525" marB="0" anchor="ctr"/>
                </a:tc>
                <a:extLst>
                  <a:ext uri="{0D108BD9-81ED-4DB2-BD59-A6C34878D82A}">
                    <a16:rowId xmlns:a16="http://schemas.microsoft.com/office/drawing/2014/main" val="10015"/>
                  </a:ext>
                </a:extLst>
              </a:tr>
              <a:tr h="169826">
                <a:tc>
                  <a:txBody>
                    <a:bodyPr/>
                    <a:lstStyle/>
                    <a:p>
                      <a:pPr algn="l"/>
                      <a:r>
                        <a:rPr sz="1050" b="0" i="0">
                          <a:solidFill>
                            <a:srgbClr val="000000"/>
                          </a:solidFill>
                          <a:latin typeface="Calibri"/>
                        </a:rPr>
                        <a:t>Table 102: USA Market Average Selling Price by Product Format, US$/Units, 2021–2036</a:t>
                      </a:r>
                      <a:endParaRPr sz="1050"/>
                    </a:p>
                  </a:txBody>
                  <a:tcPr marL="9525" marR="9525" marT="9525" marB="0" anchor="ctr"/>
                </a:tc>
                <a:extLst>
                  <a:ext uri="{0D108BD9-81ED-4DB2-BD59-A6C34878D82A}">
                    <a16:rowId xmlns:a16="http://schemas.microsoft.com/office/drawing/2014/main" val="10016"/>
                  </a:ext>
                </a:extLst>
              </a:tr>
              <a:tr h="169826">
                <a:tc>
                  <a:txBody>
                    <a:bodyPr/>
                    <a:lstStyle/>
                    <a:p>
                      <a:pPr algn="l"/>
                      <a:r>
                        <a:rPr sz="1050" b="0" i="0">
                          <a:solidFill>
                            <a:srgbClr val="000000"/>
                          </a:solidFill>
                          <a:latin typeface="Calibri"/>
                        </a:rPr>
                        <a:t>Table 103: USA Market Average Selling Price by Product Type, US$/Units, 2021–2036</a:t>
                      </a:r>
                      <a:endParaRPr sz="1050"/>
                    </a:p>
                  </a:txBody>
                  <a:tcPr marL="9525" marR="9525" marT="9525" marB="0" anchor="ctr"/>
                </a:tc>
                <a:extLst>
                  <a:ext uri="{0D108BD9-81ED-4DB2-BD59-A6C34878D82A}">
                    <a16:rowId xmlns:a16="http://schemas.microsoft.com/office/drawing/2014/main" val="10017"/>
                  </a:ext>
                </a:extLst>
              </a:tr>
              <a:tr h="169826">
                <a:tc>
                  <a:txBody>
                    <a:bodyPr/>
                    <a:lstStyle/>
                    <a:p>
                      <a:pPr algn="l"/>
                      <a:r>
                        <a:rPr sz="1050" b="0" i="0">
                          <a:solidFill>
                            <a:srgbClr val="000000"/>
                          </a:solidFill>
                          <a:latin typeface="Calibri"/>
                        </a:rPr>
                        <a:t>Table 104: USA Market Average Selling Price by Sales Channel, US$/Units, 2021–2036</a:t>
                      </a:r>
                      <a:endParaRPr sz="1050"/>
                    </a:p>
                  </a:txBody>
                  <a:tcPr marL="9525" marR="9525" marT="9525" marB="0" anchor="ctr"/>
                </a:tc>
                <a:extLst>
                  <a:ext uri="{0D108BD9-81ED-4DB2-BD59-A6C34878D82A}">
                    <a16:rowId xmlns:a16="http://schemas.microsoft.com/office/drawing/2014/main" val="10018"/>
                  </a:ext>
                </a:extLst>
              </a:tr>
              <a:tr h="169826">
                <a:tc>
                  <a:txBody>
                    <a:bodyPr/>
                    <a:lstStyle/>
                    <a:p>
                      <a:pPr algn="l"/>
                      <a:r>
                        <a:rPr sz="1050" b="0" i="0">
                          <a:solidFill>
                            <a:srgbClr val="000000"/>
                          </a:solidFill>
                          <a:latin typeface="Calibri"/>
                        </a:rPr>
                        <a:t>Table 105: Supplier-to-Customer Relationship Mapping in USA, 2026</a:t>
                      </a:r>
                      <a:endParaRPr sz="1050"/>
                    </a:p>
                  </a:txBody>
                  <a:tcPr marL="9525" marR="9525" marT="9525" marB="0" anchor="ctr"/>
                </a:tc>
                <a:extLst>
                  <a:ext uri="{0D108BD9-81ED-4DB2-BD59-A6C34878D82A}">
                    <a16:rowId xmlns:a16="http://schemas.microsoft.com/office/drawing/2014/main" val="10019"/>
                  </a:ext>
                </a:extLst>
              </a:tr>
              <a:tr h="169826">
                <a:tc>
                  <a:txBody>
                    <a:bodyPr/>
                    <a:lstStyle/>
                    <a:p>
                      <a:pPr algn="l"/>
                      <a:r>
                        <a:rPr sz="1050" b="0" i="0">
                          <a:solidFill>
                            <a:srgbClr val="000000"/>
                          </a:solidFill>
                          <a:latin typeface="Calibri"/>
                        </a:rPr>
                        <a:t>Table 106: USA Market Value Chain Participants by Stage, 2026</a:t>
                      </a:r>
                      <a:endParaRPr sz="1050"/>
                    </a:p>
                  </a:txBody>
                  <a:tcPr marL="9525" marR="9525" marT="9525" marB="0" anchor="ctr"/>
                </a:tc>
                <a:extLst>
                  <a:ext uri="{0D108BD9-81ED-4DB2-BD59-A6C34878D82A}">
                    <a16:rowId xmlns:a16="http://schemas.microsoft.com/office/drawing/2014/main" val="10020"/>
                  </a:ext>
                </a:extLst>
              </a:tr>
              <a:tr h="169826">
                <a:tc>
                  <a:txBody>
                    <a:bodyPr/>
                    <a:lstStyle/>
                    <a:p>
                      <a:pPr algn="l"/>
                      <a:r>
                        <a:rPr sz="1050" b="0" i="0">
                          <a:solidFill>
                            <a:srgbClr val="000000"/>
                          </a:solidFill>
                          <a:latin typeface="Calibri"/>
                        </a:rPr>
                        <a:t>Table 107: USA Market Margin Analysis by Value Chain Stage, %, 2026</a:t>
                      </a:r>
                      <a:endParaRPr sz="1050"/>
                    </a:p>
                  </a:txBody>
                  <a:tcPr marL="9525" marR="9525" marT="9525" marB="0" anchor="ctr"/>
                </a:tc>
                <a:extLst>
                  <a:ext uri="{0D108BD9-81ED-4DB2-BD59-A6C34878D82A}">
                    <a16:rowId xmlns:a16="http://schemas.microsoft.com/office/drawing/2014/main" val="10021"/>
                  </a:ext>
                </a:extLst>
              </a:tr>
              <a:tr h="169826">
                <a:tc>
                  <a:txBody>
                    <a:bodyPr/>
                    <a:lstStyle/>
                    <a:p>
                      <a:pPr algn="l"/>
                      <a:r>
                        <a:rPr sz="1050" b="0" i="0">
                          <a:solidFill>
                            <a:srgbClr val="000000"/>
                          </a:solidFill>
                          <a:latin typeface="Calibri"/>
                        </a:rPr>
                        <a:t>Table 108: USA Market Cost Structure by Component, %, 2026</a:t>
                      </a:r>
                      <a:endParaRPr sz="1050"/>
                    </a:p>
                  </a:txBody>
                  <a:tcPr marL="9525" marR="9525" marT="9525" marB="0" anchor="ctr"/>
                </a:tc>
                <a:extLst>
                  <a:ext uri="{0D108BD9-81ED-4DB2-BD59-A6C34878D82A}">
                    <a16:rowId xmlns:a16="http://schemas.microsoft.com/office/drawing/2014/main" val="10022"/>
                  </a:ext>
                </a:extLst>
              </a:tr>
              <a:tr h="169826">
                <a:tc>
                  <a:txBody>
                    <a:bodyPr/>
                    <a:lstStyle/>
                    <a:p>
                      <a:pPr algn="l"/>
                      <a:r>
                        <a:rPr sz="1050" b="0" i="0">
                          <a:solidFill>
                            <a:srgbClr val="000000"/>
                          </a:solidFill>
                          <a:latin typeface="Calibri"/>
                        </a:rPr>
                        <a:t>Table 109: USA Market Import Value by Leading Country, US$ Mn, 2021–2025</a:t>
                      </a:r>
                      <a:endParaRPr sz="1050"/>
                    </a:p>
                  </a:txBody>
                  <a:tcPr marL="9525" marR="9525" marT="9525" marB="0" anchor="ctr"/>
                </a:tc>
                <a:extLst>
                  <a:ext uri="{0D108BD9-81ED-4DB2-BD59-A6C34878D82A}">
                    <a16:rowId xmlns:a16="http://schemas.microsoft.com/office/drawing/2014/main" val="10023"/>
                  </a:ext>
                </a:extLst>
              </a:tr>
              <a:tr h="169826">
                <a:tc>
                  <a:txBody>
                    <a:bodyPr/>
                    <a:lstStyle/>
                    <a:p>
                      <a:pPr algn="l"/>
                      <a:r>
                        <a:rPr sz="1050" b="0" i="0">
                          <a:solidFill>
                            <a:srgbClr val="000000"/>
                          </a:solidFill>
                          <a:latin typeface="Calibri"/>
                        </a:rPr>
                        <a:t>Table 110: USA Market Export Value by Leading Country, US$ Mn, 2021–2025</a:t>
                      </a:r>
                      <a:endParaRPr sz="1050"/>
                    </a:p>
                  </a:txBody>
                  <a:tcPr marL="9525" marR="9525" marT="9525" marB="0" anchor="ctr"/>
                </a:tc>
                <a:extLst>
                  <a:ext uri="{0D108BD9-81ED-4DB2-BD59-A6C34878D82A}">
                    <a16:rowId xmlns:a16="http://schemas.microsoft.com/office/drawing/2014/main" val="10024"/>
                  </a:ext>
                </a:extLst>
              </a:tr>
              <a:tr h="169826">
                <a:tc>
                  <a:txBody>
                    <a:bodyPr/>
                    <a:lstStyle/>
                    <a:p>
                      <a:pPr algn="l"/>
                      <a:r>
                        <a:rPr sz="1050" b="0" i="0">
                          <a:solidFill>
                            <a:srgbClr val="000000"/>
                          </a:solidFill>
                          <a:latin typeface="Calibri"/>
                        </a:rPr>
                        <a:t>Table 111: USA Market Trade Flow Summary, US$ Mn, 2025</a:t>
                      </a:r>
                      <a:endParaRPr sz="1050"/>
                    </a:p>
                  </a:txBody>
                  <a:tcPr marL="9525" marR="9525" marT="9525" marB="0" anchor="ctr"/>
                </a:tc>
                <a:extLst>
                  <a:ext uri="{0D108BD9-81ED-4DB2-BD59-A6C34878D82A}">
                    <a16:rowId xmlns:a16="http://schemas.microsoft.com/office/drawing/2014/main" val="10025"/>
                  </a:ext>
                </a:extLst>
              </a:tr>
              <a:tr h="169826">
                <a:tc>
                  <a:txBody>
                    <a:bodyPr/>
                    <a:lstStyle/>
                    <a:p>
                      <a:pPr algn="l"/>
                      <a:r>
                        <a:rPr sz="1050" b="0" i="0">
                          <a:solidFill>
                            <a:srgbClr val="000000"/>
                          </a:solidFill>
                          <a:latin typeface="Calibri"/>
                        </a:rPr>
                        <a:t>Table 112: USA Market Pricing Factors and Impact Rating, 2026–2036</a:t>
                      </a:r>
                      <a:endParaRPr sz="1050"/>
                    </a:p>
                  </a:txBody>
                  <a:tcPr marL="9525" marR="9525" marT="9525" marB="0" anchor="ctr"/>
                </a:tc>
                <a:extLst>
                  <a:ext uri="{0D108BD9-81ED-4DB2-BD59-A6C34878D82A}">
                    <a16:rowId xmlns:a16="http://schemas.microsoft.com/office/drawing/2014/main" val="10026"/>
                  </a:ext>
                </a:extLst>
              </a:tr>
              <a:tr h="169826">
                <a:tc>
                  <a:txBody>
                    <a:bodyPr/>
                    <a:lstStyle/>
                    <a:p>
                      <a:pPr algn="l"/>
                      <a:r>
                        <a:rPr sz="1050" b="0" i="0">
                          <a:solidFill>
                            <a:srgbClr val="000000"/>
                          </a:solidFill>
                          <a:latin typeface="Calibri"/>
                        </a:rPr>
                        <a:t>Table 113: USA Market Raw Material Price Trend, US$, 2021–2036</a:t>
                      </a:r>
                      <a:endParaRPr sz="1050"/>
                    </a:p>
                  </a:txBody>
                  <a:tcPr marL="9525" marR="9525" marT="9525" marB="0" anchor="ctr"/>
                </a:tc>
                <a:extLst>
                  <a:ext uri="{0D108BD9-81ED-4DB2-BD59-A6C34878D82A}">
                    <a16:rowId xmlns:a16="http://schemas.microsoft.com/office/drawing/2014/main" val="10027"/>
                  </a:ext>
                </a:extLst>
              </a:tr>
              <a:tr h="169826">
                <a:tc>
                  <a:txBody>
                    <a:bodyPr/>
                    <a:lstStyle/>
                    <a:p>
                      <a:pPr algn="l"/>
                      <a:r>
                        <a:rPr sz="1050" b="0" i="0">
                          <a:solidFill>
                            <a:srgbClr val="000000"/>
                          </a:solidFill>
                          <a:latin typeface="Calibri"/>
                        </a:rPr>
                        <a:t>Table 114: USA Market Distribution Channel Margin Structure, %, 2026</a:t>
                      </a:r>
                      <a:endParaRPr sz="1050"/>
                    </a:p>
                  </a:txBody>
                  <a:tcPr marL="9525" marR="9525" marT="9525" marB="0" anchor="ctr"/>
                </a:tc>
                <a:extLst>
                  <a:ext uri="{0D108BD9-81ED-4DB2-BD59-A6C34878D82A}">
                    <a16:rowId xmlns:a16="http://schemas.microsoft.com/office/drawing/2014/main" val="10028"/>
                  </a:ext>
                </a:extLst>
              </a:tr>
              <a:tr h="169826">
                <a:tc>
                  <a:txBody>
                    <a:bodyPr/>
                    <a:lstStyle/>
                    <a:p>
                      <a:pPr algn="l"/>
                      <a:r>
                        <a:rPr sz="1050" b="0" i="0">
                          <a:solidFill>
                            <a:srgbClr val="000000"/>
                          </a:solidFill>
                          <a:latin typeface="Calibri"/>
                        </a:rPr>
                        <a:t>Table 115: USA Market Regulatory and Tariff Overview by Country, 2026</a:t>
                      </a:r>
                      <a:endParaRPr sz="1050"/>
                    </a:p>
                  </a:txBody>
                  <a:tcPr marL="9525" marR="9525" marT="9525" marB="0" anchor="ctr"/>
                </a:tc>
                <a:extLst>
                  <a:ext uri="{0D108BD9-81ED-4DB2-BD59-A6C34878D82A}">
                    <a16:rowId xmlns:a16="http://schemas.microsoft.com/office/drawing/2014/main" val="10029"/>
                  </a:ext>
                </a:extLst>
              </a:tr>
            </a:tbl>
          </a:graphicData>
        </a:graphic>
      </p:graphicFrame>
      <p:sp>
        <p:nvSpPr>
          <p:cNvPr id="11" name="TextBox 1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tIns="0" rIns="28575" bIns="0" anchor="ctr">
            <a:spAutoFit/>
          </a:bodyPr>
          <a:lstStyle/>
          <a:p>
            <a:pPr algn="l">
              <a:lnSpc>
                <a:spcPct val="90000"/>
              </a:lnSpc>
            </a:pPr>
            <a:r>
              <a:rPr sz="2100" b="1">
                <a:solidFill>
                  <a:srgbClr val="000000"/>
                </a:solidFill>
                <a:latin typeface="Calibri"/>
              </a:rPr>
              <a:t>List of Tables (3/3)</a:t>
            </a:r>
          </a:p>
        </p:txBody>
      </p:sp>
      <p:graphicFrame>
        <p:nvGraphicFramePr>
          <p:cNvPr id="9" name="FMI Contents Table"/>
          <p:cNvGraphicFramePr>
            <a:graphicFrameLocks noGrp="1"/>
          </p:cNvGraphicFramePr>
          <p:nvPr/>
        </p:nvGraphicFramePr>
        <p:xfrm>
          <a:off x="142875" y="981075"/>
          <a:ext cx="5876925" cy="3993844"/>
        </p:xfrm>
        <a:graphic>
          <a:graphicData uri="http://schemas.openxmlformats.org/drawingml/2006/table">
            <a:tbl>
              <a:tblPr>
                <a:tableStyleId>{3B4B98B0-60AC-42C2-AFA5-B58CD77FA1E5}</a:tableStyleId>
              </a:tblPr>
              <a:tblGrid>
                <a:gridCol w="5876925">
                  <a:extLst>
                    <a:ext uri="{9D8B030D-6E8A-4147-A177-3AD203B41FA5}">
                      <a16:colId xmlns:a16="http://schemas.microsoft.com/office/drawing/2014/main" val="20000"/>
                    </a:ext>
                  </a:extLst>
                </a:gridCol>
              </a:tblGrid>
              <a:tr h="166688">
                <a:tc>
                  <a:txBody>
                    <a:bodyPr/>
                    <a:lstStyle/>
                    <a:p>
                      <a:pPr algn="l"/>
                      <a:r>
                        <a:rPr sz="1050" b="0" i="0">
                          <a:solidFill>
                            <a:srgbClr val="000000"/>
                          </a:solidFill>
                          <a:latin typeface="Calibri"/>
                        </a:rPr>
                        <a:t>Table 116: USA Market Price Forecast by Product Format, US$/Units, 2026–2036</a:t>
                      </a:r>
                      <a:endParaRPr sz="1050"/>
                    </a:p>
                  </a:txBody>
                  <a:tcPr marL="9525" marR="9525" marT="9525" marB="0" anchor="ctr"/>
                </a:tc>
                <a:extLst>
                  <a:ext uri="{0D108BD9-81ED-4DB2-BD59-A6C34878D82A}">
                    <a16:rowId xmlns:a16="http://schemas.microsoft.com/office/drawing/2014/main" val="10000"/>
                  </a:ext>
                </a:extLst>
              </a:tr>
              <a:tr h="166688">
                <a:tc>
                  <a:txBody>
                    <a:bodyPr/>
                    <a:lstStyle/>
                    <a:p>
                      <a:pPr algn="l"/>
                      <a:r>
                        <a:rPr sz="1050" b="0" i="0">
                          <a:solidFill>
                            <a:srgbClr val="000000"/>
                          </a:solidFill>
                          <a:latin typeface="Calibri"/>
                        </a:rPr>
                        <a:t>Table 117: USA Market Supply Chain Risk Matrix, 2026</a:t>
                      </a:r>
                      <a:endParaRPr sz="1050"/>
                    </a:p>
                  </a:txBody>
                  <a:tcPr marL="9525" marR="9525" marT="9525" marB="0" anchor="ctr"/>
                </a:tc>
                <a:extLst>
                  <a:ext uri="{0D108BD9-81ED-4DB2-BD59-A6C34878D82A}">
                    <a16:rowId xmlns:a16="http://schemas.microsoft.com/office/drawing/2014/main" val="10001"/>
                  </a:ext>
                </a:extLst>
              </a:tr>
              <a:tr h="326708">
                <a:tc>
                  <a:txBody>
                    <a:bodyPr/>
                    <a:lstStyle/>
                    <a:p>
                      <a:pPr algn="l"/>
                      <a:r>
                        <a:rPr sz="1050" b="0" i="0">
                          <a:solidFill>
                            <a:srgbClr val="000000"/>
                          </a:solidFill>
                          <a:latin typeface="Calibri"/>
                        </a:rPr>
                        <a:t>Table 118: Leading Prenatal Vitamin Supplements Manufacturers: Product Portfolio and Geographic Presence, 2026</a:t>
                      </a:r>
                      <a:endParaRPr sz="1050"/>
                    </a:p>
                  </a:txBody>
                  <a:tcPr marL="9525" marR="9525" marT="9525" marB="0" anchor="ctr"/>
                </a:tc>
                <a:extLst>
                  <a:ext uri="{0D108BD9-81ED-4DB2-BD59-A6C34878D82A}">
                    <a16:rowId xmlns:a16="http://schemas.microsoft.com/office/drawing/2014/main" val="10002"/>
                  </a:ext>
                </a:extLst>
              </a:tr>
              <a:tr h="166688">
                <a:tc>
                  <a:txBody>
                    <a:bodyPr/>
                    <a:lstStyle/>
                    <a:p>
                      <a:pPr algn="l"/>
                      <a:r>
                        <a:rPr sz="1050" b="0" i="0">
                          <a:solidFill>
                            <a:srgbClr val="000000"/>
                          </a:solidFill>
                          <a:latin typeface="Calibri"/>
                        </a:rPr>
                        <a:t>Table 119: Company Revenue from the USA Market, US$ Mn, 2025–2026</a:t>
                      </a:r>
                      <a:endParaRPr sz="1050"/>
                    </a:p>
                  </a:txBody>
                  <a:tcPr marL="9525" marR="9525" marT="9525" marB="0" anchor="ctr"/>
                </a:tc>
                <a:extLst>
                  <a:ext uri="{0D108BD9-81ED-4DB2-BD59-A6C34878D82A}">
                    <a16:rowId xmlns:a16="http://schemas.microsoft.com/office/drawing/2014/main" val="10003"/>
                  </a:ext>
                </a:extLst>
              </a:tr>
              <a:tr h="166688">
                <a:tc>
                  <a:txBody>
                    <a:bodyPr/>
                    <a:lstStyle/>
                    <a:p>
                      <a:pPr algn="l"/>
                      <a:r>
                        <a:rPr sz="1050" b="0" i="0">
                          <a:solidFill>
                            <a:srgbClr val="000000"/>
                          </a:solidFill>
                          <a:latin typeface="Calibri"/>
                        </a:rPr>
                        <a:t>Table 120: Company Market Share in the USA Market by Region, %, 2026</a:t>
                      </a:r>
                      <a:endParaRPr sz="1050"/>
                    </a:p>
                  </a:txBody>
                  <a:tcPr marL="9525" marR="9525" marT="9525" marB="0" anchor="ctr"/>
                </a:tc>
                <a:extLst>
                  <a:ext uri="{0D108BD9-81ED-4DB2-BD59-A6C34878D82A}">
                    <a16:rowId xmlns:a16="http://schemas.microsoft.com/office/drawing/2014/main" val="10004"/>
                  </a:ext>
                </a:extLst>
              </a:tr>
              <a:tr h="166688">
                <a:tc>
                  <a:txBody>
                    <a:bodyPr/>
                    <a:lstStyle/>
                    <a:p>
                      <a:pPr algn="l"/>
                      <a:r>
                        <a:rPr sz="1050" b="0" i="0">
                          <a:solidFill>
                            <a:srgbClr val="000000"/>
                          </a:solidFill>
                          <a:latin typeface="Calibri"/>
                        </a:rPr>
                        <a:t>Table 121: USA Market Competitive Benchmarking Matrix, 2026</a:t>
                      </a:r>
                      <a:endParaRPr sz="1050"/>
                    </a:p>
                  </a:txBody>
                  <a:tcPr marL="9525" marR="9525" marT="9525" marB="0" anchor="ctr"/>
                </a:tc>
                <a:extLst>
                  <a:ext uri="{0D108BD9-81ED-4DB2-BD59-A6C34878D82A}">
                    <a16:rowId xmlns:a16="http://schemas.microsoft.com/office/drawing/2014/main" val="10005"/>
                  </a:ext>
                </a:extLst>
              </a:tr>
              <a:tr h="166688">
                <a:tc>
                  <a:txBody>
                    <a:bodyPr/>
                    <a:lstStyle/>
                    <a:p>
                      <a:pPr algn="l"/>
                      <a:r>
                        <a:rPr sz="1050" b="0" i="0">
                          <a:solidFill>
                            <a:srgbClr val="000000"/>
                          </a:solidFill>
                          <a:latin typeface="Calibri"/>
                        </a:rPr>
                        <a:t>Table 122: USA Market Mergers, Acquisitions and Partnerships, 2021–2026</a:t>
                      </a:r>
                      <a:endParaRPr sz="1050"/>
                    </a:p>
                  </a:txBody>
                  <a:tcPr marL="9525" marR="9525" marT="9525" marB="0" anchor="ctr"/>
                </a:tc>
                <a:extLst>
                  <a:ext uri="{0D108BD9-81ED-4DB2-BD59-A6C34878D82A}">
                    <a16:rowId xmlns:a16="http://schemas.microsoft.com/office/drawing/2014/main" val="10006"/>
                  </a:ext>
                </a:extLst>
              </a:tr>
              <a:tr h="166688">
                <a:tc>
                  <a:txBody>
                    <a:bodyPr/>
                    <a:lstStyle/>
                    <a:p>
                      <a:pPr algn="l"/>
                      <a:r>
                        <a:rPr sz="1050" b="0" i="0">
                          <a:solidFill>
                            <a:srgbClr val="000000"/>
                          </a:solidFill>
                          <a:latin typeface="Calibri"/>
                        </a:rPr>
                        <a:t>Table 123: Company A: Company Overview, Products and Strategy, 2026</a:t>
                      </a:r>
                      <a:endParaRPr sz="1050"/>
                    </a:p>
                  </a:txBody>
                  <a:tcPr marL="9525" marR="9525" marT="9525" marB="0" anchor="ctr"/>
                </a:tc>
                <a:extLst>
                  <a:ext uri="{0D108BD9-81ED-4DB2-BD59-A6C34878D82A}">
                    <a16:rowId xmlns:a16="http://schemas.microsoft.com/office/drawing/2014/main" val="10007"/>
                  </a:ext>
                </a:extLst>
              </a:tr>
              <a:tr h="166688">
                <a:tc>
                  <a:txBody>
                    <a:bodyPr/>
                    <a:lstStyle/>
                    <a:p>
                      <a:pPr algn="l"/>
                      <a:r>
                        <a:rPr sz="1050" b="0" i="0">
                          <a:solidFill>
                            <a:srgbClr val="000000"/>
                          </a:solidFill>
                          <a:latin typeface="Calibri"/>
                        </a:rPr>
                        <a:t>Table 124: Company B: Company Overview, Products and Strategy, 2026</a:t>
                      </a:r>
                      <a:endParaRPr sz="1050"/>
                    </a:p>
                  </a:txBody>
                  <a:tcPr marL="9525" marR="9525" marT="9525" marB="0" anchor="ctr"/>
                </a:tc>
                <a:extLst>
                  <a:ext uri="{0D108BD9-81ED-4DB2-BD59-A6C34878D82A}">
                    <a16:rowId xmlns:a16="http://schemas.microsoft.com/office/drawing/2014/main" val="10008"/>
                  </a:ext>
                </a:extLst>
              </a:tr>
              <a:tr h="166688">
                <a:tc>
                  <a:txBody>
                    <a:bodyPr/>
                    <a:lstStyle/>
                    <a:p>
                      <a:pPr algn="l"/>
                      <a:r>
                        <a:rPr sz="1050" b="0" i="0">
                          <a:solidFill>
                            <a:srgbClr val="000000"/>
                          </a:solidFill>
                          <a:latin typeface="Calibri"/>
                        </a:rPr>
                        <a:t>Table 125: Company C: Company Overview, Products and Strategy, 2026</a:t>
                      </a:r>
                      <a:endParaRPr sz="1050"/>
                    </a:p>
                  </a:txBody>
                  <a:tcPr marL="9525" marR="9525" marT="9525" marB="0" anchor="ctr"/>
                </a:tc>
                <a:extLst>
                  <a:ext uri="{0D108BD9-81ED-4DB2-BD59-A6C34878D82A}">
                    <a16:rowId xmlns:a16="http://schemas.microsoft.com/office/drawing/2014/main" val="10009"/>
                  </a:ext>
                </a:extLst>
              </a:tr>
              <a:tr h="166688">
                <a:tc>
                  <a:txBody>
                    <a:bodyPr/>
                    <a:lstStyle/>
                    <a:p>
                      <a:pPr algn="l"/>
                      <a:r>
                        <a:rPr sz="1050" b="0" i="0">
                          <a:solidFill>
                            <a:srgbClr val="000000"/>
                          </a:solidFill>
                          <a:latin typeface="Calibri"/>
                        </a:rPr>
                        <a:t>Table 126: Company D: Company Overview, Products and Strategy, 2026</a:t>
                      </a:r>
                      <a:endParaRPr sz="1050"/>
                    </a:p>
                  </a:txBody>
                  <a:tcPr marL="9525" marR="9525" marT="9525" marB="0" anchor="ctr"/>
                </a:tc>
                <a:extLst>
                  <a:ext uri="{0D108BD9-81ED-4DB2-BD59-A6C34878D82A}">
                    <a16:rowId xmlns:a16="http://schemas.microsoft.com/office/drawing/2014/main" val="10010"/>
                  </a:ext>
                </a:extLst>
              </a:tr>
              <a:tr h="166688">
                <a:tc>
                  <a:txBody>
                    <a:bodyPr/>
                    <a:lstStyle/>
                    <a:p>
                      <a:pPr algn="l"/>
                      <a:r>
                        <a:rPr sz="1050" b="0" i="0">
                          <a:solidFill>
                            <a:srgbClr val="000000"/>
                          </a:solidFill>
                          <a:latin typeface="Calibri"/>
                        </a:rPr>
                        <a:t>Table 127: Company E: Company Overview, Products and Strategy, 2026</a:t>
                      </a:r>
                      <a:endParaRPr sz="1050"/>
                    </a:p>
                  </a:txBody>
                  <a:tcPr marL="9525" marR="9525" marT="9525" marB="0" anchor="ctr"/>
                </a:tc>
                <a:extLst>
                  <a:ext uri="{0D108BD9-81ED-4DB2-BD59-A6C34878D82A}">
                    <a16:rowId xmlns:a16="http://schemas.microsoft.com/office/drawing/2014/main" val="10011"/>
                  </a:ext>
                </a:extLst>
              </a:tr>
              <a:tr h="166688">
                <a:tc>
                  <a:txBody>
                    <a:bodyPr/>
                    <a:lstStyle/>
                    <a:p>
                      <a:pPr algn="l"/>
                      <a:r>
                        <a:rPr sz="1050" b="0" i="0">
                          <a:solidFill>
                            <a:srgbClr val="000000"/>
                          </a:solidFill>
                          <a:latin typeface="Calibri"/>
                        </a:rPr>
                        <a:t>Table 128: Company F: Company Overview, Products and Strategy, 2026</a:t>
                      </a:r>
                      <a:endParaRPr sz="1050"/>
                    </a:p>
                  </a:txBody>
                  <a:tcPr marL="9525" marR="9525" marT="9525" marB="0" anchor="ctr"/>
                </a:tc>
                <a:extLst>
                  <a:ext uri="{0D108BD9-81ED-4DB2-BD59-A6C34878D82A}">
                    <a16:rowId xmlns:a16="http://schemas.microsoft.com/office/drawing/2014/main" val="10012"/>
                  </a:ext>
                </a:extLst>
              </a:tr>
              <a:tr h="166688">
                <a:tc>
                  <a:txBody>
                    <a:bodyPr/>
                    <a:lstStyle/>
                    <a:p>
                      <a:pPr algn="l"/>
                      <a:r>
                        <a:rPr sz="1050" b="0" i="0">
                          <a:solidFill>
                            <a:srgbClr val="000000"/>
                          </a:solidFill>
                          <a:latin typeface="Calibri"/>
                        </a:rPr>
                        <a:t>Table 129: Company G: Company Overview, Products and Strategy, 2026</a:t>
                      </a:r>
                      <a:endParaRPr sz="1050"/>
                    </a:p>
                  </a:txBody>
                  <a:tcPr marL="9525" marR="9525" marT="9525" marB="0" anchor="ctr"/>
                </a:tc>
                <a:extLst>
                  <a:ext uri="{0D108BD9-81ED-4DB2-BD59-A6C34878D82A}">
                    <a16:rowId xmlns:a16="http://schemas.microsoft.com/office/drawing/2014/main" val="10013"/>
                  </a:ext>
                </a:extLst>
              </a:tr>
              <a:tr h="166688">
                <a:tc>
                  <a:txBody>
                    <a:bodyPr/>
                    <a:lstStyle/>
                    <a:p>
                      <a:pPr algn="l"/>
                      <a:r>
                        <a:rPr sz="1050" b="0" i="0">
                          <a:solidFill>
                            <a:srgbClr val="000000"/>
                          </a:solidFill>
                          <a:latin typeface="Calibri"/>
                        </a:rPr>
                        <a:t>Table 130: Company H: Company Overview, Products and Strategy, 2026</a:t>
                      </a:r>
                      <a:endParaRPr sz="1050"/>
                    </a:p>
                  </a:txBody>
                  <a:tcPr marL="9525" marR="9525" marT="9525" marB="0" anchor="ctr"/>
                </a:tc>
                <a:extLst>
                  <a:ext uri="{0D108BD9-81ED-4DB2-BD59-A6C34878D82A}">
                    <a16:rowId xmlns:a16="http://schemas.microsoft.com/office/drawing/2014/main" val="10014"/>
                  </a:ext>
                </a:extLst>
              </a:tr>
              <a:tr h="166688">
                <a:tc>
                  <a:txBody>
                    <a:bodyPr/>
                    <a:lstStyle/>
                    <a:p>
                      <a:pPr algn="l"/>
                      <a:r>
                        <a:rPr sz="1050" b="0" i="0">
                          <a:solidFill>
                            <a:srgbClr val="000000"/>
                          </a:solidFill>
                          <a:latin typeface="Calibri"/>
                        </a:rPr>
                        <a:t>Table 131: USA Market Value by Scenario, US$ Mn, 2026–2036</a:t>
                      </a:r>
                      <a:endParaRPr sz="1050"/>
                    </a:p>
                  </a:txBody>
                  <a:tcPr marL="9525" marR="9525" marT="9525" marB="0" anchor="ctr"/>
                </a:tc>
                <a:extLst>
                  <a:ext uri="{0D108BD9-81ED-4DB2-BD59-A6C34878D82A}">
                    <a16:rowId xmlns:a16="http://schemas.microsoft.com/office/drawing/2014/main" val="10015"/>
                  </a:ext>
                </a:extLst>
              </a:tr>
              <a:tr h="166688">
                <a:tc>
                  <a:txBody>
                    <a:bodyPr/>
                    <a:lstStyle/>
                    <a:p>
                      <a:pPr algn="l"/>
                      <a:r>
                        <a:rPr sz="1050" b="0" i="0">
                          <a:solidFill>
                            <a:srgbClr val="000000"/>
                          </a:solidFill>
                          <a:latin typeface="Calibri"/>
                        </a:rPr>
                        <a:t>Table 132: USA Market Key Trends and Impact Rating, 2026–2036</a:t>
                      </a:r>
                      <a:endParaRPr sz="1050"/>
                    </a:p>
                  </a:txBody>
                  <a:tcPr marL="9525" marR="9525" marT="9525" marB="0" anchor="ctr"/>
                </a:tc>
                <a:extLst>
                  <a:ext uri="{0D108BD9-81ED-4DB2-BD59-A6C34878D82A}">
                    <a16:rowId xmlns:a16="http://schemas.microsoft.com/office/drawing/2014/main" val="10016"/>
                  </a:ext>
                </a:extLst>
              </a:tr>
              <a:tr h="166688">
                <a:tc>
                  <a:txBody>
                    <a:bodyPr/>
                    <a:lstStyle/>
                    <a:p>
                      <a:pPr algn="l"/>
                      <a:r>
                        <a:rPr sz="1050" b="0" i="0">
                          <a:solidFill>
                            <a:srgbClr val="000000"/>
                          </a:solidFill>
                          <a:latin typeface="Calibri"/>
                        </a:rPr>
                        <a:t>Table 133: USA Market Opportunity Assessment by Product Format, US$ Mn, 2026–2036</a:t>
                      </a:r>
                      <a:endParaRPr sz="1050"/>
                    </a:p>
                  </a:txBody>
                  <a:tcPr marL="9525" marR="9525" marT="9525" marB="0" anchor="ctr"/>
                </a:tc>
                <a:extLst>
                  <a:ext uri="{0D108BD9-81ED-4DB2-BD59-A6C34878D82A}">
                    <a16:rowId xmlns:a16="http://schemas.microsoft.com/office/drawing/2014/main" val="10017"/>
                  </a:ext>
                </a:extLst>
              </a:tr>
              <a:tr h="166688">
                <a:tc>
                  <a:txBody>
                    <a:bodyPr/>
                    <a:lstStyle/>
                    <a:p>
                      <a:pPr algn="l"/>
                      <a:r>
                        <a:rPr sz="1050" b="0" i="0">
                          <a:solidFill>
                            <a:srgbClr val="000000"/>
                          </a:solidFill>
                          <a:latin typeface="Calibri"/>
                        </a:rPr>
                        <a:t>Table 134: USA Market Scenario Assumptions, 2026–2036</a:t>
                      </a:r>
                      <a:endParaRPr sz="1050"/>
                    </a:p>
                  </a:txBody>
                  <a:tcPr marL="9525" marR="9525" marT="9525" marB="0" anchor="ctr"/>
                </a:tc>
                <a:extLst>
                  <a:ext uri="{0D108BD9-81ED-4DB2-BD59-A6C34878D82A}">
                    <a16:rowId xmlns:a16="http://schemas.microsoft.com/office/drawing/2014/main" val="10018"/>
                  </a:ext>
                </a:extLst>
              </a:tr>
              <a:tr h="166688">
                <a:tc>
                  <a:txBody>
                    <a:bodyPr/>
                    <a:lstStyle/>
                    <a:p>
                      <a:pPr algn="l"/>
                      <a:r>
                        <a:rPr sz="1050" b="0" i="0">
                          <a:solidFill>
                            <a:srgbClr val="000000"/>
                          </a:solidFill>
                          <a:latin typeface="Calibri"/>
                        </a:rPr>
                        <a:t>Table 135: USA Market Risk Register and Mitigation, 2026–2036</a:t>
                      </a:r>
                      <a:endParaRPr sz="1050"/>
                    </a:p>
                  </a:txBody>
                  <a:tcPr marL="9525" marR="9525" marT="9525" marB="0" anchor="ctr"/>
                </a:tc>
                <a:extLst>
                  <a:ext uri="{0D108BD9-81ED-4DB2-BD59-A6C34878D82A}">
                    <a16:rowId xmlns:a16="http://schemas.microsoft.com/office/drawing/2014/main" val="10019"/>
                  </a:ext>
                </a:extLst>
              </a:tr>
              <a:tr h="166688">
                <a:tc>
                  <a:txBody>
                    <a:bodyPr/>
                    <a:lstStyle/>
                    <a:p>
                      <a:pPr algn="l"/>
                      <a:r>
                        <a:rPr sz="1050" b="0" i="0">
                          <a:solidFill>
                            <a:srgbClr val="000000"/>
                          </a:solidFill>
                          <a:latin typeface="Calibri"/>
                        </a:rPr>
                        <a:t>Table 136: USA Market Client Opportunity Prioritisation by Product Format, 2026–2036</a:t>
                      </a:r>
                      <a:endParaRPr sz="1050"/>
                    </a:p>
                  </a:txBody>
                  <a:tcPr marL="9525" marR="9525" marT="9525" marB="0" anchor="ctr"/>
                </a:tc>
                <a:extLst>
                  <a:ext uri="{0D108BD9-81ED-4DB2-BD59-A6C34878D82A}">
                    <a16:rowId xmlns:a16="http://schemas.microsoft.com/office/drawing/2014/main" val="10020"/>
                  </a:ext>
                </a:extLst>
              </a:tr>
              <a:tr h="166688">
                <a:tc>
                  <a:txBody>
                    <a:bodyPr/>
                    <a:lstStyle/>
                    <a:p>
                      <a:pPr algn="l"/>
                      <a:r>
                        <a:rPr sz="1050" b="0" i="0">
                          <a:solidFill>
                            <a:srgbClr val="000000"/>
                          </a:solidFill>
                          <a:latin typeface="Calibri"/>
                        </a:rPr>
                        <a:t>Table 137: USA Market Customer Purchase Criteria by Product Format, 2026</a:t>
                      </a:r>
                      <a:endParaRPr sz="1050"/>
                    </a:p>
                  </a:txBody>
                  <a:tcPr marL="9525" marR="9525" marT="9525" marB="0" anchor="ctr"/>
                </a:tc>
                <a:extLst>
                  <a:ext uri="{0D108BD9-81ED-4DB2-BD59-A6C34878D82A}">
                    <a16:rowId xmlns:a16="http://schemas.microsoft.com/office/drawing/2014/main" val="10021"/>
                  </a:ext>
                </a:extLst>
              </a:tr>
              <a:tr h="166688">
                <a:tc>
                  <a:txBody>
                    <a:bodyPr/>
                    <a:lstStyle/>
                    <a:p>
                      <a:pPr algn="l"/>
                      <a:r>
                        <a:rPr sz="1050" b="0" i="0">
                          <a:solidFill>
                            <a:srgbClr val="000000"/>
                          </a:solidFill>
                          <a:latin typeface="Calibri"/>
                        </a:rPr>
                        <a:t>Table 138: USA Market Strategic Recommendations and Action Plan, 2026–2036</a:t>
                      </a:r>
                      <a:endParaRPr sz="1050"/>
                    </a:p>
                  </a:txBody>
                  <a:tcPr marL="9525" marR="9525" marT="9525" marB="0" anchor="ctr"/>
                </a:tc>
                <a:extLst>
                  <a:ext uri="{0D108BD9-81ED-4DB2-BD59-A6C34878D82A}">
                    <a16:rowId xmlns:a16="http://schemas.microsoft.com/office/drawing/2014/main" val="10022"/>
                  </a:ext>
                </a:extLst>
              </a:tr>
            </a:tbl>
          </a:graphicData>
        </a:graphic>
      </p:graphicFrame>
      <p:sp>
        <p:nvSpPr>
          <p:cNvPr id="10" name="TextBox 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2A63"/>
        </a:solidFill>
        <a:effectLst/>
      </p:bgPr>
    </p:bg>
    <p:spTree>
      <p:nvGrpSpPr>
        <p:cNvPr id="1" name=""/>
        <p:cNvGrpSpPr/>
        <p:nvPr/>
      </p:nvGrpSpPr>
      <p:grpSpPr>
        <a:xfrm>
          <a:off x="0" y="0"/>
          <a:ext cx="0" cy="0"/>
          <a:chOff x="0" y="0"/>
          <a:chExt cx="0" cy="0"/>
        </a:xfrm>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ang="19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mi_logo_template.png"/>
          <p:cNvPicPr>
            <a:picLocks noChangeAspect="1"/>
          </p:cNvPicPr>
          <p:nvPr/>
        </p:nvPicPr>
        <p:blipFill>
          <a:blip r:embed="rId3"/>
          <a:stretch>
            <a:fillRect/>
          </a:stretch>
        </p:blipFill>
        <p:spPr>
          <a:xfrm>
            <a:off x="411480" y="274320"/>
            <a:ext cx="1307592" cy="1325880"/>
          </a:xfrm>
          <a:prstGeom prst="rect">
            <a:avLst/>
          </a:prstGeom>
        </p:spPr>
      </p:pic>
      <p:sp>
        <p:nvSpPr>
          <p:cNvPr id="5" name="TextBox 4"/>
          <p:cNvSpPr txBox="1"/>
          <p:nvPr/>
        </p:nvSpPr>
        <p:spPr>
          <a:xfrm>
            <a:off x="914400" y="2586990"/>
            <a:ext cx="7239000" cy="247650"/>
          </a:xfrm>
          <a:prstGeom prst="rect">
            <a:avLst/>
          </a:prstGeom>
          <a:noFill/>
        </p:spPr>
        <p:txBody>
          <a:bodyPr wrap="none" lIns="0" tIns="0">
            <a:spAutoFit/>
          </a:bodyPr>
          <a:lstStyle/>
          <a:p>
            <a:r>
              <a:rPr sz="1400" b="0">
                <a:solidFill>
                  <a:srgbClr val="8FC8F2"/>
                </a:solidFill>
                <a:latin typeface="Calibri"/>
              </a:rPr>
              <a:t>Prenatal Vitamin Supplements Market</a:t>
            </a:r>
          </a:p>
        </p:txBody>
      </p:sp>
      <p:sp>
        <p:nvSpPr>
          <p:cNvPr id="6" name="FMI Breaker Title"/>
          <p:cNvSpPr txBox="1"/>
          <p:nvPr/>
        </p:nvSpPr>
        <p:spPr>
          <a:xfrm>
            <a:off x="914400" y="2891790"/>
            <a:ext cx="7239000" cy="514350"/>
          </a:xfrm>
          <a:prstGeom prst="rect">
            <a:avLst/>
          </a:prstGeom>
          <a:noFill/>
        </p:spPr>
        <p:txBody>
          <a:bodyPr wrap="square" lIns="0" tIns="0" rIns="0">
            <a:spAutoFit/>
          </a:bodyPr>
          <a:lstStyle/>
          <a:p>
            <a:r>
              <a:rPr sz="3000" b="1" cap="all" spc="400">
                <a:solidFill>
                  <a:srgbClr val="FFFFFF"/>
                </a:solidFill>
                <a:latin typeface="Calibri"/>
              </a:rPr>
              <a:t>USA Market Outlook</a:t>
            </a:r>
          </a:p>
        </p:txBody>
      </p:sp>
      <p:sp>
        <p:nvSpPr>
          <p:cNvPr id="7" name="TextBox 6"/>
          <p:cNvSpPr txBox="1"/>
          <p:nvPr/>
        </p:nvSpPr>
        <p:spPr>
          <a:xfrm>
            <a:off x="914400" y="3596640"/>
            <a:ext cx="7124700" cy="2103120"/>
          </a:xfrm>
          <a:prstGeom prst="rect">
            <a:avLst/>
          </a:prstGeom>
          <a:noFill/>
        </p:spPr>
        <p:txBody>
          <a:bodyPr wrap="square" lIns="0" tIns="0" rIns="0" bIns="0">
            <a:spAutoFit/>
          </a:bodyPr>
          <a:lstStyle/>
          <a:p>
            <a:pPr marL="342900" indent="-323850">
              <a:lnSpc>
                <a:spcPct val="100000"/>
              </a:lnSpc>
              <a:spcAft>
                <a:spcPts val="800"/>
              </a:spcAft>
            </a:pPr>
            <a:r>
              <a:rPr sz="2000" b="0">
                <a:solidFill>
                  <a:srgbClr val="FFD447"/>
                </a:solidFill>
                <a:latin typeface="Calibri"/>
              </a:rPr>
              <a:t>➤	USA Overview</a:t>
            </a:r>
          </a:p>
          <a:p>
            <a:pPr marL="342900" indent="-323850">
              <a:lnSpc>
                <a:spcPct val="100000"/>
              </a:lnSpc>
              <a:spcAft>
                <a:spcPts val="800"/>
              </a:spcAft>
            </a:pPr>
            <a:r>
              <a:rPr sz="2000" b="0">
                <a:solidFill>
                  <a:srgbClr val="FFD447"/>
                </a:solidFill>
                <a:latin typeface="Calibri"/>
              </a:rPr>
              <a:t>➤	USA Market Analysis By Country</a:t>
            </a:r>
          </a:p>
          <a:p>
            <a:pPr marL="342900" indent="-323850">
              <a:lnSpc>
                <a:spcPct val="100000"/>
              </a:lnSpc>
              <a:spcAft>
                <a:spcPts val="800"/>
              </a:spcAft>
            </a:pPr>
            <a:r>
              <a:rPr sz="2000" b="0">
                <a:solidFill>
                  <a:srgbClr val="FFD447"/>
                </a:solidFill>
                <a:latin typeface="Calibri"/>
              </a:rPr>
              <a:t>➤	USA Market Analysis By Segments</a:t>
            </a:r>
          </a:p>
          <a:p>
            <a:pPr marL="685800" indent="-323850">
              <a:lnSpc>
                <a:spcPct val="100000"/>
              </a:lnSpc>
              <a:spcAft>
                <a:spcPts val="560"/>
              </a:spcAft>
            </a:pPr>
            <a:r>
              <a:rPr sz="1400" b="0">
                <a:solidFill>
                  <a:srgbClr val="FFD447"/>
                </a:solidFill>
                <a:latin typeface="Calibri"/>
              </a:rPr>
              <a:t>›	By Product Format</a:t>
            </a:r>
          </a:p>
          <a:p>
            <a:pPr marL="685800" indent="-323850">
              <a:lnSpc>
                <a:spcPct val="100000"/>
              </a:lnSpc>
              <a:spcAft>
                <a:spcPts val="560"/>
              </a:spcAft>
            </a:pPr>
            <a:r>
              <a:rPr sz="1400" b="0">
                <a:solidFill>
                  <a:srgbClr val="FFD447"/>
                </a:solidFill>
                <a:latin typeface="Calibri"/>
              </a:rPr>
              <a:t>›	By Product Type</a:t>
            </a:r>
          </a:p>
          <a:p>
            <a:pPr marL="685800" indent="-323850">
              <a:lnSpc>
                <a:spcPct val="100000"/>
              </a:lnSpc>
              <a:spcAft>
                <a:spcPts val="560"/>
              </a:spcAft>
            </a:pPr>
            <a:r>
              <a:rPr sz="1400" b="0">
                <a:solidFill>
                  <a:srgbClr val="FFD447"/>
                </a:solidFill>
                <a:latin typeface="Calibri"/>
              </a:rPr>
              <a:t>›	By Sales Channel</a:t>
            </a:r>
          </a:p>
        </p:txBody>
      </p:sp>
      <p:sp>
        <p:nvSpPr>
          <p:cNvPr id="8" name="TextBox 7"/>
          <p:cNvSpPr txBox="1"/>
          <p:nvPr/>
        </p:nvSpPr>
        <p:spPr>
          <a:xfrm>
            <a:off x="4000500" y="6734175"/>
            <a:ext cx="8020050" cy="123825"/>
          </a:xfrm>
          <a:prstGeom prst="rect">
            <a:avLst/>
          </a:prstGeom>
          <a:noFill/>
        </p:spPr>
        <p:txBody>
          <a:bodyPr wrap="square" lIns="28575" tIns="9525" rIns="2857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Prenatal Vitamin Supplements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USA Overview</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Volume Market Summary</a:t>
            </a:r>
          </a:p>
          <a:p>
            <a:pPr marL="342900" indent="-323850">
              <a:lnSpc>
                <a:spcPct val="100000"/>
              </a:lnSpc>
              <a:spcAft>
                <a:spcPts val="800"/>
              </a:spcAft>
            </a:pPr>
            <a:r>
              <a:rPr sz="2000" b="0">
                <a:solidFill>
                  <a:srgbClr val="000000"/>
                </a:solidFill>
                <a:latin typeface="Calibri"/>
              </a:rPr>
              <a:t>➤	Pricing &amp; Price Index</a:t>
            </a:r>
          </a:p>
          <a:p>
            <a:pPr marL="342900" indent="-323850">
              <a:lnSpc>
                <a:spcPct val="100000"/>
              </a:lnSpc>
              <a:spcAft>
                <a:spcPts val="800"/>
              </a:spcAft>
            </a:pPr>
            <a:r>
              <a:rPr sz="2000" b="0">
                <a:solidFill>
                  <a:srgbClr val="000000"/>
                </a:solidFill>
                <a:latin typeface="Calibri"/>
              </a:rPr>
              <a:t>➤	Value Market Summary</a:t>
            </a:r>
          </a:p>
          <a:p>
            <a:pPr marL="342900" indent="-323850">
              <a:lnSpc>
                <a:spcPct val="100000"/>
              </a:lnSpc>
              <a:spcAft>
                <a:spcPts val="800"/>
              </a:spcAft>
            </a:pPr>
            <a:r>
              <a:rPr sz="2000" b="0">
                <a:solidFill>
                  <a:srgbClr val="000000"/>
                </a:solidFill>
                <a:latin typeface="Calibri"/>
              </a:rPr>
              <a:t>➤	Market Volume &amp; Value Analysis</a:t>
            </a:r>
          </a:p>
          <a:p>
            <a:pPr marL="342900" indent="-323850">
              <a:lnSpc>
                <a:spcPct val="100000"/>
              </a:lnSpc>
              <a:spcAft>
                <a:spcPts val="800"/>
              </a:spcAft>
            </a:pPr>
            <a:r>
              <a:rPr sz="2000" b="0">
                <a:solidFill>
                  <a:srgbClr val="000000"/>
                </a:solidFill>
                <a:latin typeface="Calibri"/>
              </a:rPr>
              <a:t>➤	Country Outlook</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Summary, By Volume (Mn Units)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USA market volume growth, incremental opportunity and the geographies driving it,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2026 MARKET SIZE (MN UNITS)</a:t>
            </a:r>
          </a:p>
          <a:p>
            <a:pPr algn="ctr">
              <a:lnSpc>
                <a:spcPct val="95000"/>
              </a:lnSpc>
            </a:pPr>
            <a:r>
              <a:rPr sz="1500" b="1">
                <a:solidFill>
                  <a:srgbClr val="0E72AE"/>
                </a:solidFill>
                <a:latin typeface="Calibri"/>
              </a:rPr>
              <a:t>998.2</a:t>
            </a:r>
          </a:p>
        </p:txBody>
      </p:sp>
      <p:sp>
        <p:nvSpPr>
          <p:cNvPr id="12" name="Rounded Rectangle 11"/>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2036 MARKET SIZE (MN UNITS)</a:t>
            </a:r>
          </a:p>
          <a:p>
            <a:pPr algn="ctr">
              <a:lnSpc>
                <a:spcPct val="95000"/>
              </a:lnSpc>
            </a:pPr>
            <a:r>
              <a:rPr sz="1500" b="1">
                <a:solidFill>
                  <a:srgbClr val="0E72AE"/>
                </a:solidFill>
                <a:latin typeface="Calibri"/>
              </a:rPr>
              <a:t>1,761</a:t>
            </a:r>
          </a:p>
        </p:txBody>
      </p:sp>
      <p:sp>
        <p:nvSpPr>
          <p:cNvPr id="13" name="Rounded Rectangle 12"/>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4.6%</a:t>
            </a:r>
          </a:p>
        </p:txBody>
      </p:sp>
      <p:sp>
        <p:nvSpPr>
          <p:cNvPr id="14" name="Rounded Rectangle 13"/>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5.8%</a:t>
            </a:r>
          </a:p>
        </p:txBody>
      </p:sp>
      <p:sp>
        <p:nvSpPr>
          <p:cNvPr id="15" name="Rounded Rectangle 14"/>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8125" y="1685037"/>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CAGR (2021–2036)</a:t>
            </a:r>
          </a:p>
        </p:txBody>
      </p:sp>
      <p:graphicFrame>
        <p:nvGraphicFramePr>
          <p:cNvPr id="17" name="Chart 16"/>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xmlns:r="http://schemas.openxmlformats.org/officeDocument/2006/relationships" r:id="rId4"/>
          </a:graphicData>
        </a:graphic>
      </p:graphicFrame>
      <p:sp>
        <p:nvSpPr>
          <p:cNvPr id="18" name="Rounded Rectangle 17"/>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38125" y="4094525"/>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Incremental Market Addition (Mn Units)</a:t>
            </a:r>
          </a:p>
        </p:txBody>
      </p:sp>
      <p:graphicFrame>
        <p:nvGraphicFramePr>
          <p:cNvPr id="20" name="Chart 19"/>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xmlns:r="http://schemas.openxmlformats.org/officeDocument/2006/relationships" r:id="rId5"/>
          </a:graphicData>
        </a:graphic>
      </p:graphicFrame>
      <p:sp>
        <p:nvSpPr>
          <p:cNvPr id="21" name="Rounded Rectangle 20"/>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8625" y="1713612"/>
            <a:ext cx="3867150" cy="209550"/>
          </a:xfrm>
          <a:prstGeom prst="rect">
            <a:avLst/>
          </a:prstGeom>
          <a:noFill/>
        </p:spPr>
        <p:txBody>
          <a:bodyPr wrap="square" lIns="0" tIns="9525" rIns="19050" bIns="9525">
            <a:spAutoFit/>
          </a:bodyPr>
          <a:lstStyle/>
          <a:p>
            <a:pPr algn="l"/>
            <a:r>
              <a:rPr sz="1300" b="1">
                <a:solidFill>
                  <a:srgbClr val="0B2E4A"/>
                </a:solidFill>
                <a:latin typeface="Calibri"/>
              </a:rPr>
              <a:t>Key Insights</a:t>
            </a:r>
          </a:p>
        </p:txBody>
      </p:sp>
      <p:sp>
        <p:nvSpPr>
          <p:cNvPr id="23" name="Rectangle 22"/>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48625" y="2037462"/>
            <a:ext cx="3867150" cy="1868952"/>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2E2E2E"/>
                </a:solidFill>
                <a:latin typeface="Calibri"/>
              </a:rPr>
              <a:t>USA prenatal vitamin supplements market is projected to register 1.8X increase in volume by the end of forecast period, 2036. USA prenatal vitamin supplements market volume stood at 952.6 Mn Units in 2025 and is expected to reach 1,761 Mn Units by 2036 end, at a CAGR of 5.8%.</a:t>
            </a:r>
          </a:p>
          <a:p>
            <a:pPr algn="l">
              <a:lnSpc>
                <a:spcPct val="110000"/>
              </a:lnSpc>
              <a:spcBef>
                <a:spcPts val="0"/>
              </a:spcBef>
              <a:spcAft>
                <a:spcPts val="500"/>
              </a:spcAft>
            </a:pPr>
            <a:r>
              <a:rPr sz="1100" b="0">
                <a:solidFill>
                  <a:srgbClr val="2E2E2E"/>
                </a:solidFill>
                <a:latin typeface="Calibri"/>
              </a:rPr>
              <a:t>Value is projected to grow faster than volume over the forecast period, owing to an increase in average selling price.</a:t>
            </a:r>
          </a:p>
        </p:txBody>
      </p:sp>
      <p:sp>
        <p:nvSpPr>
          <p:cNvPr id="25" name="Rounded Rectangle 24"/>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048625" y="4123100"/>
            <a:ext cx="3867150" cy="209550"/>
          </a:xfrm>
          <a:prstGeom prst="rect">
            <a:avLst/>
          </a:prstGeom>
          <a:noFill/>
        </p:spPr>
        <p:txBody>
          <a:bodyPr wrap="square" lIns="0" tIns="9525" rIns="19050" bIns="9525">
            <a:spAutoFit/>
          </a:bodyPr>
          <a:lstStyle/>
          <a:p>
            <a:pPr algn="l"/>
            <a:r>
              <a:rPr sz="1300" b="1">
                <a:solidFill>
                  <a:srgbClr val="0B2E4A"/>
                </a:solidFill>
                <a:latin typeface="Calibri"/>
              </a:rPr>
              <a:t>Growth Drivers</a:t>
            </a:r>
          </a:p>
        </p:txBody>
      </p:sp>
      <p:sp>
        <p:nvSpPr>
          <p:cNvPr id="27" name="Rectangle 26"/>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48625" y="4446950"/>
            <a:ext cx="3867150" cy="203323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'USA' leads regional growth at 5.8% CAGR.</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concentrates in 'Gummies' within Product Format.</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Product innovation and premiumisation lifting value.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Expanding end-use applications and access.</a:t>
            </a:r>
          </a:p>
        </p:txBody>
      </p:sp>
      <p:sp>
        <p:nvSpPr>
          <p:cNvPr id="29" name="TextBox 2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average price by sub-segment and price variation by country, highlighting where pricing power sits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110045"/>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Average Price by Product Format  ·  range across 2021–2036 (US$/Units)</a:t>
            </a:r>
          </a:p>
        </p:txBody>
      </p:sp>
      <p:cxnSp>
        <p:nvCxnSpPr>
          <p:cNvPr id="13" name="Connector 12"/>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57225" y="1452945"/>
            <a:ext cx="0" cy="188399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333693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86593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239494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92394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4" name="FMI Scale tick"/>
          <p:cNvSpPr txBox="1"/>
          <p:nvPr/>
        </p:nvSpPr>
        <p:spPr>
          <a:xfrm>
            <a:off x="219075" y="3270260"/>
            <a:ext cx="381000" cy="133350"/>
          </a:xfrm>
          <a:prstGeom prst="rect">
            <a:avLst/>
          </a:prstGeom>
          <a:noFill/>
        </p:spPr>
        <p:txBody>
          <a:bodyPr wrap="none" lIns="0" tIns="0" rIns="0" bIns="0" anchor="ctr">
            <a:spAutoFit/>
          </a:bodyPr>
          <a:lstStyle/>
          <a:p>
            <a:pPr algn="r"/>
            <a:r>
              <a:rPr sz="1100" b="0">
                <a:solidFill>
                  <a:srgbClr val="6C7A89"/>
                </a:solidFill>
                <a:latin typeface="Calibri"/>
              </a:rPr>
              <a:t>0</a:t>
            </a:r>
          </a:p>
        </p:txBody>
      </p:sp>
      <p:sp>
        <p:nvSpPr>
          <p:cNvPr id="25" name="FMI Scale tick"/>
          <p:cNvSpPr txBox="1"/>
          <p:nvPr/>
        </p:nvSpPr>
        <p:spPr>
          <a:xfrm>
            <a:off x="219075" y="2328265"/>
            <a:ext cx="381000" cy="133350"/>
          </a:xfrm>
          <a:prstGeom prst="rect">
            <a:avLst/>
          </a:prstGeom>
          <a:noFill/>
        </p:spPr>
        <p:txBody>
          <a:bodyPr wrap="none" lIns="0" tIns="0" rIns="0" bIns="0" anchor="ctr">
            <a:spAutoFit/>
          </a:bodyPr>
          <a:lstStyle/>
          <a:p>
            <a:pPr algn="r"/>
            <a:r>
              <a:rPr sz="1100" b="0">
                <a:solidFill>
                  <a:srgbClr val="6C7A89"/>
                </a:solidFill>
                <a:latin typeface="Calibri"/>
              </a:rPr>
              <a:t>1.04</a:t>
            </a:r>
          </a:p>
        </p:txBody>
      </p:sp>
      <p:sp>
        <p:nvSpPr>
          <p:cNvPr id="26" name="FMI Scale tick"/>
          <p:cNvSpPr txBox="1"/>
          <p:nvPr/>
        </p:nvSpPr>
        <p:spPr>
          <a:xfrm>
            <a:off x="219075" y="1386270"/>
            <a:ext cx="381000" cy="133350"/>
          </a:xfrm>
          <a:prstGeom prst="rect">
            <a:avLst/>
          </a:prstGeom>
          <a:noFill/>
        </p:spPr>
        <p:txBody>
          <a:bodyPr wrap="none" lIns="0" tIns="0" rIns="0" bIns="0" anchor="ctr">
            <a:spAutoFit/>
          </a:bodyPr>
          <a:lstStyle/>
          <a:p>
            <a:pPr algn="r"/>
            <a:r>
              <a:rPr sz="1100" b="0">
                <a:solidFill>
                  <a:srgbClr val="6C7A89"/>
                </a:solidFill>
                <a:latin typeface="Calibri"/>
              </a:rPr>
              <a:t>2.07</a:t>
            </a:r>
          </a:p>
        </p:txBody>
      </p:sp>
      <p:cxnSp>
        <p:nvCxnSpPr>
          <p:cNvPr id="27" name="Connector 26"/>
          <p:cNvCxnSpPr/>
          <p:nvPr/>
        </p:nvCxnSpPr>
        <p:spPr>
          <a:xfrm flipV="1">
            <a:off x="1157968" y="3122849"/>
            <a:ext cx="0" cy="2299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26523" y="314584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26523" y="312284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938893" y="3130953"/>
            <a:ext cx="438150" cy="1905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p:cNvCxnSpPr/>
          <p:nvPr/>
        </p:nvCxnSpPr>
        <p:spPr>
          <a:xfrm>
            <a:off x="938893" y="3137828"/>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7225" y="2970449"/>
            <a:ext cx="1001486" cy="133350"/>
          </a:xfrm>
          <a:prstGeom prst="rect">
            <a:avLst/>
          </a:prstGeom>
          <a:noFill/>
        </p:spPr>
        <p:txBody>
          <a:bodyPr wrap="square" lIns="28575" tIns="9525" rIns="28575" bIns="9525">
            <a:spAutoFit/>
          </a:bodyPr>
          <a:lstStyle/>
          <a:p>
            <a:pPr algn="ctr"/>
            <a:r>
              <a:rPr sz="1100" b="1">
                <a:solidFill>
                  <a:srgbClr val="0B2E4A"/>
                </a:solidFill>
                <a:latin typeface="Calibri"/>
              </a:rPr>
              <a:t>0.219</a:t>
            </a:r>
          </a:p>
        </p:txBody>
      </p:sp>
      <p:cxnSp>
        <p:nvCxnSpPr>
          <p:cNvPr id="33" name="Connector 32"/>
          <p:cNvCxnSpPr/>
          <p:nvPr/>
        </p:nvCxnSpPr>
        <p:spPr>
          <a:xfrm flipV="1">
            <a:off x="2159454" y="3076713"/>
            <a:ext cx="0" cy="2515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028009" y="310186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028009" y="307671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940379" y="3086099"/>
            <a:ext cx="438150" cy="1905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7" name="Connector 36"/>
          <p:cNvCxnSpPr/>
          <p:nvPr/>
        </p:nvCxnSpPr>
        <p:spPr>
          <a:xfrm>
            <a:off x="1940379" y="3093566"/>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658711" y="2924313"/>
            <a:ext cx="1001486" cy="133350"/>
          </a:xfrm>
          <a:prstGeom prst="rect">
            <a:avLst/>
          </a:prstGeom>
          <a:noFill/>
        </p:spPr>
        <p:txBody>
          <a:bodyPr wrap="square" lIns="28575" tIns="9525" rIns="28575" bIns="9525">
            <a:spAutoFit/>
          </a:bodyPr>
          <a:lstStyle/>
          <a:p>
            <a:pPr algn="ctr"/>
            <a:r>
              <a:rPr sz="1100" b="1">
                <a:solidFill>
                  <a:srgbClr val="0B2E4A"/>
                </a:solidFill>
                <a:latin typeface="Calibri"/>
              </a:rPr>
              <a:t>0.268</a:t>
            </a:r>
          </a:p>
        </p:txBody>
      </p:sp>
      <p:cxnSp>
        <p:nvCxnSpPr>
          <p:cNvPr id="39" name="Connector 38"/>
          <p:cNvCxnSpPr/>
          <p:nvPr/>
        </p:nvCxnSpPr>
        <p:spPr>
          <a:xfrm flipV="1">
            <a:off x="3160939" y="3130433"/>
            <a:ext cx="0" cy="1377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029494" y="314420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029494" y="313043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2941864" y="3136030"/>
            <a:ext cx="438150" cy="1905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a:off x="2941864" y="3140249"/>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660196" y="2978033"/>
            <a:ext cx="1001486" cy="133350"/>
          </a:xfrm>
          <a:prstGeom prst="rect">
            <a:avLst/>
          </a:prstGeom>
          <a:noFill/>
        </p:spPr>
        <p:txBody>
          <a:bodyPr wrap="square" lIns="28575" tIns="9525" rIns="28575" bIns="9525">
            <a:spAutoFit/>
          </a:bodyPr>
          <a:lstStyle/>
          <a:p>
            <a:pPr algn="ctr"/>
            <a:r>
              <a:rPr sz="1100" b="1">
                <a:solidFill>
                  <a:srgbClr val="0B2E4A"/>
                </a:solidFill>
                <a:latin typeface="Calibri"/>
              </a:rPr>
              <a:t>0.216</a:t>
            </a:r>
          </a:p>
        </p:txBody>
      </p:sp>
      <p:cxnSp>
        <p:nvCxnSpPr>
          <p:cNvPr id="45" name="Connector 44"/>
          <p:cNvCxnSpPr/>
          <p:nvPr/>
        </p:nvCxnSpPr>
        <p:spPr>
          <a:xfrm flipV="1">
            <a:off x="4162425" y="3159160"/>
            <a:ext cx="0" cy="1140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030980" y="317056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030980" y="315916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3943350" y="3163688"/>
            <a:ext cx="438150" cy="1905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9" name="Connector 48"/>
          <p:cNvCxnSpPr/>
          <p:nvPr/>
        </p:nvCxnSpPr>
        <p:spPr>
          <a:xfrm>
            <a:off x="3943350" y="3167215"/>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661682" y="3006760"/>
            <a:ext cx="1001486" cy="133350"/>
          </a:xfrm>
          <a:prstGeom prst="rect">
            <a:avLst/>
          </a:prstGeom>
          <a:noFill/>
        </p:spPr>
        <p:txBody>
          <a:bodyPr wrap="square" lIns="28575" tIns="9525" rIns="28575" bIns="9525">
            <a:spAutoFit/>
          </a:bodyPr>
          <a:lstStyle/>
          <a:p>
            <a:pPr algn="ctr"/>
            <a:r>
              <a:rPr sz="1100" b="1">
                <a:solidFill>
                  <a:srgbClr val="0B2E4A"/>
                </a:solidFill>
                <a:latin typeface="Calibri"/>
              </a:rPr>
              <a:t>0.187</a:t>
            </a:r>
          </a:p>
        </p:txBody>
      </p:sp>
      <p:cxnSp>
        <p:nvCxnSpPr>
          <p:cNvPr id="51" name="Connector 50"/>
          <p:cNvCxnSpPr/>
          <p:nvPr/>
        </p:nvCxnSpPr>
        <p:spPr>
          <a:xfrm flipV="1">
            <a:off x="5163911" y="2439027"/>
            <a:ext cx="0" cy="76419"/>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032466" y="251544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032466" y="243902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4944836" y="2471024"/>
            <a:ext cx="438150" cy="3840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5" name="Connector 54"/>
          <p:cNvCxnSpPr/>
          <p:nvPr/>
        </p:nvCxnSpPr>
        <p:spPr>
          <a:xfrm>
            <a:off x="4944836" y="249439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663168" y="2286627"/>
            <a:ext cx="1001486" cy="133350"/>
          </a:xfrm>
          <a:prstGeom prst="rect">
            <a:avLst/>
          </a:prstGeom>
          <a:noFill/>
        </p:spPr>
        <p:txBody>
          <a:bodyPr wrap="square" lIns="28575" tIns="9525" rIns="28575" bIns="9525">
            <a:spAutoFit/>
          </a:bodyPr>
          <a:lstStyle/>
          <a:p>
            <a:pPr algn="ctr"/>
            <a:r>
              <a:rPr sz="1100" b="1">
                <a:solidFill>
                  <a:srgbClr val="0B2E4A"/>
                </a:solidFill>
                <a:latin typeface="Calibri"/>
              </a:rPr>
              <a:t>0.927</a:t>
            </a:r>
          </a:p>
        </p:txBody>
      </p:sp>
      <p:cxnSp>
        <p:nvCxnSpPr>
          <p:cNvPr id="57" name="Connector 56"/>
          <p:cNvCxnSpPr/>
          <p:nvPr/>
        </p:nvCxnSpPr>
        <p:spPr>
          <a:xfrm flipV="1">
            <a:off x="6165396" y="1676982"/>
            <a:ext cx="0" cy="12493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033951" y="180192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033951" y="167698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5946321" y="1720979"/>
            <a:ext cx="438150" cy="6641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1" name="Connector 60"/>
          <p:cNvCxnSpPr/>
          <p:nvPr/>
        </p:nvCxnSpPr>
        <p:spPr>
          <a:xfrm>
            <a:off x="5946321" y="1758017"/>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664654" y="1524582"/>
            <a:ext cx="1001486" cy="133350"/>
          </a:xfrm>
          <a:prstGeom prst="rect">
            <a:avLst/>
          </a:prstGeom>
          <a:noFill/>
        </p:spPr>
        <p:txBody>
          <a:bodyPr wrap="square" lIns="28575" tIns="9525" rIns="28575" bIns="9525">
            <a:spAutoFit/>
          </a:bodyPr>
          <a:lstStyle/>
          <a:p>
            <a:pPr algn="ctr"/>
            <a:r>
              <a:rPr sz="1100" b="1">
                <a:solidFill>
                  <a:srgbClr val="0B2E4A"/>
                </a:solidFill>
                <a:latin typeface="Calibri"/>
              </a:rPr>
              <a:t>1.74</a:t>
            </a:r>
          </a:p>
        </p:txBody>
      </p:sp>
      <p:cxnSp>
        <p:nvCxnSpPr>
          <p:cNvPr id="63" name="Connector 62"/>
          <p:cNvCxnSpPr/>
          <p:nvPr/>
        </p:nvCxnSpPr>
        <p:spPr>
          <a:xfrm flipV="1">
            <a:off x="7166882" y="2711193"/>
            <a:ext cx="0" cy="4859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035437" y="275978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035437" y="271119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6947807" y="2730576"/>
            <a:ext cx="438150" cy="25237"/>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7" name="Connector 66"/>
          <p:cNvCxnSpPr/>
          <p:nvPr/>
        </p:nvCxnSpPr>
        <p:spPr>
          <a:xfrm>
            <a:off x="6947807" y="2745604"/>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666139" y="2558793"/>
            <a:ext cx="1001486" cy="133350"/>
          </a:xfrm>
          <a:prstGeom prst="rect">
            <a:avLst/>
          </a:prstGeom>
          <a:noFill/>
        </p:spPr>
        <p:txBody>
          <a:bodyPr wrap="square" lIns="28575" tIns="9525" rIns="28575" bIns="9525">
            <a:spAutoFit/>
          </a:bodyPr>
          <a:lstStyle/>
          <a:p>
            <a:pPr algn="ctr"/>
            <a:r>
              <a:rPr sz="1100" b="1">
                <a:solidFill>
                  <a:srgbClr val="0B2E4A"/>
                </a:solidFill>
                <a:latin typeface="Calibri"/>
              </a:rPr>
              <a:t>0.651</a:t>
            </a:r>
          </a:p>
        </p:txBody>
      </p:sp>
      <p:sp>
        <p:nvSpPr>
          <p:cNvPr id="69" name="TextBox 68"/>
          <p:cNvSpPr txBox="1"/>
          <p:nvPr/>
        </p:nvSpPr>
        <p:spPr>
          <a:xfrm>
            <a:off x="657225" y="3365510"/>
            <a:ext cx="1001486" cy="285750"/>
          </a:xfrm>
          <a:prstGeom prst="rect">
            <a:avLst/>
          </a:prstGeom>
          <a:noFill/>
        </p:spPr>
        <p:txBody>
          <a:bodyPr wrap="square" lIns="28575" tIns="9525" rIns="28575" bIns="9525">
            <a:spAutoFit/>
          </a:bodyPr>
          <a:lstStyle/>
          <a:p>
            <a:pPr algn="ctr"/>
            <a:r>
              <a:rPr sz="1100" b="0">
                <a:solidFill>
                  <a:srgbClr val="2E2E2E"/>
                </a:solidFill>
                <a:latin typeface="Calibri"/>
              </a:rPr>
              <a:t>Capsule</a:t>
            </a:r>
          </a:p>
        </p:txBody>
      </p:sp>
      <p:sp>
        <p:nvSpPr>
          <p:cNvPr id="70" name="TextBox 69"/>
          <p:cNvSpPr txBox="1"/>
          <p:nvPr/>
        </p:nvSpPr>
        <p:spPr>
          <a:xfrm>
            <a:off x="1658711" y="3365510"/>
            <a:ext cx="1001486" cy="285750"/>
          </a:xfrm>
          <a:prstGeom prst="rect">
            <a:avLst/>
          </a:prstGeom>
          <a:noFill/>
        </p:spPr>
        <p:txBody>
          <a:bodyPr wrap="square" lIns="28575" tIns="9525" rIns="28575" bIns="9525">
            <a:spAutoFit/>
          </a:bodyPr>
          <a:lstStyle/>
          <a:p>
            <a:pPr algn="ctr"/>
            <a:r>
              <a:rPr sz="1100" b="0">
                <a:solidFill>
                  <a:srgbClr val="2E2E2E"/>
                </a:solidFill>
                <a:latin typeface="Calibri"/>
              </a:rPr>
              <a:t>Tablet</a:t>
            </a:r>
          </a:p>
        </p:txBody>
      </p:sp>
      <p:sp>
        <p:nvSpPr>
          <p:cNvPr id="71" name="TextBox 70"/>
          <p:cNvSpPr txBox="1"/>
          <p:nvPr/>
        </p:nvSpPr>
        <p:spPr>
          <a:xfrm>
            <a:off x="2660196" y="3365510"/>
            <a:ext cx="1001486" cy="285750"/>
          </a:xfrm>
          <a:prstGeom prst="rect">
            <a:avLst/>
          </a:prstGeom>
          <a:noFill/>
        </p:spPr>
        <p:txBody>
          <a:bodyPr wrap="square" lIns="28575" tIns="9525" rIns="28575" bIns="9525">
            <a:spAutoFit/>
          </a:bodyPr>
          <a:lstStyle/>
          <a:p>
            <a:pPr algn="ctr"/>
            <a:r>
              <a:rPr sz="1100" b="0">
                <a:solidFill>
                  <a:srgbClr val="2E2E2E"/>
                </a:solidFill>
                <a:latin typeface="Calibri"/>
              </a:rPr>
              <a:t>Softgels</a:t>
            </a:r>
          </a:p>
        </p:txBody>
      </p:sp>
      <p:sp>
        <p:nvSpPr>
          <p:cNvPr id="72" name="TextBox 71"/>
          <p:cNvSpPr txBox="1"/>
          <p:nvPr/>
        </p:nvSpPr>
        <p:spPr>
          <a:xfrm>
            <a:off x="3661682" y="3365510"/>
            <a:ext cx="1001486" cy="285750"/>
          </a:xfrm>
          <a:prstGeom prst="rect">
            <a:avLst/>
          </a:prstGeom>
          <a:noFill/>
        </p:spPr>
        <p:txBody>
          <a:bodyPr wrap="square" lIns="28575" tIns="9525" rIns="28575" bIns="9525">
            <a:spAutoFit/>
          </a:bodyPr>
          <a:lstStyle/>
          <a:p>
            <a:pPr algn="ctr"/>
            <a:r>
              <a:rPr sz="1100" b="0">
                <a:solidFill>
                  <a:srgbClr val="2E2E2E"/>
                </a:solidFill>
                <a:latin typeface="Calibri"/>
              </a:rPr>
              <a:t>Gummies</a:t>
            </a:r>
          </a:p>
        </p:txBody>
      </p:sp>
      <p:sp>
        <p:nvSpPr>
          <p:cNvPr id="73" name="TextBox 72"/>
          <p:cNvSpPr txBox="1"/>
          <p:nvPr/>
        </p:nvSpPr>
        <p:spPr>
          <a:xfrm>
            <a:off x="4663168" y="3365510"/>
            <a:ext cx="1001486" cy="285750"/>
          </a:xfrm>
          <a:prstGeom prst="rect">
            <a:avLst/>
          </a:prstGeom>
          <a:noFill/>
        </p:spPr>
        <p:txBody>
          <a:bodyPr wrap="square" lIns="28575" tIns="9525" rIns="28575" bIns="9525">
            <a:spAutoFit/>
          </a:bodyPr>
          <a:lstStyle/>
          <a:p>
            <a:pPr algn="ctr"/>
            <a:r>
              <a:rPr sz="1100" b="0">
                <a:solidFill>
                  <a:srgbClr val="2E2E2E"/>
                </a:solidFill>
                <a:latin typeface="Calibri"/>
              </a:rPr>
              <a:t>Powder</a:t>
            </a:r>
          </a:p>
        </p:txBody>
      </p:sp>
      <p:sp>
        <p:nvSpPr>
          <p:cNvPr id="74" name="TextBox 73"/>
          <p:cNvSpPr txBox="1"/>
          <p:nvPr/>
        </p:nvSpPr>
        <p:spPr>
          <a:xfrm>
            <a:off x="5664654" y="3365510"/>
            <a:ext cx="1001486" cy="285750"/>
          </a:xfrm>
          <a:prstGeom prst="rect">
            <a:avLst/>
          </a:prstGeom>
          <a:noFill/>
        </p:spPr>
        <p:txBody>
          <a:bodyPr wrap="square" lIns="28575" tIns="9525" rIns="28575" bIns="9525">
            <a:spAutoFit/>
          </a:bodyPr>
          <a:lstStyle/>
          <a:p>
            <a:pPr algn="ctr"/>
            <a:r>
              <a:rPr sz="1100" b="0">
                <a:solidFill>
                  <a:srgbClr val="2E2E2E"/>
                </a:solidFill>
                <a:latin typeface="Calibri"/>
              </a:rPr>
              <a:t>Bar</a:t>
            </a:r>
          </a:p>
        </p:txBody>
      </p:sp>
      <p:sp>
        <p:nvSpPr>
          <p:cNvPr id="75" name="TextBox 74"/>
          <p:cNvSpPr txBox="1"/>
          <p:nvPr/>
        </p:nvSpPr>
        <p:spPr>
          <a:xfrm>
            <a:off x="6666139" y="3365510"/>
            <a:ext cx="1001486" cy="285750"/>
          </a:xfrm>
          <a:prstGeom prst="rect">
            <a:avLst/>
          </a:prstGeom>
          <a:noFill/>
        </p:spPr>
        <p:txBody>
          <a:bodyPr wrap="square" lIns="28575" tIns="9525" rIns="28575" bIns="9525">
            <a:spAutoFit/>
          </a:bodyPr>
          <a:lstStyle/>
          <a:p>
            <a:pPr algn="ctr"/>
            <a:r>
              <a:rPr sz="1100" b="0">
                <a:solidFill>
                  <a:srgbClr val="2E2E2E"/>
                </a:solidFill>
                <a:latin typeface="Calibri"/>
              </a:rPr>
              <a:t>Liquid</a:t>
            </a:r>
          </a:p>
        </p:txBody>
      </p:sp>
      <p:sp>
        <p:nvSpPr>
          <p:cNvPr id="76" name="Rounded Rectangle 75"/>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238125" y="3829846"/>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Price Variation by Country vs USA  ·  2026–2036</a:t>
            </a:r>
          </a:p>
        </p:txBody>
      </p:sp>
      <p:cxnSp>
        <p:nvCxnSpPr>
          <p:cNvPr id="78" name="Connector 77"/>
          <p:cNvCxnSpPr/>
          <p:nvPr/>
        </p:nvCxnSpPr>
        <p:spPr>
          <a:xfrm>
            <a:off x="619125" y="436170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619125" y="477741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619125" y="560882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619125" y="602452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619125" y="4361704"/>
            <a:ext cx="0" cy="1662824"/>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90550" y="436170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590550" y="477741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90550" y="519311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90550" y="5608822"/>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590550" y="602452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89" name="FMI Scale tick"/>
          <p:cNvSpPr txBox="1"/>
          <p:nvPr/>
        </p:nvSpPr>
        <p:spPr>
          <a:xfrm>
            <a:off x="138112" y="4295029"/>
            <a:ext cx="442912" cy="133350"/>
          </a:xfrm>
          <a:prstGeom prst="rect">
            <a:avLst/>
          </a:prstGeom>
          <a:noFill/>
        </p:spPr>
        <p:txBody>
          <a:bodyPr wrap="square" lIns="28575" tIns="9525" rIns="28575" bIns="9525" anchor="ctr">
            <a:spAutoFit/>
          </a:bodyPr>
          <a:lstStyle/>
          <a:p>
            <a:pPr algn="r"/>
            <a:r>
              <a:rPr sz="1100" b="0">
                <a:solidFill>
                  <a:srgbClr val="6C7A89"/>
                </a:solidFill>
                <a:latin typeface="Calibri"/>
              </a:rPr>
              <a:t>+1.1%</a:t>
            </a:r>
          </a:p>
        </p:txBody>
      </p:sp>
      <p:sp>
        <p:nvSpPr>
          <p:cNvPr id="90" name="FMI Scale tick"/>
          <p:cNvSpPr txBox="1"/>
          <p:nvPr/>
        </p:nvSpPr>
        <p:spPr>
          <a:xfrm>
            <a:off x="138112" y="4710735"/>
            <a:ext cx="442912" cy="133350"/>
          </a:xfrm>
          <a:prstGeom prst="rect">
            <a:avLst/>
          </a:prstGeom>
          <a:noFill/>
        </p:spPr>
        <p:txBody>
          <a:bodyPr wrap="square" lIns="28575" tIns="9525" rIns="28575" bIns="9525" anchor="ctr">
            <a:spAutoFit/>
          </a:bodyPr>
          <a:lstStyle/>
          <a:p>
            <a:pPr algn="r"/>
            <a:r>
              <a:rPr sz="1100" b="0">
                <a:solidFill>
                  <a:srgbClr val="6C7A89"/>
                </a:solidFill>
                <a:latin typeface="Calibri"/>
              </a:rPr>
              <a:t>+0.6%</a:t>
            </a:r>
          </a:p>
        </p:txBody>
      </p:sp>
      <p:sp>
        <p:nvSpPr>
          <p:cNvPr id="91" name="FMI Scale tick"/>
          <p:cNvSpPr txBox="1"/>
          <p:nvPr/>
        </p:nvSpPr>
        <p:spPr>
          <a:xfrm>
            <a:off x="219075" y="5126441"/>
            <a:ext cx="361950" cy="133350"/>
          </a:xfrm>
          <a:prstGeom prst="rect">
            <a:avLst/>
          </a:prstGeom>
          <a:noFill/>
        </p:spPr>
        <p:txBody>
          <a:bodyPr wrap="none" lIns="0" tIns="0" rIns="0" bIns="0" anchor="ctr">
            <a:spAutoFit/>
          </a:bodyPr>
          <a:lstStyle/>
          <a:p>
            <a:pPr algn="r"/>
            <a:r>
              <a:rPr sz="1100" b="1">
                <a:solidFill>
                  <a:srgbClr val="6C7A89"/>
                </a:solidFill>
                <a:latin typeface="Calibri"/>
              </a:rPr>
              <a:t>USA</a:t>
            </a:r>
          </a:p>
        </p:txBody>
      </p:sp>
      <p:sp>
        <p:nvSpPr>
          <p:cNvPr id="92" name="FMI Scale tick"/>
          <p:cNvSpPr txBox="1"/>
          <p:nvPr/>
        </p:nvSpPr>
        <p:spPr>
          <a:xfrm>
            <a:off x="164306" y="5542147"/>
            <a:ext cx="416719" cy="133350"/>
          </a:xfrm>
          <a:prstGeom prst="rect">
            <a:avLst/>
          </a:prstGeom>
          <a:noFill/>
        </p:spPr>
        <p:txBody>
          <a:bodyPr wrap="square" lIns="28575" tIns="9525" rIns="28575" bIns="9525" anchor="ctr">
            <a:spAutoFit/>
          </a:bodyPr>
          <a:lstStyle/>
          <a:p>
            <a:pPr algn="r"/>
            <a:r>
              <a:rPr sz="1100" b="0">
                <a:solidFill>
                  <a:srgbClr val="6C7A89"/>
                </a:solidFill>
                <a:latin typeface="Calibri"/>
              </a:rPr>
              <a:t>-0.6%</a:t>
            </a:r>
          </a:p>
        </p:txBody>
      </p:sp>
      <p:sp>
        <p:nvSpPr>
          <p:cNvPr id="93" name="FMI Scale tick"/>
          <p:cNvSpPr txBox="1"/>
          <p:nvPr/>
        </p:nvSpPr>
        <p:spPr>
          <a:xfrm>
            <a:off x="219075" y="5957853"/>
            <a:ext cx="361950" cy="133350"/>
          </a:xfrm>
          <a:prstGeom prst="rect">
            <a:avLst/>
          </a:prstGeom>
          <a:noFill/>
        </p:spPr>
        <p:txBody>
          <a:bodyPr wrap="square" lIns="28575" tIns="9525" rIns="28575" bIns="9525" anchor="ctr">
            <a:spAutoFit/>
          </a:bodyPr>
          <a:lstStyle/>
          <a:p>
            <a:pPr algn="r"/>
            <a:r>
              <a:rPr sz="1100" b="0">
                <a:solidFill>
                  <a:srgbClr val="6C7A89"/>
                </a:solidFill>
                <a:latin typeface="Calibri"/>
              </a:rPr>
              <a:t>-1.1%</a:t>
            </a:r>
          </a:p>
        </p:txBody>
      </p:sp>
      <p:cxnSp>
        <p:nvCxnSpPr>
          <p:cNvPr id="94" name="Connector 93"/>
          <p:cNvCxnSpPr/>
          <p:nvPr/>
        </p:nvCxnSpPr>
        <p:spPr>
          <a:xfrm>
            <a:off x="619125" y="519311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95" name="FMI Data Label"/>
          <p:cNvSpPr txBox="1"/>
          <p:nvPr/>
        </p:nvSpPr>
        <p:spPr>
          <a:xfrm>
            <a:off x="619125" y="5050241"/>
            <a:ext cx="7048500" cy="133350"/>
          </a:xfrm>
          <a:prstGeom prst="rect">
            <a:avLst/>
          </a:prstGeom>
          <a:noFill/>
        </p:spPr>
        <p:txBody>
          <a:bodyPr wrap="square" lIns="28575" tIns="9525" rIns="28575" bIns="9525">
            <a:spAutoFit/>
          </a:bodyPr>
          <a:lstStyle/>
          <a:p>
            <a:pPr algn="ctr"/>
            <a:r>
              <a:rPr sz="1100" b="1">
                <a:solidFill>
                  <a:srgbClr val="2E2E2E"/>
                </a:solidFill>
                <a:latin typeface="Calibri"/>
              </a:rPr>
              <a:t>+0.0%</a:t>
            </a:r>
          </a:p>
        </p:txBody>
      </p:sp>
      <p:sp>
        <p:nvSpPr>
          <p:cNvPr id="96" name="TextBox 95"/>
          <p:cNvSpPr txBox="1"/>
          <p:nvPr/>
        </p:nvSpPr>
        <p:spPr>
          <a:xfrm>
            <a:off x="619125" y="6242060"/>
            <a:ext cx="7048500" cy="247650"/>
          </a:xfrm>
          <a:prstGeom prst="rect">
            <a:avLst/>
          </a:prstGeom>
          <a:noFill/>
        </p:spPr>
        <p:txBody>
          <a:bodyPr wrap="square" lIns="28575" tIns="9525" rIns="28575" bIns="9525">
            <a:spAutoFit/>
          </a:bodyPr>
          <a:lstStyle/>
          <a:p>
            <a:pPr algn="ctr"/>
            <a:r>
              <a:rPr sz="1100" b="0">
                <a:solidFill>
                  <a:srgbClr val="2E2E2E"/>
                </a:solidFill>
                <a:latin typeface="Calibri"/>
              </a:rPr>
              <a:t>USA</a:t>
            </a:r>
          </a:p>
        </p:txBody>
      </p:sp>
      <p:sp>
        <p:nvSpPr>
          <p:cNvPr id="97" name="Rounded Rectangle 96"/>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8048625" y="1138620"/>
            <a:ext cx="3867150" cy="209550"/>
          </a:xfrm>
          <a:prstGeom prst="rect">
            <a:avLst/>
          </a:prstGeom>
          <a:noFill/>
        </p:spPr>
        <p:txBody>
          <a:bodyPr wrap="square" lIns="0" tIns="9525" rIns="19050" bIns="9525">
            <a:spAutoFit/>
          </a:bodyPr>
          <a:lstStyle/>
          <a:p>
            <a:pPr algn="l"/>
            <a:r>
              <a:rPr sz="1300" b="1">
                <a:solidFill>
                  <a:srgbClr val="0B2E4A"/>
                </a:solidFill>
                <a:latin typeface="Calibri"/>
              </a:rPr>
              <a:t>Key Takeaways</a:t>
            </a:r>
          </a:p>
        </p:txBody>
      </p:sp>
      <p:sp>
        <p:nvSpPr>
          <p:cNvPr id="99" name="Rectangle 98"/>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8048625" y="1462470"/>
            <a:ext cx="3867150" cy="5017715"/>
          </a:xfrm>
          <a:prstGeom prst="rect">
            <a:avLst/>
          </a:prstGeom>
          <a:noFill/>
        </p:spPr>
        <p:txBody>
          <a:bodyPr wrap="square" lIns="0" tIns="9525" rIns="19050" bIns="9525">
            <a:spAutoFit/>
          </a:bodyPr>
          <a:lstStyle/>
          <a:p>
            <a:pPr algn="l">
              <a:lnSpc>
                <a:spcPct val="110000"/>
              </a:lnSpc>
              <a:spcBef>
                <a:spcPts val="0"/>
              </a:spcBef>
              <a:spcAft>
                <a:spcPts val="500"/>
              </a:spcAft>
            </a:pPr>
            <a:r>
              <a:rPr sz="1150" b="0">
                <a:solidFill>
                  <a:srgbClr val="2E2E2E"/>
                </a:solidFill>
                <a:latin typeface="Calibri"/>
              </a:rPr>
              <a:t>Bar segment is expected to command the highest average price of US$ 1.83 per Unit in 2036.</a:t>
            </a:r>
          </a:p>
          <a:p>
            <a:pPr algn="l">
              <a:lnSpc>
                <a:spcPct val="110000"/>
              </a:lnSpc>
              <a:spcBef>
                <a:spcPts val="0"/>
              </a:spcBef>
              <a:spcAft>
                <a:spcPts val="500"/>
              </a:spcAft>
            </a:pPr>
            <a:r>
              <a:rPr sz="1150" b="0">
                <a:solidFill>
                  <a:srgbClr val="2E2E2E"/>
                </a:solidFill>
                <a:latin typeface="Calibri"/>
              </a:rPr>
              <a:t>Average selling price of prenatal vitamin supplements is estimated at US$ 0.23 per Unit in 2025 and is projected to increase to US$ 0.25 per Unit by 2036.</a:t>
            </a:r>
          </a:p>
        </p:txBody>
      </p:sp>
      <p:sp>
        <p:nvSpPr>
          <p:cNvPr id="101" name="TextBox 10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Summary, By Value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USA market value growth, incremental opportunity and the geographies driving it,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230.6</a:t>
            </a:r>
          </a:p>
        </p:txBody>
      </p:sp>
      <p:sp>
        <p:nvSpPr>
          <p:cNvPr id="12" name="Rounded Rectangle 11"/>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437.8</a:t>
            </a:r>
          </a:p>
        </p:txBody>
      </p:sp>
      <p:sp>
        <p:nvSpPr>
          <p:cNvPr id="13" name="Rounded Rectangle 12"/>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4.8%</a:t>
            </a:r>
          </a:p>
        </p:txBody>
      </p:sp>
      <p:sp>
        <p:nvSpPr>
          <p:cNvPr id="14" name="Rounded Rectangle 13"/>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6.6%</a:t>
            </a:r>
          </a:p>
        </p:txBody>
      </p:sp>
      <p:sp>
        <p:nvSpPr>
          <p:cNvPr id="15" name="Rounded Rectangle 14"/>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8125" y="1685037"/>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CAGR (2021–2036)</a:t>
            </a:r>
          </a:p>
        </p:txBody>
      </p:sp>
      <p:graphicFrame>
        <p:nvGraphicFramePr>
          <p:cNvPr id="17" name="Chart 16"/>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xmlns:r="http://schemas.openxmlformats.org/officeDocument/2006/relationships" r:id="rId4"/>
          </a:graphicData>
        </a:graphic>
      </p:graphicFrame>
      <p:sp>
        <p:nvSpPr>
          <p:cNvPr id="18" name="Rounded Rectangle 17"/>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38125" y="4094525"/>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Incremental Market Addition (US$ Mn)</a:t>
            </a:r>
          </a:p>
        </p:txBody>
      </p:sp>
      <p:graphicFrame>
        <p:nvGraphicFramePr>
          <p:cNvPr id="20" name="Chart 19"/>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xmlns:r="http://schemas.openxmlformats.org/officeDocument/2006/relationships" r:id="rId5"/>
          </a:graphicData>
        </a:graphic>
      </p:graphicFrame>
      <p:sp>
        <p:nvSpPr>
          <p:cNvPr id="21" name="Rounded Rectangle 20"/>
          <p:cNvSpPr/>
          <p:nvPr/>
        </p:nvSpPr>
        <p:spPr>
          <a:xfrm>
            <a:off x="7915275" y="1627887"/>
            <a:ext cx="4133850" cy="3046469"/>
          </a:xfrm>
          <a:prstGeom prst="roundRect">
            <a:avLst>
              <a:gd name="adj" fmla="val 25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8625" y="1713612"/>
            <a:ext cx="3867150" cy="209550"/>
          </a:xfrm>
          <a:prstGeom prst="rect">
            <a:avLst/>
          </a:prstGeom>
          <a:noFill/>
        </p:spPr>
        <p:txBody>
          <a:bodyPr wrap="square" lIns="0" tIns="9525" rIns="19050" bIns="9525">
            <a:spAutoFit/>
          </a:bodyPr>
          <a:lstStyle/>
          <a:p>
            <a:pPr algn="l"/>
            <a:r>
              <a:rPr sz="1300" b="1">
                <a:solidFill>
                  <a:srgbClr val="0B2E4A"/>
                </a:solidFill>
                <a:latin typeface="Calibri"/>
              </a:rPr>
              <a:t>Key Insights</a:t>
            </a:r>
          </a:p>
        </p:txBody>
      </p:sp>
      <p:sp>
        <p:nvSpPr>
          <p:cNvPr id="23" name="Rectangle 22"/>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48625" y="2037462"/>
            <a:ext cx="3867150" cy="2560694"/>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2E2E2E"/>
                </a:solidFill>
                <a:latin typeface="Calibri"/>
              </a:rPr>
              <a:t>Prenatal vitamin supplements market value in USA is expected to increase 2.0X between 2025 and 2036. In 2025, the prenatal vitamin supplements market in USA was valued at US$ 219.1 Mn and is estimated to account for US$ 230.6 Mn by the end of 2026, reflecting a Y-o-Y growth rate of 5.3%.</a:t>
            </a:r>
          </a:p>
          <a:p>
            <a:pPr algn="l">
              <a:lnSpc>
                <a:spcPct val="110000"/>
              </a:lnSpc>
              <a:spcBef>
                <a:spcPts val="0"/>
              </a:spcBef>
              <a:spcAft>
                <a:spcPts val="500"/>
              </a:spcAft>
            </a:pPr>
            <a:r>
              <a:rPr sz="1100" b="0">
                <a:solidFill>
                  <a:srgbClr val="2E2E2E"/>
                </a:solidFill>
                <a:latin typeface="Calibri"/>
              </a:rPr>
              <a:t>The market in USA is expected to account for US$ 437.8 Mn by 2036 at a CAGR of 6.6% over the forecast period. USA is expected to create an incremental opportunity of US$ 218.7 Mn for the overall prenatal vitamin supplements market from 2025 to 2036.</a:t>
            </a:r>
          </a:p>
          <a:p>
            <a:pPr algn="l">
              <a:lnSpc>
                <a:spcPct val="110000"/>
              </a:lnSpc>
              <a:spcBef>
                <a:spcPts val="0"/>
              </a:spcBef>
              <a:spcAft>
                <a:spcPts val="500"/>
              </a:spcAft>
            </a:pPr>
            <a:r>
              <a:rPr sz="1100" b="0">
                <a:solidFill>
                  <a:srgbClr val="2E2E2E"/>
                </a:solidFill>
                <a:latin typeface="Calibri"/>
              </a:rPr>
              <a:t>Absolute $ value for 2026 is estimated to be US$ 11.5 Mn.</a:t>
            </a:r>
          </a:p>
        </p:txBody>
      </p:sp>
      <p:sp>
        <p:nvSpPr>
          <p:cNvPr id="25" name="Rounded Rectangle 24"/>
          <p:cNvSpPr/>
          <p:nvPr/>
        </p:nvSpPr>
        <p:spPr>
          <a:xfrm>
            <a:off x="7915275" y="4729117"/>
            <a:ext cx="4133850" cy="1827269"/>
          </a:xfrm>
          <a:prstGeom prst="roundRect">
            <a:avLst>
              <a:gd name="adj" fmla="val 41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048625" y="4814842"/>
            <a:ext cx="3867150" cy="209550"/>
          </a:xfrm>
          <a:prstGeom prst="rect">
            <a:avLst/>
          </a:prstGeom>
          <a:noFill/>
        </p:spPr>
        <p:txBody>
          <a:bodyPr wrap="square" lIns="0" tIns="9525" rIns="19050" bIns="9525">
            <a:spAutoFit/>
          </a:bodyPr>
          <a:lstStyle/>
          <a:p>
            <a:pPr algn="l"/>
            <a:r>
              <a:rPr sz="1300" b="1">
                <a:solidFill>
                  <a:srgbClr val="0B2E4A"/>
                </a:solidFill>
                <a:latin typeface="Calibri"/>
              </a:rPr>
              <a:t>Growth Drivers</a:t>
            </a:r>
          </a:p>
        </p:txBody>
      </p:sp>
      <p:sp>
        <p:nvSpPr>
          <p:cNvPr id="27" name="Rectangle 26"/>
          <p:cNvSpPr/>
          <p:nvPr/>
        </p:nvSpPr>
        <p:spPr>
          <a:xfrm>
            <a:off x="8048625" y="505296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48625" y="5138692"/>
            <a:ext cx="3867150" cy="1341494"/>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'USA' leads regional growth at 6.6% CAGR.</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concentrates in 'Tablet' within Product Format.</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Product innovation and premiumisation lifting value.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Expanding end-use applications and access.</a:t>
            </a:r>
          </a:p>
        </p:txBody>
      </p:sp>
      <p:sp>
        <p:nvSpPr>
          <p:cNvPr id="29" name="TextBox 2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Volume &amp; Value Analysis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volume and value growth of the USA market and the incremental $ opportunity it creates,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4695825"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45053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Market, 2021–2025 (Historical)</a:t>
            </a:r>
          </a:p>
        </p:txBody>
      </p:sp>
      <p:graphicFrame>
        <p:nvGraphicFramePr>
          <p:cNvPr id="13" name="Chart 12"/>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xmlns:r="http://schemas.openxmlformats.org/officeDocument/2006/relationships" r:id="rId4"/>
          </a:graphicData>
        </a:graphic>
      </p:graphicFrame>
      <p:sp>
        <p:nvSpPr>
          <p:cNvPr id="14" name="Rounded Rectangle 13"/>
          <p:cNvSpPr/>
          <p:nvPr/>
        </p:nvSpPr>
        <p:spPr>
          <a:xfrm>
            <a:off x="4991100" y="981075"/>
            <a:ext cx="7048500"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86350" y="1038225"/>
            <a:ext cx="6858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Market, 2026–2036 (Forecast)</a:t>
            </a:r>
          </a:p>
        </p:txBody>
      </p:sp>
      <p:graphicFrame>
        <p:nvGraphicFramePr>
          <p:cNvPr id="16" name="Chart 15"/>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xmlns:r="http://schemas.openxmlformats.org/officeDocument/2006/relationships" r:id="rId5"/>
          </a:graphicData>
        </a:graphic>
      </p:graphicFrame>
      <p:sp>
        <p:nvSpPr>
          <p:cNvPr id="17" name="Rounded Rectangle 16"/>
          <p:cNvSpPr/>
          <p:nvPr/>
        </p:nvSpPr>
        <p:spPr>
          <a:xfrm>
            <a:off x="142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4.8%</a:t>
            </a:r>
          </a:p>
        </p:txBody>
      </p:sp>
      <p:sp>
        <p:nvSpPr>
          <p:cNvPr id="18" name="Rounded Rectangle 17"/>
          <p:cNvSpPr/>
          <p:nvPr/>
        </p:nvSpPr>
        <p:spPr>
          <a:xfrm>
            <a:off x="2809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6.6%</a:t>
            </a:r>
          </a:p>
        </p:txBody>
      </p:sp>
      <p:sp>
        <p:nvSpPr>
          <p:cNvPr id="19" name="Rounded Rectangle 18"/>
          <p:cNvSpPr/>
          <p:nvPr/>
        </p:nvSpPr>
        <p:spPr>
          <a:xfrm>
            <a:off x="54768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80.9 US$ Mn</a:t>
            </a:r>
          </a:p>
        </p:txBody>
      </p:sp>
      <p:sp>
        <p:nvSpPr>
          <p:cNvPr id="20" name="Rounded Rectangle 19"/>
          <p:cNvSpPr/>
          <p:nvPr/>
        </p:nvSpPr>
        <p:spPr>
          <a:xfrm>
            <a:off x="88296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207.2 US$ Mn</a:t>
            </a:r>
          </a:p>
        </p:txBody>
      </p:sp>
      <p:sp>
        <p:nvSpPr>
          <p:cNvPr id="21" name="Rounded Rectangle 20"/>
          <p:cNvSpPr/>
          <p:nvPr/>
        </p:nvSpPr>
        <p:spPr>
          <a:xfrm>
            <a:off x="142875" y="4457700"/>
            <a:ext cx="11906250" cy="2152650"/>
          </a:xfrm>
          <a:prstGeom prst="roundRect">
            <a:avLst>
              <a:gd name="adj" fmla="val 35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6225" y="4543425"/>
            <a:ext cx="11639550" cy="209550"/>
          </a:xfrm>
          <a:prstGeom prst="rect">
            <a:avLst/>
          </a:prstGeom>
          <a:noFill/>
        </p:spPr>
        <p:txBody>
          <a:bodyPr wrap="square" lIns="0" tIns="9525" rIns="19050" bIns="9525">
            <a:spAutoFit/>
          </a:bodyPr>
          <a:lstStyle/>
          <a:p>
            <a:pPr algn="l"/>
            <a:r>
              <a:rPr sz="1300" b="1">
                <a:solidFill>
                  <a:srgbClr val="0B2E4A"/>
                </a:solidFill>
                <a:latin typeface="Calibri"/>
              </a:rPr>
              <a:t>USA Volume &amp; Value Analysis</a:t>
            </a:r>
          </a:p>
        </p:txBody>
      </p:sp>
      <p:sp>
        <p:nvSpPr>
          <p:cNvPr id="23" name="Rectangle 22"/>
          <p:cNvSpPr/>
          <p:nvPr/>
        </p:nvSpPr>
        <p:spPr>
          <a:xfrm>
            <a:off x="276225" y="47815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76225" y="4867275"/>
            <a:ext cx="11639550" cy="1666875"/>
          </a:xfrm>
          <a:prstGeom prst="rect">
            <a:avLst/>
          </a:prstGeom>
          <a:noFill/>
        </p:spPr>
        <p:txBody>
          <a:bodyPr wrap="square" lIns="0" tIns="9525" rIns="19050" bIns="9525">
            <a:spAutoFit/>
          </a:bodyPr>
          <a:lstStyle/>
          <a:p>
            <a:pPr algn="l">
              <a:lnSpc>
                <a:spcPct val="110000"/>
              </a:lnSpc>
              <a:spcBef>
                <a:spcPts val="0"/>
              </a:spcBef>
              <a:spcAft>
                <a:spcPts val="500"/>
              </a:spcAft>
            </a:pPr>
            <a:r>
              <a:rPr sz="1150" b="0">
                <a:solidFill>
                  <a:srgbClr val="2E2E2E"/>
                </a:solidFill>
                <a:latin typeface="Calibri"/>
              </a:rPr>
              <a:t>Prenatal vitamin supplements market value in USA is expected to increase 2.0X between 2025 and 2036. In 2025, the prenatal vitamin supplements market in USA was valued at US$ 219.1 Mn and is estimated to account for US$ 230.6 Mn by the end of 2026, reflecting a Y-o-Y growth rate of 5.3%. The market in USA is expected to account for US$ 437.8 Mn by 2036 at a CAGR of 6.6% over the forecast period.</a:t>
            </a:r>
          </a:p>
          <a:p>
            <a:pPr algn="l">
              <a:lnSpc>
                <a:spcPct val="110000"/>
              </a:lnSpc>
              <a:spcBef>
                <a:spcPts val="0"/>
              </a:spcBef>
              <a:spcAft>
                <a:spcPts val="500"/>
              </a:spcAft>
            </a:pPr>
            <a:r>
              <a:rPr sz="1150" b="0">
                <a:solidFill>
                  <a:srgbClr val="2E2E2E"/>
                </a:solidFill>
                <a:latin typeface="Calibri"/>
              </a:rPr>
              <a:t>USA is expected to create an incremental opportunity of US$ 218.7 Mn for the overall prenatal vitamin supplements market from 2025 to 2036. Absolute $ value for 2026 is estimated to be US$ 11.5 Mn. USA prenatal vitamin supplements market is projected to register 1.8X increase in volume by the end of forecast period, 2036.</a:t>
            </a:r>
          </a:p>
          <a:p>
            <a:pPr algn="l">
              <a:lnSpc>
                <a:spcPct val="110000"/>
              </a:lnSpc>
              <a:spcBef>
                <a:spcPts val="0"/>
              </a:spcBef>
              <a:spcAft>
                <a:spcPts val="500"/>
              </a:spcAft>
            </a:pPr>
            <a:r>
              <a:rPr sz="1150" b="0">
                <a:solidFill>
                  <a:srgbClr val="2E2E2E"/>
                </a:solidFill>
                <a:latin typeface="Calibri"/>
              </a:rPr>
              <a:t>USA prenatal vitamin supplements market volume stood at 952.6 Mn Units in 2025 and is expected to reach 1,761 Mn Units by 2036 end, at a CAGR of 5.8%. Value is projected to grow faster than volume over the forecast period, owing to an increase in average selling price.</a:t>
            </a:r>
          </a:p>
        </p:txBody>
      </p:sp>
      <p:sp>
        <p:nvSpPr>
          <p:cNvPr id="25" name="TextBox 24"/>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Summary Country Indices (Value)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64411"/>
            <a:ext cx="37433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4" name="Table 13"/>
          <p:cNvGraphicFramePr>
            <a:graphicFrameLocks noGrp="1"/>
          </p:cNvGraphicFramePr>
          <p:nvPr/>
        </p:nvGraphicFramePr>
        <p:xfrm>
          <a:off x="152400" y="3565964"/>
          <a:ext cx="3914776" cy="2132069"/>
        </p:xfrm>
        <a:graphic>
          <a:graphicData uri="http://schemas.openxmlformats.org/drawingml/2006/table">
            <a:tbl>
              <a:tblPr>
                <a:tableStyleId>{5C22544A-7EE6-4342-B048-85BDC9FD1C3A}</a:tableStyleId>
              </a:tblPr>
              <a:tblGrid>
                <a:gridCol w="608071">
                  <a:extLst>
                    <a:ext uri="{9D8B030D-6E8A-4147-A177-3AD203B41FA5}">
                      <a16:colId xmlns:a16="http://schemas.microsoft.com/office/drawing/2014/main" val="20000"/>
                    </a:ext>
                  </a:extLst>
                </a:gridCol>
                <a:gridCol w="1102235">
                  <a:extLst>
                    <a:ext uri="{9D8B030D-6E8A-4147-A177-3AD203B41FA5}">
                      <a16:colId xmlns:a16="http://schemas.microsoft.com/office/drawing/2014/main" val="20001"/>
                    </a:ext>
                  </a:extLst>
                </a:gridCol>
                <a:gridCol w="1102235">
                  <a:extLst>
                    <a:ext uri="{9D8B030D-6E8A-4147-A177-3AD203B41FA5}">
                      <a16:colId xmlns:a16="http://schemas.microsoft.com/office/drawing/2014/main" val="20002"/>
                    </a:ext>
                  </a:extLst>
                </a:gridCol>
                <a:gridCol w="1102235">
                  <a:extLst>
                    <a:ext uri="{9D8B030D-6E8A-4147-A177-3AD203B41FA5}">
                      <a16:colId xmlns:a16="http://schemas.microsoft.com/office/drawing/2014/main" val="20003"/>
                    </a:ext>
                  </a:extLst>
                </a:gridCol>
              </a:tblGrid>
              <a:tr h="215265">
                <a:tc>
                  <a:txBody>
                    <a:bodyPr/>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a:lstStyle/>
                    <a:p>
                      <a:pPr algn="l"/>
                      <a:r>
                        <a:rPr sz="1100" b="1">
                          <a:solidFill>
                            <a:srgbClr val="0B2E4A"/>
                          </a:solidFill>
                          <a:latin typeface="Calibri"/>
                        </a:rPr>
                        <a:t>CAGR Index</a:t>
                      </a:r>
                      <a:endParaRPr sz="1100"/>
                    </a:p>
                  </a:txBody>
                  <a:tcPr marL="47625" marR="38100" marT="19050" marB="19050" anchor="ctr">
                    <a:solidFill>
                      <a:srgbClr val="E0E8EF"/>
                    </a:solidFill>
                  </a:tcPr>
                </a:tc>
                <a:tc>
                  <a:txBody>
                    <a:bodyPr/>
                    <a:lstStyle/>
                    <a:p>
                      <a:pPr algn="l"/>
                      <a:r>
                        <a:rPr sz="1100" b="1">
                          <a:solidFill>
                            <a:srgbClr val="0B2E4A"/>
                          </a:solidFill>
                          <a:latin typeface="Calibri"/>
                        </a:rPr>
                        <a:t>F-CAGR</a:t>
                      </a:r>
                      <a:endParaRPr sz="1100"/>
                    </a:p>
                  </a:txBody>
                  <a:tcPr marL="47625" marR="38100" marT="19050" marB="19050" anchor="ctr">
                    <a:solidFill>
                      <a:srgbClr val="E0E8EF"/>
                    </a:solidFill>
                  </a:tcPr>
                </a:tc>
                <a:tc>
                  <a:txBody>
                    <a:bodyPr/>
                    <a:lstStyle/>
                    <a:p>
                      <a:pPr algn="l"/>
                      <a:r>
                        <a:rPr sz="1100" b="1">
                          <a:solidFill>
                            <a:srgbClr val="0B2E4A"/>
                          </a:solidFill>
                          <a:latin typeface="Calibri"/>
                        </a:rPr>
                        <a:t>$ Opp (US$ Mn)</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1916804">
                <a:tc>
                  <a:txBody>
                    <a:bodyPr/>
                    <a:lstStyle/>
                    <a:p>
                      <a:pPr algn="l"/>
                      <a:r>
                        <a:rPr sz="1100" b="1">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100</a:t>
                      </a:r>
                      <a:endParaRPr sz="1100"/>
                    </a:p>
                  </a:txBody>
                  <a:tcPr marL="47625" marR="38100" marT="19050" marB="19050" anchor="ctr">
                    <a:solidFill>
                      <a:srgbClr val="FFFFFF"/>
                    </a:solidFill>
                  </a:tcPr>
                </a:tc>
                <a:tc>
                  <a:txBody>
                    <a:bodyPr/>
                    <a:lstStyle/>
                    <a:p>
                      <a:pPr algn="l"/>
                      <a:r>
                        <a:rPr sz="1100" b="0">
                          <a:solidFill>
                            <a:srgbClr val="2E2E2E"/>
                          </a:solidFill>
                          <a:latin typeface="Calibri"/>
                        </a:rPr>
                        <a:t>6.6%</a:t>
                      </a:r>
                      <a:endParaRPr sz="1100"/>
                    </a:p>
                  </a:txBody>
                  <a:tcPr marL="47625" marR="38100" marT="19050" marB="19050" anchor="ctr">
                    <a:solidFill>
                      <a:srgbClr val="FFFFFF"/>
                    </a:solidFill>
                  </a:tcPr>
                </a:tc>
                <a:tc>
                  <a:txBody>
                    <a:bodyPr/>
                    <a:lstStyle/>
                    <a:p>
                      <a:pPr algn="l"/>
                      <a:r>
                        <a:rPr sz="1100" b="0">
                          <a:solidFill>
                            <a:srgbClr val="2E2E2E"/>
                          </a:solidFill>
                          <a:latin typeface="Calibri"/>
                        </a:rPr>
                        <a:t>207.2</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bl>
          </a:graphicData>
        </a:graphic>
      </p:graphicFrame>
      <p:sp>
        <p:nvSpPr>
          <p:cNvPr id="15" name="TextBox 14"/>
          <p:cNvSpPr txBox="1"/>
          <p:nvPr/>
        </p:nvSpPr>
        <p:spPr>
          <a:xfrm>
            <a:off x="219075" y="5707558"/>
            <a:ext cx="3781425"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10050" y="1064411"/>
            <a:ext cx="37433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3743325" cy="4585598"/>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USA</a:t>
            </a:r>
          </a:p>
          <a:p>
            <a:pPr algn="ctr"/>
            <a:r>
              <a:rPr sz="1100" b="0">
                <a:solidFill>
                  <a:srgbClr val="FFFFFF"/>
                </a:solidFill>
                <a:latin typeface="Calibri"/>
              </a:rPr>
              <a:t>438</a:t>
            </a:r>
          </a:p>
        </p:txBody>
      </p:sp>
      <p:sp>
        <p:nvSpPr>
          <p:cNvPr id="19" name="Rounded Rectangle 18"/>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81975" y="1064411"/>
            <a:ext cx="37433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Top 10 Countries By Absolute Index</a:t>
            </a:r>
          </a:p>
        </p:txBody>
      </p:sp>
      <p:graphicFrame>
        <p:nvGraphicFramePr>
          <p:cNvPr id="21" name="Chart 20"/>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xmlns:r="http://schemas.openxmlformats.org/officeDocument/2006/relationships" r:id="rId5"/>
          </a:graphicData>
        </a:graphic>
      </p:graphicFrame>
      <p:sp>
        <p:nvSpPr>
          <p:cNvPr id="22" name="Rounded Rectangle 21"/>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3" name="Table 22"/>
          <p:cNvGraphicFramePr>
            <a:graphicFrameLocks noGrp="1"/>
          </p:cNvGraphicFramePr>
          <p:nvPr/>
        </p:nvGraphicFramePr>
        <p:xfrm>
          <a:off x="8096250" y="3547710"/>
          <a:ext cx="3914776" cy="2159449"/>
        </p:xfrm>
        <a:graphic>
          <a:graphicData uri="http://schemas.openxmlformats.org/drawingml/2006/table">
            <a:tbl>
              <a:tblPr>
                <a:tableStyleId>{5C22544A-7EE6-4342-B048-85BDC9FD1C3A}</a:tableStyleId>
              </a:tblPr>
              <a:tblGrid>
                <a:gridCol w="608071">
                  <a:extLst>
                    <a:ext uri="{9D8B030D-6E8A-4147-A177-3AD203B41FA5}">
                      <a16:colId xmlns:a16="http://schemas.microsoft.com/office/drawing/2014/main" val="20000"/>
                    </a:ext>
                  </a:extLst>
                </a:gridCol>
                <a:gridCol w="1102235">
                  <a:extLst>
                    <a:ext uri="{9D8B030D-6E8A-4147-A177-3AD203B41FA5}">
                      <a16:colId xmlns:a16="http://schemas.microsoft.com/office/drawing/2014/main" val="20001"/>
                    </a:ext>
                  </a:extLst>
                </a:gridCol>
                <a:gridCol w="1102235">
                  <a:extLst>
                    <a:ext uri="{9D8B030D-6E8A-4147-A177-3AD203B41FA5}">
                      <a16:colId xmlns:a16="http://schemas.microsoft.com/office/drawing/2014/main" val="20002"/>
                    </a:ext>
                  </a:extLst>
                </a:gridCol>
                <a:gridCol w="1102235">
                  <a:extLst>
                    <a:ext uri="{9D8B030D-6E8A-4147-A177-3AD203B41FA5}">
                      <a16:colId xmlns:a16="http://schemas.microsoft.com/office/drawing/2014/main" val="20003"/>
                    </a:ext>
                  </a:extLst>
                </a:gridCol>
              </a:tblGrid>
              <a:tr h="215265">
                <a:tc>
                  <a:txBody>
                    <a:bodyPr/>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a:lstStyle/>
                    <a:p>
                      <a:pPr algn="l"/>
                      <a:r>
                        <a:rPr sz="1100" b="1">
                          <a:solidFill>
                            <a:srgbClr val="0B2E4A"/>
                          </a:solidFill>
                          <a:latin typeface="Calibri"/>
                        </a:rPr>
                        <a:t>Absolute Index</a:t>
                      </a:r>
                      <a:endParaRPr sz="1100"/>
                    </a:p>
                  </a:txBody>
                  <a:tcPr marL="47625" marR="38100" marT="19050" marB="19050" anchor="ctr">
                    <a:solidFill>
                      <a:srgbClr val="E0E8EF"/>
                    </a:solidFill>
                  </a:tcPr>
                </a:tc>
                <a:tc>
                  <a:txBody>
                    <a:bodyPr/>
                    <a:lstStyle/>
                    <a:p>
                      <a:pPr algn="l"/>
                      <a:r>
                        <a:rPr sz="1100" b="1">
                          <a:solidFill>
                            <a:srgbClr val="0B2E4A"/>
                          </a:solidFill>
                          <a:latin typeface="Calibri"/>
                        </a:rPr>
                        <a:t>F-CAGR</a:t>
                      </a:r>
                      <a:endParaRPr sz="1100"/>
                    </a:p>
                  </a:txBody>
                  <a:tcPr marL="47625" marR="38100" marT="19050" marB="19050" anchor="ctr">
                    <a:solidFill>
                      <a:srgbClr val="E0E8EF"/>
                    </a:solidFill>
                  </a:tcPr>
                </a:tc>
                <a:tc>
                  <a:txBody>
                    <a:bodyPr/>
                    <a:lstStyle/>
                    <a:p>
                      <a:pPr algn="l"/>
                      <a:r>
                        <a:rPr sz="1100" b="1">
                          <a:solidFill>
                            <a:srgbClr val="0B2E4A"/>
                          </a:solidFill>
                          <a:latin typeface="Calibri"/>
                        </a:rPr>
                        <a:t>$ Opp (US$ Mn)</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1944184">
                <a:tc>
                  <a:txBody>
                    <a:bodyPr/>
                    <a:lstStyle/>
                    <a:p>
                      <a:pPr algn="l"/>
                      <a:r>
                        <a:rPr sz="1100" b="1">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100</a:t>
                      </a:r>
                      <a:endParaRPr sz="1100"/>
                    </a:p>
                  </a:txBody>
                  <a:tcPr marL="47625" marR="38100" marT="19050" marB="19050" anchor="ctr">
                    <a:solidFill>
                      <a:srgbClr val="FFFFFF"/>
                    </a:solidFill>
                  </a:tcPr>
                </a:tc>
                <a:tc>
                  <a:txBody>
                    <a:bodyPr/>
                    <a:lstStyle/>
                    <a:p>
                      <a:pPr algn="l"/>
                      <a:r>
                        <a:rPr sz="1100" b="0">
                          <a:solidFill>
                            <a:srgbClr val="2E2E2E"/>
                          </a:solidFill>
                          <a:latin typeface="Calibri"/>
                        </a:rPr>
                        <a:t>6.6%</a:t>
                      </a:r>
                      <a:endParaRPr sz="1100"/>
                    </a:p>
                  </a:txBody>
                  <a:tcPr marL="47625" marR="38100" marT="19050" marB="19050" anchor="ctr">
                    <a:solidFill>
                      <a:srgbClr val="FFFFFF"/>
                    </a:solidFill>
                  </a:tcPr>
                </a:tc>
                <a:tc>
                  <a:txBody>
                    <a:bodyPr/>
                    <a:lstStyle/>
                    <a:p>
                      <a:pPr algn="l"/>
                      <a:r>
                        <a:rPr sz="1100" b="0">
                          <a:solidFill>
                            <a:srgbClr val="2E2E2E"/>
                          </a:solidFill>
                          <a:latin typeface="Calibri"/>
                        </a:rPr>
                        <a:t>207.2</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bl>
          </a:graphicData>
        </a:graphic>
      </p:graphicFrame>
      <p:sp>
        <p:nvSpPr>
          <p:cNvPr id="24" name="TextBox 23"/>
          <p:cNvSpPr txBox="1"/>
          <p:nvPr/>
        </p:nvSpPr>
        <p:spPr>
          <a:xfrm>
            <a:off x="8162925" y="5716684"/>
            <a:ext cx="3781425"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25" name="Rounded Rectangle 24"/>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USA posts the highest CAGR Index (100), growing at 6.6% against the USA benchmark, while USA offers the largest absolute opportunity 207.2 US$ Mn of incremental market between 2026 and 2036 (100% of the USA increment).</a:t>
            </a:r>
          </a:p>
        </p:txBody>
      </p:sp>
      <p:sp>
        <p:nvSpPr>
          <p:cNvPr id="26" name="TextBox 25"/>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628775"/>
          </a:xfrm>
          <a:prstGeom prst="roundRect">
            <a:avLst>
              <a:gd name="adj" fmla="val 46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6225" y="1066800"/>
            <a:ext cx="11639550" cy="209550"/>
          </a:xfrm>
          <a:prstGeom prst="rect">
            <a:avLst/>
          </a:prstGeom>
          <a:noFill/>
        </p:spPr>
        <p:txBody>
          <a:bodyPr wrap="square" lIns="0" tIns="9525" rIns="19050"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6225" y="1390650"/>
            <a:ext cx="11639550" cy="1143000"/>
          </a:xfrm>
          <a:prstGeom prst="rect">
            <a:avLst/>
          </a:prstGeom>
          <a:noFill/>
        </p:spPr>
        <p:txBody>
          <a:bodyPr wrap="square" lIns="0" tIns="9525" rIns="19050" bIns="9525">
            <a:spAutoFit/>
          </a:bodyPr>
          <a:lstStyle/>
          <a:p>
            <a:pPr algn="l">
              <a:lnSpc>
                <a:spcPct val="110000"/>
              </a:lnSpc>
              <a:spcBef>
                <a:spcPts val="0"/>
              </a:spcBef>
              <a:spcAft>
                <a:spcPts val="500"/>
              </a:spcAft>
            </a:pPr>
            <a:r>
              <a:rPr sz="1150" b="0">
                <a:solidFill>
                  <a:srgbClr val="2E2E2E"/>
                </a:solidFill>
                <a:latin typeface="Calibri"/>
              </a:rPr>
              <a:t>Global prenatal vitamin supplements market is expected to witness 2.0X increase in revenue by 2036 end. Global prenatal vitamin supplements market accounted for US$ 219.1 Mn in 2025, which is expected to increase to US$ 437.8 Mn in 2036 at a CAGR of 6.6%.</a:t>
            </a:r>
          </a:p>
          <a:p>
            <a:pPr algn="l">
              <a:lnSpc>
                <a:spcPct val="110000"/>
              </a:lnSpc>
              <a:spcBef>
                <a:spcPts val="0"/>
              </a:spcBef>
              <a:spcAft>
                <a:spcPts val="500"/>
              </a:spcAft>
            </a:pPr>
            <a:r>
              <a:rPr sz="1150" b="0">
                <a:solidFill>
                  <a:srgbClr val="2E2E2E"/>
                </a:solidFill>
                <a:latin typeface="Calibri"/>
              </a:rPr>
              <a:t>The global prenatal vitamin supplements market has been analysed on the basis of product format, product type and sales channel across the globe.</a:t>
            </a:r>
          </a:p>
        </p:txBody>
      </p:sp>
      <p:sp>
        <p:nvSpPr>
          <p:cNvPr id="14" name="Rounded Rectangle 13"/>
          <p:cNvSpPr/>
          <p:nvPr/>
        </p:nvSpPr>
        <p:spPr>
          <a:xfrm>
            <a:off x="142875" y="2743200"/>
            <a:ext cx="1190625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2828925"/>
            <a:ext cx="11639550" cy="209550"/>
          </a:xfrm>
          <a:prstGeom prst="rect">
            <a:avLst/>
          </a:prstGeom>
          <a:noFill/>
        </p:spPr>
        <p:txBody>
          <a:bodyPr wrap="square" lIns="0" tIns="9525" rIns="19050" bIns="9525">
            <a:spAutoFit/>
          </a:bodyPr>
          <a:lstStyle/>
          <a:p>
            <a:pPr algn="l"/>
            <a:r>
              <a:rPr sz="1300" b="1">
                <a:solidFill>
                  <a:srgbClr val="0B2E4A"/>
                </a:solidFill>
                <a:latin typeface="Calibri"/>
              </a:rPr>
              <a:t>Competitive Landscape</a:t>
            </a:r>
          </a:p>
        </p:txBody>
      </p:sp>
      <p:sp>
        <p:nvSpPr>
          <p:cNvPr id="16" name="Rectangle 15"/>
          <p:cNvSpPr/>
          <p:nvPr/>
        </p:nvSpPr>
        <p:spPr>
          <a:xfrm>
            <a:off x="276225" y="30670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3152775"/>
            <a:ext cx="11639550" cy="120967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The market is moderately fragmented: the leading product format category 'Tablet' holds 27.2% of 2036 value.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spans 1 country and 3 segmentation lenses (7 product format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USA is the largest country market at 100.0% of 2036 value.</a:t>
            </a:r>
          </a:p>
        </p:txBody>
      </p:sp>
      <p:sp>
        <p:nvSpPr>
          <p:cNvPr id="18" name="Rounded Rectangle 17"/>
          <p:cNvSpPr/>
          <p:nvPr/>
        </p:nvSpPr>
        <p:spPr>
          <a:xfrm>
            <a:off x="142875" y="4572000"/>
            <a:ext cx="39433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6225" y="4657725"/>
            <a:ext cx="3676650" cy="209550"/>
          </a:xfrm>
          <a:prstGeom prst="rect">
            <a:avLst/>
          </a:prstGeom>
          <a:noFill/>
        </p:spPr>
        <p:txBody>
          <a:bodyPr wrap="square" lIns="0" tIns="9525" rIns="19050" bIns="9525">
            <a:spAutoFit/>
          </a:bodyPr>
          <a:lstStyle/>
          <a:p>
            <a:pPr algn="l"/>
            <a:r>
              <a:rPr sz="1300" b="1">
                <a:solidFill>
                  <a:srgbClr val="0B2E4A"/>
                </a:solidFill>
                <a:latin typeface="Calibri"/>
              </a:rPr>
              <a:t>Drivers</a:t>
            </a:r>
          </a:p>
        </p:txBody>
      </p:sp>
      <p:sp>
        <p:nvSpPr>
          <p:cNvPr id="20" name="Rectangle 19"/>
          <p:cNvSpPr/>
          <p:nvPr/>
        </p:nvSpPr>
        <p:spPr>
          <a:xfrm>
            <a:off x="276225" y="4895850"/>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6225" y="4981575"/>
            <a:ext cx="3676650" cy="157162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Accelerating uptake of 'Powder' (13.6% CAGR).</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Fast-growing demand in USA (6.6%).</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Momentum in Direct-to-Consumer / Brand Website within sales channel (11.4%).</a:t>
            </a:r>
          </a:p>
        </p:txBody>
      </p:sp>
      <p:sp>
        <p:nvSpPr>
          <p:cNvPr id="22" name="Rounded Rectangle 21"/>
          <p:cNvSpPr/>
          <p:nvPr/>
        </p:nvSpPr>
        <p:spPr>
          <a:xfrm>
            <a:off x="4238625" y="4572000"/>
            <a:ext cx="3819525"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71975" y="4657725"/>
            <a:ext cx="3552825" cy="209550"/>
          </a:xfrm>
          <a:prstGeom prst="rect">
            <a:avLst/>
          </a:prstGeom>
          <a:noFill/>
        </p:spPr>
        <p:txBody>
          <a:bodyPr wrap="square" lIns="0" tIns="9525" rIns="19050" bIns="9525">
            <a:spAutoFit/>
          </a:bodyPr>
          <a:lstStyle/>
          <a:p>
            <a:pPr algn="l"/>
            <a:r>
              <a:rPr sz="1300" b="1">
                <a:solidFill>
                  <a:srgbClr val="0B2E4A"/>
                </a:solidFill>
                <a:latin typeface="Calibri"/>
              </a:rPr>
              <a:t>Restraints</a:t>
            </a:r>
          </a:p>
        </p:txBody>
      </p:sp>
      <p:sp>
        <p:nvSpPr>
          <p:cNvPr id="24" name="Rectangle 23"/>
          <p:cNvSpPr/>
          <p:nvPr/>
        </p:nvSpPr>
        <p:spPr>
          <a:xfrm>
            <a:off x="4371975" y="4895850"/>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71975" y="4981575"/>
            <a:ext cx="3552825" cy="157162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Slower momentum in 'Tablet' (3.8%).</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Maturing demand in established categories caps the blended 6.6% CAGR.</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Value concentration in 'Tablet' raises barriers for new entrants.</a:t>
            </a:r>
          </a:p>
        </p:txBody>
      </p:sp>
      <p:sp>
        <p:nvSpPr>
          <p:cNvPr id="26" name="Rounded Rectangle 25"/>
          <p:cNvSpPr/>
          <p:nvPr/>
        </p:nvSpPr>
        <p:spPr>
          <a:xfrm>
            <a:off x="8210550" y="4572000"/>
            <a:ext cx="3819525"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43900" y="4657725"/>
            <a:ext cx="3552825" cy="209550"/>
          </a:xfrm>
          <a:prstGeom prst="rect">
            <a:avLst/>
          </a:prstGeom>
          <a:noFill/>
        </p:spPr>
        <p:txBody>
          <a:bodyPr wrap="square" lIns="0" tIns="9525" rIns="19050" bIns="9525">
            <a:spAutoFit/>
          </a:bodyPr>
          <a:lstStyle/>
          <a:p>
            <a:pPr algn="l"/>
            <a:r>
              <a:rPr sz="1300" b="1">
                <a:solidFill>
                  <a:srgbClr val="0B2E4A"/>
                </a:solidFill>
                <a:latin typeface="Calibri"/>
              </a:rPr>
              <a:t>Trends</a:t>
            </a:r>
          </a:p>
        </p:txBody>
      </p:sp>
      <p:sp>
        <p:nvSpPr>
          <p:cNvPr id="28" name="Rectangle 27"/>
          <p:cNvSpPr/>
          <p:nvPr/>
        </p:nvSpPr>
        <p:spPr>
          <a:xfrm>
            <a:off x="8343900" y="4895850"/>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43900" y="4981575"/>
            <a:ext cx="3552825" cy="157162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'Powder'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USA outpacing the USA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7 product format categories.</a:t>
            </a:r>
          </a:p>
        </p:txBody>
      </p:sp>
      <p:sp>
        <p:nvSpPr>
          <p:cNvPr id="30" name="TextBox 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6225" y="1066800"/>
            <a:ext cx="5610225" cy="209550"/>
          </a:xfrm>
          <a:prstGeom prst="rect">
            <a:avLst/>
          </a:prstGeom>
          <a:noFill/>
        </p:spPr>
        <p:txBody>
          <a:bodyPr wrap="square" lIns="0" tIns="9525" rIns="19050"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6225" y="1390650"/>
            <a:ext cx="5610225" cy="129540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'Powder' and USA.</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product format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USA and USA.</a:t>
            </a:r>
          </a:p>
        </p:txBody>
      </p:sp>
      <p:sp>
        <p:nvSpPr>
          <p:cNvPr id="14" name="Rounded Rectangle 13"/>
          <p:cNvSpPr/>
          <p:nvPr/>
        </p:nvSpPr>
        <p:spPr>
          <a:xfrm>
            <a:off x="6172200"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5550" y="1066800"/>
            <a:ext cx="5610225" cy="209550"/>
          </a:xfrm>
          <a:prstGeom prst="rect">
            <a:avLst/>
          </a:prstGeom>
          <a:noFill/>
        </p:spPr>
        <p:txBody>
          <a:bodyPr wrap="square" lIns="0" tIns="9525" rIns="19050"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5550" y="1390650"/>
            <a:ext cx="5610225" cy="129540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2026 size 230.6 US$ Mn; 2036 437.8 US$ Mn.</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Forecast CAGR 6.6% (2026–2036).</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Lead category 'Tablet' 27.2% of 2036.</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Lead country USA 100.0%.</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Incremental opportunity 207.2 US$ Mn.</a:t>
            </a:r>
          </a:p>
        </p:txBody>
      </p:sp>
      <p:sp>
        <p:nvSpPr>
          <p:cNvPr id="18" name="Rounded Rectangle 17"/>
          <p:cNvSpPr/>
          <p:nvPr/>
        </p:nvSpPr>
        <p:spPr>
          <a:xfrm>
            <a:off x="142875"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6225" y="2981325"/>
            <a:ext cx="5610225" cy="209550"/>
          </a:xfrm>
          <a:prstGeom prst="rect">
            <a:avLst/>
          </a:prstGeom>
          <a:noFill/>
        </p:spPr>
        <p:txBody>
          <a:bodyPr wrap="square" lIns="0" tIns="9525" rIns="19050"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6225" y="3305175"/>
            <a:ext cx="5610225" cy="80010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Investment is flowing toward the fastest-growing tier 'Powder' (13.6%).</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USA (6.6%) is a priority country for new capacity.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Scale players anchor around 'Tablet' (27.2% share).</a:t>
            </a:r>
          </a:p>
        </p:txBody>
      </p:sp>
      <p:sp>
        <p:nvSpPr>
          <p:cNvPr id="22" name="Rounded Rectangle 21"/>
          <p:cNvSpPr/>
          <p:nvPr/>
        </p:nvSpPr>
        <p:spPr>
          <a:xfrm>
            <a:off x="6172200"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5550" y="2981325"/>
            <a:ext cx="5610225" cy="209550"/>
          </a:xfrm>
          <a:prstGeom prst="rect">
            <a:avLst/>
          </a:prstGeom>
          <a:noFill/>
        </p:spPr>
        <p:txBody>
          <a:bodyPr wrap="square" lIns="0" tIns="9525" rIns="19050"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5550" y="3305175"/>
            <a:ext cx="5610225" cy="80010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R&amp;D aligns with the migration to 'Powder' and adjacent premium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Development spend targets product format categories gaining share to 2036.</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Innovation underpins the 6.6% forecast CAGR.</a:t>
            </a:r>
          </a:p>
        </p:txBody>
      </p:sp>
      <p:sp>
        <p:nvSpPr>
          <p:cNvPr id="26" name="Rounded Rectangle 25"/>
          <p:cNvSpPr/>
          <p:nvPr/>
        </p:nvSpPr>
        <p:spPr>
          <a:xfrm>
            <a:off x="142875" y="4314825"/>
            <a:ext cx="11906250" cy="2295525"/>
          </a:xfrm>
          <a:prstGeom prst="roundRect">
            <a:avLst>
              <a:gd name="adj" fmla="val 33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38125" y="437197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structure product format share (2036)</a:t>
            </a:r>
          </a:p>
        </p:txBody>
      </p:sp>
      <p:graphicFrame>
        <p:nvGraphicFramePr>
          <p:cNvPr id="28" name="Chart 27"/>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xmlns:r="http://schemas.openxmlformats.org/officeDocument/2006/relationships" r:id="rId4"/>
          </a:graphicData>
        </a:graphic>
      </p:graphicFrame>
      <p:sp>
        <p:nvSpPr>
          <p:cNvPr id="29" name="TextBox 28"/>
          <p:cNvSpPr txBox="1"/>
          <p:nvPr/>
        </p:nvSpPr>
        <p:spPr>
          <a:xfrm>
            <a:off x="3871570" y="5462588"/>
            <a:ext cx="934136" cy="228600"/>
          </a:xfrm>
          <a:prstGeom prst="rect">
            <a:avLst/>
          </a:prstGeom>
          <a:noFill/>
        </p:spPr>
        <p:txBody>
          <a:bodyPr wrap="square" lIns="28575" tIns="9525" rIns="28575" bIns="9525" anchor="ctr">
            <a:spAutoFit/>
          </a:bodyPr>
          <a:lstStyle/>
          <a:p>
            <a:pPr algn="ctr"/>
            <a:r>
              <a:rPr sz="1300" b="1">
                <a:solidFill>
                  <a:srgbClr val="2E2E2E"/>
                </a:solidFill>
                <a:latin typeface="Calibri"/>
              </a:rPr>
              <a:t>2036</a:t>
            </a:r>
          </a:p>
        </p:txBody>
      </p:sp>
      <p:sp>
        <p:nvSpPr>
          <p:cNvPr id="30" name="TextBox 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6225" y="1066800"/>
            <a:ext cx="5610225" cy="209550"/>
          </a:xfrm>
          <a:prstGeom prst="rect">
            <a:avLst/>
          </a:prstGeom>
          <a:noFill/>
        </p:spPr>
        <p:txBody>
          <a:bodyPr wrap="square" lIns="0" tIns="9525" rIns="19050"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6225" y="1390650"/>
            <a:ext cx="5610225" cy="125730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Balance scale in 'Tablet' with targeted growth in 'Powder', pursuing the 6.6% CAGR trajectory to 2036.</a:t>
            </a:r>
          </a:p>
        </p:txBody>
      </p:sp>
      <p:sp>
        <p:nvSpPr>
          <p:cNvPr id="14" name="Rounded Rectangle 13"/>
          <p:cNvSpPr/>
          <p:nvPr/>
        </p:nvSpPr>
        <p:spPr>
          <a:xfrm>
            <a:off x="6172200"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5550" y="1066800"/>
            <a:ext cx="5610225" cy="209550"/>
          </a:xfrm>
          <a:prstGeom prst="rect">
            <a:avLst/>
          </a:prstGeom>
          <a:noFill/>
        </p:spPr>
        <p:txBody>
          <a:bodyPr wrap="square" lIns="0" tIns="9525" rIns="19050"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5550" y="1390650"/>
            <a:ext cx="5610225" cy="125730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'Powder' tier and Direct-to-Consumer / Brand Website within sales channel.</a:t>
            </a:r>
          </a:p>
        </p:txBody>
      </p:sp>
      <p:sp>
        <p:nvSpPr>
          <p:cNvPr id="18" name="Rounded Rectangle 17"/>
          <p:cNvSpPr/>
          <p:nvPr/>
        </p:nvSpPr>
        <p:spPr>
          <a:xfrm>
            <a:off x="142875"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6225" y="2943225"/>
            <a:ext cx="5610225" cy="209550"/>
          </a:xfrm>
          <a:prstGeom prst="rect">
            <a:avLst/>
          </a:prstGeom>
          <a:noFill/>
        </p:spPr>
        <p:txBody>
          <a:bodyPr wrap="square" lIns="0" tIns="9525" rIns="19050" bIns="9525">
            <a:spAutoFit/>
          </a:bodyPr>
          <a:lstStyle/>
          <a:p>
            <a:pPr algn="l"/>
            <a:r>
              <a:rPr sz="1300" b="1">
                <a:solidFill>
                  <a:srgbClr val="0B2E4A"/>
                </a:solidFill>
                <a:latin typeface="Calibri"/>
              </a:rPr>
              <a:t>Market Segment</a:t>
            </a:r>
          </a:p>
        </p:txBody>
      </p:sp>
      <p:sp>
        <p:nvSpPr>
          <p:cNvPr id="20" name="Rectangle 19"/>
          <p:cNvSpPr/>
          <p:nvPr/>
        </p:nvSpPr>
        <p:spPr>
          <a:xfrm>
            <a:off x="276225"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6225" y="3267075"/>
            <a:ext cx="5610225" cy="107632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Prioritise 'Powder' (13.6%); 'Tablet' anchors 27.2% of value.</a:t>
            </a:r>
          </a:p>
        </p:txBody>
      </p:sp>
      <p:sp>
        <p:nvSpPr>
          <p:cNvPr id="22" name="Rounded Rectangle 21"/>
          <p:cNvSpPr/>
          <p:nvPr/>
        </p:nvSpPr>
        <p:spPr>
          <a:xfrm>
            <a:off x="6172200"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5550" y="2943225"/>
            <a:ext cx="5610225" cy="209550"/>
          </a:xfrm>
          <a:prstGeom prst="rect">
            <a:avLst/>
          </a:prstGeom>
          <a:noFill/>
        </p:spPr>
        <p:txBody>
          <a:bodyPr wrap="square" lIns="0" tIns="9525" rIns="19050" bIns="9525">
            <a:spAutoFit/>
          </a:bodyPr>
          <a:lstStyle/>
          <a:p>
            <a:pPr algn="l"/>
            <a:r>
              <a:rPr sz="1300" b="1">
                <a:solidFill>
                  <a:srgbClr val="0B2E4A"/>
                </a:solidFill>
                <a:latin typeface="Calibri"/>
              </a:rPr>
              <a:t>Market Country</a:t>
            </a:r>
          </a:p>
        </p:txBody>
      </p:sp>
      <p:sp>
        <p:nvSpPr>
          <p:cNvPr id="24" name="Rectangle 23"/>
          <p:cNvSpPr/>
          <p:nvPr/>
        </p:nvSpPr>
        <p:spPr>
          <a:xfrm>
            <a:off x="6305550"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5550" y="3267075"/>
            <a:ext cx="5610225" cy="107632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Lead with USA (100.0%); capture upside in USA (6.6%).</a:t>
            </a:r>
          </a:p>
        </p:txBody>
      </p:sp>
      <p:sp>
        <p:nvSpPr>
          <p:cNvPr id="26" name="Rounded Rectangle 25"/>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6225" y="4638675"/>
            <a:ext cx="11639550" cy="209550"/>
          </a:xfrm>
          <a:prstGeom prst="rect">
            <a:avLst/>
          </a:prstGeom>
          <a:noFill/>
        </p:spPr>
        <p:txBody>
          <a:bodyPr wrap="square" lIns="0" tIns="9525" rIns="19050"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6225" y="4962525"/>
            <a:ext cx="11639550" cy="157162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Prenatal Vitamin Supplements adds 207.2 US$ Mn of demand to 2036 a 1.9× expansion.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Concentrate resources on the leading segment/country while seeding the fastest-growing pockets early.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Defend share in 'Tablet' as the value anchor of the portfolio.</a:t>
            </a:r>
          </a:p>
        </p:txBody>
      </p:sp>
      <p:sp>
        <p:nvSpPr>
          <p:cNvPr id="30" name="TextBox 2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OPTIMISTIC (2036)</a:t>
            </a:r>
          </a:p>
          <a:p>
            <a:pPr algn="ctr">
              <a:lnSpc>
                <a:spcPct val="95000"/>
              </a:lnSpc>
            </a:pPr>
            <a:r>
              <a:rPr sz="1500" b="1">
                <a:solidFill>
                  <a:srgbClr val="0E72AE"/>
                </a:solidFill>
                <a:latin typeface="Calibri"/>
              </a:rPr>
              <a:t>517.1 US$ Mn</a:t>
            </a:r>
          </a:p>
          <a:p>
            <a:pPr algn="ctr">
              <a:lnSpc>
                <a:spcPct val="95000"/>
              </a:lnSpc>
            </a:pPr>
            <a:r>
              <a:rPr sz="1100" b="0">
                <a:solidFill>
                  <a:srgbClr val="6C7A89"/>
                </a:solidFill>
                <a:latin typeface="Calibri"/>
              </a:rPr>
              <a:t>CAGR 8.0%</a:t>
            </a: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LIKELY (2036)</a:t>
            </a:r>
          </a:p>
          <a:p>
            <a:pPr algn="ctr">
              <a:lnSpc>
                <a:spcPct val="95000"/>
              </a:lnSpc>
            </a:pPr>
            <a:r>
              <a:rPr sz="1500" b="1">
                <a:solidFill>
                  <a:srgbClr val="0E72AE"/>
                </a:solidFill>
                <a:latin typeface="Calibri"/>
              </a:rPr>
              <a:t>437.8 US$ Mn</a:t>
            </a:r>
          </a:p>
          <a:p>
            <a:pPr algn="ctr">
              <a:lnSpc>
                <a:spcPct val="95000"/>
              </a:lnSpc>
            </a:pPr>
            <a:r>
              <a:rPr sz="1100" b="0">
                <a:solidFill>
                  <a:srgbClr val="6C7A89"/>
                </a:solidFill>
                <a:latin typeface="Calibri"/>
              </a:rPr>
              <a:t>CAGR 6.6%</a:t>
            </a: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CONSERVATIVE (2036)</a:t>
            </a:r>
          </a:p>
          <a:p>
            <a:pPr algn="ctr">
              <a:lnSpc>
                <a:spcPct val="95000"/>
              </a:lnSpc>
            </a:pPr>
            <a:r>
              <a:rPr sz="1500" b="1">
                <a:solidFill>
                  <a:srgbClr val="0E72AE"/>
                </a:solidFill>
                <a:latin typeface="Calibri"/>
              </a:rPr>
              <a:t>369.7 US$ Mn</a:t>
            </a:r>
          </a:p>
          <a:p>
            <a:pPr algn="ctr">
              <a:lnSpc>
                <a:spcPct val="95000"/>
              </a:lnSpc>
            </a:pPr>
            <a:r>
              <a:rPr sz="1100" b="0">
                <a:solidFill>
                  <a:srgbClr val="6C7A89"/>
                </a:solidFill>
                <a:latin typeface="Calibri"/>
              </a:rPr>
              <a:t>CAGR 4.9%</a:t>
            </a: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38125" y="18669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Prenatal Vitamin Supplements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584861"/>
            <a:ext cx="635826" cy="720439"/>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043936" y="3089541"/>
            <a:ext cx="635826" cy="1215759"/>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025725" y="2865721"/>
            <a:ext cx="635826" cy="1439579"/>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07515" y="2605088"/>
            <a:ext cx="635826" cy="1700212"/>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1456468" y="2956191"/>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851416"/>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wrap="square" lIns="19050" tIns="0" rIns="19050" bIns="0" rtlCol="0" anchor="ctr"/>
          <a:lstStyle/>
          <a:p>
            <a:pPr algn="ctr"/>
            <a:r>
              <a:rPr sz="1100" b="1">
                <a:solidFill>
                  <a:srgbClr val="FFFFFF"/>
                </a:solidFill>
                <a:latin typeface="Calibri"/>
              </a:rPr>
              <a:t>CAGR: 4.9%</a:t>
            </a:r>
          </a:p>
        </p:txBody>
      </p:sp>
      <p:cxnSp>
        <p:nvCxnSpPr>
          <p:cNvPr id="22" name="Connector 21"/>
          <p:cNvCxnSpPr/>
          <p:nvPr/>
        </p:nvCxnSpPr>
        <p:spPr>
          <a:xfrm>
            <a:off x="1456468" y="2699016"/>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594241"/>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19050" tIns="0" rIns="19050" bIns="0" rtlCol="0" anchor="ctr"/>
          <a:lstStyle/>
          <a:p>
            <a:pPr algn="ctr"/>
            <a:r>
              <a:rPr sz="1100" b="1">
                <a:solidFill>
                  <a:srgbClr val="FFFFFF"/>
                </a:solidFill>
                <a:latin typeface="Calibri"/>
              </a:rPr>
              <a:t>CAGR: 6.6%</a:t>
            </a:r>
          </a:p>
        </p:txBody>
      </p:sp>
      <p:cxnSp>
        <p:nvCxnSpPr>
          <p:cNvPr id="24" name="Connector 23"/>
          <p:cNvCxnSpPr/>
          <p:nvPr/>
        </p:nvCxnSpPr>
        <p:spPr>
          <a:xfrm>
            <a:off x="1456468" y="2441841"/>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337066"/>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wrap="square" lIns="19050" tIns="0" rIns="19050" bIns="0" rtlCol="0" anchor="ctr"/>
          <a:lstStyle/>
          <a:p>
            <a:pPr algn="ctr"/>
            <a:r>
              <a:rPr sz="1100" b="1">
                <a:solidFill>
                  <a:srgbClr val="FFFFFF"/>
                </a:solidFill>
                <a:latin typeface="Calibri"/>
              </a:rPr>
              <a:t>CAGR: 8.0%</a:t>
            </a:r>
          </a:p>
        </p:txBody>
      </p:sp>
      <p:sp>
        <p:nvSpPr>
          <p:cNvPr id="26" name="TextBox 25"/>
          <p:cNvSpPr txBox="1"/>
          <p:nvPr/>
        </p:nvSpPr>
        <p:spPr>
          <a:xfrm>
            <a:off x="643255" y="4333875"/>
            <a:ext cx="762000" cy="180975"/>
          </a:xfrm>
          <a:prstGeom prst="rect">
            <a:avLst/>
          </a:prstGeom>
          <a:noFill/>
        </p:spPr>
        <p:txBody>
          <a:bodyPr wrap="square" lIns="28575" tIns="9525" rIns="2857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tIns="9525" rIns="2857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85775" y="4543425"/>
            <a:ext cx="1647825" cy="190500"/>
          </a:xfrm>
          <a:prstGeom prst="rect">
            <a:avLst/>
          </a:prstGeom>
          <a:noFill/>
        </p:spPr>
        <p:txBody>
          <a:bodyPr wrap="none" lIns="28575" tIns="9525" rIns="2857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381250" y="4543425"/>
            <a:ext cx="1647825" cy="190500"/>
          </a:xfrm>
          <a:prstGeom prst="rect">
            <a:avLst/>
          </a:prstGeom>
          <a:noFill/>
        </p:spPr>
        <p:txBody>
          <a:bodyPr wrap="none" lIns="28575" tIns="9525" rIns="2857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276725" y="4543425"/>
            <a:ext cx="1647825" cy="190500"/>
          </a:xfrm>
          <a:prstGeom prst="rect">
            <a:avLst/>
          </a:prstGeom>
          <a:noFill/>
        </p:spPr>
        <p:txBody>
          <a:bodyPr wrap="none" lIns="28575" tIns="9525" rIns="2857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67450" y="18669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Prenatal Vitamin Supplements Market Attractiveness Analysis By Region, 2026–2036</a:t>
            </a:r>
          </a:p>
        </p:txBody>
      </p:sp>
      <p:graphicFrame>
        <p:nvGraphicFramePr>
          <p:cNvPr id="36" name="Chart 35"/>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xmlns:r="http://schemas.openxmlformats.org/officeDocument/2006/relationships" r:id="rId4"/>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76225" y="5038725"/>
            <a:ext cx="11639550" cy="209550"/>
          </a:xfrm>
          <a:prstGeom prst="rect">
            <a:avLst/>
          </a:prstGeom>
          <a:noFill/>
        </p:spPr>
        <p:txBody>
          <a:bodyPr wrap="square" lIns="0" tIns="9525" rIns="19050"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6225" y="5362575"/>
            <a:ext cx="11639550" cy="119062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Optimistic: 517.1 US$ Mn by 2036 at 8.0% CAGR.</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Likely (base forecast): 437.8 US$ Mn at 6.6% CAGR.</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Conservative: 369.7 US$ Mn at 4.9% CAGR.</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Scenarios flex the base forecast's year-on-year growth by ±25% across the 2026–2036 horizon.</a:t>
            </a:r>
          </a:p>
        </p:txBody>
      </p:sp>
      <p:sp>
        <p:nvSpPr>
          <p:cNvPr id="41" name="TextBox 40"/>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Prenatal Vitamin Supplements Market</a:t>
            </a:r>
          </a:p>
        </p:txBody>
      </p:sp>
      <p:sp>
        <p:nvSpPr>
          <p:cNvPr id="10" name="FMI Section Title"/>
          <p:cNvSpPr txBox="1"/>
          <p:nvPr/>
        </p:nvSpPr>
        <p:spPr>
          <a:xfrm>
            <a:off x="914400" y="2898775"/>
            <a:ext cx="8572500" cy="514350"/>
          </a:xfrm>
          <a:prstGeom prst="rect">
            <a:avLst/>
          </a:prstGeom>
          <a:noFill/>
        </p:spPr>
        <p:txBody>
          <a:bodyPr wrap="square" lIns="0" tIns="0" rIns="0">
            <a:spAutoFit/>
          </a:bodyPr>
          <a:lstStyle/>
          <a:p>
            <a:r>
              <a:rPr sz="3000" b="1">
                <a:solidFill>
                  <a:srgbClr val="0B3C8C"/>
                </a:solidFill>
                <a:latin typeface="Calibri"/>
              </a:rPr>
              <a:t>USA Market Analysis By Country</a:t>
            </a:r>
          </a:p>
        </p:txBody>
      </p:sp>
      <p:sp>
        <p:nvSpPr>
          <p:cNvPr id="11" name="TextBox 10"/>
          <p:cNvSpPr txBox="1"/>
          <p:nvPr/>
        </p:nvSpPr>
        <p:spPr>
          <a:xfrm>
            <a:off x="914400" y="3584575"/>
            <a:ext cx="8458200" cy="16700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USA Prenatal Vitamin Supplements – Country Outlook</a:t>
            </a:r>
          </a:p>
          <a:p>
            <a:pPr marL="342900" indent="-323850">
              <a:lnSpc>
                <a:spcPct val="100000"/>
              </a:lnSpc>
              <a:spcAft>
                <a:spcPts val="800"/>
              </a:spcAft>
            </a:pPr>
            <a:r>
              <a:rPr sz="2000" b="0">
                <a:solidFill>
                  <a:srgbClr val="000000"/>
                </a:solidFill>
                <a:latin typeface="Calibri"/>
              </a:rPr>
              <a:t>➤	Market Analysis By Country</a:t>
            </a:r>
          </a:p>
          <a:p>
            <a:pPr marL="342900" indent="-323850">
              <a:lnSpc>
                <a:spcPct val="100000"/>
              </a:lnSpc>
              <a:spcAft>
                <a:spcPts val="800"/>
              </a:spcAft>
            </a:pPr>
            <a:r>
              <a:rPr sz="2000" b="0">
                <a:solidFill>
                  <a:srgbClr val="000000"/>
                </a:solidFill>
                <a:latin typeface="Calibri"/>
              </a:rPr>
              <a:t>➤	Volume Share Analysis By Country</a:t>
            </a:r>
          </a:p>
          <a:p>
            <a:pPr marL="342900" indent="-323850">
              <a:lnSpc>
                <a:spcPct val="100000"/>
              </a:lnSpc>
              <a:spcAft>
                <a:spcPts val="800"/>
              </a:spcAft>
            </a:pPr>
            <a:r>
              <a:rPr sz="2000" b="0">
                <a:solidFill>
                  <a:srgbClr val="000000"/>
                </a:solidFill>
                <a:latin typeface="Calibri"/>
              </a:rPr>
              <a:t>➤	Value Share Analysis By Country</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 Country Outlook</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Regional analysis of size, growth and share across countries, highlighting where value concentrates,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TextBox 10"/>
          <p:cNvSpPr txBox="1"/>
          <p:nvPr/>
        </p:nvSpPr>
        <p:spPr>
          <a:xfrm>
            <a:off x="323850" y="1007261"/>
            <a:ext cx="11544300" cy="310313"/>
          </a:xfrm>
          <a:prstGeom prst="rect">
            <a:avLst/>
          </a:prstGeom>
          <a:noFill/>
        </p:spPr>
        <p:txBody>
          <a:bodyPr wrap="square" lIns="28575" tIns="9525" rIns="28575" bIns="9525">
            <a:spAutoFit/>
          </a:bodyPr>
          <a:lstStyle/>
          <a:p>
            <a:pPr algn="l"/>
            <a:r>
              <a:rPr sz="1150" b="0">
                <a:solidFill>
                  <a:srgbClr val="2E2E2E"/>
                </a:solidFill>
                <a:latin typeface="Calibri"/>
              </a:rPr>
              <a:t>The By Country view breaks the USA market down geographically. Each country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9575" y="1773916"/>
            <a:ext cx="1295400" cy="438089"/>
          </a:xfrm>
          <a:prstGeom prst="rect">
            <a:avLst/>
          </a:prstGeom>
          <a:noFill/>
        </p:spPr>
        <p:txBody>
          <a:bodyPr wrap="square" lIns="28575" tIns="9525" rIns="28575" bIns="9525" anchor="ctr">
            <a:spAutoFit/>
          </a:bodyPr>
          <a:lstStyle/>
          <a:p>
            <a:pPr algn="l"/>
            <a:r>
              <a:rPr sz="1100" b="1">
                <a:solidFill>
                  <a:srgbClr val="0B2E4A"/>
                </a:solidFill>
                <a:latin typeface="Calibri"/>
              </a:rPr>
              <a:t>Country</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9575" y="22302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09575" y="272310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09575" y="32159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100012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866900" y="1992961"/>
            <a:ext cx="100012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905000" y="1773916"/>
            <a:ext cx="9925050" cy="438089"/>
          </a:xfrm>
          <a:prstGeom prst="rect">
            <a:avLst/>
          </a:prstGeom>
          <a:noFill/>
        </p:spPr>
        <p:txBody>
          <a:bodyPr wrap="square" lIns="28575" tIns="9525" rIns="28575" bIns="9525" anchor="ctr">
            <a:spAutoFit/>
          </a:bodyPr>
          <a:lstStyle/>
          <a:p>
            <a:pPr algn="ctr"/>
            <a:r>
              <a:rPr sz="1100" b="1">
                <a:solidFill>
                  <a:srgbClr val="FFFFFF"/>
                </a:solidFill>
                <a:latin typeface="Calibri"/>
              </a:rPr>
              <a:t>USA</a:t>
            </a:r>
          </a:p>
        </p:txBody>
      </p:sp>
      <p:sp>
        <p:nvSpPr>
          <p:cNvPr id="23" name="Rectangle 22"/>
          <p:cNvSpPr/>
          <p:nvPr/>
        </p:nvSpPr>
        <p:spPr>
          <a:xfrm>
            <a:off x="1866900" y="2230259"/>
            <a:ext cx="100012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230.6</a:t>
            </a:r>
          </a:p>
        </p:txBody>
      </p:sp>
      <p:sp>
        <p:nvSpPr>
          <p:cNvPr id="24" name="Rectangle 23"/>
          <p:cNvSpPr/>
          <p:nvPr/>
        </p:nvSpPr>
        <p:spPr>
          <a:xfrm>
            <a:off x="1866900" y="2723109"/>
            <a:ext cx="100012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437.8</a:t>
            </a:r>
          </a:p>
        </p:txBody>
      </p:sp>
      <p:sp>
        <p:nvSpPr>
          <p:cNvPr id="25" name="Rectangle 24"/>
          <p:cNvSpPr/>
          <p:nvPr/>
        </p:nvSpPr>
        <p:spPr>
          <a:xfrm>
            <a:off x="1866900" y="3215959"/>
            <a:ext cx="100012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6.6%</a:t>
            </a:r>
          </a:p>
        </p:txBody>
      </p:sp>
      <p:sp>
        <p:nvSpPr>
          <p:cNvPr id="26" name="Oval 25"/>
          <p:cNvSpPr/>
          <p:nvPr/>
        </p:nvSpPr>
        <p:spPr>
          <a:xfrm>
            <a:off x="670560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a:t>
            </a:r>
          </a:p>
        </p:txBody>
      </p:sp>
      <p:sp>
        <p:nvSpPr>
          <p:cNvPr id="27" name="Rounded Rectangle 2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3946106"/>
            <a:ext cx="2971800" cy="182537"/>
          </a:xfrm>
          <a:prstGeom prst="rect">
            <a:avLst/>
          </a:prstGeom>
          <a:noFill/>
        </p:spPr>
        <p:txBody>
          <a:bodyPr wrap="square" lIns="28575" tIns="9525" rIns="28575" bIns="9525">
            <a:spAutoFit/>
          </a:bodyPr>
          <a:lstStyle/>
          <a:p>
            <a:pPr algn="l"/>
            <a:r>
              <a:rPr sz="1250" b="1">
                <a:solidFill>
                  <a:srgbClr val="0B2E4A"/>
                </a:solidFill>
                <a:latin typeface="Calibri"/>
              </a:rPr>
              <a:t>Key Highlights</a:t>
            </a:r>
          </a:p>
        </p:txBody>
      </p:sp>
      <p:sp>
        <p:nvSpPr>
          <p:cNvPr id="29" name="Rectangle 2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4219912"/>
            <a:ext cx="297180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'USA' holds the largest share in 2026 100% of market value.</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'USA' is the fastest-growing country at 6.6% CAGR through 2036.</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Market value expands from 230.6 to 437.8 US$ Mn across 2026–2036.</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1 country make up the geographic landscape.</a:t>
            </a:r>
          </a:p>
        </p:txBody>
      </p:sp>
      <p:sp>
        <p:nvSpPr>
          <p:cNvPr id="31" name="Rounded Rectangle 3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810000" y="3946106"/>
            <a:ext cx="4210050" cy="182537"/>
          </a:xfrm>
          <a:prstGeom prst="rect">
            <a:avLst/>
          </a:prstGeom>
          <a:noFill/>
        </p:spPr>
        <p:txBody>
          <a:bodyPr wrap="square" lIns="28575" tIns="9525" rIns="28575" bIns="9525">
            <a:spAutoFit/>
          </a:bodyPr>
          <a:lstStyle/>
          <a:p>
            <a:pPr algn="l"/>
            <a:r>
              <a:rPr sz="1250" b="1">
                <a:solidFill>
                  <a:srgbClr val="0B2E4A"/>
                </a:solidFill>
                <a:latin typeface="Calibri"/>
              </a:rPr>
              <a:t>Sub-Segment Insights</a:t>
            </a:r>
          </a:p>
        </p:txBody>
      </p:sp>
      <p:sp>
        <p:nvSpPr>
          <p:cNvPr id="33" name="Rectangle 3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810000" y="4219912"/>
            <a:ext cx="42100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0">
                <a:solidFill>
                  <a:srgbClr val="0B2E4A"/>
                </a:solidFill>
                <a:latin typeface="Calibri"/>
              </a:rPr>
              <a:t>●  </a:t>
            </a:r>
            <a:r>
              <a:rPr sz="1100" b="1">
                <a:solidFill>
                  <a:srgbClr val="0B2E4A"/>
                </a:solidFill>
                <a:latin typeface="Calibri"/>
              </a:rPr>
              <a:t>USA: </a:t>
            </a:r>
            <a:r>
              <a:rPr sz="1100" b="0">
                <a:solidFill>
                  <a:srgbClr val="2E2E2E"/>
                </a:solidFill>
                <a:latin typeface="Calibri"/>
              </a:rPr>
              <a:t>100% of 2026 value · 6.6% CAGR leads the market.</a:t>
            </a:r>
          </a:p>
        </p:txBody>
      </p:sp>
      <p:sp>
        <p:nvSpPr>
          <p:cNvPr id="35" name="Rounded Rectangle 3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01050" y="3946106"/>
            <a:ext cx="3333750" cy="182537"/>
          </a:xfrm>
          <a:prstGeom prst="rect">
            <a:avLst/>
          </a:prstGeom>
          <a:noFill/>
        </p:spPr>
        <p:txBody>
          <a:bodyPr wrap="square" lIns="28575" tIns="9525" rIns="28575" bIns="9525">
            <a:spAutoFit/>
          </a:bodyPr>
          <a:lstStyle/>
          <a:p>
            <a:pPr algn="l"/>
            <a:r>
              <a:rPr sz="1250" b="1">
                <a:solidFill>
                  <a:srgbClr val="0B2E4A"/>
                </a:solidFill>
                <a:latin typeface="Calibri"/>
              </a:rPr>
              <a:t>Segment Overview</a:t>
            </a:r>
          </a:p>
        </p:txBody>
      </p:sp>
      <p:sp>
        <p:nvSpPr>
          <p:cNvPr id="37" name="Rectangle 3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401050" y="4219912"/>
            <a:ext cx="33337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Country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39" name="Rectangle 3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496300" y="5789730"/>
            <a:ext cx="3219450" cy="456342"/>
          </a:xfrm>
          <a:prstGeom prst="rect">
            <a:avLst/>
          </a:prstGeom>
          <a:noFill/>
        </p:spPr>
        <p:txBody>
          <a:bodyPr wrap="square" lIns="28575" tIns="9525" rIns="28575" bIns="9525" anchor="ctr">
            <a:spAutoFit/>
          </a:bodyPr>
          <a:lstStyle/>
          <a:p>
            <a:pPr algn="l"/>
            <a:r>
              <a:rPr sz="1150" b="1">
                <a:solidFill>
                  <a:srgbClr val="0B2E4A"/>
                </a:solidFill>
                <a:latin typeface="Calibri"/>
              </a:rPr>
              <a:t>The USA market is projected to grow at a CAGR of 6.6% from 2026 to 2036.</a:t>
            </a:r>
          </a:p>
        </p:txBody>
      </p:sp>
      <p:sp>
        <p:nvSpPr>
          <p:cNvPr id="41" name="TextBox 4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2" name="TextBox 4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Analysis, By Country Volume (Mn Units)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volume share by country in 2026 and 2036, highlighting share gains and losses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661987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3" name="Chart 12"/>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p:cNvSpPr txBox="1"/>
          <p:nvPr/>
        </p:nvSpPr>
        <p:spPr>
          <a:xfrm>
            <a:off x="4474845" y="1419225"/>
            <a:ext cx="2383155" cy="133350"/>
          </a:xfrm>
          <a:prstGeom prst="rect">
            <a:avLst/>
          </a:prstGeom>
          <a:noFill/>
        </p:spPr>
        <p:txBody>
          <a:bodyPr wrap="square" lIns="28575" tIns="9525" rIns="28575" bIns="9525" anchor="ctr">
            <a:spAutoFit/>
          </a:bodyPr>
          <a:lstStyle/>
          <a:p>
            <a:pPr algn="ctr"/>
            <a:r>
              <a:rPr sz="1300" b="1">
                <a:solidFill>
                  <a:srgbClr val="0E72AE"/>
                </a:solidFill>
                <a:latin typeface="Calibri"/>
              </a:rPr>
              <a:t>BPS Δ  (2026→2036)</a:t>
            </a:r>
          </a:p>
        </p:txBody>
      </p:sp>
      <p:sp>
        <p:nvSpPr>
          <p:cNvPr id="15" name="FMI Lock Anchor"/>
          <p:cNvSpPr txBox="1"/>
          <p:nvPr/>
        </p:nvSpPr>
        <p:spPr>
          <a:xfrm>
            <a:off x="2489835" y="3352800"/>
            <a:ext cx="38100" cy="38100"/>
          </a:xfrm>
          <a:prstGeom prst="rect">
            <a:avLst/>
          </a:prstGeom>
          <a:noFill/>
        </p:spPr>
        <p:txBody>
          <a:bodyPr wrap="none">
            <a:spAutoFit/>
          </a:bodyPr>
          <a:lstStyle/>
          <a:p>
            <a:endParaRPr/>
          </a:p>
        </p:txBody>
      </p:sp>
      <p:sp>
        <p:nvSpPr>
          <p:cNvPr id="16" name="FMI Legend Chip"/>
          <p:cNvSpPr/>
          <p:nvPr/>
        </p:nvSpPr>
        <p:spPr>
          <a:xfrm>
            <a:off x="4551045" y="3295650"/>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Isosceles Triangle 16"/>
          <p:cNvSpPr/>
          <p:nvPr/>
        </p:nvSpPr>
        <p:spPr>
          <a:xfrm>
            <a:off x="4712970" y="329088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BPS Name 1"/>
          <p:cNvSpPr txBox="1"/>
          <p:nvPr/>
        </p:nvSpPr>
        <p:spPr>
          <a:xfrm>
            <a:off x="4855845" y="3214688"/>
            <a:ext cx="1316355" cy="247650"/>
          </a:xfrm>
          <a:prstGeom prst="rect">
            <a:avLst/>
          </a:prstGeom>
          <a:noFill/>
        </p:spPr>
        <p:txBody>
          <a:bodyPr wrap="square" lIns="19050" tIns="0" rIns="19050" bIns="0" anchor="ctr">
            <a:spAutoFit/>
          </a:bodyPr>
          <a:lstStyle/>
          <a:p>
            <a:pPr algn="l"/>
            <a:r>
              <a:rPr sz="900" b="0">
                <a:solidFill>
                  <a:srgbClr val="2E2E2E"/>
                </a:solidFill>
                <a:latin typeface="Calibri"/>
              </a:rPr>
              <a:t>USA</a:t>
            </a:r>
          </a:p>
        </p:txBody>
      </p:sp>
      <p:sp>
        <p:nvSpPr>
          <p:cNvPr id="19" name="BPS Value 1"/>
          <p:cNvSpPr txBox="1"/>
          <p:nvPr/>
        </p:nvSpPr>
        <p:spPr>
          <a:xfrm>
            <a:off x="6305550" y="3276600"/>
            <a:ext cx="514350" cy="123825"/>
          </a:xfrm>
          <a:prstGeom prst="rect">
            <a:avLst/>
          </a:prstGeom>
          <a:noFill/>
        </p:spPr>
        <p:txBody>
          <a:bodyPr wrap="none" lIns="0" tIns="0" rIns="0" bIns="0" anchor="ctr">
            <a:spAutoFit/>
          </a:bodyPr>
          <a:lstStyle/>
          <a:p>
            <a:pPr algn="r"/>
            <a:r>
              <a:rPr sz="900" b="1">
                <a:solidFill>
                  <a:srgbClr val="2E7D32"/>
                </a:solidFill>
                <a:latin typeface="Calibri"/>
              </a:rPr>
              <a:t>+0</a:t>
            </a:r>
          </a:p>
        </p:txBody>
      </p:sp>
      <p:sp>
        <p:nvSpPr>
          <p:cNvPr id="20" name="Rounded Rectangle 19"/>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39000" y="1066800"/>
            <a:ext cx="4667250" cy="209550"/>
          </a:xfrm>
          <a:prstGeom prst="rect">
            <a:avLst/>
          </a:prstGeom>
          <a:noFill/>
        </p:spPr>
        <p:txBody>
          <a:bodyPr wrap="square" lIns="0" tIns="9525" rIns="19050" bIns="9525">
            <a:spAutoFit/>
          </a:bodyPr>
          <a:lstStyle/>
          <a:p>
            <a:pPr algn="l"/>
            <a:r>
              <a:rPr sz="1300" b="1">
                <a:solidFill>
                  <a:srgbClr val="0B2E4A"/>
                </a:solidFill>
                <a:latin typeface="Calibri"/>
              </a:rPr>
              <a:t>Regional Highlights</a:t>
            </a:r>
          </a:p>
        </p:txBody>
      </p:sp>
      <p:sp>
        <p:nvSpPr>
          <p:cNvPr id="22" name="Rectangle 21"/>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39000" y="1390650"/>
            <a:ext cx="4667250" cy="404812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USA is the largest country, at 100.0% of 2036 volume.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'USA' gains the most share +0 BPS between 2026 and 2036 (</a:t>
            </a:r>
            <a:r>
              <a:rPr sz="1150" b="0">
                <a:solidFill>
                  <a:srgbClr val="2E7D32"/>
                </a:solidFill>
                <a:latin typeface="Calibri"/>
              </a:rPr>
              <a:t>▲</a:t>
            </a:r>
            <a:r>
              <a:rPr sz="1150" b="0">
                <a:solidFill>
                  <a:srgbClr val="2E2E2E"/>
                </a:solidFill>
                <a:latin typeface="Calibri"/>
              </a:rPr>
              <a:t> on the right scale).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'USA' cedes the most +0 BPS over the same window (</a:t>
            </a:r>
            <a:r>
              <a:rPr sz="1150" b="0">
                <a:solidFill>
                  <a:srgbClr val="E44D3A"/>
                </a:solidFill>
                <a:latin typeface="Calibri"/>
              </a:rPr>
              <a:t>▼</a:t>
            </a:r>
            <a:r>
              <a:rPr sz="1150" b="0">
                <a:solidFill>
                  <a:srgbClr val="2E2E2E"/>
                </a:solidFill>
                <a:latin typeface="Calibri"/>
              </a:rPr>
              <a:t>).</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USA grows fastest 5.8% CAGR (2026–2036).</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Total rises from 998.2 to 1,761 Mn Units across 1 country.</a:t>
            </a:r>
          </a:p>
        </p:txBody>
      </p:sp>
      <p:sp>
        <p:nvSpPr>
          <p:cNvPr id="24" name="Rounded Rectangle 23"/>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2026 TOTAL (MN UNITS)</a:t>
            </a:r>
          </a:p>
          <a:p>
            <a:pPr algn="ctr">
              <a:lnSpc>
                <a:spcPct val="95000"/>
              </a:lnSpc>
            </a:pPr>
            <a:r>
              <a:rPr sz="2000" b="1">
                <a:solidFill>
                  <a:srgbClr val="0E72AE"/>
                </a:solidFill>
                <a:latin typeface="Calibri"/>
              </a:rPr>
              <a:t>998.2</a:t>
            </a:r>
          </a:p>
        </p:txBody>
      </p:sp>
      <p:sp>
        <p:nvSpPr>
          <p:cNvPr id="25" name="Rounded Rectangle 24"/>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2036 TOTAL (MN UNITS)</a:t>
            </a:r>
          </a:p>
          <a:p>
            <a:pPr algn="ctr">
              <a:lnSpc>
                <a:spcPct val="95000"/>
              </a:lnSpc>
            </a:pPr>
            <a:r>
              <a:rPr sz="2000" b="1">
                <a:solidFill>
                  <a:srgbClr val="0E72AE"/>
                </a:solidFill>
                <a:latin typeface="Calibri"/>
              </a:rPr>
              <a:t>1,761</a:t>
            </a:r>
          </a:p>
        </p:txBody>
      </p:sp>
      <p:sp>
        <p:nvSpPr>
          <p:cNvPr id="26" name="Rounded Rectangle 25"/>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5.8%</a:t>
            </a:r>
          </a:p>
        </p:txBody>
      </p:sp>
      <p:sp>
        <p:nvSpPr>
          <p:cNvPr id="27" name="TextBox 2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Analysis, By Country Value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value share by country in 2026 and 2036, highlighting share gains and losses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661987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3" name="Chart 12"/>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p:cNvSpPr txBox="1"/>
          <p:nvPr/>
        </p:nvSpPr>
        <p:spPr>
          <a:xfrm>
            <a:off x="4474845" y="1419225"/>
            <a:ext cx="2383155" cy="133350"/>
          </a:xfrm>
          <a:prstGeom prst="rect">
            <a:avLst/>
          </a:prstGeom>
          <a:noFill/>
        </p:spPr>
        <p:txBody>
          <a:bodyPr wrap="square" lIns="28575" tIns="9525" rIns="28575" bIns="9525" anchor="ctr">
            <a:spAutoFit/>
          </a:bodyPr>
          <a:lstStyle/>
          <a:p>
            <a:pPr algn="ctr"/>
            <a:r>
              <a:rPr sz="1300" b="1">
                <a:solidFill>
                  <a:srgbClr val="0E72AE"/>
                </a:solidFill>
                <a:latin typeface="Calibri"/>
              </a:rPr>
              <a:t>BPS Δ  (2026→2036)</a:t>
            </a:r>
          </a:p>
        </p:txBody>
      </p:sp>
      <p:sp>
        <p:nvSpPr>
          <p:cNvPr id="15" name="FMI Lock Anchor"/>
          <p:cNvSpPr txBox="1"/>
          <p:nvPr/>
        </p:nvSpPr>
        <p:spPr>
          <a:xfrm>
            <a:off x="2489835" y="3352800"/>
            <a:ext cx="38100" cy="38100"/>
          </a:xfrm>
          <a:prstGeom prst="rect">
            <a:avLst/>
          </a:prstGeom>
          <a:noFill/>
        </p:spPr>
        <p:txBody>
          <a:bodyPr wrap="none">
            <a:spAutoFit/>
          </a:bodyPr>
          <a:lstStyle/>
          <a:p>
            <a:endParaRPr/>
          </a:p>
        </p:txBody>
      </p:sp>
      <p:sp>
        <p:nvSpPr>
          <p:cNvPr id="16" name="FMI Legend Chip"/>
          <p:cNvSpPr/>
          <p:nvPr/>
        </p:nvSpPr>
        <p:spPr>
          <a:xfrm>
            <a:off x="4551045" y="3295650"/>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Isosceles Triangle 16"/>
          <p:cNvSpPr/>
          <p:nvPr/>
        </p:nvSpPr>
        <p:spPr>
          <a:xfrm>
            <a:off x="4712970" y="329088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BPS Name 1"/>
          <p:cNvSpPr txBox="1"/>
          <p:nvPr/>
        </p:nvSpPr>
        <p:spPr>
          <a:xfrm>
            <a:off x="4855845" y="3214688"/>
            <a:ext cx="1316355" cy="247650"/>
          </a:xfrm>
          <a:prstGeom prst="rect">
            <a:avLst/>
          </a:prstGeom>
          <a:noFill/>
        </p:spPr>
        <p:txBody>
          <a:bodyPr wrap="square" lIns="19050" tIns="0" rIns="19050" bIns="0" anchor="ctr">
            <a:spAutoFit/>
          </a:bodyPr>
          <a:lstStyle/>
          <a:p>
            <a:pPr algn="l"/>
            <a:r>
              <a:rPr sz="900" b="0">
                <a:solidFill>
                  <a:srgbClr val="2E2E2E"/>
                </a:solidFill>
                <a:latin typeface="Calibri"/>
              </a:rPr>
              <a:t>USA</a:t>
            </a:r>
          </a:p>
        </p:txBody>
      </p:sp>
      <p:sp>
        <p:nvSpPr>
          <p:cNvPr id="19" name="BPS Value 1"/>
          <p:cNvSpPr txBox="1"/>
          <p:nvPr/>
        </p:nvSpPr>
        <p:spPr>
          <a:xfrm>
            <a:off x="6305550" y="3276600"/>
            <a:ext cx="514350" cy="123825"/>
          </a:xfrm>
          <a:prstGeom prst="rect">
            <a:avLst/>
          </a:prstGeom>
          <a:noFill/>
        </p:spPr>
        <p:txBody>
          <a:bodyPr wrap="none" lIns="0" tIns="0" rIns="0" bIns="0" anchor="ctr">
            <a:spAutoFit/>
          </a:bodyPr>
          <a:lstStyle/>
          <a:p>
            <a:pPr algn="r"/>
            <a:r>
              <a:rPr sz="900" b="1">
                <a:solidFill>
                  <a:srgbClr val="2E7D32"/>
                </a:solidFill>
                <a:latin typeface="Calibri"/>
              </a:rPr>
              <a:t>+0</a:t>
            </a:r>
          </a:p>
        </p:txBody>
      </p:sp>
      <p:sp>
        <p:nvSpPr>
          <p:cNvPr id="20" name="Rounded Rectangle 19"/>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39000" y="1066800"/>
            <a:ext cx="4667250" cy="209550"/>
          </a:xfrm>
          <a:prstGeom prst="rect">
            <a:avLst/>
          </a:prstGeom>
          <a:noFill/>
        </p:spPr>
        <p:txBody>
          <a:bodyPr wrap="square" lIns="0" tIns="9525" rIns="19050" bIns="9525">
            <a:spAutoFit/>
          </a:bodyPr>
          <a:lstStyle/>
          <a:p>
            <a:pPr algn="l"/>
            <a:r>
              <a:rPr sz="1300" b="1">
                <a:solidFill>
                  <a:srgbClr val="0B2E4A"/>
                </a:solidFill>
                <a:latin typeface="Calibri"/>
              </a:rPr>
              <a:t>Regional Highlights</a:t>
            </a:r>
          </a:p>
        </p:txBody>
      </p:sp>
      <p:sp>
        <p:nvSpPr>
          <p:cNvPr id="22" name="Rectangle 21"/>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39000" y="1390650"/>
            <a:ext cx="4667250" cy="404812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USA is the largest country, at 100.0% of 2036 value.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'USA' gains the most share +0 BPS between 2026 and 2036 (</a:t>
            </a:r>
            <a:r>
              <a:rPr sz="1150" b="0">
                <a:solidFill>
                  <a:srgbClr val="2E7D32"/>
                </a:solidFill>
                <a:latin typeface="Calibri"/>
              </a:rPr>
              <a:t>▲</a:t>
            </a:r>
            <a:r>
              <a:rPr sz="1150" b="0">
                <a:solidFill>
                  <a:srgbClr val="2E2E2E"/>
                </a:solidFill>
                <a:latin typeface="Calibri"/>
              </a:rPr>
              <a:t> on the right scale).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'USA' cedes the most +0 BPS over the same window (</a:t>
            </a:r>
            <a:r>
              <a:rPr sz="1150" b="0">
                <a:solidFill>
                  <a:srgbClr val="E44D3A"/>
                </a:solidFill>
                <a:latin typeface="Calibri"/>
              </a:rPr>
              <a:t>▼</a:t>
            </a:r>
            <a:r>
              <a:rPr sz="1150" b="0">
                <a:solidFill>
                  <a:srgbClr val="2E2E2E"/>
                </a:solidFill>
                <a:latin typeface="Calibri"/>
              </a:rPr>
              <a:t>).</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USA grows fastest 6.6% CAGR (2026–2036).</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Total rises from 230.6 to 437.8 US$ Mn across 1 country.</a:t>
            </a:r>
          </a:p>
        </p:txBody>
      </p:sp>
      <p:sp>
        <p:nvSpPr>
          <p:cNvPr id="24" name="Rounded Rectangle 23"/>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230.6</a:t>
            </a:r>
          </a:p>
        </p:txBody>
      </p:sp>
      <p:sp>
        <p:nvSpPr>
          <p:cNvPr id="25" name="Rounded Rectangle 24"/>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437.8</a:t>
            </a:r>
          </a:p>
        </p:txBody>
      </p:sp>
      <p:sp>
        <p:nvSpPr>
          <p:cNvPr id="26" name="Rounded Rectangle 25"/>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57150" tIns="9525" rIns="57150" bIns="9525" rtlCol="0" anchor="ctr"/>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6.6%</a:t>
            </a:r>
          </a:p>
        </p:txBody>
      </p:sp>
      <p:sp>
        <p:nvSpPr>
          <p:cNvPr id="27" name="TextBox 2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Share Analysis, By Country Volume (Mn Units)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volume and share by country, 2021–2036, highlighting the geographies gaining and ceding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11906250" cy="1114425"/>
          </a:xfrm>
          <a:prstGeom prst="roundRect">
            <a:avLst>
              <a:gd name="adj" fmla="val 68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Market Size, By Country (Mn Units)</a:t>
            </a:r>
          </a:p>
        </p:txBody>
      </p:sp>
      <p:graphicFrame>
        <p:nvGraphicFramePr>
          <p:cNvPr id="13" name="Table 12"/>
          <p:cNvGraphicFramePr>
            <a:graphicFrameLocks noGrp="1"/>
          </p:cNvGraphicFramePr>
          <p:nvPr/>
        </p:nvGraphicFramePr>
        <p:xfrm>
          <a:off x="152400" y="1238250"/>
          <a:ext cx="11887200" cy="647701"/>
        </p:xfrm>
        <a:graphic>
          <a:graphicData uri="http://schemas.openxmlformats.org/drawingml/2006/table">
            <a:tbl>
              <a:tblPr>
                <a:tableStyleId>{5C22544A-7EE6-4342-B048-85BDC9FD1C3A}</a:tableStyleId>
              </a:tblPr>
              <a:tblGrid>
                <a:gridCol w="696253">
                  <a:extLst>
                    <a:ext uri="{9D8B030D-6E8A-4147-A177-3AD203B41FA5}">
                      <a16:colId xmlns:a16="http://schemas.microsoft.com/office/drawing/2014/main" val="20000"/>
                    </a:ext>
                  </a:extLst>
                </a:gridCol>
                <a:gridCol w="658291">
                  <a:extLst>
                    <a:ext uri="{9D8B030D-6E8A-4147-A177-3AD203B41FA5}">
                      <a16:colId xmlns:a16="http://schemas.microsoft.com/office/drawing/2014/main" val="20001"/>
                    </a:ext>
                  </a:extLst>
                </a:gridCol>
                <a:gridCol w="658291">
                  <a:extLst>
                    <a:ext uri="{9D8B030D-6E8A-4147-A177-3AD203B41FA5}">
                      <a16:colId xmlns:a16="http://schemas.microsoft.com/office/drawing/2014/main" val="20002"/>
                    </a:ext>
                  </a:extLst>
                </a:gridCol>
                <a:gridCol w="658291">
                  <a:extLst>
                    <a:ext uri="{9D8B030D-6E8A-4147-A177-3AD203B41FA5}">
                      <a16:colId xmlns:a16="http://schemas.microsoft.com/office/drawing/2014/main" val="20003"/>
                    </a:ext>
                  </a:extLst>
                </a:gridCol>
                <a:gridCol w="658291">
                  <a:extLst>
                    <a:ext uri="{9D8B030D-6E8A-4147-A177-3AD203B41FA5}">
                      <a16:colId xmlns:a16="http://schemas.microsoft.com/office/drawing/2014/main" val="20004"/>
                    </a:ext>
                  </a:extLst>
                </a:gridCol>
                <a:gridCol w="658291">
                  <a:extLst>
                    <a:ext uri="{9D8B030D-6E8A-4147-A177-3AD203B41FA5}">
                      <a16:colId xmlns:a16="http://schemas.microsoft.com/office/drawing/2014/main" val="20005"/>
                    </a:ext>
                  </a:extLst>
                </a:gridCol>
                <a:gridCol w="658291">
                  <a:extLst>
                    <a:ext uri="{9D8B030D-6E8A-4147-A177-3AD203B41FA5}">
                      <a16:colId xmlns:a16="http://schemas.microsoft.com/office/drawing/2014/main" val="20006"/>
                    </a:ext>
                  </a:extLst>
                </a:gridCol>
                <a:gridCol w="658291">
                  <a:extLst>
                    <a:ext uri="{9D8B030D-6E8A-4147-A177-3AD203B41FA5}">
                      <a16:colId xmlns:a16="http://schemas.microsoft.com/office/drawing/2014/main" val="20007"/>
                    </a:ext>
                  </a:extLst>
                </a:gridCol>
                <a:gridCol w="658291">
                  <a:extLst>
                    <a:ext uri="{9D8B030D-6E8A-4147-A177-3AD203B41FA5}">
                      <a16:colId xmlns:a16="http://schemas.microsoft.com/office/drawing/2014/main" val="20008"/>
                    </a:ext>
                  </a:extLst>
                </a:gridCol>
                <a:gridCol w="658291">
                  <a:extLst>
                    <a:ext uri="{9D8B030D-6E8A-4147-A177-3AD203B41FA5}">
                      <a16:colId xmlns:a16="http://schemas.microsoft.com/office/drawing/2014/main" val="20009"/>
                    </a:ext>
                  </a:extLst>
                </a:gridCol>
                <a:gridCol w="658291">
                  <a:extLst>
                    <a:ext uri="{9D8B030D-6E8A-4147-A177-3AD203B41FA5}">
                      <a16:colId xmlns:a16="http://schemas.microsoft.com/office/drawing/2014/main" val="20010"/>
                    </a:ext>
                  </a:extLst>
                </a:gridCol>
                <a:gridCol w="658291">
                  <a:extLst>
                    <a:ext uri="{9D8B030D-6E8A-4147-A177-3AD203B41FA5}">
                      <a16:colId xmlns:a16="http://schemas.microsoft.com/office/drawing/2014/main" val="20011"/>
                    </a:ext>
                  </a:extLst>
                </a:gridCol>
                <a:gridCol w="658291">
                  <a:extLst>
                    <a:ext uri="{9D8B030D-6E8A-4147-A177-3AD203B41FA5}">
                      <a16:colId xmlns:a16="http://schemas.microsoft.com/office/drawing/2014/main" val="20012"/>
                    </a:ext>
                  </a:extLst>
                </a:gridCol>
                <a:gridCol w="658291">
                  <a:extLst>
                    <a:ext uri="{9D8B030D-6E8A-4147-A177-3AD203B41FA5}">
                      <a16:colId xmlns:a16="http://schemas.microsoft.com/office/drawing/2014/main" val="20013"/>
                    </a:ext>
                  </a:extLst>
                </a:gridCol>
                <a:gridCol w="658291">
                  <a:extLst>
                    <a:ext uri="{9D8B030D-6E8A-4147-A177-3AD203B41FA5}">
                      <a16:colId xmlns:a16="http://schemas.microsoft.com/office/drawing/2014/main" val="20014"/>
                    </a:ext>
                  </a:extLst>
                </a:gridCol>
                <a:gridCol w="658291">
                  <a:extLst>
                    <a:ext uri="{9D8B030D-6E8A-4147-A177-3AD203B41FA5}">
                      <a16:colId xmlns:a16="http://schemas.microsoft.com/office/drawing/2014/main" val="20015"/>
                    </a:ext>
                  </a:extLst>
                </a:gridCol>
                <a:gridCol w="658291">
                  <a:extLst>
                    <a:ext uri="{9D8B030D-6E8A-4147-A177-3AD203B41FA5}">
                      <a16:colId xmlns:a16="http://schemas.microsoft.com/office/drawing/2014/main" val="20016"/>
                    </a:ext>
                  </a:extLst>
                </a:gridCol>
                <a:gridCol w="658291">
                  <a:extLst>
                    <a:ext uri="{9D8B030D-6E8A-4147-A177-3AD203B41FA5}">
                      <a16:colId xmlns:a16="http://schemas.microsoft.com/office/drawing/2014/main" val="20017"/>
                    </a:ext>
                  </a:extLst>
                </a:gridCol>
              </a:tblGrid>
              <a:tr h="215265">
                <a:tc>
                  <a:txBody>
                    <a:bodyPr/>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l"/>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16218">
                <a:tc>
                  <a:txBody>
                    <a:bodyPr/>
                    <a:lstStyle/>
                    <a:p>
                      <a:pPr algn="l"/>
                      <a:r>
                        <a:rPr sz="1100" b="1">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795.0</a:t>
                      </a:r>
                      <a:endParaRPr sz="1100"/>
                    </a:p>
                  </a:txBody>
                  <a:tcPr marL="47625" marR="38100" marT="19050" marB="19050" anchor="ctr">
                    <a:solidFill>
                      <a:srgbClr val="FFFFFF"/>
                    </a:solidFill>
                  </a:tcPr>
                </a:tc>
                <a:tc>
                  <a:txBody>
                    <a:bodyPr/>
                    <a:lstStyle/>
                    <a:p>
                      <a:pPr algn="l"/>
                      <a:r>
                        <a:rPr sz="1100" b="0">
                          <a:solidFill>
                            <a:srgbClr val="2E2E2E"/>
                          </a:solidFill>
                          <a:latin typeface="Calibri"/>
                        </a:rPr>
                        <a:t>831.5</a:t>
                      </a:r>
                      <a:endParaRPr sz="1100"/>
                    </a:p>
                  </a:txBody>
                  <a:tcPr marL="47625" marR="38100" marT="19050" marB="19050" anchor="ctr">
                    <a:solidFill>
                      <a:srgbClr val="FFFFFF"/>
                    </a:solidFill>
                  </a:tcPr>
                </a:tc>
                <a:tc>
                  <a:txBody>
                    <a:bodyPr/>
                    <a:lstStyle/>
                    <a:p>
                      <a:pPr algn="l"/>
                      <a:r>
                        <a:rPr sz="1100" b="0">
                          <a:solidFill>
                            <a:srgbClr val="2E2E2E"/>
                          </a:solidFill>
                          <a:latin typeface="Calibri"/>
                        </a:rPr>
                        <a:t>870.0</a:t>
                      </a:r>
                      <a:endParaRPr sz="1100"/>
                    </a:p>
                  </a:txBody>
                  <a:tcPr marL="47625" marR="38100" marT="19050" marB="19050" anchor="ctr">
                    <a:solidFill>
                      <a:srgbClr val="FFFFFF"/>
                    </a:solidFill>
                  </a:tcPr>
                </a:tc>
                <a:tc>
                  <a:txBody>
                    <a:bodyPr/>
                    <a:lstStyle/>
                    <a:p>
                      <a:pPr algn="l"/>
                      <a:r>
                        <a:rPr sz="1100" b="0">
                          <a:solidFill>
                            <a:srgbClr val="2E2E2E"/>
                          </a:solidFill>
                          <a:latin typeface="Calibri"/>
                        </a:rPr>
                        <a:t>910.3</a:t>
                      </a:r>
                      <a:endParaRPr sz="1100"/>
                    </a:p>
                  </a:txBody>
                  <a:tcPr marL="47625" marR="38100" marT="19050" marB="19050" anchor="ctr">
                    <a:solidFill>
                      <a:srgbClr val="FFFFFF"/>
                    </a:solidFill>
                  </a:tcPr>
                </a:tc>
                <a:tc>
                  <a:txBody>
                    <a:bodyPr/>
                    <a:lstStyle/>
                    <a:p>
                      <a:pPr algn="l"/>
                      <a:r>
                        <a:rPr sz="1100" b="0">
                          <a:solidFill>
                            <a:srgbClr val="2E2E2E"/>
                          </a:solidFill>
                          <a:latin typeface="Calibri"/>
                        </a:rPr>
                        <a:t>952.6</a:t>
                      </a:r>
                      <a:endParaRPr sz="1100"/>
                    </a:p>
                  </a:txBody>
                  <a:tcPr marL="47625" marR="38100" marT="19050" marB="19050" anchor="ctr">
                    <a:solidFill>
                      <a:srgbClr val="FFFFFF"/>
                    </a:solidFill>
                  </a:tcPr>
                </a:tc>
                <a:tc>
                  <a:txBody>
                    <a:bodyPr/>
                    <a:lstStyle/>
                    <a:p>
                      <a:pPr algn="l"/>
                      <a:r>
                        <a:rPr sz="1100" b="0">
                          <a:solidFill>
                            <a:srgbClr val="2E2E2E"/>
                          </a:solidFill>
                          <a:latin typeface="Calibri"/>
                        </a:rPr>
                        <a:t>998.2</a:t>
                      </a:r>
                      <a:endParaRPr sz="1100"/>
                    </a:p>
                  </a:txBody>
                  <a:tcPr marL="47625" marR="38100" marT="19050" marB="19050" anchor="ctr">
                    <a:solidFill>
                      <a:srgbClr val="FFFFFF"/>
                    </a:solidFill>
                  </a:tcPr>
                </a:tc>
                <a:tc>
                  <a:txBody>
                    <a:bodyPr/>
                    <a:lstStyle/>
                    <a:p>
                      <a:pPr algn="l"/>
                      <a:r>
                        <a:rPr sz="1100" b="0">
                          <a:solidFill>
                            <a:srgbClr val="2E2E2E"/>
                          </a:solidFill>
                          <a:latin typeface="Calibri"/>
                        </a:rPr>
                        <a:t>1,048</a:t>
                      </a:r>
                      <a:endParaRPr sz="1100"/>
                    </a:p>
                  </a:txBody>
                  <a:tcPr marL="47625" marR="38100" marT="19050" marB="19050" anchor="ctr">
                    <a:solidFill>
                      <a:srgbClr val="FFFFFF"/>
                    </a:solidFill>
                  </a:tcPr>
                </a:tc>
                <a:tc>
                  <a:txBody>
                    <a:bodyPr/>
                    <a:lstStyle/>
                    <a:p>
                      <a:pPr algn="l"/>
                      <a:r>
                        <a:rPr sz="1100" b="0">
                          <a:solidFill>
                            <a:srgbClr val="2E2E2E"/>
                          </a:solidFill>
                          <a:latin typeface="Calibri"/>
                        </a:rPr>
                        <a:t>1,102</a:t>
                      </a:r>
                      <a:endParaRPr sz="1100"/>
                    </a:p>
                  </a:txBody>
                  <a:tcPr marL="47625" marR="38100" marT="19050" marB="19050" anchor="ctr">
                    <a:solidFill>
                      <a:srgbClr val="FFFFFF"/>
                    </a:solidFill>
                  </a:tcPr>
                </a:tc>
                <a:tc>
                  <a:txBody>
                    <a:bodyPr/>
                    <a:lstStyle/>
                    <a:p>
                      <a:pPr algn="l"/>
                      <a:r>
                        <a:rPr sz="1100" b="0">
                          <a:solidFill>
                            <a:srgbClr val="2E2E2E"/>
                          </a:solidFill>
                          <a:latin typeface="Calibri"/>
                        </a:rPr>
                        <a:t>1,164</a:t>
                      </a:r>
                      <a:endParaRPr sz="1100"/>
                    </a:p>
                  </a:txBody>
                  <a:tcPr marL="47625" marR="38100" marT="19050" marB="19050" anchor="ctr">
                    <a:solidFill>
                      <a:srgbClr val="FFFFFF"/>
                    </a:solidFill>
                  </a:tcPr>
                </a:tc>
                <a:tc>
                  <a:txBody>
                    <a:bodyPr/>
                    <a:lstStyle/>
                    <a:p>
                      <a:pPr algn="l"/>
                      <a:r>
                        <a:rPr sz="1100" b="0">
                          <a:solidFill>
                            <a:srgbClr val="2E2E2E"/>
                          </a:solidFill>
                          <a:latin typeface="Calibri"/>
                        </a:rPr>
                        <a:t>1,232</a:t>
                      </a:r>
                      <a:endParaRPr sz="1100"/>
                    </a:p>
                  </a:txBody>
                  <a:tcPr marL="47625" marR="38100" marT="19050" marB="19050" anchor="ctr">
                    <a:solidFill>
                      <a:srgbClr val="FFFFFF"/>
                    </a:solidFill>
                  </a:tcPr>
                </a:tc>
                <a:tc>
                  <a:txBody>
                    <a:bodyPr/>
                    <a:lstStyle/>
                    <a:p>
                      <a:pPr algn="l"/>
                      <a:r>
                        <a:rPr sz="1100" b="0">
                          <a:solidFill>
                            <a:srgbClr val="2E2E2E"/>
                          </a:solidFill>
                          <a:latin typeface="Calibri"/>
                        </a:rPr>
                        <a:t>1,307</a:t>
                      </a:r>
                      <a:endParaRPr sz="1100"/>
                    </a:p>
                  </a:txBody>
                  <a:tcPr marL="47625" marR="38100" marT="19050" marB="19050" anchor="ctr">
                    <a:solidFill>
                      <a:srgbClr val="FFFFFF"/>
                    </a:solidFill>
                  </a:tcPr>
                </a:tc>
                <a:tc>
                  <a:txBody>
                    <a:bodyPr/>
                    <a:lstStyle/>
                    <a:p>
                      <a:pPr algn="l"/>
                      <a:r>
                        <a:rPr sz="1100" b="0">
                          <a:solidFill>
                            <a:srgbClr val="2E2E2E"/>
                          </a:solidFill>
                          <a:latin typeface="Calibri"/>
                        </a:rPr>
                        <a:t>1,389</a:t>
                      </a:r>
                      <a:endParaRPr sz="1100"/>
                    </a:p>
                  </a:txBody>
                  <a:tcPr marL="47625" marR="38100" marT="19050" marB="19050" anchor="ctr">
                    <a:solidFill>
                      <a:srgbClr val="FFFFFF"/>
                    </a:solidFill>
                  </a:tcPr>
                </a:tc>
                <a:tc>
                  <a:txBody>
                    <a:bodyPr/>
                    <a:lstStyle/>
                    <a:p>
                      <a:pPr algn="l"/>
                      <a:r>
                        <a:rPr sz="1100" b="0">
                          <a:solidFill>
                            <a:srgbClr val="2E2E2E"/>
                          </a:solidFill>
                          <a:latin typeface="Calibri"/>
                        </a:rPr>
                        <a:t>1,475</a:t>
                      </a:r>
                      <a:endParaRPr sz="1100"/>
                    </a:p>
                  </a:txBody>
                  <a:tcPr marL="47625" marR="38100" marT="19050" marB="19050" anchor="ctr">
                    <a:solidFill>
                      <a:srgbClr val="FFFFFF"/>
                    </a:solidFill>
                  </a:tcPr>
                </a:tc>
                <a:tc>
                  <a:txBody>
                    <a:bodyPr/>
                    <a:lstStyle/>
                    <a:p>
                      <a:pPr algn="l"/>
                      <a:r>
                        <a:rPr sz="1100" b="0">
                          <a:solidFill>
                            <a:srgbClr val="2E2E2E"/>
                          </a:solidFill>
                          <a:latin typeface="Calibri"/>
                        </a:rPr>
                        <a:t>1,567</a:t>
                      </a:r>
                      <a:endParaRPr sz="1100"/>
                    </a:p>
                  </a:txBody>
                  <a:tcPr marL="47625" marR="38100" marT="19050" marB="19050" anchor="ctr">
                    <a:solidFill>
                      <a:srgbClr val="FFFFFF"/>
                    </a:solidFill>
                  </a:tcPr>
                </a:tc>
                <a:tc>
                  <a:txBody>
                    <a:bodyPr/>
                    <a:lstStyle/>
                    <a:p>
                      <a:pPr algn="l"/>
                      <a:r>
                        <a:rPr sz="1100" b="0">
                          <a:solidFill>
                            <a:srgbClr val="2E2E2E"/>
                          </a:solidFill>
                          <a:latin typeface="Calibri"/>
                        </a:rPr>
                        <a:t>1,662</a:t>
                      </a:r>
                      <a:endParaRPr sz="1100"/>
                    </a:p>
                  </a:txBody>
                  <a:tcPr marL="47625" marR="38100" marT="19050" marB="19050" anchor="ctr">
                    <a:solidFill>
                      <a:srgbClr val="FFFFFF"/>
                    </a:solidFill>
                  </a:tcPr>
                </a:tc>
                <a:tc>
                  <a:txBody>
                    <a:bodyPr/>
                    <a:lstStyle/>
                    <a:p>
                      <a:pPr algn="l"/>
                      <a:r>
                        <a:rPr sz="1100" b="0">
                          <a:solidFill>
                            <a:srgbClr val="2E2E2E"/>
                          </a:solidFill>
                          <a:latin typeface="Calibri"/>
                        </a:rPr>
                        <a:t>1,761</a:t>
                      </a:r>
                      <a:endParaRPr sz="1100"/>
                    </a:p>
                  </a:txBody>
                  <a:tcPr marL="47625" marR="38100" marT="19050" marB="19050" anchor="ctr">
                    <a:solidFill>
                      <a:srgbClr val="FFFFFF"/>
                    </a:solidFill>
                  </a:tcPr>
                </a:tc>
                <a:tc>
                  <a:txBody>
                    <a:bodyPr/>
                    <a:lstStyle/>
                    <a:p>
                      <a:pPr algn="l"/>
                      <a:r>
                        <a:rPr sz="1100" b="0">
                          <a:solidFill>
                            <a:srgbClr val="2E2E2E"/>
                          </a:solidFill>
                          <a:latin typeface="Calibri"/>
                        </a:rPr>
                        <a:t>5.8%</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16218">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l"/>
                      <a:r>
                        <a:rPr sz="1100" b="1">
                          <a:solidFill>
                            <a:srgbClr val="2E2E2E"/>
                          </a:solidFill>
                          <a:latin typeface="Calibri"/>
                        </a:rPr>
                        <a:t>795.0</a:t>
                      </a:r>
                      <a:endParaRPr sz="1100"/>
                    </a:p>
                  </a:txBody>
                  <a:tcPr marL="47625" marR="38100" marT="19050" marB="19050" anchor="ctr">
                    <a:solidFill>
                      <a:srgbClr val="E0E8EF"/>
                    </a:solidFill>
                  </a:tcPr>
                </a:tc>
                <a:tc>
                  <a:txBody>
                    <a:bodyPr/>
                    <a:lstStyle/>
                    <a:p>
                      <a:pPr algn="l"/>
                      <a:r>
                        <a:rPr sz="1100" b="1">
                          <a:solidFill>
                            <a:srgbClr val="2E2E2E"/>
                          </a:solidFill>
                          <a:latin typeface="Calibri"/>
                        </a:rPr>
                        <a:t>831.5</a:t>
                      </a:r>
                      <a:endParaRPr sz="1100"/>
                    </a:p>
                  </a:txBody>
                  <a:tcPr marL="47625" marR="38100" marT="19050" marB="19050" anchor="ctr">
                    <a:solidFill>
                      <a:srgbClr val="E0E8EF"/>
                    </a:solidFill>
                  </a:tcPr>
                </a:tc>
                <a:tc>
                  <a:txBody>
                    <a:bodyPr/>
                    <a:lstStyle/>
                    <a:p>
                      <a:pPr algn="l"/>
                      <a:r>
                        <a:rPr sz="1100" b="1">
                          <a:solidFill>
                            <a:srgbClr val="2E2E2E"/>
                          </a:solidFill>
                          <a:latin typeface="Calibri"/>
                        </a:rPr>
                        <a:t>870.0</a:t>
                      </a:r>
                      <a:endParaRPr sz="1100"/>
                    </a:p>
                  </a:txBody>
                  <a:tcPr marL="47625" marR="38100" marT="19050" marB="19050" anchor="ctr">
                    <a:solidFill>
                      <a:srgbClr val="E0E8EF"/>
                    </a:solidFill>
                  </a:tcPr>
                </a:tc>
                <a:tc>
                  <a:txBody>
                    <a:bodyPr/>
                    <a:lstStyle/>
                    <a:p>
                      <a:pPr algn="l"/>
                      <a:r>
                        <a:rPr sz="1100" b="1">
                          <a:solidFill>
                            <a:srgbClr val="2E2E2E"/>
                          </a:solidFill>
                          <a:latin typeface="Calibri"/>
                        </a:rPr>
                        <a:t>910.3</a:t>
                      </a:r>
                      <a:endParaRPr sz="1100"/>
                    </a:p>
                  </a:txBody>
                  <a:tcPr marL="47625" marR="38100" marT="19050" marB="19050" anchor="ctr">
                    <a:solidFill>
                      <a:srgbClr val="E0E8EF"/>
                    </a:solidFill>
                  </a:tcPr>
                </a:tc>
                <a:tc>
                  <a:txBody>
                    <a:bodyPr/>
                    <a:lstStyle/>
                    <a:p>
                      <a:pPr algn="l"/>
                      <a:r>
                        <a:rPr sz="1100" b="1">
                          <a:solidFill>
                            <a:srgbClr val="2E2E2E"/>
                          </a:solidFill>
                          <a:latin typeface="Calibri"/>
                        </a:rPr>
                        <a:t>952.6</a:t>
                      </a:r>
                      <a:endParaRPr sz="1100"/>
                    </a:p>
                  </a:txBody>
                  <a:tcPr marL="47625" marR="38100" marT="19050" marB="19050" anchor="ctr">
                    <a:solidFill>
                      <a:srgbClr val="E0E8EF"/>
                    </a:solidFill>
                  </a:tcPr>
                </a:tc>
                <a:tc>
                  <a:txBody>
                    <a:bodyPr/>
                    <a:lstStyle/>
                    <a:p>
                      <a:pPr algn="l"/>
                      <a:r>
                        <a:rPr sz="1100" b="1">
                          <a:solidFill>
                            <a:srgbClr val="2E2E2E"/>
                          </a:solidFill>
                          <a:latin typeface="Calibri"/>
                        </a:rPr>
                        <a:t>998.2</a:t>
                      </a:r>
                      <a:endParaRPr sz="1100"/>
                    </a:p>
                  </a:txBody>
                  <a:tcPr marL="47625" marR="38100" marT="19050" marB="19050" anchor="ctr">
                    <a:solidFill>
                      <a:srgbClr val="E0E8EF"/>
                    </a:solidFill>
                  </a:tcPr>
                </a:tc>
                <a:tc>
                  <a:txBody>
                    <a:bodyPr/>
                    <a:lstStyle/>
                    <a:p>
                      <a:pPr algn="l"/>
                      <a:r>
                        <a:rPr sz="1100" b="1">
                          <a:solidFill>
                            <a:srgbClr val="2E2E2E"/>
                          </a:solidFill>
                          <a:latin typeface="Calibri"/>
                        </a:rPr>
                        <a:t>1,048</a:t>
                      </a:r>
                      <a:endParaRPr sz="1100"/>
                    </a:p>
                  </a:txBody>
                  <a:tcPr marL="47625" marR="38100" marT="19050" marB="19050" anchor="ctr">
                    <a:solidFill>
                      <a:srgbClr val="E0E8EF"/>
                    </a:solidFill>
                  </a:tcPr>
                </a:tc>
                <a:tc>
                  <a:txBody>
                    <a:bodyPr/>
                    <a:lstStyle/>
                    <a:p>
                      <a:pPr algn="l"/>
                      <a:r>
                        <a:rPr sz="1100" b="1">
                          <a:solidFill>
                            <a:srgbClr val="2E2E2E"/>
                          </a:solidFill>
                          <a:latin typeface="Calibri"/>
                        </a:rPr>
                        <a:t>1,102</a:t>
                      </a:r>
                      <a:endParaRPr sz="1100"/>
                    </a:p>
                  </a:txBody>
                  <a:tcPr marL="47625" marR="38100" marT="19050" marB="19050" anchor="ctr">
                    <a:solidFill>
                      <a:srgbClr val="E0E8EF"/>
                    </a:solidFill>
                  </a:tcPr>
                </a:tc>
                <a:tc>
                  <a:txBody>
                    <a:bodyPr/>
                    <a:lstStyle/>
                    <a:p>
                      <a:pPr algn="l"/>
                      <a:r>
                        <a:rPr sz="1100" b="1">
                          <a:solidFill>
                            <a:srgbClr val="2E2E2E"/>
                          </a:solidFill>
                          <a:latin typeface="Calibri"/>
                        </a:rPr>
                        <a:t>1,164</a:t>
                      </a:r>
                      <a:endParaRPr sz="1100"/>
                    </a:p>
                  </a:txBody>
                  <a:tcPr marL="47625" marR="38100" marT="19050" marB="19050" anchor="ctr">
                    <a:solidFill>
                      <a:srgbClr val="E0E8EF"/>
                    </a:solidFill>
                  </a:tcPr>
                </a:tc>
                <a:tc>
                  <a:txBody>
                    <a:bodyPr/>
                    <a:lstStyle/>
                    <a:p>
                      <a:pPr algn="l"/>
                      <a:r>
                        <a:rPr sz="1100" b="1">
                          <a:solidFill>
                            <a:srgbClr val="2E2E2E"/>
                          </a:solidFill>
                          <a:latin typeface="Calibri"/>
                        </a:rPr>
                        <a:t>1,232</a:t>
                      </a:r>
                      <a:endParaRPr sz="1100"/>
                    </a:p>
                  </a:txBody>
                  <a:tcPr marL="47625" marR="38100" marT="19050" marB="19050" anchor="ctr">
                    <a:solidFill>
                      <a:srgbClr val="E0E8EF"/>
                    </a:solidFill>
                  </a:tcPr>
                </a:tc>
                <a:tc>
                  <a:txBody>
                    <a:bodyPr/>
                    <a:lstStyle/>
                    <a:p>
                      <a:pPr algn="l"/>
                      <a:r>
                        <a:rPr sz="1100" b="1">
                          <a:solidFill>
                            <a:srgbClr val="2E2E2E"/>
                          </a:solidFill>
                          <a:latin typeface="Calibri"/>
                        </a:rPr>
                        <a:t>1,307</a:t>
                      </a:r>
                      <a:endParaRPr sz="1100"/>
                    </a:p>
                  </a:txBody>
                  <a:tcPr marL="47625" marR="38100" marT="19050" marB="19050" anchor="ctr">
                    <a:solidFill>
                      <a:srgbClr val="E0E8EF"/>
                    </a:solidFill>
                  </a:tcPr>
                </a:tc>
                <a:tc>
                  <a:txBody>
                    <a:bodyPr/>
                    <a:lstStyle/>
                    <a:p>
                      <a:pPr algn="l"/>
                      <a:r>
                        <a:rPr sz="1100" b="1">
                          <a:solidFill>
                            <a:srgbClr val="2E2E2E"/>
                          </a:solidFill>
                          <a:latin typeface="Calibri"/>
                        </a:rPr>
                        <a:t>1,389</a:t>
                      </a:r>
                      <a:endParaRPr sz="1100"/>
                    </a:p>
                  </a:txBody>
                  <a:tcPr marL="47625" marR="38100" marT="19050" marB="19050" anchor="ctr">
                    <a:solidFill>
                      <a:srgbClr val="E0E8EF"/>
                    </a:solidFill>
                  </a:tcPr>
                </a:tc>
                <a:tc>
                  <a:txBody>
                    <a:bodyPr/>
                    <a:lstStyle/>
                    <a:p>
                      <a:pPr algn="l"/>
                      <a:r>
                        <a:rPr sz="1100" b="1">
                          <a:solidFill>
                            <a:srgbClr val="2E2E2E"/>
                          </a:solidFill>
                          <a:latin typeface="Calibri"/>
                        </a:rPr>
                        <a:t>1,475</a:t>
                      </a:r>
                      <a:endParaRPr sz="1100"/>
                    </a:p>
                  </a:txBody>
                  <a:tcPr marL="47625" marR="38100" marT="19050" marB="19050" anchor="ctr">
                    <a:solidFill>
                      <a:srgbClr val="E0E8EF"/>
                    </a:solidFill>
                  </a:tcPr>
                </a:tc>
                <a:tc>
                  <a:txBody>
                    <a:bodyPr/>
                    <a:lstStyle/>
                    <a:p>
                      <a:pPr algn="l"/>
                      <a:r>
                        <a:rPr sz="1100" b="1">
                          <a:solidFill>
                            <a:srgbClr val="2E2E2E"/>
                          </a:solidFill>
                          <a:latin typeface="Calibri"/>
                        </a:rPr>
                        <a:t>1,567</a:t>
                      </a:r>
                      <a:endParaRPr sz="1100"/>
                    </a:p>
                  </a:txBody>
                  <a:tcPr marL="47625" marR="38100" marT="19050" marB="19050" anchor="ctr">
                    <a:solidFill>
                      <a:srgbClr val="E0E8EF"/>
                    </a:solidFill>
                  </a:tcPr>
                </a:tc>
                <a:tc>
                  <a:txBody>
                    <a:bodyPr/>
                    <a:lstStyle/>
                    <a:p>
                      <a:pPr algn="l"/>
                      <a:r>
                        <a:rPr sz="1100" b="1">
                          <a:solidFill>
                            <a:srgbClr val="2E2E2E"/>
                          </a:solidFill>
                          <a:latin typeface="Calibri"/>
                        </a:rPr>
                        <a:t>1,662</a:t>
                      </a:r>
                      <a:endParaRPr sz="1100"/>
                    </a:p>
                  </a:txBody>
                  <a:tcPr marL="47625" marR="38100" marT="19050" marB="19050" anchor="ctr">
                    <a:solidFill>
                      <a:srgbClr val="E0E8EF"/>
                    </a:solidFill>
                  </a:tcPr>
                </a:tc>
                <a:tc>
                  <a:txBody>
                    <a:bodyPr/>
                    <a:lstStyle/>
                    <a:p>
                      <a:pPr algn="l"/>
                      <a:r>
                        <a:rPr sz="1100" b="1">
                          <a:solidFill>
                            <a:srgbClr val="2E2E2E"/>
                          </a:solidFill>
                          <a:latin typeface="Calibri"/>
                        </a:rPr>
                        <a:t>1,761</a:t>
                      </a:r>
                      <a:endParaRPr sz="1100"/>
                    </a:p>
                  </a:txBody>
                  <a:tcPr marL="47625" marR="38100" marT="19050" marB="19050" anchor="ctr">
                    <a:solidFill>
                      <a:srgbClr val="E0E8EF"/>
                    </a:solidFill>
                  </a:tcPr>
                </a:tc>
                <a:tc>
                  <a:txBody>
                    <a:bodyPr/>
                    <a:lstStyle/>
                    <a:p>
                      <a:pPr algn="l"/>
                      <a:r>
                        <a:rPr sz="1100" b="1">
                          <a:solidFill>
                            <a:srgbClr val="2E2E2E"/>
                          </a:solidFill>
                          <a:latin typeface="Calibri"/>
                        </a:rPr>
                        <a:t>5.8%</a:t>
                      </a:r>
                      <a:endParaRPr sz="1100"/>
                    </a:p>
                  </a:txBody>
                  <a:tcPr marL="47625" marR="38100" marT="19050" marB="19050" anchor="ctr">
                    <a:solidFill>
                      <a:srgbClr val="E0E8EF"/>
                    </a:solidFill>
                  </a:tcPr>
                </a:tc>
                <a:extLst>
                  <a:ext uri="{0D108BD9-81ED-4DB2-BD59-A6C34878D82A}">
                    <a16:rowId xmlns:a16="http://schemas.microsoft.com/office/drawing/2014/main" val="10002"/>
                  </a:ext>
                </a:extLst>
              </a:tr>
            </a:tbl>
          </a:graphicData>
        </a:graphic>
      </p:graphicFrame>
      <p:sp>
        <p:nvSpPr>
          <p:cNvPr id="14" name="TextBox 13"/>
          <p:cNvSpPr txBox="1"/>
          <p:nvPr/>
        </p:nvSpPr>
        <p:spPr>
          <a:xfrm>
            <a:off x="219075" y="189547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2228850"/>
            <a:ext cx="11906250" cy="4400550"/>
          </a:xfrm>
          <a:prstGeom prst="roundRect">
            <a:avLst>
              <a:gd name="adj" fmla="val 17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6225" y="2314575"/>
            <a:ext cx="11639550" cy="209550"/>
          </a:xfrm>
          <a:prstGeom prst="rect">
            <a:avLst/>
          </a:prstGeom>
          <a:noFill/>
        </p:spPr>
        <p:txBody>
          <a:bodyPr wrap="square" lIns="0" tIns="9525" rIns="19050" bIns="9525">
            <a:spAutoFit/>
          </a:bodyPr>
          <a:lstStyle/>
          <a:p>
            <a:pPr algn="l"/>
            <a:r>
              <a:rPr sz="1300" b="1">
                <a:solidFill>
                  <a:srgbClr val="0B2E4A"/>
                </a:solidFill>
                <a:latin typeface="Calibri"/>
              </a:rPr>
              <a:t>USA Volume Share Read-out, By Country</a:t>
            </a:r>
          </a:p>
        </p:txBody>
      </p:sp>
      <p:sp>
        <p:nvSpPr>
          <p:cNvPr id="17" name="Rectangle 16"/>
          <p:cNvSpPr/>
          <p:nvPr/>
        </p:nvSpPr>
        <p:spPr>
          <a:xfrm>
            <a:off x="276225" y="25527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6225" y="2638425"/>
            <a:ext cx="11639550" cy="391477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'USA' is the largest country 100.0% of 2036 volume (1,761 Mn Units).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'USA' grows fastest at 5.8% CAGR (2026–2036).</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Share shifts toward 'USA' (+0 BPS) and away from 'USA' (+0 BPS) between 2026 and 2036.</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Total volume rises from 998.2 to 1,761 Mn Units across 1 country.</a:t>
            </a:r>
          </a:p>
        </p:txBody>
      </p:sp>
      <p:sp>
        <p:nvSpPr>
          <p:cNvPr id="19" name="TextBox 1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Share Analysis, By Country Value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and share by country, 2021–2036, highlighting the geographies gaining and ceding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11906250" cy="1114425"/>
          </a:xfrm>
          <a:prstGeom prst="roundRect">
            <a:avLst>
              <a:gd name="adj" fmla="val 68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Market Size, By Country (US$ Mn)</a:t>
            </a:r>
          </a:p>
        </p:txBody>
      </p:sp>
      <p:graphicFrame>
        <p:nvGraphicFramePr>
          <p:cNvPr id="13" name="Table 12"/>
          <p:cNvGraphicFramePr>
            <a:graphicFrameLocks noGrp="1"/>
          </p:cNvGraphicFramePr>
          <p:nvPr/>
        </p:nvGraphicFramePr>
        <p:xfrm>
          <a:off x="152400" y="1238250"/>
          <a:ext cx="11887200" cy="647701"/>
        </p:xfrm>
        <a:graphic>
          <a:graphicData uri="http://schemas.openxmlformats.org/drawingml/2006/table">
            <a:tbl>
              <a:tblPr>
                <a:tableStyleId>{5C22544A-7EE6-4342-B048-85BDC9FD1C3A}</a:tableStyleId>
              </a:tblPr>
              <a:tblGrid>
                <a:gridCol w="696253">
                  <a:extLst>
                    <a:ext uri="{9D8B030D-6E8A-4147-A177-3AD203B41FA5}">
                      <a16:colId xmlns:a16="http://schemas.microsoft.com/office/drawing/2014/main" val="20000"/>
                    </a:ext>
                  </a:extLst>
                </a:gridCol>
                <a:gridCol w="658291">
                  <a:extLst>
                    <a:ext uri="{9D8B030D-6E8A-4147-A177-3AD203B41FA5}">
                      <a16:colId xmlns:a16="http://schemas.microsoft.com/office/drawing/2014/main" val="20001"/>
                    </a:ext>
                  </a:extLst>
                </a:gridCol>
                <a:gridCol w="658291">
                  <a:extLst>
                    <a:ext uri="{9D8B030D-6E8A-4147-A177-3AD203B41FA5}">
                      <a16:colId xmlns:a16="http://schemas.microsoft.com/office/drawing/2014/main" val="20002"/>
                    </a:ext>
                  </a:extLst>
                </a:gridCol>
                <a:gridCol w="658291">
                  <a:extLst>
                    <a:ext uri="{9D8B030D-6E8A-4147-A177-3AD203B41FA5}">
                      <a16:colId xmlns:a16="http://schemas.microsoft.com/office/drawing/2014/main" val="20003"/>
                    </a:ext>
                  </a:extLst>
                </a:gridCol>
                <a:gridCol w="658291">
                  <a:extLst>
                    <a:ext uri="{9D8B030D-6E8A-4147-A177-3AD203B41FA5}">
                      <a16:colId xmlns:a16="http://schemas.microsoft.com/office/drawing/2014/main" val="20004"/>
                    </a:ext>
                  </a:extLst>
                </a:gridCol>
                <a:gridCol w="658291">
                  <a:extLst>
                    <a:ext uri="{9D8B030D-6E8A-4147-A177-3AD203B41FA5}">
                      <a16:colId xmlns:a16="http://schemas.microsoft.com/office/drawing/2014/main" val="20005"/>
                    </a:ext>
                  </a:extLst>
                </a:gridCol>
                <a:gridCol w="658291">
                  <a:extLst>
                    <a:ext uri="{9D8B030D-6E8A-4147-A177-3AD203B41FA5}">
                      <a16:colId xmlns:a16="http://schemas.microsoft.com/office/drawing/2014/main" val="20006"/>
                    </a:ext>
                  </a:extLst>
                </a:gridCol>
                <a:gridCol w="658291">
                  <a:extLst>
                    <a:ext uri="{9D8B030D-6E8A-4147-A177-3AD203B41FA5}">
                      <a16:colId xmlns:a16="http://schemas.microsoft.com/office/drawing/2014/main" val="20007"/>
                    </a:ext>
                  </a:extLst>
                </a:gridCol>
                <a:gridCol w="658291">
                  <a:extLst>
                    <a:ext uri="{9D8B030D-6E8A-4147-A177-3AD203B41FA5}">
                      <a16:colId xmlns:a16="http://schemas.microsoft.com/office/drawing/2014/main" val="20008"/>
                    </a:ext>
                  </a:extLst>
                </a:gridCol>
                <a:gridCol w="658291">
                  <a:extLst>
                    <a:ext uri="{9D8B030D-6E8A-4147-A177-3AD203B41FA5}">
                      <a16:colId xmlns:a16="http://schemas.microsoft.com/office/drawing/2014/main" val="20009"/>
                    </a:ext>
                  </a:extLst>
                </a:gridCol>
                <a:gridCol w="658291">
                  <a:extLst>
                    <a:ext uri="{9D8B030D-6E8A-4147-A177-3AD203B41FA5}">
                      <a16:colId xmlns:a16="http://schemas.microsoft.com/office/drawing/2014/main" val="20010"/>
                    </a:ext>
                  </a:extLst>
                </a:gridCol>
                <a:gridCol w="658291">
                  <a:extLst>
                    <a:ext uri="{9D8B030D-6E8A-4147-A177-3AD203B41FA5}">
                      <a16:colId xmlns:a16="http://schemas.microsoft.com/office/drawing/2014/main" val="20011"/>
                    </a:ext>
                  </a:extLst>
                </a:gridCol>
                <a:gridCol w="658291">
                  <a:extLst>
                    <a:ext uri="{9D8B030D-6E8A-4147-A177-3AD203B41FA5}">
                      <a16:colId xmlns:a16="http://schemas.microsoft.com/office/drawing/2014/main" val="20012"/>
                    </a:ext>
                  </a:extLst>
                </a:gridCol>
                <a:gridCol w="658291">
                  <a:extLst>
                    <a:ext uri="{9D8B030D-6E8A-4147-A177-3AD203B41FA5}">
                      <a16:colId xmlns:a16="http://schemas.microsoft.com/office/drawing/2014/main" val="20013"/>
                    </a:ext>
                  </a:extLst>
                </a:gridCol>
                <a:gridCol w="658291">
                  <a:extLst>
                    <a:ext uri="{9D8B030D-6E8A-4147-A177-3AD203B41FA5}">
                      <a16:colId xmlns:a16="http://schemas.microsoft.com/office/drawing/2014/main" val="20014"/>
                    </a:ext>
                  </a:extLst>
                </a:gridCol>
                <a:gridCol w="658291">
                  <a:extLst>
                    <a:ext uri="{9D8B030D-6E8A-4147-A177-3AD203B41FA5}">
                      <a16:colId xmlns:a16="http://schemas.microsoft.com/office/drawing/2014/main" val="20015"/>
                    </a:ext>
                  </a:extLst>
                </a:gridCol>
                <a:gridCol w="658291">
                  <a:extLst>
                    <a:ext uri="{9D8B030D-6E8A-4147-A177-3AD203B41FA5}">
                      <a16:colId xmlns:a16="http://schemas.microsoft.com/office/drawing/2014/main" val="20016"/>
                    </a:ext>
                  </a:extLst>
                </a:gridCol>
                <a:gridCol w="658291">
                  <a:extLst>
                    <a:ext uri="{9D8B030D-6E8A-4147-A177-3AD203B41FA5}">
                      <a16:colId xmlns:a16="http://schemas.microsoft.com/office/drawing/2014/main" val="20017"/>
                    </a:ext>
                  </a:extLst>
                </a:gridCol>
              </a:tblGrid>
              <a:tr h="215265">
                <a:tc>
                  <a:txBody>
                    <a:bodyPr/>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l"/>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16218">
                <a:tc>
                  <a:txBody>
                    <a:bodyPr/>
                    <a:lstStyle/>
                    <a:p>
                      <a:pPr algn="l"/>
                      <a:r>
                        <a:rPr sz="1100" b="1">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181.5</a:t>
                      </a:r>
                      <a:endParaRPr sz="1100"/>
                    </a:p>
                  </a:txBody>
                  <a:tcPr marL="47625" marR="38100" marT="19050" marB="19050" anchor="ctr">
                    <a:solidFill>
                      <a:srgbClr val="FFFFFF"/>
                    </a:solidFill>
                  </a:tcPr>
                </a:tc>
                <a:tc>
                  <a:txBody>
                    <a:bodyPr/>
                    <a:lstStyle/>
                    <a:p>
                      <a:pPr algn="l"/>
                      <a:r>
                        <a:rPr sz="1100" b="0">
                          <a:solidFill>
                            <a:srgbClr val="2E2E2E"/>
                          </a:solidFill>
                          <a:latin typeface="Calibri"/>
                        </a:rPr>
                        <a:t>190.1</a:t>
                      </a:r>
                      <a:endParaRPr sz="1100"/>
                    </a:p>
                  </a:txBody>
                  <a:tcPr marL="47625" marR="38100" marT="19050" marB="19050" anchor="ctr">
                    <a:solidFill>
                      <a:srgbClr val="FFFFFF"/>
                    </a:solidFill>
                  </a:tcPr>
                </a:tc>
                <a:tc>
                  <a:txBody>
                    <a:bodyPr/>
                    <a:lstStyle/>
                    <a:p>
                      <a:pPr algn="l"/>
                      <a:r>
                        <a:rPr sz="1100" b="0">
                          <a:solidFill>
                            <a:srgbClr val="2E2E2E"/>
                          </a:solidFill>
                          <a:latin typeface="Calibri"/>
                        </a:rPr>
                        <a:t>199.2</a:t>
                      </a:r>
                      <a:endParaRPr sz="1100"/>
                    </a:p>
                  </a:txBody>
                  <a:tcPr marL="47625" marR="38100" marT="19050" marB="19050" anchor="ctr">
                    <a:solidFill>
                      <a:srgbClr val="FFFFFF"/>
                    </a:solidFill>
                  </a:tcPr>
                </a:tc>
                <a:tc>
                  <a:txBody>
                    <a:bodyPr/>
                    <a:lstStyle/>
                    <a:p>
                      <a:pPr algn="l"/>
                      <a:r>
                        <a:rPr sz="1100" b="0">
                          <a:solidFill>
                            <a:srgbClr val="2E2E2E"/>
                          </a:solidFill>
                          <a:latin typeface="Calibri"/>
                        </a:rPr>
                        <a:t>208.9</a:t>
                      </a:r>
                      <a:endParaRPr sz="1100"/>
                    </a:p>
                  </a:txBody>
                  <a:tcPr marL="47625" marR="38100" marT="19050" marB="19050" anchor="ctr">
                    <a:solidFill>
                      <a:srgbClr val="FFFFFF"/>
                    </a:solidFill>
                  </a:tcPr>
                </a:tc>
                <a:tc>
                  <a:txBody>
                    <a:bodyPr/>
                    <a:lstStyle/>
                    <a:p>
                      <a:pPr algn="l"/>
                      <a:r>
                        <a:rPr sz="1100" b="0">
                          <a:solidFill>
                            <a:srgbClr val="2E2E2E"/>
                          </a:solidFill>
                          <a:latin typeface="Calibri"/>
                        </a:rPr>
                        <a:t>219.1</a:t>
                      </a:r>
                      <a:endParaRPr sz="1100"/>
                    </a:p>
                  </a:txBody>
                  <a:tcPr marL="47625" marR="38100" marT="19050" marB="19050" anchor="ctr">
                    <a:solidFill>
                      <a:srgbClr val="FFFFFF"/>
                    </a:solidFill>
                  </a:tcPr>
                </a:tc>
                <a:tc>
                  <a:txBody>
                    <a:bodyPr/>
                    <a:lstStyle/>
                    <a:p>
                      <a:pPr algn="l"/>
                      <a:r>
                        <a:rPr sz="1100" b="0">
                          <a:solidFill>
                            <a:srgbClr val="2E2E2E"/>
                          </a:solidFill>
                          <a:latin typeface="Calibri"/>
                        </a:rPr>
                        <a:t>230.6</a:t>
                      </a:r>
                      <a:endParaRPr sz="1100"/>
                    </a:p>
                  </a:txBody>
                  <a:tcPr marL="47625" marR="38100" marT="19050" marB="19050" anchor="ctr">
                    <a:solidFill>
                      <a:srgbClr val="FFFFFF"/>
                    </a:solidFill>
                  </a:tcPr>
                </a:tc>
                <a:tc>
                  <a:txBody>
                    <a:bodyPr/>
                    <a:lstStyle/>
                    <a:p>
                      <a:pPr algn="l"/>
                      <a:r>
                        <a:rPr sz="1100" b="0">
                          <a:solidFill>
                            <a:srgbClr val="2E2E2E"/>
                          </a:solidFill>
                          <a:latin typeface="Calibri"/>
                        </a:rPr>
                        <a:t>243.3</a:t>
                      </a:r>
                      <a:endParaRPr sz="1100"/>
                    </a:p>
                  </a:txBody>
                  <a:tcPr marL="47625" marR="38100" marT="19050" marB="19050" anchor="ctr">
                    <a:solidFill>
                      <a:srgbClr val="FFFFFF"/>
                    </a:solidFill>
                  </a:tcPr>
                </a:tc>
                <a:tc>
                  <a:txBody>
                    <a:bodyPr/>
                    <a:lstStyle/>
                    <a:p>
                      <a:pPr algn="l"/>
                      <a:r>
                        <a:rPr sz="1100" b="0">
                          <a:solidFill>
                            <a:srgbClr val="2E2E2E"/>
                          </a:solidFill>
                          <a:latin typeface="Calibri"/>
                        </a:rPr>
                        <a:t>257.4</a:t>
                      </a:r>
                      <a:endParaRPr sz="1100"/>
                    </a:p>
                  </a:txBody>
                  <a:tcPr marL="47625" marR="38100" marT="19050" marB="19050" anchor="ctr">
                    <a:solidFill>
                      <a:srgbClr val="FFFFFF"/>
                    </a:solidFill>
                  </a:tcPr>
                </a:tc>
                <a:tc>
                  <a:txBody>
                    <a:bodyPr/>
                    <a:lstStyle/>
                    <a:p>
                      <a:pPr algn="l"/>
                      <a:r>
                        <a:rPr sz="1100" b="0">
                          <a:solidFill>
                            <a:srgbClr val="2E2E2E"/>
                          </a:solidFill>
                          <a:latin typeface="Calibri"/>
                        </a:rPr>
                        <a:t>273.5</a:t>
                      </a:r>
                      <a:endParaRPr sz="1100"/>
                    </a:p>
                  </a:txBody>
                  <a:tcPr marL="47625" marR="38100" marT="19050" marB="19050" anchor="ctr">
                    <a:solidFill>
                      <a:srgbClr val="FFFFFF"/>
                    </a:solidFill>
                  </a:tcPr>
                </a:tc>
                <a:tc>
                  <a:txBody>
                    <a:bodyPr/>
                    <a:lstStyle/>
                    <a:p>
                      <a:pPr algn="l"/>
                      <a:r>
                        <a:rPr sz="1100" b="0">
                          <a:solidFill>
                            <a:srgbClr val="2E2E2E"/>
                          </a:solidFill>
                          <a:latin typeface="Calibri"/>
                        </a:rPr>
                        <a:t>291.5</a:t>
                      </a:r>
                      <a:endParaRPr sz="1100"/>
                    </a:p>
                  </a:txBody>
                  <a:tcPr marL="47625" marR="38100" marT="19050" marB="19050" anchor="ctr">
                    <a:solidFill>
                      <a:srgbClr val="FFFFFF"/>
                    </a:solidFill>
                  </a:tcPr>
                </a:tc>
                <a:tc>
                  <a:txBody>
                    <a:bodyPr/>
                    <a:lstStyle/>
                    <a:p>
                      <a:pPr algn="l"/>
                      <a:r>
                        <a:rPr sz="1100" b="0">
                          <a:solidFill>
                            <a:srgbClr val="2E2E2E"/>
                          </a:solidFill>
                          <a:latin typeface="Calibri"/>
                        </a:rPr>
                        <a:t>311.5</a:t>
                      </a:r>
                      <a:endParaRPr sz="1100"/>
                    </a:p>
                  </a:txBody>
                  <a:tcPr marL="47625" marR="38100" marT="19050" marB="19050" anchor="ctr">
                    <a:solidFill>
                      <a:srgbClr val="FFFFFF"/>
                    </a:solidFill>
                  </a:tcPr>
                </a:tc>
                <a:tc>
                  <a:txBody>
                    <a:bodyPr/>
                    <a:lstStyle/>
                    <a:p>
                      <a:pPr algn="l"/>
                      <a:r>
                        <a:rPr sz="1100" b="0">
                          <a:solidFill>
                            <a:srgbClr val="2E2E2E"/>
                          </a:solidFill>
                          <a:latin typeface="Calibri"/>
                        </a:rPr>
                        <a:t>333.4</a:t>
                      </a:r>
                      <a:endParaRPr sz="1100"/>
                    </a:p>
                  </a:txBody>
                  <a:tcPr marL="47625" marR="38100" marT="19050" marB="19050" anchor="ctr">
                    <a:solidFill>
                      <a:srgbClr val="FFFFFF"/>
                    </a:solidFill>
                  </a:tcPr>
                </a:tc>
                <a:tc>
                  <a:txBody>
                    <a:bodyPr/>
                    <a:lstStyle/>
                    <a:p>
                      <a:pPr algn="l"/>
                      <a:r>
                        <a:rPr sz="1100" b="0">
                          <a:solidFill>
                            <a:srgbClr val="2E2E2E"/>
                          </a:solidFill>
                          <a:latin typeface="Calibri"/>
                        </a:rPr>
                        <a:t>357.0</a:t>
                      </a:r>
                      <a:endParaRPr sz="1100"/>
                    </a:p>
                  </a:txBody>
                  <a:tcPr marL="47625" marR="38100" marT="19050" marB="19050" anchor="ctr">
                    <a:solidFill>
                      <a:srgbClr val="FFFFFF"/>
                    </a:solidFill>
                  </a:tcPr>
                </a:tc>
                <a:tc>
                  <a:txBody>
                    <a:bodyPr/>
                    <a:lstStyle/>
                    <a:p>
                      <a:pPr algn="l"/>
                      <a:r>
                        <a:rPr sz="1100" b="0">
                          <a:solidFill>
                            <a:srgbClr val="2E2E2E"/>
                          </a:solidFill>
                          <a:latin typeface="Calibri"/>
                        </a:rPr>
                        <a:t>382.4</a:t>
                      </a:r>
                      <a:endParaRPr sz="1100"/>
                    </a:p>
                  </a:txBody>
                  <a:tcPr marL="47625" marR="38100" marT="19050" marB="19050" anchor="ctr">
                    <a:solidFill>
                      <a:srgbClr val="FFFFFF"/>
                    </a:solidFill>
                  </a:tcPr>
                </a:tc>
                <a:tc>
                  <a:txBody>
                    <a:bodyPr/>
                    <a:lstStyle/>
                    <a:p>
                      <a:pPr algn="l"/>
                      <a:r>
                        <a:rPr sz="1100" b="0">
                          <a:solidFill>
                            <a:srgbClr val="2E2E2E"/>
                          </a:solidFill>
                          <a:latin typeface="Calibri"/>
                        </a:rPr>
                        <a:t>409.3</a:t>
                      </a:r>
                      <a:endParaRPr sz="1100"/>
                    </a:p>
                  </a:txBody>
                  <a:tcPr marL="47625" marR="38100" marT="19050" marB="19050" anchor="ctr">
                    <a:solidFill>
                      <a:srgbClr val="FFFFFF"/>
                    </a:solidFill>
                  </a:tcPr>
                </a:tc>
                <a:tc>
                  <a:txBody>
                    <a:bodyPr/>
                    <a:lstStyle/>
                    <a:p>
                      <a:pPr algn="l"/>
                      <a:r>
                        <a:rPr sz="1100" b="0">
                          <a:solidFill>
                            <a:srgbClr val="2E2E2E"/>
                          </a:solidFill>
                          <a:latin typeface="Calibri"/>
                        </a:rPr>
                        <a:t>437.8</a:t>
                      </a:r>
                      <a:endParaRPr sz="1100"/>
                    </a:p>
                  </a:txBody>
                  <a:tcPr marL="47625" marR="38100" marT="19050" marB="19050" anchor="ctr">
                    <a:solidFill>
                      <a:srgbClr val="FFFFFF"/>
                    </a:solidFill>
                  </a:tcPr>
                </a:tc>
                <a:tc>
                  <a:txBody>
                    <a:bodyPr/>
                    <a:lstStyle/>
                    <a:p>
                      <a:pPr algn="l"/>
                      <a:r>
                        <a:rPr sz="1100" b="0">
                          <a:solidFill>
                            <a:srgbClr val="2E2E2E"/>
                          </a:solidFill>
                          <a:latin typeface="Calibri"/>
                        </a:rPr>
                        <a:t>6.6%</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16218">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l"/>
                      <a:r>
                        <a:rPr sz="1100" b="1">
                          <a:solidFill>
                            <a:srgbClr val="2E2E2E"/>
                          </a:solidFill>
                          <a:latin typeface="Calibri"/>
                        </a:rPr>
                        <a:t>181.5</a:t>
                      </a:r>
                      <a:endParaRPr sz="1100"/>
                    </a:p>
                  </a:txBody>
                  <a:tcPr marL="47625" marR="38100" marT="19050" marB="19050" anchor="ctr">
                    <a:solidFill>
                      <a:srgbClr val="E0E8EF"/>
                    </a:solidFill>
                  </a:tcPr>
                </a:tc>
                <a:tc>
                  <a:txBody>
                    <a:bodyPr/>
                    <a:lstStyle/>
                    <a:p>
                      <a:pPr algn="l"/>
                      <a:r>
                        <a:rPr sz="1100" b="1">
                          <a:solidFill>
                            <a:srgbClr val="2E2E2E"/>
                          </a:solidFill>
                          <a:latin typeface="Calibri"/>
                        </a:rPr>
                        <a:t>190.1</a:t>
                      </a:r>
                      <a:endParaRPr sz="1100"/>
                    </a:p>
                  </a:txBody>
                  <a:tcPr marL="47625" marR="38100" marT="19050" marB="19050" anchor="ctr">
                    <a:solidFill>
                      <a:srgbClr val="E0E8EF"/>
                    </a:solidFill>
                  </a:tcPr>
                </a:tc>
                <a:tc>
                  <a:txBody>
                    <a:bodyPr/>
                    <a:lstStyle/>
                    <a:p>
                      <a:pPr algn="l"/>
                      <a:r>
                        <a:rPr sz="1100" b="1">
                          <a:solidFill>
                            <a:srgbClr val="2E2E2E"/>
                          </a:solidFill>
                          <a:latin typeface="Calibri"/>
                        </a:rPr>
                        <a:t>199.2</a:t>
                      </a:r>
                      <a:endParaRPr sz="1100"/>
                    </a:p>
                  </a:txBody>
                  <a:tcPr marL="47625" marR="38100" marT="19050" marB="19050" anchor="ctr">
                    <a:solidFill>
                      <a:srgbClr val="E0E8EF"/>
                    </a:solidFill>
                  </a:tcPr>
                </a:tc>
                <a:tc>
                  <a:txBody>
                    <a:bodyPr/>
                    <a:lstStyle/>
                    <a:p>
                      <a:pPr algn="l"/>
                      <a:r>
                        <a:rPr sz="1100" b="1">
                          <a:solidFill>
                            <a:srgbClr val="2E2E2E"/>
                          </a:solidFill>
                          <a:latin typeface="Calibri"/>
                        </a:rPr>
                        <a:t>208.9</a:t>
                      </a:r>
                      <a:endParaRPr sz="1100"/>
                    </a:p>
                  </a:txBody>
                  <a:tcPr marL="47625" marR="38100" marT="19050" marB="19050" anchor="ctr">
                    <a:solidFill>
                      <a:srgbClr val="E0E8EF"/>
                    </a:solidFill>
                  </a:tcPr>
                </a:tc>
                <a:tc>
                  <a:txBody>
                    <a:bodyPr/>
                    <a:lstStyle/>
                    <a:p>
                      <a:pPr algn="l"/>
                      <a:r>
                        <a:rPr sz="1100" b="1">
                          <a:solidFill>
                            <a:srgbClr val="2E2E2E"/>
                          </a:solidFill>
                          <a:latin typeface="Calibri"/>
                        </a:rPr>
                        <a:t>219.1</a:t>
                      </a:r>
                      <a:endParaRPr sz="1100"/>
                    </a:p>
                  </a:txBody>
                  <a:tcPr marL="47625" marR="38100" marT="19050" marB="19050" anchor="ctr">
                    <a:solidFill>
                      <a:srgbClr val="E0E8EF"/>
                    </a:solidFill>
                  </a:tcPr>
                </a:tc>
                <a:tc>
                  <a:txBody>
                    <a:bodyPr/>
                    <a:lstStyle/>
                    <a:p>
                      <a:pPr algn="l"/>
                      <a:r>
                        <a:rPr sz="1100" b="1">
                          <a:solidFill>
                            <a:srgbClr val="2E2E2E"/>
                          </a:solidFill>
                          <a:latin typeface="Calibri"/>
                        </a:rPr>
                        <a:t>230.6</a:t>
                      </a:r>
                      <a:endParaRPr sz="1100"/>
                    </a:p>
                  </a:txBody>
                  <a:tcPr marL="47625" marR="38100" marT="19050" marB="19050" anchor="ctr">
                    <a:solidFill>
                      <a:srgbClr val="E0E8EF"/>
                    </a:solidFill>
                  </a:tcPr>
                </a:tc>
                <a:tc>
                  <a:txBody>
                    <a:bodyPr/>
                    <a:lstStyle/>
                    <a:p>
                      <a:pPr algn="l"/>
                      <a:r>
                        <a:rPr sz="1100" b="1">
                          <a:solidFill>
                            <a:srgbClr val="2E2E2E"/>
                          </a:solidFill>
                          <a:latin typeface="Calibri"/>
                        </a:rPr>
                        <a:t>243.3</a:t>
                      </a:r>
                      <a:endParaRPr sz="1100"/>
                    </a:p>
                  </a:txBody>
                  <a:tcPr marL="47625" marR="38100" marT="19050" marB="19050" anchor="ctr">
                    <a:solidFill>
                      <a:srgbClr val="E0E8EF"/>
                    </a:solidFill>
                  </a:tcPr>
                </a:tc>
                <a:tc>
                  <a:txBody>
                    <a:bodyPr/>
                    <a:lstStyle/>
                    <a:p>
                      <a:pPr algn="l"/>
                      <a:r>
                        <a:rPr sz="1100" b="1">
                          <a:solidFill>
                            <a:srgbClr val="2E2E2E"/>
                          </a:solidFill>
                          <a:latin typeface="Calibri"/>
                        </a:rPr>
                        <a:t>257.4</a:t>
                      </a:r>
                      <a:endParaRPr sz="1100"/>
                    </a:p>
                  </a:txBody>
                  <a:tcPr marL="47625" marR="38100" marT="19050" marB="19050" anchor="ctr">
                    <a:solidFill>
                      <a:srgbClr val="E0E8EF"/>
                    </a:solidFill>
                  </a:tcPr>
                </a:tc>
                <a:tc>
                  <a:txBody>
                    <a:bodyPr/>
                    <a:lstStyle/>
                    <a:p>
                      <a:pPr algn="l"/>
                      <a:r>
                        <a:rPr sz="1100" b="1">
                          <a:solidFill>
                            <a:srgbClr val="2E2E2E"/>
                          </a:solidFill>
                          <a:latin typeface="Calibri"/>
                        </a:rPr>
                        <a:t>273.5</a:t>
                      </a:r>
                      <a:endParaRPr sz="1100"/>
                    </a:p>
                  </a:txBody>
                  <a:tcPr marL="47625" marR="38100" marT="19050" marB="19050" anchor="ctr">
                    <a:solidFill>
                      <a:srgbClr val="E0E8EF"/>
                    </a:solidFill>
                  </a:tcPr>
                </a:tc>
                <a:tc>
                  <a:txBody>
                    <a:bodyPr/>
                    <a:lstStyle/>
                    <a:p>
                      <a:pPr algn="l"/>
                      <a:r>
                        <a:rPr sz="1100" b="1">
                          <a:solidFill>
                            <a:srgbClr val="2E2E2E"/>
                          </a:solidFill>
                          <a:latin typeface="Calibri"/>
                        </a:rPr>
                        <a:t>291.5</a:t>
                      </a:r>
                      <a:endParaRPr sz="1100"/>
                    </a:p>
                  </a:txBody>
                  <a:tcPr marL="47625" marR="38100" marT="19050" marB="19050" anchor="ctr">
                    <a:solidFill>
                      <a:srgbClr val="E0E8EF"/>
                    </a:solidFill>
                  </a:tcPr>
                </a:tc>
                <a:tc>
                  <a:txBody>
                    <a:bodyPr/>
                    <a:lstStyle/>
                    <a:p>
                      <a:pPr algn="l"/>
                      <a:r>
                        <a:rPr sz="1100" b="1">
                          <a:solidFill>
                            <a:srgbClr val="2E2E2E"/>
                          </a:solidFill>
                          <a:latin typeface="Calibri"/>
                        </a:rPr>
                        <a:t>311.5</a:t>
                      </a:r>
                      <a:endParaRPr sz="1100"/>
                    </a:p>
                  </a:txBody>
                  <a:tcPr marL="47625" marR="38100" marT="19050" marB="19050" anchor="ctr">
                    <a:solidFill>
                      <a:srgbClr val="E0E8EF"/>
                    </a:solidFill>
                  </a:tcPr>
                </a:tc>
                <a:tc>
                  <a:txBody>
                    <a:bodyPr/>
                    <a:lstStyle/>
                    <a:p>
                      <a:pPr algn="l"/>
                      <a:r>
                        <a:rPr sz="1100" b="1">
                          <a:solidFill>
                            <a:srgbClr val="2E2E2E"/>
                          </a:solidFill>
                          <a:latin typeface="Calibri"/>
                        </a:rPr>
                        <a:t>333.4</a:t>
                      </a:r>
                      <a:endParaRPr sz="1100"/>
                    </a:p>
                  </a:txBody>
                  <a:tcPr marL="47625" marR="38100" marT="19050" marB="19050" anchor="ctr">
                    <a:solidFill>
                      <a:srgbClr val="E0E8EF"/>
                    </a:solidFill>
                  </a:tcPr>
                </a:tc>
                <a:tc>
                  <a:txBody>
                    <a:bodyPr/>
                    <a:lstStyle/>
                    <a:p>
                      <a:pPr algn="l"/>
                      <a:r>
                        <a:rPr sz="1100" b="1">
                          <a:solidFill>
                            <a:srgbClr val="2E2E2E"/>
                          </a:solidFill>
                          <a:latin typeface="Calibri"/>
                        </a:rPr>
                        <a:t>357.0</a:t>
                      </a:r>
                      <a:endParaRPr sz="1100"/>
                    </a:p>
                  </a:txBody>
                  <a:tcPr marL="47625" marR="38100" marT="19050" marB="19050" anchor="ctr">
                    <a:solidFill>
                      <a:srgbClr val="E0E8EF"/>
                    </a:solidFill>
                  </a:tcPr>
                </a:tc>
                <a:tc>
                  <a:txBody>
                    <a:bodyPr/>
                    <a:lstStyle/>
                    <a:p>
                      <a:pPr algn="l"/>
                      <a:r>
                        <a:rPr sz="1100" b="1">
                          <a:solidFill>
                            <a:srgbClr val="2E2E2E"/>
                          </a:solidFill>
                          <a:latin typeface="Calibri"/>
                        </a:rPr>
                        <a:t>382.4</a:t>
                      </a:r>
                      <a:endParaRPr sz="1100"/>
                    </a:p>
                  </a:txBody>
                  <a:tcPr marL="47625" marR="38100" marT="19050" marB="19050" anchor="ctr">
                    <a:solidFill>
                      <a:srgbClr val="E0E8EF"/>
                    </a:solidFill>
                  </a:tcPr>
                </a:tc>
                <a:tc>
                  <a:txBody>
                    <a:bodyPr/>
                    <a:lstStyle/>
                    <a:p>
                      <a:pPr algn="l"/>
                      <a:r>
                        <a:rPr sz="1100" b="1">
                          <a:solidFill>
                            <a:srgbClr val="2E2E2E"/>
                          </a:solidFill>
                          <a:latin typeface="Calibri"/>
                        </a:rPr>
                        <a:t>409.3</a:t>
                      </a:r>
                      <a:endParaRPr sz="1100"/>
                    </a:p>
                  </a:txBody>
                  <a:tcPr marL="47625" marR="38100" marT="19050" marB="19050" anchor="ctr">
                    <a:solidFill>
                      <a:srgbClr val="E0E8EF"/>
                    </a:solidFill>
                  </a:tcPr>
                </a:tc>
                <a:tc>
                  <a:txBody>
                    <a:bodyPr/>
                    <a:lstStyle/>
                    <a:p>
                      <a:pPr algn="l"/>
                      <a:r>
                        <a:rPr sz="1100" b="1">
                          <a:solidFill>
                            <a:srgbClr val="2E2E2E"/>
                          </a:solidFill>
                          <a:latin typeface="Calibri"/>
                        </a:rPr>
                        <a:t>437.8</a:t>
                      </a:r>
                      <a:endParaRPr sz="1100"/>
                    </a:p>
                  </a:txBody>
                  <a:tcPr marL="47625" marR="38100" marT="19050" marB="19050" anchor="ctr">
                    <a:solidFill>
                      <a:srgbClr val="E0E8EF"/>
                    </a:solidFill>
                  </a:tcPr>
                </a:tc>
                <a:tc>
                  <a:txBody>
                    <a:bodyPr/>
                    <a:lstStyle/>
                    <a:p>
                      <a:pPr algn="l"/>
                      <a:r>
                        <a:rPr sz="1100" b="1">
                          <a:solidFill>
                            <a:srgbClr val="2E2E2E"/>
                          </a:solidFill>
                          <a:latin typeface="Calibri"/>
                        </a:rPr>
                        <a:t>6.6%</a:t>
                      </a:r>
                      <a:endParaRPr sz="1100"/>
                    </a:p>
                  </a:txBody>
                  <a:tcPr marL="47625" marR="38100" marT="19050" marB="19050" anchor="ctr">
                    <a:solidFill>
                      <a:srgbClr val="E0E8EF"/>
                    </a:solidFill>
                  </a:tcPr>
                </a:tc>
                <a:extLst>
                  <a:ext uri="{0D108BD9-81ED-4DB2-BD59-A6C34878D82A}">
                    <a16:rowId xmlns:a16="http://schemas.microsoft.com/office/drawing/2014/main" val="10002"/>
                  </a:ext>
                </a:extLst>
              </a:tr>
            </a:tbl>
          </a:graphicData>
        </a:graphic>
      </p:graphicFrame>
      <p:sp>
        <p:nvSpPr>
          <p:cNvPr id="14" name="TextBox 13"/>
          <p:cNvSpPr txBox="1"/>
          <p:nvPr/>
        </p:nvSpPr>
        <p:spPr>
          <a:xfrm>
            <a:off x="219075" y="189547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2228850"/>
            <a:ext cx="11906250" cy="4400550"/>
          </a:xfrm>
          <a:prstGeom prst="roundRect">
            <a:avLst>
              <a:gd name="adj" fmla="val 17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6225" y="2314575"/>
            <a:ext cx="11639550" cy="209550"/>
          </a:xfrm>
          <a:prstGeom prst="rect">
            <a:avLst/>
          </a:prstGeom>
          <a:noFill/>
        </p:spPr>
        <p:txBody>
          <a:bodyPr wrap="square" lIns="0" tIns="9525" rIns="19050" bIns="9525">
            <a:spAutoFit/>
          </a:bodyPr>
          <a:lstStyle/>
          <a:p>
            <a:pPr algn="l"/>
            <a:r>
              <a:rPr sz="1300" b="1">
                <a:solidFill>
                  <a:srgbClr val="0B2E4A"/>
                </a:solidFill>
                <a:latin typeface="Calibri"/>
              </a:rPr>
              <a:t>USA Value Share Read-out, By Country</a:t>
            </a:r>
          </a:p>
        </p:txBody>
      </p:sp>
      <p:sp>
        <p:nvSpPr>
          <p:cNvPr id="17" name="Rectangle 16"/>
          <p:cNvSpPr/>
          <p:nvPr/>
        </p:nvSpPr>
        <p:spPr>
          <a:xfrm>
            <a:off x="276225" y="25527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6225" y="2638425"/>
            <a:ext cx="11639550" cy="391477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'USA' is the largest country 100.0% of 2036 value (437.8 US$ Mn).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'USA' grows fastest at 6.6% CAGR (2026–2036).</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Share shifts toward 'USA' (+0 BPS) and away from 'USA' (+0 BPS) between 2026 and 2036.</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Total value rises from 230.6 to 437.8 US$ Mn across 1 country.</a:t>
            </a:r>
          </a:p>
        </p:txBody>
      </p:sp>
      <p:sp>
        <p:nvSpPr>
          <p:cNvPr id="19" name="TextBox 1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Trends, By Country</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how country volume and value shares shift over 2021–2036, highlighting who gains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Volume By Country (Mn Units)</a:t>
            </a:r>
          </a:p>
        </p:txBody>
      </p:sp>
      <p:graphicFrame>
        <p:nvGraphicFramePr>
          <p:cNvPr id="13" name="Chart 12"/>
          <p:cNvGraphicFramePr>
            <a:graphicFrameLocks noGrp="1"/>
          </p:cNvGraphicFramePr>
          <p:nvPr/>
        </p:nvGraphicFramePr>
        <p:xfrm>
          <a:off x="238125" y="1266825"/>
          <a:ext cx="11715750"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125" y="3924300"/>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Value By Country (US$ Mn)</a:t>
            </a:r>
          </a:p>
        </p:txBody>
      </p:sp>
      <p:graphicFrame>
        <p:nvGraphicFramePr>
          <p:cNvPr id="16" name="Chart 15"/>
          <p:cNvGraphicFramePr>
            <a:graphicFrameLocks noGrp="1"/>
          </p:cNvGraphicFramePr>
          <p:nvPr/>
        </p:nvGraphicFramePr>
        <p:xfrm>
          <a:off x="238125" y="4152900"/>
          <a:ext cx="11715750"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7" name="TextBox 1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Top 1 Countries (2036)</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Country hierarchy of the USA market in 2036, highlighting the leading countries within each region by value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market by country  ·  2036 (US$ Mn)  ·  tile size = market value</a:t>
            </a:r>
          </a:p>
        </p:txBody>
      </p:sp>
      <p:sp>
        <p:nvSpPr>
          <p:cNvPr id="13" name="Rectangle 12"/>
          <p:cNvSpPr/>
          <p:nvPr/>
        </p:nvSpPr>
        <p:spPr>
          <a:xfrm>
            <a:off x="238125" y="1266825"/>
            <a:ext cx="11715750"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FFFFFF"/>
                </a:solidFill>
                <a:latin typeface="Calibri"/>
              </a:rPr>
              <a:t>USA</a:t>
            </a:r>
          </a:p>
          <a:p>
            <a:pPr algn="ctr"/>
            <a:r>
              <a:rPr sz="1100" b="0">
                <a:solidFill>
                  <a:srgbClr val="FFFFFF"/>
                </a:solidFill>
                <a:latin typeface="Calibri"/>
              </a:rPr>
              <a:t>438</a:t>
            </a:r>
          </a:p>
        </p:txBody>
      </p:sp>
      <p:sp>
        <p:nvSpPr>
          <p:cNvPr id="14" name="TextBox 1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Prenatal Vitamin Supplements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USA Market Analysis By Segments</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By Product Format</a:t>
            </a:r>
          </a:p>
          <a:p>
            <a:pPr marL="342900" indent="-323850">
              <a:lnSpc>
                <a:spcPct val="100000"/>
              </a:lnSpc>
              <a:spcAft>
                <a:spcPts val="800"/>
              </a:spcAft>
            </a:pPr>
            <a:r>
              <a:rPr sz="2000" b="0">
                <a:solidFill>
                  <a:srgbClr val="000000"/>
                </a:solidFill>
                <a:latin typeface="Calibri"/>
              </a:rPr>
              <a:t>➤	By Product Type</a:t>
            </a:r>
          </a:p>
          <a:p>
            <a:pPr marL="342900" indent="-323850">
              <a:lnSpc>
                <a:spcPct val="100000"/>
              </a:lnSpc>
              <a:spcAft>
                <a:spcPts val="800"/>
              </a:spcAft>
            </a:pPr>
            <a:r>
              <a:rPr sz="2000" b="0">
                <a:solidFill>
                  <a:srgbClr val="000000"/>
                </a:solidFill>
                <a:latin typeface="Calibri"/>
              </a:rPr>
              <a:t>➤	By Sales Channel</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7.1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Prenatal Vitamin Supplements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Product Format</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By Product Format Segment Outlook</a:t>
            </a:r>
          </a:p>
          <a:p>
            <a:pPr marL="342900" indent="-323850">
              <a:lnSpc>
                <a:spcPct val="100000"/>
              </a:lnSpc>
              <a:spcAft>
                <a:spcPts val="800"/>
              </a:spcAft>
            </a:pPr>
            <a:r>
              <a:rPr sz="2000" b="0">
                <a:solidFill>
                  <a:srgbClr val="000000"/>
                </a:solidFill>
                <a:latin typeface="Calibri"/>
              </a:rPr>
              <a:t>➤	Market Structure &amp; Attractiveness</a:t>
            </a:r>
          </a:p>
          <a:p>
            <a:pPr marL="342900" indent="-323850">
              <a:lnSpc>
                <a:spcPct val="100000"/>
              </a:lnSpc>
              <a:spcAft>
                <a:spcPts val="800"/>
              </a:spcAft>
            </a:pPr>
            <a:r>
              <a:rPr sz="2000" b="0">
                <a:solidFill>
                  <a:srgbClr val="000000"/>
                </a:solidFill>
                <a:latin typeface="Calibri"/>
              </a:rPr>
              <a:t>➤	Absolute $ Analysis</a:t>
            </a:r>
          </a:p>
          <a:p>
            <a:pPr marL="342900" indent="-323850">
              <a:lnSpc>
                <a:spcPct val="100000"/>
              </a:lnSpc>
              <a:spcAft>
                <a:spcPts val="800"/>
              </a:spcAft>
            </a:pPr>
            <a:r>
              <a:rPr sz="2000" b="0">
                <a:solidFill>
                  <a:srgbClr val="000000"/>
                </a:solidFill>
                <a:latin typeface="Calibri"/>
              </a:rPr>
              <a:t>➤	Market Volume Analysis</a:t>
            </a:r>
          </a:p>
          <a:p>
            <a:pPr marL="342900" indent="-323850">
              <a:lnSpc>
                <a:spcPct val="100000"/>
              </a:lnSpc>
              <a:spcAft>
                <a:spcPts val="800"/>
              </a:spcAft>
            </a:pPr>
            <a:r>
              <a:rPr sz="2000" b="0">
                <a:solidFill>
                  <a:srgbClr val="000000"/>
                </a:solidFill>
                <a:latin typeface="Calibri"/>
              </a:rPr>
              <a:t>➤	Market Value Analysis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By Product Format Segment Outlook</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Segment analysis of market size, growth and share across 7 sub-segments of Product Format,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TextBox 10"/>
          <p:cNvSpPr txBox="1"/>
          <p:nvPr/>
        </p:nvSpPr>
        <p:spPr>
          <a:xfrm>
            <a:off x="323850" y="1007261"/>
            <a:ext cx="11544300" cy="310313"/>
          </a:xfrm>
          <a:prstGeom prst="rect">
            <a:avLst/>
          </a:prstGeom>
          <a:noFill/>
        </p:spPr>
        <p:txBody>
          <a:bodyPr wrap="square" lIns="28575" tIns="9525" rIns="28575" bIns="9525">
            <a:spAutoFit/>
          </a:bodyPr>
          <a:lstStyle/>
          <a:p>
            <a:pPr algn="l"/>
            <a:r>
              <a:rPr sz="1150" b="0">
                <a:solidFill>
                  <a:srgbClr val="2E2E2E"/>
                </a:solidFill>
                <a:latin typeface="Calibri"/>
              </a:rPr>
              <a:t>The Product Format segment categorizes the market by product format.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9575" y="1773916"/>
            <a:ext cx="1295400" cy="438089"/>
          </a:xfrm>
          <a:prstGeom prst="rect">
            <a:avLst/>
          </a:prstGeom>
          <a:noFill/>
        </p:spPr>
        <p:txBody>
          <a:bodyPr wrap="square" lIns="28575" tIns="9525" rIns="2857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9575" y="22302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09575" y="272310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09575" y="32159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1330779"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866900" y="1992961"/>
            <a:ext cx="1330779"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905000" y="1773916"/>
            <a:ext cx="1254579" cy="438089"/>
          </a:xfrm>
          <a:prstGeom prst="rect">
            <a:avLst/>
          </a:prstGeom>
          <a:noFill/>
        </p:spPr>
        <p:txBody>
          <a:bodyPr wrap="square" lIns="28575" tIns="9525" rIns="28575" bIns="9525" anchor="ctr">
            <a:spAutoFit/>
          </a:bodyPr>
          <a:lstStyle/>
          <a:p>
            <a:pPr algn="ctr"/>
            <a:r>
              <a:rPr sz="1100" b="1">
                <a:solidFill>
                  <a:srgbClr val="FFFFFF"/>
                </a:solidFill>
                <a:latin typeface="Calibri"/>
              </a:rPr>
              <a:t>Tablet</a:t>
            </a:r>
          </a:p>
        </p:txBody>
      </p:sp>
      <p:sp>
        <p:nvSpPr>
          <p:cNvPr id="23" name="Rectangle 22"/>
          <p:cNvSpPr/>
          <p:nvPr/>
        </p:nvSpPr>
        <p:spPr>
          <a:xfrm>
            <a:off x="1866900"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82.3</a:t>
            </a:r>
          </a:p>
        </p:txBody>
      </p:sp>
      <p:sp>
        <p:nvSpPr>
          <p:cNvPr id="24" name="Rectangle 23"/>
          <p:cNvSpPr/>
          <p:nvPr/>
        </p:nvSpPr>
        <p:spPr>
          <a:xfrm>
            <a:off x="1866900"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119.2</a:t>
            </a:r>
          </a:p>
        </p:txBody>
      </p:sp>
      <p:sp>
        <p:nvSpPr>
          <p:cNvPr id="25" name="Rectangle 24"/>
          <p:cNvSpPr/>
          <p:nvPr/>
        </p:nvSpPr>
        <p:spPr>
          <a:xfrm>
            <a:off x="1866900"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3.8%</a:t>
            </a:r>
          </a:p>
        </p:txBody>
      </p:sp>
      <p:sp>
        <p:nvSpPr>
          <p:cNvPr id="26" name="Oval 25"/>
          <p:cNvSpPr/>
          <p:nvPr/>
        </p:nvSpPr>
        <p:spPr>
          <a:xfrm>
            <a:off x="237036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a:t>
            </a:r>
          </a:p>
        </p:txBody>
      </p:sp>
      <p:sp>
        <p:nvSpPr>
          <p:cNvPr id="27" name="Rounded Rectangle 26"/>
          <p:cNvSpPr/>
          <p:nvPr/>
        </p:nvSpPr>
        <p:spPr>
          <a:xfrm>
            <a:off x="3311979" y="1773916"/>
            <a:ext cx="1330779"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311979" y="1992961"/>
            <a:ext cx="1330779"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350079" y="1773916"/>
            <a:ext cx="1254579" cy="438089"/>
          </a:xfrm>
          <a:prstGeom prst="rect">
            <a:avLst/>
          </a:prstGeom>
          <a:noFill/>
        </p:spPr>
        <p:txBody>
          <a:bodyPr wrap="square" lIns="28575" tIns="9525" rIns="28575" bIns="9525" anchor="ctr">
            <a:spAutoFit/>
          </a:bodyPr>
          <a:lstStyle/>
          <a:p>
            <a:pPr algn="ctr"/>
            <a:r>
              <a:rPr sz="1100" b="1">
                <a:solidFill>
                  <a:srgbClr val="FFFFFF"/>
                </a:solidFill>
                <a:latin typeface="Calibri"/>
              </a:rPr>
              <a:t>Gummies</a:t>
            </a:r>
          </a:p>
        </p:txBody>
      </p:sp>
      <p:sp>
        <p:nvSpPr>
          <p:cNvPr id="30" name="Rectangle 29"/>
          <p:cNvSpPr/>
          <p:nvPr/>
        </p:nvSpPr>
        <p:spPr>
          <a:xfrm>
            <a:off x="3311979"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E72AE"/>
                </a:solidFill>
                <a:latin typeface="Calibri"/>
              </a:rPr>
              <a:t>46.7</a:t>
            </a:r>
          </a:p>
        </p:txBody>
      </p:sp>
      <p:sp>
        <p:nvSpPr>
          <p:cNvPr id="31" name="Rectangle 30"/>
          <p:cNvSpPr/>
          <p:nvPr/>
        </p:nvSpPr>
        <p:spPr>
          <a:xfrm>
            <a:off x="3311979"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E72AE"/>
                </a:solidFill>
                <a:latin typeface="Calibri"/>
              </a:rPr>
              <a:t>110.4</a:t>
            </a:r>
          </a:p>
        </p:txBody>
      </p:sp>
      <p:sp>
        <p:nvSpPr>
          <p:cNvPr id="32" name="Rectangle 31"/>
          <p:cNvSpPr/>
          <p:nvPr/>
        </p:nvSpPr>
        <p:spPr>
          <a:xfrm>
            <a:off x="3311979"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E72AE"/>
                </a:solidFill>
                <a:latin typeface="Calibri"/>
              </a:rPr>
              <a:t>9.0%</a:t>
            </a:r>
          </a:p>
        </p:txBody>
      </p:sp>
      <p:sp>
        <p:nvSpPr>
          <p:cNvPr id="33" name="Oval 32"/>
          <p:cNvSpPr/>
          <p:nvPr/>
        </p:nvSpPr>
        <p:spPr>
          <a:xfrm>
            <a:off x="3815443"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2</a:t>
            </a:r>
          </a:p>
        </p:txBody>
      </p:sp>
      <p:sp>
        <p:nvSpPr>
          <p:cNvPr id="34" name="Rounded Rectangle 33"/>
          <p:cNvSpPr/>
          <p:nvPr/>
        </p:nvSpPr>
        <p:spPr>
          <a:xfrm>
            <a:off x="4757057" y="1773916"/>
            <a:ext cx="1330779"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757057" y="1992961"/>
            <a:ext cx="1330779"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795157" y="1773916"/>
            <a:ext cx="1254579" cy="438089"/>
          </a:xfrm>
          <a:prstGeom prst="rect">
            <a:avLst/>
          </a:prstGeom>
          <a:noFill/>
        </p:spPr>
        <p:txBody>
          <a:bodyPr wrap="square" lIns="28575" tIns="9525" rIns="28575" bIns="9525" anchor="ctr">
            <a:spAutoFit/>
          </a:bodyPr>
          <a:lstStyle/>
          <a:p>
            <a:pPr algn="ctr"/>
            <a:r>
              <a:rPr sz="1100" b="1">
                <a:solidFill>
                  <a:srgbClr val="FFFFFF"/>
                </a:solidFill>
                <a:latin typeface="Calibri"/>
              </a:rPr>
              <a:t>Softgels</a:t>
            </a:r>
          </a:p>
        </p:txBody>
      </p:sp>
      <p:sp>
        <p:nvSpPr>
          <p:cNvPr id="37" name="Rectangle 36"/>
          <p:cNvSpPr/>
          <p:nvPr/>
        </p:nvSpPr>
        <p:spPr>
          <a:xfrm>
            <a:off x="4757057"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08189"/>
                </a:solidFill>
                <a:latin typeface="Calibri"/>
              </a:rPr>
              <a:t>45.3</a:t>
            </a:r>
          </a:p>
        </p:txBody>
      </p:sp>
      <p:sp>
        <p:nvSpPr>
          <p:cNvPr id="38" name="Rectangle 37"/>
          <p:cNvSpPr/>
          <p:nvPr/>
        </p:nvSpPr>
        <p:spPr>
          <a:xfrm>
            <a:off x="4757057"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08189"/>
                </a:solidFill>
                <a:latin typeface="Calibri"/>
              </a:rPr>
              <a:t>76.4</a:t>
            </a:r>
          </a:p>
        </p:txBody>
      </p:sp>
      <p:sp>
        <p:nvSpPr>
          <p:cNvPr id="39" name="Rectangle 38"/>
          <p:cNvSpPr/>
          <p:nvPr/>
        </p:nvSpPr>
        <p:spPr>
          <a:xfrm>
            <a:off x="4757057"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08189"/>
                </a:solidFill>
                <a:latin typeface="Calibri"/>
              </a:rPr>
              <a:t>5.4%</a:t>
            </a:r>
          </a:p>
        </p:txBody>
      </p:sp>
      <p:sp>
        <p:nvSpPr>
          <p:cNvPr id="40" name="Oval 39"/>
          <p:cNvSpPr/>
          <p:nvPr/>
        </p:nvSpPr>
        <p:spPr>
          <a:xfrm>
            <a:off x="5260521"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3</a:t>
            </a:r>
          </a:p>
        </p:txBody>
      </p:sp>
      <p:sp>
        <p:nvSpPr>
          <p:cNvPr id="41" name="Rounded Rectangle 40"/>
          <p:cNvSpPr/>
          <p:nvPr/>
        </p:nvSpPr>
        <p:spPr>
          <a:xfrm>
            <a:off x="6202136" y="1773916"/>
            <a:ext cx="1330779"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202136" y="1992961"/>
            <a:ext cx="1330779"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0236" y="1773916"/>
            <a:ext cx="1254579" cy="438089"/>
          </a:xfrm>
          <a:prstGeom prst="rect">
            <a:avLst/>
          </a:prstGeom>
          <a:noFill/>
        </p:spPr>
        <p:txBody>
          <a:bodyPr wrap="square" lIns="28575" tIns="9525" rIns="28575" bIns="9525" anchor="ctr">
            <a:spAutoFit/>
          </a:bodyPr>
          <a:lstStyle/>
          <a:p>
            <a:pPr algn="ctr"/>
            <a:r>
              <a:rPr sz="1100" b="1">
                <a:solidFill>
                  <a:srgbClr val="FFFFFF"/>
                </a:solidFill>
                <a:latin typeface="Calibri"/>
              </a:rPr>
              <a:t>Capsule</a:t>
            </a:r>
          </a:p>
        </p:txBody>
      </p:sp>
      <p:sp>
        <p:nvSpPr>
          <p:cNvPr id="44" name="Rectangle 43"/>
          <p:cNvSpPr/>
          <p:nvPr/>
        </p:nvSpPr>
        <p:spPr>
          <a:xfrm>
            <a:off x="6202136"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F3CC2"/>
                </a:solidFill>
                <a:latin typeface="Calibri"/>
              </a:rPr>
              <a:t>44.6</a:t>
            </a:r>
          </a:p>
        </p:txBody>
      </p:sp>
      <p:sp>
        <p:nvSpPr>
          <p:cNvPr id="45" name="Rectangle 44"/>
          <p:cNvSpPr/>
          <p:nvPr/>
        </p:nvSpPr>
        <p:spPr>
          <a:xfrm>
            <a:off x="6202136"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F3CC2"/>
                </a:solidFill>
                <a:latin typeface="Calibri"/>
              </a:rPr>
              <a:t>95.3</a:t>
            </a:r>
          </a:p>
        </p:txBody>
      </p:sp>
      <p:sp>
        <p:nvSpPr>
          <p:cNvPr id="46" name="Rectangle 45"/>
          <p:cNvSpPr/>
          <p:nvPr/>
        </p:nvSpPr>
        <p:spPr>
          <a:xfrm>
            <a:off x="6202136"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F3CC2"/>
                </a:solidFill>
                <a:latin typeface="Calibri"/>
              </a:rPr>
              <a:t>7.9%</a:t>
            </a:r>
          </a:p>
        </p:txBody>
      </p:sp>
      <p:sp>
        <p:nvSpPr>
          <p:cNvPr id="47" name="Oval 46"/>
          <p:cNvSpPr/>
          <p:nvPr/>
        </p:nvSpPr>
        <p:spPr>
          <a:xfrm>
            <a:off x="670560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4</a:t>
            </a:r>
          </a:p>
        </p:txBody>
      </p:sp>
      <p:sp>
        <p:nvSpPr>
          <p:cNvPr id="48" name="Rounded Rectangle 47"/>
          <p:cNvSpPr/>
          <p:nvPr/>
        </p:nvSpPr>
        <p:spPr>
          <a:xfrm>
            <a:off x="7647214" y="1773916"/>
            <a:ext cx="1330779"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7647214" y="1992961"/>
            <a:ext cx="1330779"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685314" y="1773916"/>
            <a:ext cx="1254579" cy="438089"/>
          </a:xfrm>
          <a:prstGeom prst="rect">
            <a:avLst/>
          </a:prstGeom>
          <a:noFill/>
        </p:spPr>
        <p:txBody>
          <a:bodyPr wrap="square" lIns="28575" tIns="9525" rIns="28575" bIns="9525" anchor="ctr">
            <a:spAutoFit/>
          </a:bodyPr>
          <a:lstStyle/>
          <a:p>
            <a:pPr algn="ctr"/>
            <a:r>
              <a:rPr sz="1100" b="1">
                <a:solidFill>
                  <a:srgbClr val="FFFFFF"/>
                </a:solidFill>
                <a:latin typeface="Calibri"/>
              </a:rPr>
              <a:t>Liquid</a:t>
            </a:r>
          </a:p>
        </p:txBody>
      </p:sp>
      <p:sp>
        <p:nvSpPr>
          <p:cNvPr id="51" name="Rectangle 50"/>
          <p:cNvSpPr/>
          <p:nvPr/>
        </p:nvSpPr>
        <p:spPr>
          <a:xfrm>
            <a:off x="7647214"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86F00"/>
                </a:solidFill>
                <a:latin typeface="Calibri"/>
              </a:rPr>
              <a:t>5.39</a:t>
            </a:r>
          </a:p>
        </p:txBody>
      </p:sp>
      <p:sp>
        <p:nvSpPr>
          <p:cNvPr id="52" name="Rectangle 51"/>
          <p:cNvSpPr/>
          <p:nvPr/>
        </p:nvSpPr>
        <p:spPr>
          <a:xfrm>
            <a:off x="7647214"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86F00"/>
                </a:solidFill>
                <a:latin typeface="Calibri"/>
              </a:rPr>
              <a:t>16.7</a:t>
            </a:r>
          </a:p>
        </p:txBody>
      </p:sp>
      <p:sp>
        <p:nvSpPr>
          <p:cNvPr id="53" name="Rectangle 52"/>
          <p:cNvSpPr/>
          <p:nvPr/>
        </p:nvSpPr>
        <p:spPr>
          <a:xfrm>
            <a:off x="7647214"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86F00"/>
                </a:solidFill>
                <a:latin typeface="Calibri"/>
              </a:rPr>
              <a:t>12.0%</a:t>
            </a:r>
          </a:p>
        </p:txBody>
      </p:sp>
      <p:sp>
        <p:nvSpPr>
          <p:cNvPr id="54" name="Oval 53"/>
          <p:cNvSpPr/>
          <p:nvPr/>
        </p:nvSpPr>
        <p:spPr>
          <a:xfrm>
            <a:off x="815067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5</a:t>
            </a:r>
          </a:p>
        </p:txBody>
      </p:sp>
      <p:sp>
        <p:nvSpPr>
          <p:cNvPr id="55" name="Rounded Rectangle 54"/>
          <p:cNvSpPr/>
          <p:nvPr/>
        </p:nvSpPr>
        <p:spPr>
          <a:xfrm>
            <a:off x="9092293" y="1773916"/>
            <a:ext cx="1330779"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9092293" y="1992961"/>
            <a:ext cx="1330779"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130393" y="1773916"/>
            <a:ext cx="1254579" cy="438089"/>
          </a:xfrm>
          <a:prstGeom prst="rect">
            <a:avLst/>
          </a:prstGeom>
          <a:noFill/>
        </p:spPr>
        <p:txBody>
          <a:bodyPr wrap="square" lIns="28575" tIns="9525" rIns="28575" bIns="9525" anchor="ctr">
            <a:spAutoFit/>
          </a:bodyPr>
          <a:lstStyle/>
          <a:p>
            <a:pPr algn="ctr"/>
            <a:r>
              <a:rPr sz="1100" b="1">
                <a:solidFill>
                  <a:srgbClr val="FFFFFF"/>
                </a:solidFill>
                <a:latin typeface="Calibri"/>
              </a:rPr>
              <a:t>Bar</a:t>
            </a:r>
          </a:p>
        </p:txBody>
      </p:sp>
      <p:sp>
        <p:nvSpPr>
          <p:cNvPr id="58" name="Rectangle 57"/>
          <p:cNvSpPr/>
          <p:nvPr/>
        </p:nvSpPr>
        <p:spPr>
          <a:xfrm>
            <a:off x="9092293"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35313"/>
                </a:solidFill>
                <a:latin typeface="Calibri"/>
              </a:rPr>
              <a:t>3.47</a:t>
            </a:r>
          </a:p>
        </p:txBody>
      </p:sp>
      <p:sp>
        <p:nvSpPr>
          <p:cNvPr id="59" name="Rectangle 58"/>
          <p:cNvSpPr/>
          <p:nvPr/>
        </p:nvSpPr>
        <p:spPr>
          <a:xfrm>
            <a:off x="9092293"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35313"/>
                </a:solidFill>
                <a:latin typeface="Calibri"/>
              </a:rPr>
              <a:t>9.54</a:t>
            </a:r>
          </a:p>
        </p:txBody>
      </p:sp>
      <p:sp>
        <p:nvSpPr>
          <p:cNvPr id="60" name="Rectangle 59"/>
          <p:cNvSpPr/>
          <p:nvPr/>
        </p:nvSpPr>
        <p:spPr>
          <a:xfrm>
            <a:off x="9092293"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35313"/>
                </a:solidFill>
                <a:latin typeface="Calibri"/>
              </a:rPr>
              <a:t>10.7%</a:t>
            </a:r>
          </a:p>
        </p:txBody>
      </p:sp>
      <p:sp>
        <p:nvSpPr>
          <p:cNvPr id="61" name="Oval 60"/>
          <p:cNvSpPr/>
          <p:nvPr/>
        </p:nvSpPr>
        <p:spPr>
          <a:xfrm>
            <a:off x="9595757"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6</a:t>
            </a:r>
          </a:p>
        </p:txBody>
      </p:sp>
      <p:sp>
        <p:nvSpPr>
          <p:cNvPr id="62" name="Rounded Rectangle 61"/>
          <p:cNvSpPr/>
          <p:nvPr/>
        </p:nvSpPr>
        <p:spPr>
          <a:xfrm>
            <a:off x="10537371" y="1773916"/>
            <a:ext cx="1330779"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10537371" y="1992961"/>
            <a:ext cx="1330779"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0575471" y="1773916"/>
            <a:ext cx="1254579" cy="438089"/>
          </a:xfrm>
          <a:prstGeom prst="rect">
            <a:avLst/>
          </a:prstGeom>
          <a:noFill/>
        </p:spPr>
        <p:txBody>
          <a:bodyPr wrap="square" lIns="28575" tIns="9525" rIns="28575" bIns="9525" anchor="ctr">
            <a:spAutoFit/>
          </a:bodyPr>
          <a:lstStyle/>
          <a:p>
            <a:pPr algn="ctr"/>
            <a:r>
              <a:rPr sz="1100" b="1">
                <a:solidFill>
                  <a:srgbClr val="FFFFFF"/>
                </a:solidFill>
                <a:latin typeface="Calibri"/>
              </a:rPr>
              <a:t>Powder</a:t>
            </a:r>
          </a:p>
        </p:txBody>
      </p:sp>
      <p:sp>
        <p:nvSpPr>
          <p:cNvPr id="65" name="Rectangle 64"/>
          <p:cNvSpPr/>
          <p:nvPr/>
        </p:nvSpPr>
        <p:spPr>
          <a:xfrm>
            <a:off x="10537371"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C7A89"/>
                </a:solidFill>
                <a:latin typeface="Calibri"/>
              </a:rPr>
              <a:t>2.87</a:t>
            </a:r>
          </a:p>
        </p:txBody>
      </p:sp>
      <p:sp>
        <p:nvSpPr>
          <p:cNvPr id="66" name="Rectangle 65"/>
          <p:cNvSpPr/>
          <p:nvPr/>
        </p:nvSpPr>
        <p:spPr>
          <a:xfrm>
            <a:off x="10537371"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C7A89"/>
                </a:solidFill>
                <a:latin typeface="Calibri"/>
              </a:rPr>
              <a:t>10.2</a:t>
            </a:r>
          </a:p>
        </p:txBody>
      </p:sp>
      <p:sp>
        <p:nvSpPr>
          <p:cNvPr id="67" name="Rectangle 66"/>
          <p:cNvSpPr/>
          <p:nvPr/>
        </p:nvSpPr>
        <p:spPr>
          <a:xfrm>
            <a:off x="10537371"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C7A89"/>
                </a:solidFill>
                <a:latin typeface="Calibri"/>
              </a:rPr>
              <a:t>13.6%</a:t>
            </a:r>
          </a:p>
        </p:txBody>
      </p:sp>
      <p:sp>
        <p:nvSpPr>
          <p:cNvPr id="68" name="Oval 67"/>
          <p:cNvSpPr/>
          <p:nvPr/>
        </p:nvSpPr>
        <p:spPr>
          <a:xfrm>
            <a:off x="11040836"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7</a:t>
            </a:r>
          </a:p>
        </p:txBody>
      </p:sp>
      <p:sp>
        <p:nvSpPr>
          <p:cNvPr id="69" name="Rounded Rectangle 68"/>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57200" y="3946106"/>
            <a:ext cx="2971800" cy="182537"/>
          </a:xfrm>
          <a:prstGeom prst="rect">
            <a:avLst/>
          </a:prstGeom>
          <a:noFill/>
        </p:spPr>
        <p:txBody>
          <a:bodyPr wrap="square" lIns="28575" tIns="9525" rIns="28575" bIns="9525">
            <a:spAutoFit/>
          </a:bodyPr>
          <a:lstStyle/>
          <a:p>
            <a:pPr algn="l"/>
            <a:r>
              <a:rPr sz="1250" b="1">
                <a:solidFill>
                  <a:srgbClr val="0B2E4A"/>
                </a:solidFill>
                <a:latin typeface="Calibri"/>
              </a:rPr>
              <a:t>Key Highlights</a:t>
            </a:r>
          </a:p>
        </p:txBody>
      </p:sp>
      <p:sp>
        <p:nvSpPr>
          <p:cNvPr id="71" name="Rectangle 70"/>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57200" y="4219912"/>
            <a:ext cx="297180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 Among prenatal vitamin supplements by product format, powder segment is expected to witness the highest CAGR of 13.6% over the forecast period. In terms of value share by product format, the tablet segment is expected to dominate the market, losing 844 BPS and accounting for 27.2% share by 2036.</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 Tablet segment is projected to register 1.1X higher value than gummies segment in 2036.</a:t>
            </a:r>
          </a:p>
        </p:txBody>
      </p:sp>
      <p:sp>
        <p:nvSpPr>
          <p:cNvPr id="73" name="Rounded Rectangle 72"/>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3810000" y="3946106"/>
            <a:ext cx="4210050" cy="182537"/>
          </a:xfrm>
          <a:prstGeom prst="rect">
            <a:avLst/>
          </a:prstGeom>
          <a:noFill/>
        </p:spPr>
        <p:txBody>
          <a:bodyPr wrap="square" lIns="28575" tIns="9525" rIns="28575" bIns="9525">
            <a:spAutoFit/>
          </a:bodyPr>
          <a:lstStyle/>
          <a:p>
            <a:pPr algn="l"/>
            <a:r>
              <a:rPr sz="1250" b="1">
                <a:solidFill>
                  <a:srgbClr val="0B2E4A"/>
                </a:solidFill>
                <a:latin typeface="Calibri"/>
              </a:rPr>
              <a:t>Sub-Segment Insights</a:t>
            </a:r>
          </a:p>
        </p:txBody>
      </p:sp>
      <p:sp>
        <p:nvSpPr>
          <p:cNvPr id="75" name="Rectangle 74"/>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3810000" y="4219912"/>
            <a:ext cx="42100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0">
                <a:solidFill>
                  <a:srgbClr val="0B2E4A"/>
                </a:solidFill>
                <a:latin typeface="Calibri"/>
              </a:rPr>
              <a:t>●  </a:t>
            </a:r>
            <a:r>
              <a:rPr sz="1100" b="1">
                <a:solidFill>
                  <a:srgbClr val="0B2E4A"/>
                </a:solidFill>
                <a:latin typeface="Calibri"/>
              </a:rPr>
              <a:t>Tablet: </a:t>
            </a:r>
            <a:r>
              <a:rPr sz="1100" b="0">
                <a:solidFill>
                  <a:srgbClr val="2E2E2E"/>
                </a:solidFill>
                <a:latin typeface="Calibri"/>
              </a:rPr>
              <a:t>36% of 2026 value · 3.8% CAGR leads the segment.</a:t>
            </a:r>
          </a:p>
          <a:p>
            <a:pPr algn="l">
              <a:lnSpc>
                <a:spcPct val="110000"/>
              </a:lnSpc>
              <a:spcBef>
                <a:spcPts val="0"/>
              </a:spcBef>
              <a:spcAft>
                <a:spcPts val="500"/>
              </a:spcAft>
            </a:pPr>
            <a:r>
              <a:rPr sz="1100" b="0">
                <a:solidFill>
                  <a:srgbClr val="0E72AE"/>
                </a:solidFill>
                <a:latin typeface="Calibri"/>
              </a:rPr>
              <a:t>●  </a:t>
            </a:r>
            <a:r>
              <a:rPr sz="1100" b="1">
                <a:solidFill>
                  <a:srgbClr val="0E72AE"/>
                </a:solidFill>
                <a:latin typeface="Calibri"/>
              </a:rPr>
              <a:t>Gummies: </a:t>
            </a:r>
            <a:r>
              <a:rPr sz="1100" b="0">
                <a:solidFill>
                  <a:srgbClr val="2E2E2E"/>
                </a:solidFill>
                <a:latin typeface="Calibri"/>
              </a:rPr>
              <a:t>20% of 2026 value · 9.0% CAGR serves a niche.</a:t>
            </a:r>
          </a:p>
          <a:p>
            <a:pPr algn="l">
              <a:lnSpc>
                <a:spcPct val="110000"/>
              </a:lnSpc>
              <a:spcBef>
                <a:spcPts val="0"/>
              </a:spcBef>
              <a:spcAft>
                <a:spcPts val="500"/>
              </a:spcAft>
            </a:pPr>
            <a:r>
              <a:rPr sz="1100" b="0">
                <a:solidFill>
                  <a:srgbClr val="008189"/>
                </a:solidFill>
                <a:latin typeface="Calibri"/>
              </a:rPr>
              <a:t>●  </a:t>
            </a:r>
            <a:r>
              <a:rPr sz="1100" b="1">
                <a:solidFill>
                  <a:srgbClr val="008189"/>
                </a:solidFill>
                <a:latin typeface="Calibri"/>
              </a:rPr>
              <a:t>Softgels: </a:t>
            </a:r>
            <a:r>
              <a:rPr sz="1100" b="0">
                <a:solidFill>
                  <a:srgbClr val="2E2E2E"/>
                </a:solidFill>
                <a:latin typeface="Calibri"/>
              </a:rPr>
              <a:t>20% of 2026 value · 5.4% CAGR serves a niche.</a:t>
            </a:r>
          </a:p>
          <a:p>
            <a:pPr algn="l">
              <a:lnSpc>
                <a:spcPct val="110000"/>
              </a:lnSpc>
              <a:spcBef>
                <a:spcPts val="0"/>
              </a:spcBef>
              <a:spcAft>
                <a:spcPts val="500"/>
              </a:spcAft>
            </a:pPr>
            <a:r>
              <a:rPr sz="1100" b="0">
                <a:solidFill>
                  <a:srgbClr val="6F3CC2"/>
                </a:solidFill>
                <a:latin typeface="Calibri"/>
              </a:rPr>
              <a:t>●  </a:t>
            </a:r>
            <a:r>
              <a:rPr sz="1100" b="1">
                <a:solidFill>
                  <a:srgbClr val="6F3CC2"/>
                </a:solidFill>
                <a:latin typeface="Calibri"/>
              </a:rPr>
              <a:t>Capsule: </a:t>
            </a:r>
            <a:r>
              <a:rPr sz="1100" b="0">
                <a:solidFill>
                  <a:srgbClr val="2E2E2E"/>
                </a:solidFill>
                <a:latin typeface="Calibri"/>
              </a:rPr>
              <a:t>19% of 2026 value · 7.9% CAGR serves a niche.</a:t>
            </a:r>
          </a:p>
          <a:p>
            <a:pPr algn="l">
              <a:lnSpc>
                <a:spcPct val="110000"/>
              </a:lnSpc>
              <a:spcBef>
                <a:spcPts val="0"/>
              </a:spcBef>
              <a:spcAft>
                <a:spcPts val="500"/>
              </a:spcAft>
            </a:pPr>
            <a:r>
              <a:rPr sz="1100" b="0">
                <a:solidFill>
                  <a:srgbClr val="A86F00"/>
                </a:solidFill>
                <a:latin typeface="Calibri"/>
              </a:rPr>
              <a:t>●  </a:t>
            </a:r>
            <a:r>
              <a:rPr sz="1100" b="1">
                <a:solidFill>
                  <a:srgbClr val="A86F00"/>
                </a:solidFill>
                <a:latin typeface="Calibri"/>
              </a:rPr>
              <a:t>Liquid: </a:t>
            </a:r>
            <a:r>
              <a:rPr sz="1100" b="0">
                <a:solidFill>
                  <a:srgbClr val="2E2E2E"/>
                </a:solidFill>
                <a:latin typeface="Calibri"/>
              </a:rPr>
              <a:t>2% of 2026 value · 12.0% CAGR serves a niche.</a:t>
            </a:r>
          </a:p>
          <a:p>
            <a:pPr algn="l">
              <a:lnSpc>
                <a:spcPct val="110000"/>
              </a:lnSpc>
              <a:spcBef>
                <a:spcPts val="0"/>
              </a:spcBef>
              <a:spcAft>
                <a:spcPts val="500"/>
              </a:spcAft>
            </a:pPr>
            <a:r>
              <a:rPr sz="1100" b="0">
                <a:solidFill>
                  <a:srgbClr val="A35313"/>
                </a:solidFill>
                <a:latin typeface="Calibri"/>
              </a:rPr>
              <a:t>●  </a:t>
            </a:r>
            <a:r>
              <a:rPr sz="1100" b="1">
                <a:solidFill>
                  <a:srgbClr val="A35313"/>
                </a:solidFill>
                <a:latin typeface="Calibri"/>
              </a:rPr>
              <a:t>Bar: </a:t>
            </a:r>
            <a:r>
              <a:rPr sz="1100" b="0">
                <a:solidFill>
                  <a:srgbClr val="2E2E2E"/>
                </a:solidFill>
                <a:latin typeface="Calibri"/>
              </a:rPr>
              <a:t>2% of 2026 value · 10.7% CAGR serves a niche.</a:t>
            </a:r>
          </a:p>
          <a:p>
            <a:pPr algn="l">
              <a:lnSpc>
                <a:spcPct val="110000"/>
              </a:lnSpc>
              <a:spcBef>
                <a:spcPts val="0"/>
              </a:spcBef>
              <a:spcAft>
                <a:spcPts val="500"/>
              </a:spcAft>
            </a:pPr>
            <a:r>
              <a:rPr sz="1100" b="0">
                <a:solidFill>
                  <a:srgbClr val="6C7A89"/>
                </a:solidFill>
                <a:latin typeface="Calibri"/>
              </a:rPr>
              <a:t>●  </a:t>
            </a:r>
            <a:r>
              <a:rPr sz="1100" b="1">
                <a:solidFill>
                  <a:srgbClr val="6C7A89"/>
                </a:solidFill>
                <a:latin typeface="Calibri"/>
              </a:rPr>
              <a:t>Powder: </a:t>
            </a:r>
            <a:r>
              <a:rPr sz="1100" b="0">
                <a:solidFill>
                  <a:srgbClr val="2E2E2E"/>
                </a:solidFill>
                <a:latin typeface="Calibri"/>
              </a:rPr>
              <a:t>1% of 2026 value · 13.6% CAGR grows fastest.</a:t>
            </a:r>
          </a:p>
        </p:txBody>
      </p:sp>
      <p:sp>
        <p:nvSpPr>
          <p:cNvPr id="77" name="Rounded Rectangle 76"/>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401050" y="3946106"/>
            <a:ext cx="3333750" cy="182537"/>
          </a:xfrm>
          <a:prstGeom prst="rect">
            <a:avLst/>
          </a:prstGeom>
          <a:noFill/>
        </p:spPr>
        <p:txBody>
          <a:bodyPr wrap="square" lIns="28575" tIns="9525" rIns="28575" bIns="9525">
            <a:spAutoFit/>
          </a:bodyPr>
          <a:lstStyle/>
          <a:p>
            <a:pPr algn="l"/>
            <a:r>
              <a:rPr sz="1250" b="1">
                <a:solidFill>
                  <a:srgbClr val="0B2E4A"/>
                </a:solidFill>
                <a:latin typeface="Calibri"/>
              </a:rPr>
              <a:t>Segment Overview</a:t>
            </a:r>
          </a:p>
        </p:txBody>
      </p:sp>
      <p:sp>
        <p:nvSpPr>
          <p:cNvPr id="79" name="Rectangle 78"/>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401050" y="4219912"/>
            <a:ext cx="33337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Format split shows how demand is distributed across product format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81" name="Rectangle 80"/>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496300" y="5789730"/>
            <a:ext cx="3219450" cy="456342"/>
          </a:xfrm>
          <a:prstGeom prst="rect">
            <a:avLst/>
          </a:prstGeom>
          <a:noFill/>
        </p:spPr>
        <p:txBody>
          <a:bodyPr wrap="square" lIns="28575" tIns="9525" rIns="28575" bIns="9525" anchor="ctr">
            <a:spAutoFit/>
          </a:bodyPr>
          <a:lstStyle/>
          <a:p>
            <a:pPr algn="l"/>
            <a:r>
              <a:rPr sz="1150" b="1">
                <a:solidFill>
                  <a:srgbClr val="0B2E4A"/>
                </a:solidFill>
                <a:latin typeface="Calibri"/>
              </a:rPr>
              <a:t>The Product Format segment is projected to grow at a CAGR of 6.6% from 2026 to 2036.</a:t>
            </a:r>
          </a:p>
        </p:txBody>
      </p:sp>
      <p:sp>
        <p:nvSpPr>
          <p:cNvPr id="83" name="TextBox 82"/>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84" name="TextBox 8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Market Structure &amp; Attractiveness, By Product Format (Value)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Product Format mix within each country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6343650" cy="4191000"/>
          </a:xfrm>
          <a:prstGeom prst="roundRect">
            <a:avLst>
              <a:gd name="adj" fmla="val 18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6153150"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Product Format mix within each country (share of 2036 value) · row label = country size (US$ Mn), largest first</a:t>
            </a:r>
          </a:p>
        </p:txBody>
      </p:sp>
      <p:sp>
        <p:nvSpPr>
          <p:cNvPr id="13" name="TextBox 12"/>
          <p:cNvSpPr txBox="1"/>
          <p:nvPr/>
        </p:nvSpPr>
        <p:spPr>
          <a:xfrm>
            <a:off x="314325" y="3143250"/>
            <a:ext cx="6000750" cy="266700"/>
          </a:xfrm>
          <a:prstGeom prst="rect">
            <a:avLst/>
          </a:prstGeom>
          <a:noFill/>
        </p:spPr>
        <p:txBody>
          <a:bodyPr wrap="square" lIns="28575" tIns="9525" rIns="28575" bIns="9525" anchor="ctr">
            <a:spAutoFit/>
          </a:bodyPr>
          <a:lstStyle/>
          <a:p>
            <a:pPr algn="ctr"/>
            <a:r>
              <a:rPr sz="1100" b="0">
                <a:solidFill>
                  <a:srgbClr val="6C7A89"/>
                </a:solidFill>
                <a:latin typeface="Calibri"/>
              </a:rPr>
              <a:t>No data for this view.</a:t>
            </a:r>
          </a:p>
        </p:txBody>
      </p:sp>
      <p:sp>
        <p:nvSpPr>
          <p:cNvPr id="14" name="Rounded Rectangle 13"/>
          <p:cNvSpPr/>
          <p:nvPr/>
        </p:nvSpPr>
        <p:spPr>
          <a:xfrm>
            <a:off x="6638925" y="981075"/>
            <a:ext cx="5400675" cy="4191000"/>
          </a:xfrm>
          <a:prstGeom prst="roundRect">
            <a:avLst>
              <a:gd name="adj" fmla="val 18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34175" y="1038225"/>
            <a:ext cx="521017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Attractiveness, By Product Format · Bubble size represents 2036 value</a:t>
            </a:r>
          </a:p>
        </p:txBody>
      </p:sp>
      <p:graphicFrame>
        <p:nvGraphicFramePr>
          <p:cNvPr id="16" name="Chart 15"/>
          <p:cNvGraphicFramePr>
            <a:graphicFrameLocks noGrp="1"/>
          </p:cNvGraphicFramePr>
          <p:nvPr/>
        </p:nvGraphicFramePr>
        <p:xfrm>
          <a:off x="6734175" y="1438275"/>
          <a:ext cx="5210175" cy="3676650"/>
        </p:xfrm>
        <a:graphic>
          <a:graphicData uri="http://schemas.openxmlformats.org/drawingml/2006/chart">
            <c:chart xmlns:c="http://schemas.openxmlformats.org/drawingml/2006/chart" xmlns:r="http://schemas.openxmlformats.org/officeDocument/2006/relationships" r:id="rId4"/>
          </a:graphicData>
        </a:graphic>
      </p:graphicFrame>
      <p:sp>
        <p:nvSpPr>
          <p:cNvPr id="17" name="Rounded Rectangle 16"/>
          <p:cNvSpPr/>
          <p:nvPr/>
        </p:nvSpPr>
        <p:spPr>
          <a:xfrm>
            <a:off x="142875" y="5305425"/>
            <a:ext cx="11906250" cy="1323975"/>
          </a:xfrm>
          <a:prstGeom prst="roundRect">
            <a:avLst>
              <a:gd name="adj" fmla="val 57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Tablet followed by gummies are expected to be the two most attractive product format segments in the USA prenatal vitamin supplements market in terms of value over the forecast period. Tablet and gummies exhibit a CAGR index of 57 and 136 and a market share index of 250 and 142 respectively, against the segment average of 100. The bar segment is expected to be less attractive as compared to other segments over the forecast period, owing to its lower CAGR and incremental opportunity. Tablets followed by gummies are expected to be the most attractive product formats, as tablets retain the largest base across mass retail, drugstores and private-label lines, while gummies pair a similar scale with the highest growth among core formats. Capsules remain a strong premium option, whereas powder, bars and liquid, despite rapid growth, stay small because of taste, mixing, dosing and formulation limits. Bubbles right of the CAGR-Index line grow faster than the segment average.</a:t>
            </a: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Absolute $ Opportunity Analysis, By Product Format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Product Format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Capsule</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67450"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Tablet</a:t>
            </a:r>
          </a:p>
        </p:txBody>
      </p:sp>
      <p:graphicFrame>
        <p:nvGraphicFramePr>
          <p:cNvPr id="16" name="Chart 15"/>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8125"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Softgels</a:t>
            </a:r>
          </a:p>
        </p:txBody>
      </p:sp>
      <p:graphicFrame>
        <p:nvGraphicFramePr>
          <p:cNvPr id="19" name="Chart 18"/>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xmlns:r="http://schemas.openxmlformats.org/officeDocument/2006/relationships" r:id="rId6"/>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67450"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Gummies</a:t>
            </a:r>
          </a:p>
        </p:txBody>
      </p:sp>
      <p:graphicFrame>
        <p:nvGraphicFramePr>
          <p:cNvPr id="22" name="Chart 21"/>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xmlns:r="http://schemas.openxmlformats.org/officeDocument/2006/relationships" r:id="rId7"/>
          </a:graphicData>
        </a:graphic>
      </p:graphicFrame>
      <p:sp>
        <p:nvSpPr>
          <p:cNvPr id="23" name="TextBox 2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Absolute $ Opportunity Analysis, By Product Format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Product Format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Powder</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7450"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Bar</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8125"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Liquid</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xmlns:r="http://schemas.openxmlformats.org/officeDocument/2006/relationships" r:id="rId6"/>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5550" y="3952875"/>
            <a:ext cx="5610225" cy="209550"/>
          </a:xfrm>
          <a:prstGeom prst="rect">
            <a:avLst/>
          </a:prstGeom>
          <a:noFill/>
        </p:spPr>
        <p:txBody>
          <a:bodyPr wrap="square" lIns="0" tIns="9525" rIns="19050" bIns="9525">
            <a:spAutoFit/>
          </a:bodyPr>
          <a:lstStyle/>
          <a:p>
            <a:pPr algn="l"/>
            <a:r>
              <a:rPr sz="1300" b="1">
                <a:solidFill>
                  <a:srgbClr val="0B2E4A"/>
                </a:solidFill>
                <a:latin typeface="Calibri"/>
              </a:rPr>
              <a:t>Summary of USA Absolute $ Opportunity Analysis, By Product Format</a:t>
            </a:r>
          </a:p>
        </p:txBody>
      </p:sp>
      <p:sp>
        <p:nvSpPr>
          <p:cNvPr id="21" name="Rectangle 20"/>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5550" y="4276725"/>
            <a:ext cx="5610225" cy="2266950"/>
          </a:xfrm>
          <a:prstGeom prst="rect">
            <a:avLst/>
          </a:prstGeom>
          <a:noFill/>
        </p:spPr>
        <p:txBody>
          <a:bodyPr wrap="square" lIns="0" tIns="9525" rIns="19050" bIns="9525">
            <a:spAutoFit/>
          </a:bodyPr>
          <a:lstStyle/>
          <a:p>
            <a:pPr algn="l">
              <a:lnSpc>
                <a:spcPct val="100000"/>
              </a:lnSpc>
              <a:spcBef>
                <a:spcPts val="0"/>
              </a:spcBef>
              <a:spcAft>
                <a:spcPts val="300"/>
              </a:spcAft>
            </a:pPr>
            <a:r>
              <a:rPr sz="1100" b="0">
                <a:solidFill>
                  <a:srgbClr val="2E2E2E"/>
                </a:solidFill>
                <a:latin typeface="Calibri"/>
              </a:rPr>
              <a:t>By 2036, gummies segment is anticipated to witness an increase of 2.4X in terms of value as compared to 2026. The gummies segment is expected to create an incremental opportunity of US$ 63.7 Mn for the overall prenatal vitamin supplements market from 2026 to 2036.</a:t>
            </a:r>
          </a:p>
          <a:p>
            <a:pPr algn="l">
              <a:lnSpc>
                <a:spcPct val="100000"/>
              </a:lnSpc>
              <a:spcBef>
                <a:spcPts val="0"/>
              </a:spcBef>
              <a:spcAft>
                <a:spcPts val="300"/>
              </a:spcAft>
            </a:pPr>
            <a:r>
              <a:rPr sz="1100" b="0">
                <a:solidFill>
                  <a:srgbClr val="2E2E2E"/>
                </a:solidFill>
                <a:latin typeface="Calibri"/>
              </a:rPr>
              <a:t>The capsule segment is expected to create an incremental opportunity of US$ 50.7 Mn for the overall prenatal vitamin supplements market from 2026 to 2036. The tablet segment is expected to create an incremental opportunity of US$ 36.9 Mn for the overall prenatal vitamin supplements market from 2026 to 2036.</a:t>
            </a:r>
          </a:p>
          <a:p>
            <a:pPr algn="l">
              <a:lnSpc>
                <a:spcPct val="100000"/>
              </a:lnSpc>
              <a:spcBef>
                <a:spcPts val="0"/>
              </a:spcBef>
              <a:spcAft>
                <a:spcPts val="300"/>
              </a:spcAft>
            </a:pPr>
            <a:r>
              <a:rPr sz="1100" b="0">
                <a:solidFill>
                  <a:srgbClr val="2E2E2E"/>
                </a:solidFill>
                <a:latin typeface="Calibri"/>
              </a:rPr>
              <a:t>Gummies are expected to add the largest absolute value over 2026-2036, followed by capsules and tablets. Gummies combine a large base with accelerating adoption among younger consumers, preconception users and shoppers already using gummies in other wellness categories. Capsules continue to add value as methylfolate, higher-choline formulas and subscription routines support premium monthly packs, while tablets remain a large, affordable replenishment format.</a:t>
            </a:r>
          </a:p>
        </p:txBody>
      </p:sp>
      <p:sp>
        <p:nvSpPr>
          <p:cNvPr id="23" name="TextBox 2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Market Volume Analysis, By Product Format (Mn Units)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volume by Product Format,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11906250" cy="2409825"/>
          </a:xfrm>
          <a:prstGeom prst="roundRect">
            <a:avLst>
              <a:gd name="adj" fmla="val 31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Volume, By Product Format (Mn Units)</a:t>
            </a:r>
          </a:p>
        </p:txBody>
      </p:sp>
      <p:graphicFrame>
        <p:nvGraphicFramePr>
          <p:cNvPr id="13" name="Table 12"/>
          <p:cNvGraphicFramePr>
            <a:graphicFrameLocks noGrp="1"/>
          </p:cNvGraphicFramePr>
          <p:nvPr/>
        </p:nvGraphicFramePr>
        <p:xfrm>
          <a:off x="152400" y="1238250"/>
          <a:ext cx="11887207" cy="1943097"/>
        </p:xfrm>
        <a:graphic>
          <a:graphicData uri="http://schemas.openxmlformats.org/drawingml/2006/table">
            <a:tbl>
              <a:tblPr>
                <a:tableStyleId>{5C22544A-7EE6-4342-B048-85BDC9FD1C3A}</a:tableStyleId>
              </a:tblPr>
              <a:tblGrid>
                <a:gridCol w="1187152">
                  <a:extLst>
                    <a:ext uri="{9D8B030D-6E8A-4147-A177-3AD203B41FA5}">
                      <a16:colId xmlns:a16="http://schemas.microsoft.com/office/drawing/2014/main" val="20000"/>
                    </a:ext>
                  </a:extLst>
                </a:gridCol>
                <a:gridCol w="629415">
                  <a:extLst>
                    <a:ext uri="{9D8B030D-6E8A-4147-A177-3AD203B41FA5}">
                      <a16:colId xmlns:a16="http://schemas.microsoft.com/office/drawing/2014/main" val="20001"/>
                    </a:ext>
                  </a:extLst>
                </a:gridCol>
                <a:gridCol w="629415">
                  <a:extLst>
                    <a:ext uri="{9D8B030D-6E8A-4147-A177-3AD203B41FA5}">
                      <a16:colId xmlns:a16="http://schemas.microsoft.com/office/drawing/2014/main" val="20002"/>
                    </a:ext>
                  </a:extLst>
                </a:gridCol>
                <a:gridCol w="629415">
                  <a:extLst>
                    <a:ext uri="{9D8B030D-6E8A-4147-A177-3AD203B41FA5}">
                      <a16:colId xmlns:a16="http://schemas.microsoft.com/office/drawing/2014/main" val="20003"/>
                    </a:ext>
                  </a:extLst>
                </a:gridCol>
                <a:gridCol w="629415">
                  <a:extLst>
                    <a:ext uri="{9D8B030D-6E8A-4147-A177-3AD203B41FA5}">
                      <a16:colId xmlns:a16="http://schemas.microsoft.com/office/drawing/2014/main" val="20004"/>
                    </a:ext>
                  </a:extLst>
                </a:gridCol>
                <a:gridCol w="629415">
                  <a:extLst>
                    <a:ext uri="{9D8B030D-6E8A-4147-A177-3AD203B41FA5}">
                      <a16:colId xmlns:a16="http://schemas.microsoft.com/office/drawing/2014/main" val="20005"/>
                    </a:ext>
                  </a:extLst>
                </a:gridCol>
                <a:gridCol w="629415">
                  <a:extLst>
                    <a:ext uri="{9D8B030D-6E8A-4147-A177-3AD203B41FA5}">
                      <a16:colId xmlns:a16="http://schemas.microsoft.com/office/drawing/2014/main" val="20006"/>
                    </a:ext>
                  </a:extLst>
                </a:gridCol>
                <a:gridCol w="629415">
                  <a:extLst>
                    <a:ext uri="{9D8B030D-6E8A-4147-A177-3AD203B41FA5}">
                      <a16:colId xmlns:a16="http://schemas.microsoft.com/office/drawing/2014/main" val="20007"/>
                    </a:ext>
                  </a:extLst>
                </a:gridCol>
                <a:gridCol w="629415">
                  <a:extLst>
                    <a:ext uri="{9D8B030D-6E8A-4147-A177-3AD203B41FA5}">
                      <a16:colId xmlns:a16="http://schemas.microsoft.com/office/drawing/2014/main" val="20008"/>
                    </a:ext>
                  </a:extLst>
                </a:gridCol>
                <a:gridCol w="629415">
                  <a:extLst>
                    <a:ext uri="{9D8B030D-6E8A-4147-A177-3AD203B41FA5}">
                      <a16:colId xmlns:a16="http://schemas.microsoft.com/office/drawing/2014/main" val="20009"/>
                    </a:ext>
                  </a:extLst>
                </a:gridCol>
                <a:gridCol w="629415">
                  <a:extLst>
                    <a:ext uri="{9D8B030D-6E8A-4147-A177-3AD203B41FA5}">
                      <a16:colId xmlns:a16="http://schemas.microsoft.com/office/drawing/2014/main" val="20010"/>
                    </a:ext>
                  </a:extLst>
                </a:gridCol>
                <a:gridCol w="629415">
                  <a:extLst>
                    <a:ext uri="{9D8B030D-6E8A-4147-A177-3AD203B41FA5}">
                      <a16:colId xmlns:a16="http://schemas.microsoft.com/office/drawing/2014/main" val="20011"/>
                    </a:ext>
                  </a:extLst>
                </a:gridCol>
                <a:gridCol w="629415">
                  <a:extLst>
                    <a:ext uri="{9D8B030D-6E8A-4147-A177-3AD203B41FA5}">
                      <a16:colId xmlns:a16="http://schemas.microsoft.com/office/drawing/2014/main" val="20012"/>
                    </a:ext>
                  </a:extLst>
                </a:gridCol>
                <a:gridCol w="629415">
                  <a:extLst>
                    <a:ext uri="{9D8B030D-6E8A-4147-A177-3AD203B41FA5}">
                      <a16:colId xmlns:a16="http://schemas.microsoft.com/office/drawing/2014/main" val="20013"/>
                    </a:ext>
                  </a:extLst>
                </a:gridCol>
                <a:gridCol w="629415">
                  <a:extLst>
                    <a:ext uri="{9D8B030D-6E8A-4147-A177-3AD203B41FA5}">
                      <a16:colId xmlns:a16="http://schemas.microsoft.com/office/drawing/2014/main" val="20014"/>
                    </a:ext>
                  </a:extLst>
                </a:gridCol>
                <a:gridCol w="629415">
                  <a:extLst>
                    <a:ext uri="{9D8B030D-6E8A-4147-A177-3AD203B41FA5}">
                      <a16:colId xmlns:a16="http://schemas.microsoft.com/office/drawing/2014/main" val="20015"/>
                    </a:ext>
                  </a:extLst>
                </a:gridCol>
                <a:gridCol w="629415">
                  <a:extLst>
                    <a:ext uri="{9D8B030D-6E8A-4147-A177-3AD203B41FA5}">
                      <a16:colId xmlns:a16="http://schemas.microsoft.com/office/drawing/2014/main" val="20016"/>
                    </a:ext>
                  </a:extLst>
                </a:gridCol>
                <a:gridCol w="629415">
                  <a:extLst>
                    <a:ext uri="{9D8B030D-6E8A-4147-A177-3AD203B41FA5}">
                      <a16:colId xmlns:a16="http://schemas.microsoft.com/office/drawing/2014/main" val="20017"/>
                    </a:ext>
                  </a:extLst>
                </a:gridCol>
              </a:tblGrid>
              <a:tr h="215265">
                <a:tc>
                  <a:txBody>
                    <a:bodyPr/>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l"/>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15979">
                <a:tc>
                  <a:txBody>
                    <a:bodyPr/>
                    <a:lstStyle/>
                    <a:p>
                      <a:pPr algn="l"/>
                      <a:r>
                        <a:rPr sz="1100" b="1">
                          <a:solidFill>
                            <a:srgbClr val="2E2E2E"/>
                          </a:solidFill>
                          <a:latin typeface="Calibri"/>
                        </a:rPr>
                        <a:t>Capsule</a:t>
                      </a:r>
                      <a:endParaRPr sz="1100"/>
                    </a:p>
                  </a:txBody>
                  <a:tcPr marL="47625" marR="38100" marT="19050" marB="19050" anchor="ctr">
                    <a:solidFill>
                      <a:srgbClr val="FFFFFF"/>
                    </a:solidFill>
                  </a:tcPr>
                </a:tc>
                <a:tc>
                  <a:txBody>
                    <a:bodyPr/>
                    <a:lstStyle/>
                    <a:p>
                      <a:pPr algn="l"/>
                      <a:r>
                        <a:rPr sz="1100" b="0">
                          <a:solidFill>
                            <a:srgbClr val="2E2E2E"/>
                          </a:solidFill>
                          <a:latin typeface="Calibri"/>
                        </a:rPr>
                        <a:t>156.6</a:t>
                      </a:r>
                      <a:endParaRPr sz="1100"/>
                    </a:p>
                  </a:txBody>
                  <a:tcPr marL="47625" marR="38100" marT="19050" marB="19050" anchor="ctr">
                    <a:solidFill>
                      <a:srgbClr val="FFFFFF"/>
                    </a:solidFill>
                  </a:tcPr>
                </a:tc>
                <a:tc>
                  <a:txBody>
                    <a:bodyPr/>
                    <a:lstStyle/>
                    <a:p>
                      <a:pPr algn="l"/>
                      <a:r>
                        <a:rPr sz="1100" b="0">
                          <a:solidFill>
                            <a:srgbClr val="2E2E2E"/>
                          </a:solidFill>
                          <a:latin typeface="Calibri"/>
                        </a:rPr>
                        <a:t>166.2</a:t>
                      </a:r>
                      <a:endParaRPr sz="1100"/>
                    </a:p>
                  </a:txBody>
                  <a:tcPr marL="47625" marR="38100" marT="19050" marB="19050" anchor="ctr">
                    <a:solidFill>
                      <a:srgbClr val="FFFFFF"/>
                    </a:solidFill>
                  </a:tcPr>
                </a:tc>
                <a:tc>
                  <a:txBody>
                    <a:bodyPr/>
                    <a:lstStyle/>
                    <a:p>
                      <a:pPr algn="l"/>
                      <a:r>
                        <a:rPr sz="1100" b="0">
                          <a:solidFill>
                            <a:srgbClr val="2E2E2E"/>
                          </a:solidFill>
                          <a:latin typeface="Calibri"/>
                        </a:rPr>
                        <a:t>176.1</a:t>
                      </a:r>
                      <a:endParaRPr sz="1100"/>
                    </a:p>
                  </a:txBody>
                  <a:tcPr marL="47625" marR="38100" marT="19050" marB="19050" anchor="ctr">
                    <a:solidFill>
                      <a:srgbClr val="FFFFFF"/>
                    </a:solidFill>
                  </a:tcPr>
                </a:tc>
                <a:tc>
                  <a:txBody>
                    <a:bodyPr/>
                    <a:lstStyle/>
                    <a:p>
                      <a:pPr algn="l"/>
                      <a:r>
                        <a:rPr sz="1100" b="0">
                          <a:solidFill>
                            <a:srgbClr val="2E2E2E"/>
                          </a:solidFill>
                          <a:latin typeface="Calibri"/>
                        </a:rPr>
                        <a:t>186.0</a:t>
                      </a:r>
                      <a:endParaRPr sz="1100"/>
                    </a:p>
                  </a:txBody>
                  <a:tcPr marL="47625" marR="38100" marT="19050" marB="19050" anchor="ctr">
                    <a:solidFill>
                      <a:srgbClr val="FFFFFF"/>
                    </a:solidFill>
                  </a:tcPr>
                </a:tc>
                <a:tc>
                  <a:txBody>
                    <a:bodyPr/>
                    <a:lstStyle/>
                    <a:p>
                      <a:pPr algn="l"/>
                      <a:r>
                        <a:rPr sz="1100" b="0">
                          <a:solidFill>
                            <a:srgbClr val="2E2E2E"/>
                          </a:solidFill>
                          <a:latin typeface="Calibri"/>
                        </a:rPr>
                        <a:t>196.2</a:t>
                      </a:r>
                      <a:endParaRPr sz="1100"/>
                    </a:p>
                  </a:txBody>
                  <a:tcPr marL="47625" marR="38100" marT="19050" marB="19050" anchor="ctr">
                    <a:solidFill>
                      <a:srgbClr val="FFFFFF"/>
                    </a:solidFill>
                  </a:tcPr>
                </a:tc>
                <a:tc>
                  <a:txBody>
                    <a:bodyPr/>
                    <a:lstStyle/>
                    <a:p>
                      <a:pPr algn="l"/>
                      <a:r>
                        <a:rPr sz="1100" b="0">
                          <a:solidFill>
                            <a:srgbClr val="2E2E2E"/>
                          </a:solidFill>
                          <a:latin typeface="Calibri"/>
                        </a:rPr>
                        <a:t>207.6</a:t>
                      </a:r>
                      <a:endParaRPr sz="1100"/>
                    </a:p>
                  </a:txBody>
                  <a:tcPr marL="47625" marR="38100" marT="19050" marB="19050" anchor="ctr">
                    <a:solidFill>
                      <a:srgbClr val="FFFFFF"/>
                    </a:solidFill>
                  </a:tcPr>
                </a:tc>
                <a:tc>
                  <a:txBody>
                    <a:bodyPr/>
                    <a:lstStyle/>
                    <a:p>
                      <a:pPr algn="l"/>
                      <a:r>
                        <a:rPr sz="1100" b="0">
                          <a:solidFill>
                            <a:srgbClr val="2E2E2E"/>
                          </a:solidFill>
                          <a:latin typeface="Calibri"/>
                        </a:rPr>
                        <a:t>220.2</a:t>
                      </a:r>
                      <a:endParaRPr sz="1100"/>
                    </a:p>
                  </a:txBody>
                  <a:tcPr marL="47625" marR="38100" marT="19050" marB="19050" anchor="ctr">
                    <a:solidFill>
                      <a:srgbClr val="FFFFFF"/>
                    </a:solidFill>
                  </a:tcPr>
                </a:tc>
                <a:tc>
                  <a:txBody>
                    <a:bodyPr/>
                    <a:lstStyle/>
                    <a:p>
                      <a:pPr algn="l"/>
                      <a:r>
                        <a:rPr sz="1100" b="0">
                          <a:solidFill>
                            <a:srgbClr val="2E2E2E"/>
                          </a:solidFill>
                          <a:latin typeface="Calibri"/>
                        </a:rPr>
                        <a:t>234.5</a:t>
                      </a:r>
                      <a:endParaRPr sz="1100"/>
                    </a:p>
                  </a:txBody>
                  <a:tcPr marL="47625" marR="38100" marT="19050" marB="19050" anchor="ctr">
                    <a:solidFill>
                      <a:srgbClr val="FFFFFF"/>
                    </a:solidFill>
                  </a:tcPr>
                </a:tc>
                <a:tc>
                  <a:txBody>
                    <a:bodyPr/>
                    <a:lstStyle/>
                    <a:p>
                      <a:pPr algn="l"/>
                      <a:r>
                        <a:rPr sz="1100" b="0">
                          <a:solidFill>
                            <a:srgbClr val="2E2E2E"/>
                          </a:solidFill>
                          <a:latin typeface="Calibri"/>
                        </a:rPr>
                        <a:t>251.2</a:t>
                      </a:r>
                      <a:endParaRPr sz="1100"/>
                    </a:p>
                  </a:txBody>
                  <a:tcPr marL="47625" marR="38100" marT="19050" marB="19050" anchor="ctr">
                    <a:solidFill>
                      <a:srgbClr val="FFFFFF"/>
                    </a:solidFill>
                  </a:tcPr>
                </a:tc>
                <a:tc>
                  <a:txBody>
                    <a:bodyPr/>
                    <a:lstStyle/>
                    <a:p>
                      <a:pPr algn="l"/>
                      <a:r>
                        <a:rPr sz="1100" b="0">
                          <a:solidFill>
                            <a:srgbClr val="2E2E2E"/>
                          </a:solidFill>
                          <a:latin typeface="Calibri"/>
                        </a:rPr>
                        <a:t>270.2</a:t>
                      </a:r>
                      <a:endParaRPr sz="1100"/>
                    </a:p>
                  </a:txBody>
                  <a:tcPr marL="47625" marR="38100" marT="19050" marB="19050" anchor="ctr">
                    <a:solidFill>
                      <a:srgbClr val="FFFFFF"/>
                    </a:solidFill>
                  </a:tcPr>
                </a:tc>
                <a:tc>
                  <a:txBody>
                    <a:bodyPr/>
                    <a:lstStyle/>
                    <a:p>
                      <a:pPr algn="l"/>
                      <a:r>
                        <a:rPr sz="1100" b="0">
                          <a:solidFill>
                            <a:srgbClr val="2E2E2E"/>
                          </a:solidFill>
                          <a:latin typeface="Calibri"/>
                        </a:rPr>
                        <a:t>290.7</a:t>
                      </a:r>
                      <a:endParaRPr sz="1100"/>
                    </a:p>
                  </a:txBody>
                  <a:tcPr marL="47625" marR="38100" marT="19050" marB="19050" anchor="ctr">
                    <a:solidFill>
                      <a:srgbClr val="FFFFFF"/>
                    </a:solidFill>
                  </a:tcPr>
                </a:tc>
                <a:tc>
                  <a:txBody>
                    <a:bodyPr/>
                    <a:lstStyle/>
                    <a:p>
                      <a:pPr algn="l"/>
                      <a:r>
                        <a:rPr sz="1100" b="0">
                          <a:solidFill>
                            <a:srgbClr val="2E2E2E"/>
                          </a:solidFill>
                          <a:latin typeface="Calibri"/>
                        </a:rPr>
                        <a:t>312.2</a:t>
                      </a:r>
                      <a:endParaRPr sz="1100"/>
                    </a:p>
                  </a:txBody>
                  <a:tcPr marL="47625" marR="38100" marT="19050" marB="19050" anchor="ctr">
                    <a:solidFill>
                      <a:srgbClr val="FFFFFF"/>
                    </a:solidFill>
                  </a:tcPr>
                </a:tc>
                <a:tc>
                  <a:txBody>
                    <a:bodyPr/>
                    <a:lstStyle/>
                    <a:p>
                      <a:pPr algn="l"/>
                      <a:r>
                        <a:rPr sz="1100" b="0">
                          <a:solidFill>
                            <a:srgbClr val="2E2E2E"/>
                          </a:solidFill>
                          <a:latin typeface="Calibri"/>
                        </a:rPr>
                        <a:t>334.2</a:t>
                      </a:r>
                      <a:endParaRPr sz="1100"/>
                    </a:p>
                  </a:txBody>
                  <a:tcPr marL="47625" marR="38100" marT="19050" marB="19050" anchor="ctr">
                    <a:solidFill>
                      <a:srgbClr val="FFFFFF"/>
                    </a:solidFill>
                  </a:tcPr>
                </a:tc>
                <a:tc>
                  <a:txBody>
                    <a:bodyPr/>
                    <a:lstStyle/>
                    <a:p>
                      <a:pPr algn="l"/>
                      <a:r>
                        <a:rPr sz="1100" b="0">
                          <a:solidFill>
                            <a:srgbClr val="2E2E2E"/>
                          </a:solidFill>
                          <a:latin typeface="Calibri"/>
                        </a:rPr>
                        <a:t>356.8</a:t>
                      </a:r>
                      <a:endParaRPr sz="1100"/>
                    </a:p>
                  </a:txBody>
                  <a:tcPr marL="47625" marR="38100" marT="19050" marB="19050" anchor="ctr">
                    <a:solidFill>
                      <a:srgbClr val="FFFFFF"/>
                    </a:solidFill>
                  </a:tcPr>
                </a:tc>
                <a:tc>
                  <a:txBody>
                    <a:bodyPr/>
                    <a:lstStyle/>
                    <a:p>
                      <a:pPr algn="l"/>
                      <a:r>
                        <a:rPr sz="1100" b="0">
                          <a:solidFill>
                            <a:srgbClr val="2E2E2E"/>
                          </a:solidFill>
                          <a:latin typeface="Calibri"/>
                        </a:rPr>
                        <a:t>380.3</a:t>
                      </a:r>
                      <a:endParaRPr sz="1100"/>
                    </a:p>
                  </a:txBody>
                  <a:tcPr marL="47625" marR="38100" marT="19050" marB="19050" anchor="ctr">
                    <a:solidFill>
                      <a:srgbClr val="FFFFFF"/>
                    </a:solidFill>
                  </a:tcPr>
                </a:tc>
                <a:tc>
                  <a:txBody>
                    <a:bodyPr/>
                    <a:lstStyle/>
                    <a:p>
                      <a:pPr algn="l"/>
                      <a:r>
                        <a:rPr sz="1100" b="0">
                          <a:solidFill>
                            <a:srgbClr val="2E2E2E"/>
                          </a:solidFill>
                          <a:latin typeface="Calibri"/>
                        </a:rPr>
                        <a:t>404.6</a:t>
                      </a:r>
                      <a:endParaRPr sz="1100"/>
                    </a:p>
                  </a:txBody>
                  <a:tcPr marL="47625" marR="38100" marT="19050" marB="19050" anchor="ctr">
                    <a:solidFill>
                      <a:srgbClr val="FFFFFF"/>
                    </a:solidFill>
                  </a:tcPr>
                </a:tc>
                <a:tc>
                  <a:txBody>
                    <a:bodyPr/>
                    <a:lstStyle/>
                    <a:p>
                      <a:pPr algn="l"/>
                      <a:r>
                        <a:rPr sz="1100" b="0">
                          <a:solidFill>
                            <a:srgbClr val="2E2E2E"/>
                          </a:solidFill>
                          <a:latin typeface="Calibri"/>
                        </a:rPr>
                        <a:t>6.9%</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15979">
                <a:tc>
                  <a:txBody>
                    <a:bodyPr/>
                    <a:lstStyle/>
                    <a:p>
                      <a:pPr algn="l"/>
                      <a:r>
                        <a:rPr sz="1100" b="1">
                          <a:solidFill>
                            <a:srgbClr val="2E2E2E"/>
                          </a:solidFill>
                          <a:latin typeface="Calibri"/>
                        </a:rPr>
                        <a:t>Tablet</a:t>
                      </a:r>
                      <a:endParaRPr sz="1100"/>
                    </a:p>
                  </a:txBody>
                  <a:tcPr marL="47625" marR="38100" marT="19050" marB="19050" anchor="ctr">
                    <a:solidFill>
                      <a:srgbClr val="F5F8FA"/>
                    </a:solidFill>
                  </a:tcPr>
                </a:tc>
                <a:tc>
                  <a:txBody>
                    <a:bodyPr/>
                    <a:lstStyle/>
                    <a:p>
                      <a:pPr algn="l"/>
                      <a:r>
                        <a:rPr sz="1100" b="0">
                          <a:solidFill>
                            <a:srgbClr val="2E2E2E"/>
                          </a:solidFill>
                          <a:latin typeface="Calibri"/>
                        </a:rPr>
                        <a:t>272.1</a:t>
                      </a:r>
                      <a:endParaRPr sz="1100"/>
                    </a:p>
                  </a:txBody>
                  <a:tcPr marL="47625" marR="38100" marT="19050" marB="19050" anchor="ctr">
                    <a:solidFill>
                      <a:srgbClr val="F5F8FA"/>
                    </a:solidFill>
                  </a:tcPr>
                </a:tc>
                <a:tc>
                  <a:txBody>
                    <a:bodyPr/>
                    <a:lstStyle/>
                    <a:p>
                      <a:pPr algn="l"/>
                      <a:r>
                        <a:rPr sz="1100" b="0">
                          <a:solidFill>
                            <a:srgbClr val="2E2E2E"/>
                          </a:solidFill>
                          <a:latin typeface="Calibri"/>
                        </a:rPr>
                        <a:t>279.3</a:t>
                      </a:r>
                      <a:endParaRPr sz="1100"/>
                    </a:p>
                  </a:txBody>
                  <a:tcPr marL="47625" marR="38100" marT="19050" marB="19050" anchor="ctr">
                    <a:solidFill>
                      <a:srgbClr val="F5F8FA"/>
                    </a:solidFill>
                  </a:tcPr>
                </a:tc>
                <a:tc>
                  <a:txBody>
                    <a:bodyPr/>
                    <a:lstStyle/>
                    <a:p>
                      <a:pPr algn="l"/>
                      <a:r>
                        <a:rPr sz="1100" b="0">
                          <a:solidFill>
                            <a:srgbClr val="2E2E2E"/>
                          </a:solidFill>
                          <a:latin typeface="Calibri"/>
                        </a:rPr>
                        <a:t>287.1</a:t>
                      </a:r>
                      <a:endParaRPr sz="1100"/>
                    </a:p>
                  </a:txBody>
                  <a:tcPr marL="47625" marR="38100" marT="19050" marB="19050" anchor="ctr">
                    <a:solidFill>
                      <a:srgbClr val="F5F8FA"/>
                    </a:solidFill>
                  </a:tcPr>
                </a:tc>
                <a:tc>
                  <a:txBody>
                    <a:bodyPr/>
                    <a:lstStyle/>
                    <a:p>
                      <a:pPr algn="l"/>
                      <a:r>
                        <a:rPr sz="1100" b="0">
                          <a:solidFill>
                            <a:srgbClr val="2E2E2E"/>
                          </a:solidFill>
                          <a:latin typeface="Calibri"/>
                        </a:rPr>
                        <a:t>295.4</a:t>
                      </a:r>
                      <a:endParaRPr sz="1100"/>
                    </a:p>
                  </a:txBody>
                  <a:tcPr marL="47625" marR="38100" marT="19050" marB="19050" anchor="ctr">
                    <a:solidFill>
                      <a:srgbClr val="F5F8FA"/>
                    </a:solidFill>
                  </a:tcPr>
                </a:tc>
                <a:tc>
                  <a:txBody>
                    <a:bodyPr/>
                    <a:lstStyle/>
                    <a:p>
                      <a:pPr algn="l"/>
                      <a:r>
                        <a:rPr sz="1100" b="0">
                          <a:solidFill>
                            <a:srgbClr val="2E2E2E"/>
                          </a:solidFill>
                          <a:latin typeface="Calibri"/>
                        </a:rPr>
                        <a:t>303.9</a:t>
                      </a:r>
                      <a:endParaRPr sz="1100"/>
                    </a:p>
                  </a:txBody>
                  <a:tcPr marL="47625" marR="38100" marT="19050" marB="19050" anchor="ctr">
                    <a:solidFill>
                      <a:srgbClr val="F5F8FA"/>
                    </a:solidFill>
                  </a:tcPr>
                </a:tc>
                <a:tc>
                  <a:txBody>
                    <a:bodyPr/>
                    <a:lstStyle/>
                    <a:p>
                      <a:pPr algn="l"/>
                      <a:r>
                        <a:rPr sz="1100" b="0">
                          <a:solidFill>
                            <a:srgbClr val="2E2E2E"/>
                          </a:solidFill>
                          <a:latin typeface="Calibri"/>
                        </a:rPr>
                        <a:t>312.4</a:t>
                      </a:r>
                      <a:endParaRPr sz="1100"/>
                    </a:p>
                  </a:txBody>
                  <a:tcPr marL="47625" marR="38100" marT="19050" marB="19050" anchor="ctr">
                    <a:solidFill>
                      <a:srgbClr val="F5F8FA"/>
                    </a:solidFill>
                  </a:tcPr>
                </a:tc>
                <a:tc>
                  <a:txBody>
                    <a:bodyPr/>
                    <a:lstStyle/>
                    <a:p>
                      <a:pPr algn="l"/>
                      <a:r>
                        <a:rPr sz="1100" b="0">
                          <a:solidFill>
                            <a:srgbClr val="2E2E2E"/>
                          </a:solidFill>
                          <a:latin typeface="Calibri"/>
                        </a:rPr>
                        <a:t>320.7</a:t>
                      </a:r>
                      <a:endParaRPr sz="1100"/>
                    </a:p>
                  </a:txBody>
                  <a:tcPr marL="47625" marR="38100" marT="19050" marB="19050" anchor="ctr">
                    <a:solidFill>
                      <a:srgbClr val="F5F8FA"/>
                    </a:solidFill>
                  </a:tcPr>
                </a:tc>
                <a:tc>
                  <a:txBody>
                    <a:bodyPr/>
                    <a:lstStyle/>
                    <a:p>
                      <a:pPr algn="l"/>
                      <a:r>
                        <a:rPr sz="1100" b="0">
                          <a:solidFill>
                            <a:srgbClr val="2E2E2E"/>
                          </a:solidFill>
                          <a:latin typeface="Calibri"/>
                        </a:rPr>
                        <a:t>329.3</a:t>
                      </a:r>
                      <a:endParaRPr sz="1100"/>
                    </a:p>
                  </a:txBody>
                  <a:tcPr marL="47625" marR="38100" marT="19050" marB="19050" anchor="ctr">
                    <a:solidFill>
                      <a:srgbClr val="F5F8FA"/>
                    </a:solidFill>
                  </a:tcPr>
                </a:tc>
                <a:tc>
                  <a:txBody>
                    <a:bodyPr/>
                    <a:lstStyle/>
                    <a:p>
                      <a:pPr algn="l"/>
                      <a:r>
                        <a:rPr sz="1100" b="0">
                          <a:solidFill>
                            <a:srgbClr val="2E2E2E"/>
                          </a:solidFill>
                          <a:latin typeface="Calibri"/>
                        </a:rPr>
                        <a:t>338.4</a:t>
                      </a:r>
                      <a:endParaRPr sz="1100"/>
                    </a:p>
                  </a:txBody>
                  <a:tcPr marL="47625" marR="38100" marT="19050" marB="19050" anchor="ctr">
                    <a:solidFill>
                      <a:srgbClr val="F5F8FA"/>
                    </a:solidFill>
                  </a:tcPr>
                </a:tc>
                <a:tc>
                  <a:txBody>
                    <a:bodyPr/>
                    <a:lstStyle/>
                    <a:p>
                      <a:pPr algn="l"/>
                      <a:r>
                        <a:rPr sz="1100" b="0">
                          <a:solidFill>
                            <a:srgbClr val="2E2E2E"/>
                          </a:solidFill>
                          <a:latin typeface="Calibri"/>
                        </a:rPr>
                        <a:t>348.5</a:t>
                      </a:r>
                      <a:endParaRPr sz="1100"/>
                    </a:p>
                  </a:txBody>
                  <a:tcPr marL="47625" marR="38100" marT="19050" marB="19050" anchor="ctr">
                    <a:solidFill>
                      <a:srgbClr val="F5F8FA"/>
                    </a:solidFill>
                  </a:tcPr>
                </a:tc>
                <a:tc>
                  <a:txBody>
                    <a:bodyPr/>
                    <a:lstStyle/>
                    <a:p>
                      <a:pPr algn="l"/>
                      <a:r>
                        <a:rPr sz="1100" b="0">
                          <a:solidFill>
                            <a:srgbClr val="2E2E2E"/>
                          </a:solidFill>
                          <a:latin typeface="Calibri"/>
                        </a:rPr>
                        <a:t>359.4</a:t>
                      </a:r>
                      <a:endParaRPr sz="1100"/>
                    </a:p>
                  </a:txBody>
                  <a:tcPr marL="47625" marR="38100" marT="19050" marB="19050" anchor="ctr">
                    <a:solidFill>
                      <a:srgbClr val="F5F8FA"/>
                    </a:solidFill>
                  </a:tcPr>
                </a:tc>
                <a:tc>
                  <a:txBody>
                    <a:bodyPr/>
                    <a:lstStyle/>
                    <a:p>
                      <a:pPr algn="l"/>
                      <a:r>
                        <a:rPr sz="1100" b="0">
                          <a:solidFill>
                            <a:srgbClr val="2E2E2E"/>
                          </a:solidFill>
                          <a:latin typeface="Calibri"/>
                        </a:rPr>
                        <a:t>370.8</a:t>
                      </a:r>
                      <a:endParaRPr sz="1100"/>
                    </a:p>
                  </a:txBody>
                  <a:tcPr marL="47625" marR="38100" marT="19050" marB="19050" anchor="ctr">
                    <a:solidFill>
                      <a:srgbClr val="F5F8FA"/>
                    </a:solidFill>
                  </a:tcPr>
                </a:tc>
                <a:tc>
                  <a:txBody>
                    <a:bodyPr/>
                    <a:lstStyle/>
                    <a:p>
                      <a:pPr algn="l"/>
                      <a:r>
                        <a:rPr sz="1100" b="0">
                          <a:solidFill>
                            <a:srgbClr val="2E2E2E"/>
                          </a:solidFill>
                          <a:latin typeface="Calibri"/>
                        </a:rPr>
                        <a:t>382.2</a:t>
                      </a:r>
                      <a:endParaRPr sz="1100"/>
                    </a:p>
                  </a:txBody>
                  <a:tcPr marL="47625" marR="38100" marT="19050" marB="19050" anchor="ctr">
                    <a:solidFill>
                      <a:srgbClr val="F5F8FA"/>
                    </a:solidFill>
                  </a:tcPr>
                </a:tc>
                <a:tc>
                  <a:txBody>
                    <a:bodyPr/>
                    <a:lstStyle/>
                    <a:p>
                      <a:pPr algn="l"/>
                      <a:r>
                        <a:rPr sz="1100" b="0">
                          <a:solidFill>
                            <a:srgbClr val="2E2E2E"/>
                          </a:solidFill>
                          <a:latin typeface="Calibri"/>
                        </a:rPr>
                        <a:t>393.7</a:t>
                      </a:r>
                      <a:endParaRPr sz="1100"/>
                    </a:p>
                  </a:txBody>
                  <a:tcPr marL="47625" marR="38100" marT="19050" marB="19050" anchor="ctr">
                    <a:solidFill>
                      <a:srgbClr val="F5F8FA"/>
                    </a:solidFill>
                  </a:tcPr>
                </a:tc>
                <a:tc>
                  <a:txBody>
                    <a:bodyPr/>
                    <a:lstStyle/>
                    <a:p>
                      <a:pPr algn="l"/>
                      <a:r>
                        <a:rPr sz="1100" b="0">
                          <a:solidFill>
                            <a:srgbClr val="2E2E2E"/>
                          </a:solidFill>
                          <a:latin typeface="Calibri"/>
                        </a:rPr>
                        <a:t>405.0</a:t>
                      </a:r>
                      <a:endParaRPr sz="1100"/>
                    </a:p>
                  </a:txBody>
                  <a:tcPr marL="47625" marR="38100" marT="19050" marB="19050" anchor="ctr">
                    <a:solidFill>
                      <a:srgbClr val="F5F8FA"/>
                    </a:solidFill>
                  </a:tcPr>
                </a:tc>
                <a:tc>
                  <a:txBody>
                    <a:bodyPr/>
                    <a:lstStyle/>
                    <a:p>
                      <a:pPr algn="l"/>
                      <a:r>
                        <a:rPr sz="1100" b="0">
                          <a:solidFill>
                            <a:srgbClr val="2E2E2E"/>
                          </a:solidFill>
                          <a:latin typeface="Calibri"/>
                        </a:rPr>
                        <a:t>416.2</a:t>
                      </a:r>
                      <a:endParaRPr sz="1100"/>
                    </a:p>
                  </a:txBody>
                  <a:tcPr marL="47625" marR="38100" marT="19050" marB="19050" anchor="ctr">
                    <a:solidFill>
                      <a:srgbClr val="F5F8FA"/>
                    </a:solidFill>
                  </a:tcPr>
                </a:tc>
                <a:tc>
                  <a:txBody>
                    <a:bodyPr/>
                    <a:lstStyle/>
                    <a:p>
                      <a:pPr algn="l"/>
                      <a:r>
                        <a:rPr sz="1100" b="0">
                          <a:solidFill>
                            <a:srgbClr val="2E2E2E"/>
                          </a:solidFill>
                          <a:latin typeface="Calibri"/>
                        </a:rPr>
                        <a:t>2.9%</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15979">
                <a:tc>
                  <a:txBody>
                    <a:bodyPr/>
                    <a:lstStyle/>
                    <a:p>
                      <a:pPr algn="l"/>
                      <a:r>
                        <a:rPr sz="1100" b="1">
                          <a:solidFill>
                            <a:srgbClr val="2E2E2E"/>
                          </a:solidFill>
                          <a:latin typeface="Calibri"/>
                        </a:rPr>
                        <a:t>Softgels</a:t>
                      </a:r>
                      <a:endParaRPr sz="1100"/>
                    </a:p>
                  </a:txBody>
                  <a:tcPr marL="47625" marR="38100" marT="19050" marB="19050" anchor="ctr">
                    <a:solidFill>
                      <a:srgbClr val="FFFFFF"/>
                    </a:solidFill>
                  </a:tcPr>
                </a:tc>
                <a:tc>
                  <a:txBody>
                    <a:bodyPr/>
                    <a:lstStyle/>
                    <a:p>
                      <a:pPr algn="l"/>
                      <a:r>
                        <a:rPr sz="1100" b="0">
                          <a:solidFill>
                            <a:srgbClr val="2E2E2E"/>
                          </a:solidFill>
                          <a:latin typeface="Calibri"/>
                        </a:rPr>
                        <a:t>169.8</a:t>
                      </a:r>
                      <a:endParaRPr sz="1100"/>
                    </a:p>
                  </a:txBody>
                  <a:tcPr marL="47625" marR="38100" marT="19050" marB="19050" anchor="ctr">
                    <a:solidFill>
                      <a:srgbClr val="FFFFFF"/>
                    </a:solidFill>
                  </a:tcPr>
                </a:tc>
                <a:tc>
                  <a:txBody>
                    <a:bodyPr/>
                    <a:lstStyle/>
                    <a:p>
                      <a:pPr algn="l"/>
                      <a:r>
                        <a:rPr sz="1100" b="0">
                          <a:solidFill>
                            <a:srgbClr val="2E2E2E"/>
                          </a:solidFill>
                          <a:latin typeface="Calibri"/>
                        </a:rPr>
                        <a:t>177.6</a:t>
                      </a:r>
                      <a:endParaRPr sz="1100"/>
                    </a:p>
                  </a:txBody>
                  <a:tcPr marL="47625" marR="38100" marT="19050" marB="19050" anchor="ctr">
                    <a:solidFill>
                      <a:srgbClr val="FFFFFF"/>
                    </a:solidFill>
                  </a:tcPr>
                </a:tc>
                <a:tc>
                  <a:txBody>
                    <a:bodyPr/>
                    <a:lstStyle/>
                    <a:p>
                      <a:pPr algn="l"/>
                      <a:r>
                        <a:rPr sz="1100" b="0">
                          <a:solidFill>
                            <a:srgbClr val="2E2E2E"/>
                          </a:solidFill>
                          <a:latin typeface="Calibri"/>
                        </a:rPr>
                        <a:t>185.9</a:t>
                      </a:r>
                      <a:endParaRPr sz="1100"/>
                    </a:p>
                  </a:txBody>
                  <a:tcPr marL="47625" marR="38100" marT="19050" marB="19050" anchor="ctr">
                    <a:solidFill>
                      <a:srgbClr val="FFFFFF"/>
                    </a:solidFill>
                  </a:tcPr>
                </a:tc>
                <a:tc>
                  <a:txBody>
                    <a:bodyPr/>
                    <a:lstStyle/>
                    <a:p>
                      <a:pPr algn="l"/>
                      <a:r>
                        <a:rPr sz="1100" b="0">
                          <a:solidFill>
                            <a:srgbClr val="2E2E2E"/>
                          </a:solidFill>
                          <a:latin typeface="Calibri"/>
                        </a:rPr>
                        <a:t>194.3</a:t>
                      </a:r>
                      <a:endParaRPr sz="1100"/>
                    </a:p>
                  </a:txBody>
                  <a:tcPr marL="47625" marR="38100" marT="19050" marB="19050" anchor="ctr">
                    <a:solidFill>
                      <a:srgbClr val="FFFFFF"/>
                    </a:solidFill>
                  </a:tcPr>
                </a:tc>
                <a:tc>
                  <a:txBody>
                    <a:bodyPr/>
                    <a:lstStyle/>
                    <a:p>
                      <a:pPr algn="l"/>
                      <a:r>
                        <a:rPr sz="1100" b="0">
                          <a:solidFill>
                            <a:srgbClr val="2E2E2E"/>
                          </a:solidFill>
                          <a:latin typeface="Calibri"/>
                        </a:rPr>
                        <a:t>202.9</a:t>
                      </a:r>
                      <a:endParaRPr sz="1100"/>
                    </a:p>
                  </a:txBody>
                  <a:tcPr marL="47625" marR="38100" marT="19050" marB="19050" anchor="ctr">
                    <a:solidFill>
                      <a:srgbClr val="FFFFFF"/>
                    </a:solidFill>
                  </a:tcPr>
                </a:tc>
                <a:tc>
                  <a:txBody>
                    <a:bodyPr/>
                    <a:lstStyle/>
                    <a:p>
                      <a:pPr algn="l"/>
                      <a:r>
                        <a:rPr sz="1100" b="0">
                          <a:solidFill>
                            <a:srgbClr val="2E2E2E"/>
                          </a:solidFill>
                          <a:latin typeface="Calibri"/>
                        </a:rPr>
                        <a:t>211.8</a:t>
                      </a:r>
                      <a:endParaRPr sz="1100"/>
                    </a:p>
                  </a:txBody>
                  <a:tcPr marL="47625" marR="38100" marT="19050" marB="19050" anchor="ctr">
                    <a:solidFill>
                      <a:srgbClr val="FFFFFF"/>
                    </a:solidFill>
                  </a:tcPr>
                </a:tc>
                <a:tc>
                  <a:txBody>
                    <a:bodyPr/>
                    <a:lstStyle/>
                    <a:p>
                      <a:pPr algn="l"/>
                      <a:r>
                        <a:rPr sz="1100" b="0">
                          <a:solidFill>
                            <a:srgbClr val="2E2E2E"/>
                          </a:solidFill>
                          <a:latin typeface="Calibri"/>
                        </a:rPr>
                        <a:t>221.3</a:t>
                      </a:r>
                      <a:endParaRPr sz="1100"/>
                    </a:p>
                  </a:txBody>
                  <a:tcPr marL="47625" marR="38100" marT="19050" marB="19050" anchor="ctr">
                    <a:solidFill>
                      <a:srgbClr val="FFFFFF"/>
                    </a:solidFill>
                  </a:tcPr>
                </a:tc>
                <a:tc>
                  <a:txBody>
                    <a:bodyPr/>
                    <a:lstStyle/>
                    <a:p>
                      <a:pPr algn="l"/>
                      <a:r>
                        <a:rPr sz="1100" b="0">
                          <a:solidFill>
                            <a:srgbClr val="2E2E2E"/>
                          </a:solidFill>
                          <a:latin typeface="Calibri"/>
                        </a:rPr>
                        <a:t>231.9</a:t>
                      </a:r>
                      <a:endParaRPr sz="1100"/>
                    </a:p>
                  </a:txBody>
                  <a:tcPr marL="47625" marR="38100" marT="19050" marB="19050" anchor="ctr">
                    <a:solidFill>
                      <a:srgbClr val="FFFFFF"/>
                    </a:solidFill>
                  </a:tcPr>
                </a:tc>
                <a:tc>
                  <a:txBody>
                    <a:bodyPr/>
                    <a:lstStyle/>
                    <a:p>
                      <a:pPr algn="l"/>
                      <a:r>
                        <a:rPr sz="1100" b="0">
                          <a:solidFill>
                            <a:srgbClr val="2E2E2E"/>
                          </a:solidFill>
                          <a:latin typeface="Calibri"/>
                        </a:rPr>
                        <a:t>243.6</a:t>
                      </a:r>
                      <a:endParaRPr sz="1100"/>
                    </a:p>
                  </a:txBody>
                  <a:tcPr marL="47625" marR="38100" marT="19050" marB="19050" anchor="ctr">
                    <a:solidFill>
                      <a:srgbClr val="FFFFFF"/>
                    </a:solidFill>
                  </a:tcPr>
                </a:tc>
                <a:tc>
                  <a:txBody>
                    <a:bodyPr/>
                    <a:lstStyle/>
                    <a:p>
                      <a:pPr algn="l"/>
                      <a:r>
                        <a:rPr sz="1100" b="0">
                          <a:solidFill>
                            <a:srgbClr val="2E2E2E"/>
                          </a:solidFill>
                          <a:latin typeface="Calibri"/>
                        </a:rPr>
                        <a:t>255.7</a:t>
                      </a:r>
                      <a:endParaRPr sz="1100"/>
                    </a:p>
                  </a:txBody>
                  <a:tcPr marL="47625" marR="38100" marT="19050" marB="19050" anchor="ctr">
                    <a:solidFill>
                      <a:srgbClr val="FFFFFF"/>
                    </a:solidFill>
                  </a:tcPr>
                </a:tc>
                <a:tc>
                  <a:txBody>
                    <a:bodyPr/>
                    <a:lstStyle/>
                    <a:p>
                      <a:pPr algn="l"/>
                      <a:r>
                        <a:rPr sz="1100" b="0">
                          <a:solidFill>
                            <a:srgbClr val="2E2E2E"/>
                          </a:solidFill>
                          <a:latin typeface="Calibri"/>
                        </a:rPr>
                        <a:t>267.9</a:t>
                      </a:r>
                      <a:endParaRPr sz="1100"/>
                    </a:p>
                  </a:txBody>
                  <a:tcPr marL="47625" marR="38100" marT="19050" marB="19050" anchor="ctr">
                    <a:solidFill>
                      <a:srgbClr val="FFFFFF"/>
                    </a:solidFill>
                  </a:tcPr>
                </a:tc>
                <a:tc>
                  <a:txBody>
                    <a:bodyPr/>
                    <a:lstStyle/>
                    <a:p>
                      <a:pPr algn="l"/>
                      <a:r>
                        <a:rPr sz="1100" b="0">
                          <a:solidFill>
                            <a:srgbClr val="2E2E2E"/>
                          </a:solidFill>
                          <a:latin typeface="Calibri"/>
                        </a:rPr>
                        <a:t>280.3</a:t>
                      </a:r>
                      <a:endParaRPr sz="1100"/>
                    </a:p>
                  </a:txBody>
                  <a:tcPr marL="47625" marR="38100" marT="19050" marB="19050" anchor="ctr">
                    <a:solidFill>
                      <a:srgbClr val="FFFFFF"/>
                    </a:solidFill>
                  </a:tcPr>
                </a:tc>
                <a:tc>
                  <a:txBody>
                    <a:bodyPr/>
                    <a:lstStyle/>
                    <a:p>
                      <a:pPr algn="l"/>
                      <a:r>
                        <a:rPr sz="1100" b="0">
                          <a:solidFill>
                            <a:srgbClr val="2E2E2E"/>
                          </a:solidFill>
                          <a:latin typeface="Calibri"/>
                        </a:rPr>
                        <a:t>293.8</a:t>
                      </a:r>
                      <a:endParaRPr sz="1100"/>
                    </a:p>
                  </a:txBody>
                  <a:tcPr marL="47625" marR="38100" marT="19050" marB="19050" anchor="ctr">
                    <a:solidFill>
                      <a:srgbClr val="FFFFFF"/>
                    </a:solidFill>
                  </a:tcPr>
                </a:tc>
                <a:tc>
                  <a:txBody>
                    <a:bodyPr/>
                    <a:lstStyle/>
                    <a:p>
                      <a:pPr algn="l"/>
                      <a:r>
                        <a:rPr sz="1100" b="0">
                          <a:solidFill>
                            <a:srgbClr val="2E2E2E"/>
                          </a:solidFill>
                          <a:latin typeface="Calibri"/>
                        </a:rPr>
                        <a:t>307.8</a:t>
                      </a:r>
                      <a:endParaRPr sz="1100"/>
                    </a:p>
                  </a:txBody>
                  <a:tcPr marL="47625" marR="38100" marT="19050" marB="19050" anchor="ctr">
                    <a:solidFill>
                      <a:srgbClr val="FFFFFF"/>
                    </a:solidFill>
                  </a:tcPr>
                </a:tc>
                <a:tc>
                  <a:txBody>
                    <a:bodyPr/>
                    <a:lstStyle/>
                    <a:p>
                      <a:pPr algn="l"/>
                      <a:r>
                        <a:rPr sz="1100" b="0">
                          <a:solidFill>
                            <a:srgbClr val="2E2E2E"/>
                          </a:solidFill>
                          <a:latin typeface="Calibri"/>
                        </a:rPr>
                        <a:t>322.0</a:t>
                      </a:r>
                      <a:endParaRPr sz="1100"/>
                    </a:p>
                  </a:txBody>
                  <a:tcPr marL="47625" marR="38100" marT="19050" marB="19050" anchor="ctr">
                    <a:solidFill>
                      <a:srgbClr val="FFFFFF"/>
                    </a:solidFill>
                  </a:tcPr>
                </a:tc>
                <a:tc>
                  <a:txBody>
                    <a:bodyPr/>
                    <a:lstStyle/>
                    <a:p>
                      <a:pPr algn="l"/>
                      <a:r>
                        <a:rPr sz="1100" b="0">
                          <a:solidFill>
                            <a:srgbClr val="2E2E2E"/>
                          </a:solidFill>
                          <a:latin typeface="Calibri"/>
                        </a:rPr>
                        <a:t>336.3</a:t>
                      </a:r>
                      <a:endParaRPr sz="1100"/>
                    </a:p>
                  </a:txBody>
                  <a:tcPr marL="47625" marR="38100" marT="19050" marB="19050" anchor="ctr">
                    <a:solidFill>
                      <a:srgbClr val="FFFFFF"/>
                    </a:solidFill>
                  </a:tcPr>
                </a:tc>
                <a:tc>
                  <a:txBody>
                    <a:bodyPr/>
                    <a:lstStyle/>
                    <a:p>
                      <a:pPr algn="l"/>
                      <a:r>
                        <a:rPr sz="1100" b="0">
                          <a:solidFill>
                            <a:srgbClr val="2E2E2E"/>
                          </a:solidFill>
                          <a:latin typeface="Calibri"/>
                        </a:rPr>
                        <a:t>4.7%</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15979">
                <a:tc>
                  <a:txBody>
                    <a:bodyPr/>
                    <a:lstStyle/>
                    <a:p>
                      <a:pPr algn="l"/>
                      <a:r>
                        <a:rPr sz="1100" b="1">
                          <a:solidFill>
                            <a:srgbClr val="2E2E2E"/>
                          </a:solidFill>
                          <a:latin typeface="Calibri"/>
                        </a:rPr>
                        <a:t>Gummies</a:t>
                      </a:r>
                      <a:endParaRPr sz="1100"/>
                    </a:p>
                  </a:txBody>
                  <a:tcPr marL="47625" marR="38100" marT="19050" marB="19050" anchor="ctr">
                    <a:solidFill>
                      <a:srgbClr val="F5F8FA"/>
                    </a:solidFill>
                  </a:tcPr>
                </a:tc>
                <a:tc>
                  <a:txBody>
                    <a:bodyPr/>
                    <a:lstStyle/>
                    <a:p>
                      <a:pPr algn="l"/>
                      <a:r>
                        <a:rPr sz="1100" b="0">
                          <a:solidFill>
                            <a:srgbClr val="2E2E2E"/>
                          </a:solidFill>
                          <a:latin typeface="Calibri"/>
                        </a:rPr>
                        <a:t>187.7</a:t>
                      </a:r>
                      <a:endParaRPr sz="1100"/>
                    </a:p>
                  </a:txBody>
                  <a:tcPr marL="47625" marR="38100" marT="19050" marB="19050" anchor="ctr">
                    <a:solidFill>
                      <a:srgbClr val="F5F8FA"/>
                    </a:solidFill>
                  </a:tcPr>
                </a:tc>
                <a:tc>
                  <a:txBody>
                    <a:bodyPr/>
                    <a:lstStyle/>
                    <a:p>
                      <a:pPr algn="l"/>
                      <a:r>
                        <a:rPr sz="1100" b="0">
                          <a:solidFill>
                            <a:srgbClr val="2E2E2E"/>
                          </a:solidFill>
                          <a:latin typeface="Calibri"/>
                        </a:rPr>
                        <a:t>198.8</a:t>
                      </a:r>
                      <a:endParaRPr sz="1100"/>
                    </a:p>
                  </a:txBody>
                  <a:tcPr marL="47625" marR="38100" marT="19050" marB="19050" anchor="ctr">
                    <a:solidFill>
                      <a:srgbClr val="F5F8FA"/>
                    </a:solidFill>
                  </a:tcPr>
                </a:tc>
                <a:tc>
                  <a:txBody>
                    <a:bodyPr/>
                    <a:lstStyle/>
                    <a:p>
                      <a:pPr algn="l"/>
                      <a:r>
                        <a:rPr sz="1100" b="0">
                          <a:solidFill>
                            <a:srgbClr val="2E2E2E"/>
                          </a:solidFill>
                          <a:latin typeface="Calibri"/>
                        </a:rPr>
                        <a:t>210.5</a:t>
                      </a:r>
                      <a:endParaRPr sz="1100"/>
                    </a:p>
                  </a:txBody>
                  <a:tcPr marL="47625" marR="38100" marT="19050" marB="19050" anchor="ctr">
                    <a:solidFill>
                      <a:srgbClr val="F5F8FA"/>
                    </a:solidFill>
                  </a:tcPr>
                </a:tc>
                <a:tc>
                  <a:txBody>
                    <a:bodyPr/>
                    <a:lstStyle/>
                    <a:p>
                      <a:pPr algn="l"/>
                      <a:r>
                        <a:rPr sz="1100" b="0">
                          <a:solidFill>
                            <a:srgbClr val="2E2E2E"/>
                          </a:solidFill>
                          <a:latin typeface="Calibri"/>
                        </a:rPr>
                        <a:t>223.2</a:t>
                      </a:r>
                      <a:endParaRPr sz="1100"/>
                    </a:p>
                  </a:txBody>
                  <a:tcPr marL="47625" marR="38100" marT="19050" marB="19050" anchor="ctr">
                    <a:solidFill>
                      <a:srgbClr val="F5F8FA"/>
                    </a:solidFill>
                  </a:tcPr>
                </a:tc>
                <a:tc>
                  <a:txBody>
                    <a:bodyPr/>
                    <a:lstStyle/>
                    <a:p>
                      <a:pPr algn="l"/>
                      <a:r>
                        <a:rPr sz="1100" b="0">
                          <a:solidFill>
                            <a:srgbClr val="2E2E2E"/>
                          </a:solidFill>
                          <a:latin typeface="Calibri"/>
                        </a:rPr>
                        <a:t>237.2</a:t>
                      </a:r>
                      <a:endParaRPr sz="1100"/>
                    </a:p>
                  </a:txBody>
                  <a:tcPr marL="47625" marR="38100" marT="19050" marB="19050" anchor="ctr">
                    <a:solidFill>
                      <a:srgbClr val="F5F8FA"/>
                    </a:solidFill>
                  </a:tcPr>
                </a:tc>
                <a:tc>
                  <a:txBody>
                    <a:bodyPr/>
                    <a:lstStyle/>
                    <a:p>
                      <a:pPr algn="l"/>
                      <a:r>
                        <a:rPr sz="1100" b="0">
                          <a:solidFill>
                            <a:srgbClr val="2E2E2E"/>
                          </a:solidFill>
                          <a:latin typeface="Calibri"/>
                        </a:rPr>
                        <a:t>252.9</a:t>
                      </a:r>
                      <a:endParaRPr sz="1100"/>
                    </a:p>
                  </a:txBody>
                  <a:tcPr marL="47625" marR="38100" marT="19050" marB="19050" anchor="ctr">
                    <a:solidFill>
                      <a:srgbClr val="F5F8FA"/>
                    </a:solidFill>
                  </a:tcPr>
                </a:tc>
                <a:tc>
                  <a:txBody>
                    <a:bodyPr/>
                    <a:lstStyle/>
                    <a:p>
                      <a:pPr algn="l"/>
                      <a:r>
                        <a:rPr sz="1100" b="0">
                          <a:solidFill>
                            <a:srgbClr val="2E2E2E"/>
                          </a:solidFill>
                          <a:latin typeface="Calibri"/>
                        </a:rPr>
                        <a:t>270.4</a:t>
                      </a:r>
                      <a:endParaRPr sz="1100"/>
                    </a:p>
                  </a:txBody>
                  <a:tcPr marL="47625" marR="38100" marT="19050" marB="19050" anchor="ctr">
                    <a:solidFill>
                      <a:srgbClr val="F5F8FA"/>
                    </a:solidFill>
                  </a:tcPr>
                </a:tc>
                <a:tc>
                  <a:txBody>
                    <a:bodyPr/>
                    <a:lstStyle/>
                    <a:p>
                      <a:pPr algn="l"/>
                      <a:r>
                        <a:rPr sz="1100" b="0">
                          <a:solidFill>
                            <a:srgbClr val="2E2E2E"/>
                          </a:solidFill>
                          <a:latin typeface="Calibri"/>
                        </a:rPr>
                        <a:t>290.0</a:t>
                      </a:r>
                      <a:endParaRPr sz="1100"/>
                    </a:p>
                  </a:txBody>
                  <a:tcPr marL="47625" marR="38100" marT="19050" marB="19050" anchor="ctr">
                    <a:solidFill>
                      <a:srgbClr val="F5F8FA"/>
                    </a:solidFill>
                  </a:tcPr>
                </a:tc>
                <a:tc>
                  <a:txBody>
                    <a:bodyPr/>
                    <a:lstStyle/>
                    <a:p>
                      <a:pPr algn="l"/>
                      <a:r>
                        <a:rPr sz="1100" b="0">
                          <a:solidFill>
                            <a:srgbClr val="2E2E2E"/>
                          </a:solidFill>
                          <a:latin typeface="Calibri"/>
                        </a:rPr>
                        <a:t>312.1</a:t>
                      </a:r>
                      <a:endParaRPr sz="1100"/>
                    </a:p>
                  </a:txBody>
                  <a:tcPr marL="47625" marR="38100" marT="19050" marB="19050" anchor="ctr">
                    <a:solidFill>
                      <a:srgbClr val="F5F8FA"/>
                    </a:solidFill>
                  </a:tcPr>
                </a:tc>
                <a:tc>
                  <a:txBody>
                    <a:bodyPr/>
                    <a:lstStyle/>
                    <a:p>
                      <a:pPr algn="l"/>
                      <a:r>
                        <a:rPr sz="1100" b="0">
                          <a:solidFill>
                            <a:srgbClr val="2E2E2E"/>
                          </a:solidFill>
                          <a:latin typeface="Calibri"/>
                        </a:rPr>
                        <a:t>337.5</a:t>
                      </a:r>
                      <a:endParaRPr sz="1100"/>
                    </a:p>
                  </a:txBody>
                  <a:tcPr marL="47625" marR="38100" marT="19050" marB="19050" anchor="ctr">
                    <a:solidFill>
                      <a:srgbClr val="F5F8FA"/>
                    </a:solidFill>
                  </a:tcPr>
                </a:tc>
                <a:tc>
                  <a:txBody>
                    <a:bodyPr/>
                    <a:lstStyle/>
                    <a:p>
                      <a:pPr algn="l"/>
                      <a:r>
                        <a:rPr sz="1100" b="0">
                          <a:solidFill>
                            <a:srgbClr val="2E2E2E"/>
                          </a:solidFill>
                          <a:latin typeface="Calibri"/>
                        </a:rPr>
                        <a:t>366.5</a:t>
                      </a:r>
                      <a:endParaRPr sz="1100"/>
                    </a:p>
                  </a:txBody>
                  <a:tcPr marL="47625" marR="38100" marT="19050" marB="19050" anchor="ctr">
                    <a:solidFill>
                      <a:srgbClr val="F5F8FA"/>
                    </a:solidFill>
                  </a:tcPr>
                </a:tc>
                <a:tc>
                  <a:txBody>
                    <a:bodyPr/>
                    <a:lstStyle/>
                    <a:p>
                      <a:pPr algn="l"/>
                      <a:r>
                        <a:rPr sz="1100" b="0">
                          <a:solidFill>
                            <a:srgbClr val="2E2E2E"/>
                          </a:solidFill>
                          <a:latin typeface="Calibri"/>
                        </a:rPr>
                        <a:t>399.6</a:t>
                      </a:r>
                      <a:endParaRPr sz="1100"/>
                    </a:p>
                  </a:txBody>
                  <a:tcPr marL="47625" marR="38100" marT="19050" marB="19050" anchor="ctr">
                    <a:solidFill>
                      <a:srgbClr val="F5F8FA"/>
                    </a:solidFill>
                  </a:tcPr>
                </a:tc>
                <a:tc>
                  <a:txBody>
                    <a:bodyPr/>
                    <a:lstStyle/>
                    <a:p>
                      <a:pPr algn="l"/>
                      <a:r>
                        <a:rPr sz="1100" b="0">
                          <a:solidFill>
                            <a:srgbClr val="2E2E2E"/>
                          </a:solidFill>
                          <a:latin typeface="Calibri"/>
                        </a:rPr>
                        <a:t>436.4</a:t>
                      </a:r>
                      <a:endParaRPr sz="1100"/>
                    </a:p>
                  </a:txBody>
                  <a:tcPr marL="47625" marR="38100" marT="19050" marB="19050" anchor="ctr">
                    <a:solidFill>
                      <a:srgbClr val="F5F8FA"/>
                    </a:solidFill>
                  </a:tcPr>
                </a:tc>
                <a:tc>
                  <a:txBody>
                    <a:bodyPr/>
                    <a:lstStyle/>
                    <a:p>
                      <a:pPr algn="l"/>
                      <a:r>
                        <a:rPr sz="1100" b="0">
                          <a:solidFill>
                            <a:srgbClr val="2E2E2E"/>
                          </a:solidFill>
                          <a:latin typeface="Calibri"/>
                        </a:rPr>
                        <a:t>476.6</a:t>
                      </a:r>
                      <a:endParaRPr sz="1100"/>
                    </a:p>
                  </a:txBody>
                  <a:tcPr marL="47625" marR="38100" marT="19050" marB="19050" anchor="ctr">
                    <a:solidFill>
                      <a:srgbClr val="F5F8FA"/>
                    </a:solidFill>
                  </a:tcPr>
                </a:tc>
                <a:tc>
                  <a:txBody>
                    <a:bodyPr/>
                    <a:lstStyle/>
                    <a:p>
                      <a:pPr algn="l"/>
                      <a:r>
                        <a:rPr sz="1100" b="0">
                          <a:solidFill>
                            <a:srgbClr val="2E2E2E"/>
                          </a:solidFill>
                          <a:latin typeface="Calibri"/>
                        </a:rPr>
                        <a:t>519.2</a:t>
                      </a:r>
                      <a:endParaRPr sz="1100"/>
                    </a:p>
                  </a:txBody>
                  <a:tcPr marL="47625" marR="38100" marT="19050" marB="19050" anchor="ctr">
                    <a:solidFill>
                      <a:srgbClr val="F5F8FA"/>
                    </a:solidFill>
                  </a:tcPr>
                </a:tc>
                <a:tc>
                  <a:txBody>
                    <a:bodyPr/>
                    <a:lstStyle/>
                    <a:p>
                      <a:pPr algn="l"/>
                      <a:r>
                        <a:rPr sz="1100" b="0">
                          <a:solidFill>
                            <a:srgbClr val="2E2E2E"/>
                          </a:solidFill>
                          <a:latin typeface="Calibri"/>
                        </a:rPr>
                        <a:t>564.4</a:t>
                      </a:r>
                      <a:endParaRPr sz="1100"/>
                    </a:p>
                  </a:txBody>
                  <a:tcPr marL="47625" marR="38100" marT="19050" marB="19050" anchor="ctr">
                    <a:solidFill>
                      <a:srgbClr val="F5F8FA"/>
                    </a:solidFill>
                  </a:tcPr>
                </a:tc>
                <a:tc>
                  <a:txBody>
                    <a:bodyPr/>
                    <a:lstStyle/>
                    <a:p>
                      <a:pPr algn="l"/>
                      <a:r>
                        <a:rPr sz="1100" b="0">
                          <a:solidFill>
                            <a:srgbClr val="2E2E2E"/>
                          </a:solidFill>
                          <a:latin typeface="Calibri"/>
                        </a:rPr>
                        <a:t>8.4%</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15979">
                <a:tc>
                  <a:txBody>
                    <a:bodyPr/>
                    <a:lstStyle/>
                    <a:p>
                      <a:pPr algn="l"/>
                      <a:r>
                        <a:rPr sz="1100" b="1">
                          <a:solidFill>
                            <a:srgbClr val="2E2E2E"/>
                          </a:solidFill>
                          <a:latin typeface="Calibri"/>
                        </a:rPr>
                        <a:t>Powder</a:t>
                      </a:r>
                      <a:endParaRPr sz="1100"/>
                    </a:p>
                  </a:txBody>
                  <a:tcPr marL="47625" marR="38100" marT="19050" marB="19050" anchor="ctr">
                    <a:solidFill>
                      <a:srgbClr val="FFFFFF"/>
                    </a:solidFill>
                  </a:tcPr>
                </a:tc>
                <a:tc>
                  <a:txBody>
                    <a:bodyPr/>
                    <a:lstStyle/>
                    <a:p>
                      <a:pPr algn="l"/>
                      <a:r>
                        <a:rPr sz="1100" b="0">
                          <a:solidFill>
                            <a:srgbClr val="2E2E2E"/>
                          </a:solidFill>
                          <a:latin typeface="Calibri"/>
                        </a:rPr>
                        <a:t>2.15</a:t>
                      </a:r>
                      <a:endParaRPr sz="1100"/>
                    </a:p>
                  </a:txBody>
                  <a:tcPr marL="47625" marR="38100" marT="19050" marB="19050" anchor="ctr">
                    <a:solidFill>
                      <a:srgbClr val="FFFFFF"/>
                    </a:solidFill>
                  </a:tcPr>
                </a:tc>
                <a:tc>
                  <a:txBody>
                    <a:bodyPr/>
                    <a:lstStyle/>
                    <a:p>
                      <a:pPr algn="l"/>
                      <a:r>
                        <a:rPr sz="1100" b="0">
                          <a:solidFill>
                            <a:srgbClr val="2E2E2E"/>
                          </a:solidFill>
                          <a:latin typeface="Calibri"/>
                        </a:rPr>
                        <a:t>2.28</a:t>
                      </a:r>
                      <a:endParaRPr sz="1100"/>
                    </a:p>
                  </a:txBody>
                  <a:tcPr marL="47625" marR="38100" marT="19050" marB="19050" anchor="ctr">
                    <a:solidFill>
                      <a:srgbClr val="FFFFFF"/>
                    </a:solidFill>
                  </a:tcPr>
                </a:tc>
                <a:tc>
                  <a:txBody>
                    <a:bodyPr/>
                    <a:lstStyle/>
                    <a:p>
                      <a:pPr algn="l"/>
                      <a:r>
                        <a:rPr sz="1100" b="0">
                          <a:solidFill>
                            <a:srgbClr val="2E2E2E"/>
                          </a:solidFill>
                          <a:latin typeface="Calibri"/>
                        </a:rPr>
                        <a:t>2.44</a:t>
                      </a:r>
                      <a:endParaRPr sz="1100"/>
                    </a:p>
                  </a:txBody>
                  <a:tcPr marL="47625" marR="38100" marT="19050" marB="19050" anchor="ctr">
                    <a:solidFill>
                      <a:srgbClr val="FFFFFF"/>
                    </a:solidFill>
                  </a:tcPr>
                </a:tc>
                <a:tc>
                  <a:txBody>
                    <a:bodyPr/>
                    <a:lstStyle/>
                    <a:p>
                      <a:pPr algn="l"/>
                      <a:r>
                        <a:rPr sz="1100" b="0">
                          <a:solidFill>
                            <a:srgbClr val="2E2E2E"/>
                          </a:solidFill>
                          <a:latin typeface="Calibri"/>
                        </a:rPr>
                        <a:t>2.63</a:t>
                      </a:r>
                      <a:endParaRPr sz="1100"/>
                    </a:p>
                  </a:txBody>
                  <a:tcPr marL="47625" marR="38100" marT="19050" marB="19050" anchor="ctr">
                    <a:solidFill>
                      <a:srgbClr val="FFFFFF"/>
                    </a:solidFill>
                  </a:tcPr>
                </a:tc>
                <a:tc>
                  <a:txBody>
                    <a:bodyPr/>
                    <a:lstStyle/>
                    <a:p>
                      <a:pPr algn="l"/>
                      <a:r>
                        <a:rPr sz="1100" b="0">
                          <a:solidFill>
                            <a:srgbClr val="2E2E2E"/>
                          </a:solidFill>
                          <a:latin typeface="Calibri"/>
                        </a:rPr>
                        <a:t>2.86</a:t>
                      </a:r>
                      <a:endParaRPr sz="1100"/>
                    </a:p>
                  </a:txBody>
                  <a:tcPr marL="47625" marR="38100" marT="19050" marB="19050" anchor="ctr">
                    <a:solidFill>
                      <a:srgbClr val="FFFFFF"/>
                    </a:solidFill>
                  </a:tcPr>
                </a:tc>
                <a:tc>
                  <a:txBody>
                    <a:bodyPr/>
                    <a:lstStyle/>
                    <a:p>
                      <a:pPr algn="l"/>
                      <a:r>
                        <a:rPr sz="1100" b="0">
                          <a:solidFill>
                            <a:srgbClr val="2E2E2E"/>
                          </a:solidFill>
                          <a:latin typeface="Calibri"/>
                        </a:rPr>
                        <a:t>3.13</a:t>
                      </a:r>
                      <a:endParaRPr sz="1100"/>
                    </a:p>
                  </a:txBody>
                  <a:tcPr marL="47625" marR="38100" marT="19050" marB="19050" anchor="ctr">
                    <a:solidFill>
                      <a:srgbClr val="FFFFFF"/>
                    </a:solidFill>
                  </a:tcPr>
                </a:tc>
                <a:tc>
                  <a:txBody>
                    <a:bodyPr/>
                    <a:lstStyle/>
                    <a:p>
                      <a:pPr algn="l"/>
                      <a:r>
                        <a:rPr sz="1100" b="0">
                          <a:solidFill>
                            <a:srgbClr val="2E2E2E"/>
                          </a:solidFill>
                          <a:latin typeface="Calibri"/>
                        </a:rPr>
                        <a:t>3.45</a:t>
                      </a:r>
                      <a:endParaRPr sz="1100"/>
                    </a:p>
                  </a:txBody>
                  <a:tcPr marL="47625" marR="38100" marT="19050" marB="19050" anchor="ctr">
                    <a:solidFill>
                      <a:srgbClr val="FFFFFF"/>
                    </a:solidFill>
                  </a:tcPr>
                </a:tc>
                <a:tc>
                  <a:txBody>
                    <a:bodyPr/>
                    <a:lstStyle/>
                    <a:p>
                      <a:pPr algn="l"/>
                      <a:r>
                        <a:rPr sz="1100" b="0">
                          <a:solidFill>
                            <a:srgbClr val="2E2E2E"/>
                          </a:solidFill>
                          <a:latin typeface="Calibri"/>
                        </a:rPr>
                        <a:t>3.83</a:t>
                      </a:r>
                      <a:endParaRPr sz="1100"/>
                    </a:p>
                  </a:txBody>
                  <a:tcPr marL="47625" marR="38100" marT="19050" marB="19050" anchor="ctr">
                    <a:solidFill>
                      <a:srgbClr val="FFFFFF"/>
                    </a:solidFill>
                  </a:tcPr>
                </a:tc>
                <a:tc>
                  <a:txBody>
                    <a:bodyPr/>
                    <a:lstStyle/>
                    <a:p>
                      <a:pPr algn="l"/>
                      <a:r>
                        <a:rPr sz="1100" b="0">
                          <a:solidFill>
                            <a:srgbClr val="2E2E2E"/>
                          </a:solidFill>
                          <a:latin typeface="Calibri"/>
                        </a:rPr>
                        <a:t>4.28</a:t>
                      </a:r>
                      <a:endParaRPr sz="1100"/>
                    </a:p>
                  </a:txBody>
                  <a:tcPr marL="47625" marR="38100" marT="19050" marB="19050" anchor="ctr">
                    <a:solidFill>
                      <a:srgbClr val="FFFFFF"/>
                    </a:solidFill>
                  </a:tcPr>
                </a:tc>
                <a:tc>
                  <a:txBody>
                    <a:bodyPr/>
                    <a:lstStyle/>
                    <a:p>
                      <a:pPr algn="l"/>
                      <a:r>
                        <a:rPr sz="1100" b="0">
                          <a:solidFill>
                            <a:srgbClr val="2E2E2E"/>
                          </a:solidFill>
                          <a:latin typeface="Calibri"/>
                        </a:rPr>
                        <a:t>4.83</a:t>
                      </a:r>
                      <a:endParaRPr sz="1100"/>
                    </a:p>
                  </a:txBody>
                  <a:tcPr marL="47625" marR="38100" marT="19050" marB="19050" anchor="ctr">
                    <a:solidFill>
                      <a:srgbClr val="FFFFFF"/>
                    </a:solidFill>
                  </a:tcPr>
                </a:tc>
                <a:tc>
                  <a:txBody>
                    <a:bodyPr/>
                    <a:lstStyle/>
                    <a:p>
                      <a:pPr algn="l"/>
                      <a:r>
                        <a:rPr sz="1100" b="0">
                          <a:solidFill>
                            <a:srgbClr val="2E2E2E"/>
                          </a:solidFill>
                          <a:latin typeface="Calibri"/>
                        </a:rPr>
                        <a:t>5.50</a:t>
                      </a:r>
                      <a:endParaRPr sz="1100"/>
                    </a:p>
                  </a:txBody>
                  <a:tcPr marL="47625" marR="38100" marT="19050" marB="19050" anchor="ctr">
                    <a:solidFill>
                      <a:srgbClr val="FFFFFF"/>
                    </a:solidFill>
                  </a:tcPr>
                </a:tc>
                <a:tc>
                  <a:txBody>
                    <a:bodyPr/>
                    <a:lstStyle/>
                    <a:p>
                      <a:pPr algn="l"/>
                      <a:r>
                        <a:rPr sz="1100" b="0">
                          <a:solidFill>
                            <a:srgbClr val="2E2E2E"/>
                          </a:solidFill>
                          <a:latin typeface="Calibri"/>
                        </a:rPr>
                        <a:t>6.29</a:t>
                      </a:r>
                      <a:endParaRPr sz="1100"/>
                    </a:p>
                  </a:txBody>
                  <a:tcPr marL="47625" marR="38100" marT="19050" marB="19050" anchor="ctr">
                    <a:solidFill>
                      <a:srgbClr val="FFFFFF"/>
                    </a:solidFill>
                  </a:tcPr>
                </a:tc>
                <a:tc>
                  <a:txBody>
                    <a:bodyPr/>
                    <a:lstStyle/>
                    <a:p>
                      <a:pPr algn="l"/>
                      <a:r>
                        <a:rPr sz="1100" b="0">
                          <a:solidFill>
                            <a:srgbClr val="2E2E2E"/>
                          </a:solidFill>
                          <a:latin typeface="Calibri"/>
                        </a:rPr>
                        <a:t>7.15</a:t>
                      </a:r>
                      <a:endParaRPr sz="1100"/>
                    </a:p>
                  </a:txBody>
                  <a:tcPr marL="47625" marR="38100" marT="19050" marB="19050" anchor="ctr">
                    <a:solidFill>
                      <a:srgbClr val="FFFFFF"/>
                    </a:solidFill>
                  </a:tcPr>
                </a:tc>
                <a:tc>
                  <a:txBody>
                    <a:bodyPr/>
                    <a:lstStyle/>
                    <a:p>
                      <a:pPr algn="l"/>
                      <a:r>
                        <a:rPr sz="1100" b="0">
                          <a:solidFill>
                            <a:srgbClr val="2E2E2E"/>
                          </a:solidFill>
                          <a:latin typeface="Calibri"/>
                        </a:rPr>
                        <a:t>8.12</a:t>
                      </a:r>
                      <a:endParaRPr sz="1100"/>
                    </a:p>
                  </a:txBody>
                  <a:tcPr marL="47625" marR="38100" marT="19050" marB="19050" anchor="ctr">
                    <a:solidFill>
                      <a:srgbClr val="FFFFFF"/>
                    </a:solidFill>
                  </a:tcPr>
                </a:tc>
                <a:tc>
                  <a:txBody>
                    <a:bodyPr/>
                    <a:lstStyle/>
                    <a:p>
                      <a:pPr algn="l"/>
                      <a:r>
                        <a:rPr sz="1100" b="0">
                          <a:solidFill>
                            <a:srgbClr val="2E2E2E"/>
                          </a:solidFill>
                          <a:latin typeface="Calibri"/>
                        </a:rPr>
                        <a:t>9.18</a:t>
                      </a:r>
                      <a:endParaRPr sz="1100"/>
                    </a:p>
                  </a:txBody>
                  <a:tcPr marL="47625" marR="38100" marT="19050" marB="19050" anchor="ctr">
                    <a:solidFill>
                      <a:srgbClr val="FFFFFF"/>
                    </a:solidFill>
                  </a:tcPr>
                </a:tc>
                <a:tc>
                  <a:txBody>
                    <a:bodyPr/>
                    <a:lstStyle/>
                    <a:p>
                      <a:pPr algn="l"/>
                      <a:r>
                        <a:rPr sz="1100" b="0">
                          <a:solidFill>
                            <a:srgbClr val="2E2E2E"/>
                          </a:solidFill>
                          <a:latin typeface="Calibri"/>
                        </a:rPr>
                        <a:t>10.3</a:t>
                      </a:r>
                      <a:endParaRPr sz="1100"/>
                    </a:p>
                  </a:txBody>
                  <a:tcPr marL="47625" marR="38100" marT="19050" marB="19050" anchor="ctr">
                    <a:solidFill>
                      <a:srgbClr val="FFFFFF"/>
                    </a:solidFill>
                  </a:tcPr>
                </a:tc>
                <a:tc>
                  <a:txBody>
                    <a:bodyPr/>
                    <a:lstStyle/>
                    <a:p>
                      <a:pPr algn="l"/>
                      <a:r>
                        <a:rPr sz="1100" b="0">
                          <a:solidFill>
                            <a:srgbClr val="2E2E2E"/>
                          </a:solidFill>
                          <a:latin typeface="Calibri"/>
                        </a:rPr>
                        <a:t>12.7%</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15979">
                <a:tc>
                  <a:txBody>
                    <a:bodyPr/>
                    <a:lstStyle/>
                    <a:p>
                      <a:pPr algn="l"/>
                      <a:r>
                        <a:rPr sz="1100" b="1">
                          <a:solidFill>
                            <a:srgbClr val="2E2E2E"/>
                          </a:solidFill>
                          <a:latin typeface="Calibri"/>
                        </a:rPr>
                        <a:t>Bar</a:t>
                      </a:r>
                      <a:endParaRPr sz="1100"/>
                    </a:p>
                  </a:txBody>
                  <a:tcPr marL="47625" marR="38100" marT="19050" marB="19050" anchor="ctr">
                    <a:solidFill>
                      <a:srgbClr val="F5F8FA"/>
                    </a:solidFill>
                  </a:tcPr>
                </a:tc>
                <a:tc>
                  <a:txBody>
                    <a:bodyPr/>
                    <a:lstStyle/>
                    <a:p>
                      <a:pPr algn="l"/>
                      <a:r>
                        <a:rPr sz="1100" b="0">
                          <a:solidFill>
                            <a:srgbClr val="2E2E2E"/>
                          </a:solidFill>
                          <a:latin typeface="Calibri"/>
                        </a:rPr>
                        <a:t>1.54</a:t>
                      </a:r>
                      <a:endParaRPr sz="1100"/>
                    </a:p>
                  </a:txBody>
                  <a:tcPr marL="47625" marR="38100" marT="19050" marB="19050" anchor="ctr">
                    <a:solidFill>
                      <a:srgbClr val="F5F8FA"/>
                    </a:solidFill>
                  </a:tcPr>
                </a:tc>
                <a:tc>
                  <a:txBody>
                    <a:bodyPr/>
                    <a:lstStyle/>
                    <a:p>
                      <a:pPr algn="l"/>
                      <a:r>
                        <a:rPr sz="1100" b="0">
                          <a:solidFill>
                            <a:srgbClr val="2E2E2E"/>
                          </a:solidFill>
                          <a:latin typeface="Calibri"/>
                        </a:rPr>
                        <a:t>1.63</a:t>
                      </a:r>
                      <a:endParaRPr sz="1100"/>
                    </a:p>
                  </a:txBody>
                  <a:tcPr marL="47625" marR="38100" marT="19050" marB="19050" anchor="ctr">
                    <a:solidFill>
                      <a:srgbClr val="F5F8FA"/>
                    </a:solidFill>
                  </a:tcPr>
                </a:tc>
                <a:tc>
                  <a:txBody>
                    <a:bodyPr/>
                    <a:lstStyle/>
                    <a:p>
                      <a:pPr algn="l"/>
                      <a:r>
                        <a:rPr sz="1100" b="0">
                          <a:solidFill>
                            <a:srgbClr val="2E2E2E"/>
                          </a:solidFill>
                          <a:latin typeface="Calibri"/>
                        </a:rPr>
                        <a:t>1.72</a:t>
                      </a:r>
                      <a:endParaRPr sz="1100"/>
                    </a:p>
                  </a:txBody>
                  <a:tcPr marL="47625" marR="38100" marT="19050" marB="19050" anchor="ctr">
                    <a:solidFill>
                      <a:srgbClr val="F5F8FA"/>
                    </a:solidFill>
                  </a:tcPr>
                </a:tc>
                <a:tc>
                  <a:txBody>
                    <a:bodyPr/>
                    <a:lstStyle/>
                    <a:p>
                      <a:pPr algn="l"/>
                      <a:r>
                        <a:rPr sz="1100" b="0">
                          <a:solidFill>
                            <a:srgbClr val="2E2E2E"/>
                          </a:solidFill>
                          <a:latin typeface="Calibri"/>
                        </a:rPr>
                        <a:t>1.81</a:t>
                      </a:r>
                      <a:endParaRPr sz="1100"/>
                    </a:p>
                  </a:txBody>
                  <a:tcPr marL="47625" marR="38100" marT="19050" marB="19050" anchor="ctr">
                    <a:solidFill>
                      <a:srgbClr val="F5F8FA"/>
                    </a:solidFill>
                  </a:tcPr>
                </a:tc>
                <a:tc>
                  <a:txBody>
                    <a:bodyPr/>
                    <a:lstStyle/>
                    <a:p>
                      <a:pPr algn="l"/>
                      <a:r>
                        <a:rPr sz="1100" b="0">
                          <a:solidFill>
                            <a:srgbClr val="2E2E2E"/>
                          </a:solidFill>
                          <a:latin typeface="Calibri"/>
                        </a:rPr>
                        <a:t>1.91</a:t>
                      </a:r>
                      <a:endParaRPr sz="1100"/>
                    </a:p>
                  </a:txBody>
                  <a:tcPr marL="47625" marR="38100" marT="19050" marB="19050" anchor="ctr">
                    <a:solidFill>
                      <a:srgbClr val="F5F8FA"/>
                    </a:solidFill>
                  </a:tcPr>
                </a:tc>
                <a:tc>
                  <a:txBody>
                    <a:bodyPr/>
                    <a:lstStyle/>
                    <a:p>
                      <a:pPr algn="l"/>
                      <a:r>
                        <a:rPr sz="1100" b="0">
                          <a:solidFill>
                            <a:srgbClr val="2E2E2E"/>
                          </a:solidFill>
                          <a:latin typeface="Calibri"/>
                        </a:rPr>
                        <a:t>2.02</a:t>
                      </a:r>
                      <a:endParaRPr sz="1100"/>
                    </a:p>
                  </a:txBody>
                  <a:tcPr marL="47625" marR="38100" marT="19050" marB="19050" anchor="ctr">
                    <a:solidFill>
                      <a:srgbClr val="F5F8FA"/>
                    </a:solidFill>
                  </a:tcPr>
                </a:tc>
                <a:tc>
                  <a:txBody>
                    <a:bodyPr/>
                    <a:lstStyle/>
                    <a:p>
                      <a:pPr algn="l"/>
                      <a:r>
                        <a:rPr sz="1100" b="0">
                          <a:solidFill>
                            <a:srgbClr val="2E2E2E"/>
                          </a:solidFill>
                          <a:latin typeface="Calibri"/>
                        </a:rPr>
                        <a:t>2.17</a:t>
                      </a:r>
                      <a:endParaRPr sz="1100"/>
                    </a:p>
                  </a:txBody>
                  <a:tcPr marL="47625" marR="38100" marT="19050" marB="19050" anchor="ctr">
                    <a:solidFill>
                      <a:srgbClr val="F5F8FA"/>
                    </a:solidFill>
                  </a:tcPr>
                </a:tc>
                <a:tc>
                  <a:txBody>
                    <a:bodyPr/>
                    <a:lstStyle/>
                    <a:p>
                      <a:pPr algn="l"/>
                      <a:r>
                        <a:rPr sz="1100" b="0">
                          <a:solidFill>
                            <a:srgbClr val="2E2E2E"/>
                          </a:solidFill>
                          <a:latin typeface="Calibri"/>
                        </a:rPr>
                        <a:t>2.35</a:t>
                      </a:r>
                      <a:endParaRPr sz="1100"/>
                    </a:p>
                  </a:txBody>
                  <a:tcPr marL="47625" marR="38100" marT="19050" marB="19050" anchor="ctr">
                    <a:solidFill>
                      <a:srgbClr val="F5F8FA"/>
                    </a:solidFill>
                  </a:tcPr>
                </a:tc>
                <a:tc>
                  <a:txBody>
                    <a:bodyPr/>
                    <a:lstStyle/>
                    <a:p>
                      <a:pPr algn="l"/>
                      <a:r>
                        <a:rPr sz="1100" b="0">
                          <a:solidFill>
                            <a:srgbClr val="2E2E2E"/>
                          </a:solidFill>
                          <a:latin typeface="Calibri"/>
                        </a:rPr>
                        <a:t>2.57</a:t>
                      </a:r>
                      <a:endParaRPr sz="1100"/>
                    </a:p>
                  </a:txBody>
                  <a:tcPr marL="47625" marR="38100" marT="19050" marB="19050" anchor="ctr">
                    <a:solidFill>
                      <a:srgbClr val="F5F8FA"/>
                    </a:solidFill>
                  </a:tcPr>
                </a:tc>
                <a:tc>
                  <a:txBody>
                    <a:bodyPr/>
                    <a:lstStyle/>
                    <a:p>
                      <a:pPr algn="l"/>
                      <a:r>
                        <a:rPr sz="1100" b="0">
                          <a:solidFill>
                            <a:srgbClr val="2E2E2E"/>
                          </a:solidFill>
                          <a:latin typeface="Calibri"/>
                        </a:rPr>
                        <a:t>2.83</a:t>
                      </a:r>
                      <a:endParaRPr sz="1100"/>
                    </a:p>
                  </a:txBody>
                  <a:tcPr marL="47625" marR="38100" marT="19050" marB="19050" anchor="ctr">
                    <a:solidFill>
                      <a:srgbClr val="F5F8FA"/>
                    </a:solidFill>
                  </a:tcPr>
                </a:tc>
                <a:tc>
                  <a:txBody>
                    <a:bodyPr/>
                    <a:lstStyle/>
                    <a:p>
                      <a:pPr algn="l"/>
                      <a:r>
                        <a:rPr sz="1100" b="0">
                          <a:solidFill>
                            <a:srgbClr val="2E2E2E"/>
                          </a:solidFill>
                          <a:latin typeface="Calibri"/>
                        </a:rPr>
                        <a:t>3.12</a:t>
                      </a:r>
                      <a:endParaRPr sz="1100"/>
                    </a:p>
                  </a:txBody>
                  <a:tcPr marL="47625" marR="38100" marT="19050" marB="19050" anchor="ctr">
                    <a:solidFill>
                      <a:srgbClr val="F5F8FA"/>
                    </a:solidFill>
                  </a:tcPr>
                </a:tc>
                <a:tc>
                  <a:txBody>
                    <a:bodyPr/>
                    <a:lstStyle/>
                    <a:p>
                      <a:pPr algn="l"/>
                      <a:r>
                        <a:rPr sz="1100" b="0">
                          <a:solidFill>
                            <a:srgbClr val="2E2E2E"/>
                          </a:solidFill>
                          <a:latin typeface="Calibri"/>
                        </a:rPr>
                        <a:t>3.46</a:t>
                      </a:r>
                      <a:endParaRPr sz="1100"/>
                    </a:p>
                  </a:txBody>
                  <a:tcPr marL="47625" marR="38100" marT="19050" marB="19050" anchor="ctr">
                    <a:solidFill>
                      <a:srgbClr val="F5F8FA"/>
                    </a:solidFill>
                  </a:tcPr>
                </a:tc>
                <a:tc>
                  <a:txBody>
                    <a:bodyPr/>
                    <a:lstStyle/>
                    <a:p>
                      <a:pPr algn="l"/>
                      <a:r>
                        <a:rPr sz="1100" b="0">
                          <a:solidFill>
                            <a:srgbClr val="2E2E2E"/>
                          </a:solidFill>
                          <a:latin typeface="Calibri"/>
                        </a:rPr>
                        <a:t>3.85</a:t>
                      </a:r>
                      <a:endParaRPr sz="1100"/>
                    </a:p>
                  </a:txBody>
                  <a:tcPr marL="47625" marR="38100" marT="19050" marB="19050" anchor="ctr">
                    <a:solidFill>
                      <a:srgbClr val="F5F8FA"/>
                    </a:solidFill>
                  </a:tcPr>
                </a:tc>
                <a:tc>
                  <a:txBody>
                    <a:bodyPr/>
                    <a:lstStyle/>
                    <a:p>
                      <a:pPr algn="l"/>
                      <a:r>
                        <a:rPr sz="1100" b="0">
                          <a:solidFill>
                            <a:srgbClr val="2E2E2E"/>
                          </a:solidFill>
                          <a:latin typeface="Calibri"/>
                        </a:rPr>
                        <a:t>4.27</a:t>
                      </a:r>
                      <a:endParaRPr sz="1100"/>
                    </a:p>
                  </a:txBody>
                  <a:tcPr marL="47625" marR="38100" marT="19050" marB="19050" anchor="ctr">
                    <a:solidFill>
                      <a:srgbClr val="F5F8FA"/>
                    </a:solidFill>
                  </a:tcPr>
                </a:tc>
                <a:tc>
                  <a:txBody>
                    <a:bodyPr/>
                    <a:lstStyle/>
                    <a:p>
                      <a:pPr algn="l"/>
                      <a:r>
                        <a:rPr sz="1100" b="0">
                          <a:solidFill>
                            <a:srgbClr val="2E2E2E"/>
                          </a:solidFill>
                          <a:latin typeface="Calibri"/>
                        </a:rPr>
                        <a:t>4.73</a:t>
                      </a:r>
                      <a:endParaRPr sz="1100"/>
                    </a:p>
                  </a:txBody>
                  <a:tcPr marL="47625" marR="38100" marT="19050" marB="19050" anchor="ctr">
                    <a:solidFill>
                      <a:srgbClr val="F5F8FA"/>
                    </a:solidFill>
                  </a:tcPr>
                </a:tc>
                <a:tc>
                  <a:txBody>
                    <a:bodyPr/>
                    <a:lstStyle/>
                    <a:p>
                      <a:pPr algn="l"/>
                      <a:r>
                        <a:rPr sz="1100" b="0">
                          <a:solidFill>
                            <a:srgbClr val="2E2E2E"/>
                          </a:solidFill>
                          <a:latin typeface="Calibri"/>
                        </a:rPr>
                        <a:t>5.22</a:t>
                      </a:r>
                      <a:endParaRPr sz="1100"/>
                    </a:p>
                  </a:txBody>
                  <a:tcPr marL="47625" marR="38100" marT="19050" marB="19050" anchor="ctr">
                    <a:solidFill>
                      <a:srgbClr val="F5F8FA"/>
                    </a:solidFill>
                  </a:tcPr>
                </a:tc>
                <a:tc>
                  <a:txBody>
                    <a:bodyPr/>
                    <a:lstStyle/>
                    <a:p>
                      <a:pPr algn="l"/>
                      <a:r>
                        <a:rPr sz="1100" b="0">
                          <a:solidFill>
                            <a:srgbClr val="2E2E2E"/>
                          </a:solidFill>
                          <a:latin typeface="Calibri"/>
                        </a:rPr>
                        <a:t>10.0%</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r h="215979">
                <a:tc>
                  <a:txBody>
                    <a:bodyPr/>
                    <a:lstStyle/>
                    <a:p>
                      <a:pPr algn="l"/>
                      <a:r>
                        <a:rPr sz="1100" b="1">
                          <a:solidFill>
                            <a:srgbClr val="2E2E2E"/>
                          </a:solidFill>
                          <a:latin typeface="Calibri"/>
                        </a:rPr>
                        <a:t>Liquid</a:t>
                      </a:r>
                      <a:endParaRPr sz="1100"/>
                    </a:p>
                  </a:txBody>
                  <a:tcPr marL="47625" marR="38100" marT="19050" marB="19050" anchor="ctr">
                    <a:solidFill>
                      <a:srgbClr val="FFFFFF"/>
                    </a:solidFill>
                  </a:tcPr>
                </a:tc>
                <a:tc>
                  <a:txBody>
                    <a:bodyPr/>
                    <a:lstStyle/>
                    <a:p>
                      <a:pPr algn="l"/>
                      <a:r>
                        <a:rPr sz="1100" b="0">
                          <a:solidFill>
                            <a:srgbClr val="2E2E2E"/>
                          </a:solidFill>
                          <a:latin typeface="Calibri"/>
                        </a:rPr>
                        <a:t>5.15</a:t>
                      </a:r>
                      <a:endParaRPr sz="1100"/>
                    </a:p>
                  </a:txBody>
                  <a:tcPr marL="47625" marR="38100" marT="19050" marB="19050" anchor="ctr">
                    <a:solidFill>
                      <a:srgbClr val="FFFFFF"/>
                    </a:solidFill>
                  </a:tcPr>
                </a:tc>
                <a:tc>
                  <a:txBody>
                    <a:bodyPr/>
                    <a:lstStyle/>
                    <a:p>
                      <a:pPr algn="l"/>
                      <a:r>
                        <a:rPr sz="1100" b="0">
                          <a:solidFill>
                            <a:srgbClr val="2E2E2E"/>
                          </a:solidFill>
                          <a:latin typeface="Calibri"/>
                        </a:rPr>
                        <a:t>5.71</a:t>
                      </a:r>
                      <a:endParaRPr sz="1100"/>
                    </a:p>
                  </a:txBody>
                  <a:tcPr marL="47625" marR="38100" marT="19050" marB="19050" anchor="ctr">
                    <a:solidFill>
                      <a:srgbClr val="FFFFFF"/>
                    </a:solidFill>
                  </a:tcPr>
                </a:tc>
                <a:tc>
                  <a:txBody>
                    <a:bodyPr/>
                    <a:lstStyle/>
                    <a:p>
                      <a:pPr algn="l"/>
                      <a:r>
                        <a:rPr sz="1100" b="0">
                          <a:solidFill>
                            <a:srgbClr val="2E2E2E"/>
                          </a:solidFill>
                          <a:latin typeface="Calibri"/>
                        </a:rPr>
                        <a:t>6.32</a:t>
                      </a:r>
                      <a:endParaRPr sz="1100"/>
                    </a:p>
                  </a:txBody>
                  <a:tcPr marL="47625" marR="38100" marT="19050" marB="19050" anchor="ctr">
                    <a:solidFill>
                      <a:srgbClr val="FFFFFF"/>
                    </a:solidFill>
                  </a:tcPr>
                </a:tc>
                <a:tc>
                  <a:txBody>
                    <a:bodyPr/>
                    <a:lstStyle/>
                    <a:p>
                      <a:pPr algn="l"/>
                      <a:r>
                        <a:rPr sz="1100" b="0">
                          <a:solidFill>
                            <a:srgbClr val="2E2E2E"/>
                          </a:solidFill>
                          <a:latin typeface="Calibri"/>
                        </a:rPr>
                        <a:t>6.95</a:t>
                      </a:r>
                      <a:endParaRPr sz="1100"/>
                    </a:p>
                  </a:txBody>
                  <a:tcPr marL="47625" marR="38100" marT="19050" marB="19050" anchor="ctr">
                    <a:solidFill>
                      <a:srgbClr val="FFFFFF"/>
                    </a:solidFill>
                  </a:tcPr>
                </a:tc>
                <a:tc>
                  <a:txBody>
                    <a:bodyPr/>
                    <a:lstStyle/>
                    <a:p>
                      <a:pPr algn="l"/>
                      <a:r>
                        <a:rPr sz="1100" b="0">
                          <a:solidFill>
                            <a:srgbClr val="2E2E2E"/>
                          </a:solidFill>
                          <a:latin typeface="Calibri"/>
                        </a:rPr>
                        <a:t>7.62</a:t>
                      </a:r>
                      <a:endParaRPr sz="1100"/>
                    </a:p>
                  </a:txBody>
                  <a:tcPr marL="47625" marR="38100" marT="19050" marB="19050" anchor="ctr">
                    <a:solidFill>
                      <a:srgbClr val="FFFFFF"/>
                    </a:solidFill>
                  </a:tcPr>
                </a:tc>
                <a:tc>
                  <a:txBody>
                    <a:bodyPr/>
                    <a:lstStyle/>
                    <a:p>
                      <a:pPr algn="l"/>
                      <a:r>
                        <a:rPr sz="1100" b="0">
                          <a:solidFill>
                            <a:srgbClr val="2E2E2E"/>
                          </a:solidFill>
                          <a:latin typeface="Calibri"/>
                        </a:rPr>
                        <a:t>8.38</a:t>
                      </a:r>
                      <a:endParaRPr sz="1100"/>
                    </a:p>
                  </a:txBody>
                  <a:tcPr marL="47625" marR="38100" marT="19050" marB="19050" anchor="ctr">
                    <a:solidFill>
                      <a:srgbClr val="FFFFFF"/>
                    </a:solidFill>
                  </a:tcPr>
                </a:tc>
                <a:tc>
                  <a:txBody>
                    <a:bodyPr/>
                    <a:lstStyle/>
                    <a:p>
                      <a:pPr algn="l"/>
                      <a:r>
                        <a:rPr sz="1100" b="0">
                          <a:solidFill>
                            <a:srgbClr val="2E2E2E"/>
                          </a:solidFill>
                          <a:latin typeface="Calibri"/>
                        </a:rPr>
                        <a:t>9.27</a:t>
                      </a:r>
                      <a:endParaRPr sz="1100"/>
                    </a:p>
                  </a:txBody>
                  <a:tcPr marL="47625" marR="38100" marT="19050" marB="19050" anchor="ctr">
                    <a:solidFill>
                      <a:srgbClr val="FFFFFF"/>
                    </a:solidFill>
                  </a:tcPr>
                </a:tc>
                <a:tc>
                  <a:txBody>
                    <a:bodyPr/>
                    <a:lstStyle/>
                    <a:p>
                      <a:pPr algn="l"/>
                      <a:r>
                        <a:rPr sz="1100" b="0">
                          <a:solidFill>
                            <a:srgbClr val="2E2E2E"/>
                          </a:solidFill>
                          <a:latin typeface="Calibri"/>
                        </a:rPr>
                        <a:t>10.3</a:t>
                      </a:r>
                      <a:endParaRPr sz="1100"/>
                    </a:p>
                  </a:txBody>
                  <a:tcPr marL="47625" marR="38100" marT="19050" marB="19050" anchor="ctr">
                    <a:solidFill>
                      <a:srgbClr val="FFFFFF"/>
                    </a:solidFill>
                  </a:tcPr>
                </a:tc>
                <a:tc>
                  <a:txBody>
                    <a:bodyPr/>
                    <a:lstStyle/>
                    <a:p>
                      <a:pPr algn="l"/>
                      <a:r>
                        <a:rPr sz="1100" b="0">
                          <a:solidFill>
                            <a:srgbClr val="2E2E2E"/>
                          </a:solidFill>
                          <a:latin typeface="Calibri"/>
                        </a:rPr>
                        <a:t>11.5</a:t>
                      </a:r>
                      <a:endParaRPr sz="1100"/>
                    </a:p>
                  </a:txBody>
                  <a:tcPr marL="47625" marR="38100" marT="19050" marB="19050" anchor="ctr">
                    <a:solidFill>
                      <a:srgbClr val="FFFFFF"/>
                    </a:solidFill>
                  </a:tcPr>
                </a:tc>
                <a:tc>
                  <a:txBody>
                    <a:bodyPr/>
                    <a:lstStyle/>
                    <a:p>
                      <a:pPr algn="l"/>
                      <a:r>
                        <a:rPr sz="1100" b="0">
                          <a:solidFill>
                            <a:srgbClr val="2E2E2E"/>
                          </a:solidFill>
                          <a:latin typeface="Calibri"/>
                        </a:rPr>
                        <a:t>12.8</a:t>
                      </a:r>
                      <a:endParaRPr sz="1100"/>
                    </a:p>
                  </a:txBody>
                  <a:tcPr marL="47625" marR="38100" marT="19050" marB="19050" anchor="ctr">
                    <a:solidFill>
                      <a:srgbClr val="FFFFFF"/>
                    </a:solidFill>
                  </a:tcPr>
                </a:tc>
                <a:tc>
                  <a:txBody>
                    <a:bodyPr/>
                    <a:lstStyle/>
                    <a:p>
                      <a:pPr algn="l"/>
                      <a:r>
                        <a:rPr sz="1100" b="0">
                          <a:solidFill>
                            <a:srgbClr val="2E2E2E"/>
                          </a:solidFill>
                          <a:latin typeface="Calibri"/>
                        </a:rPr>
                        <a:t>14.3</a:t>
                      </a:r>
                      <a:endParaRPr sz="1100"/>
                    </a:p>
                  </a:txBody>
                  <a:tcPr marL="47625" marR="38100" marT="19050" marB="19050" anchor="ctr">
                    <a:solidFill>
                      <a:srgbClr val="FFFFFF"/>
                    </a:solidFill>
                  </a:tcPr>
                </a:tc>
                <a:tc>
                  <a:txBody>
                    <a:bodyPr/>
                    <a:lstStyle/>
                    <a:p>
                      <a:pPr algn="l"/>
                      <a:r>
                        <a:rPr sz="1100" b="0">
                          <a:solidFill>
                            <a:srgbClr val="2E2E2E"/>
                          </a:solidFill>
                          <a:latin typeface="Calibri"/>
                        </a:rPr>
                        <a:t>15.9</a:t>
                      </a:r>
                      <a:endParaRPr sz="1100"/>
                    </a:p>
                  </a:txBody>
                  <a:tcPr marL="47625" marR="38100" marT="19050" marB="19050" anchor="ctr">
                    <a:solidFill>
                      <a:srgbClr val="FFFFFF"/>
                    </a:solidFill>
                  </a:tcPr>
                </a:tc>
                <a:tc>
                  <a:txBody>
                    <a:bodyPr/>
                    <a:lstStyle/>
                    <a:p>
                      <a:pPr algn="l"/>
                      <a:r>
                        <a:rPr sz="1100" b="0">
                          <a:solidFill>
                            <a:srgbClr val="2E2E2E"/>
                          </a:solidFill>
                          <a:latin typeface="Calibri"/>
                        </a:rPr>
                        <a:t>17.7</a:t>
                      </a:r>
                      <a:endParaRPr sz="1100"/>
                    </a:p>
                  </a:txBody>
                  <a:tcPr marL="47625" marR="38100" marT="19050" marB="19050" anchor="ctr">
                    <a:solidFill>
                      <a:srgbClr val="FFFFFF"/>
                    </a:solidFill>
                  </a:tcPr>
                </a:tc>
                <a:tc>
                  <a:txBody>
                    <a:bodyPr/>
                    <a:lstStyle/>
                    <a:p>
                      <a:pPr algn="l"/>
                      <a:r>
                        <a:rPr sz="1100" b="0">
                          <a:solidFill>
                            <a:srgbClr val="2E2E2E"/>
                          </a:solidFill>
                          <a:latin typeface="Calibri"/>
                        </a:rPr>
                        <a:t>19.7</a:t>
                      </a:r>
                      <a:endParaRPr sz="1100"/>
                    </a:p>
                  </a:txBody>
                  <a:tcPr marL="47625" marR="38100" marT="19050" marB="19050" anchor="ctr">
                    <a:solidFill>
                      <a:srgbClr val="FFFFFF"/>
                    </a:solidFill>
                  </a:tcPr>
                </a:tc>
                <a:tc>
                  <a:txBody>
                    <a:bodyPr/>
                    <a:lstStyle/>
                    <a:p>
                      <a:pPr algn="l"/>
                      <a:r>
                        <a:rPr sz="1100" b="0">
                          <a:solidFill>
                            <a:srgbClr val="2E2E2E"/>
                          </a:solidFill>
                          <a:latin typeface="Calibri"/>
                        </a:rPr>
                        <a:t>21.9</a:t>
                      </a:r>
                      <a:endParaRPr sz="1100"/>
                    </a:p>
                  </a:txBody>
                  <a:tcPr marL="47625" marR="38100" marT="19050" marB="19050" anchor="ctr">
                    <a:solidFill>
                      <a:srgbClr val="FFFFFF"/>
                    </a:solidFill>
                  </a:tcPr>
                </a:tc>
                <a:tc>
                  <a:txBody>
                    <a:bodyPr/>
                    <a:lstStyle/>
                    <a:p>
                      <a:pPr algn="l"/>
                      <a:r>
                        <a:rPr sz="1100" b="0">
                          <a:solidFill>
                            <a:srgbClr val="2E2E2E"/>
                          </a:solidFill>
                          <a:latin typeface="Calibri"/>
                        </a:rPr>
                        <a:t>24.3</a:t>
                      </a:r>
                      <a:endParaRPr sz="1100"/>
                    </a:p>
                  </a:txBody>
                  <a:tcPr marL="47625" marR="38100" marT="19050" marB="19050" anchor="ctr">
                    <a:solidFill>
                      <a:srgbClr val="FFFFFF"/>
                    </a:solidFill>
                  </a:tcPr>
                </a:tc>
                <a:tc>
                  <a:txBody>
                    <a:bodyPr/>
                    <a:lstStyle/>
                    <a:p>
                      <a:pPr algn="l"/>
                      <a:r>
                        <a:rPr sz="1100" b="0">
                          <a:solidFill>
                            <a:srgbClr val="2E2E2E"/>
                          </a:solidFill>
                          <a:latin typeface="Calibri"/>
                        </a:rPr>
                        <a:t>11.2%</a:t>
                      </a:r>
                      <a:endParaRPr sz="1100"/>
                    </a:p>
                  </a:txBody>
                  <a:tcPr marL="47625" marR="38100" marT="19050" marB="19050" anchor="ctr">
                    <a:solidFill>
                      <a:srgbClr val="FFFFFF"/>
                    </a:solidFill>
                  </a:tcPr>
                </a:tc>
                <a:extLst>
                  <a:ext uri="{0D108BD9-81ED-4DB2-BD59-A6C34878D82A}">
                    <a16:rowId xmlns:a16="http://schemas.microsoft.com/office/drawing/2014/main" val="10007"/>
                  </a:ext>
                </a:extLst>
              </a:tr>
              <a:tr h="215979">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l"/>
                      <a:r>
                        <a:rPr sz="1100" b="1">
                          <a:solidFill>
                            <a:srgbClr val="2E2E2E"/>
                          </a:solidFill>
                          <a:latin typeface="Calibri"/>
                        </a:rPr>
                        <a:t>795.0</a:t>
                      </a:r>
                      <a:endParaRPr sz="1100"/>
                    </a:p>
                  </a:txBody>
                  <a:tcPr marL="47625" marR="38100" marT="19050" marB="19050" anchor="ctr">
                    <a:solidFill>
                      <a:srgbClr val="E0E8EF"/>
                    </a:solidFill>
                  </a:tcPr>
                </a:tc>
                <a:tc>
                  <a:txBody>
                    <a:bodyPr/>
                    <a:lstStyle/>
                    <a:p>
                      <a:pPr algn="l"/>
                      <a:r>
                        <a:rPr sz="1100" b="1">
                          <a:solidFill>
                            <a:srgbClr val="2E2E2E"/>
                          </a:solidFill>
                          <a:latin typeface="Calibri"/>
                        </a:rPr>
                        <a:t>831.5</a:t>
                      </a:r>
                      <a:endParaRPr sz="1100"/>
                    </a:p>
                  </a:txBody>
                  <a:tcPr marL="47625" marR="38100" marT="19050" marB="19050" anchor="ctr">
                    <a:solidFill>
                      <a:srgbClr val="E0E8EF"/>
                    </a:solidFill>
                  </a:tcPr>
                </a:tc>
                <a:tc>
                  <a:txBody>
                    <a:bodyPr/>
                    <a:lstStyle/>
                    <a:p>
                      <a:pPr algn="l"/>
                      <a:r>
                        <a:rPr sz="1100" b="1">
                          <a:solidFill>
                            <a:srgbClr val="2E2E2E"/>
                          </a:solidFill>
                          <a:latin typeface="Calibri"/>
                        </a:rPr>
                        <a:t>870.0</a:t>
                      </a:r>
                      <a:endParaRPr sz="1100"/>
                    </a:p>
                  </a:txBody>
                  <a:tcPr marL="47625" marR="38100" marT="19050" marB="19050" anchor="ctr">
                    <a:solidFill>
                      <a:srgbClr val="E0E8EF"/>
                    </a:solidFill>
                  </a:tcPr>
                </a:tc>
                <a:tc>
                  <a:txBody>
                    <a:bodyPr/>
                    <a:lstStyle/>
                    <a:p>
                      <a:pPr algn="l"/>
                      <a:r>
                        <a:rPr sz="1100" b="1">
                          <a:solidFill>
                            <a:srgbClr val="2E2E2E"/>
                          </a:solidFill>
                          <a:latin typeface="Calibri"/>
                        </a:rPr>
                        <a:t>910.3</a:t>
                      </a:r>
                      <a:endParaRPr sz="1100"/>
                    </a:p>
                  </a:txBody>
                  <a:tcPr marL="47625" marR="38100" marT="19050" marB="19050" anchor="ctr">
                    <a:solidFill>
                      <a:srgbClr val="E0E8EF"/>
                    </a:solidFill>
                  </a:tcPr>
                </a:tc>
                <a:tc>
                  <a:txBody>
                    <a:bodyPr/>
                    <a:lstStyle/>
                    <a:p>
                      <a:pPr algn="l"/>
                      <a:r>
                        <a:rPr sz="1100" b="1">
                          <a:solidFill>
                            <a:srgbClr val="2E2E2E"/>
                          </a:solidFill>
                          <a:latin typeface="Calibri"/>
                        </a:rPr>
                        <a:t>952.6</a:t>
                      </a:r>
                      <a:endParaRPr sz="1100"/>
                    </a:p>
                  </a:txBody>
                  <a:tcPr marL="47625" marR="38100" marT="19050" marB="19050" anchor="ctr">
                    <a:solidFill>
                      <a:srgbClr val="E0E8EF"/>
                    </a:solidFill>
                  </a:tcPr>
                </a:tc>
                <a:tc>
                  <a:txBody>
                    <a:bodyPr/>
                    <a:lstStyle/>
                    <a:p>
                      <a:pPr algn="l"/>
                      <a:r>
                        <a:rPr sz="1100" b="1">
                          <a:solidFill>
                            <a:srgbClr val="2E2E2E"/>
                          </a:solidFill>
                          <a:latin typeface="Calibri"/>
                        </a:rPr>
                        <a:t>998.2</a:t>
                      </a:r>
                      <a:endParaRPr sz="1100"/>
                    </a:p>
                  </a:txBody>
                  <a:tcPr marL="47625" marR="38100" marT="19050" marB="19050" anchor="ctr">
                    <a:solidFill>
                      <a:srgbClr val="E0E8EF"/>
                    </a:solidFill>
                  </a:tcPr>
                </a:tc>
                <a:tc>
                  <a:txBody>
                    <a:bodyPr/>
                    <a:lstStyle/>
                    <a:p>
                      <a:pPr algn="l"/>
                      <a:r>
                        <a:rPr sz="1100" b="1">
                          <a:solidFill>
                            <a:srgbClr val="2E2E2E"/>
                          </a:solidFill>
                          <a:latin typeface="Calibri"/>
                        </a:rPr>
                        <a:t>1,048</a:t>
                      </a:r>
                      <a:endParaRPr sz="1100"/>
                    </a:p>
                  </a:txBody>
                  <a:tcPr marL="47625" marR="38100" marT="19050" marB="19050" anchor="ctr">
                    <a:solidFill>
                      <a:srgbClr val="E0E8EF"/>
                    </a:solidFill>
                  </a:tcPr>
                </a:tc>
                <a:tc>
                  <a:txBody>
                    <a:bodyPr/>
                    <a:lstStyle/>
                    <a:p>
                      <a:pPr algn="l"/>
                      <a:r>
                        <a:rPr sz="1100" b="1">
                          <a:solidFill>
                            <a:srgbClr val="2E2E2E"/>
                          </a:solidFill>
                          <a:latin typeface="Calibri"/>
                        </a:rPr>
                        <a:t>1,102</a:t>
                      </a:r>
                      <a:endParaRPr sz="1100"/>
                    </a:p>
                  </a:txBody>
                  <a:tcPr marL="47625" marR="38100" marT="19050" marB="19050" anchor="ctr">
                    <a:solidFill>
                      <a:srgbClr val="E0E8EF"/>
                    </a:solidFill>
                  </a:tcPr>
                </a:tc>
                <a:tc>
                  <a:txBody>
                    <a:bodyPr/>
                    <a:lstStyle/>
                    <a:p>
                      <a:pPr algn="l"/>
                      <a:r>
                        <a:rPr sz="1100" b="1">
                          <a:solidFill>
                            <a:srgbClr val="2E2E2E"/>
                          </a:solidFill>
                          <a:latin typeface="Calibri"/>
                        </a:rPr>
                        <a:t>1,164</a:t>
                      </a:r>
                      <a:endParaRPr sz="1100"/>
                    </a:p>
                  </a:txBody>
                  <a:tcPr marL="47625" marR="38100" marT="19050" marB="19050" anchor="ctr">
                    <a:solidFill>
                      <a:srgbClr val="E0E8EF"/>
                    </a:solidFill>
                  </a:tcPr>
                </a:tc>
                <a:tc>
                  <a:txBody>
                    <a:bodyPr/>
                    <a:lstStyle/>
                    <a:p>
                      <a:pPr algn="l"/>
                      <a:r>
                        <a:rPr sz="1100" b="1">
                          <a:solidFill>
                            <a:srgbClr val="2E2E2E"/>
                          </a:solidFill>
                          <a:latin typeface="Calibri"/>
                        </a:rPr>
                        <a:t>1,232</a:t>
                      </a:r>
                      <a:endParaRPr sz="1100"/>
                    </a:p>
                  </a:txBody>
                  <a:tcPr marL="47625" marR="38100" marT="19050" marB="19050" anchor="ctr">
                    <a:solidFill>
                      <a:srgbClr val="E0E8EF"/>
                    </a:solidFill>
                  </a:tcPr>
                </a:tc>
                <a:tc>
                  <a:txBody>
                    <a:bodyPr/>
                    <a:lstStyle/>
                    <a:p>
                      <a:pPr algn="l"/>
                      <a:r>
                        <a:rPr sz="1100" b="1">
                          <a:solidFill>
                            <a:srgbClr val="2E2E2E"/>
                          </a:solidFill>
                          <a:latin typeface="Calibri"/>
                        </a:rPr>
                        <a:t>1,307</a:t>
                      </a:r>
                      <a:endParaRPr sz="1100"/>
                    </a:p>
                  </a:txBody>
                  <a:tcPr marL="47625" marR="38100" marT="19050" marB="19050" anchor="ctr">
                    <a:solidFill>
                      <a:srgbClr val="E0E8EF"/>
                    </a:solidFill>
                  </a:tcPr>
                </a:tc>
                <a:tc>
                  <a:txBody>
                    <a:bodyPr/>
                    <a:lstStyle/>
                    <a:p>
                      <a:pPr algn="l"/>
                      <a:r>
                        <a:rPr sz="1100" b="1">
                          <a:solidFill>
                            <a:srgbClr val="2E2E2E"/>
                          </a:solidFill>
                          <a:latin typeface="Calibri"/>
                        </a:rPr>
                        <a:t>1,389</a:t>
                      </a:r>
                      <a:endParaRPr sz="1100"/>
                    </a:p>
                  </a:txBody>
                  <a:tcPr marL="47625" marR="38100" marT="19050" marB="19050" anchor="ctr">
                    <a:solidFill>
                      <a:srgbClr val="E0E8EF"/>
                    </a:solidFill>
                  </a:tcPr>
                </a:tc>
                <a:tc>
                  <a:txBody>
                    <a:bodyPr/>
                    <a:lstStyle/>
                    <a:p>
                      <a:pPr algn="l"/>
                      <a:r>
                        <a:rPr sz="1100" b="1">
                          <a:solidFill>
                            <a:srgbClr val="2E2E2E"/>
                          </a:solidFill>
                          <a:latin typeface="Calibri"/>
                        </a:rPr>
                        <a:t>1,475</a:t>
                      </a:r>
                      <a:endParaRPr sz="1100"/>
                    </a:p>
                  </a:txBody>
                  <a:tcPr marL="47625" marR="38100" marT="19050" marB="19050" anchor="ctr">
                    <a:solidFill>
                      <a:srgbClr val="E0E8EF"/>
                    </a:solidFill>
                  </a:tcPr>
                </a:tc>
                <a:tc>
                  <a:txBody>
                    <a:bodyPr/>
                    <a:lstStyle/>
                    <a:p>
                      <a:pPr algn="l"/>
                      <a:r>
                        <a:rPr sz="1100" b="1">
                          <a:solidFill>
                            <a:srgbClr val="2E2E2E"/>
                          </a:solidFill>
                          <a:latin typeface="Calibri"/>
                        </a:rPr>
                        <a:t>1,567</a:t>
                      </a:r>
                      <a:endParaRPr sz="1100"/>
                    </a:p>
                  </a:txBody>
                  <a:tcPr marL="47625" marR="38100" marT="19050" marB="19050" anchor="ctr">
                    <a:solidFill>
                      <a:srgbClr val="E0E8EF"/>
                    </a:solidFill>
                  </a:tcPr>
                </a:tc>
                <a:tc>
                  <a:txBody>
                    <a:bodyPr/>
                    <a:lstStyle/>
                    <a:p>
                      <a:pPr algn="l"/>
                      <a:r>
                        <a:rPr sz="1100" b="1">
                          <a:solidFill>
                            <a:srgbClr val="2E2E2E"/>
                          </a:solidFill>
                          <a:latin typeface="Calibri"/>
                        </a:rPr>
                        <a:t>1,662</a:t>
                      </a:r>
                      <a:endParaRPr sz="1100"/>
                    </a:p>
                  </a:txBody>
                  <a:tcPr marL="47625" marR="38100" marT="19050" marB="19050" anchor="ctr">
                    <a:solidFill>
                      <a:srgbClr val="E0E8EF"/>
                    </a:solidFill>
                  </a:tcPr>
                </a:tc>
                <a:tc>
                  <a:txBody>
                    <a:bodyPr/>
                    <a:lstStyle/>
                    <a:p>
                      <a:pPr algn="l"/>
                      <a:r>
                        <a:rPr sz="1100" b="1">
                          <a:solidFill>
                            <a:srgbClr val="2E2E2E"/>
                          </a:solidFill>
                          <a:latin typeface="Calibri"/>
                        </a:rPr>
                        <a:t>1,761</a:t>
                      </a:r>
                      <a:endParaRPr sz="1100"/>
                    </a:p>
                  </a:txBody>
                  <a:tcPr marL="47625" marR="38100" marT="19050" marB="19050" anchor="ctr">
                    <a:solidFill>
                      <a:srgbClr val="E0E8EF"/>
                    </a:solidFill>
                  </a:tcPr>
                </a:tc>
                <a:tc>
                  <a:txBody>
                    <a:bodyPr/>
                    <a:lstStyle/>
                    <a:p>
                      <a:pPr algn="l"/>
                      <a:r>
                        <a:rPr sz="1100" b="1">
                          <a:solidFill>
                            <a:srgbClr val="2E2E2E"/>
                          </a:solidFill>
                          <a:latin typeface="Calibri"/>
                        </a:rPr>
                        <a:t>5.8%</a:t>
                      </a:r>
                      <a:endParaRPr sz="1100"/>
                    </a:p>
                  </a:txBody>
                  <a:tcPr marL="47625" marR="38100" marT="19050" marB="19050" anchor="ctr">
                    <a:solidFill>
                      <a:srgbClr val="E0E8EF"/>
                    </a:solidFill>
                  </a:tcPr>
                </a:tc>
                <a:extLst>
                  <a:ext uri="{0D108BD9-81ED-4DB2-BD59-A6C34878D82A}">
                    <a16:rowId xmlns:a16="http://schemas.microsoft.com/office/drawing/2014/main" val="10008"/>
                  </a:ext>
                </a:extLst>
              </a:tr>
            </a:tbl>
          </a:graphicData>
        </a:graphic>
      </p:graphicFrame>
      <p:sp>
        <p:nvSpPr>
          <p:cNvPr id="14" name="TextBox 13"/>
          <p:cNvSpPr txBox="1"/>
          <p:nvPr/>
        </p:nvSpPr>
        <p:spPr>
          <a:xfrm>
            <a:off x="219075" y="319087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524250"/>
            <a:ext cx="11906250" cy="3105150"/>
          </a:xfrm>
          <a:prstGeom prst="roundRect">
            <a:avLst>
              <a:gd name="adj" fmla="val 245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6225" y="3609975"/>
            <a:ext cx="11639550" cy="209550"/>
          </a:xfrm>
          <a:prstGeom prst="rect">
            <a:avLst/>
          </a:prstGeom>
          <a:noFill/>
        </p:spPr>
        <p:txBody>
          <a:bodyPr wrap="square" lIns="0" tIns="9525" rIns="19050" bIns="9525">
            <a:spAutoFit/>
          </a:bodyPr>
          <a:lstStyle/>
          <a:p>
            <a:pPr algn="l"/>
            <a:r>
              <a:rPr sz="1300" b="1">
                <a:solidFill>
                  <a:srgbClr val="0B2E4A"/>
                </a:solidFill>
                <a:latin typeface="Calibri"/>
              </a:rPr>
              <a:t>USA Volume Analysis, By Product Format</a:t>
            </a:r>
          </a:p>
        </p:txBody>
      </p:sp>
      <p:sp>
        <p:nvSpPr>
          <p:cNvPr id="17" name="Rectangle 16"/>
          <p:cNvSpPr/>
          <p:nvPr/>
        </p:nvSpPr>
        <p:spPr>
          <a:xfrm>
            <a:off x="276225" y="38481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6225" y="3933825"/>
            <a:ext cx="11639550" cy="2619375"/>
          </a:xfrm>
          <a:prstGeom prst="rect">
            <a:avLst/>
          </a:prstGeom>
          <a:noFill/>
        </p:spPr>
        <p:txBody>
          <a:bodyPr wrap="square" lIns="0" tIns="9525" rIns="19050" bIns="9525">
            <a:spAutoFit/>
          </a:bodyPr>
          <a:lstStyle/>
          <a:p>
            <a:pPr algn="l">
              <a:lnSpc>
                <a:spcPct val="110000"/>
              </a:lnSpc>
              <a:spcBef>
                <a:spcPts val="0"/>
              </a:spcBef>
              <a:spcAft>
                <a:spcPts val="500"/>
              </a:spcAft>
            </a:pPr>
            <a:r>
              <a:rPr sz="1150" b="0">
                <a:solidFill>
                  <a:srgbClr val="2E2E2E"/>
                </a:solidFill>
                <a:latin typeface="Calibri"/>
              </a:rPr>
              <a:t>Gummies segment is projected to register 1.4X higher volume than tablet segment in 2036. Among prenatal vitamin supplements by product format, powder segment is expected to witness the highest CAGR of 12.7% over the forecast period.</a:t>
            </a:r>
          </a:p>
          <a:p>
            <a:pPr algn="l">
              <a:lnSpc>
                <a:spcPct val="110000"/>
              </a:lnSpc>
              <a:spcBef>
                <a:spcPts val="0"/>
              </a:spcBef>
              <a:spcAft>
                <a:spcPts val="500"/>
              </a:spcAft>
            </a:pPr>
            <a:r>
              <a:rPr sz="1150" b="0">
                <a:solidFill>
                  <a:srgbClr val="2E2E2E"/>
                </a:solidFill>
                <a:latin typeface="Calibri"/>
              </a:rPr>
              <a:t>In terms of volume share by product format, the gummies segment is expected to dominate the market, gaining 671 BPS and accounting for 32.0% share by 2036. The tablet segment is expected to lose 767 BPS over the forecast period to account for 23.6% share by 2036.</a:t>
            </a:r>
          </a:p>
          <a:p>
            <a:pPr algn="l">
              <a:lnSpc>
                <a:spcPct val="110000"/>
              </a:lnSpc>
              <a:spcBef>
                <a:spcPts val="0"/>
              </a:spcBef>
              <a:spcAft>
                <a:spcPts val="500"/>
              </a:spcAft>
            </a:pPr>
            <a:r>
              <a:rPr sz="1150" b="0">
                <a:solidFill>
                  <a:srgbClr val="2E2E2E"/>
                </a:solidFill>
                <a:latin typeface="Calibri"/>
              </a:rPr>
              <a:t>Gummies are expected to gain 671 BPS of volume share to become the largest format by 2036, as they solve the practical problem of large pills, nausea and food aversion and are now highly visible across mass retail, pharmacy and online channels. Capsules add 218 BPS on the back of premium, practitioner-influenced prenatal systems. Tablets are expected to lose 767 BPS, as growth in this affordable, high-count format is mainly replenishment-led and penetration is already mature.</a:t>
            </a:r>
          </a:p>
        </p:txBody>
      </p:sp>
      <p:sp>
        <p:nvSpPr>
          <p:cNvPr id="19" name="TextBox 1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Market Value Analysis, By Product Format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by Product Format,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11906250" cy="2409825"/>
          </a:xfrm>
          <a:prstGeom prst="roundRect">
            <a:avLst>
              <a:gd name="adj" fmla="val 31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Value, By Product Format (US$ Mn)</a:t>
            </a:r>
          </a:p>
        </p:txBody>
      </p:sp>
      <p:graphicFrame>
        <p:nvGraphicFramePr>
          <p:cNvPr id="13" name="Table 12"/>
          <p:cNvGraphicFramePr>
            <a:graphicFrameLocks noGrp="1"/>
          </p:cNvGraphicFramePr>
          <p:nvPr/>
        </p:nvGraphicFramePr>
        <p:xfrm>
          <a:off x="152400" y="1238250"/>
          <a:ext cx="11887207" cy="1943097"/>
        </p:xfrm>
        <a:graphic>
          <a:graphicData uri="http://schemas.openxmlformats.org/drawingml/2006/table">
            <a:tbl>
              <a:tblPr>
                <a:tableStyleId>{5C22544A-7EE6-4342-B048-85BDC9FD1C3A}</a:tableStyleId>
              </a:tblPr>
              <a:tblGrid>
                <a:gridCol w="1187152">
                  <a:extLst>
                    <a:ext uri="{9D8B030D-6E8A-4147-A177-3AD203B41FA5}">
                      <a16:colId xmlns:a16="http://schemas.microsoft.com/office/drawing/2014/main" val="20000"/>
                    </a:ext>
                  </a:extLst>
                </a:gridCol>
                <a:gridCol w="629415">
                  <a:extLst>
                    <a:ext uri="{9D8B030D-6E8A-4147-A177-3AD203B41FA5}">
                      <a16:colId xmlns:a16="http://schemas.microsoft.com/office/drawing/2014/main" val="20001"/>
                    </a:ext>
                  </a:extLst>
                </a:gridCol>
                <a:gridCol w="629415">
                  <a:extLst>
                    <a:ext uri="{9D8B030D-6E8A-4147-A177-3AD203B41FA5}">
                      <a16:colId xmlns:a16="http://schemas.microsoft.com/office/drawing/2014/main" val="20002"/>
                    </a:ext>
                  </a:extLst>
                </a:gridCol>
                <a:gridCol w="629415">
                  <a:extLst>
                    <a:ext uri="{9D8B030D-6E8A-4147-A177-3AD203B41FA5}">
                      <a16:colId xmlns:a16="http://schemas.microsoft.com/office/drawing/2014/main" val="20003"/>
                    </a:ext>
                  </a:extLst>
                </a:gridCol>
                <a:gridCol w="629415">
                  <a:extLst>
                    <a:ext uri="{9D8B030D-6E8A-4147-A177-3AD203B41FA5}">
                      <a16:colId xmlns:a16="http://schemas.microsoft.com/office/drawing/2014/main" val="20004"/>
                    </a:ext>
                  </a:extLst>
                </a:gridCol>
                <a:gridCol w="629415">
                  <a:extLst>
                    <a:ext uri="{9D8B030D-6E8A-4147-A177-3AD203B41FA5}">
                      <a16:colId xmlns:a16="http://schemas.microsoft.com/office/drawing/2014/main" val="20005"/>
                    </a:ext>
                  </a:extLst>
                </a:gridCol>
                <a:gridCol w="629415">
                  <a:extLst>
                    <a:ext uri="{9D8B030D-6E8A-4147-A177-3AD203B41FA5}">
                      <a16:colId xmlns:a16="http://schemas.microsoft.com/office/drawing/2014/main" val="20006"/>
                    </a:ext>
                  </a:extLst>
                </a:gridCol>
                <a:gridCol w="629415">
                  <a:extLst>
                    <a:ext uri="{9D8B030D-6E8A-4147-A177-3AD203B41FA5}">
                      <a16:colId xmlns:a16="http://schemas.microsoft.com/office/drawing/2014/main" val="20007"/>
                    </a:ext>
                  </a:extLst>
                </a:gridCol>
                <a:gridCol w="629415">
                  <a:extLst>
                    <a:ext uri="{9D8B030D-6E8A-4147-A177-3AD203B41FA5}">
                      <a16:colId xmlns:a16="http://schemas.microsoft.com/office/drawing/2014/main" val="20008"/>
                    </a:ext>
                  </a:extLst>
                </a:gridCol>
                <a:gridCol w="629415">
                  <a:extLst>
                    <a:ext uri="{9D8B030D-6E8A-4147-A177-3AD203B41FA5}">
                      <a16:colId xmlns:a16="http://schemas.microsoft.com/office/drawing/2014/main" val="20009"/>
                    </a:ext>
                  </a:extLst>
                </a:gridCol>
                <a:gridCol w="629415">
                  <a:extLst>
                    <a:ext uri="{9D8B030D-6E8A-4147-A177-3AD203B41FA5}">
                      <a16:colId xmlns:a16="http://schemas.microsoft.com/office/drawing/2014/main" val="20010"/>
                    </a:ext>
                  </a:extLst>
                </a:gridCol>
                <a:gridCol w="629415">
                  <a:extLst>
                    <a:ext uri="{9D8B030D-6E8A-4147-A177-3AD203B41FA5}">
                      <a16:colId xmlns:a16="http://schemas.microsoft.com/office/drawing/2014/main" val="20011"/>
                    </a:ext>
                  </a:extLst>
                </a:gridCol>
                <a:gridCol w="629415">
                  <a:extLst>
                    <a:ext uri="{9D8B030D-6E8A-4147-A177-3AD203B41FA5}">
                      <a16:colId xmlns:a16="http://schemas.microsoft.com/office/drawing/2014/main" val="20012"/>
                    </a:ext>
                  </a:extLst>
                </a:gridCol>
                <a:gridCol w="629415">
                  <a:extLst>
                    <a:ext uri="{9D8B030D-6E8A-4147-A177-3AD203B41FA5}">
                      <a16:colId xmlns:a16="http://schemas.microsoft.com/office/drawing/2014/main" val="20013"/>
                    </a:ext>
                  </a:extLst>
                </a:gridCol>
                <a:gridCol w="629415">
                  <a:extLst>
                    <a:ext uri="{9D8B030D-6E8A-4147-A177-3AD203B41FA5}">
                      <a16:colId xmlns:a16="http://schemas.microsoft.com/office/drawing/2014/main" val="20014"/>
                    </a:ext>
                  </a:extLst>
                </a:gridCol>
                <a:gridCol w="629415">
                  <a:extLst>
                    <a:ext uri="{9D8B030D-6E8A-4147-A177-3AD203B41FA5}">
                      <a16:colId xmlns:a16="http://schemas.microsoft.com/office/drawing/2014/main" val="20015"/>
                    </a:ext>
                  </a:extLst>
                </a:gridCol>
                <a:gridCol w="629415">
                  <a:extLst>
                    <a:ext uri="{9D8B030D-6E8A-4147-A177-3AD203B41FA5}">
                      <a16:colId xmlns:a16="http://schemas.microsoft.com/office/drawing/2014/main" val="20016"/>
                    </a:ext>
                  </a:extLst>
                </a:gridCol>
                <a:gridCol w="629415">
                  <a:extLst>
                    <a:ext uri="{9D8B030D-6E8A-4147-A177-3AD203B41FA5}">
                      <a16:colId xmlns:a16="http://schemas.microsoft.com/office/drawing/2014/main" val="20017"/>
                    </a:ext>
                  </a:extLst>
                </a:gridCol>
              </a:tblGrid>
              <a:tr h="215265">
                <a:tc>
                  <a:txBody>
                    <a:bodyPr/>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l"/>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15979">
                <a:tc>
                  <a:txBody>
                    <a:bodyPr/>
                    <a:lstStyle/>
                    <a:p>
                      <a:pPr algn="l"/>
                      <a:r>
                        <a:rPr sz="1100" b="1">
                          <a:solidFill>
                            <a:srgbClr val="2E2E2E"/>
                          </a:solidFill>
                          <a:latin typeface="Calibri"/>
                        </a:rPr>
                        <a:t>Capsule</a:t>
                      </a:r>
                      <a:endParaRPr sz="1100"/>
                    </a:p>
                  </a:txBody>
                  <a:tcPr marL="47625" marR="38100" marT="19050" marB="19050" anchor="ctr">
                    <a:solidFill>
                      <a:srgbClr val="FFFFFF"/>
                    </a:solidFill>
                  </a:tcPr>
                </a:tc>
                <a:tc>
                  <a:txBody>
                    <a:bodyPr/>
                    <a:lstStyle/>
                    <a:p>
                      <a:pPr algn="l"/>
                      <a:r>
                        <a:rPr sz="1100" b="0">
                          <a:solidFill>
                            <a:srgbClr val="2E2E2E"/>
                          </a:solidFill>
                          <a:latin typeface="Calibri"/>
                        </a:rPr>
                        <a:t>32.9</a:t>
                      </a:r>
                      <a:endParaRPr sz="1100"/>
                    </a:p>
                  </a:txBody>
                  <a:tcPr marL="47625" marR="38100" marT="19050" marB="19050" anchor="ctr">
                    <a:solidFill>
                      <a:srgbClr val="FFFFFF"/>
                    </a:solidFill>
                  </a:tcPr>
                </a:tc>
                <a:tc>
                  <a:txBody>
                    <a:bodyPr/>
                    <a:lstStyle/>
                    <a:p>
                      <a:pPr algn="l"/>
                      <a:r>
                        <a:rPr sz="1100" b="0">
                          <a:solidFill>
                            <a:srgbClr val="2E2E2E"/>
                          </a:solidFill>
                          <a:latin typeface="Calibri"/>
                        </a:rPr>
                        <a:t>35.1</a:t>
                      </a:r>
                      <a:endParaRPr sz="1100"/>
                    </a:p>
                  </a:txBody>
                  <a:tcPr marL="47625" marR="38100" marT="19050" marB="19050" anchor="ctr">
                    <a:solidFill>
                      <a:srgbClr val="FFFFFF"/>
                    </a:solidFill>
                  </a:tcPr>
                </a:tc>
                <a:tc>
                  <a:txBody>
                    <a:bodyPr/>
                    <a:lstStyle/>
                    <a:p>
                      <a:pPr algn="l"/>
                      <a:r>
                        <a:rPr sz="1100" b="0">
                          <a:solidFill>
                            <a:srgbClr val="2E2E2E"/>
                          </a:solidFill>
                          <a:latin typeface="Calibri"/>
                        </a:rPr>
                        <a:t>37.3</a:t>
                      </a:r>
                      <a:endParaRPr sz="1100"/>
                    </a:p>
                  </a:txBody>
                  <a:tcPr marL="47625" marR="38100" marT="19050" marB="19050" anchor="ctr">
                    <a:solidFill>
                      <a:srgbClr val="FFFFFF"/>
                    </a:solidFill>
                  </a:tcPr>
                </a:tc>
                <a:tc>
                  <a:txBody>
                    <a:bodyPr/>
                    <a:lstStyle/>
                    <a:p>
                      <a:pPr algn="l"/>
                      <a:r>
                        <a:rPr sz="1100" b="0">
                          <a:solidFill>
                            <a:srgbClr val="2E2E2E"/>
                          </a:solidFill>
                          <a:latin typeface="Calibri"/>
                        </a:rPr>
                        <a:t>39.5</a:t>
                      </a:r>
                      <a:endParaRPr sz="1100"/>
                    </a:p>
                  </a:txBody>
                  <a:tcPr marL="47625" marR="38100" marT="19050" marB="19050" anchor="ctr">
                    <a:solidFill>
                      <a:srgbClr val="FFFFFF"/>
                    </a:solidFill>
                  </a:tcPr>
                </a:tc>
                <a:tc>
                  <a:txBody>
                    <a:bodyPr/>
                    <a:lstStyle/>
                    <a:p>
                      <a:pPr algn="l"/>
                      <a:r>
                        <a:rPr sz="1100" b="0">
                          <a:solidFill>
                            <a:srgbClr val="2E2E2E"/>
                          </a:solidFill>
                          <a:latin typeface="Calibri"/>
                        </a:rPr>
                        <a:t>41.9</a:t>
                      </a:r>
                      <a:endParaRPr sz="1100"/>
                    </a:p>
                  </a:txBody>
                  <a:tcPr marL="47625" marR="38100" marT="19050" marB="19050" anchor="ctr">
                    <a:solidFill>
                      <a:srgbClr val="FFFFFF"/>
                    </a:solidFill>
                  </a:tcPr>
                </a:tc>
                <a:tc>
                  <a:txBody>
                    <a:bodyPr/>
                    <a:lstStyle/>
                    <a:p>
                      <a:pPr algn="l"/>
                      <a:r>
                        <a:rPr sz="1100" b="0">
                          <a:solidFill>
                            <a:srgbClr val="2E2E2E"/>
                          </a:solidFill>
                          <a:latin typeface="Calibri"/>
                        </a:rPr>
                        <a:t>44.6</a:t>
                      </a:r>
                      <a:endParaRPr sz="1100"/>
                    </a:p>
                  </a:txBody>
                  <a:tcPr marL="47625" marR="38100" marT="19050" marB="19050" anchor="ctr">
                    <a:solidFill>
                      <a:srgbClr val="FFFFFF"/>
                    </a:solidFill>
                  </a:tcPr>
                </a:tc>
                <a:tc>
                  <a:txBody>
                    <a:bodyPr/>
                    <a:lstStyle/>
                    <a:p>
                      <a:pPr algn="l"/>
                      <a:r>
                        <a:rPr sz="1100" b="0">
                          <a:solidFill>
                            <a:srgbClr val="2E2E2E"/>
                          </a:solidFill>
                          <a:latin typeface="Calibri"/>
                        </a:rPr>
                        <a:t>47.7</a:t>
                      </a:r>
                      <a:endParaRPr sz="1100"/>
                    </a:p>
                  </a:txBody>
                  <a:tcPr marL="47625" marR="38100" marT="19050" marB="19050" anchor="ctr">
                    <a:solidFill>
                      <a:srgbClr val="FFFFFF"/>
                    </a:solidFill>
                  </a:tcPr>
                </a:tc>
                <a:tc>
                  <a:txBody>
                    <a:bodyPr/>
                    <a:lstStyle/>
                    <a:p>
                      <a:pPr algn="l"/>
                      <a:r>
                        <a:rPr sz="1100" b="0">
                          <a:solidFill>
                            <a:srgbClr val="2E2E2E"/>
                          </a:solidFill>
                          <a:latin typeface="Calibri"/>
                        </a:rPr>
                        <a:t>51.2</a:t>
                      </a:r>
                      <a:endParaRPr sz="1100"/>
                    </a:p>
                  </a:txBody>
                  <a:tcPr marL="47625" marR="38100" marT="19050" marB="19050" anchor="ctr">
                    <a:solidFill>
                      <a:srgbClr val="FFFFFF"/>
                    </a:solidFill>
                  </a:tcPr>
                </a:tc>
                <a:tc>
                  <a:txBody>
                    <a:bodyPr/>
                    <a:lstStyle/>
                    <a:p>
                      <a:pPr algn="l"/>
                      <a:r>
                        <a:rPr sz="1100" b="0">
                          <a:solidFill>
                            <a:srgbClr val="2E2E2E"/>
                          </a:solidFill>
                          <a:latin typeface="Calibri"/>
                        </a:rPr>
                        <a:t>55.3</a:t>
                      </a:r>
                      <a:endParaRPr sz="1100"/>
                    </a:p>
                  </a:txBody>
                  <a:tcPr marL="47625" marR="38100" marT="19050" marB="19050" anchor="ctr">
                    <a:solidFill>
                      <a:srgbClr val="FFFFFF"/>
                    </a:solidFill>
                  </a:tcPr>
                </a:tc>
                <a:tc>
                  <a:txBody>
                    <a:bodyPr/>
                    <a:lstStyle/>
                    <a:p>
                      <a:pPr algn="l"/>
                      <a:r>
                        <a:rPr sz="1100" b="0">
                          <a:solidFill>
                            <a:srgbClr val="2E2E2E"/>
                          </a:solidFill>
                          <a:latin typeface="Calibri"/>
                        </a:rPr>
                        <a:t>60.0</a:t>
                      </a:r>
                      <a:endParaRPr sz="1100"/>
                    </a:p>
                  </a:txBody>
                  <a:tcPr marL="47625" marR="38100" marT="19050" marB="19050" anchor="ctr">
                    <a:solidFill>
                      <a:srgbClr val="FFFFFF"/>
                    </a:solidFill>
                  </a:tcPr>
                </a:tc>
                <a:tc>
                  <a:txBody>
                    <a:bodyPr/>
                    <a:lstStyle/>
                    <a:p>
                      <a:pPr algn="l"/>
                      <a:r>
                        <a:rPr sz="1100" b="0">
                          <a:solidFill>
                            <a:srgbClr val="2E2E2E"/>
                          </a:solidFill>
                          <a:latin typeface="Calibri"/>
                        </a:rPr>
                        <a:t>65.1</a:t>
                      </a:r>
                      <a:endParaRPr sz="1100"/>
                    </a:p>
                  </a:txBody>
                  <a:tcPr marL="47625" marR="38100" marT="19050" marB="19050" anchor="ctr">
                    <a:solidFill>
                      <a:srgbClr val="FFFFFF"/>
                    </a:solidFill>
                  </a:tcPr>
                </a:tc>
                <a:tc>
                  <a:txBody>
                    <a:bodyPr/>
                    <a:lstStyle/>
                    <a:p>
                      <a:pPr algn="l"/>
                      <a:r>
                        <a:rPr sz="1100" b="0">
                          <a:solidFill>
                            <a:srgbClr val="2E2E2E"/>
                          </a:solidFill>
                          <a:latin typeface="Calibri"/>
                        </a:rPr>
                        <a:t>70.6</a:t>
                      </a:r>
                      <a:endParaRPr sz="1100"/>
                    </a:p>
                  </a:txBody>
                  <a:tcPr marL="47625" marR="38100" marT="19050" marB="19050" anchor="ctr">
                    <a:solidFill>
                      <a:srgbClr val="FFFFFF"/>
                    </a:solidFill>
                  </a:tcPr>
                </a:tc>
                <a:tc>
                  <a:txBody>
                    <a:bodyPr/>
                    <a:lstStyle/>
                    <a:p>
                      <a:pPr algn="l"/>
                      <a:r>
                        <a:rPr sz="1100" b="0">
                          <a:solidFill>
                            <a:srgbClr val="2E2E2E"/>
                          </a:solidFill>
                          <a:latin typeface="Calibri"/>
                        </a:rPr>
                        <a:t>76.3</a:t>
                      </a:r>
                      <a:endParaRPr sz="1100"/>
                    </a:p>
                  </a:txBody>
                  <a:tcPr marL="47625" marR="38100" marT="19050" marB="19050" anchor="ctr">
                    <a:solidFill>
                      <a:srgbClr val="FFFFFF"/>
                    </a:solidFill>
                  </a:tcPr>
                </a:tc>
                <a:tc>
                  <a:txBody>
                    <a:bodyPr/>
                    <a:lstStyle/>
                    <a:p>
                      <a:pPr algn="l"/>
                      <a:r>
                        <a:rPr sz="1100" b="0">
                          <a:solidFill>
                            <a:srgbClr val="2E2E2E"/>
                          </a:solidFill>
                          <a:latin typeface="Calibri"/>
                        </a:rPr>
                        <a:t>82.3</a:t>
                      </a:r>
                      <a:endParaRPr sz="1100"/>
                    </a:p>
                  </a:txBody>
                  <a:tcPr marL="47625" marR="38100" marT="19050" marB="19050" anchor="ctr">
                    <a:solidFill>
                      <a:srgbClr val="FFFFFF"/>
                    </a:solidFill>
                  </a:tcPr>
                </a:tc>
                <a:tc>
                  <a:txBody>
                    <a:bodyPr/>
                    <a:lstStyle/>
                    <a:p>
                      <a:pPr algn="l"/>
                      <a:r>
                        <a:rPr sz="1100" b="0">
                          <a:solidFill>
                            <a:srgbClr val="2E2E2E"/>
                          </a:solidFill>
                          <a:latin typeface="Calibri"/>
                        </a:rPr>
                        <a:t>88.6</a:t>
                      </a:r>
                      <a:endParaRPr sz="1100"/>
                    </a:p>
                  </a:txBody>
                  <a:tcPr marL="47625" marR="38100" marT="19050" marB="19050" anchor="ctr">
                    <a:solidFill>
                      <a:srgbClr val="FFFFFF"/>
                    </a:solidFill>
                  </a:tcPr>
                </a:tc>
                <a:tc>
                  <a:txBody>
                    <a:bodyPr/>
                    <a:lstStyle/>
                    <a:p>
                      <a:pPr algn="l"/>
                      <a:r>
                        <a:rPr sz="1100" b="0">
                          <a:solidFill>
                            <a:srgbClr val="2E2E2E"/>
                          </a:solidFill>
                          <a:latin typeface="Calibri"/>
                        </a:rPr>
                        <a:t>95.3</a:t>
                      </a:r>
                      <a:endParaRPr sz="1100"/>
                    </a:p>
                  </a:txBody>
                  <a:tcPr marL="47625" marR="38100" marT="19050" marB="19050" anchor="ctr">
                    <a:solidFill>
                      <a:srgbClr val="FFFFFF"/>
                    </a:solidFill>
                  </a:tcPr>
                </a:tc>
                <a:tc>
                  <a:txBody>
                    <a:bodyPr/>
                    <a:lstStyle/>
                    <a:p>
                      <a:pPr algn="l"/>
                      <a:r>
                        <a:rPr sz="1100" b="0">
                          <a:solidFill>
                            <a:srgbClr val="2E2E2E"/>
                          </a:solidFill>
                          <a:latin typeface="Calibri"/>
                        </a:rPr>
                        <a:t>7.9%</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15979">
                <a:tc>
                  <a:txBody>
                    <a:bodyPr/>
                    <a:lstStyle/>
                    <a:p>
                      <a:pPr algn="l"/>
                      <a:r>
                        <a:rPr sz="1100" b="1">
                          <a:solidFill>
                            <a:srgbClr val="2E2E2E"/>
                          </a:solidFill>
                          <a:latin typeface="Calibri"/>
                        </a:rPr>
                        <a:t>Tablet</a:t>
                      </a:r>
                      <a:endParaRPr sz="1100"/>
                    </a:p>
                  </a:txBody>
                  <a:tcPr marL="47625" marR="38100" marT="19050" marB="19050" anchor="ctr">
                    <a:solidFill>
                      <a:srgbClr val="F5F8FA"/>
                    </a:solidFill>
                  </a:tcPr>
                </a:tc>
                <a:tc>
                  <a:txBody>
                    <a:bodyPr/>
                    <a:lstStyle/>
                    <a:p>
                      <a:pPr algn="l"/>
                      <a:r>
                        <a:rPr sz="1100" b="0">
                          <a:solidFill>
                            <a:srgbClr val="2E2E2E"/>
                          </a:solidFill>
                          <a:latin typeface="Calibri"/>
                        </a:rPr>
                        <a:t>70.4</a:t>
                      </a:r>
                      <a:endParaRPr sz="1100"/>
                    </a:p>
                  </a:txBody>
                  <a:tcPr marL="47625" marR="38100" marT="19050" marB="19050" anchor="ctr">
                    <a:solidFill>
                      <a:srgbClr val="F5F8FA"/>
                    </a:solidFill>
                  </a:tcPr>
                </a:tc>
                <a:tc>
                  <a:txBody>
                    <a:bodyPr/>
                    <a:lstStyle/>
                    <a:p>
                      <a:pPr algn="l"/>
                      <a:r>
                        <a:rPr sz="1100" b="0">
                          <a:solidFill>
                            <a:srgbClr val="2E2E2E"/>
                          </a:solidFill>
                          <a:latin typeface="Calibri"/>
                        </a:rPr>
                        <a:t>72.4</a:t>
                      </a:r>
                      <a:endParaRPr sz="1100"/>
                    </a:p>
                  </a:txBody>
                  <a:tcPr marL="47625" marR="38100" marT="19050" marB="19050" anchor="ctr">
                    <a:solidFill>
                      <a:srgbClr val="F5F8FA"/>
                    </a:solidFill>
                  </a:tcPr>
                </a:tc>
                <a:tc>
                  <a:txBody>
                    <a:bodyPr/>
                    <a:lstStyle/>
                    <a:p>
                      <a:pPr algn="l"/>
                      <a:r>
                        <a:rPr sz="1100" b="0">
                          <a:solidFill>
                            <a:srgbClr val="2E2E2E"/>
                          </a:solidFill>
                          <a:latin typeface="Calibri"/>
                        </a:rPr>
                        <a:t>74.6</a:t>
                      </a:r>
                      <a:endParaRPr sz="1100"/>
                    </a:p>
                  </a:txBody>
                  <a:tcPr marL="47625" marR="38100" marT="19050" marB="19050" anchor="ctr">
                    <a:solidFill>
                      <a:srgbClr val="F5F8FA"/>
                    </a:solidFill>
                  </a:tcPr>
                </a:tc>
                <a:tc>
                  <a:txBody>
                    <a:bodyPr/>
                    <a:lstStyle/>
                    <a:p>
                      <a:pPr algn="l"/>
                      <a:r>
                        <a:rPr sz="1100" b="0">
                          <a:solidFill>
                            <a:srgbClr val="2E2E2E"/>
                          </a:solidFill>
                          <a:latin typeface="Calibri"/>
                        </a:rPr>
                        <a:t>77.1</a:t>
                      </a:r>
                      <a:endParaRPr sz="1100"/>
                    </a:p>
                  </a:txBody>
                  <a:tcPr marL="47625" marR="38100" marT="19050" marB="19050" anchor="ctr">
                    <a:solidFill>
                      <a:srgbClr val="F5F8FA"/>
                    </a:solidFill>
                  </a:tcPr>
                </a:tc>
                <a:tc>
                  <a:txBody>
                    <a:bodyPr/>
                    <a:lstStyle/>
                    <a:p>
                      <a:pPr algn="l"/>
                      <a:r>
                        <a:rPr sz="1100" b="0">
                          <a:solidFill>
                            <a:srgbClr val="2E2E2E"/>
                          </a:solidFill>
                          <a:latin typeface="Calibri"/>
                        </a:rPr>
                        <a:t>79.5</a:t>
                      </a:r>
                      <a:endParaRPr sz="1100"/>
                    </a:p>
                  </a:txBody>
                  <a:tcPr marL="47625" marR="38100" marT="19050" marB="19050" anchor="ctr">
                    <a:solidFill>
                      <a:srgbClr val="F5F8FA"/>
                    </a:solidFill>
                  </a:tcPr>
                </a:tc>
                <a:tc>
                  <a:txBody>
                    <a:bodyPr/>
                    <a:lstStyle/>
                    <a:p>
                      <a:pPr algn="l"/>
                      <a:r>
                        <a:rPr sz="1100" b="0">
                          <a:solidFill>
                            <a:srgbClr val="2E2E2E"/>
                          </a:solidFill>
                          <a:latin typeface="Calibri"/>
                        </a:rPr>
                        <a:t>82.3</a:t>
                      </a:r>
                      <a:endParaRPr sz="1100"/>
                    </a:p>
                  </a:txBody>
                  <a:tcPr marL="47625" marR="38100" marT="19050" marB="19050" anchor="ctr">
                    <a:solidFill>
                      <a:srgbClr val="F5F8FA"/>
                    </a:solidFill>
                  </a:tcPr>
                </a:tc>
                <a:tc>
                  <a:txBody>
                    <a:bodyPr/>
                    <a:lstStyle/>
                    <a:p>
                      <a:pPr algn="l"/>
                      <a:r>
                        <a:rPr sz="1100" b="0">
                          <a:solidFill>
                            <a:srgbClr val="2E2E2E"/>
                          </a:solidFill>
                          <a:latin typeface="Calibri"/>
                        </a:rPr>
                        <a:t>85.0</a:t>
                      </a:r>
                      <a:endParaRPr sz="1100"/>
                    </a:p>
                  </a:txBody>
                  <a:tcPr marL="47625" marR="38100" marT="19050" marB="19050" anchor="ctr">
                    <a:solidFill>
                      <a:srgbClr val="F5F8FA"/>
                    </a:solidFill>
                  </a:tcPr>
                </a:tc>
                <a:tc>
                  <a:txBody>
                    <a:bodyPr/>
                    <a:lstStyle/>
                    <a:p>
                      <a:pPr algn="l"/>
                      <a:r>
                        <a:rPr sz="1100" b="0">
                          <a:solidFill>
                            <a:srgbClr val="2E2E2E"/>
                          </a:solidFill>
                          <a:latin typeface="Calibri"/>
                        </a:rPr>
                        <a:t>87.9</a:t>
                      </a:r>
                      <a:endParaRPr sz="1100"/>
                    </a:p>
                  </a:txBody>
                  <a:tcPr marL="47625" marR="38100" marT="19050" marB="19050" anchor="ctr">
                    <a:solidFill>
                      <a:srgbClr val="F5F8FA"/>
                    </a:solidFill>
                  </a:tcPr>
                </a:tc>
                <a:tc>
                  <a:txBody>
                    <a:bodyPr/>
                    <a:lstStyle/>
                    <a:p>
                      <a:pPr algn="l"/>
                      <a:r>
                        <a:rPr sz="1100" b="0">
                          <a:solidFill>
                            <a:srgbClr val="2E2E2E"/>
                          </a:solidFill>
                          <a:latin typeface="Calibri"/>
                        </a:rPr>
                        <a:t>91.0</a:t>
                      </a:r>
                      <a:endParaRPr sz="1100"/>
                    </a:p>
                  </a:txBody>
                  <a:tcPr marL="47625" marR="38100" marT="19050" marB="19050" anchor="ctr">
                    <a:solidFill>
                      <a:srgbClr val="F5F8FA"/>
                    </a:solidFill>
                  </a:tcPr>
                </a:tc>
                <a:tc>
                  <a:txBody>
                    <a:bodyPr/>
                    <a:lstStyle/>
                    <a:p>
                      <a:pPr algn="l"/>
                      <a:r>
                        <a:rPr sz="1100" b="0">
                          <a:solidFill>
                            <a:srgbClr val="2E2E2E"/>
                          </a:solidFill>
                          <a:latin typeface="Calibri"/>
                        </a:rPr>
                        <a:t>94.4</a:t>
                      </a:r>
                      <a:endParaRPr sz="1100"/>
                    </a:p>
                  </a:txBody>
                  <a:tcPr marL="47625" marR="38100" marT="19050" marB="19050" anchor="ctr">
                    <a:solidFill>
                      <a:srgbClr val="F5F8FA"/>
                    </a:solidFill>
                  </a:tcPr>
                </a:tc>
                <a:tc>
                  <a:txBody>
                    <a:bodyPr/>
                    <a:lstStyle/>
                    <a:p>
                      <a:pPr algn="l"/>
                      <a:r>
                        <a:rPr sz="1100" b="0">
                          <a:solidFill>
                            <a:srgbClr val="2E2E2E"/>
                          </a:solidFill>
                          <a:latin typeface="Calibri"/>
                        </a:rPr>
                        <a:t>98.1</a:t>
                      </a:r>
                      <a:endParaRPr sz="1100"/>
                    </a:p>
                  </a:txBody>
                  <a:tcPr marL="47625" marR="38100" marT="19050" marB="19050" anchor="ctr">
                    <a:solidFill>
                      <a:srgbClr val="F5F8FA"/>
                    </a:solidFill>
                  </a:tcPr>
                </a:tc>
                <a:tc>
                  <a:txBody>
                    <a:bodyPr/>
                    <a:lstStyle/>
                    <a:p>
                      <a:pPr algn="l"/>
                      <a:r>
                        <a:rPr sz="1100" b="0">
                          <a:solidFill>
                            <a:srgbClr val="2E2E2E"/>
                          </a:solidFill>
                          <a:latin typeface="Calibri"/>
                        </a:rPr>
                        <a:t>102.1</a:t>
                      </a:r>
                      <a:endParaRPr sz="1100"/>
                    </a:p>
                  </a:txBody>
                  <a:tcPr marL="47625" marR="38100" marT="19050" marB="19050" anchor="ctr">
                    <a:solidFill>
                      <a:srgbClr val="F5F8FA"/>
                    </a:solidFill>
                  </a:tcPr>
                </a:tc>
                <a:tc>
                  <a:txBody>
                    <a:bodyPr/>
                    <a:lstStyle/>
                    <a:p>
                      <a:pPr algn="l"/>
                      <a:r>
                        <a:rPr sz="1100" b="0">
                          <a:solidFill>
                            <a:srgbClr val="2E2E2E"/>
                          </a:solidFill>
                          <a:latin typeface="Calibri"/>
                        </a:rPr>
                        <a:t>106.2</a:t>
                      </a:r>
                      <a:endParaRPr sz="1100"/>
                    </a:p>
                  </a:txBody>
                  <a:tcPr marL="47625" marR="38100" marT="19050" marB="19050" anchor="ctr">
                    <a:solidFill>
                      <a:srgbClr val="F5F8FA"/>
                    </a:solidFill>
                  </a:tcPr>
                </a:tc>
                <a:tc>
                  <a:txBody>
                    <a:bodyPr/>
                    <a:lstStyle/>
                    <a:p>
                      <a:pPr algn="l"/>
                      <a:r>
                        <a:rPr sz="1100" b="0">
                          <a:solidFill>
                            <a:srgbClr val="2E2E2E"/>
                          </a:solidFill>
                          <a:latin typeface="Calibri"/>
                        </a:rPr>
                        <a:t>110.4</a:t>
                      </a:r>
                      <a:endParaRPr sz="1100"/>
                    </a:p>
                  </a:txBody>
                  <a:tcPr marL="47625" marR="38100" marT="19050" marB="19050" anchor="ctr">
                    <a:solidFill>
                      <a:srgbClr val="F5F8FA"/>
                    </a:solidFill>
                  </a:tcPr>
                </a:tc>
                <a:tc>
                  <a:txBody>
                    <a:bodyPr/>
                    <a:lstStyle/>
                    <a:p>
                      <a:pPr algn="l"/>
                      <a:r>
                        <a:rPr sz="1100" b="0">
                          <a:solidFill>
                            <a:srgbClr val="2E2E2E"/>
                          </a:solidFill>
                          <a:latin typeface="Calibri"/>
                        </a:rPr>
                        <a:t>114.8</a:t>
                      </a:r>
                      <a:endParaRPr sz="1100"/>
                    </a:p>
                  </a:txBody>
                  <a:tcPr marL="47625" marR="38100" marT="19050" marB="19050" anchor="ctr">
                    <a:solidFill>
                      <a:srgbClr val="F5F8FA"/>
                    </a:solidFill>
                  </a:tcPr>
                </a:tc>
                <a:tc>
                  <a:txBody>
                    <a:bodyPr/>
                    <a:lstStyle/>
                    <a:p>
                      <a:pPr algn="l"/>
                      <a:r>
                        <a:rPr sz="1100" b="0">
                          <a:solidFill>
                            <a:srgbClr val="2E2E2E"/>
                          </a:solidFill>
                          <a:latin typeface="Calibri"/>
                        </a:rPr>
                        <a:t>119.2</a:t>
                      </a:r>
                      <a:endParaRPr sz="1100"/>
                    </a:p>
                  </a:txBody>
                  <a:tcPr marL="47625" marR="38100" marT="19050" marB="19050" anchor="ctr">
                    <a:solidFill>
                      <a:srgbClr val="F5F8FA"/>
                    </a:solidFill>
                  </a:tcPr>
                </a:tc>
                <a:tc>
                  <a:txBody>
                    <a:bodyPr/>
                    <a:lstStyle/>
                    <a:p>
                      <a:pPr algn="l"/>
                      <a:r>
                        <a:rPr sz="1100" b="0">
                          <a:solidFill>
                            <a:srgbClr val="2E2E2E"/>
                          </a:solidFill>
                          <a:latin typeface="Calibri"/>
                        </a:rPr>
                        <a:t>3.8%</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15979">
                <a:tc>
                  <a:txBody>
                    <a:bodyPr/>
                    <a:lstStyle/>
                    <a:p>
                      <a:pPr algn="l"/>
                      <a:r>
                        <a:rPr sz="1100" b="1">
                          <a:solidFill>
                            <a:srgbClr val="2E2E2E"/>
                          </a:solidFill>
                          <a:latin typeface="Calibri"/>
                        </a:rPr>
                        <a:t>Softgels</a:t>
                      </a:r>
                      <a:endParaRPr sz="1100"/>
                    </a:p>
                  </a:txBody>
                  <a:tcPr marL="47625" marR="38100" marT="19050" marB="19050" anchor="ctr">
                    <a:solidFill>
                      <a:srgbClr val="FFFFFF"/>
                    </a:solidFill>
                  </a:tcPr>
                </a:tc>
                <a:tc>
                  <a:txBody>
                    <a:bodyPr/>
                    <a:lstStyle/>
                    <a:p>
                      <a:pPr algn="l"/>
                      <a:r>
                        <a:rPr sz="1100" b="0">
                          <a:solidFill>
                            <a:srgbClr val="2E2E2E"/>
                          </a:solidFill>
                          <a:latin typeface="Calibri"/>
                        </a:rPr>
                        <a:t>36.0</a:t>
                      </a:r>
                      <a:endParaRPr sz="1100"/>
                    </a:p>
                  </a:txBody>
                  <a:tcPr marL="47625" marR="38100" marT="19050" marB="19050" anchor="ctr">
                    <a:solidFill>
                      <a:srgbClr val="FFFFFF"/>
                    </a:solidFill>
                  </a:tcPr>
                </a:tc>
                <a:tc>
                  <a:txBody>
                    <a:bodyPr/>
                    <a:lstStyle/>
                    <a:p>
                      <a:pPr algn="l"/>
                      <a:r>
                        <a:rPr sz="1100" b="0">
                          <a:solidFill>
                            <a:srgbClr val="2E2E2E"/>
                          </a:solidFill>
                          <a:latin typeface="Calibri"/>
                        </a:rPr>
                        <a:t>37.7</a:t>
                      </a:r>
                      <a:endParaRPr sz="1100"/>
                    </a:p>
                  </a:txBody>
                  <a:tcPr marL="47625" marR="38100" marT="19050" marB="19050" anchor="ctr">
                    <a:solidFill>
                      <a:srgbClr val="FFFFFF"/>
                    </a:solidFill>
                  </a:tcPr>
                </a:tc>
                <a:tc>
                  <a:txBody>
                    <a:bodyPr/>
                    <a:lstStyle/>
                    <a:p>
                      <a:pPr algn="l"/>
                      <a:r>
                        <a:rPr sz="1100" b="0">
                          <a:solidFill>
                            <a:srgbClr val="2E2E2E"/>
                          </a:solidFill>
                          <a:latin typeface="Calibri"/>
                        </a:rPr>
                        <a:t>39.5</a:t>
                      </a:r>
                      <a:endParaRPr sz="1100"/>
                    </a:p>
                  </a:txBody>
                  <a:tcPr marL="47625" marR="38100" marT="19050" marB="19050" anchor="ctr">
                    <a:solidFill>
                      <a:srgbClr val="FFFFFF"/>
                    </a:solidFill>
                  </a:tcPr>
                </a:tc>
                <a:tc>
                  <a:txBody>
                    <a:bodyPr/>
                    <a:lstStyle/>
                    <a:p>
                      <a:pPr algn="l"/>
                      <a:r>
                        <a:rPr sz="1100" b="0">
                          <a:solidFill>
                            <a:srgbClr val="2E2E2E"/>
                          </a:solidFill>
                          <a:latin typeface="Calibri"/>
                        </a:rPr>
                        <a:t>41.4</a:t>
                      </a:r>
                      <a:endParaRPr sz="1100"/>
                    </a:p>
                  </a:txBody>
                  <a:tcPr marL="47625" marR="38100" marT="19050" marB="19050" anchor="ctr">
                    <a:solidFill>
                      <a:srgbClr val="FFFFFF"/>
                    </a:solidFill>
                  </a:tcPr>
                </a:tc>
                <a:tc>
                  <a:txBody>
                    <a:bodyPr/>
                    <a:lstStyle/>
                    <a:p>
                      <a:pPr algn="l"/>
                      <a:r>
                        <a:rPr sz="1100" b="0">
                          <a:solidFill>
                            <a:srgbClr val="2E2E2E"/>
                          </a:solidFill>
                          <a:latin typeface="Calibri"/>
                        </a:rPr>
                        <a:t>43.3</a:t>
                      </a:r>
                      <a:endParaRPr sz="1100"/>
                    </a:p>
                  </a:txBody>
                  <a:tcPr marL="47625" marR="38100" marT="19050" marB="19050" anchor="ctr">
                    <a:solidFill>
                      <a:srgbClr val="FFFFFF"/>
                    </a:solidFill>
                  </a:tcPr>
                </a:tc>
                <a:tc>
                  <a:txBody>
                    <a:bodyPr/>
                    <a:lstStyle/>
                    <a:p>
                      <a:pPr algn="l"/>
                      <a:r>
                        <a:rPr sz="1100" b="0">
                          <a:solidFill>
                            <a:srgbClr val="2E2E2E"/>
                          </a:solidFill>
                          <a:latin typeface="Calibri"/>
                        </a:rPr>
                        <a:t>45.3</a:t>
                      </a:r>
                      <a:endParaRPr sz="1100"/>
                    </a:p>
                  </a:txBody>
                  <a:tcPr marL="47625" marR="38100" marT="19050" marB="19050" anchor="ctr">
                    <a:solidFill>
                      <a:srgbClr val="FFFFFF"/>
                    </a:solidFill>
                  </a:tcPr>
                </a:tc>
                <a:tc>
                  <a:txBody>
                    <a:bodyPr/>
                    <a:lstStyle/>
                    <a:p>
                      <a:pPr algn="l"/>
                      <a:r>
                        <a:rPr sz="1100" b="0">
                          <a:solidFill>
                            <a:srgbClr val="2E2E2E"/>
                          </a:solidFill>
                          <a:latin typeface="Calibri"/>
                        </a:rPr>
                        <a:t>47.6</a:t>
                      </a:r>
                      <a:endParaRPr sz="1100"/>
                    </a:p>
                  </a:txBody>
                  <a:tcPr marL="47625" marR="38100" marT="19050" marB="19050" anchor="ctr">
                    <a:solidFill>
                      <a:srgbClr val="FFFFFF"/>
                    </a:solidFill>
                  </a:tcPr>
                </a:tc>
                <a:tc>
                  <a:txBody>
                    <a:bodyPr/>
                    <a:lstStyle/>
                    <a:p>
                      <a:pPr algn="l"/>
                      <a:r>
                        <a:rPr sz="1100" b="0">
                          <a:solidFill>
                            <a:srgbClr val="2E2E2E"/>
                          </a:solidFill>
                          <a:latin typeface="Calibri"/>
                        </a:rPr>
                        <a:t>50.1</a:t>
                      </a:r>
                      <a:endParaRPr sz="1100"/>
                    </a:p>
                  </a:txBody>
                  <a:tcPr marL="47625" marR="38100" marT="19050" marB="19050" anchor="ctr">
                    <a:solidFill>
                      <a:srgbClr val="FFFFFF"/>
                    </a:solidFill>
                  </a:tcPr>
                </a:tc>
                <a:tc>
                  <a:txBody>
                    <a:bodyPr/>
                    <a:lstStyle/>
                    <a:p>
                      <a:pPr algn="l"/>
                      <a:r>
                        <a:rPr sz="1100" b="0">
                          <a:solidFill>
                            <a:srgbClr val="2E2E2E"/>
                          </a:solidFill>
                          <a:latin typeface="Calibri"/>
                        </a:rPr>
                        <a:t>52.8</a:t>
                      </a:r>
                      <a:endParaRPr sz="1100"/>
                    </a:p>
                  </a:txBody>
                  <a:tcPr marL="47625" marR="38100" marT="19050" marB="19050" anchor="ctr">
                    <a:solidFill>
                      <a:srgbClr val="FFFFFF"/>
                    </a:solidFill>
                  </a:tcPr>
                </a:tc>
                <a:tc>
                  <a:txBody>
                    <a:bodyPr/>
                    <a:lstStyle/>
                    <a:p>
                      <a:pPr algn="l"/>
                      <a:r>
                        <a:rPr sz="1100" b="0">
                          <a:solidFill>
                            <a:srgbClr val="2E2E2E"/>
                          </a:solidFill>
                          <a:latin typeface="Calibri"/>
                        </a:rPr>
                        <a:t>55.8</a:t>
                      </a:r>
                      <a:endParaRPr sz="1100"/>
                    </a:p>
                  </a:txBody>
                  <a:tcPr marL="47625" marR="38100" marT="19050" marB="19050" anchor="ctr">
                    <a:solidFill>
                      <a:srgbClr val="FFFFFF"/>
                    </a:solidFill>
                  </a:tcPr>
                </a:tc>
                <a:tc>
                  <a:txBody>
                    <a:bodyPr/>
                    <a:lstStyle/>
                    <a:p>
                      <a:pPr algn="l"/>
                      <a:r>
                        <a:rPr sz="1100" b="0">
                          <a:solidFill>
                            <a:srgbClr val="2E2E2E"/>
                          </a:solidFill>
                          <a:latin typeface="Calibri"/>
                        </a:rPr>
                        <a:t>58.8</a:t>
                      </a:r>
                      <a:endParaRPr sz="1100"/>
                    </a:p>
                  </a:txBody>
                  <a:tcPr marL="47625" marR="38100" marT="19050" marB="19050" anchor="ctr">
                    <a:solidFill>
                      <a:srgbClr val="FFFFFF"/>
                    </a:solidFill>
                  </a:tcPr>
                </a:tc>
                <a:tc>
                  <a:txBody>
                    <a:bodyPr/>
                    <a:lstStyle/>
                    <a:p>
                      <a:pPr algn="l"/>
                      <a:r>
                        <a:rPr sz="1100" b="0">
                          <a:solidFill>
                            <a:srgbClr val="2E2E2E"/>
                          </a:solidFill>
                          <a:latin typeface="Calibri"/>
                        </a:rPr>
                        <a:t>61.9</a:t>
                      </a:r>
                      <a:endParaRPr sz="1100"/>
                    </a:p>
                  </a:txBody>
                  <a:tcPr marL="47625" marR="38100" marT="19050" marB="19050" anchor="ctr">
                    <a:solidFill>
                      <a:srgbClr val="FFFFFF"/>
                    </a:solidFill>
                  </a:tcPr>
                </a:tc>
                <a:tc>
                  <a:txBody>
                    <a:bodyPr/>
                    <a:lstStyle/>
                    <a:p>
                      <a:pPr algn="l"/>
                      <a:r>
                        <a:rPr sz="1100" b="0">
                          <a:solidFill>
                            <a:srgbClr val="2E2E2E"/>
                          </a:solidFill>
                          <a:latin typeface="Calibri"/>
                        </a:rPr>
                        <a:t>65.3</a:t>
                      </a:r>
                      <a:endParaRPr sz="1100"/>
                    </a:p>
                  </a:txBody>
                  <a:tcPr marL="47625" marR="38100" marT="19050" marB="19050" anchor="ctr">
                    <a:solidFill>
                      <a:srgbClr val="FFFFFF"/>
                    </a:solidFill>
                  </a:tcPr>
                </a:tc>
                <a:tc>
                  <a:txBody>
                    <a:bodyPr/>
                    <a:lstStyle/>
                    <a:p>
                      <a:pPr algn="l"/>
                      <a:r>
                        <a:rPr sz="1100" b="0">
                          <a:solidFill>
                            <a:srgbClr val="2E2E2E"/>
                          </a:solidFill>
                          <a:latin typeface="Calibri"/>
                        </a:rPr>
                        <a:t>68.9</a:t>
                      </a:r>
                      <a:endParaRPr sz="1100"/>
                    </a:p>
                  </a:txBody>
                  <a:tcPr marL="47625" marR="38100" marT="19050" marB="19050" anchor="ctr">
                    <a:solidFill>
                      <a:srgbClr val="FFFFFF"/>
                    </a:solidFill>
                  </a:tcPr>
                </a:tc>
                <a:tc>
                  <a:txBody>
                    <a:bodyPr/>
                    <a:lstStyle/>
                    <a:p>
                      <a:pPr algn="l"/>
                      <a:r>
                        <a:rPr sz="1100" b="0">
                          <a:solidFill>
                            <a:srgbClr val="2E2E2E"/>
                          </a:solidFill>
                          <a:latin typeface="Calibri"/>
                        </a:rPr>
                        <a:t>72.6</a:t>
                      </a:r>
                      <a:endParaRPr sz="1100"/>
                    </a:p>
                  </a:txBody>
                  <a:tcPr marL="47625" marR="38100" marT="19050" marB="19050" anchor="ctr">
                    <a:solidFill>
                      <a:srgbClr val="FFFFFF"/>
                    </a:solidFill>
                  </a:tcPr>
                </a:tc>
                <a:tc>
                  <a:txBody>
                    <a:bodyPr/>
                    <a:lstStyle/>
                    <a:p>
                      <a:pPr algn="l"/>
                      <a:r>
                        <a:rPr sz="1100" b="0">
                          <a:solidFill>
                            <a:srgbClr val="2E2E2E"/>
                          </a:solidFill>
                          <a:latin typeface="Calibri"/>
                        </a:rPr>
                        <a:t>76.4</a:t>
                      </a:r>
                      <a:endParaRPr sz="1100"/>
                    </a:p>
                  </a:txBody>
                  <a:tcPr marL="47625" marR="38100" marT="19050" marB="19050" anchor="ctr">
                    <a:solidFill>
                      <a:srgbClr val="FFFFFF"/>
                    </a:solidFill>
                  </a:tcPr>
                </a:tc>
                <a:tc>
                  <a:txBody>
                    <a:bodyPr/>
                    <a:lstStyle/>
                    <a:p>
                      <a:pPr algn="l"/>
                      <a:r>
                        <a:rPr sz="1100" b="0">
                          <a:solidFill>
                            <a:srgbClr val="2E2E2E"/>
                          </a:solidFill>
                          <a:latin typeface="Calibri"/>
                        </a:rPr>
                        <a:t>5.4%</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15979">
                <a:tc>
                  <a:txBody>
                    <a:bodyPr/>
                    <a:lstStyle/>
                    <a:p>
                      <a:pPr algn="l"/>
                      <a:r>
                        <a:rPr sz="1100" b="1">
                          <a:solidFill>
                            <a:srgbClr val="2E2E2E"/>
                          </a:solidFill>
                          <a:latin typeface="Calibri"/>
                        </a:rPr>
                        <a:t>Gummies</a:t>
                      </a:r>
                      <a:endParaRPr sz="1100"/>
                    </a:p>
                  </a:txBody>
                  <a:tcPr marL="47625" marR="38100" marT="19050" marB="19050" anchor="ctr">
                    <a:solidFill>
                      <a:srgbClr val="F5F8FA"/>
                    </a:solidFill>
                  </a:tcPr>
                </a:tc>
                <a:tc>
                  <a:txBody>
                    <a:bodyPr/>
                    <a:lstStyle/>
                    <a:p>
                      <a:pPr algn="l"/>
                      <a:r>
                        <a:rPr sz="1100" b="0">
                          <a:solidFill>
                            <a:srgbClr val="2E2E2E"/>
                          </a:solidFill>
                          <a:latin typeface="Calibri"/>
                        </a:rPr>
                        <a:t>34.4</a:t>
                      </a:r>
                      <a:endParaRPr sz="1100"/>
                    </a:p>
                  </a:txBody>
                  <a:tcPr marL="47625" marR="38100" marT="19050" marB="19050" anchor="ctr">
                    <a:solidFill>
                      <a:srgbClr val="F5F8FA"/>
                    </a:solidFill>
                  </a:tcPr>
                </a:tc>
                <a:tc>
                  <a:txBody>
                    <a:bodyPr/>
                    <a:lstStyle/>
                    <a:p>
                      <a:pPr algn="l"/>
                      <a:r>
                        <a:rPr sz="1100" b="0">
                          <a:solidFill>
                            <a:srgbClr val="2E2E2E"/>
                          </a:solidFill>
                          <a:latin typeface="Calibri"/>
                        </a:rPr>
                        <a:t>36.4</a:t>
                      </a:r>
                      <a:endParaRPr sz="1100"/>
                    </a:p>
                  </a:txBody>
                  <a:tcPr marL="47625" marR="38100" marT="19050" marB="19050" anchor="ctr">
                    <a:solidFill>
                      <a:srgbClr val="F5F8FA"/>
                    </a:solidFill>
                  </a:tcPr>
                </a:tc>
                <a:tc>
                  <a:txBody>
                    <a:bodyPr/>
                    <a:lstStyle/>
                    <a:p>
                      <a:pPr algn="l"/>
                      <a:r>
                        <a:rPr sz="1100" b="0">
                          <a:solidFill>
                            <a:srgbClr val="2E2E2E"/>
                          </a:solidFill>
                          <a:latin typeface="Calibri"/>
                        </a:rPr>
                        <a:t>38.6</a:t>
                      </a:r>
                      <a:endParaRPr sz="1100"/>
                    </a:p>
                  </a:txBody>
                  <a:tcPr marL="47625" marR="38100" marT="19050" marB="19050" anchor="ctr">
                    <a:solidFill>
                      <a:srgbClr val="F5F8FA"/>
                    </a:solidFill>
                  </a:tcPr>
                </a:tc>
                <a:tc>
                  <a:txBody>
                    <a:bodyPr/>
                    <a:lstStyle/>
                    <a:p>
                      <a:pPr algn="l"/>
                      <a:r>
                        <a:rPr sz="1100" b="0">
                          <a:solidFill>
                            <a:srgbClr val="2E2E2E"/>
                          </a:solidFill>
                          <a:latin typeface="Calibri"/>
                        </a:rPr>
                        <a:t>41.0</a:t>
                      </a:r>
                      <a:endParaRPr sz="1100"/>
                    </a:p>
                  </a:txBody>
                  <a:tcPr marL="47625" marR="38100" marT="19050" marB="19050" anchor="ctr">
                    <a:solidFill>
                      <a:srgbClr val="F5F8FA"/>
                    </a:solidFill>
                  </a:tcPr>
                </a:tc>
                <a:tc>
                  <a:txBody>
                    <a:bodyPr/>
                    <a:lstStyle/>
                    <a:p>
                      <a:pPr algn="l"/>
                      <a:r>
                        <a:rPr sz="1100" b="0">
                          <a:solidFill>
                            <a:srgbClr val="2E2E2E"/>
                          </a:solidFill>
                          <a:latin typeface="Calibri"/>
                        </a:rPr>
                        <a:t>43.7</a:t>
                      </a:r>
                      <a:endParaRPr sz="1100"/>
                    </a:p>
                  </a:txBody>
                  <a:tcPr marL="47625" marR="38100" marT="19050" marB="19050" anchor="ctr">
                    <a:solidFill>
                      <a:srgbClr val="F5F8FA"/>
                    </a:solidFill>
                  </a:tcPr>
                </a:tc>
                <a:tc>
                  <a:txBody>
                    <a:bodyPr/>
                    <a:lstStyle/>
                    <a:p>
                      <a:pPr algn="l"/>
                      <a:r>
                        <a:rPr sz="1100" b="0">
                          <a:solidFill>
                            <a:srgbClr val="2E2E2E"/>
                          </a:solidFill>
                          <a:latin typeface="Calibri"/>
                        </a:rPr>
                        <a:t>46.7</a:t>
                      </a:r>
                      <a:endParaRPr sz="1100"/>
                    </a:p>
                  </a:txBody>
                  <a:tcPr marL="47625" marR="38100" marT="19050" marB="19050" anchor="ctr">
                    <a:solidFill>
                      <a:srgbClr val="F5F8FA"/>
                    </a:solidFill>
                  </a:tcPr>
                </a:tc>
                <a:tc>
                  <a:txBody>
                    <a:bodyPr/>
                    <a:lstStyle/>
                    <a:p>
                      <a:pPr algn="l"/>
                      <a:r>
                        <a:rPr sz="1100" b="0">
                          <a:solidFill>
                            <a:srgbClr val="2E2E2E"/>
                          </a:solidFill>
                          <a:latin typeface="Calibri"/>
                        </a:rPr>
                        <a:t>50.2</a:t>
                      </a:r>
                      <a:endParaRPr sz="1100"/>
                    </a:p>
                  </a:txBody>
                  <a:tcPr marL="47625" marR="38100" marT="19050" marB="19050" anchor="ctr">
                    <a:solidFill>
                      <a:srgbClr val="F5F8FA"/>
                    </a:solidFill>
                  </a:tcPr>
                </a:tc>
                <a:tc>
                  <a:txBody>
                    <a:bodyPr/>
                    <a:lstStyle/>
                    <a:p>
                      <a:pPr algn="l"/>
                      <a:r>
                        <a:rPr sz="1100" b="0">
                          <a:solidFill>
                            <a:srgbClr val="2E2E2E"/>
                          </a:solidFill>
                          <a:latin typeface="Calibri"/>
                        </a:rPr>
                        <a:t>54.0</a:t>
                      </a:r>
                      <a:endParaRPr sz="1100"/>
                    </a:p>
                  </a:txBody>
                  <a:tcPr marL="47625" marR="38100" marT="19050" marB="19050" anchor="ctr">
                    <a:solidFill>
                      <a:srgbClr val="F5F8FA"/>
                    </a:solidFill>
                  </a:tcPr>
                </a:tc>
                <a:tc>
                  <a:txBody>
                    <a:bodyPr/>
                    <a:lstStyle/>
                    <a:p>
                      <a:pPr algn="l"/>
                      <a:r>
                        <a:rPr sz="1100" b="0">
                          <a:solidFill>
                            <a:srgbClr val="2E2E2E"/>
                          </a:solidFill>
                          <a:latin typeface="Calibri"/>
                        </a:rPr>
                        <a:t>58.4</a:t>
                      </a:r>
                      <a:endParaRPr sz="1100"/>
                    </a:p>
                  </a:txBody>
                  <a:tcPr marL="47625" marR="38100" marT="19050" marB="19050" anchor="ctr">
                    <a:solidFill>
                      <a:srgbClr val="F5F8FA"/>
                    </a:solidFill>
                  </a:tcPr>
                </a:tc>
                <a:tc>
                  <a:txBody>
                    <a:bodyPr/>
                    <a:lstStyle/>
                    <a:p>
                      <a:pPr algn="l"/>
                      <a:r>
                        <a:rPr sz="1100" b="0">
                          <a:solidFill>
                            <a:srgbClr val="2E2E2E"/>
                          </a:solidFill>
                          <a:latin typeface="Calibri"/>
                        </a:rPr>
                        <a:t>63.5</a:t>
                      </a:r>
                      <a:endParaRPr sz="1100"/>
                    </a:p>
                  </a:txBody>
                  <a:tcPr marL="47625" marR="38100" marT="19050" marB="19050" anchor="ctr">
                    <a:solidFill>
                      <a:srgbClr val="F5F8FA"/>
                    </a:solidFill>
                  </a:tcPr>
                </a:tc>
                <a:tc>
                  <a:txBody>
                    <a:bodyPr/>
                    <a:lstStyle/>
                    <a:p>
                      <a:pPr algn="l"/>
                      <a:r>
                        <a:rPr sz="1100" b="0">
                          <a:solidFill>
                            <a:srgbClr val="2E2E2E"/>
                          </a:solidFill>
                          <a:latin typeface="Calibri"/>
                        </a:rPr>
                        <a:t>69.3</a:t>
                      </a:r>
                      <a:endParaRPr sz="1100"/>
                    </a:p>
                  </a:txBody>
                  <a:tcPr marL="47625" marR="38100" marT="19050" marB="19050" anchor="ctr">
                    <a:solidFill>
                      <a:srgbClr val="F5F8FA"/>
                    </a:solidFill>
                  </a:tcPr>
                </a:tc>
                <a:tc>
                  <a:txBody>
                    <a:bodyPr/>
                    <a:lstStyle/>
                    <a:p>
                      <a:pPr algn="l"/>
                      <a:r>
                        <a:rPr sz="1100" b="0">
                          <a:solidFill>
                            <a:srgbClr val="2E2E2E"/>
                          </a:solidFill>
                          <a:latin typeface="Calibri"/>
                        </a:rPr>
                        <a:t>76.1</a:t>
                      </a:r>
                      <a:endParaRPr sz="1100"/>
                    </a:p>
                  </a:txBody>
                  <a:tcPr marL="47625" marR="38100" marT="19050" marB="19050" anchor="ctr">
                    <a:solidFill>
                      <a:srgbClr val="F5F8FA"/>
                    </a:solidFill>
                  </a:tcPr>
                </a:tc>
                <a:tc>
                  <a:txBody>
                    <a:bodyPr/>
                    <a:lstStyle/>
                    <a:p>
                      <a:pPr algn="l"/>
                      <a:r>
                        <a:rPr sz="1100" b="0">
                          <a:solidFill>
                            <a:srgbClr val="2E2E2E"/>
                          </a:solidFill>
                          <a:latin typeface="Calibri"/>
                        </a:rPr>
                        <a:t>83.6</a:t>
                      </a:r>
                      <a:endParaRPr sz="1100"/>
                    </a:p>
                  </a:txBody>
                  <a:tcPr marL="47625" marR="38100" marT="19050" marB="19050" anchor="ctr">
                    <a:solidFill>
                      <a:srgbClr val="F5F8FA"/>
                    </a:solidFill>
                  </a:tcPr>
                </a:tc>
                <a:tc>
                  <a:txBody>
                    <a:bodyPr/>
                    <a:lstStyle/>
                    <a:p>
                      <a:pPr algn="l"/>
                      <a:r>
                        <a:rPr sz="1100" b="0">
                          <a:solidFill>
                            <a:srgbClr val="2E2E2E"/>
                          </a:solidFill>
                          <a:latin typeface="Calibri"/>
                        </a:rPr>
                        <a:t>91.9</a:t>
                      </a:r>
                      <a:endParaRPr sz="1100"/>
                    </a:p>
                  </a:txBody>
                  <a:tcPr marL="47625" marR="38100" marT="19050" marB="19050" anchor="ctr">
                    <a:solidFill>
                      <a:srgbClr val="F5F8FA"/>
                    </a:solidFill>
                  </a:tcPr>
                </a:tc>
                <a:tc>
                  <a:txBody>
                    <a:bodyPr/>
                    <a:lstStyle/>
                    <a:p>
                      <a:pPr algn="l"/>
                      <a:r>
                        <a:rPr sz="1100" b="0">
                          <a:solidFill>
                            <a:srgbClr val="2E2E2E"/>
                          </a:solidFill>
                          <a:latin typeface="Calibri"/>
                        </a:rPr>
                        <a:t>100.8</a:t>
                      </a:r>
                      <a:endParaRPr sz="1100"/>
                    </a:p>
                  </a:txBody>
                  <a:tcPr marL="47625" marR="38100" marT="19050" marB="19050" anchor="ctr">
                    <a:solidFill>
                      <a:srgbClr val="F5F8FA"/>
                    </a:solidFill>
                  </a:tcPr>
                </a:tc>
                <a:tc>
                  <a:txBody>
                    <a:bodyPr/>
                    <a:lstStyle/>
                    <a:p>
                      <a:pPr algn="l"/>
                      <a:r>
                        <a:rPr sz="1100" b="0">
                          <a:solidFill>
                            <a:srgbClr val="2E2E2E"/>
                          </a:solidFill>
                          <a:latin typeface="Calibri"/>
                        </a:rPr>
                        <a:t>110.4</a:t>
                      </a:r>
                      <a:endParaRPr sz="1100"/>
                    </a:p>
                  </a:txBody>
                  <a:tcPr marL="47625" marR="38100" marT="19050" marB="19050" anchor="ctr">
                    <a:solidFill>
                      <a:srgbClr val="F5F8FA"/>
                    </a:solidFill>
                  </a:tcPr>
                </a:tc>
                <a:tc>
                  <a:txBody>
                    <a:bodyPr/>
                    <a:lstStyle/>
                    <a:p>
                      <a:pPr algn="l"/>
                      <a:r>
                        <a:rPr sz="1100" b="0">
                          <a:solidFill>
                            <a:srgbClr val="2E2E2E"/>
                          </a:solidFill>
                          <a:latin typeface="Calibri"/>
                        </a:rPr>
                        <a:t>9.0%</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15979">
                <a:tc>
                  <a:txBody>
                    <a:bodyPr/>
                    <a:lstStyle/>
                    <a:p>
                      <a:pPr algn="l"/>
                      <a:r>
                        <a:rPr sz="1100" b="1">
                          <a:solidFill>
                            <a:srgbClr val="2E2E2E"/>
                          </a:solidFill>
                          <a:latin typeface="Calibri"/>
                        </a:rPr>
                        <a:t>Powder</a:t>
                      </a:r>
                      <a:endParaRPr sz="1100"/>
                    </a:p>
                  </a:txBody>
                  <a:tcPr marL="47625" marR="38100" marT="19050" marB="19050" anchor="ctr">
                    <a:solidFill>
                      <a:srgbClr val="FFFFFF"/>
                    </a:solidFill>
                  </a:tcPr>
                </a:tc>
                <a:tc>
                  <a:txBody>
                    <a:bodyPr/>
                    <a:lstStyle/>
                    <a:p>
                      <a:pPr algn="l"/>
                      <a:r>
                        <a:rPr sz="1100" b="0">
                          <a:solidFill>
                            <a:srgbClr val="2E2E2E"/>
                          </a:solidFill>
                          <a:latin typeface="Calibri"/>
                        </a:rPr>
                        <a:t>1.94</a:t>
                      </a:r>
                      <a:endParaRPr sz="1100"/>
                    </a:p>
                  </a:txBody>
                  <a:tcPr marL="47625" marR="38100" marT="19050" marB="19050" anchor="ctr">
                    <a:solidFill>
                      <a:srgbClr val="FFFFFF"/>
                    </a:solidFill>
                  </a:tcPr>
                </a:tc>
                <a:tc>
                  <a:txBody>
                    <a:bodyPr/>
                    <a:lstStyle/>
                    <a:p>
                      <a:pPr algn="l"/>
                      <a:r>
                        <a:rPr sz="1100" b="0">
                          <a:solidFill>
                            <a:srgbClr val="2E2E2E"/>
                          </a:solidFill>
                          <a:latin typeface="Calibri"/>
                        </a:rPr>
                        <a:t>2.06</a:t>
                      </a:r>
                      <a:endParaRPr sz="1100"/>
                    </a:p>
                  </a:txBody>
                  <a:tcPr marL="47625" marR="38100" marT="19050" marB="19050" anchor="ctr">
                    <a:solidFill>
                      <a:srgbClr val="FFFFFF"/>
                    </a:solidFill>
                  </a:tcPr>
                </a:tc>
                <a:tc>
                  <a:txBody>
                    <a:bodyPr/>
                    <a:lstStyle/>
                    <a:p>
                      <a:pPr algn="l"/>
                      <a:r>
                        <a:rPr sz="1100" b="0">
                          <a:solidFill>
                            <a:srgbClr val="2E2E2E"/>
                          </a:solidFill>
                          <a:latin typeface="Calibri"/>
                        </a:rPr>
                        <a:t>2.21</a:t>
                      </a:r>
                      <a:endParaRPr sz="1100"/>
                    </a:p>
                  </a:txBody>
                  <a:tcPr marL="47625" marR="38100" marT="19050" marB="19050" anchor="ctr">
                    <a:solidFill>
                      <a:srgbClr val="FFFFFF"/>
                    </a:solidFill>
                  </a:tcPr>
                </a:tc>
                <a:tc>
                  <a:txBody>
                    <a:bodyPr/>
                    <a:lstStyle/>
                    <a:p>
                      <a:pPr algn="l"/>
                      <a:r>
                        <a:rPr sz="1100" b="0">
                          <a:solidFill>
                            <a:srgbClr val="2E2E2E"/>
                          </a:solidFill>
                          <a:latin typeface="Calibri"/>
                        </a:rPr>
                        <a:t>2.39</a:t>
                      </a:r>
                      <a:endParaRPr sz="1100"/>
                    </a:p>
                  </a:txBody>
                  <a:tcPr marL="47625" marR="38100" marT="19050" marB="19050" anchor="ctr">
                    <a:solidFill>
                      <a:srgbClr val="FFFFFF"/>
                    </a:solidFill>
                  </a:tcPr>
                </a:tc>
                <a:tc>
                  <a:txBody>
                    <a:bodyPr/>
                    <a:lstStyle/>
                    <a:p>
                      <a:pPr algn="l"/>
                      <a:r>
                        <a:rPr sz="1100" b="0">
                          <a:solidFill>
                            <a:srgbClr val="2E2E2E"/>
                          </a:solidFill>
                          <a:latin typeface="Calibri"/>
                        </a:rPr>
                        <a:t>2.60</a:t>
                      </a:r>
                      <a:endParaRPr sz="1100"/>
                    </a:p>
                  </a:txBody>
                  <a:tcPr marL="47625" marR="38100" marT="19050" marB="19050" anchor="ctr">
                    <a:solidFill>
                      <a:srgbClr val="FFFFFF"/>
                    </a:solidFill>
                  </a:tcPr>
                </a:tc>
                <a:tc>
                  <a:txBody>
                    <a:bodyPr/>
                    <a:lstStyle/>
                    <a:p>
                      <a:pPr algn="l"/>
                      <a:r>
                        <a:rPr sz="1100" b="0">
                          <a:solidFill>
                            <a:srgbClr val="2E2E2E"/>
                          </a:solidFill>
                          <a:latin typeface="Calibri"/>
                        </a:rPr>
                        <a:t>2.87</a:t>
                      </a:r>
                      <a:endParaRPr sz="1100"/>
                    </a:p>
                  </a:txBody>
                  <a:tcPr marL="47625" marR="38100" marT="19050" marB="19050" anchor="ctr">
                    <a:solidFill>
                      <a:srgbClr val="FFFFFF"/>
                    </a:solidFill>
                  </a:tcPr>
                </a:tc>
                <a:tc>
                  <a:txBody>
                    <a:bodyPr/>
                    <a:lstStyle/>
                    <a:p>
                      <a:pPr algn="l"/>
                      <a:r>
                        <a:rPr sz="1100" b="0">
                          <a:solidFill>
                            <a:srgbClr val="2E2E2E"/>
                          </a:solidFill>
                          <a:latin typeface="Calibri"/>
                        </a:rPr>
                        <a:t>3.17</a:t>
                      </a:r>
                      <a:endParaRPr sz="1100"/>
                    </a:p>
                  </a:txBody>
                  <a:tcPr marL="47625" marR="38100" marT="19050" marB="19050" anchor="ctr">
                    <a:solidFill>
                      <a:srgbClr val="FFFFFF"/>
                    </a:solidFill>
                  </a:tcPr>
                </a:tc>
                <a:tc>
                  <a:txBody>
                    <a:bodyPr/>
                    <a:lstStyle/>
                    <a:p>
                      <a:pPr algn="l"/>
                      <a:r>
                        <a:rPr sz="1100" b="0">
                          <a:solidFill>
                            <a:srgbClr val="2E2E2E"/>
                          </a:solidFill>
                          <a:latin typeface="Calibri"/>
                        </a:rPr>
                        <a:t>3.54</a:t>
                      </a:r>
                      <a:endParaRPr sz="1100"/>
                    </a:p>
                  </a:txBody>
                  <a:tcPr marL="47625" marR="38100" marT="19050" marB="19050" anchor="ctr">
                    <a:solidFill>
                      <a:srgbClr val="FFFFFF"/>
                    </a:solidFill>
                  </a:tcPr>
                </a:tc>
                <a:tc>
                  <a:txBody>
                    <a:bodyPr/>
                    <a:lstStyle/>
                    <a:p>
                      <a:pPr algn="l"/>
                      <a:r>
                        <a:rPr sz="1100" b="0">
                          <a:solidFill>
                            <a:srgbClr val="2E2E2E"/>
                          </a:solidFill>
                          <a:latin typeface="Calibri"/>
                        </a:rPr>
                        <a:t>3.98</a:t>
                      </a:r>
                      <a:endParaRPr sz="1100"/>
                    </a:p>
                  </a:txBody>
                  <a:tcPr marL="47625" marR="38100" marT="19050" marB="19050" anchor="ctr">
                    <a:solidFill>
                      <a:srgbClr val="FFFFFF"/>
                    </a:solidFill>
                  </a:tcPr>
                </a:tc>
                <a:tc>
                  <a:txBody>
                    <a:bodyPr/>
                    <a:lstStyle/>
                    <a:p>
                      <a:pPr algn="l"/>
                      <a:r>
                        <a:rPr sz="1100" b="0">
                          <a:solidFill>
                            <a:srgbClr val="2E2E2E"/>
                          </a:solidFill>
                          <a:latin typeface="Calibri"/>
                        </a:rPr>
                        <a:t>4.52</a:t>
                      </a:r>
                      <a:endParaRPr sz="1100"/>
                    </a:p>
                  </a:txBody>
                  <a:tcPr marL="47625" marR="38100" marT="19050" marB="19050" anchor="ctr">
                    <a:solidFill>
                      <a:srgbClr val="FFFFFF"/>
                    </a:solidFill>
                  </a:tcPr>
                </a:tc>
                <a:tc>
                  <a:txBody>
                    <a:bodyPr/>
                    <a:lstStyle/>
                    <a:p>
                      <a:pPr algn="l"/>
                      <a:r>
                        <a:rPr sz="1100" b="0">
                          <a:solidFill>
                            <a:srgbClr val="2E2E2E"/>
                          </a:solidFill>
                          <a:latin typeface="Calibri"/>
                        </a:rPr>
                        <a:t>5.19</a:t>
                      </a:r>
                      <a:endParaRPr sz="1100"/>
                    </a:p>
                  </a:txBody>
                  <a:tcPr marL="47625" marR="38100" marT="19050" marB="19050" anchor="ctr">
                    <a:solidFill>
                      <a:srgbClr val="FFFFFF"/>
                    </a:solidFill>
                  </a:tcPr>
                </a:tc>
                <a:tc>
                  <a:txBody>
                    <a:bodyPr/>
                    <a:lstStyle/>
                    <a:p>
                      <a:pPr algn="l"/>
                      <a:r>
                        <a:rPr sz="1100" b="0">
                          <a:solidFill>
                            <a:srgbClr val="2E2E2E"/>
                          </a:solidFill>
                          <a:latin typeface="Calibri"/>
                        </a:rPr>
                        <a:t>5.98</a:t>
                      </a:r>
                      <a:endParaRPr sz="1100"/>
                    </a:p>
                  </a:txBody>
                  <a:tcPr marL="47625" marR="38100" marT="19050" marB="19050" anchor="ctr">
                    <a:solidFill>
                      <a:srgbClr val="FFFFFF"/>
                    </a:solidFill>
                  </a:tcPr>
                </a:tc>
                <a:tc>
                  <a:txBody>
                    <a:bodyPr/>
                    <a:lstStyle/>
                    <a:p>
                      <a:pPr algn="l"/>
                      <a:r>
                        <a:rPr sz="1100" b="0">
                          <a:solidFill>
                            <a:srgbClr val="2E2E2E"/>
                          </a:solidFill>
                          <a:latin typeface="Calibri"/>
                        </a:rPr>
                        <a:t>6.86</a:t>
                      </a:r>
                      <a:endParaRPr sz="1100"/>
                    </a:p>
                  </a:txBody>
                  <a:tcPr marL="47625" marR="38100" marT="19050" marB="19050" anchor="ctr">
                    <a:solidFill>
                      <a:srgbClr val="FFFFFF"/>
                    </a:solidFill>
                  </a:tcPr>
                </a:tc>
                <a:tc>
                  <a:txBody>
                    <a:bodyPr/>
                    <a:lstStyle/>
                    <a:p>
                      <a:pPr algn="l"/>
                      <a:r>
                        <a:rPr sz="1100" b="0">
                          <a:solidFill>
                            <a:srgbClr val="2E2E2E"/>
                          </a:solidFill>
                          <a:latin typeface="Calibri"/>
                        </a:rPr>
                        <a:t>7.86</a:t>
                      </a:r>
                      <a:endParaRPr sz="1100"/>
                    </a:p>
                  </a:txBody>
                  <a:tcPr marL="47625" marR="38100" marT="19050" marB="19050" anchor="ctr">
                    <a:solidFill>
                      <a:srgbClr val="FFFFFF"/>
                    </a:solidFill>
                  </a:tcPr>
                </a:tc>
                <a:tc>
                  <a:txBody>
                    <a:bodyPr/>
                    <a:lstStyle/>
                    <a:p>
                      <a:pPr algn="l"/>
                      <a:r>
                        <a:rPr sz="1100" b="0">
                          <a:solidFill>
                            <a:srgbClr val="2E2E2E"/>
                          </a:solidFill>
                          <a:latin typeface="Calibri"/>
                        </a:rPr>
                        <a:t>8.98</a:t>
                      </a:r>
                      <a:endParaRPr sz="1100"/>
                    </a:p>
                  </a:txBody>
                  <a:tcPr marL="47625" marR="38100" marT="19050" marB="19050" anchor="ctr">
                    <a:solidFill>
                      <a:srgbClr val="FFFFFF"/>
                    </a:solidFill>
                  </a:tcPr>
                </a:tc>
                <a:tc>
                  <a:txBody>
                    <a:bodyPr/>
                    <a:lstStyle/>
                    <a:p>
                      <a:pPr algn="l"/>
                      <a:r>
                        <a:rPr sz="1100" b="0">
                          <a:solidFill>
                            <a:srgbClr val="2E2E2E"/>
                          </a:solidFill>
                          <a:latin typeface="Calibri"/>
                        </a:rPr>
                        <a:t>10.2</a:t>
                      </a:r>
                      <a:endParaRPr sz="1100"/>
                    </a:p>
                  </a:txBody>
                  <a:tcPr marL="47625" marR="38100" marT="19050" marB="19050" anchor="ctr">
                    <a:solidFill>
                      <a:srgbClr val="FFFFFF"/>
                    </a:solidFill>
                  </a:tcPr>
                </a:tc>
                <a:tc>
                  <a:txBody>
                    <a:bodyPr/>
                    <a:lstStyle/>
                    <a:p>
                      <a:pPr algn="l"/>
                      <a:r>
                        <a:rPr sz="1100" b="0">
                          <a:solidFill>
                            <a:srgbClr val="2E2E2E"/>
                          </a:solidFill>
                          <a:latin typeface="Calibri"/>
                        </a:rPr>
                        <a:t>13.6%</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15979">
                <a:tc>
                  <a:txBody>
                    <a:bodyPr/>
                    <a:lstStyle/>
                    <a:p>
                      <a:pPr algn="l"/>
                      <a:r>
                        <a:rPr sz="1100" b="1">
                          <a:solidFill>
                            <a:srgbClr val="2E2E2E"/>
                          </a:solidFill>
                          <a:latin typeface="Calibri"/>
                        </a:rPr>
                        <a:t>Bar</a:t>
                      </a:r>
                      <a:endParaRPr sz="1100"/>
                    </a:p>
                  </a:txBody>
                  <a:tcPr marL="47625" marR="38100" marT="19050" marB="19050" anchor="ctr">
                    <a:solidFill>
                      <a:srgbClr val="F5F8FA"/>
                    </a:solidFill>
                  </a:tcPr>
                </a:tc>
                <a:tc>
                  <a:txBody>
                    <a:bodyPr/>
                    <a:lstStyle/>
                    <a:p>
                      <a:pPr algn="l"/>
                      <a:r>
                        <a:rPr sz="1100" b="0">
                          <a:solidFill>
                            <a:srgbClr val="2E2E2E"/>
                          </a:solidFill>
                          <a:latin typeface="Calibri"/>
                        </a:rPr>
                        <a:t>2.60</a:t>
                      </a:r>
                      <a:endParaRPr sz="1100"/>
                    </a:p>
                  </a:txBody>
                  <a:tcPr marL="47625" marR="38100" marT="19050" marB="19050" anchor="ctr">
                    <a:solidFill>
                      <a:srgbClr val="F5F8FA"/>
                    </a:solidFill>
                  </a:tcPr>
                </a:tc>
                <a:tc>
                  <a:txBody>
                    <a:bodyPr/>
                    <a:lstStyle/>
                    <a:p>
                      <a:pPr algn="l"/>
                      <a:r>
                        <a:rPr sz="1100" b="0">
                          <a:solidFill>
                            <a:srgbClr val="2E2E2E"/>
                          </a:solidFill>
                          <a:latin typeface="Calibri"/>
                        </a:rPr>
                        <a:t>2.76</a:t>
                      </a:r>
                      <a:endParaRPr sz="1100"/>
                    </a:p>
                  </a:txBody>
                  <a:tcPr marL="47625" marR="38100" marT="19050" marB="19050" anchor="ctr">
                    <a:solidFill>
                      <a:srgbClr val="F5F8FA"/>
                    </a:solidFill>
                  </a:tcPr>
                </a:tc>
                <a:tc>
                  <a:txBody>
                    <a:bodyPr/>
                    <a:lstStyle/>
                    <a:p>
                      <a:pPr algn="l"/>
                      <a:r>
                        <a:rPr sz="1100" b="0">
                          <a:solidFill>
                            <a:srgbClr val="2E2E2E"/>
                          </a:solidFill>
                          <a:latin typeface="Calibri"/>
                        </a:rPr>
                        <a:t>2.92</a:t>
                      </a:r>
                      <a:endParaRPr sz="1100"/>
                    </a:p>
                  </a:txBody>
                  <a:tcPr marL="47625" marR="38100" marT="19050" marB="19050" anchor="ctr">
                    <a:solidFill>
                      <a:srgbClr val="F5F8FA"/>
                    </a:solidFill>
                  </a:tcPr>
                </a:tc>
                <a:tc>
                  <a:txBody>
                    <a:bodyPr/>
                    <a:lstStyle/>
                    <a:p>
                      <a:pPr algn="l"/>
                      <a:r>
                        <a:rPr sz="1100" b="0">
                          <a:solidFill>
                            <a:srgbClr val="2E2E2E"/>
                          </a:solidFill>
                          <a:latin typeface="Calibri"/>
                        </a:rPr>
                        <a:t>3.08</a:t>
                      </a:r>
                      <a:endParaRPr sz="1100"/>
                    </a:p>
                  </a:txBody>
                  <a:tcPr marL="47625" marR="38100" marT="19050" marB="19050" anchor="ctr">
                    <a:solidFill>
                      <a:srgbClr val="F5F8FA"/>
                    </a:solidFill>
                  </a:tcPr>
                </a:tc>
                <a:tc>
                  <a:txBody>
                    <a:bodyPr/>
                    <a:lstStyle/>
                    <a:p>
                      <a:pPr algn="l"/>
                      <a:r>
                        <a:rPr sz="1100" b="0">
                          <a:solidFill>
                            <a:srgbClr val="2E2E2E"/>
                          </a:solidFill>
                          <a:latin typeface="Calibri"/>
                        </a:rPr>
                        <a:t>3.25</a:t>
                      </a:r>
                      <a:endParaRPr sz="1100"/>
                    </a:p>
                  </a:txBody>
                  <a:tcPr marL="47625" marR="38100" marT="19050" marB="19050" anchor="ctr">
                    <a:solidFill>
                      <a:srgbClr val="F5F8FA"/>
                    </a:solidFill>
                  </a:tcPr>
                </a:tc>
                <a:tc>
                  <a:txBody>
                    <a:bodyPr/>
                    <a:lstStyle/>
                    <a:p>
                      <a:pPr algn="l"/>
                      <a:r>
                        <a:rPr sz="1100" b="0">
                          <a:solidFill>
                            <a:srgbClr val="2E2E2E"/>
                          </a:solidFill>
                          <a:latin typeface="Calibri"/>
                        </a:rPr>
                        <a:t>3.47</a:t>
                      </a:r>
                      <a:endParaRPr sz="1100"/>
                    </a:p>
                  </a:txBody>
                  <a:tcPr marL="47625" marR="38100" marT="19050" marB="19050" anchor="ctr">
                    <a:solidFill>
                      <a:srgbClr val="F5F8FA"/>
                    </a:solidFill>
                  </a:tcPr>
                </a:tc>
                <a:tc>
                  <a:txBody>
                    <a:bodyPr/>
                    <a:lstStyle/>
                    <a:p>
                      <a:pPr algn="l"/>
                      <a:r>
                        <a:rPr sz="1100" b="0">
                          <a:solidFill>
                            <a:srgbClr val="2E2E2E"/>
                          </a:solidFill>
                          <a:latin typeface="Calibri"/>
                        </a:rPr>
                        <a:t>3.73</a:t>
                      </a:r>
                      <a:endParaRPr sz="1100"/>
                    </a:p>
                  </a:txBody>
                  <a:tcPr marL="47625" marR="38100" marT="19050" marB="19050" anchor="ctr">
                    <a:solidFill>
                      <a:srgbClr val="F5F8FA"/>
                    </a:solidFill>
                  </a:tcPr>
                </a:tc>
                <a:tc>
                  <a:txBody>
                    <a:bodyPr/>
                    <a:lstStyle/>
                    <a:p>
                      <a:pPr algn="l"/>
                      <a:r>
                        <a:rPr sz="1100" b="0">
                          <a:solidFill>
                            <a:srgbClr val="2E2E2E"/>
                          </a:solidFill>
                          <a:latin typeface="Calibri"/>
                        </a:rPr>
                        <a:t>4.07</a:t>
                      </a:r>
                      <a:endParaRPr sz="1100"/>
                    </a:p>
                  </a:txBody>
                  <a:tcPr marL="47625" marR="38100" marT="19050" marB="19050" anchor="ctr">
                    <a:solidFill>
                      <a:srgbClr val="F5F8FA"/>
                    </a:solidFill>
                  </a:tcPr>
                </a:tc>
                <a:tc>
                  <a:txBody>
                    <a:bodyPr/>
                    <a:lstStyle/>
                    <a:p>
                      <a:pPr algn="l"/>
                      <a:r>
                        <a:rPr sz="1100" b="0">
                          <a:solidFill>
                            <a:srgbClr val="2E2E2E"/>
                          </a:solidFill>
                          <a:latin typeface="Calibri"/>
                        </a:rPr>
                        <a:t>4.47</a:t>
                      </a:r>
                      <a:endParaRPr sz="1100"/>
                    </a:p>
                  </a:txBody>
                  <a:tcPr marL="47625" marR="38100" marT="19050" marB="19050" anchor="ctr">
                    <a:solidFill>
                      <a:srgbClr val="F5F8FA"/>
                    </a:solidFill>
                  </a:tcPr>
                </a:tc>
                <a:tc>
                  <a:txBody>
                    <a:bodyPr/>
                    <a:lstStyle/>
                    <a:p>
                      <a:pPr algn="l"/>
                      <a:r>
                        <a:rPr sz="1100" b="0">
                          <a:solidFill>
                            <a:srgbClr val="2E2E2E"/>
                          </a:solidFill>
                          <a:latin typeface="Calibri"/>
                        </a:rPr>
                        <a:t>4.95</a:t>
                      </a:r>
                      <a:endParaRPr sz="1100"/>
                    </a:p>
                  </a:txBody>
                  <a:tcPr marL="47625" marR="38100" marT="19050" marB="19050" anchor="ctr">
                    <a:solidFill>
                      <a:srgbClr val="F5F8FA"/>
                    </a:solidFill>
                  </a:tcPr>
                </a:tc>
                <a:tc>
                  <a:txBody>
                    <a:bodyPr/>
                    <a:lstStyle/>
                    <a:p>
                      <a:pPr algn="l"/>
                      <a:r>
                        <a:rPr sz="1100" b="0">
                          <a:solidFill>
                            <a:srgbClr val="2E2E2E"/>
                          </a:solidFill>
                          <a:latin typeface="Calibri"/>
                        </a:rPr>
                        <a:t>5.51</a:t>
                      </a:r>
                      <a:endParaRPr sz="1100"/>
                    </a:p>
                  </a:txBody>
                  <a:tcPr marL="47625" marR="38100" marT="19050" marB="19050" anchor="ctr">
                    <a:solidFill>
                      <a:srgbClr val="F5F8FA"/>
                    </a:solidFill>
                  </a:tcPr>
                </a:tc>
                <a:tc>
                  <a:txBody>
                    <a:bodyPr/>
                    <a:lstStyle/>
                    <a:p>
                      <a:pPr algn="l"/>
                      <a:r>
                        <a:rPr sz="1100" b="0">
                          <a:solidFill>
                            <a:srgbClr val="2E2E2E"/>
                          </a:solidFill>
                          <a:latin typeface="Calibri"/>
                        </a:rPr>
                        <a:t>6.15</a:t>
                      </a:r>
                      <a:endParaRPr sz="1100"/>
                    </a:p>
                  </a:txBody>
                  <a:tcPr marL="47625" marR="38100" marT="19050" marB="19050" anchor="ctr">
                    <a:solidFill>
                      <a:srgbClr val="F5F8FA"/>
                    </a:solidFill>
                  </a:tcPr>
                </a:tc>
                <a:tc>
                  <a:txBody>
                    <a:bodyPr/>
                    <a:lstStyle/>
                    <a:p>
                      <a:pPr algn="l"/>
                      <a:r>
                        <a:rPr sz="1100" b="0">
                          <a:solidFill>
                            <a:srgbClr val="2E2E2E"/>
                          </a:solidFill>
                          <a:latin typeface="Calibri"/>
                        </a:rPr>
                        <a:t>6.88</a:t>
                      </a:r>
                      <a:endParaRPr sz="1100"/>
                    </a:p>
                  </a:txBody>
                  <a:tcPr marL="47625" marR="38100" marT="19050" marB="19050" anchor="ctr">
                    <a:solidFill>
                      <a:srgbClr val="F5F8FA"/>
                    </a:solidFill>
                  </a:tcPr>
                </a:tc>
                <a:tc>
                  <a:txBody>
                    <a:bodyPr/>
                    <a:lstStyle/>
                    <a:p>
                      <a:pPr algn="l"/>
                      <a:r>
                        <a:rPr sz="1100" b="0">
                          <a:solidFill>
                            <a:srgbClr val="2E2E2E"/>
                          </a:solidFill>
                          <a:latin typeface="Calibri"/>
                        </a:rPr>
                        <a:t>7.68</a:t>
                      </a:r>
                      <a:endParaRPr sz="1100"/>
                    </a:p>
                  </a:txBody>
                  <a:tcPr marL="47625" marR="38100" marT="19050" marB="19050" anchor="ctr">
                    <a:solidFill>
                      <a:srgbClr val="F5F8FA"/>
                    </a:solidFill>
                  </a:tcPr>
                </a:tc>
                <a:tc>
                  <a:txBody>
                    <a:bodyPr/>
                    <a:lstStyle/>
                    <a:p>
                      <a:pPr algn="l"/>
                      <a:r>
                        <a:rPr sz="1100" b="0">
                          <a:solidFill>
                            <a:srgbClr val="2E2E2E"/>
                          </a:solidFill>
                          <a:latin typeface="Calibri"/>
                        </a:rPr>
                        <a:t>8.57</a:t>
                      </a:r>
                      <a:endParaRPr sz="1100"/>
                    </a:p>
                  </a:txBody>
                  <a:tcPr marL="47625" marR="38100" marT="19050" marB="19050" anchor="ctr">
                    <a:solidFill>
                      <a:srgbClr val="F5F8FA"/>
                    </a:solidFill>
                  </a:tcPr>
                </a:tc>
                <a:tc>
                  <a:txBody>
                    <a:bodyPr/>
                    <a:lstStyle/>
                    <a:p>
                      <a:pPr algn="l"/>
                      <a:r>
                        <a:rPr sz="1100" b="0">
                          <a:solidFill>
                            <a:srgbClr val="2E2E2E"/>
                          </a:solidFill>
                          <a:latin typeface="Calibri"/>
                        </a:rPr>
                        <a:t>9.54</a:t>
                      </a:r>
                      <a:endParaRPr sz="1100"/>
                    </a:p>
                  </a:txBody>
                  <a:tcPr marL="47625" marR="38100" marT="19050" marB="19050" anchor="ctr">
                    <a:solidFill>
                      <a:srgbClr val="F5F8FA"/>
                    </a:solidFill>
                  </a:tcPr>
                </a:tc>
                <a:tc>
                  <a:txBody>
                    <a:bodyPr/>
                    <a:lstStyle/>
                    <a:p>
                      <a:pPr algn="l"/>
                      <a:r>
                        <a:rPr sz="1100" b="0">
                          <a:solidFill>
                            <a:srgbClr val="2E2E2E"/>
                          </a:solidFill>
                          <a:latin typeface="Calibri"/>
                        </a:rPr>
                        <a:t>10.7%</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r h="215979">
                <a:tc>
                  <a:txBody>
                    <a:bodyPr/>
                    <a:lstStyle/>
                    <a:p>
                      <a:pPr algn="l"/>
                      <a:r>
                        <a:rPr sz="1100" b="1">
                          <a:solidFill>
                            <a:srgbClr val="2E2E2E"/>
                          </a:solidFill>
                          <a:latin typeface="Calibri"/>
                        </a:rPr>
                        <a:t>Liquid</a:t>
                      </a:r>
                      <a:endParaRPr sz="1100"/>
                    </a:p>
                  </a:txBody>
                  <a:tcPr marL="47625" marR="38100" marT="19050" marB="19050" anchor="ctr">
                    <a:solidFill>
                      <a:srgbClr val="FFFFFF"/>
                    </a:solidFill>
                  </a:tcPr>
                </a:tc>
                <a:tc>
                  <a:txBody>
                    <a:bodyPr/>
                    <a:lstStyle/>
                    <a:p>
                      <a:pPr algn="l"/>
                      <a:r>
                        <a:rPr sz="1100" b="0">
                          <a:solidFill>
                            <a:srgbClr val="2E2E2E"/>
                          </a:solidFill>
                          <a:latin typeface="Calibri"/>
                        </a:rPr>
                        <a:t>3.27</a:t>
                      </a:r>
                      <a:endParaRPr sz="1100"/>
                    </a:p>
                  </a:txBody>
                  <a:tcPr marL="47625" marR="38100" marT="19050" marB="19050" anchor="ctr">
                    <a:solidFill>
                      <a:srgbClr val="FFFFFF"/>
                    </a:solidFill>
                  </a:tcPr>
                </a:tc>
                <a:tc>
                  <a:txBody>
                    <a:bodyPr/>
                    <a:lstStyle/>
                    <a:p>
                      <a:pPr algn="l"/>
                      <a:r>
                        <a:rPr sz="1100" b="0">
                          <a:solidFill>
                            <a:srgbClr val="2E2E2E"/>
                          </a:solidFill>
                          <a:latin typeface="Calibri"/>
                        </a:rPr>
                        <a:t>3.63</a:t>
                      </a:r>
                      <a:endParaRPr sz="1100"/>
                    </a:p>
                  </a:txBody>
                  <a:tcPr marL="47625" marR="38100" marT="19050" marB="19050" anchor="ctr">
                    <a:solidFill>
                      <a:srgbClr val="FFFFFF"/>
                    </a:solidFill>
                  </a:tcPr>
                </a:tc>
                <a:tc>
                  <a:txBody>
                    <a:bodyPr/>
                    <a:lstStyle/>
                    <a:p>
                      <a:pPr algn="l"/>
                      <a:r>
                        <a:rPr sz="1100" b="0">
                          <a:solidFill>
                            <a:srgbClr val="2E2E2E"/>
                          </a:solidFill>
                          <a:latin typeface="Calibri"/>
                        </a:rPr>
                        <a:t>4.03</a:t>
                      </a:r>
                      <a:endParaRPr sz="1100"/>
                    </a:p>
                  </a:txBody>
                  <a:tcPr marL="47625" marR="38100" marT="19050" marB="19050" anchor="ctr">
                    <a:solidFill>
                      <a:srgbClr val="FFFFFF"/>
                    </a:solidFill>
                  </a:tcPr>
                </a:tc>
                <a:tc>
                  <a:txBody>
                    <a:bodyPr/>
                    <a:lstStyle/>
                    <a:p>
                      <a:pPr algn="l"/>
                      <a:r>
                        <a:rPr sz="1100" b="0">
                          <a:solidFill>
                            <a:srgbClr val="2E2E2E"/>
                          </a:solidFill>
                          <a:latin typeface="Calibri"/>
                        </a:rPr>
                        <a:t>4.44</a:t>
                      </a:r>
                      <a:endParaRPr sz="1100"/>
                    </a:p>
                  </a:txBody>
                  <a:tcPr marL="47625" marR="38100" marT="19050" marB="19050" anchor="ctr">
                    <a:solidFill>
                      <a:srgbClr val="FFFFFF"/>
                    </a:solidFill>
                  </a:tcPr>
                </a:tc>
                <a:tc>
                  <a:txBody>
                    <a:bodyPr/>
                    <a:lstStyle/>
                    <a:p>
                      <a:pPr algn="l"/>
                      <a:r>
                        <a:rPr sz="1100" b="0">
                          <a:solidFill>
                            <a:srgbClr val="2E2E2E"/>
                          </a:solidFill>
                          <a:latin typeface="Calibri"/>
                        </a:rPr>
                        <a:t>4.88</a:t>
                      </a:r>
                      <a:endParaRPr sz="1100"/>
                    </a:p>
                  </a:txBody>
                  <a:tcPr marL="47625" marR="38100" marT="19050" marB="19050" anchor="ctr">
                    <a:solidFill>
                      <a:srgbClr val="FFFFFF"/>
                    </a:solidFill>
                  </a:tcPr>
                </a:tc>
                <a:tc>
                  <a:txBody>
                    <a:bodyPr/>
                    <a:lstStyle/>
                    <a:p>
                      <a:pPr algn="l"/>
                      <a:r>
                        <a:rPr sz="1100" b="0">
                          <a:solidFill>
                            <a:srgbClr val="2E2E2E"/>
                          </a:solidFill>
                          <a:latin typeface="Calibri"/>
                        </a:rPr>
                        <a:t>5.39</a:t>
                      </a:r>
                      <a:endParaRPr sz="1100"/>
                    </a:p>
                  </a:txBody>
                  <a:tcPr marL="47625" marR="38100" marT="19050" marB="19050" anchor="ctr">
                    <a:solidFill>
                      <a:srgbClr val="FFFFFF"/>
                    </a:solidFill>
                  </a:tcPr>
                </a:tc>
                <a:tc>
                  <a:txBody>
                    <a:bodyPr/>
                    <a:lstStyle/>
                    <a:p>
                      <a:pPr algn="l"/>
                      <a:r>
                        <a:rPr sz="1100" b="0">
                          <a:solidFill>
                            <a:srgbClr val="2E2E2E"/>
                          </a:solidFill>
                          <a:latin typeface="Calibri"/>
                        </a:rPr>
                        <a:t>5.98</a:t>
                      </a:r>
                      <a:endParaRPr sz="1100"/>
                    </a:p>
                  </a:txBody>
                  <a:tcPr marL="47625" marR="38100" marT="19050" marB="19050" anchor="ctr">
                    <a:solidFill>
                      <a:srgbClr val="FFFFFF"/>
                    </a:solidFill>
                  </a:tcPr>
                </a:tc>
                <a:tc>
                  <a:txBody>
                    <a:bodyPr/>
                    <a:lstStyle/>
                    <a:p>
                      <a:pPr algn="l"/>
                      <a:r>
                        <a:rPr sz="1100" b="0">
                          <a:solidFill>
                            <a:srgbClr val="2E2E2E"/>
                          </a:solidFill>
                          <a:latin typeface="Calibri"/>
                        </a:rPr>
                        <a:t>6.69</a:t>
                      </a:r>
                      <a:endParaRPr sz="1100"/>
                    </a:p>
                  </a:txBody>
                  <a:tcPr marL="47625" marR="38100" marT="19050" marB="19050" anchor="ctr">
                    <a:solidFill>
                      <a:srgbClr val="FFFFFF"/>
                    </a:solidFill>
                  </a:tcPr>
                </a:tc>
                <a:tc>
                  <a:txBody>
                    <a:bodyPr/>
                    <a:lstStyle/>
                    <a:p>
                      <a:pPr algn="l"/>
                      <a:r>
                        <a:rPr sz="1100" b="0">
                          <a:solidFill>
                            <a:srgbClr val="2E2E2E"/>
                          </a:solidFill>
                          <a:latin typeface="Calibri"/>
                        </a:rPr>
                        <a:t>7.51</a:t>
                      </a:r>
                      <a:endParaRPr sz="1100"/>
                    </a:p>
                  </a:txBody>
                  <a:tcPr marL="47625" marR="38100" marT="19050" marB="19050" anchor="ctr">
                    <a:solidFill>
                      <a:srgbClr val="FFFFFF"/>
                    </a:solidFill>
                  </a:tcPr>
                </a:tc>
                <a:tc>
                  <a:txBody>
                    <a:bodyPr/>
                    <a:lstStyle/>
                    <a:p>
                      <a:pPr algn="l"/>
                      <a:r>
                        <a:rPr sz="1100" b="0">
                          <a:solidFill>
                            <a:srgbClr val="2E2E2E"/>
                          </a:solidFill>
                          <a:latin typeface="Calibri"/>
                        </a:rPr>
                        <a:t>8.42</a:t>
                      </a:r>
                      <a:endParaRPr sz="1100"/>
                    </a:p>
                  </a:txBody>
                  <a:tcPr marL="47625" marR="38100" marT="19050" marB="19050" anchor="ctr">
                    <a:solidFill>
                      <a:srgbClr val="FFFFFF"/>
                    </a:solidFill>
                  </a:tcPr>
                </a:tc>
                <a:tc>
                  <a:txBody>
                    <a:bodyPr/>
                    <a:lstStyle/>
                    <a:p>
                      <a:pPr algn="l"/>
                      <a:r>
                        <a:rPr sz="1100" b="0">
                          <a:solidFill>
                            <a:srgbClr val="2E2E2E"/>
                          </a:solidFill>
                          <a:latin typeface="Calibri"/>
                        </a:rPr>
                        <a:t>9.43</a:t>
                      </a:r>
                      <a:endParaRPr sz="1100"/>
                    </a:p>
                  </a:txBody>
                  <a:tcPr marL="47625" marR="38100" marT="19050" marB="19050" anchor="ctr">
                    <a:solidFill>
                      <a:srgbClr val="FFFFFF"/>
                    </a:solidFill>
                  </a:tcPr>
                </a:tc>
                <a:tc>
                  <a:txBody>
                    <a:bodyPr/>
                    <a:lstStyle/>
                    <a:p>
                      <a:pPr algn="l"/>
                      <a:r>
                        <a:rPr sz="1100" b="0">
                          <a:solidFill>
                            <a:srgbClr val="2E2E2E"/>
                          </a:solidFill>
                          <a:latin typeface="Calibri"/>
                        </a:rPr>
                        <a:t>10.6</a:t>
                      </a:r>
                      <a:endParaRPr sz="1100"/>
                    </a:p>
                  </a:txBody>
                  <a:tcPr marL="47625" marR="38100" marT="19050" marB="19050" anchor="ctr">
                    <a:solidFill>
                      <a:srgbClr val="FFFFFF"/>
                    </a:solidFill>
                  </a:tcPr>
                </a:tc>
                <a:tc>
                  <a:txBody>
                    <a:bodyPr/>
                    <a:lstStyle/>
                    <a:p>
                      <a:pPr algn="l"/>
                      <a:r>
                        <a:rPr sz="1100" b="0">
                          <a:solidFill>
                            <a:srgbClr val="2E2E2E"/>
                          </a:solidFill>
                          <a:latin typeface="Calibri"/>
                        </a:rPr>
                        <a:t>11.9</a:t>
                      </a:r>
                      <a:endParaRPr sz="1100"/>
                    </a:p>
                  </a:txBody>
                  <a:tcPr marL="47625" marR="38100" marT="19050" marB="19050" anchor="ctr">
                    <a:solidFill>
                      <a:srgbClr val="FFFFFF"/>
                    </a:solidFill>
                  </a:tcPr>
                </a:tc>
                <a:tc>
                  <a:txBody>
                    <a:bodyPr/>
                    <a:lstStyle/>
                    <a:p>
                      <a:pPr algn="l"/>
                      <a:r>
                        <a:rPr sz="1100" b="0">
                          <a:solidFill>
                            <a:srgbClr val="2E2E2E"/>
                          </a:solidFill>
                          <a:latin typeface="Calibri"/>
                        </a:rPr>
                        <a:t>13.3</a:t>
                      </a:r>
                      <a:endParaRPr sz="1100"/>
                    </a:p>
                  </a:txBody>
                  <a:tcPr marL="47625" marR="38100" marT="19050" marB="19050" anchor="ctr">
                    <a:solidFill>
                      <a:srgbClr val="FFFFFF"/>
                    </a:solidFill>
                  </a:tcPr>
                </a:tc>
                <a:tc>
                  <a:txBody>
                    <a:bodyPr/>
                    <a:lstStyle/>
                    <a:p>
                      <a:pPr algn="l"/>
                      <a:r>
                        <a:rPr sz="1100" b="0">
                          <a:solidFill>
                            <a:srgbClr val="2E2E2E"/>
                          </a:solidFill>
                          <a:latin typeface="Calibri"/>
                        </a:rPr>
                        <a:t>14.9</a:t>
                      </a:r>
                      <a:endParaRPr sz="1100"/>
                    </a:p>
                  </a:txBody>
                  <a:tcPr marL="47625" marR="38100" marT="19050" marB="19050" anchor="ctr">
                    <a:solidFill>
                      <a:srgbClr val="FFFFFF"/>
                    </a:solidFill>
                  </a:tcPr>
                </a:tc>
                <a:tc>
                  <a:txBody>
                    <a:bodyPr/>
                    <a:lstStyle/>
                    <a:p>
                      <a:pPr algn="l"/>
                      <a:r>
                        <a:rPr sz="1100" b="0">
                          <a:solidFill>
                            <a:srgbClr val="2E2E2E"/>
                          </a:solidFill>
                          <a:latin typeface="Calibri"/>
                        </a:rPr>
                        <a:t>16.7</a:t>
                      </a:r>
                      <a:endParaRPr sz="1100"/>
                    </a:p>
                  </a:txBody>
                  <a:tcPr marL="47625" marR="38100" marT="19050" marB="19050" anchor="ctr">
                    <a:solidFill>
                      <a:srgbClr val="FFFFFF"/>
                    </a:solidFill>
                  </a:tcPr>
                </a:tc>
                <a:tc>
                  <a:txBody>
                    <a:bodyPr/>
                    <a:lstStyle/>
                    <a:p>
                      <a:pPr algn="l"/>
                      <a:r>
                        <a:rPr sz="1100" b="0">
                          <a:solidFill>
                            <a:srgbClr val="2E2E2E"/>
                          </a:solidFill>
                          <a:latin typeface="Calibri"/>
                        </a:rPr>
                        <a:t>12.0%</a:t>
                      </a:r>
                      <a:endParaRPr sz="1100"/>
                    </a:p>
                  </a:txBody>
                  <a:tcPr marL="47625" marR="38100" marT="19050" marB="19050" anchor="ctr">
                    <a:solidFill>
                      <a:srgbClr val="FFFFFF"/>
                    </a:solidFill>
                  </a:tcPr>
                </a:tc>
                <a:extLst>
                  <a:ext uri="{0D108BD9-81ED-4DB2-BD59-A6C34878D82A}">
                    <a16:rowId xmlns:a16="http://schemas.microsoft.com/office/drawing/2014/main" val="10007"/>
                  </a:ext>
                </a:extLst>
              </a:tr>
              <a:tr h="215979">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l"/>
                      <a:r>
                        <a:rPr sz="1100" b="1">
                          <a:solidFill>
                            <a:srgbClr val="2E2E2E"/>
                          </a:solidFill>
                          <a:latin typeface="Calibri"/>
                        </a:rPr>
                        <a:t>181.5</a:t>
                      </a:r>
                      <a:endParaRPr sz="1100"/>
                    </a:p>
                  </a:txBody>
                  <a:tcPr marL="47625" marR="38100" marT="19050" marB="19050" anchor="ctr">
                    <a:solidFill>
                      <a:srgbClr val="E0E8EF"/>
                    </a:solidFill>
                  </a:tcPr>
                </a:tc>
                <a:tc>
                  <a:txBody>
                    <a:bodyPr/>
                    <a:lstStyle/>
                    <a:p>
                      <a:pPr algn="l"/>
                      <a:r>
                        <a:rPr sz="1100" b="1">
                          <a:solidFill>
                            <a:srgbClr val="2E2E2E"/>
                          </a:solidFill>
                          <a:latin typeface="Calibri"/>
                        </a:rPr>
                        <a:t>190.1</a:t>
                      </a:r>
                      <a:endParaRPr sz="1100"/>
                    </a:p>
                  </a:txBody>
                  <a:tcPr marL="47625" marR="38100" marT="19050" marB="19050" anchor="ctr">
                    <a:solidFill>
                      <a:srgbClr val="E0E8EF"/>
                    </a:solidFill>
                  </a:tcPr>
                </a:tc>
                <a:tc>
                  <a:txBody>
                    <a:bodyPr/>
                    <a:lstStyle/>
                    <a:p>
                      <a:pPr algn="l"/>
                      <a:r>
                        <a:rPr sz="1100" b="1">
                          <a:solidFill>
                            <a:srgbClr val="2E2E2E"/>
                          </a:solidFill>
                          <a:latin typeface="Calibri"/>
                        </a:rPr>
                        <a:t>199.2</a:t>
                      </a:r>
                      <a:endParaRPr sz="1100"/>
                    </a:p>
                  </a:txBody>
                  <a:tcPr marL="47625" marR="38100" marT="19050" marB="19050" anchor="ctr">
                    <a:solidFill>
                      <a:srgbClr val="E0E8EF"/>
                    </a:solidFill>
                  </a:tcPr>
                </a:tc>
                <a:tc>
                  <a:txBody>
                    <a:bodyPr/>
                    <a:lstStyle/>
                    <a:p>
                      <a:pPr algn="l"/>
                      <a:r>
                        <a:rPr sz="1100" b="1">
                          <a:solidFill>
                            <a:srgbClr val="2E2E2E"/>
                          </a:solidFill>
                          <a:latin typeface="Calibri"/>
                        </a:rPr>
                        <a:t>208.9</a:t>
                      </a:r>
                      <a:endParaRPr sz="1100"/>
                    </a:p>
                  </a:txBody>
                  <a:tcPr marL="47625" marR="38100" marT="19050" marB="19050" anchor="ctr">
                    <a:solidFill>
                      <a:srgbClr val="E0E8EF"/>
                    </a:solidFill>
                  </a:tcPr>
                </a:tc>
                <a:tc>
                  <a:txBody>
                    <a:bodyPr/>
                    <a:lstStyle/>
                    <a:p>
                      <a:pPr algn="l"/>
                      <a:r>
                        <a:rPr sz="1100" b="1">
                          <a:solidFill>
                            <a:srgbClr val="2E2E2E"/>
                          </a:solidFill>
                          <a:latin typeface="Calibri"/>
                        </a:rPr>
                        <a:t>219.1</a:t>
                      </a:r>
                      <a:endParaRPr sz="1100"/>
                    </a:p>
                  </a:txBody>
                  <a:tcPr marL="47625" marR="38100" marT="19050" marB="19050" anchor="ctr">
                    <a:solidFill>
                      <a:srgbClr val="E0E8EF"/>
                    </a:solidFill>
                  </a:tcPr>
                </a:tc>
                <a:tc>
                  <a:txBody>
                    <a:bodyPr/>
                    <a:lstStyle/>
                    <a:p>
                      <a:pPr algn="l"/>
                      <a:r>
                        <a:rPr sz="1100" b="1">
                          <a:solidFill>
                            <a:srgbClr val="2E2E2E"/>
                          </a:solidFill>
                          <a:latin typeface="Calibri"/>
                        </a:rPr>
                        <a:t>230.6</a:t>
                      </a:r>
                      <a:endParaRPr sz="1100"/>
                    </a:p>
                  </a:txBody>
                  <a:tcPr marL="47625" marR="38100" marT="19050" marB="19050" anchor="ctr">
                    <a:solidFill>
                      <a:srgbClr val="E0E8EF"/>
                    </a:solidFill>
                  </a:tcPr>
                </a:tc>
                <a:tc>
                  <a:txBody>
                    <a:bodyPr/>
                    <a:lstStyle/>
                    <a:p>
                      <a:pPr algn="l"/>
                      <a:r>
                        <a:rPr sz="1100" b="1">
                          <a:solidFill>
                            <a:srgbClr val="2E2E2E"/>
                          </a:solidFill>
                          <a:latin typeface="Calibri"/>
                        </a:rPr>
                        <a:t>243.3</a:t>
                      </a:r>
                      <a:endParaRPr sz="1100"/>
                    </a:p>
                  </a:txBody>
                  <a:tcPr marL="47625" marR="38100" marT="19050" marB="19050" anchor="ctr">
                    <a:solidFill>
                      <a:srgbClr val="E0E8EF"/>
                    </a:solidFill>
                  </a:tcPr>
                </a:tc>
                <a:tc>
                  <a:txBody>
                    <a:bodyPr/>
                    <a:lstStyle/>
                    <a:p>
                      <a:pPr algn="l"/>
                      <a:r>
                        <a:rPr sz="1100" b="1">
                          <a:solidFill>
                            <a:srgbClr val="2E2E2E"/>
                          </a:solidFill>
                          <a:latin typeface="Calibri"/>
                        </a:rPr>
                        <a:t>257.4</a:t>
                      </a:r>
                      <a:endParaRPr sz="1100"/>
                    </a:p>
                  </a:txBody>
                  <a:tcPr marL="47625" marR="38100" marT="19050" marB="19050" anchor="ctr">
                    <a:solidFill>
                      <a:srgbClr val="E0E8EF"/>
                    </a:solidFill>
                  </a:tcPr>
                </a:tc>
                <a:tc>
                  <a:txBody>
                    <a:bodyPr/>
                    <a:lstStyle/>
                    <a:p>
                      <a:pPr algn="l"/>
                      <a:r>
                        <a:rPr sz="1100" b="1">
                          <a:solidFill>
                            <a:srgbClr val="2E2E2E"/>
                          </a:solidFill>
                          <a:latin typeface="Calibri"/>
                        </a:rPr>
                        <a:t>273.5</a:t>
                      </a:r>
                      <a:endParaRPr sz="1100"/>
                    </a:p>
                  </a:txBody>
                  <a:tcPr marL="47625" marR="38100" marT="19050" marB="19050" anchor="ctr">
                    <a:solidFill>
                      <a:srgbClr val="E0E8EF"/>
                    </a:solidFill>
                  </a:tcPr>
                </a:tc>
                <a:tc>
                  <a:txBody>
                    <a:bodyPr/>
                    <a:lstStyle/>
                    <a:p>
                      <a:pPr algn="l"/>
                      <a:r>
                        <a:rPr sz="1100" b="1">
                          <a:solidFill>
                            <a:srgbClr val="2E2E2E"/>
                          </a:solidFill>
                          <a:latin typeface="Calibri"/>
                        </a:rPr>
                        <a:t>291.5</a:t>
                      </a:r>
                      <a:endParaRPr sz="1100"/>
                    </a:p>
                  </a:txBody>
                  <a:tcPr marL="47625" marR="38100" marT="19050" marB="19050" anchor="ctr">
                    <a:solidFill>
                      <a:srgbClr val="E0E8EF"/>
                    </a:solidFill>
                  </a:tcPr>
                </a:tc>
                <a:tc>
                  <a:txBody>
                    <a:bodyPr/>
                    <a:lstStyle/>
                    <a:p>
                      <a:pPr algn="l"/>
                      <a:r>
                        <a:rPr sz="1100" b="1">
                          <a:solidFill>
                            <a:srgbClr val="2E2E2E"/>
                          </a:solidFill>
                          <a:latin typeface="Calibri"/>
                        </a:rPr>
                        <a:t>311.5</a:t>
                      </a:r>
                      <a:endParaRPr sz="1100"/>
                    </a:p>
                  </a:txBody>
                  <a:tcPr marL="47625" marR="38100" marT="19050" marB="19050" anchor="ctr">
                    <a:solidFill>
                      <a:srgbClr val="E0E8EF"/>
                    </a:solidFill>
                  </a:tcPr>
                </a:tc>
                <a:tc>
                  <a:txBody>
                    <a:bodyPr/>
                    <a:lstStyle/>
                    <a:p>
                      <a:pPr algn="l"/>
                      <a:r>
                        <a:rPr sz="1100" b="1">
                          <a:solidFill>
                            <a:srgbClr val="2E2E2E"/>
                          </a:solidFill>
                          <a:latin typeface="Calibri"/>
                        </a:rPr>
                        <a:t>333.4</a:t>
                      </a:r>
                      <a:endParaRPr sz="1100"/>
                    </a:p>
                  </a:txBody>
                  <a:tcPr marL="47625" marR="38100" marT="19050" marB="19050" anchor="ctr">
                    <a:solidFill>
                      <a:srgbClr val="E0E8EF"/>
                    </a:solidFill>
                  </a:tcPr>
                </a:tc>
                <a:tc>
                  <a:txBody>
                    <a:bodyPr/>
                    <a:lstStyle/>
                    <a:p>
                      <a:pPr algn="l"/>
                      <a:r>
                        <a:rPr sz="1100" b="1">
                          <a:solidFill>
                            <a:srgbClr val="2E2E2E"/>
                          </a:solidFill>
                          <a:latin typeface="Calibri"/>
                        </a:rPr>
                        <a:t>357.0</a:t>
                      </a:r>
                      <a:endParaRPr sz="1100"/>
                    </a:p>
                  </a:txBody>
                  <a:tcPr marL="47625" marR="38100" marT="19050" marB="19050" anchor="ctr">
                    <a:solidFill>
                      <a:srgbClr val="E0E8EF"/>
                    </a:solidFill>
                  </a:tcPr>
                </a:tc>
                <a:tc>
                  <a:txBody>
                    <a:bodyPr/>
                    <a:lstStyle/>
                    <a:p>
                      <a:pPr algn="l"/>
                      <a:r>
                        <a:rPr sz="1100" b="1">
                          <a:solidFill>
                            <a:srgbClr val="2E2E2E"/>
                          </a:solidFill>
                          <a:latin typeface="Calibri"/>
                        </a:rPr>
                        <a:t>382.4</a:t>
                      </a:r>
                      <a:endParaRPr sz="1100"/>
                    </a:p>
                  </a:txBody>
                  <a:tcPr marL="47625" marR="38100" marT="19050" marB="19050" anchor="ctr">
                    <a:solidFill>
                      <a:srgbClr val="E0E8EF"/>
                    </a:solidFill>
                  </a:tcPr>
                </a:tc>
                <a:tc>
                  <a:txBody>
                    <a:bodyPr/>
                    <a:lstStyle/>
                    <a:p>
                      <a:pPr algn="l"/>
                      <a:r>
                        <a:rPr sz="1100" b="1">
                          <a:solidFill>
                            <a:srgbClr val="2E2E2E"/>
                          </a:solidFill>
                          <a:latin typeface="Calibri"/>
                        </a:rPr>
                        <a:t>409.3</a:t>
                      </a:r>
                      <a:endParaRPr sz="1100"/>
                    </a:p>
                  </a:txBody>
                  <a:tcPr marL="47625" marR="38100" marT="19050" marB="19050" anchor="ctr">
                    <a:solidFill>
                      <a:srgbClr val="E0E8EF"/>
                    </a:solidFill>
                  </a:tcPr>
                </a:tc>
                <a:tc>
                  <a:txBody>
                    <a:bodyPr/>
                    <a:lstStyle/>
                    <a:p>
                      <a:pPr algn="l"/>
                      <a:r>
                        <a:rPr sz="1100" b="1">
                          <a:solidFill>
                            <a:srgbClr val="2E2E2E"/>
                          </a:solidFill>
                          <a:latin typeface="Calibri"/>
                        </a:rPr>
                        <a:t>437.8</a:t>
                      </a:r>
                      <a:endParaRPr sz="1100"/>
                    </a:p>
                  </a:txBody>
                  <a:tcPr marL="47625" marR="38100" marT="19050" marB="19050" anchor="ctr">
                    <a:solidFill>
                      <a:srgbClr val="E0E8EF"/>
                    </a:solidFill>
                  </a:tcPr>
                </a:tc>
                <a:tc>
                  <a:txBody>
                    <a:bodyPr/>
                    <a:lstStyle/>
                    <a:p>
                      <a:pPr algn="l"/>
                      <a:r>
                        <a:rPr sz="1100" b="1">
                          <a:solidFill>
                            <a:srgbClr val="2E2E2E"/>
                          </a:solidFill>
                          <a:latin typeface="Calibri"/>
                        </a:rPr>
                        <a:t>6.6%</a:t>
                      </a:r>
                      <a:endParaRPr sz="1100"/>
                    </a:p>
                  </a:txBody>
                  <a:tcPr marL="47625" marR="38100" marT="19050" marB="19050" anchor="ctr">
                    <a:solidFill>
                      <a:srgbClr val="E0E8EF"/>
                    </a:solidFill>
                  </a:tcPr>
                </a:tc>
                <a:extLst>
                  <a:ext uri="{0D108BD9-81ED-4DB2-BD59-A6C34878D82A}">
                    <a16:rowId xmlns:a16="http://schemas.microsoft.com/office/drawing/2014/main" val="10008"/>
                  </a:ext>
                </a:extLst>
              </a:tr>
            </a:tbl>
          </a:graphicData>
        </a:graphic>
      </p:graphicFrame>
      <p:sp>
        <p:nvSpPr>
          <p:cNvPr id="14" name="TextBox 13"/>
          <p:cNvSpPr txBox="1"/>
          <p:nvPr/>
        </p:nvSpPr>
        <p:spPr>
          <a:xfrm>
            <a:off x="219075" y="319087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524250"/>
            <a:ext cx="11906250" cy="3105150"/>
          </a:xfrm>
          <a:prstGeom prst="roundRect">
            <a:avLst>
              <a:gd name="adj" fmla="val 245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6225" y="3609975"/>
            <a:ext cx="11639550" cy="209550"/>
          </a:xfrm>
          <a:prstGeom prst="rect">
            <a:avLst/>
          </a:prstGeom>
          <a:noFill/>
        </p:spPr>
        <p:txBody>
          <a:bodyPr wrap="square" lIns="0" tIns="9525" rIns="19050" bIns="9525">
            <a:spAutoFit/>
          </a:bodyPr>
          <a:lstStyle/>
          <a:p>
            <a:pPr algn="l"/>
            <a:r>
              <a:rPr sz="1300" b="1">
                <a:solidFill>
                  <a:srgbClr val="0B2E4A"/>
                </a:solidFill>
                <a:latin typeface="Calibri"/>
              </a:rPr>
              <a:t>USA Value Analysis, By Product Format</a:t>
            </a:r>
          </a:p>
        </p:txBody>
      </p:sp>
      <p:sp>
        <p:nvSpPr>
          <p:cNvPr id="17" name="Rectangle 16"/>
          <p:cNvSpPr/>
          <p:nvPr/>
        </p:nvSpPr>
        <p:spPr>
          <a:xfrm>
            <a:off x="276225" y="38481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6225" y="3933825"/>
            <a:ext cx="11639550" cy="2619375"/>
          </a:xfrm>
          <a:prstGeom prst="rect">
            <a:avLst/>
          </a:prstGeom>
          <a:noFill/>
        </p:spPr>
        <p:txBody>
          <a:bodyPr wrap="square" lIns="0" tIns="9525" rIns="19050" bIns="9525">
            <a:spAutoFit/>
          </a:bodyPr>
          <a:lstStyle/>
          <a:p>
            <a:pPr algn="l">
              <a:lnSpc>
                <a:spcPct val="110000"/>
              </a:lnSpc>
              <a:spcBef>
                <a:spcPts val="0"/>
              </a:spcBef>
              <a:spcAft>
                <a:spcPts val="500"/>
              </a:spcAft>
            </a:pPr>
            <a:r>
              <a:rPr sz="1150" b="0">
                <a:solidFill>
                  <a:srgbClr val="2E2E2E"/>
                </a:solidFill>
                <a:latin typeface="Calibri"/>
              </a:rPr>
              <a:t>Tablet segment is projected to register 1.1X higher value than gummies segment in 2036. Among prenatal vitamin supplements by product format, powder segment is expected to witness the highest CAGR of 13.6% over the forecast period.</a:t>
            </a:r>
          </a:p>
          <a:p>
            <a:pPr algn="l">
              <a:lnSpc>
                <a:spcPct val="110000"/>
              </a:lnSpc>
              <a:spcBef>
                <a:spcPts val="0"/>
              </a:spcBef>
              <a:spcAft>
                <a:spcPts val="500"/>
              </a:spcAft>
            </a:pPr>
            <a:r>
              <a:rPr sz="1150" b="0">
                <a:solidFill>
                  <a:srgbClr val="2E2E2E"/>
                </a:solidFill>
                <a:latin typeface="Calibri"/>
              </a:rPr>
              <a:t>In terms of value share by product format, the tablet segment is expected to dominate the market, losing 844 BPS and accounting for 27.2% share by 2036.</a:t>
            </a:r>
          </a:p>
          <a:p>
            <a:pPr algn="l">
              <a:lnSpc>
                <a:spcPct val="110000"/>
              </a:lnSpc>
              <a:spcBef>
                <a:spcPts val="0"/>
              </a:spcBef>
              <a:spcAft>
                <a:spcPts val="500"/>
              </a:spcAft>
            </a:pPr>
            <a:r>
              <a:rPr sz="1150" b="0">
                <a:solidFill>
                  <a:srgbClr val="2E2E2E"/>
                </a:solidFill>
                <a:latin typeface="Calibri"/>
              </a:rPr>
              <a:t>Gummies are expected to gain 496 BPS of value share as they overcome pill burden, nausea and food aversion in pregnancy and are now widely stocked at Walmart, Target, Amazon, pharmacies and grocery chains. Capsules add 244 BPS as premium prenatal systems use them to carry methylfolate, choline, iodine, vitamin D and iron. Tablets are expected to lose 844 BPS, as the format is mature, replenishment-led and exposed to substitution from gummies for swallowing comfort and from capsules for premium nutrient positioning.</a:t>
            </a:r>
          </a:p>
        </p:txBody>
      </p:sp>
      <p:sp>
        <p:nvSpPr>
          <p:cNvPr id="19" name="TextBox 1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Market Value &amp; Share Shift, By Product Format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composition by Product Format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7210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Value Composition, By Product Format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p:cNvSpPr txBox="1"/>
          <p:nvPr/>
        </p:nvSpPr>
        <p:spPr>
          <a:xfrm>
            <a:off x="4852797" y="1590675"/>
            <a:ext cx="2595753" cy="171069"/>
          </a:xfrm>
          <a:prstGeom prst="rect">
            <a:avLst/>
          </a:prstGeom>
          <a:noFill/>
        </p:spPr>
        <p:txBody>
          <a:bodyPr wrap="square" lIns="28575" tIns="9525" rIns="2857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a:endParaRPr/>
          </a:p>
        </p:txBody>
      </p:sp>
      <p:sp>
        <p:nvSpPr>
          <p:cNvPr id="16" name="FMI Legend Chip"/>
          <p:cNvSpPr/>
          <p:nvPr/>
        </p:nvSpPr>
        <p:spPr>
          <a:xfrm>
            <a:off x="4928997" y="1721069"/>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Isosceles Triangle 16"/>
          <p:cNvSpPr/>
          <p:nvPr/>
        </p:nvSpPr>
        <p:spPr>
          <a:xfrm>
            <a:off x="5090922" y="171630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BPS Name 1"/>
          <p:cNvSpPr txBox="1"/>
          <p:nvPr/>
        </p:nvSpPr>
        <p:spPr>
          <a:xfrm>
            <a:off x="5233797" y="1640106"/>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Bar</a:t>
            </a:r>
          </a:p>
        </p:txBody>
      </p:sp>
      <p:sp>
        <p:nvSpPr>
          <p:cNvPr id="19" name="BPS Value 1"/>
          <p:cNvSpPr txBox="1"/>
          <p:nvPr/>
        </p:nvSpPr>
        <p:spPr>
          <a:xfrm>
            <a:off x="6896100" y="1702019"/>
            <a:ext cx="514350" cy="123825"/>
          </a:xfrm>
          <a:prstGeom prst="rect">
            <a:avLst/>
          </a:prstGeom>
          <a:noFill/>
        </p:spPr>
        <p:txBody>
          <a:bodyPr wrap="none" lIns="0" tIns="0" rIns="0" bIns="0" anchor="ctr">
            <a:spAutoFit/>
          </a:bodyPr>
          <a:lstStyle/>
          <a:p>
            <a:pPr algn="r"/>
            <a:r>
              <a:rPr sz="900" b="1">
                <a:solidFill>
                  <a:srgbClr val="2E7D32"/>
                </a:solidFill>
                <a:latin typeface="Calibri"/>
              </a:rPr>
              <a:t>+68</a:t>
            </a:r>
          </a:p>
        </p:txBody>
      </p:sp>
      <p:sp>
        <p:nvSpPr>
          <p:cNvPr id="20" name="FMI Legend Chip"/>
          <p:cNvSpPr/>
          <p:nvPr/>
        </p:nvSpPr>
        <p:spPr>
          <a:xfrm>
            <a:off x="4928997" y="1844894"/>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Isosceles Triangle 20"/>
          <p:cNvSpPr/>
          <p:nvPr/>
        </p:nvSpPr>
        <p:spPr>
          <a:xfrm>
            <a:off x="5090922" y="184013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BPS Name 2"/>
          <p:cNvSpPr txBox="1"/>
          <p:nvPr/>
        </p:nvSpPr>
        <p:spPr>
          <a:xfrm>
            <a:off x="5233797" y="1763931"/>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Powder</a:t>
            </a:r>
          </a:p>
        </p:txBody>
      </p:sp>
      <p:sp>
        <p:nvSpPr>
          <p:cNvPr id="23" name="BPS Value 2"/>
          <p:cNvSpPr txBox="1"/>
          <p:nvPr/>
        </p:nvSpPr>
        <p:spPr>
          <a:xfrm>
            <a:off x="6896100" y="1825844"/>
            <a:ext cx="514350" cy="123825"/>
          </a:xfrm>
          <a:prstGeom prst="rect">
            <a:avLst/>
          </a:prstGeom>
          <a:noFill/>
        </p:spPr>
        <p:txBody>
          <a:bodyPr wrap="none" lIns="0" tIns="0" rIns="0" bIns="0" anchor="ctr">
            <a:spAutoFit/>
          </a:bodyPr>
          <a:lstStyle/>
          <a:p>
            <a:pPr algn="r"/>
            <a:r>
              <a:rPr sz="900" b="1">
                <a:solidFill>
                  <a:srgbClr val="2E7D32"/>
                </a:solidFill>
                <a:latin typeface="Calibri"/>
              </a:rPr>
              <a:t>+109</a:t>
            </a:r>
          </a:p>
        </p:txBody>
      </p:sp>
      <p:sp>
        <p:nvSpPr>
          <p:cNvPr id="24" name="FMI Legend Chip"/>
          <p:cNvSpPr/>
          <p:nvPr/>
        </p:nvSpPr>
        <p:spPr>
          <a:xfrm>
            <a:off x="4928997" y="1968719"/>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Isosceles Triangle 24"/>
          <p:cNvSpPr/>
          <p:nvPr/>
        </p:nvSpPr>
        <p:spPr>
          <a:xfrm>
            <a:off x="5090922" y="196395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BPS Name 3"/>
          <p:cNvSpPr txBox="1"/>
          <p:nvPr/>
        </p:nvSpPr>
        <p:spPr>
          <a:xfrm>
            <a:off x="5233797" y="1887756"/>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Liquid</a:t>
            </a:r>
          </a:p>
        </p:txBody>
      </p:sp>
      <p:sp>
        <p:nvSpPr>
          <p:cNvPr id="27" name="BPS Value 3"/>
          <p:cNvSpPr txBox="1"/>
          <p:nvPr/>
        </p:nvSpPr>
        <p:spPr>
          <a:xfrm>
            <a:off x="6896100" y="1949669"/>
            <a:ext cx="514350" cy="123825"/>
          </a:xfrm>
          <a:prstGeom prst="rect">
            <a:avLst/>
          </a:prstGeom>
          <a:noFill/>
        </p:spPr>
        <p:txBody>
          <a:bodyPr wrap="none" lIns="0" tIns="0" rIns="0" bIns="0" anchor="ctr">
            <a:spAutoFit/>
          </a:bodyPr>
          <a:lstStyle/>
          <a:p>
            <a:pPr algn="r"/>
            <a:r>
              <a:rPr sz="900" b="1">
                <a:solidFill>
                  <a:srgbClr val="2E7D32"/>
                </a:solidFill>
                <a:latin typeface="Calibri"/>
              </a:rPr>
              <a:t>+148</a:t>
            </a:r>
          </a:p>
        </p:txBody>
      </p:sp>
      <p:sp>
        <p:nvSpPr>
          <p:cNvPr id="28" name="FMI Legend Chip"/>
          <p:cNvSpPr/>
          <p:nvPr/>
        </p:nvSpPr>
        <p:spPr>
          <a:xfrm>
            <a:off x="4928997" y="2451085"/>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Isosceles Triangle 28"/>
          <p:cNvSpPr/>
          <p:nvPr/>
        </p:nvSpPr>
        <p:spPr>
          <a:xfrm rot="10800000">
            <a:off x="5090922" y="244632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BPS Name 4"/>
          <p:cNvSpPr txBox="1"/>
          <p:nvPr/>
        </p:nvSpPr>
        <p:spPr>
          <a:xfrm>
            <a:off x="5233797" y="2370123"/>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Softgels</a:t>
            </a:r>
          </a:p>
        </p:txBody>
      </p:sp>
      <p:sp>
        <p:nvSpPr>
          <p:cNvPr id="31" name="BPS Value 4"/>
          <p:cNvSpPr txBox="1"/>
          <p:nvPr/>
        </p:nvSpPr>
        <p:spPr>
          <a:xfrm>
            <a:off x="6896100" y="2432035"/>
            <a:ext cx="514350" cy="123825"/>
          </a:xfrm>
          <a:prstGeom prst="rect">
            <a:avLst/>
          </a:prstGeom>
          <a:noFill/>
        </p:spPr>
        <p:txBody>
          <a:bodyPr wrap="none" lIns="0" tIns="0" rIns="0" bIns="0" anchor="ctr">
            <a:spAutoFit/>
          </a:bodyPr>
          <a:lstStyle/>
          <a:p>
            <a:pPr algn="r"/>
            <a:r>
              <a:rPr sz="900" b="1">
                <a:solidFill>
                  <a:srgbClr val="E44D3A"/>
                </a:solidFill>
                <a:latin typeface="Calibri"/>
              </a:rPr>
              <a:t>-220</a:t>
            </a:r>
          </a:p>
        </p:txBody>
      </p:sp>
      <p:sp>
        <p:nvSpPr>
          <p:cNvPr id="32" name="FMI Legend Chip"/>
          <p:cNvSpPr/>
          <p:nvPr/>
        </p:nvSpPr>
        <p:spPr>
          <a:xfrm>
            <a:off x="4928997" y="334794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sosceles Triangle 32"/>
          <p:cNvSpPr/>
          <p:nvPr/>
        </p:nvSpPr>
        <p:spPr>
          <a:xfrm>
            <a:off x="5090922" y="334318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BPS Name 5"/>
          <p:cNvSpPr txBox="1"/>
          <p:nvPr/>
        </p:nvSpPr>
        <p:spPr>
          <a:xfrm>
            <a:off x="5233797" y="3266980"/>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Capsule</a:t>
            </a:r>
          </a:p>
        </p:txBody>
      </p:sp>
      <p:sp>
        <p:nvSpPr>
          <p:cNvPr id="35" name="BPS Value 5"/>
          <p:cNvSpPr txBox="1"/>
          <p:nvPr/>
        </p:nvSpPr>
        <p:spPr>
          <a:xfrm>
            <a:off x="6896100" y="3328892"/>
            <a:ext cx="514350" cy="123825"/>
          </a:xfrm>
          <a:prstGeom prst="rect">
            <a:avLst/>
          </a:prstGeom>
          <a:noFill/>
        </p:spPr>
        <p:txBody>
          <a:bodyPr wrap="none" lIns="0" tIns="0" rIns="0" bIns="0" anchor="ctr">
            <a:spAutoFit/>
          </a:bodyPr>
          <a:lstStyle/>
          <a:p>
            <a:pPr algn="r"/>
            <a:r>
              <a:rPr sz="900" b="1">
                <a:solidFill>
                  <a:srgbClr val="2E7D32"/>
                </a:solidFill>
                <a:latin typeface="Calibri"/>
              </a:rPr>
              <a:t>+244</a:t>
            </a:r>
          </a:p>
        </p:txBody>
      </p:sp>
      <p:sp>
        <p:nvSpPr>
          <p:cNvPr id="36" name="FMI Legend Chip"/>
          <p:cNvSpPr/>
          <p:nvPr/>
        </p:nvSpPr>
        <p:spPr>
          <a:xfrm>
            <a:off x="4928997" y="4422361"/>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Isosceles Triangle 36"/>
          <p:cNvSpPr/>
          <p:nvPr/>
        </p:nvSpPr>
        <p:spPr>
          <a:xfrm>
            <a:off x="5090922" y="441759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PS Name 6"/>
          <p:cNvSpPr txBox="1"/>
          <p:nvPr/>
        </p:nvSpPr>
        <p:spPr>
          <a:xfrm>
            <a:off x="5233797" y="4341399"/>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Gummies</a:t>
            </a:r>
          </a:p>
        </p:txBody>
      </p:sp>
      <p:sp>
        <p:nvSpPr>
          <p:cNvPr id="39" name="BPS Value 6"/>
          <p:cNvSpPr txBox="1"/>
          <p:nvPr/>
        </p:nvSpPr>
        <p:spPr>
          <a:xfrm>
            <a:off x="6896100" y="4403311"/>
            <a:ext cx="514350" cy="123825"/>
          </a:xfrm>
          <a:prstGeom prst="rect">
            <a:avLst/>
          </a:prstGeom>
          <a:noFill/>
        </p:spPr>
        <p:txBody>
          <a:bodyPr wrap="none" lIns="0" tIns="0" rIns="0" bIns="0" anchor="ctr">
            <a:spAutoFit/>
          </a:bodyPr>
          <a:lstStyle/>
          <a:p>
            <a:pPr algn="r"/>
            <a:r>
              <a:rPr sz="900" b="1">
                <a:solidFill>
                  <a:srgbClr val="2E7D32"/>
                </a:solidFill>
                <a:latin typeface="Calibri"/>
              </a:rPr>
              <a:t>+496</a:t>
            </a:r>
          </a:p>
        </p:txBody>
      </p:sp>
      <p:sp>
        <p:nvSpPr>
          <p:cNvPr id="40" name="FMI Legend Chip"/>
          <p:cNvSpPr/>
          <p:nvPr/>
        </p:nvSpPr>
        <p:spPr>
          <a:xfrm>
            <a:off x="4928997" y="562130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Isosceles Triangle 40"/>
          <p:cNvSpPr/>
          <p:nvPr/>
        </p:nvSpPr>
        <p:spPr>
          <a:xfrm rot="10800000">
            <a:off x="5090922" y="561654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PS Name 7"/>
          <p:cNvSpPr txBox="1"/>
          <p:nvPr/>
        </p:nvSpPr>
        <p:spPr>
          <a:xfrm>
            <a:off x="5233797" y="5540345"/>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Tablet</a:t>
            </a:r>
          </a:p>
        </p:txBody>
      </p:sp>
      <p:sp>
        <p:nvSpPr>
          <p:cNvPr id="43" name="BPS Value 7"/>
          <p:cNvSpPr txBox="1"/>
          <p:nvPr/>
        </p:nvSpPr>
        <p:spPr>
          <a:xfrm>
            <a:off x="6896100" y="5602258"/>
            <a:ext cx="514350" cy="123825"/>
          </a:xfrm>
          <a:prstGeom prst="rect">
            <a:avLst/>
          </a:prstGeom>
          <a:noFill/>
        </p:spPr>
        <p:txBody>
          <a:bodyPr wrap="none" lIns="0" tIns="0" rIns="0" bIns="0" anchor="ctr">
            <a:spAutoFit/>
          </a:bodyPr>
          <a:lstStyle/>
          <a:p>
            <a:pPr algn="r"/>
            <a:r>
              <a:rPr sz="900" b="1">
                <a:solidFill>
                  <a:srgbClr val="E44D3A"/>
                </a:solidFill>
                <a:latin typeface="Calibri"/>
              </a:rPr>
              <a:t>-844</a:t>
            </a:r>
          </a:p>
        </p:txBody>
      </p:sp>
      <p:sp>
        <p:nvSpPr>
          <p:cNvPr id="44" name="Rounded Rectangle 43"/>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829550" y="1066800"/>
            <a:ext cx="4076700" cy="209550"/>
          </a:xfrm>
          <a:prstGeom prst="rect">
            <a:avLst/>
          </a:prstGeom>
          <a:noFill/>
        </p:spPr>
        <p:txBody>
          <a:bodyPr wrap="square" lIns="0" tIns="9525" rIns="19050" bIns="9525">
            <a:spAutoFit/>
          </a:bodyPr>
          <a:lstStyle/>
          <a:p>
            <a:pPr algn="l"/>
            <a:r>
              <a:rPr sz="1300" b="1">
                <a:solidFill>
                  <a:srgbClr val="0B2E4A"/>
                </a:solidFill>
                <a:latin typeface="Calibri"/>
              </a:rPr>
              <a:t>USA Read-out, By Product Format</a:t>
            </a:r>
          </a:p>
        </p:txBody>
      </p:sp>
      <p:sp>
        <p:nvSpPr>
          <p:cNvPr id="46" name="Rectangle 45"/>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829550" y="1390650"/>
            <a:ext cx="4076700" cy="5162550"/>
          </a:xfrm>
          <a:prstGeom prst="rect">
            <a:avLst/>
          </a:prstGeom>
          <a:noFill/>
        </p:spPr>
        <p:txBody>
          <a:bodyPr wrap="square" lIns="0" tIns="9525" rIns="19050" bIns="9525">
            <a:spAutoFit/>
          </a:bodyPr>
          <a:lstStyle/>
          <a:p>
            <a:pPr algn="l">
              <a:lnSpc>
                <a:spcPct val="110000"/>
              </a:lnSpc>
              <a:spcBef>
                <a:spcPts val="0"/>
              </a:spcBef>
              <a:spcAft>
                <a:spcPts val="500"/>
              </a:spcAft>
            </a:pPr>
            <a:r>
              <a:rPr sz="1150" b="0">
                <a:solidFill>
                  <a:srgbClr val="2E2E2E"/>
                </a:solidFill>
                <a:latin typeface="Calibri"/>
              </a:rPr>
              <a:t>Among prenatal vitamin supplements by product format, powder segment is expected to witness the highest CAGR of 13.6% over the forecast period.</a:t>
            </a:r>
          </a:p>
          <a:p>
            <a:pPr algn="l">
              <a:lnSpc>
                <a:spcPct val="110000"/>
              </a:lnSpc>
              <a:spcBef>
                <a:spcPts val="0"/>
              </a:spcBef>
              <a:spcAft>
                <a:spcPts val="500"/>
              </a:spcAft>
            </a:pPr>
            <a:r>
              <a:rPr sz="1150" b="0">
                <a:solidFill>
                  <a:srgbClr val="2E2E2E"/>
                </a:solidFill>
                <a:latin typeface="Calibri"/>
              </a:rPr>
              <a:t>In terms of value share by product format, the tablet segment is expected to dominate the market, losing 844 BPS and accounting for 27.2% share by 2036.</a:t>
            </a:r>
          </a:p>
          <a:p>
            <a:pPr algn="l">
              <a:lnSpc>
                <a:spcPct val="110000"/>
              </a:lnSpc>
              <a:spcBef>
                <a:spcPts val="0"/>
              </a:spcBef>
              <a:spcAft>
                <a:spcPts val="500"/>
              </a:spcAft>
            </a:pPr>
            <a:r>
              <a:rPr sz="1150" b="0">
                <a:solidFill>
                  <a:srgbClr val="2E2E2E"/>
                </a:solidFill>
                <a:latin typeface="Calibri"/>
              </a:rPr>
              <a:t>Powder is expected to grow fastest at 13.6% CAGR, followed by liquid at 12.0% and bars at 10.7%, as these prenatal-adjacent formats start from a very small base and benefit from maternal wellness routines, DTC education, pill-free options and convenience occasions such as nausea relief, travel and postpartum nutrition. Gummies, at 9.0%, are the fastest-growing core format, supported by accelerating adoption among younger consumers and preconception users.</a:t>
            </a:r>
          </a:p>
        </p:txBody>
      </p:sp>
      <p:sp>
        <p:nvSpPr>
          <p:cNvPr id="48" name="TextBox 4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YoY Analysis of USA Market Volume, By Product Format (%)</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Year-on-year volume growth by Product Format,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Volume YoY Growth, By Product Format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198" cy="1724024"/>
        </p:xfrm>
        <a:graphic>
          <a:graphicData uri="http://schemas.openxmlformats.org/drawingml/2006/table">
            <a:tbl>
              <a:tblPr>
                <a:tableStyleId>{5C22544A-7EE6-4342-B048-85BDC9FD1C3A}</a:tableStyleId>
              </a:tblPr>
              <a:tblGrid>
                <a:gridCol w="1168018">
                  <a:extLst>
                    <a:ext uri="{9D8B030D-6E8A-4147-A177-3AD203B41FA5}">
                      <a16:colId xmlns:a16="http://schemas.microsoft.com/office/drawing/2014/main" val="20000"/>
                    </a:ext>
                  </a:extLst>
                </a:gridCol>
                <a:gridCol w="714612">
                  <a:extLst>
                    <a:ext uri="{9D8B030D-6E8A-4147-A177-3AD203B41FA5}">
                      <a16:colId xmlns:a16="http://schemas.microsoft.com/office/drawing/2014/main" val="20001"/>
                    </a:ext>
                  </a:extLst>
                </a:gridCol>
                <a:gridCol w="714612">
                  <a:extLst>
                    <a:ext uri="{9D8B030D-6E8A-4147-A177-3AD203B41FA5}">
                      <a16:colId xmlns:a16="http://schemas.microsoft.com/office/drawing/2014/main" val="20002"/>
                    </a:ext>
                  </a:extLst>
                </a:gridCol>
                <a:gridCol w="714612">
                  <a:extLst>
                    <a:ext uri="{9D8B030D-6E8A-4147-A177-3AD203B41FA5}">
                      <a16:colId xmlns:a16="http://schemas.microsoft.com/office/drawing/2014/main" val="20003"/>
                    </a:ext>
                  </a:extLst>
                </a:gridCol>
                <a:gridCol w="714612">
                  <a:extLst>
                    <a:ext uri="{9D8B030D-6E8A-4147-A177-3AD203B41FA5}">
                      <a16:colId xmlns:a16="http://schemas.microsoft.com/office/drawing/2014/main" val="20004"/>
                    </a:ext>
                  </a:extLst>
                </a:gridCol>
                <a:gridCol w="714612">
                  <a:extLst>
                    <a:ext uri="{9D8B030D-6E8A-4147-A177-3AD203B41FA5}">
                      <a16:colId xmlns:a16="http://schemas.microsoft.com/office/drawing/2014/main" val="20005"/>
                    </a:ext>
                  </a:extLst>
                </a:gridCol>
                <a:gridCol w="714612">
                  <a:extLst>
                    <a:ext uri="{9D8B030D-6E8A-4147-A177-3AD203B41FA5}">
                      <a16:colId xmlns:a16="http://schemas.microsoft.com/office/drawing/2014/main" val="20006"/>
                    </a:ext>
                  </a:extLst>
                </a:gridCol>
                <a:gridCol w="714612">
                  <a:extLst>
                    <a:ext uri="{9D8B030D-6E8A-4147-A177-3AD203B41FA5}">
                      <a16:colId xmlns:a16="http://schemas.microsoft.com/office/drawing/2014/main" val="20007"/>
                    </a:ext>
                  </a:extLst>
                </a:gridCol>
                <a:gridCol w="714612">
                  <a:extLst>
                    <a:ext uri="{9D8B030D-6E8A-4147-A177-3AD203B41FA5}">
                      <a16:colId xmlns:a16="http://schemas.microsoft.com/office/drawing/2014/main" val="20008"/>
                    </a:ext>
                  </a:extLst>
                </a:gridCol>
                <a:gridCol w="714612">
                  <a:extLst>
                    <a:ext uri="{9D8B030D-6E8A-4147-A177-3AD203B41FA5}">
                      <a16:colId xmlns:a16="http://schemas.microsoft.com/office/drawing/2014/main" val="20009"/>
                    </a:ext>
                  </a:extLst>
                </a:gridCol>
                <a:gridCol w="714612">
                  <a:extLst>
                    <a:ext uri="{9D8B030D-6E8A-4147-A177-3AD203B41FA5}">
                      <a16:colId xmlns:a16="http://schemas.microsoft.com/office/drawing/2014/main" val="20010"/>
                    </a:ext>
                  </a:extLst>
                </a:gridCol>
                <a:gridCol w="714612">
                  <a:extLst>
                    <a:ext uri="{9D8B030D-6E8A-4147-A177-3AD203B41FA5}">
                      <a16:colId xmlns:a16="http://schemas.microsoft.com/office/drawing/2014/main" val="20011"/>
                    </a:ext>
                  </a:extLst>
                </a:gridCol>
                <a:gridCol w="714612">
                  <a:extLst>
                    <a:ext uri="{9D8B030D-6E8A-4147-A177-3AD203B41FA5}">
                      <a16:colId xmlns:a16="http://schemas.microsoft.com/office/drawing/2014/main" val="20012"/>
                    </a:ext>
                  </a:extLst>
                </a:gridCol>
                <a:gridCol w="714612">
                  <a:extLst>
                    <a:ext uri="{9D8B030D-6E8A-4147-A177-3AD203B41FA5}">
                      <a16:colId xmlns:a16="http://schemas.microsoft.com/office/drawing/2014/main" val="20013"/>
                    </a:ext>
                  </a:extLst>
                </a:gridCol>
                <a:gridCol w="714612">
                  <a:extLst>
                    <a:ext uri="{9D8B030D-6E8A-4147-A177-3AD203B41FA5}">
                      <a16:colId xmlns:a16="http://schemas.microsoft.com/office/drawing/2014/main" val="20014"/>
                    </a:ext>
                  </a:extLst>
                </a:gridCol>
                <a:gridCol w="714612">
                  <a:extLst>
                    <a:ext uri="{9D8B030D-6E8A-4147-A177-3AD203B41FA5}">
                      <a16:colId xmlns:a16="http://schemas.microsoft.com/office/drawing/2014/main" val="20015"/>
                    </a:ext>
                  </a:extLst>
                </a:gridCol>
              </a:tblGrid>
              <a:tr h="215265">
                <a:tc>
                  <a:txBody>
                    <a:bodyPr/>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15537">
                <a:tc>
                  <a:txBody>
                    <a:bodyPr/>
                    <a:lstStyle/>
                    <a:p>
                      <a:pPr algn="l"/>
                      <a:r>
                        <a:rPr sz="1100" b="1">
                          <a:solidFill>
                            <a:srgbClr val="2E2E2E"/>
                          </a:solidFill>
                          <a:latin typeface="Calibri"/>
                        </a:rPr>
                        <a:t>Capsule</a:t>
                      </a:r>
                      <a:endParaRPr sz="1100"/>
                    </a:p>
                  </a:txBody>
                  <a:tcPr marL="47625" marR="38100" marT="19050" marB="19050" anchor="ctr">
                    <a:solidFill>
                      <a:srgbClr val="FFFFFF"/>
                    </a:solidFill>
                  </a:tcPr>
                </a:tc>
                <a:tc>
                  <a:txBody>
                    <a:bodyPr/>
                    <a:lstStyle/>
                    <a:p>
                      <a:pPr algn="l"/>
                      <a:r>
                        <a:rPr sz="1100" b="1">
                          <a:solidFill>
                            <a:srgbClr val="2E7D32"/>
                          </a:solidFill>
                          <a:latin typeface="Calibri"/>
                        </a:rPr>
                        <a:t>▲ 6.1%</a:t>
                      </a:r>
                      <a:endParaRPr sz="1100"/>
                    </a:p>
                  </a:txBody>
                  <a:tcPr marL="47625" marR="38100" marT="19050" marB="19050" anchor="ctr">
                    <a:solidFill>
                      <a:srgbClr val="FFFFFF"/>
                    </a:solidFill>
                  </a:tcPr>
                </a:tc>
                <a:tc>
                  <a:txBody>
                    <a:bodyPr/>
                    <a:lstStyle/>
                    <a:p>
                      <a:pPr algn="l"/>
                      <a:r>
                        <a:rPr sz="1100" b="1">
                          <a:solidFill>
                            <a:srgbClr val="2E7D32"/>
                          </a:solidFill>
                          <a:latin typeface="Calibri"/>
                        </a:rPr>
                        <a:t>▲ 5.9%</a:t>
                      </a:r>
                      <a:endParaRPr sz="1100"/>
                    </a:p>
                  </a:txBody>
                  <a:tcPr marL="47625" marR="38100" marT="19050" marB="19050" anchor="ctr">
                    <a:solidFill>
                      <a:srgbClr val="FFFFFF"/>
                    </a:solidFill>
                  </a:tcPr>
                </a:tc>
                <a:tc>
                  <a:txBody>
                    <a:bodyPr/>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a:lstStyle/>
                    <a:p>
                      <a:pPr algn="l"/>
                      <a:r>
                        <a:rPr sz="1100" b="1">
                          <a:solidFill>
                            <a:srgbClr val="2E7D32"/>
                          </a:solidFill>
                          <a:latin typeface="Calibri"/>
                        </a:rPr>
                        <a:t>▲ 6.1%</a:t>
                      </a:r>
                      <a:endParaRPr sz="1100"/>
                    </a:p>
                  </a:txBody>
                  <a:tcPr marL="47625" marR="38100" marT="19050" marB="19050" anchor="ctr">
                    <a:solidFill>
                      <a:srgbClr val="FFFFFF"/>
                    </a:solidFill>
                  </a:tcPr>
                </a:tc>
                <a:tc>
                  <a:txBody>
                    <a:bodyPr/>
                    <a:lstStyle/>
                    <a:p>
                      <a:pPr algn="l"/>
                      <a:r>
                        <a:rPr sz="1100" b="1">
                          <a:solidFill>
                            <a:srgbClr val="2E7D32"/>
                          </a:solidFill>
                          <a:latin typeface="Calibri"/>
                        </a:rPr>
                        <a:t>▲ 6.5%</a:t>
                      </a:r>
                      <a:endParaRPr sz="1100"/>
                    </a:p>
                  </a:txBody>
                  <a:tcPr marL="47625" marR="38100" marT="19050" marB="19050" anchor="ctr">
                    <a:solidFill>
                      <a:srgbClr val="FFFFFF"/>
                    </a:solidFill>
                  </a:tcPr>
                </a:tc>
                <a:tc>
                  <a:txBody>
                    <a:bodyPr/>
                    <a:lstStyle/>
                    <a:p>
                      <a:pPr algn="l"/>
                      <a:r>
                        <a:rPr sz="1100" b="1">
                          <a:solidFill>
                            <a:srgbClr val="2E7D32"/>
                          </a:solidFill>
                          <a:latin typeface="Calibri"/>
                        </a:rPr>
                        <a:t>▲ 7.1%</a:t>
                      </a:r>
                      <a:endParaRPr sz="1100"/>
                    </a:p>
                  </a:txBody>
                  <a:tcPr marL="47625" marR="38100" marT="19050" marB="19050" anchor="ctr">
                    <a:solidFill>
                      <a:srgbClr val="FFFFFF"/>
                    </a:solidFill>
                  </a:tcPr>
                </a:tc>
                <a:tc>
                  <a:txBody>
                    <a:bodyPr/>
                    <a:lstStyle/>
                    <a:p>
                      <a:pPr algn="l"/>
                      <a:r>
                        <a:rPr sz="1100" b="1">
                          <a:solidFill>
                            <a:srgbClr val="2E7D32"/>
                          </a:solidFill>
                          <a:latin typeface="Calibri"/>
                        </a:rPr>
                        <a:t>▲ 7.6%</a:t>
                      </a:r>
                      <a:endParaRPr sz="1100"/>
                    </a:p>
                  </a:txBody>
                  <a:tcPr marL="47625" marR="38100" marT="19050" marB="19050" anchor="ctr">
                    <a:solidFill>
                      <a:srgbClr val="FFFFFF"/>
                    </a:solidFill>
                  </a:tcPr>
                </a:tc>
                <a:tc>
                  <a:txBody>
                    <a:bodyPr/>
                    <a:lstStyle/>
                    <a:p>
                      <a:pPr algn="l"/>
                      <a:r>
                        <a:rPr sz="1100" b="1">
                          <a:solidFill>
                            <a:srgbClr val="2E7D32"/>
                          </a:solidFill>
                          <a:latin typeface="Calibri"/>
                        </a:rPr>
                        <a:t>▲ 7.6%</a:t>
                      </a:r>
                      <a:endParaRPr sz="1100"/>
                    </a:p>
                  </a:txBody>
                  <a:tcPr marL="47625" marR="38100" marT="19050" marB="19050" anchor="ctr">
                    <a:solidFill>
                      <a:srgbClr val="FFFFFF"/>
                    </a:solidFill>
                  </a:tcPr>
                </a:tc>
                <a:tc>
                  <a:txBody>
                    <a:bodyPr/>
                    <a:lstStyle/>
                    <a:p>
                      <a:pPr algn="l"/>
                      <a:r>
                        <a:rPr sz="1100" b="1">
                          <a:solidFill>
                            <a:srgbClr val="2E7D32"/>
                          </a:solidFill>
                          <a:latin typeface="Calibri"/>
                        </a:rPr>
                        <a:t>▲ 7.4%</a:t>
                      </a:r>
                      <a:endParaRPr sz="1100"/>
                    </a:p>
                  </a:txBody>
                  <a:tcPr marL="47625" marR="38100" marT="19050" marB="19050" anchor="ctr">
                    <a:solidFill>
                      <a:srgbClr val="FFFFFF"/>
                    </a:solidFill>
                  </a:tcPr>
                </a:tc>
                <a:tc>
                  <a:txBody>
                    <a:bodyPr/>
                    <a:lstStyle/>
                    <a:p>
                      <a:pPr algn="l"/>
                      <a:r>
                        <a:rPr sz="1100" b="1">
                          <a:solidFill>
                            <a:srgbClr val="2E7D32"/>
                          </a:solidFill>
                          <a:latin typeface="Calibri"/>
                        </a:rPr>
                        <a:t>▲ 7.0%</a:t>
                      </a:r>
                      <a:endParaRPr sz="1100"/>
                    </a:p>
                  </a:txBody>
                  <a:tcPr marL="47625" marR="38100" marT="19050" marB="19050" anchor="ctr">
                    <a:solidFill>
                      <a:srgbClr val="FFFFFF"/>
                    </a:solidFill>
                  </a:tcPr>
                </a:tc>
                <a:tc>
                  <a:txBody>
                    <a:bodyPr/>
                    <a:lstStyle/>
                    <a:p>
                      <a:pPr algn="l"/>
                      <a:r>
                        <a:rPr sz="1100" b="1">
                          <a:solidFill>
                            <a:srgbClr val="2E7D32"/>
                          </a:solidFill>
                          <a:latin typeface="Calibri"/>
                        </a:rPr>
                        <a:t>▲ 6.8%</a:t>
                      </a:r>
                      <a:endParaRPr sz="1100"/>
                    </a:p>
                  </a:txBody>
                  <a:tcPr marL="47625" marR="38100" marT="19050" marB="19050" anchor="ctr">
                    <a:solidFill>
                      <a:srgbClr val="FFFFFF"/>
                    </a:solidFill>
                  </a:tcPr>
                </a:tc>
                <a:tc>
                  <a:txBody>
                    <a:bodyPr/>
                    <a:lstStyle/>
                    <a:p>
                      <a:pPr algn="l"/>
                      <a:r>
                        <a:rPr sz="1100" b="1">
                          <a:solidFill>
                            <a:srgbClr val="2E7D32"/>
                          </a:solidFill>
                          <a:latin typeface="Calibri"/>
                        </a:rPr>
                        <a:t>▲ 6.6%</a:t>
                      </a:r>
                      <a:endParaRPr sz="1100"/>
                    </a:p>
                  </a:txBody>
                  <a:tcPr marL="47625" marR="38100" marT="19050" marB="19050" anchor="ctr">
                    <a:solidFill>
                      <a:srgbClr val="FFFFFF"/>
                    </a:solidFill>
                  </a:tcPr>
                </a:tc>
                <a:tc>
                  <a:txBody>
                    <a:bodyPr/>
                    <a:lstStyle/>
                    <a:p>
                      <a:pPr algn="l"/>
                      <a:r>
                        <a:rPr sz="1100" b="1">
                          <a:solidFill>
                            <a:srgbClr val="2E7D32"/>
                          </a:solidFill>
                          <a:latin typeface="Calibri"/>
                        </a:rPr>
                        <a:t>▲ 6.4%</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15537">
                <a:tc>
                  <a:txBody>
                    <a:bodyPr/>
                    <a:lstStyle/>
                    <a:p>
                      <a:pPr algn="l"/>
                      <a:r>
                        <a:rPr sz="1100" b="1">
                          <a:solidFill>
                            <a:srgbClr val="2E2E2E"/>
                          </a:solidFill>
                          <a:latin typeface="Calibri"/>
                        </a:rPr>
                        <a:t>Tablet</a:t>
                      </a:r>
                      <a:endParaRPr sz="1100"/>
                    </a:p>
                  </a:txBody>
                  <a:tcPr marL="47625" marR="38100" marT="19050" marB="19050" anchor="ctr">
                    <a:solidFill>
                      <a:srgbClr val="F5F8FA"/>
                    </a:solidFill>
                  </a:tcPr>
                </a:tc>
                <a:tc>
                  <a:txBody>
                    <a:bodyPr/>
                    <a:lstStyle/>
                    <a:p>
                      <a:pPr algn="l"/>
                      <a:r>
                        <a:rPr sz="1100" b="1">
                          <a:solidFill>
                            <a:srgbClr val="A86F00"/>
                          </a:solidFill>
                          <a:latin typeface="Calibri"/>
                        </a:rPr>
                        <a:t>▶ 2.7%</a:t>
                      </a:r>
                      <a:endParaRPr sz="1100"/>
                    </a:p>
                  </a:txBody>
                  <a:tcPr marL="47625" marR="38100" marT="19050" marB="19050" anchor="ctr">
                    <a:solidFill>
                      <a:srgbClr val="F5F8FA"/>
                    </a:solidFill>
                  </a:tcPr>
                </a:tc>
                <a:tc>
                  <a:txBody>
                    <a:bodyPr/>
                    <a:lstStyle/>
                    <a:p>
                      <a:pPr algn="l"/>
                      <a:r>
                        <a:rPr sz="1100" b="1">
                          <a:solidFill>
                            <a:srgbClr val="A86F00"/>
                          </a:solidFill>
                          <a:latin typeface="Calibri"/>
                        </a:rPr>
                        <a:t>▶ 2.8%</a:t>
                      </a:r>
                      <a:endParaRPr sz="1100"/>
                    </a:p>
                  </a:txBody>
                  <a:tcPr marL="47625" marR="38100" marT="19050" marB="19050" anchor="ctr">
                    <a:solidFill>
                      <a:srgbClr val="F5F8FA"/>
                    </a:solidFill>
                  </a:tcPr>
                </a:tc>
                <a:tc>
                  <a:txBody>
                    <a:bodyPr/>
                    <a:lstStyle/>
                    <a:p>
                      <a:pPr algn="l"/>
                      <a:r>
                        <a:rPr sz="1100" b="1">
                          <a:solidFill>
                            <a:srgbClr val="A86F00"/>
                          </a:solidFill>
                          <a:latin typeface="Calibri"/>
                        </a:rPr>
                        <a:t>▶ 2.9%</a:t>
                      </a:r>
                      <a:endParaRPr sz="1100"/>
                    </a:p>
                  </a:txBody>
                  <a:tcPr marL="47625" marR="38100" marT="19050" marB="19050" anchor="ctr">
                    <a:solidFill>
                      <a:srgbClr val="F5F8FA"/>
                    </a:solidFill>
                  </a:tcPr>
                </a:tc>
                <a:tc>
                  <a:txBody>
                    <a:bodyPr/>
                    <a:lstStyle/>
                    <a:p>
                      <a:pPr algn="l"/>
                      <a:r>
                        <a:rPr sz="1100" b="1">
                          <a:solidFill>
                            <a:srgbClr val="A86F00"/>
                          </a:solidFill>
                          <a:latin typeface="Calibri"/>
                        </a:rPr>
                        <a:t>▶ 2.9%</a:t>
                      </a:r>
                      <a:endParaRPr sz="1100"/>
                    </a:p>
                  </a:txBody>
                  <a:tcPr marL="47625" marR="38100" marT="19050" marB="19050" anchor="ctr">
                    <a:solidFill>
                      <a:srgbClr val="F5F8FA"/>
                    </a:solidFill>
                  </a:tcPr>
                </a:tc>
                <a:tc>
                  <a:txBody>
                    <a:bodyPr/>
                    <a:lstStyle/>
                    <a:p>
                      <a:pPr algn="l"/>
                      <a:r>
                        <a:rPr sz="1100" b="1">
                          <a:solidFill>
                            <a:srgbClr val="A86F00"/>
                          </a:solidFill>
                          <a:latin typeface="Calibri"/>
                        </a:rPr>
                        <a:t>▶ 2.8%</a:t>
                      </a:r>
                      <a:endParaRPr sz="1100"/>
                    </a:p>
                  </a:txBody>
                  <a:tcPr marL="47625" marR="38100" marT="19050" marB="19050" anchor="ctr">
                    <a:solidFill>
                      <a:srgbClr val="F5F8FA"/>
                    </a:solidFill>
                  </a:tcPr>
                </a:tc>
                <a:tc>
                  <a:txBody>
                    <a:bodyPr/>
                    <a:lstStyle/>
                    <a:p>
                      <a:pPr algn="l"/>
                      <a:r>
                        <a:rPr sz="1100" b="1">
                          <a:solidFill>
                            <a:srgbClr val="A86F00"/>
                          </a:solidFill>
                          <a:latin typeface="Calibri"/>
                        </a:rPr>
                        <a:t>▶ 2.7%</a:t>
                      </a:r>
                      <a:endParaRPr sz="1100"/>
                    </a:p>
                  </a:txBody>
                  <a:tcPr marL="47625" marR="38100" marT="19050" marB="19050" anchor="ctr">
                    <a:solidFill>
                      <a:srgbClr val="F5F8FA"/>
                    </a:solidFill>
                  </a:tcPr>
                </a:tc>
                <a:tc>
                  <a:txBody>
                    <a:bodyPr/>
                    <a:lstStyle/>
                    <a:p>
                      <a:pPr algn="l"/>
                      <a:r>
                        <a:rPr sz="1100" b="1">
                          <a:solidFill>
                            <a:srgbClr val="A86F00"/>
                          </a:solidFill>
                          <a:latin typeface="Calibri"/>
                        </a:rPr>
                        <a:t>▶ 2.7%</a:t>
                      </a:r>
                      <a:endParaRPr sz="1100"/>
                    </a:p>
                  </a:txBody>
                  <a:tcPr marL="47625" marR="38100" marT="19050" marB="19050" anchor="ctr">
                    <a:solidFill>
                      <a:srgbClr val="F5F8FA"/>
                    </a:solidFill>
                  </a:tcPr>
                </a:tc>
                <a:tc>
                  <a:txBody>
                    <a:bodyPr/>
                    <a:lstStyle/>
                    <a:p>
                      <a:pPr algn="l"/>
                      <a:r>
                        <a:rPr sz="1100" b="1">
                          <a:solidFill>
                            <a:srgbClr val="A86F00"/>
                          </a:solidFill>
                          <a:latin typeface="Calibri"/>
                        </a:rPr>
                        <a:t>▶ 2.8%</a:t>
                      </a:r>
                      <a:endParaRPr sz="1100"/>
                    </a:p>
                  </a:txBody>
                  <a:tcPr marL="47625" marR="38100" marT="19050" marB="19050" anchor="ctr">
                    <a:solidFill>
                      <a:srgbClr val="F5F8FA"/>
                    </a:solidFill>
                  </a:tcPr>
                </a:tc>
                <a:tc>
                  <a:txBody>
                    <a:bodyPr/>
                    <a:lstStyle/>
                    <a:p>
                      <a:pPr algn="l"/>
                      <a:r>
                        <a:rPr sz="1100" b="1">
                          <a:solidFill>
                            <a:srgbClr val="A86F00"/>
                          </a:solidFill>
                          <a:latin typeface="Calibri"/>
                        </a:rPr>
                        <a:t>▶ 3.0%</a:t>
                      </a:r>
                      <a:endParaRPr sz="1100"/>
                    </a:p>
                  </a:txBody>
                  <a:tcPr marL="47625" marR="38100" marT="19050" marB="19050" anchor="ctr">
                    <a:solidFill>
                      <a:srgbClr val="F5F8FA"/>
                    </a:solidFill>
                  </a:tcPr>
                </a:tc>
                <a:tc>
                  <a:txBody>
                    <a:bodyPr/>
                    <a:lstStyle/>
                    <a:p>
                      <a:pPr algn="l"/>
                      <a:r>
                        <a:rPr sz="1100" b="1">
                          <a:solidFill>
                            <a:srgbClr val="A86F00"/>
                          </a:solidFill>
                          <a:latin typeface="Calibri"/>
                        </a:rPr>
                        <a:t>▶ 3.1%</a:t>
                      </a:r>
                      <a:endParaRPr sz="1100"/>
                    </a:p>
                  </a:txBody>
                  <a:tcPr marL="47625" marR="38100" marT="19050" marB="19050" anchor="ctr">
                    <a:solidFill>
                      <a:srgbClr val="F5F8FA"/>
                    </a:solidFill>
                  </a:tcPr>
                </a:tc>
                <a:tc>
                  <a:txBody>
                    <a:bodyPr/>
                    <a:lstStyle/>
                    <a:p>
                      <a:pPr algn="l"/>
                      <a:r>
                        <a:rPr sz="1100" b="1">
                          <a:solidFill>
                            <a:srgbClr val="A86F00"/>
                          </a:solidFill>
                          <a:latin typeface="Calibri"/>
                        </a:rPr>
                        <a:t>▶ 3.2%</a:t>
                      </a:r>
                      <a:endParaRPr sz="1100"/>
                    </a:p>
                  </a:txBody>
                  <a:tcPr marL="47625" marR="38100" marT="19050" marB="19050" anchor="ctr">
                    <a:solidFill>
                      <a:srgbClr val="F5F8FA"/>
                    </a:solidFill>
                  </a:tcPr>
                </a:tc>
                <a:tc>
                  <a:txBody>
                    <a:bodyPr/>
                    <a:lstStyle/>
                    <a:p>
                      <a:pPr algn="l"/>
                      <a:r>
                        <a:rPr sz="1100" b="1">
                          <a:solidFill>
                            <a:srgbClr val="A86F00"/>
                          </a:solidFill>
                          <a:latin typeface="Calibri"/>
                        </a:rPr>
                        <a:t>▶ 3.1%</a:t>
                      </a:r>
                      <a:endParaRPr sz="1100"/>
                    </a:p>
                  </a:txBody>
                  <a:tcPr marL="47625" marR="38100" marT="19050" marB="19050" anchor="ctr">
                    <a:solidFill>
                      <a:srgbClr val="F5F8FA"/>
                    </a:solidFill>
                  </a:tcPr>
                </a:tc>
                <a:tc>
                  <a:txBody>
                    <a:bodyPr/>
                    <a:lstStyle/>
                    <a:p>
                      <a:pPr algn="l"/>
                      <a:r>
                        <a:rPr sz="1100" b="1">
                          <a:solidFill>
                            <a:srgbClr val="A86F00"/>
                          </a:solidFill>
                          <a:latin typeface="Calibri"/>
                        </a:rPr>
                        <a:t>▶ 3.0%</a:t>
                      </a:r>
                      <a:endParaRPr sz="1100"/>
                    </a:p>
                  </a:txBody>
                  <a:tcPr marL="47625" marR="38100" marT="19050" marB="19050" anchor="ctr">
                    <a:solidFill>
                      <a:srgbClr val="F5F8FA"/>
                    </a:solidFill>
                  </a:tcPr>
                </a:tc>
                <a:tc>
                  <a:txBody>
                    <a:bodyPr/>
                    <a:lstStyle/>
                    <a:p>
                      <a:pPr algn="l"/>
                      <a:r>
                        <a:rPr sz="1100" b="1">
                          <a:solidFill>
                            <a:srgbClr val="A86F00"/>
                          </a:solidFill>
                          <a:latin typeface="Calibri"/>
                        </a:rPr>
                        <a:t>▶ 2.9%</a:t>
                      </a:r>
                      <a:endParaRPr sz="1100"/>
                    </a:p>
                  </a:txBody>
                  <a:tcPr marL="47625" marR="38100" marT="19050" marB="19050" anchor="ctr">
                    <a:solidFill>
                      <a:srgbClr val="F5F8FA"/>
                    </a:solidFill>
                  </a:tcPr>
                </a:tc>
                <a:tc>
                  <a:txBody>
                    <a:bodyPr/>
                    <a:lstStyle/>
                    <a:p>
                      <a:pPr algn="l"/>
                      <a:r>
                        <a:rPr sz="1100" b="1">
                          <a:solidFill>
                            <a:srgbClr val="A86F00"/>
                          </a:solidFill>
                          <a:latin typeface="Calibri"/>
                        </a:rPr>
                        <a:t>▶ 2.8%</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15537">
                <a:tc>
                  <a:txBody>
                    <a:bodyPr/>
                    <a:lstStyle/>
                    <a:p>
                      <a:pPr algn="l"/>
                      <a:r>
                        <a:rPr sz="1100" b="1">
                          <a:solidFill>
                            <a:srgbClr val="2E2E2E"/>
                          </a:solidFill>
                          <a:latin typeface="Calibri"/>
                        </a:rPr>
                        <a:t>Softgels</a:t>
                      </a:r>
                      <a:endParaRPr sz="1100"/>
                    </a:p>
                  </a:txBody>
                  <a:tcPr marL="47625" marR="38100" marT="19050" marB="19050" anchor="ctr">
                    <a:solidFill>
                      <a:srgbClr val="FFFFFF"/>
                    </a:solidFill>
                  </a:tcPr>
                </a:tc>
                <a:tc>
                  <a:txBody>
                    <a:bodyPr/>
                    <a:lstStyle/>
                    <a:p>
                      <a:pPr algn="l"/>
                      <a:r>
                        <a:rPr sz="1100" b="1">
                          <a:solidFill>
                            <a:srgbClr val="2E7D32"/>
                          </a:solidFill>
                          <a:latin typeface="Calibri"/>
                        </a:rPr>
                        <a:t>▲ 4.6%</a:t>
                      </a:r>
                      <a:endParaRPr sz="1100"/>
                    </a:p>
                  </a:txBody>
                  <a:tcPr marL="47625" marR="38100" marT="19050" marB="19050" anchor="ctr">
                    <a:solidFill>
                      <a:srgbClr val="FFFFFF"/>
                    </a:solidFill>
                  </a:tcPr>
                </a:tc>
                <a:tc>
                  <a:txBody>
                    <a:bodyPr/>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a:lstStyle/>
                    <a:p>
                      <a:pPr algn="l"/>
                      <a:r>
                        <a:rPr sz="1100" b="1">
                          <a:solidFill>
                            <a:srgbClr val="A86F00"/>
                          </a:solidFill>
                          <a:latin typeface="Calibri"/>
                        </a:rPr>
                        <a:t>▶ 4.5%</a:t>
                      </a:r>
                      <a:endParaRPr sz="1100"/>
                    </a:p>
                  </a:txBody>
                  <a:tcPr marL="47625" marR="38100" marT="19050" marB="19050" anchor="ctr">
                    <a:solidFill>
                      <a:srgbClr val="FFFFFF"/>
                    </a:solidFill>
                  </a:tcPr>
                </a:tc>
                <a:tc>
                  <a:txBody>
                    <a:bodyPr/>
                    <a:lstStyle/>
                    <a:p>
                      <a:pPr algn="l"/>
                      <a:r>
                        <a:rPr sz="1100" b="1">
                          <a:solidFill>
                            <a:srgbClr val="A86F00"/>
                          </a:solidFill>
                          <a:latin typeface="Calibri"/>
                        </a:rPr>
                        <a:t>▶ 4.8%</a:t>
                      </a:r>
                      <a:endParaRPr sz="1100"/>
                    </a:p>
                  </a:txBody>
                  <a:tcPr marL="47625" marR="38100" marT="19050" marB="19050" anchor="ctr">
                    <a:solidFill>
                      <a:srgbClr val="FFFFFF"/>
                    </a:solidFill>
                  </a:tcPr>
                </a:tc>
                <a:tc>
                  <a:txBody>
                    <a:bodyPr/>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a:lstStyle/>
                    <a:p>
                      <a:pPr algn="l"/>
                      <a:r>
                        <a:rPr sz="1100" b="1">
                          <a:solidFill>
                            <a:srgbClr val="A86F00"/>
                          </a:solidFill>
                          <a:latin typeface="Calibri"/>
                        </a:rPr>
                        <a:t>▶ 4.8%</a:t>
                      </a:r>
                      <a:endParaRPr sz="1100"/>
                    </a:p>
                  </a:txBody>
                  <a:tcPr marL="47625" marR="38100" marT="19050" marB="19050" anchor="ctr">
                    <a:solidFill>
                      <a:srgbClr val="FFFFFF"/>
                    </a:solidFill>
                  </a:tcPr>
                </a:tc>
                <a:tc>
                  <a:txBody>
                    <a:bodyPr/>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a:lstStyle/>
                    <a:p>
                      <a:pPr algn="l"/>
                      <a:r>
                        <a:rPr sz="1100" b="1">
                          <a:solidFill>
                            <a:srgbClr val="A86F00"/>
                          </a:solidFill>
                          <a:latin typeface="Calibri"/>
                        </a:rPr>
                        <a:t>▶ 4.8%</a:t>
                      </a:r>
                      <a:endParaRPr sz="1100"/>
                    </a:p>
                  </a:txBody>
                  <a:tcPr marL="47625" marR="38100" marT="19050" marB="19050" anchor="ctr">
                    <a:solidFill>
                      <a:srgbClr val="FFFFFF"/>
                    </a:solidFill>
                  </a:tcPr>
                </a:tc>
                <a:tc>
                  <a:txBody>
                    <a:bodyPr/>
                    <a:lstStyle/>
                    <a:p>
                      <a:pPr algn="l"/>
                      <a:r>
                        <a:rPr sz="1100" b="1">
                          <a:solidFill>
                            <a:srgbClr val="A86F00"/>
                          </a:solidFill>
                          <a:latin typeface="Calibri"/>
                        </a:rPr>
                        <a:t>▶ 4.8%</a:t>
                      </a:r>
                      <a:endParaRPr sz="1100"/>
                    </a:p>
                  </a:txBody>
                  <a:tcPr marL="47625" marR="38100" marT="19050" marB="19050" anchor="ctr">
                    <a:solidFill>
                      <a:srgbClr val="FFFFFF"/>
                    </a:solidFill>
                  </a:tcPr>
                </a:tc>
                <a:tc>
                  <a:txBody>
                    <a:bodyPr/>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a:lstStyle/>
                    <a:p>
                      <a:pPr algn="l"/>
                      <a:r>
                        <a:rPr sz="1100" b="1">
                          <a:solidFill>
                            <a:srgbClr val="A86F00"/>
                          </a:solidFill>
                          <a:latin typeface="Calibri"/>
                        </a:rPr>
                        <a:t>▶ 4.4%</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15537">
                <a:tc>
                  <a:txBody>
                    <a:bodyPr/>
                    <a:lstStyle/>
                    <a:p>
                      <a:pPr algn="l"/>
                      <a:r>
                        <a:rPr sz="1100" b="1">
                          <a:solidFill>
                            <a:srgbClr val="2E2E2E"/>
                          </a:solidFill>
                          <a:latin typeface="Calibri"/>
                        </a:rPr>
                        <a:t>Gummies</a:t>
                      </a:r>
                      <a:endParaRPr sz="1100"/>
                    </a:p>
                  </a:txBody>
                  <a:tcPr marL="47625" marR="38100" marT="19050" marB="19050" anchor="ctr">
                    <a:solidFill>
                      <a:srgbClr val="F5F8FA"/>
                    </a:solidFill>
                  </a:tcPr>
                </a:tc>
                <a:tc>
                  <a:txBody>
                    <a:bodyPr/>
                    <a:lstStyle/>
                    <a:p>
                      <a:pPr algn="l"/>
                      <a:r>
                        <a:rPr sz="1100" b="1">
                          <a:solidFill>
                            <a:srgbClr val="2E7D32"/>
                          </a:solidFill>
                          <a:latin typeface="Calibri"/>
                        </a:rPr>
                        <a:t>▲ 5.9%</a:t>
                      </a:r>
                      <a:endParaRPr sz="1100"/>
                    </a:p>
                  </a:txBody>
                  <a:tcPr marL="47625" marR="38100" marT="19050" marB="19050" anchor="ctr">
                    <a:solidFill>
                      <a:srgbClr val="F5F8FA"/>
                    </a:solidFill>
                  </a:tcPr>
                </a:tc>
                <a:tc>
                  <a:txBody>
                    <a:bodyPr/>
                    <a:lstStyle/>
                    <a:p>
                      <a:pPr algn="l"/>
                      <a:r>
                        <a:rPr sz="1100" b="1">
                          <a:solidFill>
                            <a:srgbClr val="2E7D32"/>
                          </a:solidFill>
                          <a:latin typeface="Calibri"/>
                        </a:rPr>
                        <a:t>▲ 5.9%</a:t>
                      </a:r>
                      <a:endParaRPr sz="1100"/>
                    </a:p>
                  </a:txBody>
                  <a:tcPr marL="47625" marR="38100" marT="19050" marB="19050" anchor="ctr">
                    <a:solidFill>
                      <a:srgbClr val="F5F8FA"/>
                    </a:solidFill>
                  </a:tcPr>
                </a:tc>
                <a:tc>
                  <a:txBody>
                    <a:bodyPr/>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a:lstStyle/>
                    <a:p>
                      <a:pPr algn="l"/>
                      <a:r>
                        <a:rPr sz="1100" b="1">
                          <a:solidFill>
                            <a:srgbClr val="2E7D32"/>
                          </a:solidFill>
                          <a:latin typeface="Calibri"/>
                        </a:rPr>
                        <a:t>▲ 6.3%</a:t>
                      </a:r>
                      <a:endParaRPr sz="1100"/>
                    </a:p>
                  </a:txBody>
                  <a:tcPr marL="47625" marR="38100" marT="19050" marB="19050" anchor="ctr">
                    <a:solidFill>
                      <a:srgbClr val="F5F8FA"/>
                    </a:solidFill>
                  </a:tcPr>
                </a:tc>
                <a:tc>
                  <a:txBody>
                    <a:bodyPr/>
                    <a:lstStyle/>
                    <a:p>
                      <a:pPr algn="l"/>
                      <a:r>
                        <a:rPr sz="1100" b="1">
                          <a:solidFill>
                            <a:srgbClr val="2E7D32"/>
                          </a:solidFill>
                          <a:latin typeface="Calibri"/>
                        </a:rPr>
                        <a:t>▲ 6.6%</a:t>
                      </a:r>
                      <a:endParaRPr sz="1100"/>
                    </a:p>
                  </a:txBody>
                  <a:tcPr marL="47625" marR="38100" marT="19050" marB="19050" anchor="ctr">
                    <a:solidFill>
                      <a:srgbClr val="F5F8FA"/>
                    </a:solidFill>
                  </a:tcPr>
                </a:tc>
                <a:tc>
                  <a:txBody>
                    <a:bodyPr/>
                    <a:lstStyle/>
                    <a:p>
                      <a:pPr algn="l"/>
                      <a:r>
                        <a:rPr sz="1100" b="1">
                          <a:solidFill>
                            <a:srgbClr val="2E7D32"/>
                          </a:solidFill>
                          <a:latin typeface="Calibri"/>
                        </a:rPr>
                        <a:t>▲ 6.9%</a:t>
                      </a:r>
                      <a:endParaRPr sz="1100"/>
                    </a:p>
                  </a:txBody>
                  <a:tcPr marL="47625" marR="38100" marT="19050" marB="19050" anchor="ctr">
                    <a:solidFill>
                      <a:srgbClr val="F5F8FA"/>
                    </a:solidFill>
                  </a:tcPr>
                </a:tc>
                <a:tc>
                  <a:txBody>
                    <a:bodyPr/>
                    <a:lstStyle/>
                    <a:p>
                      <a:pPr algn="l"/>
                      <a:r>
                        <a:rPr sz="1100" b="1">
                          <a:solidFill>
                            <a:srgbClr val="2E7D32"/>
                          </a:solidFill>
                          <a:latin typeface="Calibri"/>
                        </a:rPr>
                        <a:t>▲ 7.2%</a:t>
                      </a:r>
                      <a:endParaRPr sz="1100"/>
                    </a:p>
                  </a:txBody>
                  <a:tcPr marL="47625" marR="38100" marT="19050" marB="19050" anchor="ctr">
                    <a:solidFill>
                      <a:srgbClr val="F5F8FA"/>
                    </a:solidFill>
                  </a:tcPr>
                </a:tc>
                <a:tc>
                  <a:txBody>
                    <a:bodyPr/>
                    <a:lstStyle/>
                    <a:p>
                      <a:pPr algn="l"/>
                      <a:r>
                        <a:rPr sz="1100" b="1">
                          <a:solidFill>
                            <a:srgbClr val="2E7D32"/>
                          </a:solidFill>
                          <a:latin typeface="Calibri"/>
                        </a:rPr>
                        <a:t>▲ 7.6%</a:t>
                      </a:r>
                      <a:endParaRPr sz="1100"/>
                    </a:p>
                  </a:txBody>
                  <a:tcPr marL="47625" marR="38100" marT="19050" marB="19050" anchor="ctr">
                    <a:solidFill>
                      <a:srgbClr val="F5F8FA"/>
                    </a:solidFill>
                  </a:tcPr>
                </a:tc>
                <a:tc>
                  <a:txBody>
                    <a:bodyPr/>
                    <a:lstStyle/>
                    <a:p>
                      <a:pPr algn="l"/>
                      <a:r>
                        <a:rPr sz="1100" b="1">
                          <a:solidFill>
                            <a:srgbClr val="2E7D32"/>
                          </a:solidFill>
                          <a:latin typeface="Calibri"/>
                        </a:rPr>
                        <a:t>▲ 8.1%</a:t>
                      </a:r>
                      <a:endParaRPr sz="1100"/>
                    </a:p>
                  </a:txBody>
                  <a:tcPr marL="47625" marR="38100" marT="19050" marB="19050" anchor="ctr">
                    <a:solidFill>
                      <a:srgbClr val="F5F8FA"/>
                    </a:solidFill>
                  </a:tcPr>
                </a:tc>
                <a:tc>
                  <a:txBody>
                    <a:bodyPr/>
                    <a:lstStyle/>
                    <a:p>
                      <a:pPr algn="l"/>
                      <a:r>
                        <a:rPr sz="1100" b="1">
                          <a:solidFill>
                            <a:srgbClr val="2E7D32"/>
                          </a:solidFill>
                          <a:latin typeface="Calibri"/>
                        </a:rPr>
                        <a:t>▲ 8.6%</a:t>
                      </a:r>
                      <a:endParaRPr sz="1100"/>
                    </a:p>
                  </a:txBody>
                  <a:tcPr marL="47625" marR="38100" marT="19050" marB="19050" anchor="ctr">
                    <a:solidFill>
                      <a:srgbClr val="F5F8FA"/>
                    </a:solidFill>
                  </a:tcPr>
                </a:tc>
                <a:tc>
                  <a:txBody>
                    <a:bodyPr/>
                    <a:lstStyle/>
                    <a:p>
                      <a:pPr algn="l"/>
                      <a:r>
                        <a:rPr sz="1100" b="1">
                          <a:solidFill>
                            <a:srgbClr val="2E7D32"/>
                          </a:solidFill>
                          <a:latin typeface="Calibri"/>
                        </a:rPr>
                        <a:t>▲ 9.0%</a:t>
                      </a:r>
                      <a:endParaRPr sz="1100"/>
                    </a:p>
                  </a:txBody>
                  <a:tcPr marL="47625" marR="38100" marT="19050" marB="19050" anchor="ctr">
                    <a:solidFill>
                      <a:srgbClr val="F5F8FA"/>
                    </a:solidFill>
                  </a:tcPr>
                </a:tc>
                <a:tc>
                  <a:txBody>
                    <a:bodyPr/>
                    <a:lstStyle/>
                    <a:p>
                      <a:pPr algn="l"/>
                      <a:r>
                        <a:rPr sz="1100" b="1">
                          <a:solidFill>
                            <a:srgbClr val="2E7D32"/>
                          </a:solidFill>
                          <a:latin typeface="Calibri"/>
                        </a:rPr>
                        <a:t>▲ 9.2%</a:t>
                      </a:r>
                      <a:endParaRPr sz="1100"/>
                    </a:p>
                  </a:txBody>
                  <a:tcPr marL="47625" marR="38100" marT="19050" marB="19050" anchor="ctr">
                    <a:solidFill>
                      <a:srgbClr val="F5F8FA"/>
                    </a:solidFill>
                  </a:tcPr>
                </a:tc>
                <a:tc>
                  <a:txBody>
                    <a:bodyPr/>
                    <a:lstStyle/>
                    <a:p>
                      <a:pPr algn="l"/>
                      <a:r>
                        <a:rPr sz="1100" b="1">
                          <a:solidFill>
                            <a:srgbClr val="2E7D32"/>
                          </a:solidFill>
                          <a:latin typeface="Calibri"/>
                        </a:rPr>
                        <a:t>▲ 9.2%</a:t>
                      </a:r>
                      <a:endParaRPr sz="1100"/>
                    </a:p>
                  </a:txBody>
                  <a:tcPr marL="47625" marR="38100" marT="19050" marB="19050" anchor="ctr">
                    <a:solidFill>
                      <a:srgbClr val="F5F8FA"/>
                    </a:solidFill>
                  </a:tcPr>
                </a:tc>
                <a:tc>
                  <a:txBody>
                    <a:bodyPr/>
                    <a:lstStyle/>
                    <a:p>
                      <a:pPr algn="l"/>
                      <a:r>
                        <a:rPr sz="1100" b="1">
                          <a:solidFill>
                            <a:srgbClr val="2E7D32"/>
                          </a:solidFill>
                          <a:latin typeface="Calibri"/>
                        </a:rPr>
                        <a:t>▲ 8.9%</a:t>
                      </a:r>
                      <a:endParaRPr sz="1100"/>
                    </a:p>
                  </a:txBody>
                  <a:tcPr marL="47625" marR="38100" marT="19050" marB="19050" anchor="ctr">
                    <a:solidFill>
                      <a:srgbClr val="F5F8FA"/>
                    </a:solidFill>
                  </a:tcPr>
                </a:tc>
                <a:tc>
                  <a:txBody>
                    <a:bodyPr/>
                    <a:lstStyle/>
                    <a:p>
                      <a:pPr algn="l"/>
                      <a:r>
                        <a:rPr sz="1100" b="1">
                          <a:solidFill>
                            <a:srgbClr val="2E7D32"/>
                          </a:solidFill>
                          <a:latin typeface="Calibri"/>
                        </a:rPr>
                        <a:t>▲ 8.7%</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15537">
                <a:tc>
                  <a:txBody>
                    <a:bodyPr/>
                    <a:lstStyle/>
                    <a:p>
                      <a:pPr algn="l"/>
                      <a:r>
                        <a:rPr sz="1100" b="1">
                          <a:solidFill>
                            <a:srgbClr val="2E2E2E"/>
                          </a:solidFill>
                          <a:latin typeface="Calibri"/>
                        </a:rPr>
                        <a:t>Powder</a:t>
                      </a:r>
                      <a:endParaRPr sz="1100"/>
                    </a:p>
                  </a:txBody>
                  <a:tcPr marL="47625" marR="38100" marT="19050" marB="19050" anchor="ctr">
                    <a:solidFill>
                      <a:srgbClr val="FFFFFF"/>
                    </a:solidFill>
                  </a:tcPr>
                </a:tc>
                <a:tc>
                  <a:txBody>
                    <a:bodyPr/>
                    <a:lstStyle/>
                    <a:p>
                      <a:pPr algn="l"/>
                      <a:r>
                        <a:rPr sz="1100" b="1">
                          <a:solidFill>
                            <a:srgbClr val="2E7D32"/>
                          </a:solidFill>
                          <a:latin typeface="Calibri"/>
                        </a:rPr>
                        <a:t>▲ 6.2%</a:t>
                      </a:r>
                      <a:endParaRPr sz="1100"/>
                    </a:p>
                  </a:txBody>
                  <a:tcPr marL="47625" marR="38100" marT="19050" marB="19050" anchor="ctr">
                    <a:solidFill>
                      <a:srgbClr val="FFFFFF"/>
                    </a:solidFill>
                  </a:tcPr>
                </a:tc>
                <a:tc>
                  <a:txBody>
                    <a:bodyPr/>
                    <a:lstStyle/>
                    <a:p>
                      <a:pPr algn="l"/>
                      <a:r>
                        <a:rPr sz="1100" b="1">
                          <a:solidFill>
                            <a:srgbClr val="2E7D32"/>
                          </a:solidFill>
                          <a:latin typeface="Calibri"/>
                        </a:rPr>
                        <a:t>▲ 7.0%</a:t>
                      </a:r>
                      <a:endParaRPr sz="1100"/>
                    </a:p>
                  </a:txBody>
                  <a:tcPr marL="47625" marR="38100" marT="19050" marB="19050" anchor="ctr">
                    <a:solidFill>
                      <a:srgbClr val="FFFFFF"/>
                    </a:solidFill>
                  </a:tcPr>
                </a:tc>
                <a:tc>
                  <a:txBody>
                    <a:bodyPr/>
                    <a:lstStyle/>
                    <a:p>
                      <a:pPr algn="l"/>
                      <a:r>
                        <a:rPr sz="1100" b="1">
                          <a:solidFill>
                            <a:srgbClr val="2E7D32"/>
                          </a:solidFill>
                          <a:latin typeface="Calibri"/>
                        </a:rPr>
                        <a:t>▲ 7.8%</a:t>
                      </a:r>
                      <a:endParaRPr sz="1100"/>
                    </a:p>
                  </a:txBody>
                  <a:tcPr marL="47625" marR="38100" marT="19050" marB="19050" anchor="ctr">
                    <a:solidFill>
                      <a:srgbClr val="FFFFFF"/>
                    </a:solidFill>
                  </a:tcPr>
                </a:tc>
                <a:tc>
                  <a:txBody>
                    <a:bodyPr/>
                    <a:lstStyle/>
                    <a:p>
                      <a:pPr algn="l"/>
                      <a:r>
                        <a:rPr sz="1100" b="1">
                          <a:solidFill>
                            <a:srgbClr val="2E7D32"/>
                          </a:solidFill>
                          <a:latin typeface="Calibri"/>
                        </a:rPr>
                        <a:t>▲ 8.6%</a:t>
                      </a:r>
                      <a:endParaRPr sz="1100"/>
                    </a:p>
                  </a:txBody>
                  <a:tcPr marL="47625" marR="38100" marT="19050" marB="19050" anchor="ctr">
                    <a:solidFill>
                      <a:srgbClr val="FFFFFF"/>
                    </a:solidFill>
                  </a:tcPr>
                </a:tc>
                <a:tc>
                  <a:txBody>
                    <a:bodyPr/>
                    <a:lstStyle/>
                    <a:p>
                      <a:pPr algn="l"/>
                      <a:r>
                        <a:rPr sz="1100" b="1">
                          <a:solidFill>
                            <a:srgbClr val="2E7D32"/>
                          </a:solidFill>
                          <a:latin typeface="Calibri"/>
                        </a:rPr>
                        <a:t>▲ 9.6%</a:t>
                      </a:r>
                      <a:endParaRPr sz="1100"/>
                    </a:p>
                  </a:txBody>
                  <a:tcPr marL="47625" marR="38100" marT="19050" marB="19050" anchor="ctr">
                    <a:solidFill>
                      <a:srgbClr val="FFFFFF"/>
                    </a:solidFill>
                  </a:tcPr>
                </a:tc>
                <a:tc>
                  <a:txBody>
                    <a:bodyPr/>
                    <a:lstStyle/>
                    <a:p>
                      <a:pPr algn="l"/>
                      <a:r>
                        <a:rPr sz="1100" b="1">
                          <a:solidFill>
                            <a:srgbClr val="2E7D32"/>
                          </a:solidFill>
                          <a:latin typeface="Calibri"/>
                        </a:rPr>
                        <a:t>▲ 10.2%</a:t>
                      </a:r>
                      <a:endParaRPr sz="1100"/>
                    </a:p>
                  </a:txBody>
                  <a:tcPr marL="47625" marR="38100" marT="19050" marB="19050" anchor="ctr">
                    <a:solidFill>
                      <a:srgbClr val="FFFFFF"/>
                    </a:solidFill>
                  </a:tcPr>
                </a:tc>
                <a:tc>
                  <a:txBody>
                    <a:bodyPr/>
                    <a:lstStyle/>
                    <a:p>
                      <a:pPr algn="l"/>
                      <a:r>
                        <a:rPr sz="1100" b="1">
                          <a:solidFill>
                            <a:srgbClr val="2E7D32"/>
                          </a:solidFill>
                          <a:latin typeface="Calibri"/>
                        </a:rPr>
                        <a:t>▲ 10.9%</a:t>
                      </a:r>
                      <a:endParaRPr sz="1100"/>
                    </a:p>
                  </a:txBody>
                  <a:tcPr marL="47625" marR="38100" marT="19050" marB="19050" anchor="ctr">
                    <a:solidFill>
                      <a:srgbClr val="FFFFFF"/>
                    </a:solidFill>
                  </a:tcPr>
                </a:tc>
                <a:tc>
                  <a:txBody>
                    <a:bodyPr/>
                    <a:lstStyle/>
                    <a:p>
                      <a:pPr algn="l"/>
                      <a:r>
                        <a:rPr sz="1100" b="1">
                          <a:solidFill>
                            <a:srgbClr val="2E7D32"/>
                          </a:solidFill>
                          <a:latin typeface="Calibri"/>
                        </a:rPr>
                        <a:t>▲ 11.8%</a:t>
                      </a:r>
                      <a:endParaRPr sz="1100"/>
                    </a:p>
                  </a:txBody>
                  <a:tcPr marL="47625" marR="38100" marT="19050" marB="19050" anchor="ctr">
                    <a:solidFill>
                      <a:srgbClr val="FFFFFF"/>
                    </a:solidFill>
                  </a:tcPr>
                </a:tc>
                <a:tc>
                  <a:txBody>
                    <a:bodyPr/>
                    <a:lstStyle/>
                    <a:p>
                      <a:pPr algn="l"/>
                      <a:r>
                        <a:rPr sz="1100" b="1">
                          <a:solidFill>
                            <a:srgbClr val="2E7D32"/>
                          </a:solidFill>
                          <a:latin typeface="Calibri"/>
                        </a:rPr>
                        <a:t>▲ 12.9%</a:t>
                      </a:r>
                      <a:endParaRPr sz="1100"/>
                    </a:p>
                  </a:txBody>
                  <a:tcPr marL="47625" marR="38100" marT="19050" marB="19050" anchor="ctr">
                    <a:solidFill>
                      <a:srgbClr val="FFFFFF"/>
                    </a:solidFill>
                  </a:tcPr>
                </a:tc>
                <a:tc>
                  <a:txBody>
                    <a:bodyPr/>
                    <a:lstStyle/>
                    <a:p>
                      <a:pPr algn="l"/>
                      <a:r>
                        <a:rPr sz="1100" b="1">
                          <a:solidFill>
                            <a:srgbClr val="2E7D32"/>
                          </a:solidFill>
                          <a:latin typeface="Calibri"/>
                        </a:rPr>
                        <a:t>▲ 13.9%</a:t>
                      </a:r>
                      <a:endParaRPr sz="1100"/>
                    </a:p>
                  </a:txBody>
                  <a:tcPr marL="47625" marR="38100" marT="19050" marB="19050" anchor="ctr">
                    <a:solidFill>
                      <a:srgbClr val="FFFFFF"/>
                    </a:solidFill>
                  </a:tcPr>
                </a:tc>
                <a:tc>
                  <a:txBody>
                    <a:bodyPr/>
                    <a:lstStyle/>
                    <a:p>
                      <a:pPr algn="l"/>
                      <a:r>
                        <a:rPr sz="1100" b="1">
                          <a:solidFill>
                            <a:srgbClr val="2E7D32"/>
                          </a:solidFill>
                          <a:latin typeface="Calibri"/>
                        </a:rPr>
                        <a:t>▲ 14.2%</a:t>
                      </a:r>
                      <a:endParaRPr sz="1100"/>
                    </a:p>
                  </a:txBody>
                  <a:tcPr marL="47625" marR="38100" marT="19050" marB="19050" anchor="ctr">
                    <a:solidFill>
                      <a:srgbClr val="FFFFFF"/>
                    </a:solidFill>
                  </a:tcPr>
                </a:tc>
                <a:tc>
                  <a:txBody>
                    <a:bodyPr/>
                    <a:lstStyle/>
                    <a:p>
                      <a:pPr algn="l"/>
                      <a:r>
                        <a:rPr sz="1100" b="1">
                          <a:solidFill>
                            <a:srgbClr val="2E7D32"/>
                          </a:solidFill>
                          <a:latin typeface="Calibri"/>
                        </a:rPr>
                        <a:t>▲ 13.8%</a:t>
                      </a:r>
                      <a:endParaRPr sz="1100"/>
                    </a:p>
                  </a:txBody>
                  <a:tcPr marL="47625" marR="38100" marT="19050" marB="19050" anchor="ctr">
                    <a:solidFill>
                      <a:srgbClr val="FFFFFF"/>
                    </a:solidFill>
                  </a:tcPr>
                </a:tc>
                <a:tc>
                  <a:txBody>
                    <a:bodyPr/>
                    <a:lstStyle/>
                    <a:p>
                      <a:pPr algn="l"/>
                      <a:r>
                        <a:rPr sz="1100" b="1">
                          <a:solidFill>
                            <a:srgbClr val="2E7D32"/>
                          </a:solidFill>
                          <a:latin typeface="Calibri"/>
                        </a:rPr>
                        <a:t>▲ 13.5%</a:t>
                      </a:r>
                      <a:endParaRPr sz="1100"/>
                    </a:p>
                  </a:txBody>
                  <a:tcPr marL="47625" marR="38100" marT="19050" marB="19050" anchor="ctr">
                    <a:solidFill>
                      <a:srgbClr val="FFFFFF"/>
                    </a:solidFill>
                  </a:tcPr>
                </a:tc>
                <a:tc>
                  <a:txBody>
                    <a:bodyPr/>
                    <a:lstStyle/>
                    <a:p>
                      <a:pPr algn="l"/>
                      <a:r>
                        <a:rPr sz="1100" b="1">
                          <a:solidFill>
                            <a:srgbClr val="2E7D32"/>
                          </a:solidFill>
                          <a:latin typeface="Calibri"/>
                        </a:rPr>
                        <a:t>▲ 13.1%</a:t>
                      </a:r>
                      <a:endParaRPr sz="1100"/>
                    </a:p>
                  </a:txBody>
                  <a:tcPr marL="47625" marR="38100" marT="19050" marB="19050" anchor="ctr">
                    <a:solidFill>
                      <a:srgbClr val="FFFFFF"/>
                    </a:solidFill>
                  </a:tcPr>
                </a:tc>
                <a:tc>
                  <a:txBody>
                    <a:bodyPr/>
                    <a:lstStyle/>
                    <a:p>
                      <a:pPr algn="l"/>
                      <a:r>
                        <a:rPr sz="1100" b="1">
                          <a:solidFill>
                            <a:srgbClr val="2E7D32"/>
                          </a:solidFill>
                          <a:latin typeface="Calibri"/>
                        </a:rPr>
                        <a:t>▲ 12.6%</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15537">
                <a:tc>
                  <a:txBody>
                    <a:bodyPr/>
                    <a:lstStyle/>
                    <a:p>
                      <a:pPr algn="l"/>
                      <a:r>
                        <a:rPr sz="1100" b="1">
                          <a:solidFill>
                            <a:srgbClr val="2E2E2E"/>
                          </a:solidFill>
                          <a:latin typeface="Calibri"/>
                        </a:rPr>
                        <a:t>Bar</a:t>
                      </a:r>
                      <a:endParaRPr sz="1100"/>
                    </a:p>
                  </a:txBody>
                  <a:tcPr marL="47625" marR="38100" marT="19050" marB="19050" anchor="ctr">
                    <a:solidFill>
                      <a:srgbClr val="F5F8FA"/>
                    </a:solidFill>
                  </a:tcPr>
                </a:tc>
                <a:tc>
                  <a:txBody>
                    <a:bodyPr/>
                    <a:lstStyle/>
                    <a:p>
                      <a:pPr algn="l"/>
                      <a:r>
                        <a:rPr sz="1100" b="1">
                          <a:solidFill>
                            <a:srgbClr val="2E7D32"/>
                          </a:solidFill>
                          <a:latin typeface="Calibri"/>
                        </a:rPr>
                        <a:t>▲ 5.9%</a:t>
                      </a:r>
                      <a:endParaRPr sz="1100"/>
                    </a:p>
                  </a:txBody>
                  <a:tcPr marL="47625" marR="38100" marT="19050" marB="19050" anchor="ctr">
                    <a:solidFill>
                      <a:srgbClr val="F5F8FA"/>
                    </a:solidFill>
                  </a:tcPr>
                </a:tc>
                <a:tc>
                  <a:txBody>
                    <a:bodyPr/>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a:lstStyle/>
                    <a:p>
                      <a:pPr algn="l"/>
                      <a:r>
                        <a:rPr sz="1100" b="1">
                          <a:solidFill>
                            <a:srgbClr val="2E7D32"/>
                          </a:solidFill>
                          <a:latin typeface="Calibri"/>
                        </a:rPr>
                        <a:t>▲ 5.3%</a:t>
                      </a:r>
                      <a:endParaRPr sz="1100"/>
                    </a:p>
                  </a:txBody>
                  <a:tcPr marL="47625" marR="38100" marT="19050" marB="19050" anchor="ctr">
                    <a:solidFill>
                      <a:srgbClr val="F5F8FA"/>
                    </a:solidFill>
                  </a:tcPr>
                </a:tc>
                <a:tc>
                  <a:txBody>
                    <a:bodyPr/>
                    <a:lstStyle/>
                    <a:p>
                      <a:pPr algn="l"/>
                      <a:r>
                        <a:rPr sz="1100" b="1">
                          <a:solidFill>
                            <a:srgbClr val="2E7D32"/>
                          </a:solidFill>
                          <a:latin typeface="Calibri"/>
                        </a:rPr>
                        <a:t>▲ 5.2%</a:t>
                      </a:r>
                      <a:endParaRPr sz="1100"/>
                    </a:p>
                  </a:txBody>
                  <a:tcPr marL="47625" marR="38100" marT="19050" marB="19050" anchor="ctr">
                    <a:solidFill>
                      <a:srgbClr val="F5F8FA"/>
                    </a:solidFill>
                  </a:tcPr>
                </a:tc>
                <a:tc>
                  <a:txBody>
                    <a:bodyPr/>
                    <a:lstStyle/>
                    <a:p>
                      <a:pPr algn="l"/>
                      <a:r>
                        <a:rPr sz="1100" b="1">
                          <a:solidFill>
                            <a:srgbClr val="2E7D32"/>
                          </a:solidFill>
                          <a:latin typeface="Calibri"/>
                        </a:rPr>
                        <a:t>▲ 6.1%</a:t>
                      </a:r>
                      <a:endParaRPr sz="1100"/>
                    </a:p>
                  </a:txBody>
                  <a:tcPr marL="47625" marR="38100" marT="19050" marB="19050" anchor="ctr">
                    <a:solidFill>
                      <a:srgbClr val="F5F8FA"/>
                    </a:solidFill>
                  </a:tcPr>
                </a:tc>
                <a:tc>
                  <a:txBody>
                    <a:bodyPr/>
                    <a:lstStyle/>
                    <a:p>
                      <a:pPr algn="l"/>
                      <a:r>
                        <a:rPr sz="1100" b="1">
                          <a:solidFill>
                            <a:srgbClr val="2E7D32"/>
                          </a:solidFill>
                          <a:latin typeface="Calibri"/>
                        </a:rPr>
                        <a:t>▲ 7.2%</a:t>
                      </a:r>
                      <a:endParaRPr sz="1100"/>
                    </a:p>
                  </a:txBody>
                  <a:tcPr marL="47625" marR="38100" marT="19050" marB="19050" anchor="ctr">
                    <a:solidFill>
                      <a:srgbClr val="F5F8FA"/>
                    </a:solidFill>
                  </a:tcPr>
                </a:tc>
                <a:tc>
                  <a:txBody>
                    <a:bodyPr/>
                    <a:lstStyle/>
                    <a:p>
                      <a:pPr algn="l"/>
                      <a:r>
                        <a:rPr sz="1100" b="1">
                          <a:solidFill>
                            <a:srgbClr val="2E7D32"/>
                          </a:solidFill>
                          <a:latin typeface="Calibri"/>
                        </a:rPr>
                        <a:t>▲ 8.4%</a:t>
                      </a:r>
                      <a:endParaRPr sz="1100"/>
                    </a:p>
                  </a:txBody>
                  <a:tcPr marL="47625" marR="38100" marT="19050" marB="19050" anchor="ctr">
                    <a:solidFill>
                      <a:srgbClr val="F5F8FA"/>
                    </a:solidFill>
                  </a:tcPr>
                </a:tc>
                <a:tc>
                  <a:txBody>
                    <a:bodyPr/>
                    <a:lstStyle/>
                    <a:p>
                      <a:pPr algn="l"/>
                      <a:r>
                        <a:rPr sz="1100" b="1">
                          <a:solidFill>
                            <a:srgbClr val="2E7D32"/>
                          </a:solidFill>
                          <a:latin typeface="Calibri"/>
                        </a:rPr>
                        <a:t>▲ 9.3%</a:t>
                      </a:r>
                      <a:endParaRPr sz="1100"/>
                    </a:p>
                  </a:txBody>
                  <a:tcPr marL="47625" marR="38100" marT="19050" marB="19050" anchor="ctr">
                    <a:solidFill>
                      <a:srgbClr val="F5F8FA"/>
                    </a:solidFill>
                  </a:tcPr>
                </a:tc>
                <a:tc>
                  <a:txBody>
                    <a:bodyPr/>
                    <a:lstStyle/>
                    <a:p>
                      <a:pPr algn="l"/>
                      <a:r>
                        <a:rPr sz="1100" b="1">
                          <a:solidFill>
                            <a:srgbClr val="2E7D32"/>
                          </a:solidFill>
                          <a:latin typeface="Calibri"/>
                        </a:rPr>
                        <a:t>▲ 10.1%</a:t>
                      </a:r>
                      <a:endParaRPr sz="1100"/>
                    </a:p>
                  </a:txBody>
                  <a:tcPr marL="47625" marR="38100" marT="19050" marB="19050" anchor="ctr">
                    <a:solidFill>
                      <a:srgbClr val="F5F8FA"/>
                    </a:solidFill>
                  </a:tcPr>
                </a:tc>
                <a:tc>
                  <a:txBody>
                    <a:bodyPr/>
                    <a:lstStyle/>
                    <a:p>
                      <a:pPr algn="l"/>
                      <a:r>
                        <a:rPr sz="1100" b="1">
                          <a:solidFill>
                            <a:srgbClr val="2E7D32"/>
                          </a:solidFill>
                          <a:latin typeface="Calibri"/>
                        </a:rPr>
                        <a:t>▲ 10.5%</a:t>
                      </a:r>
                      <a:endParaRPr sz="1100"/>
                    </a:p>
                  </a:txBody>
                  <a:tcPr marL="47625" marR="38100" marT="19050" marB="19050" anchor="ctr">
                    <a:solidFill>
                      <a:srgbClr val="F5F8FA"/>
                    </a:solidFill>
                  </a:tcPr>
                </a:tc>
                <a:tc>
                  <a:txBody>
                    <a:bodyPr/>
                    <a:lstStyle/>
                    <a:p>
                      <a:pPr algn="l"/>
                      <a:r>
                        <a:rPr sz="1100" b="1">
                          <a:solidFill>
                            <a:srgbClr val="2E7D32"/>
                          </a:solidFill>
                          <a:latin typeface="Calibri"/>
                        </a:rPr>
                        <a:t>▲ 10.9%</a:t>
                      </a:r>
                      <a:endParaRPr sz="1100"/>
                    </a:p>
                  </a:txBody>
                  <a:tcPr marL="47625" marR="38100" marT="19050" marB="19050" anchor="ctr">
                    <a:solidFill>
                      <a:srgbClr val="F5F8FA"/>
                    </a:solidFill>
                  </a:tcPr>
                </a:tc>
                <a:tc>
                  <a:txBody>
                    <a:bodyPr/>
                    <a:lstStyle/>
                    <a:p>
                      <a:pPr algn="l"/>
                      <a:r>
                        <a:rPr sz="1100" b="1">
                          <a:solidFill>
                            <a:srgbClr val="2E7D32"/>
                          </a:solidFill>
                          <a:latin typeface="Calibri"/>
                        </a:rPr>
                        <a:t>▲ 11.0%</a:t>
                      </a:r>
                      <a:endParaRPr sz="1100"/>
                    </a:p>
                  </a:txBody>
                  <a:tcPr marL="47625" marR="38100" marT="19050" marB="19050" anchor="ctr">
                    <a:solidFill>
                      <a:srgbClr val="F5F8FA"/>
                    </a:solidFill>
                  </a:tcPr>
                </a:tc>
                <a:tc>
                  <a:txBody>
                    <a:bodyPr/>
                    <a:lstStyle/>
                    <a:p>
                      <a:pPr algn="l"/>
                      <a:r>
                        <a:rPr sz="1100" b="1">
                          <a:solidFill>
                            <a:srgbClr val="2E7D32"/>
                          </a:solidFill>
                          <a:latin typeface="Calibri"/>
                        </a:rPr>
                        <a:t>▲ 11.0%</a:t>
                      </a:r>
                      <a:endParaRPr sz="1100"/>
                    </a:p>
                  </a:txBody>
                  <a:tcPr marL="47625" marR="38100" marT="19050" marB="19050" anchor="ctr">
                    <a:solidFill>
                      <a:srgbClr val="F5F8FA"/>
                    </a:solidFill>
                  </a:tcPr>
                </a:tc>
                <a:tc>
                  <a:txBody>
                    <a:bodyPr/>
                    <a:lstStyle/>
                    <a:p>
                      <a:pPr algn="l"/>
                      <a:r>
                        <a:rPr sz="1100" b="1">
                          <a:solidFill>
                            <a:srgbClr val="2E7D32"/>
                          </a:solidFill>
                          <a:latin typeface="Calibri"/>
                        </a:rPr>
                        <a:t>▲ 10.8%</a:t>
                      </a:r>
                      <a:endParaRPr sz="1100"/>
                    </a:p>
                  </a:txBody>
                  <a:tcPr marL="47625" marR="38100" marT="19050" marB="19050" anchor="ctr">
                    <a:solidFill>
                      <a:srgbClr val="F5F8FA"/>
                    </a:solidFill>
                  </a:tcPr>
                </a:tc>
                <a:tc>
                  <a:txBody>
                    <a:bodyPr/>
                    <a:lstStyle/>
                    <a:p>
                      <a:pPr algn="l"/>
                      <a:r>
                        <a:rPr sz="1100" b="1">
                          <a:solidFill>
                            <a:srgbClr val="2E7D32"/>
                          </a:solidFill>
                          <a:latin typeface="Calibri"/>
                        </a:rPr>
                        <a:t>▲ 10.5%</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r h="215537">
                <a:tc>
                  <a:txBody>
                    <a:bodyPr/>
                    <a:lstStyle/>
                    <a:p>
                      <a:pPr algn="l"/>
                      <a:r>
                        <a:rPr sz="1100" b="1">
                          <a:solidFill>
                            <a:srgbClr val="2E2E2E"/>
                          </a:solidFill>
                          <a:latin typeface="Calibri"/>
                        </a:rPr>
                        <a:t>Liquid</a:t>
                      </a:r>
                      <a:endParaRPr sz="1100"/>
                    </a:p>
                  </a:txBody>
                  <a:tcPr marL="47625" marR="38100" marT="19050" marB="19050" anchor="ctr">
                    <a:solidFill>
                      <a:srgbClr val="FFFFFF"/>
                    </a:solidFill>
                  </a:tcPr>
                </a:tc>
                <a:tc>
                  <a:txBody>
                    <a:bodyPr/>
                    <a:lstStyle/>
                    <a:p>
                      <a:pPr algn="l"/>
                      <a:r>
                        <a:rPr sz="1100" b="1">
                          <a:solidFill>
                            <a:srgbClr val="2E7D32"/>
                          </a:solidFill>
                          <a:latin typeface="Calibri"/>
                        </a:rPr>
                        <a:t>▲ 11.0%</a:t>
                      </a:r>
                      <a:endParaRPr sz="1100"/>
                    </a:p>
                  </a:txBody>
                  <a:tcPr marL="47625" marR="38100" marT="19050" marB="19050" anchor="ctr">
                    <a:solidFill>
                      <a:srgbClr val="FFFFFF"/>
                    </a:solidFill>
                  </a:tcPr>
                </a:tc>
                <a:tc>
                  <a:txBody>
                    <a:bodyPr/>
                    <a:lstStyle/>
                    <a:p>
                      <a:pPr algn="l"/>
                      <a:r>
                        <a:rPr sz="1100" b="1">
                          <a:solidFill>
                            <a:srgbClr val="2E7D32"/>
                          </a:solidFill>
                          <a:latin typeface="Calibri"/>
                        </a:rPr>
                        <a:t>▲ 10.6%</a:t>
                      </a:r>
                      <a:endParaRPr sz="1100"/>
                    </a:p>
                  </a:txBody>
                  <a:tcPr marL="47625" marR="38100" marT="19050" marB="19050" anchor="ctr">
                    <a:solidFill>
                      <a:srgbClr val="FFFFFF"/>
                    </a:solidFill>
                  </a:tcPr>
                </a:tc>
                <a:tc>
                  <a:txBody>
                    <a:bodyPr/>
                    <a:lstStyle/>
                    <a:p>
                      <a:pPr algn="l"/>
                      <a:r>
                        <a:rPr sz="1100" b="1">
                          <a:solidFill>
                            <a:srgbClr val="2E7D32"/>
                          </a:solidFill>
                          <a:latin typeface="Calibri"/>
                        </a:rPr>
                        <a:t>▲ 10.0%</a:t>
                      </a:r>
                      <a:endParaRPr sz="1100"/>
                    </a:p>
                  </a:txBody>
                  <a:tcPr marL="47625" marR="38100" marT="19050" marB="19050" anchor="ctr">
                    <a:solidFill>
                      <a:srgbClr val="FFFFFF"/>
                    </a:solidFill>
                  </a:tcPr>
                </a:tc>
                <a:tc>
                  <a:txBody>
                    <a:bodyPr/>
                    <a:lstStyle/>
                    <a:p>
                      <a:pPr algn="l"/>
                      <a:r>
                        <a:rPr sz="1100" b="1">
                          <a:solidFill>
                            <a:srgbClr val="2E7D32"/>
                          </a:solidFill>
                          <a:latin typeface="Calibri"/>
                        </a:rPr>
                        <a:t>▲ 9.7%</a:t>
                      </a:r>
                      <a:endParaRPr sz="1100"/>
                    </a:p>
                  </a:txBody>
                  <a:tcPr marL="47625" marR="38100" marT="19050" marB="19050" anchor="ctr">
                    <a:solidFill>
                      <a:srgbClr val="FFFFFF"/>
                    </a:solidFill>
                  </a:tcPr>
                </a:tc>
                <a:tc>
                  <a:txBody>
                    <a:bodyPr/>
                    <a:lstStyle/>
                    <a:p>
                      <a:pPr algn="l"/>
                      <a:r>
                        <a:rPr sz="1100" b="1">
                          <a:solidFill>
                            <a:srgbClr val="2E7D32"/>
                          </a:solidFill>
                          <a:latin typeface="Calibri"/>
                        </a:rPr>
                        <a:t>▲ 10.0%</a:t>
                      </a:r>
                      <a:endParaRPr sz="1100"/>
                    </a:p>
                  </a:txBody>
                  <a:tcPr marL="47625" marR="38100" marT="19050" marB="19050" anchor="ctr">
                    <a:solidFill>
                      <a:srgbClr val="FFFFFF"/>
                    </a:solidFill>
                  </a:tcPr>
                </a:tc>
                <a:tc>
                  <a:txBody>
                    <a:bodyPr/>
                    <a:lstStyle/>
                    <a:p>
                      <a:pPr algn="l"/>
                      <a:r>
                        <a:rPr sz="1100" b="1">
                          <a:solidFill>
                            <a:srgbClr val="2E7D32"/>
                          </a:solidFill>
                          <a:latin typeface="Calibri"/>
                        </a:rPr>
                        <a:t>▲ 10.5%</a:t>
                      </a:r>
                      <a:endParaRPr sz="1100"/>
                    </a:p>
                  </a:txBody>
                  <a:tcPr marL="47625" marR="38100" marT="19050" marB="19050" anchor="ctr">
                    <a:solidFill>
                      <a:srgbClr val="FFFFFF"/>
                    </a:solidFill>
                  </a:tcPr>
                </a:tc>
                <a:tc>
                  <a:txBody>
                    <a:bodyPr/>
                    <a:lstStyle/>
                    <a:p>
                      <a:pPr algn="l"/>
                      <a:r>
                        <a:rPr sz="1100" b="1">
                          <a:solidFill>
                            <a:srgbClr val="2E7D32"/>
                          </a:solidFill>
                          <a:latin typeface="Calibri"/>
                        </a:rPr>
                        <a:t>▲ 11.2%</a:t>
                      </a:r>
                      <a:endParaRPr sz="1100"/>
                    </a:p>
                  </a:txBody>
                  <a:tcPr marL="47625" marR="38100" marT="19050" marB="19050" anchor="ctr">
                    <a:solidFill>
                      <a:srgbClr val="FFFFFF"/>
                    </a:solidFill>
                  </a:tcPr>
                </a:tc>
                <a:tc>
                  <a:txBody>
                    <a:bodyPr/>
                    <a:lstStyle/>
                    <a:p>
                      <a:pPr algn="l"/>
                      <a:r>
                        <a:rPr sz="1100" b="1">
                          <a:solidFill>
                            <a:srgbClr val="2E7D32"/>
                          </a:solidFill>
                          <a:latin typeface="Calibri"/>
                        </a:rPr>
                        <a:t>▲ 11.6%</a:t>
                      </a:r>
                      <a:endParaRPr sz="1100"/>
                    </a:p>
                  </a:txBody>
                  <a:tcPr marL="47625" marR="38100" marT="19050" marB="19050" anchor="ctr">
                    <a:solidFill>
                      <a:srgbClr val="FFFFFF"/>
                    </a:solidFill>
                  </a:tcPr>
                </a:tc>
                <a:tc>
                  <a:txBody>
                    <a:bodyPr/>
                    <a:lstStyle/>
                    <a:p>
                      <a:pPr algn="l"/>
                      <a:r>
                        <a:rPr sz="1100" b="1">
                          <a:solidFill>
                            <a:srgbClr val="2E7D32"/>
                          </a:solidFill>
                          <a:latin typeface="Calibri"/>
                        </a:rPr>
                        <a:t>▲ 11.5%</a:t>
                      </a:r>
                      <a:endParaRPr sz="1100"/>
                    </a:p>
                  </a:txBody>
                  <a:tcPr marL="47625" marR="38100" marT="19050" marB="19050" anchor="ctr">
                    <a:solidFill>
                      <a:srgbClr val="FFFFFF"/>
                    </a:solidFill>
                  </a:tcPr>
                </a:tc>
                <a:tc>
                  <a:txBody>
                    <a:bodyPr/>
                    <a:lstStyle/>
                    <a:p>
                      <a:pPr algn="l"/>
                      <a:r>
                        <a:rPr sz="1100" b="1">
                          <a:solidFill>
                            <a:srgbClr val="2E7D32"/>
                          </a:solidFill>
                          <a:latin typeface="Calibri"/>
                        </a:rPr>
                        <a:t>▲ 11.3%</a:t>
                      </a:r>
                      <a:endParaRPr sz="1100"/>
                    </a:p>
                  </a:txBody>
                  <a:tcPr marL="47625" marR="38100" marT="19050" marB="19050" anchor="ctr">
                    <a:solidFill>
                      <a:srgbClr val="FFFFFF"/>
                    </a:solidFill>
                  </a:tcPr>
                </a:tc>
                <a:tc>
                  <a:txBody>
                    <a:bodyPr/>
                    <a:lstStyle/>
                    <a:p>
                      <a:pPr algn="l"/>
                      <a:r>
                        <a:rPr sz="1100" b="1">
                          <a:solidFill>
                            <a:srgbClr val="2E7D32"/>
                          </a:solidFill>
                          <a:latin typeface="Calibri"/>
                        </a:rPr>
                        <a:t>▲ 11.3%</a:t>
                      </a:r>
                      <a:endParaRPr sz="1100"/>
                    </a:p>
                  </a:txBody>
                  <a:tcPr marL="47625" marR="38100" marT="19050" marB="19050" anchor="ctr">
                    <a:solidFill>
                      <a:srgbClr val="FFFFFF"/>
                    </a:solidFill>
                  </a:tcPr>
                </a:tc>
                <a:tc>
                  <a:txBody>
                    <a:bodyPr/>
                    <a:lstStyle/>
                    <a:p>
                      <a:pPr algn="l"/>
                      <a:r>
                        <a:rPr sz="1100" b="1">
                          <a:solidFill>
                            <a:srgbClr val="2E7D32"/>
                          </a:solidFill>
                          <a:latin typeface="Calibri"/>
                        </a:rPr>
                        <a:t>▲ 11.4%</a:t>
                      </a:r>
                      <a:endParaRPr sz="1100"/>
                    </a:p>
                  </a:txBody>
                  <a:tcPr marL="47625" marR="38100" marT="19050" marB="19050" anchor="ctr">
                    <a:solidFill>
                      <a:srgbClr val="FFFFFF"/>
                    </a:solidFill>
                  </a:tcPr>
                </a:tc>
                <a:tc>
                  <a:txBody>
                    <a:bodyPr/>
                    <a:lstStyle/>
                    <a:p>
                      <a:pPr algn="l"/>
                      <a:r>
                        <a:rPr sz="1100" b="1">
                          <a:solidFill>
                            <a:srgbClr val="2E7D32"/>
                          </a:solidFill>
                          <a:latin typeface="Calibri"/>
                        </a:rPr>
                        <a:t>▲ 11.4%</a:t>
                      </a:r>
                      <a:endParaRPr sz="1100"/>
                    </a:p>
                  </a:txBody>
                  <a:tcPr marL="47625" marR="38100" marT="19050" marB="19050" anchor="ctr">
                    <a:solidFill>
                      <a:srgbClr val="FFFFFF"/>
                    </a:solidFill>
                  </a:tcPr>
                </a:tc>
                <a:tc>
                  <a:txBody>
                    <a:bodyPr/>
                    <a:lstStyle/>
                    <a:p>
                      <a:pPr algn="l"/>
                      <a:r>
                        <a:rPr sz="1100" b="1">
                          <a:solidFill>
                            <a:srgbClr val="2E7D32"/>
                          </a:solidFill>
                          <a:latin typeface="Calibri"/>
                        </a:rPr>
                        <a:t>▲ 11.1%</a:t>
                      </a:r>
                      <a:endParaRPr sz="1100"/>
                    </a:p>
                  </a:txBody>
                  <a:tcPr marL="47625" marR="38100" marT="19050" marB="19050" anchor="ctr">
                    <a:solidFill>
                      <a:srgbClr val="FFFFFF"/>
                    </a:solidFill>
                  </a:tcPr>
                </a:tc>
                <a:tc>
                  <a:txBody>
                    <a:bodyPr/>
                    <a:lstStyle/>
                    <a:p>
                      <a:pPr algn="l"/>
                      <a:r>
                        <a:rPr sz="1100" b="1">
                          <a:solidFill>
                            <a:srgbClr val="2E7D32"/>
                          </a:solidFill>
                          <a:latin typeface="Calibri"/>
                        </a:rPr>
                        <a:t>▲ 10.8%</a:t>
                      </a:r>
                      <a:endParaRPr sz="1100"/>
                    </a:p>
                  </a:txBody>
                  <a:tcPr marL="47625" marR="38100" marT="19050" marB="19050" anchor="ctr">
                    <a:solidFill>
                      <a:srgbClr val="FFFFFF"/>
                    </a:solidFill>
                  </a:tcPr>
                </a:tc>
                <a:extLst>
                  <a:ext uri="{0D108BD9-81ED-4DB2-BD59-A6C34878D82A}">
                    <a16:rowId xmlns:a16="http://schemas.microsoft.com/office/drawing/2014/main" val="10007"/>
                  </a:ext>
                </a:extLst>
              </a:tr>
            </a:tbl>
          </a:graphicData>
        </a:graphic>
      </p:graphicFrame>
      <p:sp>
        <p:nvSpPr>
          <p:cNvPr id="14" name="TextBox 13"/>
          <p:cNvSpPr txBox="1"/>
          <p:nvPr/>
        </p:nvSpPr>
        <p:spPr>
          <a:xfrm>
            <a:off x="219075" y="29718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8125" y="33623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Volume YoY Heatmap, By Product Format (%)  ·  light = lower, dark = higher growth</a:t>
            </a:r>
          </a:p>
        </p:txBody>
      </p:sp>
      <p:sp>
        <p:nvSpPr>
          <p:cNvPr id="17" name="TextBox 16"/>
          <p:cNvSpPr txBox="1"/>
          <p:nvPr/>
        </p:nvSpPr>
        <p:spPr>
          <a:xfrm>
            <a:off x="185737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2022</a:t>
            </a:r>
          </a:p>
        </p:txBody>
      </p:sp>
      <p:sp>
        <p:nvSpPr>
          <p:cNvPr id="18" name="TextBox 17"/>
          <p:cNvSpPr txBox="1"/>
          <p:nvPr/>
        </p:nvSpPr>
        <p:spPr>
          <a:xfrm>
            <a:off x="250126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2023</a:t>
            </a:r>
          </a:p>
        </p:txBody>
      </p:sp>
      <p:sp>
        <p:nvSpPr>
          <p:cNvPr id="19" name="TextBox 18"/>
          <p:cNvSpPr txBox="1"/>
          <p:nvPr/>
        </p:nvSpPr>
        <p:spPr>
          <a:xfrm>
            <a:off x="314515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2024</a:t>
            </a:r>
          </a:p>
        </p:txBody>
      </p:sp>
      <p:sp>
        <p:nvSpPr>
          <p:cNvPr id="20" name="TextBox 19"/>
          <p:cNvSpPr txBox="1"/>
          <p:nvPr/>
        </p:nvSpPr>
        <p:spPr>
          <a:xfrm>
            <a:off x="378904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2025</a:t>
            </a:r>
          </a:p>
        </p:txBody>
      </p:sp>
      <p:sp>
        <p:nvSpPr>
          <p:cNvPr id="21" name="TextBox 20"/>
          <p:cNvSpPr txBox="1"/>
          <p:nvPr/>
        </p:nvSpPr>
        <p:spPr>
          <a:xfrm>
            <a:off x="443293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2026</a:t>
            </a:r>
          </a:p>
        </p:txBody>
      </p:sp>
      <p:sp>
        <p:nvSpPr>
          <p:cNvPr id="22" name="TextBox 21"/>
          <p:cNvSpPr txBox="1"/>
          <p:nvPr/>
        </p:nvSpPr>
        <p:spPr>
          <a:xfrm>
            <a:off x="507682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2027</a:t>
            </a:r>
          </a:p>
        </p:txBody>
      </p:sp>
      <p:sp>
        <p:nvSpPr>
          <p:cNvPr id="23" name="TextBox 22"/>
          <p:cNvSpPr txBox="1"/>
          <p:nvPr/>
        </p:nvSpPr>
        <p:spPr>
          <a:xfrm>
            <a:off x="572071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2028</a:t>
            </a:r>
          </a:p>
        </p:txBody>
      </p:sp>
      <p:sp>
        <p:nvSpPr>
          <p:cNvPr id="24" name="TextBox 23"/>
          <p:cNvSpPr txBox="1"/>
          <p:nvPr/>
        </p:nvSpPr>
        <p:spPr>
          <a:xfrm>
            <a:off x="636460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2029</a:t>
            </a:r>
          </a:p>
        </p:txBody>
      </p:sp>
      <p:sp>
        <p:nvSpPr>
          <p:cNvPr id="25" name="TextBox 24"/>
          <p:cNvSpPr txBox="1"/>
          <p:nvPr/>
        </p:nvSpPr>
        <p:spPr>
          <a:xfrm>
            <a:off x="700849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2030</a:t>
            </a:r>
          </a:p>
        </p:txBody>
      </p:sp>
      <p:sp>
        <p:nvSpPr>
          <p:cNvPr id="26" name="TextBox 25"/>
          <p:cNvSpPr txBox="1"/>
          <p:nvPr/>
        </p:nvSpPr>
        <p:spPr>
          <a:xfrm>
            <a:off x="765238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2031</a:t>
            </a:r>
          </a:p>
        </p:txBody>
      </p:sp>
      <p:sp>
        <p:nvSpPr>
          <p:cNvPr id="27" name="TextBox 26"/>
          <p:cNvSpPr txBox="1"/>
          <p:nvPr/>
        </p:nvSpPr>
        <p:spPr>
          <a:xfrm>
            <a:off x="829627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2032</a:t>
            </a:r>
          </a:p>
        </p:txBody>
      </p:sp>
      <p:sp>
        <p:nvSpPr>
          <p:cNvPr id="28" name="TextBox 27"/>
          <p:cNvSpPr txBox="1"/>
          <p:nvPr/>
        </p:nvSpPr>
        <p:spPr>
          <a:xfrm>
            <a:off x="894016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2033</a:t>
            </a:r>
          </a:p>
        </p:txBody>
      </p:sp>
      <p:sp>
        <p:nvSpPr>
          <p:cNvPr id="29" name="TextBox 28"/>
          <p:cNvSpPr txBox="1"/>
          <p:nvPr/>
        </p:nvSpPr>
        <p:spPr>
          <a:xfrm>
            <a:off x="958405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2034</a:t>
            </a:r>
          </a:p>
        </p:txBody>
      </p:sp>
      <p:sp>
        <p:nvSpPr>
          <p:cNvPr id="30" name="TextBox 29"/>
          <p:cNvSpPr txBox="1"/>
          <p:nvPr/>
        </p:nvSpPr>
        <p:spPr>
          <a:xfrm>
            <a:off x="1022794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2035</a:t>
            </a:r>
          </a:p>
        </p:txBody>
      </p:sp>
      <p:sp>
        <p:nvSpPr>
          <p:cNvPr id="31" name="TextBox 30"/>
          <p:cNvSpPr txBox="1"/>
          <p:nvPr/>
        </p:nvSpPr>
        <p:spPr>
          <a:xfrm>
            <a:off x="1087183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2036</a:t>
            </a:r>
          </a:p>
        </p:txBody>
      </p:sp>
      <p:sp>
        <p:nvSpPr>
          <p:cNvPr id="32" name="TextBox 31"/>
          <p:cNvSpPr txBox="1"/>
          <p:nvPr/>
        </p:nvSpPr>
        <p:spPr>
          <a:xfrm>
            <a:off x="238125" y="3733800"/>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Capsule</a:t>
            </a:r>
          </a:p>
        </p:txBody>
      </p:sp>
      <p:sp>
        <p:nvSpPr>
          <p:cNvPr id="33" name="Rectangle 32"/>
          <p:cNvSpPr/>
          <p:nvPr/>
        </p:nvSpPr>
        <p:spPr>
          <a:xfrm>
            <a:off x="1857375" y="3733800"/>
            <a:ext cx="643890" cy="405493"/>
          </a:xfrm>
          <a:prstGeom prst="rect">
            <a:avLst/>
          </a:prstGeom>
          <a:solidFill>
            <a:srgbClr val="CEE0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501265" y="3733800"/>
            <a:ext cx="643890" cy="405493"/>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145155" y="3733800"/>
            <a:ext cx="643890" cy="405493"/>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789045" y="3733800"/>
            <a:ext cx="643890" cy="405493"/>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432935" y="3733800"/>
            <a:ext cx="643890" cy="405493"/>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076825" y="3733800"/>
            <a:ext cx="643890" cy="405493"/>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720715" y="3733800"/>
            <a:ext cx="643890" cy="405493"/>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364605" y="3733800"/>
            <a:ext cx="643890" cy="405493"/>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008495" y="3733800"/>
            <a:ext cx="643890" cy="405493"/>
          </a:xfrm>
          <a:prstGeom prst="rect">
            <a:avLst/>
          </a:prstGeom>
          <a:solidFill>
            <a:srgbClr val="AB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652385" y="3733800"/>
            <a:ext cx="643890" cy="405493"/>
          </a:xfrm>
          <a:prstGeom prst="rect">
            <a:avLst/>
          </a:prstGeom>
          <a:solidFill>
            <a:srgbClr val="AB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296275" y="3733800"/>
            <a:ext cx="643890" cy="405493"/>
          </a:xfrm>
          <a:prstGeom prst="rect">
            <a:avLst/>
          </a:prstGeom>
          <a:solidFill>
            <a:srgbClr val="B0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940165" y="3733800"/>
            <a:ext cx="643890" cy="405493"/>
          </a:xfrm>
          <a:prstGeom prst="rect">
            <a:avLst/>
          </a:prstGeom>
          <a:solidFill>
            <a:srgbClr val="B9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584055" y="3733800"/>
            <a:ext cx="643890" cy="405493"/>
          </a:xfrm>
          <a:prstGeom prst="rect">
            <a:avLst/>
          </a:prstGeom>
          <a:solidFill>
            <a:srgbClr val="C0D7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0227945" y="3733800"/>
            <a:ext cx="643890" cy="405493"/>
          </a:xfrm>
          <a:prstGeom prst="rect">
            <a:avLst/>
          </a:prstGeom>
          <a:solidFill>
            <a:srgbClr val="C5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0871835" y="3733800"/>
            <a:ext cx="643890" cy="405493"/>
          </a:xfrm>
          <a:prstGeom prst="rect">
            <a:avLst/>
          </a:prstGeom>
          <a:solidFill>
            <a:srgbClr val="CADC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38125" y="4139293"/>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Tablet</a:t>
            </a:r>
          </a:p>
        </p:txBody>
      </p:sp>
      <p:sp>
        <p:nvSpPr>
          <p:cNvPr id="49" name="Rectangle 48"/>
          <p:cNvSpPr/>
          <p:nvPr/>
        </p:nvSpPr>
        <p:spPr>
          <a:xfrm>
            <a:off x="1857375" y="4139293"/>
            <a:ext cx="643890" cy="405493"/>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2501265" y="4139293"/>
            <a:ext cx="643890" cy="405493"/>
          </a:xfrm>
          <a:prstGeom prst="rect">
            <a:avLst/>
          </a:prstGeom>
          <a:solidFill>
            <a:srgbClr val="FD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3145155" y="4139293"/>
            <a:ext cx="643890" cy="405493"/>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3789045" y="4139293"/>
            <a:ext cx="643890" cy="405493"/>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432935" y="4139293"/>
            <a:ext cx="643890" cy="405493"/>
          </a:xfrm>
          <a:prstGeom prst="rect">
            <a:avLst/>
          </a:prstGeom>
          <a:solidFill>
            <a:srgbClr val="FD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5076825" y="4139293"/>
            <a:ext cx="643890" cy="405493"/>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5720715" y="4139293"/>
            <a:ext cx="643890" cy="405493"/>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6364605" y="4139293"/>
            <a:ext cx="643890" cy="405493"/>
          </a:xfrm>
          <a:prstGeom prst="rect">
            <a:avLst/>
          </a:prstGeom>
          <a:solidFill>
            <a:srgbClr val="FD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7008495" y="4139293"/>
            <a:ext cx="643890" cy="405493"/>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652385" y="4139293"/>
            <a:ext cx="643890" cy="405493"/>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296275" y="4139293"/>
            <a:ext cx="643890" cy="405493"/>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940165" y="4139293"/>
            <a:ext cx="643890" cy="405493"/>
          </a:xfrm>
          <a:prstGeom prst="rect">
            <a:avLst/>
          </a:prstGeom>
          <a:solidFill>
            <a:srgbClr val="F9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9584055" y="4139293"/>
            <a:ext cx="643890" cy="405493"/>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10227945" y="4139293"/>
            <a:ext cx="643890" cy="405493"/>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10871835" y="4139293"/>
            <a:ext cx="643890" cy="405493"/>
          </a:xfrm>
          <a:prstGeom prst="rect">
            <a:avLst/>
          </a:prstGeom>
          <a:solidFill>
            <a:srgbClr val="FE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238125" y="4544786"/>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Softgels</a:t>
            </a:r>
          </a:p>
        </p:txBody>
      </p:sp>
      <p:sp>
        <p:nvSpPr>
          <p:cNvPr id="65" name="Rectangle 64"/>
          <p:cNvSpPr/>
          <p:nvPr/>
        </p:nvSpPr>
        <p:spPr>
          <a:xfrm>
            <a:off x="1857375" y="4544786"/>
            <a:ext cx="643890" cy="405493"/>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2501265" y="4544786"/>
            <a:ext cx="643890" cy="405493"/>
          </a:xfrm>
          <a:prstGeom prst="rect">
            <a:avLst/>
          </a:prstGeom>
          <a:solidFill>
            <a:srgbClr val="E4F1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3145155" y="4544786"/>
            <a:ext cx="643890" cy="405493"/>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3789045" y="4544786"/>
            <a:ext cx="643890" cy="405493"/>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432935" y="4544786"/>
            <a:ext cx="643890" cy="405493"/>
          </a:xfrm>
          <a:prstGeom prst="rect">
            <a:avLst/>
          </a:prstGeom>
          <a:solidFill>
            <a:srgbClr val="E8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5076825" y="4544786"/>
            <a:ext cx="643890" cy="405493"/>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5720715" y="4544786"/>
            <a:ext cx="643890" cy="405493"/>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6364605" y="4544786"/>
            <a:ext cx="643890" cy="405493"/>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7008495" y="4544786"/>
            <a:ext cx="643890" cy="405493"/>
          </a:xfrm>
          <a:prstGeom prst="rect">
            <a:avLst/>
          </a:prstGeom>
          <a:solidFill>
            <a:srgbClr val="DF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7652385" y="4544786"/>
            <a:ext cx="643890" cy="405493"/>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8296275" y="4544786"/>
            <a:ext cx="643890" cy="405493"/>
          </a:xfrm>
          <a:prstGeom prst="rect">
            <a:avLst/>
          </a:prstGeom>
          <a:solidFill>
            <a:srgbClr val="E4F1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8940165" y="4544786"/>
            <a:ext cx="643890" cy="405493"/>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584055" y="4544786"/>
            <a:ext cx="643890" cy="405493"/>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10227945" y="4544786"/>
            <a:ext cx="643890" cy="405493"/>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10871835" y="4544786"/>
            <a:ext cx="643890" cy="405493"/>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38125" y="4950279"/>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Gummies</a:t>
            </a:r>
          </a:p>
        </p:txBody>
      </p:sp>
      <p:sp>
        <p:nvSpPr>
          <p:cNvPr id="81" name="Rectangle 80"/>
          <p:cNvSpPr/>
          <p:nvPr/>
        </p:nvSpPr>
        <p:spPr>
          <a:xfrm>
            <a:off x="1857375" y="4950279"/>
            <a:ext cx="643890" cy="405493"/>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2501265" y="4950279"/>
            <a:ext cx="643890" cy="405493"/>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3145155" y="4950279"/>
            <a:ext cx="643890" cy="405493"/>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3789045" y="4950279"/>
            <a:ext cx="643890" cy="405493"/>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4432935" y="4950279"/>
            <a:ext cx="643890" cy="405493"/>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5076825" y="4950279"/>
            <a:ext cx="643890" cy="405493"/>
          </a:xfrm>
          <a:prstGeom prst="rect">
            <a:avLst/>
          </a:prstGeom>
          <a:solidFill>
            <a:srgbClr val="BC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5720715" y="4950279"/>
            <a:ext cx="643890" cy="405493"/>
          </a:xfrm>
          <a:prstGeom prst="rect">
            <a:avLst/>
          </a:prstGeom>
          <a:solidFill>
            <a:srgbClr val="B5D0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6364605" y="4950279"/>
            <a:ext cx="643890" cy="405493"/>
          </a:xfrm>
          <a:prstGeom prst="rect">
            <a:avLst/>
          </a:prstGeom>
          <a:solidFill>
            <a:srgbClr val="A9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7008495" y="4950279"/>
            <a:ext cx="643890" cy="405493"/>
          </a:xfrm>
          <a:prstGeom prst="rect">
            <a:avLst/>
          </a:prstGeom>
          <a:solidFill>
            <a:srgbClr val="9E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7652385" y="4950279"/>
            <a:ext cx="643890" cy="405493"/>
          </a:xfrm>
          <a:prstGeom prst="rect">
            <a:avLst/>
          </a:prstGeom>
          <a:solidFill>
            <a:srgbClr val="91BC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8296275" y="4950279"/>
            <a:ext cx="643890" cy="405493"/>
          </a:xfrm>
          <a:prstGeom prst="rect">
            <a:avLst/>
          </a:prstGeom>
          <a:solidFill>
            <a:srgbClr val="81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8940165" y="4950279"/>
            <a:ext cx="643890" cy="405493"/>
          </a:xfrm>
          <a:prstGeom prst="rect">
            <a:avLst/>
          </a:prstGeom>
          <a:solidFill>
            <a:srgbClr val="7AB0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9584055" y="4950279"/>
            <a:ext cx="643890" cy="405493"/>
          </a:xfrm>
          <a:prstGeom prst="rect">
            <a:avLst/>
          </a:prstGeom>
          <a:solidFill>
            <a:srgbClr val="7AB0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10227945" y="4950279"/>
            <a:ext cx="643890" cy="405493"/>
          </a:xfrm>
          <a:prstGeom prst="rect">
            <a:avLst/>
          </a:prstGeom>
          <a:solidFill>
            <a:srgbClr val="85B5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10871835" y="4950279"/>
            <a:ext cx="643890" cy="405493"/>
          </a:xfrm>
          <a:prstGeom prst="rect">
            <a:avLst/>
          </a:prstGeom>
          <a:solidFill>
            <a:srgbClr val="8DBA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238125" y="5355771"/>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Powder</a:t>
            </a:r>
          </a:p>
        </p:txBody>
      </p:sp>
      <p:sp>
        <p:nvSpPr>
          <p:cNvPr id="97" name="Rectangle 96"/>
          <p:cNvSpPr/>
          <p:nvPr/>
        </p:nvSpPr>
        <p:spPr>
          <a:xfrm>
            <a:off x="1857375" y="5355771"/>
            <a:ext cx="643890" cy="405493"/>
          </a:xfrm>
          <a:prstGeom prst="rect">
            <a:avLst/>
          </a:prstGeom>
          <a:solidFill>
            <a:srgbClr val="CDDE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2501265" y="5355771"/>
            <a:ext cx="643890" cy="405493"/>
          </a:xfrm>
          <a:prstGeom prst="rect">
            <a:avLst/>
          </a:prstGeom>
          <a:solidFill>
            <a:srgbClr val="BA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3145155" y="5355771"/>
            <a:ext cx="643890" cy="405493"/>
          </a:xfrm>
          <a:prstGeom prst="rect">
            <a:avLst/>
          </a:prstGeom>
          <a:solidFill>
            <a:srgbClr val="A5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3789045" y="5355771"/>
            <a:ext cx="643890" cy="405493"/>
          </a:xfrm>
          <a:prstGeom prst="rect">
            <a:avLst/>
          </a:prstGeom>
          <a:solidFill>
            <a:srgbClr val="90BC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4432935" y="5355771"/>
            <a:ext cx="643890" cy="405493"/>
          </a:xfrm>
          <a:prstGeom prst="rect">
            <a:avLst/>
          </a:prstGeom>
          <a:solidFill>
            <a:srgbClr val="6BA8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5076825" y="5355771"/>
            <a:ext cx="643890" cy="405493"/>
          </a:xfrm>
          <a:prstGeom prst="rect">
            <a:avLst/>
          </a:prstGeom>
          <a:solidFill>
            <a:srgbClr val="529A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5720715" y="5355771"/>
            <a:ext cx="643890" cy="405493"/>
          </a:xfrm>
          <a:prstGeom prst="rect">
            <a:avLst/>
          </a:prstGeom>
          <a:solidFill>
            <a:srgbClr val="3B8D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6364605" y="5355771"/>
            <a:ext cx="643890" cy="405493"/>
          </a:xfrm>
          <a:prstGeom prst="rect">
            <a:avLst/>
          </a:prstGeom>
          <a:solidFill>
            <a:srgbClr val="24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7008495" y="5355771"/>
            <a:ext cx="643890" cy="405493"/>
          </a:xfrm>
          <a:prstGeom prst="rect">
            <a:avLst/>
          </a:prstGeom>
          <a:solidFill>
            <a:srgbClr val="0D659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7652385" y="5355771"/>
            <a:ext cx="643890" cy="405493"/>
          </a:xfrm>
          <a:prstGeom prst="rect">
            <a:avLst/>
          </a:prstGeom>
          <a:solidFill>
            <a:srgbClr val="0C3B5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8296275" y="5355771"/>
            <a:ext cx="643890" cy="405493"/>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8940165" y="5355771"/>
            <a:ext cx="643890" cy="405493"/>
          </a:xfrm>
          <a:prstGeom prst="rect">
            <a:avLst/>
          </a:prstGeom>
          <a:solidFill>
            <a:srgbClr val="0C406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9584055" y="5355771"/>
            <a:ext cx="643890" cy="405493"/>
          </a:xfrm>
          <a:prstGeom prst="rect">
            <a:avLst/>
          </a:prstGeom>
          <a:solidFill>
            <a:srgbClr val="0C4B7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10227945" y="5355771"/>
            <a:ext cx="643890" cy="405493"/>
          </a:xfrm>
          <a:prstGeom prst="rect">
            <a:avLst/>
          </a:prstGeom>
          <a:solidFill>
            <a:srgbClr val="0D5F9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0871835" y="5355771"/>
            <a:ext cx="643890" cy="405493"/>
          </a:xfrm>
          <a:prstGeom prst="rect">
            <a:avLst/>
          </a:prstGeom>
          <a:solidFill>
            <a:srgbClr val="0E72A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238125" y="5761264"/>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Bar</a:t>
            </a:r>
          </a:p>
        </p:txBody>
      </p:sp>
      <p:sp>
        <p:nvSpPr>
          <p:cNvPr id="113" name="Rectangle 112"/>
          <p:cNvSpPr/>
          <p:nvPr/>
        </p:nvSpPr>
        <p:spPr>
          <a:xfrm>
            <a:off x="1857375" y="5761264"/>
            <a:ext cx="643890" cy="405493"/>
          </a:xfrm>
          <a:prstGeom prst="rect">
            <a:avLst/>
          </a:prstGeom>
          <a:solidFill>
            <a:srgbClr val="D2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2501265" y="5761264"/>
            <a:ext cx="643890" cy="405493"/>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3145155" y="5761264"/>
            <a:ext cx="643890" cy="405493"/>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3789045" y="5761264"/>
            <a:ext cx="643890" cy="405493"/>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4432935" y="5761264"/>
            <a:ext cx="643890" cy="405493"/>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5076825" y="5761264"/>
            <a:ext cx="643890" cy="405493"/>
          </a:xfrm>
          <a:prstGeom prst="rect">
            <a:avLst/>
          </a:prstGeom>
          <a:solidFill>
            <a:srgbClr val="B5D0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5720715" y="5761264"/>
            <a:ext cx="643890" cy="405493"/>
          </a:xfrm>
          <a:prstGeom prst="rect">
            <a:avLst/>
          </a:prstGeom>
          <a:solidFill>
            <a:srgbClr val="97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6364605" y="5761264"/>
            <a:ext cx="643890" cy="405493"/>
          </a:xfrm>
          <a:prstGeom prst="rect">
            <a:avLst/>
          </a:prstGeom>
          <a:solidFill>
            <a:srgbClr val="76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7008495" y="5761264"/>
            <a:ext cx="643890" cy="405493"/>
          </a:xfrm>
          <a:prstGeom prst="rect">
            <a:avLst/>
          </a:prstGeom>
          <a:solidFill>
            <a:srgbClr val="58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7652385" y="5761264"/>
            <a:ext cx="643890" cy="405493"/>
          </a:xfrm>
          <a:prstGeom prst="rect">
            <a:avLst/>
          </a:prstGeom>
          <a:solidFill>
            <a:srgbClr val="46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8296275" y="5761264"/>
            <a:ext cx="643890" cy="405493"/>
          </a:xfrm>
          <a:prstGeom prst="rect">
            <a:avLst/>
          </a:prstGeom>
          <a:solidFill>
            <a:srgbClr val="3A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a:off x="8940165" y="5761264"/>
            <a:ext cx="643890" cy="405493"/>
          </a:xfrm>
          <a:prstGeom prst="rect">
            <a:avLst/>
          </a:prstGeom>
          <a:solidFill>
            <a:srgbClr val="38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124"/>
          <p:cNvSpPr/>
          <p:nvPr/>
        </p:nvSpPr>
        <p:spPr>
          <a:xfrm>
            <a:off x="9584055" y="5761264"/>
            <a:ext cx="643890" cy="405493"/>
          </a:xfrm>
          <a:prstGeom prst="rect">
            <a:avLst/>
          </a:prstGeom>
          <a:solidFill>
            <a:srgbClr val="388C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25"/>
          <p:cNvSpPr/>
          <p:nvPr/>
        </p:nvSpPr>
        <p:spPr>
          <a:xfrm>
            <a:off x="10227945" y="5761264"/>
            <a:ext cx="643890" cy="405493"/>
          </a:xfrm>
          <a:prstGeom prst="rect">
            <a:avLst/>
          </a:prstGeom>
          <a:solidFill>
            <a:srgbClr val="3E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26"/>
          <p:cNvSpPr/>
          <p:nvPr/>
        </p:nvSpPr>
        <p:spPr>
          <a:xfrm>
            <a:off x="10871835" y="5761264"/>
            <a:ext cx="643890" cy="405493"/>
          </a:xfrm>
          <a:prstGeom prst="rect">
            <a:avLst/>
          </a:prstGeom>
          <a:solidFill>
            <a:srgbClr val="49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238125" y="6166757"/>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Liquid</a:t>
            </a:r>
          </a:p>
        </p:txBody>
      </p:sp>
      <p:sp>
        <p:nvSpPr>
          <p:cNvPr id="129" name="Rectangle 128"/>
          <p:cNvSpPr/>
          <p:nvPr/>
        </p:nvSpPr>
        <p:spPr>
          <a:xfrm>
            <a:off x="1857375" y="6166757"/>
            <a:ext cx="643890" cy="405493"/>
          </a:xfrm>
          <a:prstGeom prst="rect">
            <a:avLst/>
          </a:prstGeom>
          <a:solidFill>
            <a:srgbClr val="38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ectangle 129"/>
          <p:cNvSpPr/>
          <p:nvPr/>
        </p:nvSpPr>
        <p:spPr>
          <a:xfrm>
            <a:off x="2501265" y="6166757"/>
            <a:ext cx="643890" cy="405493"/>
          </a:xfrm>
          <a:prstGeom prst="rect">
            <a:avLst/>
          </a:prstGeom>
          <a:solidFill>
            <a:srgbClr val="45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ectangle 130"/>
          <p:cNvSpPr/>
          <p:nvPr/>
        </p:nvSpPr>
        <p:spPr>
          <a:xfrm>
            <a:off x="3145155" y="6166757"/>
            <a:ext cx="643890" cy="405493"/>
          </a:xfrm>
          <a:prstGeom prst="rect">
            <a:avLst/>
          </a:prstGeom>
          <a:solidFill>
            <a:srgbClr val="5CA0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Rectangle 131"/>
          <p:cNvSpPr/>
          <p:nvPr/>
        </p:nvSpPr>
        <p:spPr>
          <a:xfrm>
            <a:off x="3789045" y="6166757"/>
            <a:ext cx="643890" cy="405493"/>
          </a:xfrm>
          <a:prstGeom prst="rect">
            <a:avLst/>
          </a:prstGeom>
          <a:solidFill>
            <a:srgbClr val="67A5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p:cNvSpPr/>
          <p:nvPr/>
        </p:nvSpPr>
        <p:spPr>
          <a:xfrm>
            <a:off x="4432935" y="6166757"/>
            <a:ext cx="643890" cy="405493"/>
          </a:xfrm>
          <a:prstGeom prst="rect">
            <a:avLst/>
          </a:prstGeom>
          <a:solidFill>
            <a:srgbClr val="5C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angle 133"/>
          <p:cNvSpPr/>
          <p:nvPr/>
        </p:nvSpPr>
        <p:spPr>
          <a:xfrm>
            <a:off x="5076825" y="6166757"/>
            <a:ext cx="643890" cy="405493"/>
          </a:xfrm>
          <a:prstGeom prst="rect">
            <a:avLst/>
          </a:prstGeom>
          <a:solidFill>
            <a:srgbClr val="46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5720715" y="6166757"/>
            <a:ext cx="643890" cy="405493"/>
          </a:xfrm>
          <a:prstGeom prst="rect">
            <a:avLst/>
          </a:prstGeom>
          <a:solidFill>
            <a:srgbClr val="32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Rectangle 135"/>
          <p:cNvSpPr/>
          <p:nvPr/>
        </p:nvSpPr>
        <p:spPr>
          <a:xfrm>
            <a:off x="6364605" y="6166757"/>
            <a:ext cx="643890" cy="405493"/>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7008495" y="6166757"/>
            <a:ext cx="643890" cy="405493"/>
          </a:xfrm>
          <a:prstGeom prst="rect">
            <a:avLst/>
          </a:prstGeom>
          <a:solidFill>
            <a:srgbClr val="2B84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ectangle 137"/>
          <p:cNvSpPr/>
          <p:nvPr/>
        </p:nvSpPr>
        <p:spPr>
          <a:xfrm>
            <a:off x="7652385" y="6166757"/>
            <a:ext cx="643890" cy="405493"/>
          </a:xfrm>
          <a:prstGeom prst="rect">
            <a:avLst/>
          </a:prstGeom>
          <a:solidFill>
            <a:srgbClr val="30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ectangle 138"/>
          <p:cNvSpPr/>
          <p:nvPr/>
        </p:nvSpPr>
        <p:spPr>
          <a:xfrm>
            <a:off x="8296275" y="6166757"/>
            <a:ext cx="643890" cy="405493"/>
          </a:xfrm>
          <a:prstGeom prst="rect">
            <a:avLst/>
          </a:prstGeom>
          <a:solidFill>
            <a:srgbClr val="3086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ectangle 139"/>
          <p:cNvSpPr/>
          <p:nvPr/>
        </p:nvSpPr>
        <p:spPr>
          <a:xfrm>
            <a:off x="8940165" y="6166757"/>
            <a:ext cx="643890" cy="405493"/>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Rectangle 140"/>
          <p:cNvSpPr/>
          <p:nvPr/>
        </p:nvSpPr>
        <p:spPr>
          <a:xfrm>
            <a:off x="9584055" y="6166757"/>
            <a:ext cx="643890" cy="405493"/>
          </a:xfrm>
          <a:prstGeom prst="rect">
            <a:avLst/>
          </a:prstGeom>
          <a:solidFill>
            <a:srgbClr val="2E85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Rectangle 141"/>
          <p:cNvSpPr/>
          <p:nvPr/>
        </p:nvSpPr>
        <p:spPr>
          <a:xfrm>
            <a:off x="10227945" y="6166757"/>
            <a:ext cx="643890" cy="405493"/>
          </a:xfrm>
          <a:prstGeom prst="rect">
            <a:avLst/>
          </a:prstGeom>
          <a:solidFill>
            <a:srgbClr val="36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Rectangle 142"/>
          <p:cNvSpPr/>
          <p:nvPr/>
        </p:nvSpPr>
        <p:spPr>
          <a:xfrm>
            <a:off x="10871835" y="6166757"/>
            <a:ext cx="643890" cy="405493"/>
          </a:xfrm>
          <a:prstGeom prst="rect">
            <a:avLst/>
          </a:prstGeom>
          <a:solidFill>
            <a:srgbClr val="3D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Rectangle 143"/>
          <p:cNvSpPr/>
          <p:nvPr/>
        </p:nvSpPr>
        <p:spPr>
          <a:xfrm>
            <a:off x="11572875" y="3771900"/>
            <a:ext cx="104775" cy="76676"/>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ectangle 144"/>
          <p:cNvSpPr/>
          <p:nvPr/>
        </p:nvSpPr>
        <p:spPr>
          <a:xfrm>
            <a:off x="11572875" y="3840956"/>
            <a:ext cx="104775" cy="76676"/>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ectangle 145"/>
          <p:cNvSpPr/>
          <p:nvPr/>
        </p:nvSpPr>
        <p:spPr>
          <a:xfrm>
            <a:off x="11572875" y="3910012"/>
            <a:ext cx="104775" cy="76676"/>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Rectangle 146"/>
          <p:cNvSpPr/>
          <p:nvPr/>
        </p:nvSpPr>
        <p:spPr>
          <a:xfrm>
            <a:off x="11572875" y="3979069"/>
            <a:ext cx="104775" cy="76676"/>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Rectangle 147"/>
          <p:cNvSpPr/>
          <p:nvPr/>
        </p:nvSpPr>
        <p:spPr>
          <a:xfrm>
            <a:off x="11572875" y="4048125"/>
            <a:ext cx="104775" cy="76676"/>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ectangle 148"/>
          <p:cNvSpPr/>
          <p:nvPr/>
        </p:nvSpPr>
        <p:spPr>
          <a:xfrm>
            <a:off x="11572875" y="4117181"/>
            <a:ext cx="104775" cy="76676"/>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ectangle 149"/>
          <p:cNvSpPr/>
          <p:nvPr/>
        </p:nvSpPr>
        <p:spPr>
          <a:xfrm>
            <a:off x="11572875" y="4186238"/>
            <a:ext cx="104775" cy="76676"/>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ectangle 150"/>
          <p:cNvSpPr/>
          <p:nvPr/>
        </p:nvSpPr>
        <p:spPr>
          <a:xfrm>
            <a:off x="11572875" y="4255294"/>
            <a:ext cx="104775" cy="76676"/>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ectangle 151"/>
          <p:cNvSpPr/>
          <p:nvPr/>
        </p:nvSpPr>
        <p:spPr>
          <a:xfrm>
            <a:off x="11572875" y="4324350"/>
            <a:ext cx="104775" cy="76676"/>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ectangle 152"/>
          <p:cNvSpPr/>
          <p:nvPr/>
        </p:nvSpPr>
        <p:spPr>
          <a:xfrm>
            <a:off x="11572875" y="4393406"/>
            <a:ext cx="104775" cy="76676"/>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ectangle 153"/>
          <p:cNvSpPr/>
          <p:nvPr/>
        </p:nvSpPr>
        <p:spPr>
          <a:xfrm>
            <a:off x="11572875" y="4462462"/>
            <a:ext cx="104775" cy="76676"/>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Rectangle 154"/>
          <p:cNvSpPr/>
          <p:nvPr/>
        </p:nvSpPr>
        <p:spPr>
          <a:xfrm>
            <a:off x="11572875" y="4531519"/>
            <a:ext cx="104775" cy="76676"/>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Rectangle 155"/>
          <p:cNvSpPr/>
          <p:nvPr/>
        </p:nvSpPr>
        <p:spPr>
          <a:xfrm>
            <a:off x="11572875" y="4600575"/>
            <a:ext cx="104775" cy="76676"/>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ectangle 156"/>
          <p:cNvSpPr/>
          <p:nvPr/>
        </p:nvSpPr>
        <p:spPr>
          <a:xfrm>
            <a:off x="11572875" y="4669631"/>
            <a:ext cx="104775" cy="76676"/>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ectangle 157"/>
          <p:cNvSpPr/>
          <p:nvPr/>
        </p:nvSpPr>
        <p:spPr>
          <a:xfrm>
            <a:off x="11572875" y="4738688"/>
            <a:ext cx="104775" cy="76676"/>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Rectangle 158"/>
          <p:cNvSpPr/>
          <p:nvPr/>
        </p:nvSpPr>
        <p:spPr>
          <a:xfrm>
            <a:off x="11572875" y="4807744"/>
            <a:ext cx="104775" cy="76676"/>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ectangle 159"/>
          <p:cNvSpPr/>
          <p:nvPr/>
        </p:nvSpPr>
        <p:spPr>
          <a:xfrm>
            <a:off x="11572875" y="4876800"/>
            <a:ext cx="104775" cy="76676"/>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Rectangle 160"/>
          <p:cNvSpPr/>
          <p:nvPr/>
        </p:nvSpPr>
        <p:spPr>
          <a:xfrm>
            <a:off x="11572875" y="4945856"/>
            <a:ext cx="104775" cy="76676"/>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Rectangle 161"/>
          <p:cNvSpPr/>
          <p:nvPr/>
        </p:nvSpPr>
        <p:spPr>
          <a:xfrm>
            <a:off x="11572875" y="5014912"/>
            <a:ext cx="104775" cy="76676"/>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Rectangle 162"/>
          <p:cNvSpPr/>
          <p:nvPr/>
        </p:nvSpPr>
        <p:spPr>
          <a:xfrm>
            <a:off x="11572875" y="5083969"/>
            <a:ext cx="104775" cy="76676"/>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Rectangle 163"/>
          <p:cNvSpPr/>
          <p:nvPr/>
        </p:nvSpPr>
        <p:spPr>
          <a:xfrm>
            <a:off x="11572875" y="5153025"/>
            <a:ext cx="104775" cy="76676"/>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Rectangle 164"/>
          <p:cNvSpPr/>
          <p:nvPr/>
        </p:nvSpPr>
        <p:spPr>
          <a:xfrm>
            <a:off x="11572875" y="5222081"/>
            <a:ext cx="104775" cy="76676"/>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Rectangle 165"/>
          <p:cNvSpPr/>
          <p:nvPr/>
        </p:nvSpPr>
        <p:spPr>
          <a:xfrm>
            <a:off x="11572875" y="5291138"/>
            <a:ext cx="104775" cy="76676"/>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Rectangle 166"/>
          <p:cNvSpPr/>
          <p:nvPr/>
        </p:nvSpPr>
        <p:spPr>
          <a:xfrm>
            <a:off x="11572875" y="5360194"/>
            <a:ext cx="104775" cy="76676"/>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Rectangle 167"/>
          <p:cNvSpPr/>
          <p:nvPr/>
        </p:nvSpPr>
        <p:spPr>
          <a:xfrm>
            <a:off x="11572875" y="5429250"/>
            <a:ext cx="104775" cy="76676"/>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Rectangle 168"/>
          <p:cNvSpPr/>
          <p:nvPr/>
        </p:nvSpPr>
        <p:spPr>
          <a:xfrm>
            <a:off x="11572875" y="5498306"/>
            <a:ext cx="104775" cy="76676"/>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Rectangle 169"/>
          <p:cNvSpPr/>
          <p:nvPr/>
        </p:nvSpPr>
        <p:spPr>
          <a:xfrm>
            <a:off x="11572875" y="5567362"/>
            <a:ext cx="104775" cy="76676"/>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Rectangle 170"/>
          <p:cNvSpPr/>
          <p:nvPr/>
        </p:nvSpPr>
        <p:spPr>
          <a:xfrm>
            <a:off x="11572875" y="5636419"/>
            <a:ext cx="104775" cy="76676"/>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Rectangle 171"/>
          <p:cNvSpPr/>
          <p:nvPr/>
        </p:nvSpPr>
        <p:spPr>
          <a:xfrm>
            <a:off x="11572875" y="5705475"/>
            <a:ext cx="104775" cy="76676"/>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Rectangle 172"/>
          <p:cNvSpPr/>
          <p:nvPr/>
        </p:nvSpPr>
        <p:spPr>
          <a:xfrm>
            <a:off x="11572875" y="5774531"/>
            <a:ext cx="104775" cy="76676"/>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Rectangle 173"/>
          <p:cNvSpPr/>
          <p:nvPr/>
        </p:nvSpPr>
        <p:spPr>
          <a:xfrm>
            <a:off x="11572875" y="5843588"/>
            <a:ext cx="104775" cy="76676"/>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Rectangle 174"/>
          <p:cNvSpPr/>
          <p:nvPr/>
        </p:nvSpPr>
        <p:spPr>
          <a:xfrm>
            <a:off x="11572875" y="5912644"/>
            <a:ext cx="104775" cy="76676"/>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Rectangle 175"/>
          <p:cNvSpPr/>
          <p:nvPr/>
        </p:nvSpPr>
        <p:spPr>
          <a:xfrm>
            <a:off x="11572875" y="5981700"/>
            <a:ext cx="104775" cy="76676"/>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Rectangle 176"/>
          <p:cNvSpPr/>
          <p:nvPr/>
        </p:nvSpPr>
        <p:spPr>
          <a:xfrm>
            <a:off x="11572875" y="6050756"/>
            <a:ext cx="104775" cy="76676"/>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Rectangle 177"/>
          <p:cNvSpPr/>
          <p:nvPr/>
        </p:nvSpPr>
        <p:spPr>
          <a:xfrm>
            <a:off x="11572875" y="6119812"/>
            <a:ext cx="104775" cy="76676"/>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Rectangle 178"/>
          <p:cNvSpPr/>
          <p:nvPr/>
        </p:nvSpPr>
        <p:spPr>
          <a:xfrm>
            <a:off x="11572875" y="6188869"/>
            <a:ext cx="104775" cy="76676"/>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Rectangle 179"/>
          <p:cNvSpPr/>
          <p:nvPr/>
        </p:nvSpPr>
        <p:spPr>
          <a:xfrm>
            <a:off x="11572875" y="6257925"/>
            <a:ext cx="104775" cy="76676"/>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Rectangle 180"/>
          <p:cNvSpPr/>
          <p:nvPr/>
        </p:nvSpPr>
        <p:spPr>
          <a:xfrm>
            <a:off x="11572875" y="6326981"/>
            <a:ext cx="104775" cy="76676"/>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Rectangle 181"/>
          <p:cNvSpPr/>
          <p:nvPr/>
        </p:nvSpPr>
        <p:spPr>
          <a:xfrm>
            <a:off x="11572875" y="6396038"/>
            <a:ext cx="104775" cy="76676"/>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Rectangle 182"/>
          <p:cNvSpPr/>
          <p:nvPr/>
        </p:nvSpPr>
        <p:spPr>
          <a:xfrm>
            <a:off x="11572875" y="6465094"/>
            <a:ext cx="104775" cy="76676"/>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Rectangle 183"/>
          <p:cNvSpPr/>
          <p:nvPr/>
        </p:nvSpPr>
        <p:spPr>
          <a:xfrm>
            <a:off x="11572875" y="3771900"/>
            <a:ext cx="104775" cy="27622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TextBox 184"/>
          <p:cNvSpPr txBox="1"/>
          <p:nvPr/>
        </p:nvSpPr>
        <p:spPr>
          <a:xfrm>
            <a:off x="11687175" y="3705225"/>
            <a:ext cx="276225" cy="133350"/>
          </a:xfrm>
          <a:prstGeom prst="rect">
            <a:avLst/>
          </a:prstGeom>
          <a:noFill/>
        </p:spPr>
        <p:txBody>
          <a:bodyPr wrap="none" lIns="0" tIns="0" rIns="0" bIns="0" anchor="ctr">
            <a:spAutoFit/>
          </a:bodyPr>
          <a:lstStyle/>
          <a:p>
            <a:pPr algn="l"/>
            <a:r>
              <a:rPr sz="1100" b="0">
                <a:solidFill>
                  <a:srgbClr val="6C7A89"/>
                </a:solidFill>
                <a:latin typeface="Calibri"/>
              </a:rPr>
              <a:t>14%</a:t>
            </a:r>
          </a:p>
        </p:txBody>
      </p:sp>
      <p:sp>
        <p:nvSpPr>
          <p:cNvPr id="186" name="TextBox 185"/>
          <p:cNvSpPr txBox="1"/>
          <p:nvPr/>
        </p:nvSpPr>
        <p:spPr>
          <a:xfrm>
            <a:off x="11687175" y="5086350"/>
            <a:ext cx="276225" cy="133350"/>
          </a:xfrm>
          <a:prstGeom prst="rect">
            <a:avLst/>
          </a:prstGeom>
          <a:noFill/>
        </p:spPr>
        <p:txBody>
          <a:bodyPr wrap="none" lIns="0" tIns="0" rIns="0" bIns="0" anchor="ctr">
            <a:spAutoFit/>
          </a:bodyPr>
          <a:lstStyle/>
          <a:p>
            <a:pPr algn="l"/>
            <a:r>
              <a:rPr sz="1100" b="0">
                <a:solidFill>
                  <a:srgbClr val="6C7A89"/>
                </a:solidFill>
                <a:latin typeface="Calibri"/>
              </a:rPr>
              <a:t>8%</a:t>
            </a:r>
          </a:p>
        </p:txBody>
      </p:sp>
      <p:sp>
        <p:nvSpPr>
          <p:cNvPr id="187" name="TextBox 186"/>
          <p:cNvSpPr txBox="1"/>
          <p:nvPr/>
        </p:nvSpPr>
        <p:spPr>
          <a:xfrm>
            <a:off x="11687175" y="6467475"/>
            <a:ext cx="276225" cy="133350"/>
          </a:xfrm>
          <a:prstGeom prst="rect">
            <a:avLst/>
          </a:prstGeom>
          <a:noFill/>
        </p:spPr>
        <p:txBody>
          <a:bodyPr wrap="none" lIns="0" tIns="0" rIns="0" bIns="0" anchor="ctr">
            <a:spAutoFit/>
          </a:bodyPr>
          <a:lstStyle/>
          <a:p>
            <a:pPr algn="l"/>
            <a:r>
              <a:rPr sz="1100" b="0">
                <a:solidFill>
                  <a:srgbClr val="6C7A89"/>
                </a:solidFill>
                <a:latin typeface="Calibri"/>
              </a:rPr>
              <a:t>3%</a:t>
            </a:r>
          </a:p>
        </p:txBody>
      </p:sp>
      <p:sp>
        <p:nvSpPr>
          <p:cNvPr id="188" name="TextBox 18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YoY Analysis of USA Market Value, By Product Format (%)</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Year-on-year value growth by Product Format,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Value YoY Growth, By Product Format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198" cy="1724024"/>
        </p:xfrm>
        <a:graphic>
          <a:graphicData uri="http://schemas.openxmlformats.org/drawingml/2006/table">
            <a:tbl>
              <a:tblPr>
                <a:tableStyleId>{5C22544A-7EE6-4342-B048-85BDC9FD1C3A}</a:tableStyleId>
              </a:tblPr>
              <a:tblGrid>
                <a:gridCol w="1168018">
                  <a:extLst>
                    <a:ext uri="{9D8B030D-6E8A-4147-A177-3AD203B41FA5}">
                      <a16:colId xmlns:a16="http://schemas.microsoft.com/office/drawing/2014/main" val="20000"/>
                    </a:ext>
                  </a:extLst>
                </a:gridCol>
                <a:gridCol w="714612">
                  <a:extLst>
                    <a:ext uri="{9D8B030D-6E8A-4147-A177-3AD203B41FA5}">
                      <a16:colId xmlns:a16="http://schemas.microsoft.com/office/drawing/2014/main" val="20001"/>
                    </a:ext>
                  </a:extLst>
                </a:gridCol>
                <a:gridCol w="714612">
                  <a:extLst>
                    <a:ext uri="{9D8B030D-6E8A-4147-A177-3AD203B41FA5}">
                      <a16:colId xmlns:a16="http://schemas.microsoft.com/office/drawing/2014/main" val="20002"/>
                    </a:ext>
                  </a:extLst>
                </a:gridCol>
                <a:gridCol w="714612">
                  <a:extLst>
                    <a:ext uri="{9D8B030D-6E8A-4147-A177-3AD203B41FA5}">
                      <a16:colId xmlns:a16="http://schemas.microsoft.com/office/drawing/2014/main" val="20003"/>
                    </a:ext>
                  </a:extLst>
                </a:gridCol>
                <a:gridCol w="714612">
                  <a:extLst>
                    <a:ext uri="{9D8B030D-6E8A-4147-A177-3AD203B41FA5}">
                      <a16:colId xmlns:a16="http://schemas.microsoft.com/office/drawing/2014/main" val="20004"/>
                    </a:ext>
                  </a:extLst>
                </a:gridCol>
                <a:gridCol w="714612">
                  <a:extLst>
                    <a:ext uri="{9D8B030D-6E8A-4147-A177-3AD203B41FA5}">
                      <a16:colId xmlns:a16="http://schemas.microsoft.com/office/drawing/2014/main" val="20005"/>
                    </a:ext>
                  </a:extLst>
                </a:gridCol>
                <a:gridCol w="714612">
                  <a:extLst>
                    <a:ext uri="{9D8B030D-6E8A-4147-A177-3AD203B41FA5}">
                      <a16:colId xmlns:a16="http://schemas.microsoft.com/office/drawing/2014/main" val="20006"/>
                    </a:ext>
                  </a:extLst>
                </a:gridCol>
                <a:gridCol w="714612">
                  <a:extLst>
                    <a:ext uri="{9D8B030D-6E8A-4147-A177-3AD203B41FA5}">
                      <a16:colId xmlns:a16="http://schemas.microsoft.com/office/drawing/2014/main" val="20007"/>
                    </a:ext>
                  </a:extLst>
                </a:gridCol>
                <a:gridCol w="714612">
                  <a:extLst>
                    <a:ext uri="{9D8B030D-6E8A-4147-A177-3AD203B41FA5}">
                      <a16:colId xmlns:a16="http://schemas.microsoft.com/office/drawing/2014/main" val="20008"/>
                    </a:ext>
                  </a:extLst>
                </a:gridCol>
                <a:gridCol w="714612">
                  <a:extLst>
                    <a:ext uri="{9D8B030D-6E8A-4147-A177-3AD203B41FA5}">
                      <a16:colId xmlns:a16="http://schemas.microsoft.com/office/drawing/2014/main" val="20009"/>
                    </a:ext>
                  </a:extLst>
                </a:gridCol>
                <a:gridCol w="714612">
                  <a:extLst>
                    <a:ext uri="{9D8B030D-6E8A-4147-A177-3AD203B41FA5}">
                      <a16:colId xmlns:a16="http://schemas.microsoft.com/office/drawing/2014/main" val="20010"/>
                    </a:ext>
                  </a:extLst>
                </a:gridCol>
                <a:gridCol w="714612">
                  <a:extLst>
                    <a:ext uri="{9D8B030D-6E8A-4147-A177-3AD203B41FA5}">
                      <a16:colId xmlns:a16="http://schemas.microsoft.com/office/drawing/2014/main" val="20011"/>
                    </a:ext>
                  </a:extLst>
                </a:gridCol>
                <a:gridCol w="714612">
                  <a:extLst>
                    <a:ext uri="{9D8B030D-6E8A-4147-A177-3AD203B41FA5}">
                      <a16:colId xmlns:a16="http://schemas.microsoft.com/office/drawing/2014/main" val="20012"/>
                    </a:ext>
                  </a:extLst>
                </a:gridCol>
                <a:gridCol w="714612">
                  <a:extLst>
                    <a:ext uri="{9D8B030D-6E8A-4147-A177-3AD203B41FA5}">
                      <a16:colId xmlns:a16="http://schemas.microsoft.com/office/drawing/2014/main" val="20013"/>
                    </a:ext>
                  </a:extLst>
                </a:gridCol>
                <a:gridCol w="714612">
                  <a:extLst>
                    <a:ext uri="{9D8B030D-6E8A-4147-A177-3AD203B41FA5}">
                      <a16:colId xmlns:a16="http://schemas.microsoft.com/office/drawing/2014/main" val="20014"/>
                    </a:ext>
                  </a:extLst>
                </a:gridCol>
                <a:gridCol w="714612">
                  <a:extLst>
                    <a:ext uri="{9D8B030D-6E8A-4147-A177-3AD203B41FA5}">
                      <a16:colId xmlns:a16="http://schemas.microsoft.com/office/drawing/2014/main" val="20015"/>
                    </a:ext>
                  </a:extLst>
                </a:gridCol>
              </a:tblGrid>
              <a:tr h="215265">
                <a:tc>
                  <a:txBody>
                    <a:bodyPr/>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15537">
                <a:tc>
                  <a:txBody>
                    <a:bodyPr/>
                    <a:lstStyle/>
                    <a:p>
                      <a:pPr algn="l"/>
                      <a:r>
                        <a:rPr sz="1100" b="1">
                          <a:solidFill>
                            <a:srgbClr val="2E2E2E"/>
                          </a:solidFill>
                          <a:latin typeface="Calibri"/>
                        </a:rPr>
                        <a:t>Capsule</a:t>
                      </a:r>
                      <a:endParaRPr sz="1100"/>
                    </a:p>
                  </a:txBody>
                  <a:tcPr marL="47625" marR="38100" marT="19050" marB="19050" anchor="ctr">
                    <a:solidFill>
                      <a:srgbClr val="FFFFFF"/>
                    </a:solidFill>
                  </a:tcPr>
                </a:tc>
                <a:tc>
                  <a:txBody>
                    <a:bodyPr/>
                    <a:lstStyle/>
                    <a:p>
                      <a:pPr algn="l"/>
                      <a:r>
                        <a:rPr sz="1100" b="1">
                          <a:solidFill>
                            <a:srgbClr val="2E7D32"/>
                          </a:solidFill>
                          <a:latin typeface="Calibri"/>
                        </a:rPr>
                        <a:t>▲ 6.5%</a:t>
                      </a:r>
                      <a:endParaRPr sz="1100"/>
                    </a:p>
                  </a:txBody>
                  <a:tcPr marL="47625" marR="38100" marT="19050" marB="19050" anchor="ctr">
                    <a:solidFill>
                      <a:srgbClr val="FFFFFF"/>
                    </a:solidFill>
                  </a:tcPr>
                </a:tc>
                <a:tc>
                  <a:txBody>
                    <a:bodyPr/>
                    <a:lstStyle/>
                    <a:p>
                      <a:pPr algn="l"/>
                      <a:r>
                        <a:rPr sz="1100" b="1">
                          <a:solidFill>
                            <a:srgbClr val="2E7D32"/>
                          </a:solidFill>
                          <a:latin typeface="Calibri"/>
                        </a:rPr>
                        <a:t>▲ 6.3%</a:t>
                      </a:r>
                      <a:endParaRPr sz="1100"/>
                    </a:p>
                  </a:txBody>
                  <a:tcPr marL="47625" marR="38100" marT="19050" marB="19050" anchor="ctr">
                    <a:solidFill>
                      <a:srgbClr val="FFFFFF"/>
                    </a:solidFill>
                  </a:tcPr>
                </a:tc>
                <a:tc>
                  <a:txBody>
                    <a:bodyPr/>
                    <a:lstStyle/>
                    <a:p>
                      <a:pPr algn="l"/>
                      <a:r>
                        <a:rPr sz="1100" b="1">
                          <a:solidFill>
                            <a:srgbClr val="2E7D32"/>
                          </a:solidFill>
                          <a:latin typeface="Calibri"/>
                        </a:rPr>
                        <a:t>▲ 6.0%</a:t>
                      </a:r>
                      <a:endParaRPr sz="1100"/>
                    </a:p>
                  </a:txBody>
                  <a:tcPr marL="47625" marR="38100" marT="19050" marB="19050" anchor="ctr">
                    <a:solidFill>
                      <a:srgbClr val="FFFFFF"/>
                    </a:solidFill>
                  </a:tcPr>
                </a:tc>
                <a:tc>
                  <a:txBody>
                    <a:bodyPr/>
                    <a:lstStyle/>
                    <a:p>
                      <a:pPr algn="l"/>
                      <a:r>
                        <a:rPr sz="1100" b="1">
                          <a:solidFill>
                            <a:srgbClr val="2E7D32"/>
                          </a:solidFill>
                          <a:latin typeface="Calibri"/>
                        </a:rPr>
                        <a:t>▲ 6.0%</a:t>
                      </a:r>
                      <a:endParaRPr sz="1100"/>
                    </a:p>
                  </a:txBody>
                  <a:tcPr marL="47625" marR="38100" marT="19050" marB="19050" anchor="ctr">
                    <a:solidFill>
                      <a:srgbClr val="FFFFFF"/>
                    </a:solidFill>
                  </a:tcPr>
                </a:tc>
                <a:tc>
                  <a:txBody>
                    <a:bodyPr/>
                    <a:lstStyle/>
                    <a:p>
                      <a:pPr algn="l"/>
                      <a:r>
                        <a:rPr sz="1100" b="1">
                          <a:solidFill>
                            <a:srgbClr val="2E7D32"/>
                          </a:solidFill>
                          <a:latin typeface="Calibri"/>
                        </a:rPr>
                        <a:t>▲ 6.5%</a:t>
                      </a:r>
                      <a:endParaRPr sz="1100"/>
                    </a:p>
                  </a:txBody>
                  <a:tcPr marL="47625" marR="38100" marT="19050" marB="19050" anchor="ctr">
                    <a:solidFill>
                      <a:srgbClr val="FFFFFF"/>
                    </a:solidFill>
                  </a:tcPr>
                </a:tc>
                <a:tc>
                  <a:txBody>
                    <a:bodyPr/>
                    <a:lstStyle/>
                    <a:p>
                      <a:pPr algn="l"/>
                      <a:r>
                        <a:rPr sz="1100" b="1">
                          <a:solidFill>
                            <a:srgbClr val="2E7D32"/>
                          </a:solidFill>
                          <a:latin typeface="Calibri"/>
                        </a:rPr>
                        <a:t>▲ 6.9%</a:t>
                      </a:r>
                      <a:endParaRPr sz="1100"/>
                    </a:p>
                  </a:txBody>
                  <a:tcPr marL="47625" marR="38100" marT="19050" marB="19050" anchor="ctr">
                    <a:solidFill>
                      <a:srgbClr val="FFFFFF"/>
                    </a:solidFill>
                  </a:tcPr>
                </a:tc>
                <a:tc>
                  <a:txBody>
                    <a:bodyPr/>
                    <a:lstStyle/>
                    <a:p>
                      <a:pPr algn="l"/>
                      <a:r>
                        <a:rPr sz="1100" b="1">
                          <a:solidFill>
                            <a:srgbClr val="2E7D32"/>
                          </a:solidFill>
                          <a:latin typeface="Calibri"/>
                        </a:rPr>
                        <a:t>▲ 7.4%</a:t>
                      </a:r>
                      <a:endParaRPr sz="1100"/>
                    </a:p>
                  </a:txBody>
                  <a:tcPr marL="47625" marR="38100" marT="19050" marB="19050" anchor="ctr">
                    <a:solidFill>
                      <a:srgbClr val="FFFFFF"/>
                    </a:solidFill>
                  </a:tcPr>
                </a:tc>
                <a:tc>
                  <a:txBody>
                    <a:bodyPr/>
                    <a:lstStyle/>
                    <a:p>
                      <a:pPr algn="l"/>
                      <a:r>
                        <a:rPr sz="1100" b="1">
                          <a:solidFill>
                            <a:srgbClr val="2E7D32"/>
                          </a:solidFill>
                          <a:latin typeface="Calibri"/>
                        </a:rPr>
                        <a:t>▲ 8.0%</a:t>
                      </a:r>
                      <a:endParaRPr sz="1100"/>
                    </a:p>
                  </a:txBody>
                  <a:tcPr marL="47625" marR="38100" marT="19050" marB="19050" anchor="ctr">
                    <a:solidFill>
                      <a:srgbClr val="FFFFFF"/>
                    </a:solidFill>
                  </a:tcPr>
                </a:tc>
                <a:tc>
                  <a:txBody>
                    <a:bodyPr/>
                    <a:lstStyle/>
                    <a:p>
                      <a:pPr algn="l"/>
                      <a:r>
                        <a:rPr sz="1100" b="1">
                          <a:solidFill>
                            <a:srgbClr val="2E7D32"/>
                          </a:solidFill>
                          <a:latin typeface="Calibri"/>
                        </a:rPr>
                        <a:t>▲ 8.5%</a:t>
                      </a:r>
                      <a:endParaRPr sz="1100"/>
                    </a:p>
                  </a:txBody>
                  <a:tcPr marL="47625" marR="38100" marT="19050" marB="19050" anchor="ctr">
                    <a:solidFill>
                      <a:srgbClr val="FFFFFF"/>
                    </a:solidFill>
                  </a:tcPr>
                </a:tc>
                <a:tc>
                  <a:txBody>
                    <a:bodyPr/>
                    <a:lstStyle/>
                    <a:p>
                      <a:pPr algn="l"/>
                      <a:r>
                        <a:rPr sz="1100" b="1">
                          <a:solidFill>
                            <a:srgbClr val="2E7D32"/>
                          </a:solidFill>
                          <a:latin typeface="Calibri"/>
                        </a:rPr>
                        <a:t>▲ 8.6%</a:t>
                      </a:r>
                      <a:endParaRPr sz="1100"/>
                    </a:p>
                  </a:txBody>
                  <a:tcPr marL="47625" marR="38100" marT="19050" marB="19050" anchor="ctr">
                    <a:solidFill>
                      <a:srgbClr val="FFFFFF"/>
                    </a:solidFill>
                  </a:tcPr>
                </a:tc>
                <a:tc>
                  <a:txBody>
                    <a:bodyPr/>
                    <a:lstStyle/>
                    <a:p>
                      <a:pPr algn="l"/>
                      <a:r>
                        <a:rPr sz="1100" b="1">
                          <a:solidFill>
                            <a:srgbClr val="2E7D32"/>
                          </a:solidFill>
                          <a:latin typeface="Calibri"/>
                        </a:rPr>
                        <a:t>▲ 8.4%</a:t>
                      </a:r>
                      <a:endParaRPr sz="1100"/>
                    </a:p>
                  </a:txBody>
                  <a:tcPr marL="47625" marR="38100" marT="19050" marB="19050" anchor="ctr">
                    <a:solidFill>
                      <a:srgbClr val="FFFFFF"/>
                    </a:solidFill>
                  </a:tcPr>
                </a:tc>
                <a:tc>
                  <a:txBody>
                    <a:bodyPr/>
                    <a:lstStyle/>
                    <a:p>
                      <a:pPr algn="l"/>
                      <a:r>
                        <a:rPr sz="1100" b="1">
                          <a:solidFill>
                            <a:srgbClr val="2E7D32"/>
                          </a:solidFill>
                          <a:latin typeface="Calibri"/>
                        </a:rPr>
                        <a:t>▲ 8.1%</a:t>
                      </a:r>
                      <a:endParaRPr sz="1100"/>
                    </a:p>
                  </a:txBody>
                  <a:tcPr marL="47625" marR="38100" marT="19050" marB="19050" anchor="ctr">
                    <a:solidFill>
                      <a:srgbClr val="FFFFFF"/>
                    </a:solidFill>
                  </a:tcPr>
                </a:tc>
                <a:tc>
                  <a:txBody>
                    <a:bodyPr/>
                    <a:lstStyle/>
                    <a:p>
                      <a:pPr algn="l"/>
                      <a:r>
                        <a:rPr sz="1100" b="1">
                          <a:solidFill>
                            <a:srgbClr val="2E7D32"/>
                          </a:solidFill>
                          <a:latin typeface="Calibri"/>
                        </a:rPr>
                        <a:t>▲ 7.8%</a:t>
                      </a:r>
                      <a:endParaRPr sz="1100"/>
                    </a:p>
                  </a:txBody>
                  <a:tcPr marL="47625" marR="38100" marT="19050" marB="19050" anchor="ctr">
                    <a:solidFill>
                      <a:srgbClr val="FFFFFF"/>
                    </a:solidFill>
                  </a:tcPr>
                </a:tc>
                <a:tc>
                  <a:txBody>
                    <a:bodyPr/>
                    <a:lstStyle/>
                    <a:p>
                      <a:pPr algn="l"/>
                      <a:r>
                        <a:rPr sz="1100" b="1">
                          <a:solidFill>
                            <a:srgbClr val="2E7D32"/>
                          </a:solidFill>
                          <a:latin typeface="Calibri"/>
                        </a:rPr>
                        <a:t>▲ 7.7%</a:t>
                      </a:r>
                      <a:endParaRPr sz="1100"/>
                    </a:p>
                  </a:txBody>
                  <a:tcPr marL="47625" marR="38100" marT="19050" marB="19050" anchor="ctr">
                    <a:solidFill>
                      <a:srgbClr val="FFFFFF"/>
                    </a:solidFill>
                  </a:tcPr>
                </a:tc>
                <a:tc>
                  <a:txBody>
                    <a:bodyPr/>
                    <a:lstStyle/>
                    <a:p>
                      <a:pPr algn="l"/>
                      <a:r>
                        <a:rPr sz="1100" b="1">
                          <a:solidFill>
                            <a:srgbClr val="2E7D32"/>
                          </a:solidFill>
                          <a:latin typeface="Calibri"/>
                        </a:rPr>
                        <a:t>▲ 7.6%</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15537">
                <a:tc>
                  <a:txBody>
                    <a:bodyPr/>
                    <a:lstStyle/>
                    <a:p>
                      <a:pPr algn="l"/>
                      <a:r>
                        <a:rPr sz="1100" b="1">
                          <a:solidFill>
                            <a:srgbClr val="2E2E2E"/>
                          </a:solidFill>
                          <a:latin typeface="Calibri"/>
                        </a:rPr>
                        <a:t>Tablet</a:t>
                      </a:r>
                      <a:endParaRPr sz="1100"/>
                    </a:p>
                  </a:txBody>
                  <a:tcPr marL="47625" marR="38100" marT="19050" marB="19050" anchor="ctr">
                    <a:solidFill>
                      <a:srgbClr val="F5F8FA"/>
                    </a:solidFill>
                  </a:tcPr>
                </a:tc>
                <a:tc>
                  <a:txBody>
                    <a:bodyPr/>
                    <a:lstStyle/>
                    <a:p>
                      <a:pPr algn="l"/>
                      <a:r>
                        <a:rPr sz="1100" b="1">
                          <a:solidFill>
                            <a:srgbClr val="A86F00"/>
                          </a:solidFill>
                          <a:latin typeface="Calibri"/>
                        </a:rPr>
                        <a:t>▶ 2.9%</a:t>
                      </a:r>
                      <a:endParaRPr sz="1100"/>
                    </a:p>
                  </a:txBody>
                  <a:tcPr marL="47625" marR="38100" marT="19050" marB="19050" anchor="ctr">
                    <a:solidFill>
                      <a:srgbClr val="F5F8FA"/>
                    </a:solidFill>
                  </a:tcPr>
                </a:tc>
                <a:tc>
                  <a:txBody>
                    <a:bodyPr/>
                    <a:lstStyle/>
                    <a:p>
                      <a:pPr algn="l"/>
                      <a:r>
                        <a:rPr sz="1100" b="1">
                          <a:solidFill>
                            <a:srgbClr val="A86F00"/>
                          </a:solidFill>
                          <a:latin typeface="Calibri"/>
                        </a:rPr>
                        <a:t>▶ 3.1%</a:t>
                      </a:r>
                      <a:endParaRPr sz="1100"/>
                    </a:p>
                  </a:txBody>
                  <a:tcPr marL="47625" marR="38100" marT="19050" marB="19050" anchor="ctr">
                    <a:solidFill>
                      <a:srgbClr val="F5F8FA"/>
                    </a:solidFill>
                  </a:tcPr>
                </a:tc>
                <a:tc>
                  <a:txBody>
                    <a:bodyPr/>
                    <a:lstStyle/>
                    <a:p>
                      <a:pPr algn="l"/>
                      <a:r>
                        <a:rPr sz="1100" b="1">
                          <a:solidFill>
                            <a:srgbClr val="A86F00"/>
                          </a:solidFill>
                          <a:latin typeface="Calibri"/>
                        </a:rPr>
                        <a:t>▶ 3.2%</a:t>
                      </a:r>
                      <a:endParaRPr sz="1100"/>
                    </a:p>
                  </a:txBody>
                  <a:tcPr marL="47625" marR="38100" marT="19050" marB="19050" anchor="ctr">
                    <a:solidFill>
                      <a:srgbClr val="F5F8FA"/>
                    </a:solidFill>
                  </a:tcPr>
                </a:tc>
                <a:tc>
                  <a:txBody>
                    <a:bodyPr/>
                    <a:lstStyle/>
                    <a:p>
                      <a:pPr algn="l"/>
                      <a:r>
                        <a:rPr sz="1100" b="1">
                          <a:solidFill>
                            <a:srgbClr val="A86F00"/>
                          </a:solidFill>
                          <a:latin typeface="Calibri"/>
                        </a:rPr>
                        <a:t>▶ 3.2%</a:t>
                      </a:r>
                      <a:endParaRPr sz="1100"/>
                    </a:p>
                  </a:txBody>
                  <a:tcPr marL="47625" marR="38100" marT="19050" marB="19050" anchor="ctr">
                    <a:solidFill>
                      <a:srgbClr val="F5F8FA"/>
                    </a:solidFill>
                  </a:tcPr>
                </a:tc>
                <a:tc>
                  <a:txBody>
                    <a:bodyPr/>
                    <a:lstStyle/>
                    <a:p>
                      <a:pPr algn="l"/>
                      <a:r>
                        <a:rPr sz="1100" b="1">
                          <a:solidFill>
                            <a:srgbClr val="A86F00"/>
                          </a:solidFill>
                          <a:latin typeface="Calibri"/>
                        </a:rPr>
                        <a:t>▶ 3.4%</a:t>
                      </a:r>
                      <a:endParaRPr sz="1100"/>
                    </a:p>
                  </a:txBody>
                  <a:tcPr marL="47625" marR="38100" marT="19050" marB="19050" anchor="ctr">
                    <a:solidFill>
                      <a:srgbClr val="F5F8FA"/>
                    </a:solidFill>
                  </a:tcPr>
                </a:tc>
                <a:tc>
                  <a:txBody>
                    <a:bodyPr/>
                    <a:lstStyle/>
                    <a:p>
                      <a:pPr algn="l"/>
                      <a:r>
                        <a:rPr sz="1100" b="1">
                          <a:solidFill>
                            <a:srgbClr val="A86F00"/>
                          </a:solidFill>
                          <a:latin typeface="Calibri"/>
                        </a:rPr>
                        <a:t>▶ 3.3%</a:t>
                      </a:r>
                      <a:endParaRPr sz="1100"/>
                    </a:p>
                  </a:txBody>
                  <a:tcPr marL="47625" marR="38100" marT="19050" marB="19050" anchor="ctr">
                    <a:solidFill>
                      <a:srgbClr val="F5F8FA"/>
                    </a:solidFill>
                  </a:tcPr>
                </a:tc>
                <a:tc>
                  <a:txBody>
                    <a:bodyPr/>
                    <a:lstStyle/>
                    <a:p>
                      <a:pPr algn="l"/>
                      <a:r>
                        <a:rPr sz="1100" b="1">
                          <a:solidFill>
                            <a:srgbClr val="A86F00"/>
                          </a:solidFill>
                          <a:latin typeface="Calibri"/>
                        </a:rPr>
                        <a:t>▶ 3.4%</a:t>
                      </a:r>
                      <a:endParaRPr sz="1100"/>
                    </a:p>
                  </a:txBody>
                  <a:tcPr marL="47625" marR="38100" marT="19050" marB="19050" anchor="ctr">
                    <a:solidFill>
                      <a:srgbClr val="F5F8FA"/>
                    </a:solidFill>
                  </a:tcPr>
                </a:tc>
                <a:tc>
                  <a:txBody>
                    <a:bodyPr/>
                    <a:lstStyle/>
                    <a:p>
                      <a:pPr algn="l"/>
                      <a:r>
                        <a:rPr sz="1100" b="1">
                          <a:solidFill>
                            <a:srgbClr val="A86F00"/>
                          </a:solidFill>
                          <a:latin typeface="Calibri"/>
                        </a:rPr>
                        <a:t>▶ 3.5%</a:t>
                      </a:r>
                      <a:endParaRPr sz="1100"/>
                    </a:p>
                  </a:txBody>
                  <a:tcPr marL="47625" marR="38100" marT="19050" marB="19050" anchor="ctr">
                    <a:solidFill>
                      <a:srgbClr val="F5F8FA"/>
                    </a:solidFill>
                  </a:tcPr>
                </a:tc>
                <a:tc>
                  <a:txBody>
                    <a:bodyPr/>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a:lstStyle/>
                    <a:p>
                      <a:pPr algn="l"/>
                      <a:r>
                        <a:rPr sz="1100" b="1">
                          <a:solidFill>
                            <a:srgbClr val="A86F00"/>
                          </a:solidFill>
                          <a:latin typeface="Calibri"/>
                        </a:rPr>
                        <a:t>▶ 3.8%</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15537">
                <a:tc>
                  <a:txBody>
                    <a:bodyPr/>
                    <a:lstStyle/>
                    <a:p>
                      <a:pPr algn="l"/>
                      <a:r>
                        <a:rPr sz="1100" b="1">
                          <a:solidFill>
                            <a:srgbClr val="2E2E2E"/>
                          </a:solidFill>
                          <a:latin typeface="Calibri"/>
                        </a:rPr>
                        <a:t>Softgels</a:t>
                      </a:r>
                      <a:endParaRPr sz="1100"/>
                    </a:p>
                  </a:txBody>
                  <a:tcPr marL="47625" marR="38100" marT="19050" marB="19050" anchor="ctr">
                    <a:solidFill>
                      <a:srgbClr val="FFFFFF"/>
                    </a:solidFill>
                  </a:tcPr>
                </a:tc>
                <a:tc>
                  <a:txBody>
                    <a:bodyPr/>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a:lstStyle/>
                    <a:p>
                      <a:pPr algn="l"/>
                      <a:r>
                        <a:rPr sz="1100" b="1">
                          <a:solidFill>
                            <a:srgbClr val="A86F00"/>
                          </a:solidFill>
                          <a:latin typeface="Calibri"/>
                        </a:rPr>
                        <a:t>▶ 4.8%</a:t>
                      </a:r>
                      <a:endParaRPr sz="1100"/>
                    </a:p>
                  </a:txBody>
                  <a:tcPr marL="47625" marR="38100" marT="19050" marB="19050" anchor="ctr">
                    <a:solidFill>
                      <a:srgbClr val="FFFFFF"/>
                    </a:solidFill>
                  </a:tcPr>
                </a:tc>
                <a:tc>
                  <a:txBody>
                    <a:bodyPr/>
                    <a:lstStyle/>
                    <a:p>
                      <a:pPr algn="l"/>
                      <a:r>
                        <a:rPr sz="1100" b="1">
                          <a:solidFill>
                            <a:srgbClr val="A86F00"/>
                          </a:solidFill>
                          <a:latin typeface="Calibri"/>
                        </a:rPr>
                        <a:t>▶ 4.7%</a:t>
                      </a:r>
                      <a:endParaRPr sz="1100"/>
                    </a:p>
                  </a:txBody>
                  <a:tcPr marL="47625" marR="38100" marT="19050" marB="19050" anchor="ctr">
                    <a:solidFill>
                      <a:srgbClr val="FFFFFF"/>
                    </a:solidFill>
                  </a:tcPr>
                </a:tc>
                <a:tc>
                  <a:txBody>
                    <a:bodyPr/>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a:lstStyle/>
                    <a:p>
                      <a:pPr algn="l"/>
                      <a:r>
                        <a:rPr sz="1100" b="1">
                          <a:solidFill>
                            <a:srgbClr val="A86F00"/>
                          </a:solidFill>
                          <a:latin typeface="Calibri"/>
                        </a:rPr>
                        <a:t>▶ 4.7%</a:t>
                      </a:r>
                      <a:endParaRPr sz="1100"/>
                    </a:p>
                  </a:txBody>
                  <a:tcPr marL="47625" marR="38100" marT="19050" marB="19050" anchor="ctr">
                    <a:solidFill>
                      <a:srgbClr val="FFFFFF"/>
                    </a:solidFill>
                  </a:tcPr>
                </a:tc>
                <a:tc>
                  <a:txBody>
                    <a:bodyPr/>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a:lstStyle/>
                    <a:p>
                      <a:pPr algn="l"/>
                      <a:r>
                        <a:rPr sz="1100" b="1">
                          <a:solidFill>
                            <a:srgbClr val="A86F00"/>
                          </a:solidFill>
                          <a:latin typeface="Calibri"/>
                        </a:rPr>
                        <a:t>▶ 5.3%</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15537">
                <a:tc>
                  <a:txBody>
                    <a:bodyPr/>
                    <a:lstStyle/>
                    <a:p>
                      <a:pPr algn="l"/>
                      <a:r>
                        <a:rPr sz="1100" b="1">
                          <a:solidFill>
                            <a:srgbClr val="2E2E2E"/>
                          </a:solidFill>
                          <a:latin typeface="Calibri"/>
                        </a:rPr>
                        <a:t>Gummies</a:t>
                      </a:r>
                      <a:endParaRPr sz="1100"/>
                    </a:p>
                  </a:txBody>
                  <a:tcPr marL="47625" marR="38100" marT="19050" marB="19050" anchor="ctr">
                    <a:solidFill>
                      <a:srgbClr val="F5F8FA"/>
                    </a:solidFill>
                  </a:tcPr>
                </a:tc>
                <a:tc>
                  <a:txBody>
                    <a:bodyPr/>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a:lstStyle/>
                    <a:p>
                      <a:pPr algn="l"/>
                      <a:r>
                        <a:rPr sz="1100" b="1">
                          <a:solidFill>
                            <a:srgbClr val="2E7D32"/>
                          </a:solidFill>
                          <a:latin typeface="Calibri"/>
                        </a:rPr>
                        <a:t>▲ 6.2%</a:t>
                      </a:r>
                      <a:endParaRPr sz="1100"/>
                    </a:p>
                  </a:txBody>
                  <a:tcPr marL="47625" marR="38100" marT="19050" marB="19050" anchor="ctr">
                    <a:solidFill>
                      <a:srgbClr val="F5F8FA"/>
                    </a:solidFill>
                  </a:tcPr>
                </a:tc>
                <a:tc>
                  <a:txBody>
                    <a:bodyPr/>
                    <a:lstStyle/>
                    <a:p>
                      <a:pPr algn="l"/>
                      <a:r>
                        <a:rPr sz="1100" b="1">
                          <a:solidFill>
                            <a:srgbClr val="2E7D32"/>
                          </a:solidFill>
                          <a:latin typeface="Calibri"/>
                        </a:rPr>
                        <a:t>▲ 6.5%</a:t>
                      </a:r>
                      <a:endParaRPr sz="1100"/>
                    </a:p>
                  </a:txBody>
                  <a:tcPr marL="47625" marR="38100" marT="19050" marB="19050" anchor="ctr">
                    <a:solidFill>
                      <a:srgbClr val="F5F8FA"/>
                    </a:solidFill>
                  </a:tcPr>
                </a:tc>
                <a:tc>
                  <a:txBody>
                    <a:bodyPr/>
                    <a:lstStyle/>
                    <a:p>
                      <a:pPr algn="l"/>
                      <a:r>
                        <a:rPr sz="1100" b="1">
                          <a:solidFill>
                            <a:srgbClr val="2E7D32"/>
                          </a:solidFill>
                          <a:latin typeface="Calibri"/>
                        </a:rPr>
                        <a:t>▲ 7.0%</a:t>
                      </a:r>
                      <a:endParaRPr sz="1100"/>
                    </a:p>
                  </a:txBody>
                  <a:tcPr marL="47625" marR="38100" marT="19050" marB="19050" anchor="ctr">
                    <a:solidFill>
                      <a:srgbClr val="F5F8FA"/>
                    </a:solidFill>
                  </a:tcPr>
                </a:tc>
                <a:tc>
                  <a:txBody>
                    <a:bodyPr/>
                    <a:lstStyle/>
                    <a:p>
                      <a:pPr algn="l"/>
                      <a:r>
                        <a:rPr sz="1100" b="1">
                          <a:solidFill>
                            <a:srgbClr val="2E7D32"/>
                          </a:solidFill>
                          <a:latin typeface="Calibri"/>
                        </a:rPr>
                        <a:t>▲ 7.4%</a:t>
                      </a:r>
                      <a:endParaRPr sz="1100"/>
                    </a:p>
                  </a:txBody>
                  <a:tcPr marL="47625" marR="38100" marT="19050" marB="19050" anchor="ctr">
                    <a:solidFill>
                      <a:srgbClr val="F5F8FA"/>
                    </a:solidFill>
                  </a:tcPr>
                </a:tc>
                <a:tc>
                  <a:txBody>
                    <a:bodyPr/>
                    <a:lstStyle/>
                    <a:p>
                      <a:pPr algn="l"/>
                      <a:r>
                        <a:rPr sz="1100" b="1">
                          <a:solidFill>
                            <a:srgbClr val="2E7D32"/>
                          </a:solidFill>
                          <a:latin typeface="Calibri"/>
                        </a:rPr>
                        <a:t>▲ 7.7%</a:t>
                      </a:r>
                      <a:endParaRPr sz="1100"/>
                    </a:p>
                  </a:txBody>
                  <a:tcPr marL="47625" marR="38100" marT="19050" marB="19050" anchor="ctr">
                    <a:solidFill>
                      <a:srgbClr val="F5F8FA"/>
                    </a:solidFill>
                  </a:tcPr>
                </a:tc>
                <a:tc>
                  <a:txBody>
                    <a:bodyPr/>
                    <a:lstStyle/>
                    <a:p>
                      <a:pPr algn="l"/>
                      <a:r>
                        <a:rPr sz="1100" b="1">
                          <a:solidFill>
                            <a:srgbClr val="2E7D32"/>
                          </a:solidFill>
                          <a:latin typeface="Calibri"/>
                        </a:rPr>
                        <a:t>▲ 8.2%</a:t>
                      </a:r>
                      <a:endParaRPr sz="1100"/>
                    </a:p>
                  </a:txBody>
                  <a:tcPr marL="47625" marR="38100" marT="19050" marB="19050" anchor="ctr">
                    <a:solidFill>
                      <a:srgbClr val="F5F8FA"/>
                    </a:solidFill>
                  </a:tcPr>
                </a:tc>
                <a:tc>
                  <a:txBody>
                    <a:bodyPr/>
                    <a:lstStyle/>
                    <a:p>
                      <a:pPr algn="l"/>
                      <a:r>
                        <a:rPr sz="1100" b="1">
                          <a:solidFill>
                            <a:srgbClr val="2E7D32"/>
                          </a:solidFill>
                          <a:latin typeface="Calibri"/>
                        </a:rPr>
                        <a:t>▲ 8.6%</a:t>
                      </a:r>
                      <a:endParaRPr sz="1100"/>
                    </a:p>
                  </a:txBody>
                  <a:tcPr marL="47625" marR="38100" marT="19050" marB="19050" anchor="ctr">
                    <a:solidFill>
                      <a:srgbClr val="F5F8FA"/>
                    </a:solidFill>
                  </a:tcPr>
                </a:tc>
                <a:tc>
                  <a:txBody>
                    <a:bodyPr/>
                    <a:lstStyle/>
                    <a:p>
                      <a:pPr algn="l"/>
                      <a:r>
                        <a:rPr sz="1100" b="1">
                          <a:solidFill>
                            <a:srgbClr val="2E7D32"/>
                          </a:solidFill>
                          <a:latin typeface="Calibri"/>
                        </a:rPr>
                        <a:t>▲ 9.2%</a:t>
                      </a:r>
                      <a:endParaRPr sz="1100"/>
                    </a:p>
                  </a:txBody>
                  <a:tcPr marL="47625" marR="38100" marT="19050" marB="19050" anchor="ctr">
                    <a:solidFill>
                      <a:srgbClr val="F5F8FA"/>
                    </a:solidFill>
                  </a:tcPr>
                </a:tc>
                <a:tc>
                  <a:txBody>
                    <a:bodyPr/>
                    <a:lstStyle/>
                    <a:p>
                      <a:pPr algn="l"/>
                      <a:r>
                        <a:rPr sz="1100" b="1">
                          <a:solidFill>
                            <a:srgbClr val="2E7D32"/>
                          </a:solidFill>
                          <a:latin typeface="Calibri"/>
                        </a:rPr>
                        <a:t>▲ 9.7%</a:t>
                      </a:r>
                      <a:endParaRPr sz="1100"/>
                    </a:p>
                  </a:txBody>
                  <a:tcPr marL="47625" marR="38100" marT="19050" marB="19050" anchor="ctr">
                    <a:solidFill>
                      <a:srgbClr val="F5F8FA"/>
                    </a:solidFill>
                  </a:tcPr>
                </a:tc>
                <a:tc>
                  <a:txBody>
                    <a:bodyPr/>
                    <a:lstStyle/>
                    <a:p>
                      <a:pPr algn="l"/>
                      <a:r>
                        <a:rPr sz="1100" b="1">
                          <a:solidFill>
                            <a:srgbClr val="2E7D32"/>
                          </a:solidFill>
                          <a:latin typeface="Calibri"/>
                        </a:rPr>
                        <a:t>▲ 9.9%</a:t>
                      </a:r>
                      <a:endParaRPr sz="1100"/>
                    </a:p>
                  </a:txBody>
                  <a:tcPr marL="47625" marR="38100" marT="19050" marB="19050" anchor="ctr">
                    <a:solidFill>
                      <a:srgbClr val="F5F8FA"/>
                    </a:solidFill>
                  </a:tcPr>
                </a:tc>
                <a:tc>
                  <a:txBody>
                    <a:bodyPr/>
                    <a:lstStyle/>
                    <a:p>
                      <a:pPr algn="l"/>
                      <a:r>
                        <a:rPr sz="1100" b="1">
                          <a:solidFill>
                            <a:srgbClr val="2E7D32"/>
                          </a:solidFill>
                          <a:latin typeface="Calibri"/>
                        </a:rPr>
                        <a:t>▲ 10.0%</a:t>
                      </a:r>
                      <a:endParaRPr sz="1100"/>
                    </a:p>
                  </a:txBody>
                  <a:tcPr marL="47625" marR="38100" marT="19050" marB="19050" anchor="ctr">
                    <a:solidFill>
                      <a:srgbClr val="F5F8FA"/>
                    </a:solidFill>
                  </a:tcPr>
                </a:tc>
                <a:tc>
                  <a:txBody>
                    <a:bodyPr/>
                    <a:lstStyle/>
                    <a:p>
                      <a:pPr algn="l"/>
                      <a:r>
                        <a:rPr sz="1100" b="1">
                          <a:solidFill>
                            <a:srgbClr val="2E7D32"/>
                          </a:solidFill>
                          <a:latin typeface="Calibri"/>
                        </a:rPr>
                        <a:t>▲ 9.7%</a:t>
                      </a:r>
                      <a:endParaRPr sz="1100"/>
                    </a:p>
                  </a:txBody>
                  <a:tcPr marL="47625" marR="38100" marT="19050" marB="19050" anchor="ctr">
                    <a:solidFill>
                      <a:srgbClr val="F5F8FA"/>
                    </a:solidFill>
                  </a:tcPr>
                </a:tc>
                <a:tc>
                  <a:txBody>
                    <a:bodyPr/>
                    <a:lstStyle/>
                    <a:p>
                      <a:pPr algn="l"/>
                      <a:r>
                        <a:rPr sz="1100" b="1">
                          <a:solidFill>
                            <a:srgbClr val="2E7D32"/>
                          </a:solidFill>
                          <a:latin typeface="Calibri"/>
                        </a:rPr>
                        <a:t>▲ 9.5%</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15537">
                <a:tc>
                  <a:txBody>
                    <a:bodyPr/>
                    <a:lstStyle/>
                    <a:p>
                      <a:pPr algn="l"/>
                      <a:r>
                        <a:rPr sz="1100" b="1">
                          <a:solidFill>
                            <a:srgbClr val="2E2E2E"/>
                          </a:solidFill>
                          <a:latin typeface="Calibri"/>
                        </a:rPr>
                        <a:t>Powder</a:t>
                      </a:r>
                      <a:endParaRPr sz="1100"/>
                    </a:p>
                  </a:txBody>
                  <a:tcPr marL="47625" marR="38100" marT="19050" marB="19050" anchor="ctr">
                    <a:solidFill>
                      <a:srgbClr val="FFFFFF"/>
                    </a:solidFill>
                  </a:tcPr>
                </a:tc>
                <a:tc>
                  <a:txBody>
                    <a:bodyPr/>
                    <a:lstStyle/>
                    <a:p>
                      <a:pPr algn="l"/>
                      <a:r>
                        <a:rPr sz="1100" b="1">
                          <a:solidFill>
                            <a:srgbClr val="2E7D32"/>
                          </a:solidFill>
                          <a:latin typeface="Calibri"/>
                        </a:rPr>
                        <a:t>▲ 6.4%</a:t>
                      </a:r>
                      <a:endParaRPr sz="1100"/>
                    </a:p>
                  </a:txBody>
                  <a:tcPr marL="47625" marR="38100" marT="19050" marB="19050" anchor="ctr">
                    <a:solidFill>
                      <a:srgbClr val="FFFFFF"/>
                    </a:solidFill>
                  </a:tcPr>
                </a:tc>
                <a:tc>
                  <a:txBody>
                    <a:bodyPr/>
                    <a:lstStyle/>
                    <a:p>
                      <a:pPr algn="l"/>
                      <a:r>
                        <a:rPr sz="1100" b="1">
                          <a:solidFill>
                            <a:srgbClr val="2E7D32"/>
                          </a:solidFill>
                          <a:latin typeface="Calibri"/>
                        </a:rPr>
                        <a:t>▲ 7.3%</a:t>
                      </a:r>
                      <a:endParaRPr sz="1100"/>
                    </a:p>
                  </a:txBody>
                  <a:tcPr marL="47625" marR="38100" marT="19050" marB="19050" anchor="ctr">
                    <a:solidFill>
                      <a:srgbClr val="FFFFFF"/>
                    </a:solidFill>
                  </a:tcPr>
                </a:tc>
                <a:tc>
                  <a:txBody>
                    <a:bodyPr/>
                    <a:lstStyle/>
                    <a:p>
                      <a:pPr algn="l"/>
                      <a:r>
                        <a:rPr sz="1100" b="1">
                          <a:solidFill>
                            <a:srgbClr val="2E7D32"/>
                          </a:solidFill>
                          <a:latin typeface="Calibri"/>
                        </a:rPr>
                        <a:t>▲ 8.0%</a:t>
                      </a:r>
                      <a:endParaRPr sz="1100"/>
                    </a:p>
                  </a:txBody>
                  <a:tcPr marL="47625" marR="38100" marT="19050" marB="19050" anchor="ctr">
                    <a:solidFill>
                      <a:srgbClr val="FFFFFF"/>
                    </a:solidFill>
                  </a:tcPr>
                </a:tc>
                <a:tc>
                  <a:txBody>
                    <a:bodyPr/>
                    <a:lstStyle/>
                    <a:p>
                      <a:pPr algn="l"/>
                      <a:r>
                        <a:rPr sz="1100" b="1">
                          <a:solidFill>
                            <a:srgbClr val="2E7D32"/>
                          </a:solidFill>
                          <a:latin typeface="Calibri"/>
                        </a:rPr>
                        <a:t>▲ 8.9%</a:t>
                      </a:r>
                      <a:endParaRPr sz="1100"/>
                    </a:p>
                  </a:txBody>
                  <a:tcPr marL="47625" marR="38100" marT="19050" marB="19050" anchor="ctr">
                    <a:solidFill>
                      <a:srgbClr val="FFFFFF"/>
                    </a:solidFill>
                  </a:tcPr>
                </a:tc>
                <a:tc>
                  <a:txBody>
                    <a:bodyPr/>
                    <a:lstStyle/>
                    <a:p>
                      <a:pPr algn="l"/>
                      <a:r>
                        <a:rPr sz="1100" b="1">
                          <a:solidFill>
                            <a:srgbClr val="2E7D32"/>
                          </a:solidFill>
                          <a:latin typeface="Calibri"/>
                        </a:rPr>
                        <a:t>▲ 10.1%</a:t>
                      </a:r>
                      <a:endParaRPr sz="1100"/>
                    </a:p>
                  </a:txBody>
                  <a:tcPr marL="47625" marR="38100" marT="19050" marB="19050" anchor="ctr">
                    <a:solidFill>
                      <a:srgbClr val="FFFFFF"/>
                    </a:solidFill>
                  </a:tcPr>
                </a:tc>
                <a:tc>
                  <a:txBody>
                    <a:bodyPr/>
                    <a:lstStyle/>
                    <a:p>
                      <a:pPr algn="l"/>
                      <a:r>
                        <a:rPr sz="1100" b="1">
                          <a:solidFill>
                            <a:srgbClr val="2E7D32"/>
                          </a:solidFill>
                          <a:latin typeface="Calibri"/>
                        </a:rPr>
                        <a:t>▲ 10.7%</a:t>
                      </a:r>
                      <a:endParaRPr sz="1100"/>
                    </a:p>
                  </a:txBody>
                  <a:tcPr marL="47625" marR="38100" marT="19050" marB="19050" anchor="ctr">
                    <a:solidFill>
                      <a:srgbClr val="FFFFFF"/>
                    </a:solidFill>
                  </a:tcPr>
                </a:tc>
                <a:tc>
                  <a:txBody>
                    <a:bodyPr/>
                    <a:lstStyle/>
                    <a:p>
                      <a:pPr algn="l"/>
                      <a:r>
                        <a:rPr sz="1100" b="1">
                          <a:solidFill>
                            <a:srgbClr val="2E7D32"/>
                          </a:solidFill>
                          <a:latin typeface="Calibri"/>
                        </a:rPr>
                        <a:t>▲ 11.5%</a:t>
                      </a:r>
                      <a:endParaRPr sz="1100"/>
                    </a:p>
                  </a:txBody>
                  <a:tcPr marL="47625" marR="38100" marT="19050" marB="19050" anchor="ctr">
                    <a:solidFill>
                      <a:srgbClr val="FFFFFF"/>
                    </a:solidFill>
                  </a:tcPr>
                </a:tc>
                <a:tc>
                  <a:txBody>
                    <a:bodyPr/>
                    <a:lstStyle/>
                    <a:p>
                      <a:pPr algn="l"/>
                      <a:r>
                        <a:rPr sz="1100" b="1">
                          <a:solidFill>
                            <a:srgbClr val="2E7D32"/>
                          </a:solidFill>
                          <a:latin typeface="Calibri"/>
                        </a:rPr>
                        <a:t>▲ 12.5%</a:t>
                      </a:r>
                      <a:endParaRPr sz="1100"/>
                    </a:p>
                  </a:txBody>
                  <a:tcPr marL="47625" marR="38100" marT="19050" marB="19050" anchor="ctr">
                    <a:solidFill>
                      <a:srgbClr val="FFFFFF"/>
                    </a:solidFill>
                  </a:tcPr>
                </a:tc>
                <a:tc>
                  <a:txBody>
                    <a:bodyPr/>
                    <a:lstStyle/>
                    <a:p>
                      <a:pPr algn="l"/>
                      <a:r>
                        <a:rPr sz="1100" b="1">
                          <a:solidFill>
                            <a:srgbClr val="2E7D32"/>
                          </a:solidFill>
                          <a:latin typeface="Calibri"/>
                        </a:rPr>
                        <a:t>▲ 13.7%</a:t>
                      </a:r>
                      <a:endParaRPr sz="1100"/>
                    </a:p>
                  </a:txBody>
                  <a:tcPr marL="47625" marR="38100" marT="19050" marB="19050" anchor="ctr">
                    <a:solidFill>
                      <a:srgbClr val="FFFFFF"/>
                    </a:solidFill>
                  </a:tcPr>
                </a:tc>
                <a:tc>
                  <a:txBody>
                    <a:bodyPr/>
                    <a:lstStyle/>
                    <a:p>
                      <a:pPr algn="l"/>
                      <a:r>
                        <a:rPr sz="1100" b="1">
                          <a:solidFill>
                            <a:srgbClr val="2E7D32"/>
                          </a:solidFill>
                          <a:latin typeface="Calibri"/>
                        </a:rPr>
                        <a:t>▲ 14.8%</a:t>
                      </a:r>
                      <a:endParaRPr sz="1100"/>
                    </a:p>
                  </a:txBody>
                  <a:tcPr marL="47625" marR="38100" marT="19050" marB="19050" anchor="ctr">
                    <a:solidFill>
                      <a:srgbClr val="FFFFFF"/>
                    </a:solidFill>
                  </a:tcPr>
                </a:tc>
                <a:tc>
                  <a:txBody>
                    <a:bodyPr/>
                    <a:lstStyle/>
                    <a:p>
                      <a:pPr algn="l"/>
                      <a:r>
                        <a:rPr sz="1100" b="1">
                          <a:solidFill>
                            <a:srgbClr val="2E7D32"/>
                          </a:solidFill>
                          <a:latin typeface="Calibri"/>
                        </a:rPr>
                        <a:t>▲ 15.1%</a:t>
                      </a:r>
                      <a:endParaRPr sz="1100"/>
                    </a:p>
                  </a:txBody>
                  <a:tcPr marL="47625" marR="38100" marT="19050" marB="19050" anchor="ctr">
                    <a:solidFill>
                      <a:srgbClr val="FFFFFF"/>
                    </a:solidFill>
                  </a:tcPr>
                </a:tc>
                <a:tc>
                  <a:txBody>
                    <a:bodyPr/>
                    <a:lstStyle/>
                    <a:p>
                      <a:pPr algn="l"/>
                      <a:r>
                        <a:rPr sz="1100" b="1">
                          <a:solidFill>
                            <a:srgbClr val="2E7D32"/>
                          </a:solidFill>
                          <a:latin typeface="Calibri"/>
                        </a:rPr>
                        <a:t>▲ 14.8%</a:t>
                      </a:r>
                      <a:endParaRPr sz="1100"/>
                    </a:p>
                  </a:txBody>
                  <a:tcPr marL="47625" marR="38100" marT="19050" marB="19050" anchor="ctr">
                    <a:solidFill>
                      <a:srgbClr val="FFFFFF"/>
                    </a:solidFill>
                  </a:tcPr>
                </a:tc>
                <a:tc>
                  <a:txBody>
                    <a:bodyPr/>
                    <a:lstStyle/>
                    <a:p>
                      <a:pPr algn="l"/>
                      <a:r>
                        <a:rPr sz="1100" b="1">
                          <a:solidFill>
                            <a:srgbClr val="2E7D32"/>
                          </a:solidFill>
                          <a:latin typeface="Calibri"/>
                        </a:rPr>
                        <a:t>▲ 14.6%</a:t>
                      </a:r>
                      <a:endParaRPr sz="1100"/>
                    </a:p>
                  </a:txBody>
                  <a:tcPr marL="47625" marR="38100" marT="19050" marB="19050" anchor="ctr">
                    <a:solidFill>
                      <a:srgbClr val="FFFFFF"/>
                    </a:solidFill>
                  </a:tcPr>
                </a:tc>
                <a:tc>
                  <a:txBody>
                    <a:bodyPr/>
                    <a:lstStyle/>
                    <a:p>
                      <a:pPr algn="l"/>
                      <a:r>
                        <a:rPr sz="1100" b="1">
                          <a:solidFill>
                            <a:srgbClr val="2E7D32"/>
                          </a:solidFill>
                          <a:latin typeface="Calibri"/>
                        </a:rPr>
                        <a:t>▲ 14.2%</a:t>
                      </a:r>
                      <a:endParaRPr sz="1100"/>
                    </a:p>
                  </a:txBody>
                  <a:tcPr marL="47625" marR="38100" marT="19050" marB="19050" anchor="ctr">
                    <a:solidFill>
                      <a:srgbClr val="FFFFFF"/>
                    </a:solidFill>
                  </a:tcPr>
                </a:tc>
                <a:tc>
                  <a:txBody>
                    <a:bodyPr/>
                    <a:lstStyle/>
                    <a:p>
                      <a:pPr algn="l"/>
                      <a:r>
                        <a:rPr sz="1100" b="1">
                          <a:solidFill>
                            <a:srgbClr val="2E7D32"/>
                          </a:solidFill>
                          <a:latin typeface="Calibri"/>
                        </a:rPr>
                        <a:t>▲ 13.8%</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15537">
                <a:tc>
                  <a:txBody>
                    <a:bodyPr/>
                    <a:lstStyle/>
                    <a:p>
                      <a:pPr algn="l"/>
                      <a:r>
                        <a:rPr sz="1100" b="1">
                          <a:solidFill>
                            <a:srgbClr val="2E2E2E"/>
                          </a:solidFill>
                          <a:latin typeface="Calibri"/>
                        </a:rPr>
                        <a:t>Bar</a:t>
                      </a:r>
                      <a:endParaRPr sz="1100"/>
                    </a:p>
                  </a:txBody>
                  <a:tcPr marL="47625" marR="38100" marT="19050" marB="19050" anchor="ctr">
                    <a:solidFill>
                      <a:srgbClr val="F5F8FA"/>
                    </a:solidFill>
                  </a:tcPr>
                </a:tc>
                <a:tc>
                  <a:txBody>
                    <a:bodyPr/>
                    <a:lstStyle/>
                    <a:p>
                      <a:pPr algn="l"/>
                      <a:r>
                        <a:rPr sz="1100" b="1">
                          <a:solidFill>
                            <a:srgbClr val="2E7D32"/>
                          </a:solidFill>
                          <a:latin typeface="Calibri"/>
                        </a:rPr>
                        <a:t>▲ 6.2%</a:t>
                      </a:r>
                      <a:endParaRPr sz="1100"/>
                    </a:p>
                  </a:txBody>
                  <a:tcPr marL="47625" marR="38100" marT="19050" marB="19050" anchor="ctr">
                    <a:solidFill>
                      <a:srgbClr val="F5F8FA"/>
                    </a:solidFill>
                  </a:tcPr>
                </a:tc>
                <a:tc>
                  <a:txBody>
                    <a:bodyPr/>
                    <a:lstStyle/>
                    <a:p>
                      <a:pPr algn="l"/>
                      <a:r>
                        <a:rPr sz="1100" b="1">
                          <a:solidFill>
                            <a:srgbClr val="2E7D32"/>
                          </a:solidFill>
                          <a:latin typeface="Calibri"/>
                        </a:rPr>
                        <a:t>▲ 5.7%</a:t>
                      </a:r>
                      <a:endParaRPr sz="1100"/>
                    </a:p>
                  </a:txBody>
                  <a:tcPr marL="47625" marR="38100" marT="19050" marB="19050" anchor="ctr">
                    <a:solidFill>
                      <a:srgbClr val="F5F8FA"/>
                    </a:solidFill>
                  </a:tcPr>
                </a:tc>
                <a:tc>
                  <a:txBody>
                    <a:bodyPr/>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a:lstStyle/>
                    <a:p>
                      <a:pPr algn="l"/>
                      <a:r>
                        <a:rPr sz="1100" b="1">
                          <a:solidFill>
                            <a:srgbClr val="2E7D32"/>
                          </a:solidFill>
                          <a:latin typeface="Calibri"/>
                        </a:rPr>
                        <a:t>▲ 6.6%</a:t>
                      </a:r>
                      <a:endParaRPr sz="1100"/>
                    </a:p>
                  </a:txBody>
                  <a:tcPr marL="47625" marR="38100" marT="19050" marB="19050" anchor="ctr">
                    <a:solidFill>
                      <a:srgbClr val="F5F8FA"/>
                    </a:solidFill>
                  </a:tcPr>
                </a:tc>
                <a:tc>
                  <a:txBody>
                    <a:bodyPr/>
                    <a:lstStyle/>
                    <a:p>
                      <a:pPr algn="l"/>
                      <a:r>
                        <a:rPr sz="1100" b="1">
                          <a:solidFill>
                            <a:srgbClr val="2E7D32"/>
                          </a:solidFill>
                          <a:latin typeface="Calibri"/>
                        </a:rPr>
                        <a:t>▲ 7.7%</a:t>
                      </a:r>
                      <a:endParaRPr sz="1100"/>
                    </a:p>
                  </a:txBody>
                  <a:tcPr marL="47625" marR="38100" marT="19050" marB="19050" anchor="ctr">
                    <a:solidFill>
                      <a:srgbClr val="F5F8FA"/>
                    </a:solidFill>
                  </a:tcPr>
                </a:tc>
                <a:tc>
                  <a:txBody>
                    <a:bodyPr/>
                    <a:lstStyle/>
                    <a:p>
                      <a:pPr algn="l"/>
                      <a:r>
                        <a:rPr sz="1100" b="1">
                          <a:solidFill>
                            <a:srgbClr val="2E7D32"/>
                          </a:solidFill>
                          <a:latin typeface="Calibri"/>
                        </a:rPr>
                        <a:t>▲ 8.9%</a:t>
                      </a:r>
                      <a:endParaRPr sz="1100"/>
                    </a:p>
                  </a:txBody>
                  <a:tcPr marL="47625" marR="38100" marT="19050" marB="19050" anchor="ctr">
                    <a:solidFill>
                      <a:srgbClr val="F5F8FA"/>
                    </a:solidFill>
                  </a:tcPr>
                </a:tc>
                <a:tc>
                  <a:txBody>
                    <a:bodyPr/>
                    <a:lstStyle/>
                    <a:p>
                      <a:pPr algn="l"/>
                      <a:r>
                        <a:rPr sz="1100" b="1">
                          <a:solidFill>
                            <a:srgbClr val="2E7D32"/>
                          </a:solidFill>
                          <a:latin typeface="Calibri"/>
                        </a:rPr>
                        <a:t>▲ 10.0%</a:t>
                      </a:r>
                      <a:endParaRPr sz="1100"/>
                    </a:p>
                  </a:txBody>
                  <a:tcPr marL="47625" marR="38100" marT="19050" marB="19050" anchor="ctr">
                    <a:solidFill>
                      <a:srgbClr val="F5F8FA"/>
                    </a:solidFill>
                  </a:tcPr>
                </a:tc>
                <a:tc>
                  <a:txBody>
                    <a:bodyPr/>
                    <a:lstStyle/>
                    <a:p>
                      <a:pPr algn="l"/>
                      <a:r>
                        <a:rPr sz="1100" b="1">
                          <a:solidFill>
                            <a:srgbClr val="2E7D32"/>
                          </a:solidFill>
                          <a:latin typeface="Calibri"/>
                        </a:rPr>
                        <a:t>▲ 10.7%</a:t>
                      </a:r>
                      <a:endParaRPr sz="1100"/>
                    </a:p>
                  </a:txBody>
                  <a:tcPr marL="47625" marR="38100" marT="19050" marB="19050" anchor="ctr">
                    <a:solidFill>
                      <a:srgbClr val="F5F8FA"/>
                    </a:solidFill>
                  </a:tcPr>
                </a:tc>
                <a:tc>
                  <a:txBody>
                    <a:bodyPr/>
                    <a:lstStyle/>
                    <a:p>
                      <a:pPr algn="l"/>
                      <a:r>
                        <a:rPr sz="1100" b="1">
                          <a:solidFill>
                            <a:srgbClr val="2E7D32"/>
                          </a:solidFill>
                          <a:latin typeface="Calibri"/>
                        </a:rPr>
                        <a:t>▲ 11.2%</a:t>
                      </a:r>
                      <a:endParaRPr sz="1100"/>
                    </a:p>
                  </a:txBody>
                  <a:tcPr marL="47625" marR="38100" marT="19050" marB="19050" anchor="ctr">
                    <a:solidFill>
                      <a:srgbClr val="F5F8FA"/>
                    </a:solidFill>
                  </a:tcPr>
                </a:tc>
                <a:tc>
                  <a:txBody>
                    <a:bodyPr/>
                    <a:lstStyle/>
                    <a:p>
                      <a:pPr algn="l"/>
                      <a:r>
                        <a:rPr sz="1100" b="1">
                          <a:solidFill>
                            <a:srgbClr val="2E7D32"/>
                          </a:solidFill>
                          <a:latin typeface="Calibri"/>
                        </a:rPr>
                        <a:t>▲ 11.6%</a:t>
                      </a:r>
                      <a:endParaRPr sz="1100"/>
                    </a:p>
                  </a:txBody>
                  <a:tcPr marL="47625" marR="38100" marT="19050" marB="19050" anchor="ctr">
                    <a:solidFill>
                      <a:srgbClr val="F5F8FA"/>
                    </a:solidFill>
                  </a:tcPr>
                </a:tc>
                <a:tc>
                  <a:txBody>
                    <a:bodyPr/>
                    <a:lstStyle/>
                    <a:p>
                      <a:pPr algn="l"/>
                      <a:r>
                        <a:rPr sz="1100" b="1">
                          <a:solidFill>
                            <a:srgbClr val="2E7D32"/>
                          </a:solidFill>
                          <a:latin typeface="Calibri"/>
                        </a:rPr>
                        <a:t>▲ 11.8%</a:t>
                      </a:r>
                      <a:endParaRPr sz="1100"/>
                    </a:p>
                  </a:txBody>
                  <a:tcPr marL="47625" marR="38100" marT="19050" marB="19050" anchor="ctr">
                    <a:solidFill>
                      <a:srgbClr val="F5F8FA"/>
                    </a:solidFill>
                  </a:tcPr>
                </a:tc>
                <a:tc>
                  <a:txBody>
                    <a:bodyPr/>
                    <a:lstStyle/>
                    <a:p>
                      <a:pPr algn="l"/>
                      <a:r>
                        <a:rPr sz="1100" b="1">
                          <a:solidFill>
                            <a:srgbClr val="2E7D32"/>
                          </a:solidFill>
                          <a:latin typeface="Calibri"/>
                        </a:rPr>
                        <a:t>▲ 11.7%</a:t>
                      </a:r>
                      <a:endParaRPr sz="1100"/>
                    </a:p>
                  </a:txBody>
                  <a:tcPr marL="47625" marR="38100" marT="19050" marB="19050" anchor="ctr">
                    <a:solidFill>
                      <a:srgbClr val="F5F8FA"/>
                    </a:solidFill>
                  </a:tcPr>
                </a:tc>
                <a:tc>
                  <a:txBody>
                    <a:bodyPr/>
                    <a:lstStyle/>
                    <a:p>
                      <a:pPr algn="l"/>
                      <a:r>
                        <a:rPr sz="1100" b="1">
                          <a:solidFill>
                            <a:srgbClr val="2E7D32"/>
                          </a:solidFill>
                          <a:latin typeface="Calibri"/>
                        </a:rPr>
                        <a:t>▲ 11.6%</a:t>
                      </a:r>
                      <a:endParaRPr sz="1100"/>
                    </a:p>
                  </a:txBody>
                  <a:tcPr marL="47625" marR="38100" marT="19050" marB="19050" anchor="ctr">
                    <a:solidFill>
                      <a:srgbClr val="F5F8FA"/>
                    </a:solidFill>
                  </a:tcPr>
                </a:tc>
                <a:tc>
                  <a:txBody>
                    <a:bodyPr/>
                    <a:lstStyle/>
                    <a:p>
                      <a:pPr algn="l"/>
                      <a:r>
                        <a:rPr sz="1100" b="1">
                          <a:solidFill>
                            <a:srgbClr val="2E7D32"/>
                          </a:solidFill>
                          <a:latin typeface="Calibri"/>
                        </a:rPr>
                        <a:t>▲ 11.3%</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r h="215537">
                <a:tc>
                  <a:txBody>
                    <a:bodyPr/>
                    <a:lstStyle/>
                    <a:p>
                      <a:pPr algn="l"/>
                      <a:r>
                        <a:rPr sz="1100" b="1">
                          <a:solidFill>
                            <a:srgbClr val="2E2E2E"/>
                          </a:solidFill>
                          <a:latin typeface="Calibri"/>
                        </a:rPr>
                        <a:t>Liquid</a:t>
                      </a:r>
                      <a:endParaRPr sz="1100"/>
                    </a:p>
                  </a:txBody>
                  <a:tcPr marL="47625" marR="38100" marT="19050" marB="19050" anchor="ctr">
                    <a:solidFill>
                      <a:srgbClr val="FFFFFF"/>
                    </a:solidFill>
                  </a:tcPr>
                </a:tc>
                <a:tc>
                  <a:txBody>
                    <a:bodyPr/>
                    <a:lstStyle/>
                    <a:p>
                      <a:pPr algn="l"/>
                      <a:r>
                        <a:rPr sz="1100" b="1">
                          <a:solidFill>
                            <a:srgbClr val="2E7D32"/>
                          </a:solidFill>
                          <a:latin typeface="Calibri"/>
                        </a:rPr>
                        <a:t>▲ 11.2%</a:t>
                      </a:r>
                      <a:endParaRPr sz="1100"/>
                    </a:p>
                  </a:txBody>
                  <a:tcPr marL="47625" marR="38100" marT="19050" marB="19050" anchor="ctr">
                    <a:solidFill>
                      <a:srgbClr val="FFFFFF"/>
                    </a:solidFill>
                  </a:tcPr>
                </a:tc>
                <a:tc>
                  <a:txBody>
                    <a:bodyPr/>
                    <a:lstStyle/>
                    <a:p>
                      <a:pPr algn="l"/>
                      <a:r>
                        <a:rPr sz="1100" b="1">
                          <a:solidFill>
                            <a:srgbClr val="2E7D32"/>
                          </a:solidFill>
                          <a:latin typeface="Calibri"/>
                        </a:rPr>
                        <a:t>▲ 10.8%</a:t>
                      </a:r>
                      <a:endParaRPr sz="1100"/>
                    </a:p>
                  </a:txBody>
                  <a:tcPr marL="47625" marR="38100" marT="19050" marB="19050" anchor="ctr">
                    <a:solidFill>
                      <a:srgbClr val="FFFFFF"/>
                    </a:solidFill>
                  </a:tcPr>
                </a:tc>
                <a:tc>
                  <a:txBody>
                    <a:bodyPr/>
                    <a:lstStyle/>
                    <a:p>
                      <a:pPr algn="l"/>
                      <a:r>
                        <a:rPr sz="1100" b="1">
                          <a:solidFill>
                            <a:srgbClr val="2E7D32"/>
                          </a:solidFill>
                          <a:latin typeface="Calibri"/>
                        </a:rPr>
                        <a:t>▲ 10.2%</a:t>
                      </a:r>
                      <a:endParaRPr sz="1100"/>
                    </a:p>
                  </a:txBody>
                  <a:tcPr marL="47625" marR="38100" marT="19050" marB="19050" anchor="ctr">
                    <a:solidFill>
                      <a:srgbClr val="FFFFFF"/>
                    </a:solidFill>
                  </a:tcPr>
                </a:tc>
                <a:tc>
                  <a:txBody>
                    <a:bodyPr/>
                    <a:lstStyle/>
                    <a:p>
                      <a:pPr algn="l"/>
                      <a:r>
                        <a:rPr sz="1100" b="1">
                          <a:solidFill>
                            <a:srgbClr val="2E7D32"/>
                          </a:solidFill>
                          <a:latin typeface="Calibri"/>
                        </a:rPr>
                        <a:t>▲ 9.9%</a:t>
                      </a:r>
                      <a:endParaRPr sz="1100"/>
                    </a:p>
                  </a:txBody>
                  <a:tcPr marL="47625" marR="38100" marT="19050" marB="19050" anchor="ctr">
                    <a:solidFill>
                      <a:srgbClr val="FFFFFF"/>
                    </a:solidFill>
                  </a:tcPr>
                </a:tc>
                <a:tc>
                  <a:txBody>
                    <a:bodyPr/>
                    <a:lstStyle/>
                    <a:p>
                      <a:pPr algn="l"/>
                      <a:r>
                        <a:rPr sz="1100" b="1">
                          <a:solidFill>
                            <a:srgbClr val="2E7D32"/>
                          </a:solidFill>
                          <a:latin typeface="Calibri"/>
                        </a:rPr>
                        <a:t>▲ 10.5%</a:t>
                      </a:r>
                      <a:endParaRPr sz="1100"/>
                    </a:p>
                  </a:txBody>
                  <a:tcPr marL="47625" marR="38100" marT="19050" marB="19050" anchor="ctr">
                    <a:solidFill>
                      <a:srgbClr val="FFFFFF"/>
                    </a:solidFill>
                  </a:tcPr>
                </a:tc>
                <a:tc>
                  <a:txBody>
                    <a:bodyPr/>
                    <a:lstStyle/>
                    <a:p>
                      <a:pPr algn="l"/>
                      <a:r>
                        <a:rPr sz="1100" b="1">
                          <a:solidFill>
                            <a:srgbClr val="2E7D32"/>
                          </a:solidFill>
                          <a:latin typeface="Calibri"/>
                        </a:rPr>
                        <a:t>▲ 11.1%</a:t>
                      </a:r>
                      <a:endParaRPr sz="1100"/>
                    </a:p>
                  </a:txBody>
                  <a:tcPr marL="47625" marR="38100" marT="19050" marB="19050" anchor="ctr">
                    <a:solidFill>
                      <a:srgbClr val="FFFFFF"/>
                    </a:solidFill>
                  </a:tcPr>
                </a:tc>
                <a:tc>
                  <a:txBody>
                    <a:bodyPr/>
                    <a:lstStyle/>
                    <a:p>
                      <a:pPr algn="l"/>
                      <a:r>
                        <a:rPr sz="1100" b="1">
                          <a:solidFill>
                            <a:srgbClr val="2E7D32"/>
                          </a:solidFill>
                          <a:latin typeface="Calibri"/>
                        </a:rPr>
                        <a:t>▲ 11.8%</a:t>
                      </a:r>
                      <a:endParaRPr sz="1100"/>
                    </a:p>
                  </a:txBody>
                  <a:tcPr marL="47625" marR="38100" marT="19050" marB="19050" anchor="ctr">
                    <a:solidFill>
                      <a:srgbClr val="FFFFFF"/>
                    </a:solidFill>
                  </a:tcPr>
                </a:tc>
                <a:tc>
                  <a:txBody>
                    <a:bodyPr/>
                    <a:lstStyle/>
                    <a:p>
                      <a:pPr algn="l"/>
                      <a:r>
                        <a:rPr sz="1100" b="1">
                          <a:solidFill>
                            <a:srgbClr val="2E7D32"/>
                          </a:solidFill>
                          <a:latin typeface="Calibri"/>
                        </a:rPr>
                        <a:t>▲ 12.2%</a:t>
                      </a:r>
                      <a:endParaRPr sz="1100"/>
                    </a:p>
                  </a:txBody>
                  <a:tcPr marL="47625" marR="38100" marT="19050" marB="19050" anchor="ctr">
                    <a:solidFill>
                      <a:srgbClr val="FFFFFF"/>
                    </a:solidFill>
                  </a:tcPr>
                </a:tc>
                <a:tc>
                  <a:txBody>
                    <a:bodyPr/>
                    <a:lstStyle/>
                    <a:p>
                      <a:pPr algn="l"/>
                      <a:r>
                        <a:rPr sz="1100" b="1">
                          <a:solidFill>
                            <a:srgbClr val="2E7D32"/>
                          </a:solidFill>
                          <a:latin typeface="Calibri"/>
                        </a:rPr>
                        <a:t>▲ 12.2%</a:t>
                      </a:r>
                      <a:endParaRPr sz="1100"/>
                    </a:p>
                  </a:txBody>
                  <a:tcPr marL="47625" marR="38100" marT="19050" marB="19050" anchor="ctr">
                    <a:solidFill>
                      <a:srgbClr val="FFFFFF"/>
                    </a:solidFill>
                  </a:tcPr>
                </a:tc>
                <a:tc>
                  <a:txBody>
                    <a:bodyPr/>
                    <a:lstStyle/>
                    <a:p>
                      <a:pPr algn="l"/>
                      <a:r>
                        <a:rPr sz="1100" b="1">
                          <a:solidFill>
                            <a:srgbClr val="2E7D32"/>
                          </a:solidFill>
                          <a:latin typeface="Calibri"/>
                        </a:rPr>
                        <a:t>▲ 12.1%</a:t>
                      </a:r>
                      <a:endParaRPr sz="1100"/>
                    </a:p>
                  </a:txBody>
                  <a:tcPr marL="47625" marR="38100" marT="19050" marB="19050" anchor="ctr">
                    <a:solidFill>
                      <a:srgbClr val="FFFFFF"/>
                    </a:solidFill>
                  </a:tcPr>
                </a:tc>
                <a:tc>
                  <a:txBody>
                    <a:bodyPr/>
                    <a:lstStyle/>
                    <a:p>
                      <a:pPr algn="l"/>
                      <a:r>
                        <a:rPr sz="1100" b="1">
                          <a:solidFill>
                            <a:srgbClr val="2E7D32"/>
                          </a:solidFill>
                          <a:latin typeface="Calibri"/>
                        </a:rPr>
                        <a:t>▲ 12.1%</a:t>
                      </a:r>
                      <a:endParaRPr sz="1100"/>
                    </a:p>
                  </a:txBody>
                  <a:tcPr marL="47625" marR="38100" marT="19050" marB="19050" anchor="ctr">
                    <a:solidFill>
                      <a:srgbClr val="FFFFFF"/>
                    </a:solidFill>
                  </a:tcPr>
                </a:tc>
                <a:tc>
                  <a:txBody>
                    <a:bodyPr/>
                    <a:lstStyle/>
                    <a:p>
                      <a:pPr algn="l"/>
                      <a:r>
                        <a:rPr sz="1100" b="1">
                          <a:solidFill>
                            <a:srgbClr val="2E7D32"/>
                          </a:solidFill>
                          <a:latin typeface="Calibri"/>
                        </a:rPr>
                        <a:t>▲ 12.3%</a:t>
                      </a:r>
                      <a:endParaRPr sz="1100"/>
                    </a:p>
                  </a:txBody>
                  <a:tcPr marL="47625" marR="38100" marT="19050" marB="19050" anchor="ctr">
                    <a:solidFill>
                      <a:srgbClr val="FFFFFF"/>
                    </a:solidFill>
                  </a:tcPr>
                </a:tc>
                <a:tc>
                  <a:txBody>
                    <a:bodyPr/>
                    <a:lstStyle/>
                    <a:p>
                      <a:pPr algn="l"/>
                      <a:r>
                        <a:rPr sz="1100" b="1">
                          <a:solidFill>
                            <a:srgbClr val="2E7D32"/>
                          </a:solidFill>
                          <a:latin typeface="Calibri"/>
                        </a:rPr>
                        <a:t>▲ 12.3%</a:t>
                      </a:r>
                      <a:endParaRPr sz="1100"/>
                    </a:p>
                  </a:txBody>
                  <a:tcPr marL="47625" marR="38100" marT="19050" marB="19050" anchor="ctr">
                    <a:solidFill>
                      <a:srgbClr val="FFFFFF"/>
                    </a:solidFill>
                  </a:tcPr>
                </a:tc>
                <a:tc>
                  <a:txBody>
                    <a:bodyPr/>
                    <a:lstStyle/>
                    <a:p>
                      <a:pPr algn="l"/>
                      <a:r>
                        <a:rPr sz="1100" b="1">
                          <a:solidFill>
                            <a:srgbClr val="2E7D32"/>
                          </a:solidFill>
                          <a:latin typeface="Calibri"/>
                        </a:rPr>
                        <a:t>▲ 12.0%</a:t>
                      </a:r>
                      <a:endParaRPr sz="1100"/>
                    </a:p>
                  </a:txBody>
                  <a:tcPr marL="47625" marR="38100" marT="19050" marB="19050" anchor="ctr">
                    <a:solidFill>
                      <a:srgbClr val="FFFFFF"/>
                    </a:solidFill>
                  </a:tcPr>
                </a:tc>
                <a:tc>
                  <a:txBody>
                    <a:bodyPr/>
                    <a:lstStyle/>
                    <a:p>
                      <a:pPr algn="l"/>
                      <a:r>
                        <a:rPr sz="1100" b="1">
                          <a:solidFill>
                            <a:srgbClr val="2E7D32"/>
                          </a:solidFill>
                          <a:latin typeface="Calibri"/>
                        </a:rPr>
                        <a:t>▲ 11.8%</a:t>
                      </a:r>
                      <a:endParaRPr sz="1100"/>
                    </a:p>
                  </a:txBody>
                  <a:tcPr marL="47625" marR="38100" marT="19050" marB="19050" anchor="ctr">
                    <a:solidFill>
                      <a:srgbClr val="FFFFFF"/>
                    </a:solidFill>
                  </a:tcPr>
                </a:tc>
                <a:extLst>
                  <a:ext uri="{0D108BD9-81ED-4DB2-BD59-A6C34878D82A}">
                    <a16:rowId xmlns:a16="http://schemas.microsoft.com/office/drawing/2014/main" val="10007"/>
                  </a:ext>
                </a:extLst>
              </a:tr>
            </a:tbl>
          </a:graphicData>
        </a:graphic>
      </p:graphicFrame>
      <p:sp>
        <p:nvSpPr>
          <p:cNvPr id="14" name="TextBox 13"/>
          <p:cNvSpPr txBox="1"/>
          <p:nvPr/>
        </p:nvSpPr>
        <p:spPr>
          <a:xfrm>
            <a:off x="219075" y="29718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8125" y="33623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Value YoY Heatmap, By Product Format (%)  ·  light = lower, dark = higher growth</a:t>
            </a:r>
          </a:p>
        </p:txBody>
      </p:sp>
      <p:sp>
        <p:nvSpPr>
          <p:cNvPr id="17" name="TextBox 16"/>
          <p:cNvSpPr txBox="1"/>
          <p:nvPr/>
        </p:nvSpPr>
        <p:spPr>
          <a:xfrm>
            <a:off x="185737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2022</a:t>
            </a:r>
          </a:p>
        </p:txBody>
      </p:sp>
      <p:sp>
        <p:nvSpPr>
          <p:cNvPr id="18" name="TextBox 17"/>
          <p:cNvSpPr txBox="1"/>
          <p:nvPr/>
        </p:nvSpPr>
        <p:spPr>
          <a:xfrm>
            <a:off x="250126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2023</a:t>
            </a:r>
          </a:p>
        </p:txBody>
      </p:sp>
      <p:sp>
        <p:nvSpPr>
          <p:cNvPr id="19" name="TextBox 18"/>
          <p:cNvSpPr txBox="1"/>
          <p:nvPr/>
        </p:nvSpPr>
        <p:spPr>
          <a:xfrm>
            <a:off x="314515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2024</a:t>
            </a:r>
          </a:p>
        </p:txBody>
      </p:sp>
      <p:sp>
        <p:nvSpPr>
          <p:cNvPr id="20" name="TextBox 19"/>
          <p:cNvSpPr txBox="1"/>
          <p:nvPr/>
        </p:nvSpPr>
        <p:spPr>
          <a:xfrm>
            <a:off x="378904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2025</a:t>
            </a:r>
          </a:p>
        </p:txBody>
      </p:sp>
      <p:sp>
        <p:nvSpPr>
          <p:cNvPr id="21" name="TextBox 20"/>
          <p:cNvSpPr txBox="1"/>
          <p:nvPr/>
        </p:nvSpPr>
        <p:spPr>
          <a:xfrm>
            <a:off x="443293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2026</a:t>
            </a:r>
          </a:p>
        </p:txBody>
      </p:sp>
      <p:sp>
        <p:nvSpPr>
          <p:cNvPr id="22" name="TextBox 21"/>
          <p:cNvSpPr txBox="1"/>
          <p:nvPr/>
        </p:nvSpPr>
        <p:spPr>
          <a:xfrm>
            <a:off x="507682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2027</a:t>
            </a:r>
          </a:p>
        </p:txBody>
      </p:sp>
      <p:sp>
        <p:nvSpPr>
          <p:cNvPr id="23" name="TextBox 22"/>
          <p:cNvSpPr txBox="1"/>
          <p:nvPr/>
        </p:nvSpPr>
        <p:spPr>
          <a:xfrm>
            <a:off x="572071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2028</a:t>
            </a:r>
          </a:p>
        </p:txBody>
      </p:sp>
      <p:sp>
        <p:nvSpPr>
          <p:cNvPr id="24" name="TextBox 23"/>
          <p:cNvSpPr txBox="1"/>
          <p:nvPr/>
        </p:nvSpPr>
        <p:spPr>
          <a:xfrm>
            <a:off x="636460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2029</a:t>
            </a:r>
          </a:p>
        </p:txBody>
      </p:sp>
      <p:sp>
        <p:nvSpPr>
          <p:cNvPr id="25" name="TextBox 24"/>
          <p:cNvSpPr txBox="1"/>
          <p:nvPr/>
        </p:nvSpPr>
        <p:spPr>
          <a:xfrm>
            <a:off x="700849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2030</a:t>
            </a:r>
          </a:p>
        </p:txBody>
      </p:sp>
      <p:sp>
        <p:nvSpPr>
          <p:cNvPr id="26" name="TextBox 25"/>
          <p:cNvSpPr txBox="1"/>
          <p:nvPr/>
        </p:nvSpPr>
        <p:spPr>
          <a:xfrm>
            <a:off x="765238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2031</a:t>
            </a:r>
          </a:p>
        </p:txBody>
      </p:sp>
      <p:sp>
        <p:nvSpPr>
          <p:cNvPr id="27" name="TextBox 26"/>
          <p:cNvSpPr txBox="1"/>
          <p:nvPr/>
        </p:nvSpPr>
        <p:spPr>
          <a:xfrm>
            <a:off x="829627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2032</a:t>
            </a:r>
          </a:p>
        </p:txBody>
      </p:sp>
      <p:sp>
        <p:nvSpPr>
          <p:cNvPr id="28" name="TextBox 27"/>
          <p:cNvSpPr txBox="1"/>
          <p:nvPr/>
        </p:nvSpPr>
        <p:spPr>
          <a:xfrm>
            <a:off x="894016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2033</a:t>
            </a:r>
          </a:p>
        </p:txBody>
      </p:sp>
      <p:sp>
        <p:nvSpPr>
          <p:cNvPr id="29" name="TextBox 28"/>
          <p:cNvSpPr txBox="1"/>
          <p:nvPr/>
        </p:nvSpPr>
        <p:spPr>
          <a:xfrm>
            <a:off x="958405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2034</a:t>
            </a:r>
          </a:p>
        </p:txBody>
      </p:sp>
      <p:sp>
        <p:nvSpPr>
          <p:cNvPr id="30" name="TextBox 29"/>
          <p:cNvSpPr txBox="1"/>
          <p:nvPr/>
        </p:nvSpPr>
        <p:spPr>
          <a:xfrm>
            <a:off x="1022794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2035</a:t>
            </a:r>
          </a:p>
        </p:txBody>
      </p:sp>
      <p:sp>
        <p:nvSpPr>
          <p:cNvPr id="31" name="TextBox 30"/>
          <p:cNvSpPr txBox="1"/>
          <p:nvPr/>
        </p:nvSpPr>
        <p:spPr>
          <a:xfrm>
            <a:off x="1087183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2036</a:t>
            </a:r>
          </a:p>
        </p:txBody>
      </p:sp>
      <p:sp>
        <p:nvSpPr>
          <p:cNvPr id="32" name="TextBox 31"/>
          <p:cNvSpPr txBox="1"/>
          <p:nvPr/>
        </p:nvSpPr>
        <p:spPr>
          <a:xfrm>
            <a:off x="238125" y="3733800"/>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Capsule</a:t>
            </a:r>
          </a:p>
        </p:txBody>
      </p:sp>
      <p:sp>
        <p:nvSpPr>
          <p:cNvPr id="33" name="Rectangle 32"/>
          <p:cNvSpPr/>
          <p:nvPr/>
        </p:nvSpPr>
        <p:spPr>
          <a:xfrm>
            <a:off x="1857375" y="3733800"/>
            <a:ext cx="643890" cy="405493"/>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501265" y="3733800"/>
            <a:ext cx="643890" cy="405493"/>
          </a:xfrm>
          <a:prstGeom prst="rect">
            <a:avLst/>
          </a:prstGeom>
          <a:solidFill>
            <a:srgbClr val="D3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145155" y="3733800"/>
            <a:ext cx="643890" cy="405493"/>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789045" y="3733800"/>
            <a:ext cx="643890" cy="405493"/>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432935" y="3733800"/>
            <a:ext cx="643890" cy="405493"/>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076825" y="3733800"/>
            <a:ext cx="643890" cy="405493"/>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720715" y="3733800"/>
            <a:ext cx="643890" cy="405493"/>
          </a:xfrm>
          <a:prstGeom prst="rect">
            <a:avLst/>
          </a:prstGeom>
          <a:solidFill>
            <a:srgbClr val="BED5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364605" y="3733800"/>
            <a:ext cx="643890" cy="405493"/>
          </a:xfrm>
          <a:prstGeom prst="rect">
            <a:avLst/>
          </a:prstGeom>
          <a:solidFill>
            <a:srgbClr val="AECD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008495" y="3733800"/>
            <a:ext cx="643890" cy="405493"/>
          </a:xfrm>
          <a:prstGeom prst="rect">
            <a:avLst/>
          </a:prstGeom>
          <a:solidFill>
            <a:srgbClr val="A1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652385" y="3733800"/>
            <a:ext cx="643890" cy="405493"/>
          </a:xfrm>
          <a:prstGeom prst="rect">
            <a:avLst/>
          </a:prstGeom>
          <a:solidFill>
            <a:srgbClr val="A0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296275" y="3733800"/>
            <a:ext cx="643890" cy="405493"/>
          </a:xfrm>
          <a:prstGeom prst="rect">
            <a:avLst/>
          </a:prstGeom>
          <a:solidFill>
            <a:srgbClr val="A5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940165" y="3733800"/>
            <a:ext cx="643890" cy="405493"/>
          </a:xfrm>
          <a:prstGeom prst="rect">
            <a:avLst/>
          </a:prstGeom>
          <a:solidFill>
            <a:srgbClr val="AC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584055" y="3733800"/>
            <a:ext cx="643890" cy="405493"/>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0227945" y="3733800"/>
            <a:ext cx="643890" cy="405493"/>
          </a:xfrm>
          <a:prstGeom prst="rect">
            <a:avLst/>
          </a:prstGeom>
          <a:solidFill>
            <a:srgbClr val="B6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0871835" y="3733800"/>
            <a:ext cx="643890" cy="405493"/>
          </a:xfrm>
          <a:prstGeom prst="rect">
            <a:avLst/>
          </a:prstGeom>
          <a:solidFill>
            <a:srgbClr val="B9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38125" y="4139293"/>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Tablet</a:t>
            </a:r>
          </a:p>
        </p:txBody>
      </p:sp>
      <p:sp>
        <p:nvSpPr>
          <p:cNvPr id="49" name="Rectangle 48"/>
          <p:cNvSpPr/>
          <p:nvPr/>
        </p:nvSpPr>
        <p:spPr>
          <a:xfrm>
            <a:off x="1857375" y="4139293"/>
            <a:ext cx="643890" cy="405493"/>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2501265" y="4139293"/>
            <a:ext cx="643890" cy="405493"/>
          </a:xfrm>
          <a:prstGeom prst="rect">
            <a:avLst/>
          </a:prstGeom>
          <a:solidFill>
            <a:srgbClr val="FD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3145155" y="4139293"/>
            <a:ext cx="643890" cy="405493"/>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3789045" y="4139293"/>
            <a:ext cx="643890" cy="405493"/>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432935" y="4139293"/>
            <a:ext cx="643890" cy="405493"/>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5076825" y="4139293"/>
            <a:ext cx="643890" cy="405493"/>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5720715" y="4139293"/>
            <a:ext cx="643890" cy="405493"/>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6364605" y="4139293"/>
            <a:ext cx="643890" cy="405493"/>
          </a:xfrm>
          <a:prstGeom prst="rect">
            <a:avLst/>
          </a:prstGeom>
          <a:solidFill>
            <a:srgbClr val="F7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7008495" y="4139293"/>
            <a:ext cx="643890" cy="405493"/>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652385" y="4139293"/>
            <a:ext cx="643890" cy="405493"/>
          </a:xfrm>
          <a:prstGeom prst="rect">
            <a:avLst/>
          </a:prstGeom>
          <a:solidFill>
            <a:srgbClr val="F2F9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296275" y="4139293"/>
            <a:ext cx="643890" cy="405493"/>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940165" y="4139293"/>
            <a:ext cx="643890" cy="405493"/>
          </a:xfrm>
          <a:prstGeom prst="rect">
            <a:avLst/>
          </a:prstGeom>
          <a:solidFill>
            <a:srgbClr val="F2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9584055" y="4139293"/>
            <a:ext cx="643890" cy="405493"/>
          </a:xfrm>
          <a:prstGeom prst="rect">
            <a:avLst/>
          </a:prstGeom>
          <a:solidFill>
            <a:srgbClr val="F2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10227945" y="4139293"/>
            <a:ext cx="643890" cy="405493"/>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10871835" y="4139293"/>
            <a:ext cx="643890" cy="405493"/>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238125" y="4544786"/>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Softgels</a:t>
            </a:r>
          </a:p>
        </p:txBody>
      </p:sp>
      <p:sp>
        <p:nvSpPr>
          <p:cNvPr id="65" name="Rectangle 64"/>
          <p:cNvSpPr/>
          <p:nvPr/>
        </p:nvSpPr>
        <p:spPr>
          <a:xfrm>
            <a:off x="1857375" y="4544786"/>
            <a:ext cx="643890" cy="405493"/>
          </a:xfrm>
          <a:prstGeom prst="rect">
            <a:avLst/>
          </a:prstGeom>
          <a:solidFill>
            <a:srgbClr val="E8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2501265" y="4544786"/>
            <a:ext cx="643890" cy="405493"/>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3145155" y="4544786"/>
            <a:ext cx="643890" cy="405493"/>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3789045" y="4544786"/>
            <a:ext cx="643890" cy="405493"/>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432935" y="4544786"/>
            <a:ext cx="643890" cy="405493"/>
          </a:xfrm>
          <a:prstGeom prst="rect">
            <a:avLst/>
          </a:prstGeom>
          <a:solidFill>
            <a:srgbClr val="E8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5076825" y="4544786"/>
            <a:ext cx="643890" cy="405493"/>
          </a:xfrm>
          <a:prstGeom prst="rect">
            <a:avLst/>
          </a:prstGeom>
          <a:solidFill>
            <a:srgbClr val="E6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5720715" y="4544786"/>
            <a:ext cx="643890" cy="405493"/>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6364605" y="4544786"/>
            <a:ext cx="643890" cy="405493"/>
          </a:xfrm>
          <a:prstGeom prst="rect">
            <a:avLst/>
          </a:prstGeom>
          <a:solidFill>
            <a:srgbClr val="DD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7008495" y="4544786"/>
            <a:ext cx="643890" cy="405493"/>
          </a:xfrm>
          <a:prstGeom prst="rect">
            <a:avLst/>
          </a:prstGeom>
          <a:solidFill>
            <a:srgbClr val="DD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7652385" y="4544786"/>
            <a:ext cx="643890" cy="405493"/>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8296275" y="4544786"/>
            <a:ext cx="643890" cy="405493"/>
          </a:xfrm>
          <a:prstGeom prst="rect">
            <a:avLst/>
          </a:prstGeom>
          <a:solidFill>
            <a:srgbClr val="E1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8940165" y="4544786"/>
            <a:ext cx="643890" cy="405493"/>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584055" y="4544786"/>
            <a:ext cx="643890" cy="405493"/>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10227945" y="4544786"/>
            <a:ext cx="643890" cy="405493"/>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10871835" y="4544786"/>
            <a:ext cx="643890" cy="405493"/>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38125" y="4950279"/>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Gummies</a:t>
            </a:r>
          </a:p>
        </p:txBody>
      </p:sp>
      <p:sp>
        <p:nvSpPr>
          <p:cNvPr id="81" name="Rectangle 80"/>
          <p:cNvSpPr/>
          <p:nvPr/>
        </p:nvSpPr>
        <p:spPr>
          <a:xfrm>
            <a:off x="1857375" y="4950279"/>
            <a:ext cx="643890" cy="405493"/>
          </a:xfrm>
          <a:prstGeom prst="rect">
            <a:avLst/>
          </a:prstGeom>
          <a:solidFill>
            <a:srgbClr val="D7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2501265" y="4950279"/>
            <a:ext cx="643890" cy="405493"/>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3145155" y="4950279"/>
            <a:ext cx="643890" cy="405493"/>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3789045" y="4950279"/>
            <a:ext cx="643890" cy="405493"/>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4432935" y="4950279"/>
            <a:ext cx="643890" cy="405493"/>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5076825" y="4950279"/>
            <a:ext cx="643890" cy="405493"/>
          </a:xfrm>
          <a:prstGeom prst="rect">
            <a:avLst/>
          </a:prstGeom>
          <a:solidFill>
            <a:srgbClr val="BE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5720715" y="4950279"/>
            <a:ext cx="643890" cy="405493"/>
          </a:xfrm>
          <a:prstGeom prst="rect">
            <a:avLst/>
          </a:prstGeom>
          <a:solidFill>
            <a:srgbClr val="B6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6364605" y="4950279"/>
            <a:ext cx="643890" cy="405493"/>
          </a:xfrm>
          <a:prstGeom prst="rect">
            <a:avLst/>
          </a:prstGeom>
          <a:solidFill>
            <a:srgbClr val="AA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7008495" y="4950279"/>
            <a:ext cx="643890" cy="405493"/>
          </a:xfrm>
          <a:prstGeom prst="rect">
            <a:avLst/>
          </a:prstGeom>
          <a:solidFill>
            <a:srgbClr val="9E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7652385" y="4950279"/>
            <a:ext cx="643890" cy="405493"/>
          </a:xfrm>
          <a:prstGeom prst="rect">
            <a:avLst/>
          </a:prstGeom>
          <a:solidFill>
            <a:srgbClr val="91BC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8296275" y="4950279"/>
            <a:ext cx="643890" cy="405493"/>
          </a:xfrm>
          <a:prstGeom prst="rect">
            <a:avLst/>
          </a:prstGeom>
          <a:solidFill>
            <a:srgbClr val="7FB2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8940165" y="4950279"/>
            <a:ext cx="643890" cy="405493"/>
          </a:xfrm>
          <a:prstGeom prst="rect">
            <a:avLst/>
          </a:prstGeom>
          <a:solidFill>
            <a:srgbClr val="78AE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9584055" y="4950279"/>
            <a:ext cx="643890" cy="405493"/>
          </a:xfrm>
          <a:prstGeom prst="rect">
            <a:avLst/>
          </a:prstGeom>
          <a:solidFill>
            <a:srgbClr val="76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10227945" y="4950279"/>
            <a:ext cx="643890" cy="405493"/>
          </a:xfrm>
          <a:prstGeom prst="rect">
            <a:avLst/>
          </a:prstGeom>
          <a:solidFill>
            <a:srgbClr val="7FB2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10871835" y="4950279"/>
            <a:ext cx="643890" cy="405493"/>
          </a:xfrm>
          <a:prstGeom prst="rect">
            <a:avLst/>
          </a:prstGeom>
          <a:solidFill>
            <a:srgbClr val="87B6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238125" y="5355771"/>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Powder</a:t>
            </a:r>
          </a:p>
        </p:txBody>
      </p:sp>
      <p:sp>
        <p:nvSpPr>
          <p:cNvPr id="97" name="Rectangle 96"/>
          <p:cNvSpPr/>
          <p:nvPr/>
        </p:nvSpPr>
        <p:spPr>
          <a:xfrm>
            <a:off x="1857375" y="5355771"/>
            <a:ext cx="643890" cy="405493"/>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2501265" y="5355771"/>
            <a:ext cx="643890" cy="405493"/>
          </a:xfrm>
          <a:prstGeom prst="rect">
            <a:avLst/>
          </a:prstGeom>
          <a:solidFill>
            <a:srgbClr val="C0D7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3145155" y="5355771"/>
            <a:ext cx="643890" cy="405493"/>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3789045" y="5355771"/>
            <a:ext cx="643890" cy="405493"/>
          </a:xfrm>
          <a:prstGeom prst="rect">
            <a:avLst/>
          </a:prstGeom>
          <a:solidFill>
            <a:srgbClr val="99C1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4432935" y="5355771"/>
            <a:ext cx="643890" cy="405493"/>
          </a:xfrm>
          <a:prstGeom prst="rect">
            <a:avLst/>
          </a:prstGeom>
          <a:solidFill>
            <a:srgbClr val="72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5076825" y="5355771"/>
            <a:ext cx="643890" cy="405493"/>
          </a:xfrm>
          <a:prstGeom prst="rect">
            <a:avLst/>
          </a:prstGeom>
          <a:solidFill>
            <a:srgbClr val="599E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5720715" y="5355771"/>
            <a:ext cx="643890" cy="405493"/>
          </a:xfrm>
          <a:prstGeom prst="rect">
            <a:avLst/>
          </a:prstGeom>
          <a:solidFill>
            <a:srgbClr val="3E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6364605" y="5355771"/>
            <a:ext cx="643890" cy="405493"/>
          </a:xfrm>
          <a:prstGeom prst="rect">
            <a:avLst/>
          </a:prstGeom>
          <a:solidFill>
            <a:srgbClr val="26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7008495" y="5355771"/>
            <a:ext cx="643890" cy="405493"/>
          </a:xfrm>
          <a:prstGeom prst="rect">
            <a:avLst/>
          </a:prstGeom>
          <a:solidFill>
            <a:srgbClr val="0E68A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7652385" y="5355771"/>
            <a:ext cx="643890" cy="405493"/>
          </a:xfrm>
          <a:prstGeom prst="rect">
            <a:avLst/>
          </a:prstGeom>
          <a:solidFill>
            <a:srgbClr val="0C3D6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8296275" y="5355771"/>
            <a:ext cx="643890" cy="405493"/>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8940165" y="5355771"/>
            <a:ext cx="643890" cy="405493"/>
          </a:xfrm>
          <a:prstGeom prst="rect">
            <a:avLst/>
          </a:prstGeom>
          <a:solidFill>
            <a:srgbClr val="0C3D6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9584055" y="5355771"/>
            <a:ext cx="643890" cy="405493"/>
          </a:xfrm>
          <a:prstGeom prst="rect">
            <a:avLst/>
          </a:prstGeom>
          <a:solidFill>
            <a:srgbClr val="0C446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10227945" y="5355771"/>
            <a:ext cx="643890" cy="405493"/>
          </a:xfrm>
          <a:prstGeom prst="rect">
            <a:avLst/>
          </a:prstGeom>
          <a:solidFill>
            <a:srgbClr val="0D548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0871835" y="5355771"/>
            <a:ext cx="643890" cy="405493"/>
          </a:xfrm>
          <a:prstGeom prst="rect">
            <a:avLst/>
          </a:prstGeom>
          <a:solidFill>
            <a:srgbClr val="0D639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238125" y="5761264"/>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Bar</a:t>
            </a:r>
          </a:p>
        </p:txBody>
      </p:sp>
      <p:sp>
        <p:nvSpPr>
          <p:cNvPr id="113" name="Rectangle 112"/>
          <p:cNvSpPr/>
          <p:nvPr/>
        </p:nvSpPr>
        <p:spPr>
          <a:xfrm>
            <a:off x="1857375" y="5761264"/>
            <a:ext cx="643890" cy="405493"/>
          </a:xfrm>
          <a:prstGeom prst="rect">
            <a:avLst/>
          </a:prstGeom>
          <a:solidFill>
            <a:srgbClr val="D4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2501265" y="5761264"/>
            <a:ext cx="643890" cy="405493"/>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3145155" y="5761264"/>
            <a:ext cx="643890" cy="405493"/>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3789045" y="5761264"/>
            <a:ext cx="643890" cy="405493"/>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4432935" y="5761264"/>
            <a:ext cx="643890" cy="405493"/>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5076825" y="5761264"/>
            <a:ext cx="643890" cy="405493"/>
          </a:xfrm>
          <a:prstGeom prst="rect">
            <a:avLst/>
          </a:prstGeom>
          <a:solidFill>
            <a:srgbClr val="B5D0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5720715" y="5761264"/>
            <a:ext cx="643890" cy="405493"/>
          </a:xfrm>
          <a:prstGeom prst="rect">
            <a:avLst/>
          </a:prstGeom>
          <a:solidFill>
            <a:srgbClr val="97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6364605" y="5761264"/>
            <a:ext cx="643890" cy="405493"/>
          </a:xfrm>
          <a:prstGeom prst="rect">
            <a:avLst/>
          </a:prstGeom>
          <a:solidFill>
            <a:srgbClr val="76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7008495" y="5761264"/>
            <a:ext cx="643890" cy="405493"/>
          </a:xfrm>
          <a:prstGeom prst="rect">
            <a:avLst/>
          </a:prstGeom>
          <a:solidFill>
            <a:srgbClr val="599E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7652385" y="5761264"/>
            <a:ext cx="643890" cy="405493"/>
          </a:xfrm>
          <a:prstGeom prst="rect">
            <a:avLst/>
          </a:prstGeom>
          <a:solidFill>
            <a:srgbClr val="4694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8296275" y="5761264"/>
            <a:ext cx="643890" cy="405493"/>
          </a:xfrm>
          <a:prstGeom prst="rect">
            <a:avLst/>
          </a:prstGeom>
          <a:solidFill>
            <a:srgbClr val="3A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a:off x="8940165" y="5761264"/>
            <a:ext cx="643890" cy="405493"/>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124"/>
          <p:cNvSpPr/>
          <p:nvPr/>
        </p:nvSpPr>
        <p:spPr>
          <a:xfrm>
            <a:off x="9584055" y="5761264"/>
            <a:ext cx="643890" cy="405493"/>
          </a:xfrm>
          <a:prstGeom prst="rect">
            <a:avLst/>
          </a:prstGeom>
          <a:solidFill>
            <a:srgbClr val="38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25"/>
          <p:cNvSpPr/>
          <p:nvPr/>
        </p:nvSpPr>
        <p:spPr>
          <a:xfrm>
            <a:off x="10227945" y="5761264"/>
            <a:ext cx="643890" cy="405493"/>
          </a:xfrm>
          <a:prstGeom prst="rect">
            <a:avLst/>
          </a:prstGeom>
          <a:solidFill>
            <a:srgbClr val="3C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26"/>
          <p:cNvSpPr/>
          <p:nvPr/>
        </p:nvSpPr>
        <p:spPr>
          <a:xfrm>
            <a:off x="10871835" y="5761264"/>
            <a:ext cx="643890" cy="405493"/>
          </a:xfrm>
          <a:prstGeom prst="rect">
            <a:avLst/>
          </a:prstGeom>
          <a:solidFill>
            <a:srgbClr val="4492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238125" y="6166757"/>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Liquid</a:t>
            </a:r>
          </a:p>
        </p:txBody>
      </p:sp>
      <p:sp>
        <p:nvSpPr>
          <p:cNvPr id="129" name="Rectangle 128"/>
          <p:cNvSpPr/>
          <p:nvPr/>
        </p:nvSpPr>
        <p:spPr>
          <a:xfrm>
            <a:off x="1857375" y="6166757"/>
            <a:ext cx="643890" cy="405493"/>
          </a:xfrm>
          <a:prstGeom prst="rect">
            <a:avLst/>
          </a:prstGeom>
          <a:solidFill>
            <a:srgbClr val="49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ectangle 129"/>
          <p:cNvSpPr/>
          <p:nvPr/>
        </p:nvSpPr>
        <p:spPr>
          <a:xfrm>
            <a:off x="2501265" y="6166757"/>
            <a:ext cx="643890" cy="405493"/>
          </a:xfrm>
          <a:prstGeom prst="rect">
            <a:avLst/>
          </a:prstGeom>
          <a:solidFill>
            <a:srgbClr val="58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ectangle 130"/>
          <p:cNvSpPr/>
          <p:nvPr/>
        </p:nvSpPr>
        <p:spPr>
          <a:xfrm>
            <a:off x="3145155" y="6166757"/>
            <a:ext cx="643890" cy="405493"/>
          </a:xfrm>
          <a:prstGeom prst="rect">
            <a:avLst/>
          </a:prstGeom>
          <a:solidFill>
            <a:srgbClr val="6CA8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Rectangle 131"/>
          <p:cNvSpPr/>
          <p:nvPr/>
        </p:nvSpPr>
        <p:spPr>
          <a:xfrm>
            <a:off x="3789045" y="6166757"/>
            <a:ext cx="643890" cy="405493"/>
          </a:xfrm>
          <a:prstGeom prst="rect">
            <a:avLst/>
          </a:prstGeom>
          <a:solidFill>
            <a:srgbClr val="77AE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p:cNvSpPr/>
          <p:nvPr/>
        </p:nvSpPr>
        <p:spPr>
          <a:xfrm>
            <a:off x="4432935" y="6166757"/>
            <a:ext cx="643890" cy="405493"/>
          </a:xfrm>
          <a:prstGeom prst="rect">
            <a:avLst/>
          </a:prstGeom>
          <a:solidFill>
            <a:srgbClr val="63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angle 133"/>
          <p:cNvSpPr/>
          <p:nvPr/>
        </p:nvSpPr>
        <p:spPr>
          <a:xfrm>
            <a:off x="5076825" y="6166757"/>
            <a:ext cx="643890" cy="405493"/>
          </a:xfrm>
          <a:prstGeom prst="rect">
            <a:avLst/>
          </a:prstGeom>
          <a:solidFill>
            <a:srgbClr val="4D97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5720715" y="6166757"/>
            <a:ext cx="643890" cy="405493"/>
          </a:xfrm>
          <a:prstGeom prst="rect">
            <a:avLst/>
          </a:prstGeom>
          <a:solidFill>
            <a:srgbClr val="36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Rectangle 135"/>
          <p:cNvSpPr/>
          <p:nvPr/>
        </p:nvSpPr>
        <p:spPr>
          <a:xfrm>
            <a:off x="6364605" y="6166757"/>
            <a:ext cx="643890" cy="405493"/>
          </a:xfrm>
          <a:prstGeom prst="rect">
            <a:avLst/>
          </a:prstGeom>
          <a:solidFill>
            <a:srgbClr val="2B84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7008495" y="6166757"/>
            <a:ext cx="643890" cy="405493"/>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ectangle 137"/>
          <p:cNvSpPr/>
          <p:nvPr/>
        </p:nvSpPr>
        <p:spPr>
          <a:xfrm>
            <a:off x="7652385" y="6166757"/>
            <a:ext cx="643890" cy="405493"/>
          </a:xfrm>
          <a:prstGeom prst="rect">
            <a:avLst/>
          </a:prstGeom>
          <a:solidFill>
            <a:srgbClr val="30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ectangle 138"/>
          <p:cNvSpPr/>
          <p:nvPr/>
        </p:nvSpPr>
        <p:spPr>
          <a:xfrm>
            <a:off x="8296275" y="6166757"/>
            <a:ext cx="643890" cy="405493"/>
          </a:xfrm>
          <a:prstGeom prst="rect">
            <a:avLst/>
          </a:prstGeom>
          <a:solidFill>
            <a:srgbClr val="2E85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ectangle 139"/>
          <p:cNvSpPr/>
          <p:nvPr/>
        </p:nvSpPr>
        <p:spPr>
          <a:xfrm>
            <a:off x="8940165" y="6166757"/>
            <a:ext cx="643890" cy="405493"/>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Rectangle 140"/>
          <p:cNvSpPr/>
          <p:nvPr/>
        </p:nvSpPr>
        <p:spPr>
          <a:xfrm>
            <a:off x="9584055" y="6166757"/>
            <a:ext cx="643890" cy="405493"/>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Rectangle 141"/>
          <p:cNvSpPr/>
          <p:nvPr/>
        </p:nvSpPr>
        <p:spPr>
          <a:xfrm>
            <a:off x="10227945" y="6166757"/>
            <a:ext cx="643890" cy="405493"/>
          </a:xfrm>
          <a:prstGeom prst="rect">
            <a:avLst/>
          </a:prstGeom>
          <a:solidFill>
            <a:srgbClr val="30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Rectangle 142"/>
          <p:cNvSpPr/>
          <p:nvPr/>
        </p:nvSpPr>
        <p:spPr>
          <a:xfrm>
            <a:off x="10871835" y="6166757"/>
            <a:ext cx="643890" cy="405493"/>
          </a:xfrm>
          <a:prstGeom prst="rect">
            <a:avLst/>
          </a:prstGeom>
          <a:solidFill>
            <a:srgbClr val="36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Rectangle 143"/>
          <p:cNvSpPr/>
          <p:nvPr/>
        </p:nvSpPr>
        <p:spPr>
          <a:xfrm>
            <a:off x="11572875" y="3771900"/>
            <a:ext cx="104775" cy="76676"/>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ectangle 144"/>
          <p:cNvSpPr/>
          <p:nvPr/>
        </p:nvSpPr>
        <p:spPr>
          <a:xfrm>
            <a:off x="11572875" y="3840956"/>
            <a:ext cx="104775" cy="76676"/>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ectangle 145"/>
          <p:cNvSpPr/>
          <p:nvPr/>
        </p:nvSpPr>
        <p:spPr>
          <a:xfrm>
            <a:off x="11572875" y="3910012"/>
            <a:ext cx="104775" cy="76676"/>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Rectangle 146"/>
          <p:cNvSpPr/>
          <p:nvPr/>
        </p:nvSpPr>
        <p:spPr>
          <a:xfrm>
            <a:off x="11572875" y="3979069"/>
            <a:ext cx="104775" cy="76676"/>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Rectangle 147"/>
          <p:cNvSpPr/>
          <p:nvPr/>
        </p:nvSpPr>
        <p:spPr>
          <a:xfrm>
            <a:off x="11572875" y="4048125"/>
            <a:ext cx="104775" cy="76676"/>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ectangle 148"/>
          <p:cNvSpPr/>
          <p:nvPr/>
        </p:nvSpPr>
        <p:spPr>
          <a:xfrm>
            <a:off x="11572875" y="4117181"/>
            <a:ext cx="104775" cy="76676"/>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ectangle 149"/>
          <p:cNvSpPr/>
          <p:nvPr/>
        </p:nvSpPr>
        <p:spPr>
          <a:xfrm>
            <a:off x="11572875" y="4186238"/>
            <a:ext cx="104775" cy="76676"/>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ectangle 150"/>
          <p:cNvSpPr/>
          <p:nvPr/>
        </p:nvSpPr>
        <p:spPr>
          <a:xfrm>
            <a:off x="11572875" y="4255294"/>
            <a:ext cx="104775" cy="76676"/>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ectangle 151"/>
          <p:cNvSpPr/>
          <p:nvPr/>
        </p:nvSpPr>
        <p:spPr>
          <a:xfrm>
            <a:off x="11572875" y="4324350"/>
            <a:ext cx="104775" cy="76676"/>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ectangle 152"/>
          <p:cNvSpPr/>
          <p:nvPr/>
        </p:nvSpPr>
        <p:spPr>
          <a:xfrm>
            <a:off x="11572875" y="4393406"/>
            <a:ext cx="104775" cy="76676"/>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ectangle 153"/>
          <p:cNvSpPr/>
          <p:nvPr/>
        </p:nvSpPr>
        <p:spPr>
          <a:xfrm>
            <a:off x="11572875" y="4462462"/>
            <a:ext cx="104775" cy="76676"/>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Rectangle 154"/>
          <p:cNvSpPr/>
          <p:nvPr/>
        </p:nvSpPr>
        <p:spPr>
          <a:xfrm>
            <a:off x="11572875" y="4531519"/>
            <a:ext cx="104775" cy="76676"/>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Rectangle 155"/>
          <p:cNvSpPr/>
          <p:nvPr/>
        </p:nvSpPr>
        <p:spPr>
          <a:xfrm>
            <a:off x="11572875" y="4600575"/>
            <a:ext cx="104775" cy="76676"/>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ectangle 156"/>
          <p:cNvSpPr/>
          <p:nvPr/>
        </p:nvSpPr>
        <p:spPr>
          <a:xfrm>
            <a:off x="11572875" y="4669631"/>
            <a:ext cx="104775" cy="76676"/>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ectangle 157"/>
          <p:cNvSpPr/>
          <p:nvPr/>
        </p:nvSpPr>
        <p:spPr>
          <a:xfrm>
            <a:off x="11572875" y="4738688"/>
            <a:ext cx="104775" cy="76676"/>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Rectangle 158"/>
          <p:cNvSpPr/>
          <p:nvPr/>
        </p:nvSpPr>
        <p:spPr>
          <a:xfrm>
            <a:off x="11572875" y="4807744"/>
            <a:ext cx="104775" cy="76676"/>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ectangle 159"/>
          <p:cNvSpPr/>
          <p:nvPr/>
        </p:nvSpPr>
        <p:spPr>
          <a:xfrm>
            <a:off x="11572875" y="4876800"/>
            <a:ext cx="104775" cy="76676"/>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Rectangle 160"/>
          <p:cNvSpPr/>
          <p:nvPr/>
        </p:nvSpPr>
        <p:spPr>
          <a:xfrm>
            <a:off x="11572875" y="4945856"/>
            <a:ext cx="104775" cy="76676"/>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Rectangle 161"/>
          <p:cNvSpPr/>
          <p:nvPr/>
        </p:nvSpPr>
        <p:spPr>
          <a:xfrm>
            <a:off x="11572875" y="5014912"/>
            <a:ext cx="104775" cy="76676"/>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Rectangle 162"/>
          <p:cNvSpPr/>
          <p:nvPr/>
        </p:nvSpPr>
        <p:spPr>
          <a:xfrm>
            <a:off x="11572875" y="5083969"/>
            <a:ext cx="104775" cy="76676"/>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Rectangle 163"/>
          <p:cNvSpPr/>
          <p:nvPr/>
        </p:nvSpPr>
        <p:spPr>
          <a:xfrm>
            <a:off x="11572875" y="5153025"/>
            <a:ext cx="104775" cy="76676"/>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Rectangle 164"/>
          <p:cNvSpPr/>
          <p:nvPr/>
        </p:nvSpPr>
        <p:spPr>
          <a:xfrm>
            <a:off x="11572875" y="5222081"/>
            <a:ext cx="104775" cy="76676"/>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Rectangle 165"/>
          <p:cNvSpPr/>
          <p:nvPr/>
        </p:nvSpPr>
        <p:spPr>
          <a:xfrm>
            <a:off x="11572875" y="5291138"/>
            <a:ext cx="104775" cy="76676"/>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Rectangle 166"/>
          <p:cNvSpPr/>
          <p:nvPr/>
        </p:nvSpPr>
        <p:spPr>
          <a:xfrm>
            <a:off x="11572875" y="5360194"/>
            <a:ext cx="104775" cy="76676"/>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Rectangle 167"/>
          <p:cNvSpPr/>
          <p:nvPr/>
        </p:nvSpPr>
        <p:spPr>
          <a:xfrm>
            <a:off x="11572875" y="5429250"/>
            <a:ext cx="104775" cy="76676"/>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Rectangle 168"/>
          <p:cNvSpPr/>
          <p:nvPr/>
        </p:nvSpPr>
        <p:spPr>
          <a:xfrm>
            <a:off x="11572875" y="5498306"/>
            <a:ext cx="104775" cy="76676"/>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Rectangle 169"/>
          <p:cNvSpPr/>
          <p:nvPr/>
        </p:nvSpPr>
        <p:spPr>
          <a:xfrm>
            <a:off x="11572875" y="5567362"/>
            <a:ext cx="104775" cy="76676"/>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Rectangle 170"/>
          <p:cNvSpPr/>
          <p:nvPr/>
        </p:nvSpPr>
        <p:spPr>
          <a:xfrm>
            <a:off x="11572875" y="5636419"/>
            <a:ext cx="104775" cy="76676"/>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Rectangle 171"/>
          <p:cNvSpPr/>
          <p:nvPr/>
        </p:nvSpPr>
        <p:spPr>
          <a:xfrm>
            <a:off x="11572875" y="5705475"/>
            <a:ext cx="104775" cy="76676"/>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Rectangle 172"/>
          <p:cNvSpPr/>
          <p:nvPr/>
        </p:nvSpPr>
        <p:spPr>
          <a:xfrm>
            <a:off x="11572875" y="5774531"/>
            <a:ext cx="104775" cy="76676"/>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Rectangle 173"/>
          <p:cNvSpPr/>
          <p:nvPr/>
        </p:nvSpPr>
        <p:spPr>
          <a:xfrm>
            <a:off x="11572875" y="5843588"/>
            <a:ext cx="104775" cy="76676"/>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Rectangle 174"/>
          <p:cNvSpPr/>
          <p:nvPr/>
        </p:nvSpPr>
        <p:spPr>
          <a:xfrm>
            <a:off x="11572875" y="5912644"/>
            <a:ext cx="104775" cy="76676"/>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Rectangle 175"/>
          <p:cNvSpPr/>
          <p:nvPr/>
        </p:nvSpPr>
        <p:spPr>
          <a:xfrm>
            <a:off x="11572875" y="5981700"/>
            <a:ext cx="104775" cy="76676"/>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Rectangle 176"/>
          <p:cNvSpPr/>
          <p:nvPr/>
        </p:nvSpPr>
        <p:spPr>
          <a:xfrm>
            <a:off x="11572875" y="6050756"/>
            <a:ext cx="104775" cy="76676"/>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Rectangle 177"/>
          <p:cNvSpPr/>
          <p:nvPr/>
        </p:nvSpPr>
        <p:spPr>
          <a:xfrm>
            <a:off x="11572875" y="6119812"/>
            <a:ext cx="104775" cy="76676"/>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Rectangle 178"/>
          <p:cNvSpPr/>
          <p:nvPr/>
        </p:nvSpPr>
        <p:spPr>
          <a:xfrm>
            <a:off x="11572875" y="6188869"/>
            <a:ext cx="104775" cy="76676"/>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Rectangle 179"/>
          <p:cNvSpPr/>
          <p:nvPr/>
        </p:nvSpPr>
        <p:spPr>
          <a:xfrm>
            <a:off x="11572875" y="6257925"/>
            <a:ext cx="104775" cy="76676"/>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Rectangle 180"/>
          <p:cNvSpPr/>
          <p:nvPr/>
        </p:nvSpPr>
        <p:spPr>
          <a:xfrm>
            <a:off x="11572875" y="6326981"/>
            <a:ext cx="104775" cy="76676"/>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Rectangle 181"/>
          <p:cNvSpPr/>
          <p:nvPr/>
        </p:nvSpPr>
        <p:spPr>
          <a:xfrm>
            <a:off x="11572875" y="6396038"/>
            <a:ext cx="104775" cy="76676"/>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Rectangle 182"/>
          <p:cNvSpPr/>
          <p:nvPr/>
        </p:nvSpPr>
        <p:spPr>
          <a:xfrm>
            <a:off x="11572875" y="6465094"/>
            <a:ext cx="104775" cy="76676"/>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Rectangle 183"/>
          <p:cNvSpPr/>
          <p:nvPr/>
        </p:nvSpPr>
        <p:spPr>
          <a:xfrm>
            <a:off x="11572875" y="3771900"/>
            <a:ext cx="104775" cy="27622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TextBox 184"/>
          <p:cNvSpPr txBox="1"/>
          <p:nvPr/>
        </p:nvSpPr>
        <p:spPr>
          <a:xfrm>
            <a:off x="11687175" y="3705225"/>
            <a:ext cx="276225" cy="133350"/>
          </a:xfrm>
          <a:prstGeom prst="rect">
            <a:avLst/>
          </a:prstGeom>
          <a:noFill/>
        </p:spPr>
        <p:txBody>
          <a:bodyPr wrap="none" lIns="0" tIns="0" rIns="0" bIns="0" anchor="ctr">
            <a:spAutoFit/>
          </a:bodyPr>
          <a:lstStyle/>
          <a:p>
            <a:pPr algn="l"/>
            <a:r>
              <a:rPr sz="1100" b="0">
                <a:solidFill>
                  <a:srgbClr val="6C7A89"/>
                </a:solidFill>
                <a:latin typeface="Calibri"/>
              </a:rPr>
              <a:t>15%</a:t>
            </a:r>
          </a:p>
        </p:txBody>
      </p:sp>
      <p:sp>
        <p:nvSpPr>
          <p:cNvPr id="186" name="TextBox 185"/>
          <p:cNvSpPr txBox="1"/>
          <p:nvPr/>
        </p:nvSpPr>
        <p:spPr>
          <a:xfrm>
            <a:off x="11687175" y="5086350"/>
            <a:ext cx="276225" cy="133350"/>
          </a:xfrm>
          <a:prstGeom prst="rect">
            <a:avLst/>
          </a:prstGeom>
          <a:noFill/>
        </p:spPr>
        <p:txBody>
          <a:bodyPr wrap="none" lIns="0" tIns="0" rIns="0" bIns="0" anchor="ctr">
            <a:spAutoFit/>
          </a:bodyPr>
          <a:lstStyle/>
          <a:p>
            <a:pPr algn="l"/>
            <a:r>
              <a:rPr sz="1100" b="0">
                <a:solidFill>
                  <a:srgbClr val="6C7A89"/>
                </a:solidFill>
                <a:latin typeface="Calibri"/>
              </a:rPr>
              <a:t>9%</a:t>
            </a:r>
          </a:p>
        </p:txBody>
      </p:sp>
      <p:sp>
        <p:nvSpPr>
          <p:cNvPr id="187" name="TextBox 186"/>
          <p:cNvSpPr txBox="1"/>
          <p:nvPr/>
        </p:nvSpPr>
        <p:spPr>
          <a:xfrm>
            <a:off x="11687175" y="6467475"/>
            <a:ext cx="276225" cy="133350"/>
          </a:xfrm>
          <a:prstGeom prst="rect">
            <a:avLst/>
          </a:prstGeom>
          <a:noFill/>
        </p:spPr>
        <p:txBody>
          <a:bodyPr wrap="none" lIns="0" tIns="0" rIns="0" bIns="0" anchor="ctr">
            <a:spAutoFit/>
          </a:bodyPr>
          <a:lstStyle/>
          <a:p>
            <a:pPr algn="l"/>
            <a:r>
              <a:rPr sz="1100" b="0">
                <a:solidFill>
                  <a:srgbClr val="6C7A89"/>
                </a:solidFill>
                <a:latin typeface="Calibri"/>
              </a:rPr>
              <a:t>3%</a:t>
            </a:r>
          </a:p>
        </p:txBody>
      </p:sp>
      <p:sp>
        <p:nvSpPr>
          <p:cNvPr id="188" name="TextBox 18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7.2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Prenatal Vitamin Supplements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Product Type</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By Product Type Segment Outlook</a:t>
            </a:r>
          </a:p>
          <a:p>
            <a:pPr marL="342900" indent="-323850">
              <a:lnSpc>
                <a:spcPct val="100000"/>
              </a:lnSpc>
              <a:spcAft>
                <a:spcPts val="800"/>
              </a:spcAft>
            </a:pPr>
            <a:r>
              <a:rPr sz="2000" b="0">
                <a:solidFill>
                  <a:srgbClr val="000000"/>
                </a:solidFill>
                <a:latin typeface="Calibri"/>
              </a:rPr>
              <a:t>➤	Market Structure &amp; Attractiveness</a:t>
            </a:r>
          </a:p>
          <a:p>
            <a:pPr marL="342900" indent="-323850">
              <a:lnSpc>
                <a:spcPct val="100000"/>
              </a:lnSpc>
              <a:spcAft>
                <a:spcPts val="800"/>
              </a:spcAft>
            </a:pPr>
            <a:r>
              <a:rPr sz="2000" b="0">
                <a:solidFill>
                  <a:srgbClr val="000000"/>
                </a:solidFill>
                <a:latin typeface="Calibri"/>
              </a:rPr>
              <a:t>➤	Absolute $ Analysis</a:t>
            </a:r>
          </a:p>
          <a:p>
            <a:pPr marL="342900" indent="-323850">
              <a:lnSpc>
                <a:spcPct val="100000"/>
              </a:lnSpc>
              <a:spcAft>
                <a:spcPts val="800"/>
              </a:spcAft>
            </a:pPr>
            <a:r>
              <a:rPr sz="2000" b="0">
                <a:solidFill>
                  <a:srgbClr val="000000"/>
                </a:solidFill>
                <a:latin typeface="Calibri"/>
              </a:rPr>
              <a:t>➤	Market Volume Analysis</a:t>
            </a:r>
          </a:p>
          <a:p>
            <a:pPr marL="342900" indent="-323850">
              <a:lnSpc>
                <a:spcPct val="100000"/>
              </a:lnSpc>
              <a:spcAft>
                <a:spcPts val="800"/>
              </a:spcAft>
            </a:pPr>
            <a:r>
              <a:rPr sz="2000" b="0">
                <a:solidFill>
                  <a:srgbClr val="000000"/>
                </a:solidFill>
                <a:latin typeface="Calibri"/>
              </a:rPr>
              <a:t>➤	Market Value Analysis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By Product Type Segment Outlook</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Segment analysis of market size, growth and share across 7 sub-segments of Product Type,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TextBox 10"/>
          <p:cNvSpPr txBox="1"/>
          <p:nvPr/>
        </p:nvSpPr>
        <p:spPr>
          <a:xfrm>
            <a:off x="323850" y="1007261"/>
            <a:ext cx="11544300" cy="310313"/>
          </a:xfrm>
          <a:prstGeom prst="rect">
            <a:avLst/>
          </a:prstGeom>
          <a:noFill/>
        </p:spPr>
        <p:txBody>
          <a:bodyPr wrap="square" lIns="28575" tIns="9525" rIns="28575" bIns="9525">
            <a:spAutoFit/>
          </a:bodyPr>
          <a:lstStyle/>
          <a:p>
            <a:pPr algn="l"/>
            <a:r>
              <a:rPr sz="1150" b="0">
                <a:solidFill>
                  <a:srgbClr val="2E2E2E"/>
                </a:solidFill>
                <a:latin typeface="Calibri"/>
              </a:rPr>
              <a:t>The Product Type segment categorizes the market by product type.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9575" y="1773916"/>
            <a:ext cx="1295400" cy="438089"/>
          </a:xfrm>
          <a:prstGeom prst="rect">
            <a:avLst/>
          </a:prstGeom>
          <a:noFill/>
        </p:spPr>
        <p:txBody>
          <a:bodyPr wrap="square" lIns="28575" tIns="9525" rIns="2857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9575" y="22302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09575" y="272310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09575" y="32159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1330779"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866900" y="1992961"/>
            <a:ext cx="1330779"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905000" y="1773916"/>
            <a:ext cx="1254579" cy="438089"/>
          </a:xfrm>
          <a:prstGeom prst="rect">
            <a:avLst/>
          </a:prstGeom>
          <a:noFill/>
        </p:spPr>
        <p:txBody>
          <a:bodyPr wrap="square" lIns="28575" tIns="9525" rIns="28575" bIns="9525" anchor="ctr">
            <a:spAutoFit/>
          </a:bodyPr>
          <a:lstStyle/>
          <a:p>
            <a:pPr algn="ctr"/>
            <a:r>
              <a:rPr sz="1100" b="1">
                <a:solidFill>
                  <a:srgbClr val="FFFFFF"/>
                </a:solidFill>
                <a:latin typeface="Calibri"/>
              </a:rPr>
              <a:t>Multivitamin</a:t>
            </a:r>
          </a:p>
        </p:txBody>
      </p:sp>
      <p:sp>
        <p:nvSpPr>
          <p:cNvPr id="23" name="Rectangle 22"/>
          <p:cNvSpPr/>
          <p:nvPr/>
        </p:nvSpPr>
        <p:spPr>
          <a:xfrm>
            <a:off x="1866900"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141.7</a:t>
            </a:r>
          </a:p>
        </p:txBody>
      </p:sp>
      <p:sp>
        <p:nvSpPr>
          <p:cNvPr id="24" name="Rectangle 23"/>
          <p:cNvSpPr/>
          <p:nvPr/>
        </p:nvSpPr>
        <p:spPr>
          <a:xfrm>
            <a:off x="1866900"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257.9</a:t>
            </a:r>
          </a:p>
        </p:txBody>
      </p:sp>
      <p:sp>
        <p:nvSpPr>
          <p:cNvPr id="25" name="Rectangle 24"/>
          <p:cNvSpPr/>
          <p:nvPr/>
        </p:nvSpPr>
        <p:spPr>
          <a:xfrm>
            <a:off x="1866900"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6.2%</a:t>
            </a:r>
          </a:p>
        </p:txBody>
      </p:sp>
      <p:sp>
        <p:nvSpPr>
          <p:cNvPr id="26" name="Oval 25"/>
          <p:cNvSpPr/>
          <p:nvPr/>
        </p:nvSpPr>
        <p:spPr>
          <a:xfrm>
            <a:off x="237036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a:t>
            </a:r>
          </a:p>
        </p:txBody>
      </p:sp>
      <p:sp>
        <p:nvSpPr>
          <p:cNvPr id="27" name="Rounded Rectangle 26"/>
          <p:cNvSpPr/>
          <p:nvPr/>
        </p:nvSpPr>
        <p:spPr>
          <a:xfrm>
            <a:off x="3311979" y="1773916"/>
            <a:ext cx="1330779"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311979" y="1992961"/>
            <a:ext cx="1330779"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350079" y="1773916"/>
            <a:ext cx="1254579" cy="438089"/>
          </a:xfrm>
          <a:prstGeom prst="rect">
            <a:avLst/>
          </a:prstGeom>
          <a:noFill/>
        </p:spPr>
        <p:txBody>
          <a:bodyPr wrap="square" lIns="28575" tIns="9525" rIns="28575" bIns="9525" anchor="ctr">
            <a:spAutoFit/>
          </a:bodyPr>
          <a:lstStyle/>
          <a:p>
            <a:pPr algn="ctr"/>
            <a:r>
              <a:rPr sz="1100" b="1">
                <a:solidFill>
                  <a:srgbClr val="FFFFFF"/>
                </a:solidFill>
                <a:latin typeface="Calibri"/>
              </a:rPr>
              <a:t>DHA / Omega-3</a:t>
            </a:r>
          </a:p>
        </p:txBody>
      </p:sp>
      <p:sp>
        <p:nvSpPr>
          <p:cNvPr id="30" name="Rectangle 29"/>
          <p:cNvSpPr/>
          <p:nvPr/>
        </p:nvSpPr>
        <p:spPr>
          <a:xfrm>
            <a:off x="3311979"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E72AE"/>
                </a:solidFill>
                <a:latin typeface="Calibri"/>
              </a:rPr>
              <a:t>29.5</a:t>
            </a:r>
          </a:p>
        </p:txBody>
      </p:sp>
      <p:sp>
        <p:nvSpPr>
          <p:cNvPr id="31" name="Rectangle 30"/>
          <p:cNvSpPr/>
          <p:nvPr/>
        </p:nvSpPr>
        <p:spPr>
          <a:xfrm>
            <a:off x="3311979"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E72AE"/>
                </a:solidFill>
                <a:latin typeface="Calibri"/>
              </a:rPr>
              <a:t>62.4</a:t>
            </a:r>
          </a:p>
        </p:txBody>
      </p:sp>
      <p:sp>
        <p:nvSpPr>
          <p:cNvPr id="32" name="Rectangle 31"/>
          <p:cNvSpPr/>
          <p:nvPr/>
        </p:nvSpPr>
        <p:spPr>
          <a:xfrm>
            <a:off x="3311979"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E72AE"/>
                </a:solidFill>
                <a:latin typeface="Calibri"/>
              </a:rPr>
              <a:t>7.8%</a:t>
            </a:r>
          </a:p>
        </p:txBody>
      </p:sp>
      <p:sp>
        <p:nvSpPr>
          <p:cNvPr id="33" name="Oval 32"/>
          <p:cNvSpPr/>
          <p:nvPr/>
        </p:nvSpPr>
        <p:spPr>
          <a:xfrm>
            <a:off x="3815443"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2</a:t>
            </a:r>
          </a:p>
        </p:txBody>
      </p:sp>
      <p:sp>
        <p:nvSpPr>
          <p:cNvPr id="34" name="Rounded Rectangle 33"/>
          <p:cNvSpPr/>
          <p:nvPr/>
        </p:nvSpPr>
        <p:spPr>
          <a:xfrm>
            <a:off x="4757057" y="1773916"/>
            <a:ext cx="1330779"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757057" y="1992961"/>
            <a:ext cx="1330779"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795157" y="1773916"/>
            <a:ext cx="1254579" cy="438089"/>
          </a:xfrm>
          <a:prstGeom prst="rect">
            <a:avLst/>
          </a:prstGeom>
          <a:noFill/>
        </p:spPr>
        <p:txBody>
          <a:bodyPr wrap="square" lIns="28575" tIns="9525" rIns="28575" bIns="9525" anchor="ctr">
            <a:spAutoFit/>
          </a:bodyPr>
          <a:lstStyle/>
          <a:p>
            <a:pPr algn="ctr"/>
            <a:r>
              <a:rPr sz="1100" b="1">
                <a:solidFill>
                  <a:srgbClr val="FFFFFF"/>
                </a:solidFill>
                <a:latin typeface="Calibri"/>
              </a:rPr>
              <a:t>Iron</a:t>
            </a:r>
          </a:p>
        </p:txBody>
      </p:sp>
      <p:sp>
        <p:nvSpPr>
          <p:cNvPr id="37" name="Rectangle 36"/>
          <p:cNvSpPr/>
          <p:nvPr/>
        </p:nvSpPr>
        <p:spPr>
          <a:xfrm>
            <a:off x="4757057"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08189"/>
                </a:solidFill>
                <a:latin typeface="Calibri"/>
              </a:rPr>
              <a:t>16.8</a:t>
            </a:r>
          </a:p>
        </p:txBody>
      </p:sp>
      <p:sp>
        <p:nvSpPr>
          <p:cNvPr id="38" name="Rectangle 37"/>
          <p:cNvSpPr/>
          <p:nvPr/>
        </p:nvSpPr>
        <p:spPr>
          <a:xfrm>
            <a:off x="4757057"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08189"/>
                </a:solidFill>
                <a:latin typeface="Calibri"/>
              </a:rPr>
              <a:t>26.0</a:t>
            </a:r>
          </a:p>
        </p:txBody>
      </p:sp>
      <p:sp>
        <p:nvSpPr>
          <p:cNvPr id="39" name="Rectangle 38"/>
          <p:cNvSpPr/>
          <p:nvPr/>
        </p:nvSpPr>
        <p:spPr>
          <a:xfrm>
            <a:off x="4757057"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08189"/>
                </a:solidFill>
                <a:latin typeface="Calibri"/>
              </a:rPr>
              <a:t>4.4%</a:t>
            </a:r>
          </a:p>
        </p:txBody>
      </p:sp>
      <p:sp>
        <p:nvSpPr>
          <p:cNvPr id="40" name="Oval 39"/>
          <p:cNvSpPr/>
          <p:nvPr/>
        </p:nvSpPr>
        <p:spPr>
          <a:xfrm>
            <a:off x="5260521"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3</a:t>
            </a:r>
          </a:p>
        </p:txBody>
      </p:sp>
      <p:sp>
        <p:nvSpPr>
          <p:cNvPr id="41" name="Rounded Rectangle 40"/>
          <p:cNvSpPr/>
          <p:nvPr/>
        </p:nvSpPr>
        <p:spPr>
          <a:xfrm>
            <a:off x="6202136" y="1773916"/>
            <a:ext cx="1330779"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202136" y="1992961"/>
            <a:ext cx="1330779"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0236" y="1773916"/>
            <a:ext cx="1254579" cy="438089"/>
          </a:xfrm>
          <a:prstGeom prst="rect">
            <a:avLst/>
          </a:prstGeom>
          <a:noFill/>
        </p:spPr>
        <p:txBody>
          <a:bodyPr wrap="square" lIns="28575" tIns="9525" rIns="28575" bIns="9525" anchor="ctr">
            <a:spAutoFit/>
          </a:bodyPr>
          <a:lstStyle/>
          <a:p>
            <a:pPr algn="ctr"/>
            <a:r>
              <a:rPr sz="1100" b="1">
                <a:solidFill>
                  <a:srgbClr val="FFFFFF"/>
                </a:solidFill>
                <a:latin typeface="Calibri"/>
              </a:rPr>
              <a:t>Folate / Folic Acid</a:t>
            </a:r>
          </a:p>
        </p:txBody>
      </p:sp>
      <p:sp>
        <p:nvSpPr>
          <p:cNvPr id="44" name="Rectangle 43"/>
          <p:cNvSpPr/>
          <p:nvPr/>
        </p:nvSpPr>
        <p:spPr>
          <a:xfrm>
            <a:off x="6202136"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F3CC2"/>
                </a:solidFill>
                <a:latin typeface="Calibri"/>
              </a:rPr>
              <a:t>14.2</a:t>
            </a:r>
          </a:p>
        </p:txBody>
      </p:sp>
      <p:sp>
        <p:nvSpPr>
          <p:cNvPr id="45" name="Rectangle 44"/>
          <p:cNvSpPr/>
          <p:nvPr/>
        </p:nvSpPr>
        <p:spPr>
          <a:xfrm>
            <a:off x="6202136"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F3CC2"/>
                </a:solidFill>
                <a:latin typeface="Calibri"/>
              </a:rPr>
              <a:t>23.4</a:t>
            </a:r>
          </a:p>
        </p:txBody>
      </p:sp>
      <p:sp>
        <p:nvSpPr>
          <p:cNvPr id="46" name="Rectangle 45"/>
          <p:cNvSpPr/>
          <p:nvPr/>
        </p:nvSpPr>
        <p:spPr>
          <a:xfrm>
            <a:off x="6202136"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F3CC2"/>
                </a:solidFill>
                <a:latin typeface="Calibri"/>
              </a:rPr>
              <a:t>5.2%</a:t>
            </a:r>
          </a:p>
        </p:txBody>
      </p:sp>
      <p:sp>
        <p:nvSpPr>
          <p:cNvPr id="47" name="Oval 46"/>
          <p:cNvSpPr/>
          <p:nvPr/>
        </p:nvSpPr>
        <p:spPr>
          <a:xfrm>
            <a:off x="670560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4</a:t>
            </a:r>
          </a:p>
        </p:txBody>
      </p:sp>
      <p:sp>
        <p:nvSpPr>
          <p:cNvPr id="48" name="Rounded Rectangle 47"/>
          <p:cNvSpPr/>
          <p:nvPr/>
        </p:nvSpPr>
        <p:spPr>
          <a:xfrm>
            <a:off x="7647214" y="1773916"/>
            <a:ext cx="1330779"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7647214" y="1992961"/>
            <a:ext cx="1330779"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685314" y="1773916"/>
            <a:ext cx="1254579" cy="438089"/>
          </a:xfrm>
          <a:prstGeom prst="rect">
            <a:avLst/>
          </a:prstGeom>
          <a:noFill/>
        </p:spPr>
        <p:txBody>
          <a:bodyPr wrap="square" lIns="28575" tIns="9525" rIns="28575" bIns="9525" anchor="ctr">
            <a:spAutoFit/>
          </a:bodyPr>
          <a:lstStyle/>
          <a:p>
            <a:pPr algn="ctr"/>
            <a:r>
              <a:rPr sz="1100" b="1">
                <a:solidFill>
                  <a:srgbClr val="FFFFFF"/>
                </a:solidFill>
                <a:latin typeface="Calibri"/>
              </a:rPr>
              <a:t>Calcium &amp; Mineral</a:t>
            </a:r>
          </a:p>
        </p:txBody>
      </p:sp>
      <p:sp>
        <p:nvSpPr>
          <p:cNvPr id="51" name="Rectangle 50"/>
          <p:cNvSpPr/>
          <p:nvPr/>
        </p:nvSpPr>
        <p:spPr>
          <a:xfrm>
            <a:off x="7647214"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86F00"/>
                </a:solidFill>
                <a:latin typeface="Calibri"/>
              </a:rPr>
              <a:t>11.5</a:t>
            </a:r>
          </a:p>
        </p:txBody>
      </p:sp>
      <p:sp>
        <p:nvSpPr>
          <p:cNvPr id="52" name="Rectangle 51"/>
          <p:cNvSpPr/>
          <p:nvPr/>
        </p:nvSpPr>
        <p:spPr>
          <a:xfrm>
            <a:off x="7647214"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86F00"/>
                </a:solidFill>
                <a:latin typeface="Calibri"/>
              </a:rPr>
              <a:t>16.4</a:t>
            </a:r>
          </a:p>
        </p:txBody>
      </p:sp>
      <p:sp>
        <p:nvSpPr>
          <p:cNvPr id="53" name="Rectangle 52"/>
          <p:cNvSpPr/>
          <p:nvPr/>
        </p:nvSpPr>
        <p:spPr>
          <a:xfrm>
            <a:off x="7647214"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86F00"/>
                </a:solidFill>
                <a:latin typeface="Calibri"/>
              </a:rPr>
              <a:t>3.7%</a:t>
            </a:r>
          </a:p>
        </p:txBody>
      </p:sp>
      <p:sp>
        <p:nvSpPr>
          <p:cNvPr id="54" name="Oval 53"/>
          <p:cNvSpPr/>
          <p:nvPr/>
        </p:nvSpPr>
        <p:spPr>
          <a:xfrm>
            <a:off x="815067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5</a:t>
            </a:r>
          </a:p>
        </p:txBody>
      </p:sp>
      <p:sp>
        <p:nvSpPr>
          <p:cNvPr id="55" name="Rounded Rectangle 54"/>
          <p:cNvSpPr/>
          <p:nvPr/>
        </p:nvSpPr>
        <p:spPr>
          <a:xfrm>
            <a:off x="9092293" y="1773916"/>
            <a:ext cx="1330779"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9092293" y="1992961"/>
            <a:ext cx="1330779"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130393" y="1773916"/>
            <a:ext cx="1254579" cy="438089"/>
          </a:xfrm>
          <a:prstGeom prst="rect">
            <a:avLst/>
          </a:prstGeom>
          <a:noFill/>
        </p:spPr>
        <p:txBody>
          <a:bodyPr wrap="square" lIns="28575" tIns="9525" rIns="28575" bIns="9525" anchor="ctr">
            <a:spAutoFit/>
          </a:bodyPr>
          <a:lstStyle/>
          <a:p>
            <a:pPr algn="ctr"/>
            <a:r>
              <a:rPr sz="1100" b="1">
                <a:solidFill>
                  <a:srgbClr val="FFFFFF"/>
                </a:solidFill>
                <a:latin typeface="Calibri"/>
              </a:rPr>
              <a:t>Choline</a:t>
            </a:r>
          </a:p>
        </p:txBody>
      </p:sp>
      <p:sp>
        <p:nvSpPr>
          <p:cNvPr id="58" name="Rectangle 57"/>
          <p:cNvSpPr/>
          <p:nvPr/>
        </p:nvSpPr>
        <p:spPr>
          <a:xfrm>
            <a:off x="9092293"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35313"/>
                </a:solidFill>
                <a:latin typeface="Calibri"/>
              </a:rPr>
              <a:t>9.13</a:t>
            </a:r>
          </a:p>
        </p:txBody>
      </p:sp>
      <p:sp>
        <p:nvSpPr>
          <p:cNvPr id="59" name="Rectangle 58"/>
          <p:cNvSpPr/>
          <p:nvPr/>
        </p:nvSpPr>
        <p:spPr>
          <a:xfrm>
            <a:off x="9092293"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35313"/>
                </a:solidFill>
                <a:latin typeface="Calibri"/>
              </a:rPr>
              <a:t>30.6</a:t>
            </a:r>
          </a:p>
        </p:txBody>
      </p:sp>
      <p:sp>
        <p:nvSpPr>
          <p:cNvPr id="60" name="Rectangle 59"/>
          <p:cNvSpPr/>
          <p:nvPr/>
        </p:nvSpPr>
        <p:spPr>
          <a:xfrm>
            <a:off x="9092293"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35313"/>
                </a:solidFill>
                <a:latin typeface="Calibri"/>
              </a:rPr>
              <a:t>12.9%</a:t>
            </a:r>
          </a:p>
        </p:txBody>
      </p:sp>
      <p:sp>
        <p:nvSpPr>
          <p:cNvPr id="61" name="Oval 60"/>
          <p:cNvSpPr/>
          <p:nvPr/>
        </p:nvSpPr>
        <p:spPr>
          <a:xfrm>
            <a:off x="9595757"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6</a:t>
            </a:r>
          </a:p>
        </p:txBody>
      </p:sp>
      <p:sp>
        <p:nvSpPr>
          <p:cNvPr id="62" name="Rounded Rectangle 61"/>
          <p:cNvSpPr/>
          <p:nvPr/>
        </p:nvSpPr>
        <p:spPr>
          <a:xfrm>
            <a:off x="10537371" y="1773916"/>
            <a:ext cx="1330779"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10537371" y="1992961"/>
            <a:ext cx="1330779"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0575471" y="1773916"/>
            <a:ext cx="1254579" cy="438089"/>
          </a:xfrm>
          <a:prstGeom prst="rect">
            <a:avLst/>
          </a:prstGeom>
          <a:noFill/>
        </p:spPr>
        <p:txBody>
          <a:bodyPr wrap="square" lIns="28575" tIns="9525" rIns="28575" bIns="9525" anchor="ctr">
            <a:spAutoFit/>
          </a:bodyPr>
          <a:lstStyle/>
          <a:p>
            <a:pPr algn="ctr"/>
            <a:r>
              <a:rPr sz="1100" b="1">
                <a:solidFill>
                  <a:srgbClr val="FFFFFF"/>
                </a:solidFill>
                <a:latin typeface="Calibri"/>
              </a:rPr>
              <a:t>Probiotic</a:t>
            </a:r>
          </a:p>
        </p:txBody>
      </p:sp>
      <p:sp>
        <p:nvSpPr>
          <p:cNvPr id="65" name="Rectangle 64"/>
          <p:cNvSpPr/>
          <p:nvPr/>
        </p:nvSpPr>
        <p:spPr>
          <a:xfrm>
            <a:off x="10537371"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C7A89"/>
                </a:solidFill>
                <a:latin typeface="Calibri"/>
              </a:rPr>
              <a:t>7.90</a:t>
            </a:r>
          </a:p>
        </p:txBody>
      </p:sp>
      <p:sp>
        <p:nvSpPr>
          <p:cNvPr id="66" name="Rectangle 65"/>
          <p:cNvSpPr/>
          <p:nvPr/>
        </p:nvSpPr>
        <p:spPr>
          <a:xfrm>
            <a:off x="10537371"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C7A89"/>
                </a:solidFill>
                <a:latin typeface="Calibri"/>
              </a:rPr>
              <a:t>21.1</a:t>
            </a:r>
          </a:p>
        </p:txBody>
      </p:sp>
      <p:sp>
        <p:nvSpPr>
          <p:cNvPr id="67" name="Rectangle 66"/>
          <p:cNvSpPr/>
          <p:nvPr/>
        </p:nvSpPr>
        <p:spPr>
          <a:xfrm>
            <a:off x="10537371"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C7A89"/>
                </a:solidFill>
                <a:latin typeface="Calibri"/>
              </a:rPr>
              <a:t>10.3%</a:t>
            </a:r>
          </a:p>
        </p:txBody>
      </p:sp>
      <p:sp>
        <p:nvSpPr>
          <p:cNvPr id="68" name="Oval 67"/>
          <p:cNvSpPr/>
          <p:nvPr/>
        </p:nvSpPr>
        <p:spPr>
          <a:xfrm>
            <a:off x="11040836"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7</a:t>
            </a:r>
          </a:p>
        </p:txBody>
      </p:sp>
      <p:sp>
        <p:nvSpPr>
          <p:cNvPr id="69" name="Rounded Rectangle 68"/>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57200" y="3946106"/>
            <a:ext cx="2971800" cy="182537"/>
          </a:xfrm>
          <a:prstGeom prst="rect">
            <a:avLst/>
          </a:prstGeom>
          <a:noFill/>
        </p:spPr>
        <p:txBody>
          <a:bodyPr wrap="square" lIns="28575" tIns="9525" rIns="28575" bIns="9525">
            <a:spAutoFit/>
          </a:bodyPr>
          <a:lstStyle/>
          <a:p>
            <a:pPr algn="l"/>
            <a:r>
              <a:rPr sz="1250" b="1">
                <a:solidFill>
                  <a:srgbClr val="0B2E4A"/>
                </a:solidFill>
                <a:latin typeface="Calibri"/>
              </a:rPr>
              <a:t>Key Highlights</a:t>
            </a:r>
          </a:p>
        </p:txBody>
      </p:sp>
      <p:sp>
        <p:nvSpPr>
          <p:cNvPr id="71" name="Rectangle 70"/>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57200" y="4219912"/>
            <a:ext cx="297180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 Among prenatal vitamin supplements by product type, choline segment is expected to witness the highest CAGR of 12.9% over the forecast period. In terms of value share by product type, the multivitamin segment is expected to dominate the market, losing 252 BPS and accounting for 58.9% share by 2036.</a:t>
            </a:r>
          </a:p>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 Multivitamin segment is projected to register 4.1X higher value than DHA / Omega-3 segment in 2036.</a:t>
            </a:r>
          </a:p>
        </p:txBody>
      </p:sp>
      <p:sp>
        <p:nvSpPr>
          <p:cNvPr id="73" name="Rounded Rectangle 72"/>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3810000" y="3946106"/>
            <a:ext cx="4210050" cy="182537"/>
          </a:xfrm>
          <a:prstGeom prst="rect">
            <a:avLst/>
          </a:prstGeom>
          <a:noFill/>
        </p:spPr>
        <p:txBody>
          <a:bodyPr wrap="square" lIns="28575" tIns="9525" rIns="28575" bIns="9525">
            <a:spAutoFit/>
          </a:bodyPr>
          <a:lstStyle/>
          <a:p>
            <a:pPr algn="l"/>
            <a:r>
              <a:rPr sz="1250" b="1">
                <a:solidFill>
                  <a:srgbClr val="0B2E4A"/>
                </a:solidFill>
                <a:latin typeface="Calibri"/>
              </a:rPr>
              <a:t>Sub-Segment Insights</a:t>
            </a:r>
          </a:p>
        </p:txBody>
      </p:sp>
      <p:sp>
        <p:nvSpPr>
          <p:cNvPr id="75" name="Rectangle 74"/>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3810000" y="4219912"/>
            <a:ext cx="42100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0">
                <a:solidFill>
                  <a:srgbClr val="0B2E4A"/>
                </a:solidFill>
                <a:latin typeface="Calibri"/>
              </a:rPr>
              <a:t>●  </a:t>
            </a:r>
            <a:r>
              <a:rPr sz="1100" b="1">
                <a:solidFill>
                  <a:srgbClr val="0B2E4A"/>
                </a:solidFill>
                <a:latin typeface="Calibri"/>
              </a:rPr>
              <a:t>Multivitamin: </a:t>
            </a:r>
            <a:r>
              <a:rPr sz="1100" b="0">
                <a:solidFill>
                  <a:srgbClr val="2E2E2E"/>
                </a:solidFill>
                <a:latin typeface="Calibri"/>
              </a:rPr>
              <a:t>61% of 2026 value · 6.2% CAGR leads the segment.</a:t>
            </a:r>
          </a:p>
          <a:p>
            <a:pPr algn="l">
              <a:lnSpc>
                <a:spcPct val="110000"/>
              </a:lnSpc>
              <a:spcBef>
                <a:spcPts val="0"/>
              </a:spcBef>
              <a:spcAft>
                <a:spcPts val="500"/>
              </a:spcAft>
            </a:pPr>
            <a:r>
              <a:rPr sz="1100" b="0">
                <a:solidFill>
                  <a:srgbClr val="0E72AE"/>
                </a:solidFill>
                <a:latin typeface="Calibri"/>
              </a:rPr>
              <a:t>●  </a:t>
            </a:r>
            <a:r>
              <a:rPr sz="1100" b="1">
                <a:solidFill>
                  <a:srgbClr val="0E72AE"/>
                </a:solidFill>
                <a:latin typeface="Calibri"/>
              </a:rPr>
              <a:t>DHA / Omega-3: </a:t>
            </a:r>
            <a:r>
              <a:rPr sz="1100" b="0">
                <a:solidFill>
                  <a:srgbClr val="2E2E2E"/>
                </a:solidFill>
                <a:latin typeface="Calibri"/>
              </a:rPr>
              <a:t>13% of 2026 value · 7.8% CAGR serves a niche.</a:t>
            </a:r>
          </a:p>
          <a:p>
            <a:pPr algn="l">
              <a:lnSpc>
                <a:spcPct val="110000"/>
              </a:lnSpc>
              <a:spcBef>
                <a:spcPts val="0"/>
              </a:spcBef>
              <a:spcAft>
                <a:spcPts val="500"/>
              </a:spcAft>
            </a:pPr>
            <a:r>
              <a:rPr sz="1100" b="0">
                <a:solidFill>
                  <a:srgbClr val="008189"/>
                </a:solidFill>
                <a:latin typeface="Calibri"/>
              </a:rPr>
              <a:t>●  </a:t>
            </a:r>
            <a:r>
              <a:rPr sz="1100" b="1">
                <a:solidFill>
                  <a:srgbClr val="008189"/>
                </a:solidFill>
                <a:latin typeface="Calibri"/>
              </a:rPr>
              <a:t>Iron: </a:t>
            </a:r>
            <a:r>
              <a:rPr sz="1100" b="0">
                <a:solidFill>
                  <a:srgbClr val="2E2E2E"/>
                </a:solidFill>
                <a:latin typeface="Calibri"/>
              </a:rPr>
              <a:t>7% of 2026 value · 4.4% CAGR serves a niche.</a:t>
            </a:r>
          </a:p>
          <a:p>
            <a:pPr algn="l">
              <a:lnSpc>
                <a:spcPct val="110000"/>
              </a:lnSpc>
              <a:spcBef>
                <a:spcPts val="0"/>
              </a:spcBef>
              <a:spcAft>
                <a:spcPts val="500"/>
              </a:spcAft>
            </a:pPr>
            <a:r>
              <a:rPr sz="1100" b="0">
                <a:solidFill>
                  <a:srgbClr val="6F3CC2"/>
                </a:solidFill>
                <a:latin typeface="Calibri"/>
              </a:rPr>
              <a:t>●  </a:t>
            </a:r>
            <a:r>
              <a:rPr sz="1100" b="1">
                <a:solidFill>
                  <a:srgbClr val="6F3CC2"/>
                </a:solidFill>
                <a:latin typeface="Calibri"/>
              </a:rPr>
              <a:t>Folate / Folic Acid: </a:t>
            </a:r>
            <a:r>
              <a:rPr sz="1100" b="0">
                <a:solidFill>
                  <a:srgbClr val="2E2E2E"/>
                </a:solidFill>
                <a:latin typeface="Calibri"/>
              </a:rPr>
              <a:t>6% of 2026 value · 5.2% CAGR serves a niche.</a:t>
            </a:r>
          </a:p>
          <a:p>
            <a:pPr algn="l">
              <a:lnSpc>
                <a:spcPct val="110000"/>
              </a:lnSpc>
              <a:spcBef>
                <a:spcPts val="0"/>
              </a:spcBef>
              <a:spcAft>
                <a:spcPts val="500"/>
              </a:spcAft>
            </a:pPr>
            <a:r>
              <a:rPr sz="1100" b="0">
                <a:solidFill>
                  <a:srgbClr val="A86F00"/>
                </a:solidFill>
                <a:latin typeface="Calibri"/>
              </a:rPr>
              <a:t>●  </a:t>
            </a:r>
            <a:r>
              <a:rPr sz="1100" b="1">
                <a:solidFill>
                  <a:srgbClr val="A86F00"/>
                </a:solidFill>
                <a:latin typeface="Calibri"/>
              </a:rPr>
              <a:t>Calcium &amp; Mineral: </a:t>
            </a:r>
            <a:r>
              <a:rPr sz="1100" b="0">
                <a:solidFill>
                  <a:srgbClr val="2E2E2E"/>
                </a:solidFill>
                <a:latin typeface="Calibri"/>
              </a:rPr>
              <a:t>5% of 2026 value · 3.7% CAGR serves a niche.</a:t>
            </a:r>
          </a:p>
          <a:p>
            <a:pPr algn="l">
              <a:lnSpc>
                <a:spcPct val="110000"/>
              </a:lnSpc>
              <a:spcBef>
                <a:spcPts val="0"/>
              </a:spcBef>
              <a:spcAft>
                <a:spcPts val="500"/>
              </a:spcAft>
            </a:pPr>
            <a:r>
              <a:rPr sz="1100" b="0">
                <a:solidFill>
                  <a:srgbClr val="A35313"/>
                </a:solidFill>
                <a:latin typeface="Calibri"/>
              </a:rPr>
              <a:t>●  </a:t>
            </a:r>
            <a:r>
              <a:rPr sz="1100" b="1">
                <a:solidFill>
                  <a:srgbClr val="A35313"/>
                </a:solidFill>
                <a:latin typeface="Calibri"/>
              </a:rPr>
              <a:t>Choline: </a:t>
            </a:r>
            <a:r>
              <a:rPr sz="1100" b="0">
                <a:solidFill>
                  <a:srgbClr val="2E2E2E"/>
                </a:solidFill>
                <a:latin typeface="Calibri"/>
              </a:rPr>
              <a:t>4% of 2026 value · 12.9% CAGR grows fastest.</a:t>
            </a:r>
          </a:p>
          <a:p>
            <a:pPr algn="l">
              <a:lnSpc>
                <a:spcPct val="110000"/>
              </a:lnSpc>
              <a:spcBef>
                <a:spcPts val="0"/>
              </a:spcBef>
              <a:spcAft>
                <a:spcPts val="500"/>
              </a:spcAft>
            </a:pPr>
            <a:r>
              <a:rPr sz="1100" b="0">
                <a:solidFill>
                  <a:srgbClr val="6C7A89"/>
                </a:solidFill>
                <a:latin typeface="Calibri"/>
              </a:rPr>
              <a:t>●  </a:t>
            </a:r>
            <a:r>
              <a:rPr sz="1100" b="1">
                <a:solidFill>
                  <a:srgbClr val="6C7A89"/>
                </a:solidFill>
                <a:latin typeface="Calibri"/>
              </a:rPr>
              <a:t>Probiotic: </a:t>
            </a:r>
            <a:r>
              <a:rPr sz="1100" b="0">
                <a:solidFill>
                  <a:srgbClr val="2E2E2E"/>
                </a:solidFill>
                <a:latin typeface="Calibri"/>
              </a:rPr>
              <a:t>3% of 2026 value · 10.3% CAGR serves a niche.</a:t>
            </a:r>
          </a:p>
        </p:txBody>
      </p:sp>
      <p:sp>
        <p:nvSpPr>
          <p:cNvPr id="77" name="Rounded Rectangle 76"/>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401050" y="3946106"/>
            <a:ext cx="3333750" cy="182537"/>
          </a:xfrm>
          <a:prstGeom prst="rect">
            <a:avLst/>
          </a:prstGeom>
          <a:noFill/>
        </p:spPr>
        <p:txBody>
          <a:bodyPr wrap="square" lIns="28575" tIns="9525" rIns="28575" bIns="9525">
            <a:spAutoFit/>
          </a:bodyPr>
          <a:lstStyle/>
          <a:p>
            <a:pPr algn="l"/>
            <a:r>
              <a:rPr sz="1250" b="1">
                <a:solidFill>
                  <a:srgbClr val="0B2E4A"/>
                </a:solidFill>
                <a:latin typeface="Calibri"/>
              </a:rPr>
              <a:t>Segment Overview</a:t>
            </a:r>
          </a:p>
        </p:txBody>
      </p:sp>
      <p:sp>
        <p:nvSpPr>
          <p:cNvPr id="79" name="Rectangle 78"/>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401050" y="4219912"/>
            <a:ext cx="33337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Type split shows how demand is distributed across product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81" name="Rectangle 80"/>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496300" y="5789730"/>
            <a:ext cx="3219450" cy="456342"/>
          </a:xfrm>
          <a:prstGeom prst="rect">
            <a:avLst/>
          </a:prstGeom>
          <a:noFill/>
        </p:spPr>
        <p:txBody>
          <a:bodyPr wrap="square" lIns="28575" tIns="9525" rIns="28575" bIns="9525" anchor="ctr">
            <a:spAutoFit/>
          </a:bodyPr>
          <a:lstStyle/>
          <a:p>
            <a:pPr algn="l"/>
            <a:r>
              <a:rPr sz="1150" b="1">
                <a:solidFill>
                  <a:srgbClr val="0B2E4A"/>
                </a:solidFill>
                <a:latin typeface="Calibri"/>
              </a:rPr>
              <a:t>The Product Type segment is projected to grow at a CAGR of 6.6% from 2026 to 2036.</a:t>
            </a:r>
          </a:p>
        </p:txBody>
      </p:sp>
      <p:sp>
        <p:nvSpPr>
          <p:cNvPr id="83" name="TextBox 82"/>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84" name="TextBox 8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Market Structure &amp; Attractiveness, By Product Type (Value)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Product Type mix within each country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6343650" cy="4191000"/>
          </a:xfrm>
          <a:prstGeom prst="roundRect">
            <a:avLst>
              <a:gd name="adj" fmla="val 18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6153150"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Product Type mix within each country (share of 2036 value) · row label = country size (US$ Mn), largest first</a:t>
            </a:r>
          </a:p>
        </p:txBody>
      </p:sp>
      <p:sp>
        <p:nvSpPr>
          <p:cNvPr id="13" name="TextBox 12"/>
          <p:cNvSpPr txBox="1"/>
          <p:nvPr/>
        </p:nvSpPr>
        <p:spPr>
          <a:xfrm>
            <a:off x="314325" y="3143250"/>
            <a:ext cx="6000750" cy="266700"/>
          </a:xfrm>
          <a:prstGeom prst="rect">
            <a:avLst/>
          </a:prstGeom>
          <a:noFill/>
        </p:spPr>
        <p:txBody>
          <a:bodyPr wrap="square" lIns="28575" tIns="9525" rIns="28575" bIns="9525" anchor="ctr">
            <a:spAutoFit/>
          </a:bodyPr>
          <a:lstStyle/>
          <a:p>
            <a:pPr algn="ctr"/>
            <a:r>
              <a:rPr sz="1100" b="0">
                <a:solidFill>
                  <a:srgbClr val="6C7A89"/>
                </a:solidFill>
                <a:latin typeface="Calibri"/>
              </a:rPr>
              <a:t>No data for this view.</a:t>
            </a:r>
          </a:p>
        </p:txBody>
      </p:sp>
      <p:sp>
        <p:nvSpPr>
          <p:cNvPr id="14" name="Rounded Rectangle 13"/>
          <p:cNvSpPr/>
          <p:nvPr/>
        </p:nvSpPr>
        <p:spPr>
          <a:xfrm>
            <a:off x="6638925" y="981075"/>
            <a:ext cx="5400675" cy="4191000"/>
          </a:xfrm>
          <a:prstGeom prst="roundRect">
            <a:avLst>
              <a:gd name="adj" fmla="val 18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34175" y="1038225"/>
            <a:ext cx="521017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Attractiveness, By Product Type · Bubble size represents 2036 value</a:t>
            </a:r>
          </a:p>
        </p:txBody>
      </p:sp>
      <p:graphicFrame>
        <p:nvGraphicFramePr>
          <p:cNvPr id="16" name="Chart 15"/>
          <p:cNvGraphicFramePr>
            <a:graphicFrameLocks noGrp="1"/>
          </p:cNvGraphicFramePr>
          <p:nvPr/>
        </p:nvGraphicFramePr>
        <p:xfrm>
          <a:off x="6734175" y="1438275"/>
          <a:ext cx="5210175" cy="3676650"/>
        </p:xfrm>
        <a:graphic>
          <a:graphicData uri="http://schemas.openxmlformats.org/drawingml/2006/chart">
            <c:chart xmlns:c="http://schemas.openxmlformats.org/drawingml/2006/chart" xmlns:r="http://schemas.openxmlformats.org/officeDocument/2006/relationships" r:id="rId4"/>
          </a:graphicData>
        </a:graphic>
      </p:graphicFrame>
      <p:sp>
        <p:nvSpPr>
          <p:cNvPr id="17" name="Rounded Rectangle 16"/>
          <p:cNvSpPr/>
          <p:nvPr/>
        </p:nvSpPr>
        <p:spPr>
          <a:xfrm>
            <a:off x="142875" y="5305425"/>
            <a:ext cx="11906250" cy="1323975"/>
          </a:xfrm>
          <a:prstGeom prst="roundRect">
            <a:avLst>
              <a:gd name="adj" fmla="val 57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Multivitamin followed by choline are expected to be the two most attractive product type segments in the USA prenatal vitamin supplements market in terms of value over the forecast period. Multivitamin and choline exhibit a CAGR index of 93 and 194 and a market share index of 430 and 28 respectively, against the segment average of 100. The calcium &amp; mineral segment is expected to be less attractive as compared to other segments over the forecast period, owing to its lower CAGR and incremental opportunity. Multivitamins followed by choline are expected to be the most attractive product types. Multivitamins combine the largest base with predictable, replenishment-driven demand, while choline offers the fastest growth as premium DTC brands and practitioners position it as a key prenatal upgrade. Iron, folate and calcium and mineral products are mature and clinically or diet driven, which limits their attractiveness. Bubbles right of the CAGR-Index line grow faster than the segment average.</a:t>
            </a: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Absolute $ Opportunity Analysis, By Product Type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Product Type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Multivitamin</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67450"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DHA / Omega-3</a:t>
            </a:r>
          </a:p>
        </p:txBody>
      </p:sp>
      <p:graphicFrame>
        <p:nvGraphicFramePr>
          <p:cNvPr id="16" name="Chart 15"/>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8125"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Iron</a:t>
            </a:r>
          </a:p>
        </p:txBody>
      </p:sp>
      <p:graphicFrame>
        <p:nvGraphicFramePr>
          <p:cNvPr id="19" name="Chart 18"/>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xmlns:r="http://schemas.openxmlformats.org/officeDocument/2006/relationships" r:id="rId6"/>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67450"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Folate / Folic Acid</a:t>
            </a:r>
          </a:p>
        </p:txBody>
      </p:sp>
      <p:graphicFrame>
        <p:nvGraphicFramePr>
          <p:cNvPr id="22" name="Chart 21"/>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xmlns:r="http://schemas.openxmlformats.org/officeDocument/2006/relationships" r:id="rId7"/>
          </a:graphicData>
        </a:graphic>
      </p:graphicFrame>
      <p:sp>
        <p:nvSpPr>
          <p:cNvPr id="23" name="TextBox 2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Absolute $ Opportunity Analysis, By Product Type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Product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Choline</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7450" y="1038225"/>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Calcium &amp; Mineral</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8125"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Probiotic</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xmlns:r="http://schemas.openxmlformats.org/officeDocument/2006/relationships" r:id="rId6"/>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5550" y="3952875"/>
            <a:ext cx="5610225" cy="209550"/>
          </a:xfrm>
          <a:prstGeom prst="rect">
            <a:avLst/>
          </a:prstGeom>
          <a:noFill/>
        </p:spPr>
        <p:txBody>
          <a:bodyPr wrap="square" lIns="0" tIns="9525" rIns="19050" bIns="9525">
            <a:spAutoFit/>
          </a:bodyPr>
          <a:lstStyle/>
          <a:p>
            <a:pPr algn="l"/>
            <a:r>
              <a:rPr sz="1300" b="1">
                <a:solidFill>
                  <a:srgbClr val="0B2E4A"/>
                </a:solidFill>
                <a:latin typeface="Calibri"/>
              </a:rPr>
              <a:t>Summary of USA Absolute $ Opportunity Analysis, By Product Type</a:t>
            </a:r>
          </a:p>
        </p:txBody>
      </p:sp>
      <p:sp>
        <p:nvSpPr>
          <p:cNvPr id="21" name="Rectangle 20"/>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5550" y="4276725"/>
            <a:ext cx="5610225" cy="2266950"/>
          </a:xfrm>
          <a:prstGeom prst="rect">
            <a:avLst/>
          </a:prstGeom>
          <a:noFill/>
        </p:spPr>
        <p:txBody>
          <a:bodyPr wrap="square" lIns="0" tIns="9525" rIns="19050" bIns="9525">
            <a:spAutoFit/>
          </a:bodyPr>
          <a:lstStyle/>
          <a:p>
            <a:pPr algn="l">
              <a:lnSpc>
                <a:spcPct val="100000"/>
              </a:lnSpc>
              <a:spcBef>
                <a:spcPts val="0"/>
              </a:spcBef>
              <a:spcAft>
                <a:spcPts val="300"/>
              </a:spcAft>
            </a:pPr>
            <a:r>
              <a:rPr sz="1100" b="0">
                <a:solidFill>
                  <a:srgbClr val="2E2E2E"/>
                </a:solidFill>
                <a:latin typeface="Calibri"/>
              </a:rPr>
              <a:t>By 2036, multivitamin segment is anticipated to witness an increase of 1.8X in terms of value as compared to 2026. The multivitamin segment is expected to create an incremental opportunity of US$ 116.2 Mn for the overall prenatal vitamin supplements market from 2026 to 2036.</a:t>
            </a:r>
          </a:p>
          <a:p>
            <a:pPr algn="l">
              <a:lnSpc>
                <a:spcPct val="100000"/>
              </a:lnSpc>
              <a:spcBef>
                <a:spcPts val="0"/>
              </a:spcBef>
              <a:spcAft>
                <a:spcPts val="300"/>
              </a:spcAft>
            </a:pPr>
            <a:r>
              <a:rPr sz="1100" b="0">
                <a:solidFill>
                  <a:srgbClr val="2E2E2E"/>
                </a:solidFill>
                <a:latin typeface="Calibri"/>
              </a:rPr>
              <a:t>The DHA / Omega-3 segment is expected to create an incremental opportunity of US$ 32.9 Mn for the overall prenatal vitamin supplements market from 2026 to 2036. The choline segment is expected to create an incremental opportunity of US$ 21.5 Mn for the overall prenatal vitamin supplements market from 2026 to 2036.</a:t>
            </a:r>
          </a:p>
          <a:p>
            <a:pPr algn="l">
              <a:lnSpc>
                <a:spcPct val="100000"/>
              </a:lnSpc>
              <a:spcBef>
                <a:spcPts val="0"/>
              </a:spcBef>
              <a:spcAft>
                <a:spcPts val="300"/>
              </a:spcAft>
            </a:pPr>
            <a:r>
              <a:rPr sz="1100" b="0">
                <a:solidFill>
                  <a:srgbClr val="2E2E2E"/>
                </a:solidFill>
                <a:latin typeface="Calibri"/>
              </a:rPr>
              <a:t>Multivitamins are expected to add the largest absolute value, followed by DHA / omega-3 and choline. The daily prenatal multivitamin remains the core supplementation routine before conception, during pregnancy and into breastfeeding, and benefits from delayed maternal age, methylfolate upgrades and postpartum continuation. DHA and choline add value as consumers layer them on top of the base prenatal.</a:t>
            </a:r>
          </a:p>
        </p:txBody>
      </p:sp>
      <p:sp>
        <p:nvSpPr>
          <p:cNvPr id="23" name="TextBox 2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Market Volume Analysis, By Product Type (Mn Units)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volume by Product Type,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11906250" cy="2409825"/>
          </a:xfrm>
          <a:prstGeom prst="roundRect">
            <a:avLst>
              <a:gd name="adj" fmla="val 31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Volume, By Product Type (Mn Units)</a:t>
            </a:r>
          </a:p>
        </p:txBody>
      </p:sp>
      <p:graphicFrame>
        <p:nvGraphicFramePr>
          <p:cNvPr id="13" name="Table 12"/>
          <p:cNvGraphicFramePr>
            <a:graphicFrameLocks noGrp="1"/>
          </p:cNvGraphicFramePr>
          <p:nvPr/>
        </p:nvGraphicFramePr>
        <p:xfrm>
          <a:off x="152400" y="1238250"/>
          <a:ext cx="11887195" cy="1943097"/>
        </p:xfrm>
        <a:graphic>
          <a:graphicData uri="http://schemas.openxmlformats.org/drawingml/2006/table">
            <a:tbl>
              <a:tblPr>
                <a:tableStyleId>{5C22544A-7EE6-4342-B048-85BDC9FD1C3A}</a:tableStyleId>
              </a:tblPr>
              <a:tblGrid>
                <a:gridCol w="1360064">
                  <a:extLst>
                    <a:ext uri="{9D8B030D-6E8A-4147-A177-3AD203B41FA5}">
                      <a16:colId xmlns:a16="http://schemas.microsoft.com/office/drawing/2014/main" val="20000"/>
                    </a:ext>
                  </a:extLst>
                </a:gridCol>
                <a:gridCol w="619243">
                  <a:extLst>
                    <a:ext uri="{9D8B030D-6E8A-4147-A177-3AD203B41FA5}">
                      <a16:colId xmlns:a16="http://schemas.microsoft.com/office/drawing/2014/main" val="20001"/>
                    </a:ext>
                  </a:extLst>
                </a:gridCol>
                <a:gridCol w="619243">
                  <a:extLst>
                    <a:ext uri="{9D8B030D-6E8A-4147-A177-3AD203B41FA5}">
                      <a16:colId xmlns:a16="http://schemas.microsoft.com/office/drawing/2014/main" val="20002"/>
                    </a:ext>
                  </a:extLst>
                </a:gridCol>
                <a:gridCol w="619243">
                  <a:extLst>
                    <a:ext uri="{9D8B030D-6E8A-4147-A177-3AD203B41FA5}">
                      <a16:colId xmlns:a16="http://schemas.microsoft.com/office/drawing/2014/main" val="20003"/>
                    </a:ext>
                  </a:extLst>
                </a:gridCol>
                <a:gridCol w="619243">
                  <a:extLst>
                    <a:ext uri="{9D8B030D-6E8A-4147-A177-3AD203B41FA5}">
                      <a16:colId xmlns:a16="http://schemas.microsoft.com/office/drawing/2014/main" val="20004"/>
                    </a:ext>
                  </a:extLst>
                </a:gridCol>
                <a:gridCol w="619243">
                  <a:extLst>
                    <a:ext uri="{9D8B030D-6E8A-4147-A177-3AD203B41FA5}">
                      <a16:colId xmlns:a16="http://schemas.microsoft.com/office/drawing/2014/main" val="20005"/>
                    </a:ext>
                  </a:extLst>
                </a:gridCol>
                <a:gridCol w="619243">
                  <a:extLst>
                    <a:ext uri="{9D8B030D-6E8A-4147-A177-3AD203B41FA5}">
                      <a16:colId xmlns:a16="http://schemas.microsoft.com/office/drawing/2014/main" val="20006"/>
                    </a:ext>
                  </a:extLst>
                </a:gridCol>
                <a:gridCol w="619243">
                  <a:extLst>
                    <a:ext uri="{9D8B030D-6E8A-4147-A177-3AD203B41FA5}">
                      <a16:colId xmlns:a16="http://schemas.microsoft.com/office/drawing/2014/main" val="20007"/>
                    </a:ext>
                  </a:extLst>
                </a:gridCol>
                <a:gridCol w="619243">
                  <a:extLst>
                    <a:ext uri="{9D8B030D-6E8A-4147-A177-3AD203B41FA5}">
                      <a16:colId xmlns:a16="http://schemas.microsoft.com/office/drawing/2014/main" val="20008"/>
                    </a:ext>
                  </a:extLst>
                </a:gridCol>
                <a:gridCol w="619243">
                  <a:extLst>
                    <a:ext uri="{9D8B030D-6E8A-4147-A177-3AD203B41FA5}">
                      <a16:colId xmlns:a16="http://schemas.microsoft.com/office/drawing/2014/main" val="20009"/>
                    </a:ext>
                  </a:extLst>
                </a:gridCol>
                <a:gridCol w="619243">
                  <a:extLst>
                    <a:ext uri="{9D8B030D-6E8A-4147-A177-3AD203B41FA5}">
                      <a16:colId xmlns:a16="http://schemas.microsoft.com/office/drawing/2014/main" val="20010"/>
                    </a:ext>
                  </a:extLst>
                </a:gridCol>
                <a:gridCol w="619243">
                  <a:extLst>
                    <a:ext uri="{9D8B030D-6E8A-4147-A177-3AD203B41FA5}">
                      <a16:colId xmlns:a16="http://schemas.microsoft.com/office/drawing/2014/main" val="20011"/>
                    </a:ext>
                  </a:extLst>
                </a:gridCol>
                <a:gridCol w="619243">
                  <a:extLst>
                    <a:ext uri="{9D8B030D-6E8A-4147-A177-3AD203B41FA5}">
                      <a16:colId xmlns:a16="http://schemas.microsoft.com/office/drawing/2014/main" val="20012"/>
                    </a:ext>
                  </a:extLst>
                </a:gridCol>
                <a:gridCol w="619243">
                  <a:extLst>
                    <a:ext uri="{9D8B030D-6E8A-4147-A177-3AD203B41FA5}">
                      <a16:colId xmlns:a16="http://schemas.microsoft.com/office/drawing/2014/main" val="20013"/>
                    </a:ext>
                  </a:extLst>
                </a:gridCol>
                <a:gridCol w="619243">
                  <a:extLst>
                    <a:ext uri="{9D8B030D-6E8A-4147-A177-3AD203B41FA5}">
                      <a16:colId xmlns:a16="http://schemas.microsoft.com/office/drawing/2014/main" val="20014"/>
                    </a:ext>
                  </a:extLst>
                </a:gridCol>
                <a:gridCol w="619243">
                  <a:extLst>
                    <a:ext uri="{9D8B030D-6E8A-4147-A177-3AD203B41FA5}">
                      <a16:colId xmlns:a16="http://schemas.microsoft.com/office/drawing/2014/main" val="20015"/>
                    </a:ext>
                  </a:extLst>
                </a:gridCol>
                <a:gridCol w="619243">
                  <a:extLst>
                    <a:ext uri="{9D8B030D-6E8A-4147-A177-3AD203B41FA5}">
                      <a16:colId xmlns:a16="http://schemas.microsoft.com/office/drawing/2014/main" val="20016"/>
                    </a:ext>
                  </a:extLst>
                </a:gridCol>
                <a:gridCol w="619243">
                  <a:extLst>
                    <a:ext uri="{9D8B030D-6E8A-4147-A177-3AD203B41FA5}">
                      <a16:colId xmlns:a16="http://schemas.microsoft.com/office/drawing/2014/main" val="20017"/>
                    </a:ext>
                  </a:extLst>
                </a:gridCol>
              </a:tblGrid>
              <a:tr h="215265">
                <a:tc>
                  <a:txBody>
                    <a:bodyPr/>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l"/>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15979">
                <a:tc>
                  <a:txBody>
                    <a:bodyPr/>
                    <a:lstStyle/>
                    <a:p>
                      <a:pPr algn="l"/>
                      <a:r>
                        <a:rPr sz="1100" b="1">
                          <a:solidFill>
                            <a:srgbClr val="2E2E2E"/>
                          </a:solidFill>
                          <a:latin typeface="Calibri"/>
                        </a:rPr>
                        <a:t>Multivitamin</a:t>
                      </a:r>
                      <a:endParaRPr sz="1100"/>
                    </a:p>
                  </a:txBody>
                  <a:tcPr marL="47625" marR="38100" marT="19050" marB="19050" anchor="ctr">
                    <a:solidFill>
                      <a:srgbClr val="FFFFFF"/>
                    </a:solidFill>
                  </a:tcPr>
                </a:tc>
                <a:tc>
                  <a:txBody>
                    <a:bodyPr/>
                    <a:lstStyle/>
                    <a:p>
                      <a:pPr algn="l"/>
                      <a:r>
                        <a:rPr sz="1100" b="0">
                          <a:solidFill>
                            <a:srgbClr val="2E2E2E"/>
                          </a:solidFill>
                          <a:latin typeface="Calibri"/>
                        </a:rPr>
                        <a:t>489.0</a:t>
                      </a:r>
                      <a:endParaRPr sz="1100"/>
                    </a:p>
                  </a:txBody>
                  <a:tcPr marL="47625" marR="38100" marT="19050" marB="19050" anchor="ctr">
                    <a:solidFill>
                      <a:srgbClr val="FFFFFF"/>
                    </a:solidFill>
                  </a:tcPr>
                </a:tc>
                <a:tc>
                  <a:txBody>
                    <a:bodyPr/>
                    <a:lstStyle/>
                    <a:p>
                      <a:pPr algn="l"/>
                      <a:r>
                        <a:rPr sz="1100" b="0">
                          <a:solidFill>
                            <a:srgbClr val="2E2E2E"/>
                          </a:solidFill>
                          <a:latin typeface="Calibri"/>
                        </a:rPr>
                        <a:t>510.7</a:t>
                      </a:r>
                      <a:endParaRPr sz="1100"/>
                    </a:p>
                  </a:txBody>
                  <a:tcPr marL="47625" marR="38100" marT="19050" marB="19050" anchor="ctr">
                    <a:solidFill>
                      <a:srgbClr val="FFFFFF"/>
                    </a:solidFill>
                  </a:tcPr>
                </a:tc>
                <a:tc>
                  <a:txBody>
                    <a:bodyPr/>
                    <a:lstStyle/>
                    <a:p>
                      <a:pPr algn="l"/>
                      <a:r>
                        <a:rPr sz="1100" b="0">
                          <a:solidFill>
                            <a:srgbClr val="2E2E2E"/>
                          </a:solidFill>
                          <a:latin typeface="Calibri"/>
                        </a:rPr>
                        <a:t>533.9</a:t>
                      </a:r>
                      <a:endParaRPr sz="1100"/>
                    </a:p>
                  </a:txBody>
                  <a:tcPr marL="47625" marR="38100" marT="19050" marB="19050" anchor="ctr">
                    <a:solidFill>
                      <a:srgbClr val="FFFFFF"/>
                    </a:solidFill>
                  </a:tcPr>
                </a:tc>
                <a:tc>
                  <a:txBody>
                    <a:bodyPr/>
                    <a:lstStyle/>
                    <a:p>
                      <a:pPr algn="l"/>
                      <a:r>
                        <a:rPr sz="1100" b="0">
                          <a:solidFill>
                            <a:srgbClr val="2E2E2E"/>
                          </a:solidFill>
                          <a:latin typeface="Calibri"/>
                        </a:rPr>
                        <a:t>558.6</a:t>
                      </a:r>
                      <a:endParaRPr sz="1100"/>
                    </a:p>
                  </a:txBody>
                  <a:tcPr marL="47625" marR="38100" marT="19050" marB="19050" anchor="ctr">
                    <a:solidFill>
                      <a:srgbClr val="FFFFFF"/>
                    </a:solidFill>
                  </a:tcPr>
                </a:tc>
                <a:tc>
                  <a:txBody>
                    <a:bodyPr/>
                    <a:lstStyle/>
                    <a:p>
                      <a:pPr algn="l"/>
                      <a:r>
                        <a:rPr sz="1100" b="0">
                          <a:solidFill>
                            <a:srgbClr val="2E2E2E"/>
                          </a:solidFill>
                          <a:latin typeface="Calibri"/>
                        </a:rPr>
                        <a:t>584.9</a:t>
                      </a:r>
                      <a:endParaRPr sz="1100"/>
                    </a:p>
                  </a:txBody>
                  <a:tcPr marL="47625" marR="38100" marT="19050" marB="19050" anchor="ctr">
                    <a:solidFill>
                      <a:srgbClr val="FFFFFF"/>
                    </a:solidFill>
                  </a:tcPr>
                </a:tc>
                <a:tc>
                  <a:txBody>
                    <a:bodyPr/>
                    <a:lstStyle/>
                    <a:p>
                      <a:pPr algn="l"/>
                      <a:r>
                        <a:rPr sz="1100" b="0">
                          <a:solidFill>
                            <a:srgbClr val="2E2E2E"/>
                          </a:solidFill>
                          <a:latin typeface="Calibri"/>
                        </a:rPr>
                        <a:t>613.1</a:t>
                      </a:r>
                      <a:endParaRPr sz="1100"/>
                    </a:p>
                  </a:txBody>
                  <a:tcPr marL="47625" marR="38100" marT="19050" marB="19050" anchor="ctr">
                    <a:solidFill>
                      <a:srgbClr val="FFFFFF"/>
                    </a:solidFill>
                  </a:tcPr>
                </a:tc>
                <a:tc>
                  <a:txBody>
                    <a:bodyPr/>
                    <a:lstStyle/>
                    <a:p>
                      <a:pPr algn="l"/>
                      <a:r>
                        <a:rPr sz="1100" b="0">
                          <a:solidFill>
                            <a:srgbClr val="2E2E2E"/>
                          </a:solidFill>
                          <a:latin typeface="Calibri"/>
                        </a:rPr>
                        <a:t>643.4</a:t>
                      </a:r>
                      <a:endParaRPr sz="1100"/>
                    </a:p>
                  </a:txBody>
                  <a:tcPr marL="47625" marR="38100" marT="19050" marB="19050" anchor="ctr">
                    <a:solidFill>
                      <a:srgbClr val="FFFFFF"/>
                    </a:solidFill>
                  </a:tcPr>
                </a:tc>
                <a:tc>
                  <a:txBody>
                    <a:bodyPr/>
                    <a:lstStyle/>
                    <a:p>
                      <a:pPr algn="l"/>
                      <a:r>
                        <a:rPr sz="1100" b="0">
                          <a:solidFill>
                            <a:srgbClr val="2E2E2E"/>
                          </a:solidFill>
                          <a:latin typeface="Calibri"/>
                        </a:rPr>
                        <a:t>676.3</a:t>
                      </a:r>
                      <a:endParaRPr sz="1100"/>
                    </a:p>
                  </a:txBody>
                  <a:tcPr marL="47625" marR="38100" marT="19050" marB="19050" anchor="ctr">
                    <a:solidFill>
                      <a:srgbClr val="FFFFFF"/>
                    </a:solidFill>
                  </a:tcPr>
                </a:tc>
                <a:tc>
                  <a:txBody>
                    <a:bodyPr/>
                    <a:lstStyle/>
                    <a:p>
                      <a:pPr algn="l"/>
                      <a:r>
                        <a:rPr sz="1100" b="0">
                          <a:solidFill>
                            <a:srgbClr val="2E2E2E"/>
                          </a:solidFill>
                          <a:latin typeface="Calibri"/>
                        </a:rPr>
                        <a:t>712.5</a:t>
                      </a:r>
                      <a:endParaRPr sz="1100"/>
                    </a:p>
                  </a:txBody>
                  <a:tcPr marL="47625" marR="38100" marT="19050" marB="19050" anchor="ctr">
                    <a:solidFill>
                      <a:srgbClr val="FFFFFF"/>
                    </a:solidFill>
                  </a:tcPr>
                </a:tc>
                <a:tc>
                  <a:txBody>
                    <a:bodyPr/>
                    <a:lstStyle/>
                    <a:p>
                      <a:pPr algn="l"/>
                      <a:r>
                        <a:rPr sz="1100" b="0">
                          <a:solidFill>
                            <a:srgbClr val="2E2E2E"/>
                          </a:solidFill>
                          <a:latin typeface="Calibri"/>
                        </a:rPr>
                        <a:t>751.8</a:t>
                      </a:r>
                      <a:endParaRPr sz="1100"/>
                    </a:p>
                  </a:txBody>
                  <a:tcPr marL="47625" marR="38100" marT="19050" marB="19050" anchor="ctr">
                    <a:solidFill>
                      <a:srgbClr val="FFFFFF"/>
                    </a:solidFill>
                  </a:tcPr>
                </a:tc>
                <a:tc>
                  <a:txBody>
                    <a:bodyPr/>
                    <a:lstStyle/>
                    <a:p>
                      <a:pPr algn="l"/>
                      <a:r>
                        <a:rPr sz="1100" b="0">
                          <a:solidFill>
                            <a:srgbClr val="2E2E2E"/>
                          </a:solidFill>
                          <a:latin typeface="Calibri"/>
                        </a:rPr>
                        <a:t>793.9</a:t>
                      </a:r>
                      <a:endParaRPr sz="1100"/>
                    </a:p>
                  </a:txBody>
                  <a:tcPr marL="47625" marR="38100" marT="19050" marB="19050" anchor="ctr">
                    <a:solidFill>
                      <a:srgbClr val="FFFFFF"/>
                    </a:solidFill>
                  </a:tcPr>
                </a:tc>
                <a:tc>
                  <a:txBody>
                    <a:bodyPr/>
                    <a:lstStyle/>
                    <a:p>
                      <a:pPr algn="l"/>
                      <a:r>
                        <a:rPr sz="1100" b="0">
                          <a:solidFill>
                            <a:srgbClr val="2E2E2E"/>
                          </a:solidFill>
                          <a:latin typeface="Calibri"/>
                        </a:rPr>
                        <a:t>838.7</a:t>
                      </a:r>
                      <a:endParaRPr sz="1100"/>
                    </a:p>
                  </a:txBody>
                  <a:tcPr marL="47625" marR="38100" marT="19050" marB="19050" anchor="ctr">
                    <a:solidFill>
                      <a:srgbClr val="FFFFFF"/>
                    </a:solidFill>
                  </a:tcPr>
                </a:tc>
                <a:tc>
                  <a:txBody>
                    <a:bodyPr/>
                    <a:lstStyle/>
                    <a:p>
                      <a:pPr algn="l"/>
                      <a:r>
                        <a:rPr sz="1100" b="0">
                          <a:solidFill>
                            <a:srgbClr val="2E2E2E"/>
                          </a:solidFill>
                          <a:latin typeface="Calibri"/>
                        </a:rPr>
                        <a:t>885.9</a:t>
                      </a:r>
                      <a:endParaRPr sz="1100"/>
                    </a:p>
                  </a:txBody>
                  <a:tcPr marL="47625" marR="38100" marT="19050" marB="19050" anchor="ctr">
                    <a:solidFill>
                      <a:srgbClr val="FFFFFF"/>
                    </a:solidFill>
                  </a:tcPr>
                </a:tc>
                <a:tc>
                  <a:txBody>
                    <a:bodyPr/>
                    <a:lstStyle/>
                    <a:p>
                      <a:pPr algn="l"/>
                      <a:r>
                        <a:rPr sz="1100" b="0">
                          <a:solidFill>
                            <a:srgbClr val="2E2E2E"/>
                          </a:solidFill>
                          <a:latin typeface="Calibri"/>
                        </a:rPr>
                        <a:t>935.2</a:t>
                      </a:r>
                      <a:endParaRPr sz="1100"/>
                    </a:p>
                  </a:txBody>
                  <a:tcPr marL="47625" marR="38100" marT="19050" marB="19050" anchor="ctr">
                    <a:solidFill>
                      <a:srgbClr val="FFFFFF"/>
                    </a:solidFill>
                  </a:tcPr>
                </a:tc>
                <a:tc>
                  <a:txBody>
                    <a:bodyPr/>
                    <a:lstStyle/>
                    <a:p>
                      <a:pPr algn="l"/>
                      <a:r>
                        <a:rPr sz="1100" b="0">
                          <a:solidFill>
                            <a:srgbClr val="2E2E2E"/>
                          </a:solidFill>
                          <a:latin typeface="Calibri"/>
                        </a:rPr>
                        <a:t>985.7</a:t>
                      </a:r>
                      <a:endParaRPr sz="1100"/>
                    </a:p>
                  </a:txBody>
                  <a:tcPr marL="47625" marR="38100" marT="19050" marB="19050" anchor="ctr">
                    <a:solidFill>
                      <a:srgbClr val="FFFFFF"/>
                    </a:solidFill>
                  </a:tcPr>
                </a:tc>
                <a:tc>
                  <a:txBody>
                    <a:bodyPr/>
                    <a:lstStyle/>
                    <a:p>
                      <a:pPr algn="l"/>
                      <a:r>
                        <a:rPr sz="1100" b="0">
                          <a:solidFill>
                            <a:srgbClr val="2E2E2E"/>
                          </a:solidFill>
                          <a:latin typeface="Calibri"/>
                        </a:rPr>
                        <a:t>1,037</a:t>
                      </a:r>
                      <a:endParaRPr sz="1100"/>
                    </a:p>
                  </a:txBody>
                  <a:tcPr marL="47625" marR="38100" marT="19050" marB="19050" anchor="ctr">
                    <a:solidFill>
                      <a:srgbClr val="FFFFFF"/>
                    </a:solidFill>
                  </a:tcPr>
                </a:tc>
                <a:tc>
                  <a:txBody>
                    <a:bodyPr/>
                    <a:lstStyle/>
                    <a:p>
                      <a:pPr algn="l"/>
                      <a:r>
                        <a:rPr sz="1100" b="0">
                          <a:solidFill>
                            <a:srgbClr val="2E2E2E"/>
                          </a:solidFill>
                          <a:latin typeface="Calibri"/>
                        </a:rPr>
                        <a:t>5.4%</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15979">
                <a:tc>
                  <a:txBody>
                    <a:bodyPr/>
                    <a:lstStyle/>
                    <a:p>
                      <a:pPr algn="l"/>
                      <a:r>
                        <a:rPr sz="1100" b="1">
                          <a:solidFill>
                            <a:srgbClr val="2E2E2E"/>
                          </a:solidFill>
                          <a:latin typeface="Calibri"/>
                        </a:rPr>
                        <a:t>DHA / Omega-3</a:t>
                      </a:r>
                      <a:endParaRPr sz="1100"/>
                    </a:p>
                  </a:txBody>
                  <a:tcPr marL="47625" marR="38100" marT="19050" marB="19050" anchor="ctr">
                    <a:solidFill>
                      <a:srgbClr val="F5F8FA"/>
                    </a:solidFill>
                  </a:tcPr>
                </a:tc>
                <a:tc>
                  <a:txBody>
                    <a:bodyPr/>
                    <a:lstStyle/>
                    <a:p>
                      <a:pPr algn="l"/>
                      <a:r>
                        <a:rPr sz="1100" b="0">
                          <a:solidFill>
                            <a:srgbClr val="2E2E2E"/>
                          </a:solidFill>
                          <a:latin typeface="Calibri"/>
                        </a:rPr>
                        <a:t>97.0</a:t>
                      </a:r>
                      <a:endParaRPr sz="1100"/>
                    </a:p>
                  </a:txBody>
                  <a:tcPr marL="47625" marR="38100" marT="19050" marB="19050" anchor="ctr">
                    <a:solidFill>
                      <a:srgbClr val="F5F8FA"/>
                    </a:solidFill>
                  </a:tcPr>
                </a:tc>
                <a:tc>
                  <a:txBody>
                    <a:bodyPr/>
                    <a:lstStyle/>
                    <a:p>
                      <a:pPr algn="l"/>
                      <a:r>
                        <a:rPr sz="1100" b="0">
                          <a:solidFill>
                            <a:srgbClr val="2E2E2E"/>
                          </a:solidFill>
                          <a:latin typeface="Calibri"/>
                        </a:rPr>
                        <a:t>102.9</a:t>
                      </a:r>
                      <a:endParaRPr sz="1100"/>
                    </a:p>
                  </a:txBody>
                  <a:tcPr marL="47625" marR="38100" marT="19050" marB="19050" anchor="ctr">
                    <a:solidFill>
                      <a:srgbClr val="F5F8FA"/>
                    </a:solidFill>
                  </a:tcPr>
                </a:tc>
                <a:tc>
                  <a:txBody>
                    <a:bodyPr/>
                    <a:lstStyle/>
                    <a:p>
                      <a:pPr algn="l"/>
                      <a:r>
                        <a:rPr sz="1100" b="0">
                          <a:solidFill>
                            <a:srgbClr val="2E2E2E"/>
                          </a:solidFill>
                          <a:latin typeface="Calibri"/>
                        </a:rPr>
                        <a:t>108.8</a:t>
                      </a:r>
                      <a:endParaRPr sz="1100"/>
                    </a:p>
                  </a:txBody>
                  <a:tcPr marL="47625" marR="38100" marT="19050" marB="19050" anchor="ctr">
                    <a:solidFill>
                      <a:srgbClr val="F5F8FA"/>
                    </a:solidFill>
                  </a:tcPr>
                </a:tc>
                <a:tc>
                  <a:txBody>
                    <a:bodyPr/>
                    <a:lstStyle/>
                    <a:p>
                      <a:pPr algn="l"/>
                      <a:r>
                        <a:rPr sz="1100" b="0">
                          <a:solidFill>
                            <a:srgbClr val="2E2E2E"/>
                          </a:solidFill>
                          <a:latin typeface="Calibri"/>
                        </a:rPr>
                        <a:t>114.8</a:t>
                      </a:r>
                      <a:endParaRPr sz="1100"/>
                    </a:p>
                  </a:txBody>
                  <a:tcPr marL="47625" marR="38100" marT="19050" marB="19050" anchor="ctr">
                    <a:solidFill>
                      <a:srgbClr val="F5F8FA"/>
                    </a:solidFill>
                  </a:tcPr>
                </a:tc>
                <a:tc>
                  <a:txBody>
                    <a:bodyPr/>
                    <a:lstStyle/>
                    <a:p>
                      <a:pPr algn="l"/>
                      <a:r>
                        <a:rPr sz="1100" b="0">
                          <a:solidFill>
                            <a:srgbClr val="2E2E2E"/>
                          </a:solidFill>
                          <a:latin typeface="Calibri"/>
                        </a:rPr>
                        <a:t>121.0</a:t>
                      </a:r>
                      <a:endParaRPr sz="1100"/>
                    </a:p>
                  </a:txBody>
                  <a:tcPr marL="47625" marR="38100" marT="19050" marB="19050" anchor="ctr">
                    <a:solidFill>
                      <a:srgbClr val="F5F8FA"/>
                    </a:solidFill>
                  </a:tcPr>
                </a:tc>
                <a:tc>
                  <a:txBody>
                    <a:bodyPr/>
                    <a:lstStyle/>
                    <a:p>
                      <a:pPr algn="l"/>
                      <a:r>
                        <a:rPr sz="1100" b="0">
                          <a:solidFill>
                            <a:srgbClr val="2E2E2E"/>
                          </a:solidFill>
                          <a:latin typeface="Calibri"/>
                        </a:rPr>
                        <a:t>127.7</a:t>
                      </a:r>
                      <a:endParaRPr sz="1100"/>
                    </a:p>
                  </a:txBody>
                  <a:tcPr marL="47625" marR="38100" marT="19050" marB="19050" anchor="ctr">
                    <a:solidFill>
                      <a:srgbClr val="F5F8FA"/>
                    </a:solidFill>
                  </a:tcPr>
                </a:tc>
                <a:tc>
                  <a:txBody>
                    <a:bodyPr/>
                    <a:lstStyle/>
                    <a:p>
                      <a:pPr algn="l"/>
                      <a:r>
                        <a:rPr sz="1100" b="0">
                          <a:solidFill>
                            <a:srgbClr val="2E2E2E"/>
                          </a:solidFill>
                          <a:latin typeface="Calibri"/>
                        </a:rPr>
                        <a:t>135.1</a:t>
                      </a:r>
                      <a:endParaRPr sz="1100"/>
                    </a:p>
                  </a:txBody>
                  <a:tcPr marL="47625" marR="38100" marT="19050" marB="19050" anchor="ctr">
                    <a:solidFill>
                      <a:srgbClr val="F5F8FA"/>
                    </a:solidFill>
                  </a:tcPr>
                </a:tc>
                <a:tc>
                  <a:txBody>
                    <a:bodyPr/>
                    <a:lstStyle/>
                    <a:p>
                      <a:pPr algn="l"/>
                      <a:r>
                        <a:rPr sz="1100" b="0">
                          <a:solidFill>
                            <a:srgbClr val="2E2E2E"/>
                          </a:solidFill>
                          <a:latin typeface="Calibri"/>
                        </a:rPr>
                        <a:t>143.4</a:t>
                      </a:r>
                      <a:endParaRPr sz="1100"/>
                    </a:p>
                  </a:txBody>
                  <a:tcPr marL="47625" marR="38100" marT="19050" marB="19050" anchor="ctr">
                    <a:solidFill>
                      <a:srgbClr val="F5F8FA"/>
                    </a:solidFill>
                  </a:tcPr>
                </a:tc>
                <a:tc>
                  <a:txBody>
                    <a:bodyPr/>
                    <a:lstStyle/>
                    <a:p>
                      <a:pPr algn="l"/>
                      <a:r>
                        <a:rPr sz="1100" b="0">
                          <a:solidFill>
                            <a:srgbClr val="2E2E2E"/>
                          </a:solidFill>
                          <a:latin typeface="Calibri"/>
                        </a:rPr>
                        <a:t>153.4</a:t>
                      </a:r>
                      <a:endParaRPr sz="1100"/>
                    </a:p>
                  </a:txBody>
                  <a:tcPr marL="47625" marR="38100" marT="19050" marB="19050" anchor="ctr">
                    <a:solidFill>
                      <a:srgbClr val="F5F8FA"/>
                    </a:solidFill>
                  </a:tcPr>
                </a:tc>
                <a:tc>
                  <a:txBody>
                    <a:bodyPr/>
                    <a:lstStyle/>
                    <a:p>
                      <a:pPr algn="l"/>
                      <a:r>
                        <a:rPr sz="1100" b="0">
                          <a:solidFill>
                            <a:srgbClr val="2E2E2E"/>
                          </a:solidFill>
                          <a:latin typeface="Calibri"/>
                        </a:rPr>
                        <a:t>164.9</a:t>
                      </a:r>
                      <a:endParaRPr sz="1100"/>
                    </a:p>
                  </a:txBody>
                  <a:tcPr marL="47625" marR="38100" marT="19050" marB="19050" anchor="ctr">
                    <a:solidFill>
                      <a:srgbClr val="F5F8FA"/>
                    </a:solidFill>
                  </a:tcPr>
                </a:tc>
                <a:tc>
                  <a:txBody>
                    <a:bodyPr/>
                    <a:lstStyle/>
                    <a:p>
                      <a:pPr algn="l"/>
                      <a:r>
                        <a:rPr sz="1100" b="0">
                          <a:solidFill>
                            <a:srgbClr val="2E2E2E"/>
                          </a:solidFill>
                          <a:latin typeface="Calibri"/>
                        </a:rPr>
                        <a:t>177.6</a:t>
                      </a:r>
                      <a:endParaRPr sz="1100"/>
                    </a:p>
                  </a:txBody>
                  <a:tcPr marL="47625" marR="38100" marT="19050" marB="19050" anchor="ctr">
                    <a:solidFill>
                      <a:srgbClr val="F5F8FA"/>
                    </a:solidFill>
                  </a:tcPr>
                </a:tc>
                <a:tc>
                  <a:txBody>
                    <a:bodyPr/>
                    <a:lstStyle/>
                    <a:p>
                      <a:pPr algn="l"/>
                      <a:r>
                        <a:rPr sz="1100" b="0">
                          <a:solidFill>
                            <a:srgbClr val="2E2E2E"/>
                          </a:solidFill>
                          <a:latin typeface="Calibri"/>
                        </a:rPr>
                        <a:t>191.2</a:t>
                      </a:r>
                      <a:endParaRPr sz="1100"/>
                    </a:p>
                  </a:txBody>
                  <a:tcPr marL="47625" marR="38100" marT="19050" marB="19050" anchor="ctr">
                    <a:solidFill>
                      <a:srgbClr val="F5F8FA"/>
                    </a:solidFill>
                  </a:tcPr>
                </a:tc>
                <a:tc>
                  <a:txBody>
                    <a:bodyPr/>
                    <a:lstStyle/>
                    <a:p>
                      <a:pPr algn="l"/>
                      <a:r>
                        <a:rPr sz="1100" b="0">
                          <a:solidFill>
                            <a:srgbClr val="2E2E2E"/>
                          </a:solidFill>
                          <a:latin typeface="Calibri"/>
                        </a:rPr>
                        <a:t>205.2</a:t>
                      </a:r>
                      <a:endParaRPr sz="1100"/>
                    </a:p>
                  </a:txBody>
                  <a:tcPr marL="47625" marR="38100" marT="19050" marB="19050" anchor="ctr">
                    <a:solidFill>
                      <a:srgbClr val="F5F8FA"/>
                    </a:solidFill>
                  </a:tcPr>
                </a:tc>
                <a:tc>
                  <a:txBody>
                    <a:bodyPr/>
                    <a:lstStyle/>
                    <a:p>
                      <a:pPr algn="l"/>
                      <a:r>
                        <a:rPr sz="1100" b="0">
                          <a:solidFill>
                            <a:srgbClr val="2E2E2E"/>
                          </a:solidFill>
                          <a:latin typeface="Calibri"/>
                        </a:rPr>
                        <a:t>219.8</a:t>
                      </a:r>
                      <a:endParaRPr sz="1100"/>
                    </a:p>
                  </a:txBody>
                  <a:tcPr marL="47625" marR="38100" marT="19050" marB="19050" anchor="ctr">
                    <a:solidFill>
                      <a:srgbClr val="F5F8FA"/>
                    </a:solidFill>
                  </a:tcPr>
                </a:tc>
                <a:tc>
                  <a:txBody>
                    <a:bodyPr/>
                    <a:lstStyle/>
                    <a:p>
                      <a:pPr algn="l"/>
                      <a:r>
                        <a:rPr sz="1100" b="0">
                          <a:solidFill>
                            <a:srgbClr val="2E2E2E"/>
                          </a:solidFill>
                          <a:latin typeface="Calibri"/>
                        </a:rPr>
                        <a:t>235.0</a:t>
                      </a:r>
                      <a:endParaRPr sz="1100"/>
                    </a:p>
                  </a:txBody>
                  <a:tcPr marL="47625" marR="38100" marT="19050" marB="19050" anchor="ctr">
                    <a:solidFill>
                      <a:srgbClr val="F5F8FA"/>
                    </a:solidFill>
                  </a:tcPr>
                </a:tc>
                <a:tc>
                  <a:txBody>
                    <a:bodyPr/>
                    <a:lstStyle/>
                    <a:p>
                      <a:pPr algn="l"/>
                      <a:r>
                        <a:rPr sz="1100" b="0">
                          <a:solidFill>
                            <a:srgbClr val="2E2E2E"/>
                          </a:solidFill>
                          <a:latin typeface="Calibri"/>
                        </a:rPr>
                        <a:t>250.9</a:t>
                      </a:r>
                      <a:endParaRPr sz="1100"/>
                    </a:p>
                  </a:txBody>
                  <a:tcPr marL="47625" marR="38100" marT="19050" marB="19050" anchor="ctr">
                    <a:solidFill>
                      <a:srgbClr val="F5F8FA"/>
                    </a:solidFill>
                  </a:tcPr>
                </a:tc>
                <a:tc>
                  <a:txBody>
                    <a:bodyPr/>
                    <a:lstStyle/>
                    <a:p>
                      <a:pPr algn="l"/>
                      <a:r>
                        <a:rPr sz="1100" b="0">
                          <a:solidFill>
                            <a:srgbClr val="2E2E2E"/>
                          </a:solidFill>
                          <a:latin typeface="Calibri"/>
                        </a:rPr>
                        <a:t>7.0%</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15979">
                <a:tc>
                  <a:txBody>
                    <a:bodyPr/>
                    <a:lstStyle/>
                    <a:p>
                      <a:pPr algn="l"/>
                      <a:r>
                        <a:rPr sz="1100" b="1">
                          <a:solidFill>
                            <a:srgbClr val="2E2E2E"/>
                          </a:solidFill>
                          <a:latin typeface="Calibri"/>
                        </a:rPr>
                        <a:t>Iron</a:t>
                      </a:r>
                      <a:endParaRPr sz="1100"/>
                    </a:p>
                  </a:txBody>
                  <a:tcPr marL="47625" marR="38100" marT="19050" marB="19050" anchor="ctr">
                    <a:solidFill>
                      <a:srgbClr val="FFFFFF"/>
                    </a:solidFill>
                  </a:tcPr>
                </a:tc>
                <a:tc>
                  <a:txBody>
                    <a:bodyPr/>
                    <a:lstStyle/>
                    <a:p>
                      <a:pPr algn="l"/>
                      <a:r>
                        <a:rPr sz="1100" b="0">
                          <a:solidFill>
                            <a:srgbClr val="2E2E2E"/>
                          </a:solidFill>
                          <a:latin typeface="Calibri"/>
                        </a:rPr>
                        <a:t>61.9</a:t>
                      </a:r>
                      <a:endParaRPr sz="1100"/>
                    </a:p>
                  </a:txBody>
                  <a:tcPr marL="47625" marR="38100" marT="19050" marB="19050" anchor="ctr">
                    <a:solidFill>
                      <a:srgbClr val="FFFFFF"/>
                    </a:solidFill>
                  </a:tcPr>
                </a:tc>
                <a:tc>
                  <a:txBody>
                    <a:bodyPr/>
                    <a:lstStyle/>
                    <a:p>
                      <a:pPr algn="l"/>
                      <a:r>
                        <a:rPr sz="1100" b="0">
                          <a:solidFill>
                            <a:srgbClr val="2E2E2E"/>
                          </a:solidFill>
                          <a:latin typeface="Calibri"/>
                        </a:rPr>
                        <a:t>63.9</a:t>
                      </a:r>
                      <a:endParaRPr sz="1100"/>
                    </a:p>
                  </a:txBody>
                  <a:tcPr marL="47625" marR="38100" marT="19050" marB="19050" anchor="ctr">
                    <a:solidFill>
                      <a:srgbClr val="FFFFFF"/>
                    </a:solidFill>
                  </a:tcPr>
                </a:tc>
                <a:tc>
                  <a:txBody>
                    <a:bodyPr/>
                    <a:lstStyle/>
                    <a:p>
                      <a:pPr algn="l"/>
                      <a:r>
                        <a:rPr sz="1100" b="0">
                          <a:solidFill>
                            <a:srgbClr val="2E2E2E"/>
                          </a:solidFill>
                          <a:latin typeface="Calibri"/>
                        </a:rPr>
                        <a:t>66.0</a:t>
                      </a:r>
                      <a:endParaRPr sz="1100"/>
                    </a:p>
                  </a:txBody>
                  <a:tcPr marL="47625" marR="38100" marT="19050" marB="19050" anchor="ctr">
                    <a:solidFill>
                      <a:srgbClr val="FFFFFF"/>
                    </a:solidFill>
                  </a:tcPr>
                </a:tc>
                <a:tc>
                  <a:txBody>
                    <a:bodyPr/>
                    <a:lstStyle/>
                    <a:p>
                      <a:pPr algn="l"/>
                      <a:r>
                        <a:rPr sz="1100" b="0">
                          <a:solidFill>
                            <a:srgbClr val="2E2E2E"/>
                          </a:solidFill>
                          <a:latin typeface="Calibri"/>
                        </a:rPr>
                        <a:t>68.2</a:t>
                      </a:r>
                      <a:endParaRPr sz="1100"/>
                    </a:p>
                  </a:txBody>
                  <a:tcPr marL="47625" marR="38100" marT="19050" marB="19050" anchor="ctr">
                    <a:solidFill>
                      <a:srgbClr val="FFFFFF"/>
                    </a:solidFill>
                  </a:tcPr>
                </a:tc>
                <a:tc>
                  <a:txBody>
                    <a:bodyPr/>
                    <a:lstStyle/>
                    <a:p>
                      <a:pPr algn="l"/>
                      <a:r>
                        <a:rPr sz="1100" b="0">
                          <a:solidFill>
                            <a:srgbClr val="2E2E2E"/>
                          </a:solidFill>
                          <a:latin typeface="Calibri"/>
                        </a:rPr>
                        <a:t>70.5</a:t>
                      </a:r>
                      <a:endParaRPr sz="1100"/>
                    </a:p>
                  </a:txBody>
                  <a:tcPr marL="47625" marR="38100" marT="19050" marB="19050" anchor="ctr">
                    <a:solidFill>
                      <a:srgbClr val="FFFFFF"/>
                    </a:solidFill>
                  </a:tcPr>
                </a:tc>
                <a:tc>
                  <a:txBody>
                    <a:bodyPr/>
                    <a:lstStyle/>
                    <a:p>
                      <a:pPr algn="l"/>
                      <a:r>
                        <a:rPr sz="1100" b="0">
                          <a:solidFill>
                            <a:srgbClr val="2E2E2E"/>
                          </a:solidFill>
                          <a:latin typeface="Calibri"/>
                        </a:rPr>
                        <a:t>72.7</a:t>
                      </a:r>
                      <a:endParaRPr sz="1100"/>
                    </a:p>
                  </a:txBody>
                  <a:tcPr marL="47625" marR="38100" marT="19050" marB="19050" anchor="ctr">
                    <a:solidFill>
                      <a:srgbClr val="FFFFFF"/>
                    </a:solidFill>
                  </a:tcPr>
                </a:tc>
                <a:tc>
                  <a:txBody>
                    <a:bodyPr/>
                    <a:lstStyle/>
                    <a:p>
                      <a:pPr algn="l"/>
                      <a:r>
                        <a:rPr sz="1100" b="0">
                          <a:solidFill>
                            <a:srgbClr val="2E2E2E"/>
                          </a:solidFill>
                          <a:latin typeface="Calibri"/>
                        </a:rPr>
                        <a:t>74.9</a:t>
                      </a:r>
                      <a:endParaRPr sz="1100"/>
                    </a:p>
                  </a:txBody>
                  <a:tcPr marL="47625" marR="38100" marT="19050" marB="19050" anchor="ctr">
                    <a:solidFill>
                      <a:srgbClr val="FFFFFF"/>
                    </a:solidFill>
                  </a:tcPr>
                </a:tc>
                <a:tc>
                  <a:txBody>
                    <a:bodyPr/>
                    <a:lstStyle/>
                    <a:p>
                      <a:pPr algn="l"/>
                      <a:r>
                        <a:rPr sz="1100" b="0">
                          <a:solidFill>
                            <a:srgbClr val="2E2E2E"/>
                          </a:solidFill>
                          <a:latin typeface="Calibri"/>
                        </a:rPr>
                        <a:t>77.2</a:t>
                      </a:r>
                      <a:endParaRPr sz="1100"/>
                    </a:p>
                  </a:txBody>
                  <a:tcPr marL="47625" marR="38100" marT="19050" marB="19050" anchor="ctr">
                    <a:solidFill>
                      <a:srgbClr val="FFFFFF"/>
                    </a:solidFill>
                  </a:tcPr>
                </a:tc>
                <a:tc>
                  <a:txBody>
                    <a:bodyPr/>
                    <a:lstStyle/>
                    <a:p>
                      <a:pPr algn="l"/>
                      <a:r>
                        <a:rPr sz="1100" b="0">
                          <a:solidFill>
                            <a:srgbClr val="2E2E2E"/>
                          </a:solidFill>
                          <a:latin typeface="Calibri"/>
                        </a:rPr>
                        <a:t>79.7</a:t>
                      </a:r>
                      <a:endParaRPr sz="1100"/>
                    </a:p>
                  </a:txBody>
                  <a:tcPr marL="47625" marR="38100" marT="19050" marB="19050" anchor="ctr">
                    <a:solidFill>
                      <a:srgbClr val="FFFFFF"/>
                    </a:solidFill>
                  </a:tcPr>
                </a:tc>
                <a:tc>
                  <a:txBody>
                    <a:bodyPr/>
                    <a:lstStyle/>
                    <a:p>
                      <a:pPr algn="l"/>
                      <a:r>
                        <a:rPr sz="1100" b="0">
                          <a:solidFill>
                            <a:srgbClr val="2E2E2E"/>
                          </a:solidFill>
                          <a:latin typeface="Calibri"/>
                        </a:rPr>
                        <a:t>82.7</a:t>
                      </a:r>
                      <a:endParaRPr sz="1100"/>
                    </a:p>
                  </a:txBody>
                  <a:tcPr marL="47625" marR="38100" marT="19050" marB="19050" anchor="ctr">
                    <a:solidFill>
                      <a:srgbClr val="FFFFFF"/>
                    </a:solidFill>
                  </a:tcPr>
                </a:tc>
                <a:tc>
                  <a:txBody>
                    <a:bodyPr/>
                    <a:lstStyle/>
                    <a:p>
                      <a:pPr algn="l"/>
                      <a:r>
                        <a:rPr sz="1100" b="0">
                          <a:solidFill>
                            <a:srgbClr val="2E2E2E"/>
                          </a:solidFill>
                          <a:latin typeface="Calibri"/>
                        </a:rPr>
                        <a:t>86.0</a:t>
                      </a:r>
                      <a:endParaRPr sz="1100"/>
                    </a:p>
                  </a:txBody>
                  <a:tcPr marL="47625" marR="38100" marT="19050" marB="19050" anchor="ctr">
                    <a:solidFill>
                      <a:srgbClr val="FFFFFF"/>
                    </a:solidFill>
                  </a:tcPr>
                </a:tc>
                <a:tc>
                  <a:txBody>
                    <a:bodyPr/>
                    <a:lstStyle/>
                    <a:p>
                      <a:pPr algn="l"/>
                      <a:r>
                        <a:rPr sz="1100" b="0">
                          <a:solidFill>
                            <a:srgbClr val="2E2E2E"/>
                          </a:solidFill>
                          <a:latin typeface="Calibri"/>
                        </a:rPr>
                        <a:t>89.5</a:t>
                      </a:r>
                      <a:endParaRPr sz="1100"/>
                    </a:p>
                  </a:txBody>
                  <a:tcPr marL="47625" marR="38100" marT="19050" marB="19050" anchor="ctr">
                    <a:solidFill>
                      <a:srgbClr val="FFFFFF"/>
                    </a:solidFill>
                  </a:tcPr>
                </a:tc>
                <a:tc>
                  <a:txBody>
                    <a:bodyPr/>
                    <a:lstStyle/>
                    <a:p>
                      <a:pPr algn="l"/>
                      <a:r>
                        <a:rPr sz="1100" b="0">
                          <a:solidFill>
                            <a:srgbClr val="2E2E2E"/>
                          </a:solidFill>
                          <a:latin typeface="Calibri"/>
                        </a:rPr>
                        <a:t>93.2</a:t>
                      </a:r>
                      <a:endParaRPr sz="1100"/>
                    </a:p>
                  </a:txBody>
                  <a:tcPr marL="47625" marR="38100" marT="19050" marB="19050" anchor="ctr">
                    <a:solidFill>
                      <a:srgbClr val="FFFFFF"/>
                    </a:solidFill>
                  </a:tcPr>
                </a:tc>
                <a:tc>
                  <a:txBody>
                    <a:bodyPr/>
                    <a:lstStyle/>
                    <a:p>
                      <a:pPr algn="l"/>
                      <a:r>
                        <a:rPr sz="1100" b="0">
                          <a:solidFill>
                            <a:srgbClr val="2E2E2E"/>
                          </a:solidFill>
                          <a:latin typeface="Calibri"/>
                        </a:rPr>
                        <a:t>96.9</a:t>
                      </a:r>
                      <a:endParaRPr sz="1100"/>
                    </a:p>
                  </a:txBody>
                  <a:tcPr marL="47625" marR="38100" marT="19050" marB="19050" anchor="ctr">
                    <a:solidFill>
                      <a:srgbClr val="FFFFFF"/>
                    </a:solidFill>
                  </a:tcPr>
                </a:tc>
                <a:tc>
                  <a:txBody>
                    <a:bodyPr/>
                    <a:lstStyle/>
                    <a:p>
                      <a:pPr algn="l"/>
                      <a:r>
                        <a:rPr sz="1100" b="0">
                          <a:solidFill>
                            <a:srgbClr val="2E2E2E"/>
                          </a:solidFill>
                          <a:latin typeface="Calibri"/>
                        </a:rPr>
                        <a:t>100.7</a:t>
                      </a:r>
                      <a:endParaRPr sz="1100"/>
                    </a:p>
                  </a:txBody>
                  <a:tcPr marL="47625" marR="38100" marT="19050" marB="19050" anchor="ctr">
                    <a:solidFill>
                      <a:srgbClr val="FFFFFF"/>
                    </a:solidFill>
                  </a:tcPr>
                </a:tc>
                <a:tc>
                  <a:txBody>
                    <a:bodyPr/>
                    <a:lstStyle/>
                    <a:p>
                      <a:pPr algn="l"/>
                      <a:r>
                        <a:rPr sz="1100" b="0">
                          <a:solidFill>
                            <a:srgbClr val="2E2E2E"/>
                          </a:solidFill>
                          <a:latin typeface="Calibri"/>
                        </a:rPr>
                        <a:t>104.5</a:t>
                      </a:r>
                      <a:endParaRPr sz="1100"/>
                    </a:p>
                  </a:txBody>
                  <a:tcPr marL="47625" marR="38100" marT="19050" marB="19050" anchor="ctr">
                    <a:solidFill>
                      <a:srgbClr val="FFFFFF"/>
                    </a:solidFill>
                  </a:tcPr>
                </a:tc>
                <a:tc>
                  <a:txBody>
                    <a:bodyPr/>
                    <a:lstStyle/>
                    <a:p>
                      <a:pPr algn="l"/>
                      <a:r>
                        <a:rPr sz="1100" b="0">
                          <a:solidFill>
                            <a:srgbClr val="2E2E2E"/>
                          </a:solidFill>
                          <a:latin typeface="Calibri"/>
                        </a:rPr>
                        <a:t>3.7%</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15979">
                <a:tc>
                  <a:txBody>
                    <a:bodyPr/>
                    <a:lstStyle/>
                    <a:p>
                      <a:pPr algn="l"/>
                      <a:r>
                        <a:rPr sz="1100" b="1">
                          <a:solidFill>
                            <a:srgbClr val="2E2E2E"/>
                          </a:solidFill>
                          <a:latin typeface="Calibri"/>
                        </a:rPr>
                        <a:t>Folate / Folic Acid</a:t>
                      </a:r>
                      <a:endParaRPr sz="1100"/>
                    </a:p>
                  </a:txBody>
                  <a:tcPr marL="47625" marR="38100" marT="19050" marB="19050" anchor="ctr">
                    <a:solidFill>
                      <a:srgbClr val="F5F8FA"/>
                    </a:solidFill>
                  </a:tcPr>
                </a:tc>
                <a:tc>
                  <a:txBody>
                    <a:bodyPr/>
                    <a:lstStyle/>
                    <a:p>
                      <a:pPr algn="l"/>
                      <a:r>
                        <a:rPr sz="1100" b="0">
                          <a:solidFill>
                            <a:srgbClr val="2E2E2E"/>
                          </a:solidFill>
                          <a:latin typeface="Calibri"/>
                        </a:rPr>
                        <a:t>50.5</a:t>
                      </a:r>
                      <a:endParaRPr sz="1100"/>
                    </a:p>
                  </a:txBody>
                  <a:tcPr marL="47625" marR="38100" marT="19050" marB="19050" anchor="ctr">
                    <a:solidFill>
                      <a:srgbClr val="F5F8FA"/>
                    </a:solidFill>
                  </a:tcPr>
                </a:tc>
                <a:tc>
                  <a:txBody>
                    <a:bodyPr/>
                    <a:lstStyle/>
                    <a:p>
                      <a:pPr algn="l"/>
                      <a:r>
                        <a:rPr sz="1100" b="0">
                          <a:solidFill>
                            <a:srgbClr val="2E2E2E"/>
                          </a:solidFill>
                          <a:latin typeface="Calibri"/>
                        </a:rPr>
                        <a:t>52.6</a:t>
                      </a:r>
                      <a:endParaRPr sz="1100"/>
                    </a:p>
                  </a:txBody>
                  <a:tcPr marL="47625" marR="38100" marT="19050" marB="19050" anchor="ctr">
                    <a:solidFill>
                      <a:srgbClr val="F5F8FA"/>
                    </a:solidFill>
                  </a:tcPr>
                </a:tc>
                <a:tc>
                  <a:txBody>
                    <a:bodyPr/>
                    <a:lstStyle/>
                    <a:p>
                      <a:pPr algn="l"/>
                      <a:r>
                        <a:rPr sz="1100" b="0">
                          <a:solidFill>
                            <a:srgbClr val="2E2E2E"/>
                          </a:solidFill>
                          <a:latin typeface="Calibri"/>
                        </a:rPr>
                        <a:t>54.7</a:t>
                      </a:r>
                      <a:endParaRPr sz="1100"/>
                    </a:p>
                  </a:txBody>
                  <a:tcPr marL="47625" marR="38100" marT="19050" marB="19050" anchor="ctr">
                    <a:solidFill>
                      <a:srgbClr val="F5F8FA"/>
                    </a:solidFill>
                  </a:tcPr>
                </a:tc>
                <a:tc>
                  <a:txBody>
                    <a:bodyPr/>
                    <a:lstStyle/>
                    <a:p>
                      <a:pPr algn="l"/>
                      <a:r>
                        <a:rPr sz="1100" b="0">
                          <a:solidFill>
                            <a:srgbClr val="2E2E2E"/>
                          </a:solidFill>
                          <a:latin typeface="Calibri"/>
                        </a:rPr>
                        <a:t>56.9</a:t>
                      </a:r>
                      <a:endParaRPr sz="1100"/>
                    </a:p>
                  </a:txBody>
                  <a:tcPr marL="47625" marR="38100" marT="19050" marB="19050" anchor="ctr">
                    <a:solidFill>
                      <a:srgbClr val="F5F8FA"/>
                    </a:solidFill>
                  </a:tcPr>
                </a:tc>
                <a:tc>
                  <a:txBody>
                    <a:bodyPr/>
                    <a:lstStyle/>
                    <a:p>
                      <a:pPr algn="l"/>
                      <a:r>
                        <a:rPr sz="1100" b="0">
                          <a:solidFill>
                            <a:srgbClr val="2E2E2E"/>
                          </a:solidFill>
                          <a:latin typeface="Calibri"/>
                        </a:rPr>
                        <a:t>59.1</a:t>
                      </a:r>
                      <a:endParaRPr sz="1100"/>
                    </a:p>
                  </a:txBody>
                  <a:tcPr marL="47625" marR="38100" marT="19050" marB="19050" anchor="ctr">
                    <a:solidFill>
                      <a:srgbClr val="F5F8FA"/>
                    </a:solidFill>
                  </a:tcPr>
                </a:tc>
                <a:tc>
                  <a:txBody>
                    <a:bodyPr/>
                    <a:lstStyle/>
                    <a:p>
                      <a:pPr algn="l"/>
                      <a:r>
                        <a:rPr sz="1100" b="0">
                          <a:solidFill>
                            <a:srgbClr val="2E2E2E"/>
                          </a:solidFill>
                          <a:latin typeface="Calibri"/>
                        </a:rPr>
                        <a:t>61.3</a:t>
                      </a:r>
                      <a:endParaRPr sz="1100"/>
                    </a:p>
                  </a:txBody>
                  <a:tcPr marL="47625" marR="38100" marT="19050" marB="19050" anchor="ctr">
                    <a:solidFill>
                      <a:srgbClr val="F5F8FA"/>
                    </a:solidFill>
                  </a:tcPr>
                </a:tc>
                <a:tc>
                  <a:txBody>
                    <a:bodyPr/>
                    <a:lstStyle/>
                    <a:p>
                      <a:pPr algn="l"/>
                      <a:r>
                        <a:rPr sz="1100" b="0">
                          <a:solidFill>
                            <a:srgbClr val="2E2E2E"/>
                          </a:solidFill>
                          <a:latin typeface="Calibri"/>
                        </a:rPr>
                        <a:t>63.6</a:t>
                      </a:r>
                      <a:endParaRPr sz="1100"/>
                    </a:p>
                  </a:txBody>
                  <a:tcPr marL="47625" marR="38100" marT="19050" marB="19050" anchor="ctr">
                    <a:solidFill>
                      <a:srgbClr val="F5F8FA"/>
                    </a:solidFill>
                  </a:tcPr>
                </a:tc>
                <a:tc>
                  <a:txBody>
                    <a:bodyPr/>
                    <a:lstStyle/>
                    <a:p>
                      <a:pPr algn="l"/>
                      <a:r>
                        <a:rPr sz="1100" b="0">
                          <a:solidFill>
                            <a:srgbClr val="2E2E2E"/>
                          </a:solidFill>
                          <a:latin typeface="Calibri"/>
                        </a:rPr>
                        <a:t>66.2</a:t>
                      </a:r>
                      <a:endParaRPr sz="1100"/>
                    </a:p>
                  </a:txBody>
                  <a:tcPr marL="47625" marR="38100" marT="19050" marB="19050" anchor="ctr">
                    <a:solidFill>
                      <a:srgbClr val="F5F8FA"/>
                    </a:solidFill>
                  </a:tcPr>
                </a:tc>
                <a:tc>
                  <a:txBody>
                    <a:bodyPr/>
                    <a:lstStyle/>
                    <a:p>
                      <a:pPr algn="l"/>
                      <a:r>
                        <a:rPr sz="1100" b="0">
                          <a:solidFill>
                            <a:srgbClr val="2E2E2E"/>
                          </a:solidFill>
                          <a:latin typeface="Calibri"/>
                        </a:rPr>
                        <a:t>69.1</a:t>
                      </a:r>
                      <a:endParaRPr sz="1100"/>
                    </a:p>
                  </a:txBody>
                  <a:tcPr marL="47625" marR="38100" marT="19050" marB="19050" anchor="ctr">
                    <a:solidFill>
                      <a:srgbClr val="F5F8FA"/>
                    </a:solidFill>
                  </a:tcPr>
                </a:tc>
                <a:tc>
                  <a:txBody>
                    <a:bodyPr/>
                    <a:lstStyle/>
                    <a:p>
                      <a:pPr algn="l"/>
                      <a:r>
                        <a:rPr sz="1100" b="0">
                          <a:solidFill>
                            <a:srgbClr val="2E2E2E"/>
                          </a:solidFill>
                          <a:latin typeface="Calibri"/>
                        </a:rPr>
                        <a:t>72.2</a:t>
                      </a:r>
                      <a:endParaRPr sz="1100"/>
                    </a:p>
                  </a:txBody>
                  <a:tcPr marL="47625" marR="38100" marT="19050" marB="19050" anchor="ctr">
                    <a:solidFill>
                      <a:srgbClr val="F5F8FA"/>
                    </a:solidFill>
                  </a:tcPr>
                </a:tc>
                <a:tc>
                  <a:txBody>
                    <a:bodyPr/>
                    <a:lstStyle/>
                    <a:p>
                      <a:pPr algn="l"/>
                      <a:r>
                        <a:rPr sz="1100" b="0">
                          <a:solidFill>
                            <a:srgbClr val="2E2E2E"/>
                          </a:solidFill>
                          <a:latin typeface="Calibri"/>
                        </a:rPr>
                        <a:t>75.5</a:t>
                      </a:r>
                      <a:endParaRPr sz="1100"/>
                    </a:p>
                  </a:txBody>
                  <a:tcPr marL="47625" marR="38100" marT="19050" marB="19050" anchor="ctr">
                    <a:solidFill>
                      <a:srgbClr val="F5F8FA"/>
                    </a:solidFill>
                  </a:tcPr>
                </a:tc>
                <a:tc>
                  <a:txBody>
                    <a:bodyPr/>
                    <a:lstStyle/>
                    <a:p>
                      <a:pPr algn="l"/>
                      <a:r>
                        <a:rPr sz="1100" b="0">
                          <a:solidFill>
                            <a:srgbClr val="2E2E2E"/>
                          </a:solidFill>
                          <a:latin typeface="Calibri"/>
                        </a:rPr>
                        <a:t>78.8</a:t>
                      </a:r>
                      <a:endParaRPr sz="1100"/>
                    </a:p>
                  </a:txBody>
                  <a:tcPr marL="47625" marR="38100" marT="19050" marB="19050" anchor="ctr">
                    <a:solidFill>
                      <a:srgbClr val="F5F8FA"/>
                    </a:solidFill>
                  </a:tcPr>
                </a:tc>
                <a:tc>
                  <a:txBody>
                    <a:bodyPr/>
                    <a:lstStyle/>
                    <a:p>
                      <a:pPr algn="l"/>
                      <a:r>
                        <a:rPr sz="1100" b="0">
                          <a:solidFill>
                            <a:srgbClr val="2E2E2E"/>
                          </a:solidFill>
                          <a:latin typeface="Calibri"/>
                        </a:rPr>
                        <a:t>82.5</a:t>
                      </a:r>
                      <a:endParaRPr sz="1100"/>
                    </a:p>
                  </a:txBody>
                  <a:tcPr marL="47625" marR="38100" marT="19050" marB="19050" anchor="ctr">
                    <a:solidFill>
                      <a:srgbClr val="F5F8FA"/>
                    </a:solidFill>
                  </a:tcPr>
                </a:tc>
                <a:tc>
                  <a:txBody>
                    <a:bodyPr/>
                    <a:lstStyle/>
                    <a:p>
                      <a:pPr algn="l"/>
                      <a:r>
                        <a:rPr sz="1100" b="0">
                          <a:solidFill>
                            <a:srgbClr val="2E2E2E"/>
                          </a:solidFill>
                          <a:latin typeface="Calibri"/>
                        </a:rPr>
                        <a:t>86.4</a:t>
                      </a:r>
                      <a:endParaRPr sz="1100"/>
                    </a:p>
                  </a:txBody>
                  <a:tcPr marL="47625" marR="38100" marT="19050" marB="19050" anchor="ctr">
                    <a:solidFill>
                      <a:srgbClr val="F5F8FA"/>
                    </a:solidFill>
                  </a:tcPr>
                </a:tc>
                <a:tc>
                  <a:txBody>
                    <a:bodyPr/>
                    <a:lstStyle/>
                    <a:p>
                      <a:pPr algn="l"/>
                      <a:r>
                        <a:rPr sz="1100" b="0">
                          <a:solidFill>
                            <a:srgbClr val="2E2E2E"/>
                          </a:solidFill>
                          <a:latin typeface="Calibri"/>
                        </a:rPr>
                        <a:t>90.3</a:t>
                      </a:r>
                      <a:endParaRPr sz="1100"/>
                    </a:p>
                  </a:txBody>
                  <a:tcPr marL="47625" marR="38100" marT="19050" marB="19050" anchor="ctr">
                    <a:solidFill>
                      <a:srgbClr val="F5F8FA"/>
                    </a:solidFill>
                  </a:tcPr>
                </a:tc>
                <a:tc>
                  <a:txBody>
                    <a:bodyPr/>
                    <a:lstStyle/>
                    <a:p>
                      <a:pPr algn="l"/>
                      <a:r>
                        <a:rPr sz="1100" b="0">
                          <a:solidFill>
                            <a:srgbClr val="2E2E2E"/>
                          </a:solidFill>
                          <a:latin typeface="Calibri"/>
                        </a:rPr>
                        <a:t>94.3</a:t>
                      </a:r>
                      <a:endParaRPr sz="1100"/>
                    </a:p>
                  </a:txBody>
                  <a:tcPr marL="47625" marR="38100" marT="19050" marB="19050" anchor="ctr">
                    <a:solidFill>
                      <a:srgbClr val="F5F8FA"/>
                    </a:solidFill>
                  </a:tcPr>
                </a:tc>
                <a:tc>
                  <a:txBody>
                    <a:bodyPr/>
                    <a:lstStyle/>
                    <a:p>
                      <a:pPr algn="l"/>
                      <a:r>
                        <a:rPr sz="1100" b="0">
                          <a:solidFill>
                            <a:srgbClr val="2E2E2E"/>
                          </a:solidFill>
                          <a:latin typeface="Calibri"/>
                        </a:rPr>
                        <a:t>4.4%</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15979">
                <a:tc>
                  <a:txBody>
                    <a:bodyPr/>
                    <a:lstStyle/>
                    <a:p>
                      <a:pPr algn="l"/>
                      <a:r>
                        <a:rPr sz="1100" b="1">
                          <a:solidFill>
                            <a:srgbClr val="2E2E2E"/>
                          </a:solidFill>
                          <a:latin typeface="Calibri"/>
                        </a:rPr>
                        <a:t>Choline</a:t>
                      </a:r>
                      <a:endParaRPr sz="1100"/>
                    </a:p>
                  </a:txBody>
                  <a:tcPr marL="47625" marR="38100" marT="19050" marB="19050" anchor="ctr">
                    <a:solidFill>
                      <a:srgbClr val="FFFFFF"/>
                    </a:solidFill>
                  </a:tcPr>
                </a:tc>
                <a:tc>
                  <a:txBody>
                    <a:bodyPr/>
                    <a:lstStyle/>
                    <a:p>
                      <a:pPr algn="l"/>
                      <a:r>
                        <a:rPr sz="1100" b="0">
                          <a:solidFill>
                            <a:srgbClr val="2E2E2E"/>
                          </a:solidFill>
                          <a:latin typeface="Calibri"/>
                        </a:rPr>
                        <a:t>26.1</a:t>
                      </a:r>
                      <a:endParaRPr sz="1100"/>
                    </a:p>
                  </a:txBody>
                  <a:tcPr marL="47625" marR="38100" marT="19050" marB="19050" anchor="ctr">
                    <a:solidFill>
                      <a:srgbClr val="FFFFFF"/>
                    </a:solidFill>
                  </a:tcPr>
                </a:tc>
                <a:tc>
                  <a:txBody>
                    <a:bodyPr/>
                    <a:lstStyle/>
                    <a:p>
                      <a:pPr algn="l"/>
                      <a:r>
                        <a:rPr sz="1100" b="0">
                          <a:solidFill>
                            <a:srgbClr val="2E2E2E"/>
                          </a:solidFill>
                          <a:latin typeface="Calibri"/>
                        </a:rPr>
                        <a:t>28.3</a:t>
                      </a:r>
                      <a:endParaRPr sz="1100"/>
                    </a:p>
                  </a:txBody>
                  <a:tcPr marL="47625" marR="38100" marT="19050" marB="19050" anchor="ctr">
                    <a:solidFill>
                      <a:srgbClr val="FFFFFF"/>
                    </a:solidFill>
                  </a:tcPr>
                </a:tc>
                <a:tc>
                  <a:txBody>
                    <a:bodyPr/>
                    <a:lstStyle/>
                    <a:p>
                      <a:pPr algn="l"/>
                      <a:r>
                        <a:rPr sz="1100" b="0">
                          <a:solidFill>
                            <a:srgbClr val="2E2E2E"/>
                          </a:solidFill>
                          <a:latin typeface="Calibri"/>
                        </a:rPr>
                        <a:t>30.7</a:t>
                      </a:r>
                      <a:endParaRPr sz="1100"/>
                    </a:p>
                  </a:txBody>
                  <a:tcPr marL="47625" marR="38100" marT="19050" marB="19050" anchor="ctr">
                    <a:solidFill>
                      <a:srgbClr val="FFFFFF"/>
                    </a:solidFill>
                  </a:tcPr>
                </a:tc>
                <a:tc>
                  <a:txBody>
                    <a:bodyPr/>
                    <a:lstStyle/>
                    <a:p>
                      <a:pPr algn="l"/>
                      <a:r>
                        <a:rPr sz="1100" b="0">
                          <a:solidFill>
                            <a:srgbClr val="2E2E2E"/>
                          </a:solidFill>
                          <a:latin typeface="Calibri"/>
                        </a:rPr>
                        <a:t>33.3</a:t>
                      </a:r>
                      <a:endParaRPr sz="1100"/>
                    </a:p>
                  </a:txBody>
                  <a:tcPr marL="47625" marR="38100" marT="19050" marB="19050" anchor="ctr">
                    <a:solidFill>
                      <a:srgbClr val="FFFFFF"/>
                    </a:solidFill>
                  </a:tcPr>
                </a:tc>
                <a:tc>
                  <a:txBody>
                    <a:bodyPr/>
                    <a:lstStyle/>
                    <a:p>
                      <a:pPr algn="l"/>
                      <a:r>
                        <a:rPr sz="1100" b="0">
                          <a:solidFill>
                            <a:srgbClr val="2E2E2E"/>
                          </a:solidFill>
                          <a:latin typeface="Calibri"/>
                        </a:rPr>
                        <a:t>36.2</a:t>
                      </a:r>
                      <a:endParaRPr sz="1100"/>
                    </a:p>
                  </a:txBody>
                  <a:tcPr marL="47625" marR="38100" marT="19050" marB="19050" anchor="ctr">
                    <a:solidFill>
                      <a:srgbClr val="FFFFFF"/>
                    </a:solidFill>
                  </a:tcPr>
                </a:tc>
                <a:tc>
                  <a:txBody>
                    <a:bodyPr/>
                    <a:lstStyle/>
                    <a:p>
                      <a:pPr algn="l"/>
                      <a:r>
                        <a:rPr sz="1100" b="0">
                          <a:solidFill>
                            <a:srgbClr val="2E2E2E"/>
                          </a:solidFill>
                          <a:latin typeface="Calibri"/>
                        </a:rPr>
                        <a:t>39.5</a:t>
                      </a:r>
                      <a:endParaRPr sz="1100"/>
                    </a:p>
                  </a:txBody>
                  <a:tcPr marL="47625" marR="38100" marT="19050" marB="19050" anchor="ctr">
                    <a:solidFill>
                      <a:srgbClr val="FFFFFF"/>
                    </a:solidFill>
                  </a:tcPr>
                </a:tc>
                <a:tc>
                  <a:txBody>
                    <a:bodyPr/>
                    <a:lstStyle/>
                    <a:p>
                      <a:pPr algn="l"/>
                      <a:r>
                        <a:rPr sz="1100" b="0">
                          <a:solidFill>
                            <a:srgbClr val="2E2E2E"/>
                          </a:solidFill>
                          <a:latin typeface="Calibri"/>
                        </a:rPr>
                        <a:t>43.3</a:t>
                      </a:r>
                      <a:endParaRPr sz="1100"/>
                    </a:p>
                  </a:txBody>
                  <a:tcPr marL="47625" marR="38100" marT="19050" marB="19050" anchor="ctr">
                    <a:solidFill>
                      <a:srgbClr val="FFFFFF"/>
                    </a:solidFill>
                  </a:tcPr>
                </a:tc>
                <a:tc>
                  <a:txBody>
                    <a:bodyPr/>
                    <a:lstStyle/>
                    <a:p>
                      <a:pPr algn="l"/>
                      <a:r>
                        <a:rPr sz="1100" b="0">
                          <a:solidFill>
                            <a:srgbClr val="2E2E2E"/>
                          </a:solidFill>
                          <a:latin typeface="Calibri"/>
                        </a:rPr>
                        <a:t>47.7</a:t>
                      </a:r>
                      <a:endParaRPr sz="1100"/>
                    </a:p>
                  </a:txBody>
                  <a:tcPr marL="47625" marR="38100" marT="19050" marB="19050" anchor="ctr">
                    <a:solidFill>
                      <a:srgbClr val="FFFFFF"/>
                    </a:solidFill>
                  </a:tcPr>
                </a:tc>
                <a:tc>
                  <a:txBody>
                    <a:bodyPr/>
                    <a:lstStyle/>
                    <a:p>
                      <a:pPr algn="l"/>
                      <a:r>
                        <a:rPr sz="1100" b="0">
                          <a:solidFill>
                            <a:srgbClr val="2E2E2E"/>
                          </a:solidFill>
                          <a:latin typeface="Calibri"/>
                        </a:rPr>
                        <a:t>52.8</a:t>
                      </a:r>
                      <a:endParaRPr sz="1100"/>
                    </a:p>
                  </a:txBody>
                  <a:tcPr marL="47625" marR="38100" marT="19050" marB="19050" anchor="ctr">
                    <a:solidFill>
                      <a:srgbClr val="FFFFFF"/>
                    </a:solidFill>
                  </a:tcPr>
                </a:tc>
                <a:tc>
                  <a:txBody>
                    <a:bodyPr/>
                    <a:lstStyle/>
                    <a:p>
                      <a:pPr algn="l"/>
                      <a:r>
                        <a:rPr sz="1100" b="0">
                          <a:solidFill>
                            <a:srgbClr val="2E2E2E"/>
                          </a:solidFill>
                          <a:latin typeface="Calibri"/>
                        </a:rPr>
                        <a:t>59.0</a:t>
                      </a:r>
                      <a:endParaRPr sz="1100"/>
                    </a:p>
                  </a:txBody>
                  <a:tcPr marL="47625" marR="38100" marT="19050" marB="19050" anchor="ctr">
                    <a:solidFill>
                      <a:srgbClr val="FFFFFF"/>
                    </a:solidFill>
                  </a:tcPr>
                </a:tc>
                <a:tc>
                  <a:txBody>
                    <a:bodyPr/>
                    <a:lstStyle/>
                    <a:p>
                      <a:pPr algn="l"/>
                      <a:r>
                        <a:rPr sz="1100" b="0">
                          <a:solidFill>
                            <a:srgbClr val="2E2E2E"/>
                          </a:solidFill>
                          <a:latin typeface="Calibri"/>
                        </a:rPr>
                        <a:t>66.3</a:t>
                      </a:r>
                      <a:endParaRPr sz="1100"/>
                    </a:p>
                  </a:txBody>
                  <a:tcPr marL="47625" marR="38100" marT="19050" marB="19050" anchor="ctr">
                    <a:solidFill>
                      <a:srgbClr val="FFFFFF"/>
                    </a:solidFill>
                  </a:tcPr>
                </a:tc>
                <a:tc>
                  <a:txBody>
                    <a:bodyPr/>
                    <a:lstStyle/>
                    <a:p>
                      <a:pPr algn="l"/>
                      <a:r>
                        <a:rPr sz="1100" b="0">
                          <a:solidFill>
                            <a:srgbClr val="2E2E2E"/>
                          </a:solidFill>
                          <a:latin typeface="Calibri"/>
                        </a:rPr>
                        <a:t>75.0</a:t>
                      </a:r>
                      <a:endParaRPr sz="1100"/>
                    </a:p>
                  </a:txBody>
                  <a:tcPr marL="47625" marR="38100" marT="19050" marB="19050" anchor="ctr">
                    <a:solidFill>
                      <a:srgbClr val="FFFFFF"/>
                    </a:solidFill>
                  </a:tcPr>
                </a:tc>
                <a:tc>
                  <a:txBody>
                    <a:bodyPr/>
                    <a:lstStyle/>
                    <a:p>
                      <a:pPr algn="l"/>
                      <a:r>
                        <a:rPr sz="1100" b="0">
                          <a:solidFill>
                            <a:srgbClr val="2E2E2E"/>
                          </a:solidFill>
                          <a:latin typeface="Calibri"/>
                        </a:rPr>
                        <a:t>85.1</a:t>
                      </a:r>
                      <a:endParaRPr sz="1100"/>
                    </a:p>
                  </a:txBody>
                  <a:tcPr marL="47625" marR="38100" marT="19050" marB="19050" anchor="ctr">
                    <a:solidFill>
                      <a:srgbClr val="FFFFFF"/>
                    </a:solidFill>
                  </a:tcPr>
                </a:tc>
                <a:tc>
                  <a:txBody>
                    <a:bodyPr/>
                    <a:lstStyle/>
                    <a:p>
                      <a:pPr algn="l"/>
                      <a:r>
                        <a:rPr sz="1100" b="0">
                          <a:solidFill>
                            <a:srgbClr val="2E2E2E"/>
                          </a:solidFill>
                          <a:latin typeface="Calibri"/>
                        </a:rPr>
                        <a:t>96.6</a:t>
                      </a:r>
                      <a:endParaRPr sz="1100"/>
                    </a:p>
                  </a:txBody>
                  <a:tcPr marL="47625" marR="38100" marT="19050" marB="19050" anchor="ctr">
                    <a:solidFill>
                      <a:srgbClr val="FFFFFF"/>
                    </a:solidFill>
                  </a:tcPr>
                </a:tc>
                <a:tc>
                  <a:txBody>
                    <a:bodyPr/>
                    <a:lstStyle/>
                    <a:p>
                      <a:pPr algn="l"/>
                      <a:r>
                        <a:rPr sz="1100" b="0">
                          <a:solidFill>
                            <a:srgbClr val="2E2E2E"/>
                          </a:solidFill>
                          <a:latin typeface="Calibri"/>
                        </a:rPr>
                        <a:t>109.2</a:t>
                      </a:r>
                      <a:endParaRPr sz="1100"/>
                    </a:p>
                  </a:txBody>
                  <a:tcPr marL="47625" marR="38100" marT="19050" marB="19050" anchor="ctr">
                    <a:solidFill>
                      <a:srgbClr val="FFFFFF"/>
                    </a:solidFill>
                  </a:tcPr>
                </a:tc>
                <a:tc>
                  <a:txBody>
                    <a:bodyPr/>
                    <a:lstStyle/>
                    <a:p>
                      <a:pPr algn="l"/>
                      <a:r>
                        <a:rPr sz="1100" b="0">
                          <a:solidFill>
                            <a:srgbClr val="2E2E2E"/>
                          </a:solidFill>
                          <a:latin typeface="Calibri"/>
                        </a:rPr>
                        <a:t>123.2</a:t>
                      </a:r>
                      <a:endParaRPr sz="1100"/>
                    </a:p>
                  </a:txBody>
                  <a:tcPr marL="47625" marR="38100" marT="19050" marB="19050" anchor="ctr">
                    <a:solidFill>
                      <a:srgbClr val="FFFFFF"/>
                    </a:solidFill>
                  </a:tcPr>
                </a:tc>
                <a:tc>
                  <a:txBody>
                    <a:bodyPr/>
                    <a:lstStyle/>
                    <a:p>
                      <a:pPr algn="l"/>
                      <a:r>
                        <a:rPr sz="1100" b="0">
                          <a:solidFill>
                            <a:srgbClr val="2E2E2E"/>
                          </a:solidFill>
                          <a:latin typeface="Calibri"/>
                        </a:rPr>
                        <a:t>12.0%</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15979">
                <a:tc>
                  <a:txBody>
                    <a:bodyPr/>
                    <a:lstStyle/>
                    <a:p>
                      <a:pPr algn="l"/>
                      <a:r>
                        <a:rPr sz="1100" b="1">
                          <a:solidFill>
                            <a:srgbClr val="2E2E2E"/>
                          </a:solidFill>
                          <a:latin typeface="Calibri"/>
                        </a:rPr>
                        <a:t>Calcium &amp; Mineral</a:t>
                      </a:r>
                      <a:endParaRPr sz="1100"/>
                    </a:p>
                  </a:txBody>
                  <a:tcPr marL="47625" marR="38100" marT="19050" marB="19050" anchor="ctr">
                    <a:solidFill>
                      <a:srgbClr val="F5F8FA"/>
                    </a:solidFill>
                  </a:tcPr>
                </a:tc>
                <a:tc>
                  <a:txBody>
                    <a:bodyPr/>
                    <a:lstStyle/>
                    <a:p>
                      <a:pPr algn="l"/>
                      <a:r>
                        <a:rPr sz="1100" b="0">
                          <a:solidFill>
                            <a:srgbClr val="2E2E2E"/>
                          </a:solidFill>
                          <a:latin typeface="Calibri"/>
                        </a:rPr>
                        <a:t>44.1</a:t>
                      </a:r>
                      <a:endParaRPr sz="1100"/>
                    </a:p>
                  </a:txBody>
                  <a:tcPr marL="47625" marR="38100" marT="19050" marB="19050" anchor="ctr">
                    <a:solidFill>
                      <a:srgbClr val="F5F8FA"/>
                    </a:solidFill>
                  </a:tcPr>
                </a:tc>
                <a:tc>
                  <a:txBody>
                    <a:bodyPr/>
                    <a:lstStyle/>
                    <a:p>
                      <a:pPr algn="l"/>
                      <a:r>
                        <a:rPr sz="1100" b="0">
                          <a:solidFill>
                            <a:srgbClr val="2E2E2E"/>
                          </a:solidFill>
                          <a:latin typeface="Calibri"/>
                        </a:rPr>
                        <a:t>45.3</a:t>
                      </a:r>
                      <a:endParaRPr sz="1100"/>
                    </a:p>
                  </a:txBody>
                  <a:tcPr marL="47625" marR="38100" marT="19050" marB="19050" anchor="ctr">
                    <a:solidFill>
                      <a:srgbClr val="F5F8FA"/>
                    </a:solidFill>
                  </a:tcPr>
                </a:tc>
                <a:tc>
                  <a:txBody>
                    <a:bodyPr/>
                    <a:lstStyle/>
                    <a:p>
                      <a:pPr algn="l"/>
                      <a:r>
                        <a:rPr sz="1100" b="0">
                          <a:solidFill>
                            <a:srgbClr val="2E2E2E"/>
                          </a:solidFill>
                          <a:latin typeface="Calibri"/>
                        </a:rPr>
                        <a:t>46.4</a:t>
                      </a:r>
                      <a:endParaRPr sz="1100"/>
                    </a:p>
                  </a:txBody>
                  <a:tcPr marL="47625" marR="38100" marT="19050" marB="19050" anchor="ctr">
                    <a:solidFill>
                      <a:srgbClr val="F5F8FA"/>
                    </a:solidFill>
                  </a:tcPr>
                </a:tc>
                <a:tc>
                  <a:txBody>
                    <a:bodyPr/>
                    <a:lstStyle/>
                    <a:p>
                      <a:pPr algn="l"/>
                      <a:r>
                        <a:rPr sz="1100" b="0">
                          <a:solidFill>
                            <a:srgbClr val="2E2E2E"/>
                          </a:solidFill>
                          <a:latin typeface="Calibri"/>
                        </a:rPr>
                        <a:t>47.5</a:t>
                      </a:r>
                      <a:endParaRPr sz="1100"/>
                    </a:p>
                  </a:txBody>
                  <a:tcPr marL="47625" marR="38100" marT="19050" marB="19050" anchor="ctr">
                    <a:solidFill>
                      <a:srgbClr val="F5F8FA"/>
                    </a:solidFill>
                  </a:tcPr>
                </a:tc>
                <a:tc>
                  <a:txBody>
                    <a:bodyPr/>
                    <a:lstStyle/>
                    <a:p>
                      <a:pPr algn="l"/>
                      <a:r>
                        <a:rPr sz="1100" b="0">
                          <a:solidFill>
                            <a:srgbClr val="2E2E2E"/>
                          </a:solidFill>
                          <a:latin typeface="Calibri"/>
                        </a:rPr>
                        <a:t>48.6</a:t>
                      </a:r>
                      <a:endParaRPr sz="1100"/>
                    </a:p>
                  </a:txBody>
                  <a:tcPr marL="47625" marR="38100" marT="19050" marB="19050" anchor="ctr">
                    <a:solidFill>
                      <a:srgbClr val="F5F8FA"/>
                    </a:solidFill>
                  </a:tcPr>
                </a:tc>
                <a:tc>
                  <a:txBody>
                    <a:bodyPr/>
                    <a:lstStyle/>
                    <a:p>
                      <a:pPr algn="l"/>
                      <a:r>
                        <a:rPr sz="1100" b="0">
                          <a:solidFill>
                            <a:srgbClr val="2E2E2E"/>
                          </a:solidFill>
                          <a:latin typeface="Calibri"/>
                        </a:rPr>
                        <a:t>49.7</a:t>
                      </a:r>
                      <a:endParaRPr sz="1100"/>
                    </a:p>
                  </a:txBody>
                  <a:tcPr marL="47625" marR="38100" marT="19050" marB="19050" anchor="ctr">
                    <a:solidFill>
                      <a:srgbClr val="F5F8FA"/>
                    </a:solidFill>
                  </a:tcPr>
                </a:tc>
                <a:tc>
                  <a:txBody>
                    <a:bodyPr/>
                    <a:lstStyle/>
                    <a:p>
                      <a:pPr algn="l"/>
                      <a:r>
                        <a:rPr sz="1100" b="0">
                          <a:solidFill>
                            <a:srgbClr val="2E2E2E"/>
                          </a:solidFill>
                          <a:latin typeface="Calibri"/>
                        </a:rPr>
                        <a:t>50.8</a:t>
                      </a:r>
                      <a:endParaRPr sz="1100"/>
                    </a:p>
                  </a:txBody>
                  <a:tcPr marL="47625" marR="38100" marT="19050" marB="19050" anchor="ctr">
                    <a:solidFill>
                      <a:srgbClr val="F5F8FA"/>
                    </a:solidFill>
                  </a:tcPr>
                </a:tc>
                <a:tc>
                  <a:txBody>
                    <a:bodyPr/>
                    <a:lstStyle/>
                    <a:p>
                      <a:pPr algn="l"/>
                      <a:r>
                        <a:rPr sz="1100" b="0">
                          <a:solidFill>
                            <a:srgbClr val="2E2E2E"/>
                          </a:solidFill>
                          <a:latin typeface="Calibri"/>
                        </a:rPr>
                        <a:t>52.1</a:t>
                      </a:r>
                      <a:endParaRPr sz="1100"/>
                    </a:p>
                  </a:txBody>
                  <a:tcPr marL="47625" marR="38100" marT="19050" marB="19050" anchor="ctr">
                    <a:solidFill>
                      <a:srgbClr val="F5F8FA"/>
                    </a:solidFill>
                  </a:tcPr>
                </a:tc>
                <a:tc>
                  <a:txBody>
                    <a:bodyPr/>
                    <a:lstStyle/>
                    <a:p>
                      <a:pPr algn="l"/>
                      <a:r>
                        <a:rPr sz="1100" b="0">
                          <a:solidFill>
                            <a:srgbClr val="2E2E2E"/>
                          </a:solidFill>
                          <a:latin typeface="Calibri"/>
                        </a:rPr>
                        <a:t>53.5</a:t>
                      </a:r>
                      <a:endParaRPr sz="1100"/>
                    </a:p>
                  </a:txBody>
                  <a:tcPr marL="47625" marR="38100" marT="19050" marB="19050" anchor="ctr">
                    <a:solidFill>
                      <a:srgbClr val="F5F8FA"/>
                    </a:solidFill>
                  </a:tcPr>
                </a:tc>
                <a:tc>
                  <a:txBody>
                    <a:bodyPr/>
                    <a:lstStyle/>
                    <a:p>
                      <a:pPr algn="l"/>
                      <a:r>
                        <a:rPr sz="1100" b="0">
                          <a:solidFill>
                            <a:srgbClr val="2E2E2E"/>
                          </a:solidFill>
                          <a:latin typeface="Calibri"/>
                        </a:rPr>
                        <a:t>55.1</a:t>
                      </a:r>
                      <a:endParaRPr sz="1100"/>
                    </a:p>
                  </a:txBody>
                  <a:tcPr marL="47625" marR="38100" marT="19050" marB="19050" anchor="ctr">
                    <a:solidFill>
                      <a:srgbClr val="F5F8FA"/>
                    </a:solidFill>
                  </a:tcPr>
                </a:tc>
                <a:tc>
                  <a:txBody>
                    <a:bodyPr/>
                    <a:lstStyle/>
                    <a:p>
                      <a:pPr algn="l"/>
                      <a:r>
                        <a:rPr sz="1100" b="0">
                          <a:solidFill>
                            <a:srgbClr val="2E2E2E"/>
                          </a:solidFill>
                          <a:latin typeface="Calibri"/>
                        </a:rPr>
                        <a:t>56.7</a:t>
                      </a:r>
                      <a:endParaRPr sz="1100"/>
                    </a:p>
                  </a:txBody>
                  <a:tcPr marL="47625" marR="38100" marT="19050" marB="19050" anchor="ctr">
                    <a:solidFill>
                      <a:srgbClr val="F5F8FA"/>
                    </a:solidFill>
                  </a:tcPr>
                </a:tc>
                <a:tc>
                  <a:txBody>
                    <a:bodyPr/>
                    <a:lstStyle/>
                    <a:p>
                      <a:pPr algn="l"/>
                      <a:r>
                        <a:rPr sz="1100" b="0">
                          <a:solidFill>
                            <a:srgbClr val="2E2E2E"/>
                          </a:solidFill>
                          <a:latin typeface="Calibri"/>
                        </a:rPr>
                        <a:t>58.5</a:t>
                      </a:r>
                      <a:endParaRPr sz="1100"/>
                    </a:p>
                  </a:txBody>
                  <a:tcPr marL="47625" marR="38100" marT="19050" marB="19050" anchor="ctr">
                    <a:solidFill>
                      <a:srgbClr val="F5F8FA"/>
                    </a:solidFill>
                  </a:tcPr>
                </a:tc>
                <a:tc>
                  <a:txBody>
                    <a:bodyPr/>
                    <a:lstStyle/>
                    <a:p>
                      <a:pPr algn="l"/>
                      <a:r>
                        <a:rPr sz="1100" b="0">
                          <a:solidFill>
                            <a:srgbClr val="2E2E2E"/>
                          </a:solidFill>
                          <a:latin typeface="Calibri"/>
                        </a:rPr>
                        <a:t>60.3</a:t>
                      </a:r>
                      <a:endParaRPr sz="1100"/>
                    </a:p>
                  </a:txBody>
                  <a:tcPr marL="47625" marR="38100" marT="19050" marB="19050" anchor="ctr">
                    <a:solidFill>
                      <a:srgbClr val="F5F8FA"/>
                    </a:solidFill>
                  </a:tcPr>
                </a:tc>
                <a:tc>
                  <a:txBody>
                    <a:bodyPr/>
                    <a:lstStyle/>
                    <a:p>
                      <a:pPr algn="l"/>
                      <a:r>
                        <a:rPr sz="1100" b="0">
                          <a:solidFill>
                            <a:srgbClr val="2E2E2E"/>
                          </a:solidFill>
                          <a:latin typeface="Calibri"/>
                        </a:rPr>
                        <a:t>62.2</a:t>
                      </a:r>
                      <a:endParaRPr sz="1100"/>
                    </a:p>
                  </a:txBody>
                  <a:tcPr marL="47625" marR="38100" marT="19050" marB="19050" anchor="ctr">
                    <a:solidFill>
                      <a:srgbClr val="F5F8FA"/>
                    </a:solidFill>
                  </a:tcPr>
                </a:tc>
                <a:tc>
                  <a:txBody>
                    <a:bodyPr/>
                    <a:lstStyle/>
                    <a:p>
                      <a:pPr algn="l"/>
                      <a:r>
                        <a:rPr sz="1100" b="0">
                          <a:solidFill>
                            <a:srgbClr val="2E2E2E"/>
                          </a:solidFill>
                          <a:latin typeface="Calibri"/>
                        </a:rPr>
                        <a:t>64.2</a:t>
                      </a:r>
                      <a:endParaRPr sz="1100"/>
                    </a:p>
                  </a:txBody>
                  <a:tcPr marL="47625" marR="38100" marT="19050" marB="19050" anchor="ctr">
                    <a:solidFill>
                      <a:srgbClr val="F5F8FA"/>
                    </a:solidFill>
                  </a:tcPr>
                </a:tc>
                <a:tc>
                  <a:txBody>
                    <a:bodyPr/>
                    <a:lstStyle/>
                    <a:p>
                      <a:pPr algn="l"/>
                      <a:r>
                        <a:rPr sz="1100" b="0">
                          <a:solidFill>
                            <a:srgbClr val="2E2E2E"/>
                          </a:solidFill>
                          <a:latin typeface="Calibri"/>
                        </a:rPr>
                        <a:t>66.1</a:t>
                      </a:r>
                      <a:endParaRPr sz="1100"/>
                    </a:p>
                  </a:txBody>
                  <a:tcPr marL="47625" marR="38100" marT="19050" marB="19050" anchor="ctr">
                    <a:solidFill>
                      <a:srgbClr val="F5F8FA"/>
                    </a:solidFill>
                  </a:tcPr>
                </a:tc>
                <a:tc>
                  <a:txBody>
                    <a:bodyPr/>
                    <a:lstStyle/>
                    <a:p>
                      <a:pPr algn="l"/>
                      <a:r>
                        <a:rPr sz="1100" b="0">
                          <a:solidFill>
                            <a:srgbClr val="2E2E2E"/>
                          </a:solidFill>
                          <a:latin typeface="Calibri"/>
                        </a:rPr>
                        <a:t>2.9%</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r h="215979">
                <a:tc>
                  <a:txBody>
                    <a:bodyPr/>
                    <a:lstStyle/>
                    <a:p>
                      <a:pPr algn="l"/>
                      <a:r>
                        <a:rPr sz="1100" b="1">
                          <a:solidFill>
                            <a:srgbClr val="2E2E2E"/>
                          </a:solidFill>
                          <a:latin typeface="Calibri"/>
                        </a:rPr>
                        <a:t>Probiotic</a:t>
                      </a:r>
                      <a:endParaRPr sz="1100"/>
                    </a:p>
                  </a:txBody>
                  <a:tcPr marL="47625" marR="38100" marT="19050" marB="19050" anchor="ctr">
                    <a:solidFill>
                      <a:srgbClr val="FFFFFF"/>
                    </a:solidFill>
                  </a:tcPr>
                </a:tc>
                <a:tc>
                  <a:txBody>
                    <a:bodyPr/>
                    <a:lstStyle/>
                    <a:p>
                      <a:pPr algn="l"/>
                      <a:r>
                        <a:rPr sz="1100" b="0">
                          <a:solidFill>
                            <a:srgbClr val="2E2E2E"/>
                          </a:solidFill>
                          <a:latin typeface="Calibri"/>
                        </a:rPr>
                        <a:t>26.4</a:t>
                      </a:r>
                      <a:endParaRPr sz="1100"/>
                    </a:p>
                  </a:txBody>
                  <a:tcPr marL="47625" marR="38100" marT="19050" marB="19050" anchor="ctr">
                    <a:solidFill>
                      <a:srgbClr val="FFFFFF"/>
                    </a:solidFill>
                  </a:tcPr>
                </a:tc>
                <a:tc>
                  <a:txBody>
                    <a:bodyPr/>
                    <a:lstStyle/>
                    <a:p>
                      <a:pPr algn="l"/>
                      <a:r>
                        <a:rPr sz="1100" b="0">
                          <a:solidFill>
                            <a:srgbClr val="2E2E2E"/>
                          </a:solidFill>
                          <a:latin typeface="Calibri"/>
                        </a:rPr>
                        <a:t>27.9</a:t>
                      </a:r>
                      <a:endParaRPr sz="1100"/>
                    </a:p>
                  </a:txBody>
                  <a:tcPr marL="47625" marR="38100" marT="19050" marB="19050" anchor="ctr">
                    <a:solidFill>
                      <a:srgbClr val="FFFFFF"/>
                    </a:solidFill>
                  </a:tcPr>
                </a:tc>
                <a:tc>
                  <a:txBody>
                    <a:bodyPr/>
                    <a:lstStyle/>
                    <a:p>
                      <a:pPr algn="l"/>
                      <a:r>
                        <a:rPr sz="1100" b="0">
                          <a:solidFill>
                            <a:srgbClr val="2E2E2E"/>
                          </a:solidFill>
                          <a:latin typeface="Calibri"/>
                        </a:rPr>
                        <a:t>29.4</a:t>
                      </a:r>
                      <a:endParaRPr sz="1100"/>
                    </a:p>
                  </a:txBody>
                  <a:tcPr marL="47625" marR="38100" marT="19050" marB="19050" anchor="ctr">
                    <a:solidFill>
                      <a:srgbClr val="FFFFFF"/>
                    </a:solidFill>
                  </a:tcPr>
                </a:tc>
                <a:tc>
                  <a:txBody>
                    <a:bodyPr/>
                    <a:lstStyle/>
                    <a:p>
                      <a:pPr algn="l"/>
                      <a:r>
                        <a:rPr sz="1100" b="0">
                          <a:solidFill>
                            <a:srgbClr val="2E2E2E"/>
                          </a:solidFill>
                          <a:latin typeface="Calibri"/>
                        </a:rPr>
                        <a:t>30.9</a:t>
                      </a:r>
                      <a:endParaRPr sz="1100"/>
                    </a:p>
                  </a:txBody>
                  <a:tcPr marL="47625" marR="38100" marT="19050" marB="19050" anchor="ctr">
                    <a:solidFill>
                      <a:srgbClr val="FFFFFF"/>
                    </a:solidFill>
                  </a:tcPr>
                </a:tc>
                <a:tc>
                  <a:txBody>
                    <a:bodyPr/>
                    <a:lstStyle/>
                    <a:p>
                      <a:pPr algn="l"/>
                      <a:r>
                        <a:rPr sz="1100" b="0">
                          <a:solidFill>
                            <a:srgbClr val="2E2E2E"/>
                          </a:solidFill>
                          <a:latin typeface="Calibri"/>
                        </a:rPr>
                        <a:t>32.4</a:t>
                      </a:r>
                      <a:endParaRPr sz="1100"/>
                    </a:p>
                  </a:txBody>
                  <a:tcPr marL="47625" marR="38100" marT="19050" marB="19050" anchor="ctr">
                    <a:solidFill>
                      <a:srgbClr val="FFFFFF"/>
                    </a:solidFill>
                  </a:tcPr>
                </a:tc>
                <a:tc>
                  <a:txBody>
                    <a:bodyPr/>
                    <a:lstStyle/>
                    <a:p>
                      <a:pPr algn="l"/>
                      <a:r>
                        <a:rPr sz="1100" b="0">
                          <a:solidFill>
                            <a:srgbClr val="2E2E2E"/>
                          </a:solidFill>
                          <a:latin typeface="Calibri"/>
                        </a:rPr>
                        <a:t>34.2</a:t>
                      </a:r>
                      <a:endParaRPr sz="1100"/>
                    </a:p>
                  </a:txBody>
                  <a:tcPr marL="47625" marR="38100" marT="19050" marB="19050" anchor="ctr">
                    <a:solidFill>
                      <a:srgbClr val="FFFFFF"/>
                    </a:solidFill>
                  </a:tcPr>
                </a:tc>
                <a:tc>
                  <a:txBody>
                    <a:bodyPr/>
                    <a:lstStyle/>
                    <a:p>
                      <a:pPr algn="l"/>
                      <a:r>
                        <a:rPr sz="1100" b="0">
                          <a:solidFill>
                            <a:srgbClr val="2E2E2E"/>
                          </a:solidFill>
                          <a:latin typeface="Calibri"/>
                        </a:rPr>
                        <a:t>36.5</a:t>
                      </a:r>
                      <a:endParaRPr sz="1100"/>
                    </a:p>
                  </a:txBody>
                  <a:tcPr marL="47625" marR="38100" marT="19050" marB="19050" anchor="ctr">
                    <a:solidFill>
                      <a:srgbClr val="FFFFFF"/>
                    </a:solidFill>
                  </a:tcPr>
                </a:tc>
                <a:tc>
                  <a:txBody>
                    <a:bodyPr/>
                    <a:lstStyle/>
                    <a:p>
                      <a:pPr algn="l"/>
                      <a:r>
                        <a:rPr sz="1100" b="0">
                          <a:solidFill>
                            <a:srgbClr val="2E2E2E"/>
                          </a:solidFill>
                          <a:latin typeface="Calibri"/>
                        </a:rPr>
                        <a:t>39.3</a:t>
                      </a:r>
                      <a:endParaRPr sz="1100"/>
                    </a:p>
                  </a:txBody>
                  <a:tcPr marL="47625" marR="38100" marT="19050" marB="19050" anchor="ctr">
                    <a:solidFill>
                      <a:srgbClr val="FFFFFF"/>
                    </a:solidFill>
                  </a:tcPr>
                </a:tc>
                <a:tc>
                  <a:txBody>
                    <a:bodyPr/>
                    <a:lstStyle/>
                    <a:p>
                      <a:pPr algn="l"/>
                      <a:r>
                        <a:rPr sz="1100" b="0">
                          <a:solidFill>
                            <a:srgbClr val="2E2E2E"/>
                          </a:solidFill>
                          <a:latin typeface="Calibri"/>
                        </a:rPr>
                        <a:t>42.7</a:t>
                      </a:r>
                      <a:endParaRPr sz="1100"/>
                    </a:p>
                  </a:txBody>
                  <a:tcPr marL="47625" marR="38100" marT="19050" marB="19050" anchor="ctr">
                    <a:solidFill>
                      <a:srgbClr val="FFFFFF"/>
                    </a:solidFill>
                  </a:tcPr>
                </a:tc>
                <a:tc>
                  <a:txBody>
                    <a:bodyPr/>
                    <a:lstStyle/>
                    <a:p>
                      <a:pPr algn="l"/>
                      <a:r>
                        <a:rPr sz="1100" b="0">
                          <a:solidFill>
                            <a:srgbClr val="2E2E2E"/>
                          </a:solidFill>
                          <a:latin typeface="Calibri"/>
                        </a:rPr>
                        <a:t>46.7</a:t>
                      </a:r>
                      <a:endParaRPr sz="1100"/>
                    </a:p>
                  </a:txBody>
                  <a:tcPr marL="47625" marR="38100" marT="19050" marB="19050" anchor="ctr">
                    <a:solidFill>
                      <a:srgbClr val="FFFFFF"/>
                    </a:solidFill>
                  </a:tcPr>
                </a:tc>
                <a:tc>
                  <a:txBody>
                    <a:bodyPr/>
                    <a:lstStyle/>
                    <a:p>
                      <a:pPr algn="l"/>
                      <a:r>
                        <a:rPr sz="1100" b="0">
                          <a:solidFill>
                            <a:srgbClr val="2E2E2E"/>
                          </a:solidFill>
                          <a:latin typeface="Calibri"/>
                        </a:rPr>
                        <a:t>51.5</a:t>
                      </a:r>
                      <a:endParaRPr sz="1100"/>
                    </a:p>
                  </a:txBody>
                  <a:tcPr marL="47625" marR="38100" marT="19050" marB="19050" anchor="ctr">
                    <a:solidFill>
                      <a:srgbClr val="FFFFFF"/>
                    </a:solidFill>
                  </a:tcPr>
                </a:tc>
                <a:tc>
                  <a:txBody>
                    <a:bodyPr/>
                    <a:lstStyle/>
                    <a:p>
                      <a:pPr algn="l"/>
                      <a:r>
                        <a:rPr sz="1100" b="0">
                          <a:solidFill>
                            <a:srgbClr val="2E2E2E"/>
                          </a:solidFill>
                          <a:latin typeface="Calibri"/>
                        </a:rPr>
                        <a:t>56.9</a:t>
                      </a:r>
                      <a:endParaRPr sz="1100"/>
                    </a:p>
                  </a:txBody>
                  <a:tcPr marL="47625" marR="38100" marT="19050" marB="19050" anchor="ctr">
                    <a:solidFill>
                      <a:srgbClr val="FFFFFF"/>
                    </a:solidFill>
                  </a:tcPr>
                </a:tc>
                <a:tc>
                  <a:txBody>
                    <a:bodyPr/>
                    <a:lstStyle/>
                    <a:p>
                      <a:pPr algn="l"/>
                      <a:r>
                        <a:rPr sz="1100" b="0">
                          <a:solidFill>
                            <a:srgbClr val="2E2E2E"/>
                          </a:solidFill>
                          <a:latin typeface="Calibri"/>
                        </a:rPr>
                        <a:t>63.0</a:t>
                      </a:r>
                      <a:endParaRPr sz="1100"/>
                    </a:p>
                  </a:txBody>
                  <a:tcPr marL="47625" marR="38100" marT="19050" marB="19050" anchor="ctr">
                    <a:solidFill>
                      <a:srgbClr val="FFFFFF"/>
                    </a:solidFill>
                  </a:tcPr>
                </a:tc>
                <a:tc>
                  <a:txBody>
                    <a:bodyPr/>
                    <a:lstStyle/>
                    <a:p>
                      <a:pPr algn="l"/>
                      <a:r>
                        <a:rPr sz="1100" b="0">
                          <a:solidFill>
                            <a:srgbClr val="2E2E2E"/>
                          </a:solidFill>
                          <a:latin typeface="Calibri"/>
                        </a:rPr>
                        <a:t>69.8</a:t>
                      </a:r>
                      <a:endParaRPr sz="1100"/>
                    </a:p>
                  </a:txBody>
                  <a:tcPr marL="47625" marR="38100" marT="19050" marB="19050" anchor="ctr">
                    <a:solidFill>
                      <a:srgbClr val="FFFFFF"/>
                    </a:solidFill>
                  </a:tcPr>
                </a:tc>
                <a:tc>
                  <a:txBody>
                    <a:bodyPr/>
                    <a:lstStyle/>
                    <a:p>
                      <a:pPr algn="l"/>
                      <a:r>
                        <a:rPr sz="1100" b="0">
                          <a:solidFill>
                            <a:srgbClr val="2E2E2E"/>
                          </a:solidFill>
                          <a:latin typeface="Calibri"/>
                        </a:rPr>
                        <a:t>77.1</a:t>
                      </a:r>
                      <a:endParaRPr sz="1100"/>
                    </a:p>
                  </a:txBody>
                  <a:tcPr marL="47625" marR="38100" marT="19050" marB="19050" anchor="ctr">
                    <a:solidFill>
                      <a:srgbClr val="FFFFFF"/>
                    </a:solidFill>
                  </a:tcPr>
                </a:tc>
                <a:tc>
                  <a:txBody>
                    <a:bodyPr/>
                    <a:lstStyle/>
                    <a:p>
                      <a:pPr algn="l"/>
                      <a:r>
                        <a:rPr sz="1100" b="0">
                          <a:solidFill>
                            <a:srgbClr val="2E2E2E"/>
                          </a:solidFill>
                          <a:latin typeface="Calibri"/>
                        </a:rPr>
                        <a:t>85.0</a:t>
                      </a:r>
                      <a:endParaRPr sz="1100"/>
                    </a:p>
                  </a:txBody>
                  <a:tcPr marL="47625" marR="38100" marT="19050" marB="19050" anchor="ctr">
                    <a:solidFill>
                      <a:srgbClr val="FFFFFF"/>
                    </a:solidFill>
                  </a:tcPr>
                </a:tc>
                <a:tc>
                  <a:txBody>
                    <a:bodyPr/>
                    <a:lstStyle/>
                    <a:p>
                      <a:pPr algn="l"/>
                      <a:r>
                        <a:rPr sz="1100" b="0">
                          <a:solidFill>
                            <a:srgbClr val="2E2E2E"/>
                          </a:solidFill>
                          <a:latin typeface="Calibri"/>
                        </a:rPr>
                        <a:t>9.5%</a:t>
                      </a:r>
                      <a:endParaRPr sz="1100"/>
                    </a:p>
                  </a:txBody>
                  <a:tcPr marL="47625" marR="38100" marT="19050" marB="19050" anchor="ctr">
                    <a:solidFill>
                      <a:srgbClr val="FFFFFF"/>
                    </a:solidFill>
                  </a:tcPr>
                </a:tc>
                <a:extLst>
                  <a:ext uri="{0D108BD9-81ED-4DB2-BD59-A6C34878D82A}">
                    <a16:rowId xmlns:a16="http://schemas.microsoft.com/office/drawing/2014/main" val="10007"/>
                  </a:ext>
                </a:extLst>
              </a:tr>
              <a:tr h="215979">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l"/>
                      <a:r>
                        <a:rPr sz="1100" b="1">
                          <a:solidFill>
                            <a:srgbClr val="2E2E2E"/>
                          </a:solidFill>
                          <a:latin typeface="Calibri"/>
                        </a:rPr>
                        <a:t>795.0</a:t>
                      </a:r>
                      <a:endParaRPr sz="1100"/>
                    </a:p>
                  </a:txBody>
                  <a:tcPr marL="47625" marR="38100" marT="19050" marB="19050" anchor="ctr">
                    <a:solidFill>
                      <a:srgbClr val="E0E8EF"/>
                    </a:solidFill>
                  </a:tcPr>
                </a:tc>
                <a:tc>
                  <a:txBody>
                    <a:bodyPr/>
                    <a:lstStyle/>
                    <a:p>
                      <a:pPr algn="l"/>
                      <a:r>
                        <a:rPr sz="1100" b="1">
                          <a:solidFill>
                            <a:srgbClr val="2E2E2E"/>
                          </a:solidFill>
                          <a:latin typeface="Calibri"/>
                        </a:rPr>
                        <a:t>831.5</a:t>
                      </a:r>
                      <a:endParaRPr sz="1100"/>
                    </a:p>
                  </a:txBody>
                  <a:tcPr marL="47625" marR="38100" marT="19050" marB="19050" anchor="ctr">
                    <a:solidFill>
                      <a:srgbClr val="E0E8EF"/>
                    </a:solidFill>
                  </a:tcPr>
                </a:tc>
                <a:tc>
                  <a:txBody>
                    <a:bodyPr/>
                    <a:lstStyle/>
                    <a:p>
                      <a:pPr algn="l"/>
                      <a:r>
                        <a:rPr sz="1100" b="1">
                          <a:solidFill>
                            <a:srgbClr val="2E2E2E"/>
                          </a:solidFill>
                          <a:latin typeface="Calibri"/>
                        </a:rPr>
                        <a:t>870.0</a:t>
                      </a:r>
                      <a:endParaRPr sz="1100"/>
                    </a:p>
                  </a:txBody>
                  <a:tcPr marL="47625" marR="38100" marT="19050" marB="19050" anchor="ctr">
                    <a:solidFill>
                      <a:srgbClr val="E0E8EF"/>
                    </a:solidFill>
                  </a:tcPr>
                </a:tc>
                <a:tc>
                  <a:txBody>
                    <a:bodyPr/>
                    <a:lstStyle/>
                    <a:p>
                      <a:pPr algn="l"/>
                      <a:r>
                        <a:rPr sz="1100" b="1">
                          <a:solidFill>
                            <a:srgbClr val="2E2E2E"/>
                          </a:solidFill>
                          <a:latin typeface="Calibri"/>
                        </a:rPr>
                        <a:t>910.3</a:t>
                      </a:r>
                      <a:endParaRPr sz="1100"/>
                    </a:p>
                  </a:txBody>
                  <a:tcPr marL="47625" marR="38100" marT="19050" marB="19050" anchor="ctr">
                    <a:solidFill>
                      <a:srgbClr val="E0E8EF"/>
                    </a:solidFill>
                  </a:tcPr>
                </a:tc>
                <a:tc>
                  <a:txBody>
                    <a:bodyPr/>
                    <a:lstStyle/>
                    <a:p>
                      <a:pPr algn="l"/>
                      <a:r>
                        <a:rPr sz="1100" b="1">
                          <a:solidFill>
                            <a:srgbClr val="2E2E2E"/>
                          </a:solidFill>
                          <a:latin typeface="Calibri"/>
                        </a:rPr>
                        <a:t>952.6</a:t>
                      </a:r>
                      <a:endParaRPr sz="1100"/>
                    </a:p>
                  </a:txBody>
                  <a:tcPr marL="47625" marR="38100" marT="19050" marB="19050" anchor="ctr">
                    <a:solidFill>
                      <a:srgbClr val="E0E8EF"/>
                    </a:solidFill>
                  </a:tcPr>
                </a:tc>
                <a:tc>
                  <a:txBody>
                    <a:bodyPr/>
                    <a:lstStyle/>
                    <a:p>
                      <a:pPr algn="l"/>
                      <a:r>
                        <a:rPr sz="1100" b="1">
                          <a:solidFill>
                            <a:srgbClr val="2E2E2E"/>
                          </a:solidFill>
                          <a:latin typeface="Calibri"/>
                        </a:rPr>
                        <a:t>998.2</a:t>
                      </a:r>
                      <a:endParaRPr sz="1100"/>
                    </a:p>
                  </a:txBody>
                  <a:tcPr marL="47625" marR="38100" marT="19050" marB="19050" anchor="ctr">
                    <a:solidFill>
                      <a:srgbClr val="E0E8EF"/>
                    </a:solidFill>
                  </a:tcPr>
                </a:tc>
                <a:tc>
                  <a:txBody>
                    <a:bodyPr/>
                    <a:lstStyle/>
                    <a:p>
                      <a:pPr algn="l"/>
                      <a:r>
                        <a:rPr sz="1100" b="1">
                          <a:solidFill>
                            <a:srgbClr val="2E2E2E"/>
                          </a:solidFill>
                          <a:latin typeface="Calibri"/>
                        </a:rPr>
                        <a:t>1,048</a:t>
                      </a:r>
                      <a:endParaRPr sz="1100"/>
                    </a:p>
                  </a:txBody>
                  <a:tcPr marL="47625" marR="38100" marT="19050" marB="19050" anchor="ctr">
                    <a:solidFill>
                      <a:srgbClr val="E0E8EF"/>
                    </a:solidFill>
                  </a:tcPr>
                </a:tc>
                <a:tc>
                  <a:txBody>
                    <a:bodyPr/>
                    <a:lstStyle/>
                    <a:p>
                      <a:pPr algn="l"/>
                      <a:r>
                        <a:rPr sz="1100" b="1">
                          <a:solidFill>
                            <a:srgbClr val="2E2E2E"/>
                          </a:solidFill>
                          <a:latin typeface="Calibri"/>
                        </a:rPr>
                        <a:t>1,102</a:t>
                      </a:r>
                      <a:endParaRPr sz="1100"/>
                    </a:p>
                  </a:txBody>
                  <a:tcPr marL="47625" marR="38100" marT="19050" marB="19050" anchor="ctr">
                    <a:solidFill>
                      <a:srgbClr val="E0E8EF"/>
                    </a:solidFill>
                  </a:tcPr>
                </a:tc>
                <a:tc>
                  <a:txBody>
                    <a:bodyPr/>
                    <a:lstStyle/>
                    <a:p>
                      <a:pPr algn="l"/>
                      <a:r>
                        <a:rPr sz="1100" b="1">
                          <a:solidFill>
                            <a:srgbClr val="2E2E2E"/>
                          </a:solidFill>
                          <a:latin typeface="Calibri"/>
                        </a:rPr>
                        <a:t>1,164</a:t>
                      </a:r>
                      <a:endParaRPr sz="1100"/>
                    </a:p>
                  </a:txBody>
                  <a:tcPr marL="47625" marR="38100" marT="19050" marB="19050" anchor="ctr">
                    <a:solidFill>
                      <a:srgbClr val="E0E8EF"/>
                    </a:solidFill>
                  </a:tcPr>
                </a:tc>
                <a:tc>
                  <a:txBody>
                    <a:bodyPr/>
                    <a:lstStyle/>
                    <a:p>
                      <a:pPr algn="l"/>
                      <a:r>
                        <a:rPr sz="1100" b="1">
                          <a:solidFill>
                            <a:srgbClr val="2E2E2E"/>
                          </a:solidFill>
                          <a:latin typeface="Calibri"/>
                        </a:rPr>
                        <a:t>1,232</a:t>
                      </a:r>
                      <a:endParaRPr sz="1100"/>
                    </a:p>
                  </a:txBody>
                  <a:tcPr marL="47625" marR="38100" marT="19050" marB="19050" anchor="ctr">
                    <a:solidFill>
                      <a:srgbClr val="E0E8EF"/>
                    </a:solidFill>
                  </a:tcPr>
                </a:tc>
                <a:tc>
                  <a:txBody>
                    <a:bodyPr/>
                    <a:lstStyle/>
                    <a:p>
                      <a:pPr algn="l"/>
                      <a:r>
                        <a:rPr sz="1100" b="1">
                          <a:solidFill>
                            <a:srgbClr val="2E2E2E"/>
                          </a:solidFill>
                          <a:latin typeface="Calibri"/>
                        </a:rPr>
                        <a:t>1,307</a:t>
                      </a:r>
                      <a:endParaRPr sz="1100"/>
                    </a:p>
                  </a:txBody>
                  <a:tcPr marL="47625" marR="38100" marT="19050" marB="19050" anchor="ctr">
                    <a:solidFill>
                      <a:srgbClr val="E0E8EF"/>
                    </a:solidFill>
                  </a:tcPr>
                </a:tc>
                <a:tc>
                  <a:txBody>
                    <a:bodyPr/>
                    <a:lstStyle/>
                    <a:p>
                      <a:pPr algn="l"/>
                      <a:r>
                        <a:rPr sz="1100" b="1">
                          <a:solidFill>
                            <a:srgbClr val="2E2E2E"/>
                          </a:solidFill>
                          <a:latin typeface="Calibri"/>
                        </a:rPr>
                        <a:t>1,389</a:t>
                      </a:r>
                      <a:endParaRPr sz="1100"/>
                    </a:p>
                  </a:txBody>
                  <a:tcPr marL="47625" marR="38100" marT="19050" marB="19050" anchor="ctr">
                    <a:solidFill>
                      <a:srgbClr val="E0E8EF"/>
                    </a:solidFill>
                  </a:tcPr>
                </a:tc>
                <a:tc>
                  <a:txBody>
                    <a:bodyPr/>
                    <a:lstStyle/>
                    <a:p>
                      <a:pPr algn="l"/>
                      <a:r>
                        <a:rPr sz="1100" b="1">
                          <a:solidFill>
                            <a:srgbClr val="2E2E2E"/>
                          </a:solidFill>
                          <a:latin typeface="Calibri"/>
                        </a:rPr>
                        <a:t>1,475</a:t>
                      </a:r>
                      <a:endParaRPr sz="1100"/>
                    </a:p>
                  </a:txBody>
                  <a:tcPr marL="47625" marR="38100" marT="19050" marB="19050" anchor="ctr">
                    <a:solidFill>
                      <a:srgbClr val="E0E8EF"/>
                    </a:solidFill>
                  </a:tcPr>
                </a:tc>
                <a:tc>
                  <a:txBody>
                    <a:bodyPr/>
                    <a:lstStyle/>
                    <a:p>
                      <a:pPr algn="l"/>
                      <a:r>
                        <a:rPr sz="1100" b="1">
                          <a:solidFill>
                            <a:srgbClr val="2E2E2E"/>
                          </a:solidFill>
                          <a:latin typeface="Calibri"/>
                        </a:rPr>
                        <a:t>1,567</a:t>
                      </a:r>
                      <a:endParaRPr sz="1100"/>
                    </a:p>
                  </a:txBody>
                  <a:tcPr marL="47625" marR="38100" marT="19050" marB="19050" anchor="ctr">
                    <a:solidFill>
                      <a:srgbClr val="E0E8EF"/>
                    </a:solidFill>
                  </a:tcPr>
                </a:tc>
                <a:tc>
                  <a:txBody>
                    <a:bodyPr/>
                    <a:lstStyle/>
                    <a:p>
                      <a:pPr algn="l"/>
                      <a:r>
                        <a:rPr sz="1100" b="1">
                          <a:solidFill>
                            <a:srgbClr val="2E2E2E"/>
                          </a:solidFill>
                          <a:latin typeface="Calibri"/>
                        </a:rPr>
                        <a:t>1,662</a:t>
                      </a:r>
                      <a:endParaRPr sz="1100"/>
                    </a:p>
                  </a:txBody>
                  <a:tcPr marL="47625" marR="38100" marT="19050" marB="19050" anchor="ctr">
                    <a:solidFill>
                      <a:srgbClr val="E0E8EF"/>
                    </a:solidFill>
                  </a:tcPr>
                </a:tc>
                <a:tc>
                  <a:txBody>
                    <a:bodyPr/>
                    <a:lstStyle/>
                    <a:p>
                      <a:pPr algn="l"/>
                      <a:r>
                        <a:rPr sz="1100" b="1">
                          <a:solidFill>
                            <a:srgbClr val="2E2E2E"/>
                          </a:solidFill>
                          <a:latin typeface="Calibri"/>
                        </a:rPr>
                        <a:t>1,761</a:t>
                      </a:r>
                      <a:endParaRPr sz="1100"/>
                    </a:p>
                  </a:txBody>
                  <a:tcPr marL="47625" marR="38100" marT="19050" marB="19050" anchor="ctr">
                    <a:solidFill>
                      <a:srgbClr val="E0E8EF"/>
                    </a:solidFill>
                  </a:tcPr>
                </a:tc>
                <a:tc>
                  <a:txBody>
                    <a:bodyPr/>
                    <a:lstStyle/>
                    <a:p>
                      <a:pPr algn="l"/>
                      <a:r>
                        <a:rPr sz="1100" b="1">
                          <a:solidFill>
                            <a:srgbClr val="2E2E2E"/>
                          </a:solidFill>
                          <a:latin typeface="Calibri"/>
                        </a:rPr>
                        <a:t>5.8%</a:t>
                      </a:r>
                      <a:endParaRPr sz="1100"/>
                    </a:p>
                  </a:txBody>
                  <a:tcPr marL="47625" marR="38100" marT="19050" marB="19050" anchor="ctr">
                    <a:solidFill>
                      <a:srgbClr val="E0E8EF"/>
                    </a:solidFill>
                  </a:tcPr>
                </a:tc>
                <a:extLst>
                  <a:ext uri="{0D108BD9-81ED-4DB2-BD59-A6C34878D82A}">
                    <a16:rowId xmlns:a16="http://schemas.microsoft.com/office/drawing/2014/main" val="10008"/>
                  </a:ext>
                </a:extLst>
              </a:tr>
            </a:tbl>
          </a:graphicData>
        </a:graphic>
      </p:graphicFrame>
      <p:sp>
        <p:nvSpPr>
          <p:cNvPr id="14" name="TextBox 13"/>
          <p:cNvSpPr txBox="1"/>
          <p:nvPr/>
        </p:nvSpPr>
        <p:spPr>
          <a:xfrm>
            <a:off x="219075" y="319087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524250"/>
            <a:ext cx="11906250" cy="3105150"/>
          </a:xfrm>
          <a:prstGeom prst="roundRect">
            <a:avLst>
              <a:gd name="adj" fmla="val 245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6225" y="3609975"/>
            <a:ext cx="11639550" cy="209550"/>
          </a:xfrm>
          <a:prstGeom prst="rect">
            <a:avLst/>
          </a:prstGeom>
          <a:noFill/>
        </p:spPr>
        <p:txBody>
          <a:bodyPr wrap="square" lIns="0" tIns="9525" rIns="19050" bIns="9525">
            <a:spAutoFit/>
          </a:bodyPr>
          <a:lstStyle/>
          <a:p>
            <a:pPr algn="l"/>
            <a:r>
              <a:rPr sz="1300" b="1">
                <a:solidFill>
                  <a:srgbClr val="0B2E4A"/>
                </a:solidFill>
                <a:latin typeface="Calibri"/>
              </a:rPr>
              <a:t>USA Volume Analysis, By Product Type</a:t>
            </a:r>
          </a:p>
        </p:txBody>
      </p:sp>
      <p:sp>
        <p:nvSpPr>
          <p:cNvPr id="17" name="Rectangle 16"/>
          <p:cNvSpPr/>
          <p:nvPr/>
        </p:nvSpPr>
        <p:spPr>
          <a:xfrm>
            <a:off x="276225" y="38481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6225" y="3933825"/>
            <a:ext cx="11639550" cy="2619375"/>
          </a:xfrm>
          <a:prstGeom prst="rect">
            <a:avLst/>
          </a:prstGeom>
          <a:noFill/>
        </p:spPr>
        <p:txBody>
          <a:bodyPr wrap="square" lIns="0" tIns="9525" rIns="19050" bIns="9525">
            <a:spAutoFit/>
          </a:bodyPr>
          <a:lstStyle/>
          <a:p>
            <a:pPr algn="l">
              <a:lnSpc>
                <a:spcPct val="110000"/>
              </a:lnSpc>
              <a:spcBef>
                <a:spcPts val="0"/>
              </a:spcBef>
              <a:spcAft>
                <a:spcPts val="500"/>
              </a:spcAft>
            </a:pPr>
            <a:r>
              <a:rPr sz="1150" b="0">
                <a:solidFill>
                  <a:srgbClr val="2E2E2E"/>
                </a:solidFill>
                <a:latin typeface="Calibri"/>
              </a:rPr>
              <a:t>Multivitamin segment is projected to register 4.1X higher volume than DHA / Omega-3 segment in 2036. Among prenatal vitamin supplements by product type, choline segment is expected to witness the highest CAGR of 12.0% over the forecast period.</a:t>
            </a:r>
          </a:p>
          <a:p>
            <a:pPr algn="l">
              <a:lnSpc>
                <a:spcPct val="110000"/>
              </a:lnSpc>
              <a:spcBef>
                <a:spcPts val="0"/>
              </a:spcBef>
              <a:spcAft>
                <a:spcPts val="500"/>
              </a:spcAft>
            </a:pPr>
            <a:r>
              <a:rPr sz="1150" b="0">
                <a:solidFill>
                  <a:srgbClr val="2E2E2E"/>
                </a:solidFill>
                <a:latin typeface="Calibri"/>
              </a:rPr>
              <a:t>In terms of volume share by product type, the multivitamin segment is expected to dominate the market, losing 252 BPS and accounting for 58.9% share by 2036.</a:t>
            </a:r>
          </a:p>
          <a:p>
            <a:pPr algn="l">
              <a:lnSpc>
                <a:spcPct val="110000"/>
              </a:lnSpc>
              <a:spcBef>
                <a:spcPts val="0"/>
              </a:spcBef>
              <a:spcAft>
                <a:spcPts val="500"/>
              </a:spcAft>
            </a:pPr>
            <a:r>
              <a:rPr sz="1150" b="0">
                <a:solidFill>
                  <a:srgbClr val="2E2E2E"/>
                </a:solidFill>
                <a:latin typeface="Calibri"/>
              </a:rPr>
              <a:t>Choline is expected to gain 303 BPS of volume share as standalone use rises from a small base and moves from specialist discussion into mainstream prenatal comparison shopping. DHA / omega-3 adds 145 BPS, as many consumers buy a separate DHA softgel when the core prenatal lacks omega-3, and probiotics add 140 BPS. Multivitamins lose 252 BPS because their penetration is already high and growth is steady rather than accelerating.</a:t>
            </a:r>
          </a:p>
        </p:txBody>
      </p:sp>
      <p:sp>
        <p:nvSpPr>
          <p:cNvPr id="19" name="TextBox 1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Market Value Analysis, By Product Type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by Product Type,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11906250" cy="2409825"/>
          </a:xfrm>
          <a:prstGeom prst="roundRect">
            <a:avLst>
              <a:gd name="adj" fmla="val 31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Value, By Product Type (US$ Mn)</a:t>
            </a:r>
          </a:p>
        </p:txBody>
      </p:sp>
      <p:graphicFrame>
        <p:nvGraphicFramePr>
          <p:cNvPr id="13" name="Table 12"/>
          <p:cNvGraphicFramePr>
            <a:graphicFrameLocks noGrp="1"/>
          </p:cNvGraphicFramePr>
          <p:nvPr/>
        </p:nvGraphicFramePr>
        <p:xfrm>
          <a:off x="152400" y="1238250"/>
          <a:ext cx="11887195" cy="1943097"/>
        </p:xfrm>
        <a:graphic>
          <a:graphicData uri="http://schemas.openxmlformats.org/drawingml/2006/table">
            <a:tbl>
              <a:tblPr>
                <a:tableStyleId>{5C22544A-7EE6-4342-B048-85BDC9FD1C3A}</a:tableStyleId>
              </a:tblPr>
              <a:tblGrid>
                <a:gridCol w="1360064">
                  <a:extLst>
                    <a:ext uri="{9D8B030D-6E8A-4147-A177-3AD203B41FA5}">
                      <a16:colId xmlns:a16="http://schemas.microsoft.com/office/drawing/2014/main" val="20000"/>
                    </a:ext>
                  </a:extLst>
                </a:gridCol>
                <a:gridCol w="619243">
                  <a:extLst>
                    <a:ext uri="{9D8B030D-6E8A-4147-A177-3AD203B41FA5}">
                      <a16:colId xmlns:a16="http://schemas.microsoft.com/office/drawing/2014/main" val="20001"/>
                    </a:ext>
                  </a:extLst>
                </a:gridCol>
                <a:gridCol w="619243">
                  <a:extLst>
                    <a:ext uri="{9D8B030D-6E8A-4147-A177-3AD203B41FA5}">
                      <a16:colId xmlns:a16="http://schemas.microsoft.com/office/drawing/2014/main" val="20002"/>
                    </a:ext>
                  </a:extLst>
                </a:gridCol>
                <a:gridCol w="619243">
                  <a:extLst>
                    <a:ext uri="{9D8B030D-6E8A-4147-A177-3AD203B41FA5}">
                      <a16:colId xmlns:a16="http://schemas.microsoft.com/office/drawing/2014/main" val="20003"/>
                    </a:ext>
                  </a:extLst>
                </a:gridCol>
                <a:gridCol w="619243">
                  <a:extLst>
                    <a:ext uri="{9D8B030D-6E8A-4147-A177-3AD203B41FA5}">
                      <a16:colId xmlns:a16="http://schemas.microsoft.com/office/drawing/2014/main" val="20004"/>
                    </a:ext>
                  </a:extLst>
                </a:gridCol>
                <a:gridCol w="619243">
                  <a:extLst>
                    <a:ext uri="{9D8B030D-6E8A-4147-A177-3AD203B41FA5}">
                      <a16:colId xmlns:a16="http://schemas.microsoft.com/office/drawing/2014/main" val="20005"/>
                    </a:ext>
                  </a:extLst>
                </a:gridCol>
                <a:gridCol w="619243">
                  <a:extLst>
                    <a:ext uri="{9D8B030D-6E8A-4147-A177-3AD203B41FA5}">
                      <a16:colId xmlns:a16="http://schemas.microsoft.com/office/drawing/2014/main" val="20006"/>
                    </a:ext>
                  </a:extLst>
                </a:gridCol>
                <a:gridCol w="619243">
                  <a:extLst>
                    <a:ext uri="{9D8B030D-6E8A-4147-A177-3AD203B41FA5}">
                      <a16:colId xmlns:a16="http://schemas.microsoft.com/office/drawing/2014/main" val="20007"/>
                    </a:ext>
                  </a:extLst>
                </a:gridCol>
                <a:gridCol w="619243">
                  <a:extLst>
                    <a:ext uri="{9D8B030D-6E8A-4147-A177-3AD203B41FA5}">
                      <a16:colId xmlns:a16="http://schemas.microsoft.com/office/drawing/2014/main" val="20008"/>
                    </a:ext>
                  </a:extLst>
                </a:gridCol>
                <a:gridCol w="619243">
                  <a:extLst>
                    <a:ext uri="{9D8B030D-6E8A-4147-A177-3AD203B41FA5}">
                      <a16:colId xmlns:a16="http://schemas.microsoft.com/office/drawing/2014/main" val="20009"/>
                    </a:ext>
                  </a:extLst>
                </a:gridCol>
                <a:gridCol w="619243">
                  <a:extLst>
                    <a:ext uri="{9D8B030D-6E8A-4147-A177-3AD203B41FA5}">
                      <a16:colId xmlns:a16="http://schemas.microsoft.com/office/drawing/2014/main" val="20010"/>
                    </a:ext>
                  </a:extLst>
                </a:gridCol>
                <a:gridCol w="619243">
                  <a:extLst>
                    <a:ext uri="{9D8B030D-6E8A-4147-A177-3AD203B41FA5}">
                      <a16:colId xmlns:a16="http://schemas.microsoft.com/office/drawing/2014/main" val="20011"/>
                    </a:ext>
                  </a:extLst>
                </a:gridCol>
                <a:gridCol w="619243">
                  <a:extLst>
                    <a:ext uri="{9D8B030D-6E8A-4147-A177-3AD203B41FA5}">
                      <a16:colId xmlns:a16="http://schemas.microsoft.com/office/drawing/2014/main" val="20012"/>
                    </a:ext>
                  </a:extLst>
                </a:gridCol>
                <a:gridCol w="619243">
                  <a:extLst>
                    <a:ext uri="{9D8B030D-6E8A-4147-A177-3AD203B41FA5}">
                      <a16:colId xmlns:a16="http://schemas.microsoft.com/office/drawing/2014/main" val="20013"/>
                    </a:ext>
                  </a:extLst>
                </a:gridCol>
                <a:gridCol w="619243">
                  <a:extLst>
                    <a:ext uri="{9D8B030D-6E8A-4147-A177-3AD203B41FA5}">
                      <a16:colId xmlns:a16="http://schemas.microsoft.com/office/drawing/2014/main" val="20014"/>
                    </a:ext>
                  </a:extLst>
                </a:gridCol>
                <a:gridCol w="619243">
                  <a:extLst>
                    <a:ext uri="{9D8B030D-6E8A-4147-A177-3AD203B41FA5}">
                      <a16:colId xmlns:a16="http://schemas.microsoft.com/office/drawing/2014/main" val="20015"/>
                    </a:ext>
                  </a:extLst>
                </a:gridCol>
                <a:gridCol w="619243">
                  <a:extLst>
                    <a:ext uri="{9D8B030D-6E8A-4147-A177-3AD203B41FA5}">
                      <a16:colId xmlns:a16="http://schemas.microsoft.com/office/drawing/2014/main" val="20016"/>
                    </a:ext>
                  </a:extLst>
                </a:gridCol>
                <a:gridCol w="619243">
                  <a:extLst>
                    <a:ext uri="{9D8B030D-6E8A-4147-A177-3AD203B41FA5}">
                      <a16:colId xmlns:a16="http://schemas.microsoft.com/office/drawing/2014/main" val="20017"/>
                    </a:ext>
                  </a:extLst>
                </a:gridCol>
              </a:tblGrid>
              <a:tr h="215265">
                <a:tc>
                  <a:txBody>
                    <a:bodyPr/>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l"/>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15979">
                <a:tc>
                  <a:txBody>
                    <a:bodyPr/>
                    <a:lstStyle/>
                    <a:p>
                      <a:pPr algn="l"/>
                      <a:r>
                        <a:rPr sz="1100" b="1">
                          <a:solidFill>
                            <a:srgbClr val="2E2E2E"/>
                          </a:solidFill>
                          <a:latin typeface="Calibri"/>
                        </a:rPr>
                        <a:t>Multivitamin</a:t>
                      </a:r>
                      <a:endParaRPr sz="1100"/>
                    </a:p>
                  </a:txBody>
                  <a:tcPr marL="47625" marR="38100" marT="19050" marB="19050" anchor="ctr">
                    <a:solidFill>
                      <a:srgbClr val="FFFFFF"/>
                    </a:solidFill>
                  </a:tcPr>
                </a:tc>
                <a:tc>
                  <a:txBody>
                    <a:bodyPr/>
                    <a:lstStyle/>
                    <a:p>
                      <a:pPr algn="l"/>
                      <a:r>
                        <a:rPr sz="1100" b="0">
                          <a:solidFill>
                            <a:srgbClr val="2E2E2E"/>
                          </a:solidFill>
                          <a:latin typeface="Calibri"/>
                        </a:rPr>
                        <a:t>111.6</a:t>
                      </a:r>
                      <a:endParaRPr sz="1100"/>
                    </a:p>
                  </a:txBody>
                  <a:tcPr marL="47625" marR="38100" marT="19050" marB="19050" anchor="ctr">
                    <a:solidFill>
                      <a:srgbClr val="FFFFFF"/>
                    </a:solidFill>
                  </a:tcPr>
                </a:tc>
                <a:tc>
                  <a:txBody>
                    <a:bodyPr/>
                    <a:lstStyle/>
                    <a:p>
                      <a:pPr algn="l"/>
                      <a:r>
                        <a:rPr sz="1100" b="0">
                          <a:solidFill>
                            <a:srgbClr val="2E2E2E"/>
                          </a:solidFill>
                          <a:latin typeface="Calibri"/>
                        </a:rPr>
                        <a:t>116.7</a:t>
                      </a:r>
                      <a:endParaRPr sz="1100"/>
                    </a:p>
                  </a:txBody>
                  <a:tcPr marL="47625" marR="38100" marT="19050" marB="19050" anchor="ctr">
                    <a:solidFill>
                      <a:srgbClr val="FFFFFF"/>
                    </a:solidFill>
                  </a:tcPr>
                </a:tc>
                <a:tc>
                  <a:txBody>
                    <a:bodyPr/>
                    <a:lstStyle/>
                    <a:p>
                      <a:pPr algn="l"/>
                      <a:r>
                        <a:rPr sz="1100" b="0">
                          <a:solidFill>
                            <a:srgbClr val="2E2E2E"/>
                          </a:solidFill>
                          <a:latin typeface="Calibri"/>
                        </a:rPr>
                        <a:t>122.3</a:t>
                      </a:r>
                      <a:endParaRPr sz="1100"/>
                    </a:p>
                  </a:txBody>
                  <a:tcPr marL="47625" marR="38100" marT="19050" marB="19050" anchor="ctr">
                    <a:solidFill>
                      <a:srgbClr val="FFFFFF"/>
                    </a:solidFill>
                  </a:tcPr>
                </a:tc>
                <a:tc>
                  <a:txBody>
                    <a:bodyPr/>
                    <a:lstStyle/>
                    <a:p>
                      <a:pPr algn="l"/>
                      <a:r>
                        <a:rPr sz="1100" b="0">
                          <a:solidFill>
                            <a:srgbClr val="2E2E2E"/>
                          </a:solidFill>
                          <a:latin typeface="Calibri"/>
                        </a:rPr>
                        <a:t>128.2</a:t>
                      </a:r>
                      <a:endParaRPr sz="1100"/>
                    </a:p>
                  </a:txBody>
                  <a:tcPr marL="47625" marR="38100" marT="19050" marB="19050" anchor="ctr">
                    <a:solidFill>
                      <a:srgbClr val="FFFFFF"/>
                    </a:solidFill>
                  </a:tcPr>
                </a:tc>
                <a:tc>
                  <a:txBody>
                    <a:bodyPr/>
                    <a:lstStyle/>
                    <a:p>
                      <a:pPr algn="l"/>
                      <a:r>
                        <a:rPr sz="1100" b="0">
                          <a:solidFill>
                            <a:srgbClr val="2E2E2E"/>
                          </a:solidFill>
                          <a:latin typeface="Calibri"/>
                        </a:rPr>
                        <a:t>134.5</a:t>
                      </a:r>
                      <a:endParaRPr sz="1100"/>
                    </a:p>
                  </a:txBody>
                  <a:tcPr marL="47625" marR="38100" marT="19050" marB="19050" anchor="ctr">
                    <a:solidFill>
                      <a:srgbClr val="FFFFFF"/>
                    </a:solidFill>
                  </a:tcPr>
                </a:tc>
                <a:tc>
                  <a:txBody>
                    <a:bodyPr/>
                    <a:lstStyle/>
                    <a:p>
                      <a:pPr algn="l"/>
                      <a:r>
                        <a:rPr sz="1100" b="0">
                          <a:solidFill>
                            <a:srgbClr val="2E2E2E"/>
                          </a:solidFill>
                          <a:latin typeface="Calibri"/>
                        </a:rPr>
                        <a:t>141.7</a:t>
                      </a:r>
                      <a:endParaRPr sz="1100"/>
                    </a:p>
                  </a:txBody>
                  <a:tcPr marL="47625" marR="38100" marT="19050" marB="19050" anchor="ctr">
                    <a:solidFill>
                      <a:srgbClr val="FFFFFF"/>
                    </a:solidFill>
                  </a:tcPr>
                </a:tc>
                <a:tc>
                  <a:txBody>
                    <a:bodyPr/>
                    <a:lstStyle/>
                    <a:p>
                      <a:pPr algn="l"/>
                      <a:r>
                        <a:rPr sz="1100" b="0">
                          <a:solidFill>
                            <a:srgbClr val="2E2E2E"/>
                          </a:solidFill>
                          <a:latin typeface="Calibri"/>
                        </a:rPr>
                        <a:t>149.4</a:t>
                      </a:r>
                      <a:endParaRPr sz="1100"/>
                    </a:p>
                  </a:txBody>
                  <a:tcPr marL="47625" marR="38100" marT="19050" marB="19050" anchor="ctr">
                    <a:solidFill>
                      <a:srgbClr val="FFFFFF"/>
                    </a:solidFill>
                  </a:tcPr>
                </a:tc>
                <a:tc>
                  <a:txBody>
                    <a:bodyPr/>
                    <a:lstStyle/>
                    <a:p>
                      <a:pPr algn="l"/>
                      <a:r>
                        <a:rPr sz="1100" b="0">
                          <a:solidFill>
                            <a:srgbClr val="2E2E2E"/>
                          </a:solidFill>
                          <a:latin typeface="Calibri"/>
                        </a:rPr>
                        <a:t>158.0</a:t>
                      </a:r>
                      <a:endParaRPr sz="1100"/>
                    </a:p>
                  </a:txBody>
                  <a:tcPr marL="47625" marR="38100" marT="19050" marB="19050" anchor="ctr">
                    <a:solidFill>
                      <a:srgbClr val="FFFFFF"/>
                    </a:solidFill>
                  </a:tcPr>
                </a:tc>
                <a:tc>
                  <a:txBody>
                    <a:bodyPr/>
                    <a:lstStyle/>
                    <a:p>
                      <a:pPr algn="l"/>
                      <a:r>
                        <a:rPr sz="1100" b="0">
                          <a:solidFill>
                            <a:srgbClr val="2E2E2E"/>
                          </a:solidFill>
                          <a:latin typeface="Calibri"/>
                        </a:rPr>
                        <a:t>167.4</a:t>
                      </a:r>
                      <a:endParaRPr sz="1100"/>
                    </a:p>
                  </a:txBody>
                  <a:tcPr marL="47625" marR="38100" marT="19050" marB="19050" anchor="ctr">
                    <a:solidFill>
                      <a:srgbClr val="FFFFFF"/>
                    </a:solidFill>
                  </a:tcPr>
                </a:tc>
                <a:tc>
                  <a:txBody>
                    <a:bodyPr/>
                    <a:lstStyle/>
                    <a:p>
                      <a:pPr algn="l"/>
                      <a:r>
                        <a:rPr sz="1100" b="0">
                          <a:solidFill>
                            <a:srgbClr val="2E2E2E"/>
                          </a:solidFill>
                          <a:latin typeface="Calibri"/>
                        </a:rPr>
                        <a:t>177.9</a:t>
                      </a:r>
                      <a:endParaRPr sz="1100"/>
                    </a:p>
                  </a:txBody>
                  <a:tcPr marL="47625" marR="38100" marT="19050" marB="19050" anchor="ctr">
                    <a:solidFill>
                      <a:srgbClr val="FFFFFF"/>
                    </a:solidFill>
                  </a:tcPr>
                </a:tc>
                <a:tc>
                  <a:txBody>
                    <a:bodyPr/>
                    <a:lstStyle/>
                    <a:p>
                      <a:pPr algn="l"/>
                      <a:r>
                        <a:rPr sz="1100" b="0">
                          <a:solidFill>
                            <a:srgbClr val="2E2E2E"/>
                          </a:solidFill>
                          <a:latin typeface="Calibri"/>
                        </a:rPr>
                        <a:t>189.2</a:t>
                      </a:r>
                      <a:endParaRPr sz="1100"/>
                    </a:p>
                  </a:txBody>
                  <a:tcPr marL="47625" marR="38100" marT="19050" marB="19050" anchor="ctr">
                    <a:solidFill>
                      <a:srgbClr val="FFFFFF"/>
                    </a:solidFill>
                  </a:tcPr>
                </a:tc>
                <a:tc>
                  <a:txBody>
                    <a:bodyPr/>
                    <a:lstStyle/>
                    <a:p>
                      <a:pPr algn="l"/>
                      <a:r>
                        <a:rPr sz="1100" b="0">
                          <a:solidFill>
                            <a:srgbClr val="2E2E2E"/>
                          </a:solidFill>
                          <a:latin typeface="Calibri"/>
                        </a:rPr>
                        <a:t>201.3</a:t>
                      </a:r>
                      <a:endParaRPr sz="1100"/>
                    </a:p>
                  </a:txBody>
                  <a:tcPr marL="47625" marR="38100" marT="19050" marB="19050" anchor="ctr">
                    <a:solidFill>
                      <a:srgbClr val="FFFFFF"/>
                    </a:solidFill>
                  </a:tcPr>
                </a:tc>
                <a:tc>
                  <a:txBody>
                    <a:bodyPr/>
                    <a:lstStyle/>
                    <a:p>
                      <a:pPr algn="l"/>
                      <a:r>
                        <a:rPr sz="1100" b="0">
                          <a:solidFill>
                            <a:srgbClr val="2E2E2E"/>
                          </a:solidFill>
                          <a:latin typeface="Calibri"/>
                        </a:rPr>
                        <a:t>214.4</a:t>
                      </a:r>
                      <a:endParaRPr sz="1100"/>
                    </a:p>
                  </a:txBody>
                  <a:tcPr marL="47625" marR="38100" marT="19050" marB="19050" anchor="ctr">
                    <a:solidFill>
                      <a:srgbClr val="FFFFFF"/>
                    </a:solidFill>
                  </a:tcPr>
                </a:tc>
                <a:tc>
                  <a:txBody>
                    <a:bodyPr/>
                    <a:lstStyle/>
                    <a:p>
                      <a:pPr algn="l"/>
                      <a:r>
                        <a:rPr sz="1100" b="0">
                          <a:solidFill>
                            <a:srgbClr val="2E2E2E"/>
                          </a:solidFill>
                          <a:latin typeface="Calibri"/>
                        </a:rPr>
                        <a:t>228.2</a:t>
                      </a:r>
                      <a:endParaRPr sz="1100"/>
                    </a:p>
                  </a:txBody>
                  <a:tcPr marL="47625" marR="38100" marT="19050" marB="19050" anchor="ctr">
                    <a:solidFill>
                      <a:srgbClr val="FFFFFF"/>
                    </a:solidFill>
                  </a:tcPr>
                </a:tc>
                <a:tc>
                  <a:txBody>
                    <a:bodyPr/>
                    <a:lstStyle/>
                    <a:p>
                      <a:pPr algn="l"/>
                      <a:r>
                        <a:rPr sz="1100" b="0">
                          <a:solidFill>
                            <a:srgbClr val="2E2E2E"/>
                          </a:solidFill>
                          <a:latin typeface="Calibri"/>
                        </a:rPr>
                        <a:t>242.7</a:t>
                      </a:r>
                      <a:endParaRPr sz="1100"/>
                    </a:p>
                  </a:txBody>
                  <a:tcPr marL="47625" marR="38100" marT="19050" marB="19050" anchor="ctr">
                    <a:solidFill>
                      <a:srgbClr val="FFFFFF"/>
                    </a:solidFill>
                  </a:tcPr>
                </a:tc>
                <a:tc>
                  <a:txBody>
                    <a:bodyPr/>
                    <a:lstStyle/>
                    <a:p>
                      <a:pPr algn="l"/>
                      <a:r>
                        <a:rPr sz="1100" b="0">
                          <a:solidFill>
                            <a:srgbClr val="2E2E2E"/>
                          </a:solidFill>
                          <a:latin typeface="Calibri"/>
                        </a:rPr>
                        <a:t>257.9</a:t>
                      </a:r>
                      <a:endParaRPr sz="1100"/>
                    </a:p>
                  </a:txBody>
                  <a:tcPr marL="47625" marR="38100" marT="19050" marB="19050" anchor="ctr">
                    <a:solidFill>
                      <a:srgbClr val="FFFFFF"/>
                    </a:solidFill>
                  </a:tcPr>
                </a:tc>
                <a:tc>
                  <a:txBody>
                    <a:bodyPr/>
                    <a:lstStyle/>
                    <a:p>
                      <a:pPr algn="l"/>
                      <a:r>
                        <a:rPr sz="1100" b="0">
                          <a:solidFill>
                            <a:srgbClr val="2E2E2E"/>
                          </a:solidFill>
                          <a:latin typeface="Calibri"/>
                        </a:rPr>
                        <a:t>6.2%</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15979">
                <a:tc>
                  <a:txBody>
                    <a:bodyPr/>
                    <a:lstStyle/>
                    <a:p>
                      <a:pPr algn="l"/>
                      <a:r>
                        <a:rPr sz="1100" b="1">
                          <a:solidFill>
                            <a:srgbClr val="2E2E2E"/>
                          </a:solidFill>
                          <a:latin typeface="Calibri"/>
                        </a:rPr>
                        <a:t>DHA / Omega-3</a:t>
                      </a:r>
                      <a:endParaRPr sz="1100"/>
                    </a:p>
                  </a:txBody>
                  <a:tcPr marL="47625" marR="38100" marT="19050" marB="19050" anchor="ctr">
                    <a:solidFill>
                      <a:srgbClr val="F5F8FA"/>
                    </a:solidFill>
                  </a:tcPr>
                </a:tc>
                <a:tc>
                  <a:txBody>
                    <a:bodyPr/>
                    <a:lstStyle/>
                    <a:p>
                      <a:pPr algn="l"/>
                      <a:r>
                        <a:rPr sz="1100" b="0">
                          <a:solidFill>
                            <a:srgbClr val="2E2E2E"/>
                          </a:solidFill>
                          <a:latin typeface="Calibri"/>
                        </a:rPr>
                        <a:t>22.1</a:t>
                      </a:r>
                      <a:endParaRPr sz="1100"/>
                    </a:p>
                  </a:txBody>
                  <a:tcPr marL="47625" marR="38100" marT="19050" marB="19050" anchor="ctr">
                    <a:solidFill>
                      <a:srgbClr val="F5F8FA"/>
                    </a:solidFill>
                  </a:tcPr>
                </a:tc>
                <a:tc>
                  <a:txBody>
                    <a:bodyPr/>
                    <a:lstStyle/>
                    <a:p>
                      <a:pPr algn="l"/>
                      <a:r>
                        <a:rPr sz="1100" b="0">
                          <a:solidFill>
                            <a:srgbClr val="2E2E2E"/>
                          </a:solidFill>
                          <a:latin typeface="Calibri"/>
                        </a:rPr>
                        <a:t>23.5</a:t>
                      </a:r>
                      <a:endParaRPr sz="1100"/>
                    </a:p>
                  </a:txBody>
                  <a:tcPr marL="47625" marR="38100" marT="19050" marB="19050" anchor="ctr">
                    <a:solidFill>
                      <a:srgbClr val="F5F8FA"/>
                    </a:solidFill>
                  </a:tcPr>
                </a:tc>
                <a:tc>
                  <a:txBody>
                    <a:bodyPr/>
                    <a:lstStyle/>
                    <a:p>
                      <a:pPr algn="l"/>
                      <a:r>
                        <a:rPr sz="1100" b="0">
                          <a:solidFill>
                            <a:srgbClr val="2E2E2E"/>
                          </a:solidFill>
                          <a:latin typeface="Calibri"/>
                        </a:rPr>
                        <a:t>24.9</a:t>
                      </a:r>
                      <a:endParaRPr sz="1100"/>
                    </a:p>
                  </a:txBody>
                  <a:tcPr marL="47625" marR="38100" marT="19050" marB="19050" anchor="ctr">
                    <a:solidFill>
                      <a:srgbClr val="F5F8FA"/>
                    </a:solidFill>
                  </a:tcPr>
                </a:tc>
                <a:tc>
                  <a:txBody>
                    <a:bodyPr/>
                    <a:lstStyle/>
                    <a:p>
                      <a:pPr algn="l"/>
                      <a:r>
                        <a:rPr sz="1100" b="0">
                          <a:solidFill>
                            <a:srgbClr val="2E2E2E"/>
                          </a:solidFill>
                          <a:latin typeface="Calibri"/>
                        </a:rPr>
                        <a:t>26.4</a:t>
                      </a:r>
                      <a:endParaRPr sz="1100"/>
                    </a:p>
                  </a:txBody>
                  <a:tcPr marL="47625" marR="38100" marT="19050" marB="19050" anchor="ctr">
                    <a:solidFill>
                      <a:srgbClr val="F5F8FA"/>
                    </a:solidFill>
                  </a:tcPr>
                </a:tc>
                <a:tc>
                  <a:txBody>
                    <a:bodyPr/>
                    <a:lstStyle/>
                    <a:p>
                      <a:pPr algn="l"/>
                      <a:r>
                        <a:rPr sz="1100" b="0">
                          <a:solidFill>
                            <a:srgbClr val="2E2E2E"/>
                          </a:solidFill>
                          <a:latin typeface="Calibri"/>
                        </a:rPr>
                        <a:t>27.8</a:t>
                      </a:r>
                      <a:endParaRPr sz="1100"/>
                    </a:p>
                  </a:txBody>
                  <a:tcPr marL="47625" marR="38100" marT="19050" marB="19050" anchor="ctr">
                    <a:solidFill>
                      <a:srgbClr val="F5F8FA"/>
                    </a:solidFill>
                  </a:tcPr>
                </a:tc>
                <a:tc>
                  <a:txBody>
                    <a:bodyPr/>
                    <a:lstStyle/>
                    <a:p>
                      <a:pPr algn="l"/>
                      <a:r>
                        <a:rPr sz="1100" b="0">
                          <a:solidFill>
                            <a:srgbClr val="2E2E2E"/>
                          </a:solidFill>
                          <a:latin typeface="Calibri"/>
                        </a:rPr>
                        <a:t>29.5</a:t>
                      </a:r>
                      <a:endParaRPr sz="1100"/>
                    </a:p>
                  </a:txBody>
                  <a:tcPr marL="47625" marR="38100" marT="19050" marB="19050" anchor="ctr">
                    <a:solidFill>
                      <a:srgbClr val="F5F8FA"/>
                    </a:solidFill>
                  </a:tcPr>
                </a:tc>
                <a:tc>
                  <a:txBody>
                    <a:bodyPr/>
                    <a:lstStyle/>
                    <a:p>
                      <a:pPr algn="l"/>
                      <a:r>
                        <a:rPr sz="1100" b="0">
                          <a:solidFill>
                            <a:srgbClr val="2E2E2E"/>
                          </a:solidFill>
                          <a:latin typeface="Calibri"/>
                        </a:rPr>
                        <a:t>31.4</a:t>
                      </a:r>
                      <a:endParaRPr sz="1100"/>
                    </a:p>
                  </a:txBody>
                  <a:tcPr marL="47625" marR="38100" marT="19050" marB="19050" anchor="ctr">
                    <a:solidFill>
                      <a:srgbClr val="F5F8FA"/>
                    </a:solidFill>
                  </a:tcPr>
                </a:tc>
                <a:tc>
                  <a:txBody>
                    <a:bodyPr/>
                    <a:lstStyle/>
                    <a:p>
                      <a:pPr algn="l"/>
                      <a:r>
                        <a:rPr sz="1100" b="0">
                          <a:solidFill>
                            <a:srgbClr val="2E2E2E"/>
                          </a:solidFill>
                          <a:latin typeface="Calibri"/>
                        </a:rPr>
                        <a:t>33.5</a:t>
                      </a:r>
                      <a:endParaRPr sz="1100"/>
                    </a:p>
                  </a:txBody>
                  <a:tcPr marL="47625" marR="38100" marT="19050" marB="19050" anchor="ctr">
                    <a:solidFill>
                      <a:srgbClr val="F5F8FA"/>
                    </a:solidFill>
                  </a:tcPr>
                </a:tc>
                <a:tc>
                  <a:txBody>
                    <a:bodyPr/>
                    <a:lstStyle/>
                    <a:p>
                      <a:pPr algn="l"/>
                      <a:r>
                        <a:rPr sz="1100" b="0">
                          <a:solidFill>
                            <a:srgbClr val="2E2E2E"/>
                          </a:solidFill>
                          <a:latin typeface="Calibri"/>
                        </a:rPr>
                        <a:t>36.0</a:t>
                      </a:r>
                      <a:endParaRPr sz="1100"/>
                    </a:p>
                  </a:txBody>
                  <a:tcPr marL="47625" marR="38100" marT="19050" marB="19050" anchor="ctr">
                    <a:solidFill>
                      <a:srgbClr val="F5F8FA"/>
                    </a:solidFill>
                  </a:tcPr>
                </a:tc>
                <a:tc>
                  <a:txBody>
                    <a:bodyPr/>
                    <a:lstStyle/>
                    <a:p>
                      <a:pPr algn="l"/>
                      <a:r>
                        <a:rPr sz="1100" b="0">
                          <a:solidFill>
                            <a:srgbClr val="2E2E2E"/>
                          </a:solidFill>
                          <a:latin typeface="Calibri"/>
                        </a:rPr>
                        <a:t>39.0</a:t>
                      </a:r>
                      <a:endParaRPr sz="1100"/>
                    </a:p>
                  </a:txBody>
                  <a:tcPr marL="47625" marR="38100" marT="19050" marB="19050" anchor="ctr">
                    <a:solidFill>
                      <a:srgbClr val="F5F8FA"/>
                    </a:solidFill>
                  </a:tcPr>
                </a:tc>
                <a:tc>
                  <a:txBody>
                    <a:bodyPr/>
                    <a:lstStyle/>
                    <a:p>
                      <a:pPr algn="l"/>
                      <a:r>
                        <a:rPr sz="1100" b="0">
                          <a:solidFill>
                            <a:srgbClr val="2E2E2E"/>
                          </a:solidFill>
                          <a:latin typeface="Calibri"/>
                        </a:rPr>
                        <a:t>42.3</a:t>
                      </a:r>
                      <a:endParaRPr sz="1100"/>
                    </a:p>
                  </a:txBody>
                  <a:tcPr marL="47625" marR="38100" marT="19050" marB="19050" anchor="ctr">
                    <a:solidFill>
                      <a:srgbClr val="F5F8FA"/>
                    </a:solidFill>
                  </a:tcPr>
                </a:tc>
                <a:tc>
                  <a:txBody>
                    <a:bodyPr/>
                    <a:lstStyle/>
                    <a:p>
                      <a:pPr algn="l"/>
                      <a:r>
                        <a:rPr sz="1100" b="0">
                          <a:solidFill>
                            <a:srgbClr val="2E2E2E"/>
                          </a:solidFill>
                          <a:latin typeface="Calibri"/>
                        </a:rPr>
                        <a:t>45.9</a:t>
                      </a:r>
                      <a:endParaRPr sz="1100"/>
                    </a:p>
                  </a:txBody>
                  <a:tcPr marL="47625" marR="38100" marT="19050" marB="19050" anchor="ctr">
                    <a:solidFill>
                      <a:srgbClr val="F5F8FA"/>
                    </a:solidFill>
                  </a:tcPr>
                </a:tc>
                <a:tc>
                  <a:txBody>
                    <a:bodyPr/>
                    <a:lstStyle/>
                    <a:p>
                      <a:pPr algn="l"/>
                      <a:r>
                        <a:rPr sz="1100" b="0">
                          <a:solidFill>
                            <a:srgbClr val="2E2E2E"/>
                          </a:solidFill>
                          <a:latin typeface="Calibri"/>
                        </a:rPr>
                        <a:t>49.7</a:t>
                      </a:r>
                      <a:endParaRPr sz="1100"/>
                    </a:p>
                  </a:txBody>
                  <a:tcPr marL="47625" marR="38100" marT="19050" marB="19050" anchor="ctr">
                    <a:solidFill>
                      <a:srgbClr val="F5F8FA"/>
                    </a:solidFill>
                  </a:tcPr>
                </a:tc>
                <a:tc>
                  <a:txBody>
                    <a:bodyPr/>
                    <a:lstStyle/>
                    <a:p>
                      <a:pPr algn="l"/>
                      <a:r>
                        <a:rPr sz="1100" b="0">
                          <a:solidFill>
                            <a:srgbClr val="2E2E2E"/>
                          </a:solidFill>
                          <a:latin typeface="Calibri"/>
                        </a:rPr>
                        <a:t>53.6</a:t>
                      </a:r>
                      <a:endParaRPr sz="1100"/>
                    </a:p>
                  </a:txBody>
                  <a:tcPr marL="47625" marR="38100" marT="19050" marB="19050" anchor="ctr">
                    <a:solidFill>
                      <a:srgbClr val="F5F8FA"/>
                    </a:solidFill>
                  </a:tcPr>
                </a:tc>
                <a:tc>
                  <a:txBody>
                    <a:bodyPr/>
                    <a:lstStyle/>
                    <a:p>
                      <a:pPr algn="l"/>
                      <a:r>
                        <a:rPr sz="1100" b="0">
                          <a:solidFill>
                            <a:srgbClr val="2E2E2E"/>
                          </a:solidFill>
                          <a:latin typeface="Calibri"/>
                        </a:rPr>
                        <a:t>57.9</a:t>
                      </a:r>
                      <a:endParaRPr sz="1100"/>
                    </a:p>
                  </a:txBody>
                  <a:tcPr marL="47625" marR="38100" marT="19050" marB="19050" anchor="ctr">
                    <a:solidFill>
                      <a:srgbClr val="F5F8FA"/>
                    </a:solidFill>
                  </a:tcPr>
                </a:tc>
                <a:tc>
                  <a:txBody>
                    <a:bodyPr/>
                    <a:lstStyle/>
                    <a:p>
                      <a:pPr algn="l"/>
                      <a:r>
                        <a:rPr sz="1100" b="0">
                          <a:solidFill>
                            <a:srgbClr val="2E2E2E"/>
                          </a:solidFill>
                          <a:latin typeface="Calibri"/>
                        </a:rPr>
                        <a:t>62.4</a:t>
                      </a:r>
                      <a:endParaRPr sz="1100"/>
                    </a:p>
                  </a:txBody>
                  <a:tcPr marL="47625" marR="38100" marT="19050" marB="19050" anchor="ctr">
                    <a:solidFill>
                      <a:srgbClr val="F5F8FA"/>
                    </a:solidFill>
                  </a:tcPr>
                </a:tc>
                <a:tc>
                  <a:txBody>
                    <a:bodyPr/>
                    <a:lstStyle/>
                    <a:p>
                      <a:pPr algn="l"/>
                      <a:r>
                        <a:rPr sz="1100" b="0">
                          <a:solidFill>
                            <a:srgbClr val="2E2E2E"/>
                          </a:solidFill>
                          <a:latin typeface="Calibri"/>
                        </a:rPr>
                        <a:t>7.8%</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15979">
                <a:tc>
                  <a:txBody>
                    <a:bodyPr/>
                    <a:lstStyle/>
                    <a:p>
                      <a:pPr algn="l"/>
                      <a:r>
                        <a:rPr sz="1100" b="1">
                          <a:solidFill>
                            <a:srgbClr val="2E2E2E"/>
                          </a:solidFill>
                          <a:latin typeface="Calibri"/>
                        </a:rPr>
                        <a:t>Iron</a:t>
                      </a:r>
                      <a:endParaRPr sz="1100"/>
                    </a:p>
                  </a:txBody>
                  <a:tcPr marL="47625" marR="38100" marT="19050" marB="19050" anchor="ctr">
                    <a:solidFill>
                      <a:srgbClr val="FFFFFF"/>
                    </a:solidFill>
                  </a:tcPr>
                </a:tc>
                <a:tc>
                  <a:txBody>
                    <a:bodyPr/>
                    <a:lstStyle/>
                    <a:p>
                      <a:pPr algn="l"/>
                      <a:r>
                        <a:rPr sz="1100" b="0">
                          <a:solidFill>
                            <a:srgbClr val="2E2E2E"/>
                          </a:solidFill>
                          <a:latin typeface="Calibri"/>
                        </a:rPr>
                        <a:t>14.1</a:t>
                      </a:r>
                      <a:endParaRPr sz="1100"/>
                    </a:p>
                  </a:txBody>
                  <a:tcPr marL="47625" marR="38100" marT="19050" marB="19050" anchor="ctr">
                    <a:solidFill>
                      <a:srgbClr val="FFFFFF"/>
                    </a:solidFill>
                  </a:tcPr>
                </a:tc>
                <a:tc>
                  <a:txBody>
                    <a:bodyPr/>
                    <a:lstStyle/>
                    <a:p>
                      <a:pPr algn="l"/>
                      <a:r>
                        <a:rPr sz="1100" b="0">
                          <a:solidFill>
                            <a:srgbClr val="2E2E2E"/>
                          </a:solidFill>
                          <a:latin typeface="Calibri"/>
                        </a:rPr>
                        <a:t>14.6</a:t>
                      </a:r>
                      <a:endParaRPr sz="1100"/>
                    </a:p>
                  </a:txBody>
                  <a:tcPr marL="47625" marR="38100" marT="19050" marB="19050" anchor="ctr">
                    <a:solidFill>
                      <a:srgbClr val="FFFFFF"/>
                    </a:solidFill>
                  </a:tcPr>
                </a:tc>
                <a:tc>
                  <a:txBody>
                    <a:bodyPr/>
                    <a:lstStyle/>
                    <a:p>
                      <a:pPr algn="l"/>
                      <a:r>
                        <a:rPr sz="1100" b="0">
                          <a:solidFill>
                            <a:srgbClr val="2E2E2E"/>
                          </a:solidFill>
                          <a:latin typeface="Calibri"/>
                        </a:rPr>
                        <a:t>15.1</a:t>
                      </a:r>
                      <a:endParaRPr sz="1100"/>
                    </a:p>
                  </a:txBody>
                  <a:tcPr marL="47625" marR="38100" marT="19050" marB="19050" anchor="ctr">
                    <a:solidFill>
                      <a:srgbClr val="FFFFFF"/>
                    </a:solidFill>
                  </a:tcPr>
                </a:tc>
                <a:tc>
                  <a:txBody>
                    <a:bodyPr/>
                    <a:lstStyle/>
                    <a:p>
                      <a:pPr algn="l"/>
                      <a:r>
                        <a:rPr sz="1100" b="0">
                          <a:solidFill>
                            <a:srgbClr val="2E2E2E"/>
                          </a:solidFill>
                          <a:latin typeface="Calibri"/>
                        </a:rPr>
                        <a:t>15.7</a:t>
                      </a:r>
                      <a:endParaRPr sz="1100"/>
                    </a:p>
                  </a:txBody>
                  <a:tcPr marL="47625" marR="38100" marT="19050" marB="19050" anchor="ctr">
                    <a:solidFill>
                      <a:srgbClr val="FFFFFF"/>
                    </a:solidFill>
                  </a:tcPr>
                </a:tc>
                <a:tc>
                  <a:txBody>
                    <a:bodyPr/>
                    <a:lstStyle/>
                    <a:p>
                      <a:pPr algn="l"/>
                      <a:r>
                        <a:rPr sz="1100" b="0">
                          <a:solidFill>
                            <a:srgbClr val="2E2E2E"/>
                          </a:solidFill>
                          <a:latin typeface="Calibri"/>
                        </a:rPr>
                        <a:t>16.2</a:t>
                      </a:r>
                      <a:endParaRPr sz="1100"/>
                    </a:p>
                  </a:txBody>
                  <a:tcPr marL="47625" marR="38100" marT="19050" marB="19050" anchor="ctr">
                    <a:solidFill>
                      <a:srgbClr val="FFFFFF"/>
                    </a:solidFill>
                  </a:tcPr>
                </a:tc>
                <a:tc>
                  <a:txBody>
                    <a:bodyPr/>
                    <a:lstStyle/>
                    <a:p>
                      <a:pPr algn="l"/>
                      <a:r>
                        <a:rPr sz="1100" b="0">
                          <a:solidFill>
                            <a:srgbClr val="2E2E2E"/>
                          </a:solidFill>
                          <a:latin typeface="Calibri"/>
                        </a:rPr>
                        <a:t>16.8</a:t>
                      </a:r>
                      <a:endParaRPr sz="1100"/>
                    </a:p>
                  </a:txBody>
                  <a:tcPr marL="47625" marR="38100" marT="19050" marB="19050" anchor="ctr">
                    <a:solidFill>
                      <a:srgbClr val="FFFFFF"/>
                    </a:solidFill>
                  </a:tcPr>
                </a:tc>
                <a:tc>
                  <a:txBody>
                    <a:bodyPr/>
                    <a:lstStyle/>
                    <a:p>
                      <a:pPr algn="l"/>
                      <a:r>
                        <a:rPr sz="1100" b="0">
                          <a:solidFill>
                            <a:srgbClr val="2E2E2E"/>
                          </a:solidFill>
                          <a:latin typeface="Calibri"/>
                        </a:rPr>
                        <a:t>17.4</a:t>
                      </a:r>
                      <a:endParaRPr sz="1100"/>
                    </a:p>
                  </a:txBody>
                  <a:tcPr marL="47625" marR="38100" marT="19050" marB="19050" anchor="ctr">
                    <a:solidFill>
                      <a:srgbClr val="FFFFFF"/>
                    </a:solidFill>
                  </a:tcPr>
                </a:tc>
                <a:tc>
                  <a:txBody>
                    <a:bodyPr/>
                    <a:lstStyle/>
                    <a:p>
                      <a:pPr algn="l"/>
                      <a:r>
                        <a:rPr sz="1100" b="0">
                          <a:solidFill>
                            <a:srgbClr val="2E2E2E"/>
                          </a:solidFill>
                          <a:latin typeface="Calibri"/>
                        </a:rPr>
                        <a:t>18.0</a:t>
                      </a:r>
                      <a:endParaRPr sz="1100"/>
                    </a:p>
                  </a:txBody>
                  <a:tcPr marL="47625" marR="38100" marT="19050" marB="19050" anchor="ctr">
                    <a:solidFill>
                      <a:srgbClr val="FFFFFF"/>
                    </a:solidFill>
                  </a:tcPr>
                </a:tc>
                <a:tc>
                  <a:txBody>
                    <a:bodyPr/>
                    <a:lstStyle/>
                    <a:p>
                      <a:pPr algn="l"/>
                      <a:r>
                        <a:rPr sz="1100" b="0">
                          <a:solidFill>
                            <a:srgbClr val="2E2E2E"/>
                          </a:solidFill>
                          <a:latin typeface="Calibri"/>
                        </a:rPr>
                        <a:t>18.7</a:t>
                      </a:r>
                      <a:endParaRPr sz="1100"/>
                    </a:p>
                  </a:txBody>
                  <a:tcPr marL="47625" marR="38100" marT="19050" marB="19050" anchor="ctr">
                    <a:solidFill>
                      <a:srgbClr val="FFFFFF"/>
                    </a:solidFill>
                  </a:tcPr>
                </a:tc>
                <a:tc>
                  <a:txBody>
                    <a:bodyPr/>
                    <a:lstStyle/>
                    <a:p>
                      <a:pPr algn="l"/>
                      <a:r>
                        <a:rPr sz="1100" b="0">
                          <a:solidFill>
                            <a:srgbClr val="2E2E2E"/>
                          </a:solidFill>
                          <a:latin typeface="Calibri"/>
                        </a:rPr>
                        <a:t>19.6</a:t>
                      </a:r>
                      <a:endParaRPr sz="1100"/>
                    </a:p>
                  </a:txBody>
                  <a:tcPr marL="47625" marR="38100" marT="19050" marB="19050" anchor="ctr">
                    <a:solidFill>
                      <a:srgbClr val="FFFFFF"/>
                    </a:solidFill>
                  </a:tcPr>
                </a:tc>
                <a:tc>
                  <a:txBody>
                    <a:bodyPr/>
                    <a:lstStyle/>
                    <a:p>
                      <a:pPr algn="l"/>
                      <a:r>
                        <a:rPr sz="1100" b="0">
                          <a:solidFill>
                            <a:srgbClr val="2E2E2E"/>
                          </a:solidFill>
                          <a:latin typeface="Calibri"/>
                        </a:rPr>
                        <a:t>20.5</a:t>
                      </a:r>
                      <a:endParaRPr sz="1100"/>
                    </a:p>
                  </a:txBody>
                  <a:tcPr marL="47625" marR="38100" marT="19050" marB="19050" anchor="ctr">
                    <a:solidFill>
                      <a:srgbClr val="FFFFFF"/>
                    </a:solidFill>
                  </a:tcPr>
                </a:tc>
                <a:tc>
                  <a:txBody>
                    <a:bodyPr/>
                    <a:lstStyle/>
                    <a:p>
                      <a:pPr algn="l"/>
                      <a:r>
                        <a:rPr sz="1100" b="0">
                          <a:solidFill>
                            <a:srgbClr val="2E2E2E"/>
                          </a:solidFill>
                          <a:latin typeface="Calibri"/>
                        </a:rPr>
                        <a:t>21.5</a:t>
                      </a:r>
                      <a:endParaRPr sz="1100"/>
                    </a:p>
                  </a:txBody>
                  <a:tcPr marL="47625" marR="38100" marT="19050" marB="19050" anchor="ctr">
                    <a:solidFill>
                      <a:srgbClr val="FFFFFF"/>
                    </a:solidFill>
                  </a:tcPr>
                </a:tc>
                <a:tc>
                  <a:txBody>
                    <a:bodyPr/>
                    <a:lstStyle/>
                    <a:p>
                      <a:pPr algn="l"/>
                      <a:r>
                        <a:rPr sz="1100" b="0">
                          <a:solidFill>
                            <a:srgbClr val="2E2E2E"/>
                          </a:solidFill>
                          <a:latin typeface="Calibri"/>
                        </a:rPr>
                        <a:t>22.5</a:t>
                      </a:r>
                      <a:endParaRPr sz="1100"/>
                    </a:p>
                  </a:txBody>
                  <a:tcPr marL="47625" marR="38100" marT="19050" marB="19050" anchor="ctr">
                    <a:solidFill>
                      <a:srgbClr val="FFFFFF"/>
                    </a:solidFill>
                  </a:tcPr>
                </a:tc>
                <a:tc>
                  <a:txBody>
                    <a:bodyPr/>
                    <a:lstStyle/>
                    <a:p>
                      <a:pPr algn="l"/>
                      <a:r>
                        <a:rPr sz="1100" b="0">
                          <a:solidFill>
                            <a:srgbClr val="2E2E2E"/>
                          </a:solidFill>
                          <a:latin typeface="Calibri"/>
                        </a:rPr>
                        <a:t>23.7</a:t>
                      </a:r>
                      <a:endParaRPr sz="1100"/>
                    </a:p>
                  </a:txBody>
                  <a:tcPr marL="47625" marR="38100" marT="19050" marB="19050" anchor="ctr">
                    <a:solidFill>
                      <a:srgbClr val="FFFFFF"/>
                    </a:solidFill>
                  </a:tcPr>
                </a:tc>
                <a:tc>
                  <a:txBody>
                    <a:bodyPr/>
                    <a:lstStyle/>
                    <a:p>
                      <a:pPr algn="l"/>
                      <a:r>
                        <a:rPr sz="1100" b="0">
                          <a:solidFill>
                            <a:srgbClr val="2E2E2E"/>
                          </a:solidFill>
                          <a:latin typeface="Calibri"/>
                        </a:rPr>
                        <a:t>24.8</a:t>
                      </a:r>
                      <a:endParaRPr sz="1100"/>
                    </a:p>
                  </a:txBody>
                  <a:tcPr marL="47625" marR="38100" marT="19050" marB="19050" anchor="ctr">
                    <a:solidFill>
                      <a:srgbClr val="FFFFFF"/>
                    </a:solidFill>
                  </a:tcPr>
                </a:tc>
                <a:tc>
                  <a:txBody>
                    <a:bodyPr/>
                    <a:lstStyle/>
                    <a:p>
                      <a:pPr algn="l"/>
                      <a:r>
                        <a:rPr sz="1100" b="0">
                          <a:solidFill>
                            <a:srgbClr val="2E2E2E"/>
                          </a:solidFill>
                          <a:latin typeface="Calibri"/>
                        </a:rPr>
                        <a:t>26.0</a:t>
                      </a:r>
                      <a:endParaRPr sz="1100"/>
                    </a:p>
                  </a:txBody>
                  <a:tcPr marL="47625" marR="38100" marT="19050" marB="19050" anchor="ctr">
                    <a:solidFill>
                      <a:srgbClr val="FFFFFF"/>
                    </a:solidFill>
                  </a:tcPr>
                </a:tc>
                <a:tc>
                  <a:txBody>
                    <a:bodyPr/>
                    <a:lstStyle/>
                    <a:p>
                      <a:pPr algn="l"/>
                      <a:r>
                        <a:rPr sz="1100" b="0">
                          <a:solidFill>
                            <a:srgbClr val="2E2E2E"/>
                          </a:solidFill>
                          <a:latin typeface="Calibri"/>
                        </a:rPr>
                        <a:t>4.4%</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15979">
                <a:tc>
                  <a:txBody>
                    <a:bodyPr/>
                    <a:lstStyle/>
                    <a:p>
                      <a:pPr algn="l"/>
                      <a:r>
                        <a:rPr sz="1100" b="1">
                          <a:solidFill>
                            <a:srgbClr val="2E2E2E"/>
                          </a:solidFill>
                          <a:latin typeface="Calibri"/>
                        </a:rPr>
                        <a:t>Folate / Folic Acid</a:t>
                      </a:r>
                      <a:endParaRPr sz="1100"/>
                    </a:p>
                  </a:txBody>
                  <a:tcPr marL="47625" marR="38100" marT="19050" marB="19050" anchor="ctr">
                    <a:solidFill>
                      <a:srgbClr val="F5F8FA"/>
                    </a:solidFill>
                  </a:tcPr>
                </a:tc>
                <a:tc>
                  <a:txBody>
                    <a:bodyPr/>
                    <a:lstStyle/>
                    <a:p>
                      <a:pPr algn="l"/>
                      <a:r>
                        <a:rPr sz="1100" b="0">
                          <a:solidFill>
                            <a:srgbClr val="2E2E2E"/>
                          </a:solidFill>
                          <a:latin typeface="Calibri"/>
                        </a:rPr>
                        <a:t>11.5</a:t>
                      </a:r>
                      <a:endParaRPr sz="1100"/>
                    </a:p>
                  </a:txBody>
                  <a:tcPr marL="47625" marR="38100" marT="19050" marB="19050" anchor="ctr">
                    <a:solidFill>
                      <a:srgbClr val="F5F8FA"/>
                    </a:solidFill>
                  </a:tcPr>
                </a:tc>
                <a:tc>
                  <a:txBody>
                    <a:bodyPr/>
                    <a:lstStyle/>
                    <a:p>
                      <a:pPr algn="l"/>
                      <a:r>
                        <a:rPr sz="1100" b="0">
                          <a:solidFill>
                            <a:srgbClr val="2E2E2E"/>
                          </a:solidFill>
                          <a:latin typeface="Calibri"/>
                        </a:rPr>
                        <a:t>12.0</a:t>
                      </a:r>
                      <a:endParaRPr sz="1100"/>
                    </a:p>
                  </a:txBody>
                  <a:tcPr marL="47625" marR="38100" marT="19050" marB="19050" anchor="ctr">
                    <a:solidFill>
                      <a:srgbClr val="F5F8FA"/>
                    </a:solidFill>
                  </a:tcPr>
                </a:tc>
                <a:tc>
                  <a:txBody>
                    <a:bodyPr/>
                    <a:lstStyle/>
                    <a:p>
                      <a:pPr algn="l"/>
                      <a:r>
                        <a:rPr sz="1100" b="0">
                          <a:solidFill>
                            <a:srgbClr val="2E2E2E"/>
                          </a:solidFill>
                          <a:latin typeface="Calibri"/>
                        </a:rPr>
                        <a:t>12.5</a:t>
                      </a:r>
                      <a:endParaRPr sz="1100"/>
                    </a:p>
                  </a:txBody>
                  <a:tcPr marL="47625" marR="38100" marT="19050" marB="19050" anchor="ctr">
                    <a:solidFill>
                      <a:srgbClr val="F5F8FA"/>
                    </a:solidFill>
                  </a:tcPr>
                </a:tc>
                <a:tc>
                  <a:txBody>
                    <a:bodyPr/>
                    <a:lstStyle/>
                    <a:p>
                      <a:pPr algn="l"/>
                      <a:r>
                        <a:rPr sz="1100" b="0">
                          <a:solidFill>
                            <a:srgbClr val="2E2E2E"/>
                          </a:solidFill>
                          <a:latin typeface="Calibri"/>
                        </a:rPr>
                        <a:t>13.1</a:t>
                      </a:r>
                      <a:endParaRPr sz="1100"/>
                    </a:p>
                  </a:txBody>
                  <a:tcPr marL="47625" marR="38100" marT="19050" marB="19050" anchor="ctr">
                    <a:solidFill>
                      <a:srgbClr val="F5F8FA"/>
                    </a:solidFill>
                  </a:tcPr>
                </a:tc>
                <a:tc>
                  <a:txBody>
                    <a:bodyPr/>
                    <a:lstStyle/>
                    <a:p>
                      <a:pPr algn="l"/>
                      <a:r>
                        <a:rPr sz="1100" b="0">
                          <a:solidFill>
                            <a:srgbClr val="2E2E2E"/>
                          </a:solidFill>
                          <a:latin typeface="Calibri"/>
                        </a:rPr>
                        <a:t>13.6</a:t>
                      </a:r>
                      <a:endParaRPr sz="1100"/>
                    </a:p>
                  </a:txBody>
                  <a:tcPr marL="47625" marR="38100" marT="19050" marB="19050" anchor="ctr">
                    <a:solidFill>
                      <a:srgbClr val="F5F8FA"/>
                    </a:solidFill>
                  </a:tcPr>
                </a:tc>
                <a:tc>
                  <a:txBody>
                    <a:bodyPr/>
                    <a:lstStyle/>
                    <a:p>
                      <a:pPr algn="l"/>
                      <a:r>
                        <a:rPr sz="1100" b="0">
                          <a:solidFill>
                            <a:srgbClr val="2E2E2E"/>
                          </a:solidFill>
                          <a:latin typeface="Calibri"/>
                        </a:rPr>
                        <a:t>14.2</a:t>
                      </a:r>
                      <a:endParaRPr sz="1100"/>
                    </a:p>
                  </a:txBody>
                  <a:tcPr marL="47625" marR="38100" marT="19050" marB="19050" anchor="ctr">
                    <a:solidFill>
                      <a:srgbClr val="F5F8FA"/>
                    </a:solidFill>
                  </a:tcPr>
                </a:tc>
                <a:tc>
                  <a:txBody>
                    <a:bodyPr/>
                    <a:lstStyle/>
                    <a:p>
                      <a:pPr algn="l"/>
                      <a:r>
                        <a:rPr sz="1100" b="0">
                          <a:solidFill>
                            <a:srgbClr val="2E2E2E"/>
                          </a:solidFill>
                          <a:latin typeface="Calibri"/>
                        </a:rPr>
                        <a:t>14.8</a:t>
                      </a:r>
                      <a:endParaRPr sz="1100"/>
                    </a:p>
                  </a:txBody>
                  <a:tcPr marL="47625" marR="38100" marT="19050" marB="19050" anchor="ctr">
                    <a:solidFill>
                      <a:srgbClr val="F5F8FA"/>
                    </a:solidFill>
                  </a:tcPr>
                </a:tc>
                <a:tc>
                  <a:txBody>
                    <a:bodyPr/>
                    <a:lstStyle/>
                    <a:p>
                      <a:pPr algn="l"/>
                      <a:r>
                        <a:rPr sz="1100" b="0">
                          <a:solidFill>
                            <a:srgbClr val="2E2E2E"/>
                          </a:solidFill>
                          <a:latin typeface="Calibri"/>
                        </a:rPr>
                        <a:t>15.5</a:t>
                      </a:r>
                      <a:endParaRPr sz="1100"/>
                    </a:p>
                  </a:txBody>
                  <a:tcPr marL="47625" marR="38100" marT="19050" marB="19050" anchor="ctr">
                    <a:solidFill>
                      <a:srgbClr val="F5F8FA"/>
                    </a:solidFill>
                  </a:tcPr>
                </a:tc>
                <a:tc>
                  <a:txBody>
                    <a:bodyPr/>
                    <a:lstStyle/>
                    <a:p>
                      <a:pPr algn="l"/>
                      <a:r>
                        <a:rPr sz="1100" b="0">
                          <a:solidFill>
                            <a:srgbClr val="2E2E2E"/>
                          </a:solidFill>
                          <a:latin typeface="Calibri"/>
                        </a:rPr>
                        <a:t>16.2</a:t>
                      </a:r>
                      <a:endParaRPr sz="1100"/>
                    </a:p>
                  </a:txBody>
                  <a:tcPr marL="47625" marR="38100" marT="19050" marB="19050" anchor="ctr">
                    <a:solidFill>
                      <a:srgbClr val="F5F8FA"/>
                    </a:solidFill>
                  </a:tcPr>
                </a:tc>
                <a:tc>
                  <a:txBody>
                    <a:bodyPr/>
                    <a:lstStyle/>
                    <a:p>
                      <a:pPr algn="l"/>
                      <a:r>
                        <a:rPr sz="1100" b="0">
                          <a:solidFill>
                            <a:srgbClr val="2E2E2E"/>
                          </a:solidFill>
                          <a:latin typeface="Calibri"/>
                        </a:rPr>
                        <a:t>17.1</a:t>
                      </a:r>
                      <a:endParaRPr sz="1100"/>
                    </a:p>
                  </a:txBody>
                  <a:tcPr marL="47625" marR="38100" marT="19050" marB="19050" anchor="ctr">
                    <a:solidFill>
                      <a:srgbClr val="F5F8FA"/>
                    </a:solidFill>
                  </a:tcPr>
                </a:tc>
                <a:tc>
                  <a:txBody>
                    <a:bodyPr/>
                    <a:lstStyle/>
                    <a:p>
                      <a:pPr algn="l"/>
                      <a:r>
                        <a:rPr sz="1100" b="0">
                          <a:solidFill>
                            <a:srgbClr val="2E2E2E"/>
                          </a:solidFill>
                          <a:latin typeface="Calibri"/>
                        </a:rPr>
                        <a:t>18.0</a:t>
                      </a:r>
                      <a:endParaRPr sz="1100"/>
                    </a:p>
                  </a:txBody>
                  <a:tcPr marL="47625" marR="38100" marT="19050" marB="19050" anchor="ctr">
                    <a:solidFill>
                      <a:srgbClr val="F5F8FA"/>
                    </a:solidFill>
                  </a:tcPr>
                </a:tc>
                <a:tc>
                  <a:txBody>
                    <a:bodyPr/>
                    <a:lstStyle/>
                    <a:p>
                      <a:pPr algn="l"/>
                      <a:r>
                        <a:rPr sz="1100" b="0">
                          <a:solidFill>
                            <a:srgbClr val="2E2E2E"/>
                          </a:solidFill>
                          <a:latin typeface="Calibri"/>
                        </a:rPr>
                        <a:t>18.9</a:t>
                      </a:r>
                      <a:endParaRPr sz="1100"/>
                    </a:p>
                  </a:txBody>
                  <a:tcPr marL="47625" marR="38100" marT="19050" marB="19050" anchor="ctr">
                    <a:solidFill>
                      <a:srgbClr val="F5F8FA"/>
                    </a:solidFill>
                  </a:tcPr>
                </a:tc>
                <a:tc>
                  <a:txBody>
                    <a:bodyPr/>
                    <a:lstStyle/>
                    <a:p>
                      <a:pPr algn="l"/>
                      <a:r>
                        <a:rPr sz="1100" b="0">
                          <a:solidFill>
                            <a:srgbClr val="2E2E2E"/>
                          </a:solidFill>
                          <a:latin typeface="Calibri"/>
                        </a:rPr>
                        <a:t>20.0</a:t>
                      </a:r>
                      <a:endParaRPr sz="1100"/>
                    </a:p>
                  </a:txBody>
                  <a:tcPr marL="47625" marR="38100" marT="19050" marB="19050" anchor="ctr">
                    <a:solidFill>
                      <a:srgbClr val="F5F8FA"/>
                    </a:solidFill>
                  </a:tcPr>
                </a:tc>
                <a:tc>
                  <a:txBody>
                    <a:bodyPr/>
                    <a:lstStyle/>
                    <a:p>
                      <a:pPr algn="l"/>
                      <a:r>
                        <a:rPr sz="1100" b="0">
                          <a:solidFill>
                            <a:srgbClr val="2E2E2E"/>
                          </a:solidFill>
                          <a:latin typeface="Calibri"/>
                        </a:rPr>
                        <a:t>21.1</a:t>
                      </a:r>
                      <a:endParaRPr sz="1100"/>
                    </a:p>
                  </a:txBody>
                  <a:tcPr marL="47625" marR="38100" marT="19050" marB="19050" anchor="ctr">
                    <a:solidFill>
                      <a:srgbClr val="F5F8FA"/>
                    </a:solidFill>
                  </a:tcPr>
                </a:tc>
                <a:tc>
                  <a:txBody>
                    <a:bodyPr/>
                    <a:lstStyle/>
                    <a:p>
                      <a:pPr algn="l"/>
                      <a:r>
                        <a:rPr sz="1100" b="0">
                          <a:solidFill>
                            <a:srgbClr val="2E2E2E"/>
                          </a:solidFill>
                          <a:latin typeface="Calibri"/>
                        </a:rPr>
                        <a:t>22.2</a:t>
                      </a:r>
                      <a:endParaRPr sz="1100"/>
                    </a:p>
                  </a:txBody>
                  <a:tcPr marL="47625" marR="38100" marT="19050" marB="19050" anchor="ctr">
                    <a:solidFill>
                      <a:srgbClr val="F5F8FA"/>
                    </a:solidFill>
                  </a:tcPr>
                </a:tc>
                <a:tc>
                  <a:txBody>
                    <a:bodyPr/>
                    <a:lstStyle/>
                    <a:p>
                      <a:pPr algn="l"/>
                      <a:r>
                        <a:rPr sz="1100" b="0">
                          <a:solidFill>
                            <a:srgbClr val="2E2E2E"/>
                          </a:solidFill>
                          <a:latin typeface="Calibri"/>
                        </a:rPr>
                        <a:t>23.4</a:t>
                      </a:r>
                      <a:endParaRPr sz="1100"/>
                    </a:p>
                  </a:txBody>
                  <a:tcPr marL="47625" marR="38100" marT="19050" marB="19050" anchor="ctr">
                    <a:solidFill>
                      <a:srgbClr val="F5F8FA"/>
                    </a:solidFill>
                  </a:tcPr>
                </a:tc>
                <a:tc>
                  <a:txBody>
                    <a:bodyPr/>
                    <a:lstStyle/>
                    <a:p>
                      <a:pPr algn="l"/>
                      <a:r>
                        <a:rPr sz="1100" b="0">
                          <a:solidFill>
                            <a:srgbClr val="2E2E2E"/>
                          </a:solidFill>
                          <a:latin typeface="Calibri"/>
                        </a:rPr>
                        <a:t>5.2%</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15979">
                <a:tc>
                  <a:txBody>
                    <a:bodyPr/>
                    <a:lstStyle/>
                    <a:p>
                      <a:pPr algn="l"/>
                      <a:r>
                        <a:rPr sz="1100" b="1">
                          <a:solidFill>
                            <a:srgbClr val="2E2E2E"/>
                          </a:solidFill>
                          <a:latin typeface="Calibri"/>
                        </a:rPr>
                        <a:t>Choline</a:t>
                      </a:r>
                      <a:endParaRPr sz="1100"/>
                    </a:p>
                  </a:txBody>
                  <a:tcPr marL="47625" marR="38100" marT="19050" marB="19050" anchor="ctr">
                    <a:solidFill>
                      <a:srgbClr val="FFFFFF"/>
                    </a:solidFill>
                  </a:tcPr>
                </a:tc>
                <a:tc>
                  <a:txBody>
                    <a:bodyPr/>
                    <a:lstStyle/>
                    <a:p>
                      <a:pPr algn="l"/>
                      <a:r>
                        <a:rPr sz="1100" b="0">
                          <a:solidFill>
                            <a:srgbClr val="2E2E2E"/>
                          </a:solidFill>
                          <a:latin typeface="Calibri"/>
                        </a:rPr>
                        <a:t>5.96</a:t>
                      </a:r>
                      <a:endParaRPr sz="1100"/>
                    </a:p>
                  </a:txBody>
                  <a:tcPr marL="47625" marR="38100" marT="19050" marB="19050" anchor="ctr">
                    <a:solidFill>
                      <a:srgbClr val="FFFFFF"/>
                    </a:solidFill>
                  </a:tcPr>
                </a:tc>
                <a:tc>
                  <a:txBody>
                    <a:bodyPr/>
                    <a:lstStyle/>
                    <a:p>
                      <a:pPr algn="l"/>
                      <a:r>
                        <a:rPr sz="1100" b="0">
                          <a:solidFill>
                            <a:srgbClr val="2E2E2E"/>
                          </a:solidFill>
                          <a:latin typeface="Calibri"/>
                        </a:rPr>
                        <a:t>6.47</a:t>
                      </a:r>
                      <a:endParaRPr sz="1100"/>
                    </a:p>
                  </a:txBody>
                  <a:tcPr marL="47625" marR="38100" marT="19050" marB="19050" anchor="ctr">
                    <a:solidFill>
                      <a:srgbClr val="FFFFFF"/>
                    </a:solidFill>
                  </a:tcPr>
                </a:tc>
                <a:tc>
                  <a:txBody>
                    <a:bodyPr/>
                    <a:lstStyle/>
                    <a:p>
                      <a:pPr algn="l"/>
                      <a:r>
                        <a:rPr sz="1100" b="0">
                          <a:solidFill>
                            <a:srgbClr val="2E2E2E"/>
                          </a:solidFill>
                          <a:latin typeface="Calibri"/>
                        </a:rPr>
                        <a:t>7.02</a:t>
                      </a:r>
                      <a:endParaRPr sz="1100"/>
                    </a:p>
                  </a:txBody>
                  <a:tcPr marL="47625" marR="38100" marT="19050" marB="19050" anchor="ctr">
                    <a:solidFill>
                      <a:srgbClr val="FFFFFF"/>
                    </a:solidFill>
                  </a:tcPr>
                </a:tc>
                <a:tc>
                  <a:txBody>
                    <a:bodyPr/>
                    <a:lstStyle/>
                    <a:p>
                      <a:pPr algn="l"/>
                      <a:r>
                        <a:rPr sz="1100" b="0">
                          <a:solidFill>
                            <a:srgbClr val="2E2E2E"/>
                          </a:solidFill>
                          <a:latin typeface="Calibri"/>
                        </a:rPr>
                        <a:t>7.63</a:t>
                      </a:r>
                      <a:endParaRPr sz="1100"/>
                    </a:p>
                  </a:txBody>
                  <a:tcPr marL="47625" marR="38100" marT="19050" marB="19050" anchor="ctr">
                    <a:solidFill>
                      <a:srgbClr val="FFFFFF"/>
                    </a:solidFill>
                  </a:tcPr>
                </a:tc>
                <a:tc>
                  <a:txBody>
                    <a:bodyPr/>
                    <a:lstStyle/>
                    <a:p>
                      <a:pPr algn="l"/>
                      <a:r>
                        <a:rPr sz="1100" b="0">
                          <a:solidFill>
                            <a:srgbClr val="2E2E2E"/>
                          </a:solidFill>
                          <a:latin typeface="Calibri"/>
                        </a:rPr>
                        <a:t>8.33</a:t>
                      </a:r>
                      <a:endParaRPr sz="1100"/>
                    </a:p>
                  </a:txBody>
                  <a:tcPr marL="47625" marR="38100" marT="19050" marB="19050" anchor="ctr">
                    <a:solidFill>
                      <a:srgbClr val="FFFFFF"/>
                    </a:solidFill>
                  </a:tcPr>
                </a:tc>
                <a:tc>
                  <a:txBody>
                    <a:bodyPr/>
                    <a:lstStyle/>
                    <a:p>
                      <a:pPr algn="l"/>
                      <a:r>
                        <a:rPr sz="1100" b="0">
                          <a:solidFill>
                            <a:srgbClr val="2E2E2E"/>
                          </a:solidFill>
                          <a:latin typeface="Calibri"/>
                        </a:rPr>
                        <a:t>9.13</a:t>
                      </a:r>
                      <a:endParaRPr sz="1100"/>
                    </a:p>
                  </a:txBody>
                  <a:tcPr marL="47625" marR="38100" marT="19050" marB="19050" anchor="ctr">
                    <a:solidFill>
                      <a:srgbClr val="FFFFFF"/>
                    </a:solidFill>
                  </a:tcPr>
                </a:tc>
                <a:tc>
                  <a:txBody>
                    <a:bodyPr/>
                    <a:lstStyle/>
                    <a:p>
                      <a:pPr algn="l"/>
                      <a:r>
                        <a:rPr sz="1100" b="0">
                          <a:solidFill>
                            <a:srgbClr val="2E2E2E"/>
                          </a:solidFill>
                          <a:latin typeface="Calibri"/>
                        </a:rPr>
                        <a:t>10.1</a:t>
                      </a:r>
                      <a:endParaRPr sz="1100"/>
                    </a:p>
                  </a:txBody>
                  <a:tcPr marL="47625" marR="38100" marT="19050" marB="19050" anchor="ctr">
                    <a:solidFill>
                      <a:srgbClr val="FFFFFF"/>
                    </a:solidFill>
                  </a:tcPr>
                </a:tc>
                <a:tc>
                  <a:txBody>
                    <a:bodyPr/>
                    <a:lstStyle/>
                    <a:p>
                      <a:pPr algn="l"/>
                      <a:r>
                        <a:rPr sz="1100" b="0">
                          <a:solidFill>
                            <a:srgbClr val="2E2E2E"/>
                          </a:solidFill>
                          <a:latin typeface="Calibri"/>
                        </a:rPr>
                        <a:t>11.1</a:t>
                      </a:r>
                      <a:endParaRPr sz="1100"/>
                    </a:p>
                  </a:txBody>
                  <a:tcPr marL="47625" marR="38100" marT="19050" marB="19050" anchor="ctr">
                    <a:solidFill>
                      <a:srgbClr val="FFFFFF"/>
                    </a:solidFill>
                  </a:tcPr>
                </a:tc>
                <a:tc>
                  <a:txBody>
                    <a:bodyPr/>
                    <a:lstStyle/>
                    <a:p>
                      <a:pPr algn="l"/>
                      <a:r>
                        <a:rPr sz="1100" b="0">
                          <a:solidFill>
                            <a:srgbClr val="2E2E2E"/>
                          </a:solidFill>
                          <a:latin typeface="Calibri"/>
                        </a:rPr>
                        <a:t>12.4</a:t>
                      </a:r>
                      <a:endParaRPr sz="1100"/>
                    </a:p>
                  </a:txBody>
                  <a:tcPr marL="47625" marR="38100" marT="19050" marB="19050" anchor="ctr">
                    <a:solidFill>
                      <a:srgbClr val="FFFFFF"/>
                    </a:solidFill>
                  </a:tcPr>
                </a:tc>
                <a:tc>
                  <a:txBody>
                    <a:bodyPr/>
                    <a:lstStyle/>
                    <a:p>
                      <a:pPr algn="l"/>
                      <a:r>
                        <a:rPr sz="1100" b="0">
                          <a:solidFill>
                            <a:srgbClr val="2E2E2E"/>
                          </a:solidFill>
                          <a:latin typeface="Calibri"/>
                        </a:rPr>
                        <a:t>13.9</a:t>
                      </a:r>
                      <a:endParaRPr sz="1100"/>
                    </a:p>
                  </a:txBody>
                  <a:tcPr marL="47625" marR="38100" marT="19050" marB="19050" anchor="ctr">
                    <a:solidFill>
                      <a:srgbClr val="FFFFFF"/>
                    </a:solidFill>
                  </a:tcPr>
                </a:tc>
                <a:tc>
                  <a:txBody>
                    <a:bodyPr/>
                    <a:lstStyle/>
                    <a:p>
                      <a:pPr algn="l"/>
                      <a:r>
                        <a:rPr sz="1100" b="0">
                          <a:solidFill>
                            <a:srgbClr val="2E2E2E"/>
                          </a:solidFill>
                          <a:latin typeface="Calibri"/>
                        </a:rPr>
                        <a:t>15.8</a:t>
                      </a:r>
                      <a:endParaRPr sz="1100"/>
                    </a:p>
                  </a:txBody>
                  <a:tcPr marL="47625" marR="38100" marT="19050" marB="19050" anchor="ctr">
                    <a:solidFill>
                      <a:srgbClr val="FFFFFF"/>
                    </a:solidFill>
                  </a:tcPr>
                </a:tc>
                <a:tc>
                  <a:txBody>
                    <a:bodyPr/>
                    <a:lstStyle/>
                    <a:p>
                      <a:pPr algn="l"/>
                      <a:r>
                        <a:rPr sz="1100" b="0">
                          <a:solidFill>
                            <a:srgbClr val="2E2E2E"/>
                          </a:solidFill>
                          <a:latin typeface="Calibri"/>
                        </a:rPr>
                        <a:t>18.0</a:t>
                      </a:r>
                      <a:endParaRPr sz="1100"/>
                    </a:p>
                  </a:txBody>
                  <a:tcPr marL="47625" marR="38100" marT="19050" marB="19050" anchor="ctr">
                    <a:solidFill>
                      <a:srgbClr val="FFFFFF"/>
                    </a:solidFill>
                  </a:tcPr>
                </a:tc>
                <a:tc>
                  <a:txBody>
                    <a:bodyPr/>
                    <a:lstStyle/>
                    <a:p>
                      <a:pPr algn="l"/>
                      <a:r>
                        <a:rPr sz="1100" b="0">
                          <a:solidFill>
                            <a:srgbClr val="2E2E2E"/>
                          </a:solidFill>
                          <a:latin typeface="Calibri"/>
                        </a:rPr>
                        <a:t>20.6</a:t>
                      </a:r>
                      <a:endParaRPr sz="1100"/>
                    </a:p>
                  </a:txBody>
                  <a:tcPr marL="47625" marR="38100" marT="19050" marB="19050" anchor="ctr">
                    <a:solidFill>
                      <a:srgbClr val="FFFFFF"/>
                    </a:solidFill>
                  </a:tcPr>
                </a:tc>
                <a:tc>
                  <a:txBody>
                    <a:bodyPr/>
                    <a:lstStyle/>
                    <a:p>
                      <a:pPr algn="l"/>
                      <a:r>
                        <a:rPr sz="1100" b="0">
                          <a:solidFill>
                            <a:srgbClr val="2E2E2E"/>
                          </a:solidFill>
                          <a:latin typeface="Calibri"/>
                        </a:rPr>
                        <a:t>23.6</a:t>
                      </a:r>
                      <a:endParaRPr sz="1100"/>
                    </a:p>
                  </a:txBody>
                  <a:tcPr marL="47625" marR="38100" marT="19050" marB="19050" anchor="ctr">
                    <a:solidFill>
                      <a:srgbClr val="FFFFFF"/>
                    </a:solidFill>
                  </a:tcPr>
                </a:tc>
                <a:tc>
                  <a:txBody>
                    <a:bodyPr/>
                    <a:lstStyle/>
                    <a:p>
                      <a:pPr algn="l"/>
                      <a:r>
                        <a:rPr sz="1100" b="0">
                          <a:solidFill>
                            <a:srgbClr val="2E2E2E"/>
                          </a:solidFill>
                          <a:latin typeface="Calibri"/>
                        </a:rPr>
                        <a:t>26.9</a:t>
                      </a:r>
                      <a:endParaRPr sz="1100"/>
                    </a:p>
                  </a:txBody>
                  <a:tcPr marL="47625" marR="38100" marT="19050" marB="19050" anchor="ctr">
                    <a:solidFill>
                      <a:srgbClr val="FFFFFF"/>
                    </a:solidFill>
                  </a:tcPr>
                </a:tc>
                <a:tc>
                  <a:txBody>
                    <a:bodyPr/>
                    <a:lstStyle/>
                    <a:p>
                      <a:pPr algn="l"/>
                      <a:r>
                        <a:rPr sz="1100" b="0">
                          <a:solidFill>
                            <a:srgbClr val="2E2E2E"/>
                          </a:solidFill>
                          <a:latin typeface="Calibri"/>
                        </a:rPr>
                        <a:t>30.6</a:t>
                      </a:r>
                      <a:endParaRPr sz="1100"/>
                    </a:p>
                  </a:txBody>
                  <a:tcPr marL="47625" marR="38100" marT="19050" marB="19050" anchor="ctr">
                    <a:solidFill>
                      <a:srgbClr val="FFFFFF"/>
                    </a:solidFill>
                  </a:tcPr>
                </a:tc>
                <a:tc>
                  <a:txBody>
                    <a:bodyPr/>
                    <a:lstStyle/>
                    <a:p>
                      <a:pPr algn="l"/>
                      <a:r>
                        <a:rPr sz="1100" b="0">
                          <a:solidFill>
                            <a:srgbClr val="2E2E2E"/>
                          </a:solidFill>
                          <a:latin typeface="Calibri"/>
                        </a:rPr>
                        <a:t>12.9%</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15979">
                <a:tc>
                  <a:txBody>
                    <a:bodyPr/>
                    <a:lstStyle/>
                    <a:p>
                      <a:pPr algn="l"/>
                      <a:r>
                        <a:rPr sz="1100" b="1">
                          <a:solidFill>
                            <a:srgbClr val="2E2E2E"/>
                          </a:solidFill>
                          <a:latin typeface="Calibri"/>
                        </a:rPr>
                        <a:t>Calcium &amp; Mineral</a:t>
                      </a:r>
                      <a:endParaRPr sz="1100"/>
                    </a:p>
                  </a:txBody>
                  <a:tcPr marL="47625" marR="38100" marT="19050" marB="19050" anchor="ctr">
                    <a:solidFill>
                      <a:srgbClr val="F5F8FA"/>
                    </a:solidFill>
                  </a:tcPr>
                </a:tc>
                <a:tc>
                  <a:txBody>
                    <a:bodyPr/>
                    <a:lstStyle/>
                    <a:p>
                      <a:pPr algn="l"/>
                      <a:r>
                        <a:rPr sz="1100" b="0">
                          <a:solidFill>
                            <a:srgbClr val="2E2E2E"/>
                          </a:solidFill>
                          <a:latin typeface="Calibri"/>
                        </a:rPr>
                        <a:t>10.1</a:t>
                      </a:r>
                      <a:endParaRPr sz="1100"/>
                    </a:p>
                  </a:txBody>
                  <a:tcPr marL="47625" marR="38100" marT="19050" marB="19050" anchor="ctr">
                    <a:solidFill>
                      <a:srgbClr val="F5F8FA"/>
                    </a:solidFill>
                  </a:tcPr>
                </a:tc>
                <a:tc>
                  <a:txBody>
                    <a:bodyPr/>
                    <a:lstStyle/>
                    <a:p>
                      <a:pPr algn="l"/>
                      <a:r>
                        <a:rPr sz="1100" b="0">
                          <a:solidFill>
                            <a:srgbClr val="2E2E2E"/>
                          </a:solidFill>
                          <a:latin typeface="Calibri"/>
                        </a:rPr>
                        <a:t>10.4</a:t>
                      </a:r>
                      <a:endParaRPr sz="1100"/>
                    </a:p>
                  </a:txBody>
                  <a:tcPr marL="47625" marR="38100" marT="19050" marB="19050" anchor="ctr">
                    <a:solidFill>
                      <a:srgbClr val="F5F8FA"/>
                    </a:solidFill>
                  </a:tcPr>
                </a:tc>
                <a:tc>
                  <a:txBody>
                    <a:bodyPr/>
                    <a:lstStyle/>
                    <a:p>
                      <a:pPr algn="l"/>
                      <a:r>
                        <a:rPr sz="1100" b="0">
                          <a:solidFill>
                            <a:srgbClr val="2E2E2E"/>
                          </a:solidFill>
                          <a:latin typeface="Calibri"/>
                        </a:rPr>
                        <a:t>10.6</a:t>
                      </a:r>
                      <a:endParaRPr sz="1100"/>
                    </a:p>
                  </a:txBody>
                  <a:tcPr marL="47625" marR="38100" marT="19050" marB="19050" anchor="ctr">
                    <a:solidFill>
                      <a:srgbClr val="F5F8FA"/>
                    </a:solidFill>
                  </a:tcPr>
                </a:tc>
                <a:tc>
                  <a:txBody>
                    <a:bodyPr/>
                    <a:lstStyle/>
                    <a:p>
                      <a:pPr algn="l"/>
                      <a:r>
                        <a:rPr sz="1100" b="0">
                          <a:solidFill>
                            <a:srgbClr val="2E2E2E"/>
                          </a:solidFill>
                          <a:latin typeface="Calibri"/>
                        </a:rPr>
                        <a:t>10.9</a:t>
                      </a:r>
                      <a:endParaRPr sz="1100"/>
                    </a:p>
                  </a:txBody>
                  <a:tcPr marL="47625" marR="38100" marT="19050" marB="19050" anchor="ctr">
                    <a:solidFill>
                      <a:srgbClr val="F5F8FA"/>
                    </a:solidFill>
                  </a:tcPr>
                </a:tc>
                <a:tc>
                  <a:txBody>
                    <a:bodyPr/>
                    <a:lstStyle/>
                    <a:p>
                      <a:pPr algn="l"/>
                      <a:r>
                        <a:rPr sz="1100" b="0">
                          <a:solidFill>
                            <a:srgbClr val="2E2E2E"/>
                          </a:solidFill>
                          <a:latin typeface="Calibri"/>
                        </a:rPr>
                        <a:t>11.2</a:t>
                      </a:r>
                      <a:endParaRPr sz="1100"/>
                    </a:p>
                  </a:txBody>
                  <a:tcPr marL="47625" marR="38100" marT="19050" marB="19050" anchor="ctr">
                    <a:solidFill>
                      <a:srgbClr val="F5F8FA"/>
                    </a:solidFill>
                  </a:tcPr>
                </a:tc>
                <a:tc>
                  <a:txBody>
                    <a:bodyPr/>
                    <a:lstStyle/>
                    <a:p>
                      <a:pPr algn="l"/>
                      <a:r>
                        <a:rPr sz="1100" b="0">
                          <a:solidFill>
                            <a:srgbClr val="2E2E2E"/>
                          </a:solidFill>
                          <a:latin typeface="Calibri"/>
                        </a:rPr>
                        <a:t>11.5</a:t>
                      </a:r>
                      <a:endParaRPr sz="1100"/>
                    </a:p>
                  </a:txBody>
                  <a:tcPr marL="47625" marR="38100" marT="19050" marB="19050" anchor="ctr">
                    <a:solidFill>
                      <a:srgbClr val="F5F8FA"/>
                    </a:solidFill>
                  </a:tcPr>
                </a:tc>
                <a:tc>
                  <a:txBody>
                    <a:bodyPr/>
                    <a:lstStyle/>
                    <a:p>
                      <a:pPr algn="l"/>
                      <a:r>
                        <a:rPr sz="1100" b="0">
                          <a:solidFill>
                            <a:srgbClr val="2E2E2E"/>
                          </a:solidFill>
                          <a:latin typeface="Calibri"/>
                        </a:rPr>
                        <a:t>11.8</a:t>
                      </a:r>
                      <a:endParaRPr sz="1100"/>
                    </a:p>
                  </a:txBody>
                  <a:tcPr marL="47625" marR="38100" marT="19050" marB="19050" anchor="ctr">
                    <a:solidFill>
                      <a:srgbClr val="F5F8FA"/>
                    </a:solidFill>
                  </a:tcPr>
                </a:tc>
                <a:tc>
                  <a:txBody>
                    <a:bodyPr/>
                    <a:lstStyle/>
                    <a:p>
                      <a:pPr algn="l"/>
                      <a:r>
                        <a:rPr sz="1100" b="0">
                          <a:solidFill>
                            <a:srgbClr val="2E2E2E"/>
                          </a:solidFill>
                          <a:latin typeface="Calibri"/>
                        </a:rPr>
                        <a:t>12.2</a:t>
                      </a:r>
                      <a:endParaRPr sz="1100"/>
                    </a:p>
                  </a:txBody>
                  <a:tcPr marL="47625" marR="38100" marT="19050" marB="19050" anchor="ctr">
                    <a:solidFill>
                      <a:srgbClr val="F5F8FA"/>
                    </a:solidFill>
                  </a:tcPr>
                </a:tc>
                <a:tc>
                  <a:txBody>
                    <a:bodyPr/>
                    <a:lstStyle/>
                    <a:p>
                      <a:pPr algn="l"/>
                      <a:r>
                        <a:rPr sz="1100" b="0">
                          <a:solidFill>
                            <a:srgbClr val="2E2E2E"/>
                          </a:solidFill>
                          <a:latin typeface="Calibri"/>
                        </a:rPr>
                        <a:t>12.6</a:t>
                      </a:r>
                      <a:endParaRPr sz="1100"/>
                    </a:p>
                  </a:txBody>
                  <a:tcPr marL="47625" marR="38100" marT="19050" marB="19050" anchor="ctr">
                    <a:solidFill>
                      <a:srgbClr val="F5F8FA"/>
                    </a:solidFill>
                  </a:tcPr>
                </a:tc>
                <a:tc>
                  <a:txBody>
                    <a:bodyPr/>
                    <a:lstStyle/>
                    <a:p>
                      <a:pPr algn="l"/>
                      <a:r>
                        <a:rPr sz="1100" b="0">
                          <a:solidFill>
                            <a:srgbClr val="2E2E2E"/>
                          </a:solidFill>
                          <a:latin typeface="Calibri"/>
                        </a:rPr>
                        <a:t>13.0</a:t>
                      </a:r>
                      <a:endParaRPr sz="1100"/>
                    </a:p>
                  </a:txBody>
                  <a:tcPr marL="47625" marR="38100" marT="19050" marB="19050" anchor="ctr">
                    <a:solidFill>
                      <a:srgbClr val="F5F8FA"/>
                    </a:solidFill>
                  </a:tcPr>
                </a:tc>
                <a:tc>
                  <a:txBody>
                    <a:bodyPr/>
                    <a:lstStyle/>
                    <a:p>
                      <a:pPr algn="l"/>
                      <a:r>
                        <a:rPr sz="1100" b="0">
                          <a:solidFill>
                            <a:srgbClr val="2E2E2E"/>
                          </a:solidFill>
                          <a:latin typeface="Calibri"/>
                        </a:rPr>
                        <a:t>13.5</a:t>
                      </a:r>
                      <a:endParaRPr sz="1100"/>
                    </a:p>
                  </a:txBody>
                  <a:tcPr marL="47625" marR="38100" marT="19050" marB="19050" anchor="ctr">
                    <a:solidFill>
                      <a:srgbClr val="F5F8FA"/>
                    </a:solidFill>
                  </a:tcPr>
                </a:tc>
                <a:tc>
                  <a:txBody>
                    <a:bodyPr/>
                    <a:lstStyle/>
                    <a:p>
                      <a:pPr algn="l"/>
                      <a:r>
                        <a:rPr sz="1100" b="0">
                          <a:solidFill>
                            <a:srgbClr val="2E2E2E"/>
                          </a:solidFill>
                          <a:latin typeface="Calibri"/>
                        </a:rPr>
                        <a:t>14.0</a:t>
                      </a:r>
                      <a:endParaRPr sz="1100"/>
                    </a:p>
                  </a:txBody>
                  <a:tcPr marL="47625" marR="38100" marT="19050" marB="19050" anchor="ctr">
                    <a:solidFill>
                      <a:srgbClr val="F5F8FA"/>
                    </a:solidFill>
                  </a:tcPr>
                </a:tc>
                <a:tc>
                  <a:txBody>
                    <a:bodyPr/>
                    <a:lstStyle/>
                    <a:p>
                      <a:pPr algn="l"/>
                      <a:r>
                        <a:rPr sz="1100" b="0">
                          <a:solidFill>
                            <a:srgbClr val="2E2E2E"/>
                          </a:solidFill>
                          <a:latin typeface="Calibri"/>
                        </a:rPr>
                        <a:t>14.6</a:t>
                      </a:r>
                      <a:endParaRPr sz="1100"/>
                    </a:p>
                  </a:txBody>
                  <a:tcPr marL="47625" marR="38100" marT="19050" marB="19050" anchor="ctr">
                    <a:solidFill>
                      <a:srgbClr val="F5F8FA"/>
                    </a:solidFill>
                  </a:tcPr>
                </a:tc>
                <a:tc>
                  <a:txBody>
                    <a:bodyPr/>
                    <a:lstStyle/>
                    <a:p>
                      <a:pPr algn="l"/>
                      <a:r>
                        <a:rPr sz="1100" b="0">
                          <a:solidFill>
                            <a:srgbClr val="2E2E2E"/>
                          </a:solidFill>
                          <a:latin typeface="Calibri"/>
                        </a:rPr>
                        <a:t>15.2</a:t>
                      </a:r>
                      <a:endParaRPr sz="1100"/>
                    </a:p>
                  </a:txBody>
                  <a:tcPr marL="47625" marR="38100" marT="19050" marB="19050" anchor="ctr">
                    <a:solidFill>
                      <a:srgbClr val="F5F8FA"/>
                    </a:solidFill>
                  </a:tcPr>
                </a:tc>
                <a:tc>
                  <a:txBody>
                    <a:bodyPr/>
                    <a:lstStyle/>
                    <a:p>
                      <a:pPr algn="l"/>
                      <a:r>
                        <a:rPr sz="1100" b="0">
                          <a:solidFill>
                            <a:srgbClr val="2E2E2E"/>
                          </a:solidFill>
                          <a:latin typeface="Calibri"/>
                        </a:rPr>
                        <a:t>15.8</a:t>
                      </a:r>
                      <a:endParaRPr sz="1100"/>
                    </a:p>
                  </a:txBody>
                  <a:tcPr marL="47625" marR="38100" marT="19050" marB="19050" anchor="ctr">
                    <a:solidFill>
                      <a:srgbClr val="F5F8FA"/>
                    </a:solidFill>
                  </a:tcPr>
                </a:tc>
                <a:tc>
                  <a:txBody>
                    <a:bodyPr/>
                    <a:lstStyle/>
                    <a:p>
                      <a:pPr algn="l"/>
                      <a:r>
                        <a:rPr sz="1100" b="0">
                          <a:solidFill>
                            <a:srgbClr val="2E2E2E"/>
                          </a:solidFill>
                          <a:latin typeface="Calibri"/>
                        </a:rPr>
                        <a:t>16.4</a:t>
                      </a:r>
                      <a:endParaRPr sz="1100"/>
                    </a:p>
                  </a:txBody>
                  <a:tcPr marL="47625" marR="38100" marT="19050" marB="19050" anchor="ctr">
                    <a:solidFill>
                      <a:srgbClr val="F5F8FA"/>
                    </a:solidFill>
                  </a:tcPr>
                </a:tc>
                <a:tc>
                  <a:txBody>
                    <a:bodyPr/>
                    <a:lstStyle/>
                    <a:p>
                      <a:pPr algn="l"/>
                      <a:r>
                        <a:rPr sz="1100" b="0">
                          <a:solidFill>
                            <a:srgbClr val="2E2E2E"/>
                          </a:solidFill>
                          <a:latin typeface="Calibri"/>
                        </a:rPr>
                        <a:t>3.7%</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r h="215979">
                <a:tc>
                  <a:txBody>
                    <a:bodyPr/>
                    <a:lstStyle/>
                    <a:p>
                      <a:pPr algn="l"/>
                      <a:r>
                        <a:rPr sz="1100" b="1">
                          <a:solidFill>
                            <a:srgbClr val="2E2E2E"/>
                          </a:solidFill>
                          <a:latin typeface="Calibri"/>
                        </a:rPr>
                        <a:t>Probiotic</a:t>
                      </a:r>
                      <a:endParaRPr sz="1100"/>
                    </a:p>
                  </a:txBody>
                  <a:tcPr marL="47625" marR="38100" marT="19050" marB="19050" anchor="ctr">
                    <a:solidFill>
                      <a:srgbClr val="FFFFFF"/>
                    </a:solidFill>
                  </a:tcPr>
                </a:tc>
                <a:tc>
                  <a:txBody>
                    <a:bodyPr/>
                    <a:lstStyle/>
                    <a:p>
                      <a:pPr algn="l"/>
                      <a:r>
                        <a:rPr sz="1100" b="0">
                          <a:solidFill>
                            <a:srgbClr val="2E2E2E"/>
                          </a:solidFill>
                          <a:latin typeface="Calibri"/>
                        </a:rPr>
                        <a:t>6.04</a:t>
                      </a:r>
                      <a:endParaRPr sz="1100"/>
                    </a:p>
                  </a:txBody>
                  <a:tcPr marL="47625" marR="38100" marT="19050" marB="19050" anchor="ctr">
                    <a:solidFill>
                      <a:srgbClr val="FFFFFF"/>
                    </a:solidFill>
                  </a:tcPr>
                </a:tc>
                <a:tc>
                  <a:txBody>
                    <a:bodyPr/>
                    <a:lstStyle/>
                    <a:p>
                      <a:pPr algn="l"/>
                      <a:r>
                        <a:rPr sz="1100" b="0">
                          <a:solidFill>
                            <a:srgbClr val="2E2E2E"/>
                          </a:solidFill>
                          <a:latin typeface="Calibri"/>
                        </a:rPr>
                        <a:t>6.39</a:t>
                      </a:r>
                      <a:endParaRPr sz="1100"/>
                    </a:p>
                  </a:txBody>
                  <a:tcPr marL="47625" marR="38100" marT="19050" marB="19050" anchor="ctr">
                    <a:solidFill>
                      <a:srgbClr val="FFFFFF"/>
                    </a:solidFill>
                  </a:tcPr>
                </a:tc>
                <a:tc>
                  <a:txBody>
                    <a:bodyPr/>
                    <a:lstStyle/>
                    <a:p>
                      <a:pPr algn="l"/>
                      <a:r>
                        <a:rPr sz="1100" b="0">
                          <a:solidFill>
                            <a:srgbClr val="2E2E2E"/>
                          </a:solidFill>
                          <a:latin typeface="Calibri"/>
                        </a:rPr>
                        <a:t>6.73</a:t>
                      </a:r>
                      <a:endParaRPr sz="1100"/>
                    </a:p>
                  </a:txBody>
                  <a:tcPr marL="47625" marR="38100" marT="19050" marB="19050" anchor="ctr">
                    <a:solidFill>
                      <a:srgbClr val="FFFFFF"/>
                    </a:solidFill>
                  </a:tcPr>
                </a:tc>
                <a:tc>
                  <a:txBody>
                    <a:bodyPr/>
                    <a:lstStyle/>
                    <a:p>
                      <a:pPr algn="l"/>
                      <a:r>
                        <a:rPr sz="1100" b="0">
                          <a:solidFill>
                            <a:srgbClr val="2E2E2E"/>
                          </a:solidFill>
                          <a:latin typeface="Calibri"/>
                        </a:rPr>
                        <a:t>7.08</a:t>
                      </a:r>
                      <a:endParaRPr sz="1100"/>
                    </a:p>
                  </a:txBody>
                  <a:tcPr marL="47625" marR="38100" marT="19050" marB="19050" anchor="ctr">
                    <a:solidFill>
                      <a:srgbClr val="FFFFFF"/>
                    </a:solidFill>
                  </a:tcPr>
                </a:tc>
                <a:tc>
                  <a:txBody>
                    <a:bodyPr/>
                    <a:lstStyle/>
                    <a:p>
                      <a:pPr algn="l"/>
                      <a:r>
                        <a:rPr sz="1100" b="0">
                          <a:solidFill>
                            <a:srgbClr val="2E2E2E"/>
                          </a:solidFill>
                          <a:latin typeface="Calibri"/>
                        </a:rPr>
                        <a:t>7.45</a:t>
                      </a:r>
                      <a:endParaRPr sz="1100"/>
                    </a:p>
                  </a:txBody>
                  <a:tcPr marL="47625" marR="38100" marT="19050" marB="19050" anchor="ctr">
                    <a:solidFill>
                      <a:srgbClr val="FFFFFF"/>
                    </a:solidFill>
                  </a:tcPr>
                </a:tc>
                <a:tc>
                  <a:txBody>
                    <a:bodyPr/>
                    <a:lstStyle/>
                    <a:p>
                      <a:pPr algn="l"/>
                      <a:r>
                        <a:rPr sz="1100" b="0">
                          <a:solidFill>
                            <a:srgbClr val="2E2E2E"/>
                          </a:solidFill>
                          <a:latin typeface="Calibri"/>
                        </a:rPr>
                        <a:t>7.90</a:t>
                      </a:r>
                      <a:endParaRPr sz="1100"/>
                    </a:p>
                  </a:txBody>
                  <a:tcPr marL="47625" marR="38100" marT="19050" marB="19050" anchor="ctr">
                    <a:solidFill>
                      <a:srgbClr val="FFFFFF"/>
                    </a:solidFill>
                  </a:tcPr>
                </a:tc>
                <a:tc>
                  <a:txBody>
                    <a:bodyPr/>
                    <a:lstStyle/>
                    <a:p>
                      <a:pPr algn="l"/>
                      <a:r>
                        <a:rPr sz="1100" b="0">
                          <a:solidFill>
                            <a:srgbClr val="2E2E2E"/>
                          </a:solidFill>
                          <a:latin typeface="Calibri"/>
                        </a:rPr>
                        <a:t>8.47</a:t>
                      </a:r>
                      <a:endParaRPr sz="1100"/>
                    </a:p>
                  </a:txBody>
                  <a:tcPr marL="47625" marR="38100" marT="19050" marB="19050" anchor="ctr">
                    <a:solidFill>
                      <a:srgbClr val="FFFFFF"/>
                    </a:solidFill>
                  </a:tcPr>
                </a:tc>
                <a:tc>
                  <a:txBody>
                    <a:bodyPr/>
                    <a:lstStyle/>
                    <a:p>
                      <a:pPr algn="l"/>
                      <a:r>
                        <a:rPr sz="1100" b="0">
                          <a:solidFill>
                            <a:srgbClr val="2E2E2E"/>
                          </a:solidFill>
                          <a:latin typeface="Calibri"/>
                        </a:rPr>
                        <a:t>9.17</a:t>
                      </a:r>
                      <a:endParaRPr sz="1100"/>
                    </a:p>
                  </a:txBody>
                  <a:tcPr marL="47625" marR="38100" marT="19050" marB="19050" anchor="ctr">
                    <a:solidFill>
                      <a:srgbClr val="FFFFFF"/>
                    </a:solidFill>
                  </a:tcPr>
                </a:tc>
                <a:tc>
                  <a:txBody>
                    <a:bodyPr/>
                    <a:lstStyle/>
                    <a:p>
                      <a:pPr algn="l"/>
                      <a:r>
                        <a:rPr sz="1100" b="0">
                          <a:solidFill>
                            <a:srgbClr val="2E2E2E"/>
                          </a:solidFill>
                          <a:latin typeface="Calibri"/>
                        </a:rPr>
                        <a:t>10.0</a:t>
                      </a:r>
                      <a:endParaRPr sz="1100"/>
                    </a:p>
                  </a:txBody>
                  <a:tcPr marL="47625" marR="38100" marT="19050" marB="19050" anchor="ctr">
                    <a:solidFill>
                      <a:srgbClr val="FFFFFF"/>
                    </a:solidFill>
                  </a:tcPr>
                </a:tc>
                <a:tc>
                  <a:txBody>
                    <a:bodyPr/>
                    <a:lstStyle/>
                    <a:p>
                      <a:pPr algn="l"/>
                      <a:r>
                        <a:rPr sz="1100" b="0">
                          <a:solidFill>
                            <a:srgbClr val="2E2E2E"/>
                          </a:solidFill>
                          <a:latin typeface="Calibri"/>
                        </a:rPr>
                        <a:t>11.1</a:t>
                      </a:r>
                      <a:endParaRPr sz="1100"/>
                    </a:p>
                  </a:txBody>
                  <a:tcPr marL="47625" marR="38100" marT="19050" marB="19050" anchor="ctr">
                    <a:solidFill>
                      <a:srgbClr val="FFFFFF"/>
                    </a:solidFill>
                  </a:tcPr>
                </a:tc>
                <a:tc>
                  <a:txBody>
                    <a:bodyPr/>
                    <a:lstStyle/>
                    <a:p>
                      <a:pPr algn="l"/>
                      <a:r>
                        <a:rPr sz="1100" b="0">
                          <a:solidFill>
                            <a:srgbClr val="2E2E2E"/>
                          </a:solidFill>
                          <a:latin typeface="Calibri"/>
                        </a:rPr>
                        <a:t>12.3</a:t>
                      </a:r>
                      <a:endParaRPr sz="1100"/>
                    </a:p>
                  </a:txBody>
                  <a:tcPr marL="47625" marR="38100" marT="19050" marB="19050" anchor="ctr">
                    <a:solidFill>
                      <a:srgbClr val="FFFFFF"/>
                    </a:solidFill>
                  </a:tcPr>
                </a:tc>
                <a:tc>
                  <a:txBody>
                    <a:bodyPr/>
                    <a:lstStyle/>
                    <a:p>
                      <a:pPr algn="l"/>
                      <a:r>
                        <a:rPr sz="1100" b="0">
                          <a:solidFill>
                            <a:srgbClr val="2E2E2E"/>
                          </a:solidFill>
                          <a:latin typeface="Calibri"/>
                        </a:rPr>
                        <a:t>13.7</a:t>
                      </a:r>
                      <a:endParaRPr sz="1100"/>
                    </a:p>
                  </a:txBody>
                  <a:tcPr marL="47625" marR="38100" marT="19050" marB="19050" anchor="ctr">
                    <a:solidFill>
                      <a:srgbClr val="FFFFFF"/>
                    </a:solidFill>
                  </a:tcPr>
                </a:tc>
                <a:tc>
                  <a:txBody>
                    <a:bodyPr/>
                    <a:lstStyle/>
                    <a:p>
                      <a:pPr algn="l"/>
                      <a:r>
                        <a:rPr sz="1100" b="0">
                          <a:solidFill>
                            <a:srgbClr val="2E2E2E"/>
                          </a:solidFill>
                          <a:latin typeface="Calibri"/>
                        </a:rPr>
                        <a:t>15.2</a:t>
                      </a:r>
                      <a:endParaRPr sz="1100"/>
                    </a:p>
                  </a:txBody>
                  <a:tcPr marL="47625" marR="38100" marT="19050" marB="19050" anchor="ctr">
                    <a:solidFill>
                      <a:srgbClr val="FFFFFF"/>
                    </a:solidFill>
                  </a:tcPr>
                </a:tc>
                <a:tc>
                  <a:txBody>
                    <a:bodyPr/>
                    <a:lstStyle/>
                    <a:p>
                      <a:pPr algn="l"/>
                      <a:r>
                        <a:rPr sz="1100" b="0">
                          <a:solidFill>
                            <a:srgbClr val="2E2E2E"/>
                          </a:solidFill>
                          <a:latin typeface="Calibri"/>
                        </a:rPr>
                        <a:t>17.0</a:t>
                      </a:r>
                      <a:endParaRPr sz="1100"/>
                    </a:p>
                  </a:txBody>
                  <a:tcPr marL="47625" marR="38100" marT="19050" marB="19050" anchor="ctr">
                    <a:solidFill>
                      <a:srgbClr val="FFFFFF"/>
                    </a:solidFill>
                  </a:tcPr>
                </a:tc>
                <a:tc>
                  <a:txBody>
                    <a:bodyPr/>
                    <a:lstStyle/>
                    <a:p>
                      <a:pPr algn="l"/>
                      <a:r>
                        <a:rPr sz="1100" b="0">
                          <a:solidFill>
                            <a:srgbClr val="2E2E2E"/>
                          </a:solidFill>
                          <a:latin typeface="Calibri"/>
                        </a:rPr>
                        <a:t>19.0</a:t>
                      </a:r>
                      <a:endParaRPr sz="1100"/>
                    </a:p>
                  </a:txBody>
                  <a:tcPr marL="47625" marR="38100" marT="19050" marB="19050" anchor="ctr">
                    <a:solidFill>
                      <a:srgbClr val="FFFFFF"/>
                    </a:solidFill>
                  </a:tcPr>
                </a:tc>
                <a:tc>
                  <a:txBody>
                    <a:bodyPr/>
                    <a:lstStyle/>
                    <a:p>
                      <a:pPr algn="l"/>
                      <a:r>
                        <a:rPr sz="1100" b="0">
                          <a:solidFill>
                            <a:srgbClr val="2E2E2E"/>
                          </a:solidFill>
                          <a:latin typeface="Calibri"/>
                        </a:rPr>
                        <a:t>21.1</a:t>
                      </a:r>
                      <a:endParaRPr sz="1100"/>
                    </a:p>
                  </a:txBody>
                  <a:tcPr marL="47625" marR="38100" marT="19050" marB="19050" anchor="ctr">
                    <a:solidFill>
                      <a:srgbClr val="FFFFFF"/>
                    </a:solidFill>
                  </a:tcPr>
                </a:tc>
                <a:tc>
                  <a:txBody>
                    <a:bodyPr/>
                    <a:lstStyle/>
                    <a:p>
                      <a:pPr algn="l"/>
                      <a:r>
                        <a:rPr sz="1100" b="0">
                          <a:solidFill>
                            <a:srgbClr val="2E2E2E"/>
                          </a:solidFill>
                          <a:latin typeface="Calibri"/>
                        </a:rPr>
                        <a:t>10.3%</a:t>
                      </a:r>
                      <a:endParaRPr sz="1100"/>
                    </a:p>
                  </a:txBody>
                  <a:tcPr marL="47625" marR="38100" marT="19050" marB="19050" anchor="ctr">
                    <a:solidFill>
                      <a:srgbClr val="FFFFFF"/>
                    </a:solidFill>
                  </a:tcPr>
                </a:tc>
                <a:extLst>
                  <a:ext uri="{0D108BD9-81ED-4DB2-BD59-A6C34878D82A}">
                    <a16:rowId xmlns:a16="http://schemas.microsoft.com/office/drawing/2014/main" val="10007"/>
                  </a:ext>
                </a:extLst>
              </a:tr>
              <a:tr h="215979">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l"/>
                      <a:r>
                        <a:rPr sz="1100" b="1">
                          <a:solidFill>
                            <a:srgbClr val="2E2E2E"/>
                          </a:solidFill>
                          <a:latin typeface="Calibri"/>
                        </a:rPr>
                        <a:t>181.5</a:t>
                      </a:r>
                      <a:endParaRPr sz="1100"/>
                    </a:p>
                  </a:txBody>
                  <a:tcPr marL="47625" marR="38100" marT="19050" marB="19050" anchor="ctr">
                    <a:solidFill>
                      <a:srgbClr val="E0E8EF"/>
                    </a:solidFill>
                  </a:tcPr>
                </a:tc>
                <a:tc>
                  <a:txBody>
                    <a:bodyPr/>
                    <a:lstStyle/>
                    <a:p>
                      <a:pPr algn="l"/>
                      <a:r>
                        <a:rPr sz="1100" b="1">
                          <a:solidFill>
                            <a:srgbClr val="2E2E2E"/>
                          </a:solidFill>
                          <a:latin typeface="Calibri"/>
                        </a:rPr>
                        <a:t>190.1</a:t>
                      </a:r>
                      <a:endParaRPr sz="1100"/>
                    </a:p>
                  </a:txBody>
                  <a:tcPr marL="47625" marR="38100" marT="19050" marB="19050" anchor="ctr">
                    <a:solidFill>
                      <a:srgbClr val="E0E8EF"/>
                    </a:solidFill>
                  </a:tcPr>
                </a:tc>
                <a:tc>
                  <a:txBody>
                    <a:bodyPr/>
                    <a:lstStyle/>
                    <a:p>
                      <a:pPr algn="l"/>
                      <a:r>
                        <a:rPr sz="1100" b="1">
                          <a:solidFill>
                            <a:srgbClr val="2E2E2E"/>
                          </a:solidFill>
                          <a:latin typeface="Calibri"/>
                        </a:rPr>
                        <a:t>199.2</a:t>
                      </a:r>
                      <a:endParaRPr sz="1100"/>
                    </a:p>
                  </a:txBody>
                  <a:tcPr marL="47625" marR="38100" marT="19050" marB="19050" anchor="ctr">
                    <a:solidFill>
                      <a:srgbClr val="E0E8EF"/>
                    </a:solidFill>
                  </a:tcPr>
                </a:tc>
                <a:tc>
                  <a:txBody>
                    <a:bodyPr/>
                    <a:lstStyle/>
                    <a:p>
                      <a:pPr algn="l"/>
                      <a:r>
                        <a:rPr sz="1100" b="1">
                          <a:solidFill>
                            <a:srgbClr val="2E2E2E"/>
                          </a:solidFill>
                          <a:latin typeface="Calibri"/>
                        </a:rPr>
                        <a:t>208.9</a:t>
                      </a:r>
                      <a:endParaRPr sz="1100"/>
                    </a:p>
                  </a:txBody>
                  <a:tcPr marL="47625" marR="38100" marT="19050" marB="19050" anchor="ctr">
                    <a:solidFill>
                      <a:srgbClr val="E0E8EF"/>
                    </a:solidFill>
                  </a:tcPr>
                </a:tc>
                <a:tc>
                  <a:txBody>
                    <a:bodyPr/>
                    <a:lstStyle/>
                    <a:p>
                      <a:pPr algn="l"/>
                      <a:r>
                        <a:rPr sz="1100" b="1">
                          <a:solidFill>
                            <a:srgbClr val="2E2E2E"/>
                          </a:solidFill>
                          <a:latin typeface="Calibri"/>
                        </a:rPr>
                        <a:t>219.1</a:t>
                      </a:r>
                      <a:endParaRPr sz="1100"/>
                    </a:p>
                  </a:txBody>
                  <a:tcPr marL="47625" marR="38100" marT="19050" marB="19050" anchor="ctr">
                    <a:solidFill>
                      <a:srgbClr val="E0E8EF"/>
                    </a:solidFill>
                  </a:tcPr>
                </a:tc>
                <a:tc>
                  <a:txBody>
                    <a:bodyPr/>
                    <a:lstStyle/>
                    <a:p>
                      <a:pPr algn="l"/>
                      <a:r>
                        <a:rPr sz="1100" b="1">
                          <a:solidFill>
                            <a:srgbClr val="2E2E2E"/>
                          </a:solidFill>
                          <a:latin typeface="Calibri"/>
                        </a:rPr>
                        <a:t>230.6</a:t>
                      </a:r>
                      <a:endParaRPr sz="1100"/>
                    </a:p>
                  </a:txBody>
                  <a:tcPr marL="47625" marR="38100" marT="19050" marB="19050" anchor="ctr">
                    <a:solidFill>
                      <a:srgbClr val="E0E8EF"/>
                    </a:solidFill>
                  </a:tcPr>
                </a:tc>
                <a:tc>
                  <a:txBody>
                    <a:bodyPr/>
                    <a:lstStyle/>
                    <a:p>
                      <a:pPr algn="l"/>
                      <a:r>
                        <a:rPr sz="1100" b="1">
                          <a:solidFill>
                            <a:srgbClr val="2E2E2E"/>
                          </a:solidFill>
                          <a:latin typeface="Calibri"/>
                        </a:rPr>
                        <a:t>243.3</a:t>
                      </a:r>
                      <a:endParaRPr sz="1100"/>
                    </a:p>
                  </a:txBody>
                  <a:tcPr marL="47625" marR="38100" marT="19050" marB="19050" anchor="ctr">
                    <a:solidFill>
                      <a:srgbClr val="E0E8EF"/>
                    </a:solidFill>
                  </a:tcPr>
                </a:tc>
                <a:tc>
                  <a:txBody>
                    <a:bodyPr/>
                    <a:lstStyle/>
                    <a:p>
                      <a:pPr algn="l"/>
                      <a:r>
                        <a:rPr sz="1100" b="1">
                          <a:solidFill>
                            <a:srgbClr val="2E2E2E"/>
                          </a:solidFill>
                          <a:latin typeface="Calibri"/>
                        </a:rPr>
                        <a:t>257.4</a:t>
                      </a:r>
                      <a:endParaRPr sz="1100"/>
                    </a:p>
                  </a:txBody>
                  <a:tcPr marL="47625" marR="38100" marT="19050" marB="19050" anchor="ctr">
                    <a:solidFill>
                      <a:srgbClr val="E0E8EF"/>
                    </a:solidFill>
                  </a:tcPr>
                </a:tc>
                <a:tc>
                  <a:txBody>
                    <a:bodyPr/>
                    <a:lstStyle/>
                    <a:p>
                      <a:pPr algn="l"/>
                      <a:r>
                        <a:rPr sz="1100" b="1">
                          <a:solidFill>
                            <a:srgbClr val="2E2E2E"/>
                          </a:solidFill>
                          <a:latin typeface="Calibri"/>
                        </a:rPr>
                        <a:t>273.5</a:t>
                      </a:r>
                      <a:endParaRPr sz="1100"/>
                    </a:p>
                  </a:txBody>
                  <a:tcPr marL="47625" marR="38100" marT="19050" marB="19050" anchor="ctr">
                    <a:solidFill>
                      <a:srgbClr val="E0E8EF"/>
                    </a:solidFill>
                  </a:tcPr>
                </a:tc>
                <a:tc>
                  <a:txBody>
                    <a:bodyPr/>
                    <a:lstStyle/>
                    <a:p>
                      <a:pPr algn="l"/>
                      <a:r>
                        <a:rPr sz="1100" b="1">
                          <a:solidFill>
                            <a:srgbClr val="2E2E2E"/>
                          </a:solidFill>
                          <a:latin typeface="Calibri"/>
                        </a:rPr>
                        <a:t>291.5</a:t>
                      </a:r>
                      <a:endParaRPr sz="1100"/>
                    </a:p>
                  </a:txBody>
                  <a:tcPr marL="47625" marR="38100" marT="19050" marB="19050" anchor="ctr">
                    <a:solidFill>
                      <a:srgbClr val="E0E8EF"/>
                    </a:solidFill>
                  </a:tcPr>
                </a:tc>
                <a:tc>
                  <a:txBody>
                    <a:bodyPr/>
                    <a:lstStyle/>
                    <a:p>
                      <a:pPr algn="l"/>
                      <a:r>
                        <a:rPr sz="1100" b="1">
                          <a:solidFill>
                            <a:srgbClr val="2E2E2E"/>
                          </a:solidFill>
                          <a:latin typeface="Calibri"/>
                        </a:rPr>
                        <a:t>311.5</a:t>
                      </a:r>
                      <a:endParaRPr sz="1100"/>
                    </a:p>
                  </a:txBody>
                  <a:tcPr marL="47625" marR="38100" marT="19050" marB="19050" anchor="ctr">
                    <a:solidFill>
                      <a:srgbClr val="E0E8EF"/>
                    </a:solidFill>
                  </a:tcPr>
                </a:tc>
                <a:tc>
                  <a:txBody>
                    <a:bodyPr/>
                    <a:lstStyle/>
                    <a:p>
                      <a:pPr algn="l"/>
                      <a:r>
                        <a:rPr sz="1100" b="1">
                          <a:solidFill>
                            <a:srgbClr val="2E2E2E"/>
                          </a:solidFill>
                          <a:latin typeface="Calibri"/>
                        </a:rPr>
                        <a:t>333.4</a:t>
                      </a:r>
                      <a:endParaRPr sz="1100"/>
                    </a:p>
                  </a:txBody>
                  <a:tcPr marL="47625" marR="38100" marT="19050" marB="19050" anchor="ctr">
                    <a:solidFill>
                      <a:srgbClr val="E0E8EF"/>
                    </a:solidFill>
                  </a:tcPr>
                </a:tc>
                <a:tc>
                  <a:txBody>
                    <a:bodyPr/>
                    <a:lstStyle/>
                    <a:p>
                      <a:pPr algn="l"/>
                      <a:r>
                        <a:rPr sz="1100" b="1">
                          <a:solidFill>
                            <a:srgbClr val="2E2E2E"/>
                          </a:solidFill>
                          <a:latin typeface="Calibri"/>
                        </a:rPr>
                        <a:t>357.0</a:t>
                      </a:r>
                      <a:endParaRPr sz="1100"/>
                    </a:p>
                  </a:txBody>
                  <a:tcPr marL="47625" marR="38100" marT="19050" marB="19050" anchor="ctr">
                    <a:solidFill>
                      <a:srgbClr val="E0E8EF"/>
                    </a:solidFill>
                  </a:tcPr>
                </a:tc>
                <a:tc>
                  <a:txBody>
                    <a:bodyPr/>
                    <a:lstStyle/>
                    <a:p>
                      <a:pPr algn="l"/>
                      <a:r>
                        <a:rPr sz="1100" b="1">
                          <a:solidFill>
                            <a:srgbClr val="2E2E2E"/>
                          </a:solidFill>
                          <a:latin typeface="Calibri"/>
                        </a:rPr>
                        <a:t>382.4</a:t>
                      </a:r>
                      <a:endParaRPr sz="1100"/>
                    </a:p>
                  </a:txBody>
                  <a:tcPr marL="47625" marR="38100" marT="19050" marB="19050" anchor="ctr">
                    <a:solidFill>
                      <a:srgbClr val="E0E8EF"/>
                    </a:solidFill>
                  </a:tcPr>
                </a:tc>
                <a:tc>
                  <a:txBody>
                    <a:bodyPr/>
                    <a:lstStyle/>
                    <a:p>
                      <a:pPr algn="l"/>
                      <a:r>
                        <a:rPr sz="1100" b="1">
                          <a:solidFill>
                            <a:srgbClr val="2E2E2E"/>
                          </a:solidFill>
                          <a:latin typeface="Calibri"/>
                        </a:rPr>
                        <a:t>409.3</a:t>
                      </a:r>
                      <a:endParaRPr sz="1100"/>
                    </a:p>
                  </a:txBody>
                  <a:tcPr marL="47625" marR="38100" marT="19050" marB="19050" anchor="ctr">
                    <a:solidFill>
                      <a:srgbClr val="E0E8EF"/>
                    </a:solidFill>
                  </a:tcPr>
                </a:tc>
                <a:tc>
                  <a:txBody>
                    <a:bodyPr/>
                    <a:lstStyle/>
                    <a:p>
                      <a:pPr algn="l"/>
                      <a:r>
                        <a:rPr sz="1100" b="1">
                          <a:solidFill>
                            <a:srgbClr val="2E2E2E"/>
                          </a:solidFill>
                          <a:latin typeface="Calibri"/>
                        </a:rPr>
                        <a:t>437.8</a:t>
                      </a:r>
                      <a:endParaRPr sz="1100"/>
                    </a:p>
                  </a:txBody>
                  <a:tcPr marL="47625" marR="38100" marT="19050" marB="19050" anchor="ctr">
                    <a:solidFill>
                      <a:srgbClr val="E0E8EF"/>
                    </a:solidFill>
                  </a:tcPr>
                </a:tc>
                <a:tc>
                  <a:txBody>
                    <a:bodyPr/>
                    <a:lstStyle/>
                    <a:p>
                      <a:pPr algn="l"/>
                      <a:r>
                        <a:rPr sz="1100" b="1">
                          <a:solidFill>
                            <a:srgbClr val="2E2E2E"/>
                          </a:solidFill>
                          <a:latin typeface="Calibri"/>
                        </a:rPr>
                        <a:t>6.6%</a:t>
                      </a:r>
                      <a:endParaRPr sz="1100"/>
                    </a:p>
                  </a:txBody>
                  <a:tcPr marL="47625" marR="38100" marT="19050" marB="19050" anchor="ctr">
                    <a:solidFill>
                      <a:srgbClr val="E0E8EF"/>
                    </a:solidFill>
                  </a:tcPr>
                </a:tc>
                <a:extLst>
                  <a:ext uri="{0D108BD9-81ED-4DB2-BD59-A6C34878D82A}">
                    <a16:rowId xmlns:a16="http://schemas.microsoft.com/office/drawing/2014/main" val="10008"/>
                  </a:ext>
                </a:extLst>
              </a:tr>
            </a:tbl>
          </a:graphicData>
        </a:graphic>
      </p:graphicFrame>
      <p:sp>
        <p:nvSpPr>
          <p:cNvPr id="14" name="TextBox 13"/>
          <p:cNvSpPr txBox="1"/>
          <p:nvPr/>
        </p:nvSpPr>
        <p:spPr>
          <a:xfrm>
            <a:off x="219075" y="319087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524250"/>
            <a:ext cx="11906250" cy="3105150"/>
          </a:xfrm>
          <a:prstGeom prst="roundRect">
            <a:avLst>
              <a:gd name="adj" fmla="val 245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6225" y="3609975"/>
            <a:ext cx="11639550" cy="209550"/>
          </a:xfrm>
          <a:prstGeom prst="rect">
            <a:avLst/>
          </a:prstGeom>
          <a:noFill/>
        </p:spPr>
        <p:txBody>
          <a:bodyPr wrap="square" lIns="0" tIns="9525" rIns="19050" bIns="9525">
            <a:spAutoFit/>
          </a:bodyPr>
          <a:lstStyle/>
          <a:p>
            <a:pPr algn="l"/>
            <a:r>
              <a:rPr sz="1300" b="1">
                <a:solidFill>
                  <a:srgbClr val="0B2E4A"/>
                </a:solidFill>
                <a:latin typeface="Calibri"/>
              </a:rPr>
              <a:t>USA Value Analysis, By Product Type</a:t>
            </a:r>
          </a:p>
        </p:txBody>
      </p:sp>
      <p:sp>
        <p:nvSpPr>
          <p:cNvPr id="17" name="Rectangle 16"/>
          <p:cNvSpPr/>
          <p:nvPr/>
        </p:nvSpPr>
        <p:spPr>
          <a:xfrm>
            <a:off x="276225" y="38481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6225" y="3933825"/>
            <a:ext cx="11639550" cy="2619375"/>
          </a:xfrm>
          <a:prstGeom prst="rect">
            <a:avLst/>
          </a:prstGeom>
          <a:noFill/>
        </p:spPr>
        <p:txBody>
          <a:bodyPr wrap="square" lIns="0" tIns="9525" rIns="19050" bIns="9525">
            <a:spAutoFit/>
          </a:bodyPr>
          <a:lstStyle/>
          <a:p>
            <a:pPr algn="l">
              <a:lnSpc>
                <a:spcPct val="110000"/>
              </a:lnSpc>
              <a:spcBef>
                <a:spcPts val="0"/>
              </a:spcBef>
              <a:spcAft>
                <a:spcPts val="500"/>
              </a:spcAft>
            </a:pPr>
            <a:r>
              <a:rPr sz="1150" b="0">
                <a:solidFill>
                  <a:srgbClr val="2E2E2E"/>
                </a:solidFill>
                <a:latin typeface="Calibri"/>
              </a:rPr>
              <a:t>Multivitamin segment is projected to register 4.1X higher value than DHA / Omega-3 segment in 2036. Among prenatal vitamin supplements by product type, choline segment is expected to witness the highest CAGR of 12.9% over the forecast period.</a:t>
            </a:r>
          </a:p>
          <a:p>
            <a:pPr algn="l">
              <a:lnSpc>
                <a:spcPct val="110000"/>
              </a:lnSpc>
              <a:spcBef>
                <a:spcPts val="0"/>
              </a:spcBef>
              <a:spcAft>
                <a:spcPts val="500"/>
              </a:spcAft>
            </a:pPr>
            <a:r>
              <a:rPr sz="1150" b="0">
                <a:solidFill>
                  <a:srgbClr val="2E2E2E"/>
                </a:solidFill>
                <a:latin typeface="Calibri"/>
              </a:rPr>
              <a:t>In terms of value share by product type, the multivitamin segment is expected to dominate the market, losing 252 BPS and accounting for 58.9% share by 2036.</a:t>
            </a:r>
          </a:p>
          <a:p>
            <a:pPr algn="l">
              <a:lnSpc>
                <a:spcPct val="110000"/>
              </a:lnSpc>
              <a:spcBef>
                <a:spcPts val="0"/>
              </a:spcBef>
              <a:spcAft>
                <a:spcPts val="500"/>
              </a:spcAft>
            </a:pPr>
            <a:r>
              <a:rPr sz="1150" b="0">
                <a:solidFill>
                  <a:srgbClr val="2E2E2E"/>
                </a:solidFill>
                <a:latin typeface="Calibri"/>
              </a:rPr>
              <a:t>Choline is expected to gain 303 BPS of value share as it becomes the clearest prenatal nutrient upgrade, particularly in premium DTC brands and practitioner-led protocols, while DHA / omega-3 adds 145 BPS on fetal brain and eye development messaging and algae-based options. Probiotics gain 140 BPS from rising microbiome awareness. Multivitamins are expected to lose 252 BPS, as penetration is already high and most growth now comes from add-on products rather than the core formula.</a:t>
            </a:r>
          </a:p>
        </p:txBody>
      </p:sp>
      <p:sp>
        <p:nvSpPr>
          <p:cNvPr id="19" name="TextBox 1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Market Value &amp; Share Shift, By Product Type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composition by Product Type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7210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Value Composition, By Product Type ·  2021 / 2026 / 2036 (US$ Mn)  ·  right axis = BPS share shift</a:t>
            </a:r>
          </a:p>
        </p:txBody>
      </p:sp>
      <p:graphicFrame>
        <p:nvGraphicFramePr>
          <p:cNvPr id="13" name="Chart 12"/>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p:cNvSpPr txBox="1"/>
          <p:nvPr/>
        </p:nvSpPr>
        <p:spPr>
          <a:xfrm>
            <a:off x="4852797" y="1419225"/>
            <a:ext cx="2595753" cy="177927"/>
          </a:xfrm>
          <a:prstGeom prst="rect">
            <a:avLst/>
          </a:prstGeom>
          <a:noFill/>
        </p:spPr>
        <p:txBody>
          <a:bodyPr wrap="square" lIns="28575" tIns="9525" rIns="2857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3932301"/>
            <a:ext cx="38100" cy="38100"/>
          </a:xfrm>
          <a:prstGeom prst="rect">
            <a:avLst/>
          </a:prstGeom>
          <a:noFill/>
        </p:spPr>
        <p:txBody>
          <a:bodyPr wrap="none">
            <a:spAutoFit/>
          </a:bodyPr>
          <a:lstStyle/>
          <a:p>
            <a:endParaRPr/>
          </a:p>
        </p:txBody>
      </p:sp>
      <p:sp>
        <p:nvSpPr>
          <p:cNvPr id="16" name="FMI Legend Chip"/>
          <p:cNvSpPr/>
          <p:nvPr/>
        </p:nvSpPr>
        <p:spPr>
          <a:xfrm>
            <a:off x="4928997" y="1595539"/>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Isosceles Triangle 16"/>
          <p:cNvSpPr/>
          <p:nvPr/>
        </p:nvSpPr>
        <p:spPr>
          <a:xfrm rot="10800000">
            <a:off x="5090922" y="159077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BPS Name 1"/>
          <p:cNvSpPr txBox="1"/>
          <p:nvPr/>
        </p:nvSpPr>
        <p:spPr>
          <a:xfrm>
            <a:off x="5233797" y="1514576"/>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Calcium &amp; Mineral</a:t>
            </a:r>
          </a:p>
        </p:txBody>
      </p:sp>
      <p:sp>
        <p:nvSpPr>
          <p:cNvPr id="19" name="BPS Value 1"/>
          <p:cNvSpPr txBox="1"/>
          <p:nvPr/>
        </p:nvSpPr>
        <p:spPr>
          <a:xfrm>
            <a:off x="6896100" y="1576489"/>
            <a:ext cx="514350" cy="123825"/>
          </a:xfrm>
          <a:prstGeom prst="rect">
            <a:avLst/>
          </a:prstGeom>
          <a:noFill/>
        </p:spPr>
        <p:txBody>
          <a:bodyPr wrap="none" lIns="0" tIns="0" rIns="0" bIns="0" anchor="ctr">
            <a:spAutoFit/>
          </a:bodyPr>
          <a:lstStyle/>
          <a:p>
            <a:pPr algn="r"/>
            <a:r>
              <a:rPr sz="900" b="1">
                <a:solidFill>
                  <a:srgbClr val="E44D3A"/>
                </a:solidFill>
                <a:latin typeface="Calibri"/>
              </a:rPr>
              <a:t>-122</a:t>
            </a:r>
          </a:p>
        </p:txBody>
      </p:sp>
      <p:sp>
        <p:nvSpPr>
          <p:cNvPr id="20" name="FMI Legend Chip"/>
          <p:cNvSpPr/>
          <p:nvPr/>
        </p:nvSpPr>
        <p:spPr>
          <a:xfrm>
            <a:off x="4928997" y="1798676"/>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Isosceles Triangle 20"/>
          <p:cNvSpPr/>
          <p:nvPr/>
        </p:nvSpPr>
        <p:spPr>
          <a:xfrm>
            <a:off x="5090922" y="179391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BPS Name 2"/>
          <p:cNvSpPr txBox="1"/>
          <p:nvPr/>
        </p:nvSpPr>
        <p:spPr>
          <a:xfrm>
            <a:off x="5233797" y="1717713"/>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Probiotic</a:t>
            </a:r>
          </a:p>
        </p:txBody>
      </p:sp>
      <p:sp>
        <p:nvSpPr>
          <p:cNvPr id="23" name="BPS Value 2"/>
          <p:cNvSpPr txBox="1"/>
          <p:nvPr/>
        </p:nvSpPr>
        <p:spPr>
          <a:xfrm>
            <a:off x="6896100" y="1779626"/>
            <a:ext cx="514350" cy="123825"/>
          </a:xfrm>
          <a:prstGeom prst="rect">
            <a:avLst/>
          </a:prstGeom>
          <a:noFill/>
        </p:spPr>
        <p:txBody>
          <a:bodyPr wrap="none" lIns="0" tIns="0" rIns="0" bIns="0" anchor="ctr">
            <a:spAutoFit/>
          </a:bodyPr>
          <a:lstStyle/>
          <a:p>
            <a:pPr algn="r"/>
            <a:r>
              <a:rPr sz="900" b="1">
                <a:solidFill>
                  <a:srgbClr val="2E7D32"/>
                </a:solidFill>
                <a:latin typeface="Calibri"/>
              </a:rPr>
              <a:t>+140</a:t>
            </a:r>
          </a:p>
        </p:txBody>
      </p:sp>
      <p:sp>
        <p:nvSpPr>
          <p:cNvPr id="24" name="FMI Legend Chip"/>
          <p:cNvSpPr/>
          <p:nvPr/>
        </p:nvSpPr>
        <p:spPr>
          <a:xfrm>
            <a:off x="4928997" y="2039726"/>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Isosceles Triangle 24"/>
          <p:cNvSpPr/>
          <p:nvPr/>
        </p:nvSpPr>
        <p:spPr>
          <a:xfrm rot="10800000">
            <a:off x="5090922" y="203496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BPS Name 3"/>
          <p:cNvSpPr txBox="1"/>
          <p:nvPr/>
        </p:nvSpPr>
        <p:spPr>
          <a:xfrm>
            <a:off x="5233797" y="1958763"/>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Folate / Folic Acid</a:t>
            </a:r>
          </a:p>
        </p:txBody>
      </p:sp>
      <p:sp>
        <p:nvSpPr>
          <p:cNvPr id="27" name="BPS Value 3"/>
          <p:cNvSpPr txBox="1"/>
          <p:nvPr/>
        </p:nvSpPr>
        <p:spPr>
          <a:xfrm>
            <a:off x="6896100" y="2020676"/>
            <a:ext cx="514350" cy="123825"/>
          </a:xfrm>
          <a:prstGeom prst="rect">
            <a:avLst/>
          </a:prstGeom>
          <a:noFill/>
        </p:spPr>
        <p:txBody>
          <a:bodyPr wrap="none" lIns="0" tIns="0" rIns="0" bIns="0" anchor="ctr">
            <a:spAutoFit/>
          </a:bodyPr>
          <a:lstStyle/>
          <a:p>
            <a:pPr algn="r"/>
            <a:r>
              <a:rPr sz="900" b="1">
                <a:solidFill>
                  <a:srgbClr val="E44D3A"/>
                </a:solidFill>
                <a:latin typeface="Calibri"/>
              </a:rPr>
              <a:t>-78</a:t>
            </a:r>
          </a:p>
        </p:txBody>
      </p:sp>
      <p:sp>
        <p:nvSpPr>
          <p:cNvPr id="28" name="FMI Legend Chip"/>
          <p:cNvSpPr/>
          <p:nvPr/>
        </p:nvSpPr>
        <p:spPr>
          <a:xfrm>
            <a:off x="4928997" y="230699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Isosceles Triangle 28"/>
          <p:cNvSpPr/>
          <p:nvPr/>
        </p:nvSpPr>
        <p:spPr>
          <a:xfrm rot="10800000">
            <a:off x="5090922" y="230223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BPS Name 4"/>
          <p:cNvSpPr txBox="1"/>
          <p:nvPr/>
        </p:nvSpPr>
        <p:spPr>
          <a:xfrm>
            <a:off x="5233797" y="2226030"/>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Iron</a:t>
            </a:r>
          </a:p>
        </p:txBody>
      </p:sp>
      <p:sp>
        <p:nvSpPr>
          <p:cNvPr id="31" name="BPS Value 4"/>
          <p:cNvSpPr txBox="1"/>
          <p:nvPr/>
        </p:nvSpPr>
        <p:spPr>
          <a:xfrm>
            <a:off x="6896100" y="2287942"/>
            <a:ext cx="514350" cy="123825"/>
          </a:xfrm>
          <a:prstGeom prst="rect">
            <a:avLst/>
          </a:prstGeom>
          <a:noFill/>
        </p:spPr>
        <p:txBody>
          <a:bodyPr wrap="none" lIns="0" tIns="0" rIns="0" bIns="0" anchor="ctr">
            <a:spAutoFit/>
          </a:bodyPr>
          <a:lstStyle/>
          <a:p>
            <a:pPr algn="r"/>
            <a:r>
              <a:rPr sz="900" b="1">
                <a:solidFill>
                  <a:srgbClr val="E44D3A"/>
                </a:solidFill>
                <a:latin typeface="Calibri"/>
              </a:rPr>
              <a:t>-136</a:t>
            </a:r>
          </a:p>
        </p:txBody>
      </p:sp>
      <p:sp>
        <p:nvSpPr>
          <p:cNvPr id="32" name="FMI Legend Chip"/>
          <p:cNvSpPr/>
          <p:nvPr/>
        </p:nvSpPr>
        <p:spPr>
          <a:xfrm>
            <a:off x="4928997" y="261310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sosceles Triangle 32"/>
          <p:cNvSpPr/>
          <p:nvPr/>
        </p:nvSpPr>
        <p:spPr>
          <a:xfrm>
            <a:off x="5090922" y="260834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BPS Name 5"/>
          <p:cNvSpPr txBox="1"/>
          <p:nvPr/>
        </p:nvSpPr>
        <p:spPr>
          <a:xfrm>
            <a:off x="5233797" y="2532140"/>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Choline</a:t>
            </a:r>
          </a:p>
        </p:txBody>
      </p:sp>
      <p:sp>
        <p:nvSpPr>
          <p:cNvPr id="35" name="BPS Value 5"/>
          <p:cNvSpPr txBox="1"/>
          <p:nvPr/>
        </p:nvSpPr>
        <p:spPr>
          <a:xfrm>
            <a:off x="6896100" y="2594052"/>
            <a:ext cx="514350" cy="123825"/>
          </a:xfrm>
          <a:prstGeom prst="rect">
            <a:avLst/>
          </a:prstGeom>
          <a:noFill/>
        </p:spPr>
        <p:txBody>
          <a:bodyPr wrap="none" lIns="0" tIns="0" rIns="0" bIns="0" anchor="ctr">
            <a:spAutoFit/>
          </a:bodyPr>
          <a:lstStyle/>
          <a:p>
            <a:pPr algn="r"/>
            <a:r>
              <a:rPr sz="900" b="1">
                <a:solidFill>
                  <a:srgbClr val="2E7D32"/>
                </a:solidFill>
                <a:latin typeface="Calibri"/>
              </a:rPr>
              <a:t>+303</a:t>
            </a:r>
          </a:p>
        </p:txBody>
      </p:sp>
      <p:sp>
        <p:nvSpPr>
          <p:cNvPr id="36" name="FMI Legend Chip"/>
          <p:cNvSpPr/>
          <p:nvPr/>
        </p:nvSpPr>
        <p:spPr>
          <a:xfrm>
            <a:off x="4928997" y="311607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Isosceles Triangle 36"/>
          <p:cNvSpPr/>
          <p:nvPr/>
        </p:nvSpPr>
        <p:spPr>
          <a:xfrm>
            <a:off x="5090922" y="311131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PS Name 6"/>
          <p:cNvSpPr txBox="1"/>
          <p:nvPr/>
        </p:nvSpPr>
        <p:spPr>
          <a:xfrm>
            <a:off x="5233797" y="3035111"/>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DHA / Omega-3</a:t>
            </a:r>
          </a:p>
        </p:txBody>
      </p:sp>
      <p:sp>
        <p:nvSpPr>
          <p:cNvPr id="39" name="BPS Value 6"/>
          <p:cNvSpPr txBox="1"/>
          <p:nvPr/>
        </p:nvSpPr>
        <p:spPr>
          <a:xfrm>
            <a:off x="6896100" y="3097024"/>
            <a:ext cx="514350" cy="123825"/>
          </a:xfrm>
          <a:prstGeom prst="rect">
            <a:avLst/>
          </a:prstGeom>
          <a:noFill/>
        </p:spPr>
        <p:txBody>
          <a:bodyPr wrap="none" lIns="0" tIns="0" rIns="0" bIns="0" anchor="ctr">
            <a:spAutoFit/>
          </a:bodyPr>
          <a:lstStyle/>
          <a:p>
            <a:pPr algn="r"/>
            <a:r>
              <a:rPr sz="900" b="1">
                <a:solidFill>
                  <a:srgbClr val="2E7D32"/>
                </a:solidFill>
                <a:latin typeface="Calibri"/>
              </a:rPr>
              <a:t>+145</a:t>
            </a:r>
          </a:p>
        </p:txBody>
      </p:sp>
      <p:sp>
        <p:nvSpPr>
          <p:cNvPr id="40" name="FMI Legend Chip"/>
          <p:cNvSpPr/>
          <p:nvPr/>
        </p:nvSpPr>
        <p:spPr>
          <a:xfrm>
            <a:off x="4928997" y="4848526"/>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Isosceles Triangle 40"/>
          <p:cNvSpPr/>
          <p:nvPr/>
        </p:nvSpPr>
        <p:spPr>
          <a:xfrm rot="10800000">
            <a:off x="5090922" y="484376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PS Name 7"/>
          <p:cNvSpPr txBox="1"/>
          <p:nvPr/>
        </p:nvSpPr>
        <p:spPr>
          <a:xfrm>
            <a:off x="5233797" y="4767564"/>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Multivitamin</a:t>
            </a:r>
          </a:p>
        </p:txBody>
      </p:sp>
      <p:sp>
        <p:nvSpPr>
          <p:cNvPr id="43" name="BPS Value 7"/>
          <p:cNvSpPr txBox="1"/>
          <p:nvPr/>
        </p:nvSpPr>
        <p:spPr>
          <a:xfrm>
            <a:off x="6896100" y="4829476"/>
            <a:ext cx="514350" cy="123825"/>
          </a:xfrm>
          <a:prstGeom prst="rect">
            <a:avLst/>
          </a:prstGeom>
          <a:noFill/>
        </p:spPr>
        <p:txBody>
          <a:bodyPr wrap="none" lIns="0" tIns="0" rIns="0" bIns="0" anchor="ctr">
            <a:spAutoFit/>
          </a:bodyPr>
          <a:lstStyle/>
          <a:p>
            <a:pPr algn="r"/>
            <a:r>
              <a:rPr sz="900" b="1">
                <a:solidFill>
                  <a:srgbClr val="E44D3A"/>
                </a:solidFill>
                <a:latin typeface="Calibri"/>
              </a:rPr>
              <a:t>-252</a:t>
            </a:r>
          </a:p>
        </p:txBody>
      </p:sp>
      <p:sp>
        <p:nvSpPr>
          <p:cNvPr id="44" name="Rounded Rectangle 43"/>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829550" y="1066800"/>
            <a:ext cx="4076700" cy="209550"/>
          </a:xfrm>
          <a:prstGeom prst="rect">
            <a:avLst/>
          </a:prstGeom>
          <a:noFill/>
        </p:spPr>
        <p:txBody>
          <a:bodyPr wrap="square" lIns="0" tIns="9525" rIns="19050" bIns="9525">
            <a:spAutoFit/>
          </a:bodyPr>
          <a:lstStyle/>
          <a:p>
            <a:pPr algn="l"/>
            <a:r>
              <a:rPr sz="1300" b="1">
                <a:solidFill>
                  <a:srgbClr val="0B2E4A"/>
                </a:solidFill>
                <a:latin typeface="Calibri"/>
              </a:rPr>
              <a:t>USA Read-out, By Product Type</a:t>
            </a:r>
          </a:p>
        </p:txBody>
      </p:sp>
      <p:sp>
        <p:nvSpPr>
          <p:cNvPr id="46" name="Rectangle 45"/>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829550" y="1390650"/>
            <a:ext cx="4076700" cy="5162550"/>
          </a:xfrm>
          <a:prstGeom prst="rect">
            <a:avLst/>
          </a:prstGeom>
          <a:noFill/>
        </p:spPr>
        <p:txBody>
          <a:bodyPr wrap="square" lIns="0" tIns="9525" rIns="19050" bIns="9525">
            <a:spAutoFit/>
          </a:bodyPr>
          <a:lstStyle/>
          <a:p>
            <a:pPr algn="l">
              <a:lnSpc>
                <a:spcPct val="110000"/>
              </a:lnSpc>
              <a:spcBef>
                <a:spcPts val="0"/>
              </a:spcBef>
              <a:spcAft>
                <a:spcPts val="500"/>
              </a:spcAft>
            </a:pPr>
            <a:r>
              <a:rPr sz="1150" b="0">
                <a:solidFill>
                  <a:srgbClr val="2E2E2E"/>
                </a:solidFill>
                <a:latin typeface="Calibri"/>
              </a:rPr>
              <a:t>Among prenatal vitamin supplements by product type, choline segment is expected to witness the highest CAGR of 12.9% over the forecast period.</a:t>
            </a:r>
          </a:p>
          <a:p>
            <a:pPr algn="l">
              <a:lnSpc>
                <a:spcPct val="110000"/>
              </a:lnSpc>
              <a:spcBef>
                <a:spcPts val="0"/>
              </a:spcBef>
              <a:spcAft>
                <a:spcPts val="500"/>
              </a:spcAft>
            </a:pPr>
            <a:r>
              <a:rPr sz="1150" b="0">
                <a:solidFill>
                  <a:srgbClr val="2E2E2E"/>
                </a:solidFill>
                <a:latin typeface="Calibri"/>
              </a:rPr>
              <a:t>In terms of value share by product type, the multivitamin segment is expected to dominate the market, losing 252 BPS and accounting for 58.9% share by 2036.</a:t>
            </a:r>
          </a:p>
          <a:p>
            <a:pPr algn="l">
              <a:lnSpc>
                <a:spcPct val="110000"/>
              </a:lnSpc>
              <a:spcBef>
                <a:spcPts val="0"/>
              </a:spcBef>
              <a:spcAft>
                <a:spcPts val="500"/>
              </a:spcAft>
            </a:pPr>
            <a:r>
              <a:rPr sz="1150" b="0">
                <a:solidFill>
                  <a:srgbClr val="2E2E2E"/>
                </a:solidFill>
                <a:latin typeface="Calibri"/>
              </a:rPr>
              <a:t>Choline is expected to grow fastest at 12.9% CAGR, as it is still underpenetrated and has become the most visible nutrient upgrade in premium prenatal brands, followed by probiotics at 10.3% on growing demand for digestive comfort and women's health support, and DHA / omega-3 at 7.8% as it extends into gummy and tablet users whose core prenatal lacks omega-3.</a:t>
            </a:r>
          </a:p>
        </p:txBody>
      </p:sp>
      <p:sp>
        <p:nvSpPr>
          <p:cNvPr id="48" name="TextBox 4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YoY Analysis of USA Market Volume, By Product Type (%)</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Year-on-year volume growth by Product Type,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Volume YoY Growth, By Product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197" cy="1724024"/>
        </p:xfrm>
        <a:graphic>
          <a:graphicData uri="http://schemas.openxmlformats.org/drawingml/2006/table">
            <a:tbl>
              <a:tblPr>
                <a:tableStyleId>{5C22544A-7EE6-4342-B048-85BDC9FD1C3A}</a:tableStyleId>
              </a:tblPr>
              <a:tblGrid>
                <a:gridCol w="1338492">
                  <a:extLst>
                    <a:ext uri="{9D8B030D-6E8A-4147-A177-3AD203B41FA5}">
                      <a16:colId xmlns:a16="http://schemas.microsoft.com/office/drawing/2014/main" val="20000"/>
                    </a:ext>
                  </a:extLst>
                </a:gridCol>
                <a:gridCol w="703247">
                  <a:extLst>
                    <a:ext uri="{9D8B030D-6E8A-4147-A177-3AD203B41FA5}">
                      <a16:colId xmlns:a16="http://schemas.microsoft.com/office/drawing/2014/main" val="20001"/>
                    </a:ext>
                  </a:extLst>
                </a:gridCol>
                <a:gridCol w="703247">
                  <a:extLst>
                    <a:ext uri="{9D8B030D-6E8A-4147-A177-3AD203B41FA5}">
                      <a16:colId xmlns:a16="http://schemas.microsoft.com/office/drawing/2014/main" val="20002"/>
                    </a:ext>
                  </a:extLst>
                </a:gridCol>
                <a:gridCol w="703247">
                  <a:extLst>
                    <a:ext uri="{9D8B030D-6E8A-4147-A177-3AD203B41FA5}">
                      <a16:colId xmlns:a16="http://schemas.microsoft.com/office/drawing/2014/main" val="20003"/>
                    </a:ext>
                  </a:extLst>
                </a:gridCol>
                <a:gridCol w="703247">
                  <a:extLst>
                    <a:ext uri="{9D8B030D-6E8A-4147-A177-3AD203B41FA5}">
                      <a16:colId xmlns:a16="http://schemas.microsoft.com/office/drawing/2014/main" val="20004"/>
                    </a:ext>
                  </a:extLst>
                </a:gridCol>
                <a:gridCol w="703247">
                  <a:extLst>
                    <a:ext uri="{9D8B030D-6E8A-4147-A177-3AD203B41FA5}">
                      <a16:colId xmlns:a16="http://schemas.microsoft.com/office/drawing/2014/main" val="20005"/>
                    </a:ext>
                  </a:extLst>
                </a:gridCol>
                <a:gridCol w="703247">
                  <a:extLst>
                    <a:ext uri="{9D8B030D-6E8A-4147-A177-3AD203B41FA5}">
                      <a16:colId xmlns:a16="http://schemas.microsoft.com/office/drawing/2014/main" val="20006"/>
                    </a:ext>
                  </a:extLst>
                </a:gridCol>
                <a:gridCol w="703247">
                  <a:extLst>
                    <a:ext uri="{9D8B030D-6E8A-4147-A177-3AD203B41FA5}">
                      <a16:colId xmlns:a16="http://schemas.microsoft.com/office/drawing/2014/main" val="20007"/>
                    </a:ext>
                  </a:extLst>
                </a:gridCol>
                <a:gridCol w="703247">
                  <a:extLst>
                    <a:ext uri="{9D8B030D-6E8A-4147-A177-3AD203B41FA5}">
                      <a16:colId xmlns:a16="http://schemas.microsoft.com/office/drawing/2014/main" val="20008"/>
                    </a:ext>
                  </a:extLst>
                </a:gridCol>
                <a:gridCol w="703247">
                  <a:extLst>
                    <a:ext uri="{9D8B030D-6E8A-4147-A177-3AD203B41FA5}">
                      <a16:colId xmlns:a16="http://schemas.microsoft.com/office/drawing/2014/main" val="20009"/>
                    </a:ext>
                  </a:extLst>
                </a:gridCol>
                <a:gridCol w="703247">
                  <a:extLst>
                    <a:ext uri="{9D8B030D-6E8A-4147-A177-3AD203B41FA5}">
                      <a16:colId xmlns:a16="http://schemas.microsoft.com/office/drawing/2014/main" val="20010"/>
                    </a:ext>
                  </a:extLst>
                </a:gridCol>
                <a:gridCol w="703247">
                  <a:extLst>
                    <a:ext uri="{9D8B030D-6E8A-4147-A177-3AD203B41FA5}">
                      <a16:colId xmlns:a16="http://schemas.microsoft.com/office/drawing/2014/main" val="20011"/>
                    </a:ext>
                  </a:extLst>
                </a:gridCol>
                <a:gridCol w="703247">
                  <a:extLst>
                    <a:ext uri="{9D8B030D-6E8A-4147-A177-3AD203B41FA5}">
                      <a16:colId xmlns:a16="http://schemas.microsoft.com/office/drawing/2014/main" val="20012"/>
                    </a:ext>
                  </a:extLst>
                </a:gridCol>
                <a:gridCol w="703247">
                  <a:extLst>
                    <a:ext uri="{9D8B030D-6E8A-4147-A177-3AD203B41FA5}">
                      <a16:colId xmlns:a16="http://schemas.microsoft.com/office/drawing/2014/main" val="20013"/>
                    </a:ext>
                  </a:extLst>
                </a:gridCol>
                <a:gridCol w="703247">
                  <a:extLst>
                    <a:ext uri="{9D8B030D-6E8A-4147-A177-3AD203B41FA5}">
                      <a16:colId xmlns:a16="http://schemas.microsoft.com/office/drawing/2014/main" val="20014"/>
                    </a:ext>
                  </a:extLst>
                </a:gridCol>
                <a:gridCol w="703247">
                  <a:extLst>
                    <a:ext uri="{9D8B030D-6E8A-4147-A177-3AD203B41FA5}">
                      <a16:colId xmlns:a16="http://schemas.microsoft.com/office/drawing/2014/main" val="20015"/>
                    </a:ext>
                  </a:extLst>
                </a:gridCol>
              </a:tblGrid>
              <a:tr h="215265">
                <a:tc>
                  <a:txBody>
                    <a:bodyPr/>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15537">
                <a:tc>
                  <a:txBody>
                    <a:bodyPr/>
                    <a:lstStyle/>
                    <a:p>
                      <a:pPr algn="l"/>
                      <a:r>
                        <a:rPr sz="1100" b="1">
                          <a:solidFill>
                            <a:srgbClr val="2E2E2E"/>
                          </a:solidFill>
                          <a:latin typeface="Calibri"/>
                        </a:rPr>
                        <a:t>Multivitamin</a:t>
                      </a:r>
                      <a:endParaRPr sz="1100"/>
                    </a:p>
                  </a:txBody>
                  <a:tcPr marL="47625" marR="38100" marT="19050" marB="19050" anchor="ctr">
                    <a:solidFill>
                      <a:srgbClr val="FFFFFF"/>
                    </a:solidFill>
                  </a:tcPr>
                </a:tc>
                <a:tc>
                  <a:txBody>
                    <a:bodyPr/>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a:lstStyle/>
                    <a:p>
                      <a:pPr algn="l"/>
                      <a:r>
                        <a:rPr sz="1100" b="1">
                          <a:solidFill>
                            <a:srgbClr val="A86F00"/>
                          </a:solidFill>
                          <a:latin typeface="Calibri"/>
                        </a:rPr>
                        <a:t>▶ 5.1%</a:t>
                      </a:r>
                      <a:endParaRPr sz="1100"/>
                    </a:p>
                  </a:txBody>
                  <a:tcPr marL="47625" marR="38100" marT="19050" marB="19050" anchor="ctr">
                    <a:solidFill>
                      <a:srgbClr val="FFFFFF"/>
                    </a:solidFill>
                  </a:tcPr>
                </a:tc>
                <a:tc>
                  <a:txBody>
                    <a:bodyPr/>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a:lstStyle/>
                    <a:p>
                      <a:pPr algn="l"/>
                      <a:r>
                        <a:rPr sz="1100" b="1">
                          <a:solidFill>
                            <a:srgbClr val="A86F00"/>
                          </a:solidFill>
                          <a:latin typeface="Calibri"/>
                        </a:rPr>
                        <a:t>▶ 5.6%</a:t>
                      </a:r>
                      <a:endParaRPr sz="1100"/>
                    </a:p>
                  </a:txBody>
                  <a:tcPr marL="47625" marR="38100" marT="19050" marB="19050" anchor="ctr">
                    <a:solidFill>
                      <a:srgbClr val="FFFFFF"/>
                    </a:solidFill>
                  </a:tcPr>
                </a:tc>
                <a:tc>
                  <a:txBody>
                    <a:bodyPr/>
                    <a:lstStyle/>
                    <a:p>
                      <a:pPr algn="l"/>
                      <a:r>
                        <a:rPr sz="1100" b="1">
                          <a:solidFill>
                            <a:srgbClr val="A86F00"/>
                          </a:solidFill>
                          <a:latin typeface="Calibri"/>
                        </a:rPr>
                        <a:t>▶ 5.6%</a:t>
                      </a:r>
                      <a:endParaRPr sz="1100"/>
                    </a:p>
                  </a:txBody>
                  <a:tcPr marL="47625" marR="38100" marT="19050" marB="19050" anchor="ctr">
                    <a:solidFill>
                      <a:srgbClr val="FFFFFF"/>
                    </a:solidFill>
                  </a:tcPr>
                </a:tc>
                <a:tc>
                  <a:txBody>
                    <a:bodyPr/>
                    <a:lstStyle/>
                    <a:p>
                      <a:pPr algn="l"/>
                      <a:r>
                        <a:rPr sz="1100" b="1">
                          <a:solidFill>
                            <a:srgbClr val="A86F00"/>
                          </a:solidFill>
                          <a:latin typeface="Calibri"/>
                        </a:rPr>
                        <a:t>▶ 5.6%</a:t>
                      </a:r>
                      <a:endParaRPr sz="1100"/>
                    </a:p>
                  </a:txBody>
                  <a:tcPr marL="47625" marR="38100" marT="19050" marB="19050" anchor="ctr">
                    <a:solidFill>
                      <a:srgbClr val="FFFFFF"/>
                    </a:solidFill>
                  </a:tcPr>
                </a:tc>
                <a:tc>
                  <a:txBody>
                    <a:bodyPr/>
                    <a:lstStyle/>
                    <a:p>
                      <a:pPr algn="l"/>
                      <a:r>
                        <a:rPr sz="1100" b="1">
                          <a:solidFill>
                            <a:srgbClr val="A86F00"/>
                          </a:solidFill>
                          <a:latin typeface="Calibri"/>
                        </a:rPr>
                        <a:t>▶ 5.6%</a:t>
                      </a:r>
                      <a:endParaRPr sz="1100"/>
                    </a:p>
                  </a:txBody>
                  <a:tcPr marL="47625" marR="38100" marT="19050" marB="19050" anchor="ctr">
                    <a:solidFill>
                      <a:srgbClr val="FFFFFF"/>
                    </a:solidFill>
                  </a:tcPr>
                </a:tc>
                <a:tc>
                  <a:txBody>
                    <a:bodyPr/>
                    <a:lstStyle/>
                    <a:p>
                      <a:pPr algn="l"/>
                      <a:r>
                        <a:rPr sz="1100" b="1">
                          <a:solidFill>
                            <a:srgbClr val="A86F00"/>
                          </a:solidFill>
                          <a:latin typeface="Calibri"/>
                        </a:rPr>
                        <a:t>▶ 5.4%</a:t>
                      </a:r>
                      <a:endParaRPr sz="1100"/>
                    </a:p>
                  </a:txBody>
                  <a:tcPr marL="47625" marR="38100" marT="19050" marB="19050" anchor="ctr">
                    <a:solidFill>
                      <a:srgbClr val="FFFFFF"/>
                    </a:solidFill>
                  </a:tcPr>
                </a:tc>
                <a:tc>
                  <a:txBody>
                    <a:bodyPr/>
                    <a:lstStyle/>
                    <a:p>
                      <a:pPr algn="l"/>
                      <a:r>
                        <a:rPr sz="1100" b="1">
                          <a:solidFill>
                            <a:srgbClr val="A86F00"/>
                          </a:solidFill>
                          <a:latin typeface="Calibri"/>
                        </a:rPr>
                        <a:t>▶ 5.3%</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15537">
                <a:tc>
                  <a:txBody>
                    <a:bodyPr/>
                    <a:lstStyle/>
                    <a:p>
                      <a:pPr algn="l"/>
                      <a:r>
                        <a:rPr sz="1100" b="1">
                          <a:solidFill>
                            <a:srgbClr val="2E2E2E"/>
                          </a:solidFill>
                          <a:latin typeface="Calibri"/>
                        </a:rPr>
                        <a:t>DHA / Omega-3</a:t>
                      </a:r>
                      <a:endParaRPr sz="1100"/>
                    </a:p>
                  </a:txBody>
                  <a:tcPr marL="47625" marR="38100" marT="19050" marB="19050" anchor="ctr">
                    <a:solidFill>
                      <a:srgbClr val="F5F8FA"/>
                    </a:solidFill>
                  </a:tcPr>
                </a:tc>
                <a:tc>
                  <a:txBody>
                    <a:bodyPr/>
                    <a:lstStyle/>
                    <a:p>
                      <a:pPr algn="l"/>
                      <a:r>
                        <a:rPr sz="1100" b="1">
                          <a:solidFill>
                            <a:srgbClr val="2E7D32"/>
                          </a:solidFill>
                          <a:latin typeface="Calibri"/>
                        </a:rPr>
                        <a:t>▲ 6.1%</a:t>
                      </a:r>
                      <a:endParaRPr sz="1100"/>
                    </a:p>
                  </a:txBody>
                  <a:tcPr marL="47625" marR="38100" marT="19050" marB="19050" anchor="ctr">
                    <a:solidFill>
                      <a:srgbClr val="F5F8FA"/>
                    </a:solidFill>
                  </a:tcPr>
                </a:tc>
                <a:tc>
                  <a:txBody>
                    <a:bodyPr/>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a:lstStyle/>
                    <a:p>
                      <a:pPr algn="l"/>
                      <a:r>
                        <a:rPr sz="1100" b="1">
                          <a:solidFill>
                            <a:srgbClr val="2E7D32"/>
                          </a:solidFill>
                          <a:latin typeface="Calibri"/>
                        </a:rPr>
                        <a:t>▲ 5.3%</a:t>
                      </a:r>
                      <a:endParaRPr sz="1100"/>
                    </a:p>
                  </a:txBody>
                  <a:tcPr marL="47625" marR="38100" marT="19050" marB="19050" anchor="ctr">
                    <a:solidFill>
                      <a:srgbClr val="F5F8FA"/>
                    </a:solidFill>
                  </a:tcPr>
                </a:tc>
                <a:tc>
                  <a:txBody>
                    <a:bodyPr/>
                    <a:lstStyle/>
                    <a:p>
                      <a:pPr algn="l"/>
                      <a:r>
                        <a:rPr sz="1100" b="1">
                          <a:solidFill>
                            <a:srgbClr val="2E7D32"/>
                          </a:solidFill>
                          <a:latin typeface="Calibri"/>
                        </a:rPr>
                        <a:t>▲ 5.5%</a:t>
                      </a:r>
                      <a:endParaRPr sz="1100"/>
                    </a:p>
                  </a:txBody>
                  <a:tcPr marL="47625" marR="38100" marT="19050" marB="19050" anchor="ctr">
                    <a:solidFill>
                      <a:srgbClr val="F5F8FA"/>
                    </a:solidFill>
                  </a:tcPr>
                </a:tc>
                <a:tc>
                  <a:txBody>
                    <a:bodyPr/>
                    <a:lstStyle/>
                    <a:p>
                      <a:pPr algn="l"/>
                      <a:r>
                        <a:rPr sz="1100" b="1">
                          <a:solidFill>
                            <a:srgbClr val="2E7D32"/>
                          </a:solidFill>
                          <a:latin typeface="Calibri"/>
                        </a:rPr>
                        <a:t>▲ 5.8%</a:t>
                      </a:r>
                      <a:endParaRPr sz="1100"/>
                    </a:p>
                  </a:txBody>
                  <a:tcPr marL="47625" marR="38100" marT="19050" marB="19050" anchor="ctr">
                    <a:solidFill>
                      <a:srgbClr val="F5F8FA"/>
                    </a:solidFill>
                  </a:tcPr>
                </a:tc>
                <a:tc>
                  <a:txBody>
                    <a:bodyPr/>
                    <a:lstStyle/>
                    <a:p>
                      <a:pPr algn="l"/>
                      <a:r>
                        <a:rPr sz="1100" b="1">
                          <a:solidFill>
                            <a:srgbClr val="2E7D32"/>
                          </a:solidFill>
                          <a:latin typeface="Calibri"/>
                        </a:rPr>
                        <a:t>▲ 6.2%</a:t>
                      </a:r>
                      <a:endParaRPr sz="1100"/>
                    </a:p>
                  </a:txBody>
                  <a:tcPr marL="47625" marR="38100" marT="19050" marB="19050" anchor="ctr">
                    <a:solidFill>
                      <a:srgbClr val="F5F8FA"/>
                    </a:solidFill>
                  </a:tcPr>
                </a:tc>
                <a:tc>
                  <a:txBody>
                    <a:bodyPr/>
                    <a:lstStyle/>
                    <a:p>
                      <a:pPr algn="l"/>
                      <a:r>
                        <a:rPr sz="1100" b="1">
                          <a:solidFill>
                            <a:srgbClr val="2E7D32"/>
                          </a:solidFill>
                          <a:latin typeface="Calibri"/>
                        </a:rPr>
                        <a:t>▲ 6.9%</a:t>
                      </a:r>
                      <a:endParaRPr sz="1100"/>
                    </a:p>
                  </a:txBody>
                  <a:tcPr marL="47625" marR="38100" marT="19050" marB="19050" anchor="ctr">
                    <a:solidFill>
                      <a:srgbClr val="F5F8FA"/>
                    </a:solidFill>
                  </a:tcPr>
                </a:tc>
                <a:tc>
                  <a:txBody>
                    <a:bodyPr/>
                    <a:lstStyle/>
                    <a:p>
                      <a:pPr algn="l"/>
                      <a:r>
                        <a:rPr sz="1100" b="1">
                          <a:solidFill>
                            <a:srgbClr val="2E7D32"/>
                          </a:solidFill>
                          <a:latin typeface="Calibri"/>
                        </a:rPr>
                        <a:t>▲ 7.5%</a:t>
                      </a:r>
                      <a:endParaRPr sz="1100"/>
                    </a:p>
                  </a:txBody>
                  <a:tcPr marL="47625" marR="38100" marT="19050" marB="19050" anchor="ctr">
                    <a:solidFill>
                      <a:srgbClr val="F5F8FA"/>
                    </a:solidFill>
                  </a:tcPr>
                </a:tc>
                <a:tc>
                  <a:txBody>
                    <a:bodyPr/>
                    <a:lstStyle/>
                    <a:p>
                      <a:pPr algn="l"/>
                      <a:r>
                        <a:rPr sz="1100" b="1">
                          <a:solidFill>
                            <a:srgbClr val="2E7D32"/>
                          </a:solidFill>
                          <a:latin typeface="Calibri"/>
                        </a:rPr>
                        <a:t>▲ 7.7%</a:t>
                      </a:r>
                      <a:endParaRPr sz="1100"/>
                    </a:p>
                  </a:txBody>
                  <a:tcPr marL="47625" marR="38100" marT="19050" marB="19050" anchor="ctr">
                    <a:solidFill>
                      <a:srgbClr val="F5F8FA"/>
                    </a:solidFill>
                  </a:tcPr>
                </a:tc>
                <a:tc>
                  <a:txBody>
                    <a:bodyPr/>
                    <a:lstStyle/>
                    <a:p>
                      <a:pPr algn="l"/>
                      <a:r>
                        <a:rPr sz="1100" b="1">
                          <a:solidFill>
                            <a:srgbClr val="2E7D32"/>
                          </a:solidFill>
                          <a:latin typeface="Calibri"/>
                        </a:rPr>
                        <a:t>▲ 7.6%</a:t>
                      </a:r>
                      <a:endParaRPr sz="1100"/>
                    </a:p>
                  </a:txBody>
                  <a:tcPr marL="47625" marR="38100" marT="19050" marB="19050" anchor="ctr">
                    <a:solidFill>
                      <a:srgbClr val="F5F8FA"/>
                    </a:solidFill>
                  </a:tcPr>
                </a:tc>
                <a:tc>
                  <a:txBody>
                    <a:bodyPr/>
                    <a:lstStyle/>
                    <a:p>
                      <a:pPr algn="l"/>
                      <a:r>
                        <a:rPr sz="1100" b="1">
                          <a:solidFill>
                            <a:srgbClr val="2E7D32"/>
                          </a:solidFill>
                          <a:latin typeface="Calibri"/>
                        </a:rPr>
                        <a:t>▲ 7.4%</a:t>
                      </a:r>
                      <a:endParaRPr sz="1100"/>
                    </a:p>
                  </a:txBody>
                  <a:tcPr marL="47625" marR="38100" marT="19050" marB="19050" anchor="ctr">
                    <a:solidFill>
                      <a:srgbClr val="F5F8FA"/>
                    </a:solidFill>
                  </a:tcPr>
                </a:tc>
                <a:tc>
                  <a:txBody>
                    <a:bodyPr/>
                    <a:lstStyle/>
                    <a:p>
                      <a:pPr algn="l"/>
                      <a:r>
                        <a:rPr sz="1100" b="1">
                          <a:solidFill>
                            <a:srgbClr val="2E7D32"/>
                          </a:solidFill>
                          <a:latin typeface="Calibri"/>
                        </a:rPr>
                        <a:t>▲ 7.1%</a:t>
                      </a:r>
                      <a:endParaRPr sz="1100"/>
                    </a:p>
                  </a:txBody>
                  <a:tcPr marL="47625" marR="38100" marT="19050" marB="19050" anchor="ctr">
                    <a:solidFill>
                      <a:srgbClr val="F5F8FA"/>
                    </a:solidFill>
                  </a:tcPr>
                </a:tc>
                <a:tc>
                  <a:txBody>
                    <a:bodyPr/>
                    <a:lstStyle/>
                    <a:p>
                      <a:pPr algn="l"/>
                      <a:r>
                        <a:rPr sz="1100" b="1">
                          <a:solidFill>
                            <a:srgbClr val="2E7D32"/>
                          </a:solidFill>
                          <a:latin typeface="Calibri"/>
                        </a:rPr>
                        <a:t>▲ 6.9%</a:t>
                      </a:r>
                      <a:endParaRPr sz="1100"/>
                    </a:p>
                  </a:txBody>
                  <a:tcPr marL="47625" marR="38100" marT="19050" marB="19050" anchor="ctr">
                    <a:solidFill>
                      <a:srgbClr val="F5F8FA"/>
                    </a:solidFill>
                  </a:tcPr>
                </a:tc>
                <a:tc>
                  <a:txBody>
                    <a:bodyPr/>
                    <a:lstStyle/>
                    <a:p>
                      <a:pPr algn="l"/>
                      <a:r>
                        <a:rPr sz="1100" b="1">
                          <a:solidFill>
                            <a:srgbClr val="2E7D32"/>
                          </a:solidFill>
                          <a:latin typeface="Calibri"/>
                        </a:rPr>
                        <a:t>▲ 6.7%</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15537">
                <a:tc>
                  <a:txBody>
                    <a:bodyPr/>
                    <a:lstStyle/>
                    <a:p>
                      <a:pPr algn="l"/>
                      <a:r>
                        <a:rPr sz="1100" b="1">
                          <a:solidFill>
                            <a:srgbClr val="2E2E2E"/>
                          </a:solidFill>
                          <a:latin typeface="Calibri"/>
                        </a:rPr>
                        <a:t>Iron</a:t>
                      </a:r>
                      <a:endParaRPr sz="1100"/>
                    </a:p>
                  </a:txBody>
                  <a:tcPr marL="47625" marR="38100" marT="19050" marB="19050" anchor="ctr">
                    <a:solidFill>
                      <a:srgbClr val="FFFFFF"/>
                    </a:solidFill>
                  </a:tcPr>
                </a:tc>
                <a:tc>
                  <a:txBody>
                    <a:bodyPr/>
                    <a:lstStyle/>
                    <a:p>
                      <a:pPr algn="l"/>
                      <a:r>
                        <a:rPr sz="1100" b="1">
                          <a:solidFill>
                            <a:srgbClr val="A86F00"/>
                          </a:solidFill>
                          <a:latin typeface="Calibri"/>
                        </a:rPr>
                        <a:t>▶ 3.2%</a:t>
                      </a:r>
                      <a:endParaRPr sz="1100"/>
                    </a:p>
                  </a:txBody>
                  <a:tcPr marL="47625" marR="38100" marT="19050" marB="19050" anchor="ctr">
                    <a:solidFill>
                      <a:srgbClr val="FFFFFF"/>
                    </a:solidFill>
                  </a:tcPr>
                </a:tc>
                <a:tc>
                  <a:txBody>
                    <a:bodyPr/>
                    <a:lstStyle/>
                    <a:p>
                      <a:pPr algn="l"/>
                      <a:r>
                        <a:rPr sz="1100" b="1">
                          <a:solidFill>
                            <a:srgbClr val="A86F00"/>
                          </a:solidFill>
                          <a:latin typeface="Calibri"/>
                        </a:rPr>
                        <a:t>▶ 3.3%</a:t>
                      </a:r>
                      <a:endParaRPr sz="1100"/>
                    </a:p>
                  </a:txBody>
                  <a:tcPr marL="47625" marR="38100" marT="19050" marB="19050" anchor="ctr">
                    <a:solidFill>
                      <a:srgbClr val="FFFFFF"/>
                    </a:solidFill>
                  </a:tcPr>
                </a:tc>
                <a:tc>
                  <a:txBody>
                    <a:bodyPr/>
                    <a:lstStyle/>
                    <a:p>
                      <a:pPr algn="l"/>
                      <a:r>
                        <a:rPr sz="1100" b="1">
                          <a:solidFill>
                            <a:srgbClr val="A86F00"/>
                          </a:solidFill>
                          <a:latin typeface="Calibri"/>
                        </a:rPr>
                        <a:t>▶ 3.4%</a:t>
                      </a:r>
                      <a:endParaRPr sz="1100"/>
                    </a:p>
                  </a:txBody>
                  <a:tcPr marL="47625" marR="38100" marT="19050" marB="19050" anchor="ctr">
                    <a:solidFill>
                      <a:srgbClr val="FFFFFF"/>
                    </a:solidFill>
                  </a:tcPr>
                </a:tc>
                <a:tc>
                  <a:txBody>
                    <a:bodyPr/>
                    <a:lstStyle/>
                    <a:p>
                      <a:pPr algn="l"/>
                      <a:r>
                        <a:rPr sz="1100" b="1">
                          <a:solidFill>
                            <a:srgbClr val="A86F00"/>
                          </a:solidFill>
                          <a:latin typeface="Calibri"/>
                        </a:rPr>
                        <a:t>▶ 3.3%</a:t>
                      </a:r>
                      <a:endParaRPr sz="1100"/>
                    </a:p>
                  </a:txBody>
                  <a:tcPr marL="47625" marR="38100" marT="19050" marB="19050" anchor="ctr">
                    <a:solidFill>
                      <a:srgbClr val="FFFFFF"/>
                    </a:solidFill>
                  </a:tcPr>
                </a:tc>
                <a:tc>
                  <a:txBody>
                    <a:bodyPr/>
                    <a:lstStyle/>
                    <a:p>
                      <a:pPr algn="l"/>
                      <a:r>
                        <a:rPr sz="1100" b="1">
                          <a:solidFill>
                            <a:srgbClr val="A86F00"/>
                          </a:solidFill>
                          <a:latin typeface="Calibri"/>
                        </a:rPr>
                        <a:t>▶ 3.2%</a:t>
                      </a:r>
                      <a:endParaRPr sz="1100"/>
                    </a:p>
                  </a:txBody>
                  <a:tcPr marL="47625" marR="38100" marT="19050" marB="19050" anchor="ctr">
                    <a:solidFill>
                      <a:srgbClr val="FFFFFF"/>
                    </a:solidFill>
                  </a:tcPr>
                </a:tc>
                <a:tc>
                  <a:txBody>
                    <a:bodyPr/>
                    <a:lstStyle/>
                    <a:p>
                      <a:pPr algn="l"/>
                      <a:r>
                        <a:rPr sz="1100" b="1">
                          <a:solidFill>
                            <a:srgbClr val="A86F00"/>
                          </a:solidFill>
                          <a:latin typeface="Calibri"/>
                        </a:rPr>
                        <a:t>▶ 3.0%</a:t>
                      </a:r>
                      <a:endParaRPr sz="1100"/>
                    </a:p>
                  </a:txBody>
                  <a:tcPr marL="47625" marR="38100" marT="19050" marB="19050" anchor="ctr">
                    <a:solidFill>
                      <a:srgbClr val="FFFFFF"/>
                    </a:solidFill>
                  </a:tcPr>
                </a:tc>
                <a:tc>
                  <a:txBody>
                    <a:bodyPr/>
                    <a:lstStyle/>
                    <a:p>
                      <a:pPr algn="l"/>
                      <a:r>
                        <a:rPr sz="1100" b="1">
                          <a:solidFill>
                            <a:srgbClr val="A86F00"/>
                          </a:solidFill>
                          <a:latin typeface="Calibri"/>
                        </a:rPr>
                        <a:t>▶ 3.0%</a:t>
                      </a:r>
                      <a:endParaRPr sz="1100"/>
                    </a:p>
                  </a:txBody>
                  <a:tcPr marL="47625" marR="38100" marT="19050" marB="19050" anchor="ctr">
                    <a:solidFill>
                      <a:srgbClr val="FFFFFF"/>
                    </a:solidFill>
                  </a:tcPr>
                </a:tc>
                <a:tc>
                  <a:txBody>
                    <a:bodyPr/>
                    <a:lstStyle/>
                    <a:p>
                      <a:pPr algn="l"/>
                      <a:r>
                        <a:rPr sz="1100" b="1">
                          <a:solidFill>
                            <a:srgbClr val="A86F00"/>
                          </a:solidFill>
                          <a:latin typeface="Calibri"/>
                        </a:rPr>
                        <a:t>▶ 3.3%</a:t>
                      </a:r>
                      <a:endParaRPr sz="1100"/>
                    </a:p>
                  </a:txBody>
                  <a:tcPr marL="47625" marR="38100" marT="19050" marB="19050" anchor="ctr">
                    <a:solidFill>
                      <a:srgbClr val="FFFFFF"/>
                    </a:solidFill>
                  </a:tcPr>
                </a:tc>
                <a:tc>
                  <a:txBody>
                    <a:bodyPr/>
                    <a:lstStyle/>
                    <a:p>
                      <a:pPr algn="l"/>
                      <a:r>
                        <a:rPr sz="1100" b="1">
                          <a:solidFill>
                            <a:srgbClr val="A86F00"/>
                          </a:solidFill>
                          <a:latin typeface="Calibri"/>
                        </a:rPr>
                        <a:t>▶ 3.7%</a:t>
                      </a:r>
                      <a:endParaRPr sz="1100"/>
                    </a:p>
                  </a:txBody>
                  <a:tcPr marL="47625" marR="38100" marT="19050" marB="19050" anchor="ctr">
                    <a:solidFill>
                      <a:srgbClr val="FFFFFF"/>
                    </a:solidFill>
                  </a:tcPr>
                </a:tc>
                <a:tc>
                  <a:txBody>
                    <a:bodyPr/>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a:lstStyle/>
                    <a:p>
                      <a:pPr algn="l"/>
                      <a:r>
                        <a:rPr sz="1100" b="1">
                          <a:solidFill>
                            <a:srgbClr val="A86F00"/>
                          </a:solidFill>
                          <a:latin typeface="Calibri"/>
                        </a:rPr>
                        <a:t>▶ 3.9%</a:t>
                      </a:r>
                      <a:endParaRPr sz="1100"/>
                    </a:p>
                  </a:txBody>
                  <a:tcPr marL="47625" marR="38100" marT="19050" marB="19050" anchor="ctr">
                    <a:solidFill>
                      <a:srgbClr val="FFFFFF"/>
                    </a:solidFill>
                  </a:tcPr>
                </a:tc>
                <a:tc>
                  <a:txBody>
                    <a:bodyPr/>
                    <a:lstStyle/>
                    <a:p>
                      <a:pPr algn="l"/>
                      <a:r>
                        <a:rPr sz="1100" b="1">
                          <a:solidFill>
                            <a:srgbClr val="A86F00"/>
                          </a:solidFill>
                          <a:latin typeface="Calibri"/>
                        </a:rPr>
                        <a:t>▶ 3.7%</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15537">
                <a:tc>
                  <a:txBody>
                    <a:bodyPr/>
                    <a:lstStyle/>
                    <a:p>
                      <a:pPr algn="l"/>
                      <a:r>
                        <a:rPr sz="1100" b="1">
                          <a:solidFill>
                            <a:srgbClr val="2E2E2E"/>
                          </a:solidFill>
                          <a:latin typeface="Calibri"/>
                        </a:rPr>
                        <a:t>Folate / Folic Acid</a:t>
                      </a:r>
                      <a:endParaRPr sz="1100"/>
                    </a:p>
                  </a:txBody>
                  <a:tcPr marL="47625" marR="38100" marT="19050" marB="19050" anchor="ctr">
                    <a:solidFill>
                      <a:srgbClr val="F5F8FA"/>
                    </a:solidFill>
                  </a:tcPr>
                </a:tc>
                <a:tc>
                  <a:txBody>
                    <a:bodyPr/>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a:lstStyle/>
                    <a:p>
                      <a:pPr algn="l"/>
                      <a:r>
                        <a:rPr sz="1100" b="1">
                          <a:solidFill>
                            <a:srgbClr val="A86F00"/>
                          </a:solidFill>
                          <a:latin typeface="Calibri"/>
                        </a:rPr>
                        <a:t>▶ 3.7%</a:t>
                      </a:r>
                      <a:endParaRPr sz="1100"/>
                    </a:p>
                  </a:txBody>
                  <a:tcPr marL="47625" marR="38100" marT="19050" marB="19050" anchor="ctr">
                    <a:solidFill>
                      <a:srgbClr val="F5F8FA"/>
                    </a:solidFill>
                  </a:tcPr>
                </a:tc>
                <a:tc>
                  <a:txBody>
                    <a:bodyPr/>
                    <a:lstStyle/>
                    <a:p>
                      <a:pPr algn="l"/>
                      <a:r>
                        <a:rPr sz="1100" b="1">
                          <a:solidFill>
                            <a:srgbClr val="A86F00"/>
                          </a:solidFill>
                          <a:latin typeface="Calibri"/>
                        </a:rPr>
                        <a:t>▶ 3.8%</a:t>
                      </a:r>
                      <a:endParaRPr sz="1100"/>
                    </a:p>
                  </a:txBody>
                  <a:tcPr marL="47625" marR="38100" marT="19050" marB="19050" anchor="ctr">
                    <a:solidFill>
                      <a:srgbClr val="F5F8FA"/>
                    </a:solidFill>
                  </a:tcPr>
                </a:tc>
                <a:tc>
                  <a:txBody>
                    <a:bodyPr/>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a:lstStyle/>
                    <a:p>
                      <a:pPr algn="l"/>
                      <a:r>
                        <a:rPr sz="1100" b="1">
                          <a:solidFill>
                            <a:srgbClr val="A86F00"/>
                          </a:solidFill>
                          <a:latin typeface="Calibri"/>
                        </a:rPr>
                        <a:t>▶ 4.4%</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15537">
                <a:tc>
                  <a:txBody>
                    <a:bodyPr/>
                    <a:lstStyle/>
                    <a:p>
                      <a:pPr algn="l"/>
                      <a:r>
                        <a:rPr sz="1100" b="1">
                          <a:solidFill>
                            <a:srgbClr val="2E2E2E"/>
                          </a:solidFill>
                          <a:latin typeface="Calibri"/>
                        </a:rPr>
                        <a:t>Choline</a:t>
                      </a:r>
                      <a:endParaRPr sz="1100"/>
                    </a:p>
                  </a:txBody>
                  <a:tcPr marL="47625" marR="38100" marT="19050" marB="19050" anchor="ctr">
                    <a:solidFill>
                      <a:srgbClr val="FFFFFF"/>
                    </a:solidFill>
                  </a:tcPr>
                </a:tc>
                <a:tc>
                  <a:txBody>
                    <a:bodyPr/>
                    <a:lstStyle/>
                    <a:p>
                      <a:pPr algn="l"/>
                      <a:r>
                        <a:rPr sz="1100" b="1">
                          <a:solidFill>
                            <a:srgbClr val="2E7D32"/>
                          </a:solidFill>
                          <a:latin typeface="Calibri"/>
                        </a:rPr>
                        <a:t>▲ 8.4%</a:t>
                      </a:r>
                      <a:endParaRPr sz="1100"/>
                    </a:p>
                  </a:txBody>
                  <a:tcPr marL="47625" marR="38100" marT="19050" marB="19050" anchor="ctr">
                    <a:solidFill>
                      <a:srgbClr val="FFFFFF"/>
                    </a:solidFill>
                  </a:tcPr>
                </a:tc>
                <a:tc>
                  <a:txBody>
                    <a:bodyPr/>
                    <a:lstStyle/>
                    <a:p>
                      <a:pPr algn="l"/>
                      <a:r>
                        <a:rPr sz="1100" b="1">
                          <a:solidFill>
                            <a:srgbClr val="2E7D32"/>
                          </a:solidFill>
                          <a:latin typeface="Calibri"/>
                        </a:rPr>
                        <a:t>▲ 8.4%</a:t>
                      </a:r>
                      <a:endParaRPr sz="1100"/>
                    </a:p>
                  </a:txBody>
                  <a:tcPr marL="47625" marR="38100" marT="19050" marB="19050" anchor="ctr">
                    <a:solidFill>
                      <a:srgbClr val="FFFFFF"/>
                    </a:solidFill>
                  </a:tcPr>
                </a:tc>
                <a:tc>
                  <a:txBody>
                    <a:bodyPr/>
                    <a:lstStyle/>
                    <a:p>
                      <a:pPr algn="l"/>
                      <a:r>
                        <a:rPr sz="1100" b="1">
                          <a:solidFill>
                            <a:srgbClr val="2E7D32"/>
                          </a:solidFill>
                          <a:latin typeface="Calibri"/>
                        </a:rPr>
                        <a:t>▲ 8.5%</a:t>
                      </a:r>
                      <a:endParaRPr sz="1100"/>
                    </a:p>
                  </a:txBody>
                  <a:tcPr marL="47625" marR="38100" marT="19050" marB="19050" anchor="ctr">
                    <a:solidFill>
                      <a:srgbClr val="FFFFFF"/>
                    </a:solidFill>
                  </a:tcPr>
                </a:tc>
                <a:tc>
                  <a:txBody>
                    <a:bodyPr/>
                    <a:lstStyle/>
                    <a:p>
                      <a:pPr algn="l"/>
                      <a:r>
                        <a:rPr sz="1100" b="1">
                          <a:solidFill>
                            <a:srgbClr val="2E7D32"/>
                          </a:solidFill>
                          <a:latin typeface="Calibri"/>
                        </a:rPr>
                        <a:t>▲ 8.8%</a:t>
                      </a:r>
                      <a:endParaRPr sz="1100"/>
                    </a:p>
                  </a:txBody>
                  <a:tcPr marL="47625" marR="38100" marT="19050" marB="19050" anchor="ctr">
                    <a:solidFill>
                      <a:srgbClr val="FFFFFF"/>
                    </a:solidFill>
                  </a:tcPr>
                </a:tc>
                <a:tc>
                  <a:txBody>
                    <a:bodyPr/>
                    <a:lstStyle/>
                    <a:p>
                      <a:pPr algn="l"/>
                      <a:r>
                        <a:rPr sz="1100" b="1">
                          <a:solidFill>
                            <a:srgbClr val="2E7D32"/>
                          </a:solidFill>
                          <a:latin typeface="Calibri"/>
                        </a:rPr>
                        <a:t>▲ 9.2%</a:t>
                      </a:r>
                      <a:endParaRPr sz="1100"/>
                    </a:p>
                  </a:txBody>
                  <a:tcPr marL="47625" marR="38100" marT="19050" marB="19050" anchor="ctr">
                    <a:solidFill>
                      <a:srgbClr val="FFFFFF"/>
                    </a:solidFill>
                  </a:tcPr>
                </a:tc>
                <a:tc>
                  <a:txBody>
                    <a:bodyPr/>
                    <a:lstStyle/>
                    <a:p>
                      <a:pPr algn="l"/>
                      <a:r>
                        <a:rPr sz="1100" b="1">
                          <a:solidFill>
                            <a:srgbClr val="2E7D32"/>
                          </a:solidFill>
                          <a:latin typeface="Calibri"/>
                        </a:rPr>
                        <a:t>▲ 9.6%</a:t>
                      </a:r>
                      <a:endParaRPr sz="1100"/>
                    </a:p>
                  </a:txBody>
                  <a:tcPr marL="47625" marR="38100" marT="19050" marB="19050" anchor="ctr">
                    <a:solidFill>
                      <a:srgbClr val="FFFFFF"/>
                    </a:solidFill>
                  </a:tcPr>
                </a:tc>
                <a:tc>
                  <a:txBody>
                    <a:bodyPr/>
                    <a:lstStyle/>
                    <a:p>
                      <a:pPr algn="l"/>
                      <a:r>
                        <a:rPr sz="1100" b="1">
                          <a:solidFill>
                            <a:srgbClr val="2E7D32"/>
                          </a:solidFill>
                          <a:latin typeface="Calibri"/>
                        </a:rPr>
                        <a:t>▲ 10.0%</a:t>
                      </a:r>
                      <a:endParaRPr sz="1100"/>
                    </a:p>
                  </a:txBody>
                  <a:tcPr marL="47625" marR="38100" marT="19050" marB="19050" anchor="ctr">
                    <a:solidFill>
                      <a:srgbClr val="FFFFFF"/>
                    </a:solidFill>
                  </a:tcPr>
                </a:tc>
                <a:tc>
                  <a:txBody>
                    <a:bodyPr/>
                    <a:lstStyle/>
                    <a:p>
                      <a:pPr algn="l"/>
                      <a:r>
                        <a:rPr sz="1100" b="1">
                          <a:solidFill>
                            <a:srgbClr val="2E7D32"/>
                          </a:solidFill>
                          <a:latin typeface="Calibri"/>
                        </a:rPr>
                        <a:t>▲ 10.8%</a:t>
                      </a:r>
                      <a:endParaRPr sz="1100"/>
                    </a:p>
                  </a:txBody>
                  <a:tcPr marL="47625" marR="38100" marT="19050" marB="19050" anchor="ctr">
                    <a:solidFill>
                      <a:srgbClr val="FFFFFF"/>
                    </a:solidFill>
                  </a:tcPr>
                </a:tc>
                <a:tc>
                  <a:txBody>
                    <a:bodyPr/>
                    <a:lstStyle/>
                    <a:p>
                      <a:pPr algn="l"/>
                      <a:r>
                        <a:rPr sz="1100" b="1">
                          <a:solidFill>
                            <a:srgbClr val="2E7D32"/>
                          </a:solidFill>
                          <a:latin typeface="Calibri"/>
                        </a:rPr>
                        <a:t>▲ 11.6%</a:t>
                      </a:r>
                      <a:endParaRPr sz="1100"/>
                    </a:p>
                  </a:txBody>
                  <a:tcPr marL="47625" marR="38100" marT="19050" marB="19050" anchor="ctr">
                    <a:solidFill>
                      <a:srgbClr val="FFFFFF"/>
                    </a:solidFill>
                  </a:tcPr>
                </a:tc>
                <a:tc>
                  <a:txBody>
                    <a:bodyPr/>
                    <a:lstStyle/>
                    <a:p>
                      <a:pPr algn="l"/>
                      <a:r>
                        <a:rPr sz="1100" b="1">
                          <a:solidFill>
                            <a:srgbClr val="2E7D32"/>
                          </a:solidFill>
                          <a:latin typeface="Calibri"/>
                        </a:rPr>
                        <a:t>▲ 12.4%</a:t>
                      </a:r>
                      <a:endParaRPr sz="1100"/>
                    </a:p>
                  </a:txBody>
                  <a:tcPr marL="47625" marR="38100" marT="19050" marB="19050" anchor="ctr">
                    <a:solidFill>
                      <a:srgbClr val="FFFFFF"/>
                    </a:solidFill>
                  </a:tcPr>
                </a:tc>
                <a:tc>
                  <a:txBody>
                    <a:bodyPr/>
                    <a:lstStyle/>
                    <a:p>
                      <a:pPr algn="l"/>
                      <a:r>
                        <a:rPr sz="1100" b="1">
                          <a:solidFill>
                            <a:srgbClr val="2E7D32"/>
                          </a:solidFill>
                          <a:latin typeface="Calibri"/>
                        </a:rPr>
                        <a:t>▲ 13.2%</a:t>
                      </a:r>
                      <a:endParaRPr sz="1100"/>
                    </a:p>
                  </a:txBody>
                  <a:tcPr marL="47625" marR="38100" marT="19050" marB="19050" anchor="ctr">
                    <a:solidFill>
                      <a:srgbClr val="FFFFFF"/>
                    </a:solidFill>
                  </a:tcPr>
                </a:tc>
                <a:tc>
                  <a:txBody>
                    <a:bodyPr/>
                    <a:lstStyle/>
                    <a:p>
                      <a:pPr algn="l"/>
                      <a:r>
                        <a:rPr sz="1100" b="1">
                          <a:solidFill>
                            <a:srgbClr val="2E7D32"/>
                          </a:solidFill>
                          <a:latin typeface="Calibri"/>
                        </a:rPr>
                        <a:t>▲ 13.5%</a:t>
                      </a:r>
                      <a:endParaRPr sz="1100"/>
                    </a:p>
                  </a:txBody>
                  <a:tcPr marL="47625" marR="38100" marT="19050" marB="19050" anchor="ctr">
                    <a:solidFill>
                      <a:srgbClr val="FFFFFF"/>
                    </a:solidFill>
                  </a:tcPr>
                </a:tc>
                <a:tc>
                  <a:txBody>
                    <a:bodyPr/>
                    <a:lstStyle/>
                    <a:p>
                      <a:pPr algn="l"/>
                      <a:r>
                        <a:rPr sz="1100" b="1">
                          <a:solidFill>
                            <a:srgbClr val="2E7D32"/>
                          </a:solidFill>
                          <a:latin typeface="Calibri"/>
                        </a:rPr>
                        <a:t>▲ 13.5%</a:t>
                      </a:r>
                      <a:endParaRPr sz="1100"/>
                    </a:p>
                  </a:txBody>
                  <a:tcPr marL="47625" marR="38100" marT="19050" marB="19050" anchor="ctr">
                    <a:solidFill>
                      <a:srgbClr val="FFFFFF"/>
                    </a:solidFill>
                  </a:tcPr>
                </a:tc>
                <a:tc>
                  <a:txBody>
                    <a:bodyPr/>
                    <a:lstStyle/>
                    <a:p>
                      <a:pPr algn="l"/>
                      <a:r>
                        <a:rPr sz="1100" b="1">
                          <a:solidFill>
                            <a:srgbClr val="2E7D32"/>
                          </a:solidFill>
                          <a:latin typeface="Calibri"/>
                        </a:rPr>
                        <a:t>▲ 13.1%</a:t>
                      </a:r>
                      <a:endParaRPr sz="1100"/>
                    </a:p>
                  </a:txBody>
                  <a:tcPr marL="47625" marR="38100" marT="19050" marB="19050" anchor="ctr">
                    <a:solidFill>
                      <a:srgbClr val="FFFFFF"/>
                    </a:solidFill>
                  </a:tcPr>
                </a:tc>
                <a:tc>
                  <a:txBody>
                    <a:bodyPr/>
                    <a:lstStyle/>
                    <a:p>
                      <a:pPr algn="l"/>
                      <a:r>
                        <a:rPr sz="1100" b="1">
                          <a:solidFill>
                            <a:srgbClr val="2E7D32"/>
                          </a:solidFill>
                          <a:latin typeface="Calibri"/>
                        </a:rPr>
                        <a:t>▲ 12.8%</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15537">
                <a:tc>
                  <a:txBody>
                    <a:bodyPr/>
                    <a:lstStyle/>
                    <a:p>
                      <a:pPr algn="l"/>
                      <a:r>
                        <a:rPr sz="1100" b="1">
                          <a:solidFill>
                            <a:srgbClr val="2E2E2E"/>
                          </a:solidFill>
                          <a:latin typeface="Calibri"/>
                        </a:rPr>
                        <a:t>Calcium &amp; Mineral</a:t>
                      </a:r>
                      <a:endParaRPr sz="1100"/>
                    </a:p>
                  </a:txBody>
                  <a:tcPr marL="47625" marR="38100" marT="19050" marB="19050" anchor="ctr">
                    <a:solidFill>
                      <a:srgbClr val="F5F8FA"/>
                    </a:solidFill>
                  </a:tcPr>
                </a:tc>
                <a:tc>
                  <a:txBody>
                    <a:bodyPr/>
                    <a:lstStyle/>
                    <a:p>
                      <a:pPr algn="l"/>
                      <a:r>
                        <a:rPr sz="1100" b="1">
                          <a:solidFill>
                            <a:srgbClr val="A86F00"/>
                          </a:solidFill>
                          <a:latin typeface="Calibri"/>
                        </a:rPr>
                        <a:t>▶ 2.6%</a:t>
                      </a:r>
                      <a:endParaRPr sz="1100"/>
                    </a:p>
                  </a:txBody>
                  <a:tcPr marL="47625" marR="38100" marT="19050" marB="19050" anchor="ctr">
                    <a:solidFill>
                      <a:srgbClr val="F5F8FA"/>
                    </a:solidFill>
                  </a:tcPr>
                </a:tc>
                <a:tc>
                  <a:txBody>
                    <a:bodyPr/>
                    <a:lstStyle/>
                    <a:p>
                      <a:pPr algn="l"/>
                      <a:r>
                        <a:rPr sz="1100" b="1">
                          <a:solidFill>
                            <a:srgbClr val="A86F00"/>
                          </a:solidFill>
                          <a:latin typeface="Calibri"/>
                        </a:rPr>
                        <a:t>▶ 2.5%</a:t>
                      </a:r>
                      <a:endParaRPr sz="1100"/>
                    </a:p>
                  </a:txBody>
                  <a:tcPr marL="47625" marR="38100" marT="19050" marB="19050" anchor="ctr">
                    <a:solidFill>
                      <a:srgbClr val="F5F8FA"/>
                    </a:solidFill>
                  </a:tcPr>
                </a:tc>
                <a:tc>
                  <a:txBody>
                    <a:bodyPr/>
                    <a:lstStyle/>
                    <a:p>
                      <a:pPr algn="l"/>
                      <a:r>
                        <a:rPr sz="1100" b="1">
                          <a:solidFill>
                            <a:srgbClr val="A86F00"/>
                          </a:solidFill>
                          <a:latin typeface="Calibri"/>
                        </a:rPr>
                        <a:t>▶ 2.4%</a:t>
                      </a:r>
                      <a:endParaRPr sz="1100"/>
                    </a:p>
                  </a:txBody>
                  <a:tcPr marL="47625" marR="38100" marT="19050" marB="19050" anchor="ctr">
                    <a:solidFill>
                      <a:srgbClr val="F5F8FA"/>
                    </a:solidFill>
                  </a:tcPr>
                </a:tc>
                <a:tc>
                  <a:txBody>
                    <a:bodyPr/>
                    <a:lstStyle/>
                    <a:p>
                      <a:pPr algn="l"/>
                      <a:r>
                        <a:rPr sz="1100" b="1">
                          <a:solidFill>
                            <a:srgbClr val="A86F00"/>
                          </a:solidFill>
                          <a:latin typeface="Calibri"/>
                        </a:rPr>
                        <a:t>▶ 2.2%</a:t>
                      </a:r>
                      <a:endParaRPr sz="1100"/>
                    </a:p>
                  </a:txBody>
                  <a:tcPr marL="47625" marR="38100" marT="19050" marB="19050" anchor="ctr">
                    <a:solidFill>
                      <a:srgbClr val="F5F8FA"/>
                    </a:solidFill>
                  </a:tcPr>
                </a:tc>
                <a:tc>
                  <a:txBody>
                    <a:bodyPr/>
                    <a:lstStyle/>
                    <a:p>
                      <a:pPr algn="l"/>
                      <a:r>
                        <a:rPr sz="1100" b="1">
                          <a:solidFill>
                            <a:srgbClr val="A86F00"/>
                          </a:solidFill>
                          <a:latin typeface="Calibri"/>
                        </a:rPr>
                        <a:t>▶ 2.3%</a:t>
                      </a:r>
                      <a:endParaRPr sz="1100"/>
                    </a:p>
                  </a:txBody>
                  <a:tcPr marL="47625" marR="38100" marT="19050" marB="19050" anchor="ctr">
                    <a:solidFill>
                      <a:srgbClr val="F5F8FA"/>
                    </a:solidFill>
                  </a:tcPr>
                </a:tc>
                <a:tc>
                  <a:txBody>
                    <a:bodyPr/>
                    <a:lstStyle/>
                    <a:p>
                      <a:pPr algn="l"/>
                      <a:r>
                        <a:rPr sz="1100" b="1">
                          <a:solidFill>
                            <a:srgbClr val="A86F00"/>
                          </a:solidFill>
                          <a:latin typeface="Calibri"/>
                        </a:rPr>
                        <a:t>▶ 2.3%</a:t>
                      </a:r>
                      <a:endParaRPr sz="1100"/>
                    </a:p>
                  </a:txBody>
                  <a:tcPr marL="47625" marR="38100" marT="19050" marB="19050" anchor="ctr">
                    <a:solidFill>
                      <a:srgbClr val="F5F8FA"/>
                    </a:solidFill>
                  </a:tcPr>
                </a:tc>
                <a:tc>
                  <a:txBody>
                    <a:bodyPr/>
                    <a:lstStyle/>
                    <a:p>
                      <a:pPr algn="l"/>
                      <a:r>
                        <a:rPr sz="1100" b="1">
                          <a:solidFill>
                            <a:srgbClr val="A86F00"/>
                          </a:solidFill>
                          <a:latin typeface="Calibri"/>
                        </a:rPr>
                        <a:t>▶ 2.5%</a:t>
                      </a:r>
                      <a:endParaRPr sz="1100"/>
                    </a:p>
                  </a:txBody>
                  <a:tcPr marL="47625" marR="38100" marT="19050" marB="19050" anchor="ctr">
                    <a:solidFill>
                      <a:srgbClr val="F5F8FA"/>
                    </a:solidFill>
                  </a:tcPr>
                </a:tc>
                <a:tc>
                  <a:txBody>
                    <a:bodyPr/>
                    <a:lstStyle/>
                    <a:p>
                      <a:pPr algn="l"/>
                      <a:r>
                        <a:rPr sz="1100" b="1">
                          <a:solidFill>
                            <a:srgbClr val="A86F00"/>
                          </a:solidFill>
                          <a:latin typeface="Calibri"/>
                        </a:rPr>
                        <a:t>▶ 2.7%</a:t>
                      </a:r>
                      <a:endParaRPr sz="1100"/>
                    </a:p>
                  </a:txBody>
                  <a:tcPr marL="47625" marR="38100" marT="19050" marB="19050" anchor="ctr">
                    <a:solidFill>
                      <a:srgbClr val="F5F8FA"/>
                    </a:solidFill>
                  </a:tcPr>
                </a:tc>
                <a:tc>
                  <a:txBody>
                    <a:bodyPr/>
                    <a:lstStyle/>
                    <a:p>
                      <a:pPr algn="l"/>
                      <a:r>
                        <a:rPr sz="1100" b="1">
                          <a:solidFill>
                            <a:srgbClr val="A86F00"/>
                          </a:solidFill>
                          <a:latin typeface="Calibri"/>
                        </a:rPr>
                        <a:t>▶ 2.9%</a:t>
                      </a:r>
                      <a:endParaRPr sz="1100"/>
                    </a:p>
                  </a:txBody>
                  <a:tcPr marL="47625" marR="38100" marT="19050" marB="19050" anchor="ctr">
                    <a:solidFill>
                      <a:srgbClr val="F5F8FA"/>
                    </a:solidFill>
                  </a:tcPr>
                </a:tc>
                <a:tc>
                  <a:txBody>
                    <a:bodyPr/>
                    <a:lstStyle/>
                    <a:p>
                      <a:pPr algn="l"/>
                      <a:r>
                        <a:rPr sz="1100" b="1">
                          <a:solidFill>
                            <a:srgbClr val="A86F00"/>
                          </a:solidFill>
                          <a:latin typeface="Calibri"/>
                        </a:rPr>
                        <a:t>▶ 3.0%</a:t>
                      </a:r>
                      <a:endParaRPr sz="1100"/>
                    </a:p>
                  </a:txBody>
                  <a:tcPr marL="47625" marR="38100" marT="19050" marB="19050" anchor="ctr">
                    <a:solidFill>
                      <a:srgbClr val="F5F8FA"/>
                    </a:solidFill>
                  </a:tcPr>
                </a:tc>
                <a:tc>
                  <a:txBody>
                    <a:bodyPr/>
                    <a:lstStyle/>
                    <a:p>
                      <a:pPr algn="l"/>
                      <a:r>
                        <a:rPr sz="1100" b="1">
                          <a:solidFill>
                            <a:srgbClr val="A86F00"/>
                          </a:solidFill>
                          <a:latin typeface="Calibri"/>
                        </a:rPr>
                        <a:t>▶ 3.1%</a:t>
                      </a:r>
                      <a:endParaRPr sz="1100"/>
                    </a:p>
                  </a:txBody>
                  <a:tcPr marL="47625" marR="38100" marT="19050" marB="19050" anchor="ctr">
                    <a:solidFill>
                      <a:srgbClr val="F5F8FA"/>
                    </a:solidFill>
                  </a:tcPr>
                </a:tc>
                <a:tc>
                  <a:txBody>
                    <a:bodyPr/>
                    <a:lstStyle/>
                    <a:p>
                      <a:pPr algn="l"/>
                      <a:r>
                        <a:rPr sz="1100" b="1">
                          <a:solidFill>
                            <a:srgbClr val="A86F00"/>
                          </a:solidFill>
                          <a:latin typeface="Calibri"/>
                        </a:rPr>
                        <a:t>▶ 3.2%</a:t>
                      </a:r>
                      <a:endParaRPr sz="1100"/>
                    </a:p>
                  </a:txBody>
                  <a:tcPr marL="47625" marR="38100" marT="19050" marB="19050" anchor="ctr">
                    <a:solidFill>
                      <a:srgbClr val="F5F8FA"/>
                    </a:solidFill>
                  </a:tcPr>
                </a:tc>
                <a:tc>
                  <a:txBody>
                    <a:bodyPr/>
                    <a:lstStyle/>
                    <a:p>
                      <a:pPr algn="l"/>
                      <a:r>
                        <a:rPr sz="1100" b="1">
                          <a:solidFill>
                            <a:srgbClr val="A86F00"/>
                          </a:solidFill>
                          <a:latin typeface="Calibri"/>
                        </a:rPr>
                        <a:t>▶ 3.2%</a:t>
                      </a:r>
                      <a:endParaRPr sz="1100"/>
                    </a:p>
                  </a:txBody>
                  <a:tcPr marL="47625" marR="38100" marT="19050" marB="19050" anchor="ctr">
                    <a:solidFill>
                      <a:srgbClr val="F5F8FA"/>
                    </a:solidFill>
                  </a:tcPr>
                </a:tc>
                <a:tc>
                  <a:txBody>
                    <a:bodyPr/>
                    <a:lstStyle/>
                    <a:p>
                      <a:pPr algn="l"/>
                      <a:r>
                        <a:rPr sz="1100" b="1">
                          <a:solidFill>
                            <a:srgbClr val="A86F00"/>
                          </a:solidFill>
                          <a:latin typeface="Calibri"/>
                        </a:rPr>
                        <a:t>▶ 3.1%</a:t>
                      </a:r>
                      <a:endParaRPr sz="1100"/>
                    </a:p>
                  </a:txBody>
                  <a:tcPr marL="47625" marR="38100" marT="19050" marB="19050" anchor="ctr">
                    <a:solidFill>
                      <a:srgbClr val="F5F8FA"/>
                    </a:solidFill>
                  </a:tcPr>
                </a:tc>
                <a:tc>
                  <a:txBody>
                    <a:bodyPr/>
                    <a:lstStyle/>
                    <a:p>
                      <a:pPr algn="l"/>
                      <a:r>
                        <a:rPr sz="1100" b="1">
                          <a:solidFill>
                            <a:srgbClr val="A86F00"/>
                          </a:solidFill>
                          <a:latin typeface="Calibri"/>
                        </a:rPr>
                        <a:t>▶ 3.0%</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r h="215537">
                <a:tc>
                  <a:txBody>
                    <a:bodyPr/>
                    <a:lstStyle/>
                    <a:p>
                      <a:pPr algn="l"/>
                      <a:r>
                        <a:rPr sz="1100" b="1">
                          <a:solidFill>
                            <a:srgbClr val="2E2E2E"/>
                          </a:solidFill>
                          <a:latin typeface="Calibri"/>
                        </a:rPr>
                        <a:t>Probiotic</a:t>
                      </a:r>
                      <a:endParaRPr sz="1100"/>
                    </a:p>
                  </a:txBody>
                  <a:tcPr marL="47625" marR="38100" marT="19050" marB="19050" anchor="ctr">
                    <a:solidFill>
                      <a:srgbClr val="FFFFFF"/>
                    </a:solidFill>
                  </a:tcPr>
                </a:tc>
                <a:tc>
                  <a:txBody>
                    <a:bodyPr/>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a:lstStyle/>
                    <a:p>
                      <a:pPr algn="l"/>
                      <a:r>
                        <a:rPr sz="1100" b="1">
                          <a:solidFill>
                            <a:srgbClr val="2E7D32"/>
                          </a:solidFill>
                          <a:latin typeface="Calibri"/>
                        </a:rPr>
                        <a:t>▲ 6.6%</a:t>
                      </a:r>
                      <a:endParaRPr sz="1100"/>
                    </a:p>
                  </a:txBody>
                  <a:tcPr marL="47625" marR="38100" marT="19050" marB="19050" anchor="ctr">
                    <a:solidFill>
                      <a:srgbClr val="FFFFFF"/>
                    </a:solidFill>
                  </a:tcPr>
                </a:tc>
                <a:tc>
                  <a:txBody>
                    <a:bodyPr/>
                    <a:lstStyle/>
                    <a:p>
                      <a:pPr algn="l"/>
                      <a:r>
                        <a:rPr sz="1100" b="1">
                          <a:solidFill>
                            <a:srgbClr val="2E7D32"/>
                          </a:solidFill>
                          <a:latin typeface="Calibri"/>
                        </a:rPr>
                        <a:t>▲ 7.7%</a:t>
                      </a:r>
                      <a:endParaRPr sz="1100"/>
                    </a:p>
                  </a:txBody>
                  <a:tcPr marL="47625" marR="38100" marT="19050" marB="19050" anchor="ctr">
                    <a:solidFill>
                      <a:srgbClr val="FFFFFF"/>
                    </a:solidFill>
                  </a:tcPr>
                </a:tc>
                <a:tc>
                  <a:txBody>
                    <a:bodyPr/>
                    <a:lstStyle/>
                    <a:p>
                      <a:pPr algn="l"/>
                      <a:r>
                        <a:rPr sz="1100" b="1">
                          <a:solidFill>
                            <a:srgbClr val="2E7D32"/>
                          </a:solidFill>
                          <a:latin typeface="Calibri"/>
                        </a:rPr>
                        <a:t>▲ 8.7%</a:t>
                      </a:r>
                      <a:endParaRPr sz="1100"/>
                    </a:p>
                  </a:txBody>
                  <a:tcPr marL="47625" marR="38100" marT="19050" marB="19050" anchor="ctr">
                    <a:solidFill>
                      <a:srgbClr val="FFFFFF"/>
                    </a:solidFill>
                  </a:tcPr>
                </a:tc>
                <a:tc>
                  <a:txBody>
                    <a:bodyPr/>
                    <a:lstStyle/>
                    <a:p>
                      <a:pPr algn="l"/>
                      <a:r>
                        <a:rPr sz="1100" b="1">
                          <a:solidFill>
                            <a:srgbClr val="2E7D32"/>
                          </a:solidFill>
                          <a:latin typeface="Calibri"/>
                        </a:rPr>
                        <a:t>▲ 9.6%</a:t>
                      </a:r>
                      <a:endParaRPr sz="1100"/>
                    </a:p>
                  </a:txBody>
                  <a:tcPr marL="47625" marR="38100" marT="19050" marB="19050" anchor="ctr">
                    <a:solidFill>
                      <a:srgbClr val="FFFFFF"/>
                    </a:solidFill>
                  </a:tcPr>
                </a:tc>
                <a:tc>
                  <a:txBody>
                    <a:bodyPr/>
                    <a:lstStyle/>
                    <a:p>
                      <a:pPr algn="l"/>
                      <a:r>
                        <a:rPr sz="1100" b="1">
                          <a:solidFill>
                            <a:srgbClr val="2E7D32"/>
                          </a:solidFill>
                          <a:latin typeface="Calibri"/>
                        </a:rPr>
                        <a:t>▲ 10.1%</a:t>
                      </a:r>
                      <a:endParaRPr sz="1100"/>
                    </a:p>
                  </a:txBody>
                  <a:tcPr marL="47625" marR="38100" marT="19050" marB="19050" anchor="ctr">
                    <a:solidFill>
                      <a:srgbClr val="FFFFFF"/>
                    </a:solidFill>
                  </a:tcPr>
                </a:tc>
                <a:tc>
                  <a:txBody>
                    <a:bodyPr/>
                    <a:lstStyle/>
                    <a:p>
                      <a:pPr algn="l"/>
                      <a:r>
                        <a:rPr sz="1100" b="1">
                          <a:solidFill>
                            <a:srgbClr val="2E7D32"/>
                          </a:solidFill>
                          <a:latin typeface="Calibri"/>
                        </a:rPr>
                        <a:t>▲ 10.6%</a:t>
                      </a:r>
                      <a:endParaRPr sz="1100"/>
                    </a:p>
                  </a:txBody>
                  <a:tcPr marL="47625" marR="38100" marT="19050" marB="19050" anchor="ctr">
                    <a:solidFill>
                      <a:srgbClr val="FFFFFF"/>
                    </a:solidFill>
                  </a:tcPr>
                </a:tc>
                <a:tc>
                  <a:txBody>
                    <a:bodyPr/>
                    <a:lstStyle/>
                    <a:p>
                      <a:pPr algn="l"/>
                      <a:r>
                        <a:rPr sz="1100" b="1">
                          <a:solidFill>
                            <a:srgbClr val="2E7D32"/>
                          </a:solidFill>
                          <a:latin typeface="Calibri"/>
                        </a:rPr>
                        <a:t>▲ 10.7%</a:t>
                      </a:r>
                      <a:endParaRPr sz="1100"/>
                    </a:p>
                  </a:txBody>
                  <a:tcPr marL="47625" marR="38100" marT="19050" marB="19050" anchor="ctr">
                    <a:solidFill>
                      <a:srgbClr val="FFFFFF"/>
                    </a:solidFill>
                  </a:tcPr>
                </a:tc>
                <a:tc>
                  <a:txBody>
                    <a:bodyPr/>
                    <a:lstStyle/>
                    <a:p>
                      <a:pPr algn="l"/>
                      <a:r>
                        <a:rPr sz="1100" b="1">
                          <a:solidFill>
                            <a:srgbClr val="2E7D32"/>
                          </a:solidFill>
                          <a:latin typeface="Calibri"/>
                        </a:rPr>
                        <a:t>▲ 10.7%</a:t>
                      </a:r>
                      <a:endParaRPr sz="1100"/>
                    </a:p>
                  </a:txBody>
                  <a:tcPr marL="47625" marR="38100" marT="19050" marB="19050" anchor="ctr">
                    <a:solidFill>
                      <a:srgbClr val="FFFFFF"/>
                    </a:solidFill>
                  </a:tcPr>
                </a:tc>
                <a:tc>
                  <a:txBody>
                    <a:bodyPr/>
                    <a:lstStyle/>
                    <a:p>
                      <a:pPr algn="l"/>
                      <a:r>
                        <a:rPr sz="1100" b="1">
                          <a:solidFill>
                            <a:srgbClr val="2E7D32"/>
                          </a:solidFill>
                          <a:latin typeface="Calibri"/>
                        </a:rPr>
                        <a:t>▲ 10.5%</a:t>
                      </a:r>
                      <a:endParaRPr sz="1100"/>
                    </a:p>
                  </a:txBody>
                  <a:tcPr marL="47625" marR="38100" marT="19050" marB="19050" anchor="ctr">
                    <a:solidFill>
                      <a:srgbClr val="FFFFFF"/>
                    </a:solidFill>
                  </a:tcPr>
                </a:tc>
                <a:tc>
                  <a:txBody>
                    <a:bodyPr/>
                    <a:lstStyle/>
                    <a:p>
                      <a:pPr algn="l"/>
                      <a:r>
                        <a:rPr sz="1100" b="1">
                          <a:solidFill>
                            <a:srgbClr val="2E7D32"/>
                          </a:solidFill>
                          <a:latin typeface="Calibri"/>
                        </a:rPr>
                        <a:t>▲ 10.2%</a:t>
                      </a:r>
                      <a:endParaRPr sz="1100"/>
                    </a:p>
                  </a:txBody>
                  <a:tcPr marL="47625" marR="38100" marT="19050" marB="19050" anchor="ctr">
                    <a:solidFill>
                      <a:srgbClr val="FFFFFF"/>
                    </a:solidFill>
                  </a:tcPr>
                </a:tc>
                <a:extLst>
                  <a:ext uri="{0D108BD9-81ED-4DB2-BD59-A6C34878D82A}">
                    <a16:rowId xmlns:a16="http://schemas.microsoft.com/office/drawing/2014/main" val="10007"/>
                  </a:ext>
                </a:extLst>
              </a:tr>
            </a:tbl>
          </a:graphicData>
        </a:graphic>
      </p:graphicFrame>
      <p:sp>
        <p:nvSpPr>
          <p:cNvPr id="14" name="TextBox 13"/>
          <p:cNvSpPr txBox="1"/>
          <p:nvPr/>
        </p:nvSpPr>
        <p:spPr>
          <a:xfrm>
            <a:off x="219075" y="29718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8125" y="33623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Volume YoY Heatmap, By Product Type (%)  ·  light = lower, dark = higher growth</a:t>
            </a:r>
          </a:p>
        </p:txBody>
      </p:sp>
      <p:sp>
        <p:nvSpPr>
          <p:cNvPr id="17" name="TextBox 16"/>
          <p:cNvSpPr txBox="1"/>
          <p:nvPr/>
        </p:nvSpPr>
        <p:spPr>
          <a:xfrm>
            <a:off x="185737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2022</a:t>
            </a:r>
          </a:p>
        </p:txBody>
      </p:sp>
      <p:sp>
        <p:nvSpPr>
          <p:cNvPr id="18" name="TextBox 17"/>
          <p:cNvSpPr txBox="1"/>
          <p:nvPr/>
        </p:nvSpPr>
        <p:spPr>
          <a:xfrm>
            <a:off x="250126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2023</a:t>
            </a:r>
          </a:p>
        </p:txBody>
      </p:sp>
      <p:sp>
        <p:nvSpPr>
          <p:cNvPr id="19" name="TextBox 18"/>
          <p:cNvSpPr txBox="1"/>
          <p:nvPr/>
        </p:nvSpPr>
        <p:spPr>
          <a:xfrm>
            <a:off x="314515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2024</a:t>
            </a:r>
          </a:p>
        </p:txBody>
      </p:sp>
      <p:sp>
        <p:nvSpPr>
          <p:cNvPr id="20" name="TextBox 19"/>
          <p:cNvSpPr txBox="1"/>
          <p:nvPr/>
        </p:nvSpPr>
        <p:spPr>
          <a:xfrm>
            <a:off x="378904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2025</a:t>
            </a:r>
          </a:p>
        </p:txBody>
      </p:sp>
      <p:sp>
        <p:nvSpPr>
          <p:cNvPr id="21" name="TextBox 20"/>
          <p:cNvSpPr txBox="1"/>
          <p:nvPr/>
        </p:nvSpPr>
        <p:spPr>
          <a:xfrm>
            <a:off x="443293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2026</a:t>
            </a:r>
          </a:p>
        </p:txBody>
      </p:sp>
      <p:sp>
        <p:nvSpPr>
          <p:cNvPr id="22" name="TextBox 21"/>
          <p:cNvSpPr txBox="1"/>
          <p:nvPr/>
        </p:nvSpPr>
        <p:spPr>
          <a:xfrm>
            <a:off x="507682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2027</a:t>
            </a:r>
          </a:p>
        </p:txBody>
      </p:sp>
      <p:sp>
        <p:nvSpPr>
          <p:cNvPr id="23" name="TextBox 22"/>
          <p:cNvSpPr txBox="1"/>
          <p:nvPr/>
        </p:nvSpPr>
        <p:spPr>
          <a:xfrm>
            <a:off x="572071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2028</a:t>
            </a:r>
          </a:p>
        </p:txBody>
      </p:sp>
      <p:sp>
        <p:nvSpPr>
          <p:cNvPr id="24" name="TextBox 23"/>
          <p:cNvSpPr txBox="1"/>
          <p:nvPr/>
        </p:nvSpPr>
        <p:spPr>
          <a:xfrm>
            <a:off x="636460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2029</a:t>
            </a:r>
          </a:p>
        </p:txBody>
      </p:sp>
      <p:sp>
        <p:nvSpPr>
          <p:cNvPr id="25" name="TextBox 24"/>
          <p:cNvSpPr txBox="1"/>
          <p:nvPr/>
        </p:nvSpPr>
        <p:spPr>
          <a:xfrm>
            <a:off x="700849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2030</a:t>
            </a:r>
          </a:p>
        </p:txBody>
      </p:sp>
      <p:sp>
        <p:nvSpPr>
          <p:cNvPr id="26" name="TextBox 25"/>
          <p:cNvSpPr txBox="1"/>
          <p:nvPr/>
        </p:nvSpPr>
        <p:spPr>
          <a:xfrm>
            <a:off x="765238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2031</a:t>
            </a:r>
          </a:p>
        </p:txBody>
      </p:sp>
      <p:sp>
        <p:nvSpPr>
          <p:cNvPr id="27" name="TextBox 26"/>
          <p:cNvSpPr txBox="1"/>
          <p:nvPr/>
        </p:nvSpPr>
        <p:spPr>
          <a:xfrm>
            <a:off x="829627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2032</a:t>
            </a:r>
          </a:p>
        </p:txBody>
      </p:sp>
      <p:sp>
        <p:nvSpPr>
          <p:cNvPr id="28" name="TextBox 27"/>
          <p:cNvSpPr txBox="1"/>
          <p:nvPr/>
        </p:nvSpPr>
        <p:spPr>
          <a:xfrm>
            <a:off x="894016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2033</a:t>
            </a:r>
          </a:p>
        </p:txBody>
      </p:sp>
      <p:sp>
        <p:nvSpPr>
          <p:cNvPr id="29" name="TextBox 28"/>
          <p:cNvSpPr txBox="1"/>
          <p:nvPr/>
        </p:nvSpPr>
        <p:spPr>
          <a:xfrm>
            <a:off x="958405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2034</a:t>
            </a:r>
          </a:p>
        </p:txBody>
      </p:sp>
      <p:sp>
        <p:nvSpPr>
          <p:cNvPr id="30" name="TextBox 29"/>
          <p:cNvSpPr txBox="1"/>
          <p:nvPr/>
        </p:nvSpPr>
        <p:spPr>
          <a:xfrm>
            <a:off x="1022794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2035</a:t>
            </a:r>
          </a:p>
        </p:txBody>
      </p:sp>
      <p:sp>
        <p:nvSpPr>
          <p:cNvPr id="31" name="TextBox 30"/>
          <p:cNvSpPr txBox="1"/>
          <p:nvPr/>
        </p:nvSpPr>
        <p:spPr>
          <a:xfrm>
            <a:off x="1087183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2036</a:t>
            </a:r>
          </a:p>
        </p:txBody>
      </p:sp>
      <p:sp>
        <p:nvSpPr>
          <p:cNvPr id="32" name="TextBox 31"/>
          <p:cNvSpPr txBox="1"/>
          <p:nvPr/>
        </p:nvSpPr>
        <p:spPr>
          <a:xfrm>
            <a:off x="238125" y="3733800"/>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Multivitamin</a:t>
            </a:r>
          </a:p>
        </p:txBody>
      </p:sp>
      <p:sp>
        <p:nvSpPr>
          <p:cNvPr id="33" name="Rectangle 32"/>
          <p:cNvSpPr/>
          <p:nvPr/>
        </p:nvSpPr>
        <p:spPr>
          <a:xfrm>
            <a:off x="1857375" y="3733800"/>
            <a:ext cx="643890" cy="405493"/>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501265" y="3733800"/>
            <a:ext cx="643890" cy="405493"/>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145155" y="3733800"/>
            <a:ext cx="643890" cy="405493"/>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789045" y="3733800"/>
            <a:ext cx="643890" cy="405493"/>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432935" y="3733800"/>
            <a:ext cx="643890" cy="405493"/>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076825" y="3733800"/>
            <a:ext cx="643890" cy="405493"/>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720715" y="3733800"/>
            <a:ext cx="643890" cy="405493"/>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364605" y="3733800"/>
            <a:ext cx="643890" cy="405493"/>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008495" y="3733800"/>
            <a:ext cx="643890" cy="405493"/>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652385" y="3733800"/>
            <a:ext cx="643890" cy="405493"/>
          </a:xfrm>
          <a:prstGeom prst="rect">
            <a:avLst/>
          </a:prstGeom>
          <a:solidFill>
            <a:srgbClr val="CEE0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296275" y="3733800"/>
            <a:ext cx="643890" cy="405493"/>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940165" y="3733800"/>
            <a:ext cx="643890" cy="405493"/>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584055" y="3733800"/>
            <a:ext cx="643890" cy="405493"/>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0227945" y="3733800"/>
            <a:ext cx="643890" cy="405493"/>
          </a:xfrm>
          <a:prstGeom prst="rect">
            <a:avLst/>
          </a:prstGeom>
          <a:solidFill>
            <a:srgbClr val="D2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0871835" y="3733800"/>
            <a:ext cx="643890" cy="405493"/>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38125" y="4139293"/>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DHA / Omega-3</a:t>
            </a:r>
          </a:p>
        </p:txBody>
      </p:sp>
      <p:sp>
        <p:nvSpPr>
          <p:cNvPr id="49" name="Rectangle 48"/>
          <p:cNvSpPr/>
          <p:nvPr/>
        </p:nvSpPr>
        <p:spPr>
          <a:xfrm>
            <a:off x="1857375" y="4139293"/>
            <a:ext cx="643890" cy="405493"/>
          </a:xfrm>
          <a:prstGeom prst="rect">
            <a:avLst/>
          </a:prstGeom>
          <a:solidFill>
            <a:srgbClr val="C5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2501265" y="4139293"/>
            <a:ext cx="643890" cy="405493"/>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3145155" y="4139293"/>
            <a:ext cx="643890" cy="405493"/>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3789045" y="4139293"/>
            <a:ext cx="643890" cy="405493"/>
          </a:xfrm>
          <a:prstGeom prst="rect">
            <a:avLst/>
          </a:prstGeom>
          <a:solidFill>
            <a:srgbClr val="D3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432935" y="4139293"/>
            <a:ext cx="643890" cy="405493"/>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5076825" y="4139293"/>
            <a:ext cx="643890" cy="405493"/>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5720715" y="4139293"/>
            <a:ext cx="643890" cy="405493"/>
          </a:xfrm>
          <a:prstGeom prst="rect">
            <a:avLst/>
          </a:prstGeom>
          <a:solidFill>
            <a:srgbClr val="C1D7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6364605" y="4139293"/>
            <a:ext cx="643890" cy="405493"/>
          </a:xfrm>
          <a:prstGeom prst="rect">
            <a:avLst/>
          </a:prstGeom>
          <a:solidFill>
            <a:srgbClr val="AECD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7008495" y="4139293"/>
            <a:ext cx="643890" cy="405493"/>
          </a:xfrm>
          <a:prstGeom prst="rect">
            <a:avLst/>
          </a:prstGeom>
          <a:solidFill>
            <a:srgbClr val="9D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652385" y="4139293"/>
            <a:ext cx="643890" cy="405493"/>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296275" y="4139293"/>
            <a:ext cx="643890" cy="405493"/>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940165" y="4139293"/>
            <a:ext cx="643890" cy="405493"/>
          </a:xfrm>
          <a:prstGeom prst="rect">
            <a:avLst/>
          </a:prstGeom>
          <a:solidFill>
            <a:srgbClr val="A2C6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9584055" y="4139293"/>
            <a:ext cx="643890" cy="405493"/>
          </a:xfrm>
          <a:prstGeom prst="rect">
            <a:avLst/>
          </a:prstGeom>
          <a:solidFill>
            <a:srgbClr val="A9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10227945" y="4139293"/>
            <a:ext cx="643890" cy="405493"/>
          </a:xfrm>
          <a:prstGeom prst="rect">
            <a:avLst/>
          </a:prstGeom>
          <a:solidFill>
            <a:srgbClr val="AECD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10871835" y="4139293"/>
            <a:ext cx="643890" cy="405493"/>
          </a:xfrm>
          <a:prstGeom prst="rect">
            <a:avLst/>
          </a:prstGeom>
          <a:solidFill>
            <a:srgbClr val="B3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238125" y="4544786"/>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Iron</a:t>
            </a:r>
          </a:p>
        </p:txBody>
      </p:sp>
      <p:sp>
        <p:nvSpPr>
          <p:cNvPr id="65" name="Rectangle 64"/>
          <p:cNvSpPr/>
          <p:nvPr/>
        </p:nvSpPr>
        <p:spPr>
          <a:xfrm>
            <a:off x="1857375" y="4544786"/>
            <a:ext cx="643890" cy="405493"/>
          </a:xfrm>
          <a:prstGeom prst="rect">
            <a:avLst/>
          </a:prstGeom>
          <a:solidFill>
            <a:srgbClr val="F2F9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2501265" y="4544786"/>
            <a:ext cx="643890" cy="405493"/>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3145155" y="4544786"/>
            <a:ext cx="643890" cy="405493"/>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3789045" y="4544786"/>
            <a:ext cx="643890" cy="405493"/>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432935" y="4544786"/>
            <a:ext cx="643890" cy="405493"/>
          </a:xfrm>
          <a:prstGeom prst="rect">
            <a:avLst/>
          </a:prstGeom>
          <a:solidFill>
            <a:srgbClr val="F2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5076825" y="4544786"/>
            <a:ext cx="643890" cy="405493"/>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5720715" y="4544786"/>
            <a:ext cx="643890" cy="405493"/>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6364605" y="4544786"/>
            <a:ext cx="643890" cy="405493"/>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7008495" y="4544786"/>
            <a:ext cx="643890" cy="405493"/>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7652385" y="4544786"/>
            <a:ext cx="643890" cy="405493"/>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8296275" y="4544786"/>
            <a:ext cx="643890" cy="405493"/>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8940165" y="4544786"/>
            <a:ext cx="643890" cy="405493"/>
          </a:xfrm>
          <a:prstGeom prst="rect">
            <a:avLst/>
          </a:prstGeom>
          <a:solidFill>
            <a:srgbClr val="E6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584055" y="4544786"/>
            <a:ext cx="643890" cy="405493"/>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10227945" y="4544786"/>
            <a:ext cx="643890" cy="405493"/>
          </a:xfrm>
          <a:prstGeom prst="rect">
            <a:avLst/>
          </a:prstGeom>
          <a:solidFill>
            <a:srgbClr val="E9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10871835" y="4544786"/>
            <a:ext cx="643890" cy="405493"/>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38125" y="4950279"/>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Folate / Folic Acid</a:t>
            </a:r>
          </a:p>
        </p:txBody>
      </p:sp>
      <p:sp>
        <p:nvSpPr>
          <p:cNvPr id="81" name="Rectangle 80"/>
          <p:cNvSpPr/>
          <p:nvPr/>
        </p:nvSpPr>
        <p:spPr>
          <a:xfrm>
            <a:off x="1857375" y="4950279"/>
            <a:ext cx="643890" cy="405493"/>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2501265" y="4950279"/>
            <a:ext cx="643890" cy="405493"/>
          </a:xfrm>
          <a:prstGeom prst="rect">
            <a:avLst/>
          </a:prstGeom>
          <a:solidFill>
            <a:srgbClr val="E6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3145155" y="4950279"/>
            <a:ext cx="643890" cy="405493"/>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3789045" y="4950279"/>
            <a:ext cx="643890" cy="405493"/>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4432935" y="4950279"/>
            <a:ext cx="643890" cy="405493"/>
          </a:xfrm>
          <a:prstGeom prst="rect">
            <a:avLst/>
          </a:prstGeom>
          <a:solidFill>
            <a:srgbClr val="EB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5076825" y="4950279"/>
            <a:ext cx="643890" cy="405493"/>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5720715" y="4950279"/>
            <a:ext cx="643890" cy="405493"/>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6364605" y="4950279"/>
            <a:ext cx="643890" cy="405493"/>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7008495" y="4950279"/>
            <a:ext cx="643890" cy="405493"/>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7652385" y="4950279"/>
            <a:ext cx="643890" cy="405493"/>
          </a:xfrm>
          <a:prstGeom prst="rect">
            <a:avLst/>
          </a:prstGeom>
          <a:solidFill>
            <a:srgbClr val="DF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8296275" y="4950279"/>
            <a:ext cx="643890" cy="405493"/>
          </a:xfrm>
          <a:prstGeom prst="rect">
            <a:avLst/>
          </a:prstGeom>
          <a:solidFill>
            <a:srgbClr val="DFED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8940165" y="4950279"/>
            <a:ext cx="643890" cy="405493"/>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9584055" y="4950279"/>
            <a:ext cx="643890" cy="405493"/>
          </a:xfrm>
          <a:prstGeom prst="rect">
            <a:avLst/>
          </a:prstGeom>
          <a:solidFill>
            <a:srgbClr val="DD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10227945" y="4950279"/>
            <a:ext cx="643890" cy="405493"/>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10871835" y="4950279"/>
            <a:ext cx="643890" cy="405493"/>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238125" y="5355771"/>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Choline</a:t>
            </a:r>
          </a:p>
        </p:txBody>
      </p:sp>
      <p:sp>
        <p:nvSpPr>
          <p:cNvPr id="97" name="Rectangle 96"/>
          <p:cNvSpPr/>
          <p:nvPr/>
        </p:nvSpPr>
        <p:spPr>
          <a:xfrm>
            <a:off x="1857375" y="5355771"/>
            <a:ext cx="643890" cy="405493"/>
          </a:xfrm>
          <a:prstGeom prst="rect">
            <a:avLst/>
          </a:prstGeom>
          <a:solidFill>
            <a:srgbClr val="84B5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2501265" y="5355771"/>
            <a:ext cx="643890" cy="405493"/>
          </a:xfrm>
          <a:prstGeom prst="rect">
            <a:avLst/>
          </a:prstGeom>
          <a:solidFill>
            <a:srgbClr val="83B5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3145155" y="5355771"/>
            <a:ext cx="643890" cy="405493"/>
          </a:xfrm>
          <a:prstGeom prst="rect">
            <a:avLst/>
          </a:prstGeom>
          <a:solidFill>
            <a:srgbClr val="7DB1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3789045" y="5355771"/>
            <a:ext cx="643890" cy="405493"/>
          </a:xfrm>
          <a:prstGeom prst="rect">
            <a:avLst/>
          </a:prstGeom>
          <a:solidFill>
            <a:srgbClr val="72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4432935" y="5355771"/>
            <a:ext cx="643890" cy="405493"/>
          </a:xfrm>
          <a:prstGeom prst="rect">
            <a:avLst/>
          </a:prstGeom>
          <a:solidFill>
            <a:srgbClr val="62A2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5076825" y="5355771"/>
            <a:ext cx="643890" cy="405493"/>
          </a:xfrm>
          <a:prstGeom prst="rect">
            <a:avLst/>
          </a:prstGeom>
          <a:solidFill>
            <a:srgbClr val="529A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5720715" y="5355771"/>
            <a:ext cx="643890" cy="405493"/>
          </a:xfrm>
          <a:prstGeom prst="rect">
            <a:avLst/>
          </a:prstGeom>
          <a:solidFill>
            <a:srgbClr val="4190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6364605" y="5355771"/>
            <a:ext cx="643890" cy="405493"/>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7008495" y="5355771"/>
            <a:ext cx="643890" cy="405493"/>
          </a:xfrm>
          <a:prstGeom prst="rect">
            <a:avLst/>
          </a:prstGeom>
          <a:solidFill>
            <a:srgbClr val="16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7652385" y="5355771"/>
            <a:ext cx="643890" cy="405493"/>
          </a:xfrm>
          <a:prstGeom prst="rect">
            <a:avLst/>
          </a:prstGeom>
          <a:solidFill>
            <a:srgbClr val="0D5B8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8296275" y="5355771"/>
            <a:ext cx="643890" cy="405493"/>
          </a:xfrm>
          <a:prstGeom prst="rect">
            <a:avLst/>
          </a:prstGeom>
          <a:solidFill>
            <a:srgbClr val="0C3C5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8940165" y="5355771"/>
            <a:ext cx="643890" cy="405493"/>
          </a:xfrm>
          <a:prstGeom prst="rect">
            <a:avLst/>
          </a:prstGeom>
          <a:solidFill>
            <a:srgbClr val="0B2F4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9584055" y="5355771"/>
            <a:ext cx="643890" cy="405493"/>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10227945" y="5355771"/>
            <a:ext cx="643890" cy="405493"/>
          </a:xfrm>
          <a:prstGeom prst="rect">
            <a:avLst/>
          </a:prstGeom>
          <a:solidFill>
            <a:srgbClr val="0C3F6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0871835" y="5355771"/>
            <a:ext cx="643890" cy="405493"/>
          </a:xfrm>
          <a:prstGeom prst="rect">
            <a:avLst/>
          </a:prstGeom>
          <a:solidFill>
            <a:srgbClr val="0C4D7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238125" y="5761264"/>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Calcium &amp; Mineral</a:t>
            </a:r>
          </a:p>
        </p:txBody>
      </p:sp>
      <p:sp>
        <p:nvSpPr>
          <p:cNvPr id="113" name="Rectangle 112"/>
          <p:cNvSpPr/>
          <p:nvPr/>
        </p:nvSpPr>
        <p:spPr>
          <a:xfrm>
            <a:off x="1857375" y="5761264"/>
            <a:ext cx="643890" cy="405493"/>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2501265" y="5761264"/>
            <a:ext cx="643890" cy="405493"/>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3145155" y="5761264"/>
            <a:ext cx="643890" cy="405493"/>
          </a:xfrm>
          <a:prstGeom prst="rect">
            <a:avLst/>
          </a:prstGeom>
          <a:solidFill>
            <a:srgbClr val="FD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3789045" y="5761264"/>
            <a:ext cx="643890" cy="405493"/>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4432935" y="5761264"/>
            <a:ext cx="643890" cy="405493"/>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5076825" y="5761264"/>
            <a:ext cx="643890" cy="405493"/>
          </a:xfrm>
          <a:prstGeom prst="rect">
            <a:avLst/>
          </a:prstGeom>
          <a:solidFill>
            <a:srgbClr val="FE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5720715" y="5761264"/>
            <a:ext cx="643890" cy="405493"/>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6364605" y="5761264"/>
            <a:ext cx="643890" cy="405493"/>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7008495" y="5761264"/>
            <a:ext cx="643890" cy="405493"/>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7652385" y="5761264"/>
            <a:ext cx="643890" cy="405493"/>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8296275" y="5761264"/>
            <a:ext cx="643890" cy="405493"/>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a:off x="8940165" y="5761264"/>
            <a:ext cx="643890" cy="405493"/>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124"/>
          <p:cNvSpPr/>
          <p:nvPr/>
        </p:nvSpPr>
        <p:spPr>
          <a:xfrm>
            <a:off x="9584055" y="5761264"/>
            <a:ext cx="643890" cy="405493"/>
          </a:xfrm>
          <a:prstGeom prst="rect">
            <a:avLst/>
          </a:prstGeom>
          <a:solidFill>
            <a:srgbClr val="F2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25"/>
          <p:cNvSpPr/>
          <p:nvPr/>
        </p:nvSpPr>
        <p:spPr>
          <a:xfrm>
            <a:off x="10227945" y="5761264"/>
            <a:ext cx="643890" cy="405493"/>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26"/>
          <p:cNvSpPr/>
          <p:nvPr/>
        </p:nvSpPr>
        <p:spPr>
          <a:xfrm>
            <a:off x="10871835" y="5761264"/>
            <a:ext cx="643890" cy="405493"/>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238125" y="6166757"/>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Probiotic</a:t>
            </a:r>
          </a:p>
        </p:txBody>
      </p:sp>
      <p:sp>
        <p:nvSpPr>
          <p:cNvPr id="129" name="Rectangle 128"/>
          <p:cNvSpPr/>
          <p:nvPr/>
        </p:nvSpPr>
        <p:spPr>
          <a:xfrm>
            <a:off x="1857375" y="6166757"/>
            <a:ext cx="643890" cy="405493"/>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ectangle 129"/>
          <p:cNvSpPr/>
          <p:nvPr/>
        </p:nvSpPr>
        <p:spPr>
          <a:xfrm>
            <a:off x="2501265" y="6166757"/>
            <a:ext cx="643890" cy="405493"/>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ectangle 130"/>
          <p:cNvSpPr/>
          <p:nvPr/>
        </p:nvSpPr>
        <p:spPr>
          <a:xfrm>
            <a:off x="3145155" y="6166757"/>
            <a:ext cx="643890" cy="405493"/>
          </a:xfrm>
          <a:prstGeom prst="rect">
            <a:avLst/>
          </a:prstGeom>
          <a:solidFill>
            <a:srgbClr val="D8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Rectangle 131"/>
          <p:cNvSpPr/>
          <p:nvPr/>
        </p:nvSpPr>
        <p:spPr>
          <a:xfrm>
            <a:off x="3789045" y="6166757"/>
            <a:ext cx="643890" cy="405493"/>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p:cNvSpPr/>
          <p:nvPr/>
        </p:nvSpPr>
        <p:spPr>
          <a:xfrm>
            <a:off x="4432935" y="6166757"/>
            <a:ext cx="643890" cy="405493"/>
          </a:xfrm>
          <a:prstGeom prst="rect">
            <a:avLst/>
          </a:prstGeom>
          <a:solidFill>
            <a:srgbClr val="CEE0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angle 133"/>
          <p:cNvSpPr/>
          <p:nvPr/>
        </p:nvSpPr>
        <p:spPr>
          <a:xfrm>
            <a:off x="5076825" y="6166757"/>
            <a:ext cx="643890" cy="405493"/>
          </a:xfrm>
          <a:prstGeom prst="rect">
            <a:avLst/>
          </a:prstGeom>
          <a:solidFill>
            <a:srgbClr val="B7D2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5720715" y="6166757"/>
            <a:ext cx="643890" cy="405493"/>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Rectangle 135"/>
          <p:cNvSpPr/>
          <p:nvPr/>
        </p:nvSpPr>
        <p:spPr>
          <a:xfrm>
            <a:off x="6364605" y="6166757"/>
            <a:ext cx="643890" cy="405493"/>
          </a:xfrm>
          <a:prstGeom prst="rect">
            <a:avLst/>
          </a:prstGeom>
          <a:solidFill>
            <a:srgbClr val="77AE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7008495" y="6166757"/>
            <a:ext cx="643890" cy="405493"/>
          </a:xfrm>
          <a:prstGeom prst="rect">
            <a:avLst/>
          </a:prstGeom>
          <a:solidFill>
            <a:srgbClr val="549B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ectangle 137"/>
          <p:cNvSpPr/>
          <p:nvPr/>
        </p:nvSpPr>
        <p:spPr>
          <a:xfrm>
            <a:off x="7652385" y="6166757"/>
            <a:ext cx="643890" cy="405493"/>
          </a:xfrm>
          <a:prstGeom prst="rect">
            <a:avLst/>
          </a:prstGeom>
          <a:solidFill>
            <a:srgbClr val="3E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ectangle 138"/>
          <p:cNvSpPr/>
          <p:nvPr/>
        </p:nvSpPr>
        <p:spPr>
          <a:xfrm>
            <a:off x="8296275" y="6166757"/>
            <a:ext cx="643890" cy="405493"/>
          </a:xfrm>
          <a:prstGeom prst="rect">
            <a:avLst/>
          </a:prstGeom>
          <a:solidFill>
            <a:srgbClr val="32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ectangle 139"/>
          <p:cNvSpPr/>
          <p:nvPr/>
        </p:nvSpPr>
        <p:spPr>
          <a:xfrm>
            <a:off x="8940165" y="6166757"/>
            <a:ext cx="643890" cy="405493"/>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Rectangle 140"/>
          <p:cNvSpPr/>
          <p:nvPr/>
        </p:nvSpPr>
        <p:spPr>
          <a:xfrm>
            <a:off x="9584055" y="6166757"/>
            <a:ext cx="643890" cy="405493"/>
          </a:xfrm>
          <a:prstGeom prst="rect">
            <a:avLst/>
          </a:prstGeom>
          <a:solidFill>
            <a:srgbClr val="2E85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Rectangle 141"/>
          <p:cNvSpPr/>
          <p:nvPr/>
        </p:nvSpPr>
        <p:spPr>
          <a:xfrm>
            <a:off x="10227945" y="6166757"/>
            <a:ext cx="643890" cy="405493"/>
          </a:xfrm>
          <a:prstGeom prst="rect">
            <a:avLst/>
          </a:prstGeom>
          <a:solidFill>
            <a:srgbClr val="3489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Rectangle 142"/>
          <p:cNvSpPr/>
          <p:nvPr/>
        </p:nvSpPr>
        <p:spPr>
          <a:xfrm>
            <a:off x="10871835" y="6166757"/>
            <a:ext cx="643890" cy="405493"/>
          </a:xfrm>
          <a:prstGeom prst="rect">
            <a:avLst/>
          </a:prstGeom>
          <a:solidFill>
            <a:srgbClr val="3B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Rectangle 143"/>
          <p:cNvSpPr/>
          <p:nvPr/>
        </p:nvSpPr>
        <p:spPr>
          <a:xfrm>
            <a:off x="11572875" y="3771900"/>
            <a:ext cx="104775" cy="76676"/>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ectangle 144"/>
          <p:cNvSpPr/>
          <p:nvPr/>
        </p:nvSpPr>
        <p:spPr>
          <a:xfrm>
            <a:off x="11572875" y="3840956"/>
            <a:ext cx="104775" cy="76676"/>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ectangle 145"/>
          <p:cNvSpPr/>
          <p:nvPr/>
        </p:nvSpPr>
        <p:spPr>
          <a:xfrm>
            <a:off x="11572875" y="3910012"/>
            <a:ext cx="104775" cy="76676"/>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Rectangle 146"/>
          <p:cNvSpPr/>
          <p:nvPr/>
        </p:nvSpPr>
        <p:spPr>
          <a:xfrm>
            <a:off x="11572875" y="3979069"/>
            <a:ext cx="104775" cy="76676"/>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Rectangle 147"/>
          <p:cNvSpPr/>
          <p:nvPr/>
        </p:nvSpPr>
        <p:spPr>
          <a:xfrm>
            <a:off x="11572875" y="4048125"/>
            <a:ext cx="104775" cy="76676"/>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ectangle 148"/>
          <p:cNvSpPr/>
          <p:nvPr/>
        </p:nvSpPr>
        <p:spPr>
          <a:xfrm>
            <a:off x="11572875" y="4117181"/>
            <a:ext cx="104775" cy="76676"/>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ectangle 149"/>
          <p:cNvSpPr/>
          <p:nvPr/>
        </p:nvSpPr>
        <p:spPr>
          <a:xfrm>
            <a:off x="11572875" y="4186238"/>
            <a:ext cx="104775" cy="76676"/>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ectangle 150"/>
          <p:cNvSpPr/>
          <p:nvPr/>
        </p:nvSpPr>
        <p:spPr>
          <a:xfrm>
            <a:off x="11572875" y="4255294"/>
            <a:ext cx="104775" cy="76676"/>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ectangle 151"/>
          <p:cNvSpPr/>
          <p:nvPr/>
        </p:nvSpPr>
        <p:spPr>
          <a:xfrm>
            <a:off x="11572875" y="4324350"/>
            <a:ext cx="104775" cy="76676"/>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ectangle 152"/>
          <p:cNvSpPr/>
          <p:nvPr/>
        </p:nvSpPr>
        <p:spPr>
          <a:xfrm>
            <a:off x="11572875" y="4393406"/>
            <a:ext cx="104775" cy="76676"/>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ectangle 153"/>
          <p:cNvSpPr/>
          <p:nvPr/>
        </p:nvSpPr>
        <p:spPr>
          <a:xfrm>
            <a:off x="11572875" y="4462462"/>
            <a:ext cx="104775" cy="76676"/>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Rectangle 154"/>
          <p:cNvSpPr/>
          <p:nvPr/>
        </p:nvSpPr>
        <p:spPr>
          <a:xfrm>
            <a:off x="11572875" y="4531519"/>
            <a:ext cx="104775" cy="76676"/>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Rectangle 155"/>
          <p:cNvSpPr/>
          <p:nvPr/>
        </p:nvSpPr>
        <p:spPr>
          <a:xfrm>
            <a:off x="11572875" y="4600575"/>
            <a:ext cx="104775" cy="76676"/>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ectangle 156"/>
          <p:cNvSpPr/>
          <p:nvPr/>
        </p:nvSpPr>
        <p:spPr>
          <a:xfrm>
            <a:off x="11572875" y="4669631"/>
            <a:ext cx="104775" cy="76676"/>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ectangle 157"/>
          <p:cNvSpPr/>
          <p:nvPr/>
        </p:nvSpPr>
        <p:spPr>
          <a:xfrm>
            <a:off x="11572875" y="4738688"/>
            <a:ext cx="104775" cy="76676"/>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Rectangle 158"/>
          <p:cNvSpPr/>
          <p:nvPr/>
        </p:nvSpPr>
        <p:spPr>
          <a:xfrm>
            <a:off x="11572875" y="4807744"/>
            <a:ext cx="104775" cy="76676"/>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ectangle 159"/>
          <p:cNvSpPr/>
          <p:nvPr/>
        </p:nvSpPr>
        <p:spPr>
          <a:xfrm>
            <a:off x="11572875" y="4876800"/>
            <a:ext cx="104775" cy="76676"/>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Rectangle 160"/>
          <p:cNvSpPr/>
          <p:nvPr/>
        </p:nvSpPr>
        <p:spPr>
          <a:xfrm>
            <a:off x="11572875" y="4945856"/>
            <a:ext cx="104775" cy="76676"/>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Rectangle 161"/>
          <p:cNvSpPr/>
          <p:nvPr/>
        </p:nvSpPr>
        <p:spPr>
          <a:xfrm>
            <a:off x="11572875" y="5014912"/>
            <a:ext cx="104775" cy="76676"/>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Rectangle 162"/>
          <p:cNvSpPr/>
          <p:nvPr/>
        </p:nvSpPr>
        <p:spPr>
          <a:xfrm>
            <a:off x="11572875" y="5083969"/>
            <a:ext cx="104775" cy="76676"/>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Rectangle 163"/>
          <p:cNvSpPr/>
          <p:nvPr/>
        </p:nvSpPr>
        <p:spPr>
          <a:xfrm>
            <a:off x="11572875" y="5153025"/>
            <a:ext cx="104775" cy="76676"/>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Rectangle 164"/>
          <p:cNvSpPr/>
          <p:nvPr/>
        </p:nvSpPr>
        <p:spPr>
          <a:xfrm>
            <a:off x="11572875" y="5222081"/>
            <a:ext cx="104775" cy="76676"/>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Rectangle 165"/>
          <p:cNvSpPr/>
          <p:nvPr/>
        </p:nvSpPr>
        <p:spPr>
          <a:xfrm>
            <a:off x="11572875" y="5291138"/>
            <a:ext cx="104775" cy="76676"/>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Rectangle 166"/>
          <p:cNvSpPr/>
          <p:nvPr/>
        </p:nvSpPr>
        <p:spPr>
          <a:xfrm>
            <a:off x="11572875" y="5360194"/>
            <a:ext cx="104775" cy="76676"/>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Rectangle 167"/>
          <p:cNvSpPr/>
          <p:nvPr/>
        </p:nvSpPr>
        <p:spPr>
          <a:xfrm>
            <a:off x="11572875" y="5429250"/>
            <a:ext cx="104775" cy="76676"/>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Rectangle 168"/>
          <p:cNvSpPr/>
          <p:nvPr/>
        </p:nvSpPr>
        <p:spPr>
          <a:xfrm>
            <a:off x="11572875" y="5498306"/>
            <a:ext cx="104775" cy="76676"/>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Rectangle 169"/>
          <p:cNvSpPr/>
          <p:nvPr/>
        </p:nvSpPr>
        <p:spPr>
          <a:xfrm>
            <a:off x="11572875" y="5567362"/>
            <a:ext cx="104775" cy="76676"/>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Rectangle 170"/>
          <p:cNvSpPr/>
          <p:nvPr/>
        </p:nvSpPr>
        <p:spPr>
          <a:xfrm>
            <a:off x="11572875" y="5636419"/>
            <a:ext cx="104775" cy="76676"/>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Rectangle 171"/>
          <p:cNvSpPr/>
          <p:nvPr/>
        </p:nvSpPr>
        <p:spPr>
          <a:xfrm>
            <a:off x="11572875" y="5705475"/>
            <a:ext cx="104775" cy="76676"/>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Rectangle 172"/>
          <p:cNvSpPr/>
          <p:nvPr/>
        </p:nvSpPr>
        <p:spPr>
          <a:xfrm>
            <a:off x="11572875" y="5774531"/>
            <a:ext cx="104775" cy="76676"/>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Rectangle 173"/>
          <p:cNvSpPr/>
          <p:nvPr/>
        </p:nvSpPr>
        <p:spPr>
          <a:xfrm>
            <a:off x="11572875" y="5843588"/>
            <a:ext cx="104775" cy="76676"/>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Rectangle 174"/>
          <p:cNvSpPr/>
          <p:nvPr/>
        </p:nvSpPr>
        <p:spPr>
          <a:xfrm>
            <a:off x="11572875" y="5912644"/>
            <a:ext cx="104775" cy="76676"/>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Rectangle 175"/>
          <p:cNvSpPr/>
          <p:nvPr/>
        </p:nvSpPr>
        <p:spPr>
          <a:xfrm>
            <a:off x="11572875" y="5981700"/>
            <a:ext cx="104775" cy="76676"/>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Rectangle 176"/>
          <p:cNvSpPr/>
          <p:nvPr/>
        </p:nvSpPr>
        <p:spPr>
          <a:xfrm>
            <a:off x="11572875" y="6050756"/>
            <a:ext cx="104775" cy="76676"/>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Rectangle 177"/>
          <p:cNvSpPr/>
          <p:nvPr/>
        </p:nvSpPr>
        <p:spPr>
          <a:xfrm>
            <a:off x="11572875" y="6119812"/>
            <a:ext cx="104775" cy="76676"/>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Rectangle 178"/>
          <p:cNvSpPr/>
          <p:nvPr/>
        </p:nvSpPr>
        <p:spPr>
          <a:xfrm>
            <a:off x="11572875" y="6188869"/>
            <a:ext cx="104775" cy="76676"/>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Rectangle 179"/>
          <p:cNvSpPr/>
          <p:nvPr/>
        </p:nvSpPr>
        <p:spPr>
          <a:xfrm>
            <a:off x="11572875" y="6257925"/>
            <a:ext cx="104775" cy="76676"/>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Rectangle 180"/>
          <p:cNvSpPr/>
          <p:nvPr/>
        </p:nvSpPr>
        <p:spPr>
          <a:xfrm>
            <a:off x="11572875" y="6326981"/>
            <a:ext cx="104775" cy="76676"/>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Rectangle 181"/>
          <p:cNvSpPr/>
          <p:nvPr/>
        </p:nvSpPr>
        <p:spPr>
          <a:xfrm>
            <a:off x="11572875" y="6396038"/>
            <a:ext cx="104775" cy="76676"/>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Rectangle 182"/>
          <p:cNvSpPr/>
          <p:nvPr/>
        </p:nvSpPr>
        <p:spPr>
          <a:xfrm>
            <a:off x="11572875" y="6465094"/>
            <a:ext cx="104775" cy="76676"/>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Rectangle 183"/>
          <p:cNvSpPr/>
          <p:nvPr/>
        </p:nvSpPr>
        <p:spPr>
          <a:xfrm>
            <a:off x="11572875" y="3771900"/>
            <a:ext cx="104775" cy="27622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TextBox 184"/>
          <p:cNvSpPr txBox="1"/>
          <p:nvPr/>
        </p:nvSpPr>
        <p:spPr>
          <a:xfrm>
            <a:off x="11687175" y="3705225"/>
            <a:ext cx="276225" cy="133350"/>
          </a:xfrm>
          <a:prstGeom prst="rect">
            <a:avLst/>
          </a:prstGeom>
          <a:noFill/>
        </p:spPr>
        <p:txBody>
          <a:bodyPr wrap="none" lIns="0" tIns="0" rIns="0" bIns="0" anchor="ctr">
            <a:spAutoFit/>
          </a:bodyPr>
          <a:lstStyle/>
          <a:p>
            <a:pPr algn="l"/>
            <a:r>
              <a:rPr sz="1100" b="0">
                <a:solidFill>
                  <a:srgbClr val="6C7A89"/>
                </a:solidFill>
                <a:latin typeface="Calibri"/>
              </a:rPr>
              <a:t>13%</a:t>
            </a:r>
          </a:p>
        </p:txBody>
      </p:sp>
      <p:sp>
        <p:nvSpPr>
          <p:cNvPr id="186" name="TextBox 185"/>
          <p:cNvSpPr txBox="1"/>
          <p:nvPr/>
        </p:nvSpPr>
        <p:spPr>
          <a:xfrm>
            <a:off x="11687175" y="5086350"/>
            <a:ext cx="276225" cy="133350"/>
          </a:xfrm>
          <a:prstGeom prst="rect">
            <a:avLst/>
          </a:prstGeom>
          <a:noFill/>
        </p:spPr>
        <p:txBody>
          <a:bodyPr wrap="none" lIns="0" tIns="0" rIns="0" bIns="0" anchor="ctr">
            <a:spAutoFit/>
          </a:bodyPr>
          <a:lstStyle/>
          <a:p>
            <a:pPr algn="l"/>
            <a:r>
              <a:rPr sz="1100" b="0">
                <a:solidFill>
                  <a:srgbClr val="6C7A89"/>
                </a:solidFill>
                <a:latin typeface="Calibri"/>
              </a:rPr>
              <a:t>8%</a:t>
            </a:r>
          </a:p>
        </p:txBody>
      </p:sp>
      <p:sp>
        <p:nvSpPr>
          <p:cNvPr id="187" name="TextBox 186"/>
          <p:cNvSpPr txBox="1"/>
          <p:nvPr/>
        </p:nvSpPr>
        <p:spPr>
          <a:xfrm>
            <a:off x="11687175" y="6467475"/>
            <a:ext cx="276225" cy="133350"/>
          </a:xfrm>
          <a:prstGeom prst="rect">
            <a:avLst/>
          </a:prstGeom>
          <a:noFill/>
        </p:spPr>
        <p:txBody>
          <a:bodyPr wrap="none" lIns="0" tIns="0" rIns="0" bIns="0" anchor="ctr">
            <a:spAutoFit/>
          </a:bodyPr>
          <a:lstStyle/>
          <a:p>
            <a:pPr algn="l"/>
            <a:r>
              <a:rPr sz="1100" b="0">
                <a:solidFill>
                  <a:srgbClr val="6C7A89"/>
                </a:solidFill>
                <a:latin typeface="Calibri"/>
              </a:rPr>
              <a:t>2%</a:t>
            </a:r>
          </a:p>
        </p:txBody>
      </p:sp>
      <p:sp>
        <p:nvSpPr>
          <p:cNvPr id="188" name="TextBox 18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YoY Analysis of USA Market Value, By Product Type (%)</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Year-on-year value growth by Product Type,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Value YoY Growth, By Product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197" cy="1724024"/>
        </p:xfrm>
        <a:graphic>
          <a:graphicData uri="http://schemas.openxmlformats.org/drawingml/2006/table">
            <a:tbl>
              <a:tblPr>
                <a:tableStyleId>{5C22544A-7EE6-4342-B048-85BDC9FD1C3A}</a:tableStyleId>
              </a:tblPr>
              <a:tblGrid>
                <a:gridCol w="1338492">
                  <a:extLst>
                    <a:ext uri="{9D8B030D-6E8A-4147-A177-3AD203B41FA5}">
                      <a16:colId xmlns:a16="http://schemas.microsoft.com/office/drawing/2014/main" val="20000"/>
                    </a:ext>
                  </a:extLst>
                </a:gridCol>
                <a:gridCol w="703247">
                  <a:extLst>
                    <a:ext uri="{9D8B030D-6E8A-4147-A177-3AD203B41FA5}">
                      <a16:colId xmlns:a16="http://schemas.microsoft.com/office/drawing/2014/main" val="20001"/>
                    </a:ext>
                  </a:extLst>
                </a:gridCol>
                <a:gridCol w="703247">
                  <a:extLst>
                    <a:ext uri="{9D8B030D-6E8A-4147-A177-3AD203B41FA5}">
                      <a16:colId xmlns:a16="http://schemas.microsoft.com/office/drawing/2014/main" val="20002"/>
                    </a:ext>
                  </a:extLst>
                </a:gridCol>
                <a:gridCol w="703247">
                  <a:extLst>
                    <a:ext uri="{9D8B030D-6E8A-4147-A177-3AD203B41FA5}">
                      <a16:colId xmlns:a16="http://schemas.microsoft.com/office/drawing/2014/main" val="20003"/>
                    </a:ext>
                  </a:extLst>
                </a:gridCol>
                <a:gridCol w="703247">
                  <a:extLst>
                    <a:ext uri="{9D8B030D-6E8A-4147-A177-3AD203B41FA5}">
                      <a16:colId xmlns:a16="http://schemas.microsoft.com/office/drawing/2014/main" val="20004"/>
                    </a:ext>
                  </a:extLst>
                </a:gridCol>
                <a:gridCol w="703247">
                  <a:extLst>
                    <a:ext uri="{9D8B030D-6E8A-4147-A177-3AD203B41FA5}">
                      <a16:colId xmlns:a16="http://schemas.microsoft.com/office/drawing/2014/main" val="20005"/>
                    </a:ext>
                  </a:extLst>
                </a:gridCol>
                <a:gridCol w="703247">
                  <a:extLst>
                    <a:ext uri="{9D8B030D-6E8A-4147-A177-3AD203B41FA5}">
                      <a16:colId xmlns:a16="http://schemas.microsoft.com/office/drawing/2014/main" val="20006"/>
                    </a:ext>
                  </a:extLst>
                </a:gridCol>
                <a:gridCol w="703247">
                  <a:extLst>
                    <a:ext uri="{9D8B030D-6E8A-4147-A177-3AD203B41FA5}">
                      <a16:colId xmlns:a16="http://schemas.microsoft.com/office/drawing/2014/main" val="20007"/>
                    </a:ext>
                  </a:extLst>
                </a:gridCol>
                <a:gridCol w="703247">
                  <a:extLst>
                    <a:ext uri="{9D8B030D-6E8A-4147-A177-3AD203B41FA5}">
                      <a16:colId xmlns:a16="http://schemas.microsoft.com/office/drawing/2014/main" val="20008"/>
                    </a:ext>
                  </a:extLst>
                </a:gridCol>
                <a:gridCol w="703247">
                  <a:extLst>
                    <a:ext uri="{9D8B030D-6E8A-4147-A177-3AD203B41FA5}">
                      <a16:colId xmlns:a16="http://schemas.microsoft.com/office/drawing/2014/main" val="20009"/>
                    </a:ext>
                  </a:extLst>
                </a:gridCol>
                <a:gridCol w="703247">
                  <a:extLst>
                    <a:ext uri="{9D8B030D-6E8A-4147-A177-3AD203B41FA5}">
                      <a16:colId xmlns:a16="http://schemas.microsoft.com/office/drawing/2014/main" val="20010"/>
                    </a:ext>
                  </a:extLst>
                </a:gridCol>
                <a:gridCol w="703247">
                  <a:extLst>
                    <a:ext uri="{9D8B030D-6E8A-4147-A177-3AD203B41FA5}">
                      <a16:colId xmlns:a16="http://schemas.microsoft.com/office/drawing/2014/main" val="20011"/>
                    </a:ext>
                  </a:extLst>
                </a:gridCol>
                <a:gridCol w="703247">
                  <a:extLst>
                    <a:ext uri="{9D8B030D-6E8A-4147-A177-3AD203B41FA5}">
                      <a16:colId xmlns:a16="http://schemas.microsoft.com/office/drawing/2014/main" val="20012"/>
                    </a:ext>
                  </a:extLst>
                </a:gridCol>
                <a:gridCol w="703247">
                  <a:extLst>
                    <a:ext uri="{9D8B030D-6E8A-4147-A177-3AD203B41FA5}">
                      <a16:colId xmlns:a16="http://schemas.microsoft.com/office/drawing/2014/main" val="20013"/>
                    </a:ext>
                  </a:extLst>
                </a:gridCol>
                <a:gridCol w="703247">
                  <a:extLst>
                    <a:ext uri="{9D8B030D-6E8A-4147-A177-3AD203B41FA5}">
                      <a16:colId xmlns:a16="http://schemas.microsoft.com/office/drawing/2014/main" val="20014"/>
                    </a:ext>
                  </a:extLst>
                </a:gridCol>
                <a:gridCol w="703247">
                  <a:extLst>
                    <a:ext uri="{9D8B030D-6E8A-4147-A177-3AD203B41FA5}">
                      <a16:colId xmlns:a16="http://schemas.microsoft.com/office/drawing/2014/main" val="20015"/>
                    </a:ext>
                  </a:extLst>
                </a:gridCol>
              </a:tblGrid>
              <a:tr h="215265">
                <a:tc>
                  <a:txBody>
                    <a:bodyPr/>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15537">
                <a:tc>
                  <a:txBody>
                    <a:bodyPr/>
                    <a:lstStyle/>
                    <a:p>
                      <a:pPr algn="l"/>
                      <a:r>
                        <a:rPr sz="1100" b="1">
                          <a:solidFill>
                            <a:srgbClr val="2E2E2E"/>
                          </a:solidFill>
                          <a:latin typeface="Calibri"/>
                        </a:rPr>
                        <a:t>Multivitamin</a:t>
                      </a:r>
                      <a:endParaRPr sz="1100"/>
                    </a:p>
                  </a:txBody>
                  <a:tcPr marL="47625" marR="38100" marT="19050" marB="19050" anchor="ctr">
                    <a:solidFill>
                      <a:srgbClr val="FFFFFF"/>
                    </a:solidFill>
                  </a:tcPr>
                </a:tc>
                <a:tc>
                  <a:txBody>
                    <a:bodyPr/>
                    <a:lstStyle/>
                    <a:p>
                      <a:pPr algn="l"/>
                      <a:r>
                        <a:rPr sz="1100" b="1">
                          <a:solidFill>
                            <a:srgbClr val="A86F00"/>
                          </a:solidFill>
                          <a:latin typeface="Calibri"/>
                        </a:rPr>
                        <a:t>▶ 4.6%</a:t>
                      </a:r>
                      <a:endParaRPr sz="1100"/>
                    </a:p>
                  </a:txBody>
                  <a:tcPr marL="47625" marR="38100" marT="19050" marB="19050" anchor="ctr">
                    <a:solidFill>
                      <a:srgbClr val="FFFFFF"/>
                    </a:solidFill>
                  </a:tcPr>
                </a:tc>
                <a:tc>
                  <a:txBody>
                    <a:bodyPr/>
                    <a:lstStyle/>
                    <a:p>
                      <a:pPr algn="l"/>
                      <a:r>
                        <a:rPr sz="1100" b="1">
                          <a:solidFill>
                            <a:srgbClr val="A86F00"/>
                          </a:solidFill>
                          <a:latin typeface="Calibri"/>
                        </a:rPr>
                        <a:t>▶ 4.7%</a:t>
                      </a:r>
                      <a:endParaRPr sz="1100"/>
                    </a:p>
                  </a:txBody>
                  <a:tcPr marL="47625" marR="38100" marT="19050" marB="19050" anchor="ctr">
                    <a:solidFill>
                      <a:srgbClr val="FFFFFF"/>
                    </a:solidFill>
                  </a:tcPr>
                </a:tc>
                <a:tc>
                  <a:txBody>
                    <a:bodyPr/>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a:lstStyle/>
                    <a:p>
                      <a:pPr algn="l"/>
                      <a:r>
                        <a:rPr sz="1100" b="1">
                          <a:solidFill>
                            <a:srgbClr val="2E7D32"/>
                          </a:solidFill>
                          <a:latin typeface="Calibri"/>
                        </a:rPr>
                        <a:t>▲ 4.9%</a:t>
                      </a:r>
                      <a:endParaRPr sz="1100"/>
                    </a:p>
                  </a:txBody>
                  <a:tcPr marL="47625" marR="38100" marT="19050" marB="19050" anchor="ctr">
                    <a:solidFill>
                      <a:srgbClr val="FFFFFF"/>
                    </a:solidFill>
                  </a:tcPr>
                </a:tc>
                <a:tc>
                  <a:txBody>
                    <a:bodyPr/>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a:lstStyle/>
                    <a:p>
                      <a:pPr algn="l"/>
                      <a:r>
                        <a:rPr sz="1100" b="1">
                          <a:solidFill>
                            <a:srgbClr val="A86F00"/>
                          </a:solidFill>
                          <a:latin typeface="Calibri"/>
                        </a:rPr>
                        <a:t>▶ 5.7%</a:t>
                      </a:r>
                      <a:endParaRPr sz="1100"/>
                    </a:p>
                  </a:txBody>
                  <a:tcPr marL="47625" marR="38100" marT="19050" marB="19050" anchor="ctr">
                    <a:solidFill>
                      <a:srgbClr val="FFFFFF"/>
                    </a:solidFill>
                  </a:tcPr>
                </a:tc>
                <a:tc>
                  <a:txBody>
                    <a:bodyPr/>
                    <a:lstStyle/>
                    <a:p>
                      <a:pPr algn="l"/>
                      <a:r>
                        <a:rPr sz="1100" b="1">
                          <a:solidFill>
                            <a:srgbClr val="A86F00"/>
                          </a:solidFill>
                          <a:latin typeface="Calibri"/>
                        </a:rPr>
                        <a:t>▶ 6.0%</a:t>
                      </a:r>
                      <a:endParaRPr sz="1100"/>
                    </a:p>
                  </a:txBody>
                  <a:tcPr marL="47625" marR="38100" marT="19050" marB="19050" anchor="ctr">
                    <a:solidFill>
                      <a:srgbClr val="FFFFFF"/>
                    </a:solidFill>
                  </a:tcPr>
                </a:tc>
                <a:tc>
                  <a:txBody>
                    <a:bodyPr/>
                    <a:lstStyle/>
                    <a:p>
                      <a:pPr algn="l"/>
                      <a:r>
                        <a:rPr sz="1100" b="1">
                          <a:solidFill>
                            <a:srgbClr val="A86F00"/>
                          </a:solidFill>
                          <a:latin typeface="Calibri"/>
                        </a:rPr>
                        <a:t>▶ 6.2%</a:t>
                      </a:r>
                      <a:endParaRPr sz="1100"/>
                    </a:p>
                  </a:txBody>
                  <a:tcPr marL="47625" marR="38100" marT="19050" marB="19050" anchor="ctr">
                    <a:solidFill>
                      <a:srgbClr val="FFFFFF"/>
                    </a:solidFill>
                  </a:tcPr>
                </a:tc>
                <a:tc>
                  <a:txBody>
                    <a:bodyPr/>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a:lstStyle/>
                    <a:p>
                      <a:pPr algn="l"/>
                      <a:r>
                        <a:rPr sz="1100" b="1">
                          <a:solidFill>
                            <a:srgbClr val="A86F00"/>
                          </a:solidFill>
                          <a:latin typeface="Calibri"/>
                        </a:rPr>
                        <a:t>▶ 6.5%</a:t>
                      </a:r>
                      <a:endParaRPr sz="1100"/>
                    </a:p>
                  </a:txBody>
                  <a:tcPr marL="47625" marR="38100" marT="19050" marB="19050" anchor="ctr">
                    <a:solidFill>
                      <a:srgbClr val="FFFFFF"/>
                    </a:solidFill>
                  </a:tcPr>
                </a:tc>
                <a:tc>
                  <a:txBody>
                    <a:bodyPr/>
                    <a:lstStyle/>
                    <a:p>
                      <a:pPr algn="l"/>
                      <a:r>
                        <a:rPr sz="1100" b="1">
                          <a:solidFill>
                            <a:srgbClr val="A86F00"/>
                          </a:solidFill>
                          <a:latin typeface="Calibri"/>
                        </a:rPr>
                        <a:t>▶ 6.5%</a:t>
                      </a:r>
                      <a:endParaRPr sz="1100"/>
                    </a:p>
                  </a:txBody>
                  <a:tcPr marL="47625" marR="38100" marT="19050" marB="19050" anchor="ctr">
                    <a:solidFill>
                      <a:srgbClr val="FFFFFF"/>
                    </a:solidFill>
                  </a:tcPr>
                </a:tc>
                <a:tc>
                  <a:txBody>
                    <a:bodyPr/>
                    <a:lstStyle/>
                    <a:p>
                      <a:pPr algn="l"/>
                      <a:r>
                        <a:rPr sz="1100" b="1">
                          <a:solidFill>
                            <a:srgbClr val="A86F00"/>
                          </a:solidFill>
                          <a:latin typeface="Calibri"/>
                        </a:rPr>
                        <a:t>▶ 6.4%</a:t>
                      </a:r>
                      <a:endParaRPr sz="1100"/>
                    </a:p>
                  </a:txBody>
                  <a:tcPr marL="47625" marR="38100" marT="19050" marB="19050" anchor="ctr">
                    <a:solidFill>
                      <a:srgbClr val="FFFFFF"/>
                    </a:solidFill>
                  </a:tcPr>
                </a:tc>
                <a:tc>
                  <a:txBody>
                    <a:bodyPr/>
                    <a:lstStyle/>
                    <a:p>
                      <a:pPr algn="l"/>
                      <a:r>
                        <a:rPr sz="1100" b="1">
                          <a:solidFill>
                            <a:srgbClr val="A86F00"/>
                          </a:solidFill>
                          <a:latin typeface="Calibri"/>
                        </a:rPr>
                        <a:t>▶ 6.2%</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15537">
                <a:tc>
                  <a:txBody>
                    <a:bodyPr/>
                    <a:lstStyle/>
                    <a:p>
                      <a:pPr algn="l"/>
                      <a:r>
                        <a:rPr sz="1100" b="1">
                          <a:solidFill>
                            <a:srgbClr val="2E2E2E"/>
                          </a:solidFill>
                          <a:latin typeface="Calibri"/>
                        </a:rPr>
                        <a:t>DHA / Omega-3</a:t>
                      </a:r>
                      <a:endParaRPr sz="1100"/>
                    </a:p>
                  </a:txBody>
                  <a:tcPr marL="47625" marR="38100" marT="19050" marB="19050" anchor="ctr">
                    <a:solidFill>
                      <a:srgbClr val="F5F8FA"/>
                    </a:solidFill>
                  </a:tcPr>
                </a:tc>
                <a:tc>
                  <a:txBody>
                    <a:bodyPr/>
                    <a:lstStyle/>
                    <a:p>
                      <a:pPr algn="l"/>
                      <a:r>
                        <a:rPr sz="1100" b="1">
                          <a:solidFill>
                            <a:srgbClr val="2E7D32"/>
                          </a:solidFill>
                          <a:latin typeface="Calibri"/>
                        </a:rPr>
                        <a:t>▲ 6.2%</a:t>
                      </a:r>
                      <a:endParaRPr sz="1100"/>
                    </a:p>
                  </a:txBody>
                  <a:tcPr marL="47625" marR="38100" marT="19050" marB="19050" anchor="ctr">
                    <a:solidFill>
                      <a:srgbClr val="F5F8FA"/>
                    </a:solidFill>
                  </a:tcPr>
                </a:tc>
                <a:tc>
                  <a:txBody>
                    <a:bodyPr/>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a:lstStyle/>
                    <a:p>
                      <a:pPr algn="l"/>
                      <a:r>
                        <a:rPr sz="1100" b="1">
                          <a:solidFill>
                            <a:srgbClr val="2E7D32"/>
                          </a:solidFill>
                          <a:latin typeface="Calibri"/>
                        </a:rPr>
                        <a:t>▲ 5.7%</a:t>
                      </a:r>
                      <a:endParaRPr sz="1100"/>
                    </a:p>
                  </a:txBody>
                  <a:tcPr marL="47625" marR="38100" marT="19050" marB="19050" anchor="ctr">
                    <a:solidFill>
                      <a:srgbClr val="F5F8FA"/>
                    </a:solidFill>
                  </a:tcPr>
                </a:tc>
                <a:tc>
                  <a:txBody>
                    <a:bodyPr/>
                    <a:lstStyle/>
                    <a:p>
                      <a:pPr algn="l"/>
                      <a:r>
                        <a:rPr sz="1100" b="1">
                          <a:solidFill>
                            <a:srgbClr val="2E7D32"/>
                          </a:solidFill>
                          <a:latin typeface="Calibri"/>
                        </a:rPr>
                        <a:t>▲ 5.6%</a:t>
                      </a:r>
                      <a:endParaRPr sz="1100"/>
                    </a:p>
                  </a:txBody>
                  <a:tcPr marL="47625" marR="38100" marT="19050" marB="19050" anchor="ctr">
                    <a:solidFill>
                      <a:srgbClr val="F5F8FA"/>
                    </a:solidFill>
                  </a:tcPr>
                </a:tc>
                <a:tc>
                  <a:txBody>
                    <a:bodyPr/>
                    <a:lstStyle/>
                    <a:p>
                      <a:pPr algn="l"/>
                      <a:r>
                        <a:rPr sz="1100" b="1">
                          <a:solidFill>
                            <a:srgbClr val="2E7D32"/>
                          </a:solidFill>
                          <a:latin typeface="Calibri"/>
                        </a:rPr>
                        <a:t>▲ 6.0%</a:t>
                      </a:r>
                      <a:endParaRPr sz="1100"/>
                    </a:p>
                  </a:txBody>
                  <a:tcPr marL="47625" marR="38100" marT="19050" marB="19050" anchor="ctr">
                    <a:solidFill>
                      <a:srgbClr val="F5F8FA"/>
                    </a:solidFill>
                  </a:tcPr>
                </a:tc>
                <a:tc>
                  <a:txBody>
                    <a:bodyPr/>
                    <a:lstStyle/>
                    <a:p>
                      <a:pPr algn="l"/>
                      <a:r>
                        <a:rPr sz="1100" b="1">
                          <a:solidFill>
                            <a:srgbClr val="2E7D32"/>
                          </a:solidFill>
                          <a:latin typeface="Calibri"/>
                        </a:rPr>
                        <a:t>▲ 6.3%</a:t>
                      </a:r>
                      <a:endParaRPr sz="1100"/>
                    </a:p>
                  </a:txBody>
                  <a:tcPr marL="47625" marR="38100" marT="19050" marB="19050" anchor="ctr">
                    <a:solidFill>
                      <a:srgbClr val="F5F8FA"/>
                    </a:solidFill>
                  </a:tcPr>
                </a:tc>
                <a:tc>
                  <a:txBody>
                    <a:bodyPr/>
                    <a:lstStyle/>
                    <a:p>
                      <a:pPr algn="l"/>
                      <a:r>
                        <a:rPr sz="1100" b="1">
                          <a:solidFill>
                            <a:srgbClr val="2E7D32"/>
                          </a:solidFill>
                          <a:latin typeface="Calibri"/>
                        </a:rPr>
                        <a:t>▲ 6.8%</a:t>
                      </a:r>
                      <a:endParaRPr sz="1100"/>
                    </a:p>
                  </a:txBody>
                  <a:tcPr marL="47625" marR="38100" marT="19050" marB="19050" anchor="ctr">
                    <a:solidFill>
                      <a:srgbClr val="F5F8FA"/>
                    </a:solidFill>
                  </a:tcPr>
                </a:tc>
                <a:tc>
                  <a:txBody>
                    <a:bodyPr/>
                    <a:lstStyle/>
                    <a:p>
                      <a:pPr algn="l"/>
                      <a:r>
                        <a:rPr sz="1100" b="1">
                          <a:solidFill>
                            <a:srgbClr val="2E7D32"/>
                          </a:solidFill>
                          <a:latin typeface="Calibri"/>
                        </a:rPr>
                        <a:t>▲ 7.6%</a:t>
                      </a:r>
                      <a:endParaRPr sz="1100"/>
                    </a:p>
                  </a:txBody>
                  <a:tcPr marL="47625" marR="38100" marT="19050" marB="19050" anchor="ctr">
                    <a:solidFill>
                      <a:srgbClr val="F5F8FA"/>
                    </a:solidFill>
                  </a:tcPr>
                </a:tc>
                <a:tc>
                  <a:txBody>
                    <a:bodyPr/>
                    <a:lstStyle/>
                    <a:p>
                      <a:pPr algn="l"/>
                      <a:r>
                        <a:rPr sz="1100" b="1">
                          <a:solidFill>
                            <a:srgbClr val="2E7D32"/>
                          </a:solidFill>
                          <a:latin typeface="Calibri"/>
                        </a:rPr>
                        <a:t>▲ 8.3%</a:t>
                      </a:r>
                      <a:endParaRPr sz="1100"/>
                    </a:p>
                  </a:txBody>
                  <a:tcPr marL="47625" marR="38100" marT="19050" marB="19050" anchor="ctr">
                    <a:solidFill>
                      <a:srgbClr val="F5F8FA"/>
                    </a:solidFill>
                  </a:tcPr>
                </a:tc>
                <a:tc>
                  <a:txBody>
                    <a:bodyPr/>
                    <a:lstStyle/>
                    <a:p>
                      <a:pPr algn="l"/>
                      <a:r>
                        <a:rPr sz="1100" b="1">
                          <a:solidFill>
                            <a:srgbClr val="2E7D32"/>
                          </a:solidFill>
                          <a:latin typeface="Calibri"/>
                        </a:rPr>
                        <a:t>▲ 8.5%</a:t>
                      </a:r>
                      <a:endParaRPr sz="1100"/>
                    </a:p>
                  </a:txBody>
                  <a:tcPr marL="47625" marR="38100" marT="19050" marB="19050" anchor="ctr">
                    <a:solidFill>
                      <a:srgbClr val="F5F8FA"/>
                    </a:solidFill>
                  </a:tcPr>
                </a:tc>
                <a:tc>
                  <a:txBody>
                    <a:bodyPr/>
                    <a:lstStyle/>
                    <a:p>
                      <a:pPr algn="l"/>
                      <a:r>
                        <a:rPr sz="1100" b="1">
                          <a:solidFill>
                            <a:srgbClr val="2E7D32"/>
                          </a:solidFill>
                          <a:latin typeface="Calibri"/>
                        </a:rPr>
                        <a:t>▲ 8.4%</a:t>
                      </a:r>
                      <a:endParaRPr sz="1100"/>
                    </a:p>
                  </a:txBody>
                  <a:tcPr marL="47625" marR="38100" marT="19050" marB="19050" anchor="ctr">
                    <a:solidFill>
                      <a:srgbClr val="F5F8FA"/>
                    </a:solidFill>
                  </a:tcPr>
                </a:tc>
                <a:tc>
                  <a:txBody>
                    <a:bodyPr/>
                    <a:lstStyle/>
                    <a:p>
                      <a:pPr algn="l"/>
                      <a:r>
                        <a:rPr sz="1100" b="1">
                          <a:solidFill>
                            <a:srgbClr val="2E7D32"/>
                          </a:solidFill>
                          <a:latin typeface="Calibri"/>
                        </a:rPr>
                        <a:t>▲ 8.2%</a:t>
                      </a:r>
                      <a:endParaRPr sz="1100"/>
                    </a:p>
                  </a:txBody>
                  <a:tcPr marL="47625" marR="38100" marT="19050" marB="19050" anchor="ctr">
                    <a:solidFill>
                      <a:srgbClr val="F5F8FA"/>
                    </a:solidFill>
                  </a:tcPr>
                </a:tc>
                <a:tc>
                  <a:txBody>
                    <a:bodyPr/>
                    <a:lstStyle/>
                    <a:p>
                      <a:pPr algn="l"/>
                      <a:r>
                        <a:rPr sz="1100" b="1">
                          <a:solidFill>
                            <a:srgbClr val="2E7D32"/>
                          </a:solidFill>
                          <a:latin typeface="Calibri"/>
                        </a:rPr>
                        <a:t>▲ 8.0%</a:t>
                      </a:r>
                      <a:endParaRPr sz="1100"/>
                    </a:p>
                  </a:txBody>
                  <a:tcPr marL="47625" marR="38100" marT="19050" marB="19050" anchor="ctr">
                    <a:solidFill>
                      <a:srgbClr val="F5F8FA"/>
                    </a:solidFill>
                  </a:tcPr>
                </a:tc>
                <a:tc>
                  <a:txBody>
                    <a:bodyPr/>
                    <a:lstStyle/>
                    <a:p>
                      <a:pPr algn="l"/>
                      <a:r>
                        <a:rPr sz="1100" b="1">
                          <a:solidFill>
                            <a:srgbClr val="2E7D32"/>
                          </a:solidFill>
                          <a:latin typeface="Calibri"/>
                        </a:rPr>
                        <a:t>▲ 7.9%</a:t>
                      </a:r>
                      <a:endParaRPr sz="1100"/>
                    </a:p>
                  </a:txBody>
                  <a:tcPr marL="47625" marR="38100" marT="19050" marB="19050" anchor="ctr">
                    <a:solidFill>
                      <a:srgbClr val="F5F8FA"/>
                    </a:solidFill>
                  </a:tcPr>
                </a:tc>
                <a:tc>
                  <a:txBody>
                    <a:bodyPr/>
                    <a:lstStyle/>
                    <a:p>
                      <a:pPr algn="l"/>
                      <a:r>
                        <a:rPr sz="1100" b="1">
                          <a:solidFill>
                            <a:srgbClr val="2E7D32"/>
                          </a:solidFill>
                          <a:latin typeface="Calibri"/>
                        </a:rPr>
                        <a:t>▲ 7.8%</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15537">
                <a:tc>
                  <a:txBody>
                    <a:bodyPr/>
                    <a:lstStyle/>
                    <a:p>
                      <a:pPr algn="l"/>
                      <a:r>
                        <a:rPr sz="1100" b="1">
                          <a:solidFill>
                            <a:srgbClr val="2E2E2E"/>
                          </a:solidFill>
                          <a:latin typeface="Calibri"/>
                        </a:rPr>
                        <a:t>Iron</a:t>
                      </a:r>
                      <a:endParaRPr sz="1100"/>
                    </a:p>
                  </a:txBody>
                  <a:tcPr marL="47625" marR="38100" marT="19050" marB="19050" anchor="ctr">
                    <a:solidFill>
                      <a:srgbClr val="FFFFFF"/>
                    </a:solidFill>
                  </a:tcPr>
                </a:tc>
                <a:tc>
                  <a:txBody>
                    <a:bodyPr/>
                    <a:lstStyle/>
                    <a:p>
                      <a:pPr algn="l"/>
                      <a:r>
                        <a:rPr sz="1100" b="1">
                          <a:solidFill>
                            <a:srgbClr val="A86F00"/>
                          </a:solidFill>
                          <a:latin typeface="Calibri"/>
                        </a:rPr>
                        <a:t>▶ 3.3%</a:t>
                      </a:r>
                      <a:endParaRPr sz="1100"/>
                    </a:p>
                  </a:txBody>
                  <a:tcPr marL="47625" marR="38100" marT="19050" marB="19050" anchor="ctr">
                    <a:solidFill>
                      <a:srgbClr val="FFFFFF"/>
                    </a:solidFill>
                  </a:tcPr>
                </a:tc>
                <a:tc>
                  <a:txBody>
                    <a:bodyPr/>
                    <a:lstStyle/>
                    <a:p>
                      <a:pPr algn="l"/>
                      <a:r>
                        <a:rPr sz="1100" b="1">
                          <a:solidFill>
                            <a:srgbClr val="A86F00"/>
                          </a:solidFill>
                          <a:latin typeface="Calibri"/>
                        </a:rPr>
                        <a:t>▶ 3.5%</a:t>
                      </a:r>
                      <a:endParaRPr sz="1100"/>
                    </a:p>
                  </a:txBody>
                  <a:tcPr marL="47625" marR="38100" marT="19050" marB="19050" anchor="ctr">
                    <a:solidFill>
                      <a:srgbClr val="FFFFFF"/>
                    </a:solidFill>
                  </a:tcPr>
                </a:tc>
                <a:tc>
                  <a:txBody>
                    <a:bodyPr/>
                    <a:lstStyle/>
                    <a:p>
                      <a:pPr algn="l"/>
                      <a:r>
                        <a:rPr sz="1100" b="1">
                          <a:solidFill>
                            <a:srgbClr val="A86F00"/>
                          </a:solidFill>
                          <a:latin typeface="Calibri"/>
                        </a:rPr>
                        <a:t>▶ 3.6%</a:t>
                      </a:r>
                      <a:endParaRPr sz="1100"/>
                    </a:p>
                  </a:txBody>
                  <a:tcPr marL="47625" marR="38100" marT="19050" marB="19050" anchor="ctr">
                    <a:solidFill>
                      <a:srgbClr val="FFFFFF"/>
                    </a:solidFill>
                  </a:tcPr>
                </a:tc>
                <a:tc>
                  <a:txBody>
                    <a:bodyPr/>
                    <a:lstStyle/>
                    <a:p>
                      <a:pPr algn="l"/>
                      <a:r>
                        <a:rPr sz="1100" b="1">
                          <a:solidFill>
                            <a:srgbClr val="A86F00"/>
                          </a:solidFill>
                          <a:latin typeface="Calibri"/>
                        </a:rPr>
                        <a:t>▶ 3.5%</a:t>
                      </a:r>
                      <a:endParaRPr sz="1100"/>
                    </a:p>
                  </a:txBody>
                  <a:tcPr marL="47625" marR="38100" marT="19050" marB="19050" anchor="ctr">
                    <a:solidFill>
                      <a:srgbClr val="FFFFFF"/>
                    </a:solidFill>
                  </a:tcPr>
                </a:tc>
                <a:tc>
                  <a:txBody>
                    <a:bodyPr/>
                    <a:lstStyle/>
                    <a:p>
                      <a:pPr algn="l"/>
                      <a:r>
                        <a:rPr sz="1100" b="1">
                          <a:solidFill>
                            <a:srgbClr val="A86F00"/>
                          </a:solidFill>
                          <a:latin typeface="Calibri"/>
                        </a:rPr>
                        <a:t>▶ 3.7%</a:t>
                      </a:r>
                      <a:endParaRPr sz="1100"/>
                    </a:p>
                  </a:txBody>
                  <a:tcPr marL="47625" marR="38100" marT="19050" marB="19050" anchor="ctr">
                    <a:solidFill>
                      <a:srgbClr val="FFFFFF"/>
                    </a:solidFill>
                  </a:tcPr>
                </a:tc>
                <a:tc>
                  <a:txBody>
                    <a:bodyPr/>
                    <a:lstStyle/>
                    <a:p>
                      <a:pPr algn="l"/>
                      <a:r>
                        <a:rPr sz="1100" b="1">
                          <a:solidFill>
                            <a:srgbClr val="A86F00"/>
                          </a:solidFill>
                          <a:latin typeface="Calibri"/>
                        </a:rPr>
                        <a:t>▶ 3.5%</a:t>
                      </a:r>
                      <a:endParaRPr sz="1100"/>
                    </a:p>
                  </a:txBody>
                  <a:tcPr marL="47625" marR="38100" marT="19050" marB="19050" anchor="ctr">
                    <a:solidFill>
                      <a:srgbClr val="FFFFFF"/>
                    </a:solidFill>
                  </a:tcPr>
                </a:tc>
                <a:tc>
                  <a:txBody>
                    <a:bodyPr/>
                    <a:lstStyle/>
                    <a:p>
                      <a:pPr algn="l"/>
                      <a:r>
                        <a:rPr sz="1100" b="1">
                          <a:solidFill>
                            <a:srgbClr val="A86F00"/>
                          </a:solidFill>
                          <a:latin typeface="Calibri"/>
                        </a:rPr>
                        <a:t>▶ 3.6%</a:t>
                      </a:r>
                      <a:endParaRPr sz="1100"/>
                    </a:p>
                  </a:txBody>
                  <a:tcPr marL="47625" marR="38100" marT="19050" marB="19050" anchor="ctr">
                    <a:solidFill>
                      <a:srgbClr val="FFFFFF"/>
                    </a:solidFill>
                  </a:tcPr>
                </a:tc>
                <a:tc>
                  <a:txBody>
                    <a:bodyPr/>
                    <a:lstStyle/>
                    <a:p>
                      <a:pPr algn="l"/>
                      <a:r>
                        <a:rPr sz="1100" b="1">
                          <a:solidFill>
                            <a:srgbClr val="A86F00"/>
                          </a:solidFill>
                          <a:latin typeface="Calibri"/>
                        </a:rPr>
                        <a:t>▶ 3.9%</a:t>
                      </a:r>
                      <a:endParaRPr sz="1100"/>
                    </a:p>
                  </a:txBody>
                  <a:tcPr marL="47625" marR="38100" marT="19050" marB="19050" anchor="ctr">
                    <a:solidFill>
                      <a:srgbClr val="FFFFFF"/>
                    </a:solidFill>
                  </a:tcPr>
                </a:tc>
                <a:tc>
                  <a:txBody>
                    <a:bodyPr/>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a:lstStyle/>
                    <a:p>
                      <a:pPr algn="l"/>
                      <a:r>
                        <a:rPr sz="1100" b="1">
                          <a:solidFill>
                            <a:srgbClr val="A86F00"/>
                          </a:solidFill>
                          <a:latin typeface="Calibri"/>
                        </a:rPr>
                        <a:t>▶ 4.7%</a:t>
                      </a:r>
                      <a:endParaRPr sz="1100"/>
                    </a:p>
                  </a:txBody>
                  <a:tcPr marL="47625" marR="38100" marT="19050" marB="19050" anchor="ctr">
                    <a:solidFill>
                      <a:srgbClr val="FFFFFF"/>
                    </a:solidFill>
                  </a:tcPr>
                </a:tc>
                <a:tc>
                  <a:txBody>
                    <a:bodyPr/>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a:lstStyle/>
                    <a:p>
                      <a:pPr algn="l"/>
                      <a:r>
                        <a:rPr sz="1100" b="1">
                          <a:solidFill>
                            <a:srgbClr val="A86F00"/>
                          </a:solidFill>
                          <a:latin typeface="Calibri"/>
                        </a:rPr>
                        <a:t>▶ 4.9%</a:t>
                      </a:r>
                      <a:endParaRPr sz="1100"/>
                    </a:p>
                  </a:txBody>
                  <a:tcPr marL="47625" marR="38100" marT="19050" marB="19050" anchor="ctr">
                    <a:solidFill>
                      <a:srgbClr val="FFFFFF"/>
                    </a:solidFill>
                  </a:tcPr>
                </a:tc>
                <a:tc>
                  <a:txBody>
                    <a:bodyPr/>
                    <a:lstStyle/>
                    <a:p>
                      <a:pPr algn="l"/>
                      <a:r>
                        <a:rPr sz="1100" b="1">
                          <a:solidFill>
                            <a:srgbClr val="A86F00"/>
                          </a:solidFill>
                          <a:latin typeface="Calibri"/>
                        </a:rPr>
                        <a:t>▶ 4.8%</a:t>
                      </a:r>
                      <a:endParaRPr sz="1100"/>
                    </a:p>
                  </a:txBody>
                  <a:tcPr marL="47625" marR="38100" marT="19050" marB="19050" anchor="ctr">
                    <a:solidFill>
                      <a:srgbClr val="FFFFFF"/>
                    </a:solidFill>
                  </a:tcPr>
                </a:tc>
                <a:tc>
                  <a:txBody>
                    <a:bodyPr/>
                    <a:lstStyle/>
                    <a:p>
                      <a:pPr algn="l"/>
                      <a:r>
                        <a:rPr sz="1100" b="1">
                          <a:solidFill>
                            <a:srgbClr val="A86F00"/>
                          </a:solidFill>
                          <a:latin typeface="Calibri"/>
                        </a:rPr>
                        <a:t>▶ 4.7%</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15537">
                <a:tc>
                  <a:txBody>
                    <a:bodyPr/>
                    <a:lstStyle/>
                    <a:p>
                      <a:pPr algn="l"/>
                      <a:r>
                        <a:rPr sz="1100" b="1">
                          <a:solidFill>
                            <a:srgbClr val="2E2E2E"/>
                          </a:solidFill>
                          <a:latin typeface="Calibri"/>
                        </a:rPr>
                        <a:t>Folate / Folic Acid</a:t>
                      </a:r>
                      <a:endParaRPr sz="1100"/>
                    </a:p>
                  </a:txBody>
                  <a:tcPr marL="47625" marR="38100" marT="19050" marB="19050" anchor="ctr">
                    <a:solidFill>
                      <a:srgbClr val="F5F8FA"/>
                    </a:solidFill>
                  </a:tcPr>
                </a:tc>
                <a:tc>
                  <a:txBody>
                    <a:bodyPr/>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a:lstStyle/>
                    <a:p>
                      <a:pPr algn="l"/>
                      <a:r>
                        <a:rPr sz="1100" b="1">
                          <a:solidFill>
                            <a:srgbClr val="A86F00"/>
                          </a:solidFill>
                          <a:latin typeface="Calibri"/>
                        </a:rPr>
                        <a:t>▶ 5.2%</a:t>
                      </a:r>
                      <a:endParaRPr sz="1100"/>
                    </a:p>
                  </a:txBody>
                  <a:tcPr marL="47625" marR="38100" marT="19050" marB="19050" anchor="ctr">
                    <a:solidFill>
                      <a:srgbClr val="F5F8FA"/>
                    </a:solidFill>
                  </a:tcPr>
                </a:tc>
                <a:tc>
                  <a:txBody>
                    <a:bodyPr/>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a:lstStyle/>
                    <a:p>
                      <a:pPr algn="l"/>
                      <a:r>
                        <a:rPr sz="1100" b="1">
                          <a:solidFill>
                            <a:srgbClr val="A86F00"/>
                          </a:solidFill>
                          <a:latin typeface="Calibri"/>
                        </a:rPr>
                        <a:t>▶ 5.6%</a:t>
                      </a:r>
                      <a:endParaRPr sz="1100"/>
                    </a:p>
                  </a:txBody>
                  <a:tcPr marL="47625" marR="38100" marT="19050" marB="19050" anchor="ctr">
                    <a:solidFill>
                      <a:srgbClr val="F5F8FA"/>
                    </a:solidFill>
                  </a:tcPr>
                </a:tc>
                <a:tc>
                  <a:txBody>
                    <a:bodyPr/>
                    <a:lstStyle/>
                    <a:p>
                      <a:pPr algn="l"/>
                      <a:r>
                        <a:rPr sz="1100" b="1">
                          <a:solidFill>
                            <a:srgbClr val="A86F00"/>
                          </a:solidFill>
                          <a:latin typeface="Calibri"/>
                        </a:rPr>
                        <a:t>▶ 5.5%</a:t>
                      </a:r>
                      <a:endParaRPr sz="1100"/>
                    </a:p>
                  </a:txBody>
                  <a:tcPr marL="47625" marR="38100" marT="19050" marB="19050" anchor="ctr">
                    <a:solidFill>
                      <a:srgbClr val="F5F8FA"/>
                    </a:solidFill>
                  </a:tcPr>
                </a:tc>
                <a:tc>
                  <a:txBody>
                    <a:bodyPr/>
                    <a:lstStyle/>
                    <a:p>
                      <a:pPr algn="l"/>
                      <a:r>
                        <a:rPr sz="1100" b="1">
                          <a:solidFill>
                            <a:srgbClr val="A86F00"/>
                          </a:solidFill>
                          <a:latin typeface="Calibri"/>
                        </a:rPr>
                        <a:t>▶ 5.4%</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15537">
                <a:tc>
                  <a:txBody>
                    <a:bodyPr/>
                    <a:lstStyle/>
                    <a:p>
                      <a:pPr algn="l"/>
                      <a:r>
                        <a:rPr sz="1100" b="1">
                          <a:solidFill>
                            <a:srgbClr val="2E2E2E"/>
                          </a:solidFill>
                          <a:latin typeface="Calibri"/>
                        </a:rPr>
                        <a:t>Choline</a:t>
                      </a:r>
                      <a:endParaRPr sz="1100"/>
                    </a:p>
                  </a:txBody>
                  <a:tcPr marL="47625" marR="38100" marT="19050" marB="19050" anchor="ctr">
                    <a:solidFill>
                      <a:srgbClr val="FFFFFF"/>
                    </a:solidFill>
                  </a:tcPr>
                </a:tc>
                <a:tc>
                  <a:txBody>
                    <a:bodyPr/>
                    <a:lstStyle/>
                    <a:p>
                      <a:pPr algn="l"/>
                      <a:r>
                        <a:rPr sz="1100" b="1">
                          <a:solidFill>
                            <a:srgbClr val="2E7D32"/>
                          </a:solidFill>
                          <a:latin typeface="Calibri"/>
                        </a:rPr>
                        <a:t>▲ 8.5%</a:t>
                      </a:r>
                      <a:endParaRPr sz="1100"/>
                    </a:p>
                  </a:txBody>
                  <a:tcPr marL="47625" marR="38100" marT="19050" marB="19050" anchor="ctr">
                    <a:solidFill>
                      <a:srgbClr val="FFFFFF"/>
                    </a:solidFill>
                  </a:tcPr>
                </a:tc>
                <a:tc>
                  <a:txBody>
                    <a:bodyPr/>
                    <a:lstStyle/>
                    <a:p>
                      <a:pPr algn="l"/>
                      <a:r>
                        <a:rPr sz="1100" b="1">
                          <a:solidFill>
                            <a:srgbClr val="2E7D32"/>
                          </a:solidFill>
                          <a:latin typeface="Calibri"/>
                        </a:rPr>
                        <a:t>▲ 8.6%</a:t>
                      </a:r>
                      <a:endParaRPr sz="1100"/>
                    </a:p>
                  </a:txBody>
                  <a:tcPr marL="47625" marR="38100" marT="19050" marB="19050" anchor="ctr">
                    <a:solidFill>
                      <a:srgbClr val="FFFFFF"/>
                    </a:solidFill>
                  </a:tcPr>
                </a:tc>
                <a:tc>
                  <a:txBody>
                    <a:bodyPr/>
                    <a:lstStyle/>
                    <a:p>
                      <a:pPr algn="l"/>
                      <a:r>
                        <a:rPr sz="1100" b="1">
                          <a:solidFill>
                            <a:srgbClr val="2E7D32"/>
                          </a:solidFill>
                          <a:latin typeface="Calibri"/>
                        </a:rPr>
                        <a:t>▲ 8.8%</a:t>
                      </a:r>
                      <a:endParaRPr sz="1100"/>
                    </a:p>
                  </a:txBody>
                  <a:tcPr marL="47625" marR="38100" marT="19050" marB="19050" anchor="ctr">
                    <a:solidFill>
                      <a:srgbClr val="FFFFFF"/>
                    </a:solidFill>
                  </a:tcPr>
                </a:tc>
                <a:tc>
                  <a:txBody>
                    <a:bodyPr/>
                    <a:lstStyle/>
                    <a:p>
                      <a:pPr algn="l"/>
                      <a:r>
                        <a:rPr sz="1100" b="1">
                          <a:solidFill>
                            <a:srgbClr val="2E7D32"/>
                          </a:solidFill>
                          <a:latin typeface="Calibri"/>
                        </a:rPr>
                        <a:t>▲ 9.1%</a:t>
                      </a:r>
                      <a:endParaRPr sz="1100"/>
                    </a:p>
                  </a:txBody>
                  <a:tcPr marL="47625" marR="38100" marT="19050" marB="19050" anchor="ctr">
                    <a:solidFill>
                      <a:srgbClr val="FFFFFF"/>
                    </a:solidFill>
                  </a:tcPr>
                </a:tc>
                <a:tc>
                  <a:txBody>
                    <a:bodyPr/>
                    <a:lstStyle/>
                    <a:p>
                      <a:pPr algn="l"/>
                      <a:r>
                        <a:rPr sz="1100" b="1">
                          <a:solidFill>
                            <a:srgbClr val="2E7D32"/>
                          </a:solidFill>
                          <a:latin typeface="Calibri"/>
                        </a:rPr>
                        <a:t>▲ 9.7%</a:t>
                      </a:r>
                      <a:endParaRPr sz="1100"/>
                    </a:p>
                  </a:txBody>
                  <a:tcPr marL="47625" marR="38100" marT="19050" marB="19050" anchor="ctr">
                    <a:solidFill>
                      <a:srgbClr val="FFFFFF"/>
                    </a:solidFill>
                  </a:tcPr>
                </a:tc>
                <a:tc>
                  <a:txBody>
                    <a:bodyPr/>
                    <a:lstStyle/>
                    <a:p>
                      <a:pPr algn="l"/>
                      <a:r>
                        <a:rPr sz="1100" b="1">
                          <a:solidFill>
                            <a:srgbClr val="2E7D32"/>
                          </a:solidFill>
                          <a:latin typeface="Calibri"/>
                        </a:rPr>
                        <a:t>▲ 10.2%</a:t>
                      </a:r>
                      <a:endParaRPr sz="1100"/>
                    </a:p>
                  </a:txBody>
                  <a:tcPr marL="47625" marR="38100" marT="19050" marB="19050" anchor="ctr">
                    <a:solidFill>
                      <a:srgbClr val="FFFFFF"/>
                    </a:solidFill>
                  </a:tcPr>
                </a:tc>
                <a:tc>
                  <a:txBody>
                    <a:bodyPr/>
                    <a:lstStyle/>
                    <a:p>
                      <a:pPr algn="l"/>
                      <a:r>
                        <a:rPr sz="1100" b="1">
                          <a:solidFill>
                            <a:srgbClr val="2E7D32"/>
                          </a:solidFill>
                          <a:latin typeface="Calibri"/>
                        </a:rPr>
                        <a:t>▲ 10.7%</a:t>
                      </a:r>
                      <a:endParaRPr sz="1100"/>
                    </a:p>
                  </a:txBody>
                  <a:tcPr marL="47625" marR="38100" marT="19050" marB="19050" anchor="ctr">
                    <a:solidFill>
                      <a:srgbClr val="FFFFFF"/>
                    </a:solidFill>
                  </a:tcPr>
                </a:tc>
                <a:tc>
                  <a:txBody>
                    <a:bodyPr/>
                    <a:lstStyle/>
                    <a:p>
                      <a:pPr algn="l"/>
                      <a:r>
                        <a:rPr sz="1100" b="1">
                          <a:solidFill>
                            <a:srgbClr val="2E7D32"/>
                          </a:solidFill>
                          <a:latin typeface="Calibri"/>
                        </a:rPr>
                        <a:t>▲ 11.5%</a:t>
                      </a:r>
                      <a:endParaRPr sz="1100"/>
                    </a:p>
                  </a:txBody>
                  <a:tcPr marL="47625" marR="38100" marT="19050" marB="19050" anchor="ctr">
                    <a:solidFill>
                      <a:srgbClr val="FFFFFF"/>
                    </a:solidFill>
                  </a:tcPr>
                </a:tc>
                <a:tc>
                  <a:txBody>
                    <a:bodyPr/>
                    <a:lstStyle/>
                    <a:p>
                      <a:pPr algn="l"/>
                      <a:r>
                        <a:rPr sz="1100" b="1">
                          <a:solidFill>
                            <a:srgbClr val="2E7D32"/>
                          </a:solidFill>
                          <a:latin typeface="Calibri"/>
                        </a:rPr>
                        <a:t>▲ 12.4%</a:t>
                      </a:r>
                      <a:endParaRPr sz="1100"/>
                    </a:p>
                  </a:txBody>
                  <a:tcPr marL="47625" marR="38100" marT="19050" marB="19050" anchor="ctr">
                    <a:solidFill>
                      <a:srgbClr val="FFFFFF"/>
                    </a:solidFill>
                  </a:tcPr>
                </a:tc>
                <a:tc>
                  <a:txBody>
                    <a:bodyPr/>
                    <a:lstStyle/>
                    <a:p>
                      <a:pPr algn="l"/>
                      <a:r>
                        <a:rPr sz="1100" b="1">
                          <a:solidFill>
                            <a:srgbClr val="2E7D32"/>
                          </a:solidFill>
                          <a:latin typeface="Calibri"/>
                        </a:rPr>
                        <a:t>▲ 13.2%</a:t>
                      </a:r>
                      <a:endParaRPr sz="1100"/>
                    </a:p>
                  </a:txBody>
                  <a:tcPr marL="47625" marR="38100" marT="19050" marB="19050" anchor="ctr">
                    <a:solidFill>
                      <a:srgbClr val="FFFFFF"/>
                    </a:solidFill>
                  </a:tcPr>
                </a:tc>
                <a:tc>
                  <a:txBody>
                    <a:bodyPr/>
                    <a:lstStyle/>
                    <a:p>
                      <a:pPr algn="l"/>
                      <a:r>
                        <a:rPr sz="1100" b="1">
                          <a:solidFill>
                            <a:srgbClr val="2E7D32"/>
                          </a:solidFill>
                          <a:latin typeface="Calibri"/>
                        </a:rPr>
                        <a:t>▲ 14.0%</a:t>
                      </a:r>
                      <a:endParaRPr sz="1100"/>
                    </a:p>
                  </a:txBody>
                  <a:tcPr marL="47625" marR="38100" marT="19050" marB="19050" anchor="ctr">
                    <a:solidFill>
                      <a:srgbClr val="FFFFFF"/>
                    </a:solidFill>
                  </a:tcPr>
                </a:tc>
                <a:tc>
                  <a:txBody>
                    <a:bodyPr/>
                    <a:lstStyle/>
                    <a:p>
                      <a:pPr algn="l"/>
                      <a:r>
                        <a:rPr sz="1100" b="1">
                          <a:solidFill>
                            <a:srgbClr val="2E7D32"/>
                          </a:solidFill>
                          <a:latin typeface="Calibri"/>
                        </a:rPr>
                        <a:t>▲ 14.4%</a:t>
                      </a:r>
                      <a:endParaRPr sz="1100"/>
                    </a:p>
                  </a:txBody>
                  <a:tcPr marL="47625" marR="38100" marT="19050" marB="19050" anchor="ctr">
                    <a:solidFill>
                      <a:srgbClr val="FFFFFF"/>
                    </a:solidFill>
                  </a:tcPr>
                </a:tc>
                <a:tc>
                  <a:txBody>
                    <a:bodyPr/>
                    <a:lstStyle/>
                    <a:p>
                      <a:pPr algn="l"/>
                      <a:r>
                        <a:rPr sz="1100" b="1">
                          <a:solidFill>
                            <a:srgbClr val="2E7D32"/>
                          </a:solidFill>
                          <a:latin typeface="Calibri"/>
                        </a:rPr>
                        <a:t>▲ 14.4%</a:t>
                      </a:r>
                      <a:endParaRPr sz="1100"/>
                    </a:p>
                  </a:txBody>
                  <a:tcPr marL="47625" marR="38100" marT="19050" marB="19050" anchor="ctr">
                    <a:solidFill>
                      <a:srgbClr val="FFFFFF"/>
                    </a:solidFill>
                  </a:tcPr>
                </a:tc>
                <a:tc>
                  <a:txBody>
                    <a:bodyPr/>
                    <a:lstStyle/>
                    <a:p>
                      <a:pPr algn="l"/>
                      <a:r>
                        <a:rPr sz="1100" b="1">
                          <a:solidFill>
                            <a:srgbClr val="2E7D32"/>
                          </a:solidFill>
                          <a:latin typeface="Calibri"/>
                        </a:rPr>
                        <a:t>▲ 14.1%</a:t>
                      </a:r>
                      <a:endParaRPr sz="1100"/>
                    </a:p>
                  </a:txBody>
                  <a:tcPr marL="47625" marR="38100" marT="19050" marB="19050" anchor="ctr">
                    <a:solidFill>
                      <a:srgbClr val="FFFFFF"/>
                    </a:solidFill>
                  </a:tcPr>
                </a:tc>
                <a:tc>
                  <a:txBody>
                    <a:bodyPr/>
                    <a:lstStyle/>
                    <a:p>
                      <a:pPr algn="l"/>
                      <a:r>
                        <a:rPr sz="1100" b="1">
                          <a:solidFill>
                            <a:srgbClr val="2E7D32"/>
                          </a:solidFill>
                          <a:latin typeface="Calibri"/>
                        </a:rPr>
                        <a:t>▲ 13.8%</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15537">
                <a:tc>
                  <a:txBody>
                    <a:bodyPr/>
                    <a:lstStyle/>
                    <a:p>
                      <a:pPr algn="l"/>
                      <a:r>
                        <a:rPr sz="1100" b="1">
                          <a:solidFill>
                            <a:srgbClr val="2E2E2E"/>
                          </a:solidFill>
                          <a:latin typeface="Calibri"/>
                        </a:rPr>
                        <a:t>Calcium &amp; Mineral</a:t>
                      </a:r>
                      <a:endParaRPr sz="1100"/>
                    </a:p>
                  </a:txBody>
                  <a:tcPr marL="47625" marR="38100" marT="19050" marB="19050" anchor="ctr">
                    <a:solidFill>
                      <a:srgbClr val="F5F8FA"/>
                    </a:solidFill>
                  </a:tcPr>
                </a:tc>
                <a:tc>
                  <a:txBody>
                    <a:bodyPr/>
                    <a:lstStyle/>
                    <a:p>
                      <a:pPr algn="l"/>
                      <a:r>
                        <a:rPr sz="1100" b="1">
                          <a:solidFill>
                            <a:srgbClr val="A86F00"/>
                          </a:solidFill>
                          <a:latin typeface="Calibri"/>
                        </a:rPr>
                        <a:t>▶ 2.8%</a:t>
                      </a:r>
                      <a:endParaRPr sz="1100"/>
                    </a:p>
                  </a:txBody>
                  <a:tcPr marL="47625" marR="38100" marT="19050" marB="19050" anchor="ctr">
                    <a:solidFill>
                      <a:srgbClr val="F5F8FA"/>
                    </a:solidFill>
                  </a:tcPr>
                </a:tc>
                <a:tc>
                  <a:txBody>
                    <a:bodyPr/>
                    <a:lstStyle/>
                    <a:p>
                      <a:pPr algn="l"/>
                      <a:r>
                        <a:rPr sz="1100" b="1">
                          <a:solidFill>
                            <a:srgbClr val="A86F00"/>
                          </a:solidFill>
                          <a:latin typeface="Calibri"/>
                        </a:rPr>
                        <a:t>▶ 2.7%</a:t>
                      </a:r>
                      <a:endParaRPr sz="1100"/>
                    </a:p>
                  </a:txBody>
                  <a:tcPr marL="47625" marR="38100" marT="19050" marB="19050" anchor="ctr">
                    <a:solidFill>
                      <a:srgbClr val="F5F8FA"/>
                    </a:solidFill>
                  </a:tcPr>
                </a:tc>
                <a:tc>
                  <a:txBody>
                    <a:bodyPr/>
                    <a:lstStyle/>
                    <a:p>
                      <a:pPr algn="l"/>
                      <a:r>
                        <a:rPr sz="1100" b="1">
                          <a:solidFill>
                            <a:srgbClr val="A86F00"/>
                          </a:solidFill>
                          <a:latin typeface="Calibri"/>
                        </a:rPr>
                        <a:t>▶ 2.6%</a:t>
                      </a:r>
                      <a:endParaRPr sz="1100"/>
                    </a:p>
                  </a:txBody>
                  <a:tcPr marL="47625" marR="38100" marT="19050" marB="19050" anchor="ctr">
                    <a:solidFill>
                      <a:srgbClr val="F5F8FA"/>
                    </a:solidFill>
                  </a:tcPr>
                </a:tc>
                <a:tc>
                  <a:txBody>
                    <a:bodyPr/>
                    <a:lstStyle/>
                    <a:p>
                      <a:pPr algn="l"/>
                      <a:r>
                        <a:rPr sz="1100" b="1">
                          <a:solidFill>
                            <a:srgbClr val="A86F00"/>
                          </a:solidFill>
                          <a:latin typeface="Calibri"/>
                        </a:rPr>
                        <a:t>▶ 2.5%</a:t>
                      </a:r>
                      <a:endParaRPr sz="1100"/>
                    </a:p>
                  </a:txBody>
                  <a:tcPr marL="47625" marR="38100" marT="19050" marB="19050" anchor="ctr">
                    <a:solidFill>
                      <a:srgbClr val="F5F8FA"/>
                    </a:solidFill>
                  </a:tcPr>
                </a:tc>
                <a:tc>
                  <a:txBody>
                    <a:bodyPr/>
                    <a:lstStyle/>
                    <a:p>
                      <a:pPr algn="l"/>
                      <a:r>
                        <a:rPr sz="1100" b="1">
                          <a:solidFill>
                            <a:srgbClr val="A86F00"/>
                          </a:solidFill>
                          <a:latin typeface="Calibri"/>
                        </a:rPr>
                        <a:t>▶ 2.7%</a:t>
                      </a:r>
                      <a:endParaRPr sz="1100"/>
                    </a:p>
                  </a:txBody>
                  <a:tcPr marL="47625" marR="38100" marT="19050" marB="19050" anchor="ctr">
                    <a:solidFill>
                      <a:srgbClr val="F5F8FA"/>
                    </a:solidFill>
                  </a:tcPr>
                </a:tc>
                <a:tc>
                  <a:txBody>
                    <a:bodyPr/>
                    <a:lstStyle/>
                    <a:p>
                      <a:pPr algn="l"/>
                      <a:r>
                        <a:rPr sz="1100" b="1">
                          <a:solidFill>
                            <a:srgbClr val="A86F00"/>
                          </a:solidFill>
                          <a:latin typeface="Calibri"/>
                        </a:rPr>
                        <a:t>▶ 2.9%</a:t>
                      </a:r>
                      <a:endParaRPr sz="1100"/>
                    </a:p>
                  </a:txBody>
                  <a:tcPr marL="47625" marR="38100" marT="19050" marB="19050" anchor="ctr">
                    <a:solidFill>
                      <a:srgbClr val="F5F8FA"/>
                    </a:solidFill>
                  </a:tcPr>
                </a:tc>
                <a:tc>
                  <a:txBody>
                    <a:bodyPr/>
                    <a:lstStyle/>
                    <a:p>
                      <a:pPr algn="l"/>
                      <a:r>
                        <a:rPr sz="1100" b="1">
                          <a:solidFill>
                            <a:srgbClr val="A86F00"/>
                          </a:solidFill>
                          <a:latin typeface="Calibri"/>
                        </a:rPr>
                        <a:t>▶ 3.1%</a:t>
                      </a:r>
                      <a:endParaRPr sz="1100"/>
                    </a:p>
                  </a:txBody>
                  <a:tcPr marL="47625" marR="38100" marT="19050" marB="19050" anchor="ctr">
                    <a:solidFill>
                      <a:srgbClr val="F5F8FA"/>
                    </a:solidFill>
                  </a:tcPr>
                </a:tc>
                <a:tc>
                  <a:txBody>
                    <a:bodyPr/>
                    <a:lstStyle/>
                    <a:p>
                      <a:pPr algn="l"/>
                      <a:r>
                        <a:rPr sz="1100" b="1">
                          <a:solidFill>
                            <a:srgbClr val="A86F00"/>
                          </a:solidFill>
                          <a:latin typeface="Calibri"/>
                        </a:rPr>
                        <a:t>▶ 3.4%</a:t>
                      </a:r>
                      <a:endParaRPr sz="1100"/>
                    </a:p>
                  </a:txBody>
                  <a:tcPr marL="47625" marR="38100" marT="19050" marB="19050" anchor="ctr">
                    <a:solidFill>
                      <a:srgbClr val="F5F8FA"/>
                    </a:solidFill>
                  </a:tcPr>
                </a:tc>
                <a:tc>
                  <a:txBody>
                    <a:bodyPr/>
                    <a:lstStyle/>
                    <a:p>
                      <a:pPr algn="l"/>
                      <a:r>
                        <a:rPr sz="1100" b="1">
                          <a:solidFill>
                            <a:srgbClr val="A86F00"/>
                          </a:solidFill>
                          <a:latin typeface="Calibri"/>
                        </a:rPr>
                        <a:t>▶ 3.6%</a:t>
                      </a:r>
                      <a:endParaRPr sz="1100"/>
                    </a:p>
                  </a:txBody>
                  <a:tcPr marL="47625" marR="38100" marT="19050" marB="19050" anchor="ctr">
                    <a:solidFill>
                      <a:srgbClr val="F5F8FA"/>
                    </a:solidFill>
                  </a:tcPr>
                </a:tc>
                <a:tc>
                  <a:txBody>
                    <a:bodyPr/>
                    <a:lstStyle/>
                    <a:p>
                      <a:pPr algn="l"/>
                      <a:r>
                        <a:rPr sz="1100" b="1">
                          <a:solidFill>
                            <a:srgbClr val="A86F00"/>
                          </a:solidFill>
                          <a:latin typeface="Calibri"/>
                        </a:rPr>
                        <a:t>▶ 3.7%</a:t>
                      </a:r>
                      <a:endParaRPr sz="1100"/>
                    </a:p>
                  </a:txBody>
                  <a:tcPr marL="47625" marR="38100" marT="19050" marB="19050" anchor="ctr">
                    <a:solidFill>
                      <a:srgbClr val="F5F8FA"/>
                    </a:solidFill>
                  </a:tcPr>
                </a:tc>
                <a:tc>
                  <a:txBody>
                    <a:bodyPr/>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a:lstStyle/>
                    <a:p>
                      <a:pPr algn="l"/>
                      <a:r>
                        <a:rPr sz="1100" b="1">
                          <a:solidFill>
                            <a:srgbClr val="A86F00"/>
                          </a:solidFill>
                          <a:latin typeface="Calibri"/>
                        </a:rPr>
                        <a:t>▶ 4.0%</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r h="215537">
                <a:tc>
                  <a:txBody>
                    <a:bodyPr/>
                    <a:lstStyle/>
                    <a:p>
                      <a:pPr algn="l"/>
                      <a:r>
                        <a:rPr sz="1100" b="1">
                          <a:solidFill>
                            <a:srgbClr val="2E2E2E"/>
                          </a:solidFill>
                          <a:latin typeface="Calibri"/>
                        </a:rPr>
                        <a:t>Probiotic</a:t>
                      </a:r>
                      <a:endParaRPr sz="1100"/>
                    </a:p>
                  </a:txBody>
                  <a:tcPr marL="47625" marR="38100" marT="19050" marB="19050" anchor="ctr">
                    <a:solidFill>
                      <a:srgbClr val="FFFFFF"/>
                    </a:solidFill>
                  </a:tcPr>
                </a:tc>
                <a:tc>
                  <a:txBody>
                    <a:bodyPr/>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a:lstStyle/>
                    <a:p>
                      <a:pPr algn="l"/>
                      <a:r>
                        <a:rPr sz="1100" b="1">
                          <a:solidFill>
                            <a:srgbClr val="2E7D32"/>
                          </a:solidFill>
                          <a:latin typeface="Calibri"/>
                        </a:rPr>
                        <a:t>▲ 6.1%</a:t>
                      </a:r>
                      <a:endParaRPr sz="1100"/>
                    </a:p>
                  </a:txBody>
                  <a:tcPr marL="47625" marR="38100" marT="19050" marB="19050" anchor="ctr">
                    <a:solidFill>
                      <a:srgbClr val="FFFFFF"/>
                    </a:solidFill>
                  </a:tcPr>
                </a:tc>
                <a:tc>
                  <a:txBody>
                    <a:bodyPr/>
                    <a:lstStyle/>
                    <a:p>
                      <a:pPr algn="l"/>
                      <a:r>
                        <a:rPr sz="1100" b="1">
                          <a:solidFill>
                            <a:srgbClr val="2E7D32"/>
                          </a:solidFill>
                          <a:latin typeface="Calibri"/>
                        </a:rPr>
                        <a:t>▲ 7.1%</a:t>
                      </a:r>
                      <a:endParaRPr sz="1100"/>
                    </a:p>
                  </a:txBody>
                  <a:tcPr marL="47625" marR="38100" marT="19050" marB="19050" anchor="ctr">
                    <a:solidFill>
                      <a:srgbClr val="FFFFFF"/>
                    </a:solidFill>
                  </a:tcPr>
                </a:tc>
                <a:tc>
                  <a:txBody>
                    <a:bodyPr/>
                    <a:lstStyle/>
                    <a:p>
                      <a:pPr algn="l"/>
                      <a:r>
                        <a:rPr sz="1100" b="1">
                          <a:solidFill>
                            <a:srgbClr val="2E7D32"/>
                          </a:solidFill>
                          <a:latin typeface="Calibri"/>
                        </a:rPr>
                        <a:t>▲ 8.3%</a:t>
                      </a:r>
                      <a:endParaRPr sz="1100"/>
                    </a:p>
                  </a:txBody>
                  <a:tcPr marL="47625" marR="38100" marT="19050" marB="19050" anchor="ctr">
                    <a:solidFill>
                      <a:srgbClr val="FFFFFF"/>
                    </a:solidFill>
                  </a:tcPr>
                </a:tc>
                <a:tc>
                  <a:txBody>
                    <a:bodyPr/>
                    <a:lstStyle/>
                    <a:p>
                      <a:pPr algn="l"/>
                      <a:r>
                        <a:rPr sz="1100" b="1">
                          <a:solidFill>
                            <a:srgbClr val="2E7D32"/>
                          </a:solidFill>
                          <a:latin typeface="Calibri"/>
                        </a:rPr>
                        <a:t>▲ 9.4%</a:t>
                      </a:r>
                      <a:endParaRPr sz="1100"/>
                    </a:p>
                  </a:txBody>
                  <a:tcPr marL="47625" marR="38100" marT="19050" marB="19050" anchor="ctr">
                    <a:solidFill>
                      <a:srgbClr val="FFFFFF"/>
                    </a:solidFill>
                  </a:tcPr>
                </a:tc>
                <a:tc>
                  <a:txBody>
                    <a:bodyPr/>
                    <a:lstStyle/>
                    <a:p>
                      <a:pPr algn="l"/>
                      <a:r>
                        <a:rPr sz="1100" b="1">
                          <a:solidFill>
                            <a:srgbClr val="2E7D32"/>
                          </a:solidFill>
                          <a:latin typeface="Calibri"/>
                        </a:rPr>
                        <a:t>▲ 10.3%</a:t>
                      </a:r>
                      <a:endParaRPr sz="1100"/>
                    </a:p>
                  </a:txBody>
                  <a:tcPr marL="47625" marR="38100" marT="19050" marB="19050" anchor="ctr">
                    <a:solidFill>
                      <a:srgbClr val="FFFFFF"/>
                    </a:solidFill>
                  </a:tcPr>
                </a:tc>
                <a:tc>
                  <a:txBody>
                    <a:bodyPr/>
                    <a:lstStyle/>
                    <a:p>
                      <a:pPr algn="l"/>
                      <a:r>
                        <a:rPr sz="1100" b="1">
                          <a:solidFill>
                            <a:srgbClr val="2E7D32"/>
                          </a:solidFill>
                          <a:latin typeface="Calibri"/>
                        </a:rPr>
                        <a:t>▲ 10.9%</a:t>
                      </a:r>
                      <a:endParaRPr sz="1100"/>
                    </a:p>
                  </a:txBody>
                  <a:tcPr marL="47625" marR="38100" marT="19050" marB="19050" anchor="ctr">
                    <a:solidFill>
                      <a:srgbClr val="FFFFFF"/>
                    </a:solidFill>
                  </a:tcPr>
                </a:tc>
                <a:tc>
                  <a:txBody>
                    <a:bodyPr/>
                    <a:lstStyle/>
                    <a:p>
                      <a:pPr algn="l"/>
                      <a:r>
                        <a:rPr sz="1100" b="1">
                          <a:solidFill>
                            <a:srgbClr val="2E7D32"/>
                          </a:solidFill>
                          <a:latin typeface="Calibri"/>
                        </a:rPr>
                        <a:t>▲ 11.4%</a:t>
                      </a:r>
                      <a:endParaRPr sz="1100"/>
                    </a:p>
                  </a:txBody>
                  <a:tcPr marL="47625" marR="38100" marT="19050" marB="19050" anchor="ctr">
                    <a:solidFill>
                      <a:srgbClr val="FFFFFF"/>
                    </a:solidFill>
                  </a:tcPr>
                </a:tc>
                <a:tc>
                  <a:txBody>
                    <a:bodyPr/>
                    <a:lstStyle/>
                    <a:p>
                      <a:pPr algn="l"/>
                      <a:r>
                        <a:rPr sz="1100" b="1">
                          <a:solidFill>
                            <a:srgbClr val="2E7D32"/>
                          </a:solidFill>
                          <a:latin typeface="Calibri"/>
                        </a:rPr>
                        <a:t>▲ 11.6%</a:t>
                      </a:r>
                      <a:endParaRPr sz="1100"/>
                    </a:p>
                  </a:txBody>
                  <a:tcPr marL="47625" marR="38100" marT="19050" marB="19050" anchor="ctr">
                    <a:solidFill>
                      <a:srgbClr val="FFFFFF"/>
                    </a:solidFill>
                  </a:tcPr>
                </a:tc>
                <a:tc>
                  <a:txBody>
                    <a:bodyPr/>
                    <a:lstStyle/>
                    <a:p>
                      <a:pPr algn="l"/>
                      <a:r>
                        <a:rPr sz="1100" b="1">
                          <a:solidFill>
                            <a:srgbClr val="2E7D32"/>
                          </a:solidFill>
                          <a:latin typeface="Calibri"/>
                        </a:rPr>
                        <a:t>▲ 11.6%</a:t>
                      </a:r>
                      <a:endParaRPr sz="1100"/>
                    </a:p>
                  </a:txBody>
                  <a:tcPr marL="47625" marR="38100" marT="19050" marB="19050" anchor="ctr">
                    <a:solidFill>
                      <a:srgbClr val="FFFFFF"/>
                    </a:solidFill>
                  </a:tcPr>
                </a:tc>
                <a:tc>
                  <a:txBody>
                    <a:bodyPr/>
                    <a:lstStyle/>
                    <a:p>
                      <a:pPr algn="l"/>
                      <a:r>
                        <a:rPr sz="1100" b="1">
                          <a:solidFill>
                            <a:srgbClr val="2E7D32"/>
                          </a:solidFill>
                          <a:latin typeface="Calibri"/>
                        </a:rPr>
                        <a:t>▲ 11.5%</a:t>
                      </a:r>
                      <a:endParaRPr sz="1100"/>
                    </a:p>
                  </a:txBody>
                  <a:tcPr marL="47625" marR="38100" marT="19050" marB="19050" anchor="ctr">
                    <a:solidFill>
                      <a:srgbClr val="FFFFFF"/>
                    </a:solidFill>
                  </a:tcPr>
                </a:tc>
                <a:tc>
                  <a:txBody>
                    <a:bodyPr/>
                    <a:lstStyle/>
                    <a:p>
                      <a:pPr algn="l"/>
                      <a:r>
                        <a:rPr sz="1100" b="1">
                          <a:solidFill>
                            <a:srgbClr val="2E7D32"/>
                          </a:solidFill>
                          <a:latin typeface="Calibri"/>
                        </a:rPr>
                        <a:t>▲ 11.3%</a:t>
                      </a:r>
                      <a:endParaRPr sz="1100"/>
                    </a:p>
                  </a:txBody>
                  <a:tcPr marL="47625" marR="38100" marT="19050" marB="19050" anchor="ctr">
                    <a:solidFill>
                      <a:srgbClr val="FFFFFF"/>
                    </a:solidFill>
                  </a:tcPr>
                </a:tc>
                <a:extLst>
                  <a:ext uri="{0D108BD9-81ED-4DB2-BD59-A6C34878D82A}">
                    <a16:rowId xmlns:a16="http://schemas.microsoft.com/office/drawing/2014/main" val="10007"/>
                  </a:ext>
                </a:extLst>
              </a:tr>
            </a:tbl>
          </a:graphicData>
        </a:graphic>
      </p:graphicFrame>
      <p:sp>
        <p:nvSpPr>
          <p:cNvPr id="14" name="TextBox 13"/>
          <p:cNvSpPr txBox="1"/>
          <p:nvPr/>
        </p:nvSpPr>
        <p:spPr>
          <a:xfrm>
            <a:off x="219075" y="29718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8125" y="33623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Value YoY Heatmap, By Product Type (%)  ·  light = lower, dark = higher growth</a:t>
            </a:r>
          </a:p>
        </p:txBody>
      </p:sp>
      <p:sp>
        <p:nvSpPr>
          <p:cNvPr id="17" name="TextBox 16"/>
          <p:cNvSpPr txBox="1"/>
          <p:nvPr/>
        </p:nvSpPr>
        <p:spPr>
          <a:xfrm>
            <a:off x="185737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2022</a:t>
            </a:r>
          </a:p>
        </p:txBody>
      </p:sp>
      <p:sp>
        <p:nvSpPr>
          <p:cNvPr id="18" name="TextBox 17"/>
          <p:cNvSpPr txBox="1"/>
          <p:nvPr/>
        </p:nvSpPr>
        <p:spPr>
          <a:xfrm>
            <a:off x="250126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2023</a:t>
            </a:r>
          </a:p>
        </p:txBody>
      </p:sp>
      <p:sp>
        <p:nvSpPr>
          <p:cNvPr id="19" name="TextBox 18"/>
          <p:cNvSpPr txBox="1"/>
          <p:nvPr/>
        </p:nvSpPr>
        <p:spPr>
          <a:xfrm>
            <a:off x="314515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2024</a:t>
            </a:r>
          </a:p>
        </p:txBody>
      </p:sp>
      <p:sp>
        <p:nvSpPr>
          <p:cNvPr id="20" name="TextBox 19"/>
          <p:cNvSpPr txBox="1"/>
          <p:nvPr/>
        </p:nvSpPr>
        <p:spPr>
          <a:xfrm>
            <a:off x="378904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2025</a:t>
            </a:r>
          </a:p>
        </p:txBody>
      </p:sp>
      <p:sp>
        <p:nvSpPr>
          <p:cNvPr id="21" name="TextBox 20"/>
          <p:cNvSpPr txBox="1"/>
          <p:nvPr/>
        </p:nvSpPr>
        <p:spPr>
          <a:xfrm>
            <a:off x="443293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2026</a:t>
            </a:r>
          </a:p>
        </p:txBody>
      </p:sp>
      <p:sp>
        <p:nvSpPr>
          <p:cNvPr id="22" name="TextBox 21"/>
          <p:cNvSpPr txBox="1"/>
          <p:nvPr/>
        </p:nvSpPr>
        <p:spPr>
          <a:xfrm>
            <a:off x="507682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2027</a:t>
            </a:r>
          </a:p>
        </p:txBody>
      </p:sp>
      <p:sp>
        <p:nvSpPr>
          <p:cNvPr id="23" name="TextBox 22"/>
          <p:cNvSpPr txBox="1"/>
          <p:nvPr/>
        </p:nvSpPr>
        <p:spPr>
          <a:xfrm>
            <a:off x="572071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2028</a:t>
            </a:r>
          </a:p>
        </p:txBody>
      </p:sp>
      <p:sp>
        <p:nvSpPr>
          <p:cNvPr id="24" name="TextBox 23"/>
          <p:cNvSpPr txBox="1"/>
          <p:nvPr/>
        </p:nvSpPr>
        <p:spPr>
          <a:xfrm>
            <a:off x="636460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2029</a:t>
            </a:r>
          </a:p>
        </p:txBody>
      </p:sp>
      <p:sp>
        <p:nvSpPr>
          <p:cNvPr id="25" name="TextBox 24"/>
          <p:cNvSpPr txBox="1"/>
          <p:nvPr/>
        </p:nvSpPr>
        <p:spPr>
          <a:xfrm>
            <a:off x="700849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2030</a:t>
            </a:r>
          </a:p>
        </p:txBody>
      </p:sp>
      <p:sp>
        <p:nvSpPr>
          <p:cNvPr id="26" name="TextBox 25"/>
          <p:cNvSpPr txBox="1"/>
          <p:nvPr/>
        </p:nvSpPr>
        <p:spPr>
          <a:xfrm>
            <a:off x="765238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2031</a:t>
            </a:r>
          </a:p>
        </p:txBody>
      </p:sp>
      <p:sp>
        <p:nvSpPr>
          <p:cNvPr id="27" name="TextBox 26"/>
          <p:cNvSpPr txBox="1"/>
          <p:nvPr/>
        </p:nvSpPr>
        <p:spPr>
          <a:xfrm>
            <a:off x="829627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2032</a:t>
            </a:r>
          </a:p>
        </p:txBody>
      </p:sp>
      <p:sp>
        <p:nvSpPr>
          <p:cNvPr id="28" name="TextBox 27"/>
          <p:cNvSpPr txBox="1"/>
          <p:nvPr/>
        </p:nvSpPr>
        <p:spPr>
          <a:xfrm>
            <a:off x="894016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2033</a:t>
            </a:r>
          </a:p>
        </p:txBody>
      </p:sp>
      <p:sp>
        <p:nvSpPr>
          <p:cNvPr id="29" name="TextBox 28"/>
          <p:cNvSpPr txBox="1"/>
          <p:nvPr/>
        </p:nvSpPr>
        <p:spPr>
          <a:xfrm>
            <a:off x="958405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2034</a:t>
            </a:r>
          </a:p>
        </p:txBody>
      </p:sp>
      <p:sp>
        <p:nvSpPr>
          <p:cNvPr id="30" name="TextBox 29"/>
          <p:cNvSpPr txBox="1"/>
          <p:nvPr/>
        </p:nvSpPr>
        <p:spPr>
          <a:xfrm>
            <a:off x="1022794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2035</a:t>
            </a:r>
          </a:p>
        </p:txBody>
      </p:sp>
      <p:sp>
        <p:nvSpPr>
          <p:cNvPr id="31" name="TextBox 30"/>
          <p:cNvSpPr txBox="1"/>
          <p:nvPr/>
        </p:nvSpPr>
        <p:spPr>
          <a:xfrm>
            <a:off x="10871835" y="3590925"/>
            <a:ext cx="643890" cy="142875"/>
          </a:xfrm>
          <a:prstGeom prst="rect">
            <a:avLst/>
          </a:prstGeom>
          <a:noFill/>
        </p:spPr>
        <p:txBody>
          <a:bodyPr wrap="none" lIns="0" tIns="0" rIns="0" bIns="0" anchor="ctr">
            <a:spAutoFit/>
          </a:bodyPr>
          <a:lstStyle/>
          <a:p>
            <a:pPr algn="ctr"/>
            <a:r>
              <a:rPr sz="1100" b="1">
                <a:solidFill>
                  <a:srgbClr val="6C7A89"/>
                </a:solidFill>
                <a:latin typeface="Calibri"/>
              </a:rPr>
              <a:t>2036</a:t>
            </a:r>
          </a:p>
        </p:txBody>
      </p:sp>
      <p:sp>
        <p:nvSpPr>
          <p:cNvPr id="32" name="TextBox 31"/>
          <p:cNvSpPr txBox="1"/>
          <p:nvPr/>
        </p:nvSpPr>
        <p:spPr>
          <a:xfrm>
            <a:off x="238125" y="3733800"/>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Multivitamin</a:t>
            </a:r>
          </a:p>
        </p:txBody>
      </p:sp>
      <p:sp>
        <p:nvSpPr>
          <p:cNvPr id="33" name="Rectangle 32"/>
          <p:cNvSpPr/>
          <p:nvPr/>
        </p:nvSpPr>
        <p:spPr>
          <a:xfrm>
            <a:off x="1857375" y="3733800"/>
            <a:ext cx="643890" cy="405493"/>
          </a:xfrm>
          <a:prstGeom prst="rect">
            <a:avLst/>
          </a:prstGeom>
          <a:solidFill>
            <a:srgbClr val="E4F1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501265" y="3733800"/>
            <a:ext cx="643890" cy="405493"/>
          </a:xfrm>
          <a:prstGeom prst="rect">
            <a:avLst/>
          </a:prstGeom>
          <a:solidFill>
            <a:srgbClr val="E2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145155" y="3733800"/>
            <a:ext cx="643890" cy="405493"/>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789045" y="3733800"/>
            <a:ext cx="643890" cy="405493"/>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432935" y="3733800"/>
            <a:ext cx="643890" cy="405493"/>
          </a:xfrm>
          <a:prstGeom prst="rect">
            <a:avLst/>
          </a:prstGeom>
          <a:solidFill>
            <a:srgbClr val="D9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076825" y="3733800"/>
            <a:ext cx="643890" cy="405493"/>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720715" y="3733800"/>
            <a:ext cx="643890" cy="405493"/>
          </a:xfrm>
          <a:prstGeom prst="rect">
            <a:avLst/>
          </a:prstGeom>
          <a:solidFill>
            <a:srgbClr val="D3E4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364605" y="3733800"/>
            <a:ext cx="643890" cy="405493"/>
          </a:xfrm>
          <a:prstGeom prst="rect">
            <a:avLst/>
          </a:prstGeom>
          <a:solidFill>
            <a:srgbClr val="CF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008495" y="3733800"/>
            <a:ext cx="643890" cy="405493"/>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652385" y="3733800"/>
            <a:ext cx="643890" cy="405493"/>
          </a:xfrm>
          <a:prstGeom prst="rect">
            <a:avLst/>
          </a:prstGeom>
          <a:solidFill>
            <a:srgbClr val="CADC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296275" y="3733800"/>
            <a:ext cx="643890" cy="405493"/>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940165" y="3733800"/>
            <a:ext cx="643890" cy="405493"/>
          </a:xfrm>
          <a:prstGeom prst="rect">
            <a:avLst/>
          </a:prstGeom>
          <a:solidFill>
            <a:srgbClr val="C7DA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584055" y="3733800"/>
            <a:ext cx="643890" cy="405493"/>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0227945" y="3733800"/>
            <a:ext cx="643890" cy="405493"/>
          </a:xfrm>
          <a:prstGeom prst="rect">
            <a:avLst/>
          </a:prstGeom>
          <a:solidFill>
            <a:srgbClr val="CADC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0871835" y="3733800"/>
            <a:ext cx="643890" cy="405493"/>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38125" y="4139293"/>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DHA / Omega-3</a:t>
            </a:r>
          </a:p>
        </p:txBody>
      </p:sp>
      <p:sp>
        <p:nvSpPr>
          <p:cNvPr id="49" name="Rectangle 48"/>
          <p:cNvSpPr/>
          <p:nvPr/>
        </p:nvSpPr>
        <p:spPr>
          <a:xfrm>
            <a:off x="1857375" y="4139293"/>
            <a:ext cx="643890" cy="405493"/>
          </a:xfrm>
          <a:prstGeom prst="rect">
            <a:avLst/>
          </a:prstGeom>
          <a:solidFill>
            <a:srgbClr val="CCDE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2501265" y="4139293"/>
            <a:ext cx="643890" cy="405493"/>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3145155" y="4139293"/>
            <a:ext cx="643890" cy="405493"/>
          </a:xfrm>
          <a:prstGeom prst="rect">
            <a:avLst/>
          </a:prstGeom>
          <a:solidFill>
            <a:srgbClr val="D3E4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3789045" y="4139293"/>
            <a:ext cx="643890" cy="405493"/>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432935" y="4139293"/>
            <a:ext cx="643890" cy="405493"/>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5076825" y="4139293"/>
            <a:ext cx="643890" cy="405493"/>
          </a:xfrm>
          <a:prstGeom prst="rect">
            <a:avLst/>
          </a:prstGeom>
          <a:solidFill>
            <a:srgbClr val="CA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5720715" y="4139293"/>
            <a:ext cx="643890" cy="405493"/>
          </a:xfrm>
          <a:prstGeom prst="rect">
            <a:avLst/>
          </a:prstGeom>
          <a:solidFill>
            <a:srgbClr val="BE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6364605" y="4139293"/>
            <a:ext cx="643890" cy="405493"/>
          </a:xfrm>
          <a:prstGeom prst="rect">
            <a:avLst/>
          </a:prstGeom>
          <a:solidFill>
            <a:srgbClr val="AB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7008495" y="4139293"/>
            <a:ext cx="643890" cy="405493"/>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652385" y="4139293"/>
            <a:ext cx="643890" cy="405493"/>
          </a:xfrm>
          <a:prstGeom prst="rect">
            <a:avLst/>
          </a:prstGeom>
          <a:solidFill>
            <a:srgbClr val="95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296275" y="4139293"/>
            <a:ext cx="643890" cy="405493"/>
          </a:xfrm>
          <a:prstGeom prst="rect">
            <a:avLst/>
          </a:prstGeom>
          <a:solidFill>
            <a:srgbClr val="95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940165" y="4139293"/>
            <a:ext cx="643890" cy="405493"/>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9584055" y="4139293"/>
            <a:ext cx="643890" cy="405493"/>
          </a:xfrm>
          <a:prstGeom prst="rect">
            <a:avLst/>
          </a:prstGeom>
          <a:solidFill>
            <a:srgbClr val="A0C4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10227945" y="4139293"/>
            <a:ext cx="643890" cy="405493"/>
          </a:xfrm>
          <a:prstGeom prst="rect">
            <a:avLst/>
          </a:prstGeom>
          <a:solidFill>
            <a:srgbClr val="A3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10871835" y="4139293"/>
            <a:ext cx="643890" cy="405493"/>
          </a:xfrm>
          <a:prstGeom prst="rect">
            <a:avLst/>
          </a:prstGeom>
          <a:solidFill>
            <a:srgbClr val="A7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238125" y="4544786"/>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Iron</a:t>
            </a:r>
          </a:p>
        </p:txBody>
      </p:sp>
      <p:sp>
        <p:nvSpPr>
          <p:cNvPr id="65" name="Rectangle 64"/>
          <p:cNvSpPr/>
          <p:nvPr/>
        </p:nvSpPr>
        <p:spPr>
          <a:xfrm>
            <a:off x="1857375" y="4544786"/>
            <a:ext cx="643890" cy="405493"/>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2501265" y="4544786"/>
            <a:ext cx="643890" cy="405493"/>
          </a:xfrm>
          <a:prstGeom prst="rect">
            <a:avLst/>
          </a:prstGeom>
          <a:solidFill>
            <a:srgbClr val="F2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3145155" y="4544786"/>
            <a:ext cx="643890" cy="405493"/>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3789045" y="4544786"/>
            <a:ext cx="643890" cy="405493"/>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432935" y="4544786"/>
            <a:ext cx="643890" cy="405493"/>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5076825" y="4544786"/>
            <a:ext cx="643890" cy="405493"/>
          </a:xfrm>
          <a:prstGeom prst="rect">
            <a:avLst/>
          </a:prstGeom>
          <a:solidFill>
            <a:srgbClr val="F2F9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5720715" y="4544786"/>
            <a:ext cx="643890" cy="405493"/>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6364605" y="4544786"/>
            <a:ext cx="643890" cy="405493"/>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7008495" y="4544786"/>
            <a:ext cx="643890" cy="405493"/>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7652385" y="4544786"/>
            <a:ext cx="643890" cy="405493"/>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8296275" y="4544786"/>
            <a:ext cx="643890" cy="405493"/>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8940165" y="4544786"/>
            <a:ext cx="643890" cy="405493"/>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584055" y="4544786"/>
            <a:ext cx="643890" cy="405493"/>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10227945" y="4544786"/>
            <a:ext cx="643890" cy="405493"/>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10871835" y="4544786"/>
            <a:ext cx="643890" cy="405493"/>
          </a:xfrm>
          <a:prstGeom prst="rect">
            <a:avLst/>
          </a:prstGeom>
          <a:solidFill>
            <a:srgbClr val="E2EF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38125" y="4950279"/>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Folate / Folic Acid</a:t>
            </a:r>
          </a:p>
        </p:txBody>
      </p:sp>
      <p:sp>
        <p:nvSpPr>
          <p:cNvPr id="81" name="Rectangle 80"/>
          <p:cNvSpPr/>
          <p:nvPr/>
        </p:nvSpPr>
        <p:spPr>
          <a:xfrm>
            <a:off x="1857375" y="4950279"/>
            <a:ext cx="643890" cy="405493"/>
          </a:xfrm>
          <a:prstGeom prst="rect">
            <a:avLst/>
          </a:prstGeom>
          <a:solidFill>
            <a:srgbClr val="E8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2501265" y="4950279"/>
            <a:ext cx="643890" cy="405493"/>
          </a:xfrm>
          <a:prstGeom prst="rect">
            <a:avLst/>
          </a:prstGeom>
          <a:solidFill>
            <a:srgbClr val="E8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3145155" y="4950279"/>
            <a:ext cx="643890" cy="405493"/>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3789045" y="4950279"/>
            <a:ext cx="643890" cy="405493"/>
          </a:xfrm>
          <a:prstGeom prst="rect">
            <a:avLst/>
          </a:prstGeom>
          <a:solidFill>
            <a:srgbClr val="EB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4432935" y="4950279"/>
            <a:ext cx="643890" cy="405493"/>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5076825" y="4950279"/>
            <a:ext cx="643890" cy="405493"/>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5720715" y="4950279"/>
            <a:ext cx="643890" cy="405493"/>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6364605" y="4950279"/>
            <a:ext cx="643890" cy="405493"/>
          </a:xfrm>
          <a:prstGeom prst="rect">
            <a:avLst/>
          </a:prstGeom>
          <a:solidFill>
            <a:srgbClr val="DDEB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7008495" y="4950279"/>
            <a:ext cx="643890" cy="405493"/>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7652385" y="4950279"/>
            <a:ext cx="643890" cy="405493"/>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8296275" y="4950279"/>
            <a:ext cx="643890" cy="405493"/>
          </a:xfrm>
          <a:prstGeom prst="rect">
            <a:avLst/>
          </a:prstGeom>
          <a:solidFill>
            <a:srgbClr val="D9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8940165" y="4950279"/>
            <a:ext cx="643890" cy="405493"/>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9584055" y="4950279"/>
            <a:ext cx="643890" cy="405493"/>
          </a:xfrm>
          <a:prstGeom prst="rect">
            <a:avLst/>
          </a:prstGeom>
          <a:solidFill>
            <a:srgbClr val="D6E6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10227945" y="4950279"/>
            <a:ext cx="643890" cy="405493"/>
          </a:xfrm>
          <a:prstGeom prst="rect">
            <a:avLst/>
          </a:prstGeom>
          <a:solidFill>
            <a:srgbClr val="D7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10871835" y="4950279"/>
            <a:ext cx="643890" cy="405493"/>
          </a:xfrm>
          <a:prstGeom prst="rect">
            <a:avLst/>
          </a:prstGeom>
          <a:solidFill>
            <a:srgbClr val="D8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238125" y="5355771"/>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Choline</a:t>
            </a:r>
          </a:p>
        </p:txBody>
      </p:sp>
      <p:sp>
        <p:nvSpPr>
          <p:cNvPr id="97" name="Rectangle 96"/>
          <p:cNvSpPr/>
          <p:nvPr/>
        </p:nvSpPr>
        <p:spPr>
          <a:xfrm>
            <a:off x="1857375" y="5355771"/>
            <a:ext cx="643890" cy="405493"/>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2501265" y="5355771"/>
            <a:ext cx="643890" cy="405493"/>
          </a:xfrm>
          <a:prstGeom prst="rect">
            <a:avLst/>
          </a:prstGeom>
          <a:solidFill>
            <a:srgbClr val="92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3145155" y="5355771"/>
            <a:ext cx="643890" cy="405493"/>
          </a:xfrm>
          <a:prstGeom prst="rect">
            <a:avLst/>
          </a:prstGeom>
          <a:solidFill>
            <a:srgbClr val="8CB9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3789045" y="5355771"/>
            <a:ext cx="643890" cy="405493"/>
          </a:xfrm>
          <a:prstGeom prst="rect">
            <a:avLst/>
          </a:prstGeom>
          <a:solidFill>
            <a:srgbClr val="82B4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4432935" y="5355771"/>
            <a:ext cx="643890" cy="405493"/>
          </a:xfrm>
          <a:prstGeom prst="rect">
            <a:avLst/>
          </a:prstGeom>
          <a:solidFill>
            <a:srgbClr val="68A6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5076825" y="5355771"/>
            <a:ext cx="643890" cy="405493"/>
          </a:xfrm>
          <a:prstGeom prst="rect">
            <a:avLst/>
          </a:prstGeom>
          <a:solidFill>
            <a:srgbClr val="57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5720715" y="5355771"/>
            <a:ext cx="643890" cy="405493"/>
          </a:xfrm>
          <a:prstGeom prst="rect">
            <a:avLst/>
          </a:prstGeom>
          <a:solidFill>
            <a:srgbClr val="45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6364605" y="5355771"/>
            <a:ext cx="643890" cy="405493"/>
          </a:xfrm>
          <a:prstGeom prst="rect">
            <a:avLst/>
          </a:prstGeom>
          <a:solidFill>
            <a:srgbClr val="2F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7008495" y="5355771"/>
            <a:ext cx="643890" cy="405493"/>
          </a:xfrm>
          <a:prstGeom prst="rect">
            <a:avLst/>
          </a:prstGeom>
          <a:solidFill>
            <a:srgbClr val="18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7652385" y="5355771"/>
            <a:ext cx="643890" cy="405493"/>
          </a:xfrm>
          <a:prstGeom prst="rect">
            <a:avLst/>
          </a:prstGeom>
          <a:solidFill>
            <a:srgbClr val="0D5E9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8296275" y="5355771"/>
            <a:ext cx="643890" cy="405493"/>
          </a:xfrm>
          <a:prstGeom prst="rect">
            <a:avLst/>
          </a:prstGeom>
          <a:solidFill>
            <a:srgbClr val="0C3F6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8940165" y="5355771"/>
            <a:ext cx="643890" cy="405493"/>
          </a:xfrm>
          <a:prstGeom prst="rect">
            <a:avLst/>
          </a:prstGeom>
          <a:solidFill>
            <a:srgbClr val="0B314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9584055" y="5355771"/>
            <a:ext cx="643890" cy="405493"/>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10227945" y="5355771"/>
            <a:ext cx="643890" cy="405493"/>
          </a:xfrm>
          <a:prstGeom prst="rect">
            <a:avLst/>
          </a:prstGeom>
          <a:solidFill>
            <a:srgbClr val="0C3B5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0871835" y="5355771"/>
            <a:ext cx="643890" cy="405493"/>
          </a:xfrm>
          <a:prstGeom prst="rect">
            <a:avLst/>
          </a:prstGeom>
          <a:solidFill>
            <a:srgbClr val="0C476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238125" y="5761264"/>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Calcium &amp; Mineral</a:t>
            </a:r>
          </a:p>
        </p:txBody>
      </p:sp>
      <p:sp>
        <p:nvSpPr>
          <p:cNvPr id="113" name="Rectangle 112"/>
          <p:cNvSpPr/>
          <p:nvPr/>
        </p:nvSpPr>
        <p:spPr>
          <a:xfrm>
            <a:off x="1857375" y="5761264"/>
            <a:ext cx="643890" cy="405493"/>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2501265" y="5761264"/>
            <a:ext cx="643890" cy="405493"/>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3145155" y="5761264"/>
            <a:ext cx="643890" cy="405493"/>
          </a:xfrm>
          <a:prstGeom prst="rect">
            <a:avLst/>
          </a:prstGeom>
          <a:solidFill>
            <a:srgbClr val="FE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3789045" y="5761264"/>
            <a:ext cx="643890" cy="405493"/>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4432935" y="5761264"/>
            <a:ext cx="643890" cy="405493"/>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5076825" y="5761264"/>
            <a:ext cx="643890" cy="405493"/>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5720715" y="5761264"/>
            <a:ext cx="643890" cy="405493"/>
          </a:xfrm>
          <a:prstGeom prst="rect">
            <a:avLst/>
          </a:prstGeom>
          <a:solidFill>
            <a:srgbClr val="F7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6364605" y="5761264"/>
            <a:ext cx="643890" cy="405493"/>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7008495" y="5761264"/>
            <a:ext cx="643890" cy="405493"/>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7652385" y="5761264"/>
            <a:ext cx="643890" cy="405493"/>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8296275" y="5761264"/>
            <a:ext cx="643890" cy="405493"/>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a:off x="8940165" y="5761264"/>
            <a:ext cx="643890" cy="405493"/>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124"/>
          <p:cNvSpPr/>
          <p:nvPr/>
        </p:nvSpPr>
        <p:spPr>
          <a:xfrm>
            <a:off x="9584055" y="5761264"/>
            <a:ext cx="643890" cy="405493"/>
          </a:xfrm>
          <a:prstGeom prst="rect">
            <a:avLst/>
          </a:prstGeom>
          <a:solidFill>
            <a:srgbClr val="EB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25"/>
          <p:cNvSpPr/>
          <p:nvPr/>
        </p:nvSpPr>
        <p:spPr>
          <a:xfrm>
            <a:off x="10227945" y="5761264"/>
            <a:ext cx="643890" cy="405493"/>
          </a:xfrm>
          <a:prstGeom prst="rect">
            <a:avLst/>
          </a:prstGeom>
          <a:solidFill>
            <a:srgbClr val="EB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26"/>
          <p:cNvSpPr/>
          <p:nvPr/>
        </p:nvSpPr>
        <p:spPr>
          <a:xfrm>
            <a:off x="10871835" y="5761264"/>
            <a:ext cx="643890" cy="405493"/>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238125" y="6166757"/>
            <a:ext cx="1590675" cy="405493"/>
          </a:xfrm>
          <a:prstGeom prst="rect">
            <a:avLst/>
          </a:prstGeom>
          <a:noFill/>
        </p:spPr>
        <p:txBody>
          <a:bodyPr wrap="square" lIns="28575" tIns="9525" rIns="28575" bIns="9525" anchor="ctr">
            <a:spAutoFit/>
          </a:bodyPr>
          <a:lstStyle/>
          <a:p>
            <a:pPr algn="l"/>
            <a:r>
              <a:rPr sz="1100" b="0">
                <a:solidFill>
                  <a:srgbClr val="2E2E2E"/>
                </a:solidFill>
                <a:latin typeface="Calibri"/>
              </a:rPr>
              <a:t>Probiotic</a:t>
            </a:r>
          </a:p>
        </p:txBody>
      </p:sp>
      <p:sp>
        <p:nvSpPr>
          <p:cNvPr id="129" name="Rectangle 128"/>
          <p:cNvSpPr/>
          <p:nvPr/>
        </p:nvSpPr>
        <p:spPr>
          <a:xfrm>
            <a:off x="1857375" y="6166757"/>
            <a:ext cx="643890" cy="405493"/>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ectangle 129"/>
          <p:cNvSpPr/>
          <p:nvPr/>
        </p:nvSpPr>
        <p:spPr>
          <a:xfrm>
            <a:off x="2501265" y="6166757"/>
            <a:ext cx="643890" cy="405493"/>
          </a:xfrm>
          <a:prstGeom prst="rect">
            <a:avLst/>
          </a:prstGeom>
          <a:solidFill>
            <a:srgbClr val="D8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ectangle 130"/>
          <p:cNvSpPr/>
          <p:nvPr/>
        </p:nvSpPr>
        <p:spPr>
          <a:xfrm>
            <a:off x="3145155" y="6166757"/>
            <a:ext cx="643890" cy="405493"/>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Rectangle 131"/>
          <p:cNvSpPr/>
          <p:nvPr/>
        </p:nvSpPr>
        <p:spPr>
          <a:xfrm>
            <a:off x="3789045" y="6166757"/>
            <a:ext cx="643890" cy="405493"/>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p:cNvSpPr/>
          <p:nvPr/>
        </p:nvSpPr>
        <p:spPr>
          <a:xfrm>
            <a:off x="4432935" y="6166757"/>
            <a:ext cx="643890" cy="405493"/>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angle 133"/>
          <p:cNvSpPr/>
          <p:nvPr/>
        </p:nvSpPr>
        <p:spPr>
          <a:xfrm>
            <a:off x="5076825" y="6166757"/>
            <a:ext cx="643890" cy="405493"/>
          </a:xfrm>
          <a:prstGeom prst="rect">
            <a:avLst/>
          </a:prstGeom>
          <a:solidFill>
            <a:srgbClr val="B6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5720715" y="6166757"/>
            <a:ext cx="643890" cy="405493"/>
          </a:xfrm>
          <a:prstGeom prst="rect">
            <a:avLst/>
          </a:prstGeom>
          <a:solidFill>
            <a:srgbClr val="99C1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Rectangle 135"/>
          <p:cNvSpPr/>
          <p:nvPr/>
        </p:nvSpPr>
        <p:spPr>
          <a:xfrm>
            <a:off x="6364605" y="6166757"/>
            <a:ext cx="643890" cy="405493"/>
          </a:xfrm>
          <a:prstGeom prst="rect">
            <a:avLst/>
          </a:prstGeom>
          <a:solidFill>
            <a:srgbClr val="76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7008495" y="6166757"/>
            <a:ext cx="643890" cy="405493"/>
          </a:xfrm>
          <a:prstGeom prst="rect">
            <a:avLst/>
          </a:prstGeom>
          <a:solidFill>
            <a:srgbClr val="539B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ectangle 137"/>
          <p:cNvSpPr/>
          <p:nvPr/>
        </p:nvSpPr>
        <p:spPr>
          <a:xfrm>
            <a:off x="7652385" y="6166757"/>
            <a:ext cx="643890" cy="405493"/>
          </a:xfrm>
          <a:prstGeom prst="rect">
            <a:avLst/>
          </a:prstGeom>
          <a:solidFill>
            <a:srgbClr val="3C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ectangle 138"/>
          <p:cNvSpPr/>
          <p:nvPr/>
        </p:nvSpPr>
        <p:spPr>
          <a:xfrm>
            <a:off x="8296275" y="6166757"/>
            <a:ext cx="643890" cy="405493"/>
          </a:xfrm>
          <a:prstGeom prst="rect">
            <a:avLst/>
          </a:prstGeom>
          <a:solidFill>
            <a:srgbClr val="30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ectangle 139"/>
          <p:cNvSpPr/>
          <p:nvPr/>
        </p:nvSpPr>
        <p:spPr>
          <a:xfrm>
            <a:off x="8940165" y="6166757"/>
            <a:ext cx="643890" cy="405493"/>
          </a:xfrm>
          <a:prstGeom prst="rect">
            <a:avLst/>
          </a:prstGeom>
          <a:solidFill>
            <a:srgbClr val="2B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Rectangle 140"/>
          <p:cNvSpPr/>
          <p:nvPr/>
        </p:nvSpPr>
        <p:spPr>
          <a:xfrm>
            <a:off x="9584055" y="6166757"/>
            <a:ext cx="643890" cy="405493"/>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Rectangle 141"/>
          <p:cNvSpPr/>
          <p:nvPr/>
        </p:nvSpPr>
        <p:spPr>
          <a:xfrm>
            <a:off x="10227945" y="6166757"/>
            <a:ext cx="643890" cy="405493"/>
          </a:xfrm>
          <a:prstGeom prst="rect">
            <a:avLst/>
          </a:prstGeom>
          <a:solidFill>
            <a:srgbClr val="2E85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Rectangle 142"/>
          <p:cNvSpPr/>
          <p:nvPr/>
        </p:nvSpPr>
        <p:spPr>
          <a:xfrm>
            <a:off x="10871835" y="6166757"/>
            <a:ext cx="643890" cy="405493"/>
          </a:xfrm>
          <a:prstGeom prst="rect">
            <a:avLst/>
          </a:prstGeom>
          <a:solidFill>
            <a:srgbClr val="3389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Rectangle 143"/>
          <p:cNvSpPr/>
          <p:nvPr/>
        </p:nvSpPr>
        <p:spPr>
          <a:xfrm>
            <a:off x="11572875" y="3771900"/>
            <a:ext cx="104775" cy="76676"/>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ectangle 144"/>
          <p:cNvSpPr/>
          <p:nvPr/>
        </p:nvSpPr>
        <p:spPr>
          <a:xfrm>
            <a:off x="11572875" y="3840956"/>
            <a:ext cx="104775" cy="76676"/>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ectangle 145"/>
          <p:cNvSpPr/>
          <p:nvPr/>
        </p:nvSpPr>
        <p:spPr>
          <a:xfrm>
            <a:off x="11572875" y="3910012"/>
            <a:ext cx="104775" cy="76676"/>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Rectangle 146"/>
          <p:cNvSpPr/>
          <p:nvPr/>
        </p:nvSpPr>
        <p:spPr>
          <a:xfrm>
            <a:off x="11572875" y="3979069"/>
            <a:ext cx="104775" cy="76676"/>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Rectangle 147"/>
          <p:cNvSpPr/>
          <p:nvPr/>
        </p:nvSpPr>
        <p:spPr>
          <a:xfrm>
            <a:off x="11572875" y="4048125"/>
            <a:ext cx="104775" cy="76676"/>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ectangle 148"/>
          <p:cNvSpPr/>
          <p:nvPr/>
        </p:nvSpPr>
        <p:spPr>
          <a:xfrm>
            <a:off x="11572875" y="4117181"/>
            <a:ext cx="104775" cy="76676"/>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ectangle 149"/>
          <p:cNvSpPr/>
          <p:nvPr/>
        </p:nvSpPr>
        <p:spPr>
          <a:xfrm>
            <a:off x="11572875" y="4186238"/>
            <a:ext cx="104775" cy="76676"/>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ectangle 150"/>
          <p:cNvSpPr/>
          <p:nvPr/>
        </p:nvSpPr>
        <p:spPr>
          <a:xfrm>
            <a:off x="11572875" y="4255294"/>
            <a:ext cx="104775" cy="76676"/>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ectangle 151"/>
          <p:cNvSpPr/>
          <p:nvPr/>
        </p:nvSpPr>
        <p:spPr>
          <a:xfrm>
            <a:off x="11572875" y="4324350"/>
            <a:ext cx="104775" cy="76676"/>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ectangle 152"/>
          <p:cNvSpPr/>
          <p:nvPr/>
        </p:nvSpPr>
        <p:spPr>
          <a:xfrm>
            <a:off x="11572875" y="4393406"/>
            <a:ext cx="104775" cy="76676"/>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ectangle 153"/>
          <p:cNvSpPr/>
          <p:nvPr/>
        </p:nvSpPr>
        <p:spPr>
          <a:xfrm>
            <a:off x="11572875" y="4462462"/>
            <a:ext cx="104775" cy="76676"/>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Rectangle 154"/>
          <p:cNvSpPr/>
          <p:nvPr/>
        </p:nvSpPr>
        <p:spPr>
          <a:xfrm>
            <a:off x="11572875" y="4531519"/>
            <a:ext cx="104775" cy="76676"/>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Rectangle 155"/>
          <p:cNvSpPr/>
          <p:nvPr/>
        </p:nvSpPr>
        <p:spPr>
          <a:xfrm>
            <a:off x="11572875" y="4600575"/>
            <a:ext cx="104775" cy="76676"/>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ectangle 156"/>
          <p:cNvSpPr/>
          <p:nvPr/>
        </p:nvSpPr>
        <p:spPr>
          <a:xfrm>
            <a:off x="11572875" y="4669631"/>
            <a:ext cx="104775" cy="76676"/>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ectangle 157"/>
          <p:cNvSpPr/>
          <p:nvPr/>
        </p:nvSpPr>
        <p:spPr>
          <a:xfrm>
            <a:off x="11572875" y="4738688"/>
            <a:ext cx="104775" cy="76676"/>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Rectangle 158"/>
          <p:cNvSpPr/>
          <p:nvPr/>
        </p:nvSpPr>
        <p:spPr>
          <a:xfrm>
            <a:off x="11572875" y="4807744"/>
            <a:ext cx="104775" cy="76676"/>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ectangle 159"/>
          <p:cNvSpPr/>
          <p:nvPr/>
        </p:nvSpPr>
        <p:spPr>
          <a:xfrm>
            <a:off x="11572875" y="4876800"/>
            <a:ext cx="104775" cy="76676"/>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Rectangle 160"/>
          <p:cNvSpPr/>
          <p:nvPr/>
        </p:nvSpPr>
        <p:spPr>
          <a:xfrm>
            <a:off x="11572875" y="4945856"/>
            <a:ext cx="104775" cy="76676"/>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Rectangle 161"/>
          <p:cNvSpPr/>
          <p:nvPr/>
        </p:nvSpPr>
        <p:spPr>
          <a:xfrm>
            <a:off x="11572875" y="5014912"/>
            <a:ext cx="104775" cy="76676"/>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Rectangle 162"/>
          <p:cNvSpPr/>
          <p:nvPr/>
        </p:nvSpPr>
        <p:spPr>
          <a:xfrm>
            <a:off x="11572875" y="5083969"/>
            <a:ext cx="104775" cy="76676"/>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Rectangle 163"/>
          <p:cNvSpPr/>
          <p:nvPr/>
        </p:nvSpPr>
        <p:spPr>
          <a:xfrm>
            <a:off x="11572875" y="5153025"/>
            <a:ext cx="104775" cy="76676"/>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Rectangle 164"/>
          <p:cNvSpPr/>
          <p:nvPr/>
        </p:nvSpPr>
        <p:spPr>
          <a:xfrm>
            <a:off x="11572875" y="5222081"/>
            <a:ext cx="104775" cy="76676"/>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Rectangle 165"/>
          <p:cNvSpPr/>
          <p:nvPr/>
        </p:nvSpPr>
        <p:spPr>
          <a:xfrm>
            <a:off x="11572875" y="5291138"/>
            <a:ext cx="104775" cy="76676"/>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Rectangle 166"/>
          <p:cNvSpPr/>
          <p:nvPr/>
        </p:nvSpPr>
        <p:spPr>
          <a:xfrm>
            <a:off x="11572875" y="5360194"/>
            <a:ext cx="104775" cy="76676"/>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Rectangle 167"/>
          <p:cNvSpPr/>
          <p:nvPr/>
        </p:nvSpPr>
        <p:spPr>
          <a:xfrm>
            <a:off x="11572875" y="5429250"/>
            <a:ext cx="104775" cy="76676"/>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Rectangle 168"/>
          <p:cNvSpPr/>
          <p:nvPr/>
        </p:nvSpPr>
        <p:spPr>
          <a:xfrm>
            <a:off x="11572875" y="5498306"/>
            <a:ext cx="104775" cy="76676"/>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Rectangle 169"/>
          <p:cNvSpPr/>
          <p:nvPr/>
        </p:nvSpPr>
        <p:spPr>
          <a:xfrm>
            <a:off x="11572875" y="5567362"/>
            <a:ext cx="104775" cy="76676"/>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Rectangle 170"/>
          <p:cNvSpPr/>
          <p:nvPr/>
        </p:nvSpPr>
        <p:spPr>
          <a:xfrm>
            <a:off x="11572875" y="5636419"/>
            <a:ext cx="104775" cy="76676"/>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Rectangle 171"/>
          <p:cNvSpPr/>
          <p:nvPr/>
        </p:nvSpPr>
        <p:spPr>
          <a:xfrm>
            <a:off x="11572875" y="5705475"/>
            <a:ext cx="104775" cy="76676"/>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Rectangle 172"/>
          <p:cNvSpPr/>
          <p:nvPr/>
        </p:nvSpPr>
        <p:spPr>
          <a:xfrm>
            <a:off x="11572875" y="5774531"/>
            <a:ext cx="104775" cy="76676"/>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Rectangle 173"/>
          <p:cNvSpPr/>
          <p:nvPr/>
        </p:nvSpPr>
        <p:spPr>
          <a:xfrm>
            <a:off x="11572875" y="5843588"/>
            <a:ext cx="104775" cy="76676"/>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Rectangle 174"/>
          <p:cNvSpPr/>
          <p:nvPr/>
        </p:nvSpPr>
        <p:spPr>
          <a:xfrm>
            <a:off x="11572875" y="5912644"/>
            <a:ext cx="104775" cy="76676"/>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Rectangle 175"/>
          <p:cNvSpPr/>
          <p:nvPr/>
        </p:nvSpPr>
        <p:spPr>
          <a:xfrm>
            <a:off x="11572875" y="5981700"/>
            <a:ext cx="104775" cy="76676"/>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Rectangle 176"/>
          <p:cNvSpPr/>
          <p:nvPr/>
        </p:nvSpPr>
        <p:spPr>
          <a:xfrm>
            <a:off x="11572875" y="6050756"/>
            <a:ext cx="104775" cy="76676"/>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Rectangle 177"/>
          <p:cNvSpPr/>
          <p:nvPr/>
        </p:nvSpPr>
        <p:spPr>
          <a:xfrm>
            <a:off x="11572875" y="6119812"/>
            <a:ext cx="104775" cy="76676"/>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Rectangle 178"/>
          <p:cNvSpPr/>
          <p:nvPr/>
        </p:nvSpPr>
        <p:spPr>
          <a:xfrm>
            <a:off x="11572875" y="6188869"/>
            <a:ext cx="104775" cy="76676"/>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Rectangle 179"/>
          <p:cNvSpPr/>
          <p:nvPr/>
        </p:nvSpPr>
        <p:spPr>
          <a:xfrm>
            <a:off x="11572875" y="6257925"/>
            <a:ext cx="104775" cy="76676"/>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Rectangle 180"/>
          <p:cNvSpPr/>
          <p:nvPr/>
        </p:nvSpPr>
        <p:spPr>
          <a:xfrm>
            <a:off x="11572875" y="6326981"/>
            <a:ext cx="104775" cy="76676"/>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Rectangle 181"/>
          <p:cNvSpPr/>
          <p:nvPr/>
        </p:nvSpPr>
        <p:spPr>
          <a:xfrm>
            <a:off x="11572875" y="6396038"/>
            <a:ext cx="104775" cy="76676"/>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Rectangle 182"/>
          <p:cNvSpPr/>
          <p:nvPr/>
        </p:nvSpPr>
        <p:spPr>
          <a:xfrm>
            <a:off x="11572875" y="6465094"/>
            <a:ext cx="104775" cy="76676"/>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Rectangle 183"/>
          <p:cNvSpPr/>
          <p:nvPr/>
        </p:nvSpPr>
        <p:spPr>
          <a:xfrm>
            <a:off x="11572875" y="3771900"/>
            <a:ext cx="104775" cy="27622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TextBox 184"/>
          <p:cNvSpPr txBox="1"/>
          <p:nvPr/>
        </p:nvSpPr>
        <p:spPr>
          <a:xfrm>
            <a:off x="11687175" y="3705225"/>
            <a:ext cx="276225" cy="133350"/>
          </a:xfrm>
          <a:prstGeom prst="rect">
            <a:avLst/>
          </a:prstGeom>
          <a:noFill/>
        </p:spPr>
        <p:txBody>
          <a:bodyPr wrap="none" lIns="0" tIns="0" rIns="0" bIns="0" anchor="ctr">
            <a:spAutoFit/>
          </a:bodyPr>
          <a:lstStyle/>
          <a:p>
            <a:pPr algn="l"/>
            <a:r>
              <a:rPr sz="1100" b="0">
                <a:solidFill>
                  <a:srgbClr val="6C7A89"/>
                </a:solidFill>
                <a:latin typeface="Calibri"/>
              </a:rPr>
              <a:t>14%</a:t>
            </a:r>
          </a:p>
        </p:txBody>
      </p:sp>
      <p:sp>
        <p:nvSpPr>
          <p:cNvPr id="186" name="TextBox 185"/>
          <p:cNvSpPr txBox="1"/>
          <p:nvPr/>
        </p:nvSpPr>
        <p:spPr>
          <a:xfrm>
            <a:off x="11687175" y="5086350"/>
            <a:ext cx="276225" cy="133350"/>
          </a:xfrm>
          <a:prstGeom prst="rect">
            <a:avLst/>
          </a:prstGeom>
          <a:noFill/>
        </p:spPr>
        <p:txBody>
          <a:bodyPr wrap="none" lIns="0" tIns="0" rIns="0" bIns="0" anchor="ctr">
            <a:spAutoFit/>
          </a:bodyPr>
          <a:lstStyle/>
          <a:p>
            <a:pPr algn="l"/>
            <a:r>
              <a:rPr sz="1100" b="0">
                <a:solidFill>
                  <a:srgbClr val="6C7A89"/>
                </a:solidFill>
                <a:latin typeface="Calibri"/>
              </a:rPr>
              <a:t>8%</a:t>
            </a:r>
          </a:p>
        </p:txBody>
      </p:sp>
      <p:sp>
        <p:nvSpPr>
          <p:cNvPr id="187" name="TextBox 186"/>
          <p:cNvSpPr txBox="1"/>
          <p:nvPr/>
        </p:nvSpPr>
        <p:spPr>
          <a:xfrm>
            <a:off x="11687175" y="6467475"/>
            <a:ext cx="276225" cy="133350"/>
          </a:xfrm>
          <a:prstGeom prst="rect">
            <a:avLst/>
          </a:prstGeom>
          <a:noFill/>
        </p:spPr>
        <p:txBody>
          <a:bodyPr wrap="none" lIns="0" tIns="0" rIns="0" bIns="0" anchor="ctr">
            <a:spAutoFit/>
          </a:bodyPr>
          <a:lstStyle/>
          <a:p>
            <a:pPr algn="l"/>
            <a:r>
              <a:rPr sz="1100" b="0">
                <a:solidFill>
                  <a:srgbClr val="6C7A89"/>
                </a:solidFill>
                <a:latin typeface="Calibri"/>
              </a:rPr>
              <a:t>2%</a:t>
            </a:r>
          </a:p>
        </p:txBody>
      </p:sp>
      <p:sp>
        <p:nvSpPr>
          <p:cNvPr id="188" name="TextBox 18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7.3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Prenatal Vitamin Supplements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Sales Channel</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By Sales Channel Segment Outlook</a:t>
            </a:r>
          </a:p>
          <a:p>
            <a:pPr marL="342900" indent="-323850">
              <a:lnSpc>
                <a:spcPct val="100000"/>
              </a:lnSpc>
              <a:spcAft>
                <a:spcPts val="800"/>
              </a:spcAft>
            </a:pPr>
            <a:r>
              <a:rPr sz="2000" b="0">
                <a:solidFill>
                  <a:srgbClr val="000000"/>
                </a:solidFill>
                <a:latin typeface="Calibri"/>
              </a:rPr>
              <a:t>➤	Market Structure &amp; Attractiveness</a:t>
            </a:r>
          </a:p>
          <a:p>
            <a:pPr marL="342900" indent="-323850">
              <a:lnSpc>
                <a:spcPct val="100000"/>
              </a:lnSpc>
              <a:spcAft>
                <a:spcPts val="800"/>
              </a:spcAft>
            </a:pPr>
            <a:r>
              <a:rPr sz="2000" b="0">
                <a:solidFill>
                  <a:srgbClr val="000000"/>
                </a:solidFill>
                <a:latin typeface="Calibri"/>
              </a:rPr>
              <a:t>➤	Absolute $ Analysis</a:t>
            </a:r>
          </a:p>
          <a:p>
            <a:pPr marL="342900" indent="-323850">
              <a:lnSpc>
                <a:spcPct val="100000"/>
              </a:lnSpc>
              <a:spcAft>
                <a:spcPts val="800"/>
              </a:spcAft>
            </a:pPr>
            <a:r>
              <a:rPr sz="2000" b="0">
                <a:solidFill>
                  <a:srgbClr val="000000"/>
                </a:solidFill>
                <a:latin typeface="Calibri"/>
              </a:rPr>
              <a:t>➤	Market Volume Analysis</a:t>
            </a:r>
          </a:p>
          <a:p>
            <a:pPr marL="342900" indent="-323850">
              <a:lnSpc>
                <a:spcPct val="100000"/>
              </a:lnSpc>
              <a:spcAft>
                <a:spcPts val="800"/>
              </a:spcAft>
            </a:pPr>
            <a:r>
              <a:rPr sz="2000" b="0">
                <a:solidFill>
                  <a:srgbClr val="000000"/>
                </a:solidFill>
                <a:latin typeface="Calibri"/>
              </a:rPr>
              <a:t>➤	Market Value Analysis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By Sales Channel Segment Outlook</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Segment analysis of market size, growth and share across 6 sub-segments of Sales Channel,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TextBox 10"/>
          <p:cNvSpPr txBox="1"/>
          <p:nvPr/>
        </p:nvSpPr>
        <p:spPr>
          <a:xfrm>
            <a:off x="323850" y="1007261"/>
            <a:ext cx="11544300" cy="310313"/>
          </a:xfrm>
          <a:prstGeom prst="rect">
            <a:avLst/>
          </a:prstGeom>
          <a:noFill/>
        </p:spPr>
        <p:txBody>
          <a:bodyPr wrap="square" lIns="28575" tIns="9525" rIns="28575" bIns="9525">
            <a:spAutoFit/>
          </a:bodyPr>
          <a:lstStyle/>
          <a:p>
            <a:pPr algn="l"/>
            <a:r>
              <a:rPr sz="1150" b="0">
                <a:solidFill>
                  <a:srgbClr val="2E2E2E"/>
                </a:solidFill>
                <a:latin typeface="Calibri"/>
              </a:rPr>
              <a:t>The Sales Channel segment categorizes the market by sales channel.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9575" y="1773916"/>
            <a:ext cx="1295400" cy="438089"/>
          </a:xfrm>
          <a:prstGeom prst="rect">
            <a:avLst/>
          </a:prstGeom>
          <a:noFill/>
        </p:spPr>
        <p:txBody>
          <a:bodyPr wrap="square" lIns="28575" tIns="9525" rIns="2857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9575" y="22302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09575" y="272310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09575" y="3215959"/>
            <a:ext cx="1295400" cy="474596"/>
          </a:xfrm>
          <a:prstGeom prst="rect">
            <a:avLst/>
          </a:prstGeom>
          <a:noFill/>
        </p:spPr>
        <p:txBody>
          <a:bodyPr wrap="square" lIns="28575" tIns="9525" rIns="2857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9050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Amazon / Online Marketplaces</a:t>
            </a:r>
          </a:p>
        </p:txBody>
      </p:sp>
      <p:sp>
        <p:nvSpPr>
          <p:cNvPr id="23" name="Rectangle 22"/>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73.7</a:t>
            </a:r>
          </a:p>
        </p:txBody>
      </p:sp>
      <p:sp>
        <p:nvSpPr>
          <p:cNvPr id="24" name="Rectangle 23"/>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169.1</a:t>
            </a:r>
          </a:p>
        </p:txBody>
      </p:sp>
      <p:sp>
        <p:nvSpPr>
          <p:cNvPr id="25" name="Rectangle 24"/>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B2E4A"/>
                </a:solidFill>
                <a:latin typeface="Calibri"/>
              </a:rPr>
              <a:t>8.7%</a:t>
            </a:r>
          </a:p>
        </p:txBody>
      </p:sp>
      <p:sp>
        <p:nvSpPr>
          <p:cNvPr id="26" name="Oval 25"/>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a:t>
            </a:r>
          </a:p>
        </p:txBody>
      </p:sp>
      <p:sp>
        <p:nvSpPr>
          <p:cNvPr id="27" name="Rounded Rectangle 26"/>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5909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Mass Retail</a:t>
            </a:r>
          </a:p>
        </p:txBody>
      </p:sp>
      <p:sp>
        <p:nvSpPr>
          <p:cNvPr id="30" name="Rectangle 29"/>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E72AE"/>
                </a:solidFill>
                <a:latin typeface="Calibri"/>
              </a:rPr>
              <a:t>63.4</a:t>
            </a:r>
          </a:p>
        </p:txBody>
      </p:sp>
      <p:sp>
        <p:nvSpPr>
          <p:cNvPr id="31" name="Rectangle 30"/>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E72AE"/>
                </a:solidFill>
                <a:latin typeface="Calibri"/>
              </a:rPr>
              <a:t>95.2</a:t>
            </a:r>
          </a:p>
        </p:txBody>
      </p:sp>
      <p:sp>
        <p:nvSpPr>
          <p:cNvPr id="32" name="Rectangle 31"/>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E72AE"/>
                </a:solidFill>
                <a:latin typeface="Calibri"/>
              </a:rPr>
              <a:t>4.2%</a:t>
            </a:r>
          </a:p>
        </p:txBody>
      </p:sp>
      <p:sp>
        <p:nvSpPr>
          <p:cNvPr id="33" name="Oval 32"/>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2</a:t>
            </a:r>
          </a:p>
        </p:txBody>
      </p:sp>
      <p:sp>
        <p:nvSpPr>
          <p:cNvPr id="34" name="Rounded Rectangle 33"/>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27685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Pharmacy / Drugstores</a:t>
            </a:r>
          </a:p>
        </p:txBody>
      </p:sp>
      <p:sp>
        <p:nvSpPr>
          <p:cNvPr id="37" name="Rectangle 36"/>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08189"/>
                </a:solidFill>
                <a:latin typeface="Calibri"/>
              </a:rPr>
              <a:t>48.6</a:t>
            </a:r>
          </a:p>
        </p:txBody>
      </p:sp>
      <p:sp>
        <p:nvSpPr>
          <p:cNvPr id="38" name="Rectangle 37"/>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08189"/>
                </a:solidFill>
                <a:latin typeface="Calibri"/>
              </a:rPr>
              <a:t>59.5</a:t>
            </a:r>
          </a:p>
        </p:txBody>
      </p:sp>
      <p:sp>
        <p:nvSpPr>
          <p:cNvPr id="39" name="Rectangle 38"/>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008189"/>
                </a:solidFill>
                <a:latin typeface="Calibri"/>
              </a:rPr>
              <a:t>2.0%</a:t>
            </a:r>
          </a:p>
        </p:txBody>
      </p:sp>
      <p:sp>
        <p:nvSpPr>
          <p:cNvPr id="40" name="Oval 39"/>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3</a:t>
            </a:r>
          </a:p>
        </p:txBody>
      </p:sp>
      <p:sp>
        <p:nvSpPr>
          <p:cNvPr id="41" name="Rounded Rectangle 40"/>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96277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Direct-to-Consumer / Brand Website</a:t>
            </a:r>
          </a:p>
        </p:txBody>
      </p:sp>
      <p:sp>
        <p:nvSpPr>
          <p:cNvPr id="44" name="Rectangle 43"/>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F3CC2"/>
                </a:solidFill>
                <a:latin typeface="Calibri"/>
              </a:rPr>
              <a:t>29.9</a:t>
            </a:r>
          </a:p>
        </p:txBody>
      </p:sp>
      <p:sp>
        <p:nvSpPr>
          <p:cNvPr id="45" name="Rectangle 44"/>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F3CC2"/>
                </a:solidFill>
                <a:latin typeface="Calibri"/>
              </a:rPr>
              <a:t>87.9</a:t>
            </a:r>
          </a:p>
        </p:txBody>
      </p:sp>
      <p:sp>
        <p:nvSpPr>
          <p:cNvPr id="46" name="Rectangle 45"/>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6F3CC2"/>
                </a:solidFill>
                <a:latin typeface="Calibri"/>
              </a:rPr>
              <a:t>11.4%</a:t>
            </a:r>
          </a:p>
        </p:txBody>
      </p:sp>
      <p:sp>
        <p:nvSpPr>
          <p:cNvPr id="47" name="Oval 46"/>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4</a:t>
            </a:r>
          </a:p>
        </p:txBody>
      </p:sp>
      <p:sp>
        <p:nvSpPr>
          <p:cNvPr id="48" name="Rounded Rectangle 47"/>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648700"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Specialty Health &amp; Wellness Retail</a:t>
            </a:r>
          </a:p>
        </p:txBody>
      </p:sp>
      <p:sp>
        <p:nvSpPr>
          <p:cNvPr id="51" name="Rectangle 50"/>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86F00"/>
                </a:solidFill>
                <a:latin typeface="Calibri"/>
              </a:rPr>
              <a:t>11.1</a:t>
            </a:r>
          </a:p>
        </p:txBody>
      </p:sp>
      <p:sp>
        <p:nvSpPr>
          <p:cNvPr id="52" name="Rectangle 51"/>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86F00"/>
                </a:solidFill>
                <a:latin typeface="Calibri"/>
              </a:rPr>
              <a:t>19.8</a:t>
            </a:r>
          </a:p>
        </p:txBody>
      </p:sp>
      <p:sp>
        <p:nvSpPr>
          <p:cNvPr id="53" name="Rectangle 52"/>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86F00"/>
                </a:solidFill>
                <a:latin typeface="Calibri"/>
              </a:rPr>
              <a:t>6.0%</a:t>
            </a:r>
          </a:p>
        </p:txBody>
      </p:sp>
      <p:sp>
        <p:nvSpPr>
          <p:cNvPr id="54" name="Oval 53"/>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5</a:t>
            </a:r>
          </a:p>
        </p:txBody>
      </p:sp>
      <p:sp>
        <p:nvSpPr>
          <p:cNvPr id="55" name="Rounded Rectangle 54"/>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0334625" y="1773916"/>
            <a:ext cx="1495425" cy="438089"/>
          </a:xfrm>
          <a:prstGeom prst="rect">
            <a:avLst/>
          </a:prstGeom>
          <a:noFill/>
        </p:spPr>
        <p:txBody>
          <a:bodyPr wrap="square" lIns="28575" tIns="9525" rIns="28575" bIns="9525" anchor="ctr">
            <a:spAutoFit/>
          </a:bodyPr>
          <a:lstStyle/>
          <a:p>
            <a:pPr algn="ctr"/>
            <a:r>
              <a:rPr sz="1100" b="1">
                <a:solidFill>
                  <a:srgbClr val="FFFFFF"/>
                </a:solidFill>
                <a:latin typeface="Calibri"/>
              </a:rPr>
              <a:t>Practitioner / Clinic Channel</a:t>
            </a:r>
          </a:p>
        </p:txBody>
      </p:sp>
      <p:sp>
        <p:nvSpPr>
          <p:cNvPr id="58" name="Rectangle 57"/>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35313"/>
                </a:solidFill>
                <a:latin typeface="Calibri"/>
              </a:rPr>
              <a:t>3.90</a:t>
            </a:r>
          </a:p>
        </p:txBody>
      </p:sp>
      <p:sp>
        <p:nvSpPr>
          <p:cNvPr id="59" name="Rectangle 58"/>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35313"/>
                </a:solidFill>
                <a:latin typeface="Calibri"/>
              </a:rPr>
              <a:t>6.33</a:t>
            </a:r>
          </a:p>
        </p:txBody>
      </p:sp>
      <p:sp>
        <p:nvSpPr>
          <p:cNvPr id="60" name="Rectangle 59"/>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500" b="1">
                <a:solidFill>
                  <a:srgbClr val="A35313"/>
                </a:solidFill>
                <a:latin typeface="Calibri"/>
              </a:rPr>
              <a:t>5.0%</a:t>
            </a:r>
          </a:p>
        </p:txBody>
      </p:sp>
      <p:sp>
        <p:nvSpPr>
          <p:cNvPr id="61" name="Oval 60"/>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6</a:t>
            </a:r>
          </a:p>
        </p:txBody>
      </p:sp>
      <p:sp>
        <p:nvSpPr>
          <p:cNvPr id="62" name="Rounded Rectangle 61"/>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57200" y="3946106"/>
            <a:ext cx="2971800" cy="182537"/>
          </a:xfrm>
          <a:prstGeom prst="rect">
            <a:avLst/>
          </a:prstGeom>
          <a:noFill/>
        </p:spPr>
        <p:txBody>
          <a:bodyPr wrap="square" lIns="28575" tIns="9525" rIns="28575" bIns="9525">
            <a:spAutoFit/>
          </a:bodyPr>
          <a:lstStyle/>
          <a:p>
            <a:pPr algn="l"/>
            <a:r>
              <a:rPr sz="1250" b="1">
                <a:solidFill>
                  <a:srgbClr val="0B2E4A"/>
                </a:solidFill>
                <a:latin typeface="Calibri"/>
              </a:rPr>
              <a:t>Key Highlights</a:t>
            </a:r>
          </a:p>
        </p:txBody>
      </p:sp>
      <p:sp>
        <p:nvSpPr>
          <p:cNvPr id="64" name="Rectangle 63"/>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4219912"/>
            <a:ext cx="2971800" cy="2117429"/>
          </a:xfrm>
          <a:prstGeom prst="rect">
            <a:avLst/>
          </a:prstGeom>
          <a:noFill/>
        </p:spPr>
        <p:txBody>
          <a:bodyPr wrap="square" lIns="28575" tIns="9525" rIns="28575" bIns="9525">
            <a:spAutoFit/>
          </a:bodyPr>
          <a:lstStyle/>
          <a:p>
            <a:pPr algn="l">
              <a:lnSpc>
                <a:spcPct val="105000"/>
              </a:lnSpc>
              <a:spcBef>
                <a:spcPts val="0"/>
              </a:spcBef>
              <a:spcAft>
                <a:spcPts val="300"/>
              </a:spcAft>
            </a:pPr>
            <a:r>
              <a:rPr sz="1100" b="0">
                <a:solidFill>
                  <a:srgbClr val="0E72AE"/>
                </a:solidFill>
                <a:latin typeface="Calibri"/>
              </a:rPr>
              <a:t>▪  </a:t>
            </a:r>
            <a:r>
              <a:rPr sz="1100" b="0">
                <a:solidFill>
                  <a:srgbClr val="2E2E2E"/>
                </a:solidFill>
                <a:latin typeface="Calibri"/>
              </a:rPr>
              <a:t>¶ Among prenatal vitamin supplements by sales channel, direct-to-consumer / brand website segment is expected to witness the highest CAGR of 11.4% over the forecast period. In terms of value share by sales channel, the amazon / online marketplaces segment is expected to dominate the market, gaining 665 BPS and accounting for 38.6% share by 2036.</a:t>
            </a:r>
          </a:p>
          <a:p>
            <a:pPr algn="l">
              <a:lnSpc>
                <a:spcPct val="105000"/>
              </a:lnSpc>
              <a:spcBef>
                <a:spcPts val="0"/>
              </a:spcBef>
              <a:spcAft>
                <a:spcPts val="300"/>
              </a:spcAft>
            </a:pPr>
            <a:r>
              <a:rPr sz="1100" b="0">
                <a:solidFill>
                  <a:srgbClr val="0E72AE"/>
                </a:solidFill>
                <a:latin typeface="Calibri"/>
              </a:rPr>
              <a:t>▪  </a:t>
            </a:r>
            <a:r>
              <a:rPr sz="1100" b="0">
                <a:solidFill>
                  <a:srgbClr val="2E2E2E"/>
                </a:solidFill>
                <a:latin typeface="Calibri"/>
              </a:rPr>
              <a:t>¶ Amazon / online marketplaces segment is projected to register 1.8X higher value than mass retail segment in 2036.</a:t>
            </a:r>
          </a:p>
        </p:txBody>
      </p:sp>
      <p:sp>
        <p:nvSpPr>
          <p:cNvPr id="66" name="Rounded Rectangle 65"/>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810000" y="3946106"/>
            <a:ext cx="4210050" cy="182537"/>
          </a:xfrm>
          <a:prstGeom prst="rect">
            <a:avLst/>
          </a:prstGeom>
          <a:noFill/>
        </p:spPr>
        <p:txBody>
          <a:bodyPr wrap="square" lIns="28575" tIns="9525" rIns="28575" bIns="9525">
            <a:spAutoFit/>
          </a:bodyPr>
          <a:lstStyle/>
          <a:p>
            <a:pPr algn="l"/>
            <a:r>
              <a:rPr sz="1250" b="1">
                <a:solidFill>
                  <a:srgbClr val="0B2E4A"/>
                </a:solidFill>
                <a:latin typeface="Calibri"/>
              </a:rPr>
              <a:t>Sub-Segment Insights</a:t>
            </a:r>
          </a:p>
        </p:txBody>
      </p:sp>
      <p:sp>
        <p:nvSpPr>
          <p:cNvPr id="68" name="Rectangle 67"/>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10000" y="4219912"/>
            <a:ext cx="4210050" cy="2117429"/>
          </a:xfrm>
          <a:prstGeom prst="rect">
            <a:avLst/>
          </a:prstGeom>
          <a:noFill/>
        </p:spPr>
        <p:txBody>
          <a:bodyPr wrap="square" lIns="28575" tIns="9525" rIns="28575" bIns="9525">
            <a:spAutoFit/>
          </a:bodyPr>
          <a:lstStyle/>
          <a:p>
            <a:pPr algn="l">
              <a:lnSpc>
                <a:spcPct val="105000"/>
              </a:lnSpc>
              <a:spcBef>
                <a:spcPts val="0"/>
              </a:spcBef>
              <a:spcAft>
                <a:spcPts val="300"/>
              </a:spcAft>
            </a:pPr>
            <a:r>
              <a:rPr sz="1100" b="0">
                <a:solidFill>
                  <a:srgbClr val="0B2E4A"/>
                </a:solidFill>
                <a:latin typeface="Calibri"/>
              </a:rPr>
              <a:t>●  </a:t>
            </a:r>
            <a:r>
              <a:rPr sz="1100" b="1">
                <a:solidFill>
                  <a:srgbClr val="0B2E4A"/>
                </a:solidFill>
                <a:latin typeface="Calibri"/>
              </a:rPr>
              <a:t>Amazon / Online Marketplaces: </a:t>
            </a:r>
            <a:r>
              <a:rPr sz="1100" b="0">
                <a:solidFill>
                  <a:srgbClr val="2E2E2E"/>
                </a:solidFill>
                <a:latin typeface="Calibri"/>
              </a:rPr>
              <a:t>32% of 2026 value · 8.7% CAGR leads the segment.</a:t>
            </a:r>
          </a:p>
          <a:p>
            <a:pPr algn="l">
              <a:lnSpc>
                <a:spcPct val="105000"/>
              </a:lnSpc>
              <a:spcBef>
                <a:spcPts val="0"/>
              </a:spcBef>
              <a:spcAft>
                <a:spcPts val="300"/>
              </a:spcAft>
            </a:pPr>
            <a:r>
              <a:rPr sz="1100" b="0">
                <a:solidFill>
                  <a:srgbClr val="0E72AE"/>
                </a:solidFill>
                <a:latin typeface="Calibri"/>
              </a:rPr>
              <a:t>●  </a:t>
            </a:r>
            <a:r>
              <a:rPr sz="1100" b="1">
                <a:solidFill>
                  <a:srgbClr val="0E72AE"/>
                </a:solidFill>
                <a:latin typeface="Calibri"/>
              </a:rPr>
              <a:t>Mass Retail: </a:t>
            </a:r>
            <a:r>
              <a:rPr sz="1100" b="0">
                <a:solidFill>
                  <a:srgbClr val="2E2E2E"/>
                </a:solidFill>
                <a:latin typeface="Calibri"/>
              </a:rPr>
              <a:t>27% of 2026 value · 4.2% CAGR serves a niche.</a:t>
            </a:r>
          </a:p>
          <a:p>
            <a:pPr algn="l">
              <a:lnSpc>
                <a:spcPct val="105000"/>
              </a:lnSpc>
              <a:spcBef>
                <a:spcPts val="0"/>
              </a:spcBef>
              <a:spcAft>
                <a:spcPts val="300"/>
              </a:spcAft>
            </a:pPr>
            <a:r>
              <a:rPr sz="1100" b="0">
                <a:solidFill>
                  <a:srgbClr val="008189"/>
                </a:solidFill>
                <a:latin typeface="Calibri"/>
              </a:rPr>
              <a:t>●  </a:t>
            </a:r>
            <a:r>
              <a:rPr sz="1100" b="1">
                <a:solidFill>
                  <a:srgbClr val="008189"/>
                </a:solidFill>
                <a:latin typeface="Calibri"/>
              </a:rPr>
              <a:t>Pharmacy / Drugstores: </a:t>
            </a:r>
            <a:r>
              <a:rPr sz="1100" b="0">
                <a:solidFill>
                  <a:srgbClr val="2E2E2E"/>
                </a:solidFill>
                <a:latin typeface="Calibri"/>
              </a:rPr>
              <a:t>21% of 2026 value · 2.0% CAGR serves a niche.</a:t>
            </a:r>
          </a:p>
          <a:p>
            <a:pPr algn="l">
              <a:lnSpc>
                <a:spcPct val="105000"/>
              </a:lnSpc>
              <a:spcBef>
                <a:spcPts val="0"/>
              </a:spcBef>
              <a:spcAft>
                <a:spcPts val="300"/>
              </a:spcAft>
            </a:pPr>
            <a:r>
              <a:rPr sz="1100" b="0">
                <a:solidFill>
                  <a:srgbClr val="6F3CC2"/>
                </a:solidFill>
                <a:latin typeface="Calibri"/>
              </a:rPr>
              <a:t>●  </a:t>
            </a:r>
            <a:r>
              <a:rPr sz="1100" b="1">
                <a:solidFill>
                  <a:srgbClr val="6F3CC2"/>
                </a:solidFill>
                <a:latin typeface="Calibri"/>
              </a:rPr>
              <a:t>Direct-to-Consumer / Brand Website: </a:t>
            </a:r>
            <a:r>
              <a:rPr sz="1100" b="0">
                <a:solidFill>
                  <a:srgbClr val="2E2E2E"/>
                </a:solidFill>
                <a:latin typeface="Calibri"/>
              </a:rPr>
              <a:t>13% of 2026 value · 11.4% CAGR grows fastest.</a:t>
            </a:r>
          </a:p>
          <a:p>
            <a:pPr algn="l">
              <a:lnSpc>
                <a:spcPct val="105000"/>
              </a:lnSpc>
              <a:spcBef>
                <a:spcPts val="0"/>
              </a:spcBef>
              <a:spcAft>
                <a:spcPts val="300"/>
              </a:spcAft>
            </a:pPr>
            <a:r>
              <a:rPr sz="1100" b="0">
                <a:solidFill>
                  <a:srgbClr val="A86F00"/>
                </a:solidFill>
                <a:latin typeface="Calibri"/>
              </a:rPr>
              <a:t>●  </a:t>
            </a:r>
            <a:r>
              <a:rPr sz="1100" b="1">
                <a:solidFill>
                  <a:srgbClr val="A86F00"/>
                </a:solidFill>
                <a:latin typeface="Calibri"/>
              </a:rPr>
              <a:t>Specialty Health &amp; Wellness Retail: </a:t>
            </a:r>
            <a:r>
              <a:rPr sz="1100" b="0">
                <a:solidFill>
                  <a:srgbClr val="2E2E2E"/>
                </a:solidFill>
                <a:latin typeface="Calibri"/>
              </a:rPr>
              <a:t>5% of 2026 value · 6.0% CAGR serves a niche.</a:t>
            </a:r>
          </a:p>
          <a:p>
            <a:pPr algn="l">
              <a:lnSpc>
                <a:spcPct val="105000"/>
              </a:lnSpc>
              <a:spcBef>
                <a:spcPts val="0"/>
              </a:spcBef>
              <a:spcAft>
                <a:spcPts val="300"/>
              </a:spcAft>
            </a:pPr>
            <a:r>
              <a:rPr sz="1100" b="0">
                <a:solidFill>
                  <a:srgbClr val="A35313"/>
                </a:solidFill>
                <a:latin typeface="Calibri"/>
              </a:rPr>
              <a:t>●  </a:t>
            </a:r>
            <a:r>
              <a:rPr sz="1100" b="1">
                <a:solidFill>
                  <a:srgbClr val="A35313"/>
                </a:solidFill>
                <a:latin typeface="Calibri"/>
              </a:rPr>
              <a:t>Practitioner / Clinic Channel: </a:t>
            </a:r>
            <a:r>
              <a:rPr sz="1100" b="0">
                <a:solidFill>
                  <a:srgbClr val="2E2E2E"/>
                </a:solidFill>
                <a:latin typeface="Calibri"/>
              </a:rPr>
              <a:t>2% of 2026 value · 5.0% CAGR serves a niche.</a:t>
            </a:r>
          </a:p>
        </p:txBody>
      </p:sp>
      <p:sp>
        <p:nvSpPr>
          <p:cNvPr id="70" name="Rounded Rectangle 69"/>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401050" y="3946106"/>
            <a:ext cx="3333750" cy="182537"/>
          </a:xfrm>
          <a:prstGeom prst="rect">
            <a:avLst/>
          </a:prstGeom>
          <a:noFill/>
        </p:spPr>
        <p:txBody>
          <a:bodyPr wrap="square" lIns="28575" tIns="9525" rIns="28575" bIns="9525">
            <a:spAutoFit/>
          </a:bodyPr>
          <a:lstStyle/>
          <a:p>
            <a:pPr algn="l"/>
            <a:r>
              <a:rPr sz="1250" b="1">
                <a:solidFill>
                  <a:srgbClr val="0B2E4A"/>
                </a:solidFill>
                <a:latin typeface="Calibri"/>
              </a:rPr>
              <a:t>Segment Overview</a:t>
            </a:r>
          </a:p>
        </p:txBody>
      </p:sp>
      <p:sp>
        <p:nvSpPr>
          <p:cNvPr id="72" name="Rectangle 71"/>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401050" y="4219912"/>
            <a:ext cx="3333750" cy="2117429"/>
          </a:xfrm>
          <a:prstGeom prst="rect">
            <a:avLst/>
          </a:prstGeom>
          <a:noFill/>
        </p:spPr>
        <p:txBody>
          <a:bodyPr wrap="square" lIns="28575" tIns="9525" rIns="2857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Sales Channel split shows how demand is distributed across sales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4" name="Rectangle 73"/>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496300" y="5789730"/>
            <a:ext cx="3219450" cy="456342"/>
          </a:xfrm>
          <a:prstGeom prst="rect">
            <a:avLst/>
          </a:prstGeom>
          <a:noFill/>
        </p:spPr>
        <p:txBody>
          <a:bodyPr wrap="square" lIns="28575" tIns="9525" rIns="28575" bIns="9525" anchor="ctr">
            <a:spAutoFit/>
          </a:bodyPr>
          <a:lstStyle/>
          <a:p>
            <a:pPr algn="l"/>
            <a:r>
              <a:rPr sz="1150" b="1">
                <a:solidFill>
                  <a:srgbClr val="0B2E4A"/>
                </a:solidFill>
                <a:latin typeface="Calibri"/>
              </a:rPr>
              <a:t>The Sales Channel segment is projected to grow at a CAGR of 6.6% from 2026 to 2036.</a:t>
            </a:r>
          </a:p>
        </p:txBody>
      </p:sp>
      <p:sp>
        <p:nvSpPr>
          <p:cNvPr id="76" name="TextBox 75"/>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7" name="TextBox 7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Market Structure &amp; Attractiveness, By Sales Channel (Value)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Sales Channel mix within each country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6343650" cy="4191000"/>
          </a:xfrm>
          <a:prstGeom prst="roundRect">
            <a:avLst>
              <a:gd name="adj" fmla="val 18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6153150"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By Sales Channel mix within each country (share of 2036 value) · row label = country size (US$ Mn), largest first</a:t>
            </a:r>
          </a:p>
        </p:txBody>
      </p:sp>
      <p:sp>
        <p:nvSpPr>
          <p:cNvPr id="13" name="TextBox 12"/>
          <p:cNvSpPr txBox="1"/>
          <p:nvPr/>
        </p:nvSpPr>
        <p:spPr>
          <a:xfrm>
            <a:off x="314325" y="3143250"/>
            <a:ext cx="6000750" cy="266700"/>
          </a:xfrm>
          <a:prstGeom prst="rect">
            <a:avLst/>
          </a:prstGeom>
          <a:noFill/>
        </p:spPr>
        <p:txBody>
          <a:bodyPr wrap="square" lIns="28575" tIns="9525" rIns="28575" bIns="9525" anchor="ctr">
            <a:spAutoFit/>
          </a:bodyPr>
          <a:lstStyle/>
          <a:p>
            <a:pPr algn="ctr"/>
            <a:r>
              <a:rPr sz="1100" b="0">
                <a:solidFill>
                  <a:srgbClr val="6C7A89"/>
                </a:solidFill>
                <a:latin typeface="Calibri"/>
              </a:rPr>
              <a:t>No data for this view.</a:t>
            </a:r>
          </a:p>
        </p:txBody>
      </p:sp>
      <p:sp>
        <p:nvSpPr>
          <p:cNvPr id="14" name="Rounded Rectangle 13"/>
          <p:cNvSpPr/>
          <p:nvPr/>
        </p:nvSpPr>
        <p:spPr>
          <a:xfrm>
            <a:off x="6638925" y="981075"/>
            <a:ext cx="5400675" cy="4191000"/>
          </a:xfrm>
          <a:prstGeom prst="roundRect">
            <a:avLst>
              <a:gd name="adj" fmla="val 18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34175" y="1038225"/>
            <a:ext cx="521017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Market Attractiveness, By Sales Channel · Bubble size represents 2036 value</a:t>
            </a:r>
          </a:p>
        </p:txBody>
      </p:sp>
      <p:graphicFrame>
        <p:nvGraphicFramePr>
          <p:cNvPr id="16" name="Chart 15"/>
          <p:cNvGraphicFramePr>
            <a:graphicFrameLocks noGrp="1"/>
          </p:cNvGraphicFramePr>
          <p:nvPr/>
        </p:nvGraphicFramePr>
        <p:xfrm>
          <a:off x="6734175" y="1438275"/>
          <a:ext cx="5210175" cy="3676650"/>
        </p:xfrm>
        <a:graphic>
          <a:graphicData uri="http://schemas.openxmlformats.org/drawingml/2006/chart">
            <c:chart xmlns:c="http://schemas.openxmlformats.org/drawingml/2006/chart" xmlns:r="http://schemas.openxmlformats.org/officeDocument/2006/relationships" r:id="rId4"/>
          </a:graphicData>
        </a:graphic>
      </p:graphicFrame>
      <p:sp>
        <p:nvSpPr>
          <p:cNvPr id="17" name="Rounded Rectangle 16"/>
          <p:cNvSpPr/>
          <p:nvPr/>
        </p:nvSpPr>
        <p:spPr>
          <a:xfrm>
            <a:off x="142875" y="5305425"/>
            <a:ext cx="11906250" cy="1323975"/>
          </a:xfrm>
          <a:prstGeom prst="roundRect">
            <a:avLst>
              <a:gd name="adj" fmla="val 57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Amazon / online marketplaces followed by direct-to-consumer / brand website are expected to be the two most attractive sales channel segments in the USA prenatal vitamin supplements market in terms of value over the forecast period. Amazon / online marketplaces and Direct-to-Consumer / brand website exhibit a CAGR index of 131 and 172 and a market share index of 192 and 78 respectively, against the segment average of 100. The practitioner / clinic channel segment is expected to be less attractive as compared to other segments over the forecast period, owing to its lower CAGR and incremental opportunity. Amazon and online marketplaces followed by direct-to-consumer websites are expected to be the most attractive sales channels. Amazon combines the largest base with strong growth from online migration, while DTC is the fastest-growing channel on the strength of subscription and personalisation. Pharmacy and mass retail are mature and increasingly pressured by online pricing and subscriptions. Bubbles right of the CAGR-Index line grow faster than the segment average.</a:t>
            </a: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Absolute $ Opportunity Analysis, By Sales Channel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Direct-to-Consumer / Brand Website</a:t>
            </a:r>
          </a:p>
        </p:txBody>
      </p:sp>
      <p:graphicFrame>
        <p:nvGraphicFramePr>
          <p:cNvPr id="13" name="Chart 12"/>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67450" y="1038225"/>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Amazon / Online Marketplaces</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xmlns:r="http://schemas.openxmlformats.org/officeDocument/2006/relationships" r:id="rId5"/>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8125"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Mass Retail</a:t>
            </a:r>
          </a:p>
        </p:txBody>
      </p:sp>
      <p:graphicFrame>
        <p:nvGraphicFramePr>
          <p:cNvPr id="19" name="Chart 18"/>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xmlns:r="http://schemas.openxmlformats.org/officeDocument/2006/relationships" r:id="rId6"/>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67450" y="3924300"/>
            <a:ext cx="5686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Pharmacy / Drugstores</a:t>
            </a:r>
          </a:p>
        </p:txBody>
      </p:sp>
      <p:graphicFrame>
        <p:nvGraphicFramePr>
          <p:cNvPr id="22" name="Chart 21"/>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xmlns:r="http://schemas.openxmlformats.org/officeDocument/2006/relationships" r:id="rId7"/>
          </a:graphicData>
        </a:graphic>
      </p:graphicFrame>
      <p:sp>
        <p:nvSpPr>
          <p:cNvPr id="23" name="TextBox 2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Absolute $ Opportunity Analysis, By Sales Channel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Specialty Health &amp; Wellness Retail</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38125" y="3924300"/>
            <a:ext cx="5686425" cy="38100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Incremental $ Opportunity (US$ Mn), 2026-2036, By Practitioner / Clinic Channel</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xmlns:r="http://schemas.openxmlformats.org/officeDocument/2006/relationships" r:id="rId5"/>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5550" y="1066800"/>
            <a:ext cx="5610225" cy="209550"/>
          </a:xfrm>
          <a:prstGeom prst="rect">
            <a:avLst/>
          </a:prstGeom>
          <a:noFill/>
        </p:spPr>
        <p:txBody>
          <a:bodyPr wrap="square" lIns="0" tIns="9525" rIns="19050" bIns="9525">
            <a:spAutoFit/>
          </a:bodyPr>
          <a:lstStyle/>
          <a:p>
            <a:pPr algn="l"/>
            <a:r>
              <a:rPr sz="1300" b="1">
                <a:solidFill>
                  <a:srgbClr val="0B2E4A"/>
                </a:solidFill>
                <a:latin typeface="Calibri"/>
              </a:rPr>
              <a:t>Summary of USA Absolute $ Opportunity Analysis, By Sales Channel</a:t>
            </a:r>
          </a:p>
        </p:txBody>
      </p:sp>
      <p:sp>
        <p:nvSpPr>
          <p:cNvPr id="18" name="Rectangle 17"/>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5550" y="1390650"/>
            <a:ext cx="5610225" cy="5162550"/>
          </a:xfrm>
          <a:prstGeom prst="rect">
            <a:avLst/>
          </a:prstGeom>
          <a:noFill/>
        </p:spPr>
        <p:txBody>
          <a:bodyPr wrap="square" lIns="0" tIns="9525" rIns="19050" bIns="9525">
            <a:spAutoFit/>
          </a:bodyPr>
          <a:lstStyle/>
          <a:p>
            <a:pPr algn="l">
              <a:lnSpc>
                <a:spcPct val="110000"/>
              </a:lnSpc>
              <a:spcBef>
                <a:spcPts val="0"/>
              </a:spcBef>
              <a:spcAft>
                <a:spcPts val="500"/>
              </a:spcAft>
            </a:pPr>
            <a:r>
              <a:rPr sz="1150" b="0">
                <a:solidFill>
                  <a:srgbClr val="2E2E2E"/>
                </a:solidFill>
                <a:latin typeface="Calibri"/>
              </a:rPr>
              <a:t>By 2036, amazon / online marketplaces segment is anticipated to witness an increase of 2.3X in terms of value as compared to 2026. The amazon / online marketplaces segment is expected to create an incremental opportunity of US$ 95.3 Mn for the overall prenatal vitamin supplements market from 2026 to 2036.</a:t>
            </a:r>
          </a:p>
          <a:p>
            <a:pPr algn="l">
              <a:lnSpc>
                <a:spcPct val="110000"/>
              </a:lnSpc>
              <a:spcBef>
                <a:spcPts val="0"/>
              </a:spcBef>
              <a:spcAft>
                <a:spcPts val="500"/>
              </a:spcAft>
            </a:pPr>
            <a:r>
              <a:rPr sz="1150" b="0">
                <a:solidFill>
                  <a:srgbClr val="2E2E2E"/>
                </a:solidFill>
                <a:latin typeface="Calibri"/>
              </a:rPr>
              <a:t>The Direct-to-Consumer / brand website segment is expected to create an incremental opportunity of US$ 57.9 Mn for the overall prenatal vitamin supplements market from 2026 to 2036. The mass retail segment is expected to create an incremental opportunity of US$ 31.9 Mn for the overall prenatal vitamin supplements market from 2026 to 2036.</a:t>
            </a:r>
          </a:p>
          <a:p>
            <a:pPr algn="l">
              <a:lnSpc>
                <a:spcPct val="110000"/>
              </a:lnSpc>
              <a:spcBef>
                <a:spcPts val="0"/>
              </a:spcBef>
              <a:spcAft>
                <a:spcPts val="500"/>
              </a:spcAft>
            </a:pPr>
            <a:r>
              <a:rPr sz="1150" b="0">
                <a:solidFill>
                  <a:srgbClr val="2E2E2E"/>
                </a:solidFill>
                <a:latin typeface="Calibri"/>
              </a:rPr>
              <a:t>Amazon and online marketplaces are expected to add the largest absolute value, followed by direct-to-consumer websites and mass retail. Prenatal supplements are repeat-purchase products, so online replenishment captures large volumes across capsules, gummies, tablets and DHA softgels, while DTC adds value through subscription retention. Mass retail continues to add value through high-count bottles and private-label availability.</a:t>
            </a:r>
          </a:p>
        </p:txBody>
      </p:sp>
      <p:sp>
        <p:nvSpPr>
          <p:cNvPr id="20" name="TextBox 1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Market Volume Analysis, By Sales Channel (Mn Units)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volume by Sales Channel,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Volume, By Sales Channel (Mn Units)</a:t>
            </a:r>
          </a:p>
        </p:txBody>
      </p:sp>
      <p:graphicFrame>
        <p:nvGraphicFramePr>
          <p:cNvPr id="13" name="Table 12"/>
          <p:cNvGraphicFramePr>
            <a:graphicFrameLocks noGrp="1"/>
          </p:cNvGraphicFramePr>
          <p:nvPr/>
        </p:nvGraphicFramePr>
        <p:xfrm>
          <a:off x="152400" y="1238250"/>
          <a:ext cx="11887193" cy="1724024"/>
        </p:xfrm>
        <a:graphic>
          <a:graphicData uri="http://schemas.openxmlformats.org/drawingml/2006/table">
            <a:tbl>
              <a:tblPr>
                <a:tableStyleId>{5C22544A-7EE6-4342-B048-85BDC9FD1C3A}</a:tableStyleId>
              </a:tblPr>
              <a:tblGrid>
                <a:gridCol w="2342577">
                  <a:extLst>
                    <a:ext uri="{9D8B030D-6E8A-4147-A177-3AD203B41FA5}">
                      <a16:colId xmlns:a16="http://schemas.microsoft.com/office/drawing/2014/main" val="20000"/>
                    </a:ext>
                  </a:extLst>
                </a:gridCol>
                <a:gridCol w="561448">
                  <a:extLst>
                    <a:ext uri="{9D8B030D-6E8A-4147-A177-3AD203B41FA5}">
                      <a16:colId xmlns:a16="http://schemas.microsoft.com/office/drawing/2014/main" val="20001"/>
                    </a:ext>
                  </a:extLst>
                </a:gridCol>
                <a:gridCol w="561448">
                  <a:extLst>
                    <a:ext uri="{9D8B030D-6E8A-4147-A177-3AD203B41FA5}">
                      <a16:colId xmlns:a16="http://schemas.microsoft.com/office/drawing/2014/main" val="20002"/>
                    </a:ext>
                  </a:extLst>
                </a:gridCol>
                <a:gridCol w="561448">
                  <a:extLst>
                    <a:ext uri="{9D8B030D-6E8A-4147-A177-3AD203B41FA5}">
                      <a16:colId xmlns:a16="http://schemas.microsoft.com/office/drawing/2014/main" val="20003"/>
                    </a:ext>
                  </a:extLst>
                </a:gridCol>
                <a:gridCol w="561448">
                  <a:extLst>
                    <a:ext uri="{9D8B030D-6E8A-4147-A177-3AD203B41FA5}">
                      <a16:colId xmlns:a16="http://schemas.microsoft.com/office/drawing/2014/main" val="20004"/>
                    </a:ext>
                  </a:extLst>
                </a:gridCol>
                <a:gridCol w="561448">
                  <a:extLst>
                    <a:ext uri="{9D8B030D-6E8A-4147-A177-3AD203B41FA5}">
                      <a16:colId xmlns:a16="http://schemas.microsoft.com/office/drawing/2014/main" val="20005"/>
                    </a:ext>
                  </a:extLst>
                </a:gridCol>
                <a:gridCol w="561448">
                  <a:extLst>
                    <a:ext uri="{9D8B030D-6E8A-4147-A177-3AD203B41FA5}">
                      <a16:colId xmlns:a16="http://schemas.microsoft.com/office/drawing/2014/main" val="20006"/>
                    </a:ext>
                  </a:extLst>
                </a:gridCol>
                <a:gridCol w="561448">
                  <a:extLst>
                    <a:ext uri="{9D8B030D-6E8A-4147-A177-3AD203B41FA5}">
                      <a16:colId xmlns:a16="http://schemas.microsoft.com/office/drawing/2014/main" val="20007"/>
                    </a:ext>
                  </a:extLst>
                </a:gridCol>
                <a:gridCol w="561448">
                  <a:extLst>
                    <a:ext uri="{9D8B030D-6E8A-4147-A177-3AD203B41FA5}">
                      <a16:colId xmlns:a16="http://schemas.microsoft.com/office/drawing/2014/main" val="20008"/>
                    </a:ext>
                  </a:extLst>
                </a:gridCol>
                <a:gridCol w="561448">
                  <a:extLst>
                    <a:ext uri="{9D8B030D-6E8A-4147-A177-3AD203B41FA5}">
                      <a16:colId xmlns:a16="http://schemas.microsoft.com/office/drawing/2014/main" val="20009"/>
                    </a:ext>
                  </a:extLst>
                </a:gridCol>
                <a:gridCol w="561448">
                  <a:extLst>
                    <a:ext uri="{9D8B030D-6E8A-4147-A177-3AD203B41FA5}">
                      <a16:colId xmlns:a16="http://schemas.microsoft.com/office/drawing/2014/main" val="20010"/>
                    </a:ext>
                  </a:extLst>
                </a:gridCol>
                <a:gridCol w="561448">
                  <a:extLst>
                    <a:ext uri="{9D8B030D-6E8A-4147-A177-3AD203B41FA5}">
                      <a16:colId xmlns:a16="http://schemas.microsoft.com/office/drawing/2014/main" val="20011"/>
                    </a:ext>
                  </a:extLst>
                </a:gridCol>
                <a:gridCol w="561448">
                  <a:extLst>
                    <a:ext uri="{9D8B030D-6E8A-4147-A177-3AD203B41FA5}">
                      <a16:colId xmlns:a16="http://schemas.microsoft.com/office/drawing/2014/main" val="20012"/>
                    </a:ext>
                  </a:extLst>
                </a:gridCol>
                <a:gridCol w="561448">
                  <a:extLst>
                    <a:ext uri="{9D8B030D-6E8A-4147-A177-3AD203B41FA5}">
                      <a16:colId xmlns:a16="http://schemas.microsoft.com/office/drawing/2014/main" val="20013"/>
                    </a:ext>
                  </a:extLst>
                </a:gridCol>
                <a:gridCol w="561448">
                  <a:extLst>
                    <a:ext uri="{9D8B030D-6E8A-4147-A177-3AD203B41FA5}">
                      <a16:colId xmlns:a16="http://schemas.microsoft.com/office/drawing/2014/main" val="20014"/>
                    </a:ext>
                  </a:extLst>
                </a:gridCol>
                <a:gridCol w="561448">
                  <a:extLst>
                    <a:ext uri="{9D8B030D-6E8A-4147-A177-3AD203B41FA5}">
                      <a16:colId xmlns:a16="http://schemas.microsoft.com/office/drawing/2014/main" val="20015"/>
                    </a:ext>
                  </a:extLst>
                </a:gridCol>
                <a:gridCol w="561448">
                  <a:extLst>
                    <a:ext uri="{9D8B030D-6E8A-4147-A177-3AD203B41FA5}">
                      <a16:colId xmlns:a16="http://schemas.microsoft.com/office/drawing/2014/main" val="20016"/>
                    </a:ext>
                  </a:extLst>
                </a:gridCol>
                <a:gridCol w="561448">
                  <a:extLst>
                    <a:ext uri="{9D8B030D-6E8A-4147-A177-3AD203B41FA5}">
                      <a16:colId xmlns:a16="http://schemas.microsoft.com/office/drawing/2014/main" val="20017"/>
                    </a:ext>
                  </a:extLst>
                </a:gridCol>
              </a:tblGrid>
              <a:tr h="215265">
                <a:tc>
                  <a:txBody>
                    <a:bodyPr/>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l"/>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15537">
                <a:tc>
                  <a:txBody>
                    <a:bodyPr/>
                    <a:lstStyle/>
                    <a:p>
                      <a:pPr algn="l"/>
                      <a:r>
                        <a:rPr sz="1100" b="1">
                          <a:solidFill>
                            <a:srgbClr val="2E2E2E"/>
                          </a:solidFill>
                          <a:latin typeface="Calibri"/>
                        </a:rPr>
                        <a:t>Direct-to-Consumer / Brand Website</a:t>
                      </a:r>
                      <a:endParaRPr sz="1100"/>
                    </a:p>
                  </a:txBody>
                  <a:tcPr marL="47625" marR="38100" marT="19050" marB="19050" anchor="ctr">
                    <a:solidFill>
                      <a:srgbClr val="FFFFFF"/>
                    </a:solidFill>
                  </a:tcPr>
                </a:tc>
                <a:tc>
                  <a:txBody>
                    <a:bodyPr/>
                    <a:lstStyle/>
                    <a:p>
                      <a:pPr algn="l"/>
                      <a:r>
                        <a:rPr sz="1100" b="0">
                          <a:solidFill>
                            <a:srgbClr val="2E2E2E"/>
                          </a:solidFill>
                          <a:latin typeface="Calibri"/>
                        </a:rPr>
                        <a:t>94.7</a:t>
                      </a:r>
                      <a:endParaRPr sz="1100"/>
                    </a:p>
                  </a:txBody>
                  <a:tcPr marL="47625" marR="38100" marT="19050" marB="19050" anchor="ctr">
                    <a:solidFill>
                      <a:srgbClr val="FFFFFF"/>
                    </a:solidFill>
                  </a:tcPr>
                </a:tc>
                <a:tc>
                  <a:txBody>
                    <a:bodyPr/>
                    <a:lstStyle/>
                    <a:p>
                      <a:pPr algn="l"/>
                      <a:r>
                        <a:rPr sz="1100" b="0">
                          <a:solidFill>
                            <a:srgbClr val="2E2E2E"/>
                          </a:solidFill>
                          <a:latin typeface="Calibri"/>
                        </a:rPr>
                        <a:t>99.5</a:t>
                      </a:r>
                      <a:endParaRPr sz="1100"/>
                    </a:p>
                  </a:txBody>
                  <a:tcPr marL="47625" marR="38100" marT="19050" marB="19050" anchor="ctr">
                    <a:solidFill>
                      <a:srgbClr val="FFFFFF"/>
                    </a:solidFill>
                  </a:tcPr>
                </a:tc>
                <a:tc>
                  <a:txBody>
                    <a:bodyPr/>
                    <a:lstStyle/>
                    <a:p>
                      <a:pPr algn="l"/>
                      <a:r>
                        <a:rPr sz="1100" b="0">
                          <a:solidFill>
                            <a:srgbClr val="2E2E2E"/>
                          </a:solidFill>
                          <a:latin typeface="Calibri"/>
                        </a:rPr>
                        <a:t>105.2</a:t>
                      </a:r>
                      <a:endParaRPr sz="1100"/>
                    </a:p>
                  </a:txBody>
                  <a:tcPr marL="47625" marR="38100" marT="19050" marB="19050" anchor="ctr">
                    <a:solidFill>
                      <a:srgbClr val="FFFFFF"/>
                    </a:solidFill>
                  </a:tcPr>
                </a:tc>
                <a:tc>
                  <a:txBody>
                    <a:bodyPr/>
                    <a:lstStyle/>
                    <a:p>
                      <a:pPr algn="l"/>
                      <a:r>
                        <a:rPr sz="1100" b="0">
                          <a:solidFill>
                            <a:srgbClr val="2E2E2E"/>
                          </a:solidFill>
                          <a:latin typeface="Calibri"/>
                        </a:rPr>
                        <a:t>112.0</a:t>
                      </a:r>
                      <a:endParaRPr sz="1100"/>
                    </a:p>
                  </a:txBody>
                  <a:tcPr marL="47625" marR="38100" marT="19050" marB="19050" anchor="ctr">
                    <a:solidFill>
                      <a:srgbClr val="FFFFFF"/>
                    </a:solidFill>
                  </a:tcPr>
                </a:tc>
                <a:tc>
                  <a:txBody>
                    <a:bodyPr/>
                    <a:lstStyle/>
                    <a:p>
                      <a:pPr algn="l"/>
                      <a:r>
                        <a:rPr sz="1100" b="0">
                          <a:solidFill>
                            <a:srgbClr val="2E2E2E"/>
                          </a:solidFill>
                          <a:latin typeface="Calibri"/>
                        </a:rPr>
                        <a:t>120.0</a:t>
                      </a:r>
                      <a:endParaRPr sz="1100"/>
                    </a:p>
                  </a:txBody>
                  <a:tcPr marL="47625" marR="38100" marT="19050" marB="19050" anchor="ctr">
                    <a:solidFill>
                      <a:srgbClr val="FFFFFF"/>
                    </a:solidFill>
                  </a:tcPr>
                </a:tc>
                <a:tc>
                  <a:txBody>
                    <a:bodyPr/>
                    <a:lstStyle/>
                    <a:p>
                      <a:pPr algn="l"/>
                      <a:r>
                        <a:rPr sz="1100" b="0">
                          <a:solidFill>
                            <a:srgbClr val="2E2E2E"/>
                          </a:solidFill>
                          <a:latin typeface="Calibri"/>
                        </a:rPr>
                        <a:t>129.6</a:t>
                      </a:r>
                      <a:endParaRPr sz="1100"/>
                    </a:p>
                  </a:txBody>
                  <a:tcPr marL="47625" marR="38100" marT="19050" marB="19050" anchor="ctr">
                    <a:solidFill>
                      <a:srgbClr val="FFFFFF"/>
                    </a:solidFill>
                  </a:tcPr>
                </a:tc>
                <a:tc>
                  <a:txBody>
                    <a:bodyPr/>
                    <a:lstStyle/>
                    <a:p>
                      <a:pPr algn="l"/>
                      <a:r>
                        <a:rPr sz="1100" b="0">
                          <a:solidFill>
                            <a:srgbClr val="2E2E2E"/>
                          </a:solidFill>
                          <a:latin typeface="Calibri"/>
                        </a:rPr>
                        <a:t>140.7</a:t>
                      </a:r>
                      <a:endParaRPr sz="1100"/>
                    </a:p>
                  </a:txBody>
                  <a:tcPr marL="47625" marR="38100" marT="19050" marB="19050" anchor="ctr">
                    <a:solidFill>
                      <a:srgbClr val="FFFFFF"/>
                    </a:solidFill>
                  </a:tcPr>
                </a:tc>
                <a:tc>
                  <a:txBody>
                    <a:bodyPr/>
                    <a:lstStyle/>
                    <a:p>
                      <a:pPr algn="l"/>
                      <a:r>
                        <a:rPr sz="1100" b="0">
                          <a:solidFill>
                            <a:srgbClr val="2E2E2E"/>
                          </a:solidFill>
                          <a:latin typeface="Calibri"/>
                        </a:rPr>
                        <a:t>153.4</a:t>
                      </a:r>
                      <a:endParaRPr sz="1100"/>
                    </a:p>
                  </a:txBody>
                  <a:tcPr marL="47625" marR="38100" marT="19050" marB="19050" anchor="ctr">
                    <a:solidFill>
                      <a:srgbClr val="FFFFFF"/>
                    </a:solidFill>
                  </a:tcPr>
                </a:tc>
                <a:tc>
                  <a:txBody>
                    <a:bodyPr/>
                    <a:lstStyle/>
                    <a:p>
                      <a:pPr algn="l"/>
                      <a:r>
                        <a:rPr sz="1100" b="0">
                          <a:solidFill>
                            <a:srgbClr val="2E2E2E"/>
                          </a:solidFill>
                          <a:latin typeface="Calibri"/>
                        </a:rPr>
                        <a:t>168.4</a:t>
                      </a:r>
                      <a:endParaRPr sz="1100"/>
                    </a:p>
                  </a:txBody>
                  <a:tcPr marL="47625" marR="38100" marT="19050" marB="19050" anchor="ctr">
                    <a:solidFill>
                      <a:srgbClr val="FFFFFF"/>
                    </a:solidFill>
                  </a:tcPr>
                </a:tc>
                <a:tc>
                  <a:txBody>
                    <a:bodyPr/>
                    <a:lstStyle/>
                    <a:p>
                      <a:pPr algn="l"/>
                      <a:r>
                        <a:rPr sz="1100" b="0">
                          <a:solidFill>
                            <a:srgbClr val="2E2E2E"/>
                          </a:solidFill>
                          <a:latin typeface="Calibri"/>
                        </a:rPr>
                        <a:t>186.4</a:t>
                      </a:r>
                      <a:endParaRPr sz="1100"/>
                    </a:p>
                  </a:txBody>
                  <a:tcPr marL="47625" marR="38100" marT="19050" marB="19050" anchor="ctr">
                    <a:solidFill>
                      <a:srgbClr val="FFFFFF"/>
                    </a:solidFill>
                  </a:tcPr>
                </a:tc>
                <a:tc>
                  <a:txBody>
                    <a:bodyPr/>
                    <a:lstStyle/>
                    <a:p>
                      <a:pPr algn="l"/>
                      <a:r>
                        <a:rPr sz="1100" b="0">
                          <a:solidFill>
                            <a:srgbClr val="2E2E2E"/>
                          </a:solidFill>
                          <a:latin typeface="Calibri"/>
                        </a:rPr>
                        <a:t>207.7</a:t>
                      </a:r>
                      <a:endParaRPr sz="1100"/>
                    </a:p>
                  </a:txBody>
                  <a:tcPr marL="47625" marR="38100" marT="19050" marB="19050" anchor="ctr">
                    <a:solidFill>
                      <a:srgbClr val="FFFFFF"/>
                    </a:solidFill>
                  </a:tcPr>
                </a:tc>
                <a:tc>
                  <a:txBody>
                    <a:bodyPr/>
                    <a:lstStyle/>
                    <a:p>
                      <a:pPr algn="l"/>
                      <a:r>
                        <a:rPr sz="1100" b="0">
                          <a:solidFill>
                            <a:srgbClr val="2E2E2E"/>
                          </a:solidFill>
                          <a:latin typeface="Calibri"/>
                        </a:rPr>
                        <a:t>232.1</a:t>
                      </a:r>
                      <a:endParaRPr sz="1100"/>
                    </a:p>
                  </a:txBody>
                  <a:tcPr marL="47625" marR="38100" marT="19050" marB="19050" anchor="ctr">
                    <a:solidFill>
                      <a:srgbClr val="FFFFFF"/>
                    </a:solidFill>
                  </a:tcPr>
                </a:tc>
                <a:tc>
                  <a:txBody>
                    <a:bodyPr/>
                    <a:lstStyle/>
                    <a:p>
                      <a:pPr algn="l"/>
                      <a:r>
                        <a:rPr sz="1100" b="0">
                          <a:solidFill>
                            <a:srgbClr val="2E2E2E"/>
                          </a:solidFill>
                          <a:latin typeface="Calibri"/>
                        </a:rPr>
                        <a:t>258.9</a:t>
                      </a:r>
                      <a:endParaRPr sz="1100"/>
                    </a:p>
                  </a:txBody>
                  <a:tcPr marL="47625" marR="38100" marT="19050" marB="19050" anchor="ctr">
                    <a:solidFill>
                      <a:srgbClr val="FFFFFF"/>
                    </a:solidFill>
                  </a:tcPr>
                </a:tc>
                <a:tc>
                  <a:txBody>
                    <a:bodyPr/>
                    <a:lstStyle/>
                    <a:p>
                      <a:pPr algn="l"/>
                      <a:r>
                        <a:rPr sz="1100" b="0">
                          <a:solidFill>
                            <a:srgbClr val="2E2E2E"/>
                          </a:solidFill>
                          <a:latin typeface="Calibri"/>
                        </a:rPr>
                        <a:t>288.3</a:t>
                      </a:r>
                      <a:endParaRPr sz="1100"/>
                    </a:p>
                  </a:txBody>
                  <a:tcPr marL="47625" marR="38100" marT="19050" marB="19050" anchor="ctr">
                    <a:solidFill>
                      <a:srgbClr val="FFFFFF"/>
                    </a:solidFill>
                  </a:tcPr>
                </a:tc>
                <a:tc>
                  <a:txBody>
                    <a:bodyPr/>
                    <a:lstStyle/>
                    <a:p>
                      <a:pPr algn="l"/>
                      <a:r>
                        <a:rPr sz="1100" b="0">
                          <a:solidFill>
                            <a:srgbClr val="2E2E2E"/>
                          </a:solidFill>
                          <a:latin typeface="Calibri"/>
                        </a:rPr>
                        <a:t>319.9</a:t>
                      </a:r>
                      <a:endParaRPr sz="1100"/>
                    </a:p>
                  </a:txBody>
                  <a:tcPr marL="47625" marR="38100" marT="19050" marB="19050" anchor="ctr">
                    <a:solidFill>
                      <a:srgbClr val="FFFFFF"/>
                    </a:solidFill>
                  </a:tcPr>
                </a:tc>
                <a:tc>
                  <a:txBody>
                    <a:bodyPr/>
                    <a:lstStyle/>
                    <a:p>
                      <a:pPr algn="l"/>
                      <a:r>
                        <a:rPr sz="1100" b="0">
                          <a:solidFill>
                            <a:srgbClr val="2E2E2E"/>
                          </a:solidFill>
                          <a:latin typeface="Calibri"/>
                        </a:rPr>
                        <a:t>353.6</a:t>
                      </a:r>
                      <a:endParaRPr sz="1100"/>
                    </a:p>
                  </a:txBody>
                  <a:tcPr marL="47625" marR="38100" marT="19050" marB="19050" anchor="ctr">
                    <a:solidFill>
                      <a:srgbClr val="FFFFFF"/>
                    </a:solidFill>
                  </a:tcPr>
                </a:tc>
                <a:tc>
                  <a:txBody>
                    <a:bodyPr/>
                    <a:lstStyle/>
                    <a:p>
                      <a:pPr algn="l"/>
                      <a:r>
                        <a:rPr sz="1100" b="0">
                          <a:solidFill>
                            <a:srgbClr val="2E2E2E"/>
                          </a:solidFill>
                          <a:latin typeface="Calibri"/>
                        </a:rPr>
                        <a:t>10.6%</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15537">
                <a:tc>
                  <a:txBody>
                    <a:bodyPr/>
                    <a:lstStyle/>
                    <a:p>
                      <a:pPr algn="l"/>
                      <a:r>
                        <a:rPr sz="1100" b="1">
                          <a:solidFill>
                            <a:srgbClr val="2E2E2E"/>
                          </a:solidFill>
                          <a:latin typeface="Calibri"/>
                        </a:rPr>
                        <a:t>Amazon / Online Marketplaces</a:t>
                      </a:r>
                      <a:endParaRPr sz="1100"/>
                    </a:p>
                  </a:txBody>
                  <a:tcPr marL="47625" marR="38100" marT="19050" marB="19050" anchor="ctr">
                    <a:solidFill>
                      <a:srgbClr val="F5F8FA"/>
                    </a:solidFill>
                  </a:tcPr>
                </a:tc>
                <a:tc>
                  <a:txBody>
                    <a:bodyPr/>
                    <a:lstStyle/>
                    <a:p>
                      <a:pPr algn="l"/>
                      <a:r>
                        <a:rPr sz="1100" b="0">
                          <a:solidFill>
                            <a:srgbClr val="2E2E2E"/>
                          </a:solidFill>
                          <a:latin typeface="Calibri"/>
                        </a:rPr>
                        <a:t>229.0</a:t>
                      </a:r>
                      <a:endParaRPr sz="1100"/>
                    </a:p>
                  </a:txBody>
                  <a:tcPr marL="47625" marR="38100" marT="19050" marB="19050" anchor="ctr">
                    <a:solidFill>
                      <a:srgbClr val="F5F8FA"/>
                    </a:solidFill>
                  </a:tcPr>
                </a:tc>
                <a:tc>
                  <a:txBody>
                    <a:bodyPr/>
                    <a:lstStyle/>
                    <a:p>
                      <a:pPr algn="l"/>
                      <a:r>
                        <a:rPr sz="1100" b="0">
                          <a:solidFill>
                            <a:srgbClr val="2E2E2E"/>
                          </a:solidFill>
                          <a:latin typeface="Calibri"/>
                        </a:rPr>
                        <a:t>246.1</a:t>
                      </a:r>
                      <a:endParaRPr sz="1100"/>
                    </a:p>
                  </a:txBody>
                  <a:tcPr marL="47625" marR="38100" marT="19050" marB="19050" anchor="ctr">
                    <a:solidFill>
                      <a:srgbClr val="F5F8FA"/>
                    </a:solidFill>
                  </a:tcPr>
                </a:tc>
                <a:tc>
                  <a:txBody>
                    <a:bodyPr/>
                    <a:lstStyle/>
                    <a:p>
                      <a:pPr algn="l"/>
                      <a:r>
                        <a:rPr sz="1100" b="0">
                          <a:solidFill>
                            <a:srgbClr val="2E2E2E"/>
                          </a:solidFill>
                          <a:latin typeface="Calibri"/>
                        </a:rPr>
                        <a:t>263.6</a:t>
                      </a:r>
                      <a:endParaRPr sz="1100"/>
                    </a:p>
                  </a:txBody>
                  <a:tcPr marL="47625" marR="38100" marT="19050" marB="19050" anchor="ctr">
                    <a:solidFill>
                      <a:srgbClr val="F5F8FA"/>
                    </a:solidFill>
                  </a:tcPr>
                </a:tc>
                <a:tc>
                  <a:txBody>
                    <a:bodyPr/>
                    <a:lstStyle/>
                    <a:p>
                      <a:pPr algn="l"/>
                      <a:r>
                        <a:rPr sz="1100" b="0">
                          <a:solidFill>
                            <a:srgbClr val="2E2E2E"/>
                          </a:solidFill>
                          <a:latin typeface="Calibri"/>
                        </a:rPr>
                        <a:t>281.1</a:t>
                      </a:r>
                      <a:endParaRPr sz="1100"/>
                    </a:p>
                  </a:txBody>
                  <a:tcPr marL="47625" marR="38100" marT="19050" marB="19050" anchor="ctr">
                    <a:solidFill>
                      <a:srgbClr val="F5F8FA"/>
                    </a:solidFill>
                  </a:tcPr>
                </a:tc>
                <a:tc>
                  <a:txBody>
                    <a:bodyPr/>
                    <a:lstStyle/>
                    <a:p>
                      <a:pPr algn="l"/>
                      <a:r>
                        <a:rPr sz="1100" b="0">
                          <a:solidFill>
                            <a:srgbClr val="2E2E2E"/>
                          </a:solidFill>
                          <a:latin typeface="Calibri"/>
                        </a:rPr>
                        <a:t>299.1</a:t>
                      </a:r>
                      <a:endParaRPr sz="1100"/>
                    </a:p>
                  </a:txBody>
                  <a:tcPr marL="47625" marR="38100" marT="19050" marB="19050" anchor="ctr">
                    <a:solidFill>
                      <a:srgbClr val="F5F8FA"/>
                    </a:solidFill>
                  </a:tcPr>
                </a:tc>
                <a:tc>
                  <a:txBody>
                    <a:bodyPr/>
                    <a:lstStyle/>
                    <a:p>
                      <a:pPr algn="l"/>
                      <a:r>
                        <a:rPr sz="1100" b="0">
                          <a:solidFill>
                            <a:srgbClr val="2E2E2E"/>
                          </a:solidFill>
                          <a:latin typeface="Calibri"/>
                        </a:rPr>
                        <a:t>319.1</a:t>
                      </a:r>
                      <a:endParaRPr sz="1100"/>
                    </a:p>
                  </a:txBody>
                  <a:tcPr marL="47625" marR="38100" marT="19050" marB="19050" anchor="ctr">
                    <a:solidFill>
                      <a:srgbClr val="F5F8FA"/>
                    </a:solidFill>
                  </a:tcPr>
                </a:tc>
                <a:tc>
                  <a:txBody>
                    <a:bodyPr/>
                    <a:lstStyle/>
                    <a:p>
                      <a:pPr algn="l"/>
                      <a:r>
                        <a:rPr sz="1100" b="0">
                          <a:solidFill>
                            <a:srgbClr val="2E2E2E"/>
                          </a:solidFill>
                          <a:latin typeface="Calibri"/>
                        </a:rPr>
                        <a:t>341.6</a:t>
                      </a:r>
                      <a:endParaRPr sz="1100"/>
                    </a:p>
                  </a:txBody>
                  <a:tcPr marL="47625" marR="38100" marT="19050" marB="19050" anchor="ctr">
                    <a:solidFill>
                      <a:srgbClr val="F5F8FA"/>
                    </a:solidFill>
                  </a:tcPr>
                </a:tc>
                <a:tc>
                  <a:txBody>
                    <a:bodyPr/>
                    <a:lstStyle/>
                    <a:p>
                      <a:pPr algn="l"/>
                      <a:r>
                        <a:rPr sz="1100" b="0">
                          <a:solidFill>
                            <a:srgbClr val="2E2E2E"/>
                          </a:solidFill>
                          <a:latin typeface="Calibri"/>
                        </a:rPr>
                        <a:t>367.4</a:t>
                      </a:r>
                      <a:endParaRPr sz="1100"/>
                    </a:p>
                  </a:txBody>
                  <a:tcPr marL="47625" marR="38100" marT="19050" marB="19050" anchor="ctr">
                    <a:solidFill>
                      <a:srgbClr val="F5F8FA"/>
                    </a:solidFill>
                  </a:tcPr>
                </a:tc>
                <a:tc>
                  <a:txBody>
                    <a:bodyPr/>
                    <a:lstStyle/>
                    <a:p>
                      <a:pPr algn="l"/>
                      <a:r>
                        <a:rPr sz="1100" b="0">
                          <a:solidFill>
                            <a:srgbClr val="2E2E2E"/>
                          </a:solidFill>
                          <a:latin typeface="Calibri"/>
                        </a:rPr>
                        <a:t>397.6</a:t>
                      </a:r>
                      <a:endParaRPr sz="1100"/>
                    </a:p>
                  </a:txBody>
                  <a:tcPr marL="47625" marR="38100" marT="19050" marB="19050" anchor="ctr">
                    <a:solidFill>
                      <a:srgbClr val="F5F8FA"/>
                    </a:solidFill>
                  </a:tcPr>
                </a:tc>
                <a:tc>
                  <a:txBody>
                    <a:bodyPr/>
                    <a:lstStyle/>
                    <a:p>
                      <a:pPr algn="l"/>
                      <a:r>
                        <a:rPr sz="1100" b="0">
                          <a:solidFill>
                            <a:srgbClr val="2E2E2E"/>
                          </a:solidFill>
                          <a:latin typeface="Calibri"/>
                        </a:rPr>
                        <a:t>431.8</a:t>
                      </a:r>
                      <a:endParaRPr sz="1100"/>
                    </a:p>
                  </a:txBody>
                  <a:tcPr marL="47625" marR="38100" marT="19050" marB="19050" anchor="ctr">
                    <a:solidFill>
                      <a:srgbClr val="F5F8FA"/>
                    </a:solidFill>
                  </a:tcPr>
                </a:tc>
                <a:tc>
                  <a:txBody>
                    <a:bodyPr/>
                    <a:lstStyle/>
                    <a:p>
                      <a:pPr algn="l"/>
                      <a:r>
                        <a:rPr sz="1100" b="0">
                          <a:solidFill>
                            <a:srgbClr val="2E2E2E"/>
                          </a:solidFill>
                          <a:latin typeface="Calibri"/>
                        </a:rPr>
                        <a:t>468.6</a:t>
                      </a:r>
                      <a:endParaRPr sz="1100"/>
                    </a:p>
                  </a:txBody>
                  <a:tcPr marL="47625" marR="38100" marT="19050" marB="19050" anchor="ctr">
                    <a:solidFill>
                      <a:srgbClr val="F5F8FA"/>
                    </a:solidFill>
                  </a:tcPr>
                </a:tc>
                <a:tc>
                  <a:txBody>
                    <a:bodyPr/>
                    <a:lstStyle/>
                    <a:p>
                      <a:pPr algn="l"/>
                      <a:r>
                        <a:rPr sz="1100" b="0">
                          <a:solidFill>
                            <a:srgbClr val="2E2E2E"/>
                          </a:solidFill>
                          <a:latin typeface="Calibri"/>
                        </a:rPr>
                        <a:t>507.3</a:t>
                      </a:r>
                      <a:endParaRPr sz="1100"/>
                    </a:p>
                  </a:txBody>
                  <a:tcPr marL="47625" marR="38100" marT="19050" marB="19050" anchor="ctr">
                    <a:solidFill>
                      <a:srgbClr val="F5F8FA"/>
                    </a:solidFill>
                  </a:tcPr>
                </a:tc>
                <a:tc>
                  <a:txBody>
                    <a:bodyPr/>
                    <a:lstStyle/>
                    <a:p>
                      <a:pPr algn="l"/>
                      <a:r>
                        <a:rPr sz="1100" b="0">
                          <a:solidFill>
                            <a:srgbClr val="2E2E2E"/>
                          </a:solidFill>
                          <a:latin typeface="Calibri"/>
                        </a:rPr>
                        <a:t>547.9</a:t>
                      </a:r>
                      <a:endParaRPr sz="1100"/>
                    </a:p>
                  </a:txBody>
                  <a:tcPr marL="47625" marR="38100" marT="19050" marB="19050" anchor="ctr">
                    <a:solidFill>
                      <a:srgbClr val="F5F8FA"/>
                    </a:solidFill>
                  </a:tcPr>
                </a:tc>
                <a:tc>
                  <a:txBody>
                    <a:bodyPr/>
                    <a:lstStyle/>
                    <a:p>
                      <a:pPr algn="l"/>
                      <a:r>
                        <a:rPr sz="1100" b="0">
                          <a:solidFill>
                            <a:srgbClr val="2E2E2E"/>
                          </a:solidFill>
                          <a:latin typeface="Calibri"/>
                        </a:rPr>
                        <a:t>590.2</a:t>
                      </a:r>
                      <a:endParaRPr sz="1100"/>
                    </a:p>
                  </a:txBody>
                  <a:tcPr marL="47625" marR="38100" marT="19050" marB="19050" anchor="ctr">
                    <a:solidFill>
                      <a:srgbClr val="F5F8FA"/>
                    </a:solidFill>
                  </a:tcPr>
                </a:tc>
                <a:tc>
                  <a:txBody>
                    <a:bodyPr/>
                    <a:lstStyle/>
                    <a:p>
                      <a:pPr algn="l"/>
                      <a:r>
                        <a:rPr sz="1100" b="0">
                          <a:solidFill>
                            <a:srgbClr val="2E2E2E"/>
                          </a:solidFill>
                          <a:latin typeface="Calibri"/>
                        </a:rPr>
                        <a:t>634.2</a:t>
                      </a:r>
                      <a:endParaRPr sz="1100"/>
                    </a:p>
                  </a:txBody>
                  <a:tcPr marL="47625" marR="38100" marT="19050" marB="19050" anchor="ctr">
                    <a:solidFill>
                      <a:srgbClr val="F5F8FA"/>
                    </a:solidFill>
                  </a:tcPr>
                </a:tc>
                <a:tc>
                  <a:txBody>
                    <a:bodyPr/>
                    <a:lstStyle/>
                    <a:p>
                      <a:pPr algn="l"/>
                      <a:r>
                        <a:rPr sz="1100" b="0">
                          <a:solidFill>
                            <a:srgbClr val="2E2E2E"/>
                          </a:solidFill>
                          <a:latin typeface="Calibri"/>
                        </a:rPr>
                        <a:t>680.2</a:t>
                      </a:r>
                      <a:endParaRPr sz="1100"/>
                    </a:p>
                  </a:txBody>
                  <a:tcPr marL="47625" marR="38100" marT="19050" marB="19050" anchor="ctr">
                    <a:solidFill>
                      <a:srgbClr val="F5F8FA"/>
                    </a:solidFill>
                  </a:tcPr>
                </a:tc>
                <a:tc>
                  <a:txBody>
                    <a:bodyPr/>
                    <a:lstStyle/>
                    <a:p>
                      <a:pPr algn="l"/>
                      <a:r>
                        <a:rPr sz="1100" b="0">
                          <a:solidFill>
                            <a:srgbClr val="2E2E2E"/>
                          </a:solidFill>
                          <a:latin typeface="Calibri"/>
                        </a:rPr>
                        <a:t>7.9%</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15537">
                <a:tc>
                  <a:txBody>
                    <a:bodyPr/>
                    <a:lstStyle/>
                    <a:p>
                      <a:pPr algn="l"/>
                      <a:r>
                        <a:rPr sz="1100" b="1">
                          <a:solidFill>
                            <a:srgbClr val="2E2E2E"/>
                          </a:solidFill>
                          <a:latin typeface="Calibri"/>
                        </a:rPr>
                        <a:t>Mass Retail</a:t>
                      </a:r>
                      <a:endParaRPr sz="1100"/>
                    </a:p>
                  </a:txBody>
                  <a:tcPr marL="47625" marR="38100" marT="19050" marB="19050" anchor="ctr">
                    <a:solidFill>
                      <a:srgbClr val="FFFFFF"/>
                    </a:solidFill>
                  </a:tcPr>
                </a:tc>
                <a:tc>
                  <a:txBody>
                    <a:bodyPr/>
                    <a:lstStyle/>
                    <a:p>
                      <a:pPr algn="l"/>
                      <a:r>
                        <a:rPr sz="1100" b="0">
                          <a:solidFill>
                            <a:srgbClr val="2E2E2E"/>
                          </a:solidFill>
                          <a:latin typeface="Calibri"/>
                        </a:rPr>
                        <a:t>228.9</a:t>
                      </a:r>
                      <a:endParaRPr sz="1100"/>
                    </a:p>
                  </a:txBody>
                  <a:tcPr marL="47625" marR="38100" marT="19050" marB="19050" anchor="ctr">
                    <a:solidFill>
                      <a:srgbClr val="FFFFFF"/>
                    </a:solidFill>
                  </a:tcPr>
                </a:tc>
                <a:tc>
                  <a:txBody>
                    <a:bodyPr/>
                    <a:lstStyle/>
                    <a:p>
                      <a:pPr algn="l"/>
                      <a:r>
                        <a:rPr sz="1100" b="0">
                          <a:solidFill>
                            <a:srgbClr val="2E2E2E"/>
                          </a:solidFill>
                          <a:latin typeface="Calibri"/>
                        </a:rPr>
                        <a:t>237.1</a:t>
                      </a:r>
                      <a:endParaRPr sz="1100"/>
                    </a:p>
                  </a:txBody>
                  <a:tcPr marL="47625" marR="38100" marT="19050" marB="19050" anchor="ctr">
                    <a:solidFill>
                      <a:srgbClr val="FFFFFF"/>
                    </a:solidFill>
                  </a:tcPr>
                </a:tc>
                <a:tc>
                  <a:txBody>
                    <a:bodyPr/>
                    <a:lstStyle/>
                    <a:p>
                      <a:pPr algn="l"/>
                      <a:r>
                        <a:rPr sz="1100" b="0">
                          <a:solidFill>
                            <a:srgbClr val="2E2E2E"/>
                          </a:solidFill>
                          <a:latin typeface="Calibri"/>
                        </a:rPr>
                        <a:t>245.8</a:t>
                      </a:r>
                      <a:endParaRPr sz="1100"/>
                    </a:p>
                  </a:txBody>
                  <a:tcPr marL="47625" marR="38100" marT="19050" marB="19050" anchor="ctr">
                    <a:solidFill>
                      <a:srgbClr val="FFFFFF"/>
                    </a:solidFill>
                  </a:tcPr>
                </a:tc>
                <a:tc>
                  <a:txBody>
                    <a:bodyPr/>
                    <a:lstStyle/>
                    <a:p>
                      <a:pPr algn="l"/>
                      <a:r>
                        <a:rPr sz="1100" b="0">
                          <a:solidFill>
                            <a:srgbClr val="2E2E2E"/>
                          </a:solidFill>
                          <a:latin typeface="Calibri"/>
                        </a:rPr>
                        <a:t>255.3</a:t>
                      </a:r>
                      <a:endParaRPr sz="1100"/>
                    </a:p>
                  </a:txBody>
                  <a:tcPr marL="47625" marR="38100" marT="19050" marB="19050" anchor="ctr">
                    <a:solidFill>
                      <a:srgbClr val="FFFFFF"/>
                    </a:solidFill>
                  </a:tcPr>
                </a:tc>
                <a:tc>
                  <a:txBody>
                    <a:bodyPr/>
                    <a:lstStyle/>
                    <a:p>
                      <a:pPr algn="l"/>
                      <a:r>
                        <a:rPr sz="1100" b="0">
                          <a:solidFill>
                            <a:srgbClr val="2E2E2E"/>
                          </a:solidFill>
                          <a:latin typeface="Calibri"/>
                        </a:rPr>
                        <a:t>264.8</a:t>
                      </a:r>
                      <a:endParaRPr sz="1100"/>
                    </a:p>
                  </a:txBody>
                  <a:tcPr marL="47625" marR="38100" marT="19050" marB="19050" anchor="ctr">
                    <a:solidFill>
                      <a:srgbClr val="FFFFFF"/>
                    </a:solidFill>
                  </a:tcPr>
                </a:tc>
                <a:tc>
                  <a:txBody>
                    <a:bodyPr/>
                    <a:lstStyle/>
                    <a:p>
                      <a:pPr algn="l"/>
                      <a:r>
                        <a:rPr sz="1100" b="0">
                          <a:solidFill>
                            <a:srgbClr val="2E2E2E"/>
                          </a:solidFill>
                          <a:latin typeface="Calibri"/>
                        </a:rPr>
                        <a:t>274.2</a:t>
                      </a:r>
                      <a:endParaRPr sz="1100"/>
                    </a:p>
                  </a:txBody>
                  <a:tcPr marL="47625" marR="38100" marT="19050" marB="19050" anchor="ctr">
                    <a:solidFill>
                      <a:srgbClr val="FFFFFF"/>
                    </a:solidFill>
                  </a:tcPr>
                </a:tc>
                <a:tc>
                  <a:txBody>
                    <a:bodyPr/>
                    <a:lstStyle/>
                    <a:p>
                      <a:pPr algn="l"/>
                      <a:r>
                        <a:rPr sz="1100" b="0">
                          <a:solidFill>
                            <a:srgbClr val="2E2E2E"/>
                          </a:solidFill>
                          <a:latin typeface="Calibri"/>
                        </a:rPr>
                        <a:t>283.1</a:t>
                      </a:r>
                      <a:endParaRPr sz="1100"/>
                    </a:p>
                  </a:txBody>
                  <a:tcPr marL="47625" marR="38100" marT="19050" marB="19050" anchor="ctr">
                    <a:solidFill>
                      <a:srgbClr val="FFFFFF"/>
                    </a:solidFill>
                  </a:tcPr>
                </a:tc>
                <a:tc>
                  <a:txBody>
                    <a:bodyPr/>
                    <a:lstStyle/>
                    <a:p>
                      <a:pPr algn="l"/>
                      <a:r>
                        <a:rPr sz="1100" b="0">
                          <a:solidFill>
                            <a:srgbClr val="2E2E2E"/>
                          </a:solidFill>
                          <a:latin typeface="Calibri"/>
                        </a:rPr>
                        <a:t>292.2</a:t>
                      </a:r>
                      <a:endParaRPr sz="1100"/>
                    </a:p>
                  </a:txBody>
                  <a:tcPr marL="47625" marR="38100" marT="19050" marB="19050" anchor="ctr">
                    <a:solidFill>
                      <a:srgbClr val="FFFFFF"/>
                    </a:solidFill>
                  </a:tcPr>
                </a:tc>
                <a:tc>
                  <a:txBody>
                    <a:bodyPr/>
                    <a:lstStyle/>
                    <a:p>
                      <a:pPr algn="l"/>
                      <a:r>
                        <a:rPr sz="1100" b="0">
                          <a:solidFill>
                            <a:srgbClr val="2E2E2E"/>
                          </a:solidFill>
                          <a:latin typeface="Calibri"/>
                        </a:rPr>
                        <a:t>301.8</a:t>
                      </a:r>
                      <a:endParaRPr sz="1100"/>
                    </a:p>
                  </a:txBody>
                  <a:tcPr marL="47625" marR="38100" marT="19050" marB="19050" anchor="ctr">
                    <a:solidFill>
                      <a:srgbClr val="FFFFFF"/>
                    </a:solidFill>
                  </a:tcPr>
                </a:tc>
                <a:tc>
                  <a:txBody>
                    <a:bodyPr/>
                    <a:lstStyle/>
                    <a:p>
                      <a:pPr algn="l"/>
                      <a:r>
                        <a:rPr sz="1100" b="0">
                          <a:solidFill>
                            <a:srgbClr val="2E2E2E"/>
                          </a:solidFill>
                          <a:latin typeface="Calibri"/>
                        </a:rPr>
                        <a:t>312.0</a:t>
                      </a:r>
                      <a:endParaRPr sz="1100"/>
                    </a:p>
                  </a:txBody>
                  <a:tcPr marL="47625" marR="38100" marT="19050" marB="19050" anchor="ctr">
                    <a:solidFill>
                      <a:srgbClr val="FFFFFF"/>
                    </a:solidFill>
                  </a:tcPr>
                </a:tc>
                <a:tc>
                  <a:txBody>
                    <a:bodyPr/>
                    <a:lstStyle/>
                    <a:p>
                      <a:pPr algn="l"/>
                      <a:r>
                        <a:rPr sz="1100" b="0">
                          <a:solidFill>
                            <a:srgbClr val="2E2E2E"/>
                          </a:solidFill>
                          <a:latin typeface="Calibri"/>
                        </a:rPr>
                        <a:t>323.0</a:t>
                      </a:r>
                      <a:endParaRPr sz="1100"/>
                    </a:p>
                  </a:txBody>
                  <a:tcPr marL="47625" marR="38100" marT="19050" marB="19050" anchor="ctr">
                    <a:solidFill>
                      <a:srgbClr val="FFFFFF"/>
                    </a:solidFill>
                  </a:tcPr>
                </a:tc>
                <a:tc>
                  <a:txBody>
                    <a:bodyPr/>
                    <a:lstStyle/>
                    <a:p>
                      <a:pPr algn="l"/>
                      <a:r>
                        <a:rPr sz="1100" b="0">
                          <a:solidFill>
                            <a:srgbClr val="2E2E2E"/>
                          </a:solidFill>
                          <a:latin typeface="Calibri"/>
                        </a:rPr>
                        <a:t>334.5</a:t>
                      </a:r>
                      <a:endParaRPr sz="1100"/>
                    </a:p>
                  </a:txBody>
                  <a:tcPr marL="47625" marR="38100" marT="19050" marB="19050" anchor="ctr">
                    <a:solidFill>
                      <a:srgbClr val="FFFFFF"/>
                    </a:solidFill>
                  </a:tcPr>
                </a:tc>
                <a:tc>
                  <a:txBody>
                    <a:bodyPr/>
                    <a:lstStyle/>
                    <a:p>
                      <a:pPr algn="l"/>
                      <a:r>
                        <a:rPr sz="1100" b="0">
                          <a:solidFill>
                            <a:srgbClr val="2E2E2E"/>
                          </a:solidFill>
                          <a:latin typeface="Calibri"/>
                        </a:rPr>
                        <a:t>346.6</a:t>
                      </a:r>
                      <a:endParaRPr sz="1100"/>
                    </a:p>
                  </a:txBody>
                  <a:tcPr marL="47625" marR="38100" marT="19050" marB="19050" anchor="ctr">
                    <a:solidFill>
                      <a:srgbClr val="FFFFFF"/>
                    </a:solidFill>
                  </a:tcPr>
                </a:tc>
                <a:tc>
                  <a:txBody>
                    <a:bodyPr/>
                    <a:lstStyle/>
                    <a:p>
                      <a:pPr algn="l"/>
                      <a:r>
                        <a:rPr sz="1100" b="0">
                          <a:solidFill>
                            <a:srgbClr val="2E2E2E"/>
                          </a:solidFill>
                          <a:latin typeface="Calibri"/>
                        </a:rPr>
                        <a:t>359.0</a:t>
                      </a:r>
                      <a:endParaRPr sz="1100"/>
                    </a:p>
                  </a:txBody>
                  <a:tcPr marL="47625" marR="38100" marT="19050" marB="19050" anchor="ctr">
                    <a:solidFill>
                      <a:srgbClr val="FFFFFF"/>
                    </a:solidFill>
                  </a:tcPr>
                </a:tc>
                <a:tc>
                  <a:txBody>
                    <a:bodyPr/>
                    <a:lstStyle/>
                    <a:p>
                      <a:pPr algn="l"/>
                      <a:r>
                        <a:rPr sz="1100" b="0">
                          <a:solidFill>
                            <a:srgbClr val="2E2E2E"/>
                          </a:solidFill>
                          <a:latin typeface="Calibri"/>
                        </a:rPr>
                        <a:t>371.2</a:t>
                      </a:r>
                      <a:endParaRPr sz="1100"/>
                    </a:p>
                  </a:txBody>
                  <a:tcPr marL="47625" marR="38100" marT="19050" marB="19050" anchor="ctr">
                    <a:solidFill>
                      <a:srgbClr val="FFFFFF"/>
                    </a:solidFill>
                  </a:tcPr>
                </a:tc>
                <a:tc>
                  <a:txBody>
                    <a:bodyPr/>
                    <a:lstStyle/>
                    <a:p>
                      <a:pPr algn="l"/>
                      <a:r>
                        <a:rPr sz="1100" b="0">
                          <a:solidFill>
                            <a:srgbClr val="2E2E2E"/>
                          </a:solidFill>
                          <a:latin typeface="Calibri"/>
                        </a:rPr>
                        <a:t>383.1</a:t>
                      </a:r>
                      <a:endParaRPr sz="1100"/>
                    </a:p>
                  </a:txBody>
                  <a:tcPr marL="47625" marR="38100" marT="19050" marB="19050" anchor="ctr">
                    <a:solidFill>
                      <a:srgbClr val="FFFFFF"/>
                    </a:solidFill>
                  </a:tcPr>
                </a:tc>
                <a:tc>
                  <a:txBody>
                    <a:bodyPr/>
                    <a:lstStyle/>
                    <a:p>
                      <a:pPr algn="l"/>
                      <a:r>
                        <a:rPr sz="1100" b="0">
                          <a:solidFill>
                            <a:srgbClr val="2E2E2E"/>
                          </a:solidFill>
                          <a:latin typeface="Calibri"/>
                        </a:rPr>
                        <a:t>3.4%</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15537">
                <a:tc>
                  <a:txBody>
                    <a:bodyPr/>
                    <a:lstStyle/>
                    <a:p>
                      <a:pPr algn="l"/>
                      <a:r>
                        <a:rPr sz="1100" b="1">
                          <a:solidFill>
                            <a:srgbClr val="2E2E2E"/>
                          </a:solidFill>
                          <a:latin typeface="Calibri"/>
                        </a:rPr>
                        <a:t>Pharmacy / Drugstores</a:t>
                      </a:r>
                      <a:endParaRPr sz="1100"/>
                    </a:p>
                  </a:txBody>
                  <a:tcPr marL="47625" marR="38100" marT="19050" marB="19050" anchor="ctr">
                    <a:solidFill>
                      <a:srgbClr val="F5F8FA"/>
                    </a:solidFill>
                  </a:tcPr>
                </a:tc>
                <a:tc>
                  <a:txBody>
                    <a:bodyPr/>
                    <a:lstStyle/>
                    <a:p>
                      <a:pPr algn="l"/>
                      <a:r>
                        <a:rPr sz="1100" b="0">
                          <a:solidFill>
                            <a:srgbClr val="2E2E2E"/>
                          </a:solidFill>
                          <a:latin typeface="Calibri"/>
                        </a:rPr>
                        <a:t>191.5</a:t>
                      </a:r>
                      <a:endParaRPr sz="1100"/>
                    </a:p>
                  </a:txBody>
                  <a:tcPr marL="47625" marR="38100" marT="19050" marB="19050" anchor="ctr">
                    <a:solidFill>
                      <a:srgbClr val="F5F8FA"/>
                    </a:solidFill>
                  </a:tcPr>
                </a:tc>
                <a:tc>
                  <a:txBody>
                    <a:bodyPr/>
                    <a:lstStyle/>
                    <a:p>
                      <a:pPr algn="l"/>
                      <a:r>
                        <a:rPr sz="1100" b="0">
                          <a:solidFill>
                            <a:srgbClr val="2E2E2E"/>
                          </a:solidFill>
                          <a:latin typeface="Calibri"/>
                        </a:rPr>
                        <a:t>195.2</a:t>
                      </a:r>
                      <a:endParaRPr sz="1100"/>
                    </a:p>
                  </a:txBody>
                  <a:tcPr marL="47625" marR="38100" marT="19050" marB="19050" anchor="ctr">
                    <a:solidFill>
                      <a:srgbClr val="F5F8FA"/>
                    </a:solidFill>
                  </a:tcPr>
                </a:tc>
                <a:tc>
                  <a:txBody>
                    <a:bodyPr/>
                    <a:lstStyle/>
                    <a:p>
                      <a:pPr algn="l"/>
                      <a:r>
                        <a:rPr sz="1100" b="0">
                          <a:solidFill>
                            <a:srgbClr val="2E2E2E"/>
                          </a:solidFill>
                          <a:latin typeface="Calibri"/>
                        </a:rPr>
                        <a:t>198.9</a:t>
                      </a:r>
                      <a:endParaRPr sz="1100"/>
                    </a:p>
                  </a:txBody>
                  <a:tcPr marL="47625" marR="38100" marT="19050" marB="19050" anchor="ctr">
                    <a:solidFill>
                      <a:srgbClr val="F5F8FA"/>
                    </a:solidFill>
                  </a:tcPr>
                </a:tc>
                <a:tc>
                  <a:txBody>
                    <a:bodyPr/>
                    <a:lstStyle/>
                    <a:p>
                      <a:pPr algn="l"/>
                      <a:r>
                        <a:rPr sz="1100" b="0">
                          <a:solidFill>
                            <a:srgbClr val="2E2E2E"/>
                          </a:solidFill>
                          <a:latin typeface="Calibri"/>
                        </a:rPr>
                        <a:t>202.8</a:t>
                      </a:r>
                      <a:endParaRPr sz="1100"/>
                    </a:p>
                  </a:txBody>
                  <a:tcPr marL="47625" marR="38100" marT="19050" marB="19050" anchor="ctr">
                    <a:solidFill>
                      <a:srgbClr val="F5F8FA"/>
                    </a:solidFill>
                  </a:tcPr>
                </a:tc>
                <a:tc>
                  <a:txBody>
                    <a:bodyPr/>
                    <a:lstStyle/>
                    <a:p>
                      <a:pPr algn="l"/>
                      <a:r>
                        <a:rPr sz="1100" b="0">
                          <a:solidFill>
                            <a:srgbClr val="2E2E2E"/>
                          </a:solidFill>
                          <a:latin typeface="Calibri"/>
                        </a:rPr>
                        <a:t>206.7</a:t>
                      </a:r>
                      <a:endParaRPr sz="1100"/>
                    </a:p>
                  </a:txBody>
                  <a:tcPr marL="47625" marR="38100" marT="19050" marB="19050" anchor="ctr">
                    <a:solidFill>
                      <a:srgbClr val="F5F8FA"/>
                    </a:solidFill>
                  </a:tcPr>
                </a:tc>
                <a:tc>
                  <a:txBody>
                    <a:bodyPr/>
                    <a:lstStyle/>
                    <a:p>
                      <a:pPr algn="l"/>
                      <a:r>
                        <a:rPr sz="1100" b="0">
                          <a:solidFill>
                            <a:srgbClr val="2E2E2E"/>
                          </a:solidFill>
                          <a:latin typeface="Calibri"/>
                        </a:rPr>
                        <a:t>210.5</a:t>
                      </a:r>
                      <a:endParaRPr sz="1100"/>
                    </a:p>
                  </a:txBody>
                  <a:tcPr marL="47625" marR="38100" marT="19050" marB="19050" anchor="ctr">
                    <a:solidFill>
                      <a:srgbClr val="F5F8FA"/>
                    </a:solidFill>
                  </a:tcPr>
                </a:tc>
                <a:tc>
                  <a:txBody>
                    <a:bodyPr/>
                    <a:lstStyle/>
                    <a:p>
                      <a:pPr algn="l"/>
                      <a:r>
                        <a:rPr sz="1100" b="0">
                          <a:solidFill>
                            <a:srgbClr val="2E2E2E"/>
                          </a:solidFill>
                          <a:latin typeface="Calibri"/>
                        </a:rPr>
                        <a:t>214.2</a:t>
                      </a:r>
                      <a:endParaRPr sz="1100"/>
                    </a:p>
                  </a:txBody>
                  <a:tcPr marL="47625" marR="38100" marT="19050" marB="19050" anchor="ctr">
                    <a:solidFill>
                      <a:srgbClr val="F5F8FA"/>
                    </a:solidFill>
                  </a:tcPr>
                </a:tc>
                <a:tc>
                  <a:txBody>
                    <a:bodyPr/>
                    <a:lstStyle/>
                    <a:p>
                      <a:pPr algn="l"/>
                      <a:r>
                        <a:rPr sz="1100" b="0">
                          <a:solidFill>
                            <a:srgbClr val="2E2E2E"/>
                          </a:solidFill>
                          <a:latin typeface="Calibri"/>
                        </a:rPr>
                        <a:t>217.6</a:t>
                      </a:r>
                      <a:endParaRPr sz="1100"/>
                    </a:p>
                  </a:txBody>
                  <a:tcPr marL="47625" marR="38100" marT="19050" marB="19050" anchor="ctr">
                    <a:solidFill>
                      <a:srgbClr val="F5F8FA"/>
                    </a:solidFill>
                  </a:tcPr>
                </a:tc>
                <a:tc>
                  <a:txBody>
                    <a:bodyPr/>
                    <a:lstStyle/>
                    <a:p>
                      <a:pPr algn="l"/>
                      <a:r>
                        <a:rPr sz="1100" b="0">
                          <a:solidFill>
                            <a:srgbClr val="2E2E2E"/>
                          </a:solidFill>
                          <a:latin typeface="Calibri"/>
                        </a:rPr>
                        <a:t>220.7</a:t>
                      </a:r>
                      <a:endParaRPr sz="1100"/>
                    </a:p>
                  </a:txBody>
                  <a:tcPr marL="47625" marR="38100" marT="19050" marB="19050" anchor="ctr">
                    <a:solidFill>
                      <a:srgbClr val="F5F8FA"/>
                    </a:solidFill>
                  </a:tcPr>
                </a:tc>
                <a:tc>
                  <a:txBody>
                    <a:bodyPr/>
                    <a:lstStyle/>
                    <a:p>
                      <a:pPr algn="l"/>
                      <a:r>
                        <a:rPr sz="1100" b="0">
                          <a:solidFill>
                            <a:srgbClr val="2E2E2E"/>
                          </a:solidFill>
                          <a:latin typeface="Calibri"/>
                        </a:rPr>
                        <a:t>223.1</a:t>
                      </a:r>
                      <a:endParaRPr sz="1100"/>
                    </a:p>
                  </a:txBody>
                  <a:tcPr marL="47625" marR="38100" marT="19050" marB="19050" anchor="ctr">
                    <a:solidFill>
                      <a:srgbClr val="F5F8FA"/>
                    </a:solidFill>
                  </a:tcPr>
                </a:tc>
                <a:tc>
                  <a:txBody>
                    <a:bodyPr/>
                    <a:lstStyle/>
                    <a:p>
                      <a:pPr algn="l"/>
                      <a:r>
                        <a:rPr sz="1100" b="0">
                          <a:solidFill>
                            <a:srgbClr val="2E2E2E"/>
                          </a:solidFill>
                          <a:latin typeface="Calibri"/>
                        </a:rPr>
                        <a:t>225.4</a:t>
                      </a:r>
                      <a:endParaRPr sz="1100"/>
                    </a:p>
                  </a:txBody>
                  <a:tcPr marL="47625" marR="38100" marT="19050" marB="19050" anchor="ctr">
                    <a:solidFill>
                      <a:srgbClr val="F5F8FA"/>
                    </a:solidFill>
                  </a:tcPr>
                </a:tc>
                <a:tc>
                  <a:txBody>
                    <a:bodyPr/>
                    <a:lstStyle/>
                    <a:p>
                      <a:pPr algn="l"/>
                      <a:r>
                        <a:rPr sz="1100" b="0">
                          <a:solidFill>
                            <a:srgbClr val="2E2E2E"/>
                          </a:solidFill>
                          <a:latin typeface="Calibri"/>
                        </a:rPr>
                        <a:t>227.8</a:t>
                      </a:r>
                      <a:endParaRPr sz="1100"/>
                    </a:p>
                  </a:txBody>
                  <a:tcPr marL="47625" marR="38100" marT="19050" marB="19050" anchor="ctr">
                    <a:solidFill>
                      <a:srgbClr val="F5F8FA"/>
                    </a:solidFill>
                  </a:tcPr>
                </a:tc>
                <a:tc>
                  <a:txBody>
                    <a:bodyPr/>
                    <a:lstStyle/>
                    <a:p>
                      <a:pPr algn="l"/>
                      <a:r>
                        <a:rPr sz="1100" b="0">
                          <a:solidFill>
                            <a:srgbClr val="2E2E2E"/>
                          </a:solidFill>
                          <a:latin typeface="Calibri"/>
                        </a:rPr>
                        <a:t>230.7</a:t>
                      </a:r>
                      <a:endParaRPr sz="1100"/>
                    </a:p>
                  </a:txBody>
                  <a:tcPr marL="47625" marR="38100" marT="19050" marB="19050" anchor="ctr">
                    <a:solidFill>
                      <a:srgbClr val="F5F8FA"/>
                    </a:solidFill>
                  </a:tcPr>
                </a:tc>
                <a:tc>
                  <a:txBody>
                    <a:bodyPr/>
                    <a:lstStyle/>
                    <a:p>
                      <a:pPr algn="l"/>
                      <a:r>
                        <a:rPr sz="1100" b="0">
                          <a:solidFill>
                            <a:srgbClr val="2E2E2E"/>
                          </a:solidFill>
                          <a:latin typeface="Calibri"/>
                        </a:rPr>
                        <a:t>233.7</a:t>
                      </a:r>
                      <a:endParaRPr sz="1100"/>
                    </a:p>
                  </a:txBody>
                  <a:tcPr marL="47625" marR="38100" marT="19050" marB="19050" anchor="ctr">
                    <a:solidFill>
                      <a:srgbClr val="F5F8FA"/>
                    </a:solidFill>
                  </a:tcPr>
                </a:tc>
                <a:tc>
                  <a:txBody>
                    <a:bodyPr/>
                    <a:lstStyle/>
                    <a:p>
                      <a:pPr algn="l"/>
                      <a:r>
                        <a:rPr sz="1100" b="0">
                          <a:solidFill>
                            <a:srgbClr val="2E2E2E"/>
                          </a:solidFill>
                          <a:latin typeface="Calibri"/>
                        </a:rPr>
                        <a:t>236.6</a:t>
                      </a:r>
                      <a:endParaRPr sz="1100"/>
                    </a:p>
                  </a:txBody>
                  <a:tcPr marL="47625" marR="38100" marT="19050" marB="19050" anchor="ctr">
                    <a:solidFill>
                      <a:srgbClr val="F5F8FA"/>
                    </a:solidFill>
                  </a:tcPr>
                </a:tc>
                <a:tc>
                  <a:txBody>
                    <a:bodyPr/>
                    <a:lstStyle/>
                    <a:p>
                      <a:pPr algn="l"/>
                      <a:r>
                        <a:rPr sz="1100" b="0">
                          <a:solidFill>
                            <a:srgbClr val="2E2E2E"/>
                          </a:solidFill>
                          <a:latin typeface="Calibri"/>
                        </a:rPr>
                        <a:t>239.3</a:t>
                      </a:r>
                      <a:endParaRPr sz="1100"/>
                    </a:p>
                  </a:txBody>
                  <a:tcPr marL="47625" marR="38100" marT="19050" marB="19050" anchor="ctr">
                    <a:solidFill>
                      <a:srgbClr val="F5F8FA"/>
                    </a:solidFill>
                  </a:tcPr>
                </a:tc>
                <a:tc>
                  <a:txBody>
                    <a:bodyPr/>
                    <a:lstStyle/>
                    <a:p>
                      <a:pPr algn="l"/>
                      <a:r>
                        <a:rPr sz="1100" b="0">
                          <a:solidFill>
                            <a:srgbClr val="2E2E2E"/>
                          </a:solidFill>
                          <a:latin typeface="Calibri"/>
                        </a:rPr>
                        <a:t>1.3%</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15537">
                <a:tc>
                  <a:txBody>
                    <a:bodyPr/>
                    <a:lstStyle/>
                    <a:p>
                      <a:pPr algn="l"/>
                      <a:r>
                        <a:rPr sz="1100" b="1">
                          <a:solidFill>
                            <a:srgbClr val="2E2E2E"/>
                          </a:solidFill>
                          <a:latin typeface="Calibri"/>
                        </a:rPr>
                        <a:t>Specialty Health &amp; Wellness Retail</a:t>
                      </a:r>
                      <a:endParaRPr sz="1100"/>
                    </a:p>
                  </a:txBody>
                  <a:tcPr marL="47625" marR="38100" marT="19050" marB="19050" anchor="ctr">
                    <a:solidFill>
                      <a:srgbClr val="FFFFFF"/>
                    </a:solidFill>
                  </a:tcPr>
                </a:tc>
                <a:tc>
                  <a:txBody>
                    <a:bodyPr/>
                    <a:lstStyle/>
                    <a:p>
                      <a:pPr algn="l"/>
                      <a:r>
                        <a:rPr sz="1100" b="0">
                          <a:solidFill>
                            <a:srgbClr val="2E2E2E"/>
                          </a:solidFill>
                          <a:latin typeface="Calibri"/>
                        </a:rPr>
                        <a:t>37.3</a:t>
                      </a:r>
                      <a:endParaRPr sz="1100"/>
                    </a:p>
                  </a:txBody>
                  <a:tcPr marL="47625" marR="38100" marT="19050" marB="19050" anchor="ctr">
                    <a:solidFill>
                      <a:srgbClr val="FFFFFF"/>
                    </a:solidFill>
                  </a:tcPr>
                </a:tc>
                <a:tc>
                  <a:txBody>
                    <a:bodyPr/>
                    <a:lstStyle/>
                    <a:p>
                      <a:pPr algn="l"/>
                      <a:r>
                        <a:rPr sz="1100" b="0">
                          <a:solidFill>
                            <a:srgbClr val="2E2E2E"/>
                          </a:solidFill>
                          <a:latin typeface="Calibri"/>
                        </a:rPr>
                        <a:t>39.5</a:t>
                      </a:r>
                      <a:endParaRPr sz="1100"/>
                    </a:p>
                  </a:txBody>
                  <a:tcPr marL="47625" marR="38100" marT="19050" marB="19050" anchor="ctr">
                    <a:solidFill>
                      <a:srgbClr val="FFFFFF"/>
                    </a:solidFill>
                  </a:tcPr>
                </a:tc>
                <a:tc>
                  <a:txBody>
                    <a:bodyPr/>
                    <a:lstStyle/>
                    <a:p>
                      <a:pPr algn="l"/>
                      <a:r>
                        <a:rPr sz="1100" b="0">
                          <a:solidFill>
                            <a:srgbClr val="2E2E2E"/>
                          </a:solidFill>
                          <a:latin typeface="Calibri"/>
                        </a:rPr>
                        <a:t>41.6</a:t>
                      </a:r>
                      <a:endParaRPr sz="1100"/>
                    </a:p>
                  </a:txBody>
                  <a:tcPr marL="47625" marR="38100" marT="19050" marB="19050" anchor="ctr">
                    <a:solidFill>
                      <a:srgbClr val="FFFFFF"/>
                    </a:solidFill>
                  </a:tcPr>
                </a:tc>
                <a:tc>
                  <a:txBody>
                    <a:bodyPr/>
                    <a:lstStyle/>
                    <a:p>
                      <a:pPr algn="l"/>
                      <a:r>
                        <a:rPr sz="1100" b="0">
                          <a:solidFill>
                            <a:srgbClr val="2E2E2E"/>
                          </a:solidFill>
                          <a:latin typeface="Calibri"/>
                        </a:rPr>
                        <a:t>43.7</a:t>
                      </a:r>
                      <a:endParaRPr sz="1100"/>
                    </a:p>
                  </a:txBody>
                  <a:tcPr marL="47625" marR="38100" marT="19050" marB="19050" anchor="ctr">
                    <a:solidFill>
                      <a:srgbClr val="FFFFFF"/>
                    </a:solidFill>
                  </a:tcPr>
                </a:tc>
                <a:tc>
                  <a:txBody>
                    <a:bodyPr/>
                    <a:lstStyle/>
                    <a:p>
                      <a:pPr algn="l"/>
                      <a:r>
                        <a:rPr sz="1100" b="0">
                          <a:solidFill>
                            <a:srgbClr val="2E2E2E"/>
                          </a:solidFill>
                          <a:latin typeface="Calibri"/>
                        </a:rPr>
                        <a:t>45.7</a:t>
                      </a:r>
                      <a:endParaRPr sz="1100"/>
                    </a:p>
                  </a:txBody>
                  <a:tcPr marL="47625" marR="38100" marT="19050" marB="19050" anchor="ctr">
                    <a:solidFill>
                      <a:srgbClr val="FFFFFF"/>
                    </a:solidFill>
                  </a:tcPr>
                </a:tc>
                <a:tc>
                  <a:txBody>
                    <a:bodyPr/>
                    <a:lstStyle/>
                    <a:p>
                      <a:pPr algn="l"/>
                      <a:r>
                        <a:rPr sz="1100" b="0">
                          <a:solidFill>
                            <a:srgbClr val="2E2E2E"/>
                          </a:solidFill>
                          <a:latin typeface="Calibri"/>
                        </a:rPr>
                        <a:t>47.9</a:t>
                      </a:r>
                      <a:endParaRPr sz="1100"/>
                    </a:p>
                  </a:txBody>
                  <a:tcPr marL="47625" marR="38100" marT="19050" marB="19050" anchor="ctr">
                    <a:solidFill>
                      <a:srgbClr val="FFFFFF"/>
                    </a:solidFill>
                  </a:tcPr>
                </a:tc>
                <a:tc>
                  <a:txBody>
                    <a:bodyPr/>
                    <a:lstStyle/>
                    <a:p>
                      <a:pPr algn="l"/>
                      <a:r>
                        <a:rPr sz="1100" b="0">
                          <a:solidFill>
                            <a:srgbClr val="2E2E2E"/>
                          </a:solidFill>
                          <a:latin typeface="Calibri"/>
                        </a:rPr>
                        <a:t>50.4</a:t>
                      </a:r>
                      <a:endParaRPr sz="1100"/>
                    </a:p>
                  </a:txBody>
                  <a:tcPr marL="47625" marR="38100" marT="19050" marB="19050" anchor="ctr">
                    <a:solidFill>
                      <a:srgbClr val="FFFFFF"/>
                    </a:solidFill>
                  </a:tcPr>
                </a:tc>
                <a:tc>
                  <a:txBody>
                    <a:bodyPr/>
                    <a:lstStyle/>
                    <a:p>
                      <a:pPr algn="l"/>
                      <a:r>
                        <a:rPr sz="1100" b="0">
                          <a:solidFill>
                            <a:srgbClr val="2E2E2E"/>
                          </a:solidFill>
                          <a:latin typeface="Calibri"/>
                        </a:rPr>
                        <a:t>53.1</a:t>
                      </a:r>
                      <a:endParaRPr sz="1100"/>
                    </a:p>
                  </a:txBody>
                  <a:tcPr marL="47625" marR="38100" marT="19050" marB="19050" anchor="ctr">
                    <a:solidFill>
                      <a:srgbClr val="FFFFFF"/>
                    </a:solidFill>
                  </a:tcPr>
                </a:tc>
                <a:tc>
                  <a:txBody>
                    <a:bodyPr/>
                    <a:lstStyle/>
                    <a:p>
                      <a:pPr algn="l"/>
                      <a:r>
                        <a:rPr sz="1100" b="0">
                          <a:solidFill>
                            <a:srgbClr val="2E2E2E"/>
                          </a:solidFill>
                          <a:latin typeface="Calibri"/>
                        </a:rPr>
                        <a:t>56.1</a:t>
                      </a:r>
                      <a:endParaRPr sz="1100"/>
                    </a:p>
                  </a:txBody>
                  <a:tcPr marL="47625" marR="38100" marT="19050" marB="19050" anchor="ctr">
                    <a:solidFill>
                      <a:srgbClr val="FFFFFF"/>
                    </a:solidFill>
                  </a:tcPr>
                </a:tc>
                <a:tc>
                  <a:txBody>
                    <a:bodyPr/>
                    <a:lstStyle/>
                    <a:p>
                      <a:pPr algn="l"/>
                      <a:r>
                        <a:rPr sz="1100" b="0">
                          <a:solidFill>
                            <a:srgbClr val="2E2E2E"/>
                          </a:solidFill>
                          <a:latin typeface="Calibri"/>
                        </a:rPr>
                        <a:t>59.0</a:t>
                      </a:r>
                      <a:endParaRPr sz="1100"/>
                    </a:p>
                  </a:txBody>
                  <a:tcPr marL="47625" marR="38100" marT="19050" marB="19050" anchor="ctr">
                    <a:solidFill>
                      <a:srgbClr val="FFFFFF"/>
                    </a:solidFill>
                  </a:tcPr>
                </a:tc>
                <a:tc>
                  <a:txBody>
                    <a:bodyPr/>
                    <a:lstStyle/>
                    <a:p>
                      <a:pPr algn="l"/>
                      <a:r>
                        <a:rPr sz="1100" b="0">
                          <a:solidFill>
                            <a:srgbClr val="2E2E2E"/>
                          </a:solidFill>
                          <a:latin typeface="Calibri"/>
                        </a:rPr>
                        <a:t>62.0</a:t>
                      </a:r>
                      <a:endParaRPr sz="1100"/>
                    </a:p>
                  </a:txBody>
                  <a:tcPr marL="47625" marR="38100" marT="19050" marB="19050" anchor="ctr">
                    <a:solidFill>
                      <a:srgbClr val="FFFFFF"/>
                    </a:solidFill>
                  </a:tcPr>
                </a:tc>
                <a:tc>
                  <a:txBody>
                    <a:bodyPr/>
                    <a:lstStyle/>
                    <a:p>
                      <a:pPr algn="l"/>
                      <a:r>
                        <a:rPr sz="1100" b="0">
                          <a:solidFill>
                            <a:srgbClr val="2E2E2E"/>
                          </a:solidFill>
                          <a:latin typeface="Calibri"/>
                        </a:rPr>
                        <a:t>65.1</a:t>
                      </a:r>
                      <a:endParaRPr sz="1100"/>
                    </a:p>
                  </a:txBody>
                  <a:tcPr marL="47625" marR="38100" marT="19050" marB="19050" anchor="ctr">
                    <a:solidFill>
                      <a:srgbClr val="FFFFFF"/>
                    </a:solidFill>
                  </a:tcPr>
                </a:tc>
                <a:tc>
                  <a:txBody>
                    <a:bodyPr/>
                    <a:lstStyle/>
                    <a:p>
                      <a:pPr algn="l"/>
                      <a:r>
                        <a:rPr sz="1100" b="0">
                          <a:solidFill>
                            <a:srgbClr val="2E2E2E"/>
                          </a:solidFill>
                          <a:latin typeface="Calibri"/>
                        </a:rPr>
                        <a:t>68.5</a:t>
                      </a:r>
                      <a:endParaRPr sz="1100"/>
                    </a:p>
                  </a:txBody>
                  <a:tcPr marL="47625" marR="38100" marT="19050" marB="19050" anchor="ctr">
                    <a:solidFill>
                      <a:srgbClr val="FFFFFF"/>
                    </a:solidFill>
                  </a:tcPr>
                </a:tc>
                <a:tc>
                  <a:txBody>
                    <a:bodyPr/>
                    <a:lstStyle/>
                    <a:p>
                      <a:pPr algn="l"/>
                      <a:r>
                        <a:rPr sz="1100" b="0">
                          <a:solidFill>
                            <a:srgbClr val="2E2E2E"/>
                          </a:solidFill>
                          <a:latin typeface="Calibri"/>
                        </a:rPr>
                        <a:t>72.2</a:t>
                      </a:r>
                      <a:endParaRPr sz="1100"/>
                    </a:p>
                  </a:txBody>
                  <a:tcPr marL="47625" marR="38100" marT="19050" marB="19050" anchor="ctr">
                    <a:solidFill>
                      <a:srgbClr val="FFFFFF"/>
                    </a:solidFill>
                  </a:tcPr>
                </a:tc>
                <a:tc>
                  <a:txBody>
                    <a:bodyPr/>
                    <a:lstStyle/>
                    <a:p>
                      <a:pPr algn="l"/>
                      <a:r>
                        <a:rPr sz="1100" b="0">
                          <a:solidFill>
                            <a:srgbClr val="2E2E2E"/>
                          </a:solidFill>
                          <a:latin typeface="Calibri"/>
                        </a:rPr>
                        <a:t>75.9</a:t>
                      </a:r>
                      <a:endParaRPr sz="1100"/>
                    </a:p>
                  </a:txBody>
                  <a:tcPr marL="47625" marR="38100" marT="19050" marB="19050" anchor="ctr">
                    <a:solidFill>
                      <a:srgbClr val="FFFFFF"/>
                    </a:solidFill>
                  </a:tcPr>
                </a:tc>
                <a:tc>
                  <a:txBody>
                    <a:bodyPr/>
                    <a:lstStyle/>
                    <a:p>
                      <a:pPr algn="l"/>
                      <a:r>
                        <a:rPr sz="1100" b="0">
                          <a:solidFill>
                            <a:srgbClr val="2E2E2E"/>
                          </a:solidFill>
                          <a:latin typeface="Calibri"/>
                        </a:rPr>
                        <a:t>79.8</a:t>
                      </a:r>
                      <a:endParaRPr sz="1100"/>
                    </a:p>
                  </a:txBody>
                  <a:tcPr marL="47625" marR="38100" marT="19050" marB="19050" anchor="ctr">
                    <a:solidFill>
                      <a:srgbClr val="FFFFFF"/>
                    </a:solidFill>
                  </a:tcPr>
                </a:tc>
                <a:tc>
                  <a:txBody>
                    <a:bodyPr/>
                    <a:lstStyle/>
                    <a:p>
                      <a:pPr algn="l"/>
                      <a:r>
                        <a:rPr sz="1100" b="0">
                          <a:solidFill>
                            <a:srgbClr val="2E2E2E"/>
                          </a:solidFill>
                          <a:latin typeface="Calibri"/>
                        </a:rPr>
                        <a:t>5.2%</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15537">
                <a:tc>
                  <a:txBody>
                    <a:bodyPr/>
                    <a:lstStyle/>
                    <a:p>
                      <a:pPr algn="l"/>
                      <a:r>
                        <a:rPr sz="1100" b="1">
                          <a:solidFill>
                            <a:srgbClr val="2E2E2E"/>
                          </a:solidFill>
                          <a:latin typeface="Calibri"/>
                        </a:rPr>
                        <a:t>Practitioner / Clinic Channel</a:t>
                      </a:r>
                      <a:endParaRPr sz="1100"/>
                    </a:p>
                  </a:txBody>
                  <a:tcPr marL="47625" marR="38100" marT="19050" marB="19050" anchor="ctr">
                    <a:solidFill>
                      <a:srgbClr val="F5F8FA"/>
                    </a:solidFill>
                  </a:tcPr>
                </a:tc>
                <a:tc>
                  <a:txBody>
                    <a:bodyPr/>
                    <a:lstStyle/>
                    <a:p>
                      <a:pPr algn="l"/>
                      <a:r>
                        <a:rPr sz="1100" b="0">
                          <a:solidFill>
                            <a:srgbClr val="2E2E2E"/>
                          </a:solidFill>
                          <a:latin typeface="Calibri"/>
                        </a:rPr>
                        <a:t>13.6</a:t>
                      </a:r>
                      <a:endParaRPr sz="1100"/>
                    </a:p>
                  </a:txBody>
                  <a:tcPr marL="47625" marR="38100" marT="19050" marB="19050" anchor="ctr">
                    <a:solidFill>
                      <a:srgbClr val="F5F8FA"/>
                    </a:solidFill>
                  </a:tcPr>
                </a:tc>
                <a:tc>
                  <a:txBody>
                    <a:bodyPr/>
                    <a:lstStyle/>
                    <a:p>
                      <a:pPr algn="l"/>
                      <a:r>
                        <a:rPr sz="1100" b="0">
                          <a:solidFill>
                            <a:srgbClr val="2E2E2E"/>
                          </a:solidFill>
                          <a:latin typeface="Calibri"/>
                        </a:rPr>
                        <a:t>14.2</a:t>
                      </a:r>
                      <a:endParaRPr sz="1100"/>
                    </a:p>
                  </a:txBody>
                  <a:tcPr marL="47625" marR="38100" marT="19050" marB="19050" anchor="ctr">
                    <a:solidFill>
                      <a:srgbClr val="F5F8FA"/>
                    </a:solidFill>
                  </a:tcPr>
                </a:tc>
                <a:tc>
                  <a:txBody>
                    <a:bodyPr/>
                    <a:lstStyle/>
                    <a:p>
                      <a:pPr algn="l"/>
                      <a:r>
                        <a:rPr sz="1100" b="0">
                          <a:solidFill>
                            <a:srgbClr val="2E2E2E"/>
                          </a:solidFill>
                          <a:latin typeface="Calibri"/>
                        </a:rPr>
                        <a:t>14.9</a:t>
                      </a:r>
                      <a:endParaRPr sz="1100"/>
                    </a:p>
                  </a:txBody>
                  <a:tcPr marL="47625" marR="38100" marT="19050" marB="19050" anchor="ctr">
                    <a:solidFill>
                      <a:srgbClr val="F5F8FA"/>
                    </a:solidFill>
                  </a:tcPr>
                </a:tc>
                <a:tc>
                  <a:txBody>
                    <a:bodyPr/>
                    <a:lstStyle/>
                    <a:p>
                      <a:pPr algn="l"/>
                      <a:r>
                        <a:rPr sz="1100" b="0">
                          <a:solidFill>
                            <a:srgbClr val="2E2E2E"/>
                          </a:solidFill>
                          <a:latin typeface="Calibri"/>
                        </a:rPr>
                        <a:t>15.5</a:t>
                      </a:r>
                      <a:endParaRPr sz="1100"/>
                    </a:p>
                  </a:txBody>
                  <a:tcPr marL="47625" marR="38100" marT="19050" marB="19050" anchor="ctr">
                    <a:solidFill>
                      <a:srgbClr val="F5F8FA"/>
                    </a:solidFill>
                  </a:tcPr>
                </a:tc>
                <a:tc>
                  <a:txBody>
                    <a:bodyPr/>
                    <a:lstStyle/>
                    <a:p>
                      <a:pPr algn="l"/>
                      <a:r>
                        <a:rPr sz="1100" b="0">
                          <a:solidFill>
                            <a:srgbClr val="2E2E2E"/>
                          </a:solidFill>
                          <a:latin typeface="Calibri"/>
                        </a:rPr>
                        <a:t>16.2</a:t>
                      </a:r>
                      <a:endParaRPr sz="1100"/>
                    </a:p>
                  </a:txBody>
                  <a:tcPr marL="47625" marR="38100" marT="19050" marB="19050" anchor="ctr">
                    <a:solidFill>
                      <a:srgbClr val="F5F8FA"/>
                    </a:solidFill>
                  </a:tcPr>
                </a:tc>
                <a:tc>
                  <a:txBody>
                    <a:bodyPr/>
                    <a:lstStyle/>
                    <a:p>
                      <a:pPr algn="l"/>
                      <a:r>
                        <a:rPr sz="1100" b="0">
                          <a:solidFill>
                            <a:srgbClr val="2E2E2E"/>
                          </a:solidFill>
                          <a:latin typeface="Calibri"/>
                        </a:rPr>
                        <a:t>16.9</a:t>
                      </a:r>
                      <a:endParaRPr sz="1100"/>
                    </a:p>
                  </a:txBody>
                  <a:tcPr marL="47625" marR="38100" marT="19050" marB="19050" anchor="ctr">
                    <a:solidFill>
                      <a:srgbClr val="F5F8FA"/>
                    </a:solidFill>
                  </a:tcPr>
                </a:tc>
                <a:tc>
                  <a:txBody>
                    <a:bodyPr/>
                    <a:lstStyle/>
                    <a:p>
                      <a:pPr algn="l"/>
                      <a:r>
                        <a:rPr sz="1100" b="0">
                          <a:solidFill>
                            <a:srgbClr val="2E2E2E"/>
                          </a:solidFill>
                          <a:latin typeface="Calibri"/>
                        </a:rPr>
                        <a:t>17.6</a:t>
                      </a:r>
                      <a:endParaRPr sz="1100"/>
                    </a:p>
                  </a:txBody>
                  <a:tcPr marL="47625" marR="38100" marT="19050" marB="19050" anchor="ctr">
                    <a:solidFill>
                      <a:srgbClr val="F5F8FA"/>
                    </a:solidFill>
                  </a:tcPr>
                </a:tc>
                <a:tc>
                  <a:txBody>
                    <a:bodyPr/>
                    <a:lstStyle/>
                    <a:p>
                      <a:pPr algn="l"/>
                      <a:r>
                        <a:rPr sz="1100" b="0">
                          <a:solidFill>
                            <a:srgbClr val="2E2E2E"/>
                          </a:solidFill>
                          <a:latin typeface="Calibri"/>
                        </a:rPr>
                        <a:t>18.4</a:t>
                      </a:r>
                      <a:endParaRPr sz="1100"/>
                    </a:p>
                  </a:txBody>
                  <a:tcPr marL="47625" marR="38100" marT="19050" marB="19050" anchor="ctr">
                    <a:solidFill>
                      <a:srgbClr val="F5F8FA"/>
                    </a:solidFill>
                  </a:tcPr>
                </a:tc>
                <a:tc>
                  <a:txBody>
                    <a:bodyPr/>
                    <a:lstStyle/>
                    <a:p>
                      <a:pPr algn="l"/>
                      <a:r>
                        <a:rPr sz="1100" b="0">
                          <a:solidFill>
                            <a:srgbClr val="2E2E2E"/>
                          </a:solidFill>
                          <a:latin typeface="Calibri"/>
                        </a:rPr>
                        <a:t>19.2</a:t>
                      </a:r>
                      <a:endParaRPr sz="1100"/>
                    </a:p>
                  </a:txBody>
                  <a:tcPr marL="47625" marR="38100" marT="19050" marB="19050" anchor="ctr">
                    <a:solidFill>
                      <a:srgbClr val="F5F8FA"/>
                    </a:solidFill>
                  </a:tcPr>
                </a:tc>
                <a:tc>
                  <a:txBody>
                    <a:bodyPr/>
                    <a:lstStyle/>
                    <a:p>
                      <a:pPr algn="l"/>
                      <a:r>
                        <a:rPr sz="1100" b="0">
                          <a:solidFill>
                            <a:srgbClr val="2E2E2E"/>
                          </a:solidFill>
                          <a:latin typeface="Calibri"/>
                        </a:rPr>
                        <a:t>20.0</a:t>
                      </a:r>
                      <a:endParaRPr sz="1100"/>
                    </a:p>
                  </a:txBody>
                  <a:tcPr marL="47625" marR="38100" marT="19050" marB="19050" anchor="ctr">
                    <a:solidFill>
                      <a:srgbClr val="F5F8FA"/>
                    </a:solidFill>
                  </a:tcPr>
                </a:tc>
                <a:tc>
                  <a:txBody>
                    <a:bodyPr/>
                    <a:lstStyle/>
                    <a:p>
                      <a:pPr algn="l"/>
                      <a:r>
                        <a:rPr sz="1100" b="0">
                          <a:solidFill>
                            <a:srgbClr val="2E2E2E"/>
                          </a:solidFill>
                          <a:latin typeface="Calibri"/>
                        </a:rPr>
                        <a:t>20.9</a:t>
                      </a:r>
                      <a:endParaRPr sz="1100"/>
                    </a:p>
                  </a:txBody>
                  <a:tcPr marL="47625" marR="38100" marT="19050" marB="19050" anchor="ctr">
                    <a:solidFill>
                      <a:srgbClr val="F5F8FA"/>
                    </a:solidFill>
                  </a:tcPr>
                </a:tc>
                <a:tc>
                  <a:txBody>
                    <a:bodyPr/>
                    <a:lstStyle/>
                    <a:p>
                      <a:pPr algn="l"/>
                      <a:r>
                        <a:rPr sz="1100" b="0">
                          <a:solidFill>
                            <a:srgbClr val="2E2E2E"/>
                          </a:solidFill>
                          <a:latin typeface="Calibri"/>
                        </a:rPr>
                        <a:t>21.7</a:t>
                      </a:r>
                      <a:endParaRPr sz="1100"/>
                    </a:p>
                  </a:txBody>
                  <a:tcPr marL="47625" marR="38100" marT="19050" marB="19050" anchor="ctr">
                    <a:solidFill>
                      <a:srgbClr val="F5F8FA"/>
                    </a:solidFill>
                  </a:tcPr>
                </a:tc>
                <a:tc>
                  <a:txBody>
                    <a:bodyPr/>
                    <a:lstStyle/>
                    <a:p>
                      <a:pPr algn="l"/>
                      <a:r>
                        <a:rPr sz="1100" b="0">
                          <a:solidFill>
                            <a:srgbClr val="2E2E2E"/>
                          </a:solidFill>
                          <a:latin typeface="Calibri"/>
                        </a:rPr>
                        <a:t>22.6</a:t>
                      </a:r>
                      <a:endParaRPr sz="1100"/>
                    </a:p>
                  </a:txBody>
                  <a:tcPr marL="47625" marR="38100" marT="19050" marB="19050" anchor="ctr">
                    <a:solidFill>
                      <a:srgbClr val="F5F8FA"/>
                    </a:solidFill>
                  </a:tcPr>
                </a:tc>
                <a:tc>
                  <a:txBody>
                    <a:bodyPr/>
                    <a:lstStyle/>
                    <a:p>
                      <a:pPr algn="l"/>
                      <a:r>
                        <a:rPr sz="1100" b="0">
                          <a:solidFill>
                            <a:srgbClr val="2E2E2E"/>
                          </a:solidFill>
                          <a:latin typeface="Calibri"/>
                        </a:rPr>
                        <a:t>23.5</a:t>
                      </a:r>
                      <a:endParaRPr sz="1100"/>
                    </a:p>
                  </a:txBody>
                  <a:tcPr marL="47625" marR="38100" marT="19050" marB="19050" anchor="ctr">
                    <a:solidFill>
                      <a:srgbClr val="F5F8FA"/>
                    </a:solidFill>
                  </a:tcPr>
                </a:tc>
                <a:tc>
                  <a:txBody>
                    <a:bodyPr/>
                    <a:lstStyle/>
                    <a:p>
                      <a:pPr algn="l"/>
                      <a:r>
                        <a:rPr sz="1100" b="0">
                          <a:solidFill>
                            <a:srgbClr val="2E2E2E"/>
                          </a:solidFill>
                          <a:latin typeface="Calibri"/>
                        </a:rPr>
                        <a:t>24.5</a:t>
                      </a:r>
                      <a:endParaRPr sz="1100"/>
                    </a:p>
                  </a:txBody>
                  <a:tcPr marL="47625" marR="38100" marT="19050" marB="19050" anchor="ctr">
                    <a:solidFill>
                      <a:srgbClr val="F5F8FA"/>
                    </a:solidFill>
                  </a:tcPr>
                </a:tc>
                <a:tc>
                  <a:txBody>
                    <a:bodyPr/>
                    <a:lstStyle/>
                    <a:p>
                      <a:pPr algn="l"/>
                      <a:r>
                        <a:rPr sz="1100" b="0">
                          <a:solidFill>
                            <a:srgbClr val="2E2E2E"/>
                          </a:solidFill>
                          <a:latin typeface="Calibri"/>
                        </a:rPr>
                        <a:t>25.5</a:t>
                      </a:r>
                      <a:endParaRPr sz="1100"/>
                    </a:p>
                  </a:txBody>
                  <a:tcPr marL="47625" marR="38100" marT="19050" marB="19050" anchor="ctr">
                    <a:solidFill>
                      <a:srgbClr val="F5F8FA"/>
                    </a:solidFill>
                  </a:tcPr>
                </a:tc>
                <a:tc>
                  <a:txBody>
                    <a:bodyPr/>
                    <a:lstStyle/>
                    <a:p>
                      <a:pPr algn="l"/>
                      <a:r>
                        <a:rPr sz="1100" b="0">
                          <a:solidFill>
                            <a:srgbClr val="2E2E2E"/>
                          </a:solidFill>
                          <a:latin typeface="Calibri"/>
                        </a:rPr>
                        <a:t>4.2%</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r h="215537">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l"/>
                      <a:r>
                        <a:rPr sz="1100" b="1">
                          <a:solidFill>
                            <a:srgbClr val="2E2E2E"/>
                          </a:solidFill>
                          <a:latin typeface="Calibri"/>
                        </a:rPr>
                        <a:t>795.0</a:t>
                      </a:r>
                      <a:endParaRPr sz="1100"/>
                    </a:p>
                  </a:txBody>
                  <a:tcPr marL="47625" marR="38100" marT="19050" marB="19050" anchor="ctr">
                    <a:solidFill>
                      <a:srgbClr val="E0E8EF"/>
                    </a:solidFill>
                  </a:tcPr>
                </a:tc>
                <a:tc>
                  <a:txBody>
                    <a:bodyPr/>
                    <a:lstStyle/>
                    <a:p>
                      <a:pPr algn="l"/>
                      <a:r>
                        <a:rPr sz="1100" b="1">
                          <a:solidFill>
                            <a:srgbClr val="2E2E2E"/>
                          </a:solidFill>
                          <a:latin typeface="Calibri"/>
                        </a:rPr>
                        <a:t>831.5</a:t>
                      </a:r>
                      <a:endParaRPr sz="1100"/>
                    </a:p>
                  </a:txBody>
                  <a:tcPr marL="47625" marR="38100" marT="19050" marB="19050" anchor="ctr">
                    <a:solidFill>
                      <a:srgbClr val="E0E8EF"/>
                    </a:solidFill>
                  </a:tcPr>
                </a:tc>
                <a:tc>
                  <a:txBody>
                    <a:bodyPr/>
                    <a:lstStyle/>
                    <a:p>
                      <a:pPr algn="l"/>
                      <a:r>
                        <a:rPr sz="1100" b="1">
                          <a:solidFill>
                            <a:srgbClr val="2E2E2E"/>
                          </a:solidFill>
                          <a:latin typeface="Calibri"/>
                        </a:rPr>
                        <a:t>870.0</a:t>
                      </a:r>
                      <a:endParaRPr sz="1100"/>
                    </a:p>
                  </a:txBody>
                  <a:tcPr marL="47625" marR="38100" marT="19050" marB="19050" anchor="ctr">
                    <a:solidFill>
                      <a:srgbClr val="E0E8EF"/>
                    </a:solidFill>
                  </a:tcPr>
                </a:tc>
                <a:tc>
                  <a:txBody>
                    <a:bodyPr/>
                    <a:lstStyle/>
                    <a:p>
                      <a:pPr algn="l"/>
                      <a:r>
                        <a:rPr sz="1100" b="1">
                          <a:solidFill>
                            <a:srgbClr val="2E2E2E"/>
                          </a:solidFill>
                          <a:latin typeface="Calibri"/>
                        </a:rPr>
                        <a:t>910.3</a:t>
                      </a:r>
                      <a:endParaRPr sz="1100"/>
                    </a:p>
                  </a:txBody>
                  <a:tcPr marL="47625" marR="38100" marT="19050" marB="19050" anchor="ctr">
                    <a:solidFill>
                      <a:srgbClr val="E0E8EF"/>
                    </a:solidFill>
                  </a:tcPr>
                </a:tc>
                <a:tc>
                  <a:txBody>
                    <a:bodyPr/>
                    <a:lstStyle/>
                    <a:p>
                      <a:pPr algn="l"/>
                      <a:r>
                        <a:rPr sz="1100" b="1">
                          <a:solidFill>
                            <a:srgbClr val="2E2E2E"/>
                          </a:solidFill>
                          <a:latin typeface="Calibri"/>
                        </a:rPr>
                        <a:t>952.6</a:t>
                      </a:r>
                      <a:endParaRPr sz="1100"/>
                    </a:p>
                  </a:txBody>
                  <a:tcPr marL="47625" marR="38100" marT="19050" marB="19050" anchor="ctr">
                    <a:solidFill>
                      <a:srgbClr val="E0E8EF"/>
                    </a:solidFill>
                  </a:tcPr>
                </a:tc>
                <a:tc>
                  <a:txBody>
                    <a:bodyPr/>
                    <a:lstStyle/>
                    <a:p>
                      <a:pPr algn="l"/>
                      <a:r>
                        <a:rPr sz="1100" b="1">
                          <a:solidFill>
                            <a:srgbClr val="2E2E2E"/>
                          </a:solidFill>
                          <a:latin typeface="Calibri"/>
                        </a:rPr>
                        <a:t>998.2</a:t>
                      </a:r>
                      <a:endParaRPr sz="1100"/>
                    </a:p>
                  </a:txBody>
                  <a:tcPr marL="47625" marR="38100" marT="19050" marB="19050" anchor="ctr">
                    <a:solidFill>
                      <a:srgbClr val="E0E8EF"/>
                    </a:solidFill>
                  </a:tcPr>
                </a:tc>
                <a:tc>
                  <a:txBody>
                    <a:bodyPr/>
                    <a:lstStyle/>
                    <a:p>
                      <a:pPr algn="l"/>
                      <a:r>
                        <a:rPr sz="1100" b="1">
                          <a:solidFill>
                            <a:srgbClr val="2E2E2E"/>
                          </a:solidFill>
                          <a:latin typeface="Calibri"/>
                        </a:rPr>
                        <a:t>1,048</a:t>
                      </a:r>
                      <a:endParaRPr sz="1100"/>
                    </a:p>
                  </a:txBody>
                  <a:tcPr marL="47625" marR="38100" marT="19050" marB="19050" anchor="ctr">
                    <a:solidFill>
                      <a:srgbClr val="E0E8EF"/>
                    </a:solidFill>
                  </a:tcPr>
                </a:tc>
                <a:tc>
                  <a:txBody>
                    <a:bodyPr/>
                    <a:lstStyle/>
                    <a:p>
                      <a:pPr algn="l"/>
                      <a:r>
                        <a:rPr sz="1100" b="1">
                          <a:solidFill>
                            <a:srgbClr val="2E2E2E"/>
                          </a:solidFill>
                          <a:latin typeface="Calibri"/>
                        </a:rPr>
                        <a:t>1,102</a:t>
                      </a:r>
                      <a:endParaRPr sz="1100"/>
                    </a:p>
                  </a:txBody>
                  <a:tcPr marL="47625" marR="38100" marT="19050" marB="19050" anchor="ctr">
                    <a:solidFill>
                      <a:srgbClr val="E0E8EF"/>
                    </a:solidFill>
                  </a:tcPr>
                </a:tc>
                <a:tc>
                  <a:txBody>
                    <a:bodyPr/>
                    <a:lstStyle/>
                    <a:p>
                      <a:pPr algn="l"/>
                      <a:r>
                        <a:rPr sz="1100" b="1">
                          <a:solidFill>
                            <a:srgbClr val="2E2E2E"/>
                          </a:solidFill>
                          <a:latin typeface="Calibri"/>
                        </a:rPr>
                        <a:t>1,164</a:t>
                      </a:r>
                      <a:endParaRPr sz="1100"/>
                    </a:p>
                  </a:txBody>
                  <a:tcPr marL="47625" marR="38100" marT="19050" marB="19050" anchor="ctr">
                    <a:solidFill>
                      <a:srgbClr val="E0E8EF"/>
                    </a:solidFill>
                  </a:tcPr>
                </a:tc>
                <a:tc>
                  <a:txBody>
                    <a:bodyPr/>
                    <a:lstStyle/>
                    <a:p>
                      <a:pPr algn="l"/>
                      <a:r>
                        <a:rPr sz="1100" b="1">
                          <a:solidFill>
                            <a:srgbClr val="2E2E2E"/>
                          </a:solidFill>
                          <a:latin typeface="Calibri"/>
                        </a:rPr>
                        <a:t>1,232</a:t>
                      </a:r>
                      <a:endParaRPr sz="1100"/>
                    </a:p>
                  </a:txBody>
                  <a:tcPr marL="47625" marR="38100" marT="19050" marB="19050" anchor="ctr">
                    <a:solidFill>
                      <a:srgbClr val="E0E8EF"/>
                    </a:solidFill>
                  </a:tcPr>
                </a:tc>
                <a:tc>
                  <a:txBody>
                    <a:bodyPr/>
                    <a:lstStyle/>
                    <a:p>
                      <a:pPr algn="l"/>
                      <a:r>
                        <a:rPr sz="1100" b="1">
                          <a:solidFill>
                            <a:srgbClr val="2E2E2E"/>
                          </a:solidFill>
                          <a:latin typeface="Calibri"/>
                        </a:rPr>
                        <a:t>1,307</a:t>
                      </a:r>
                      <a:endParaRPr sz="1100"/>
                    </a:p>
                  </a:txBody>
                  <a:tcPr marL="47625" marR="38100" marT="19050" marB="19050" anchor="ctr">
                    <a:solidFill>
                      <a:srgbClr val="E0E8EF"/>
                    </a:solidFill>
                  </a:tcPr>
                </a:tc>
                <a:tc>
                  <a:txBody>
                    <a:bodyPr/>
                    <a:lstStyle/>
                    <a:p>
                      <a:pPr algn="l"/>
                      <a:r>
                        <a:rPr sz="1100" b="1">
                          <a:solidFill>
                            <a:srgbClr val="2E2E2E"/>
                          </a:solidFill>
                          <a:latin typeface="Calibri"/>
                        </a:rPr>
                        <a:t>1,389</a:t>
                      </a:r>
                      <a:endParaRPr sz="1100"/>
                    </a:p>
                  </a:txBody>
                  <a:tcPr marL="47625" marR="38100" marT="19050" marB="19050" anchor="ctr">
                    <a:solidFill>
                      <a:srgbClr val="E0E8EF"/>
                    </a:solidFill>
                  </a:tcPr>
                </a:tc>
                <a:tc>
                  <a:txBody>
                    <a:bodyPr/>
                    <a:lstStyle/>
                    <a:p>
                      <a:pPr algn="l"/>
                      <a:r>
                        <a:rPr sz="1100" b="1">
                          <a:solidFill>
                            <a:srgbClr val="2E2E2E"/>
                          </a:solidFill>
                          <a:latin typeface="Calibri"/>
                        </a:rPr>
                        <a:t>1,475</a:t>
                      </a:r>
                      <a:endParaRPr sz="1100"/>
                    </a:p>
                  </a:txBody>
                  <a:tcPr marL="47625" marR="38100" marT="19050" marB="19050" anchor="ctr">
                    <a:solidFill>
                      <a:srgbClr val="E0E8EF"/>
                    </a:solidFill>
                  </a:tcPr>
                </a:tc>
                <a:tc>
                  <a:txBody>
                    <a:bodyPr/>
                    <a:lstStyle/>
                    <a:p>
                      <a:pPr algn="l"/>
                      <a:r>
                        <a:rPr sz="1100" b="1">
                          <a:solidFill>
                            <a:srgbClr val="2E2E2E"/>
                          </a:solidFill>
                          <a:latin typeface="Calibri"/>
                        </a:rPr>
                        <a:t>1,567</a:t>
                      </a:r>
                      <a:endParaRPr sz="1100"/>
                    </a:p>
                  </a:txBody>
                  <a:tcPr marL="47625" marR="38100" marT="19050" marB="19050" anchor="ctr">
                    <a:solidFill>
                      <a:srgbClr val="E0E8EF"/>
                    </a:solidFill>
                  </a:tcPr>
                </a:tc>
                <a:tc>
                  <a:txBody>
                    <a:bodyPr/>
                    <a:lstStyle/>
                    <a:p>
                      <a:pPr algn="l"/>
                      <a:r>
                        <a:rPr sz="1100" b="1">
                          <a:solidFill>
                            <a:srgbClr val="2E2E2E"/>
                          </a:solidFill>
                          <a:latin typeface="Calibri"/>
                        </a:rPr>
                        <a:t>1,662</a:t>
                      </a:r>
                      <a:endParaRPr sz="1100"/>
                    </a:p>
                  </a:txBody>
                  <a:tcPr marL="47625" marR="38100" marT="19050" marB="19050" anchor="ctr">
                    <a:solidFill>
                      <a:srgbClr val="E0E8EF"/>
                    </a:solidFill>
                  </a:tcPr>
                </a:tc>
                <a:tc>
                  <a:txBody>
                    <a:bodyPr/>
                    <a:lstStyle/>
                    <a:p>
                      <a:pPr algn="l"/>
                      <a:r>
                        <a:rPr sz="1100" b="1">
                          <a:solidFill>
                            <a:srgbClr val="2E2E2E"/>
                          </a:solidFill>
                          <a:latin typeface="Calibri"/>
                        </a:rPr>
                        <a:t>1,761</a:t>
                      </a:r>
                      <a:endParaRPr sz="1100"/>
                    </a:p>
                  </a:txBody>
                  <a:tcPr marL="47625" marR="38100" marT="19050" marB="19050" anchor="ctr">
                    <a:solidFill>
                      <a:srgbClr val="E0E8EF"/>
                    </a:solidFill>
                  </a:tcPr>
                </a:tc>
                <a:tc>
                  <a:txBody>
                    <a:bodyPr/>
                    <a:lstStyle/>
                    <a:p>
                      <a:pPr algn="l"/>
                      <a:r>
                        <a:rPr sz="1100" b="1">
                          <a:solidFill>
                            <a:srgbClr val="2E2E2E"/>
                          </a:solidFill>
                          <a:latin typeface="Calibri"/>
                        </a:rPr>
                        <a:t>5.8%</a:t>
                      </a:r>
                      <a:endParaRPr sz="1100"/>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4" name="TextBox 13"/>
          <p:cNvSpPr txBox="1"/>
          <p:nvPr/>
        </p:nvSpPr>
        <p:spPr>
          <a:xfrm>
            <a:off x="219075" y="29718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6225" y="3390900"/>
            <a:ext cx="11639550" cy="209550"/>
          </a:xfrm>
          <a:prstGeom prst="rect">
            <a:avLst/>
          </a:prstGeom>
          <a:noFill/>
        </p:spPr>
        <p:txBody>
          <a:bodyPr wrap="square" lIns="0" tIns="9525" rIns="19050" bIns="9525">
            <a:spAutoFit/>
          </a:bodyPr>
          <a:lstStyle/>
          <a:p>
            <a:pPr algn="l"/>
            <a:r>
              <a:rPr sz="1300" b="1">
                <a:solidFill>
                  <a:srgbClr val="0B2E4A"/>
                </a:solidFill>
                <a:latin typeface="Calibri"/>
              </a:rPr>
              <a:t>USA Volume Analysis, By Sales Channel</a:t>
            </a:r>
          </a:p>
        </p:txBody>
      </p:sp>
      <p:sp>
        <p:nvSpPr>
          <p:cNvPr id="17" name="Rectangle 16"/>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6225" y="3714750"/>
            <a:ext cx="11639550" cy="2838450"/>
          </a:xfrm>
          <a:prstGeom prst="rect">
            <a:avLst/>
          </a:prstGeom>
          <a:noFill/>
        </p:spPr>
        <p:txBody>
          <a:bodyPr wrap="square" lIns="0" tIns="9525" rIns="19050" bIns="9525">
            <a:spAutoFit/>
          </a:bodyPr>
          <a:lstStyle/>
          <a:p>
            <a:pPr algn="l">
              <a:lnSpc>
                <a:spcPct val="110000"/>
              </a:lnSpc>
              <a:spcBef>
                <a:spcPts val="0"/>
              </a:spcBef>
              <a:spcAft>
                <a:spcPts val="500"/>
              </a:spcAft>
            </a:pPr>
            <a:r>
              <a:rPr sz="1150" b="0">
                <a:solidFill>
                  <a:srgbClr val="2E2E2E"/>
                </a:solidFill>
                <a:latin typeface="Calibri"/>
              </a:rPr>
              <a:t>Amazon / online marketplaces segment is projected to register 1.8X higher volume than mass retail segment in 2036. Among prenatal vitamin supplements by sales channel, direct-to-consumer / brand website segment is expected to witness the highest CAGR of 10.6% over the forecast period.</a:t>
            </a:r>
          </a:p>
          <a:p>
            <a:pPr algn="l">
              <a:lnSpc>
                <a:spcPct val="110000"/>
              </a:lnSpc>
              <a:spcBef>
                <a:spcPts val="0"/>
              </a:spcBef>
              <a:spcAft>
                <a:spcPts val="500"/>
              </a:spcAft>
            </a:pPr>
            <a:r>
              <a:rPr sz="1150" b="0">
                <a:solidFill>
                  <a:srgbClr val="2E2E2E"/>
                </a:solidFill>
                <a:latin typeface="Calibri"/>
              </a:rPr>
              <a:t>In terms of volume share by sales channel, the amazon / online marketplaces segment is expected to dominate the market, gaining 665 BPS and accounting for 38.6% share by 2036. The pharmacy / drugstores segment is expected to lose 750 BPS over the forecast period to account for 13.6% share by 2036.</a:t>
            </a:r>
          </a:p>
          <a:p>
            <a:pPr algn="l">
              <a:lnSpc>
                <a:spcPct val="110000"/>
              </a:lnSpc>
              <a:spcBef>
                <a:spcPts val="0"/>
              </a:spcBef>
              <a:spcAft>
                <a:spcPts val="500"/>
              </a:spcAft>
            </a:pPr>
            <a:r>
              <a:rPr sz="1150" b="0">
                <a:solidFill>
                  <a:srgbClr val="2E2E2E"/>
                </a:solidFill>
                <a:latin typeface="Calibri"/>
              </a:rPr>
              <a:t>Direct-to-consumer websites are expected to gain 709 BPS of volume share and Amazon and online marketplaces 665 BPS, as personalisation, subscription routines and broader comfort with buying pregnancy supplements digitally move repeat purchases online. Pharmacy and drugstores lose 750 BPS and mass retail 572 BPS, as these store-based channels are mature and growth is driven mainly by replenishment and convenience purchases.</a:t>
            </a:r>
          </a:p>
        </p:txBody>
      </p:sp>
      <p:sp>
        <p:nvSpPr>
          <p:cNvPr id="19" name="TextBox 1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Market Value Analysis, By Sales Channel (US$ Mn)</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Year-by-year value by Sales Channel,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Value, By Sales Channel (US$ Mn)</a:t>
            </a:r>
          </a:p>
        </p:txBody>
      </p:sp>
      <p:graphicFrame>
        <p:nvGraphicFramePr>
          <p:cNvPr id="13" name="Table 12"/>
          <p:cNvGraphicFramePr>
            <a:graphicFrameLocks noGrp="1"/>
          </p:cNvGraphicFramePr>
          <p:nvPr/>
        </p:nvGraphicFramePr>
        <p:xfrm>
          <a:off x="152400" y="1238250"/>
          <a:ext cx="11887193" cy="1724024"/>
        </p:xfrm>
        <a:graphic>
          <a:graphicData uri="http://schemas.openxmlformats.org/drawingml/2006/table">
            <a:tbl>
              <a:tblPr>
                <a:tableStyleId>{5C22544A-7EE6-4342-B048-85BDC9FD1C3A}</a:tableStyleId>
              </a:tblPr>
              <a:tblGrid>
                <a:gridCol w="2342577">
                  <a:extLst>
                    <a:ext uri="{9D8B030D-6E8A-4147-A177-3AD203B41FA5}">
                      <a16:colId xmlns:a16="http://schemas.microsoft.com/office/drawing/2014/main" val="20000"/>
                    </a:ext>
                  </a:extLst>
                </a:gridCol>
                <a:gridCol w="561448">
                  <a:extLst>
                    <a:ext uri="{9D8B030D-6E8A-4147-A177-3AD203B41FA5}">
                      <a16:colId xmlns:a16="http://schemas.microsoft.com/office/drawing/2014/main" val="20001"/>
                    </a:ext>
                  </a:extLst>
                </a:gridCol>
                <a:gridCol w="561448">
                  <a:extLst>
                    <a:ext uri="{9D8B030D-6E8A-4147-A177-3AD203B41FA5}">
                      <a16:colId xmlns:a16="http://schemas.microsoft.com/office/drawing/2014/main" val="20002"/>
                    </a:ext>
                  </a:extLst>
                </a:gridCol>
                <a:gridCol w="561448">
                  <a:extLst>
                    <a:ext uri="{9D8B030D-6E8A-4147-A177-3AD203B41FA5}">
                      <a16:colId xmlns:a16="http://schemas.microsoft.com/office/drawing/2014/main" val="20003"/>
                    </a:ext>
                  </a:extLst>
                </a:gridCol>
                <a:gridCol w="561448">
                  <a:extLst>
                    <a:ext uri="{9D8B030D-6E8A-4147-A177-3AD203B41FA5}">
                      <a16:colId xmlns:a16="http://schemas.microsoft.com/office/drawing/2014/main" val="20004"/>
                    </a:ext>
                  </a:extLst>
                </a:gridCol>
                <a:gridCol w="561448">
                  <a:extLst>
                    <a:ext uri="{9D8B030D-6E8A-4147-A177-3AD203B41FA5}">
                      <a16:colId xmlns:a16="http://schemas.microsoft.com/office/drawing/2014/main" val="20005"/>
                    </a:ext>
                  </a:extLst>
                </a:gridCol>
                <a:gridCol w="561448">
                  <a:extLst>
                    <a:ext uri="{9D8B030D-6E8A-4147-A177-3AD203B41FA5}">
                      <a16:colId xmlns:a16="http://schemas.microsoft.com/office/drawing/2014/main" val="20006"/>
                    </a:ext>
                  </a:extLst>
                </a:gridCol>
                <a:gridCol w="561448">
                  <a:extLst>
                    <a:ext uri="{9D8B030D-6E8A-4147-A177-3AD203B41FA5}">
                      <a16:colId xmlns:a16="http://schemas.microsoft.com/office/drawing/2014/main" val="20007"/>
                    </a:ext>
                  </a:extLst>
                </a:gridCol>
                <a:gridCol w="561448">
                  <a:extLst>
                    <a:ext uri="{9D8B030D-6E8A-4147-A177-3AD203B41FA5}">
                      <a16:colId xmlns:a16="http://schemas.microsoft.com/office/drawing/2014/main" val="20008"/>
                    </a:ext>
                  </a:extLst>
                </a:gridCol>
                <a:gridCol w="561448">
                  <a:extLst>
                    <a:ext uri="{9D8B030D-6E8A-4147-A177-3AD203B41FA5}">
                      <a16:colId xmlns:a16="http://schemas.microsoft.com/office/drawing/2014/main" val="20009"/>
                    </a:ext>
                  </a:extLst>
                </a:gridCol>
                <a:gridCol w="561448">
                  <a:extLst>
                    <a:ext uri="{9D8B030D-6E8A-4147-A177-3AD203B41FA5}">
                      <a16:colId xmlns:a16="http://schemas.microsoft.com/office/drawing/2014/main" val="20010"/>
                    </a:ext>
                  </a:extLst>
                </a:gridCol>
                <a:gridCol w="561448">
                  <a:extLst>
                    <a:ext uri="{9D8B030D-6E8A-4147-A177-3AD203B41FA5}">
                      <a16:colId xmlns:a16="http://schemas.microsoft.com/office/drawing/2014/main" val="20011"/>
                    </a:ext>
                  </a:extLst>
                </a:gridCol>
                <a:gridCol w="561448">
                  <a:extLst>
                    <a:ext uri="{9D8B030D-6E8A-4147-A177-3AD203B41FA5}">
                      <a16:colId xmlns:a16="http://schemas.microsoft.com/office/drawing/2014/main" val="20012"/>
                    </a:ext>
                  </a:extLst>
                </a:gridCol>
                <a:gridCol w="561448">
                  <a:extLst>
                    <a:ext uri="{9D8B030D-6E8A-4147-A177-3AD203B41FA5}">
                      <a16:colId xmlns:a16="http://schemas.microsoft.com/office/drawing/2014/main" val="20013"/>
                    </a:ext>
                  </a:extLst>
                </a:gridCol>
                <a:gridCol w="561448">
                  <a:extLst>
                    <a:ext uri="{9D8B030D-6E8A-4147-A177-3AD203B41FA5}">
                      <a16:colId xmlns:a16="http://schemas.microsoft.com/office/drawing/2014/main" val="20014"/>
                    </a:ext>
                  </a:extLst>
                </a:gridCol>
                <a:gridCol w="561448">
                  <a:extLst>
                    <a:ext uri="{9D8B030D-6E8A-4147-A177-3AD203B41FA5}">
                      <a16:colId xmlns:a16="http://schemas.microsoft.com/office/drawing/2014/main" val="20015"/>
                    </a:ext>
                  </a:extLst>
                </a:gridCol>
                <a:gridCol w="561448">
                  <a:extLst>
                    <a:ext uri="{9D8B030D-6E8A-4147-A177-3AD203B41FA5}">
                      <a16:colId xmlns:a16="http://schemas.microsoft.com/office/drawing/2014/main" val="20016"/>
                    </a:ext>
                  </a:extLst>
                </a:gridCol>
                <a:gridCol w="561448">
                  <a:extLst>
                    <a:ext uri="{9D8B030D-6E8A-4147-A177-3AD203B41FA5}">
                      <a16:colId xmlns:a16="http://schemas.microsoft.com/office/drawing/2014/main" val="20017"/>
                    </a:ext>
                  </a:extLst>
                </a:gridCol>
              </a:tblGrid>
              <a:tr h="215265">
                <a:tc>
                  <a:txBody>
                    <a:bodyPr/>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a:lstStyle/>
                    <a:p>
                      <a:pPr algn="l"/>
                      <a:r>
                        <a:rPr sz="1100" b="1">
                          <a:solidFill>
                            <a:srgbClr val="0B2E4A"/>
                          </a:solidFill>
                          <a:latin typeface="Calibri"/>
                        </a:rPr>
                        <a:t>2021A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2036F</a:t>
                      </a:r>
                      <a:endParaRPr sz="1100"/>
                    </a:p>
                  </a:txBody>
                  <a:tcPr marL="47625" marR="38100" marT="19050" marB="19050" anchor="ctr">
                    <a:solidFill>
                      <a:srgbClr val="E0E8EF"/>
                    </a:solidFill>
                  </a:tcPr>
                </a:tc>
                <a:tc>
                  <a:txBody>
                    <a:bodyPr/>
                    <a:lstStyle/>
                    <a:p>
                      <a:pPr algn="l"/>
                      <a:r>
                        <a:rPr sz="1100" b="1">
                          <a:solidFill>
                            <a:srgbClr val="0B2E4A"/>
                          </a:solidFill>
                          <a:latin typeface="Calibri"/>
                        </a:rPr>
                        <a:t>F-CAGR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15537">
                <a:tc>
                  <a:txBody>
                    <a:bodyPr/>
                    <a:lstStyle/>
                    <a:p>
                      <a:pPr algn="l"/>
                      <a:r>
                        <a:rPr sz="1100" b="1">
                          <a:solidFill>
                            <a:srgbClr val="2E2E2E"/>
                          </a:solidFill>
                          <a:latin typeface="Calibri"/>
                        </a:rPr>
                        <a:t>Direct-to-Consumer / Brand Website</a:t>
                      </a:r>
                      <a:endParaRPr sz="1100"/>
                    </a:p>
                  </a:txBody>
                  <a:tcPr marL="47625" marR="38100" marT="19050" marB="19050" anchor="ctr">
                    <a:solidFill>
                      <a:srgbClr val="FFFFFF"/>
                    </a:solidFill>
                  </a:tcPr>
                </a:tc>
                <a:tc>
                  <a:txBody>
                    <a:bodyPr/>
                    <a:lstStyle/>
                    <a:p>
                      <a:pPr algn="l"/>
                      <a:r>
                        <a:rPr sz="1100" b="0">
                          <a:solidFill>
                            <a:srgbClr val="2E2E2E"/>
                          </a:solidFill>
                          <a:latin typeface="Calibri"/>
                        </a:rPr>
                        <a:t>21.6</a:t>
                      </a:r>
                      <a:endParaRPr sz="1100"/>
                    </a:p>
                  </a:txBody>
                  <a:tcPr marL="47625" marR="38100" marT="19050" marB="19050" anchor="ctr">
                    <a:solidFill>
                      <a:srgbClr val="FFFFFF"/>
                    </a:solidFill>
                  </a:tcPr>
                </a:tc>
                <a:tc>
                  <a:txBody>
                    <a:bodyPr/>
                    <a:lstStyle/>
                    <a:p>
                      <a:pPr algn="l"/>
                      <a:r>
                        <a:rPr sz="1100" b="0">
                          <a:solidFill>
                            <a:srgbClr val="2E2E2E"/>
                          </a:solidFill>
                          <a:latin typeface="Calibri"/>
                        </a:rPr>
                        <a:t>22.7</a:t>
                      </a:r>
                      <a:endParaRPr sz="1100"/>
                    </a:p>
                  </a:txBody>
                  <a:tcPr marL="47625" marR="38100" marT="19050" marB="19050" anchor="ctr">
                    <a:solidFill>
                      <a:srgbClr val="FFFFFF"/>
                    </a:solidFill>
                  </a:tcPr>
                </a:tc>
                <a:tc>
                  <a:txBody>
                    <a:bodyPr/>
                    <a:lstStyle/>
                    <a:p>
                      <a:pPr algn="l"/>
                      <a:r>
                        <a:rPr sz="1100" b="0">
                          <a:solidFill>
                            <a:srgbClr val="2E2E2E"/>
                          </a:solidFill>
                          <a:latin typeface="Calibri"/>
                        </a:rPr>
                        <a:t>24.1</a:t>
                      </a:r>
                      <a:endParaRPr sz="1100"/>
                    </a:p>
                  </a:txBody>
                  <a:tcPr marL="47625" marR="38100" marT="19050" marB="19050" anchor="ctr">
                    <a:solidFill>
                      <a:srgbClr val="FFFFFF"/>
                    </a:solidFill>
                  </a:tcPr>
                </a:tc>
                <a:tc>
                  <a:txBody>
                    <a:bodyPr/>
                    <a:lstStyle/>
                    <a:p>
                      <a:pPr algn="l"/>
                      <a:r>
                        <a:rPr sz="1100" b="0">
                          <a:solidFill>
                            <a:srgbClr val="2E2E2E"/>
                          </a:solidFill>
                          <a:latin typeface="Calibri"/>
                        </a:rPr>
                        <a:t>25.7</a:t>
                      </a:r>
                      <a:endParaRPr sz="1100"/>
                    </a:p>
                  </a:txBody>
                  <a:tcPr marL="47625" marR="38100" marT="19050" marB="19050" anchor="ctr">
                    <a:solidFill>
                      <a:srgbClr val="FFFFFF"/>
                    </a:solidFill>
                  </a:tcPr>
                </a:tc>
                <a:tc>
                  <a:txBody>
                    <a:bodyPr/>
                    <a:lstStyle/>
                    <a:p>
                      <a:pPr algn="l"/>
                      <a:r>
                        <a:rPr sz="1100" b="0">
                          <a:solidFill>
                            <a:srgbClr val="2E2E2E"/>
                          </a:solidFill>
                          <a:latin typeface="Calibri"/>
                        </a:rPr>
                        <a:t>27.6</a:t>
                      </a:r>
                      <a:endParaRPr sz="1100"/>
                    </a:p>
                  </a:txBody>
                  <a:tcPr marL="47625" marR="38100" marT="19050" marB="19050" anchor="ctr">
                    <a:solidFill>
                      <a:srgbClr val="FFFFFF"/>
                    </a:solidFill>
                  </a:tcPr>
                </a:tc>
                <a:tc>
                  <a:txBody>
                    <a:bodyPr/>
                    <a:lstStyle/>
                    <a:p>
                      <a:pPr algn="l"/>
                      <a:r>
                        <a:rPr sz="1100" b="0">
                          <a:solidFill>
                            <a:srgbClr val="2E2E2E"/>
                          </a:solidFill>
                          <a:latin typeface="Calibri"/>
                        </a:rPr>
                        <a:t>29.9</a:t>
                      </a:r>
                      <a:endParaRPr sz="1100"/>
                    </a:p>
                  </a:txBody>
                  <a:tcPr marL="47625" marR="38100" marT="19050" marB="19050" anchor="ctr">
                    <a:solidFill>
                      <a:srgbClr val="FFFFFF"/>
                    </a:solidFill>
                  </a:tcPr>
                </a:tc>
                <a:tc>
                  <a:txBody>
                    <a:bodyPr/>
                    <a:lstStyle/>
                    <a:p>
                      <a:pPr algn="l"/>
                      <a:r>
                        <a:rPr sz="1100" b="0">
                          <a:solidFill>
                            <a:srgbClr val="2E2E2E"/>
                          </a:solidFill>
                          <a:latin typeface="Calibri"/>
                        </a:rPr>
                        <a:t>32.7</a:t>
                      </a:r>
                      <a:endParaRPr sz="1100"/>
                    </a:p>
                  </a:txBody>
                  <a:tcPr marL="47625" marR="38100" marT="19050" marB="19050" anchor="ctr">
                    <a:solidFill>
                      <a:srgbClr val="FFFFFF"/>
                    </a:solidFill>
                  </a:tcPr>
                </a:tc>
                <a:tc>
                  <a:txBody>
                    <a:bodyPr/>
                    <a:lstStyle/>
                    <a:p>
                      <a:pPr algn="l"/>
                      <a:r>
                        <a:rPr sz="1100" b="0">
                          <a:solidFill>
                            <a:srgbClr val="2E2E2E"/>
                          </a:solidFill>
                          <a:latin typeface="Calibri"/>
                        </a:rPr>
                        <a:t>35.8</a:t>
                      </a:r>
                      <a:endParaRPr sz="1100"/>
                    </a:p>
                  </a:txBody>
                  <a:tcPr marL="47625" marR="38100" marT="19050" marB="19050" anchor="ctr">
                    <a:solidFill>
                      <a:srgbClr val="FFFFFF"/>
                    </a:solidFill>
                  </a:tcPr>
                </a:tc>
                <a:tc>
                  <a:txBody>
                    <a:bodyPr/>
                    <a:lstStyle/>
                    <a:p>
                      <a:pPr algn="l"/>
                      <a:r>
                        <a:rPr sz="1100" b="0">
                          <a:solidFill>
                            <a:srgbClr val="2E2E2E"/>
                          </a:solidFill>
                          <a:latin typeface="Calibri"/>
                        </a:rPr>
                        <a:t>39.6</a:t>
                      </a:r>
                      <a:endParaRPr sz="1100"/>
                    </a:p>
                  </a:txBody>
                  <a:tcPr marL="47625" marR="38100" marT="19050" marB="19050" anchor="ctr">
                    <a:solidFill>
                      <a:srgbClr val="FFFFFF"/>
                    </a:solidFill>
                  </a:tcPr>
                </a:tc>
                <a:tc>
                  <a:txBody>
                    <a:bodyPr/>
                    <a:lstStyle/>
                    <a:p>
                      <a:pPr algn="l"/>
                      <a:r>
                        <a:rPr sz="1100" b="0">
                          <a:solidFill>
                            <a:srgbClr val="2E2E2E"/>
                          </a:solidFill>
                          <a:latin typeface="Calibri"/>
                        </a:rPr>
                        <a:t>44.1</a:t>
                      </a:r>
                      <a:endParaRPr sz="1100"/>
                    </a:p>
                  </a:txBody>
                  <a:tcPr marL="47625" marR="38100" marT="19050" marB="19050" anchor="ctr">
                    <a:solidFill>
                      <a:srgbClr val="FFFFFF"/>
                    </a:solidFill>
                  </a:tcPr>
                </a:tc>
                <a:tc>
                  <a:txBody>
                    <a:bodyPr/>
                    <a:lstStyle/>
                    <a:p>
                      <a:pPr algn="l"/>
                      <a:r>
                        <a:rPr sz="1100" b="0">
                          <a:solidFill>
                            <a:srgbClr val="2E2E2E"/>
                          </a:solidFill>
                          <a:latin typeface="Calibri"/>
                        </a:rPr>
                        <a:t>49.5</a:t>
                      </a:r>
                      <a:endParaRPr sz="1100"/>
                    </a:p>
                  </a:txBody>
                  <a:tcPr marL="47625" marR="38100" marT="19050" marB="19050" anchor="ctr">
                    <a:solidFill>
                      <a:srgbClr val="FFFFFF"/>
                    </a:solidFill>
                  </a:tcPr>
                </a:tc>
                <a:tc>
                  <a:txBody>
                    <a:bodyPr/>
                    <a:lstStyle/>
                    <a:p>
                      <a:pPr algn="l"/>
                      <a:r>
                        <a:rPr sz="1100" b="0">
                          <a:solidFill>
                            <a:srgbClr val="2E2E2E"/>
                          </a:solidFill>
                          <a:latin typeface="Calibri"/>
                        </a:rPr>
                        <a:t>55.7</a:t>
                      </a:r>
                      <a:endParaRPr sz="1100"/>
                    </a:p>
                  </a:txBody>
                  <a:tcPr marL="47625" marR="38100" marT="19050" marB="19050" anchor="ctr">
                    <a:solidFill>
                      <a:srgbClr val="FFFFFF"/>
                    </a:solidFill>
                  </a:tcPr>
                </a:tc>
                <a:tc>
                  <a:txBody>
                    <a:bodyPr/>
                    <a:lstStyle/>
                    <a:p>
                      <a:pPr algn="l"/>
                      <a:r>
                        <a:rPr sz="1100" b="0">
                          <a:solidFill>
                            <a:srgbClr val="2E2E2E"/>
                          </a:solidFill>
                          <a:latin typeface="Calibri"/>
                        </a:rPr>
                        <a:t>62.6</a:t>
                      </a:r>
                      <a:endParaRPr sz="1100"/>
                    </a:p>
                  </a:txBody>
                  <a:tcPr marL="47625" marR="38100" marT="19050" marB="19050" anchor="ctr">
                    <a:solidFill>
                      <a:srgbClr val="FFFFFF"/>
                    </a:solidFill>
                  </a:tcPr>
                </a:tc>
                <a:tc>
                  <a:txBody>
                    <a:bodyPr/>
                    <a:lstStyle/>
                    <a:p>
                      <a:pPr algn="l"/>
                      <a:r>
                        <a:rPr sz="1100" b="0">
                          <a:solidFill>
                            <a:srgbClr val="2E2E2E"/>
                          </a:solidFill>
                          <a:latin typeface="Calibri"/>
                        </a:rPr>
                        <a:t>70.4</a:t>
                      </a:r>
                      <a:endParaRPr sz="1100"/>
                    </a:p>
                  </a:txBody>
                  <a:tcPr marL="47625" marR="38100" marT="19050" marB="19050" anchor="ctr">
                    <a:solidFill>
                      <a:srgbClr val="FFFFFF"/>
                    </a:solidFill>
                  </a:tcPr>
                </a:tc>
                <a:tc>
                  <a:txBody>
                    <a:bodyPr/>
                    <a:lstStyle/>
                    <a:p>
                      <a:pPr algn="l"/>
                      <a:r>
                        <a:rPr sz="1100" b="0">
                          <a:solidFill>
                            <a:srgbClr val="2E2E2E"/>
                          </a:solidFill>
                          <a:latin typeface="Calibri"/>
                        </a:rPr>
                        <a:t>78.8</a:t>
                      </a:r>
                      <a:endParaRPr sz="1100"/>
                    </a:p>
                  </a:txBody>
                  <a:tcPr marL="47625" marR="38100" marT="19050" marB="19050" anchor="ctr">
                    <a:solidFill>
                      <a:srgbClr val="FFFFFF"/>
                    </a:solidFill>
                  </a:tcPr>
                </a:tc>
                <a:tc>
                  <a:txBody>
                    <a:bodyPr/>
                    <a:lstStyle/>
                    <a:p>
                      <a:pPr algn="l"/>
                      <a:r>
                        <a:rPr sz="1100" b="0">
                          <a:solidFill>
                            <a:srgbClr val="2E2E2E"/>
                          </a:solidFill>
                          <a:latin typeface="Calibri"/>
                        </a:rPr>
                        <a:t>87.9</a:t>
                      </a:r>
                      <a:endParaRPr sz="1100"/>
                    </a:p>
                  </a:txBody>
                  <a:tcPr marL="47625" marR="38100" marT="19050" marB="19050" anchor="ctr">
                    <a:solidFill>
                      <a:srgbClr val="FFFFFF"/>
                    </a:solidFill>
                  </a:tcPr>
                </a:tc>
                <a:tc>
                  <a:txBody>
                    <a:bodyPr/>
                    <a:lstStyle/>
                    <a:p>
                      <a:pPr algn="l"/>
                      <a:r>
                        <a:rPr sz="1100" b="0">
                          <a:solidFill>
                            <a:srgbClr val="2E2E2E"/>
                          </a:solidFill>
                          <a:latin typeface="Calibri"/>
                        </a:rPr>
                        <a:t>11.4%</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15537">
                <a:tc>
                  <a:txBody>
                    <a:bodyPr/>
                    <a:lstStyle/>
                    <a:p>
                      <a:pPr algn="l"/>
                      <a:r>
                        <a:rPr sz="1100" b="1">
                          <a:solidFill>
                            <a:srgbClr val="2E2E2E"/>
                          </a:solidFill>
                          <a:latin typeface="Calibri"/>
                        </a:rPr>
                        <a:t>Amazon / Online Marketplaces</a:t>
                      </a:r>
                      <a:endParaRPr sz="1100"/>
                    </a:p>
                  </a:txBody>
                  <a:tcPr marL="47625" marR="38100" marT="19050" marB="19050" anchor="ctr">
                    <a:solidFill>
                      <a:srgbClr val="F5F8FA"/>
                    </a:solidFill>
                  </a:tcPr>
                </a:tc>
                <a:tc>
                  <a:txBody>
                    <a:bodyPr/>
                    <a:lstStyle/>
                    <a:p>
                      <a:pPr algn="l"/>
                      <a:r>
                        <a:rPr sz="1100" b="0">
                          <a:solidFill>
                            <a:srgbClr val="2E2E2E"/>
                          </a:solidFill>
                          <a:latin typeface="Calibri"/>
                        </a:rPr>
                        <a:t>52.3</a:t>
                      </a:r>
                      <a:endParaRPr sz="1100"/>
                    </a:p>
                  </a:txBody>
                  <a:tcPr marL="47625" marR="38100" marT="19050" marB="19050" anchor="ctr">
                    <a:solidFill>
                      <a:srgbClr val="F5F8FA"/>
                    </a:solidFill>
                  </a:tcPr>
                </a:tc>
                <a:tc>
                  <a:txBody>
                    <a:bodyPr/>
                    <a:lstStyle/>
                    <a:p>
                      <a:pPr algn="l"/>
                      <a:r>
                        <a:rPr sz="1100" b="0">
                          <a:solidFill>
                            <a:srgbClr val="2E2E2E"/>
                          </a:solidFill>
                          <a:latin typeface="Calibri"/>
                        </a:rPr>
                        <a:t>56.3</a:t>
                      </a:r>
                      <a:endParaRPr sz="1100"/>
                    </a:p>
                  </a:txBody>
                  <a:tcPr marL="47625" marR="38100" marT="19050" marB="19050" anchor="ctr">
                    <a:solidFill>
                      <a:srgbClr val="F5F8FA"/>
                    </a:solidFill>
                  </a:tcPr>
                </a:tc>
                <a:tc>
                  <a:txBody>
                    <a:bodyPr/>
                    <a:lstStyle/>
                    <a:p>
                      <a:pPr algn="l"/>
                      <a:r>
                        <a:rPr sz="1100" b="0">
                          <a:solidFill>
                            <a:srgbClr val="2E2E2E"/>
                          </a:solidFill>
                          <a:latin typeface="Calibri"/>
                        </a:rPr>
                        <a:t>60.3</a:t>
                      </a:r>
                      <a:endParaRPr sz="1100"/>
                    </a:p>
                  </a:txBody>
                  <a:tcPr marL="47625" marR="38100" marT="19050" marB="19050" anchor="ctr">
                    <a:solidFill>
                      <a:srgbClr val="F5F8FA"/>
                    </a:solidFill>
                  </a:tcPr>
                </a:tc>
                <a:tc>
                  <a:txBody>
                    <a:bodyPr/>
                    <a:lstStyle/>
                    <a:p>
                      <a:pPr algn="l"/>
                      <a:r>
                        <a:rPr sz="1100" b="0">
                          <a:solidFill>
                            <a:srgbClr val="2E2E2E"/>
                          </a:solidFill>
                          <a:latin typeface="Calibri"/>
                        </a:rPr>
                        <a:t>64.5</a:t>
                      </a:r>
                      <a:endParaRPr sz="1100"/>
                    </a:p>
                  </a:txBody>
                  <a:tcPr marL="47625" marR="38100" marT="19050" marB="19050" anchor="ctr">
                    <a:solidFill>
                      <a:srgbClr val="F5F8FA"/>
                    </a:solidFill>
                  </a:tcPr>
                </a:tc>
                <a:tc>
                  <a:txBody>
                    <a:bodyPr/>
                    <a:lstStyle/>
                    <a:p>
                      <a:pPr algn="l"/>
                      <a:r>
                        <a:rPr sz="1100" b="0">
                          <a:solidFill>
                            <a:srgbClr val="2E2E2E"/>
                          </a:solidFill>
                          <a:latin typeface="Calibri"/>
                        </a:rPr>
                        <a:t>68.8</a:t>
                      </a:r>
                      <a:endParaRPr sz="1100"/>
                    </a:p>
                  </a:txBody>
                  <a:tcPr marL="47625" marR="38100" marT="19050" marB="19050" anchor="ctr">
                    <a:solidFill>
                      <a:srgbClr val="F5F8FA"/>
                    </a:solidFill>
                  </a:tcPr>
                </a:tc>
                <a:tc>
                  <a:txBody>
                    <a:bodyPr/>
                    <a:lstStyle/>
                    <a:p>
                      <a:pPr algn="l"/>
                      <a:r>
                        <a:rPr sz="1100" b="0">
                          <a:solidFill>
                            <a:srgbClr val="2E2E2E"/>
                          </a:solidFill>
                          <a:latin typeface="Calibri"/>
                        </a:rPr>
                        <a:t>73.7</a:t>
                      </a:r>
                      <a:endParaRPr sz="1100"/>
                    </a:p>
                  </a:txBody>
                  <a:tcPr marL="47625" marR="38100" marT="19050" marB="19050" anchor="ctr">
                    <a:solidFill>
                      <a:srgbClr val="F5F8FA"/>
                    </a:solidFill>
                  </a:tcPr>
                </a:tc>
                <a:tc>
                  <a:txBody>
                    <a:bodyPr/>
                    <a:lstStyle/>
                    <a:p>
                      <a:pPr algn="l"/>
                      <a:r>
                        <a:rPr sz="1100" b="0">
                          <a:solidFill>
                            <a:srgbClr val="2E2E2E"/>
                          </a:solidFill>
                          <a:latin typeface="Calibri"/>
                        </a:rPr>
                        <a:t>79.3</a:t>
                      </a:r>
                      <a:endParaRPr sz="1100"/>
                    </a:p>
                  </a:txBody>
                  <a:tcPr marL="47625" marR="38100" marT="19050" marB="19050" anchor="ctr">
                    <a:solidFill>
                      <a:srgbClr val="F5F8FA"/>
                    </a:solidFill>
                  </a:tcPr>
                </a:tc>
                <a:tc>
                  <a:txBody>
                    <a:bodyPr/>
                    <a:lstStyle/>
                    <a:p>
                      <a:pPr algn="l"/>
                      <a:r>
                        <a:rPr sz="1100" b="0">
                          <a:solidFill>
                            <a:srgbClr val="2E2E2E"/>
                          </a:solidFill>
                          <a:latin typeface="Calibri"/>
                        </a:rPr>
                        <a:t>85.8</a:t>
                      </a:r>
                      <a:endParaRPr sz="1100"/>
                    </a:p>
                  </a:txBody>
                  <a:tcPr marL="47625" marR="38100" marT="19050" marB="19050" anchor="ctr">
                    <a:solidFill>
                      <a:srgbClr val="F5F8FA"/>
                    </a:solidFill>
                  </a:tcPr>
                </a:tc>
                <a:tc>
                  <a:txBody>
                    <a:bodyPr/>
                    <a:lstStyle/>
                    <a:p>
                      <a:pPr algn="l"/>
                      <a:r>
                        <a:rPr sz="1100" b="0">
                          <a:solidFill>
                            <a:srgbClr val="2E2E2E"/>
                          </a:solidFill>
                          <a:latin typeface="Calibri"/>
                        </a:rPr>
                        <a:t>93.4</a:t>
                      </a:r>
                      <a:endParaRPr sz="1100"/>
                    </a:p>
                  </a:txBody>
                  <a:tcPr marL="47625" marR="38100" marT="19050" marB="19050" anchor="ctr">
                    <a:solidFill>
                      <a:srgbClr val="F5F8FA"/>
                    </a:solidFill>
                  </a:tcPr>
                </a:tc>
                <a:tc>
                  <a:txBody>
                    <a:bodyPr/>
                    <a:lstStyle/>
                    <a:p>
                      <a:pPr algn="l"/>
                      <a:r>
                        <a:rPr sz="1100" b="0">
                          <a:solidFill>
                            <a:srgbClr val="2E2E2E"/>
                          </a:solidFill>
                          <a:latin typeface="Calibri"/>
                        </a:rPr>
                        <a:t>102.2</a:t>
                      </a:r>
                      <a:endParaRPr sz="1100"/>
                    </a:p>
                  </a:txBody>
                  <a:tcPr marL="47625" marR="38100" marT="19050" marB="19050" anchor="ctr">
                    <a:solidFill>
                      <a:srgbClr val="F5F8FA"/>
                    </a:solidFill>
                  </a:tcPr>
                </a:tc>
                <a:tc>
                  <a:txBody>
                    <a:bodyPr/>
                    <a:lstStyle/>
                    <a:p>
                      <a:pPr algn="l"/>
                      <a:r>
                        <a:rPr sz="1100" b="0">
                          <a:solidFill>
                            <a:srgbClr val="2E2E2E"/>
                          </a:solidFill>
                          <a:latin typeface="Calibri"/>
                        </a:rPr>
                        <a:t>111.6</a:t>
                      </a:r>
                      <a:endParaRPr sz="1100"/>
                    </a:p>
                  </a:txBody>
                  <a:tcPr marL="47625" marR="38100" marT="19050" marB="19050" anchor="ctr">
                    <a:solidFill>
                      <a:srgbClr val="F5F8FA"/>
                    </a:solidFill>
                  </a:tcPr>
                </a:tc>
                <a:tc>
                  <a:txBody>
                    <a:bodyPr/>
                    <a:lstStyle/>
                    <a:p>
                      <a:pPr algn="l"/>
                      <a:r>
                        <a:rPr sz="1100" b="0">
                          <a:solidFill>
                            <a:srgbClr val="2E2E2E"/>
                          </a:solidFill>
                          <a:latin typeface="Calibri"/>
                        </a:rPr>
                        <a:t>121.8</a:t>
                      </a:r>
                      <a:endParaRPr sz="1100"/>
                    </a:p>
                  </a:txBody>
                  <a:tcPr marL="47625" marR="38100" marT="19050" marB="19050" anchor="ctr">
                    <a:solidFill>
                      <a:srgbClr val="F5F8FA"/>
                    </a:solidFill>
                  </a:tcPr>
                </a:tc>
                <a:tc>
                  <a:txBody>
                    <a:bodyPr/>
                    <a:lstStyle/>
                    <a:p>
                      <a:pPr algn="l"/>
                      <a:r>
                        <a:rPr sz="1100" b="0">
                          <a:solidFill>
                            <a:srgbClr val="2E2E2E"/>
                          </a:solidFill>
                          <a:latin typeface="Calibri"/>
                        </a:rPr>
                        <a:t>132.6</a:t>
                      </a:r>
                      <a:endParaRPr sz="1100"/>
                    </a:p>
                  </a:txBody>
                  <a:tcPr marL="47625" marR="38100" marT="19050" marB="19050" anchor="ctr">
                    <a:solidFill>
                      <a:srgbClr val="F5F8FA"/>
                    </a:solidFill>
                  </a:tcPr>
                </a:tc>
                <a:tc>
                  <a:txBody>
                    <a:bodyPr/>
                    <a:lstStyle/>
                    <a:p>
                      <a:pPr algn="l"/>
                      <a:r>
                        <a:rPr sz="1100" b="0">
                          <a:solidFill>
                            <a:srgbClr val="2E2E2E"/>
                          </a:solidFill>
                          <a:latin typeface="Calibri"/>
                        </a:rPr>
                        <a:t>144.0</a:t>
                      </a:r>
                      <a:endParaRPr sz="1100"/>
                    </a:p>
                  </a:txBody>
                  <a:tcPr marL="47625" marR="38100" marT="19050" marB="19050" anchor="ctr">
                    <a:solidFill>
                      <a:srgbClr val="F5F8FA"/>
                    </a:solidFill>
                  </a:tcPr>
                </a:tc>
                <a:tc>
                  <a:txBody>
                    <a:bodyPr/>
                    <a:lstStyle/>
                    <a:p>
                      <a:pPr algn="l"/>
                      <a:r>
                        <a:rPr sz="1100" b="0">
                          <a:solidFill>
                            <a:srgbClr val="2E2E2E"/>
                          </a:solidFill>
                          <a:latin typeface="Calibri"/>
                        </a:rPr>
                        <a:t>156.2</a:t>
                      </a:r>
                      <a:endParaRPr sz="1100"/>
                    </a:p>
                  </a:txBody>
                  <a:tcPr marL="47625" marR="38100" marT="19050" marB="19050" anchor="ctr">
                    <a:solidFill>
                      <a:srgbClr val="F5F8FA"/>
                    </a:solidFill>
                  </a:tcPr>
                </a:tc>
                <a:tc>
                  <a:txBody>
                    <a:bodyPr/>
                    <a:lstStyle/>
                    <a:p>
                      <a:pPr algn="l"/>
                      <a:r>
                        <a:rPr sz="1100" b="0">
                          <a:solidFill>
                            <a:srgbClr val="2E2E2E"/>
                          </a:solidFill>
                          <a:latin typeface="Calibri"/>
                        </a:rPr>
                        <a:t>169.1</a:t>
                      </a:r>
                      <a:endParaRPr sz="1100"/>
                    </a:p>
                  </a:txBody>
                  <a:tcPr marL="47625" marR="38100" marT="19050" marB="19050" anchor="ctr">
                    <a:solidFill>
                      <a:srgbClr val="F5F8FA"/>
                    </a:solidFill>
                  </a:tcPr>
                </a:tc>
                <a:tc>
                  <a:txBody>
                    <a:bodyPr/>
                    <a:lstStyle/>
                    <a:p>
                      <a:pPr algn="l"/>
                      <a:r>
                        <a:rPr sz="1100" b="0">
                          <a:solidFill>
                            <a:srgbClr val="2E2E2E"/>
                          </a:solidFill>
                          <a:latin typeface="Calibri"/>
                        </a:rPr>
                        <a:t>8.7%</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15537">
                <a:tc>
                  <a:txBody>
                    <a:bodyPr/>
                    <a:lstStyle/>
                    <a:p>
                      <a:pPr algn="l"/>
                      <a:r>
                        <a:rPr sz="1100" b="1">
                          <a:solidFill>
                            <a:srgbClr val="2E2E2E"/>
                          </a:solidFill>
                          <a:latin typeface="Calibri"/>
                        </a:rPr>
                        <a:t>Mass Retail</a:t>
                      </a:r>
                      <a:endParaRPr sz="1100"/>
                    </a:p>
                  </a:txBody>
                  <a:tcPr marL="47625" marR="38100" marT="19050" marB="19050" anchor="ctr">
                    <a:solidFill>
                      <a:srgbClr val="FFFFFF"/>
                    </a:solidFill>
                  </a:tcPr>
                </a:tc>
                <a:tc>
                  <a:txBody>
                    <a:bodyPr/>
                    <a:lstStyle/>
                    <a:p>
                      <a:pPr algn="l"/>
                      <a:r>
                        <a:rPr sz="1100" b="0">
                          <a:solidFill>
                            <a:srgbClr val="2E2E2E"/>
                          </a:solidFill>
                          <a:latin typeface="Calibri"/>
                        </a:rPr>
                        <a:t>52.3</a:t>
                      </a:r>
                      <a:endParaRPr sz="1100"/>
                    </a:p>
                  </a:txBody>
                  <a:tcPr marL="47625" marR="38100" marT="19050" marB="19050" anchor="ctr">
                    <a:solidFill>
                      <a:srgbClr val="FFFFFF"/>
                    </a:solidFill>
                  </a:tcPr>
                </a:tc>
                <a:tc>
                  <a:txBody>
                    <a:bodyPr/>
                    <a:lstStyle/>
                    <a:p>
                      <a:pPr algn="l"/>
                      <a:r>
                        <a:rPr sz="1100" b="0">
                          <a:solidFill>
                            <a:srgbClr val="2E2E2E"/>
                          </a:solidFill>
                          <a:latin typeface="Calibri"/>
                        </a:rPr>
                        <a:t>54.2</a:t>
                      </a:r>
                      <a:endParaRPr sz="1100"/>
                    </a:p>
                  </a:txBody>
                  <a:tcPr marL="47625" marR="38100" marT="19050" marB="19050" anchor="ctr">
                    <a:solidFill>
                      <a:srgbClr val="FFFFFF"/>
                    </a:solidFill>
                  </a:tcPr>
                </a:tc>
                <a:tc>
                  <a:txBody>
                    <a:bodyPr/>
                    <a:lstStyle/>
                    <a:p>
                      <a:pPr algn="l"/>
                      <a:r>
                        <a:rPr sz="1100" b="0">
                          <a:solidFill>
                            <a:srgbClr val="2E2E2E"/>
                          </a:solidFill>
                          <a:latin typeface="Calibri"/>
                        </a:rPr>
                        <a:t>56.3</a:t>
                      </a:r>
                      <a:endParaRPr sz="1100"/>
                    </a:p>
                  </a:txBody>
                  <a:tcPr marL="47625" marR="38100" marT="19050" marB="19050" anchor="ctr">
                    <a:solidFill>
                      <a:srgbClr val="FFFFFF"/>
                    </a:solidFill>
                  </a:tcPr>
                </a:tc>
                <a:tc>
                  <a:txBody>
                    <a:bodyPr/>
                    <a:lstStyle/>
                    <a:p>
                      <a:pPr algn="l"/>
                      <a:r>
                        <a:rPr sz="1100" b="0">
                          <a:solidFill>
                            <a:srgbClr val="2E2E2E"/>
                          </a:solidFill>
                          <a:latin typeface="Calibri"/>
                        </a:rPr>
                        <a:t>58.6</a:t>
                      </a:r>
                      <a:endParaRPr sz="1100"/>
                    </a:p>
                  </a:txBody>
                  <a:tcPr marL="47625" marR="38100" marT="19050" marB="19050" anchor="ctr">
                    <a:solidFill>
                      <a:srgbClr val="FFFFFF"/>
                    </a:solidFill>
                  </a:tcPr>
                </a:tc>
                <a:tc>
                  <a:txBody>
                    <a:bodyPr/>
                    <a:lstStyle/>
                    <a:p>
                      <a:pPr algn="l"/>
                      <a:r>
                        <a:rPr sz="1100" b="0">
                          <a:solidFill>
                            <a:srgbClr val="2E2E2E"/>
                          </a:solidFill>
                          <a:latin typeface="Calibri"/>
                        </a:rPr>
                        <a:t>60.9</a:t>
                      </a:r>
                      <a:endParaRPr sz="1100"/>
                    </a:p>
                  </a:txBody>
                  <a:tcPr marL="47625" marR="38100" marT="19050" marB="19050" anchor="ctr">
                    <a:solidFill>
                      <a:srgbClr val="FFFFFF"/>
                    </a:solidFill>
                  </a:tcPr>
                </a:tc>
                <a:tc>
                  <a:txBody>
                    <a:bodyPr/>
                    <a:lstStyle/>
                    <a:p>
                      <a:pPr algn="l"/>
                      <a:r>
                        <a:rPr sz="1100" b="0">
                          <a:solidFill>
                            <a:srgbClr val="2E2E2E"/>
                          </a:solidFill>
                          <a:latin typeface="Calibri"/>
                        </a:rPr>
                        <a:t>63.4</a:t>
                      </a:r>
                      <a:endParaRPr sz="1100"/>
                    </a:p>
                  </a:txBody>
                  <a:tcPr marL="47625" marR="38100" marT="19050" marB="19050" anchor="ctr">
                    <a:solidFill>
                      <a:srgbClr val="FFFFFF"/>
                    </a:solidFill>
                  </a:tcPr>
                </a:tc>
                <a:tc>
                  <a:txBody>
                    <a:bodyPr/>
                    <a:lstStyle/>
                    <a:p>
                      <a:pPr algn="l"/>
                      <a:r>
                        <a:rPr sz="1100" b="0">
                          <a:solidFill>
                            <a:srgbClr val="2E2E2E"/>
                          </a:solidFill>
                          <a:latin typeface="Calibri"/>
                        </a:rPr>
                        <a:t>65.7</a:t>
                      </a:r>
                      <a:endParaRPr sz="1100"/>
                    </a:p>
                  </a:txBody>
                  <a:tcPr marL="47625" marR="38100" marT="19050" marB="19050" anchor="ctr">
                    <a:solidFill>
                      <a:srgbClr val="FFFFFF"/>
                    </a:solidFill>
                  </a:tcPr>
                </a:tc>
                <a:tc>
                  <a:txBody>
                    <a:bodyPr/>
                    <a:lstStyle/>
                    <a:p>
                      <a:pPr algn="l"/>
                      <a:r>
                        <a:rPr sz="1100" b="0">
                          <a:solidFill>
                            <a:srgbClr val="2E2E2E"/>
                          </a:solidFill>
                          <a:latin typeface="Calibri"/>
                        </a:rPr>
                        <a:t>68.2</a:t>
                      </a:r>
                      <a:endParaRPr sz="1100"/>
                    </a:p>
                  </a:txBody>
                  <a:tcPr marL="47625" marR="38100" marT="19050" marB="19050" anchor="ctr">
                    <a:solidFill>
                      <a:srgbClr val="FFFFFF"/>
                    </a:solidFill>
                  </a:tcPr>
                </a:tc>
                <a:tc>
                  <a:txBody>
                    <a:bodyPr/>
                    <a:lstStyle/>
                    <a:p>
                      <a:pPr algn="l"/>
                      <a:r>
                        <a:rPr sz="1100" b="0">
                          <a:solidFill>
                            <a:srgbClr val="2E2E2E"/>
                          </a:solidFill>
                          <a:latin typeface="Calibri"/>
                        </a:rPr>
                        <a:t>70.9</a:t>
                      </a:r>
                      <a:endParaRPr sz="1100"/>
                    </a:p>
                  </a:txBody>
                  <a:tcPr marL="47625" marR="38100" marT="19050" marB="19050" anchor="ctr">
                    <a:solidFill>
                      <a:srgbClr val="FFFFFF"/>
                    </a:solidFill>
                  </a:tcPr>
                </a:tc>
                <a:tc>
                  <a:txBody>
                    <a:bodyPr/>
                    <a:lstStyle/>
                    <a:p>
                      <a:pPr algn="l"/>
                      <a:r>
                        <a:rPr sz="1100" b="0">
                          <a:solidFill>
                            <a:srgbClr val="2E2E2E"/>
                          </a:solidFill>
                          <a:latin typeface="Calibri"/>
                        </a:rPr>
                        <a:t>73.8</a:t>
                      </a:r>
                      <a:endParaRPr sz="1100"/>
                    </a:p>
                  </a:txBody>
                  <a:tcPr marL="47625" marR="38100" marT="19050" marB="19050" anchor="ctr">
                    <a:solidFill>
                      <a:srgbClr val="FFFFFF"/>
                    </a:solidFill>
                  </a:tcPr>
                </a:tc>
                <a:tc>
                  <a:txBody>
                    <a:bodyPr/>
                    <a:lstStyle/>
                    <a:p>
                      <a:pPr algn="l"/>
                      <a:r>
                        <a:rPr sz="1100" b="0">
                          <a:solidFill>
                            <a:srgbClr val="2E2E2E"/>
                          </a:solidFill>
                          <a:latin typeface="Calibri"/>
                        </a:rPr>
                        <a:t>77.0</a:t>
                      </a:r>
                      <a:endParaRPr sz="1100"/>
                    </a:p>
                  </a:txBody>
                  <a:tcPr marL="47625" marR="38100" marT="19050" marB="19050" anchor="ctr">
                    <a:solidFill>
                      <a:srgbClr val="FFFFFF"/>
                    </a:solidFill>
                  </a:tcPr>
                </a:tc>
                <a:tc>
                  <a:txBody>
                    <a:bodyPr/>
                    <a:lstStyle/>
                    <a:p>
                      <a:pPr algn="l"/>
                      <a:r>
                        <a:rPr sz="1100" b="0">
                          <a:solidFill>
                            <a:srgbClr val="2E2E2E"/>
                          </a:solidFill>
                          <a:latin typeface="Calibri"/>
                        </a:rPr>
                        <a:t>80.3</a:t>
                      </a:r>
                      <a:endParaRPr sz="1100"/>
                    </a:p>
                  </a:txBody>
                  <a:tcPr marL="47625" marR="38100" marT="19050" marB="19050" anchor="ctr">
                    <a:solidFill>
                      <a:srgbClr val="FFFFFF"/>
                    </a:solidFill>
                  </a:tcPr>
                </a:tc>
                <a:tc>
                  <a:txBody>
                    <a:bodyPr/>
                    <a:lstStyle/>
                    <a:p>
                      <a:pPr algn="l"/>
                      <a:r>
                        <a:rPr sz="1100" b="0">
                          <a:solidFill>
                            <a:srgbClr val="2E2E2E"/>
                          </a:solidFill>
                          <a:latin typeface="Calibri"/>
                        </a:rPr>
                        <a:t>83.9</a:t>
                      </a:r>
                      <a:endParaRPr sz="1100"/>
                    </a:p>
                  </a:txBody>
                  <a:tcPr marL="47625" marR="38100" marT="19050" marB="19050" anchor="ctr">
                    <a:solidFill>
                      <a:srgbClr val="FFFFFF"/>
                    </a:solidFill>
                  </a:tcPr>
                </a:tc>
                <a:tc>
                  <a:txBody>
                    <a:bodyPr/>
                    <a:lstStyle/>
                    <a:p>
                      <a:pPr algn="l"/>
                      <a:r>
                        <a:rPr sz="1100" b="0">
                          <a:solidFill>
                            <a:srgbClr val="2E2E2E"/>
                          </a:solidFill>
                          <a:latin typeface="Calibri"/>
                        </a:rPr>
                        <a:t>87.6</a:t>
                      </a:r>
                      <a:endParaRPr sz="1100"/>
                    </a:p>
                  </a:txBody>
                  <a:tcPr marL="47625" marR="38100" marT="19050" marB="19050" anchor="ctr">
                    <a:solidFill>
                      <a:srgbClr val="FFFFFF"/>
                    </a:solidFill>
                  </a:tcPr>
                </a:tc>
                <a:tc>
                  <a:txBody>
                    <a:bodyPr/>
                    <a:lstStyle/>
                    <a:p>
                      <a:pPr algn="l"/>
                      <a:r>
                        <a:rPr sz="1100" b="0">
                          <a:solidFill>
                            <a:srgbClr val="2E2E2E"/>
                          </a:solidFill>
                          <a:latin typeface="Calibri"/>
                        </a:rPr>
                        <a:t>91.4</a:t>
                      </a:r>
                      <a:endParaRPr sz="1100"/>
                    </a:p>
                  </a:txBody>
                  <a:tcPr marL="47625" marR="38100" marT="19050" marB="19050" anchor="ctr">
                    <a:solidFill>
                      <a:srgbClr val="FFFFFF"/>
                    </a:solidFill>
                  </a:tcPr>
                </a:tc>
                <a:tc>
                  <a:txBody>
                    <a:bodyPr/>
                    <a:lstStyle/>
                    <a:p>
                      <a:pPr algn="l"/>
                      <a:r>
                        <a:rPr sz="1100" b="0">
                          <a:solidFill>
                            <a:srgbClr val="2E2E2E"/>
                          </a:solidFill>
                          <a:latin typeface="Calibri"/>
                        </a:rPr>
                        <a:t>95.2</a:t>
                      </a:r>
                      <a:endParaRPr sz="1100"/>
                    </a:p>
                  </a:txBody>
                  <a:tcPr marL="47625" marR="38100" marT="19050" marB="19050" anchor="ctr">
                    <a:solidFill>
                      <a:srgbClr val="FFFFFF"/>
                    </a:solidFill>
                  </a:tcPr>
                </a:tc>
                <a:tc>
                  <a:txBody>
                    <a:bodyPr/>
                    <a:lstStyle/>
                    <a:p>
                      <a:pPr algn="l"/>
                      <a:r>
                        <a:rPr sz="1100" b="0">
                          <a:solidFill>
                            <a:srgbClr val="2E2E2E"/>
                          </a:solidFill>
                          <a:latin typeface="Calibri"/>
                        </a:rPr>
                        <a:t>4.2%</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15537">
                <a:tc>
                  <a:txBody>
                    <a:bodyPr/>
                    <a:lstStyle/>
                    <a:p>
                      <a:pPr algn="l"/>
                      <a:r>
                        <a:rPr sz="1100" b="1">
                          <a:solidFill>
                            <a:srgbClr val="2E2E2E"/>
                          </a:solidFill>
                          <a:latin typeface="Calibri"/>
                        </a:rPr>
                        <a:t>Pharmacy / Drugstores</a:t>
                      </a:r>
                      <a:endParaRPr sz="1100"/>
                    </a:p>
                  </a:txBody>
                  <a:tcPr marL="47625" marR="38100" marT="19050" marB="19050" anchor="ctr">
                    <a:solidFill>
                      <a:srgbClr val="F5F8FA"/>
                    </a:solidFill>
                  </a:tcPr>
                </a:tc>
                <a:tc>
                  <a:txBody>
                    <a:bodyPr/>
                    <a:lstStyle/>
                    <a:p>
                      <a:pPr algn="l"/>
                      <a:r>
                        <a:rPr sz="1100" b="0">
                          <a:solidFill>
                            <a:srgbClr val="2E2E2E"/>
                          </a:solidFill>
                          <a:latin typeface="Calibri"/>
                        </a:rPr>
                        <a:t>43.7</a:t>
                      </a:r>
                      <a:endParaRPr sz="1100"/>
                    </a:p>
                  </a:txBody>
                  <a:tcPr marL="47625" marR="38100" marT="19050" marB="19050" anchor="ctr">
                    <a:solidFill>
                      <a:srgbClr val="F5F8FA"/>
                    </a:solidFill>
                  </a:tcPr>
                </a:tc>
                <a:tc>
                  <a:txBody>
                    <a:bodyPr/>
                    <a:lstStyle/>
                    <a:p>
                      <a:pPr algn="l"/>
                      <a:r>
                        <a:rPr sz="1100" b="0">
                          <a:solidFill>
                            <a:srgbClr val="2E2E2E"/>
                          </a:solidFill>
                          <a:latin typeface="Calibri"/>
                        </a:rPr>
                        <a:t>44.6</a:t>
                      </a:r>
                      <a:endParaRPr sz="1100"/>
                    </a:p>
                  </a:txBody>
                  <a:tcPr marL="47625" marR="38100" marT="19050" marB="19050" anchor="ctr">
                    <a:solidFill>
                      <a:srgbClr val="F5F8FA"/>
                    </a:solidFill>
                  </a:tcPr>
                </a:tc>
                <a:tc>
                  <a:txBody>
                    <a:bodyPr/>
                    <a:lstStyle/>
                    <a:p>
                      <a:pPr algn="l"/>
                      <a:r>
                        <a:rPr sz="1100" b="0">
                          <a:solidFill>
                            <a:srgbClr val="2E2E2E"/>
                          </a:solidFill>
                          <a:latin typeface="Calibri"/>
                        </a:rPr>
                        <a:t>45.5</a:t>
                      </a:r>
                      <a:endParaRPr sz="1100"/>
                    </a:p>
                  </a:txBody>
                  <a:tcPr marL="47625" marR="38100" marT="19050" marB="19050" anchor="ctr">
                    <a:solidFill>
                      <a:srgbClr val="F5F8FA"/>
                    </a:solidFill>
                  </a:tcPr>
                </a:tc>
                <a:tc>
                  <a:txBody>
                    <a:bodyPr/>
                    <a:lstStyle/>
                    <a:p>
                      <a:pPr algn="l"/>
                      <a:r>
                        <a:rPr sz="1100" b="0">
                          <a:solidFill>
                            <a:srgbClr val="2E2E2E"/>
                          </a:solidFill>
                          <a:latin typeface="Calibri"/>
                        </a:rPr>
                        <a:t>46.5</a:t>
                      </a:r>
                      <a:endParaRPr sz="1100"/>
                    </a:p>
                  </a:txBody>
                  <a:tcPr marL="47625" marR="38100" marT="19050" marB="19050" anchor="ctr">
                    <a:solidFill>
                      <a:srgbClr val="F5F8FA"/>
                    </a:solidFill>
                  </a:tcPr>
                </a:tc>
                <a:tc>
                  <a:txBody>
                    <a:bodyPr/>
                    <a:lstStyle/>
                    <a:p>
                      <a:pPr algn="l"/>
                      <a:r>
                        <a:rPr sz="1100" b="0">
                          <a:solidFill>
                            <a:srgbClr val="2E2E2E"/>
                          </a:solidFill>
                          <a:latin typeface="Calibri"/>
                        </a:rPr>
                        <a:t>47.5</a:t>
                      </a:r>
                      <a:endParaRPr sz="1100"/>
                    </a:p>
                  </a:txBody>
                  <a:tcPr marL="47625" marR="38100" marT="19050" marB="19050" anchor="ctr">
                    <a:solidFill>
                      <a:srgbClr val="F5F8FA"/>
                    </a:solidFill>
                  </a:tcPr>
                </a:tc>
                <a:tc>
                  <a:txBody>
                    <a:bodyPr/>
                    <a:lstStyle/>
                    <a:p>
                      <a:pPr algn="l"/>
                      <a:r>
                        <a:rPr sz="1100" b="0">
                          <a:solidFill>
                            <a:srgbClr val="2E2E2E"/>
                          </a:solidFill>
                          <a:latin typeface="Calibri"/>
                        </a:rPr>
                        <a:t>48.6</a:t>
                      </a:r>
                      <a:endParaRPr sz="1100"/>
                    </a:p>
                  </a:txBody>
                  <a:tcPr marL="47625" marR="38100" marT="19050" marB="19050" anchor="ctr">
                    <a:solidFill>
                      <a:srgbClr val="F5F8FA"/>
                    </a:solidFill>
                  </a:tcPr>
                </a:tc>
                <a:tc>
                  <a:txBody>
                    <a:bodyPr/>
                    <a:lstStyle/>
                    <a:p>
                      <a:pPr algn="l"/>
                      <a:r>
                        <a:rPr sz="1100" b="0">
                          <a:solidFill>
                            <a:srgbClr val="2E2E2E"/>
                          </a:solidFill>
                          <a:latin typeface="Calibri"/>
                        </a:rPr>
                        <a:t>49.8</a:t>
                      </a:r>
                      <a:endParaRPr sz="1100"/>
                    </a:p>
                  </a:txBody>
                  <a:tcPr marL="47625" marR="38100" marT="19050" marB="19050" anchor="ctr">
                    <a:solidFill>
                      <a:srgbClr val="F5F8FA"/>
                    </a:solidFill>
                  </a:tcPr>
                </a:tc>
                <a:tc>
                  <a:txBody>
                    <a:bodyPr/>
                    <a:lstStyle/>
                    <a:p>
                      <a:pPr algn="l"/>
                      <a:r>
                        <a:rPr sz="1100" b="0">
                          <a:solidFill>
                            <a:srgbClr val="2E2E2E"/>
                          </a:solidFill>
                          <a:latin typeface="Calibri"/>
                        </a:rPr>
                        <a:t>50.8</a:t>
                      </a:r>
                      <a:endParaRPr sz="1100"/>
                    </a:p>
                  </a:txBody>
                  <a:tcPr marL="47625" marR="38100" marT="19050" marB="19050" anchor="ctr">
                    <a:solidFill>
                      <a:srgbClr val="F5F8FA"/>
                    </a:solidFill>
                  </a:tcPr>
                </a:tc>
                <a:tc>
                  <a:txBody>
                    <a:bodyPr/>
                    <a:lstStyle/>
                    <a:p>
                      <a:pPr algn="l"/>
                      <a:r>
                        <a:rPr sz="1100" b="0">
                          <a:solidFill>
                            <a:srgbClr val="2E2E2E"/>
                          </a:solidFill>
                          <a:latin typeface="Calibri"/>
                        </a:rPr>
                        <a:t>51.9</a:t>
                      </a:r>
                      <a:endParaRPr sz="1100"/>
                    </a:p>
                  </a:txBody>
                  <a:tcPr marL="47625" marR="38100" marT="19050" marB="19050" anchor="ctr">
                    <a:solidFill>
                      <a:srgbClr val="F5F8FA"/>
                    </a:solidFill>
                  </a:tcPr>
                </a:tc>
                <a:tc>
                  <a:txBody>
                    <a:bodyPr/>
                    <a:lstStyle/>
                    <a:p>
                      <a:pPr algn="l"/>
                      <a:r>
                        <a:rPr sz="1100" b="0">
                          <a:solidFill>
                            <a:srgbClr val="2E2E2E"/>
                          </a:solidFill>
                          <a:latin typeface="Calibri"/>
                        </a:rPr>
                        <a:t>52.8</a:t>
                      </a:r>
                      <a:endParaRPr sz="1100"/>
                    </a:p>
                  </a:txBody>
                  <a:tcPr marL="47625" marR="38100" marT="19050" marB="19050" anchor="ctr">
                    <a:solidFill>
                      <a:srgbClr val="F5F8FA"/>
                    </a:solidFill>
                  </a:tcPr>
                </a:tc>
                <a:tc>
                  <a:txBody>
                    <a:bodyPr/>
                    <a:lstStyle/>
                    <a:p>
                      <a:pPr algn="l"/>
                      <a:r>
                        <a:rPr sz="1100" b="0">
                          <a:solidFill>
                            <a:srgbClr val="2E2E2E"/>
                          </a:solidFill>
                          <a:latin typeface="Calibri"/>
                        </a:rPr>
                        <a:t>53.7</a:t>
                      </a:r>
                      <a:endParaRPr sz="1100"/>
                    </a:p>
                  </a:txBody>
                  <a:tcPr marL="47625" marR="38100" marT="19050" marB="19050" anchor="ctr">
                    <a:solidFill>
                      <a:srgbClr val="F5F8FA"/>
                    </a:solidFill>
                  </a:tcPr>
                </a:tc>
                <a:tc>
                  <a:txBody>
                    <a:bodyPr/>
                    <a:lstStyle/>
                    <a:p>
                      <a:pPr algn="l"/>
                      <a:r>
                        <a:rPr sz="1100" b="0">
                          <a:solidFill>
                            <a:srgbClr val="2E2E2E"/>
                          </a:solidFill>
                          <a:latin typeface="Calibri"/>
                        </a:rPr>
                        <a:t>54.7</a:t>
                      </a:r>
                      <a:endParaRPr sz="1100"/>
                    </a:p>
                  </a:txBody>
                  <a:tcPr marL="47625" marR="38100" marT="19050" marB="19050" anchor="ctr">
                    <a:solidFill>
                      <a:srgbClr val="F5F8FA"/>
                    </a:solidFill>
                  </a:tcPr>
                </a:tc>
                <a:tc>
                  <a:txBody>
                    <a:bodyPr/>
                    <a:lstStyle/>
                    <a:p>
                      <a:pPr algn="l"/>
                      <a:r>
                        <a:rPr sz="1100" b="0">
                          <a:solidFill>
                            <a:srgbClr val="2E2E2E"/>
                          </a:solidFill>
                          <a:latin typeface="Calibri"/>
                        </a:rPr>
                        <a:t>55.8</a:t>
                      </a:r>
                      <a:endParaRPr sz="1100"/>
                    </a:p>
                  </a:txBody>
                  <a:tcPr marL="47625" marR="38100" marT="19050" marB="19050" anchor="ctr">
                    <a:solidFill>
                      <a:srgbClr val="F5F8FA"/>
                    </a:solidFill>
                  </a:tcPr>
                </a:tc>
                <a:tc>
                  <a:txBody>
                    <a:bodyPr/>
                    <a:lstStyle/>
                    <a:p>
                      <a:pPr algn="l"/>
                      <a:r>
                        <a:rPr sz="1100" b="0">
                          <a:solidFill>
                            <a:srgbClr val="2E2E2E"/>
                          </a:solidFill>
                          <a:latin typeface="Calibri"/>
                        </a:rPr>
                        <a:t>57.0</a:t>
                      </a:r>
                      <a:endParaRPr sz="1100"/>
                    </a:p>
                  </a:txBody>
                  <a:tcPr marL="47625" marR="38100" marT="19050" marB="19050" anchor="ctr">
                    <a:solidFill>
                      <a:srgbClr val="F5F8FA"/>
                    </a:solidFill>
                  </a:tcPr>
                </a:tc>
                <a:tc>
                  <a:txBody>
                    <a:bodyPr/>
                    <a:lstStyle/>
                    <a:p>
                      <a:pPr algn="l"/>
                      <a:r>
                        <a:rPr sz="1100" b="0">
                          <a:solidFill>
                            <a:srgbClr val="2E2E2E"/>
                          </a:solidFill>
                          <a:latin typeface="Calibri"/>
                        </a:rPr>
                        <a:t>58.3</a:t>
                      </a:r>
                      <a:endParaRPr sz="1100"/>
                    </a:p>
                  </a:txBody>
                  <a:tcPr marL="47625" marR="38100" marT="19050" marB="19050" anchor="ctr">
                    <a:solidFill>
                      <a:srgbClr val="F5F8FA"/>
                    </a:solidFill>
                  </a:tcPr>
                </a:tc>
                <a:tc>
                  <a:txBody>
                    <a:bodyPr/>
                    <a:lstStyle/>
                    <a:p>
                      <a:pPr algn="l"/>
                      <a:r>
                        <a:rPr sz="1100" b="0">
                          <a:solidFill>
                            <a:srgbClr val="2E2E2E"/>
                          </a:solidFill>
                          <a:latin typeface="Calibri"/>
                        </a:rPr>
                        <a:t>59.5</a:t>
                      </a:r>
                      <a:endParaRPr sz="1100"/>
                    </a:p>
                  </a:txBody>
                  <a:tcPr marL="47625" marR="38100" marT="19050" marB="19050" anchor="ctr">
                    <a:solidFill>
                      <a:srgbClr val="F5F8FA"/>
                    </a:solidFill>
                  </a:tcPr>
                </a:tc>
                <a:tc>
                  <a:txBody>
                    <a:bodyPr/>
                    <a:lstStyle/>
                    <a:p>
                      <a:pPr algn="l"/>
                      <a:r>
                        <a:rPr sz="1100" b="0">
                          <a:solidFill>
                            <a:srgbClr val="2E2E2E"/>
                          </a:solidFill>
                          <a:latin typeface="Calibri"/>
                        </a:rPr>
                        <a:t>2.0%</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15537">
                <a:tc>
                  <a:txBody>
                    <a:bodyPr/>
                    <a:lstStyle/>
                    <a:p>
                      <a:pPr algn="l"/>
                      <a:r>
                        <a:rPr sz="1100" b="1">
                          <a:solidFill>
                            <a:srgbClr val="2E2E2E"/>
                          </a:solidFill>
                          <a:latin typeface="Calibri"/>
                        </a:rPr>
                        <a:t>Specialty Health &amp; Wellness Retail</a:t>
                      </a:r>
                      <a:endParaRPr sz="1100"/>
                    </a:p>
                  </a:txBody>
                  <a:tcPr marL="47625" marR="38100" marT="19050" marB="19050" anchor="ctr">
                    <a:solidFill>
                      <a:srgbClr val="FFFFFF"/>
                    </a:solidFill>
                  </a:tcPr>
                </a:tc>
                <a:tc>
                  <a:txBody>
                    <a:bodyPr/>
                    <a:lstStyle/>
                    <a:p>
                      <a:pPr algn="l"/>
                      <a:r>
                        <a:rPr sz="1100" b="0">
                          <a:solidFill>
                            <a:srgbClr val="2E2E2E"/>
                          </a:solidFill>
                          <a:latin typeface="Calibri"/>
                        </a:rPr>
                        <a:t>8.53</a:t>
                      </a:r>
                      <a:endParaRPr sz="1100"/>
                    </a:p>
                  </a:txBody>
                  <a:tcPr marL="47625" marR="38100" marT="19050" marB="19050" anchor="ctr">
                    <a:solidFill>
                      <a:srgbClr val="FFFFFF"/>
                    </a:solidFill>
                  </a:tcPr>
                </a:tc>
                <a:tc>
                  <a:txBody>
                    <a:bodyPr/>
                    <a:lstStyle/>
                    <a:p>
                      <a:pPr algn="l"/>
                      <a:r>
                        <a:rPr sz="1100" b="0">
                          <a:solidFill>
                            <a:srgbClr val="2E2E2E"/>
                          </a:solidFill>
                          <a:latin typeface="Calibri"/>
                        </a:rPr>
                        <a:t>9.02</a:t>
                      </a:r>
                      <a:endParaRPr sz="1100"/>
                    </a:p>
                  </a:txBody>
                  <a:tcPr marL="47625" marR="38100" marT="19050" marB="19050" anchor="ctr">
                    <a:solidFill>
                      <a:srgbClr val="FFFFFF"/>
                    </a:solidFill>
                  </a:tcPr>
                </a:tc>
                <a:tc>
                  <a:txBody>
                    <a:bodyPr/>
                    <a:lstStyle/>
                    <a:p>
                      <a:pPr algn="l"/>
                      <a:r>
                        <a:rPr sz="1100" b="0">
                          <a:solidFill>
                            <a:srgbClr val="2E2E2E"/>
                          </a:solidFill>
                          <a:latin typeface="Calibri"/>
                        </a:rPr>
                        <a:t>9.52</a:t>
                      </a:r>
                      <a:endParaRPr sz="1100"/>
                    </a:p>
                  </a:txBody>
                  <a:tcPr marL="47625" marR="38100" marT="19050" marB="19050" anchor="ctr">
                    <a:solidFill>
                      <a:srgbClr val="FFFFFF"/>
                    </a:solidFill>
                  </a:tcPr>
                </a:tc>
                <a:tc>
                  <a:txBody>
                    <a:bodyPr/>
                    <a:lstStyle/>
                    <a:p>
                      <a:pPr algn="l"/>
                      <a:r>
                        <a:rPr sz="1100" b="0">
                          <a:solidFill>
                            <a:srgbClr val="2E2E2E"/>
                          </a:solidFill>
                          <a:latin typeface="Calibri"/>
                        </a:rPr>
                        <a:t>10.0</a:t>
                      </a:r>
                      <a:endParaRPr sz="1100"/>
                    </a:p>
                  </a:txBody>
                  <a:tcPr marL="47625" marR="38100" marT="19050" marB="19050" anchor="ctr">
                    <a:solidFill>
                      <a:srgbClr val="FFFFFF"/>
                    </a:solidFill>
                  </a:tcPr>
                </a:tc>
                <a:tc>
                  <a:txBody>
                    <a:bodyPr/>
                    <a:lstStyle/>
                    <a:p>
                      <a:pPr algn="l"/>
                      <a:r>
                        <a:rPr sz="1100" b="0">
                          <a:solidFill>
                            <a:srgbClr val="2E2E2E"/>
                          </a:solidFill>
                          <a:latin typeface="Calibri"/>
                        </a:rPr>
                        <a:t>10.5</a:t>
                      </a:r>
                      <a:endParaRPr sz="1100"/>
                    </a:p>
                  </a:txBody>
                  <a:tcPr marL="47625" marR="38100" marT="19050" marB="19050" anchor="ctr">
                    <a:solidFill>
                      <a:srgbClr val="FFFFFF"/>
                    </a:solidFill>
                  </a:tcPr>
                </a:tc>
                <a:tc>
                  <a:txBody>
                    <a:bodyPr/>
                    <a:lstStyle/>
                    <a:p>
                      <a:pPr algn="l"/>
                      <a:r>
                        <a:rPr sz="1100" b="0">
                          <a:solidFill>
                            <a:srgbClr val="2E2E2E"/>
                          </a:solidFill>
                          <a:latin typeface="Calibri"/>
                        </a:rPr>
                        <a:t>11.1</a:t>
                      </a:r>
                      <a:endParaRPr sz="1100"/>
                    </a:p>
                  </a:txBody>
                  <a:tcPr marL="47625" marR="38100" marT="19050" marB="19050" anchor="ctr">
                    <a:solidFill>
                      <a:srgbClr val="FFFFFF"/>
                    </a:solidFill>
                  </a:tcPr>
                </a:tc>
                <a:tc>
                  <a:txBody>
                    <a:bodyPr/>
                    <a:lstStyle/>
                    <a:p>
                      <a:pPr algn="l"/>
                      <a:r>
                        <a:rPr sz="1100" b="0">
                          <a:solidFill>
                            <a:srgbClr val="2E2E2E"/>
                          </a:solidFill>
                          <a:latin typeface="Calibri"/>
                        </a:rPr>
                        <a:t>11.7</a:t>
                      </a:r>
                      <a:endParaRPr sz="1100"/>
                    </a:p>
                  </a:txBody>
                  <a:tcPr marL="47625" marR="38100" marT="19050" marB="19050" anchor="ctr">
                    <a:solidFill>
                      <a:srgbClr val="FFFFFF"/>
                    </a:solidFill>
                  </a:tcPr>
                </a:tc>
                <a:tc>
                  <a:txBody>
                    <a:bodyPr/>
                    <a:lstStyle/>
                    <a:p>
                      <a:pPr algn="l"/>
                      <a:r>
                        <a:rPr sz="1100" b="0">
                          <a:solidFill>
                            <a:srgbClr val="2E2E2E"/>
                          </a:solidFill>
                          <a:latin typeface="Calibri"/>
                        </a:rPr>
                        <a:t>12.4</a:t>
                      </a:r>
                      <a:endParaRPr sz="1100"/>
                    </a:p>
                  </a:txBody>
                  <a:tcPr marL="47625" marR="38100" marT="19050" marB="19050" anchor="ctr">
                    <a:solidFill>
                      <a:srgbClr val="FFFFFF"/>
                    </a:solidFill>
                  </a:tcPr>
                </a:tc>
                <a:tc>
                  <a:txBody>
                    <a:bodyPr/>
                    <a:lstStyle/>
                    <a:p>
                      <a:pPr algn="l"/>
                      <a:r>
                        <a:rPr sz="1100" b="0">
                          <a:solidFill>
                            <a:srgbClr val="2E2E2E"/>
                          </a:solidFill>
                          <a:latin typeface="Calibri"/>
                        </a:rPr>
                        <a:t>13.2</a:t>
                      </a:r>
                      <a:endParaRPr sz="1100"/>
                    </a:p>
                  </a:txBody>
                  <a:tcPr marL="47625" marR="38100" marT="19050" marB="19050" anchor="ctr">
                    <a:solidFill>
                      <a:srgbClr val="FFFFFF"/>
                    </a:solidFill>
                  </a:tcPr>
                </a:tc>
                <a:tc>
                  <a:txBody>
                    <a:bodyPr/>
                    <a:lstStyle/>
                    <a:p>
                      <a:pPr algn="l"/>
                      <a:r>
                        <a:rPr sz="1100" b="0">
                          <a:solidFill>
                            <a:srgbClr val="2E2E2E"/>
                          </a:solidFill>
                          <a:latin typeface="Calibri"/>
                        </a:rPr>
                        <a:t>14.0</a:t>
                      </a:r>
                      <a:endParaRPr sz="1100"/>
                    </a:p>
                  </a:txBody>
                  <a:tcPr marL="47625" marR="38100" marT="19050" marB="19050" anchor="ctr">
                    <a:solidFill>
                      <a:srgbClr val="FFFFFF"/>
                    </a:solidFill>
                  </a:tcPr>
                </a:tc>
                <a:tc>
                  <a:txBody>
                    <a:bodyPr/>
                    <a:lstStyle/>
                    <a:p>
                      <a:pPr algn="l"/>
                      <a:r>
                        <a:rPr sz="1100" b="0">
                          <a:solidFill>
                            <a:srgbClr val="2E2E2E"/>
                          </a:solidFill>
                          <a:latin typeface="Calibri"/>
                        </a:rPr>
                        <a:t>14.8</a:t>
                      </a:r>
                      <a:endParaRPr sz="1100"/>
                    </a:p>
                  </a:txBody>
                  <a:tcPr marL="47625" marR="38100" marT="19050" marB="19050" anchor="ctr">
                    <a:solidFill>
                      <a:srgbClr val="FFFFFF"/>
                    </a:solidFill>
                  </a:tcPr>
                </a:tc>
                <a:tc>
                  <a:txBody>
                    <a:bodyPr/>
                    <a:lstStyle/>
                    <a:p>
                      <a:pPr algn="l"/>
                      <a:r>
                        <a:rPr sz="1100" b="0">
                          <a:solidFill>
                            <a:srgbClr val="2E2E2E"/>
                          </a:solidFill>
                          <a:latin typeface="Calibri"/>
                        </a:rPr>
                        <a:t>15.6</a:t>
                      </a:r>
                      <a:endParaRPr sz="1100"/>
                    </a:p>
                  </a:txBody>
                  <a:tcPr marL="47625" marR="38100" marT="19050" marB="19050" anchor="ctr">
                    <a:solidFill>
                      <a:srgbClr val="FFFFFF"/>
                    </a:solidFill>
                  </a:tcPr>
                </a:tc>
                <a:tc>
                  <a:txBody>
                    <a:bodyPr/>
                    <a:lstStyle/>
                    <a:p>
                      <a:pPr algn="l"/>
                      <a:r>
                        <a:rPr sz="1100" b="0">
                          <a:solidFill>
                            <a:srgbClr val="2E2E2E"/>
                          </a:solidFill>
                          <a:latin typeface="Calibri"/>
                        </a:rPr>
                        <a:t>16.6</a:t>
                      </a:r>
                      <a:endParaRPr sz="1100"/>
                    </a:p>
                  </a:txBody>
                  <a:tcPr marL="47625" marR="38100" marT="19050" marB="19050" anchor="ctr">
                    <a:solidFill>
                      <a:srgbClr val="FFFFFF"/>
                    </a:solidFill>
                  </a:tcPr>
                </a:tc>
                <a:tc>
                  <a:txBody>
                    <a:bodyPr/>
                    <a:lstStyle/>
                    <a:p>
                      <a:pPr algn="l"/>
                      <a:r>
                        <a:rPr sz="1100" b="0">
                          <a:solidFill>
                            <a:srgbClr val="2E2E2E"/>
                          </a:solidFill>
                          <a:latin typeface="Calibri"/>
                        </a:rPr>
                        <a:t>17.6</a:t>
                      </a:r>
                      <a:endParaRPr sz="1100"/>
                    </a:p>
                  </a:txBody>
                  <a:tcPr marL="47625" marR="38100" marT="19050" marB="19050" anchor="ctr">
                    <a:solidFill>
                      <a:srgbClr val="FFFFFF"/>
                    </a:solidFill>
                  </a:tcPr>
                </a:tc>
                <a:tc>
                  <a:txBody>
                    <a:bodyPr/>
                    <a:lstStyle/>
                    <a:p>
                      <a:pPr algn="l"/>
                      <a:r>
                        <a:rPr sz="1100" b="0">
                          <a:solidFill>
                            <a:srgbClr val="2E2E2E"/>
                          </a:solidFill>
                          <a:latin typeface="Calibri"/>
                        </a:rPr>
                        <a:t>18.7</a:t>
                      </a:r>
                      <a:endParaRPr sz="1100"/>
                    </a:p>
                  </a:txBody>
                  <a:tcPr marL="47625" marR="38100" marT="19050" marB="19050" anchor="ctr">
                    <a:solidFill>
                      <a:srgbClr val="FFFFFF"/>
                    </a:solidFill>
                  </a:tcPr>
                </a:tc>
                <a:tc>
                  <a:txBody>
                    <a:bodyPr/>
                    <a:lstStyle/>
                    <a:p>
                      <a:pPr algn="l"/>
                      <a:r>
                        <a:rPr sz="1100" b="0">
                          <a:solidFill>
                            <a:srgbClr val="2E2E2E"/>
                          </a:solidFill>
                          <a:latin typeface="Calibri"/>
                        </a:rPr>
                        <a:t>19.8</a:t>
                      </a:r>
                      <a:endParaRPr sz="1100"/>
                    </a:p>
                  </a:txBody>
                  <a:tcPr marL="47625" marR="38100" marT="19050" marB="19050" anchor="ctr">
                    <a:solidFill>
                      <a:srgbClr val="FFFFFF"/>
                    </a:solidFill>
                  </a:tcPr>
                </a:tc>
                <a:tc>
                  <a:txBody>
                    <a:bodyPr/>
                    <a:lstStyle/>
                    <a:p>
                      <a:pPr algn="l"/>
                      <a:r>
                        <a:rPr sz="1100" b="0">
                          <a:solidFill>
                            <a:srgbClr val="2E2E2E"/>
                          </a:solidFill>
                          <a:latin typeface="Calibri"/>
                        </a:rPr>
                        <a:t>6.0%</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15537">
                <a:tc>
                  <a:txBody>
                    <a:bodyPr/>
                    <a:lstStyle/>
                    <a:p>
                      <a:pPr algn="l"/>
                      <a:r>
                        <a:rPr sz="1100" b="1">
                          <a:solidFill>
                            <a:srgbClr val="2E2E2E"/>
                          </a:solidFill>
                          <a:latin typeface="Calibri"/>
                        </a:rPr>
                        <a:t>Practitioner / Clinic Channel</a:t>
                      </a:r>
                      <a:endParaRPr sz="1100"/>
                    </a:p>
                  </a:txBody>
                  <a:tcPr marL="47625" marR="38100" marT="19050" marB="19050" anchor="ctr">
                    <a:solidFill>
                      <a:srgbClr val="F5F8FA"/>
                    </a:solidFill>
                  </a:tcPr>
                </a:tc>
                <a:tc>
                  <a:txBody>
                    <a:bodyPr/>
                    <a:lstStyle/>
                    <a:p>
                      <a:pPr algn="l"/>
                      <a:r>
                        <a:rPr sz="1100" b="0">
                          <a:solidFill>
                            <a:srgbClr val="2E2E2E"/>
                          </a:solidFill>
                          <a:latin typeface="Calibri"/>
                        </a:rPr>
                        <a:t>3.10</a:t>
                      </a:r>
                      <a:endParaRPr sz="1100"/>
                    </a:p>
                  </a:txBody>
                  <a:tcPr marL="47625" marR="38100" marT="19050" marB="19050" anchor="ctr">
                    <a:solidFill>
                      <a:srgbClr val="F5F8FA"/>
                    </a:solidFill>
                  </a:tcPr>
                </a:tc>
                <a:tc>
                  <a:txBody>
                    <a:bodyPr/>
                    <a:lstStyle/>
                    <a:p>
                      <a:pPr algn="l"/>
                      <a:r>
                        <a:rPr sz="1100" b="0">
                          <a:solidFill>
                            <a:srgbClr val="2E2E2E"/>
                          </a:solidFill>
                          <a:latin typeface="Calibri"/>
                        </a:rPr>
                        <a:t>3.25</a:t>
                      </a:r>
                      <a:endParaRPr sz="1100"/>
                    </a:p>
                  </a:txBody>
                  <a:tcPr marL="47625" marR="38100" marT="19050" marB="19050" anchor="ctr">
                    <a:solidFill>
                      <a:srgbClr val="F5F8FA"/>
                    </a:solidFill>
                  </a:tcPr>
                </a:tc>
                <a:tc>
                  <a:txBody>
                    <a:bodyPr/>
                    <a:lstStyle/>
                    <a:p>
                      <a:pPr algn="l"/>
                      <a:r>
                        <a:rPr sz="1100" b="0">
                          <a:solidFill>
                            <a:srgbClr val="2E2E2E"/>
                          </a:solidFill>
                          <a:latin typeface="Calibri"/>
                        </a:rPr>
                        <a:t>3.41</a:t>
                      </a:r>
                      <a:endParaRPr sz="1100"/>
                    </a:p>
                  </a:txBody>
                  <a:tcPr marL="47625" marR="38100" marT="19050" marB="19050" anchor="ctr">
                    <a:solidFill>
                      <a:srgbClr val="F5F8FA"/>
                    </a:solidFill>
                  </a:tcPr>
                </a:tc>
                <a:tc>
                  <a:txBody>
                    <a:bodyPr/>
                    <a:lstStyle/>
                    <a:p>
                      <a:pPr algn="l"/>
                      <a:r>
                        <a:rPr sz="1100" b="0">
                          <a:solidFill>
                            <a:srgbClr val="2E2E2E"/>
                          </a:solidFill>
                          <a:latin typeface="Calibri"/>
                        </a:rPr>
                        <a:t>3.57</a:t>
                      </a:r>
                      <a:endParaRPr sz="1100"/>
                    </a:p>
                  </a:txBody>
                  <a:tcPr marL="47625" marR="38100" marT="19050" marB="19050" anchor="ctr">
                    <a:solidFill>
                      <a:srgbClr val="F5F8FA"/>
                    </a:solidFill>
                  </a:tcPr>
                </a:tc>
                <a:tc>
                  <a:txBody>
                    <a:bodyPr/>
                    <a:lstStyle/>
                    <a:p>
                      <a:pPr algn="l"/>
                      <a:r>
                        <a:rPr sz="1100" b="0">
                          <a:solidFill>
                            <a:srgbClr val="2E2E2E"/>
                          </a:solidFill>
                          <a:latin typeface="Calibri"/>
                        </a:rPr>
                        <a:t>3.73</a:t>
                      </a:r>
                      <a:endParaRPr sz="1100"/>
                    </a:p>
                  </a:txBody>
                  <a:tcPr marL="47625" marR="38100" marT="19050" marB="19050" anchor="ctr">
                    <a:solidFill>
                      <a:srgbClr val="F5F8FA"/>
                    </a:solidFill>
                  </a:tcPr>
                </a:tc>
                <a:tc>
                  <a:txBody>
                    <a:bodyPr/>
                    <a:lstStyle/>
                    <a:p>
                      <a:pPr algn="l"/>
                      <a:r>
                        <a:rPr sz="1100" b="0">
                          <a:solidFill>
                            <a:srgbClr val="2E2E2E"/>
                          </a:solidFill>
                          <a:latin typeface="Calibri"/>
                        </a:rPr>
                        <a:t>3.90</a:t>
                      </a:r>
                      <a:endParaRPr sz="1100"/>
                    </a:p>
                  </a:txBody>
                  <a:tcPr marL="47625" marR="38100" marT="19050" marB="19050" anchor="ctr">
                    <a:solidFill>
                      <a:srgbClr val="F5F8FA"/>
                    </a:solidFill>
                  </a:tcPr>
                </a:tc>
                <a:tc>
                  <a:txBody>
                    <a:bodyPr/>
                    <a:lstStyle/>
                    <a:p>
                      <a:pPr algn="l"/>
                      <a:r>
                        <a:rPr sz="1100" b="0">
                          <a:solidFill>
                            <a:srgbClr val="2E2E2E"/>
                          </a:solidFill>
                          <a:latin typeface="Calibri"/>
                        </a:rPr>
                        <a:t>4.08</a:t>
                      </a:r>
                      <a:endParaRPr sz="1100"/>
                    </a:p>
                  </a:txBody>
                  <a:tcPr marL="47625" marR="38100" marT="19050" marB="19050" anchor="ctr">
                    <a:solidFill>
                      <a:srgbClr val="F5F8FA"/>
                    </a:solidFill>
                  </a:tcPr>
                </a:tc>
                <a:tc>
                  <a:txBody>
                    <a:bodyPr/>
                    <a:lstStyle/>
                    <a:p>
                      <a:pPr algn="l"/>
                      <a:r>
                        <a:rPr sz="1100" b="0">
                          <a:solidFill>
                            <a:srgbClr val="2E2E2E"/>
                          </a:solidFill>
                          <a:latin typeface="Calibri"/>
                        </a:rPr>
                        <a:t>4.29</a:t>
                      </a:r>
                      <a:endParaRPr sz="1100"/>
                    </a:p>
                  </a:txBody>
                  <a:tcPr marL="47625" marR="38100" marT="19050" marB="19050" anchor="ctr">
                    <a:solidFill>
                      <a:srgbClr val="F5F8FA"/>
                    </a:solidFill>
                  </a:tcPr>
                </a:tc>
                <a:tc>
                  <a:txBody>
                    <a:bodyPr/>
                    <a:lstStyle/>
                    <a:p>
                      <a:pPr algn="l"/>
                      <a:r>
                        <a:rPr sz="1100" b="0">
                          <a:solidFill>
                            <a:srgbClr val="2E2E2E"/>
                          </a:solidFill>
                          <a:latin typeface="Calibri"/>
                        </a:rPr>
                        <a:t>4.51</a:t>
                      </a:r>
                      <a:endParaRPr sz="1100"/>
                    </a:p>
                  </a:txBody>
                  <a:tcPr marL="47625" marR="38100" marT="19050" marB="19050" anchor="ctr">
                    <a:solidFill>
                      <a:srgbClr val="F5F8FA"/>
                    </a:solidFill>
                  </a:tcPr>
                </a:tc>
                <a:tc>
                  <a:txBody>
                    <a:bodyPr/>
                    <a:lstStyle/>
                    <a:p>
                      <a:pPr algn="l"/>
                      <a:r>
                        <a:rPr sz="1100" b="0">
                          <a:solidFill>
                            <a:srgbClr val="2E2E2E"/>
                          </a:solidFill>
                          <a:latin typeface="Calibri"/>
                        </a:rPr>
                        <a:t>4.74</a:t>
                      </a:r>
                      <a:endParaRPr sz="1100"/>
                    </a:p>
                  </a:txBody>
                  <a:tcPr marL="47625" marR="38100" marT="19050" marB="19050" anchor="ctr">
                    <a:solidFill>
                      <a:srgbClr val="F5F8FA"/>
                    </a:solidFill>
                  </a:tcPr>
                </a:tc>
                <a:tc>
                  <a:txBody>
                    <a:bodyPr/>
                    <a:lstStyle/>
                    <a:p>
                      <a:pPr algn="l"/>
                      <a:r>
                        <a:rPr sz="1100" b="0">
                          <a:solidFill>
                            <a:srgbClr val="2E2E2E"/>
                          </a:solidFill>
                          <a:latin typeface="Calibri"/>
                        </a:rPr>
                        <a:t>4.97</a:t>
                      </a:r>
                      <a:endParaRPr sz="1100"/>
                    </a:p>
                  </a:txBody>
                  <a:tcPr marL="47625" marR="38100" marT="19050" marB="19050" anchor="ctr">
                    <a:solidFill>
                      <a:srgbClr val="F5F8FA"/>
                    </a:solidFill>
                  </a:tcPr>
                </a:tc>
                <a:tc>
                  <a:txBody>
                    <a:bodyPr/>
                    <a:lstStyle/>
                    <a:p>
                      <a:pPr algn="l"/>
                      <a:r>
                        <a:rPr sz="1100" b="0">
                          <a:solidFill>
                            <a:srgbClr val="2E2E2E"/>
                          </a:solidFill>
                          <a:latin typeface="Calibri"/>
                        </a:rPr>
                        <a:t>5.20</a:t>
                      </a:r>
                      <a:endParaRPr sz="1100"/>
                    </a:p>
                  </a:txBody>
                  <a:tcPr marL="47625" marR="38100" marT="19050" marB="19050" anchor="ctr">
                    <a:solidFill>
                      <a:srgbClr val="F5F8FA"/>
                    </a:solidFill>
                  </a:tcPr>
                </a:tc>
                <a:tc>
                  <a:txBody>
                    <a:bodyPr/>
                    <a:lstStyle/>
                    <a:p>
                      <a:pPr algn="l"/>
                      <a:r>
                        <a:rPr sz="1100" b="0">
                          <a:solidFill>
                            <a:srgbClr val="2E2E2E"/>
                          </a:solidFill>
                          <a:latin typeface="Calibri"/>
                        </a:rPr>
                        <a:t>5.46</a:t>
                      </a:r>
                      <a:endParaRPr sz="1100"/>
                    </a:p>
                  </a:txBody>
                  <a:tcPr marL="47625" marR="38100" marT="19050" marB="19050" anchor="ctr">
                    <a:solidFill>
                      <a:srgbClr val="F5F8FA"/>
                    </a:solidFill>
                  </a:tcPr>
                </a:tc>
                <a:tc>
                  <a:txBody>
                    <a:bodyPr/>
                    <a:lstStyle/>
                    <a:p>
                      <a:pPr algn="l"/>
                      <a:r>
                        <a:rPr sz="1100" b="0">
                          <a:solidFill>
                            <a:srgbClr val="2E2E2E"/>
                          </a:solidFill>
                          <a:latin typeface="Calibri"/>
                        </a:rPr>
                        <a:t>5.75</a:t>
                      </a:r>
                      <a:endParaRPr sz="1100"/>
                    </a:p>
                  </a:txBody>
                  <a:tcPr marL="47625" marR="38100" marT="19050" marB="19050" anchor="ctr">
                    <a:solidFill>
                      <a:srgbClr val="F5F8FA"/>
                    </a:solidFill>
                  </a:tcPr>
                </a:tc>
                <a:tc>
                  <a:txBody>
                    <a:bodyPr/>
                    <a:lstStyle/>
                    <a:p>
                      <a:pPr algn="l"/>
                      <a:r>
                        <a:rPr sz="1100" b="0">
                          <a:solidFill>
                            <a:srgbClr val="2E2E2E"/>
                          </a:solidFill>
                          <a:latin typeface="Calibri"/>
                        </a:rPr>
                        <a:t>6.04</a:t>
                      </a:r>
                      <a:endParaRPr sz="1100"/>
                    </a:p>
                  </a:txBody>
                  <a:tcPr marL="47625" marR="38100" marT="19050" marB="19050" anchor="ctr">
                    <a:solidFill>
                      <a:srgbClr val="F5F8FA"/>
                    </a:solidFill>
                  </a:tcPr>
                </a:tc>
                <a:tc>
                  <a:txBody>
                    <a:bodyPr/>
                    <a:lstStyle/>
                    <a:p>
                      <a:pPr algn="l"/>
                      <a:r>
                        <a:rPr sz="1100" b="0">
                          <a:solidFill>
                            <a:srgbClr val="2E2E2E"/>
                          </a:solidFill>
                          <a:latin typeface="Calibri"/>
                        </a:rPr>
                        <a:t>6.33</a:t>
                      </a:r>
                      <a:endParaRPr sz="1100"/>
                    </a:p>
                  </a:txBody>
                  <a:tcPr marL="47625" marR="38100" marT="19050" marB="19050" anchor="ctr">
                    <a:solidFill>
                      <a:srgbClr val="F5F8FA"/>
                    </a:solidFill>
                  </a:tcPr>
                </a:tc>
                <a:tc>
                  <a:txBody>
                    <a:bodyPr/>
                    <a:lstStyle/>
                    <a:p>
                      <a:pPr algn="l"/>
                      <a:r>
                        <a:rPr sz="1100" b="0">
                          <a:solidFill>
                            <a:srgbClr val="2E2E2E"/>
                          </a:solidFill>
                          <a:latin typeface="Calibri"/>
                        </a:rPr>
                        <a:t>5.0%</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r h="215537">
                <a:tc>
                  <a:txBody>
                    <a:bodyPr/>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a:lstStyle/>
                    <a:p>
                      <a:pPr algn="l"/>
                      <a:r>
                        <a:rPr sz="1100" b="1">
                          <a:solidFill>
                            <a:srgbClr val="2E2E2E"/>
                          </a:solidFill>
                          <a:latin typeface="Calibri"/>
                        </a:rPr>
                        <a:t>181.5</a:t>
                      </a:r>
                      <a:endParaRPr sz="1100"/>
                    </a:p>
                  </a:txBody>
                  <a:tcPr marL="47625" marR="38100" marT="19050" marB="19050" anchor="ctr">
                    <a:solidFill>
                      <a:srgbClr val="E0E8EF"/>
                    </a:solidFill>
                  </a:tcPr>
                </a:tc>
                <a:tc>
                  <a:txBody>
                    <a:bodyPr/>
                    <a:lstStyle/>
                    <a:p>
                      <a:pPr algn="l"/>
                      <a:r>
                        <a:rPr sz="1100" b="1">
                          <a:solidFill>
                            <a:srgbClr val="2E2E2E"/>
                          </a:solidFill>
                          <a:latin typeface="Calibri"/>
                        </a:rPr>
                        <a:t>190.1</a:t>
                      </a:r>
                      <a:endParaRPr sz="1100"/>
                    </a:p>
                  </a:txBody>
                  <a:tcPr marL="47625" marR="38100" marT="19050" marB="19050" anchor="ctr">
                    <a:solidFill>
                      <a:srgbClr val="E0E8EF"/>
                    </a:solidFill>
                  </a:tcPr>
                </a:tc>
                <a:tc>
                  <a:txBody>
                    <a:bodyPr/>
                    <a:lstStyle/>
                    <a:p>
                      <a:pPr algn="l"/>
                      <a:r>
                        <a:rPr sz="1100" b="1">
                          <a:solidFill>
                            <a:srgbClr val="2E2E2E"/>
                          </a:solidFill>
                          <a:latin typeface="Calibri"/>
                        </a:rPr>
                        <a:t>199.2</a:t>
                      </a:r>
                      <a:endParaRPr sz="1100"/>
                    </a:p>
                  </a:txBody>
                  <a:tcPr marL="47625" marR="38100" marT="19050" marB="19050" anchor="ctr">
                    <a:solidFill>
                      <a:srgbClr val="E0E8EF"/>
                    </a:solidFill>
                  </a:tcPr>
                </a:tc>
                <a:tc>
                  <a:txBody>
                    <a:bodyPr/>
                    <a:lstStyle/>
                    <a:p>
                      <a:pPr algn="l"/>
                      <a:r>
                        <a:rPr sz="1100" b="1">
                          <a:solidFill>
                            <a:srgbClr val="2E2E2E"/>
                          </a:solidFill>
                          <a:latin typeface="Calibri"/>
                        </a:rPr>
                        <a:t>208.9</a:t>
                      </a:r>
                      <a:endParaRPr sz="1100"/>
                    </a:p>
                  </a:txBody>
                  <a:tcPr marL="47625" marR="38100" marT="19050" marB="19050" anchor="ctr">
                    <a:solidFill>
                      <a:srgbClr val="E0E8EF"/>
                    </a:solidFill>
                  </a:tcPr>
                </a:tc>
                <a:tc>
                  <a:txBody>
                    <a:bodyPr/>
                    <a:lstStyle/>
                    <a:p>
                      <a:pPr algn="l"/>
                      <a:r>
                        <a:rPr sz="1100" b="1">
                          <a:solidFill>
                            <a:srgbClr val="2E2E2E"/>
                          </a:solidFill>
                          <a:latin typeface="Calibri"/>
                        </a:rPr>
                        <a:t>219.1</a:t>
                      </a:r>
                      <a:endParaRPr sz="1100"/>
                    </a:p>
                  </a:txBody>
                  <a:tcPr marL="47625" marR="38100" marT="19050" marB="19050" anchor="ctr">
                    <a:solidFill>
                      <a:srgbClr val="E0E8EF"/>
                    </a:solidFill>
                  </a:tcPr>
                </a:tc>
                <a:tc>
                  <a:txBody>
                    <a:bodyPr/>
                    <a:lstStyle/>
                    <a:p>
                      <a:pPr algn="l"/>
                      <a:r>
                        <a:rPr sz="1100" b="1">
                          <a:solidFill>
                            <a:srgbClr val="2E2E2E"/>
                          </a:solidFill>
                          <a:latin typeface="Calibri"/>
                        </a:rPr>
                        <a:t>230.6</a:t>
                      </a:r>
                      <a:endParaRPr sz="1100"/>
                    </a:p>
                  </a:txBody>
                  <a:tcPr marL="47625" marR="38100" marT="19050" marB="19050" anchor="ctr">
                    <a:solidFill>
                      <a:srgbClr val="E0E8EF"/>
                    </a:solidFill>
                  </a:tcPr>
                </a:tc>
                <a:tc>
                  <a:txBody>
                    <a:bodyPr/>
                    <a:lstStyle/>
                    <a:p>
                      <a:pPr algn="l"/>
                      <a:r>
                        <a:rPr sz="1100" b="1">
                          <a:solidFill>
                            <a:srgbClr val="2E2E2E"/>
                          </a:solidFill>
                          <a:latin typeface="Calibri"/>
                        </a:rPr>
                        <a:t>243.3</a:t>
                      </a:r>
                      <a:endParaRPr sz="1100"/>
                    </a:p>
                  </a:txBody>
                  <a:tcPr marL="47625" marR="38100" marT="19050" marB="19050" anchor="ctr">
                    <a:solidFill>
                      <a:srgbClr val="E0E8EF"/>
                    </a:solidFill>
                  </a:tcPr>
                </a:tc>
                <a:tc>
                  <a:txBody>
                    <a:bodyPr/>
                    <a:lstStyle/>
                    <a:p>
                      <a:pPr algn="l"/>
                      <a:r>
                        <a:rPr sz="1100" b="1">
                          <a:solidFill>
                            <a:srgbClr val="2E2E2E"/>
                          </a:solidFill>
                          <a:latin typeface="Calibri"/>
                        </a:rPr>
                        <a:t>257.4</a:t>
                      </a:r>
                      <a:endParaRPr sz="1100"/>
                    </a:p>
                  </a:txBody>
                  <a:tcPr marL="47625" marR="38100" marT="19050" marB="19050" anchor="ctr">
                    <a:solidFill>
                      <a:srgbClr val="E0E8EF"/>
                    </a:solidFill>
                  </a:tcPr>
                </a:tc>
                <a:tc>
                  <a:txBody>
                    <a:bodyPr/>
                    <a:lstStyle/>
                    <a:p>
                      <a:pPr algn="l"/>
                      <a:r>
                        <a:rPr sz="1100" b="1">
                          <a:solidFill>
                            <a:srgbClr val="2E2E2E"/>
                          </a:solidFill>
                          <a:latin typeface="Calibri"/>
                        </a:rPr>
                        <a:t>273.5</a:t>
                      </a:r>
                      <a:endParaRPr sz="1100"/>
                    </a:p>
                  </a:txBody>
                  <a:tcPr marL="47625" marR="38100" marT="19050" marB="19050" anchor="ctr">
                    <a:solidFill>
                      <a:srgbClr val="E0E8EF"/>
                    </a:solidFill>
                  </a:tcPr>
                </a:tc>
                <a:tc>
                  <a:txBody>
                    <a:bodyPr/>
                    <a:lstStyle/>
                    <a:p>
                      <a:pPr algn="l"/>
                      <a:r>
                        <a:rPr sz="1100" b="1">
                          <a:solidFill>
                            <a:srgbClr val="2E2E2E"/>
                          </a:solidFill>
                          <a:latin typeface="Calibri"/>
                        </a:rPr>
                        <a:t>291.5</a:t>
                      </a:r>
                      <a:endParaRPr sz="1100"/>
                    </a:p>
                  </a:txBody>
                  <a:tcPr marL="47625" marR="38100" marT="19050" marB="19050" anchor="ctr">
                    <a:solidFill>
                      <a:srgbClr val="E0E8EF"/>
                    </a:solidFill>
                  </a:tcPr>
                </a:tc>
                <a:tc>
                  <a:txBody>
                    <a:bodyPr/>
                    <a:lstStyle/>
                    <a:p>
                      <a:pPr algn="l"/>
                      <a:r>
                        <a:rPr sz="1100" b="1">
                          <a:solidFill>
                            <a:srgbClr val="2E2E2E"/>
                          </a:solidFill>
                          <a:latin typeface="Calibri"/>
                        </a:rPr>
                        <a:t>311.5</a:t>
                      </a:r>
                      <a:endParaRPr sz="1100"/>
                    </a:p>
                  </a:txBody>
                  <a:tcPr marL="47625" marR="38100" marT="19050" marB="19050" anchor="ctr">
                    <a:solidFill>
                      <a:srgbClr val="E0E8EF"/>
                    </a:solidFill>
                  </a:tcPr>
                </a:tc>
                <a:tc>
                  <a:txBody>
                    <a:bodyPr/>
                    <a:lstStyle/>
                    <a:p>
                      <a:pPr algn="l"/>
                      <a:r>
                        <a:rPr sz="1100" b="1">
                          <a:solidFill>
                            <a:srgbClr val="2E2E2E"/>
                          </a:solidFill>
                          <a:latin typeface="Calibri"/>
                        </a:rPr>
                        <a:t>333.4</a:t>
                      </a:r>
                      <a:endParaRPr sz="1100"/>
                    </a:p>
                  </a:txBody>
                  <a:tcPr marL="47625" marR="38100" marT="19050" marB="19050" anchor="ctr">
                    <a:solidFill>
                      <a:srgbClr val="E0E8EF"/>
                    </a:solidFill>
                  </a:tcPr>
                </a:tc>
                <a:tc>
                  <a:txBody>
                    <a:bodyPr/>
                    <a:lstStyle/>
                    <a:p>
                      <a:pPr algn="l"/>
                      <a:r>
                        <a:rPr sz="1100" b="1">
                          <a:solidFill>
                            <a:srgbClr val="2E2E2E"/>
                          </a:solidFill>
                          <a:latin typeface="Calibri"/>
                        </a:rPr>
                        <a:t>357.0</a:t>
                      </a:r>
                      <a:endParaRPr sz="1100"/>
                    </a:p>
                  </a:txBody>
                  <a:tcPr marL="47625" marR="38100" marT="19050" marB="19050" anchor="ctr">
                    <a:solidFill>
                      <a:srgbClr val="E0E8EF"/>
                    </a:solidFill>
                  </a:tcPr>
                </a:tc>
                <a:tc>
                  <a:txBody>
                    <a:bodyPr/>
                    <a:lstStyle/>
                    <a:p>
                      <a:pPr algn="l"/>
                      <a:r>
                        <a:rPr sz="1100" b="1">
                          <a:solidFill>
                            <a:srgbClr val="2E2E2E"/>
                          </a:solidFill>
                          <a:latin typeface="Calibri"/>
                        </a:rPr>
                        <a:t>382.4</a:t>
                      </a:r>
                      <a:endParaRPr sz="1100"/>
                    </a:p>
                  </a:txBody>
                  <a:tcPr marL="47625" marR="38100" marT="19050" marB="19050" anchor="ctr">
                    <a:solidFill>
                      <a:srgbClr val="E0E8EF"/>
                    </a:solidFill>
                  </a:tcPr>
                </a:tc>
                <a:tc>
                  <a:txBody>
                    <a:bodyPr/>
                    <a:lstStyle/>
                    <a:p>
                      <a:pPr algn="l"/>
                      <a:r>
                        <a:rPr sz="1100" b="1">
                          <a:solidFill>
                            <a:srgbClr val="2E2E2E"/>
                          </a:solidFill>
                          <a:latin typeface="Calibri"/>
                        </a:rPr>
                        <a:t>409.3</a:t>
                      </a:r>
                      <a:endParaRPr sz="1100"/>
                    </a:p>
                  </a:txBody>
                  <a:tcPr marL="47625" marR="38100" marT="19050" marB="19050" anchor="ctr">
                    <a:solidFill>
                      <a:srgbClr val="E0E8EF"/>
                    </a:solidFill>
                  </a:tcPr>
                </a:tc>
                <a:tc>
                  <a:txBody>
                    <a:bodyPr/>
                    <a:lstStyle/>
                    <a:p>
                      <a:pPr algn="l"/>
                      <a:r>
                        <a:rPr sz="1100" b="1">
                          <a:solidFill>
                            <a:srgbClr val="2E2E2E"/>
                          </a:solidFill>
                          <a:latin typeface="Calibri"/>
                        </a:rPr>
                        <a:t>437.8</a:t>
                      </a:r>
                      <a:endParaRPr sz="1100"/>
                    </a:p>
                  </a:txBody>
                  <a:tcPr marL="47625" marR="38100" marT="19050" marB="19050" anchor="ctr">
                    <a:solidFill>
                      <a:srgbClr val="E0E8EF"/>
                    </a:solidFill>
                  </a:tcPr>
                </a:tc>
                <a:tc>
                  <a:txBody>
                    <a:bodyPr/>
                    <a:lstStyle/>
                    <a:p>
                      <a:pPr algn="l"/>
                      <a:r>
                        <a:rPr sz="1100" b="1">
                          <a:solidFill>
                            <a:srgbClr val="2E2E2E"/>
                          </a:solidFill>
                          <a:latin typeface="Calibri"/>
                        </a:rPr>
                        <a:t>6.6%</a:t>
                      </a:r>
                      <a:endParaRPr sz="1100"/>
                    </a:p>
                  </a:txBody>
                  <a:tcPr marL="47625" marR="38100" marT="19050" marB="19050" anchor="ctr">
                    <a:solidFill>
                      <a:srgbClr val="E0E8EF"/>
                    </a:solidFill>
                  </a:tcPr>
                </a:tc>
                <a:extLst>
                  <a:ext uri="{0D108BD9-81ED-4DB2-BD59-A6C34878D82A}">
                    <a16:rowId xmlns:a16="http://schemas.microsoft.com/office/drawing/2014/main" val="10007"/>
                  </a:ext>
                </a:extLst>
              </a:tr>
            </a:tbl>
          </a:graphicData>
        </a:graphic>
      </p:graphicFrame>
      <p:sp>
        <p:nvSpPr>
          <p:cNvPr id="14" name="TextBox 13"/>
          <p:cNvSpPr txBox="1"/>
          <p:nvPr/>
        </p:nvSpPr>
        <p:spPr>
          <a:xfrm>
            <a:off x="219075" y="29718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6225" y="3390900"/>
            <a:ext cx="11639550" cy="209550"/>
          </a:xfrm>
          <a:prstGeom prst="rect">
            <a:avLst/>
          </a:prstGeom>
          <a:noFill/>
        </p:spPr>
        <p:txBody>
          <a:bodyPr wrap="square" lIns="0" tIns="9525" rIns="19050" bIns="9525">
            <a:spAutoFit/>
          </a:bodyPr>
          <a:lstStyle/>
          <a:p>
            <a:pPr algn="l"/>
            <a:r>
              <a:rPr sz="1300" b="1">
                <a:solidFill>
                  <a:srgbClr val="0B2E4A"/>
                </a:solidFill>
                <a:latin typeface="Calibri"/>
              </a:rPr>
              <a:t>USA Value Analysis, By Sales Channel</a:t>
            </a:r>
          </a:p>
        </p:txBody>
      </p:sp>
      <p:sp>
        <p:nvSpPr>
          <p:cNvPr id="17" name="Rectangle 16"/>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6225" y="3714750"/>
            <a:ext cx="11639550" cy="2838450"/>
          </a:xfrm>
          <a:prstGeom prst="rect">
            <a:avLst/>
          </a:prstGeom>
          <a:noFill/>
        </p:spPr>
        <p:txBody>
          <a:bodyPr wrap="square" lIns="0" tIns="9525" rIns="19050" bIns="9525">
            <a:spAutoFit/>
          </a:bodyPr>
          <a:lstStyle/>
          <a:p>
            <a:pPr algn="l">
              <a:lnSpc>
                <a:spcPct val="110000"/>
              </a:lnSpc>
              <a:spcBef>
                <a:spcPts val="0"/>
              </a:spcBef>
              <a:spcAft>
                <a:spcPts val="500"/>
              </a:spcAft>
            </a:pPr>
            <a:r>
              <a:rPr sz="1150" b="0">
                <a:solidFill>
                  <a:srgbClr val="2E2E2E"/>
                </a:solidFill>
                <a:latin typeface="Calibri"/>
              </a:rPr>
              <a:t>Amazon / online marketplaces segment is projected to register 1.8X higher value than mass retail segment in 2036. Among prenatal vitamin supplements by sales channel, direct-to-consumer / brand website segment is expected to witness the highest CAGR of 11.4% over the forecast period.</a:t>
            </a:r>
          </a:p>
          <a:p>
            <a:pPr algn="l">
              <a:lnSpc>
                <a:spcPct val="110000"/>
              </a:lnSpc>
              <a:spcBef>
                <a:spcPts val="0"/>
              </a:spcBef>
              <a:spcAft>
                <a:spcPts val="500"/>
              </a:spcAft>
            </a:pPr>
            <a:r>
              <a:rPr sz="1150" b="0">
                <a:solidFill>
                  <a:srgbClr val="2E2E2E"/>
                </a:solidFill>
                <a:latin typeface="Calibri"/>
              </a:rPr>
              <a:t>In terms of value share by sales channel, the amazon / online marketplaces segment is expected to dominate the market, gaining 665 BPS and accounting for 38.6% share by 2036. The pharmacy / drugstores segment is expected to lose 750 BPS over the forecast period to account for 13.6% share by 2036.</a:t>
            </a:r>
          </a:p>
          <a:p>
            <a:pPr algn="l">
              <a:lnSpc>
                <a:spcPct val="110000"/>
              </a:lnSpc>
              <a:spcBef>
                <a:spcPts val="0"/>
              </a:spcBef>
              <a:spcAft>
                <a:spcPts val="500"/>
              </a:spcAft>
            </a:pPr>
            <a:r>
              <a:rPr sz="1150" b="0">
                <a:solidFill>
                  <a:srgbClr val="2E2E2E"/>
                </a:solidFill>
                <a:latin typeface="Calibri"/>
              </a:rPr>
              <a:t>Direct-to-consumer websites are expected to gain 709 BPS of value share and Amazon and online marketplaces 665 BPS, as subscription models convert users before pregnancy confirmation and retain them through monthly shipments, and as online replenishment, Subscribe &amp; Save and easy ingredient comparison capture repeat purchases. Pharmacy and drugstores are expected to lose 750 BPS and mass retail 572 BPS, as these mature channels face pressure from online pricing, DTC subscriptions and shifting discovery behaviour.</a:t>
            </a:r>
          </a:p>
        </p:txBody>
      </p:sp>
      <p:sp>
        <p:nvSpPr>
          <p:cNvPr id="19" name="TextBox 1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Market Value &amp; Share Shift, By Sales Channel</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Value composition by Sales Channel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7210425"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Value Composition, By Sales Channel ·  2021 / 2026 / 2036 (US$ Mn)  ·  right axis = BPS share shift</a:t>
            </a:r>
          </a:p>
        </p:txBody>
      </p:sp>
      <p:graphicFrame>
        <p:nvGraphicFramePr>
          <p:cNvPr id="13" name="Chart 12"/>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p:cNvSpPr txBox="1"/>
          <p:nvPr/>
        </p:nvSpPr>
        <p:spPr>
          <a:xfrm>
            <a:off x="4852797" y="1419225"/>
            <a:ext cx="2595753" cy="177927"/>
          </a:xfrm>
          <a:prstGeom prst="rect">
            <a:avLst/>
          </a:prstGeom>
          <a:noFill/>
        </p:spPr>
        <p:txBody>
          <a:bodyPr wrap="square" lIns="28575" tIns="9525" rIns="2857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3932301"/>
            <a:ext cx="38100" cy="38100"/>
          </a:xfrm>
          <a:prstGeom prst="rect">
            <a:avLst/>
          </a:prstGeom>
          <a:noFill/>
        </p:spPr>
        <p:txBody>
          <a:bodyPr wrap="none">
            <a:spAutoFit/>
          </a:bodyPr>
          <a:lstStyle/>
          <a:p>
            <a:endParaRPr/>
          </a:p>
        </p:txBody>
      </p:sp>
      <p:sp>
        <p:nvSpPr>
          <p:cNvPr id="16" name="FMI Legend Chip"/>
          <p:cNvSpPr/>
          <p:nvPr/>
        </p:nvSpPr>
        <p:spPr>
          <a:xfrm>
            <a:off x="4928997" y="1540909"/>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Isosceles Triangle 16"/>
          <p:cNvSpPr/>
          <p:nvPr/>
        </p:nvSpPr>
        <p:spPr>
          <a:xfrm rot="10800000">
            <a:off x="5090922" y="153614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BPS Name 1"/>
          <p:cNvSpPr txBox="1"/>
          <p:nvPr/>
        </p:nvSpPr>
        <p:spPr>
          <a:xfrm>
            <a:off x="5233797" y="1459947"/>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Practitioner / Clinic Channel</a:t>
            </a:r>
          </a:p>
        </p:txBody>
      </p:sp>
      <p:sp>
        <p:nvSpPr>
          <p:cNvPr id="19" name="BPS Value 1"/>
          <p:cNvSpPr txBox="1"/>
          <p:nvPr/>
        </p:nvSpPr>
        <p:spPr>
          <a:xfrm>
            <a:off x="6896100" y="1521859"/>
            <a:ext cx="514350" cy="123825"/>
          </a:xfrm>
          <a:prstGeom prst="rect">
            <a:avLst/>
          </a:prstGeom>
          <a:noFill/>
        </p:spPr>
        <p:txBody>
          <a:bodyPr wrap="none" lIns="0" tIns="0" rIns="0" bIns="0" anchor="ctr">
            <a:spAutoFit/>
          </a:bodyPr>
          <a:lstStyle/>
          <a:p>
            <a:pPr algn="r"/>
            <a:r>
              <a:rPr sz="900" b="1">
                <a:solidFill>
                  <a:srgbClr val="E44D3A"/>
                </a:solidFill>
                <a:latin typeface="Calibri"/>
              </a:rPr>
              <a:t>-24</a:t>
            </a:r>
          </a:p>
        </p:txBody>
      </p:sp>
      <p:sp>
        <p:nvSpPr>
          <p:cNvPr id="20" name="FMI Legend Chip"/>
          <p:cNvSpPr/>
          <p:nvPr/>
        </p:nvSpPr>
        <p:spPr>
          <a:xfrm>
            <a:off x="4928997" y="1682416"/>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Isosceles Triangle 20"/>
          <p:cNvSpPr/>
          <p:nvPr/>
        </p:nvSpPr>
        <p:spPr>
          <a:xfrm rot="10800000">
            <a:off x="5090922" y="167765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BPS Name 2"/>
          <p:cNvSpPr txBox="1"/>
          <p:nvPr/>
        </p:nvSpPr>
        <p:spPr>
          <a:xfrm>
            <a:off x="5233797" y="1601453"/>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Specialty Health &amp; Wellness Retail</a:t>
            </a:r>
          </a:p>
        </p:txBody>
      </p:sp>
      <p:sp>
        <p:nvSpPr>
          <p:cNvPr id="23" name="BPS Value 2"/>
          <p:cNvSpPr txBox="1"/>
          <p:nvPr/>
        </p:nvSpPr>
        <p:spPr>
          <a:xfrm>
            <a:off x="6896100" y="1663366"/>
            <a:ext cx="514350" cy="123825"/>
          </a:xfrm>
          <a:prstGeom prst="rect">
            <a:avLst/>
          </a:prstGeom>
          <a:noFill/>
        </p:spPr>
        <p:txBody>
          <a:bodyPr wrap="none" lIns="0" tIns="0" rIns="0" bIns="0" anchor="ctr">
            <a:spAutoFit/>
          </a:bodyPr>
          <a:lstStyle/>
          <a:p>
            <a:pPr algn="r"/>
            <a:r>
              <a:rPr sz="900" b="1">
                <a:solidFill>
                  <a:srgbClr val="E44D3A"/>
                </a:solidFill>
                <a:latin typeface="Calibri"/>
              </a:rPr>
              <a:t>-27</a:t>
            </a:r>
          </a:p>
        </p:txBody>
      </p:sp>
      <p:sp>
        <p:nvSpPr>
          <p:cNvPr id="24" name="FMI Legend Chip"/>
          <p:cNvSpPr/>
          <p:nvPr/>
        </p:nvSpPr>
        <p:spPr>
          <a:xfrm>
            <a:off x="4928997" y="2111491"/>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Isosceles Triangle 24"/>
          <p:cNvSpPr/>
          <p:nvPr/>
        </p:nvSpPr>
        <p:spPr>
          <a:xfrm rot="10800000">
            <a:off x="5090922" y="210672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BPS Name 3"/>
          <p:cNvSpPr txBox="1"/>
          <p:nvPr/>
        </p:nvSpPr>
        <p:spPr>
          <a:xfrm>
            <a:off x="5233797" y="2030529"/>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Pharmacy / Drugstores</a:t>
            </a:r>
          </a:p>
        </p:txBody>
      </p:sp>
      <p:sp>
        <p:nvSpPr>
          <p:cNvPr id="27" name="BPS Value 3"/>
          <p:cNvSpPr txBox="1"/>
          <p:nvPr/>
        </p:nvSpPr>
        <p:spPr>
          <a:xfrm>
            <a:off x="6896100" y="2092441"/>
            <a:ext cx="514350" cy="123825"/>
          </a:xfrm>
          <a:prstGeom prst="rect">
            <a:avLst/>
          </a:prstGeom>
          <a:noFill/>
        </p:spPr>
        <p:txBody>
          <a:bodyPr wrap="none" lIns="0" tIns="0" rIns="0" bIns="0" anchor="ctr">
            <a:spAutoFit/>
          </a:bodyPr>
          <a:lstStyle/>
          <a:p>
            <a:pPr algn="r"/>
            <a:r>
              <a:rPr sz="900" b="1">
                <a:solidFill>
                  <a:srgbClr val="E44D3A"/>
                </a:solidFill>
                <a:latin typeface="Calibri"/>
              </a:rPr>
              <a:t>-750</a:t>
            </a:r>
          </a:p>
        </p:txBody>
      </p:sp>
      <p:sp>
        <p:nvSpPr>
          <p:cNvPr id="28" name="FMI Legend Chip"/>
          <p:cNvSpPr/>
          <p:nvPr/>
        </p:nvSpPr>
        <p:spPr>
          <a:xfrm>
            <a:off x="4928997" y="2908748"/>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Isosceles Triangle 28"/>
          <p:cNvSpPr/>
          <p:nvPr/>
        </p:nvSpPr>
        <p:spPr>
          <a:xfrm>
            <a:off x="5090922" y="290398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BPS Name 4"/>
          <p:cNvSpPr txBox="1"/>
          <p:nvPr/>
        </p:nvSpPr>
        <p:spPr>
          <a:xfrm>
            <a:off x="5233797" y="2827786"/>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Direct-to-Consumer / Brand Website</a:t>
            </a:r>
          </a:p>
        </p:txBody>
      </p:sp>
      <p:sp>
        <p:nvSpPr>
          <p:cNvPr id="31" name="BPS Value 4"/>
          <p:cNvSpPr txBox="1"/>
          <p:nvPr/>
        </p:nvSpPr>
        <p:spPr>
          <a:xfrm>
            <a:off x="6896100" y="2889698"/>
            <a:ext cx="514350" cy="123825"/>
          </a:xfrm>
          <a:prstGeom prst="rect">
            <a:avLst/>
          </a:prstGeom>
          <a:noFill/>
        </p:spPr>
        <p:txBody>
          <a:bodyPr wrap="none" lIns="0" tIns="0" rIns="0" bIns="0" anchor="ctr">
            <a:spAutoFit/>
          </a:bodyPr>
          <a:lstStyle/>
          <a:p>
            <a:pPr algn="r"/>
            <a:r>
              <a:rPr sz="900" b="1">
                <a:solidFill>
                  <a:srgbClr val="2E7D32"/>
                </a:solidFill>
                <a:latin typeface="Calibri"/>
              </a:rPr>
              <a:t>+709</a:t>
            </a:r>
          </a:p>
        </p:txBody>
      </p:sp>
      <p:sp>
        <p:nvSpPr>
          <p:cNvPr id="32" name="FMI Legend Chip"/>
          <p:cNvSpPr/>
          <p:nvPr/>
        </p:nvSpPr>
        <p:spPr>
          <a:xfrm>
            <a:off x="4928997" y="3899285"/>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sosceles Triangle 32"/>
          <p:cNvSpPr/>
          <p:nvPr/>
        </p:nvSpPr>
        <p:spPr>
          <a:xfrm rot="10800000">
            <a:off x="5090922" y="389452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BPS Name 5"/>
          <p:cNvSpPr txBox="1"/>
          <p:nvPr/>
        </p:nvSpPr>
        <p:spPr>
          <a:xfrm>
            <a:off x="5233797" y="3818322"/>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Mass Retail</a:t>
            </a:r>
          </a:p>
        </p:txBody>
      </p:sp>
      <p:sp>
        <p:nvSpPr>
          <p:cNvPr id="35" name="BPS Value 5"/>
          <p:cNvSpPr txBox="1"/>
          <p:nvPr/>
        </p:nvSpPr>
        <p:spPr>
          <a:xfrm>
            <a:off x="6896100" y="3880235"/>
            <a:ext cx="514350" cy="123825"/>
          </a:xfrm>
          <a:prstGeom prst="rect">
            <a:avLst/>
          </a:prstGeom>
          <a:noFill/>
        </p:spPr>
        <p:txBody>
          <a:bodyPr wrap="none" lIns="0" tIns="0" rIns="0" bIns="0" anchor="ctr">
            <a:spAutoFit/>
          </a:bodyPr>
          <a:lstStyle/>
          <a:p>
            <a:pPr algn="r"/>
            <a:r>
              <a:rPr sz="900" b="1">
                <a:solidFill>
                  <a:srgbClr val="E44D3A"/>
                </a:solidFill>
                <a:latin typeface="Calibri"/>
              </a:rPr>
              <a:t>-572</a:t>
            </a:r>
          </a:p>
        </p:txBody>
      </p:sp>
      <p:sp>
        <p:nvSpPr>
          <p:cNvPr id="36" name="FMI Legend Chip"/>
          <p:cNvSpPr/>
          <p:nvPr/>
        </p:nvSpPr>
        <p:spPr>
          <a:xfrm>
            <a:off x="4928997" y="5329007"/>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Isosceles Triangle 36"/>
          <p:cNvSpPr/>
          <p:nvPr/>
        </p:nvSpPr>
        <p:spPr>
          <a:xfrm>
            <a:off x="5090922" y="532424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PS Name 6"/>
          <p:cNvSpPr txBox="1"/>
          <p:nvPr/>
        </p:nvSpPr>
        <p:spPr>
          <a:xfrm>
            <a:off x="5233797" y="5248045"/>
            <a:ext cx="1528953" cy="247650"/>
          </a:xfrm>
          <a:prstGeom prst="rect">
            <a:avLst/>
          </a:prstGeom>
          <a:noFill/>
        </p:spPr>
        <p:txBody>
          <a:bodyPr wrap="square" lIns="19050" tIns="0" rIns="19050" bIns="0" anchor="ctr">
            <a:spAutoFit/>
          </a:bodyPr>
          <a:lstStyle/>
          <a:p>
            <a:pPr algn="l"/>
            <a:r>
              <a:rPr sz="900" b="0">
                <a:solidFill>
                  <a:srgbClr val="2E2E2E"/>
                </a:solidFill>
                <a:latin typeface="Calibri"/>
              </a:rPr>
              <a:t>Amazon / Online Marketplaces</a:t>
            </a:r>
          </a:p>
        </p:txBody>
      </p:sp>
      <p:sp>
        <p:nvSpPr>
          <p:cNvPr id="39" name="BPS Value 6"/>
          <p:cNvSpPr txBox="1"/>
          <p:nvPr/>
        </p:nvSpPr>
        <p:spPr>
          <a:xfrm>
            <a:off x="6896100" y="5309957"/>
            <a:ext cx="514350" cy="123825"/>
          </a:xfrm>
          <a:prstGeom prst="rect">
            <a:avLst/>
          </a:prstGeom>
          <a:noFill/>
        </p:spPr>
        <p:txBody>
          <a:bodyPr wrap="none" lIns="0" tIns="0" rIns="0" bIns="0" anchor="ctr">
            <a:spAutoFit/>
          </a:bodyPr>
          <a:lstStyle/>
          <a:p>
            <a:pPr algn="r"/>
            <a:r>
              <a:rPr sz="900" b="1">
                <a:solidFill>
                  <a:srgbClr val="2E7D32"/>
                </a:solidFill>
                <a:latin typeface="Calibri"/>
              </a:rPr>
              <a:t>+665</a:t>
            </a:r>
          </a:p>
        </p:txBody>
      </p:sp>
      <p:sp>
        <p:nvSpPr>
          <p:cNvPr id="40" name="Rounded Rectangle 39"/>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829550" y="1066800"/>
            <a:ext cx="4076700" cy="209550"/>
          </a:xfrm>
          <a:prstGeom prst="rect">
            <a:avLst/>
          </a:prstGeom>
          <a:noFill/>
        </p:spPr>
        <p:txBody>
          <a:bodyPr wrap="square" lIns="0" tIns="9525" rIns="19050" bIns="9525">
            <a:spAutoFit/>
          </a:bodyPr>
          <a:lstStyle/>
          <a:p>
            <a:pPr algn="l"/>
            <a:r>
              <a:rPr sz="1300" b="1">
                <a:solidFill>
                  <a:srgbClr val="0B2E4A"/>
                </a:solidFill>
                <a:latin typeface="Calibri"/>
              </a:rPr>
              <a:t>USA Read-out, By Sales Channel</a:t>
            </a:r>
          </a:p>
        </p:txBody>
      </p:sp>
      <p:sp>
        <p:nvSpPr>
          <p:cNvPr id="42" name="Rectangle 41"/>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829550" y="1390650"/>
            <a:ext cx="4076700" cy="5162550"/>
          </a:xfrm>
          <a:prstGeom prst="rect">
            <a:avLst/>
          </a:prstGeom>
          <a:noFill/>
        </p:spPr>
        <p:txBody>
          <a:bodyPr wrap="square" lIns="0" tIns="9525" rIns="19050" bIns="9525">
            <a:spAutoFit/>
          </a:bodyPr>
          <a:lstStyle/>
          <a:p>
            <a:pPr algn="l">
              <a:lnSpc>
                <a:spcPct val="110000"/>
              </a:lnSpc>
              <a:spcBef>
                <a:spcPts val="0"/>
              </a:spcBef>
              <a:spcAft>
                <a:spcPts val="500"/>
              </a:spcAft>
            </a:pPr>
            <a:r>
              <a:rPr sz="1150" b="0">
                <a:solidFill>
                  <a:srgbClr val="2E2E2E"/>
                </a:solidFill>
                <a:latin typeface="Calibri"/>
              </a:rPr>
              <a:t>Among prenatal vitamin supplements by sales channel, direct-to-consumer / brand website segment is expected to witness the highest CAGR of 11.4% over the forecast period. In terms of value share by sales channel, the amazon / online marketplaces segment is expected to dominate the market, gaining 665 BPS and accounting for 38.6% share by 2036.</a:t>
            </a:r>
          </a:p>
          <a:p>
            <a:pPr algn="l">
              <a:lnSpc>
                <a:spcPct val="110000"/>
              </a:lnSpc>
              <a:spcBef>
                <a:spcPts val="0"/>
              </a:spcBef>
              <a:spcAft>
                <a:spcPts val="500"/>
              </a:spcAft>
            </a:pPr>
            <a:r>
              <a:rPr sz="1150" b="0">
                <a:solidFill>
                  <a:srgbClr val="2E2E2E"/>
                </a:solidFill>
                <a:latin typeface="Calibri"/>
              </a:rPr>
              <a:t>The pharmacy / drugstores segment is expected to lose 750 BPS over the forecast period to account for 13.6% share by 2036.</a:t>
            </a:r>
          </a:p>
          <a:p>
            <a:pPr algn="l">
              <a:lnSpc>
                <a:spcPct val="110000"/>
              </a:lnSpc>
              <a:spcBef>
                <a:spcPts val="0"/>
              </a:spcBef>
              <a:spcAft>
                <a:spcPts val="500"/>
              </a:spcAft>
            </a:pPr>
            <a:r>
              <a:rPr sz="1150" b="0">
                <a:solidFill>
                  <a:srgbClr val="2E2E2E"/>
                </a:solidFill>
                <a:latin typeface="Calibri"/>
              </a:rPr>
              <a:t>Direct-to-consumer brand websites are expected to grow fastest at 11.4% CAGR, as subscription models convert consumers before pregnancy confirmation and retain them through postpartum, and as brands use personalisation, methylfolate, choline and clean-label claims to build education-led routines. Amazon and online marketplaces follow at 8.7% on continued online migration and Subscribe &amp; Save behaviour.</a:t>
            </a:r>
          </a:p>
        </p:txBody>
      </p:sp>
      <p:sp>
        <p:nvSpPr>
          <p:cNvPr id="44" name="TextBox 4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YoY Analysis of USA Market Volume, By Sales Channel (%)</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Year-on-year volume growth by Sales Channel,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11906250" cy="1981200"/>
          </a:xfrm>
          <a:prstGeom prst="roundRect">
            <a:avLst>
              <a:gd name="adj" fmla="val 38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Volume YoY Growth, By Sales Channel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202" cy="1514475"/>
        </p:xfrm>
        <a:graphic>
          <a:graphicData uri="http://schemas.openxmlformats.org/drawingml/2006/table">
            <a:tbl>
              <a:tblPr>
                <a:tableStyleId>{5C22544A-7EE6-4342-B048-85BDC9FD1C3A}</a:tableStyleId>
              </a:tblPr>
              <a:tblGrid>
                <a:gridCol w="2429078">
                  <a:extLst>
                    <a:ext uri="{9D8B030D-6E8A-4147-A177-3AD203B41FA5}">
                      <a16:colId xmlns:a16="http://schemas.microsoft.com/office/drawing/2014/main" val="20000"/>
                    </a:ext>
                  </a:extLst>
                </a:gridCol>
                <a:gridCol w="594430">
                  <a:extLst>
                    <a:ext uri="{9D8B030D-6E8A-4147-A177-3AD203B41FA5}">
                      <a16:colId xmlns:a16="http://schemas.microsoft.com/office/drawing/2014/main" val="20001"/>
                    </a:ext>
                  </a:extLst>
                </a:gridCol>
                <a:gridCol w="594430">
                  <a:extLst>
                    <a:ext uri="{9D8B030D-6E8A-4147-A177-3AD203B41FA5}">
                      <a16:colId xmlns:a16="http://schemas.microsoft.com/office/drawing/2014/main" val="20002"/>
                    </a:ext>
                  </a:extLst>
                </a:gridCol>
                <a:gridCol w="594430">
                  <a:extLst>
                    <a:ext uri="{9D8B030D-6E8A-4147-A177-3AD203B41FA5}">
                      <a16:colId xmlns:a16="http://schemas.microsoft.com/office/drawing/2014/main" val="20003"/>
                    </a:ext>
                  </a:extLst>
                </a:gridCol>
                <a:gridCol w="594430">
                  <a:extLst>
                    <a:ext uri="{9D8B030D-6E8A-4147-A177-3AD203B41FA5}">
                      <a16:colId xmlns:a16="http://schemas.microsoft.com/office/drawing/2014/main" val="20004"/>
                    </a:ext>
                  </a:extLst>
                </a:gridCol>
                <a:gridCol w="594430">
                  <a:extLst>
                    <a:ext uri="{9D8B030D-6E8A-4147-A177-3AD203B41FA5}">
                      <a16:colId xmlns:a16="http://schemas.microsoft.com/office/drawing/2014/main" val="20005"/>
                    </a:ext>
                  </a:extLst>
                </a:gridCol>
                <a:gridCol w="594430">
                  <a:extLst>
                    <a:ext uri="{9D8B030D-6E8A-4147-A177-3AD203B41FA5}">
                      <a16:colId xmlns:a16="http://schemas.microsoft.com/office/drawing/2014/main" val="20006"/>
                    </a:ext>
                  </a:extLst>
                </a:gridCol>
                <a:gridCol w="594430">
                  <a:extLst>
                    <a:ext uri="{9D8B030D-6E8A-4147-A177-3AD203B41FA5}">
                      <a16:colId xmlns:a16="http://schemas.microsoft.com/office/drawing/2014/main" val="20007"/>
                    </a:ext>
                  </a:extLst>
                </a:gridCol>
                <a:gridCol w="594430">
                  <a:extLst>
                    <a:ext uri="{9D8B030D-6E8A-4147-A177-3AD203B41FA5}">
                      <a16:colId xmlns:a16="http://schemas.microsoft.com/office/drawing/2014/main" val="20008"/>
                    </a:ext>
                  </a:extLst>
                </a:gridCol>
                <a:gridCol w="671812">
                  <a:extLst>
                    <a:ext uri="{9D8B030D-6E8A-4147-A177-3AD203B41FA5}">
                      <a16:colId xmlns:a16="http://schemas.microsoft.com/office/drawing/2014/main" val="20009"/>
                    </a:ext>
                  </a:extLst>
                </a:gridCol>
                <a:gridCol w="671812">
                  <a:extLst>
                    <a:ext uri="{9D8B030D-6E8A-4147-A177-3AD203B41FA5}">
                      <a16:colId xmlns:a16="http://schemas.microsoft.com/office/drawing/2014/main" val="20010"/>
                    </a:ext>
                  </a:extLst>
                </a:gridCol>
                <a:gridCol w="671812">
                  <a:extLst>
                    <a:ext uri="{9D8B030D-6E8A-4147-A177-3AD203B41FA5}">
                      <a16:colId xmlns:a16="http://schemas.microsoft.com/office/drawing/2014/main" val="20011"/>
                    </a:ext>
                  </a:extLst>
                </a:gridCol>
                <a:gridCol w="671812">
                  <a:extLst>
                    <a:ext uri="{9D8B030D-6E8A-4147-A177-3AD203B41FA5}">
                      <a16:colId xmlns:a16="http://schemas.microsoft.com/office/drawing/2014/main" val="20012"/>
                    </a:ext>
                  </a:extLst>
                </a:gridCol>
                <a:gridCol w="671812">
                  <a:extLst>
                    <a:ext uri="{9D8B030D-6E8A-4147-A177-3AD203B41FA5}">
                      <a16:colId xmlns:a16="http://schemas.microsoft.com/office/drawing/2014/main" val="20013"/>
                    </a:ext>
                  </a:extLst>
                </a:gridCol>
                <a:gridCol w="671812">
                  <a:extLst>
                    <a:ext uri="{9D8B030D-6E8A-4147-A177-3AD203B41FA5}">
                      <a16:colId xmlns:a16="http://schemas.microsoft.com/office/drawing/2014/main" val="20014"/>
                    </a:ext>
                  </a:extLst>
                </a:gridCol>
                <a:gridCol w="671812">
                  <a:extLst>
                    <a:ext uri="{9D8B030D-6E8A-4147-A177-3AD203B41FA5}">
                      <a16:colId xmlns:a16="http://schemas.microsoft.com/office/drawing/2014/main" val="20015"/>
                    </a:ext>
                  </a:extLst>
                </a:gridCol>
              </a:tblGrid>
              <a:tr h="215265">
                <a:tc>
                  <a:txBody>
                    <a:bodyPr/>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16535">
                <a:tc>
                  <a:txBody>
                    <a:bodyPr/>
                    <a:lstStyle/>
                    <a:p>
                      <a:pPr algn="l"/>
                      <a:r>
                        <a:rPr sz="1100" b="1">
                          <a:solidFill>
                            <a:srgbClr val="2E2E2E"/>
                          </a:solidFill>
                          <a:latin typeface="Calibri"/>
                        </a:rPr>
                        <a:t>Direct-to-Consumer / Brand Website</a:t>
                      </a:r>
                      <a:endParaRPr sz="1100"/>
                    </a:p>
                  </a:txBody>
                  <a:tcPr marL="47625" marR="38100" marT="19050" marB="19050" anchor="ctr">
                    <a:solidFill>
                      <a:srgbClr val="FFFFFF"/>
                    </a:solidFill>
                  </a:tcPr>
                </a:tc>
                <a:tc>
                  <a:txBody>
                    <a:bodyPr/>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a:lstStyle/>
                    <a:p>
                      <a:pPr algn="l"/>
                      <a:r>
                        <a:rPr sz="1100" b="1">
                          <a:solidFill>
                            <a:srgbClr val="2E7D32"/>
                          </a:solidFill>
                          <a:latin typeface="Calibri"/>
                        </a:rPr>
                        <a:t>▲ 6.4%</a:t>
                      </a:r>
                      <a:endParaRPr sz="1100"/>
                    </a:p>
                  </a:txBody>
                  <a:tcPr marL="47625" marR="38100" marT="19050" marB="19050" anchor="ctr">
                    <a:solidFill>
                      <a:srgbClr val="FFFFFF"/>
                    </a:solidFill>
                  </a:tcPr>
                </a:tc>
                <a:tc>
                  <a:txBody>
                    <a:bodyPr/>
                    <a:lstStyle/>
                    <a:p>
                      <a:pPr algn="l"/>
                      <a:r>
                        <a:rPr sz="1100" b="1">
                          <a:solidFill>
                            <a:srgbClr val="2E7D32"/>
                          </a:solidFill>
                          <a:latin typeface="Calibri"/>
                        </a:rPr>
                        <a:t>▲ 7.2%</a:t>
                      </a:r>
                      <a:endParaRPr sz="1100"/>
                    </a:p>
                  </a:txBody>
                  <a:tcPr marL="47625" marR="38100" marT="19050" marB="19050" anchor="ctr">
                    <a:solidFill>
                      <a:srgbClr val="FFFFFF"/>
                    </a:solidFill>
                  </a:tcPr>
                </a:tc>
                <a:tc>
                  <a:txBody>
                    <a:bodyPr/>
                    <a:lstStyle/>
                    <a:p>
                      <a:pPr algn="l"/>
                      <a:r>
                        <a:rPr sz="1100" b="1">
                          <a:solidFill>
                            <a:srgbClr val="2E7D32"/>
                          </a:solidFill>
                          <a:latin typeface="Calibri"/>
                        </a:rPr>
                        <a:t>▲ 8.0%</a:t>
                      </a:r>
                      <a:endParaRPr sz="1100"/>
                    </a:p>
                  </a:txBody>
                  <a:tcPr marL="47625" marR="38100" marT="19050" marB="19050" anchor="ctr">
                    <a:solidFill>
                      <a:srgbClr val="FFFFFF"/>
                    </a:solidFill>
                  </a:tcPr>
                </a:tc>
                <a:tc>
                  <a:txBody>
                    <a:bodyPr/>
                    <a:lstStyle/>
                    <a:p>
                      <a:pPr algn="l"/>
                      <a:r>
                        <a:rPr sz="1100" b="1">
                          <a:solidFill>
                            <a:srgbClr val="2E7D32"/>
                          </a:solidFill>
                          <a:latin typeface="Calibri"/>
                        </a:rPr>
                        <a:t>▲ 8.5%</a:t>
                      </a:r>
                      <a:endParaRPr sz="1100"/>
                    </a:p>
                  </a:txBody>
                  <a:tcPr marL="47625" marR="38100" marT="19050" marB="19050" anchor="ctr">
                    <a:solidFill>
                      <a:srgbClr val="FFFFFF"/>
                    </a:solidFill>
                  </a:tcPr>
                </a:tc>
                <a:tc>
                  <a:txBody>
                    <a:bodyPr/>
                    <a:lstStyle/>
                    <a:p>
                      <a:pPr algn="l"/>
                      <a:r>
                        <a:rPr sz="1100" b="1">
                          <a:solidFill>
                            <a:srgbClr val="2E7D32"/>
                          </a:solidFill>
                          <a:latin typeface="Calibri"/>
                        </a:rPr>
                        <a:t>▲ 9.1%</a:t>
                      </a:r>
                      <a:endParaRPr sz="1100"/>
                    </a:p>
                  </a:txBody>
                  <a:tcPr marL="47625" marR="38100" marT="19050" marB="19050" anchor="ctr">
                    <a:solidFill>
                      <a:srgbClr val="FFFFFF"/>
                    </a:solidFill>
                  </a:tcPr>
                </a:tc>
                <a:tc>
                  <a:txBody>
                    <a:bodyPr/>
                    <a:lstStyle/>
                    <a:p>
                      <a:pPr algn="l"/>
                      <a:r>
                        <a:rPr sz="1100" b="1">
                          <a:solidFill>
                            <a:srgbClr val="2E7D32"/>
                          </a:solidFill>
                          <a:latin typeface="Calibri"/>
                        </a:rPr>
                        <a:t>▲ 9.8%</a:t>
                      </a:r>
                      <a:endParaRPr sz="1100"/>
                    </a:p>
                  </a:txBody>
                  <a:tcPr marL="47625" marR="38100" marT="19050" marB="19050" anchor="ctr">
                    <a:solidFill>
                      <a:srgbClr val="FFFFFF"/>
                    </a:solidFill>
                  </a:tcPr>
                </a:tc>
                <a:tc>
                  <a:txBody>
                    <a:bodyPr/>
                    <a:lstStyle/>
                    <a:p>
                      <a:pPr algn="l"/>
                      <a:r>
                        <a:rPr sz="1100" b="1">
                          <a:solidFill>
                            <a:srgbClr val="2E7D32"/>
                          </a:solidFill>
                          <a:latin typeface="Calibri"/>
                        </a:rPr>
                        <a:t>▲ 10.7%</a:t>
                      </a:r>
                      <a:endParaRPr sz="1100"/>
                    </a:p>
                  </a:txBody>
                  <a:tcPr marL="47625" marR="38100" marT="19050" marB="19050" anchor="ctr">
                    <a:solidFill>
                      <a:srgbClr val="FFFFFF"/>
                    </a:solidFill>
                  </a:tcPr>
                </a:tc>
                <a:tc>
                  <a:txBody>
                    <a:bodyPr/>
                    <a:lstStyle/>
                    <a:p>
                      <a:pPr algn="l"/>
                      <a:r>
                        <a:rPr sz="1100" b="1">
                          <a:solidFill>
                            <a:srgbClr val="2E7D32"/>
                          </a:solidFill>
                          <a:latin typeface="Calibri"/>
                        </a:rPr>
                        <a:t>▲ 11.4%</a:t>
                      </a:r>
                      <a:endParaRPr sz="1100"/>
                    </a:p>
                  </a:txBody>
                  <a:tcPr marL="47625" marR="38100" marT="19050" marB="19050" anchor="ctr">
                    <a:solidFill>
                      <a:srgbClr val="FFFFFF"/>
                    </a:solidFill>
                  </a:tcPr>
                </a:tc>
                <a:tc>
                  <a:txBody>
                    <a:bodyPr/>
                    <a:lstStyle/>
                    <a:p>
                      <a:pPr algn="l"/>
                      <a:r>
                        <a:rPr sz="1100" b="1">
                          <a:solidFill>
                            <a:srgbClr val="2E7D32"/>
                          </a:solidFill>
                          <a:latin typeface="Calibri"/>
                        </a:rPr>
                        <a:t>▲ 11.8%</a:t>
                      </a:r>
                      <a:endParaRPr sz="1100"/>
                    </a:p>
                  </a:txBody>
                  <a:tcPr marL="47625" marR="38100" marT="19050" marB="19050" anchor="ctr">
                    <a:solidFill>
                      <a:srgbClr val="FFFFFF"/>
                    </a:solidFill>
                  </a:tcPr>
                </a:tc>
                <a:tc>
                  <a:txBody>
                    <a:bodyPr/>
                    <a:lstStyle/>
                    <a:p>
                      <a:pPr algn="l"/>
                      <a:r>
                        <a:rPr sz="1100" b="1">
                          <a:solidFill>
                            <a:srgbClr val="2E7D32"/>
                          </a:solidFill>
                          <a:latin typeface="Calibri"/>
                        </a:rPr>
                        <a:t>▲ 11.5%</a:t>
                      </a:r>
                      <a:endParaRPr sz="1100"/>
                    </a:p>
                  </a:txBody>
                  <a:tcPr marL="47625" marR="38100" marT="19050" marB="19050" anchor="ctr">
                    <a:solidFill>
                      <a:srgbClr val="FFFFFF"/>
                    </a:solidFill>
                  </a:tcPr>
                </a:tc>
                <a:tc>
                  <a:txBody>
                    <a:bodyPr/>
                    <a:lstStyle/>
                    <a:p>
                      <a:pPr algn="l"/>
                      <a:r>
                        <a:rPr sz="1100" b="1">
                          <a:solidFill>
                            <a:srgbClr val="2E7D32"/>
                          </a:solidFill>
                          <a:latin typeface="Calibri"/>
                        </a:rPr>
                        <a:t>▲ 11.4%</a:t>
                      </a:r>
                      <a:endParaRPr sz="1100"/>
                    </a:p>
                  </a:txBody>
                  <a:tcPr marL="47625" marR="38100" marT="19050" marB="19050" anchor="ctr">
                    <a:solidFill>
                      <a:srgbClr val="FFFFFF"/>
                    </a:solidFill>
                  </a:tcPr>
                </a:tc>
                <a:tc>
                  <a:txBody>
                    <a:bodyPr/>
                    <a:lstStyle/>
                    <a:p>
                      <a:pPr algn="l"/>
                      <a:r>
                        <a:rPr sz="1100" b="1">
                          <a:solidFill>
                            <a:srgbClr val="2E7D32"/>
                          </a:solidFill>
                          <a:latin typeface="Calibri"/>
                        </a:rPr>
                        <a:t>▲ 10.9%</a:t>
                      </a:r>
                      <a:endParaRPr sz="1100"/>
                    </a:p>
                  </a:txBody>
                  <a:tcPr marL="47625" marR="38100" marT="19050" marB="19050" anchor="ctr">
                    <a:solidFill>
                      <a:srgbClr val="FFFFFF"/>
                    </a:solidFill>
                  </a:tcPr>
                </a:tc>
                <a:tc>
                  <a:txBody>
                    <a:bodyPr/>
                    <a:lstStyle/>
                    <a:p>
                      <a:pPr algn="l"/>
                      <a:r>
                        <a:rPr sz="1100" b="1">
                          <a:solidFill>
                            <a:srgbClr val="2E7D32"/>
                          </a:solidFill>
                          <a:latin typeface="Calibri"/>
                        </a:rPr>
                        <a:t>▲ 10.5%</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16535">
                <a:tc>
                  <a:txBody>
                    <a:bodyPr/>
                    <a:lstStyle/>
                    <a:p>
                      <a:pPr algn="l"/>
                      <a:r>
                        <a:rPr sz="1100" b="1">
                          <a:solidFill>
                            <a:srgbClr val="2E2E2E"/>
                          </a:solidFill>
                          <a:latin typeface="Calibri"/>
                        </a:rPr>
                        <a:t>Amazon / Online Marketplaces</a:t>
                      </a:r>
                      <a:endParaRPr sz="1100"/>
                    </a:p>
                  </a:txBody>
                  <a:tcPr marL="47625" marR="38100" marT="19050" marB="19050" anchor="ctr">
                    <a:solidFill>
                      <a:srgbClr val="F5F8FA"/>
                    </a:solidFill>
                  </a:tcPr>
                </a:tc>
                <a:tc>
                  <a:txBody>
                    <a:bodyPr/>
                    <a:lstStyle/>
                    <a:p>
                      <a:pPr algn="l"/>
                      <a:r>
                        <a:rPr sz="1100" b="1">
                          <a:solidFill>
                            <a:srgbClr val="2E7D32"/>
                          </a:solidFill>
                          <a:latin typeface="Calibri"/>
                        </a:rPr>
                        <a:t>▲ 7.5%</a:t>
                      </a:r>
                      <a:endParaRPr sz="1100"/>
                    </a:p>
                  </a:txBody>
                  <a:tcPr marL="47625" marR="38100" marT="19050" marB="19050" anchor="ctr">
                    <a:solidFill>
                      <a:srgbClr val="F5F8FA"/>
                    </a:solidFill>
                  </a:tcPr>
                </a:tc>
                <a:tc>
                  <a:txBody>
                    <a:bodyPr/>
                    <a:lstStyle/>
                    <a:p>
                      <a:pPr algn="l"/>
                      <a:r>
                        <a:rPr sz="1100" b="1">
                          <a:solidFill>
                            <a:srgbClr val="2E7D32"/>
                          </a:solidFill>
                          <a:latin typeface="Calibri"/>
                        </a:rPr>
                        <a:t>▲ 7.1%</a:t>
                      </a:r>
                      <a:endParaRPr sz="1100"/>
                    </a:p>
                  </a:txBody>
                  <a:tcPr marL="47625" marR="38100" marT="19050" marB="19050" anchor="ctr">
                    <a:solidFill>
                      <a:srgbClr val="F5F8FA"/>
                    </a:solidFill>
                  </a:tcPr>
                </a:tc>
                <a:tc>
                  <a:txBody>
                    <a:bodyPr/>
                    <a:lstStyle/>
                    <a:p>
                      <a:pPr algn="l"/>
                      <a:r>
                        <a:rPr sz="1100" b="1">
                          <a:solidFill>
                            <a:srgbClr val="2E7D32"/>
                          </a:solidFill>
                          <a:latin typeface="Calibri"/>
                        </a:rPr>
                        <a:t>▲ 6.6%</a:t>
                      </a:r>
                      <a:endParaRPr sz="1100"/>
                    </a:p>
                  </a:txBody>
                  <a:tcPr marL="47625" marR="38100" marT="19050" marB="19050" anchor="ctr">
                    <a:solidFill>
                      <a:srgbClr val="F5F8FA"/>
                    </a:solidFill>
                  </a:tcPr>
                </a:tc>
                <a:tc>
                  <a:txBody>
                    <a:bodyPr/>
                    <a:lstStyle/>
                    <a:p>
                      <a:pPr algn="l"/>
                      <a:r>
                        <a:rPr sz="1100" b="1">
                          <a:solidFill>
                            <a:srgbClr val="2E7D32"/>
                          </a:solidFill>
                          <a:latin typeface="Calibri"/>
                        </a:rPr>
                        <a:t>▲ 6.4%</a:t>
                      </a:r>
                      <a:endParaRPr sz="1100"/>
                    </a:p>
                  </a:txBody>
                  <a:tcPr marL="47625" marR="38100" marT="19050" marB="19050" anchor="ctr">
                    <a:solidFill>
                      <a:srgbClr val="F5F8FA"/>
                    </a:solidFill>
                  </a:tcPr>
                </a:tc>
                <a:tc>
                  <a:txBody>
                    <a:bodyPr/>
                    <a:lstStyle/>
                    <a:p>
                      <a:pPr algn="l"/>
                      <a:r>
                        <a:rPr sz="1100" b="1">
                          <a:solidFill>
                            <a:srgbClr val="2E7D32"/>
                          </a:solidFill>
                          <a:latin typeface="Calibri"/>
                        </a:rPr>
                        <a:t>▲ 6.7%</a:t>
                      </a:r>
                      <a:endParaRPr sz="1100"/>
                    </a:p>
                  </a:txBody>
                  <a:tcPr marL="47625" marR="38100" marT="19050" marB="19050" anchor="ctr">
                    <a:solidFill>
                      <a:srgbClr val="F5F8FA"/>
                    </a:solidFill>
                  </a:tcPr>
                </a:tc>
                <a:tc>
                  <a:txBody>
                    <a:bodyPr/>
                    <a:lstStyle/>
                    <a:p>
                      <a:pPr algn="l"/>
                      <a:r>
                        <a:rPr sz="1100" b="1">
                          <a:solidFill>
                            <a:srgbClr val="2E7D32"/>
                          </a:solidFill>
                          <a:latin typeface="Calibri"/>
                        </a:rPr>
                        <a:t>▲ 7.1%</a:t>
                      </a:r>
                      <a:endParaRPr sz="1100"/>
                    </a:p>
                  </a:txBody>
                  <a:tcPr marL="47625" marR="38100" marT="19050" marB="19050" anchor="ctr">
                    <a:solidFill>
                      <a:srgbClr val="F5F8FA"/>
                    </a:solidFill>
                  </a:tcPr>
                </a:tc>
                <a:tc>
                  <a:txBody>
                    <a:bodyPr/>
                    <a:lstStyle/>
                    <a:p>
                      <a:pPr algn="l"/>
                      <a:r>
                        <a:rPr sz="1100" b="1">
                          <a:solidFill>
                            <a:srgbClr val="2E7D32"/>
                          </a:solidFill>
                          <a:latin typeface="Calibri"/>
                        </a:rPr>
                        <a:t>▲ 7.5%</a:t>
                      </a:r>
                      <a:endParaRPr sz="1100"/>
                    </a:p>
                  </a:txBody>
                  <a:tcPr marL="47625" marR="38100" marT="19050" marB="19050" anchor="ctr">
                    <a:solidFill>
                      <a:srgbClr val="F5F8FA"/>
                    </a:solidFill>
                  </a:tcPr>
                </a:tc>
                <a:tc>
                  <a:txBody>
                    <a:bodyPr/>
                    <a:lstStyle/>
                    <a:p>
                      <a:pPr algn="l"/>
                      <a:r>
                        <a:rPr sz="1100" b="1">
                          <a:solidFill>
                            <a:srgbClr val="2E7D32"/>
                          </a:solidFill>
                          <a:latin typeface="Calibri"/>
                        </a:rPr>
                        <a:t>▲ 8.2%</a:t>
                      </a:r>
                      <a:endParaRPr sz="1100"/>
                    </a:p>
                  </a:txBody>
                  <a:tcPr marL="47625" marR="38100" marT="19050" marB="19050" anchor="ctr">
                    <a:solidFill>
                      <a:srgbClr val="F5F8FA"/>
                    </a:solidFill>
                  </a:tcPr>
                </a:tc>
                <a:tc>
                  <a:txBody>
                    <a:bodyPr/>
                    <a:lstStyle/>
                    <a:p>
                      <a:pPr algn="l"/>
                      <a:r>
                        <a:rPr sz="1100" b="1">
                          <a:solidFill>
                            <a:srgbClr val="2E7D32"/>
                          </a:solidFill>
                          <a:latin typeface="Calibri"/>
                        </a:rPr>
                        <a:t>▲ 8.6%</a:t>
                      </a:r>
                      <a:endParaRPr sz="1100"/>
                    </a:p>
                  </a:txBody>
                  <a:tcPr marL="47625" marR="38100" marT="19050" marB="19050" anchor="ctr">
                    <a:solidFill>
                      <a:srgbClr val="F5F8FA"/>
                    </a:solidFill>
                  </a:tcPr>
                </a:tc>
                <a:tc>
                  <a:txBody>
                    <a:bodyPr/>
                    <a:lstStyle/>
                    <a:p>
                      <a:pPr algn="l"/>
                      <a:r>
                        <a:rPr sz="1100" b="1">
                          <a:solidFill>
                            <a:srgbClr val="2E7D32"/>
                          </a:solidFill>
                          <a:latin typeface="Calibri"/>
                        </a:rPr>
                        <a:t>▲ 8.5%</a:t>
                      </a:r>
                      <a:endParaRPr sz="1100"/>
                    </a:p>
                  </a:txBody>
                  <a:tcPr marL="47625" marR="38100" marT="19050" marB="19050" anchor="ctr">
                    <a:solidFill>
                      <a:srgbClr val="F5F8FA"/>
                    </a:solidFill>
                  </a:tcPr>
                </a:tc>
                <a:tc>
                  <a:txBody>
                    <a:bodyPr/>
                    <a:lstStyle/>
                    <a:p>
                      <a:pPr algn="l"/>
                      <a:r>
                        <a:rPr sz="1100" b="1">
                          <a:solidFill>
                            <a:srgbClr val="2E7D32"/>
                          </a:solidFill>
                          <a:latin typeface="Calibri"/>
                        </a:rPr>
                        <a:t>▲ 8.3%</a:t>
                      </a:r>
                      <a:endParaRPr sz="1100"/>
                    </a:p>
                  </a:txBody>
                  <a:tcPr marL="47625" marR="38100" marT="19050" marB="19050" anchor="ctr">
                    <a:solidFill>
                      <a:srgbClr val="F5F8FA"/>
                    </a:solidFill>
                  </a:tcPr>
                </a:tc>
                <a:tc>
                  <a:txBody>
                    <a:bodyPr/>
                    <a:lstStyle/>
                    <a:p>
                      <a:pPr algn="l"/>
                      <a:r>
                        <a:rPr sz="1100" b="1">
                          <a:solidFill>
                            <a:srgbClr val="2E7D32"/>
                          </a:solidFill>
                          <a:latin typeface="Calibri"/>
                        </a:rPr>
                        <a:t>▲ 8.0%</a:t>
                      </a:r>
                      <a:endParaRPr sz="1100"/>
                    </a:p>
                  </a:txBody>
                  <a:tcPr marL="47625" marR="38100" marT="19050" marB="19050" anchor="ctr">
                    <a:solidFill>
                      <a:srgbClr val="F5F8FA"/>
                    </a:solidFill>
                  </a:tcPr>
                </a:tc>
                <a:tc>
                  <a:txBody>
                    <a:bodyPr/>
                    <a:lstStyle/>
                    <a:p>
                      <a:pPr algn="l"/>
                      <a:r>
                        <a:rPr sz="1100" b="1">
                          <a:solidFill>
                            <a:srgbClr val="2E7D32"/>
                          </a:solidFill>
                          <a:latin typeface="Calibri"/>
                        </a:rPr>
                        <a:t>▲ 7.7%</a:t>
                      </a:r>
                      <a:endParaRPr sz="1100"/>
                    </a:p>
                  </a:txBody>
                  <a:tcPr marL="47625" marR="38100" marT="19050" marB="19050" anchor="ctr">
                    <a:solidFill>
                      <a:srgbClr val="F5F8FA"/>
                    </a:solidFill>
                  </a:tcPr>
                </a:tc>
                <a:tc>
                  <a:txBody>
                    <a:bodyPr/>
                    <a:lstStyle/>
                    <a:p>
                      <a:pPr algn="l"/>
                      <a:r>
                        <a:rPr sz="1100" b="1">
                          <a:solidFill>
                            <a:srgbClr val="2E7D32"/>
                          </a:solidFill>
                          <a:latin typeface="Calibri"/>
                        </a:rPr>
                        <a:t>▲ 7.5%</a:t>
                      </a:r>
                      <a:endParaRPr sz="1100"/>
                    </a:p>
                  </a:txBody>
                  <a:tcPr marL="47625" marR="38100" marT="19050" marB="19050" anchor="ctr">
                    <a:solidFill>
                      <a:srgbClr val="F5F8FA"/>
                    </a:solidFill>
                  </a:tcPr>
                </a:tc>
                <a:tc>
                  <a:txBody>
                    <a:bodyPr/>
                    <a:lstStyle/>
                    <a:p>
                      <a:pPr algn="l"/>
                      <a:r>
                        <a:rPr sz="1100" b="1">
                          <a:solidFill>
                            <a:srgbClr val="2E7D32"/>
                          </a:solidFill>
                          <a:latin typeface="Calibri"/>
                        </a:rPr>
                        <a:t>▲ 7.3%</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16535">
                <a:tc>
                  <a:txBody>
                    <a:bodyPr/>
                    <a:lstStyle/>
                    <a:p>
                      <a:pPr algn="l"/>
                      <a:r>
                        <a:rPr sz="1100" b="1">
                          <a:solidFill>
                            <a:srgbClr val="2E2E2E"/>
                          </a:solidFill>
                          <a:latin typeface="Calibri"/>
                        </a:rPr>
                        <a:t>Mass Retail</a:t>
                      </a:r>
                      <a:endParaRPr sz="1100"/>
                    </a:p>
                  </a:txBody>
                  <a:tcPr marL="47625" marR="38100" marT="19050" marB="19050" anchor="ctr">
                    <a:solidFill>
                      <a:srgbClr val="FFFFFF"/>
                    </a:solidFill>
                  </a:tcPr>
                </a:tc>
                <a:tc>
                  <a:txBody>
                    <a:bodyPr/>
                    <a:lstStyle/>
                    <a:p>
                      <a:pPr algn="l"/>
                      <a:r>
                        <a:rPr sz="1100" b="1">
                          <a:solidFill>
                            <a:srgbClr val="A86F00"/>
                          </a:solidFill>
                          <a:latin typeface="Calibri"/>
                        </a:rPr>
                        <a:t>▶ 3.6%</a:t>
                      </a:r>
                      <a:endParaRPr sz="1100"/>
                    </a:p>
                  </a:txBody>
                  <a:tcPr marL="47625" marR="38100" marT="19050" marB="19050" anchor="ctr">
                    <a:solidFill>
                      <a:srgbClr val="FFFFFF"/>
                    </a:solidFill>
                  </a:tcPr>
                </a:tc>
                <a:tc>
                  <a:txBody>
                    <a:bodyPr/>
                    <a:lstStyle/>
                    <a:p>
                      <a:pPr algn="l"/>
                      <a:r>
                        <a:rPr sz="1100" b="1">
                          <a:solidFill>
                            <a:srgbClr val="A86F00"/>
                          </a:solidFill>
                          <a:latin typeface="Calibri"/>
                        </a:rPr>
                        <a:t>▶ 3.7%</a:t>
                      </a:r>
                      <a:endParaRPr sz="1100"/>
                    </a:p>
                  </a:txBody>
                  <a:tcPr marL="47625" marR="38100" marT="19050" marB="19050" anchor="ctr">
                    <a:solidFill>
                      <a:srgbClr val="FFFFFF"/>
                    </a:solidFill>
                  </a:tcPr>
                </a:tc>
                <a:tc>
                  <a:txBody>
                    <a:bodyPr/>
                    <a:lstStyle/>
                    <a:p>
                      <a:pPr algn="l"/>
                      <a:r>
                        <a:rPr sz="1100" b="1">
                          <a:solidFill>
                            <a:srgbClr val="A86F00"/>
                          </a:solidFill>
                          <a:latin typeface="Calibri"/>
                        </a:rPr>
                        <a:t>▶ 3.8%</a:t>
                      </a:r>
                      <a:endParaRPr sz="1100"/>
                    </a:p>
                  </a:txBody>
                  <a:tcPr marL="47625" marR="38100" marT="19050" marB="19050" anchor="ctr">
                    <a:solidFill>
                      <a:srgbClr val="FFFFFF"/>
                    </a:solidFill>
                  </a:tcPr>
                </a:tc>
                <a:tc>
                  <a:txBody>
                    <a:bodyPr/>
                    <a:lstStyle/>
                    <a:p>
                      <a:pPr algn="l"/>
                      <a:r>
                        <a:rPr sz="1100" b="1">
                          <a:solidFill>
                            <a:srgbClr val="A86F00"/>
                          </a:solidFill>
                          <a:latin typeface="Calibri"/>
                        </a:rPr>
                        <a:t>▶ 3.7%</a:t>
                      </a:r>
                      <a:endParaRPr sz="1100"/>
                    </a:p>
                  </a:txBody>
                  <a:tcPr marL="47625" marR="38100" marT="19050" marB="19050" anchor="ctr">
                    <a:solidFill>
                      <a:srgbClr val="FFFFFF"/>
                    </a:solidFill>
                  </a:tcPr>
                </a:tc>
                <a:tc>
                  <a:txBody>
                    <a:bodyPr/>
                    <a:lstStyle/>
                    <a:p>
                      <a:pPr algn="l"/>
                      <a:r>
                        <a:rPr sz="1100" b="1">
                          <a:solidFill>
                            <a:srgbClr val="A86F00"/>
                          </a:solidFill>
                          <a:latin typeface="Calibri"/>
                        </a:rPr>
                        <a:t>▶ 3.5%</a:t>
                      </a:r>
                      <a:endParaRPr sz="1100"/>
                    </a:p>
                  </a:txBody>
                  <a:tcPr marL="47625" marR="38100" marT="19050" marB="19050" anchor="ctr">
                    <a:solidFill>
                      <a:srgbClr val="FFFFFF"/>
                    </a:solidFill>
                  </a:tcPr>
                </a:tc>
                <a:tc>
                  <a:txBody>
                    <a:bodyPr/>
                    <a:lstStyle/>
                    <a:p>
                      <a:pPr algn="l"/>
                      <a:r>
                        <a:rPr sz="1100" b="1">
                          <a:solidFill>
                            <a:srgbClr val="A86F00"/>
                          </a:solidFill>
                          <a:latin typeface="Calibri"/>
                        </a:rPr>
                        <a:t>▶ 3.2%</a:t>
                      </a:r>
                      <a:endParaRPr sz="1100"/>
                    </a:p>
                  </a:txBody>
                  <a:tcPr marL="47625" marR="38100" marT="19050" marB="19050" anchor="ctr">
                    <a:solidFill>
                      <a:srgbClr val="FFFFFF"/>
                    </a:solidFill>
                  </a:tcPr>
                </a:tc>
                <a:tc>
                  <a:txBody>
                    <a:bodyPr/>
                    <a:lstStyle/>
                    <a:p>
                      <a:pPr algn="l"/>
                      <a:r>
                        <a:rPr sz="1100" b="1">
                          <a:solidFill>
                            <a:srgbClr val="A86F00"/>
                          </a:solidFill>
                          <a:latin typeface="Calibri"/>
                        </a:rPr>
                        <a:t>▶ 3.2%</a:t>
                      </a:r>
                      <a:endParaRPr sz="1100"/>
                    </a:p>
                  </a:txBody>
                  <a:tcPr marL="47625" marR="38100" marT="19050" marB="19050" anchor="ctr">
                    <a:solidFill>
                      <a:srgbClr val="FFFFFF"/>
                    </a:solidFill>
                  </a:tcPr>
                </a:tc>
                <a:tc>
                  <a:txBody>
                    <a:bodyPr/>
                    <a:lstStyle/>
                    <a:p>
                      <a:pPr algn="l"/>
                      <a:r>
                        <a:rPr sz="1100" b="1">
                          <a:solidFill>
                            <a:srgbClr val="A86F00"/>
                          </a:solidFill>
                          <a:latin typeface="Calibri"/>
                        </a:rPr>
                        <a:t>▶ 3.3%</a:t>
                      </a:r>
                      <a:endParaRPr sz="1100"/>
                    </a:p>
                  </a:txBody>
                  <a:tcPr marL="47625" marR="38100" marT="19050" marB="19050" anchor="ctr">
                    <a:solidFill>
                      <a:srgbClr val="FFFFFF"/>
                    </a:solidFill>
                  </a:tcPr>
                </a:tc>
                <a:tc>
                  <a:txBody>
                    <a:bodyPr/>
                    <a:lstStyle/>
                    <a:p>
                      <a:pPr algn="l"/>
                      <a:r>
                        <a:rPr sz="1100" b="1">
                          <a:solidFill>
                            <a:srgbClr val="A86F00"/>
                          </a:solidFill>
                          <a:latin typeface="Calibri"/>
                        </a:rPr>
                        <a:t>▶ 3.4%</a:t>
                      </a:r>
                      <a:endParaRPr sz="1100"/>
                    </a:p>
                  </a:txBody>
                  <a:tcPr marL="47625" marR="38100" marT="19050" marB="19050" anchor="ctr">
                    <a:solidFill>
                      <a:srgbClr val="FFFFFF"/>
                    </a:solidFill>
                  </a:tcPr>
                </a:tc>
                <a:tc>
                  <a:txBody>
                    <a:bodyPr/>
                    <a:lstStyle/>
                    <a:p>
                      <a:pPr algn="l"/>
                      <a:r>
                        <a:rPr sz="1100" b="1">
                          <a:solidFill>
                            <a:srgbClr val="A86F00"/>
                          </a:solidFill>
                          <a:latin typeface="Calibri"/>
                        </a:rPr>
                        <a:t>▶ 3.5%</a:t>
                      </a:r>
                      <a:endParaRPr sz="1100"/>
                    </a:p>
                  </a:txBody>
                  <a:tcPr marL="47625" marR="38100" marT="19050" marB="19050" anchor="ctr">
                    <a:solidFill>
                      <a:srgbClr val="FFFFFF"/>
                    </a:solidFill>
                  </a:tcPr>
                </a:tc>
                <a:tc>
                  <a:txBody>
                    <a:bodyPr/>
                    <a:lstStyle/>
                    <a:p>
                      <a:pPr algn="l"/>
                      <a:r>
                        <a:rPr sz="1100" b="1">
                          <a:solidFill>
                            <a:srgbClr val="A86F00"/>
                          </a:solidFill>
                          <a:latin typeface="Calibri"/>
                        </a:rPr>
                        <a:t>▶ 3.6%</a:t>
                      </a:r>
                      <a:endParaRPr sz="1100"/>
                    </a:p>
                  </a:txBody>
                  <a:tcPr marL="47625" marR="38100" marT="19050" marB="19050" anchor="ctr">
                    <a:solidFill>
                      <a:srgbClr val="FFFFFF"/>
                    </a:solidFill>
                  </a:tcPr>
                </a:tc>
                <a:tc>
                  <a:txBody>
                    <a:bodyPr/>
                    <a:lstStyle/>
                    <a:p>
                      <a:pPr algn="l"/>
                      <a:r>
                        <a:rPr sz="1100" b="1">
                          <a:solidFill>
                            <a:srgbClr val="A86F00"/>
                          </a:solidFill>
                          <a:latin typeface="Calibri"/>
                        </a:rPr>
                        <a:t>▶ 3.6%</a:t>
                      </a:r>
                      <a:endParaRPr sz="1100"/>
                    </a:p>
                  </a:txBody>
                  <a:tcPr marL="47625" marR="38100" marT="19050" marB="19050" anchor="ctr">
                    <a:solidFill>
                      <a:srgbClr val="FFFFFF"/>
                    </a:solidFill>
                  </a:tcPr>
                </a:tc>
                <a:tc>
                  <a:txBody>
                    <a:bodyPr/>
                    <a:lstStyle/>
                    <a:p>
                      <a:pPr algn="l"/>
                      <a:r>
                        <a:rPr sz="1100" b="1">
                          <a:solidFill>
                            <a:srgbClr val="A86F00"/>
                          </a:solidFill>
                          <a:latin typeface="Calibri"/>
                        </a:rPr>
                        <a:t>▶ 3.6%</a:t>
                      </a:r>
                      <a:endParaRPr sz="1100"/>
                    </a:p>
                  </a:txBody>
                  <a:tcPr marL="47625" marR="38100" marT="19050" marB="19050" anchor="ctr">
                    <a:solidFill>
                      <a:srgbClr val="FFFFFF"/>
                    </a:solidFill>
                  </a:tcPr>
                </a:tc>
                <a:tc>
                  <a:txBody>
                    <a:bodyPr/>
                    <a:lstStyle/>
                    <a:p>
                      <a:pPr algn="l"/>
                      <a:r>
                        <a:rPr sz="1100" b="1">
                          <a:solidFill>
                            <a:srgbClr val="A86F00"/>
                          </a:solidFill>
                          <a:latin typeface="Calibri"/>
                        </a:rPr>
                        <a:t>▶ 3.4%</a:t>
                      </a:r>
                      <a:endParaRPr sz="1100"/>
                    </a:p>
                  </a:txBody>
                  <a:tcPr marL="47625" marR="38100" marT="19050" marB="19050" anchor="ctr">
                    <a:solidFill>
                      <a:srgbClr val="FFFFFF"/>
                    </a:solidFill>
                  </a:tcPr>
                </a:tc>
                <a:tc>
                  <a:txBody>
                    <a:bodyPr/>
                    <a:lstStyle/>
                    <a:p>
                      <a:pPr algn="l"/>
                      <a:r>
                        <a:rPr sz="1100" b="1">
                          <a:solidFill>
                            <a:srgbClr val="A86F00"/>
                          </a:solidFill>
                          <a:latin typeface="Calibri"/>
                        </a:rPr>
                        <a:t>▶ 3.2%</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16535">
                <a:tc>
                  <a:txBody>
                    <a:bodyPr/>
                    <a:lstStyle/>
                    <a:p>
                      <a:pPr algn="l"/>
                      <a:r>
                        <a:rPr sz="1100" b="1">
                          <a:solidFill>
                            <a:srgbClr val="2E2E2E"/>
                          </a:solidFill>
                          <a:latin typeface="Calibri"/>
                        </a:rPr>
                        <a:t>Pharmacy / Drugstores</a:t>
                      </a:r>
                      <a:endParaRPr sz="1100"/>
                    </a:p>
                  </a:txBody>
                  <a:tcPr marL="47625" marR="38100" marT="19050" marB="19050" anchor="ctr">
                    <a:solidFill>
                      <a:srgbClr val="F5F8FA"/>
                    </a:solidFill>
                  </a:tcPr>
                </a:tc>
                <a:tc>
                  <a:txBody>
                    <a:bodyPr/>
                    <a:lstStyle/>
                    <a:p>
                      <a:pPr algn="l"/>
                      <a:r>
                        <a:rPr sz="1100" b="1">
                          <a:solidFill>
                            <a:srgbClr val="A86F00"/>
                          </a:solidFill>
                          <a:latin typeface="Calibri"/>
                        </a:rPr>
                        <a:t>▶ 1.9%</a:t>
                      </a:r>
                      <a:endParaRPr sz="1100"/>
                    </a:p>
                  </a:txBody>
                  <a:tcPr marL="47625" marR="38100" marT="19050" marB="19050" anchor="ctr">
                    <a:solidFill>
                      <a:srgbClr val="F5F8FA"/>
                    </a:solidFill>
                  </a:tcPr>
                </a:tc>
                <a:tc>
                  <a:txBody>
                    <a:bodyPr/>
                    <a:lstStyle/>
                    <a:p>
                      <a:pPr algn="l"/>
                      <a:r>
                        <a:rPr sz="1100" b="1">
                          <a:solidFill>
                            <a:srgbClr val="A86F00"/>
                          </a:solidFill>
                          <a:latin typeface="Calibri"/>
                        </a:rPr>
                        <a:t>▶ 1.9%</a:t>
                      </a:r>
                      <a:endParaRPr sz="1100"/>
                    </a:p>
                  </a:txBody>
                  <a:tcPr marL="47625" marR="38100" marT="19050" marB="19050" anchor="ctr">
                    <a:solidFill>
                      <a:srgbClr val="F5F8FA"/>
                    </a:solidFill>
                  </a:tcPr>
                </a:tc>
                <a:tc>
                  <a:txBody>
                    <a:bodyPr/>
                    <a:lstStyle/>
                    <a:p>
                      <a:pPr algn="l"/>
                      <a:r>
                        <a:rPr sz="1100" b="1">
                          <a:solidFill>
                            <a:srgbClr val="A86F00"/>
                          </a:solidFill>
                          <a:latin typeface="Calibri"/>
                        </a:rPr>
                        <a:t>▶ 1.9%</a:t>
                      </a:r>
                      <a:endParaRPr sz="1100"/>
                    </a:p>
                  </a:txBody>
                  <a:tcPr marL="47625" marR="38100" marT="19050" marB="19050" anchor="ctr">
                    <a:solidFill>
                      <a:srgbClr val="F5F8FA"/>
                    </a:solidFill>
                  </a:tcPr>
                </a:tc>
                <a:tc>
                  <a:txBody>
                    <a:bodyPr/>
                    <a:lstStyle/>
                    <a:p>
                      <a:pPr algn="l"/>
                      <a:r>
                        <a:rPr sz="1100" b="1">
                          <a:solidFill>
                            <a:srgbClr val="A86F00"/>
                          </a:solidFill>
                          <a:latin typeface="Calibri"/>
                        </a:rPr>
                        <a:t>▶ 2.0%</a:t>
                      </a:r>
                      <a:endParaRPr sz="1100"/>
                    </a:p>
                  </a:txBody>
                  <a:tcPr marL="47625" marR="38100" marT="19050" marB="19050" anchor="ctr">
                    <a:solidFill>
                      <a:srgbClr val="F5F8FA"/>
                    </a:solidFill>
                  </a:tcPr>
                </a:tc>
                <a:tc>
                  <a:txBody>
                    <a:bodyPr/>
                    <a:lstStyle/>
                    <a:p>
                      <a:pPr algn="l"/>
                      <a:r>
                        <a:rPr sz="1100" b="1">
                          <a:solidFill>
                            <a:srgbClr val="A86F00"/>
                          </a:solidFill>
                          <a:latin typeface="Calibri"/>
                        </a:rPr>
                        <a:t>▶ 1.8%</a:t>
                      </a:r>
                      <a:endParaRPr sz="1100"/>
                    </a:p>
                  </a:txBody>
                  <a:tcPr marL="47625" marR="38100" marT="19050" marB="19050" anchor="ctr">
                    <a:solidFill>
                      <a:srgbClr val="F5F8FA"/>
                    </a:solidFill>
                  </a:tcPr>
                </a:tc>
                <a:tc>
                  <a:txBody>
                    <a:bodyPr/>
                    <a:lstStyle/>
                    <a:p>
                      <a:pPr algn="l"/>
                      <a:r>
                        <a:rPr sz="1100" b="1">
                          <a:solidFill>
                            <a:srgbClr val="A86F00"/>
                          </a:solidFill>
                          <a:latin typeface="Calibri"/>
                        </a:rPr>
                        <a:t>▶ 1.8%</a:t>
                      </a:r>
                      <a:endParaRPr sz="1100"/>
                    </a:p>
                  </a:txBody>
                  <a:tcPr marL="47625" marR="38100" marT="19050" marB="19050" anchor="ctr">
                    <a:solidFill>
                      <a:srgbClr val="F5F8FA"/>
                    </a:solidFill>
                  </a:tcPr>
                </a:tc>
                <a:tc>
                  <a:txBody>
                    <a:bodyPr/>
                    <a:lstStyle/>
                    <a:p>
                      <a:pPr algn="l"/>
                      <a:r>
                        <a:rPr sz="1100" b="1">
                          <a:solidFill>
                            <a:srgbClr val="A86F00"/>
                          </a:solidFill>
                          <a:latin typeface="Calibri"/>
                        </a:rPr>
                        <a:t>▶ 1.6%</a:t>
                      </a:r>
                      <a:endParaRPr sz="1100"/>
                    </a:p>
                  </a:txBody>
                  <a:tcPr marL="47625" marR="38100" marT="19050" marB="19050" anchor="ctr">
                    <a:solidFill>
                      <a:srgbClr val="F5F8FA"/>
                    </a:solidFill>
                  </a:tcPr>
                </a:tc>
                <a:tc>
                  <a:txBody>
                    <a:bodyPr/>
                    <a:lstStyle/>
                    <a:p>
                      <a:pPr algn="l"/>
                      <a:r>
                        <a:rPr sz="1100" b="1">
                          <a:solidFill>
                            <a:srgbClr val="A86F00"/>
                          </a:solidFill>
                          <a:latin typeface="Calibri"/>
                        </a:rPr>
                        <a:t>▶ 1.4%</a:t>
                      </a:r>
                      <a:endParaRPr sz="1100"/>
                    </a:p>
                  </a:txBody>
                  <a:tcPr marL="47625" marR="38100" marT="19050" marB="19050" anchor="ctr">
                    <a:solidFill>
                      <a:srgbClr val="F5F8FA"/>
                    </a:solidFill>
                  </a:tcPr>
                </a:tc>
                <a:tc>
                  <a:txBody>
                    <a:bodyPr/>
                    <a:lstStyle/>
                    <a:p>
                      <a:pPr algn="l"/>
                      <a:r>
                        <a:rPr sz="1100" b="1">
                          <a:solidFill>
                            <a:srgbClr val="A86F00"/>
                          </a:solidFill>
                          <a:latin typeface="Calibri"/>
                        </a:rPr>
                        <a:t>▶ 1.1%</a:t>
                      </a:r>
                      <a:endParaRPr sz="1100"/>
                    </a:p>
                  </a:txBody>
                  <a:tcPr marL="47625" marR="38100" marT="19050" marB="19050" anchor="ctr">
                    <a:solidFill>
                      <a:srgbClr val="F5F8FA"/>
                    </a:solidFill>
                  </a:tcPr>
                </a:tc>
                <a:tc>
                  <a:txBody>
                    <a:bodyPr/>
                    <a:lstStyle/>
                    <a:p>
                      <a:pPr algn="l"/>
                      <a:r>
                        <a:rPr sz="1100" b="1">
                          <a:solidFill>
                            <a:srgbClr val="A86F00"/>
                          </a:solidFill>
                          <a:latin typeface="Calibri"/>
                        </a:rPr>
                        <a:t>▶ 1.0%</a:t>
                      </a:r>
                      <a:endParaRPr sz="1100"/>
                    </a:p>
                  </a:txBody>
                  <a:tcPr marL="47625" marR="38100" marT="19050" marB="19050" anchor="ctr">
                    <a:solidFill>
                      <a:srgbClr val="F5F8FA"/>
                    </a:solidFill>
                  </a:tcPr>
                </a:tc>
                <a:tc>
                  <a:txBody>
                    <a:bodyPr/>
                    <a:lstStyle/>
                    <a:p>
                      <a:pPr algn="l"/>
                      <a:r>
                        <a:rPr sz="1100" b="1">
                          <a:solidFill>
                            <a:srgbClr val="A86F00"/>
                          </a:solidFill>
                          <a:latin typeface="Calibri"/>
                        </a:rPr>
                        <a:t>▶ 1.1%</a:t>
                      </a:r>
                      <a:endParaRPr sz="1100"/>
                    </a:p>
                  </a:txBody>
                  <a:tcPr marL="47625" marR="38100" marT="19050" marB="19050" anchor="ctr">
                    <a:solidFill>
                      <a:srgbClr val="F5F8FA"/>
                    </a:solidFill>
                  </a:tcPr>
                </a:tc>
                <a:tc>
                  <a:txBody>
                    <a:bodyPr/>
                    <a:lstStyle/>
                    <a:p>
                      <a:pPr algn="l"/>
                      <a:r>
                        <a:rPr sz="1100" b="1">
                          <a:solidFill>
                            <a:srgbClr val="A86F00"/>
                          </a:solidFill>
                          <a:latin typeface="Calibri"/>
                        </a:rPr>
                        <a:t>▶ 1.3%</a:t>
                      </a:r>
                      <a:endParaRPr sz="1100"/>
                    </a:p>
                  </a:txBody>
                  <a:tcPr marL="47625" marR="38100" marT="19050" marB="19050" anchor="ctr">
                    <a:solidFill>
                      <a:srgbClr val="F5F8FA"/>
                    </a:solidFill>
                  </a:tcPr>
                </a:tc>
                <a:tc>
                  <a:txBody>
                    <a:bodyPr/>
                    <a:lstStyle/>
                    <a:p>
                      <a:pPr algn="l"/>
                      <a:r>
                        <a:rPr sz="1100" b="1">
                          <a:solidFill>
                            <a:srgbClr val="A86F00"/>
                          </a:solidFill>
                          <a:latin typeface="Calibri"/>
                        </a:rPr>
                        <a:t>▶ 1.3%</a:t>
                      </a:r>
                      <a:endParaRPr sz="1100"/>
                    </a:p>
                  </a:txBody>
                  <a:tcPr marL="47625" marR="38100" marT="19050" marB="19050" anchor="ctr">
                    <a:solidFill>
                      <a:srgbClr val="F5F8FA"/>
                    </a:solidFill>
                  </a:tcPr>
                </a:tc>
                <a:tc>
                  <a:txBody>
                    <a:bodyPr/>
                    <a:lstStyle/>
                    <a:p>
                      <a:pPr algn="l"/>
                      <a:r>
                        <a:rPr sz="1100" b="1">
                          <a:solidFill>
                            <a:srgbClr val="A86F00"/>
                          </a:solidFill>
                          <a:latin typeface="Calibri"/>
                        </a:rPr>
                        <a:t>▶ 1.2%</a:t>
                      </a:r>
                      <a:endParaRPr sz="1100"/>
                    </a:p>
                  </a:txBody>
                  <a:tcPr marL="47625" marR="38100" marT="19050" marB="19050" anchor="ctr">
                    <a:solidFill>
                      <a:srgbClr val="F5F8FA"/>
                    </a:solidFill>
                  </a:tcPr>
                </a:tc>
                <a:tc>
                  <a:txBody>
                    <a:bodyPr/>
                    <a:lstStyle/>
                    <a:p>
                      <a:pPr algn="l"/>
                      <a:r>
                        <a:rPr sz="1100" b="1">
                          <a:solidFill>
                            <a:srgbClr val="A86F00"/>
                          </a:solidFill>
                          <a:latin typeface="Calibri"/>
                        </a:rPr>
                        <a:t>▶ 1.2%</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16535">
                <a:tc>
                  <a:txBody>
                    <a:bodyPr/>
                    <a:lstStyle/>
                    <a:p>
                      <a:pPr algn="l"/>
                      <a:r>
                        <a:rPr sz="1100" b="1">
                          <a:solidFill>
                            <a:srgbClr val="2E2E2E"/>
                          </a:solidFill>
                          <a:latin typeface="Calibri"/>
                        </a:rPr>
                        <a:t>Specialty Health &amp; Wellness Retail</a:t>
                      </a:r>
                      <a:endParaRPr sz="1100"/>
                    </a:p>
                  </a:txBody>
                  <a:tcPr marL="47625" marR="38100" marT="19050" marB="19050" anchor="ctr">
                    <a:solidFill>
                      <a:srgbClr val="FFFFFF"/>
                    </a:solidFill>
                  </a:tcPr>
                </a:tc>
                <a:tc>
                  <a:txBody>
                    <a:bodyPr/>
                    <a:lstStyle/>
                    <a:p>
                      <a:pPr algn="l"/>
                      <a:r>
                        <a:rPr sz="1100" b="1">
                          <a:solidFill>
                            <a:srgbClr val="2E7D32"/>
                          </a:solidFill>
                          <a:latin typeface="Calibri"/>
                        </a:rPr>
                        <a:t>▲ 5.7%</a:t>
                      </a:r>
                      <a:endParaRPr sz="1100"/>
                    </a:p>
                  </a:txBody>
                  <a:tcPr marL="47625" marR="38100" marT="19050" marB="19050" anchor="ctr">
                    <a:solidFill>
                      <a:srgbClr val="FFFFFF"/>
                    </a:solidFill>
                  </a:tcPr>
                </a:tc>
                <a:tc>
                  <a:txBody>
                    <a:bodyPr/>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a:lstStyle/>
                    <a:p>
                      <a:pPr algn="l"/>
                      <a:r>
                        <a:rPr sz="1100" b="1">
                          <a:solidFill>
                            <a:srgbClr val="2E7D32"/>
                          </a:solidFill>
                          <a:latin typeface="Calibri"/>
                        </a:rPr>
                        <a:t>▲ 4.7%</a:t>
                      </a:r>
                      <a:endParaRPr sz="1100"/>
                    </a:p>
                  </a:txBody>
                  <a:tcPr marL="47625" marR="38100" marT="19050" marB="19050" anchor="ctr">
                    <a:solidFill>
                      <a:srgbClr val="FFFFFF"/>
                    </a:solidFill>
                  </a:tcPr>
                </a:tc>
                <a:tc>
                  <a:txBody>
                    <a:bodyPr/>
                    <a:lstStyle/>
                    <a:p>
                      <a:pPr algn="l"/>
                      <a:r>
                        <a:rPr sz="1100" b="1">
                          <a:solidFill>
                            <a:srgbClr val="2E7D32"/>
                          </a:solidFill>
                          <a:latin typeface="Calibri"/>
                        </a:rPr>
                        <a:t>▲ 4.8%</a:t>
                      </a:r>
                      <a:endParaRPr sz="1100"/>
                    </a:p>
                  </a:txBody>
                  <a:tcPr marL="47625" marR="38100" marT="19050" marB="19050" anchor="ctr">
                    <a:solidFill>
                      <a:srgbClr val="FFFFFF"/>
                    </a:solidFill>
                  </a:tcPr>
                </a:tc>
                <a:tc>
                  <a:txBody>
                    <a:bodyPr/>
                    <a:lstStyle/>
                    <a:p>
                      <a:pPr algn="l"/>
                      <a:r>
                        <a:rPr sz="1100" b="1">
                          <a:solidFill>
                            <a:srgbClr val="2E7D32"/>
                          </a:solidFill>
                          <a:latin typeface="Calibri"/>
                        </a:rPr>
                        <a:t>▲ 5.1%</a:t>
                      </a:r>
                      <a:endParaRPr sz="1100"/>
                    </a:p>
                  </a:txBody>
                  <a:tcPr marL="47625" marR="38100" marT="19050" marB="19050" anchor="ctr">
                    <a:solidFill>
                      <a:srgbClr val="FFFFFF"/>
                    </a:solidFill>
                  </a:tcPr>
                </a:tc>
                <a:tc>
                  <a:txBody>
                    <a:bodyPr/>
                    <a:lstStyle/>
                    <a:p>
                      <a:pPr algn="l"/>
                      <a:r>
                        <a:rPr sz="1100" b="1">
                          <a:solidFill>
                            <a:srgbClr val="2E7D32"/>
                          </a:solidFill>
                          <a:latin typeface="Calibri"/>
                        </a:rPr>
                        <a:t>▲ 5.4%</a:t>
                      </a:r>
                      <a:endParaRPr sz="1100"/>
                    </a:p>
                  </a:txBody>
                  <a:tcPr marL="47625" marR="38100" marT="19050" marB="19050" anchor="ctr">
                    <a:solidFill>
                      <a:srgbClr val="FFFFFF"/>
                    </a:solidFill>
                  </a:tcPr>
                </a:tc>
                <a:tc>
                  <a:txBody>
                    <a:bodyPr/>
                    <a:lstStyle/>
                    <a:p>
                      <a:pPr algn="l"/>
                      <a:r>
                        <a:rPr sz="1100" b="1">
                          <a:solidFill>
                            <a:srgbClr val="A86F00"/>
                          </a:solidFill>
                          <a:latin typeface="Calibri"/>
                        </a:rPr>
                        <a:t>▶ 5.5%</a:t>
                      </a:r>
                      <a:endParaRPr sz="1100"/>
                    </a:p>
                  </a:txBody>
                  <a:tcPr marL="47625" marR="38100" marT="19050" marB="19050" anchor="ctr">
                    <a:solidFill>
                      <a:srgbClr val="FFFFFF"/>
                    </a:solidFill>
                  </a:tcPr>
                </a:tc>
                <a:tc>
                  <a:txBody>
                    <a:bodyPr/>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a:lstStyle/>
                    <a:p>
                      <a:pPr algn="l"/>
                      <a:r>
                        <a:rPr sz="1100" b="1">
                          <a:solidFill>
                            <a:srgbClr val="A86F00"/>
                          </a:solidFill>
                          <a:latin typeface="Calibri"/>
                        </a:rPr>
                        <a:t>▶ 5.0%</a:t>
                      </a:r>
                      <a:endParaRPr sz="1100"/>
                    </a:p>
                  </a:txBody>
                  <a:tcPr marL="47625" marR="38100" marT="19050" marB="19050" anchor="ctr">
                    <a:solidFill>
                      <a:srgbClr val="FFFFFF"/>
                    </a:solidFill>
                  </a:tcPr>
                </a:tc>
                <a:tc>
                  <a:txBody>
                    <a:bodyPr/>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a:lstStyle/>
                    <a:p>
                      <a:pPr algn="l"/>
                      <a:r>
                        <a:rPr sz="1100" b="1">
                          <a:solidFill>
                            <a:srgbClr val="A86F00"/>
                          </a:solidFill>
                          <a:latin typeface="Calibri"/>
                        </a:rPr>
                        <a:t>▶ 5.3%</a:t>
                      </a:r>
                      <a:endParaRPr sz="1100"/>
                    </a:p>
                  </a:txBody>
                  <a:tcPr marL="47625" marR="38100" marT="19050" marB="19050" anchor="ctr">
                    <a:solidFill>
                      <a:srgbClr val="FFFFFF"/>
                    </a:solidFill>
                  </a:tcPr>
                </a:tc>
                <a:tc>
                  <a:txBody>
                    <a:bodyPr/>
                    <a:lstStyle/>
                    <a:p>
                      <a:pPr algn="l"/>
                      <a:r>
                        <a:rPr sz="1100" b="1">
                          <a:solidFill>
                            <a:srgbClr val="A86F00"/>
                          </a:solidFill>
                          <a:latin typeface="Calibri"/>
                        </a:rPr>
                        <a:t>▶ 5.2%</a:t>
                      </a:r>
                      <a:endParaRPr sz="1100"/>
                    </a:p>
                  </a:txBody>
                  <a:tcPr marL="47625" marR="38100" marT="19050" marB="19050" anchor="ctr">
                    <a:solidFill>
                      <a:srgbClr val="FFFFFF"/>
                    </a:solidFill>
                  </a:tcPr>
                </a:tc>
                <a:tc>
                  <a:txBody>
                    <a:bodyPr/>
                    <a:lstStyle/>
                    <a:p>
                      <a:pPr algn="l"/>
                      <a:r>
                        <a:rPr sz="1100" b="1">
                          <a:solidFill>
                            <a:srgbClr val="A86F00"/>
                          </a:solidFill>
                          <a:latin typeface="Calibri"/>
                        </a:rPr>
                        <a:t>▶ 5.0%</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16535">
                <a:tc>
                  <a:txBody>
                    <a:bodyPr/>
                    <a:lstStyle/>
                    <a:p>
                      <a:pPr algn="l"/>
                      <a:r>
                        <a:rPr sz="1100" b="1">
                          <a:solidFill>
                            <a:srgbClr val="2E2E2E"/>
                          </a:solidFill>
                          <a:latin typeface="Calibri"/>
                        </a:rPr>
                        <a:t>Practitioner / Clinic Channel</a:t>
                      </a:r>
                      <a:endParaRPr sz="1100"/>
                    </a:p>
                  </a:txBody>
                  <a:tcPr marL="47625" marR="38100" marT="19050" marB="19050" anchor="ctr">
                    <a:solidFill>
                      <a:srgbClr val="F5F8FA"/>
                    </a:solidFill>
                  </a:tcPr>
                </a:tc>
                <a:tc>
                  <a:txBody>
                    <a:bodyPr/>
                    <a:lstStyle/>
                    <a:p>
                      <a:pPr algn="l"/>
                      <a:r>
                        <a:rPr sz="1100" b="1">
                          <a:solidFill>
                            <a:srgbClr val="2E7D32"/>
                          </a:solidFill>
                          <a:latin typeface="Calibri"/>
                        </a:rPr>
                        <a:t>▲ 4.7%</a:t>
                      </a:r>
                      <a:endParaRPr sz="1100"/>
                    </a:p>
                  </a:txBody>
                  <a:tcPr marL="47625" marR="38100" marT="19050" marB="19050" anchor="ctr">
                    <a:solidFill>
                      <a:srgbClr val="F5F8FA"/>
                    </a:solidFill>
                  </a:tcPr>
                </a:tc>
                <a:tc>
                  <a:txBody>
                    <a:bodyPr/>
                    <a:lstStyle/>
                    <a:p>
                      <a:pPr algn="l"/>
                      <a:r>
                        <a:rPr sz="1100" b="1">
                          <a:solidFill>
                            <a:srgbClr val="2E7D32"/>
                          </a:solidFill>
                          <a:latin typeface="Calibri"/>
                        </a:rPr>
                        <a:t>▲ 4.6%</a:t>
                      </a:r>
                      <a:endParaRPr sz="1100"/>
                    </a:p>
                  </a:txBody>
                  <a:tcPr marL="47625" marR="38100" marT="19050" marB="19050" anchor="ctr">
                    <a:solidFill>
                      <a:srgbClr val="F5F8FA"/>
                    </a:solidFill>
                  </a:tcPr>
                </a:tc>
                <a:tc>
                  <a:txBody>
                    <a:bodyPr/>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a:lstStyle/>
                    <a:p>
                      <a:pPr algn="l"/>
                      <a:r>
                        <a:rPr sz="1100" b="1">
                          <a:solidFill>
                            <a:srgbClr val="A86F00"/>
                          </a:solidFill>
                          <a:latin typeface="Calibri"/>
                        </a:rPr>
                        <a:t>▶ 4.4%</a:t>
                      </a:r>
                      <a:endParaRPr sz="1100"/>
                    </a:p>
                  </a:txBody>
                  <a:tcPr marL="47625" marR="38100" marT="19050" marB="19050" anchor="ctr">
                    <a:solidFill>
                      <a:srgbClr val="F5F8FA"/>
                    </a:solidFill>
                  </a:tcPr>
                </a:tc>
                <a:tc>
                  <a:txBody>
                    <a:bodyPr/>
                    <a:lstStyle/>
                    <a:p>
                      <a:pPr algn="l"/>
                      <a:r>
                        <a:rPr sz="1100" b="1">
                          <a:solidFill>
                            <a:srgbClr val="A86F00"/>
                          </a:solidFill>
                          <a:latin typeface="Calibri"/>
                        </a:rPr>
                        <a:t>▶ 4.0%</a:t>
                      </a:r>
                      <a:endParaRPr sz="1100"/>
                    </a:p>
                  </a:txBody>
                  <a:tcPr marL="47625" marR="38100" marT="19050" marB="19050" anchor="ctr">
                    <a:solidFill>
                      <a:srgbClr val="F5F8FA"/>
                    </a:solidFill>
                  </a:tcPr>
                </a:tc>
                <a:tc>
                  <a:txBody>
                    <a:bodyPr/>
                    <a:lstStyle/>
                    <a:p>
                      <a:pPr algn="l"/>
                      <a:r>
                        <a:rPr sz="1100" b="1">
                          <a:solidFill>
                            <a:srgbClr val="A86F00"/>
                          </a:solidFill>
                          <a:latin typeface="Calibri"/>
                        </a:rPr>
                        <a:t>▶ 3.9%</a:t>
                      </a:r>
                      <a:endParaRPr sz="1100"/>
                    </a:p>
                  </a:txBody>
                  <a:tcPr marL="47625" marR="38100" marT="19050" marB="19050" anchor="ctr">
                    <a:solidFill>
                      <a:srgbClr val="F5F8FA"/>
                    </a:solidFill>
                  </a:tcPr>
                </a:tc>
                <a:tc>
                  <a:txBody>
                    <a:bodyPr/>
                    <a:lstStyle/>
                    <a:p>
                      <a:pPr algn="l"/>
                      <a:r>
                        <a:rPr sz="1100" b="1">
                          <a:solidFill>
                            <a:srgbClr val="A86F00"/>
                          </a:solidFill>
                          <a:latin typeface="Calibri"/>
                        </a:rPr>
                        <a:t>▶ 4.2%</a:t>
                      </a:r>
                      <a:endParaRPr sz="1100"/>
                    </a:p>
                  </a:txBody>
                  <a:tcPr marL="47625" marR="38100" marT="19050" marB="19050" anchor="ctr">
                    <a:solidFill>
                      <a:srgbClr val="F5F8FA"/>
                    </a:solidFill>
                  </a:tcPr>
                </a:tc>
                <a:tc>
                  <a:txBody>
                    <a:bodyPr/>
                    <a:lstStyle/>
                    <a:p>
                      <a:pPr algn="l"/>
                      <a:r>
                        <a:rPr sz="1100" b="1">
                          <a:solidFill>
                            <a:srgbClr val="A86F00"/>
                          </a:solidFill>
                          <a:latin typeface="Calibri"/>
                        </a:rPr>
                        <a:t>▶ 4.3%</a:t>
                      </a:r>
                      <a:endParaRPr sz="1100"/>
                    </a:p>
                  </a:txBody>
                  <a:tcPr marL="47625" marR="38100" marT="19050" marB="19050" anchor="ctr">
                    <a:solidFill>
                      <a:srgbClr val="F5F8FA"/>
                    </a:solidFill>
                  </a:tcPr>
                </a:tc>
                <a:tc>
                  <a:txBody>
                    <a:bodyPr/>
                    <a:lstStyle/>
                    <a:p>
                      <a:pPr algn="l"/>
                      <a:r>
                        <a:rPr sz="1100" b="1">
                          <a:solidFill>
                            <a:srgbClr val="A86F00"/>
                          </a:solidFill>
                          <a:latin typeface="Calibri"/>
                        </a:rPr>
                        <a:t>▶ 4.1%</a:t>
                      </a:r>
                      <a:endParaRPr sz="1100"/>
                    </a:p>
                  </a:txBody>
                  <a:tcPr marL="47625" marR="38100" marT="19050" marB="19050" anchor="ctr">
                    <a:solidFill>
                      <a:srgbClr val="F5F8FA"/>
                    </a:solidFill>
                  </a:tcPr>
                </a:tc>
                <a:tc>
                  <a:txBody>
                    <a:bodyPr/>
                    <a:lstStyle/>
                    <a:p>
                      <a:pPr algn="l"/>
                      <a:r>
                        <a:rPr sz="1100" b="1">
                          <a:solidFill>
                            <a:srgbClr val="A86F00"/>
                          </a:solidFill>
                          <a:latin typeface="Calibri"/>
                        </a:rPr>
                        <a:t>▶ 3.9%</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bl>
          </a:graphicData>
        </a:graphic>
      </p:graphicFrame>
      <p:sp>
        <p:nvSpPr>
          <p:cNvPr id="14" name="TextBox 13"/>
          <p:cNvSpPr txBox="1"/>
          <p:nvPr/>
        </p:nvSpPr>
        <p:spPr>
          <a:xfrm>
            <a:off x="219075" y="27622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095625"/>
            <a:ext cx="11906250" cy="3533775"/>
          </a:xfrm>
          <a:prstGeom prst="roundRect">
            <a:avLst>
              <a:gd name="adj" fmla="val 215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8125" y="315277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Volume YoY Heatmap, By Sales Channel (%)  ·  light = lower, dark = higher growth</a:t>
            </a:r>
          </a:p>
        </p:txBody>
      </p:sp>
      <p:sp>
        <p:nvSpPr>
          <p:cNvPr id="17" name="TextBox 16"/>
          <p:cNvSpPr txBox="1"/>
          <p:nvPr/>
        </p:nvSpPr>
        <p:spPr>
          <a:xfrm>
            <a:off x="185737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2022</a:t>
            </a:r>
          </a:p>
        </p:txBody>
      </p:sp>
      <p:sp>
        <p:nvSpPr>
          <p:cNvPr id="18" name="TextBox 17"/>
          <p:cNvSpPr txBox="1"/>
          <p:nvPr/>
        </p:nvSpPr>
        <p:spPr>
          <a:xfrm>
            <a:off x="250126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2023</a:t>
            </a:r>
          </a:p>
        </p:txBody>
      </p:sp>
      <p:sp>
        <p:nvSpPr>
          <p:cNvPr id="19" name="TextBox 18"/>
          <p:cNvSpPr txBox="1"/>
          <p:nvPr/>
        </p:nvSpPr>
        <p:spPr>
          <a:xfrm>
            <a:off x="314515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2024</a:t>
            </a:r>
          </a:p>
        </p:txBody>
      </p:sp>
      <p:sp>
        <p:nvSpPr>
          <p:cNvPr id="20" name="TextBox 19"/>
          <p:cNvSpPr txBox="1"/>
          <p:nvPr/>
        </p:nvSpPr>
        <p:spPr>
          <a:xfrm>
            <a:off x="378904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2025</a:t>
            </a:r>
          </a:p>
        </p:txBody>
      </p:sp>
      <p:sp>
        <p:nvSpPr>
          <p:cNvPr id="21" name="TextBox 20"/>
          <p:cNvSpPr txBox="1"/>
          <p:nvPr/>
        </p:nvSpPr>
        <p:spPr>
          <a:xfrm>
            <a:off x="443293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2026</a:t>
            </a:r>
          </a:p>
        </p:txBody>
      </p:sp>
      <p:sp>
        <p:nvSpPr>
          <p:cNvPr id="22" name="TextBox 21"/>
          <p:cNvSpPr txBox="1"/>
          <p:nvPr/>
        </p:nvSpPr>
        <p:spPr>
          <a:xfrm>
            <a:off x="507682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2027</a:t>
            </a:r>
          </a:p>
        </p:txBody>
      </p:sp>
      <p:sp>
        <p:nvSpPr>
          <p:cNvPr id="23" name="TextBox 22"/>
          <p:cNvSpPr txBox="1"/>
          <p:nvPr/>
        </p:nvSpPr>
        <p:spPr>
          <a:xfrm>
            <a:off x="572071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2028</a:t>
            </a:r>
          </a:p>
        </p:txBody>
      </p:sp>
      <p:sp>
        <p:nvSpPr>
          <p:cNvPr id="24" name="TextBox 23"/>
          <p:cNvSpPr txBox="1"/>
          <p:nvPr/>
        </p:nvSpPr>
        <p:spPr>
          <a:xfrm>
            <a:off x="636460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2029</a:t>
            </a:r>
          </a:p>
        </p:txBody>
      </p:sp>
      <p:sp>
        <p:nvSpPr>
          <p:cNvPr id="25" name="TextBox 24"/>
          <p:cNvSpPr txBox="1"/>
          <p:nvPr/>
        </p:nvSpPr>
        <p:spPr>
          <a:xfrm>
            <a:off x="700849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2030</a:t>
            </a:r>
          </a:p>
        </p:txBody>
      </p:sp>
      <p:sp>
        <p:nvSpPr>
          <p:cNvPr id="26" name="TextBox 25"/>
          <p:cNvSpPr txBox="1"/>
          <p:nvPr/>
        </p:nvSpPr>
        <p:spPr>
          <a:xfrm>
            <a:off x="765238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2031</a:t>
            </a:r>
          </a:p>
        </p:txBody>
      </p:sp>
      <p:sp>
        <p:nvSpPr>
          <p:cNvPr id="27" name="TextBox 26"/>
          <p:cNvSpPr txBox="1"/>
          <p:nvPr/>
        </p:nvSpPr>
        <p:spPr>
          <a:xfrm>
            <a:off x="829627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2032</a:t>
            </a:r>
          </a:p>
        </p:txBody>
      </p:sp>
      <p:sp>
        <p:nvSpPr>
          <p:cNvPr id="28" name="TextBox 27"/>
          <p:cNvSpPr txBox="1"/>
          <p:nvPr/>
        </p:nvSpPr>
        <p:spPr>
          <a:xfrm>
            <a:off x="894016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2033</a:t>
            </a:r>
          </a:p>
        </p:txBody>
      </p:sp>
      <p:sp>
        <p:nvSpPr>
          <p:cNvPr id="29" name="TextBox 28"/>
          <p:cNvSpPr txBox="1"/>
          <p:nvPr/>
        </p:nvSpPr>
        <p:spPr>
          <a:xfrm>
            <a:off x="958405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2034</a:t>
            </a:r>
          </a:p>
        </p:txBody>
      </p:sp>
      <p:sp>
        <p:nvSpPr>
          <p:cNvPr id="30" name="TextBox 29"/>
          <p:cNvSpPr txBox="1"/>
          <p:nvPr/>
        </p:nvSpPr>
        <p:spPr>
          <a:xfrm>
            <a:off x="1022794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2035</a:t>
            </a:r>
          </a:p>
        </p:txBody>
      </p:sp>
      <p:sp>
        <p:nvSpPr>
          <p:cNvPr id="31" name="TextBox 30"/>
          <p:cNvSpPr txBox="1"/>
          <p:nvPr/>
        </p:nvSpPr>
        <p:spPr>
          <a:xfrm>
            <a:off x="1087183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2036</a:t>
            </a:r>
          </a:p>
        </p:txBody>
      </p:sp>
      <p:sp>
        <p:nvSpPr>
          <p:cNvPr id="32" name="TextBox 31"/>
          <p:cNvSpPr txBox="1"/>
          <p:nvPr/>
        </p:nvSpPr>
        <p:spPr>
          <a:xfrm>
            <a:off x="238125" y="3524250"/>
            <a:ext cx="1590675" cy="508000"/>
          </a:xfrm>
          <a:prstGeom prst="rect">
            <a:avLst/>
          </a:prstGeom>
          <a:noFill/>
        </p:spPr>
        <p:txBody>
          <a:bodyPr wrap="square" lIns="28575" tIns="9525" rIns="28575" bIns="9525" anchor="ctr">
            <a:spAutoFit/>
          </a:bodyPr>
          <a:lstStyle/>
          <a:p>
            <a:pPr algn="l"/>
            <a:r>
              <a:rPr sz="1100" b="0">
                <a:solidFill>
                  <a:srgbClr val="2E2E2E"/>
                </a:solidFill>
                <a:latin typeface="Calibri"/>
              </a:rPr>
              <a:t>Direct-to-Consumer / Brand Website</a:t>
            </a:r>
          </a:p>
        </p:txBody>
      </p:sp>
      <p:sp>
        <p:nvSpPr>
          <p:cNvPr id="33" name="Rectangle 32"/>
          <p:cNvSpPr/>
          <p:nvPr/>
        </p:nvSpPr>
        <p:spPr>
          <a:xfrm>
            <a:off x="1857375" y="3524250"/>
            <a:ext cx="643890" cy="508000"/>
          </a:xfrm>
          <a:prstGeom prst="rect">
            <a:avLst/>
          </a:prstGeom>
          <a:solidFill>
            <a:srgbClr val="BA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501265" y="3524250"/>
            <a:ext cx="643890" cy="508000"/>
          </a:xfrm>
          <a:prstGeom prst="rect">
            <a:avLst/>
          </a:prstGeom>
          <a:solidFill>
            <a:srgbClr val="A6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145155" y="3524250"/>
            <a:ext cx="643890" cy="508000"/>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789045" y="3524250"/>
            <a:ext cx="643890" cy="508000"/>
          </a:xfrm>
          <a:prstGeom prst="rect">
            <a:avLst/>
          </a:prstGeom>
          <a:solidFill>
            <a:srgbClr val="77AE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432935" y="3524250"/>
            <a:ext cx="643890" cy="508000"/>
          </a:xfrm>
          <a:prstGeom prst="rect">
            <a:avLst/>
          </a:prstGeom>
          <a:solidFill>
            <a:srgbClr val="569C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076825" y="3524250"/>
            <a:ext cx="643890" cy="508000"/>
          </a:xfrm>
          <a:prstGeom prst="rect">
            <a:avLst/>
          </a:prstGeom>
          <a:solidFill>
            <a:srgbClr val="3E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720715" y="3524250"/>
            <a:ext cx="643890" cy="508000"/>
          </a:xfrm>
          <a:prstGeom prst="rect">
            <a:avLst/>
          </a:prstGeom>
          <a:solidFill>
            <a:srgbClr val="2F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364605" y="3524250"/>
            <a:ext cx="643890" cy="508000"/>
          </a:xfrm>
          <a:prstGeom prst="rect">
            <a:avLst/>
          </a:prstGeom>
          <a:solidFill>
            <a:srgbClr val="1C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008495" y="3524250"/>
            <a:ext cx="643890" cy="508000"/>
          </a:xfrm>
          <a:prstGeom prst="rect">
            <a:avLst/>
          </a:prstGeom>
          <a:solidFill>
            <a:srgbClr val="0D609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652385" y="3524250"/>
            <a:ext cx="643890" cy="508000"/>
          </a:xfrm>
          <a:prstGeom prst="rect">
            <a:avLst/>
          </a:prstGeom>
          <a:solidFill>
            <a:srgbClr val="0C3D6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296275" y="3524250"/>
            <a:ext cx="643890" cy="508000"/>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940165" y="3524250"/>
            <a:ext cx="643890" cy="508000"/>
          </a:xfrm>
          <a:prstGeom prst="rect">
            <a:avLst/>
          </a:prstGeom>
          <a:solidFill>
            <a:srgbClr val="0B385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584055" y="3524250"/>
            <a:ext cx="643890" cy="508000"/>
          </a:xfrm>
          <a:prstGeom prst="rect">
            <a:avLst/>
          </a:prstGeom>
          <a:solidFill>
            <a:srgbClr val="0C406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0227945" y="3524250"/>
            <a:ext cx="643890" cy="508000"/>
          </a:xfrm>
          <a:prstGeom prst="rect">
            <a:avLst/>
          </a:prstGeom>
          <a:solidFill>
            <a:srgbClr val="0D538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0871835" y="3524250"/>
            <a:ext cx="643890" cy="508000"/>
          </a:xfrm>
          <a:prstGeom prst="rect">
            <a:avLst/>
          </a:prstGeom>
          <a:solidFill>
            <a:srgbClr val="0D659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38125" y="4032250"/>
            <a:ext cx="1590675" cy="508000"/>
          </a:xfrm>
          <a:prstGeom prst="rect">
            <a:avLst/>
          </a:prstGeom>
          <a:noFill/>
        </p:spPr>
        <p:txBody>
          <a:bodyPr wrap="square" lIns="28575" tIns="9525" rIns="28575" bIns="9525" anchor="ctr">
            <a:spAutoFit/>
          </a:bodyPr>
          <a:lstStyle/>
          <a:p>
            <a:pPr algn="l"/>
            <a:r>
              <a:rPr sz="1100" b="0">
                <a:solidFill>
                  <a:srgbClr val="2E2E2E"/>
                </a:solidFill>
                <a:latin typeface="Calibri"/>
              </a:rPr>
              <a:t>Amazon / Online Marketplaces</a:t>
            </a:r>
          </a:p>
        </p:txBody>
      </p:sp>
      <p:sp>
        <p:nvSpPr>
          <p:cNvPr id="49" name="Rectangle 48"/>
          <p:cNvSpPr/>
          <p:nvPr/>
        </p:nvSpPr>
        <p:spPr>
          <a:xfrm>
            <a:off x="1857375" y="4032250"/>
            <a:ext cx="643890" cy="508000"/>
          </a:xfrm>
          <a:prstGeom prst="rect">
            <a:avLst/>
          </a:prstGeom>
          <a:solidFill>
            <a:srgbClr val="6CA8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2501265" y="4032250"/>
            <a:ext cx="643890" cy="508000"/>
          </a:xfrm>
          <a:prstGeom prst="rect">
            <a:avLst/>
          </a:prstGeom>
          <a:solidFill>
            <a:srgbClr val="7BB0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3145155" y="4032250"/>
            <a:ext cx="643890" cy="508000"/>
          </a:xfrm>
          <a:prstGeom prst="rect">
            <a:avLst/>
          </a:prstGeom>
          <a:solidFill>
            <a:srgbClr val="8EBA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3789045" y="4032250"/>
            <a:ext cx="643890" cy="508000"/>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432935" y="4032250"/>
            <a:ext cx="643890" cy="508000"/>
          </a:xfrm>
          <a:prstGeom prst="rect">
            <a:avLst/>
          </a:prstGeom>
          <a:solidFill>
            <a:srgbClr val="8CBA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5076825" y="4032250"/>
            <a:ext cx="643890" cy="508000"/>
          </a:xfrm>
          <a:prstGeom prst="rect">
            <a:avLst/>
          </a:prstGeom>
          <a:solidFill>
            <a:srgbClr val="7CB1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5720715" y="4032250"/>
            <a:ext cx="643890" cy="508000"/>
          </a:xfrm>
          <a:prstGeom prst="rect">
            <a:avLst/>
          </a:prstGeom>
          <a:solidFill>
            <a:srgbClr val="68A6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6364605" y="4032250"/>
            <a:ext cx="643890" cy="508000"/>
          </a:xfrm>
          <a:prstGeom prst="rect">
            <a:avLst/>
          </a:prstGeom>
          <a:solidFill>
            <a:srgbClr val="4C96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7008495" y="4032250"/>
            <a:ext cx="643890" cy="508000"/>
          </a:xfrm>
          <a:prstGeom prst="rect">
            <a:avLst/>
          </a:prstGeom>
          <a:solidFill>
            <a:srgbClr val="3C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652385" y="4032250"/>
            <a:ext cx="643890" cy="508000"/>
          </a:xfrm>
          <a:prstGeom prst="rect">
            <a:avLst/>
          </a:prstGeom>
          <a:solidFill>
            <a:srgbClr val="3F90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296275" y="4032250"/>
            <a:ext cx="643890" cy="508000"/>
          </a:xfrm>
          <a:prstGeom prst="rect">
            <a:avLst/>
          </a:prstGeom>
          <a:solidFill>
            <a:srgbClr val="49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940165" y="4032250"/>
            <a:ext cx="643890" cy="508000"/>
          </a:xfrm>
          <a:prstGeom prst="rect">
            <a:avLst/>
          </a:prstGeom>
          <a:solidFill>
            <a:srgbClr val="559B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9584055" y="4032250"/>
            <a:ext cx="643890" cy="508000"/>
          </a:xfrm>
          <a:prstGeom prst="rect">
            <a:avLst/>
          </a:prstGeom>
          <a:solidFill>
            <a:srgbClr val="61A2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10227945" y="4032250"/>
            <a:ext cx="643890" cy="508000"/>
          </a:xfrm>
          <a:prstGeom prst="rect">
            <a:avLst/>
          </a:prstGeom>
          <a:solidFill>
            <a:srgbClr val="6BA8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10871835" y="4032250"/>
            <a:ext cx="643890" cy="508000"/>
          </a:xfrm>
          <a:prstGeom prst="rect">
            <a:avLst/>
          </a:prstGeom>
          <a:solidFill>
            <a:srgbClr val="74AC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238125" y="4540250"/>
            <a:ext cx="1590675" cy="508000"/>
          </a:xfrm>
          <a:prstGeom prst="rect">
            <a:avLst/>
          </a:prstGeom>
          <a:noFill/>
        </p:spPr>
        <p:txBody>
          <a:bodyPr wrap="square" lIns="28575" tIns="9525" rIns="28575" bIns="9525" anchor="ctr">
            <a:spAutoFit/>
          </a:bodyPr>
          <a:lstStyle/>
          <a:p>
            <a:pPr algn="l"/>
            <a:r>
              <a:rPr sz="1100" b="0">
                <a:solidFill>
                  <a:srgbClr val="2E2E2E"/>
                </a:solidFill>
                <a:latin typeface="Calibri"/>
              </a:rPr>
              <a:t>Mass Retail</a:t>
            </a:r>
          </a:p>
        </p:txBody>
      </p:sp>
      <p:sp>
        <p:nvSpPr>
          <p:cNvPr id="65" name="Rectangle 64"/>
          <p:cNvSpPr/>
          <p:nvPr/>
        </p:nvSpPr>
        <p:spPr>
          <a:xfrm>
            <a:off x="1857375" y="4540250"/>
            <a:ext cx="643890" cy="508000"/>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2501265" y="4540250"/>
            <a:ext cx="643890" cy="508000"/>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3145155" y="4540250"/>
            <a:ext cx="643890" cy="508000"/>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3789045" y="4540250"/>
            <a:ext cx="643890" cy="508000"/>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432935" y="4540250"/>
            <a:ext cx="643890" cy="508000"/>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5076825" y="4540250"/>
            <a:ext cx="643890" cy="508000"/>
          </a:xfrm>
          <a:prstGeom prst="rect">
            <a:avLst/>
          </a:prstGeom>
          <a:solidFill>
            <a:srgbClr val="DE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5720715" y="4540250"/>
            <a:ext cx="643890" cy="508000"/>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6364605" y="4540250"/>
            <a:ext cx="643890" cy="508000"/>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7008495" y="4540250"/>
            <a:ext cx="643890" cy="508000"/>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7652385" y="4540250"/>
            <a:ext cx="643890" cy="508000"/>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8296275" y="4540250"/>
            <a:ext cx="643890" cy="508000"/>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8940165" y="4540250"/>
            <a:ext cx="643890" cy="508000"/>
          </a:xfrm>
          <a:prstGeom prst="rect">
            <a:avLst/>
          </a:prstGeom>
          <a:solidFill>
            <a:srgbClr val="D8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584055" y="4540250"/>
            <a:ext cx="643890" cy="508000"/>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10227945" y="4540250"/>
            <a:ext cx="643890" cy="508000"/>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10871835" y="4540250"/>
            <a:ext cx="643890" cy="508000"/>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38125" y="5048250"/>
            <a:ext cx="1590675" cy="508000"/>
          </a:xfrm>
          <a:prstGeom prst="rect">
            <a:avLst/>
          </a:prstGeom>
          <a:noFill/>
        </p:spPr>
        <p:txBody>
          <a:bodyPr wrap="square" lIns="28575" tIns="9525" rIns="28575" bIns="9525" anchor="ctr">
            <a:spAutoFit/>
          </a:bodyPr>
          <a:lstStyle/>
          <a:p>
            <a:pPr algn="l"/>
            <a:r>
              <a:rPr sz="1100" b="0">
                <a:solidFill>
                  <a:srgbClr val="2E2E2E"/>
                </a:solidFill>
                <a:latin typeface="Calibri"/>
              </a:rPr>
              <a:t>Pharmacy / Drugstores</a:t>
            </a:r>
          </a:p>
        </p:txBody>
      </p:sp>
      <p:sp>
        <p:nvSpPr>
          <p:cNvPr id="81" name="Rectangle 80"/>
          <p:cNvSpPr/>
          <p:nvPr/>
        </p:nvSpPr>
        <p:spPr>
          <a:xfrm>
            <a:off x="1857375" y="5048250"/>
            <a:ext cx="643890" cy="508000"/>
          </a:xfrm>
          <a:prstGeom prst="rect">
            <a:avLst/>
          </a:prstGeom>
          <a:solidFill>
            <a:srgbClr val="F2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2501265" y="5048250"/>
            <a:ext cx="643890" cy="508000"/>
          </a:xfrm>
          <a:prstGeom prst="rect">
            <a:avLst/>
          </a:prstGeom>
          <a:solidFill>
            <a:srgbClr val="F2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3145155" y="5048250"/>
            <a:ext cx="643890" cy="508000"/>
          </a:xfrm>
          <a:prstGeom prst="rect">
            <a:avLst/>
          </a:prstGeom>
          <a:solidFill>
            <a:srgbClr val="F2F9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3789045" y="5048250"/>
            <a:ext cx="643890" cy="508000"/>
          </a:xfrm>
          <a:prstGeom prst="rect">
            <a:avLst/>
          </a:prstGeom>
          <a:solidFill>
            <a:srgbClr val="F2F9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4432935" y="5048250"/>
            <a:ext cx="643890" cy="508000"/>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5076825" y="5048250"/>
            <a:ext cx="643890" cy="508000"/>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5720715" y="5048250"/>
            <a:ext cx="643890" cy="508000"/>
          </a:xfrm>
          <a:prstGeom prst="rect">
            <a:avLst/>
          </a:prstGeom>
          <a:solidFill>
            <a:srgbClr val="F7FC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6364605" y="5048250"/>
            <a:ext cx="643890" cy="508000"/>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7008495" y="5048250"/>
            <a:ext cx="643890" cy="508000"/>
          </a:xfrm>
          <a:prstGeom prst="rect">
            <a:avLst/>
          </a:prstGeom>
          <a:solidFill>
            <a:srgbClr val="FE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7652385" y="5048250"/>
            <a:ext cx="643890" cy="508000"/>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8296275" y="5048250"/>
            <a:ext cx="643890" cy="508000"/>
          </a:xfrm>
          <a:prstGeom prst="rect">
            <a:avLst/>
          </a:prstGeom>
          <a:solidFill>
            <a:srgbClr val="FE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8940165" y="5048250"/>
            <a:ext cx="643890" cy="508000"/>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9584055" y="5048250"/>
            <a:ext cx="643890" cy="508000"/>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10227945" y="5048250"/>
            <a:ext cx="643890" cy="508000"/>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10871835" y="5048250"/>
            <a:ext cx="643890" cy="508000"/>
          </a:xfrm>
          <a:prstGeom prst="rect">
            <a:avLst/>
          </a:prstGeom>
          <a:solidFill>
            <a:srgbClr val="FD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238125" y="5556250"/>
            <a:ext cx="1590675" cy="508000"/>
          </a:xfrm>
          <a:prstGeom prst="rect">
            <a:avLst/>
          </a:prstGeom>
          <a:noFill/>
        </p:spPr>
        <p:txBody>
          <a:bodyPr wrap="square" lIns="28575" tIns="9525" rIns="28575" bIns="9525" anchor="ctr">
            <a:spAutoFit/>
          </a:bodyPr>
          <a:lstStyle/>
          <a:p>
            <a:pPr algn="l"/>
            <a:r>
              <a:rPr sz="1100" b="0">
                <a:solidFill>
                  <a:srgbClr val="2E2E2E"/>
                </a:solidFill>
                <a:latin typeface="Calibri"/>
              </a:rPr>
              <a:t>Specialty Health &amp; Wellness Retail</a:t>
            </a:r>
          </a:p>
        </p:txBody>
      </p:sp>
      <p:sp>
        <p:nvSpPr>
          <p:cNvPr id="97" name="Rectangle 96"/>
          <p:cNvSpPr/>
          <p:nvPr/>
        </p:nvSpPr>
        <p:spPr>
          <a:xfrm>
            <a:off x="1857375" y="5556250"/>
            <a:ext cx="643890" cy="508000"/>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2501265" y="5556250"/>
            <a:ext cx="643890" cy="508000"/>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3145155" y="5556250"/>
            <a:ext cx="643890" cy="508000"/>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3789045" y="5556250"/>
            <a:ext cx="643890" cy="508000"/>
          </a:xfrm>
          <a:prstGeom prst="rect">
            <a:avLst/>
          </a:prstGeom>
          <a:solidFill>
            <a:srgbClr val="C3D9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4432935" y="5556250"/>
            <a:ext cx="643890" cy="508000"/>
          </a:xfrm>
          <a:prstGeom prst="rect">
            <a:avLst/>
          </a:prstGeom>
          <a:solidFill>
            <a:srgbClr val="C1D7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5076825" y="5556250"/>
            <a:ext cx="643890" cy="508000"/>
          </a:xfrm>
          <a:prstGeom prst="rect">
            <a:avLst/>
          </a:prstGeom>
          <a:solidFill>
            <a:srgbClr val="B9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5720715" y="5556250"/>
            <a:ext cx="643890" cy="508000"/>
          </a:xfrm>
          <a:prstGeom prst="rect">
            <a:avLst/>
          </a:prstGeom>
          <a:solidFill>
            <a:srgbClr val="AF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6364605" y="5556250"/>
            <a:ext cx="643890" cy="508000"/>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7008495" y="5556250"/>
            <a:ext cx="643890" cy="508000"/>
          </a:xfrm>
          <a:prstGeom prst="rect">
            <a:avLst/>
          </a:prstGeom>
          <a:solidFill>
            <a:srgbClr val="B5D0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7652385" y="5556250"/>
            <a:ext cx="643890" cy="508000"/>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8296275" y="5556250"/>
            <a:ext cx="643890" cy="508000"/>
          </a:xfrm>
          <a:prstGeom prst="rect">
            <a:avLst/>
          </a:prstGeom>
          <a:solidFill>
            <a:srgbClr val="BAD4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8940165" y="5556250"/>
            <a:ext cx="643890" cy="508000"/>
          </a:xfrm>
          <a:prstGeom prst="rect">
            <a:avLst/>
          </a:prstGeom>
          <a:solidFill>
            <a:srgbClr val="B4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9584055" y="5556250"/>
            <a:ext cx="643890" cy="508000"/>
          </a:xfrm>
          <a:prstGeom prst="rect">
            <a:avLst/>
          </a:prstGeom>
          <a:solidFill>
            <a:srgbClr val="B3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10227945" y="5556250"/>
            <a:ext cx="643890" cy="508000"/>
          </a:xfrm>
          <a:prstGeom prst="rect">
            <a:avLst/>
          </a:prstGeom>
          <a:solidFill>
            <a:srgbClr val="B7D2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0871835" y="5556250"/>
            <a:ext cx="643890" cy="508000"/>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238125" y="6064250"/>
            <a:ext cx="1590675" cy="508000"/>
          </a:xfrm>
          <a:prstGeom prst="rect">
            <a:avLst/>
          </a:prstGeom>
          <a:noFill/>
        </p:spPr>
        <p:txBody>
          <a:bodyPr wrap="square" lIns="28575" tIns="9525" rIns="28575" bIns="9525" anchor="ctr">
            <a:spAutoFit/>
          </a:bodyPr>
          <a:lstStyle/>
          <a:p>
            <a:pPr algn="l"/>
            <a:r>
              <a:rPr sz="1100" b="0">
                <a:solidFill>
                  <a:srgbClr val="2E2E2E"/>
                </a:solidFill>
                <a:latin typeface="Calibri"/>
              </a:rPr>
              <a:t>Practitioner / Clinic Channel</a:t>
            </a:r>
          </a:p>
        </p:txBody>
      </p:sp>
      <p:sp>
        <p:nvSpPr>
          <p:cNvPr id="113" name="Rectangle 112"/>
          <p:cNvSpPr/>
          <p:nvPr/>
        </p:nvSpPr>
        <p:spPr>
          <a:xfrm>
            <a:off x="1857375" y="6064250"/>
            <a:ext cx="643890" cy="508000"/>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2501265" y="6064250"/>
            <a:ext cx="643890" cy="508000"/>
          </a:xfrm>
          <a:prstGeom prst="rect">
            <a:avLst/>
          </a:prstGeom>
          <a:solidFill>
            <a:srgbClr val="C6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3145155" y="6064250"/>
            <a:ext cx="643890" cy="508000"/>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3789045" y="6064250"/>
            <a:ext cx="643890" cy="508000"/>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4432935" y="6064250"/>
            <a:ext cx="643890" cy="508000"/>
          </a:xfrm>
          <a:prstGeom prst="rect">
            <a:avLst/>
          </a:prstGeom>
          <a:solidFill>
            <a:srgbClr val="D1E2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5076825" y="6064250"/>
            <a:ext cx="643890" cy="508000"/>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5720715" y="6064250"/>
            <a:ext cx="643890" cy="508000"/>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6364605" y="6064250"/>
            <a:ext cx="643890" cy="508000"/>
          </a:xfrm>
          <a:prstGeom prst="rect">
            <a:avLst/>
          </a:prstGeom>
          <a:solidFill>
            <a:srgbClr val="C6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7008495" y="6064250"/>
            <a:ext cx="643890" cy="508000"/>
          </a:xfrm>
          <a:prstGeom prst="rect">
            <a:avLst/>
          </a:prstGeom>
          <a:solidFill>
            <a:srgbClr val="CCDE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7652385" y="6064250"/>
            <a:ext cx="643890" cy="508000"/>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8296275" y="6064250"/>
            <a:ext cx="643890" cy="508000"/>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a:off x="8940165" y="6064250"/>
            <a:ext cx="643890" cy="508000"/>
          </a:xfrm>
          <a:prstGeom prst="rect">
            <a:avLst/>
          </a:prstGeom>
          <a:solidFill>
            <a:srgbClr val="CEE0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124"/>
          <p:cNvSpPr/>
          <p:nvPr/>
        </p:nvSpPr>
        <p:spPr>
          <a:xfrm>
            <a:off x="9584055" y="6064250"/>
            <a:ext cx="643890" cy="508000"/>
          </a:xfrm>
          <a:prstGeom prst="rect">
            <a:avLst/>
          </a:prstGeom>
          <a:solidFill>
            <a:srgbClr val="CEE0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25"/>
          <p:cNvSpPr/>
          <p:nvPr/>
        </p:nvSpPr>
        <p:spPr>
          <a:xfrm>
            <a:off x="10227945" y="6064250"/>
            <a:ext cx="643890" cy="508000"/>
          </a:xfrm>
          <a:prstGeom prst="rect">
            <a:avLst/>
          </a:prstGeom>
          <a:solidFill>
            <a:srgbClr val="D1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26"/>
          <p:cNvSpPr/>
          <p:nvPr/>
        </p:nvSpPr>
        <p:spPr>
          <a:xfrm>
            <a:off x="10871835" y="6064250"/>
            <a:ext cx="643890" cy="508000"/>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127"/>
          <p:cNvSpPr/>
          <p:nvPr/>
        </p:nvSpPr>
        <p:spPr>
          <a:xfrm>
            <a:off x="11572875" y="3562350"/>
            <a:ext cx="104775" cy="8191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Rectangle 128"/>
          <p:cNvSpPr/>
          <p:nvPr/>
        </p:nvSpPr>
        <p:spPr>
          <a:xfrm>
            <a:off x="11572875" y="3636645"/>
            <a:ext cx="104775" cy="81915"/>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ectangle 129"/>
          <p:cNvSpPr/>
          <p:nvPr/>
        </p:nvSpPr>
        <p:spPr>
          <a:xfrm>
            <a:off x="11572875" y="3710940"/>
            <a:ext cx="104775" cy="81915"/>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ectangle 130"/>
          <p:cNvSpPr/>
          <p:nvPr/>
        </p:nvSpPr>
        <p:spPr>
          <a:xfrm>
            <a:off x="11572875" y="3785235"/>
            <a:ext cx="104775" cy="81915"/>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Rectangle 131"/>
          <p:cNvSpPr/>
          <p:nvPr/>
        </p:nvSpPr>
        <p:spPr>
          <a:xfrm>
            <a:off x="11572875" y="3859530"/>
            <a:ext cx="104775" cy="81915"/>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p:cNvSpPr/>
          <p:nvPr/>
        </p:nvSpPr>
        <p:spPr>
          <a:xfrm>
            <a:off x="11572875" y="3933825"/>
            <a:ext cx="104775" cy="81915"/>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angle 133"/>
          <p:cNvSpPr/>
          <p:nvPr/>
        </p:nvSpPr>
        <p:spPr>
          <a:xfrm>
            <a:off x="11572875" y="4008120"/>
            <a:ext cx="104775" cy="81915"/>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11572875" y="4082415"/>
            <a:ext cx="104775" cy="81915"/>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Rectangle 135"/>
          <p:cNvSpPr/>
          <p:nvPr/>
        </p:nvSpPr>
        <p:spPr>
          <a:xfrm>
            <a:off x="11572875" y="4156710"/>
            <a:ext cx="104775" cy="81915"/>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11572875" y="4231005"/>
            <a:ext cx="104775" cy="81915"/>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ectangle 137"/>
          <p:cNvSpPr/>
          <p:nvPr/>
        </p:nvSpPr>
        <p:spPr>
          <a:xfrm>
            <a:off x="11572875" y="4305300"/>
            <a:ext cx="104775" cy="81915"/>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ectangle 138"/>
          <p:cNvSpPr/>
          <p:nvPr/>
        </p:nvSpPr>
        <p:spPr>
          <a:xfrm>
            <a:off x="11572875" y="4379595"/>
            <a:ext cx="104775" cy="81915"/>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ectangle 139"/>
          <p:cNvSpPr/>
          <p:nvPr/>
        </p:nvSpPr>
        <p:spPr>
          <a:xfrm>
            <a:off x="11572875" y="4453890"/>
            <a:ext cx="104775" cy="81915"/>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Rectangle 140"/>
          <p:cNvSpPr/>
          <p:nvPr/>
        </p:nvSpPr>
        <p:spPr>
          <a:xfrm>
            <a:off x="11572875" y="4528185"/>
            <a:ext cx="104775" cy="81915"/>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Rectangle 141"/>
          <p:cNvSpPr/>
          <p:nvPr/>
        </p:nvSpPr>
        <p:spPr>
          <a:xfrm>
            <a:off x="11572875" y="4602480"/>
            <a:ext cx="104775" cy="81915"/>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Rectangle 142"/>
          <p:cNvSpPr/>
          <p:nvPr/>
        </p:nvSpPr>
        <p:spPr>
          <a:xfrm>
            <a:off x="11572875" y="4676775"/>
            <a:ext cx="104775" cy="81915"/>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Rectangle 143"/>
          <p:cNvSpPr/>
          <p:nvPr/>
        </p:nvSpPr>
        <p:spPr>
          <a:xfrm>
            <a:off x="11572875" y="4751070"/>
            <a:ext cx="104775" cy="81915"/>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ectangle 144"/>
          <p:cNvSpPr/>
          <p:nvPr/>
        </p:nvSpPr>
        <p:spPr>
          <a:xfrm>
            <a:off x="11572875" y="4825365"/>
            <a:ext cx="104775" cy="81915"/>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ectangle 145"/>
          <p:cNvSpPr/>
          <p:nvPr/>
        </p:nvSpPr>
        <p:spPr>
          <a:xfrm>
            <a:off x="11572875" y="4899660"/>
            <a:ext cx="104775" cy="81915"/>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Rectangle 146"/>
          <p:cNvSpPr/>
          <p:nvPr/>
        </p:nvSpPr>
        <p:spPr>
          <a:xfrm>
            <a:off x="11572875" y="4973955"/>
            <a:ext cx="104775" cy="81915"/>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Rectangle 147"/>
          <p:cNvSpPr/>
          <p:nvPr/>
        </p:nvSpPr>
        <p:spPr>
          <a:xfrm>
            <a:off x="11572875" y="5048250"/>
            <a:ext cx="104775" cy="81915"/>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ectangle 148"/>
          <p:cNvSpPr/>
          <p:nvPr/>
        </p:nvSpPr>
        <p:spPr>
          <a:xfrm>
            <a:off x="11572875" y="5122545"/>
            <a:ext cx="104775" cy="81915"/>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ectangle 149"/>
          <p:cNvSpPr/>
          <p:nvPr/>
        </p:nvSpPr>
        <p:spPr>
          <a:xfrm>
            <a:off x="11572875" y="5196840"/>
            <a:ext cx="104775" cy="81915"/>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ectangle 150"/>
          <p:cNvSpPr/>
          <p:nvPr/>
        </p:nvSpPr>
        <p:spPr>
          <a:xfrm>
            <a:off x="11572875" y="5271135"/>
            <a:ext cx="104775" cy="81915"/>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ectangle 151"/>
          <p:cNvSpPr/>
          <p:nvPr/>
        </p:nvSpPr>
        <p:spPr>
          <a:xfrm>
            <a:off x="11572875" y="5345430"/>
            <a:ext cx="104775" cy="81915"/>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ectangle 152"/>
          <p:cNvSpPr/>
          <p:nvPr/>
        </p:nvSpPr>
        <p:spPr>
          <a:xfrm>
            <a:off x="11572875" y="5419725"/>
            <a:ext cx="104775" cy="81915"/>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ectangle 153"/>
          <p:cNvSpPr/>
          <p:nvPr/>
        </p:nvSpPr>
        <p:spPr>
          <a:xfrm>
            <a:off x="11572875" y="5494020"/>
            <a:ext cx="104775" cy="81915"/>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Rectangle 154"/>
          <p:cNvSpPr/>
          <p:nvPr/>
        </p:nvSpPr>
        <p:spPr>
          <a:xfrm>
            <a:off x="11572875" y="5568315"/>
            <a:ext cx="104775" cy="81915"/>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Rectangle 155"/>
          <p:cNvSpPr/>
          <p:nvPr/>
        </p:nvSpPr>
        <p:spPr>
          <a:xfrm>
            <a:off x="11572875" y="5642610"/>
            <a:ext cx="104775" cy="81915"/>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ectangle 156"/>
          <p:cNvSpPr/>
          <p:nvPr/>
        </p:nvSpPr>
        <p:spPr>
          <a:xfrm>
            <a:off x="11572875" y="5716905"/>
            <a:ext cx="104775" cy="81915"/>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ectangle 157"/>
          <p:cNvSpPr/>
          <p:nvPr/>
        </p:nvSpPr>
        <p:spPr>
          <a:xfrm>
            <a:off x="11572875" y="5791200"/>
            <a:ext cx="104775" cy="81915"/>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Rectangle 158"/>
          <p:cNvSpPr/>
          <p:nvPr/>
        </p:nvSpPr>
        <p:spPr>
          <a:xfrm>
            <a:off x="11572875" y="5865495"/>
            <a:ext cx="104775" cy="81915"/>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ectangle 159"/>
          <p:cNvSpPr/>
          <p:nvPr/>
        </p:nvSpPr>
        <p:spPr>
          <a:xfrm>
            <a:off x="11572875" y="5939790"/>
            <a:ext cx="104775" cy="81915"/>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Rectangle 160"/>
          <p:cNvSpPr/>
          <p:nvPr/>
        </p:nvSpPr>
        <p:spPr>
          <a:xfrm>
            <a:off x="11572875" y="6014085"/>
            <a:ext cx="104775" cy="81915"/>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Rectangle 161"/>
          <p:cNvSpPr/>
          <p:nvPr/>
        </p:nvSpPr>
        <p:spPr>
          <a:xfrm>
            <a:off x="11572875" y="6088380"/>
            <a:ext cx="104775" cy="81915"/>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Rectangle 162"/>
          <p:cNvSpPr/>
          <p:nvPr/>
        </p:nvSpPr>
        <p:spPr>
          <a:xfrm>
            <a:off x="11572875" y="6162675"/>
            <a:ext cx="104775" cy="81915"/>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Rectangle 163"/>
          <p:cNvSpPr/>
          <p:nvPr/>
        </p:nvSpPr>
        <p:spPr>
          <a:xfrm>
            <a:off x="11572875" y="6236970"/>
            <a:ext cx="104775" cy="81915"/>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Rectangle 164"/>
          <p:cNvSpPr/>
          <p:nvPr/>
        </p:nvSpPr>
        <p:spPr>
          <a:xfrm>
            <a:off x="11572875" y="6311265"/>
            <a:ext cx="104775" cy="81915"/>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Rectangle 165"/>
          <p:cNvSpPr/>
          <p:nvPr/>
        </p:nvSpPr>
        <p:spPr>
          <a:xfrm>
            <a:off x="11572875" y="6385560"/>
            <a:ext cx="104775" cy="81915"/>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Rectangle 166"/>
          <p:cNvSpPr/>
          <p:nvPr/>
        </p:nvSpPr>
        <p:spPr>
          <a:xfrm>
            <a:off x="11572875" y="6459855"/>
            <a:ext cx="104775" cy="81915"/>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Rectangle 167"/>
          <p:cNvSpPr/>
          <p:nvPr/>
        </p:nvSpPr>
        <p:spPr>
          <a:xfrm>
            <a:off x="11572875" y="3562350"/>
            <a:ext cx="104775" cy="297180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TextBox 168"/>
          <p:cNvSpPr txBox="1"/>
          <p:nvPr/>
        </p:nvSpPr>
        <p:spPr>
          <a:xfrm>
            <a:off x="11687175" y="3495675"/>
            <a:ext cx="276225" cy="133350"/>
          </a:xfrm>
          <a:prstGeom prst="rect">
            <a:avLst/>
          </a:prstGeom>
          <a:noFill/>
        </p:spPr>
        <p:txBody>
          <a:bodyPr wrap="none" lIns="0" tIns="0" rIns="0" bIns="0" anchor="ctr">
            <a:spAutoFit/>
          </a:bodyPr>
          <a:lstStyle/>
          <a:p>
            <a:pPr algn="l"/>
            <a:r>
              <a:rPr sz="1100" b="0">
                <a:solidFill>
                  <a:srgbClr val="6C7A89"/>
                </a:solidFill>
                <a:latin typeface="Calibri"/>
              </a:rPr>
              <a:t>12%</a:t>
            </a:r>
          </a:p>
        </p:txBody>
      </p:sp>
      <p:sp>
        <p:nvSpPr>
          <p:cNvPr id="170" name="TextBox 169"/>
          <p:cNvSpPr txBox="1"/>
          <p:nvPr/>
        </p:nvSpPr>
        <p:spPr>
          <a:xfrm>
            <a:off x="11687175" y="4981575"/>
            <a:ext cx="276225" cy="133350"/>
          </a:xfrm>
          <a:prstGeom prst="rect">
            <a:avLst/>
          </a:prstGeom>
          <a:noFill/>
        </p:spPr>
        <p:txBody>
          <a:bodyPr wrap="none" lIns="0" tIns="0" rIns="0" bIns="0" anchor="ctr">
            <a:spAutoFit/>
          </a:bodyPr>
          <a:lstStyle/>
          <a:p>
            <a:pPr algn="l"/>
            <a:r>
              <a:rPr sz="1100" b="0">
                <a:solidFill>
                  <a:srgbClr val="6C7A89"/>
                </a:solidFill>
                <a:latin typeface="Calibri"/>
              </a:rPr>
              <a:t>6%</a:t>
            </a:r>
          </a:p>
        </p:txBody>
      </p:sp>
      <p:sp>
        <p:nvSpPr>
          <p:cNvPr id="171" name="TextBox 170"/>
          <p:cNvSpPr txBox="1"/>
          <p:nvPr/>
        </p:nvSpPr>
        <p:spPr>
          <a:xfrm>
            <a:off x="11687175" y="6467475"/>
            <a:ext cx="276225" cy="133350"/>
          </a:xfrm>
          <a:prstGeom prst="rect">
            <a:avLst/>
          </a:prstGeom>
          <a:noFill/>
        </p:spPr>
        <p:txBody>
          <a:bodyPr wrap="none" lIns="0" tIns="0" rIns="0" bIns="0" anchor="ctr">
            <a:spAutoFit/>
          </a:bodyPr>
          <a:lstStyle/>
          <a:p>
            <a:pPr algn="l"/>
            <a:r>
              <a:rPr sz="1100" b="0">
                <a:solidFill>
                  <a:srgbClr val="6C7A89"/>
                </a:solidFill>
                <a:latin typeface="Calibri"/>
              </a:rPr>
              <a:t>1%</a:t>
            </a:r>
          </a:p>
        </p:txBody>
      </p:sp>
      <p:sp>
        <p:nvSpPr>
          <p:cNvPr id="172" name="TextBox 17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YoY Analysis of USA Market Value, By Sales Channel (%)</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Year-on-year value growth by Sales Channel, 2022–2036, highlighting acceleration and slowdown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981075"/>
            <a:ext cx="11906250" cy="1981200"/>
          </a:xfrm>
          <a:prstGeom prst="roundRect">
            <a:avLst>
              <a:gd name="adj" fmla="val 38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Value YoY Growth, By Sales Channel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152400" y="1238250"/>
          <a:ext cx="11887199" cy="1514475"/>
        </p:xfrm>
        <a:graphic>
          <a:graphicData uri="http://schemas.openxmlformats.org/drawingml/2006/table">
            <a:tbl>
              <a:tblPr>
                <a:tableStyleId>{5C22544A-7EE6-4342-B048-85BDC9FD1C3A}</a:tableStyleId>
              </a:tblPr>
              <a:tblGrid>
                <a:gridCol w="2413368">
                  <a:extLst>
                    <a:ext uri="{9D8B030D-6E8A-4147-A177-3AD203B41FA5}">
                      <a16:colId xmlns:a16="http://schemas.microsoft.com/office/drawing/2014/main" val="20000"/>
                    </a:ext>
                  </a:extLst>
                </a:gridCol>
                <a:gridCol w="590585">
                  <a:extLst>
                    <a:ext uri="{9D8B030D-6E8A-4147-A177-3AD203B41FA5}">
                      <a16:colId xmlns:a16="http://schemas.microsoft.com/office/drawing/2014/main" val="20001"/>
                    </a:ext>
                  </a:extLst>
                </a:gridCol>
                <a:gridCol w="590585">
                  <a:extLst>
                    <a:ext uri="{9D8B030D-6E8A-4147-A177-3AD203B41FA5}">
                      <a16:colId xmlns:a16="http://schemas.microsoft.com/office/drawing/2014/main" val="20002"/>
                    </a:ext>
                  </a:extLst>
                </a:gridCol>
                <a:gridCol w="590585">
                  <a:extLst>
                    <a:ext uri="{9D8B030D-6E8A-4147-A177-3AD203B41FA5}">
                      <a16:colId xmlns:a16="http://schemas.microsoft.com/office/drawing/2014/main" val="20003"/>
                    </a:ext>
                  </a:extLst>
                </a:gridCol>
                <a:gridCol w="590585">
                  <a:extLst>
                    <a:ext uri="{9D8B030D-6E8A-4147-A177-3AD203B41FA5}">
                      <a16:colId xmlns:a16="http://schemas.microsoft.com/office/drawing/2014/main" val="20004"/>
                    </a:ext>
                  </a:extLst>
                </a:gridCol>
                <a:gridCol w="590585">
                  <a:extLst>
                    <a:ext uri="{9D8B030D-6E8A-4147-A177-3AD203B41FA5}">
                      <a16:colId xmlns:a16="http://schemas.microsoft.com/office/drawing/2014/main" val="20005"/>
                    </a:ext>
                  </a:extLst>
                </a:gridCol>
                <a:gridCol w="590585">
                  <a:extLst>
                    <a:ext uri="{9D8B030D-6E8A-4147-A177-3AD203B41FA5}">
                      <a16:colId xmlns:a16="http://schemas.microsoft.com/office/drawing/2014/main" val="20006"/>
                    </a:ext>
                  </a:extLst>
                </a:gridCol>
                <a:gridCol w="590585">
                  <a:extLst>
                    <a:ext uri="{9D8B030D-6E8A-4147-A177-3AD203B41FA5}">
                      <a16:colId xmlns:a16="http://schemas.microsoft.com/office/drawing/2014/main" val="20007"/>
                    </a:ext>
                  </a:extLst>
                </a:gridCol>
                <a:gridCol w="667467">
                  <a:extLst>
                    <a:ext uri="{9D8B030D-6E8A-4147-A177-3AD203B41FA5}">
                      <a16:colId xmlns:a16="http://schemas.microsoft.com/office/drawing/2014/main" val="20008"/>
                    </a:ext>
                  </a:extLst>
                </a:gridCol>
                <a:gridCol w="667467">
                  <a:extLst>
                    <a:ext uri="{9D8B030D-6E8A-4147-A177-3AD203B41FA5}">
                      <a16:colId xmlns:a16="http://schemas.microsoft.com/office/drawing/2014/main" val="20009"/>
                    </a:ext>
                  </a:extLst>
                </a:gridCol>
                <a:gridCol w="667467">
                  <a:extLst>
                    <a:ext uri="{9D8B030D-6E8A-4147-A177-3AD203B41FA5}">
                      <a16:colId xmlns:a16="http://schemas.microsoft.com/office/drawing/2014/main" val="20010"/>
                    </a:ext>
                  </a:extLst>
                </a:gridCol>
                <a:gridCol w="667467">
                  <a:extLst>
                    <a:ext uri="{9D8B030D-6E8A-4147-A177-3AD203B41FA5}">
                      <a16:colId xmlns:a16="http://schemas.microsoft.com/office/drawing/2014/main" val="20011"/>
                    </a:ext>
                  </a:extLst>
                </a:gridCol>
                <a:gridCol w="667467">
                  <a:extLst>
                    <a:ext uri="{9D8B030D-6E8A-4147-A177-3AD203B41FA5}">
                      <a16:colId xmlns:a16="http://schemas.microsoft.com/office/drawing/2014/main" val="20012"/>
                    </a:ext>
                  </a:extLst>
                </a:gridCol>
                <a:gridCol w="667467">
                  <a:extLst>
                    <a:ext uri="{9D8B030D-6E8A-4147-A177-3AD203B41FA5}">
                      <a16:colId xmlns:a16="http://schemas.microsoft.com/office/drawing/2014/main" val="20013"/>
                    </a:ext>
                  </a:extLst>
                </a:gridCol>
                <a:gridCol w="667467">
                  <a:extLst>
                    <a:ext uri="{9D8B030D-6E8A-4147-A177-3AD203B41FA5}">
                      <a16:colId xmlns:a16="http://schemas.microsoft.com/office/drawing/2014/main" val="20014"/>
                    </a:ext>
                  </a:extLst>
                </a:gridCol>
                <a:gridCol w="667467">
                  <a:extLst>
                    <a:ext uri="{9D8B030D-6E8A-4147-A177-3AD203B41FA5}">
                      <a16:colId xmlns:a16="http://schemas.microsoft.com/office/drawing/2014/main" val="20015"/>
                    </a:ext>
                  </a:extLst>
                </a:gridCol>
              </a:tblGrid>
              <a:tr h="215265">
                <a:tc>
                  <a:txBody>
                    <a:bodyPr/>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a:lstStyle/>
                    <a:p>
                      <a:pPr algn="l"/>
                      <a:r>
                        <a:rPr sz="1100" b="1">
                          <a:solidFill>
                            <a:srgbClr val="0B2E4A"/>
                          </a:solidFill>
                          <a:latin typeface="Calibri"/>
                        </a:rPr>
                        <a:t>2022A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2023A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2024A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2025A</a:t>
                      </a:r>
                      <a:endParaRPr sz="1100"/>
                    </a:p>
                  </a:txBody>
                  <a:tcPr marL="47625" marR="38100" marT="19050" marB="19050" anchor="ctr">
                    <a:solidFill>
                      <a:srgbClr val="E0E8EF"/>
                    </a:solidFill>
                  </a:tcPr>
                </a:tc>
                <a:tc>
                  <a:txBody>
                    <a:bodyPr/>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2027F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2031F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2033F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2035F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16535">
                <a:tc>
                  <a:txBody>
                    <a:bodyPr/>
                    <a:lstStyle/>
                    <a:p>
                      <a:pPr algn="l"/>
                      <a:r>
                        <a:rPr sz="1100" b="1">
                          <a:solidFill>
                            <a:srgbClr val="2E2E2E"/>
                          </a:solidFill>
                          <a:latin typeface="Calibri"/>
                        </a:rPr>
                        <a:t>Direct-to-Consumer / Brand Website</a:t>
                      </a:r>
                      <a:endParaRPr sz="1100"/>
                    </a:p>
                  </a:txBody>
                  <a:tcPr marL="47625" marR="38100" marT="19050" marB="19050" anchor="ctr">
                    <a:solidFill>
                      <a:srgbClr val="FFFFFF"/>
                    </a:solidFill>
                  </a:tcPr>
                </a:tc>
                <a:tc>
                  <a:txBody>
                    <a:bodyPr/>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a:lstStyle/>
                    <a:p>
                      <a:pPr algn="l"/>
                      <a:r>
                        <a:rPr sz="1100" b="1">
                          <a:solidFill>
                            <a:srgbClr val="2E7D32"/>
                          </a:solidFill>
                          <a:latin typeface="Calibri"/>
                        </a:rPr>
                        <a:t>▲ 6.0%</a:t>
                      </a:r>
                      <a:endParaRPr sz="1100"/>
                    </a:p>
                  </a:txBody>
                  <a:tcPr marL="47625" marR="38100" marT="19050" marB="19050" anchor="ctr">
                    <a:solidFill>
                      <a:srgbClr val="FFFFFF"/>
                    </a:solidFill>
                  </a:tcPr>
                </a:tc>
                <a:tc>
                  <a:txBody>
                    <a:bodyPr/>
                    <a:lstStyle/>
                    <a:p>
                      <a:pPr algn="l"/>
                      <a:r>
                        <a:rPr sz="1100" b="1">
                          <a:solidFill>
                            <a:srgbClr val="2E7D32"/>
                          </a:solidFill>
                          <a:latin typeface="Calibri"/>
                        </a:rPr>
                        <a:t>▲ 6.7%</a:t>
                      </a:r>
                      <a:endParaRPr sz="1100"/>
                    </a:p>
                  </a:txBody>
                  <a:tcPr marL="47625" marR="38100" marT="19050" marB="19050" anchor="ctr">
                    <a:solidFill>
                      <a:srgbClr val="FFFFFF"/>
                    </a:solidFill>
                  </a:tcPr>
                </a:tc>
                <a:tc>
                  <a:txBody>
                    <a:bodyPr/>
                    <a:lstStyle/>
                    <a:p>
                      <a:pPr algn="l"/>
                      <a:r>
                        <a:rPr sz="1100" b="1">
                          <a:solidFill>
                            <a:srgbClr val="2E7D32"/>
                          </a:solidFill>
                          <a:latin typeface="Calibri"/>
                        </a:rPr>
                        <a:t>▲ 7.4%</a:t>
                      </a:r>
                      <a:endParaRPr sz="1100"/>
                    </a:p>
                  </a:txBody>
                  <a:tcPr marL="47625" marR="38100" marT="19050" marB="19050" anchor="ctr">
                    <a:solidFill>
                      <a:srgbClr val="FFFFFF"/>
                    </a:solidFill>
                  </a:tcPr>
                </a:tc>
                <a:tc>
                  <a:txBody>
                    <a:bodyPr/>
                    <a:lstStyle/>
                    <a:p>
                      <a:pPr algn="l"/>
                      <a:r>
                        <a:rPr sz="1100" b="1">
                          <a:solidFill>
                            <a:srgbClr val="2E7D32"/>
                          </a:solidFill>
                          <a:latin typeface="Calibri"/>
                        </a:rPr>
                        <a:t>▲ 8.5%</a:t>
                      </a:r>
                      <a:endParaRPr sz="1100"/>
                    </a:p>
                  </a:txBody>
                  <a:tcPr marL="47625" marR="38100" marT="19050" marB="19050" anchor="ctr">
                    <a:solidFill>
                      <a:srgbClr val="FFFFFF"/>
                    </a:solidFill>
                  </a:tcPr>
                </a:tc>
                <a:tc>
                  <a:txBody>
                    <a:bodyPr/>
                    <a:lstStyle/>
                    <a:p>
                      <a:pPr algn="l"/>
                      <a:r>
                        <a:rPr sz="1100" b="1">
                          <a:solidFill>
                            <a:srgbClr val="2E7D32"/>
                          </a:solidFill>
                          <a:latin typeface="Calibri"/>
                        </a:rPr>
                        <a:t>▲ 9.1%</a:t>
                      </a:r>
                      <a:endParaRPr sz="1100"/>
                    </a:p>
                  </a:txBody>
                  <a:tcPr marL="47625" marR="38100" marT="19050" marB="19050" anchor="ctr">
                    <a:solidFill>
                      <a:srgbClr val="FFFFFF"/>
                    </a:solidFill>
                  </a:tcPr>
                </a:tc>
                <a:tc>
                  <a:txBody>
                    <a:bodyPr/>
                    <a:lstStyle/>
                    <a:p>
                      <a:pPr algn="l"/>
                      <a:r>
                        <a:rPr sz="1100" b="1">
                          <a:solidFill>
                            <a:srgbClr val="2E7D32"/>
                          </a:solidFill>
                          <a:latin typeface="Calibri"/>
                        </a:rPr>
                        <a:t>▲ 9.7%</a:t>
                      </a:r>
                      <a:endParaRPr sz="1100"/>
                    </a:p>
                  </a:txBody>
                  <a:tcPr marL="47625" marR="38100" marT="19050" marB="19050" anchor="ctr">
                    <a:solidFill>
                      <a:srgbClr val="FFFFFF"/>
                    </a:solidFill>
                  </a:tcPr>
                </a:tc>
                <a:tc>
                  <a:txBody>
                    <a:bodyPr/>
                    <a:lstStyle/>
                    <a:p>
                      <a:pPr algn="l"/>
                      <a:r>
                        <a:rPr sz="1100" b="1">
                          <a:solidFill>
                            <a:srgbClr val="2E7D32"/>
                          </a:solidFill>
                          <a:latin typeface="Calibri"/>
                        </a:rPr>
                        <a:t>▲ 10.4%</a:t>
                      </a:r>
                      <a:endParaRPr sz="1100"/>
                    </a:p>
                  </a:txBody>
                  <a:tcPr marL="47625" marR="38100" marT="19050" marB="19050" anchor="ctr">
                    <a:solidFill>
                      <a:srgbClr val="FFFFFF"/>
                    </a:solidFill>
                  </a:tcPr>
                </a:tc>
                <a:tc>
                  <a:txBody>
                    <a:bodyPr/>
                    <a:lstStyle/>
                    <a:p>
                      <a:pPr algn="l"/>
                      <a:r>
                        <a:rPr sz="1100" b="1">
                          <a:solidFill>
                            <a:srgbClr val="2E7D32"/>
                          </a:solidFill>
                          <a:latin typeface="Calibri"/>
                        </a:rPr>
                        <a:t>▲ 11.4%</a:t>
                      </a:r>
                      <a:endParaRPr sz="1100"/>
                    </a:p>
                  </a:txBody>
                  <a:tcPr marL="47625" marR="38100" marT="19050" marB="19050" anchor="ctr">
                    <a:solidFill>
                      <a:srgbClr val="FFFFFF"/>
                    </a:solidFill>
                  </a:tcPr>
                </a:tc>
                <a:tc>
                  <a:txBody>
                    <a:bodyPr/>
                    <a:lstStyle/>
                    <a:p>
                      <a:pPr algn="l"/>
                      <a:r>
                        <a:rPr sz="1100" b="1">
                          <a:solidFill>
                            <a:srgbClr val="2E7D32"/>
                          </a:solidFill>
                          <a:latin typeface="Calibri"/>
                        </a:rPr>
                        <a:t>▲ 12.2%</a:t>
                      </a:r>
                      <a:endParaRPr sz="1100"/>
                    </a:p>
                  </a:txBody>
                  <a:tcPr marL="47625" marR="38100" marT="19050" marB="19050" anchor="ctr">
                    <a:solidFill>
                      <a:srgbClr val="FFFFFF"/>
                    </a:solidFill>
                  </a:tcPr>
                </a:tc>
                <a:tc>
                  <a:txBody>
                    <a:bodyPr/>
                    <a:lstStyle/>
                    <a:p>
                      <a:pPr algn="l"/>
                      <a:r>
                        <a:rPr sz="1100" b="1">
                          <a:solidFill>
                            <a:srgbClr val="2E7D32"/>
                          </a:solidFill>
                          <a:latin typeface="Calibri"/>
                        </a:rPr>
                        <a:t>▲ 12.6%</a:t>
                      </a:r>
                      <a:endParaRPr sz="1100"/>
                    </a:p>
                  </a:txBody>
                  <a:tcPr marL="47625" marR="38100" marT="19050" marB="19050" anchor="ctr">
                    <a:solidFill>
                      <a:srgbClr val="FFFFFF"/>
                    </a:solidFill>
                  </a:tcPr>
                </a:tc>
                <a:tc>
                  <a:txBody>
                    <a:bodyPr/>
                    <a:lstStyle/>
                    <a:p>
                      <a:pPr algn="l"/>
                      <a:r>
                        <a:rPr sz="1100" b="1">
                          <a:solidFill>
                            <a:srgbClr val="2E7D32"/>
                          </a:solidFill>
                          <a:latin typeface="Calibri"/>
                        </a:rPr>
                        <a:t>▲ 12.4%</a:t>
                      </a:r>
                      <a:endParaRPr sz="1100"/>
                    </a:p>
                  </a:txBody>
                  <a:tcPr marL="47625" marR="38100" marT="19050" marB="19050" anchor="ctr">
                    <a:solidFill>
                      <a:srgbClr val="FFFFFF"/>
                    </a:solidFill>
                  </a:tcPr>
                </a:tc>
                <a:tc>
                  <a:txBody>
                    <a:bodyPr/>
                    <a:lstStyle/>
                    <a:p>
                      <a:pPr algn="l"/>
                      <a:r>
                        <a:rPr sz="1100" b="1">
                          <a:solidFill>
                            <a:srgbClr val="2E7D32"/>
                          </a:solidFill>
                          <a:latin typeface="Calibri"/>
                        </a:rPr>
                        <a:t>▲ 12.3%</a:t>
                      </a:r>
                      <a:endParaRPr sz="1100"/>
                    </a:p>
                  </a:txBody>
                  <a:tcPr marL="47625" marR="38100" marT="19050" marB="19050" anchor="ctr">
                    <a:solidFill>
                      <a:srgbClr val="FFFFFF"/>
                    </a:solidFill>
                  </a:tcPr>
                </a:tc>
                <a:tc>
                  <a:txBody>
                    <a:bodyPr/>
                    <a:lstStyle/>
                    <a:p>
                      <a:pPr algn="l"/>
                      <a:r>
                        <a:rPr sz="1100" b="1">
                          <a:solidFill>
                            <a:srgbClr val="2E7D32"/>
                          </a:solidFill>
                          <a:latin typeface="Calibri"/>
                        </a:rPr>
                        <a:t>▲ 11.9%</a:t>
                      </a:r>
                      <a:endParaRPr sz="1100"/>
                    </a:p>
                  </a:txBody>
                  <a:tcPr marL="47625" marR="38100" marT="19050" marB="19050" anchor="ctr">
                    <a:solidFill>
                      <a:srgbClr val="FFFFFF"/>
                    </a:solidFill>
                  </a:tcPr>
                </a:tc>
                <a:tc>
                  <a:txBody>
                    <a:bodyPr/>
                    <a:lstStyle/>
                    <a:p>
                      <a:pPr algn="l"/>
                      <a:r>
                        <a:rPr sz="1100" b="1">
                          <a:solidFill>
                            <a:srgbClr val="2E7D32"/>
                          </a:solidFill>
                          <a:latin typeface="Calibri"/>
                        </a:rPr>
                        <a:t>▲ 11.6%</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16535">
                <a:tc>
                  <a:txBody>
                    <a:bodyPr/>
                    <a:lstStyle/>
                    <a:p>
                      <a:pPr algn="l"/>
                      <a:r>
                        <a:rPr sz="1100" b="1">
                          <a:solidFill>
                            <a:srgbClr val="2E2E2E"/>
                          </a:solidFill>
                          <a:latin typeface="Calibri"/>
                        </a:rPr>
                        <a:t>Amazon / Online Marketplaces</a:t>
                      </a:r>
                      <a:endParaRPr sz="1100"/>
                    </a:p>
                  </a:txBody>
                  <a:tcPr marL="47625" marR="38100" marT="19050" marB="19050" anchor="ctr">
                    <a:solidFill>
                      <a:srgbClr val="F5F8FA"/>
                    </a:solidFill>
                  </a:tcPr>
                </a:tc>
                <a:tc>
                  <a:txBody>
                    <a:bodyPr/>
                    <a:lstStyle/>
                    <a:p>
                      <a:pPr algn="l"/>
                      <a:r>
                        <a:rPr sz="1100" b="1">
                          <a:solidFill>
                            <a:srgbClr val="2E7D32"/>
                          </a:solidFill>
                          <a:latin typeface="Calibri"/>
                        </a:rPr>
                        <a:t>▲ 7.6%</a:t>
                      </a:r>
                      <a:endParaRPr sz="1100"/>
                    </a:p>
                  </a:txBody>
                  <a:tcPr marL="47625" marR="38100" marT="19050" marB="19050" anchor="ctr">
                    <a:solidFill>
                      <a:srgbClr val="F5F8FA"/>
                    </a:solidFill>
                  </a:tcPr>
                </a:tc>
                <a:tc>
                  <a:txBody>
                    <a:bodyPr/>
                    <a:lstStyle/>
                    <a:p>
                      <a:pPr algn="l"/>
                      <a:r>
                        <a:rPr sz="1100" b="1">
                          <a:solidFill>
                            <a:srgbClr val="2E7D32"/>
                          </a:solidFill>
                          <a:latin typeface="Calibri"/>
                        </a:rPr>
                        <a:t>▲ 7.3%</a:t>
                      </a:r>
                      <a:endParaRPr sz="1100"/>
                    </a:p>
                  </a:txBody>
                  <a:tcPr marL="47625" marR="38100" marT="19050" marB="19050" anchor="ctr">
                    <a:solidFill>
                      <a:srgbClr val="F5F8FA"/>
                    </a:solidFill>
                  </a:tcPr>
                </a:tc>
                <a:tc>
                  <a:txBody>
                    <a:bodyPr/>
                    <a:lstStyle/>
                    <a:p>
                      <a:pPr algn="l"/>
                      <a:r>
                        <a:rPr sz="1100" b="1">
                          <a:solidFill>
                            <a:srgbClr val="2E7D32"/>
                          </a:solidFill>
                          <a:latin typeface="Calibri"/>
                        </a:rPr>
                        <a:t>▲ 6.9%</a:t>
                      </a:r>
                      <a:endParaRPr sz="1100"/>
                    </a:p>
                  </a:txBody>
                  <a:tcPr marL="47625" marR="38100" marT="19050" marB="19050" anchor="ctr">
                    <a:solidFill>
                      <a:srgbClr val="F5F8FA"/>
                    </a:solidFill>
                  </a:tcPr>
                </a:tc>
                <a:tc>
                  <a:txBody>
                    <a:bodyPr/>
                    <a:lstStyle/>
                    <a:p>
                      <a:pPr algn="l"/>
                      <a:r>
                        <a:rPr sz="1100" b="1">
                          <a:solidFill>
                            <a:srgbClr val="2E7D32"/>
                          </a:solidFill>
                          <a:latin typeface="Calibri"/>
                        </a:rPr>
                        <a:t>▲ 6.7%</a:t>
                      </a:r>
                      <a:endParaRPr sz="1100"/>
                    </a:p>
                  </a:txBody>
                  <a:tcPr marL="47625" marR="38100" marT="19050" marB="19050" anchor="ctr">
                    <a:solidFill>
                      <a:srgbClr val="F5F8FA"/>
                    </a:solidFill>
                  </a:tcPr>
                </a:tc>
                <a:tc>
                  <a:txBody>
                    <a:bodyPr/>
                    <a:lstStyle/>
                    <a:p>
                      <a:pPr algn="l"/>
                      <a:r>
                        <a:rPr sz="1100" b="1">
                          <a:solidFill>
                            <a:srgbClr val="2E7D32"/>
                          </a:solidFill>
                          <a:latin typeface="Calibri"/>
                        </a:rPr>
                        <a:t>▲ 7.2%</a:t>
                      </a:r>
                      <a:endParaRPr sz="1100"/>
                    </a:p>
                  </a:txBody>
                  <a:tcPr marL="47625" marR="38100" marT="19050" marB="19050" anchor="ctr">
                    <a:solidFill>
                      <a:srgbClr val="F5F8FA"/>
                    </a:solidFill>
                  </a:tcPr>
                </a:tc>
                <a:tc>
                  <a:txBody>
                    <a:bodyPr/>
                    <a:lstStyle/>
                    <a:p>
                      <a:pPr algn="l"/>
                      <a:r>
                        <a:rPr sz="1100" b="1">
                          <a:solidFill>
                            <a:srgbClr val="2E7D32"/>
                          </a:solidFill>
                          <a:latin typeface="Calibri"/>
                        </a:rPr>
                        <a:t>▲ 7.6%</a:t>
                      </a:r>
                      <a:endParaRPr sz="1100"/>
                    </a:p>
                  </a:txBody>
                  <a:tcPr marL="47625" marR="38100" marT="19050" marB="19050" anchor="ctr">
                    <a:solidFill>
                      <a:srgbClr val="F5F8FA"/>
                    </a:solidFill>
                  </a:tcPr>
                </a:tc>
                <a:tc>
                  <a:txBody>
                    <a:bodyPr/>
                    <a:lstStyle/>
                    <a:p>
                      <a:pPr algn="l"/>
                      <a:r>
                        <a:rPr sz="1100" b="1">
                          <a:solidFill>
                            <a:srgbClr val="2E7D32"/>
                          </a:solidFill>
                          <a:latin typeface="Calibri"/>
                        </a:rPr>
                        <a:t>▲ 8.2%</a:t>
                      </a:r>
                      <a:endParaRPr sz="1100"/>
                    </a:p>
                  </a:txBody>
                  <a:tcPr marL="47625" marR="38100" marT="19050" marB="19050" anchor="ctr">
                    <a:solidFill>
                      <a:srgbClr val="F5F8FA"/>
                    </a:solidFill>
                  </a:tcPr>
                </a:tc>
                <a:tc>
                  <a:txBody>
                    <a:bodyPr/>
                    <a:lstStyle/>
                    <a:p>
                      <a:pPr algn="l"/>
                      <a:r>
                        <a:rPr sz="1100" b="1">
                          <a:solidFill>
                            <a:srgbClr val="2E7D32"/>
                          </a:solidFill>
                          <a:latin typeface="Calibri"/>
                        </a:rPr>
                        <a:t>▲ 8.9%</a:t>
                      </a:r>
                      <a:endParaRPr sz="1100"/>
                    </a:p>
                  </a:txBody>
                  <a:tcPr marL="47625" marR="38100" marT="19050" marB="19050" anchor="ctr">
                    <a:solidFill>
                      <a:srgbClr val="F5F8FA"/>
                    </a:solidFill>
                  </a:tcPr>
                </a:tc>
                <a:tc>
                  <a:txBody>
                    <a:bodyPr/>
                    <a:lstStyle/>
                    <a:p>
                      <a:pPr algn="l"/>
                      <a:r>
                        <a:rPr sz="1100" b="1">
                          <a:solidFill>
                            <a:srgbClr val="2E7D32"/>
                          </a:solidFill>
                          <a:latin typeface="Calibri"/>
                        </a:rPr>
                        <a:t>▲ 9.3%</a:t>
                      </a:r>
                      <a:endParaRPr sz="1100"/>
                    </a:p>
                  </a:txBody>
                  <a:tcPr marL="47625" marR="38100" marT="19050" marB="19050" anchor="ctr">
                    <a:solidFill>
                      <a:srgbClr val="F5F8FA"/>
                    </a:solidFill>
                  </a:tcPr>
                </a:tc>
                <a:tc>
                  <a:txBody>
                    <a:bodyPr/>
                    <a:lstStyle/>
                    <a:p>
                      <a:pPr algn="l"/>
                      <a:r>
                        <a:rPr sz="1100" b="1">
                          <a:solidFill>
                            <a:srgbClr val="2E7D32"/>
                          </a:solidFill>
                          <a:latin typeface="Calibri"/>
                        </a:rPr>
                        <a:t>▲ 9.3%</a:t>
                      </a:r>
                      <a:endParaRPr sz="1100"/>
                    </a:p>
                  </a:txBody>
                  <a:tcPr marL="47625" marR="38100" marT="19050" marB="19050" anchor="ctr">
                    <a:solidFill>
                      <a:srgbClr val="F5F8FA"/>
                    </a:solidFill>
                  </a:tcPr>
                </a:tc>
                <a:tc>
                  <a:txBody>
                    <a:bodyPr/>
                    <a:lstStyle/>
                    <a:p>
                      <a:pPr algn="l"/>
                      <a:r>
                        <a:rPr sz="1100" b="1">
                          <a:solidFill>
                            <a:srgbClr val="2E7D32"/>
                          </a:solidFill>
                          <a:latin typeface="Calibri"/>
                        </a:rPr>
                        <a:t>▲ 9.1%</a:t>
                      </a:r>
                      <a:endParaRPr sz="1100"/>
                    </a:p>
                  </a:txBody>
                  <a:tcPr marL="47625" marR="38100" marT="19050" marB="19050" anchor="ctr">
                    <a:solidFill>
                      <a:srgbClr val="F5F8FA"/>
                    </a:solidFill>
                  </a:tcPr>
                </a:tc>
                <a:tc>
                  <a:txBody>
                    <a:bodyPr/>
                    <a:lstStyle/>
                    <a:p>
                      <a:pPr algn="l"/>
                      <a:r>
                        <a:rPr sz="1100" b="1">
                          <a:solidFill>
                            <a:srgbClr val="2E7D32"/>
                          </a:solidFill>
                          <a:latin typeface="Calibri"/>
                        </a:rPr>
                        <a:t>▲ 8.9%</a:t>
                      </a:r>
                      <a:endParaRPr sz="1100"/>
                    </a:p>
                  </a:txBody>
                  <a:tcPr marL="47625" marR="38100" marT="19050" marB="19050" anchor="ctr">
                    <a:solidFill>
                      <a:srgbClr val="F5F8FA"/>
                    </a:solidFill>
                  </a:tcPr>
                </a:tc>
                <a:tc>
                  <a:txBody>
                    <a:bodyPr/>
                    <a:lstStyle/>
                    <a:p>
                      <a:pPr algn="l"/>
                      <a:r>
                        <a:rPr sz="1100" b="1">
                          <a:solidFill>
                            <a:srgbClr val="2E7D32"/>
                          </a:solidFill>
                          <a:latin typeface="Calibri"/>
                        </a:rPr>
                        <a:t>▲ 8.6%</a:t>
                      </a:r>
                      <a:endParaRPr sz="1100"/>
                    </a:p>
                  </a:txBody>
                  <a:tcPr marL="47625" marR="38100" marT="19050" marB="19050" anchor="ctr">
                    <a:solidFill>
                      <a:srgbClr val="F5F8FA"/>
                    </a:solidFill>
                  </a:tcPr>
                </a:tc>
                <a:tc>
                  <a:txBody>
                    <a:bodyPr/>
                    <a:lstStyle/>
                    <a:p>
                      <a:pPr algn="l"/>
                      <a:r>
                        <a:rPr sz="1100" b="1">
                          <a:solidFill>
                            <a:srgbClr val="2E7D32"/>
                          </a:solidFill>
                          <a:latin typeface="Calibri"/>
                        </a:rPr>
                        <a:t>▲ 8.4%</a:t>
                      </a:r>
                      <a:endParaRPr sz="1100"/>
                    </a:p>
                  </a:txBody>
                  <a:tcPr marL="47625" marR="38100" marT="19050" marB="19050" anchor="ctr">
                    <a:solidFill>
                      <a:srgbClr val="F5F8FA"/>
                    </a:solidFill>
                  </a:tcPr>
                </a:tc>
                <a:tc>
                  <a:txBody>
                    <a:bodyPr/>
                    <a:lstStyle/>
                    <a:p>
                      <a:pPr algn="l"/>
                      <a:r>
                        <a:rPr sz="1100" b="1">
                          <a:solidFill>
                            <a:srgbClr val="2E7D32"/>
                          </a:solidFill>
                          <a:latin typeface="Calibri"/>
                        </a:rPr>
                        <a:t>▲ 8.3%</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16535">
                <a:tc>
                  <a:txBody>
                    <a:bodyPr/>
                    <a:lstStyle/>
                    <a:p>
                      <a:pPr algn="l"/>
                      <a:r>
                        <a:rPr sz="1100" b="1">
                          <a:solidFill>
                            <a:srgbClr val="2E2E2E"/>
                          </a:solidFill>
                          <a:latin typeface="Calibri"/>
                        </a:rPr>
                        <a:t>Mass Retail</a:t>
                      </a:r>
                      <a:endParaRPr sz="1100"/>
                    </a:p>
                  </a:txBody>
                  <a:tcPr marL="47625" marR="38100" marT="19050" marB="19050" anchor="ctr">
                    <a:solidFill>
                      <a:srgbClr val="FFFFFF"/>
                    </a:solidFill>
                  </a:tcPr>
                </a:tc>
                <a:tc>
                  <a:txBody>
                    <a:bodyPr/>
                    <a:lstStyle/>
                    <a:p>
                      <a:pPr algn="l"/>
                      <a:r>
                        <a:rPr sz="1100" b="1">
                          <a:solidFill>
                            <a:srgbClr val="A86F00"/>
                          </a:solidFill>
                          <a:latin typeface="Calibri"/>
                        </a:rPr>
                        <a:t>▶ 3.7%</a:t>
                      </a:r>
                      <a:endParaRPr sz="1100"/>
                    </a:p>
                  </a:txBody>
                  <a:tcPr marL="47625" marR="38100" marT="19050" marB="19050" anchor="ctr">
                    <a:solidFill>
                      <a:srgbClr val="FFFFFF"/>
                    </a:solidFill>
                  </a:tcPr>
                </a:tc>
                <a:tc>
                  <a:txBody>
                    <a:bodyPr/>
                    <a:lstStyle/>
                    <a:p>
                      <a:pPr algn="l"/>
                      <a:r>
                        <a:rPr sz="1100" b="1">
                          <a:solidFill>
                            <a:srgbClr val="A86F00"/>
                          </a:solidFill>
                          <a:latin typeface="Calibri"/>
                        </a:rPr>
                        <a:t>▶ 3.9%</a:t>
                      </a:r>
                      <a:endParaRPr sz="1100"/>
                    </a:p>
                  </a:txBody>
                  <a:tcPr marL="47625" marR="38100" marT="19050" marB="19050" anchor="ctr">
                    <a:solidFill>
                      <a:srgbClr val="FFFFFF"/>
                    </a:solidFill>
                  </a:tcPr>
                </a:tc>
                <a:tc>
                  <a:txBody>
                    <a:bodyPr/>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a:lstStyle/>
                    <a:p>
                      <a:pPr algn="l"/>
                      <a:r>
                        <a:rPr sz="1100" b="1">
                          <a:solidFill>
                            <a:srgbClr val="A86F00"/>
                          </a:solidFill>
                          <a:latin typeface="Calibri"/>
                        </a:rPr>
                        <a:t>▶ 4.0%</a:t>
                      </a:r>
                      <a:endParaRPr sz="1100"/>
                    </a:p>
                  </a:txBody>
                  <a:tcPr marL="47625" marR="38100" marT="19050" marB="19050" anchor="ctr">
                    <a:solidFill>
                      <a:srgbClr val="FFFFFF"/>
                    </a:solidFill>
                  </a:tcPr>
                </a:tc>
                <a:tc>
                  <a:txBody>
                    <a:bodyPr/>
                    <a:lstStyle/>
                    <a:p>
                      <a:pPr algn="l"/>
                      <a:r>
                        <a:rPr sz="1100" b="1">
                          <a:solidFill>
                            <a:srgbClr val="A86F00"/>
                          </a:solidFill>
                          <a:latin typeface="Calibri"/>
                        </a:rPr>
                        <a:t>▶ 3.8%</a:t>
                      </a:r>
                      <a:endParaRPr sz="1100"/>
                    </a:p>
                  </a:txBody>
                  <a:tcPr marL="47625" marR="38100" marT="19050" marB="19050" anchor="ctr">
                    <a:solidFill>
                      <a:srgbClr val="FFFFFF"/>
                    </a:solidFill>
                  </a:tcPr>
                </a:tc>
                <a:tc>
                  <a:txBody>
                    <a:bodyPr/>
                    <a:lstStyle/>
                    <a:p>
                      <a:pPr algn="l"/>
                      <a:r>
                        <a:rPr sz="1100" b="1">
                          <a:solidFill>
                            <a:srgbClr val="A86F00"/>
                          </a:solidFill>
                          <a:latin typeface="Calibri"/>
                        </a:rPr>
                        <a:t>▶ 3.8%</a:t>
                      </a:r>
                      <a:endParaRPr sz="1100"/>
                    </a:p>
                  </a:txBody>
                  <a:tcPr marL="47625" marR="38100" marT="19050" marB="19050" anchor="ctr">
                    <a:solidFill>
                      <a:srgbClr val="FFFFFF"/>
                    </a:solidFill>
                  </a:tcPr>
                </a:tc>
                <a:tc>
                  <a:txBody>
                    <a:bodyPr/>
                    <a:lstStyle/>
                    <a:p>
                      <a:pPr algn="l"/>
                      <a:r>
                        <a:rPr sz="1100" b="1">
                          <a:solidFill>
                            <a:srgbClr val="A86F00"/>
                          </a:solidFill>
                          <a:latin typeface="Calibri"/>
                        </a:rPr>
                        <a:t>▶ 3.9%</a:t>
                      </a:r>
                      <a:endParaRPr sz="1100"/>
                    </a:p>
                  </a:txBody>
                  <a:tcPr marL="47625" marR="38100" marT="19050" marB="19050" anchor="ctr">
                    <a:solidFill>
                      <a:srgbClr val="FFFFFF"/>
                    </a:solidFill>
                  </a:tcPr>
                </a:tc>
                <a:tc>
                  <a:txBody>
                    <a:bodyPr/>
                    <a:lstStyle/>
                    <a:p>
                      <a:pPr algn="l"/>
                      <a:r>
                        <a:rPr sz="1100" b="1">
                          <a:solidFill>
                            <a:srgbClr val="A86F00"/>
                          </a:solidFill>
                          <a:latin typeface="Calibri"/>
                        </a:rPr>
                        <a:t>▶ 4.1%</a:t>
                      </a:r>
                      <a:endParaRPr sz="1100"/>
                    </a:p>
                  </a:txBody>
                  <a:tcPr marL="47625" marR="38100" marT="19050" marB="19050" anchor="ctr">
                    <a:solidFill>
                      <a:srgbClr val="FFFFFF"/>
                    </a:solidFill>
                  </a:tcPr>
                </a:tc>
                <a:tc>
                  <a:txBody>
                    <a:bodyPr/>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a:lstStyle/>
                    <a:p>
                      <a:pPr algn="l"/>
                      <a:r>
                        <a:rPr sz="1100" b="1">
                          <a:solidFill>
                            <a:srgbClr val="A86F00"/>
                          </a:solidFill>
                          <a:latin typeface="Calibri"/>
                        </a:rPr>
                        <a:t>▶ 4.4%</a:t>
                      </a:r>
                      <a:endParaRPr sz="1100"/>
                    </a:p>
                  </a:txBody>
                  <a:tcPr marL="47625" marR="38100" marT="19050" marB="19050" anchor="ctr">
                    <a:solidFill>
                      <a:srgbClr val="FFFFFF"/>
                    </a:solidFill>
                  </a:tcPr>
                </a:tc>
                <a:tc>
                  <a:txBody>
                    <a:bodyPr/>
                    <a:lstStyle/>
                    <a:p>
                      <a:pPr algn="l"/>
                      <a:r>
                        <a:rPr sz="1100" b="1">
                          <a:solidFill>
                            <a:srgbClr val="A86F00"/>
                          </a:solidFill>
                          <a:latin typeface="Calibri"/>
                        </a:rPr>
                        <a:t>▶ 4.3%</a:t>
                      </a:r>
                      <a:endParaRPr sz="1100"/>
                    </a:p>
                  </a:txBody>
                  <a:tcPr marL="47625" marR="38100" marT="19050" marB="19050" anchor="ctr">
                    <a:solidFill>
                      <a:srgbClr val="FFFFFF"/>
                    </a:solidFill>
                  </a:tcPr>
                </a:tc>
                <a:tc>
                  <a:txBody>
                    <a:bodyPr/>
                    <a:lstStyle/>
                    <a:p>
                      <a:pPr algn="l"/>
                      <a:r>
                        <a:rPr sz="1100" b="1">
                          <a:solidFill>
                            <a:srgbClr val="A86F00"/>
                          </a:solidFill>
                          <a:latin typeface="Calibri"/>
                        </a:rPr>
                        <a:t>▶ 4.2%</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16535">
                <a:tc>
                  <a:txBody>
                    <a:bodyPr/>
                    <a:lstStyle/>
                    <a:p>
                      <a:pPr algn="l"/>
                      <a:r>
                        <a:rPr sz="1100" b="1">
                          <a:solidFill>
                            <a:srgbClr val="2E2E2E"/>
                          </a:solidFill>
                          <a:latin typeface="Calibri"/>
                        </a:rPr>
                        <a:t>Pharmacy / Drugstores</a:t>
                      </a:r>
                      <a:endParaRPr sz="1100"/>
                    </a:p>
                  </a:txBody>
                  <a:tcPr marL="47625" marR="38100" marT="19050" marB="19050" anchor="ctr">
                    <a:solidFill>
                      <a:srgbClr val="F5F8FA"/>
                    </a:solidFill>
                  </a:tcPr>
                </a:tc>
                <a:tc>
                  <a:txBody>
                    <a:bodyPr/>
                    <a:lstStyle/>
                    <a:p>
                      <a:pPr algn="l"/>
                      <a:r>
                        <a:rPr sz="1100" b="1">
                          <a:solidFill>
                            <a:srgbClr val="A86F00"/>
                          </a:solidFill>
                          <a:latin typeface="Calibri"/>
                        </a:rPr>
                        <a:t>▶ 2.1%</a:t>
                      </a:r>
                      <a:endParaRPr sz="1100"/>
                    </a:p>
                  </a:txBody>
                  <a:tcPr marL="47625" marR="38100" marT="19050" marB="19050" anchor="ctr">
                    <a:solidFill>
                      <a:srgbClr val="F5F8FA"/>
                    </a:solidFill>
                  </a:tcPr>
                </a:tc>
                <a:tc>
                  <a:txBody>
                    <a:bodyPr/>
                    <a:lstStyle/>
                    <a:p>
                      <a:pPr algn="l"/>
                      <a:r>
                        <a:rPr sz="1100" b="1">
                          <a:solidFill>
                            <a:srgbClr val="A86F00"/>
                          </a:solidFill>
                          <a:latin typeface="Calibri"/>
                        </a:rPr>
                        <a:t>▶ 2.1%</a:t>
                      </a:r>
                      <a:endParaRPr sz="1100"/>
                    </a:p>
                  </a:txBody>
                  <a:tcPr marL="47625" marR="38100" marT="19050" marB="19050" anchor="ctr">
                    <a:solidFill>
                      <a:srgbClr val="F5F8FA"/>
                    </a:solidFill>
                  </a:tcPr>
                </a:tc>
                <a:tc>
                  <a:txBody>
                    <a:bodyPr/>
                    <a:lstStyle/>
                    <a:p>
                      <a:pPr algn="l"/>
                      <a:r>
                        <a:rPr sz="1100" b="1">
                          <a:solidFill>
                            <a:srgbClr val="A86F00"/>
                          </a:solidFill>
                          <a:latin typeface="Calibri"/>
                        </a:rPr>
                        <a:t>▶ 2.2%</a:t>
                      </a:r>
                      <a:endParaRPr sz="1100"/>
                    </a:p>
                  </a:txBody>
                  <a:tcPr marL="47625" marR="38100" marT="19050" marB="19050" anchor="ctr">
                    <a:solidFill>
                      <a:srgbClr val="F5F8FA"/>
                    </a:solidFill>
                  </a:tcPr>
                </a:tc>
                <a:tc>
                  <a:txBody>
                    <a:bodyPr/>
                    <a:lstStyle/>
                    <a:p>
                      <a:pPr algn="l"/>
                      <a:r>
                        <a:rPr sz="1100" b="1">
                          <a:solidFill>
                            <a:srgbClr val="A86F00"/>
                          </a:solidFill>
                          <a:latin typeface="Calibri"/>
                        </a:rPr>
                        <a:t>▶ 2.2%</a:t>
                      </a:r>
                      <a:endParaRPr sz="1100"/>
                    </a:p>
                  </a:txBody>
                  <a:tcPr marL="47625" marR="38100" marT="19050" marB="19050" anchor="ctr">
                    <a:solidFill>
                      <a:srgbClr val="F5F8FA"/>
                    </a:solidFill>
                  </a:tcPr>
                </a:tc>
                <a:tc>
                  <a:txBody>
                    <a:bodyPr/>
                    <a:lstStyle/>
                    <a:p>
                      <a:pPr algn="l"/>
                      <a:r>
                        <a:rPr sz="1100" b="1">
                          <a:solidFill>
                            <a:srgbClr val="A86F00"/>
                          </a:solidFill>
                          <a:latin typeface="Calibri"/>
                        </a:rPr>
                        <a:t>▶ 2.3%</a:t>
                      </a:r>
                      <a:endParaRPr sz="1100"/>
                    </a:p>
                  </a:txBody>
                  <a:tcPr marL="47625" marR="38100" marT="19050" marB="19050" anchor="ctr">
                    <a:solidFill>
                      <a:srgbClr val="F5F8FA"/>
                    </a:solidFill>
                  </a:tcPr>
                </a:tc>
                <a:tc>
                  <a:txBody>
                    <a:bodyPr/>
                    <a:lstStyle/>
                    <a:p>
                      <a:pPr algn="l"/>
                      <a:r>
                        <a:rPr sz="1100" b="1">
                          <a:solidFill>
                            <a:srgbClr val="A86F00"/>
                          </a:solidFill>
                          <a:latin typeface="Calibri"/>
                        </a:rPr>
                        <a:t>▶ 2.3%</a:t>
                      </a:r>
                      <a:endParaRPr sz="1100"/>
                    </a:p>
                  </a:txBody>
                  <a:tcPr marL="47625" marR="38100" marT="19050" marB="19050" anchor="ctr">
                    <a:solidFill>
                      <a:srgbClr val="F5F8FA"/>
                    </a:solidFill>
                  </a:tcPr>
                </a:tc>
                <a:tc>
                  <a:txBody>
                    <a:bodyPr/>
                    <a:lstStyle/>
                    <a:p>
                      <a:pPr algn="l"/>
                      <a:r>
                        <a:rPr sz="1100" b="1">
                          <a:solidFill>
                            <a:srgbClr val="A86F00"/>
                          </a:solidFill>
                          <a:latin typeface="Calibri"/>
                        </a:rPr>
                        <a:t>▶ 2.2%</a:t>
                      </a:r>
                      <a:endParaRPr sz="1100"/>
                    </a:p>
                  </a:txBody>
                  <a:tcPr marL="47625" marR="38100" marT="19050" marB="19050" anchor="ctr">
                    <a:solidFill>
                      <a:srgbClr val="F5F8FA"/>
                    </a:solidFill>
                  </a:tcPr>
                </a:tc>
                <a:tc>
                  <a:txBody>
                    <a:bodyPr/>
                    <a:lstStyle/>
                    <a:p>
                      <a:pPr algn="l"/>
                      <a:r>
                        <a:rPr sz="1100" b="1">
                          <a:solidFill>
                            <a:srgbClr val="A86F00"/>
                          </a:solidFill>
                          <a:latin typeface="Calibri"/>
                        </a:rPr>
                        <a:t>▶ 2.0%</a:t>
                      </a:r>
                      <a:endParaRPr sz="1100"/>
                    </a:p>
                  </a:txBody>
                  <a:tcPr marL="47625" marR="38100" marT="19050" marB="19050" anchor="ctr">
                    <a:solidFill>
                      <a:srgbClr val="F5F8FA"/>
                    </a:solidFill>
                  </a:tcPr>
                </a:tc>
                <a:tc>
                  <a:txBody>
                    <a:bodyPr/>
                    <a:lstStyle/>
                    <a:p>
                      <a:pPr algn="l"/>
                      <a:r>
                        <a:rPr sz="1100" b="1">
                          <a:solidFill>
                            <a:srgbClr val="A86F00"/>
                          </a:solidFill>
                          <a:latin typeface="Calibri"/>
                        </a:rPr>
                        <a:t>▶ 1.8%</a:t>
                      </a:r>
                      <a:endParaRPr sz="1100"/>
                    </a:p>
                  </a:txBody>
                  <a:tcPr marL="47625" marR="38100" marT="19050" marB="19050" anchor="ctr">
                    <a:solidFill>
                      <a:srgbClr val="F5F8FA"/>
                    </a:solidFill>
                  </a:tcPr>
                </a:tc>
                <a:tc>
                  <a:txBody>
                    <a:bodyPr/>
                    <a:lstStyle/>
                    <a:p>
                      <a:pPr algn="l"/>
                      <a:r>
                        <a:rPr sz="1100" b="1">
                          <a:solidFill>
                            <a:srgbClr val="A86F00"/>
                          </a:solidFill>
                          <a:latin typeface="Calibri"/>
                        </a:rPr>
                        <a:t>▶ 1.7%</a:t>
                      </a:r>
                      <a:endParaRPr sz="1100"/>
                    </a:p>
                  </a:txBody>
                  <a:tcPr marL="47625" marR="38100" marT="19050" marB="19050" anchor="ctr">
                    <a:solidFill>
                      <a:srgbClr val="F5F8FA"/>
                    </a:solidFill>
                  </a:tcPr>
                </a:tc>
                <a:tc>
                  <a:txBody>
                    <a:bodyPr/>
                    <a:lstStyle/>
                    <a:p>
                      <a:pPr algn="l"/>
                      <a:r>
                        <a:rPr sz="1100" b="1">
                          <a:solidFill>
                            <a:srgbClr val="A86F00"/>
                          </a:solidFill>
                          <a:latin typeface="Calibri"/>
                        </a:rPr>
                        <a:t>▶ 1.9%</a:t>
                      </a:r>
                      <a:endParaRPr sz="1100"/>
                    </a:p>
                  </a:txBody>
                  <a:tcPr marL="47625" marR="38100" marT="19050" marB="19050" anchor="ctr">
                    <a:solidFill>
                      <a:srgbClr val="F5F8FA"/>
                    </a:solidFill>
                  </a:tcPr>
                </a:tc>
                <a:tc>
                  <a:txBody>
                    <a:bodyPr/>
                    <a:lstStyle/>
                    <a:p>
                      <a:pPr algn="l"/>
                      <a:r>
                        <a:rPr sz="1100" b="1">
                          <a:solidFill>
                            <a:srgbClr val="A86F00"/>
                          </a:solidFill>
                          <a:latin typeface="Calibri"/>
                        </a:rPr>
                        <a:t>▶ 2.1%</a:t>
                      </a:r>
                      <a:endParaRPr sz="1100"/>
                    </a:p>
                  </a:txBody>
                  <a:tcPr marL="47625" marR="38100" marT="19050" marB="19050" anchor="ctr">
                    <a:solidFill>
                      <a:srgbClr val="F5F8FA"/>
                    </a:solidFill>
                  </a:tcPr>
                </a:tc>
                <a:tc>
                  <a:txBody>
                    <a:bodyPr/>
                    <a:lstStyle/>
                    <a:p>
                      <a:pPr algn="l"/>
                      <a:r>
                        <a:rPr sz="1100" b="1">
                          <a:solidFill>
                            <a:srgbClr val="A86F00"/>
                          </a:solidFill>
                          <a:latin typeface="Calibri"/>
                        </a:rPr>
                        <a:t>▶ 2.2%</a:t>
                      </a:r>
                      <a:endParaRPr sz="1100"/>
                    </a:p>
                  </a:txBody>
                  <a:tcPr marL="47625" marR="38100" marT="19050" marB="19050" anchor="ctr">
                    <a:solidFill>
                      <a:srgbClr val="F5F8FA"/>
                    </a:solidFill>
                  </a:tcPr>
                </a:tc>
                <a:tc>
                  <a:txBody>
                    <a:bodyPr/>
                    <a:lstStyle/>
                    <a:p>
                      <a:pPr algn="l"/>
                      <a:r>
                        <a:rPr sz="1100" b="1">
                          <a:solidFill>
                            <a:srgbClr val="A86F00"/>
                          </a:solidFill>
                          <a:latin typeface="Calibri"/>
                        </a:rPr>
                        <a:t>▶ 2.1%</a:t>
                      </a:r>
                      <a:endParaRPr sz="1100"/>
                    </a:p>
                  </a:txBody>
                  <a:tcPr marL="47625" marR="38100" marT="19050" marB="19050" anchor="ctr">
                    <a:solidFill>
                      <a:srgbClr val="F5F8FA"/>
                    </a:solidFill>
                  </a:tcPr>
                </a:tc>
                <a:tc>
                  <a:txBody>
                    <a:bodyPr/>
                    <a:lstStyle/>
                    <a:p>
                      <a:pPr algn="l"/>
                      <a:r>
                        <a:rPr sz="1100" b="1">
                          <a:solidFill>
                            <a:srgbClr val="A86F00"/>
                          </a:solidFill>
                          <a:latin typeface="Calibri"/>
                        </a:rPr>
                        <a:t>▶ 2.1%</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16535">
                <a:tc>
                  <a:txBody>
                    <a:bodyPr/>
                    <a:lstStyle/>
                    <a:p>
                      <a:pPr algn="l"/>
                      <a:r>
                        <a:rPr sz="1100" b="1">
                          <a:solidFill>
                            <a:srgbClr val="2E2E2E"/>
                          </a:solidFill>
                          <a:latin typeface="Calibri"/>
                        </a:rPr>
                        <a:t>Specialty Health &amp; Wellness Retail</a:t>
                      </a:r>
                      <a:endParaRPr sz="1100"/>
                    </a:p>
                  </a:txBody>
                  <a:tcPr marL="47625" marR="38100" marT="19050" marB="19050" anchor="ctr">
                    <a:solidFill>
                      <a:srgbClr val="FFFFFF"/>
                    </a:solidFill>
                  </a:tcPr>
                </a:tc>
                <a:tc>
                  <a:txBody>
                    <a:bodyPr/>
                    <a:lstStyle/>
                    <a:p>
                      <a:pPr algn="l"/>
                      <a:r>
                        <a:rPr sz="1100" b="1">
                          <a:solidFill>
                            <a:srgbClr val="2E7D32"/>
                          </a:solidFill>
                          <a:latin typeface="Calibri"/>
                        </a:rPr>
                        <a:t>▲ 5.8%</a:t>
                      </a:r>
                      <a:endParaRPr sz="1100"/>
                    </a:p>
                  </a:txBody>
                  <a:tcPr marL="47625" marR="38100" marT="19050" marB="19050" anchor="ctr">
                    <a:solidFill>
                      <a:srgbClr val="FFFFFF"/>
                    </a:solidFill>
                  </a:tcPr>
                </a:tc>
                <a:tc>
                  <a:txBody>
                    <a:bodyPr/>
                    <a:lstStyle/>
                    <a:p>
                      <a:pPr algn="l"/>
                      <a:r>
                        <a:rPr sz="1100" b="1">
                          <a:solidFill>
                            <a:srgbClr val="2E7D32"/>
                          </a:solidFill>
                          <a:latin typeface="Calibri"/>
                        </a:rPr>
                        <a:t>▲ 5.5%</a:t>
                      </a:r>
                      <a:endParaRPr sz="1100"/>
                    </a:p>
                  </a:txBody>
                  <a:tcPr marL="47625" marR="38100" marT="19050" marB="19050" anchor="ctr">
                    <a:solidFill>
                      <a:srgbClr val="FFFFFF"/>
                    </a:solidFill>
                  </a:tcPr>
                </a:tc>
                <a:tc>
                  <a:txBody>
                    <a:bodyPr/>
                    <a:lstStyle/>
                    <a:p>
                      <a:pPr algn="l"/>
                      <a:r>
                        <a:rPr sz="1100" b="1">
                          <a:solidFill>
                            <a:srgbClr val="2E7D32"/>
                          </a:solidFill>
                          <a:latin typeface="Calibri"/>
                        </a:rPr>
                        <a:t>▲ 5.2%</a:t>
                      </a:r>
                      <a:endParaRPr sz="1100"/>
                    </a:p>
                  </a:txBody>
                  <a:tcPr marL="47625" marR="38100" marT="19050" marB="19050" anchor="ctr">
                    <a:solidFill>
                      <a:srgbClr val="FFFFFF"/>
                    </a:solidFill>
                  </a:tcPr>
                </a:tc>
                <a:tc>
                  <a:txBody>
                    <a:bodyPr/>
                    <a:lstStyle/>
                    <a:p>
                      <a:pPr algn="l"/>
                      <a:r>
                        <a:rPr sz="1100" b="1">
                          <a:solidFill>
                            <a:srgbClr val="2E7D32"/>
                          </a:solidFill>
                          <a:latin typeface="Calibri"/>
                        </a:rPr>
                        <a:t>▲ 5.0%</a:t>
                      </a:r>
                      <a:endParaRPr sz="1100"/>
                    </a:p>
                  </a:txBody>
                  <a:tcPr marL="47625" marR="38100" marT="19050" marB="19050" anchor="ctr">
                    <a:solidFill>
                      <a:srgbClr val="FFFFFF"/>
                    </a:solidFill>
                  </a:tcPr>
                </a:tc>
                <a:tc>
                  <a:txBody>
                    <a:bodyPr/>
                    <a:lstStyle/>
                    <a:p>
                      <a:pPr algn="l"/>
                      <a:r>
                        <a:rPr sz="1100" b="1">
                          <a:solidFill>
                            <a:srgbClr val="2E7D32"/>
                          </a:solidFill>
                          <a:latin typeface="Calibri"/>
                        </a:rPr>
                        <a:t>▲ 5.3%</a:t>
                      </a:r>
                      <a:endParaRPr sz="1100"/>
                    </a:p>
                  </a:txBody>
                  <a:tcPr marL="47625" marR="38100" marT="19050" marB="19050" anchor="ctr">
                    <a:solidFill>
                      <a:srgbClr val="FFFFFF"/>
                    </a:solidFill>
                  </a:tcPr>
                </a:tc>
                <a:tc>
                  <a:txBody>
                    <a:bodyPr/>
                    <a:lstStyle/>
                    <a:p>
                      <a:pPr algn="l"/>
                      <a:r>
                        <a:rPr sz="1100" b="1">
                          <a:solidFill>
                            <a:srgbClr val="2E7D32"/>
                          </a:solidFill>
                          <a:latin typeface="Calibri"/>
                        </a:rPr>
                        <a:t>▲ 5.6%</a:t>
                      </a:r>
                      <a:endParaRPr sz="1100"/>
                    </a:p>
                  </a:txBody>
                  <a:tcPr marL="47625" marR="38100" marT="19050" marB="19050" anchor="ctr">
                    <a:solidFill>
                      <a:srgbClr val="FFFFFF"/>
                    </a:solidFill>
                  </a:tcPr>
                </a:tc>
                <a:tc>
                  <a:txBody>
                    <a:bodyPr/>
                    <a:lstStyle/>
                    <a:p>
                      <a:pPr algn="l"/>
                      <a:r>
                        <a:rPr sz="1100" b="1">
                          <a:solidFill>
                            <a:srgbClr val="2E7D32"/>
                          </a:solidFill>
                          <a:latin typeface="Calibri"/>
                        </a:rPr>
                        <a:t>▲ 6.1%</a:t>
                      </a:r>
                      <a:endParaRPr sz="1100"/>
                    </a:p>
                  </a:txBody>
                  <a:tcPr marL="47625" marR="38100" marT="19050" marB="19050" anchor="ctr">
                    <a:solidFill>
                      <a:srgbClr val="FFFFFF"/>
                    </a:solidFill>
                  </a:tcPr>
                </a:tc>
                <a:tc>
                  <a:txBody>
                    <a:bodyPr/>
                    <a:lstStyle/>
                    <a:p>
                      <a:pPr algn="l"/>
                      <a:r>
                        <a:rPr sz="1100" b="1">
                          <a:solidFill>
                            <a:srgbClr val="A86F00"/>
                          </a:solidFill>
                          <a:latin typeface="Calibri"/>
                        </a:rPr>
                        <a:t>▶ 6.2%</a:t>
                      </a:r>
                      <a:endParaRPr sz="1100"/>
                    </a:p>
                  </a:txBody>
                  <a:tcPr marL="47625" marR="38100" marT="19050" marB="19050" anchor="ctr">
                    <a:solidFill>
                      <a:srgbClr val="FFFFFF"/>
                    </a:solidFill>
                  </a:tcPr>
                </a:tc>
                <a:tc>
                  <a:txBody>
                    <a:bodyPr/>
                    <a:lstStyle/>
                    <a:p>
                      <a:pPr algn="l"/>
                      <a:r>
                        <a:rPr sz="1100" b="1">
                          <a:solidFill>
                            <a:srgbClr val="A86F00"/>
                          </a:solidFill>
                          <a:latin typeface="Calibri"/>
                        </a:rPr>
                        <a:t>▶ 6.0%</a:t>
                      </a:r>
                      <a:endParaRPr sz="1100"/>
                    </a:p>
                  </a:txBody>
                  <a:tcPr marL="47625" marR="38100" marT="19050" marB="19050" anchor="ctr">
                    <a:solidFill>
                      <a:srgbClr val="FFFFFF"/>
                    </a:solidFill>
                  </a:tcPr>
                </a:tc>
                <a:tc>
                  <a:txBody>
                    <a:bodyPr/>
                    <a:lstStyle/>
                    <a:p>
                      <a:pPr algn="l"/>
                      <a:r>
                        <a:rPr sz="1100" b="1">
                          <a:solidFill>
                            <a:srgbClr val="A86F00"/>
                          </a:solidFill>
                          <a:latin typeface="Calibri"/>
                        </a:rPr>
                        <a:t>▶ 5.8%</a:t>
                      </a:r>
                      <a:endParaRPr sz="1100"/>
                    </a:p>
                  </a:txBody>
                  <a:tcPr marL="47625" marR="38100" marT="19050" marB="19050" anchor="ctr">
                    <a:solidFill>
                      <a:srgbClr val="FFFFFF"/>
                    </a:solidFill>
                  </a:tcPr>
                </a:tc>
                <a:tc>
                  <a:txBody>
                    <a:bodyPr/>
                    <a:lstStyle/>
                    <a:p>
                      <a:pPr algn="l"/>
                      <a:r>
                        <a:rPr sz="1100" b="1">
                          <a:solidFill>
                            <a:srgbClr val="A86F00"/>
                          </a:solidFill>
                          <a:latin typeface="Calibri"/>
                        </a:rPr>
                        <a:t>▶ 5.9%</a:t>
                      </a:r>
                      <a:endParaRPr sz="1100"/>
                    </a:p>
                  </a:txBody>
                  <a:tcPr marL="47625" marR="38100" marT="19050" marB="19050" anchor="ctr">
                    <a:solidFill>
                      <a:srgbClr val="FFFFFF"/>
                    </a:solidFill>
                  </a:tcPr>
                </a:tc>
                <a:tc>
                  <a:txBody>
                    <a:bodyPr/>
                    <a:lstStyle/>
                    <a:p>
                      <a:pPr algn="l"/>
                      <a:r>
                        <a:rPr sz="1100" b="1">
                          <a:solidFill>
                            <a:srgbClr val="A86F00"/>
                          </a:solidFill>
                          <a:latin typeface="Calibri"/>
                        </a:rPr>
                        <a:t>▶ 6.1%</a:t>
                      </a:r>
                      <a:endParaRPr sz="1100"/>
                    </a:p>
                  </a:txBody>
                  <a:tcPr marL="47625" marR="38100" marT="19050" marB="19050" anchor="ctr">
                    <a:solidFill>
                      <a:srgbClr val="FFFFFF"/>
                    </a:solidFill>
                  </a:tcPr>
                </a:tc>
                <a:tc>
                  <a:txBody>
                    <a:bodyPr/>
                    <a:lstStyle/>
                    <a:p>
                      <a:pPr algn="l"/>
                      <a:r>
                        <a:rPr sz="1100" b="1">
                          <a:solidFill>
                            <a:srgbClr val="A86F00"/>
                          </a:solidFill>
                          <a:latin typeface="Calibri"/>
                        </a:rPr>
                        <a:t>▶ 6.2%</a:t>
                      </a:r>
                      <a:endParaRPr sz="1100"/>
                    </a:p>
                  </a:txBody>
                  <a:tcPr marL="47625" marR="38100" marT="19050" marB="19050" anchor="ctr">
                    <a:solidFill>
                      <a:srgbClr val="FFFFFF"/>
                    </a:solidFill>
                  </a:tcPr>
                </a:tc>
                <a:tc>
                  <a:txBody>
                    <a:bodyPr/>
                    <a:lstStyle/>
                    <a:p>
                      <a:pPr algn="l"/>
                      <a:r>
                        <a:rPr sz="1100" b="1">
                          <a:solidFill>
                            <a:srgbClr val="A86F00"/>
                          </a:solidFill>
                          <a:latin typeface="Calibri"/>
                        </a:rPr>
                        <a:t>▶ 6.1%</a:t>
                      </a:r>
                      <a:endParaRPr sz="1100"/>
                    </a:p>
                  </a:txBody>
                  <a:tcPr marL="47625" marR="38100" marT="19050" marB="19050" anchor="ctr">
                    <a:solidFill>
                      <a:srgbClr val="FFFFFF"/>
                    </a:solidFill>
                  </a:tcPr>
                </a:tc>
                <a:tc>
                  <a:txBody>
                    <a:bodyPr/>
                    <a:lstStyle/>
                    <a:p>
                      <a:pPr algn="l"/>
                      <a:r>
                        <a:rPr sz="1100" b="1">
                          <a:solidFill>
                            <a:srgbClr val="A86F00"/>
                          </a:solidFill>
                          <a:latin typeface="Calibri"/>
                        </a:rPr>
                        <a:t>▶ 6.0%</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16535">
                <a:tc>
                  <a:txBody>
                    <a:bodyPr/>
                    <a:lstStyle/>
                    <a:p>
                      <a:pPr algn="l"/>
                      <a:r>
                        <a:rPr sz="1100" b="1">
                          <a:solidFill>
                            <a:srgbClr val="2E2E2E"/>
                          </a:solidFill>
                          <a:latin typeface="Calibri"/>
                        </a:rPr>
                        <a:t>Practitioner / Clinic Channel</a:t>
                      </a:r>
                      <a:endParaRPr sz="1100"/>
                    </a:p>
                  </a:txBody>
                  <a:tcPr marL="47625" marR="38100" marT="19050" marB="19050" anchor="ctr">
                    <a:solidFill>
                      <a:srgbClr val="F5F8FA"/>
                    </a:solidFill>
                  </a:tcPr>
                </a:tc>
                <a:tc>
                  <a:txBody>
                    <a:bodyPr/>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a:lstStyle/>
                    <a:p>
                      <a:pPr algn="l"/>
                      <a:r>
                        <a:rPr sz="1100" b="1">
                          <a:solidFill>
                            <a:srgbClr val="2E7D32"/>
                          </a:solidFill>
                          <a:latin typeface="Calibri"/>
                        </a:rPr>
                        <a:t>▲ 4.8%</a:t>
                      </a:r>
                      <a:endParaRPr sz="1100"/>
                    </a:p>
                  </a:txBody>
                  <a:tcPr marL="47625" marR="38100" marT="19050" marB="19050" anchor="ctr">
                    <a:solidFill>
                      <a:srgbClr val="F5F8FA"/>
                    </a:solidFill>
                  </a:tcPr>
                </a:tc>
                <a:tc>
                  <a:txBody>
                    <a:bodyPr/>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a:lstStyle/>
                    <a:p>
                      <a:pPr algn="l"/>
                      <a:r>
                        <a:rPr sz="1100" b="1">
                          <a:solidFill>
                            <a:srgbClr val="A86F00"/>
                          </a:solidFill>
                          <a:latin typeface="Calibri"/>
                        </a:rPr>
                        <a:t>▶ 4.5%</a:t>
                      </a:r>
                      <a:endParaRPr sz="1100"/>
                    </a:p>
                  </a:txBody>
                  <a:tcPr marL="47625" marR="38100" marT="19050" marB="19050" anchor="ctr">
                    <a:solidFill>
                      <a:srgbClr val="F5F8FA"/>
                    </a:solidFill>
                  </a:tcPr>
                </a:tc>
                <a:tc>
                  <a:txBody>
                    <a:bodyPr/>
                    <a:lstStyle/>
                    <a:p>
                      <a:pPr algn="l"/>
                      <a:r>
                        <a:rPr sz="1100" b="1">
                          <a:solidFill>
                            <a:srgbClr val="A86F00"/>
                          </a:solidFill>
                          <a:latin typeface="Calibri"/>
                        </a:rPr>
                        <a:t>▶ 4.6%</a:t>
                      </a:r>
                      <a:endParaRPr sz="1100"/>
                    </a:p>
                  </a:txBody>
                  <a:tcPr marL="47625" marR="38100" marT="19050" marB="19050" anchor="ctr">
                    <a:solidFill>
                      <a:srgbClr val="F5F8FA"/>
                    </a:solidFill>
                  </a:tcPr>
                </a:tc>
                <a:tc>
                  <a:txBody>
                    <a:bodyPr/>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a:lstStyle/>
                    <a:p>
                      <a:pPr algn="l"/>
                      <a:r>
                        <a:rPr sz="1100" b="1">
                          <a:solidFill>
                            <a:srgbClr val="A86F00"/>
                          </a:solidFill>
                          <a:latin typeface="Calibri"/>
                        </a:rPr>
                        <a:t>▶ 5.3%</a:t>
                      </a:r>
                      <a:endParaRPr sz="1100"/>
                    </a:p>
                  </a:txBody>
                  <a:tcPr marL="47625" marR="38100" marT="19050" marB="19050" anchor="ctr">
                    <a:solidFill>
                      <a:srgbClr val="F5F8FA"/>
                    </a:solidFill>
                  </a:tcPr>
                </a:tc>
                <a:tc>
                  <a:txBody>
                    <a:bodyPr/>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a:lstStyle/>
                    <a:p>
                      <a:pPr algn="l"/>
                      <a:r>
                        <a:rPr sz="1100" b="1">
                          <a:solidFill>
                            <a:srgbClr val="A86F00"/>
                          </a:solidFill>
                          <a:latin typeface="Calibri"/>
                        </a:rPr>
                        <a:t>▶ 4.7%</a:t>
                      </a:r>
                      <a:endParaRPr sz="1100"/>
                    </a:p>
                  </a:txBody>
                  <a:tcPr marL="47625" marR="38100" marT="19050" marB="19050" anchor="ctr">
                    <a:solidFill>
                      <a:srgbClr val="F5F8FA"/>
                    </a:solidFill>
                  </a:tcPr>
                </a:tc>
                <a:tc>
                  <a:txBody>
                    <a:bodyPr/>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a:lstStyle/>
                    <a:p>
                      <a:pPr algn="l"/>
                      <a:r>
                        <a:rPr sz="1100" b="1">
                          <a:solidFill>
                            <a:srgbClr val="A86F00"/>
                          </a:solidFill>
                          <a:latin typeface="Calibri"/>
                        </a:rPr>
                        <a:t>▶ 5.1%</a:t>
                      </a:r>
                      <a:endParaRPr sz="1100"/>
                    </a:p>
                  </a:txBody>
                  <a:tcPr marL="47625" marR="38100" marT="19050" marB="19050" anchor="ctr">
                    <a:solidFill>
                      <a:srgbClr val="F5F8FA"/>
                    </a:solidFill>
                  </a:tcPr>
                </a:tc>
                <a:tc>
                  <a:txBody>
                    <a:bodyPr/>
                    <a:lstStyle/>
                    <a:p>
                      <a:pPr algn="l"/>
                      <a:r>
                        <a:rPr sz="1100" b="1">
                          <a:solidFill>
                            <a:srgbClr val="A86F00"/>
                          </a:solidFill>
                          <a:latin typeface="Calibri"/>
                        </a:rPr>
                        <a:t>▶ 5.0%</a:t>
                      </a:r>
                      <a:endParaRPr sz="1100"/>
                    </a:p>
                  </a:txBody>
                  <a:tcPr marL="47625" marR="38100" marT="19050" marB="19050" anchor="ctr">
                    <a:solidFill>
                      <a:srgbClr val="F5F8FA"/>
                    </a:solidFill>
                  </a:tcPr>
                </a:tc>
                <a:tc>
                  <a:txBody>
                    <a:bodyPr/>
                    <a:lstStyle/>
                    <a:p>
                      <a:pPr algn="l"/>
                      <a:r>
                        <a:rPr sz="1100" b="1">
                          <a:solidFill>
                            <a:srgbClr val="A86F00"/>
                          </a:solidFill>
                          <a:latin typeface="Calibri"/>
                        </a:rPr>
                        <a:t>▶ 4.9%</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bl>
          </a:graphicData>
        </a:graphic>
      </p:graphicFrame>
      <p:sp>
        <p:nvSpPr>
          <p:cNvPr id="14" name="TextBox 13"/>
          <p:cNvSpPr txBox="1"/>
          <p:nvPr/>
        </p:nvSpPr>
        <p:spPr>
          <a:xfrm>
            <a:off x="219075" y="27622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095625"/>
            <a:ext cx="11906250" cy="3533775"/>
          </a:xfrm>
          <a:prstGeom prst="roundRect">
            <a:avLst>
              <a:gd name="adj" fmla="val 215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8125" y="315277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USA Value YoY Heatmap, By Sales Channel (%)  ·  light = lower, dark = higher growth</a:t>
            </a:r>
          </a:p>
        </p:txBody>
      </p:sp>
      <p:sp>
        <p:nvSpPr>
          <p:cNvPr id="17" name="TextBox 16"/>
          <p:cNvSpPr txBox="1"/>
          <p:nvPr/>
        </p:nvSpPr>
        <p:spPr>
          <a:xfrm>
            <a:off x="185737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2022</a:t>
            </a:r>
          </a:p>
        </p:txBody>
      </p:sp>
      <p:sp>
        <p:nvSpPr>
          <p:cNvPr id="18" name="TextBox 17"/>
          <p:cNvSpPr txBox="1"/>
          <p:nvPr/>
        </p:nvSpPr>
        <p:spPr>
          <a:xfrm>
            <a:off x="250126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2023</a:t>
            </a:r>
          </a:p>
        </p:txBody>
      </p:sp>
      <p:sp>
        <p:nvSpPr>
          <p:cNvPr id="19" name="TextBox 18"/>
          <p:cNvSpPr txBox="1"/>
          <p:nvPr/>
        </p:nvSpPr>
        <p:spPr>
          <a:xfrm>
            <a:off x="314515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2024</a:t>
            </a:r>
          </a:p>
        </p:txBody>
      </p:sp>
      <p:sp>
        <p:nvSpPr>
          <p:cNvPr id="20" name="TextBox 19"/>
          <p:cNvSpPr txBox="1"/>
          <p:nvPr/>
        </p:nvSpPr>
        <p:spPr>
          <a:xfrm>
            <a:off x="378904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2025</a:t>
            </a:r>
          </a:p>
        </p:txBody>
      </p:sp>
      <p:sp>
        <p:nvSpPr>
          <p:cNvPr id="21" name="TextBox 20"/>
          <p:cNvSpPr txBox="1"/>
          <p:nvPr/>
        </p:nvSpPr>
        <p:spPr>
          <a:xfrm>
            <a:off x="443293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2026</a:t>
            </a:r>
          </a:p>
        </p:txBody>
      </p:sp>
      <p:sp>
        <p:nvSpPr>
          <p:cNvPr id="22" name="TextBox 21"/>
          <p:cNvSpPr txBox="1"/>
          <p:nvPr/>
        </p:nvSpPr>
        <p:spPr>
          <a:xfrm>
            <a:off x="507682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2027</a:t>
            </a:r>
          </a:p>
        </p:txBody>
      </p:sp>
      <p:sp>
        <p:nvSpPr>
          <p:cNvPr id="23" name="TextBox 22"/>
          <p:cNvSpPr txBox="1"/>
          <p:nvPr/>
        </p:nvSpPr>
        <p:spPr>
          <a:xfrm>
            <a:off x="572071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2028</a:t>
            </a:r>
          </a:p>
        </p:txBody>
      </p:sp>
      <p:sp>
        <p:nvSpPr>
          <p:cNvPr id="24" name="TextBox 23"/>
          <p:cNvSpPr txBox="1"/>
          <p:nvPr/>
        </p:nvSpPr>
        <p:spPr>
          <a:xfrm>
            <a:off x="636460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2029</a:t>
            </a:r>
          </a:p>
        </p:txBody>
      </p:sp>
      <p:sp>
        <p:nvSpPr>
          <p:cNvPr id="25" name="TextBox 24"/>
          <p:cNvSpPr txBox="1"/>
          <p:nvPr/>
        </p:nvSpPr>
        <p:spPr>
          <a:xfrm>
            <a:off x="700849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2030</a:t>
            </a:r>
          </a:p>
        </p:txBody>
      </p:sp>
      <p:sp>
        <p:nvSpPr>
          <p:cNvPr id="26" name="TextBox 25"/>
          <p:cNvSpPr txBox="1"/>
          <p:nvPr/>
        </p:nvSpPr>
        <p:spPr>
          <a:xfrm>
            <a:off x="765238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2031</a:t>
            </a:r>
          </a:p>
        </p:txBody>
      </p:sp>
      <p:sp>
        <p:nvSpPr>
          <p:cNvPr id="27" name="TextBox 26"/>
          <p:cNvSpPr txBox="1"/>
          <p:nvPr/>
        </p:nvSpPr>
        <p:spPr>
          <a:xfrm>
            <a:off x="829627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2032</a:t>
            </a:r>
          </a:p>
        </p:txBody>
      </p:sp>
      <p:sp>
        <p:nvSpPr>
          <p:cNvPr id="28" name="TextBox 27"/>
          <p:cNvSpPr txBox="1"/>
          <p:nvPr/>
        </p:nvSpPr>
        <p:spPr>
          <a:xfrm>
            <a:off x="894016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2033</a:t>
            </a:r>
          </a:p>
        </p:txBody>
      </p:sp>
      <p:sp>
        <p:nvSpPr>
          <p:cNvPr id="29" name="TextBox 28"/>
          <p:cNvSpPr txBox="1"/>
          <p:nvPr/>
        </p:nvSpPr>
        <p:spPr>
          <a:xfrm>
            <a:off x="958405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2034</a:t>
            </a:r>
          </a:p>
        </p:txBody>
      </p:sp>
      <p:sp>
        <p:nvSpPr>
          <p:cNvPr id="30" name="TextBox 29"/>
          <p:cNvSpPr txBox="1"/>
          <p:nvPr/>
        </p:nvSpPr>
        <p:spPr>
          <a:xfrm>
            <a:off x="1022794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2035</a:t>
            </a:r>
          </a:p>
        </p:txBody>
      </p:sp>
      <p:sp>
        <p:nvSpPr>
          <p:cNvPr id="31" name="TextBox 30"/>
          <p:cNvSpPr txBox="1"/>
          <p:nvPr/>
        </p:nvSpPr>
        <p:spPr>
          <a:xfrm>
            <a:off x="10871835" y="3381375"/>
            <a:ext cx="643890" cy="142875"/>
          </a:xfrm>
          <a:prstGeom prst="rect">
            <a:avLst/>
          </a:prstGeom>
          <a:noFill/>
        </p:spPr>
        <p:txBody>
          <a:bodyPr wrap="none" lIns="0" tIns="0" rIns="0" bIns="0" anchor="ctr">
            <a:spAutoFit/>
          </a:bodyPr>
          <a:lstStyle/>
          <a:p>
            <a:pPr algn="ctr"/>
            <a:r>
              <a:rPr sz="1100" b="1">
                <a:solidFill>
                  <a:srgbClr val="6C7A89"/>
                </a:solidFill>
                <a:latin typeface="Calibri"/>
              </a:rPr>
              <a:t>2036</a:t>
            </a:r>
          </a:p>
        </p:txBody>
      </p:sp>
      <p:sp>
        <p:nvSpPr>
          <p:cNvPr id="32" name="TextBox 31"/>
          <p:cNvSpPr txBox="1"/>
          <p:nvPr/>
        </p:nvSpPr>
        <p:spPr>
          <a:xfrm>
            <a:off x="238125" y="3524250"/>
            <a:ext cx="1590675" cy="508000"/>
          </a:xfrm>
          <a:prstGeom prst="rect">
            <a:avLst/>
          </a:prstGeom>
          <a:noFill/>
        </p:spPr>
        <p:txBody>
          <a:bodyPr wrap="square" lIns="28575" tIns="9525" rIns="28575" bIns="9525" anchor="ctr">
            <a:spAutoFit/>
          </a:bodyPr>
          <a:lstStyle/>
          <a:p>
            <a:pPr algn="l"/>
            <a:r>
              <a:rPr sz="1100" b="0">
                <a:solidFill>
                  <a:srgbClr val="2E2E2E"/>
                </a:solidFill>
                <a:latin typeface="Calibri"/>
              </a:rPr>
              <a:t>Direct-to-Consumer / Brand Website</a:t>
            </a:r>
          </a:p>
        </p:txBody>
      </p:sp>
      <p:sp>
        <p:nvSpPr>
          <p:cNvPr id="33" name="Rectangle 32"/>
          <p:cNvSpPr/>
          <p:nvPr/>
        </p:nvSpPr>
        <p:spPr>
          <a:xfrm>
            <a:off x="1857375" y="3524250"/>
            <a:ext cx="643890" cy="508000"/>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501265" y="3524250"/>
            <a:ext cx="643890" cy="508000"/>
          </a:xfrm>
          <a:prstGeom prst="rect">
            <a:avLst/>
          </a:prstGeom>
          <a:solidFill>
            <a:srgbClr val="B7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145155" y="3524250"/>
            <a:ext cx="643890" cy="508000"/>
          </a:xfrm>
          <a:prstGeom prst="rect">
            <a:avLst/>
          </a:prstGeom>
          <a:solidFill>
            <a:srgbClr val="A3C6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789045" y="3524250"/>
            <a:ext cx="643890" cy="508000"/>
          </a:xfrm>
          <a:prstGeom prst="rect">
            <a:avLst/>
          </a:prstGeom>
          <a:solidFill>
            <a:srgbClr val="8E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432935" y="3524250"/>
            <a:ext cx="643890" cy="508000"/>
          </a:xfrm>
          <a:prstGeom prst="rect">
            <a:avLst/>
          </a:prstGeom>
          <a:solidFill>
            <a:srgbClr val="63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076825" y="3524250"/>
            <a:ext cx="643890" cy="508000"/>
          </a:xfrm>
          <a:prstGeom prst="rect">
            <a:avLst/>
          </a:prstGeom>
          <a:solidFill>
            <a:srgbClr val="48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720715" y="3524250"/>
            <a:ext cx="643890" cy="508000"/>
          </a:xfrm>
          <a:prstGeom prst="rect">
            <a:avLst/>
          </a:prstGeom>
          <a:solidFill>
            <a:srgbClr val="34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364605" y="3524250"/>
            <a:ext cx="643890" cy="508000"/>
          </a:xfrm>
          <a:prstGeom prst="rect">
            <a:avLst/>
          </a:prstGeom>
          <a:solidFill>
            <a:srgbClr val="207D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008495" y="3524250"/>
            <a:ext cx="643890" cy="508000"/>
          </a:xfrm>
          <a:prstGeom prst="rect">
            <a:avLst/>
          </a:prstGeom>
          <a:solidFill>
            <a:srgbClr val="0D659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652385" y="3524250"/>
            <a:ext cx="643890" cy="508000"/>
          </a:xfrm>
          <a:prstGeom prst="rect">
            <a:avLst/>
          </a:prstGeom>
          <a:solidFill>
            <a:srgbClr val="0C3F6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296275" y="3524250"/>
            <a:ext cx="643890" cy="508000"/>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940165" y="3524250"/>
            <a:ext cx="643890" cy="508000"/>
          </a:xfrm>
          <a:prstGeom prst="rect">
            <a:avLst/>
          </a:prstGeom>
          <a:solidFill>
            <a:srgbClr val="0B365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584055" y="3524250"/>
            <a:ext cx="643890" cy="508000"/>
          </a:xfrm>
          <a:prstGeom prst="rect">
            <a:avLst/>
          </a:prstGeom>
          <a:solidFill>
            <a:srgbClr val="0C3C5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0227945" y="3524250"/>
            <a:ext cx="643890" cy="508000"/>
          </a:xfrm>
          <a:prstGeom prst="rect">
            <a:avLst/>
          </a:prstGeom>
          <a:solidFill>
            <a:srgbClr val="0C4C7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0871835" y="3524250"/>
            <a:ext cx="643890" cy="508000"/>
          </a:xfrm>
          <a:prstGeom prst="rect">
            <a:avLst/>
          </a:prstGeom>
          <a:solidFill>
            <a:srgbClr val="0D5C8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38125" y="4032250"/>
            <a:ext cx="1590675" cy="508000"/>
          </a:xfrm>
          <a:prstGeom prst="rect">
            <a:avLst/>
          </a:prstGeom>
          <a:noFill/>
        </p:spPr>
        <p:txBody>
          <a:bodyPr wrap="square" lIns="28575" tIns="9525" rIns="28575" bIns="9525" anchor="ctr">
            <a:spAutoFit/>
          </a:bodyPr>
          <a:lstStyle/>
          <a:p>
            <a:pPr algn="l"/>
            <a:r>
              <a:rPr sz="1100" b="0">
                <a:solidFill>
                  <a:srgbClr val="2E2E2E"/>
                </a:solidFill>
                <a:latin typeface="Calibri"/>
              </a:rPr>
              <a:t>Amazon / Online Marketplaces</a:t>
            </a:r>
          </a:p>
        </p:txBody>
      </p:sp>
      <p:sp>
        <p:nvSpPr>
          <p:cNvPr id="49" name="Rectangle 48"/>
          <p:cNvSpPr/>
          <p:nvPr/>
        </p:nvSpPr>
        <p:spPr>
          <a:xfrm>
            <a:off x="1857375" y="4032250"/>
            <a:ext cx="643890" cy="508000"/>
          </a:xfrm>
          <a:prstGeom prst="rect">
            <a:avLst/>
          </a:prstGeom>
          <a:solidFill>
            <a:srgbClr val="87B6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2501265" y="4032250"/>
            <a:ext cx="643890" cy="508000"/>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3145155" y="4032250"/>
            <a:ext cx="643890" cy="508000"/>
          </a:xfrm>
          <a:prstGeom prst="rect">
            <a:avLst/>
          </a:prstGeom>
          <a:solidFill>
            <a:srgbClr val="9D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3789045" y="4032250"/>
            <a:ext cx="643890" cy="508000"/>
          </a:xfrm>
          <a:prstGeom prst="rect">
            <a:avLst/>
          </a:prstGeom>
          <a:solidFill>
            <a:srgbClr val="A3C6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432935" y="4032250"/>
            <a:ext cx="643890" cy="508000"/>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5076825" y="4032250"/>
            <a:ext cx="643890" cy="508000"/>
          </a:xfrm>
          <a:prstGeom prst="rect">
            <a:avLst/>
          </a:prstGeom>
          <a:solidFill>
            <a:srgbClr val="86B6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5720715" y="4032250"/>
            <a:ext cx="643890" cy="508000"/>
          </a:xfrm>
          <a:prstGeom prst="rect">
            <a:avLst/>
          </a:prstGeom>
          <a:solidFill>
            <a:srgbClr val="6FAA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6364605" y="4032250"/>
            <a:ext cx="643890" cy="508000"/>
          </a:xfrm>
          <a:prstGeom prst="rect">
            <a:avLst/>
          </a:prstGeom>
          <a:solidFill>
            <a:srgbClr val="529A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7008495" y="4032250"/>
            <a:ext cx="643890" cy="508000"/>
          </a:xfrm>
          <a:prstGeom prst="rect">
            <a:avLst/>
          </a:prstGeom>
          <a:solidFill>
            <a:srgbClr val="3E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652385" y="4032250"/>
            <a:ext cx="643890" cy="508000"/>
          </a:xfrm>
          <a:prstGeom prst="rect">
            <a:avLst/>
          </a:prstGeom>
          <a:solidFill>
            <a:srgbClr val="4191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296275" y="4032250"/>
            <a:ext cx="643890" cy="508000"/>
          </a:xfrm>
          <a:prstGeom prst="rect">
            <a:avLst/>
          </a:prstGeom>
          <a:solidFill>
            <a:srgbClr val="49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940165" y="4032250"/>
            <a:ext cx="643890" cy="508000"/>
          </a:xfrm>
          <a:prstGeom prst="rect">
            <a:avLst/>
          </a:prstGeom>
          <a:solidFill>
            <a:srgbClr val="529A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9584055" y="4032250"/>
            <a:ext cx="643890" cy="508000"/>
          </a:xfrm>
          <a:prstGeom prst="rect">
            <a:avLst/>
          </a:prstGeom>
          <a:solidFill>
            <a:srgbClr val="5C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10227945" y="4032250"/>
            <a:ext cx="643890" cy="508000"/>
          </a:xfrm>
          <a:prstGeom prst="rect">
            <a:avLst/>
          </a:prstGeom>
          <a:solidFill>
            <a:srgbClr val="64A4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10871835" y="4032250"/>
            <a:ext cx="643890" cy="508000"/>
          </a:xfrm>
          <a:prstGeom prst="rect">
            <a:avLst/>
          </a:prstGeom>
          <a:solidFill>
            <a:srgbClr val="6B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238125" y="4540250"/>
            <a:ext cx="1590675" cy="508000"/>
          </a:xfrm>
          <a:prstGeom prst="rect">
            <a:avLst/>
          </a:prstGeom>
          <a:noFill/>
        </p:spPr>
        <p:txBody>
          <a:bodyPr wrap="square" lIns="28575" tIns="9525" rIns="28575" bIns="9525" anchor="ctr">
            <a:spAutoFit/>
          </a:bodyPr>
          <a:lstStyle/>
          <a:p>
            <a:pPr algn="l"/>
            <a:r>
              <a:rPr sz="1100" b="0">
                <a:solidFill>
                  <a:srgbClr val="2E2E2E"/>
                </a:solidFill>
                <a:latin typeface="Calibri"/>
              </a:rPr>
              <a:t>Mass Retail</a:t>
            </a:r>
          </a:p>
        </p:txBody>
      </p:sp>
      <p:sp>
        <p:nvSpPr>
          <p:cNvPr id="65" name="Rectangle 64"/>
          <p:cNvSpPr/>
          <p:nvPr/>
        </p:nvSpPr>
        <p:spPr>
          <a:xfrm>
            <a:off x="1857375" y="4540250"/>
            <a:ext cx="643890" cy="508000"/>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2501265" y="4540250"/>
            <a:ext cx="643890" cy="508000"/>
          </a:xfrm>
          <a:prstGeom prst="rect">
            <a:avLst/>
          </a:prstGeom>
          <a:solidFill>
            <a:srgbClr val="E1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3145155" y="4540250"/>
            <a:ext cx="643890" cy="508000"/>
          </a:xfrm>
          <a:prstGeom prst="rect">
            <a:avLst/>
          </a:prstGeom>
          <a:solidFill>
            <a:srgbClr val="DD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3789045" y="4540250"/>
            <a:ext cx="643890" cy="508000"/>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432935" y="4540250"/>
            <a:ext cx="643890" cy="508000"/>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5076825" y="4540250"/>
            <a:ext cx="643890" cy="508000"/>
          </a:xfrm>
          <a:prstGeom prst="rect">
            <a:avLst/>
          </a:prstGeom>
          <a:solidFill>
            <a:srgbClr val="E2EF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5720715" y="4540250"/>
            <a:ext cx="643890" cy="508000"/>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6364605" y="4540250"/>
            <a:ext cx="643890" cy="508000"/>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7008495" y="4540250"/>
            <a:ext cx="643890" cy="508000"/>
          </a:xfrm>
          <a:prstGeom prst="rect">
            <a:avLst/>
          </a:prstGeom>
          <a:solidFill>
            <a:srgbClr val="DD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7652385" y="4540250"/>
            <a:ext cx="643890" cy="508000"/>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8296275" y="4540250"/>
            <a:ext cx="643890" cy="508000"/>
          </a:xfrm>
          <a:prstGeom prst="rect">
            <a:avLst/>
          </a:prstGeom>
          <a:solidFill>
            <a:srgbClr val="D8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8940165" y="4540250"/>
            <a:ext cx="643890" cy="508000"/>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584055" y="4540250"/>
            <a:ext cx="643890" cy="508000"/>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10227945" y="4540250"/>
            <a:ext cx="643890" cy="508000"/>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10871835" y="4540250"/>
            <a:ext cx="643890" cy="508000"/>
          </a:xfrm>
          <a:prstGeom prst="rect">
            <a:avLst/>
          </a:prstGeom>
          <a:solidFill>
            <a:srgbClr val="DC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38125" y="5048250"/>
            <a:ext cx="1590675" cy="508000"/>
          </a:xfrm>
          <a:prstGeom prst="rect">
            <a:avLst/>
          </a:prstGeom>
          <a:noFill/>
        </p:spPr>
        <p:txBody>
          <a:bodyPr wrap="square" lIns="28575" tIns="9525" rIns="28575" bIns="9525" anchor="ctr">
            <a:spAutoFit/>
          </a:bodyPr>
          <a:lstStyle/>
          <a:p>
            <a:pPr algn="l"/>
            <a:r>
              <a:rPr sz="1100" b="0">
                <a:solidFill>
                  <a:srgbClr val="2E2E2E"/>
                </a:solidFill>
                <a:latin typeface="Calibri"/>
              </a:rPr>
              <a:t>Pharmacy / Drugstores</a:t>
            </a:r>
          </a:p>
        </p:txBody>
      </p:sp>
      <p:sp>
        <p:nvSpPr>
          <p:cNvPr id="81" name="Rectangle 80"/>
          <p:cNvSpPr/>
          <p:nvPr/>
        </p:nvSpPr>
        <p:spPr>
          <a:xfrm>
            <a:off x="1857375" y="5048250"/>
            <a:ext cx="643890" cy="508000"/>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2501265" y="5048250"/>
            <a:ext cx="643890" cy="508000"/>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3145155" y="5048250"/>
            <a:ext cx="643890" cy="508000"/>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3789045" y="5048250"/>
            <a:ext cx="643890" cy="508000"/>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4432935" y="5048250"/>
            <a:ext cx="643890" cy="508000"/>
          </a:xfrm>
          <a:prstGeom prst="rect">
            <a:avLst/>
          </a:prstGeom>
          <a:solidFill>
            <a:srgbClr val="F7FC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5076825" y="5048250"/>
            <a:ext cx="643890" cy="508000"/>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5720715" y="5048250"/>
            <a:ext cx="643890" cy="508000"/>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6364605" y="5048250"/>
            <a:ext cx="643890" cy="508000"/>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7008495" y="5048250"/>
            <a:ext cx="643890" cy="508000"/>
          </a:xfrm>
          <a:prstGeom prst="rect">
            <a:avLst/>
          </a:prstGeom>
          <a:solidFill>
            <a:srgbClr val="FE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7652385" y="5048250"/>
            <a:ext cx="643890" cy="508000"/>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8296275" y="5048250"/>
            <a:ext cx="643890" cy="508000"/>
          </a:xfrm>
          <a:prstGeom prst="rect">
            <a:avLst/>
          </a:prstGeom>
          <a:solidFill>
            <a:srgbClr val="FD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8940165" y="5048250"/>
            <a:ext cx="643890" cy="508000"/>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9584055" y="5048250"/>
            <a:ext cx="643890" cy="508000"/>
          </a:xfrm>
          <a:prstGeom prst="rect">
            <a:avLst/>
          </a:prstGeom>
          <a:solidFill>
            <a:srgbClr val="F9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10227945" y="5048250"/>
            <a:ext cx="643890" cy="508000"/>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10871835" y="5048250"/>
            <a:ext cx="643890" cy="508000"/>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238125" y="5556250"/>
            <a:ext cx="1590675" cy="508000"/>
          </a:xfrm>
          <a:prstGeom prst="rect">
            <a:avLst/>
          </a:prstGeom>
          <a:noFill/>
        </p:spPr>
        <p:txBody>
          <a:bodyPr wrap="square" lIns="28575" tIns="9525" rIns="28575" bIns="9525" anchor="ctr">
            <a:spAutoFit/>
          </a:bodyPr>
          <a:lstStyle/>
          <a:p>
            <a:pPr algn="l"/>
            <a:r>
              <a:rPr sz="1100" b="0">
                <a:solidFill>
                  <a:srgbClr val="2E2E2E"/>
                </a:solidFill>
                <a:latin typeface="Calibri"/>
              </a:rPr>
              <a:t>Specialty Health &amp; Wellness Retail</a:t>
            </a:r>
          </a:p>
        </p:txBody>
      </p:sp>
      <p:sp>
        <p:nvSpPr>
          <p:cNvPr id="97" name="Rectangle 96"/>
          <p:cNvSpPr/>
          <p:nvPr/>
        </p:nvSpPr>
        <p:spPr>
          <a:xfrm>
            <a:off x="1857375" y="5556250"/>
            <a:ext cx="643890" cy="508000"/>
          </a:xfrm>
          <a:prstGeom prst="rect">
            <a:avLst/>
          </a:prstGeom>
          <a:solidFill>
            <a:srgbClr val="BA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2501265" y="5556250"/>
            <a:ext cx="643890" cy="508000"/>
          </a:xfrm>
          <a:prstGeom prst="rect">
            <a:avLst/>
          </a:prstGeom>
          <a:solidFill>
            <a:srgbClr val="C2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3145155" y="5556250"/>
            <a:ext cx="643890" cy="508000"/>
          </a:xfrm>
          <a:prstGeom prst="rect">
            <a:avLst/>
          </a:prstGeom>
          <a:solidFill>
            <a:srgbClr val="CC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3789045" y="5556250"/>
            <a:ext cx="643890" cy="508000"/>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4432935" y="5556250"/>
            <a:ext cx="643890" cy="508000"/>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5076825" y="5556250"/>
            <a:ext cx="643890" cy="508000"/>
          </a:xfrm>
          <a:prstGeom prst="rect">
            <a:avLst/>
          </a:prstGeom>
          <a:solidFill>
            <a:srgbClr val="BF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5720715" y="5556250"/>
            <a:ext cx="643890" cy="508000"/>
          </a:xfrm>
          <a:prstGeom prst="rect">
            <a:avLst/>
          </a:prstGeom>
          <a:solidFill>
            <a:srgbClr val="B4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6364605" y="5556250"/>
            <a:ext cx="643890" cy="508000"/>
          </a:xfrm>
          <a:prstGeom prst="rect">
            <a:avLst/>
          </a:prstGeom>
          <a:solidFill>
            <a:srgbClr val="B0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7008495" y="5556250"/>
            <a:ext cx="643890" cy="508000"/>
          </a:xfrm>
          <a:prstGeom prst="rect">
            <a:avLst/>
          </a:prstGeom>
          <a:solidFill>
            <a:srgbClr val="B7D2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7652385" y="5556250"/>
            <a:ext cx="643890" cy="508000"/>
          </a:xfrm>
          <a:prstGeom prst="rect">
            <a:avLst/>
          </a:prstGeom>
          <a:solidFill>
            <a:srgbClr val="BC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8296275" y="5556250"/>
            <a:ext cx="643890" cy="508000"/>
          </a:xfrm>
          <a:prstGeom prst="rect">
            <a:avLst/>
          </a:prstGeom>
          <a:solidFill>
            <a:srgbClr val="BA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8940165" y="5556250"/>
            <a:ext cx="643890" cy="508000"/>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9584055" y="5556250"/>
            <a:ext cx="643890" cy="508000"/>
          </a:xfrm>
          <a:prstGeom prst="rect">
            <a:avLst/>
          </a:prstGeom>
          <a:solidFill>
            <a:srgbClr val="AF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10227945" y="5556250"/>
            <a:ext cx="643890" cy="508000"/>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0871835" y="5556250"/>
            <a:ext cx="643890" cy="508000"/>
          </a:xfrm>
          <a:prstGeom prst="rect">
            <a:avLst/>
          </a:prstGeom>
          <a:solidFill>
            <a:srgbClr val="B5D0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238125" y="6064250"/>
            <a:ext cx="1590675" cy="508000"/>
          </a:xfrm>
          <a:prstGeom prst="rect">
            <a:avLst/>
          </a:prstGeom>
          <a:noFill/>
        </p:spPr>
        <p:txBody>
          <a:bodyPr wrap="square" lIns="28575" tIns="9525" rIns="28575" bIns="9525" anchor="ctr">
            <a:spAutoFit/>
          </a:bodyPr>
          <a:lstStyle/>
          <a:p>
            <a:pPr algn="l"/>
            <a:r>
              <a:rPr sz="1100" b="0">
                <a:solidFill>
                  <a:srgbClr val="2E2E2E"/>
                </a:solidFill>
                <a:latin typeface="Calibri"/>
              </a:rPr>
              <a:t>Practitioner / Clinic Channel</a:t>
            </a:r>
          </a:p>
        </p:txBody>
      </p:sp>
      <p:sp>
        <p:nvSpPr>
          <p:cNvPr id="113" name="Rectangle 112"/>
          <p:cNvSpPr/>
          <p:nvPr/>
        </p:nvSpPr>
        <p:spPr>
          <a:xfrm>
            <a:off x="1857375" y="6064250"/>
            <a:ext cx="643890" cy="508000"/>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2501265" y="6064250"/>
            <a:ext cx="643890" cy="508000"/>
          </a:xfrm>
          <a:prstGeom prst="rect">
            <a:avLst/>
          </a:prstGeom>
          <a:solidFill>
            <a:srgbClr val="D2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3145155" y="6064250"/>
            <a:ext cx="643890" cy="508000"/>
          </a:xfrm>
          <a:prstGeom prst="rect">
            <a:avLst/>
          </a:prstGeom>
          <a:solidFill>
            <a:srgbClr val="D3E4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3789045" y="6064250"/>
            <a:ext cx="643890" cy="508000"/>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4432935" y="6064250"/>
            <a:ext cx="643890" cy="508000"/>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5076825" y="6064250"/>
            <a:ext cx="643890" cy="508000"/>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5720715" y="6064250"/>
            <a:ext cx="643890" cy="508000"/>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6364605" y="6064250"/>
            <a:ext cx="643890" cy="508000"/>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7008495" y="6064250"/>
            <a:ext cx="643890" cy="508000"/>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7652385" y="6064250"/>
            <a:ext cx="643890" cy="508000"/>
          </a:xfrm>
          <a:prstGeom prst="rect">
            <a:avLst/>
          </a:prstGeom>
          <a:solidFill>
            <a:srgbClr val="D3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8296275" y="6064250"/>
            <a:ext cx="643890" cy="508000"/>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a:off x="8940165" y="6064250"/>
            <a:ext cx="643890" cy="508000"/>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124"/>
          <p:cNvSpPr/>
          <p:nvPr/>
        </p:nvSpPr>
        <p:spPr>
          <a:xfrm>
            <a:off x="9584055" y="6064250"/>
            <a:ext cx="643890" cy="508000"/>
          </a:xfrm>
          <a:prstGeom prst="rect">
            <a:avLst/>
          </a:prstGeom>
          <a:solidFill>
            <a:srgbClr val="CCDE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25"/>
          <p:cNvSpPr/>
          <p:nvPr/>
        </p:nvSpPr>
        <p:spPr>
          <a:xfrm>
            <a:off x="10227945" y="6064250"/>
            <a:ext cx="643890" cy="508000"/>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26"/>
          <p:cNvSpPr/>
          <p:nvPr/>
        </p:nvSpPr>
        <p:spPr>
          <a:xfrm>
            <a:off x="10871835" y="6064250"/>
            <a:ext cx="643890" cy="508000"/>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127"/>
          <p:cNvSpPr/>
          <p:nvPr/>
        </p:nvSpPr>
        <p:spPr>
          <a:xfrm>
            <a:off x="11572875" y="3562350"/>
            <a:ext cx="104775" cy="8191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Rectangle 128"/>
          <p:cNvSpPr/>
          <p:nvPr/>
        </p:nvSpPr>
        <p:spPr>
          <a:xfrm>
            <a:off x="11572875" y="3636645"/>
            <a:ext cx="104775" cy="81915"/>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ectangle 129"/>
          <p:cNvSpPr/>
          <p:nvPr/>
        </p:nvSpPr>
        <p:spPr>
          <a:xfrm>
            <a:off x="11572875" y="3710940"/>
            <a:ext cx="104775" cy="81915"/>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ectangle 130"/>
          <p:cNvSpPr/>
          <p:nvPr/>
        </p:nvSpPr>
        <p:spPr>
          <a:xfrm>
            <a:off x="11572875" y="3785235"/>
            <a:ext cx="104775" cy="81915"/>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Rectangle 131"/>
          <p:cNvSpPr/>
          <p:nvPr/>
        </p:nvSpPr>
        <p:spPr>
          <a:xfrm>
            <a:off x="11572875" y="3859530"/>
            <a:ext cx="104775" cy="81915"/>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p:cNvSpPr/>
          <p:nvPr/>
        </p:nvSpPr>
        <p:spPr>
          <a:xfrm>
            <a:off x="11572875" y="3933825"/>
            <a:ext cx="104775" cy="81915"/>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angle 133"/>
          <p:cNvSpPr/>
          <p:nvPr/>
        </p:nvSpPr>
        <p:spPr>
          <a:xfrm>
            <a:off x="11572875" y="4008120"/>
            <a:ext cx="104775" cy="81915"/>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11572875" y="4082415"/>
            <a:ext cx="104775" cy="81915"/>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Rectangle 135"/>
          <p:cNvSpPr/>
          <p:nvPr/>
        </p:nvSpPr>
        <p:spPr>
          <a:xfrm>
            <a:off x="11572875" y="4156710"/>
            <a:ext cx="104775" cy="81915"/>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11572875" y="4231005"/>
            <a:ext cx="104775" cy="81915"/>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ectangle 137"/>
          <p:cNvSpPr/>
          <p:nvPr/>
        </p:nvSpPr>
        <p:spPr>
          <a:xfrm>
            <a:off x="11572875" y="4305300"/>
            <a:ext cx="104775" cy="81915"/>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ectangle 138"/>
          <p:cNvSpPr/>
          <p:nvPr/>
        </p:nvSpPr>
        <p:spPr>
          <a:xfrm>
            <a:off x="11572875" y="4379595"/>
            <a:ext cx="104775" cy="81915"/>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ectangle 139"/>
          <p:cNvSpPr/>
          <p:nvPr/>
        </p:nvSpPr>
        <p:spPr>
          <a:xfrm>
            <a:off x="11572875" y="4453890"/>
            <a:ext cx="104775" cy="81915"/>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Rectangle 140"/>
          <p:cNvSpPr/>
          <p:nvPr/>
        </p:nvSpPr>
        <p:spPr>
          <a:xfrm>
            <a:off x="11572875" y="4528185"/>
            <a:ext cx="104775" cy="81915"/>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Rectangle 141"/>
          <p:cNvSpPr/>
          <p:nvPr/>
        </p:nvSpPr>
        <p:spPr>
          <a:xfrm>
            <a:off x="11572875" y="4602480"/>
            <a:ext cx="104775" cy="81915"/>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Rectangle 142"/>
          <p:cNvSpPr/>
          <p:nvPr/>
        </p:nvSpPr>
        <p:spPr>
          <a:xfrm>
            <a:off x="11572875" y="4676775"/>
            <a:ext cx="104775" cy="81915"/>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Rectangle 143"/>
          <p:cNvSpPr/>
          <p:nvPr/>
        </p:nvSpPr>
        <p:spPr>
          <a:xfrm>
            <a:off x="11572875" y="4751070"/>
            <a:ext cx="104775" cy="81915"/>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ectangle 144"/>
          <p:cNvSpPr/>
          <p:nvPr/>
        </p:nvSpPr>
        <p:spPr>
          <a:xfrm>
            <a:off x="11572875" y="4825365"/>
            <a:ext cx="104775" cy="81915"/>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ectangle 145"/>
          <p:cNvSpPr/>
          <p:nvPr/>
        </p:nvSpPr>
        <p:spPr>
          <a:xfrm>
            <a:off x="11572875" y="4899660"/>
            <a:ext cx="104775" cy="81915"/>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Rectangle 146"/>
          <p:cNvSpPr/>
          <p:nvPr/>
        </p:nvSpPr>
        <p:spPr>
          <a:xfrm>
            <a:off x="11572875" y="4973955"/>
            <a:ext cx="104775" cy="81915"/>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Rectangle 147"/>
          <p:cNvSpPr/>
          <p:nvPr/>
        </p:nvSpPr>
        <p:spPr>
          <a:xfrm>
            <a:off x="11572875" y="5048250"/>
            <a:ext cx="104775" cy="81915"/>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ectangle 148"/>
          <p:cNvSpPr/>
          <p:nvPr/>
        </p:nvSpPr>
        <p:spPr>
          <a:xfrm>
            <a:off x="11572875" y="5122545"/>
            <a:ext cx="104775" cy="81915"/>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ectangle 149"/>
          <p:cNvSpPr/>
          <p:nvPr/>
        </p:nvSpPr>
        <p:spPr>
          <a:xfrm>
            <a:off x="11572875" y="5196840"/>
            <a:ext cx="104775" cy="81915"/>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ectangle 150"/>
          <p:cNvSpPr/>
          <p:nvPr/>
        </p:nvSpPr>
        <p:spPr>
          <a:xfrm>
            <a:off x="11572875" y="5271135"/>
            <a:ext cx="104775" cy="81915"/>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ectangle 151"/>
          <p:cNvSpPr/>
          <p:nvPr/>
        </p:nvSpPr>
        <p:spPr>
          <a:xfrm>
            <a:off x="11572875" y="5345430"/>
            <a:ext cx="104775" cy="81915"/>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ectangle 152"/>
          <p:cNvSpPr/>
          <p:nvPr/>
        </p:nvSpPr>
        <p:spPr>
          <a:xfrm>
            <a:off x="11572875" y="5419725"/>
            <a:ext cx="104775" cy="81915"/>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ectangle 153"/>
          <p:cNvSpPr/>
          <p:nvPr/>
        </p:nvSpPr>
        <p:spPr>
          <a:xfrm>
            <a:off x="11572875" y="5494020"/>
            <a:ext cx="104775" cy="81915"/>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Rectangle 154"/>
          <p:cNvSpPr/>
          <p:nvPr/>
        </p:nvSpPr>
        <p:spPr>
          <a:xfrm>
            <a:off x="11572875" y="5568315"/>
            <a:ext cx="104775" cy="81915"/>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Rectangle 155"/>
          <p:cNvSpPr/>
          <p:nvPr/>
        </p:nvSpPr>
        <p:spPr>
          <a:xfrm>
            <a:off x="11572875" y="5642610"/>
            <a:ext cx="104775" cy="81915"/>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ectangle 156"/>
          <p:cNvSpPr/>
          <p:nvPr/>
        </p:nvSpPr>
        <p:spPr>
          <a:xfrm>
            <a:off x="11572875" y="5716905"/>
            <a:ext cx="104775" cy="81915"/>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ectangle 157"/>
          <p:cNvSpPr/>
          <p:nvPr/>
        </p:nvSpPr>
        <p:spPr>
          <a:xfrm>
            <a:off x="11572875" y="5791200"/>
            <a:ext cx="104775" cy="81915"/>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Rectangle 158"/>
          <p:cNvSpPr/>
          <p:nvPr/>
        </p:nvSpPr>
        <p:spPr>
          <a:xfrm>
            <a:off x="11572875" y="5865495"/>
            <a:ext cx="104775" cy="81915"/>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ectangle 159"/>
          <p:cNvSpPr/>
          <p:nvPr/>
        </p:nvSpPr>
        <p:spPr>
          <a:xfrm>
            <a:off x="11572875" y="5939790"/>
            <a:ext cx="104775" cy="81915"/>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Rectangle 160"/>
          <p:cNvSpPr/>
          <p:nvPr/>
        </p:nvSpPr>
        <p:spPr>
          <a:xfrm>
            <a:off x="11572875" y="6014085"/>
            <a:ext cx="104775" cy="81915"/>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Rectangle 161"/>
          <p:cNvSpPr/>
          <p:nvPr/>
        </p:nvSpPr>
        <p:spPr>
          <a:xfrm>
            <a:off x="11572875" y="6088380"/>
            <a:ext cx="104775" cy="81915"/>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Rectangle 162"/>
          <p:cNvSpPr/>
          <p:nvPr/>
        </p:nvSpPr>
        <p:spPr>
          <a:xfrm>
            <a:off x="11572875" y="6162675"/>
            <a:ext cx="104775" cy="81915"/>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Rectangle 163"/>
          <p:cNvSpPr/>
          <p:nvPr/>
        </p:nvSpPr>
        <p:spPr>
          <a:xfrm>
            <a:off x="11572875" y="6236970"/>
            <a:ext cx="104775" cy="81915"/>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Rectangle 164"/>
          <p:cNvSpPr/>
          <p:nvPr/>
        </p:nvSpPr>
        <p:spPr>
          <a:xfrm>
            <a:off x="11572875" y="6311265"/>
            <a:ext cx="104775" cy="81915"/>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Rectangle 165"/>
          <p:cNvSpPr/>
          <p:nvPr/>
        </p:nvSpPr>
        <p:spPr>
          <a:xfrm>
            <a:off x="11572875" y="6385560"/>
            <a:ext cx="104775" cy="81915"/>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Rectangle 166"/>
          <p:cNvSpPr/>
          <p:nvPr/>
        </p:nvSpPr>
        <p:spPr>
          <a:xfrm>
            <a:off x="11572875" y="6459855"/>
            <a:ext cx="104775" cy="81915"/>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Rectangle 167"/>
          <p:cNvSpPr/>
          <p:nvPr/>
        </p:nvSpPr>
        <p:spPr>
          <a:xfrm>
            <a:off x="11572875" y="3562350"/>
            <a:ext cx="104775" cy="297180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TextBox 168"/>
          <p:cNvSpPr txBox="1"/>
          <p:nvPr/>
        </p:nvSpPr>
        <p:spPr>
          <a:xfrm>
            <a:off x="11687175" y="3495675"/>
            <a:ext cx="276225" cy="133350"/>
          </a:xfrm>
          <a:prstGeom prst="rect">
            <a:avLst/>
          </a:prstGeom>
          <a:noFill/>
        </p:spPr>
        <p:txBody>
          <a:bodyPr wrap="none" lIns="0" tIns="0" rIns="0" bIns="0" anchor="ctr">
            <a:spAutoFit/>
          </a:bodyPr>
          <a:lstStyle/>
          <a:p>
            <a:pPr algn="l"/>
            <a:r>
              <a:rPr sz="1100" b="0">
                <a:solidFill>
                  <a:srgbClr val="6C7A89"/>
                </a:solidFill>
                <a:latin typeface="Calibri"/>
              </a:rPr>
              <a:t>13%</a:t>
            </a:r>
          </a:p>
        </p:txBody>
      </p:sp>
      <p:sp>
        <p:nvSpPr>
          <p:cNvPr id="170" name="TextBox 169"/>
          <p:cNvSpPr txBox="1"/>
          <p:nvPr/>
        </p:nvSpPr>
        <p:spPr>
          <a:xfrm>
            <a:off x="11687175" y="4981575"/>
            <a:ext cx="276225" cy="133350"/>
          </a:xfrm>
          <a:prstGeom prst="rect">
            <a:avLst/>
          </a:prstGeom>
          <a:noFill/>
        </p:spPr>
        <p:txBody>
          <a:bodyPr wrap="none" lIns="0" tIns="0" rIns="0" bIns="0" anchor="ctr">
            <a:spAutoFit/>
          </a:bodyPr>
          <a:lstStyle/>
          <a:p>
            <a:pPr algn="l"/>
            <a:r>
              <a:rPr sz="1100" b="0">
                <a:solidFill>
                  <a:srgbClr val="6C7A89"/>
                </a:solidFill>
                <a:latin typeface="Calibri"/>
              </a:rPr>
              <a:t>7%</a:t>
            </a:r>
          </a:p>
        </p:txBody>
      </p:sp>
      <p:sp>
        <p:nvSpPr>
          <p:cNvPr id="171" name="TextBox 170"/>
          <p:cNvSpPr txBox="1"/>
          <p:nvPr/>
        </p:nvSpPr>
        <p:spPr>
          <a:xfrm>
            <a:off x="11687175" y="6467475"/>
            <a:ext cx="276225" cy="133350"/>
          </a:xfrm>
          <a:prstGeom prst="rect">
            <a:avLst/>
          </a:prstGeom>
          <a:noFill/>
        </p:spPr>
        <p:txBody>
          <a:bodyPr wrap="none" lIns="0" tIns="0" rIns="0" bIns="0" anchor="ctr">
            <a:spAutoFit/>
          </a:bodyPr>
          <a:lstStyle/>
          <a:p>
            <a:pPr algn="l"/>
            <a:r>
              <a:rPr sz="1100" b="0">
                <a:solidFill>
                  <a:srgbClr val="6C7A89"/>
                </a:solidFill>
                <a:latin typeface="Calibri"/>
              </a:rPr>
              <a:t>2%</a:t>
            </a:r>
          </a:p>
        </p:txBody>
      </p:sp>
      <p:sp>
        <p:nvSpPr>
          <p:cNvPr id="172" name="TextBox 17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A2A63"/>
        </a:solidFill>
        <a:effectLst/>
      </p:bgPr>
    </p:bg>
    <p:spTree>
      <p:nvGrpSpPr>
        <p:cNvPr id="1" name=""/>
        <p:cNvGrpSpPr/>
        <p:nvPr/>
      </p:nvGrpSpPr>
      <p:grpSpPr>
        <a:xfrm>
          <a:off x="0" y="0"/>
          <a:ext cx="0" cy="0"/>
          <a:chOff x="0" y="0"/>
          <a:chExt cx="0" cy="0"/>
        </a:xfrm>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ang="19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mi_logo_template.png"/>
          <p:cNvPicPr>
            <a:picLocks noChangeAspect="1"/>
          </p:cNvPicPr>
          <p:nvPr/>
        </p:nvPicPr>
        <p:blipFill>
          <a:blip r:embed="rId3"/>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Prenatal Vitamin Supplements Market</a:t>
            </a:r>
          </a:p>
        </p:txBody>
      </p:sp>
      <p:sp>
        <p:nvSpPr>
          <p:cNvPr id="6" name="FMI Breaker Title"/>
          <p:cNvSpPr txBox="1"/>
          <p:nvPr/>
        </p:nvSpPr>
        <p:spPr>
          <a:xfrm>
            <a:off x="914400" y="3698875"/>
            <a:ext cx="7239000" cy="514350"/>
          </a:xfrm>
          <a:prstGeom prst="rect">
            <a:avLst/>
          </a:prstGeom>
          <a:noFill/>
        </p:spPr>
        <p:txBody>
          <a:bodyPr wrap="square" lIns="0" tIns="0" r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FFD447"/>
                </a:solidFill>
                <a:latin typeface="Calibri"/>
              </a:rPr>
              <a:t>➤	Market Pricing</a:t>
            </a:r>
          </a:p>
        </p:txBody>
      </p:sp>
      <p:sp>
        <p:nvSpPr>
          <p:cNvPr id="8" name="TextBox 7"/>
          <p:cNvSpPr txBox="1"/>
          <p:nvPr/>
        </p:nvSpPr>
        <p:spPr>
          <a:xfrm>
            <a:off x="4000500" y="6734175"/>
            <a:ext cx="8020050" cy="123825"/>
          </a:xfrm>
          <a:prstGeom prst="rect">
            <a:avLst/>
          </a:prstGeom>
          <a:noFill/>
        </p:spPr>
        <p:txBody>
          <a:bodyPr wrap="square" lIns="28575" tIns="9525" rIns="2857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Prenatal Vitamin Supplements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Product Pricing &amp; Regional Price Index Trends</a:t>
            </a:r>
          </a:p>
          <a:p>
            <a:pPr marL="342900" indent="-323850">
              <a:lnSpc>
                <a:spcPct val="100000"/>
              </a:lnSpc>
              <a:spcAft>
                <a:spcPts val="800"/>
              </a:spcAft>
            </a:pPr>
            <a:r>
              <a:rPr sz="2000" b="0">
                <a:solidFill>
                  <a:srgbClr val="000000"/>
                </a:solidFill>
                <a:latin typeface="Calibri"/>
              </a:rPr>
              <a:t>➤	USA Pricing Assessment</a:t>
            </a:r>
          </a:p>
          <a:p>
            <a:pPr marL="342900" indent="-323850">
              <a:lnSpc>
                <a:spcPct val="100000"/>
              </a:lnSpc>
              <a:spcAft>
                <a:spcPts val="800"/>
              </a:spcAft>
            </a:pPr>
            <a:r>
              <a:rPr sz="2000" b="0">
                <a:solidFill>
                  <a:srgbClr val="000000"/>
                </a:solidFill>
                <a:latin typeface="Calibri"/>
              </a:rPr>
              <a:t>➤	Price Positioning &amp; Key Findings</a:t>
            </a:r>
          </a:p>
          <a:p>
            <a:pPr marL="342900" indent="-323850">
              <a:lnSpc>
                <a:spcPct val="100000"/>
              </a:lnSpc>
              <a:spcAft>
                <a:spcPts val="800"/>
              </a:spcAft>
            </a:pPr>
            <a:r>
              <a:rPr sz="2000" b="0">
                <a:solidFill>
                  <a:srgbClr val="000000"/>
                </a:solidFill>
                <a:latin typeface="Calibri"/>
              </a:rPr>
              <a:t>➤	Key Pricing Drivers</a:t>
            </a:r>
          </a:p>
          <a:p>
            <a:pPr marL="342900" indent="-323850">
              <a:lnSpc>
                <a:spcPct val="100000"/>
              </a:lnSpc>
              <a:spcAft>
                <a:spcPts val="800"/>
              </a:spcAft>
            </a:pPr>
            <a:r>
              <a:rPr sz="2000" b="0">
                <a:solidFill>
                  <a:srgbClr val="000000"/>
                </a:solidFill>
                <a:latin typeface="Calibri"/>
              </a:rPr>
              <a:t>➤	Factors Impacting Pricing</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Product Pricing &amp; Price Index Trends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Price range by sub-segment and indexed regional price movement, highlighting dispersion and structural shifts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Analysis of average USD pricing by product type and indexed regional price movement with base-year inflation adjustments.</a:t>
            </a:r>
          </a:p>
        </p:txBody>
      </p:sp>
      <p:sp>
        <p:nvSpPr>
          <p:cNvPr id="11" name="Rounded Rectangle 10"/>
          <p:cNvSpPr/>
          <p:nvPr/>
        </p:nvSpPr>
        <p:spPr>
          <a:xfrm>
            <a:off x="142875" y="1317574"/>
            <a:ext cx="7696200"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374724"/>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Pricing by Product Type</a:t>
            </a:r>
          </a:p>
        </p:txBody>
      </p:sp>
      <p:sp>
        <p:nvSpPr>
          <p:cNvPr id="13" name="TextBox 12"/>
          <p:cNvSpPr txBox="1"/>
          <p:nvPr/>
        </p:nvSpPr>
        <p:spPr>
          <a:xfrm>
            <a:off x="219075" y="3471051"/>
            <a:ext cx="381000" cy="133350"/>
          </a:xfrm>
          <a:prstGeom prst="rect">
            <a:avLst/>
          </a:prstGeom>
          <a:noFill/>
        </p:spPr>
        <p:txBody>
          <a:bodyPr wrap="none" lIns="0" tIns="0" rIns="0" bIns="0" anchor="ctr">
            <a:spAutoFit/>
          </a:bodyPr>
          <a:lstStyle/>
          <a:p>
            <a:pPr algn="r"/>
            <a:r>
              <a:rPr sz="1100" b="0">
                <a:solidFill>
                  <a:srgbClr val="6C7A89"/>
                </a:solidFill>
                <a:latin typeface="Calibri"/>
              </a:rPr>
              <a:t>0.0</a:t>
            </a:r>
          </a:p>
        </p:txBody>
      </p:sp>
      <p:sp>
        <p:nvSpPr>
          <p:cNvPr id="14" name="TextBox 13"/>
          <p:cNvSpPr txBox="1"/>
          <p:nvPr/>
        </p:nvSpPr>
        <p:spPr>
          <a:xfrm>
            <a:off x="219075" y="2561000"/>
            <a:ext cx="381000" cy="133350"/>
          </a:xfrm>
          <a:prstGeom prst="rect">
            <a:avLst/>
          </a:prstGeom>
          <a:noFill/>
        </p:spPr>
        <p:txBody>
          <a:bodyPr wrap="none" lIns="0" tIns="0" rIns="0" bIns="0" anchor="ctr">
            <a:spAutoFit/>
          </a:bodyPr>
          <a:lstStyle/>
          <a:p>
            <a:pPr algn="r"/>
            <a:r>
              <a:rPr sz="1100" b="0">
                <a:solidFill>
                  <a:srgbClr val="6C7A89"/>
                </a:solidFill>
                <a:latin typeface="Calibri"/>
              </a:rPr>
              <a:t>1.0</a:t>
            </a:r>
          </a:p>
        </p:txBody>
      </p:sp>
      <p:sp>
        <p:nvSpPr>
          <p:cNvPr id="15" name="TextBox 14"/>
          <p:cNvSpPr txBox="1"/>
          <p:nvPr/>
        </p:nvSpPr>
        <p:spPr>
          <a:xfrm>
            <a:off x="219075" y="1650949"/>
            <a:ext cx="381000" cy="133350"/>
          </a:xfrm>
          <a:prstGeom prst="rect">
            <a:avLst/>
          </a:prstGeom>
          <a:noFill/>
        </p:spPr>
        <p:txBody>
          <a:bodyPr wrap="none" lIns="0" tIns="0" rIns="0" bIns="0" anchor="ctr">
            <a:spAutoFit/>
          </a:bodyPr>
          <a:lstStyle/>
          <a:p>
            <a:pPr algn="r"/>
            <a:r>
              <a:rPr sz="1100" b="0">
                <a:solidFill>
                  <a:srgbClr val="6C7A89"/>
                </a:solidFill>
                <a:latin typeface="Calibri"/>
              </a:rPr>
              <a:t>2.1</a:t>
            </a:r>
          </a:p>
        </p:txBody>
      </p:sp>
      <p:cxnSp>
        <p:nvCxnSpPr>
          <p:cNvPr id="16" name="Connector 15"/>
          <p:cNvCxnSpPr/>
          <p:nvPr/>
        </p:nvCxnSpPr>
        <p:spPr>
          <a:xfrm>
            <a:off x="1157968" y="3330899"/>
            <a:ext cx="0" cy="22218"/>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938893" y="3330899"/>
            <a:ext cx="438150" cy="22218"/>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7225" y="3178499"/>
            <a:ext cx="1001486" cy="133350"/>
          </a:xfrm>
          <a:prstGeom prst="rect">
            <a:avLst/>
          </a:prstGeom>
          <a:noFill/>
        </p:spPr>
        <p:txBody>
          <a:bodyPr wrap="square" lIns="28575" tIns="9525" rIns="28575" bIns="9525">
            <a:spAutoFit/>
          </a:bodyPr>
          <a:lstStyle/>
          <a:p>
            <a:pPr algn="ctr"/>
            <a:r>
              <a:rPr sz="1100" b="1">
                <a:solidFill>
                  <a:srgbClr val="0B2E4A"/>
                </a:solidFill>
                <a:latin typeface="Calibri"/>
              </a:rPr>
              <a:t>0.2</a:t>
            </a:r>
          </a:p>
        </p:txBody>
      </p:sp>
      <p:sp>
        <p:nvSpPr>
          <p:cNvPr id="19" name="TextBox 18"/>
          <p:cNvSpPr txBox="1"/>
          <p:nvPr/>
        </p:nvSpPr>
        <p:spPr>
          <a:xfrm>
            <a:off x="657225" y="3566301"/>
            <a:ext cx="1001486" cy="285750"/>
          </a:xfrm>
          <a:prstGeom prst="rect">
            <a:avLst/>
          </a:prstGeom>
          <a:noFill/>
        </p:spPr>
        <p:txBody>
          <a:bodyPr wrap="square" lIns="28575" tIns="9525" rIns="28575" bIns="9525">
            <a:spAutoFit/>
          </a:bodyPr>
          <a:lstStyle/>
          <a:p>
            <a:pPr algn="ctr"/>
            <a:r>
              <a:rPr sz="1100" b="0">
                <a:solidFill>
                  <a:srgbClr val="2E2E2E"/>
                </a:solidFill>
                <a:latin typeface="Calibri"/>
              </a:rPr>
              <a:t>Capsule</a:t>
            </a:r>
          </a:p>
        </p:txBody>
      </p:sp>
      <p:cxnSp>
        <p:nvCxnSpPr>
          <p:cNvPr id="20" name="Connector 19"/>
          <p:cNvCxnSpPr/>
          <p:nvPr/>
        </p:nvCxnSpPr>
        <p:spPr>
          <a:xfrm>
            <a:off x="2159454" y="3286328"/>
            <a:ext cx="0" cy="24302"/>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1940379" y="3286328"/>
            <a:ext cx="438150" cy="24302"/>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658711" y="3133928"/>
            <a:ext cx="1001486" cy="133350"/>
          </a:xfrm>
          <a:prstGeom prst="rect">
            <a:avLst/>
          </a:prstGeom>
          <a:noFill/>
        </p:spPr>
        <p:txBody>
          <a:bodyPr wrap="square" lIns="28575" tIns="9525" rIns="28575" bIns="9525">
            <a:spAutoFit/>
          </a:bodyPr>
          <a:lstStyle/>
          <a:p>
            <a:pPr algn="ctr"/>
            <a:r>
              <a:rPr sz="1100" b="1">
                <a:solidFill>
                  <a:srgbClr val="0B2E4A"/>
                </a:solidFill>
                <a:latin typeface="Calibri"/>
              </a:rPr>
              <a:t>0.3</a:t>
            </a:r>
          </a:p>
        </p:txBody>
      </p:sp>
      <p:sp>
        <p:nvSpPr>
          <p:cNvPr id="23" name="TextBox 22"/>
          <p:cNvSpPr txBox="1"/>
          <p:nvPr/>
        </p:nvSpPr>
        <p:spPr>
          <a:xfrm>
            <a:off x="1658711" y="3566301"/>
            <a:ext cx="1001486" cy="285750"/>
          </a:xfrm>
          <a:prstGeom prst="rect">
            <a:avLst/>
          </a:prstGeom>
          <a:noFill/>
        </p:spPr>
        <p:txBody>
          <a:bodyPr wrap="square" lIns="28575" tIns="9525" rIns="28575" bIns="9525">
            <a:spAutoFit/>
          </a:bodyPr>
          <a:lstStyle/>
          <a:p>
            <a:pPr algn="ctr"/>
            <a:r>
              <a:rPr sz="1100" b="0">
                <a:solidFill>
                  <a:srgbClr val="2E2E2E"/>
                </a:solidFill>
                <a:latin typeface="Calibri"/>
              </a:rPr>
              <a:t>Tablet</a:t>
            </a:r>
          </a:p>
        </p:txBody>
      </p:sp>
      <p:cxnSp>
        <p:nvCxnSpPr>
          <p:cNvPr id="24" name="Connector 23"/>
          <p:cNvCxnSpPr/>
          <p:nvPr/>
        </p:nvCxnSpPr>
        <p:spPr>
          <a:xfrm>
            <a:off x="3160939" y="3338227"/>
            <a:ext cx="0" cy="13307"/>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2941864" y="3338227"/>
            <a:ext cx="438150" cy="19050"/>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660196" y="3185827"/>
            <a:ext cx="1001486" cy="133350"/>
          </a:xfrm>
          <a:prstGeom prst="rect">
            <a:avLst/>
          </a:prstGeom>
          <a:noFill/>
        </p:spPr>
        <p:txBody>
          <a:bodyPr wrap="square" lIns="28575" tIns="9525" rIns="28575" bIns="9525">
            <a:spAutoFit/>
          </a:bodyPr>
          <a:lstStyle/>
          <a:p>
            <a:pPr algn="ctr"/>
            <a:r>
              <a:rPr sz="1100" b="1">
                <a:solidFill>
                  <a:srgbClr val="0B2E4A"/>
                </a:solidFill>
                <a:latin typeface="Calibri"/>
              </a:rPr>
              <a:t>0.2</a:t>
            </a:r>
          </a:p>
        </p:txBody>
      </p:sp>
      <p:sp>
        <p:nvSpPr>
          <p:cNvPr id="27" name="TextBox 26"/>
          <p:cNvSpPr txBox="1"/>
          <p:nvPr/>
        </p:nvSpPr>
        <p:spPr>
          <a:xfrm>
            <a:off x="2660196" y="3566301"/>
            <a:ext cx="1001486" cy="285750"/>
          </a:xfrm>
          <a:prstGeom prst="rect">
            <a:avLst/>
          </a:prstGeom>
          <a:noFill/>
        </p:spPr>
        <p:txBody>
          <a:bodyPr wrap="square" lIns="28575" tIns="9525" rIns="28575" bIns="9525">
            <a:spAutoFit/>
          </a:bodyPr>
          <a:lstStyle/>
          <a:p>
            <a:pPr algn="ctr"/>
            <a:r>
              <a:rPr sz="1100" b="0">
                <a:solidFill>
                  <a:srgbClr val="2E2E2E"/>
                </a:solidFill>
                <a:latin typeface="Calibri"/>
              </a:rPr>
              <a:t>Softgels</a:t>
            </a:r>
          </a:p>
        </p:txBody>
      </p:sp>
      <p:cxnSp>
        <p:nvCxnSpPr>
          <p:cNvPr id="28" name="Connector 27"/>
          <p:cNvCxnSpPr/>
          <p:nvPr/>
        </p:nvCxnSpPr>
        <p:spPr>
          <a:xfrm>
            <a:off x="4162425" y="3365979"/>
            <a:ext cx="0" cy="11015"/>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943350" y="3365979"/>
            <a:ext cx="438150" cy="19050"/>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61682" y="3213579"/>
            <a:ext cx="1001486" cy="133350"/>
          </a:xfrm>
          <a:prstGeom prst="rect">
            <a:avLst/>
          </a:prstGeom>
          <a:noFill/>
        </p:spPr>
        <p:txBody>
          <a:bodyPr wrap="square" lIns="28575" tIns="9525" rIns="28575" bIns="9525">
            <a:spAutoFit/>
          </a:bodyPr>
          <a:lstStyle/>
          <a:p>
            <a:pPr algn="ctr"/>
            <a:r>
              <a:rPr sz="1100" b="1">
                <a:solidFill>
                  <a:srgbClr val="0B2E4A"/>
                </a:solidFill>
                <a:latin typeface="Calibri"/>
              </a:rPr>
              <a:t>0.2</a:t>
            </a:r>
          </a:p>
        </p:txBody>
      </p:sp>
      <p:sp>
        <p:nvSpPr>
          <p:cNvPr id="31" name="TextBox 30"/>
          <p:cNvSpPr txBox="1"/>
          <p:nvPr/>
        </p:nvSpPr>
        <p:spPr>
          <a:xfrm>
            <a:off x="3661682" y="3566301"/>
            <a:ext cx="1001486" cy="285750"/>
          </a:xfrm>
          <a:prstGeom prst="rect">
            <a:avLst/>
          </a:prstGeom>
          <a:noFill/>
        </p:spPr>
        <p:txBody>
          <a:bodyPr wrap="square" lIns="28575" tIns="9525" rIns="28575" bIns="9525">
            <a:spAutoFit/>
          </a:bodyPr>
          <a:lstStyle/>
          <a:p>
            <a:pPr algn="ctr"/>
            <a:r>
              <a:rPr sz="1100" b="0">
                <a:solidFill>
                  <a:srgbClr val="2E2E2E"/>
                </a:solidFill>
                <a:latin typeface="Calibri"/>
              </a:rPr>
              <a:t>Gummies</a:t>
            </a:r>
          </a:p>
        </p:txBody>
      </p:sp>
      <p:cxnSp>
        <p:nvCxnSpPr>
          <p:cNvPr id="32" name="Connector 31"/>
          <p:cNvCxnSpPr/>
          <p:nvPr/>
        </p:nvCxnSpPr>
        <p:spPr>
          <a:xfrm>
            <a:off x="5163911" y="2670266"/>
            <a:ext cx="0" cy="73828"/>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944836" y="2670266"/>
            <a:ext cx="438150" cy="73828"/>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63168" y="2517866"/>
            <a:ext cx="1001486" cy="133350"/>
          </a:xfrm>
          <a:prstGeom prst="rect">
            <a:avLst/>
          </a:prstGeom>
          <a:noFill/>
        </p:spPr>
        <p:txBody>
          <a:bodyPr wrap="square" lIns="28575" tIns="9525" rIns="28575" bIns="9525">
            <a:spAutoFit/>
          </a:bodyPr>
          <a:lstStyle/>
          <a:p>
            <a:pPr algn="ctr"/>
            <a:r>
              <a:rPr sz="1100" b="1">
                <a:solidFill>
                  <a:srgbClr val="0B2E4A"/>
                </a:solidFill>
                <a:latin typeface="Calibri"/>
              </a:rPr>
              <a:t>1.0</a:t>
            </a:r>
          </a:p>
        </p:txBody>
      </p:sp>
      <p:sp>
        <p:nvSpPr>
          <p:cNvPr id="35" name="TextBox 34"/>
          <p:cNvSpPr txBox="1"/>
          <p:nvPr/>
        </p:nvSpPr>
        <p:spPr>
          <a:xfrm>
            <a:off x="4663168" y="3566301"/>
            <a:ext cx="1001486" cy="285750"/>
          </a:xfrm>
          <a:prstGeom prst="rect">
            <a:avLst/>
          </a:prstGeom>
          <a:noFill/>
        </p:spPr>
        <p:txBody>
          <a:bodyPr wrap="square" lIns="28575" tIns="9525" rIns="28575" bIns="9525">
            <a:spAutoFit/>
          </a:bodyPr>
          <a:lstStyle/>
          <a:p>
            <a:pPr algn="ctr"/>
            <a:r>
              <a:rPr sz="1100" b="0">
                <a:solidFill>
                  <a:srgbClr val="2E2E2E"/>
                </a:solidFill>
                <a:latin typeface="Calibri"/>
              </a:rPr>
              <a:t>Powder</a:t>
            </a:r>
          </a:p>
        </p:txBody>
      </p:sp>
      <p:cxnSp>
        <p:nvCxnSpPr>
          <p:cNvPr id="36" name="Connector 35"/>
          <p:cNvCxnSpPr/>
          <p:nvPr/>
        </p:nvCxnSpPr>
        <p:spPr>
          <a:xfrm>
            <a:off x="6165396" y="1934064"/>
            <a:ext cx="0" cy="120701"/>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946321" y="1934064"/>
            <a:ext cx="438150" cy="120701"/>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664654" y="1781664"/>
            <a:ext cx="1001486" cy="133350"/>
          </a:xfrm>
          <a:prstGeom prst="rect">
            <a:avLst/>
          </a:prstGeom>
          <a:noFill/>
        </p:spPr>
        <p:txBody>
          <a:bodyPr wrap="square" lIns="28575" tIns="9525" rIns="28575" bIns="9525">
            <a:spAutoFit/>
          </a:bodyPr>
          <a:lstStyle/>
          <a:p>
            <a:pPr algn="ctr"/>
            <a:r>
              <a:rPr sz="1100" b="1">
                <a:solidFill>
                  <a:srgbClr val="0B2E4A"/>
                </a:solidFill>
                <a:latin typeface="Calibri"/>
              </a:rPr>
              <a:t>1.8</a:t>
            </a:r>
          </a:p>
        </p:txBody>
      </p:sp>
      <p:sp>
        <p:nvSpPr>
          <p:cNvPr id="39" name="TextBox 38"/>
          <p:cNvSpPr txBox="1"/>
          <p:nvPr/>
        </p:nvSpPr>
        <p:spPr>
          <a:xfrm>
            <a:off x="5664654" y="3566301"/>
            <a:ext cx="1001486" cy="285750"/>
          </a:xfrm>
          <a:prstGeom prst="rect">
            <a:avLst/>
          </a:prstGeom>
          <a:noFill/>
        </p:spPr>
        <p:txBody>
          <a:bodyPr wrap="square" lIns="28575" tIns="9525" rIns="28575" bIns="9525">
            <a:spAutoFit/>
          </a:bodyPr>
          <a:lstStyle/>
          <a:p>
            <a:pPr algn="ctr"/>
            <a:r>
              <a:rPr sz="1100" b="0">
                <a:solidFill>
                  <a:srgbClr val="2E2E2E"/>
                </a:solidFill>
                <a:latin typeface="Calibri"/>
              </a:rPr>
              <a:t>Bar</a:t>
            </a:r>
          </a:p>
        </p:txBody>
      </p:sp>
      <p:cxnSp>
        <p:nvCxnSpPr>
          <p:cNvPr id="40" name="Connector 39"/>
          <p:cNvCxnSpPr/>
          <p:nvPr/>
        </p:nvCxnSpPr>
        <p:spPr>
          <a:xfrm>
            <a:off x="7166882" y="2933203"/>
            <a:ext cx="0" cy="46942"/>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6947807" y="2933203"/>
            <a:ext cx="438150" cy="46942"/>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666139" y="2780803"/>
            <a:ext cx="1001486" cy="133350"/>
          </a:xfrm>
          <a:prstGeom prst="rect">
            <a:avLst/>
          </a:prstGeom>
          <a:noFill/>
        </p:spPr>
        <p:txBody>
          <a:bodyPr wrap="square" lIns="28575" tIns="9525" rIns="28575" bIns="9525">
            <a:spAutoFit/>
          </a:bodyPr>
          <a:lstStyle/>
          <a:p>
            <a:pPr algn="ctr"/>
            <a:r>
              <a:rPr sz="1100" b="1">
                <a:solidFill>
                  <a:srgbClr val="0B2E4A"/>
                </a:solidFill>
                <a:latin typeface="Calibri"/>
              </a:rPr>
              <a:t>0.7</a:t>
            </a:r>
          </a:p>
        </p:txBody>
      </p:sp>
      <p:sp>
        <p:nvSpPr>
          <p:cNvPr id="43" name="TextBox 42"/>
          <p:cNvSpPr txBox="1"/>
          <p:nvPr/>
        </p:nvSpPr>
        <p:spPr>
          <a:xfrm>
            <a:off x="6666139" y="3566301"/>
            <a:ext cx="1001486" cy="285750"/>
          </a:xfrm>
          <a:prstGeom prst="rect">
            <a:avLst/>
          </a:prstGeom>
          <a:noFill/>
        </p:spPr>
        <p:txBody>
          <a:bodyPr wrap="square" lIns="28575" tIns="9525" rIns="28575" bIns="9525">
            <a:spAutoFit/>
          </a:bodyPr>
          <a:lstStyle/>
          <a:p>
            <a:pPr algn="ctr"/>
            <a:r>
              <a:rPr sz="1100" b="0">
                <a:solidFill>
                  <a:srgbClr val="2E2E2E"/>
                </a:solidFill>
                <a:latin typeface="Calibri"/>
              </a:rPr>
              <a:t>Liquid</a:t>
            </a:r>
          </a:p>
        </p:txBody>
      </p:sp>
      <p:sp>
        <p:nvSpPr>
          <p:cNvPr id="44" name="Rounded Rectangle 43"/>
          <p:cNvSpPr/>
          <p:nvPr/>
        </p:nvSpPr>
        <p:spPr>
          <a:xfrm>
            <a:off x="142875" y="3991741"/>
            <a:ext cx="7696200" cy="2564645"/>
          </a:xfrm>
          <a:prstGeom prst="roundRect">
            <a:avLst>
              <a:gd name="adj" fmla="val 29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38125" y="4048891"/>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Price Variation by Country</a:t>
            </a:r>
          </a:p>
        </p:txBody>
      </p:sp>
      <p:cxnSp>
        <p:nvCxnSpPr>
          <p:cNvPr id="46" name="Connector 45"/>
          <p:cNvCxnSpPr/>
          <p:nvPr/>
        </p:nvCxnSpPr>
        <p:spPr>
          <a:xfrm>
            <a:off x="619125" y="45280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19125" y="491535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19125" y="530263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19125" y="568991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19125" y="607720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19125" y="4528076"/>
            <a:ext cx="0" cy="1549124"/>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90550" y="45280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90550" y="491535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590550" y="530263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90550" y="5689919"/>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90550" y="607720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57" name="FMI Scale tick"/>
          <p:cNvSpPr txBox="1"/>
          <p:nvPr/>
        </p:nvSpPr>
        <p:spPr>
          <a:xfrm>
            <a:off x="138112" y="4461401"/>
            <a:ext cx="442912" cy="133350"/>
          </a:xfrm>
          <a:prstGeom prst="rect">
            <a:avLst/>
          </a:prstGeom>
          <a:noFill/>
        </p:spPr>
        <p:txBody>
          <a:bodyPr wrap="square" lIns="28575" tIns="9525" rIns="28575" bIns="9525" anchor="ctr">
            <a:spAutoFit/>
          </a:bodyPr>
          <a:lstStyle/>
          <a:p>
            <a:pPr algn="r"/>
            <a:r>
              <a:rPr sz="1100" b="0">
                <a:solidFill>
                  <a:srgbClr val="6C7A89"/>
                </a:solidFill>
                <a:latin typeface="Calibri"/>
              </a:rPr>
              <a:t>+8.7%</a:t>
            </a:r>
          </a:p>
        </p:txBody>
      </p:sp>
      <p:sp>
        <p:nvSpPr>
          <p:cNvPr id="58" name="FMI Scale tick"/>
          <p:cNvSpPr txBox="1"/>
          <p:nvPr/>
        </p:nvSpPr>
        <p:spPr>
          <a:xfrm>
            <a:off x="138112" y="4848682"/>
            <a:ext cx="442912" cy="133350"/>
          </a:xfrm>
          <a:prstGeom prst="rect">
            <a:avLst/>
          </a:prstGeom>
          <a:noFill/>
        </p:spPr>
        <p:txBody>
          <a:bodyPr wrap="square" lIns="28575" tIns="9525" rIns="28575" bIns="9525" anchor="ctr">
            <a:spAutoFit/>
          </a:bodyPr>
          <a:lstStyle/>
          <a:p>
            <a:pPr algn="r"/>
            <a:r>
              <a:rPr sz="1100" b="0">
                <a:solidFill>
                  <a:srgbClr val="6C7A89"/>
                </a:solidFill>
                <a:latin typeface="Calibri"/>
              </a:rPr>
              <a:t>+4.3%</a:t>
            </a:r>
          </a:p>
        </p:txBody>
      </p:sp>
      <p:sp>
        <p:nvSpPr>
          <p:cNvPr id="59" name="FMI Scale tick"/>
          <p:cNvSpPr txBox="1"/>
          <p:nvPr/>
        </p:nvSpPr>
        <p:spPr>
          <a:xfrm>
            <a:off x="219075" y="5235963"/>
            <a:ext cx="361950" cy="133350"/>
          </a:xfrm>
          <a:prstGeom prst="rect">
            <a:avLst/>
          </a:prstGeom>
          <a:noFill/>
        </p:spPr>
        <p:txBody>
          <a:bodyPr wrap="none" lIns="0" tIns="0" rIns="0" bIns="0" anchor="ctr">
            <a:spAutoFit/>
          </a:bodyPr>
          <a:lstStyle/>
          <a:p>
            <a:pPr algn="r"/>
            <a:r>
              <a:rPr sz="1100" b="0">
                <a:solidFill>
                  <a:srgbClr val="6C7A89"/>
                </a:solidFill>
                <a:latin typeface="Calibri"/>
              </a:rPr>
              <a:t>0%</a:t>
            </a:r>
          </a:p>
        </p:txBody>
      </p:sp>
      <p:sp>
        <p:nvSpPr>
          <p:cNvPr id="60" name="FMI Scale tick"/>
          <p:cNvSpPr txBox="1"/>
          <p:nvPr/>
        </p:nvSpPr>
        <p:spPr>
          <a:xfrm>
            <a:off x="164306" y="5623244"/>
            <a:ext cx="416719" cy="133350"/>
          </a:xfrm>
          <a:prstGeom prst="rect">
            <a:avLst/>
          </a:prstGeom>
          <a:noFill/>
        </p:spPr>
        <p:txBody>
          <a:bodyPr wrap="square" lIns="28575" tIns="9525" rIns="28575" bIns="9525" anchor="ctr">
            <a:spAutoFit/>
          </a:bodyPr>
          <a:lstStyle/>
          <a:p>
            <a:pPr algn="r"/>
            <a:r>
              <a:rPr sz="1100" b="0">
                <a:solidFill>
                  <a:srgbClr val="6C7A89"/>
                </a:solidFill>
                <a:latin typeface="Calibri"/>
              </a:rPr>
              <a:t>-4.3%</a:t>
            </a:r>
          </a:p>
        </p:txBody>
      </p:sp>
      <p:sp>
        <p:nvSpPr>
          <p:cNvPr id="61" name="FMI Scale tick"/>
          <p:cNvSpPr txBox="1"/>
          <p:nvPr/>
        </p:nvSpPr>
        <p:spPr>
          <a:xfrm>
            <a:off x="164306" y="6010525"/>
            <a:ext cx="416719" cy="133350"/>
          </a:xfrm>
          <a:prstGeom prst="rect">
            <a:avLst/>
          </a:prstGeom>
          <a:noFill/>
        </p:spPr>
        <p:txBody>
          <a:bodyPr wrap="square" lIns="28575" tIns="9525" rIns="28575" bIns="9525" anchor="ctr">
            <a:spAutoFit/>
          </a:bodyPr>
          <a:lstStyle/>
          <a:p>
            <a:pPr algn="r"/>
            <a:r>
              <a:rPr sz="1100" b="0">
                <a:solidFill>
                  <a:srgbClr val="6C7A89"/>
                </a:solidFill>
                <a:latin typeface="Calibri"/>
              </a:rPr>
              <a:t>-8.7%</a:t>
            </a:r>
          </a:p>
        </p:txBody>
      </p:sp>
      <p:cxnSp>
        <p:nvCxnSpPr>
          <p:cNvPr id="62" name="Connector 61"/>
          <p:cNvCxnSpPr/>
          <p:nvPr/>
        </p:nvCxnSpPr>
        <p:spPr>
          <a:xfrm>
            <a:off x="619125" y="5302638"/>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3914775" y="4627936"/>
            <a:ext cx="457200" cy="67470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FMI Data Label"/>
          <p:cNvSpPr txBox="1"/>
          <p:nvPr/>
        </p:nvSpPr>
        <p:spPr>
          <a:xfrm>
            <a:off x="619125" y="4485061"/>
            <a:ext cx="7048500" cy="133350"/>
          </a:xfrm>
          <a:prstGeom prst="rect">
            <a:avLst/>
          </a:prstGeom>
          <a:noFill/>
        </p:spPr>
        <p:txBody>
          <a:bodyPr wrap="square" lIns="28575" tIns="9525" rIns="28575" bIns="9525">
            <a:spAutoFit/>
          </a:bodyPr>
          <a:lstStyle/>
          <a:p>
            <a:pPr algn="ctr"/>
            <a:r>
              <a:rPr sz="1100" b="1">
                <a:solidFill>
                  <a:srgbClr val="2E2E2E"/>
                </a:solidFill>
                <a:latin typeface="Calibri"/>
              </a:rPr>
              <a:t>+7.6%</a:t>
            </a:r>
          </a:p>
        </p:txBody>
      </p:sp>
      <p:sp>
        <p:nvSpPr>
          <p:cNvPr id="65" name="TextBox 64"/>
          <p:cNvSpPr txBox="1"/>
          <p:nvPr/>
        </p:nvSpPr>
        <p:spPr>
          <a:xfrm>
            <a:off x="619125" y="6242060"/>
            <a:ext cx="7048500" cy="247650"/>
          </a:xfrm>
          <a:prstGeom prst="rect">
            <a:avLst/>
          </a:prstGeom>
          <a:noFill/>
        </p:spPr>
        <p:txBody>
          <a:bodyPr wrap="square" lIns="28575" tIns="9525" rIns="28575" bIns="9525">
            <a:spAutoFit/>
          </a:bodyPr>
          <a:lstStyle/>
          <a:p>
            <a:pPr algn="ctr"/>
            <a:r>
              <a:rPr sz="1100" b="0">
                <a:solidFill>
                  <a:srgbClr val="2E2E2E"/>
                </a:solidFill>
                <a:latin typeface="Calibri"/>
              </a:rPr>
              <a:t>USA</a:t>
            </a:r>
          </a:p>
        </p:txBody>
      </p:sp>
      <p:sp>
        <p:nvSpPr>
          <p:cNvPr id="66" name="Rounded Rectangle 65"/>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048625" y="1403299"/>
            <a:ext cx="3867150" cy="209550"/>
          </a:xfrm>
          <a:prstGeom prst="rect">
            <a:avLst/>
          </a:prstGeom>
          <a:noFill/>
        </p:spPr>
        <p:txBody>
          <a:bodyPr wrap="square" lIns="0" tIns="9525" rIns="19050" bIns="9525">
            <a:spAutoFit/>
          </a:bodyPr>
          <a:lstStyle/>
          <a:p>
            <a:pPr algn="l"/>
            <a:r>
              <a:rPr sz="1300" b="1">
                <a:solidFill>
                  <a:srgbClr val="0B2E4A"/>
                </a:solidFill>
                <a:latin typeface="Calibri"/>
              </a:rPr>
              <a:t>Key Takeaways</a:t>
            </a:r>
          </a:p>
        </p:txBody>
      </p:sp>
      <p:sp>
        <p:nvSpPr>
          <p:cNvPr id="68" name="Rectangle 67"/>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048625" y="1727149"/>
            <a:ext cx="3867150" cy="4753036"/>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The chart shows USA average pricing of key product format types in USD, harmonised across regions. Each candlestick spans the minimum-to-maximum observed price within the base year, giving a clear read of price range and market dispersion.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Wider bodies mark a larger gap between opening and closing price levels 'Capsule' shows the most movement (+12.0%) and 'Gummies' the least (+6.9%) variability stakeholders should monitor when planning procurement or pricing.</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The lower chart indexes country-level price movement to the base year, applied consistently across the horizon to strip out year-on-year inflationary volatility and reveal structural price shifts.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Country price indices diverge by up to 7.6% between 2026 and 2036: higher-priced countries start higher and grow steadily, while lower-priced countries start lower and converge, reflecting catch-up growth.</a:t>
            </a:r>
          </a:p>
        </p:txBody>
      </p:sp>
      <p:sp>
        <p:nvSpPr>
          <p:cNvPr id="70" name="TextBox 6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Pricing Assessment: By Product Type</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Average price (US$/Units) by product type, 2021 to 2036, with 2026 price index and growth outlook</a:t>
            </a:r>
          </a:p>
        </p:txBody>
      </p:sp>
      <p:sp>
        <p:nvSpPr>
          <p:cNvPr id="10" name="Rectangle 9"/>
          <p:cNvSpPr/>
          <p:nvPr/>
        </p:nvSpPr>
        <p:spPr>
          <a:xfrm>
            <a:off x="274320" y="981075"/>
            <a:ext cx="11640312" cy="457200"/>
          </a:xfrm>
          <a:prstGeom prst="rect">
            <a:avLst/>
          </a:prstGeom>
          <a:solidFill>
            <a:srgbClr val="0B2E4A"/>
          </a:solidFill>
          <a:ln>
            <a:noFill/>
          </a:ln>
          <a:effectLst/>
        </p:spPr>
        <p:txBody>
          <a:bodyPr wrap="square" lIns="137160" rtlCol="0" anchor="ctr"/>
          <a:lstStyle/>
          <a:p>
            <a:pPr algn="l"/>
            <a:r>
              <a:rPr sz="1300" b="1">
                <a:solidFill>
                  <a:srgbClr val="FFFFFF"/>
                </a:solidFill>
                <a:latin typeface="Calibri"/>
              </a:rPr>
              <a:t>Iron commands the highest 2026 price point at US$ 0/MT, a 0.0% premium over Probiotic.</a:t>
            </a:r>
          </a:p>
        </p:txBody>
      </p:sp>
      <p:sp>
        <p:nvSpPr>
          <p:cNvPr id="11" name="Rectangle 10"/>
          <p:cNvSpPr/>
          <p:nvPr/>
        </p:nvSpPr>
        <p:spPr>
          <a:xfrm>
            <a:off x="274320" y="1529715"/>
            <a:ext cx="6446520" cy="3520440"/>
          </a:xfrm>
          <a:prstGeom prst="rect">
            <a:avLst/>
          </a:prstGeom>
          <a:solidFill>
            <a:srgbClr val="F3F6F9"/>
          </a:solidFill>
          <a:ln>
            <a:noFill/>
          </a:ln>
          <a:effectLst/>
        </p:spPr>
        <p:txBody>
          <a:bodyPr rtlCol="0" anchor="ctr"/>
          <a:lstStyle/>
          <a:p>
            <a:pPr algn="ctr"/>
            <a:endParaRPr/>
          </a:p>
        </p:txBody>
      </p:sp>
      <p:sp>
        <p:nvSpPr>
          <p:cNvPr id="12" name="TextBox 11"/>
          <p:cNvSpPr txBox="1"/>
          <p:nvPr/>
        </p:nvSpPr>
        <p:spPr>
          <a:xfrm>
            <a:off x="384048" y="1575435"/>
            <a:ext cx="6217920" cy="257175"/>
          </a:xfrm>
          <a:prstGeom prst="rect">
            <a:avLst/>
          </a:prstGeom>
          <a:noFill/>
        </p:spPr>
        <p:txBody>
          <a:bodyPr wrap="square" lIns="27432" tIns="27432" rIns="27432" bIns="27432" anchor="t">
            <a:spAutoFit/>
          </a:bodyPr>
          <a:lstStyle/>
          <a:p>
            <a:pPr algn="l"/>
            <a:r>
              <a:rPr sz="1150" b="1" i="0">
                <a:solidFill>
                  <a:srgbClr val="0B2E4A"/>
                </a:solidFill>
                <a:latin typeface="Calibri"/>
              </a:rPr>
              <a:t>Price Trend by Product Type, 2021 to 2036 (US$/Units)</a:t>
            </a:r>
          </a:p>
        </p:txBody>
      </p:sp>
      <p:graphicFrame>
        <p:nvGraphicFramePr>
          <p:cNvPr id="13" name="FMI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p:cNvSpPr txBox="1"/>
          <p:nvPr/>
        </p:nvSpPr>
        <p:spPr>
          <a:xfrm>
            <a:off x="4572000" y="1593723"/>
            <a:ext cx="2103120" cy="228600"/>
          </a:xfrm>
          <a:prstGeom prst="rect">
            <a:avLst/>
          </a:prstGeom>
          <a:noFill/>
        </p:spPr>
        <p:txBody>
          <a:bodyPr wrap="square" lIns="27432" tIns="27432" rIns="27432" bIns="27432" anchor="t">
            <a:spAutoFit/>
          </a:bodyPr>
          <a:lstStyle/>
          <a:p>
            <a:pPr algn="r"/>
            <a:r>
              <a:rPr sz="850" b="0" i="1">
                <a:solidFill>
                  <a:srgbClr val="59636E"/>
                </a:solidFill>
                <a:latin typeface="Calibri"/>
              </a:rPr>
              <a:t>Forecast period: 2026 to 2036</a:t>
            </a:r>
          </a:p>
        </p:txBody>
      </p:sp>
      <p:sp>
        <p:nvSpPr>
          <p:cNvPr id="15" name="Rectangle 14"/>
          <p:cNvSpPr/>
          <p:nvPr/>
        </p:nvSpPr>
        <p:spPr>
          <a:xfrm>
            <a:off x="6858000" y="1529715"/>
            <a:ext cx="5056632" cy="1600200"/>
          </a:xfrm>
          <a:prstGeom prst="rect">
            <a:avLst/>
          </a:prstGeom>
          <a:solidFill>
            <a:srgbClr val="F3F6F9"/>
          </a:solidFill>
          <a:ln>
            <a:noFill/>
          </a:ln>
          <a:effectLst/>
        </p:spPr>
        <p:txBody>
          <a:bodyPr rtlCol="0" anchor="ctr"/>
          <a:lstStyle/>
          <a:p>
            <a:pPr algn="ctr"/>
            <a:endParaRPr/>
          </a:p>
        </p:txBody>
      </p:sp>
      <p:sp>
        <p:nvSpPr>
          <p:cNvPr id="16" name="TextBox 15"/>
          <p:cNvSpPr txBox="1"/>
          <p:nvPr/>
        </p:nvSpPr>
        <p:spPr>
          <a:xfrm>
            <a:off x="6967728" y="1575435"/>
            <a:ext cx="4846320" cy="257175"/>
          </a:xfrm>
          <a:prstGeom prst="rect">
            <a:avLst/>
          </a:prstGeom>
          <a:noFill/>
        </p:spPr>
        <p:txBody>
          <a:bodyPr wrap="square" lIns="27432" tIns="27432" rIns="27432" bIns="27432" anchor="t">
            <a:spAutoFit/>
          </a:bodyPr>
          <a:lstStyle/>
          <a:p>
            <a:pPr algn="l"/>
            <a:r>
              <a:rPr sz="1150" b="1" i="0">
                <a:solidFill>
                  <a:srgbClr val="0B2E4A"/>
                </a:solidFill>
                <a:latin typeface="Calibri"/>
              </a:rPr>
              <a:t>2026 Price Index vs USA Average (= 100)</a:t>
            </a:r>
          </a:p>
        </p:txBody>
      </p:sp>
      <p:graphicFrame>
        <p:nvGraphicFramePr>
          <p:cNvPr id="17" name="FMI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8" name="Table 17"/>
          <p:cNvGraphicFramePr>
            <a:graphicFrameLocks noGrp="1"/>
          </p:cNvGraphicFramePr>
          <p:nvPr/>
        </p:nvGraphicFramePr>
        <p:xfrm>
          <a:off x="6858000" y="3203067"/>
          <a:ext cx="5056632" cy="1847088"/>
        </p:xfrm>
        <a:graphic>
          <a:graphicData uri="http://schemas.openxmlformats.org/drawingml/2006/table">
            <a:tbl>
              <a:tblPr firstRow="1" bandRow="1">
                <a:tableStyleId>{5C22544A-7EE6-4342-B048-85BDC9FD1C3A}</a:tableStyleId>
              </a:tblPr>
              <a:tblGrid>
                <a:gridCol w="2130552">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502920">
                  <a:extLst>
                    <a:ext uri="{9D8B030D-6E8A-4147-A177-3AD203B41FA5}">
                      <a16:colId xmlns:a16="http://schemas.microsoft.com/office/drawing/2014/main" val="20005"/>
                    </a:ext>
                  </a:extLst>
                </a:gridCol>
              </a:tblGrid>
              <a:tr h="205232">
                <a:tc>
                  <a:txBody>
                    <a:bodyPr/>
                    <a:lstStyle/>
                    <a:p>
                      <a:pPr algn="l"/>
                      <a:r>
                        <a:rPr sz="850" b="1">
                          <a:solidFill>
                            <a:srgbClr val="FFFFFF"/>
                          </a:solidFill>
                          <a:latin typeface="Calibri"/>
                        </a:rPr>
                        <a:t>Product Type</a:t>
                      </a:r>
                    </a:p>
                  </a:txBody>
                  <a:tcPr marL="36576" marR="36576" marT="9144" marB="9144" anchor="ctr">
                    <a:solidFill>
                      <a:srgbClr val="0B2E4A"/>
                    </a:solidFill>
                  </a:tcPr>
                </a:tc>
                <a:tc>
                  <a:txBody>
                    <a:bodyPr/>
                    <a:lstStyle/>
                    <a:p>
                      <a:pPr algn="ctr"/>
                      <a:r>
                        <a:rPr sz="850" b="1">
                          <a:solidFill>
                            <a:srgbClr val="FFFFFF"/>
                          </a:solidFill>
                          <a:latin typeface="Calibri"/>
                        </a:rPr>
                        <a:t>2021</a:t>
                      </a:r>
                    </a:p>
                  </a:txBody>
                  <a:tcPr marL="36576" marR="36576" marT="9144" marB="9144" anchor="ctr">
                    <a:solidFill>
                      <a:srgbClr val="0B2E4A"/>
                    </a:solidFill>
                  </a:tcPr>
                </a:tc>
                <a:tc>
                  <a:txBody>
                    <a:bodyPr/>
                    <a:lstStyle/>
                    <a:p>
                      <a:pPr algn="ctr"/>
                      <a:r>
                        <a:rPr sz="850" b="1">
                          <a:solidFill>
                            <a:srgbClr val="FFFFFF"/>
                          </a:solidFill>
                          <a:latin typeface="Calibri"/>
                        </a:rPr>
                        <a:t>2026</a:t>
                      </a:r>
                    </a:p>
                  </a:txBody>
                  <a:tcPr marL="36576" marR="36576" marT="9144" marB="9144" anchor="ctr">
                    <a:solidFill>
                      <a:srgbClr val="0B2E4A"/>
                    </a:solidFill>
                  </a:tcPr>
                </a:tc>
                <a:tc>
                  <a:txBody>
                    <a:bodyPr/>
                    <a:lstStyle/>
                    <a:p>
                      <a:pPr algn="ctr"/>
                      <a:r>
                        <a:rPr sz="850" b="1">
                          <a:solidFill>
                            <a:srgbClr val="FFFFFF"/>
                          </a:solidFill>
                          <a:latin typeface="Calibri"/>
                        </a:rPr>
                        <a:t>2036</a:t>
                      </a:r>
                    </a:p>
                  </a:txBody>
                  <a:tcPr marL="36576" marR="36576" marT="9144" marB="9144" anchor="ctr">
                    <a:solidFill>
                      <a:srgbClr val="0B2E4A"/>
                    </a:solidFill>
                  </a:tcPr>
                </a:tc>
                <a:tc>
                  <a:txBody>
                    <a:bodyPr/>
                    <a:lstStyle/>
                    <a:p>
                      <a:pPr algn="ctr"/>
                      <a:r>
                        <a:rPr sz="850" b="1">
                          <a:solidFill>
                            <a:srgbClr val="FFFFFF"/>
                          </a:solidFill>
                          <a:latin typeface="Calibri"/>
                        </a:rPr>
                        <a:t>CAGR 2026 to 2036</a:t>
                      </a:r>
                    </a:p>
                  </a:txBody>
                  <a:tcPr marL="36576" marR="36576" marT="9144" marB="9144" anchor="ctr">
                    <a:solidFill>
                      <a:srgbClr val="0B2E4A"/>
                    </a:solidFill>
                  </a:tcPr>
                </a:tc>
                <a:tc>
                  <a:txBody>
                    <a:bodyPr/>
                    <a:lstStyle/>
                    <a:p>
                      <a:pPr algn="ctr"/>
                      <a:r>
                        <a:rPr sz="850" b="1">
                          <a:solidFill>
                            <a:srgbClr val="FFFFFF"/>
                          </a:solidFill>
                          <a:latin typeface="Calibri"/>
                        </a:rPr>
                        <a:t>Index</a:t>
                      </a:r>
                    </a:p>
                  </a:txBody>
                  <a:tcPr marL="36576" marR="36576" marT="9144" marB="9144" anchor="ctr">
                    <a:solidFill>
                      <a:srgbClr val="0B2E4A"/>
                    </a:solidFill>
                  </a:tcPr>
                </a:tc>
                <a:extLst>
                  <a:ext uri="{0D108BD9-81ED-4DB2-BD59-A6C34878D82A}">
                    <a16:rowId xmlns:a16="http://schemas.microsoft.com/office/drawing/2014/main" val="10000"/>
                  </a:ext>
                </a:extLst>
              </a:tr>
              <a:tr h="205232">
                <a:tc>
                  <a:txBody>
                    <a:bodyPr/>
                    <a:lstStyle/>
                    <a:p>
                      <a:pPr algn="l"/>
                      <a:r>
                        <a:rPr sz="850" b="1">
                          <a:solidFill>
                            <a:srgbClr val="1F1F1F"/>
                          </a:solidFill>
                          <a:latin typeface="Calibri"/>
                        </a:rPr>
                        <a:t>Iron</a:t>
                      </a:r>
                    </a:p>
                  </a:txBody>
                  <a:tcPr marL="36576" marR="36576" marT="9144" marB="9144" anchor="ctr">
                    <a:solidFill>
                      <a:srgbClr val="FFFFFF"/>
                    </a:solidFill>
                  </a:tcPr>
                </a:tc>
                <a:tc>
                  <a:txBody>
                    <a:bodyPr/>
                    <a:lstStyle/>
                    <a:p>
                      <a:pPr algn="ctr"/>
                      <a:r>
                        <a:rPr sz="850" b="0">
                          <a:solidFill>
                            <a:srgbClr val="1F1F1F"/>
                          </a:solidFill>
                          <a:latin typeface="Calibri"/>
                        </a:rPr>
                        <a:t>0</a:t>
                      </a:r>
                    </a:p>
                  </a:txBody>
                  <a:tcPr marL="36576" marR="36576" marT="9144" marB="9144" anchor="ctr">
                    <a:solidFill>
                      <a:srgbClr val="FFFFFF"/>
                    </a:solidFill>
                  </a:tcPr>
                </a:tc>
                <a:tc>
                  <a:txBody>
                    <a:bodyPr/>
                    <a:lstStyle/>
                    <a:p>
                      <a:pPr algn="ctr"/>
                      <a:r>
                        <a:rPr sz="850" b="0">
                          <a:solidFill>
                            <a:srgbClr val="1F1F1F"/>
                          </a:solidFill>
                          <a:latin typeface="Calibri"/>
                        </a:rPr>
                        <a:t>0</a:t>
                      </a:r>
                    </a:p>
                  </a:txBody>
                  <a:tcPr marL="36576" marR="36576" marT="9144" marB="9144" anchor="ctr">
                    <a:solidFill>
                      <a:srgbClr val="FFFFFF"/>
                    </a:solidFill>
                  </a:tcPr>
                </a:tc>
                <a:tc>
                  <a:txBody>
                    <a:bodyPr/>
                    <a:lstStyle/>
                    <a:p>
                      <a:pPr algn="ctr"/>
                      <a:r>
                        <a:rPr sz="850" b="0">
                          <a:solidFill>
                            <a:srgbClr val="1F1F1F"/>
                          </a:solidFill>
                          <a:latin typeface="Calibri"/>
                        </a:rPr>
                        <a:t>0</a:t>
                      </a:r>
                    </a:p>
                  </a:txBody>
                  <a:tcPr marL="36576" marR="36576" marT="9144" marB="9144" anchor="ctr">
                    <a:solidFill>
                      <a:srgbClr val="FFFFFF"/>
                    </a:solidFill>
                  </a:tcPr>
                </a:tc>
                <a:tc>
                  <a:txBody>
                    <a:bodyPr/>
                    <a:lstStyle/>
                    <a:p>
                      <a:pPr algn="ctr"/>
                      <a:r>
                        <a:rPr sz="850" b="0">
                          <a:solidFill>
                            <a:srgbClr val="1F1F1F"/>
                          </a:solidFill>
                          <a:latin typeface="Calibri"/>
                        </a:rPr>
                        <a:t>0.73%</a:t>
                      </a:r>
                    </a:p>
                  </a:txBody>
                  <a:tcPr marL="36576" marR="36576" marT="9144" marB="9144" anchor="ctr">
                    <a:solidFill>
                      <a:srgbClr val="FFFFFF"/>
                    </a:solidFill>
                  </a:tcPr>
                </a:tc>
                <a:tc>
                  <a:txBody>
                    <a:bodyPr/>
                    <a:lstStyle/>
                    <a:p>
                      <a:pPr algn="ctr"/>
                      <a:r>
                        <a:rPr sz="850" b="0">
                          <a:solidFill>
                            <a:srgbClr val="1F1F1F"/>
                          </a:solidFill>
                          <a:latin typeface="Calibri"/>
                        </a:rPr>
                        <a:t>100.0</a:t>
                      </a:r>
                    </a:p>
                  </a:txBody>
                  <a:tcPr marL="36576" marR="36576" marT="9144" marB="9144" anchor="ctr">
                    <a:solidFill>
                      <a:srgbClr val="F7F7F7"/>
                    </a:solidFill>
                  </a:tcPr>
                </a:tc>
                <a:extLst>
                  <a:ext uri="{0D108BD9-81ED-4DB2-BD59-A6C34878D82A}">
                    <a16:rowId xmlns:a16="http://schemas.microsoft.com/office/drawing/2014/main" val="10001"/>
                  </a:ext>
                </a:extLst>
              </a:tr>
              <a:tr h="205232">
                <a:tc>
                  <a:txBody>
                    <a:bodyPr/>
                    <a:lstStyle/>
                    <a:p>
                      <a:pPr algn="l"/>
                      <a:r>
                        <a:rPr sz="850" b="1">
                          <a:solidFill>
                            <a:srgbClr val="1F1F1F"/>
                          </a:solidFill>
                          <a:latin typeface="Calibri"/>
                        </a:rPr>
                        <a:t>Choline</a:t>
                      </a:r>
                    </a:p>
                  </a:txBody>
                  <a:tcPr marL="36576" marR="36576" marT="9144" marB="9144" anchor="ctr">
                    <a:solidFill>
                      <a:srgbClr val="F3F6F9"/>
                    </a:solidFill>
                  </a:tcPr>
                </a:tc>
                <a:tc>
                  <a:txBody>
                    <a:bodyPr/>
                    <a:lstStyle/>
                    <a:p>
                      <a:pPr algn="ctr"/>
                      <a:r>
                        <a:rPr sz="850" b="0">
                          <a:solidFill>
                            <a:srgbClr val="1F1F1F"/>
                          </a:solidFill>
                          <a:latin typeface="Calibri"/>
                        </a:rPr>
                        <a:t>0</a:t>
                      </a:r>
                    </a:p>
                  </a:txBody>
                  <a:tcPr marL="36576" marR="36576" marT="9144" marB="9144" anchor="ctr">
                    <a:solidFill>
                      <a:srgbClr val="F3F6F9"/>
                    </a:solidFill>
                  </a:tcPr>
                </a:tc>
                <a:tc>
                  <a:txBody>
                    <a:bodyPr/>
                    <a:lstStyle/>
                    <a:p>
                      <a:pPr algn="ctr"/>
                      <a:r>
                        <a:rPr sz="850" b="0">
                          <a:solidFill>
                            <a:srgbClr val="1F1F1F"/>
                          </a:solidFill>
                          <a:latin typeface="Calibri"/>
                        </a:rPr>
                        <a:t>0</a:t>
                      </a:r>
                    </a:p>
                  </a:txBody>
                  <a:tcPr marL="36576" marR="36576" marT="9144" marB="9144" anchor="ctr">
                    <a:solidFill>
                      <a:srgbClr val="F3F6F9"/>
                    </a:solidFill>
                  </a:tcPr>
                </a:tc>
                <a:tc>
                  <a:txBody>
                    <a:bodyPr/>
                    <a:lstStyle/>
                    <a:p>
                      <a:pPr algn="ctr"/>
                      <a:r>
                        <a:rPr sz="850" b="0">
                          <a:solidFill>
                            <a:srgbClr val="1F1F1F"/>
                          </a:solidFill>
                          <a:latin typeface="Calibri"/>
                        </a:rPr>
                        <a:t>0</a:t>
                      </a:r>
                    </a:p>
                  </a:txBody>
                  <a:tcPr marL="36576" marR="36576" marT="9144" marB="9144" anchor="ctr">
                    <a:solidFill>
                      <a:srgbClr val="F3F6F9"/>
                    </a:solidFill>
                  </a:tcPr>
                </a:tc>
                <a:tc>
                  <a:txBody>
                    <a:bodyPr/>
                    <a:lstStyle/>
                    <a:p>
                      <a:pPr algn="ctr"/>
                      <a:r>
                        <a:rPr sz="850" b="0">
                          <a:solidFill>
                            <a:srgbClr val="1F1F1F"/>
                          </a:solidFill>
                          <a:latin typeface="Calibri"/>
                        </a:rPr>
                        <a:t>0.73%</a:t>
                      </a:r>
                    </a:p>
                  </a:txBody>
                  <a:tcPr marL="36576" marR="36576" marT="9144" marB="9144" anchor="ctr">
                    <a:solidFill>
                      <a:srgbClr val="F3F6F9"/>
                    </a:solidFill>
                  </a:tcPr>
                </a:tc>
                <a:tc>
                  <a:txBody>
                    <a:bodyPr/>
                    <a:lstStyle/>
                    <a:p>
                      <a:pPr algn="ctr"/>
                      <a:r>
                        <a:rPr sz="850" b="0">
                          <a:solidFill>
                            <a:srgbClr val="1F1F1F"/>
                          </a:solidFill>
                          <a:latin typeface="Calibri"/>
                        </a:rPr>
                        <a:t>100.0</a:t>
                      </a:r>
                    </a:p>
                  </a:txBody>
                  <a:tcPr marL="36576" marR="36576" marT="9144" marB="9144" anchor="ctr">
                    <a:solidFill>
                      <a:srgbClr val="F7F7F7"/>
                    </a:solidFill>
                  </a:tcPr>
                </a:tc>
                <a:extLst>
                  <a:ext uri="{0D108BD9-81ED-4DB2-BD59-A6C34878D82A}">
                    <a16:rowId xmlns:a16="http://schemas.microsoft.com/office/drawing/2014/main" val="10002"/>
                  </a:ext>
                </a:extLst>
              </a:tr>
              <a:tr h="205232">
                <a:tc>
                  <a:txBody>
                    <a:bodyPr/>
                    <a:lstStyle/>
                    <a:p>
                      <a:pPr algn="l"/>
                      <a:r>
                        <a:rPr sz="850" b="1">
                          <a:solidFill>
                            <a:srgbClr val="1F1F1F"/>
                          </a:solidFill>
                          <a:latin typeface="Calibri"/>
                        </a:rPr>
                        <a:t>DHA / Omega-3</a:t>
                      </a:r>
                    </a:p>
                  </a:txBody>
                  <a:tcPr marL="36576" marR="36576" marT="9144" marB="9144" anchor="ctr">
                    <a:solidFill>
                      <a:srgbClr val="FFFFFF"/>
                    </a:solidFill>
                  </a:tcPr>
                </a:tc>
                <a:tc>
                  <a:txBody>
                    <a:bodyPr/>
                    <a:lstStyle/>
                    <a:p>
                      <a:pPr algn="ctr"/>
                      <a:r>
                        <a:rPr sz="850" b="0">
                          <a:solidFill>
                            <a:srgbClr val="1F1F1F"/>
                          </a:solidFill>
                          <a:latin typeface="Calibri"/>
                        </a:rPr>
                        <a:t>0</a:t>
                      </a:r>
                    </a:p>
                  </a:txBody>
                  <a:tcPr marL="36576" marR="36576" marT="9144" marB="9144" anchor="ctr">
                    <a:solidFill>
                      <a:srgbClr val="FFFFFF"/>
                    </a:solidFill>
                  </a:tcPr>
                </a:tc>
                <a:tc>
                  <a:txBody>
                    <a:bodyPr/>
                    <a:lstStyle/>
                    <a:p>
                      <a:pPr algn="ctr"/>
                      <a:r>
                        <a:rPr sz="850" b="0">
                          <a:solidFill>
                            <a:srgbClr val="1F1F1F"/>
                          </a:solidFill>
                          <a:latin typeface="Calibri"/>
                        </a:rPr>
                        <a:t>0</a:t>
                      </a:r>
                    </a:p>
                  </a:txBody>
                  <a:tcPr marL="36576" marR="36576" marT="9144" marB="9144" anchor="ctr">
                    <a:solidFill>
                      <a:srgbClr val="FFFFFF"/>
                    </a:solidFill>
                  </a:tcPr>
                </a:tc>
                <a:tc>
                  <a:txBody>
                    <a:bodyPr/>
                    <a:lstStyle/>
                    <a:p>
                      <a:pPr algn="ctr"/>
                      <a:r>
                        <a:rPr sz="850" b="0">
                          <a:solidFill>
                            <a:srgbClr val="1F1F1F"/>
                          </a:solidFill>
                          <a:latin typeface="Calibri"/>
                        </a:rPr>
                        <a:t>0</a:t>
                      </a:r>
                    </a:p>
                  </a:txBody>
                  <a:tcPr marL="36576" marR="36576" marT="9144" marB="9144" anchor="ctr">
                    <a:solidFill>
                      <a:srgbClr val="FFFFFF"/>
                    </a:solidFill>
                  </a:tcPr>
                </a:tc>
                <a:tc>
                  <a:txBody>
                    <a:bodyPr/>
                    <a:lstStyle/>
                    <a:p>
                      <a:pPr algn="ctr"/>
                      <a:r>
                        <a:rPr sz="850" b="0">
                          <a:solidFill>
                            <a:srgbClr val="1F1F1F"/>
                          </a:solidFill>
                          <a:latin typeface="Calibri"/>
                        </a:rPr>
                        <a:t>0.73%</a:t>
                      </a:r>
                    </a:p>
                  </a:txBody>
                  <a:tcPr marL="36576" marR="36576" marT="9144" marB="9144" anchor="ctr">
                    <a:solidFill>
                      <a:srgbClr val="FFFFFF"/>
                    </a:solidFill>
                  </a:tcPr>
                </a:tc>
                <a:tc>
                  <a:txBody>
                    <a:bodyPr/>
                    <a:lstStyle/>
                    <a:p>
                      <a:pPr algn="ctr"/>
                      <a:r>
                        <a:rPr sz="850" b="0">
                          <a:solidFill>
                            <a:srgbClr val="1F1F1F"/>
                          </a:solidFill>
                          <a:latin typeface="Calibri"/>
                        </a:rPr>
                        <a:t>100.0</a:t>
                      </a:r>
                    </a:p>
                  </a:txBody>
                  <a:tcPr marL="36576" marR="36576" marT="9144" marB="9144" anchor="ctr">
                    <a:solidFill>
                      <a:srgbClr val="F7F7F7"/>
                    </a:solidFill>
                  </a:tcPr>
                </a:tc>
                <a:extLst>
                  <a:ext uri="{0D108BD9-81ED-4DB2-BD59-A6C34878D82A}">
                    <a16:rowId xmlns:a16="http://schemas.microsoft.com/office/drawing/2014/main" val="10003"/>
                  </a:ext>
                </a:extLst>
              </a:tr>
              <a:tr h="205232">
                <a:tc>
                  <a:txBody>
                    <a:bodyPr/>
                    <a:lstStyle/>
                    <a:p>
                      <a:pPr algn="l"/>
                      <a:r>
                        <a:rPr sz="850" b="1">
                          <a:solidFill>
                            <a:srgbClr val="1F1F1F"/>
                          </a:solidFill>
                          <a:latin typeface="Calibri"/>
                        </a:rPr>
                        <a:t>Calcium &amp; Mineral</a:t>
                      </a:r>
                    </a:p>
                  </a:txBody>
                  <a:tcPr marL="36576" marR="36576" marT="9144" marB="9144" anchor="ctr">
                    <a:solidFill>
                      <a:srgbClr val="F3F6F9"/>
                    </a:solidFill>
                  </a:tcPr>
                </a:tc>
                <a:tc>
                  <a:txBody>
                    <a:bodyPr/>
                    <a:lstStyle/>
                    <a:p>
                      <a:pPr algn="ctr"/>
                      <a:r>
                        <a:rPr sz="850" b="0">
                          <a:solidFill>
                            <a:srgbClr val="1F1F1F"/>
                          </a:solidFill>
                          <a:latin typeface="Calibri"/>
                        </a:rPr>
                        <a:t>0</a:t>
                      </a:r>
                    </a:p>
                  </a:txBody>
                  <a:tcPr marL="36576" marR="36576" marT="9144" marB="9144" anchor="ctr">
                    <a:solidFill>
                      <a:srgbClr val="F3F6F9"/>
                    </a:solidFill>
                  </a:tcPr>
                </a:tc>
                <a:tc>
                  <a:txBody>
                    <a:bodyPr/>
                    <a:lstStyle/>
                    <a:p>
                      <a:pPr algn="ctr"/>
                      <a:r>
                        <a:rPr sz="850" b="0">
                          <a:solidFill>
                            <a:srgbClr val="1F1F1F"/>
                          </a:solidFill>
                          <a:latin typeface="Calibri"/>
                        </a:rPr>
                        <a:t>0</a:t>
                      </a:r>
                    </a:p>
                  </a:txBody>
                  <a:tcPr marL="36576" marR="36576" marT="9144" marB="9144" anchor="ctr">
                    <a:solidFill>
                      <a:srgbClr val="F3F6F9"/>
                    </a:solidFill>
                  </a:tcPr>
                </a:tc>
                <a:tc>
                  <a:txBody>
                    <a:bodyPr/>
                    <a:lstStyle/>
                    <a:p>
                      <a:pPr algn="ctr"/>
                      <a:r>
                        <a:rPr sz="850" b="0">
                          <a:solidFill>
                            <a:srgbClr val="1F1F1F"/>
                          </a:solidFill>
                          <a:latin typeface="Calibri"/>
                        </a:rPr>
                        <a:t>0</a:t>
                      </a:r>
                    </a:p>
                  </a:txBody>
                  <a:tcPr marL="36576" marR="36576" marT="9144" marB="9144" anchor="ctr">
                    <a:solidFill>
                      <a:srgbClr val="F3F6F9"/>
                    </a:solidFill>
                  </a:tcPr>
                </a:tc>
                <a:tc>
                  <a:txBody>
                    <a:bodyPr/>
                    <a:lstStyle/>
                    <a:p>
                      <a:pPr algn="ctr"/>
                      <a:r>
                        <a:rPr sz="850" b="0">
                          <a:solidFill>
                            <a:srgbClr val="1F1F1F"/>
                          </a:solidFill>
                          <a:latin typeface="Calibri"/>
                        </a:rPr>
                        <a:t>0.73%</a:t>
                      </a:r>
                    </a:p>
                  </a:txBody>
                  <a:tcPr marL="36576" marR="36576" marT="9144" marB="9144" anchor="ctr">
                    <a:solidFill>
                      <a:srgbClr val="F3F6F9"/>
                    </a:solidFill>
                  </a:tcPr>
                </a:tc>
                <a:tc>
                  <a:txBody>
                    <a:bodyPr/>
                    <a:lstStyle/>
                    <a:p>
                      <a:pPr algn="ctr"/>
                      <a:r>
                        <a:rPr sz="850" b="0">
                          <a:solidFill>
                            <a:srgbClr val="1F1F1F"/>
                          </a:solidFill>
                          <a:latin typeface="Calibri"/>
                        </a:rPr>
                        <a:t>100.0</a:t>
                      </a:r>
                    </a:p>
                  </a:txBody>
                  <a:tcPr marL="36576" marR="36576" marT="9144" marB="9144" anchor="ctr">
                    <a:solidFill>
                      <a:srgbClr val="F7F7F7"/>
                    </a:solidFill>
                  </a:tcPr>
                </a:tc>
                <a:extLst>
                  <a:ext uri="{0D108BD9-81ED-4DB2-BD59-A6C34878D82A}">
                    <a16:rowId xmlns:a16="http://schemas.microsoft.com/office/drawing/2014/main" val="10004"/>
                  </a:ext>
                </a:extLst>
              </a:tr>
              <a:tr h="205232">
                <a:tc>
                  <a:txBody>
                    <a:bodyPr/>
                    <a:lstStyle/>
                    <a:p>
                      <a:pPr algn="l"/>
                      <a:r>
                        <a:rPr sz="850" b="1">
                          <a:solidFill>
                            <a:srgbClr val="1F1F1F"/>
                          </a:solidFill>
                          <a:latin typeface="Calibri"/>
                        </a:rPr>
                        <a:t>Multivitamin</a:t>
                      </a:r>
                    </a:p>
                  </a:txBody>
                  <a:tcPr marL="36576" marR="36576" marT="9144" marB="9144" anchor="ctr">
                    <a:solidFill>
                      <a:srgbClr val="FFFFFF"/>
                    </a:solidFill>
                  </a:tcPr>
                </a:tc>
                <a:tc>
                  <a:txBody>
                    <a:bodyPr/>
                    <a:lstStyle/>
                    <a:p>
                      <a:pPr algn="ctr"/>
                      <a:r>
                        <a:rPr sz="850" b="0">
                          <a:solidFill>
                            <a:srgbClr val="1F1F1F"/>
                          </a:solidFill>
                          <a:latin typeface="Calibri"/>
                        </a:rPr>
                        <a:t>0</a:t>
                      </a:r>
                    </a:p>
                  </a:txBody>
                  <a:tcPr marL="36576" marR="36576" marT="9144" marB="9144" anchor="ctr">
                    <a:solidFill>
                      <a:srgbClr val="FFFFFF"/>
                    </a:solidFill>
                  </a:tcPr>
                </a:tc>
                <a:tc>
                  <a:txBody>
                    <a:bodyPr/>
                    <a:lstStyle/>
                    <a:p>
                      <a:pPr algn="ctr"/>
                      <a:r>
                        <a:rPr sz="850" b="0">
                          <a:solidFill>
                            <a:srgbClr val="1F1F1F"/>
                          </a:solidFill>
                          <a:latin typeface="Calibri"/>
                        </a:rPr>
                        <a:t>0</a:t>
                      </a:r>
                    </a:p>
                  </a:txBody>
                  <a:tcPr marL="36576" marR="36576" marT="9144" marB="9144" anchor="ctr">
                    <a:solidFill>
                      <a:srgbClr val="FFFFFF"/>
                    </a:solidFill>
                  </a:tcPr>
                </a:tc>
                <a:tc>
                  <a:txBody>
                    <a:bodyPr/>
                    <a:lstStyle/>
                    <a:p>
                      <a:pPr algn="ctr"/>
                      <a:r>
                        <a:rPr sz="850" b="0">
                          <a:solidFill>
                            <a:srgbClr val="1F1F1F"/>
                          </a:solidFill>
                          <a:latin typeface="Calibri"/>
                        </a:rPr>
                        <a:t>0</a:t>
                      </a:r>
                    </a:p>
                  </a:txBody>
                  <a:tcPr marL="36576" marR="36576" marT="9144" marB="9144" anchor="ctr">
                    <a:solidFill>
                      <a:srgbClr val="FFFFFF"/>
                    </a:solidFill>
                  </a:tcPr>
                </a:tc>
                <a:tc>
                  <a:txBody>
                    <a:bodyPr/>
                    <a:lstStyle/>
                    <a:p>
                      <a:pPr algn="ctr"/>
                      <a:r>
                        <a:rPr sz="850" b="0">
                          <a:solidFill>
                            <a:srgbClr val="1F1F1F"/>
                          </a:solidFill>
                          <a:latin typeface="Calibri"/>
                        </a:rPr>
                        <a:t>0.73%</a:t>
                      </a:r>
                    </a:p>
                  </a:txBody>
                  <a:tcPr marL="36576" marR="36576" marT="9144" marB="9144" anchor="ctr">
                    <a:solidFill>
                      <a:srgbClr val="FFFFFF"/>
                    </a:solidFill>
                  </a:tcPr>
                </a:tc>
                <a:tc>
                  <a:txBody>
                    <a:bodyPr/>
                    <a:lstStyle/>
                    <a:p>
                      <a:pPr algn="ctr"/>
                      <a:r>
                        <a:rPr sz="850" b="0">
                          <a:solidFill>
                            <a:srgbClr val="1F1F1F"/>
                          </a:solidFill>
                          <a:latin typeface="Calibri"/>
                        </a:rPr>
                        <a:t>100.0</a:t>
                      </a:r>
                    </a:p>
                  </a:txBody>
                  <a:tcPr marL="36576" marR="36576" marT="9144" marB="9144" anchor="ctr">
                    <a:solidFill>
                      <a:srgbClr val="F7F7F7"/>
                    </a:solidFill>
                  </a:tcPr>
                </a:tc>
                <a:extLst>
                  <a:ext uri="{0D108BD9-81ED-4DB2-BD59-A6C34878D82A}">
                    <a16:rowId xmlns:a16="http://schemas.microsoft.com/office/drawing/2014/main" val="10005"/>
                  </a:ext>
                </a:extLst>
              </a:tr>
              <a:tr h="205232">
                <a:tc>
                  <a:txBody>
                    <a:bodyPr/>
                    <a:lstStyle/>
                    <a:p>
                      <a:pPr algn="l"/>
                      <a:r>
                        <a:rPr sz="850" b="1">
                          <a:solidFill>
                            <a:srgbClr val="1F1F1F"/>
                          </a:solidFill>
                          <a:latin typeface="Calibri"/>
                        </a:rPr>
                        <a:t>Folate / Folic Acid</a:t>
                      </a:r>
                    </a:p>
                  </a:txBody>
                  <a:tcPr marL="36576" marR="36576" marT="9144" marB="9144" anchor="ctr">
                    <a:solidFill>
                      <a:srgbClr val="F3F6F9"/>
                    </a:solidFill>
                  </a:tcPr>
                </a:tc>
                <a:tc>
                  <a:txBody>
                    <a:bodyPr/>
                    <a:lstStyle/>
                    <a:p>
                      <a:pPr algn="ctr"/>
                      <a:r>
                        <a:rPr sz="850" b="0">
                          <a:solidFill>
                            <a:srgbClr val="1F1F1F"/>
                          </a:solidFill>
                          <a:latin typeface="Calibri"/>
                        </a:rPr>
                        <a:t>0</a:t>
                      </a:r>
                    </a:p>
                  </a:txBody>
                  <a:tcPr marL="36576" marR="36576" marT="9144" marB="9144" anchor="ctr">
                    <a:solidFill>
                      <a:srgbClr val="F3F6F9"/>
                    </a:solidFill>
                  </a:tcPr>
                </a:tc>
                <a:tc>
                  <a:txBody>
                    <a:bodyPr/>
                    <a:lstStyle/>
                    <a:p>
                      <a:pPr algn="ctr"/>
                      <a:r>
                        <a:rPr sz="850" b="0">
                          <a:solidFill>
                            <a:srgbClr val="1F1F1F"/>
                          </a:solidFill>
                          <a:latin typeface="Calibri"/>
                        </a:rPr>
                        <a:t>0</a:t>
                      </a:r>
                    </a:p>
                  </a:txBody>
                  <a:tcPr marL="36576" marR="36576" marT="9144" marB="9144" anchor="ctr">
                    <a:solidFill>
                      <a:srgbClr val="F3F6F9"/>
                    </a:solidFill>
                  </a:tcPr>
                </a:tc>
                <a:tc>
                  <a:txBody>
                    <a:bodyPr/>
                    <a:lstStyle/>
                    <a:p>
                      <a:pPr algn="ctr"/>
                      <a:r>
                        <a:rPr sz="850" b="0">
                          <a:solidFill>
                            <a:srgbClr val="1F1F1F"/>
                          </a:solidFill>
                          <a:latin typeface="Calibri"/>
                        </a:rPr>
                        <a:t>0</a:t>
                      </a:r>
                    </a:p>
                  </a:txBody>
                  <a:tcPr marL="36576" marR="36576" marT="9144" marB="9144" anchor="ctr">
                    <a:solidFill>
                      <a:srgbClr val="F3F6F9"/>
                    </a:solidFill>
                  </a:tcPr>
                </a:tc>
                <a:tc>
                  <a:txBody>
                    <a:bodyPr/>
                    <a:lstStyle/>
                    <a:p>
                      <a:pPr algn="ctr"/>
                      <a:r>
                        <a:rPr sz="850" b="0">
                          <a:solidFill>
                            <a:srgbClr val="1F1F1F"/>
                          </a:solidFill>
                          <a:latin typeface="Calibri"/>
                        </a:rPr>
                        <a:t>0.73%</a:t>
                      </a:r>
                    </a:p>
                  </a:txBody>
                  <a:tcPr marL="36576" marR="36576" marT="9144" marB="9144" anchor="ctr">
                    <a:solidFill>
                      <a:srgbClr val="F3F6F9"/>
                    </a:solidFill>
                  </a:tcPr>
                </a:tc>
                <a:tc>
                  <a:txBody>
                    <a:bodyPr/>
                    <a:lstStyle/>
                    <a:p>
                      <a:pPr algn="ctr"/>
                      <a:r>
                        <a:rPr sz="850" b="0">
                          <a:solidFill>
                            <a:srgbClr val="1F1F1F"/>
                          </a:solidFill>
                          <a:latin typeface="Calibri"/>
                        </a:rPr>
                        <a:t>100.0</a:t>
                      </a:r>
                    </a:p>
                  </a:txBody>
                  <a:tcPr marL="36576" marR="36576" marT="9144" marB="9144" anchor="ctr">
                    <a:solidFill>
                      <a:srgbClr val="F7F7F7"/>
                    </a:solidFill>
                  </a:tcPr>
                </a:tc>
                <a:extLst>
                  <a:ext uri="{0D108BD9-81ED-4DB2-BD59-A6C34878D82A}">
                    <a16:rowId xmlns:a16="http://schemas.microsoft.com/office/drawing/2014/main" val="10006"/>
                  </a:ext>
                </a:extLst>
              </a:tr>
              <a:tr h="205232">
                <a:tc>
                  <a:txBody>
                    <a:bodyPr/>
                    <a:lstStyle/>
                    <a:p>
                      <a:pPr algn="l"/>
                      <a:r>
                        <a:rPr sz="850" b="1">
                          <a:solidFill>
                            <a:srgbClr val="1F1F1F"/>
                          </a:solidFill>
                          <a:latin typeface="Calibri"/>
                        </a:rPr>
                        <a:t>Probiotic</a:t>
                      </a:r>
                    </a:p>
                  </a:txBody>
                  <a:tcPr marL="36576" marR="36576" marT="9144" marB="9144" anchor="ctr">
                    <a:solidFill>
                      <a:srgbClr val="FFFFFF"/>
                    </a:solidFill>
                  </a:tcPr>
                </a:tc>
                <a:tc>
                  <a:txBody>
                    <a:bodyPr/>
                    <a:lstStyle/>
                    <a:p>
                      <a:pPr algn="ctr"/>
                      <a:r>
                        <a:rPr sz="850" b="0">
                          <a:solidFill>
                            <a:srgbClr val="1F1F1F"/>
                          </a:solidFill>
                          <a:latin typeface="Calibri"/>
                        </a:rPr>
                        <a:t>0</a:t>
                      </a:r>
                    </a:p>
                  </a:txBody>
                  <a:tcPr marL="36576" marR="36576" marT="9144" marB="9144" anchor="ctr">
                    <a:solidFill>
                      <a:srgbClr val="FFFFFF"/>
                    </a:solidFill>
                  </a:tcPr>
                </a:tc>
                <a:tc>
                  <a:txBody>
                    <a:bodyPr/>
                    <a:lstStyle/>
                    <a:p>
                      <a:pPr algn="ctr"/>
                      <a:r>
                        <a:rPr sz="850" b="0">
                          <a:solidFill>
                            <a:srgbClr val="1F1F1F"/>
                          </a:solidFill>
                          <a:latin typeface="Calibri"/>
                        </a:rPr>
                        <a:t>0</a:t>
                      </a:r>
                    </a:p>
                  </a:txBody>
                  <a:tcPr marL="36576" marR="36576" marT="9144" marB="9144" anchor="ctr">
                    <a:solidFill>
                      <a:srgbClr val="FFFFFF"/>
                    </a:solidFill>
                  </a:tcPr>
                </a:tc>
                <a:tc>
                  <a:txBody>
                    <a:bodyPr/>
                    <a:lstStyle/>
                    <a:p>
                      <a:pPr algn="ctr"/>
                      <a:r>
                        <a:rPr sz="850" b="0">
                          <a:solidFill>
                            <a:srgbClr val="1F1F1F"/>
                          </a:solidFill>
                          <a:latin typeface="Calibri"/>
                        </a:rPr>
                        <a:t>0</a:t>
                      </a:r>
                    </a:p>
                  </a:txBody>
                  <a:tcPr marL="36576" marR="36576" marT="9144" marB="9144" anchor="ctr">
                    <a:solidFill>
                      <a:srgbClr val="FFFFFF"/>
                    </a:solidFill>
                  </a:tcPr>
                </a:tc>
                <a:tc>
                  <a:txBody>
                    <a:bodyPr/>
                    <a:lstStyle/>
                    <a:p>
                      <a:pPr algn="ctr"/>
                      <a:r>
                        <a:rPr sz="850" b="0">
                          <a:solidFill>
                            <a:srgbClr val="1F1F1F"/>
                          </a:solidFill>
                          <a:latin typeface="Calibri"/>
                        </a:rPr>
                        <a:t>0.73%</a:t>
                      </a:r>
                    </a:p>
                  </a:txBody>
                  <a:tcPr marL="36576" marR="36576" marT="9144" marB="9144" anchor="ctr">
                    <a:solidFill>
                      <a:srgbClr val="FFFFFF"/>
                    </a:solidFill>
                  </a:tcPr>
                </a:tc>
                <a:tc>
                  <a:txBody>
                    <a:bodyPr/>
                    <a:lstStyle/>
                    <a:p>
                      <a:pPr algn="ctr"/>
                      <a:r>
                        <a:rPr sz="850" b="0">
                          <a:solidFill>
                            <a:srgbClr val="1F1F1F"/>
                          </a:solidFill>
                          <a:latin typeface="Calibri"/>
                        </a:rPr>
                        <a:t>100.0</a:t>
                      </a:r>
                    </a:p>
                  </a:txBody>
                  <a:tcPr marL="36576" marR="36576" marT="9144" marB="9144" anchor="ctr">
                    <a:solidFill>
                      <a:srgbClr val="F7F7F7"/>
                    </a:solidFill>
                  </a:tcPr>
                </a:tc>
                <a:extLst>
                  <a:ext uri="{0D108BD9-81ED-4DB2-BD59-A6C34878D82A}">
                    <a16:rowId xmlns:a16="http://schemas.microsoft.com/office/drawing/2014/main" val="10007"/>
                  </a:ext>
                </a:extLst>
              </a:tr>
              <a:tr h="205232">
                <a:tc>
                  <a:txBody>
                    <a:bodyPr/>
                    <a:lstStyle/>
                    <a:p>
                      <a:pPr algn="l"/>
                      <a:r>
                        <a:rPr sz="850" b="1">
                          <a:solidFill>
                            <a:srgbClr val="1F1F1F"/>
                          </a:solidFill>
                          <a:latin typeface="Calibri"/>
                        </a:rPr>
                        <a:t>USA Average</a:t>
                      </a:r>
                    </a:p>
                  </a:txBody>
                  <a:tcPr marL="36576" marR="36576" marT="9144" marB="9144" anchor="ctr">
                    <a:solidFill>
                      <a:srgbClr val="F3F6F9"/>
                    </a:solidFill>
                  </a:tcPr>
                </a:tc>
                <a:tc>
                  <a:txBody>
                    <a:bodyPr/>
                    <a:lstStyle/>
                    <a:p>
                      <a:pPr algn="ctr"/>
                      <a:r>
                        <a:rPr sz="850" b="0">
                          <a:solidFill>
                            <a:srgbClr val="1F1F1F"/>
                          </a:solidFill>
                          <a:latin typeface="Calibri"/>
                        </a:rPr>
                        <a:t>0</a:t>
                      </a:r>
                    </a:p>
                  </a:txBody>
                  <a:tcPr marL="36576" marR="36576" marT="9144" marB="9144" anchor="ctr">
                    <a:solidFill>
                      <a:srgbClr val="F3F6F9"/>
                    </a:solidFill>
                  </a:tcPr>
                </a:tc>
                <a:tc>
                  <a:txBody>
                    <a:bodyPr/>
                    <a:lstStyle/>
                    <a:p>
                      <a:pPr algn="ctr"/>
                      <a:r>
                        <a:rPr sz="850" b="0">
                          <a:solidFill>
                            <a:srgbClr val="1F1F1F"/>
                          </a:solidFill>
                          <a:latin typeface="Calibri"/>
                        </a:rPr>
                        <a:t>0</a:t>
                      </a:r>
                    </a:p>
                  </a:txBody>
                  <a:tcPr marL="36576" marR="36576" marT="9144" marB="9144" anchor="ctr">
                    <a:solidFill>
                      <a:srgbClr val="F3F6F9"/>
                    </a:solidFill>
                  </a:tcPr>
                </a:tc>
                <a:tc>
                  <a:txBody>
                    <a:bodyPr/>
                    <a:lstStyle/>
                    <a:p>
                      <a:pPr algn="ctr"/>
                      <a:r>
                        <a:rPr sz="850" b="0">
                          <a:solidFill>
                            <a:srgbClr val="1F1F1F"/>
                          </a:solidFill>
                          <a:latin typeface="Calibri"/>
                        </a:rPr>
                        <a:t>0</a:t>
                      </a:r>
                    </a:p>
                  </a:txBody>
                  <a:tcPr marL="36576" marR="36576" marT="9144" marB="9144" anchor="ctr">
                    <a:solidFill>
                      <a:srgbClr val="F3F6F9"/>
                    </a:solidFill>
                  </a:tcPr>
                </a:tc>
                <a:tc>
                  <a:txBody>
                    <a:bodyPr/>
                    <a:lstStyle/>
                    <a:p>
                      <a:pPr algn="ctr"/>
                      <a:r>
                        <a:rPr sz="850" b="0">
                          <a:solidFill>
                            <a:srgbClr val="1F1F1F"/>
                          </a:solidFill>
                          <a:latin typeface="Calibri"/>
                        </a:rPr>
                        <a:t>0.73%</a:t>
                      </a:r>
                    </a:p>
                  </a:txBody>
                  <a:tcPr marL="36576" marR="36576" marT="9144" marB="9144" anchor="ctr">
                    <a:solidFill>
                      <a:srgbClr val="F3F6F9"/>
                    </a:solidFill>
                  </a:tcPr>
                </a:tc>
                <a:tc>
                  <a:txBody>
                    <a:bodyPr/>
                    <a:lstStyle/>
                    <a:p>
                      <a:pPr algn="ctr"/>
                      <a:r>
                        <a:rPr sz="850" b="0">
                          <a:solidFill>
                            <a:srgbClr val="1F1F1F"/>
                          </a:solidFill>
                          <a:latin typeface="Calibri"/>
                        </a:rPr>
                        <a:t>100.0</a:t>
                      </a:r>
                    </a:p>
                  </a:txBody>
                  <a:tcPr marL="36576" marR="36576" marT="9144" marB="9144" anchor="ctr">
                    <a:solidFill>
                      <a:srgbClr val="F3F6F9"/>
                    </a:solidFill>
                  </a:tcPr>
                </a:tc>
                <a:extLst>
                  <a:ext uri="{0D108BD9-81ED-4DB2-BD59-A6C34878D82A}">
                    <a16:rowId xmlns:a16="http://schemas.microsoft.com/office/drawing/2014/main" val="10008"/>
                  </a:ext>
                </a:extLst>
              </a:tr>
            </a:tbl>
          </a:graphicData>
        </a:graphic>
      </p:graphicFrame>
      <p:sp>
        <p:nvSpPr>
          <p:cNvPr id="19" name="Rectangle 18"/>
          <p:cNvSpPr/>
          <p:nvPr/>
        </p:nvSpPr>
        <p:spPr>
          <a:xfrm>
            <a:off x="274320" y="5141595"/>
            <a:ext cx="3788664" cy="1234440"/>
          </a:xfrm>
          <a:prstGeom prst="rect">
            <a:avLst/>
          </a:prstGeom>
          <a:solidFill>
            <a:srgbClr val="F3F6F9"/>
          </a:solidFill>
          <a:ln>
            <a:noFill/>
          </a:ln>
          <a:effectLst/>
        </p:spPr>
        <p:txBody>
          <a:bodyPr rtlCol="0" anchor="ctr"/>
          <a:lstStyle/>
          <a:p>
            <a:pPr algn="ctr"/>
            <a:endParaRPr/>
          </a:p>
        </p:txBody>
      </p:sp>
      <p:sp>
        <p:nvSpPr>
          <p:cNvPr id="20" name="Oval 19"/>
          <p:cNvSpPr/>
          <p:nvPr/>
        </p:nvSpPr>
        <p:spPr>
          <a:xfrm>
            <a:off x="388620" y="5265420"/>
            <a:ext cx="314325" cy="314325"/>
          </a:xfrm>
          <a:prstGeom prst="ellipse">
            <a:avLst/>
          </a:prstGeom>
          <a:solidFill>
            <a:srgbClr val="0B2E4A"/>
          </a:solidFill>
          <a:ln>
            <a:noFill/>
          </a:ln>
          <a:effectLst/>
        </p:spPr>
        <p:txBody>
          <a:bodyPr wrap="none" lIns="0" tIns="0" rIns="0" bIns="0" rtlCol="0" anchor="ctr"/>
          <a:lstStyle/>
          <a:p>
            <a:pPr algn="ctr"/>
            <a:r>
              <a:rPr sz="1200" b="1">
                <a:solidFill>
                  <a:srgbClr val="FFFFFF"/>
                </a:solidFill>
                <a:latin typeface="Calibri"/>
              </a:rPr>
              <a:t>1</a:t>
            </a:r>
          </a:p>
        </p:txBody>
      </p:sp>
      <p:sp>
        <p:nvSpPr>
          <p:cNvPr id="21" name="TextBox 20"/>
          <p:cNvSpPr txBox="1"/>
          <p:nvPr/>
        </p:nvSpPr>
        <p:spPr>
          <a:xfrm>
            <a:off x="779145" y="5227320"/>
            <a:ext cx="3198114" cy="266700"/>
          </a:xfrm>
          <a:prstGeom prst="rect">
            <a:avLst/>
          </a:prstGeom>
          <a:noFill/>
        </p:spPr>
        <p:txBody>
          <a:bodyPr wrap="square" lIns="27432" tIns="27432" rIns="27432" bIns="27432" anchor="t">
            <a:spAutoFit/>
          </a:bodyPr>
          <a:lstStyle/>
          <a:p>
            <a:pPr algn="l"/>
            <a:r>
              <a:rPr sz="1150" b="1" i="0">
                <a:solidFill>
                  <a:srgbClr val="0B2E4A"/>
                </a:solidFill>
                <a:latin typeface="Calibri"/>
              </a:rPr>
              <a:t>Price Hierarchy</a:t>
            </a:r>
          </a:p>
        </p:txBody>
      </p:sp>
      <p:sp>
        <p:nvSpPr>
          <p:cNvPr id="22" name="TextBox 21"/>
          <p:cNvSpPr txBox="1"/>
          <p:nvPr/>
        </p:nvSpPr>
        <p:spPr>
          <a:xfrm>
            <a:off x="779145" y="5503545"/>
            <a:ext cx="3198114" cy="834390"/>
          </a:xfrm>
          <a:prstGeom prst="rect">
            <a:avLst/>
          </a:prstGeom>
          <a:noFill/>
        </p:spPr>
        <p:txBody>
          <a:bodyPr wrap="square" lIns="27432" tIns="27432" rIns="27432" bIns="27432" anchor="t">
            <a:spAutoFit/>
          </a:bodyPr>
          <a:lstStyle/>
          <a:p>
            <a:pPr algn="l"/>
            <a:r>
              <a:rPr sz="1050" b="0" i="0">
                <a:solidFill>
                  <a:srgbClr val="1F1F1F"/>
                </a:solidFill>
                <a:latin typeface="Calibri"/>
              </a:rPr>
              <a:t>Iron sits at the top of the 2026 price ladder at an index of 100.0, while Probiotic trades at 100.0, which keeps the full product type spread within 0.0%.</a:t>
            </a:r>
          </a:p>
        </p:txBody>
      </p:sp>
      <p:sp>
        <p:nvSpPr>
          <p:cNvPr id="23" name="Rectangle 22"/>
          <p:cNvSpPr/>
          <p:nvPr/>
        </p:nvSpPr>
        <p:spPr>
          <a:xfrm>
            <a:off x="4200144" y="5141595"/>
            <a:ext cx="3788664" cy="1234440"/>
          </a:xfrm>
          <a:prstGeom prst="rect">
            <a:avLst/>
          </a:prstGeom>
          <a:solidFill>
            <a:srgbClr val="F3F6F9"/>
          </a:solidFill>
          <a:ln>
            <a:noFill/>
          </a:ln>
          <a:effectLst/>
        </p:spPr>
        <p:txBody>
          <a:bodyPr rtlCol="0" anchor="ctr"/>
          <a:lstStyle/>
          <a:p>
            <a:pPr algn="ctr"/>
            <a:endParaRPr/>
          </a:p>
        </p:txBody>
      </p:sp>
      <p:sp>
        <p:nvSpPr>
          <p:cNvPr id="24" name="Oval 23"/>
          <p:cNvSpPr/>
          <p:nvPr/>
        </p:nvSpPr>
        <p:spPr>
          <a:xfrm>
            <a:off x="4314444" y="5265420"/>
            <a:ext cx="314325" cy="314325"/>
          </a:xfrm>
          <a:prstGeom prst="ellipse">
            <a:avLst/>
          </a:prstGeom>
          <a:solidFill>
            <a:srgbClr val="0B2E4A"/>
          </a:solidFill>
          <a:ln>
            <a:noFill/>
          </a:ln>
          <a:effectLst/>
        </p:spPr>
        <p:txBody>
          <a:bodyPr wrap="none" lIns="0" tIns="0" rIns="0" bIns="0" rtlCol="0" anchor="ctr"/>
          <a:lstStyle/>
          <a:p>
            <a:pPr algn="ctr"/>
            <a:r>
              <a:rPr sz="1200" b="1">
                <a:solidFill>
                  <a:srgbClr val="FFFFFF"/>
                </a:solidFill>
                <a:latin typeface="Calibri"/>
              </a:rPr>
              <a:t>2</a:t>
            </a:r>
          </a:p>
        </p:txBody>
      </p:sp>
      <p:sp>
        <p:nvSpPr>
          <p:cNvPr id="25" name="TextBox 24"/>
          <p:cNvSpPr txBox="1"/>
          <p:nvPr/>
        </p:nvSpPr>
        <p:spPr>
          <a:xfrm>
            <a:off x="4704969" y="5227320"/>
            <a:ext cx="3198114" cy="266700"/>
          </a:xfrm>
          <a:prstGeom prst="rect">
            <a:avLst/>
          </a:prstGeom>
          <a:noFill/>
        </p:spPr>
        <p:txBody>
          <a:bodyPr wrap="square" lIns="27432" tIns="27432" rIns="27432" bIns="27432" anchor="t">
            <a:spAutoFit/>
          </a:bodyPr>
          <a:lstStyle/>
          <a:p>
            <a:pPr algn="l"/>
            <a:r>
              <a:rPr sz="1150" b="1" i="0">
                <a:solidFill>
                  <a:srgbClr val="0B2E4A"/>
                </a:solidFill>
                <a:latin typeface="Calibri"/>
              </a:rPr>
              <a:t>Price Momentum</a:t>
            </a:r>
          </a:p>
        </p:txBody>
      </p:sp>
      <p:sp>
        <p:nvSpPr>
          <p:cNvPr id="26" name="TextBox 25"/>
          <p:cNvSpPr txBox="1"/>
          <p:nvPr/>
        </p:nvSpPr>
        <p:spPr>
          <a:xfrm>
            <a:off x="4704969" y="5503545"/>
            <a:ext cx="3198114" cy="834390"/>
          </a:xfrm>
          <a:prstGeom prst="rect">
            <a:avLst/>
          </a:prstGeom>
          <a:noFill/>
        </p:spPr>
        <p:txBody>
          <a:bodyPr wrap="square" lIns="27432" tIns="27432" rIns="27432" bIns="27432" anchor="t">
            <a:spAutoFit/>
          </a:bodyPr>
          <a:lstStyle/>
          <a:p>
            <a:pPr algn="l"/>
            <a:r>
              <a:rPr sz="1050" b="0" i="0">
                <a:solidFill>
                  <a:srgbClr val="1F1F1F"/>
                </a:solidFill>
                <a:latin typeface="Calibri"/>
              </a:rPr>
              <a:t>Probiotic posts the fastest price growth at a 0.73% CAGR between 2026 and 2036, compared with 0.73% for Iron.</a:t>
            </a:r>
          </a:p>
        </p:txBody>
      </p:sp>
      <p:sp>
        <p:nvSpPr>
          <p:cNvPr id="27" name="Rectangle 26"/>
          <p:cNvSpPr/>
          <p:nvPr/>
        </p:nvSpPr>
        <p:spPr>
          <a:xfrm>
            <a:off x="8125968" y="5141595"/>
            <a:ext cx="3788664" cy="1234440"/>
          </a:xfrm>
          <a:prstGeom prst="rect">
            <a:avLst/>
          </a:prstGeom>
          <a:solidFill>
            <a:srgbClr val="F3F6F9"/>
          </a:solidFill>
          <a:ln>
            <a:noFill/>
          </a:ln>
          <a:effectLst/>
        </p:spPr>
        <p:txBody>
          <a:bodyPr rtlCol="0" anchor="ctr"/>
          <a:lstStyle/>
          <a:p>
            <a:pPr algn="ctr"/>
            <a:endParaRPr/>
          </a:p>
        </p:txBody>
      </p:sp>
      <p:sp>
        <p:nvSpPr>
          <p:cNvPr id="28" name="Oval 27"/>
          <p:cNvSpPr/>
          <p:nvPr/>
        </p:nvSpPr>
        <p:spPr>
          <a:xfrm>
            <a:off x="8240268" y="5265420"/>
            <a:ext cx="314325" cy="314325"/>
          </a:xfrm>
          <a:prstGeom prst="ellipse">
            <a:avLst/>
          </a:prstGeom>
          <a:solidFill>
            <a:srgbClr val="0B2E4A"/>
          </a:solidFill>
          <a:ln>
            <a:noFill/>
          </a:ln>
          <a:effectLst/>
        </p:spPr>
        <p:txBody>
          <a:bodyPr wrap="none" lIns="0" tIns="0" rIns="0" bIns="0" rtlCol="0" anchor="ctr"/>
          <a:lstStyle/>
          <a:p>
            <a:pPr algn="ctr"/>
            <a:r>
              <a:rPr sz="1200" b="1">
                <a:solidFill>
                  <a:srgbClr val="FFFFFF"/>
                </a:solidFill>
                <a:latin typeface="Calibri"/>
              </a:rPr>
              <a:t>3</a:t>
            </a:r>
          </a:p>
        </p:txBody>
      </p:sp>
      <p:sp>
        <p:nvSpPr>
          <p:cNvPr id="29" name="TextBox 28"/>
          <p:cNvSpPr txBox="1"/>
          <p:nvPr/>
        </p:nvSpPr>
        <p:spPr>
          <a:xfrm>
            <a:off x="8630793" y="5227320"/>
            <a:ext cx="3198114" cy="266700"/>
          </a:xfrm>
          <a:prstGeom prst="rect">
            <a:avLst/>
          </a:prstGeom>
          <a:noFill/>
        </p:spPr>
        <p:txBody>
          <a:bodyPr wrap="square" lIns="27432" tIns="27432" rIns="27432" bIns="27432" anchor="t">
            <a:spAutoFit/>
          </a:bodyPr>
          <a:lstStyle/>
          <a:p>
            <a:pPr algn="l"/>
            <a:r>
              <a:rPr sz="1150" b="1" i="0">
                <a:solidFill>
                  <a:srgbClr val="0B2E4A"/>
                </a:solidFill>
                <a:latin typeface="Calibri"/>
              </a:rPr>
              <a:t>Outlook</a:t>
            </a:r>
          </a:p>
        </p:txBody>
      </p:sp>
      <p:sp>
        <p:nvSpPr>
          <p:cNvPr id="30" name="TextBox 29"/>
          <p:cNvSpPr txBox="1"/>
          <p:nvPr/>
        </p:nvSpPr>
        <p:spPr>
          <a:xfrm>
            <a:off x="8630793" y="5503545"/>
            <a:ext cx="3198114" cy="834390"/>
          </a:xfrm>
          <a:prstGeom prst="rect">
            <a:avLst/>
          </a:prstGeom>
          <a:noFill/>
        </p:spPr>
        <p:txBody>
          <a:bodyPr wrap="square" lIns="27432" tIns="27432" rIns="27432" bIns="27432" anchor="t">
            <a:spAutoFit/>
          </a:bodyPr>
          <a:lstStyle/>
          <a:p>
            <a:pPr algn="l"/>
            <a:r>
              <a:rPr sz="1050" b="0" i="0">
                <a:solidFill>
                  <a:srgbClr val="1F1F1F"/>
                </a:solidFill>
                <a:latin typeface="Calibri"/>
              </a:rPr>
              <a:t>The USA average price rises from US$ 0/MT in 2026 to US$ 0/MT in 2036, and the gap between the highest and lowest priced product type moves from 0.0% in 2021 to 0.0% in 2036.</a:t>
            </a:r>
          </a:p>
        </p:txBody>
      </p:sp>
      <p:sp>
        <p:nvSpPr>
          <p:cNvPr id="31" name="TextBox 30"/>
          <p:cNvSpPr txBox="1"/>
          <p:nvPr/>
        </p:nvSpPr>
        <p:spPr>
          <a:xfrm>
            <a:off x="274320" y="6363843"/>
            <a:ext cx="11612880" cy="209550"/>
          </a:xfrm>
          <a:prstGeom prst="rect">
            <a:avLst/>
          </a:prstGeom>
          <a:noFill/>
        </p:spPr>
        <p:txBody>
          <a:bodyPr wrap="square" lIns="27432" tIns="27432" rIns="27432" bIns="27432" anchor="t">
            <a:spAutoFit/>
          </a:bodyPr>
          <a:lstStyle/>
          <a:p>
            <a:pPr algn="l"/>
            <a:r>
              <a:rPr sz="850" b="0" i="0">
                <a:solidFill>
                  <a:srgbClr val="59636E"/>
                </a:solidFill>
                <a:latin typeface="Calibri"/>
              </a:rPr>
              <a:t>Source: FMI analysis. Average price = market value (US$) / market volume (MT). 2021 to 2025 historical, 2026 to 2036 forecast.</a:t>
            </a:r>
          </a:p>
        </p:txBody>
      </p:sp>
      <p:sp>
        <p:nvSpPr>
          <p:cNvPr id="32" name="TextBox 3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Prenatal Vitamin Supplements Market Price Positioning &amp; Key Findings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Price positioning of each country on a common axis with FMI's key findings on where premiums and discounts sit</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Average selling price and price range by region on a shared price scale (US$/Units).</a:t>
            </a:r>
          </a:p>
        </p:txBody>
      </p:sp>
      <p:sp>
        <p:nvSpPr>
          <p:cNvPr id="11" name="Rounded Rectangle 10"/>
          <p:cNvSpPr/>
          <p:nvPr/>
        </p:nvSpPr>
        <p:spPr>
          <a:xfrm>
            <a:off x="142875" y="1317574"/>
            <a:ext cx="769620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374724"/>
            <a:ext cx="7505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Average Price &amp; Range by Region</a:t>
            </a:r>
          </a:p>
        </p:txBody>
      </p:sp>
      <p:cxnSp>
        <p:nvCxnSpPr>
          <p:cNvPr id="13" name="Connector 12"/>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4425" y="6289685"/>
            <a:ext cx="495300" cy="114300"/>
          </a:xfrm>
          <a:prstGeom prst="rect">
            <a:avLst/>
          </a:prstGeom>
          <a:noFill/>
        </p:spPr>
        <p:txBody>
          <a:bodyPr wrap="none" lIns="0" tIns="0" rIns="0" bIns="0">
            <a:spAutoFit/>
          </a:bodyPr>
          <a:lstStyle/>
          <a:p>
            <a:pPr algn="ctr"/>
            <a:r>
              <a:rPr sz="1100" b="0">
                <a:solidFill>
                  <a:srgbClr val="6C7A89"/>
                </a:solidFill>
                <a:latin typeface="Calibri"/>
              </a:rPr>
              <a:t>0.0</a:t>
            </a:r>
          </a:p>
        </p:txBody>
      </p:sp>
      <p:cxnSp>
        <p:nvCxnSpPr>
          <p:cNvPr id="15" name="Connector 14"/>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364105" y="6289685"/>
            <a:ext cx="495300" cy="114300"/>
          </a:xfrm>
          <a:prstGeom prst="rect">
            <a:avLst/>
          </a:prstGeom>
          <a:noFill/>
        </p:spPr>
        <p:txBody>
          <a:bodyPr wrap="none" lIns="0" tIns="0" rIns="0" bIns="0">
            <a:spAutoFit/>
          </a:bodyPr>
          <a:lstStyle/>
          <a:p>
            <a:pPr algn="ctr"/>
            <a:r>
              <a:rPr sz="1100" b="0">
                <a:solidFill>
                  <a:srgbClr val="6C7A89"/>
                </a:solidFill>
                <a:latin typeface="Calibri"/>
              </a:rPr>
              <a:t>0.4</a:t>
            </a:r>
          </a:p>
        </p:txBody>
      </p:sp>
      <p:cxnSp>
        <p:nvCxnSpPr>
          <p:cNvPr id="17" name="Connector 16"/>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13785" y="6289685"/>
            <a:ext cx="495300" cy="114300"/>
          </a:xfrm>
          <a:prstGeom prst="rect">
            <a:avLst/>
          </a:prstGeom>
          <a:noFill/>
        </p:spPr>
        <p:txBody>
          <a:bodyPr wrap="none" lIns="0" tIns="0" rIns="0" bIns="0">
            <a:spAutoFit/>
          </a:bodyPr>
          <a:lstStyle/>
          <a:p>
            <a:pPr algn="ctr"/>
            <a:r>
              <a:rPr sz="1100" b="0">
                <a:solidFill>
                  <a:srgbClr val="6C7A89"/>
                </a:solidFill>
                <a:latin typeface="Calibri"/>
              </a:rPr>
              <a:t>0.8</a:t>
            </a:r>
          </a:p>
        </p:txBody>
      </p:sp>
      <p:cxnSp>
        <p:nvCxnSpPr>
          <p:cNvPr id="19" name="Connector 18"/>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863465" y="6289685"/>
            <a:ext cx="495300" cy="114300"/>
          </a:xfrm>
          <a:prstGeom prst="rect">
            <a:avLst/>
          </a:prstGeom>
          <a:noFill/>
        </p:spPr>
        <p:txBody>
          <a:bodyPr wrap="none" lIns="0" tIns="0" rIns="0" bIns="0">
            <a:spAutoFit/>
          </a:bodyPr>
          <a:lstStyle/>
          <a:p>
            <a:pPr algn="ctr"/>
            <a:r>
              <a:rPr sz="1100" b="0">
                <a:solidFill>
                  <a:srgbClr val="6C7A89"/>
                </a:solidFill>
                <a:latin typeface="Calibri"/>
              </a:rPr>
              <a:t>1.2</a:t>
            </a:r>
          </a:p>
        </p:txBody>
      </p:sp>
      <p:cxnSp>
        <p:nvCxnSpPr>
          <p:cNvPr id="21" name="Connector 20"/>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13145" y="6289685"/>
            <a:ext cx="495300" cy="114300"/>
          </a:xfrm>
          <a:prstGeom prst="rect">
            <a:avLst/>
          </a:prstGeom>
          <a:noFill/>
        </p:spPr>
        <p:txBody>
          <a:bodyPr wrap="none" lIns="0" tIns="0" rIns="0" bIns="0">
            <a:spAutoFit/>
          </a:bodyPr>
          <a:lstStyle/>
          <a:p>
            <a:pPr algn="ctr"/>
            <a:r>
              <a:rPr sz="1100" b="0">
                <a:solidFill>
                  <a:srgbClr val="6C7A89"/>
                </a:solidFill>
                <a:latin typeface="Calibri"/>
              </a:rPr>
              <a:t>1.5</a:t>
            </a:r>
          </a:p>
        </p:txBody>
      </p:sp>
      <p:cxnSp>
        <p:nvCxnSpPr>
          <p:cNvPr id="23" name="Connector 22"/>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62825" y="6289685"/>
            <a:ext cx="495300" cy="114300"/>
          </a:xfrm>
          <a:prstGeom prst="rect">
            <a:avLst/>
          </a:prstGeom>
          <a:noFill/>
        </p:spPr>
        <p:txBody>
          <a:bodyPr wrap="none" lIns="0" tIns="0" rIns="0" bIns="0">
            <a:spAutoFit/>
          </a:bodyPr>
          <a:lstStyle/>
          <a:p>
            <a:pPr algn="ctr"/>
            <a:r>
              <a:rPr sz="1100" b="0">
                <a:solidFill>
                  <a:srgbClr val="6C7A89"/>
                </a:solidFill>
                <a:latin typeface="Calibri"/>
              </a:rPr>
              <a:t>1.9</a:t>
            </a:r>
          </a:p>
        </p:txBody>
      </p:sp>
      <p:sp>
        <p:nvSpPr>
          <p:cNvPr id="25" name="TextBox 24"/>
          <p:cNvSpPr txBox="1"/>
          <p:nvPr/>
        </p:nvSpPr>
        <p:spPr>
          <a:xfrm>
            <a:off x="238125" y="4013180"/>
            <a:ext cx="1066800" cy="171450"/>
          </a:xfrm>
          <a:prstGeom prst="rect">
            <a:avLst/>
          </a:prstGeom>
          <a:noFill/>
        </p:spPr>
        <p:txBody>
          <a:bodyPr wrap="square" lIns="28575" tIns="9525" rIns="28575" bIns="9525" anchor="ctr">
            <a:spAutoFit/>
          </a:bodyPr>
          <a:lstStyle/>
          <a:p>
            <a:pPr algn="l"/>
            <a:r>
              <a:rPr sz="1100" b="1">
                <a:solidFill>
                  <a:srgbClr val="0B2E4A"/>
                </a:solidFill>
                <a:latin typeface="Calibri"/>
              </a:rPr>
              <a:t>USA</a:t>
            </a:r>
          </a:p>
        </p:txBody>
      </p:sp>
      <p:sp>
        <p:nvSpPr>
          <p:cNvPr id="26" name="Rectangle 25"/>
          <p:cNvSpPr/>
          <p:nvPr/>
        </p:nvSpPr>
        <p:spPr>
          <a:xfrm>
            <a:off x="1960687" y="2969605"/>
            <a:ext cx="4955954" cy="22586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220143" y="4036992"/>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495425" y="1717624"/>
            <a:ext cx="838200" cy="133350"/>
          </a:xfrm>
          <a:prstGeom prst="rect">
            <a:avLst/>
          </a:prstGeom>
          <a:noFill/>
        </p:spPr>
        <p:txBody>
          <a:bodyPr wrap="square" lIns="28575" tIns="9525" rIns="28575" bIns="9525">
            <a:spAutoFit/>
          </a:bodyPr>
          <a:lstStyle/>
          <a:p>
            <a:pPr algn="l"/>
            <a:r>
              <a:rPr sz="1100" b="0">
                <a:solidFill>
                  <a:srgbClr val="2E2E2E"/>
                </a:solidFill>
                <a:latin typeface="Calibri"/>
              </a:rPr>
              <a:t>Average Price</a:t>
            </a:r>
          </a:p>
        </p:txBody>
      </p:sp>
      <p:sp>
        <p:nvSpPr>
          <p:cNvPr id="30" name="Rectangle 29"/>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619375" y="1717624"/>
            <a:ext cx="800100" cy="133350"/>
          </a:xfrm>
          <a:prstGeom prst="rect">
            <a:avLst/>
          </a:prstGeom>
          <a:noFill/>
        </p:spPr>
        <p:txBody>
          <a:bodyPr wrap="square" lIns="28575" tIns="9525" rIns="28575" bIns="9525">
            <a:spAutoFit/>
          </a:bodyPr>
          <a:lstStyle/>
          <a:p>
            <a:pPr algn="l"/>
            <a:r>
              <a:rPr sz="1100" b="0">
                <a:solidFill>
                  <a:srgbClr val="2E2E2E"/>
                </a:solidFill>
                <a:latin typeface="Calibri"/>
              </a:rPr>
              <a:t>Price Range</a:t>
            </a:r>
          </a:p>
        </p:txBody>
      </p:sp>
      <p:sp>
        <p:nvSpPr>
          <p:cNvPr id="32" name="Rounded Rectangle 31"/>
          <p:cNvSpPr/>
          <p:nvPr/>
        </p:nvSpPr>
        <p:spPr>
          <a:xfrm>
            <a:off x="7915275" y="1317574"/>
            <a:ext cx="413385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48625" y="1403299"/>
            <a:ext cx="3867150" cy="209550"/>
          </a:xfrm>
          <a:prstGeom prst="rect">
            <a:avLst/>
          </a:prstGeom>
          <a:noFill/>
        </p:spPr>
        <p:txBody>
          <a:bodyPr wrap="square" lIns="0" tIns="9525" rIns="19050" bIns="9525">
            <a:spAutoFit/>
          </a:bodyPr>
          <a:lstStyle/>
          <a:p>
            <a:pPr algn="l"/>
            <a:r>
              <a:rPr sz="1300" b="1">
                <a:solidFill>
                  <a:srgbClr val="0B2E4A"/>
                </a:solidFill>
                <a:latin typeface="Calibri"/>
              </a:rPr>
              <a:t>Key Findings</a:t>
            </a:r>
          </a:p>
        </p:txBody>
      </p:sp>
      <p:sp>
        <p:nvSpPr>
          <p:cNvPr id="34" name="Rectangle 33"/>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8625" y="1727149"/>
            <a:ext cx="3867150" cy="3438770"/>
          </a:xfrm>
          <a:prstGeom prst="rect">
            <a:avLst/>
          </a:prstGeom>
          <a:noFill/>
        </p:spPr>
        <p:txBody>
          <a:bodyPr wrap="square" lIns="0" tIns="9525" rIns="19050" bIns="9525">
            <a:spAutoFit/>
          </a:bodyPr>
          <a:lstStyle/>
          <a:p>
            <a:pPr algn="l">
              <a:lnSpc>
                <a:spcPct val="110000"/>
              </a:lnSpc>
              <a:spcBef>
                <a:spcPts val="0"/>
              </a:spcBef>
              <a:spcAft>
                <a:spcPts val="500"/>
              </a:spcAft>
            </a:pPr>
            <a:r>
              <a:rPr sz="1150" b="0">
                <a:solidFill>
                  <a:srgbClr val="2E2E2E"/>
                </a:solidFill>
                <a:latin typeface="Calibri"/>
              </a:rPr>
              <a:t>Bar segment is expected to command the highest average price of US$ 1.83 per Unit in 2036. Average selling price of prenatal vitamin supplements is estimated at US$ 0.23 per Unit in 2025 and is projected to increase to US$ 0.25 per Unit by 2036.</a:t>
            </a:r>
          </a:p>
          <a:p>
            <a:pPr algn="l">
              <a:lnSpc>
                <a:spcPct val="110000"/>
              </a:lnSpc>
              <a:spcBef>
                <a:spcPts val="0"/>
              </a:spcBef>
              <a:spcAft>
                <a:spcPts val="500"/>
              </a:spcAft>
            </a:pPr>
            <a:r>
              <a:rPr sz="1150" b="0">
                <a:solidFill>
                  <a:srgbClr val="2E2E2E"/>
                </a:solidFill>
                <a:latin typeface="Calibri"/>
              </a:rPr>
              <a:t>The orange dot is each region's average selling price; the blue band is its full low-to-high price range, all derived as Value ÷ Volume. Narrow bands point to commoditised, price-led competition; wider bands flag premiumisation headroom to trade buyers up the mix.</a:t>
            </a:r>
          </a:p>
        </p:txBody>
      </p:sp>
      <p:sp>
        <p:nvSpPr>
          <p:cNvPr id="36" name="Rounded Rectangle 35"/>
          <p:cNvSpPr/>
          <p:nvPr/>
        </p:nvSpPr>
        <p:spPr>
          <a:xfrm>
            <a:off x="7915275" y="5351641"/>
            <a:ext cx="4133850" cy="1204744"/>
          </a:xfrm>
          <a:prstGeom prst="roundRect">
            <a:avLst>
              <a:gd name="adj" fmla="val 63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Note: the above information is indicative in nature and does not constitute any form of analysis.</a:t>
            </a:r>
          </a:p>
        </p:txBody>
      </p:sp>
      <p:sp>
        <p:nvSpPr>
          <p:cNvPr id="37" name="TextBox 3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Key Pricing Drivers Influencing Prenatal Vitamin Supplements Market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input costs, market conditions and competitive forces shaping pricing strategies and profitability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Analysis of input costs, market conditions, and competitive forces shaping pricing strategies and profitability across the value chain</a:t>
            </a:r>
          </a:p>
        </p:txBody>
      </p:sp>
      <p:sp>
        <p:nvSpPr>
          <p:cNvPr id="12" name="Rounded Rectangle 11"/>
          <p:cNvSpPr/>
          <p:nvPr/>
        </p:nvSpPr>
        <p:spPr>
          <a:xfrm>
            <a:off x="142875" y="1354081"/>
            <a:ext cx="693420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8125" y="1411231"/>
            <a:ext cx="67437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Price Impacting Factors</a:t>
            </a:r>
          </a:p>
        </p:txBody>
      </p:sp>
      <p:sp>
        <p:nvSpPr>
          <p:cNvPr id="14" name="Freeform 13"/>
          <p:cNvSpPr/>
          <p:nvPr/>
        </p:nvSpPr>
        <p:spPr>
          <a:xfrm>
            <a:off x="3248025"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2895600"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5"/>
          <p:cNvSpPr/>
          <p:nvPr/>
        </p:nvSpPr>
        <p:spPr>
          <a:xfrm>
            <a:off x="2533650"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2171700"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p:cNvSpPr/>
          <p:nvPr/>
        </p:nvSpPr>
        <p:spPr>
          <a:xfrm>
            <a:off x="1819275"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V="1">
            <a:off x="3609975" y="2192281"/>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609975"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609975"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609975"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09975"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609975" y="4078660"/>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501189"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815922"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1815922"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501189"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9" name="Freeform 28"/>
          <p:cNvSpPr/>
          <p:nvPr/>
        </p:nvSpPr>
        <p:spPr>
          <a:xfrm>
            <a:off x="2447925"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576638"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352787"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742772"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922177"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519105"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576638"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2911366"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589908"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2410503"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077684"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38550" y="3634709"/>
            <a:ext cx="285750" cy="123825"/>
          </a:xfrm>
          <a:prstGeom prst="rect">
            <a:avLst/>
          </a:prstGeom>
          <a:noFill/>
        </p:spPr>
        <p:txBody>
          <a:bodyPr wrap="none" lIns="0" tIns="0" rIns="0" bIns="0" anchor="ctr">
            <a:spAutoFit/>
          </a:bodyPr>
          <a:lstStyle/>
          <a:p>
            <a:pPr algn="l"/>
            <a:r>
              <a:rPr sz="1100" b="0">
                <a:solidFill>
                  <a:srgbClr val="6C7A89"/>
                </a:solidFill>
                <a:latin typeface="Calibri"/>
              </a:rPr>
              <a:t>2</a:t>
            </a:r>
          </a:p>
        </p:txBody>
      </p:sp>
      <p:sp>
        <p:nvSpPr>
          <p:cNvPr id="41" name="TextBox 40"/>
          <p:cNvSpPr txBox="1"/>
          <p:nvPr/>
        </p:nvSpPr>
        <p:spPr>
          <a:xfrm>
            <a:off x="3638550" y="3257434"/>
            <a:ext cx="285750" cy="123825"/>
          </a:xfrm>
          <a:prstGeom prst="rect">
            <a:avLst/>
          </a:prstGeom>
          <a:noFill/>
        </p:spPr>
        <p:txBody>
          <a:bodyPr wrap="none" lIns="0" tIns="0" rIns="0" bIns="0" anchor="ctr">
            <a:spAutoFit/>
          </a:bodyPr>
          <a:lstStyle/>
          <a:p>
            <a:pPr algn="l"/>
            <a:r>
              <a:rPr sz="1100" b="0">
                <a:solidFill>
                  <a:srgbClr val="6C7A89"/>
                </a:solidFill>
                <a:latin typeface="Calibri"/>
              </a:rPr>
              <a:t>4</a:t>
            </a:r>
          </a:p>
        </p:txBody>
      </p:sp>
      <p:sp>
        <p:nvSpPr>
          <p:cNvPr id="42" name="TextBox 41"/>
          <p:cNvSpPr txBox="1"/>
          <p:nvPr/>
        </p:nvSpPr>
        <p:spPr>
          <a:xfrm>
            <a:off x="3638550" y="2880158"/>
            <a:ext cx="285750" cy="123825"/>
          </a:xfrm>
          <a:prstGeom prst="rect">
            <a:avLst/>
          </a:prstGeom>
          <a:noFill/>
        </p:spPr>
        <p:txBody>
          <a:bodyPr wrap="none" lIns="0" tIns="0" rIns="0" bIns="0" anchor="ctr">
            <a:spAutoFit/>
          </a:bodyPr>
          <a:lstStyle/>
          <a:p>
            <a:pPr algn="l"/>
            <a:r>
              <a:rPr sz="1100" b="0">
                <a:solidFill>
                  <a:srgbClr val="6C7A89"/>
                </a:solidFill>
                <a:latin typeface="Calibri"/>
              </a:rPr>
              <a:t>6</a:t>
            </a:r>
          </a:p>
        </p:txBody>
      </p:sp>
      <p:sp>
        <p:nvSpPr>
          <p:cNvPr id="43" name="TextBox 42"/>
          <p:cNvSpPr txBox="1"/>
          <p:nvPr/>
        </p:nvSpPr>
        <p:spPr>
          <a:xfrm>
            <a:off x="3638550" y="2502882"/>
            <a:ext cx="285750" cy="123825"/>
          </a:xfrm>
          <a:prstGeom prst="rect">
            <a:avLst/>
          </a:prstGeom>
          <a:noFill/>
        </p:spPr>
        <p:txBody>
          <a:bodyPr wrap="none" lIns="0" tIns="0" rIns="0" bIns="0" anchor="ctr">
            <a:spAutoFit/>
          </a:bodyPr>
          <a:lstStyle/>
          <a:p>
            <a:pPr algn="l"/>
            <a:r>
              <a:rPr sz="1100" b="0">
                <a:solidFill>
                  <a:srgbClr val="6C7A89"/>
                </a:solidFill>
                <a:latin typeface="Calibri"/>
              </a:rPr>
              <a:t>8</a:t>
            </a:r>
          </a:p>
        </p:txBody>
      </p:sp>
      <p:sp>
        <p:nvSpPr>
          <p:cNvPr id="44" name="TextBox 43"/>
          <p:cNvSpPr txBox="1"/>
          <p:nvPr/>
        </p:nvSpPr>
        <p:spPr>
          <a:xfrm>
            <a:off x="3638550" y="2125606"/>
            <a:ext cx="285750" cy="123825"/>
          </a:xfrm>
          <a:prstGeom prst="rect">
            <a:avLst/>
          </a:prstGeom>
          <a:noFill/>
        </p:spPr>
        <p:txBody>
          <a:bodyPr wrap="none" lIns="0" tIns="0" rIns="0" bIns="0" anchor="ctr">
            <a:spAutoFit/>
          </a:bodyPr>
          <a:lstStyle/>
          <a:p>
            <a:pPr algn="l"/>
            <a:r>
              <a:rPr sz="1100" b="0">
                <a:solidFill>
                  <a:srgbClr val="6C7A89"/>
                </a:solidFill>
                <a:latin typeface="Calibri"/>
              </a:rPr>
              <a:t>10</a:t>
            </a:r>
          </a:p>
        </p:txBody>
      </p:sp>
      <p:sp>
        <p:nvSpPr>
          <p:cNvPr id="45" name="TextBox 44"/>
          <p:cNvSpPr txBox="1"/>
          <p:nvPr/>
        </p:nvSpPr>
        <p:spPr>
          <a:xfrm>
            <a:off x="2952750" y="1839856"/>
            <a:ext cx="1314450" cy="285750"/>
          </a:xfrm>
          <a:prstGeom prst="rect">
            <a:avLst/>
          </a:prstGeom>
          <a:noFill/>
        </p:spPr>
        <p:txBody>
          <a:bodyPr wrap="square" lIns="28575" tIns="9525" rIns="28575" bIns="9525" anchor="ctr">
            <a:spAutoFit/>
          </a:bodyPr>
          <a:lstStyle/>
          <a:p>
            <a:pPr algn="ctr"/>
            <a:r>
              <a:rPr sz="1100" b="0">
                <a:solidFill>
                  <a:srgbClr val="2E2E2E"/>
                </a:solidFill>
                <a:latin typeface="Calibri"/>
              </a:rPr>
              <a:t>Input Cost  13.0%</a:t>
            </a:r>
          </a:p>
        </p:txBody>
      </p:sp>
      <p:sp>
        <p:nvSpPr>
          <p:cNvPr id="46" name="TextBox 45"/>
          <p:cNvSpPr txBox="1"/>
          <p:nvPr/>
        </p:nvSpPr>
        <p:spPr>
          <a:xfrm>
            <a:off x="4184706" y="2240143"/>
            <a:ext cx="1314450" cy="285750"/>
          </a:xfrm>
          <a:prstGeom prst="rect">
            <a:avLst/>
          </a:prstGeom>
          <a:noFill/>
        </p:spPr>
        <p:txBody>
          <a:bodyPr wrap="square" lIns="28575" tIns="9525" rIns="28575" bIns="9525" anchor="ctr">
            <a:spAutoFit/>
          </a:bodyPr>
          <a:lstStyle/>
          <a:p>
            <a:pPr algn="ctr"/>
            <a:r>
              <a:rPr sz="1100" b="0">
                <a:solidFill>
                  <a:srgbClr val="2E2E2E"/>
                </a:solidFill>
                <a:latin typeface="Calibri"/>
              </a:rPr>
              <a:t>Labor &amp; Production Costs  10.1%</a:t>
            </a:r>
          </a:p>
        </p:txBody>
      </p:sp>
      <p:sp>
        <p:nvSpPr>
          <p:cNvPr id="47" name="TextBox 46"/>
          <p:cNvSpPr txBox="1"/>
          <p:nvPr/>
        </p:nvSpPr>
        <p:spPr>
          <a:xfrm>
            <a:off x="4946097" y="3288108"/>
            <a:ext cx="1314450" cy="285750"/>
          </a:xfrm>
          <a:prstGeom prst="rect">
            <a:avLst/>
          </a:prstGeom>
          <a:noFill/>
        </p:spPr>
        <p:txBody>
          <a:bodyPr wrap="square" lIns="28575" tIns="9525" rIns="28575" bIns="9525" anchor="ctr">
            <a:spAutoFit/>
          </a:bodyPr>
          <a:lstStyle/>
          <a:p>
            <a:pPr algn="ctr"/>
            <a:r>
              <a:rPr sz="1100" b="0">
                <a:solidFill>
                  <a:srgbClr val="2E2E2E"/>
                </a:solidFill>
                <a:latin typeface="Calibri"/>
              </a:rPr>
              <a:t>Technology &amp; Innovation  9.4%</a:t>
            </a:r>
          </a:p>
        </p:txBody>
      </p:sp>
      <p:sp>
        <p:nvSpPr>
          <p:cNvPr id="48" name="TextBox 47"/>
          <p:cNvSpPr txBox="1"/>
          <p:nvPr/>
        </p:nvSpPr>
        <p:spPr>
          <a:xfrm>
            <a:off x="4946097" y="4583463"/>
            <a:ext cx="1314450" cy="285750"/>
          </a:xfrm>
          <a:prstGeom prst="rect">
            <a:avLst/>
          </a:prstGeom>
          <a:noFill/>
        </p:spPr>
        <p:txBody>
          <a:bodyPr wrap="square" lIns="28575" tIns="9525" rIns="28575" bIns="9525" anchor="ctr">
            <a:spAutoFit/>
          </a:bodyPr>
          <a:lstStyle/>
          <a:p>
            <a:pPr algn="ctr"/>
            <a:r>
              <a:rPr sz="1100" b="0">
                <a:solidFill>
                  <a:srgbClr val="2E2E2E"/>
                </a:solidFill>
                <a:latin typeface="Calibri"/>
              </a:rPr>
              <a:t>Supply Chain &amp; Logistics  10.9%</a:t>
            </a:r>
          </a:p>
        </p:txBody>
      </p:sp>
      <p:sp>
        <p:nvSpPr>
          <p:cNvPr id="49" name="TextBox 48"/>
          <p:cNvSpPr txBox="1"/>
          <p:nvPr/>
        </p:nvSpPr>
        <p:spPr>
          <a:xfrm>
            <a:off x="4184706" y="5631427"/>
            <a:ext cx="1314450" cy="285750"/>
          </a:xfrm>
          <a:prstGeom prst="rect">
            <a:avLst/>
          </a:prstGeom>
          <a:noFill/>
        </p:spPr>
        <p:txBody>
          <a:bodyPr wrap="square" lIns="28575" tIns="9525" rIns="28575" bIns="9525" anchor="ctr">
            <a:spAutoFit/>
          </a:bodyPr>
          <a:lstStyle/>
          <a:p>
            <a:pPr algn="ctr"/>
            <a:r>
              <a:rPr sz="1100" b="0">
                <a:solidFill>
                  <a:srgbClr val="2E2E2E"/>
                </a:solidFill>
                <a:latin typeface="Calibri"/>
              </a:rPr>
              <a:t>Demand &amp; Market Conditions  12.3%</a:t>
            </a:r>
          </a:p>
        </p:txBody>
      </p:sp>
      <p:sp>
        <p:nvSpPr>
          <p:cNvPr id="50" name="TextBox 49"/>
          <p:cNvSpPr txBox="1"/>
          <p:nvPr/>
        </p:nvSpPr>
        <p:spPr>
          <a:xfrm>
            <a:off x="2952750" y="6031714"/>
            <a:ext cx="1314450" cy="285750"/>
          </a:xfrm>
          <a:prstGeom prst="rect">
            <a:avLst/>
          </a:prstGeom>
          <a:noFill/>
        </p:spPr>
        <p:txBody>
          <a:bodyPr wrap="square" lIns="28575" tIns="9525" rIns="28575" bIns="9525" anchor="ctr">
            <a:spAutoFit/>
          </a:bodyPr>
          <a:lstStyle/>
          <a:p>
            <a:pPr algn="ctr"/>
            <a:r>
              <a:rPr sz="1100" b="0">
                <a:solidFill>
                  <a:srgbClr val="2E2E2E"/>
                </a:solidFill>
                <a:latin typeface="Calibri"/>
              </a:rPr>
              <a:t>Competitive Landscape  11.6%</a:t>
            </a:r>
          </a:p>
        </p:txBody>
      </p:sp>
      <p:sp>
        <p:nvSpPr>
          <p:cNvPr id="51" name="TextBox 50"/>
          <p:cNvSpPr txBox="1"/>
          <p:nvPr/>
        </p:nvSpPr>
        <p:spPr>
          <a:xfrm>
            <a:off x="1720794" y="5631427"/>
            <a:ext cx="1314450" cy="285750"/>
          </a:xfrm>
          <a:prstGeom prst="rect">
            <a:avLst/>
          </a:prstGeom>
          <a:noFill/>
        </p:spPr>
        <p:txBody>
          <a:bodyPr wrap="square" lIns="28575" tIns="9525" rIns="28575" bIns="9525" anchor="ctr">
            <a:spAutoFit/>
          </a:bodyPr>
          <a:lstStyle/>
          <a:p>
            <a:pPr algn="ctr"/>
            <a:r>
              <a:rPr sz="1100" b="0">
                <a:solidFill>
                  <a:srgbClr val="2E2E2E"/>
                </a:solidFill>
                <a:latin typeface="Calibri"/>
              </a:rPr>
              <a:t>Regulatory &amp; Compliance Costs  8.7%</a:t>
            </a:r>
          </a:p>
        </p:txBody>
      </p:sp>
      <p:sp>
        <p:nvSpPr>
          <p:cNvPr id="52" name="TextBox 51"/>
          <p:cNvSpPr txBox="1"/>
          <p:nvPr/>
        </p:nvSpPr>
        <p:spPr>
          <a:xfrm>
            <a:off x="959403" y="4583463"/>
            <a:ext cx="1314450" cy="285750"/>
          </a:xfrm>
          <a:prstGeom prst="rect">
            <a:avLst/>
          </a:prstGeom>
          <a:noFill/>
        </p:spPr>
        <p:txBody>
          <a:bodyPr wrap="square" lIns="28575" tIns="9525" rIns="28575" bIns="9525" anchor="ctr">
            <a:spAutoFit/>
          </a:bodyPr>
          <a:lstStyle/>
          <a:p>
            <a:pPr algn="ctr"/>
            <a:r>
              <a:rPr sz="1100" b="0">
                <a:solidFill>
                  <a:srgbClr val="2E2E2E"/>
                </a:solidFill>
                <a:latin typeface="Calibri"/>
              </a:rPr>
              <a:t>Currency &amp; Trade Dynamics  8.0%</a:t>
            </a:r>
          </a:p>
        </p:txBody>
      </p:sp>
      <p:sp>
        <p:nvSpPr>
          <p:cNvPr id="53" name="TextBox 52"/>
          <p:cNvSpPr txBox="1"/>
          <p:nvPr/>
        </p:nvSpPr>
        <p:spPr>
          <a:xfrm>
            <a:off x="959403" y="3288108"/>
            <a:ext cx="1314450" cy="285750"/>
          </a:xfrm>
          <a:prstGeom prst="rect">
            <a:avLst/>
          </a:prstGeom>
          <a:noFill/>
        </p:spPr>
        <p:txBody>
          <a:bodyPr wrap="square" lIns="28575" tIns="9525" rIns="28575" bIns="9525" anchor="ctr">
            <a:spAutoFit/>
          </a:bodyPr>
          <a:lstStyle/>
          <a:p>
            <a:pPr algn="ctr"/>
            <a:r>
              <a:rPr sz="1100" b="0">
                <a:solidFill>
                  <a:srgbClr val="2E2E2E"/>
                </a:solidFill>
                <a:latin typeface="Calibri"/>
              </a:rPr>
              <a:t>Brand &amp; Value Perception  9.4%</a:t>
            </a:r>
          </a:p>
        </p:txBody>
      </p:sp>
      <p:sp>
        <p:nvSpPr>
          <p:cNvPr id="54" name="TextBox 53"/>
          <p:cNvSpPr txBox="1"/>
          <p:nvPr/>
        </p:nvSpPr>
        <p:spPr>
          <a:xfrm>
            <a:off x="1720794" y="2240143"/>
            <a:ext cx="1314450" cy="285750"/>
          </a:xfrm>
          <a:prstGeom prst="rect">
            <a:avLst/>
          </a:prstGeom>
          <a:noFill/>
        </p:spPr>
        <p:txBody>
          <a:bodyPr wrap="square" lIns="28575" tIns="9525" rIns="28575" bIns="9525" anchor="ctr">
            <a:spAutoFit/>
          </a:bodyPr>
          <a:lstStyle/>
          <a:p>
            <a:pPr algn="ctr"/>
            <a:r>
              <a:rPr sz="1100" b="0">
                <a:solidFill>
                  <a:srgbClr val="2E2E2E"/>
                </a:solidFill>
                <a:latin typeface="Calibri"/>
              </a:rPr>
              <a:t>Aftermarket &amp; Service Costs  6.5%</a:t>
            </a:r>
          </a:p>
        </p:txBody>
      </p:sp>
      <p:sp>
        <p:nvSpPr>
          <p:cNvPr id="55" name="Rounded Rectangle 54"/>
          <p:cNvSpPr/>
          <p:nvPr/>
        </p:nvSpPr>
        <p:spPr>
          <a:xfrm>
            <a:off x="7153275" y="1354081"/>
            <a:ext cx="4895850" cy="3479443"/>
          </a:xfrm>
          <a:prstGeom prst="roundRect">
            <a:avLst>
              <a:gd name="adj" fmla="val 219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286625" y="1439806"/>
            <a:ext cx="4629150" cy="209550"/>
          </a:xfrm>
          <a:prstGeom prst="rect">
            <a:avLst/>
          </a:prstGeom>
          <a:noFill/>
        </p:spPr>
        <p:txBody>
          <a:bodyPr wrap="square" lIns="0" tIns="9525" rIns="19050" bIns="9525">
            <a:spAutoFit/>
          </a:bodyPr>
          <a:lstStyle/>
          <a:p>
            <a:pPr algn="l"/>
            <a:r>
              <a:rPr sz="1300" b="1">
                <a:solidFill>
                  <a:srgbClr val="0B2E4A"/>
                </a:solidFill>
                <a:latin typeface="Calibri"/>
              </a:rPr>
              <a:t>Key Takeaways</a:t>
            </a:r>
          </a:p>
        </p:txBody>
      </p:sp>
      <p:sp>
        <p:nvSpPr>
          <p:cNvPr id="57" name="Rectangle 56"/>
          <p:cNvSpPr/>
          <p:nvPr/>
        </p:nvSpPr>
        <p:spPr>
          <a:xfrm>
            <a:off x="7286625" y="1677931"/>
            <a:ext cx="4629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286625" y="1763656"/>
            <a:ext cx="4629150" cy="2993668"/>
          </a:xfrm>
          <a:prstGeom prst="rect">
            <a:avLst/>
          </a:prstGeom>
          <a:noFill/>
        </p:spPr>
        <p:txBody>
          <a:bodyPr wrap="square" lIns="0" tIns="9525" rIns="19050"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Pricing across the Prenatal Vitamin Supplements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Demand strength, competitive intensity and supply-chain reliability together define the ceiling on pricing power across the Prenatal Vitamin Supplements Market.</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9" name="Rounded Rectangle 58"/>
          <p:cNvSpPr/>
          <p:nvPr/>
        </p:nvSpPr>
        <p:spPr>
          <a:xfrm>
            <a:off x="7153275" y="4943046"/>
            <a:ext cx="4895850" cy="1686354"/>
          </a:xfrm>
          <a:prstGeom prst="roundRect">
            <a:avLst>
              <a:gd name="adj" fmla="val 45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286625" y="5028771"/>
            <a:ext cx="4629150" cy="209550"/>
          </a:xfrm>
          <a:prstGeom prst="rect">
            <a:avLst/>
          </a:prstGeom>
          <a:noFill/>
        </p:spPr>
        <p:txBody>
          <a:bodyPr wrap="square" lIns="0" tIns="9525" rIns="19050" bIns="9525">
            <a:spAutoFit/>
          </a:bodyPr>
          <a:lstStyle/>
          <a:p>
            <a:pPr algn="l"/>
            <a:r>
              <a:rPr sz="1300" b="1">
                <a:solidFill>
                  <a:srgbClr val="0B2E4A"/>
                </a:solidFill>
                <a:latin typeface="Calibri"/>
              </a:rPr>
              <a:t>Highest-Impact Drivers</a:t>
            </a:r>
          </a:p>
        </p:txBody>
      </p:sp>
      <p:sp>
        <p:nvSpPr>
          <p:cNvPr id="61" name="Rectangle 60"/>
          <p:cNvSpPr/>
          <p:nvPr/>
        </p:nvSpPr>
        <p:spPr>
          <a:xfrm>
            <a:off x="7286625" y="5266896"/>
            <a:ext cx="4629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286625" y="5352621"/>
            <a:ext cx="4629150" cy="1200579"/>
          </a:xfrm>
          <a:prstGeom prst="rect">
            <a:avLst/>
          </a:prstGeom>
          <a:noFill/>
        </p:spPr>
        <p:txBody>
          <a:bodyPr wrap="square" lIns="0" tIns="9525" rIns="19050"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Input Cost 9.0 / 10  ·  dominant cost pressure</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Demand &amp; Market Conditions 8.5 / 10  ·  major cost pressure</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Competitive Landscape 8.0 / 10  ·  key pricing lever</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Supply Chain &amp; Logistics 7.5 / 10  ·  key pricing lever</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Labor &amp; Production Costs 7.0 / 10  ·  supporting factor</a:t>
            </a:r>
          </a:p>
        </p:txBody>
      </p:sp>
      <p:sp>
        <p:nvSpPr>
          <p:cNvPr id="63" name="TextBox 6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Prenatal Vitamin Supplements Market Factors Impacting Pricing</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Factors affecting the pricing decision of the product: category, price impact, direction of pressure and rationale</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The cost, demand, efficiency and regulatory forces shaping and impacting achievable selling prices grouped by category, with each factor's direction, impact and score.</a:t>
            </a:r>
          </a:p>
        </p:txBody>
      </p:sp>
      <p:sp>
        <p:nvSpPr>
          <p:cNvPr id="11" name="Rounded Rectangle 10"/>
          <p:cNvSpPr/>
          <p:nvPr/>
        </p:nvSpPr>
        <p:spPr>
          <a:xfrm>
            <a:off x="142875" y="1314450"/>
            <a:ext cx="11906250" cy="3114675"/>
          </a:xfrm>
          <a:prstGeom prst="roundRect">
            <a:avLst>
              <a:gd name="adj" fmla="val 24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2" name="Table 11"/>
          <p:cNvGraphicFramePr>
            <a:graphicFrameLocks noGrp="1"/>
          </p:cNvGraphicFramePr>
          <p:nvPr/>
        </p:nvGraphicFramePr>
        <p:xfrm>
          <a:off x="152400" y="1390650"/>
          <a:ext cx="11887199" cy="2809875"/>
        </p:xfrm>
        <a:graphic>
          <a:graphicData uri="http://schemas.openxmlformats.org/drawingml/2006/table">
            <a:tbl>
              <a:tblPr>
                <a:tableStyleId>{5C22544A-7EE6-4342-B048-85BDC9FD1C3A}</a:tableStyleId>
              </a:tblPr>
              <a:tblGrid>
                <a:gridCol w="2561515">
                  <a:extLst>
                    <a:ext uri="{9D8B030D-6E8A-4147-A177-3AD203B41FA5}">
                      <a16:colId xmlns:a16="http://schemas.microsoft.com/office/drawing/2014/main" val="20000"/>
                    </a:ext>
                  </a:extLst>
                </a:gridCol>
                <a:gridCol w="2697613">
                  <a:extLst>
                    <a:ext uri="{9D8B030D-6E8A-4147-A177-3AD203B41FA5}">
                      <a16:colId xmlns:a16="http://schemas.microsoft.com/office/drawing/2014/main" val="20001"/>
                    </a:ext>
                  </a:extLst>
                </a:gridCol>
                <a:gridCol w="1098187">
                  <a:extLst>
                    <a:ext uri="{9D8B030D-6E8A-4147-A177-3AD203B41FA5}">
                      <a16:colId xmlns:a16="http://schemas.microsoft.com/office/drawing/2014/main" val="20002"/>
                    </a:ext>
                  </a:extLst>
                </a:gridCol>
                <a:gridCol w="1211368">
                  <a:extLst>
                    <a:ext uri="{9D8B030D-6E8A-4147-A177-3AD203B41FA5}">
                      <a16:colId xmlns:a16="http://schemas.microsoft.com/office/drawing/2014/main" val="20003"/>
                    </a:ext>
                  </a:extLst>
                </a:gridCol>
                <a:gridCol w="1098187">
                  <a:extLst>
                    <a:ext uri="{9D8B030D-6E8A-4147-A177-3AD203B41FA5}">
                      <a16:colId xmlns:a16="http://schemas.microsoft.com/office/drawing/2014/main" val="20004"/>
                    </a:ext>
                  </a:extLst>
                </a:gridCol>
                <a:gridCol w="3220329">
                  <a:extLst>
                    <a:ext uri="{9D8B030D-6E8A-4147-A177-3AD203B41FA5}">
                      <a16:colId xmlns:a16="http://schemas.microsoft.com/office/drawing/2014/main" val="20005"/>
                    </a:ext>
                  </a:extLst>
                </a:gridCol>
              </a:tblGrid>
              <a:tr h="215265">
                <a:tc>
                  <a:txBody>
                    <a:bodyPr/>
                    <a:lstStyle/>
                    <a:p>
                      <a:pPr algn="l"/>
                      <a:r>
                        <a:rPr sz="1100" b="1">
                          <a:solidFill>
                            <a:srgbClr val="0B2E4A"/>
                          </a:solidFill>
                          <a:latin typeface="Calibri"/>
                        </a:rPr>
                        <a:t>Factor</a:t>
                      </a:r>
                      <a:endParaRPr sz="1100"/>
                    </a:p>
                  </a:txBody>
                  <a:tcPr marL="47625" marR="38100" marT="19050" marB="19050" anchor="ctr">
                    <a:solidFill>
                      <a:srgbClr val="E0E8EF"/>
                    </a:solidFill>
                  </a:tcPr>
                </a:tc>
                <a:tc>
                  <a:txBody>
                    <a:bodyPr/>
                    <a:lstStyle/>
                    <a:p>
                      <a:pPr algn="l"/>
                      <a:r>
                        <a:rPr sz="1100" b="1">
                          <a:solidFill>
                            <a:srgbClr val="0B2E4A"/>
                          </a:solidFill>
                          <a:latin typeface="Calibri"/>
                        </a:rPr>
                        <a:t>Category</a:t>
                      </a:r>
                      <a:endParaRPr sz="1100"/>
                    </a:p>
                  </a:txBody>
                  <a:tcPr marL="47625" marR="38100" marT="19050" marB="19050" anchor="ctr">
                    <a:solidFill>
                      <a:srgbClr val="E0E8EF"/>
                    </a:solidFill>
                  </a:tcPr>
                </a:tc>
                <a:tc>
                  <a:txBody>
                    <a:bodyPr/>
                    <a:lstStyle/>
                    <a:p>
                      <a:pPr algn="l"/>
                      <a:r>
                        <a:rPr sz="1100" b="1">
                          <a:solidFill>
                            <a:srgbClr val="0B2E4A"/>
                          </a:solidFill>
                          <a:latin typeface="Calibri"/>
                        </a:rPr>
                        <a:t>Price Impact</a:t>
                      </a:r>
                      <a:endParaRPr sz="1100"/>
                    </a:p>
                  </a:txBody>
                  <a:tcPr marL="47625" marR="38100" marT="19050" marB="19050" anchor="ctr">
                    <a:solidFill>
                      <a:srgbClr val="E0E8EF"/>
                    </a:solidFill>
                  </a:tcPr>
                </a:tc>
                <a:tc>
                  <a:txBody>
                    <a:bodyPr/>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a:lstStyle/>
                    <a:p>
                      <a:pPr algn="l"/>
                      <a:r>
                        <a:rPr sz="1100" b="1">
                          <a:solidFill>
                            <a:srgbClr val="0B2E4A"/>
                          </a:solidFill>
                          <a:latin typeface="Calibri"/>
                        </a:rPr>
                        <a:t>Score (0–10)</a:t>
                      </a:r>
                      <a:endParaRPr sz="1100"/>
                    </a:p>
                  </a:txBody>
                  <a:tcPr marL="47625" marR="38100" marT="19050" marB="19050" anchor="ctr">
                    <a:solidFill>
                      <a:srgbClr val="E0E8EF"/>
                    </a:solidFill>
                  </a:tcPr>
                </a:tc>
                <a:tc>
                  <a:txBody>
                    <a:bodyPr/>
                    <a:lstStyle/>
                    <a:p>
                      <a:pPr algn="l"/>
                      <a:r>
                        <a:rPr sz="1100" b="1">
                          <a:solidFill>
                            <a:srgbClr val="0B2E4A"/>
                          </a:solidFill>
                          <a:latin typeface="Calibri"/>
                        </a:rPr>
                        <a:t>How It Shapes Price</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59461">
                <a:tc>
                  <a:txBody>
                    <a:bodyPr/>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a:lstStyle/>
                    <a:p>
                      <a:pPr algn="l"/>
                      <a:r>
                        <a:rPr sz="1100" b="0">
                          <a:solidFill>
                            <a:srgbClr val="2E2E2E"/>
                          </a:solidFill>
                          <a:latin typeface="Calibri"/>
                        </a:rPr>
                        <a:t>9.0</a:t>
                      </a:r>
                      <a:endParaRPr sz="1100"/>
                    </a:p>
                  </a:txBody>
                  <a:tcPr marL="47625" marR="38100" marT="19050" marB="19050" anchor="ctr">
                    <a:solidFill>
                      <a:srgbClr val="FFFFFF"/>
                    </a:solidFill>
                  </a:tcPr>
                </a:tc>
                <a:tc>
                  <a:txBody>
                    <a:bodyPr/>
                    <a:lstStyle/>
                    <a:p>
                      <a:pPr algn="l"/>
                      <a:r>
                        <a:rPr sz="1100" b="0">
                          <a:solidFill>
                            <a:srgbClr val="2E2E2E"/>
                          </a:solidFill>
                          <a:latin typeface="Calibri"/>
                        </a:rPr>
                        <a:t>Raw-material and input costs.</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59461">
                <a:tc>
                  <a:txBody>
                    <a:bodyPr/>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a:lstStyle/>
                    <a:p>
                      <a:pPr algn="l"/>
                      <a:r>
                        <a:rPr sz="1100" b="0">
                          <a:solidFill>
                            <a:srgbClr val="2E2E2E"/>
                          </a:solidFill>
                          <a:latin typeface="Calibri"/>
                        </a:rPr>
                        <a:t>Cost &amp; Input Pressures</a:t>
                      </a:r>
                      <a:endParaRPr sz="1100"/>
                    </a:p>
                  </a:txBody>
                  <a:tcPr marL="47625" marR="38100" marT="19050" marB="19050" anchor="ctr">
                    <a:solidFill>
                      <a:srgbClr val="F5F8FA"/>
                    </a:solidFill>
                  </a:tcPr>
                </a:tc>
                <a:tc>
                  <a:txBody>
                    <a:bodyPr/>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l"/>
                      <a:r>
                        <a:rPr sz="1100" b="0">
                          <a:solidFill>
                            <a:srgbClr val="2E2E2E"/>
                          </a:solidFill>
                          <a:latin typeface="Calibri"/>
                        </a:rPr>
                        <a:t>7.0</a:t>
                      </a:r>
                      <a:endParaRPr sz="1100"/>
                    </a:p>
                  </a:txBody>
                  <a:tcPr marL="47625" marR="38100" marT="19050" marB="19050" anchor="ctr">
                    <a:solidFill>
                      <a:srgbClr val="F5F8FA"/>
                    </a:solidFill>
                  </a:tcPr>
                </a:tc>
                <a:tc>
                  <a:txBody>
                    <a:bodyPr/>
                    <a:lstStyle/>
                    <a:p>
                      <a:pPr algn="l"/>
                      <a:r>
                        <a:rPr sz="1100" b="0">
                          <a:solidFill>
                            <a:srgbClr val="2E2E2E"/>
                          </a:solidFill>
                          <a:latin typeface="Calibri"/>
                        </a:rPr>
                        <a:t>Labour and production expenses.</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59461">
                <a:tc>
                  <a:txBody>
                    <a:bodyPr/>
                    <a:lstStyle/>
                    <a:p>
                      <a:pPr algn="l"/>
                      <a:r>
                        <a:rPr sz="1100" b="1">
                          <a:solidFill>
                            <a:srgbClr val="2E2E2E"/>
                          </a:solidFill>
                          <a:latin typeface="Calibri"/>
                        </a:rPr>
                        <a:t>Supply Chain &amp; Logistics</a:t>
                      </a:r>
                      <a:endParaRPr sz="1100"/>
                    </a:p>
                  </a:txBody>
                  <a:tcPr marL="47625" marR="38100" marT="19050" marB="19050" anchor="ctr">
                    <a:solidFill>
                      <a:srgbClr val="FFFFFF"/>
                    </a:solidFill>
                  </a:tcPr>
                </a:tc>
                <a:tc>
                  <a:txBody>
                    <a:bodyPr/>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a:lstStyle/>
                    <a:p>
                      <a:pPr algn="l"/>
                      <a:r>
                        <a:rPr sz="1100" b="0">
                          <a:solidFill>
                            <a:srgbClr val="2E2E2E"/>
                          </a:solidFill>
                          <a:latin typeface="Calibri"/>
                        </a:rPr>
                        <a:t>7.5</a:t>
                      </a:r>
                      <a:endParaRPr sz="1100"/>
                    </a:p>
                  </a:txBody>
                  <a:tcPr marL="47625" marR="38100" marT="19050" marB="19050" anchor="ctr">
                    <a:solidFill>
                      <a:srgbClr val="FFFFFF"/>
                    </a:solidFill>
                  </a:tcPr>
                </a:tc>
                <a:tc>
                  <a:txBody>
                    <a:bodyPr/>
                    <a:lstStyle/>
                    <a:p>
                      <a:pPr algn="l"/>
                      <a:r>
                        <a:rPr sz="1100" b="0">
                          <a:solidFill>
                            <a:srgbClr val="2E2E2E"/>
                          </a:solidFill>
                          <a:latin typeface="Calibri"/>
                        </a:rPr>
                        <a:t>Supply-chain and logistics conditions.</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59461">
                <a:tc>
                  <a:txBody>
                    <a:bodyPr/>
                    <a:lstStyle/>
                    <a:p>
                      <a:pPr algn="l"/>
                      <a:r>
                        <a:rPr sz="1100" b="1">
                          <a:solidFill>
                            <a:srgbClr val="2E2E2E"/>
                          </a:solidFill>
                          <a:latin typeface="Calibri"/>
                        </a:rPr>
                        <a:t>Demand &amp; Market Conditions</a:t>
                      </a:r>
                      <a:endParaRPr sz="1100"/>
                    </a:p>
                  </a:txBody>
                  <a:tcPr marL="47625" marR="38100" marT="19050" marB="19050" anchor="ctr">
                    <a:solidFill>
                      <a:srgbClr val="F5F8FA"/>
                    </a:solidFill>
                  </a:tcPr>
                </a:tc>
                <a:tc>
                  <a:txBody>
                    <a:bodyPr/>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a:lstStyle/>
                    <a:p>
                      <a:pPr algn="l"/>
                      <a:r>
                        <a:rPr sz="1100" b="0">
                          <a:solidFill>
                            <a:srgbClr val="2E2E2E"/>
                          </a:solidFill>
                          <a:latin typeface="Calibri"/>
                        </a:rPr>
                        <a:t>High</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l"/>
                      <a:r>
                        <a:rPr sz="1100" b="0">
                          <a:solidFill>
                            <a:srgbClr val="2E2E2E"/>
                          </a:solidFill>
                          <a:latin typeface="Calibri"/>
                        </a:rPr>
                        <a:t>8.5</a:t>
                      </a:r>
                      <a:endParaRPr sz="1100"/>
                    </a:p>
                  </a:txBody>
                  <a:tcPr marL="47625" marR="38100" marT="19050" marB="19050" anchor="ctr">
                    <a:solidFill>
                      <a:srgbClr val="F5F8FA"/>
                    </a:solidFill>
                  </a:tcPr>
                </a:tc>
                <a:tc>
                  <a:txBody>
                    <a:bodyPr/>
                    <a:lstStyle/>
                    <a:p>
                      <a:pPr algn="l"/>
                      <a:r>
                        <a:rPr sz="1100" b="0">
                          <a:solidFill>
                            <a:srgbClr val="2E2E2E"/>
                          </a:solidFill>
                          <a:latin typeface="Calibri"/>
                        </a:rPr>
                        <a:t>Demand and broader market conditions.</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59461">
                <a:tc>
                  <a:txBody>
                    <a:bodyPr/>
                    <a:lstStyle/>
                    <a:p>
                      <a:pPr algn="l"/>
                      <a:r>
                        <a:rPr sz="1100" b="1">
                          <a:solidFill>
                            <a:srgbClr val="2E2E2E"/>
                          </a:solidFill>
                          <a:latin typeface="Calibri"/>
                        </a:rPr>
                        <a:t>Competitive Landscape</a:t>
                      </a:r>
                      <a:endParaRPr sz="1100"/>
                    </a:p>
                  </a:txBody>
                  <a:tcPr marL="47625" marR="38100" marT="19050" marB="19050" anchor="ctr">
                    <a:solidFill>
                      <a:srgbClr val="FFFFFF"/>
                    </a:solidFill>
                  </a:tcPr>
                </a:tc>
                <a:tc>
                  <a:txBody>
                    <a:bodyPr/>
                    <a:lstStyle/>
                    <a:p>
                      <a:pPr algn="l"/>
                      <a:r>
                        <a:rPr sz="1100" b="0">
                          <a:solidFill>
                            <a:srgbClr val="2E2E2E"/>
                          </a:solidFill>
                          <a:latin typeface="Calibri"/>
                        </a:rPr>
                        <a:t>Demand &amp; Competitive Forces</a:t>
                      </a:r>
                      <a:endParaRPr sz="1100"/>
                    </a:p>
                  </a:txBody>
                  <a:tcPr marL="47625" marR="38100" marT="19050" marB="19050" anchor="ctr">
                    <a:solidFill>
                      <a:srgbClr val="FFFFFF"/>
                    </a:solidFill>
                  </a:tcPr>
                </a:tc>
                <a:tc>
                  <a:txBody>
                    <a:bodyPr/>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a:lstStyle/>
                    <a:p>
                      <a:pPr algn="l"/>
                      <a:r>
                        <a:rPr sz="1100" b="0">
                          <a:solidFill>
                            <a:srgbClr val="2E2E2E"/>
                          </a:solidFill>
                          <a:latin typeface="Calibri"/>
                        </a:rPr>
                        <a:t>8.0</a:t>
                      </a:r>
                      <a:endParaRPr sz="1100"/>
                    </a:p>
                  </a:txBody>
                  <a:tcPr marL="47625" marR="38100" marT="19050" marB="19050" anchor="ctr">
                    <a:solidFill>
                      <a:srgbClr val="FFFFFF"/>
                    </a:solidFill>
                  </a:tcPr>
                </a:tc>
                <a:tc>
                  <a:txBody>
                    <a:bodyPr/>
                    <a:lstStyle/>
                    <a:p>
                      <a:pPr algn="l"/>
                      <a:r>
                        <a:rPr sz="1100" b="0">
                          <a:solidFill>
                            <a:srgbClr val="2E2E2E"/>
                          </a:solidFill>
                          <a:latin typeface="Calibri"/>
                        </a:rPr>
                        <a:t>Competitive intensity.</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59461">
                <a:tc>
                  <a:txBody>
                    <a:bodyPr/>
                    <a:lstStyle/>
                    <a:p>
                      <a:pPr algn="l"/>
                      <a:r>
                        <a:rPr sz="1100" b="1">
                          <a:solidFill>
                            <a:srgbClr val="2E2E2E"/>
                          </a:solidFill>
                          <a:latin typeface="Calibri"/>
                        </a:rPr>
                        <a:t>Brand &amp; Value Perception</a:t>
                      </a:r>
                      <a:endParaRPr sz="1100"/>
                    </a:p>
                  </a:txBody>
                  <a:tcPr marL="47625" marR="38100" marT="19050" marB="19050" anchor="ctr">
                    <a:solidFill>
                      <a:srgbClr val="F5F8FA"/>
                    </a:solidFill>
                  </a:tcPr>
                </a:tc>
                <a:tc>
                  <a:txBody>
                    <a:bodyPr/>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l"/>
                      <a:r>
                        <a:rPr sz="1100" b="0">
                          <a:solidFill>
                            <a:srgbClr val="2E2E2E"/>
                          </a:solidFill>
                          <a:latin typeface="Calibri"/>
                        </a:rPr>
                        <a:t>6.5</a:t>
                      </a:r>
                      <a:endParaRPr sz="1100"/>
                    </a:p>
                  </a:txBody>
                  <a:tcPr marL="47625" marR="38100" marT="19050" marB="19050" anchor="ctr">
                    <a:solidFill>
                      <a:srgbClr val="F5F8FA"/>
                    </a:solidFill>
                  </a:tcPr>
                </a:tc>
                <a:tc>
                  <a:txBody>
                    <a:bodyPr/>
                    <a:lstStyle/>
                    <a:p>
                      <a:pPr algn="l"/>
                      <a:r>
                        <a:rPr sz="1100" b="0">
                          <a:solidFill>
                            <a:srgbClr val="2E2E2E"/>
                          </a:solidFill>
                          <a:latin typeface="Calibri"/>
                        </a:rPr>
                        <a:t>Brand strength and value perception.</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r h="259461">
                <a:tc>
                  <a:txBody>
                    <a:bodyPr/>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a:lstStyle/>
                    <a:p>
                      <a:pPr algn="l"/>
                      <a:r>
                        <a:rPr sz="1100" b="0">
                          <a:solidFill>
                            <a:srgbClr val="2E2E2E"/>
                          </a:solidFill>
                          <a:latin typeface="Calibri"/>
                        </a:rPr>
                        <a:t>Innovation &amp; Operating Efficiency</a:t>
                      </a:r>
                      <a:endParaRPr sz="1100"/>
                    </a:p>
                  </a:txBody>
                  <a:tcPr marL="47625" marR="38100" marT="19050" marB="19050" anchor="ctr">
                    <a:solidFill>
                      <a:srgbClr val="FFFFFF"/>
                    </a:solidFill>
                  </a:tcPr>
                </a:tc>
                <a:tc>
                  <a:txBody>
                    <a:bodyPr/>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a:lstStyle/>
                    <a:p>
                      <a:pPr algn="l"/>
                      <a:r>
                        <a:rPr sz="1100" b="0">
                          <a:solidFill>
                            <a:srgbClr val="2E2E2E"/>
                          </a:solidFill>
                          <a:latin typeface="Calibri"/>
                        </a:rPr>
                        <a:t>6.5</a:t>
                      </a:r>
                      <a:endParaRPr sz="1100"/>
                    </a:p>
                  </a:txBody>
                  <a:tcPr marL="47625" marR="38100" marT="19050" marB="19050" anchor="ctr">
                    <a:solidFill>
                      <a:srgbClr val="FFFFFF"/>
                    </a:solidFill>
                  </a:tcPr>
                </a:tc>
                <a:tc>
                  <a:txBody>
                    <a:bodyPr/>
                    <a:lstStyle/>
                    <a:p>
                      <a:pPr algn="l"/>
                      <a:r>
                        <a:rPr sz="1100" b="0">
                          <a:solidFill>
                            <a:srgbClr val="2E2E2E"/>
                          </a:solidFill>
                          <a:latin typeface="Calibri"/>
                        </a:rPr>
                        <a:t>Technology and process innovation.</a:t>
                      </a:r>
                      <a:endParaRPr sz="1100"/>
                    </a:p>
                  </a:txBody>
                  <a:tcPr marL="47625" marR="38100" marT="19050" marB="19050" anchor="ctr">
                    <a:solidFill>
                      <a:srgbClr val="FFFFFF"/>
                    </a:solidFill>
                  </a:tcPr>
                </a:tc>
                <a:extLst>
                  <a:ext uri="{0D108BD9-81ED-4DB2-BD59-A6C34878D82A}">
                    <a16:rowId xmlns:a16="http://schemas.microsoft.com/office/drawing/2014/main" val="10007"/>
                  </a:ext>
                </a:extLst>
              </a:tr>
              <a:tr h="259461">
                <a:tc>
                  <a:txBody>
                    <a:bodyPr/>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a:lstStyle/>
                    <a:p>
                      <a:pPr algn="l"/>
                      <a:r>
                        <a:rPr sz="1100" b="0">
                          <a:solidFill>
                            <a:srgbClr val="2E2E2E"/>
                          </a:solidFill>
                          <a:latin typeface="Calibri"/>
                        </a:rPr>
                        <a:t>Innovation &amp; Operating Efficiency</a:t>
                      </a:r>
                      <a:endParaRPr sz="1100"/>
                    </a:p>
                  </a:txBody>
                  <a:tcPr marL="47625" marR="38100" marT="19050" marB="19050" anchor="ctr">
                    <a:solidFill>
                      <a:srgbClr val="F5F8FA"/>
                    </a:solidFill>
                  </a:tcPr>
                </a:tc>
                <a:tc>
                  <a:txBody>
                    <a:bodyPr/>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l"/>
                      <a:r>
                        <a:rPr sz="1100" b="0">
                          <a:solidFill>
                            <a:srgbClr val="2E2E2E"/>
                          </a:solidFill>
                          <a:latin typeface="Calibri"/>
                        </a:rPr>
                        <a:t>4.5</a:t>
                      </a:r>
                      <a:endParaRPr sz="1100"/>
                    </a:p>
                  </a:txBody>
                  <a:tcPr marL="47625" marR="38100" marT="19050" marB="19050" anchor="ctr">
                    <a:solidFill>
                      <a:srgbClr val="F5F8FA"/>
                    </a:solidFill>
                  </a:tcPr>
                </a:tc>
                <a:tc>
                  <a:txBody>
                    <a:bodyPr/>
                    <a:lstStyle/>
                    <a:p>
                      <a:pPr algn="l"/>
                      <a:r>
                        <a:rPr sz="1100" b="0">
                          <a:solidFill>
                            <a:srgbClr val="2E2E2E"/>
                          </a:solidFill>
                          <a:latin typeface="Calibri"/>
                        </a:rPr>
                        <a:t>Aftermarket and service costs.</a:t>
                      </a:r>
                      <a:endParaRPr sz="1100"/>
                    </a:p>
                  </a:txBody>
                  <a:tcPr marL="47625" marR="38100" marT="19050" marB="19050" anchor="ctr">
                    <a:solidFill>
                      <a:srgbClr val="F5F8FA"/>
                    </a:solidFill>
                  </a:tcPr>
                </a:tc>
                <a:extLst>
                  <a:ext uri="{0D108BD9-81ED-4DB2-BD59-A6C34878D82A}">
                    <a16:rowId xmlns:a16="http://schemas.microsoft.com/office/drawing/2014/main" val="10008"/>
                  </a:ext>
                </a:extLst>
              </a:tr>
              <a:tr h="259461">
                <a:tc>
                  <a:txBody>
                    <a:bodyPr/>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a:lstStyle/>
                    <a:p>
                      <a:pPr algn="l"/>
                      <a:r>
                        <a:rPr sz="1100" b="0">
                          <a:solidFill>
                            <a:srgbClr val="2E2E2E"/>
                          </a:solidFill>
                          <a:latin typeface="Calibri"/>
                        </a:rPr>
                        <a:t>Regulatory, Currency &amp; Macro</a:t>
                      </a:r>
                      <a:endParaRPr sz="1100"/>
                    </a:p>
                  </a:txBody>
                  <a:tcPr marL="47625" marR="38100" marT="19050" marB="19050" anchor="ctr">
                    <a:solidFill>
                      <a:srgbClr val="FFFFFF"/>
                    </a:solidFill>
                  </a:tcPr>
                </a:tc>
                <a:tc>
                  <a:txBody>
                    <a:bodyPr/>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a:lstStyle/>
                    <a:p>
                      <a:pPr algn="l"/>
                      <a:r>
                        <a:rPr sz="1100" b="0">
                          <a:solidFill>
                            <a:srgbClr val="2E2E2E"/>
                          </a:solidFill>
                          <a:latin typeface="Calibri"/>
                        </a:rPr>
                        <a:t>6.0</a:t>
                      </a:r>
                      <a:endParaRPr sz="1100"/>
                    </a:p>
                  </a:txBody>
                  <a:tcPr marL="47625" marR="38100" marT="19050" marB="19050" anchor="ctr">
                    <a:solidFill>
                      <a:srgbClr val="FFFFFF"/>
                    </a:solidFill>
                  </a:tcPr>
                </a:tc>
                <a:tc>
                  <a:txBody>
                    <a:bodyPr/>
                    <a:lstStyle/>
                    <a:p>
                      <a:pPr algn="l"/>
                      <a:r>
                        <a:rPr sz="1100" b="0">
                          <a:solidFill>
                            <a:srgbClr val="2E2E2E"/>
                          </a:solidFill>
                          <a:latin typeface="Calibri"/>
                        </a:rPr>
                        <a:t>Regulatory and compliance costs.</a:t>
                      </a:r>
                      <a:endParaRPr sz="1100"/>
                    </a:p>
                  </a:txBody>
                  <a:tcPr marL="47625" marR="38100" marT="19050" marB="19050" anchor="ctr">
                    <a:solidFill>
                      <a:srgbClr val="FFFFFF"/>
                    </a:solidFill>
                  </a:tcPr>
                </a:tc>
                <a:extLst>
                  <a:ext uri="{0D108BD9-81ED-4DB2-BD59-A6C34878D82A}">
                    <a16:rowId xmlns:a16="http://schemas.microsoft.com/office/drawing/2014/main" val="10009"/>
                  </a:ext>
                </a:extLst>
              </a:tr>
              <a:tr h="259461">
                <a:tc>
                  <a:txBody>
                    <a:bodyPr/>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a:lstStyle/>
                    <a:p>
                      <a:pPr algn="l"/>
                      <a:r>
                        <a:rPr sz="1100" b="0">
                          <a:solidFill>
                            <a:srgbClr val="2E2E2E"/>
                          </a:solidFill>
                          <a:latin typeface="Calibri"/>
                        </a:rPr>
                        <a:t>Regulatory, Currency &amp; Macro</a:t>
                      </a:r>
                      <a:endParaRPr sz="1100"/>
                    </a:p>
                  </a:txBody>
                  <a:tcPr marL="47625" marR="38100" marT="19050" marB="19050" anchor="ctr">
                    <a:solidFill>
                      <a:srgbClr val="F5F8FA"/>
                    </a:solidFill>
                  </a:tcPr>
                </a:tc>
                <a:tc>
                  <a:txBody>
                    <a:bodyPr/>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l"/>
                      <a:r>
                        <a:rPr sz="1100" b="0">
                          <a:solidFill>
                            <a:srgbClr val="2E2E2E"/>
                          </a:solidFill>
                          <a:latin typeface="Calibri"/>
                        </a:rPr>
                        <a:t>5.5</a:t>
                      </a:r>
                      <a:endParaRPr sz="1100"/>
                    </a:p>
                  </a:txBody>
                  <a:tcPr marL="47625" marR="38100" marT="19050" marB="19050" anchor="ctr">
                    <a:solidFill>
                      <a:srgbClr val="F5F8FA"/>
                    </a:solidFill>
                  </a:tcPr>
                </a:tc>
                <a:tc>
                  <a:txBody>
                    <a:bodyPr/>
                    <a:lstStyle/>
                    <a:p>
                      <a:pPr algn="l"/>
                      <a:r>
                        <a:rPr sz="1100" b="0">
                          <a:solidFill>
                            <a:srgbClr val="2E2E2E"/>
                          </a:solidFill>
                          <a:latin typeface="Calibri"/>
                        </a:rPr>
                        <a:t>Currency and trade dynamics.</a:t>
                      </a:r>
                      <a:endParaRPr sz="1100"/>
                    </a:p>
                  </a:txBody>
                  <a:tcPr marL="47625" marR="38100" marT="19050" marB="19050" anchor="ctr">
                    <a:solidFill>
                      <a:srgbClr val="F5F8FA"/>
                    </a:solidFill>
                  </a:tcPr>
                </a:tc>
                <a:extLst>
                  <a:ext uri="{0D108BD9-81ED-4DB2-BD59-A6C34878D82A}">
                    <a16:rowId xmlns:a16="http://schemas.microsoft.com/office/drawing/2014/main" val="10010"/>
                  </a:ext>
                </a:extLst>
              </a:tr>
            </a:tbl>
          </a:graphicData>
        </a:graphic>
      </p:graphicFrame>
      <p:sp>
        <p:nvSpPr>
          <p:cNvPr id="13" name="TextBox 12"/>
          <p:cNvSpPr txBox="1"/>
          <p:nvPr/>
        </p:nvSpPr>
        <p:spPr>
          <a:xfrm>
            <a:off x="219075" y="421005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581525"/>
            <a:ext cx="11906250" cy="1962150"/>
          </a:xfrm>
          <a:prstGeom prst="roundRect">
            <a:avLst>
              <a:gd name="adj" fmla="val 388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4667250"/>
            <a:ext cx="11639550" cy="209550"/>
          </a:xfrm>
          <a:prstGeom prst="rect">
            <a:avLst/>
          </a:prstGeom>
          <a:noFill/>
        </p:spPr>
        <p:txBody>
          <a:bodyPr wrap="square" lIns="0" tIns="9525" rIns="19050" bIns="9525">
            <a:spAutoFit/>
          </a:bodyPr>
          <a:lstStyle/>
          <a:p>
            <a:pPr algn="l"/>
            <a:r>
              <a:rPr sz="1300" b="1">
                <a:solidFill>
                  <a:srgbClr val="0B2E4A"/>
                </a:solidFill>
                <a:latin typeface="Calibri"/>
              </a:rPr>
              <a:t>What the Factors Imply</a:t>
            </a:r>
          </a:p>
        </p:txBody>
      </p:sp>
      <p:sp>
        <p:nvSpPr>
          <p:cNvPr id="16" name="Rectangle 15"/>
          <p:cNvSpPr/>
          <p:nvPr/>
        </p:nvSpPr>
        <p:spPr>
          <a:xfrm>
            <a:off x="276225" y="49053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4991100"/>
            <a:ext cx="11639550" cy="147637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Input Cost and Demand &amp; Market Conditions carry the heaviest weight on selling prices (9.0 and 8.5 / 10).</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8 of 10 factors exert upward pressure on price; the rest pull prices down chiefly Technology &amp; Innovation and the Competitive Landscape.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Cost-side factors set the price floor; demand, brand and competitive forces determine how much of that cost can be passed through.</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Aftermarket &amp; Service Costs exerts the least pressure a second-order effect to monitor rather than actively manage.</a:t>
            </a: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Prenatal Vitamin Supplements Market Regional Price Assessment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Regional price assessment across the value chain, from manufacturer to retail, and average price by geography, 2026–2036</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Regional price assessment across the value chain (US$/Units) and price trajectory to 2036.</a:t>
            </a:r>
          </a:p>
        </p:txBody>
      </p:sp>
      <p:sp>
        <p:nvSpPr>
          <p:cNvPr id="11" name="Rounded Rectangle 10"/>
          <p:cNvSpPr/>
          <p:nvPr/>
        </p:nvSpPr>
        <p:spPr>
          <a:xfrm>
            <a:off x="142875" y="1317574"/>
            <a:ext cx="590550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374724"/>
            <a:ext cx="5715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Regional Price by Value-Chain Level (US$/Units)</a:t>
            </a:r>
          </a:p>
        </p:txBody>
      </p:sp>
      <p:graphicFrame>
        <p:nvGraphicFramePr>
          <p:cNvPr id="13" name="Table 12"/>
          <p:cNvGraphicFramePr>
            <a:graphicFrameLocks noGrp="1"/>
          </p:cNvGraphicFramePr>
          <p:nvPr/>
        </p:nvGraphicFramePr>
        <p:xfrm>
          <a:off x="152400" y="1574749"/>
          <a:ext cx="5886451" cy="2271330"/>
        </p:xfrm>
        <a:graphic>
          <a:graphicData uri="http://schemas.openxmlformats.org/drawingml/2006/table">
            <a:tbl>
              <a:tblPr>
                <a:tableStyleId>{5C22544A-7EE6-4342-B048-85BDC9FD1C3A}</a:tableStyleId>
              </a:tblPr>
              <a:tblGrid>
                <a:gridCol w="875075">
                  <a:extLst>
                    <a:ext uri="{9D8B030D-6E8A-4147-A177-3AD203B41FA5}">
                      <a16:colId xmlns:a16="http://schemas.microsoft.com/office/drawing/2014/main" val="20000"/>
                    </a:ext>
                  </a:extLst>
                </a:gridCol>
                <a:gridCol w="1252844">
                  <a:extLst>
                    <a:ext uri="{9D8B030D-6E8A-4147-A177-3AD203B41FA5}">
                      <a16:colId xmlns:a16="http://schemas.microsoft.com/office/drawing/2014/main" val="20001"/>
                    </a:ext>
                  </a:extLst>
                </a:gridCol>
                <a:gridCol w="1252844">
                  <a:extLst>
                    <a:ext uri="{9D8B030D-6E8A-4147-A177-3AD203B41FA5}">
                      <a16:colId xmlns:a16="http://schemas.microsoft.com/office/drawing/2014/main" val="20002"/>
                    </a:ext>
                  </a:extLst>
                </a:gridCol>
                <a:gridCol w="1252844">
                  <a:extLst>
                    <a:ext uri="{9D8B030D-6E8A-4147-A177-3AD203B41FA5}">
                      <a16:colId xmlns:a16="http://schemas.microsoft.com/office/drawing/2014/main" val="20003"/>
                    </a:ext>
                  </a:extLst>
                </a:gridCol>
                <a:gridCol w="1252844">
                  <a:extLst>
                    <a:ext uri="{9D8B030D-6E8A-4147-A177-3AD203B41FA5}">
                      <a16:colId xmlns:a16="http://schemas.microsoft.com/office/drawing/2014/main" val="20004"/>
                    </a:ext>
                  </a:extLst>
                </a:gridCol>
              </a:tblGrid>
              <a:tr h="215265">
                <a:tc>
                  <a:txBody>
                    <a:bodyPr/>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a:lstStyle/>
                    <a:p>
                      <a:pPr algn="l"/>
                      <a:r>
                        <a:rPr sz="1100" b="1">
                          <a:solidFill>
                            <a:srgbClr val="0B2E4A"/>
                          </a:solidFill>
                          <a:latin typeface="Calibri"/>
                        </a:rPr>
                        <a:t>Manufacturer</a:t>
                      </a:r>
                      <a:endParaRPr sz="1100"/>
                    </a:p>
                  </a:txBody>
                  <a:tcPr marL="47625" marR="38100" marT="19050" marB="19050" anchor="ctr">
                    <a:solidFill>
                      <a:srgbClr val="E0E8EF"/>
                    </a:solidFill>
                  </a:tcPr>
                </a:tc>
                <a:tc>
                  <a:txBody>
                    <a:bodyPr/>
                    <a:lstStyle/>
                    <a:p>
                      <a:pPr algn="l"/>
                      <a:r>
                        <a:rPr sz="1100" b="1">
                          <a:solidFill>
                            <a:srgbClr val="0B2E4A"/>
                          </a:solidFill>
                          <a:latin typeface="Calibri"/>
                        </a:rPr>
                        <a:t>Distribution</a:t>
                      </a:r>
                      <a:endParaRPr sz="1100"/>
                    </a:p>
                  </a:txBody>
                  <a:tcPr marL="47625" marR="38100" marT="19050" marB="19050" anchor="ctr">
                    <a:solidFill>
                      <a:srgbClr val="E0E8EF"/>
                    </a:solidFill>
                  </a:tcPr>
                </a:tc>
                <a:tc>
                  <a:txBody>
                    <a:bodyPr/>
                    <a:lstStyle/>
                    <a:p>
                      <a:pPr algn="l"/>
                      <a:r>
                        <a:rPr sz="1100" b="1">
                          <a:solidFill>
                            <a:srgbClr val="0B2E4A"/>
                          </a:solidFill>
                          <a:latin typeface="Calibri"/>
                        </a:rPr>
                        <a:t>Retail</a:t>
                      </a:r>
                      <a:endParaRPr sz="1100"/>
                    </a:p>
                  </a:txBody>
                  <a:tcPr marL="47625" marR="38100" marT="19050" marB="19050" anchor="ctr">
                    <a:solidFill>
                      <a:srgbClr val="E0E8EF"/>
                    </a:solidFill>
                  </a:tcPr>
                </a:tc>
                <a:tc>
                  <a:txBody>
                    <a:bodyPr/>
                    <a:lstStyle/>
                    <a:p>
                      <a:pPr algn="l"/>
                      <a:r>
                        <a:rPr sz="1100" b="1">
                          <a:solidFill>
                            <a:srgbClr val="0B2E4A"/>
                          </a:solidFill>
                          <a:latin typeface="Calibri"/>
                        </a:rPr>
                        <a:t>Total Margin (%)</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056065">
                <a:tc>
                  <a:txBody>
                    <a:bodyPr/>
                    <a:lstStyle/>
                    <a:p>
                      <a:pPr algn="l"/>
                      <a:r>
                        <a:rPr sz="1100" b="1">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0.12</a:t>
                      </a:r>
                      <a:endParaRPr sz="1100"/>
                    </a:p>
                  </a:txBody>
                  <a:tcPr marL="47625" marR="38100" marT="19050" marB="19050" anchor="ctr">
                    <a:solidFill>
                      <a:srgbClr val="FFFFFF"/>
                    </a:solidFill>
                  </a:tcPr>
                </a:tc>
                <a:tc>
                  <a:txBody>
                    <a:bodyPr/>
                    <a:lstStyle/>
                    <a:p>
                      <a:pPr algn="l"/>
                      <a:r>
                        <a:rPr sz="1100" b="0">
                          <a:solidFill>
                            <a:srgbClr val="2E2E2E"/>
                          </a:solidFill>
                          <a:latin typeface="Calibri"/>
                        </a:rPr>
                        <a:t>0.17</a:t>
                      </a:r>
                      <a:endParaRPr sz="1100"/>
                    </a:p>
                  </a:txBody>
                  <a:tcPr marL="47625" marR="38100" marT="19050" marB="19050" anchor="ctr">
                    <a:solidFill>
                      <a:srgbClr val="FFFFFF"/>
                    </a:solidFill>
                  </a:tcPr>
                </a:tc>
                <a:tc>
                  <a:txBody>
                    <a:bodyPr/>
                    <a:lstStyle/>
                    <a:p>
                      <a:pPr algn="l"/>
                      <a:r>
                        <a:rPr sz="1100" b="0">
                          <a:solidFill>
                            <a:srgbClr val="2E2E2E"/>
                          </a:solidFill>
                          <a:latin typeface="Calibri"/>
                        </a:rPr>
                        <a:t>0.23</a:t>
                      </a:r>
                      <a:endParaRPr sz="1100"/>
                    </a:p>
                  </a:txBody>
                  <a:tcPr marL="47625" marR="38100" marT="19050" marB="19050" anchor="ctr">
                    <a:solidFill>
                      <a:srgbClr val="FFFFFF"/>
                    </a:solidFill>
                  </a:tcPr>
                </a:tc>
                <a:tc>
                  <a:txBody>
                    <a:bodyPr/>
                    <a:lstStyle/>
                    <a:p>
                      <a:pPr algn="l"/>
                      <a:r>
                        <a:rPr sz="1100" b="0">
                          <a:solidFill>
                            <a:srgbClr val="2E2E2E"/>
                          </a:solidFill>
                          <a:latin typeface="Calibri"/>
                        </a:rPr>
                        <a:t>48%</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bl>
          </a:graphicData>
        </a:graphic>
      </p:graphicFrame>
      <p:sp>
        <p:nvSpPr>
          <p:cNvPr id="14" name="TextBox 13"/>
          <p:cNvSpPr txBox="1"/>
          <p:nvPr/>
        </p:nvSpPr>
        <p:spPr>
          <a:xfrm>
            <a:off x="219075" y="3855604"/>
            <a:ext cx="575310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6200775" y="1317574"/>
            <a:ext cx="584835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96025" y="1374724"/>
            <a:ext cx="56578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Price by Geography (US$/Units)</a:t>
            </a:r>
          </a:p>
        </p:txBody>
      </p:sp>
      <p:graphicFrame>
        <p:nvGraphicFramePr>
          <p:cNvPr id="17" name="Table 16"/>
          <p:cNvGraphicFramePr>
            <a:graphicFrameLocks noGrp="1"/>
          </p:cNvGraphicFramePr>
          <p:nvPr/>
        </p:nvGraphicFramePr>
        <p:xfrm>
          <a:off x="6210300" y="1574749"/>
          <a:ext cx="5829299" cy="2271330"/>
        </p:xfrm>
        <a:graphic>
          <a:graphicData uri="http://schemas.openxmlformats.org/drawingml/2006/table">
            <a:tbl>
              <a:tblPr>
                <a:tableStyleId>{5C22544A-7EE6-4342-B048-85BDC9FD1C3A}</a:tableStyleId>
              </a:tblPr>
              <a:tblGrid>
                <a:gridCol w="1688535">
                  <a:extLst>
                    <a:ext uri="{9D8B030D-6E8A-4147-A177-3AD203B41FA5}">
                      <a16:colId xmlns:a16="http://schemas.microsoft.com/office/drawing/2014/main" val="20000"/>
                    </a:ext>
                  </a:extLst>
                </a:gridCol>
                <a:gridCol w="1035191">
                  <a:extLst>
                    <a:ext uri="{9D8B030D-6E8A-4147-A177-3AD203B41FA5}">
                      <a16:colId xmlns:a16="http://schemas.microsoft.com/office/drawing/2014/main" val="20001"/>
                    </a:ext>
                  </a:extLst>
                </a:gridCol>
                <a:gridCol w="1035191">
                  <a:extLst>
                    <a:ext uri="{9D8B030D-6E8A-4147-A177-3AD203B41FA5}">
                      <a16:colId xmlns:a16="http://schemas.microsoft.com/office/drawing/2014/main" val="20002"/>
                    </a:ext>
                  </a:extLst>
                </a:gridCol>
                <a:gridCol w="1035191">
                  <a:extLst>
                    <a:ext uri="{9D8B030D-6E8A-4147-A177-3AD203B41FA5}">
                      <a16:colId xmlns:a16="http://schemas.microsoft.com/office/drawing/2014/main" val="20003"/>
                    </a:ext>
                  </a:extLst>
                </a:gridCol>
                <a:gridCol w="1035191">
                  <a:extLst>
                    <a:ext uri="{9D8B030D-6E8A-4147-A177-3AD203B41FA5}">
                      <a16:colId xmlns:a16="http://schemas.microsoft.com/office/drawing/2014/main" val="20004"/>
                    </a:ext>
                  </a:extLst>
                </a:gridCol>
              </a:tblGrid>
              <a:tr h="215265">
                <a:tc>
                  <a:txBody>
                    <a:bodyPr/>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2029F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056065">
                <a:tc>
                  <a:txBody>
                    <a:bodyPr/>
                    <a:lstStyle/>
                    <a:p>
                      <a:pPr algn="l"/>
                      <a:r>
                        <a:rPr sz="1100" b="1">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0.23</a:t>
                      </a:r>
                      <a:endParaRPr sz="1100"/>
                    </a:p>
                  </a:txBody>
                  <a:tcPr marL="47625" marR="38100" marT="19050" marB="19050" anchor="ctr">
                    <a:solidFill>
                      <a:srgbClr val="FFFFFF"/>
                    </a:solidFill>
                  </a:tcPr>
                </a:tc>
                <a:tc>
                  <a:txBody>
                    <a:bodyPr/>
                    <a:lstStyle/>
                    <a:p>
                      <a:pPr algn="l"/>
                      <a:r>
                        <a:rPr sz="1100" b="0">
                          <a:solidFill>
                            <a:srgbClr val="2E2E2E"/>
                          </a:solidFill>
                          <a:latin typeface="Calibri"/>
                        </a:rPr>
                        <a:t>0.24</a:t>
                      </a:r>
                      <a:endParaRPr sz="1100"/>
                    </a:p>
                  </a:txBody>
                  <a:tcPr marL="47625" marR="38100" marT="19050" marB="19050" anchor="ctr">
                    <a:solidFill>
                      <a:srgbClr val="FFFFFF"/>
                    </a:solidFill>
                  </a:tcPr>
                </a:tc>
                <a:tc>
                  <a:txBody>
                    <a:bodyPr/>
                    <a:lstStyle/>
                    <a:p>
                      <a:pPr algn="l"/>
                      <a:r>
                        <a:rPr sz="1100" b="0">
                          <a:solidFill>
                            <a:srgbClr val="2E2E2E"/>
                          </a:solidFill>
                          <a:latin typeface="Calibri"/>
                        </a:rPr>
                        <a:t>0.24</a:t>
                      </a:r>
                      <a:endParaRPr sz="1100"/>
                    </a:p>
                  </a:txBody>
                  <a:tcPr marL="47625" marR="38100" marT="19050" marB="19050" anchor="ctr">
                    <a:solidFill>
                      <a:srgbClr val="FFFFFF"/>
                    </a:solidFill>
                  </a:tcPr>
                </a:tc>
                <a:tc>
                  <a:txBody>
                    <a:bodyPr/>
                    <a:lstStyle/>
                    <a:p>
                      <a:pPr algn="l"/>
                      <a:r>
                        <a:rPr sz="1100" b="0">
                          <a:solidFill>
                            <a:srgbClr val="2E2E2E"/>
                          </a:solidFill>
                          <a:latin typeface="Calibri"/>
                        </a:rPr>
                        <a:t>0.25</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bl>
          </a:graphicData>
        </a:graphic>
      </p:graphicFrame>
      <p:sp>
        <p:nvSpPr>
          <p:cNvPr id="18" name="TextBox 17"/>
          <p:cNvSpPr txBox="1"/>
          <p:nvPr/>
        </p:nvSpPr>
        <p:spPr>
          <a:xfrm>
            <a:off x="6276975" y="3855604"/>
            <a:ext cx="56959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142875" y="4201658"/>
            <a:ext cx="119062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6225" y="4287383"/>
            <a:ext cx="11639550" cy="209550"/>
          </a:xfrm>
          <a:prstGeom prst="rect">
            <a:avLst/>
          </a:prstGeom>
          <a:noFill/>
        </p:spPr>
        <p:txBody>
          <a:bodyPr wrap="square" lIns="0" tIns="9525" rIns="19050" bIns="9525">
            <a:spAutoFit/>
          </a:bodyPr>
          <a:lstStyle/>
          <a:p>
            <a:pPr algn="l"/>
            <a:r>
              <a:rPr sz="1300" b="1">
                <a:solidFill>
                  <a:srgbClr val="0B2E4A"/>
                </a:solidFill>
                <a:latin typeface="Calibri"/>
              </a:rPr>
              <a:t>What This Section Covers</a:t>
            </a:r>
          </a:p>
        </p:txBody>
      </p:sp>
      <p:sp>
        <p:nvSpPr>
          <p:cNvPr id="21" name="Rectangle 20"/>
          <p:cNvSpPr/>
          <p:nvPr/>
        </p:nvSpPr>
        <p:spPr>
          <a:xfrm>
            <a:off x="276225" y="4525508"/>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6225" y="4611233"/>
            <a:ext cx="11639550" cy="1868952"/>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3" name="TextBox 2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Prenatal Vitamin Supplements Market USA Pricing Benchmarking</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Benchmarking of price range by country and sub-segment against the weighted average price of each country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Development-stage price assumptions and manufacturer benchmarking price range by product format type and region (US$/Units).</a:t>
            </a:r>
          </a:p>
        </p:txBody>
      </p:sp>
      <p:sp>
        <p:nvSpPr>
          <p:cNvPr id="11" name="Rounded Rectangle 10"/>
          <p:cNvSpPr/>
          <p:nvPr/>
        </p:nvSpPr>
        <p:spPr>
          <a:xfrm>
            <a:off x="142875" y="1314450"/>
            <a:ext cx="11906250" cy="2228850"/>
          </a:xfrm>
          <a:prstGeom prst="roundRect">
            <a:avLst>
              <a:gd name="adj" fmla="val 34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371600"/>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Price Benchmarking by Region &amp; Product Format (US$/Units)</a:t>
            </a:r>
          </a:p>
        </p:txBody>
      </p:sp>
      <p:graphicFrame>
        <p:nvGraphicFramePr>
          <p:cNvPr id="13" name="Table 12"/>
          <p:cNvGraphicFramePr>
            <a:graphicFrameLocks noGrp="1"/>
          </p:cNvGraphicFramePr>
          <p:nvPr/>
        </p:nvGraphicFramePr>
        <p:xfrm>
          <a:off x="152400" y="1571625"/>
          <a:ext cx="11887200" cy="1762125"/>
        </p:xfrm>
        <a:graphic>
          <a:graphicData uri="http://schemas.openxmlformats.org/drawingml/2006/table">
            <a:tbl>
              <a:tblPr>
                <a:tableStyleId>{5C22544A-7EE6-4342-B048-85BDC9FD1C3A}</a:tableStyleId>
              </a:tblPr>
              <a:tblGrid>
                <a:gridCol w="761416">
                  <a:extLst>
                    <a:ext uri="{9D8B030D-6E8A-4147-A177-3AD203B41FA5}">
                      <a16:colId xmlns:a16="http://schemas.microsoft.com/office/drawing/2014/main" val="20000"/>
                    </a:ext>
                  </a:extLst>
                </a:gridCol>
                <a:gridCol w="1390723">
                  <a:extLst>
                    <a:ext uri="{9D8B030D-6E8A-4147-A177-3AD203B41FA5}">
                      <a16:colId xmlns:a16="http://schemas.microsoft.com/office/drawing/2014/main" val="20001"/>
                    </a:ext>
                  </a:extLst>
                </a:gridCol>
                <a:gridCol w="1390723">
                  <a:extLst>
                    <a:ext uri="{9D8B030D-6E8A-4147-A177-3AD203B41FA5}">
                      <a16:colId xmlns:a16="http://schemas.microsoft.com/office/drawing/2014/main" val="20002"/>
                    </a:ext>
                  </a:extLst>
                </a:gridCol>
                <a:gridCol w="1390723">
                  <a:extLst>
                    <a:ext uri="{9D8B030D-6E8A-4147-A177-3AD203B41FA5}">
                      <a16:colId xmlns:a16="http://schemas.microsoft.com/office/drawing/2014/main" val="20003"/>
                    </a:ext>
                  </a:extLst>
                </a:gridCol>
                <a:gridCol w="1390723">
                  <a:extLst>
                    <a:ext uri="{9D8B030D-6E8A-4147-A177-3AD203B41FA5}">
                      <a16:colId xmlns:a16="http://schemas.microsoft.com/office/drawing/2014/main" val="20004"/>
                    </a:ext>
                  </a:extLst>
                </a:gridCol>
                <a:gridCol w="1390723">
                  <a:extLst>
                    <a:ext uri="{9D8B030D-6E8A-4147-A177-3AD203B41FA5}">
                      <a16:colId xmlns:a16="http://schemas.microsoft.com/office/drawing/2014/main" val="20005"/>
                    </a:ext>
                  </a:extLst>
                </a:gridCol>
                <a:gridCol w="1390723">
                  <a:extLst>
                    <a:ext uri="{9D8B030D-6E8A-4147-A177-3AD203B41FA5}">
                      <a16:colId xmlns:a16="http://schemas.microsoft.com/office/drawing/2014/main" val="20006"/>
                    </a:ext>
                  </a:extLst>
                </a:gridCol>
                <a:gridCol w="1390723">
                  <a:extLst>
                    <a:ext uri="{9D8B030D-6E8A-4147-A177-3AD203B41FA5}">
                      <a16:colId xmlns:a16="http://schemas.microsoft.com/office/drawing/2014/main" val="20007"/>
                    </a:ext>
                  </a:extLst>
                </a:gridCol>
                <a:gridCol w="1390723">
                  <a:extLst>
                    <a:ext uri="{9D8B030D-6E8A-4147-A177-3AD203B41FA5}">
                      <a16:colId xmlns:a16="http://schemas.microsoft.com/office/drawing/2014/main" val="20008"/>
                    </a:ext>
                  </a:extLst>
                </a:gridCol>
              </a:tblGrid>
              <a:tr h="215265">
                <a:tc>
                  <a:txBody>
                    <a:bodyPr/>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a:lstStyle/>
                    <a:p>
                      <a:pPr algn="l"/>
                      <a:r>
                        <a:rPr sz="1100" b="1">
                          <a:solidFill>
                            <a:srgbClr val="0B2E4A"/>
                          </a:solidFill>
                          <a:latin typeface="Calibri"/>
                        </a:rPr>
                        <a:t>Capsule</a:t>
                      </a:r>
                      <a:endParaRPr sz="1100"/>
                    </a:p>
                  </a:txBody>
                  <a:tcPr marL="47625" marR="38100" marT="19050" marB="19050" anchor="ctr">
                    <a:solidFill>
                      <a:srgbClr val="E0E8EF"/>
                    </a:solidFill>
                  </a:tcPr>
                </a:tc>
                <a:tc>
                  <a:txBody>
                    <a:bodyPr/>
                    <a:lstStyle/>
                    <a:p>
                      <a:pPr algn="l"/>
                      <a:r>
                        <a:rPr sz="1100" b="1">
                          <a:solidFill>
                            <a:srgbClr val="0B2E4A"/>
                          </a:solidFill>
                          <a:latin typeface="Calibri"/>
                        </a:rPr>
                        <a:t>Tablet</a:t>
                      </a:r>
                      <a:endParaRPr sz="1100"/>
                    </a:p>
                  </a:txBody>
                  <a:tcPr marL="47625" marR="38100" marT="19050" marB="19050" anchor="ctr">
                    <a:solidFill>
                      <a:srgbClr val="E0E8EF"/>
                    </a:solidFill>
                  </a:tcPr>
                </a:tc>
                <a:tc>
                  <a:txBody>
                    <a:bodyPr/>
                    <a:lstStyle/>
                    <a:p>
                      <a:pPr algn="l"/>
                      <a:r>
                        <a:rPr sz="1100" b="1">
                          <a:solidFill>
                            <a:srgbClr val="0B2E4A"/>
                          </a:solidFill>
                          <a:latin typeface="Calibri"/>
                        </a:rPr>
                        <a:t>Softgels</a:t>
                      </a:r>
                      <a:endParaRPr sz="1100"/>
                    </a:p>
                  </a:txBody>
                  <a:tcPr marL="47625" marR="38100" marT="19050" marB="19050" anchor="ctr">
                    <a:solidFill>
                      <a:srgbClr val="E0E8EF"/>
                    </a:solidFill>
                  </a:tcPr>
                </a:tc>
                <a:tc>
                  <a:txBody>
                    <a:bodyPr/>
                    <a:lstStyle/>
                    <a:p>
                      <a:pPr algn="l"/>
                      <a:r>
                        <a:rPr sz="1100" b="1">
                          <a:solidFill>
                            <a:srgbClr val="0B2E4A"/>
                          </a:solidFill>
                          <a:latin typeface="Calibri"/>
                        </a:rPr>
                        <a:t>Gummies</a:t>
                      </a:r>
                      <a:endParaRPr sz="1100"/>
                    </a:p>
                  </a:txBody>
                  <a:tcPr marL="47625" marR="38100" marT="19050" marB="19050" anchor="ctr">
                    <a:solidFill>
                      <a:srgbClr val="E0E8EF"/>
                    </a:solidFill>
                  </a:tcPr>
                </a:tc>
                <a:tc>
                  <a:txBody>
                    <a:bodyPr/>
                    <a:lstStyle/>
                    <a:p>
                      <a:pPr algn="l"/>
                      <a:r>
                        <a:rPr sz="1100" b="1">
                          <a:solidFill>
                            <a:srgbClr val="0B2E4A"/>
                          </a:solidFill>
                          <a:latin typeface="Calibri"/>
                        </a:rPr>
                        <a:t>Powder</a:t>
                      </a:r>
                      <a:endParaRPr sz="1100"/>
                    </a:p>
                  </a:txBody>
                  <a:tcPr marL="47625" marR="38100" marT="19050" marB="19050" anchor="ctr">
                    <a:solidFill>
                      <a:srgbClr val="E0E8EF"/>
                    </a:solidFill>
                  </a:tcPr>
                </a:tc>
                <a:tc>
                  <a:txBody>
                    <a:bodyPr/>
                    <a:lstStyle/>
                    <a:p>
                      <a:pPr algn="l"/>
                      <a:r>
                        <a:rPr sz="1100" b="1">
                          <a:solidFill>
                            <a:srgbClr val="0B2E4A"/>
                          </a:solidFill>
                          <a:latin typeface="Calibri"/>
                        </a:rPr>
                        <a:t>Bar</a:t>
                      </a:r>
                      <a:endParaRPr sz="1100"/>
                    </a:p>
                  </a:txBody>
                  <a:tcPr marL="47625" marR="38100" marT="19050" marB="19050" anchor="ctr">
                    <a:solidFill>
                      <a:srgbClr val="E0E8EF"/>
                    </a:solidFill>
                  </a:tcPr>
                </a:tc>
                <a:tc>
                  <a:txBody>
                    <a:bodyPr/>
                    <a:lstStyle/>
                    <a:p>
                      <a:pPr algn="l"/>
                      <a:r>
                        <a:rPr sz="1100" b="1">
                          <a:solidFill>
                            <a:srgbClr val="0B2E4A"/>
                          </a:solidFill>
                          <a:latin typeface="Calibri"/>
                        </a:rPr>
                        <a:t>Liquid</a:t>
                      </a:r>
                      <a:endParaRPr sz="1100"/>
                    </a:p>
                  </a:txBody>
                  <a:tcPr marL="47625" marR="38100" marT="19050" marB="19050" anchor="ctr">
                    <a:solidFill>
                      <a:srgbClr val="E0E8EF"/>
                    </a:solidFill>
                  </a:tcPr>
                </a:tc>
                <a:tc>
                  <a:txBody>
                    <a:bodyPr/>
                    <a:lstStyle/>
                    <a:p>
                      <a:pPr algn="l"/>
                      <a:r>
                        <a:rPr sz="1100" b="1">
                          <a:solidFill>
                            <a:srgbClr val="0B2E4A"/>
                          </a:solidFill>
                          <a:latin typeface="Calibri"/>
                        </a:rPr>
                        <a:t>Weighted Avg</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1546860">
                <a:tc>
                  <a:txBody>
                    <a:bodyPr/>
                    <a:lstStyle/>
                    <a:p>
                      <a:pPr algn="l"/>
                      <a:r>
                        <a:rPr sz="1100" b="1">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0.21–0.22</a:t>
                      </a:r>
                      <a:endParaRPr sz="1100"/>
                    </a:p>
                  </a:txBody>
                  <a:tcPr marL="47625" marR="38100" marT="19050" marB="19050" anchor="ctr">
                    <a:solidFill>
                      <a:srgbClr val="FFFFFF"/>
                    </a:solidFill>
                  </a:tcPr>
                </a:tc>
                <a:tc>
                  <a:txBody>
                    <a:bodyPr/>
                    <a:lstStyle/>
                    <a:p>
                      <a:pPr algn="l"/>
                      <a:r>
                        <a:rPr sz="1100" b="0">
                          <a:solidFill>
                            <a:srgbClr val="2E2E2E"/>
                          </a:solidFill>
                          <a:latin typeface="Calibri"/>
                        </a:rPr>
                        <a:t>0.26–0.27</a:t>
                      </a:r>
                      <a:endParaRPr sz="1100"/>
                    </a:p>
                  </a:txBody>
                  <a:tcPr marL="47625" marR="38100" marT="19050" marB="19050" anchor="ctr">
                    <a:solidFill>
                      <a:srgbClr val="FFFFFF"/>
                    </a:solidFill>
                  </a:tcPr>
                </a:tc>
                <a:tc>
                  <a:txBody>
                    <a:bodyPr/>
                    <a:lstStyle/>
                    <a:p>
                      <a:pPr algn="l"/>
                      <a:r>
                        <a:rPr sz="1100" b="0">
                          <a:solidFill>
                            <a:srgbClr val="2E2E2E"/>
                          </a:solidFill>
                          <a:latin typeface="Calibri"/>
                        </a:rPr>
                        <a:t>0.21–0.22</a:t>
                      </a:r>
                      <a:endParaRPr sz="1100"/>
                    </a:p>
                  </a:txBody>
                  <a:tcPr marL="47625" marR="38100" marT="19050" marB="19050" anchor="ctr">
                    <a:solidFill>
                      <a:srgbClr val="FFFFFF"/>
                    </a:solidFill>
                  </a:tcPr>
                </a:tc>
                <a:tc>
                  <a:txBody>
                    <a:bodyPr/>
                    <a:lstStyle/>
                    <a:p>
                      <a:pPr algn="l"/>
                      <a:r>
                        <a:rPr sz="1100" b="0">
                          <a:solidFill>
                            <a:srgbClr val="2E2E2E"/>
                          </a:solidFill>
                          <a:latin typeface="Calibri"/>
                        </a:rPr>
                        <a:t>0.18–0.19</a:t>
                      </a:r>
                      <a:endParaRPr sz="1100"/>
                    </a:p>
                  </a:txBody>
                  <a:tcPr marL="47625" marR="38100" marT="19050" marB="19050" anchor="ctr">
                    <a:solidFill>
                      <a:srgbClr val="FFFFFF"/>
                    </a:solidFill>
                  </a:tcPr>
                </a:tc>
                <a:tc>
                  <a:txBody>
                    <a:bodyPr/>
                    <a:lstStyle/>
                    <a:p>
                      <a:pPr algn="l"/>
                      <a:r>
                        <a:rPr sz="1100" b="0">
                          <a:solidFill>
                            <a:srgbClr val="2E2E2E"/>
                          </a:solidFill>
                          <a:latin typeface="Calibri"/>
                        </a:rPr>
                        <a:t>0.91–0.92</a:t>
                      </a:r>
                      <a:endParaRPr sz="1100"/>
                    </a:p>
                  </a:txBody>
                  <a:tcPr marL="47625" marR="38100" marT="19050" marB="19050" anchor="ctr">
                    <a:solidFill>
                      <a:srgbClr val="FFFFFF"/>
                    </a:solidFill>
                  </a:tcPr>
                </a:tc>
                <a:tc>
                  <a:txBody>
                    <a:bodyPr/>
                    <a:lstStyle/>
                    <a:p>
                      <a:pPr algn="l"/>
                      <a:r>
                        <a:rPr sz="1100" b="0">
                          <a:solidFill>
                            <a:srgbClr val="2E2E2E"/>
                          </a:solidFill>
                          <a:latin typeface="Calibri"/>
                        </a:rPr>
                        <a:t>1.70–1.73</a:t>
                      </a:r>
                      <a:endParaRPr sz="1100"/>
                    </a:p>
                  </a:txBody>
                  <a:tcPr marL="47625" marR="38100" marT="19050" marB="19050" anchor="ctr">
                    <a:solidFill>
                      <a:srgbClr val="FFFFFF"/>
                    </a:solidFill>
                  </a:tcPr>
                </a:tc>
                <a:tc>
                  <a:txBody>
                    <a:bodyPr/>
                    <a:lstStyle/>
                    <a:p>
                      <a:pPr algn="l"/>
                      <a:r>
                        <a:rPr sz="1100" b="0">
                          <a:solidFill>
                            <a:srgbClr val="2E2E2E"/>
                          </a:solidFill>
                          <a:latin typeface="Calibri"/>
                        </a:rPr>
                        <a:t>0.64–0.65</a:t>
                      </a:r>
                      <a:endParaRPr sz="1100"/>
                    </a:p>
                  </a:txBody>
                  <a:tcPr marL="47625" marR="38100" marT="19050" marB="19050" anchor="ctr">
                    <a:solidFill>
                      <a:srgbClr val="FFFFFF"/>
                    </a:solidFill>
                  </a:tcPr>
                </a:tc>
                <a:tc>
                  <a:txBody>
                    <a:bodyPr/>
                    <a:lstStyle/>
                    <a:p>
                      <a:pPr algn="l"/>
                      <a:r>
                        <a:rPr sz="1100" b="0">
                          <a:solidFill>
                            <a:srgbClr val="2E2E2E"/>
                          </a:solidFill>
                          <a:latin typeface="Calibri"/>
                        </a:rPr>
                        <a:t>0.23</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bl>
          </a:graphicData>
        </a:graphic>
      </p:graphicFrame>
      <p:sp>
        <p:nvSpPr>
          <p:cNvPr id="14" name="TextBox 13"/>
          <p:cNvSpPr txBox="1"/>
          <p:nvPr/>
        </p:nvSpPr>
        <p:spPr>
          <a:xfrm>
            <a:off x="219075" y="334327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695700"/>
            <a:ext cx="11906250" cy="2847975"/>
          </a:xfrm>
          <a:prstGeom prst="roundRect">
            <a:avLst>
              <a:gd name="adj" fmla="val 267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6225" y="3781425"/>
            <a:ext cx="11639550" cy="209550"/>
          </a:xfrm>
          <a:prstGeom prst="rect">
            <a:avLst/>
          </a:prstGeom>
          <a:noFill/>
        </p:spPr>
        <p:txBody>
          <a:bodyPr wrap="square" lIns="0" tIns="9525" rIns="19050" bIns="9525">
            <a:spAutoFit/>
          </a:bodyPr>
          <a:lstStyle/>
          <a:p>
            <a:pPr algn="l"/>
            <a:r>
              <a:rPr sz="1300" b="1">
                <a:solidFill>
                  <a:srgbClr val="0B2E4A"/>
                </a:solidFill>
                <a:latin typeface="Calibri"/>
              </a:rPr>
              <a:t>Benchmarking Insights</a:t>
            </a:r>
          </a:p>
        </p:txBody>
      </p:sp>
      <p:sp>
        <p:nvSpPr>
          <p:cNvPr id="17" name="Rectangle 16"/>
          <p:cNvSpPr/>
          <p:nvPr/>
        </p:nvSpPr>
        <p:spPr>
          <a:xfrm>
            <a:off x="276225" y="40195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6225" y="4105275"/>
            <a:ext cx="11639550" cy="236220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On a weighted-average basis 'USA' is the highest-priced region (~0.23 US$/Units) and 'USA' the most competitive (~0.23 US$/Units).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Price ranges are benchmarked per product format type at 2026, derived as Value ÷ Volume with a ±1% observed trading band.</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Cross-region price dispersion of ~1.00× reflects differences in mix, logistics and channel structure.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Benchmarks support price-corridor setting and margin-defence decisions across geographies.</a:t>
            </a:r>
          </a:p>
        </p:txBody>
      </p:sp>
      <p:sp>
        <p:nvSpPr>
          <p:cNvPr id="19" name="TextBox 18"/>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Prenatal Vitamin Supplements Market Price Forecast &amp; Dynamics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wrap="square" lIns="114300" tIns="57150" rIns="114300" bIns="57150" rtlCol="0" anchor="ctr"/>
          <a:lstStyle/>
          <a:p>
            <a:pPr algn="l">
              <a:lnSpc>
                <a:spcPct val="112000"/>
              </a:lnSpc>
            </a:pPr>
            <a:r>
              <a:rPr sz="1100" b="0">
                <a:solidFill>
                  <a:srgbClr val="2E2E2E"/>
                </a:solidFill>
                <a:latin typeface="Calibri"/>
              </a:rPr>
              <a:t>Forward price trajectory to 2036 by product format type and the structural factors shaping it (US$/Units).</a:t>
            </a:r>
          </a:p>
        </p:txBody>
      </p:sp>
      <p:sp>
        <p:nvSpPr>
          <p:cNvPr id="11" name="Rounded Rectangle 10"/>
          <p:cNvSpPr/>
          <p:nvPr/>
        </p:nvSpPr>
        <p:spPr>
          <a:xfrm>
            <a:off x="142875" y="1317574"/>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125" y="1374724"/>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Price Forecast to 2036 by Product Format (US$/Units)</a:t>
            </a:r>
          </a:p>
        </p:txBody>
      </p:sp>
      <p:graphicFrame>
        <p:nvGraphicFramePr>
          <p:cNvPr id="13" name="Table 12"/>
          <p:cNvGraphicFramePr>
            <a:graphicFrameLocks noGrp="1"/>
          </p:cNvGraphicFramePr>
          <p:nvPr/>
        </p:nvGraphicFramePr>
        <p:xfrm>
          <a:off x="152400" y="1574749"/>
          <a:ext cx="11887201" cy="1504675"/>
        </p:xfrm>
        <a:graphic>
          <a:graphicData uri="http://schemas.openxmlformats.org/drawingml/2006/table">
            <a:tbl>
              <a:tblPr>
                <a:tableStyleId>{5C22544A-7EE6-4342-B048-85BDC9FD1C3A}</a:tableStyleId>
              </a:tblPr>
              <a:tblGrid>
                <a:gridCol w="3210895">
                  <a:extLst>
                    <a:ext uri="{9D8B030D-6E8A-4147-A177-3AD203B41FA5}">
                      <a16:colId xmlns:a16="http://schemas.microsoft.com/office/drawing/2014/main" val="20000"/>
                    </a:ext>
                  </a:extLst>
                </a:gridCol>
                <a:gridCol w="1446051">
                  <a:extLst>
                    <a:ext uri="{9D8B030D-6E8A-4147-A177-3AD203B41FA5}">
                      <a16:colId xmlns:a16="http://schemas.microsoft.com/office/drawing/2014/main" val="20001"/>
                    </a:ext>
                  </a:extLst>
                </a:gridCol>
                <a:gridCol w="1446051">
                  <a:extLst>
                    <a:ext uri="{9D8B030D-6E8A-4147-A177-3AD203B41FA5}">
                      <a16:colId xmlns:a16="http://schemas.microsoft.com/office/drawing/2014/main" val="20002"/>
                    </a:ext>
                  </a:extLst>
                </a:gridCol>
                <a:gridCol w="1446051">
                  <a:extLst>
                    <a:ext uri="{9D8B030D-6E8A-4147-A177-3AD203B41FA5}">
                      <a16:colId xmlns:a16="http://schemas.microsoft.com/office/drawing/2014/main" val="20003"/>
                    </a:ext>
                  </a:extLst>
                </a:gridCol>
                <a:gridCol w="1446051">
                  <a:extLst>
                    <a:ext uri="{9D8B030D-6E8A-4147-A177-3AD203B41FA5}">
                      <a16:colId xmlns:a16="http://schemas.microsoft.com/office/drawing/2014/main" val="20004"/>
                    </a:ext>
                  </a:extLst>
                </a:gridCol>
                <a:gridCol w="1446051">
                  <a:extLst>
                    <a:ext uri="{9D8B030D-6E8A-4147-A177-3AD203B41FA5}">
                      <a16:colId xmlns:a16="http://schemas.microsoft.com/office/drawing/2014/main" val="20005"/>
                    </a:ext>
                  </a:extLst>
                </a:gridCol>
                <a:gridCol w="1446051">
                  <a:extLst>
                    <a:ext uri="{9D8B030D-6E8A-4147-A177-3AD203B41FA5}">
                      <a16:colId xmlns:a16="http://schemas.microsoft.com/office/drawing/2014/main" val="20006"/>
                    </a:ext>
                  </a:extLst>
                </a:gridCol>
              </a:tblGrid>
              <a:tr h="215265">
                <a:tc>
                  <a:txBody>
                    <a:bodyPr/>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644705">
                <a:tc>
                  <a:txBody>
                    <a:bodyPr/>
                    <a:lstStyle/>
                    <a:p>
                      <a:pPr algn="l"/>
                      <a:r>
                        <a:rPr sz="1100" b="1">
                          <a:solidFill>
                            <a:srgbClr val="2E2E2E"/>
                          </a:solidFill>
                          <a:latin typeface="Calibri"/>
                        </a:rPr>
                        <a:t>Capsule</a:t>
                      </a:r>
                      <a:endParaRPr sz="1100"/>
                    </a:p>
                  </a:txBody>
                  <a:tcPr marL="47625" marR="38100" marT="19050" marB="19050" anchor="ctr">
                    <a:solidFill>
                      <a:srgbClr val="FFFFFF"/>
                    </a:solidFill>
                  </a:tcPr>
                </a:tc>
                <a:tc>
                  <a:txBody>
                    <a:bodyPr/>
                    <a:lstStyle/>
                    <a:p>
                      <a:pPr algn="l"/>
                      <a:r>
                        <a:rPr sz="1100" b="0">
                          <a:solidFill>
                            <a:srgbClr val="2E2E2E"/>
                          </a:solidFill>
                          <a:latin typeface="Calibri"/>
                        </a:rPr>
                        <a:t>0.21</a:t>
                      </a:r>
                      <a:endParaRPr sz="1100"/>
                    </a:p>
                  </a:txBody>
                  <a:tcPr marL="47625" marR="38100" marT="19050" marB="19050" anchor="ctr">
                    <a:solidFill>
                      <a:srgbClr val="FFFFFF"/>
                    </a:solidFill>
                  </a:tcPr>
                </a:tc>
                <a:tc>
                  <a:txBody>
                    <a:bodyPr/>
                    <a:lstStyle/>
                    <a:p>
                      <a:pPr algn="l"/>
                      <a:r>
                        <a:rPr sz="1100" b="0">
                          <a:solidFill>
                            <a:srgbClr val="2E2E2E"/>
                          </a:solidFill>
                          <a:latin typeface="Calibri"/>
                        </a:rPr>
                        <a:t>0.22</a:t>
                      </a:r>
                      <a:endParaRPr sz="1100"/>
                    </a:p>
                  </a:txBody>
                  <a:tcPr marL="47625" marR="38100" marT="19050" marB="19050" anchor="ctr">
                    <a:solidFill>
                      <a:srgbClr val="FFFFFF"/>
                    </a:solidFill>
                  </a:tcPr>
                </a:tc>
                <a:tc>
                  <a:txBody>
                    <a:bodyPr/>
                    <a:lstStyle/>
                    <a:p>
                      <a:pPr algn="l"/>
                      <a:r>
                        <a:rPr sz="1100" b="0">
                          <a:solidFill>
                            <a:srgbClr val="2E2E2E"/>
                          </a:solidFill>
                          <a:latin typeface="Calibri"/>
                        </a:rPr>
                        <a:t>0.22</a:t>
                      </a:r>
                      <a:endParaRPr sz="1100"/>
                    </a:p>
                  </a:txBody>
                  <a:tcPr marL="47625" marR="38100" marT="19050" marB="19050" anchor="ctr">
                    <a:solidFill>
                      <a:srgbClr val="FFFFFF"/>
                    </a:solidFill>
                  </a:tcPr>
                </a:tc>
                <a:tc>
                  <a:txBody>
                    <a:bodyPr/>
                    <a:lstStyle/>
                    <a:p>
                      <a:pPr algn="l"/>
                      <a:r>
                        <a:rPr sz="1100" b="0">
                          <a:solidFill>
                            <a:srgbClr val="2E2E2E"/>
                          </a:solidFill>
                          <a:latin typeface="Calibri"/>
                        </a:rPr>
                        <a:t>0.23</a:t>
                      </a:r>
                      <a:endParaRPr sz="1100"/>
                    </a:p>
                  </a:txBody>
                  <a:tcPr marL="47625" marR="38100" marT="19050" marB="19050" anchor="ctr">
                    <a:solidFill>
                      <a:srgbClr val="FFFFFF"/>
                    </a:solidFill>
                  </a:tcPr>
                </a:tc>
                <a:tc>
                  <a:txBody>
                    <a:bodyPr/>
                    <a:lstStyle/>
                    <a:p>
                      <a:pPr algn="l"/>
                      <a:r>
                        <a:rPr sz="1100" b="0">
                          <a:solidFill>
                            <a:srgbClr val="2E2E2E"/>
                          </a:solidFill>
                          <a:latin typeface="Calibri"/>
                        </a:rPr>
                        <a:t>0.23</a:t>
                      </a:r>
                      <a:endParaRPr sz="1100"/>
                    </a:p>
                  </a:txBody>
                  <a:tcPr marL="47625" marR="38100" marT="19050" marB="19050" anchor="ctr">
                    <a:solidFill>
                      <a:srgbClr val="FFFFFF"/>
                    </a:solidFill>
                  </a:tcPr>
                </a:tc>
                <a:tc>
                  <a:txBody>
                    <a:bodyPr/>
                    <a:lstStyle/>
                    <a:p>
                      <a:pPr algn="l"/>
                      <a:r>
                        <a:rPr sz="1100" b="0">
                          <a:solidFill>
                            <a:srgbClr val="2E2E2E"/>
                          </a:solidFill>
                          <a:latin typeface="Calibri"/>
                        </a:rPr>
                        <a:t>0.24</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644705">
                <a:tc>
                  <a:txBody>
                    <a:bodyPr/>
                    <a:lstStyle/>
                    <a:p>
                      <a:pPr algn="l"/>
                      <a:r>
                        <a:rPr sz="1100" b="1">
                          <a:solidFill>
                            <a:srgbClr val="2E2E2E"/>
                          </a:solidFill>
                          <a:latin typeface="Calibri"/>
                        </a:rPr>
                        <a:t>Tablet</a:t>
                      </a:r>
                      <a:endParaRPr sz="1100"/>
                    </a:p>
                  </a:txBody>
                  <a:tcPr marL="47625" marR="38100" marT="19050" marB="19050" anchor="ctr">
                    <a:solidFill>
                      <a:srgbClr val="F5F8FA"/>
                    </a:solidFill>
                  </a:tcPr>
                </a:tc>
                <a:tc>
                  <a:txBody>
                    <a:bodyPr/>
                    <a:lstStyle/>
                    <a:p>
                      <a:pPr algn="l"/>
                      <a:r>
                        <a:rPr sz="1100" b="0">
                          <a:solidFill>
                            <a:srgbClr val="2E2E2E"/>
                          </a:solidFill>
                          <a:latin typeface="Calibri"/>
                        </a:rPr>
                        <a:t>0.26</a:t>
                      </a:r>
                      <a:endParaRPr sz="1100"/>
                    </a:p>
                  </a:txBody>
                  <a:tcPr marL="47625" marR="38100" marT="19050" marB="19050" anchor="ctr">
                    <a:solidFill>
                      <a:srgbClr val="F5F8FA"/>
                    </a:solidFill>
                  </a:tcPr>
                </a:tc>
                <a:tc>
                  <a:txBody>
                    <a:bodyPr/>
                    <a:lstStyle/>
                    <a:p>
                      <a:pPr algn="l"/>
                      <a:r>
                        <a:rPr sz="1100" b="0">
                          <a:solidFill>
                            <a:srgbClr val="2E2E2E"/>
                          </a:solidFill>
                          <a:latin typeface="Calibri"/>
                        </a:rPr>
                        <a:t>0.27</a:t>
                      </a:r>
                      <a:endParaRPr sz="1100"/>
                    </a:p>
                  </a:txBody>
                  <a:tcPr marL="47625" marR="38100" marT="19050" marB="19050" anchor="ctr">
                    <a:solidFill>
                      <a:srgbClr val="F5F8FA"/>
                    </a:solidFill>
                  </a:tcPr>
                </a:tc>
                <a:tc>
                  <a:txBody>
                    <a:bodyPr/>
                    <a:lstStyle/>
                    <a:p>
                      <a:pPr algn="l"/>
                      <a:r>
                        <a:rPr sz="1100" b="0">
                          <a:solidFill>
                            <a:srgbClr val="2E2E2E"/>
                          </a:solidFill>
                          <a:latin typeface="Calibri"/>
                        </a:rPr>
                        <a:t>0.27</a:t>
                      </a:r>
                      <a:endParaRPr sz="1100"/>
                    </a:p>
                  </a:txBody>
                  <a:tcPr marL="47625" marR="38100" marT="19050" marB="19050" anchor="ctr">
                    <a:solidFill>
                      <a:srgbClr val="F5F8FA"/>
                    </a:solidFill>
                  </a:tcPr>
                </a:tc>
                <a:tc>
                  <a:txBody>
                    <a:bodyPr/>
                    <a:lstStyle/>
                    <a:p>
                      <a:pPr algn="l"/>
                      <a:r>
                        <a:rPr sz="1100" b="0">
                          <a:solidFill>
                            <a:srgbClr val="2E2E2E"/>
                          </a:solidFill>
                          <a:latin typeface="Calibri"/>
                        </a:rPr>
                        <a:t>0.28</a:t>
                      </a:r>
                      <a:endParaRPr sz="1100"/>
                    </a:p>
                  </a:txBody>
                  <a:tcPr marL="47625" marR="38100" marT="19050" marB="19050" anchor="ctr">
                    <a:solidFill>
                      <a:srgbClr val="F5F8FA"/>
                    </a:solidFill>
                  </a:tcPr>
                </a:tc>
                <a:tc>
                  <a:txBody>
                    <a:bodyPr/>
                    <a:lstStyle/>
                    <a:p>
                      <a:pPr algn="l"/>
                      <a:r>
                        <a:rPr sz="1100" b="0">
                          <a:solidFill>
                            <a:srgbClr val="2E2E2E"/>
                          </a:solidFill>
                          <a:latin typeface="Calibri"/>
                        </a:rPr>
                        <a:t>0.28</a:t>
                      </a:r>
                      <a:endParaRPr sz="1100"/>
                    </a:p>
                  </a:txBody>
                  <a:tcPr marL="47625" marR="38100" marT="19050" marB="19050" anchor="ctr">
                    <a:solidFill>
                      <a:srgbClr val="F5F8FA"/>
                    </a:solidFill>
                  </a:tcPr>
                </a:tc>
                <a:tc>
                  <a:txBody>
                    <a:bodyPr/>
                    <a:lstStyle/>
                    <a:p>
                      <a:pPr algn="l"/>
                      <a:r>
                        <a:rPr sz="1100" b="0">
                          <a:solidFill>
                            <a:srgbClr val="2E2E2E"/>
                          </a:solidFill>
                          <a:latin typeface="Calibri"/>
                        </a:rPr>
                        <a:t>0.29</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bl>
          </a:graphicData>
        </a:graphic>
      </p:graphicFrame>
      <p:sp>
        <p:nvSpPr>
          <p:cNvPr id="14" name="TextBox 13"/>
          <p:cNvSpPr txBox="1"/>
          <p:nvPr/>
        </p:nvSpPr>
        <p:spPr>
          <a:xfrm>
            <a:off x="219075" y="3088948"/>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57890"/>
          </a:xfrm>
          <a:prstGeom prst="roundRect">
            <a:avLst>
              <a:gd name="adj" fmla="val 2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8125" y="3455645"/>
            <a:ext cx="571500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Factors Impacting Pricing</a:t>
            </a:r>
          </a:p>
        </p:txBody>
      </p:sp>
      <p:graphicFrame>
        <p:nvGraphicFramePr>
          <p:cNvPr id="17" name="Table 16"/>
          <p:cNvGraphicFramePr>
            <a:graphicFrameLocks noGrp="1"/>
          </p:cNvGraphicFramePr>
          <p:nvPr/>
        </p:nvGraphicFramePr>
        <p:xfrm>
          <a:off x="152400" y="3655670"/>
          <a:ext cx="5886449" cy="2691165"/>
        </p:xfrm>
        <a:graphic>
          <a:graphicData uri="http://schemas.openxmlformats.org/drawingml/2006/table">
            <a:tbl>
              <a:tblPr>
                <a:tableStyleId>{5C22544A-7EE6-4342-B048-85BDC9FD1C3A}</a:tableStyleId>
              </a:tblPr>
              <a:tblGrid>
                <a:gridCol w="2867491">
                  <a:extLst>
                    <a:ext uri="{9D8B030D-6E8A-4147-A177-3AD203B41FA5}">
                      <a16:colId xmlns:a16="http://schemas.microsoft.com/office/drawing/2014/main" val="20000"/>
                    </a:ext>
                  </a:extLst>
                </a:gridCol>
                <a:gridCol w="1509479">
                  <a:extLst>
                    <a:ext uri="{9D8B030D-6E8A-4147-A177-3AD203B41FA5}">
                      <a16:colId xmlns:a16="http://schemas.microsoft.com/office/drawing/2014/main" val="20001"/>
                    </a:ext>
                  </a:extLst>
                </a:gridCol>
                <a:gridCol w="1509479">
                  <a:extLst>
                    <a:ext uri="{9D8B030D-6E8A-4147-A177-3AD203B41FA5}">
                      <a16:colId xmlns:a16="http://schemas.microsoft.com/office/drawing/2014/main" val="20002"/>
                    </a:ext>
                  </a:extLst>
                </a:gridCol>
              </a:tblGrid>
              <a:tr h="215265">
                <a:tc>
                  <a:txBody>
                    <a:bodyPr/>
                    <a:lstStyle/>
                    <a:p>
                      <a:pPr algn="l"/>
                      <a:r>
                        <a:rPr sz="1100" b="1">
                          <a:solidFill>
                            <a:srgbClr val="0B2E4A"/>
                          </a:solidFill>
                          <a:latin typeface="Calibri"/>
                        </a:rPr>
                        <a:t>Pricing Factor</a:t>
                      </a:r>
                      <a:endParaRPr sz="1100"/>
                    </a:p>
                  </a:txBody>
                  <a:tcPr marL="47625" marR="38100" marT="19050" marB="19050" anchor="ctr">
                    <a:solidFill>
                      <a:srgbClr val="E0E8EF"/>
                    </a:solidFill>
                  </a:tcPr>
                </a:tc>
                <a:tc>
                  <a:txBody>
                    <a:bodyPr/>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a:lstStyle/>
                    <a:p>
                      <a:pPr algn="l"/>
                      <a:r>
                        <a:rPr sz="1100" b="1">
                          <a:solidFill>
                            <a:srgbClr val="0B2E4A"/>
                          </a:solidFill>
                          <a:latin typeface="Calibri"/>
                        </a:rPr>
                        <a:t>Impact (H/M/L)</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47590">
                <a:tc>
                  <a:txBody>
                    <a:bodyPr/>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a:lstStyle/>
                    <a:p>
                      <a:pPr algn="l"/>
                      <a:r>
                        <a:rPr sz="1100" b="0">
                          <a:solidFill>
                            <a:srgbClr val="2E2E2E"/>
                          </a:solidFill>
                          <a:latin typeface="Calibri"/>
                        </a:rPr>
                        <a:t>High</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47590">
                <a:tc>
                  <a:txBody>
                    <a:bodyPr/>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l"/>
                      <a:r>
                        <a:rPr sz="1100" b="0">
                          <a:solidFill>
                            <a:srgbClr val="2E2E2E"/>
                          </a:solidFill>
                          <a:latin typeface="Calibri"/>
                        </a:rPr>
                        <a:t>Medium</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47590">
                <a:tc>
                  <a:txBody>
                    <a:bodyPr/>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a:lstStyle/>
                    <a:p>
                      <a:pPr algn="l"/>
                      <a:r>
                        <a:rPr sz="1100" b="0">
                          <a:solidFill>
                            <a:srgbClr val="2E2E2E"/>
                          </a:solidFill>
                          <a:latin typeface="Calibri"/>
                        </a:rPr>
                        <a:t>Medium</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47590">
                <a:tc>
                  <a:txBody>
                    <a:bodyPr/>
                    <a:lstStyle/>
                    <a:p>
                      <a:pPr algn="l"/>
                      <a:r>
                        <a:rPr sz="1100" b="1">
                          <a:solidFill>
                            <a:srgbClr val="2E2E2E"/>
                          </a:solidFill>
                          <a:latin typeface="Calibri"/>
                        </a:rPr>
                        <a:t>Supply Chain &amp; Logistics</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l"/>
                      <a:r>
                        <a:rPr sz="1100" b="0">
                          <a:solidFill>
                            <a:srgbClr val="2E2E2E"/>
                          </a:solidFill>
                          <a:latin typeface="Calibri"/>
                        </a:rPr>
                        <a:t>Medium</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47590">
                <a:tc>
                  <a:txBody>
                    <a:bodyPr/>
                    <a:lstStyle/>
                    <a:p>
                      <a:pPr algn="l"/>
                      <a:r>
                        <a:rPr sz="1100" b="1">
                          <a:solidFill>
                            <a:srgbClr val="2E2E2E"/>
                          </a:solidFill>
                          <a:latin typeface="Calibri"/>
                        </a:rPr>
                        <a:t>Demand &amp; Market Conditions</a:t>
                      </a:r>
                      <a:endParaRPr sz="1100"/>
                    </a:p>
                  </a:txBody>
                  <a:tcPr marL="47625" marR="38100" marT="19050" marB="19050" anchor="ctr">
                    <a:solidFill>
                      <a:srgbClr val="FFFFFF"/>
                    </a:solidFill>
                  </a:tcPr>
                </a:tc>
                <a:tc>
                  <a:txBody>
                    <a:bodyPr/>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a:lstStyle/>
                    <a:p>
                      <a:pPr algn="l"/>
                      <a:r>
                        <a:rPr sz="1100" b="0">
                          <a:solidFill>
                            <a:srgbClr val="2E2E2E"/>
                          </a:solidFill>
                          <a:latin typeface="Calibri"/>
                        </a:rPr>
                        <a:t>High</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47590">
                <a:tc>
                  <a:txBody>
                    <a:bodyPr/>
                    <a:lstStyle/>
                    <a:p>
                      <a:pPr algn="l"/>
                      <a:r>
                        <a:rPr sz="1100" b="1">
                          <a:solidFill>
                            <a:srgbClr val="2E2E2E"/>
                          </a:solidFill>
                          <a:latin typeface="Calibri"/>
                        </a:rPr>
                        <a:t>Competitive Landscape</a:t>
                      </a:r>
                      <a:endParaRPr sz="1100"/>
                    </a:p>
                  </a:txBody>
                  <a:tcPr marL="47625" marR="38100" marT="19050" marB="19050" anchor="ctr">
                    <a:solidFill>
                      <a:srgbClr val="F5F8FA"/>
                    </a:solidFill>
                  </a:tcPr>
                </a:tc>
                <a:tc>
                  <a:txBody>
                    <a:bodyPr/>
                    <a:lstStyle/>
                    <a:p>
                      <a:pPr algn="l"/>
                      <a:r>
                        <a:rPr sz="1100" b="1">
                          <a:solidFill>
                            <a:srgbClr val="E44D3A"/>
                          </a:solidFill>
                          <a:latin typeface="Calibri"/>
                        </a:rPr>
                        <a:t>▼ Downward</a:t>
                      </a:r>
                      <a:endParaRPr sz="1100"/>
                    </a:p>
                  </a:txBody>
                  <a:tcPr marL="47625" marR="38100" marT="19050" marB="19050" anchor="ctr">
                    <a:solidFill>
                      <a:srgbClr val="F5F8FA"/>
                    </a:solidFill>
                  </a:tcPr>
                </a:tc>
                <a:tc>
                  <a:txBody>
                    <a:bodyPr/>
                    <a:lstStyle/>
                    <a:p>
                      <a:pPr algn="l"/>
                      <a:r>
                        <a:rPr sz="1100" b="0">
                          <a:solidFill>
                            <a:srgbClr val="2E2E2E"/>
                          </a:solidFill>
                          <a:latin typeface="Calibri"/>
                        </a:rPr>
                        <a:t>High</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r h="247590">
                <a:tc>
                  <a:txBody>
                    <a:bodyPr/>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a:lstStyle/>
                    <a:p>
                      <a:pPr algn="l"/>
                      <a:r>
                        <a:rPr sz="1100" b="0">
                          <a:solidFill>
                            <a:srgbClr val="2E2E2E"/>
                          </a:solidFill>
                          <a:latin typeface="Calibri"/>
                        </a:rPr>
                        <a:t>Medium</a:t>
                      </a:r>
                      <a:endParaRPr sz="1100"/>
                    </a:p>
                  </a:txBody>
                  <a:tcPr marL="47625" marR="38100" marT="19050" marB="19050" anchor="ctr">
                    <a:solidFill>
                      <a:srgbClr val="FFFFFF"/>
                    </a:solidFill>
                  </a:tcPr>
                </a:tc>
                <a:extLst>
                  <a:ext uri="{0D108BD9-81ED-4DB2-BD59-A6C34878D82A}">
                    <a16:rowId xmlns:a16="http://schemas.microsoft.com/office/drawing/2014/main" val="10007"/>
                  </a:ext>
                </a:extLst>
              </a:tr>
              <a:tr h="247590">
                <a:tc>
                  <a:txBody>
                    <a:bodyPr/>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l"/>
                      <a:r>
                        <a:rPr sz="1100" b="0">
                          <a:solidFill>
                            <a:srgbClr val="2E2E2E"/>
                          </a:solidFill>
                          <a:latin typeface="Calibri"/>
                        </a:rPr>
                        <a:t>Low</a:t>
                      </a:r>
                      <a:endParaRPr sz="1100"/>
                    </a:p>
                  </a:txBody>
                  <a:tcPr marL="47625" marR="38100" marT="19050" marB="19050" anchor="ctr">
                    <a:solidFill>
                      <a:srgbClr val="F5F8FA"/>
                    </a:solidFill>
                  </a:tcPr>
                </a:tc>
                <a:extLst>
                  <a:ext uri="{0D108BD9-81ED-4DB2-BD59-A6C34878D82A}">
                    <a16:rowId xmlns:a16="http://schemas.microsoft.com/office/drawing/2014/main" val="10008"/>
                  </a:ext>
                </a:extLst>
              </a:tr>
              <a:tr h="247590">
                <a:tc>
                  <a:txBody>
                    <a:bodyPr/>
                    <a:lstStyle/>
                    <a:p>
                      <a:pPr algn="l"/>
                      <a:r>
                        <a:rPr sz="1100" b="1">
                          <a:solidFill>
                            <a:srgbClr val="2E2E2E"/>
                          </a:solidFill>
                          <a:latin typeface="Calibri"/>
                        </a:rPr>
                        <a:t>Brand &amp; Value Perception</a:t>
                      </a:r>
                      <a:endParaRPr sz="1100"/>
                    </a:p>
                  </a:txBody>
                  <a:tcPr marL="47625" marR="38100" marT="19050" marB="19050" anchor="ctr">
                    <a:solidFill>
                      <a:srgbClr val="FFFFFF"/>
                    </a:solidFill>
                  </a:tcPr>
                </a:tc>
                <a:tc>
                  <a:txBody>
                    <a:bodyPr/>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a:lstStyle/>
                    <a:p>
                      <a:pPr algn="l"/>
                      <a:r>
                        <a:rPr sz="1100" b="0">
                          <a:solidFill>
                            <a:srgbClr val="2E2E2E"/>
                          </a:solidFill>
                          <a:latin typeface="Calibri"/>
                        </a:rPr>
                        <a:t>Medium</a:t>
                      </a:r>
                      <a:endParaRPr sz="1100"/>
                    </a:p>
                  </a:txBody>
                  <a:tcPr marL="47625" marR="38100" marT="19050" marB="19050" anchor="ctr">
                    <a:solidFill>
                      <a:srgbClr val="FFFFFF"/>
                    </a:solidFill>
                  </a:tcPr>
                </a:tc>
                <a:extLst>
                  <a:ext uri="{0D108BD9-81ED-4DB2-BD59-A6C34878D82A}">
                    <a16:rowId xmlns:a16="http://schemas.microsoft.com/office/drawing/2014/main" val="10009"/>
                  </a:ext>
                </a:extLst>
              </a:tr>
              <a:tr h="247590">
                <a:tc>
                  <a:txBody>
                    <a:bodyPr/>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a:lstStyle/>
                    <a:p>
                      <a:pPr algn="l"/>
                      <a:r>
                        <a:rPr sz="1100" b="0">
                          <a:solidFill>
                            <a:srgbClr val="2E2E2E"/>
                          </a:solidFill>
                          <a:latin typeface="Calibri"/>
                        </a:rPr>
                        <a:t>Low</a:t>
                      </a:r>
                      <a:endParaRPr sz="1100"/>
                    </a:p>
                  </a:txBody>
                  <a:tcPr marL="47625" marR="38100" marT="19050" marB="19050" anchor="ctr">
                    <a:solidFill>
                      <a:srgbClr val="F5F8FA"/>
                    </a:solidFill>
                  </a:tcPr>
                </a:tc>
                <a:extLst>
                  <a:ext uri="{0D108BD9-81ED-4DB2-BD59-A6C34878D82A}">
                    <a16:rowId xmlns:a16="http://schemas.microsoft.com/office/drawing/2014/main" val="10010"/>
                  </a:ext>
                </a:extLst>
              </a:tr>
            </a:tbl>
          </a:graphicData>
        </a:graphic>
      </p:graphicFrame>
      <p:sp>
        <p:nvSpPr>
          <p:cNvPr id="18" name="TextBox 17"/>
          <p:cNvSpPr txBox="1"/>
          <p:nvPr/>
        </p:nvSpPr>
        <p:spPr>
          <a:xfrm>
            <a:off x="219075" y="6356360"/>
            <a:ext cx="575310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3398495"/>
            <a:ext cx="5848350" cy="3157890"/>
          </a:xfrm>
          <a:prstGeom prst="roundRect">
            <a:avLst>
              <a:gd name="adj" fmla="val 2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34125" y="3484220"/>
            <a:ext cx="5581650" cy="209550"/>
          </a:xfrm>
          <a:prstGeom prst="rect">
            <a:avLst/>
          </a:prstGeom>
          <a:noFill/>
        </p:spPr>
        <p:txBody>
          <a:bodyPr wrap="square" lIns="0" tIns="9525" rIns="19050" bIns="9525">
            <a:spAutoFit/>
          </a:bodyPr>
          <a:lstStyle/>
          <a:p>
            <a:pPr algn="l"/>
            <a:r>
              <a:rPr sz="1300" b="1">
                <a:solidFill>
                  <a:srgbClr val="0B2E4A"/>
                </a:solidFill>
                <a:latin typeface="Calibri"/>
              </a:rPr>
              <a:t>Pricing Dynamics &amp; Outlook</a:t>
            </a:r>
          </a:p>
        </p:txBody>
      </p:sp>
      <p:sp>
        <p:nvSpPr>
          <p:cNvPr id="21" name="Rectangle 20"/>
          <p:cNvSpPr/>
          <p:nvPr/>
        </p:nvSpPr>
        <p:spPr>
          <a:xfrm>
            <a:off x="6334125" y="3722345"/>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34125" y="3808070"/>
            <a:ext cx="5581650" cy="2672115"/>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Average product format price is projected to rise from ~0.59 to ~0.64 US$/Units by 2036 a +0.7% CAGR.</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'Capsule' shows the strongest forecast price appreciation (+9.7%) over the horizon.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Upward pressure is led by input cost and demand &amp; market conditions; efficiency and competitive intensity work the other way.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Net outlook: modest, structural price appreciation mix and geography will determine realised pricing.</a:t>
            </a:r>
          </a:p>
        </p:txBody>
      </p:sp>
      <p:sp>
        <p:nvSpPr>
          <p:cNvPr id="23" name="TextBox 2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Prenatal Vitamin Supplements Market Price Forecast &amp; Dynamics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981075"/>
            <a:ext cx="11906250" cy="1762125"/>
          </a:xfrm>
          <a:prstGeom prst="roundRect">
            <a:avLst>
              <a:gd name="adj" fmla="val 43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Price Forecast to 2036 by Product Format (US$/Units)</a:t>
            </a:r>
          </a:p>
        </p:txBody>
      </p:sp>
      <p:graphicFrame>
        <p:nvGraphicFramePr>
          <p:cNvPr id="12" name="Table 11"/>
          <p:cNvGraphicFramePr>
            <a:graphicFrameLocks noGrp="1"/>
          </p:cNvGraphicFramePr>
          <p:nvPr/>
        </p:nvGraphicFramePr>
        <p:xfrm>
          <a:off x="152400" y="1238250"/>
          <a:ext cx="11887201" cy="1295400"/>
        </p:xfrm>
        <a:graphic>
          <a:graphicData uri="http://schemas.openxmlformats.org/drawingml/2006/table">
            <a:tbl>
              <a:tblPr>
                <a:tableStyleId>{5C22544A-7EE6-4342-B048-85BDC9FD1C3A}</a:tableStyleId>
              </a:tblPr>
              <a:tblGrid>
                <a:gridCol w="3210895">
                  <a:extLst>
                    <a:ext uri="{9D8B030D-6E8A-4147-A177-3AD203B41FA5}">
                      <a16:colId xmlns:a16="http://schemas.microsoft.com/office/drawing/2014/main" val="20000"/>
                    </a:ext>
                  </a:extLst>
                </a:gridCol>
                <a:gridCol w="1446051">
                  <a:extLst>
                    <a:ext uri="{9D8B030D-6E8A-4147-A177-3AD203B41FA5}">
                      <a16:colId xmlns:a16="http://schemas.microsoft.com/office/drawing/2014/main" val="20001"/>
                    </a:ext>
                  </a:extLst>
                </a:gridCol>
                <a:gridCol w="1446051">
                  <a:extLst>
                    <a:ext uri="{9D8B030D-6E8A-4147-A177-3AD203B41FA5}">
                      <a16:colId xmlns:a16="http://schemas.microsoft.com/office/drawing/2014/main" val="20002"/>
                    </a:ext>
                  </a:extLst>
                </a:gridCol>
                <a:gridCol w="1446051">
                  <a:extLst>
                    <a:ext uri="{9D8B030D-6E8A-4147-A177-3AD203B41FA5}">
                      <a16:colId xmlns:a16="http://schemas.microsoft.com/office/drawing/2014/main" val="20003"/>
                    </a:ext>
                  </a:extLst>
                </a:gridCol>
                <a:gridCol w="1446051">
                  <a:extLst>
                    <a:ext uri="{9D8B030D-6E8A-4147-A177-3AD203B41FA5}">
                      <a16:colId xmlns:a16="http://schemas.microsoft.com/office/drawing/2014/main" val="20004"/>
                    </a:ext>
                  </a:extLst>
                </a:gridCol>
                <a:gridCol w="1446051">
                  <a:extLst>
                    <a:ext uri="{9D8B030D-6E8A-4147-A177-3AD203B41FA5}">
                      <a16:colId xmlns:a16="http://schemas.microsoft.com/office/drawing/2014/main" val="20005"/>
                    </a:ext>
                  </a:extLst>
                </a:gridCol>
                <a:gridCol w="1446051">
                  <a:extLst>
                    <a:ext uri="{9D8B030D-6E8A-4147-A177-3AD203B41FA5}">
                      <a16:colId xmlns:a16="http://schemas.microsoft.com/office/drawing/2014/main" val="20006"/>
                    </a:ext>
                  </a:extLst>
                </a:gridCol>
              </a:tblGrid>
              <a:tr h="215265">
                <a:tc>
                  <a:txBody>
                    <a:bodyPr/>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a:lstStyle/>
                    <a:p>
                      <a:pPr algn="l"/>
                      <a:r>
                        <a:rPr sz="1100" b="1">
                          <a:solidFill>
                            <a:srgbClr val="0B2E4A"/>
                          </a:solidFill>
                          <a:latin typeface="Calibri"/>
                        </a:rPr>
                        <a:t>2026E</a:t>
                      </a:r>
                      <a:endParaRPr sz="1100"/>
                    </a:p>
                  </a:txBody>
                  <a:tcPr marL="47625" marR="38100" marT="19050" marB="19050" anchor="ctr">
                    <a:solidFill>
                      <a:srgbClr val="E0E8EF"/>
                    </a:solidFill>
                  </a:tcPr>
                </a:tc>
                <a:tc>
                  <a:txBody>
                    <a:bodyPr/>
                    <a:lstStyle/>
                    <a:p>
                      <a:pPr algn="l"/>
                      <a:r>
                        <a:rPr sz="1100" b="1">
                          <a:solidFill>
                            <a:srgbClr val="0B2E4A"/>
                          </a:solidFill>
                          <a:latin typeface="Calibri"/>
                        </a:rPr>
                        <a:t>2028F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2030F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2032F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2034F</a:t>
                      </a:r>
                      <a:endParaRPr sz="1100"/>
                    </a:p>
                  </a:txBody>
                  <a:tcPr marL="47625" marR="38100" marT="19050" marB="19050" anchor="ctr">
                    <a:solidFill>
                      <a:srgbClr val="E0E8EF"/>
                    </a:solidFill>
                  </a:tcPr>
                </a:tc>
                <a:tc>
                  <a:txBody>
                    <a:bodyPr/>
                    <a:lstStyle/>
                    <a:p>
                      <a:pPr algn="l"/>
                      <a:r>
                        <a:rPr sz="1100" b="1">
                          <a:solidFill>
                            <a:srgbClr val="0B2E4A"/>
                          </a:solidFill>
                          <a:latin typeface="Calibri"/>
                        </a:rPr>
                        <a:t>2036F</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16027">
                <a:tc>
                  <a:txBody>
                    <a:bodyPr/>
                    <a:lstStyle/>
                    <a:p>
                      <a:pPr algn="l"/>
                      <a:r>
                        <a:rPr sz="1100" b="1">
                          <a:solidFill>
                            <a:srgbClr val="2E2E2E"/>
                          </a:solidFill>
                          <a:latin typeface="Calibri"/>
                        </a:rPr>
                        <a:t>Softgels</a:t>
                      </a:r>
                      <a:endParaRPr sz="1100"/>
                    </a:p>
                  </a:txBody>
                  <a:tcPr marL="47625" marR="38100" marT="19050" marB="19050" anchor="ctr">
                    <a:solidFill>
                      <a:srgbClr val="FFFFFF"/>
                    </a:solidFill>
                  </a:tcPr>
                </a:tc>
                <a:tc>
                  <a:txBody>
                    <a:bodyPr/>
                    <a:lstStyle/>
                    <a:p>
                      <a:pPr algn="l"/>
                      <a:r>
                        <a:rPr sz="1100" b="0">
                          <a:solidFill>
                            <a:srgbClr val="2E2E2E"/>
                          </a:solidFill>
                          <a:latin typeface="Calibri"/>
                        </a:rPr>
                        <a:t>0.21</a:t>
                      </a:r>
                      <a:endParaRPr sz="1100"/>
                    </a:p>
                  </a:txBody>
                  <a:tcPr marL="47625" marR="38100" marT="19050" marB="19050" anchor="ctr">
                    <a:solidFill>
                      <a:srgbClr val="FFFFFF"/>
                    </a:solidFill>
                  </a:tcPr>
                </a:tc>
                <a:tc>
                  <a:txBody>
                    <a:bodyPr/>
                    <a:lstStyle/>
                    <a:p>
                      <a:pPr algn="l"/>
                      <a:r>
                        <a:rPr sz="1100" b="0">
                          <a:solidFill>
                            <a:srgbClr val="2E2E2E"/>
                          </a:solidFill>
                          <a:latin typeface="Calibri"/>
                        </a:rPr>
                        <a:t>0.22</a:t>
                      </a:r>
                      <a:endParaRPr sz="1100"/>
                    </a:p>
                  </a:txBody>
                  <a:tcPr marL="47625" marR="38100" marT="19050" marB="19050" anchor="ctr">
                    <a:solidFill>
                      <a:srgbClr val="FFFFFF"/>
                    </a:solidFill>
                  </a:tcPr>
                </a:tc>
                <a:tc>
                  <a:txBody>
                    <a:bodyPr/>
                    <a:lstStyle/>
                    <a:p>
                      <a:pPr algn="l"/>
                      <a:r>
                        <a:rPr sz="1100" b="0">
                          <a:solidFill>
                            <a:srgbClr val="2E2E2E"/>
                          </a:solidFill>
                          <a:latin typeface="Calibri"/>
                        </a:rPr>
                        <a:t>0.22</a:t>
                      </a:r>
                      <a:endParaRPr sz="1100"/>
                    </a:p>
                  </a:txBody>
                  <a:tcPr marL="47625" marR="38100" marT="19050" marB="19050" anchor="ctr">
                    <a:solidFill>
                      <a:srgbClr val="FFFFFF"/>
                    </a:solidFill>
                  </a:tcPr>
                </a:tc>
                <a:tc>
                  <a:txBody>
                    <a:bodyPr/>
                    <a:lstStyle/>
                    <a:p>
                      <a:pPr algn="l"/>
                      <a:r>
                        <a:rPr sz="1100" b="0">
                          <a:solidFill>
                            <a:srgbClr val="2E2E2E"/>
                          </a:solidFill>
                          <a:latin typeface="Calibri"/>
                        </a:rPr>
                        <a:t>0.22</a:t>
                      </a:r>
                      <a:endParaRPr sz="1100"/>
                    </a:p>
                  </a:txBody>
                  <a:tcPr marL="47625" marR="38100" marT="19050" marB="19050" anchor="ctr">
                    <a:solidFill>
                      <a:srgbClr val="FFFFFF"/>
                    </a:solidFill>
                  </a:tcPr>
                </a:tc>
                <a:tc>
                  <a:txBody>
                    <a:bodyPr/>
                    <a:lstStyle/>
                    <a:p>
                      <a:pPr algn="l"/>
                      <a:r>
                        <a:rPr sz="1100" b="0">
                          <a:solidFill>
                            <a:srgbClr val="2E2E2E"/>
                          </a:solidFill>
                          <a:latin typeface="Calibri"/>
                        </a:rPr>
                        <a:t>0.22</a:t>
                      </a:r>
                      <a:endParaRPr sz="1100"/>
                    </a:p>
                  </a:txBody>
                  <a:tcPr marL="47625" marR="38100" marT="19050" marB="19050" anchor="ctr">
                    <a:solidFill>
                      <a:srgbClr val="FFFFFF"/>
                    </a:solidFill>
                  </a:tcPr>
                </a:tc>
                <a:tc>
                  <a:txBody>
                    <a:bodyPr/>
                    <a:lstStyle/>
                    <a:p>
                      <a:pPr algn="l"/>
                      <a:r>
                        <a:rPr sz="1100" b="0">
                          <a:solidFill>
                            <a:srgbClr val="2E2E2E"/>
                          </a:solidFill>
                          <a:latin typeface="Calibri"/>
                        </a:rPr>
                        <a:t>0.23</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16027">
                <a:tc>
                  <a:txBody>
                    <a:bodyPr/>
                    <a:lstStyle/>
                    <a:p>
                      <a:pPr algn="l"/>
                      <a:r>
                        <a:rPr sz="1100" b="1">
                          <a:solidFill>
                            <a:srgbClr val="2E2E2E"/>
                          </a:solidFill>
                          <a:latin typeface="Calibri"/>
                        </a:rPr>
                        <a:t>Gummies</a:t>
                      </a:r>
                      <a:endParaRPr sz="1100"/>
                    </a:p>
                  </a:txBody>
                  <a:tcPr marL="47625" marR="38100" marT="19050" marB="19050" anchor="ctr">
                    <a:solidFill>
                      <a:srgbClr val="F5F8FA"/>
                    </a:solidFill>
                  </a:tcPr>
                </a:tc>
                <a:tc>
                  <a:txBody>
                    <a:bodyPr/>
                    <a:lstStyle/>
                    <a:p>
                      <a:pPr algn="l"/>
                      <a:r>
                        <a:rPr sz="1100" b="0">
                          <a:solidFill>
                            <a:srgbClr val="2E2E2E"/>
                          </a:solidFill>
                          <a:latin typeface="Calibri"/>
                        </a:rPr>
                        <a:t>0.18</a:t>
                      </a:r>
                      <a:endParaRPr sz="1100"/>
                    </a:p>
                  </a:txBody>
                  <a:tcPr marL="47625" marR="38100" marT="19050" marB="19050" anchor="ctr">
                    <a:solidFill>
                      <a:srgbClr val="F5F8FA"/>
                    </a:solidFill>
                  </a:tcPr>
                </a:tc>
                <a:tc>
                  <a:txBody>
                    <a:bodyPr/>
                    <a:lstStyle/>
                    <a:p>
                      <a:pPr algn="l"/>
                      <a:r>
                        <a:rPr sz="1100" b="0">
                          <a:solidFill>
                            <a:srgbClr val="2E2E2E"/>
                          </a:solidFill>
                          <a:latin typeface="Calibri"/>
                        </a:rPr>
                        <a:t>0.19</a:t>
                      </a:r>
                      <a:endParaRPr sz="1100"/>
                    </a:p>
                  </a:txBody>
                  <a:tcPr marL="47625" marR="38100" marT="19050" marB="19050" anchor="ctr">
                    <a:solidFill>
                      <a:srgbClr val="F5F8FA"/>
                    </a:solidFill>
                  </a:tcPr>
                </a:tc>
                <a:tc>
                  <a:txBody>
                    <a:bodyPr/>
                    <a:lstStyle/>
                    <a:p>
                      <a:pPr algn="l"/>
                      <a:r>
                        <a:rPr sz="1100" b="0">
                          <a:solidFill>
                            <a:srgbClr val="2E2E2E"/>
                          </a:solidFill>
                          <a:latin typeface="Calibri"/>
                        </a:rPr>
                        <a:t>0.19</a:t>
                      </a:r>
                      <a:endParaRPr sz="1100"/>
                    </a:p>
                  </a:txBody>
                  <a:tcPr marL="47625" marR="38100" marT="19050" marB="19050" anchor="ctr">
                    <a:solidFill>
                      <a:srgbClr val="F5F8FA"/>
                    </a:solidFill>
                  </a:tcPr>
                </a:tc>
                <a:tc>
                  <a:txBody>
                    <a:bodyPr/>
                    <a:lstStyle/>
                    <a:p>
                      <a:pPr algn="l"/>
                      <a:r>
                        <a:rPr sz="1100" b="0">
                          <a:solidFill>
                            <a:srgbClr val="2E2E2E"/>
                          </a:solidFill>
                          <a:latin typeface="Calibri"/>
                        </a:rPr>
                        <a:t>0.19</a:t>
                      </a:r>
                      <a:endParaRPr sz="1100"/>
                    </a:p>
                  </a:txBody>
                  <a:tcPr marL="47625" marR="38100" marT="19050" marB="19050" anchor="ctr">
                    <a:solidFill>
                      <a:srgbClr val="F5F8FA"/>
                    </a:solidFill>
                  </a:tcPr>
                </a:tc>
                <a:tc>
                  <a:txBody>
                    <a:bodyPr/>
                    <a:lstStyle/>
                    <a:p>
                      <a:pPr algn="l"/>
                      <a:r>
                        <a:rPr sz="1100" b="0">
                          <a:solidFill>
                            <a:srgbClr val="2E2E2E"/>
                          </a:solidFill>
                          <a:latin typeface="Calibri"/>
                        </a:rPr>
                        <a:t>0.19</a:t>
                      </a:r>
                      <a:endParaRPr sz="1100"/>
                    </a:p>
                  </a:txBody>
                  <a:tcPr marL="47625" marR="38100" marT="19050" marB="19050" anchor="ctr">
                    <a:solidFill>
                      <a:srgbClr val="F5F8FA"/>
                    </a:solidFill>
                  </a:tcPr>
                </a:tc>
                <a:tc>
                  <a:txBody>
                    <a:bodyPr/>
                    <a:lstStyle/>
                    <a:p>
                      <a:pPr algn="l"/>
                      <a:r>
                        <a:rPr sz="1100" b="0">
                          <a:solidFill>
                            <a:srgbClr val="2E2E2E"/>
                          </a:solidFill>
                          <a:latin typeface="Calibri"/>
                        </a:rPr>
                        <a:t>0.20</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16027">
                <a:tc>
                  <a:txBody>
                    <a:bodyPr/>
                    <a:lstStyle/>
                    <a:p>
                      <a:pPr algn="l"/>
                      <a:r>
                        <a:rPr sz="1100" b="1">
                          <a:solidFill>
                            <a:srgbClr val="2E2E2E"/>
                          </a:solidFill>
                          <a:latin typeface="Calibri"/>
                        </a:rPr>
                        <a:t>Powder</a:t>
                      </a:r>
                      <a:endParaRPr sz="1100"/>
                    </a:p>
                  </a:txBody>
                  <a:tcPr marL="47625" marR="38100" marT="19050" marB="19050" anchor="ctr">
                    <a:solidFill>
                      <a:srgbClr val="FFFFFF"/>
                    </a:solidFill>
                  </a:tcPr>
                </a:tc>
                <a:tc>
                  <a:txBody>
                    <a:bodyPr/>
                    <a:lstStyle/>
                    <a:p>
                      <a:pPr algn="l"/>
                      <a:r>
                        <a:rPr sz="1100" b="0">
                          <a:solidFill>
                            <a:srgbClr val="2E2E2E"/>
                          </a:solidFill>
                          <a:latin typeface="Calibri"/>
                        </a:rPr>
                        <a:t>0.92</a:t>
                      </a:r>
                      <a:endParaRPr sz="1100"/>
                    </a:p>
                  </a:txBody>
                  <a:tcPr marL="47625" marR="38100" marT="19050" marB="19050" anchor="ctr">
                    <a:solidFill>
                      <a:srgbClr val="FFFFFF"/>
                    </a:solidFill>
                  </a:tcPr>
                </a:tc>
                <a:tc>
                  <a:txBody>
                    <a:bodyPr/>
                    <a:lstStyle/>
                    <a:p>
                      <a:pPr algn="l"/>
                      <a:r>
                        <a:rPr sz="1100" b="0">
                          <a:solidFill>
                            <a:srgbClr val="2E2E2E"/>
                          </a:solidFill>
                          <a:latin typeface="Calibri"/>
                        </a:rPr>
                        <a:t>0.92</a:t>
                      </a:r>
                      <a:endParaRPr sz="1100"/>
                    </a:p>
                  </a:txBody>
                  <a:tcPr marL="47625" marR="38100" marT="19050" marB="19050" anchor="ctr">
                    <a:solidFill>
                      <a:srgbClr val="FFFFFF"/>
                    </a:solidFill>
                  </a:tcPr>
                </a:tc>
                <a:tc>
                  <a:txBody>
                    <a:bodyPr/>
                    <a:lstStyle/>
                    <a:p>
                      <a:pPr algn="l"/>
                      <a:r>
                        <a:rPr sz="1100" b="0">
                          <a:solidFill>
                            <a:srgbClr val="2E2E2E"/>
                          </a:solidFill>
                          <a:latin typeface="Calibri"/>
                        </a:rPr>
                        <a:t>0.94</a:t>
                      </a:r>
                      <a:endParaRPr sz="1100"/>
                    </a:p>
                  </a:txBody>
                  <a:tcPr marL="47625" marR="38100" marT="19050" marB="19050" anchor="ctr">
                    <a:solidFill>
                      <a:srgbClr val="FFFFFF"/>
                    </a:solidFill>
                  </a:tcPr>
                </a:tc>
                <a:tc>
                  <a:txBody>
                    <a:bodyPr/>
                    <a:lstStyle/>
                    <a:p>
                      <a:pPr algn="l"/>
                      <a:r>
                        <a:rPr sz="1100" b="0">
                          <a:solidFill>
                            <a:srgbClr val="2E2E2E"/>
                          </a:solidFill>
                          <a:latin typeface="Calibri"/>
                        </a:rPr>
                        <a:t>0.95</a:t>
                      </a:r>
                      <a:endParaRPr sz="1100"/>
                    </a:p>
                  </a:txBody>
                  <a:tcPr marL="47625" marR="38100" marT="19050" marB="19050" anchor="ctr">
                    <a:solidFill>
                      <a:srgbClr val="FFFFFF"/>
                    </a:solidFill>
                  </a:tcPr>
                </a:tc>
                <a:tc>
                  <a:txBody>
                    <a:bodyPr/>
                    <a:lstStyle/>
                    <a:p>
                      <a:pPr algn="l"/>
                      <a:r>
                        <a:rPr sz="1100" b="0">
                          <a:solidFill>
                            <a:srgbClr val="2E2E2E"/>
                          </a:solidFill>
                          <a:latin typeface="Calibri"/>
                        </a:rPr>
                        <a:t>0.97</a:t>
                      </a:r>
                      <a:endParaRPr sz="1100"/>
                    </a:p>
                  </a:txBody>
                  <a:tcPr marL="47625" marR="38100" marT="19050" marB="19050" anchor="ctr">
                    <a:solidFill>
                      <a:srgbClr val="FFFFFF"/>
                    </a:solidFill>
                  </a:tcPr>
                </a:tc>
                <a:tc>
                  <a:txBody>
                    <a:bodyPr/>
                    <a:lstStyle/>
                    <a:p>
                      <a:pPr algn="l"/>
                      <a:r>
                        <a:rPr sz="1100" b="0">
                          <a:solidFill>
                            <a:srgbClr val="2E2E2E"/>
                          </a:solidFill>
                          <a:latin typeface="Calibri"/>
                        </a:rPr>
                        <a:t>0.99</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16027">
                <a:tc>
                  <a:txBody>
                    <a:bodyPr/>
                    <a:lstStyle/>
                    <a:p>
                      <a:pPr algn="l"/>
                      <a:r>
                        <a:rPr sz="1100" b="1">
                          <a:solidFill>
                            <a:srgbClr val="2E2E2E"/>
                          </a:solidFill>
                          <a:latin typeface="Calibri"/>
                        </a:rPr>
                        <a:t>Bar</a:t>
                      </a:r>
                      <a:endParaRPr sz="1100"/>
                    </a:p>
                  </a:txBody>
                  <a:tcPr marL="47625" marR="38100" marT="19050" marB="19050" anchor="ctr">
                    <a:solidFill>
                      <a:srgbClr val="F5F8FA"/>
                    </a:solidFill>
                  </a:tcPr>
                </a:tc>
                <a:tc>
                  <a:txBody>
                    <a:bodyPr/>
                    <a:lstStyle/>
                    <a:p>
                      <a:pPr algn="l"/>
                      <a:r>
                        <a:rPr sz="1100" b="0">
                          <a:solidFill>
                            <a:srgbClr val="2E2E2E"/>
                          </a:solidFill>
                          <a:latin typeface="Calibri"/>
                        </a:rPr>
                        <a:t>1.71</a:t>
                      </a:r>
                      <a:endParaRPr sz="1100"/>
                    </a:p>
                  </a:txBody>
                  <a:tcPr marL="47625" marR="38100" marT="19050" marB="19050" anchor="ctr">
                    <a:solidFill>
                      <a:srgbClr val="F5F8FA"/>
                    </a:solidFill>
                  </a:tcPr>
                </a:tc>
                <a:tc>
                  <a:txBody>
                    <a:bodyPr/>
                    <a:lstStyle/>
                    <a:p>
                      <a:pPr algn="l"/>
                      <a:r>
                        <a:rPr sz="1100" b="0">
                          <a:solidFill>
                            <a:srgbClr val="2E2E2E"/>
                          </a:solidFill>
                          <a:latin typeface="Calibri"/>
                        </a:rPr>
                        <a:t>1.73</a:t>
                      </a:r>
                      <a:endParaRPr sz="1100"/>
                    </a:p>
                  </a:txBody>
                  <a:tcPr marL="47625" marR="38100" marT="19050" marB="19050" anchor="ctr">
                    <a:solidFill>
                      <a:srgbClr val="F5F8FA"/>
                    </a:solidFill>
                  </a:tcPr>
                </a:tc>
                <a:tc>
                  <a:txBody>
                    <a:bodyPr/>
                    <a:lstStyle/>
                    <a:p>
                      <a:pPr algn="l"/>
                      <a:r>
                        <a:rPr sz="1100" b="0">
                          <a:solidFill>
                            <a:srgbClr val="2E2E2E"/>
                          </a:solidFill>
                          <a:latin typeface="Calibri"/>
                        </a:rPr>
                        <a:t>1.75</a:t>
                      </a:r>
                      <a:endParaRPr sz="1100"/>
                    </a:p>
                  </a:txBody>
                  <a:tcPr marL="47625" marR="38100" marT="19050" marB="19050" anchor="ctr">
                    <a:solidFill>
                      <a:srgbClr val="F5F8FA"/>
                    </a:solidFill>
                  </a:tcPr>
                </a:tc>
                <a:tc>
                  <a:txBody>
                    <a:bodyPr/>
                    <a:lstStyle/>
                    <a:p>
                      <a:pPr algn="l"/>
                      <a:r>
                        <a:rPr sz="1100" b="0">
                          <a:solidFill>
                            <a:srgbClr val="2E2E2E"/>
                          </a:solidFill>
                          <a:latin typeface="Calibri"/>
                        </a:rPr>
                        <a:t>1.78</a:t>
                      </a:r>
                      <a:endParaRPr sz="1100"/>
                    </a:p>
                  </a:txBody>
                  <a:tcPr marL="47625" marR="38100" marT="19050" marB="19050" anchor="ctr">
                    <a:solidFill>
                      <a:srgbClr val="F5F8FA"/>
                    </a:solidFill>
                  </a:tcPr>
                </a:tc>
                <a:tc>
                  <a:txBody>
                    <a:bodyPr/>
                    <a:lstStyle/>
                    <a:p>
                      <a:pPr algn="l"/>
                      <a:r>
                        <a:rPr sz="1100" b="0">
                          <a:solidFill>
                            <a:srgbClr val="2E2E2E"/>
                          </a:solidFill>
                          <a:latin typeface="Calibri"/>
                        </a:rPr>
                        <a:t>1.80</a:t>
                      </a:r>
                      <a:endParaRPr sz="1100"/>
                    </a:p>
                  </a:txBody>
                  <a:tcPr marL="47625" marR="38100" marT="19050" marB="19050" anchor="ctr">
                    <a:solidFill>
                      <a:srgbClr val="F5F8FA"/>
                    </a:solidFill>
                  </a:tcPr>
                </a:tc>
                <a:tc>
                  <a:txBody>
                    <a:bodyPr/>
                    <a:lstStyle/>
                    <a:p>
                      <a:pPr algn="l"/>
                      <a:r>
                        <a:rPr sz="1100" b="0">
                          <a:solidFill>
                            <a:srgbClr val="2E2E2E"/>
                          </a:solidFill>
                          <a:latin typeface="Calibri"/>
                        </a:rPr>
                        <a:t>1.83</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16027">
                <a:tc>
                  <a:txBody>
                    <a:bodyPr/>
                    <a:lstStyle/>
                    <a:p>
                      <a:pPr algn="l"/>
                      <a:r>
                        <a:rPr sz="1100" b="1">
                          <a:solidFill>
                            <a:srgbClr val="2E2E2E"/>
                          </a:solidFill>
                          <a:latin typeface="Calibri"/>
                        </a:rPr>
                        <a:t>Liquid</a:t>
                      </a:r>
                      <a:endParaRPr sz="1100"/>
                    </a:p>
                  </a:txBody>
                  <a:tcPr marL="47625" marR="38100" marT="19050" marB="19050" anchor="ctr">
                    <a:solidFill>
                      <a:srgbClr val="FFFFFF"/>
                    </a:solidFill>
                  </a:tcPr>
                </a:tc>
                <a:tc>
                  <a:txBody>
                    <a:bodyPr/>
                    <a:lstStyle/>
                    <a:p>
                      <a:pPr algn="l"/>
                      <a:r>
                        <a:rPr sz="1100" b="0">
                          <a:solidFill>
                            <a:srgbClr val="2E2E2E"/>
                          </a:solidFill>
                          <a:latin typeface="Calibri"/>
                        </a:rPr>
                        <a:t>0.64</a:t>
                      </a:r>
                      <a:endParaRPr sz="1100"/>
                    </a:p>
                  </a:txBody>
                  <a:tcPr marL="47625" marR="38100" marT="19050" marB="19050" anchor="ctr">
                    <a:solidFill>
                      <a:srgbClr val="FFFFFF"/>
                    </a:solidFill>
                  </a:tcPr>
                </a:tc>
                <a:tc>
                  <a:txBody>
                    <a:bodyPr/>
                    <a:lstStyle/>
                    <a:p>
                      <a:pPr algn="l"/>
                      <a:r>
                        <a:rPr sz="1100" b="0">
                          <a:solidFill>
                            <a:srgbClr val="2E2E2E"/>
                          </a:solidFill>
                          <a:latin typeface="Calibri"/>
                        </a:rPr>
                        <a:t>0.65</a:t>
                      </a:r>
                      <a:endParaRPr sz="1100"/>
                    </a:p>
                  </a:txBody>
                  <a:tcPr marL="47625" marR="38100" marT="19050" marB="19050" anchor="ctr">
                    <a:solidFill>
                      <a:srgbClr val="FFFFFF"/>
                    </a:solidFill>
                  </a:tcPr>
                </a:tc>
                <a:tc>
                  <a:txBody>
                    <a:bodyPr/>
                    <a:lstStyle/>
                    <a:p>
                      <a:pPr algn="l"/>
                      <a:r>
                        <a:rPr sz="1100" b="0">
                          <a:solidFill>
                            <a:srgbClr val="2E2E2E"/>
                          </a:solidFill>
                          <a:latin typeface="Calibri"/>
                        </a:rPr>
                        <a:t>0.66</a:t>
                      </a:r>
                      <a:endParaRPr sz="1100"/>
                    </a:p>
                  </a:txBody>
                  <a:tcPr marL="47625" marR="38100" marT="19050" marB="19050" anchor="ctr">
                    <a:solidFill>
                      <a:srgbClr val="FFFFFF"/>
                    </a:solidFill>
                  </a:tcPr>
                </a:tc>
                <a:tc>
                  <a:txBody>
                    <a:bodyPr/>
                    <a:lstStyle/>
                    <a:p>
                      <a:pPr algn="l"/>
                      <a:r>
                        <a:rPr sz="1100" b="0">
                          <a:solidFill>
                            <a:srgbClr val="2E2E2E"/>
                          </a:solidFill>
                          <a:latin typeface="Calibri"/>
                        </a:rPr>
                        <a:t>0.67</a:t>
                      </a:r>
                      <a:endParaRPr sz="1100"/>
                    </a:p>
                  </a:txBody>
                  <a:tcPr marL="47625" marR="38100" marT="19050" marB="19050" anchor="ctr">
                    <a:solidFill>
                      <a:srgbClr val="FFFFFF"/>
                    </a:solidFill>
                  </a:tcPr>
                </a:tc>
                <a:tc>
                  <a:txBody>
                    <a:bodyPr/>
                    <a:lstStyle/>
                    <a:p>
                      <a:pPr algn="l"/>
                      <a:r>
                        <a:rPr sz="1100" b="0">
                          <a:solidFill>
                            <a:srgbClr val="2E2E2E"/>
                          </a:solidFill>
                          <a:latin typeface="Calibri"/>
                        </a:rPr>
                        <a:t>0.68</a:t>
                      </a:r>
                      <a:endParaRPr sz="1100"/>
                    </a:p>
                  </a:txBody>
                  <a:tcPr marL="47625" marR="38100" marT="19050" marB="19050" anchor="ctr">
                    <a:solidFill>
                      <a:srgbClr val="FFFFFF"/>
                    </a:solidFill>
                  </a:tcPr>
                </a:tc>
                <a:tc>
                  <a:txBody>
                    <a:bodyPr/>
                    <a:lstStyle/>
                    <a:p>
                      <a:pPr algn="l"/>
                      <a:r>
                        <a:rPr sz="1100" b="0">
                          <a:solidFill>
                            <a:srgbClr val="2E2E2E"/>
                          </a:solidFill>
                          <a:latin typeface="Calibri"/>
                        </a:rPr>
                        <a:t>0.69</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219075" y="2543175"/>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0A2A63"/>
        </a:solidFill>
        <a:effectLst/>
      </p:bgPr>
    </p:bg>
    <p:spTree>
      <p:nvGrpSpPr>
        <p:cNvPr id="1" name=""/>
        <p:cNvGrpSpPr/>
        <p:nvPr/>
      </p:nvGrpSpPr>
      <p:grpSpPr>
        <a:xfrm>
          <a:off x="0" y="0"/>
          <a:ext cx="0" cy="0"/>
          <a:chOff x="0" y="0"/>
          <a:chExt cx="0" cy="0"/>
        </a:xfrm>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ang="19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mi_logo_template.png"/>
          <p:cNvPicPr>
            <a:picLocks noChangeAspect="1"/>
          </p:cNvPicPr>
          <p:nvPr/>
        </p:nvPicPr>
        <p:blipFill>
          <a:blip r:embed="rId3"/>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Prenatal Vitamin Supplements Market</a:t>
            </a:r>
          </a:p>
        </p:txBody>
      </p:sp>
      <p:sp>
        <p:nvSpPr>
          <p:cNvPr id="6" name="FMI Breaker Title"/>
          <p:cNvSpPr txBox="1"/>
          <p:nvPr/>
        </p:nvSpPr>
        <p:spPr>
          <a:xfrm>
            <a:off x="914400" y="3698875"/>
            <a:ext cx="7239000" cy="514350"/>
          </a:xfrm>
          <a:prstGeom prst="rect">
            <a:avLst/>
          </a:prstGeom>
          <a:noFill/>
        </p:spPr>
        <p:txBody>
          <a:bodyPr wrap="square" lIns="0" tIns="0" r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FFD447"/>
                </a:solidFill>
                <a:latin typeface="Calibri"/>
              </a:rPr>
              <a:t>➤	Supply Chain Analysis</a:t>
            </a:r>
          </a:p>
        </p:txBody>
      </p:sp>
      <p:sp>
        <p:nvSpPr>
          <p:cNvPr id="8" name="TextBox 7"/>
          <p:cNvSpPr txBox="1"/>
          <p:nvPr/>
        </p:nvSpPr>
        <p:spPr>
          <a:xfrm>
            <a:off x="4000500" y="6734175"/>
            <a:ext cx="8020050" cy="123825"/>
          </a:xfrm>
          <a:prstGeom prst="rect">
            <a:avLst/>
          </a:prstGeom>
          <a:noFill/>
        </p:spPr>
        <p:txBody>
          <a:bodyPr wrap="square" lIns="28575" tIns="9525" rIns="2857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Prenatal Vitamin Supplements Market</a:t>
            </a:r>
          </a:p>
        </p:txBody>
      </p:sp>
      <p:sp>
        <p:nvSpPr>
          <p:cNvPr id="10" name="FMI Section Title"/>
          <p:cNvSpPr txBox="1"/>
          <p:nvPr/>
        </p:nvSpPr>
        <p:spPr>
          <a:xfrm>
            <a:off x="914400" y="3095625"/>
            <a:ext cx="8572500" cy="514350"/>
          </a:xfrm>
          <a:prstGeom prst="rect">
            <a:avLst/>
          </a:prstGeom>
          <a:noFill/>
        </p:spPr>
        <p:txBody>
          <a:bodyPr wrap="square" lIns="0" tIns="0" rIns="0">
            <a:spAutoFit/>
          </a:bodyPr>
          <a:lstStyle/>
          <a:p>
            <a:r>
              <a:rPr sz="3000" b="1">
                <a:solidFill>
                  <a:srgbClr val="0B3C8C"/>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Value Chain &amp; Stakeholder Mapping</a:t>
            </a:r>
          </a:p>
          <a:p>
            <a:pPr marL="342900" indent="-323850">
              <a:lnSpc>
                <a:spcPct val="100000"/>
              </a:lnSpc>
              <a:spcAft>
                <a:spcPts val="800"/>
              </a:spcAft>
            </a:pPr>
            <a:r>
              <a:rPr sz="2000" b="0">
                <a:solidFill>
                  <a:srgbClr val="000000"/>
                </a:solidFill>
                <a:latin typeface="Calibri"/>
              </a:rPr>
              <a:t>➤	Operating Margin Analysis</a:t>
            </a:r>
          </a:p>
          <a:p>
            <a:pPr marL="342900" indent="-323850">
              <a:lnSpc>
                <a:spcPct val="100000"/>
              </a:lnSpc>
              <a:spcAft>
                <a:spcPts val="800"/>
              </a:spcAft>
            </a:pPr>
            <a:r>
              <a:rPr sz="2000" b="0">
                <a:solidFill>
                  <a:srgbClr val="000000"/>
                </a:solidFill>
                <a:latin typeface="Calibri"/>
              </a:rPr>
              <a:t>➤	Buyers Assessment</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Prenatal Vitamin Supplements Market Value Chain &amp; Stakeholder Mapping</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Mapping of the value chain stages, the stakeholders at each stage and the value added along the chain</a:t>
            </a:r>
          </a:p>
        </p:txBody>
      </p:sp>
      <p:sp>
        <p:nvSpPr>
          <p:cNvPr id="10" name="TextBox 9"/>
          <p:cNvSpPr txBox="1"/>
          <p:nvPr/>
        </p:nvSpPr>
        <p:spPr>
          <a:xfrm>
            <a:off x="285750" y="970754"/>
            <a:ext cx="10668000" cy="164283"/>
          </a:xfrm>
          <a:prstGeom prst="rect">
            <a:avLst/>
          </a:prstGeom>
          <a:noFill/>
        </p:spPr>
        <p:txBody>
          <a:bodyPr wrap="square" lIns="0" tIns="0" rIns="19050" bIns="0">
            <a:spAutoFit/>
          </a:bodyPr>
          <a:lstStyle/>
          <a:p>
            <a:pPr algn="l"/>
            <a:r>
              <a:rPr sz="1100" b="0">
                <a:solidFill>
                  <a:srgbClr val="6C7A89"/>
                </a:solidFill>
                <a:latin typeface="Calibri"/>
              </a:rPr>
              <a:t>End-to-end value chain with the key stakeholders at each stage and their indicative contribution to value addition.</a:t>
            </a:r>
          </a:p>
        </p:txBody>
      </p:sp>
      <p:sp>
        <p:nvSpPr>
          <p:cNvPr id="11" name="Right Arrow 10"/>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ight Arrow 12"/>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ight Arrow 13"/>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9100" y="1262813"/>
            <a:ext cx="2209800" cy="346820"/>
          </a:xfrm>
          <a:prstGeom prst="rect">
            <a:avLst/>
          </a:prstGeom>
          <a:noFill/>
        </p:spPr>
        <p:txBody>
          <a:bodyPr wrap="square" lIns="28575" tIns="9525" rIns="2857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6" name="Oval 15"/>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3950" y="1719155"/>
            <a:ext cx="800100" cy="766655"/>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000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6F3CC2"/>
                </a:solidFill>
                <a:latin typeface="Calibri"/>
              </a:rPr>
              <a:t>▲ 5–10%</a:t>
            </a:r>
          </a:p>
        </p:txBody>
      </p:sp>
      <p:sp>
        <p:nvSpPr>
          <p:cNvPr id="22" name="Rounded Rectangle 21"/>
          <p:cNvSpPr/>
          <p:nvPr/>
        </p:nvSpPr>
        <p:spPr>
          <a:xfrm>
            <a:off x="457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2905646"/>
            <a:ext cx="2133600" cy="4563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2925" y="3015168"/>
            <a:ext cx="1962150" cy="219044"/>
          </a:xfrm>
          <a:prstGeom prst="rect">
            <a:avLst/>
          </a:prstGeom>
          <a:noFill/>
        </p:spPr>
        <p:txBody>
          <a:bodyPr wrap="square" lIns="28575" tIns="9525" rIns="28575" bIns="9525">
            <a:spAutoFit/>
          </a:bodyPr>
          <a:lstStyle/>
          <a:p>
            <a:pPr algn="l">
              <a:lnSpc>
                <a:spcPct val="105000"/>
              </a:lnSpc>
            </a:pPr>
            <a:r>
              <a:rPr sz="1150" b="1">
                <a:solidFill>
                  <a:srgbClr val="0B2E4A"/>
                </a:solidFill>
                <a:latin typeface="Calibri"/>
              </a:rPr>
              <a:t>Raw Material Suppliers</a:t>
            </a:r>
          </a:p>
        </p:txBody>
      </p:sp>
      <p:sp>
        <p:nvSpPr>
          <p:cNvPr id="25" name="TextBox 24"/>
          <p:cNvSpPr txBox="1"/>
          <p:nvPr/>
        </p:nvSpPr>
        <p:spPr>
          <a:xfrm>
            <a:off x="542925" y="3234212"/>
            <a:ext cx="1962150" cy="182537"/>
          </a:xfrm>
          <a:prstGeom prst="rect">
            <a:avLst/>
          </a:prstGeom>
          <a:noFill/>
        </p:spPr>
        <p:txBody>
          <a:bodyPr wrap="square" lIns="28575" tIns="9525" rIns="28575" bIns="9525">
            <a:spAutoFit/>
          </a:bodyPr>
          <a:lstStyle/>
          <a:p>
            <a:pPr algn="l">
              <a:lnSpc>
                <a:spcPct val="100000"/>
              </a:lnSpc>
            </a:pPr>
            <a:r>
              <a:rPr sz="1100" b="0">
                <a:solidFill>
                  <a:srgbClr val="6C7A89"/>
                </a:solidFill>
                <a:latin typeface="Calibri"/>
              </a:rPr>
              <a:t>Base Year: 2026</a:t>
            </a:r>
          </a:p>
        </p:txBody>
      </p:sp>
      <p:sp>
        <p:nvSpPr>
          <p:cNvPr id="26" name="TextBox 25"/>
          <p:cNvSpPr txBox="1"/>
          <p:nvPr/>
        </p:nvSpPr>
        <p:spPr>
          <a:xfrm>
            <a:off x="542925" y="3453257"/>
            <a:ext cx="1962150" cy="1642833"/>
          </a:xfrm>
          <a:prstGeom prst="rect">
            <a:avLst/>
          </a:prstGeom>
          <a:noFill/>
        </p:spPr>
        <p:txBody>
          <a:bodyPr wrap="square" lIns="28575" tIns="9525" rIns="28575" bIns="9525">
            <a:spAutoFit/>
          </a:bodyPr>
          <a:lstStyle/>
          <a:p>
            <a:pPr algn="l">
              <a:lnSpc>
                <a:spcPct val="122000"/>
              </a:lnSpc>
            </a:pPr>
            <a:r>
              <a:rPr sz="1100" b="0">
                <a:solidFill>
                  <a:srgbClr val="2E2E2E"/>
                </a:solidFill>
                <a:latin typeface="Calibri"/>
              </a:rPr>
              <a:t>Growers and primary producers supply core inputs; some forward-integrate into small-scale processing.</a:t>
            </a:r>
          </a:p>
        </p:txBody>
      </p:sp>
      <p:sp>
        <p:nvSpPr>
          <p:cNvPr id="27" name="TextBox 26"/>
          <p:cNvSpPr txBox="1"/>
          <p:nvPr/>
        </p:nvSpPr>
        <p:spPr>
          <a:xfrm>
            <a:off x="2705100" y="1262813"/>
            <a:ext cx="2209800" cy="346820"/>
          </a:xfrm>
          <a:prstGeom prst="rect">
            <a:avLst/>
          </a:prstGeom>
          <a:noFill/>
        </p:spPr>
        <p:txBody>
          <a:bodyPr wrap="square" lIns="28575" tIns="9525" rIns="28575" bIns="9525" anchor="b">
            <a:spAutoFit/>
          </a:bodyPr>
          <a:lstStyle/>
          <a:p>
            <a:pPr algn="ctr">
              <a:lnSpc>
                <a:spcPct val="100000"/>
              </a:lnSpc>
            </a:pPr>
            <a:r>
              <a:rPr sz="1100" b="1">
                <a:solidFill>
                  <a:srgbClr val="0B2E4A"/>
                </a:solidFill>
                <a:latin typeface="Calibri"/>
              </a:rPr>
              <a:t>Manufacturers</a:t>
            </a:r>
          </a:p>
        </p:txBody>
      </p:sp>
      <p:sp>
        <p:nvSpPr>
          <p:cNvPr id="28" name="Oval 27"/>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409950" y="1719155"/>
            <a:ext cx="800100" cy="766655"/>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3286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6F3CC2"/>
                </a:solidFill>
                <a:latin typeface="Calibri"/>
              </a:rPr>
              <a:t>▲ 20–40%</a:t>
            </a:r>
          </a:p>
        </p:txBody>
      </p:sp>
      <p:sp>
        <p:nvSpPr>
          <p:cNvPr id="35" name="Rounded Rectangle 34"/>
          <p:cNvSpPr/>
          <p:nvPr/>
        </p:nvSpPr>
        <p:spPr>
          <a:xfrm>
            <a:off x="2743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743200" y="2905646"/>
            <a:ext cx="2133600" cy="4563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828925" y="3015168"/>
            <a:ext cx="1962150" cy="219044"/>
          </a:xfrm>
          <a:prstGeom prst="rect">
            <a:avLst/>
          </a:prstGeom>
          <a:noFill/>
        </p:spPr>
        <p:txBody>
          <a:bodyPr wrap="square" lIns="28575" tIns="9525" rIns="28575" bIns="9525">
            <a:spAutoFit/>
          </a:bodyPr>
          <a:lstStyle/>
          <a:p>
            <a:pPr algn="l">
              <a:lnSpc>
                <a:spcPct val="105000"/>
              </a:lnSpc>
            </a:pPr>
            <a:r>
              <a:rPr sz="1150" b="1">
                <a:solidFill>
                  <a:srgbClr val="0B2E4A"/>
                </a:solidFill>
                <a:latin typeface="Calibri"/>
              </a:rPr>
              <a:t>Manufacturers / Processors</a:t>
            </a:r>
          </a:p>
        </p:txBody>
      </p:sp>
      <p:sp>
        <p:nvSpPr>
          <p:cNvPr id="38" name="TextBox 37"/>
          <p:cNvSpPr txBox="1"/>
          <p:nvPr/>
        </p:nvSpPr>
        <p:spPr>
          <a:xfrm>
            <a:off x="2828925" y="3234212"/>
            <a:ext cx="1962150" cy="182537"/>
          </a:xfrm>
          <a:prstGeom prst="rect">
            <a:avLst/>
          </a:prstGeom>
          <a:noFill/>
        </p:spPr>
        <p:txBody>
          <a:bodyPr wrap="square" lIns="28575" tIns="9525" rIns="28575" bIns="9525">
            <a:spAutoFit/>
          </a:bodyPr>
          <a:lstStyle/>
          <a:p>
            <a:pPr algn="l">
              <a:lnSpc>
                <a:spcPct val="100000"/>
              </a:lnSpc>
            </a:pPr>
            <a:r>
              <a:rPr sz="1100" b="0">
                <a:solidFill>
                  <a:srgbClr val="6C7A89"/>
                </a:solidFill>
                <a:latin typeface="Calibri"/>
              </a:rPr>
              <a:t>Base Year: 2026</a:t>
            </a:r>
          </a:p>
        </p:txBody>
      </p:sp>
      <p:sp>
        <p:nvSpPr>
          <p:cNvPr id="39" name="TextBox 38"/>
          <p:cNvSpPr txBox="1"/>
          <p:nvPr/>
        </p:nvSpPr>
        <p:spPr>
          <a:xfrm>
            <a:off x="2828925" y="3453257"/>
            <a:ext cx="1962150" cy="1642833"/>
          </a:xfrm>
          <a:prstGeom prst="rect">
            <a:avLst/>
          </a:prstGeom>
          <a:noFill/>
        </p:spPr>
        <p:txBody>
          <a:bodyPr wrap="square" lIns="28575" tIns="9525" rIns="28575" bIns="9525">
            <a:spAutoFit/>
          </a:bodyPr>
          <a:lstStyle/>
          <a:p>
            <a:pPr algn="l">
              <a:lnSpc>
                <a:spcPct val="122000"/>
              </a:lnSpc>
            </a:pPr>
            <a:r>
              <a:rPr sz="1100" b="0">
                <a:solidFill>
                  <a:srgbClr val="2E2E2E"/>
                </a:solidFill>
                <a:latin typeface="Calibri"/>
              </a:rPr>
              <a:t>Convert inputs into finished and semi-finished product the single largest value-addition stage.</a:t>
            </a:r>
          </a:p>
        </p:txBody>
      </p:sp>
      <p:sp>
        <p:nvSpPr>
          <p:cNvPr id="40" name="TextBox 39"/>
          <p:cNvSpPr txBox="1"/>
          <p:nvPr/>
        </p:nvSpPr>
        <p:spPr>
          <a:xfrm>
            <a:off x="4991100" y="1262813"/>
            <a:ext cx="2209800" cy="346820"/>
          </a:xfrm>
          <a:prstGeom prst="rect">
            <a:avLst/>
          </a:prstGeom>
          <a:noFill/>
        </p:spPr>
        <p:txBody>
          <a:bodyPr wrap="square" lIns="28575" tIns="9525" rIns="28575" bIns="9525" anchor="b">
            <a:spAutoFit/>
          </a:bodyPr>
          <a:lstStyle/>
          <a:p>
            <a:pPr algn="ctr">
              <a:lnSpc>
                <a:spcPct val="100000"/>
              </a:lnSpc>
            </a:pPr>
            <a:r>
              <a:rPr sz="1100" b="1">
                <a:solidFill>
                  <a:srgbClr val="0B2E4A"/>
                </a:solidFill>
                <a:latin typeface="Calibri"/>
              </a:rPr>
              <a:t>Distributors</a:t>
            </a:r>
          </a:p>
        </p:txBody>
      </p:sp>
      <p:sp>
        <p:nvSpPr>
          <p:cNvPr id="41" name="Oval 40"/>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5695950" y="1719155"/>
            <a:ext cx="800100" cy="76665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5972175"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153150"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5572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6F3CC2"/>
                </a:solidFill>
                <a:latin typeface="Calibri"/>
              </a:rPr>
              <a:t>▲ 5–25%</a:t>
            </a:r>
          </a:p>
        </p:txBody>
      </p:sp>
      <p:sp>
        <p:nvSpPr>
          <p:cNvPr id="48" name="Rounded Rectangle 47"/>
          <p:cNvSpPr/>
          <p:nvPr/>
        </p:nvSpPr>
        <p:spPr>
          <a:xfrm>
            <a:off x="5029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5029200" y="2905646"/>
            <a:ext cx="2133600" cy="4563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114925" y="3015168"/>
            <a:ext cx="1962150" cy="219044"/>
          </a:xfrm>
          <a:prstGeom prst="rect">
            <a:avLst/>
          </a:prstGeom>
          <a:noFill/>
        </p:spPr>
        <p:txBody>
          <a:bodyPr wrap="square" lIns="28575" tIns="9525" rIns="28575" bIns="9525">
            <a:spAutoFit/>
          </a:bodyPr>
          <a:lstStyle/>
          <a:p>
            <a:pPr algn="l">
              <a:lnSpc>
                <a:spcPct val="105000"/>
              </a:lnSpc>
            </a:pPr>
            <a:r>
              <a:rPr sz="1150" b="1">
                <a:solidFill>
                  <a:srgbClr val="0B2E4A"/>
                </a:solidFill>
                <a:latin typeface="Calibri"/>
              </a:rPr>
              <a:t>Distributors &amp; Wholesalers</a:t>
            </a:r>
          </a:p>
        </p:txBody>
      </p:sp>
      <p:sp>
        <p:nvSpPr>
          <p:cNvPr id="51" name="TextBox 50"/>
          <p:cNvSpPr txBox="1"/>
          <p:nvPr/>
        </p:nvSpPr>
        <p:spPr>
          <a:xfrm>
            <a:off x="5114925" y="3234212"/>
            <a:ext cx="1962150" cy="182537"/>
          </a:xfrm>
          <a:prstGeom prst="rect">
            <a:avLst/>
          </a:prstGeom>
          <a:noFill/>
        </p:spPr>
        <p:txBody>
          <a:bodyPr wrap="square" lIns="28575" tIns="9525" rIns="28575" bIns="9525">
            <a:spAutoFit/>
          </a:bodyPr>
          <a:lstStyle/>
          <a:p>
            <a:pPr algn="l">
              <a:lnSpc>
                <a:spcPct val="100000"/>
              </a:lnSpc>
            </a:pPr>
            <a:r>
              <a:rPr sz="1100" b="0">
                <a:solidFill>
                  <a:srgbClr val="6C7A89"/>
                </a:solidFill>
                <a:latin typeface="Calibri"/>
              </a:rPr>
              <a:t>Base Year: 2026</a:t>
            </a:r>
          </a:p>
        </p:txBody>
      </p:sp>
      <p:sp>
        <p:nvSpPr>
          <p:cNvPr id="52" name="TextBox 51"/>
          <p:cNvSpPr txBox="1"/>
          <p:nvPr/>
        </p:nvSpPr>
        <p:spPr>
          <a:xfrm>
            <a:off x="5114925" y="3453257"/>
            <a:ext cx="1962150" cy="1642833"/>
          </a:xfrm>
          <a:prstGeom prst="rect">
            <a:avLst/>
          </a:prstGeom>
          <a:noFill/>
        </p:spPr>
        <p:txBody>
          <a:bodyPr wrap="square" lIns="28575" tIns="9525" rIns="28575" bIns="9525">
            <a:spAutoFit/>
          </a:bodyPr>
          <a:lstStyle/>
          <a:p>
            <a:pPr algn="l">
              <a:lnSpc>
                <a:spcPct val="122000"/>
              </a:lnSpc>
            </a:pPr>
            <a:r>
              <a:rPr sz="1100" b="0">
                <a:solidFill>
                  <a:srgbClr val="2E2E2E"/>
                </a:solidFill>
                <a:latin typeface="Calibri"/>
              </a:rPr>
              <a:t>Move product to market, hold inventory and provide logistics, reach and credit to downstream channels.</a:t>
            </a:r>
          </a:p>
        </p:txBody>
      </p:sp>
      <p:sp>
        <p:nvSpPr>
          <p:cNvPr id="53" name="TextBox 52"/>
          <p:cNvSpPr txBox="1"/>
          <p:nvPr/>
        </p:nvSpPr>
        <p:spPr>
          <a:xfrm>
            <a:off x="7277100" y="1262813"/>
            <a:ext cx="2209800" cy="346820"/>
          </a:xfrm>
          <a:prstGeom prst="rect">
            <a:avLst/>
          </a:prstGeom>
          <a:noFill/>
        </p:spPr>
        <p:txBody>
          <a:bodyPr wrap="square" lIns="28575" tIns="9525" rIns="28575" bIns="9525" anchor="b">
            <a:spAutoFit/>
          </a:bodyPr>
          <a:lstStyle/>
          <a:p>
            <a:pPr algn="ctr">
              <a:lnSpc>
                <a:spcPct val="100000"/>
              </a:lnSpc>
            </a:pPr>
            <a:r>
              <a:rPr sz="1100" b="1">
                <a:solidFill>
                  <a:srgbClr val="0B2E4A"/>
                </a:solidFill>
                <a:latin typeface="Calibri"/>
              </a:rPr>
              <a:t>Retailers</a:t>
            </a:r>
          </a:p>
        </p:txBody>
      </p:sp>
      <p:sp>
        <p:nvSpPr>
          <p:cNvPr id="54" name="Oval 53"/>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7981950" y="1719155"/>
            <a:ext cx="800100" cy="766655"/>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Isosceles Triangle 55"/>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343900" y="2138990"/>
            <a:ext cx="76200" cy="109522"/>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7858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6F3CC2"/>
                </a:solidFill>
                <a:latin typeface="Calibri"/>
              </a:rPr>
              <a:t>▲ 10–35%</a:t>
            </a:r>
          </a:p>
        </p:txBody>
      </p:sp>
      <p:sp>
        <p:nvSpPr>
          <p:cNvPr id="60" name="Rounded Rectangle 59"/>
          <p:cNvSpPr/>
          <p:nvPr/>
        </p:nvSpPr>
        <p:spPr>
          <a:xfrm>
            <a:off x="7315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7315200" y="2905646"/>
            <a:ext cx="2133600" cy="4563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400925" y="3015168"/>
            <a:ext cx="1962150" cy="219044"/>
          </a:xfrm>
          <a:prstGeom prst="rect">
            <a:avLst/>
          </a:prstGeom>
          <a:noFill/>
        </p:spPr>
        <p:txBody>
          <a:bodyPr wrap="square" lIns="28575" tIns="9525" rIns="28575" bIns="9525">
            <a:spAutoFit/>
          </a:bodyPr>
          <a:lstStyle/>
          <a:p>
            <a:pPr algn="l">
              <a:lnSpc>
                <a:spcPct val="105000"/>
              </a:lnSpc>
            </a:pPr>
            <a:r>
              <a:rPr sz="1150" b="1">
                <a:solidFill>
                  <a:srgbClr val="0B2E4A"/>
                </a:solidFill>
                <a:latin typeface="Calibri"/>
              </a:rPr>
              <a:t>Retailers &amp; Channels</a:t>
            </a:r>
          </a:p>
        </p:txBody>
      </p:sp>
      <p:sp>
        <p:nvSpPr>
          <p:cNvPr id="63" name="TextBox 62"/>
          <p:cNvSpPr txBox="1"/>
          <p:nvPr/>
        </p:nvSpPr>
        <p:spPr>
          <a:xfrm>
            <a:off x="7400925" y="3234212"/>
            <a:ext cx="1962150" cy="182537"/>
          </a:xfrm>
          <a:prstGeom prst="rect">
            <a:avLst/>
          </a:prstGeom>
          <a:noFill/>
        </p:spPr>
        <p:txBody>
          <a:bodyPr wrap="square" lIns="28575" tIns="9525" rIns="28575" bIns="9525">
            <a:spAutoFit/>
          </a:bodyPr>
          <a:lstStyle/>
          <a:p>
            <a:pPr algn="l">
              <a:lnSpc>
                <a:spcPct val="100000"/>
              </a:lnSpc>
            </a:pPr>
            <a:r>
              <a:rPr sz="1100" b="0">
                <a:solidFill>
                  <a:srgbClr val="6C7A89"/>
                </a:solidFill>
                <a:latin typeface="Calibri"/>
              </a:rPr>
              <a:t>Base Year: 2026</a:t>
            </a:r>
          </a:p>
        </p:txBody>
      </p:sp>
      <p:sp>
        <p:nvSpPr>
          <p:cNvPr id="64" name="TextBox 63"/>
          <p:cNvSpPr txBox="1"/>
          <p:nvPr/>
        </p:nvSpPr>
        <p:spPr>
          <a:xfrm>
            <a:off x="7400925" y="3453257"/>
            <a:ext cx="1962150" cy="1642833"/>
          </a:xfrm>
          <a:prstGeom prst="rect">
            <a:avLst/>
          </a:prstGeom>
          <a:noFill/>
        </p:spPr>
        <p:txBody>
          <a:bodyPr wrap="square" lIns="28575" tIns="9525" rIns="28575" bIns="9525">
            <a:spAutoFit/>
          </a:bodyPr>
          <a:lstStyle/>
          <a:p>
            <a:pPr algn="l">
              <a:lnSpc>
                <a:spcPct val="122000"/>
              </a:lnSpc>
            </a:pPr>
            <a:r>
              <a:rPr sz="1100" b="0">
                <a:solidFill>
                  <a:srgbClr val="2E2E2E"/>
                </a:solidFill>
                <a:latin typeface="Calibri"/>
              </a:rPr>
              <a:t>Sell to end customers across offline and online channels, capturing point-of-sale margin and brand visibility.</a:t>
            </a:r>
          </a:p>
        </p:txBody>
      </p:sp>
      <p:sp>
        <p:nvSpPr>
          <p:cNvPr id="65" name="TextBox 64"/>
          <p:cNvSpPr txBox="1"/>
          <p:nvPr/>
        </p:nvSpPr>
        <p:spPr>
          <a:xfrm>
            <a:off x="9563100" y="1262813"/>
            <a:ext cx="2209800" cy="346820"/>
          </a:xfrm>
          <a:prstGeom prst="rect">
            <a:avLst/>
          </a:prstGeom>
          <a:noFill/>
        </p:spPr>
        <p:txBody>
          <a:bodyPr wrap="square" lIns="28575" tIns="9525" rIns="28575" bIns="9525" anchor="b">
            <a:spAutoFit/>
          </a:bodyPr>
          <a:lstStyle/>
          <a:p>
            <a:pPr algn="ctr">
              <a:lnSpc>
                <a:spcPct val="100000"/>
              </a:lnSpc>
            </a:pPr>
            <a:r>
              <a:rPr sz="1100" b="1">
                <a:solidFill>
                  <a:srgbClr val="0B2E4A"/>
                </a:solidFill>
                <a:latin typeface="Calibri"/>
              </a:rPr>
              <a:t>End Users</a:t>
            </a:r>
          </a:p>
        </p:txBody>
      </p:sp>
      <p:sp>
        <p:nvSpPr>
          <p:cNvPr id="66" name="Oval 65"/>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10267950" y="1719155"/>
            <a:ext cx="800100" cy="766655"/>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Freeform 68"/>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9"/>
          <p:cNvSpPr/>
          <p:nvPr/>
        </p:nvSpPr>
        <p:spPr>
          <a:xfrm>
            <a:off x="10144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6F3CC2"/>
                </a:solidFill>
                <a:latin typeface="Calibri"/>
              </a:rPr>
              <a:t>▲ 10–20%</a:t>
            </a:r>
          </a:p>
        </p:txBody>
      </p:sp>
      <p:sp>
        <p:nvSpPr>
          <p:cNvPr id="71" name="Rounded Rectangle 70"/>
          <p:cNvSpPr/>
          <p:nvPr/>
        </p:nvSpPr>
        <p:spPr>
          <a:xfrm>
            <a:off x="9601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9601200" y="2905646"/>
            <a:ext cx="2133600" cy="4563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686925" y="3015168"/>
            <a:ext cx="1962150" cy="219044"/>
          </a:xfrm>
          <a:prstGeom prst="rect">
            <a:avLst/>
          </a:prstGeom>
          <a:noFill/>
        </p:spPr>
        <p:txBody>
          <a:bodyPr wrap="square" lIns="28575" tIns="9525" rIns="28575" bIns="9525">
            <a:spAutoFit/>
          </a:bodyPr>
          <a:lstStyle/>
          <a:p>
            <a:pPr algn="l">
              <a:lnSpc>
                <a:spcPct val="105000"/>
              </a:lnSpc>
            </a:pPr>
            <a:r>
              <a:rPr sz="1150" b="1">
                <a:solidFill>
                  <a:srgbClr val="0B2E4A"/>
                </a:solidFill>
                <a:latin typeface="Calibri"/>
              </a:rPr>
              <a:t>End Users</a:t>
            </a:r>
          </a:p>
        </p:txBody>
      </p:sp>
      <p:sp>
        <p:nvSpPr>
          <p:cNvPr id="74" name="TextBox 73"/>
          <p:cNvSpPr txBox="1"/>
          <p:nvPr/>
        </p:nvSpPr>
        <p:spPr>
          <a:xfrm>
            <a:off x="9686925" y="3234212"/>
            <a:ext cx="1962150" cy="182537"/>
          </a:xfrm>
          <a:prstGeom prst="rect">
            <a:avLst/>
          </a:prstGeom>
          <a:noFill/>
        </p:spPr>
        <p:txBody>
          <a:bodyPr wrap="square" lIns="28575" tIns="9525" rIns="28575" bIns="9525">
            <a:spAutoFit/>
          </a:bodyPr>
          <a:lstStyle/>
          <a:p>
            <a:pPr algn="l">
              <a:lnSpc>
                <a:spcPct val="100000"/>
              </a:lnSpc>
            </a:pPr>
            <a:r>
              <a:rPr sz="1100" b="0">
                <a:solidFill>
                  <a:srgbClr val="6C7A89"/>
                </a:solidFill>
                <a:latin typeface="Calibri"/>
              </a:rPr>
              <a:t>Base Year: 2026</a:t>
            </a:r>
          </a:p>
        </p:txBody>
      </p:sp>
      <p:sp>
        <p:nvSpPr>
          <p:cNvPr id="75" name="TextBox 74"/>
          <p:cNvSpPr txBox="1"/>
          <p:nvPr/>
        </p:nvSpPr>
        <p:spPr>
          <a:xfrm>
            <a:off x="9686925" y="3453257"/>
            <a:ext cx="1962150" cy="1642833"/>
          </a:xfrm>
          <a:prstGeom prst="rect">
            <a:avLst/>
          </a:prstGeom>
          <a:noFill/>
        </p:spPr>
        <p:txBody>
          <a:bodyPr wrap="square" lIns="28575" tIns="9525" rIns="28575" bIns="9525">
            <a:spAutoFit/>
          </a:bodyPr>
          <a:lstStyle/>
          <a:p>
            <a:pPr algn="l">
              <a:lnSpc>
                <a:spcPct val="122000"/>
              </a:lnSpc>
            </a:pPr>
            <a:r>
              <a:rPr sz="1100" b="0">
                <a:solidFill>
                  <a:srgbClr val="2E2E2E"/>
                </a:solidFill>
                <a:latin typeface="Calibri"/>
              </a:rPr>
              <a:t>Consumers and downstream industries; large end users sometimes backward-integrate to secure supply and cost.</a:t>
            </a:r>
          </a:p>
        </p:txBody>
      </p:sp>
      <p:sp>
        <p:nvSpPr>
          <p:cNvPr id="76" name="Rounded Rectangle 75"/>
          <p:cNvSpPr/>
          <p:nvPr/>
        </p:nvSpPr>
        <p:spPr>
          <a:xfrm>
            <a:off x="381000" y="5315134"/>
            <a:ext cx="11430000" cy="1204744"/>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514350" y="5397275"/>
            <a:ext cx="11163300" cy="200791"/>
          </a:xfrm>
          <a:prstGeom prst="rect">
            <a:avLst/>
          </a:prstGeom>
          <a:noFill/>
        </p:spPr>
        <p:txBody>
          <a:bodyPr wrap="square" lIns="0" tIns="9525" rIns="19050" bIns="9525">
            <a:spAutoFit/>
          </a:bodyPr>
          <a:lstStyle/>
          <a:p>
            <a:pPr algn="l"/>
            <a:r>
              <a:rPr sz="1300" b="1">
                <a:solidFill>
                  <a:srgbClr val="0B2E4A"/>
                </a:solidFill>
                <a:latin typeface="Calibri"/>
              </a:rPr>
              <a:t>Value-Added Read-out</a:t>
            </a:r>
          </a:p>
        </p:txBody>
      </p:sp>
      <p:sp>
        <p:nvSpPr>
          <p:cNvPr id="78" name="Rectangle 77"/>
          <p:cNvSpPr/>
          <p:nvPr/>
        </p:nvSpPr>
        <p:spPr>
          <a:xfrm>
            <a:off x="514350" y="5625447"/>
            <a:ext cx="111633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514350" y="5707588"/>
            <a:ext cx="11163300" cy="739275"/>
          </a:xfrm>
          <a:prstGeom prst="rect">
            <a:avLst/>
          </a:prstGeom>
          <a:noFill/>
        </p:spPr>
        <p:txBody>
          <a:bodyPr wrap="square" lIns="0" tIns="9525" rIns="19050"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The Prenatal Vitamin Supplements Market value chain runs from raw-material suppliers through manufacturers, distributors and retailers to end users.</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'Manufacturers / Processors' captures the largest value addition (20–40%), reflecting processing and scale advantages.</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Forward and backward integration is common some suppliers process, and some large end users produce their own input.</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Percentages show each stage's indicative share of value added along the chain.</a:t>
            </a:r>
          </a:p>
        </p:txBody>
      </p:sp>
      <p:sp>
        <p:nvSpPr>
          <p:cNvPr id="80" name="TextBox 79"/>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Prenatal Vitamin Supplements Market Industry-Wide Operating Margin Analysis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Operating margin by region and value chain node, highlighting where value concentrates along the chain</a:t>
            </a:r>
          </a:p>
        </p:txBody>
      </p:sp>
      <p:sp>
        <p:nvSpPr>
          <p:cNvPr id="10" name="Rounded Rectangle 9"/>
          <p:cNvSpPr/>
          <p:nvPr/>
        </p:nvSpPr>
        <p:spPr>
          <a:xfrm>
            <a:off x="142875" y="981075"/>
            <a:ext cx="11906250" cy="1543050"/>
          </a:xfrm>
          <a:prstGeom prst="roundRect">
            <a:avLst>
              <a:gd name="adj" fmla="val 493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Prenatal Vitamin Supplements Market Operating Margin by Region &amp; Node</a:t>
            </a:r>
          </a:p>
        </p:txBody>
      </p:sp>
      <p:graphicFrame>
        <p:nvGraphicFramePr>
          <p:cNvPr id="12" name="Table 11"/>
          <p:cNvGraphicFramePr>
            <a:graphicFrameLocks noGrp="1"/>
          </p:cNvGraphicFramePr>
          <p:nvPr/>
        </p:nvGraphicFramePr>
        <p:xfrm>
          <a:off x="152400" y="1238250"/>
          <a:ext cx="11887201" cy="1076325"/>
        </p:xfrm>
        <a:graphic>
          <a:graphicData uri="http://schemas.openxmlformats.org/drawingml/2006/table">
            <a:tbl>
              <a:tblPr>
                <a:tableStyleId>{5C22544A-7EE6-4342-B048-85BDC9FD1C3A}</a:tableStyleId>
              </a:tblPr>
              <a:tblGrid>
                <a:gridCol w="667465">
                  <a:extLst>
                    <a:ext uri="{9D8B030D-6E8A-4147-A177-3AD203B41FA5}">
                      <a16:colId xmlns:a16="http://schemas.microsoft.com/office/drawing/2014/main" val="20000"/>
                    </a:ext>
                  </a:extLst>
                </a:gridCol>
                <a:gridCol w="2804934">
                  <a:extLst>
                    <a:ext uri="{9D8B030D-6E8A-4147-A177-3AD203B41FA5}">
                      <a16:colId xmlns:a16="http://schemas.microsoft.com/office/drawing/2014/main" val="20001"/>
                    </a:ext>
                  </a:extLst>
                </a:gridCol>
                <a:gridCol w="2804934">
                  <a:extLst>
                    <a:ext uri="{9D8B030D-6E8A-4147-A177-3AD203B41FA5}">
                      <a16:colId xmlns:a16="http://schemas.microsoft.com/office/drawing/2014/main" val="20002"/>
                    </a:ext>
                  </a:extLst>
                </a:gridCol>
                <a:gridCol w="2804934">
                  <a:extLst>
                    <a:ext uri="{9D8B030D-6E8A-4147-A177-3AD203B41FA5}">
                      <a16:colId xmlns:a16="http://schemas.microsoft.com/office/drawing/2014/main" val="20003"/>
                    </a:ext>
                  </a:extLst>
                </a:gridCol>
                <a:gridCol w="2804934">
                  <a:extLst>
                    <a:ext uri="{9D8B030D-6E8A-4147-A177-3AD203B41FA5}">
                      <a16:colId xmlns:a16="http://schemas.microsoft.com/office/drawing/2014/main" val="20004"/>
                    </a:ext>
                  </a:extLst>
                </a:gridCol>
              </a:tblGrid>
              <a:tr h="215265">
                <a:tc>
                  <a:txBody>
                    <a:bodyPr/>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a:lstStyle/>
                    <a:p>
                      <a:pPr algn="l"/>
                      <a:r>
                        <a:rPr sz="1100" b="1">
                          <a:solidFill>
                            <a:srgbClr val="0B2E4A"/>
                          </a:solidFill>
                          <a:latin typeface="Calibri"/>
                        </a:rPr>
                        <a:t>Node of Supply Chain</a:t>
                      </a:r>
                      <a:endParaRPr sz="1100"/>
                    </a:p>
                  </a:txBody>
                  <a:tcPr marL="47625" marR="38100" marT="19050" marB="19050" anchor="ctr">
                    <a:solidFill>
                      <a:srgbClr val="E0E8EF"/>
                    </a:solidFill>
                  </a:tcPr>
                </a:tc>
                <a:tc>
                  <a:txBody>
                    <a:bodyPr/>
                    <a:lstStyle/>
                    <a:p>
                      <a:pPr algn="l"/>
                      <a:r>
                        <a:rPr sz="1100" b="1">
                          <a:solidFill>
                            <a:srgbClr val="0B2E4A"/>
                          </a:solidFill>
                          <a:latin typeface="Calibri"/>
                        </a:rPr>
                        <a:t>Operating Margin</a:t>
                      </a:r>
                      <a:endParaRPr sz="1100"/>
                    </a:p>
                  </a:txBody>
                  <a:tcPr marL="47625" marR="38100" marT="19050" marB="19050" anchor="ctr">
                    <a:solidFill>
                      <a:srgbClr val="E0E8EF"/>
                    </a:solidFill>
                  </a:tcPr>
                </a:tc>
                <a:tc>
                  <a:txBody>
                    <a:bodyPr/>
                    <a:lstStyle/>
                    <a:p>
                      <a:pPr algn="l"/>
                      <a:r>
                        <a:rPr sz="1100" b="1">
                          <a:solidFill>
                            <a:srgbClr val="0B2E4A"/>
                          </a:solidFill>
                          <a:latin typeface="Calibri"/>
                        </a:rPr>
                        <a:t>Comparison to Parent Market</a:t>
                      </a:r>
                      <a:endParaRPr sz="1100"/>
                    </a:p>
                  </a:txBody>
                  <a:tcPr marL="47625" marR="38100" marT="19050" marB="19050" anchor="ctr">
                    <a:solidFill>
                      <a:srgbClr val="E0E8EF"/>
                    </a:solidFill>
                  </a:tcPr>
                </a:tc>
                <a:tc>
                  <a:txBody>
                    <a:bodyPr/>
                    <a:lstStyle/>
                    <a:p>
                      <a:pPr algn="l"/>
                      <a:r>
                        <a:rPr sz="1100" b="1">
                          <a:solidFill>
                            <a:srgbClr val="0B2E4A"/>
                          </a:solidFill>
                          <a:latin typeface="Calibri"/>
                        </a:rPr>
                        <a:t>Notes</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15265">
                <a:tc>
                  <a:txBody>
                    <a:bodyPr/>
                    <a:lstStyle/>
                    <a:p>
                      <a:pPr algn="l"/>
                      <a:r>
                        <a:rPr sz="1100" b="1">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a:lstStyle/>
                    <a:p>
                      <a:pPr algn="l"/>
                      <a:r>
                        <a:rPr sz="1100" b="0">
                          <a:solidFill>
                            <a:srgbClr val="2E2E2E"/>
                          </a:solidFill>
                          <a:latin typeface="Calibri"/>
                        </a:rPr>
                        <a:t>10.0%</a:t>
                      </a:r>
                      <a:endParaRPr sz="1100"/>
                    </a:p>
                  </a:txBody>
                  <a:tcPr marL="47625" marR="38100" marT="19050" marB="19050" anchor="ctr">
                    <a:solidFill>
                      <a:srgbClr val="FFFFFF"/>
                    </a:solidFill>
                  </a:tcPr>
                </a:tc>
                <a:tc>
                  <a:txBody>
                    <a:bodyPr/>
                    <a:lstStyle/>
                    <a:p>
                      <a:pPr algn="l"/>
                      <a:r>
                        <a:rPr sz="1100" b="0">
                          <a:solidFill>
                            <a:srgbClr val="2E2E2E"/>
                          </a:solidFill>
                          <a:latin typeface="Calibri"/>
                        </a:rPr>
                        <a:t>+830 BPS</a:t>
                      </a:r>
                      <a:endParaRPr sz="1100"/>
                    </a:p>
                  </a:txBody>
                  <a:tcPr marL="47625" marR="38100" marT="19050" marB="19050" anchor="ctr">
                    <a:solidFill>
                      <a:srgbClr val="FFFFFF"/>
                    </a:solidFill>
                  </a:tcPr>
                </a:tc>
                <a:tc>
                  <a:txBody>
                    <a:bodyPr/>
                    <a:lstStyle/>
                    <a:p>
                      <a:pPr algn="l"/>
                      <a:r>
                        <a:rPr sz="1100" b="0">
                          <a:solidFill>
                            <a:srgbClr val="2E2E2E"/>
                          </a:solidFill>
                          <a:latin typeface="Calibri"/>
                        </a:rPr>
                        <a:t>Commodity-linked</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15265">
                <a:tc>
                  <a:txBody>
                    <a:bodyPr/>
                    <a:lstStyle/>
                    <a:p>
                      <a:pPr algn="l"/>
                      <a:endParaRPr sz="1100"/>
                    </a:p>
                  </a:txBody>
                  <a:tcPr marL="47625" marR="38100" marT="19050" marB="19050" anchor="ctr">
                    <a:solidFill>
                      <a:srgbClr val="F5F8FA"/>
                    </a:solidFill>
                  </a:tcPr>
                </a:tc>
                <a:tc>
                  <a:txBody>
                    <a:bodyPr/>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a:lstStyle/>
                    <a:p>
                      <a:pPr algn="l"/>
                      <a:r>
                        <a:rPr sz="1100" b="0">
                          <a:solidFill>
                            <a:srgbClr val="2E2E2E"/>
                          </a:solidFill>
                          <a:latin typeface="Calibri"/>
                        </a:rPr>
                        <a:t>19.7%</a:t>
                      </a:r>
                      <a:endParaRPr sz="1100"/>
                    </a:p>
                  </a:txBody>
                  <a:tcPr marL="47625" marR="38100" marT="19050" marB="19050" anchor="ctr">
                    <a:solidFill>
                      <a:srgbClr val="F5F8FA"/>
                    </a:solidFill>
                  </a:tcPr>
                </a:tc>
                <a:tc>
                  <a:txBody>
                    <a:bodyPr/>
                    <a:lstStyle/>
                    <a:p>
                      <a:pPr algn="l"/>
                      <a:r>
                        <a:rPr sz="1100" b="0">
                          <a:solidFill>
                            <a:srgbClr val="2E2E2E"/>
                          </a:solidFill>
                          <a:latin typeface="Calibri"/>
                        </a:rPr>
                        <a:t>+1,738 BPS</a:t>
                      </a:r>
                      <a:endParaRPr sz="1100"/>
                    </a:p>
                  </a:txBody>
                  <a:tcPr marL="47625" marR="38100" marT="19050" marB="19050" anchor="ctr">
                    <a:solidFill>
                      <a:srgbClr val="F5F8FA"/>
                    </a:solidFill>
                  </a:tcPr>
                </a:tc>
                <a:tc>
                  <a:txBody>
                    <a:bodyPr/>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15265">
                <a:tc>
                  <a:txBody>
                    <a:bodyPr/>
                    <a:lstStyle/>
                    <a:p>
                      <a:pPr algn="l"/>
                      <a:endParaRPr sz="1100"/>
                    </a:p>
                  </a:txBody>
                  <a:tcPr marL="47625" marR="38100" marT="19050" marB="19050" anchor="ctr">
                    <a:solidFill>
                      <a:srgbClr val="FFFFFF"/>
                    </a:solidFill>
                  </a:tcPr>
                </a:tc>
                <a:tc>
                  <a:txBody>
                    <a:bodyPr/>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a:lstStyle/>
                    <a:p>
                      <a:pPr algn="l"/>
                      <a:r>
                        <a:rPr sz="1100" b="0">
                          <a:solidFill>
                            <a:srgbClr val="2E2E2E"/>
                          </a:solidFill>
                          <a:latin typeface="Calibri"/>
                        </a:rPr>
                        <a:t>9.8%</a:t>
                      </a:r>
                      <a:endParaRPr sz="1100"/>
                    </a:p>
                  </a:txBody>
                  <a:tcPr marL="47625" marR="38100" marT="19050" marB="19050" anchor="ctr">
                    <a:solidFill>
                      <a:srgbClr val="FFFFFF"/>
                    </a:solidFill>
                  </a:tcPr>
                </a:tc>
                <a:tc>
                  <a:txBody>
                    <a:bodyPr/>
                    <a:lstStyle/>
                    <a:p>
                      <a:pPr algn="l"/>
                      <a:r>
                        <a:rPr sz="1100" b="0">
                          <a:solidFill>
                            <a:srgbClr val="2E2E2E"/>
                          </a:solidFill>
                          <a:latin typeface="Calibri"/>
                        </a:rPr>
                        <a:t>+692 BPS</a:t>
                      </a:r>
                      <a:endParaRPr sz="1100"/>
                    </a:p>
                  </a:txBody>
                  <a:tcPr marL="47625" marR="38100" marT="19050" marB="19050" anchor="ctr">
                    <a:solidFill>
                      <a:srgbClr val="FFFFFF"/>
                    </a:solidFill>
                  </a:tcPr>
                </a:tc>
                <a:tc>
                  <a:txBody>
                    <a:bodyPr/>
                    <a:lstStyle/>
                    <a:p>
                      <a:pPr algn="l"/>
                      <a:r>
                        <a:rPr sz="1100" b="0">
                          <a:solidFill>
                            <a:srgbClr val="2E2E2E"/>
                          </a:solidFill>
                          <a:latin typeface="Calibri"/>
                        </a:rPr>
                        <a:t>Volume-led, thin</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15265">
                <a:tc>
                  <a:txBody>
                    <a:bodyPr/>
                    <a:lstStyle/>
                    <a:p>
                      <a:pPr algn="l"/>
                      <a:endParaRPr sz="1100"/>
                    </a:p>
                  </a:txBody>
                  <a:tcPr marL="47625" marR="38100" marT="19050" marB="19050" anchor="ctr">
                    <a:solidFill>
                      <a:srgbClr val="F5F8FA"/>
                    </a:solidFill>
                  </a:tcPr>
                </a:tc>
                <a:tc>
                  <a:txBody>
                    <a:bodyPr/>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a:lstStyle/>
                    <a:p>
                      <a:pPr algn="l"/>
                      <a:r>
                        <a:rPr sz="1100" b="0">
                          <a:solidFill>
                            <a:srgbClr val="2E2E2E"/>
                          </a:solidFill>
                          <a:latin typeface="Calibri"/>
                        </a:rPr>
                        <a:t>12.3%</a:t>
                      </a:r>
                      <a:endParaRPr sz="1100"/>
                    </a:p>
                  </a:txBody>
                  <a:tcPr marL="47625" marR="38100" marT="19050" marB="19050" anchor="ctr">
                    <a:solidFill>
                      <a:srgbClr val="F5F8FA"/>
                    </a:solidFill>
                  </a:tcPr>
                </a:tc>
                <a:tc>
                  <a:txBody>
                    <a:bodyPr/>
                    <a:lstStyle/>
                    <a:p>
                      <a:pPr algn="l"/>
                      <a:r>
                        <a:rPr sz="1100" b="0">
                          <a:solidFill>
                            <a:srgbClr val="2E2E2E"/>
                          </a:solidFill>
                          <a:latin typeface="Calibri"/>
                        </a:rPr>
                        <a:t>+878 BPS</a:t>
                      </a:r>
                      <a:endParaRPr sz="1100"/>
                    </a:p>
                  </a:txBody>
                  <a:tcPr marL="47625" marR="38100" marT="19050" marB="19050" anchor="ctr">
                    <a:solidFill>
                      <a:srgbClr val="F5F8FA"/>
                    </a:solidFill>
                  </a:tcPr>
                </a:tc>
                <a:tc>
                  <a:txBody>
                    <a:bodyPr/>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bl>
          </a:graphicData>
        </a:graphic>
      </p:graphicFrame>
      <p:sp>
        <p:nvSpPr>
          <p:cNvPr id="13" name="TextBox 12"/>
          <p:cNvSpPr txBox="1"/>
          <p:nvPr/>
        </p:nvSpPr>
        <p:spPr>
          <a:xfrm>
            <a:off x="219075" y="23241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657475"/>
            <a:ext cx="11906250" cy="3971925"/>
          </a:xfrm>
          <a:prstGeom prst="roundRect">
            <a:avLst>
              <a:gd name="adj" fmla="val 19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2743200"/>
            <a:ext cx="11639550" cy="209550"/>
          </a:xfrm>
          <a:prstGeom prst="rect">
            <a:avLst/>
          </a:prstGeom>
          <a:noFill/>
        </p:spPr>
        <p:txBody>
          <a:bodyPr wrap="square" lIns="0" tIns="9525" rIns="19050" bIns="9525">
            <a:spAutoFit/>
          </a:bodyPr>
          <a:lstStyle/>
          <a:p>
            <a:pPr algn="l"/>
            <a:r>
              <a:rPr sz="1300" b="1">
                <a:solidFill>
                  <a:srgbClr val="0B2E4A"/>
                </a:solidFill>
                <a:latin typeface="Calibri"/>
              </a:rPr>
              <a:t>How to Read This</a:t>
            </a:r>
          </a:p>
        </p:txBody>
      </p:sp>
      <p:sp>
        <p:nvSpPr>
          <p:cNvPr id="16" name="Rectangle 15"/>
          <p:cNvSpPr/>
          <p:nvPr/>
        </p:nvSpPr>
        <p:spPr>
          <a:xfrm>
            <a:off x="276225" y="29813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3067050"/>
            <a:ext cx="11639550" cy="348615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Prenatal Vitamin Supplements Market Buyers Assessment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Assessment of buyers and end users by volume, average price and revenue, highlighting purchasing power</a:t>
            </a:r>
          </a:p>
        </p:txBody>
      </p:sp>
      <p:sp>
        <p:nvSpPr>
          <p:cNvPr id="10" name="Rounded Rectangle 9"/>
          <p:cNvSpPr/>
          <p:nvPr/>
        </p:nvSpPr>
        <p:spPr>
          <a:xfrm>
            <a:off x="142875" y="981075"/>
            <a:ext cx="11906250" cy="2838450"/>
          </a:xfrm>
          <a:prstGeom prst="roundRect">
            <a:avLst>
              <a:gd name="adj" fmla="val 268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8125" y="1038225"/>
            <a:ext cx="11715750" cy="209550"/>
          </a:xfrm>
          <a:prstGeom prst="rect">
            <a:avLst/>
          </a:prstGeom>
          <a:noFill/>
        </p:spPr>
        <p:txBody>
          <a:bodyPr wrap="square" lIns="0" tIns="9525" rIns="19050" bIns="9525">
            <a:spAutoFit/>
          </a:bodyPr>
          <a:lstStyle/>
          <a:p>
            <a:pPr algn="l">
              <a:lnSpc>
                <a:spcPct val="100000"/>
              </a:lnSpc>
            </a:pPr>
            <a:r>
              <a:rPr sz="1200" b="1">
                <a:solidFill>
                  <a:srgbClr val="2E2E2E"/>
                </a:solidFill>
                <a:latin typeface="Calibri"/>
              </a:rPr>
              <a:t>Prenatal Vitamin Supplements Market Buyers / End-User Assessment</a:t>
            </a:r>
          </a:p>
        </p:txBody>
      </p:sp>
      <p:graphicFrame>
        <p:nvGraphicFramePr>
          <p:cNvPr id="12" name="Table 11"/>
          <p:cNvGraphicFramePr>
            <a:graphicFrameLocks noGrp="1"/>
          </p:cNvGraphicFramePr>
          <p:nvPr/>
        </p:nvGraphicFramePr>
        <p:xfrm>
          <a:off x="152400" y="1238250"/>
          <a:ext cx="11887200" cy="2371725"/>
        </p:xfrm>
        <a:graphic>
          <a:graphicData uri="http://schemas.openxmlformats.org/drawingml/2006/table">
            <a:tbl>
              <a:tblPr>
                <a:tableStyleId>{5C22544A-7EE6-4342-B048-85BDC9FD1C3A}</a:tableStyleId>
              </a:tblPr>
              <a:tblGrid>
                <a:gridCol w="1056203">
                  <a:extLst>
                    <a:ext uri="{9D8B030D-6E8A-4147-A177-3AD203B41FA5}">
                      <a16:colId xmlns:a16="http://schemas.microsoft.com/office/drawing/2014/main" val="20000"/>
                    </a:ext>
                  </a:extLst>
                </a:gridCol>
                <a:gridCol w="725113">
                  <a:extLst>
                    <a:ext uri="{9D8B030D-6E8A-4147-A177-3AD203B41FA5}">
                      <a16:colId xmlns:a16="http://schemas.microsoft.com/office/drawing/2014/main" val="20001"/>
                    </a:ext>
                  </a:extLst>
                </a:gridCol>
                <a:gridCol w="643100">
                  <a:extLst>
                    <a:ext uri="{9D8B030D-6E8A-4147-A177-3AD203B41FA5}">
                      <a16:colId xmlns:a16="http://schemas.microsoft.com/office/drawing/2014/main" val="20002"/>
                    </a:ext>
                  </a:extLst>
                </a:gridCol>
                <a:gridCol w="1271867">
                  <a:extLst>
                    <a:ext uri="{9D8B030D-6E8A-4147-A177-3AD203B41FA5}">
                      <a16:colId xmlns:a16="http://schemas.microsoft.com/office/drawing/2014/main" val="20003"/>
                    </a:ext>
                  </a:extLst>
                </a:gridCol>
                <a:gridCol w="1806472">
                  <a:extLst>
                    <a:ext uri="{9D8B030D-6E8A-4147-A177-3AD203B41FA5}">
                      <a16:colId xmlns:a16="http://schemas.microsoft.com/office/drawing/2014/main" val="20004"/>
                    </a:ext>
                  </a:extLst>
                </a:gridCol>
                <a:gridCol w="1441969">
                  <a:extLst>
                    <a:ext uri="{9D8B030D-6E8A-4147-A177-3AD203B41FA5}">
                      <a16:colId xmlns:a16="http://schemas.microsoft.com/office/drawing/2014/main" val="20005"/>
                    </a:ext>
                  </a:extLst>
                </a:gridCol>
                <a:gridCol w="1727449">
                  <a:extLst>
                    <a:ext uri="{9D8B030D-6E8A-4147-A177-3AD203B41FA5}">
                      <a16:colId xmlns:a16="http://schemas.microsoft.com/office/drawing/2014/main" val="20006"/>
                    </a:ext>
                  </a:extLst>
                </a:gridCol>
                <a:gridCol w="1520944">
                  <a:extLst>
                    <a:ext uri="{9D8B030D-6E8A-4147-A177-3AD203B41FA5}">
                      <a16:colId xmlns:a16="http://schemas.microsoft.com/office/drawing/2014/main" val="20007"/>
                    </a:ext>
                  </a:extLst>
                </a:gridCol>
                <a:gridCol w="1694083">
                  <a:extLst>
                    <a:ext uri="{9D8B030D-6E8A-4147-A177-3AD203B41FA5}">
                      <a16:colId xmlns:a16="http://schemas.microsoft.com/office/drawing/2014/main" val="20008"/>
                    </a:ext>
                  </a:extLst>
                </a:gridCol>
              </a:tblGrid>
              <a:tr h="215265">
                <a:tc>
                  <a:txBody>
                    <a:bodyPr/>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a:lstStyle/>
                    <a:p>
                      <a:pPr algn="l"/>
                      <a:r>
                        <a:rPr sz="1100" b="1">
                          <a:solidFill>
                            <a:srgbClr val="0B2E4A"/>
                          </a:solidFill>
                          <a:latin typeface="Calibri"/>
                        </a:rPr>
                        <a:t>Buyer Category</a:t>
                      </a:r>
                      <a:endParaRPr sz="1100"/>
                    </a:p>
                  </a:txBody>
                  <a:tcPr marL="47625" marR="38100" marT="19050" marB="19050" anchor="ctr">
                    <a:solidFill>
                      <a:srgbClr val="E0E8EF"/>
                    </a:solidFill>
                  </a:tcPr>
                </a:tc>
                <a:tc>
                  <a:txBody>
                    <a:bodyPr/>
                    <a:lstStyle/>
                    <a:p>
                      <a:pPr algn="l"/>
                      <a:r>
                        <a:rPr sz="1100" b="1">
                          <a:solidFill>
                            <a:srgbClr val="0B2E4A"/>
                          </a:solidFill>
                          <a:latin typeface="Calibri"/>
                        </a:rPr>
                        <a:t>Buyer / End-User Type</a:t>
                      </a:r>
                      <a:endParaRPr sz="1100"/>
                    </a:p>
                  </a:txBody>
                  <a:tcPr marL="47625" marR="38100" marT="19050" marB="19050" anchor="ctr">
                    <a:solidFill>
                      <a:srgbClr val="E0E8EF"/>
                    </a:solidFill>
                  </a:tcPr>
                </a:tc>
                <a:tc>
                  <a:txBody>
                    <a:bodyPr/>
                    <a:lstStyle/>
                    <a:p>
                      <a:pPr algn="l"/>
                      <a:r>
                        <a:rPr sz="1100" b="1">
                          <a:solidFill>
                            <a:srgbClr val="0B2E4A"/>
                          </a:solidFill>
                          <a:latin typeface="Calibri"/>
                        </a:rPr>
                        <a:t>Procurement Vol.</a:t>
                      </a:r>
                      <a:endParaRPr sz="1100"/>
                    </a:p>
                  </a:txBody>
                  <a:tcPr marL="47625" marR="38100" marT="19050" marB="19050" anchor="ctr">
                    <a:solidFill>
                      <a:srgbClr val="E0E8EF"/>
                    </a:solidFill>
                  </a:tcPr>
                </a:tc>
                <a:tc>
                  <a:txBody>
                    <a:bodyPr/>
                    <a:lstStyle/>
                    <a:p>
                      <a:pPr algn="l"/>
                      <a:r>
                        <a:rPr sz="1100" b="1">
                          <a:solidFill>
                            <a:srgbClr val="0B2E4A"/>
                          </a:solidFill>
                          <a:latin typeface="Calibri"/>
                        </a:rPr>
                        <a:t>Avg Price (US$/Units)</a:t>
                      </a:r>
                      <a:endParaRPr sz="1100"/>
                    </a:p>
                  </a:txBody>
                  <a:tcPr marL="47625" marR="38100" marT="19050" marB="19050" anchor="ctr">
                    <a:solidFill>
                      <a:srgbClr val="E0E8EF"/>
                    </a:solidFill>
                  </a:tcPr>
                </a:tc>
                <a:tc>
                  <a:txBody>
                    <a:bodyPr/>
                    <a:lstStyle/>
                    <a:p>
                      <a:pPr algn="l"/>
                      <a:r>
                        <a:rPr sz="1100" b="1">
                          <a:solidFill>
                            <a:srgbClr val="0B2E4A"/>
                          </a:solidFill>
                          <a:latin typeface="Calibri"/>
                        </a:rPr>
                        <a:t>Revenue (US$ Mn)</a:t>
                      </a:r>
                      <a:endParaRPr sz="1100"/>
                    </a:p>
                  </a:txBody>
                  <a:tcPr marL="47625" marR="38100" marT="19050" marB="19050" anchor="ctr">
                    <a:solidFill>
                      <a:srgbClr val="E0E8EF"/>
                    </a:solidFill>
                  </a:tcPr>
                </a:tc>
                <a:tc>
                  <a:txBody>
                    <a:bodyPr/>
                    <a:lstStyle/>
                    <a:p>
                      <a:pPr algn="l"/>
                      <a:r>
                        <a:rPr sz="1100" b="1">
                          <a:solidFill>
                            <a:srgbClr val="0B2E4A"/>
                          </a:solidFill>
                          <a:latin typeface="Calibri"/>
                        </a:rPr>
                        <a:t>Key Selection Factor</a:t>
                      </a:r>
                      <a:endParaRPr sz="1100"/>
                    </a:p>
                  </a:txBody>
                  <a:tcPr marL="47625" marR="38100" marT="19050" marB="19050" anchor="ctr">
                    <a:solidFill>
                      <a:srgbClr val="E0E8EF"/>
                    </a:solidFill>
                  </a:tcPr>
                </a:tc>
                <a:extLst>
                  <a:ext uri="{0D108BD9-81ED-4DB2-BD59-A6C34878D82A}">
                    <a16:rowId xmlns:a16="http://schemas.microsoft.com/office/drawing/2014/main" val="10000"/>
                  </a:ext>
                </a:extLst>
              </a:tr>
              <a:tr h="215646">
                <a:tc>
                  <a:txBody>
                    <a:bodyPr/>
                    <a:lstStyle/>
                    <a:p>
                      <a:pPr algn="l"/>
                      <a:r>
                        <a:rPr sz="1100" b="1">
                          <a:solidFill>
                            <a:srgbClr val="2E2E2E"/>
                          </a:solidFill>
                          <a:latin typeface="Calibri"/>
                        </a:rPr>
                        <a:t>Company 1</a:t>
                      </a:r>
                      <a:endParaRPr sz="1100"/>
                    </a:p>
                  </a:txBody>
                  <a:tcPr marL="47625" marR="38100" marT="19050" marB="19050" anchor="ctr">
                    <a:solidFill>
                      <a:srgbClr val="FFFFFF"/>
                    </a:solidFill>
                  </a:tcPr>
                </a:tc>
                <a:tc>
                  <a:txBody>
                    <a:bodyPr/>
                    <a:lstStyle/>
                    <a:p>
                      <a:pPr algn="l"/>
                      <a:r>
                        <a:rPr sz="1100" b="0">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a:lstStyle/>
                    <a:p>
                      <a:pPr algn="l"/>
                      <a:r>
                        <a:rPr sz="1100" b="0">
                          <a:solidFill>
                            <a:srgbClr val="2E2E2E"/>
                          </a:solidFill>
                          <a:latin typeface="Calibri"/>
                        </a:rPr>
                        <a:t>58 Mn Units</a:t>
                      </a:r>
                      <a:endParaRPr sz="1100"/>
                    </a:p>
                  </a:txBody>
                  <a:tcPr marL="47625" marR="38100" marT="19050" marB="19050" anchor="ctr">
                    <a:solidFill>
                      <a:srgbClr val="FFFFFF"/>
                    </a:solidFill>
                  </a:tcPr>
                </a:tc>
                <a:tc>
                  <a:txBody>
                    <a:bodyPr/>
                    <a:lstStyle/>
                    <a:p>
                      <a:pPr algn="l"/>
                      <a:r>
                        <a:rPr sz="1100" b="0">
                          <a:solidFill>
                            <a:srgbClr val="2E2E2E"/>
                          </a:solidFill>
                          <a:latin typeface="Calibri"/>
                        </a:rPr>
                        <a:t>0.203</a:t>
                      </a:r>
                      <a:endParaRPr sz="1100"/>
                    </a:p>
                  </a:txBody>
                  <a:tcPr marL="47625" marR="38100" marT="19050" marB="19050" anchor="ctr">
                    <a:solidFill>
                      <a:srgbClr val="FFFFFF"/>
                    </a:solidFill>
                  </a:tcPr>
                </a:tc>
                <a:tc>
                  <a:txBody>
                    <a:bodyPr/>
                    <a:lstStyle/>
                    <a:p>
                      <a:pPr algn="l"/>
                      <a:r>
                        <a:rPr sz="1100" b="0">
                          <a:solidFill>
                            <a:srgbClr val="2E2E2E"/>
                          </a:solidFill>
                          <a:latin typeface="Calibri"/>
                        </a:rPr>
                        <a:t>12</a:t>
                      </a:r>
                      <a:endParaRPr sz="1100"/>
                    </a:p>
                  </a:txBody>
                  <a:tcPr marL="47625" marR="38100" marT="19050" marB="19050" anchor="ctr">
                    <a:solidFill>
                      <a:srgbClr val="FFFFFF"/>
                    </a:solidFill>
                  </a:tcPr>
                </a:tc>
                <a:tc>
                  <a:txBody>
                    <a:bodyPr/>
                    <a:lstStyle/>
                    <a:p>
                      <a:pPr algn="l"/>
                      <a:r>
                        <a:rPr sz="1100" b="0">
                          <a:solidFill>
                            <a:srgbClr val="2E2E2E"/>
                          </a:solidFill>
                          <a:latin typeface="Calibri"/>
                        </a:rPr>
                        <a:t>Price &amp; reliability</a:t>
                      </a:r>
                      <a:endParaRPr sz="1100"/>
                    </a:p>
                  </a:txBody>
                  <a:tcPr marL="47625" marR="38100" marT="19050" marB="19050" anchor="ctr">
                    <a:solidFill>
                      <a:srgbClr val="FFFFFF"/>
                    </a:solidFill>
                  </a:tcPr>
                </a:tc>
                <a:extLst>
                  <a:ext uri="{0D108BD9-81ED-4DB2-BD59-A6C34878D82A}">
                    <a16:rowId xmlns:a16="http://schemas.microsoft.com/office/drawing/2014/main" val="10001"/>
                  </a:ext>
                </a:extLst>
              </a:tr>
              <a:tr h="215646">
                <a:tc>
                  <a:txBody>
                    <a:bodyPr/>
                    <a:lstStyle/>
                    <a:p>
                      <a:pPr algn="l"/>
                      <a:r>
                        <a:rPr sz="1100" b="1">
                          <a:solidFill>
                            <a:srgbClr val="2E2E2E"/>
                          </a:solidFill>
                          <a:latin typeface="Calibri"/>
                        </a:rPr>
                        <a:t>Company 2</a:t>
                      </a:r>
                      <a:endParaRPr sz="1100"/>
                    </a:p>
                  </a:txBody>
                  <a:tcPr marL="47625" marR="38100" marT="19050" marB="19050" anchor="ctr">
                    <a:solidFill>
                      <a:srgbClr val="F5F8FA"/>
                    </a:solidFill>
                  </a:tcPr>
                </a:tc>
                <a:tc>
                  <a:txBody>
                    <a:bodyPr/>
                    <a:lstStyle/>
                    <a:p>
                      <a:pPr algn="l"/>
                      <a:r>
                        <a:rPr sz="1100" b="0">
                          <a:solidFill>
                            <a:srgbClr val="2E2E2E"/>
                          </a:solidFill>
                          <a:latin typeface="Calibri"/>
                        </a:rPr>
                        <a:t>USA</a:t>
                      </a:r>
                      <a:endParaRPr sz="1100"/>
                    </a:p>
                  </a:txBody>
                  <a:tcPr marL="47625" marR="38100" marT="19050" marB="19050" anchor="ctr">
                    <a:solidFill>
                      <a:srgbClr val="F5F8FA"/>
                    </a:solidFill>
                  </a:tcPr>
                </a:tc>
                <a:tc>
                  <a:txBody>
                    <a:bodyPr/>
                    <a:lstStyle/>
                    <a:p>
                      <a:pPr algn="l"/>
                      <a:r>
                        <a:rPr sz="1100" b="0">
                          <a:solidFill>
                            <a:srgbClr val="2E2E2E"/>
                          </a:solidFill>
                          <a:latin typeface="Calibri"/>
                        </a:rPr>
                        <a:t>USA</a:t>
                      </a:r>
                      <a:endParaRPr sz="1100"/>
                    </a:p>
                  </a:txBody>
                  <a:tcPr marL="47625" marR="38100" marT="19050" marB="19050" anchor="ctr">
                    <a:solidFill>
                      <a:srgbClr val="F5F8FA"/>
                    </a:solidFill>
                  </a:tcPr>
                </a:tc>
                <a:tc>
                  <a:txBody>
                    <a:bodyPr/>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a:lstStyle/>
                    <a:p>
                      <a:pPr algn="l"/>
                      <a:r>
                        <a:rPr sz="1100" b="0">
                          <a:solidFill>
                            <a:srgbClr val="2E2E2E"/>
                          </a:solidFill>
                          <a:latin typeface="Calibri"/>
                        </a:rPr>
                        <a:t>52 Mn Units</a:t>
                      </a:r>
                      <a:endParaRPr sz="1100"/>
                    </a:p>
                  </a:txBody>
                  <a:tcPr marL="47625" marR="38100" marT="19050" marB="19050" anchor="ctr">
                    <a:solidFill>
                      <a:srgbClr val="F5F8FA"/>
                    </a:solidFill>
                  </a:tcPr>
                </a:tc>
                <a:tc>
                  <a:txBody>
                    <a:bodyPr/>
                    <a:lstStyle/>
                    <a:p>
                      <a:pPr algn="l"/>
                      <a:r>
                        <a:rPr sz="1100" b="0">
                          <a:solidFill>
                            <a:srgbClr val="2E2E2E"/>
                          </a:solidFill>
                          <a:latin typeface="Calibri"/>
                        </a:rPr>
                        <a:t>0.211</a:t>
                      </a:r>
                      <a:endParaRPr sz="1100"/>
                    </a:p>
                  </a:txBody>
                  <a:tcPr marL="47625" marR="38100" marT="19050" marB="19050" anchor="ctr">
                    <a:solidFill>
                      <a:srgbClr val="F5F8FA"/>
                    </a:solidFill>
                  </a:tcPr>
                </a:tc>
                <a:tc>
                  <a:txBody>
                    <a:bodyPr/>
                    <a:lstStyle/>
                    <a:p>
                      <a:pPr algn="l"/>
                      <a:r>
                        <a:rPr sz="1100" b="0">
                          <a:solidFill>
                            <a:srgbClr val="2E2E2E"/>
                          </a:solidFill>
                          <a:latin typeface="Calibri"/>
                        </a:rPr>
                        <a:t>11</a:t>
                      </a:r>
                      <a:endParaRPr sz="1100"/>
                    </a:p>
                  </a:txBody>
                  <a:tcPr marL="47625" marR="38100" marT="19050" marB="19050" anchor="ctr">
                    <a:solidFill>
                      <a:srgbClr val="F5F8FA"/>
                    </a:solidFill>
                  </a:tcPr>
                </a:tc>
                <a:tc>
                  <a:txBody>
                    <a:bodyPr/>
                    <a:lstStyle/>
                    <a:p>
                      <a:pPr algn="l"/>
                      <a:r>
                        <a:rPr sz="1100" b="0">
                          <a:solidFill>
                            <a:srgbClr val="2E2E2E"/>
                          </a:solidFill>
                          <a:latin typeface="Calibri"/>
                        </a:rPr>
                        <a:t>Quality &amp; compliance</a:t>
                      </a:r>
                      <a:endParaRPr sz="1100"/>
                    </a:p>
                  </a:txBody>
                  <a:tcPr marL="47625" marR="38100" marT="19050" marB="19050" anchor="ctr">
                    <a:solidFill>
                      <a:srgbClr val="F5F8FA"/>
                    </a:solidFill>
                  </a:tcPr>
                </a:tc>
                <a:extLst>
                  <a:ext uri="{0D108BD9-81ED-4DB2-BD59-A6C34878D82A}">
                    <a16:rowId xmlns:a16="http://schemas.microsoft.com/office/drawing/2014/main" val="10002"/>
                  </a:ext>
                </a:extLst>
              </a:tr>
              <a:tr h="215646">
                <a:tc>
                  <a:txBody>
                    <a:bodyPr/>
                    <a:lstStyle/>
                    <a:p>
                      <a:pPr algn="l"/>
                      <a:r>
                        <a:rPr sz="1100" b="1">
                          <a:solidFill>
                            <a:srgbClr val="2E2E2E"/>
                          </a:solidFill>
                          <a:latin typeface="Calibri"/>
                        </a:rPr>
                        <a:t>Company 3</a:t>
                      </a:r>
                      <a:endParaRPr sz="1100"/>
                    </a:p>
                  </a:txBody>
                  <a:tcPr marL="47625" marR="38100" marT="19050" marB="19050" anchor="ctr">
                    <a:solidFill>
                      <a:srgbClr val="FFFFFF"/>
                    </a:solidFill>
                  </a:tcPr>
                </a:tc>
                <a:tc>
                  <a:txBody>
                    <a:bodyPr/>
                    <a:lstStyle/>
                    <a:p>
                      <a:pPr algn="l"/>
                      <a:r>
                        <a:rPr sz="1100" b="0">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a:lstStyle/>
                    <a:p>
                      <a:pPr algn="l"/>
                      <a:r>
                        <a:rPr sz="1100" b="0">
                          <a:solidFill>
                            <a:srgbClr val="2E2E2E"/>
                          </a:solidFill>
                          <a:latin typeface="Calibri"/>
                        </a:rPr>
                        <a:t>46 Mn Units</a:t>
                      </a:r>
                      <a:endParaRPr sz="1100"/>
                    </a:p>
                  </a:txBody>
                  <a:tcPr marL="47625" marR="38100" marT="19050" marB="19050" anchor="ctr">
                    <a:solidFill>
                      <a:srgbClr val="FFFFFF"/>
                    </a:solidFill>
                  </a:tcPr>
                </a:tc>
                <a:tc>
                  <a:txBody>
                    <a:bodyPr/>
                    <a:lstStyle/>
                    <a:p>
                      <a:pPr algn="l"/>
                      <a:r>
                        <a:rPr sz="1100" b="0">
                          <a:solidFill>
                            <a:srgbClr val="2E2E2E"/>
                          </a:solidFill>
                          <a:latin typeface="Calibri"/>
                        </a:rPr>
                        <a:t>0.219</a:t>
                      </a:r>
                      <a:endParaRPr sz="1100"/>
                    </a:p>
                  </a:txBody>
                  <a:tcPr marL="47625" marR="38100" marT="19050" marB="19050" anchor="ctr">
                    <a:solidFill>
                      <a:srgbClr val="FFFFFF"/>
                    </a:solidFill>
                  </a:tcPr>
                </a:tc>
                <a:tc>
                  <a:txBody>
                    <a:bodyPr/>
                    <a:lstStyle/>
                    <a:p>
                      <a:pPr algn="l"/>
                      <a:r>
                        <a:rPr sz="1100" b="0">
                          <a:solidFill>
                            <a:srgbClr val="2E2E2E"/>
                          </a:solidFill>
                          <a:latin typeface="Calibri"/>
                        </a:rPr>
                        <a:t>10</a:t>
                      </a:r>
                      <a:endParaRPr sz="1100"/>
                    </a:p>
                  </a:txBody>
                  <a:tcPr marL="47625" marR="38100" marT="19050" marB="19050" anchor="ctr">
                    <a:solidFill>
                      <a:srgbClr val="FFFFFF"/>
                    </a:solidFill>
                  </a:tcPr>
                </a:tc>
                <a:tc>
                  <a:txBody>
                    <a:bodyPr/>
                    <a:lstStyle/>
                    <a:p>
                      <a:pPr algn="l"/>
                      <a:r>
                        <a:rPr sz="1100" b="0">
                          <a:solidFill>
                            <a:srgbClr val="2E2E2E"/>
                          </a:solidFill>
                          <a:latin typeface="Calibri"/>
                        </a:rPr>
                        <a:t>Lead time &amp; service</a:t>
                      </a:r>
                      <a:endParaRPr sz="1100"/>
                    </a:p>
                  </a:txBody>
                  <a:tcPr marL="47625" marR="38100" marT="19050" marB="19050" anchor="ctr">
                    <a:solidFill>
                      <a:srgbClr val="FFFFFF"/>
                    </a:solidFill>
                  </a:tcPr>
                </a:tc>
                <a:extLst>
                  <a:ext uri="{0D108BD9-81ED-4DB2-BD59-A6C34878D82A}">
                    <a16:rowId xmlns:a16="http://schemas.microsoft.com/office/drawing/2014/main" val="10003"/>
                  </a:ext>
                </a:extLst>
              </a:tr>
              <a:tr h="215646">
                <a:tc>
                  <a:txBody>
                    <a:bodyPr/>
                    <a:lstStyle/>
                    <a:p>
                      <a:pPr algn="l"/>
                      <a:r>
                        <a:rPr sz="1100" b="1">
                          <a:solidFill>
                            <a:srgbClr val="2E2E2E"/>
                          </a:solidFill>
                          <a:latin typeface="Calibri"/>
                        </a:rPr>
                        <a:t>Company 4</a:t>
                      </a:r>
                      <a:endParaRPr sz="1100"/>
                    </a:p>
                  </a:txBody>
                  <a:tcPr marL="47625" marR="38100" marT="19050" marB="19050" anchor="ctr">
                    <a:solidFill>
                      <a:srgbClr val="F5F8FA"/>
                    </a:solidFill>
                  </a:tcPr>
                </a:tc>
                <a:tc>
                  <a:txBody>
                    <a:bodyPr/>
                    <a:lstStyle/>
                    <a:p>
                      <a:pPr algn="l"/>
                      <a:r>
                        <a:rPr sz="1100" b="0">
                          <a:solidFill>
                            <a:srgbClr val="2E2E2E"/>
                          </a:solidFill>
                          <a:latin typeface="Calibri"/>
                        </a:rPr>
                        <a:t>USA</a:t>
                      </a:r>
                      <a:endParaRPr sz="1100"/>
                    </a:p>
                  </a:txBody>
                  <a:tcPr marL="47625" marR="38100" marT="19050" marB="19050" anchor="ctr">
                    <a:solidFill>
                      <a:srgbClr val="F5F8FA"/>
                    </a:solidFill>
                  </a:tcPr>
                </a:tc>
                <a:tc>
                  <a:txBody>
                    <a:bodyPr/>
                    <a:lstStyle/>
                    <a:p>
                      <a:pPr algn="l"/>
                      <a:r>
                        <a:rPr sz="1100" b="0">
                          <a:solidFill>
                            <a:srgbClr val="2E2E2E"/>
                          </a:solidFill>
                          <a:latin typeface="Calibri"/>
                        </a:rPr>
                        <a:t>USA</a:t>
                      </a:r>
                      <a:endParaRPr sz="1100"/>
                    </a:p>
                  </a:txBody>
                  <a:tcPr marL="47625" marR="38100" marT="19050" marB="19050" anchor="ctr">
                    <a:solidFill>
                      <a:srgbClr val="F5F8FA"/>
                    </a:solidFill>
                  </a:tcPr>
                </a:tc>
                <a:tc>
                  <a:txBody>
                    <a:bodyPr/>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a:lstStyle/>
                    <a:p>
                      <a:pPr algn="l"/>
                      <a:r>
                        <a:rPr sz="1100" b="0">
                          <a:solidFill>
                            <a:srgbClr val="2E2E2E"/>
                          </a:solidFill>
                          <a:latin typeface="Calibri"/>
                        </a:rPr>
                        <a:t>41 Mn Units</a:t>
                      </a:r>
                      <a:endParaRPr sz="1100"/>
                    </a:p>
                  </a:txBody>
                  <a:tcPr marL="47625" marR="38100" marT="19050" marB="19050" anchor="ctr">
                    <a:solidFill>
                      <a:srgbClr val="F5F8FA"/>
                    </a:solidFill>
                  </a:tcPr>
                </a:tc>
                <a:tc>
                  <a:txBody>
                    <a:bodyPr/>
                    <a:lstStyle/>
                    <a:p>
                      <a:pPr algn="l"/>
                      <a:r>
                        <a:rPr sz="1100" b="0">
                          <a:solidFill>
                            <a:srgbClr val="2E2E2E"/>
                          </a:solidFill>
                          <a:latin typeface="Calibri"/>
                        </a:rPr>
                        <a:t>0.226</a:t>
                      </a:r>
                      <a:endParaRPr sz="1100"/>
                    </a:p>
                  </a:txBody>
                  <a:tcPr marL="47625" marR="38100" marT="19050" marB="19050" anchor="ctr">
                    <a:solidFill>
                      <a:srgbClr val="F5F8FA"/>
                    </a:solidFill>
                  </a:tcPr>
                </a:tc>
                <a:tc>
                  <a:txBody>
                    <a:bodyPr/>
                    <a:lstStyle/>
                    <a:p>
                      <a:pPr algn="l"/>
                      <a:r>
                        <a:rPr sz="1100" b="0">
                          <a:solidFill>
                            <a:srgbClr val="2E2E2E"/>
                          </a:solidFill>
                          <a:latin typeface="Calibri"/>
                        </a:rPr>
                        <a:t>9</a:t>
                      </a:r>
                      <a:endParaRPr sz="1100"/>
                    </a:p>
                  </a:txBody>
                  <a:tcPr marL="47625" marR="38100" marT="19050" marB="19050" anchor="ctr">
                    <a:solidFill>
                      <a:srgbClr val="F5F8FA"/>
                    </a:solidFill>
                  </a:tcPr>
                </a:tc>
                <a:tc>
                  <a:txBody>
                    <a:bodyPr/>
                    <a:lstStyle/>
                    <a:p>
                      <a:pPr algn="l"/>
                      <a:r>
                        <a:rPr sz="1100" b="0">
                          <a:solidFill>
                            <a:srgbClr val="2E2E2E"/>
                          </a:solidFill>
                          <a:latin typeface="Calibri"/>
                        </a:rPr>
                        <a:t>Capacity &amp; scale</a:t>
                      </a:r>
                      <a:endParaRPr sz="1100"/>
                    </a:p>
                  </a:txBody>
                  <a:tcPr marL="47625" marR="38100" marT="19050" marB="19050" anchor="ctr">
                    <a:solidFill>
                      <a:srgbClr val="F5F8FA"/>
                    </a:solidFill>
                  </a:tcPr>
                </a:tc>
                <a:extLst>
                  <a:ext uri="{0D108BD9-81ED-4DB2-BD59-A6C34878D82A}">
                    <a16:rowId xmlns:a16="http://schemas.microsoft.com/office/drawing/2014/main" val="10004"/>
                  </a:ext>
                </a:extLst>
              </a:tr>
              <a:tr h="215646">
                <a:tc>
                  <a:txBody>
                    <a:bodyPr/>
                    <a:lstStyle/>
                    <a:p>
                      <a:pPr algn="l"/>
                      <a:r>
                        <a:rPr sz="1100" b="1">
                          <a:solidFill>
                            <a:srgbClr val="2E2E2E"/>
                          </a:solidFill>
                          <a:latin typeface="Calibri"/>
                        </a:rPr>
                        <a:t>Company 5</a:t>
                      </a:r>
                      <a:endParaRPr sz="1100"/>
                    </a:p>
                  </a:txBody>
                  <a:tcPr marL="47625" marR="38100" marT="19050" marB="19050" anchor="ctr">
                    <a:solidFill>
                      <a:srgbClr val="FFFFFF"/>
                    </a:solidFill>
                  </a:tcPr>
                </a:tc>
                <a:tc>
                  <a:txBody>
                    <a:bodyPr/>
                    <a:lstStyle/>
                    <a:p>
                      <a:pPr algn="l"/>
                      <a:r>
                        <a:rPr sz="1100" b="0">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a:lstStyle/>
                    <a:p>
                      <a:pPr algn="l"/>
                      <a:r>
                        <a:rPr sz="1100" b="0">
                          <a:solidFill>
                            <a:srgbClr val="2E2E2E"/>
                          </a:solidFill>
                          <a:latin typeface="Calibri"/>
                        </a:rPr>
                        <a:t>35 Mn Units</a:t>
                      </a:r>
                      <a:endParaRPr sz="1100"/>
                    </a:p>
                  </a:txBody>
                  <a:tcPr marL="47625" marR="38100" marT="19050" marB="19050" anchor="ctr">
                    <a:solidFill>
                      <a:srgbClr val="FFFFFF"/>
                    </a:solidFill>
                  </a:tcPr>
                </a:tc>
                <a:tc>
                  <a:txBody>
                    <a:bodyPr/>
                    <a:lstStyle/>
                    <a:p>
                      <a:pPr algn="l"/>
                      <a:r>
                        <a:rPr sz="1100" b="0">
                          <a:solidFill>
                            <a:srgbClr val="2E2E2E"/>
                          </a:solidFill>
                          <a:latin typeface="Calibri"/>
                        </a:rPr>
                        <a:t>0.234</a:t>
                      </a:r>
                      <a:endParaRPr sz="1100"/>
                    </a:p>
                  </a:txBody>
                  <a:tcPr marL="47625" marR="38100" marT="19050" marB="19050" anchor="ctr">
                    <a:solidFill>
                      <a:srgbClr val="FFFFFF"/>
                    </a:solidFill>
                  </a:tcPr>
                </a:tc>
                <a:tc>
                  <a:txBody>
                    <a:bodyPr/>
                    <a:lstStyle/>
                    <a:p>
                      <a:pPr algn="l"/>
                      <a:r>
                        <a:rPr sz="1100" b="0">
                          <a:solidFill>
                            <a:srgbClr val="2E2E2E"/>
                          </a:solidFill>
                          <a:latin typeface="Calibri"/>
                        </a:rPr>
                        <a:t>8</a:t>
                      </a:r>
                      <a:endParaRPr sz="1100"/>
                    </a:p>
                  </a:txBody>
                  <a:tcPr marL="47625" marR="38100" marT="19050" marB="19050" anchor="ctr">
                    <a:solidFill>
                      <a:srgbClr val="FFFFFF"/>
                    </a:solidFill>
                  </a:tcPr>
                </a:tc>
                <a:tc>
                  <a:txBody>
                    <a:bodyPr/>
                    <a:lstStyle/>
                    <a:p>
                      <a:pPr algn="l"/>
                      <a:r>
                        <a:rPr sz="1100" b="0">
                          <a:solidFill>
                            <a:srgbClr val="2E2E2E"/>
                          </a:solidFill>
                          <a:latin typeface="Calibri"/>
                        </a:rPr>
                        <a:t>Brand &amp; support</a:t>
                      </a:r>
                      <a:endParaRPr sz="1100"/>
                    </a:p>
                  </a:txBody>
                  <a:tcPr marL="47625" marR="38100" marT="19050" marB="19050" anchor="ctr">
                    <a:solidFill>
                      <a:srgbClr val="FFFFFF"/>
                    </a:solidFill>
                  </a:tcPr>
                </a:tc>
                <a:extLst>
                  <a:ext uri="{0D108BD9-81ED-4DB2-BD59-A6C34878D82A}">
                    <a16:rowId xmlns:a16="http://schemas.microsoft.com/office/drawing/2014/main" val="10005"/>
                  </a:ext>
                </a:extLst>
              </a:tr>
              <a:tr h="215646">
                <a:tc>
                  <a:txBody>
                    <a:bodyPr/>
                    <a:lstStyle/>
                    <a:p>
                      <a:pPr algn="l"/>
                      <a:r>
                        <a:rPr sz="1100" b="1">
                          <a:solidFill>
                            <a:srgbClr val="2E2E2E"/>
                          </a:solidFill>
                          <a:latin typeface="Calibri"/>
                        </a:rPr>
                        <a:t>Company 6</a:t>
                      </a:r>
                      <a:endParaRPr sz="1100"/>
                    </a:p>
                  </a:txBody>
                  <a:tcPr marL="47625" marR="38100" marT="19050" marB="19050" anchor="ctr">
                    <a:solidFill>
                      <a:srgbClr val="F5F8FA"/>
                    </a:solidFill>
                  </a:tcPr>
                </a:tc>
                <a:tc>
                  <a:txBody>
                    <a:bodyPr/>
                    <a:lstStyle/>
                    <a:p>
                      <a:pPr algn="l"/>
                      <a:r>
                        <a:rPr sz="1100" b="0">
                          <a:solidFill>
                            <a:srgbClr val="2E2E2E"/>
                          </a:solidFill>
                          <a:latin typeface="Calibri"/>
                        </a:rPr>
                        <a:t>USA</a:t>
                      </a:r>
                      <a:endParaRPr sz="1100"/>
                    </a:p>
                  </a:txBody>
                  <a:tcPr marL="47625" marR="38100" marT="19050" marB="19050" anchor="ctr">
                    <a:solidFill>
                      <a:srgbClr val="F5F8FA"/>
                    </a:solidFill>
                  </a:tcPr>
                </a:tc>
                <a:tc>
                  <a:txBody>
                    <a:bodyPr/>
                    <a:lstStyle/>
                    <a:p>
                      <a:pPr algn="l"/>
                      <a:r>
                        <a:rPr sz="1100" b="0">
                          <a:solidFill>
                            <a:srgbClr val="2E2E2E"/>
                          </a:solidFill>
                          <a:latin typeface="Calibri"/>
                        </a:rPr>
                        <a:t>USA</a:t>
                      </a:r>
                      <a:endParaRPr sz="1100"/>
                    </a:p>
                  </a:txBody>
                  <a:tcPr marL="47625" marR="38100" marT="19050" marB="19050" anchor="ctr">
                    <a:solidFill>
                      <a:srgbClr val="F5F8FA"/>
                    </a:solidFill>
                  </a:tcPr>
                </a:tc>
                <a:tc>
                  <a:txBody>
                    <a:bodyPr/>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a:lstStyle/>
                    <a:p>
                      <a:pPr algn="l"/>
                      <a:r>
                        <a:rPr sz="1100" b="0">
                          <a:solidFill>
                            <a:srgbClr val="2E2E2E"/>
                          </a:solidFill>
                          <a:latin typeface="Calibri"/>
                        </a:rPr>
                        <a:t>29 Mn Units</a:t>
                      </a:r>
                      <a:endParaRPr sz="1100"/>
                    </a:p>
                  </a:txBody>
                  <a:tcPr marL="47625" marR="38100" marT="19050" marB="19050" anchor="ctr">
                    <a:solidFill>
                      <a:srgbClr val="F5F8FA"/>
                    </a:solidFill>
                  </a:tcPr>
                </a:tc>
                <a:tc>
                  <a:txBody>
                    <a:bodyPr/>
                    <a:lstStyle/>
                    <a:p>
                      <a:pPr algn="l"/>
                      <a:r>
                        <a:rPr sz="1100" b="0">
                          <a:solidFill>
                            <a:srgbClr val="2E2E2E"/>
                          </a:solidFill>
                          <a:latin typeface="Calibri"/>
                        </a:rPr>
                        <a:t>0.242</a:t>
                      </a:r>
                      <a:endParaRPr sz="1100"/>
                    </a:p>
                  </a:txBody>
                  <a:tcPr marL="47625" marR="38100" marT="19050" marB="19050" anchor="ctr">
                    <a:solidFill>
                      <a:srgbClr val="F5F8FA"/>
                    </a:solidFill>
                  </a:tcPr>
                </a:tc>
                <a:tc>
                  <a:txBody>
                    <a:bodyPr/>
                    <a:lstStyle/>
                    <a:p>
                      <a:pPr algn="l"/>
                      <a:r>
                        <a:rPr sz="1100" b="0">
                          <a:solidFill>
                            <a:srgbClr val="2E2E2E"/>
                          </a:solidFill>
                          <a:latin typeface="Calibri"/>
                        </a:rPr>
                        <a:t>7</a:t>
                      </a:r>
                      <a:endParaRPr sz="1100"/>
                    </a:p>
                  </a:txBody>
                  <a:tcPr marL="47625" marR="38100" marT="19050" marB="19050" anchor="ctr">
                    <a:solidFill>
                      <a:srgbClr val="F5F8FA"/>
                    </a:solidFill>
                  </a:tcPr>
                </a:tc>
                <a:tc>
                  <a:txBody>
                    <a:bodyPr/>
                    <a:lstStyle/>
                    <a:p>
                      <a:pPr algn="l"/>
                      <a:r>
                        <a:rPr sz="1100" b="0">
                          <a:solidFill>
                            <a:srgbClr val="2E2E2E"/>
                          </a:solidFill>
                          <a:latin typeface="Calibri"/>
                        </a:rPr>
                        <a:t>Price &amp; reliability</a:t>
                      </a:r>
                      <a:endParaRPr sz="1100"/>
                    </a:p>
                  </a:txBody>
                  <a:tcPr marL="47625" marR="38100" marT="19050" marB="19050" anchor="ctr">
                    <a:solidFill>
                      <a:srgbClr val="F5F8FA"/>
                    </a:solidFill>
                  </a:tcPr>
                </a:tc>
                <a:extLst>
                  <a:ext uri="{0D108BD9-81ED-4DB2-BD59-A6C34878D82A}">
                    <a16:rowId xmlns:a16="http://schemas.microsoft.com/office/drawing/2014/main" val="10006"/>
                  </a:ext>
                </a:extLst>
              </a:tr>
              <a:tr h="215646">
                <a:tc>
                  <a:txBody>
                    <a:bodyPr/>
                    <a:lstStyle/>
                    <a:p>
                      <a:pPr algn="l"/>
                      <a:r>
                        <a:rPr sz="1100" b="1">
                          <a:solidFill>
                            <a:srgbClr val="2E2E2E"/>
                          </a:solidFill>
                          <a:latin typeface="Calibri"/>
                        </a:rPr>
                        <a:t>Company 7</a:t>
                      </a:r>
                      <a:endParaRPr sz="1100"/>
                    </a:p>
                  </a:txBody>
                  <a:tcPr marL="47625" marR="38100" marT="19050" marB="19050" anchor="ctr">
                    <a:solidFill>
                      <a:srgbClr val="FFFFFF"/>
                    </a:solidFill>
                  </a:tcPr>
                </a:tc>
                <a:tc>
                  <a:txBody>
                    <a:bodyPr/>
                    <a:lstStyle/>
                    <a:p>
                      <a:pPr algn="l"/>
                      <a:r>
                        <a:rPr sz="1100" b="0">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a:lstStyle/>
                    <a:p>
                      <a:pPr algn="l"/>
                      <a:r>
                        <a:rPr sz="1100" b="0">
                          <a:solidFill>
                            <a:srgbClr val="2E2E2E"/>
                          </a:solidFill>
                          <a:latin typeface="Calibri"/>
                        </a:rPr>
                        <a:t>23 Mn Units</a:t>
                      </a:r>
                      <a:endParaRPr sz="1100"/>
                    </a:p>
                  </a:txBody>
                  <a:tcPr marL="47625" marR="38100" marT="19050" marB="19050" anchor="ctr">
                    <a:solidFill>
                      <a:srgbClr val="FFFFFF"/>
                    </a:solidFill>
                  </a:tcPr>
                </a:tc>
                <a:tc>
                  <a:txBody>
                    <a:bodyPr/>
                    <a:lstStyle/>
                    <a:p>
                      <a:pPr algn="l"/>
                      <a:r>
                        <a:rPr sz="1100" b="0">
                          <a:solidFill>
                            <a:srgbClr val="2E2E2E"/>
                          </a:solidFill>
                          <a:latin typeface="Calibri"/>
                        </a:rPr>
                        <a:t>0.250</a:t>
                      </a:r>
                      <a:endParaRPr sz="1100"/>
                    </a:p>
                  </a:txBody>
                  <a:tcPr marL="47625" marR="38100" marT="19050" marB="19050" anchor="ctr">
                    <a:solidFill>
                      <a:srgbClr val="FFFFFF"/>
                    </a:solidFill>
                  </a:tcPr>
                </a:tc>
                <a:tc>
                  <a:txBody>
                    <a:bodyPr/>
                    <a:lstStyle/>
                    <a:p>
                      <a:pPr algn="l"/>
                      <a:r>
                        <a:rPr sz="1100" b="0">
                          <a:solidFill>
                            <a:srgbClr val="2E2E2E"/>
                          </a:solidFill>
                          <a:latin typeface="Calibri"/>
                        </a:rPr>
                        <a:t>6</a:t>
                      </a:r>
                      <a:endParaRPr sz="1100"/>
                    </a:p>
                  </a:txBody>
                  <a:tcPr marL="47625" marR="38100" marT="19050" marB="19050" anchor="ctr">
                    <a:solidFill>
                      <a:srgbClr val="FFFFFF"/>
                    </a:solidFill>
                  </a:tcPr>
                </a:tc>
                <a:tc>
                  <a:txBody>
                    <a:bodyPr/>
                    <a:lstStyle/>
                    <a:p>
                      <a:pPr algn="l"/>
                      <a:r>
                        <a:rPr sz="1100" b="0">
                          <a:solidFill>
                            <a:srgbClr val="2E2E2E"/>
                          </a:solidFill>
                          <a:latin typeface="Calibri"/>
                        </a:rPr>
                        <a:t>Quality &amp; compliance</a:t>
                      </a:r>
                      <a:endParaRPr sz="1100"/>
                    </a:p>
                  </a:txBody>
                  <a:tcPr marL="47625" marR="38100" marT="19050" marB="19050" anchor="ctr">
                    <a:solidFill>
                      <a:srgbClr val="FFFFFF"/>
                    </a:solidFill>
                  </a:tcPr>
                </a:tc>
                <a:extLst>
                  <a:ext uri="{0D108BD9-81ED-4DB2-BD59-A6C34878D82A}">
                    <a16:rowId xmlns:a16="http://schemas.microsoft.com/office/drawing/2014/main" val="10007"/>
                  </a:ext>
                </a:extLst>
              </a:tr>
              <a:tr h="215646">
                <a:tc>
                  <a:txBody>
                    <a:bodyPr/>
                    <a:lstStyle/>
                    <a:p>
                      <a:pPr algn="l"/>
                      <a:r>
                        <a:rPr sz="1100" b="1">
                          <a:solidFill>
                            <a:srgbClr val="2E2E2E"/>
                          </a:solidFill>
                          <a:latin typeface="Calibri"/>
                        </a:rPr>
                        <a:t>Company 8</a:t>
                      </a:r>
                      <a:endParaRPr sz="1100"/>
                    </a:p>
                  </a:txBody>
                  <a:tcPr marL="47625" marR="38100" marT="19050" marB="19050" anchor="ctr">
                    <a:solidFill>
                      <a:srgbClr val="F5F8FA"/>
                    </a:solidFill>
                  </a:tcPr>
                </a:tc>
                <a:tc>
                  <a:txBody>
                    <a:bodyPr/>
                    <a:lstStyle/>
                    <a:p>
                      <a:pPr algn="l"/>
                      <a:r>
                        <a:rPr sz="1100" b="0">
                          <a:solidFill>
                            <a:srgbClr val="2E2E2E"/>
                          </a:solidFill>
                          <a:latin typeface="Calibri"/>
                        </a:rPr>
                        <a:t>USA</a:t>
                      </a:r>
                      <a:endParaRPr sz="1100"/>
                    </a:p>
                  </a:txBody>
                  <a:tcPr marL="47625" marR="38100" marT="19050" marB="19050" anchor="ctr">
                    <a:solidFill>
                      <a:srgbClr val="F5F8FA"/>
                    </a:solidFill>
                  </a:tcPr>
                </a:tc>
                <a:tc>
                  <a:txBody>
                    <a:bodyPr/>
                    <a:lstStyle/>
                    <a:p>
                      <a:pPr algn="l"/>
                      <a:r>
                        <a:rPr sz="1100" b="0">
                          <a:solidFill>
                            <a:srgbClr val="2E2E2E"/>
                          </a:solidFill>
                          <a:latin typeface="Calibri"/>
                        </a:rPr>
                        <a:t>USA</a:t>
                      </a:r>
                      <a:endParaRPr sz="1100"/>
                    </a:p>
                  </a:txBody>
                  <a:tcPr marL="47625" marR="38100" marT="19050" marB="19050" anchor="ctr">
                    <a:solidFill>
                      <a:srgbClr val="F5F8FA"/>
                    </a:solidFill>
                  </a:tcPr>
                </a:tc>
                <a:tc>
                  <a:txBody>
                    <a:bodyPr/>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a:lstStyle/>
                    <a:p>
                      <a:pPr algn="l"/>
                      <a:r>
                        <a:rPr sz="1100" b="0">
                          <a:solidFill>
                            <a:srgbClr val="2E2E2E"/>
                          </a:solidFill>
                          <a:latin typeface="Calibri"/>
                        </a:rPr>
                        <a:t>17 Mn Units</a:t>
                      </a:r>
                      <a:endParaRPr sz="1100"/>
                    </a:p>
                  </a:txBody>
                  <a:tcPr marL="47625" marR="38100" marT="19050" marB="19050" anchor="ctr">
                    <a:solidFill>
                      <a:srgbClr val="F5F8FA"/>
                    </a:solidFill>
                  </a:tcPr>
                </a:tc>
                <a:tc>
                  <a:txBody>
                    <a:bodyPr/>
                    <a:lstStyle/>
                    <a:p>
                      <a:pPr algn="l"/>
                      <a:r>
                        <a:rPr sz="1100" b="0">
                          <a:solidFill>
                            <a:srgbClr val="2E2E2E"/>
                          </a:solidFill>
                          <a:latin typeface="Calibri"/>
                        </a:rPr>
                        <a:t>0.257</a:t>
                      </a:r>
                      <a:endParaRPr sz="1100"/>
                    </a:p>
                  </a:txBody>
                  <a:tcPr marL="47625" marR="38100" marT="19050" marB="19050" anchor="ctr">
                    <a:solidFill>
                      <a:srgbClr val="F5F8FA"/>
                    </a:solidFill>
                  </a:tcPr>
                </a:tc>
                <a:tc>
                  <a:txBody>
                    <a:bodyPr/>
                    <a:lstStyle/>
                    <a:p>
                      <a:pPr algn="l"/>
                      <a:r>
                        <a:rPr sz="1100" b="0">
                          <a:solidFill>
                            <a:srgbClr val="2E2E2E"/>
                          </a:solidFill>
                          <a:latin typeface="Calibri"/>
                        </a:rPr>
                        <a:t>4</a:t>
                      </a:r>
                      <a:endParaRPr sz="1100"/>
                    </a:p>
                  </a:txBody>
                  <a:tcPr marL="47625" marR="38100" marT="19050" marB="19050" anchor="ctr">
                    <a:solidFill>
                      <a:srgbClr val="F5F8FA"/>
                    </a:solidFill>
                  </a:tcPr>
                </a:tc>
                <a:tc>
                  <a:txBody>
                    <a:bodyPr/>
                    <a:lstStyle/>
                    <a:p>
                      <a:pPr algn="l"/>
                      <a:r>
                        <a:rPr sz="1100" b="0">
                          <a:solidFill>
                            <a:srgbClr val="2E2E2E"/>
                          </a:solidFill>
                          <a:latin typeface="Calibri"/>
                        </a:rPr>
                        <a:t>Lead time &amp; service</a:t>
                      </a:r>
                      <a:endParaRPr sz="1100"/>
                    </a:p>
                  </a:txBody>
                  <a:tcPr marL="47625" marR="38100" marT="19050" marB="19050" anchor="ctr">
                    <a:solidFill>
                      <a:srgbClr val="F5F8FA"/>
                    </a:solidFill>
                  </a:tcPr>
                </a:tc>
                <a:extLst>
                  <a:ext uri="{0D108BD9-81ED-4DB2-BD59-A6C34878D82A}">
                    <a16:rowId xmlns:a16="http://schemas.microsoft.com/office/drawing/2014/main" val="10008"/>
                  </a:ext>
                </a:extLst>
              </a:tr>
              <a:tr h="215646">
                <a:tc>
                  <a:txBody>
                    <a:bodyPr/>
                    <a:lstStyle/>
                    <a:p>
                      <a:pPr algn="l"/>
                      <a:r>
                        <a:rPr sz="1100" b="1">
                          <a:solidFill>
                            <a:srgbClr val="2E2E2E"/>
                          </a:solidFill>
                          <a:latin typeface="Calibri"/>
                        </a:rPr>
                        <a:t>Company 9</a:t>
                      </a:r>
                      <a:endParaRPr sz="1100"/>
                    </a:p>
                  </a:txBody>
                  <a:tcPr marL="47625" marR="38100" marT="19050" marB="19050" anchor="ctr">
                    <a:solidFill>
                      <a:srgbClr val="FFFFFF"/>
                    </a:solidFill>
                  </a:tcPr>
                </a:tc>
                <a:tc>
                  <a:txBody>
                    <a:bodyPr/>
                    <a:lstStyle/>
                    <a:p>
                      <a:pPr algn="l"/>
                      <a:r>
                        <a:rPr sz="1100" b="0">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USA</a:t>
                      </a:r>
                      <a:endParaRPr sz="1100"/>
                    </a:p>
                  </a:txBody>
                  <a:tcPr marL="47625" marR="38100" marT="19050" marB="19050" anchor="ctr">
                    <a:solidFill>
                      <a:srgbClr val="FFFFFF"/>
                    </a:solidFill>
                  </a:tcPr>
                </a:tc>
                <a:tc>
                  <a:txBody>
                    <a:bodyPr/>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a:lstStyle/>
                    <a:p>
                      <a:pPr algn="l"/>
                      <a:r>
                        <a:rPr sz="1100" b="0">
                          <a:solidFill>
                            <a:srgbClr val="2E2E2E"/>
                          </a:solidFill>
                          <a:latin typeface="Calibri"/>
                        </a:rPr>
                        <a:t>12 Mn Units</a:t>
                      </a:r>
                      <a:endParaRPr sz="1100"/>
                    </a:p>
                  </a:txBody>
                  <a:tcPr marL="47625" marR="38100" marT="19050" marB="19050" anchor="ctr">
                    <a:solidFill>
                      <a:srgbClr val="FFFFFF"/>
                    </a:solidFill>
                  </a:tcPr>
                </a:tc>
                <a:tc>
                  <a:txBody>
                    <a:bodyPr/>
                    <a:lstStyle/>
                    <a:p>
                      <a:pPr algn="l"/>
                      <a:r>
                        <a:rPr sz="1100" b="0">
                          <a:solidFill>
                            <a:srgbClr val="2E2E2E"/>
                          </a:solidFill>
                          <a:latin typeface="Calibri"/>
                        </a:rPr>
                        <a:t>0.265</a:t>
                      </a:r>
                      <a:endParaRPr sz="1100"/>
                    </a:p>
                  </a:txBody>
                  <a:tcPr marL="47625" marR="38100" marT="19050" marB="19050" anchor="ctr">
                    <a:solidFill>
                      <a:srgbClr val="FFFFFF"/>
                    </a:solidFill>
                  </a:tcPr>
                </a:tc>
                <a:tc>
                  <a:txBody>
                    <a:bodyPr/>
                    <a:lstStyle/>
                    <a:p>
                      <a:pPr algn="l"/>
                      <a:r>
                        <a:rPr sz="1100" b="0">
                          <a:solidFill>
                            <a:srgbClr val="2E2E2E"/>
                          </a:solidFill>
                          <a:latin typeface="Calibri"/>
                        </a:rPr>
                        <a:t>3</a:t>
                      </a:r>
                      <a:endParaRPr sz="1100"/>
                    </a:p>
                  </a:txBody>
                  <a:tcPr marL="47625" marR="38100" marT="19050" marB="19050" anchor="ctr">
                    <a:solidFill>
                      <a:srgbClr val="FFFFFF"/>
                    </a:solidFill>
                  </a:tcPr>
                </a:tc>
                <a:tc>
                  <a:txBody>
                    <a:bodyPr/>
                    <a:lstStyle/>
                    <a:p>
                      <a:pPr algn="l"/>
                      <a:r>
                        <a:rPr sz="1100" b="0">
                          <a:solidFill>
                            <a:srgbClr val="2E2E2E"/>
                          </a:solidFill>
                          <a:latin typeface="Calibri"/>
                        </a:rPr>
                        <a:t>Capacity &amp; scale</a:t>
                      </a:r>
                      <a:endParaRPr sz="1100"/>
                    </a:p>
                  </a:txBody>
                  <a:tcPr marL="47625" marR="38100" marT="19050" marB="19050" anchor="ctr">
                    <a:solidFill>
                      <a:srgbClr val="FFFFFF"/>
                    </a:solidFill>
                  </a:tcPr>
                </a:tc>
                <a:extLst>
                  <a:ext uri="{0D108BD9-81ED-4DB2-BD59-A6C34878D82A}">
                    <a16:rowId xmlns:a16="http://schemas.microsoft.com/office/drawing/2014/main" val="10009"/>
                  </a:ext>
                </a:extLst>
              </a:tr>
              <a:tr h="215646">
                <a:tc>
                  <a:txBody>
                    <a:bodyPr/>
                    <a:lstStyle/>
                    <a:p>
                      <a:pPr algn="l"/>
                      <a:r>
                        <a:rPr sz="1100" b="1">
                          <a:solidFill>
                            <a:srgbClr val="2E2E2E"/>
                          </a:solidFill>
                          <a:latin typeface="Calibri"/>
                        </a:rPr>
                        <a:t>Company 10</a:t>
                      </a:r>
                      <a:endParaRPr sz="1100"/>
                    </a:p>
                  </a:txBody>
                  <a:tcPr marL="47625" marR="38100" marT="19050" marB="19050" anchor="ctr">
                    <a:solidFill>
                      <a:srgbClr val="F5F8FA"/>
                    </a:solidFill>
                  </a:tcPr>
                </a:tc>
                <a:tc>
                  <a:txBody>
                    <a:bodyPr/>
                    <a:lstStyle/>
                    <a:p>
                      <a:pPr algn="l"/>
                      <a:r>
                        <a:rPr sz="1100" b="0">
                          <a:solidFill>
                            <a:srgbClr val="2E2E2E"/>
                          </a:solidFill>
                          <a:latin typeface="Calibri"/>
                        </a:rPr>
                        <a:t>USA</a:t>
                      </a:r>
                      <a:endParaRPr sz="1100"/>
                    </a:p>
                  </a:txBody>
                  <a:tcPr marL="47625" marR="38100" marT="19050" marB="19050" anchor="ctr">
                    <a:solidFill>
                      <a:srgbClr val="F5F8FA"/>
                    </a:solidFill>
                  </a:tcPr>
                </a:tc>
                <a:tc>
                  <a:txBody>
                    <a:bodyPr/>
                    <a:lstStyle/>
                    <a:p>
                      <a:pPr algn="l"/>
                      <a:r>
                        <a:rPr sz="1100" b="0">
                          <a:solidFill>
                            <a:srgbClr val="2E2E2E"/>
                          </a:solidFill>
                          <a:latin typeface="Calibri"/>
                        </a:rPr>
                        <a:t>USA</a:t>
                      </a:r>
                      <a:endParaRPr sz="1100"/>
                    </a:p>
                  </a:txBody>
                  <a:tcPr marL="47625" marR="38100" marT="19050" marB="19050" anchor="ctr">
                    <a:solidFill>
                      <a:srgbClr val="F5F8FA"/>
                    </a:solidFill>
                  </a:tcPr>
                </a:tc>
                <a:tc>
                  <a:txBody>
                    <a:bodyPr/>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a:lstStyle/>
                    <a:p>
                      <a:pPr algn="l"/>
                      <a:r>
                        <a:rPr sz="1100" b="0">
                          <a:solidFill>
                            <a:srgbClr val="2E2E2E"/>
                          </a:solidFill>
                          <a:latin typeface="Calibri"/>
                        </a:rPr>
                        <a:t>6 Mn Units</a:t>
                      </a:r>
                      <a:endParaRPr sz="1100"/>
                    </a:p>
                  </a:txBody>
                  <a:tcPr marL="47625" marR="38100" marT="19050" marB="19050" anchor="ctr">
                    <a:solidFill>
                      <a:srgbClr val="F5F8FA"/>
                    </a:solidFill>
                  </a:tcPr>
                </a:tc>
                <a:tc>
                  <a:txBody>
                    <a:bodyPr/>
                    <a:lstStyle/>
                    <a:p>
                      <a:pPr algn="l"/>
                      <a:r>
                        <a:rPr sz="1100" b="0">
                          <a:solidFill>
                            <a:srgbClr val="2E2E2E"/>
                          </a:solidFill>
                          <a:latin typeface="Calibri"/>
                        </a:rPr>
                        <a:t>0.273</a:t>
                      </a:r>
                      <a:endParaRPr sz="1100"/>
                    </a:p>
                  </a:txBody>
                  <a:tcPr marL="47625" marR="38100" marT="19050" marB="19050" anchor="ctr">
                    <a:solidFill>
                      <a:srgbClr val="F5F8FA"/>
                    </a:solidFill>
                  </a:tcPr>
                </a:tc>
                <a:tc>
                  <a:txBody>
                    <a:bodyPr/>
                    <a:lstStyle/>
                    <a:p>
                      <a:pPr algn="l"/>
                      <a:r>
                        <a:rPr sz="1100" b="0">
                          <a:solidFill>
                            <a:srgbClr val="2E2E2E"/>
                          </a:solidFill>
                          <a:latin typeface="Calibri"/>
                        </a:rPr>
                        <a:t>2</a:t>
                      </a:r>
                      <a:endParaRPr sz="1100"/>
                    </a:p>
                  </a:txBody>
                  <a:tcPr marL="47625" marR="38100" marT="19050" marB="19050" anchor="ctr">
                    <a:solidFill>
                      <a:srgbClr val="F5F8FA"/>
                    </a:solidFill>
                  </a:tcPr>
                </a:tc>
                <a:tc>
                  <a:txBody>
                    <a:bodyPr/>
                    <a:lstStyle/>
                    <a:p>
                      <a:pPr algn="l"/>
                      <a:r>
                        <a:rPr sz="1100" b="0">
                          <a:solidFill>
                            <a:srgbClr val="2E2E2E"/>
                          </a:solidFill>
                          <a:latin typeface="Calibri"/>
                        </a:rPr>
                        <a:t>Brand &amp; support</a:t>
                      </a:r>
                      <a:endParaRPr sz="1100"/>
                    </a:p>
                  </a:txBody>
                  <a:tcPr marL="47625" marR="38100" marT="19050" marB="19050" anchor="ctr">
                    <a:solidFill>
                      <a:srgbClr val="F5F8FA"/>
                    </a:solidFill>
                  </a:tcPr>
                </a:tc>
                <a:extLst>
                  <a:ext uri="{0D108BD9-81ED-4DB2-BD59-A6C34878D82A}">
                    <a16:rowId xmlns:a16="http://schemas.microsoft.com/office/drawing/2014/main" val="10010"/>
                  </a:ext>
                </a:extLst>
              </a:tr>
            </a:tbl>
          </a:graphicData>
        </a:graphic>
      </p:graphicFrame>
      <p:sp>
        <p:nvSpPr>
          <p:cNvPr id="13" name="TextBox 12"/>
          <p:cNvSpPr txBox="1"/>
          <p:nvPr/>
        </p:nvSpPr>
        <p:spPr>
          <a:xfrm>
            <a:off x="219075" y="3619500"/>
            <a:ext cx="11753850" cy="171450"/>
          </a:xfrm>
          <a:prstGeom prst="rect">
            <a:avLst/>
          </a:prstGeom>
          <a:noFill/>
        </p:spPr>
        <p:txBody>
          <a:bodyPr wrap="square" lIns="0" tIns="0" r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952875"/>
            <a:ext cx="11906250" cy="2676525"/>
          </a:xfrm>
          <a:prstGeom prst="roundRect">
            <a:avLst>
              <a:gd name="adj" fmla="val 28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225" y="4038600"/>
            <a:ext cx="11639550" cy="209550"/>
          </a:xfrm>
          <a:prstGeom prst="rect">
            <a:avLst/>
          </a:prstGeom>
          <a:noFill/>
        </p:spPr>
        <p:txBody>
          <a:bodyPr wrap="square" lIns="0" tIns="9525" rIns="19050" bIns="9525">
            <a:spAutoFit/>
          </a:bodyPr>
          <a:lstStyle/>
          <a:p>
            <a:pPr algn="l"/>
            <a:r>
              <a:rPr sz="1300" b="1">
                <a:solidFill>
                  <a:srgbClr val="0B2E4A"/>
                </a:solidFill>
                <a:latin typeface="Calibri"/>
              </a:rPr>
              <a:t>Notes</a:t>
            </a:r>
          </a:p>
        </p:txBody>
      </p:sp>
      <p:sp>
        <p:nvSpPr>
          <p:cNvPr id="16" name="Rectangle 15"/>
          <p:cNvSpPr/>
          <p:nvPr/>
        </p:nvSpPr>
        <p:spPr>
          <a:xfrm>
            <a:off x="276225" y="42767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225" y="4362450"/>
            <a:ext cx="11639550" cy="2190750"/>
          </a:xfrm>
          <a:prstGeom prst="rect">
            <a:avLst/>
          </a:prstGeom>
          <a:noFill/>
        </p:spPr>
        <p:txBody>
          <a:bodyPr wrap="square" lIns="0" tIns="9525" rIns="19050"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8" name="TextBox 1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A2A63"/>
        </a:solidFill>
        <a:effectLst/>
      </p:bgPr>
    </p:bg>
    <p:spTree>
      <p:nvGrpSpPr>
        <p:cNvPr id="1" name=""/>
        <p:cNvGrpSpPr/>
        <p:nvPr/>
      </p:nvGrpSpPr>
      <p:grpSpPr>
        <a:xfrm>
          <a:off x="0" y="0"/>
          <a:ext cx="0" cy="0"/>
          <a:chOff x="0" y="0"/>
          <a:chExt cx="0" cy="0"/>
        </a:xfrm>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ang="19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mi_logo_template.png"/>
          <p:cNvPicPr>
            <a:picLocks noChangeAspect="1"/>
          </p:cNvPicPr>
          <p:nvPr/>
        </p:nvPicPr>
        <p:blipFill>
          <a:blip r:embed="rId3"/>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Prenatal Vitamin Supplements Market</a:t>
            </a:r>
          </a:p>
        </p:txBody>
      </p:sp>
      <p:sp>
        <p:nvSpPr>
          <p:cNvPr id="6" name="FMI Breaker Title"/>
          <p:cNvSpPr txBox="1"/>
          <p:nvPr/>
        </p:nvSpPr>
        <p:spPr>
          <a:xfrm>
            <a:off x="914400" y="3698875"/>
            <a:ext cx="7239000" cy="514350"/>
          </a:xfrm>
          <a:prstGeom prst="rect">
            <a:avLst/>
          </a:prstGeom>
          <a:noFill/>
        </p:spPr>
        <p:txBody>
          <a:bodyPr wrap="square" lIns="0" tIns="0" r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FFD447"/>
                </a:solidFill>
                <a:latin typeface="Calibri"/>
              </a:rPr>
              <a:t>➤	Market Dynamics &amp; Forces</a:t>
            </a:r>
          </a:p>
        </p:txBody>
      </p:sp>
      <p:sp>
        <p:nvSpPr>
          <p:cNvPr id="8" name="TextBox 7"/>
          <p:cNvSpPr txBox="1"/>
          <p:nvPr/>
        </p:nvSpPr>
        <p:spPr>
          <a:xfrm>
            <a:off x="4000500" y="6734175"/>
            <a:ext cx="8020050" cy="123825"/>
          </a:xfrm>
          <a:prstGeom prst="rect">
            <a:avLst/>
          </a:prstGeom>
          <a:noFill/>
        </p:spPr>
        <p:txBody>
          <a:bodyPr wrap="square" lIns="28575" tIns="9525" rIns="2857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1F8FE"/>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gradFill rotWithShape="1">
            <a:gsLst>
              <a:gs pos="0">
                <a:srgbClr val="F1F8FE"/>
              </a:gs>
              <a:gs pos="100000">
                <a:srgbClr val="DAEAF9"/>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MI Section Bar"/>
          <p:cNvSpPr txBox="1"/>
          <p:nvPr/>
        </p:nvSpPr>
        <p:spPr>
          <a:xfrm>
            <a:off x="285750" y="6238875"/>
            <a:ext cx="3810000" cy="400050"/>
          </a:xfrm>
          <a:prstGeom prst="rect">
            <a:avLst/>
          </a:prstGeom>
          <a:noFill/>
        </p:spPr>
        <p:txBody>
          <a:bodyPr wrap="none" lIns="0" tIns="0" bIns="0" anchor="ctr">
            <a:spAutoFit/>
          </a:bodyPr>
          <a:lstStyle/>
          <a:p>
            <a:r>
              <a:rPr sz="1500" b="1">
                <a:solidFill>
                  <a:srgbClr val="FFFFFF"/>
                </a:solidFill>
                <a:latin typeface="Calibri"/>
              </a:rPr>
              <a:t>Section 10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Prenatal Vitamin Supplements Market</a:t>
            </a:r>
          </a:p>
        </p:txBody>
      </p:sp>
      <p:sp>
        <p:nvSpPr>
          <p:cNvPr id="10" name="FMI Section Title"/>
          <p:cNvSpPr txBox="1"/>
          <p:nvPr/>
        </p:nvSpPr>
        <p:spPr>
          <a:xfrm>
            <a:off x="914400" y="2701925"/>
            <a:ext cx="8572500" cy="514350"/>
          </a:xfrm>
          <a:prstGeom prst="rect">
            <a:avLst/>
          </a:prstGeom>
          <a:noFill/>
        </p:spPr>
        <p:txBody>
          <a:bodyPr wrap="square" lIns="0" tIns="0" rIns="0">
            <a:spAutoFit/>
          </a:bodyPr>
          <a:lstStyle/>
          <a:p>
            <a:r>
              <a:rPr sz="3000" b="1">
                <a:solidFill>
                  <a:srgbClr val="0B3C8C"/>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tIns="0" rIns="0" bIns="0">
            <a:spAutoFit/>
          </a:bodyPr>
          <a:lstStyle/>
          <a:p>
            <a:pPr marL="342900" indent="-323850">
              <a:lnSpc>
                <a:spcPct val="100000"/>
              </a:lnSpc>
              <a:spcAft>
                <a:spcPts val="800"/>
              </a:spcAft>
            </a:pPr>
            <a:r>
              <a:rPr sz="2000" b="0">
                <a:solidFill>
                  <a:srgbClr val="000000"/>
                </a:solidFill>
                <a:latin typeface="Calibri"/>
              </a:rPr>
              <a:t>➤	Market Drivers</a:t>
            </a:r>
          </a:p>
          <a:p>
            <a:pPr marL="342900" indent="-323850">
              <a:lnSpc>
                <a:spcPct val="100000"/>
              </a:lnSpc>
              <a:spcAft>
                <a:spcPts val="800"/>
              </a:spcAft>
            </a:pPr>
            <a:r>
              <a:rPr sz="2000" b="0">
                <a:solidFill>
                  <a:srgbClr val="000000"/>
                </a:solidFill>
                <a:latin typeface="Calibri"/>
              </a:rPr>
              <a:t>➤	Market Restraints</a:t>
            </a:r>
          </a:p>
          <a:p>
            <a:pPr marL="342900" indent="-323850">
              <a:lnSpc>
                <a:spcPct val="100000"/>
              </a:lnSpc>
              <a:spcAft>
                <a:spcPts val="800"/>
              </a:spcAft>
            </a:pPr>
            <a:r>
              <a:rPr sz="2000" b="0">
                <a:solidFill>
                  <a:srgbClr val="000000"/>
                </a:solidFill>
                <a:latin typeface="Calibri"/>
              </a:rPr>
              <a:t>➤	Market Opportunities</a:t>
            </a:r>
          </a:p>
          <a:p>
            <a:pPr marL="342900" indent="-323850">
              <a:lnSpc>
                <a:spcPct val="100000"/>
              </a:lnSpc>
              <a:spcAft>
                <a:spcPts val="800"/>
              </a:spcAft>
            </a:pPr>
            <a:r>
              <a:rPr sz="2000" b="0">
                <a:solidFill>
                  <a:srgbClr val="000000"/>
                </a:solidFill>
                <a:latin typeface="Calibri"/>
              </a:rPr>
              <a:t>➤	Recent Developments &amp; Milestones</a:t>
            </a:r>
          </a:p>
          <a:p>
            <a:pPr marL="342900" indent="-323850">
              <a:lnSpc>
                <a:spcPct val="100000"/>
              </a:lnSpc>
              <a:spcAft>
                <a:spcPts val="800"/>
              </a:spcAft>
            </a:pPr>
            <a:r>
              <a:rPr sz="2000" b="0">
                <a:solidFill>
                  <a:srgbClr val="000000"/>
                </a:solidFill>
                <a:latin typeface="Calibri"/>
              </a:rPr>
              <a:t>➤	Five Forces Analysis</a:t>
            </a:r>
          </a:p>
        </p:txBody>
      </p:sp>
      <p:sp>
        <p:nvSpPr>
          <p:cNvPr id="12" name="TextBox 11"/>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Dynamics by Country</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the growth driver, restraint and opportunity shaping each country of the USA market</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TextBox 10"/>
          <p:cNvSpPr txBox="1"/>
          <p:nvPr/>
        </p:nvSpPr>
        <p:spPr>
          <a:xfrm>
            <a:off x="180975" y="1025515"/>
            <a:ext cx="8572500" cy="219044"/>
          </a:xfrm>
          <a:prstGeom prst="rect">
            <a:avLst/>
          </a:prstGeom>
          <a:noFill/>
        </p:spPr>
        <p:txBody>
          <a:bodyPr wrap="square" lIns="28575" tIns="9525" rIns="28575" bIns="9525" anchor="ctr">
            <a:spAutoFit/>
          </a:bodyPr>
          <a:lstStyle/>
          <a:p>
            <a:pPr algn="l"/>
            <a:r>
              <a:rPr sz="1150" b="1">
                <a:solidFill>
                  <a:srgbClr val="2E2E2E"/>
                </a:solidFill>
                <a:latin typeface="Calibri"/>
              </a:rPr>
              <a:t>Demand Dynamics by Country  ·  ranked by 2036 value</a:t>
            </a:r>
          </a:p>
        </p:txBody>
      </p:sp>
      <p:sp>
        <p:nvSpPr>
          <p:cNvPr id="12" name="Rectangle 11"/>
          <p:cNvSpPr/>
          <p:nvPr/>
        </p:nvSpPr>
        <p:spPr>
          <a:xfrm>
            <a:off x="142875" y="1262813"/>
            <a:ext cx="11906250" cy="255552"/>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0025" y="1262813"/>
            <a:ext cx="1428750" cy="255552"/>
          </a:xfrm>
          <a:prstGeom prst="rect">
            <a:avLst/>
          </a:prstGeom>
          <a:noFill/>
        </p:spPr>
        <p:txBody>
          <a:bodyPr wrap="square" lIns="28575" tIns="9525" rIns="28575" bIns="9525" anchor="ctr">
            <a:spAutoFit/>
          </a:bodyPr>
          <a:lstStyle/>
          <a:p>
            <a:pPr algn="l"/>
            <a:r>
              <a:rPr sz="1100" b="1">
                <a:solidFill>
                  <a:srgbClr val="0B2E4A"/>
                </a:solidFill>
                <a:latin typeface="Calibri"/>
              </a:rPr>
              <a:t>Country</a:t>
            </a:r>
          </a:p>
        </p:txBody>
      </p:sp>
      <p:sp>
        <p:nvSpPr>
          <p:cNvPr id="14" name="TextBox 13"/>
          <p:cNvSpPr txBox="1"/>
          <p:nvPr/>
        </p:nvSpPr>
        <p:spPr>
          <a:xfrm>
            <a:off x="1724025" y="1262813"/>
            <a:ext cx="3714750" cy="255552"/>
          </a:xfrm>
          <a:prstGeom prst="rect">
            <a:avLst/>
          </a:prstGeom>
          <a:noFill/>
        </p:spPr>
        <p:txBody>
          <a:bodyPr wrap="square" lIns="28575" tIns="9525" rIns="28575" bIns="9525" anchor="ctr">
            <a:spAutoFit/>
          </a:bodyPr>
          <a:lstStyle/>
          <a:p>
            <a:pPr algn="l"/>
            <a:r>
              <a:rPr sz="1100" b="1">
                <a:solidFill>
                  <a:srgbClr val="0B2E4A"/>
                </a:solidFill>
                <a:latin typeface="Calibri"/>
              </a:rPr>
              <a:t>Growth Drivers</a:t>
            </a:r>
          </a:p>
        </p:txBody>
      </p:sp>
      <p:sp>
        <p:nvSpPr>
          <p:cNvPr id="15" name="TextBox 14"/>
          <p:cNvSpPr txBox="1"/>
          <p:nvPr/>
        </p:nvSpPr>
        <p:spPr>
          <a:xfrm>
            <a:off x="5534025" y="1262813"/>
            <a:ext cx="2762250" cy="255552"/>
          </a:xfrm>
          <a:prstGeom prst="rect">
            <a:avLst/>
          </a:prstGeom>
          <a:noFill/>
        </p:spPr>
        <p:txBody>
          <a:bodyPr wrap="square" lIns="28575" tIns="9525" rIns="28575" bIns="9525" anchor="ctr">
            <a:spAutoFit/>
          </a:bodyPr>
          <a:lstStyle/>
          <a:p>
            <a:pPr algn="l"/>
            <a:r>
              <a:rPr sz="1100" b="1">
                <a:solidFill>
                  <a:srgbClr val="0B2E4A"/>
                </a:solidFill>
                <a:latin typeface="Calibri"/>
              </a:rPr>
              <a:t>Restraints</a:t>
            </a:r>
          </a:p>
        </p:txBody>
      </p:sp>
      <p:sp>
        <p:nvSpPr>
          <p:cNvPr id="16" name="TextBox 15"/>
          <p:cNvSpPr txBox="1"/>
          <p:nvPr/>
        </p:nvSpPr>
        <p:spPr>
          <a:xfrm>
            <a:off x="8391525" y="1262813"/>
            <a:ext cx="3619500" cy="255552"/>
          </a:xfrm>
          <a:prstGeom prst="rect">
            <a:avLst/>
          </a:prstGeom>
          <a:noFill/>
        </p:spPr>
        <p:txBody>
          <a:bodyPr wrap="square" lIns="28575" tIns="9525" rIns="28575" bIns="9525" anchor="ctr">
            <a:spAutoFit/>
          </a:bodyPr>
          <a:lstStyle/>
          <a:p>
            <a:pPr algn="l"/>
            <a:r>
              <a:rPr sz="1100" b="1">
                <a:solidFill>
                  <a:srgbClr val="0B2E4A"/>
                </a:solidFill>
                <a:latin typeface="Calibri"/>
              </a:rPr>
              <a:t>Priority Opportunities</a:t>
            </a:r>
          </a:p>
        </p:txBody>
      </p:sp>
      <p:sp>
        <p:nvSpPr>
          <p:cNvPr id="17" name="Rectangle 16"/>
          <p:cNvSpPr/>
          <p:nvPr/>
        </p:nvSpPr>
        <p:spPr>
          <a:xfrm>
            <a:off x="142875" y="1518365"/>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0025" y="1518365"/>
            <a:ext cx="1428750" cy="511104"/>
          </a:xfrm>
          <a:prstGeom prst="rect">
            <a:avLst/>
          </a:prstGeom>
          <a:noFill/>
        </p:spPr>
        <p:txBody>
          <a:bodyPr wrap="square" lIns="28575" tIns="9525" rIns="28575" bIns="9525" anchor="ctr">
            <a:spAutoFit/>
          </a:bodyPr>
          <a:lstStyle/>
          <a:p>
            <a:pPr algn="l"/>
            <a:r>
              <a:rPr sz="1100" b="1">
                <a:solidFill>
                  <a:srgbClr val="2E2E2E"/>
                </a:solidFill>
                <a:latin typeface="Calibri"/>
              </a:rPr>
              <a:t>USA</a:t>
            </a:r>
          </a:p>
        </p:txBody>
      </p:sp>
      <p:sp>
        <p:nvSpPr>
          <p:cNvPr id="19" name="TextBox 18"/>
          <p:cNvSpPr txBox="1"/>
          <p:nvPr/>
        </p:nvSpPr>
        <p:spPr>
          <a:xfrm>
            <a:off x="1724025" y="1545745"/>
            <a:ext cx="3676650" cy="456342"/>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Scale base (100.0% share), Above-market pace (6.6%), Tablet demand, Accelerating vs history.</a:t>
            </a:r>
          </a:p>
        </p:txBody>
      </p:sp>
      <p:sp>
        <p:nvSpPr>
          <p:cNvPr id="20" name="TextBox 19"/>
          <p:cNvSpPr txBox="1"/>
          <p:nvPr/>
        </p:nvSpPr>
        <p:spPr>
          <a:xfrm>
            <a:off x="5534025" y="1545745"/>
            <a:ext cx="2724150" cy="456342"/>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Rising realisation (0.7%).</a:t>
            </a:r>
          </a:p>
        </p:txBody>
      </p:sp>
      <p:sp>
        <p:nvSpPr>
          <p:cNvPr id="21" name="TextBox 20"/>
          <p:cNvSpPr txBox="1"/>
          <p:nvPr/>
        </p:nvSpPr>
        <p:spPr>
          <a:xfrm>
            <a:off x="8391525" y="1545745"/>
            <a:ext cx="3581400" cy="456342"/>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Scale Powder (13.6%), Mix shift to Gummies, 207.2 US$ Mn headroom.</a:t>
            </a:r>
          </a:p>
        </p:txBody>
      </p:sp>
      <p:cxnSp>
        <p:nvCxnSpPr>
          <p:cNvPr id="22" name="Connector 21"/>
          <p:cNvCxnSpPr/>
          <p:nvPr/>
        </p:nvCxnSpPr>
        <p:spPr>
          <a:xfrm>
            <a:off x="142875" y="2029468"/>
            <a:ext cx="11906250" cy="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00025" y="2047722"/>
            <a:ext cx="3810000" cy="182537"/>
          </a:xfrm>
          <a:prstGeom prst="rect">
            <a:avLst/>
          </a:prstGeom>
          <a:noFill/>
        </p:spPr>
        <p:txBody>
          <a:bodyPr wrap="square" lIns="28575" tIns="9525" rIns="28575" bIns="9525" anchor="ctr">
            <a:spAutoFit/>
          </a:bodyPr>
          <a:lstStyle/>
          <a:p>
            <a:pPr algn="l"/>
            <a:r>
              <a:rPr sz="1100" b="0">
                <a:solidFill>
                  <a:srgbClr val="6C7A89"/>
                </a:solidFill>
                <a:latin typeface="Calibri"/>
              </a:rPr>
              <a:t>Source: FMI Analysis, 2026</a:t>
            </a:r>
          </a:p>
        </p:txBody>
      </p:sp>
      <p:sp>
        <p:nvSpPr>
          <p:cNvPr id="24" name="Rounded Rectangle 23"/>
          <p:cNvSpPr/>
          <p:nvPr/>
        </p:nvSpPr>
        <p:spPr>
          <a:xfrm>
            <a:off x="142875" y="2303274"/>
            <a:ext cx="11906250" cy="803163"/>
          </a:xfrm>
          <a:prstGeom prst="roundRect">
            <a:avLst>
              <a:gd name="adj" fmla="val 479"/>
            </a:avLst>
          </a:prstGeom>
          <a:solidFill>
            <a:srgbClr val="FFFFFF"/>
          </a:solidFill>
          <a:ln w="1270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76225" y="2339781"/>
            <a:ext cx="3810000" cy="219044"/>
          </a:xfrm>
          <a:prstGeom prst="rect">
            <a:avLst/>
          </a:prstGeom>
          <a:noFill/>
        </p:spPr>
        <p:txBody>
          <a:bodyPr wrap="square" lIns="28575" tIns="9525" rIns="28575" bIns="9525" anchor="ctr">
            <a:spAutoFit/>
          </a:bodyPr>
          <a:lstStyle/>
          <a:p>
            <a:pPr algn="l"/>
            <a:r>
              <a:rPr sz="1200" b="1">
                <a:solidFill>
                  <a:srgbClr val="0B2E4A"/>
                </a:solidFill>
                <a:latin typeface="Calibri"/>
              </a:rPr>
              <a:t>KEY TAKEAWAY</a:t>
            </a:r>
          </a:p>
        </p:txBody>
      </p:sp>
      <p:cxnSp>
        <p:nvCxnSpPr>
          <p:cNvPr id="26" name="Connector 25"/>
          <p:cNvCxnSpPr/>
          <p:nvPr/>
        </p:nvCxnSpPr>
        <p:spPr>
          <a:xfrm>
            <a:off x="276225" y="2577079"/>
            <a:ext cx="11639550" cy="0"/>
          </a:xfrm>
          <a:prstGeom prst="line">
            <a:avLst/>
          </a:prstGeom>
          <a:ln w="15875">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76225" y="2631840"/>
            <a:ext cx="11525250" cy="401581"/>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USA anchor scale with a combined 100.0% of USA value in 2036, while 'USA' offers the steepest upside at 6.6% CAGR against a market pace of 6.6%. 1 of 1 country grow at or above that pace, so entry logic has to differ by country scale defence in the leaders, mix and premiumisation in the mid-tier, and availability-led expansion in the fastest movers.</a:t>
            </a:r>
          </a:p>
        </p:txBody>
      </p:sp>
      <p:sp>
        <p:nvSpPr>
          <p:cNvPr id="28" name="TextBox 27"/>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Driving Factors (1/2)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economic and supply-side factors scored by their impact on the USA market</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Oval 10"/>
          <p:cNvSpPr/>
          <p:nvPr/>
        </p:nvSpPr>
        <p:spPr>
          <a:xfrm>
            <a:off x="2381250" y="1609633"/>
            <a:ext cx="4762500" cy="4563424"/>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619375" y="1837804"/>
            <a:ext cx="4286250" cy="410708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857500" y="2065976"/>
            <a:ext cx="3810000" cy="365074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095625" y="2294147"/>
            <a:ext cx="3333750" cy="319439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333750" y="2522318"/>
            <a:ext cx="2857500" cy="273805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571875" y="2750489"/>
            <a:ext cx="2381250" cy="228171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3810000" y="2978660"/>
            <a:ext cx="1905000" cy="182537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048125" y="3206832"/>
            <a:ext cx="1428750" cy="136902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286250" y="3435003"/>
            <a:ext cx="952500" cy="91268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524375" y="3663174"/>
            <a:ext cx="476250" cy="45634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4762500" y="1609633"/>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3729314" y="1835594"/>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2900764" y="2468721"/>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440953" y="3383617"/>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440953" y="3891345"/>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2900764" y="3891345"/>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729314" y="3891345"/>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762500" y="3891345"/>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sp>
        <p:nvSpPr>
          <p:cNvPr id="29" name="Freeform 28"/>
          <p:cNvSpPr/>
          <p:nvPr/>
        </p:nvSpPr>
        <p:spPr>
          <a:xfrm>
            <a:off x="2438400" y="2221132"/>
            <a:ext cx="2324100" cy="2957099"/>
          </a:xfrm>
          <a:custGeom>
            <a:avLst/>
            <a:gdLst/>
            <a:ahLst/>
            <a:cxnLst/>
            <a:rect l="l" t="t" r="r" b="b"/>
            <a:pathLst>
              <a:path w="244" h="324">
                <a:moveTo>
                  <a:pt x="244" y="0"/>
                </a:moveTo>
                <a:lnTo>
                  <a:pt x="177" y="43"/>
                </a:lnTo>
                <a:lnTo>
                  <a:pt x="57" y="34"/>
                </a:lnTo>
                <a:lnTo>
                  <a:pt x="0" y="127"/>
                </a:lnTo>
                <a:lnTo>
                  <a:pt x="234" y="185"/>
                </a:lnTo>
                <a:lnTo>
                  <a:pt x="77" y="316"/>
                </a:lnTo>
                <a:lnTo>
                  <a:pt x="176" y="324"/>
                </a:lnTo>
                <a:lnTo>
                  <a:pt x="244" y="293"/>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4714875" y="1563999"/>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400300" y="1281067"/>
            <a:ext cx="2286000" cy="237298"/>
          </a:xfrm>
          <a:prstGeom prst="rect">
            <a:avLst/>
          </a:prstGeom>
          <a:noFill/>
        </p:spPr>
        <p:txBody>
          <a:bodyPr wrap="square" lIns="28575" tIns="9525" rIns="28575" bIns="9525" anchor="ctr">
            <a:spAutoFit/>
          </a:bodyPr>
          <a:lstStyle/>
          <a:p>
            <a:pPr algn="r"/>
            <a:r>
              <a:rPr sz="1100" b="0">
                <a:solidFill>
                  <a:srgbClr val="2E2E2E"/>
                </a:solidFill>
                <a:latin typeface="Calibri"/>
              </a:rPr>
              <a:t>Production Scale-up  13.9%</a:t>
            </a:r>
          </a:p>
        </p:txBody>
      </p:sp>
      <p:sp>
        <p:nvSpPr>
          <p:cNvPr id="32" name="Oval 31"/>
          <p:cNvSpPr/>
          <p:nvPr/>
        </p:nvSpPr>
        <p:spPr>
          <a:xfrm>
            <a:off x="3681689" y="178996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385456" y="1519681"/>
            <a:ext cx="2286000" cy="237298"/>
          </a:xfrm>
          <a:prstGeom prst="rect">
            <a:avLst/>
          </a:prstGeom>
          <a:noFill/>
        </p:spPr>
        <p:txBody>
          <a:bodyPr wrap="square" lIns="28575" tIns="9525" rIns="28575" bIns="9525" anchor="ctr">
            <a:spAutoFit/>
          </a:bodyPr>
          <a:lstStyle/>
          <a:p>
            <a:pPr algn="r"/>
            <a:r>
              <a:rPr sz="1100" b="0">
                <a:solidFill>
                  <a:srgbClr val="2E2E2E"/>
                </a:solidFill>
                <a:latin typeface="Calibri"/>
              </a:rPr>
              <a:t>Input Cost Pressure  11.8%</a:t>
            </a:r>
          </a:p>
        </p:txBody>
      </p:sp>
      <p:sp>
        <p:nvSpPr>
          <p:cNvPr id="34" name="Oval 33"/>
          <p:cNvSpPr/>
          <p:nvPr/>
        </p:nvSpPr>
        <p:spPr>
          <a:xfrm>
            <a:off x="2853139" y="2423087"/>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10507" y="2270405"/>
            <a:ext cx="2286000" cy="237298"/>
          </a:xfrm>
          <a:prstGeom prst="rect">
            <a:avLst/>
          </a:prstGeom>
          <a:noFill/>
        </p:spPr>
        <p:txBody>
          <a:bodyPr wrap="square" lIns="28575" tIns="9525" rIns="28575" bIns="9525" anchor="ctr">
            <a:spAutoFit/>
          </a:bodyPr>
          <a:lstStyle/>
          <a:p>
            <a:pPr algn="r"/>
            <a:r>
              <a:rPr sz="1100" b="0">
                <a:solidFill>
                  <a:srgbClr val="2E2E2E"/>
                </a:solidFill>
                <a:latin typeface="Calibri"/>
              </a:rPr>
              <a:t>Capacity Add  18.1%</a:t>
            </a:r>
          </a:p>
        </p:txBody>
      </p:sp>
      <p:sp>
        <p:nvSpPr>
          <p:cNvPr id="36" name="Oval 35"/>
          <p:cNvSpPr/>
          <p:nvPr/>
        </p:nvSpPr>
        <p:spPr>
          <a:xfrm>
            <a:off x="2393328" y="3337982"/>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4946" y="3236535"/>
            <a:ext cx="2286000" cy="237298"/>
          </a:xfrm>
          <a:prstGeom prst="rect">
            <a:avLst/>
          </a:prstGeom>
          <a:noFill/>
        </p:spPr>
        <p:txBody>
          <a:bodyPr wrap="square" lIns="28575" tIns="9525" rIns="28575" bIns="9525" anchor="ctr">
            <a:spAutoFit/>
          </a:bodyPr>
          <a:lstStyle/>
          <a:p>
            <a:pPr algn="r"/>
            <a:r>
              <a:rPr sz="1100" b="0">
                <a:solidFill>
                  <a:srgbClr val="2E2E2E"/>
                </a:solidFill>
                <a:latin typeface="Calibri"/>
              </a:rPr>
              <a:t>Supply Concentration  19.0%</a:t>
            </a:r>
          </a:p>
        </p:txBody>
      </p:sp>
      <p:sp>
        <p:nvSpPr>
          <p:cNvPr id="38" name="Oval 37"/>
          <p:cNvSpPr/>
          <p:nvPr/>
        </p:nvSpPr>
        <p:spPr>
          <a:xfrm>
            <a:off x="2393328" y="435344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4946" y="4308858"/>
            <a:ext cx="2286000" cy="237298"/>
          </a:xfrm>
          <a:prstGeom prst="rect">
            <a:avLst/>
          </a:prstGeom>
          <a:noFill/>
        </p:spPr>
        <p:txBody>
          <a:bodyPr wrap="square" lIns="28575" tIns="9525" rIns="28575" bIns="9525" anchor="ctr">
            <a:spAutoFit/>
          </a:bodyPr>
          <a:lstStyle/>
          <a:p>
            <a:pPr algn="r"/>
            <a:r>
              <a:rPr sz="1100" b="0">
                <a:solidFill>
                  <a:srgbClr val="2E2E2E"/>
                </a:solidFill>
                <a:latin typeface="Calibri"/>
              </a:rPr>
              <a:t>Geographic Spread  0.8%</a:t>
            </a:r>
          </a:p>
        </p:txBody>
      </p:sp>
      <p:sp>
        <p:nvSpPr>
          <p:cNvPr id="40" name="Oval 39"/>
          <p:cNvSpPr/>
          <p:nvPr/>
        </p:nvSpPr>
        <p:spPr>
          <a:xfrm>
            <a:off x="2853139" y="5268335"/>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10507" y="5274987"/>
            <a:ext cx="2286000" cy="237298"/>
          </a:xfrm>
          <a:prstGeom prst="rect">
            <a:avLst/>
          </a:prstGeom>
          <a:noFill/>
        </p:spPr>
        <p:txBody>
          <a:bodyPr wrap="square" lIns="28575" tIns="9525" rIns="28575" bIns="9525" anchor="ctr">
            <a:spAutoFit/>
          </a:bodyPr>
          <a:lstStyle/>
          <a:p>
            <a:pPr algn="r"/>
            <a:r>
              <a:rPr sz="1100" b="0">
                <a:solidFill>
                  <a:srgbClr val="2E2E2E"/>
                </a:solidFill>
                <a:latin typeface="Calibri"/>
              </a:rPr>
              <a:t>Portfolio Breadth  16.2%</a:t>
            </a:r>
          </a:p>
        </p:txBody>
      </p:sp>
      <p:sp>
        <p:nvSpPr>
          <p:cNvPr id="42" name="Oval 41"/>
          <p:cNvSpPr/>
          <p:nvPr/>
        </p:nvSpPr>
        <p:spPr>
          <a:xfrm>
            <a:off x="3681689" y="590146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385456" y="6025711"/>
            <a:ext cx="2286000" cy="237298"/>
          </a:xfrm>
          <a:prstGeom prst="rect">
            <a:avLst/>
          </a:prstGeom>
          <a:noFill/>
        </p:spPr>
        <p:txBody>
          <a:bodyPr wrap="square" lIns="28575" tIns="9525" rIns="28575" bIns="9525" anchor="ctr">
            <a:spAutoFit/>
          </a:bodyPr>
          <a:lstStyle/>
          <a:p>
            <a:pPr algn="r"/>
            <a:r>
              <a:rPr sz="1100" b="0">
                <a:solidFill>
                  <a:srgbClr val="2E2E2E"/>
                </a:solidFill>
                <a:latin typeface="Calibri"/>
              </a:rPr>
              <a:t>Route Depth  11.9%</a:t>
            </a:r>
          </a:p>
        </p:txBody>
      </p:sp>
      <p:sp>
        <p:nvSpPr>
          <p:cNvPr id="44" name="Oval 43"/>
          <p:cNvSpPr/>
          <p:nvPr/>
        </p:nvSpPr>
        <p:spPr>
          <a:xfrm>
            <a:off x="4714875" y="612742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400300" y="6264326"/>
            <a:ext cx="2286000" cy="237298"/>
          </a:xfrm>
          <a:prstGeom prst="rect">
            <a:avLst/>
          </a:prstGeom>
          <a:noFill/>
        </p:spPr>
        <p:txBody>
          <a:bodyPr wrap="square" lIns="28575" tIns="9525" rIns="28575" bIns="9525" anchor="ctr">
            <a:spAutoFit/>
          </a:bodyPr>
          <a:lstStyle/>
          <a:p>
            <a:pPr algn="r"/>
            <a:r>
              <a:rPr sz="1100" b="0">
                <a:solidFill>
                  <a:srgbClr val="2E2E2E"/>
                </a:solidFill>
                <a:latin typeface="Calibri"/>
              </a:rPr>
              <a:t>Value Realisation  8.3%</a:t>
            </a:r>
          </a:p>
        </p:txBody>
      </p:sp>
      <p:sp>
        <p:nvSpPr>
          <p:cNvPr id="46" name="Rectangle 45"/>
          <p:cNvSpPr/>
          <p:nvPr/>
        </p:nvSpPr>
        <p:spPr>
          <a:xfrm>
            <a:off x="476250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FMI Scale 0"/>
          <p:cNvSpPr txBox="1"/>
          <p:nvPr/>
        </p:nvSpPr>
        <p:spPr>
          <a:xfrm>
            <a:off x="4286250" y="3818331"/>
            <a:ext cx="419100" cy="146030"/>
          </a:xfrm>
          <a:prstGeom prst="rect">
            <a:avLst/>
          </a:prstGeom>
          <a:noFill/>
        </p:spPr>
        <p:txBody>
          <a:bodyPr wrap="none" lIns="0" tIns="0" rIns="0" bIns="0" anchor="ctr">
            <a:spAutoFit/>
          </a:bodyPr>
          <a:lstStyle/>
          <a:p>
            <a:pPr algn="r"/>
            <a:r>
              <a:rPr sz="1100" b="0">
                <a:solidFill>
                  <a:srgbClr val="6C7A89"/>
                </a:solidFill>
                <a:latin typeface="Calibri"/>
              </a:rPr>
              <a:t>0%</a:t>
            </a:r>
          </a:p>
        </p:txBody>
      </p:sp>
      <p:sp>
        <p:nvSpPr>
          <p:cNvPr id="48" name="FMI Scale 1"/>
          <p:cNvSpPr txBox="1"/>
          <p:nvPr/>
        </p:nvSpPr>
        <p:spPr>
          <a:xfrm>
            <a:off x="4286250" y="3590159"/>
            <a:ext cx="419100" cy="146030"/>
          </a:xfrm>
          <a:prstGeom prst="rect">
            <a:avLst/>
          </a:prstGeom>
          <a:noFill/>
        </p:spPr>
        <p:txBody>
          <a:bodyPr wrap="none" lIns="0" tIns="0" rIns="0" bIns="0" anchor="ctr">
            <a:spAutoFit/>
          </a:bodyPr>
          <a:lstStyle/>
          <a:p>
            <a:pPr algn="r"/>
            <a:r>
              <a:rPr sz="1100" b="0">
                <a:solidFill>
                  <a:srgbClr val="6C7A89"/>
                </a:solidFill>
                <a:latin typeface="Calibri"/>
              </a:rPr>
              <a:t>10%</a:t>
            </a:r>
          </a:p>
        </p:txBody>
      </p:sp>
      <p:sp>
        <p:nvSpPr>
          <p:cNvPr id="49" name="FMI Scale 2"/>
          <p:cNvSpPr txBox="1"/>
          <p:nvPr/>
        </p:nvSpPr>
        <p:spPr>
          <a:xfrm>
            <a:off x="4286250" y="3361988"/>
            <a:ext cx="419100" cy="146030"/>
          </a:xfrm>
          <a:prstGeom prst="rect">
            <a:avLst/>
          </a:prstGeom>
          <a:noFill/>
        </p:spPr>
        <p:txBody>
          <a:bodyPr wrap="none" lIns="0" tIns="0" rIns="0" bIns="0" anchor="ctr">
            <a:spAutoFit/>
          </a:bodyPr>
          <a:lstStyle/>
          <a:p>
            <a:pPr algn="r"/>
            <a:r>
              <a:rPr sz="1100" b="0">
                <a:solidFill>
                  <a:srgbClr val="6C7A89"/>
                </a:solidFill>
                <a:latin typeface="Calibri"/>
              </a:rPr>
              <a:t>20%</a:t>
            </a:r>
          </a:p>
        </p:txBody>
      </p:sp>
      <p:sp>
        <p:nvSpPr>
          <p:cNvPr id="50" name="FMI Scale 3"/>
          <p:cNvSpPr txBox="1"/>
          <p:nvPr/>
        </p:nvSpPr>
        <p:spPr>
          <a:xfrm>
            <a:off x="4286250" y="3133817"/>
            <a:ext cx="419100" cy="146030"/>
          </a:xfrm>
          <a:prstGeom prst="rect">
            <a:avLst/>
          </a:prstGeom>
          <a:noFill/>
        </p:spPr>
        <p:txBody>
          <a:bodyPr wrap="none" lIns="0" tIns="0" rIns="0" bIns="0" anchor="ctr">
            <a:spAutoFit/>
          </a:bodyPr>
          <a:lstStyle/>
          <a:p>
            <a:pPr algn="r"/>
            <a:r>
              <a:rPr sz="1100" b="0">
                <a:solidFill>
                  <a:srgbClr val="6C7A89"/>
                </a:solidFill>
                <a:latin typeface="Calibri"/>
              </a:rPr>
              <a:t>30%</a:t>
            </a:r>
          </a:p>
        </p:txBody>
      </p:sp>
      <p:sp>
        <p:nvSpPr>
          <p:cNvPr id="51" name="FMI Scale 4"/>
          <p:cNvSpPr txBox="1"/>
          <p:nvPr/>
        </p:nvSpPr>
        <p:spPr>
          <a:xfrm>
            <a:off x="4286250" y="2905646"/>
            <a:ext cx="419100" cy="146030"/>
          </a:xfrm>
          <a:prstGeom prst="rect">
            <a:avLst/>
          </a:prstGeom>
          <a:noFill/>
        </p:spPr>
        <p:txBody>
          <a:bodyPr wrap="none" lIns="0" tIns="0" rIns="0" bIns="0" anchor="ctr">
            <a:spAutoFit/>
          </a:bodyPr>
          <a:lstStyle/>
          <a:p>
            <a:pPr algn="r"/>
            <a:r>
              <a:rPr sz="1100" b="0">
                <a:solidFill>
                  <a:srgbClr val="6C7A89"/>
                </a:solidFill>
                <a:latin typeface="Calibri"/>
              </a:rPr>
              <a:t>40%</a:t>
            </a:r>
          </a:p>
        </p:txBody>
      </p:sp>
      <p:sp>
        <p:nvSpPr>
          <p:cNvPr id="52" name="FMI Scale 5"/>
          <p:cNvSpPr txBox="1"/>
          <p:nvPr/>
        </p:nvSpPr>
        <p:spPr>
          <a:xfrm>
            <a:off x="4286250" y="2677474"/>
            <a:ext cx="419100" cy="146030"/>
          </a:xfrm>
          <a:prstGeom prst="rect">
            <a:avLst/>
          </a:prstGeom>
          <a:noFill/>
        </p:spPr>
        <p:txBody>
          <a:bodyPr wrap="none" lIns="0" tIns="0" rIns="0" bIns="0" anchor="ctr">
            <a:spAutoFit/>
          </a:bodyPr>
          <a:lstStyle/>
          <a:p>
            <a:pPr algn="r"/>
            <a:r>
              <a:rPr sz="1100" b="0">
                <a:solidFill>
                  <a:srgbClr val="6C7A89"/>
                </a:solidFill>
                <a:latin typeface="Calibri"/>
              </a:rPr>
              <a:t>50%</a:t>
            </a:r>
          </a:p>
        </p:txBody>
      </p:sp>
      <p:sp>
        <p:nvSpPr>
          <p:cNvPr id="53" name="FMI Scale 6"/>
          <p:cNvSpPr txBox="1"/>
          <p:nvPr/>
        </p:nvSpPr>
        <p:spPr>
          <a:xfrm>
            <a:off x="4286250" y="2449303"/>
            <a:ext cx="419100" cy="146030"/>
          </a:xfrm>
          <a:prstGeom prst="rect">
            <a:avLst/>
          </a:prstGeom>
          <a:noFill/>
        </p:spPr>
        <p:txBody>
          <a:bodyPr wrap="none" lIns="0" tIns="0" rIns="0" bIns="0" anchor="ctr">
            <a:spAutoFit/>
          </a:bodyPr>
          <a:lstStyle/>
          <a:p>
            <a:pPr algn="r"/>
            <a:r>
              <a:rPr sz="1100" b="0">
                <a:solidFill>
                  <a:srgbClr val="6C7A89"/>
                </a:solidFill>
                <a:latin typeface="Calibri"/>
              </a:rPr>
              <a:t>60%</a:t>
            </a:r>
          </a:p>
        </p:txBody>
      </p:sp>
      <p:sp>
        <p:nvSpPr>
          <p:cNvPr id="54" name="FMI Scale 7"/>
          <p:cNvSpPr txBox="1"/>
          <p:nvPr/>
        </p:nvSpPr>
        <p:spPr>
          <a:xfrm>
            <a:off x="4286250" y="2221132"/>
            <a:ext cx="419100" cy="146030"/>
          </a:xfrm>
          <a:prstGeom prst="rect">
            <a:avLst/>
          </a:prstGeom>
          <a:noFill/>
        </p:spPr>
        <p:txBody>
          <a:bodyPr wrap="none" lIns="0" tIns="0" rIns="0" bIns="0" anchor="ctr">
            <a:spAutoFit/>
          </a:bodyPr>
          <a:lstStyle/>
          <a:p>
            <a:pPr algn="r"/>
            <a:r>
              <a:rPr sz="1100" b="0">
                <a:solidFill>
                  <a:srgbClr val="6C7A89"/>
                </a:solidFill>
                <a:latin typeface="Calibri"/>
              </a:rPr>
              <a:t>70%</a:t>
            </a:r>
          </a:p>
        </p:txBody>
      </p:sp>
      <p:sp>
        <p:nvSpPr>
          <p:cNvPr id="55" name="FMI Scale 8"/>
          <p:cNvSpPr txBox="1"/>
          <p:nvPr/>
        </p:nvSpPr>
        <p:spPr>
          <a:xfrm>
            <a:off x="4286250" y="1992961"/>
            <a:ext cx="419100" cy="146030"/>
          </a:xfrm>
          <a:prstGeom prst="rect">
            <a:avLst/>
          </a:prstGeom>
          <a:noFill/>
        </p:spPr>
        <p:txBody>
          <a:bodyPr wrap="none" lIns="0" tIns="0" rIns="0" bIns="0" anchor="ctr">
            <a:spAutoFit/>
          </a:bodyPr>
          <a:lstStyle/>
          <a:p>
            <a:pPr algn="r"/>
            <a:r>
              <a:rPr sz="1100" b="0">
                <a:solidFill>
                  <a:srgbClr val="6C7A89"/>
                </a:solidFill>
                <a:latin typeface="Calibri"/>
              </a:rPr>
              <a:t>80%</a:t>
            </a:r>
          </a:p>
        </p:txBody>
      </p:sp>
      <p:sp>
        <p:nvSpPr>
          <p:cNvPr id="56" name="FMI Scale 9"/>
          <p:cNvSpPr txBox="1"/>
          <p:nvPr/>
        </p:nvSpPr>
        <p:spPr>
          <a:xfrm>
            <a:off x="4286250" y="1764790"/>
            <a:ext cx="419100" cy="146030"/>
          </a:xfrm>
          <a:prstGeom prst="rect">
            <a:avLst/>
          </a:prstGeom>
          <a:noFill/>
        </p:spPr>
        <p:txBody>
          <a:bodyPr wrap="none" lIns="0" tIns="0" rIns="0" bIns="0" anchor="ctr">
            <a:spAutoFit/>
          </a:bodyPr>
          <a:lstStyle/>
          <a:p>
            <a:pPr algn="r"/>
            <a:r>
              <a:rPr sz="1100" b="0">
                <a:solidFill>
                  <a:srgbClr val="6C7A89"/>
                </a:solidFill>
                <a:latin typeface="Calibri"/>
              </a:rPr>
              <a:t>90%</a:t>
            </a:r>
          </a:p>
        </p:txBody>
      </p:sp>
      <p:sp>
        <p:nvSpPr>
          <p:cNvPr id="57" name="FMI Scale 10"/>
          <p:cNvSpPr txBox="1"/>
          <p:nvPr/>
        </p:nvSpPr>
        <p:spPr>
          <a:xfrm>
            <a:off x="4286250" y="1536618"/>
            <a:ext cx="419100" cy="146030"/>
          </a:xfrm>
          <a:prstGeom prst="rect">
            <a:avLst/>
          </a:prstGeom>
          <a:noFill/>
        </p:spPr>
        <p:txBody>
          <a:bodyPr wrap="none" lIns="0" tIns="0" rIns="0" bIns="0" anchor="ctr">
            <a:spAutoFit/>
          </a:bodyPr>
          <a:lstStyle/>
          <a:p>
            <a:pPr algn="r"/>
            <a:r>
              <a:rPr sz="1100" b="0">
                <a:solidFill>
                  <a:srgbClr val="6C7A89"/>
                </a:solidFill>
                <a:latin typeface="Calibri"/>
              </a:rPr>
              <a:t>100%</a:t>
            </a:r>
          </a:p>
        </p:txBody>
      </p:sp>
      <p:cxnSp>
        <p:nvCxnSpPr>
          <p:cNvPr id="58" name="Connector 57"/>
          <p:cNvCxnSpPr/>
          <p:nvPr/>
        </p:nvCxnSpPr>
        <p:spPr>
          <a:xfrm>
            <a:off x="4762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4972050" y="1080276"/>
            <a:ext cx="7077075" cy="219044"/>
          </a:xfrm>
          <a:prstGeom prst="rect">
            <a:avLst/>
          </a:prstGeom>
          <a:noFill/>
        </p:spPr>
        <p:txBody>
          <a:bodyPr wrap="square" lIns="28575" tIns="9525" rIns="28575" bIns="9525" anchor="ctr">
            <a:spAutoFit/>
          </a:bodyPr>
          <a:lstStyle/>
          <a:p>
            <a:pPr algn="l"/>
            <a:r>
              <a:rPr sz="1200" b="1">
                <a:solidFill>
                  <a:srgbClr val="0B2E4A"/>
                </a:solidFill>
                <a:latin typeface="Calibri"/>
              </a:rPr>
              <a:t>Economic and Supply-side Factors</a:t>
            </a:r>
          </a:p>
        </p:txBody>
      </p:sp>
      <p:cxnSp>
        <p:nvCxnSpPr>
          <p:cNvPr id="60" name="Connector 59"/>
          <p:cNvCxnSpPr/>
          <p:nvPr/>
        </p:nvCxnSpPr>
        <p:spPr>
          <a:xfrm>
            <a:off x="4972050" y="1335828"/>
            <a:ext cx="70770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972050" y="1427096"/>
            <a:ext cx="7077075" cy="474596"/>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Supply-side conditions are led by Supply Concentration (10.0/10), Capacity Add (9.6/10), Portfolio Breadth (8.5/10) on a 0-10 scale scored from the usa dataset itself.</a:t>
            </a:r>
          </a:p>
        </p:txBody>
      </p:sp>
      <p:sp>
        <p:nvSpPr>
          <p:cNvPr id="62" name="TextBox 61"/>
          <p:cNvSpPr txBox="1"/>
          <p:nvPr/>
        </p:nvSpPr>
        <p:spPr>
          <a:xfrm>
            <a:off x="4972050" y="1883439"/>
            <a:ext cx="7077075" cy="474596"/>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Volume expands at 5.8% CAGR (2026–2036) while average realisation moves 0.7% a year the balance of those two sets the cost-pass-through picture.</a:t>
            </a:r>
          </a:p>
        </p:txBody>
      </p:sp>
      <p:sp>
        <p:nvSpPr>
          <p:cNvPr id="63" name="TextBox 62"/>
          <p:cNvSpPr txBox="1"/>
          <p:nvPr/>
        </p:nvSpPr>
        <p:spPr>
          <a:xfrm>
            <a:off x="4972050" y="2339781"/>
            <a:ext cx="7077075" cy="292059"/>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Supply is concentrated: 'USA' holds 100.0% of 2036 value across 1 country.</a:t>
            </a:r>
          </a:p>
        </p:txBody>
      </p:sp>
      <p:sp>
        <p:nvSpPr>
          <p:cNvPr id="64" name="TextBox 63"/>
          <p:cNvSpPr txBox="1"/>
          <p:nvPr/>
        </p:nvSpPr>
        <p:spPr>
          <a:xfrm>
            <a:off x="4972050" y="2613586"/>
            <a:ext cx="7077075" cy="474596"/>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Portfolio breadth spans 7 product format lines and 6 sales channel routes, giving producers wide reformulation and channel latitude.</a:t>
            </a:r>
          </a:p>
        </p:txBody>
      </p:sp>
      <p:sp>
        <p:nvSpPr>
          <p:cNvPr id="65" name="TextBox 64"/>
          <p:cNvSpPr txBox="1"/>
          <p:nvPr/>
        </p:nvSpPr>
        <p:spPr>
          <a:xfrm>
            <a:off x="4972050" y="3069929"/>
            <a:ext cx="7077075" cy="292059"/>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Capacity added between 2026 and 2036 is worth 207.2 US$ Mn, a 1.9× expansion on the 2026 base.</a:t>
            </a:r>
          </a:p>
        </p:txBody>
      </p:sp>
      <p:sp>
        <p:nvSpPr>
          <p:cNvPr id="66" name="TextBox 65"/>
          <p:cNvSpPr txBox="1"/>
          <p:nvPr/>
        </p:nvSpPr>
        <p:spPr>
          <a:xfrm>
            <a:off x="4972050" y="3343734"/>
            <a:ext cx="7077075" cy="474596"/>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7" name="TextBox 6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Driving Factors (2/2)</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demand-side factors scored by their impact on the USA market</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Oval 10"/>
          <p:cNvSpPr/>
          <p:nvPr/>
        </p:nvSpPr>
        <p:spPr>
          <a:xfrm>
            <a:off x="5048250" y="1609633"/>
            <a:ext cx="4762500" cy="4563424"/>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286375" y="1837804"/>
            <a:ext cx="4286250" cy="410708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524500" y="2065976"/>
            <a:ext cx="3810000" cy="365074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762625" y="2294147"/>
            <a:ext cx="3333750" cy="319439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000750" y="2522318"/>
            <a:ext cx="2857500" cy="273805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238875" y="2750489"/>
            <a:ext cx="2381250" cy="228171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77000" y="2978660"/>
            <a:ext cx="1905000" cy="182537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715125" y="3206832"/>
            <a:ext cx="1428750" cy="136902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953250" y="3435003"/>
            <a:ext cx="952500" cy="91268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191375" y="3663174"/>
            <a:ext cx="476250" cy="45634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7429500" y="1609633"/>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429500" y="1835594"/>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429500" y="2468721"/>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7429500" y="3383617"/>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29500" y="3891345"/>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29500" y="3891345"/>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29500" y="3891345"/>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9500" y="3891345"/>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sp>
        <p:nvSpPr>
          <p:cNvPr id="29" name="Freeform 28"/>
          <p:cNvSpPr/>
          <p:nvPr/>
        </p:nvSpPr>
        <p:spPr>
          <a:xfrm>
            <a:off x="7429500" y="2385415"/>
            <a:ext cx="1628775" cy="3340427"/>
          </a:xfrm>
          <a:custGeom>
            <a:avLst/>
            <a:gdLst/>
            <a:ahLst/>
            <a:cxnLst/>
            <a:rect l="l" t="t" r="r" b="b"/>
            <a:pathLst>
              <a:path w="171" h="366">
                <a:moveTo>
                  <a:pt x="0" y="0"/>
                </a:moveTo>
                <a:lnTo>
                  <a:pt x="68" y="23"/>
                </a:lnTo>
                <a:lnTo>
                  <a:pt x="122" y="68"/>
                </a:lnTo>
                <a:lnTo>
                  <a:pt x="61" y="151"/>
                </a:lnTo>
                <a:lnTo>
                  <a:pt x="171" y="204"/>
                </a:lnTo>
                <a:lnTo>
                  <a:pt x="118" y="259"/>
                </a:lnTo>
                <a:lnTo>
                  <a:pt x="40" y="248"/>
                </a:lnTo>
                <a:lnTo>
                  <a:pt x="0" y="366"/>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381875" y="1563999"/>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505700" y="1281067"/>
            <a:ext cx="2286000" cy="237298"/>
          </a:xfrm>
          <a:prstGeom prst="rect">
            <a:avLst/>
          </a:prstGeom>
          <a:noFill/>
        </p:spPr>
        <p:txBody>
          <a:bodyPr wrap="square" lIns="28575" tIns="9525" rIns="28575" bIns="9525" anchor="ctr">
            <a:spAutoFit/>
          </a:bodyPr>
          <a:lstStyle/>
          <a:p>
            <a:pPr algn="l"/>
            <a:r>
              <a:rPr sz="1100" b="0">
                <a:solidFill>
                  <a:srgbClr val="2E2E2E"/>
                </a:solidFill>
                <a:latin typeface="Calibri"/>
              </a:rPr>
              <a:t>Demand Growth  14.2%</a:t>
            </a:r>
          </a:p>
        </p:txBody>
      </p:sp>
      <p:sp>
        <p:nvSpPr>
          <p:cNvPr id="32" name="Oval 31"/>
          <p:cNvSpPr/>
          <p:nvPr/>
        </p:nvSpPr>
        <p:spPr>
          <a:xfrm>
            <a:off x="8415061" y="178996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520544" y="1519681"/>
            <a:ext cx="2286000" cy="237298"/>
          </a:xfrm>
          <a:prstGeom prst="rect">
            <a:avLst/>
          </a:prstGeom>
          <a:noFill/>
        </p:spPr>
        <p:txBody>
          <a:bodyPr wrap="square" lIns="28575" tIns="9525" rIns="28575" bIns="9525" anchor="ctr">
            <a:spAutoFit/>
          </a:bodyPr>
          <a:lstStyle/>
          <a:p>
            <a:pPr algn="l"/>
            <a:r>
              <a:rPr sz="1100" b="0">
                <a:solidFill>
                  <a:srgbClr val="2E2E2E"/>
                </a:solidFill>
                <a:latin typeface="Calibri"/>
              </a:rPr>
              <a:t>Premiumisation  13.5%</a:t>
            </a:r>
          </a:p>
        </p:txBody>
      </p:sp>
      <p:sp>
        <p:nvSpPr>
          <p:cNvPr id="34" name="Oval 33"/>
          <p:cNvSpPr/>
          <p:nvPr/>
        </p:nvSpPr>
        <p:spPr>
          <a:xfrm>
            <a:off x="9243611" y="2423087"/>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395493" y="2270405"/>
            <a:ext cx="2286000" cy="237298"/>
          </a:xfrm>
          <a:prstGeom prst="rect">
            <a:avLst/>
          </a:prstGeom>
          <a:noFill/>
        </p:spPr>
        <p:txBody>
          <a:bodyPr wrap="square" lIns="28575" tIns="9525" rIns="28575" bIns="9525" anchor="ctr">
            <a:spAutoFit/>
          </a:bodyPr>
          <a:lstStyle/>
          <a:p>
            <a:pPr algn="l"/>
            <a:r>
              <a:rPr sz="1100" b="0">
                <a:solidFill>
                  <a:srgbClr val="2E2E2E"/>
                </a:solidFill>
                <a:latin typeface="Calibri"/>
              </a:rPr>
              <a:t>App. Breadth  13.5%</a:t>
            </a:r>
          </a:p>
        </p:txBody>
      </p:sp>
      <p:sp>
        <p:nvSpPr>
          <p:cNvPr id="36" name="Oval 35"/>
          <p:cNvSpPr/>
          <p:nvPr/>
        </p:nvSpPr>
        <p:spPr>
          <a:xfrm>
            <a:off x="9703422" y="3337982"/>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881054" y="3236535"/>
            <a:ext cx="2168071" cy="237298"/>
          </a:xfrm>
          <a:prstGeom prst="rect">
            <a:avLst/>
          </a:prstGeom>
          <a:noFill/>
        </p:spPr>
        <p:txBody>
          <a:bodyPr wrap="square" lIns="28575" tIns="9525" rIns="28575" bIns="9525" anchor="ctr">
            <a:spAutoFit/>
          </a:bodyPr>
          <a:lstStyle/>
          <a:p>
            <a:pPr algn="l"/>
            <a:r>
              <a:rPr sz="1100" b="0">
                <a:solidFill>
                  <a:srgbClr val="2E2E2E"/>
                </a:solidFill>
                <a:latin typeface="Calibri"/>
              </a:rPr>
              <a:t>Emerging Pull  5.4%</a:t>
            </a:r>
          </a:p>
        </p:txBody>
      </p:sp>
      <p:sp>
        <p:nvSpPr>
          <p:cNvPr id="38" name="Oval 37"/>
          <p:cNvSpPr/>
          <p:nvPr/>
        </p:nvSpPr>
        <p:spPr>
          <a:xfrm>
            <a:off x="9703422" y="435344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881054" y="4308858"/>
            <a:ext cx="2168071" cy="237298"/>
          </a:xfrm>
          <a:prstGeom prst="rect">
            <a:avLst/>
          </a:prstGeom>
          <a:noFill/>
        </p:spPr>
        <p:txBody>
          <a:bodyPr wrap="square" lIns="28575" tIns="9525" rIns="28575" bIns="9525" anchor="ctr">
            <a:spAutoFit/>
          </a:bodyPr>
          <a:lstStyle/>
          <a:p>
            <a:pPr algn="l"/>
            <a:r>
              <a:rPr sz="1100" b="0">
                <a:solidFill>
                  <a:srgbClr val="2E2E2E"/>
                </a:solidFill>
                <a:latin typeface="Calibri"/>
              </a:rPr>
              <a:t>Volume Momentum  15.1%</a:t>
            </a:r>
          </a:p>
        </p:txBody>
      </p:sp>
      <p:sp>
        <p:nvSpPr>
          <p:cNvPr id="40" name="Oval 39"/>
          <p:cNvSpPr/>
          <p:nvPr/>
        </p:nvSpPr>
        <p:spPr>
          <a:xfrm>
            <a:off x="9243611" y="5268335"/>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95493" y="5274987"/>
            <a:ext cx="2286000" cy="237298"/>
          </a:xfrm>
          <a:prstGeom prst="rect">
            <a:avLst/>
          </a:prstGeom>
          <a:noFill/>
        </p:spPr>
        <p:txBody>
          <a:bodyPr wrap="square" lIns="28575" tIns="9525" rIns="28575" bIns="9525" anchor="ctr">
            <a:spAutoFit/>
          </a:bodyPr>
          <a:lstStyle/>
          <a:p>
            <a:pPr algn="l"/>
            <a:r>
              <a:rPr sz="1100" b="0">
                <a:solidFill>
                  <a:srgbClr val="2E2E2E"/>
                </a:solidFill>
                <a:latin typeface="Calibri"/>
              </a:rPr>
              <a:t>Category Maturity  13.0%</a:t>
            </a:r>
          </a:p>
        </p:txBody>
      </p:sp>
      <p:sp>
        <p:nvSpPr>
          <p:cNvPr id="42" name="Oval 41"/>
          <p:cNvSpPr/>
          <p:nvPr/>
        </p:nvSpPr>
        <p:spPr>
          <a:xfrm>
            <a:off x="8415061" y="590146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520544" y="6025711"/>
            <a:ext cx="2286000" cy="237298"/>
          </a:xfrm>
          <a:prstGeom prst="rect">
            <a:avLst/>
          </a:prstGeom>
          <a:noFill/>
        </p:spPr>
        <p:txBody>
          <a:bodyPr wrap="square" lIns="28575" tIns="9525" rIns="28575" bIns="9525" anchor="ctr">
            <a:spAutoFit/>
          </a:bodyPr>
          <a:lstStyle/>
          <a:p>
            <a:pPr algn="l"/>
            <a:r>
              <a:rPr sz="1100" b="0">
                <a:solidFill>
                  <a:srgbClr val="2E2E2E"/>
                </a:solidFill>
                <a:latin typeface="Calibri"/>
              </a:rPr>
              <a:t>Adoption Depth  8.0%</a:t>
            </a:r>
          </a:p>
        </p:txBody>
      </p:sp>
      <p:sp>
        <p:nvSpPr>
          <p:cNvPr id="44" name="Oval 43"/>
          <p:cNvSpPr/>
          <p:nvPr/>
        </p:nvSpPr>
        <p:spPr>
          <a:xfrm>
            <a:off x="7381875" y="612742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505700" y="6264326"/>
            <a:ext cx="2286000" cy="237298"/>
          </a:xfrm>
          <a:prstGeom prst="rect">
            <a:avLst/>
          </a:prstGeom>
          <a:noFill/>
        </p:spPr>
        <p:txBody>
          <a:bodyPr wrap="square" lIns="28575" tIns="9525" rIns="28575" bIns="9525" anchor="ctr">
            <a:spAutoFit/>
          </a:bodyPr>
          <a:lstStyle/>
          <a:p>
            <a:pPr algn="l"/>
            <a:r>
              <a:rPr sz="1100" b="0">
                <a:solidFill>
                  <a:srgbClr val="2E2E2E"/>
                </a:solidFill>
                <a:latin typeface="Calibri"/>
              </a:rPr>
              <a:t>Consumer Reach  17.3%</a:t>
            </a:r>
          </a:p>
        </p:txBody>
      </p:sp>
      <p:sp>
        <p:nvSpPr>
          <p:cNvPr id="46" name="Rectangle 45"/>
          <p:cNvSpPr/>
          <p:nvPr/>
        </p:nvSpPr>
        <p:spPr>
          <a:xfrm>
            <a:off x="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FMI Scale 0"/>
          <p:cNvSpPr txBox="1"/>
          <p:nvPr/>
        </p:nvSpPr>
        <p:spPr>
          <a:xfrm>
            <a:off x="7486650" y="3818331"/>
            <a:ext cx="419100" cy="146030"/>
          </a:xfrm>
          <a:prstGeom prst="rect">
            <a:avLst/>
          </a:prstGeom>
          <a:noFill/>
        </p:spPr>
        <p:txBody>
          <a:bodyPr wrap="none" lIns="0" tIns="0" rIns="0" bIns="0" anchor="ctr">
            <a:spAutoFit/>
          </a:bodyPr>
          <a:lstStyle/>
          <a:p>
            <a:pPr algn="l"/>
            <a:r>
              <a:rPr sz="1100" b="0">
                <a:solidFill>
                  <a:srgbClr val="6C7A89"/>
                </a:solidFill>
                <a:latin typeface="Calibri"/>
              </a:rPr>
              <a:t>0%</a:t>
            </a:r>
          </a:p>
        </p:txBody>
      </p:sp>
      <p:sp>
        <p:nvSpPr>
          <p:cNvPr id="48" name="FMI Scale 1"/>
          <p:cNvSpPr txBox="1"/>
          <p:nvPr/>
        </p:nvSpPr>
        <p:spPr>
          <a:xfrm>
            <a:off x="7486650" y="3590159"/>
            <a:ext cx="419100" cy="146030"/>
          </a:xfrm>
          <a:prstGeom prst="rect">
            <a:avLst/>
          </a:prstGeom>
          <a:noFill/>
        </p:spPr>
        <p:txBody>
          <a:bodyPr wrap="none" lIns="0" tIns="0" rIns="0" bIns="0" anchor="ctr">
            <a:spAutoFit/>
          </a:bodyPr>
          <a:lstStyle/>
          <a:p>
            <a:pPr algn="l"/>
            <a:r>
              <a:rPr sz="1100" b="0">
                <a:solidFill>
                  <a:srgbClr val="6C7A89"/>
                </a:solidFill>
                <a:latin typeface="Calibri"/>
              </a:rPr>
              <a:t>10%</a:t>
            </a:r>
          </a:p>
        </p:txBody>
      </p:sp>
      <p:sp>
        <p:nvSpPr>
          <p:cNvPr id="49" name="FMI Scale 2"/>
          <p:cNvSpPr txBox="1"/>
          <p:nvPr/>
        </p:nvSpPr>
        <p:spPr>
          <a:xfrm>
            <a:off x="7486650" y="3361988"/>
            <a:ext cx="419100" cy="146030"/>
          </a:xfrm>
          <a:prstGeom prst="rect">
            <a:avLst/>
          </a:prstGeom>
          <a:noFill/>
        </p:spPr>
        <p:txBody>
          <a:bodyPr wrap="none" lIns="0" tIns="0" rIns="0" bIns="0" anchor="ctr">
            <a:spAutoFit/>
          </a:bodyPr>
          <a:lstStyle/>
          <a:p>
            <a:pPr algn="l"/>
            <a:r>
              <a:rPr sz="1100" b="0">
                <a:solidFill>
                  <a:srgbClr val="6C7A89"/>
                </a:solidFill>
                <a:latin typeface="Calibri"/>
              </a:rPr>
              <a:t>20%</a:t>
            </a:r>
          </a:p>
        </p:txBody>
      </p:sp>
      <p:sp>
        <p:nvSpPr>
          <p:cNvPr id="50" name="FMI Scale 3"/>
          <p:cNvSpPr txBox="1"/>
          <p:nvPr/>
        </p:nvSpPr>
        <p:spPr>
          <a:xfrm>
            <a:off x="7486650" y="3133817"/>
            <a:ext cx="419100" cy="146030"/>
          </a:xfrm>
          <a:prstGeom prst="rect">
            <a:avLst/>
          </a:prstGeom>
          <a:noFill/>
        </p:spPr>
        <p:txBody>
          <a:bodyPr wrap="none" lIns="0" tIns="0" rIns="0" bIns="0" anchor="ctr">
            <a:spAutoFit/>
          </a:bodyPr>
          <a:lstStyle/>
          <a:p>
            <a:pPr algn="l"/>
            <a:r>
              <a:rPr sz="1100" b="0">
                <a:solidFill>
                  <a:srgbClr val="6C7A89"/>
                </a:solidFill>
                <a:latin typeface="Calibri"/>
              </a:rPr>
              <a:t>30%</a:t>
            </a:r>
          </a:p>
        </p:txBody>
      </p:sp>
      <p:sp>
        <p:nvSpPr>
          <p:cNvPr id="51" name="FMI Scale 4"/>
          <p:cNvSpPr txBox="1"/>
          <p:nvPr/>
        </p:nvSpPr>
        <p:spPr>
          <a:xfrm>
            <a:off x="7486650" y="2905646"/>
            <a:ext cx="419100" cy="146030"/>
          </a:xfrm>
          <a:prstGeom prst="rect">
            <a:avLst/>
          </a:prstGeom>
          <a:noFill/>
        </p:spPr>
        <p:txBody>
          <a:bodyPr wrap="none" lIns="0" tIns="0" rIns="0" bIns="0" anchor="ctr">
            <a:spAutoFit/>
          </a:bodyPr>
          <a:lstStyle/>
          <a:p>
            <a:pPr algn="l"/>
            <a:r>
              <a:rPr sz="1100" b="0">
                <a:solidFill>
                  <a:srgbClr val="6C7A89"/>
                </a:solidFill>
                <a:latin typeface="Calibri"/>
              </a:rPr>
              <a:t>40%</a:t>
            </a:r>
          </a:p>
        </p:txBody>
      </p:sp>
      <p:sp>
        <p:nvSpPr>
          <p:cNvPr id="52" name="FMI Scale 5"/>
          <p:cNvSpPr txBox="1"/>
          <p:nvPr/>
        </p:nvSpPr>
        <p:spPr>
          <a:xfrm>
            <a:off x="7486650" y="2677474"/>
            <a:ext cx="419100" cy="146030"/>
          </a:xfrm>
          <a:prstGeom prst="rect">
            <a:avLst/>
          </a:prstGeom>
          <a:noFill/>
        </p:spPr>
        <p:txBody>
          <a:bodyPr wrap="none" lIns="0" tIns="0" rIns="0" bIns="0" anchor="ctr">
            <a:spAutoFit/>
          </a:bodyPr>
          <a:lstStyle/>
          <a:p>
            <a:pPr algn="l"/>
            <a:r>
              <a:rPr sz="1100" b="0">
                <a:solidFill>
                  <a:srgbClr val="6C7A89"/>
                </a:solidFill>
                <a:latin typeface="Calibri"/>
              </a:rPr>
              <a:t>50%</a:t>
            </a:r>
          </a:p>
        </p:txBody>
      </p:sp>
      <p:sp>
        <p:nvSpPr>
          <p:cNvPr id="53" name="FMI Scale 6"/>
          <p:cNvSpPr txBox="1"/>
          <p:nvPr/>
        </p:nvSpPr>
        <p:spPr>
          <a:xfrm>
            <a:off x="7486650" y="2449303"/>
            <a:ext cx="419100" cy="146030"/>
          </a:xfrm>
          <a:prstGeom prst="rect">
            <a:avLst/>
          </a:prstGeom>
          <a:noFill/>
        </p:spPr>
        <p:txBody>
          <a:bodyPr wrap="none" lIns="0" tIns="0" rIns="0" bIns="0" anchor="ctr">
            <a:spAutoFit/>
          </a:bodyPr>
          <a:lstStyle/>
          <a:p>
            <a:pPr algn="l"/>
            <a:r>
              <a:rPr sz="1100" b="0">
                <a:solidFill>
                  <a:srgbClr val="6C7A89"/>
                </a:solidFill>
                <a:latin typeface="Calibri"/>
              </a:rPr>
              <a:t>60%</a:t>
            </a:r>
          </a:p>
        </p:txBody>
      </p:sp>
      <p:sp>
        <p:nvSpPr>
          <p:cNvPr id="54" name="FMI Scale 7"/>
          <p:cNvSpPr txBox="1"/>
          <p:nvPr/>
        </p:nvSpPr>
        <p:spPr>
          <a:xfrm>
            <a:off x="7486650" y="2221132"/>
            <a:ext cx="419100" cy="146030"/>
          </a:xfrm>
          <a:prstGeom prst="rect">
            <a:avLst/>
          </a:prstGeom>
          <a:noFill/>
        </p:spPr>
        <p:txBody>
          <a:bodyPr wrap="none" lIns="0" tIns="0" rIns="0" bIns="0" anchor="ctr">
            <a:spAutoFit/>
          </a:bodyPr>
          <a:lstStyle/>
          <a:p>
            <a:pPr algn="l"/>
            <a:r>
              <a:rPr sz="1100" b="0">
                <a:solidFill>
                  <a:srgbClr val="6C7A89"/>
                </a:solidFill>
                <a:latin typeface="Calibri"/>
              </a:rPr>
              <a:t>70%</a:t>
            </a:r>
          </a:p>
        </p:txBody>
      </p:sp>
      <p:sp>
        <p:nvSpPr>
          <p:cNvPr id="55" name="FMI Scale 8"/>
          <p:cNvSpPr txBox="1"/>
          <p:nvPr/>
        </p:nvSpPr>
        <p:spPr>
          <a:xfrm>
            <a:off x="7486650" y="1992961"/>
            <a:ext cx="419100" cy="146030"/>
          </a:xfrm>
          <a:prstGeom prst="rect">
            <a:avLst/>
          </a:prstGeom>
          <a:noFill/>
        </p:spPr>
        <p:txBody>
          <a:bodyPr wrap="none" lIns="0" tIns="0" rIns="0" bIns="0" anchor="ctr">
            <a:spAutoFit/>
          </a:bodyPr>
          <a:lstStyle/>
          <a:p>
            <a:pPr algn="l"/>
            <a:r>
              <a:rPr sz="1100" b="0">
                <a:solidFill>
                  <a:srgbClr val="6C7A89"/>
                </a:solidFill>
                <a:latin typeface="Calibri"/>
              </a:rPr>
              <a:t>80%</a:t>
            </a:r>
          </a:p>
        </p:txBody>
      </p:sp>
      <p:sp>
        <p:nvSpPr>
          <p:cNvPr id="56" name="FMI Scale 9"/>
          <p:cNvSpPr txBox="1"/>
          <p:nvPr/>
        </p:nvSpPr>
        <p:spPr>
          <a:xfrm>
            <a:off x="7486650" y="1764790"/>
            <a:ext cx="419100" cy="146030"/>
          </a:xfrm>
          <a:prstGeom prst="rect">
            <a:avLst/>
          </a:prstGeom>
          <a:noFill/>
        </p:spPr>
        <p:txBody>
          <a:bodyPr wrap="none" lIns="0" tIns="0" rIns="0" bIns="0" anchor="ctr">
            <a:spAutoFit/>
          </a:bodyPr>
          <a:lstStyle/>
          <a:p>
            <a:pPr algn="l"/>
            <a:r>
              <a:rPr sz="1100" b="0">
                <a:solidFill>
                  <a:srgbClr val="6C7A89"/>
                </a:solidFill>
                <a:latin typeface="Calibri"/>
              </a:rPr>
              <a:t>90%</a:t>
            </a:r>
          </a:p>
        </p:txBody>
      </p:sp>
      <p:sp>
        <p:nvSpPr>
          <p:cNvPr id="57" name="FMI Scale 10"/>
          <p:cNvSpPr txBox="1"/>
          <p:nvPr/>
        </p:nvSpPr>
        <p:spPr>
          <a:xfrm>
            <a:off x="7486650" y="1536618"/>
            <a:ext cx="419100" cy="146030"/>
          </a:xfrm>
          <a:prstGeom prst="rect">
            <a:avLst/>
          </a:prstGeom>
          <a:noFill/>
        </p:spPr>
        <p:txBody>
          <a:bodyPr wrap="none" lIns="0" tIns="0" rIns="0" bIns="0" anchor="ctr">
            <a:spAutoFit/>
          </a:bodyPr>
          <a:lstStyle/>
          <a:p>
            <a:pPr algn="l"/>
            <a:r>
              <a:rPr sz="1100" b="0">
                <a:solidFill>
                  <a:srgbClr val="6C7A89"/>
                </a:solidFill>
                <a:latin typeface="Calibri"/>
              </a:rPr>
              <a:t>100%</a:t>
            </a:r>
          </a:p>
        </p:txBody>
      </p:sp>
      <p:cxnSp>
        <p:nvCxnSpPr>
          <p:cNvPr id="58" name="Connector 57"/>
          <p:cNvCxnSpPr/>
          <p:nvPr/>
        </p:nvCxnSpPr>
        <p:spPr>
          <a:xfrm>
            <a:off x="7429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80975" y="1080276"/>
            <a:ext cx="7038975" cy="219044"/>
          </a:xfrm>
          <a:prstGeom prst="rect">
            <a:avLst/>
          </a:prstGeom>
          <a:noFill/>
        </p:spPr>
        <p:txBody>
          <a:bodyPr wrap="square" lIns="28575" tIns="9525" rIns="28575" bIns="9525" anchor="ctr">
            <a:spAutoFit/>
          </a:bodyPr>
          <a:lstStyle/>
          <a:p>
            <a:pPr algn="l"/>
            <a:r>
              <a:rPr sz="1200" b="1">
                <a:solidFill>
                  <a:srgbClr val="0B2E4A"/>
                </a:solidFill>
                <a:latin typeface="Calibri"/>
              </a:rPr>
              <a:t>Demand-side Factors</a:t>
            </a:r>
          </a:p>
        </p:txBody>
      </p:sp>
      <p:cxnSp>
        <p:nvCxnSpPr>
          <p:cNvPr id="60" name="Connector 59"/>
          <p:cNvCxnSpPr/>
          <p:nvPr/>
        </p:nvCxnSpPr>
        <p:spPr>
          <a:xfrm>
            <a:off x="180975" y="1335828"/>
            <a:ext cx="70389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80975" y="1427096"/>
            <a:ext cx="7038975" cy="474596"/>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Demand-side conditions are led by Consumer Reach (8.0/10), Volume Momentum (7.0/10), Demand Growth (6.6/10) on a 0-10 scale scored from the usa dataset itself.</a:t>
            </a:r>
          </a:p>
        </p:txBody>
      </p:sp>
      <p:sp>
        <p:nvSpPr>
          <p:cNvPr id="62" name="TextBox 61"/>
          <p:cNvSpPr txBox="1"/>
          <p:nvPr/>
        </p:nvSpPr>
        <p:spPr>
          <a:xfrm>
            <a:off x="180975" y="1883439"/>
            <a:ext cx="7038975" cy="292059"/>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Value grows at 6.6% against volume at 5.8% a premiumising market through 2036.</a:t>
            </a:r>
          </a:p>
        </p:txBody>
      </p:sp>
      <p:sp>
        <p:nvSpPr>
          <p:cNvPr id="63" name="TextBox 62"/>
          <p:cNvSpPr txBox="1"/>
          <p:nvPr/>
        </p:nvSpPr>
        <p:spPr>
          <a:xfrm>
            <a:off x="180975" y="2157244"/>
            <a:ext cx="7038975" cy="292059"/>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'Tablet' carries 27.2% of product format demand while 'Powder' compounds fastest at 13.6%.</a:t>
            </a:r>
          </a:p>
        </p:txBody>
      </p:sp>
      <p:sp>
        <p:nvSpPr>
          <p:cNvPr id="64" name="TextBox 63"/>
          <p:cNvSpPr txBox="1"/>
          <p:nvPr/>
        </p:nvSpPr>
        <p:spPr>
          <a:xfrm>
            <a:off x="180975" y="2431050"/>
            <a:ext cx="7038975" cy="292059"/>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Pull is strongest in 'USA' (6.6% CAGR, +0 BPS versus the market), with 1 of 1 country at or above pace.</a:t>
            </a:r>
          </a:p>
        </p:txBody>
      </p:sp>
      <p:sp>
        <p:nvSpPr>
          <p:cNvPr id="65" name="TextBox 64"/>
          <p:cNvSpPr txBox="1"/>
          <p:nvPr/>
        </p:nvSpPr>
        <p:spPr>
          <a:xfrm>
            <a:off x="180975" y="2704855"/>
            <a:ext cx="7038975" cy="474596"/>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Reach runs through 6 sales channel routes, led by 'Amazon / Online Marketplaces' at 38.6% and with 'Direct-to-Consumer / Brand Website' growing fastest at 11.4%.</a:t>
            </a:r>
          </a:p>
        </p:txBody>
      </p:sp>
      <p:sp>
        <p:nvSpPr>
          <p:cNvPr id="66" name="TextBox 65"/>
          <p:cNvSpPr txBox="1"/>
          <p:nvPr/>
        </p:nvSpPr>
        <p:spPr>
          <a:xfrm>
            <a:off x="180975" y="3161197"/>
            <a:ext cx="7038975" cy="474596"/>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7" name="TextBox 6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Restraints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the key restraints on the USA market and the likelihood of their impact across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1025515"/>
            <a:ext cx="2038350" cy="255552"/>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2875" y="1025515"/>
            <a:ext cx="2038350" cy="255552"/>
          </a:xfrm>
          <a:prstGeom prst="rect">
            <a:avLst/>
          </a:prstGeom>
          <a:noFill/>
        </p:spPr>
        <p:txBody>
          <a:bodyPr wrap="square" lIns="28575" tIns="9525" rIns="28575" bIns="9525" anchor="ctr">
            <a:spAutoFit/>
          </a:bodyPr>
          <a:lstStyle/>
          <a:p>
            <a:pPr algn="ctr"/>
            <a:r>
              <a:rPr sz="1100" b="1">
                <a:solidFill>
                  <a:srgbClr val="FFFFFF"/>
                </a:solidFill>
                <a:latin typeface="Calibri"/>
              </a:rPr>
              <a:t>Market Restraints</a:t>
            </a:r>
          </a:p>
        </p:txBody>
      </p:sp>
      <p:sp>
        <p:nvSpPr>
          <p:cNvPr id="13" name="Rectangle 12"/>
          <p:cNvSpPr/>
          <p:nvPr/>
        </p:nvSpPr>
        <p:spPr>
          <a:xfrm>
            <a:off x="142875" y="139058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6225" y="1390589"/>
            <a:ext cx="9267825" cy="255552"/>
          </a:xfrm>
          <a:prstGeom prst="rect">
            <a:avLst/>
          </a:prstGeom>
          <a:noFill/>
        </p:spPr>
        <p:txBody>
          <a:bodyPr wrap="square" lIns="28575" tIns="9525" rIns="28575" bIns="9525" anchor="ctr">
            <a:spAutoFit/>
          </a:bodyPr>
          <a:lstStyle/>
          <a:p>
            <a:pPr algn="l"/>
            <a:r>
              <a:rPr sz="1100" b="1">
                <a:solidFill>
                  <a:srgbClr val="0B2E4A"/>
                </a:solidFill>
                <a:latin typeface="Calibri"/>
              </a:rPr>
              <a:t>Tablet Lags the Category and Dilutes Blended Growth</a:t>
            </a:r>
          </a:p>
        </p:txBody>
      </p:sp>
      <p:sp>
        <p:nvSpPr>
          <p:cNvPr id="15" name="TextBox 14"/>
          <p:cNvSpPr txBox="1"/>
          <p:nvPr/>
        </p:nvSpPr>
        <p:spPr>
          <a:xfrm>
            <a:off x="161925" y="1700902"/>
            <a:ext cx="9439275" cy="775782"/>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'Tablet' grows at only 3.8% CAGR against the market's 6.6%, a -284 BPS gap, and 'Tablet' surrenders 844 BPS of product format share between 2026 and 2036. Because these lines still carry meaningful volume, the drag is absorbed by the whole category: blended growth sits below what the leading lines achieve on their own. Rationalising or repositioning the lagging end of a 7-line portfolio is therefore a precondition for realising the headline forecast.</a:t>
            </a:r>
          </a:p>
        </p:txBody>
      </p:sp>
      <p:sp>
        <p:nvSpPr>
          <p:cNvPr id="16" name="TextBox 15"/>
          <p:cNvSpPr txBox="1"/>
          <p:nvPr/>
        </p:nvSpPr>
        <p:spPr>
          <a:xfrm>
            <a:off x="9810750" y="1390589"/>
            <a:ext cx="2238375" cy="365074"/>
          </a:xfrm>
          <a:prstGeom prst="rect">
            <a:avLst/>
          </a:prstGeom>
          <a:noFill/>
        </p:spPr>
        <p:txBody>
          <a:bodyPr wrap="square" lIns="28575" tIns="9525" rIns="28575" bIns="9525" anchor="ctr">
            <a:spAutoFit/>
          </a:bodyPr>
          <a:lstStyle/>
          <a:p>
            <a:pPr algn="l">
              <a:lnSpc>
                <a:spcPct val="115000"/>
              </a:lnSpc>
            </a:pPr>
            <a:r>
              <a:rPr sz="1100" b="1">
                <a:solidFill>
                  <a:srgbClr val="6C7A89"/>
                </a:solidFill>
                <a:latin typeface="Calibri"/>
              </a:rPr>
              <a:t>Likelihood of impact on timeline</a:t>
            </a:r>
          </a:p>
        </p:txBody>
      </p:sp>
      <p:sp>
        <p:nvSpPr>
          <p:cNvPr id="17" name="TextBox 16"/>
          <p:cNvSpPr txBox="1"/>
          <p:nvPr/>
        </p:nvSpPr>
        <p:spPr>
          <a:xfrm>
            <a:off x="9810750" y="1773916"/>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2021–22</a:t>
            </a:r>
          </a:p>
        </p:txBody>
      </p:sp>
      <p:sp>
        <p:nvSpPr>
          <p:cNvPr id="18" name="Rectangle 17"/>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10750" y="1938200"/>
            <a:ext cx="990600" cy="310313"/>
          </a:xfrm>
          <a:prstGeom prst="rect">
            <a:avLst/>
          </a:prstGeom>
          <a:noFill/>
        </p:spPr>
        <p:txBody>
          <a:bodyPr wrap="square" lIns="28575" tIns="9525" rIns="28575" bIns="9525" anchor="ctr">
            <a:spAutoFit/>
          </a:bodyPr>
          <a:lstStyle/>
          <a:p>
            <a:pPr algn="ctr"/>
            <a:r>
              <a:rPr sz="1100" b="1">
                <a:solidFill>
                  <a:srgbClr val="6B5613"/>
                </a:solidFill>
                <a:latin typeface="Calibri"/>
              </a:rPr>
              <a:t>Medium</a:t>
            </a:r>
          </a:p>
        </p:txBody>
      </p:sp>
      <p:sp>
        <p:nvSpPr>
          <p:cNvPr id="20" name="TextBox 19"/>
          <p:cNvSpPr txBox="1"/>
          <p:nvPr/>
        </p:nvSpPr>
        <p:spPr>
          <a:xfrm>
            <a:off x="10896600" y="1773916"/>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2023–25</a:t>
            </a:r>
          </a:p>
        </p:txBody>
      </p:sp>
      <p:sp>
        <p:nvSpPr>
          <p:cNvPr id="21" name="Rectangle 20"/>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896600" y="1938200"/>
            <a:ext cx="990600" cy="310313"/>
          </a:xfrm>
          <a:prstGeom prst="rect">
            <a:avLst/>
          </a:prstGeom>
          <a:noFill/>
        </p:spPr>
        <p:txBody>
          <a:bodyPr wrap="square" lIns="28575" tIns="9525" rIns="28575" bIns="9525" anchor="ctr">
            <a:spAutoFit/>
          </a:bodyPr>
          <a:lstStyle/>
          <a:p>
            <a:pPr algn="ctr"/>
            <a:r>
              <a:rPr sz="1100" b="1">
                <a:solidFill>
                  <a:srgbClr val="6B5613"/>
                </a:solidFill>
                <a:latin typeface="Calibri"/>
              </a:rPr>
              <a:t>Medium</a:t>
            </a:r>
          </a:p>
        </p:txBody>
      </p:sp>
      <p:sp>
        <p:nvSpPr>
          <p:cNvPr id="23" name="TextBox 22"/>
          <p:cNvSpPr txBox="1"/>
          <p:nvPr/>
        </p:nvSpPr>
        <p:spPr>
          <a:xfrm>
            <a:off x="9810750" y="2294147"/>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2026–28</a:t>
            </a:r>
          </a:p>
        </p:txBody>
      </p:sp>
      <p:sp>
        <p:nvSpPr>
          <p:cNvPr id="24" name="Rectangle 23"/>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810750" y="2458430"/>
            <a:ext cx="990600" cy="310313"/>
          </a:xfrm>
          <a:prstGeom prst="rect">
            <a:avLst/>
          </a:prstGeom>
          <a:noFill/>
        </p:spPr>
        <p:txBody>
          <a:bodyPr wrap="square" lIns="28575" tIns="9525" rIns="28575" bIns="9525" anchor="ctr">
            <a:spAutoFit/>
          </a:bodyPr>
          <a:lstStyle/>
          <a:p>
            <a:pPr algn="ctr"/>
            <a:r>
              <a:rPr sz="1100" b="1">
                <a:solidFill>
                  <a:srgbClr val="6B5613"/>
                </a:solidFill>
                <a:latin typeface="Calibri"/>
              </a:rPr>
              <a:t>Medium</a:t>
            </a:r>
          </a:p>
        </p:txBody>
      </p:sp>
      <p:sp>
        <p:nvSpPr>
          <p:cNvPr id="26" name="TextBox 25"/>
          <p:cNvSpPr txBox="1"/>
          <p:nvPr/>
        </p:nvSpPr>
        <p:spPr>
          <a:xfrm>
            <a:off x="10896600" y="2294147"/>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2029–36</a:t>
            </a:r>
          </a:p>
        </p:txBody>
      </p:sp>
      <p:sp>
        <p:nvSpPr>
          <p:cNvPr id="27" name="Rectangle 26"/>
          <p:cNvSpPr/>
          <p:nvPr/>
        </p:nvSpPr>
        <p:spPr>
          <a:xfrm>
            <a:off x="10896600" y="245843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896600" y="2458430"/>
            <a:ext cx="990600" cy="310313"/>
          </a:xfrm>
          <a:prstGeom prst="rect">
            <a:avLst/>
          </a:prstGeom>
          <a:noFill/>
        </p:spPr>
        <p:txBody>
          <a:bodyPr wrap="square" lIns="28575" tIns="9525" rIns="28575" bIns="9525" anchor="ctr">
            <a:spAutoFit/>
          </a:bodyPr>
          <a:lstStyle/>
          <a:p>
            <a:pPr algn="ctr"/>
            <a:r>
              <a:rPr sz="1100" b="1">
                <a:solidFill>
                  <a:srgbClr val="6B5613"/>
                </a:solidFill>
                <a:latin typeface="Calibri"/>
              </a:rPr>
              <a:t>Medium</a:t>
            </a:r>
          </a:p>
        </p:txBody>
      </p:sp>
      <p:cxnSp>
        <p:nvCxnSpPr>
          <p:cNvPr id="29" name="Connector 28"/>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42875" y="3142944"/>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6225" y="3142944"/>
            <a:ext cx="9267825" cy="255552"/>
          </a:xfrm>
          <a:prstGeom prst="rect">
            <a:avLst/>
          </a:prstGeom>
          <a:noFill/>
        </p:spPr>
        <p:txBody>
          <a:bodyPr wrap="square" lIns="28575" tIns="9525" rIns="28575" bIns="9525" anchor="ctr">
            <a:spAutoFit/>
          </a:bodyPr>
          <a:lstStyle/>
          <a:p>
            <a:pPr algn="l"/>
            <a:r>
              <a:rPr sz="1100" b="1">
                <a:solidFill>
                  <a:srgbClr val="0B2E4A"/>
                </a:solidFill>
                <a:latin typeface="Calibri"/>
              </a:rPr>
              <a:t>Uneven Country Performance Caps the Blended Rate</a:t>
            </a:r>
          </a:p>
        </p:txBody>
      </p:sp>
      <p:sp>
        <p:nvSpPr>
          <p:cNvPr id="32" name="TextBox 31"/>
          <p:cNvSpPr txBox="1"/>
          <p:nvPr/>
        </p:nvSpPr>
        <p:spPr>
          <a:xfrm>
            <a:off x="161925" y="3453257"/>
            <a:ext cx="9439275" cy="593245"/>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'USA' grows at just 6.6% CAGR +0 BPS against the market and 0 of 1 country sit below the market pace altogether. Demand is therefore not uniformly available: suppliers carrying a broad geographic footprint fund presence in slow countries out of returns earned in the fast ones. With 'USA' at 100.0% of value, a shortfall in a single leading country is difficult to offset elsewhere in the forecast window.</a:t>
            </a:r>
          </a:p>
        </p:txBody>
      </p:sp>
      <p:sp>
        <p:nvSpPr>
          <p:cNvPr id="33" name="TextBox 32"/>
          <p:cNvSpPr txBox="1"/>
          <p:nvPr/>
        </p:nvSpPr>
        <p:spPr>
          <a:xfrm>
            <a:off x="9810750" y="3142944"/>
            <a:ext cx="2238375" cy="365074"/>
          </a:xfrm>
          <a:prstGeom prst="rect">
            <a:avLst/>
          </a:prstGeom>
          <a:noFill/>
        </p:spPr>
        <p:txBody>
          <a:bodyPr wrap="square" lIns="28575" tIns="9525" rIns="28575" bIns="9525" anchor="ctr">
            <a:spAutoFit/>
          </a:bodyPr>
          <a:lstStyle/>
          <a:p>
            <a:pPr algn="l">
              <a:lnSpc>
                <a:spcPct val="115000"/>
              </a:lnSpc>
            </a:pPr>
            <a:r>
              <a:rPr sz="1100" b="1">
                <a:solidFill>
                  <a:srgbClr val="6C7A89"/>
                </a:solidFill>
                <a:latin typeface="Calibri"/>
              </a:rPr>
              <a:t>Likelihood of impact on timeline</a:t>
            </a:r>
          </a:p>
        </p:txBody>
      </p:sp>
      <p:sp>
        <p:nvSpPr>
          <p:cNvPr id="34" name="TextBox 33"/>
          <p:cNvSpPr txBox="1"/>
          <p:nvPr/>
        </p:nvSpPr>
        <p:spPr>
          <a:xfrm>
            <a:off x="9810750" y="3526271"/>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2021–22</a:t>
            </a:r>
          </a:p>
        </p:txBody>
      </p:sp>
      <p:sp>
        <p:nvSpPr>
          <p:cNvPr id="35" name="Rectangle 34"/>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810750" y="3690555"/>
            <a:ext cx="990600" cy="310313"/>
          </a:xfrm>
          <a:prstGeom prst="rect">
            <a:avLst/>
          </a:prstGeom>
          <a:noFill/>
        </p:spPr>
        <p:txBody>
          <a:bodyPr wrap="square" lIns="28575" tIns="9525" rIns="28575" bIns="9525" anchor="ctr">
            <a:spAutoFit/>
          </a:bodyPr>
          <a:lstStyle/>
          <a:p>
            <a:pPr algn="ctr"/>
            <a:r>
              <a:rPr sz="1100" b="1">
                <a:solidFill>
                  <a:srgbClr val="9AA0A6"/>
                </a:solidFill>
                <a:latin typeface="Calibri"/>
              </a:rPr>
              <a:t>Low</a:t>
            </a:r>
          </a:p>
        </p:txBody>
      </p:sp>
      <p:sp>
        <p:nvSpPr>
          <p:cNvPr id="37" name="TextBox 36"/>
          <p:cNvSpPr txBox="1"/>
          <p:nvPr/>
        </p:nvSpPr>
        <p:spPr>
          <a:xfrm>
            <a:off x="10896600" y="3526271"/>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2023–25</a:t>
            </a:r>
          </a:p>
        </p:txBody>
      </p:sp>
      <p:sp>
        <p:nvSpPr>
          <p:cNvPr id="38" name="Rectangle 37"/>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896600" y="3690555"/>
            <a:ext cx="990600" cy="310313"/>
          </a:xfrm>
          <a:prstGeom prst="rect">
            <a:avLst/>
          </a:prstGeom>
          <a:noFill/>
        </p:spPr>
        <p:txBody>
          <a:bodyPr wrap="square" lIns="28575" tIns="9525" rIns="28575" bIns="9525" anchor="ctr">
            <a:spAutoFit/>
          </a:bodyPr>
          <a:lstStyle/>
          <a:p>
            <a:pPr algn="ctr"/>
            <a:r>
              <a:rPr sz="1100" b="1">
                <a:solidFill>
                  <a:srgbClr val="9AA0A6"/>
                </a:solidFill>
                <a:latin typeface="Calibri"/>
              </a:rPr>
              <a:t>Low</a:t>
            </a:r>
          </a:p>
        </p:txBody>
      </p:sp>
      <p:sp>
        <p:nvSpPr>
          <p:cNvPr id="40" name="TextBox 39"/>
          <p:cNvSpPr txBox="1"/>
          <p:nvPr/>
        </p:nvSpPr>
        <p:spPr>
          <a:xfrm>
            <a:off x="9810750" y="4046502"/>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2026–28</a:t>
            </a:r>
          </a:p>
        </p:txBody>
      </p:sp>
      <p:sp>
        <p:nvSpPr>
          <p:cNvPr id="41" name="Rectangle 40"/>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810750" y="4210785"/>
            <a:ext cx="990600" cy="310313"/>
          </a:xfrm>
          <a:prstGeom prst="rect">
            <a:avLst/>
          </a:prstGeom>
          <a:noFill/>
        </p:spPr>
        <p:txBody>
          <a:bodyPr wrap="square" lIns="28575" tIns="9525" rIns="28575" bIns="9525" anchor="ctr">
            <a:spAutoFit/>
          </a:bodyPr>
          <a:lstStyle/>
          <a:p>
            <a:pPr algn="ctr"/>
            <a:r>
              <a:rPr sz="1100" b="1">
                <a:solidFill>
                  <a:srgbClr val="9AA0A6"/>
                </a:solidFill>
                <a:latin typeface="Calibri"/>
              </a:rPr>
              <a:t>Low</a:t>
            </a:r>
          </a:p>
        </p:txBody>
      </p:sp>
      <p:sp>
        <p:nvSpPr>
          <p:cNvPr id="43" name="TextBox 42"/>
          <p:cNvSpPr txBox="1"/>
          <p:nvPr/>
        </p:nvSpPr>
        <p:spPr>
          <a:xfrm>
            <a:off x="10896600" y="4046502"/>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2029–36</a:t>
            </a:r>
          </a:p>
        </p:txBody>
      </p:sp>
      <p:sp>
        <p:nvSpPr>
          <p:cNvPr id="44" name="Rectangle 43"/>
          <p:cNvSpPr/>
          <p:nvPr/>
        </p:nvSpPr>
        <p:spPr>
          <a:xfrm>
            <a:off x="10896600" y="4210785"/>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896600" y="4210785"/>
            <a:ext cx="990600" cy="310313"/>
          </a:xfrm>
          <a:prstGeom prst="rect">
            <a:avLst/>
          </a:prstGeom>
          <a:noFill/>
        </p:spPr>
        <p:txBody>
          <a:bodyPr wrap="square" lIns="28575" tIns="9525" rIns="28575" bIns="9525" anchor="ctr">
            <a:spAutoFit/>
          </a:bodyPr>
          <a:lstStyle/>
          <a:p>
            <a:pPr algn="ctr"/>
            <a:r>
              <a:rPr sz="1100" b="1">
                <a:solidFill>
                  <a:srgbClr val="9AA0A6"/>
                </a:solidFill>
                <a:latin typeface="Calibri"/>
              </a:rPr>
              <a:t>Low</a:t>
            </a:r>
          </a:p>
        </p:txBody>
      </p:sp>
      <p:cxnSp>
        <p:nvCxnSpPr>
          <p:cNvPr id="46" name="Connector 45"/>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42875" y="489529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76225" y="4895299"/>
            <a:ext cx="9267825" cy="255552"/>
          </a:xfrm>
          <a:prstGeom prst="rect">
            <a:avLst/>
          </a:prstGeom>
          <a:noFill/>
        </p:spPr>
        <p:txBody>
          <a:bodyPr wrap="square" lIns="28575" tIns="9525" rIns="28575" bIns="9525" anchor="ctr">
            <a:spAutoFit/>
          </a:bodyPr>
          <a:lstStyle/>
          <a:p>
            <a:pPr algn="l"/>
            <a:r>
              <a:rPr sz="1100" b="1">
                <a:solidFill>
                  <a:srgbClr val="0B2E4A"/>
                </a:solidFill>
                <a:latin typeface="Calibri"/>
              </a:rPr>
              <a:t>Concentration Risk Limits Pricing and Sourcing Flexibility</a:t>
            </a:r>
          </a:p>
        </p:txBody>
      </p:sp>
      <p:sp>
        <p:nvSpPr>
          <p:cNvPr id="49" name="TextBox 48"/>
          <p:cNvSpPr txBox="1"/>
          <p:nvPr/>
        </p:nvSpPr>
        <p:spPr>
          <a:xfrm>
            <a:off x="161925" y="5205612"/>
            <a:ext cx="9439275" cy="593245"/>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The market is concentrated: 'USA' accounts for 100.0% of 2036 value and the leading product format line for 27.2% of its segment. Average realisation moves 0.7% a year, so cost movements cannot be passed on evenly across 1 country. The practical constraint is the same in either case commercial terms set for the market as a whole underserve part of it, and margin is lost in the mismatch rather than in the headline growth rate.</a:t>
            </a:r>
          </a:p>
        </p:txBody>
      </p:sp>
      <p:sp>
        <p:nvSpPr>
          <p:cNvPr id="50" name="TextBox 49"/>
          <p:cNvSpPr txBox="1"/>
          <p:nvPr/>
        </p:nvSpPr>
        <p:spPr>
          <a:xfrm>
            <a:off x="9810750" y="4895299"/>
            <a:ext cx="2238375" cy="365074"/>
          </a:xfrm>
          <a:prstGeom prst="rect">
            <a:avLst/>
          </a:prstGeom>
          <a:noFill/>
        </p:spPr>
        <p:txBody>
          <a:bodyPr wrap="square" lIns="28575" tIns="9525" rIns="28575" bIns="9525" anchor="ctr">
            <a:spAutoFit/>
          </a:bodyPr>
          <a:lstStyle/>
          <a:p>
            <a:pPr algn="l">
              <a:lnSpc>
                <a:spcPct val="115000"/>
              </a:lnSpc>
            </a:pPr>
            <a:r>
              <a:rPr sz="1100" b="1">
                <a:solidFill>
                  <a:srgbClr val="6C7A89"/>
                </a:solidFill>
                <a:latin typeface="Calibri"/>
              </a:rPr>
              <a:t>Likelihood of impact on timeline</a:t>
            </a:r>
          </a:p>
        </p:txBody>
      </p:sp>
      <p:sp>
        <p:nvSpPr>
          <p:cNvPr id="51" name="TextBox 50"/>
          <p:cNvSpPr txBox="1"/>
          <p:nvPr/>
        </p:nvSpPr>
        <p:spPr>
          <a:xfrm>
            <a:off x="9810750" y="5278626"/>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2021–22</a:t>
            </a:r>
          </a:p>
        </p:txBody>
      </p:sp>
      <p:sp>
        <p:nvSpPr>
          <p:cNvPr id="52" name="Rectangle 51"/>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810750" y="5442910"/>
            <a:ext cx="990600" cy="310313"/>
          </a:xfrm>
          <a:prstGeom prst="rect">
            <a:avLst/>
          </a:prstGeom>
          <a:noFill/>
        </p:spPr>
        <p:txBody>
          <a:bodyPr wrap="square" lIns="28575" tIns="9525" rIns="28575" bIns="9525" anchor="ctr">
            <a:spAutoFit/>
          </a:bodyPr>
          <a:lstStyle/>
          <a:p>
            <a:pPr algn="ctr"/>
            <a:r>
              <a:rPr sz="1100" b="1">
                <a:solidFill>
                  <a:srgbClr val="4A3A05"/>
                </a:solidFill>
                <a:latin typeface="Calibri"/>
              </a:rPr>
              <a:t>High</a:t>
            </a:r>
          </a:p>
        </p:txBody>
      </p:sp>
      <p:sp>
        <p:nvSpPr>
          <p:cNvPr id="54" name="TextBox 53"/>
          <p:cNvSpPr txBox="1"/>
          <p:nvPr/>
        </p:nvSpPr>
        <p:spPr>
          <a:xfrm>
            <a:off x="10896600" y="5278626"/>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2023–25</a:t>
            </a:r>
          </a:p>
        </p:txBody>
      </p:sp>
      <p:sp>
        <p:nvSpPr>
          <p:cNvPr id="55" name="Rectangle 54"/>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896600" y="5442910"/>
            <a:ext cx="990600" cy="310313"/>
          </a:xfrm>
          <a:prstGeom prst="rect">
            <a:avLst/>
          </a:prstGeom>
          <a:noFill/>
        </p:spPr>
        <p:txBody>
          <a:bodyPr wrap="square" lIns="28575" tIns="9525" rIns="28575" bIns="9525" anchor="ctr">
            <a:spAutoFit/>
          </a:bodyPr>
          <a:lstStyle/>
          <a:p>
            <a:pPr algn="ctr"/>
            <a:r>
              <a:rPr sz="1100" b="1">
                <a:solidFill>
                  <a:srgbClr val="4A3A05"/>
                </a:solidFill>
                <a:latin typeface="Calibri"/>
              </a:rPr>
              <a:t>High</a:t>
            </a:r>
          </a:p>
        </p:txBody>
      </p:sp>
      <p:sp>
        <p:nvSpPr>
          <p:cNvPr id="57" name="TextBox 56"/>
          <p:cNvSpPr txBox="1"/>
          <p:nvPr/>
        </p:nvSpPr>
        <p:spPr>
          <a:xfrm>
            <a:off x="9810750" y="5798857"/>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2026–28</a:t>
            </a:r>
          </a:p>
        </p:txBody>
      </p:sp>
      <p:sp>
        <p:nvSpPr>
          <p:cNvPr id="58" name="Rectangle 57"/>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810750" y="5963140"/>
            <a:ext cx="990600" cy="310313"/>
          </a:xfrm>
          <a:prstGeom prst="rect">
            <a:avLst/>
          </a:prstGeom>
          <a:noFill/>
        </p:spPr>
        <p:txBody>
          <a:bodyPr wrap="square" lIns="28575" tIns="9525" rIns="28575" bIns="9525" anchor="ctr">
            <a:spAutoFit/>
          </a:bodyPr>
          <a:lstStyle/>
          <a:p>
            <a:pPr algn="ctr"/>
            <a:r>
              <a:rPr sz="1100" b="1">
                <a:solidFill>
                  <a:srgbClr val="4A3A05"/>
                </a:solidFill>
                <a:latin typeface="Calibri"/>
              </a:rPr>
              <a:t>High</a:t>
            </a:r>
          </a:p>
        </p:txBody>
      </p:sp>
      <p:sp>
        <p:nvSpPr>
          <p:cNvPr id="60" name="TextBox 59"/>
          <p:cNvSpPr txBox="1"/>
          <p:nvPr/>
        </p:nvSpPr>
        <p:spPr>
          <a:xfrm>
            <a:off x="10896600" y="5798857"/>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2029–36</a:t>
            </a:r>
          </a:p>
        </p:txBody>
      </p:sp>
      <p:sp>
        <p:nvSpPr>
          <p:cNvPr id="61" name="Rectangle 60"/>
          <p:cNvSpPr/>
          <p:nvPr/>
        </p:nvSpPr>
        <p:spPr>
          <a:xfrm>
            <a:off x="10896600" y="596314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0896600" y="5963140"/>
            <a:ext cx="990600" cy="310313"/>
          </a:xfrm>
          <a:prstGeom prst="rect">
            <a:avLst/>
          </a:prstGeom>
          <a:noFill/>
        </p:spPr>
        <p:txBody>
          <a:bodyPr wrap="square" lIns="28575" tIns="9525" rIns="28575" bIns="9525" anchor="ctr">
            <a:spAutoFit/>
          </a:bodyPr>
          <a:lstStyle/>
          <a:p>
            <a:pPr algn="ctr"/>
            <a:r>
              <a:rPr sz="1100" b="1">
                <a:solidFill>
                  <a:srgbClr val="4A3A05"/>
                </a:solidFill>
                <a:latin typeface="Calibri"/>
              </a:rPr>
              <a:t>High</a:t>
            </a:r>
          </a:p>
        </p:txBody>
      </p:sp>
      <p:sp>
        <p:nvSpPr>
          <p:cNvPr id="63" name="TextBox 6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Opportunities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the key opportunities in the USA market and the likelihood of their impact across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ounded Rectangle 10"/>
          <p:cNvSpPr/>
          <p:nvPr/>
        </p:nvSpPr>
        <p:spPr>
          <a:xfrm>
            <a:off x="142875" y="1025515"/>
            <a:ext cx="2038350" cy="255552"/>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2875" y="1025515"/>
            <a:ext cx="2038350" cy="255552"/>
          </a:xfrm>
          <a:prstGeom prst="rect">
            <a:avLst/>
          </a:prstGeom>
          <a:noFill/>
        </p:spPr>
        <p:txBody>
          <a:bodyPr wrap="square" lIns="28575" tIns="9525" rIns="28575" bIns="9525" anchor="ctr">
            <a:spAutoFit/>
          </a:bodyPr>
          <a:lstStyle/>
          <a:p>
            <a:pPr algn="ctr"/>
            <a:r>
              <a:rPr sz="1100" b="1">
                <a:solidFill>
                  <a:srgbClr val="FFFFFF"/>
                </a:solidFill>
                <a:latin typeface="Calibri"/>
              </a:rPr>
              <a:t>Market Opportunities</a:t>
            </a:r>
          </a:p>
        </p:txBody>
      </p:sp>
      <p:sp>
        <p:nvSpPr>
          <p:cNvPr id="13" name="Rectangle 12"/>
          <p:cNvSpPr/>
          <p:nvPr/>
        </p:nvSpPr>
        <p:spPr>
          <a:xfrm>
            <a:off x="142875" y="139058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6225" y="1390589"/>
            <a:ext cx="9267825" cy="255552"/>
          </a:xfrm>
          <a:prstGeom prst="rect">
            <a:avLst/>
          </a:prstGeom>
          <a:noFill/>
        </p:spPr>
        <p:txBody>
          <a:bodyPr wrap="square" lIns="28575" tIns="9525" rIns="28575" bIns="9525" anchor="ctr">
            <a:spAutoFit/>
          </a:bodyPr>
          <a:lstStyle/>
          <a:p>
            <a:pPr algn="l"/>
            <a:r>
              <a:rPr sz="1100" b="1">
                <a:solidFill>
                  <a:srgbClr val="0B2E4A"/>
                </a:solidFill>
                <a:latin typeface="Calibri"/>
              </a:rPr>
              <a:t>USA Carries the Largest Absolute Opportunity</a:t>
            </a:r>
          </a:p>
        </p:txBody>
      </p:sp>
      <p:sp>
        <p:nvSpPr>
          <p:cNvPr id="15" name="TextBox 14"/>
          <p:cNvSpPr txBox="1"/>
          <p:nvPr/>
        </p:nvSpPr>
        <p:spPr>
          <a:xfrm>
            <a:off x="161925" y="1700902"/>
            <a:ext cx="9439275" cy="593245"/>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'USA' adds 207.2 US$ Mn between 2026 and 2036 the single largest absolute increment of any geography in the dataset. Capturing it is a question of scale execution rather than market creation: demand already exists and grows at 6.6% at the market level. Prioritising supply, channel coverage and service levels there converts the largest share of the 207.2 US$ Mn the whole market adds over the forecast period.</a:t>
            </a:r>
          </a:p>
        </p:txBody>
      </p:sp>
      <p:sp>
        <p:nvSpPr>
          <p:cNvPr id="16" name="TextBox 15"/>
          <p:cNvSpPr txBox="1"/>
          <p:nvPr/>
        </p:nvSpPr>
        <p:spPr>
          <a:xfrm>
            <a:off x="9810750" y="1390589"/>
            <a:ext cx="2238375" cy="365074"/>
          </a:xfrm>
          <a:prstGeom prst="rect">
            <a:avLst/>
          </a:prstGeom>
          <a:noFill/>
        </p:spPr>
        <p:txBody>
          <a:bodyPr wrap="square" lIns="28575" tIns="9525" rIns="28575" bIns="9525" anchor="ctr">
            <a:spAutoFit/>
          </a:bodyPr>
          <a:lstStyle/>
          <a:p>
            <a:pPr algn="l">
              <a:lnSpc>
                <a:spcPct val="115000"/>
              </a:lnSpc>
            </a:pPr>
            <a:r>
              <a:rPr sz="1100" b="1">
                <a:solidFill>
                  <a:srgbClr val="6C7A89"/>
                </a:solidFill>
                <a:latin typeface="Calibri"/>
              </a:rPr>
              <a:t>Likelihood of impact on timeline</a:t>
            </a:r>
          </a:p>
        </p:txBody>
      </p:sp>
      <p:sp>
        <p:nvSpPr>
          <p:cNvPr id="17" name="TextBox 16"/>
          <p:cNvSpPr txBox="1"/>
          <p:nvPr/>
        </p:nvSpPr>
        <p:spPr>
          <a:xfrm>
            <a:off x="9810750" y="1773916"/>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2021–22</a:t>
            </a:r>
          </a:p>
        </p:txBody>
      </p:sp>
      <p:sp>
        <p:nvSpPr>
          <p:cNvPr id="18" name="Rectangle 17"/>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10750" y="1938200"/>
            <a:ext cx="990600" cy="310313"/>
          </a:xfrm>
          <a:prstGeom prst="rect">
            <a:avLst/>
          </a:prstGeom>
          <a:noFill/>
        </p:spPr>
        <p:txBody>
          <a:bodyPr wrap="square" lIns="28575" tIns="9525" rIns="28575" bIns="9525" anchor="ctr">
            <a:spAutoFit/>
          </a:bodyPr>
          <a:lstStyle/>
          <a:p>
            <a:pPr algn="ctr"/>
            <a:r>
              <a:rPr sz="1100" b="1">
                <a:solidFill>
                  <a:srgbClr val="9AA0A6"/>
                </a:solidFill>
                <a:latin typeface="Calibri"/>
              </a:rPr>
              <a:t>Low</a:t>
            </a:r>
          </a:p>
        </p:txBody>
      </p:sp>
      <p:sp>
        <p:nvSpPr>
          <p:cNvPr id="20" name="TextBox 19"/>
          <p:cNvSpPr txBox="1"/>
          <p:nvPr/>
        </p:nvSpPr>
        <p:spPr>
          <a:xfrm>
            <a:off x="10896600" y="1773916"/>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2023–25</a:t>
            </a:r>
          </a:p>
        </p:txBody>
      </p:sp>
      <p:sp>
        <p:nvSpPr>
          <p:cNvPr id="21" name="Rectangle 20"/>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896600" y="1938200"/>
            <a:ext cx="990600" cy="310313"/>
          </a:xfrm>
          <a:prstGeom prst="rect">
            <a:avLst/>
          </a:prstGeom>
          <a:noFill/>
        </p:spPr>
        <p:txBody>
          <a:bodyPr wrap="square" lIns="28575" tIns="9525" rIns="28575" bIns="9525" anchor="ctr">
            <a:spAutoFit/>
          </a:bodyPr>
          <a:lstStyle/>
          <a:p>
            <a:pPr algn="ctr"/>
            <a:r>
              <a:rPr sz="1100" b="1">
                <a:solidFill>
                  <a:srgbClr val="9AA0A6"/>
                </a:solidFill>
                <a:latin typeface="Calibri"/>
              </a:rPr>
              <a:t>Low</a:t>
            </a:r>
          </a:p>
        </p:txBody>
      </p:sp>
      <p:sp>
        <p:nvSpPr>
          <p:cNvPr id="23" name="TextBox 22"/>
          <p:cNvSpPr txBox="1"/>
          <p:nvPr/>
        </p:nvSpPr>
        <p:spPr>
          <a:xfrm>
            <a:off x="9810750" y="2294147"/>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2026–28</a:t>
            </a:r>
          </a:p>
        </p:txBody>
      </p:sp>
      <p:sp>
        <p:nvSpPr>
          <p:cNvPr id="24" name="Rectangle 23"/>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810750" y="2458430"/>
            <a:ext cx="990600" cy="310313"/>
          </a:xfrm>
          <a:prstGeom prst="rect">
            <a:avLst/>
          </a:prstGeom>
          <a:noFill/>
        </p:spPr>
        <p:txBody>
          <a:bodyPr wrap="square" lIns="28575" tIns="9525" rIns="28575" bIns="9525" anchor="ctr">
            <a:spAutoFit/>
          </a:bodyPr>
          <a:lstStyle/>
          <a:p>
            <a:pPr algn="ctr"/>
            <a:r>
              <a:rPr sz="1100" b="1">
                <a:solidFill>
                  <a:srgbClr val="9AA0A6"/>
                </a:solidFill>
                <a:latin typeface="Calibri"/>
              </a:rPr>
              <a:t>Low</a:t>
            </a:r>
          </a:p>
        </p:txBody>
      </p:sp>
      <p:sp>
        <p:nvSpPr>
          <p:cNvPr id="26" name="TextBox 25"/>
          <p:cNvSpPr txBox="1"/>
          <p:nvPr/>
        </p:nvSpPr>
        <p:spPr>
          <a:xfrm>
            <a:off x="10896600" y="2294147"/>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2029–36</a:t>
            </a:r>
          </a:p>
        </p:txBody>
      </p:sp>
      <p:sp>
        <p:nvSpPr>
          <p:cNvPr id="27" name="Rectangle 26"/>
          <p:cNvSpPr/>
          <p:nvPr/>
        </p:nvSpPr>
        <p:spPr>
          <a:xfrm>
            <a:off x="10896600" y="245843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896600" y="2458430"/>
            <a:ext cx="990600" cy="310313"/>
          </a:xfrm>
          <a:prstGeom prst="rect">
            <a:avLst/>
          </a:prstGeom>
          <a:noFill/>
        </p:spPr>
        <p:txBody>
          <a:bodyPr wrap="square" lIns="28575" tIns="9525" rIns="28575" bIns="9525" anchor="ctr">
            <a:spAutoFit/>
          </a:bodyPr>
          <a:lstStyle/>
          <a:p>
            <a:pPr algn="ctr"/>
            <a:r>
              <a:rPr sz="1100" b="1">
                <a:solidFill>
                  <a:srgbClr val="9AA0A6"/>
                </a:solidFill>
                <a:latin typeface="Calibri"/>
              </a:rPr>
              <a:t>Low</a:t>
            </a:r>
          </a:p>
        </p:txBody>
      </p:sp>
      <p:cxnSp>
        <p:nvCxnSpPr>
          <p:cNvPr id="29" name="Connector 28"/>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42875" y="3142944"/>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6225" y="3142944"/>
            <a:ext cx="9267825" cy="255552"/>
          </a:xfrm>
          <a:prstGeom prst="rect">
            <a:avLst/>
          </a:prstGeom>
          <a:noFill/>
        </p:spPr>
        <p:txBody>
          <a:bodyPr wrap="square" lIns="28575" tIns="9525" rIns="28575" bIns="9525" anchor="ctr">
            <a:spAutoFit/>
          </a:bodyPr>
          <a:lstStyle/>
          <a:p>
            <a:pPr algn="l"/>
            <a:r>
              <a:rPr sz="1100" b="1">
                <a:solidFill>
                  <a:srgbClr val="0B2E4A"/>
                </a:solidFill>
                <a:latin typeface="Calibri"/>
              </a:rPr>
              <a:t>USA Offers Under-penetrated, Above-pace Headroom</a:t>
            </a:r>
          </a:p>
        </p:txBody>
      </p:sp>
      <p:sp>
        <p:nvSpPr>
          <p:cNvPr id="32" name="TextBox 31"/>
          <p:cNvSpPr txBox="1"/>
          <p:nvPr/>
        </p:nvSpPr>
        <p:spPr>
          <a:xfrm>
            <a:off x="161925" y="3453257"/>
            <a:ext cx="9439275" cy="593245"/>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'USA' compounds at 6.6% CAGR from a below-median base one of 1 geographies in the dataset combining above-median growth with below-median size. That profile is where share is cheapest to buy: competitive intensity is lower than in the 100.0%-share leaders, while growth runs +0 BPS ahead of the market. Early distribution and reference accounts established here compound through 2036.</a:t>
            </a:r>
          </a:p>
        </p:txBody>
      </p:sp>
      <p:sp>
        <p:nvSpPr>
          <p:cNvPr id="33" name="TextBox 32"/>
          <p:cNvSpPr txBox="1"/>
          <p:nvPr/>
        </p:nvSpPr>
        <p:spPr>
          <a:xfrm>
            <a:off x="9810750" y="3142944"/>
            <a:ext cx="2238375" cy="365074"/>
          </a:xfrm>
          <a:prstGeom prst="rect">
            <a:avLst/>
          </a:prstGeom>
          <a:noFill/>
        </p:spPr>
        <p:txBody>
          <a:bodyPr wrap="square" lIns="28575" tIns="9525" rIns="28575" bIns="9525" anchor="ctr">
            <a:spAutoFit/>
          </a:bodyPr>
          <a:lstStyle/>
          <a:p>
            <a:pPr algn="l">
              <a:lnSpc>
                <a:spcPct val="115000"/>
              </a:lnSpc>
            </a:pPr>
            <a:r>
              <a:rPr sz="1100" b="1">
                <a:solidFill>
                  <a:srgbClr val="6C7A89"/>
                </a:solidFill>
                <a:latin typeface="Calibri"/>
              </a:rPr>
              <a:t>Likelihood of impact on timeline</a:t>
            </a:r>
          </a:p>
        </p:txBody>
      </p:sp>
      <p:sp>
        <p:nvSpPr>
          <p:cNvPr id="34" name="TextBox 33"/>
          <p:cNvSpPr txBox="1"/>
          <p:nvPr/>
        </p:nvSpPr>
        <p:spPr>
          <a:xfrm>
            <a:off x="9810750" y="3526271"/>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2021–22</a:t>
            </a:r>
          </a:p>
        </p:txBody>
      </p:sp>
      <p:sp>
        <p:nvSpPr>
          <p:cNvPr id="35" name="Rectangle 34"/>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810750" y="3690555"/>
            <a:ext cx="990600" cy="310313"/>
          </a:xfrm>
          <a:prstGeom prst="rect">
            <a:avLst/>
          </a:prstGeom>
          <a:noFill/>
        </p:spPr>
        <p:txBody>
          <a:bodyPr wrap="square" lIns="28575" tIns="9525" rIns="28575" bIns="9525" anchor="ctr">
            <a:spAutoFit/>
          </a:bodyPr>
          <a:lstStyle/>
          <a:p>
            <a:pPr algn="ctr"/>
            <a:r>
              <a:rPr sz="1100" b="1">
                <a:solidFill>
                  <a:srgbClr val="6B5613"/>
                </a:solidFill>
                <a:latin typeface="Calibri"/>
              </a:rPr>
              <a:t>Medium</a:t>
            </a:r>
          </a:p>
        </p:txBody>
      </p:sp>
      <p:sp>
        <p:nvSpPr>
          <p:cNvPr id="37" name="TextBox 36"/>
          <p:cNvSpPr txBox="1"/>
          <p:nvPr/>
        </p:nvSpPr>
        <p:spPr>
          <a:xfrm>
            <a:off x="10896600" y="3526271"/>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2023–25</a:t>
            </a:r>
          </a:p>
        </p:txBody>
      </p:sp>
      <p:sp>
        <p:nvSpPr>
          <p:cNvPr id="38" name="Rectangle 37"/>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896600" y="3690555"/>
            <a:ext cx="990600" cy="310313"/>
          </a:xfrm>
          <a:prstGeom prst="rect">
            <a:avLst/>
          </a:prstGeom>
          <a:noFill/>
        </p:spPr>
        <p:txBody>
          <a:bodyPr wrap="square" lIns="28575" tIns="9525" rIns="28575" bIns="9525" anchor="ctr">
            <a:spAutoFit/>
          </a:bodyPr>
          <a:lstStyle/>
          <a:p>
            <a:pPr algn="ctr"/>
            <a:r>
              <a:rPr sz="1100" b="1">
                <a:solidFill>
                  <a:srgbClr val="6B5613"/>
                </a:solidFill>
                <a:latin typeface="Calibri"/>
              </a:rPr>
              <a:t>Medium</a:t>
            </a:r>
          </a:p>
        </p:txBody>
      </p:sp>
      <p:sp>
        <p:nvSpPr>
          <p:cNvPr id="40" name="TextBox 39"/>
          <p:cNvSpPr txBox="1"/>
          <p:nvPr/>
        </p:nvSpPr>
        <p:spPr>
          <a:xfrm>
            <a:off x="9810750" y="4046502"/>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2026–28</a:t>
            </a:r>
          </a:p>
        </p:txBody>
      </p:sp>
      <p:sp>
        <p:nvSpPr>
          <p:cNvPr id="41" name="Rectangle 40"/>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810750" y="4210785"/>
            <a:ext cx="990600" cy="310313"/>
          </a:xfrm>
          <a:prstGeom prst="rect">
            <a:avLst/>
          </a:prstGeom>
          <a:noFill/>
        </p:spPr>
        <p:txBody>
          <a:bodyPr wrap="square" lIns="28575" tIns="9525" rIns="28575" bIns="9525" anchor="ctr">
            <a:spAutoFit/>
          </a:bodyPr>
          <a:lstStyle/>
          <a:p>
            <a:pPr algn="ctr"/>
            <a:r>
              <a:rPr sz="1100" b="1">
                <a:solidFill>
                  <a:srgbClr val="6B5613"/>
                </a:solidFill>
                <a:latin typeface="Calibri"/>
              </a:rPr>
              <a:t>Medium</a:t>
            </a:r>
          </a:p>
        </p:txBody>
      </p:sp>
      <p:sp>
        <p:nvSpPr>
          <p:cNvPr id="43" name="TextBox 42"/>
          <p:cNvSpPr txBox="1"/>
          <p:nvPr/>
        </p:nvSpPr>
        <p:spPr>
          <a:xfrm>
            <a:off x="10896600" y="4046502"/>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2029–36</a:t>
            </a:r>
          </a:p>
        </p:txBody>
      </p:sp>
      <p:sp>
        <p:nvSpPr>
          <p:cNvPr id="44" name="Rectangle 43"/>
          <p:cNvSpPr/>
          <p:nvPr/>
        </p:nvSpPr>
        <p:spPr>
          <a:xfrm>
            <a:off x="10896600" y="4210785"/>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896600" y="4210785"/>
            <a:ext cx="990600" cy="310313"/>
          </a:xfrm>
          <a:prstGeom prst="rect">
            <a:avLst/>
          </a:prstGeom>
          <a:noFill/>
        </p:spPr>
        <p:txBody>
          <a:bodyPr wrap="square" lIns="28575" tIns="9525" rIns="28575" bIns="9525" anchor="ctr">
            <a:spAutoFit/>
          </a:bodyPr>
          <a:lstStyle/>
          <a:p>
            <a:pPr algn="ctr"/>
            <a:r>
              <a:rPr sz="1100" b="1">
                <a:solidFill>
                  <a:srgbClr val="6B5613"/>
                </a:solidFill>
                <a:latin typeface="Calibri"/>
              </a:rPr>
              <a:t>Medium</a:t>
            </a:r>
          </a:p>
        </p:txBody>
      </p:sp>
      <p:cxnSp>
        <p:nvCxnSpPr>
          <p:cNvPr id="46" name="Connector 45"/>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42875" y="489529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76225" y="4895299"/>
            <a:ext cx="9267825" cy="255552"/>
          </a:xfrm>
          <a:prstGeom prst="rect">
            <a:avLst/>
          </a:prstGeom>
          <a:noFill/>
        </p:spPr>
        <p:txBody>
          <a:bodyPr wrap="square" lIns="28575" tIns="9525" rIns="28575" bIns="9525" anchor="ctr">
            <a:spAutoFit/>
          </a:bodyPr>
          <a:lstStyle/>
          <a:p>
            <a:pPr algn="l"/>
            <a:r>
              <a:rPr sz="1100" b="1">
                <a:solidFill>
                  <a:srgbClr val="0B2E4A"/>
                </a:solidFill>
                <a:latin typeface="Calibri"/>
              </a:rPr>
              <a:t>Direct-to-Consumer / Brand Website Opens the Fastest Route to Market</a:t>
            </a:r>
          </a:p>
        </p:txBody>
      </p:sp>
      <p:sp>
        <p:nvSpPr>
          <p:cNvPr id="49" name="TextBox 48"/>
          <p:cNvSpPr txBox="1"/>
          <p:nvPr/>
        </p:nvSpPr>
        <p:spPr>
          <a:xfrm>
            <a:off x="161925" y="5205612"/>
            <a:ext cx="9439275" cy="593245"/>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'Direct-to-Consumer / Brand Website' grows at 11.4% CAGR, the fastest of 6 sales channel routes, and adds 57.9 US$ Mn over the forecast period while 'Amazon / Online Marketplaces' still carries 38.6% of demand today. Pairing the incumbent route for volume with the fastest route for growth and leading with 'Powder' at 13.6% is the highest-yield combination the dataset supports.</a:t>
            </a:r>
          </a:p>
        </p:txBody>
      </p:sp>
      <p:sp>
        <p:nvSpPr>
          <p:cNvPr id="50" name="TextBox 49"/>
          <p:cNvSpPr txBox="1"/>
          <p:nvPr/>
        </p:nvSpPr>
        <p:spPr>
          <a:xfrm>
            <a:off x="9810750" y="4895299"/>
            <a:ext cx="2238375" cy="365074"/>
          </a:xfrm>
          <a:prstGeom prst="rect">
            <a:avLst/>
          </a:prstGeom>
          <a:noFill/>
        </p:spPr>
        <p:txBody>
          <a:bodyPr wrap="square" lIns="28575" tIns="9525" rIns="28575" bIns="9525" anchor="ctr">
            <a:spAutoFit/>
          </a:bodyPr>
          <a:lstStyle/>
          <a:p>
            <a:pPr algn="l">
              <a:lnSpc>
                <a:spcPct val="115000"/>
              </a:lnSpc>
            </a:pPr>
            <a:r>
              <a:rPr sz="1100" b="1">
                <a:solidFill>
                  <a:srgbClr val="6C7A89"/>
                </a:solidFill>
                <a:latin typeface="Calibri"/>
              </a:rPr>
              <a:t>Likelihood of impact on timeline</a:t>
            </a:r>
          </a:p>
        </p:txBody>
      </p:sp>
      <p:sp>
        <p:nvSpPr>
          <p:cNvPr id="51" name="TextBox 50"/>
          <p:cNvSpPr txBox="1"/>
          <p:nvPr/>
        </p:nvSpPr>
        <p:spPr>
          <a:xfrm>
            <a:off x="9810750" y="5278626"/>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2021–22</a:t>
            </a:r>
          </a:p>
        </p:txBody>
      </p:sp>
      <p:sp>
        <p:nvSpPr>
          <p:cNvPr id="52" name="Rectangle 51"/>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810750" y="5442910"/>
            <a:ext cx="990600" cy="310313"/>
          </a:xfrm>
          <a:prstGeom prst="rect">
            <a:avLst/>
          </a:prstGeom>
          <a:noFill/>
        </p:spPr>
        <p:txBody>
          <a:bodyPr wrap="square" lIns="28575" tIns="9525" rIns="28575" bIns="9525" anchor="ctr">
            <a:spAutoFit/>
          </a:bodyPr>
          <a:lstStyle/>
          <a:p>
            <a:pPr algn="ctr"/>
            <a:r>
              <a:rPr sz="1100" b="1">
                <a:solidFill>
                  <a:srgbClr val="4A3A05"/>
                </a:solidFill>
                <a:latin typeface="Calibri"/>
              </a:rPr>
              <a:t>High</a:t>
            </a:r>
          </a:p>
        </p:txBody>
      </p:sp>
      <p:sp>
        <p:nvSpPr>
          <p:cNvPr id="54" name="TextBox 53"/>
          <p:cNvSpPr txBox="1"/>
          <p:nvPr/>
        </p:nvSpPr>
        <p:spPr>
          <a:xfrm>
            <a:off x="10896600" y="5278626"/>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2023–25</a:t>
            </a:r>
          </a:p>
        </p:txBody>
      </p:sp>
      <p:sp>
        <p:nvSpPr>
          <p:cNvPr id="55" name="Rectangle 54"/>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896600" y="5442910"/>
            <a:ext cx="990600" cy="310313"/>
          </a:xfrm>
          <a:prstGeom prst="rect">
            <a:avLst/>
          </a:prstGeom>
          <a:noFill/>
        </p:spPr>
        <p:txBody>
          <a:bodyPr wrap="square" lIns="28575" tIns="9525" rIns="28575" bIns="9525" anchor="ctr">
            <a:spAutoFit/>
          </a:bodyPr>
          <a:lstStyle/>
          <a:p>
            <a:pPr algn="ctr"/>
            <a:r>
              <a:rPr sz="1100" b="1">
                <a:solidFill>
                  <a:srgbClr val="4A3A05"/>
                </a:solidFill>
                <a:latin typeface="Calibri"/>
              </a:rPr>
              <a:t>High</a:t>
            </a:r>
          </a:p>
        </p:txBody>
      </p:sp>
      <p:sp>
        <p:nvSpPr>
          <p:cNvPr id="57" name="TextBox 56"/>
          <p:cNvSpPr txBox="1"/>
          <p:nvPr/>
        </p:nvSpPr>
        <p:spPr>
          <a:xfrm>
            <a:off x="9810750" y="5798857"/>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2026–28</a:t>
            </a:r>
          </a:p>
        </p:txBody>
      </p:sp>
      <p:sp>
        <p:nvSpPr>
          <p:cNvPr id="58" name="Rectangle 57"/>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810750" y="5963140"/>
            <a:ext cx="990600" cy="310313"/>
          </a:xfrm>
          <a:prstGeom prst="rect">
            <a:avLst/>
          </a:prstGeom>
          <a:noFill/>
        </p:spPr>
        <p:txBody>
          <a:bodyPr wrap="square" lIns="28575" tIns="9525" rIns="28575" bIns="9525" anchor="ctr">
            <a:spAutoFit/>
          </a:bodyPr>
          <a:lstStyle/>
          <a:p>
            <a:pPr algn="ctr"/>
            <a:r>
              <a:rPr sz="1100" b="1">
                <a:solidFill>
                  <a:srgbClr val="4A3A05"/>
                </a:solidFill>
                <a:latin typeface="Calibri"/>
              </a:rPr>
              <a:t>High</a:t>
            </a:r>
          </a:p>
        </p:txBody>
      </p:sp>
      <p:sp>
        <p:nvSpPr>
          <p:cNvPr id="60" name="TextBox 59"/>
          <p:cNvSpPr txBox="1"/>
          <p:nvPr/>
        </p:nvSpPr>
        <p:spPr>
          <a:xfrm>
            <a:off x="10896600" y="5798857"/>
            <a:ext cx="990600" cy="155156"/>
          </a:xfrm>
          <a:prstGeom prst="rect">
            <a:avLst/>
          </a:prstGeom>
          <a:noFill/>
        </p:spPr>
        <p:txBody>
          <a:bodyPr wrap="square" lIns="28575" tIns="9525" rIns="28575" bIns="9525" anchor="ctr">
            <a:spAutoFit/>
          </a:bodyPr>
          <a:lstStyle/>
          <a:p>
            <a:pPr algn="ctr"/>
            <a:r>
              <a:rPr sz="1100" b="1">
                <a:solidFill>
                  <a:srgbClr val="6C7A89"/>
                </a:solidFill>
                <a:latin typeface="Calibri"/>
              </a:rPr>
              <a:t>2029–36</a:t>
            </a:r>
          </a:p>
        </p:txBody>
      </p:sp>
      <p:sp>
        <p:nvSpPr>
          <p:cNvPr id="61" name="Rectangle 60"/>
          <p:cNvSpPr/>
          <p:nvPr/>
        </p:nvSpPr>
        <p:spPr>
          <a:xfrm>
            <a:off x="10896600" y="596314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0896600" y="5963140"/>
            <a:ext cx="990600" cy="310313"/>
          </a:xfrm>
          <a:prstGeom prst="rect">
            <a:avLst/>
          </a:prstGeom>
          <a:noFill/>
        </p:spPr>
        <p:txBody>
          <a:bodyPr wrap="square" lIns="28575" tIns="9525" rIns="28575" bIns="9525" anchor="ctr">
            <a:spAutoFit/>
          </a:bodyPr>
          <a:lstStyle/>
          <a:p>
            <a:pPr algn="ctr"/>
            <a:r>
              <a:rPr sz="1100" b="1">
                <a:solidFill>
                  <a:srgbClr val="4A3A05"/>
                </a:solidFill>
                <a:latin typeface="Calibri"/>
              </a:rPr>
              <a:t>High</a:t>
            </a:r>
          </a:p>
        </p:txBody>
      </p:sp>
      <p:sp>
        <p:nvSpPr>
          <p:cNvPr id="63" name="TextBox 62"/>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USA Prenatal Vitamin Supplements Market Recent Developments &amp; Milestones</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Recent developments and milestones shaping the USA market, by year</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Rectangle 10"/>
          <p:cNvSpPr/>
          <p:nvPr/>
        </p:nvSpPr>
        <p:spPr>
          <a:xfrm>
            <a:off x="142875" y="1025515"/>
            <a:ext cx="11906250" cy="29205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2875" y="1025515"/>
            <a:ext cx="1428750" cy="292059"/>
          </a:xfrm>
          <a:prstGeom prst="rect">
            <a:avLst/>
          </a:prstGeom>
          <a:noFill/>
        </p:spPr>
        <p:txBody>
          <a:bodyPr wrap="square" lIns="28575" tIns="9525" rIns="28575" bIns="9525" anchor="ctr">
            <a:spAutoFit/>
          </a:bodyPr>
          <a:lstStyle/>
          <a:p>
            <a:pPr algn="ctr"/>
            <a:r>
              <a:rPr sz="1150" b="1">
                <a:solidFill>
                  <a:srgbClr val="FFFFFF"/>
                </a:solidFill>
                <a:latin typeface="Calibri"/>
              </a:rPr>
              <a:t>Year</a:t>
            </a:r>
          </a:p>
        </p:txBody>
      </p:sp>
      <p:sp>
        <p:nvSpPr>
          <p:cNvPr id="13" name="TextBox 12"/>
          <p:cNvSpPr txBox="1"/>
          <p:nvPr/>
        </p:nvSpPr>
        <p:spPr>
          <a:xfrm>
            <a:off x="1714500" y="1025515"/>
            <a:ext cx="10239375" cy="292059"/>
          </a:xfrm>
          <a:prstGeom prst="rect">
            <a:avLst/>
          </a:prstGeom>
          <a:noFill/>
        </p:spPr>
        <p:txBody>
          <a:bodyPr wrap="square" lIns="28575" tIns="9525" rIns="28575" bIns="9525" anchor="ctr">
            <a:spAutoFit/>
          </a:bodyPr>
          <a:lstStyle/>
          <a:p>
            <a:pPr algn="ctr"/>
            <a:r>
              <a:rPr sz="1150" b="1">
                <a:solidFill>
                  <a:srgbClr val="FFFFFF"/>
                </a:solidFill>
                <a:latin typeface="Calibri"/>
              </a:rPr>
              <a:t>Recent Development</a:t>
            </a:r>
          </a:p>
        </p:txBody>
      </p:sp>
      <p:sp>
        <p:nvSpPr>
          <p:cNvPr id="14" name="Rectangle 13"/>
          <p:cNvSpPr/>
          <p:nvPr/>
        </p:nvSpPr>
        <p:spPr>
          <a:xfrm>
            <a:off x="142875" y="1317574"/>
            <a:ext cx="11906250" cy="1049588"/>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2875" y="1317574"/>
            <a:ext cx="1428750" cy="1049588"/>
          </a:xfrm>
          <a:prstGeom prst="rect">
            <a:avLst/>
          </a:prstGeom>
          <a:noFill/>
        </p:spPr>
        <p:txBody>
          <a:bodyPr wrap="square" lIns="28575" tIns="9525" rIns="28575" bIns="9525" anchor="ctr">
            <a:spAutoFit/>
          </a:bodyPr>
          <a:lstStyle/>
          <a:p>
            <a:pPr algn="ctr"/>
            <a:r>
              <a:rPr sz="1250" b="1">
                <a:solidFill>
                  <a:srgbClr val="0B2E4A"/>
                </a:solidFill>
                <a:latin typeface="Calibri"/>
              </a:rPr>
              <a:t>2025</a:t>
            </a:r>
          </a:p>
        </p:txBody>
      </p:sp>
      <p:cxnSp>
        <p:nvCxnSpPr>
          <p:cNvPr id="16" name="Connector 15"/>
          <p:cNvCxnSpPr/>
          <p:nvPr/>
        </p:nvCxnSpPr>
        <p:spPr>
          <a:xfrm>
            <a:off x="1571625" y="1317574"/>
            <a:ext cx="0" cy="1049588"/>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714500" y="1641578"/>
            <a:ext cx="10210800" cy="401581"/>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Strongest historical expansion on record: USA value rose +4.9% year on year to 219.1 US$ Mn, the steepest single-year move of the 2021–2025 period. Demand for 'Tablet' 27.2% of product format value by 2036 set the pace, and the 6 sales channel routes tracked here all carried volume through the year.</a:t>
            </a:r>
          </a:p>
        </p:txBody>
      </p:sp>
      <p:sp>
        <p:nvSpPr>
          <p:cNvPr id="18" name="Rectangle 17"/>
          <p:cNvSpPr/>
          <p:nvPr/>
        </p:nvSpPr>
        <p:spPr>
          <a:xfrm>
            <a:off x="142875" y="2367162"/>
            <a:ext cx="11906250" cy="1049588"/>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2875" y="2367162"/>
            <a:ext cx="1428750" cy="1049588"/>
          </a:xfrm>
          <a:prstGeom prst="rect">
            <a:avLst/>
          </a:prstGeom>
          <a:noFill/>
        </p:spPr>
        <p:txBody>
          <a:bodyPr wrap="square" lIns="28575" tIns="9525" rIns="28575" bIns="9525" anchor="ctr">
            <a:spAutoFit/>
          </a:bodyPr>
          <a:lstStyle/>
          <a:p>
            <a:pPr algn="ctr"/>
            <a:r>
              <a:rPr sz="1250" b="1">
                <a:solidFill>
                  <a:srgbClr val="0B2E4A"/>
                </a:solidFill>
                <a:latin typeface="Calibri"/>
              </a:rPr>
              <a:t>2026</a:t>
            </a:r>
          </a:p>
        </p:txBody>
      </p:sp>
      <p:cxnSp>
        <p:nvCxnSpPr>
          <p:cNvPr id="20" name="Connector 19"/>
          <p:cNvCxnSpPr/>
          <p:nvPr/>
        </p:nvCxnSpPr>
        <p:spPr>
          <a:xfrm>
            <a:off x="1571625" y="2367162"/>
            <a:ext cx="0" cy="1049588"/>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714500" y="2691164"/>
            <a:ext cx="10210800" cy="401581"/>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Base year for the forecast: the usa market is estimated at 230.6 US$ Mn, having compounded at 4.8% across 2021–2025. 'USA' holds 100.0% of value across 1 country, and the forecast is built from 3 segment breakdowns covering 7 product format lines.</a:t>
            </a:r>
          </a:p>
        </p:txBody>
      </p:sp>
      <p:sp>
        <p:nvSpPr>
          <p:cNvPr id="22" name="Rectangle 21"/>
          <p:cNvSpPr/>
          <p:nvPr/>
        </p:nvSpPr>
        <p:spPr>
          <a:xfrm>
            <a:off x="142875" y="3416749"/>
            <a:ext cx="11906250" cy="1049588"/>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2875" y="3416749"/>
            <a:ext cx="1428750" cy="1049588"/>
          </a:xfrm>
          <a:prstGeom prst="rect">
            <a:avLst/>
          </a:prstGeom>
          <a:noFill/>
        </p:spPr>
        <p:txBody>
          <a:bodyPr wrap="square" lIns="28575" tIns="9525" rIns="28575" bIns="9525" anchor="ctr">
            <a:spAutoFit/>
          </a:bodyPr>
          <a:lstStyle/>
          <a:p>
            <a:pPr algn="ctr"/>
            <a:r>
              <a:rPr sz="1250" b="1">
                <a:solidFill>
                  <a:srgbClr val="0B2E4A"/>
                </a:solidFill>
                <a:latin typeface="Calibri"/>
              </a:rPr>
              <a:t>2033</a:t>
            </a:r>
          </a:p>
        </p:txBody>
      </p:sp>
      <p:cxnSp>
        <p:nvCxnSpPr>
          <p:cNvPr id="24" name="Connector 23"/>
          <p:cNvCxnSpPr/>
          <p:nvPr/>
        </p:nvCxnSpPr>
        <p:spPr>
          <a:xfrm>
            <a:off x="1571625" y="3416749"/>
            <a:ext cx="0" cy="1049588"/>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714500" y="3740753"/>
            <a:ext cx="10210800" cy="401581"/>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The market passes 345.9 US$ Mn one and a half times the 2026 base reaching 357.0 US$ Mn. Growth by this point is led by 'Powder' at 13.6% CAGR and by 'USA' among countries at 6.6%, with 1 of 1 country running at or above the market rate.</a:t>
            </a:r>
          </a:p>
        </p:txBody>
      </p:sp>
      <p:sp>
        <p:nvSpPr>
          <p:cNvPr id="26" name="Rectangle 25"/>
          <p:cNvSpPr/>
          <p:nvPr/>
        </p:nvSpPr>
        <p:spPr>
          <a:xfrm>
            <a:off x="142875" y="4466337"/>
            <a:ext cx="11906250" cy="1049588"/>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42875" y="4466337"/>
            <a:ext cx="1428750" cy="1049588"/>
          </a:xfrm>
          <a:prstGeom prst="rect">
            <a:avLst/>
          </a:prstGeom>
          <a:noFill/>
        </p:spPr>
        <p:txBody>
          <a:bodyPr wrap="square" lIns="28575" tIns="9525" rIns="28575" bIns="9525" anchor="ctr">
            <a:spAutoFit/>
          </a:bodyPr>
          <a:lstStyle/>
          <a:p>
            <a:pPr algn="ctr"/>
            <a:r>
              <a:rPr sz="1250" b="1">
                <a:solidFill>
                  <a:srgbClr val="0B2E4A"/>
                </a:solidFill>
                <a:latin typeface="Calibri"/>
              </a:rPr>
              <a:t>2031</a:t>
            </a:r>
          </a:p>
        </p:txBody>
      </p:sp>
      <p:cxnSp>
        <p:nvCxnSpPr>
          <p:cNvPr id="28" name="Connector 27"/>
          <p:cNvCxnSpPr/>
          <p:nvPr/>
        </p:nvCxnSpPr>
        <p:spPr>
          <a:xfrm>
            <a:off x="1571625" y="4466337"/>
            <a:ext cx="0" cy="1049588"/>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714500" y="4790339"/>
            <a:ext cx="10210800" cy="401581"/>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Mid-horizon checkpoint: value reaches 311.5 US$ Mn, 1.35× the 2026 base. Average realisation stands at 0.24 US$/Units, and mix has moved +496 BPS toward 'Gummies' while 'Tablet' gives up 844 BPS.</a:t>
            </a:r>
          </a:p>
        </p:txBody>
      </p:sp>
      <p:sp>
        <p:nvSpPr>
          <p:cNvPr id="30" name="Rectangle 29"/>
          <p:cNvSpPr/>
          <p:nvPr/>
        </p:nvSpPr>
        <p:spPr>
          <a:xfrm>
            <a:off x="142875" y="5515924"/>
            <a:ext cx="11906250" cy="1049588"/>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42875" y="5515924"/>
            <a:ext cx="1428750" cy="1049588"/>
          </a:xfrm>
          <a:prstGeom prst="rect">
            <a:avLst/>
          </a:prstGeom>
          <a:noFill/>
        </p:spPr>
        <p:txBody>
          <a:bodyPr wrap="square" lIns="28575" tIns="9525" rIns="28575" bIns="9525" anchor="ctr">
            <a:spAutoFit/>
          </a:bodyPr>
          <a:lstStyle/>
          <a:p>
            <a:pPr algn="ctr"/>
            <a:r>
              <a:rPr sz="1250" b="1">
                <a:solidFill>
                  <a:srgbClr val="0B2E4A"/>
                </a:solidFill>
                <a:latin typeface="Calibri"/>
              </a:rPr>
              <a:t>2036</a:t>
            </a:r>
          </a:p>
        </p:txBody>
      </p:sp>
      <p:cxnSp>
        <p:nvCxnSpPr>
          <p:cNvPr id="32" name="Connector 31"/>
          <p:cNvCxnSpPr/>
          <p:nvPr/>
        </p:nvCxnSpPr>
        <p:spPr>
          <a:xfrm>
            <a:off x="1571625" y="5515924"/>
            <a:ext cx="0" cy="1049588"/>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714500" y="5839928"/>
            <a:ext cx="10210800" cy="401581"/>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Forecast outcome: the usa market reaches 437.8 US$ Mn, a 1.9× expansion on 2026 and 207.2 US$ Mn of incremental value at 6.6% CAGR. Volume compounds at 5.8% over the same window, leaving realisation 0.7% a year the gap between the two is the premiumisation the forecast assumes.</a:t>
            </a:r>
          </a:p>
        </p:txBody>
      </p:sp>
      <p:sp>
        <p:nvSpPr>
          <p:cNvPr id="34" name="TextBox 33"/>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mi_logo_template.png"/>
          <p:cNvPicPr>
            <a:picLocks noChangeAspect="1"/>
          </p:cNvPicPr>
          <p:nvPr/>
        </p:nvPicPr>
        <p:blipFill>
          <a:blip r:embed="rId3"/>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tIns="0" rIns="28575" bIns="0" anchor="b">
            <a:spAutoFit/>
          </a:bodyPr>
          <a:lstStyle/>
          <a:p>
            <a:pPr algn="l">
              <a:lnSpc>
                <a:spcPct val="90000"/>
              </a:lnSpc>
            </a:pPr>
            <a:r>
              <a:rPr sz="2100" b="1">
                <a:solidFill>
                  <a:srgbClr val="000000"/>
                </a:solidFill>
                <a:latin typeface="Calibri"/>
              </a:rPr>
              <a:t>Porter's Five Forces Analysis USA Prenatal Vitamin Supplements Market</a:t>
            </a:r>
          </a:p>
        </p:txBody>
      </p:sp>
      <p:sp>
        <p:nvSpPr>
          <p:cNvPr id="9" name="TextBox 8"/>
          <p:cNvSpPr txBox="1"/>
          <p:nvPr/>
        </p:nvSpPr>
        <p:spPr>
          <a:xfrm>
            <a:off x="1543050" y="647700"/>
            <a:ext cx="10506075" cy="247650"/>
          </a:xfrm>
          <a:prstGeom prst="rect">
            <a:avLst/>
          </a:prstGeom>
          <a:noFill/>
        </p:spPr>
        <p:txBody>
          <a:bodyPr wrap="square" lIns="28575" tIns="0" rIns="28575" bIns="0" anchor="t">
            <a:spAutoFit/>
          </a:bodyPr>
          <a:lstStyle/>
          <a:p>
            <a:pPr algn="l"/>
            <a:r>
              <a:rPr sz="1400" b="0" i="1">
                <a:solidFill>
                  <a:srgbClr val="252423"/>
                </a:solidFill>
                <a:latin typeface="Calibri"/>
              </a:rPr>
              <a:t>Analysis of supplier power, buyer power, competition, substitutes and entry barriers shaping the market's profitability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1100" b="1">
                <a:solidFill>
                  <a:srgbClr val="0B2E4A"/>
                </a:solidFill>
                <a:latin typeface="Calibri"/>
              </a:rPr>
              <a:t>USA</a:t>
            </a:r>
          </a:p>
        </p:txBody>
      </p:sp>
      <p:sp>
        <p:nvSpPr>
          <p:cNvPr id="11" name="TextBox 10"/>
          <p:cNvSpPr txBox="1"/>
          <p:nvPr/>
        </p:nvSpPr>
        <p:spPr>
          <a:xfrm>
            <a:off x="142875" y="989007"/>
            <a:ext cx="11906250" cy="328567"/>
          </a:xfrm>
          <a:prstGeom prst="rect">
            <a:avLst/>
          </a:prstGeom>
          <a:noFill/>
        </p:spPr>
        <p:txBody>
          <a:bodyPr wrap="square" lIns="28575" tIns="9525" rIns="28575" bIns="9525" anchor="ctr">
            <a:spAutoFit/>
          </a:bodyPr>
          <a:lstStyle/>
          <a:p>
            <a:pPr algn="l">
              <a:lnSpc>
                <a:spcPct val="115000"/>
              </a:lnSpc>
            </a:pPr>
            <a:r>
              <a:rPr sz="1100" b="0">
                <a:solidFill>
                  <a:srgbClr val="6C7A89"/>
                </a:solidFill>
                <a:latin typeface="Calibri"/>
              </a:rPr>
              <a:t>Supplier power, buyer power, competitive intensity, substitution and entry barriers scored from the usa dataset 7 product format lines, 6 sales channel routes and 1 country at 6.6% CAGR.</a:t>
            </a:r>
          </a:p>
        </p:txBody>
      </p:sp>
      <p:sp>
        <p:nvSpPr>
          <p:cNvPr id="12" name="Oval 11"/>
          <p:cNvSpPr/>
          <p:nvPr/>
        </p:nvSpPr>
        <p:spPr>
          <a:xfrm>
            <a:off x="876300" y="1427096"/>
            <a:ext cx="914400" cy="876177"/>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47750" y="1664394"/>
            <a:ext cx="571500" cy="401581"/>
          </a:xfrm>
          <a:prstGeom prst="rect">
            <a:avLst/>
          </a:prstGeom>
          <a:noFill/>
        </p:spPr>
        <p:txBody>
          <a:bodyPr wrap="none" lIns="0" tIns="0" rIns="0" bIns="0" anchor="ctr">
            <a:spAutoFit/>
          </a:bodyPr>
          <a:lstStyle/>
          <a:p>
            <a:pPr algn="ctr"/>
            <a:r>
              <a:rPr sz="3400" b="1">
                <a:solidFill>
                  <a:srgbClr val="8A6A00"/>
                </a:solidFill>
                <a:latin typeface="Calibri"/>
              </a:rPr>
              <a:t>$</a:t>
            </a:r>
          </a:p>
        </p:txBody>
      </p:sp>
      <p:sp>
        <p:nvSpPr>
          <p:cNvPr id="14" name="TextBox 13"/>
          <p:cNvSpPr txBox="1"/>
          <p:nvPr/>
        </p:nvSpPr>
        <p:spPr>
          <a:xfrm>
            <a:off x="219075" y="2376288"/>
            <a:ext cx="2228850" cy="365074"/>
          </a:xfrm>
          <a:prstGeom prst="rect">
            <a:avLst/>
          </a:prstGeom>
          <a:noFill/>
        </p:spPr>
        <p:txBody>
          <a:bodyPr wrap="square" lIns="28575" tIns="9525" rIns="28575" bIns="9525" anchor="ctr">
            <a:spAutoFit/>
          </a:bodyPr>
          <a:lstStyle/>
          <a:p>
            <a:pPr algn="ctr">
              <a:lnSpc>
                <a:spcPct val="115000"/>
              </a:lnSpc>
            </a:pPr>
            <a:r>
              <a:rPr sz="1150" b="1">
                <a:solidFill>
                  <a:srgbClr val="2E2E2E"/>
                </a:solidFill>
                <a:latin typeface="Calibri"/>
              </a:rPr>
              <a:t>Bargaining Power of Suppliers</a:t>
            </a:r>
          </a:p>
        </p:txBody>
      </p:sp>
      <p:sp>
        <p:nvSpPr>
          <p:cNvPr id="15" name="TextBox 14"/>
          <p:cNvSpPr txBox="1"/>
          <p:nvPr/>
        </p:nvSpPr>
        <p:spPr>
          <a:xfrm>
            <a:off x="247650" y="2796123"/>
            <a:ext cx="2171700" cy="775782"/>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Assessed high. 'USA' supplies 100.0% of 2036 value across 1 country, concentrating upstream leverage.</a:t>
            </a:r>
          </a:p>
        </p:txBody>
      </p:sp>
      <p:sp>
        <p:nvSpPr>
          <p:cNvPr id="16" name="TextBox 15"/>
          <p:cNvSpPr txBox="1"/>
          <p:nvPr/>
        </p:nvSpPr>
        <p:spPr>
          <a:xfrm>
            <a:off x="247650" y="3663174"/>
            <a:ext cx="2171700" cy="775782"/>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Average realisation moves 0.7% a year (2026–2036), indicating input costs are being passed through.</a:t>
            </a:r>
          </a:p>
        </p:txBody>
      </p:sp>
      <p:sp>
        <p:nvSpPr>
          <p:cNvPr id="17" name="TextBox 16"/>
          <p:cNvSpPr txBox="1"/>
          <p:nvPr/>
        </p:nvSpPr>
        <p:spPr>
          <a:xfrm>
            <a:off x="247650" y="4530225"/>
            <a:ext cx="2171700" cy="775782"/>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Buyers can rebalance across 7 product format lines, which caps supplier leverage in commodity grades.</a:t>
            </a:r>
          </a:p>
        </p:txBody>
      </p:sp>
      <p:sp>
        <p:nvSpPr>
          <p:cNvPr id="18" name="Oval 17"/>
          <p:cNvSpPr/>
          <p:nvPr/>
        </p:nvSpPr>
        <p:spPr>
          <a:xfrm>
            <a:off x="3257550" y="1427096"/>
            <a:ext cx="914400" cy="876177"/>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3476625" y="1710028"/>
            <a:ext cx="152400" cy="209918"/>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3609975" y="1783043"/>
            <a:ext cx="342900" cy="155156"/>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648075"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3829050"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600325" y="2376288"/>
            <a:ext cx="2228850" cy="365074"/>
          </a:xfrm>
          <a:prstGeom prst="rect">
            <a:avLst/>
          </a:prstGeom>
          <a:noFill/>
        </p:spPr>
        <p:txBody>
          <a:bodyPr wrap="square" lIns="28575" tIns="9525" rIns="28575" bIns="9525" anchor="ctr">
            <a:spAutoFit/>
          </a:bodyPr>
          <a:lstStyle/>
          <a:p>
            <a:pPr algn="ctr">
              <a:lnSpc>
                <a:spcPct val="115000"/>
              </a:lnSpc>
            </a:pPr>
            <a:r>
              <a:rPr sz="1150" b="1">
                <a:solidFill>
                  <a:srgbClr val="2E2E2E"/>
                </a:solidFill>
                <a:latin typeface="Calibri"/>
              </a:rPr>
              <a:t>Bargaining Power of Buyers</a:t>
            </a:r>
          </a:p>
        </p:txBody>
      </p:sp>
      <p:sp>
        <p:nvSpPr>
          <p:cNvPr id="24" name="TextBox 23"/>
          <p:cNvSpPr txBox="1"/>
          <p:nvPr/>
        </p:nvSpPr>
        <p:spPr>
          <a:xfrm>
            <a:off x="2628900" y="2796123"/>
            <a:ext cx="2171700" cy="967446"/>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Assessed moderate to high. Demand routes through 6 sales channel channels led by 'Amazon / Online Marketplaces' at 38.6%, giving large buyers scale.</a:t>
            </a:r>
          </a:p>
        </p:txBody>
      </p:sp>
      <p:sp>
        <p:nvSpPr>
          <p:cNvPr id="25" name="TextBox 24"/>
          <p:cNvSpPr txBox="1"/>
          <p:nvPr/>
        </p:nvSpPr>
        <p:spPr>
          <a:xfrm>
            <a:off x="2628900" y="3854838"/>
            <a:ext cx="2171700" cy="593245"/>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Price sensitivity tracks realisation moving 0.7% a year against volume growth of 5.8%.</a:t>
            </a:r>
          </a:p>
        </p:txBody>
      </p:sp>
      <p:sp>
        <p:nvSpPr>
          <p:cNvPr id="26" name="TextBox 25"/>
          <p:cNvSpPr txBox="1"/>
          <p:nvPr/>
        </p:nvSpPr>
        <p:spPr>
          <a:xfrm>
            <a:off x="2628900" y="4539352"/>
            <a:ext cx="2171700" cy="593245"/>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Switching is easiest where 7 comparable product format lines compete for the same demand.</a:t>
            </a:r>
          </a:p>
        </p:txBody>
      </p:sp>
      <p:sp>
        <p:nvSpPr>
          <p:cNvPr id="27" name="Oval 26"/>
          <p:cNvSpPr/>
          <p:nvPr/>
        </p:nvSpPr>
        <p:spPr>
          <a:xfrm>
            <a:off x="5638800" y="1427096"/>
            <a:ext cx="914400" cy="876177"/>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5876925" y="1655267"/>
            <a:ext cx="438150" cy="419835"/>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5943600" y="1719155"/>
            <a:ext cx="304800" cy="292059"/>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010275" y="1783043"/>
            <a:ext cx="171450" cy="164283"/>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6062662" y="1833240"/>
            <a:ext cx="66675" cy="63888"/>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Freeform 31"/>
          <p:cNvSpPr/>
          <p:nvPr/>
        </p:nvSpPr>
        <p:spPr>
          <a:xfrm>
            <a:off x="6134100" y="1627887"/>
            <a:ext cx="209550" cy="200791"/>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Freeform 32"/>
          <p:cNvSpPr/>
          <p:nvPr/>
        </p:nvSpPr>
        <p:spPr>
          <a:xfrm>
            <a:off x="6267450" y="1591379"/>
            <a:ext cx="114300" cy="109522"/>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981575" y="2376288"/>
            <a:ext cx="2228850" cy="365074"/>
          </a:xfrm>
          <a:prstGeom prst="rect">
            <a:avLst/>
          </a:prstGeom>
          <a:noFill/>
        </p:spPr>
        <p:txBody>
          <a:bodyPr wrap="square" lIns="28575" tIns="9525" rIns="28575" bIns="9525" anchor="ctr">
            <a:spAutoFit/>
          </a:bodyPr>
          <a:lstStyle/>
          <a:p>
            <a:pPr algn="ctr">
              <a:lnSpc>
                <a:spcPct val="115000"/>
              </a:lnSpc>
            </a:pPr>
            <a:r>
              <a:rPr sz="1150" b="1">
                <a:solidFill>
                  <a:srgbClr val="2E2E2E"/>
                </a:solidFill>
                <a:latin typeface="Calibri"/>
              </a:rPr>
              <a:t>Intensity of Competition</a:t>
            </a:r>
          </a:p>
        </p:txBody>
      </p:sp>
      <p:sp>
        <p:nvSpPr>
          <p:cNvPr id="35" name="TextBox 34"/>
          <p:cNvSpPr txBox="1"/>
          <p:nvPr/>
        </p:nvSpPr>
        <p:spPr>
          <a:xfrm>
            <a:off x="5010150" y="2796123"/>
            <a:ext cx="2171700" cy="593245"/>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Assessed high. 7 product format lines compete inside the segment; the leader holds 27.2%.</a:t>
            </a:r>
          </a:p>
        </p:txBody>
      </p:sp>
      <p:sp>
        <p:nvSpPr>
          <p:cNvPr id="36" name="TextBox 35"/>
          <p:cNvSpPr txBox="1"/>
          <p:nvPr/>
        </p:nvSpPr>
        <p:spPr>
          <a:xfrm>
            <a:off x="5010150" y="3480637"/>
            <a:ext cx="2171700" cy="593245"/>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Growth is unevenly distributed 'Powder' at 13.6% against 'Tablet' at 3.8%.</a:t>
            </a:r>
          </a:p>
        </p:txBody>
      </p:sp>
      <p:sp>
        <p:nvSpPr>
          <p:cNvPr id="37" name="TextBox 36"/>
          <p:cNvSpPr txBox="1"/>
          <p:nvPr/>
        </p:nvSpPr>
        <p:spPr>
          <a:xfrm>
            <a:off x="5010150" y="4165151"/>
            <a:ext cx="2171700" cy="593245"/>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1 of 1 country grow at or above the 6.6% market pace, keeping share contested.</a:t>
            </a:r>
          </a:p>
        </p:txBody>
      </p:sp>
      <p:sp>
        <p:nvSpPr>
          <p:cNvPr id="38" name="Oval 37"/>
          <p:cNvSpPr/>
          <p:nvPr/>
        </p:nvSpPr>
        <p:spPr>
          <a:xfrm>
            <a:off x="8020050" y="1427096"/>
            <a:ext cx="914400" cy="876177"/>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8382000" y="1637014"/>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82486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85153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362825" y="2376288"/>
            <a:ext cx="2228850" cy="365074"/>
          </a:xfrm>
          <a:prstGeom prst="rect">
            <a:avLst/>
          </a:prstGeom>
          <a:noFill/>
        </p:spPr>
        <p:txBody>
          <a:bodyPr wrap="square" lIns="28575" tIns="9525" rIns="28575" bIns="9525" anchor="ctr">
            <a:spAutoFit/>
          </a:bodyPr>
          <a:lstStyle/>
          <a:p>
            <a:pPr algn="ctr">
              <a:lnSpc>
                <a:spcPct val="115000"/>
              </a:lnSpc>
            </a:pPr>
            <a:r>
              <a:rPr sz="1150" b="1">
                <a:solidFill>
                  <a:srgbClr val="2E2E2E"/>
                </a:solidFill>
                <a:latin typeface="Calibri"/>
              </a:rPr>
              <a:t>Threat of Substitutes</a:t>
            </a:r>
          </a:p>
        </p:txBody>
      </p:sp>
      <p:sp>
        <p:nvSpPr>
          <p:cNvPr id="43" name="TextBox 42"/>
          <p:cNvSpPr txBox="1"/>
          <p:nvPr/>
        </p:nvSpPr>
        <p:spPr>
          <a:xfrm>
            <a:off x="7391400" y="2796123"/>
            <a:ext cx="2171700" cy="967446"/>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Assessed moderate to high. 'Tablet' loses 844 BPS of share to 'Gummies' (+496 BPS) by 2036 substitution is visible inside the mix.</a:t>
            </a:r>
          </a:p>
        </p:txBody>
      </p:sp>
      <p:sp>
        <p:nvSpPr>
          <p:cNvPr id="44" name="TextBox 43"/>
          <p:cNvSpPr txBox="1"/>
          <p:nvPr/>
        </p:nvSpPr>
        <p:spPr>
          <a:xfrm>
            <a:off x="7391400" y="3854838"/>
            <a:ext cx="2171700" cy="401581"/>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The slowest line grows at 3.8%, -284 BPS against the market.</a:t>
            </a:r>
          </a:p>
        </p:txBody>
      </p:sp>
      <p:sp>
        <p:nvSpPr>
          <p:cNvPr id="45" name="TextBox 44"/>
          <p:cNvSpPr txBox="1"/>
          <p:nvPr/>
        </p:nvSpPr>
        <p:spPr>
          <a:xfrm>
            <a:off x="7391400" y="4347688"/>
            <a:ext cx="2171700" cy="593245"/>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Realisation moving 0.7% a year widens the price gap substitutes must close.</a:t>
            </a:r>
          </a:p>
        </p:txBody>
      </p:sp>
      <p:sp>
        <p:nvSpPr>
          <p:cNvPr id="46" name="Oval 45"/>
          <p:cNvSpPr/>
          <p:nvPr/>
        </p:nvSpPr>
        <p:spPr>
          <a:xfrm>
            <a:off x="10401300" y="1427096"/>
            <a:ext cx="914400" cy="876177"/>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0610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Freeform 47"/>
          <p:cNvSpPr/>
          <p:nvPr/>
        </p:nvSpPr>
        <p:spPr>
          <a:xfrm>
            <a:off x="10563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0991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Freeform 49"/>
          <p:cNvSpPr/>
          <p:nvPr/>
        </p:nvSpPr>
        <p:spPr>
          <a:xfrm>
            <a:off x="10944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0782300" y="1609633"/>
            <a:ext cx="152400" cy="14603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Freeform 51"/>
          <p:cNvSpPr/>
          <p:nvPr/>
        </p:nvSpPr>
        <p:spPr>
          <a:xfrm>
            <a:off x="10715625" y="1783043"/>
            <a:ext cx="285750" cy="255552"/>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44075" y="2376288"/>
            <a:ext cx="2228850" cy="365074"/>
          </a:xfrm>
          <a:prstGeom prst="rect">
            <a:avLst/>
          </a:prstGeom>
          <a:noFill/>
        </p:spPr>
        <p:txBody>
          <a:bodyPr wrap="square" lIns="28575" tIns="9525" rIns="28575" bIns="9525" anchor="ctr">
            <a:spAutoFit/>
          </a:bodyPr>
          <a:lstStyle/>
          <a:p>
            <a:pPr algn="ctr">
              <a:lnSpc>
                <a:spcPct val="115000"/>
              </a:lnSpc>
            </a:pPr>
            <a:r>
              <a:rPr sz="1150" b="1">
                <a:solidFill>
                  <a:srgbClr val="2E2E2E"/>
                </a:solidFill>
                <a:latin typeface="Calibri"/>
              </a:rPr>
              <a:t>Threat of New Entrants</a:t>
            </a:r>
          </a:p>
        </p:txBody>
      </p:sp>
      <p:sp>
        <p:nvSpPr>
          <p:cNvPr id="54" name="TextBox 53"/>
          <p:cNvSpPr txBox="1"/>
          <p:nvPr/>
        </p:nvSpPr>
        <p:spPr>
          <a:xfrm>
            <a:off x="9772650" y="2796123"/>
            <a:ext cx="2171700" cy="775782"/>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Assessed low. The market grows at 6.6% CAGR and adds 207.2 US$ Mn by 2036, attracting entry.</a:t>
            </a:r>
          </a:p>
        </p:txBody>
      </p:sp>
      <p:sp>
        <p:nvSpPr>
          <p:cNvPr id="55" name="TextBox 54"/>
          <p:cNvSpPr txBox="1"/>
          <p:nvPr/>
        </p:nvSpPr>
        <p:spPr>
          <a:xfrm>
            <a:off x="9772650" y="3663174"/>
            <a:ext cx="2171700" cy="593245"/>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Demand spreads over 1 country with no single one above 100.0%, so regional entry is feasible.</a:t>
            </a:r>
          </a:p>
        </p:txBody>
      </p:sp>
      <p:sp>
        <p:nvSpPr>
          <p:cNvPr id="56" name="TextBox 55"/>
          <p:cNvSpPr txBox="1"/>
          <p:nvPr/>
        </p:nvSpPr>
        <p:spPr>
          <a:xfrm>
            <a:off x="9772650" y="4347688"/>
            <a:ext cx="2171700" cy="593245"/>
          </a:xfrm>
          <a:prstGeom prst="rect">
            <a:avLst/>
          </a:prstGeom>
          <a:noFill/>
        </p:spPr>
        <p:txBody>
          <a:bodyPr wrap="square" lIns="28575" tIns="9525" rIns="28575" bIns="9525" anchor="ctr">
            <a:spAutoFit/>
          </a:bodyPr>
          <a:lstStyle/>
          <a:p>
            <a:pPr algn="l">
              <a:lnSpc>
                <a:spcPct val="115000"/>
              </a:lnSpc>
            </a:pPr>
            <a:r>
              <a:rPr sz="1100" b="0">
                <a:solidFill>
                  <a:srgbClr val="2E2E2E"/>
                </a:solidFill>
                <a:latin typeface="Calibri"/>
              </a:rPr>
              <a:t>▸  Incumbent scale in 'USA' and 'Tablet' (27.2% of segment) remains the principal barrier.</a:t>
            </a:r>
          </a:p>
        </p:txBody>
      </p:sp>
      <p:sp>
        <p:nvSpPr>
          <p:cNvPr id="57" name="TextBox 56"/>
          <p:cNvSpPr txBox="1"/>
          <p:nvPr/>
        </p:nvSpPr>
        <p:spPr>
          <a:xfrm>
            <a:off x="152400" y="6686550"/>
            <a:ext cx="11887200" cy="152400"/>
          </a:xfrm>
          <a:prstGeom prst="rect">
            <a:avLst/>
          </a:prstGeom>
          <a:noFill/>
        </p:spPr>
        <p:txBody>
          <a:bodyPr wrap="square" lIns="28575" tIns="0" rIns="28575"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theme/theme1.xml><?xml version="1.0" encoding="utf-8"?>
<a:theme xmlns:a="http://schemas.openxmlformats.org/drawingml/2006/main" name="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25294</Words>
  <Application>Microsoft Office PowerPoint</Application>
  <PresentationFormat>Widescreen</PresentationFormat>
  <Paragraphs>4441</Paragraphs>
  <Slides>98</Slides>
  <Notes>83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98</vt:i4>
      </vt:variant>
    </vt:vector>
  </HeadingPairs>
  <TitlesOfParts>
    <vt:vector size="106" baseType="lpstr">
      <vt:lpstr>Aptos</vt:lpstr>
      <vt:lpstr>Arial</vt:lpstr>
      <vt:lpstr>Calibri</vt:lpstr>
      <vt:lpstr>Calibri Light</vt:lpstr>
      <vt:lpstr>Courier New</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Anurag Sharma</cp:lastModifiedBy>
  <cp:revision>1</cp:revision>
  <dcterms:created xsi:type="dcterms:W3CDTF">2013-01-27T09:14:16Z</dcterms:created>
  <dcterms:modified xsi:type="dcterms:W3CDTF">2026-10-12T07:17:23Z</dcterms:modified>
  <cp:category/>
</cp:coreProperties>
</file>