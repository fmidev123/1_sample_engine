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00.xml" ContentType="application/vnd.openxmlformats-officedocument.drawingml.chart+xml"/>
  <Override PartName="/ppt/charts/chart101.xml" ContentType="application/vnd.openxmlformats-officedocument.drawingml.chart+xml"/>
  <Override PartName="/ppt/charts/chart102.xml" ContentType="application/vnd.openxmlformats-officedocument.drawingml.chart+xml"/>
  <Override PartName="/ppt/charts/chart103.xml" ContentType="application/vnd.openxmlformats-officedocument.drawingml.chart+xml"/>
  <Override PartName="/ppt/charts/chart104.xml" ContentType="application/vnd.openxmlformats-officedocument.drawingml.chart+xml"/>
  <Override PartName="/ppt/charts/chart105.xml" ContentType="application/vnd.openxmlformats-officedocument.drawingml.chart+xml"/>
  <Override PartName="/ppt/charts/chart106.xml" ContentType="application/vnd.openxmlformats-officedocument.drawingml.chart+xml"/>
  <Override PartName="/ppt/charts/chart107.xml" ContentType="application/vnd.openxmlformats-officedocument.drawingml.chart+xml"/>
  <Override PartName="/ppt/charts/chart108.xml" ContentType="application/vnd.openxmlformats-officedocument.drawingml.chart+xml"/>
  <Override PartName="/ppt/charts/chart109.xml" ContentType="application/vnd.openxmlformats-officedocument.drawingml.chart+xml"/>
  <Override PartName="/ppt/charts/chart11.xml" ContentType="application/vnd.openxmlformats-officedocument.drawingml.chart+xml"/>
  <Override PartName="/ppt/charts/chart110.xml" ContentType="application/vnd.openxmlformats-officedocument.drawingml.chart+xml"/>
  <Override PartName="/ppt/charts/chart111.xml" ContentType="application/vnd.openxmlformats-officedocument.drawingml.chart+xml"/>
  <Override PartName="/ppt/charts/chart112.xml" ContentType="application/vnd.openxmlformats-officedocument.drawingml.chart+xml"/>
  <Override PartName="/ppt/charts/chart113.xml" ContentType="application/vnd.openxmlformats-officedocument.drawingml.chart+xml"/>
  <Override PartName="/ppt/charts/chart114.xml" ContentType="application/vnd.openxmlformats-officedocument.drawingml.chart+xml"/>
  <Override PartName="/ppt/charts/chart115.xml" ContentType="application/vnd.openxmlformats-officedocument.drawingml.chart+xml"/>
  <Override PartName="/ppt/charts/chart116.xml" ContentType="application/vnd.openxmlformats-officedocument.drawingml.chart+xml"/>
  <Override PartName="/ppt/charts/chart117.xml" ContentType="application/vnd.openxmlformats-officedocument.drawingml.chart+xml"/>
  <Override PartName="/ppt/charts/chart118.xml" ContentType="application/vnd.openxmlformats-officedocument.drawingml.chart+xml"/>
  <Override PartName="/ppt/charts/chart119.xml" ContentType="application/vnd.openxmlformats-officedocument.drawingml.chart+xml"/>
  <Override PartName="/ppt/charts/chart12.xml" ContentType="application/vnd.openxmlformats-officedocument.drawingml.chart+xml"/>
  <Override PartName="/ppt/charts/chart120.xml" ContentType="application/vnd.openxmlformats-officedocument.drawingml.chart+xml"/>
  <Override PartName="/ppt/charts/chart121.xml" ContentType="application/vnd.openxmlformats-officedocument.drawingml.chart+xml"/>
  <Override PartName="/ppt/charts/chart122.xml" ContentType="application/vnd.openxmlformats-officedocument.drawingml.chart+xml"/>
  <Override PartName="/ppt/charts/chart123.xml" ContentType="application/vnd.openxmlformats-officedocument.drawingml.chart+xml"/>
  <Override PartName="/ppt/charts/chart124.xml" ContentType="application/vnd.openxmlformats-officedocument.drawingml.chart+xml"/>
  <Override PartName="/ppt/charts/chart125.xml" ContentType="application/vnd.openxmlformats-officedocument.drawingml.chart+xml"/>
  <Override PartName="/ppt/charts/chart126.xml" ContentType="application/vnd.openxmlformats-officedocument.drawingml.chart+xml"/>
  <Override PartName="/ppt/charts/chart127.xml" ContentType="application/vnd.openxmlformats-officedocument.drawingml.chart+xml"/>
  <Override PartName="/ppt/charts/chart128.xml" ContentType="application/vnd.openxmlformats-officedocument.drawingml.chart+xml"/>
  <Override PartName="/ppt/charts/chart129.xml" ContentType="application/vnd.openxmlformats-officedocument.drawingml.chart+xml"/>
  <Override PartName="/ppt/charts/chart13.xml" ContentType="application/vnd.openxmlformats-officedocument.drawingml.chart+xml"/>
  <Override PartName="/ppt/charts/chart130.xml" ContentType="application/vnd.openxmlformats-officedocument.drawingml.chart+xml"/>
  <Override PartName="/ppt/charts/chart131.xml" ContentType="application/vnd.openxmlformats-officedocument.drawingml.chart+xml"/>
  <Override PartName="/ppt/charts/chart132.xml" ContentType="application/vnd.openxmlformats-officedocument.drawingml.chart+xml"/>
  <Override PartName="/ppt/charts/chart133.xml" ContentType="application/vnd.openxmlformats-officedocument.drawingml.chart+xml"/>
  <Override PartName="/ppt/charts/chart134.xml" ContentType="application/vnd.openxmlformats-officedocument.drawingml.chart+xml"/>
  <Override PartName="/ppt/charts/chart135.xml" ContentType="application/vnd.openxmlformats-officedocument.drawingml.chart+xml"/>
  <Override PartName="/ppt/charts/chart136.xml" ContentType="application/vnd.openxmlformats-officedocument.drawingml.chart+xml"/>
  <Override PartName="/ppt/charts/chart137.xml" ContentType="application/vnd.openxmlformats-officedocument.drawingml.chart+xml"/>
  <Override PartName="/ppt/charts/chart138.xml" ContentType="application/vnd.openxmlformats-officedocument.drawingml.chart+xml"/>
  <Override PartName="/ppt/charts/chart139.xml" ContentType="application/vnd.openxmlformats-officedocument.drawingml.chart+xml"/>
  <Override PartName="/ppt/charts/chart14.xml" ContentType="application/vnd.openxmlformats-officedocument.drawingml.chart+xml"/>
  <Override PartName="/ppt/charts/chart140.xml" ContentType="application/vnd.openxmlformats-officedocument.drawingml.chart+xml"/>
  <Override PartName="/ppt/charts/chart141.xml" ContentType="application/vnd.openxmlformats-officedocument.drawingml.chart+xml"/>
  <Override PartName="/ppt/charts/chart142.xml" ContentType="application/vnd.openxmlformats-officedocument.drawingml.chart+xml"/>
  <Override PartName="/ppt/charts/chart143.xml" ContentType="application/vnd.openxmlformats-officedocument.drawingml.chart+xml"/>
  <Override PartName="/ppt/charts/chart144.xml" ContentType="application/vnd.openxmlformats-officedocument.drawingml.chart+xml"/>
  <Override PartName="/ppt/charts/chart145.xml" ContentType="application/vnd.openxmlformats-officedocument.drawingml.chart+xml"/>
  <Override PartName="/ppt/charts/chart146.xml" ContentType="application/vnd.openxmlformats-officedocument.drawingml.chart+xml"/>
  <Override PartName="/ppt/charts/chart147.xml" ContentType="application/vnd.openxmlformats-officedocument.drawingml.chart+xml"/>
  <Override PartName="/ppt/charts/chart148.xml" ContentType="application/vnd.openxmlformats-officedocument.drawingml.chart+xml"/>
  <Override PartName="/ppt/charts/chart149.xml" ContentType="application/vnd.openxmlformats-officedocument.drawingml.chart+xml"/>
  <Override PartName="/ppt/charts/chart15.xml" ContentType="application/vnd.openxmlformats-officedocument.drawingml.chart+xml"/>
  <Override PartName="/ppt/charts/chart150.xml" ContentType="application/vnd.openxmlformats-officedocument.drawingml.chart+xml"/>
  <Override PartName="/ppt/charts/chart151.xml" ContentType="application/vnd.openxmlformats-officedocument.drawingml.chart+xml"/>
  <Override PartName="/ppt/charts/chart152.xml" ContentType="application/vnd.openxmlformats-officedocument.drawingml.chart+xml"/>
  <Override PartName="/ppt/charts/chart153.xml" ContentType="application/vnd.openxmlformats-officedocument.drawingml.chart+xml"/>
  <Override PartName="/ppt/charts/chart154.xml" ContentType="application/vnd.openxmlformats-officedocument.drawingml.chart+xml"/>
  <Override PartName="/ppt/charts/chart155.xml" ContentType="application/vnd.openxmlformats-officedocument.drawingml.chart+xml"/>
  <Override PartName="/ppt/charts/chart156.xml" ContentType="application/vnd.openxmlformats-officedocument.drawingml.chart+xml"/>
  <Override PartName="/ppt/charts/chart157.xml" ContentType="application/vnd.openxmlformats-officedocument.drawingml.chart+xml"/>
  <Override PartName="/ppt/charts/chart158.xml" ContentType="application/vnd.openxmlformats-officedocument.drawingml.chart+xml"/>
  <Override PartName="/ppt/charts/chart159.xml" ContentType="application/vnd.openxmlformats-officedocument.drawingml.chart+xml"/>
  <Override PartName="/ppt/charts/chart16.xml" ContentType="application/vnd.openxmlformats-officedocument.drawingml.chart+xml"/>
  <Override PartName="/ppt/charts/chart160.xml" ContentType="application/vnd.openxmlformats-officedocument.drawingml.chart+xml"/>
  <Override PartName="/ppt/charts/chart161.xml" ContentType="application/vnd.openxmlformats-officedocument.drawingml.chart+xml"/>
  <Override PartName="/ppt/charts/chart162.xml" ContentType="application/vnd.openxmlformats-officedocument.drawingml.chart+xml"/>
  <Override PartName="/ppt/charts/chart163.xml" ContentType="application/vnd.openxmlformats-officedocument.drawingml.chart+xml"/>
  <Override PartName="/ppt/charts/chart164.xml" ContentType="application/vnd.openxmlformats-officedocument.drawingml.chart+xml"/>
  <Override PartName="/ppt/charts/chart165.xml" ContentType="application/vnd.openxmlformats-officedocument.drawingml.chart+xml"/>
  <Override PartName="/ppt/charts/chart166.xml" ContentType="application/vnd.openxmlformats-officedocument.drawingml.chart+xml"/>
  <Override PartName="/ppt/charts/chart167.xml" ContentType="application/vnd.openxmlformats-officedocument.drawingml.chart+xml"/>
  <Override PartName="/ppt/charts/chart168.xml" ContentType="application/vnd.openxmlformats-officedocument.drawingml.chart+xml"/>
  <Override PartName="/ppt/charts/chart169.xml" ContentType="application/vnd.openxmlformats-officedocument.drawingml.chart+xml"/>
  <Override PartName="/ppt/charts/chart17.xml" ContentType="application/vnd.openxmlformats-officedocument.drawingml.chart+xml"/>
  <Override PartName="/ppt/charts/chart170.xml" ContentType="application/vnd.openxmlformats-officedocument.drawingml.chart+xml"/>
  <Override PartName="/ppt/charts/chart171.xml" ContentType="application/vnd.openxmlformats-officedocument.drawingml.chart+xml"/>
  <Override PartName="/ppt/charts/chart172.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63.xml" ContentType="application/vnd.openxmlformats-officedocument.drawingml.chart+xml"/>
  <Override PartName="/ppt/charts/chart64.xml" ContentType="application/vnd.openxmlformats-officedocument.drawingml.chart+xml"/>
  <Override PartName="/ppt/charts/chart65.xml" ContentType="application/vnd.openxmlformats-officedocument.drawingml.chart+xml"/>
  <Override PartName="/ppt/charts/chart66.xml" ContentType="application/vnd.openxmlformats-officedocument.drawingml.chart+xml"/>
  <Override PartName="/ppt/charts/chart67.xml" ContentType="application/vnd.openxmlformats-officedocument.drawingml.chart+xml"/>
  <Override PartName="/ppt/charts/chart68.xml" ContentType="application/vnd.openxmlformats-officedocument.drawingml.chart+xml"/>
  <Override PartName="/ppt/charts/chart69.xml" ContentType="application/vnd.openxmlformats-officedocument.drawingml.chart+xml"/>
  <Override PartName="/ppt/charts/chart7.xml" ContentType="application/vnd.openxmlformats-officedocument.drawingml.chart+xml"/>
  <Override PartName="/ppt/charts/chart70.xml" ContentType="application/vnd.openxmlformats-officedocument.drawingml.chart+xml"/>
  <Override PartName="/ppt/charts/chart71.xml" ContentType="application/vnd.openxmlformats-officedocument.drawingml.chart+xml"/>
  <Override PartName="/ppt/charts/chart72.xml" ContentType="application/vnd.openxmlformats-officedocument.drawingml.chart+xml"/>
  <Override PartName="/ppt/charts/chart73.xml" ContentType="application/vnd.openxmlformats-officedocument.drawingml.chart+xml"/>
  <Override PartName="/ppt/charts/chart74.xml" ContentType="application/vnd.openxmlformats-officedocument.drawingml.chart+xml"/>
  <Override PartName="/ppt/charts/chart75.xml" ContentType="application/vnd.openxmlformats-officedocument.drawingml.chart+xml"/>
  <Override PartName="/ppt/charts/chart76.xml" ContentType="application/vnd.openxmlformats-officedocument.drawingml.chart+xml"/>
  <Override PartName="/ppt/charts/chart77.xml" ContentType="application/vnd.openxmlformats-officedocument.drawingml.chart+xml"/>
  <Override PartName="/ppt/charts/chart78.xml" ContentType="application/vnd.openxmlformats-officedocument.drawingml.chart+xml"/>
  <Override PartName="/ppt/charts/chart79.xml" ContentType="application/vnd.openxmlformats-officedocument.drawingml.chart+xml"/>
  <Override PartName="/ppt/charts/chart8.xml" ContentType="application/vnd.openxmlformats-officedocument.drawingml.chart+xml"/>
  <Override PartName="/ppt/charts/chart80.xml" ContentType="application/vnd.openxmlformats-officedocument.drawingml.chart+xml"/>
  <Override PartName="/ppt/charts/chart81.xml" ContentType="application/vnd.openxmlformats-officedocument.drawingml.chart+xml"/>
  <Override PartName="/ppt/charts/chart82.xml" ContentType="application/vnd.openxmlformats-officedocument.drawingml.chart+xml"/>
  <Override PartName="/ppt/charts/chart83.xml" ContentType="application/vnd.openxmlformats-officedocument.drawingml.chart+xml"/>
  <Override PartName="/ppt/charts/chart84.xml" ContentType="application/vnd.openxmlformats-officedocument.drawingml.chart+xml"/>
  <Override PartName="/ppt/charts/chart85.xml" ContentType="application/vnd.openxmlformats-officedocument.drawingml.chart+xml"/>
  <Override PartName="/ppt/charts/chart86.xml" ContentType="application/vnd.openxmlformats-officedocument.drawingml.chart+xml"/>
  <Override PartName="/ppt/charts/chart87.xml" ContentType="application/vnd.openxmlformats-officedocument.drawingml.chart+xml"/>
  <Override PartName="/ppt/charts/chart88.xml" ContentType="application/vnd.openxmlformats-officedocument.drawingml.chart+xml"/>
  <Override PartName="/ppt/charts/chart89.xml" ContentType="application/vnd.openxmlformats-officedocument.drawingml.chart+xml"/>
  <Override PartName="/ppt/charts/chart9.xml" ContentType="application/vnd.openxmlformats-officedocument.drawingml.chart+xml"/>
  <Override PartName="/ppt/charts/chart90.xml" ContentType="application/vnd.openxmlformats-officedocument.drawingml.chart+xml"/>
  <Override PartName="/ppt/charts/chart91.xml" ContentType="application/vnd.openxmlformats-officedocument.drawingml.chart+xml"/>
  <Override PartName="/ppt/charts/chart92.xml" ContentType="application/vnd.openxmlformats-officedocument.drawingml.chart+xml"/>
  <Override PartName="/ppt/charts/chart93.xml" ContentType="application/vnd.openxmlformats-officedocument.drawingml.chart+xml"/>
  <Override PartName="/ppt/charts/chart94.xml" ContentType="application/vnd.openxmlformats-officedocument.drawingml.chart+xml"/>
  <Override PartName="/ppt/charts/chart95.xml" ContentType="application/vnd.openxmlformats-officedocument.drawingml.chart+xml"/>
  <Override PartName="/ppt/charts/chart96.xml" ContentType="application/vnd.openxmlformats-officedocument.drawingml.chart+xml"/>
  <Override PartName="/ppt/charts/chart97.xml" ContentType="application/vnd.openxmlformats-officedocument.drawingml.chart+xml"/>
  <Override PartName="/ppt/charts/chart98.xml" ContentType="application/vnd.openxmlformats-officedocument.drawingml.chart+xml"/>
  <Override PartName="/ppt/charts/chart9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3.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8.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538" r:id="rId290"/>
    <p:sldId id="529" r:id="rId281"/>
    <p:sldId id="530" r:id="rId282"/>
    <p:sldId id="531" r:id="rId283"/>
    <p:sldId id="532" r:id="rId284"/>
    <p:sldId id="533" r:id="rId285"/>
    <p:sldId id="534" r:id="rId286"/>
    <p:sldId id="535" r:id="rId287"/>
    <p:sldId id="536" r:id="rId288"/>
    <p:sldId id="537" r:id="rId289"/>
    <p:sldId id="547" r:id="rId299"/>
    <p:sldId id="539" r:id="rId291"/>
    <p:sldId id="540" r:id="rId292"/>
    <p:sldId id="541" r:id="rId293"/>
    <p:sldId id="542" r:id="rId294"/>
    <p:sldId id="543" r:id="rId295"/>
    <p:sldId id="544" r:id="rId296"/>
    <p:sldId id="545" r:id="rId297"/>
    <p:sldId id="546" r:id="rId298"/>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4" r:id="rId46"/>
    <p:sldId id="295" r:id="rId47"/>
    <p:sldId id="298" r:id="rId50"/>
    <p:sldId id="299" r:id="rId51"/>
    <p:sldId id="300" r:id="rId52"/>
    <p:sldId id="301" r:id="rId53"/>
    <p:sldId id="303" r:id="rId55"/>
    <p:sldId id="304" r:id="rId56"/>
    <p:sldId id="307" r:id="rId59"/>
    <p:sldId id="308" r:id="rId60"/>
    <p:sldId id="309" r:id="rId61"/>
    <p:sldId id="310" r:id="rId62"/>
    <p:sldId id="312" r:id="rId64"/>
    <p:sldId id="313" r:id="rId65"/>
    <p:sldId id="316" r:id="rId68"/>
    <p:sldId id="317" r:id="rId69"/>
    <p:sldId id="318" r:id="rId70"/>
    <p:sldId id="319" r:id="rId71"/>
    <p:sldId id="320" r:id="rId72"/>
    <p:sldId id="321" r:id="rId73"/>
    <p:sldId id="322" r:id="rId74"/>
    <p:sldId id="325" r:id="rId77"/>
    <p:sldId id="326" r:id="rId78"/>
    <p:sldId id="329" r:id="rId81"/>
    <p:sldId id="330" r:id="rId82"/>
    <p:sldId id="331" r:id="rId83"/>
    <p:sldId id="332" r:id="rId84"/>
    <p:sldId id="333" r:id="rId85"/>
    <p:sldId id="335" r:id="rId87"/>
    <p:sldId id="336" r:id="rId88"/>
    <p:sldId id="339" r:id="rId91"/>
    <p:sldId id="340" r:id="rId92"/>
    <p:sldId id="341" r:id="rId93"/>
    <p:sldId id="342" r:id="rId94"/>
    <p:sldId id="343" r:id="rId95"/>
    <p:sldId id="345" r:id="rId97"/>
    <p:sldId id="346" r:id="rId98"/>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6" r:id="rId128"/>
    <p:sldId id="377" r:id="rId129"/>
    <p:sldId id="380" r:id="rId132"/>
    <p:sldId id="381" r:id="rId133"/>
    <p:sldId id="382" r:id="rId134"/>
    <p:sldId id="383" r:id="rId135"/>
    <p:sldId id="385" r:id="rId137"/>
    <p:sldId id="386" r:id="rId138"/>
    <p:sldId id="389" r:id="rId141"/>
    <p:sldId id="390" r:id="rId142"/>
    <p:sldId id="391" r:id="rId143"/>
    <p:sldId id="392" r:id="rId144"/>
    <p:sldId id="394" r:id="rId146"/>
    <p:sldId id="395" r:id="rId147"/>
    <p:sldId id="398" r:id="rId150"/>
    <p:sldId id="399" r:id="rId151"/>
    <p:sldId id="400" r:id="rId152"/>
    <p:sldId id="401" r:id="rId153"/>
    <p:sldId id="402" r:id="rId154"/>
    <p:sldId id="403" r:id="rId155"/>
    <p:sldId id="404" r:id="rId156"/>
    <p:sldId id="406" r:id="rId158"/>
    <p:sldId id="407" r:id="rId159"/>
    <p:sldId id="410" r:id="rId162"/>
    <p:sldId id="411" r:id="rId163"/>
    <p:sldId id="412" r:id="rId164"/>
    <p:sldId id="413" r:id="rId165"/>
    <p:sldId id="414" r:id="rId166"/>
    <p:sldId id="416" r:id="rId168"/>
    <p:sldId id="417" r:id="rId169"/>
    <p:sldId id="420" r:id="rId172"/>
    <p:sldId id="421" r:id="rId173"/>
    <p:sldId id="422" r:id="rId174"/>
    <p:sldId id="423" r:id="rId175"/>
    <p:sldId id="424" r:id="rId176"/>
    <p:sldId id="426" r:id="rId178"/>
    <p:sldId id="427" r:id="rId179"/>
    <p:sldId id="430" r:id="rId182"/>
    <p:sldId id="431" r:id="rId183"/>
    <p:sldId id="432" r:id="rId184"/>
    <p:sldId id="433" r:id="rId185"/>
    <p:sldId id="434" r:id="rId186"/>
    <p:sldId id="435" r:id="rId187"/>
    <p:sldId id="436" r:id="rId188"/>
    <p:sldId id="437" r:id="rId189"/>
    <p:sldId id="439" r:id="rId191"/>
    <p:sldId id="441" r:id="rId193"/>
    <p:sldId id="442" r:id="rId194"/>
    <p:sldId id="443" r:id="rId195"/>
    <p:sldId id="445" r:id="rId197"/>
    <p:sldId id="446" r:id="rId198"/>
    <p:sldId id="447" r:id="rId199"/>
    <p:sldId id="449" r:id="rId201"/>
    <p:sldId id="450" r:id="rId202"/>
    <p:sldId id="451" r:id="rId203"/>
    <p:sldId id="453" r:id="rId205"/>
    <p:sldId id="456" r:id="rId208"/>
    <p:sldId id="457" r:id="rId209"/>
    <p:sldId id="458" r:id="rId210"/>
    <p:sldId id="460" r:id="rId212"/>
    <p:sldId id="461" r:id="rId213"/>
    <p:sldId id="462" r:id="rId214"/>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48" r:id="rId2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29.xml"/><Relationship Id="rId18" Type="http://schemas.openxmlformats.org/officeDocument/2006/relationships/slide" Target="slides/slide30.xml"/><Relationship Id="rId19" Type="http://schemas.openxmlformats.org/officeDocument/2006/relationships/slide" Target="slides/slide31.xml"/><Relationship Id="rId20" Type="http://schemas.openxmlformats.org/officeDocument/2006/relationships/slide" Target="slides/slide32.xml"/><Relationship Id="rId21" Type="http://schemas.openxmlformats.org/officeDocument/2006/relationships/slide" Target="slides/slide33.xml"/><Relationship Id="rId22" Type="http://schemas.openxmlformats.org/officeDocument/2006/relationships/slide" Target="slides/slide34.xml"/><Relationship Id="rId23" Type="http://schemas.openxmlformats.org/officeDocument/2006/relationships/slide" Target="slides/slide35.xml"/><Relationship Id="rId24" Type="http://schemas.openxmlformats.org/officeDocument/2006/relationships/slide" Target="slides/slide36.xml"/><Relationship Id="rId25" Type="http://schemas.openxmlformats.org/officeDocument/2006/relationships/slide" Target="slides/slide37.xml"/><Relationship Id="rId26" Type="http://schemas.openxmlformats.org/officeDocument/2006/relationships/slide" Target="slides/slide38.xml"/><Relationship Id="rId27" Type="http://schemas.openxmlformats.org/officeDocument/2006/relationships/slide" Target="slides/slide39.xml"/><Relationship Id="rId28" Type="http://schemas.openxmlformats.org/officeDocument/2006/relationships/slide" Target="slides/slide40.xml"/><Relationship Id="rId29" Type="http://schemas.openxmlformats.org/officeDocument/2006/relationships/slide" Target="slides/slide41.xml"/><Relationship Id="rId30" Type="http://schemas.openxmlformats.org/officeDocument/2006/relationships/slide" Target="slides/slide42.xml"/><Relationship Id="rId31" Type="http://schemas.openxmlformats.org/officeDocument/2006/relationships/slide" Target="slides/slide43.xml"/><Relationship Id="rId32" Type="http://schemas.openxmlformats.org/officeDocument/2006/relationships/slide" Target="slides/slide44.xml"/><Relationship Id="rId33" Type="http://schemas.openxmlformats.org/officeDocument/2006/relationships/slide" Target="slides/slide45.xml"/><Relationship Id="rId34" Type="http://schemas.openxmlformats.org/officeDocument/2006/relationships/slide" Target="slides/slide46.xml"/><Relationship Id="rId35" Type="http://schemas.openxmlformats.org/officeDocument/2006/relationships/slide" Target="slides/slide47.xml"/><Relationship Id="rId36" Type="http://schemas.openxmlformats.org/officeDocument/2006/relationships/slide" Target="slides/slide48.xml"/><Relationship Id="rId37" Type="http://schemas.openxmlformats.org/officeDocument/2006/relationships/slide" Target="slides/slide49.xml"/><Relationship Id="rId38" Type="http://schemas.openxmlformats.org/officeDocument/2006/relationships/slide" Target="slides/slide50.xml"/><Relationship Id="rId39" Type="http://schemas.openxmlformats.org/officeDocument/2006/relationships/slide" Target="slides/slide51.xml"/><Relationship Id="rId40" Type="http://schemas.openxmlformats.org/officeDocument/2006/relationships/slide" Target="slides/slide52.xml"/><Relationship Id="rId41" Type="http://schemas.openxmlformats.org/officeDocument/2006/relationships/slide" Target="slides/slide53.xml"/><Relationship Id="rId42" Type="http://schemas.openxmlformats.org/officeDocument/2006/relationships/slide" Target="slides/slide54.xml"/><Relationship Id="rId43" Type="http://schemas.openxmlformats.org/officeDocument/2006/relationships/slide" Target="slides/slide55.xml"/><Relationship Id="rId46" Type="http://schemas.openxmlformats.org/officeDocument/2006/relationships/slide" Target="slides/slide56.xml"/><Relationship Id="rId47" Type="http://schemas.openxmlformats.org/officeDocument/2006/relationships/slide" Target="slides/slide57.xml"/><Relationship Id="rId50" Type="http://schemas.openxmlformats.org/officeDocument/2006/relationships/slide" Target="slides/slide58.xml"/><Relationship Id="rId51" Type="http://schemas.openxmlformats.org/officeDocument/2006/relationships/slide" Target="slides/slide59.xml"/><Relationship Id="rId52" Type="http://schemas.openxmlformats.org/officeDocument/2006/relationships/slide" Target="slides/slide60.xml"/><Relationship Id="rId53" Type="http://schemas.openxmlformats.org/officeDocument/2006/relationships/slide" Target="slides/slide61.xml"/><Relationship Id="rId55" Type="http://schemas.openxmlformats.org/officeDocument/2006/relationships/slide" Target="slides/slide62.xml"/><Relationship Id="rId56" Type="http://schemas.openxmlformats.org/officeDocument/2006/relationships/slide" Target="slides/slide63.xml"/><Relationship Id="rId59" Type="http://schemas.openxmlformats.org/officeDocument/2006/relationships/slide" Target="slides/slide64.xml"/><Relationship Id="rId60" Type="http://schemas.openxmlformats.org/officeDocument/2006/relationships/slide" Target="slides/slide65.xml"/><Relationship Id="rId61" Type="http://schemas.openxmlformats.org/officeDocument/2006/relationships/slide" Target="slides/slide66.xml"/><Relationship Id="rId62" Type="http://schemas.openxmlformats.org/officeDocument/2006/relationships/slide" Target="slides/slide67.xml"/><Relationship Id="rId64" Type="http://schemas.openxmlformats.org/officeDocument/2006/relationships/slide" Target="slides/slide68.xml"/><Relationship Id="rId65" Type="http://schemas.openxmlformats.org/officeDocument/2006/relationships/slide" Target="slides/slide69.xml"/><Relationship Id="rId68" Type="http://schemas.openxmlformats.org/officeDocument/2006/relationships/slide" Target="slides/slide70.xml"/><Relationship Id="rId69" Type="http://schemas.openxmlformats.org/officeDocument/2006/relationships/slide" Target="slides/slide71.xml"/><Relationship Id="rId70" Type="http://schemas.openxmlformats.org/officeDocument/2006/relationships/slide" Target="slides/slide72.xml"/><Relationship Id="rId71" Type="http://schemas.openxmlformats.org/officeDocument/2006/relationships/slide" Target="slides/slide73.xml"/><Relationship Id="rId72" Type="http://schemas.openxmlformats.org/officeDocument/2006/relationships/slide" Target="slides/slide74.xml"/><Relationship Id="rId73" Type="http://schemas.openxmlformats.org/officeDocument/2006/relationships/slide" Target="slides/slide75.xml"/><Relationship Id="rId74" Type="http://schemas.openxmlformats.org/officeDocument/2006/relationships/slide" Target="slides/slide76.xml"/><Relationship Id="rId77" Type="http://schemas.openxmlformats.org/officeDocument/2006/relationships/slide" Target="slides/slide77.xml"/><Relationship Id="rId78" Type="http://schemas.openxmlformats.org/officeDocument/2006/relationships/slide" Target="slides/slide78.xml"/><Relationship Id="rId81" Type="http://schemas.openxmlformats.org/officeDocument/2006/relationships/slide" Target="slides/slide79.xml"/><Relationship Id="rId82" Type="http://schemas.openxmlformats.org/officeDocument/2006/relationships/slide" Target="slides/slide80.xml"/><Relationship Id="rId83" Type="http://schemas.openxmlformats.org/officeDocument/2006/relationships/slide" Target="slides/slide81.xml"/><Relationship Id="rId84" Type="http://schemas.openxmlformats.org/officeDocument/2006/relationships/slide" Target="slides/slide82.xml"/><Relationship Id="rId85" Type="http://schemas.openxmlformats.org/officeDocument/2006/relationships/slide" Target="slides/slide83.xml"/><Relationship Id="rId87" Type="http://schemas.openxmlformats.org/officeDocument/2006/relationships/slide" Target="slides/slide84.xml"/><Relationship Id="rId88" Type="http://schemas.openxmlformats.org/officeDocument/2006/relationships/slide" Target="slides/slide85.xml"/><Relationship Id="rId91" Type="http://schemas.openxmlformats.org/officeDocument/2006/relationships/slide" Target="slides/slide86.xml"/><Relationship Id="rId92" Type="http://schemas.openxmlformats.org/officeDocument/2006/relationships/slide" Target="slides/slide87.xml"/><Relationship Id="rId93" Type="http://schemas.openxmlformats.org/officeDocument/2006/relationships/slide" Target="slides/slide88.xml"/><Relationship Id="rId94" Type="http://schemas.openxmlformats.org/officeDocument/2006/relationships/slide" Target="slides/slide89.xml"/><Relationship Id="rId95"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101" Type="http://schemas.openxmlformats.org/officeDocument/2006/relationships/slide" Target="slides/slide93.xml"/><Relationship Id="rId102" Type="http://schemas.openxmlformats.org/officeDocument/2006/relationships/slide" Target="slides/slide94.xml"/><Relationship Id="rId103" Type="http://schemas.openxmlformats.org/officeDocument/2006/relationships/slide" Target="slides/slide95.xml"/><Relationship Id="rId104" Type="http://schemas.openxmlformats.org/officeDocument/2006/relationships/slide" Target="slides/slide96.xml"/><Relationship Id="rId105" Type="http://schemas.openxmlformats.org/officeDocument/2006/relationships/slide" Target="slides/slide97.xml"/><Relationship Id="rId106" Type="http://schemas.openxmlformats.org/officeDocument/2006/relationships/slide" Target="slides/slide98.xml"/><Relationship Id="rId107" Type="http://schemas.openxmlformats.org/officeDocument/2006/relationships/slide" Target="slides/slide99.xml"/><Relationship Id="rId108" Type="http://schemas.openxmlformats.org/officeDocument/2006/relationships/slide" Target="slides/slide100.xml"/><Relationship Id="rId109" Type="http://schemas.openxmlformats.org/officeDocument/2006/relationships/slide" Target="slides/slide101.xml"/><Relationship Id="rId110" Type="http://schemas.openxmlformats.org/officeDocument/2006/relationships/slide" Target="slides/slide102.xml"/><Relationship Id="rId111" Type="http://schemas.openxmlformats.org/officeDocument/2006/relationships/slide" Target="slides/slide103.xml"/><Relationship Id="rId112" Type="http://schemas.openxmlformats.org/officeDocument/2006/relationships/slide" Target="slides/slide104.xml"/><Relationship Id="rId113" Type="http://schemas.openxmlformats.org/officeDocument/2006/relationships/slide" Target="slides/slide105.xml"/><Relationship Id="rId114" Type="http://schemas.openxmlformats.org/officeDocument/2006/relationships/slide" Target="slides/slide106.xml"/><Relationship Id="rId115" Type="http://schemas.openxmlformats.org/officeDocument/2006/relationships/slide" Target="slides/slide107.xml"/><Relationship Id="rId116" Type="http://schemas.openxmlformats.org/officeDocument/2006/relationships/slide" Target="slides/slide108.xml"/><Relationship Id="rId117" Type="http://schemas.openxmlformats.org/officeDocument/2006/relationships/slide" Target="slides/slide109.xml"/><Relationship Id="rId118" Type="http://schemas.openxmlformats.org/officeDocument/2006/relationships/slide" Target="slides/slide110.xml"/><Relationship Id="rId119" Type="http://schemas.openxmlformats.org/officeDocument/2006/relationships/slide" Target="slides/slide111.xml"/><Relationship Id="rId120" Type="http://schemas.openxmlformats.org/officeDocument/2006/relationships/slide" Target="slides/slide112.xml"/><Relationship Id="rId121" Type="http://schemas.openxmlformats.org/officeDocument/2006/relationships/slide" Target="slides/slide113.xml"/><Relationship Id="rId122" Type="http://schemas.openxmlformats.org/officeDocument/2006/relationships/slide" Target="slides/slide114.xml"/><Relationship Id="rId123" Type="http://schemas.openxmlformats.org/officeDocument/2006/relationships/slide" Target="slides/slide115.xml"/><Relationship Id="rId124" Type="http://schemas.openxmlformats.org/officeDocument/2006/relationships/slide" Target="slides/slide116.xml"/><Relationship Id="rId125" Type="http://schemas.openxmlformats.org/officeDocument/2006/relationships/slide" Target="slides/slide117.xml"/><Relationship Id="rId126" Type="http://schemas.openxmlformats.org/officeDocument/2006/relationships/slide" Target="slides/slide118.xml"/><Relationship Id="rId128" Type="http://schemas.openxmlformats.org/officeDocument/2006/relationships/slide" Target="slides/slide119.xml"/><Relationship Id="rId129" Type="http://schemas.openxmlformats.org/officeDocument/2006/relationships/slide" Target="slides/slide120.xml"/><Relationship Id="rId132" Type="http://schemas.openxmlformats.org/officeDocument/2006/relationships/slide" Target="slides/slide121.xml"/><Relationship Id="rId133" Type="http://schemas.openxmlformats.org/officeDocument/2006/relationships/slide" Target="slides/slide122.xml"/><Relationship Id="rId134" Type="http://schemas.openxmlformats.org/officeDocument/2006/relationships/slide" Target="slides/slide123.xml"/><Relationship Id="rId135" Type="http://schemas.openxmlformats.org/officeDocument/2006/relationships/slide" Target="slides/slide124.xml"/><Relationship Id="rId137" Type="http://schemas.openxmlformats.org/officeDocument/2006/relationships/slide" Target="slides/slide125.xml"/><Relationship Id="rId138" Type="http://schemas.openxmlformats.org/officeDocument/2006/relationships/slide" Target="slides/slide126.xml"/><Relationship Id="rId141" Type="http://schemas.openxmlformats.org/officeDocument/2006/relationships/slide" Target="slides/slide127.xml"/><Relationship Id="rId142" Type="http://schemas.openxmlformats.org/officeDocument/2006/relationships/slide" Target="slides/slide128.xml"/><Relationship Id="rId143" Type="http://schemas.openxmlformats.org/officeDocument/2006/relationships/slide" Target="slides/slide129.xml"/><Relationship Id="rId144" Type="http://schemas.openxmlformats.org/officeDocument/2006/relationships/slide" Target="slides/slide130.xml"/><Relationship Id="rId146" Type="http://schemas.openxmlformats.org/officeDocument/2006/relationships/slide" Target="slides/slide131.xml"/><Relationship Id="rId147" Type="http://schemas.openxmlformats.org/officeDocument/2006/relationships/slide" Target="slides/slide132.xml"/><Relationship Id="rId150" Type="http://schemas.openxmlformats.org/officeDocument/2006/relationships/slide" Target="slides/slide133.xml"/><Relationship Id="rId151" Type="http://schemas.openxmlformats.org/officeDocument/2006/relationships/slide" Target="slides/slide134.xml"/><Relationship Id="rId152" Type="http://schemas.openxmlformats.org/officeDocument/2006/relationships/slide" Target="slides/slide135.xml"/><Relationship Id="rId153" Type="http://schemas.openxmlformats.org/officeDocument/2006/relationships/slide" Target="slides/slide136.xml"/><Relationship Id="rId154" Type="http://schemas.openxmlformats.org/officeDocument/2006/relationships/slide" Target="slides/slide137.xml"/><Relationship Id="rId155" Type="http://schemas.openxmlformats.org/officeDocument/2006/relationships/slide" Target="slides/slide138.xml"/><Relationship Id="rId156" Type="http://schemas.openxmlformats.org/officeDocument/2006/relationships/slide" Target="slides/slide139.xml"/><Relationship Id="rId158" Type="http://schemas.openxmlformats.org/officeDocument/2006/relationships/slide" Target="slides/slide140.xml"/><Relationship Id="rId159" Type="http://schemas.openxmlformats.org/officeDocument/2006/relationships/slide" Target="slides/slide141.xml"/><Relationship Id="rId162" Type="http://schemas.openxmlformats.org/officeDocument/2006/relationships/slide" Target="slides/slide142.xml"/><Relationship Id="rId163" Type="http://schemas.openxmlformats.org/officeDocument/2006/relationships/slide" Target="slides/slide143.xml"/><Relationship Id="rId164" Type="http://schemas.openxmlformats.org/officeDocument/2006/relationships/slide" Target="slides/slide144.xml"/><Relationship Id="rId165" Type="http://schemas.openxmlformats.org/officeDocument/2006/relationships/slide" Target="slides/slide145.xml"/><Relationship Id="rId166" Type="http://schemas.openxmlformats.org/officeDocument/2006/relationships/slide" Target="slides/slide146.xml"/><Relationship Id="rId168" Type="http://schemas.openxmlformats.org/officeDocument/2006/relationships/slide" Target="slides/slide147.xml"/><Relationship Id="rId169" Type="http://schemas.openxmlformats.org/officeDocument/2006/relationships/slide" Target="slides/slide148.xml"/><Relationship Id="rId172" Type="http://schemas.openxmlformats.org/officeDocument/2006/relationships/slide" Target="slides/slide149.xml"/><Relationship Id="rId173" Type="http://schemas.openxmlformats.org/officeDocument/2006/relationships/slide" Target="slides/slide150.xml"/><Relationship Id="rId174" Type="http://schemas.openxmlformats.org/officeDocument/2006/relationships/slide" Target="slides/slide151.xml"/><Relationship Id="rId175" Type="http://schemas.openxmlformats.org/officeDocument/2006/relationships/slide" Target="slides/slide152.xml"/><Relationship Id="rId176" Type="http://schemas.openxmlformats.org/officeDocument/2006/relationships/slide" Target="slides/slide153.xml"/><Relationship Id="rId178" Type="http://schemas.openxmlformats.org/officeDocument/2006/relationships/slide" Target="slides/slide154.xml"/><Relationship Id="rId179" Type="http://schemas.openxmlformats.org/officeDocument/2006/relationships/slide" Target="slides/slide155.xml"/><Relationship Id="rId182" Type="http://schemas.openxmlformats.org/officeDocument/2006/relationships/slide" Target="slides/slide156.xml"/><Relationship Id="rId183" Type="http://schemas.openxmlformats.org/officeDocument/2006/relationships/slide" Target="slides/slide157.xml"/><Relationship Id="rId184" Type="http://schemas.openxmlformats.org/officeDocument/2006/relationships/slide" Target="slides/slide158.xml"/><Relationship Id="rId185" Type="http://schemas.openxmlformats.org/officeDocument/2006/relationships/slide" Target="slides/slide159.xml"/><Relationship Id="rId186" Type="http://schemas.openxmlformats.org/officeDocument/2006/relationships/slide" Target="slides/slide160.xml"/><Relationship Id="rId187" Type="http://schemas.openxmlformats.org/officeDocument/2006/relationships/slide" Target="slides/slide161.xml"/><Relationship Id="rId188" Type="http://schemas.openxmlformats.org/officeDocument/2006/relationships/slide" Target="slides/slide162.xml"/><Relationship Id="rId189" Type="http://schemas.openxmlformats.org/officeDocument/2006/relationships/slide" Target="slides/slide163.xml"/><Relationship Id="rId191" Type="http://schemas.openxmlformats.org/officeDocument/2006/relationships/slide" Target="slides/slide164.xml"/><Relationship Id="rId193" Type="http://schemas.openxmlformats.org/officeDocument/2006/relationships/slide" Target="slides/slide165.xml"/><Relationship Id="rId194" Type="http://schemas.openxmlformats.org/officeDocument/2006/relationships/slide" Target="slides/slide166.xml"/><Relationship Id="rId195" Type="http://schemas.openxmlformats.org/officeDocument/2006/relationships/slide" Target="slides/slide167.xml"/><Relationship Id="rId197" Type="http://schemas.openxmlformats.org/officeDocument/2006/relationships/slide" Target="slides/slide168.xml"/><Relationship Id="rId198" Type="http://schemas.openxmlformats.org/officeDocument/2006/relationships/slide" Target="slides/slide169.xml"/><Relationship Id="rId199" Type="http://schemas.openxmlformats.org/officeDocument/2006/relationships/slide" Target="slides/slide170.xml"/><Relationship Id="rId201" Type="http://schemas.openxmlformats.org/officeDocument/2006/relationships/slide" Target="slides/slide171.xml"/><Relationship Id="rId202" Type="http://schemas.openxmlformats.org/officeDocument/2006/relationships/slide" Target="slides/slide172.xml"/><Relationship Id="rId203" Type="http://schemas.openxmlformats.org/officeDocument/2006/relationships/slide" Target="slides/slide173.xml"/><Relationship Id="rId205" Type="http://schemas.openxmlformats.org/officeDocument/2006/relationships/slide" Target="slides/slide174.xml"/><Relationship Id="rId208" Type="http://schemas.openxmlformats.org/officeDocument/2006/relationships/slide" Target="slides/slide175.xml"/><Relationship Id="rId209" Type="http://schemas.openxmlformats.org/officeDocument/2006/relationships/slide" Target="slides/slide176.xml"/><Relationship Id="rId210" Type="http://schemas.openxmlformats.org/officeDocument/2006/relationships/slide" Target="slides/slide177.xml"/><Relationship Id="rId212" Type="http://schemas.openxmlformats.org/officeDocument/2006/relationships/slide" Target="slides/slide178.xml"/><Relationship Id="rId213" Type="http://schemas.openxmlformats.org/officeDocument/2006/relationships/slide" Target="slides/slide179.xml"/><Relationship Id="rId214" Type="http://schemas.openxmlformats.org/officeDocument/2006/relationships/slide" Target="slides/slide180.xml"/><Relationship Id="rId215" Type="http://schemas.openxmlformats.org/officeDocument/2006/relationships/slide" Target="slides/slide236.xml"/><Relationship Id="rId216" Type="http://schemas.openxmlformats.org/officeDocument/2006/relationships/slide" Target="slides/slide181.xml"/><Relationship Id="rId217" Type="http://schemas.openxmlformats.org/officeDocument/2006/relationships/slide" Target="slides/slide182.xml"/><Relationship Id="rId218" Type="http://schemas.openxmlformats.org/officeDocument/2006/relationships/slide" Target="slides/slide183.xml"/><Relationship Id="rId219" Type="http://schemas.openxmlformats.org/officeDocument/2006/relationships/slide" Target="slides/slide184.xml"/><Relationship Id="rId220" Type="http://schemas.openxmlformats.org/officeDocument/2006/relationships/slide" Target="slides/slide185.xml"/><Relationship Id="rId221" Type="http://schemas.openxmlformats.org/officeDocument/2006/relationships/slide" Target="slides/slide186.xml"/><Relationship Id="rId222" Type="http://schemas.openxmlformats.org/officeDocument/2006/relationships/slide" Target="slides/slide187.xml"/><Relationship Id="rId223" Type="http://schemas.openxmlformats.org/officeDocument/2006/relationships/slide" Target="slides/slide188.xml"/><Relationship Id="rId224" Type="http://schemas.openxmlformats.org/officeDocument/2006/relationships/slide" Target="slides/slide189.xml"/><Relationship Id="rId225" Type="http://schemas.openxmlformats.org/officeDocument/2006/relationships/slide" Target="slides/slide190.xml"/><Relationship Id="rId226" Type="http://schemas.openxmlformats.org/officeDocument/2006/relationships/slide" Target="slides/slide191.xml"/><Relationship Id="rId227" Type="http://schemas.openxmlformats.org/officeDocument/2006/relationships/slide" Target="slides/slide192.xml"/><Relationship Id="rId228" Type="http://schemas.openxmlformats.org/officeDocument/2006/relationships/slide" Target="slides/slide193.xml"/><Relationship Id="rId229" Type="http://schemas.openxmlformats.org/officeDocument/2006/relationships/slide" Target="slides/slide194.xml"/><Relationship Id="rId230" Type="http://schemas.openxmlformats.org/officeDocument/2006/relationships/slide" Target="slides/slide195.xml"/><Relationship Id="rId231" Type="http://schemas.openxmlformats.org/officeDocument/2006/relationships/slide" Target="slides/slide196.xml"/><Relationship Id="rId232" Type="http://schemas.openxmlformats.org/officeDocument/2006/relationships/slide" Target="slides/slide197.xml"/><Relationship Id="rId233" Type="http://schemas.openxmlformats.org/officeDocument/2006/relationships/slide" Target="slides/slide198.xml"/><Relationship Id="rId234" Type="http://schemas.openxmlformats.org/officeDocument/2006/relationships/slide" Target="slides/slide199.xml"/><Relationship Id="rId235" Type="http://schemas.openxmlformats.org/officeDocument/2006/relationships/slide" Target="slides/slide200.xml"/><Relationship Id="rId236" Type="http://schemas.openxmlformats.org/officeDocument/2006/relationships/slide" Target="slides/slide201.xml"/><Relationship Id="rId237" Type="http://schemas.openxmlformats.org/officeDocument/2006/relationships/slide" Target="slides/slide202.xml"/><Relationship Id="rId238" Type="http://schemas.openxmlformats.org/officeDocument/2006/relationships/slide" Target="slides/slide203.xml"/><Relationship Id="rId239" Type="http://schemas.openxmlformats.org/officeDocument/2006/relationships/slide" Target="slides/slide204.xml"/><Relationship Id="rId240" Type="http://schemas.openxmlformats.org/officeDocument/2006/relationships/slide" Target="slides/slide205.xml"/><Relationship Id="rId241" Type="http://schemas.openxmlformats.org/officeDocument/2006/relationships/slide" Target="slides/slide206.xml"/><Relationship Id="rId242" Type="http://schemas.openxmlformats.org/officeDocument/2006/relationships/slide" Target="slides/slide207.xml"/><Relationship Id="rId243" Type="http://schemas.openxmlformats.org/officeDocument/2006/relationships/slide" Target="slides/slide208.xml"/><Relationship Id="rId244" Type="http://schemas.openxmlformats.org/officeDocument/2006/relationships/slide" Target="slides/slide209.xml"/><Relationship Id="rId245" Type="http://schemas.openxmlformats.org/officeDocument/2006/relationships/slide" Target="slides/slide222.xml"/><Relationship Id="rId246" Type="http://schemas.openxmlformats.org/officeDocument/2006/relationships/slide" Target="slides/slide223.xml"/><Relationship Id="rId247" Type="http://schemas.openxmlformats.org/officeDocument/2006/relationships/slide" Target="slides/slide224.xml"/><Relationship Id="rId248" Type="http://schemas.openxmlformats.org/officeDocument/2006/relationships/slide" Target="slides/slide225.xml"/><Relationship Id="rId249" Type="http://schemas.openxmlformats.org/officeDocument/2006/relationships/slide" Target="slides/slide226.xml"/><Relationship Id="rId250" Type="http://schemas.openxmlformats.org/officeDocument/2006/relationships/slide" Target="slides/slide227.xml"/><Relationship Id="rId251" Type="http://schemas.openxmlformats.org/officeDocument/2006/relationships/slide" Target="slides/slide228.xml"/><Relationship Id="rId252" Type="http://schemas.openxmlformats.org/officeDocument/2006/relationships/slide" Target="slides/slide229.xml"/><Relationship Id="rId253" Type="http://schemas.openxmlformats.org/officeDocument/2006/relationships/slide" Target="slides/slide230.xml"/><Relationship Id="rId254" Type="http://schemas.openxmlformats.org/officeDocument/2006/relationships/slide" Target="slides/slide231.xml"/><Relationship Id="rId255" Type="http://schemas.openxmlformats.org/officeDocument/2006/relationships/slide" Target="slides/slide232.xml"/><Relationship Id="rId256" Type="http://schemas.openxmlformats.org/officeDocument/2006/relationships/slide" Target="slides/slide233.xml"/><Relationship Id="rId257" Type="http://schemas.openxmlformats.org/officeDocument/2006/relationships/slide" Target="slides/slide234.xml"/><Relationship Id="rId258" Type="http://schemas.openxmlformats.org/officeDocument/2006/relationships/slide" Target="slides/slide235.xml"/><Relationship Id="rId259" Type="http://schemas.openxmlformats.org/officeDocument/2006/relationships/slide" Target="slides/slide210.xml"/><Relationship Id="rId260" Type="http://schemas.openxmlformats.org/officeDocument/2006/relationships/slide" Target="slides/slide211.xml"/><Relationship Id="rId261" Type="http://schemas.openxmlformats.org/officeDocument/2006/relationships/slide" Target="slides/slide212.xml"/><Relationship Id="rId262" Type="http://schemas.openxmlformats.org/officeDocument/2006/relationships/slide" Target="slides/slide213.xml"/><Relationship Id="rId263" Type="http://schemas.openxmlformats.org/officeDocument/2006/relationships/slide" Target="slides/slide214.xml"/><Relationship Id="rId264" Type="http://schemas.openxmlformats.org/officeDocument/2006/relationships/slide" Target="slides/slide215.xml"/><Relationship Id="rId265" Type="http://schemas.openxmlformats.org/officeDocument/2006/relationships/slide" Target="slides/slide216.xml"/><Relationship Id="rId266" Type="http://schemas.openxmlformats.org/officeDocument/2006/relationships/slide" Target="slides/slide217.xml"/><Relationship Id="rId267" Type="http://schemas.openxmlformats.org/officeDocument/2006/relationships/slide" Target="slides/slide218.xml"/><Relationship Id="rId268" Type="http://schemas.openxmlformats.org/officeDocument/2006/relationships/slide" Target="slides/slide219.xml"/><Relationship Id="rId269" Type="http://schemas.openxmlformats.org/officeDocument/2006/relationships/slide" Target="slides/slide220.xml"/><Relationship Id="rId270" Type="http://schemas.openxmlformats.org/officeDocument/2006/relationships/slide" Target="slides/slide221.xml"/><Relationship Id="rId281" Type="http://schemas.openxmlformats.org/officeDocument/2006/relationships/slide" Target="slides/slide11.xml"/><Relationship Id="rId282" Type="http://schemas.openxmlformats.org/officeDocument/2006/relationships/slide" Target="slides/slide12.xml"/><Relationship Id="rId283" Type="http://schemas.openxmlformats.org/officeDocument/2006/relationships/slide" Target="slides/slide13.xml"/><Relationship Id="rId284" Type="http://schemas.openxmlformats.org/officeDocument/2006/relationships/slide" Target="slides/slide14.xml"/><Relationship Id="rId285" Type="http://schemas.openxmlformats.org/officeDocument/2006/relationships/slide" Target="slides/slide15.xml"/><Relationship Id="rId286" Type="http://schemas.openxmlformats.org/officeDocument/2006/relationships/slide" Target="slides/slide16.xml"/><Relationship Id="rId287" Type="http://schemas.openxmlformats.org/officeDocument/2006/relationships/slide" Target="slides/slide17.xml"/><Relationship Id="rId288" Type="http://schemas.openxmlformats.org/officeDocument/2006/relationships/slide" Target="slides/slide18.xml"/><Relationship Id="rId289" Type="http://schemas.openxmlformats.org/officeDocument/2006/relationships/slide" Target="slides/slide19.xml"/><Relationship Id="rId290" Type="http://schemas.openxmlformats.org/officeDocument/2006/relationships/slide" Target="slides/slide10.xml"/><Relationship Id="rId291" Type="http://schemas.openxmlformats.org/officeDocument/2006/relationships/slide" Target="slides/slide21.xml"/><Relationship Id="rId292" Type="http://schemas.openxmlformats.org/officeDocument/2006/relationships/slide" Target="slides/slide22.xml"/><Relationship Id="rId293" Type="http://schemas.openxmlformats.org/officeDocument/2006/relationships/slide" Target="slides/slide23.xml"/><Relationship Id="rId294" Type="http://schemas.openxmlformats.org/officeDocument/2006/relationships/slide" Target="slides/slide24.xml"/><Relationship Id="rId295" Type="http://schemas.openxmlformats.org/officeDocument/2006/relationships/slide" Target="slides/slide25.xml"/><Relationship Id="rId296" Type="http://schemas.openxmlformats.org/officeDocument/2006/relationships/slide" Target="slides/slide26.xml"/><Relationship Id="rId297" Type="http://schemas.openxmlformats.org/officeDocument/2006/relationships/slide" Target="slides/slide27.xml"/><Relationship Id="rId298" Type="http://schemas.openxmlformats.org/officeDocument/2006/relationships/slide" Target="slides/slide28.xml"/><Relationship Id="rId299" Type="http://schemas.openxmlformats.org/officeDocument/2006/relationships/slide" Target="slides/slide20.xml"/></Relationships>
</file>

<file path=ppt/charts/_rels/chart1.xml.rels><?xml version='1.0' encoding='UTF-8' standalone='yes'?>
<Relationships xmlns="http://schemas.openxmlformats.org/package/2006/relationships"><Relationship Id="rId2" Type="http://schemas.openxmlformats.org/officeDocument/2006/relationships/image" Target="../media/image3.png"/></Relationships>
</file>

<file path=ppt/charts/_rels/chart3.xml.rels><?xml version='1.0' encoding='UTF-8' standalone='yes'?>
<Relationships xmlns="http://schemas.openxmlformats.org/package/2006/relationships"><Relationship Id="rId2" Type="http://schemas.openxmlformats.org/officeDocument/2006/relationships/image" Target="../media/image4.png"/></Relationships>
</file>

<file path=ppt/charts/_rels/chart5.xml.rels><?xml version='1.0' encoding='UTF-8' standalone='yes'?>
<Relationships xmlns="http://schemas.openxmlformats.org/package/2006/relationships"><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s>
</file>

<file path=ppt/charts/_rels/chart6.xml.rels><?xml version='1.0' encoding='UTF-8' standalone='yes'?>
<Relationships xmlns="http://schemas.openxmlformats.org/package/2006/relationships"><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 Id="rId12" Type="http://schemas.openxmlformats.org/officeDocument/2006/relationships/image" Target="../media/image25.png"/><Relationship Id="rId13" Type="http://schemas.openxmlformats.org/officeDocument/2006/relationships/image" Target="../media/image26.png"/><Relationship Id="rId14" Type="http://schemas.openxmlformats.org/officeDocument/2006/relationships/image" Target="../media/image27.png"/><Relationship Id="rId15" Type="http://schemas.openxmlformats.org/officeDocument/2006/relationships/image" Target="../media/image28.png"/><Relationship Id="rId16" Type="http://schemas.openxmlformats.org/officeDocument/2006/relationships/image" Target="../media/image29.png"/><Relationship Id="rId17" Type="http://schemas.openxmlformats.org/officeDocument/2006/relationships/image" Target="../media/image30.png"/><Relationship Id="rId18" Type="http://schemas.openxmlformats.org/officeDocument/2006/relationships/image" Target="../media/image31.png"/><Relationship Id="rId19" Type="http://schemas.openxmlformats.org/officeDocument/2006/relationships/image" Target="../media/image32.png"/><Relationship Id="rId20" Type="http://schemas.openxmlformats.org/officeDocument/2006/relationships/image" Target="../media/image33.png"/><Relationship Id="rId21" Type="http://schemas.openxmlformats.org/officeDocument/2006/relationships/image" Target="../media/image34.png"/><Relationship Id="rId22" Type="http://schemas.openxmlformats.org/officeDocument/2006/relationships/image" Target="../media/image35.png"/><Relationship Id="rId23" Type="http://schemas.openxmlformats.org/officeDocument/2006/relationships/image" Target="../media/image36.png"/></Relationships>
</file>

<file path=ppt/charts/_rels/chart7.xml.rels><?xml version='1.0' encoding='UTF-8' standalone='yes'?>
<Relationships xmlns="http://schemas.openxmlformats.org/package/2006/relationships"><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 Id="rId10" Type="http://schemas.openxmlformats.org/officeDocument/2006/relationships/image" Target="../media/image45.png"/></Relationships>
</file>

<file path=ppt/charts/_rels/chart8.xml.rels><?xml version='1.0' encoding='UTF-8' standalone='yes'?>
<Relationships xmlns="http://schemas.openxmlformats.org/package/2006/relationships"><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image" Target="../media/image50.png"/><Relationship Id="rId7" Type="http://schemas.openxmlformats.org/officeDocument/2006/relationships/image" Target="../media/image51.png"/><Relationship Id="rId8" Type="http://schemas.openxmlformats.org/officeDocument/2006/relationships/image" Target="../media/image52.png"/></Relationships>
</file>

<file path=ppt/charts/_rels/chart9.xml.rels><?xml version='1.0' encoding='UTF-8' standalone='yes'?>
<Relationships xmlns="http://schemas.openxmlformats.org/package/2006/relationships"><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 Id="rId7" Type="http://schemas.openxmlformats.org/officeDocument/2006/relationships/image" Target="../media/image58.png"/><Relationship Id="rId8" Type="http://schemas.openxmlformats.org/officeDocument/2006/relationships/image" Target="../media/image59.png"/><Relationship Id="rId9" Type="http://schemas.openxmlformats.org/officeDocument/2006/relationships/image" Target="../media/image60.png"/></Relationships>
</file>

<file path=ppt/charts/_rels/chart11.xml.rels><?xml version='1.0' encoding='UTF-8' standalone='yes'?>
<Relationships xmlns="http://schemas.openxmlformats.org/package/2006/relationships"><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90.png"/><Relationship Id="rId11" Type="http://schemas.openxmlformats.org/officeDocument/2006/relationships/image" Target="../media/image91.png"/><Relationship Id="rId12" Type="http://schemas.openxmlformats.org/officeDocument/2006/relationships/image" Target="../media/image92.png"/><Relationship Id="rId13" Type="http://schemas.openxmlformats.org/officeDocument/2006/relationships/image" Target="../media/image93.png"/><Relationship Id="rId14" Type="http://schemas.openxmlformats.org/officeDocument/2006/relationships/image" Target="../media/image94.png"/><Relationship Id="rId15" Type="http://schemas.openxmlformats.org/officeDocument/2006/relationships/image" Target="../media/image95.png"/></Relationships>
</file>

<file path=ppt/charts/_rels/chart12.xml.rels><?xml version='1.0' encoding='UTF-8' standalone='yes'?>
<Relationships xmlns="http://schemas.openxmlformats.org/package/2006/relationships"><Relationship Id="rId2" Type="http://schemas.openxmlformats.org/officeDocument/2006/relationships/image" Target="../media/image99.png"/><Relationship Id="rId3" Type="http://schemas.openxmlformats.org/officeDocument/2006/relationships/image" Target="../media/image100.png"/><Relationship Id="rId4" Type="http://schemas.openxmlformats.org/officeDocument/2006/relationships/image" Target="../media/image101.png"/><Relationship Id="rId5" Type="http://schemas.openxmlformats.org/officeDocument/2006/relationships/image" Target="../media/image102.png"/><Relationship Id="rId6" Type="http://schemas.openxmlformats.org/officeDocument/2006/relationships/image" Target="../media/image103.png"/><Relationship Id="rId7" Type="http://schemas.openxmlformats.org/officeDocument/2006/relationships/image" Target="../media/image104.png"/><Relationship Id="rId8" Type="http://schemas.openxmlformats.org/officeDocument/2006/relationships/image" Target="../media/image105.png"/><Relationship Id="rId9" Type="http://schemas.openxmlformats.org/officeDocument/2006/relationships/image" Target="../media/image106.png"/><Relationship Id="rId10" Type="http://schemas.openxmlformats.org/officeDocument/2006/relationships/image" Target="../media/image107.png"/><Relationship Id="rId11" Type="http://schemas.openxmlformats.org/officeDocument/2006/relationships/image" Target="../media/image108.png"/><Relationship Id="rId12" Type="http://schemas.openxmlformats.org/officeDocument/2006/relationships/image" Target="../media/image109.png"/><Relationship Id="rId13" Type="http://schemas.openxmlformats.org/officeDocument/2006/relationships/image" Target="../media/image110.png"/><Relationship Id="rId14" Type="http://schemas.openxmlformats.org/officeDocument/2006/relationships/image" Target="../media/image111.png"/><Relationship Id="rId15" Type="http://schemas.openxmlformats.org/officeDocument/2006/relationships/image" Target="../media/image112.png"/></Relationships>
</file>

<file path=ppt/charts/_rels/chart13.xml.rels><?xml version='1.0' encoding='UTF-8' standalone='yes'?>
<Relationships xmlns="http://schemas.openxmlformats.org/package/2006/relationships"><Relationship Id="rId2" Type="http://schemas.openxmlformats.org/officeDocument/2006/relationships/image" Target="../media/image116.png"/></Relationships>
</file>

<file path=ppt/charts/_rels/chart14.xml.rels><?xml version='1.0' encoding='UTF-8' standalone='yes'?>
<Relationships xmlns="http://schemas.openxmlformats.org/package/2006/relationships"><Relationship Id="rId2" Type="http://schemas.openxmlformats.org/officeDocument/2006/relationships/image" Target="../media/image117.png"/></Relationships>
</file>

<file path=ppt/charts/_rels/chart15.xml.rels><?xml version='1.0' encoding='UTF-8' standalone='yes'?>
<Relationships xmlns="http://schemas.openxmlformats.org/package/2006/relationships"><Relationship Id="rId2" Type="http://schemas.openxmlformats.org/officeDocument/2006/relationships/image" Target="../media/image140.png"/><Relationship Id="rId3" Type="http://schemas.openxmlformats.org/officeDocument/2006/relationships/image" Target="../media/image141.png"/><Relationship Id="rId4" Type="http://schemas.openxmlformats.org/officeDocument/2006/relationships/image" Target="../media/image142.png"/><Relationship Id="rId5" Type="http://schemas.openxmlformats.org/officeDocument/2006/relationships/image" Target="../media/image143.png"/><Relationship Id="rId6" Type="http://schemas.openxmlformats.org/officeDocument/2006/relationships/image" Target="../media/image144.png"/><Relationship Id="rId7" Type="http://schemas.openxmlformats.org/officeDocument/2006/relationships/image" Target="../media/image145.png"/><Relationship Id="rId8" Type="http://schemas.openxmlformats.org/officeDocument/2006/relationships/image" Target="../media/image146.png"/><Relationship Id="rId9" Type="http://schemas.openxmlformats.org/officeDocument/2006/relationships/image" Target="../media/image147.png"/><Relationship Id="rId10" Type="http://schemas.openxmlformats.org/officeDocument/2006/relationships/image" Target="../media/image148.png"/><Relationship Id="rId11" Type="http://schemas.openxmlformats.org/officeDocument/2006/relationships/image" Target="../media/image149.png"/><Relationship Id="rId12" Type="http://schemas.openxmlformats.org/officeDocument/2006/relationships/image" Target="../media/image150.png"/><Relationship Id="rId13" Type="http://schemas.openxmlformats.org/officeDocument/2006/relationships/image" Target="../media/image151.png"/><Relationship Id="rId14" Type="http://schemas.openxmlformats.org/officeDocument/2006/relationships/image" Target="../media/image152.png"/><Relationship Id="rId15" Type="http://schemas.openxmlformats.org/officeDocument/2006/relationships/image" Target="../media/image153.png"/><Relationship Id="rId16" Type="http://schemas.openxmlformats.org/officeDocument/2006/relationships/image" Target="../media/image154.png"/><Relationship Id="rId17" Type="http://schemas.openxmlformats.org/officeDocument/2006/relationships/image" Target="../media/image155.png"/><Relationship Id="rId18" Type="http://schemas.openxmlformats.org/officeDocument/2006/relationships/image" Target="../media/image156.png"/><Relationship Id="rId19" Type="http://schemas.openxmlformats.org/officeDocument/2006/relationships/image" Target="../media/image157.png"/><Relationship Id="rId20" Type="http://schemas.openxmlformats.org/officeDocument/2006/relationships/image" Target="../media/image158.png"/><Relationship Id="rId21" Type="http://schemas.openxmlformats.org/officeDocument/2006/relationships/image" Target="../media/image159.png"/><Relationship Id="rId22" Type="http://schemas.openxmlformats.org/officeDocument/2006/relationships/image" Target="../media/image160.png"/><Relationship Id="rId23" Type="http://schemas.openxmlformats.org/officeDocument/2006/relationships/image" Target="../media/image161.png"/><Relationship Id="rId24" Type="http://schemas.openxmlformats.org/officeDocument/2006/relationships/image" Target="../media/image162.png"/><Relationship Id="rId25" Type="http://schemas.openxmlformats.org/officeDocument/2006/relationships/image" Target="../media/image163.png"/><Relationship Id="rId26" Type="http://schemas.openxmlformats.org/officeDocument/2006/relationships/image" Target="../media/image164.png"/><Relationship Id="rId27" Type="http://schemas.openxmlformats.org/officeDocument/2006/relationships/image" Target="../media/image165.png"/><Relationship Id="rId28" Type="http://schemas.openxmlformats.org/officeDocument/2006/relationships/image" Target="../media/image166.png"/><Relationship Id="rId29" Type="http://schemas.openxmlformats.org/officeDocument/2006/relationships/image" Target="../media/image167.png"/><Relationship Id="rId30" Type="http://schemas.openxmlformats.org/officeDocument/2006/relationships/image" Target="../media/image168.png"/><Relationship Id="rId31" Type="http://schemas.openxmlformats.org/officeDocument/2006/relationships/image" Target="../media/image169.png"/><Relationship Id="rId32" Type="http://schemas.openxmlformats.org/officeDocument/2006/relationships/image" Target="../media/image170.png"/><Relationship Id="rId33" Type="http://schemas.openxmlformats.org/officeDocument/2006/relationships/image" Target="../media/image171.png"/><Relationship Id="rId34" Type="http://schemas.openxmlformats.org/officeDocument/2006/relationships/image" Target="../media/image172.png"/><Relationship Id="rId35" Type="http://schemas.openxmlformats.org/officeDocument/2006/relationships/image" Target="../media/image173.png"/><Relationship Id="rId36" Type="http://schemas.openxmlformats.org/officeDocument/2006/relationships/image" Target="../media/image174.png"/><Relationship Id="rId37" Type="http://schemas.openxmlformats.org/officeDocument/2006/relationships/image" Target="../media/image175.png"/><Relationship Id="rId38" Type="http://schemas.openxmlformats.org/officeDocument/2006/relationships/image" Target="../media/image176.png"/><Relationship Id="rId39" Type="http://schemas.openxmlformats.org/officeDocument/2006/relationships/image" Target="../media/image177.png"/><Relationship Id="rId40" Type="http://schemas.openxmlformats.org/officeDocument/2006/relationships/image" Target="../media/image178.png"/><Relationship Id="rId41" Type="http://schemas.openxmlformats.org/officeDocument/2006/relationships/image" Target="../media/image179.png"/><Relationship Id="rId42" Type="http://schemas.openxmlformats.org/officeDocument/2006/relationships/image" Target="../media/image180.png"/><Relationship Id="rId43" Type="http://schemas.openxmlformats.org/officeDocument/2006/relationships/image" Target="../media/image181.png"/><Relationship Id="rId44" Type="http://schemas.openxmlformats.org/officeDocument/2006/relationships/image" Target="../media/image182.png"/><Relationship Id="rId45" Type="http://schemas.openxmlformats.org/officeDocument/2006/relationships/image" Target="../media/image183.png"/><Relationship Id="rId46" Type="http://schemas.openxmlformats.org/officeDocument/2006/relationships/image" Target="../media/image184.png"/><Relationship Id="rId47" Type="http://schemas.openxmlformats.org/officeDocument/2006/relationships/image" Target="../media/image185.png"/></Relationships>
</file>

<file path=ppt/charts/_rels/chart25.xml.rels><?xml version='1.0' encoding='UTF-8' standalone='yes'?>
<Relationships xmlns="http://schemas.openxmlformats.org/package/2006/relationships"><Relationship Id="rId2" Type="http://schemas.openxmlformats.org/officeDocument/2006/relationships/image" Target="../media/image186.png"/><Relationship Id="rId3" Type="http://schemas.openxmlformats.org/officeDocument/2006/relationships/image" Target="../media/image187.png"/><Relationship Id="rId4" Type="http://schemas.openxmlformats.org/officeDocument/2006/relationships/image" Target="../media/image188.png"/><Relationship Id="rId5" Type="http://schemas.openxmlformats.org/officeDocument/2006/relationships/image" Target="../media/image189.png"/><Relationship Id="rId6" Type="http://schemas.openxmlformats.org/officeDocument/2006/relationships/image" Target="../media/image190.png"/><Relationship Id="rId7" Type="http://schemas.openxmlformats.org/officeDocument/2006/relationships/image" Target="../media/image191.png"/><Relationship Id="rId8" Type="http://schemas.openxmlformats.org/officeDocument/2006/relationships/image" Target="../media/image192.png"/><Relationship Id="rId9" Type="http://schemas.openxmlformats.org/officeDocument/2006/relationships/image" Target="../media/image193.png"/><Relationship Id="rId10" Type="http://schemas.openxmlformats.org/officeDocument/2006/relationships/image" Target="../media/image194.png"/><Relationship Id="rId11" Type="http://schemas.openxmlformats.org/officeDocument/2006/relationships/image" Target="../media/image195.png"/><Relationship Id="rId12" Type="http://schemas.openxmlformats.org/officeDocument/2006/relationships/image" Target="../media/image196.png"/><Relationship Id="rId13" Type="http://schemas.openxmlformats.org/officeDocument/2006/relationships/image" Target="../media/image197.png"/><Relationship Id="rId14" Type="http://schemas.openxmlformats.org/officeDocument/2006/relationships/image" Target="../media/image198.png"/><Relationship Id="rId15" Type="http://schemas.openxmlformats.org/officeDocument/2006/relationships/image" Target="../media/image199.png"/><Relationship Id="rId16" Type="http://schemas.openxmlformats.org/officeDocument/2006/relationships/image" Target="../media/image200.png"/><Relationship Id="rId17" Type="http://schemas.openxmlformats.org/officeDocument/2006/relationships/image" Target="../media/image201.png"/><Relationship Id="rId18" Type="http://schemas.openxmlformats.org/officeDocument/2006/relationships/image" Target="../media/image202.png"/><Relationship Id="rId19" Type="http://schemas.openxmlformats.org/officeDocument/2006/relationships/image" Target="../media/image203.png"/><Relationship Id="rId20" Type="http://schemas.openxmlformats.org/officeDocument/2006/relationships/image" Target="../media/image204.png"/><Relationship Id="rId21" Type="http://schemas.openxmlformats.org/officeDocument/2006/relationships/image" Target="../media/image205.png"/><Relationship Id="rId22" Type="http://schemas.openxmlformats.org/officeDocument/2006/relationships/image" Target="../media/image206.png"/><Relationship Id="rId23" Type="http://schemas.openxmlformats.org/officeDocument/2006/relationships/image" Target="../media/image207.png"/></Relationships>
</file>

<file path=ppt/charts/_rels/chart26.xml.rels><?xml version='1.0' encoding='UTF-8' standalone='yes'?>
<Relationships xmlns="http://schemas.openxmlformats.org/package/2006/relationships"><Relationship Id="rId2" Type="http://schemas.openxmlformats.org/officeDocument/2006/relationships/image" Target="../media/image213.png"/><Relationship Id="rId3" Type="http://schemas.openxmlformats.org/officeDocument/2006/relationships/image" Target="../media/image214.png"/><Relationship Id="rId4" Type="http://schemas.openxmlformats.org/officeDocument/2006/relationships/image" Target="../media/image215.png"/><Relationship Id="rId5" Type="http://schemas.openxmlformats.org/officeDocument/2006/relationships/image" Target="../media/image216.png"/><Relationship Id="rId6" Type="http://schemas.openxmlformats.org/officeDocument/2006/relationships/image" Target="../media/image217.png"/><Relationship Id="rId7" Type="http://schemas.openxmlformats.org/officeDocument/2006/relationships/image" Target="../media/image218.png"/><Relationship Id="rId8" Type="http://schemas.openxmlformats.org/officeDocument/2006/relationships/image" Target="../media/image219.png"/><Relationship Id="rId9" Type="http://schemas.openxmlformats.org/officeDocument/2006/relationships/image" Target="../media/image220.png"/><Relationship Id="rId10" Type="http://schemas.openxmlformats.org/officeDocument/2006/relationships/image" Target="../media/image221.png"/><Relationship Id="rId11" Type="http://schemas.openxmlformats.org/officeDocument/2006/relationships/image" Target="../media/image222.png"/><Relationship Id="rId12" Type="http://schemas.openxmlformats.org/officeDocument/2006/relationships/image" Target="../media/image223.png"/><Relationship Id="rId13" Type="http://schemas.openxmlformats.org/officeDocument/2006/relationships/image" Target="../media/image224.png"/><Relationship Id="rId14" Type="http://schemas.openxmlformats.org/officeDocument/2006/relationships/image" Target="../media/image225.png"/><Relationship Id="rId15" Type="http://schemas.openxmlformats.org/officeDocument/2006/relationships/image" Target="../media/image226.png"/></Relationships>
</file>

<file path=ppt/charts/_rels/chart30.xml.rels><?xml version='1.0' encoding='UTF-8' standalone='yes'?>
<Relationships xmlns="http://schemas.openxmlformats.org/package/2006/relationships"><Relationship Id="rId2" Type="http://schemas.openxmlformats.org/officeDocument/2006/relationships/image" Target="../media/image227.png"/><Relationship Id="rId3" Type="http://schemas.openxmlformats.org/officeDocument/2006/relationships/image" Target="../media/image228.png"/><Relationship Id="rId4" Type="http://schemas.openxmlformats.org/officeDocument/2006/relationships/image" Target="../media/image229.png"/><Relationship Id="rId5" Type="http://schemas.openxmlformats.org/officeDocument/2006/relationships/image" Target="../media/image230.png"/><Relationship Id="rId6" Type="http://schemas.openxmlformats.org/officeDocument/2006/relationships/image" Target="../media/image231.png"/><Relationship Id="rId7" Type="http://schemas.openxmlformats.org/officeDocument/2006/relationships/image" Target="../media/image232.png"/></Relationships>
</file>

<file path=ppt/charts/_rels/chart31.xml.rels><?xml version='1.0' encoding='UTF-8' standalone='yes'?>
<Relationships xmlns="http://schemas.openxmlformats.org/package/2006/relationships"><Relationship Id="rId2" Type="http://schemas.openxmlformats.org/officeDocument/2006/relationships/image" Target="../media/image244.png"/><Relationship Id="rId3" Type="http://schemas.openxmlformats.org/officeDocument/2006/relationships/image" Target="../media/image245.png"/><Relationship Id="rId4" Type="http://schemas.openxmlformats.org/officeDocument/2006/relationships/image" Target="../media/image246.png"/><Relationship Id="rId5" Type="http://schemas.openxmlformats.org/officeDocument/2006/relationships/image" Target="../media/image247.png"/><Relationship Id="rId6" Type="http://schemas.openxmlformats.org/officeDocument/2006/relationships/image" Target="../media/image248.png"/><Relationship Id="rId7" Type="http://schemas.openxmlformats.org/officeDocument/2006/relationships/image" Target="../media/image249.png"/><Relationship Id="rId8" Type="http://schemas.openxmlformats.org/officeDocument/2006/relationships/image" Target="../media/image250.png"/><Relationship Id="rId9" Type="http://schemas.openxmlformats.org/officeDocument/2006/relationships/image" Target="../media/image251.png"/><Relationship Id="rId10" Type="http://schemas.openxmlformats.org/officeDocument/2006/relationships/image" Target="../media/image252.png"/><Relationship Id="rId11" Type="http://schemas.openxmlformats.org/officeDocument/2006/relationships/image" Target="../media/image253.png"/><Relationship Id="rId12" Type="http://schemas.openxmlformats.org/officeDocument/2006/relationships/image" Target="../media/image254.png"/><Relationship Id="rId13" Type="http://schemas.openxmlformats.org/officeDocument/2006/relationships/image" Target="../media/image255.png"/><Relationship Id="rId14" Type="http://schemas.openxmlformats.org/officeDocument/2006/relationships/image" Target="../media/image256.png"/><Relationship Id="rId15" Type="http://schemas.openxmlformats.org/officeDocument/2006/relationships/image" Target="../media/image257.png"/><Relationship Id="rId16" Type="http://schemas.openxmlformats.org/officeDocument/2006/relationships/image" Target="../media/image258.png"/><Relationship Id="rId17" Type="http://schemas.openxmlformats.org/officeDocument/2006/relationships/image" Target="../media/image259.png"/><Relationship Id="rId18" Type="http://schemas.openxmlformats.org/officeDocument/2006/relationships/image" Target="../media/image260.png"/><Relationship Id="rId19" Type="http://schemas.openxmlformats.org/officeDocument/2006/relationships/image" Target="../media/image261.png"/><Relationship Id="rId20" Type="http://schemas.openxmlformats.org/officeDocument/2006/relationships/image" Target="../media/image262.png"/><Relationship Id="rId21" Type="http://schemas.openxmlformats.org/officeDocument/2006/relationships/image" Target="../media/image263.png"/><Relationship Id="rId22" Type="http://schemas.openxmlformats.org/officeDocument/2006/relationships/image" Target="../media/image264.png"/><Relationship Id="rId23" Type="http://schemas.openxmlformats.org/officeDocument/2006/relationships/image" Target="../media/image265.png"/><Relationship Id="rId24" Type="http://schemas.openxmlformats.org/officeDocument/2006/relationships/image" Target="../media/image266.png"/><Relationship Id="rId25" Type="http://schemas.openxmlformats.org/officeDocument/2006/relationships/image" Target="../media/image267.png"/><Relationship Id="rId26" Type="http://schemas.openxmlformats.org/officeDocument/2006/relationships/image" Target="../media/image268.png"/><Relationship Id="rId27" Type="http://schemas.openxmlformats.org/officeDocument/2006/relationships/image" Target="../media/image269.png"/></Relationships>
</file>

<file path=ppt/charts/_rels/chart37.xml.rels><?xml version='1.0' encoding='UTF-8' standalone='yes'?>
<Relationships xmlns="http://schemas.openxmlformats.org/package/2006/relationships"><Relationship Id="rId2" Type="http://schemas.openxmlformats.org/officeDocument/2006/relationships/image" Target="../media/image270.png"/><Relationship Id="rId3" Type="http://schemas.openxmlformats.org/officeDocument/2006/relationships/image" Target="../media/image271.png"/><Relationship Id="rId4" Type="http://schemas.openxmlformats.org/officeDocument/2006/relationships/image" Target="../media/image272.png"/><Relationship Id="rId5" Type="http://schemas.openxmlformats.org/officeDocument/2006/relationships/image" Target="../media/image273.png"/><Relationship Id="rId6" Type="http://schemas.openxmlformats.org/officeDocument/2006/relationships/image" Target="../media/image274.png"/><Relationship Id="rId7" Type="http://schemas.openxmlformats.org/officeDocument/2006/relationships/image" Target="../media/image275.png"/><Relationship Id="rId8" Type="http://schemas.openxmlformats.org/officeDocument/2006/relationships/image" Target="../media/image276.png"/><Relationship Id="rId9" Type="http://schemas.openxmlformats.org/officeDocument/2006/relationships/image" Target="../media/image277.png"/><Relationship Id="rId10" Type="http://schemas.openxmlformats.org/officeDocument/2006/relationships/image" Target="../media/image278.png"/><Relationship Id="rId11" Type="http://schemas.openxmlformats.org/officeDocument/2006/relationships/image" Target="../media/image279.png"/><Relationship Id="rId12" Type="http://schemas.openxmlformats.org/officeDocument/2006/relationships/image" Target="../media/image280.png"/><Relationship Id="rId13" Type="http://schemas.openxmlformats.org/officeDocument/2006/relationships/image" Target="../media/image281.png"/></Relationships>
</file>

<file path=ppt/charts/_rels/chart49.xml.rels><?xml version='1.0' encoding='UTF-8' standalone='yes'?>
<Relationships xmlns="http://schemas.openxmlformats.org/package/2006/relationships"><Relationship Id="rId2" Type="http://schemas.openxmlformats.org/officeDocument/2006/relationships/image" Target="../media/image306.png"/><Relationship Id="rId3" Type="http://schemas.openxmlformats.org/officeDocument/2006/relationships/image" Target="../media/image307.png"/><Relationship Id="rId4" Type="http://schemas.openxmlformats.org/officeDocument/2006/relationships/image" Target="../media/image308.png"/><Relationship Id="rId5" Type="http://schemas.openxmlformats.org/officeDocument/2006/relationships/image" Target="../media/image309.png"/><Relationship Id="rId6" Type="http://schemas.openxmlformats.org/officeDocument/2006/relationships/image" Target="../media/image310.png"/><Relationship Id="rId7" Type="http://schemas.openxmlformats.org/officeDocument/2006/relationships/image" Target="../media/image311.png"/><Relationship Id="rId8" Type="http://schemas.openxmlformats.org/officeDocument/2006/relationships/image" Target="../media/image312.png"/><Relationship Id="rId9" Type="http://schemas.openxmlformats.org/officeDocument/2006/relationships/image" Target="../media/image313.png"/><Relationship Id="rId10" Type="http://schemas.openxmlformats.org/officeDocument/2006/relationships/image" Target="../media/image314.png"/><Relationship Id="rId11" Type="http://schemas.openxmlformats.org/officeDocument/2006/relationships/image" Target="../media/image315.png"/><Relationship Id="rId12" Type="http://schemas.openxmlformats.org/officeDocument/2006/relationships/image" Target="../media/image316.png"/><Relationship Id="rId13" Type="http://schemas.openxmlformats.org/officeDocument/2006/relationships/image" Target="../media/image317.png"/><Relationship Id="rId14" Type="http://schemas.openxmlformats.org/officeDocument/2006/relationships/image" Target="../media/image318.png"/><Relationship Id="rId15" Type="http://schemas.openxmlformats.org/officeDocument/2006/relationships/image" Target="../media/image319.png"/><Relationship Id="rId16" Type="http://schemas.openxmlformats.org/officeDocument/2006/relationships/image" Target="../media/image320.png"/><Relationship Id="rId17" Type="http://schemas.openxmlformats.org/officeDocument/2006/relationships/image" Target="../media/image321.png"/><Relationship Id="rId18" Type="http://schemas.openxmlformats.org/officeDocument/2006/relationships/image" Target="../media/image322.png"/><Relationship Id="rId19" Type="http://schemas.openxmlformats.org/officeDocument/2006/relationships/image" Target="../media/image323.png"/><Relationship Id="rId20" Type="http://schemas.openxmlformats.org/officeDocument/2006/relationships/image" Target="../media/image324.png"/><Relationship Id="rId21" Type="http://schemas.openxmlformats.org/officeDocument/2006/relationships/image" Target="../media/image325.png"/><Relationship Id="rId22" Type="http://schemas.openxmlformats.org/officeDocument/2006/relationships/image" Target="../media/image326.png"/><Relationship Id="rId23" Type="http://schemas.openxmlformats.org/officeDocument/2006/relationships/image" Target="../media/image327.png"/><Relationship Id="rId24" Type="http://schemas.openxmlformats.org/officeDocument/2006/relationships/image" Target="../media/image328.png"/><Relationship Id="rId25" Type="http://schemas.openxmlformats.org/officeDocument/2006/relationships/image" Target="../media/image329.png"/><Relationship Id="rId26" Type="http://schemas.openxmlformats.org/officeDocument/2006/relationships/image" Target="../media/image330.png"/></Relationships>
</file>

<file path=ppt/charts/_rels/chart50.xml.rels><?xml version='1.0' encoding='UTF-8' standalone='yes'?>
<Relationships xmlns="http://schemas.openxmlformats.org/package/2006/relationships"><Relationship Id="rId2" Type="http://schemas.openxmlformats.org/officeDocument/2006/relationships/image" Target="../media/image346.png"/><Relationship Id="rId3" Type="http://schemas.openxmlformats.org/officeDocument/2006/relationships/image" Target="../media/image347.png"/><Relationship Id="rId4" Type="http://schemas.openxmlformats.org/officeDocument/2006/relationships/image" Target="../media/image348.png"/><Relationship Id="rId5" Type="http://schemas.openxmlformats.org/officeDocument/2006/relationships/image" Target="../media/image349.png"/><Relationship Id="rId6" Type="http://schemas.openxmlformats.org/officeDocument/2006/relationships/image" Target="../media/image350.png"/><Relationship Id="rId7" Type="http://schemas.openxmlformats.org/officeDocument/2006/relationships/image" Target="../media/image351.png"/><Relationship Id="rId8" Type="http://schemas.openxmlformats.org/officeDocument/2006/relationships/image" Target="../media/image352.png"/><Relationship Id="rId9" Type="http://schemas.openxmlformats.org/officeDocument/2006/relationships/image" Target="../media/image353.png"/><Relationship Id="rId10" Type="http://schemas.openxmlformats.org/officeDocument/2006/relationships/image" Target="../media/image354.png"/><Relationship Id="rId11" Type="http://schemas.openxmlformats.org/officeDocument/2006/relationships/image" Target="../media/image355.png"/><Relationship Id="rId12" Type="http://schemas.openxmlformats.org/officeDocument/2006/relationships/image" Target="../media/image356.png"/><Relationship Id="rId13" Type="http://schemas.openxmlformats.org/officeDocument/2006/relationships/image" Target="../media/image357.png"/><Relationship Id="rId14" Type="http://schemas.openxmlformats.org/officeDocument/2006/relationships/image" Target="../media/image358.png"/><Relationship Id="rId15" Type="http://schemas.openxmlformats.org/officeDocument/2006/relationships/image" Target="../media/image359.png"/><Relationship Id="rId16" Type="http://schemas.openxmlformats.org/officeDocument/2006/relationships/image" Target="../media/image360.png"/><Relationship Id="rId17" Type="http://schemas.openxmlformats.org/officeDocument/2006/relationships/image" Target="../media/image361.png"/><Relationship Id="rId18" Type="http://schemas.openxmlformats.org/officeDocument/2006/relationships/image" Target="../media/image362.png"/><Relationship Id="rId19" Type="http://schemas.openxmlformats.org/officeDocument/2006/relationships/image" Target="../media/image363.png"/><Relationship Id="rId20" Type="http://schemas.openxmlformats.org/officeDocument/2006/relationships/image" Target="../media/image364.png"/><Relationship Id="rId21" Type="http://schemas.openxmlformats.org/officeDocument/2006/relationships/image" Target="../media/image365.png"/><Relationship Id="rId22" Type="http://schemas.openxmlformats.org/officeDocument/2006/relationships/image" Target="../media/image366.png"/><Relationship Id="rId23" Type="http://schemas.openxmlformats.org/officeDocument/2006/relationships/image" Target="../media/image367.png"/><Relationship Id="rId24" Type="http://schemas.openxmlformats.org/officeDocument/2006/relationships/image" Target="../media/image368.png"/><Relationship Id="rId25" Type="http://schemas.openxmlformats.org/officeDocument/2006/relationships/image" Target="../media/image369.png"/><Relationship Id="rId26" Type="http://schemas.openxmlformats.org/officeDocument/2006/relationships/image" Target="../media/image370.png"/><Relationship Id="rId27" Type="http://schemas.openxmlformats.org/officeDocument/2006/relationships/image" Target="../media/image371.png"/><Relationship Id="rId28" Type="http://schemas.openxmlformats.org/officeDocument/2006/relationships/image" Target="../media/image372.png"/><Relationship Id="rId29" Type="http://schemas.openxmlformats.org/officeDocument/2006/relationships/image" Target="../media/image373.png"/><Relationship Id="rId30" Type="http://schemas.openxmlformats.org/officeDocument/2006/relationships/image" Target="../media/image374.png"/><Relationship Id="rId31" Type="http://schemas.openxmlformats.org/officeDocument/2006/relationships/image" Target="../media/image375.png"/><Relationship Id="rId32" Type="http://schemas.openxmlformats.org/officeDocument/2006/relationships/image" Target="../media/image376.png"/><Relationship Id="rId33" Type="http://schemas.openxmlformats.org/officeDocument/2006/relationships/image" Target="../media/image377.png"/><Relationship Id="rId34" Type="http://schemas.openxmlformats.org/officeDocument/2006/relationships/image" Target="../media/image378.png"/></Relationships>
</file>

<file path=ppt/charts/_rels/chart58.xml.rels><?xml version='1.0' encoding='UTF-8' standalone='yes'?>
<Relationships xmlns="http://schemas.openxmlformats.org/package/2006/relationships"><Relationship Id="rId2" Type="http://schemas.openxmlformats.org/officeDocument/2006/relationships/image" Target="../media/image379.png"/><Relationship Id="rId3" Type="http://schemas.openxmlformats.org/officeDocument/2006/relationships/image" Target="../media/image380.png"/><Relationship Id="rId4" Type="http://schemas.openxmlformats.org/officeDocument/2006/relationships/image" Target="../media/image381.png"/><Relationship Id="rId5" Type="http://schemas.openxmlformats.org/officeDocument/2006/relationships/image" Target="../media/image382.png"/><Relationship Id="rId6" Type="http://schemas.openxmlformats.org/officeDocument/2006/relationships/image" Target="../media/image383.png"/><Relationship Id="rId7" Type="http://schemas.openxmlformats.org/officeDocument/2006/relationships/image" Target="../media/image384.png"/><Relationship Id="rId8" Type="http://schemas.openxmlformats.org/officeDocument/2006/relationships/image" Target="../media/image385.png"/><Relationship Id="rId9" Type="http://schemas.openxmlformats.org/officeDocument/2006/relationships/image" Target="../media/image386.png"/><Relationship Id="rId10" Type="http://schemas.openxmlformats.org/officeDocument/2006/relationships/image" Target="../media/image387.png"/><Relationship Id="rId11" Type="http://schemas.openxmlformats.org/officeDocument/2006/relationships/image" Target="../media/image388.png"/><Relationship Id="rId12" Type="http://schemas.openxmlformats.org/officeDocument/2006/relationships/image" Target="../media/image389.png"/><Relationship Id="rId13" Type="http://schemas.openxmlformats.org/officeDocument/2006/relationships/image" Target="../media/image390.png"/><Relationship Id="rId14" Type="http://schemas.openxmlformats.org/officeDocument/2006/relationships/image" Target="../media/image391.png"/><Relationship Id="rId15" Type="http://schemas.openxmlformats.org/officeDocument/2006/relationships/image" Target="../media/image392.png"/><Relationship Id="rId16" Type="http://schemas.openxmlformats.org/officeDocument/2006/relationships/image" Target="../media/image393.png"/><Relationship Id="rId17" Type="http://schemas.openxmlformats.org/officeDocument/2006/relationships/image" Target="../media/image394.png"/><Relationship Id="rId18" Type="http://schemas.openxmlformats.org/officeDocument/2006/relationships/image" Target="../media/image395.png"/></Relationships>
</file>

<file path=ppt/charts/_rels/chart59.xml.rels><?xml version='1.0' encoding='UTF-8' standalone='yes'?>
<Relationships xmlns="http://schemas.openxmlformats.org/package/2006/relationships"><Relationship Id="rId2" Type="http://schemas.openxmlformats.org/officeDocument/2006/relationships/image" Target="../media/image409.png"/><Relationship Id="rId3" Type="http://schemas.openxmlformats.org/officeDocument/2006/relationships/image" Target="../media/image410.png"/><Relationship Id="rId4" Type="http://schemas.openxmlformats.org/officeDocument/2006/relationships/image" Target="../media/image411.png"/><Relationship Id="rId5" Type="http://schemas.openxmlformats.org/officeDocument/2006/relationships/image" Target="../media/image412.png"/><Relationship Id="rId6" Type="http://schemas.openxmlformats.org/officeDocument/2006/relationships/image" Target="../media/image413.png"/><Relationship Id="rId7" Type="http://schemas.openxmlformats.org/officeDocument/2006/relationships/image" Target="../media/image414.png"/><Relationship Id="rId8" Type="http://schemas.openxmlformats.org/officeDocument/2006/relationships/image" Target="../media/image415.png"/><Relationship Id="rId9" Type="http://schemas.openxmlformats.org/officeDocument/2006/relationships/image" Target="../media/image416.png"/><Relationship Id="rId10" Type="http://schemas.openxmlformats.org/officeDocument/2006/relationships/image" Target="../media/image417.png"/><Relationship Id="rId11" Type="http://schemas.openxmlformats.org/officeDocument/2006/relationships/image" Target="../media/image418.png"/><Relationship Id="rId12" Type="http://schemas.openxmlformats.org/officeDocument/2006/relationships/image" Target="../media/image419.png"/><Relationship Id="rId13" Type="http://schemas.openxmlformats.org/officeDocument/2006/relationships/image" Target="../media/image420.png"/><Relationship Id="rId14" Type="http://schemas.openxmlformats.org/officeDocument/2006/relationships/image" Target="../media/image421.png"/><Relationship Id="rId15" Type="http://schemas.openxmlformats.org/officeDocument/2006/relationships/image" Target="../media/image422.png"/><Relationship Id="rId16" Type="http://schemas.openxmlformats.org/officeDocument/2006/relationships/image" Target="../media/image423.png"/><Relationship Id="rId17" Type="http://schemas.openxmlformats.org/officeDocument/2006/relationships/image" Target="../media/image424.png"/><Relationship Id="rId18" Type="http://schemas.openxmlformats.org/officeDocument/2006/relationships/image" Target="../media/image425.png"/><Relationship Id="rId19" Type="http://schemas.openxmlformats.org/officeDocument/2006/relationships/image" Target="../media/image426.png"/><Relationship Id="rId20" Type="http://schemas.openxmlformats.org/officeDocument/2006/relationships/image" Target="../media/image427.png"/><Relationship Id="rId21" Type="http://schemas.openxmlformats.org/officeDocument/2006/relationships/image" Target="../media/image428.png"/><Relationship Id="rId22" Type="http://schemas.openxmlformats.org/officeDocument/2006/relationships/image" Target="../media/image429.png"/><Relationship Id="rId23" Type="http://schemas.openxmlformats.org/officeDocument/2006/relationships/image" Target="../media/image430.png"/><Relationship Id="rId24" Type="http://schemas.openxmlformats.org/officeDocument/2006/relationships/image" Target="../media/image431.png"/><Relationship Id="rId25" Type="http://schemas.openxmlformats.org/officeDocument/2006/relationships/image" Target="../media/image432.png"/><Relationship Id="rId26" Type="http://schemas.openxmlformats.org/officeDocument/2006/relationships/image" Target="../media/image433.png"/><Relationship Id="rId27" Type="http://schemas.openxmlformats.org/officeDocument/2006/relationships/image" Target="../media/image434.png"/><Relationship Id="rId28" Type="http://schemas.openxmlformats.org/officeDocument/2006/relationships/image" Target="../media/image435.png"/><Relationship Id="rId29" Type="http://schemas.openxmlformats.org/officeDocument/2006/relationships/image" Target="../media/image436.png"/><Relationship Id="rId30" Type="http://schemas.openxmlformats.org/officeDocument/2006/relationships/image" Target="../media/image437.png"/><Relationship Id="rId31" Type="http://schemas.openxmlformats.org/officeDocument/2006/relationships/image" Target="../media/image438.png"/><Relationship Id="rId32" Type="http://schemas.openxmlformats.org/officeDocument/2006/relationships/image" Target="../media/image439.png"/><Relationship Id="rId33" Type="http://schemas.openxmlformats.org/officeDocument/2006/relationships/image" Target="../media/image440.png"/></Relationships>
</file>

<file path=ppt/charts/_rels/chart66.xml.rels><?xml version='1.0' encoding='UTF-8' standalone='yes'?>
<Relationships xmlns="http://schemas.openxmlformats.org/package/2006/relationships"><Relationship Id="rId2" Type="http://schemas.openxmlformats.org/officeDocument/2006/relationships/image" Target="../media/image441.png"/><Relationship Id="rId3" Type="http://schemas.openxmlformats.org/officeDocument/2006/relationships/image" Target="../media/image442.png"/><Relationship Id="rId4" Type="http://schemas.openxmlformats.org/officeDocument/2006/relationships/image" Target="../media/image443.png"/><Relationship Id="rId5" Type="http://schemas.openxmlformats.org/officeDocument/2006/relationships/image" Target="../media/image444.png"/><Relationship Id="rId6" Type="http://schemas.openxmlformats.org/officeDocument/2006/relationships/image" Target="../media/image445.png"/><Relationship Id="rId7" Type="http://schemas.openxmlformats.org/officeDocument/2006/relationships/image" Target="../media/image446.png"/><Relationship Id="rId8" Type="http://schemas.openxmlformats.org/officeDocument/2006/relationships/image" Target="../media/image447.png"/><Relationship Id="rId9" Type="http://schemas.openxmlformats.org/officeDocument/2006/relationships/image" Target="../media/image448.png"/><Relationship Id="rId10" Type="http://schemas.openxmlformats.org/officeDocument/2006/relationships/image" Target="../media/image449.png"/><Relationship Id="rId11" Type="http://schemas.openxmlformats.org/officeDocument/2006/relationships/image" Target="../media/image450.png"/><Relationship Id="rId12" Type="http://schemas.openxmlformats.org/officeDocument/2006/relationships/image" Target="../media/image451.png"/><Relationship Id="rId13" Type="http://schemas.openxmlformats.org/officeDocument/2006/relationships/image" Target="../media/image452.png"/><Relationship Id="rId14" Type="http://schemas.openxmlformats.org/officeDocument/2006/relationships/image" Target="../media/image453.png"/><Relationship Id="rId15" Type="http://schemas.openxmlformats.org/officeDocument/2006/relationships/image" Target="../media/image454.png"/><Relationship Id="rId16" Type="http://schemas.openxmlformats.org/officeDocument/2006/relationships/image" Target="../media/image455.png"/></Relationships>
</file>

<file path=ppt/charts/_rels/chart67.xml.rels><?xml version='1.0' encoding='UTF-8' standalone='yes'?>
<Relationships xmlns="http://schemas.openxmlformats.org/package/2006/relationships"><Relationship Id="rId2" Type="http://schemas.openxmlformats.org/officeDocument/2006/relationships/image" Target="../media/image456.png"/></Relationships>
</file>

<file path=ppt/charts/_rels/chart69.xml.rels><?xml version='1.0' encoding='UTF-8' standalone='yes'?>
<Relationships xmlns="http://schemas.openxmlformats.org/package/2006/relationships"><Relationship Id="rId2" Type="http://schemas.openxmlformats.org/officeDocument/2006/relationships/image" Target="../media/image457.png"/></Relationships>
</file>

<file path=ppt/charts/_rels/chart71.xml.rels><?xml version='1.0' encoding='UTF-8' standalone='yes'?>
<Relationships xmlns="http://schemas.openxmlformats.org/package/2006/relationships"><Relationship Id="rId2" Type="http://schemas.openxmlformats.org/officeDocument/2006/relationships/image" Target="../media/image458.png"/><Relationship Id="rId3" Type="http://schemas.openxmlformats.org/officeDocument/2006/relationships/image" Target="../media/image459.png"/><Relationship Id="rId4" Type="http://schemas.openxmlformats.org/officeDocument/2006/relationships/image" Target="../media/image460.png"/><Relationship Id="rId5" Type="http://schemas.openxmlformats.org/officeDocument/2006/relationships/image" Target="../media/image461.png"/><Relationship Id="rId6" Type="http://schemas.openxmlformats.org/officeDocument/2006/relationships/image" Target="../media/image462.png"/><Relationship Id="rId7" Type="http://schemas.openxmlformats.org/officeDocument/2006/relationships/image" Target="../media/image463.png"/><Relationship Id="rId8" Type="http://schemas.openxmlformats.org/officeDocument/2006/relationships/image" Target="../media/image464.png"/><Relationship Id="rId9" Type="http://schemas.openxmlformats.org/officeDocument/2006/relationships/image" Target="../media/image465.png"/><Relationship Id="rId10" Type="http://schemas.openxmlformats.org/officeDocument/2006/relationships/image" Target="../media/image466.png"/><Relationship Id="rId11" Type="http://schemas.openxmlformats.org/officeDocument/2006/relationships/image" Target="../media/image467.png"/></Relationships>
</file>

<file path=ppt/charts/_rels/chart72.xml.rels><?xml version='1.0' encoding='UTF-8' standalone='yes'?>
<Relationships xmlns="http://schemas.openxmlformats.org/package/2006/relationships"><Relationship Id="rId2" Type="http://schemas.openxmlformats.org/officeDocument/2006/relationships/image" Target="../media/image468.png"/><Relationship Id="rId3" Type="http://schemas.openxmlformats.org/officeDocument/2006/relationships/image" Target="../media/image469.png"/><Relationship Id="rId4" Type="http://schemas.openxmlformats.org/officeDocument/2006/relationships/image" Target="../media/image470.png"/><Relationship Id="rId5" Type="http://schemas.openxmlformats.org/officeDocument/2006/relationships/image" Target="../media/image471.png"/><Relationship Id="rId6" Type="http://schemas.openxmlformats.org/officeDocument/2006/relationships/image" Target="../media/image472.png"/><Relationship Id="rId7" Type="http://schemas.openxmlformats.org/officeDocument/2006/relationships/image" Target="../media/image473.png"/><Relationship Id="rId8" Type="http://schemas.openxmlformats.org/officeDocument/2006/relationships/image" Target="../media/image474.png"/><Relationship Id="rId9" Type="http://schemas.openxmlformats.org/officeDocument/2006/relationships/image" Target="../media/image475.png"/><Relationship Id="rId10" Type="http://schemas.openxmlformats.org/officeDocument/2006/relationships/image" Target="../media/image476.png"/><Relationship Id="rId11" Type="http://schemas.openxmlformats.org/officeDocument/2006/relationships/image" Target="../media/image477.png"/><Relationship Id="rId12" Type="http://schemas.openxmlformats.org/officeDocument/2006/relationships/image" Target="../media/image478.png"/><Relationship Id="rId13" Type="http://schemas.openxmlformats.org/officeDocument/2006/relationships/image" Target="../media/image479.png"/><Relationship Id="rId14" Type="http://schemas.openxmlformats.org/officeDocument/2006/relationships/image" Target="../media/image480.png"/><Relationship Id="rId15" Type="http://schemas.openxmlformats.org/officeDocument/2006/relationships/image" Target="../media/image481.png"/><Relationship Id="rId16" Type="http://schemas.openxmlformats.org/officeDocument/2006/relationships/image" Target="../media/image482.png"/><Relationship Id="rId17" Type="http://schemas.openxmlformats.org/officeDocument/2006/relationships/image" Target="../media/image483.png"/><Relationship Id="rId18" Type="http://schemas.openxmlformats.org/officeDocument/2006/relationships/image" Target="../media/image484.png"/><Relationship Id="rId19" Type="http://schemas.openxmlformats.org/officeDocument/2006/relationships/image" Target="../media/image485.png"/><Relationship Id="rId20" Type="http://schemas.openxmlformats.org/officeDocument/2006/relationships/image" Target="../media/image486.png"/><Relationship Id="rId21" Type="http://schemas.openxmlformats.org/officeDocument/2006/relationships/image" Target="../media/image487.png"/><Relationship Id="rId22" Type="http://schemas.openxmlformats.org/officeDocument/2006/relationships/image" Target="../media/image488.png"/><Relationship Id="rId23" Type="http://schemas.openxmlformats.org/officeDocument/2006/relationships/image" Target="../media/image489.png"/></Relationships>
</file>

<file path=ppt/charts/_rels/chart73.xml.rels><?xml version='1.0' encoding='UTF-8' standalone='yes'?>
<Relationships xmlns="http://schemas.openxmlformats.org/package/2006/relationships"><Relationship Id="rId2" Type="http://schemas.openxmlformats.org/officeDocument/2006/relationships/image" Target="../media/image490.png"/><Relationship Id="rId3" Type="http://schemas.openxmlformats.org/officeDocument/2006/relationships/image" Target="../media/image491.png"/><Relationship Id="rId4" Type="http://schemas.openxmlformats.org/officeDocument/2006/relationships/image" Target="../media/image492.png"/></Relationships>
</file>

<file path=ppt/charts/_rels/chart74.xml.rels><?xml version='1.0' encoding='UTF-8' standalone='yes'?>
<Relationships xmlns="http://schemas.openxmlformats.org/package/2006/relationships"><Relationship Id="rId2" Type="http://schemas.openxmlformats.org/officeDocument/2006/relationships/image" Target="../media/image493.png"/><Relationship Id="rId3" Type="http://schemas.openxmlformats.org/officeDocument/2006/relationships/image" Target="../media/image494.png"/><Relationship Id="rId4" Type="http://schemas.openxmlformats.org/officeDocument/2006/relationships/image" Target="../media/image495.png"/></Relationships>
</file>

<file path=ppt/charts/_rels/chart75.xml.rels><?xml version='1.0' encoding='UTF-8' standalone='yes'?>
<Relationships xmlns="http://schemas.openxmlformats.org/package/2006/relationships"><Relationship Id="rId2" Type="http://schemas.openxmlformats.org/officeDocument/2006/relationships/image" Target="../media/image496.png"/><Relationship Id="rId3" Type="http://schemas.openxmlformats.org/officeDocument/2006/relationships/image" Target="../media/image497.png"/><Relationship Id="rId4" Type="http://schemas.openxmlformats.org/officeDocument/2006/relationships/image" Target="../media/image498.png"/><Relationship Id="rId5" Type="http://schemas.openxmlformats.org/officeDocument/2006/relationships/image" Target="../media/image499.png"/><Relationship Id="rId6" Type="http://schemas.openxmlformats.org/officeDocument/2006/relationships/image" Target="../media/image500.png"/><Relationship Id="rId7" Type="http://schemas.openxmlformats.org/officeDocument/2006/relationships/image" Target="../media/image501.png"/><Relationship Id="rId8" Type="http://schemas.openxmlformats.org/officeDocument/2006/relationships/image" Target="../media/image502.png"/><Relationship Id="rId9" Type="http://schemas.openxmlformats.org/officeDocument/2006/relationships/image" Target="../media/image503.png"/></Relationships>
</file>

<file path=ppt/charts/_rels/chart77.xml.rels><?xml version='1.0' encoding='UTF-8' standalone='yes'?>
<Relationships xmlns="http://schemas.openxmlformats.org/package/2006/relationships"><Relationship Id="rId2" Type="http://schemas.openxmlformats.org/officeDocument/2006/relationships/image" Target="../media/image504.png"/><Relationship Id="rId3" Type="http://schemas.openxmlformats.org/officeDocument/2006/relationships/image" Target="../media/image505.png"/><Relationship Id="rId4" Type="http://schemas.openxmlformats.org/officeDocument/2006/relationships/image" Target="../media/image506.png"/><Relationship Id="rId5" Type="http://schemas.openxmlformats.org/officeDocument/2006/relationships/image" Target="../media/image507.png"/><Relationship Id="rId6" Type="http://schemas.openxmlformats.org/officeDocument/2006/relationships/image" Target="../media/image508.png"/><Relationship Id="rId7" Type="http://schemas.openxmlformats.org/officeDocument/2006/relationships/image" Target="../media/image509.png"/></Relationships>
</file>

<file path=ppt/charts/_rels/chart78.xml.rels><?xml version='1.0' encoding='UTF-8' standalone='yes'?>
<Relationships xmlns="http://schemas.openxmlformats.org/package/2006/relationships"><Relationship Id="rId2" Type="http://schemas.openxmlformats.org/officeDocument/2006/relationships/image" Target="../media/image510.png"/><Relationship Id="rId3" Type="http://schemas.openxmlformats.org/officeDocument/2006/relationships/image" Target="../media/image511.png"/><Relationship Id="rId4" Type="http://schemas.openxmlformats.org/officeDocument/2006/relationships/image" Target="../media/image512.png"/><Relationship Id="rId5" Type="http://schemas.openxmlformats.org/officeDocument/2006/relationships/image" Target="../media/image513.png"/><Relationship Id="rId6" Type="http://schemas.openxmlformats.org/officeDocument/2006/relationships/image" Target="../media/image514.png"/><Relationship Id="rId7" Type="http://schemas.openxmlformats.org/officeDocument/2006/relationships/image" Target="../media/image515.png"/></Relationships>
</file>

<file path=ppt/charts/_rels/chart79.xml.rels><?xml version='1.0' encoding='UTF-8' standalone='yes'?>
<Relationships xmlns="http://schemas.openxmlformats.org/package/2006/relationships"><Relationship Id="rId2" Type="http://schemas.openxmlformats.org/officeDocument/2006/relationships/image" Target="../media/image516.png"/><Relationship Id="rId3" Type="http://schemas.openxmlformats.org/officeDocument/2006/relationships/image" Target="../media/image517.png"/><Relationship Id="rId4" Type="http://schemas.openxmlformats.org/officeDocument/2006/relationships/image" Target="../media/image518.png"/><Relationship Id="rId5" Type="http://schemas.openxmlformats.org/officeDocument/2006/relationships/image" Target="../media/image519.png"/><Relationship Id="rId6" Type="http://schemas.openxmlformats.org/officeDocument/2006/relationships/image" Target="../media/image520.png"/><Relationship Id="rId7" Type="http://schemas.openxmlformats.org/officeDocument/2006/relationships/image" Target="../media/image521.png"/><Relationship Id="rId8" Type="http://schemas.openxmlformats.org/officeDocument/2006/relationships/image" Target="../media/image522.png"/><Relationship Id="rId9" Type="http://schemas.openxmlformats.org/officeDocument/2006/relationships/image" Target="../media/image523.png"/><Relationship Id="rId10" Type="http://schemas.openxmlformats.org/officeDocument/2006/relationships/image" Target="../media/image524.png"/><Relationship Id="rId11" Type="http://schemas.openxmlformats.org/officeDocument/2006/relationships/image" Target="../media/image525.png"/><Relationship Id="rId12" Type="http://schemas.openxmlformats.org/officeDocument/2006/relationships/image" Target="../media/image526.png"/><Relationship Id="rId13" Type="http://schemas.openxmlformats.org/officeDocument/2006/relationships/image" Target="../media/image527.png"/><Relationship Id="rId14" Type="http://schemas.openxmlformats.org/officeDocument/2006/relationships/image" Target="../media/image528.png"/><Relationship Id="rId15" Type="http://schemas.openxmlformats.org/officeDocument/2006/relationships/image" Target="../media/image529.png"/><Relationship Id="rId16" Type="http://schemas.openxmlformats.org/officeDocument/2006/relationships/image" Target="../media/image530.png"/><Relationship Id="rId17" Type="http://schemas.openxmlformats.org/officeDocument/2006/relationships/image" Target="../media/image531.png"/><Relationship Id="rId18" Type="http://schemas.openxmlformats.org/officeDocument/2006/relationships/image" Target="../media/image532.png"/><Relationship Id="rId19" Type="http://schemas.openxmlformats.org/officeDocument/2006/relationships/image" Target="../media/image533.png"/><Relationship Id="rId20" Type="http://schemas.openxmlformats.org/officeDocument/2006/relationships/image" Target="../media/image534.png"/><Relationship Id="rId21" Type="http://schemas.openxmlformats.org/officeDocument/2006/relationships/image" Target="../media/image535.png"/><Relationship Id="rId22" Type="http://schemas.openxmlformats.org/officeDocument/2006/relationships/image" Target="../media/image536.png"/><Relationship Id="rId23" Type="http://schemas.openxmlformats.org/officeDocument/2006/relationships/image" Target="../media/image537.png"/><Relationship Id="rId24" Type="http://schemas.openxmlformats.org/officeDocument/2006/relationships/image" Target="../media/image538.png"/><Relationship Id="rId25" Type="http://schemas.openxmlformats.org/officeDocument/2006/relationships/image" Target="../media/image539.png"/><Relationship Id="rId26" Type="http://schemas.openxmlformats.org/officeDocument/2006/relationships/image" Target="../media/image540.png"/><Relationship Id="rId27" Type="http://schemas.openxmlformats.org/officeDocument/2006/relationships/image" Target="../media/image541.png"/><Relationship Id="rId28" Type="http://schemas.openxmlformats.org/officeDocument/2006/relationships/image" Target="../media/image542.png"/><Relationship Id="rId29" Type="http://schemas.openxmlformats.org/officeDocument/2006/relationships/image" Target="../media/image543.png"/><Relationship Id="rId30" Type="http://schemas.openxmlformats.org/officeDocument/2006/relationships/image" Target="../media/image544.png"/><Relationship Id="rId31" Type="http://schemas.openxmlformats.org/officeDocument/2006/relationships/image" Target="../media/image545.png"/><Relationship Id="rId32" Type="http://schemas.openxmlformats.org/officeDocument/2006/relationships/image" Target="../media/image546.png"/><Relationship Id="rId33" Type="http://schemas.openxmlformats.org/officeDocument/2006/relationships/image" Target="../media/image547.png"/><Relationship Id="rId34" Type="http://schemas.openxmlformats.org/officeDocument/2006/relationships/image" Target="../media/image548.png"/><Relationship Id="rId35" Type="http://schemas.openxmlformats.org/officeDocument/2006/relationships/image" Target="../media/image549.png"/><Relationship Id="rId36" Type="http://schemas.openxmlformats.org/officeDocument/2006/relationships/image" Target="../media/image550.png"/><Relationship Id="rId37" Type="http://schemas.openxmlformats.org/officeDocument/2006/relationships/image" Target="../media/image551.png"/><Relationship Id="rId38" Type="http://schemas.openxmlformats.org/officeDocument/2006/relationships/image" Target="../media/image552.png"/><Relationship Id="rId39" Type="http://schemas.openxmlformats.org/officeDocument/2006/relationships/image" Target="../media/image553.png"/><Relationship Id="rId40" Type="http://schemas.openxmlformats.org/officeDocument/2006/relationships/image" Target="../media/image554.png"/><Relationship Id="rId41" Type="http://schemas.openxmlformats.org/officeDocument/2006/relationships/image" Target="../media/image555.png"/><Relationship Id="rId42" Type="http://schemas.openxmlformats.org/officeDocument/2006/relationships/image" Target="../media/image556.png"/><Relationship Id="rId43" Type="http://schemas.openxmlformats.org/officeDocument/2006/relationships/image" Target="../media/image557.png"/><Relationship Id="rId44" Type="http://schemas.openxmlformats.org/officeDocument/2006/relationships/image" Target="../media/image558.png"/><Relationship Id="rId45" Type="http://schemas.openxmlformats.org/officeDocument/2006/relationships/image" Target="../media/image559.png"/><Relationship Id="rId46" Type="http://schemas.openxmlformats.org/officeDocument/2006/relationships/image" Target="../media/image560.png"/><Relationship Id="rId47" Type="http://schemas.openxmlformats.org/officeDocument/2006/relationships/image" Target="../media/image561.png"/><Relationship Id="rId48" Type="http://schemas.openxmlformats.org/officeDocument/2006/relationships/image" Target="../media/image562.png"/><Relationship Id="rId49" Type="http://schemas.openxmlformats.org/officeDocument/2006/relationships/image" Target="../media/image563.png"/></Relationships>
</file>

<file path=ppt/charts/_rels/chart80.xml.rels><?xml version='1.0' encoding='UTF-8' standalone='yes'?>
<Relationships xmlns="http://schemas.openxmlformats.org/package/2006/relationships"><Relationship Id="rId2" Type="http://schemas.openxmlformats.org/officeDocument/2006/relationships/image" Target="../media/image564.png"/><Relationship Id="rId3" Type="http://schemas.openxmlformats.org/officeDocument/2006/relationships/image" Target="../media/image565.png"/><Relationship Id="rId4" Type="http://schemas.openxmlformats.org/officeDocument/2006/relationships/image" Target="../media/image566.png"/><Relationship Id="rId5" Type="http://schemas.openxmlformats.org/officeDocument/2006/relationships/image" Target="../media/image567.png"/><Relationship Id="rId6" Type="http://schemas.openxmlformats.org/officeDocument/2006/relationships/image" Target="../media/image568.png"/><Relationship Id="rId7" Type="http://schemas.openxmlformats.org/officeDocument/2006/relationships/image" Target="../media/image569.png"/><Relationship Id="rId8" Type="http://schemas.openxmlformats.org/officeDocument/2006/relationships/image" Target="../media/image570.png"/><Relationship Id="rId9" Type="http://schemas.openxmlformats.org/officeDocument/2006/relationships/image" Target="../media/image571.png"/><Relationship Id="rId10" Type="http://schemas.openxmlformats.org/officeDocument/2006/relationships/image" Target="../media/image572.png"/><Relationship Id="rId11" Type="http://schemas.openxmlformats.org/officeDocument/2006/relationships/image" Target="../media/image573.png"/><Relationship Id="rId12" Type="http://schemas.openxmlformats.org/officeDocument/2006/relationships/image" Target="../media/image574.png"/><Relationship Id="rId13" Type="http://schemas.openxmlformats.org/officeDocument/2006/relationships/image" Target="../media/image575.png"/><Relationship Id="rId14" Type="http://schemas.openxmlformats.org/officeDocument/2006/relationships/image" Target="../media/image576.png"/><Relationship Id="rId15" Type="http://schemas.openxmlformats.org/officeDocument/2006/relationships/image" Target="../media/image577.png"/><Relationship Id="rId16" Type="http://schemas.openxmlformats.org/officeDocument/2006/relationships/image" Target="../media/image578.png"/><Relationship Id="rId17" Type="http://schemas.openxmlformats.org/officeDocument/2006/relationships/image" Target="../media/image579.png"/><Relationship Id="rId18" Type="http://schemas.openxmlformats.org/officeDocument/2006/relationships/image" Target="../media/image580.png"/><Relationship Id="rId19" Type="http://schemas.openxmlformats.org/officeDocument/2006/relationships/image" Target="../media/image581.png"/><Relationship Id="rId20" Type="http://schemas.openxmlformats.org/officeDocument/2006/relationships/image" Target="../media/image582.png"/><Relationship Id="rId21" Type="http://schemas.openxmlformats.org/officeDocument/2006/relationships/image" Target="../media/image583.png"/><Relationship Id="rId22" Type="http://schemas.openxmlformats.org/officeDocument/2006/relationships/image" Target="../media/image584.png"/><Relationship Id="rId23" Type="http://schemas.openxmlformats.org/officeDocument/2006/relationships/image" Target="../media/image585.png"/><Relationship Id="rId24" Type="http://schemas.openxmlformats.org/officeDocument/2006/relationships/image" Target="../media/image586.png"/><Relationship Id="rId25" Type="http://schemas.openxmlformats.org/officeDocument/2006/relationships/image" Target="../media/image587.png"/><Relationship Id="rId26" Type="http://schemas.openxmlformats.org/officeDocument/2006/relationships/image" Target="../media/image588.png"/><Relationship Id="rId27" Type="http://schemas.openxmlformats.org/officeDocument/2006/relationships/image" Target="../media/image589.png"/><Relationship Id="rId28" Type="http://schemas.openxmlformats.org/officeDocument/2006/relationships/image" Target="../media/image590.png"/><Relationship Id="rId29" Type="http://schemas.openxmlformats.org/officeDocument/2006/relationships/image" Target="../media/image591.png"/><Relationship Id="rId30" Type="http://schemas.openxmlformats.org/officeDocument/2006/relationships/image" Target="../media/image592.png"/><Relationship Id="rId31" Type="http://schemas.openxmlformats.org/officeDocument/2006/relationships/image" Target="../media/image593.png"/><Relationship Id="rId32" Type="http://schemas.openxmlformats.org/officeDocument/2006/relationships/image" Target="../media/image594.png"/><Relationship Id="rId33" Type="http://schemas.openxmlformats.org/officeDocument/2006/relationships/image" Target="../media/image595.png"/><Relationship Id="rId34" Type="http://schemas.openxmlformats.org/officeDocument/2006/relationships/image" Target="../media/image596.png"/><Relationship Id="rId35" Type="http://schemas.openxmlformats.org/officeDocument/2006/relationships/image" Target="../media/image597.png"/><Relationship Id="rId36" Type="http://schemas.openxmlformats.org/officeDocument/2006/relationships/image" Target="../media/image598.png"/><Relationship Id="rId37" Type="http://schemas.openxmlformats.org/officeDocument/2006/relationships/image" Target="../media/image599.png"/><Relationship Id="rId38" Type="http://schemas.openxmlformats.org/officeDocument/2006/relationships/image" Target="../media/image600.png"/><Relationship Id="rId39" Type="http://schemas.openxmlformats.org/officeDocument/2006/relationships/image" Target="../media/image601.png"/><Relationship Id="rId40" Type="http://schemas.openxmlformats.org/officeDocument/2006/relationships/image" Target="../media/image602.png"/><Relationship Id="rId41" Type="http://schemas.openxmlformats.org/officeDocument/2006/relationships/image" Target="../media/image603.png"/><Relationship Id="rId42" Type="http://schemas.openxmlformats.org/officeDocument/2006/relationships/image" Target="../media/image604.png"/><Relationship Id="rId43" Type="http://schemas.openxmlformats.org/officeDocument/2006/relationships/image" Target="../media/image605.png"/><Relationship Id="rId44" Type="http://schemas.openxmlformats.org/officeDocument/2006/relationships/image" Target="../media/image606.png"/><Relationship Id="rId45" Type="http://schemas.openxmlformats.org/officeDocument/2006/relationships/image" Target="../media/image607.png"/><Relationship Id="rId46" Type="http://schemas.openxmlformats.org/officeDocument/2006/relationships/image" Target="../media/image608.png"/><Relationship Id="rId47" Type="http://schemas.openxmlformats.org/officeDocument/2006/relationships/image" Target="../media/image609.png"/><Relationship Id="rId48" Type="http://schemas.openxmlformats.org/officeDocument/2006/relationships/image" Target="../media/image610.png"/><Relationship Id="rId49" Type="http://schemas.openxmlformats.org/officeDocument/2006/relationships/image" Target="../media/image611.png"/></Relationships>
</file>

<file path=ppt/charts/_rels/chart81.xml.rels><?xml version='1.0' encoding='UTF-8' standalone='yes'?>
<Relationships xmlns="http://schemas.openxmlformats.org/package/2006/relationships"><Relationship Id="rId2" Type="http://schemas.openxmlformats.org/officeDocument/2006/relationships/image" Target="../media/image626.png"/><Relationship Id="rId3" Type="http://schemas.openxmlformats.org/officeDocument/2006/relationships/image" Target="../media/image627.png"/><Relationship Id="rId4" Type="http://schemas.openxmlformats.org/officeDocument/2006/relationships/image" Target="../media/image628.png"/><Relationship Id="rId5" Type="http://schemas.openxmlformats.org/officeDocument/2006/relationships/image" Target="../media/image629.png"/><Relationship Id="rId6" Type="http://schemas.openxmlformats.org/officeDocument/2006/relationships/image" Target="../media/image630.png"/><Relationship Id="rId7" Type="http://schemas.openxmlformats.org/officeDocument/2006/relationships/image" Target="../media/image631.png"/><Relationship Id="rId8" Type="http://schemas.openxmlformats.org/officeDocument/2006/relationships/image" Target="../media/image632.png"/><Relationship Id="rId9" Type="http://schemas.openxmlformats.org/officeDocument/2006/relationships/image" Target="../media/image633.png"/><Relationship Id="rId10" Type="http://schemas.openxmlformats.org/officeDocument/2006/relationships/image" Target="../media/image634.png"/><Relationship Id="rId11" Type="http://schemas.openxmlformats.org/officeDocument/2006/relationships/image" Target="../media/image635.png"/><Relationship Id="rId12" Type="http://schemas.openxmlformats.org/officeDocument/2006/relationships/image" Target="../media/image636.png"/><Relationship Id="rId13" Type="http://schemas.openxmlformats.org/officeDocument/2006/relationships/image" Target="../media/image637.png"/><Relationship Id="rId14" Type="http://schemas.openxmlformats.org/officeDocument/2006/relationships/image" Target="../media/image638.png"/><Relationship Id="rId15" Type="http://schemas.openxmlformats.org/officeDocument/2006/relationships/image" Target="../media/image639.png"/><Relationship Id="rId16" Type="http://schemas.openxmlformats.org/officeDocument/2006/relationships/image" Target="../media/image640.png"/><Relationship Id="rId17" Type="http://schemas.openxmlformats.org/officeDocument/2006/relationships/image" Target="../media/image641.png"/><Relationship Id="rId18" Type="http://schemas.openxmlformats.org/officeDocument/2006/relationships/image" Target="../media/image642.png"/><Relationship Id="rId19" Type="http://schemas.openxmlformats.org/officeDocument/2006/relationships/image" Target="../media/image643.png"/><Relationship Id="rId20" Type="http://schemas.openxmlformats.org/officeDocument/2006/relationships/image" Target="../media/image644.png"/><Relationship Id="rId21" Type="http://schemas.openxmlformats.org/officeDocument/2006/relationships/image" Target="../media/image645.png"/><Relationship Id="rId22" Type="http://schemas.openxmlformats.org/officeDocument/2006/relationships/image" Target="../media/image646.png"/><Relationship Id="rId23" Type="http://schemas.openxmlformats.org/officeDocument/2006/relationships/image" Target="../media/image647.png"/><Relationship Id="rId24" Type="http://schemas.openxmlformats.org/officeDocument/2006/relationships/image" Target="../media/image648.png"/></Relationships>
</file>

<file path=ppt/charts/_rels/chart91.xml.rels><?xml version='1.0' encoding='UTF-8' standalone='yes'?>
<Relationships xmlns="http://schemas.openxmlformats.org/package/2006/relationships"><Relationship Id="rId2" Type="http://schemas.openxmlformats.org/officeDocument/2006/relationships/image" Target="../media/image649.png"/><Relationship Id="rId3" Type="http://schemas.openxmlformats.org/officeDocument/2006/relationships/image" Target="../media/image650.png"/><Relationship Id="rId4" Type="http://schemas.openxmlformats.org/officeDocument/2006/relationships/image" Target="../media/image651.png"/><Relationship Id="rId5" Type="http://schemas.openxmlformats.org/officeDocument/2006/relationships/image" Target="../media/image652.png"/><Relationship Id="rId6" Type="http://schemas.openxmlformats.org/officeDocument/2006/relationships/image" Target="../media/image653.png"/><Relationship Id="rId7" Type="http://schemas.openxmlformats.org/officeDocument/2006/relationships/image" Target="../media/image654.png"/><Relationship Id="rId8" Type="http://schemas.openxmlformats.org/officeDocument/2006/relationships/image" Target="../media/image655.png"/><Relationship Id="rId9" Type="http://schemas.openxmlformats.org/officeDocument/2006/relationships/image" Target="../media/image656.png"/><Relationship Id="rId10" Type="http://schemas.openxmlformats.org/officeDocument/2006/relationships/image" Target="../media/image657.png"/><Relationship Id="rId11" Type="http://schemas.openxmlformats.org/officeDocument/2006/relationships/image" Target="../media/image658.png"/><Relationship Id="rId12" Type="http://schemas.openxmlformats.org/officeDocument/2006/relationships/image" Target="../media/image659.png"/><Relationship Id="rId13" Type="http://schemas.openxmlformats.org/officeDocument/2006/relationships/image" Target="../media/image660.png"/><Relationship Id="rId14" Type="http://schemas.openxmlformats.org/officeDocument/2006/relationships/image" Target="../media/image661.png"/><Relationship Id="rId15" Type="http://schemas.openxmlformats.org/officeDocument/2006/relationships/image" Target="../media/image662.png"/><Relationship Id="rId16" Type="http://schemas.openxmlformats.org/officeDocument/2006/relationships/image" Target="../media/image663.png"/><Relationship Id="rId17" Type="http://schemas.openxmlformats.org/officeDocument/2006/relationships/image" Target="../media/image664.png"/><Relationship Id="rId18" Type="http://schemas.openxmlformats.org/officeDocument/2006/relationships/image" Target="../media/image665.png"/><Relationship Id="rId19" Type="http://schemas.openxmlformats.org/officeDocument/2006/relationships/image" Target="../media/image666.png"/><Relationship Id="rId20" Type="http://schemas.openxmlformats.org/officeDocument/2006/relationships/image" Target="../media/image667.png"/><Relationship Id="rId21" Type="http://schemas.openxmlformats.org/officeDocument/2006/relationships/image" Target="../media/image668.png"/><Relationship Id="rId22" Type="http://schemas.openxmlformats.org/officeDocument/2006/relationships/image" Target="../media/image669.png"/><Relationship Id="rId23" Type="http://schemas.openxmlformats.org/officeDocument/2006/relationships/image" Target="../media/image670.png"/><Relationship Id="rId24" Type="http://schemas.openxmlformats.org/officeDocument/2006/relationships/image" Target="../media/image671.png"/></Relationships>
</file>

<file path=ppt/charts/_rels/chart92.xml.rels><?xml version='1.0' encoding='UTF-8' standalone='yes'?>
<Relationships xmlns="http://schemas.openxmlformats.org/package/2006/relationships"><Relationship Id="rId2" Type="http://schemas.openxmlformats.org/officeDocument/2006/relationships/image" Target="../media/image677.png"/><Relationship Id="rId3" Type="http://schemas.openxmlformats.org/officeDocument/2006/relationships/image" Target="../media/image678.png"/><Relationship Id="rId4" Type="http://schemas.openxmlformats.org/officeDocument/2006/relationships/image" Target="../media/image679.png"/><Relationship Id="rId5" Type="http://schemas.openxmlformats.org/officeDocument/2006/relationships/image" Target="../media/image680.png"/></Relationships>
</file>

<file path=ppt/charts/_rels/chart96.xml.rels><?xml version='1.0' encoding='UTF-8' standalone='yes'?>
<Relationships xmlns="http://schemas.openxmlformats.org/package/2006/relationships"><Relationship Id="rId2" Type="http://schemas.openxmlformats.org/officeDocument/2006/relationships/image" Target="../media/image681.png"/><Relationship Id="rId3" Type="http://schemas.openxmlformats.org/officeDocument/2006/relationships/image" Target="../media/image682.png"/><Relationship Id="rId4" Type="http://schemas.openxmlformats.org/officeDocument/2006/relationships/image" Target="../media/image683.png"/><Relationship Id="rId5" Type="http://schemas.openxmlformats.org/officeDocument/2006/relationships/image" Target="../media/image684.png"/><Relationship Id="rId6" Type="http://schemas.openxmlformats.org/officeDocument/2006/relationships/image" Target="../media/image685.png"/><Relationship Id="rId7" Type="http://schemas.openxmlformats.org/officeDocument/2006/relationships/image" Target="../media/image686.png"/></Relationships>
</file>

<file path=ppt/charts/_rels/chart97.xml.rels><?xml version='1.0' encoding='UTF-8' standalone='yes'?>
<Relationships xmlns="http://schemas.openxmlformats.org/package/2006/relationships"><Relationship Id="rId2" Type="http://schemas.openxmlformats.org/officeDocument/2006/relationships/image" Target="../media/image696.png"/><Relationship Id="rId3" Type="http://schemas.openxmlformats.org/officeDocument/2006/relationships/image" Target="../media/image697.png"/><Relationship Id="rId4" Type="http://schemas.openxmlformats.org/officeDocument/2006/relationships/image" Target="../media/image698.png"/><Relationship Id="rId5" Type="http://schemas.openxmlformats.org/officeDocument/2006/relationships/image" Target="../media/image699.png"/><Relationship Id="rId6" Type="http://schemas.openxmlformats.org/officeDocument/2006/relationships/image" Target="../media/image700.png"/><Relationship Id="rId7" Type="http://schemas.openxmlformats.org/officeDocument/2006/relationships/image" Target="../media/image701.png"/><Relationship Id="rId8" Type="http://schemas.openxmlformats.org/officeDocument/2006/relationships/image" Target="../media/image702.png"/><Relationship Id="rId9" Type="http://schemas.openxmlformats.org/officeDocument/2006/relationships/image" Target="../media/image703.png"/><Relationship Id="rId10" Type="http://schemas.openxmlformats.org/officeDocument/2006/relationships/image" Target="../media/image704.png"/><Relationship Id="rId11" Type="http://schemas.openxmlformats.org/officeDocument/2006/relationships/image" Target="../media/image705.png"/><Relationship Id="rId12" Type="http://schemas.openxmlformats.org/officeDocument/2006/relationships/image" Target="../media/image706.png"/><Relationship Id="rId13" Type="http://schemas.openxmlformats.org/officeDocument/2006/relationships/image" Target="../media/image707.png"/></Relationships>
</file>

<file path=ppt/charts/_rels/chart103.xml.rels><?xml version='1.0' encoding='UTF-8' standalone='yes'?>
<Relationships xmlns="http://schemas.openxmlformats.org/package/2006/relationships"><Relationship Id="rId2" Type="http://schemas.openxmlformats.org/officeDocument/2006/relationships/image" Target="../media/image708.png"/><Relationship Id="rId3" Type="http://schemas.openxmlformats.org/officeDocument/2006/relationships/image" Target="../media/image709.png"/><Relationship Id="rId4" Type="http://schemas.openxmlformats.org/officeDocument/2006/relationships/image" Target="../media/image710.png"/><Relationship Id="rId5" Type="http://schemas.openxmlformats.org/officeDocument/2006/relationships/image" Target="../media/image711.png"/><Relationship Id="rId6" Type="http://schemas.openxmlformats.org/officeDocument/2006/relationships/image" Target="../media/image712.png"/><Relationship Id="rId7" Type="http://schemas.openxmlformats.org/officeDocument/2006/relationships/image" Target="../media/image713.png"/><Relationship Id="rId8" Type="http://schemas.openxmlformats.org/officeDocument/2006/relationships/image" Target="../media/image714.png"/><Relationship Id="rId9" Type="http://schemas.openxmlformats.org/officeDocument/2006/relationships/image" Target="../media/image715.png"/><Relationship Id="rId10" Type="http://schemas.openxmlformats.org/officeDocument/2006/relationships/image" Target="../media/image716.png"/><Relationship Id="rId11" Type="http://schemas.openxmlformats.org/officeDocument/2006/relationships/image" Target="../media/image717.png"/><Relationship Id="rId12" Type="http://schemas.openxmlformats.org/officeDocument/2006/relationships/image" Target="../media/image718.png"/></Relationships>
</file>

<file path=ppt/charts/_rels/chart104.xml.rels><?xml version='1.0' encoding='UTF-8' standalone='yes'?>
<Relationships xmlns="http://schemas.openxmlformats.org/package/2006/relationships"><Relationship Id="rId2" Type="http://schemas.openxmlformats.org/officeDocument/2006/relationships/image" Target="../media/image743.png"/><Relationship Id="rId3" Type="http://schemas.openxmlformats.org/officeDocument/2006/relationships/image" Target="../media/image744.png"/><Relationship Id="rId4" Type="http://schemas.openxmlformats.org/officeDocument/2006/relationships/image" Target="../media/image745.png"/><Relationship Id="rId5" Type="http://schemas.openxmlformats.org/officeDocument/2006/relationships/image" Target="../media/image746.png"/><Relationship Id="rId6" Type="http://schemas.openxmlformats.org/officeDocument/2006/relationships/image" Target="../media/image747.png"/><Relationship Id="rId7" Type="http://schemas.openxmlformats.org/officeDocument/2006/relationships/image" Target="../media/image748.png"/><Relationship Id="rId8" Type="http://schemas.openxmlformats.org/officeDocument/2006/relationships/image" Target="../media/image749.png"/><Relationship Id="rId9" Type="http://schemas.openxmlformats.org/officeDocument/2006/relationships/image" Target="../media/image750.png"/><Relationship Id="rId10" Type="http://schemas.openxmlformats.org/officeDocument/2006/relationships/image" Target="../media/image751.png"/><Relationship Id="rId11" Type="http://schemas.openxmlformats.org/officeDocument/2006/relationships/image" Target="../media/image752.png"/><Relationship Id="rId12" Type="http://schemas.openxmlformats.org/officeDocument/2006/relationships/image" Target="../media/image753.png"/><Relationship Id="rId13" Type="http://schemas.openxmlformats.org/officeDocument/2006/relationships/image" Target="../media/image754.png"/><Relationship Id="rId14" Type="http://schemas.openxmlformats.org/officeDocument/2006/relationships/image" Target="../media/image755.png"/><Relationship Id="rId15" Type="http://schemas.openxmlformats.org/officeDocument/2006/relationships/image" Target="../media/image756.png"/><Relationship Id="rId16" Type="http://schemas.openxmlformats.org/officeDocument/2006/relationships/image" Target="../media/image757.png"/><Relationship Id="rId17" Type="http://schemas.openxmlformats.org/officeDocument/2006/relationships/image" Target="../media/image758.png"/><Relationship Id="rId18" Type="http://schemas.openxmlformats.org/officeDocument/2006/relationships/image" Target="../media/image759.png"/><Relationship Id="rId19" Type="http://schemas.openxmlformats.org/officeDocument/2006/relationships/image" Target="../media/image760.png"/><Relationship Id="rId20" Type="http://schemas.openxmlformats.org/officeDocument/2006/relationships/image" Target="../media/image761.png"/><Relationship Id="rId21" Type="http://schemas.openxmlformats.org/officeDocument/2006/relationships/image" Target="../media/image762.png"/><Relationship Id="rId22" Type="http://schemas.openxmlformats.org/officeDocument/2006/relationships/image" Target="../media/image763.png"/><Relationship Id="rId23" Type="http://schemas.openxmlformats.org/officeDocument/2006/relationships/image" Target="../media/image764.png"/><Relationship Id="rId24" Type="http://schemas.openxmlformats.org/officeDocument/2006/relationships/image" Target="../media/image765.png"/><Relationship Id="rId25" Type="http://schemas.openxmlformats.org/officeDocument/2006/relationships/image" Target="../media/image766.png"/><Relationship Id="rId26" Type="http://schemas.openxmlformats.org/officeDocument/2006/relationships/image" Target="../media/image767.png"/></Relationships>
</file>

<file path=ppt/charts/_rels/chart115.xml.rels><?xml version='1.0' encoding='UTF-8' standalone='yes'?>
<Relationships xmlns="http://schemas.openxmlformats.org/package/2006/relationships"><Relationship Id="rId2" Type="http://schemas.openxmlformats.org/officeDocument/2006/relationships/image" Target="../media/image768.png"/><Relationship Id="rId3" Type="http://schemas.openxmlformats.org/officeDocument/2006/relationships/image" Target="../media/image769.png"/><Relationship Id="rId4" Type="http://schemas.openxmlformats.org/officeDocument/2006/relationships/image" Target="../media/image770.png"/><Relationship Id="rId5" Type="http://schemas.openxmlformats.org/officeDocument/2006/relationships/image" Target="../media/image771.png"/><Relationship Id="rId6" Type="http://schemas.openxmlformats.org/officeDocument/2006/relationships/image" Target="../media/image772.png"/><Relationship Id="rId7" Type="http://schemas.openxmlformats.org/officeDocument/2006/relationships/image" Target="../media/image773.png"/><Relationship Id="rId8" Type="http://schemas.openxmlformats.org/officeDocument/2006/relationships/image" Target="../media/image774.png"/><Relationship Id="rId9" Type="http://schemas.openxmlformats.org/officeDocument/2006/relationships/image" Target="../media/image775.png"/><Relationship Id="rId10" Type="http://schemas.openxmlformats.org/officeDocument/2006/relationships/image" Target="../media/image776.png"/><Relationship Id="rId11" Type="http://schemas.openxmlformats.org/officeDocument/2006/relationships/image" Target="../media/image777.png"/><Relationship Id="rId12" Type="http://schemas.openxmlformats.org/officeDocument/2006/relationships/image" Target="../media/image778.png"/><Relationship Id="rId13" Type="http://schemas.openxmlformats.org/officeDocument/2006/relationships/image" Target="../media/image779.png"/><Relationship Id="rId14" Type="http://schemas.openxmlformats.org/officeDocument/2006/relationships/image" Target="../media/image780.png"/><Relationship Id="rId15" Type="http://schemas.openxmlformats.org/officeDocument/2006/relationships/image" Target="../media/image781.png"/><Relationship Id="rId16" Type="http://schemas.openxmlformats.org/officeDocument/2006/relationships/image" Target="../media/image782.png"/><Relationship Id="rId17" Type="http://schemas.openxmlformats.org/officeDocument/2006/relationships/image" Target="../media/image783.png"/><Relationship Id="rId18" Type="http://schemas.openxmlformats.org/officeDocument/2006/relationships/image" Target="../media/image784.png"/><Relationship Id="rId19" Type="http://schemas.openxmlformats.org/officeDocument/2006/relationships/image" Target="../media/image785.png"/><Relationship Id="rId20" Type="http://schemas.openxmlformats.org/officeDocument/2006/relationships/image" Target="../media/image786.png"/><Relationship Id="rId21" Type="http://schemas.openxmlformats.org/officeDocument/2006/relationships/image" Target="../media/image787.png"/><Relationship Id="rId22" Type="http://schemas.openxmlformats.org/officeDocument/2006/relationships/image" Target="../media/image788.png"/><Relationship Id="rId23" Type="http://schemas.openxmlformats.org/officeDocument/2006/relationships/image" Target="../media/image789.png"/><Relationship Id="rId24" Type="http://schemas.openxmlformats.org/officeDocument/2006/relationships/image" Target="../media/image790.png"/><Relationship Id="rId25" Type="http://schemas.openxmlformats.org/officeDocument/2006/relationships/image" Target="../media/image791.png"/><Relationship Id="rId26" Type="http://schemas.openxmlformats.org/officeDocument/2006/relationships/image" Target="../media/image792.png"/></Relationships>
</file>

<file path=ppt/charts/_rels/chart116.xml.rels><?xml version='1.0' encoding='UTF-8' standalone='yes'?>
<Relationships xmlns="http://schemas.openxmlformats.org/package/2006/relationships"><Relationship Id="rId2" Type="http://schemas.openxmlformats.org/officeDocument/2006/relationships/image" Target="../media/image807.png"/><Relationship Id="rId3" Type="http://schemas.openxmlformats.org/officeDocument/2006/relationships/image" Target="../media/image808.png"/><Relationship Id="rId4" Type="http://schemas.openxmlformats.org/officeDocument/2006/relationships/image" Target="../media/image809.png"/><Relationship Id="rId5" Type="http://schemas.openxmlformats.org/officeDocument/2006/relationships/image" Target="../media/image810.png"/><Relationship Id="rId6" Type="http://schemas.openxmlformats.org/officeDocument/2006/relationships/image" Target="../media/image811.png"/><Relationship Id="rId7" Type="http://schemas.openxmlformats.org/officeDocument/2006/relationships/image" Target="../media/image812.png"/><Relationship Id="rId8" Type="http://schemas.openxmlformats.org/officeDocument/2006/relationships/image" Target="../media/image813.png"/><Relationship Id="rId9" Type="http://schemas.openxmlformats.org/officeDocument/2006/relationships/image" Target="../media/image814.png"/><Relationship Id="rId10" Type="http://schemas.openxmlformats.org/officeDocument/2006/relationships/image" Target="../media/image815.png"/><Relationship Id="rId11" Type="http://schemas.openxmlformats.org/officeDocument/2006/relationships/image" Target="../media/image816.png"/><Relationship Id="rId12" Type="http://schemas.openxmlformats.org/officeDocument/2006/relationships/image" Target="../media/image817.png"/><Relationship Id="rId13" Type="http://schemas.openxmlformats.org/officeDocument/2006/relationships/image" Target="../media/image818.png"/><Relationship Id="rId14" Type="http://schemas.openxmlformats.org/officeDocument/2006/relationships/image" Target="../media/image819.png"/><Relationship Id="rId15" Type="http://schemas.openxmlformats.org/officeDocument/2006/relationships/image" Target="../media/image820.png"/><Relationship Id="rId16" Type="http://schemas.openxmlformats.org/officeDocument/2006/relationships/image" Target="../media/image821.png"/><Relationship Id="rId17" Type="http://schemas.openxmlformats.org/officeDocument/2006/relationships/image" Target="../media/image822.png"/></Relationships>
</file>

<file path=ppt/charts/_rels/chart124.xml.rels><?xml version='1.0' encoding='UTF-8' standalone='yes'?>
<Relationships xmlns="http://schemas.openxmlformats.org/package/2006/relationships"><Relationship Id="rId2" Type="http://schemas.openxmlformats.org/officeDocument/2006/relationships/image" Target="../media/image823.png"/><Relationship Id="rId3" Type="http://schemas.openxmlformats.org/officeDocument/2006/relationships/image" Target="../media/image824.png"/><Relationship Id="rId4" Type="http://schemas.openxmlformats.org/officeDocument/2006/relationships/image" Target="../media/image825.png"/><Relationship Id="rId5" Type="http://schemas.openxmlformats.org/officeDocument/2006/relationships/image" Target="../media/image826.png"/><Relationship Id="rId6" Type="http://schemas.openxmlformats.org/officeDocument/2006/relationships/image" Target="../media/image827.png"/><Relationship Id="rId7" Type="http://schemas.openxmlformats.org/officeDocument/2006/relationships/image" Target="../media/image828.png"/><Relationship Id="rId8" Type="http://schemas.openxmlformats.org/officeDocument/2006/relationships/image" Target="../media/image829.png"/><Relationship Id="rId9" Type="http://schemas.openxmlformats.org/officeDocument/2006/relationships/image" Target="../media/image830.png"/><Relationship Id="rId10" Type="http://schemas.openxmlformats.org/officeDocument/2006/relationships/image" Target="../media/image831.png"/><Relationship Id="rId11" Type="http://schemas.openxmlformats.org/officeDocument/2006/relationships/image" Target="../media/image832.png"/><Relationship Id="rId12" Type="http://schemas.openxmlformats.org/officeDocument/2006/relationships/image" Target="../media/image833.png"/><Relationship Id="rId13" Type="http://schemas.openxmlformats.org/officeDocument/2006/relationships/image" Target="../media/image834.png"/><Relationship Id="rId14" Type="http://schemas.openxmlformats.org/officeDocument/2006/relationships/image" Target="../media/image835.png"/><Relationship Id="rId15" Type="http://schemas.openxmlformats.org/officeDocument/2006/relationships/image" Target="../media/image836.png"/><Relationship Id="rId16" Type="http://schemas.openxmlformats.org/officeDocument/2006/relationships/image" Target="../media/image837.png"/><Relationship Id="rId17" Type="http://schemas.openxmlformats.org/officeDocument/2006/relationships/image" Target="../media/image838.png"/><Relationship Id="rId18" Type="http://schemas.openxmlformats.org/officeDocument/2006/relationships/image" Target="../media/image839.png"/><Relationship Id="rId19" Type="http://schemas.openxmlformats.org/officeDocument/2006/relationships/image" Target="../media/image840.png"/></Relationships>
</file>

<file path=ppt/charts/_rels/chart125.xml.rels><?xml version='1.0' encoding='UTF-8' standalone='yes'?>
<Relationships xmlns="http://schemas.openxmlformats.org/package/2006/relationships"><Relationship Id="rId2" Type="http://schemas.openxmlformats.org/officeDocument/2006/relationships/image" Target="../media/image852.png"/><Relationship Id="rId3" Type="http://schemas.openxmlformats.org/officeDocument/2006/relationships/image" Target="../media/image853.png"/><Relationship Id="rId4" Type="http://schemas.openxmlformats.org/officeDocument/2006/relationships/image" Target="../media/image854.png"/><Relationship Id="rId5" Type="http://schemas.openxmlformats.org/officeDocument/2006/relationships/image" Target="../media/image855.png"/><Relationship Id="rId6" Type="http://schemas.openxmlformats.org/officeDocument/2006/relationships/image" Target="../media/image856.png"/><Relationship Id="rId7" Type="http://schemas.openxmlformats.org/officeDocument/2006/relationships/image" Target="../media/image857.png"/><Relationship Id="rId8" Type="http://schemas.openxmlformats.org/officeDocument/2006/relationships/image" Target="../media/image858.png"/><Relationship Id="rId9" Type="http://schemas.openxmlformats.org/officeDocument/2006/relationships/image" Target="../media/image859.png"/><Relationship Id="rId10" Type="http://schemas.openxmlformats.org/officeDocument/2006/relationships/image" Target="../media/image860.png"/><Relationship Id="rId11" Type="http://schemas.openxmlformats.org/officeDocument/2006/relationships/image" Target="../media/image861.png"/><Relationship Id="rId12" Type="http://schemas.openxmlformats.org/officeDocument/2006/relationships/image" Target="../media/image862.png"/><Relationship Id="rId13" Type="http://schemas.openxmlformats.org/officeDocument/2006/relationships/image" Target="../media/image863.png"/><Relationship Id="rId14" Type="http://schemas.openxmlformats.org/officeDocument/2006/relationships/image" Target="../media/image864.png"/><Relationship Id="rId15" Type="http://schemas.openxmlformats.org/officeDocument/2006/relationships/image" Target="../media/image865.png"/><Relationship Id="rId16" Type="http://schemas.openxmlformats.org/officeDocument/2006/relationships/image" Target="../media/image866.png"/></Relationships>
</file>

<file path=ppt/charts/_rels/chart132.xml.rels><?xml version='1.0' encoding='UTF-8' standalone='yes'?>
<Relationships xmlns="http://schemas.openxmlformats.org/package/2006/relationships"><Relationship Id="rId2" Type="http://schemas.openxmlformats.org/officeDocument/2006/relationships/image" Target="../media/image867.png"/><Relationship Id="rId3" Type="http://schemas.openxmlformats.org/officeDocument/2006/relationships/image" Target="../media/image868.png"/><Relationship Id="rId4" Type="http://schemas.openxmlformats.org/officeDocument/2006/relationships/image" Target="../media/image869.png"/><Relationship Id="rId5" Type="http://schemas.openxmlformats.org/officeDocument/2006/relationships/image" Target="../media/image870.png"/><Relationship Id="rId6" Type="http://schemas.openxmlformats.org/officeDocument/2006/relationships/image" Target="../media/image871.png"/><Relationship Id="rId7" Type="http://schemas.openxmlformats.org/officeDocument/2006/relationships/image" Target="../media/image872.png"/><Relationship Id="rId8" Type="http://schemas.openxmlformats.org/officeDocument/2006/relationships/image" Target="../media/image873.png"/><Relationship Id="rId9" Type="http://schemas.openxmlformats.org/officeDocument/2006/relationships/image" Target="../media/image874.png"/><Relationship Id="rId10" Type="http://schemas.openxmlformats.org/officeDocument/2006/relationships/image" Target="../media/image875.png"/><Relationship Id="rId11" Type="http://schemas.openxmlformats.org/officeDocument/2006/relationships/image" Target="../media/image876.png"/><Relationship Id="rId12" Type="http://schemas.openxmlformats.org/officeDocument/2006/relationships/image" Target="../media/image877.png"/><Relationship Id="rId13" Type="http://schemas.openxmlformats.org/officeDocument/2006/relationships/image" Target="../media/image878.png"/><Relationship Id="rId14" Type="http://schemas.openxmlformats.org/officeDocument/2006/relationships/image" Target="../media/image879.png"/><Relationship Id="rId15" Type="http://schemas.openxmlformats.org/officeDocument/2006/relationships/image" Target="../media/image880.png"/><Relationship Id="rId16" Type="http://schemas.openxmlformats.org/officeDocument/2006/relationships/image" Target="../media/image881.png"/></Relationships>
</file>

<file path=ppt/charts/_rels/chart162.xml.rels><?xml version='1.0' encoding='UTF-8' standalone='yes'?>
<Relationships xmlns="http://schemas.openxmlformats.org/package/2006/relationships"><Relationship Id="rId2" Type="http://schemas.openxmlformats.org/officeDocument/2006/relationships/image" Target="../media/image882.png"/><Relationship Id="rId3" Type="http://schemas.openxmlformats.org/officeDocument/2006/relationships/image" Target="../media/image883.png"/><Relationship Id="rId4" Type="http://schemas.openxmlformats.org/officeDocument/2006/relationships/image" Target="../media/image884.png"/><Relationship Id="rId5" Type="http://schemas.openxmlformats.org/officeDocument/2006/relationships/image" Target="../media/image885.png"/><Relationship Id="rId6" Type="http://schemas.openxmlformats.org/officeDocument/2006/relationships/image" Target="../media/image886.png"/><Relationship Id="rId7" Type="http://schemas.openxmlformats.org/officeDocument/2006/relationships/image" Target="../media/image887.png"/><Relationship Id="rId8" Type="http://schemas.openxmlformats.org/officeDocument/2006/relationships/image" Target="../media/image888.png"/><Relationship Id="rId9" Type="http://schemas.openxmlformats.org/officeDocument/2006/relationships/image" Target="../media/image889.png"/><Relationship Id="rId10" Type="http://schemas.openxmlformats.org/officeDocument/2006/relationships/image" Target="../media/image890.png"/><Relationship Id="rId11" Type="http://schemas.openxmlformats.org/officeDocument/2006/relationships/image" Target="../media/image891.png"/></Relationships>
</file>

<file path=ppt/charts/_rels/chart163.xml.rels><?xml version='1.0' encoding='UTF-8' standalone='yes'?>
<Relationships xmlns="http://schemas.openxmlformats.org/package/2006/relationships"><Relationship Id="rId2" Type="http://schemas.openxmlformats.org/officeDocument/2006/relationships/image" Target="../media/image892.png"/><Relationship Id="rId3" Type="http://schemas.openxmlformats.org/officeDocument/2006/relationships/image" Target="../media/image893.png"/><Relationship Id="rId4" Type="http://schemas.openxmlformats.org/officeDocument/2006/relationships/image" Target="../media/image894.png"/><Relationship Id="rId5" Type="http://schemas.openxmlformats.org/officeDocument/2006/relationships/image" Target="../media/image895.png"/><Relationship Id="rId6" Type="http://schemas.openxmlformats.org/officeDocument/2006/relationships/image" Target="../media/image896.png"/><Relationship Id="rId7" Type="http://schemas.openxmlformats.org/officeDocument/2006/relationships/image" Target="../media/image897.png"/><Relationship Id="rId8" Type="http://schemas.openxmlformats.org/officeDocument/2006/relationships/image" Target="../media/image898.png"/><Relationship Id="rId9" Type="http://schemas.openxmlformats.org/officeDocument/2006/relationships/image" Target="../media/image899.png"/><Relationship Id="rId10" Type="http://schemas.openxmlformats.org/officeDocument/2006/relationships/image" Target="../media/image900.png"/><Relationship Id="rId11" Type="http://schemas.openxmlformats.org/officeDocument/2006/relationships/image" Target="../media/image901.png"/><Relationship Id="rId12" Type="http://schemas.openxmlformats.org/officeDocument/2006/relationships/image" Target="../media/image902.png"/></Relationships>
</file>

<file path=ppt/charts/_rels/chart164.xml.rels><?xml version='1.0' encoding='UTF-8' standalone='yes'?>
<Relationships xmlns="http://schemas.openxmlformats.org/package/2006/relationships"><Relationship Id="rId2" Type="http://schemas.openxmlformats.org/officeDocument/2006/relationships/image" Target="../media/image903.png"/><Relationship Id="rId3" Type="http://schemas.openxmlformats.org/officeDocument/2006/relationships/image" Target="../media/image904.png"/><Relationship Id="rId4" Type="http://schemas.openxmlformats.org/officeDocument/2006/relationships/image" Target="../media/image905.png"/><Relationship Id="rId5" Type="http://schemas.openxmlformats.org/officeDocument/2006/relationships/image" Target="../media/image906.png"/><Relationship Id="rId6" Type="http://schemas.openxmlformats.org/officeDocument/2006/relationships/image" Target="../media/image907.png"/><Relationship Id="rId7" Type="http://schemas.openxmlformats.org/officeDocument/2006/relationships/image" Target="../media/image908.png"/><Relationship Id="rId8" Type="http://schemas.openxmlformats.org/officeDocument/2006/relationships/image" Target="../media/image909.png"/><Relationship Id="rId9" Type="http://schemas.openxmlformats.org/officeDocument/2006/relationships/image" Target="../media/image910.png"/><Relationship Id="rId10" Type="http://schemas.openxmlformats.org/officeDocument/2006/relationships/image" Target="../media/image911.png"/><Relationship Id="rId11" Type="http://schemas.openxmlformats.org/officeDocument/2006/relationships/image" Target="../media/image912.png"/></Relationships>
</file>

<file path=ppt/charts/_rels/chart165.xml.rels><?xml version='1.0' encoding='UTF-8' standalone='yes'?>
<Relationships xmlns="http://schemas.openxmlformats.org/package/2006/relationships"><Relationship Id="rId2" Type="http://schemas.openxmlformats.org/officeDocument/2006/relationships/image" Target="../media/image913.png"/><Relationship Id="rId3" Type="http://schemas.openxmlformats.org/officeDocument/2006/relationships/image" Target="../media/image914.png"/><Relationship Id="rId4" Type="http://schemas.openxmlformats.org/officeDocument/2006/relationships/image" Target="../media/image915.png"/><Relationship Id="rId5" Type="http://schemas.openxmlformats.org/officeDocument/2006/relationships/image" Target="../media/image916.png"/><Relationship Id="rId6" Type="http://schemas.openxmlformats.org/officeDocument/2006/relationships/image" Target="../media/image917.png"/><Relationship Id="rId7" Type="http://schemas.openxmlformats.org/officeDocument/2006/relationships/image" Target="../media/image918.png"/><Relationship Id="rId8" Type="http://schemas.openxmlformats.org/officeDocument/2006/relationships/image" Target="../media/image919.png"/><Relationship Id="rId9" Type="http://schemas.openxmlformats.org/officeDocument/2006/relationships/image" Target="../media/image920.png"/><Relationship Id="rId10" Type="http://schemas.openxmlformats.org/officeDocument/2006/relationships/image" Target="../media/image921.png"/><Relationship Id="rId11" Type="http://schemas.openxmlformats.org/officeDocument/2006/relationships/image" Target="../media/image922.png"/><Relationship Id="rId12" Type="http://schemas.openxmlformats.org/officeDocument/2006/relationships/image" Target="../media/image923.png"/></Relationships>
</file>

<file path=ppt/charts/_rels/chart166.xml.rels><?xml version='1.0' encoding='UTF-8' standalone='yes'?>
<Relationships xmlns="http://schemas.openxmlformats.org/package/2006/relationships"><Relationship Id="rId2" Type="http://schemas.openxmlformats.org/officeDocument/2006/relationships/image" Target="../media/image924.png"/><Relationship Id="rId3" Type="http://schemas.openxmlformats.org/officeDocument/2006/relationships/image" Target="../media/image925.png"/><Relationship Id="rId4" Type="http://schemas.openxmlformats.org/officeDocument/2006/relationships/image" Target="../media/image926.png"/><Relationship Id="rId5" Type="http://schemas.openxmlformats.org/officeDocument/2006/relationships/image" Target="../media/image927.png"/><Relationship Id="rId6" Type="http://schemas.openxmlformats.org/officeDocument/2006/relationships/image" Target="../media/image928.png"/><Relationship Id="rId7" Type="http://schemas.openxmlformats.org/officeDocument/2006/relationships/image" Target="../media/image929.png"/><Relationship Id="rId8" Type="http://schemas.openxmlformats.org/officeDocument/2006/relationships/image" Target="../media/image930.png"/><Relationship Id="rId9" Type="http://schemas.openxmlformats.org/officeDocument/2006/relationships/image" Target="../media/image931.png"/><Relationship Id="rId10" Type="http://schemas.openxmlformats.org/officeDocument/2006/relationships/image" Target="../media/image932.png"/><Relationship Id="rId11" Type="http://schemas.openxmlformats.org/officeDocument/2006/relationships/image" Target="../media/image933.png"/></Relationships>
</file>

<file path=ppt/charts/_rels/chart167.xml.rels><?xml version='1.0' encoding='UTF-8' standalone='yes'?>
<Relationships xmlns="http://schemas.openxmlformats.org/package/2006/relationships"><Relationship Id="rId2" Type="http://schemas.openxmlformats.org/officeDocument/2006/relationships/image" Target="../media/image934.png"/><Relationship Id="rId3" Type="http://schemas.openxmlformats.org/officeDocument/2006/relationships/image" Target="../media/image935.png"/><Relationship Id="rId4" Type="http://schemas.openxmlformats.org/officeDocument/2006/relationships/image" Target="../media/image936.png"/><Relationship Id="rId5" Type="http://schemas.openxmlformats.org/officeDocument/2006/relationships/image" Target="../media/image937.png"/><Relationship Id="rId6" Type="http://schemas.openxmlformats.org/officeDocument/2006/relationships/image" Target="../media/image938.png"/><Relationship Id="rId7" Type="http://schemas.openxmlformats.org/officeDocument/2006/relationships/image" Target="../media/image939.png"/><Relationship Id="rId8" Type="http://schemas.openxmlformats.org/officeDocument/2006/relationships/image" Target="../media/image940.png"/><Relationship Id="rId9" Type="http://schemas.openxmlformats.org/officeDocument/2006/relationships/image" Target="../media/image941.png"/><Relationship Id="rId10" Type="http://schemas.openxmlformats.org/officeDocument/2006/relationships/image" Target="../media/image942.png"/><Relationship Id="rId11" Type="http://schemas.openxmlformats.org/officeDocument/2006/relationships/image" Target="../media/image943.png"/><Relationship Id="rId12" Type="http://schemas.openxmlformats.org/officeDocument/2006/relationships/image" Target="../media/image944.png"/></Relationships>
</file>

<file path=ppt/charts/_rels/chart168.xml.rels><?xml version='1.0' encoding='UTF-8' standalone='yes'?>
<Relationships xmlns="http://schemas.openxmlformats.org/package/2006/relationships"><Relationship Id="rId2" Type="http://schemas.openxmlformats.org/officeDocument/2006/relationships/image" Target="../media/image945.png"/><Relationship Id="rId3" Type="http://schemas.openxmlformats.org/officeDocument/2006/relationships/image" Target="../media/image946.png"/><Relationship Id="rId4" Type="http://schemas.openxmlformats.org/officeDocument/2006/relationships/image" Target="../media/image947.png"/><Relationship Id="rId5" Type="http://schemas.openxmlformats.org/officeDocument/2006/relationships/image" Target="../media/image948.png"/><Relationship Id="rId6" Type="http://schemas.openxmlformats.org/officeDocument/2006/relationships/image" Target="../media/image949.png"/><Relationship Id="rId7" Type="http://schemas.openxmlformats.org/officeDocument/2006/relationships/image" Target="../media/image950.png"/><Relationship Id="rId8" Type="http://schemas.openxmlformats.org/officeDocument/2006/relationships/image" Target="../media/image951.png"/><Relationship Id="rId9" Type="http://schemas.openxmlformats.org/officeDocument/2006/relationships/image" Target="../media/image952.png"/><Relationship Id="rId10" Type="http://schemas.openxmlformats.org/officeDocument/2006/relationships/image" Target="../media/image953.png"/></Relationships>
</file>

<file path=ppt/charts/_rels/chart169.xml.rels><?xml version='1.0' encoding='UTF-8' standalone='yes'?>
<Relationships xmlns="http://schemas.openxmlformats.org/package/2006/relationships"><Relationship Id="rId2" Type="http://schemas.openxmlformats.org/officeDocument/2006/relationships/image" Target="../media/image954.png"/><Relationship Id="rId3" Type="http://schemas.openxmlformats.org/officeDocument/2006/relationships/image" Target="../media/image955.png"/><Relationship Id="rId4" Type="http://schemas.openxmlformats.org/officeDocument/2006/relationships/image" Target="../media/image956.png"/><Relationship Id="rId5" Type="http://schemas.openxmlformats.org/officeDocument/2006/relationships/image" Target="../media/image957.png"/></Relationships>
</file>

<file path=ppt/charts/_rels/chart170.xml.rels><?xml version='1.0' encoding='UTF-8' standalone='yes'?>
<Relationships xmlns="http://schemas.openxmlformats.org/package/2006/relationships"><Relationship Id="rId2" Type="http://schemas.openxmlformats.org/officeDocument/2006/relationships/image" Target="../media/image958.png"/><Relationship Id="rId3" Type="http://schemas.openxmlformats.org/officeDocument/2006/relationships/image" Target="../media/image959.png"/><Relationship Id="rId4" Type="http://schemas.openxmlformats.org/officeDocument/2006/relationships/image" Target="../media/image960.png"/><Relationship Id="rId5" Type="http://schemas.openxmlformats.org/officeDocument/2006/relationships/image" Target="../media/image961.png"/><Relationship Id="rId6" Type="http://schemas.openxmlformats.org/officeDocument/2006/relationships/image" Target="../media/image962.png"/></Relationships>
</file>

<file path=ppt/charts/_rels/chart171.xml.rels><?xml version='1.0' encoding='UTF-8' standalone='yes'?>
<Relationships xmlns="http://schemas.openxmlformats.org/package/2006/relationships"><Relationship Id="rId2" Type="http://schemas.openxmlformats.org/officeDocument/2006/relationships/image" Target="../media/image963.png"/><Relationship Id="rId3" Type="http://schemas.openxmlformats.org/officeDocument/2006/relationships/image" Target="../media/image964.png"/><Relationship Id="rId4" Type="http://schemas.openxmlformats.org/officeDocument/2006/relationships/image" Target="../media/image965.png"/><Relationship Id="rId5" Type="http://schemas.openxmlformats.org/officeDocument/2006/relationships/image" Target="../media/image966.png"/></Relationships>
</file>

<file path=ppt/charts/_rels/chart172.xml.rels><?xml version='1.0' encoding='UTF-8' standalone='yes'?>
<Relationships xmlns="http://schemas.openxmlformats.org/package/2006/relationships"><Relationship Id="rId2" Type="http://schemas.openxmlformats.org/officeDocument/2006/relationships/image" Target="../media/image967.png"/><Relationship Id="rId3" Type="http://schemas.openxmlformats.org/officeDocument/2006/relationships/image" Target="../media/image968.png"/><Relationship Id="rId4" Type="http://schemas.openxmlformats.org/officeDocument/2006/relationships/image" Target="../media/image969.png"/><Relationship Id="rId5" Type="http://schemas.openxmlformats.org/officeDocument/2006/relationships/image" Target="../media/image970.png"/><Relationship Id="rId6" Type="http://schemas.openxmlformats.org/officeDocument/2006/relationships/image" Target="../media/image971.png"/><Relationship Id="rId7" Type="http://schemas.openxmlformats.org/officeDocument/2006/relationships/image" Target="../media/image972.png"/><Relationship Id="rId8" Type="http://schemas.openxmlformats.org/officeDocument/2006/relationships/image" Target="../media/image973.png"/><Relationship Id="rId9" Type="http://schemas.openxmlformats.org/officeDocument/2006/relationships/image" Target="../media/image974.png"/><Relationship Id="rId10" Type="http://schemas.openxmlformats.org/officeDocument/2006/relationships/image" Target="../media/image975.png"/><Relationship Id="rId11" Type="http://schemas.openxmlformats.org/officeDocument/2006/relationships/image" Target="../media/image976.png"/></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3.6198398995503034</c:v>
                </c:pt>
                <c:pt idx="1">
                  <c:v>4.553107255971756</c:v>
                </c:pt>
                <c:pt idx="2">
                  <c:v>4.241087899563123</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6.010101577882717"/>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2225502.3479999998</c:v>
                </c:pt>
                <c:pt idx="2">
                  <c:v>0.0</c:v>
                </c:pt>
                <c:pt idx="3">
                  <c:v>2658536.587</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0,,&quot;M&quot;"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2225502.3479999998</c:v>
                </c:pt>
                <c:pt idx="1">
                  <c:v>433034.23900000006</c:v>
                </c:pt>
                <c:pt idx="2">
                  <c:v>2658536.587</c:v>
                </c:pt>
                <c:pt idx="3">
                  <c:v>1491119.3060000003</c:v>
                </c:pt>
                <c:pt idx="4">
                  <c:v>4149655.893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quot;M&quot;"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4.126859335369337</c:v>
                </c:pt>
                <c:pt idx="1">
                  <c:v>4.9939469101035305</c:v>
                </c:pt>
                <c:pt idx="2">
                  <c:v>4.704118403200064</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6.59200992133666"/>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8904.563</c:v>
                </c:pt>
                <c:pt idx="2">
                  <c:v>0.0</c:v>
                </c:pt>
                <c:pt idx="3">
                  <c:v>10899.999</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8904.563</c:v>
                </c:pt>
                <c:pt idx="1">
                  <c:v>1995.4359999999997</c:v>
                </c:pt>
                <c:pt idx="2">
                  <c:v>10899.999</c:v>
                </c:pt>
                <c:pt idx="3">
                  <c:v>6844.718000000001</c:v>
                </c:pt>
                <c:pt idx="4">
                  <c:v>17744.717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8904.563</c:v>
                </c:pt>
                <c:pt idx="1">
                  <c:v>9270.468</c:v>
                </c:pt>
                <c:pt idx="2">
                  <c:v>9652.224</c:v>
                </c:pt>
                <c:pt idx="3">
                  <c:v>10050.559000000001</c:v>
                </c:pt>
                <c:pt idx="4">
                  <c:v>10466.22</c:v>
                </c:pt>
              </c:numCache>
            </c:numRef>
          </c:val>
        </c:ser>
        <c:gapWidth val="50"/>
        <c:axId val="-2068027336"/>
        <c:axId val="-2113994440"/>
      </c:barChart>
      <c:barChart>
        <c:barDir val="col"/>
        <c:grouping val="clustered"/>
        <c:varyColors val="0"/>
        <c:ser>
          <c:idx val="1"/>
          <c:order val="1"/>
          <c:tx>
            <c:strRef>
              <c:strCache>
                <c:ptCount val="1"/>
                <c:pt idx="0">
                  <c:v>Volume (Units)</c:v>
                </c:pt>
              </c:strCache>
            </c:strRef>
          </c:tx>
          <c:spPr>
            <a:solidFill>
              <a:srgbClr val="C55A11"/>
            </a:solidFill>
            <a:ln>
              <a:noFill/>
            </a:ln>
          </c:spPr>
          <c:dLbls>
            <c:dLbl>
              <c:idx val="0"/>
              <c:numFmt formatCode="&quot;MMMMMMMMMMM&quot;;&quot;MMMMMMMMMMM&quot;;&quot;MMM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MM&quot;;&quot;MMMMMMMMMMM&quot;;&quot;MMM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MM&quot;;&quot;MMMMMMMMMMM&quot;;&quot;MMM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MM&quot;;&quot;MMMMMMMMMMM&quot;;&quot;MMM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MM&quot;;&quot;MMMMMMMMMMM&quot;;&quot;MM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M&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2225502.3479999998</c:v>
                </c:pt>
                <c:pt idx="1">
                  <c:v>2305239.798</c:v>
                </c:pt>
                <c:pt idx="2">
                  <c:v>2388259.938</c:v>
                </c:pt>
                <c:pt idx="3">
                  <c:v>2474711.164</c:v>
                </c:pt>
                <c:pt idx="4">
                  <c:v>2564749.029</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12350"/>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3507556"/>
          <c:min val="0"/>
        </c:scaling>
        <c:delete val="0"/>
        <c:axPos val="r"/>
        <c:numFmt formatCode="#,##0,,&quot;M&quot;"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M&quot;;&quot;MMMMMMMM&quot;;&quot;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quot;;&quot;MMMMMMMM&quot;;&quot;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quot;;&quot;MMMMMMMM&quot;;&quot;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quot;;&quot;MMMMMMMM&quot;;&quot;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quot;;&quot;MMMMMMMM&quot;;&quot;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quot;;&quot;MMMMMMMM&quot;;&quot;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quot;;&quot;MMMMMMMM&quot;;&quot;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quot;;&quot;MMMMMMMM&quot;;&quot;M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10899.999</c:v>
                </c:pt>
                <c:pt idx="1">
                  <c:v>11439.934000000001</c:v>
                </c:pt>
                <c:pt idx="2">
                  <c:v>12007.632000000001</c:v>
                </c:pt>
                <c:pt idx="3">
                  <c:v>12604.572</c:v>
                </c:pt>
                <c:pt idx="4">
                  <c:v>13232.323</c:v>
                </c:pt>
                <c:pt idx="5">
                  <c:v>13892.524</c:v>
                </c:pt>
                <c:pt idx="6">
                  <c:v>14586.922999999999</c:v>
                </c:pt>
                <c:pt idx="7">
                  <c:v>15317.345</c:v>
                </c:pt>
                <c:pt idx="8">
                  <c:v>16085.737000000001</c:v>
                </c:pt>
                <c:pt idx="9">
                  <c:v>16894.14</c:v>
                </c:pt>
                <c:pt idx="10">
                  <c:v>17744.717</c:v>
                </c:pt>
              </c:numCache>
            </c:numRef>
          </c:val>
        </c:ser>
        <c:gapWidth val="50"/>
        <c:axId val="-2068027336"/>
        <c:axId val="-2113994440"/>
      </c:barChart>
      <c:barChart>
        <c:barDir val="col"/>
        <c:grouping val="clustered"/>
        <c:varyColors val="0"/>
        <c:ser>
          <c:idx val="1"/>
          <c:order val="1"/>
          <c:tx>
            <c:strRef>
              <c:strCache>
                <c:ptCount val="1"/>
                <c:pt idx="0">
                  <c:v>Volume (Units)</c:v>
                </c:pt>
              </c:strCache>
            </c:strRef>
          </c:tx>
          <c:spPr>
            <a:solidFill>
              <a:srgbClr val="C55A11"/>
            </a:solidFill>
            <a:ln>
              <a:noFill/>
            </a:ln>
          </c:spPr>
          <c:dLbls>
            <c:dLbl>
              <c:idx val="0"/>
              <c:numFmt formatCode="&quot;MMMMMMMMMMM&quot;;&quot;MMMMMMMMMMM&quot;;&quot;MMM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MM&quot;;&quot;MMMMMMMMMMM&quot;;&quot;MM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MM&quot;;&quot;MMMMMMMMMMM&quot;;&quot;MM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MM&quot;;&quot;MMMMMMMMMMM&quot;;&quot;MM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MM&quot;;&quot;MMMMMMMMMMM&quot;;&quot;MM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MM&quot;;&quot;MMMMMMMMMMM&quot;;&quot;MMM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MM&quot;;&quot;MMMMMMMMMMM&quot;;&quot;MMM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MM&quot;;&quot;MMMMMMMMMMM&quot;;&quot;MMM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MM&quot;;&quot;MMMMMMMMMMM&quot;;&quot;MMM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MM&quot;;&quot;MMMMMMMMMMM&quot;;&quot;MMM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MM&quot;;&quot;MMMMMMMMMMM&quot;;&quot;MMM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M&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2658536.587</c:v>
                </c:pt>
                <c:pt idx="1">
                  <c:v>2777384.4790000003</c:v>
                </c:pt>
                <c:pt idx="2">
                  <c:v>2902057.076</c:v>
                </c:pt>
                <c:pt idx="3">
                  <c:v>3032860.343</c:v>
                </c:pt>
                <c:pt idx="4">
                  <c:v>3170117.193</c:v>
                </c:pt>
                <c:pt idx="5">
                  <c:v>3314168.4169999994</c:v>
                </c:pt>
                <c:pt idx="6">
                  <c:v>3465373.738</c:v>
                </c:pt>
                <c:pt idx="7">
                  <c:v>3624112.9010000005</c:v>
                </c:pt>
                <c:pt idx="8">
                  <c:v>3790786.815</c:v>
                </c:pt>
                <c:pt idx="9">
                  <c:v>3965818.808</c:v>
                </c:pt>
                <c:pt idx="10">
                  <c:v>4149655.893</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20939"/>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5803428"/>
          <c:min val="0"/>
        </c:scaling>
        <c:delete val="0"/>
        <c:axPos val="r"/>
        <c:numFmt formatCode="#,##0,,&quot;M&quot;"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9"/>
                <c:pt idx="0">
                  <c:v>Turkiye</c:v>
                </c:pt>
                <c:pt idx="1">
                  <c:v>Hungary</c:v>
                </c:pt>
                <c:pt idx="2">
                  <c:v>Russia</c:v>
                </c:pt>
                <c:pt idx="3">
                  <c:v>Brazil</c:v>
                </c:pt>
                <c:pt idx="4">
                  <c:v>Poland</c:v>
                </c:pt>
                <c:pt idx="5">
                  <c:v>France</c:v>
                </c:pt>
                <c:pt idx="6">
                  <c:v>Chile</c:v>
                </c:pt>
                <c:pt idx="7">
                  <c:v>Germany</c:v>
                </c:pt>
                <c:pt idx="8">
                  <c:v>India</c:v>
                </c:pt>
              </c:strCache>
            </c:strRef>
          </c:cat>
          <c:val>
            <c:numRef>
              <c:numCache>
                <c:formatCode>General</c:formatCode>
                <c:ptCount val="9"/>
                <c:pt idx="0">
                  <c:v>110.06599292276161</c:v>
                </c:pt>
                <c:pt idx="1">
                  <c:v>116.34082488153128</c:v>
                </c:pt>
                <c:pt idx="2">
                  <c:v>118.36155088916583</c:v>
                </c:pt>
                <c:pt idx="3">
                  <c:v>118.5729789167459</c:v>
                </c:pt>
                <c:pt idx="4">
                  <c:v>119.26787899803611</c:v>
                </c:pt>
                <c:pt idx="5">
                  <c:v>122.98526572334856</c:v>
                </c:pt>
                <c:pt idx="6">
                  <c:v>126.79162205238038</c:v>
                </c:pt>
                <c:pt idx="7">
                  <c:v>131.054746758804</c:v>
                </c:pt>
                <c:pt idx="8">
                  <c:v>135.42999057944166</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8"/>
                <c:pt idx="0">
                  <c:v>Japan</c:v>
                </c:pt>
                <c:pt idx="1">
                  <c:v>Russia</c:v>
                </c:pt>
                <c:pt idx="2">
                  <c:v>Mexico</c:v>
                </c:pt>
                <c:pt idx="3">
                  <c:v>Brazil</c:v>
                </c:pt>
                <c:pt idx="4">
                  <c:v>China</c:v>
                </c:pt>
                <c:pt idx="5">
                  <c:v>Canada</c:v>
                </c:pt>
                <c:pt idx="6">
                  <c:v>India</c:v>
                </c:pt>
                <c:pt idx="7">
                  <c:v>U.S.</c:v>
                </c:pt>
              </c:strCache>
            </c:strRef>
          </c:cat>
          <c:val>
            <c:numRef>
              <c:numCache>
                <c:formatCode>General</c:formatCode>
                <c:ptCount val="8"/>
                <c:pt idx="0">
                  <c:v>3.6518378112874768</c:v>
                </c:pt>
                <c:pt idx="1">
                  <c:v>4.5035018243264355</c:v>
                </c:pt>
                <c:pt idx="2">
                  <c:v>6.55236636483782</c:v>
                </c:pt>
                <c:pt idx="3">
                  <c:v>7.401985005079828</c:v>
                </c:pt>
                <c:pt idx="4">
                  <c:v>9.179384746018755</c:v>
                </c:pt>
                <c:pt idx="5">
                  <c:v>9.191306347463838</c:v>
                </c:pt>
                <c:pt idx="6">
                  <c:v>11.485513354969482</c:v>
                </c:pt>
                <c:pt idx="7">
                  <c:v>16.57760042122991</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Lbls>
            <c:dLbl>
              <c:idx val="0"/>
              <c:layout>
                <c:manualLayout>
                  <c:x val="0.0350"/>
                  <c:y val="0.0000"/>
                </c:manualLayout>
              </c:layout>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MMMM&quot;;&quot;MMMMMMM&quot;;&quot;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MMMM&quot;;&quot;MMMMMMM&quot;;&quot;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8"/>
                <c:pt idx="0">
                  <c:v>Acrylic Waterproof Coatings</c:v>
                </c:pt>
                <c:pt idx="1">
                  <c:v>Polyurethane (PU) Waterproof Coatings</c:v>
                </c:pt>
                <c:pt idx="2">
                  <c:v>Epoxy Waterproof Coatings</c:v>
                </c:pt>
                <c:pt idx="3">
                  <c:v>Silicone Waterproof Coatings</c:v>
                </c:pt>
                <c:pt idx="4">
                  <c:v>Bituminous Waterproof Coatings</c:v>
                </c:pt>
                <c:pt idx="5">
                  <c:v>Cementitious Waterproof Coatings</c:v>
                </c:pt>
                <c:pt idx="6">
                  <c:v>Polyurea Waterproof Coatings</c:v>
                </c:pt>
                <c:pt idx="7">
                  <c:v>Other Polymer-Based Coatings</c:v>
                </c:pt>
              </c:strCache>
            </c:strRef>
          </c:cat>
          <c:val>
            <c:numRef>
              <c:numCache>
                <c:formatCode>General</c:formatCode>
                <c:ptCount val="8"/>
                <c:pt idx="0">
                  <c:v>606.526</c:v>
                </c:pt>
                <c:pt idx="1">
                  <c:v>1672.807</c:v>
                </c:pt>
                <c:pt idx="2">
                  <c:v>1550.128</c:v>
                </c:pt>
                <c:pt idx="3">
                  <c:v>3229.137</c:v>
                </c:pt>
                <c:pt idx="4">
                  <c:v>1000.504</c:v>
                </c:pt>
                <c:pt idx="5">
                  <c:v>2432.347</c:v>
                </c:pt>
                <c:pt idx="6">
                  <c:v>3553.145</c:v>
                </c:pt>
                <c:pt idx="7">
                  <c:v>3700.123</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0.06594046104747486</c:v>
                </c:pt>
                <c:pt idx="1">
                  <c:v>0.06361046104747486</c:v>
                </c:pt>
                <c:pt idx="2">
                  <c:v>0.06161046104747487</c:v>
                </c:pt>
                <c:pt idx="3">
                  <c:v>0.05927046104747487</c:v>
                </c:pt>
                <c:pt idx="4">
                  <c:v>0.058610461047474874</c:v>
                </c:pt>
                <c:pt idx="5">
                  <c:v>0.058610461047474874</c:v>
                </c:pt>
                <c:pt idx="6">
                  <c:v>0.06094046104747487</c:v>
                </c:pt>
                <c:pt idx="7">
                  <c:v>0.06261046104747486</c:v>
                </c:pt>
                <c:pt idx="8">
                  <c:v>0.06261046104747486</c:v>
                </c:pt>
                <c:pt idx="9">
                  <c:v>0.061650461047474875</c:v>
                </c:pt>
                <c:pt idx="10">
                  <c:v>0.060560461047474874</c:v>
                </c:pt>
              </c:numCache>
            </c:numRef>
          </c:val>
          <c:smooth val="0"/>
        </c:ser>
        <c:ser>
          <c:idx val="1"/>
          <c:order val="1"/>
          <c:tx>
            <c:strRe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0.045262647715627366</c:v>
                </c:pt>
                <c:pt idx="1">
                  <c:v>0.046782647715627367</c:v>
                </c:pt>
                <c:pt idx="2">
                  <c:v>0.050132647715627365</c:v>
                </c:pt>
                <c:pt idx="3">
                  <c:v>0.05318264771562737</c:v>
                </c:pt>
                <c:pt idx="4">
                  <c:v>0.052512647715627365</c:v>
                </c:pt>
                <c:pt idx="5">
                  <c:v>0.049992647715627364</c:v>
                </c:pt>
                <c:pt idx="6">
                  <c:v>0.048542647715627364</c:v>
                </c:pt>
                <c:pt idx="7">
                  <c:v>0.050422647715627364</c:v>
                </c:pt>
                <c:pt idx="8">
                  <c:v>0.04985264771562737</c:v>
                </c:pt>
                <c:pt idx="9">
                  <c:v>0.048162647715627366</c:v>
                </c:pt>
                <c:pt idx="10">
                  <c:v>0.04599264771562737</c:v>
                </c:pt>
              </c:numCache>
            </c:numRef>
          </c:val>
          <c:smooth val="0"/>
        </c:ser>
        <c:ser>
          <c:idx val="2"/>
          <c:order val="2"/>
          <c:tx>
            <c:strRe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0.04249659414509257</c:v>
                </c:pt>
                <c:pt idx="1">
                  <c:v>0.041590738986567</c:v>
                </c:pt>
                <c:pt idx="2">
                  <c:v>0.03900010862874545</c:v>
                </c:pt>
                <c:pt idx="3">
                  <c:v>0.034949724416739394</c:v>
                </c:pt>
                <c:pt idx="4">
                  <c:v>0.0338419270254215</c:v>
                </c:pt>
                <c:pt idx="5">
                  <c:v>0.03624215470661028</c:v>
                </c:pt>
                <c:pt idx="6">
                  <c:v>0.03767882944847567</c:v>
                </c:pt>
                <c:pt idx="7">
                  <c:v>0.03752881521840137</c:v>
                </c:pt>
                <c:pt idx="8">
                  <c:v>0.03595366580262124</c:v>
                </c:pt>
                <c:pt idx="9">
                  <c:v>0.03441890483339957</c:v>
                </c:pt>
                <c:pt idx="10">
                  <c:v>0.03196097937141299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6D5E1"/>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C6D5E1"/>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South Asia &amp; Pacific</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21.93168165716126</c:v>
                </c:pt>
                <c:pt idx="1">
                  <c:v>25.520202115708297</c:v>
                </c:pt>
              </c:numCache>
            </c:numRef>
          </c:val>
        </c:ser>
        <c:ser>
          <c:idx val="1"/>
          <c:order val="1"/>
          <c:tx>
            <c:strRef>
              <c:strCache>
                <c:ptCount val="1"/>
                <c:pt idx="0">
                  <c:v>North America</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27.99086394517993</c:v>
                </c:pt>
                <c:pt idx="1">
                  <c:v>23.517177668784594</c:v>
                </c:pt>
              </c:numCache>
            </c:numRef>
          </c:val>
        </c:ser>
        <c:ser>
          <c:idx val="2"/>
          <c:order val="2"/>
          <c:tx>
            <c:strRef>
              <c:strCache>
                <c:ptCount val="1"/>
                <c:pt idx="0">
                  <c:v>East Asia</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21.255378871338436</c:v>
                </c:pt>
                <c:pt idx="1">
                  <c:v>21.738692297877236</c:v>
                </c:pt>
              </c:numCache>
            </c:numRef>
          </c:val>
        </c:ser>
        <c:ser>
          <c:idx val="3"/>
          <c:order val="3"/>
          <c:tx>
            <c:strRef>
              <c:strCache>
                <c:ptCount val="1"/>
                <c:pt idx="0">
                  <c:v>Latin America</c:v>
                </c:pt>
              </c:strCache>
            </c:strRef>
          </c:tx>
          <c:spPr>
            <a:solidFill>
              <a:srgbClr val="40315E"/>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9.48547133912361</c:v>
                </c:pt>
                <c:pt idx="1">
                  <c:v>10.083008345482588</c:v>
                </c:pt>
              </c:numCache>
            </c:numRef>
          </c:val>
        </c:ser>
        <c:ser>
          <c:idx val="4"/>
          <c:order val="4"/>
          <c:tx>
            <c:strRef>
              <c:strCache>
                <c:ptCount val="1"/>
                <c:pt idx="0">
                  <c:v>Middle East &amp; Africa</c:v>
                </c:pt>
              </c:strCache>
            </c:strRef>
          </c:tx>
          <c:spPr>
            <a:solidFill>
              <a:srgbClr val="A35313"/>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8.761792150577614</c:v>
                </c:pt>
                <c:pt idx="1">
                  <c:v>8.687066669988099</c:v>
                </c:pt>
              </c:numCache>
            </c:numRef>
          </c:val>
        </c:ser>
        <c:ser>
          <c:idx val="5"/>
          <c:order val="5"/>
          <c:tx>
            <c:strRef>
              <c:strCache>
                <c:ptCount val="1"/>
                <c:pt idx="0">
                  <c:v>Eastern Europe</c:v>
                </c:pt>
              </c:strCache>
            </c:strRef>
          </c:tx>
          <c:spPr>
            <a:solidFill>
              <a:srgbClr val="808080"/>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6.7517964160333</c:v>
                </c:pt>
                <c:pt idx="1">
                  <c:v>6.741032322026322</c:v>
                </c:pt>
              </c:numCache>
            </c:numRef>
          </c:val>
        </c:ser>
        <c:ser>
          <c:idx val="6"/>
          <c:order val="6"/>
          <c:tx>
            <c:strRef>
              <c:strCache>
                <c:ptCount val="1"/>
                <c:pt idx="0">
                  <c:v>Western Europe</c:v>
                </c:pt>
              </c:strCache>
            </c:strRef>
          </c:tx>
          <c:spPr>
            <a:solidFill>
              <a:srgbClr val="0E72AE"/>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3.823015620585853</c:v>
                </c:pt>
                <c:pt idx="1">
                  <c:v>3.7128205801328593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North America</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39.60093023861745</c:v>
                </c:pt>
                <c:pt idx="1">
                  <c:v>36.79292828395065</c:v>
                </c:pt>
              </c:numCache>
            </c:numRef>
          </c:val>
        </c:ser>
        <c:ser>
          <c:idx val="1"/>
          <c:order val="1"/>
          <c:tx>
            <c:strRef>
              <c:strCache>
                <c:ptCount val="1"/>
                <c:pt idx="0">
                  <c:v>South Asia &amp; Pacific</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14.400340770673465</c:v>
                </c:pt>
                <c:pt idx="1">
                  <c:v>15.899413893160427</c:v>
                </c:pt>
              </c:numCache>
            </c:numRef>
          </c:val>
        </c:ser>
        <c:ser>
          <c:idx val="2"/>
          <c:order val="2"/>
          <c:tx>
            <c:strRef>
              <c:strCache>
                <c:ptCount val="1"/>
                <c:pt idx="0">
                  <c:v>East Asia</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15.600359229390756</c:v>
                </c:pt>
                <c:pt idx="1">
                  <c:v>15.307603947698913</c:v>
                </c:pt>
              </c:numCache>
            </c:numRef>
          </c:val>
        </c:ser>
        <c:ser>
          <c:idx val="3"/>
          <c:order val="3"/>
          <c:tx>
            <c:strRef>
              <c:strCache>
                <c:ptCount val="1"/>
                <c:pt idx="0">
                  <c:v>Latin America</c:v>
                </c:pt>
              </c:strCache>
            </c:strRef>
          </c:tx>
          <c:spPr>
            <a:solidFill>
              <a:srgbClr val="40315E"/>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9.600230238553232</c:v>
                </c:pt>
                <c:pt idx="1">
                  <c:v>10.450130030250694</c:v>
                </c:pt>
              </c:numCache>
            </c:numRef>
          </c:val>
        </c:ser>
        <c:ser>
          <c:idx val="4"/>
          <c:order val="4"/>
          <c:tx>
            <c:strRef>
              <c:strCache>
                <c:ptCount val="1"/>
                <c:pt idx="0">
                  <c:v>Middle East &amp; Africa</c:v>
                </c:pt>
              </c:strCache>
            </c:strRef>
          </c:tx>
          <c:spPr>
            <a:solidFill>
              <a:srgbClr val="A35313"/>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8.400202605523175</c:v>
                </c:pt>
                <c:pt idx="1">
                  <c:v>8.340510586897496</c:v>
                </c:pt>
              </c:numCache>
            </c:numRef>
          </c:val>
        </c:ser>
        <c:ser>
          <c:idx val="5"/>
          <c:order val="5"/>
          <c:tx>
            <c:strRef>
              <c:strCache>
                <c:ptCount val="1"/>
                <c:pt idx="0">
                  <c:v>Eastern Europe</c:v>
                </c:pt>
              </c:strCache>
            </c:strRef>
          </c:tx>
          <c:spPr>
            <a:solidFill>
              <a:srgbClr val="808080"/>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7.373092419549764</c:v>
                </c:pt>
                <c:pt idx="1">
                  <c:v>7.89159951099812</c:v>
                </c:pt>
              </c:numCache>
            </c:numRef>
          </c:val>
        </c:ser>
        <c:ser>
          <c:idx val="6"/>
          <c:order val="6"/>
          <c:tx>
            <c:strRef>
              <c:strCache>
                <c:ptCount val="1"/>
                <c:pt idx="0">
                  <c:v>Western Europe</c:v>
                </c:pt>
              </c:strCache>
            </c:strRef>
          </c:tx>
          <c:spPr>
            <a:solidFill>
              <a:srgbClr val="0E72AE"/>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5.024844497692156</c:v>
                </c:pt>
                <c:pt idx="1">
                  <c:v>5.317813747043697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North America</c:v>
                </c:pt>
              </c:strCache>
            </c:strRef>
          </c:tx>
          <c:spPr>
            <a:solidFill>
              <a:srgbClr val="3D85C6"/>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675781.745</c:v>
                </c:pt>
                <c:pt idx="1">
                  <c:v>688909.276</c:v>
                </c:pt>
                <c:pt idx="2">
                  <c:v>702303.837</c:v>
                </c:pt>
                <c:pt idx="3">
                  <c:v>715971.13</c:v>
                </c:pt>
                <c:pt idx="4">
                  <c:v>729916.983</c:v>
                </c:pt>
                <c:pt idx="5">
                  <c:v>744147.359</c:v>
                </c:pt>
                <c:pt idx="6">
                  <c:v>764537.754</c:v>
                </c:pt>
                <c:pt idx="7">
                  <c:v>785500.335</c:v>
                </c:pt>
                <c:pt idx="8">
                  <c:v>807051.572</c:v>
                </c:pt>
                <c:pt idx="9">
                  <c:v>829208.418</c:v>
                </c:pt>
                <c:pt idx="10">
                  <c:v>851988.334</c:v>
                </c:pt>
                <c:pt idx="11">
                  <c:v>875409.291</c:v>
                </c:pt>
                <c:pt idx="12">
                  <c:v>899489.792</c:v>
                </c:pt>
                <c:pt idx="13">
                  <c:v>924248.892</c:v>
                </c:pt>
                <c:pt idx="14">
                  <c:v>949706.211</c:v>
                </c:pt>
                <c:pt idx="15">
                  <c:v>975881.949</c:v>
                </c:pt>
              </c:numCache>
            </c:numRef>
          </c:val>
        </c:ser>
        <c:ser>
          <c:idx val="1"/>
          <c:order val="1"/>
          <c:tx>
            <c:strRef>
              <c:strCache>
                <c:ptCount val="1"/>
                <c:pt idx="0">
                  <c:v>East Asia</c:v>
                </c:pt>
              </c:strCache>
            </c:strRef>
          </c:tx>
          <c:spPr>
            <a:solidFill>
              <a:srgbClr val="9E7E0A"/>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465061.54</c:v>
                </c:pt>
                <c:pt idx="1">
                  <c:v>483517.996</c:v>
                </c:pt>
                <c:pt idx="2">
                  <c:v>502717.377</c:v>
                </c:pt>
                <c:pt idx="3">
                  <c:v>522689.949</c:v>
                </c:pt>
                <c:pt idx="4">
                  <c:v>543467.228</c:v>
                </c:pt>
                <c:pt idx="5">
                  <c:v>565082.024</c:v>
                </c:pt>
                <c:pt idx="6">
                  <c:v>592087.691</c:v>
                </c:pt>
                <c:pt idx="7">
                  <c:v>620396.463</c:v>
                </c:pt>
                <c:pt idx="8">
                  <c:v>650071.749</c:v>
                </c:pt>
                <c:pt idx="9">
                  <c:v>681180.074</c:v>
                </c:pt>
                <c:pt idx="10">
                  <c:v>713791.217</c:v>
                </c:pt>
                <c:pt idx="11">
                  <c:v>747978.386</c:v>
                </c:pt>
                <c:pt idx="12">
                  <c:v>783818.378</c:v>
                </c:pt>
                <c:pt idx="13">
                  <c:v>821391.76</c:v>
                </c:pt>
                <c:pt idx="14">
                  <c:v>860783.052</c:v>
                </c:pt>
                <c:pt idx="15">
                  <c:v>902080.926</c:v>
                </c:pt>
              </c:numCache>
            </c:numRef>
          </c:val>
        </c:ser>
        <c:ser>
          <c:idx val="2"/>
          <c:order val="2"/>
          <c:tx>
            <c:strRef>
              <c:strCache>
                <c:ptCount val="1"/>
                <c:pt idx="0">
                  <c:v>South Asia &amp; Pacific</c:v>
                </c:pt>
              </c:strCache>
            </c:strRef>
          </c:tx>
          <c:spPr>
            <a:solidFill>
              <a:srgbClr val="008189"/>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450410.342</c:v>
                </c:pt>
                <c:pt idx="1">
                  <c:v>474211.194</c:v>
                </c:pt>
                <c:pt idx="2">
                  <c:v>499303.191</c:v>
                </c:pt>
                <c:pt idx="3">
                  <c:v>525757.868</c:v>
                </c:pt>
                <c:pt idx="4">
                  <c:v>553650.791</c:v>
                </c:pt>
                <c:pt idx="5">
                  <c:v>583061.781</c:v>
                </c:pt>
                <c:pt idx="6">
                  <c:v>618743.574</c:v>
                </c:pt>
                <c:pt idx="7">
                  <c:v>656650.801</c:v>
                </c:pt>
                <c:pt idx="8">
                  <c:v>696924.458</c:v>
                </c:pt>
                <c:pt idx="9">
                  <c:v>739714.596</c:v>
                </c:pt>
                <c:pt idx="10">
                  <c:v>785180.898</c:v>
                </c:pt>
                <c:pt idx="11">
                  <c:v>833493.309</c:v>
                </c:pt>
                <c:pt idx="12">
                  <c:v>884832.697</c:v>
                </c:pt>
                <c:pt idx="13">
                  <c:v>939391.571</c:v>
                </c:pt>
                <c:pt idx="14">
                  <c:v>997374.83</c:v>
                </c:pt>
                <c:pt idx="15">
                  <c:v>1059000.571</c:v>
                </c:pt>
              </c:numCache>
            </c:numRef>
          </c:val>
        </c:ser>
        <c:ser>
          <c:idx val="3"/>
          <c:order val="3"/>
          <c:tx>
            <c:strRef>
              <c:strCache>
                <c:ptCount val="1"/>
                <c:pt idx="0">
                  <c:v>Latin America</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203541.364</c:v>
                </c:pt>
                <c:pt idx="1">
                  <c:v>212440.846</c:v>
                </c:pt>
                <c:pt idx="2">
                  <c:v>221735.753</c:v>
                </c:pt>
                <c:pt idx="3">
                  <c:v>231443.848</c:v>
                </c:pt>
                <c:pt idx="4">
                  <c:v>241583.704</c:v>
                </c:pt>
                <c:pt idx="5">
                  <c:v>252174.726</c:v>
                </c:pt>
                <c:pt idx="6">
                  <c:v>265241.576</c:v>
                </c:pt>
                <c:pt idx="7">
                  <c:v>278992.875</c:v>
                </c:pt>
                <c:pt idx="8">
                  <c:v>293464.761</c:v>
                </c:pt>
                <c:pt idx="9">
                  <c:v>308695.293</c:v>
                </c:pt>
                <c:pt idx="10">
                  <c:v>324724.552</c:v>
                </c:pt>
                <c:pt idx="11">
                  <c:v>341594.745</c:v>
                </c:pt>
                <c:pt idx="12">
                  <c:v>359350.328</c:v>
                </c:pt>
                <c:pt idx="13">
                  <c:v>378038.115</c:v>
                </c:pt>
                <c:pt idx="14">
                  <c:v>397707.414</c:v>
                </c:pt>
                <c:pt idx="15">
                  <c:v>418410.15</c:v>
                </c:pt>
              </c:numCache>
            </c:numRef>
          </c:val>
        </c:ser>
        <c:ser>
          <c:idx val="4"/>
          <c:order val="4"/>
          <c:tx>
            <c:strRef>
              <c:strCache>
                <c:ptCount val="1"/>
                <c:pt idx="0">
                  <c:v>Middle East &amp; Africa</c:v>
                </c:pt>
              </c:strCache>
            </c:strRef>
          </c:tx>
          <c:spPr>
            <a:solidFill>
              <a:srgbClr val="A35313"/>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195003.22</c:v>
                </c:pt>
                <c:pt idx="1">
                  <c:v>202035.576</c:v>
                </c:pt>
                <c:pt idx="2">
                  <c:v>209334.161</c:v>
                </c:pt>
                <c:pt idx="3">
                  <c:v>216909.569</c:v>
                </c:pt>
                <c:pt idx="4">
                  <c:v>224772.832</c:v>
                </c:pt>
                <c:pt idx="5">
                  <c:v>232935.45</c:v>
                </c:pt>
                <c:pt idx="6">
                  <c:v>243264.779</c:v>
                </c:pt>
                <c:pt idx="7">
                  <c:v>254067.702</c:v>
                </c:pt>
                <c:pt idx="8">
                  <c:v>265366.689</c:v>
                </c:pt>
                <c:pt idx="9">
                  <c:v>277185.318</c:v>
                </c:pt>
                <c:pt idx="10">
                  <c:v>289548.32</c:v>
                </c:pt>
                <c:pt idx="11">
                  <c:v>302481.647</c:v>
                </c:pt>
                <c:pt idx="12">
                  <c:v>316012.53</c:v>
                </c:pt>
                <c:pt idx="13">
                  <c:v>330169.541</c:v>
                </c:pt>
                <c:pt idx="14">
                  <c:v>344982.666</c:v>
                </c:pt>
                <c:pt idx="15">
                  <c:v>360483.374</c:v>
                </c:pt>
              </c:numCache>
            </c:numRef>
          </c:val>
        </c:ser>
        <c:ser>
          <c:idx val="5"/>
          <c:order val="5"/>
          <c:tx>
            <c:strRef>
              <c:strCache>
                <c:ptCount val="1"/>
                <c:pt idx="0">
                  <c:v>Eastern Europe</c:v>
                </c:pt>
              </c:strCache>
            </c:strRef>
          </c:tx>
          <c:spPr>
            <a:solidFill>
              <a:srgbClr val="80808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149560.806</c:v>
                </c:pt>
                <c:pt idx="1">
                  <c:v>155107.299</c:v>
                </c:pt>
                <c:pt idx="2">
                  <c:v>160865.955</c:v>
                </c:pt>
                <c:pt idx="3">
                  <c:v>166845.02</c:v>
                </c:pt>
                <c:pt idx="4">
                  <c:v>173053.059</c:v>
                </c:pt>
                <c:pt idx="5">
                  <c:v>179498.978</c:v>
                </c:pt>
                <c:pt idx="6">
                  <c:v>187612.16</c:v>
                </c:pt>
                <c:pt idx="7">
                  <c:v>196099.234</c:v>
                </c:pt>
                <c:pt idx="8">
                  <c:v>204977.63</c:v>
                </c:pt>
                <c:pt idx="9">
                  <c:v>214265.599</c:v>
                </c:pt>
                <c:pt idx="10">
                  <c:v>223982.247</c:v>
                </c:pt>
                <c:pt idx="11">
                  <c:v>234147.578</c:v>
                </c:pt>
                <c:pt idx="12">
                  <c:v>244782.537</c:v>
                </c:pt>
                <c:pt idx="13">
                  <c:v>255909.049</c:v>
                </c:pt>
                <c:pt idx="14">
                  <c:v>267550.073</c:v>
                </c:pt>
                <c:pt idx="15">
                  <c:v>279729.645</c:v>
                </c:pt>
              </c:numCache>
            </c:numRef>
          </c:val>
        </c:ser>
        <c:ser>
          <c:idx val="6"/>
          <c:order val="6"/>
          <c:tx>
            <c:strRef>
              <c:strCache>
                <c:ptCount val="1"/>
                <c:pt idx="0">
                  <c:v>Western Europe</c:v>
                </c:pt>
              </c:strCache>
            </c:strRef>
          </c:tx>
          <c:spPr>
            <a:solidFill>
              <a:srgbClr val="0E72AE"/>
            </a:solidFill>
            <a:ln>
              <a:noFill/>
            </a:ln>
          </c:spPr>
          <c:dLbls>
            <c:dLbl>
              <c:layout>
                <c:manualLayout>
                  <c:x val="0"/>
                  <c:y val="-0.0830"/>
                </c:manualLayout>
              </c:layout>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6"/>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7"/>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8"/>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9"/>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86143.331</c:v>
                </c:pt>
                <c:pt idx="1">
                  <c:v>89017.611</c:v>
                </c:pt>
                <c:pt idx="2">
                  <c:v>91999.664</c:v>
                </c:pt>
                <c:pt idx="3">
                  <c:v>95093.78</c:v>
                </c:pt>
                <c:pt idx="4">
                  <c:v>98304.432</c:v>
                </c:pt>
                <c:pt idx="5">
                  <c:v>101636.269</c:v>
                </c:pt>
                <c:pt idx="6">
                  <c:v>105896.945</c:v>
                </c:pt>
                <c:pt idx="7">
                  <c:v>110349.666</c:v>
                </c:pt>
                <c:pt idx="8">
                  <c:v>115003.484</c:v>
                </c:pt>
                <c:pt idx="9">
                  <c:v>119867.895</c:v>
                </c:pt>
                <c:pt idx="10">
                  <c:v>124952.849</c:v>
                </c:pt>
                <c:pt idx="11">
                  <c:v>130268.782</c:v>
                </c:pt>
                <c:pt idx="12">
                  <c:v>135826.639</c:v>
                </c:pt>
                <c:pt idx="13">
                  <c:v>141637.887</c:v>
                </c:pt>
                <c:pt idx="14">
                  <c:v>147714.562</c:v>
                </c:pt>
                <c:pt idx="15">
                  <c:v>154069.278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quot;M&quot;"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North America</c:v>
                </c:pt>
              </c:strCache>
            </c:strRef>
          </c:tx>
          <c:spPr>
            <a:solidFill>
              <a:srgbClr val="3D85C6"/>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3650.6</c:v>
                </c:pt>
                <c:pt idx="1">
                  <c:v>3774.844</c:v>
                </c:pt>
                <c:pt idx="2">
                  <c:v>3903.403</c:v>
                </c:pt>
                <c:pt idx="3">
                  <c:v>4036.426</c:v>
                </c:pt>
                <c:pt idx="4">
                  <c:v>4174.07</c:v>
                </c:pt>
                <c:pt idx="5">
                  <c:v>4316.501</c:v>
                </c:pt>
                <c:pt idx="6">
                  <c:v>4498.421</c:v>
                </c:pt>
                <c:pt idx="7">
                  <c:v>4688.108</c:v>
                </c:pt>
                <c:pt idx="8">
                  <c:v>4885.898</c:v>
                </c:pt>
                <c:pt idx="9">
                  <c:v>5092.141</c:v>
                </c:pt>
                <c:pt idx="10">
                  <c:v>5307.203</c:v>
                </c:pt>
                <c:pt idx="11">
                  <c:v>5531.469</c:v>
                </c:pt>
                <c:pt idx="12">
                  <c:v>5765.335</c:v>
                </c:pt>
                <c:pt idx="13">
                  <c:v>6009.219</c:v>
                </c:pt>
                <c:pt idx="14">
                  <c:v>6263.557</c:v>
                </c:pt>
                <c:pt idx="15">
                  <c:v>6528.801</c:v>
                </c:pt>
              </c:numCache>
            </c:numRef>
          </c:val>
        </c:ser>
        <c:ser>
          <c:idx val="1"/>
          <c:order val="1"/>
          <c:tx>
            <c:strRef>
              <c:strCache>
                <c:ptCount val="1"/>
                <c:pt idx="0">
                  <c:v>East Asia</c:v>
                </c:pt>
              </c:strCache>
            </c:strRef>
          </c:tx>
          <c:spPr>
            <a:solidFill>
              <a:srgbClr val="9E7E0A"/>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1398.599</c:v>
                </c:pt>
                <c:pt idx="1">
                  <c:v>1454.306</c:v>
                </c:pt>
                <c:pt idx="2">
                  <c:v>1512.252</c:v>
                </c:pt>
                <c:pt idx="3">
                  <c:v>1572.527</c:v>
                </c:pt>
                <c:pt idx="4">
                  <c:v>1635.222</c:v>
                </c:pt>
                <c:pt idx="5">
                  <c:v>1700.439</c:v>
                </c:pt>
                <c:pt idx="6">
                  <c:v>1781.884</c:v>
                </c:pt>
                <c:pt idx="7">
                  <c:v>1867.25</c:v>
                </c:pt>
                <c:pt idx="8">
                  <c:v>1956.73</c:v>
                </c:pt>
                <c:pt idx="9">
                  <c:v>2050.524</c:v>
                </c:pt>
                <c:pt idx="10">
                  <c:v>2148.839</c:v>
                </c:pt>
                <c:pt idx="11">
                  <c:v>2251.894</c:v>
                </c:pt>
                <c:pt idx="12">
                  <c:v>2359.921</c:v>
                </c:pt>
                <c:pt idx="13">
                  <c:v>2473.158</c:v>
                </c:pt>
                <c:pt idx="14">
                  <c:v>2591.86</c:v>
                </c:pt>
                <c:pt idx="15">
                  <c:v>2716.291</c:v>
                </c:pt>
              </c:numCache>
            </c:numRef>
          </c:val>
        </c:ser>
        <c:ser>
          <c:idx val="2"/>
          <c:order val="2"/>
          <c:tx>
            <c:strRef>
              <c:strCache>
                <c:ptCount val="1"/>
                <c:pt idx="0">
                  <c:v>South Asia &amp; Pacific</c:v>
                </c:pt>
              </c:strCache>
            </c:strRef>
          </c:tx>
          <c:spPr>
            <a:solidFill>
              <a:srgbClr val="008189"/>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1219.484</c:v>
                </c:pt>
                <c:pt idx="1">
                  <c:v>1282.422</c:v>
                </c:pt>
                <c:pt idx="2">
                  <c:v>1348.718</c:v>
                </c:pt>
                <c:pt idx="3">
                  <c:v>1418.554</c:v>
                </c:pt>
                <c:pt idx="4">
                  <c:v>1492.127</c:v>
                </c:pt>
                <c:pt idx="5">
                  <c:v>1569.637</c:v>
                </c:pt>
                <c:pt idx="6">
                  <c:v>1663.861</c:v>
                </c:pt>
                <c:pt idx="7">
                  <c:v>1763.876</c:v>
                </c:pt>
                <c:pt idx="8">
                  <c:v>1870.046</c:v>
                </c:pt>
                <c:pt idx="9">
                  <c:v>1982.757</c:v>
                </c:pt>
                <c:pt idx="10">
                  <c:v>2102.419</c:v>
                </c:pt>
                <c:pt idx="11">
                  <c:v>2229.471</c:v>
                </c:pt>
                <c:pt idx="12">
                  <c:v>2364.372</c:v>
                </c:pt>
                <c:pt idx="13">
                  <c:v>2507.624</c:v>
                </c:pt>
                <c:pt idx="14">
                  <c:v>2659.748</c:v>
                </c:pt>
                <c:pt idx="15">
                  <c:v>2821.306</c:v>
                </c:pt>
              </c:numCache>
            </c:numRef>
          </c:val>
        </c:ser>
        <c:ser>
          <c:idx val="3"/>
          <c:order val="3"/>
          <c:tx>
            <c:strRef>
              <c:strCache>
                <c:ptCount val="1"/>
                <c:pt idx="0">
                  <c:v>Latin America</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817.319</c:v>
                </c:pt>
                <c:pt idx="1">
                  <c:v>858.676</c:v>
                </c:pt>
                <c:pt idx="2">
                  <c:v>902.151</c:v>
                </c:pt>
                <c:pt idx="3">
                  <c:v>947.857</c:v>
                </c:pt>
                <c:pt idx="4">
                  <c:v>995.908</c:v>
                </c:pt>
                <c:pt idx="5">
                  <c:v>1046.425</c:v>
                </c:pt>
                <c:pt idx="6">
                  <c:v>1107.907</c:v>
                </c:pt>
                <c:pt idx="7">
                  <c:v>1173.034</c:v>
                </c:pt>
                <c:pt idx="8">
                  <c:v>1242.024</c:v>
                </c:pt>
                <c:pt idx="9">
                  <c:v>1315.108</c:v>
                </c:pt>
                <c:pt idx="10">
                  <c:v>1392.529</c:v>
                </c:pt>
                <c:pt idx="11">
                  <c:v>1474.549</c:v>
                </c:pt>
                <c:pt idx="12">
                  <c:v>1561.44</c:v>
                </c:pt>
                <c:pt idx="13">
                  <c:v>1653.494</c:v>
                </c:pt>
                <c:pt idx="14">
                  <c:v>1751.02</c:v>
                </c:pt>
                <c:pt idx="15">
                  <c:v>1854.346</c:v>
                </c:pt>
              </c:numCache>
            </c:numRef>
          </c:val>
        </c:ser>
        <c:ser>
          <c:idx val="4"/>
          <c:order val="4"/>
          <c:tx>
            <c:strRef>
              <c:strCache>
                <c:ptCount val="1"/>
                <c:pt idx="0">
                  <c:v>Middle East &amp; Africa</c:v>
                </c:pt>
              </c:strCache>
            </c:strRef>
          </c:tx>
          <c:spPr>
            <a:solidFill>
              <a:srgbClr val="A35313"/>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749.887</c:v>
                </c:pt>
                <c:pt idx="1">
                  <c:v>780.353</c:v>
                </c:pt>
                <c:pt idx="2">
                  <c:v>812.102</c:v>
                </c:pt>
                <c:pt idx="3">
                  <c:v>845.191</c:v>
                </c:pt>
                <c:pt idx="4">
                  <c:v>879.677</c:v>
                </c:pt>
                <c:pt idx="5">
                  <c:v>915.622</c:v>
                </c:pt>
                <c:pt idx="6">
                  <c:v>960.414</c:v>
                </c:pt>
                <c:pt idx="7">
                  <c:v>1007.457</c:v>
                </c:pt>
                <c:pt idx="8">
                  <c:v>1056.861</c:v>
                </c:pt>
                <c:pt idx="9">
                  <c:v>1108.752</c:v>
                </c:pt>
                <c:pt idx="10">
                  <c:v>1163.258</c:v>
                </c:pt>
                <c:pt idx="11">
                  <c:v>1220.515</c:v>
                </c:pt>
                <c:pt idx="12">
                  <c:v>1280.664</c:v>
                </c:pt>
                <c:pt idx="13">
                  <c:v>1343.852</c:v>
                </c:pt>
                <c:pt idx="14">
                  <c:v>1410.243</c:v>
                </c:pt>
                <c:pt idx="15">
                  <c:v>1480.0</c:v>
                </c:pt>
              </c:numCache>
            </c:numRef>
          </c:val>
        </c:ser>
        <c:ser>
          <c:idx val="5"/>
          <c:order val="5"/>
          <c:tx>
            <c:strRef>
              <c:strCache>
                <c:ptCount val="1"/>
                <c:pt idx="0">
                  <c:v>Eastern Europe</c:v>
                </c:pt>
              </c:strCache>
            </c:strRef>
          </c:tx>
          <c:spPr>
            <a:solidFill>
              <a:srgbClr val="80808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633.212</c:v>
                </c:pt>
                <c:pt idx="1">
                  <c:v>664.083</c:v>
                </c:pt>
                <c:pt idx="2">
                  <c:v>696.485</c:v>
                </c:pt>
                <c:pt idx="3">
                  <c:v>730.495</c:v>
                </c:pt>
                <c:pt idx="4">
                  <c:v>766.195</c:v>
                </c:pt>
                <c:pt idx="5">
                  <c:v>803.667</c:v>
                </c:pt>
                <c:pt idx="6">
                  <c:v>849.431</c:v>
                </c:pt>
                <c:pt idx="7">
                  <c:v>897.831</c:v>
                </c:pt>
                <c:pt idx="8">
                  <c:v>949.021</c:v>
                </c:pt>
                <c:pt idx="9">
                  <c:v>1003.164</c:v>
                </c:pt>
                <c:pt idx="10">
                  <c:v>1060.428</c:v>
                </c:pt>
                <c:pt idx="11">
                  <c:v>1120.998</c:v>
                </c:pt>
                <c:pt idx="12">
                  <c:v>1185.064</c:v>
                </c:pt>
                <c:pt idx="13">
                  <c:v>1252.833</c:v>
                </c:pt>
                <c:pt idx="14">
                  <c:v>1324.515</c:v>
                </c:pt>
                <c:pt idx="15">
                  <c:v>1400.342</c:v>
                </c:pt>
              </c:numCache>
            </c:numRef>
          </c:val>
        </c:ser>
        <c:ser>
          <c:idx val="6"/>
          <c:order val="6"/>
          <c:tx>
            <c:strRef>
              <c:strCache>
                <c:ptCount val="1"/>
                <c:pt idx="0">
                  <c:v>Western Europe</c:v>
                </c:pt>
              </c:strCache>
            </c:strRef>
          </c:tx>
          <c:spPr>
            <a:solidFill>
              <a:srgbClr val="0E72AE"/>
            </a:solidFill>
            <a:ln>
              <a:noFill/>
            </a:ln>
          </c:spPr>
          <c:dLbls>
            <c:dLbl>
              <c:layout>
                <c:manualLayout>
                  <c:x val="0"/>
                  <c:y val="-0.0830"/>
                </c:manualLayout>
              </c:layout>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6"/>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7"/>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8"/>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9"/>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435.462</c:v>
                </c:pt>
                <c:pt idx="1">
                  <c:v>455.784</c:v>
                </c:pt>
                <c:pt idx="2">
                  <c:v>477.113</c:v>
                </c:pt>
                <c:pt idx="3">
                  <c:v>499.509</c:v>
                </c:pt>
                <c:pt idx="4">
                  <c:v>523.021</c:v>
                </c:pt>
                <c:pt idx="5">
                  <c:v>547.708</c:v>
                </c:pt>
                <c:pt idx="6">
                  <c:v>578.016</c:v>
                </c:pt>
                <c:pt idx="7">
                  <c:v>610.076</c:v>
                </c:pt>
                <c:pt idx="8">
                  <c:v>643.992</c:v>
                </c:pt>
                <c:pt idx="9">
                  <c:v>679.877</c:v>
                </c:pt>
                <c:pt idx="10">
                  <c:v>717.848</c:v>
                </c:pt>
                <c:pt idx="11">
                  <c:v>758.027</c:v>
                </c:pt>
                <c:pt idx="12">
                  <c:v>800.549</c:v>
                </c:pt>
                <c:pt idx="13">
                  <c:v>845.557</c:v>
                </c:pt>
                <c:pt idx="14">
                  <c:v>893.197</c:v>
                </c:pt>
                <c:pt idx="15">
                  <c:v>943.631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Acrylic Waterproof Coatings</c:v>
                </c:pt>
              </c:strCache>
            </c:strRef>
          </c:tx>
          <c:spPr>
            <a:solidFill>
              <a:srgbClr val="3D85C6"/>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3.921977976560753</c:v>
                </c:pt>
                <c:pt idx="1">
                  <c:v>3.1333774178022225</c:v>
                </c:pt>
                <c:pt idx="2">
                  <c:v>3.550337837837838</c:v>
                </c:pt>
                <c:pt idx="3">
                  <c:v>2.715836203168125</c:v>
                </c:pt>
                <c:pt idx="4">
                  <c:v>3.658076399030884</c:v>
                </c:pt>
                <c:pt idx="5">
                  <c:v>3.296310290340714</c:v>
                </c:pt>
                <c:pt idx="6">
                  <c:v>3.5285192487870285</c:v>
                </c:pt>
              </c:numCache>
            </c:numRef>
          </c:val>
        </c:ser>
        <c:ser>
          <c:idx val="1"/>
          <c:order val="1"/>
          <c:tx>
            <c:strRef>
              <c:strCache>
                <c:ptCount val="1"/>
                <c:pt idx="0">
                  <c:v>Polyurethane (PU) Waterproof Coatings</c:v>
                </c:pt>
              </c:strCache>
            </c:strRef>
          </c:tx>
          <c:spPr>
            <a:solidFill>
              <a:srgbClr val="9E7E0A"/>
            </a:solidFill>
            <a:ln>
              <a:noFill/>
            </a:ln>
          </c:spPr>
          <c:dLbls>
            <c:dLbl>
              <c:idx val="0"/>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9.396893489086306</c:v>
                </c:pt>
                <c:pt idx="1">
                  <c:v>8.659884513925883</c:v>
                </c:pt>
                <c:pt idx="2">
                  <c:v>9.7925</c:v>
                </c:pt>
                <c:pt idx="3">
                  <c:v>9.403099529429783</c:v>
                </c:pt>
                <c:pt idx="4">
                  <c:v>10.81077101091157</c:v>
                </c:pt>
                <c:pt idx="5">
                  <c:v>8.271523897088795</c:v>
                </c:pt>
                <c:pt idx="6">
                  <c:v>9.44361759532876</c:v>
                </c:pt>
              </c:numCache>
            </c:numRef>
          </c:val>
        </c:ser>
        <c:ser>
          <c:idx val="2"/>
          <c:order val="2"/>
          <c:tx>
            <c:strRef>
              <c:strCache>
                <c:ptCount val="1"/>
                <c:pt idx="0">
                  <c:v>Epoxy Waterproof Coatings</c:v>
                </c:pt>
              </c:strCache>
            </c:strRef>
          </c:tx>
          <c:spPr>
            <a:solidFill>
              <a:srgbClr val="008189"/>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7.963812125714395</c:v>
                </c:pt>
                <c:pt idx="1">
                  <c:v>9.001658166362217</c:v>
                </c:pt>
                <c:pt idx="2">
                  <c:v>8.33385135135135</c:v>
                </c:pt>
                <c:pt idx="3">
                  <c:v>8.481534729764563</c:v>
                </c:pt>
                <c:pt idx="4">
                  <c:v>10.401499692043306</c:v>
                </c:pt>
                <c:pt idx="5">
                  <c:v>7.770160344181027</c:v>
                </c:pt>
                <c:pt idx="6">
                  <c:v>8.677734242474232</c:v>
                </c:pt>
              </c:numCache>
            </c:numRef>
          </c:val>
        </c:ser>
        <c:ser>
          <c:idx val="3"/>
          <c:order val="3"/>
          <c:tx>
            <c:strRef>
              <c:strCache>
                <c:ptCount val="1"/>
                <c:pt idx="0">
                  <c:v>Silicone Waterproof Coatings</c:v>
                </c:pt>
              </c:strCache>
            </c:strRef>
          </c:tx>
          <c:spPr>
            <a:solidFill>
              <a:srgbClr val="40315E"/>
            </a:solidFill>
            <a:ln>
              <a:noFill/>
            </a:ln>
          </c:spPr>
          <c:dLbls>
            <c:dLbl>
              <c:idx val="0"/>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17.52146760757118</c:v>
                </c:pt>
                <c:pt idx="1">
                  <c:v>15.059678278591942</c:v>
                </c:pt>
                <c:pt idx="2">
                  <c:v>18.145743243243246</c:v>
                </c:pt>
                <c:pt idx="3">
                  <c:v>18.09408815830487</c:v>
                </c:pt>
                <c:pt idx="4">
                  <c:v>16.579041052670718</c:v>
                </c:pt>
                <c:pt idx="5">
                  <c:v>19.61024433365257</c:v>
                </c:pt>
                <c:pt idx="6">
                  <c:v>19.07284354355417</c:v>
                </c:pt>
              </c:numCache>
            </c:numRef>
          </c:val>
        </c:ser>
        <c:ser>
          <c:idx val="4"/>
          <c:order val="4"/>
          <c:tx>
            <c:strRef>
              <c:strCache>
                <c:ptCount val="1"/>
                <c:pt idx="0">
                  <c:v>Bituminous Waterproof Coatings</c:v>
                </c:pt>
              </c:strCache>
            </c:strRef>
          </c:tx>
          <c:spPr>
            <a:solidFill>
              <a:srgbClr val="A35313"/>
            </a:solidFill>
            <a:ln>
              <a:noFill/>
            </a:ln>
          </c:spPr>
          <c:dLbls>
            <c:dLbl>
              <c:idx val="0"/>
              <c:numFmt formatCode="&quot;MMM&quot;;&quot;MMM&quot;;&quot;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6.391163495052621</c:v>
                </c:pt>
                <c:pt idx="1">
                  <c:v>5.427745507883074</c:v>
                </c:pt>
                <c:pt idx="2">
                  <c:v>5.3434459459459465</c:v>
                </c:pt>
                <c:pt idx="3">
                  <c:v>6.429975851324402</c:v>
                </c:pt>
                <c:pt idx="4">
                  <c:v>4.980725555546147</c:v>
                </c:pt>
                <c:pt idx="5">
                  <c:v>6.373927535687374</c:v>
                </c:pt>
                <c:pt idx="6">
                  <c:v>5.372380012807866</c:v>
                </c:pt>
              </c:numCache>
            </c:numRef>
          </c:val>
        </c:ser>
        <c:ser>
          <c:idx val="5"/>
          <c:order val="5"/>
          <c:tx>
            <c:strRef>
              <c:strCache>
                <c:ptCount val="1"/>
                <c:pt idx="0">
                  <c:v>Cementitious Waterproof Coatings</c:v>
                </c:pt>
              </c:strCache>
            </c:strRef>
          </c:tx>
          <c:spPr>
            <a:solidFill>
              <a:srgbClr val="808080"/>
            </a:solidFill>
            <a:ln>
              <a:noFill/>
            </a:ln>
          </c:spPr>
          <c:dLbls>
            <c:dLbl>
              <c:idx val="0"/>
              <c:numFmt formatCode="&quot;MMMM&quot;;&quot;MMMM&quot;;&quot;M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3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3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3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12.094982042768837</c:v>
                </c:pt>
                <c:pt idx="1">
                  <c:v>15.366460478940144</c:v>
                </c:pt>
                <c:pt idx="2">
                  <c:v>13.962364864864865</c:v>
                </c:pt>
                <c:pt idx="3">
                  <c:v>12.921590684802082</c:v>
                </c:pt>
                <c:pt idx="4">
                  <c:v>13.671951937402877</c:v>
                </c:pt>
                <c:pt idx="5">
                  <c:v>13.646197895584525</c:v>
                </c:pt>
                <c:pt idx="6">
                  <c:v>13.791307163443948</c:v>
                </c:pt>
              </c:numCache>
            </c:numRef>
          </c:val>
        </c:ser>
        <c:ser>
          <c:idx val="6"/>
          <c:order val="6"/>
          <c:tx>
            <c:strRef>
              <c:strCache>
                <c:ptCount val="1"/>
                <c:pt idx="0">
                  <c:v>Polyurea Waterproof Coatings</c:v>
                </c:pt>
              </c:strCache>
            </c:strRef>
          </c:tx>
          <c:spPr>
            <a:solidFill>
              <a:srgbClr val="0E72AE"/>
            </a:solidFill>
            <a:ln>
              <a:noFill/>
            </a:ln>
          </c:spPr>
          <c:dLbls>
            <c:dLbl>
              <c:idx val="0"/>
              <c:numFmt formatCode="&quot;MMMM&quot;;&quot;MMMM&quot;;&quot;MMMM&quot;" sourceLinked="0"/>
              <c:spPr>
                <a:blipFill>
                  <a:blip r:embed="rId3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3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3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4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4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3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23.0089939817577</c:v>
                </c:pt>
                <c:pt idx="1">
                  <c:v>21.35206970868545</c:v>
                </c:pt>
                <c:pt idx="2">
                  <c:v>19.665945945945946</c:v>
                </c:pt>
                <c:pt idx="3">
                  <c:v>21.482236864101953</c:v>
                </c:pt>
                <c:pt idx="4">
                  <c:v>20.077193496573084</c:v>
                </c:pt>
                <c:pt idx="5">
                  <c:v>18.359298849539893</c:v>
                </c:pt>
                <c:pt idx="6">
                  <c:v>19.671069772229238</c:v>
                </c:pt>
              </c:numCache>
            </c:numRef>
          </c:val>
        </c:ser>
        <c:ser>
          <c:idx val="7"/>
          <c:order val="7"/>
          <c:tx>
            <c:strRef>
              <c:strCache>
                <c:ptCount val="1"/>
                <c:pt idx="0">
                  <c:v>Other Polymer-Based Coatings</c:v>
                </c:pt>
              </c:strCache>
            </c:strRef>
          </c:tx>
          <c:spPr>
            <a:solidFill>
              <a:srgbClr val="A86F00"/>
            </a:solidFill>
            <a:ln>
              <a:noFill/>
            </a:ln>
          </c:spPr>
          <c:dLbls>
            <c:dLbl>
              <c:idx val="0"/>
              <c:numFmt formatCode="&quot;MMMM&quot;;&quot;MMMM&quot;;&quot;MMMM&quot;" sourceLinked="0"/>
              <c:spPr>
                <a:blipFill>
                  <a:blip r:embed="rId3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4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4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4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4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4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19.70070928148821</c:v>
                </c:pt>
                <c:pt idx="1">
                  <c:v>21.99912592780906</c:v>
                </c:pt>
                <c:pt idx="2">
                  <c:v>21.20581081081081</c:v>
                </c:pt>
                <c:pt idx="3">
                  <c:v>20.471637979104223</c:v>
                </c:pt>
                <c:pt idx="4">
                  <c:v>19.820740855821413</c:v>
                </c:pt>
                <c:pt idx="5">
                  <c:v>22.672336853925096</c:v>
                </c:pt>
                <c:pt idx="6">
                  <c:v>20.44252842137477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Acrylic Waterproof Coatings</c:v>
                </c:pt>
              </c:strCache>
            </c:strRef>
          </c:tx>
          <c:spPr>
            <a:solidFill>
              <a:srgbClr val="3D85C6"/>
            </a:solidFill>
          </c:spPr>
          <c:invertIfNegative val="0"/>
          <c:xVal>
            <c:numRef>
              <c:numCache>
                <c:formatCode>General</c:formatCode>
                <c:ptCount val="1"/>
                <c:pt idx="0">
                  <c:v>104.18293350896579</c:v>
                </c:pt>
              </c:numCache>
            </c:numRef>
          </c:xVal>
          <c:yVal>
            <c:numRef>
              <c:numCache>
                <c:formatCode>General</c:formatCode>
                <c:ptCount val="1"/>
                <c:pt idx="0">
                  <c:v>26.806387780402552</c:v>
                </c:pt>
              </c:numCache>
            </c:numRef>
          </c:yVal>
          <c:bubbleSize>
            <c:numRef>
              <c:numCache>
                <c:formatCode>General</c:formatCode>
                <c:ptCount val="1"/>
                <c:pt idx="0">
                  <c:v>606.526</c:v>
                </c:pt>
              </c:numCache>
            </c:numRef>
          </c:bubbleSize>
          <c:bubble3D val="0"/>
        </c:ser>
        <c:ser>
          <c:idx val="1"/>
          <c:order val="1"/>
          <c:tx>
            <c:strRef>
              <c:strCache>
                <c:ptCount val="1"/>
                <c:pt idx="0">
                  <c:v>Polyurethane (PU) Waterproof Coatings</c:v>
                </c:pt>
              </c:strCache>
            </c:strRef>
          </c:tx>
          <c:spPr>
            <a:solidFill>
              <a:srgbClr val="9E7E0A"/>
            </a:solidFill>
          </c:spPr>
          <c:invertIfNegative val="0"/>
          <c:xVal>
            <c:numRef>
              <c:numCache>
                <c:formatCode>General</c:formatCode>
                <c:ptCount val="1"/>
                <c:pt idx="0">
                  <c:v>85.68149720761016</c:v>
                </c:pt>
              </c:numCache>
            </c:numRef>
          </c:xVal>
          <c:yVal>
            <c:numRef>
              <c:numCache>
                <c:formatCode>General</c:formatCode>
                <c:ptCount val="1"/>
                <c:pt idx="0">
                  <c:v>80.75053951839813</c:v>
                </c:pt>
              </c:numCache>
            </c:numRef>
          </c:yVal>
          <c:bubbleSize>
            <c:numRef>
              <c:numCache>
                <c:formatCode>General</c:formatCode>
                <c:ptCount val="1"/>
                <c:pt idx="0">
                  <c:v>1672.807</c:v>
                </c:pt>
              </c:numCache>
            </c:numRef>
          </c:bubbleSize>
          <c:bubble3D val="0"/>
        </c:ser>
        <c:ser>
          <c:idx val="2"/>
          <c:order val="2"/>
          <c:tx>
            <c:strRef>
              <c:strCache>
                <c:ptCount val="1"/>
                <c:pt idx="0">
                  <c:v>Epoxy Waterproof Coatings</c:v>
                </c:pt>
              </c:strCache>
            </c:strRef>
          </c:tx>
          <c:spPr>
            <a:solidFill>
              <a:srgbClr val="008189"/>
            </a:solidFill>
          </c:spPr>
          <c:invertIfNegative val="0"/>
          <c:xVal>
            <c:numRef>
              <c:numCache>
                <c:formatCode>General</c:formatCode>
                <c:ptCount val="1"/>
                <c:pt idx="0">
                  <c:v>113.4230377754046</c:v>
                </c:pt>
              </c:numCache>
            </c:numRef>
          </c:xVal>
          <c:yVal>
            <c:numRef>
              <c:numCache>
                <c:formatCode>General</c:formatCode>
                <c:ptCount val="1"/>
                <c:pt idx="0">
                  <c:v>65.57659317216451</c:v>
                </c:pt>
              </c:numCache>
            </c:numRef>
          </c:yVal>
          <c:bubbleSize>
            <c:numRef>
              <c:numCache>
                <c:formatCode>General</c:formatCode>
                <c:ptCount val="1"/>
                <c:pt idx="0">
                  <c:v>1550.128</c:v>
                </c:pt>
              </c:numCache>
            </c:numRef>
          </c:bubbleSize>
          <c:bubble3D val="0"/>
        </c:ser>
        <c:ser>
          <c:idx val="3"/>
          <c:order val="3"/>
          <c:tx>
            <c:strRef>
              <c:strCache>
                <c:ptCount val="1"/>
                <c:pt idx="0">
                  <c:v>Silicone Waterproof Coatings</c:v>
                </c:pt>
              </c:strCache>
            </c:strRef>
          </c:tx>
          <c:spPr>
            <a:solidFill>
              <a:srgbClr val="40315E"/>
            </a:solidFill>
          </c:spPr>
          <c:invertIfNegative val="0"/>
          <c:xVal>
            <c:numRef>
              <c:numCache>
                <c:formatCode>General</c:formatCode>
                <c:ptCount val="1"/>
                <c:pt idx="0">
                  <c:v>159.6649106358172</c:v>
                </c:pt>
              </c:numCache>
            </c:numRef>
          </c:xVal>
          <c:yVal>
            <c:numRef>
              <c:numCache>
                <c:formatCode>General</c:formatCode>
                <c:ptCount val="1"/>
                <c:pt idx="0">
                  <c:v>110.04617523359406</c:v>
                </c:pt>
              </c:numCache>
            </c:numRef>
          </c:yVal>
          <c:bubbleSize>
            <c:numRef>
              <c:numCache>
                <c:formatCode>General</c:formatCode>
                <c:ptCount val="1"/>
                <c:pt idx="0">
                  <c:v>3229.137</c:v>
                </c:pt>
              </c:numCache>
            </c:numRef>
          </c:bubbleSize>
          <c:bubble3D val="0"/>
        </c:ser>
        <c:ser>
          <c:idx val="4"/>
          <c:order val="4"/>
          <c:tx>
            <c:strRef>
              <c:strCache>
                <c:ptCount val="1"/>
                <c:pt idx="0">
                  <c:v>Bituminous Waterproof Coatings</c:v>
                </c:pt>
              </c:strCache>
            </c:strRef>
          </c:tx>
          <c:spPr>
            <a:solidFill>
              <a:srgbClr val="A35313"/>
            </a:solidFill>
          </c:spPr>
          <c:invertIfNegative val="0"/>
          <c:xVal>
            <c:numRef>
              <c:numCache>
                <c:formatCode>General</c:formatCode>
                <c:ptCount val="1"/>
                <c:pt idx="0">
                  <c:v>126.36015448114446</c:v>
                </c:pt>
              </c:numCache>
            </c:numRef>
          </c:xVal>
          <c:yVal>
            <c:numRef>
              <c:numCache>
                <c:formatCode>General</c:formatCode>
                <c:ptCount val="1"/>
                <c:pt idx="0">
                  <c:v>39.82231558002895</c:v>
                </c:pt>
              </c:numCache>
            </c:numRef>
          </c:yVal>
          <c:bubbleSize>
            <c:numRef>
              <c:numCache>
                <c:formatCode>General</c:formatCode>
                <c:ptCount val="1"/>
                <c:pt idx="0">
                  <c:v>1000.504</c:v>
                </c:pt>
              </c:numCache>
            </c:numRef>
          </c:bubbleSize>
          <c:bubble3D val="0"/>
        </c:ser>
        <c:ser>
          <c:idx val="5"/>
          <c:order val="5"/>
          <c:tx>
            <c:strRef>
              <c:strCache>
                <c:ptCount val="1"/>
                <c:pt idx="0">
                  <c:v>Cementitious Waterproof Coatings</c:v>
                </c:pt>
              </c:strCache>
            </c:strRef>
          </c:tx>
          <c:spPr>
            <a:solidFill>
              <a:srgbClr val="808080"/>
            </a:solidFill>
          </c:spPr>
          <c:invertIfNegative val="0"/>
          <c:xVal>
            <c:numRef>
              <c:numCache>
                <c:formatCode>General</c:formatCode>
                <c:ptCount val="1"/>
                <c:pt idx="0">
                  <c:v>42.97639954401684</c:v>
                </c:pt>
              </c:numCache>
            </c:numRef>
          </c:xVal>
          <c:yVal>
            <c:numRef>
              <c:numCache>
                <c:formatCode>General</c:formatCode>
                <c:ptCount val="1"/>
                <c:pt idx="0">
                  <c:v>144.36639856572464</c:v>
                </c:pt>
              </c:numCache>
            </c:numRef>
          </c:yVal>
          <c:bubbleSize>
            <c:numRef>
              <c:numCache>
                <c:formatCode>General</c:formatCode>
                <c:ptCount val="1"/>
                <c:pt idx="0">
                  <c:v>2432.347</c:v>
                </c:pt>
              </c:numCache>
            </c:numRef>
          </c:bubbleSize>
          <c:bubble3D val="0"/>
        </c:ser>
        <c:ser>
          <c:idx val="6"/>
          <c:order val="6"/>
          <c:tx>
            <c:strRef>
              <c:strCache>
                <c:ptCount val="1"/>
                <c:pt idx="0">
                  <c:v>Polyurea Waterproof Coatings</c:v>
                </c:pt>
              </c:strCache>
            </c:strRef>
          </c:tx>
          <c:spPr>
            <a:solidFill>
              <a:srgbClr val="0E72AE"/>
            </a:solidFill>
          </c:spPr>
          <c:invertIfNegative val="0"/>
          <c:xVal>
            <c:numRef>
              <c:numCache>
                <c:formatCode>General</c:formatCode>
                <c:ptCount val="1"/>
                <c:pt idx="0">
                  <c:v>137.2179454832668</c:v>
                </c:pt>
              </c:numCache>
            </c:numRef>
          </c:xVal>
          <c:yVal>
            <c:numRef>
              <c:numCache>
                <c:formatCode>General</c:formatCode>
                <c:ptCount val="1"/>
                <c:pt idx="0">
                  <c:v>134.40823251451675</c:v>
                </c:pt>
              </c:numCache>
            </c:numRef>
          </c:yVal>
          <c:bubbleSize>
            <c:numRef>
              <c:numCache>
                <c:formatCode>General</c:formatCode>
                <c:ptCount val="1"/>
                <c:pt idx="0">
                  <c:v>3553.145</c:v>
                </c:pt>
              </c:numCache>
            </c:numRef>
          </c:bubbleSize>
          <c:bubble3D val="0"/>
        </c:ser>
        <c:ser>
          <c:idx val="7"/>
          <c:order val="7"/>
          <c:tx>
            <c:strRef>
              <c:strCache>
                <c:ptCount val="1"/>
                <c:pt idx="0">
                  <c:v>Other Polymer-Based Coatings</c:v>
                </c:pt>
              </c:strCache>
            </c:strRef>
          </c:tx>
          <c:spPr>
            <a:solidFill>
              <a:srgbClr val="A86F00"/>
            </a:solidFill>
          </c:spPr>
          <c:invertIfNegative val="0"/>
          <c:xVal>
            <c:numRef>
              <c:numCache>
                <c:formatCode>General</c:formatCode>
                <c:ptCount val="1"/>
                <c:pt idx="0">
                  <c:v>64.04326117127673</c:v>
                </c:pt>
              </c:numCache>
            </c:numRef>
          </c:xVal>
          <c:yVal>
            <c:numRef>
              <c:numCache>
                <c:formatCode>General</c:formatCode>
                <c:ptCount val="1"/>
                <c:pt idx="0">
                  <c:v>198.22335763517043</c:v>
                </c:pt>
              </c:numCache>
            </c:numRef>
          </c:yVal>
          <c:bubbleSize>
            <c:numRef>
              <c:numCache>
                <c:formatCode>General</c:formatCode>
                <c:ptCount val="1"/>
                <c:pt idx="0">
                  <c:v>3700.123</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90.0"/>
          <c:min val="1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5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365.237</c:v>
                </c:pt>
                <c:pt idx="2">
                  <c:v>403.892</c:v>
                </c:pt>
                <c:pt idx="3">
                  <c:v>446.814</c:v>
                </c:pt>
                <c:pt idx="4">
                  <c:v>494.518</c:v>
                </c:pt>
                <c:pt idx="5">
                  <c:v>547.544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365.237</c:v>
                </c:pt>
                <c:pt idx="1">
                  <c:v>38.65499999999997</c:v>
                </c:pt>
                <c:pt idx="2">
                  <c:v>42.922000000000025</c:v>
                </c:pt>
                <c:pt idx="3">
                  <c:v>47.70399999999995</c:v>
                </c:pt>
                <c:pt idx="4">
                  <c:v>53.02600000000001</c:v>
                </c:pt>
                <c:pt idx="5">
                  <c:v>58.98199999999997</c:v>
                </c:pt>
                <c:pt idx="6">
                  <c:v>606.526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1100.226</c:v>
                </c:pt>
                <c:pt idx="2">
                  <c:v>1196.913</c:v>
                </c:pt>
                <c:pt idx="3">
                  <c:v>1301.854</c:v>
                </c:pt>
                <c:pt idx="4">
                  <c:v>1415.694</c:v>
                </c:pt>
                <c:pt idx="5">
                  <c:v>1539.107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1100.226</c:v>
                </c:pt>
                <c:pt idx="1">
                  <c:v>96.6869999999999</c:v>
                </c:pt>
                <c:pt idx="2">
                  <c:v>104.94100000000003</c:v>
                </c:pt>
                <c:pt idx="3">
                  <c:v>113.83999999999992</c:v>
                </c:pt>
                <c:pt idx="4">
                  <c:v>123.41300000000001</c:v>
                </c:pt>
                <c:pt idx="5">
                  <c:v>133.70000000000005</c:v>
                </c:pt>
                <c:pt idx="6">
                  <c:v>1672.807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893.481</c:v>
                </c:pt>
                <c:pt idx="2">
                  <c:v>996.566</c:v>
                </c:pt>
                <c:pt idx="3">
                  <c:v>1112.096</c:v>
                </c:pt>
                <c:pt idx="4">
                  <c:v>1241.632</c:v>
                </c:pt>
                <c:pt idx="5">
                  <c:v>1386.974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893.481</c:v>
                </c:pt>
                <c:pt idx="1">
                  <c:v>103.08500000000004</c:v>
                </c:pt>
                <c:pt idx="2">
                  <c:v>115.52999999999997</c:v>
                </c:pt>
                <c:pt idx="3">
                  <c:v>129.53600000000006</c:v>
                </c:pt>
                <c:pt idx="4">
                  <c:v>145.34199999999987</c:v>
                </c:pt>
                <c:pt idx="5">
                  <c:v>163.154</c:v>
                </c:pt>
                <c:pt idx="6">
                  <c:v>1550.128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1499.379</c:v>
                </c:pt>
                <c:pt idx="2">
                  <c:v>1752.4</c:v>
                </c:pt>
                <c:pt idx="3">
                  <c:v>2045.222</c:v>
                </c:pt>
                <c:pt idx="4">
                  <c:v>2384.018</c:v>
                </c:pt>
                <c:pt idx="5">
                  <c:v>2775.909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1499.379</c:v>
                </c:pt>
                <c:pt idx="1">
                  <c:v>253.02100000000019</c:v>
                </c:pt>
                <c:pt idx="2">
                  <c:v>292.8219999999999</c:v>
                </c:pt>
                <c:pt idx="3">
                  <c:v>338.79600000000005</c:v>
                </c:pt>
                <c:pt idx="4">
                  <c:v>391.8910000000001</c:v>
                </c:pt>
                <c:pt idx="5">
                  <c:v>453.22800000000007</c:v>
                </c:pt>
                <c:pt idx="6">
                  <c:v>3229.137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542.579</c:v>
                </c:pt>
                <c:pt idx="2">
                  <c:v>612.64</c:v>
                </c:pt>
                <c:pt idx="3">
                  <c:v>692.065</c:v>
                </c:pt>
                <c:pt idx="4">
                  <c:v>782.157</c:v>
                </c:pt>
                <c:pt idx="5">
                  <c:v>884.402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542.579</c:v>
                </c:pt>
                <c:pt idx="1">
                  <c:v>70.06100000000004</c:v>
                </c:pt>
                <c:pt idx="2">
                  <c:v>79.42500000000007</c:v>
                </c:pt>
                <c:pt idx="3">
                  <c:v>90.09199999999998</c:v>
                </c:pt>
                <c:pt idx="4">
                  <c:v>102.245</c:v>
                </c:pt>
                <c:pt idx="5">
                  <c:v>116.10199999999998</c:v>
                </c:pt>
                <c:pt idx="6">
                  <c:v>1000.504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1966.992</c:v>
                </c:pt>
                <c:pt idx="2">
                  <c:v>2068.396</c:v>
                </c:pt>
                <c:pt idx="3">
                  <c:v>2167.834</c:v>
                </c:pt>
                <c:pt idx="4">
                  <c:v>2263.344</c:v>
                </c:pt>
                <c:pt idx="5">
                  <c:v>2352.51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1966.992</c:v>
                </c:pt>
                <c:pt idx="1">
                  <c:v>101.40400000000022</c:v>
                </c:pt>
                <c:pt idx="2">
                  <c:v>99.43799999999965</c:v>
                </c:pt>
                <c:pt idx="3">
                  <c:v>95.51000000000022</c:v>
                </c:pt>
                <c:pt idx="4">
                  <c:v>89.16600000000017</c:v>
                </c:pt>
                <c:pt idx="5">
                  <c:v>79.83699999999999</c:v>
                </c:pt>
                <c:pt idx="6">
                  <c:v>2432.347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1831.312</c:v>
                </c:pt>
                <c:pt idx="2">
                  <c:v>2090.431</c:v>
                </c:pt>
                <c:pt idx="3">
                  <c:v>2386.421</c:v>
                </c:pt>
                <c:pt idx="4">
                  <c:v>2724.613</c:v>
                </c:pt>
                <c:pt idx="5">
                  <c:v>3111.166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1831.312</c:v>
                </c:pt>
                <c:pt idx="1">
                  <c:v>259.11900000000014</c:v>
                </c:pt>
                <c:pt idx="2">
                  <c:v>295.9899999999998</c:v>
                </c:pt>
                <c:pt idx="3">
                  <c:v>338.192</c:v>
                </c:pt>
                <c:pt idx="4">
                  <c:v>386.55300000000034</c:v>
                </c:pt>
                <c:pt idx="5">
                  <c:v>441.9789999999998</c:v>
                </c:pt>
                <c:pt idx="6">
                  <c:v>3553.145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2700.793</c:v>
                </c:pt>
                <c:pt idx="2">
                  <c:v>2886.394</c:v>
                </c:pt>
                <c:pt idx="3">
                  <c:v>3080.017</c:v>
                </c:pt>
                <c:pt idx="4">
                  <c:v>3280.947</c:v>
                </c:pt>
                <c:pt idx="5">
                  <c:v>3488.125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2700.793</c:v>
                </c:pt>
                <c:pt idx="1">
                  <c:v>185.60099999999966</c:v>
                </c:pt>
                <c:pt idx="2">
                  <c:v>193.62300000000005</c:v>
                </c:pt>
                <c:pt idx="3">
                  <c:v>200.9300000000003</c:v>
                </c:pt>
                <c:pt idx="4">
                  <c:v>207.17799999999988</c:v>
                </c:pt>
                <c:pt idx="5">
                  <c:v>211.99800000000005</c:v>
                </c:pt>
                <c:pt idx="6">
                  <c:v>3700.123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Other Polymer-Based Coatings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26.53922488953136</c:v>
                </c:pt>
                <c:pt idx="1">
                  <c:v>24.777919704396304</c:v>
                </c:pt>
                <c:pt idx="2">
                  <c:v>20.851969631299276</c:v>
                </c:pt>
              </c:numCache>
            </c:numRef>
          </c:val>
        </c:ser>
        <c:ser>
          <c:idx val="1"/>
          <c:order val="1"/>
          <c:tx>
            <c:strRef>
              <c:strCache>
                <c:ptCount val="1"/>
                <c:pt idx="0">
                  <c:v>Polyurea Waterproof Coatings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15.351837030070985</c:v>
                </c:pt>
                <c:pt idx="1">
                  <c:v>16.801029064314594</c:v>
                </c:pt>
                <c:pt idx="2">
                  <c:v>20.023678033298587</c:v>
                </c:pt>
              </c:numCache>
            </c:numRef>
          </c:val>
        </c:ser>
        <c:ser>
          <c:idx val="2"/>
          <c:order val="2"/>
          <c:tx>
            <c:strRef>
              <c:strCache>
                <c:ptCount val="1"/>
                <c:pt idx="0">
                  <c:v>Silicone Waterproof Coatings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11.758813992331795</c:v>
                </c:pt>
                <c:pt idx="1">
                  <c:v>13.755771904199257</c:v>
                </c:pt>
                <c:pt idx="2">
                  <c:v>18.19773738854218</c:v>
                </c:pt>
              </c:numCache>
            </c:numRef>
          </c:val>
        </c:ser>
        <c:ser>
          <c:idx val="3"/>
          <c:order val="3"/>
          <c:tx>
            <c:strRef>
              <c:strCache>
                <c:ptCount val="1"/>
                <c:pt idx="0">
                  <c:v>Cementitious Waterproof Coatings</c:v>
                </c:pt>
              </c:strCache>
            </c:strRef>
          </c:tx>
          <c:spPr>
            <a:solidFill>
              <a:srgbClr val="40315E"/>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20.0025762072771</c:v>
                </c:pt>
                <c:pt idx="1">
                  <c:v>18.04579982071558</c:v>
                </c:pt>
                <c:pt idx="2">
                  <c:v>13.70744317872187</c:v>
                </c:pt>
              </c:numCache>
            </c:numRef>
          </c:val>
        </c:ser>
        <c:ser>
          <c:idx val="4"/>
          <c:order val="4"/>
          <c:tx>
            <c:strRef>
              <c:strCache>
                <c:ptCount val="1"/>
                <c:pt idx="0">
                  <c:v>Polyurethane (PU) Waterproof Coatings</c:v>
                </c:pt>
              </c:strCache>
            </c:strRef>
          </c:tx>
          <c:spPr>
            <a:solidFill>
              <a:srgbClr val="A35313"/>
            </a:solidFill>
            <a:ln>
              <a:noFill/>
            </a:ln>
          </c:spPr>
          <c:dLbls>
            <c:dLbl>
              <c:idx val="0"/>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10.393693660205448</c:v>
                </c:pt>
                <c:pt idx="1">
                  <c:v>10.093817439799766</c:v>
                </c:pt>
                <c:pt idx="2">
                  <c:v>9.427070603605568</c:v>
                </c:pt>
              </c:numCache>
            </c:numRef>
          </c:val>
        </c:ser>
        <c:ser>
          <c:idx val="5"/>
          <c:order val="5"/>
          <c:tx>
            <c:strRef>
              <c:strCache>
                <c:ptCount val="1"/>
                <c:pt idx="0">
                  <c:v>Epoxy Waterproof Coatings</c:v>
                </c:pt>
              </c:strCache>
            </c:strRef>
          </c:tx>
          <c:spPr>
            <a:solidFill>
              <a:srgbClr val="808080"/>
            </a:solidFill>
            <a:ln>
              <a:noFill/>
            </a:ln>
          </c:spPr>
          <c:dLbls>
            <c:dLbl>
              <c:idx val="0"/>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7.951563709527351</c:v>
                </c:pt>
                <c:pt idx="1">
                  <c:v>8.197074146520563</c:v>
                </c:pt>
                <c:pt idx="2">
                  <c:v>8.735715537193407</c:v>
                </c:pt>
              </c:numCache>
            </c:numRef>
          </c:val>
        </c:ser>
        <c:ser>
          <c:idx val="6"/>
          <c:order val="6"/>
          <c:tx>
            <c:strRef>
              <c:strCache>
                <c:ptCount val="1"/>
                <c:pt idx="0">
                  <c:v>Bituminous Waterproof Coatings</c:v>
                </c:pt>
              </c:strCache>
            </c:strRef>
          </c:tx>
          <c:spPr>
            <a:solidFill>
              <a:srgbClr val="0E72AE"/>
            </a:solidFill>
            <a:ln>
              <a:noFill/>
            </a:ln>
          </c:spPr>
          <c:dLbls>
            <c:dLbl>
              <c:idx val="0"/>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4.682206190242014</c:v>
                </c:pt>
                <c:pt idx="1">
                  <c:v>4.977789447503619</c:v>
                </c:pt>
                <c:pt idx="2">
                  <c:v>5.638320408265739</c:v>
                </c:pt>
              </c:numCache>
            </c:numRef>
          </c:val>
        </c:ser>
        <c:ser>
          <c:idx val="7"/>
          <c:order val="7"/>
          <c:tx>
            <c:strRef>
              <c:strCache>
                <c:ptCount val="1"/>
                <c:pt idx="0">
                  <c:v>Acrylic Waterproof Coatings</c:v>
                </c:pt>
              </c:strCache>
            </c:strRef>
          </c:tx>
          <c:spPr>
            <a:solidFill>
              <a:srgbClr val="A86F00"/>
            </a:solidFill>
            <a:ln>
              <a:noFill/>
            </a:ln>
          </c:spPr>
          <c:dLbls>
            <c:dLbl>
              <c:idx val="0"/>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3.3200843208139466</c:v>
                </c:pt>
                <c:pt idx="1">
                  <c:v>3.350798472550319</c:v>
                </c:pt>
                <c:pt idx="2">
                  <c:v>3.4180652190733727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Single-Component Coatings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22.33362405431784</c:v>
                </c:pt>
                <c:pt idx="1">
                  <c:v>18.012385545816663</c:v>
                </c:pt>
                <c:pt idx="2">
                  <c:v>19.488513513513514</c:v>
                </c:pt>
                <c:pt idx="3">
                  <c:v>21.409111352466045</c:v>
                </c:pt>
                <c:pt idx="4">
                  <c:v>19.962515061898742</c:v>
                </c:pt>
                <c:pt idx="5">
                  <c:v>19.619353590145842</c:v>
                </c:pt>
                <c:pt idx="6">
                  <c:v>19.037615023034093</c:v>
                </c:pt>
              </c:numCache>
            </c:numRef>
          </c:val>
        </c:ser>
        <c:ser>
          <c:idx val="1"/>
          <c:order val="1"/>
          <c:tx>
            <c:strRef>
              <c:strCache>
                <c:ptCount val="1"/>
                <c:pt idx="0">
                  <c:v>Two-Component Coatings</c:v>
                </c:pt>
              </c:strCache>
            </c:strRef>
          </c:tx>
          <c:spPr>
            <a:solidFill>
              <a:srgbClr val="9E7E0A"/>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77.66637594568215</c:v>
                </c:pt>
                <c:pt idx="1">
                  <c:v>81.98761445418333</c:v>
                </c:pt>
                <c:pt idx="2">
                  <c:v>80.51148648648649</c:v>
                </c:pt>
                <c:pt idx="3">
                  <c:v>78.59088864753396</c:v>
                </c:pt>
                <c:pt idx="4">
                  <c:v>80.03748493810124</c:v>
                </c:pt>
                <c:pt idx="5">
                  <c:v>80.38064640985417</c:v>
                </c:pt>
                <c:pt idx="6">
                  <c:v>80.96238497696591</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27.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Single-Component Coatings</c:v>
                </c:pt>
              </c:strCache>
            </c:strRef>
          </c:tx>
          <c:spPr>
            <a:solidFill>
              <a:srgbClr val="3D85C6"/>
            </a:solidFill>
          </c:spPr>
          <c:invertIfNegative val="0"/>
          <c:xVal>
            <c:numRef>
              <c:numCache>
                <c:formatCode>General</c:formatCode>
                <c:ptCount val="1"/>
                <c:pt idx="0">
                  <c:v>32.34683634594926</c:v>
                </c:pt>
              </c:numCache>
            </c:numRef>
          </c:xVal>
          <c:yVal>
            <c:numRef>
              <c:numCache>
                <c:formatCode>General</c:formatCode>
                <c:ptCount val="1"/>
                <c:pt idx="0">
                  <c:v>54.50965637703269</c:v>
                </c:pt>
              </c:numCache>
            </c:numRef>
          </c:yVal>
          <c:bubbleSize>
            <c:numRef>
              <c:numCache>
                <c:formatCode>General</c:formatCode>
                <c:ptCount val="1"/>
                <c:pt idx="0">
                  <c:v>3487.101</c:v>
                </c:pt>
              </c:numCache>
            </c:numRef>
          </c:bubbleSize>
          <c:bubble3D val="0"/>
        </c:ser>
        <c:ser>
          <c:idx val="1"/>
          <c:order val="1"/>
          <c:tx>
            <c:strRef>
              <c:strCache>
                <c:ptCount val="1"/>
                <c:pt idx="0">
                  <c:v>Two-Component Coatings</c:v>
                </c:pt>
              </c:strCache>
            </c:strRef>
          </c:tx>
          <c:spPr>
            <a:solidFill>
              <a:srgbClr val="9E7E0A"/>
            </a:solidFill>
          </c:spPr>
          <c:invertIfNegative val="0"/>
          <c:xVal>
            <c:numRef>
              <c:numCache>
                <c:formatCode>General</c:formatCode>
                <c:ptCount val="1"/>
                <c:pt idx="0">
                  <c:v>121.00464719454516</c:v>
                </c:pt>
              </c:numCache>
            </c:numRef>
          </c:xVal>
          <c:yVal>
            <c:numRef>
              <c:numCache>
                <c:formatCode>General</c:formatCode>
                <c:ptCount val="1"/>
                <c:pt idx="0">
                  <c:v>145.49034362296732</c:v>
                </c:pt>
              </c:numCache>
            </c:numRef>
          </c:yVal>
          <c:bubbleSize>
            <c:numRef>
              <c:numCache>
                <c:formatCode>General</c:formatCode>
                <c:ptCount val="1"/>
                <c:pt idx="0">
                  <c:v>14257.616</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50.0"/>
          <c:min val="1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75.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2970.776</c:v>
                </c:pt>
                <c:pt idx="2">
                  <c:v>3083.308</c:v>
                </c:pt>
                <c:pt idx="3">
                  <c:v>3192.962</c:v>
                </c:pt>
                <c:pt idx="4">
                  <c:v>3298.13</c:v>
                </c:pt>
                <c:pt idx="5">
                  <c:v>3396.923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2970.776</c:v>
                </c:pt>
                <c:pt idx="1">
                  <c:v>112.53200000000015</c:v>
                </c:pt>
                <c:pt idx="2">
                  <c:v>109.654</c:v>
                </c:pt>
                <c:pt idx="3">
                  <c:v>105.16800000000012</c:v>
                </c:pt>
                <c:pt idx="4">
                  <c:v>98.79299999999967</c:v>
                </c:pt>
                <c:pt idx="5">
                  <c:v>90.17800000000034</c:v>
                </c:pt>
                <c:pt idx="6">
                  <c:v>3487.101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7929.223</c:v>
                </c:pt>
                <c:pt idx="2">
                  <c:v>8924.324</c:v>
                </c:pt>
                <c:pt idx="3">
                  <c:v>10039.361</c:v>
                </c:pt>
                <c:pt idx="4">
                  <c:v>11288.793</c:v>
                </c:pt>
                <c:pt idx="5">
                  <c:v>12688.814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7929.223</c:v>
                </c:pt>
                <c:pt idx="1">
                  <c:v>995.1010000000006</c:v>
                </c:pt>
                <c:pt idx="2">
                  <c:v>1115.0370000000003</c:v>
                </c:pt>
                <c:pt idx="3">
                  <c:v>1249.4319999999989</c:v>
                </c:pt>
                <c:pt idx="4">
                  <c:v>1400.0210000000006</c:v>
                </c:pt>
                <c:pt idx="5">
                  <c:v>1568.8019999999997</c:v>
                </c:pt>
                <c:pt idx="6">
                  <c:v>14257.616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Two-Component Coatings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68.66988307006194</c:v>
                </c:pt>
                <c:pt idx="1">
                  <c:v>72.74517181148366</c:v>
                </c:pt>
                <c:pt idx="2">
                  <c:v>80.34851161616159</c:v>
                </c:pt>
              </c:numCache>
            </c:numRef>
          </c:val>
        </c:ser>
        <c:ser>
          <c:idx val="1"/>
          <c:order val="1"/>
          <c:tx>
            <c:strRef>
              <c:strCache>
                <c:ptCount val="1"/>
                <c:pt idx="0">
                  <c:v>Single-Component Coatings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31.330116929938058</c:v>
                </c:pt>
                <c:pt idx="1">
                  <c:v>27.254828188516345</c:v>
                </c:pt>
                <c:pt idx="2">
                  <c:v>19.651488383838412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Water-Based Coatings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32.15610763105493</c:v>
                </c:pt>
                <c:pt idx="1">
                  <c:v>31.850647913152642</c:v>
                </c:pt>
                <c:pt idx="2">
                  <c:v>30.993445945945947</c:v>
                </c:pt>
                <c:pt idx="3">
                  <c:v>34.101079302352424</c:v>
                </c:pt>
                <c:pt idx="4">
                  <c:v>31.676392551460797</c:v>
                </c:pt>
                <c:pt idx="5">
                  <c:v>34.127953508056194</c:v>
                </c:pt>
                <c:pt idx="6">
                  <c:v>25.316899688013162</c:v>
                </c:pt>
              </c:numCache>
            </c:numRef>
          </c:val>
        </c:ser>
        <c:ser>
          <c:idx val="1"/>
          <c:order val="1"/>
          <c:tx>
            <c:strRef>
              <c:strCache>
                <c:ptCount val="1"/>
                <c:pt idx="0">
                  <c:v>Solvent-Based Coatings</c:v>
                </c:pt>
              </c:strCache>
            </c:strRef>
          </c:tx>
          <c:spPr>
            <a:solidFill>
              <a:srgbClr val="9E7E0A"/>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25.463343192413134</c:v>
                </c:pt>
                <c:pt idx="1">
                  <c:v>27.318183700838794</c:v>
                </c:pt>
                <c:pt idx="2">
                  <c:v>28.94418918918919</c:v>
                </c:pt>
                <c:pt idx="3">
                  <c:v>25.092350618492993</c:v>
                </c:pt>
                <c:pt idx="4">
                  <c:v>25.773011801754674</c:v>
                </c:pt>
                <c:pt idx="5">
                  <c:v>23.43946385113844</c:v>
                </c:pt>
                <c:pt idx="6">
                  <c:v>29.744787748929703</c:v>
                </c:pt>
              </c:numCache>
            </c:numRef>
          </c:val>
        </c:ser>
        <c:ser>
          <c:idx val="2"/>
          <c:order val="2"/>
          <c:tx>
            <c:strRef>
              <c:strCache>
                <c:ptCount val="1"/>
                <c:pt idx="0">
                  <c:v>Reactive / 100% Solids Coatings</c:v>
                </c:pt>
              </c:strCache>
            </c:strRef>
          </c:tx>
          <c:spPr>
            <a:solidFill>
              <a:srgbClr val="008189"/>
            </a:solidFill>
            <a:ln>
              <a:noFill/>
            </a:ln>
          </c:spPr>
          <c:dLbls>
            <c:dLbl>
              <c:idx val="0"/>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13.13341761769166</c:v>
                </c:pt>
                <c:pt idx="1">
                  <c:v>12.873783689984302</c:v>
                </c:pt>
                <c:pt idx="2">
                  <c:v>12.265405405405405</c:v>
                </c:pt>
                <c:pt idx="3">
                  <c:v>14.546044805014816</c:v>
                </c:pt>
                <c:pt idx="4">
                  <c:v>11.435667238893032</c:v>
                </c:pt>
                <c:pt idx="5">
                  <c:v>13.935673762434844</c:v>
                </c:pt>
                <c:pt idx="6">
                  <c:v>15.267565974211802</c:v>
                </c:pt>
              </c:numCache>
            </c:numRef>
          </c:val>
        </c:ser>
        <c:ser>
          <c:idx val="3"/>
          <c:order val="3"/>
          <c:tx>
            <c:strRef>
              <c:strCache>
                <c:ptCount val="1"/>
                <c:pt idx="0">
                  <c:v>UV-Curable and Other Specialty Coatings</c:v>
                </c:pt>
              </c:strCache>
            </c:strRef>
          </c:tx>
          <c:spPr>
            <a:solidFill>
              <a:srgbClr val="40315E"/>
            </a:solidFill>
            <a:ln>
              <a:noFill/>
            </a:ln>
          </c:spPr>
          <c:dLbls>
            <c:dLbl>
              <c:idx val="0"/>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29.247131558840266</c:v>
                </c:pt>
                <c:pt idx="1">
                  <c:v>27.957384696024256</c:v>
                </c:pt>
                <c:pt idx="2">
                  <c:v>27.79695945945946</c:v>
                </c:pt>
                <c:pt idx="3">
                  <c:v>26.26052527413978</c:v>
                </c:pt>
                <c:pt idx="4">
                  <c:v>31.114928407891497</c:v>
                </c:pt>
                <c:pt idx="5">
                  <c:v>28.496908878370515</c:v>
                </c:pt>
                <c:pt idx="6">
                  <c:v>29.670746588845333</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32.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Water-Based Coatings</c:v>
                </c:pt>
              </c:strCache>
            </c:strRef>
          </c:tx>
          <c:spPr>
            <a:solidFill>
              <a:srgbClr val="3D85C6"/>
            </a:solidFill>
          </c:spPr>
          <c:invertIfNegative val="0"/>
          <c:xVal>
            <c:numRef>
              <c:numCache>
                <c:formatCode>General</c:formatCode>
                <c:ptCount val="1"/>
                <c:pt idx="0">
                  <c:v>125.1033372646849</c:v>
                </c:pt>
              </c:numCache>
            </c:numRef>
          </c:xVal>
          <c:yVal>
            <c:numRef>
              <c:numCache>
                <c:formatCode>General</c:formatCode>
                <c:ptCount val="1"/>
                <c:pt idx="0">
                  <c:v>106.43454187472861</c:v>
                </c:pt>
              </c:numCache>
            </c:numRef>
          </c:yVal>
          <c:bubbleSize>
            <c:numRef>
              <c:numCache>
                <c:formatCode>General</c:formatCode>
                <c:ptCount val="1"/>
                <c:pt idx="0">
                  <c:v>5316.675</c:v>
                </c:pt>
              </c:numCache>
            </c:numRef>
          </c:bubbleSize>
          <c:bubble3D val="0"/>
        </c:ser>
        <c:ser>
          <c:idx val="1"/>
          <c:order val="1"/>
          <c:tx>
            <c:strRef>
              <c:strCache>
                <c:ptCount val="1"/>
                <c:pt idx="0">
                  <c:v>Solvent-Based Coatings</c:v>
                </c:pt>
              </c:strCache>
            </c:strRef>
          </c:tx>
          <c:spPr>
            <a:solidFill>
              <a:srgbClr val="9E7E0A"/>
            </a:solidFill>
          </c:spPr>
          <c:invertIfNegative val="0"/>
          <c:xVal>
            <c:numRef>
              <c:numCache>
                <c:formatCode>General</c:formatCode>
                <c:ptCount val="1"/>
                <c:pt idx="0">
                  <c:v>48.76397023446465</c:v>
                </c:pt>
              </c:numCache>
            </c:numRef>
          </c:xVal>
          <c:yVal>
            <c:numRef>
              <c:numCache>
                <c:formatCode>General</c:formatCode>
                <c:ptCount val="1"/>
                <c:pt idx="0">
                  <c:v>139.05054486702247</c:v>
                </c:pt>
              </c:numCache>
            </c:numRef>
          </c:yVal>
          <c:bubbleSize>
            <c:numRef>
              <c:numCache>
                <c:formatCode>General</c:formatCode>
                <c:ptCount val="1"/>
                <c:pt idx="0">
                  <c:v>4819.848</c:v>
                </c:pt>
              </c:numCache>
            </c:numRef>
          </c:bubbleSize>
          <c:bubble3D val="0"/>
        </c:ser>
        <c:ser>
          <c:idx val="2"/>
          <c:order val="2"/>
          <c:tx>
            <c:strRef>
              <c:strCache>
                <c:ptCount val="1"/>
                <c:pt idx="0">
                  <c:v>Reactive / 100% Solids Coatings</c:v>
                </c:pt>
              </c:strCache>
            </c:strRef>
          </c:tx>
          <c:spPr>
            <a:solidFill>
              <a:srgbClr val="008189"/>
            </a:solidFill>
          </c:spPr>
          <c:invertIfNegative val="0"/>
          <c:xVal>
            <c:numRef>
              <c:numCache>
                <c:formatCode>General</c:formatCode>
                <c:ptCount val="1"/>
                <c:pt idx="0">
                  <c:v>115.4424630911915</c:v>
                </c:pt>
              </c:numCache>
            </c:numRef>
          </c:xVal>
          <c:yVal>
            <c:numRef>
              <c:numCache>
                <c:formatCode>General</c:formatCode>
                <c:ptCount val="1"/>
                <c:pt idx="0">
                  <c:v>51.45717903276872</c:v>
                </c:pt>
              </c:numCache>
            </c:numRef>
          </c:yVal>
          <c:bubbleSize>
            <c:numRef>
              <c:numCache>
                <c:formatCode>General</c:formatCode>
                <c:ptCount val="1"/>
                <c:pt idx="0">
                  <c:v>2456.053</c:v>
                </c:pt>
              </c:numCache>
            </c:numRef>
          </c:bubbleSize>
          <c:bubble3D val="0"/>
        </c:ser>
        <c:ser>
          <c:idx val="3"/>
          <c:order val="3"/>
          <c:tx>
            <c:strRef>
              <c:strCache>
                <c:ptCount val="1"/>
                <c:pt idx="0">
                  <c:v>UV-Curable and Other Specialty Coatings</c:v>
                </c:pt>
              </c:strCache>
            </c:strRef>
          </c:tx>
          <c:spPr>
            <a:solidFill>
              <a:srgbClr val="40315E"/>
            </a:solidFill>
          </c:spPr>
          <c:invertIfNegative val="0"/>
          <c:xVal>
            <c:numRef>
              <c:numCache>
                <c:formatCode>General</c:formatCode>
                <c:ptCount val="1"/>
                <c:pt idx="0">
                  <c:v>125.27462219285972</c:v>
                </c:pt>
              </c:numCache>
            </c:numRef>
          </c:xVal>
          <c:yVal>
            <c:numRef>
              <c:numCache>
                <c:formatCode>General</c:formatCode>
                <c:ptCount val="1"/>
                <c:pt idx="0">
                  <c:v>103.05773422548019</c:v>
                </c:pt>
              </c:numCache>
            </c:numRef>
          </c:yVal>
          <c:bubbleSize>
            <c:numRef>
              <c:numCache>
                <c:formatCode>General</c:formatCode>
                <c:ptCount val="1"/>
                <c:pt idx="0">
                  <c:v>5152.141</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50.0"/>
          <c:min val="2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75.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2900.341</c:v>
                </c:pt>
                <c:pt idx="2">
                  <c:v>3284.12</c:v>
                </c:pt>
                <c:pt idx="3">
                  <c:v>3712.131</c:v>
                </c:pt>
                <c:pt idx="4">
                  <c:v>4189.558</c:v>
                </c:pt>
                <c:pt idx="5">
                  <c:v>4722.236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2900.341</c:v>
                </c:pt>
                <c:pt idx="1">
                  <c:v>383.779</c:v>
                </c:pt>
                <c:pt idx="2">
                  <c:v>428.01099999999997</c:v>
                </c:pt>
                <c:pt idx="3">
                  <c:v>477.42700000000013</c:v>
                </c:pt>
                <c:pt idx="4">
                  <c:v>532.6779999999999</c:v>
                </c:pt>
                <c:pt idx="5">
                  <c:v>594.4390000000003</c:v>
                </c:pt>
                <c:pt idx="6">
                  <c:v>5316.675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3789.127</c:v>
                </c:pt>
                <c:pt idx="2">
                  <c:v>3970.415</c:v>
                </c:pt>
                <c:pt idx="3">
                  <c:v>4163.492</c:v>
                </c:pt>
                <c:pt idx="4">
                  <c:v>4368.985</c:v>
                </c:pt>
                <c:pt idx="5">
                  <c:v>4587.541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3789.127</c:v>
                </c:pt>
                <c:pt idx="1">
                  <c:v>181.288</c:v>
                </c:pt>
                <c:pt idx="2">
                  <c:v>193.07700000000023</c:v>
                </c:pt>
                <c:pt idx="3">
                  <c:v>205.49299999999948</c:v>
                </c:pt>
                <c:pt idx="4">
                  <c:v>218.5560000000005</c:v>
                </c:pt>
                <c:pt idx="5">
                  <c:v>232.3069999999998</c:v>
                </c:pt>
                <c:pt idx="6">
                  <c:v>4819.848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1402.208</c:v>
                </c:pt>
                <c:pt idx="2">
                  <c:v>1571.079</c:v>
                </c:pt>
                <c:pt idx="3">
                  <c:v>1758.643</c:v>
                </c:pt>
                <c:pt idx="4">
                  <c:v>1967.031</c:v>
                </c:pt>
                <c:pt idx="5">
                  <c:v>2198.617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1402.208</c:v>
                </c:pt>
                <c:pt idx="1">
                  <c:v>168.87099999999987</c:v>
                </c:pt>
                <c:pt idx="2">
                  <c:v>187.56400000000008</c:v>
                </c:pt>
                <c:pt idx="3">
                  <c:v>208.38799999999992</c:v>
                </c:pt>
                <c:pt idx="4">
                  <c:v>231.58600000000024</c:v>
                </c:pt>
                <c:pt idx="5">
                  <c:v>257.4359999999997</c:v>
                </c:pt>
                <c:pt idx="6">
                  <c:v>2456.053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2808.323</c:v>
                </c:pt>
                <c:pt idx="2">
                  <c:v>3182.018</c:v>
                </c:pt>
                <c:pt idx="3">
                  <c:v>3598.057</c:v>
                </c:pt>
                <c:pt idx="4">
                  <c:v>4061.349</c:v>
                </c:pt>
                <c:pt idx="5">
                  <c:v>4577.343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2808.323</c:v>
                </c:pt>
                <c:pt idx="1">
                  <c:v>373.69500000000016</c:v>
                </c:pt>
                <c:pt idx="2">
                  <c:v>416.03899999999976</c:v>
                </c:pt>
                <c:pt idx="3">
                  <c:v>463.29200000000037</c:v>
                </c:pt>
                <c:pt idx="4">
                  <c:v>515.9939999999997</c:v>
                </c:pt>
                <c:pt idx="5">
                  <c:v>574.7979999999998</c:v>
                </c:pt>
                <c:pt idx="6">
                  <c:v>5152.141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Water-Based Coatings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24.561149154652508</c:v>
                </c:pt>
                <c:pt idx="1">
                  <c:v>26.608635468682152</c:v>
                </c:pt>
                <c:pt idx="2">
                  <c:v>29.962016300400844</c:v>
                </c:pt>
              </c:numCache>
            </c:numRef>
          </c:val>
        </c:ser>
        <c:ser>
          <c:idx val="1"/>
          <c:order val="1"/>
          <c:tx>
            <c:strRef>
              <c:strCache>
                <c:ptCount val="1"/>
                <c:pt idx="0">
                  <c:v>UV-Curable and Other Specialty Coatings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23.70594716439201</c:v>
                </c:pt>
                <c:pt idx="1">
                  <c:v>25.764433556370047</c:v>
                </c:pt>
                <c:pt idx="2">
                  <c:v>29.03478821330315</c:v>
                </c:pt>
              </c:numCache>
            </c:numRef>
          </c:val>
        </c:ser>
        <c:ser>
          <c:idx val="2"/>
          <c:order val="2"/>
          <c:tx>
            <c:strRef>
              <c:strCache>
                <c:ptCount val="1"/>
                <c:pt idx="0">
                  <c:v>Solvent-Based Coatings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39.483723120382216</c:v>
                </c:pt>
                <c:pt idx="1">
                  <c:v>34.76263621675562</c:v>
                </c:pt>
                <c:pt idx="2">
                  <c:v>27.162157615700494</c:v>
                </c:pt>
              </c:numCache>
            </c:numRef>
          </c:val>
        </c:ser>
        <c:ser>
          <c:idx val="3"/>
          <c:order val="3"/>
          <c:tx>
            <c:strRef>
              <c:strCache>
                <c:ptCount val="1"/>
                <c:pt idx="0">
                  <c:v>Reactive / 100% Solids Coatings</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12.24918056057327</c:v>
                </c:pt>
                <c:pt idx="1">
                  <c:v>12.86429475819218</c:v>
                </c:pt>
                <c:pt idx="2">
                  <c:v>13.841037870595512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Roofs and Terraces</c:v>
                </c:pt>
              </c:strCache>
            </c:strRef>
          </c:tx>
          <c:spPr>
            <a:solidFill>
              <a:srgbClr val="3D85C6"/>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24.559176203410022</c:v>
                </c:pt>
                <c:pt idx="1">
                  <c:v>25.652233525810125</c:v>
                </c:pt>
                <c:pt idx="2">
                  <c:v>22.130405405405405</c:v>
                </c:pt>
                <c:pt idx="3">
                  <c:v>20.98971820792883</c:v>
                </c:pt>
                <c:pt idx="4">
                  <c:v>24.09462020085477</c:v>
                </c:pt>
                <c:pt idx="5">
                  <c:v>19.79583214298626</c:v>
                </c:pt>
                <c:pt idx="6">
                  <c:v>23.89542888502805</c:v>
                </c:pt>
              </c:numCache>
            </c:numRef>
          </c:val>
        </c:ser>
        <c:ser>
          <c:idx val="1"/>
          <c:order val="1"/>
          <c:tx>
            <c:strRef>
              <c:strCache>
                <c:ptCount val="1"/>
                <c:pt idx="0">
                  <c:v>Walls and Building Facades</c:v>
                </c:pt>
              </c:strCache>
            </c:strRef>
          </c:tx>
          <c:spPr>
            <a:solidFill>
              <a:srgbClr val="9E7E0A"/>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15.935678247111426</c:v>
                </c:pt>
                <c:pt idx="1">
                  <c:v>18.604883664133474</c:v>
                </c:pt>
                <c:pt idx="2">
                  <c:v>18.329527027027027</c:v>
                </c:pt>
                <c:pt idx="3">
                  <c:v>19.337491492957625</c:v>
                </c:pt>
                <c:pt idx="4">
                  <c:v>16.07460319973081</c:v>
                </c:pt>
                <c:pt idx="5">
                  <c:v>16.90054180581617</c:v>
                </c:pt>
                <c:pt idx="6">
                  <c:v>15.880649448497513</c:v>
                </c:pt>
              </c:numCache>
            </c:numRef>
          </c:val>
        </c:ser>
        <c:ser>
          <c:idx val="2"/>
          <c:order val="2"/>
          <c:tx>
            <c:strRef>
              <c:strCache>
                <c:ptCount val="1"/>
                <c:pt idx="0">
                  <c:v>Basements and Foundations</c:v>
                </c:pt>
              </c:strCache>
            </c:strRef>
          </c:tx>
          <c:spPr>
            <a:solidFill>
              <a:srgbClr val="008189"/>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7.303066558856164</c:v>
                </c:pt>
                <c:pt idx="1">
                  <c:v>7.591716880590599</c:v>
                </c:pt>
                <c:pt idx="2">
                  <c:v>6.324256756756758</c:v>
                </c:pt>
                <c:pt idx="3">
                  <c:v>7.653911405961994</c:v>
                </c:pt>
                <c:pt idx="4">
                  <c:v>8.007831266973971</c:v>
                </c:pt>
                <c:pt idx="5">
                  <c:v>6.789018986242541</c:v>
                </c:pt>
                <c:pt idx="6">
                  <c:v>7.8314992293378225</c:v>
                </c:pt>
              </c:numCache>
            </c:numRef>
          </c:val>
        </c:ser>
        <c:ser>
          <c:idx val="3"/>
          <c:order val="3"/>
          <c:tx>
            <c:strRef>
              <c:strCache>
                <c:ptCount val="1"/>
                <c:pt idx="0">
                  <c:v>Bathrooms and Wet Areas</c:v>
                </c:pt>
              </c:strCache>
            </c:strRef>
          </c:tx>
          <c:spPr>
            <a:solidFill>
              <a:srgbClr val="40315E"/>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18.94543523898643</c:v>
                </c:pt>
                <c:pt idx="1">
                  <c:v>16.22839277833558</c:v>
                </c:pt>
                <c:pt idx="2">
                  <c:v>17.13554054054054</c:v>
                </c:pt>
                <c:pt idx="3">
                  <c:v>18.460362844905966</c:v>
                </c:pt>
                <c:pt idx="4">
                  <c:v>16.60462741289501</c:v>
                </c:pt>
                <c:pt idx="5">
                  <c:v>21.377865428280376</c:v>
                </c:pt>
                <c:pt idx="6">
                  <c:v>16.69718528716069</c:v>
                </c:pt>
              </c:numCache>
            </c:numRef>
          </c:val>
        </c:ser>
        <c:ser>
          <c:idx val="4"/>
          <c:order val="4"/>
          <c:tx>
            <c:strRef>
              <c:strCache>
                <c:ptCount val="1"/>
                <c:pt idx="0">
                  <c:v>Balconies and Decks</c:v>
                </c:pt>
              </c:strCache>
            </c:strRef>
          </c:tx>
          <c:spPr>
            <a:solidFill>
              <a:srgbClr val="A35313"/>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4.062816927379453</c:v>
                </c:pt>
                <c:pt idx="1">
                  <c:v>3.038114974770449</c:v>
                </c:pt>
                <c:pt idx="2">
                  <c:v>4.0317567567567565</c:v>
                </c:pt>
                <c:pt idx="3">
                  <c:v>4.340452105486246</c:v>
                </c:pt>
                <c:pt idx="4">
                  <c:v>4.03410385706097</c:v>
                </c:pt>
                <c:pt idx="5">
                  <c:v>4.5148239857711285</c:v>
                </c:pt>
                <c:pt idx="6">
                  <c:v>3.938778345365405</c:v>
                </c:pt>
              </c:numCache>
            </c:numRef>
          </c:val>
        </c:ser>
        <c:ser>
          <c:idx val="5"/>
          <c:order val="5"/>
          <c:tx>
            <c:strRef>
              <c:strCache>
                <c:ptCount val="1"/>
                <c:pt idx="0">
                  <c:v>Floors and Parking Structures</c:v>
                </c:pt>
              </c:strCache>
            </c:strRef>
          </c:tx>
          <c:spPr>
            <a:solidFill>
              <a:srgbClr val="80808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5.718336934670439</c:v>
                </c:pt>
                <c:pt idx="1">
                  <c:v>6.196557698048048</c:v>
                </c:pt>
                <c:pt idx="2">
                  <c:v>6.796824324324325</c:v>
                </c:pt>
                <c:pt idx="3">
                  <c:v>6.461361579769903</c:v>
                </c:pt>
                <c:pt idx="4">
                  <c:v>6.509501375220843</c:v>
                </c:pt>
                <c:pt idx="5">
                  <c:v>5.665744871346816</c:v>
                </c:pt>
                <c:pt idx="6">
                  <c:v>7.1775506712488255</c:v>
                </c:pt>
              </c:numCache>
            </c:numRef>
          </c:val>
        </c:ser>
        <c:ser>
          <c:idx val="6"/>
          <c:order val="6"/>
          <c:tx>
            <c:strRef>
              <c:strCache>
                <c:ptCount val="1"/>
                <c:pt idx="0">
                  <c:v>Bridges, Tunnels and Other Infrastructure</c:v>
                </c:pt>
              </c:strCache>
            </c:strRef>
          </c:tx>
          <c:spPr>
            <a:solidFill>
              <a:srgbClr val="0E72A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6.994153434976172</c:v>
                </c:pt>
                <c:pt idx="1">
                  <c:v>5.89891612191879</c:v>
                </c:pt>
                <c:pt idx="2">
                  <c:v>8.190945945945947</c:v>
                </c:pt>
                <c:pt idx="3">
                  <c:v>7.15497539294177</c:v>
                </c:pt>
                <c:pt idx="4">
                  <c:v>8.45391749263978</c:v>
                </c:pt>
                <c:pt idx="5">
                  <c:v>7.238172676058535</c:v>
                </c:pt>
                <c:pt idx="6">
                  <c:v>7.359375787376581</c:v>
                </c:pt>
              </c:numCache>
            </c:numRef>
          </c:val>
        </c:ser>
        <c:ser>
          <c:idx val="7"/>
          <c:order val="7"/>
          <c:tx>
            <c:strRef>
              <c:strCache>
                <c:ptCount val="1"/>
                <c:pt idx="0">
                  <c:v>Water Tanks and Swimming Pools</c:v>
                </c:pt>
              </c:strCache>
            </c:strRef>
          </c:tx>
          <c:spPr>
            <a:solidFill>
              <a:srgbClr val="A86F00"/>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11.962197087632774</c:v>
                </c:pt>
                <c:pt idx="1">
                  <c:v>12.294496630108931</c:v>
                </c:pt>
                <c:pt idx="2">
                  <c:v>12.333716216216215</c:v>
                </c:pt>
                <c:pt idx="3">
                  <c:v>10.808554606314031</c:v>
                </c:pt>
                <c:pt idx="4">
                  <c:v>12.132058015875323</c:v>
                </c:pt>
                <c:pt idx="5">
                  <c:v>12.637622434432846</c:v>
                </c:pt>
                <c:pt idx="6">
                  <c:v>12.312720206972156</c:v>
                </c:pt>
              </c:numCache>
            </c:numRef>
          </c:val>
        </c:ser>
        <c:ser>
          <c:idx val="8"/>
          <c:order val="8"/>
          <c:tx>
            <c:strRef>
              <c:strCache>
                <c:ptCount val="1"/>
                <c:pt idx="0">
                  <c:v>Other Applications</c:v>
                </c:pt>
              </c:strCache>
            </c:strRef>
          </c:tx>
          <c:spPr>
            <a:solidFill>
              <a:srgbClr val="0B2E4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4.519139366977135</c:v>
                </c:pt>
                <c:pt idx="1">
                  <c:v>4.494687726284009</c:v>
                </c:pt>
                <c:pt idx="2">
                  <c:v>4.7270270270270265</c:v>
                </c:pt>
                <c:pt idx="3">
                  <c:v>4.793172363733629</c:v>
                </c:pt>
                <c:pt idx="4">
                  <c:v>4.088737178748521</c:v>
                </c:pt>
                <c:pt idx="5">
                  <c:v>5.080377669065319</c:v>
                </c:pt>
                <c:pt idx="6">
                  <c:v>4.906812139012968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39.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Roofs and Terraces</c:v>
                </c:pt>
              </c:strCache>
            </c:strRef>
          </c:tx>
          <c:spPr>
            <a:solidFill>
              <a:srgbClr val="3D85C6"/>
            </a:solidFill>
          </c:spPr>
          <c:invertIfNegative val="0"/>
          <c:xVal>
            <c:numRef>
              <c:numCache>
                <c:formatCode>General</c:formatCode>
                <c:ptCount val="1"/>
                <c:pt idx="0">
                  <c:v>91.7752240934163</c:v>
                </c:pt>
              </c:numCache>
            </c:numRef>
          </c:xVal>
          <c:yVal>
            <c:numRef>
              <c:numCache>
                <c:formatCode>General</c:formatCode>
                <c:ptCount val="1"/>
                <c:pt idx="0">
                  <c:v>215.24856103197808</c:v>
                </c:pt>
              </c:numCache>
            </c:numRef>
          </c:yVal>
          <c:bubbleSize>
            <c:numRef>
              <c:numCache>
                <c:formatCode>General</c:formatCode>
                <c:ptCount val="1"/>
                <c:pt idx="0">
                  <c:v>4080.785</c:v>
                </c:pt>
              </c:numCache>
            </c:numRef>
          </c:bubbleSize>
          <c:bubble3D val="0"/>
        </c:ser>
        <c:ser>
          <c:idx val="1"/>
          <c:order val="1"/>
          <c:tx>
            <c:strRef>
              <c:strCache>
                <c:ptCount val="1"/>
                <c:pt idx="0">
                  <c:v>Walls and Building Facades</c:v>
                </c:pt>
              </c:strCache>
            </c:strRef>
          </c:tx>
          <c:spPr>
            <a:solidFill>
              <a:srgbClr val="9E7E0A"/>
            </a:solidFill>
          </c:spPr>
          <c:invertIfNegative val="0"/>
          <c:xVal>
            <c:numRef>
              <c:numCache>
                <c:formatCode>General</c:formatCode>
                <c:ptCount val="1"/>
                <c:pt idx="0">
                  <c:v>141.79173152645527</c:v>
                </c:pt>
              </c:numCache>
            </c:numRef>
          </c:xVal>
          <c:yVal>
            <c:numRef>
              <c:numCache>
                <c:formatCode>General</c:formatCode>
                <c:ptCount val="1"/>
                <c:pt idx="0">
                  <c:v>124.59848849527417</c:v>
                </c:pt>
              </c:numCache>
            </c:numRef>
          </c:yVal>
          <c:bubbleSize>
            <c:numRef>
              <c:numCache>
                <c:formatCode>General</c:formatCode>
                <c:ptCount val="1"/>
                <c:pt idx="0">
                  <c:v>2991.032</c:v>
                </c:pt>
              </c:numCache>
            </c:numRef>
          </c:bubbleSize>
          <c:bubble3D val="0"/>
        </c:ser>
        <c:ser>
          <c:idx val="2"/>
          <c:order val="2"/>
          <c:tx>
            <c:strRef>
              <c:strCache>
                <c:ptCount val="1"/>
                <c:pt idx="0">
                  <c:v>Basements and Foundations</c:v>
                </c:pt>
              </c:strCache>
            </c:strRef>
          </c:tx>
          <c:spPr>
            <a:solidFill>
              <a:srgbClr val="008189"/>
            </a:solidFill>
          </c:spPr>
          <c:invertIfNegative val="0"/>
          <c:xVal>
            <c:numRef>
              <c:numCache>
                <c:formatCode>General</c:formatCode>
                <c:ptCount val="1"/>
                <c:pt idx="0">
                  <c:v>52.60268490603325</c:v>
                </c:pt>
              </c:numCache>
            </c:numRef>
          </c:xVal>
          <c:yVal>
            <c:numRef>
              <c:numCache>
                <c:formatCode>General</c:formatCode>
                <c:ptCount val="1"/>
                <c:pt idx="0">
                  <c:v>84.8039527343076</c:v>
                </c:pt>
              </c:numCache>
            </c:numRef>
          </c:yVal>
          <c:bubbleSize>
            <c:numRef>
              <c:numCache>
                <c:formatCode>General</c:formatCode>
                <c:ptCount val="1"/>
                <c:pt idx="0">
                  <c:v>1331.111</c:v>
                </c:pt>
              </c:numCache>
            </c:numRef>
          </c:bubbleSize>
          <c:bubble3D val="0"/>
        </c:ser>
        <c:ser>
          <c:idx val="3"/>
          <c:order val="3"/>
          <c:tx>
            <c:strRef>
              <c:strCache>
                <c:ptCount val="1"/>
                <c:pt idx="0">
                  <c:v>Bathrooms and Wet Areas</c:v>
                </c:pt>
              </c:strCache>
            </c:strRef>
          </c:tx>
          <c:spPr>
            <a:solidFill>
              <a:srgbClr val="40315E"/>
            </a:solidFill>
          </c:spPr>
          <c:invertIfNegative val="0"/>
          <c:xVal>
            <c:numRef>
              <c:numCache>
                <c:formatCode>General</c:formatCode>
                <c:ptCount val="1"/>
                <c:pt idx="0">
                  <c:v>143.28865263368178</c:v>
                </c:pt>
              </c:numCache>
            </c:numRef>
          </c:xVal>
          <c:yVal>
            <c:numRef>
              <c:numCache>
                <c:formatCode>General</c:formatCode>
                <c:ptCount val="1"/>
                <c:pt idx="0">
                  <c:v>130.1527275369475</c:v>
                </c:pt>
              </c:numCache>
            </c:numRef>
          </c:yVal>
          <c:bubbleSize>
            <c:numRef>
              <c:numCache>
                <c:formatCode>General</c:formatCode>
                <c:ptCount val="1"/>
                <c:pt idx="0">
                  <c:v>3146.244</c:v>
                </c:pt>
              </c:numCache>
            </c:numRef>
          </c:bubbleSize>
          <c:bubble3D val="0"/>
        </c:ser>
        <c:ser>
          <c:idx val="4"/>
          <c:order val="4"/>
          <c:tx>
            <c:strRef>
              <c:strCache>
                <c:ptCount val="1"/>
                <c:pt idx="0">
                  <c:v>Balconies and Decks</c:v>
                </c:pt>
              </c:strCache>
            </c:strRef>
          </c:tx>
          <c:spPr>
            <a:solidFill>
              <a:srgbClr val="A35313"/>
            </a:solidFill>
          </c:spPr>
          <c:invertIfNegative val="0"/>
          <c:xVal>
            <c:numRef>
              <c:numCache>
                <c:formatCode>General</c:formatCode>
                <c:ptCount val="1"/>
                <c:pt idx="0">
                  <c:v>23.12127437404403</c:v>
                </c:pt>
              </c:numCache>
            </c:numRef>
          </c:xVal>
          <c:yVal>
            <c:numRef>
              <c:numCache>
                <c:formatCode>General</c:formatCode>
                <c:ptCount val="1"/>
                <c:pt idx="0">
                  <c:v>52.64455528849131</c:v>
                </c:pt>
              </c:numCache>
            </c:numRef>
          </c:yVal>
          <c:bubbleSize>
            <c:numRef>
              <c:numCache>
                <c:formatCode>General</c:formatCode>
                <c:ptCount val="1"/>
                <c:pt idx="0">
                  <c:v>715.149</c:v>
                </c:pt>
              </c:numCache>
            </c:numRef>
          </c:bubbleSize>
          <c:bubble3D val="0"/>
        </c:ser>
        <c:ser>
          <c:idx val="5"/>
          <c:order val="5"/>
          <c:tx>
            <c:strRef>
              <c:strCache>
                <c:ptCount val="1"/>
                <c:pt idx="0">
                  <c:v>Floors and Parking Structures</c:v>
                </c:pt>
              </c:strCache>
            </c:strRef>
          </c:tx>
          <c:spPr>
            <a:solidFill>
              <a:srgbClr val="808080"/>
            </a:solidFill>
          </c:spPr>
          <c:invertIfNegative val="0"/>
          <c:xVal>
            <c:numRef>
              <c:numCache>
                <c:formatCode>General</c:formatCode>
                <c:ptCount val="1"/>
                <c:pt idx="0">
                  <c:v>85.70862888581476</c:v>
                </c:pt>
              </c:numCache>
            </c:numRef>
          </c:xVal>
          <c:yVal>
            <c:numRef>
              <c:numCache>
                <c:formatCode>General</c:formatCode>
                <c:ptCount val="1"/>
                <c:pt idx="0">
                  <c:v>63.335730581259696</c:v>
                </c:pt>
              </c:numCache>
            </c:numRef>
          </c:yVal>
          <c:bubbleSize>
            <c:numRef>
              <c:numCache>
                <c:formatCode>General</c:formatCode>
                <c:ptCount val="1"/>
                <c:pt idx="0">
                  <c:v>1166.415</c:v>
                </c:pt>
              </c:numCache>
            </c:numRef>
          </c:bubbleSize>
          <c:bubble3D val="0"/>
        </c:ser>
        <c:ser>
          <c:idx val="6"/>
          <c:order val="6"/>
          <c:tx>
            <c:strRef>
              <c:strCache>
                <c:ptCount val="1"/>
                <c:pt idx="0">
                  <c:v>Bridges, Tunnels and Other Infrastructure</c:v>
                </c:pt>
              </c:strCache>
            </c:strRef>
          </c:tx>
          <c:spPr>
            <a:solidFill>
              <a:srgbClr val="0E72AE"/>
            </a:solidFill>
          </c:spPr>
          <c:invertIfNegative val="0"/>
          <c:xVal>
            <c:numRef>
              <c:numCache>
                <c:formatCode>General</c:formatCode>
                <c:ptCount val="1"/>
                <c:pt idx="0">
                  <c:v>44.550524272040825</c:v>
                </c:pt>
              </c:numCache>
            </c:numRef>
          </c:xVal>
          <c:yVal>
            <c:numRef>
              <c:numCache>
                <c:formatCode>General</c:formatCode>
                <c:ptCount val="1"/>
                <c:pt idx="0">
                  <c:v>87.2533566287483</c:v>
                </c:pt>
              </c:numCache>
            </c:numRef>
          </c:yVal>
          <c:bubbleSize>
            <c:numRef>
              <c:numCache>
                <c:formatCode>General</c:formatCode>
                <c:ptCount val="1"/>
                <c:pt idx="0">
                  <c:v>1316.831</c:v>
                </c:pt>
              </c:numCache>
            </c:numRef>
          </c:bubbleSize>
          <c:bubble3D val="0"/>
        </c:ser>
        <c:ser>
          <c:idx val="7"/>
          <c:order val="7"/>
          <c:tx>
            <c:strRef>
              <c:strCache>
                <c:ptCount val="1"/>
                <c:pt idx="0">
                  <c:v>Water Tanks and Swimming Pools</c:v>
                </c:pt>
              </c:strCache>
            </c:strRef>
          </c:tx>
          <c:spPr>
            <a:solidFill>
              <a:srgbClr val="A86F00"/>
            </a:solidFill>
          </c:spPr>
          <c:invertIfNegative val="0"/>
          <c:xVal>
            <c:numRef>
              <c:numCache>
                <c:formatCode>General</c:formatCode>
                <c:ptCount val="1"/>
                <c:pt idx="0">
                  <c:v>121.37628093667725</c:v>
                </c:pt>
              </c:numCache>
            </c:numRef>
          </c:xVal>
          <c:yVal>
            <c:numRef>
              <c:numCache>
                <c:formatCode>General</c:formatCode>
                <c:ptCount val="1"/>
                <c:pt idx="0">
                  <c:v>98.92033017617709</c:v>
                </c:pt>
              </c:numCache>
            </c:numRef>
          </c:yVal>
          <c:bubbleSize>
            <c:numRef>
              <c:numCache>
                <c:formatCode>General</c:formatCode>
                <c:ptCount val="1"/>
                <c:pt idx="0">
                  <c:v>2157.972</c:v>
                </c:pt>
              </c:numCache>
            </c:numRef>
          </c:bubbleSize>
          <c:bubble3D val="0"/>
        </c:ser>
        <c:ser>
          <c:idx val="8"/>
          <c:order val="8"/>
          <c:tx>
            <c:strRef>
              <c:strCache>
                <c:ptCount val="1"/>
                <c:pt idx="0">
                  <c:v>Other Applications</c:v>
                </c:pt>
              </c:strCache>
            </c:strRef>
          </c:tx>
          <c:spPr>
            <a:solidFill>
              <a:srgbClr val="0B2E4A"/>
            </a:solidFill>
          </c:spPr>
          <c:invertIfNegative val="0"/>
          <c:xVal>
            <c:numRef>
              <c:numCache>
                <c:formatCode>General</c:formatCode>
                <c:ptCount val="1"/>
                <c:pt idx="0">
                  <c:v>97.64475337598162</c:v>
                </c:pt>
              </c:numCache>
            </c:numRef>
          </c:xVal>
          <c:yVal>
            <c:numRef>
              <c:numCache>
                <c:formatCode>General</c:formatCode>
                <c:ptCount val="1"/>
                <c:pt idx="0">
                  <c:v>43.042297526816284</c:v>
                </c:pt>
              </c:numCache>
            </c:numRef>
          </c:yVal>
          <c:bubbleSize>
            <c:numRef>
              <c:numCache>
                <c:formatCode>General</c:formatCode>
                <c:ptCount val="1"/>
                <c:pt idx="0">
                  <c:v>839.178</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80.0"/>
          <c:min val="-1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7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2606.899</c:v>
                </c:pt>
                <c:pt idx="2">
                  <c:v>2849.018</c:v>
                </c:pt>
                <c:pt idx="3">
                  <c:v>3114.895</c:v>
                </c:pt>
                <c:pt idx="4">
                  <c:v>3406.956</c:v>
                </c:pt>
                <c:pt idx="5">
                  <c:v>3727.919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2606.899</c:v>
                </c:pt>
                <c:pt idx="1">
                  <c:v>242.11900000000014</c:v>
                </c:pt>
                <c:pt idx="2">
                  <c:v>265.87699999999995</c:v>
                </c:pt>
                <c:pt idx="3">
                  <c:v>292.06100000000015</c:v>
                </c:pt>
                <c:pt idx="4">
                  <c:v>320.96299999999974</c:v>
                </c:pt>
                <c:pt idx="5">
                  <c:v>352.866</c:v>
                </c:pt>
                <c:pt idx="6">
                  <c:v>4080.785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1509.026</c:v>
                </c:pt>
                <c:pt idx="2">
                  <c:v>1737.578</c:v>
                </c:pt>
                <c:pt idx="3">
                  <c:v>1996.047</c:v>
                </c:pt>
                <c:pt idx="4">
                  <c:v>2288.205</c:v>
                </c:pt>
                <c:pt idx="5">
                  <c:v>2618.273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1509.026</c:v>
                </c:pt>
                <c:pt idx="1">
                  <c:v>228.5519999999999</c:v>
                </c:pt>
                <c:pt idx="2">
                  <c:v>258.46900000000005</c:v>
                </c:pt>
                <c:pt idx="3">
                  <c:v>292.1579999999999</c:v>
                </c:pt>
                <c:pt idx="4">
                  <c:v>330.0680000000002</c:v>
                </c:pt>
                <c:pt idx="5">
                  <c:v>372.759</c:v>
                </c:pt>
                <c:pt idx="6">
                  <c:v>2991.032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1027.07</c:v>
                </c:pt>
                <c:pt idx="2">
                  <c:v>1083.427</c:v>
                </c:pt>
                <c:pt idx="3">
                  <c:v>1142.074</c:v>
                </c:pt>
                <c:pt idx="4">
                  <c:v>1202.968</c:v>
                </c:pt>
                <c:pt idx="5">
                  <c:v>1266.023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1027.07</c:v>
                </c:pt>
                <c:pt idx="1">
                  <c:v>56.35699999999997</c:v>
                </c:pt>
                <c:pt idx="2">
                  <c:v>58.64700000000016</c:v>
                </c:pt>
                <c:pt idx="3">
                  <c:v>60.894000000000005</c:v>
                </c:pt>
                <c:pt idx="4">
                  <c:v>63.054999999999836</c:v>
                </c:pt>
                <c:pt idx="5">
                  <c:v>65.08800000000019</c:v>
                </c:pt>
                <c:pt idx="6">
                  <c:v>1331.111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1576.294</c:v>
                </c:pt>
                <c:pt idx="2">
                  <c:v>1817.518</c:v>
                </c:pt>
                <c:pt idx="3">
                  <c:v>2090.765</c:v>
                </c:pt>
                <c:pt idx="4">
                  <c:v>2400.13</c:v>
                </c:pt>
                <c:pt idx="5">
                  <c:v>2750.225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1576.294</c:v>
                </c:pt>
                <c:pt idx="1">
                  <c:v>241.22399999999993</c:v>
                </c:pt>
                <c:pt idx="2">
                  <c:v>273.24699999999984</c:v>
                </c:pt>
                <c:pt idx="3">
                  <c:v>309.36500000000024</c:v>
                </c:pt>
                <c:pt idx="4">
                  <c:v>350.0949999999998</c:v>
                </c:pt>
                <c:pt idx="5">
                  <c:v>396.01900000000023</c:v>
                </c:pt>
                <c:pt idx="6">
                  <c:v>3146.244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637.584</c:v>
                </c:pt>
                <c:pt idx="2">
                  <c:v>657.018</c:v>
                </c:pt>
                <c:pt idx="3">
                  <c:v>674.994</c:v>
                </c:pt>
                <c:pt idx="4">
                  <c:v>691.051</c:v>
                </c:pt>
                <c:pt idx="5">
                  <c:v>704.65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637.584</c:v>
                </c:pt>
                <c:pt idx="1">
                  <c:v>19.434000000000083</c:v>
                </c:pt>
                <c:pt idx="2">
                  <c:v>17.976</c:v>
                </c:pt>
                <c:pt idx="3">
                  <c:v>16.057000000000016</c:v>
                </c:pt>
                <c:pt idx="4">
                  <c:v>13.598999999999933</c:v>
                </c:pt>
                <c:pt idx="5">
                  <c:v>10.499000000000024</c:v>
                </c:pt>
                <c:pt idx="6">
                  <c:v>715.149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767.066</c:v>
                </c:pt>
                <c:pt idx="2">
                  <c:v>833.464</c:v>
                </c:pt>
                <c:pt idx="3">
                  <c:v>905.978</c:v>
                </c:pt>
                <c:pt idx="4">
                  <c:v>985.195</c:v>
                </c:pt>
                <c:pt idx="5">
                  <c:v>1071.763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767.066</c:v>
                </c:pt>
                <c:pt idx="1">
                  <c:v>66.39800000000002</c:v>
                </c:pt>
                <c:pt idx="2">
                  <c:v>72.5139999999999</c:v>
                </c:pt>
                <c:pt idx="3">
                  <c:v>79.2170000000001</c:v>
                </c:pt>
                <c:pt idx="4">
                  <c:v>86.56799999999987</c:v>
                </c:pt>
                <c:pt idx="5">
                  <c:v>94.65200000000004</c:v>
                </c:pt>
                <c:pt idx="6">
                  <c:v>1166.415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1056.735</c:v>
                </c:pt>
                <c:pt idx="2">
                  <c:v>1107.486</c:v>
                </c:pt>
                <c:pt idx="3">
                  <c:v>1159.173</c:v>
                </c:pt>
                <c:pt idx="4">
                  <c:v>1211.533</c:v>
                </c:pt>
                <c:pt idx="5">
                  <c:v>1264.222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1056.735</c:v>
                </c:pt>
                <c:pt idx="1">
                  <c:v>50.751000000000204</c:v>
                </c:pt>
                <c:pt idx="2">
                  <c:v>51.6869999999999</c:v>
                </c:pt>
                <c:pt idx="3">
                  <c:v>52.3599999999999</c:v>
                </c:pt>
                <c:pt idx="4">
                  <c:v>52.68900000000008</c:v>
                </c:pt>
                <c:pt idx="5">
                  <c:v>52.608999999999924</c:v>
                </c:pt>
                <c:pt idx="6">
                  <c:v>1316.831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1198.035</c:v>
                </c:pt>
                <c:pt idx="2">
                  <c:v>1349.182</c:v>
                </c:pt>
                <c:pt idx="3">
                  <c:v>1518.454</c:v>
                </c:pt>
                <c:pt idx="4">
                  <c:v>1708.012</c:v>
                </c:pt>
                <c:pt idx="5">
                  <c:v>1920.277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1198.035</c:v>
                </c:pt>
                <c:pt idx="1">
                  <c:v>151.14699999999993</c:v>
                </c:pt>
                <c:pt idx="2">
                  <c:v>169.27199999999993</c:v>
                </c:pt>
                <c:pt idx="3">
                  <c:v>189.558</c:v>
                </c:pt>
                <c:pt idx="4">
                  <c:v>212.2650000000001</c:v>
                </c:pt>
                <c:pt idx="5">
                  <c:v>237.69500000000016</c:v>
                </c:pt>
                <c:pt idx="6">
                  <c:v>2157.972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521.29</c:v>
                </c:pt>
                <c:pt idx="2">
                  <c:v>572.941</c:v>
                </c:pt>
                <c:pt idx="3">
                  <c:v>629.943</c:v>
                </c:pt>
                <c:pt idx="4">
                  <c:v>692.873</c:v>
                </c:pt>
                <c:pt idx="5">
                  <c:v>762.385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521.29</c:v>
                </c:pt>
                <c:pt idx="1">
                  <c:v>51.65100000000007</c:v>
                </c:pt>
                <c:pt idx="2">
                  <c:v>57.00199999999995</c:v>
                </c:pt>
                <c:pt idx="3">
                  <c:v>62.930000000000064</c:v>
                </c:pt>
                <c:pt idx="4">
                  <c:v>69.51199999999994</c:v>
                </c:pt>
                <c:pt idx="5">
                  <c:v>76.793</c:v>
                </c:pt>
                <c:pt idx="6">
                  <c:v>839.178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Roofs and Terraces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24.405262784933967</c:v>
                </c:pt>
                <c:pt idx="1">
                  <c:v>23.916506781330895</c:v>
                </c:pt>
                <c:pt idx="2">
                  <c:v>22.99718276713007</c:v>
                </c:pt>
              </c:numCache>
            </c:numRef>
          </c:val>
        </c:ser>
        <c:ser>
          <c:idx val="1"/>
          <c:order val="1"/>
          <c:tx>
            <c:strRef>
              <c:strCache>
                <c:ptCount val="1"/>
                <c:pt idx="0">
                  <c:v>Bathrooms and Wet Areas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12.723836082691536</c:v>
                </c:pt>
                <c:pt idx="1">
                  <c:v>14.461414170771944</c:v>
                </c:pt>
                <c:pt idx="2">
                  <c:v>17.730595534434276</c:v>
                </c:pt>
              </c:numCache>
            </c:numRef>
          </c:val>
        </c:ser>
        <c:ser>
          <c:idx val="2"/>
          <c:order val="2"/>
          <c:tx>
            <c:strRef>
              <c:strCache>
                <c:ptCount val="1"/>
                <c:pt idx="0">
                  <c:v>Walls and Building Facades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12.222284237867708</c:v>
                </c:pt>
                <c:pt idx="1">
                  <c:v>13.844276499474908</c:v>
                </c:pt>
                <c:pt idx="2">
                  <c:v>16.85590139307378</c:v>
                </c:pt>
              </c:numCache>
            </c:numRef>
          </c:val>
        </c:ser>
        <c:ser>
          <c:idx val="3"/>
          <c:order val="3"/>
          <c:tx>
            <c:strRef>
              <c:strCache>
                <c:ptCount val="1"/>
                <c:pt idx="0">
                  <c:v>Water Tanks and Swimming Pools</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10.3535906253906</c:v>
                </c:pt>
                <c:pt idx="1">
                  <c:v>10.99114779735301</c:v>
                </c:pt>
                <c:pt idx="2">
                  <c:v>12.161208319073221</c:v>
                </c:pt>
              </c:numCache>
            </c:numRef>
          </c:val>
        </c:ser>
        <c:ser>
          <c:idx val="4"/>
          <c:order val="4"/>
          <c:tx>
            <c:strRef>
              <c:strCache>
                <c:ptCount val="1"/>
                <c:pt idx="0">
                  <c:v>Basements and Foundations</c:v>
                </c:pt>
              </c:strCache>
            </c:strRef>
          </c:tx>
          <c:spPr>
            <a:solidFill>
              <a:srgbClr val="A35313"/>
            </a:solidFill>
            <a:ln>
              <a:noFill/>
            </a:ln>
          </c:spPr>
          <c:dLbls>
            <c:dLbl>
              <c:idx val="0"/>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10.459042178712195</c:v>
                </c:pt>
                <c:pt idx="1">
                  <c:v>9.422661414923066</c:v>
                </c:pt>
                <c:pt idx="2">
                  <c:v>7.501449586375483</c:v>
                </c:pt>
              </c:numCache>
            </c:numRef>
          </c:val>
        </c:ser>
        <c:ser>
          <c:idx val="5"/>
          <c:order val="5"/>
          <c:tx>
            <c:strRef>
              <c:strCache>
                <c:ptCount val="1"/>
                <c:pt idx="0">
                  <c:v>Bridges, Tunnels and Other Infrastructure</c:v>
                </c:pt>
              </c:strCache>
            </c:strRef>
          </c:tx>
          <c:spPr>
            <a:solidFill>
              <a:srgbClr val="808080"/>
            </a:solidFill>
            <a:ln>
              <a:noFill/>
            </a:ln>
          </c:spPr>
          <c:dLbls>
            <c:dLbl>
              <c:idx val="0"/>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10.913123979245247</c:v>
                </c:pt>
                <c:pt idx="1">
                  <c:v>9.694817403194255</c:v>
                </c:pt>
                <c:pt idx="2">
                  <c:v>7.420974930172173</c:v>
                </c:pt>
              </c:numCache>
            </c:numRef>
          </c:val>
        </c:ser>
        <c:ser>
          <c:idx val="6"/>
          <c:order val="6"/>
          <c:tx>
            <c:strRef>
              <c:strCache>
                <c:ptCount val="1"/>
                <c:pt idx="0">
                  <c:v>Floors and Parking Structures</c:v>
                </c:pt>
              </c:strCache>
            </c:strRef>
          </c:tx>
          <c:spPr>
            <a:solidFill>
              <a:srgbClr val="0E72AE"/>
            </a:solidFill>
            <a:ln>
              <a:noFill/>
            </a:ln>
          </c:spPr>
          <c:dLbls>
            <c:dLbl>
              <c:idx val="0"/>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7.285702846956105</c:v>
                </c:pt>
                <c:pt idx="1">
                  <c:v>7.037303397917744</c:v>
                </c:pt>
                <c:pt idx="2">
                  <c:v>6.573308551497327</c:v>
                </c:pt>
              </c:numCache>
            </c:numRef>
          </c:val>
        </c:ser>
        <c:ser>
          <c:idx val="7"/>
          <c:order val="7"/>
          <c:tx>
            <c:strRef>
              <c:strCache>
                <c:ptCount val="1"/>
                <c:pt idx="0">
                  <c:v>Other Applications</c:v>
                </c:pt>
              </c:strCache>
            </c:strRef>
          </c:tx>
          <c:spPr>
            <a:solidFill>
              <a:srgbClr val="A86F00"/>
            </a:solidFill>
            <a:ln>
              <a:noFill/>
            </a:ln>
          </c:spPr>
          <c:dLbls>
            <c:dLbl>
              <c:idx val="0"/>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4.8107919501496035</c:v>
                </c:pt>
                <c:pt idx="1">
                  <c:v>4.782477502979587</c:v>
                </c:pt>
                <c:pt idx="2">
                  <c:v>4.729170941413154</c:v>
                </c:pt>
              </c:numCache>
            </c:numRef>
          </c:val>
        </c:ser>
        <c:ser>
          <c:idx val="8"/>
          <c:order val="8"/>
          <c:tx>
            <c:strRef>
              <c:strCache>
                <c:ptCount val="1"/>
                <c:pt idx="0">
                  <c:v>Balconies and Decks</c:v>
                </c:pt>
              </c:strCache>
            </c:strRef>
          </c:tx>
          <c:spPr>
            <a:solidFill>
              <a:srgbClr val="0B2E4A"/>
            </a:solidFill>
            <a:ln>
              <a:noFill/>
            </a:ln>
          </c:spPr>
          <c:dLbls>
            <c:dLbl>
              <c:idx val="0"/>
              <c:numFmt formatCode="&quot;MMM&quot;;&quot;MMM&quot;;&quot;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6.826365314053031</c:v>
                </c:pt>
                <c:pt idx="1">
                  <c:v>5.8493950320545895</c:v>
                </c:pt>
                <c:pt idx="2">
                  <c:v>4.030207976830512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Concrete and Cementitious Surfaces</c:v>
                </c:pt>
              </c:strCache>
            </c:strRef>
          </c:tx>
          <c:spPr>
            <a:solidFill>
              <a:srgbClr val="3D85C6"/>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2.930594692204898</c:v>
                </c:pt>
                <c:pt idx="1">
                  <c:v>3.4681527798209295</c:v>
                </c:pt>
                <c:pt idx="2">
                  <c:v>3.3393918918918923</c:v>
                </c:pt>
                <c:pt idx="3">
                  <c:v>3.202746413021087</c:v>
                </c:pt>
                <c:pt idx="4">
                  <c:v>3.5046318674987322</c:v>
                </c:pt>
                <c:pt idx="5">
                  <c:v>3.939168597805413</c:v>
                </c:pt>
                <c:pt idx="6">
                  <c:v>3.2792698077334563</c:v>
                </c:pt>
              </c:numCache>
            </c:numRef>
          </c:val>
        </c:ser>
        <c:ser>
          <c:idx val="1"/>
          <c:order val="1"/>
          <c:tx>
            <c:strRef>
              <c:strCache>
                <c:ptCount val="1"/>
                <c:pt idx="0">
                  <c:v>Metal</c:v>
                </c:pt>
              </c:strCache>
            </c:strRef>
          </c:tx>
          <c:spPr>
            <a:solidFill>
              <a:srgbClr val="9E7E0A"/>
            </a:solidFill>
            <a:ln>
              <a:noFill/>
            </a:ln>
          </c:spPr>
          <c:dLbls>
            <c:dLbl>
              <c:idx val="0"/>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4.286103360317751</c:v>
                </c:pt>
                <c:pt idx="1">
                  <c:v>4.066220966021158</c:v>
                </c:pt>
                <c:pt idx="2">
                  <c:v>4.6599324324324325</c:v>
                </c:pt>
                <c:pt idx="3">
                  <c:v>4.549959931965232</c:v>
                </c:pt>
                <c:pt idx="4">
                  <c:v>3.2572356938192555</c:v>
                </c:pt>
                <c:pt idx="5">
                  <c:v>4.072050319958204</c:v>
                </c:pt>
                <c:pt idx="6">
                  <c:v>4.054358526167362</c:v>
                </c:pt>
              </c:numCache>
            </c:numRef>
          </c:val>
        </c:ser>
        <c:ser>
          <c:idx val="2"/>
          <c:order val="2"/>
          <c:tx>
            <c:strRef>
              <c:strCache>
                <c:ptCount val="1"/>
                <c:pt idx="0">
                  <c:v>Wood</c:v>
                </c:pt>
              </c:strCache>
            </c:strRef>
          </c:tx>
          <c:spPr>
            <a:solidFill>
              <a:srgbClr val="008189"/>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14.910383401986582</c:v>
                </c:pt>
                <c:pt idx="1">
                  <c:v>15.380314237521977</c:v>
                </c:pt>
                <c:pt idx="2">
                  <c:v>15.297094594594594</c:v>
                </c:pt>
                <c:pt idx="3">
                  <c:v>12.578990112956268</c:v>
                </c:pt>
                <c:pt idx="4">
                  <c:v>11.723854329304187</c:v>
                </c:pt>
                <c:pt idx="5">
                  <c:v>17.145392949222806</c:v>
                </c:pt>
                <c:pt idx="6">
                  <c:v>16.054908091087476</c:v>
                </c:pt>
              </c:numCache>
            </c:numRef>
          </c:val>
        </c:ser>
        <c:ser>
          <c:idx val="3"/>
          <c:order val="3"/>
          <c:tx>
            <c:strRef>
              <c:strCache>
                <c:ptCount val="1"/>
                <c:pt idx="0">
                  <c:v>Masonry and Brickwork</c:v>
                </c:pt>
              </c:strCache>
            </c:strRef>
          </c:tx>
          <c:spPr>
            <a:solidFill>
              <a:srgbClr val="40315E"/>
            </a:solidFill>
            <a:ln>
              <a:noFill/>
            </a:ln>
          </c:spPr>
          <c:dLbls>
            <c:dLbl>
              <c:idx val="0"/>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24.974062954693096</c:v>
                </c:pt>
                <c:pt idx="1">
                  <c:v>23.361364580938083</c:v>
                </c:pt>
                <c:pt idx="2">
                  <c:v>27.226486486486483</c:v>
                </c:pt>
                <c:pt idx="3">
                  <c:v>30.61791057332342</c:v>
                </c:pt>
                <c:pt idx="4">
                  <c:v>29.81337419297122</c:v>
                </c:pt>
                <c:pt idx="5">
                  <c:v>23.449494666654378</c:v>
                </c:pt>
                <c:pt idx="6">
                  <c:v>26.931652534669077</c:v>
                </c:pt>
              </c:numCache>
            </c:numRef>
          </c:val>
        </c:ser>
        <c:ser>
          <c:idx val="4"/>
          <c:order val="4"/>
          <c:tx>
            <c:strRef>
              <c:strCache>
                <c:ptCount val="1"/>
                <c:pt idx="0">
                  <c:v>Composite Materials</c:v>
                </c:pt>
              </c:strCache>
            </c:strRef>
          </c:tx>
          <c:spPr>
            <a:solidFill>
              <a:srgbClr val="A35313"/>
            </a:solidFill>
            <a:ln>
              <a:noFill/>
            </a:ln>
          </c:spPr>
          <c:dLbls>
            <c:dLbl>
              <c:idx val="0"/>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25.708036298086856</c:v>
                </c:pt>
                <c:pt idx="1">
                  <c:v>25.996363745427903</c:v>
                </c:pt>
                <c:pt idx="2">
                  <c:v>26.894121621621625</c:v>
                </c:pt>
                <c:pt idx="3">
                  <c:v>25.865884791727105</c:v>
                </c:pt>
                <c:pt idx="4">
                  <c:v>23.174026641475454</c:v>
                </c:pt>
                <c:pt idx="5">
                  <c:v>26.59814284590186</c:v>
                </c:pt>
                <c:pt idx="6">
                  <c:v>23.89558205250857</c:v>
                </c:pt>
              </c:numCache>
            </c:numRef>
          </c:val>
        </c:ser>
        <c:ser>
          <c:idx val="5"/>
          <c:order val="5"/>
          <c:tx>
            <c:strRef>
              <c:strCache>
                <c:ptCount val="1"/>
                <c:pt idx="0">
                  <c:v>Other Substrates</c:v>
                </c:pt>
              </c:strCache>
            </c:strRef>
          </c:tx>
          <c:spPr>
            <a:solidFill>
              <a:srgbClr val="808080"/>
            </a:solidFill>
            <a:ln>
              <a:noFill/>
            </a:ln>
          </c:spPr>
          <c:dLbls>
            <c:dLbl>
              <c:idx val="0"/>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3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3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27.190819292710817</c:v>
                </c:pt>
                <c:pt idx="1">
                  <c:v>27.727583690269945</c:v>
                </c:pt>
                <c:pt idx="2">
                  <c:v>22.58297297297297</c:v>
                </c:pt>
                <c:pt idx="3">
                  <c:v>23.18450817700688</c:v>
                </c:pt>
                <c:pt idx="4">
                  <c:v>28.526877274931145</c:v>
                </c:pt>
                <c:pt idx="5">
                  <c:v>24.795750620457333</c:v>
                </c:pt>
                <c:pt idx="6">
                  <c:v>25.784228987834055</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51.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Concrete and Cementitious Surfaces</c:v>
                </c:pt>
              </c:strCache>
            </c:strRef>
          </c:tx>
          <c:spPr>
            <a:solidFill>
              <a:srgbClr val="3D85C6"/>
            </a:solidFill>
          </c:spPr>
          <c:invertIfNegative val="0"/>
          <c:xVal>
            <c:numRef>
              <c:numCache>
                <c:formatCode>General</c:formatCode>
                <c:ptCount val="1"/>
                <c:pt idx="0">
                  <c:v>72.75079359844273</c:v>
                </c:pt>
              </c:numCache>
            </c:numRef>
          </c:xVal>
          <c:yVal>
            <c:numRef>
              <c:numCache>
                <c:formatCode>General</c:formatCode>
                <c:ptCount val="1"/>
                <c:pt idx="0">
                  <c:v>23.325194800476588</c:v>
                </c:pt>
              </c:numCache>
            </c:numRef>
          </c:yVal>
          <c:bubbleSize>
            <c:numRef>
              <c:numCache>
                <c:formatCode>General</c:formatCode>
                <c:ptCount val="1"/>
                <c:pt idx="0">
                  <c:v>605.462</c:v>
                </c:pt>
              </c:numCache>
            </c:numRef>
          </c:bubbleSize>
          <c:bubble3D val="0"/>
        </c:ser>
        <c:ser>
          <c:idx val="1"/>
          <c:order val="1"/>
          <c:tx>
            <c:strRef>
              <c:strCache>
                <c:ptCount val="1"/>
                <c:pt idx="0">
                  <c:v>Metal</c:v>
                </c:pt>
              </c:strCache>
            </c:strRef>
          </c:tx>
          <c:spPr>
            <a:solidFill>
              <a:srgbClr val="9E7E0A"/>
            </a:solidFill>
          </c:spPr>
          <c:invertIfNegative val="0"/>
          <c:xVal>
            <c:numRef>
              <c:numCache>
                <c:formatCode>General</c:formatCode>
                <c:ptCount val="1"/>
                <c:pt idx="0">
                  <c:v>43.80876233666692</c:v>
                </c:pt>
              </c:numCache>
            </c:numRef>
          </c:xVal>
          <c:yVal>
            <c:numRef>
              <c:numCache>
                <c:formatCode>General</c:formatCode>
                <c:ptCount val="1"/>
                <c:pt idx="0">
                  <c:v>31.866553382252604</c:v>
                </c:pt>
              </c:numCache>
            </c:numRef>
          </c:yVal>
          <c:bubbleSize>
            <c:numRef>
              <c:numCache>
                <c:formatCode>General</c:formatCode>
                <c:ptCount val="1"/>
                <c:pt idx="0">
                  <c:v>718.787</c:v>
                </c:pt>
              </c:numCache>
            </c:numRef>
          </c:bubbleSize>
          <c:bubble3D val="0"/>
        </c:ser>
        <c:ser>
          <c:idx val="2"/>
          <c:order val="2"/>
          <c:tx>
            <c:strRef>
              <c:strCache>
                <c:ptCount val="1"/>
                <c:pt idx="0">
                  <c:v>Wood</c:v>
                </c:pt>
              </c:strCache>
            </c:strRef>
          </c:tx>
          <c:spPr>
            <a:solidFill>
              <a:srgbClr val="008189"/>
            </a:solidFill>
          </c:spPr>
          <c:invertIfNegative val="0"/>
          <c:xVal>
            <c:numRef>
              <c:numCache>
                <c:formatCode>General</c:formatCode>
                <c:ptCount val="1"/>
                <c:pt idx="0">
                  <c:v>93.92844678172582</c:v>
                </c:pt>
              </c:numCache>
            </c:numRef>
          </c:xVal>
          <c:yVal>
            <c:numRef>
              <c:numCache>
                <c:formatCode>General</c:formatCode>
                <c:ptCount val="1"/>
                <c:pt idx="0">
                  <c:v>92.7938066783309</c:v>
                </c:pt>
              </c:numCache>
            </c:numRef>
          </c:yVal>
          <c:bubbleSize>
            <c:numRef>
              <c:numCache>
                <c:formatCode>General</c:formatCode>
                <c:ptCount val="1"/>
                <c:pt idx="0">
                  <c:v>2666.102</c:v>
                </c:pt>
              </c:numCache>
            </c:numRef>
          </c:bubbleSize>
          <c:bubble3D val="0"/>
        </c:ser>
        <c:ser>
          <c:idx val="3"/>
          <c:order val="3"/>
          <c:tx>
            <c:strRef>
              <c:strCache>
                <c:ptCount val="1"/>
                <c:pt idx="0">
                  <c:v>Masonry and Brickwork</c:v>
                </c:pt>
              </c:strCache>
            </c:strRef>
          </c:tx>
          <c:spPr>
            <a:solidFill>
              <a:srgbClr val="40315E"/>
            </a:solidFill>
          </c:spPr>
          <c:invertIfNegative val="0"/>
          <c:xVal>
            <c:numRef>
              <c:numCache>
                <c:formatCode>General</c:formatCode>
                <c:ptCount val="1"/>
                <c:pt idx="0">
                  <c:v>144.36032330203102</c:v>
                </c:pt>
              </c:numCache>
            </c:numRef>
          </c:xVal>
          <c:yVal>
            <c:numRef>
              <c:numCache>
                <c:formatCode>General</c:formatCode>
                <c:ptCount val="1"/>
                <c:pt idx="0">
                  <c:v>130.7081404319395</c:v>
                </c:pt>
              </c:numCache>
            </c:numRef>
          </c:yVal>
          <c:bubbleSize>
            <c:numRef>
              <c:numCache>
                <c:formatCode>General</c:formatCode>
                <c:ptCount val="1"/>
                <c:pt idx="0">
                  <c:v>4763.23</c:v>
                </c:pt>
              </c:numCache>
            </c:numRef>
          </c:bubbleSize>
          <c:bubble3D val="0"/>
        </c:ser>
        <c:ser>
          <c:idx val="4"/>
          <c:order val="4"/>
          <c:tx>
            <c:strRef>
              <c:strCache>
                <c:ptCount val="1"/>
                <c:pt idx="0">
                  <c:v>Composite Materials</c:v>
                </c:pt>
              </c:strCache>
            </c:strRef>
          </c:tx>
          <c:spPr>
            <a:solidFill>
              <a:srgbClr val="A35313"/>
            </a:solidFill>
          </c:spPr>
          <c:invertIfNegative val="0"/>
          <c:xVal>
            <c:numRef>
              <c:numCache>
                <c:formatCode>General</c:formatCode>
                <c:ptCount val="1"/>
                <c:pt idx="0">
                  <c:v>114.3679443166865</c:v>
                </c:pt>
              </c:numCache>
            </c:numRef>
          </c:xVal>
          <c:yVal>
            <c:numRef>
              <c:numCache>
                <c:formatCode>General</c:formatCode>
                <c:ptCount val="1"/>
                <c:pt idx="0">
                  <c:v>139.74837979342936</c:v>
                </c:pt>
              </c:numCache>
            </c:numRef>
          </c:yVal>
          <c:bubbleSize>
            <c:numRef>
              <c:numCache>
                <c:formatCode>General</c:formatCode>
                <c:ptCount val="1"/>
                <c:pt idx="0">
                  <c:v>4424.287</c:v>
                </c:pt>
              </c:numCache>
            </c:numRef>
          </c:bubbleSize>
          <c:bubble3D val="0"/>
        </c:ser>
        <c:ser>
          <c:idx val="5"/>
          <c:order val="5"/>
          <c:tx>
            <c:strRef>
              <c:strCache>
                <c:ptCount val="1"/>
                <c:pt idx="0">
                  <c:v>Other Substrates</c:v>
                </c:pt>
              </c:strCache>
            </c:strRef>
          </c:tx>
          <c:spPr>
            <a:solidFill>
              <a:srgbClr val="808080"/>
            </a:solidFill>
          </c:spPr>
          <c:invertIfNegative val="0"/>
          <c:xVal>
            <c:numRef>
              <c:numCache>
                <c:formatCode>General</c:formatCode>
                <c:ptCount val="1"/>
                <c:pt idx="0">
                  <c:v>66.23385422846604</c:v>
                </c:pt>
              </c:numCache>
            </c:numRef>
          </c:xVal>
          <c:yVal>
            <c:numRef>
              <c:numCache>
                <c:formatCode>General</c:formatCode>
                <c:ptCount val="1"/>
                <c:pt idx="0">
                  <c:v>181.5579249135711</c:v>
                </c:pt>
              </c:numCache>
            </c:numRef>
          </c:yVal>
          <c:bubbleSize>
            <c:numRef>
              <c:numCache>
                <c:formatCode>General</c:formatCode>
                <c:ptCount val="1"/>
                <c:pt idx="0">
                  <c:v>4566.849</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70.0"/>
          <c:min val="1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2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5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423.741</c:v>
                </c:pt>
                <c:pt idx="2">
                  <c:v>455.876</c:v>
                </c:pt>
                <c:pt idx="3">
                  <c:v>490.074</c:v>
                </c:pt>
                <c:pt idx="4">
                  <c:v>526.382</c:v>
                </c:pt>
                <c:pt idx="5">
                  <c:v>564.839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423.741</c:v>
                </c:pt>
                <c:pt idx="1">
                  <c:v>32.13499999999999</c:v>
                </c:pt>
                <c:pt idx="2">
                  <c:v>34.198000000000036</c:v>
                </c:pt>
                <c:pt idx="3">
                  <c:v>36.307999999999936</c:v>
                </c:pt>
                <c:pt idx="4">
                  <c:v>38.45700000000011</c:v>
                </c:pt>
                <c:pt idx="5">
                  <c:v>40.622999999999934</c:v>
                </c:pt>
                <c:pt idx="6">
                  <c:v>605.462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578.909</c:v>
                </c:pt>
                <c:pt idx="2">
                  <c:v>608.747</c:v>
                </c:pt>
                <c:pt idx="3">
                  <c:v>638.2</c:v>
                </c:pt>
                <c:pt idx="4">
                  <c:v>666.788</c:v>
                </c:pt>
                <c:pt idx="5">
                  <c:v>693.899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578.909</c:v>
                </c:pt>
                <c:pt idx="1">
                  <c:v>29.837999999999965</c:v>
                </c:pt>
                <c:pt idx="2">
                  <c:v>29.453000000000088</c:v>
                </c:pt>
                <c:pt idx="3">
                  <c:v>28.587999999999965</c:v>
                </c:pt>
                <c:pt idx="4">
                  <c:v>27.11099999999999</c:v>
                </c:pt>
                <c:pt idx="5">
                  <c:v>24.888000000000034</c:v>
                </c:pt>
                <c:pt idx="6">
                  <c:v>718.787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1685.754</c:v>
                </c:pt>
                <c:pt idx="2">
                  <c:v>1846.652</c:v>
                </c:pt>
                <c:pt idx="3">
                  <c:v>2023.432</c:v>
                </c:pt>
                <c:pt idx="4">
                  <c:v>2217.712</c:v>
                </c:pt>
                <c:pt idx="5">
                  <c:v>2431.281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1685.754</c:v>
                </c:pt>
                <c:pt idx="1">
                  <c:v>160.89800000000014</c:v>
                </c:pt>
                <c:pt idx="2">
                  <c:v>176.77999999999997</c:v>
                </c:pt>
                <c:pt idx="3">
                  <c:v>194.27999999999997</c:v>
                </c:pt>
                <c:pt idx="4">
                  <c:v>213.56899999999996</c:v>
                </c:pt>
                <c:pt idx="5">
                  <c:v>234.8209999999999</c:v>
                </c:pt>
                <c:pt idx="6">
                  <c:v>2666.102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2374.531</c:v>
                </c:pt>
                <c:pt idx="2">
                  <c:v>2732.747</c:v>
                </c:pt>
                <c:pt idx="3">
                  <c:v>3142.748</c:v>
                </c:pt>
                <c:pt idx="4">
                  <c:v>3611.954</c:v>
                </c:pt>
                <c:pt idx="5">
                  <c:v>4148.865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2374.531</c:v>
                </c:pt>
                <c:pt idx="1">
                  <c:v>358.2159999999999</c:v>
                </c:pt>
                <c:pt idx="2">
                  <c:v>410.0010000000002</c:v>
                </c:pt>
                <c:pt idx="3">
                  <c:v>469.20600000000013</c:v>
                </c:pt>
                <c:pt idx="4">
                  <c:v>536.9109999999996</c:v>
                </c:pt>
                <c:pt idx="5">
                  <c:v>614.3649999999998</c:v>
                </c:pt>
                <c:pt idx="6">
                  <c:v>4763.23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2538.762</c:v>
                </c:pt>
                <c:pt idx="2">
                  <c:v>2834.485</c:v>
                </c:pt>
                <c:pt idx="3">
                  <c:v>3166.068</c:v>
                </c:pt>
                <c:pt idx="4">
                  <c:v>3538.031</c:v>
                </c:pt>
                <c:pt idx="5">
                  <c:v>3955.508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2538.762</c:v>
                </c:pt>
                <c:pt idx="1">
                  <c:v>295.72299999999996</c:v>
                </c:pt>
                <c:pt idx="2">
                  <c:v>331.5830000000001</c:v>
                </c:pt>
                <c:pt idx="3">
                  <c:v>371.96299999999974</c:v>
                </c:pt>
                <c:pt idx="4">
                  <c:v>417.47699999999986</c:v>
                </c:pt>
                <c:pt idx="5">
                  <c:v>468.77900000000045</c:v>
                </c:pt>
                <c:pt idx="6">
                  <c:v>4424.287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3298.302</c:v>
                </c:pt>
                <c:pt idx="2">
                  <c:v>3529.125</c:v>
                </c:pt>
                <c:pt idx="3">
                  <c:v>3771.801</c:v>
                </c:pt>
                <c:pt idx="4">
                  <c:v>4026.056</c:v>
                </c:pt>
                <c:pt idx="5">
                  <c:v>4291.345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3298.302</c:v>
                </c:pt>
                <c:pt idx="1">
                  <c:v>230.82299999999987</c:v>
                </c:pt>
                <c:pt idx="2">
                  <c:v>242.67599999999993</c:v>
                </c:pt>
                <c:pt idx="3">
                  <c:v>254.2550000000001</c:v>
                </c:pt>
                <c:pt idx="4">
                  <c:v>265.2890000000002</c:v>
                </c:pt>
                <c:pt idx="5">
                  <c:v>275.5039999999999</c:v>
                </c:pt>
                <c:pt idx="6">
                  <c:v>4566.849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Masonry and Brickwork</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19.42717458453604</c:v>
                </c:pt>
                <c:pt idx="1">
                  <c:v>21.784690071989914</c:v>
                </c:pt>
                <c:pt idx="2">
                  <c:v>26.843088001910647</c:v>
                </c:pt>
              </c:numCache>
            </c:numRef>
          </c:val>
        </c:ser>
        <c:ser>
          <c:idx val="1"/>
          <c:order val="1"/>
          <c:tx>
            <c:strRef>
              <c:strCache>
                <c:ptCount val="1"/>
                <c:pt idx="0">
                  <c:v>Other Substrates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32.36042015762031</c:v>
                </c:pt>
                <c:pt idx="1">
                  <c:v>30.25965415226185</c:v>
                </c:pt>
                <c:pt idx="2">
                  <c:v>25.736386779231253</c:v>
                </c:pt>
              </c:numCache>
            </c:numRef>
          </c:val>
        </c:ser>
        <c:ser>
          <c:idx val="2"/>
          <c:order val="2"/>
          <c:tx>
            <c:strRef>
              <c:strCache>
                <c:ptCount val="1"/>
                <c:pt idx="0">
                  <c:v>Composite Materials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22.533424717192744</c:v>
                </c:pt>
                <c:pt idx="1">
                  <c:v>23.291396632238225</c:v>
                </c:pt>
                <c:pt idx="2">
                  <c:v>24.932981461468223</c:v>
                </c:pt>
              </c:numCache>
            </c:numRef>
          </c:val>
        </c:ser>
        <c:ser>
          <c:idx val="3"/>
          <c:order val="3"/>
          <c:tx>
            <c:strRef>
              <c:strCache>
                <c:ptCount val="1"/>
                <c:pt idx="0">
                  <c:v>Wood</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15.679354506223383</c:v>
                </c:pt>
                <c:pt idx="1">
                  <c:v>15.465634446388481</c:v>
                </c:pt>
                <c:pt idx="2">
                  <c:v>15.024764835640939</c:v>
                </c:pt>
              </c:numCache>
            </c:numRef>
          </c:val>
        </c:ser>
        <c:ser>
          <c:idx val="4"/>
          <c:order val="4"/>
          <c:tx>
            <c:strRef>
              <c:strCache>
                <c:ptCount val="1"/>
                <c:pt idx="0">
                  <c:v>Metal</c:v>
                </c:pt>
              </c:strCache>
            </c:strRef>
          </c:tx>
          <c:spPr>
            <a:solidFill>
              <a:srgbClr val="A35313"/>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5.893135912452975</c:v>
                </c:pt>
                <c:pt idx="1">
                  <c:v>5.311092230375434</c:v>
                </c:pt>
                <c:pt idx="2">
                  <c:v>4.050709853529927</c:v>
                </c:pt>
              </c:numCache>
            </c:numRef>
          </c:val>
        </c:ser>
        <c:ser>
          <c:idx val="5"/>
          <c:order val="5"/>
          <c:tx>
            <c:strRef>
              <c:strCache>
                <c:ptCount val="1"/>
                <c:pt idx="0">
                  <c:v>Concrete and Cementitious Surfaces</c:v>
                </c:pt>
              </c:strCache>
            </c:strRef>
          </c:tx>
          <c:spPr>
            <a:solidFill>
              <a:srgbClr val="808080"/>
            </a:solidFill>
            <a:ln>
              <a:noFill/>
            </a:ln>
          </c:spPr>
          <c:dLbls>
            <c:dLbl>
              <c:idx val="0"/>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4.106490121974543</c:v>
                </c:pt>
                <c:pt idx="1">
                  <c:v>3.887532466746098</c:v>
                </c:pt>
                <c:pt idx="2">
                  <c:v>3.4120690682190085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Direct Sales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22.23877765779208</c:v>
                </c:pt>
                <c:pt idx="1">
                  <c:v>18.381081193022847</c:v>
                </c:pt>
                <c:pt idx="2">
                  <c:v>20.712972972972974</c:v>
                </c:pt>
                <c:pt idx="3">
                  <c:v>20.685298212954866</c:v>
                </c:pt>
                <c:pt idx="4">
                  <c:v>20.910940690816997</c:v>
                </c:pt>
                <c:pt idx="5">
                  <c:v>19.84180376038615</c:v>
                </c:pt>
                <c:pt idx="6">
                  <c:v>19.613203098087997</c:v>
                </c:pt>
              </c:numCache>
            </c:numRef>
          </c:val>
        </c:ser>
        <c:ser>
          <c:idx val="1"/>
          <c:order val="1"/>
          <c:tx>
            <c:strRef>
              <c:strCache>
                <c:ptCount val="1"/>
                <c:pt idx="0">
                  <c:v>Distributors and Wholesalers</c:v>
                </c:pt>
              </c:strCache>
            </c:strRef>
          </c:tx>
          <c:spPr>
            <a:solidFill>
              <a:srgbClr val="9E7E0A"/>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14.108692910682244</c:v>
                </c:pt>
                <c:pt idx="1">
                  <c:v>18.980863246264125</c:v>
                </c:pt>
                <c:pt idx="2">
                  <c:v>17.530675675675674</c:v>
                </c:pt>
                <c:pt idx="3">
                  <c:v>16.92381033528802</c:v>
                </c:pt>
                <c:pt idx="4">
                  <c:v>14.047206282390215</c:v>
                </c:pt>
                <c:pt idx="5">
                  <c:v>16.59575388135849</c:v>
                </c:pt>
                <c:pt idx="6">
                  <c:v>18.012449759151796</c:v>
                </c:pt>
              </c:numCache>
            </c:numRef>
          </c:val>
        </c:ser>
        <c:ser>
          <c:idx val="2"/>
          <c:order val="2"/>
          <c:tx>
            <c:strRef>
              <c:strCache>
                <c:ptCount val="1"/>
                <c:pt idx="0">
                  <c:v>Retail and Hardware Stores</c:v>
                </c:pt>
              </c:strCache>
            </c:strRef>
          </c:tx>
          <c:spPr>
            <a:solidFill>
              <a:srgbClr val="008189"/>
            </a:solidFill>
            <a:ln>
              <a:noFill/>
            </a:ln>
          </c:spPr>
          <c:dLbls>
            <c:dLbl>
              <c:idx val="0"/>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10.203988635388196</c:v>
                </c:pt>
                <c:pt idx="1">
                  <c:v>10.353827850625061</c:v>
                </c:pt>
                <c:pt idx="2">
                  <c:v>9.83858108108108</c:v>
                </c:pt>
                <c:pt idx="3">
                  <c:v>11.673387814356113</c:v>
                </c:pt>
                <c:pt idx="4">
                  <c:v>11.50579963634235</c:v>
                </c:pt>
                <c:pt idx="5">
                  <c:v>10.419819757232998</c:v>
                </c:pt>
                <c:pt idx="6">
                  <c:v>11.602559183531556</c:v>
                </c:pt>
              </c:numCache>
            </c:numRef>
          </c:val>
        </c:ser>
        <c:ser>
          <c:idx val="3"/>
          <c:order val="3"/>
          <c:tx>
            <c:strRef>
              <c:strCache>
                <c:ptCount val="1"/>
                <c:pt idx="0">
                  <c:v>Online Sales</c:v>
                </c:pt>
              </c:strCache>
            </c:strRef>
          </c:tx>
          <c:spPr>
            <a:solidFill>
              <a:srgbClr val="40315E"/>
            </a:solidFill>
            <a:ln>
              <a:noFill/>
            </a:ln>
          </c:spPr>
          <c:dLbls>
            <c:dLbl>
              <c:idx val="0"/>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27.659328699459852</c:v>
                </c:pt>
                <c:pt idx="1">
                  <c:v>25.099297171690914</c:v>
                </c:pt>
                <c:pt idx="2">
                  <c:v>28.88777027027027</c:v>
                </c:pt>
                <c:pt idx="3">
                  <c:v>25.62580014732957</c:v>
                </c:pt>
                <c:pt idx="4">
                  <c:v>28.189579098852075</c:v>
                </c:pt>
                <c:pt idx="5">
                  <c:v>26.702137237151874</c:v>
                </c:pt>
                <c:pt idx="6">
                  <c:v>23.96530388964222</c:v>
                </c:pt>
              </c:numCache>
            </c:numRef>
          </c:val>
        </c:ser>
        <c:ser>
          <c:idx val="4"/>
          <c:order val="4"/>
          <c:tx>
            <c:strRef>
              <c:strCache>
                <c:ptCount val="1"/>
                <c:pt idx="0">
                  <c:v>Other Channels</c:v>
                </c:pt>
              </c:strCache>
            </c:strRef>
          </c:tx>
          <c:spPr>
            <a:solidFill>
              <a:srgbClr val="A35313"/>
            </a:solidFill>
            <a:ln>
              <a:noFill/>
            </a:ln>
          </c:spPr>
          <c:dLbls>
            <c:dLbl>
              <c:idx val="0"/>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3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25.789212096677616</c:v>
                </c:pt>
                <c:pt idx="1">
                  <c:v>27.184930538397044</c:v>
                </c:pt>
                <c:pt idx="2">
                  <c:v>23.03</c:v>
                </c:pt>
                <c:pt idx="3">
                  <c:v>25.09170349007143</c:v>
                </c:pt>
                <c:pt idx="4">
                  <c:v>25.34647429159836</c:v>
                </c:pt>
                <c:pt idx="5">
                  <c:v>26.440485363870494</c:v>
                </c:pt>
                <c:pt idx="6">
                  <c:v>26.80648406958644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0.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Direct Sales</c:v>
                </c:pt>
              </c:strCache>
            </c:strRef>
          </c:tx>
          <c:spPr>
            <a:solidFill>
              <a:srgbClr val="3D85C6"/>
            </a:solidFill>
          </c:spPr>
          <c:invertIfNegative val="0"/>
          <c:xVal>
            <c:numRef>
              <c:numCache>
                <c:formatCode>General</c:formatCode>
                <c:ptCount val="1"/>
                <c:pt idx="0">
                  <c:v>156.9536375459218</c:v>
                </c:pt>
              </c:numCache>
            </c:numRef>
          </c:xVal>
          <c:yVal>
            <c:numRef>
              <c:numCache>
                <c:formatCode>General</c:formatCode>
                <c:ptCount val="1"/>
                <c:pt idx="0">
                  <c:v>76.90615384460126</c:v>
                </c:pt>
              </c:numCache>
            </c:numRef>
          </c:yVal>
          <c:bubbleSize>
            <c:numRef>
              <c:numCache>
                <c:formatCode>General</c:formatCode>
                <c:ptCount val="1"/>
                <c:pt idx="0">
                  <c:v>3565.686</c:v>
                </c:pt>
              </c:numCache>
            </c:numRef>
          </c:bubbleSize>
          <c:bubble3D val="0"/>
        </c:ser>
        <c:ser>
          <c:idx val="1"/>
          <c:order val="1"/>
          <c:tx>
            <c:strRef>
              <c:strCache>
                <c:ptCount val="1"/>
                <c:pt idx="0">
                  <c:v>Distributors and Wholesalers</c:v>
                </c:pt>
              </c:strCache>
            </c:strRef>
          </c:tx>
          <c:spPr>
            <a:solidFill>
              <a:srgbClr val="9E7E0A"/>
            </a:solidFill>
          </c:spPr>
          <c:invertIfNegative val="0"/>
          <c:xVal>
            <c:numRef>
              <c:numCache>
                <c:formatCode>General</c:formatCode>
                <c:ptCount val="1"/>
                <c:pt idx="0">
                  <c:v>137.07548102816446</c:v>
                </c:pt>
              </c:numCache>
            </c:numRef>
          </c:xVal>
          <c:yVal>
            <c:numRef>
              <c:numCache>
                <c:formatCode>General</c:formatCode>
                <c:ptCount val="1"/>
                <c:pt idx="0">
                  <c:v>70.92707072725419</c:v>
                </c:pt>
              </c:numCache>
            </c:numRef>
          </c:yVal>
          <c:bubbleSize>
            <c:numRef>
              <c:numCache>
                <c:formatCode>General</c:formatCode>
                <c:ptCount val="1"/>
                <c:pt idx="0">
                  <c:v>2997.988</c:v>
                </c:pt>
              </c:numCache>
            </c:numRef>
          </c:bubbleSize>
          <c:bubble3D val="0"/>
        </c:ser>
        <c:ser>
          <c:idx val="2"/>
          <c:order val="2"/>
          <c:tx>
            <c:strRef>
              <c:strCache>
                <c:ptCount val="1"/>
                <c:pt idx="0">
                  <c:v>Retail and Hardware Stores</c:v>
                </c:pt>
              </c:strCache>
            </c:strRef>
          </c:tx>
          <c:spPr>
            <a:solidFill>
              <a:srgbClr val="008189"/>
            </a:solidFill>
          </c:spPr>
          <c:invertIfNegative val="0"/>
          <c:xVal>
            <c:numRef>
              <c:numCache>
                <c:formatCode>General</c:formatCode>
                <c:ptCount val="1"/>
                <c:pt idx="0">
                  <c:v>32.97319141661202</c:v>
                </c:pt>
              </c:numCache>
            </c:numRef>
          </c:xVal>
          <c:yVal>
            <c:numRef>
              <c:numCache>
                <c:formatCode>General</c:formatCode>
                <c:ptCount val="1"/>
                <c:pt idx="0">
                  <c:v>76.64743822453562</c:v>
                </c:pt>
              </c:numCache>
            </c:numRef>
          </c:yVal>
          <c:bubbleSize>
            <c:numRef>
              <c:numCache>
                <c:formatCode>General</c:formatCode>
                <c:ptCount val="1"/>
                <c:pt idx="0">
                  <c:v>1967.367</c:v>
                </c:pt>
              </c:numCache>
            </c:numRef>
          </c:bubbleSize>
          <c:bubble3D val="0"/>
        </c:ser>
        <c:ser>
          <c:idx val="3"/>
          <c:order val="3"/>
          <c:tx>
            <c:strRef>
              <c:strCache>
                <c:ptCount val="1"/>
                <c:pt idx="0">
                  <c:v>Online Sales</c:v>
                </c:pt>
              </c:strCache>
            </c:strRef>
          </c:tx>
          <c:spPr>
            <a:solidFill>
              <a:srgbClr val="40315E"/>
            </a:solidFill>
          </c:spPr>
          <c:invertIfNegative val="0"/>
          <c:xVal>
            <c:numRef>
              <c:numCache>
                <c:formatCode>General</c:formatCode>
                <c:ptCount val="1"/>
                <c:pt idx="0">
                  <c:v>73.11649798425623</c:v>
                </c:pt>
              </c:numCache>
            </c:numRef>
          </c:xVal>
          <c:yVal>
            <c:numRef>
              <c:numCache>
                <c:formatCode>General</c:formatCode>
                <c:ptCount val="1"/>
                <c:pt idx="0">
                  <c:v>147.382949301188</c:v>
                </c:pt>
              </c:numCache>
            </c:numRef>
          </c:yVal>
          <c:bubbleSize>
            <c:numRef>
              <c:numCache>
                <c:formatCode>General</c:formatCode>
                <c:ptCount val="1"/>
                <c:pt idx="0">
                  <c:v>4598.915</c:v>
                </c:pt>
              </c:numCache>
            </c:numRef>
          </c:bubbleSize>
          <c:bubble3D val="0"/>
        </c:ser>
        <c:ser>
          <c:idx val="4"/>
          <c:order val="4"/>
          <c:tx>
            <c:strRef>
              <c:strCache>
                <c:ptCount val="1"/>
                <c:pt idx="0">
                  <c:v>Other Channels</c:v>
                </c:pt>
              </c:strCache>
            </c:strRef>
          </c:tx>
          <c:spPr>
            <a:solidFill>
              <a:srgbClr val="A35313"/>
            </a:solidFill>
          </c:spPr>
          <c:invertIfNegative val="0"/>
          <c:xVal>
            <c:numRef>
              <c:numCache>
                <c:formatCode>General</c:formatCode>
                <c:ptCount val="1"/>
                <c:pt idx="0">
                  <c:v>103.08970160934126</c:v>
                </c:pt>
              </c:numCache>
            </c:numRef>
          </c:xVal>
          <c:yVal>
            <c:numRef>
              <c:numCache>
                <c:formatCode>General</c:formatCode>
                <c:ptCount val="1"/>
                <c:pt idx="0">
                  <c:v>128.1363879024209</c:v>
                </c:pt>
              </c:numCache>
            </c:numRef>
          </c:yVal>
          <c:bubbleSize>
            <c:numRef>
              <c:numCache>
                <c:formatCode>General</c:formatCode>
                <c:ptCount val="1"/>
                <c:pt idx="0">
                  <c:v>4614.761</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90.0"/>
          <c:min val="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75.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6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1676.554</c:v>
                </c:pt>
                <c:pt idx="2">
                  <c:v>1957.172</c:v>
                </c:pt>
                <c:pt idx="3">
                  <c:v>2279.879</c:v>
                </c:pt>
                <c:pt idx="4">
                  <c:v>2650.744</c:v>
                </c:pt>
                <c:pt idx="5">
                  <c:v>3076.704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1676.554</c:v>
                </c:pt>
                <c:pt idx="1">
                  <c:v>280.61799999999994</c:v>
                </c:pt>
                <c:pt idx="2">
                  <c:v>322.7069999999999</c:v>
                </c:pt>
                <c:pt idx="3">
                  <c:v>370.86500000000024</c:v>
                </c:pt>
                <c:pt idx="4">
                  <c:v>425.96000000000004</c:v>
                </c:pt>
                <c:pt idx="5">
                  <c:v>488.98199999999997</c:v>
                </c:pt>
                <c:pt idx="6">
                  <c:v>3565.686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1546.21</c:v>
                </c:pt>
                <c:pt idx="2">
                  <c:v>1766.773</c:v>
                </c:pt>
                <c:pt idx="3">
                  <c:v>2017.767</c:v>
                </c:pt>
                <c:pt idx="4">
                  <c:v>2303.359</c:v>
                </c:pt>
                <c:pt idx="5">
                  <c:v>2628.297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1546.21</c:v>
                </c:pt>
                <c:pt idx="1">
                  <c:v>220.56299999999987</c:v>
                </c:pt>
                <c:pt idx="2">
                  <c:v>250.99400000000014</c:v>
                </c:pt>
                <c:pt idx="3">
                  <c:v>285.59199999999987</c:v>
                </c:pt>
                <c:pt idx="4">
                  <c:v>324.9380000000001</c:v>
                </c:pt>
                <c:pt idx="5">
                  <c:v>369.6909999999998</c:v>
                </c:pt>
                <c:pt idx="6">
                  <c:v>2997.988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1670.914</c:v>
                </c:pt>
                <c:pt idx="2">
                  <c:v>1741.143</c:v>
                </c:pt>
                <c:pt idx="3">
                  <c:v>1807.746</c:v>
                </c:pt>
                <c:pt idx="4">
                  <c:v>1869.058</c:v>
                </c:pt>
                <c:pt idx="5">
                  <c:v>1923.068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1670.914</c:v>
                </c:pt>
                <c:pt idx="1">
                  <c:v>70.22900000000004</c:v>
                </c:pt>
                <c:pt idx="2">
                  <c:v>66.60300000000007</c:v>
                </c:pt>
                <c:pt idx="3">
                  <c:v>61.3119999999999</c:v>
                </c:pt>
                <c:pt idx="4">
                  <c:v>54.00999999999999</c:v>
                </c:pt>
                <c:pt idx="5">
                  <c:v>44.29899999999998</c:v>
                </c:pt>
                <c:pt idx="6">
                  <c:v>1967.367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3212.948</c:v>
                </c:pt>
                <c:pt idx="2">
                  <c:v>3456.5</c:v>
                </c:pt>
                <c:pt idx="3">
                  <c:v>3716.262</c:v>
                </c:pt>
                <c:pt idx="4">
                  <c:v>3992.883</c:v>
                </c:pt>
                <c:pt idx="5">
                  <c:v>4286.943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3212.948</c:v>
                </c:pt>
                <c:pt idx="1">
                  <c:v>243.55200000000013</c:v>
                </c:pt>
                <c:pt idx="2">
                  <c:v>259.76200000000017</c:v>
                </c:pt>
                <c:pt idx="3">
                  <c:v>276.62099999999964</c:v>
                </c:pt>
                <c:pt idx="4">
                  <c:v>294.0600000000004</c:v>
                </c:pt>
                <c:pt idx="5">
                  <c:v>311.97199999999975</c:v>
                </c:pt>
                <c:pt idx="6">
                  <c:v>4598.915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2793.373</c:v>
                </c:pt>
                <c:pt idx="2">
                  <c:v>3086.044</c:v>
                </c:pt>
                <c:pt idx="3">
                  <c:v>3410.669</c:v>
                </c:pt>
                <c:pt idx="4">
                  <c:v>3770.879</c:v>
                </c:pt>
                <c:pt idx="5">
                  <c:v>4170.725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2793.373</c:v>
                </c:pt>
                <c:pt idx="1">
                  <c:v>292.6709999999998</c:v>
                </c:pt>
                <c:pt idx="2">
                  <c:v>324.625</c:v>
                </c:pt>
                <c:pt idx="3">
                  <c:v>360.21000000000004</c:v>
                </c:pt>
                <c:pt idx="4">
                  <c:v>399.84600000000046</c:v>
                </c:pt>
                <c:pt idx="5">
                  <c:v>444.03600000000006</c:v>
                </c:pt>
                <c:pt idx="6">
                  <c:v>4614.761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Other Channels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25.448974868278206</c:v>
                </c:pt>
                <c:pt idx="1">
                  <c:v>25.627277580484183</c:v>
                </c:pt>
                <c:pt idx="2">
                  <c:v>26.00639390304168</c:v>
                </c:pt>
              </c:numCache>
            </c:numRef>
          </c:val>
        </c:ser>
        <c:ser>
          <c:idx val="1"/>
          <c:order val="1"/>
          <c:tx>
            <c:strRef>
              <c:strCache>
                <c:ptCount val="1"/>
                <c:pt idx="0">
                  <c:v>Online Sales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31.158833959622722</c:v>
                </c:pt>
                <c:pt idx="1">
                  <c:v>29.476589860237603</c:v>
                </c:pt>
                <c:pt idx="2">
                  <c:v>25.917094084960613</c:v>
                </c:pt>
              </c:numCache>
            </c:numRef>
          </c:val>
        </c:ser>
        <c:ser>
          <c:idx val="2"/>
          <c:order val="2"/>
          <c:tx>
            <c:strRef>
              <c:strCache>
                <c:ptCount val="1"/>
                <c:pt idx="0">
                  <c:v>Direct Sales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13.13730948952801</c:v>
                </c:pt>
                <c:pt idx="1">
                  <c:v>15.381230768920254</c:v>
                </c:pt>
                <c:pt idx="2">
                  <c:v>20.09435258956229</c:v>
                </c:pt>
              </c:numCache>
            </c:numRef>
          </c:val>
        </c:ser>
        <c:ser>
          <c:idx val="3"/>
          <c:order val="3"/>
          <c:tx>
            <c:strRef>
              <c:strCache>
                <c:ptCount val="1"/>
                <c:pt idx="0">
                  <c:v>Distributors and Wholesalers</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12.89274948136141</c:v>
                </c:pt>
                <c:pt idx="1">
                  <c:v>14.185414145450839</c:v>
                </c:pt>
                <c:pt idx="2">
                  <c:v>16.895101792832197</c:v>
                </c:pt>
              </c:numCache>
            </c:numRef>
          </c:val>
        </c:ser>
        <c:ser>
          <c:idx val="4"/>
          <c:order val="4"/>
          <c:tx>
            <c:strRef>
              <c:strCache>
                <c:ptCount val="1"/>
                <c:pt idx="0">
                  <c:v>Retail and Hardware Stores</c:v>
                </c:pt>
              </c:strCache>
            </c:strRef>
          </c:tx>
          <c:spPr>
            <a:solidFill>
              <a:srgbClr val="A35313"/>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17.362132201209647</c:v>
                </c:pt>
                <c:pt idx="1">
                  <c:v>15.329487644907125</c:v>
                </c:pt>
                <c:pt idx="2">
                  <c:v>11.08705762960322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1.9460721816604298</c:v>
                </c:pt>
                <c:pt idx="1">
                  <c:v>2.7481081117567197</c:v>
                </c:pt>
                <c:pt idx="2">
                  <c:v>2.4800641505371868</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3.62750270751887"/>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675781.7450000001</c:v>
                </c:pt>
                <c:pt idx="2">
                  <c:v>0.0</c:v>
                </c:pt>
                <c:pt idx="3">
                  <c:v>744147.359</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675781.7450000001</c:v>
                </c:pt>
                <c:pt idx="1">
                  <c:v>68365.61399999994</c:v>
                </c:pt>
                <c:pt idx="2">
                  <c:v>744147.359</c:v>
                </c:pt>
                <c:pt idx="3">
                  <c:v>231734.58999999997</c:v>
                </c:pt>
                <c:pt idx="4">
                  <c:v>975881.949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3.4078525414098504</c:v>
                </c:pt>
                <c:pt idx="1">
                  <c:v>4.224581164237939</c:v>
                </c:pt>
                <c:pt idx="2">
                  <c:v>3.9516240578739037</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5.57644713679408"/>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3650.6000000000004</c:v>
                </c:pt>
                <c:pt idx="2">
                  <c:v>0.0</c:v>
                </c:pt>
                <c:pt idx="3">
                  <c:v>4316.501</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3650.6000000000004</c:v>
                </c:pt>
                <c:pt idx="1">
                  <c:v>665.9009999999998</c:v>
                </c:pt>
                <c:pt idx="2">
                  <c:v>4316.501</c:v>
                </c:pt>
                <c:pt idx="3">
                  <c:v>2212.2999999999993</c:v>
                </c:pt>
                <c:pt idx="4">
                  <c:v>6528.8009999999995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3650.6000000000004</c:v>
                </c:pt>
                <c:pt idx="1">
                  <c:v>3774.844</c:v>
                </c:pt>
                <c:pt idx="2">
                  <c:v>3903.403</c:v>
                </c:pt>
                <c:pt idx="3">
                  <c:v>4036.4260000000004</c:v>
                </c:pt>
                <c:pt idx="4">
                  <c:v>4174.07</c:v>
                </c:pt>
              </c:numCache>
            </c:numRef>
          </c:val>
        </c:ser>
        <c:gapWidth val="50"/>
        <c:axId val="-2068027336"/>
        <c:axId val="-2113994440"/>
      </c:barChart>
      <c:barChart>
        <c:barDir val="col"/>
        <c:grouping val="clustered"/>
        <c:varyColors val="0"/>
        <c:ser>
          <c:idx val="1"/>
          <c:order val="1"/>
          <c:tx>
            <c:strRef>
              <c:strCache>
                <c:ptCount val="1"/>
                <c:pt idx="0">
                  <c:v>Volume (Units)</c:v>
                </c:pt>
              </c:strCache>
            </c:strRef>
          </c:tx>
          <c:spPr>
            <a:solidFill>
              <a:srgbClr val="C55A11"/>
            </a:solidFill>
            <a:ln>
              <a:noFill/>
            </a:ln>
          </c:spPr>
          <c:dLbls>
            <c:dLbl>
              <c:idx val="0"/>
              <c:numFmt formatCode="&quot;MMMMMMMMM&quot;;&quot;MMMMMMMMM&quot;;&quot;M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675781.7450000001</c:v>
                </c:pt>
                <c:pt idx="1">
                  <c:v>688909.276</c:v>
                </c:pt>
                <c:pt idx="2">
                  <c:v>702303.837</c:v>
                </c:pt>
                <c:pt idx="3">
                  <c:v>715971.1299999999</c:v>
                </c:pt>
                <c:pt idx="4">
                  <c:v>729916.983</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4925"/>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1036099"/>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quot;;&quot;MMMMMMM&quot;;&quot;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quot;;&quot;MMMMMMM&quot;;&quot;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quot;;&quot;MMMMMMM&quot;;&quot;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quot;;&quot;MMMMMMM&quot;;&quot;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4316.501</c:v>
                </c:pt>
                <c:pt idx="1">
                  <c:v>4498.421</c:v>
                </c:pt>
                <c:pt idx="2">
                  <c:v>4688.108</c:v>
                </c:pt>
                <c:pt idx="3">
                  <c:v>4885.898</c:v>
                </c:pt>
                <c:pt idx="4">
                  <c:v>5092.141</c:v>
                </c:pt>
                <c:pt idx="5">
                  <c:v>5307.2029999999995</c:v>
                </c:pt>
                <c:pt idx="6">
                  <c:v>5531.469000000001</c:v>
                </c:pt>
                <c:pt idx="7">
                  <c:v>5765.335</c:v>
                </c:pt>
                <c:pt idx="8">
                  <c:v>6009.219</c:v>
                </c:pt>
                <c:pt idx="9">
                  <c:v>6263.557000000001</c:v>
                </c:pt>
                <c:pt idx="10">
                  <c:v>6528.8009999999995</c:v>
                </c:pt>
              </c:numCache>
            </c:numRef>
          </c:val>
        </c:ser>
        <c:gapWidth val="50"/>
        <c:axId val="-2068027336"/>
        <c:axId val="-2113994440"/>
      </c:barChart>
      <c:barChart>
        <c:barDir val="col"/>
        <c:grouping val="clustered"/>
        <c:varyColors val="0"/>
        <c:ser>
          <c:idx val="1"/>
          <c:order val="1"/>
          <c:tx>
            <c:strRef>
              <c:strCache>
                <c:ptCount val="1"/>
                <c:pt idx="0">
                  <c:v>Volume (Units)</c:v>
                </c:pt>
              </c:strCache>
            </c:strRef>
          </c:tx>
          <c:spPr>
            <a:solidFill>
              <a:srgbClr val="C55A11"/>
            </a:solidFill>
            <a:ln>
              <a:noFill/>
            </a:ln>
          </c:spPr>
          <c:dLbls>
            <c:dLbl>
              <c:idx val="0"/>
              <c:numFmt formatCode="&quot;MMMMMMMMM&quot;;&quot;MMMMMMMMM&quot;;&quot;M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quot;;&quot;MMMMMMMMM&quot;;&quot;M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quot;;&quot;MMMMMMMMM&quot;;&quot;M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quot;;&quot;MMMMMMMMM&quot;;&quot;M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quot;;&quot;MMMMMMMMM&quot;;&quot;M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quot;;&quot;MMMMMMMMM&quot;;&quot;M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quot;;&quot;MMMMMMMMM&quot;;&quot;M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744147.359</c:v>
                </c:pt>
                <c:pt idx="1">
                  <c:v>764537.754</c:v>
                </c:pt>
                <c:pt idx="2">
                  <c:v>785500.335</c:v>
                </c:pt>
                <c:pt idx="3">
                  <c:v>807051.5719999999</c:v>
                </c:pt>
                <c:pt idx="4">
                  <c:v>829208.418</c:v>
                </c:pt>
                <c:pt idx="5">
                  <c:v>851988.334</c:v>
                </c:pt>
                <c:pt idx="6">
                  <c:v>875409.291</c:v>
                </c:pt>
                <c:pt idx="7">
                  <c:v>899489.7920000001</c:v>
                </c:pt>
                <c:pt idx="8">
                  <c:v>924248.892</c:v>
                </c:pt>
                <c:pt idx="9">
                  <c:v>949706.211</c:v>
                </c:pt>
                <c:pt idx="10">
                  <c:v>975881.949</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7704"/>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1509245"/>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U.S.</c:v>
                </c:pt>
                <c:pt idx="1">
                  <c:v>Canada</c:v>
                </c:pt>
                <c:pt idx="2">
                  <c:v>Mexico</c:v>
                </c:pt>
              </c:strCache>
            </c:strRef>
          </c:cat>
          <c:val>
            <c:numRef>
              <c:numCache>
                <c:formatCode>General</c:formatCode>
                <c:ptCount val="3"/>
                <c:pt idx="0">
                  <c:v>90.56128536839825</c:v>
                </c:pt>
                <c:pt idx="1">
                  <c:v>107.73419084633349</c:v>
                </c:pt>
                <c:pt idx="2">
                  <c:v>119.5999932393295</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20.272612213533435</c:v>
                </c:pt>
                <c:pt idx="1">
                  <c:v>28.437327668037792</c:v>
                </c:pt>
                <c:pt idx="2">
                  <c:v>51.290060118428784</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Lbls>
            <c:dLbl>
              <c:idx val="0"/>
              <c:layout>
                <c:manualLayout>
                  <c:x val="0.0350"/>
                  <c:y val="0.0000"/>
                </c:manualLayout>
              </c:layout>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MMMM&quot;;&quot;MMMMMMM&quot;;&quot;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MMMM&quot;;&quot;MMMMMMM&quot;;&quot;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8"/>
                <c:pt idx="0">
                  <c:v>Acrylic Waterproof Coatings</c:v>
                </c:pt>
                <c:pt idx="1">
                  <c:v>Polyurethane (PU) Waterproof Coatings</c:v>
                </c:pt>
                <c:pt idx="2">
                  <c:v>Epoxy Waterproof Coatings</c:v>
                </c:pt>
                <c:pt idx="3">
                  <c:v>Silicone Waterproof Coatings</c:v>
                </c:pt>
                <c:pt idx="4">
                  <c:v>Bituminous Waterproof Coatings</c:v>
                </c:pt>
                <c:pt idx="5">
                  <c:v>Cementitious Waterproof Coatings</c:v>
                </c:pt>
                <c:pt idx="6">
                  <c:v>Polyurea Waterproof Coatings</c:v>
                </c:pt>
                <c:pt idx="7">
                  <c:v>Other Polymer-Based Coatings</c:v>
                </c:pt>
              </c:strCache>
            </c:strRef>
          </c:cat>
          <c:val>
            <c:numRef>
              <c:numCache>
                <c:formatCode>General</c:formatCode>
                <c:ptCount val="8"/>
                <c:pt idx="0">
                  <c:v>230.37</c:v>
                </c:pt>
                <c:pt idx="1">
                  <c:v>616.555</c:v>
                </c:pt>
                <c:pt idx="2">
                  <c:v>566.552</c:v>
                </c:pt>
                <c:pt idx="3">
                  <c:v>1245.228</c:v>
                </c:pt>
                <c:pt idx="4">
                  <c:v>350.752</c:v>
                </c:pt>
                <c:pt idx="5">
                  <c:v>900.407</c:v>
                </c:pt>
                <c:pt idx="6">
                  <c:v>1284.285</c:v>
                </c:pt>
                <c:pt idx="7">
                  <c:v>1334.652</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7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0.047130901861446486</c:v>
                </c:pt>
                <c:pt idx="1">
                  <c:v>0.0480930660632951</c:v>
                </c:pt>
                <c:pt idx="2">
                  <c:v>0.04921398735844874</c:v>
                </c:pt>
                <c:pt idx="3">
                  <c:v>0.05033971947461161</c:v>
                </c:pt>
                <c:pt idx="4">
                  <c:v>0.05226404787830884</c:v>
                </c:pt>
                <c:pt idx="5">
                  <c:v>0.0543471333753111</c:v>
                </c:pt>
                <c:pt idx="6">
                  <c:v>0.055309297577159716</c:v>
                </c:pt>
                <c:pt idx="7">
                  <c:v>0.054828215476235405</c:v>
                </c:pt>
                <c:pt idx="8">
                  <c:v>0.054058484114756514</c:v>
                </c:pt>
                <c:pt idx="9">
                  <c:v>0.05311556319694487</c:v>
                </c:pt>
                <c:pt idx="10">
                  <c:v>0.05201869600683745</c:v>
                </c:pt>
              </c:numCache>
            </c:numRef>
          </c:val>
          <c:smooth val="0"/>
        </c:ser>
        <c:ser>
          <c:idx val="1"/>
          <c:order val="1"/>
          <c:tx>
            <c:strRe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0.03675575304770669</c:v>
                </c:pt>
                <c:pt idx="1">
                  <c:v>0.03801480518110047</c:v>
                </c:pt>
                <c:pt idx="2">
                  <c:v>0.038821207151733345</c:v>
                </c:pt>
                <c:pt idx="3">
                  <c:v>0.040072651719366435</c:v>
                </c:pt>
                <c:pt idx="4">
                  <c:v>0.04062800401989662</c:v>
                </c:pt>
                <c:pt idx="5">
                  <c:v>0.04160177243726462</c:v>
                </c:pt>
                <c:pt idx="6">
                  <c:v>0.042921685096743906</c:v>
                </c:pt>
                <c:pt idx="7">
                  <c:v>0.043469429831513404</c:v>
                </c:pt>
                <c:pt idx="8">
                  <c:v>0.04397152917171877</c:v>
                </c:pt>
                <c:pt idx="9">
                  <c:v>0.04456872308393275</c:v>
                </c:pt>
                <c:pt idx="10">
                  <c:v>0.04576691469124103</c:v>
                </c:pt>
              </c:numCache>
            </c:numRef>
          </c:val>
          <c:smooth val="0"/>
        </c:ser>
        <c:ser>
          <c:idx val="2"/>
          <c:order val="2"/>
          <c:tx>
            <c:strRe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0.026380700668388</c:v>
                </c:pt>
                <c:pt idx="1">
                  <c:v>0.02710404707686448</c:v>
                </c:pt>
                <c:pt idx="2">
                  <c:v>0.027934555916226365</c:v>
                </c:pt>
                <c:pt idx="3">
                  <c:v>0.029842047185986563</c:v>
                </c:pt>
                <c:pt idx="4">
                  <c:v>0.030458231163577636</c:v>
                </c:pt>
                <c:pt idx="5">
                  <c:v>0.031127996356611416</c:v>
                </c:pt>
                <c:pt idx="6">
                  <c:v>0.03226927624554097</c:v>
                </c:pt>
                <c:pt idx="7">
                  <c:v>0.032976548289384636</c:v>
                </c:pt>
                <c:pt idx="8">
                  <c:v>0.03366238784705123</c:v>
                </c:pt>
                <c:pt idx="9">
                  <c:v>0.03499656011157451</c:v>
                </c:pt>
                <c:pt idx="10">
                  <c:v>0.03571454839850672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6D5E1"/>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C6D5E1"/>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7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U.S.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58.68262471385053</c:v>
                </c:pt>
                <c:pt idx="1">
                  <c:v>56.8242477041657</c:v>
                </c:pt>
              </c:numCache>
            </c:numRef>
          </c:val>
        </c:ser>
        <c:ser>
          <c:idx val="1"/>
          <c:order val="1"/>
          <c:tx>
            <c:strRef>
              <c:strCache>
                <c:ptCount val="1"/>
                <c:pt idx="0">
                  <c:v>Canada</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25.122094130821203</c:v>
                </c:pt>
                <c:pt idx="1">
                  <c:v>25.666222257380845</c:v>
                </c:pt>
              </c:numCache>
            </c:numRef>
          </c:val>
        </c:ser>
        <c:ser>
          <c:idx val="2"/>
          <c:order val="2"/>
          <c:tx>
            <c:strRef>
              <c:strCache>
                <c:ptCount val="1"/>
                <c:pt idx="0">
                  <c:v>Mexico</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16.19528115532827</c:v>
                </c:pt>
                <c:pt idx="1">
                  <c:v>17.509530038453452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U.S.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57.692909140991745</c:v>
                </c:pt>
                <c:pt idx="1">
                  <c:v>55.52328827299223</c:v>
                </c:pt>
              </c:numCache>
            </c:numRef>
          </c:val>
        </c:ser>
        <c:ser>
          <c:idx val="1"/>
          <c:order val="1"/>
          <c:tx>
            <c:strRef>
              <c:strCache>
                <c:ptCount val="1"/>
                <c:pt idx="0">
                  <c:v>Canada</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25.997885787585822</c:v>
                </c:pt>
                <c:pt idx="1">
                  <c:v>26.82449656529583</c:v>
                </c:pt>
              </c:numCache>
            </c:numRef>
          </c:val>
        </c:ser>
        <c:ser>
          <c:idx val="2"/>
          <c:order val="2"/>
          <c:tx>
            <c:strRef>
              <c:strCache>
                <c:ptCount val="1"/>
                <c:pt idx="0">
                  <c:v>Mexico</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16.30920507142243</c:v>
                </c:pt>
                <c:pt idx="1">
                  <c:v>17.65221516171193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U.S.</c:v>
                </c:pt>
              </c:strCache>
            </c:strRef>
          </c:tx>
          <c:spPr>
            <a:solidFill>
              <a:srgbClr val="3D85C6"/>
            </a:solidFill>
            <a:ln>
              <a:noFill/>
            </a:ln>
          </c:spPr>
          <c:dLbls>
            <c:dLbl>
              <c:idx val="0"/>
              <c:numFmt formatCode="&quot;MMMMMMMMM&quot;;&quot;MMMMMMMMM&quot;;&quot;M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quot;;&quot;MMMMMMMMM&quot;;&quot;M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quot;;&quot;MMMMMMMMM&quot;;&quot;M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quot;;&quot;MMMMMMMMM&quot;;&quot;M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quot;;&quot;MMMMMMMMM&quot;;&quot;M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quot;;&quot;MMMMMMMMM&quot;;&quot;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quot;;&quot;MMMMMMMMM&quot;;&quot;MM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MM&quot;;&quot;MMMMMMMMM&quot;;&quot;M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MM&quot;;&quot;MMMMMMMMM&quot;;&quot;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MM&quot;;&quot;MMMMMMMMM&quot;;&quot;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MM&quot;;&quot;MMMMMMMMM&quot;;&quot;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MM&quot;;&quot;MMMMMMMMM&quot;;&quot;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402794.629</c:v>
                </c:pt>
                <c:pt idx="1">
                  <c:v>409355.501</c:v>
                </c:pt>
                <c:pt idx="2">
                  <c:v>416023.24</c:v>
                </c:pt>
                <c:pt idx="3">
                  <c:v>422799.586</c:v>
                </c:pt>
                <c:pt idx="4">
                  <c:v>429686.307</c:v>
                </c:pt>
                <c:pt idx="5">
                  <c:v>436685.202</c:v>
                </c:pt>
                <c:pt idx="6">
                  <c:v>447244.209</c:v>
                </c:pt>
                <c:pt idx="7">
                  <c:v>458058.531</c:v>
                </c:pt>
                <c:pt idx="8">
                  <c:v>469134.343</c:v>
                </c:pt>
                <c:pt idx="9">
                  <c:v>480477.966</c:v>
                </c:pt>
                <c:pt idx="10">
                  <c:v>492095.878</c:v>
                </c:pt>
                <c:pt idx="11">
                  <c:v>503994.71</c:v>
                </c:pt>
                <c:pt idx="12">
                  <c:v>516181.254</c:v>
                </c:pt>
                <c:pt idx="13">
                  <c:v>528662.467</c:v>
                </c:pt>
                <c:pt idx="14">
                  <c:v>541445.475</c:v>
                </c:pt>
                <c:pt idx="15">
                  <c:v>554537.576</c:v>
                </c:pt>
              </c:numCache>
            </c:numRef>
          </c:val>
        </c:ser>
        <c:ser>
          <c:idx val="1"/>
          <c:order val="1"/>
          <c:tx>
            <c:strRef>
              <c:strCache>
                <c:ptCount val="1"/>
                <c:pt idx="0">
                  <c:v>Canada</c:v>
                </c:pt>
              </c:strCache>
            </c:strRef>
          </c:tx>
          <c:spPr>
            <a:solidFill>
              <a:srgbClr val="9E7E0A"/>
            </a:solidFill>
            <a:ln>
              <a:noFill/>
            </a:ln>
          </c:spPr>
          <c:dLbls>
            <c:dLbl>
              <c:idx val="0"/>
              <c:numFmt formatCode="&quot;MMMMMMMMM&quot;;&quot;MMMMMMMMM&quot;;&quot;M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quot;;&quot;MMMMMMMMM&quot;;&quot;M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quot;;&quot;MMMMMMMMM&quot;;&quot;MMMMMM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quot;;&quot;MMMMMMMMM&quot;;&quot;MMMMMM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quot;;&quot;MMMMMMMMM&quot;;&quot;MMMMMM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quot;;&quot;MMMMMMMMM&quot;;&quot;MMMMMM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quot;;&quot;MMMMMMMMM&quot;;&quot;MMMMMM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MM&quot;;&quot;MMMMMMMMM&quot;;&quot;MMMMMMMMM&quot;" sourceLinked="0"/>
              <c:spPr>
                <a:blipFill>
                  <a:blip r:embed="rId2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MM&quot;;&quot;MMMMMMMMM&quot;;&quot;MMMMMMMMM&quot;" sourceLinked="0"/>
              <c:spPr>
                <a:blipFill>
                  <a:blip r:embed="rId3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MM&quot;;&quot;MMMMMMMMM&quot;;&quot;MMMMMM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MM&quot;;&quot;MMMMMMMMM&quot;;&quot;MMMMMMMMM&quot;" sourceLinked="0"/>
              <c:spPr>
                <a:blipFill>
                  <a:blip r:embed="rId3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MM&quot;;&quot;MMMMMMMMM&quot;;&quot;MMMMMMMMM&quot;" sourceLinked="0"/>
              <c:spPr>
                <a:blipFill>
                  <a:blip r:embed="rId3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167830.931</c:v>
                </c:pt>
                <c:pt idx="1">
                  <c:v>171490.695</c:v>
                </c:pt>
                <c:pt idx="2">
                  <c:v>175230.264</c:v>
                </c:pt>
                <c:pt idx="3">
                  <c:v>179051.379</c:v>
                </c:pt>
                <c:pt idx="4">
                  <c:v>182955.819</c:v>
                </c:pt>
                <c:pt idx="5">
                  <c:v>186945.4</c:v>
                </c:pt>
                <c:pt idx="6">
                  <c:v>192494.9</c:v>
                </c:pt>
                <c:pt idx="7">
                  <c:v>198209.138</c:v>
                </c:pt>
                <c:pt idx="8">
                  <c:v>204093.004</c:v>
                </c:pt>
                <c:pt idx="9">
                  <c:v>210151.533</c:v>
                </c:pt>
                <c:pt idx="10">
                  <c:v>216389.911</c:v>
                </c:pt>
                <c:pt idx="11">
                  <c:v>222813.476</c:v>
                </c:pt>
                <c:pt idx="12">
                  <c:v>229427.725</c:v>
                </c:pt>
                <c:pt idx="13">
                  <c:v>236238.319</c:v>
                </c:pt>
                <c:pt idx="14">
                  <c:v>243251.087</c:v>
                </c:pt>
                <c:pt idx="15">
                  <c:v>250472.03</c:v>
                </c:pt>
              </c:numCache>
            </c:numRef>
          </c:val>
        </c:ser>
        <c:ser>
          <c:idx val="2"/>
          <c:order val="2"/>
          <c:tx>
            <c:strRef>
              <c:strCache>
                <c:ptCount val="1"/>
                <c:pt idx="0">
                  <c:v>Mexico</c:v>
                </c:pt>
              </c:strCache>
            </c:strRef>
          </c:tx>
          <c:spPr>
            <a:solidFill>
              <a:srgbClr val="008189"/>
            </a:solidFill>
            <a:ln>
              <a:noFill/>
            </a:ln>
          </c:spPr>
          <c:dLbls>
            <c:dLbl>
              <c:idx val="0"/>
              <c:numFmt formatCode="&quot;MMMMMMMMM&quot;;&quot;MMMMMMMMM&quot;;&quot;MMMMMMMMM&quot;" sourceLinked="0"/>
              <c:spPr>
                <a:blipFill>
                  <a:blip r:embed="rId3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3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3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3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3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quot;;&quot;MMMMMMMMM&quot;;&quot;MMMMMMMMM&quot;" sourceLinked="0"/>
              <c:spPr>
                <a:blipFill>
                  <a:blip r:embed="rId3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quot;;&quot;MMMMMMMMM&quot;;&quot;MMMMMMMMM&quot;" sourceLinked="0"/>
              <c:spPr>
                <a:blipFill>
                  <a:blip r:embed="rId4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quot;;&quot;MMMMMMMMM&quot;;&quot;MMMMMMMMM&quot;" sourceLinked="0"/>
              <c:spPr>
                <a:blipFill>
                  <a:blip r:embed="rId4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quot;;&quot;MMMMMMMMM&quot;;&quot;MMMMMMMMM&quot;" sourceLinked="0"/>
              <c:spPr>
                <a:blipFill>
                  <a:blip r:embed="rId4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quot;;&quot;MMMMMMMMM&quot;;&quot;MMMMMMMMM&quot;" sourceLinked="0"/>
              <c:spPr>
                <a:blipFill>
                  <a:blip r:embed="rId4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quot;;&quot;MMMMMMMMM&quot;;&quot;MMMMMMMMM&quot;" sourceLinked="0"/>
              <c:spPr>
                <a:blipFill>
                  <a:blip r:embed="rId4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MM&quot;;&quot;MMMMMMMMM&quot;;&quot;MMMMMMMMM&quot;" sourceLinked="0"/>
              <c:spPr>
                <a:blipFill>
                  <a:blip r:embed="rId4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MM&quot;;&quot;MMMMMMMMM&quot;;&quot;MMMMMMMMM&quot;" sourceLinked="0"/>
              <c:spPr>
                <a:blipFill>
                  <a:blip r:embed="rId4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MM&quot;;&quot;MMMMMMMMM&quot;;&quot;MMMMMMMMM&quot;" sourceLinked="0"/>
              <c:spPr>
                <a:blipFill>
                  <a:blip r:embed="rId4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MM&quot;;&quot;MMMMMMMMM&quot;;&quot;MMMMMMMMM&quot;" sourceLinked="0"/>
              <c:spPr>
                <a:blipFill>
                  <a:blip r:embed="rId4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MM&quot;;&quot;MMMMMMMMM&quot;;&quot;MMMMMMMMM&quot;" sourceLinked="0"/>
              <c:spPr>
                <a:blipFill>
                  <a:blip r:embed="rId4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105156.185</c:v>
                </c:pt>
                <c:pt idx="1">
                  <c:v>108063.08</c:v>
                </c:pt>
                <c:pt idx="2">
                  <c:v>111050.333</c:v>
                </c:pt>
                <c:pt idx="3">
                  <c:v>114120.165</c:v>
                </c:pt>
                <c:pt idx="4">
                  <c:v>117274.857</c:v>
                </c:pt>
                <c:pt idx="5">
                  <c:v>120516.757</c:v>
                </c:pt>
                <c:pt idx="6">
                  <c:v>124798.645</c:v>
                </c:pt>
                <c:pt idx="7">
                  <c:v>129232.666</c:v>
                </c:pt>
                <c:pt idx="8">
                  <c:v>133824.225</c:v>
                </c:pt>
                <c:pt idx="9">
                  <c:v>138578.919</c:v>
                </c:pt>
                <c:pt idx="10">
                  <c:v>143502.545</c:v>
                </c:pt>
                <c:pt idx="11">
                  <c:v>148601.105</c:v>
                </c:pt>
                <c:pt idx="12">
                  <c:v>153880.813</c:v>
                </c:pt>
                <c:pt idx="13">
                  <c:v>159348.106</c:v>
                </c:pt>
                <c:pt idx="14">
                  <c:v>165009.649</c:v>
                </c:pt>
                <c:pt idx="15">
                  <c:v>170872.343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8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U.S.</c:v>
                </c:pt>
              </c:strCache>
            </c:strRef>
          </c:tx>
          <c:spPr>
            <a:solidFill>
              <a:srgbClr val="3D85C6"/>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quot;;&quot;MMMMMMM&quot;;&quot;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quot;;&quot;MMMMMMM&quot;;&quot;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quot;;&quot;MMMMMMM&quot;;&quot;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quot;;&quot;MMMMMMM&quot;;&quot;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quot;;&quot;MMMMMMM&quot;;&quot;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quot;;&quot;MMMMMMM&quot;;&quot;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quot;;&quot;MMMMMMM&quot;;&quot;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quot;;&quot;MMMMMMM&quot;;&quot;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quot;;&quot;MMMMMMM&quot;;&quot;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2145.476</c:v>
                </c:pt>
                <c:pt idx="1">
                  <c:v>2210.394</c:v>
                </c:pt>
                <c:pt idx="2">
                  <c:v>2277.277</c:v>
                </c:pt>
                <c:pt idx="3">
                  <c:v>2346.184</c:v>
                </c:pt>
                <c:pt idx="4">
                  <c:v>2417.175</c:v>
                </c:pt>
                <c:pt idx="5">
                  <c:v>2490.315</c:v>
                </c:pt>
                <c:pt idx="6">
                  <c:v>2585.59</c:v>
                </c:pt>
                <c:pt idx="7">
                  <c:v>2684.511</c:v>
                </c:pt>
                <c:pt idx="8">
                  <c:v>2787.216</c:v>
                </c:pt>
                <c:pt idx="9">
                  <c:v>2893.85</c:v>
                </c:pt>
                <c:pt idx="10">
                  <c:v>3004.564</c:v>
                </c:pt>
                <c:pt idx="11">
                  <c:v>3119.514</c:v>
                </c:pt>
                <c:pt idx="12">
                  <c:v>3238.861</c:v>
                </c:pt>
                <c:pt idx="13">
                  <c:v>3362.774</c:v>
                </c:pt>
                <c:pt idx="14">
                  <c:v>3491.429</c:v>
                </c:pt>
                <c:pt idx="15">
                  <c:v>3625.005</c:v>
                </c:pt>
              </c:numCache>
            </c:numRef>
          </c:val>
        </c:ser>
        <c:ser>
          <c:idx val="1"/>
          <c:order val="1"/>
          <c:tx>
            <c:strRef>
              <c:strCache>
                <c:ptCount val="1"/>
                <c:pt idx="0">
                  <c:v>Canada</c:v>
                </c:pt>
              </c:strCache>
            </c:strRef>
          </c:tx>
          <c:spPr>
            <a:solidFill>
              <a:srgbClr val="9E7E0A"/>
            </a:solidFill>
            <a:ln>
              <a:noFill/>
            </a:ln>
          </c:spPr>
          <c:dLbls>
            <c:dLbl>
              <c:idx val="0"/>
              <c:numFmt formatCode="&quot;MMMMM&quot;;&quot;MMMMM&quot;;&quot;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quot;;&quot;MMMMMMM&quot;;&quot;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quot;;&quot;MMMMMMM&quot;;&quot;MMMM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quot;;&quot;MMMMMMM&quot;;&quot;MMMM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quot;;&quot;MMMMMMM&quot;;&quot;MMMM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quot;;&quot;MMMMMMM&quot;;&quot;MMMM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quot;;&quot;MMMMMMM&quot;;&quot;MMMMMMM&quot;" sourceLinked="0"/>
              <c:spPr>
                <a:blipFill>
                  <a:blip r:embed="rId2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quot;;&quot;MMMMMMM&quot;;&quot;MMMMMMM&quot;" sourceLinked="0"/>
              <c:spPr>
                <a:blipFill>
                  <a:blip r:embed="rId3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quot;;&quot;MMMMMMM&quot;;&quot;MMMM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quot;;&quot;MMMMMMM&quot;;&quot;MMMMMMM&quot;" sourceLinked="0"/>
              <c:spPr>
                <a:blipFill>
                  <a:blip r:embed="rId3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quot;;&quot;MMMMMMM&quot;;&quot;MMMMMMM&quot;" sourceLinked="0"/>
              <c:spPr>
                <a:blipFill>
                  <a:blip r:embed="rId3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933.473</c:v>
                </c:pt>
                <c:pt idx="1">
                  <c:v>968.49</c:v>
                </c:pt>
                <c:pt idx="2">
                  <c:v>1004.822</c:v>
                </c:pt>
                <c:pt idx="3">
                  <c:v>1042.516</c:v>
                </c:pt>
                <c:pt idx="4">
                  <c:v>1081.624</c:v>
                </c:pt>
                <c:pt idx="5">
                  <c:v>1122.199</c:v>
                </c:pt>
                <c:pt idx="6">
                  <c:v>1173.274</c:v>
                </c:pt>
                <c:pt idx="7">
                  <c:v>1226.673</c:v>
                </c:pt>
                <c:pt idx="8">
                  <c:v>1282.503</c:v>
                </c:pt>
                <c:pt idx="9">
                  <c:v>1340.874</c:v>
                </c:pt>
                <c:pt idx="10">
                  <c:v>1401.901</c:v>
                </c:pt>
                <c:pt idx="11">
                  <c:v>1465.706</c:v>
                </c:pt>
                <c:pt idx="12">
                  <c:v>1532.415</c:v>
                </c:pt>
                <c:pt idx="13">
                  <c:v>1602.16</c:v>
                </c:pt>
                <c:pt idx="14">
                  <c:v>1675.08</c:v>
                </c:pt>
                <c:pt idx="15">
                  <c:v>1751.318</c:v>
                </c:pt>
              </c:numCache>
            </c:numRef>
          </c:val>
        </c:ser>
        <c:ser>
          <c:idx val="2"/>
          <c:order val="2"/>
          <c:tx>
            <c:strRef>
              <c:strCache>
                <c:ptCount val="1"/>
                <c:pt idx="0">
                  <c:v>Mexico</c:v>
                </c:pt>
              </c:strCache>
            </c:strRef>
          </c:tx>
          <c:spPr>
            <a:solidFill>
              <a:srgbClr val="008189"/>
            </a:solidFill>
            <a:ln>
              <a:noFill/>
            </a:ln>
          </c:spPr>
          <c:dLbls>
            <c:dLbl>
              <c:idx val="0"/>
              <c:numFmt formatCode="&quot;MMMMM&quot;;&quot;MMMMM&quot;;&quot;MMMMM&quot;" sourceLinked="0"/>
              <c:spPr>
                <a:blipFill>
                  <a:blip r:embed="rId3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3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3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3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3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4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4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4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quot;;&quot;MMMMM&quot;;&quot;MMMMM&quot;" sourceLinked="0"/>
              <c:spPr>
                <a:blipFill>
                  <a:blip r:embed="rId4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quot;;&quot;MMMMM&quot;;&quot;MMMMM&quot;" sourceLinked="0"/>
              <c:spPr>
                <a:blipFill>
                  <a:blip r:embed="rId4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quot;;&quot;MMMMM&quot;;&quot;MMMMM&quot;" sourceLinked="0"/>
              <c:spPr>
                <a:blipFill>
                  <a:blip r:embed="rId4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quot;;&quot;MMMMM&quot;;&quot;MMMMM&quot;" sourceLinked="0"/>
              <c:spPr>
                <a:blipFill>
                  <a:blip r:embed="rId4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quot;;&quot;MMMMMMM&quot;;&quot;MMMMMMM&quot;" sourceLinked="0"/>
              <c:spPr>
                <a:blipFill>
                  <a:blip r:embed="rId4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quot;;&quot;MMMMMMM&quot;;&quot;MMMMMMM&quot;" sourceLinked="0"/>
              <c:spPr>
                <a:blipFill>
                  <a:blip r:embed="rId4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quot;;&quot;MMMMMMM&quot;;&quot;MMMMMMM&quot;" sourceLinked="0"/>
              <c:spPr>
                <a:blipFill>
                  <a:blip r:embed="rId4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571.651</c:v>
                </c:pt>
                <c:pt idx="1">
                  <c:v>595.96</c:v>
                </c:pt>
                <c:pt idx="2">
                  <c:v>621.304</c:v>
                </c:pt>
                <c:pt idx="3">
                  <c:v>647.726</c:v>
                </c:pt>
                <c:pt idx="4">
                  <c:v>675.271</c:v>
                </c:pt>
                <c:pt idx="5">
                  <c:v>703.987</c:v>
                </c:pt>
                <c:pt idx="6">
                  <c:v>739.557</c:v>
                </c:pt>
                <c:pt idx="7">
                  <c:v>776.924</c:v>
                </c:pt>
                <c:pt idx="8">
                  <c:v>816.179</c:v>
                </c:pt>
                <c:pt idx="9">
                  <c:v>857.417</c:v>
                </c:pt>
                <c:pt idx="10">
                  <c:v>900.738</c:v>
                </c:pt>
                <c:pt idx="11">
                  <c:v>946.249</c:v>
                </c:pt>
                <c:pt idx="12">
                  <c:v>994.059</c:v>
                </c:pt>
                <c:pt idx="13">
                  <c:v>1044.285</c:v>
                </c:pt>
                <c:pt idx="14">
                  <c:v>1097.048</c:v>
                </c:pt>
                <c:pt idx="15">
                  <c:v>1152.478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8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Acrylic Waterproof Coatings</c:v>
                </c:pt>
              </c:strCache>
            </c:strRef>
          </c:tx>
          <c:spPr>
            <a:solidFill>
              <a:srgbClr val="3D85C6"/>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4.243464951174772</c:v>
                </c:pt>
                <c:pt idx="1">
                  <c:v>3.8870153792743523</c:v>
                </c:pt>
                <c:pt idx="2">
                  <c:v>3.1280232716920398</c:v>
                </c:pt>
              </c:numCache>
            </c:numRef>
          </c:val>
        </c:ser>
        <c:ser>
          <c:idx val="1"/>
          <c:order val="1"/>
          <c:tx>
            <c:strRef>
              <c:strCache>
                <c:ptCount val="1"/>
                <c:pt idx="0">
                  <c:v>Polyurethane (PU) Waterproof Coatings</c:v>
                </c:pt>
              </c:strCache>
            </c:strRef>
          </c:tx>
          <c:spPr>
            <a:solidFill>
              <a:srgbClr val="9E7E0A"/>
            </a:solidFill>
            <a:ln>
              <a:noFill/>
            </a:ln>
          </c:spPr>
          <c:dLbls>
            <c:dLbl>
              <c:idx val="0"/>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9.093275533242283</c:v>
                </c:pt>
                <c:pt idx="1">
                  <c:v>10.66236971241088</c:v>
                </c:pt>
                <c:pt idx="2">
                  <c:v>8.966194529386856</c:v>
                </c:pt>
              </c:numCache>
            </c:numRef>
          </c:val>
        </c:ser>
        <c:ser>
          <c:idx val="2"/>
          <c:order val="2"/>
          <c:tx>
            <c:strRef>
              <c:strCache>
                <c:ptCount val="1"/>
                <c:pt idx="0">
                  <c:v>Epoxy Waterproof Coatings</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10.704412578808444</c:v>
                </c:pt>
                <c:pt idx="1">
                  <c:v>11.470903628010447</c:v>
                </c:pt>
                <c:pt idx="2">
                  <c:v>6.683963194533525</c:v>
                </c:pt>
              </c:numCache>
            </c:numRef>
          </c:val>
        </c:ser>
        <c:ser>
          <c:idx val="3"/>
          <c:order val="3"/>
          <c:tx>
            <c:strRef>
              <c:strCache>
                <c:ptCount val="1"/>
                <c:pt idx="0">
                  <c:v>Silicone Waterproof Coatings</c:v>
                </c:pt>
              </c:strCache>
            </c:strRef>
          </c:tx>
          <c:spPr>
            <a:solidFill>
              <a:srgbClr val="40315E"/>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20.73488604554707</c:v>
                </c:pt>
                <c:pt idx="1">
                  <c:v>20.927952547738332</c:v>
                </c:pt>
                <c:pt idx="2">
                  <c:v>17.648196347315388</c:v>
                </c:pt>
              </c:numCache>
            </c:numRef>
          </c:val>
        </c:ser>
        <c:ser>
          <c:idx val="4"/>
          <c:order val="4"/>
          <c:tx>
            <c:strRef>
              <c:strCache>
                <c:ptCount val="1"/>
                <c:pt idx="0">
                  <c:v>Bituminous Waterproof Coatings</c:v>
                </c:pt>
              </c:strCache>
            </c:strRef>
          </c:tx>
          <c:spPr>
            <a:solidFill>
              <a:srgbClr val="A35313"/>
            </a:solidFill>
            <a:ln>
              <a:noFill/>
            </a:ln>
          </c:spPr>
          <c:dLbls>
            <c:dLbl>
              <c:idx val="0"/>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5.985016633723159</c:v>
                </c:pt>
                <c:pt idx="1">
                  <c:v>6.417109856690789</c:v>
                </c:pt>
                <c:pt idx="2">
                  <c:v>4.672876313274052</c:v>
                </c:pt>
              </c:numCache>
            </c:numRef>
          </c:val>
        </c:ser>
        <c:ser>
          <c:idx val="5"/>
          <c:order val="5"/>
          <c:tx>
            <c:strRef>
              <c:strCache>
                <c:ptCount val="1"/>
                <c:pt idx="0">
                  <c:v>Cementitious Waterproof Coatings</c:v>
                </c:pt>
              </c:strCache>
            </c:strRef>
          </c:tx>
          <c:spPr>
            <a:solidFill>
              <a:srgbClr val="808080"/>
            </a:solidFill>
            <a:ln>
              <a:noFill/>
            </a:ln>
          </c:spPr>
          <c:dLbls>
            <c:dLbl>
              <c:idx val="0"/>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11.715798479450365</c:v>
                </c:pt>
                <c:pt idx="1">
                  <c:v>13.509254173142743</c:v>
                </c:pt>
                <c:pt idx="2">
                  <c:v>14.587428155271509</c:v>
                </c:pt>
              </c:numCache>
            </c:numRef>
          </c:val>
        </c:ser>
        <c:ser>
          <c:idx val="6"/>
          <c:order val="6"/>
          <c:tx>
            <c:strRef>
              <c:strCache>
                <c:ptCount val="1"/>
                <c:pt idx="0">
                  <c:v>Polyurea Waterproof Coatings</c:v>
                </c:pt>
              </c:strCache>
            </c:strRef>
          </c:tx>
          <c:spPr>
            <a:solidFill>
              <a:srgbClr val="0E72AE"/>
            </a:solidFill>
            <a:ln>
              <a:noFill/>
            </a:ln>
          </c:spPr>
          <c:dLbls>
            <c:dLbl>
              <c:idx val="0"/>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18.229415225279787</c:v>
                </c:pt>
                <c:pt idx="1">
                  <c:v>15.711823894917998</c:v>
                </c:pt>
                <c:pt idx="2">
                  <c:v>22.042204079718513</c:v>
                </c:pt>
              </c:numCache>
            </c:numRef>
          </c:val>
        </c:ser>
        <c:ser>
          <c:idx val="7"/>
          <c:order val="7"/>
          <c:tx>
            <c:strRef>
              <c:strCache>
                <c:ptCount val="1"/>
                <c:pt idx="0">
                  <c:v>Other Polymer-Based Coatings</c:v>
                </c:pt>
              </c:strCache>
            </c:strRef>
          </c:tx>
          <c:spPr>
            <a:solidFill>
              <a:srgbClr val="A86F00"/>
            </a:solidFill>
            <a:ln>
              <a:noFill/>
            </a:ln>
          </c:spPr>
          <c:dLbls>
            <c:dLbl>
              <c:idx val="0"/>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19.293730552774107</c:v>
                </c:pt>
                <c:pt idx="1">
                  <c:v>17.41357080781446</c:v>
                </c:pt>
                <c:pt idx="2">
                  <c:v>22.271114108808128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82.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Acrylic Waterproof Coatings</c:v>
                </c:pt>
              </c:strCache>
            </c:strRef>
          </c:tx>
          <c:spPr>
            <a:solidFill>
              <a:srgbClr val="3D85C6"/>
            </a:solidFill>
          </c:spPr>
          <c:invertIfNegative val="0"/>
          <c:xVal>
            <c:numRef>
              <c:numCache>
                <c:formatCode>General</c:formatCode>
                <c:ptCount val="1"/>
                <c:pt idx="0">
                  <c:v>106.53714518484072</c:v>
                </c:pt>
              </c:numCache>
            </c:numRef>
          </c:xVal>
          <c:yVal>
            <c:numRef>
              <c:numCache>
                <c:formatCode>General</c:formatCode>
                <c:ptCount val="1"/>
                <c:pt idx="0">
                  <c:v>27.49097011676818</c:v>
                </c:pt>
              </c:numCache>
            </c:numRef>
          </c:yVal>
          <c:bubbleSize>
            <c:numRef>
              <c:numCache>
                <c:formatCode>General</c:formatCode>
                <c:ptCount val="1"/>
                <c:pt idx="0">
                  <c:v>230.37</c:v>
                </c:pt>
              </c:numCache>
            </c:numRef>
          </c:bubbleSize>
          <c:bubble3D val="0"/>
        </c:ser>
        <c:ser>
          <c:idx val="1"/>
          <c:order val="1"/>
          <c:tx>
            <c:strRef>
              <c:strCache>
                <c:ptCount val="1"/>
                <c:pt idx="0">
                  <c:v>Polyurethane (PU) Waterproof Coatings</c:v>
                </c:pt>
              </c:strCache>
            </c:strRef>
          </c:tx>
          <c:spPr>
            <a:solidFill>
              <a:srgbClr val="9E7E0A"/>
            </a:solidFill>
          </c:spPr>
          <c:invertIfNegative val="0"/>
          <c:xVal>
            <c:numRef>
              <c:numCache>
                <c:formatCode>General</c:formatCode>
                <c:ptCount val="1"/>
                <c:pt idx="0">
                  <c:v>84.02326777350802</c:v>
                </c:pt>
              </c:numCache>
            </c:numRef>
          </c:xVal>
          <c:yVal>
            <c:numRef>
              <c:numCache>
                <c:formatCode>General</c:formatCode>
                <c:ptCount val="1"/>
                <c:pt idx="0">
                  <c:v>80.62029870953349</c:v>
                </c:pt>
              </c:numCache>
            </c:numRef>
          </c:yVal>
          <c:bubbleSize>
            <c:numRef>
              <c:numCache>
                <c:formatCode>General</c:formatCode>
                <c:ptCount val="1"/>
                <c:pt idx="0">
                  <c:v>616.555</c:v>
                </c:pt>
              </c:numCache>
            </c:numRef>
          </c:bubbleSize>
          <c:bubble3D val="0"/>
        </c:ser>
        <c:ser>
          <c:idx val="2"/>
          <c:order val="2"/>
          <c:tx>
            <c:strRef>
              <c:strCache>
                <c:ptCount val="1"/>
                <c:pt idx="0">
                  <c:v>Epoxy Waterproof Coatings</c:v>
                </c:pt>
              </c:strCache>
            </c:strRef>
          </c:tx>
          <c:spPr>
            <a:solidFill>
              <a:srgbClr val="008189"/>
            </a:solidFill>
          </c:spPr>
          <c:invertIfNegative val="0"/>
          <c:xVal>
            <c:numRef>
              <c:numCache>
                <c:formatCode>General</c:formatCode>
                <c:ptCount val="1"/>
                <c:pt idx="0">
                  <c:v>117.30817800888578</c:v>
                </c:pt>
              </c:numCache>
            </c:numRef>
          </c:xVal>
          <c:yVal>
            <c:numRef>
              <c:numCache>
                <c:formatCode>General</c:formatCode>
                <c:ptCount val="1"/>
                <c:pt idx="0">
                  <c:v>64.73428362463022</c:v>
                </c:pt>
              </c:numCache>
            </c:numRef>
          </c:yVal>
          <c:bubbleSize>
            <c:numRef>
              <c:numCache>
                <c:formatCode>General</c:formatCode>
                <c:ptCount val="1"/>
                <c:pt idx="0">
                  <c:v>566.552</c:v>
                </c:pt>
              </c:numCache>
            </c:numRef>
          </c:bubbleSize>
          <c:bubble3D val="0"/>
        </c:ser>
        <c:ser>
          <c:idx val="3"/>
          <c:order val="3"/>
          <c:tx>
            <c:strRef>
              <c:strCache>
                <c:ptCount val="1"/>
                <c:pt idx="0">
                  <c:v>Silicone Waterproof Coatings</c:v>
                </c:pt>
              </c:strCache>
            </c:strRef>
          </c:tx>
          <c:spPr>
            <a:solidFill>
              <a:srgbClr val="40315E"/>
            </a:solidFill>
          </c:spPr>
          <c:invertIfNegative val="0"/>
          <c:xVal>
            <c:numRef>
              <c:numCache>
                <c:formatCode>General</c:formatCode>
                <c:ptCount val="1"/>
                <c:pt idx="0">
                  <c:v>170.44969211452067</c:v>
                </c:pt>
              </c:numCache>
            </c:numRef>
          </c:xVal>
          <c:yVal>
            <c:numRef>
              <c:numCache>
                <c:formatCode>General</c:formatCode>
                <c:ptCount val="1"/>
                <c:pt idx="0">
                  <c:v>115.14029534569784</c:v>
                </c:pt>
              </c:numCache>
            </c:numRef>
          </c:yVal>
          <c:bubbleSize>
            <c:numRef>
              <c:numCache>
                <c:formatCode>General</c:formatCode>
                <c:ptCount val="1"/>
                <c:pt idx="0">
                  <c:v>1245.228</c:v>
                </c:pt>
              </c:numCache>
            </c:numRef>
          </c:bubbleSize>
          <c:bubble3D val="0"/>
        </c:ser>
        <c:ser>
          <c:idx val="4"/>
          <c:order val="4"/>
          <c:tx>
            <c:strRef>
              <c:strCache>
                <c:ptCount val="1"/>
                <c:pt idx="0">
                  <c:v>Bituminous Waterproof Coatings</c:v>
                </c:pt>
              </c:strCache>
            </c:strRef>
          </c:tx>
          <c:spPr>
            <a:solidFill>
              <a:srgbClr val="A35313"/>
            </a:solidFill>
          </c:spPr>
          <c:invertIfNegative val="0"/>
          <c:xVal>
            <c:numRef>
              <c:numCache>
                <c:formatCode>General</c:formatCode>
                <c:ptCount val="1"/>
                <c:pt idx="0">
                  <c:v>130.0420320984863</c:v>
                </c:pt>
              </c:numCache>
            </c:numRef>
          </c:xVal>
          <c:yVal>
            <c:numRef>
              <c:numCache>
                <c:formatCode>General</c:formatCode>
                <c:ptCount val="1"/>
                <c:pt idx="0">
                  <c:v>38.07954637332413</c:v>
                </c:pt>
              </c:numCache>
            </c:numRef>
          </c:yVal>
          <c:bubbleSize>
            <c:numRef>
              <c:numCache>
                <c:formatCode>General</c:formatCode>
                <c:ptCount val="1"/>
                <c:pt idx="0">
                  <c:v>350.752</c:v>
                </c:pt>
              </c:numCache>
            </c:numRef>
          </c:bubbleSize>
          <c:bubble3D val="0"/>
        </c:ser>
        <c:ser>
          <c:idx val="5"/>
          <c:order val="5"/>
          <c:tx>
            <c:strRef>
              <c:strCache>
                <c:ptCount val="1"/>
                <c:pt idx="0">
                  <c:v>Cementitious Waterproof Coatings</c:v>
                </c:pt>
              </c:strCache>
            </c:strRef>
          </c:tx>
          <c:spPr>
            <a:solidFill>
              <a:srgbClr val="808080"/>
            </a:solidFill>
          </c:spPr>
          <c:invertIfNegative val="0"/>
          <c:xVal>
            <c:numRef>
              <c:numCache>
                <c:formatCode>General</c:formatCode>
                <c:ptCount val="1"/>
                <c:pt idx="0">
                  <c:v>32.481951169997636</c:v>
                </c:pt>
              </c:numCache>
            </c:numRef>
          </c:xVal>
          <c:yVal>
            <c:numRef>
              <c:numCache>
                <c:formatCode>General</c:formatCode>
                <c:ptCount val="1"/>
                <c:pt idx="0">
                  <c:v>145.61534909872603</c:v>
                </c:pt>
              </c:numCache>
            </c:numRef>
          </c:yVal>
          <c:bubbleSize>
            <c:numRef>
              <c:numCache>
                <c:formatCode>General</c:formatCode>
                <c:ptCount val="1"/>
                <c:pt idx="0">
                  <c:v>900.407</c:v>
                </c:pt>
              </c:numCache>
            </c:numRef>
          </c:bubbleSize>
          <c:bubble3D val="0"/>
        </c:ser>
        <c:ser>
          <c:idx val="6"/>
          <c:order val="6"/>
          <c:tx>
            <c:strRef>
              <c:strCache>
                <c:ptCount val="1"/>
                <c:pt idx="0">
                  <c:v>Polyurea Waterproof Coatings</c:v>
                </c:pt>
              </c:strCache>
            </c:strRef>
          </c:tx>
          <c:spPr>
            <a:solidFill>
              <a:srgbClr val="0E72AE"/>
            </a:solidFill>
          </c:spPr>
          <c:invertIfNegative val="0"/>
          <c:xVal>
            <c:numRef>
              <c:numCache>
                <c:formatCode>General</c:formatCode>
                <c:ptCount val="1"/>
                <c:pt idx="0">
                  <c:v>142.61974565594807</c:v>
                </c:pt>
              </c:numCache>
            </c:numRef>
          </c:xVal>
          <c:yVal>
            <c:numRef>
              <c:numCache>
                <c:formatCode>General</c:formatCode>
                <c:ptCount val="1"/>
                <c:pt idx="0">
                  <c:v>132.59684174751726</c:v>
                </c:pt>
              </c:numCache>
            </c:numRef>
          </c:yVal>
          <c:bubbleSize>
            <c:numRef>
              <c:numCache>
                <c:formatCode>General</c:formatCode>
                <c:ptCount val="1"/>
                <c:pt idx="0">
                  <c:v>1284.285</c:v>
                </c:pt>
              </c:numCache>
            </c:numRef>
          </c:bubbleSize>
          <c:bubble3D val="0"/>
        </c:ser>
        <c:ser>
          <c:idx val="7"/>
          <c:order val="7"/>
          <c:tx>
            <c:strRef>
              <c:strCache>
                <c:ptCount val="1"/>
                <c:pt idx="0">
                  <c:v>Other Polymer-Based Coatings</c:v>
                </c:pt>
              </c:strCache>
            </c:strRef>
          </c:tx>
          <c:spPr>
            <a:solidFill>
              <a:srgbClr val="A86F00"/>
            </a:solidFill>
          </c:spPr>
          <c:invertIfNegative val="0"/>
          <c:xVal>
            <c:numRef>
              <c:numCache>
                <c:formatCode>General</c:formatCode>
                <c:ptCount val="1"/>
                <c:pt idx="0">
                  <c:v>56.07712750686914</c:v>
                </c:pt>
              </c:numCache>
            </c:numRef>
          </c:xVal>
          <c:yVal>
            <c:numRef>
              <c:numCache>
                <c:formatCode>General</c:formatCode>
                <c:ptCount val="1"/>
                <c:pt idx="0">
                  <c:v>195.72241498380285</c:v>
                </c:pt>
              </c:numCache>
            </c:numRef>
          </c:yVal>
          <c:bubbleSize>
            <c:numRef>
              <c:numCache>
                <c:formatCode>General</c:formatCode>
                <c:ptCount val="1"/>
                <c:pt idx="0">
                  <c:v>1334.652</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210.0"/>
          <c:min val="-1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5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8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148.331</c:v>
                </c:pt>
                <c:pt idx="2">
                  <c:v>161.933</c:v>
                </c:pt>
                <c:pt idx="3">
                  <c:v>176.807</c:v>
                </c:pt>
                <c:pt idx="4">
                  <c:v>193.079</c:v>
                </c:pt>
                <c:pt idx="5">
                  <c:v>210.884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148.331</c:v>
                </c:pt>
                <c:pt idx="1">
                  <c:v>13.602000000000004</c:v>
                </c:pt>
                <c:pt idx="2">
                  <c:v>14.873999999999995</c:v>
                </c:pt>
                <c:pt idx="3">
                  <c:v>16.27200000000002</c:v>
                </c:pt>
                <c:pt idx="4">
                  <c:v>17.80499999999998</c:v>
                </c:pt>
                <c:pt idx="5">
                  <c:v>19.48600000000002</c:v>
                </c:pt>
                <c:pt idx="6">
                  <c:v>230.37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434.997</c:v>
                </c:pt>
                <c:pt idx="2">
                  <c:v>466.874</c:v>
                </c:pt>
                <c:pt idx="3">
                  <c:v>500.864</c:v>
                </c:pt>
                <c:pt idx="4">
                  <c:v>537.071</c:v>
                </c:pt>
                <c:pt idx="5">
                  <c:v>575.601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434.997</c:v>
                </c:pt>
                <c:pt idx="1">
                  <c:v>31.87700000000001</c:v>
                </c:pt>
                <c:pt idx="2">
                  <c:v>33.98999999999995</c:v>
                </c:pt>
                <c:pt idx="3">
                  <c:v>36.20700000000005</c:v>
                </c:pt>
                <c:pt idx="4">
                  <c:v>38.52999999999997</c:v>
                </c:pt>
                <c:pt idx="5">
                  <c:v>40.95399999999995</c:v>
                </c:pt>
                <c:pt idx="6">
                  <c:v>616.555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349.282</c:v>
                </c:pt>
                <c:pt idx="2">
                  <c:v>384.569</c:v>
                </c:pt>
                <c:pt idx="3">
                  <c:v>423.526</c:v>
                </c:pt>
                <c:pt idx="4">
                  <c:v>466.541</c:v>
                </c:pt>
                <c:pt idx="5">
                  <c:v>514.055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349.282</c:v>
                </c:pt>
                <c:pt idx="1">
                  <c:v>35.287000000000035</c:v>
                </c:pt>
                <c:pt idx="2">
                  <c:v>38.956999999999994</c:v>
                </c:pt>
                <c:pt idx="3">
                  <c:v>43.014999999999986</c:v>
                </c:pt>
                <c:pt idx="4">
                  <c:v>47.51399999999995</c:v>
                </c:pt>
                <c:pt idx="5">
                  <c:v>52.49700000000007</c:v>
                </c:pt>
                <c:pt idx="6">
                  <c:v>566.552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621.254</c:v>
                </c:pt>
                <c:pt idx="2">
                  <c:v>716.143</c:v>
                </c:pt>
                <c:pt idx="3">
                  <c:v>824.127</c:v>
                </c:pt>
                <c:pt idx="4">
                  <c:v>946.946</c:v>
                </c:pt>
                <c:pt idx="5">
                  <c:v>1086.572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621.254</c:v>
                </c:pt>
                <c:pt idx="1">
                  <c:v>94.88900000000001</c:v>
                </c:pt>
                <c:pt idx="2">
                  <c:v>107.98399999999992</c:v>
                </c:pt>
                <c:pt idx="3">
                  <c:v>122.81900000000007</c:v>
                </c:pt>
                <c:pt idx="4">
                  <c:v>139.62599999999986</c:v>
                </c:pt>
                <c:pt idx="5">
                  <c:v>158.65600000000018</c:v>
                </c:pt>
                <c:pt idx="6">
                  <c:v>1245.228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205.463</c:v>
                </c:pt>
                <c:pt idx="2">
                  <c:v>228.58</c:v>
                </c:pt>
                <c:pt idx="3">
                  <c:v>254.339</c:v>
                </c:pt>
                <c:pt idx="4">
                  <c:v>283.05</c:v>
                </c:pt>
                <c:pt idx="5">
                  <c:v>315.058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205.463</c:v>
                </c:pt>
                <c:pt idx="1">
                  <c:v>23.11700000000002</c:v>
                </c:pt>
                <c:pt idx="2">
                  <c:v>25.758999999999986</c:v>
                </c:pt>
                <c:pt idx="3">
                  <c:v>28.711000000000013</c:v>
                </c:pt>
                <c:pt idx="4">
                  <c:v>32.00799999999998</c:v>
                </c:pt>
                <c:pt idx="5">
                  <c:v>35.69400000000002</c:v>
                </c:pt>
                <c:pt idx="6">
                  <c:v>350.752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785.686</c:v>
                </c:pt>
                <c:pt idx="2">
                  <c:v>814.203</c:v>
                </c:pt>
                <c:pt idx="3">
                  <c:v>840.716</c:v>
                </c:pt>
                <c:pt idx="4">
                  <c:v>864.507</c:v>
                </c:pt>
                <c:pt idx="5">
                  <c:v>884.737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785.686</c:v>
                </c:pt>
                <c:pt idx="1">
                  <c:v>28.51699999999994</c:v>
                </c:pt>
                <c:pt idx="2">
                  <c:v>26.513000000000034</c:v>
                </c:pt>
                <c:pt idx="3">
                  <c:v>23.79099999999994</c:v>
                </c:pt>
                <c:pt idx="4">
                  <c:v>20.230000000000018</c:v>
                </c:pt>
                <c:pt idx="5">
                  <c:v>15.670000000000073</c:v>
                </c:pt>
                <c:pt idx="6">
                  <c:v>900.407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715.443</c:v>
                </c:pt>
                <c:pt idx="2">
                  <c:v>804.541</c:v>
                </c:pt>
                <c:pt idx="3">
                  <c:v>904.552</c:v>
                </c:pt>
                <c:pt idx="4">
                  <c:v>1016.812</c:v>
                </c:pt>
                <c:pt idx="5">
                  <c:v>1142.825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715.443</c:v>
                </c:pt>
                <c:pt idx="1">
                  <c:v>89.09800000000007</c:v>
                </c:pt>
                <c:pt idx="2">
                  <c:v>100.01099999999997</c:v>
                </c:pt>
                <c:pt idx="3">
                  <c:v>112.25999999999999</c:v>
                </c:pt>
                <c:pt idx="4">
                  <c:v>126.01300000000003</c:v>
                </c:pt>
                <c:pt idx="5">
                  <c:v>141.46000000000004</c:v>
                </c:pt>
                <c:pt idx="6">
                  <c:v>1284.285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1056.045</c:v>
                </c:pt>
                <c:pt idx="2">
                  <c:v>1111.265</c:v>
                </c:pt>
                <c:pt idx="3">
                  <c:v>1167.21</c:v>
                </c:pt>
                <c:pt idx="4">
                  <c:v>1223.463</c:v>
                </c:pt>
                <c:pt idx="5">
                  <c:v>1279.487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1056.045</c:v>
                </c:pt>
                <c:pt idx="1">
                  <c:v>55.22000000000003</c:v>
                </c:pt>
                <c:pt idx="2">
                  <c:v>55.944999999999936</c:v>
                </c:pt>
                <c:pt idx="3">
                  <c:v>56.25299999999993</c:v>
                </c:pt>
                <c:pt idx="4">
                  <c:v>56.024000000000115</c:v>
                </c:pt>
                <c:pt idx="5">
                  <c:v>55.164999999999964</c:v>
                </c:pt>
                <c:pt idx="6">
                  <c:v>1334.652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Other Polymer-Based Coatings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26.28346025310908</c:v>
                </c:pt>
                <c:pt idx="1">
                  <c:v>24.465301872975356</c:v>
                </c:pt>
                <c:pt idx="2">
                  <c:v>20.442528421374767</c:v>
                </c:pt>
              </c:numCache>
            </c:numRef>
          </c:val>
        </c:ser>
        <c:ser>
          <c:idx val="1"/>
          <c:order val="1"/>
          <c:tx>
            <c:strRef>
              <c:strCache>
                <c:ptCount val="1"/>
                <c:pt idx="0">
                  <c:v>Polyurea Waterproof Coatings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15.172437407549443</c:v>
                </c:pt>
                <c:pt idx="1">
                  <c:v>16.574605218439658</c:v>
                </c:pt>
                <c:pt idx="2">
                  <c:v>19.671069772229234</c:v>
                </c:pt>
              </c:numCache>
            </c:numRef>
          </c:val>
        </c:ser>
        <c:ser>
          <c:idx val="2"/>
          <c:order val="2"/>
          <c:tx>
            <c:strRef>
              <c:strCache>
                <c:ptCount val="1"/>
                <c:pt idx="0">
                  <c:v>Silicone Waterproof Coatings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12.289431874212458</c:v>
                </c:pt>
                <c:pt idx="1">
                  <c:v>14.39253691821223</c:v>
                </c:pt>
                <c:pt idx="2">
                  <c:v>19.072843543554168</c:v>
                </c:pt>
              </c:numCache>
            </c:numRef>
          </c:val>
        </c:ser>
        <c:ser>
          <c:idx val="3"/>
          <c:order val="3"/>
          <c:tx>
            <c:strRef>
              <c:strCache>
                <c:ptCount val="1"/>
                <c:pt idx="0">
                  <c:v>Cementitious Waterproof Coatings</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20.193858543801017</c:v>
                </c:pt>
                <c:pt idx="1">
                  <c:v>18.201918637340754</c:v>
                </c:pt>
                <c:pt idx="2">
                  <c:v>13.791307163443948</c:v>
                </c:pt>
              </c:numCache>
            </c:numRef>
          </c:val>
        </c:ser>
        <c:ser>
          <c:idx val="4"/>
          <c:order val="4"/>
          <c:tx>
            <c:strRef>
              <c:strCache>
                <c:ptCount val="1"/>
                <c:pt idx="0">
                  <c:v>Polyurethane (PU) Waterproof Coatings</c:v>
                </c:pt>
              </c:strCache>
            </c:strRef>
          </c:tx>
          <c:spPr>
            <a:solidFill>
              <a:srgbClr val="A35313"/>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10.35887251410727</c:v>
                </c:pt>
                <c:pt idx="1">
                  <c:v>10.077537338691686</c:v>
                </c:pt>
                <c:pt idx="2">
                  <c:v>9.443617595328758</c:v>
                </c:pt>
              </c:numCache>
            </c:numRef>
          </c:val>
        </c:ser>
        <c:ser>
          <c:idx val="5"/>
          <c:order val="5"/>
          <c:tx>
            <c:strRef>
              <c:strCache>
                <c:ptCount val="1"/>
                <c:pt idx="0">
                  <c:v>Epoxy Waterproof Coatings</c:v>
                </c:pt>
              </c:strCache>
            </c:strRef>
          </c:tx>
          <c:spPr>
            <a:solidFill>
              <a:srgbClr val="808080"/>
            </a:solidFill>
            <a:ln>
              <a:noFill/>
            </a:ln>
          </c:spPr>
          <c:dLbls>
            <c:dLbl>
              <c:idx val="0"/>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7.8248781022297695</c:v>
                </c:pt>
                <c:pt idx="1">
                  <c:v>8.091785453078778</c:v>
                </c:pt>
                <c:pt idx="2">
                  <c:v>8.67773424247423</c:v>
                </c:pt>
              </c:numCache>
            </c:numRef>
          </c:val>
        </c:ser>
        <c:ser>
          <c:idx val="6"/>
          <c:order val="6"/>
          <c:tx>
            <c:strRef>
              <c:strCache>
                <c:ptCount val="1"/>
                <c:pt idx="0">
                  <c:v>Bituminous Waterproof Coatings</c:v>
                </c:pt>
              </c:strCache>
            </c:strRef>
          </c:tx>
          <c:spPr>
            <a:solidFill>
              <a:srgbClr val="0E72AE"/>
            </a:solidFill>
            <a:ln>
              <a:noFill/>
            </a:ln>
          </c:spPr>
          <c:dLbls>
            <c:dLbl>
              <c:idx val="0"/>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4.483673916616447</c:v>
                </c:pt>
                <c:pt idx="1">
                  <c:v>4.759943296665516</c:v>
                </c:pt>
                <c:pt idx="2">
                  <c:v>5.372380012807865</c:v>
                </c:pt>
              </c:numCache>
            </c:numRef>
          </c:val>
        </c:ser>
        <c:ser>
          <c:idx val="7"/>
          <c:order val="7"/>
          <c:tx>
            <c:strRef>
              <c:strCache>
                <c:ptCount val="1"/>
                <c:pt idx="0">
                  <c:v>Acrylic Waterproof Coatings</c:v>
                </c:pt>
              </c:strCache>
            </c:strRef>
          </c:tx>
          <c:spPr>
            <a:solidFill>
              <a:srgbClr val="A86F00"/>
            </a:solidFill>
            <a:ln>
              <a:noFill/>
            </a:ln>
          </c:spPr>
          <c:dLbls>
            <c:dLbl>
              <c:idx val="0"/>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3.3933873883745145</c:v>
                </c:pt>
                <c:pt idx="1">
                  <c:v>3.4363712645960227</c:v>
                </c:pt>
                <c:pt idx="2">
                  <c:v>3.5285192487870285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Single-Component Coatings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16.3519824239595</c:v>
                </c:pt>
                <c:pt idx="1">
                  <c:v>19.641835463348176</c:v>
                </c:pt>
                <c:pt idx="2">
                  <c:v>19.599531586852983</c:v>
                </c:pt>
              </c:numCache>
            </c:numRef>
          </c:val>
        </c:ser>
        <c:ser>
          <c:idx val="1"/>
          <c:order val="1"/>
          <c:tx>
            <c:strRef>
              <c:strCache>
                <c:ptCount val="1"/>
                <c:pt idx="0">
                  <c:v>Two-Component Coatings</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83.64801757604049</c:v>
                </c:pt>
                <c:pt idx="1">
                  <c:v>80.35816453665183</c:v>
                </c:pt>
                <c:pt idx="2">
                  <c:v>80.40046841314702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93.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Single-Component Coatings</c:v>
                </c:pt>
              </c:strCache>
            </c:strRef>
          </c:tx>
          <c:spPr>
            <a:solidFill>
              <a:srgbClr val="3D85C6"/>
            </a:solidFill>
          </c:spPr>
          <c:invertIfNegative val="0"/>
          <c:xVal>
            <c:numRef>
              <c:numCache>
                <c:formatCode>General</c:formatCode>
                <c:ptCount val="1"/>
                <c:pt idx="0">
                  <c:v>19.03585535559089</c:v>
                </c:pt>
              </c:numCache>
            </c:numRef>
          </c:xVal>
          <c:yVal>
            <c:numRef>
              <c:numCache>
                <c:formatCode>General</c:formatCode>
                <c:ptCount val="1"/>
                <c:pt idx="0">
                  <c:v>53.15675821689836</c:v>
                </c:pt>
              </c:numCache>
            </c:numRef>
          </c:yVal>
          <c:bubbleSize>
            <c:numRef>
              <c:numCache>
                <c:formatCode>General</c:formatCode>
                <c:ptCount val="1"/>
                <c:pt idx="0">
                  <c:v>1242.928</c:v>
                </c:pt>
              </c:numCache>
            </c:numRef>
          </c:bubbleSize>
          <c:bubble3D val="0"/>
        </c:ser>
        <c:ser>
          <c:idx val="1"/>
          <c:order val="1"/>
          <c:tx>
            <c:strRef>
              <c:strCache>
                <c:ptCount val="1"/>
                <c:pt idx="0">
                  <c:v>Two-Component Coatings</c:v>
                </c:pt>
              </c:strCache>
            </c:strRef>
          </c:tx>
          <c:spPr>
            <a:solidFill>
              <a:srgbClr val="9E7E0A"/>
            </a:solidFill>
          </c:spPr>
          <c:invertIfNegative val="0"/>
          <c:xVal>
            <c:numRef>
              <c:numCache>
                <c:formatCode>General</c:formatCode>
                <c:ptCount val="1"/>
                <c:pt idx="0">
                  <c:v>124.23817804671253</c:v>
                </c:pt>
              </c:numCache>
            </c:numRef>
          </c:xVal>
          <c:yVal>
            <c:numRef>
              <c:numCache>
                <c:formatCode>General</c:formatCode>
                <c:ptCount val="1"/>
                <c:pt idx="0">
                  <c:v>146.84324178310163</c:v>
                </c:pt>
              </c:numCache>
            </c:numRef>
          </c:yVal>
          <c:bubbleSize>
            <c:numRef>
              <c:numCache>
                <c:formatCode>General</c:formatCode>
                <c:ptCount val="1"/>
                <c:pt idx="0">
                  <c:v>5285.873</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60.0"/>
          <c:min val="-1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75.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9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1147.256</c:v>
                </c:pt>
                <c:pt idx="2">
                  <c:v>1172.456</c:v>
                </c:pt>
                <c:pt idx="3">
                  <c:v>1195.192</c:v>
                </c:pt>
                <c:pt idx="4">
                  <c:v>1214.929</c:v>
                </c:pt>
                <c:pt idx="5">
                  <c:v>1231.067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1147.256</c:v>
                </c:pt>
                <c:pt idx="1">
                  <c:v>25.199999999999818</c:v>
                </c:pt>
                <c:pt idx="2">
                  <c:v>22.736000000000104</c:v>
                </c:pt>
                <c:pt idx="3">
                  <c:v>19.73700000000008</c:v>
                </c:pt>
                <c:pt idx="4">
                  <c:v>16.13799999999992</c:v>
                </c:pt>
                <c:pt idx="5">
                  <c:v>11.861000000000104</c:v>
                </c:pt>
                <c:pt idx="6">
                  <c:v>1242.928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3169.245</c:v>
                </c:pt>
                <c:pt idx="2">
                  <c:v>3515.652</c:v>
                </c:pt>
                <c:pt idx="3">
                  <c:v>3896.949</c:v>
                </c:pt>
                <c:pt idx="4">
                  <c:v>4316.54</c:v>
                </c:pt>
                <c:pt idx="5">
                  <c:v>4778.152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3169.245</c:v>
                </c:pt>
                <c:pt idx="1">
                  <c:v>346.40700000000015</c:v>
                </c:pt>
                <c:pt idx="2">
                  <c:v>381.297</c:v>
                </c:pt>
                <c:pt idx="3">
                  <c:v>419.5909999999999</c:v>
                </c:pt>
                <c:pt idx="4">
                  <c:v>461.6120000000001</c:v>
                </c:pt>
                <c:pt idx="5">
                  <c:v>507.72099999999955</c:v>
                </c:pt>
                <c:pt idx="6">
                  <c:v>5285.873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Two-Component Coatings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69.35522927737907</c:v>
                </c:pt>
                <c:pt idx="1">
                  <c:v>73.42162089155082</c:v>
                </c:pt>
                <c:pt idx="2">
                  <c:v>80.96238497696591</c:v>
                </c:pt>
              </c:numCache>
            </c:numRef>
          </c:val>
        </c:ser>
        <c:ser>
          <c:idx val="1"/>
          <c:order val="1"/>
          <c:tx>
            <c:strRef>
              <c:strCache>
                <c:ptCount val="1"/>
                <c:pt idx="0">
                  <c:v>Single-Component Coatings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30.64477072262094</c:v>
                </c:pt>
                <c:pt idx="1">
                  <c:v>26.57837910844918</c:v>
                </c:pt>
                <c:pt idx="2">
                  <c:v>19.037615023034093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Water-Based Coatings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23.360706234739407</c:v>
                </c:pt>
                <c:pt idx="1">
                  <c:v>27.033354308012598</c:v>
                </c:pt>
                <c:pt idx="2">
                  <c:v>25.109565366116733</c:v>
                </c:pt>
              </c:numCache>
            </c:numRef>
          </c:val>
        </c:ser>
        <c:ser>
          <c:idx val="1"/>
          <c:order val="1"/>
          <c:tx>
            <c:strRef>
              <c:strCache>
                <c:ptCount val="1"/>
                <c:pt idx="0">
                  <c:v>Solvent-Based Coatings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29.805080877899627</c:v>
                </c:pt>
                <c:pt idx="1">
                  <c:v>23.883383828636493</c:v>
                </c:pt>
                <c:pt idx="2">
                  <c:v>32.55738957601438</c:v>
                </c:pt>
              </c:numCache>
            </c:numRef>
          </c:val>
        </c:ser>
        <c:ser>
          <c:idx val="2"/>
          <c:order val="2"/>
          <c:tx>
            <c:strRef>
              <c:strCache>
                <c:ptCount val="1"/>
                <c:pt idx="0">
                  <c:v>Reactive / 100% Solids Coatings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15.179812543059393</c:v>
                </c:pt>
                <c:pt idx="1">
                  <c:v>15.863538203798514</c:v>
                </c:pt>
                <c:pt idx="2">
                  <c:v>15.00753792063735</c:v>
                </c:pt>
              </c:numCache>
            </c:numRef>
          </c:val>
        </c:ser>
        <c:ser>
          <c:idx val="3"/>
          <c:order val="3"/>
          <c:tx>
            <c:strRef>
              <c:strCache>
                <c:ptCount val="1"/>
                <c:pt idx="0">
                  <c:v>UV-Curable and Other Specialty Coatings</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31.654400344301585</c:v>
                </c:pt>
                <c:pt idx="1">
                  <c:v>33.219723659552415</c:v>
                </c:pt>
                <c:pt idx="2">
                  <c:v>27.325507137231536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98.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Water-Based Coatings</c:v>
                </c:pt>
              </c:strCache>
            </c:strRef>
          </c:tx>
          <c:spPr>
            <a:solidFill>
              <a:srgbClr val="3D85C6"/>
            </a:solidFill>
          </c:spPr>
          <c:invertIfNegative val="0"/>
          <c:xVal>
            <c:numRef>
              <c:numCache>
                <c:formatCode>General</c:formatCode>
                <c:ptCount val="1"/>
                <c:pt idx="0">
                  <c:v>129.89159677836068</c:v>
                </c:pt>
              </c:numCache>
            </c:numRef>
          </c:xVal>
          <c:yVal>
            <c:numRef>
              <c:numCache>
                <c:formatCode>General</c:formatCode>
                <c:ptCount val="1"/>
                <c:pt idx="0">
                  <c:v>89.77743779046963</c:v>
                </c:pt>
              </c:numCache>
            </c:numRef>
          </c:yVal>
          <c:bubbleSize>
            <c:numRef>
              <c:numCache>
                <c:formatCode>General</c:formatCode>
                <c:ptCount val="1"/>
                <c:pt idx="0">
                  <c:v>1652.89</c:v>
                </c:pt>
              </c:numCache>
            </c:numRef>
          </c:bubbleSize>
          <c:bubble3D val="0"/>
        </c:ser>
        <c:ser>
          <c:idx val="1"/>
          <c:order val="1"/>
          <c:tx>
            <c:strRef>
              <c:strCache>
                <c:ptCount val="1"/>
                <c:pt idx="0">
                  <c:v>Solvent-Based Coatings</c:v>
                </c:pt>
              </c:strCache>
            </c:strRef>
          </c:tx>
          <c:spPr>
            <a:solidFill>
              <a:srgbClr val="9E7E0A"/>
            </a:solidFill>
          </c:spPr>
          <c:invertIfNegative val="0"/>
          <c:xVal>
            <c:numRef>
              <c:numCache>
                <c:formatCode>General</c:formatCode>
                <c:ptCount val="1"/>
                <c:pt idx="0">
                  <c:v>43.1232116678868</c:v>
                </c:pt>
              </c:numCache>
            </c:numRef>
          </c:xVal>
          <c:yVal>
            <c:numRef>
              <c:numCache>
                <c:formatCode>General</c:formatCode>
                <c:ptCount val="1"/>
                <c:pt idx="0">
                  <c:v>150.2331633885872</c:v>
                </c:pt>
              </c:numCache>
            </c:numRef>
          </c:yVal>
          <c:bubbleSize>
            <c:numRef>
              <c:numCache>
                <c:formatCode>General</c:formatCode>
                <c:ptCount val="1"/>
                <c:pt idx="0">
                  <c:v>1941.978</c:v>
                </c:pt>
              </c:numCache>
            </c:numRef>
          </c:bubbleSize>
          <c:bubble3D val="0"/>
        </c:ser>
        <c:ser>
          <c:idx val="2"/>
          <c:order val="2"/>
          <c:tx>
            <c:strRef>
              <c:strCache>
                <c:ptCount val="1"/>
                <c:pt idx="0">
                  <c:v>Reactive / 100% Solids Coatings</c:v>
                </c:pt>
              </c:strCache>
            </c:strRef>
          </c:tx>
          <c:spPr>
            <a:solidFill>
              <a:srgbClr val="008189"/>
            </a:solidFill>
          </c:spPr>
          <c:invertIfNegative val="0"/>
          <c:xVal>
            <c:numRef>
              <c:numCache>
                <c:formatCode>General</c:formatCode>
                <c:ptCount val="1"/>
                <c:pt idx="0">
                  <c:v>120.8654657828946</c:v>
                </c:pt>
              </c:numCache>
            </c:numRef>
          </c:xVal>
          <c:yVal>
            <c:numRef>
              <c:numCache>
                <c:formatCode>General</c:formatCode>
                <c:ptCount val="1"/>
                <c:pt idx="0">
                  <c:v>56.13759848543993</c:v>
                </c:pt>
              </c:numCache>
            </c:numRef>
          </c:yVal>
          <c:bubbleSize>
            <c:numRef>
              <c:numCache>
                <c:formatCode>General</c:formatCode>
                <c:ptCount val="1"/>
                <c:pt idx="0">
                  <c:v>996.789</c:v>
                </c:pt>
              </c:numCache>
            </c:numRef>
          </c:bubbleSize>
          <c:bubble3D val="0"/>
        </c:ser>
        <c:ser>
          <c:idx val="3"/>
          <c:order val="3"/>
          <c:tx>
            <c:strRef>
              <c:strCache>
                <c:ptCount val="1"/>
                <c:pt idx="0">
                  <c:v>UV-Curable and Other Specialty Coatings</c:v>
                </c:pt>
              </c:strCache>
            </c:strRef>
          </c:tx>
          <c:spPr>
            <a:solidFill>
              <a:srgbClr val="40315E"/>
            </a:solidFill>
          </c:spPr>
          <c:invertIfNegative val="0"/>
          <c:xVal>
            <c:numRef>
              <c:numCache>
                <c:formatCode>General</c:formatCode>
                <c:ptCount val="1"/>
                <c:pt idx="0">
                  <c:v>133.1543614309263</c:v>
                </c:pt>
              </c:numCache>
            </c:numRef>
          </c:xVal>
          <c:yVal>
            <c:numRef>
              <c:numCache>
                <c:formatCode>General</c:formatCode>
                <c:ptCount val="1"/>
                <c:pt idx="0">
                  <c:v>103.85180033550323</c:v>
                </c:pt>
              </c:numCache>
            </c:numRef>
          </c:yVal>
          <c:bubbleSize>
            <c:numRef>
              <c:numCache>
                <c:formatCode>General</c:formatCode>
                <c:ptCount val="1"/>
                <c:pt idx="0">
                  <c:v>1937.144</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60.0"/>
          <c:min val="2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00.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9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968.811</c:v>
                </c:pt>
                <c:pt idx="2">
                  <c:v>1082.153</c:v>
                </c:pt>
                <c:pt idx="3">
                  <c:v>1206.174</c:v>
                </c:pt>
                <c:pt idx="4">
                  <c:v>1341.886</c:v>
                </c:pt>
                <c:pt idx="5">
                  <c:v>1490.39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968.811</c:v>
                </c:pt>
                <c:pt idx="1">
                  <c:v>113.34199999999998</c:v>
                </c:pt>
                <c:pt idx="2">
                  <c:v>124.02099999999996</c:v>
                </c:pt>
                <c:pt idx="3">
                  <c:v>135.712</c:v>
                </c:pt>
                <c:pt idx="4">
                  <c:v>148.50400000000013</c:v>
                </c:pt>
                <c:pt idx="5">
                  <c:v>162.5</c:v>
                </c:pt>
                <c:pt idx="6">
                  <c:v>1652.89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1621.204</c:v>
                </c:pt>
                <c:pt idx="2">
                  <c:v>1679.581</c:v>
                </c:pt>
                <c:pt idx="3">
                  <c:v>1740.788</c:v>
                </c:pt>
                <c:pt idx="4">
                  <c:v>1804.88</c:v>
                </c:pt>
                <c:pt idx="5">
                  <c:v>1871.925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1621.204</c:v>
                </c:pt>
                <c:pt idx="1">
                  <c:v>58.37699999999995</c:v>
                </c:pt>
                <c:pt idx="2">
                  <c:v>61.20700000000011</c:v>
                </c:pt>
                <c:pt idx="3">
                  <c:v>64.0920000000001</c:v>
                </c:pt>
                <c:pt idx="4">
                  <c:v>67.04499999999985</c:v>
                </c:pt>
                <c:pt idx="5">
                  <c:v>70.05300000000011</c:v>
                </c:pt>
                <c:pt idx="6">
                  <c:v>1941.978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605.795</c:v>
                </c:pt>
                <c:pt idx="2">
                  <c:v>670.781</c:v>
                </c:pt>
                <c:pt idx="3">
                  <c:v>741.786</c:v>
                </c:pt>
                <c:pt idx="4">
                  <c:v>819.372</c:v>
                </c:pt>
                <c:pt idx="5">
                  <c:v>904.15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605.795</c:v>
                </c:pt>
                <c:pt idx="1">
                  <c:v>64.98599999999999</c:v>
                </c:pt>
                <c:pt idx="2">
                  <c:v>71.005</c:v>
                </c:pt>
                <c:pt idx="3">
                  <c:v>77.58600000000001</c:v>
                </c:pt>
                <c:pt idx="4">
                  <c:v>84.77800000000002</c:v>
                </c:pt>
                <c:pt idx="5">
                  <c:v>92.63900000000001</c:v>
                </c:pt>
                <c:pt idx="6">
                  <c:v>996.789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1120.691</c:v>
                </c:pt>
                <c:pt idx="2">
                  <c:v>1255.593</c:v>
                </c:pt>
                <c:pt idx="3">
                  <c:v>1403.393</c:v>
                </c:pt>
                <c:pt idx="4">
                  <c:v>1565.331</c:v>
                </c:pt>
                <c:pt idx="5">
                  <c:v>1742.754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1120.691</c:v>
                </c:pt>
                <c:pt idx="1">
                  <c:v>134.90200000000004</c:v>
                </c:pt>
                <c:pt idx="2">
                  <c:v>147.79999999999995</c:v>
                </c:pt>
                <c:pt idx="3">
                  <c:v>161.93799999999987</c:v>
                </c:pt>
                <c:pt idx="4">
                  <c:v>177.423</c:v>
                </c:pt>
                <c:pt idx="5">
                  <c:v>194.3900000000001</c:v>
                </c:pt>
                <c:pt idx="6">
                  <c:v>1937.144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Solvent-Based Coatings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42.340464581164746</c:v>
                </c:pt>
                <c:pt idx="1">
                  <c:v>37.5582908471468</c:v>
                </c:pt>
                <c:pt idx="2">
                  <c:v>29.744787748929703</c:v>
                </c:pt>
              </c:numCache>
            </c:numRef>
          </c:val>
        </c:ser>
        <c:ser>
          <c:idx val="1"/>
          <c:order val="1"/>
          <c:tx>
            <c:strRef>
              <c:strCache>
                <c:ptCount val="1"/>
                <c:pt idx="0">
                  <c:v>UV-Curable and Other Specialty Coatings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23.704952610529777</c:v>
                </c:pt>
                <c:pt idx="1">
                  <c:v>25.962950083875807</c:v>
                </c:pt>
                <c:pt idx="2">
                  <c:v>29.670746588845333</c:v>
                </c:pt>
              </c:numCache>
            </c:numRef>
          </c:val>
        </c:ser>
        <c:ser>
          <c:idx val="2"/>
          <c:order val="2"/>
          <c:tx>
            <c:strRef>
              <c:strCache>
                <c:ptCount val="1"/>
                <c:pt idx="0">
                  <c:v>Water-Based Coatings</c:v>
                </c:pt>
              </c:strCache>
            </c:strRef>
          </c:tx>
          <c:spPr>
            <a:solidFill>
              <a:srgbClr val="008189"/>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20.676902426998303</c:v>
                </c:pt>
                <c:pt idx="1">
                  <c:v>22.44435944761741</c:v>
                </c:pt>
                <c:pt idx="2">
                  <c:v>25.316899688013162</c:v>
                </c:pt>
              </c:numCache>
            </c:numRef>
          </c:val>
        </c:ser>
        <c:ser>
          <c:idx val="3"/>
          <c:order val="3"/>
          <c:tx>
            <c:strRef>
              <c:strCache>
                <c:ptCount val="1"/>
                <c:pt idx="0">
                  <c:v>Reactive / 100% Solids Coatings</c:v>
                </c:pt>
              </c:strCache>
            </c:strRef>
          </c:tx>
          <c:spPr>
            <a:solidFill>
              <a:srgbClr val="40315E"/>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13.277680381307183</c:v>
                </c:pt>
                <c:pt idx="1">
                  <c:v>14.034399621359983</c:v>
                </c:pt>
                <c:pt idx="2">
                  <c:v>15.267565974211802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Roofs and Terraces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24.017291436365813</c:v>
                </c:pt>
                <c:pt idx="1">
                  <c:v>25.30911005311428</c:v>
                </c:pt>
                <c:pt idx="2">
                  <c:v>23.173705967302116</c:v>
                </c:pt>
              </c:numCache>
            </c:numRef>
          </c:val>
        </c:ser>
        <c:ser>
          <c:idx val="1"/>
          <c:order val="1"/>
          <c:tx>
            <c:strRef>
              <c:strCache>
                <c:ptCount val="1"/>
                <c:pt idx="0">
                  <c:v>Walls and Building Facades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14.84783223627696</c:v>
                </c:pt>
                <c:pt idx="1">
                  <c:v>16.567807788191523</c:v>
                </c:pt>
                <c:pt idx="2">
                  <c:v>15.877026376515344</c:v>
                </c:pt>
              </c:numCache>
            </c:numRef>
          </c:val>
        </c:ser>
        <c:ser>
          <c:idx val="2"/>
          <c:order val="2"/>
          <c:tx>
            <c:strRef>
              <c:strCache>
                <c:ptCount val="1"/>
                <c:pt idx="0">
                  <c:v>Basements and Foundations</c:v>
                </c:pt>
              </c:strCache>
            </c:strRef>
          </c:tx>
          <c:spPr>
            <a:solidFill>
              <a:srgbClr val="008189"/>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6.466414109423346</c:v>
                </c:pt>
                <c:pt idx="1">
                  <c:v>7.533183579452733</c:v>
                </c:pt>
                <c:pt idx="2">
                  <c:v>8.40961598673657</c:v>
                </c:pt>
              </c:numCache>
            </c:numRef>
          </c:val>
        </c:ser>
        <c:ser>
          <c:idx val="3"/>
          <c:order val="3"/>
          <c:tx>
            <c:strRef>
              <c:strCache>
                <c:ptCount val="1"/>
                <c:pt idx="0">
                  <c:v>Bathrooms and Wet Areas</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18.188286457528907</c:v>
                </c:pt>
                <c:pt idx="1">
                  <c:v>17.111569686373347</c:v>
                </c:pt>
                <c:pt idx="2">
                  <c:v>16.022929623545348</c:v>
                </c:pt>
              </c:numCache>
            </c:numRef>
          </c:val>
        </c:ser>
        <c:ser>
          <c:idx val="4"/>
          <c:order val="4"/>
          <c:tx>
            <c:strRef>
              <c:strCache>
                <c:ptCount val="1"/>
                <c:pt idx="0">
                  <c:v>Balconies and Decks</c:v>
                </c:pt>
              </c:strCache>
            </c:strRef>
          </c:tx>
          <c:spPr>
            <a:solidFill>
              <a:srgbClr val="A35313"/>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3.619765409838626</c:v>
                </c:pt>
                <c:pt idx="1">
                  <c:v>3.492055697480412</c:v>
                </c:pt>
                <c:pt idx="2">
                  <c:v>4.256021715832117</c:v>
                </c:pt>
              </c:numCache>
            </c:numRef>
          </c:val>
        </c:ser>
        <c:ser>
          <c:idx val="5"/>
          <c:order val="5"/>
          <c:tx>
            <c:strRef>
              <c:strCache>
                <c:ptCount val="1"/>
                <c:pt idx="0">
                  <c:v>Floors and Parking Structures</c:v>
                </c:pt>
              </c:strCache>
            </c:strRef>
          </c:tx>
          <c:spPr>
            <a:solidFill>
              <a:srgbClr val="808080"/>
            </a:solidFill>
            <a:ln>
              <a:noFill/>
            </a:ln>
          </c:spPr>
          <c:dLbls>
            <c:dLbl>
              <c:idx val="0"/>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7.7466120828336855</c:v>
                </c:pt>
                <c:pt idx="1">
                  <c:v>6.460106045846614</c:v>
                </c:pt>
                <c:pt idx="2">
                  <c:v>7.343245043799939</c:v>
                </c:pt>
              </c:numCache>
            </c:numRef>
          </c:val>
        </c:ser>
        <c:ser>
          <c:idx val="6"/>
          <c:order val="6"/>
          <c:tx>
            <c:strRef>
              <c:strCache>
                <c:ptCount val="1"/>
                <c:pt idx="0">
                  <c:v>Bridges, Tunnels and Other Infrastructure</c:v>
                </c:pt>
              </c:strCache>
            </c:strRef>
          </c:tx>
          <c:spPr>
            <a:solidFill>
              <a:srgbClr val="0E72AE"/>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8.44328481758437</c:v>
                </c:pt>
                <c:pt idx="1">
                  <c:v>8.713209137346844</c:v>
                </c:pt>
                <c:pt idx="2">
                  <c:v>6.36070846798832</c:v>
                </c:pt>
              </c:numCache>
            </c:numRef>
          </c:val>
        </c:ser>
        <c:ser>
          <c:idx val="7"/>
          <c:order val="7"/>
          <c:tx>
            <c:strRef>
              <c:strCache>
                <c:ptCount val="1"/>
                <c:pt idx="0">
                  <c:v>Water Tanks and Swimming Pools</c:v>
                </c:pt>
              </c:strCache>
            </c:strRef>
          </c:tx>
          <c:spPr>
            <a:solidFill>
              <a:srgbClr val="A86F00"/>
            </a:solidFill>
            <a:ln>
              <a:noFill/>
            </a:ln>
          </c:spPr>
          <c:dLbls>
            <c:dLbl>
              <c:idx val="0"/>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11.648118228721067</c:v>
                </c:pt>
                <c:pt idx="1">
                  <c:v>10.611379543863537</c:v>
                </c:pt>
                <c:pt idx="2">
                  <c:v>13.345967798665107</c:v>
                </c:pt>
              </c:numCache>
            </c:numRef>
          </c:val>
        </c:ser>
        <c:ser>
          <c:idx val="8"/>
          <c:order val="8"/>
          <c:tx>
            <c:strRef>
              <c:strCache>
                <c:ptCount val="1"/>
                <c:pt idx="0">
                  <c:v>Other Applications</c:v>
                </c:pt>
              </c:strCache>
            </c:strRef>
          </c:tx>
          <c:spPr>
            <a:solidFill>
              <a:srgbClr val="0B2E4A"/>
            </a:solidFill>
            <a:ln>
              <a:noFill/>
            </a:ln>
          </c:spPr>
          <c:dLbls>
            <c:dLbl>
              <c:idx val="0"/>
              <c:numFmt formatCode="&quot;MMM&quot;;&quot;MMM&quot;;&quot;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5.02239522142722</c:v>
                </c:pt>
                <c:pt idx="1">
                  <c:v>4.201578468330709</c:v>
                </c:pt>
                <c:pt idx="2">
                  <c:v>5.210779019615146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05.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Roofs and Terraces</c:v>
                </c:pt>
              </c:strCache>
            </c:strRef>
          </c:tx>
          <c:spPr>
            <a:solidFill>
              <a:srgbClr val="3D85C6"/>
            </a:solidFill>
          </c:spPr>
          <c:invertIfNegative val="0"/>
          <c:xVal>
            <c:numRef>
              <c:numCache>
                <c:formatCode>General</c:formatCode>
                <c:ptCount val="1"/>
                <c:pt idx="0">
                  <c:v>92.02566908099138</c:v>
                </c:pt>
              </c:numCache>
            </c:numRef>
          </c:xVal>
          <c:yVal>
            <c:numRef>
              <c:numCache>
                <c:formatCode>General</c:formatCode>
                <c:ptCount val="1"/>
                <c:pt idx="0">
                  <c:v>222.13533600478726</c:v>
                </c:pt>
              </c:numCache>
            </c:numRef>
          </c:yVal>
          <c:bubbleSize>
            <c:numRef>
              <c:numCache>
                <c:formatCode>General</c:formatCode>
                <c:ptCount val="1"/>
                <c:pt idx="0">
                  <c:v>1560.085</c:v>
                </c:pt>
              </c:numCache>
            </c:numRef>
          </c:bubbleSize>
          <c:bubble3D val="0"/>
        </c:ser>
        <c:ser>
          <c:idx val="1"/>
          <c:order val="1"/>
          <c:tx>
            <c:strRef>
              <c:strCache>
                <c:ptCount val="1"/>
                <c:pt idx="0">
                  <c:v>Walls and Building Facades</c:v>
                </c:pt>
              </c:strCache>
            </c:strRef>
          </c:tx>
          <c:spPr>
            <a:solidFill>
              <a:srgbClr val="9E7E0A"/>
            </a:solidFill>
          </c:spPr>
          <c:invertIfNegative val="0"/>
          <c:xVal>
            <c:numRef>
              <c:numCache>
                <c:formatCode>General</c:formatCode>
                <c:ptCount val="1"/>
                <c:pt idx="0">
                  <c:v>149.7680417181576</c:v>
                </c:pt>
              </c:numCache>
            </c:numRef>
          </c:xVal>
          <c:yVal>
            <c:numRef>
              <c:numCache>
                <c:formatCode>General</c:formatCode>
                <c:ptCount val="1"/>
                <c:pt idx="0">
                  <c:v>117.05063893185712</c:v>
                </c:pt>
              </c:numCache>
            </c:numRef>
          </c:yVal>
          <c:bubbleSize>
            <c:numRef>
              <c:numCache>
                <c:formatCode>General</c:formatCode>
                <c:ptCount val="1"/>
                <c:pt idx="0">
                  <c:v>1036.816</c:v>
                </c:pt>
              </c:numCache>
            </c:numRef>
          </c:bubbleSize>
          <c:bubble3D val="0"/>
        </c:ser>
        <c:ser>
          <c:idx val="2"/>
          <c:order val="2"/>
          <c:tx>
            <c:strRef>
              <c:strCache>
                <c:ptCount val="1"/>
                <c:pt idx="0">
                  <c:v>Basements and Foundations</c:v>
                </c:pt>
              </c:strCache>
            </c:strRef>
          </c:tx>
          <c:spPr>
            <a:solidFill>
              <a:srgbClr val="008189"/>
            </a:solidFill>
          </c:spPr>
          <c:invertIfNegative val="0"/>
          <c:xVal>
            <c:numRef>
              <c:numCache>
                <c:formatCode>General</c:formatCode>
                <c:ptCount val="1"/>
                <c:pt idx="0">
                  <c:v>45.15433859791718</c:v>
                </c:pt>
              </c:numCache>
            </c:numRef>
          </c:xVal>
          <c:yVal>
            <c:numRef>
              <c:numCache>
                <c:formatCode>General</c:formatCode>
                <c:ptCount val="1"/>
                <c:pt idx="0">
                  <c:v>88.25189661719067</c:v>
                </c:pt>
              </c:numCache>
            </c:numRef>
          </c:yVal>
          <c:bubbleSize>
            <c:numRef>
              <c:numCache>
                <c:formatCode>General</c:formatCode>
                <c:ptCount val="1"/>
                <c:pt idx="0">
                  <c:v>511.303</c:v>
                </c:pt>
              </c:numCache>
            </c:numRef>
          </c:bubbleSize>
          <c:bubble3D val="0"/>
        </c:ser>
        <c:ser>
          <c:idx val="3"/>
          <c:order val="3"/>
          <c:tx>
            <c:strRef>
              <c:strCache>
                <c:ptCount val="1"/>
                <c:pt idx="0">
                  <c:v>Bathrooms and Wet Areas</c:v>
                </c:pt>
              </c:strCache>
            </c:strRef>
          </c:tx>
          <c:spPr>
            <a:solidFill>
              <a:srgbClr val="40315E"/>
            </a:solidFill>
          </c:spPr>
          <c:invertIfNegative val="0"/>
          <c:xVal>
            <c:numRef>
              <c:numCache>
                <c:formatCode>General</c:formatCode>
                <c:ptCount val="1"/>
                <c:pt idx="0">
                  <c:v>150.50730029727043</c:v>
                </c:pt>
              </c:numCache>
            </c:numRef>
          </c:xVal>
          <c:yVal>
            <c:numRef>
              <c:numCache>
                <c:formatCode>General</c:formatCode>
                <c:ptCount val="1"/>
                <c:pt idx="0">
                  <c:v>122.70813791077546</c:v>
                </c:pt>
              </c:numCache>
            </c:numRef>
          </c:yVal>
          <c:bubbleSize>
            <c:numRef>
              <c:numCache>
                <c:formatCode>General</c:formatCode>
                <c:ptCount val="1"/>
                <c:pt idx="0">
                  <c:v>1090.126</c:v>
                </c:pt>
              </c:numCache>
            </c:numRef>
          </c:bubbleSize>
          <c:bubble3D val="0"/>
        </c:ser>
        <c:ser>
          <c:idx val="4"/>
          <c:order val="4"/>
          <c:tx>
            <c:strRef>
              <c:strCache>
                <c:ptCount val="1"/>
                <c:pt idx="0">
                  <c:v>Balconies and Decks</c:v>
                </c:pt>
              </c:strCache>
            </c:strRef>
          </c:tx>
          <c:spPr>
            <a:solidFill>
              <a:srgbClr val="A35313"/>
            </a:solidFill>
          </c:spPr>
          <c:invertIfNegative val="0"/>
          <c:xVal>
            <c:numRef>
              <c:numCache>
                <c:formatCode>General</c:formatCode>
                <c:ptCount val="1"/>
                <c:pt idx="0">
                  <c:v>9.264126203389853</c:v>
                </c:pt>
              </c:numCache>
            </c:numRef>
          </c:xVal>
          <c:yVal>
            <c:numRef>
              <c:numCache>
                <c:formatCode>General</c:formatCode>
                <c:ptCount val="1"/>
                <c:pt idx="0">
                  <c:v>51.56343065830404</c:v>
                </c:pt>
              </c:numCache>
            </c:numRef>
          </c:yVal>
          <c:bubbleSize>
            <c:numRef>
              <c:numCache>
                <c:formatCode>General</c:formatCode>
                <c:ptCount val="1"/>
                <c:pt idx="0">
                  <c:v>257.155</c:v>
                </c:pt>
              </c:numCache>
            </c:numRef>
          </c:bubbleSize>
          <c:bubble3D val="0"/>
        </c:ser>
        <c:ser>
          <c:idx val="5"/>
          <c:order val="5"/>
          <c:tx>
            <c:strRef>
              <c:strCache>
                <c:ptCount val="1"/>
                <c:pt idx="0">
                  <c:v>Floors and Parking Structures</c:v>
                </c:pt>
              </c:strCache>
            </c:strRef>
          </c:tx>
          <c:spPr>
            <a:solidFill>
              <a:srgbClr val="808080"/>
            </a:solidFill>
          </c:spPr>
          <c:invertIfNegative val="0"/>
          <c:xVal>
            <c:numRef>
              <c:numCache>
                <c:formatCode>General</c:formatCode>
                <c:ptCount val="1"/>
                <c:pt idx="0">
                  <c:v>86.09778662474817</c:v>
                </c:pt>
              </c:numCache>
            </c:numRef>
          </c:xVal>
          <c:yVal>
            <c:numRef>
              <c:numCache>
                <c:formatCode>General</c:formatCode>
                <c:ptCount val="1"/>
                <c:pt idx="0">
                  <c:v>68.353488160897</c:v>
                </c:pt>
              </c:numCache>
            </c:numRef>
          </c:yVal>
          <c:bubbleSize>
            <c:numRef>
              <c:numCache>
                <c:formatCode>General</c:formatCode>
                <c:ptCount val="1"/>
                <c:pt idx="0">
                  <c:v>468.608</c:v>
                </c:pt>
              </c:numCache>
            </c:numRef>
          </c:bubbleSize>
          <c:bubble3D val="0"/>
        </c:ser>
        <c:ser>
          <c:idx val="6"/>
          <c:order val="6"/>
          <c:tx>
            <c:strRef>
              <c:strCache>
                <c:ptCount val="1"/>
                <c:pt idx="0">
                  <c:v>Bridges, Tunnels and Other Infrastructure</c:v>
                </c:pt>
              </c:strCache>
            </c:strRef>
          </c:tx>
          <c:spPr>
            <a:solidFill>
              <a:srgbClr val="0E72AE"/>
            </a:solidFill>
          </c:spPr>
          <c:invertIfNegative val="0"/>
          <c:xVal>
            <c:numRef>
              <c:numCache>
                <c:formatCode>General</c:formatCode>
                <c:ptCount val="1"/>
                <c:pt idx="0">
                  <c:v>37.09302592651916</c:v>
                </c:pt>
              </c:numCache>
            </c:numRef>
          </c:xVal>
          <c:yVal>
            <c:numRef>
              <c:numCache>
                <c:formatCode>General</c:formatCode>
                <c:ptCount val="1"/>
                <c:pt idx="0">
                  <c:v>85.75466564238027</c:v>
                </c:pt>
              </c:numCache>
            </c:numRef>
          </c:yVal>
          <c:bubbleSize>
            <c:numRef>
              <c:numCache>
                <c:formatCode>General</c:formatCode>
                <c:ptCount val="1"/>
                <c:pt idx="0">
                  <c:v>480.479</c:v>
                </c:pt>
              </c:numCache>
            </c:numRef>
          </c:bubbleSize>
          <c:bubble3D val="0"/>
        </c:ser>
        <c:ser>
          <c:idx val="7"/>
          <c:order val="7"/>
          <c:tx>
            <c:strRef>
              <c:strCache>
                <c:ptCount val="1"/>
                <c:pt idx="0">
                  <c:v>Water Tanks and Swimming Pools</c:v>
                </c:pt>
              </c:strCache>
            </c:strRef>
          </c:tx>
          <c:spPr>
            <a:solidFill>
              <a:srgbClr val="A86F00"/>
            </a:solidFill>
          </c:spPr>
          <c:invertIfNegative val="0"/>
          <c:xVal>
            <c:numRef>
              <c:numCache>
                <c:formatCode>General</c:formatCode>
                <c:ptCount val="1"/>
                <c:pt idx="0">
                  <c:v>126.35034756333663</c:v>
                </c:pt>
              </c:numCache>
            </c:numRef>
          </c:xVal>
          <c:yVal>
            <c:numRef>
              <c:numCache>
                <c:formatCode>General</c:formatCode>
                <c:ptCount val="1"/>
                <c:pt idx="0">
                  <c:v>99.64529140616442</c:v>
                </c:pt>
              </c:numCache>
            </c:numRef>
          </c:yVal>
          <c:bubbleSize>
            <c:numRef>
              <c:numCache>
                <c:formatCode>General</c:formatCode>
                <c:ptCount val="1"/>
                <c:pt idx="0">
                  <c:v>803.873</c:v>
                </c:pt>
              </c:numCache>
            </c:numRef>
          </c:bubbleSize>
          <c:bubble3D val="0"/>
        </c:ser>
        <c:ser>
          <c:idx val="8"/>
          <c:order val="8"/>
          <c:tx>
            <c:strRef>
              <c:strCache>
                <c:ptCount val="1"/>
                <c:pt idx="0">
                  <c:v>Other Applications</c:v>
                </c:pt>
              </c:strCache>
            </c:strRef>
          </c:tx>
          <c:spPr>
            <a:solidFill>
              <a:srgbClr val="0B2E4A"/>
            </a:solidFill>
          </c:spPr>
          <c:invertIfNegative val="0"/>
          <c:xVal>
            <c:numRef>
              <c:numCache>
                <c:formatCode>General</c:formatCode>
                <c:ptCount val="1"/>
                <c:pt idx="0">
                  <c:v>97.91030822603058</c:v>
                </c:pt>
              </c:numCache>
            </c:numRef>
          </c:xVal>
          <c:yVal>
            <c:numRef>
              <c:numCache>
                <c:formatCode>General</c:formatCode>
                <c:ptCount val="1"/>
                <c:pt idx="0">
                  <c:v>44.53711466764401</c:v>
                </c:pt>
              </c:numCache>
            </c:numRef>
          </c:yVal>
          <c:bubbleSize>
            <c:numRef>
              <c:numCache>
                <c:formatCode>General</c:formatCode>
                <c:ptCount val="1"/>
                <c:pt idx="0">
                  <c:v>320.356</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90.0"/>
          <c:min val="-3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7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0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1065.386</c:v>
                </c:pt>
                <c:pt idx="2">
                  <c:v>1149.464</c:v>
                </c:pt>
                <c:pt idx="3">
                  <c:v>1240.377</c:v>
                </c:pt>
                <c:pt idx="4">
                  <c:v>1338.698</c:v>
                </c:pt>
                <c:pt idx="5">
                  <c:v>1445.042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1065.386</c:v>
                </c:pt>
                <c:pt idx="1">
                  <c:v>84.07799999999997</c:v>
                </c:pt>
                <c:pt idx="2">
                  <c:v>90.91300000000001</c:v>
                </c:pt>
                <c:pt idx="3">
                  <c:v>98.32100000000014</c:v>
                </c:pt>
                <c:pt idx="4">
                  <c:v>106.34399999999982</c:v>
                </c:pt>
                <c:pt idx="5">
                  <c:v>115.04300000000012</c:v>
                </c:pt>
                <c:pt idx="6">
                  <c:v>1560.085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561.388</c:v>
                </c:pt>
                <c:pt idx="2">
                  <c:v>637.671</c:v>
                </c:pt>
                <c:pt idx="3">
                  <c:v>722.433</c:v>
                </c:pt>
                <c:pt idx="4">
                  <c:v>816.554</c:v>
                </c:pt>
                <c:pt idx="5">
                  <c:v>920.994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561.388</c:v>
                </c:pt>
                <c:pt idx="1">
                  <c:v>76.28300000000002</c:v>
                </c:pt>
                <c:pt idx="2">
                  <c:v>84.76199999999994</c:v>
                </c:pt>
                <c:pt idx="3">
                  <c:v>94.12099999999998</c:v>
                </c:pt>
                <c:pt idx="4">
                  <c:v>104.44000000000005</c:v>
                </c:pt>
                <c:pt idx="5">
                  <c:v>115.822</c:v>
                </c:pt>
                <c:pt idx="6">
                  <c:v>1036.816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423.266</c:v>
                </c:pt>
                <c:pt idx="2">
                  <c:v>440.476</c:v>
                </c:pt>
                <c:pt idx="3">
                  <c:v>457.952</c:v>
                </c:pt>
                <c:pt idx="4">
                  <c:v>475.631</c:v>
                </c:pt>
                <c:pt idx="5">
                  <c:v>493.444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423.266</c:v>
                </c:pt>
                <c:pt idx="1">
                  <c:v>17.20999999999998</c:v>
                </c:pt>
                <c:pt idx="2">
                  <c:v>17.476</c:v>
                </c:pt>
                <c:pt idx="3">
                  <c:v>17.678999999999974</c:v>
                </c:pt>
                <c:pt idx="4">
                  <c:v>17.813000000000045</c:v>
                </c:pt>
                <c:pt idx="5">
                  <c:v>17.85899999999998</c:v>
                </c:pt>
                <c:pt idx="6">
                  <c:v>511.303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588.522</c:v>
                </c:pt>
                <c:pt idx="2">
                  <c:v>668.882</c:v>
                </c:pt>
                <c:pt idx="3">
                  <c:v>758.238</c:v>
                </c:pt>
                <c:pt idx="4">
                  <c:v>857.526</c:v>
                </c:pt>
                <c:pt idx="5">
                  <c:v>967.776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588.522</c:v>
                </c:pt>
                <c:pt idx="1">
                  <c:v>80.3599999999999</c:v>
                </c:pt>
                <c:pt idx="2">
                  <c:v>89.35600000000011</c:v>
                </c:pt>
                <c:pt idx="3">
                  <c:v>99.2879999999999</c:v>
                </c:pt>
                <c:pt idx="4">
                  <c:v>110.25</c:v>
                </c:pt>
                <c:pt idx="5">
                  <c:v>122.35000000000002</c:v>
                </c:pt>
                <c:pt idx="6">
                  <c:v>1090.126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247.304</c:v>
                </c:pt>
                <c:pt idx="2">
                  <c:v>251.152</c:v>
                </c:pt>
                <c:pt idx="3">
                  <c:v>254.217</c:v>
                </c:pt>
                <c:pt idx="4">
                  <c:v>256.351</c:v>
                </c:pt>
                <c:pt idx="5">
                  <c:v>257.155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E44D3A"/>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247.304</c:v>
                </c:pt>
                <c:pt idx="1">
                  <c:v>3.8479999999999848</c:v>
                </c:pt>
                <c:pt idx="2">
                  <c:v>3.065000000000026</c:v>
                </c:pt>
                <c:pt idx="3">
                  <c:v>2.133999999999986</c:v>
                </c:pt>
                <c:pt idx="4">
                  <c:v>1.0419999999999732</c:v>
                </c:pt>
                <c:pt idx="5">
                  <c:v>0.23799999999999955</c:v>
                </c:pt>
                <c:pt idx="6">
                  <c:v>257.155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327.831</c:v>
                </c:pt>
                <c:pt idx="2">
                  <c:v>351.996</c:v>
                </c:pt>
                <c:pt idx="3">
                  <c:v>378.006</c:v>
                </c:pt>
                <c:pt idx="4">
                  <c:v>406.006</c:v>
                </c:pt>
                <c:pt idx="5">
                  <c:v>436.149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327.831</c:v>
                </c:pt>
                <c:pt idx="1">
                  <c:v>24.164999999999964</c:v>
                </c:pt>
                <c:pt idx="2">
                  <c:v>26.00999999999999</c:v>
                </c:pt>
                <c:pt idx="3">
                  <c:v>28.0</c:v>
                </c:pt>
                <c:pt idx="4">
                  <c:v>30.14300000000003</c:v>
                </c:pt>
                <c:pt idx="5">
                  <c:v>32.459</c:v>
                </c:pt>
                <c:pt idx="6">
                  <c:v>468.608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411.289</c:v>
                </c:pt>
                <c:pt idx="2">
                  <c:v>425.71</c:v>
                </c:pt>
                <c:pt idx="3">
                  <c:v>439.966</c:v>
                </c:pt>
                <c:pt idx="4">
                  <c:v>453.94</c:v>
                </c:pt>
                <c:pt idx="5">
                  <c:v>467.496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411.289</c:v>
                </c:pt>
                <c:pt idx="1">
                  <c:v>14.420999999999992</c:v>
                </c:pt>
                <c:pt idx="2">
                  <c:v>14.256000000000029</c:v>
                </c:pt>
                <c:pt idx="3">
                  <c:v>13.97399999999999</c:v>
                </c:pt>
                <c:pt idx="4">
                  <c:v>13.555999999999983</c:v>
                </c:pt>
                <c:pt idx="5">
                  <c:v>12.983000000000004</c:v>
                </c:pt>
                <c:pt idx="6">
                  <c:v>480.479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477.91</c:v>
                </c:pt>
                <c:pt idx="2">
                  <c:v>531.166</c:v>
                </c:pt>
                <c:pt idx="3">
                  <c:v>589.833</c:v>
                </c:pt>
                <c:pt idx="4">
                  <c:v>654.442</c:v>
                </c:pt>
                <c:pt idx="5">
                  <c:v>725.577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477.91</c:v>
                </c:pt>
                <c:pt idx="1">
                  <c:v>53.25600000000003</c:v>
                </c:pt>
                <c:pt idx="2">
                  <c:v>58.666999999999916</c:v>
                </c:pt>
                <c:pt idx="3">
                  <c:v>64.60900000000004</c:v>
                </c:pt>
                <c:pt idx="4">
                  <c:v>71.13499999999999</c:v>
                </c:pt>
                <c:pt idx="5">
                  <c:v>78.29600000000005</c:v>
                </c:pt>
                <c:pt idx="6">
                  <c:v>803.873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213.605</c:v>
                </c:pt>
                <c:pt idx="2">
                  <c:v>231.591</c:v>
                </c:pt>
                <c:pt idx="3">
                  <c:v>251.119</c:v>
                </c:pt>
                <c:pt idx="4">
                  <c:v>272.321</c:v>
                </c:pt>
                <c:pt idx="5">
                  <c:v>295.348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213.605</c:v>
                </c:pt>
                <c:pt idx="1">
                  <c:v>17.98600000000002</c:v>
                </c:pt>
                <c:pt idx="2">
                  <c:v>19.52799999999999</c:v>
                </c:pt>
                <c:pt idx="3">
                  <c:v>21.202000000000027</c:v>
                </c:pt>
                <c:pt idx="4">
                  <c:v>23.026999999999987</c:v>
                </c:pt>
                <c:pt idx="5">
                  <c:v>25.00799999999998</c:v>
                </c:pt>
                <c:pt idx="6">
                  <c:v>320.356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Roofs and Terraces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25.102558483536953</c:v>
                </c:pt>
                <c:pt idx="1">
                  <c:v>24.68170400053191</c:v>
                </c:pt>
                <c:pt idx="2">
                  <c:v>23.895428885028046</c:v>
                </c:pt>
              </c:numCache>
            </c:numRef>
          </c:val>
        </c:ser>
        <c:ser>
          <c:idx val="1"/>
          <c:order val="1"/>
          <c:tx>
            <c:strRef>
              <c:strCache>
                <c:ptCount val="1"/>
                <c:pt idx="0">
                  <c:v>Bathrooms and Wet Areas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12.001780529228071</c:v>
                </c:pt>
                <c:pt idx="1">
                  <c:v>13.634237545641714</c:v>
                </c:pt>
                <c:pt idx="2">
                  <c:v>16.697185287160686</c:v>
                </c:pt>
              </c:numCache>
            </c:numRef>
          </c:val>
        </c:ser>
        <c:ser>
          <c:idx val="2"/>
          <c:order val="2"/>
          <c:tx>
            <c:strRef>
              <c:strCache>
                <c:ptCount val="1"/>
                <c:pt idx="0">
                  <c:v>Walls and Building Facades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11.46534816194598</c:v>
                </c:pt>
                <c:pt idx="1">
                  <c:v>13.00562654798412</c:v>
                </c:pt>
                <c:pt idx="2">
                  <c:v>15.880649448497511</c:v>
                </c:pt>
              </c:numCache>
            </c:numRef>
          </c:val>
        </c:ser>
        <c:ser>
          <c:idx val="3"/>
          <c:order val="3"/>
          <c:tx>
            <c:strRef>
              <c:strCache>
                <c:ptCount val="1"/>
                <c:pt idx="0">
                  <c:v>Water Tanks and Swimming Pools</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10.402290034514875</c:v>
                </c:pt>
                <c:pt idx="1">
                  <c:v>11.071699045129376</c:v>
                </c:pt>
                <c:pt idx="2">
                  <c:v>12.312720206972152</c:v>
                </c:pt>
              </c:numCache>
            </c:numRef>
          </c:val>
        </c:ser>
        <c:ser>
          <c:idx val="4"/>
          <c:order val="4"/>
          <c:tx>
            <c:strRef>
              <c:strCache>
                <c:ptCount val="1"/>
                <c:pt idx="0">
                  <c:v>Basements and Foundations</c:v>
                </c:pt>
              </c:strCache>
            </c:strRef>
          </c:tx>
          <c:spPr>
            <a:solidFill>
              <a:srgbClr val="A35313"/>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10.86711773407111</c:v>
                </c:pt>
                <c:pt idx="1">
                  <c:v>9.805766290798958</c:v>
                </c:pt>
                <c:pt idx="2">
                  <c:v>7.831499229337821</c:v>
                </c:pt>
              </c:numCache>
            </c:numRef>
          </c:val>
        </c:ser>
        <c:ser>
          <c:idx val="5"/>
          <c:order val="5"/>
          <c:tx>
            <c:strRef>
              <c:strCache>
                <c:ptCount val="1"/>
                <c:pt idx="0">
                  <c:v>Bridges, Tunnels and Other Infrastructure</c:v>
                </c:pt>
              </c:strCache>
            </c:strRef>
          </c:tx>
          <c:spPr>
            <a:solidFill>
              <a:srgbClr val="808080"/>
            </a:solidFill>
            <a:ln>
              <a:noFill/>
            </a:ln>
          </c:spPr>
          <c:dLbls>
            <c:dLbl>
              <c:idx val="0"/>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10.679778666520571</c:v>
                </c:pt>
                <c:pt idx="1">
                  <c:v>9.528296182486693</c:v>
                </c:pt>
                <c:pt idx="2">
                  <c:v>7.359375787376579</c:v>
                </c:pt>
              </c:numCache>
            </c:numRef>
          </c:val>
        </c:ser>
        <c:ser>
          <c:idx val="6"/>
          <c:order val="6"/>
          <c:tx>
            <c:strRef>
              <c:strCache>
                <c:ptCount val="1"/>
                <c:pt idx="0">
                  <c:v>Floors and Parking Structures</c:v>
                </c:pt>
              </c:strCache>
            </c:strRef>
          </c:tx>
          <c:spPr>
            <a:solidFill>
              <a:srgbClr val="0E72AE"/>
            </a:solidFill>
            <a:ln>
              <a:noFill/>
            </a:ln>
          </c:spPr>
          <c:dLbls>
            <c:dLbl>
              <c:idx val="0"/>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7.818386018736646</c:v>
                </c:pt>
                <c:pt idx="1">
                  <c:v>7.594832017877443</c:v>
                </c:pt>
                <c:pt idx="2">
                  <c:v>7.1775506712488255</c:v>
                </c:pt>
              </c:numCache>
            </c:numRef>
          </c:val>
        </c:ser>
        <c:ser>
          <c:idx val="7"/>
          <c:order val="7"/>
          <c:tx>
            <c:strRef>
              <c:strCache>
                <c:ptCount val="1"/>
                <c:pt idx="0">
                  <c:v>Other Applications</c:v>
                </c:pt>
              </c:strCache>
            </c:strRef>
          </c:tx>
          <c:spPr>
            <a:solidFill>
              <a:srgbClr val="A86F00"/>
            </a:solidFill>
            <a:ln>
              <a:noFill/>
            </a:ln>
          </c:spPr>
          <c:dLbls>
            <c:dLbl>
              <c:idx val="0"/>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4.970634964115487</c:v>
                </c:pt>
                <c:pt idx="1">
                  <c:v>4.948568296404889</c:v>
                </c:pt>
                <c:pt idx="2">
                  <c:v>4.906812139012967</c:v>
                </c:pt>
              </c:numCache>
            </c:numRef>
          </c:val>
        </c:ser>
        <c:ser>
          <c:idx val="8"/>
          <c:order val="8"/>
          <c:tx>
            <c:strRef>
              <c:strCache>
                <c:ptCount val="1"/>
                <c:pt idx="0">
                  <c:v>Balconies and Decks</c:v>
                </c:pt>
              </c:strCache>
            </c:strRef>
          </c:tx>
          <c:spPr>
            <a:solidFill>
              <a:srgbClr val="0B2E4A"/>
            </a:solidFill>
            <a:ln>
              <a:noFill/>
            </a:ln>
          </c:spPr>
          <c:dLbls>
            <c:dLbl>
              <c:idx val="0"/>
              <c:numFmt formatCode="&quot;MMM&quot;;&quot;MMM&quot;;&quot;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6.692105407330303</c:v>
                </c:pt>
                <c:pt idx="1">
                  <c:v>5.729270073144892</c:v>
                </c:pt>
                <c:pt idx="2">
                  <c:v>3.938778345365404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Concrete and Cementitious Surfaces</c:v>
                </c:pt>
              </c:strCache>
            </c:strRef>
          </c:tx>
          <c:spPr>
            <a:solidFill>
              <a:srgbClr val="3D85C6"/>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3.1646591084602047</c:v>
                </c:pt>
                <c:pt idx="1">
                  <c:v>3.8120432725524434</c:v>
                </c:pt>
                <c:pt idx="2">
                  <c:v>3.05831302301652</c:v>
                </c:pt>
              </c:numCache>
            </c:numRef>
          </c:val>
        </c:ser>
        <c:ser>
          <c:idx val="1"/>
          <c:order val="1"/>
          <c:tx>
            <c:strRef>
              <c:strCache>
                <c:ptCount val="1"/>
                <c:pt idx="0">
                  <c:v>Metal</c:v>
                </c:pt>
              </c:strCache>
            </c:strRef>
          </c:tx>
          <c:spPr>
            <a:solidFill>
              <a:srgbClr val="9E7E0A"/>
            </a:solidFill>
            <a:ln>
              <a:noFill/>
            </a:ln>
          </c:spPr>
          <c:dLbls>
            <c:dLbl>
              <c:idx val="0"/>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4.390192263973802</c:v>
                </c:pt>
                <c:pt idx="1">
                  <c:v>4.994638323822401</c:v>
                </c:pt>
                <c:pt idx="2">
                  <c:v>3.493319319559559</c:v>
                </c:pt>
              </c:numCache>
            </c:numRef>
          </c:val>
        </c:ser>
        <c:ser>
          <c:idx val="2"/>
          <c:order val="2"/>
          <c:tx>
            <c:strRef>
              <c:strCache>
                <c:ptCount val="1"/>
                <c:pt idx="0">
                  <c:v>Wood</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14.317149654917491</c:v>
                </c:pt>
                <c:pt idx="1">
                  <c:v>14.89483920110454</c:v>
                </c:pt>
                <c:pt idx="2">
                  <c:v>17.16783838918843</c:v>
                </c:pt>
              </c:numCache>
            </c:numRef>
          </c:val>
        </c:ser>
        <c:ser>
          <c:idx val="3"/>
          <c:order val="3"/>
          <c:tx>
            <c:strRef>
              <c:strCache>
                <c:ptCount val="1"/>
                <c:pt idx="0">
                  <c:v>Masonry and Brickwork</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28.998384350937716</c:v>
                </c:pt>
                <c:pt idx="1">
                  <c:v>23.384673714311166</c:v>
                </c:pt>
                <c:pt idx="2">
                  <c:v>27.988209671434934</c:v>
                </c:pt>
              </c:numCache>
            </c:numRef>
          </c:val>
        </c:ser>
        <c:ser>
          <c:idx val="4"/>
          <c:order val="4"/>
          <c:tx>
            <c:strRef>
              <c:strCache>
                <c:ptCount val="1"/>
                <c:pt idx="0">
                  <c:v>Composite Materials</c:v>
                </c:pt>
              </c:strCache>
            </c:strRef>
          </c:tx>
          <c:spPr>
            <a:solidFill>
              <a:srgbClr val="A35313"/>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21.137062920073095</c:v>
                </c:pt>
                <c:pt idx="1">
                  <c:v>26.833847422341346</c:v>
                </c:pt>
                <c:pt idx="2">
                  <c:v>23.35304365097427</c:v>
                </c:pt>
              </c:numCache>
            </c:numRef>
          </c:val>
        </c:ser>
        <c:ser>
          <c:idx val="5"/>
          <c:order val="5"/>
          <c:tx>
            <c:strRef>
              <c:strCache>
                <c:ptCount val="1"/>
                <c:pt idx="0">
                  <c:v>Other Substrates</c:v>
                </c:pt>
              </c:strCache>
            </c:strRef>
          </c:tx>
          <c:spPr>
            <a:solidFill>
              <a:srgbClr val="808080"/>
            </a:solidFill>
            <a:ln>
              <a:noFill/>
            </a:ln>
          </c:spPr>
          <c:dLbls>
            <c:dLbl>
              <c:idx val="0"/>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27.992551701637687</c:v>
                </c:pt>
                <c:pt idx="1">
                  <c:v>26.07995806586811</c:v>
                </c:pt>
                <c:pt idx="2">
                  <c:v>24.93927594582628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17.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Concrete and Cementitious Surfaces</c:v>
                </c:pt>
              </c:strCache>
            </c:strRef>
          </c:tx>
          <c:spPr>
            <a:solidFill>
              <a:srgbClr val="3D85C6"/>
            </a:solidFill>
          </c:spPr>
          <c:invertIfNegative val="0"/>
          <c:xVal>
            <c:numRef>
              <c:numCache>
                <c:formatCode>General</c:formatCode>
                <c:ptCount val="1"/>
                <c:pt idx="0">
                  <c:v>67.55267793414312</c:v>
                </c:pt>
              </c:numCache>
            </c:numRef>
          </c:xVal>
          <c:yVal>
            <c:numRef>
              <c:numCache>
                <c:formatCode>General</c:formatCode>
                <c:ptCount val="1"/>
                <c:pt idx="0">
                  <c:v>22.460831122244613</c:v>
                </c:pt>
              </c:numCache>
            </c:numRef>
          </c:yVal>
          <c:bubbleSize>
            <c:numRef>
              <c:numCache>
                <c:formatCode>General</c:formatCode>
                <c:ptCount val="1"/>
                <c:pt idx="0">
                  <c:v>214.097</c:v>
                </c:pt>
              </c:numCache>
            </c:numRef>
          </c:bubbleSize>
          <c:bubble3D val="0"/>
        </c:ser>
        <c:ser>
          <c:idx val="1"/>
          <c:order val="1"/>
          <c:tx>
            <c:strRef>
              <c:strCache>
                <c:ptCount val="1"/>
                <c:pt idx="0">
                  <c:v>Metal</c:v>
                </c:pt>
              </c:strCache>
            </c:strRef>
          </c:tx>
          <c:spPr>
            <a:solidFill>
              <a:srgbClr val="9E7E0A"/>
            </a:solidFill>
          </c:spPr>
          <c:invertIfNegative val="0"/>
          <c:xVal>
            <c:numRef>
              <c:numCache>
                <c:formatCode>General</c:formatCode>
                <c:ptCount val="1"/>
                <c:pt idx="0">
                  <c:v>35.21086473020183</c:v>
                </c:pt>
              </c:numCache>
            </c:numRef>
          </c:xVal>
          <c:yVal>
            <c:numRef>
              <c:numCache>
                <c:formatCode>General</c:formatCode>
                <c:ptCount val="1"/>
                <c:pt idx="0">
                  <c:v>31.743071529463336</c:v>
                </c:pt>
              </c:numCache>
            </c:numRef>
          </c:yVal>
          <c:bubbleSize>
            <c:numRef>
              <c:numCache>
                <c:formatCode>General</c:formatCode>
                <c:ptCount val="1"/>
                <c:pt idx="0">
                  <c:v>264.701</c:v>
                </c:pt>
              </c:numCache>
            </c:numRef>
          </c:bubbleSize>
          <c:bubble3D val="0"/>
        </c:ser>
        <c:ser>
          <c:idx val="2"/>
          <c:order val="2"/>
          <c:tx>
            <c:strRef>
              <c:strCache>
                <c:ptCount val="1"/>
                <c:pt idx="0">
                  <c:v>Wood</c:v>
                </c:pt>
              </c:strCache>
            </c:strRef>
          </c:tx>
          <c:spPr>
            <a:solidFill>
              <a:srgbClr val="008189"/>
            </a:solidFill>
          </c:spPr>
          <c:invertIfNegative val="0"/>
          <c:xVal>
            <c:numRef>
              <c:numCache>
                <c:formatCode>General</c:formatCode>
                <c:ptCount val="1"/>
                <c:pt idx="0">
                  <c:v>92.00184773307387</c:v>
                </c:pt>
              </c:numCache>
            </c:numRef>
          </c:xVal>
          <c:yVal>
            <c:numRef>
              <c:numCache>
                <c:formatCode>General</c:formatCode>
                <c:ptCount val="1"/>
                <c:pt idx="0">
                  <c:v>99.50879195904275</c:v>
                </c:pt>
              </c:numCache>
            </c:numRef>
          </c:yVal>
          <c:bubbleSize>
            <c:numRef>
              <c:numCache>
                <c:formatCode>General</c:formatCode>
                <c:ptCount val="1"/>
                <c:pt idx="0">
                  <c:v>1048.193</c:v>
                </c:pt>
              </c:numCache>
            </c:numRef>
          </c:bubbleSize>
          <c:bubble3D val="0"/>
        </c:ser>
        <c:ser>
          <c:idx val="3"/>
          <c:order val="3"/>
          <c:tx>
            <c:strRef>
              <c:strCache>
                <c:ptCount val="1"/>
                <c:pt idx="0">
                  <c:v>Masonry and Brickwork</c:v>
                </c:pt>
              </c:strCache>
            </c:strRef>
          </c:tx>
          <c:spPr>
            <a:solidFill>
              <a:srgbClr val="40315E"/>
            </a:solidFill>
          </c:spPr>
          <c:invertIfNegative val="0"/>
          <c:xVal>
            <c:numRef>
              <c:numCache>
                <c:formatCode>General</c:formatCode>
                <c:ptCount val="1"/>
                <c:pt idx="0">
                  <c:v>152.9100230005971</c:v>
                </c:pt>
              </c:numCache>
            </c:numRef>
          </c:xVal>
          <c:yVal>
            <c:numRef>
              <c:numCache>
                <c:formatCode>General</c:formatCode>
                <c:ptCount val="1"/>
                <c:pt idx="0">
                  <c:v>130.69502358507506</c:v>
                </c:pt>
              </c:numCache>
            </c:numRef>
          </c:yVal>
          <c:bubbleSize>
            <c:numRef>
              <c:numCache>
                <c:formatCode>General</c:formatCode>
                <c:ptCount val="1"/>
                <c:pt idx="0">
                  <c:v>1758.314</c:v>
                </c:pt>
              </c:numCache>
            </c:numRef>
          </c:bubbleSize>
          <c:bubble3D val="0"/>
        </c:ser>
        <c:ser>
          <c:idx val="4"/>
          <c:order val="4"/>
          <c:tx>
            <c:strRef>
              <c:strCache>
                <c:ptCount val="1"/>
                <c:pt idx="0">
                  <c:v>Composite Materials</c:v>
                </c:pt>
              </c:strCache>
            </c:strRef>
          </c:tx>
          <c:spPr>
            <a:solidFill>
              <a:srgbClr val="A35313"/>
            </a:solidFill>
          </c:spPr>
          <c:invertIfNegative val="0"/>
          <c:xVal>
            <c:numRef>
              <c:numCache>
                <c:formatCode>General</c:formatCode>
                <c:ptCount val="1"/>
                <c:pt idx="0">
                  <c:v>116.99093724462631</c:v>
                </c:pt>
              </c:numCache>
            </c:numRef>
          </c:xVal>
          <c:yVal>
            <c:numRef>
              <c:numCache>
                <c:formatCode>General</c:formatCode>
                <c:ptCount val="1"/>
                <c:pt idx="0">
                  <c:v>133.86328417391772</c:v>
                </c:pt>
              </c:numCache>
            </c:numRef>
          </c:yVal>
          <c:bubbleSize>
            <c:numRef>
              <c:numCache>
                <c:formatCode>General</c:formatCode>
                <c:ptCount val="1"/>
                <c:pt idx="0">
                  <c:v>1560.095</c:v>
                </c:pt>
              </c:numCache>
            </c:numRef>
          </c:bubbleSize>
          <c:bubble3D val="0"/>
        </c:ser>
        <c:ser>
          <c:idx val="5"/>
          <c:order val="5"/>
          <c:tx>
            <c:strRef>
              <c:strCache>
                <c:ptCount val="1"/>
                <c:pt idx="0">
                  <c:v>Other Substrates</c:v>
                </c:pt>
              </c:strCache>
            </c:strRef>
          </c:tx>
          <c:spPr>
            <a:solidFill>
              <a:srgbClr val="808080"/>
            </a:solidFill>
          </c:spPr>
          <c:invertIfNegative val="0"/>
          <c:xVal>
            <c:numRef>
              <c:numCache>
                <c:formatCode>General</c:formatCode>
                <c:ptCount val="1"/>
                <c:pt idx="0">
                  <c:v>60.59919473565755</c:v>
                </c:pt>
              </c:numCache>
            </c:numRef>
          </c:xVal>
          <c:yVal>
            <c:numRef>
              <c:numCache>
                <c:formatCode>General</c:formatCode>
                <c:ptCount val="1"/>
                <c:pt idx="0">
                  <c:v>181.72899763025654</c:v>
                </c:pt>
              </c:numCache>
            </c:numRef>
          </c:yVal>
          <c:bubbleSize>
            <c:numRef>
              <c:numCache>
                <c:formatCode>General</c:formatCode>
                <c:ptCount val="1"/>
                <c:pt idx="0">
                  <c:v>1683.401</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90.0"/>
          <c:min val="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2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161.587</c:v>
                </c:pt>
                <c:pt idx="2">
                  <c:v>171.328</c:v>
                </c:pt>
                <c:pt idx="3">
                  <c:v>181.47</c:v>
                </c:pt>
                <c:pt idx="4">
                  <c:v>191.994</c:v>
                </c:pt>
                <c:pt idx="5">
                  <c:v>202.88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161.587</c:v>
                </c:pt>
                <c:pt idx="1">
                  <c:v>9.741000000000014</c:v>
                </c:pt>
                <c:pt idx="2">
                  <c:v>10.141999999999996</c:v>
                </c:pt>
                <c:pt idx="3">
                  <c:v>10.524000000000001</c:v>
                </c:pt>
                <c:pt idx="4">
                  <c:v>10.885999999999996</c:v>
                </c:pt>
                <c:pt idx="5">
                  <c:v>11.217000000000013</c:v>
                </c:pt>
                <c:pt idx="6">
                  <c:v>214.097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228.365</c:v>
                </c:pt>
                <c:pt idx="2">
                  <c:v>236.969</c:v>
                </c:pt>
                <c:pt idx="3">
                  <c:v>245.103</c:v>
                </c:pt>
                <c:pt idx="4">
                  <c:v>252.584</c:v>
                </c:pt>
                <c:pt idx="5">
                  <c:v>259.201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228.365</c:v>
                </c:pt>
                <c:pt idx="1">
                  <c:v>8.603999999999985</c:v>
                </c:pt>
                <c:pt idx="2">
                  <c:v>8.134000000000015</c:v>
                </c:pt>
                <c:pt idx="3">
                  <c:v>7.4809999999999945</c:v>
                </c:pt>
                <c:pt idx="4">
                  <c:v>6.617000000000019</c:v>
                </c:pt>
                <c:pt idx="5">
                  <c:v>5.5</c:v>
                </c:pt>
                <c:pt idx="6">
                  <c:v>264.701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715.883</c:v>
                </c:pt>
                <c:pt idx="2">
                  <c:v>772.685</c:v>
                </c:pt>
                <c:pt idx="3">
                  <c:v>833.959</c:v>
                </c:pt>
                <c:pt idx="4">
                  <c:v>900.05</c:v>
                </c:pt>
                <c:pt idx="5">
                  <c:v>971.329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715.883</c:v>
                </c:pt>
                <c:pt idx="1">
                  <c:v>56.80199999999991</c:v>
                </c:pt>
                <c:pt idx="2">
                  <c:v>61.274</c:v>
                </c:pt>
                <c:pt idx="3">
                  <c:v>66.09100000000001</c:v>
                </c:pt>
                <c:pt idx="4">
                  <c:v>71.279</c:v>
                </c:pt>
                <c:pt idx="5">
                  <c:v>76.86400000000003</c:v>
                </c:pt>
                <c:pt idx="6">
                  <c:v>1048.193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940.242</c:v>
                </c:pt>
                <c:pt idx="2">
                  <c:v>1067.507</c:v>
                </c:pt>
                <c:pt idx="3">
                  <c:v>1210.848</c:v>
                </c:pt>
                <c:pt idx="4">
                  <c:v>1372.238</c:v>
                </c:pt>
                <c:pt idx="5">
                  <c:v>1553.896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940.242</c:v>
                </c:pt>
                <c:pt idx="1">
                  <c:v>127.2650000000001</c:v>
                </c:pt>
                <c:pt idx="2">
                  <c:v>143.3409999999999</c:v>
                </c:pt>
                <c:pt idx="3">
                  <c:v>161.3900000000001</c:v>
                </c:pt>
                <c:pt idx="4">
                  <c:v>181.6579999999999</c:v>
                </c:pt>
                <c:pt idx="5">
                  <c:v>204.41800000000012</c:v>
                </c:pt>
                <c:pt idx="6">
                  <c:v>1758.314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963.035</c:v>
                </c:pt>
                <c:pt idx="2">
                  <c:v>1060.166</c:v>
                </c:pt>
                <c:pt idx="3">
                  <c:v>1167.319</c:v>
                </c:pt>
                <c:pt idx="4">
                  <c:v>1285.553</c:v>
                </c:pt>
                <c:pt idx="5">
                  <c:v>1416.044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963.035</c:v>
                </c:pt>
                <c:pt idx="1">
                  <c:v>97.13099999999997</c:v>
                </c:pt>
                <c:pt idx="2">
                  <c:v>107.15300000000002</c:v>
                </c:pt>
                <c:pt idx="3">
                  <c:v>118.23400000000015</c:v>
                </c:pt>
                <c:pt idx="4">
                  <c:v>130.49099999999999</c:v>
                </c:pt>
                <c:pt idx="5">
                  <c:v>144.05099999999993</c:v>
                </c:pt>
                <c:pt idx="6">
                  <c:v>1560.095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1307.389</c:v>
                </c:pt>
                <c:pt idx="2">
                  <c:v>1379.453</c:v>
                </c:pt>
                <c:pt idx="3">
                  <c:v>1453.442</c:v>
                </c:pt>
                <c:pt idx="4">
                  <c:v>1529.05</c:v>
                </c:pt>
                <c:pt idx="5">
                  <c:v>1605.869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1307.389</c:v>
                </c:pt>
                <c:pt idx="1">
                  <c:v>72.06400000000008</c:v>
                </c:pt>
                <c:pt idx="2">
                  <c:v>73.98900000000003</c:v>
                </c:pt>
                <c:pt idx="3">
                  <c:v>75.60799999999995</c:v>
                </c:pt>
                <c:pt idx="4">
                  <c:v>76.81899999999996</c:v>
                </c:pt>
                <c:pt idx="5">
                  <c:v>77.53200000000015</c:v>
                </c:pt>
                <c:pt idx="6">
                  <c:v>1683.401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Masonry and Brickwork</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19.396619733742398</c:v>
                </c:pt>
                <c:pt idx="1">
                  <c:v>21.782503930845838</c:v>
                </c:pt>
                <c:pt idx="2">
                  <c:v>26.931652534669077</c:v>
                </c:pt>
              </c:numCache>
            </c:numRef>
          </c:val>
        </c:ser>
        <c:ser>
          <c:idx val="1"/>
          <c:order val="1"/>
          <c:tx>
            <c:strRef>
              <c:strCache>
                <c:ptCount val="1"/>
                <c:pt idx="0">
                  <c:v>Other Substrates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32.37267846381417</c:v>
                </c:pt>
                <c:pt idx="1">
                  <c:v>30.28816627170942</c:v>
                </c:pt>
                <c:pt idx="2">
                  <c:v>25.784228987834055</c:v>
                </c:pt>
              </c:numCache>
            </c:numRef>
          </c:val>
        </c:ser>
        <c:ser>
          <c:idx val="2"/>
          <c:order val="2"/>
          <c:tx>
            <c:strRef>
              <c:strCache>
                <c:ptCount val="1"/>
                <c:pt idx="0">
                  <c:v>Composite Materials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21.579384210814663</c:v>
                </c:pt>
                <c:pt idx="1">
                  <c:v>22.310547362319618</c:v>
                </c:pt>
                <c:pt idx="2">
                  <c:v>23.89558205250857</c:v>
                </c:pt>
              </c:numCache>
            </c:numRef>
          </c:val>
        </c:ser>
        <c:ser>
          <c:idx val="3"/>
          <c:order val="3"/>
          <c:tx>
            <c:strRef>
              <c:strCache>
                <c:ptCount val="1"/>
                <c:pt idx="0">
                  <c:v>Wood</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16.8363556675615</c:v>
                </c:pt>
                <c:pt idx="1">
                  <c:v>16.58479865984046</c:v>
                </c:pt>
                <c:pt idx="2">
                  <c:v>16.054908091087476</c:v>
                </c:pt>
              </c:numCache>
            </c:numRef>
          </c:val>
        </c:ser>
        <c:ser>
          <c:idx val="4"/>
          <c:order val="4"/>
          <c:tx>
            <c:strRef>
              <c:strCache>
                <c:ptCount val="1"/>
                <c:pt idx="0">
                  <c:v>Metal</c:v>
                </c:pt>
              </c:strCache>
            </c:strRef>
          </c:tx>
          <c:spPr>
            <a:solidFill>
              <a:srgbClr val="A35313"/>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5.8570371993644885</c:v>
                </c:pt>
                <c:pt idx="1">
                  <c:v>5.290511921577222</c:v>
                </c:pt>
                <c:pt idx="2">
                  <c:v>4.054358526167362</c:v>
                </c:pt>
              </c:numCache>
            </c:numRef>
          </c:val>
        </c:ser>
        <c:ser>
          <c:idx val="5"/>
          <c:order val="5"/>
          <c:tx>
            <c:strRef>
              <c:strCache>
                <c:ptCount val="1"/>
                <c:pt idx="0">
                  <c:v>Concrete and Cementitious Surfaces</c:v>
                </c:pt>
              </c:strCache>
            </c:strRef>
          </c:tx>
          <c:spPr>
            <a:solidFill>
              <a:srgbClr val="808080"/>
            </a:solidFill>
            <a:ln>
              <a:noFill/>
            </a:ln>
          </c:spPr>
          <c:dLbls>
            <c:dLbl>
              <c:idx val="0"/>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3.957924724702789</c:v>
                </c:pt>
                <c:pt idx="1">
                  <c:v>3.7434718537074354</c:v>
                </c:pt>
                <c:pt idx="2">
                  <c:v>3.2792698077334563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Direct Sales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20.67970061033703</c:v>
                </c:pt>
                <c:pt idx="1">
                  <c:v>24.231750030548422</c:v>
                </c:pt>
                <c:pt idx="2">
                  <c:v>17.04281787197535</c:v>
                </c:pt>
              </c:numCache>
            </c:numRef>
          </c:val>
        </c:ser>
        <c:ser>
          <c:idx val="1"/>
          <c:order val="1"/>
          <c:tx>
            <c:strRef>
              <c:strCache>
                <c:ptCount val="1"/>
                <c:pt idx="0">
                  <c:v>Distributors and Wholesalers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19.230302010103443</c:v>
                </c:pt>
                <c:pt idx="1">
                  <c:v>16.884769071065335</c:v>
                </c:pt>
                <c:pt idx="2">
                  <c:v>18.170071489556566</c:v>
                </c:pt>
              </c:numCache>
            </c:numRef>
          </c:val>
        </c:ser>
        <c:ser>
          <c:idx val="2"/>
          <c:order val="2"/>
          <c:tx>
            <c:strRef>
              <c:strCache>
                <c:ptCount val="1"/>
                <c:pt idx="0">
                  <c:v>Retail and Hardware Stores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11.473537889660365</c:v>
                </c:pt>
                <c:pt idx="1">
                  <c:v>11.563747988657685</c:v>
                </c:pt>
                <c:pt idx="2">
                  <c:v>11.662328741615529</c:v>
                </c:pt>
              </c:numCache>
            </c:numRef>
          </c:val>
        </c:ser>
        <c:ser>
          <c:idx val="3"/>
          <c:order val="3"/>
          <c:tx>
            <c:strRef>
              <c:strCache>
                <c:ptCount val="1"/>
                <c:pt idx="0">
                  <c:v>Online Sales</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27.293015571663837</c:v>
                </c:pt>
                <c:pt idx="1">
                  <c:v>23.71933595155192</c:v>
                </c:pt>
                <c:pt idx="2">
                  <c:v>23.026175136310158</c:v>
                </c:pt>
              </c:numCache>
            </c:numRef>
          </c:val>
        </c:ser>
        <c:ser>
          <c:idx val="4"/>
          <c:order val="4"/>
          <c:tx>
            <c:strRef>
              <c:strCache>
                <c:ptCount val="1"/>
                <c:pt idx="0">
                  <c:v>Other Channels</c:v>
                </c:pt>
              </c:strCache>
            </c:strRef>
          </c:tx>
          <c:spPr>
            <a:solidFill>
              <a:srgbClr val="A35313"/>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21.323443918235313</c:v>
                </c:pt>
                <c:pt idx="1">
                  <c:v>23.600396958176642</c:v>
                </c:pt>
                <c:pt idx="2">
                  <c:v>30.098606760542403</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2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Direct Sales</c:v>
                </c:pt>
              </c:strCache>
            </c:strRef>
          </c:tx>
          <c:spPr>
            <a:solidFill>
              <a:srgbClr val="3D85C6"/>
            </a:solidFill>
          </c:spPr>
          <c:invertIfNegative val="0"/>
          <c:xVal>
            <c:numRef>
              <c:numCache>
                <c:formatCode>General</c:formatCode>
                <c:ptCount val="1"/>
                <c:pt idx="0">
                  <c:v>167.20561633353154</c:v>
                </c:pt>
              </c:numCache>
            </c:numRef>
          </c:xVal>
          <c:yVal>
            <c:numRef>
              <c:numCache>
                <c:formatCode>General</c:formatCode>
                <c:ptCount val="1"/>
                <c:pt idx="0">
                  <c:v>74.95422797307356</c:v>
                </c:pt>
              </c:numCache>
            </c:numRef>
          </c:yVal>
          <c:bubbleSize>
            <c:numRef>
              <c:numCache>
                <c:formatCode>General</c:formatCode>
                <c:ptCount val="1"/>
                <c:pt idx="0">
                  <c:v>1280.507</c:v>
                </c:pt>
              </c:numCache>
            </c:numRef>
          </c:bubbleSize>
          <c:bubble3D val="0"/>
        </c:ser>
        <c:ser>
          <c:idx val="1"/>
          <c:order val="1"/>
          <c:tx>
            <c:strRef>
              <c:strCache>
                <c:ptCount val="1"/>
                <c:pt idx="0">
                  <c:v>Distributors and Wholesalers</c:v>
                </c:pt>
              </c:strCache>
            </c:strRef>
          </c:tx>
          <c:spPr>
            <a:solidFill>
              <a:srgbClr val="9E7E0A"/>
            </a:solidFill>
          </c:spPr>
          <c:invertIfNegative val="0"/>
          <c:xVal>
            <c:numRef>
              <c:numCache>
                <c:formatCode>General</c:formatCode>
                <c:ptCount val="1"/>
                <c:pt idx="0">
                  <c:v>143.48428793723485</c:v>
                </c:pt>
              </c:numCache>
            </c:numRef>
          </c:xVal>
          <c:yVal>
            <c:numRef>
              <c:numCache>
                <c:formatCode>General</c:formatCode>
                <c:ptCount val="1"/>
                <c:pt idx="0">
                  <c:v>75.62444674517623</c:v>
                </c:pt>
              </c:numCache>
            </c:numRef>
          </c:yVal>
          <c:bubbleSize>
            <c:numRef>
              <c:numCache>
                <c:formatCode>General</c:formatCode>
                <c:ptCount val="1"/>
                <c:pt idx="0">
                  <c:v>1175.997</c:v>
                </c:pt>
              </c:numCache>
            </c:numRef>
          </c:bubbleSize>
          <c:bubble3D val="0"/>
        </c:ser>
        <c:ser>
          <c:idx val="2"/>
          <c:order val="2"/>
          <c:tx>
            <c:strRef>
              <c:strCache>
                <c:ptCount val="1"/>
                <c:pt idx="0">
                  <c:v>Retail and Hardware Stores</c:v>
                </c:pt>
              </c:strCache>
            </c:strRef>
          </c:tx>
          <c:spPr>
            <a:solidFill>
              <a:srgbClr val="008189"/>
            </a:solidFill>
          </c:spPr>
          <c:invertIfNegative val="0"/>
          <c:xVal>
            <c:numRef>
              <c:numCache>
                <c:formatCode>General</c:formatCode>
                <c:ptCount val="1"/>
                <c:pt idx="0">
                  <c:v>21.875351852418373</c:v>
                </c:pt>
              </c:numCache>
            </c:numRef>
          </c:xVal>
          <c:yVal>
            <c:numRef>
              <c:numCache>
                <c:formatCode>General</c:formatCode>
                <c:ptCount val="1"/>
                <c:pt idx="0">
                  <c:v>80.03403682751376</c:v>
                </c:pt>
              </c:numCache>
            </c:numRef>
          </c:yVal>
          <c:bubbleSize>
            <c:numRef>
              <c:numCache>
                <c:formatCode>General</c:formatCode>
                <c:ptCount val="1"/>
                <c:pt idx="0">
                  <c:v>757.508</c:v>
                </c:pt>
              </c:numCache>
            </c:numRef>
          </c:bubbleSize>
          <c:bubble3D val="0"/>
        </c:ser>
        <c:ser>
          <c:idx val="3"/>
          <c:order val="3"/>
          <c:tx>
            <c:strRef>
              <c:strCache>
                <c:ptCount val="1"/>
                <c:pt idx="0">
                  <c:v>Online Sales</c:v>
                </c:pt>
              </c:strCache>
            </c:strRef>
          </c:tx>
          <c:spPr>
            <a:solidFill>
              <a:srgbClr val="40315E"/>
            </a:solidFill>
          </c:spPr>
          <c:invertIfNegative val="0"/>
          <c:xVal>
            <c:numRef>
              <c:numCache>
                <c:formatCode>General</c:formatCode>
                <c:ptCount val="1"/>
                <c:pt idx="0">
                  <c:v>67.7553349080174</c:v>
                </c:pt>
              </c:numCache>
            </c:numRef>
          </c:xVal>
          <c:yVal>
            <c:numRef>
              <c:numCache>
                <c:formatCode>General</c:formatCode>
                <c:ptCount val="1"/>
                <c:pt idx="0">
                  <c:v>136.67493648211826</c:v>
                </c:pt>
              </c:numCache>
            </c:numRef>
          </c:yVal>
          <c:bubbleSize>
            <c:numRef>
              <c:numCache>
                <c:formatCode>General</c:formatCode>
                <c:ptCount val="1"/>
                <c:pt idx="0">
                  <c:v>1564.647</c:v>
                </c:pt>
              </c:numCache>
            </c:numRef>
          </c:bubbleSize>
          <c:bubble3D val="0"/>
        </c:ser>
        <c:ser>
          <c:idx val="4"/>
          <c:order val="4"/>
          <c:tx>
            <c:strRef>
              <c:strCache>
                <c:ptCount val="1"/>
                <c:pt idx="0">
                  <c:v>Other Channels</c:v>
                </c:pt>
              </c:strCache>
            </c:strRef>
          </c:tx>
          <c:spPr>
            <a:solidFill>
              <a:srgbClr val="A35313"/>
            </a:solidFill>
          </c:spPr>
          <c:invertIfNegative val="0"/>
          <c:xVal>
            <c:numRef>
              <c:numCache>
                <c:formatCode>General</c:formatCode>
                <c:ptCount val="1"/>
                <c:pt idx="0">
                  <c:v>102.44306766054554</c:v>
                </c:pt>
              </c:numCache>
            </c:numRef>
          </c:xVal>
          <c:yVal>
            <c:numRef>
              <c:numCache>
                <c:formatCode>General</c:formatCode>
                <c:ptCount val="1"/>
                <c:pt idx="0">
                  <c:v>132.7123519721181</c:v>
                </c:pt>
              </c:numCache>
            </c:numRef>
          </c:yVal>
          <c:bubbleSize>
            <c:numRef>
              <c:numCache>
                <c:formatCode>General</c:formatCode>
                <c:ptCount val="1"/>
                <c:pt idx="0">
                  <c:v>1750.142</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210.0"/>
          <c:min val="-2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75.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647.08</c:v>
                </c:pt>
                <c:pt idx="2">
                  <c:v>744.945</c:v>
                </c:pt>
                <c:pt idx="3">
                  <c:v>855.568</c:v>
                </c:pt>
                <c:pt idx="4">
                  <c:v>980.508</c:v>
                </c:pt>
                <c:pt idx="5">
                  <c:v>1121.505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647.08</c:v>
                </c:pt>
                <c:pt idx="1">
                  <c:v>97.86500000000001</c:v>
                </c:pt>
                <c:pt idx="2">
                  <c:v>110.62299999999993</c:v>
                </c:pt>
                <c:pt idx="3">
                  <c:v>124.94000000000005</c:v>
                </c:pt>
                <c:pt idx="4">
                  <c:v>140.99700000000007</c:v>
                </c:pt>
                <c:pt idx="5">
                  <c:v>159.00199999999995</c:v>
                </c:pt>
                <c:pt idx="6">
                  <c:v>1280.507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652.866</c:v>
                </c:pt>
                <c:pt idx="2">
                  <c:v>735.486</c:v>
                </c:pt>
                <c:pt idx="3">
                  <c:v>827.915</c:v>
                </c:pt>
                <c:pt idx="4">
                  <c:v>931.282</c:v>
                </c:pt>
                <c:pt idx="5">
                  <c:v>1046.843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652.866</c:v>
                </c:pt>
                <c:pt idx="1">
                  <c:v>82.62</c:v>
                </c:pt>
                <c:pt idx="2">
                  <c:v>92.42899999999997</c:v>
                </c:pt>
                <c:pt idx="3">
                  <c:v>103.36700000000008</c:v>
                </c:pt>
                <c:pt idx="4">
                  <c:v>115.56100000000004</c:v>
                </c:pt>
                <c:pt idx="5">
                  <c:v>129.154</c:v>
                </c:pt>
                <c:pt idx="6">
                  <c:v>1175.997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690.934</c:v>
                </c:pt>
                <c:pt idx="2">
                  <c:v>710.137</c:v>
                </c:pt>
                <c:pt idx="3">
                  <c:v>727.045</c:v>
                </c:pt>
                <c:pt idx="4">
                  <c:v>741.056</c:v>
                </c:pt>
                <c:pt idx="5">
                  <c:v>751.477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690.934</c:v>
                </c:pt>
                <c:pt idx="1">
                  <c:v>19.202999999999975</c:v>
                </c:pt>
                <c:pt idx="2">
                  <c:v>16.908000000000015</c:v>
                </c:pt>
                <c:pt idx="3">
                  <c:v>14.011000000000081</c:v>
                </c:pt>
                <c:pt idx="4">
                  <c:v>10.420999999999935</c:v>
                </c:pt>
                <c:pt idx="5">
                  <c:v>6.031000000000063</c:v>
                </c:pt>
                <c:pt idx="6">
                  <c:v>757.508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1179.915</c:v>
                </c:pt>
                <c:pt idx="2">
                  <c:v>1250.766</c:v>
                </c:pt>
                <c:pt idx="3">
                  <c:v>1324.722</c:v>
                </c:pt>
                <c:pt idx="4">
                  <c:v>1401.744</c:v>
                </c:pt>
                <c:pt idx="5">
                  <c:v>1481.759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1179.915</c:v>
                </c:pt>
                <c:pt idx="1">
                  <c:v>70.85100000000011</c:v>
                </c:pt>
                <c:pt idx="2">
                  <c:v>73.9559999999999</c:v>
                </c:pt>
                <c:pt idx="3">
                  <c:v>77.02199999999993</c:v>
                </c:pt>
                <c:pt idx="4">
                  <c:v>80.0150000000001</c:v>
                </c:pt>
                <c:pt idx="5">
                  <c:v>82.88799999999992</c:v>
                </c:pt>
                <c:pt idx="6">
                  <c:v>1564.647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1145.706</c:v>
                </c:pt>
                <c:pt idx="2">
                  <c:v>1246.774</c:v>
                </c:pt>
                <c:pt idx="3">
                  <c:v>1356.891</c:v>
                </c:pt>
                <c:pt idx="4">
                  <c:v>1476.879</c:v>
                </c:pt>
                <c:pt idx="5">
                  <c:v>1607.635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1145.706</c:v>
                </c:pt>
                <c:pt idx="1">
                  <c:v>101.06799999999998</c:v>
                </c:pt>
                <c:pt idx="2">
                  <c:v>110.11700000000019</c:v>
                </c:pt>
                <c:pt idx="3">
                  <c:v>119.98799999999983</c:v>
                </c:pt>
                <c:pt idx="4">
                  <c:v>130.75600000000009</c:v>
                </c:pt>
                <c:pt idx="5">
                  <c:v>142.50700000000006</c:v>
                </c:pt>
                <c:pt idx="6">
                  <c:v>1750.142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Other Channels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26.41494548841286</c:v>
                </c:pt>
                <c:pt idx="1">
                  <c:v>26.542470394423628</c:v>
                </c:pt>
                <c:pt idx="2">
                  <c:v>26.806484069586432</c:v>
                </c:pt>
              </c:numCache>
            </c:numRef>
          </c:val>
        </c:ser>
        <c:ser>
          <c:idx val="1"/>
          <c:order val="1"/>
          <c:tx>
            <c:strRef>
              <c:strCache>
                <c:ptCount val="1"/>
                <c:pt idx="0">
                  <c:v>Online Sales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28.934476524406943</c:v>
                </c:pt>
                <c:pt idx="1">
                  <c:v>27.33498729642365</c:v>
                </c:pt>
                <c:pt idx="2">
                  <c:v>23.965303889642215</c:v>
                </c:pt>
              </c:numCache>
            </c:numRef>
          </c:val>
        </c:ser>
        <c:ser>
          <c:idx val="2"/>
          <c:order val="2"/>
          <c:tx>
            <c:strRef>
              <c:strCache>
                <c:ptCount val="1"/>
                <c:pt idx="0">
                  <c:v>Direct Sales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12.795622637374679</c:v>
                </c:pt>
                <c:pt idx="1">
                  <c:v>14.990845594614713</c:v>
                </c:pt>
                <c:pt idx="2">
                  <c:v>19.613203098087993</c:v>
                </c:pt>
              </c:numCache>
            </c:numRef>
          </c:val>
        </c:ser>
        <c:ser>
          <c:idx val="3"/>
          <c:order val="3"/>
          <c:tx>
            <c:strRef>
              <c:strCache>
                <c:ptCount val="1"/>
                <c:pt idx="0">
                  <c:v>Distributors and Wholesalers</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13.74576781898866</c:v>
                </c:pt>
                <c:pt idx="1">
                  <c:v>15.124889349035248</c:v>
                </c:pt>
                <c:pt idx="2">
                  <c:v>18.012449759151792</c:v>
                </c:pt>
              </c:numCache>
            </c:numRef>
          </c:val>
        </c:ser>
        <c:ser>
          <c:idx val="4"/>
          <c:order val="4"/>
          <c:tx>
            <c:strRef>
              <c:strCache>
                <c:ptCount val="1"/>
                <c:pt idx="0">
                  <c:v>Retail and Hardware Stores</c:v>
                </c:pt>
              </c:strCache>
            </c:strRef>
          </c:tx>
          <c:spPr>
            <a:solidFill>
              <a:srgbClr val="A35313"/>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18.109187530816854</c:v>
                </c:pt>
                <c:pt idx="1">
                  <c:v>16.006807365502752</c:v>
                </c:pt>
                <c:pt idx="2">
                  <c:v>11.602559183531556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Volume (Units)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delete val="1"/>
              <c:numFmt formatCode="&quot;&quot;" sourceLinked="0"/>
            </c:dLbl>
            <c:dLbl>
              <c:idx val="2"/>
              <c:delete val="1"/>
              <c:numFmt formatCode="&quot;&quot;" sourceLinked="0"/>
            </c:dLbl>
            <c:dLbl>
              <c:idx val="3"/>
              <c:delete val="1"/>
              <c:numFmt formatCode="&quot;&quot;" sourceLinked="0"/>
            </c:dLbl>
            <c:dLbl>
              <c:idx val="4"/>
              <c:delete val="1"/>
              <c:numFmt formatCode="&quot;&quot;" sourceLinked="0"/>
            </c:dLbl>
            <c:dLbl>
              <c:idx val="5"/>
              <c:delete val="1"/>
              <c:numFmt formatCode="&quot;&quot;" sourceLinked="0"/>
            </c:dLbl>
            <c:dLbl>
              <c:idx val="6"/>
              <c:delete val="1"/>
              <c:numFmt formatCode="&quot;&quot;" sourceLinked="0"/>
            </c:dLbl>
            <c:dLbl>
              <c:idx val="7"/>
              <c:delete val="1"/>
              <c:numFmt formatCode="&quot;&quot;" sourceLinked="0"/>
            </c:dLbl>
            <c:dLbl>
              <c:idx val="8"/>
              <c:delete val="1"/>
              <c:numFmt formatCode="&quot;&quot;" sourceLinked="0"/>
            </c:dLbl>
            <c:dLbl>
              <c:idx val="9"/>
              <c:delete val="1"/>
              <c:numFmt formatCode="&quot;&quot;" sourceLinked="0"/>
            </c:dLbl>
            <c:dLbl>
              <c:idx val="10"/>
              <c:delete val="1"/>
              <c:numFmt formatCode="&quot;&quot;" sourceLinked="0"/>
            </c:dLbl>
            <c:dLbl>
              <c:idx val="11"/>
              <c:delete val="1"/>
              <c:numFmt formatCode="&quot;&quot;" sourceLinked="0"/>
            </c:dLbl>
            <c:dLbl>
              <c:idx val="12"/>
              <c:delete val="1"/>
              <c:numFmt formatCode="&quot;&quot;" sourceLinked="0"/>
            </c:dLbl>
            <c:dLbl>
              <c:idx val="13"/>
              <c:delete val="1"/>
              <c:numFmt formatCode="&quot;&quot;" sourceLinked="0"/>
            </c:dLbl>
            <c:dLbl>
              <c:idx val="14"/>
              <c:delete val="1"/>
              <c:numFmt formatCode="&quot;&quot;" sourceLinked="0"/>
            </c:dLbl>
            <c:dLbl>
              <c:idx val="1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402794.6290000001</c:v>
                </c:pt>
                <c:pt idx="1">
                  <c:v>409355.501</c:v>
                </c:pt>
                <c:pt idx="2">
                  <c:v>416023.24</c:v>
                </c:pt>
                <c:pt idx="3">
                  <c:v>422799.586</c:v>
                </c:pt>
                <c:pt idx="4">
                  <c:v>429686.30700000003</c:v>
                </c:pt>
                <c:pt idx="5">
                  <c:v>436685.202</c:v>
                </c:pt>
                <c:pt idx="6">
                  <c:v>447244.20900000003</c:v>
                </c:pt>
                <c:pt idx="7">
                  <c:v>458058.53099999996</c:v>
                </c:pt>
                <c:pt idx="8">
                  <c:v>469134.343</c:v>
                </c:pt>
                <c:pt idx="9">
                  <c:v>480477.966</c:v>
                </c:pt>
                <c:pt idx="10">
                  <c:v>492095.87799999997</c:v>
                </c:pt>
                <c:pt idx="11">
                  <c:v>503994.71</c:v>
                </c:pt>
                <c:pt idx="12">
                  <c:v>516181.25399999996</c:v>
                </c:pt>
                <c:pt idx="13">
                  <c:v>528662.467</c:v>
                </c:pt>
                <c:pt idx="14">
                  <c:v>541445.475</c:v>
                </c:pt>
                <c:pt idx="15">
                  <c:v>554537.576</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CAGR</c:v>
                </c:pt>
              </c:strCache>
            </c:strRef>
          </c:tx>
          <c:spPr>
            <a:solidFill>
              <a:srgbClr val="3D85C6"/>
            </a:solidFill>
            <a:ln>
              <a:noFill/>
            </a:ln>
          </c:spPr>
          <c:dPt>
            <c:idx val="0"/>
            <c:spPr>
              <a:solidFill>
                <a:srgbClr val="008189"/>
              </a:solidFill>
            </c:spPr>
          </c:dPt>
          <c:dPt>
            <c:idx val="1"/>
            <c:spPr>
              <a:solidFill>
                <a:srgbClr val="9E7E0A"/>
              </a:solidFill>
            </c:spPr>
          </c:dPt>
          <c:dPt>
            <c:idx val="2"/>
            <c:spPr>
              <a:solidFill>
                <a:srgbClr val="3D85C6"/>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2E2E2E"/>
                    </a:solidFill>
                    <a:latin typeface="Calibri"/>
                  </a:defRPr>
                </a:pPr>
              </a:p>
            </c:txPr>
            <c:dLblPos val="outEnd"/>
            <c:showLegendKey val="0"/>
            <c:showVal val="1"/>
            <c:showCatName val="0"/>
            <c:showSerName val="0"/>
            <c:showPercent val="0"/>
            <c:showBubbleSize val="0"/>
            <c:showLeaderLines val="1"/>
          </c:dLbls>
          <c:cat>
            <c:strRef>
              <c:strCache>
                <c:ptCount val="3"/>
                <c:pt idx="0">
                  <c:v>Global</c:v>
                </c:pt>
                <c:pt idx="1">
                  <c:v>North America</c:v>
                </c:pt>
                <c:pt idx="2">
                  <c:v>U.S.</c:v>
                </c:pt>
              </c:strCache>
            </c:strRef>
          </c:cat>
          <c:val>
            <c:numRef>
              <c:numCache>
                <c:formatCode>General</c:formatCode>
                <c:ptCount val="3"/>
                <c:pt idx="0">
                  <c:v>0.045531072559717556</c:v>
                </c:pt>
                <c:pt idx="1">
                  <c:v>0.027481081117567197</c:v>
                </c:pt>
                <c:pt idx="2">
                  <c:v>0.02417990494570499</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614669479556187"/>
          <c:min val="0.0"/>
        </c:scaling>
        <c:delete/>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0.0</c:v>
                </c:pt>
                <c:pt idx="1">
                  <c:v>436685.202</c:v>
                </c:pt>
                <c:pt idx="2">
                  <c:v>447244.20900000003</c:v>
                </c:pt>
                <c:pt idx="3">
                  <c:v>458058.53099999996</c:v>
                </c:pt>
                <c:pt idx="4">
                  <c:v>469134.343</c:v>
                </c:pt>
                <c:pt idx="5">
                  <c:v>480477.966</c:v>
                </c:pt>
                <c:pt idx="6">
                  <c:v>492095.87799999997</c:v>
                </c:pt>
                <c:pt idx="7">
                  <c:v>503994.71</c:v>
                </c:pt>
                <c:pt idx="8">
                  <c:v>516181.25399999996</c:v>
                </c:pt>
                <c:pt idx="9">
                  <c:v>528662.467</c:v>
                </c:pt>
                <c:pt idx="10">
                  <c:v>541445.475</c:v>
                </c:pt>
                <c:pt idx="11">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08189"/>
              </a:solidFill>
            </c:spPr>
          </c:dPt>
          <c:dPt>
            <c:idx val="10"/>
            <c:spPr>
              <a:solidFill>
                <a:srgbClr val="008189"/>
              </a:solidFill>
            </c:spPr>
          </c:dPt>
          <c:dPt>
            <c:idx val="11"/>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436685.202</c:v>
                </c:pt>
                <c:pt idx="1">
                  <c:v>10559.007000000041</c:v>
                </c:pt>
                <c:pt idx="2">
                  <c:v>10814.321999999927</c:v>
                </c:pt>
                <c:pt idx="3">
                  <c:v>11075.812000000034</c:v>
                </c:pt>
                <c:pt idx="4">
                  <c:v>11343.623000000021</c:v>
                </c:pt>
                <c:pt idx="5">
                  <c:v>11617.911999999953</c:v>
                </c:pt>
                <c:pt idx="6">
                  <c:v>11898.832000000053</c:v>
                </c:pt>
                <c:pt idx="7">
                  <c:v>12186.543999999936</c:v>
                </c:pt>
                <c:pt idx="8">
                  <c:v>12481.212999999989</c:v>
                </c:pt>
                <c:pt idx="9">
                  <c:v>12783.00800000003</c:v>
                </c:pt>
                <c:pt idx="10">
                  <c:v>13092.101000000024</c:v>
                </c:pt>
                <c:pt idx="11">
                  <c:v>554537.576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U.S.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58.68262471385053</c:v>
                </c:pt>
                <c:pt idx="1">
                  <c:v>16.42577364311443</c:v>
                </c:pt>
              </c:numCache>
            </c:numRef>
          </c:val>
        </c:ser>
        <c:ser>
          <c:idx val="1"/>
          <c:order val="1"/>
          <c:tx>
            <c:strRef>
              <c:strCache>
                <c:ptCount val="1"/>
                <c:pt idx="0">
                  <c:v>Rest of the market</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41.31737528614947</c:v>
                </c:pt>
                <c:pt idx="1">
                  <c:v>83.57422635688557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delete val="1"/>
              <c:numFmt formatCode="&quot;&quot;" sourceLinked="0"/>
            </c:dLbl>
            <c:dLbl>
              <c:idx val="2"/>
              <c:delete val="1"/>
              <c:numFmt formatCode="&quot;&quot;" sourceLinked="0"/>
            </c:dLbl>
            <c:dLbl>
              <c:idx val="3"/>
              <c:delete val="1"/>
              <c:numFmt formatCode="&quot;&quot;" sourceLinked="0"/>
            </c:dLbl>
            <c:dLbl>
              <c:idx val="4"/>
              <c:delete val="1"/>
              <c:numFmt formatCode="&quot;&quot;" sourceLinked="0"/>
            </c:dLbl>
            <c:dLbl>
              <c:idx val="5"/>
              <c:delete val="1"/>
              <c:numFmt formatCode="&quot;&quot;" sourceLinked="0"/>
            </c:dLbl>
            <c:dLbl>
              <c:idx val="6"/>
              <c:delete val="1"/>
              <c:numFmt formatCode="&quot;&quot;" sourceLinked="0"/>
            </c:dLbl>
            <c:dLbl>
              <c:idx val="7"/>
              <c:delete val="1"/>
              <c:numFmt formatCode="&quot;&quot;" sourceLinked="0"/>
            </c:dLbl>
            <c:dLbl>
              <c:idx val="8"/>
              <c:delete val="1"/>
              <c:numFmt formatCode="&quot;&quot;" sourceLinked="0"/>
            </c:dLbl>
            <c:dLbl>
              <c:idx val="9"/>
              <c:delete val="1"/>
              <c:numFmt formatCode="&quot;&quot;" sourceLinked="0"/>
            </c:dLbl>
            <c:dLbl>
              <c:idx val="10"/>
              <c:delete val="1"/>
              <c:numFmt formatCode="&quot;&quot;" sourceLinked="0"/>
            </c:dLbl>
            <c:dLbl>
              <c:idx val="11"/>
              <c:delete val="1"/>
              <c:numFmt formatCode="&quot;&quot;" sourceLinked="0"/>
            </c:dLbl>
            <c:dLbl>
              <c:idx val="12"/>
              <c:delete val="1"/>
              <c:numFmt formatCode="&quot;&quot;" sourceLinked="0"/>
            </c:dLbl>
            <c:dLbl>
              <c:idx val="13"/>
              <c:delete val="1"/>
              <c:numFmt formatCode="&quot;&quot;" sourceLinked="0"/>
            </c:dLbl>
            <c:dLbl>
              <c:idx val="14"/>
              <c:delete val="1"/>
              <c:numFmt formatCode="&quot;&quot;" sourceLinked="0"/>
            </c:dLbl>
            <c:dLbl>
              <c:idx val="1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2145.4759999999997</c:v>
                </c:pt>
                <c:pt idx="1">
                  <c:v>2210.3940000000002</c:v>
                </c:pt>
                <c:pt idx="2">
                  <c:v>2277.277</c:v>
                </c:pt>
                <c:pt idx="3">
                  <c:v>2346.184</c:v>
                </c:pt>
                <c:pt idx="4">
                  <c:v>2417.175</c:v>
                </c:pt>
                <c:pt idx="5">
                  <c:v>2490.315</c:v>
                </c:pt>
                <c:pt idx="6">
                  <c:v>2585.59</c:v>
                </c:pt>
                <c:pt idx="7">
                  <c:v>2684.511</c:v>
                </c:pt>
                <c:pt idx="8">
                  <c:v>2787.216</c:v>
                </c:pt>
                <c:pt idx="9">
                  <c:v>2893.8500000000004</c:v>
                </c:pt>
                <c:pt idx="10">
                  <c:v>3004.5640000000003</c:v>
                </c:pt>
                <c:pt idx="11">
                  <c:v>3119.514</c:v>
                </c:pt>
                <c:pt idx="12">
                  <c:v>3238.861</c:v>
                </c:pt>
                <c:pt idx="13">
                  <c:v>3362.7739999999994</c:v>
                </c:pt>
                <c:pt idx="14">
                  <c:v>3491.429</c:v>
                </c:pt>
                <c:pt idx="15">
                  <c:v>3625.0049999999997</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CAGR</c:v>
                </c:pt>
              </c:strCache>
            </c:strRef>
          </c:tx>
          <c:spPr>
            <a:solidFill>
              <a:srgbClr val="3D85C6"/>
            </a:solidFill>
            <a:ln>
              <a:noFill/>
            </a:ln>
          </c:spPr>
          <c:dPt>
            <c:idx val="0"/>
            <c:spPr>
              <a:solidFill>
                <a:srgbClr val="008189"/>
              </a:solidFill>
            </c:spPr>
          </c:dPt>
          <c:dPt>
            <c:idx val="1"/>
            <c:spPr>
              <a:solidFill>
                <a:srgbClr val="9E7E0A"/>
              </a:solidFill>
            </c:spPr>
          </c:dPt>
          <c:dPt>
            <c:idx val="2"/>
            <c:spPr>
              <a:solidFill>
                <a:srgbClr val="3D85C6"/>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2E2E2E"/>
                    </a:solidFill>
                    <a:latin typeface="Calibri"/>
                  </a:defRPr>
                </a:pPr>
              </a:p>
            </c:txPr>
            <c:dLblPos val="outEnd"/>
            <c:showLegendKey val="0"/>
            <c:showVal val="1"/>
            <c:showCatName val="0"/>
            <c:showSerName val="0"/>
            <c:showPercent val="0"/>
            <c:showBubbleSize val="0"/>
            <c:showLeaderLines val="1"/>
          </c:dLbls>
          <c:cat>
            <c:strRef>
              <c:strCache>
                <c:ptCount val="3"/>
                <c:pt idx="0">
                  <c:v>Global</c:v>
                </c:pt>
                <c:pt idx="1">
                  <c:v>North America</c:v>
                </c:pt>
                <c:pt idx="2">
                  <c:v>U.S.</c:v>
                </c:pt>
              </c:strCache>
            </c:strRef>
          </c:cat>
          <c:val>
            <c:numRef>
              <c:numCache>
                <c:formatCode>General</c:formatCode>
                <c:ptCount val="3"/>
                <c:pt idx="0">
                  <c:v>0.049939469101035305</c:v>
                </c:pt>
                <c:pt idx="1">
                  <c:v>0.042245811642379394</c:v>
                </c:pt>
                <c:pt idx="2">
                  <c:v>0.03825835003765121</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6741828328639766"/>
          <c:min val="0.0"/>
        </c:scaling>
        <c:delete/>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0.0</c:v>
                </c:pt>
                <c:pt idx="1">
                  <c:v>2490.315</c:v>
                </c:pt>
                <c:pt idx="2">
                  <c:v>2585.59</c:v>
                </c:pt>
                <c:pt idx="3">
                  <c:v>2684.511</c:v>
                </c:pt>
                <c:pt idx="4">
                  <c:v>2787.216</c:v>
                </c:pt>
                <c:pt idx="5">
                  <c:v>2893.8500000000004</c:v>
                </c:pt>
                <c:pt idx="6">
                  <c:v>3004.5640000000003</c:v>
                </c:pt>
                <c:pt idx="7">
                  <c:v>3119.514</c:v>
                </c:pt>
                <c:pt idx="8">
                  <c:v>3238.861</c:v>
                </c:pt>
                <c:pt idx="9">
                  <c:v>3362.7739999999994</c:v>
                </c:pt>
                <c:pt idx="10">
                  <c:v>3491.429</c:v>
                </c:pt>
                <c:pt idx="11">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08189"/>
              </a:solidFill>
            </c:spPr>
          </c:dPt>
          <c:dPt>
            <c:idx val="10"/>
            <c:spPr>
              <a:solidFill>
                <a:srgbClr val="008189"/>
              </a:solidFill>
            </c:spPr>
          </c:dPt>
          <c:dPt>
            <c:idx val="11"/>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2490.315</c:v>
                </c:pt>
                <c:pt idx="1">
                  <c:v>95.27500000000009</c:v>
                </c:pt>
                <c:pt idx="2">
                  <c:v>98.92099999999982</c:v>
                </c:pt>
                <c:pt idx="3">
                  <c:v>102.70499999999993</c:v>
                </c:pt>
                <c:pt idx="4">
                  <c:v>106.63400000000047</c:v>
                </c:pt>
                <c:pt idx="5">
                  <c:v>110.71399999999994</c:v>
                </c:pt>
                <c:pt idx="6">
                  <c:v>114.94999999999982</c:v>
                </c:pt>
                <c:pt idx="7">
                  <c:v>119.34699999999975</c:v>
                </c:pt>
                <c:pt idx="8">
                  <c:v>123.91299999999956</c:v>
                </c:pt>
                <c:pt idx="9">
                  <c:v>128.65500000000065</c:v>
                </c:pt>
                <c:pt idx="10">
                  <c:v>133.57599999999957</c:v>
                </c:pt>
                <c:pt idx="11">
                  <c:v>3625.0049999999997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U.S.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57.692909140991745</c:v>
                </c:pt>
                <c:pt idx="1">
                  <c:v>22.846928701553093</c:v>
                </c:pt>
              </c:numCache>
            </c:numRef>
          </c:val>
        </c:ser>
        <c:ser>
          <c:idx val="1"/>
          <c:order val="1"/>
          <c:tx>
            <c:strRef>
              <c:strCache>
                <c:ptCount val="1"/>
                <c:pt idx="0">
                  <c:v>Rest of the market</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42.307090859008255</c:v>
                </c:pt>
                <c:pt idx="1">
                  <c:v>77.1530712984469</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4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9EC6DE"/>
              </a:solidFill>
            </c:spPr>
          </c:dPt>
          <c:dPt>
            <c:idx val="2"/>
            <c:spPr>
              <a:solidFill>
                <a:srgbClr val="89BAD7"/>
              </a:solidFill>
            </c:spPr>
          </c:dPt>
          <c:dPt>
            <c:idx val="3"/>
            <c:spPr>
              <a:solidFill>
                <a:srgbClr val="75AED0"/>
              </a:solidFill>
            </c:spPr>
          </c:dPt>
          <c:dPt>
            <c:idx val="4"/>
            <c:spPr>
              <a:solidFill>
                <a:srgbClr val="60A2C9"/>
              </a:solidFill>
            </c:spPr>
          </c:dPt>
          <c:dPt>
            <c:idx val="5"/>
            <c:spPr>
              <a:solidFill>
                <a:srgbClr val="4B96C2"/>
              </a:solidFill>
            </c:spPr>
          </c:dPt>
          <c:dPt>
            <c:idx val="6"/>
            <c:spPr>
              <a:solidFill>
                <a:srgbClr val="378ABB"/>
              </a:solidFill>
            </c:spPr>
          </c:dPt>
          <c:dPt>
            <c:idx val="7"/>
            <c:spPr>
              <a:solidFill>
                <a:srgbClr val="227EB4"/>
              </a:solidFill>
            </c:spPr>
          </c:dPt>
          <c:dPt>
            <c:idx val="8"/>
            <c:spPr>
              <a:solidFill>
                <a:srgbClr val="0E72AE"/>
              </a:solidFill>
            </c:spPr>
          </c:dPt>
          <c:dLbls>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9"/>
                <c:pt idx="0">
                  <c:v> </c:v>
                </c:pt>
                <c:pt idx="1">
                  <c:v>Acrylic Waterproof Co…</c:v>
                </c:pt>
                <c:pt idx="2">
                  <c:v>Bituminous Waterproof…</c:v>
                </c:pt>
                <c:pt idx="3">
                  <c:v>Epoxy Waterproof Coat…</c:v>
                </c:pt>
                <c:pt idx="4">
                  <c:v>Polyurethane (PU) Wat…</c:v>
                </c:pt>
                <c:pt idx="5">
                  <c:v>Silicone Waterproof C…</c:v>
                </c:pt>
                <c:pt idx="6">
                  <c:v>Polyurea Waterproof C…</c:v>
                </c:pt>
                <c:pt idx="7">
                  <c:v>Cementitious Waterpro…</c:v>
                </c:pt>
                <c:pt idx="8">
                  <c:v>Other Polymer-Based C…</c:v>
                </c:pt>
              </c:strCache>
            </c:strRef>
          </c:cat>
          <c:val>
            <c:numRef>
              <c:numCache>
                <c:formatCode>General</c:formatCode>
                <c:ptCount val="9"/>
                <c:pt idx="1">
                  <c:v>75.703</c:v>
                </c:pt>
                <c:pt idx="2">
                  <c:v>102.874</c:v>
                </c:pt>
                <c:pt idx="3">
                  <c:v>155.479</c:v>
                </c:pt>
                <c:pt idx="4">
                  <c:v>236.906</c:v>
                </c:pt>
                <c:pt idx="5">
                  <c:v>330.279</c:v>
                </c:pt>
                <c:pt idx="6">
                  <c:v>457.324</c:v>
                </c:pt>
                <c:pt idx="7">
                  <c:v>474.729</c:v>
                </c:pt>
                <c:pt idx="8">
                  <c:v>657.021</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catAx>
      <c:valAx>
        <c:axId val="-2113994440"/>
        <c:scaling>
          <c:max val="880.40814"/>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FFFFFF"/>
              </a:solidFill>
            </c:spPr>
          </c:dPt>
          <c:dPt>
            <c:idx val="4"/>
            <c:spPr>
              <a:solidFill>
                <a:srgbClr val="FFFFFF"/>
              </a:solidFill>
            </c:spPr>
          </c:dPt>
          <c:dPt>
            <c:idx val="5"/>
            <c:spPr>
              <a:solidFill>
                <a:srgbClr val="FFFFFF"/>
              </a:solidFill>
            </c:spPr>
          </c:dPt>
          <c:dPt>
            <c:idx val="6"/>
            <c:spPr>
              <a:solidFill>
                <a:srgbClr val="FFFFFF"/>
              </a:solidFill>
            </c:spPr>
          </c:dPt>
          <c:dPt>
            <c:idx val="7"/>
            <c:spPr>
              <a:solidFill>
                <a:srgbClr val="9DABB6"/>
              </a:solidFill>
            </c:spPr>
          </c:dPt>
          <c:dPt>
            <c:idx val="8"/>
            <c:spPr>
              <a:solidFill>
                <a:srgbClr val="0B2E4A"/>
              </a:solidFill>
            </c:spPr>
          </c:dPt>
          <c:dLbls>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9"/>
                <c:pt idx="0">
                  <c:v> </c:v>
                </c:pt>
                <c:pt idx="1">
                  <c:v>  </c:v>
                </c:pt>
                <c:pt idx="2">
                  <c:v>   </c:v>
                </c:pt>
                <c:pt idx="3">
                  <c:v>    </c:v>
                </c:pt>
                <c:pt idx="4">
                  <c:v>     </c:v>
                </c:pt>
                <c:pt idx="5">
                  <c:v>      </c:v>
                </c:pt>
                <c:pt idx="6">
                  <c:v>       </c:v>
                </c:pt>
                <c:pt idx="7">
                  <c:v>Single-Component Coat…</c:v>
                </c:pt>
                <c:pt idx="8">
                  <c:v>Two-Component Coatings</c:v>
                </c:pt>
              </c:strCache>
            </c:strRef>
          </c:cat>
          <c:val>
            <c:numRef>
              <c:numCache>
                <c:formatCode>General</c:formatCode>
                <c:ptCount val="9"/>
                <c:pt idx="7">
                  <c:v>678.397</c:v>
                </c:pt>
                <c:pt idx="8">
                  <c:v>1811.918</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catAx>
      <c:valAx>
        <c:axId val="-2113994440"/>
        <c:scaling>
          <c:max val="2427.97012"/>
          <c:min val="0.0"/>
        </c:scaling>
        <c:delete val="0"/>
        <c:axPos val="b"/>
        <c:numFmt formatCode="#,##0" sourceLinked="0"/>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FFFFFF"/>
              </a:solidFill>
            </c:spPr>
          </c:dPt>
          <c:dPt>
            <c:idx val="4"/>
            <c:spPr>
              <a:solidFill>
                <a:srgbClr val="FFFFFF"/>
              </a:solidFill>
            </c:spPr>
          </c:dPt>
          <c:dPt>
            <c:idx val="5"/>
            <c:spPr>
              <a:solidFill>
                <a:srgbClr val="C5B1E6"/>
              </a:solidFill>
            </c:spPr>
          </c:dPt>
          <c:dPt>
            <c:idx val="6"/>
            <c:spPr>
              <a:solidFill>
                <a:srgbClr val="A88ADA"/>
              </a:solidFill>
            </c:spPr>
          </c:dPt>
          <c:dPt>
            <c:idx val="7"/>
            <c:spPr>
              <a:solidFill>
                <a:srgbClr val="8B63CE"/>
              </a:solidFill>
            </c:spPr>
          </c:dPt>
          <c:dPt>
            <c:idx val="8"/>
            <c:spPr>
              <a:solidFill>
                <a:srgbClr val="6F3CC2"/>
              </a:solidFill>
            </c:spPr>
          </c:dPt>
          <c:dLbls>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9"/>
                <c:pt idx="0">
                  <c:v> </c:v>
                </c:pt>
                <c:pt idx="1">
                  <c:v>  </c:v>
                </c:pt>
                <c:pt idx="2">
                  <c:v>   </c:v>
                </c:pt>
                <c:pt idx="3">
                  <c:v>    </c:v>
                </c:pt>
                <c:pt idx="4">
                  <c:v>     </c:v>
                </c:pt>
                <c:pt idx="5">
                  <c:v>Reactive / 100% Solid…</c:v>
                </c:pt>
                <c:pt idx="6">
                  <c:v>Water-Based Coatings</c:v>
                </c:pt>
                <c:pt idx="7">
                  <c:v>UV-Curable and Other…</c:v>
                </c:pt>
                <c:pt idx="8">
                  <c:v>Solvent-Based Coatings</c:v>
                </c:pt>
              </c:strCache>
            </c:strRef>
          </c:cat>
          <c:val>
            <c:numRef>
              <c:numCache>
                <c:formatCode>General</c:formatCode>
                <c:ptCount val="9"/>
                <c:pt idx="5">
                  <c:v>340.099</c:v>
                </c:pt>
                <c:pt idx="6">
                  <c:v>548.227</c:v>
                </c:pt>
                <c:pt idx="7">
                  <c:v>590.738</c:v>
                </c:pt>
                <c:pt idx="8">
                  <c:v>1011.251</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catAx>
      <c:valAx>
        <c:axId val="-2113994440"/>
        <c:scaling>
          <c:max val="1355.07634"/>
          <c:min val="0.0"/>
        </c:scaling>
        <c:delete val="0"/>
        <c:axPos val="b"/>
        <c:numFmt formatCode="#,##0" sourceLinked="0"/>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DABAA0"/>
              </a:solidFill>
            </c:spPr>
          </c:dPt>
          <c:dPt>
            <c:idx val="1"/>
            <c:spPr>
              <a:solidFill>
                <a:srgbClr val="D3AD8E"/>
              </a:solidFill>
            </c:spPr>
          </c:dPt>
          <c:dPt>
            <c:idx val="2"/>
            <c:spPr>
              <a:solidFill>
                <a:srgbClr val="CCA07D"/>
              </a:solidFill>
            </c:spPr>
          </c:dPt>
          <c:dPt>
            <c:idx val="3"/>
            <c:spPr>
              <a:solidFill>
                <a:srgbClr val="C5936B"/>
              </a:solidFill>
            </c:spPr>
          </c:dPt>
          <c:dPt>
            <c:idx val="4"/>
            <c:spPr>
              <a:solidFill>
                <a:srgbClr val="BE8659"/>
              </a:solidFill>
            </c:spPr>
          </c:dPt>
          <c:dPt>
            <c:idx val="5"/>
            <c:spPr>
              <a:solidFill>
                <a:srgbClr val="B77948"/>
              </a:solidFill>
            </c:spPr>
          </c:dPt>
          <c:dPt>
            <c:idx val="6"/>
            <c:spPr>
              <a:solidFill>
                <a:srgbClr val="B06C36"/>
              </a:solidFill>
            </c:spPr>
          </c:dPt>
          <c:dPt>
            <c:idx val="7"/>
            <c:spPr>
              <a:solidFill>
                <a:srgbClr val="A95F24"/>
              </a:solidFill>
            </c:spPr>
          </c:dPt>
          <c:dPt>
            <c:idx val="8"/>
            <c:spPr>
              <a:solidFill>
                <a:srgbClr val="A35313"/>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9"/>
                <c:pt idx="0">
                  <c:v>Other Applications</c:v>
                </c:pt>
                <c:pt idx="1">
                  <c:v>Balconies and Decks</c:v>
                </c:pt>
                <c:pt idx="2">
                  <c:v>Floors and Parking St…</c:v>
                </c:pt>
                <c:pt idx="3">
                  <c:v>Bridges, Tunnels and…</c:v>
                </c:pt>
                <c:pt idx="4">
                  <c:v>Basements and Foundat…</c:v>
                </c:pt>
                <c:pt idx="5">
                  <c:v>Water Tanks and Swimm…</c:v>
                </c:pt>
                <c:pt idx="6">
                  <c:v>Walls and Building Fa…</c:v>
                </c:pt>
                <c:pt idx="7">
                  <c:v>Bathrooms and Wet Are…</c:v>
                </c:pt>
                <c:pt idx="8">
                  <c:v>Roofs and Terraces</c:v>
                </c:pt>
              </c:strCache>
            </c:strRef>
          </c:cat>
          <c:val>
            <c:numRef>
              <c:numCache>
                <c:formatCode>General</c:formatCode>
                <c:ptCount val="9"/>
                <c:pt idx="0">
                  <c:v>130.593</c:v>
                </c:pt>
                <c:pt idx="1">
                  <c:v>153.609</c:v>
                </c:pt>
                <c:pt idx="2">
                  <c:v>193.471</c:v>
                </c:pt>
                <c:pt idx="3">
                  <c:v>206.455</c:v>
                </c:pt>
                <c:pt idx="4">
                  <c:v>261.155</c:v>
                </c:pt>
                <c:pt idx="5">
                  <c:v>297.795</c:v>
                </c:pt>
                <c:pt idx="6">
                  <c:v>323.701</c:v>
                </c:pt>
                <c:pt idx="7">
                  <c:v>326.618</c:v>
                </c:pt>
                <c:pt idx="8">
                  <c:v>596.918</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catAx>
      <c:valAx>
        <c:axId val="-2113994440"/>
        <c:scaling>
          <c:max val="799.87012"/>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DCC599"/>
              </a:solidFill>
            </c:spPr>
          </c:dPt>
          <c:dPt>
            <c:idx val="4"/>
            <c:spPr>
              <a:solidFill>
                <a:srgbClr val="D1B47A"/>
              </a:solidFill>
            </c:spPr>
          </c:dPt>
          <c:dPt>
            <c:idx val="5"/>
            <c:spPr>
              <a:solidFill>
                <a:srgbClr val="C7A25B"/>
              </a:solidFill>
            </c:spPr>
          </c:dPt>
          <c:dPt>
            <c:idx val="6"/>
            <c:spPr>
              <a:solidFill>
                <a:srgbClr val="BC913D"/>
              </a:solidFill>
            </c:spPr>
          </c:dPt>
          <c:dPt>
            <c:idx val="7"/>
            <c:spPr>
              <a:solidFill>
                <a:srgbClr val="B2801E"/>
              </a:solidFill>
            </c:spPr>
          </c:dPt>
          <c:dPt>
            <c:idx val="8"/>
            <c:spPr>
              <a:solidFill>
                <a:srgbClr val="A86F00"/>
              </a:solidFill>
            </c:spPr>
          </c:dPt>
          <c:dLbls>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9"/>
                <c:pt idx="0">
                  <c:v> </c:v>
                </c:pt>
                <c:pt idx="1">
                  <c:v>  </c:v>
                </c:pt>
                <c:pt idx="2">
                  <c:v>   </c:v>
                </c:pt>
                <c:pt idx="3">
                  <c:v>Concrete and Cementit…</c:v>
                </c:pt>
                <c:pt idx="4">
                  <c:v>Metal</c:v>
                </c:pt>
                <c:pt idx="5">
                  <c:v>Wood</c:v>
                </c:pt>
                <c:pt idx="6">
                  <c:v>Composite Materials</c:v>
                </c:pt>
                <c:pt idx="7">
                  <c:v>Masonry and Brickwork</c:v>
                </c:pt>
                <c:pt idx="8">
                  <c:v>Other Substrates</c:v>
                </c:pt>
              </c:strCache>
            </c:strRef>
          </c:cat>
          <c:val>
            <c:numRef>
              <c:numCache>
                <c:formatCode>General</c:formatCode>
                <c:ptCount val="9"/>
                <c:pt idx="3">
                  <c:v>87.605</c:v>
                </c:pt>
                <c:pt idx="4">
                  <c:v>114.855</c:v>
                </c:pt>
                <c:pt idx="5">
                  <c:v>441.976</c:v>
                </c:pt>
                <c:pt idx="6">
                  <c:v>545.687</c:v>
                </c:pt>
                <c:pt idx="7">
                  <c:v>565.657</c:v>
                </c:pt>
                <c:pt idx="8">
                  <c:v>734.535</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catAx>
      <c:valAx>
        <c:axId val="-2113994440"/>
        <c:scaling>
          <c:max val="984.2769000000001"/>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FFFFFF"/>
              </a:solidFill>
            </c:spPr>
          </c:dPt>
          <c:dPt>
            <c:idx val="4"/>
            <c:spPr>
              <a:solidFill>
                <a:srgbClr val="E59999"/>
              </a:solidFill>
            </c:spPr>
          </c:dPt>
          <c:dPt>
            <c:idx val="5"/>
            <c:spPr>
              <a:solidFill>
                <a:srgbClr val="DC7272"/>
              </a:solidFill>
            </c:spPr>
          </c:dPt>
          <c:dPt>
            <c:idx val="6"/>
            <c:spPr>
              <a:solidFill>
                <a:srgbClr val="D24C4C"/>
              </a:solidFill>
            </c:spPr>
          </c:dPt>
          <c:dPt>
            <c:idx val="7"/>
            <c:spPr>
              <a:solidFill>
                <a:srgbClr val="C92626"/>
              </a:solidFill>
            </c:spPr>
          </c:dPt>
          <c:dPt>
            <c:idx val="8"/>
            <c:spPr>
              <a:solidFill>
                <a:srgbClr val="C00000"/>
              </a:solidFill>
            </c:spPr>
          </c:dPt>
          <c:dLbls>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9"/>
                <c:pt idx="0">
                  <c:v> </c:v>
                </c:pt>
                <c:pt idx="1">
                  <c:v>  </c:v>
                </c:pt>
                <c:pt idx="2">
                  <c:v>   </c:v>
                </c:pt>
                <c:pt idx="3">
                  <c:v>    </c:v>
                </c:pt>
                <c:pt idx="4">
                  <c:v>Direct Sales</c:v>
                </c:pt>
                <c:pt idx="5">
                  <c:v>Distributors and Whol…</c:v>
                </c:pt>
                <c:pt idx="6">
                  <c:v>Retail and Hardware S…</c:v>
                </c:pt>
                <c:pt idx="7">
                  <c:v>Online Sales</c:v>
                </c:pt>
                <c:pt idx="8">
                  <c:v>Other Channels</c:v>
                </c:pt>
              </c:strCache>
            </c:strRef>
          </c:cat>
          <c:val>
            <c:numRef>
              <c:numCache>
                <c:formatCode>General</c:formatCode>
                <c:ptCount val="9"/>
                <c:pt idx="4">
                  <c:v>324.632</c:v>
                </c:pt>
                <c:pt idx="5">
                  <c:v>378.599</c:v>
                </c:pt>
                <c:pt idx="6">
                  <c:v>398.987</c:v>
                </c:pt>
                <c:pt idx="7">
                  <c:v>653.158</c:v>
                </c:pt>
                <c:pt idx="8">
                  <c:v>734.939</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catAx>
      <c:valAx>
        <c:axId val="-2113994440"/>
        <c:scaling>
          <c:max val="984.81826"/>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0"/>
                <c:pt idx="0">
                  <c:v>2026</c:v>
                </c:pt>
                <c:pt idx="1">
                  <c:v>Acrylic Waterproof Coatings</c:v>
                </c:pt>
                <c:pt idx="2">
                  <c:v>Polyurethane (PU) Waterproof Coatings</c:v>
                </c:pt>
                <c:pt idx="3">
                  <c:v>Epoxy Waterproof Coatings</c:v>
                </c:pt>
                <c:pt idx="4">
                  <c:v>Silicone Waterproof Coatings</c:v>
                </c:pt>
                <c:pt idx="5">
                  <c:v>Bituminous Waterproof Coatings</c:v>
                </c:pt>
                <c:pt idx="6">
                  <c:v>Cementitious Waterproof Coatings</c:v>
                </c:pt>
                <c:pt idx="7">
                  <c:v>Polyurea Waterproof Coatings</c:v>
                </c:pt>
                <c:pt idx="8">
                  <c:v>Other Polymer-Based Coatings</c:v>
                </c:pt>
                <c:pt idx="9">
                  <c:v>2036 Total</c:v>
                </c:pt>
              </c:strCache>
            </c:strRef>
          </c:cat>
          <c:val>
            <c:numRef>
              <c:numCache>
                <c:formatCode>General</c:formatCode>
                <c:ptCount val="10"/>
                <c:pt idx="0">
                  <c:v>0.0</c:v>
                </c:pt>
                <c:pt idx="1">
                  <c:v>2490.315</c:v>
                </c:pt>
                <c:pt idx="2">
                  <c:v>2528.003</c:v>
                </c:pt>
                <c:pt idx="3">
                  <c:v>2616.1220000000003</c:v>
                </c:pt>
                <c:pt idx="4">
                  <c:v>2702.9370000000004</c:v>
                </c:pt>
                <c:pt idx="5">
                  <c:v>3012.4060000000004</c:v>
                </c:pt>
                <c:pt idx="6">
                  <c:v>3078.9240000000004</c:v>
                </c:pt>
                <c:pt idx="7">
                  <c:v>3132.9900000000002</c:v>
                </c:pt>
                <c:pt idx="8">
                  <c:v>3474.697</c:v>
                </c:pt>
                <c:pt idx="9">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0"/>
                <c:pt idx="0">
                  <c:v>2026</c:v>
                </c:pt>
                <c:pt idx="1">
                  <c:v>Acrylic Waterproof Coatings</c:v>
                </c:pt>
                <c:pt idx="2">
                  <c:v>Polyurethane (PU) Waterproof Coatings</c:v>
                </c:pt>
                <c:pt idx="3">
                  <c:v>Epoxy Waterproof Coatings</c:v>
                </c:pt>
                <c:pt idx="4">
                  <c:v>Silicone Waterproof Coatings</c:v>
                </c:pt>
                <c:pt idx="5">
                  <c:v>Bituminous Waterproof Coatings</c:v>
                </c:pt>
                <c:pt idx="6">
                  <c:v>Cementitious Waterproof Coatings</c:v>
                </c:pt>
                <c:pt idx="7">
                  <c:v>Polyurea Waterproof Coatings</c:v>
                </c:pt>
                <c:pt idx="8">
                  <c:v>Other Polymer-Based Coatings</c:v>
                </c:pt>
                <c:pt idx="9">
                  <c:v>2036 Total</c:v>
                </c:pt>
              </c:strCache>
            </c:strRef>
          </c:cat>
          <c:val>
            <c:numRef>
              <c:numCache>
                <c:formatCode>General</c:formatCode>
                <c:ptCount val="10"/>
                <c:pt idx="0">
                  <c:v>2490.315</c:v>
                </c:pt>
                <c:pt idx="1">
                  <c:v>37.688</c:v>
                </c:pt>
                <c:pt idx="2">
                  <c:v>88.11899999999997</c:v>
                </c:pt>
                <c:pt idx="3">
                  <c:v>86.815</c:v>
                </c:pt>
                <c:pt idx="4">
                  <c:v>309.46900000000005</c:v>
                </c:pt>
                <c:pt idx="5">
                  <c:v>66.518</c:v>
                </c:pt>
                <c:pt idx="6">
                  <c:v>54.065999999999974</c:v>
                </c:pt>
                <c:pt idx="7">
                  <c:v>341.70699999999994</c:v>
                </c:pt>
                <c:pt idx="8">
                  <c:v>150.308</c:v>
                </c:pt>
                <c:pt idx="9">
                  <c:v>3625.0049999999997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9"/>
                <c:pt idx="0">
                  <c:v>Acrylic Waterproof Coatings</c:v>
                </c:pt>
                <c:pt idx="1">
                  <c:v>Polyurethane (PU) Waterproof Coatings</c:v>
                </c:pt>
                <c:pt idx="2">
                  <c:v>Epoxy Waterproof Coatings</c:v>
                </c:pt>
                <c:pt idx="3">
                  <c:v>Silicone Waterproof Coatings</c:v>
                </c:pt>
                <c:pt idx="4">
                  <c:v>Bituminous Waterproof Coatings</c:v>
                </c:pt>
                <c:pt idx="5">
                  <c:v>Cementitious Waterproof Coatings</c:v>
                </c:pt>
                <c:pt idx="6">
                  <c:v>Polyurea Waterproof Coatings</c:v>
                </c:pt>
                <c:pt idx="7">
                  <c:v>Other Polymer-Based Coatings</c:v>
                </c:pt>
                <c:pt idx="8">
                  <c:v>Total Absolute $ Opportunity</c:v>
                </c:pt>
              </c:strCache>
            </c:strRef>
          </c:cat>
          <c:val>
            <c:numRef>
              <c:numCache>
                <c:formatCode>General</c:formatCode>
                <c:ptCount val="9"/>
                <c:pt idx="0">
                  <c:v>0.0</c:v>
                </c:pt>
                <c:pt idx="1">
                  <c:v>37.688</c:v>
                </c:pt>
                <c:pt idx="2">
                  <c:v>125.80699999999997</c:v>
                </c:pt>
                <c:pt idx="3">
                  <c:v>212.62199999999996</c:v>
                </c:pt>
                <c:pt idx="4">
                  <c:v>522.091</c:v>
                </c:pt>
                <c:pt idx="5">
                  <c:v>588.609</c:v>
                </c:pt>
                <c:pt idx="6">
                  <c:v>642.675</c:v>
                </c:pt>
                <c:pt idx="7">
                  <c:v>984.3819999999998</c:v>
                </c:pt>
                <c:pt idx="8">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9"/>
                <c:pt idx="0">
                  <c:v>Acrylic Waterproof Coatings</c:v>
                </c:pt>
                <c:pt idx="1">
                  <c:v>Polyurethane (PU) Waterproof Coatings</c:v>
                </c:pt>
                <c:pt idx="2">
                  <c:v>Epoxy Waterproof Coatings</c:v>
                </c:pt>
                <c:pt idx="3">
                  <c:v>Silicone Waterproof Coatings</c:v>
                </c:pt>
                <c:pt idx="4">
                  <c:v>Bituminous Waterproof Coatings</c:v>
                </c:pt>
                <c:pt idx="5">
                  <c:v>Cementitious Waterproof Coatings</c:v>
                </c:pt>
                <c:pt idx="6">
                  <c:v>Polyurea Waterproof Coatings</c:v>
                </c:pt>
                <c:pt idx="7">
                  <c:v>Other Polymer-Based Coatings</c:v>
                </c:pt>
                <c:pt idx="8">
                  <c:v>Total Absolute $ Opportunity</c:v>
                </c:pt>
              </c:strCache>
            </c:strRef>
          </c:cat>
          <c:val>
            <c:numRef>
              <c:numCache>
                <c:formatCode>General</c:formatCode>
                <c:ptCount val="9"/>
                <c:pt idx="0">
                  <c:v>37.688</c:v>
                </c:pt>
                <c:pt idx="1">
                  <c:v>88.11899999999997</c:v>
                </c:pt>
                <c:pt idx="2">
                  <c:v>86.815</c:v>
                </c:pt>
                <c:pt idx="3">
                  <c:v>309.46900000000005</c:v>
                </c:pt>
                <c:pt idx="4">
                  <c:v>66.518</c:v>
                </c:pt>
                <c:pt idx="5">
                  <c:v>54.065999999999974</c:v>
                </c:pt>
                <c:pt idx="6">
                  <c:v>341.70699999999994</c:v>
                </c:pt>
                <c:pt idx="7">
                  <c:v>150.308</c:v>
                </c:pt>
                <c:pt idx="8">
                  <c:v>1134.69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4"/>
                <c:pt idx="0">
                  <c:v>2026</c:v>
                </c:pt>
                <c:pt idx="1">
                  <c:v>Single-Component Coatings</c:v>
                </c:pt>
                <c:pt idx="2">
                  <c:v>Two-Component Coatings</c:v>
                </c:pt>
                <c:pt idx="3">
                  <c:v>2036 Total</c:v>
                </c:pt>
              </c:strCache>
            </c:strRef>
          </c:cat>
          <c:val>
            <c:numRef>
              <c:numCache>
                <c:formatCode>General</c:formatCode>
                <c:ptCount val="4"/>
                <c:pt idx="0">
                  <c:v>0.0</c:v>
                </c:pt>
                <c:pt idx="1">
                  <c:v>2490.315</c:v>
                </c:pt>
                <c:pt idx="2">
                  <c:v>2522.402</c:v>
                </c:pt>
                <c:pt idx="3">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4"/>
                <c:pt idx="0">
                  <c:v>2026</c:v>
                </c:pt>
                <c:pt idx="1">
                  <c:v>Single-Component Coatings</c:v>
                </c:pt>
                <c:pt idx="2">
                  <c:v>Two-Component Coatings</c:v>
                </c:pt>
                <c:pt idx="3">
                  <c:v>2036 Total</c:v>
                </c:pt>
              </c:strCache>
            </c:strRef>
          </c:cat>
          <c:val>
            <c:numRef>
              <c:numCache>
                <c:formatCode>General</c:formatCode>
                <c:ptCount val="4"/>
                <c:pt idx="0">
                  <c:v>2490.315</c:v>
                </c:pt>
                <c:pt idx="1">
                  <c:v>32.08699999999999</c:v>
                </c:pt>
                <c:pt idx="2">
                  <c:v>1102.6030000000003</c:v>
                </c:pt>
                <c:pt idx="3">
                  <c:v>3625.005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3"/>
                <c:pt idx="0">
                  <c:v>Single-Component Coatings</c:v>
                </c:pt>
                <c:pt idx="1">
                  <c:v>Two-Component Coatings</c:v>
                </c:pt>
                <c:pt idx="2">
                  <c:v>Total Absolute $ Opportunity</c:v>
                </c:pt>
              </c:strCache>
            </c:strRef>
          </c:cat>
          <c:val>
            <c:numRef>
              <c:numCache>
                <c:formatCode>General</c:formatCode>
                <c:ptCount val="3"/>
                <c:pt idx="0">
                  <c:v>0.0</c:v>
                </c:pt>
                <c:pt idx="1">
                  <c:v>32.08699999999999</c:v>
                </c:pt>
                <c:pt idx="2">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3"/>
                <c:pt idx="0">
                  <c:v>Single-Component Coatings</c:v>
                </c:pt>
                <c:pt idx="1">
                  <c:v>Two-Component Coatings</c:v>
                </c:pt>
                <c:pt idx="2">
                  <c:v>Total Absolute $ Opportunity</c:v>
                </c:pt>
              </c:strCache>
            </c:strRef>
          </c:cat>
          <c:val>
            <c:numRef>
              <c:numCache>
                <c:formatCode>General</c:formatCode>
                <c:ptCount val="3"/>
                <c:pt idx="0">
                  <c:v>32.08699999999999</c:v>
                </c:pt>
                <c:pt idx="1">
                  <c:v>1102.6030000000003</c:v>
                </c:pt>
                <c:pt idx="2">
                  <c:v>1134.6900000000003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6"/>
                <c:pt idx="0">
                  <c:v>2026</c:v>
                </c:pt>
                <c:pt idx="1">
                  <c:v>Water-Based Coatings</c:v>
                </c:pt>
                <c:pt idx="2">
                  <c:v>Solvent-Based Coatings</c:v>
                </c:pt>
                <c:pt idx="3">
                  <c:v>Reactive / 100% Solids Coatings</c:v>
                </c:pt>
                <c:pt idx="4">
                  <c:v>UV-Curable and Other Specialty Coatings</c:v>
                </c:pt>
                <c:pt idx="5">
                  <c:v>2036 Total</c:v>
                </c:pt>
              </c:strCache>
            </c:strRef>
          </c:cat>
          <c:val>
            <c:numRef>
              <c:numCache>
                <c:formatCode>General</c:formatCode>
                <c:ptCount val="6"/>
                <c:pt idx="0">
                  <c:v>0.0</c:v>
                </c:pt>
                <c:pt idx="1">
                  <c:v>2490.315</c:v>
                </c:pt>
                <c:pt idx="2">
                  <c:v>2852.311</c:v>
                </c:pt>
                <c:pt idx="3">
                  <c:v>3021.2670000000003</c:v>
                </c:pt>
                <c:pt idx="4">
                  <c:v>3225.1920000000005</c:v>
                </c:pt>
                <c:pt idx="5">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6"/>
                <c:pt idx="0">
                  <c:v>2026</c:v>
                </c:pt>
                <c:pt idx="1">
                  <c:v>Water-Based Coatings</c:v>
                </c:pt>
                <c:pt idx="2">
                  <c:v>Solvent-Based Coatings</c:v>
                </c:pt>
                <c:pt idx="3">
                  <c:v>Reactive / 100% Solids Coatings</c:v>
                </c:pt>
                <c:pt idx="4">
                  <c:v>UV-Curable and Other Specialty Coatings</c:v>
                </c:pt>
                <c:pt idx="5">
                  <c:v>2036 Total</c:v>
                </c:pt>
              </c:strCache>
            </c:strRef>
          </c:cat>
          <c:val>
            <c:numRef>
              <c:numCache>
                <c:formatCode>General</c:formatCode>
                <c:ptCount val="6"/>
                <c:pt idx="0">
                  <c:v>2490.315</c:v>
                </c:pt>
                <c:pt idx="1">
                  <c:v>361.996</c:v>
                </c:pt>
                <c:pt idx="2">
                  <c:v>168.95600000000013</c:v>
                </c:pt>
                <c:pt idx="3">
                  <c:v>203.925</c:v>
                </c:pt>
                <c:pt idx="4">
                  <c:v>399.813</c:v>
                </c:pt>
                <c:pt idx="5">
                  <c:v>3625.005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Water-Based Coatings</c:v>
                </c:pt>
                <c:pt idx="1">
                  <c:v>Solvent-Based Coatings</c:v>
                </c:pt>
                <c:pt idx="2">
                  <c:v>Reactive / 100% Solids Coatings</c:v>
                </c:pt>
                <c:pt idx="3">
                  <c:v>UV-Curable and Other Specialty Coatings</c:v>
                </c:pt>
                <c:pt idx="4">
                  <c:v>Total Absolute $ Opportunity</c:v>
                </c:pt>
              </c:strCache>
            </c:strRef>
          </c:cat>
          <c:val>
            <c:numRef>
              <c:numCache>
                <c:formatCode>General</c:formatCode>
                <c:ptCount val="5"/>
                <c:pt idx="0">
                  <c:v>0.0</c:v>
                </c:pt>
                <c:pt idx="1">
                  <c:v>361.996</c:v>
                </c:pt>
                <c:pt idx="2">
                  <c:v>530.9520000000001</c:v>
                </c:pt>
                <c:pt idx="3">
                  <c:v>734.8770000000002</c:v>
                </c:pt>
                <c:pt idx="4">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Water-Based Coatings</c:v>
                </c:pt>
                <c:pt idx="1">
                  <c:v>Solvent-Based Coatings</c:v>
                </c:pt>
                <c:pt idx="2">
                  <c:v>Reactive / 100% Solids Coatings</c:v>
                </c:pt>
                <c:pt idx="3">
                  <c:v>UV-Curable and Other Specialty Coatings</c:v>
                </c:pt>
                <c:pt idx="4">
                  <c:v>Total Absolute $ Opportunity</c:v>
                </c:pt>
              </c:strCache>
            </c:strRef>
          </c:cat>
          <c:val>
            <c:numRef>
              <c:numCache>
                <c:formatCode>General</c:formatCode>
                <c:ptCount val="5"/>
                <c:pt idx="0">
                  <c:v>361.996</c:v>
                </c:pt>
                <c:pt idx="1">
                  <c:v>168.95600000000013</c:v>
                </c:pt>
                <c:pt idx="2">
                  <c:v>203.925</c:v>
                </c:pt>
                <c:pt idx="3">
                  <c:v>399.813</c:v>
                </c:pt>
                <c:pt idx="4">
                  <c:v>1134.69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1"/>
                <c:pt idx="0">
                  <c:v>2026</c:v>
                </c:pt>
                <c:pt idx="1">
                  <c:v>Roofs and Terraces</c:v>
                </c:pt>
                <c:pt idx="2">
                  <c:v>Walls and Building Facades</c:v>
                </c:pt>
                <c:pt idx="3">
                  <c:v>Basements and Foundations</c:v>
                </c:pt>
                <c:pt idx="4">
                  <c:v>Bathrooms and Wet Areas</c:v>
                </c:pt>
                <c:pt idx="5">
                  <c:v>Balconies and Decks</c:v>
                </c:pt>
                <c:pt idx="6">
                  <c:v>Floors and Parking Structures</c:v>
                </c:pt>
                <c:pt idx="7">
                  <c:v>Bridges, Tunnels and Other Infrastructure</c:v>
                </c:pt>
                <c:pt idx="8">
                  <c:v>Water Tanks and Swimming Pools</c:v>
                </c:pt>
                <c:pt idx="9">
                  <c:v>Other Applications</c:v>
                </c:pt>
                <c:pt idx="10">
                  <c:v>2036 Total</c:v>
                </c:pt>
              </c:strCache>
            </c:strRef>
          </c:cat>
          <c:val>
            <c:numRef>
              <c:numCache>
                <c:formatCode>General</c:formatCode>
                <c:ptCount val="11"/>
                <c:pt idx="0">
                  <c:v>0.0</c:v>
                </c:pt>
                <c:pt idx="1">
                  <c:v>2490.3149999999996</c:v>
                </c:pt>
                <c:pt idx="2">
                  <c:v>2733.4449999999997</c:v>
                </c:pt>
                <c:pt idx="3">
                  <c:v>2985.287</c:v>
                </c:pt>
                <c:pt idx="4">
                  <c:v>3028.9809999999998</c:v>
                </c:pt>
                <c:pt idx="5">
                  <c:v>3283.1949999999997</c:v>
                </c:pt>
                <c:pt idx="6">
                  <c:v>3283.8669999999997</c:v>
                </c:pt>
                <c:pt idx="7">
                  <c:v>3356.589</c:v>
                </c:pt>
                <c:pt idx="8">
                  <c:v>3380.71</c:v>
                </c:pt>
                <c:pt idx="9">
                  <c:v>3566.707</c:v>
                </c:pt>
                <c:pt idx="10">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08189"/>
              </a:solidFill>
            </c:spPr>
          </c:dPt>
          <c:dPt>
            <c:idx val="10"/>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1"/>
                <c:pt idx="0">
                  <c:v>2026</c:v>
                </c:pt>
                <c:pt idx="1">
                  <c:v>Roofs and Terraces</c:v>
                </c:pt>
                <c:pt idx="2">
                  <c:v>Walls and Building Facades</c:v>
                </c:pt>
                <c:pt idx="3">
                  <c:v>Basements and Foundations</c:v>
                </c:pt>
                <c:pt idx="4">
                  <c:v>Bathrooms and Wet Areas</c:v>
                </c:pt>
                <c:pt idx="5">
                  <c:v>Balconies and Decks</c:v>
                </c:pt>
                <c:pt idx="6">
                  <c:v>Floors and Parking Structures</c:v>
                </c:pt>
                <c:pt idx="7">
                  <c:v>Bridges, Tunnels and Other Infrastructure</c:v>
                </c:pt>
                <c:pt idx="8">
                  <c:v>Water Tanks and Swimming Pools</c:v>
                </c:pt>
                <c:pt idx="9">
                  <c:v>Other Applications</c:v>
                </c:pt>
                <c:pt idx="10">
                  <c:v>2036 Total</c:v>
                </c:pt>
              </c:strCache>
            </c:strRef>
          </c:cat>
          <c:val>
            <c:numRef>
              <c:numCache>
                <c:formatCode>General</c:formatCode>
                <c:ptCount val="11"/>
                <c:pt idx="0">
                  <c:v>2490.3149999999996</c:v>
                </c:pt>
                <c:pt idx="1">
                  <c:v>243.13</c:v>
                </c:pt>
                <c:pt idx="2">
                  <c:v>251.84199999999998</c:v>
                </c:pt>
                <c:pt idx="3">
                  <c:v>43.69400000000002</c:v>
                </c:pt>
                <c:pt idx="4">
                  <c:v>254.214</c:v>
                </c:pt>
                <c:pt idx="5">
                  <c:v>0.671999999999997</c:v>
                </c:pt>
                <c:pt idx="6">
                  <c:v>72.72199999999998</c:v>
                </c:pt>
                <c:pt idx="7">
                  <c:v>24.12099999999998</c:v>
                </c:pt>
                <c:pt idx="8">
                  <c:v>185.99699999999996</c:v>
                </c:pt>
                <c:pt idx="9">
                  <c:v>58.298</c:v>
                </c:pt>
                <c:pt idx="10">
                  <c:v>3625.0049999999997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0"/>
                <c:pt idx="0">
                  <c:v>Roofs and Terraces</c:v>
                </c:pt>
                <c:pt idx="1">
                  <c:v>Walls and Building Facades</c:v>
                </c:pt>
                <c:pt idx="2">
                  <c:v>Basements and Foundations</c:v>
                </c:pt>
                <c:pt idx="3">
                  <c:v>Bathrooms and Wet Areas</c:v>
                </c:pt>
                <c:pt idx="4">
                  <c:v>Balconies and Decks</c:v>
                </c:pt>
                <c:pt idx="5">
                  <c:v>Floors and Parking Structures</c:v>
                </c:pt>
                <c:pt idx="6">
                  <c:v>Bridges, Tunnels and Other Infrastructure</c:v>
                </c:pt>
                <c:pt idx="7">
                  <c:v>Water Tanks and Swimming Pools</c:v>
                </c:pt>
                <c:pt idx="8">
                  <c:v>Other Applications</c:v>
                </c:pt>
                <c:pt idx="9">
                  <c:v>Total Absolute $ Opportunity</c:v>
                </c:pt>
              </c:strCache>
            </c:strRef>
          </c:cat>
          <c:val>
            <c:numRef>
              <c:numCache>
                <c:formatCode>General</c:formatCode>
                <c:ptCount val="10"/>
                <c:pt idx="0">
                  <c:v>0.0</c:v>
                </c:pt>
                <c:pt idx="1">
                  <c:v>243.13</c:v>
                </c:pt>
                <c:pt idx="2">
                  <c:v>494.972</c:v>
                </c:pt>
                <c:pt idx="3">
                  <c:v>538.6659999999999</c:v>
                </c:pt>
                <c:pt idx="4">
                  <c:v>792.8799999999999</c:v>
                </c:pt>
                <c:pt idx="5">
                  <c:v>793.5519999999999</c:v>
                </c:pt>
                <c:pt idx="6">
                  <c:v>866.2739999999999</c:v>
                </c:pt>
                <c:pt idx="7">
                  <c:v>890.3949999999999</c:v>
                </c:pt>
                <c:pt idx="8">
                  <c:v>1076.3919999999998</c:v>
                </c:pt>
                <c:pt idx="9">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0"/>
                <c:pt idx="0">
                  <c:v>Roofs and Terraces</c:v>
                </c:pt>
                <c:pt idx="1">
                  <c:v>Walls and Building Facades</c:v>
                </c:pt>
                <c:pt idx="2">
                  <c:v>Basements and Foundations</c:v>
                </c:pt>
                <c:pt idx="3">
                  <c:v>Bathrooms and Wet Areas</c:v>
                </c:pt>
                <c:pt idx="4">
                  <c:v>Balconies and Decks</c:v>
                </c:pt>
                <c:pt idx="5">
                  <c:v>Floors and Parking Structures</c:v>
                </c:pt>
                <c:pt idx="6">
                  <c:v>Bridges, Tunnels and Other Infrastructure</c:v>
                </c:pt>
                <c:pt idx="7">
                  <c:v>Water Tanks and Swimming Pools</c:v>
                </c:pt>
                <c:pt idx="8">
                  <c:v>Other Applications</c:v>
                </c:pt>
                <c:pt idx="9">
                  <c:v>Total Absolute $ Opportunity</c:v>
                </c:pt>
              </c:strCache>
            </c:strRef>
          </c:cat>
          <c:val>
            <c:numRef>
              <c:numCache>
                <c:formatCode>General</c:formatCode>
                <c:ptCount val="10"/>
                <c:pt idx="0">
                  <c:v>243.13</c:v>
                </c:pt>
                <c:pt idx="1">
                  <c:v>251.84199999999998</c:v>
                </c:pt>
                <c:pt idx="2">
                  <c:v>43.69400000000002</c:v>
                </c:pt>
                <c:pt idx="3">
                  <c:v>254.214</c:v>
                </c:pt>
                <c:pt idx="4">
                  <c:v>0.671999999999997</c:v>
                </c:pt>
                <c:pt idx="5">
                  <c:v>72.72199999999998</c:v>
                </c:pt>
                <c:pt idx="6">
                  <c:v>24.12099999999998</c:v>
                </c:pt>
                <c:pt idx="7">
                  <c:v>185.99699999999996</c:v>
                </c:pt>
                <c:pt idx="8">
                  <c:v>58.298</c:v>
                </c:pt>
                <c:pt idx="9">
                  <c:v>1134.6899999999998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8"/>
                <c:pt idx="0">
                  <c:v>2026</c:v>
                </c:pt>
                <c:pt idx="1">
                  <c:v>Concrete and Cementitious Surfaces</c:v>
                </c:pt>
                <c:pt idx="2">
                  <c:v>Metal</c:v>
                </c:pt>
                <c:pt idx="3">
                  <c:v>Wood</c:v>
                </c:pt>
                <c:pt idx="4">
                  <c:v>Masonry and Brickwork</c:v>
                </c:pt>
                <c:pt idx="5">
                  <c:v>Composite Materials</c:v>
                </c:pt>
                <c:pt idx="6">
                  <c:v>Other Substrates</c:v>
                </c:pt>
                <c:pt idx="7">
                  <c:v>2036 Total</c:v>
                </c:pt>
              </c:strCache>
            </c:strRef>
          </c:cat>
          <c:val>
            <c:numRef>
              <c:numCache>
                <c:formatCode>General</c:formatCode>
                <c:ptCount val="8"/>
                <c:pt idx="0">
                  <c:v>0.0</c:v>
                </c:pt>
                <c:pt idx="1">
                  <c:v>2490.315</c:v>
                </c:pt>
                <c:pt idx="2">
                  <c:v>2513.574</c:v>
                </c:pt>
                <c:pt idx="3">
                  <c:v>2525.352</c:v>
                </c:pt>
                <c:pt idx="4">
                  <c:v>2705.711</c:v>
                </c:pt>
                <c:pt idx="5">
                  <c:v>3154.6279999999997</c:v>
                </c:pt>
                <c:pt idx="6">
                  <c:v>3455.49</c:v>
                </c:pt>
                <c:pt idx="7">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8"/>
                <c:pt idx="0">
                  <c:v>2026</c:v>
                </c:pt>
                <c:pt idx="1">
                  <c:v>Concrete and Cementitious Surfaces</c:v>
                </c:pt>
                <c:pt idx="2">
                  <c:v>Metal</c:v>
                </c:pt>
                <c:pt idx="3">
                  <c:v>Wood</c:v>
                </c:pt>
                <c:pt idx="4">
                  <c:v>Masonry and Brickwork</c:v>
                </c:pt>
                <c:pt idx="5">
                  <c:v>Composite Materials</c:v>
                </c:pt>
                <c:pt idx="6">
                  <c:v>Other Substrates</c:v>
                </c:pt>
                <c:pt idx="7">
                  <c:v>2036 Total</c:v>
                </c:pt>
              </c:strCache>
            </c:strRef>
          </c:cat>
          <c:val>
            <c:numRef>
              <c:numCache>
                <c:formatCode>General</c:formatCode>
                <c:ptCount val="8"/>
                <c:pt idx="0">
                  <c:v>2490.315</c:v>
                </c:pt>
                <c:pt idx="1">
                  <c:v>23.259</c:v>
                </c:pt>
                <c:pt idx="2">
                  <c:v>11.777999999999992</c:v>
                </c:pt>
                <c:pt idx="3">
                  <c:v>180.35900000000004</c:v>
                </c:pt>
                <c:pt idx="4">
                  <c:v>448.9169999999999</c:v>
                </c:pt>
                <c:pt idx="5">
                  <c:v>300.86199999999997</c:v>
                </c:pt>
                <c:pt idx="6">
                  <c:v>169.515</c:v>
                </c:pt>
                <c:pt idx="7">
                  <c:v>3625.005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Concrete and Cementitious Surfaces</c:v>
                </c:pt>
                <c:pt idx="1">
                  <c:v>Metal</c:v>
                </c:pt>
                <c:pt idx="2">
                  <c:v>Wood</c:v>
                </c:pt>
                <c:pt idx="3">
                  <c:v>Masonry and Brickwork</c:v>
                </c:pt>
                <c:pt idx="4">
                  <c:v>Composite Materials</c:v>
                </c:pt>
                <c:pt idx="5">
                  <c:v>Other Substrates</c:v>
                </c:pt>
                <c:pt idx="6">
                  <c:v>Total Absolute $ Opportunity</c:v>
                </c:pt>
              </c:strCache>
            </c:strRef>
          </c:cat>
          <c:val>
            <c:numRef>
              <c:numCache>
                <c:formatCode>General</c:formatCode>
                <c:ptCount val="7"/>
                <c:pt idx="0">
                  <c:v>0.0</c:v>
                </c:pt>
                <c:pt idx="1">
                  <c:v>23.259</c:v>
                </c:pt>
                <c:pt idx="2">
                  <c:v>35.03699999999999</c:v>
                </c:pt>
                <c:pt idx="3">
                  <c:v>215.39600000000002</c:v>
                </c:pt>
                <c:pt idx="4">
                  <c:v>664.3129999999999</c:v>
                </c:pt>
                <c:pt idx="5">
                  <c:v>965.1749999999998</c:v>
                </c:pt>
                <c:pt idx="6">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Concrete and Cementitious Surfaces</c:v>
                </c:pt>
                <c:pt idx="1">
                  <c:v>Metal</c:v>
                </c:pt>
                <c:pt idx="2">
                  <c:v>Wood</c:v>
                </c:pt>
                <c:pt idx="3">
                  <c:v>Masonry and Brickwork</c:v>
                </c:pt>
                <c:pt idx="4">
                  <c:v>Composite Materials</c:v>
                </c:pt>
                <c:pt idx="5">
                  <c:v>Other Substrates</c:v>
                </c:pt>
                <c:pt idx="6">
                  <c:v>Total Absolute $ Opportunity</c:v>
                </c:pt>
              </c:strCache>
            </c:strRef>
          </c:cat>
          <c:val>
            <c:numRef>
              <c:numCache>
                <c:formatCode>General</c:formatCode>
                <c:ptCount val="7"/>
                <c:pt idx="0">
                  <c:v>23.259</c:v>
                </c:pt>
                <c:pt idx="1">
                  <c:v>11.777999999999992</c:v>
                </c:pt>
                <c:pt idx="2">
                  <c:v>180.35900000000004</c:v>
                </c:pt>
                <c:pt idx="3">
                  <c:v>448.9169999999999</c:v>
                </c:pt>
                <c:pt idx="4">
                  <c:v>300.86199999999997</c:v>
                </c:pt>
                <c:pt idx="5">
                  <c:v>169.515</c:v>
                </c:pt>
                <c:pt idx="6">
                  <c:v>1134.6899999999998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Direct Sales</c:v>
                </c:pt>
                <c:pt idx="2">
                  <c:v>Distributors and Wholesalers</c:v>
                </c:pt>
                <c:pt idx="3">
                  <c:v>Retail and Hardware Stores</c:v>
                </c:pt>
                <c:pt idx="4">
                  <c:v>Online Sales</c:v>
                </c:pt>
                <c:pt idx="5">
                  <c:v>Other Channels</c:v>
                </c:pt>
                <c:pt idx="6">
                  <c:v>2036 Total</c:v>
                </c:pt>
              </c:strCache>
            </c:strRef>
          </c:cat>
          <c:val>
            <c:numRef>
              <c:numCache>
                <c:formatCode>General</c:formatCode>
                <c:ptCount val="7"/>
                <c:pt idx="0">
                  <c:v>0.0</c:v>
                </c:pt>
                <c:pt idx="1">
                  <c:v>2490.315</c:v>
                </c:pt>
                <c:pt idx="2">
                  <c:v>2783.486</c:v>
                </c:pt>
                <c:pt idx="3">
                  <c:v>3063.553</c:v>
                </c:pt>
                <c:pt idx="4">
                  <c:v>3087.326</c:v>
                </c:pt>
                <c:pt idx="5">
                  <c:v>3268.868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Direct Sales</c:v>
                </c:pt>
                <c:pt idx="2">
                  <c:v>Distributors and Wholesalers</c:v>
                </c:pt>
                <c:pt idx="3">
                  <c:v>Retail and Hardware Stores</c:v>
                </c:pt>
                <c:pt idx="4">
                  <c:v>Online Sales</c:v>
                </c:pt>
                <c:pt idx="5">
                  <c:v>Other Channels</c:v>
                </c:pt>
                <c:pt idx="6">
                  <c:v>2036 Total</c:v>
                </c:pt>
              </c:strCache>
            </c:strRef>
          </c:cat>
          <c:val>
            <c:numRef>
              <c:numCache>
                <c:formatCode>General</c:formatCode>
                <c:ptCount val="7"/>
                <c:pt idx="0">
                  <c:v>2490.315</c:v>
                </c:pt>
                <c:pt idx="1">
                  <c:v>293.171</c:v>
                </c:pt>
                <c:pt idx="2">
                  <c:v>280.06700000000006</c:v>
                </c:pt>
                <c:pt idx="3">
                  <c:v>23.772999999999968</c:v>
                </c:pt>
                <c:pt idx="4">
                  <c:v>181.54200000000003</c:v>
                </c:pt>
                <c:pt idx="5">
                  <c:v>356.13700000000006</c:v>
                </c:pt>
                <c:pt idx="6">
                  <c:v>3625.005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6"/>
                <c:pt idx="0">
                  <c:v>Direct Sales</c:v>
                </c:pt>
                <c:pt idx="1">
                  <c:v>Distributors and Wholesalers</c:v>
                </c:pt>
                <c:pt idx="2">
                  <c:v>Retail and Hardware Stores</c:v>
                </c:pt>
                <c:pt idx="3">
                  <c:v>Online Sales</c:v>
                </c:pt>
                <c:pt idx="4">
                  <c:v>Other Channels</c:v>
                </c:pt>
                <c:pt idx="5">
                  <c:v>Total Absolute $ Opportunity</c:v>
                </c:pt>
              </c:strCache>
            </c:strRef>
          </c:cat>
          <c:val>
            <c:numRef>
              <c:numCache>
                <c:formatCode>General</c:formatCode>
                <c:ptCount val="6"/>
                <c:pt idx="0">
                  <c:v>0.0</c:v>
                </c:pt>
                <c:pt idx="1">
                  <c:v>293.171</c:v>
                </c:pt>
                <c:pt idx="2">
                  <c:v>573.238</c:v>
                </c:pt>
                <c:pt idx="3">
                  <c:v>597.011</c:v>
                </c:pt>
                <c:pt idx="4">
                  <c:v>778.553</c:v>
                </c:pt>
                <c:pt idx="5">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6"/>
                <c:pt idx="0">
                  <c:v>Direct Sales</c:v>
                </c:pt>
                <c:pt idx="1">
                  <c:v>Distributors and Wholesalers</c:v>
                </c:pt>
                <c:pt idx="2">
                  <c:v>Retail and Hardware Stores</c:v>
                </c:pt>
                <c:pt idx="3">
                  <c:v>Online Sales</c:v>
                </c:pt>
                <c:pt idx="4">
                  <c:v>Other Channels</c:v>
                </c:pt>
                <c:pt idx="5">
                  <c:v>Total Absolute $ Opportunity</c:v>
                </c:pt>
              </c:strCache>
            </c:strRef>
          </c:cat>
          <c:val>
            <c:numRef>
              <c:numCache>
                <c:formatCode>General</c:formatCode>
                <c:ptCount val="6"/>
                <c:pt idx="0">
                  <c:v>293.171</c:v>
                </c:pt>
                <c:pt idx="1">
                  <c:v>280.06700000000006</c:v>
                </c:pt>
                <c:pt idx="2">
                  <c:v>23.772999999999968</c:v>
                </c:pt>
                <c:pt idx="3">
                  <c:v>181.54200000000003</c:v>
                </c:pt>
                <c:pt idx="4">
                  <c:v>356.13700000000006</c:v>
                </c:pt>
                <c:pt idx="5">
                  <c:v>1134.69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9.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strCache>
                <c:ptCount val="1"/>
                <c:pt idx="0">
                  <c:v>Polyurethane (PU) Waterproof Coatings</c:v>
                </c:pt>
              </c:strCache>
            </c:strRef>
          </c:tx>
          <c:spPr>
            <a:ln w="25400">
              <a:solidFill>
                <a:srgbClr val="C55A11"/>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4958.0</c:v>
                </c:pt>
                <c:pt idx="1">
                  <c:v>4975.0</c:v>
                </c:pt>
                <c:pt idx="2">
                  <c:v>5001.0</c:v>
                </c:pt>
                <c:pt idx="3">
                  <c:v>5046.0</c:v>
                </c:pt>
                <c:pt idx="4">
                  <c:v>5095.0</c:v>
                </c:pt>
                <c:pt idx="5">
                  <c:v>5153.0</c:v>
                </c:pt>
                <c:pt idx="6">
                  <c:v>5153.0</c:v>
                </c:pt>
                <c:pt idx="7">
                  <c:v>5159.0</c:v>
                </c:pt>
                <c:pt idx="8">
                  <c:v>5170.0</c:v>
                </c:pt>
                <c:pt idx="9">
                  <c:v>5194.0</c:v>
                </c:pt>
                <c:pt idx="10">
                  <c:v>5230.0</c:v>
                </c:pt>
                <c:pt idx="11">
                  <c:v>5276.0</c:v>
                </c:pt>
                <c:pt idx="12">
                  <c:v>5333.0</c:v>
                </c:pt>
                <c:pt idx="13">
                  <c:v>5396.0</c:v>
                </c:pt>
                <c:pt idx="14">
                  <c:v>5465.0</c:v>
                </c:pt>
                <c:pt idx="15">
                  <c:v>5545.0</c:v>
                </c:pt>
              </c:numCache>
            </c:numRef>
          </c:val>
          <c:smooth val="0"/>
        </c:ser>
        <c:ser>
          <c:idx val="1"/>
          <c:order val="1"/>
          <c:tx>
            <c:strRef>
              <c:strCache>
                <c:ptCount val="1"/>
                <c:pt idx="0">
                  <c:v>Cementitious Waterproof Coatings</c:v>
                </c:pt>
              </c:strCache>
            </c:strRef>
          </c:tx>
          <c:spPr>
            <a:ln w="25400">
              <a:solidFill>
                <a:srgbClr val="0B2E4A"/>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4939.0</c:v>
                </c:pt>
                <c:pt idx="1">
                  <c:v>4961.0</c:v>
                </c:pt>
                <c:pt idx="2">
                  <c:v>4992.0</c:v>
                </c:pt>
                <c:pt idx="3">
                  <c:v>5031.0</c:v>
                </c:pt>
                <c:pt idx="4">
                  <c:v>5078.0</c:v>
                </c:pt>
                <c:pt idx="5">
                  <c:v>5131.0</c:v>
                </c:pt>
                <c:pt idx="6">
                  <c:v>5191.0</c:v>
                </c:pt>
                <c:pt idx="7">
                  <c:v>5247.0</c:v>
                </c:pt>
                <c:pt idx="8">
                  <c:v>5297.0</c:v>
                </c:pt>
                <c:pt idx="9">
                  <c:v>5341.0</c:v>
                </c:pt>
                <c:pt idx="10">
                  <c:v>5380.0</c:v>
                </c:pt>
                <c:pt idx="11">
                  <c:v>5412.0</c:v>
                </c:pt>
                <c:pt idx="12">
                  <c:v>5441.0</c:v>
                </c:pt>
                <c:pt idx="13">
                  <c:v>5468.0</c:v>
                </c:pt>
                <c:pt idx="14">
                  <c:v>5492.0</c:v>
                </c:pt>
                <c:pt idx="15">
                  <c:v>5512.0</c:v>
                </c:pt>
              </c:numCache>
            </c:numRef>
          </c:val>
          <c:smooth val="0"/>
        </c:ser>
        <c:ser>
          <c:idx val="2"/>
          <c:order val="2"/>
          <c:tx>
            <c:strRef>
              <c:strCache>
                <c:ptCount val="1"/>
                <c:pt idx="0">
                  <c:v>Acrylic Waterproof Coatings</c:v>
                </c:pt>
              </c:strCache>
            </c:strRef>
          </c:tx>
          <c:spPr>
            <a:ln w="25400">
              <a:solidFill>
                <a:srgbClr val="7030A0"/>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4733.0</c:v>
                </c:pt>
                <c:pt idx="1">
                  <c:v>4753.0</c:v>
                </c:pt>
                <c:pt idx="2">
                  <c:v>4782.0</c:v>
                </c:pt>
                <c:pt idx="3">
                  <c:v>4820.0</c:v>
                </c:pt>
                <c:pt idx="4">
                  <c:v>4867.0</c:v>
                </c:pt>
                <c:pt idx="5">
                  <c:v>4921.0</c:v>
                </c:pt>
                <c:pt idx="6">
                  <c:v>4949.0</c:v>
                </c:pt>
                <c:pt idx="7">
                  <c:v>4984.0</c:v>
                </c:pt>
                <c:pt idx="8">
                  <c:v>5024.0</c:v>
                </c:pt>
                <c:pt idx="9">
                  <c:v>5070.0</c:v>
                </c:pt>
                <c:pt idx="10">
                  <c:v>5115.0</c:v>
                </c:pt>
                <c:pt idx="11">
                  <c:v>5157.0</c:v>
                </c:pt>
                <c:pt idx="12">
                  <c:v>5195.0</c:v>
                </c:pt>
                <c:pt idx="13">
                  <c:v>5232.0</c:v>
                </c:pt>
                <c:pt idx="14">
                  <c:v>5266.0</c:v>
                </c:pt>
                <c:pt idx="15">
                  <c:v>5298.0</c:v>
                </c:pt>
              </c:numCache>
            </c:numRef>
          </c:val>
          <c:smooth val="0"/>
        </c:ser>
        <c:ser>
          <c:idx val="3"/>
          <c:order val="3"/>
          <c:tx>
            <c:strRef>
              <c:strCache>
                <c:ptCount val="1"/>
                <c:pt idx="0">
                  <c:v>Epoxy Waterproof Coatings</c:v>
                </c:pt>
              </c:strCache>
            </c:strRef>
          </c:tx>
          <c:spPr>
            <a:ln w="25400">
              <a:solidFill>
                <a:srgbClr val="008189"/>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4637.0</c:v>
                </c:pt>
                <c:pt idx="1">
                  <c:v>4659.0</c:v>
                </c:pt>
                <c:pt idx="2">
                  <c:v>4687.0</c:v>
                </c:pt>
                <c:pt idx="3">
                  <c:v>4720.0</c:v>
                </c:pt>
                <c:pt idx="4">
                  <c:v>4766.0</c:v>
                </c:pt>
                <c:pt idx="5">
                  <c:v>4818.0</c:v>
                </c:pt>
                <c:pt idx="6">
                  <c:v>4865.0</c:v>
                </c:pt>
                <c:pt idx="7">
                  <c:v>4912.0</c:v>
                </c:pt>
                <c:pt idx="8">
                  <c:v>4956.0</c:v>
                </c:pt>
                <c:pt idx="9">
                  <c:v>4995.0</c:v>
                </c:pt>
                <c:pt idx="10">
                  <c:v>5032.0</c:v>
                </c:pt>
                <c:pt idx="11">
                  <c:v>5067.0</c:v>
                </c:pt>
                <c:pt idx="12">
                  <c:v>5099.0</c:v>
                </c:pt>
                <c:pt idx="13">
                  <c:v>5131.0</c:v>
                </c:pt>
                <c:pt idx="14">
                  <c:v>5159.0</c:v>
                </c:pt>
                <c:pt idx="15">
                  <c:v>5183.0</c:v>
                </c:pt>
              </c:numCache>
            </c:numRef>
          </c:val>
          <c:smooth val="0"/>
        </c:ser>
        <c:ser>
          <c:idx val="4"/>
          <c:order val="4"/>
          <c:tx>
            <c:strRef>
              <c:strCache>
                <c:ptCount val="1"/>
                <c:pt idx="0">
                  <c:v>Other Polymer-Based Coatings</c:v>
                </c:pt>
              </c:strCache>
            </c:strRef>
          </c:tx>
          <c:spPr>
            <a:ln w="25400">
              <a:solidFill>
                <a:srgbClr val="9E7E0A"/>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4351.0</c:v>
                </c:pt>
                <c:pt idx="1">
                  <c:v>4366.0</c:v>
                </c:pt>
                <c:pt idx="2">
                  <c:v>4387.0</c:v>
                </c:pt>
                <c:pt idx="3">
                  <c:v>4414.0</c:v>
                </c:pt>
                <c:pt idx="4">
                  <c:v>4456.0</c:v>
                </c:pt>
                <c:pt idx="5">
                  <c:v>4514.0</c:v>
                </c:pt>
                <c:pt idx="6">
                  <c:v>4559.0</c:v>
                </c:pt>
                <c:pt idx="7">
                  <c:v>4613.0</c:v>
                </c:pt>
                <c:pt idx="8">
                  <c:v>4665.0</c:v>
                </c:pt>
                <c:pt idx="9">
                  <c:v>4709.0</c:v>
                </c:pt>
                <c:pt idx="10">
                  <c:v>4745.0</c:v>
                </c:pt>
                <c:pt idx="11">
                  <c:v>4774.0</c:v>
                </c:pt>
                <c:pt idx="12">
                  <c:v>4796.0</c:v>
                </c:pt>
                <c:pt idx="13">
                  <c:v>4814.0</c:v>
                </c:pt>
                <c:pt idx="14">
                  <c:v>4828.0</c:v>
                </c:pt>
                <c:pt idx="15">
                  <c:v>4836.0</c:v>
                </c:pt>
              </c:numCache>
            </c:numRef>
          </c:val>
          <c:smooth val="0"/>
        </c:ser>
        <c:ser>
          <c:idx val="5"/>
          <c:order val="5"/>
          <c:tx>
            <c:strRef>
              <c:strCache>
                <c:ptCount val="1"/>
                <c:pt idx="0">
                  <c:v>Silicone Waterproof Coatings</c:v>
                </c:pt>
              </c:strCache>
            </c:strRef>
          </c:tx>
          <c:spPr>
            <a:ln w="25400">
              <a:solidFill>
                <a:srgbClr val="5B7DB1"/>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3927.0</c:v>
                </c:pt>
                <c:pt idx="1">
                  <c:v>3956.0</c:v>
                </c:pt>
                <c:pt idx="2">
                  <c:v>3982.0</c:v>
                </c:pt>
                <c:pt idx="3">
                  <c:v>4008.0</c:v>
                </c:pt>
                <c:pt idx="4">
                  <c:v>4041.0</c:v>
                </c:pt>
                <c:pt idx="5">
                  <c:v>4078.0</c:v>
                </c:pt>
                <c:pt idx="6">
                  <c:v>4108.0</c:v>
                </c:pt>
                <c:pt idx="7">
                  <c:v>4138.0</c:v>
                </c:pt>
                <c:pt idx="8">
                  <c:v>4166.0</c:v>
                </c:pt>
                <c:pt idx="9">
                  <c:v>4193.0</c:v>
                </c:pt>
                <c:pt idx="10">
                  <c:v>4223.0</c:v>
                </c:pt>
                <c:pt idx="11">
                  <c:v>4256.0</c:v>
                </c:pt>
                <c:pt idx="12">
                  <c:v>4289.0</c:v>
                </c:pt>
                <c:pt idx="13">
                  <c:v>4321.0</c:v>
                </c:pt>
                <c:pt idx="14">
                  <c:v>4350.0</c:v>
                </c:pt>
                <c:pt idx="15">
                  <c:v>4377.0</c:v>
                </c:pt>
              </c:numCache>
            </c:numRef>
          </c:val>
          <c:smooth val="0"/>
        </c:ser>
        <c:ser>
          <c:idx val="6"/>
          <c:order val="6"/>
          <c:tx>
            <c:strRef>
              <c:strCache>
                <c:ptCount val="1"/>
                <c:pt idx="0">
                  <c:v>Polyurea Waterproof Coatings</c:v>
                </c:pt>
              </c:strCache>
            </c:strRef>
          </c:tx>
          <c:spPr>
            <a:ln w="25400">
              <a:solidFill>
                <a:srgbClr val="A23B5C"/>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2763.0</c:v>
                </c:pt>
                <c:pt idx="1">
                  <c:v>2783.0</c:v>
                </c:pt>
                <c:pt idx="2">
                  <c:v>2803.0</c:v>
                </c:pt>
                <c:pt idx="3">
                  <c:v>2824.0</c:v>
                </c:pt>
                <c:pt idx="4">
                  <c:v>2847.0</c:v>
                </c:pt>
                <c:pt idx="5">
                  <c:v>2873.0</c:v>
                </c:pt>
                <c:pt idx="6">
                  <c:v>2885.0</c:v>
                </c:pt>
                <c:pt idx="7">
                  <c:v>2899.0</c:v>
                </c:pt>
                <c:pt idx="8">
                  <c:v>2915.0</c:v>
                </c:pt>
                <c:pt idx="9">
                  <c:v>2935.0</c:v>
                </c:pt>
                <c:pt idx="10">
                  <c:v>2959.0</c:v>
                </c:pt>
                <c:pt idx="11">
                  <c:v>2985.0</c:v>
                </c:pt>
                <c:pt idx="12">
                  <c:v>3013.0</c:v>
                </c:pt>
                <c:pt idx="13">
                  <c:v>3041.0</c:v>
                </c:pt>
                <c:pt idx="14">
                  <c:v>3067.0</c:v>
                </c:pt>
                <c:pt idx="15">
                  <c:v>3093.0</c:v>
                </c:pt>
              </c:numCache>
            </c:numRef>
          </c:val>
          <c:smooth val="0"/>
        </c:ser>
        <c:ser>
          <c:idx val="7"/>
          <c:order val="7"/>
          <c:tx>
            <c:strRef>
              <c:strCache>
                <c:ptCount val="1"/>
                <c:pt idx="0">
                  <c:v>Bituminous Waterproof Coatings</c:v>
                </c:pt>
              </c:strCache>
            </c:strRef>
          </c:tx>
          <c:spPr>
            <a:ln w="25400">
              <a:solidFill>
                <a:srgbClr val="6E8B3D"/>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2630.0</c:v>
                </c:pt>
                <c:pt idx="1">
                  <c:v>2634.0</c:v>
                </c:pt>
                <c:pt idx="2">
                  <c:v>2641.0</c:v>
                </c:pt>
                <c:pt idx="3">
                  <c:v>2661.0</c:v>
                </c:pt>
                <c:pt idx="4">
                  <c:v>2694.0</c:v>
                </c:pt>
                <c:pt idx="5">
                  <c:v>2731.0</c:v>
                </c:pt>
                <c:pt idx="6">
                  <c:v>2741.0</c:v>
                </c:pt>
                <c:pt idx="7">
                  <c:v>2754.0</c:v>
                </c:pt>
                <c:pt idx="8">
                  <c:v>2768.0</c:v>
                </c:pt>
                <c:pt idx="9">
                  <c:v>2785.0</c:v>
                </c:pt>
                <c:pt idx="10">
                  <c:v>2804.0</c:v>
                </c:pt>
                <c:pt idx="11">
                  <c:v>2826.0</c:v>
                </c:pt>
                <c:pt idx="12">
                  <c:v>2850.0</c:v>
                </c:pt>
                <c:pt idx="13">
                  <c:v>2875.0</c:v>
                </c:pt>
                <c:pt idx="14">
                  <c:v>2902.0</c:v>
                </c:pt>
                <c:pt idx="15">
                  <c:v>2931.0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a:solidFill>
              <a:srgbClr val="D9DEE4"/>
            </a:solidFill>
          </a:ln>
        </c:spPr>
        <c:txPr>
          <a:bodyPr/>
          <a:lstStyle/>
          <a:p>
            <a:pPr>
              <a:defRPr sz="900">
                <a:solidFill>
                  <a:srgbClr val="59636E"/>
                </a:solidFill>
                <a:latin typeface="Calibri"/>
              </a:defRPr>
            </a:pPr>
          </a:p>
        </c:txPr>
        <c:crossAx val="2140495176"/>
        <c:crosses val="autoZero"/>
        <c:auto val="1"/>
        <c:lblAlgn val="ctr"/>
        <c:lblOffset val="100"/>
        <c:noMultiLvlLbl val="0"/>
      </c:catAx>
      <c:valAx>
        <c:axId val="2140495176"/>
        <c:scaling>
          <c:max val="6000.0"/>
          <c:min val="2500.0"/>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900">
                <a:solidFill>
                  <a:srgbClr val="59636E"/>
                </a:solidFill>
                <a:latin typeface="Calibri"/>
              </a:defRPr>
            </a:pPr>
          </a:p>
        </c:txPr>
        <c:crossAx val="2118791784"/>
        <c:crosses val="autoZero"/>
        <c:majorUnit val="500.0"/>
      </c:valAx>
    </c:plotArea>
    <c:legend>
      <c:legendPos val="b"/>
      <c:layout/>
      <c:overlay val="0"/>
      <c:txPr>
        <a:bodyPr/>
        <a:lstStyle/>
        <a:p>
          <a:pPr>
            <a:defRPr sz="900">
              <a:latin typeface="Calibri"/>
            </a:defRPr>
          </a:pPr>
        </a:p>
      </c:txPr>
    </c:legend>
    <c:plotVisOnly val="1"/>
    <c:dispBlanksAs val="gap"/>
    <c:showDLblsOverMax val="0"/>
  </c:chart>
  <c:txPr>
    <a:bodyPr/>
    <a:lstStyle/>
    <a:p>
      <a:pPr>
        <a:defRPr sz="1800"/>
      </a:pPr>
      <a:endParaRPr lang="en-US"/>
    </a:p>
  </c:txPr>
</c:chartSpace>
</file>

<file path=ppt/charts/chart16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strCache>
                <c:ptCount val="1"/>
                <c:pt idx="0">
                  <c:v>Index</c:v>
                </c:pt>
              </c:strCache>
            </c:strRef>
          </c:tx>
          <c:dPt>
            <c:idx val="0"/>
            <c:spPr>
              <a:solidFill>
                <a:srgbClr val="5B7DB1"/>
              </a:solidFill>
            </c:spPr>
          </c:dPt>
          <c:dPt>
            <c:idx val="1"/>
            <c:spPr>
              <a:solidFill>
                <a:srgbClr val="5B7DB1"/>
              </a:solidFill>
            </c:spPr>
          </c:dPt>
          <c:dPt>
            <c:idx val="2"/>
            <c:spPr>
              <a:solidFill>
                <a:srgbClr val="5B7DB1"/>
              </a:solidFill>
            </c:spPr>
          </c:dPt>
          <c:dPt>
            <c:idx val="3"/>
            <c:spPr>
              <a:solidFill>
                <a:srgbClr val="C55A11"/>
              </a:solidFill>
            </c:spPr>
          </c:dPt>
          <c:dPt>
            <c:idx val="4"/>
            <c:spPr>
              <a:solidFill>
                <a:srgbClr val="C55A11"/>
              </a:solidFill>
            </c:spPr>
          </c:dPt>
          <c:dPt>
            <c:idx val="5"/>
            <c:spPr>
              <a:solidFill>
                <a:srgbClr val="C55A11"/>
              </a:solidFill>
            </c:spPr>
          </c:dPt>
          <c:dPt>
            <c:idx val="6"/>
            <c:spPr>
              <a:solidFill>
                <a:srgbClr val="C55A11"/>
              </a:solidFill>
            </c:spPr>
          </c:dPt>
          <c:dPt>
            <c:idx val="7"/>
            <c:spPr>
              <a:solidFill>
                <a:srgbClr val="C55A11"/>
              </a:solidFill>
            </c:spPr>
          </c:dPt>
          <c:cat>
            <c:strRef>
              <c:strCache>
                <c:ptCount val="8"/>
                <c:pt idx="0">
                  <c:v>Bituminous Waterproof Coatings</c:v>
                </c:pt>
                <c:pt idx="1">
                  <c:v>Polyurea Waterproof Coatings</c:v>
                </c:pt>
                <c:pt idx="2">
                  <c:v>Silicone Waterproof Coatings</c:v>
                </c:pt>
                <c:pt idx="3">
                  <c:v>Other Polymer-Based Coatings</c:v>
                </c:pt>
                <c:pt idx="4">
                  <c:v>Epoxy Waterproof Coatings</c:v>
                </c:pt>
                <c:pt idx="5">
                  <c:v>Acrylic Waterproof Coatings</c:v>
                </c:pt>
                <c:pt idx="6">
                  <c:v>Cementitious Waterproof Coatings</c:v>
                </c:pt>
                <c:pt idx="7">
                  <c:v>Polyurethane (PU) Waterproof Coatings</c:v>
                </c:pt>
              </c:strCache>
            </c:strRef>
          </c:cat>
          <c:val>
            <c:numRef>
              <c:numCache>
                <c:formatCode>General</c:formatCode>
                <c:ptCount val="8"/>
                <c:pt idx="0">
                  <c:v>66.6</c:v>
                </c:pt>
                <c:pt idx="1">
                  <c:v>70.1</c:v>
                </c:pt>
                <c:pt idx="2">
                  <c:v>99.5</c:v>
                </c:pt>
                <c:pt idx="3">
                  <c:v>110.1</c:v>
                </c:pt>
                <c:pt idx="4">
                  <c:v>117.5</c:v>
                </c:pt>
                <c:pt idx="5">
                  <c:v>120.0</c:v>
                </c:pt>
                <c:pt idx="6">
                  <c:v>125.1</c:v>
                </c:pt>
                <c:pt idx="7">
                  <c:v>125.7</c:v>
                </c:pt>
              </c:numCache>
            </c:numRef>
          </c:val>
        </c:ser>
        <c:gapWidth val="45"/>
        <c:axId val="-2068027336"/>
        <c:axId val="-2113994440"/>
      </c:barChart>
      <c:catAx>
        <c:axId val="-2068027336"/>
        <c:scaling>
          <c:orientation val="minMax"/>
        </c:scaling>
        <c:delete val="0"/>
        <c:axPos val="l"/>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28.0"/>
          <c:min val="64.0"/>
        </c:scaling>
        <c:delete/>
        <c:axPos val="b"/>
        <c:majorTickMark val="out"/>
        <c:minorTickMark val="none"/>
        <c:tickLblPos val="none"/>
        <c:crossAx val="-2068027336"/>
        <c:crosses val="autoZero"/>
      </c:valAx>
    </c:plotArea>
    <c:dispBlanksAs val="gap"/>
  </c:chart>
  <c:txPr>
    <a:bodyPr/>
    <a:lstStyle/>
    <a:p>
      <a:pPr>
        <a:defRPr sz="1800"/>
      </a:pPr>
      <a:endParaRPr lang="en-US"/>
    </a:p>
  </c:txPr>
</c:chartSpace>
</file>

<file path=ppt/charts/chart16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strCache>
                <c:ptCount val="1"/>
                <c:pt idx="0">
                  <c:v>Base</c:v>
                </c:pt>
              </c:strCache>
            </c:strRef>
          </c:tx>
          <c:spPr>
            <a:noFill/>
          </c:spPr>
          <c:cat>
            <c:strRef>
              <c:strCache>
                <c:ptCount val="7"/>
                <c:pt idx="0">
                  <c:v>North America</c:v>
                </c:pt>
                <c:pt idx="1">
                  <c:v>Western Europe</c:v>
                </c:pt>
                <c:pt idx="2">
                  <c:v>Eastern Europe</c:v>
                </c:pt>
                <c:pt idx="3">
                  <c:v>Latin America</c:v>
                </c:pt>
                <c:pt idx="4">
                  <c:v>Middle East &amp; Africa</c:v>
                </c:pt>
                <c:pt idx="5">
                  <c:v>East Asia</c:v>
                </c:pt>
                <c:pt idx="6">
                  <c:v>South Asia &amp; Pacific</c:v>
                </c:pt>
              </c:strCache>
            </c:strRef>
          </c:cat>
          <c:val>
            <c:numRef>
              <c:numCache>
                <c:formatCode>General</c:formatCode>
                <c:ptCount val="7"/>
                <c:pt idx="0">
                  <c:v>94.9</c:v>
                </c:pt>
                <c:pt idx="1">
                  <c:v>90.2</c:v>
                </c:pt>
                <c:pt idx="2">
                  <c:v>73.1</c:v>
                </c:pt>
                <c:pt idx="3">
                  <c:v>69.0</c:v>
                </c:pt>
                <c:pt idx="4">
                  <c:v>64.0</c:v>
                </c:pt>
                <c:pt idx="5">
                  <c:v>48.8</c:v>
                </c:pt>
                <c:pt idx="6">
                  <c:v>44.1</c:v>
                </c:pt>
              </c:numCache>
            </c:numRef>
          </c:val>
        </c:ser>
        <c:ser>
          <c:idx val="1"/>
          <c:order val="1"/>
          <c:tx>
            <c:strRef>
              <c:strCache>
                <c:ptCount val="1"/>
                <c:pt idx="0">
                  <c:v>Range</c:v>
                </c:pt>
              </c:strCache>
            </c:strRef>
          </c:tx>
          <c:spPr>
            <a:solidFill>
              <a:srgbClr val="008189"/>
            </a:solidFill>
          </c:spPr>
          <c:dPt>
            <c:idx val="4"/>
            <c:spPr>
              <a:solidFill>
                <a:srgbClr val="5B7DB1"/>
              </a:solidFill>
            </c:spPr>
          </c:dPt>
          <c:dPt>
            <c:idx val="5"/>
            <c:spPr>
              <a:solidFill>
                <a:srgbClr val="5B7DB1"/>
              </a:solidFill>
            </c:spPr>
          </c:dPt>
          <c:dPt>
            <c:idx val="6"/>
            <c:spPr>
              <a:solidFill>
                <a:srgbClr val="5B7DB1"/>
              </a:solidFill>
            </c:spPr>
          </c:dPt>
          <c:cat>
            <c:strRef>
              <c:strCache>
                <c:ptCount val="7"/>
                <c:pt idx="0">
                  <c:v>North America</c:v>
                </c:pt>
                <c:pt idx="1">
                  <c:v>Western Europe</c:v>
                </c:pt>
                <c:pt idx="2">
                  <c:v>Eastern Europe</c:v>
                </c:pt>
                <c:pt idx="3">
                  <c:v>Latin America</c:v>
                </c:pt>
                <c:pt idx="4">
                  <c:v>Middle East &amp; Africa</c:v>
                </c:pt>
                <c:pt idx="5">
                  <c:v>East Asia</c:v>
                </c:pt>
                <c:pt idx="6">
                  <c:v>South Asia &amp; Pacific</c:v>
                </c:pt>
              </c:strCache>
            </c:strRef>
          </c:cat>
          <c:val>
            <c:numRef>
              <c:numCache>
                <c:formatCode>General</c:formatCode>
                <c:ptCount val="7"/>
                <c:pt idx="0">
                  <c:v>82.8</c:v>
                </c:pt>
                <c:pt idx="1">
                  <c:v>78.5</c:v>
                </c:pt>
                <c:pt idx="2">
                  <c:v>64.0</c:v>
                </c:pt>
                <c:pt idx="3">
                  <c:v>59.8</c:v>
                </c:pt>
                <c:pt idx="4">
                  <c:v>56.1</c:v>
                </c:pt>
                <c:pt idx="5">
                  <c:v>42.7</c:v>
                </c:pt>
                <c:pt idx="6">
                  <c:v>38.7</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80.0"/>
          <c:min val="40.0"/>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850">
                <a:solidFill>
                  <a:srgbClr val="59636E"/>
                </a:solidFill>
                <a:latin typeface="Calibri"/>
              </a:defRPr>
            </a:pPr>
          </a:p>
        </c:txPr>
        <c:crossAx val="-2068027336"/>
        <c:crosses val="autoZero"/>
        <c:majorUnit val="10.0"/>
      </c:valAx>
    </c:plotArea>
    <c:dispBlanksAs val="gap"/>
  </c:chart>
  <c:txPr>
    <a:bodyPr/>
    <a:lstStyle/>
    <a:p>
      <a:pPr>
        <a:defRPr sz="1800"/>
      </a:pPr>
      <a:endParaRPr lang="en-US"/>
    </a:p>
  </c:txPr>
</c:chartSpace>
</file>

<file path=ppt/charts/chart16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Sika</c:v>
                </c:pt>
                <c:pt idx="1">
                  <c:v>The Sherwin-Williams</c:v>
                </c:pt>
                <c:pt idx="2">
                  <c:v>PPG Industries</c:v>
                </c:pt>
                <c:pt idx="3">
                  <c:v>Akzo Nobel</c:v>
                </c:pt>
                <c:pt idx="4">
                  <c:v>BASF</c:v>
                </c:pt>
                <c:pt idx="5">
                  <c:v>RPM International</c:v>
                </c:pt>
                <c:pt idx="6">
                  <c:v>Saint-Gobain</c:v>
                </c:pt>
                <c:pt idx="7">
                  <c:v>Mapei</c:v>
                </c:pt>
                <c:pt idx="8">
                  <c:v>Henkel AG &amp; Co. KGaA</c:v>
                </c:pt>
                <c:pt idx="9">
                  <c:v>Dow</c:v>
                </c:pt>
                <c:pt idx="10">
                  <c:v>Others</c:v>
                </c:pt>
              </c:strCache>
            </c:strRef>
          </c:cat>
          <c:val>
            <c:numRef>
              <c:numCache>
                <c:formatCode>General</c:formatCode>
                <c:ptCount val="11"/>
                <c:pt idx="0">
                  <c:v>15.401240790072531</c:v>
                </c:pt>
                <c:pt idx="1">
                  <c:v>13.483170759180721</c:v>
                </c:pt>
                <c:pt idx="2">
                  <c:v>9.299352883645389</c:v>
                </c:pt>
                <c:pt idx="3">
                  <c:v>6.532876475193234</c:v>
                </c:pt>
                <c:pt idx="4">
                  <c:v>6.473319829711895</c:v>
                </c:pt>
                <c:pt idx="5">
                  <c:v>6.433244680872182</c:v>
                </c:pt>
                <c:pt idx="6">
                  <c:v>5.1503700280767655</c:v>
                </c:pt>
                <c:pt idx="7">
                  <c:v>3.1015192989370006</c:v>
                </c:pt>
                <c:pt idx="8">
                  <c:v>2.164598136819089</c:v>
                </c:pt>
                <c:pt idx="9">
                  <c:v>2.136096181068746</c:v>
                </c:pt>
                <c:pt idx="10">
                  <c:v>29.824210936422443</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6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Sika</c:v>
                </c:pt>
                <c:pt idx="1">
                  <c:v>The Sherwin-Williams</c:v>
                </c:pt>
                <c:pt idx="2">
                  <c:v>PPG Industries</c:v>
                </c:pt>
                <c:pt idx="3">
                  <c:v>Akzo Nobel</c:v>
                </c:pt>
                <c:pt idx="4">
                  <c:v>BASF</c:v>
                </c:pt>
                <c:pt idx="5">
                  <c:v>RPM International</c:v>
                </c:pt>
                <c:pt idx="6">
                  <c:v>Saint-Gobain</c:v>
                </c:pt>
                <c:pt idx="7">
                  <c:v>Mapei</c:v>
                </c:pt>
                <c:pt idx="8">
                  <c:v>Henkel AG &amp; Co. KGaA</c:v>
                </c:pt>
                <c:pt idx="9">
                  <c:v>Dow</c:v>
                </c:pt>
                <c:pt idx="10">
                  <c:v>Others</c:v>
                </c:pt>
              </c:strCache>
            </c:strRef>
          </c:cat>
          <c:val>
            <c:numRef>
              <c:numCache>
                <c:formatCode>General</c:formatCode>
                <c:ptCount val="11"/>
                <c:pt idx="0">
                  <c:v>11.693602256562977</c:v>
                </c:pt>
                <c:pt idx="1">
                  <c:v>9.98907014549872</c:v>
                </c:pt>
                <c:pt idx="2">
                  <c:v>11.264513875278551</c:v>
                </c:pt>
                <c:pt idx="3">
                  <c:v>11.542462021743303</c:v>
                </c:pt>
                <c:pt idx="4">
                  <c:v>9.170712625473369</c:v>
                </c:pt>
                <c:pt idx="5">
                  <c:v>5.69371565484273</c:v>
                </c:pt>
                <c:pt idx="6">
                  <c:v>3.7515880157620747</c:v>
                </c:pt>
                <c:pt idx="7">
                  <c:v>3.240076671241286</c:v>
                </c:pt>
                <c:pt idx="8">
                  <c:v>3.3901784262482124</c:v>
                </c:pt>
                <c:pt idx="9">
                  <c:v>3.0300946920704144</c:v>
                </c:pt>
                <c:pt idx="10">
                  <c:v>27.23398561527836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6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Sika</c:v>
                </c:pt>
                <c:pt idx="1">
                  <c:v>The Sherwin-Williams</c:v>
                </c:pt>
                <c:pt idx="2">
                  <c:v>PPG Industries</c:v>
                </c:pt>
                <c:pt idx="3">
                  <c:v>Akzo Nobel</c:v>
                </c:pt>
                <c:pt idx="4">
                  <c:v>BASF</c:v>
                </c:pt>
                <c:pt idx="5">
                  <c:v>RPM International</c:v>
                </c:pt>
                <c:pt idx="6">
                  <c:v>Saint-Gobain</c:v>
                </c:pt>
                <c:pt idx="7">
                  <c:v>Mapei</c:v>
                </c:pt>
                <c:pt idx="8">
                  <c:v>Henkel AG &amp; Co. KGaA</c:v>
                </c:pt>
                <c:pt idx="9">
                  <c:v>Dow</c:v>
                </c:pt>
                <c:pt idx="10">
                  <c:v>Others</c:v>
                </c:pt>
              </c:strCache>
            </c:strRef>
          </c:cat>
          <c:val>
            <c:numRef>
              <c:numCache>
                <c:formatCode>General</c:formatCode>
                <c:ptCount val="11"/>
                <c:pt idx="0">
                  <c:v>12.127056022733685</c:v>
                </c:pt>
                <c:pt idx="1">
                  <c:v>13.515963661294228</c:v>
                </c:pt>
                <c:pt idx="2">
                  <c:v>13.672509787055716</c:v>
                </c:pt>
                <c:pt idx="3">
                  <c:v>10.747277583816313</c:v>
                </c:pt>
                <c:pt idx="4">
                  <c:v>6.853819923875349</c:v>
                </c:pt>
                <c:pt idx="5">
                  <c:v>4.527540451517601</c:v>
                </c:pt>
                <c:pt idx="6">
                  <c:v>4.351504519294602</c:v>
                </c:pt>
                <c:pt idx="7">
                  <c:v>4.386878793633664</c:v>
                </c:pt>
                <c:pt idx="8">
                  <c:v>3.8343075690671227</c:v>
                </c:pt>
                <c:pt idx="9">
                  <c:v>2.614124464284719</c:v>
                </c:pt>
                <c:pt idx="10">
                  <c:v>23.369017223427004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6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Sika</c:v>
                </c:pt>
                <c:pt idx="1">
                  <c:v>The Sherwin-Williams</c:v>
                </c:pt>
                <c:pt idx="2">
                  <c:v>PPG Industries</c:v>
                </c:pt>
                <c:pt idx="3">
                  <c:v>Akzo Nobel</c:v>
                </c:pt>
                <c:pt idx="4">
                  <c:v>BASF</c:v>
                </c:pt>
                <c:pt idx="5">
                  <c:v>RPM International</c:v>
                </c:pt>
                <c:pt idx="6">
                  <c:v>Saint-Gobain</c:v>
                </c:pt>
                <c:pt idx="7">
                  <c:v>Mapei</c:v>
                </c:pt>
                <c:pt idx="8">
                  <c:v>Henkel AG &amp; Co. KGaA</c:v>
                </c:pt>
                <c:pt idx="9">
                  <c:v>Dow</c:v>
                </c:pt>
                <c:pt idx="10">
                  <c:v>Others</c:v>
                </c:pt>
              </c:strCache>
            </c:strRef>
          </c:cat>
          <c:val>
            <c:numRef>
              <c:numCache>
                <c:formatCode>General</c:formatCode>
                <c:ptCount val="11"/>
                <c:pt idx="0">
                  <c:v>16.616982878130067</c:v>
                </c:pt>
                <c:pt idx="1">
                  <c:v>15.838373751146182</c:v>
                </c:pt>
                <c:pt idx="2">
                  <c:v>12.226323321243273</c:v>
                </c:pt>
                <c:pt idx="3">
                  <c:v>7.956018792951128</c:v>
                </c:pt>
                <c:pt idx="4">
                  <c:v>5.814138033935409</c:v>
                </c:pt>
                <c:pt idx="5">
                  <c:v>5.618762435113717</c:v>
                </c:pt>
                <c:pt idx="6">
                  <c:v>5.851259038190952</c:v>
                </c:pt>
                <c:pt idx="7">
                  <c:v>4.767350351372047</c:v>
                </c:pt>
                <c:pt idx="8">
                  <c:v>3.1905899020099833</c:v>
                </c:pt>
                <c:pt idx="9">
                  <c:v>1.9266097914653117</c:v>
                </c:pt>
                <c:pt idx="10">
                  <c:v>20.193591704441936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6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Sika</c:v>
                </c:pt>
                <c:pt idx="1">
                  <c:v>The Sherwin-Williams</c:v>
                </c:pt>
                <c:pt idx="2">
                  <c:v>PPG Industries</c:v>
                </c:pt>
                <c:pt idx="3">
                  <c:v>Akzo Nobel</c:v>
                </c:pt>
                <c:pt idx="4">
                  <c:v>BASF</c:v>
                </c:pt>
                <c:pt idx="5">
                  <c:v>RPM International</c:v>
                </c:pt>
                <c:pt idx="6">
                  <c:v>Saint-Gobain</c:v>
                </c:pt>
                <c:pt idx="7">
                  <c:v>Mapei</c:v>
                </c:pt>
                <c:pt idx="8">
                  <c:v>Henkel AG &amp; Co. KGaA</c:v>
                </c:pt>
                <c:pt idx="9">
                  <c:v>Dow</c:v>
                </c:pt>
                <c:pt idx="10">
                  <c:v>Others</c:v>
                </c:pt>
              </c:strCache>
            </c:strRef>
          </c:cat>
          <c:val>
            <c:numRef>
              <c:numCache>
                <c:formatCode>General</c:formatCode>
                <c:ptCount val="11"/>
                <c:pt idx="0">
                  <c:v>17.074931814674855</c:v>
                </c:pt>
                <c:pt idx="1">
                  <c:v>12.550885260107192</c:v>
                </c:pt>
                <c:pt idx="2">
                  <c:v>8.380043562697718</c:v>
                </c:pt>
                <c:pt idx="3">
                  <c:v>7.444952014860334</c:v>
                </c:pt>
                <c:pt idx="4">
                  <c:v>8.04660708305492</c:v>
                </c:pt>
                <c:pt idx="5">
                  <c:v>6.919214229256515</c:v>
                </c:pt>
                <c:pt idx="6">
                  <c:v>4.691071174682332</c:v>
                </c:pt>
                <c:pt idx="7">
                  <c:v>2.86510879859984</c:v>
                </c:pt>
                <c:pt idx="8">
                  <c:v>2.560369933335589</c:v>
                </c:pt>
                <c:pt idx="9">
                  <c:v>2.6169804142295043</c:v>
                </c:pt>
                <c:pt idx="10">
                  <c:v>26.849835714501204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6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Sika</c:v>
                </c:pt>
                <c:pt idx="1">
                  <c:v>The Sherwin-Williams</c:v>
                </c:pt>
                <c:pt idx="2">
                  <c:v>PPG Industries</c:v>
                </c:pt>
                <c:pt idx="3">
                  <c:v>Akzo Nobel</c:v>
                </c:pt>
                <c:pt idx="4">
                  <c:v>BASF</c:v>
                </c:pt>
                <c:pt idx="5">
                  <c:v>RPM International</c:v>
                </c:pt>
                <c:pt idx="6">
                  <c:v>Saint-Gobain</c:v>
                </c:pt>
                <c:pt idx="7">
                  <c:v>Mapei</c:v>
                </c:pt>
                <c:pt idx="8">
                  <c:v>Henkel AG &amp; Co. KGaA</c:v>
                </c:pt>
                <c:pt idx="9">
                  <c:v>Dow</c:v>
                </c:pt>
                <c:pt idx="10">
                  <c:v>Others</c:v>
                </c:pt>
              </c:strCache>
            </c:strRef>
          </c:cat>
          <c:val>
            <c:numRef>
              <c:numCache>
                <c:formatCode>General</c:formatCode>
                <c:ptCount val="11"/>
                <c:pt idx="0">
                  <c:v>13.257277768762723</c:v>
                </c:pt>
                <c:pt idx="1">
                  <c:v>11.068290254169384</c:v>
                </c:pt>
                <c:pt idx="2">
                  <c:v>12.589358575079316</c:v>
                </c:pt>
                <c:pt idx="3">
                  <c:v>12.215437450069626</c:v>
                </c:pt>
                <c:pt idx="4">
                  <c:v>8.651701491037262</c:v>
                </c:pt>
                <c:pt idx="5">
                  <c:v>5.225916176548457</c:v>
                </c:pt>
                <c:pt idx="6">
                  <c:v>4.4928995088464045</c:v>
                </c:pt>
                <c:pt idx="7">
                  <c:v>4.585103214436975</c:v>
                </c:pt>
                <c:pt idx="8">
                  <c:v>3.999752878424063</c:v>
                </c:pt>
                <c:pt idx="9">
                  <c:v>2.5965461190797754</c:v>
                </c:pt>
                <c:pt idx="10">
                  <c:v>21.317716563546018</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6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Sika</c:v>
                </c:pt>
                <c:pt idx="1">
                  <c:v>The Sherwin-Williams</c:v>
                </c:pt>
                <c:pt idx="2">
                  <c:v>PPG Industries</c:v>
                </c:pt>
                <c:pt idx="3">
                  <c:v>Akzo Nobel</c:v>
                </c:pt>
                <c:pt idx="4">
                  <c:v>BASF</c:v>
                </c:pt>
                <c:pt idx="5">
                  <c:v>RPM International</c:v>
                </c:pt>
                <c:pt idx="6">
                  <c:v>Saint-Gobain</c:v>
                </c:pt>
                <c:pt idx="7">
                  <c:v>Mapei</c:v>
                </c:pt>
                <c:pt idx="8">
                  <c:v>Henkel AG &amp; Co. KGaA</c:v>
                </c:pt>
                <c:pt idx="9">
                  <c:v>Dow</c:v>
                </c:pt>
                <c:pt idx="10">
                  <c:v>Others</c:v>
                </c:pt>
              </c:strCache>
            </c:strRef>
          </c:cat>
          <c:val>
            <c:numRef>
              <c:numCache>
                <c:formatCode>General</c:formatCode>
                <c:ptCount val="11"/>
                <c:pt idx="0">
                  <c:v>15.570454803610694</c:v>
                </c:pt>
                <c:pt idx="1">
                  <c:v>10.546713911504883</c:v>
                </c:pt>
                <c:pt idx="2">
                  <c:v>10.489494550876001</c:v>
                </c:pt>
                <c:pt idx="3">
                  <c:v>11.523850319189417</c:v>
                </c:pt>
                <c:pt idx="4">
                  <c:v>9.716274527037694</c:v>
                </c:pt>
                <c:pt idx="5">
                  <c:v>6.041847824962319</c:v>
                </c:pt>
                <c:pt idx="6">
                  <c:v>4.100995695833606</c:v>
                </c:pt>
                <c:pt idx="7">
                  <c:v>3.8524851858046234</c:v>
                </c:pt>
                <c:pt idx="8">
                  <c:v>3.889793811996375</c:v>
                </c:pt>
                <c:pt idx="9">
                  <c:v>2.9792010725276863</c:v>
                </c:pt>
                <c:pt idx="10">
                  <c:v>21.288888296656708</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6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1668A8"/>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4"/>
                <c:pt idx="0">
                  <c:v>Roofs and Terraces</c:v>
                </c:pt>
                <c:pt idx="1">
                  <c:v>Walls and Building Facades</c:v>
                </c:pt>
                <c:pt idx="2">
                  <c:v>Basements and Foundations</c:v>
                </c:pt>
                <c:pt idx="3">
                  <c:v>Bathrooms and Wet Areas</c:v>
                </c:pt>
              </c:strCache>
            </c:strRef>
          </c:cat>
          <c:val>
            <c:numRef>
              <c:numCache>
                <c:formatCode>General</c:formatCode>
                <c:ptCount val="4"/>
                <c:pt idx="0">
                  <c:v>763.4935546779672</c:v>
                </c:pt>
                <c:pt idx="1">
                  <c:v>424.75852365506705</c:v>
                </c:pt>
                <c:pt idx="2">
                  <c:v>534.6500644677277</c:v>
                </c:pt>
                <c:pt idx="3">
                  <c:v>1010.004449886173</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333.2058738497485"/>
          <c:min val="0.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7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E3A5F"/>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South Asia &amp; Pacific</c:v>
                </c:pt>
                <c:pt idx="2">
                  <c:v>East Asia</c:v>
                </c:pt>
                <c:pt idx="3">
                  <c:v>Latin America</c:v>
                </c:pt>
                <c:pt idx="4">
                  <c:v>Rest of the World</c:v>
                </c:pt>
              </c:strCache>
            </c:strRef>
          </c:cat>
          <c:val>
            <c:numRef>
              <c:numCache>
                <c:formatCode>General</c:formatCode>
                <c:ptCount val="5"/>
                <c:pt idx="0">
                  <c:v>907.2739073781455</c:v>
                </c:pt>
                <c:pt idx="1">
                  <c:v>552.2556073911977</c:v>
                </c:pt>
                <c:pt idx="2">
                  <c:v>297.81543941292296</c:v>
                </c:pt>
                <c:pt idx="3">
                  <c:v>336.508649912355</c:v>
                </c:pt>
                <c:pt idx="4">
                  <c:v>639.0529885923137</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197.6015577391522"/>
          <c:min val="0.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7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Lbls>
            <c:dLbl>
              <c:idx val="0"/>
              <c:layout>
                <c:manualLayout>
                  <c:x val="0.0350"/>
                  <c:y val="0.0000"/>
                </c:manualLayout>
              </c:layout>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4"/>
                <c:pt idx="0">
                  <c:v>Other Polymer-Based Coatings</c:v>
                </c:pt>
                <c:pt idx="1">
                  <c:v>Polyurea Waterproof Coatings</c:v>
                </c:pt>
                <c:pt idx="2">
                  <c:v>Silicone Waterproof Coatings</c:v>
                </c:pt>
                <c:pt idx="3">
                  <c:v>Cementitious Waterproof Coatings</c:v>
                </c:pt>
              </c:strCache>
            </c:strRef>
          </c:cat>
          <c:val>
            <c:numRef>
              <c:numCache>
                <c:formatCode>General</c:formatCode>
                <c:ptCount val="4"/>
                <c:pt idx="0">
                  <c:v>314.88198539886116</c:v>
                </c:pt>
                <c:pt idx="1">
                  <c:v>437.7591415339569</c:v>
                </c:pt>
                <c:pt idx="2">
                  <c:v>816.2793661384206</c:v>
                </c:pt>
                <c:pt idx="3">
                  <c:v>1163.9860996156958</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7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SAM</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South Asia &amp; Pacific</c:v>
                </c:pt>
                <c:pt idx="2">
                  <c:v>East Asia</c:v>
                </c:pt>
                <c:pt idx="3">
                  <c:v>Latin America</c:v>
                </c:pt>
                <c:pt idx="4">
                  <c:v>Rest of the World</c:v>
                </c:pt>
              </c:strCache>
            </c:strRef>
          </c:cat>
          <c:val>
            <c:numRef>
              <c:numCache>
                <c:formatCode>General</c:formatCode>
                <c:ptCount val="5"/>
                <c:pt idx="0">
                  <c:v>2768.1758520000003</c:v>
                </c:pt>
                <c:pt idx="1">
                  <c:v>2488.319464247069</c:v>
                </c:pt>
                <c:pt idx="2">
                  <c:v>1818.5074304918792</c:v>
                </c:pt>
                <c:pt idx="3">
                  <c:v>1165.038742407389</c:v>
                </c:pt>
                <c:pt idx="4">
                  <c:v>924.2987374890702</c:v>
                </c:pt>
              </c:numCache>
            </c:numRef>
          </c:val>
        </c:ser>
        <c:ser>
          <c:idx val="1"/>
          <c:order val="1"/>
          <c:tx>
            <c:strRef>
              <c:strCache>
                <c:ptCount val="1"/>
                <c:pt idx="0">
                  <c:v>SOM</c:v>
                </c:pt>
              </c:strCache>
            </c:strRef>
          </c:tx>
          <c:spPr>
            <a:solidFill>
              <a:srgbClr val="0E72AE"/>
            </a:solidFill>
            <a:ln>
              <a:noFill/>
            </a:ln>
          </c:spPr>
          <c:dLbls>
            <c:dLbl>
              <c:idx val="0"/>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South Asia &amp; Pacific</c:v>
                </c:pt>
                <c:pt idx="2">
                  <c:v>East Asia</c:v>
                </c:pt>
                <c:pt idx="3">
                  <c:v>Latin America</c:v>
                </c:pt>
                <c:pt idx="4">
                  <c:v>Rest of the World</c:v>
                </c:pt>
              </c:strCache>
            </c:strRef>
          </c:cat>
          <c:val>
            <c:numRef>
              <c:numCache>
                <c:formatCode>General</c:formatCode>
                <c:ptCount val="5"/>
                <c:pt idx="0">
                  <c:v>907.2739073781455</c:v>
                </c:pt>
                <c:pt idx="1">
                  <c:v>552.2556073911977</c:v>
                </c:pt>
                <c:pt idx="2">
                  <c:v>297.81543941292296</c:v>
                </c:pt>
                <c:pt idx="3">
                  <c:v>336.508649912355</c:v>
                </c:pt>
                <c:pt idx="4">
                  <c:v>639.0529885923137</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3543.2650905600003"/>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Market Signals Market Signals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Overview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Market Taxonomy Geographic Coverage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Market Taxonomy Market Segments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Market Taxonomy Company Coverage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Global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Global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Global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Global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Global Overview Country Outlook  (1/2)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Global Overview Country Outlook  (2/2)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Global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Global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Global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Global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By Region Global Waterproof Coatings – Regional Outlook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By Region Market Analysis By Region (1/2)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By Region Market Analysis By Region (2/2)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By Region Volume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By Region Value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By Region Market Trends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By Region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Product Type / Chemistry By Product Type / Chemistry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Product Type / Chemistry By Product Type / Chemistry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Product Type / Chemistry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Product Type / Chemistry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Product Type / Chemistry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Product Type / Chemistry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Product Type / Chemistry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Product Configuration By Product Configuration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Product Configuration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Product Configuration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Product Configuration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Product Configuration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Technology By Technology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Technology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Technology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Technology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Technology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Application By Application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Application By Application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Application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Application Absolute $ Analysis  (1/3)</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Application Absolute $ Analysis  (2/3)</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Application Absolute $ Analysis  (3/3)</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Application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Application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Substrate Material By Substrate Material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Substrate Material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Substrate Material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Substrate Material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Substrate Material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Substrate Material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Distribution Channel By Distribution Channel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Distribution Channel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Distribution Channel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Distribution Channel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Distribution Channel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Distribution Channel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North America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North America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North America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North America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North America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North America Overview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North America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North America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North America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North America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By Country North America Waterproof Coatings –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By Country Market Analysis By Country (1/2)</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By Country Market Analysis By Country (2/2)</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By Country Volume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By Country Value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By Country Market Trends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By Country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Product Type / Chemistry By Product Type / Chemistry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Product Type / Chemistry By Product Type / Chemistry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Product Type / Chemistry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Product Type / Chemistry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Product Type / Chemistry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Product Type / Chemistry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Product Type / Chemistry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Product Configuration By Product Configuration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Product Configuration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Product Configuration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Product Configuration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Product Configuration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Technology By Technology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Technology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Technology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Technology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Technology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Application By Application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Application By Application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Application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Application Absolute $ Analysis  (1/3)</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Application Absolute $ Analysis  (2/3)</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Application Absolute $ Analysis  (3/3)</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Application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Application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Substrate Material By Substrate Material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Substrate Material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Substrate Material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Substrate Material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Substrate Material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Substrate Material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Distribution Channel By Distribution Channel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Distribution Channel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Distribution Channel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Distribution Channel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Distribution Channel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Distribution Channel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Country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Country Overview Key Segments (Value)</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Country Product Type / Chemistry Segmental</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Country Product Type / Chemistry Table (Volume &amp; Value)  (2/2)</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Country Product Configuration Segmental</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Country Product Configuration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Country Technology Segmental</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Country Technology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Country Application Segmental  (1/2)</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Country Application Segmental  (2/2)</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Country Application Table (Volume &amp; Value)  (2/2)</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Country Substrate Material Segmental</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Country Substrate Material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Country Distribution Channel Segmental</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Country Distribution Channel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Pricing Product Pricing &amp; Regional Price Index Trends</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Pricing Price Positioning &amp; Key Findings</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Pricing Key Pricing Drivers</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Pricing Factors Impacting Pricing</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Pricing Regional Price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Pricing Global Pricing Benchmarking</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Pricing Price Forecast &amp; Dynamics  (1/2)</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Pricing Price Forecast &amp; Dynamics  (2/2)</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Pricing Competitor Pricing Strategies</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Supply Chain Analysis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Supply Chain Analysis Value Chain &amp; Stakeholder Mapping</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Supply Chain Analysis Operating Margin Analysis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Supply Chain Analysis Buyers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Dynamics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Market Dynamics Market Dynamics &amp; Forces Market Dynamics by Geography  (1/2)</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Market Dynamics Market Dynamics &amp; Forces Market Dynamics by Geography  (2/2)</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Market Dynamics Market Dynamics &amp; Forces Driving Factors Supply Side (1/2)</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Market Dynamics Market Dynamics &amp; Forces Driving Factors Demand Side (2/2)</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Market Dynamics Market Dynamics &amp; Forces Market Restraints</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Market Dynamics Market Dynamics &amp; Forces Market Opportunities</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Market Dynamics Market Dynamics &amp; Forces Recent Developments &amp; Milestones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Market Dynamics Market Dynamics &amp; Forces Five Forces Analysis</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Competition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Competitor Competitive Landscape Competitive Landscape at a Glance</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Competitor Competitive Landscape Segment Leadership Map</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Competitor Competitive Landscape Value Chain Positioning</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Competitor Competitive Landscape Player Landscape</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Competitor Competitive Landscape Corporate Scorecard</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Competitor Competitive Landscape Offering Scorecard</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Competitor Competitive Landscape Execution Scorecard</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Competitor Competitive Landscape Success Factors</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Competitor Competitive Landscape Strategic Activity Tracker</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Competitor Competitive Landscape Strategic Activity by Function</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Competitor Competitive Landscape Industry Structure Landscape  (1/2)</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Competitor Competitive Landscape Industry Structure Landscape  (2/2)</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Competitor Competitive Landscape Competitive Dashboard</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Competitor Market Share by Leading Players Advice for Vendors &amp; Suppliers</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Competitor Market Share by Leading Players Company Value Share</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Competitor Market Share by Leading Players Company Share by Product Type</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Competitor Market Share by Leading Players Company Share by Region</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Competitor Market Share by Leading Players Who Shaped Growth</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Competitor Company Profiles &amp; Strategic Benchmarking Sika Snapshot</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Competitor Company Profiles &amp; Strategic Benchmarking Sika Penetration &amp; Win</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Competitor Company Profiles &amp; Strategic Benchmarking Sika SWOT Analysis</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Competitor Company Profiles &amp; Strategic Benchmarking Sika Key Financials</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Competitor Company Profiles &amp; Strategic Benchmarking Sika Strategy Analysis</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Table of Contents  (1/9)</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Table of Contents  (2/9)</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Table of Contents  (3/9)</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Table of Contents  (4/9)</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Table of Contents  (5/9)</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Table of Contents  (6/9)</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Table of Contents  (7/9)</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Table of Contents  (8/9)</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Table of Contents  (9/9)</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List of Figures  (1/4)</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List of Figures  (2/4)</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List of Figures  (3/4)</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List of Figures  (4/4)</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List of Tables  (1/4)</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List of Tables  (2/4)</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List of Tables  (3/4)</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Waterproof Coatings Market List of Tables  (4/4)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7.jpg"/><Relationship Id="rId3" Type="http://schemas.openxmlformats.org/officeDocument/2006/relationships/image" Target="../media/image978.png"/><Relationship Id="rId4" Type="http://schemas.openxmlformats.org/officeDocument/2006/relationships/image" Target="../media/image979.png"/><Relationship Id="rId5" Type="http://schemas.openxmlformats.org/officeDocument/2006/relationships/image" Target="../media/image98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20.xml"/><Relationship Id="rId8" Type="http://schemas.openxmlformats.org/officeDocument/2006/relationships/slide" Target="slide29.xml"/><Relationship Id="rId9" Type="http://schemas.openxmlformats.org/officeDocument/2006/relationships/slide" Target="slide30.xml"/><Relationship Id="rId10" Type="http://schemas.openxmlformats.org/officeDocument/2006/relationships/slide" Target="slide41.xml"/><Relationship Id="rId11" Type="http://schemas.openxmlformats.org/officeDocument/2006/relationships/slide" Target="slide49.xml"/><Relationship Id="rId12" Type="http://schemas.openxmlformats.org/officeDocument/2006/relationships/slide" Target="slide93.xml"/><Relationship Id="rId13" Type="http://schemas.openxmlformats.org/officeDocument/2006/relationships/slide" Target="slide94.xml"/><Relationship Id="rId14" Type="http://schemas.openxmlformats.org/officeDocument/2006/relationships/slide" Target="slide104.xml"/><Relationship Id="rId15" Type="http://schemas.openxmlformats.org/officeDocument/2006/relationships/slide" Target="slide112.xml"/><Relationship Id="rId16" Type="http://schemas.openxmlformats.org/officeDocument/2006/relationships/slide" Target="slide156.xml"/><Relationship Id="rId17" Type="http://schemas.openxmlformats.org/officeDocument/2006/relationships/slide" Target="slide157.xml"/><Relationship Id="rId18" Type="http://schemas.openxmlformats.org/officeDocument/2006/relationships/slide" Target="slide161.xml"/><Relationship Id="rId19" Type="http://schemas.openxmlformats.org/officeDocument/2006/relationships/slide" Target="slide181.xml"/><Relationship Id="rId20" Type="http://schemas.openxmlformats.org/officeDocument/2006/relationships/slide" Target="slide182.xml"/><Relationship Id="rId21" Type="http://schemas.openxmlformats.org/officeDocument/2006/relationships/slide" Target="slide195.xml"/><Relationship Id="rId22" Type="http://schemas.openxmlformats.org/officeDocument/2006/relationships/slide" Target="slide199.xml"/><Relationship Id="rId23" Type="http://schemas.openxmlformats.org/officeDocument/2006/relationships/slide" Target="slide200.xml"/><Relationship Id="rId24" Type="http://schemas.openxmlformats.org/officeDocument/2006/relationships/slide" Target="slide209.xml"/><Relationship Id="rId25" Type="http://schemas.openxmlformats.org/officeDocument/2006/relationships/slide" Target="slide222.xml"/><Relationship Id="rId26" Type="http://schemas.openxmlformats.org/officeDocument/2006/relationships/slide" Target="slide210.xml"/><Relationship Id="rId27" Type="http://schemas.openxmlformats.org/officeDocument/2006/relationships/slide" Target="slide2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notesSlide" Target="../notesSlides/notesSlide7.xml"/><Relationship Id="rId6"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notesSlide" Target="../notesSlides/notesSlide9.xml"/><Relationship Id="rId6"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notesSlide" Target="../notesSlides/notesSlide10.xml"/><Relationship Id="rId6"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notesSlide" Target="../notesSlides/notesSlide11.xml"/><Relationship Id="rId6"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xml"/><Relationship Id="rId4" Type="http://schemas.openxmlformats.org/officeDocument/2006/relationships/notesSlide" Target="../notesSlides/notesSlide14.xml"/><Relationship Id="rId5"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xml"/><Relationship Id="rId4" Type="http://schemas.openxmlformats.org/officeDocument/2006/relationships/notesSlide" Target="../notesSlides/notesSlide16.xml"/><Relationship Id="rId5"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image" Target="../media/image64.png"/><Relationship Id="rId8" Type="http://schemas.openxmlformats.org/officeDocument/2006/relationships/image" Target="../media/image65.png"/><Relationship Id="rId9" Type="http://schemas.openxmlformats.org/officeDocument/2006/relationships/image" Target="../media/image66.png"/><Relationship Id="rId10" Type="http://schemas.openxmlformats.org/officeDocument/2006/relationships/image" Target="../media/image67.png"/><Relationship Id="rId11" Type="http://schemas.openxmlformats.org/officeDocument/2006/relationships/image" Target="../media/image68.png"/><Relationship Id="rId12" Type="http://schemas.openxmlformats.org/officeDocument/2006/relationships/image" Target="../media/image69.png"/><Relationship Id="rId13" Type="http://schemas.openxmlformats.org/officeDocument/2006/relationships/image" Target="../media/image70.png"/><Relationship Id="rId14" Type="http://schemas.openxmlformats.org/officeDocument/2006/relationships/image" Target="../media/image71.png"/><Relationship Id="rId15" Type="http://schemas.openxmlformats.org/officeDocument/2006/relationships/image" Target="../media/image72.png"/><Relationship Id="rId16" Type="http://schemas.openxmlformats.org/officeDocument/2006/relationships/image" Target="../media/image73.png"/><Relationship Id="rId17" Type="http://schemas.openxmlformats.org/officeDocument/2006/relationships/image" Target="../media/image74.png"/><Relationship Id="rId18" Type="http://schemas.openxmlformats.org/officeDocument/2006/relationships/image" Target="../media/image75.png"/><Relationship Id="rId19" Type="http://schemas.openxmlformats.org/officeDocument/2006/relationships/image" Target="../media/image76.png"/><Relationship Id="rId20" Type="http://schemas.openxmlformats.org/officeDocument/2006/relationships/image" Target="../media/image77.png"/><Relationship Id="rId21" Type="http://schemas.openxmlformats.org/officeDocument/2006/relationships/image" Target="../media/image78.png"/><Relationship Id="rId22" Type="http://schemas.openxmlformats.org/officeDocument/2006/relationships/image" Target="../media/image79.png"/><Relationship Id="rId23" Type="http://schemas.openxmlformats.org/officeDocument/2006/relationships/image" Target="../media/image80.png"/><Relationship Id="rId24" Type="http://schemas.openxmlformats.org/officeDocument/2006/relationships/image" Target="../media/image81.png"/><Relationship Id="rId25"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xml"/><Relationship Id="rId4" Type="http://schemas.openxmlformats.org/officeDocument/2006/relationships/notesSlide" Target="../notesSlides/notesSlide18.xml"/><Relationship Id="rId5" Type="http://schemas.openxmlformats.org/officeDocument/2006/relationships/image" Target="../media/image2.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xml"/><Relationship Id="rId4" Type="http://schemas.openxmlformats.org/officeDocument/2006/relationships/notesSlide" Target="../notesSlides/notesSlide19.xml"/><Relationship Id="rId5" Type="http://schemas.openxmlformats.org/officeDocument/2006/relationships/image" Target="../media/image2.png"/><Relationship Id="rId6" Type="http://schemas.openxmlformats.org/officeDocument/2006/relationships/image" Target="../media/image113.png"/><Relationship Id="rId7" Type="http://schemas.openxmlformats.org/officeDocument/2006/relationships/image" Target="../media/image114.png"/><Relationship Id="rId8" Type="http://schemas.openxmlformats.org/officeDocument/2006/relationships/image" Target="../media/image11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xml"/><Relationship Id="rId4" Type="http://schemas.openxmlformats.org/officeDocument/2006/relationships/chart" Target="../charts/chart14.xml"/><Relationship Id="rId5" Type="http://schemas.openxmlformats.org/officeDocument/2006/relationships/notesSlide" Target="../notesSlides/notesSlide2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 Id="rId4" Type="http://schemas.openxmlformats.org/officeDocument/2006/relationships/image" Target="../media/image118.png"/><Relationship Id="rId5" Type="http://schemas.openxmlformats.org/officeDocument/2006/relationships/image" Target="../media/image119.png"/><Relationship Id="rId6" Type="http://schemas.openxmlformats.org/officeDocument/2006/relationships/image" Target="../media/image120.png"/><Relationship Id="rId7" Type="http://schemas.openxmlformats.org/officeDocument/2006/relationships/image" Target="../media/image121.png"/><Relationship Id="rId8" Type="http://schemas.openxmlformats.org/officeDocument/2006/relationships/image" Target="../media/image122.png"/><Relationship Id="rId9" Type="http://schemas.openxmlformats.org/officeDocument/2006/relationships/image" Target="../media/image123.png"/><Relationship Id="rId10" Type="http://schemas.openxmlformats.org/officeDocument/2006/relationships/image" Target="../media/image124.png"/><Relationship Id="rId11" Type="http://schemas.openxmlformats.org/officeDocument/2006/relationships/image" Target="../media/image125.png"/><Relationship Id="rId12" Type="http://schemas.openxmlformats.org/officeDocument/2006/relationships/image" Target="../media/image126.png"/><Relationship Id="rId13" Type="http://schemas.openxmlformats.org/officeDocument/2006/relationships/image" Target="../media/image127.png"/><Relationship Id="rId14" Type="http://schemas.openxmlformats.org/officeDocument/2006/relationships/image" Target="../media/image128.png"/><Relationship Id="rId15" Type="http://schemas.openxmlformats.org/officeDocument/2006/relationships/image" Target="../media/image129.png"/><Relationship Id="rId16"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 Id="rId4" Type="http://schemas.openxmlformats.org/officeDocument/2006/relationships/image" Target="../media/image130.png"/><Relationship Id="rId5" Type="http://schemas.openxmlformats.org/officeDocument/2006/relationships/image" Target="../media/image131.png"/><Relationship Id="rId6" Type="http://schemas.openxmlformats.org/officeDocument/2006/relationships/image" Target="../media/image132.png"/><Relationship Id="rId7" Type="http://schemas.openxmlformats.org/officeDocument/2006/relationships/image" Target="../media/image133.png"/><Relationship Id="rId8" Type="http://schemas.openxmlformats.org/officeDocument/2006/relationships/image" Target="../media/image134.png"/><Relationship Id="rId9" Type="http://schemas.openxmlformats.org/officeDocument/2006/relationships/image" Target="../media/image78.png"/><Relationship Id="rId10" Type="http://schemas.openxmlformats.org/officeDocument/2006/relationships/image" Target="../media/image135.png"/><Relationship Id="rId11" Type="http://schemas.openxmlformats.org/officeDocument/2006/relationships/image" Target="../media/image136.png"/><Relationship Id="rId12" Type="http://schemas.openxmlformats.org/officeDocument/2006/relationships/image" Target="../media/image137.png"/><Relationship Id="rId13" Type="http://schemas.openxmlformats.org/officeDocument/2006/relationships/image" Target="../media/image138.png"/><Relationship Id="rId14" Type="http://schemas.openxmlformats.org/officeDocument/2006/relationships/image" Target="../media/image53.png"/><Relationship Id="rId15" Type="http://schemas.openxmlformats.org/officeDocument/2006/relationships/image" Target="../media/image139.png"/><Relationship Id="rId16"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xml"/><Relationship Id="rId4" Type="http://schemas.openxmlformats.org/officeDocument/2006/relationships/chart" Target="../charts/chart16.xml"/><Relationship Id="rId5" Type="http://schemas.openxmlformats.org/officeDocument/2006/relationships/notesSlide" Target="../notesSlides/notesSlide26.xml"/><Relationship Id="rId6"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7.xml"/><Relationship Id="rId4" Type="http://schemas.openxmlformats.org/officeDocument/2006/relationships/chart" Target="../charts/chart18.xml"/><Relationship Id="rId5" Type="http://schemas.openxmlformats.org/officeDocument/2006/relationships/chart" Target="../charts/chart19.xml"/><Relationship Id="rId6" Type="http://schemas.openxmlformats.org/officeDocument/2006/relationships/chart" Target="../charts/chart20.xml"/><Relationship Id="rId7" Type="http://schemas.openxmlformats.org/officeDocument/2006/relationships/notesSlide" Target="../notesSlides/notesSlide27.xml"/><Relationship Id="rId8"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1.xml"/><Relationship Id="rId4" Type="http://schemas.openxmlformats.org/officeDocument/2006/relationships/chart" Target="../charts/chart22.xml"/><Relationship Id="rId5" Type="http://schemas.openxmlformats.org/officeDocument/2006/relationships/chart" Target="../charts/chart23.xml"/><Relationship Id="rId6" Type="http://schemas.openxmlformats.org/officeDocument/2006/relationships/chart" Target="../charts/chart24.xml"/><Relationship Id="rId7" Type="http://schemas.openxmlformats.org/officeDocument/2006/relationships/notesSlide" Target="../notesSlides/notesSlide28.xml"/><Relationship Id="rId8"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 Id="rId4" Type="http://schemas.openxmlformats.org/officeDocument/2006/relationships/image" Target="../media/image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5.xml"/><Relationship Id="rId4" Type="http://schemas.openxmlformats.org/officeDocument/2006/relationships/notesSlide" Target="../notesSlides/notesSlide32.xml"/><Relationship Id="rId5" Type="http://schemas.openxmlformats.org/officeDocument/2006/relationships/image" Target="../media/image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xml"/><Relationship Id="rId4" Type="http://schemas.openxmlformats.org/officeDocument/2006/relationships/image" Target="../media/image208.png"/><Relationship Id="rId5" Type="http://schemas.openxmlformats.org/officeDocument/2006/relationships/image" Target="../media/image209.png"/><Relationship Id="rId6" Type="http://schemas.openxmlformats.org/officeDocument/2006/relationships/image" Target="../media/image69.png"/><Relationship Id="rId7" Type="http://schemas.openxmlformats.org/officeDocument/2006/relationships/image" Target="../media/image210.png"/><Relationship Id="rId8" Type="http://schemas.openxmlformats.org/officeDocument/2006/relationships/image" Target="../media/image211.png"/><Relationship Id="rId9" Type="http://schemas.openxmlformats.org/officeDocument/2006/relationships/image" Target="../media/image212.png"/><Relationship Id="rId10"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6.xml"/><Relationship Id="rId4" Type="http://schemas.openxmlformats.org/officeDocument/2006/relationships/chart" Target="../charts/chart27.xml"/><Relationship Id="rId5" Type="http://schemas.openxmlformats.org/officeDocument/2006/relationships/notesSlide" Target="../notesSlides/notesSlide36.xml"/><Relationship Id="rId6" Type="http://schemas.openxmlformats.org/officeDocument/2006/relationships/image" Target="../media/image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8.xml"/><Relationship Id="rId4" Type="http://schemas.openxmlformats.org/officeDocument/2006/relationships/chart" Target="../charts/chart29.xml"/><Relationship Id="rId5" Type="http://schemas.openxmlformats.org/officeDocument/2006/relationships/notesSlide" Target="../notesSlides/notesSlide37.xml"/><Relationship Id="rId6" Type="http://schemas.openxmlformats.org/officeDocument/2006/relationships/image" Target="../media/image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xml"/><Relationship Id="rId4" Type="http://schemas.openxmlformats.org/officeDocument/2006/relationships/image" Target="../media/image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0.xml"/><Relationship Id="rId4" Type="http://schemas.openxmlformats.org/officeDocument/2006/relationships/notesSlide" Target="../notesSlides/notesSlide40.xml"/><Relationship Id="rId5" Type="http://schemas.openxmlformats.org/officeDocument/2006/relationships/image" Target="../media/image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 Id="rId4" Type="http://schemas.openxmlformats.org/officeDocument/2006/relationships/image" Target="../media/image233.png"/><Relationship Id="rId5" Type="http://schemas.openxmlformats.org/officeDocument/2006/relationships/image" Target="../media/image234.png"/><Relationship Id="rId6" Type="http://schemas.openxmlformats.org/officeDocument/2006/relationships/image" Target="../media/image235.png"/><Relationship Id="rId7" Type="http://schemas.openxmlformats.org/officeDocument/2006/relationships/image" Target="../media/image236.png"/><Relationship Id="rId8" Type="http://schemas.openxmlformats.org/officeDocument/2006/relationships/image" Target="../media/image237.png"/><Relationship Id="rId9" Type="http://schemas.openxmlformats.org/officeDocument/2006/relationships/image" Target="../media/image238.png"/><Relationship Id="rId10" Type="http://schemas.openxmlformats.org/officeDocument/2006/relationships/image" Target="../media/image239.png"/><Relationship Id="rId11" Type="http://schemas.openxmlformats.org/officeDocument/2006/relationships/image" Target="../media/image240.png"/><Relationship Id="rId12" Type="http://schemas.openxmlformats.org/officeDocument/2006/relationships/image" Target="../media/image137.png"/><Relationship Id="rId13" Type="http://schemas.openxmlformats.org/officeDocument/2006/relationships/image" Target="../media/image241.png"/><Relationship Id="rId14" Type="http://schemas.openxmlformats.org/officeDocument/2006/relationships/image" Target="../media/image242.png"/><Relationship Id="rId15" Type="http://schemas.openxmlformats.org/officeDocument/2006/relationships/image" Target="../media/image243.png"/><Relationship Id="rId16" Type="http://schemas.openxmlformats.org/officeDocument/2006/relationships/image" Target="../media/image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1.xml"/><Relationship Id="rId4" Type="http://schemas.openxmlformats.org/officeDocument/2006/relationships/chart" Target="../charts/chart32.xml"/><Relationship Id="rId5" Type="http://schemas.openxmlformats.org/officeDocument/2006/relationships/notesSlide" Target="../notesSlides/notesSlide44.xml"/><Relationship Id="rId6" Type="http://schemas.openxmlformats.org/officeDocument/2006/relationships/image" Target="../media/image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3.xml"/><Relationship Id="rId4" Type="http://schemas.openxmlformats.org/officeDocument/2006/relationships/chart" Target="../charts/chart34.xml"/><Relationship Id="rId5" Type="http://schemas.openxmlformats.org/officeDocument/2006/relationships/chart" Target="../charts/chart35.xml"/><Relationship Id="rId6" Type="http://schemas.openxmlformats.org/officeDocument/2006/relationships/chart" Target="../charts/chart36.xml"/><Relationship Id="rId7" Type="http://schemas.openxmlformats.org/officeDocument/2006/relationships/notesSlide" Target="../notesSlides/notesSlide45.xml"/><Relationship Id="rId8" Type="http://schemas.openxmlformats.org/officeDocument/2006/relationships/image" Target="../media/image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xml"/><Relationship Id="rId4" Type="http://schemas.openxmlformats.org/officeDocument/2006/relationships/image" Target="../media/image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7.xml"/><Relationship Id="rId4" Type="http://schemas.openxmlformats.org/officeDocument/2006/relationships/notesSlide" Target="../notesSlides/notesSlide48.xml"/><Relationship Id="rId5" Type="http://schemas.openxmlformats.org/officeDocument/2006/relationships/image" Target="../media/image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1.xml"/><Relationship Id="rId4" Type="http://schemas.openxmlformats.org/officeDocument/2006/relationships/image" Target="../media/image282.png"/><Relationship Id="rId5" Type="http://schemas.openxmlformats.org/officeDocument/2006/relationships/image" Target="../media/image283.png"/><Relationship Id="rId6" Type="http://schemas.openxmlformats.org/officeDocument/2006/relationships/image" Target="../media/image98.png"/><Relationship Id="rId7" Type="http://schemas.openxmlformats.org/officeDocument/2006/relationships/image" Target="../media/image284.png"/><Relationship Id="rId8" Type="http://schemas.openxmlformats.org/officeDocument/2006/relationships/image" Target="../media/image285.png"/><Relationship Id="rId9" Type="http://schemas.openxmlformats.org/officeDocument/2006/relationships/image" Target="../media/image286.png"/><Relationship Id="rId10" Type="http://schemas.openxmlformats.org/officeDocument/2006/relationships/image" Target="../media/image287.png"/><Relationship Id="rId11" Type="http://schemas.openxmlformats.org/officeDocument/2006/relationships/image" Target="../media/image288.png"/><Relationship Id="rId12" Type="http://schemas.openxmlformats.org/officeDocument/2006/relationships/image" Target="../media/image289.png"/><Relationship Id="rId13" Type="http://schemas.openxmlformats.org/officeDocument/2006/relationships/image" Target="../media/image290.png"/><Relationship Id="rId14" Type="http://schemas.openxmlformats.org/officeDocument/2006/relationships/image" Target="../media/image291.png"/><Relationship Id="rId15" Type="http://schemas.openxmlformats.org/officeDocument/2006/relationships/image" Target="../media/image292.png"/><Relationship Id="rId16" Type="http://schemas.openxmlformats.org/officeDocument/2006/relationships/image" Target="../media/image293.png"/><Relationship Id="rId17" Type="http://schemas.openxmlformats.org/officeDocument/2006/relationships/image" Target="../media/image294.png"/><Relationship Id="rId18" Type="http://schemas.openxmlformats.org/officeDocument/2006/relationships/image" Target="../media/image295.png"/><Relationship Id="rId19" Type="http://schemas.openxmlformats.org/officeDocument/2006/relationships/image" Target="../media/image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2.xml"/><Relationship Id="rId4" Type="http://schemas.openxmlformats.org/officeDocument/2006/relationships/image" Target="../media/image296.png"/><Relationship Id="rId5" Type="http://schemas.openxmlformats.org/officeDocument/2006/relationships/image" Target="../media/image297.png"/><Relationship Id="rId6" Type="http://schemas.openxmlformats.org/officeDocument/2006/relationships/image" Target="../media/image298.png"/><Relationship Id="rId7" Type="http://schemas.openxmlformats.org/officeDocument/2006/relationships/image" Target="../media/image299.png"/><Relationship Id="rId8" Type="http://schemas.openxmlformats.org/officeDocument/2006/relationships/image" Target="../media/image300.png"/><Relationship Id="rId9" Type="http://schemas.openxmlformats.org/officeDocument/2006/relationships/image" Target="../media/image132.png"/><Relationship Id="rId10" Type="http://schemas.openxmlformats.org/officeDocument/2006/relationships/image" Target="../media/image301.png"/><Relationship Id="rId11" Type="http://schemas.openxmlformats.org/officeDocument/2006/relationships/image" Target="../media/image302.png"/><Relationship Id="rId12" Type="http://schemas.openxmlformats.org/officeDocument/2006/relationships/image" Target="../media/image303.png"/><Relationship Id="rId13" Type="http://schemas.openxmlformats.org/officeDocument/2006/relationships/image" Target="../media/image304.png"/><Relationship Id="rId14" Type="http://schemas.openxmlformats.org/officeDocument/2006/relationships/image" Target="../media/image305.png"/><Relationship Id="rId15" Type="http://schemas.openxmlformats.org/officeDocument/2006/relationships/image" Target="../media/image75.png"/><Relationship Id="rId16" Type="http://schemas.openxmlformats.org/officeDocument/2006/relationships/image" Target="../media/image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8.xml"/><Relationship Id="rId4" Type="http://schemas.openxmlformats.org/officeDocument/2006/relationships/chart" Target="../charts/chart39.xml"/><Relationship Id="rId5" Type="http://schemas.openxmlformats.org/officeDocument/2006/relationships/notesSlide" Target="../notesSlides/notesSlide53.xml"/><Relationship Id="rId6" Type="http://schemas.openxmlformats.org/officeDocument/2006/relationships/image" Target="../media/image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0.xml"/><Relationship Id="rId4" Type="http://schemas.openxmlformats.org/officeDocument/2006/relationships/chart" Target="../charts/chart41.xml"/><Relationship Id="rId5" Type="http://schemas.openxmlformats.org/officeDocument/2006/relationships/chart" Target="../charts/chart42.xml"/><Relationship Id="rId6" Type="http://schemas.openxmlformats.org/officeDocument/2006/relationships/chart" Target="../charts/chart43.xml"/><Relationship Id="rId7" Type="http://schemas.openxmlformats.org/officeDocument/2006/relationships/notesSlide" Target="../notesSlides/notesSlide54.xml"/><Relationship Id="rId8" Type="http://schemas.openxmlformats.org/officeDocument/2006/relationships/image" Target="../media/image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4.xml"/><Relationship Id="rId4" Type="http://schemas.openxmlformats.org/officeDocument/2006/relationships/chart" Target="../charts/chart45.xml"/><Relationship Id="rId5" Type="http://schemas.openxmlformats.org/officeDocument/2006/relationships/chart" Target="../charts/chart46.xml"/><Relationship Id="rId6" Type="http://schemas.openxmlformats.org/officeDocument/2006/relationships/chart" Target="../charts/chart47.xml"/><Relationship Id="rId7" Type="http://schemas.openxmlformats.org/officeDocument/2006/relationships/notesSlide" Target="../notesSlides/notesSlide55.xml"/><Relationship Id="rId8" Type="http://schemas.openxmlformats.org/officeDocument/2006/relationships/image" Target="../media/image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8.xml"/><Relationship Id="rId4" Type="http://schemas.openxmlformats.org/officeDocument/2006/relationships/notesSlide" Target="../notesSlides/notesSlide56.xml"/><Relationship Id="rId5" Type="http://schemas.openxmlformats.org/officeDocument/2006/relationships/image" Target="../media/image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9.xml"/><Relationship Id="rId4" Type="http://schemas.openxmlformats.org/officeDocument/2006/relationships/image" Target="../media/image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9.xml"/><Relationship Id="rId4" Type="http://schemas.openxmlformats.org/officeDocument/2006/relationships/notesSlide" Target="../notesSlides/notesSlide60.xml"/><Relationship Id="rId5" Type="http://schemas.openxmlformats.org/officeDocument/2006/relationships/image" Target="../media/image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3.xml"/><Relationship Id="rId4" Type="http://schemas.openxmlformats.org/officeDocument/2006/relationships/image" Target="../media/image331.png"/><Relationship Id="rId5" Type="http://schemas.openxmlformats.org/officeDocument/2006/relationships/image" Target="../media/image332.png"/><Relationship Id="rId6" Type="http://schemas.openxmlformats.org/officeDocument/2006/relationships/image" Target="../media/image333.png"/><Relationship Id="rId7" Type="http://schemas.openxmlformats.org/officeDocument/2006/relationships/image" Target="../media/image334.png"/><Relationship Id="rId8" Type="http://schemas.openxmlformats.org/officeDocument/2006/relationships/image" Target="../media/image335.png"/><Relationship Id="rId9" Type="http://schemas.openxmlformats.org/officeDocument/2006/relationships/image" Target="../media/image78.png"/><Relationship Id="rId10" Type="http://schemas.openxmlformats.org/officeDocument/2006/relationships/image" Target="../media/image336.png"/><Relationship Id="rId11" Type="http://schemas.openxmlformats.org/officeDocument/2006/relationships/image" Target="../media/image337.png"/><Relationship Id="rId12" Type="http://schemas.openxmlformats.org/officeDocument/2006/relationships/image" Target="../media/image286.png"/><Relationship Id="rId13" Type="http://schemas.openxmlformats.org/officeDocument/2006/relationships/image" Target="../media/image338.png"/><Relationship Id="rId14" Type="http://schemas.openxmlformats.org/officeDocument/2006/relationships/image" Target="../media/image339.png"/><Relationship Id="rId15" Type="http://schemas.openxmlformats.org/officeDocument/2006/relationships/image" Target="../media/image340.png"/><Relationship Id="rId16" Type="http://schemas.openxmlformats.org/officeDocument/2006/relationships/image" Target="../media/image341.png"/><Relationship Id="rId17" Type="http://schemas.openxmlformats.org/officeDocument/2006/relationships/image" Target="../media/image342.png"/><Relationship Id="rId18" Type="http://schemas.openxmlformats.org/officeDocument/2006/relationships/image" Target="../media/image295.png"/><Relationship Id="rId19" Type="http://schemas.openxmlformats.org/officeDocument/2006/relationships/image" Target="../media/image343.png"/><Relationship Id="rId20" Type="http://schemas.openxmlformats.org/officeDocument/2006/relationships/image" Target="../media/image344.png"/><Relationship Id="rId21" Type="http://schemas.openxmlformats.org/officeDocument/2006/relationships/image" Target="../media/image345.png"/><Relationship Id="rId22" Type="http://schemas.openxmlformats.org/officeDocument/2006/relationships/image" Target="../media/image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0.xml"/><Relationship Id="rId4" Type="http://schemas.openxmlformats.org/officeDocument/2006/relationships/chart" Target="../charts/chart51.xml"/><Relationship Id="rId5" Type="http://schemas.openxmlformats.org/officeDocument/2006/relationships/notesSlide" Target="../notesSlides/notesSlide64.xml"/><Relationship Id="rId6" Type="http://schemas.openxmlformats.org/officeDocument/2006/relationships/image" Target="../media/image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2.xml"/><Relationship Id="rId4" Type="http://schemas.openxmlformats.org/officeDocument/2006/relationships/chart" Target="../charts/chart53.xml"/><Relationship Id="rId5" Type="http://schemas.openxmlformats.org/officeDocument/2006/relationships/chart" Target="../charts/chart54.xml"/><Relationship Id="rId6" Type="http://schemas.openxmlformats.org/officeDocument/2006/relationships/chart" Target="../charts/chart55.xml"/><Relationship Id="rId7" Type="http://schemas.openxmlformats.org/officeDocument/2006/relationships/notesSlide" Target="../notesSlides/notesSlide65.xml"/><Relationship Id="rId8" Type="http://schemas.openxmlformats.org/officeDocument/2006/relationships/image" Target="../media/image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6.xml"/><Relationship Id="rId4" Type="http://schemas.openxmlformats.org/officeDocument/2006/relationships/chart" Target="../charts/chart57.xml"/><Relationship Id="rId5" Type="http://schemas.openxmlformats.org/officeDocument/2006/relationships/notesSlide" Target="../notesSlides/notesSlide66.xml"/><Relationship Id="rId6" Type="http://schemas.openxmlformats.org/officeDocument/2006/relationships/image" Target="../media/image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8.xml"/><Relationship Id="rId4" Type="http://schemas.openxmlformats.org/officeDocument/2006/relationships/image" Target="../media/image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8.xml"/><Relationship Id="rId4" Type="http://schemas.openxmlformats.org/officeDocument/2006/relationships/notesSlide" Target="../notesSlides/notesSlide69.xml"/><Relationship Id="rId5" Type="http://schemas.openxmlformats.org/officeDocument/2006/relationships/image" Target="../media/image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2.xml"/><Relationship Id="rId4" Type="http://schemas.openxmlformats.org/officeDocument/2006/relationships/image" Target="../media/image396.png"/><Relationship Id="rId5" Type="http://schemas.openxmlformats.org/officeDocument/2006/relationships/image" Target="../media/image397.png"/><Relationship Id="rId6" Type="http://schemas.openxmlformats.org/officeDocument/2006/relationships/image" Target="../media/image398.png"/><Relationship Id="rId7" Type="http://schemas.openxmlformats.org/officeDocument/2006/relationships/image" Target="../media/image399.png"/><Relationship Id="rId8" Type="http://schemas.openxmlformats.org/officeDocument/2006/relationships/image" Target="../media/image400.png"/><Relationship Id="rId9" Type="http://schemas.openxmlformats.org/officeDocument/2006/relationships/image" Target="../media/image401.png"/><Relationship Id="rId10" Type="http://schemas.openxmlformats.org/officeDocument/2006/relationships/image" Target="../media/image402.png"/><Relationship Id="rId11" Type="http://schemas.openxmlformats.org/officeDocument/2006/relationships/image" Target="../media/image403.png"/><Relationship Id="rId12" Type="http://schemas.openxmlformats.org/officeDocument/2006/relationships/image" Target="../media/image404.png"/><Relationship Id="rId13" Type="http://schemas.openxmlformats.org/officeDocument/2006/relationships/image" Target="../media/image405.png"/><Relationship Id="rId14" Type="http://schemas.openxmlformats.org/officeDocument/2006/relationships/image" Target="../media/image121.png"/><Relationship Id="rId15" Type="http://schemas.openxmlformats.org/officeDocument/2006/relationships/image" Target="../media/image212.png"/><Relationship Id="rId16" Type="http://schemas.openxmlformats.org/officeDocument/2006/relationships/image" Target="../media/image406.png"/><Relationship Id="rId17" Type="http://schemas.openxmlformats.org/officeDocument/2006/relationships/image" Target="../media/image407.png"/><Relationship Id="rId18" Type="http://schemas.openxmlformats.org/officeDocument/2006/relationships/image" Target="../media/image408.png"/><Relationship Id="rId19" Type="http://schemas.openxmlformats.org/officeDocument/2006/relationships/image" Target="../media/image2.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9.xml"/><Relationship Id="rId4" Type="http://schemas.openxmlformats.org/officeDocument/2006/relationships/chart" Target="../charts/chart60.xml"/><Relationship Id="rId5" Type="http://schemas.openxmlformats.org/officeDocument/2006/relationships/notesSlide" Target="../notesSlides/notesSlide73.xml"/><Relationship Id="rId6" Type="http://schemas.openxmlformats.org/officeDocument/2006/relationships/image" Target="../media/image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1.xml"/><Relationship Id="rId4" Type="http://schemas.openxmlformats.org/officeDocument/2006/relationships/chart" Target="../charts/chart62.xml"/><Relationship Id="rId5" Type="http://schemas.openxmlformats.org/officeDocument/2006/relationships/chart" Target="../charts/chart63.xml"/><Relationship Id="rId6" Type="http://schemas.openxmlformats.org/officeDocument/2006/relationships/chart" Target="../charts/chart64.xml"/><Relationship Id="rId7" Type="http://schemas.openxmlformats.org/officeDocument/2006/relationships/notesSlide" Target="../notesSlides/notesSlide74.xml"/><Relationship Id="rId8" Type="http://schemas.openxmlformats.org/officeDocument/2006/relationships/image" Target="../media/image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5.xml"/><Relationship Id="rId4" Type="http://schemas.openxmlformats.org/officeDocument/2006/relationships/notesSlide" Target="../notesSlides/notesSlide75.xml"/><Relationship Id="rId5" Type="http://schemas.openxmlformats.org/officeDocument/2006/relationships/image" Target="../media/image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7.xml"/><Relationship Id="rId4" Type="http://schemas.openxmlformats.org/officeDocument/2006/relationships/image" Target="../media/image2.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6.xml"/><Relationship Id="rId4" Type="http://schemas.openxmlformats.org/officeDocument/2006/relationships/notesSlide" Target="../notesSlides/notesSlide78.xml"/><Relationship Id="rId5" Type="http://schemas.openxmlformats.org/officeDocument/2006/relationships/image" Target="../media/image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7.xml"/><Relationship Id="rId4" Type="http://schemas.openxmlformats.org/officeDocument/2006/relationships/chart" Target="../charts/chart68.xml"/><Relationship Id="rId5" Type="http://schemas.openxmlformats.org/officeDocument/2006/relationships/notesSlide" Target="../notesSlides/notesSlide82.xml"/><Relationship Id="rId6" Type="http://schemas.openxmlformats.org/officeDocument/2006/relationships/image" Target="../media/image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3.xml"/><Relationship Id="rId4" Type="http://schemas.openxmlformats.org/officeDocument/2006/relationships/image" Target="../media/image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9.xml"/><Relationship Id="rId4" Type="http://schemas.openxmlformats.org/officeDocument/2006/relationships/chart" Target="../charts/chart70.xml"/><Relationship Id="rId5" Type="http://schemas.openxmlformats.org/officeDocument/2006/relationships/notesSlide" Target="../notesSlides/notesSlide84.xml"/><Relationship Id="rId6" Type="http://schemas.openxmlformats.org/officeDocument/2006/relationships/image" Target="../media/image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1.xml"/><Relationship Id="rId4" Type="http://schemas.openxmlformats.org/officeDocument/2006/relationships/chart" Target="../charts/chart72.xml"/><Relationship Id="rId5" Type="http://schemas.openxmlformats.org/officeDocument/2006/relationships/notesSlide" Target="../notesSlides/notesSlide85.xml"/><Relationship Id="rId6" Type="http://schemas.openxmlformats.org/officeDocument/2006/relationships/image" Target="../media/image2.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3.xml"/><Relationship Id="rId4" Type="http://schemas.openxmlformats.org/officeDocument/2006/relationships/chart" Target="../charts/chart74.xml"/><Relationship Id="rId5" Type="http://schemas.openxmlformats.org/officeDocument/2006/relationships/notesSlide" Target="../notesSlides/notesSlide86.xml"/><Relationship Id="rId6" Type="http://schemas.openxmlformats.org/officeDocument/2006/relationships/image" Target="../media/image2.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7.xml"/><Relationship Id="rId4" Type="http://schemas.openxmlformats.org/officeDocument/2006/relationships/image" Target="../media/image2.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5.xml"/><Relationship Id="rId4" Type="http://schemas.openxmlformats.org/officeDocument/2006/relationships/notesSlide" Target="../notesSlides/notesSlide88.xml"/><Relationship Id="rId5" Type="http://schemas.openxmlformats.org/officeDocument/2006/relationships/image" Target="../media/image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9.xml"/><Relationship Id="rId4" Type="http://schemas.openxmlformats.org/officeDocument/2006/relationships/image" Target="../media/image2.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6.xml"/><Relationship Id="rId4" Type="http://schemas.openxmlformats.org/officeDocument/2006/relationships/notesSlide" Target="../notesSlides/notesSlide90.xml"/><Relationship Id="rId5" Type="http://schemas.openxmlformats.org/officeDocument/2006/relationships/image" Target="../media/image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1.xml"/><Relationship Id="rId4" Type="http://schemas.openxmlformats.org/officeDocument/2006/relationships/image" Target="../media/image2.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7.xml"/><Relationship Id="rId4" Type="http://schemas.openxmlformats.org/officeDocument/2006/relationships/notesSlide" Target="../notesSlides/notesSlide92.xml"/><Relationship Id="rId5" Type="http://schemas.openxmlformats.org/officeDocument/2006/relationships/image" Target="../media/image2.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8.xml"/><Relationship Id="rId4" Type="http://schemas.openxmlformats.org/officeDocument/2006/relationships/notesSlide" Target="../notesSlides/notesSlide93.xml"/><Relationship Id="rId5" Type="http://schemas.openxmlformats.org/officeDocument/2006/relationships/image" Target="../media/image2.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4.xml"/><Relationship Id="rId4" Type="http://schemas.openxmlformats.org/officeDocument/2006/relationships/image" Target="../media/image2.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5.xml"/><Relationship Id="rId4" Type="http://schemas.openxmlformats.org/officeDocument/2006/relationships/image" Target="../media/image2.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9.xml"/><Relationship Id="rId4" Type="http://schemas.openxmlformats.org/officeDocument/2006/relationships/chart" Target="../charts/chart80.xml"/><Relationship Id="rId5" Type="http://schemas.openxmlformats.org/officeDocument/2006/relationships/notesSlide" Target="../notesSlides/notesSlide96.xml"/><Relationship Id="rId6" Type="http://schemas.openxmlformats.org/officeDocument/2006/relationships/image" Target="../media/image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7.xml"/><Relationship Id="rId4" Type="http://schemas.openxmlformats.org/officeDocument/2006/relationships/image" Target="../media/image2.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8.xml"/><Relationship Id="rId4" Type="http://schemas.openxmlformats.org/officeDocument/2006/relationships/image" Target="../media/image612.png"/><Relationship Id="rId5" Type="http://schemas.openxmlformats.org/officeDocument/2006/relationships/image" Target="../media/image613.png"/><Relationship Id="rId6" Type="http://schemas.openxmlformats.org/officeDocument/2006/relationships/image" Target="../media/image235.png"/><Relationship Id="rId7" Type="http://schemas.openxmlformats.org/officeDocument/2006/relationships/image" Target="../media/image614.png"/><Relationship Id="rId8" Type="http://schemas.openxmlformats.org/officeDocument/2006/relationships/image" Target="../media/image501.png"/><Relationship Id="rId9" Type="http://schemas.openxmlformats.org/officeDocument/2006/relationships/image" Target="../media/image615.png"/><Relationship Id="rId10" Type="http://schemas.openxmlformats.org/officeDocument/2006/relationships/image" Target="../media/image616.png"/><Relationship Id="rId11" Type="http://schemas.openxmlformats.org/officeDocument/2006/relationships/image" Target="../media/image617.png"/><Relationship Id="rId12" Type="http://schemas.openxmlformats.org/officeDocument/2006/relationships/image" Target="../media/image69.png"/><Relationship Id="rId13" Type="http://schemas.openxmlformats.org/officeDocument/2006/relationships/image" Target="../media/image598.png"/><Relationship Id="rId14" Type="http://schemas.openxmlformats.org/officeDocument/2006/relationships/image" Target="../media/image618.png"/><Relationship Id="rId15" Type="http://schemas.openxmlformats.org/officeDocument/2006/relationships/image" Target="../media/image286.png"/><Relationship Id="rId16" Type="http://schemas.openxmlformats.org/officeDocument/2006/relationships/image" Target="../media/image2.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9.xml"/><Relationship Id="rId4" Type="http://schemas.openxmlformats.org/officeDocument/2006/relationships/image" Target="../media/image619.png"/><Relationship Id="rId5" Type="http://schemas.openxmlformats.org/officeDocument/2006/relationships/image" Target="../media/image497.png"/><Relationship Id="rId6" Type="http://schemas.openxmlformats.org/officeDocument/2006/relationships/image" Target="../media/image620.png"/><Relationship Id="rId7" Type="http://schemas.openxmlformats.org/officeDocument/2006/relationships/image" Target="../media/image621.png"/><Relationship Id="rId8" Type="http://schemas.openxmlformats.org/officeDocument/2006/relationships/image" Target="../media/image498.png"/><Relationship Id="rId9" Type="http://schemas.openxmlformats.org/officeDocument/2006/relationships/image" Target="../media/image115.png"/><Relationship Id="rId10" Type="http://schemas.openxmlformats.org/officeDocument/2006/relationships/image" Target="../media/image622.png"/><Relationship Id="rId11" Type="http://schemas.openxmlformats.org/officeDocument/2006/relationships/image" Target="../media/image500.png"/><Relationship Id="rId12" Type="http://schemas.openxmlformats.org/officeDocument/2006/relationships/image" Target="../media/image623.png"/><Relationship Id="rId13" Type="http://schemas.openxmlformats.org/officeDocument/2006/relationships/image" Target="../media/image624.png"/><Relationship Id="rId14" Type="http://schemas.openxmlformats.org/officeDocument/2006/relationships/image" Target="../media/image496.png"/><Relationship Id="rId15" Type="http://schemas.openxmlformats.org/officeDocument/2006/relationships/image" Target="../media/image625.png"/><Relationship Id="rId16" Type="http://schemas.openxmlformats.org/officeDocument/2006/relationships/image" Target="../media/image2.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1.xml"/><Relationship Id="rId4" Type="http://schemas.openxmlformats.org/officeDocument/2006/relationships/chart" Target="../charts/chart82.xml"/><Relationship Id="rId5" Type="http://schemas.openxmlformats.org/officeDocument/2006/relationships/notesSlide" Target="../notesSlides/notesSlide100.xml"/><Relationship Id="rId6" Type="http://schemas.openxmlformats.org/officeDocument/2006/relationships/image" Target="../media/image2.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3.xml"/><Relationship Id="rId4" Type="http://schemas.openxmlformats.org/officeDocument/2006/relationships/chart" Target="../charts/chart84.xml"/><Relationship Id="rId5" Type="http://schemas.openxmlformats.org/officeDocument/2006/relationships/chart" Target="../charts/chart85.xml"/><Relationship Id="rId6" Type="http://schemas.openxmlformats.org/officeDocument/2006/relationships/chart" Target="../charts/chart86.xml"/><Relationship Id="rId7" Type="http://schemas.openxmlformats.org/officeDocument/2006/relationships/notesSlide" Target="../notesSlides/notesSlide101.xml"/><Relationship Id="rId8" Type="http://schemas.openxmlformats.org/officeDocument/2006/relationships/image" Target="../media/image2.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7.xml"/><Relationship Id="rId4" Type="http://schemas.openxmlformats.org/officeDocument/2006/relationships/chart" Target="../charts/chart88.xml"/><Relationship Id="rId5" Type="http://schemas.openxmlformats.org/officeDocument/2006/relationships/chart" Target="../charts/chart89.xml"/><Relationship Id="rId6" Type="http://schemas.openxmlformats.org/officeDocument/2006/relationships/chart" Target="../charts/chart90.xml"/><Relationship Id="rId7" Type="http://schemas.openxmlformats.org/officeDocument/2006/relationships/notesSlide" Target="../notesSlides/notesSlide102.xml"/><Relationship Id="rId8" Type="http://schemas.openxmlformats.org/officeDocument/2006/relationships/image" Target="../media/image2.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4.xml"/><Relationship Id="rId4" Type="http://schemas.openxmlformats.org/officeDocument/2006/relationships/image" Target="../media/image2.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1.xml"/><Relationship Id="rId4" Type="http://schemas.openxmlformats.org/officeDocument/2006/relationships/notesSlide" Target="../notesSlides/notesSlide105.xml"/><Relationship Id="rId5" Type="http://schemas.openxmlformats.org/officeDocument/2006/relationships/image" Target="../media/image2.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8.xml"/><Relationship Id="rId4" Type="http://schemas.openxmlformats.org/officeDocument/2006/relationships/image" Target="../media/image672.png"/><Relationship Id="rId5" Type="http://schemas.openxmlformats.org/officeDocument/2006/relationships/image" Target="../media/image673.png"/><Relationship Id="rId6" Type="http://schemas.openxmlformats.org/officeDocument/2006/relationships/image" Target="../media/image139.png"/><Relationship Id="rId7" Type="http://schemas.openxmlformats.org/officeDocument/2006/relationships/image" Target="../media/image674.png"/><Relationship Id="rId8" Type="http://schemas.openxmlformats.org/officeDocument/2006/relationships/image" Target="../media/image675.png"/><Relationship Id="rId9" Type="http://schemas.openxmlformats.org/officeDocument/2006/relationships/image" Target="../media/image676.png"/><Relationship Id="rId10" Type="http://schemas.openxmlformats.org/officeDocument/2006/relationships/image" Target="../media/image2.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2.xml"/><Relationship Id="rId4" Type="http://schemas.openxmlformats.org/officeDocument/2006/relationships/chart" Target="../charts/chart93.xml"/><Relationship Id="rId5" Type="http://schemas.openxmlformats.org/officeDocument/2006/relationships/notesSlide" Target="../notesSlides/notesSlide109.xml"/><Relationship Id="rId6" Type="http://schemas.openxmlformats.org/officeDocument/2006/relationships/image" Target="../media/image2.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4.xml"/><Relationship Id="rId4" Type="http://schemas.openxmlformats.org/officeDocument/2006/relationships/chart" Target="../charts/chart95.xml"/><Relationship Id="rId5" Type="http://schemas.openxmlformats.org/officeDocument/2006/relationships/notesSlide" Target="../notesSlides/notesSlide110.xml"/><Relationship Id="rId6" Type="http://schemas.openxmlformats.org/officeDocument/2006/relationships/image" Target="../media/image2.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2.xml"/><Relationship Id="rId4" Type="http://schemas.openxmlformats.org/officeDocument/2006/relationships/image" Target="../media/image2.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6.xml"/><Relationship Id="rId4" Type="http://schemas.openxmlformats.org/officeDocument/2006/relationships/notesSlide" Target="../notesSlides/notesSlide113.xml"/><Relationship Id="rId5" Type="http://schemas.openxmlformats.org/officeDocument/2006/relationships/image" Target="../media/image2.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6.xml"/><Relationship Id="rId4" Type="http://schemas.openxmlformats.org/officeDocument/2006/relationships/image" Target="../media/image687.png"/><Relationship Id="rId5" Type="http://schemas.openxmlformats.org/officeDocument/2006/relationships/image" Target="../media/image688.png"/><Relationship Id="rId6" Type="http://schemas.openxmlformats.org/officeDocument/2006/relationships/image" Target="../media/image689.png"/><Relationship Id="rId7" Type="http://schemas.openxmlformats.org/officeDocument/2006/relationships/image" Target="../media/image690.png"/><Relationship Id="rId8" Type="http://schemas.openxmlformats.org/officeDocument/2006/relationships/image" Target="../media/image691.png"/><Relationship Id="rId9" Type="http://schemas.openxmlformats.org/officeDocument/2006/relationships/image" Target="../media/image81.png"/><Relationship Id="rId10" Type="http://schemas.openxmlformats.org/officeDocument/2006/relationships/image" Target="../media/image692.png"/><Relationship Id="rId11" Type="http://schemas.openxmlformats.org/officeDocument/2006/relationships/image" Target="../media/image693.png"/><Relationship Id="rId12" Type="http://schemas.openxmlformats.org/officeDocument/2006/relationships/image" Target="../media/image623.png"/><Relationship Id="rId13" Type="http://schemas.openxmlformats.org/officeDocument/2006/relationships/image" Target="../media/image694.png"/><Relationship Id="rId14" Type="http://schemas.openxmlformats.org/officeDocument/2006/relationships/image" Target="../media/image695.png"/><Relationship Id="rId15" Type="http://schemas.openxmlformats.org/officeDocument/2006/relationships/image" Target="../media/image401.png"/><Relationship Id="rId16" Type="http://schemas.openxmlformats.org/officeDocument/2006/relationships/image" Target="../media/image2.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7.xml"/><Relationship Id="rId4" Type="http://schemas.openxmlformats.org/officeDocument/2006/relationships/chart" Target="../charts/chart98.xml"/><Relationship Id="rId5" Type="http://schemas.openxmlformats.org/officeDocument/2006/relationships/notesSlide" Target="../notesSlides/notesSlide117.xml"/><Relationship Id="rId6" Type="http://schemas.openxmlformats.org/officeDocument/2006/relationships/image" Target="../media/image2.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9.xml"/><Relationship Id="rId4" Type="http://schemas.openxmlformats.org/officeDocument/2006/relationships/chart" Target="../charts/chart100.xml"/><Relationship Id="rId5" Type="http://schemas.openxmlformats.org/officeDocument/2006/relationships/chart" Target="../charts/chart101.xml"/><Relationship Id="rId6" Type="http://schemas.openxmlformats.org/officeDocument/2006/relationships/chart" Target="../charts/chart102.xml"/><Relationship Id="rId7" Type="http://schemas.openxmlformats.org/officeDocument/2006/relationships/notesSlide" Target="../notesSlides/notesSlide118.xml"/><Relationship Id="rId8" Type="http://schemas.openxmlformats.org/officeDocument/2006/relationships/image" Target="../media/image2.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0.xml"/><Relationship Id="rId4" Type="http://schemas.openxmlformats.org/officeDocument/2006/relationships/image" Target="../media/image2.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3.xml"/><Relationship Id="rId4" Type="http://schemas.openxmlformats.org/officeDocument/2006/relationships/notesSlide" Target="../notesSlides/notesSlide121.xml"/><Relationship Id="rId5" Type="http://schemas.openxmlformats.org/officeDocument/2006/relationships/image" Target="../media/image2.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4.xml"/><Relationship Id="rId4" Type="http://schemas.openxmlformats.org/officeDocument/2006/relationships/image" Target="../media/image719.png"/><Relationship Id="rId5" Type="http://schemas.openxmlformats.org/officeDocument/2006/relationships/image" Target="../media/image720.png"/><Relationship Id="rId6" Type="http://schemas.openxmlformats.org/officeDocument/2006/relationships/image" Target="../media/image721.png"/><Relationship Id="rId7" Type="http://schemas.openxmlformats.org/officeDocument/2006/relationships/image" Target="../media/image722.png"/><Relationship Id="rId8" Type="http://schemas.openxmlformats.org/officeDocument/2006/relationships/image" Target="../media/image723.png"/><Relationship Id="rId9" Type="http://schemas.openxmlformats.org/officeDocument/2006/relationships/image" Target="../media/image724.png"/><Relationship Id="rId10" Type="http://schemas.openxmlformats.org/officeDocument/2006/relationships/image" Target="../media/image725.png"/><Relationship Id="rId11" Type="http://schemas.openxmlformats.org/officeDocument/2006/relationships/image" Target="../media/image726.png"/><Relationship Id="rId12" Type="http://schemas.openxmlformats.org/officeDocument/2006/relationships/image" Target="../media/image137.png"/><Relationship Id="rId13" Type="http://schemas.openxmlformats.org/officeDocument/2006/relationships/image" Target="../media/image727.png"/><Relationship Id="rId14" Type="http://schemas.openxmlformats.org/officeDocument/2006/relationships/image" Target="../media/image728.png"/><Relationship Id="rId15" Type="http://schemas.openxmlformats.org/officeDocument/2006/relationships/image" Target="../media/image729.png"/><Relationship Id="rId16" Type="http://schemas.openxmlformats.org/officeDocument/2006/relationships/image" Target="../media/image730.png"/><Relationship Id="rId17" Type="http://schemas.openxmlformats.org/officeDocument/2006/relationships/image" Target="../media/image731.png"/><Relationship Id="rId18" Type="http://schemas.openxmlformats.org/officeDocument/2006/relationships/image" Target="../media/image732.png"/><Relationship Id="rId19" Type="http://schemas.openxmlformats.org/officeDocument/2006/relationships/image" Target="../media/image2.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5.xml"/><Relationship Id="rId4" Type="http://schemas.openxmlformats.org/officeDocument/2006/relationships/image" Target="../media/image733.png"/><Relationship Id="rId5" Type="http://schemas.openxmlformats.org/officeDocument/2006/relationships/image" Target="../media/image734.png"/><Relationship Id="rId6" Type="http://schemas.openxmlformats.org/officeDocument/2006/relationships/image" Target="../media/image212.png"/><Relationship Id="rId7" Type="http://schemas.openxmlformats.org/officeDocument/2006/relationships/image" Target="../media/image735.png"/><Relationship Id="rId8" Type="http://schemas.openxmlformats.org/officeDocument/2006/relationships/image" Target="../media/image736.png"/><Relationship Id="rId9" Type="http://schemas.openxmlformats.org/officeDocument/2006/relationships/image" Target="../media/image345.png"/><Relationship Id="rId10" Type="http://schemas.openxmlformats.org/officeDocument/2006/relationships/image" Target="../media/image737.png"/><Relationship Id="rId11" Type="http://schemas.openxmlformats.org/officeDocument/2006/relationships/image" Target="../media/image738.png"/><Relationship Id="rId12" Type="http://schemas.openxmlformats.org/officeDocument/2006/relationships/image" Target="../media/image739.png"/><Relationship Id="rId13" Type="http://schemas.openxmlformats.org/officeDocument/2006/relationships/image" Target="../media/image740.png"/><Relationship Id="rId14" Type="http://schemas.openxmlformats.org/officeDocument/2006/relationships/image" Target="../media/image741.png"/><Relationship Id="rId15" Type="http://schemas.openxmlformats.org/officeDocument/2006/relationships/image" Target="../media/image742.png"/><Relationship Id="rId16" Type="http://schemas.openxmlformats.org/officeDocument/2006/relationships/image" Target="../media/image2.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4.xml"/><Relationship Id="rId4" Type="http://schemas.openxmlformats.org/officeDocument/2006/relationships/chart" Target="../charts/chart105.xml"/><Relationship Id="rId5" Type="http://schemas.openxmlformats.org/officeDocument/2006/relationships/notesSlide" Target="../notesSlides/notesSlide126.xml"/><Relationship Id="rId6" Type="http://schemas.openxmlformats.org/officeDocument/2006/relationships/image" Target="../media/image2.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6.xml"/><Relationship Id="rId4" Type="http://schemas.openxmlformats.org/officeDocument/2006/relationships/chart" Target="../charts/chart107.xml"/><Relationship Id="rId5" Type="http://schemas.openxmlformats.org/officeDocument/2006/relationships/chart" Target="../charts/chart108.xml"/><Relationship Id="rId6" Type="http://schemas.openxmlformats.org/officeDocument/2006/relationships/chart" Target="../charts/chart109.xml"/><Relationship Id="rId7" Type="http://schemas.openxmlformats.org/officeDocument/2006/relationships/notesSlide" Target="../notesSlides/notesSlide127.xml"/><Relationship Id="rId8" Type="http://schemas.openxmlformats.org/officeDocument/2006/relationships/image" Target="../media/image2.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0.xml"/><Relationship Id="rId4" Type="http://schemas.openxmlformats.org/officeDocument/2006/relationships/chart" Target="../charts/chart111.xml"/><Relationship Id="rId5" Type="http://schemas.openxmlformats.org/officeDocument/2006/relationships/chart" Target="../charts/chart112.xml"/><Relationship Id="rId6" Type="http://schemas.openxmlformats.org/officeDocument/2006/relationships/chart" Target="../charts/chart113.xml"/><Relationship Id="rId7" Type="http://schemas.openxmlformats.org/officeDocument/2006/relationships/notesSlide" Target="../notesSlides/notesSlide128.xml"/><Relationship Id="rId8" Type="http://schemas.openxmlformats.org/officeDocument/2006/relationships/image" Target="../media/image2.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4.xml"/><Relationship Id="rId4" Type="http://schemas.openxmlformats.org/officeDocument/2006/relationships/notesSlide" Target="../notesSlides/notesSlide129.xml"/><Relationship Id="rId5" Type="http://schemas.openxmlformats.org/officeDocument/2006/relationships/image" Target="../media/image2.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1.xml"/><Relationship Id="rId4" Type="http://schemas.openxmlformats.org/officeDocument/2006/relationships/image" Target="../media/image2.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5.xml"/><Relationship Id="rId4" Type="http://schemas.openxmlformats.org/officeDocument/2006/relationships/notesSlide" Target="../notesSlides/notesSlide132.xml"/><Relationship Id="rId5" Type="http://schemas.openxmlformats.org/officeDocument/2006/relationships/image" Target="../media/image2.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5.xml"/><Relationship Id="rId4" Type="http://schemas.openxmlformats.org/officeDocument/2006/relationships/image" Target="../media/image793.png"/><Relationship Id="rId5" Type="http://schemas.openxmlformats.org/officeDocument/2006/relationships/image" Target="../media/image794.png"/><Relationship Id="rId6" Type="http://schemas.openxmlformats.org/officeDocument/2006/relationships/image" Target="../media/image298.png"/><Relationship Id="rId7" Type="http://schemas.openxmlformats.org/officeDocument/2006/relationships/image" Target="../media/image795.png"/><Relationship Id="rId8" Type="http://schemas.openxmlformats.org/officeDocument/2006/relationships/image" Target="../media/image720.png"/><Relationship Id="rId9" Type="http://schemas.openxmlformats.org/officeDocument/2006/relationships/image" Target="../media/image75.png"/><Relationship Id="rId10" Type="http://schemas.openxmlformats.org/officeDocument/2006/relationships/image" Target="../media/image796.png"/><Relationship Id="rId11" Type="http://schemas.openxmlformats.org/officeDocument/2006/relationships/image" Target="../media/image797.png"/><Relationship Id="rId12" Type="http://schemas.openxmlformats.org/officeDocument/2006/relationships/image" Target="../media/image798.png"/><Relationship Id="rId13" Type="http://schemas.openxmlformats.org/officeDocument/2006/relationships/image" Target="../media/image799.png"/><Relationship Id="rId14" Type="http://schemas.openxmlformats.org/officeDocument/2006/relationships/image" Target="../media/image800.png"/><Relationship Id="rId15" Type="http://schemas.openxmlformats.org/officeDocument/2006/relationships/image" Target="../media/image721.png"/><Relationship Id="rId16" Type="http://schemas.openxmlformats.org/officeDocument/2006/relationships/image" Target="../media/image801.png"/><Relationship Id="rId17" Type="http://schemas.openxmlformats.org/officeDocument/2006/relationships/image" Target="../media/image802.png"/><Relationship Id="rId18" Type="http://schemas.openxmlformats.org/officeDocument/2006/relationships/image" Target="../media/image803.png"/><Relationship Id="rId19" Type="http://schemas.openxmlformats.org/officeDocument/2006/relationships/image" Target="../media/image804.png"/><Relationship Id="rId20" Type="http://schemas.openxmlformats.org/officeDocument/2006/relationships/image" Target="../media/image805.png"/><Relationship Id="rId21" Type="http://schemas.openxmlformats.org/officeDocument/2006/relationships/image" Target="../media/image806.png"/><Relationship Id="rId22" Type="http://schemas.openxmlformats.org/officeDocument/2006/relationships/image" Target="../media/image2.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6.xml"/><Relationship Id="rId4" Type="http://schemas.openxmlformats.org/officeDocument/2006/relationships/chart" Target="../charts/chart117.xml"/><Relationship Id="rId5" Type="http://schemas.openxmlformats.org/officeDocument/2006/relationships/notesSlide" Target="../notesSlides/notesSlide136.xml"/><Relationship Id="rId6" Type="http://schemas.openxmlformats.org/officeDocument/2006/relationships/image" Target="../media/image2.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8.xml"/><Relationship Id="rId4" Type="http://schemas.openxmlformats.org/officeDocument/2006/relationships/chart" Target="../charts/chart119.xml"/><Relationship Id="rId5" Type="http://schemas.openxmlformats.org/officeDocument/2006/relationships/chart" Target="../charts/chart120.xml"/><Relationship Id="rId6" Type="http://schemas.openxmlformats.org/officeDocument/2006/relationships/chart" Target="../charts/chart121.xml"/><Relationship Id="rId7" Type="http://schemas.openxmlformats.org/officeDocument/2006/relationships/notesSlide" Target="../notesSlides/notesSlide137.xml"/><Relationship Id="rId8" Type="http://schemas.openxmlformats.org/officeDocument/2006/relationships/image" Target="../media/image2.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2.xml"/><Relationship Id="rId4" Type="http://schemas.openxmlformats.org/officeDocument/2006/relationships/chart" Target="../charts/chart123.xml"/><Relationship Id="rId5" Type="http://schemas.openxmlformats.org/officeDocument/2006/relationships/notesSlide" Target="../notesSlides/notesSlide138.xml"/><Relationship Id="rId6" Type="http://schemas.openxmlformats.org/officeDocument/2006/relationships/image" Target="../media/image2.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0.xml"/><Relationship Id="rId4" Type="http://schemas.openxmlformats.org/officeDocument/2006/relationships/image" Target="../media/image2.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4.xml"/><Relationship Id="rId4" Type="http://schemas.openxmlformats.org/officeDocument/2006/relationships/notesSlide" Target="../notesSlides/notesSlide141.xml"/><Relationship Id="rId5" Type="http://schemas.openxmlformats.org/officeDocument/2006/relationships/image" Target="../media/image2.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4.xml"/><Relationship Id="rId4" Type="http://schemas.openxmlformats.org/officeDocument/2006/relationships/image" Target="../media/image841.png"/><Relationship Id="rId5" Type="http://schemas.openxmlformats.org/officeDocument/2006/relationships/image" Target="../media/image842.png"/><Relationship Id="rId6" Type="http://schemas.openxmlformats.org/officeDocument/2006/relationships/image" Target="../media/image806.png"/><Relationship Id="rId7" Type="http://schemas.openxmlformats.org/officeDocument/2006/relationships/image" Target="../media/image843.png"/><Relationship Id="rId8" Type="http://schemas.openxmlformats.org/officeDocument/2006/relationships/image" Target="../media/image844.png"/><Relationship Id="rId9" Type="http://schemas.openxmlformats.org/officeDocument/2006/relationships/image" Target="../media/image132.png"/><Relationship Id="rId10" Type="http://schemas.openxmlformats.org/officeDocument/2006/relationships/image" Target="../media/image845.png"/><Relationship Id="rId11" Type="http://schemas.openxmlformats.org/officeDocument/2006/relationships/image" Target="../media/image846.png"/><Relationship Id="rId12" Type="http://schemas.openxmlformats.org/officeDocument/2006/relationships/image" Target="../media/image847.png"/><Relationship Id="rId13" Type="http://schemas.openxmlformats.org/officeDocument/2006/relationships/image" Target="../media/image848.png"/><Relationship Id="rId14" Type="http://schemas.openxmlformats.org/officeDocument/2006/relationships/image" Target="../media/image849.png"/><Relationship Id="rId15" Type="http://schemas.openxmlformats.org/officeDocument/2006/relationships/image" Target="../media/image292.png"/><Relationship Id="rId16" Type="http://schemas.openxmlformats.org/officeDocument/2006/relationships/image" Target="../media/image850.png"/><Relationship Id="rId17" Type="http://schemas.openxmlformats.org/officeDocument/2006/relationships/image" Target="../media/image851.png"/><Relationship Id="rId18" Type="http://schemas.openxmlformats.org/officeDocument/2006/relationships/image" Target="../media/image289.png"/><Relationship Id="rId19" Type="http://schemas.openxmlformats.org/officeDocument/2006/relationships/image" Target="../media/image2.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5.xml"/><Relationship Id="rId4" Type="http://schemas.openxmlformats.org/officeDocument/2006/relationships/chart" Target="../charts/chart126.xml"/><Relationship Id="rId5" Type="http://schemas.openxmlformats.org/officeDocument/2006/relationships/notesSlide" Target="../notesSlides/notesSlide145.xml"/><Relationship Id="rId6" Type="http://schemas.openxmlformats.org/officeDocument/2006/relationships/image" Target="../media/image2.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7.xml"/><Relationship Id="rId4" Type="http://schemas.openxmlformats.org/officeDocument/2006/relationships/chart" Target="../charts/chart128.xml"/><Relationship Id="rId5" Type="http://schemas.openxmlformats.org/officeDocument/2006/relationships/chart" Target="../charts/chart129.xml"/><Relationship Id="rId6" Type="http://schemas.openxmlformats.org/officeDocument/2006/relationships/chart" Target="../charts/chart130.xml"/><Relationship Id="rId7" Type="http://schemas.openxmlformats.org/officeDocument/2006/relationships/notesSlide" Target="../notesSlides/notesSlide146.xml"/><Relationship Id="rId8" Type="http://schemas.openxmlformats.org/officeDocument/2006/relationships/image" Target="../media/image2.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1.xml"/><Relationship Id="rId4" Type="http://schemas.openxmlformats.org/officeDocument/2006/relationships/notesSlide" Target="../notesSlides/notesSlide147.xml"/><Relationship Id="rId5" Type="http://schemas.openxmlformats.org/officeDocument/2006/relationships/image" Target="../media/image2.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9.xml"/><Relationship Id="rId4" Type="http://schemas.openxmlformats.org/officeDocument/2006/relationships/image" Target="../media/image2.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2.xml"/><Relationship Id="rId4" Type="http://schemas.openxmlformats.org/officeDocument/2006/relationships/notesSlide" Target="../notesSlides/notesSlide150.xml"/><Relationship Id="rId5" Type="http://schemas.openxmlformats.org/officeDocument/2006/relationships/image" Target="../media/image2.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3.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3.xml"/><Relationship Id="rId4" Type="http://schemas.openxmlformats.org/officeDocument/2006/relationships/chart" Target="../charts/chart134.xml"/><Relationship Id="rId5" Type="http://schemas.openxmlformats.org/officeDocument/2006/relationships/chart" Target="../charts/chart135.xml"/><Relationship Id="rId6" Type="http://schemas.openxmlformats.org/officeDocument/2006/relationships/chart" Target="../charts/chart136.xml"/><Relationship Id="rId7" Type="http://schemas.openxmlformats.org/officeDocument/2006/relationships/notesSlide" Target="../notesSlides/notesSlide154.xml"/><Relationship Id="rId8" Type="http://schemas.openxmlformats.org/officeDocument/2006/relationships/image" Target="../media/image2.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7.xml"/><Relationship Id="rId4" Type="http://schemas.openxmlformats.org/officeDocument/2006/relationships/chart" Target="../charts/chart138.xml"/><Relationship Id="rId5" Type="http://schemas.openxmlformats.org/officeDocument/2006/relationships/chart" Target="../charts/chart139.xml"/><Relationship Id="rId6" Type="http://schemas.openxmlformats.org/officeDocument/2006/relationships/chart" Target="../charts/chart140.xml"/><Relationship Id="rId7" Type="http://schemas.openxmlformats.org/officeDocument/2006/relationships/notesSlide" Target="../notesSlides/notesSlide155.xml"/><Relationship Id="rId8" Type="http://schemas.openxmlformats.org/officeDocument/2006/relationships/image" Target="../media/image2.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1.xml"/><Relationship Id="rId4" Type="http://schemas.openxmlformats.org/officeDocument/2006/relationships/chart" Target="../charts/chart142.xml"/><Relationship Id="rId5" Type="http://schemas.openxmlformats.org/officeDocument/2006/relationships/chart" Target="../charts/chart143.xml"/><Relationship Id="rId6" Type="http://schemas.openxmlformats.org/officeDocument/2006/relationships/chart" Target="../charts/chart144.xml"/><Relationship Id="rId7" Type="http://schemas.openxmlformats.org/officeDocument/2006/relationships/chart" Target="../charts/chart145.xml"/><Relationship Id="rId8" Type="http://schemas.openxmlformats.org/officeDocument/2006/relationships/chart" Target="../charts/chart146.xml"/><Relationship Id="rId9" Type="http://schemas.openxmlformats.org/officeDocument/2006/relationships/notesSlide" Target="../notesSlides/notesSlide156.xml"/><Relationship Id="rId10" Type="http://schemas.openxmlformats.org/officeDocument/2006/relationships/image" Target="../media/image2.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7.xml"/><Relationship Id="rId4" Type="http://schemas.openxmlformats.org/officeDocument/2006/relationships/chart" Target="../charts/chart148.xml"/><Relationship Id="rId5" Type="http://schemas.openxmlformats.org/officeDocument/2006/relationships/notesSlide" Target="../notesSlides/notesSlide157.xml"/><Relationship Id="rId6" Type="http://schemas.openxmlformats.org/officeDocument/2006/relationships/image" Target="../media/image2.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9.xml"/><Relationship Id="rId4" Type="http://schemas.openxmlformats.org/officeDocument/2006/relationships/image" Target="../media/image2.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9.xml"/><Relationship Id="rId4" Type="http://schemas.openxmlformats.org/officeDocument/2006/relationships/chart" Target="../charts/chart150.xml"/><Relationship Id="rId5" Type="http://schemas.openxmlformats.org/officeDocument/2006/relationships/notesSlide" Target="../notesSlides/notesSlide161.xml"/><Relationship Id="rId6" Type="http://schemas.openxmlformats.org/officeDocument/2006/relationships/image" Target="../media/image2.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2.xml"/><Relationship Id="rId4" Type="http://schemas.openxmlformats.org/officeDocument/2006/relationships/image" Target="../media/image2.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1.xml"/><Relationship Id="rId4" Type="http://schemas.openxmlformats.org/officeDocument/2006/relationships/chart" Target="../charts/chart152.xml"/><Relationship Id="rId5" Type="http://schemas.openxmlformats.org/officeDocument/2006/relationships/notesSlide" Target="../notesSlides/notesSlide164.xml"/><Relationship Id="rId6" Type="http://schemas.openxmlformats.org/officeDocument/2006/relationships/image" Target="../media/image2.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5.xml"/><Relationship Id="rId4" Type="http://schemas.openxmlformats.org/officeDocument/2006/relationships/image" Target="../media/image2.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3.xml"/><Relationship Id="rId4" Type="http://schemas.openxmlformats.org/officeDocument/2006/relationships/notesSlide" Target="../notesSlides/notesSlide167.xml"/><Relationship Id="rId5" Type="http://schemas.openxmlformats.org/officeDocument/2006/relationships/image" Target="../media/image2.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4.xml"/><Relationship Id="rId4" Type="http://schemas.openxmlformats.org/officeDocument/2006/relationships/notesSlide" Target="../notesSlides/notesSlide168.xml"/><Relationship Id="rId5" Type="http://schemas.openxmlformats.org/officeDocument/2006/relationships/image" Target="../media/image2.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0.xml"/><Relationship Id="rId4" Type="http://schemas.openxmlformats.org/officeDocument/2006/relationships/image" Target="../media/image2.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5.xml"/><Relationship Id="rId4" Type="http://schemas.openxmlformats.org/officeDocument/2006/relationships/chart" Target="../charts/chart156.xml"/><Relationship Id="rId5" Type="http://schemas.openxmlformats.org/officeDocument/2006/relationships/notesSlide" Target="../notesSlides/notesSlide173.xml"/><Relationship Id="rId6" Type="http://schemas.openxmlformats.org/officeDocument/2006/relationships/image" Target="../media/image2.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4.xml"/><Relationship Id="rId4" Type="http://schemas.openxmlformats.org/officeDocument/2006/relationships/image" Target="../media/image2.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7.xml"/><Relationship Id="rId4" Type="http://schemas.openxmlformats.org/officeDocument/2006/relationships/chart" Target="../charts/chart158.xml"/><Relationship Id="rId5" Type="http://schemas.openxmlformats.org/officeDocument/2006/relationships/notesSlide" Target="../notesSlides/notesSlide176.xml"/><Relationship Id="rId6" Type="http://schemas.openxmlformats.org/officeDocument/2006/relationships/image" Target="../media/image2.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7.xml"/><Relationship Id="rId4" Type="http://schemas.openxmlformats.org/officeDocument/2006/relationships/image" Target="../media/image2.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9.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0.xml"/><Relationship Id="rId4" Type="http://schemas.openxmlformats.org/officeDocument/2006/relationships/image" Target="../media/image2.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9.xml"/><Relationship Id="rId4" Type="http://schemas.openxmlformats.org/officeDocument/2006/relationships/chart" Target="../charts/chart160.xml"/><Relationship Id="rId5" Type="http://schemas.openxmlformats.org/officeDocument/2006/relationships/notesSlide" Target="../notesSlides/notesSlide181.xml"/><Relationship Id="rId6" Type="http://schemas.openxmlformats.org/officeDocument/2006/relationships/image" Target="../media/image2.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61.xml"/><Relationship Id="rId4" Type="http://schemas.openxmlformats.org/officeDocument/2006/relationships/notesSlide" Target="../notesSlides/notesSlide182.xml"/><Relationship Id="rId5" Type="http://schemas.openxmlformats.org/officeDocument/2006/relationships/image" Target="../media/image2.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3.xml"/><Relationship Id="rId4" Type="http://schemas.openxmlformats.org/officeDocument/2006/relationships/image" Target="../media/image2.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4.xml"/><Relationship Id="rId4" Type="http://schemas.openxmlformats.org/officeDocument/2006/relationships/image" Target="../media/image2.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5.xml"/><Relationship Id="rId4" Type="http://schemas.openxmlformats.org/officeDocument/2006/relationships/image" Target="../media/image2.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6.xml"/><Relationship Id="rId4" Type="http://schemas.openxmlformats.org/officeDocument/2006/relationships/image" Target="../media/image2.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7.xml"/><Relationship Id="rId4" Type="http://schemas.openxmlformats.org/officeDocument/2006/relationships/image" Target="../media/image2.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8.xml"/><Relationship Id="rId4" Type="http://schemas.openxmlformats.org/officeDocument/2006/relationships/image" Target="../media/image2.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9.xml"/><Relationship Id="rId4" Type="http://schemas.openxmlformats.org/officeDocument/2006/relationships/image" Target="../media/image2.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0.xml"/><Relationship Id="rId4" Type="http://schemas.openxmlformats.org/officeDocument/2006/relationships/image" Target="../media/image2.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1.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2.xml"/><Relationship Id="rId4" Type="http://schemas.openxmlformats.org/officeDocument/2006/relationships/image" Target="../media/image2.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3.xml"/><Relationship Id="rId4" Type="http://schemas.openxmlformats.org/officeDocument/2006/relationships/image" Target="../media/image2.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4.xml"/><Relationship Id="rId4" Type="http://schemas.openxmlformats.org/officeDocument/2006/relationships/image" Target="../media/image2.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5.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6.xml"/><Relationship Id="rId4" Type="http://schemas.openxmlformats.org/officeDocument/2006/relationships/image" Target="../media/image2.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7.xml"/><Relationship Id="rId4" Type="http://schemas.openxmlformats.org/officeDocument/2006/relationships/image" Target="../media/image2.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8.xml"/><Relationship Id="rId4" Type="http://schemas.openxmlformats.org/officeDocument/2006/relationships/image" Target="../media/image2.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9.xml"/><Relationship Id="rId4" Type="http://schemas.openxmlformats.org/officeDocument/2006/relationships/image" Target="../media/image2.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0.xml"/><Relationship Id="rId4" Type="http://schemas.openxmlformats.org/officeDocument/2006/relationships/image" Target="../media/image2.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1.xml"/><Relationship Id="rId4" Type="http://schemas.openxmlformats.org/officeDocument/2006/relationships/image" Target="../media/image2.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2.xml"/><Relationship Id="rId4" Type="http://schemas.openxmlformats.org/officeDocument/2006/relationships/image" Target="../media/image2.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3.xml"/><Relationship Id="rId4" Type="http://schemas.openxmlformats.org/officeDocument/2006/relationships/image" Target="../media/image2.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4.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8.xml"/><Relationship Id="rId4" Type="http://schemas.openxmlformats.org/officeDocument/2006/relationships/image" Target="../media/image2.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62.xml"/><Relationship Id="rId4" Type="http://schemas.openxmlformats.org/officeDocument/2006/relationships/notesSlide" Target="../notesSlides/notesSlide219.xml"/><Relationship Id="rId5" Type="http://schemas.openxmlformats.org/officeDocument/2006/relationships/image" Target="../media/image2.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63.xml"/><Relationship Id="rId4" Type="http://schemas.openxmlformats.org/officeDocument/2006/relationships/chart" Target="../charts/chart164.xml"/><Relationship Id="rId5" Type="http://schemas.openxmlformats.org/officeDocument/2006/relationships/chart" Target="../charts/chart165.xml"/><Relationship Id="rId6" Type="http://schemas.openxmlformats.org/officeDocument/2006/relationships/notesSlide" Target="../notesSlides/notesSlide220.xml"/><Relationship Id="rId7" Type="http://schemas.openxmlformats.org/officeDocument/2006/relationships/image" Target="../media/image2.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66.xml"/><Relationship Id="rId4" Type="http://schemas.openxmlformats.org/officeDocument/2006/relationships/chart" Target="../charts/chart167.xml"/><Relationship Id="rId5" Type="http://schemas.openxmlformats.org/officeDocument/2006/relationships/chart" Target="../charts/chart168.xml"/><Relationship Id="rId6" Type="http://schemas.openxmlformats.org/officeDocument/2006/relationships/notesSlide" Target="../notesSlides/notesSlide221.xml"/><Relationship Id="rId7" Type="http://schemas.openxmlformats.org/officeDocument/2006/relationships/image" Target="../media/image2.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2.xml"/><Relationship Id="rId4" Type="http://schemas.openxmlformats.org/officeDocument/2006/relationships/image" Target="../media/image2.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69.xml"/><Relationship Id="rId4" Type="http://schemas.openxmlformats.org/officeDocument/2006/relationships/chart" Target="../charts/chart170.xml"/><Relationship Id="rId5" Type="http://schemas.openxmlformats.org/officeDocument/2006/relationships/chart" Target="../charts/chart171.xml"/><Relationship Id="rId6" Type="http://schemas.openxmlformats.org/officeDocument/2006/relationships/notesSlide" Target="../notesSlides/notesSlide223.xml"/><Relationship Id="rId7" Type="http://schemas.openxmlformats.org/officeDocument/2006/relationships/image" Target="../media/image2.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72.xml"/><Relationship Id="rId4" Type="http://schemas.openxmlformats.org/officeDocument/2006/relationships/notesSlide" Target="../notesSlides/notesSlide224.xml"/><Relationship Id="rId5" Type="http://schemas.openxmlformats.org/officeDocument/2006/relationships/image" Target="../media/image2.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5.xml"/><Relationship Id="rId4" Type="http://schemas.openxmlformats.org/officeDocument/2006/relationships/image" Target="../media/image2.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6.xml"/><Relationship Id="rId4" Type="http://schemas.openxmlformats.org/officeDocument/2006/relationships/image" Target="../media/image2.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7.xml"/><Relationship Id="rId4" Type="http://schemas.openxmlformats.org/officeDocument/2006/relationships/image" Target="../media/image2.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5.xml"/><Relationship Id="rId4" Type="http://schemas.openxmlformats.org/officeDocument/2006/relationships/image" Target="../media/image2.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6.xml"/><Relationship Id="rId4" Type="http://schemas.openxmlformats.org/officeDocument/2006/relationships/image" Target="../media/image2.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7.xml"/><Relationship Id="rId4" Type="http://schemas.openxmlformats.org/officeDocument/2006/relationships/image" Target="../media/image2.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8.xml"/><Relationship Id="rId4" Type="http://schemas.openxmlformats.org/officeDocument/2006/relationships/image" Target="../media/image2.pn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9.xml"/><Relationship Id="rId4" Type="http://schemas.openxmlformats.org/officeDocument/2006/relationships/image" Target="../media/image2.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0.xml"/><Relationship Id="rId4" Type="http://schemas.openxmlformats.org/officeDocument/2006/relationships/image" Target="../media/image2.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1.xml"/><Relationship Id="rId4" Type="http://schemas.openxmlformats.org/officeDocument/2006/relationships/image" Target="../media/image2.pn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2.xml"/><Relationship Id="rId4" Type="http://schemas.openxmlformats.org/officeDocument/2006/relationships/image" Target="../media/image2.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3.xml"/><Relationship Id="rId4" Type="http://schemas.openxmlformats.org/officeDocument/2006/relationships/image" Target="../media/image2.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4.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5.xml"/><Relationship Id="rId4" Type="http://schemas.openxmlformats.org/officeDocument/2006/relationships/image" Target="../media/image2.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6.xml"/><Relationship Id="rId4" Type="http://schemas.openxmlformats.org/officeDocument/2006/relationships/image" Target="../media/image2.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7.xml"/><Relationship Id="rId4" Type="http://schemas.openxmlformats.org/officeDocument/2006/relationships/image" Target="../media/image2.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1.png"/><Relationship Id="rId3" Type="http://schemas.openxmlformats.org/officeDocument/2006/relationships/image" Target="../media/image982.png"/><Relationship Id="rId4" Type="http://schemas.openxmlformats.org/officeDocument/2006/relationships/image" Target="../media/image983.png"/><Relationship Id="rId5" Type="http://schemas.openxmlformats.org/officeDocument/2006/relationships/image" Target="../media/image984.png"/><Relationship Id="rId6" Type="http://schemas.openxmlformats.org/officeDocument/2006/relationships/image" Target="../media/image985.png"/><Relationship Id="rId7" Type="http://schemas.openxmlformats.org/officeDocument/2006/relationships/image" Target="../media/image986.png"/><Relationship Id="rId8" Type="http://schemas.openxmlformats.org/officeDocument/2006/relationships/image" Target="../media/image98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Box 5"/>
          <p:cNvSpPr txBox="1"/>
          <p:nvPr userDrawn="1"/>
        </p:nvSpPr>
        <p:spPr>
          <a:xfrm>
            <a:off x="0" y="2"/>
            <a:ext cx="12192000" cy="6824625"/>
          </a:xfrm>
          <a:prstGeom prst="rect">
            <a:avLst/>
          </a:prstGeom>
          <a:solidFill>
            <a:srgbClr val="FFFFFF"/>
          </a:solidFill>
        </p:spPr>
        <p:txBody>
          <a:bodyPr wrap="square" rtlCol="0">
            <a:spAutoFit/>
          </a:bodyPr>
          <a:lstStyle/>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IN" sz="1902" dirty="0"/>
          </a:p>
        </p:txBody>
      </p:sp>
      <p:pic>
        <p:nvPicPr>
          <p:cNvPr id="4" name="Picture 7"/>
          <p:cNvPicPr>
            <a:picLocks noChangeAspect="1"/>
          </p:cNvPicPr>
          <p:nvPr userDrawn="1"/>
        </p:nvPicPr>
        <p:blipFill>
          <a:blip r:embed="rId2" cstate="print">
            <a:duotone>
              <a:srgbClr val="F8F8F8">
                <a:shade val="45000"/>
                <a:satMod val="135000"/>
              </a:srgbClr>
              <a:prstClr val="white"/>
            </a:duotone>
            <a:extLst>
              <a:ext uri="{28A0092B-C50C-407E-A947-70E740481C1C}">
                <a14:useLocalDpi xmlns:a14="http://schemas.microsoft.com/office/drawing/2010/main" val="0"/>
              </a:ext>
            </a:extLst>
          </a:blip>
          <a:stretch>
            <a:fillRect/>
          </a:stretch>
        </p:blipFill>
        <p:spPr>
          <a:xfrm>
            <a:off x="0" y="10056"/>
            <a:ext cx="12192000" cy="6847944"/>
          </a:xfrm>
          <a:prstGeom prst="rect">
            <a:avLst/>
          </a:prstGeom>
          <a:effectLst>
            <a:outerShdw blurRad="50800" dist="38100" dir="18900000" algn="bl" rotWithShape="0">
              <a:prstClr val="black">
                <a:alpha val="40000"/>
              </a:prstClr>
            </a:outerShdw>
          </a:effectLst>
        </p:spPr>
      </p:pic>
      <p:sp>
        <p:nvSpPr>
          <p:cNvPr id="5" name="Rectangle 34"/>
          <p:cNvSpPr/>
          <p:nvPr userDrawn="1"/>
        </p:nvSpPr>
        <p:spPr>
          <a:xfrm>
            <a:off x="743259" y="10058"/>
            <a:ext cx="5906925" cy="6858001"/>
          </a:xfrm>
          <a:prstGeom prst="rect">
            <a:avLst/>
          </a:prstGeom>
          <a:solidFill>
            <a:srgbClr val="0070C0">
              <a:alpha val="81000"/>
            </a:srgbClr>
          </a:solidFill>
          <a:ln>
            <a:noFill/>
          </a:ln>
          <a:effectLst>
            <a:outerShdw blurRad="63500" sx="102000" sy="102000" algn="ctr" rotWithShape="0">
              <a:prstClr val="black">
                <a:alpha val="40000"/>
              </a:prstClr>
            </a:outerShdw>
          </a:effectLst>
        </p:spPr>
        <p:style>
          <a:lnRef idx="2">
            <a:srgbClr val="2A5F8F">
              <a:shade val="50000"/>
            </a:srgbClr>
          </a:lnRef>
          <a:fillRef idx="1">
            <a:srgbClr val="2A5F8F"/>
          </a:fillRef>
          <a:effectRef idx="0">
            <a:srgbClr val="2A5F8F"/>
          </a:effectRef>
          <a:fontRef idx="minor">
            <a:srgbClr val="FFFFFF"/>
          </a:fontRef>
        </p:style>
        <p:txBody>
          <a:bodyPr rtlCol="0" anchor="ctr"/>
          <a:lstStyle/>
          <a:p>
            <a:pPr algn="ctr"/>
            <a:endParaRPr lang="en-IN" sz="1902"/>
          </a:p>
        </p:txBody>
      </p:sp>
      <p:sp>
        <p:nvSpPr>
          <p:cNvPr id="6" name="TextBox 9"/>
          <p:cNvSpPr txBox="1"/>
          <p:nvPr userDrawn="1"/>
        </p:nvSpPr>
        <p:spPr>
          <a:xfrm>
            <a:off x="829068" y="6616282"/>
            <a:ext cx="1984839" cy="230832"/>
          </a:xfrm>
          <a:prstGeom prst="rect">
            <a:avLst/>
          </a:prstGeom>
          <a:noFill/>
        </p:spPr>
        <p:txBody>
          <a:bodyPr wrap="none" rtlCol="0">
            <a:spAutoFit/>
          </a:bodyPr>
          <a:lstStyle/>
          <a:p>
            <a:r>
              <a:rPr lang="en-US" sz="900" dirty="0">
                <a:solidFill>
                  <a:srgbClr val="FFFFFF"/>
                </a:solidFill>
              </a:rPr>
              <a:t>Source@ Future Market Insights, 2026</a:t>
            </a:r>
            <a:endParaRPr lang="en-IN" sz="900" dirty="0">
              <a:solidFill>
                <a:srgbClr val="FFFFFF"/>
              </a:solidFill>
            </a:endParaRPr>
          </a:p>
        </p:txBody>
      </p:sp>
      <p:sp>
        <p:nvSpPr>
          <p:cNvPr id="7" name="Rectangle 11"/>
          <p:cNvSpPr/>
          <p:nvPr userDrawn="1"/>
        </p:nvSpPr>
        <p:spPr>
          <a:xfrm>
            <a:off x="371630" y="5918917"/>
            <a:ext cx="11448743" cy="584895"/>
          </a:xfrm>
          <a:prstGeom prst="rect">
            <a:avLst/>
          </a:prstGeom>
          <a:solidFill>
            <a:srgbClr val="FCD150"/>
          </a:solidFill>
          <a:ln>
            <a:noFill/>
          </a:ln>
          <a:effectLst>
            <a:outerShdw blurRad="50800" dist="38100" dir="18900000" algn="bl" rotWithShape="0">
              <a:prstClr val="black">
                <a:alpha val="40000"/>
              </a:prstClr>
            </a:outerShdw>
          </a:effectLst>
        </p:spPr>
        <p:style>
          <a:lnRef idx="2">
            <a:srgbClr val="2A5F8F">
              <a:shade val="50000"/>
            </a:srgbClr>
          </a:lnRef>
          <a:fillRef idx="1">
            <a:srgbClr val="2A5F8F"/>
          </a:fillRef>
          <a:effectRef idx="0">
            <a:srgbClr val="2A5F8F"/>
          </a:effectRef>
          <a:fontRef idx="minor">
            <a:srgbClr val="FFFFFF"/>
          </a:fontRef>
        </p:style>
        <p:txBody>
          <a:bodyPr rtlCol="0" anchor="ctr"/>
          <a:lstStyle/>
          <a:p>
            <a:pPr algn="ctr"/>
            <a:endParaRPr lang="en-IN" sz="1902"/>
          </a:p>
        </p:txBody>
      </p:sp>
      <p:sp>
        <p:nvSpPr>
          <p:cNvPr id="8" name="Rectangle 12"/>
          <p:cNvSpPr/>
          <p:nvPr userDrawn="1"/>
        </p:nvSpPr>
        <p:spPr>
          <a:xfrm>
            <a:off x="371630" y="6559883"/>
            <a:ext cx="11448743" cy="57528"/>
          </a:xfrm>
          <a:prstGeom prst="rect">
            <a:avLst/>
          </a:prstGeom>
          <a:solidFill>
            <a:srgbClr val="FFFFFF"/>
          </a:solidFill>
          <a:ln>
            <a:noFill/>
          </a:ln>
          <a:effectLst>
            <a:outerShdw blurRad="50800" dist="38100" dir="18900000" algn="bl" rotWithShape="0">
              <a:prstClr val="black">
                <a:alpha val="40000"/>
              </a:prstClr>
            </a:outerShdw>
          </a:effectLst>
        </p:spPr>
        <p:style>
          <a:lnRef idx="2">
            <a:srgbClr val="2A5F8F">
              <a:shade val="50000"/>
            </a:srgbClr>
          </a:lnRef>
          <a:fillRef idx="1">
            <a:srgbClr val="2A5F8F"/>
          </a:fillRef>
          <a:effectRef idx="0">
            <a:srgbClr val="2A5F8F"/>
          </a:effectRef>
          <a:fontRef idx="minor">
            <a:srgbClr val="FFFFFF"/>
          </a:fontRef>
        </p:style>
        <p:txBody>
          <a:bodyPr rtlCol="0" anchor="ctr"/>
          <a:lstStyle/>
          <a:p>
            <a:pPr algn="ctr"/>
            <a:endParaRPr lang="en-IN" sz="1902"/>
          </a:p>
        </p:txBody>
      </p:sp>
      <p:sp>
        <p:nvSpPr>
          <p:cNvPr id="9" name="Text Placeholder 4"/>
          <p:cNvSpPr txBox="1">
            <a:spLocks/>
          </p:cNvSpPr>
          <p:nvPr/>
        </p:nvSpPr>
        <p:spPr bwMode="gray">
          <a:xfrm>
            <a:off x="934546" y="262851"/>
            <a:ext cx="5623008" cy="3800000"/>
          </a:xfrm>
          <a:prstGeom prst="rect">
            <a:avLst/>
          </a:prstGeom>
        </p:spPr>
        <p:txBody>
          <a:bodyPr vert="horz" lIns="0" tIns="77372" rIns="77372" bIns="77372" rtlCol="0">
            <a:noAutofit/>
          </a:bodyPr>
          <a:lstStyle>
            <a:lvl1pPr marL="0" indent="0" algn="l" defTabSz="792505" rtl="0" eaLnBrk="1" latinLnBrk="0" hangingPunct="1">
              <a:lnSpc>
                <a:spcPct val="90000"/>
              </a:lnSpc>
              <a:spcBef>
                <a:spcPts val="867"/>
              </a:spcBef>
              <a:buFont typeface="Wingdings" panose="05000000000000000000" pitchFamily="2" charset="2"/>
              <a:buNone/>
              <a:defRPr sz="1800" kern="1200">
                <a:solidFill>
                  <a:srgbClr val="000000"/>
                </a:solidFill>
                <a:latin typeface="Calibri" panose="020F0502020204030204" pitchFamily="34" charset="0"/>
                <a:ea typeface="+mn-ea"/>
                <a:cs typeface="Calibri" panose="020F0502020204030204" pitchFamily="34" charset="0"/>
              </a:defRPr>
            </a:lvl1pPr>
            <a:lvl2pPr marL="457196" indent="0" algn="ctr" defTabSz="792505" rtl="0" eaLnBrk="1" latinLnBrk="0" hangingPunct="1">
              <a:lnSpc>
                <a:spcPct val="90000"/>
              </a:lnSpc>
              <a:spcBef>
                <a:spcPts val="433"/>
              </a:spcBef>
              <a:buSzPct val="80000"/>
              <a:buFont typeface="Wingdings" panose="05000000000000000000" pitchFamily="2" charset="2"/>
              <a:buNone/>
              <a:defRPr sz="2000" kern="1200">
                <a:solidFill>
                  <a:srgbClr val="000000"/>
                </a:solidFill>
                <a:latin typeface="+mn-lt"/>
                <a:ea typeface="+mn-ea"/>
                <a:cs typeface="+mn-cs"/>
              </a:defRPr>
            </a:lvl2pPr>
            <a:lvl3pPr marL="914391" indent="0" algn="ctr" defTabSz="792505" rtl="0" eaLnBrk="1" latinLnBrk="0" hangingPunct="1">
              <a:lnSpc>
                <a:spcPct val="90000"/>
              </a:lnSpc>
              <a:spcBef>
                <a:spcPts val="433"/>
              </a:spcBef>
              <a:buFont typeface="Wingdings" panose="05000000000000000000" pitchFamily="2" charset="2"/>
              <a:buNone/>
              <a:defRPr sz="1800" kern="1200">
                <a:solidFill>
                  <a:srgbClr val="000000"/>
                </a:solidFill>
                <a:latin typeface="+mn-lt"/>
                <a:ea typeface="+mn-ea"/>
                <a:cs typeface="+mn-cs"/>
              </a:defRPr>
            </a:lvl3pPr>
            <a:lvl4pPr marL="1371587" indent="0" algn="ctr" defTabSz="792505" rtl="0" eaLnBrk="1" latinLnBrk="0" hangingPunct="1">
              <a:lnSpc>
                <a:spcPct val="90000"/>
              </a:lnSpc>
              <a:spcBef>
                <a:spcPts val="433"/>
              </a:spcBef>
              <a:buSzPct val="80000"/>
              <a:buFont typeface="Wingdings" panose="05000000000000000000" pitchFamily="2" charset="2"/>
              <a:buNone/>
              <a:defRPr sz="1600" kern="1200">
                <a:solidFill>
                  <a:srgbClr val="000000"/>
                </a:solidFill>
                <a:latin typeface="+mn-lt"/>
                <a:ea typeface="+mn-ea"/>
                <a:cs typeface="+mn-cs"/>
              </a:defRPr>
            </a:lvl4pPr>
            <a:lvl5pPr marL="1828783"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5pPr>
            <a:lvl6pPr marL="2285978"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6pPr>
            <a:lvl7pPr marL="2743174"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7pPr>
            <a:lvl8pPr marL="3200370"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8pPr>
            <a:lvl9pPr marL="3657565"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9pPr>
          </a:lstStyle>
          <a:p>
            <a:pPr>
              <a:spcBef>
                <a:spcPts val="0"/>
              </a:spcBef>
            </a:pPr>
            <a:r>
              <a:rPr lang="en-US" sz="6000" dirty="0">
                <a:solidFill>
                  <a:srgbClr val="FFFFFF"/>
                </a:solidFill>
                <a:latin typeface="Bell MT" panose="02020503060305020303" pitchFamily="18" charset="0"/>
              </a:rPr>
              <a:t>Waterproof Coatings Market</a:t>
            </a:r>
            <a:endParaRPr lang="en-US" sz="1600" dirty="0">
              <a:solidFill>
                <a:srgbClr val="FFFFFF"/>
              </a:solidFill>
              <a:latin typeface="Bell MT" panose="02020503060305020303" pitchFamily="18" charset="0"/>
            </a:endParaRPr>
          </a:p>
        </p:txBody>
      </p:sp>
      <p:sp>
        <p:nvSpPr>
          <p:cNvPr id="9" name="Front Page Subtitle"/>
          <p:cNvSpPr txBox="1">
            <a:spLocks/>
          </p:cNvSpPr>
          <p:nvPr/>
        </p:nvSpPr>
        <p:spPr bwMode="gray">
          <a:xfrm>
            <a:off x="934546" y="4150000"/>
            <a:ext cx="5623008" cy="1650000"/>
          </a:xfrm>
          <a:prstGeom prst="rect">
            <a:avLst/>
          </a:prstGeom>
        </p:spPr>
        <p:txBody>
          <a:bodyPr vert="horz" lIns="0" tIns="77372" rIns="77372" bIns="77372" rtlCol="0" anchor="b">
            <a:noAutofit/>
          </a:bodyPr>
          <a:lstStyle>
            <a:lvl1pPr marL="0" indent="0" algn="l" defTabSz="792505" rtl="0" eaLnBrk="1" latinLnBrk="0" hangingPunct="1">
              <a:lnSpc>
                <a:spcPct val="90000"/>
              </a:lnSpc>
              <a:spcBef>
                <a:spcPts val="867"/>
              </a:spcBef>
              <a:buFont typeface="Wingdings" panose="05000000000000000000" pitchFamily="2" charset="2"/>
              <a:buNone/>
              <a:defRPr sz="1800" kern="1200">
                <a:solidFill>
                  <a:srgbClr val="000000"/>
                </a:solidFill>
                <a:latin typeface="Calibri" panose="020F0502020204030204" pitchFamily="34" charset="0"/>
                <a:ea typeface="+mn-ea"/>
                <a:cs typeface="Calibri" panose="020F0502020204030204" pitchFamily="34" charset="0"/>
              </a:defRPr>
            </a:lvl1pPr>
            <a:lvl2pPr marL="457196" indent="0" algn="ctr" defTabSz="792505" rtl="0" eaLnBrk="1" latinLnBrk="0" hangingPunct="1">
              <a:lnSpc>
                <a:spcPct val="90000"/>
              </a:lnSpc>
              <a:spcBef>
                <a:spcPts val="433"/>
              </a:spcBef>
              <a:buSzPct val="80000"/>
              <a:buFont typeface="Wingdings" panose="05000000000000000000" pitchFamily="2" charset="2"/>
              <a:buNone/>
              <a:defRPr sz="2000" kern="1200">
                <a:solidFill>
                  <a:srgbClr val="000000"/>
                </a:solidFill>
                <a:latin typeface="+mn-lt"/>
                <a:ea typeface="+mn-ea"/>
                <a:cs typeface="+mn-cs"/>
              </a:defRPr>
            </a:lvl2pPr>
            <a:lvl3pPr marL="914391" indent="0" algn="ctr" defTabSz="792505" rtl="0" eaLnBrk="1" latinLnBrk="0" hangingPunct="1">
              <a:lnSpc>
                <a:spcPct val="90000"/>
              </a:lnSpc>
              <a:spcBef>
                <a:spcPts val="433"/>
              </a:spcBef>
              <a:buFont typeface="Wingdings" panose="05000000000000000000" pitchFamily="2" charset="2"/>
              <a:buNone/>
              <a:defRPr sz="1800" kern="1200">
                <a:solidFill>
                  <a:srgbClr val="000000"/>
                </a:solidFill>
                <a:latin typeface="+mn-lt"/>
                <a:ea typeface="+mn-ea"/>
                <a:cs typeface="+mn-cs"/>
              </a:defRPr>
            </a:lvl3pPr>
            <a:lvl4pPr marL="1371587" indent="0" algn="ctr" defTabSz="792505" rtl="0" eaLnBrk="1" latinLnBrk="0" hangingPunct="1">
              <a:lnSpc>
                <a:spcPct val="90000"/>
              </a:lnSpc>
              <a:spcBef>
                <a:spcPts val="433"/>
              </a:spcBef>
              <a:buSzPct val="80000"/>
              <a:buFont typeface="Wingdings" panose="05000000000000000000" pitchFamily="2" charset="2"/>
              <a:buNone/>
              <a:defRPr sz="1600" kern="1200">
                <a:solidFill>
                  <a:srgbClr val="000000"/>
                </a:solidFill>
                <a:latin typeface="+mn-lt"/>
                <a:ea typeface="+mn-ea"/>
                <a:cs typeface="+mn-cs"/>
              </a:defRPr>
            </a:lvl4pPr>
            <a:lvl5pPr marL="1828783"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5pPr>
            <a:lvl6pPr marL="2285978"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6pPr>
            <a:lvl7pPr marL="2743174"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7pPr>
            <a:lvl8pPr marL="3200370"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8pPr>
            <a:lvl9pPr marL="3657565"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9pPr>
          </a:lstStyle>
          <a:p>
            <a:pPr>
              <a:spcBef>
                <a:spcPts val="0"/>
              </a:spcBef>
            </a:pPr>
            <a:r>
              <a:rPr lang="en-US" sz="2400" dirty="0">
                <a:solidFill>
                  <a:srgbClr val="FFFFFF"/>
                </a:solidFill>
                <a:latin typeface="Bell MT" panose="02020503060305020303" pitchFamily="18" charset="0"/>
              </a:rPr>
              <a:t>Global Industry Analysis 2021 – 2025 and Opportunity Assessment 2026 – 2036</a:t>
            </a:r>
          </a:p>
        </p:txBody>
      </p:sp>
      <p:grpSp>
        <p:nvGrpSpPr>
          <p:cNvPr id="10" name="Group 8"/>
          <p:cNvGrpSpPr/>
          <p:nvPr/>
        </p:nvGrpSpPr>
        <p:grpSpPr>
          <a:xfrm>
            <a:off x="9124182" y="262851"/>
            <a:ext cx="2864618" cy="709680"/>
            <a:chOff x="201497" y="6393289"/>
            <a:chExt cx="1281818" cy="338050"/>
          </a:xfrm>
        </p:grpSpPr>
        <p:pic>
          <p:nvPicPr>
            <p:cNvPr id="11"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1497" y="6393289"/>
              <a:ext cx="537551" cy="338050"/>
            </a:xfrm>
            <a:prstGeom prst="rect">
              <a:avLst/>
            </a:prstGeom>
          </p:spPr>
        </p:pic>
        <p:pic>
          <p:nvPicPr>
            <p:cNvPr id="12" name="Picture 7" descr="C:\Users\Nandini\Desktop\ESOMAR_corporate2020_RGB.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1199" y="6426912"/>
              <a:ext cx="722116" cy="270803"/>
            </a:xfrm>
            <a:prstGeom prst="rect">
              <a:avLst/>
            </a:prstGeom>
            <a:noFill/>
            <a:ln>
              <a:noFill/>
            </a:ln>
          </p:spPr>
        </p:pic>
      </p:grpSp>
      <p:sp>
        <p:nvSpPr>
          <p:cNvPr id="13" name="Rectangle 3"/>
          <p:cNvSpPr/>
          <p:nvPr/>
        </p:nvSpPr>
        <p:spPr>
          <a:xfrm>
            <a:off x="934546" y="6015689"/>
            <a:ext cx="2551724" cy="400110"/>
          </a:xfrm>
          <a:prstGeom prst="rect">
            <a:avLst/>
          </a:prstGeom>
        </p:spPr>
        <p:txBody>
          <a:bodyPr wrap="none">
            <a:spAutoFit/>
          </a:bodyPr>
          <a:lstStyle/>
          <a:p>
            <a:r>
              <a:rPr lang="en-US" sz="2000" b="1" dirty="0">
                <a:solidFill>
                  <a:srgbClr val="000000">
                    <a:lumMod val="85000"/>
                    <a:lumOff val="15000"/>
                  </a:srgbClr>
                </a:solidFill>
                <a:latin typeface="Bell MT" panose="02020503060305020303" pitchFamily="18" charset="0"/>
              </a:rPr>
              <a:t>Sample Report</a:t>
            </a:r>
            <a:r>
              <a:rPr lang="en-US" sz="1600" b="1" dirty="0">
                <a:solidFill>
                  <a:srgbClr val="000000">
                    <a:lumMod val="85000"/>
                    <a:lumOff val="15000"/>
                  </a:srgbClr>
                </a:solidFill>
                <a:latin typeface="Bell MT" panose="02020503060305020303" pitchFamily="18" charset="0"/>
              </a:rPr>
              <a:t>| </a:t>
            </a:r>
            <a:r>
              <a:rPr lang="en-US" sz="2000" b="1" dirty="0">
                <a:solidFill>
                  <a:srgbClr val="000000">
                    <a:lumMod val="85000"/>
                    <a:lumOff val="15000"/>
                  </a:srgbClr>
                </a:solidFill>
                <a:latin typeface="Bell MT" panose="02020503060305020303" pitchFamily="18" charset="0"/>
              </a:rPr>
              <a:t>2026</a:t>
            </a:r>
          </a:p>
        </p:txBody>
      </p:sp>
      <p:pic>
        <p:nvPicPr>
          <p:cNvPr id="14" name="Picture 2" descr="A logo on a black background&#10;&#10;AI-generated content may be incorrect.">
            <a:extLst>
              <a:ext uri="{FF2B5EF4-FFF2-40B4-BE49-F238E27FC236}">
                <a16:creationId xmlns:a16="http://schemas.microsoft.com/office/drawing/2014/main" id="{94959869-610E-9143-54C1-1302C085ACF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98778" y="4755786"/>
            <a:ext cx="5493222" cy="116679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Agenda</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Storyline of the report by section · click a section card to jump to it</a:t>
            </a:r>
          </a:p>
        </p:txBody>
      </p:sp>
      <p:sp>
        <p:nvSpPr>
          <p:cNvPr id="10" name="Rounded Rectangle 9">
            <a:hlinkClick action="ppaction://hlinksldjump" r:id="rId3"/>
          </p:cNvPr>
          <p:cNvSpPr/>
          <p:nvPr/>
        </p:nvSpPr>
        <p:spPr>
          <a:xfrm>
            <a:off x="314325" y="1135037"/>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 Market Signals</a:t>
            </a:r>
          </a:p>
        </p:txBody>
      </p:sp>
      <p:sp>
        <p:nvSpPr>
          <p:cNvPr id="11" name="Rounded Rectangle 10">
            <a:hlinkClick action="ppaction://hlinksldjump" r:id="rId4"/>
          </p:cNvPr>
          <p:cNvSpPr/>
          <p:nvPr/>
        </p:nvSpPr>
        <p:spPr>
          <a:xfrm>
            <a:off x="142875" y="1559435"/>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Market Overview</a:t>
            </a:r>
          </a:p>
        </p:txBody>
      </p:sp>
      <p:sp>
        <p:nvSpPr>
          <p:cNvPr id="12" name="Rounded Rectangle 11">
            <a:hlinkClick action="ppaction://hlinksldjump" r:id="rId5"/>
          </p:cNvPr>
          <p:cNvSpPr/>
          <p:nvPr/>
        </p:nvSpPr>
        <p:spPr>
          <a:xfrm>
            <a:off x="314325" y="1983833"/>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2. Market Taxonomy</a:t>
            </a:r>
          </a:p>
        </p:txBody>
      </p:sp>
      <p:sp>
        <p:nvSpPr>
          <p:cNvPr id="13" name="Rounded Rectangle 12">
            <a:hlinkClick action="ppaction://hlinksldjump" r:id="rId6"/>
          </p:cNvPr>
          <p:cNvSpPr/>
          <p:nvPr/>
        </p:nvSpPr>
        <p:spPr>
          <a:xfrm>
            <a:off x="314325" y="2408231"/>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3. Table of Contents</a:t>
            </a:r>
          </a:p>
        </p:txBody>
      </p:sp>
      <p:sp>
        <p:nvSpPr>
          <p:cNvPr id="14" name="Rounded Rectangle 13">
            <a:hlinkClick action="ppaction://hlinksldjump" r:id="rId7"/>
          </p:cNvPr>
          <p:cNvSpPr/>
          <p:nvPr/>
        </p:nvSpPr>
        <p:spPr>
          <a:xfrm>
            <a:off x="314325" y="2832629"/>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4. List of Figures, List of Tables</a:t>
            </a:r>
          </a:p>
        </p:txBody>
      </p:sp>
      <p:sp>
        <p:nvSpPr>
          <p:cNvPr id="15" name="Rounded Rectangle 14">
            <a:hlinkClick action="ppaction://hlinksldjump" r:id="rId8"/>
          </p:cNvPr>
          <p:cNvSpPr/>
          <p:nvPr/>
        </p:nvSpPr>
        <p:spPr>
          <a:xfrm>
            <a:off x="142875" y="3257027"/>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Global Market Outlook</a:t>
            </a:r>
          </a:p>
        </p:txBody>
      </p:sp>
      <p:sp>
        <p:nvSpPr>
          <p:cNvPr id="16" name="Rounded Rectangle 15">
            <a:hlinkClick action="ppaction://hlinksldjump" r:id="rId9"/>
          </p:cNvPr>
          <p:cNvSpPr/>
          <p:nvPr/>
        </p:nvSpPr>
        <p:spPr>
          <a:xfrm>
            <a:off x="314325" y="3681425"/>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5. Waterproof Coatings Market Global Overview</a:t>
            </a:r>
          </a:p>
        </p:txBody>
      </p:sp>
      <p:sp>
        <p:nvSpPr>
          <p:cNvPr id="17" name="Rounded Rectangle 16">
            <a:hlinkClick action="ppaction://hlinksldjump" r:id="rId10"/>
          </p:cNvPr>
          <p:cNvSpPr/>
          <p:nvPr/>
        </p:nvSpPr>
        <p:spPr>
          <a:xfrm>
            <a:off x="314325" y="4105823"/>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6. Global Market Analysis By Region</a:t>
            </a:r>
          </a:p>
        </p:txBody>
      </p:sp>
      <p:sp>
        <p:nvSpPr>
          <p:cNvPr id="18" name="Rounded Rectangle 17">
            <a:hlinkClick action="ppaction://hlinksldjump" r:id="rId11"/>
          </p:cNvPr>
          <p:cNvSpPr/>
          <p:nvPr/>
        </p:nvSpPr>
        <p:spPr>
          <a:xfrm>
            <a:off x="314325" y="4530221"/>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7. Global Market Analysis By Segments</a:t>
            </a:r>
          </a:p>
        </p:txBody>
      </p:sp>
      <p:sp>
        <p:nvSpPr>
          <p:cNvPr id="19" name="Rounded Rectangle 18">
            <a:hlinkClick action="ppaction://hlinksldjump" r:id="rId12"/>
          </p:cNvPr>
          <p:cNvSpPr/>
          <p:nvPr/>
        </p:nvSpPr>
        <p:spPr>
          <a:xfrm>
            <a:off x="142875" y="4954619"/>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North America Market Outlook</a:t>
            </a:r>
          </a:p>
        </p:txBody>
      </p:sp>
      <p:sp>
        <p:nvSpPr>
          <p:cNvPr id="20" name="Rounded Rectangle 19">
            <a:hlinkClick action="ppaction://hlinksldjump" r:id="rId13"/>
          </p:cNvPr>
          <p:cNvSpPr/>
          <p:nvPr/>
        </p:nvSpPr>
        <p:spPr>
          <a:xfrm>
            <a:off x="314325" y="5379017"/>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8. North America Overview</a:t>
            </a:r>
          </a:p>
        </p:txBody>
      </p:sp>
      <p:sp>
        <p:nvSpPr>
          <p:cNvPr id="21" name="Rounded Rectangle 20">
            <a:hlinkClick action="ppaction://hlinksldjump" r:id="rId14"/>
          </p:cNvPr>
          <p:cNvSpPr/>
          <p:nvPr/>
        </p:nvSpPr>
        <p:spPr>
          <a:xfrm>
            <a:off x="314325" y="5803415"/>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9. North America Market Analysis By Country</a:t>
            </a:r>
          </a:p>
        </p:txBody>
      </p:sp>
      <p:sp>
        <p:nvSpPr>
          <p:cNvPr id="22" name="Rounded Rectangle 21">
            <a:hlinkClick action="ppaction://hlinksldjump" r:id="rId15"/>
          </p:cNvPr>
          <p:cNvSpPr/>
          <p:nvPr/>
        </p:nvSpPr>
        <p:spPr>
          <a:xfrm>
            <a:off x="314325" y="6227813"/>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10. North America Market Analysis By Segments</a:t>
            </a:r>
          </a:p>
        </p:txBody>
      </p:sp>
      <p:sp>
        <p:nvSpPr>
          <p:cNvPr id="23" name="Rounded Rectangle 22">
            <a:hlinkClick action="ppaction://hlinksldjump" r:id="rId16"/>
          </p:cNvPr>
          <p:cNvSpPr/>
          <p:nvPr/>
        </p:nvSpPr>
        <p:spPr>
          <a:xfrm>
            <a:off x="6219825" y="1135037"/>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Country Market Outlook</a:t>
            </a:r>
          </a:p>
        </p:txBody>
      </p:sp>
      <p:sp>
        <p:nvSpPr>
          <p:cNvPr id="24" name="Rounded Rectangle 23">
            <a:hlinkClick action="ppaction://hlinksldjump" r:id="rId17"/>
          </p:cNvPr>
          <p:cNvSpPr/>
          <p:nvPr/>
        </p:nvSpPr>
        <p:spPr>
          <a:xfrm>
            <a:off x="6391275" y="1559435"/>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11. Waterproof Coatings Market Overview (Volume &amp; Value)</a:t>
            </a:r>
          </a:p>
        </p:txBody>
      </p:sp>
      <p:sp>
        <p:nvSpPr>
          <p:cNvPr id="25" name="Rounded Rectangle 24">
            <a:hlinkClick action="ppaction://hlinksldjump" r:id="rId18"/>
          </p:cNvPr>
          <p:cNvSpPr/>
          <p:nvPr/>
        </p:nvSpPr>
        <p:spPr>
          <a:xfrm>
            <a:off x="6391275" y="1983833"/>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12. Segment Overview (Volume &amp; Value)</a:t>
            </a:r>
          </a:p>
        </p:txBody>
      </p:sp>
      <p:sp>
        <p:nvSpPr>
          <p:cNvPr id="26" name="Rounded Rectangle 25">
            <a:hlinkClick action="ppaction://hlinksldjump" r:id="rId19"/>
          </p:cNvPr>
          <p:cNvSpPr/>
          <p:nvPr/>
        </p:nvSpPr>
        <p:spPr>
          <a:xfrm>
            <a:off x="6219825" y="2408231"/>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Pricing Assessment</a:t>
            </a:r>
          </a:p>
        </p:txBody>
      </p:sp>
      <p:sp>
        <p:nvSpPr>
          <p:cNvPr id="27" name="Rounded Rectangle 26">
            <a:hlinkClick action="ppaction://hlinksldjump" r:id="rId20"/>
          </p:cNvPr>
          <p:cNvSpPr/>
          <p:nvPr/>
        </p:nvSpPr>
        <p:spPr>
          <a:xfrm>
            <a:off x="6391275" y="2832629"/>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13. Waterproof Coatings Market Pricing Analysis</a:t>
            </a:r>
          </a:p>
        </p:txBody>
      </p:sp>
      <p:sp>
        <p:nvSpPr>
          <p:cNvPr id="28" name="Rounded Rectangle 27">
            <a:hlinkClick action="ppaction://hlinksldjump" r:id="rId21"/>
          </p:cNvPr>
          <p:cNvSpPr/>
          <p:nvPr/>
        </p:nvSpPr>
        <p:spPr>
          <a:xfrm>
            <a:off x="6391275" y="3257027"/>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14. Supply Chain Analysis</a:t>
            </a:r>
          </a:p>
        </p:txBody>
      </p:sp>
      <p:sp>
        <p:nvSpPr>
          <p:cNvPr id="29" name="Rounded Rectangle 28">
            <a:hlinkClick action="ppaction://hlinksldjump" r:id="rId22"/>
          </p:cNvPr>
          <p:cNvSpPr/>
          <p:nvPr/>
        </p:nvSpPr>
        <p:spPr>
          <a:xfrm>
            <a:off x="6219825" y="3681425"/>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Market Dynamics</a:t>
            </a:r>
          </a:p>
        </p:txBody>
      </p:sp>
      <p:sp>
        <p:nvSpPr>
          <p:cNvPr id="30" name="Rounded Rectangle 29">
            <a:hlinkClick action="ppaction://hlinksldjump" r:id="rId23"/>
          </p:cNvPr>
          <p:cNvSpPr/>
          <p:nvPr/>
        </p:nvSpPr>
        <p:spPr>
          <a:xfrm>
            <a:off x="6391275" y="4105823"/>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15. Market Dynamics &amp; Forces</a:t>
            </a:r>
          </a:p>
        </p:txBody>
      </p:sp>
      <p:sp>
        <p:nvSpPr>
          <p:cNvPr id="31" name="Rounded Rectangle 30">
            <a:hlinkClick action="ppaction://hlinksldjump" r:id="rId24"/>
          </p:cNvPr>
          <p:cNvSpPr/>
          <p:nvPr/>
        </p:nvSpPr>
        <p:spPr>
          <a:xfrm>
            <a:off x="6219825" y="4530221"/>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Competition Assessment</a:t>
            </a:r>
          </a:p>
        </p:txBody>
      </p:sp>
      <p:sp>
        <p:nvSpPr>
          <p:cNvPr id="32" name="Rounded Rectangle 31">
            <a:hlinkClick action="ppaction://hlinksldjump" r:id="rId25"/>
          </p:cNvPr>
          <p:cNvSpPr/>
          <p:nvPr/>
        </p:nvSpPr>
        <p:spPr>
          <a:xfrm>
            <a:off x="6391275" y="5803415"/>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18. Competitive Landscape</a:t>
            </a:r>
          </a:p>
        </p:txBody>
      </p:sp>
      <p:sp>
        <p:nvSpPr>
          <p:cNvPr id="33" name="Rounded Rectangle 32">
            <a:hlinkClick action="ppaction://hlinksldjump" r:id="rId26"/>
          </p:cNvPr>
          <p:cNvSpPr/>
          <p:nvPr/>
        </p:nvSpPr>
        <p:spPr>
          <a:xfrm>
            <a:off x="6391275" y="4954619"/>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16. Market Share by Leading Players</a:t>
            </a:r>
          </a:p>
        </p:txBody>
      </p:sp>
      <p:sp>
        <p:nvSpPr>
          <p:cNvPr id="34" name="Rounded Rectangle 33">
            <a:hlinkClick action="ppaction://hlinksldjump" r:id="rId27"/>
          </p:cNvPr>
          <p:cNvSpPr/>
          <p:nvPr/>
        </p:nvSpPr>
        <p:spPr>
          <a:xfrm>
            <a:off x="6391275" y="5379017"/>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17. Company Profiles &amp; Strategic Benchmarking</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3489325"/>
            <a:ext cx="8572500" cy="514350"/>
          </a:xfrm>
          <a:prstGeom prst="rect">
            <a:avLst/>
          </a:prstGeom>
          <a:noFill/>
        </p:spPr>
        <p:txBody>
          <a:bodyPr wrap="square" lIns="0" rIns="0" tIns="0">
            <a:spAutoFit/>
          </a:bodyPr>
          <a:lstStyle/>
          <a:p>
            <a:r>
              <a:rPr sz="3000" b="1">
                <a:solidFill>
                  <a:srgbClr val="0B3C8C"/>
                </a:solidFill>
                <a:latin typeface="Calibri"/>
              </a:rPr>
              <a:t>Market Signals</a:t>
            </a:r>
          </a:p>
        </p:txBody>
      </p:sp>
      <p:sp>
        <p:nvSpPr>
          <p:cNvPr id="11" name="TextBox 10"/>
          <p:cNvSpPr txBox="1"/>
          <p:nvPr/>
        </p:nvSpPr>
        <p:spPr>
          <a:xfrm>
            <a:off x="914400" y="4175125"/>
            <a:ext cx="84582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Signals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Signals Reshaping Waterproof Coatings Demand</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Signals reshaping Waterproof Coatings demand, the evidence behind each and what it implies for the global market</a:t>
            </a:r>
          </a:p>
        </p:txBody>
      </p:sp>
      <p:graphicFrame>
        <p:nvGraphicFramePr>
          <p:cNvPr id="10" name="Table 9"/>
          <p:cNvGraphicFramePr>
            <a:graphicFrameLocks noGrp="1"/>
          </p:cNvGraphicFramePr>
          <p:nvPr/>
        </p:nvGraphicFramePr>
        <p:xfrm>
          <a:off x="142875" y="1062022"/>
          <a:ext cx="11906250" cy="5549125"/>
        </p:xfrm>
        <a:graphic>
          <a:graphicData uri="http://schemas.openxmlformats.org/drawingml/2006/table">
            <a:tbl>
              <a:tblPr>
                <a:tableStyleId>{5C22544A-7EE6-4342-B048-85BDC9FD1C3A}</a:tableStyleId>
              </a:tblPr>
              <a:tblGrid>
                <a:gridCol w="3571875"/>
                <a:gridCol w="5000625"/>
                <a:gridCol w="3333750"/>
              </a:tblGrid>
              <a:tr h="346820">
                <a:tc>
                  <a:txBody>
                    <a:bodyPr wrap="square"/>
                    <a:lstStyle/>
                    <a:p>
                      <a:pPr algn="l"/>
                      <a:r>
                        <a:rPr sz="1100" b="1">
                          <a:solidFill>
                            <a:srgbClr val="0B2E4A"/>
                          </a:solidFill>
                          <a:latin typeface="Calibri"/>
                        </a:rPr>
                        <a:t>QUESTIONS WE'RE HEARING</a:t>
                      </a:r>
                    </a:p>
                  </a:txBody>
                  <a:tcPr marL="70000" marR="70000" marT="45000" marB="45000" anchor="ctr">
                    <a:solidFill>
                      <a:srgbClr val="EAF1F8"/>
                    </a:solidFill>
                  </a:tcPr>
                </a:tc>
                <a:tc>
                  <a:txBody>
                    <a:bodyPr wrap="square"/>
                    <a:lstStyle/>
                    <a:p>
                      <a:pPr algn="l"/>
                      <a:r>
                        <a:rPr sz="1100" b="1">
                          <a:solidFill>
                            <a:srgbClr val="0B2E4A"/>
                          </a:solidFill>
                          <a:latin typeface="Calibri"/>
                        </a:rPr>
                        <a:t>WHAT WE'RE OBSERVING</a:t>
                      </a:r>
                    </a:p>
                  </a:txBody>
                  <a:tcPr marL="70000" marR="70000" marT="45000" marB="45000" anchor="ctr">
                    <a:solidFill>
                      <a:srgbClr val="EAF1F8"/>
                    </a:solidFill>
                  </a:tcPr>
                </a:tc>
                <a:tc>
                  <a:txBody>
                    <a:bodyPr wrap="square"/>
                    <a:lstStyle/>
                    <a:p>
                      <a:pPr algn="l"/>
                      <a:r>
                        <a:rPr sz="1100" b="1">
                          <a:solidFill>
                            <a:srgbClr val="0B2E4A"/>
                          </a:solidFill>
                          <a:latin typeface="Calibri"/>
                        </a:rPr>
                        <a:t>SELECT DATA POINTS</a:t>
                      </a:r>
                    </a:p>
                  </a:txBody>
                  <a:tcPr marL="70000" marR="70000" marT="45000" marB="45000" anchor="ctr">
                    <a:solidFill>
                      <a:srgbClr val="EAF1F8"/>
                    </a:solidFill>
                  </a:tcPr>
                </a:tc>
              </a:tr>
              <a:tr h="1040461">
                <a:tc>
                  <a:txBody>
                    <a:bodyPr wrap="square"/>
                    <a:lstStyle/>
                    <a:p>
                      <a:pPr algn="l"/>
                      <a:r>
                        <a:rPr sz="1100" b="1">
                          <a:solidFill>
                            <a:srgbClr val="0B2E4A"/>
                          </a:solidFill>
                          <a:latin typeface="Calibri"/>
                        </a:rPr>
                        <a:t>How fast is Waterproof Coatings demand set to grow through 2036?</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a:t> </a:t>
                      </a:r>
                    </a:p>
                  </a:txBody>
                  <a:tcPr marL="70000" marR="70000" marT="45000" marB="45000" anchor="ctr">
                    <a:solidFill>
                      <a:srgbClr val="FFFFFF"/>
                    </a:solidFill>
                  </a:tcPr>
                </a:tc>
              </a:tr>
              <a:tr h="1040461">
                <a:tc>
                  <a:txBody>
                    <a:bodyPr wrap="square"/>
                    <a:lstStyle/>
                    <a:p>
                      <a:pPr algn="l"/>
                      <a:r>
                        <a:rPr sz="1100" b="1">
                          <a:solidFill>
                            <a:srgbClr val="0B2E4A"/>
                          </a:solidFill>
                          <a:latin typeface="Calibri"/>
                        </a:rPr>
                        <a:t>Which product type / chemistry categories are buyers prioritising?</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r>
              <a:tr h="1040461">
                <a:tc>
                  <a:txBody>
                    <a:bodyPr wrap="square"/>
                    <a:lstStyle/>
                    <a:p>
                      <a:pPr algn="l"/>
                      <a:r>
                        <a:rPr sz="1100" b="1">
                          <a:solidFill>
                            <a:srgbClr val="0B2E4A"/>
                          </a:solidFill>
                          <a:latin typeface="Calibri"/>
                        </a:rPr>
                        <a:t>Where is incremental demand concentrating?</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r>
              <a:tr h="1040461">
                <a:tc>
                  <a:txBody>
                    <a:bodyPr wrap="square"/>
                    <a:lstStyle/>
                    <a:p>
                      <a:pPr algn="l"/>
                      <a:r>
                        <a:rPr sz="1100" b="1">
                          <a:solidFill>
                            <a:srgbClr val="0B2E4A"/>
                          </a:solidFill>
                          <a:latin typeface="Calibri"/>
                        </a:rPr>
                        <a:t>Which regions will drive the next wave of Waterproof Coatings demand?</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r>
              <a:tr h="1040461">
                <a:tc>
                  <a:txBody>
                    <a:bodyPr wrap="square"/>
                    <a:lstStyle/>
                    <a:p>
                      <a:pPr algn="l"/>
                      <a:r>
                        <a:rPr sz="1100" b="1">
                          <a:solidFill>
                            <a:srgbClr val="0B2E4A"/>
                          </a:solidFill>
                          <a:latin typeface="Calibri"/>
                        </a:rPr>
                        <a:t>Where should suppliers focus investment?</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12" name="TextBox 11"/>
          <p:cNvSpPr txBox="1"/>
          <p:nvPr/>
        </p:nvSpPr>
        <p:spPr>
          <a:xfrm>
            <a:off x="3784750" y="1761432"/>
            <a:ext cx="1689844" cy="186689"/>
          </a:xfrm>
          <a:prstGeom prst="rect">
            <a:avLst/>
          </a:prstGeom>
          <a:noFill/>
        </p:spPr>
        <p:txBody>
          <a:bodyPr wrap="none" lIns="0" rIns="0" tIns="0" bIns="0">
            <a:spAutoFit/>
          </a:bodyPr>
          <a:lstStyle/>
          <a:p>
            <a:r>
              <a:rPr sz="1100" b="0">
                <a:solidFill>
                  <a:srgbClr val="2E2E2E"/>
                </a:solidFill>
                <a:latin typeface="Calibri"/>
              </a:rPr>
              <a:t>Global demand expands at a</a:t>
            </a:r>
          </a:p>
        </p:txBody>
      </p:sp>
      <p:pic>
        <p:nvPicPr>
          <p:cNvPr id="13" name="Picture 12" descr="lock.png"/>
          <p:cNvPicPr>
            <a:picLocks noChangeAspect="1"/>
          </p:cNvPicPr>
          <p:nvPr/>
        </p:nvPicPr>
        <p:blipFill>
          <a:blip r:embed="rId4"/>
          <a:stretch>
            <a:fillRect/>
          </a:stretch>
        </p:blipFill>
        <p:spPr>
          <a:xfrm>
            <a:off x="5422645" y="1751653"/>
            <a:ext cx="128699" cy="187198"/>
          </a:xfrm>
          <a:prstGeom prst="rect">
            <a:avLst/>
          </a:prstGeom>
        </p:spPr>
      </p:pic>
      <p:sp>
        <p:nvSpPr>
          <p:cNvPr id="14" name="TextBox 13"/>
          <p:cNvSpPr txBox="1"/>
          <p:nvPr/>
        </p:nvSpPr>
        <p:spPr>
          <a:xfrm>
            <a:off x="5590141" y="1761432"/>
            <a:ext cx="2708109" cy="186689"/>
          </a:xfrm>
          <a:prstGeom prst="rect">
            <a:avLst/>
          </a:prstGeom>
          <a:noFill/>
        </p:spPr>
        <p:txBody>
          <a:bodyPr wrap="none" lIns="0" rIns="0" tIns="0" bIns="0">
            <a:spAutoFit/>
          </a:bodyPr>
          <a:lstStyle/>
          <a:p>
            <a:r>
              <a:rPr sz="1100" b="0">
                <a:solidFill>
                  <a:srgbClr val="2E2E2E"/>
                </a:solidFill>
                <a:latin typeface="Calibri"/>
              </a:rPr>
              <a:t>forecast CAGR (2026–2036), accelerating from</a:t>
            </a:r>
          </a:p>
        </p:txBody>
      </p:sp>
      <p:pic>
        <p:nvPicPr>
          <p:cNvPr id="15" name="Picture 14" descr="lock.png"/>
          <p:cNvPicPr>
            <a:picLocks noChangeAspect="1"/>
          </p:cNvPicPr>
          <p:nvPr/>
        </p:nvPicPr>
        <p:blipFill>
          <a:blip r:embed="rId4"/>
          <a:stretch>
            <a:fillRect/>
          </a:stretch>
        </p:blipFill>
        <p:spPr>
          <a:xfrm>
            <a:off x="8246302" y="1751653"/>
            <a:ext cx="128699" cy="187198"/>
          </a:xfrm>
          <a:prstGeom prst="rect">
            <a:avLst/>
          </a:prstGeom>
        </p:spPr>
      </p:pic>
      <p:sp>
        <p:nvSpPr>
          <p:cNvPr id="16" name="TextBox 15"/>
          <p:cNvSpPr txBox="1"/>
          <p:nvPr/>
        </p:nvSpPr>
        <p:spPr>
          <a:xfrm>
            <a:off x="3784750" y="1929072"/>
            <a:ext cx="1137865" cy="186689"/>
          </a:xfrm>
          <a:prstGeom prst="rect">
            <a:avLst/>
          </a:prstGeom>
          <a:noFill/>
        </p:spPr>
        <p:txBody>
          <a:bodyPr wrap="none" lIns="0" rIns="0" tIns="0" bIns="0">
            <a:spAutoFit/>
          </a:bodyPr>
          <a:lstStyle/>
          <a:p>
            <a:r>
              <a:rPr sz="1100" b="0">
                <a:solidFill>
                  <a:srgbClr val="2E2E2E"/>
                </a:solidFill>
                <a:latin typeface="Calibri"/>
              </a:rPr>
              <a:t>across 2021–2025.</a:t>
            </a:r>
          </a:p>
        </p:txBody>
      </p:sp>
      <p:pic>
        <p:nvPicPr>
          <p:cNvPr id="17" name="Picture 16" descr="lock.png"/>
          <p:cNvPicPr>
            <a:picLocks noChangeAspect="1"/>
          </p:cNvPicPr>
          <p:nvPr/>
        </p:nvPicPr>
        <p:blipFill>
          <a:blip r:embed="rId4"/>
          <a:stretch>
            <a:fillRect/>
          </a:stretch>
        </p:blipFill>
        <p:spPr>
          <a:xfrm>
            <a:off x="10214228" y="1689042"/>
            <a:ext cx="330041" cy="480060"/>
          </a:xfrm>
          <a:prstGeom prst="rect">
            <a:avLst/>
          </a:prstGeom>
        </p:spPr>
      </p:pic>
      <p:sp>
        <p:nvSpPr>
          <p:cNvPr id="18" name="TextBox 17"/>
          <p:cNvSpPr txBox="1"/>
          <p:nvPr/>
        </p:nvSpPr>
        <p:spPr>
          <a:xfrm>
            <a:off x="3784750" y="2801893"/>
            <a:ext cx="3799805" cy="186689"/>
          </a:xfrm>
          <a:prstGeom prst="rect">
            <a:avLst/>
          </a:prstGeom>
          <a:noFill/>
        </p:spPr>
        <p:txBody>
          <a:bodyPr wrap="none" lIns="0" rIns="0" tIns="0" bIns="0">
            <a:spAutoFit/>
          </a:bodyPr>
          <a:lstStyle/>
          <a:p>
            <a:r>
              <a:rPr sz="1100" b="0">
                <a:solidFill>
                  <a:srgbClr val="2E2E2E"/>
                </a:solidFill>
                <a:latin typeface="Calibri"/>
              </a:rPr>
              <a:t>Other Polymer-Based Coatings leads Product Type / Chemistry, at</a:t>
            </a:r>
          </a:p>
        </p:txBody>
      </p:sp>
      <p:pic>
        <p:nvPicPr>
          <p:cNvPr id="19" name="Picture 18" descr="lock.png"/>
          <p:cNvPicPr>
            <a:picLocks noChangeAspect="1"/>
          </p:cNvPicPr>
          <p:nvPr/>
        </p:nvPicPr>
        <p:blipFill>
          <a:blip r:embed="rId4"/>
          <a:stretch>
            <a:fillRect/>
          </a:stretch>
        </p:blipFill>
        <p:spPr>
          <a:xfrm>
            <a:off x="7532606" y="2792114"/>
            <a:ext cx="128699" cy="187198"/>
          </a:xfrm>
          <a:prstGeom prst="rect">
            <a:avLst/>
          </a:prstGeom>
        </p:spPr>
      </p:pic>
      <p:sp>
        <p:nvSpPr>
          <p:cNvPr id="20" name="TextBox 19"/>
          <p:cNvSpPr txBox="1"/>
          <p:nvPr/>
        </p:nvSpPr>
        <p:spPr>
          <a:xfrm>
            <a:off x="7700102" y="2801893"/>
            <a:ext cx="879475" cy="186689"/>
          </a:xfrm>
          <a:prstGeom prst="rect">
            <a:avLst/>
          </a:prstGeom>
          <a:noFill/>
        </p:spPr>
        <p:txBody>
          <a:bodyPr wrap="none" lIns="0" rIns="0" tIns="0" bIns="0">
            <a:spAutoFit/>
          </a:bodyPr>
          <a:lstStyle/>
          <a:p>
            <a:r>
              <a:rPr sz="1100" b="0">
                <a:solidFill>
                  <a:srgbClr val="2E2E2E"/>
                </a:solidFill>
                <a:latin typeface="Calibri"/>
              </a:rPr>
              <a:t>of 2036 value,</a:t>
            </a:r>
          </a:p>
        </p:txBody>
      </p:sp>
      <p:sp>
        <p:nvSpPr>
          <p:cNvPr id="21" name="TextBox 20"/>
          <p:cNvSpPr txBox="1"/>
          <p:nvPr/>
        </p:nvSpPr>
        <p:spPr>
          <a:xfrm>
            <a:off x="3784750" y="2969533"/>
            <a:ext cx="2133227" cy="186689"/>
          </a:xfrm>
          <a:prstGeom prst="rect">
            <a:avLst/>
          </a:prstGeom>
          <a:noFill/>
        </p:spPr>
        <p:txBody>
          <a:bodyPr wrap="none" lIns="0" rIns="0" tIns="0" bIns="0">
            <a:spAutoFit/>
          </a:bodyPr>
          <a:lstStyle/>
          <a:p>
            <a:r>
              <a:rPr sz="1100" b="0">
                <a:solidFill>
                  <a:srgbClr val="2E2E2E"/>
                </a:solidFill>
                <a:latin typeface="Calibri"/>
              </a:rPr>
              <a:t>within a mix of 8 tracked categories.</a:t>
            </a:r>
          </a:p>
        </p:txBody>
      </p:sp>
      <p:sp>
        <p:nvSpPr>
          <p:cNvPr id="22" name="TextBox 21"/>
          <p:cNvSpPr txBox="1"/>
          <p:nvPr/>
        </p:nvSpPr>
        <p:spPr>
          <a:xfrm>
            <a:off x="8785375" y="2885713"/>
            <a:ext cx="2217811" cy="186689"/>
          </a:xfrm>
          <a:prstGeom prst="rect">
            <a:avLst/>
          </a:prstGeom>
          <a:noFill/>
        </p:spPr>
        <p:txBody>
          <a:bodyPr wrap="none" lIns="0" rIns="0" tIns="0" bIns="0">
            <a:spAutoFit/>
          </a:bodyPr>
          <a:lstStyle/>
          <a:p>
            <a:r>
              <a:rPr sz="1100" b="0">
                <a:solidFill>
                  <a:srgbClr val="2E2E2E"/>
                </a:solidFill>
                <a:latin typeface="Calibri"/>
              </a:rPr>
              <a:t>Lead: Other Polymer-Based Coatings ·</a:t>
            </a:r>
          </a:p>
        </p:txBody>
      </p:sp>
      <p:pic>
        <p:nvPicPr>
          <p:cNvPr id="23" name="Picture 22" descr="lock.png"/>
          <p:cNvPicPr>
            <a:picLocks noChangeAspect="1"/>
          </p:cNvPicPr>
          <p:nvPr/>
        </p:nvPicPr>
        <p:blipFill>
          <a:blip r:embed="rId4"/>
          <a:stretch>
            <a:fillRect/>
          </a:stretch>
        </p:blipFill>
        <p:spPr>
          <a:xfrm>
            <a:off x="10951238" y="2875934"/>
            <a:ext cx="128699" cy="187198"/>
          </a:xfrm>
          <a:prstGeom prst="rect">
            <a:avLst/>
          </a:prstGeom>
        </p:spPr>
      </p:pic>
      <p:sp>
        <p:nvSpPr>
          <p:cNvPr id="24" name="TextBox 23"/>
          <p:cNvSpPr txBox="1"/>
          <p:nvPr/>
        </p:nvSpPr>
        <p:spPr>
          <a:xfrm>
            <a:off x="11118734" y="2885713"/>
            <a:ext cx="789433" cy="186689"/>
          </a:xfrm>
          <a:prstGeom prst="rect">
            <a:avLst/>
          </a:prstGeom>
          <a:noFill/>
        </p:spPr>
        <p:txBody>
          <a:bodyPr wrap="none" lIns="0" rIns="0" tIns="0" bIns="0">
            <a:spAutoFit/>
          </a:bodyPr>
          <a:lstStyle/>
          <a:p>
            <a:r>
              <a:rPr sz="1100" b="0">
                <a:solidFill>
                  <a:srgbClr val="2E2E2E"/>
                </a:solidFill>
                <a:latin typeface="Calibri"/>
              </a:rPr>
              <a:t>share (2036)</a:t>
            </a:r>
          </a:p>
        </p:txBody>
      </p:sp>
      <p:sp>
        <p:nvSpPr>
          <p:cNvPr id="25" name="TextBox 24"/>
          <p:cNvSpPr txBox="1"/>
          <p:nvPr/>
        </p:nvSpPr>
        <p:spPr>
          <a:xfrm>
            <a:off x="3784750" y="3842354"/>
            <a:ext cx="4198168" cy="186689"/>
          </a:xfrm>
          <a:prstGeom prst="rect">
            <a:avLst/>
          </a:prstGeom>
          <a:noFill/>
        </p:spPr>
        <p:txBody>
          <a:bodyPr wrap="none" lIns="0" rIns="0" tIns="0" bIns="0">
            <a:spAutoFit/>
          </a:bodyPr>
          <a:lstStyle/>
          <a:p>
            <a:r>
              <a:rPr sz="1100" b="0">
                <a:solidFill>
                  <a:srgbClr val="2E2E2E"/>
                </a:solidFill>
                <a:latin typeface="Calibri"/>
              </a:rPr>
              <a:t>Bathrooms and Wet Areas is the fastest-growing part of Application, at a</a:t>
            </a:r>
          </a:p>
        </p:txBody>
      </p:sp>
      <p:pic>
        <p:nvPicPr>
          <p:cNvPr id="26" name="Picture 25" descr="lock.png"/>
          <p:cNvPicPr>
            <a:picLocks noChangeAspect="1"/>
          </p:cNvPicPr>
          <p:nvPr/>
        </p:nvPicPr>
        <p:blipFill>
          <a:blip r:embed="rId4"/>
          <a:stretch>
            <a:fillRect/>
          </a:stretch>
        </p:blipFill>
        <p:spPr>
          <a:xfrm>
            <a:off x="7930970" y="3832575"/>
            <a:ext cx="128699" cy="187198"/>
          </a:xfrm>
          <a:prstGeom prst="rect">
            <a:avLst/>
          </a:prstGeom>
        </p:spPr>
      </p:pic>
      <p:sp>
        <p:nvSpPr>
          <p:cNvPr id="27" name="TextBox 26"/>
          <p:cNvSpPr txBox="1"/>
          <p:nvPr/>
        </p:nvSpPr>
        <p:spPr>
          <a:xfrm>
            <a:off x="3784750" y="4009994"/>
            <a:ext cx="2537031" cy="186689"/>
          </a:xfrm>
          <a:prstGeom prst="rect">
            <a:avLst/>
          </a:prstGeom>
          <a:noFill/>
        </p:spPr>
        <p:txBody>
          <a:bodyPr wrap="none" lIns="0" rIns="0" tIns="0" bIns="0">
            <a:spAutoFit/>
          </a:bodyPr>
          <a:lstStyle/>
          <a:p>
            <a:r>
              <a:rPr sz="1100" b="0">
                <a:solidFill>
                  <a:srgbClr val="2E2E2E"/>
                </a:solidFill>
                <a:latin typeface="Calibri"/>
              </a:rPr>
              <a:t>forecast CAGR outpacing the wider market.</a:t>
            </a:r>
          </a:p>
        </p:txBody>
      </p:sp>
      <p:sp>
        <p:nvSpPr>
          <p:cNvPr id="28" name="TextBox 27"/>
          <p:cNvSpPr txBox="1"/>
          <p:nvPr/>
        </p:nvSpPr>
        <p:spPr>
          <a:xfrm>
            <a:off x="8785375" y="3926174"/>
            <a:ext cx="2111340" cy="186689"/>
          </a:xfrm>
          <a:prstGeom prst="rect">
            <a:avLst/>
          </a:prstGeom>
          <a:noFill/>
        </p:spPr>
        <p:txBody>
          <a:bodyPr wrap="none" lIns="0" rIns="0" tIns="0" bIns="0">
            <a:spAutoFit/>
          </a:bodyPr>
          <a:lstStyle/>
          <a:p>
            <a:r>
              <a:rPr sz="1100" b="0">
                <a:solidFill>
                  <a:srgbClr val="2E2E2E"/>
                </a:solidFill>
                <a:latin typeface="Calibri"/>
              </a:rPr>
              <a:t>Fastest: Bathrooms and Wet Areas ·</a:t>
            </a:r>
          </a:p>
        </p:txBody>
      </p:sp>
      <p:pic>
        <p:nvPicPr>
          <p:cNvPr id="29" name="Picture 28" descr="lock.png"/>
          <p:cNvPicPr>
            <a:picLocks noChangeAspect="1"/>
          </p:cNvPicPr>
          <p:nvPr/>
        </p:nvPicPr>
        <p:blipFill>
          <a:blip r:embed="rId4"/>
          <a:stretch>
            <a:fillRect/>
          </a:stretch>
        </p:blipFill>
        <p:spPr>
          <a:xfrm>
            <a:off x="10844766" y="3916395"/>
            <a:ext cx="128699" cy="187198"/>
          </a:xfrm>
          <a:prstGeom prst="rect">
            <a:avLst/>
          </a:prstGeom>
        </p:spPr>
      </p:pic>
      <p:sp>
        <p:nvSpPr>
          <p:cNvPr id="30" name="TextBox 29"/>
          <p:cNvSpPr txBox="1"/>
          <p:nvPr/>
        </p:nvSpPr>
        <p:spPr>
          <a:xfrm>
            <a:off x="11012262" y="3926174"/>
            <a:ext cx="502377" cy="186689"/>
          </a:xfrm>
          <a:prstGeom prst="rect">
            <a:avLst/>
          </a:prstGeom>
          <a:noFill/>
        </p:spPr>
        <p:txBody>
          <a:bodyPr wrap="none" lIns="0" rIns="0" tIns="0" bIns="0">
            <a:spAutoFit/>
          </a:bodyPr>
          <a:lstStyle/>
          <a:p>
            <a:r>
              <a:rPr sz="1100" b="0">
                <a:solidFill>
                  <a:srgbClr val="2E2E2E"/>
                </a:solidFill>
                <a:latin typeface="Calibri"/>
              </a:rPr>
              <a:t>F-CAGR</a:t>
            </a:r>
          </a:p>
        </p:txBody>
      </p:sp>
      <p:sp>
        <p:nvSpPr>
          <p:cNvPr id="31" name="TextBox 30"/>
          <p:cNvSpPr txBox="1"/>
          <p:nvPr/>
        </p:nvSpPr>
        <p:spPr>
          <a:xfrm>
            <a:off x="3784750" y="4882815"/>
            <a:ext cx="2673474" cy="186689"/>
          </a:xfrm>
          <a:prstGeom prst="rect">
            <a:avLst/>
          </a:prstGeom>
          <a:noFill/>
        </p:spPr>
        <p:txBody>
          <a:bodyPr wrap="none" lIns="0" rIns="0" tIns="0" bIns="0">
            <a:spAutoFit/>
          </a:bodyPr>
          <a:lstStyle/>
          <a:p>
            <a:r>
              <a:rPr sz="1100" b="0">
                <a:solidFill>
                  <a:srgbClr val="2E2E2E"/>
                </a:solidFill>
                <a:latin typeface="Calibri"/>
              </a:rPr>
              <a:t>North America is the largest regional market (</a:t>
            </a:r>
          </a:p>
        </p:txBody>
      </p:sp>
      <p:pic>
        <p:nvPicPr>
          <p:cNvPr id="32" name="Picture 31" descr="lock.png"/>
          <p:cNvPicPr>
            <a:picLocks noChangeAspect="1"/>
          </p:cNvPicPr>
          <p:nvPr/>
        </p:nvPicPr>
        <p:blipFill>
          <a:blip r:embed="rId4"/>
          <a:stretch>
            <a:fillRect/>
          </a:stretch>
        </p:blipFill>
        <p:spPr>
          <a:xfrm>
            <a:off x="6406275" y="4873036"/>
            <a:ext cx="128699" cy="187198"/>
          </a:xfrm>
          <a:prstGeom prst="rect">
            <a:avLst/>
          </a:prstGeom>
        </p:spPr>
      </p:pic>
      <p:sp>
        <p:nvSpPr>
          <p:cNvPr id="33" name="TextBox 32"/>
          <p:cNvSpPr txBox="1"/>
          <p:nvPr/>
        </p:nvSpPr>
        <p:spPr>
          <a:xfrm>
            <a:off x="6573771" y="4882815"/>
            <a:ext cx="2016720" cy="186689"/>
          </a:xfrm>
          <a:prstGeom prst="rect">
            <a:avLst/>
          </a:prstGeom>
          <a:noFill/>
        </p:spPr>
        <p:txBody>
          <a:bodyPr wrap="none" lIns="0" rIns="0" tIns="0" bIns="0">
            <a:spAutoFit/>
          </a:bodyPr>
          <a:lstStyle/>
          <a:p>
            <a:r>
              <a:rPr sz="1100" b="0">
                <a:solidFill>
                  <a:srgbClr val="2E2E2E"/>
                </a:solidFill>
                <a:latin typeface="Calibri"/>
              </a:rPr>
              <a:t>of 2036 value), while South Asia &amp;</a:t>
            </a:r>
          </a:p>
        </p:txBody>
      </p:sp>
      <p:sp>
        <p:nvSpPr>
          <p:cNvPr id="34" name="TextBox 33"/>
          <p:cNvSpPr txBox="1"/>
          <p:nvPr/>
        </p:nvSpPr>
        <p:spPr>
          <a:xfrm>
            <a:off x="3784750" y="5050455"/>
            <a:ext cx="1374154" cy="186689"/>
          </a:xfrm>
          <a:prstGeom prst="rect">
            <a:avLst/>
          </a:prstGeom>
          <a:noFill/>
        </p:spPr>
        <p:txBody>
          <a:bodyPr wrap="none" lIns="0" rIns="0" tIns="0" bIns="0">
            <a:spAutoFit/>
          </a:bodyPr>
          <a:lstStyle/>
          <a:p>
            <a:r>
              <a:rPr sz="1100" b="0">
                <a:solidFill>
                  <a:srgbClr val="2E2E2E"/>
                </a:solidFill>
                <a:latin typeface="Calibri"/>
              </a:rPr>
              <a:t>Pacific grows fastest at</a:t>
            </a:r>
          </a:p>
        </p:txBody>
      </p:sp>
      <p:pic>
        <p:nvPicPr>
          <p:cNvPr id="35" name="Picture 34" descr="lock.png"/>
          <p:cNvPicPr>
            <a:picLocks noChangeAspect="1"/>
          </p:cNvPicPr>
          <p:nvPr/>
        </p:nvPicPr>
        <p:blipFill>
          <a:blip r:embed="rId4"/>
          <a:stretch>
            <a:fillRect/>
          </a:stretch>
        </p:blipFill>
        <p:spPr>
          <a:xfrm>
            <a:off x="5106956" y="5040676"/>
            <a:ext cx="128699" cy="187198"/>
          </a:xfrm>
          <a:prstGeom prst="rect">
            <a:avLst/>
          </a:prstGeom>
        </p:spPr>
      </p:pic>
      <p:sp>
        <p:nvSpPr>
          <p:cNvPr id="36" name="TextBox 35"/>
          <p:cNvSpPr txBox="1"/>
          <p:nvPr/>
        </p:nvSpPr>
        <p:spPr>
          <a:xfrm>
            <a:off x="5274452" y="505045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37" name="TextBox 36"/>
          <p:cNvSpPr txBox="1"/>
          <p:nvPr/>
        </p:nvSpPr>
        <p:spPr>
          <a:xfrm>
            <a:off x="8785375" y="4882815"/>
            <a:ext cx="1464195" cy="186689"/>
          </a:xfrm>
          <a:prstGeom prst="rect">
            <a:avLst/>
          </a:prstGeom>
          <a:noFill/>
        </p:spPr>
        <p:txBody>
          <a:bodyPr wrap="none" lIns="0" rIns="0" tIns="0" bIns="0">
            <a:spAutoFit/>
          </a:bodyPr>
          <a:lstStyle/>
          <a:p>
            <a:r>
              <a:rPr sz="1100" b="0">
                <a:solidFill>
                  <a:srgbClr val="2E2E2E"/>
                </a:solidFill>
                <a:latin typeface="Calibri"/>
              </a:rPr>
              <a:t>Largest: North America (</a:t>
            </a:r>
          </a:p>
        </p:txBody>
      </p:sp>
      <p:pic>
        <p:nvPicPr>
          <p:cNvPr id="38" name="Picture 37" descr="lock.png"/>
          <p:cNvPicPr>
            <a:picLocks noChangeAspect="1"/>
          </p:cNvPicPr>
          <p:nvPr/>
        </p:nvPicPr>
        <p:blipFill>
          <a:blip r:embed="rId4"/>
          <a:stretch>
            <a:fillRect/>
          </a:stretch>
        </p:blipFill>
        <p:spPr>
          <a:xfrm>
            <a:off x="10197622" y="4873036"/>
            <a:ext cx="128699" cy="187198"/>
          </a:xfrm>
          <a:prstGeom prst="rect">
            <a:avLst/>
          </a:prstGeom>
        </p:spPr>
      </p:pic>
      <p:sp>
        <p:nvSpPr>
          <p:cNvPr id="39" name="TextBox 38"/>
          <p:cNvSpPr txBox="1"/>
          <p:nvPr/>
        </p:nvSpPr>
        <p:spPr>
          <a:xfrm>
            <a:off x="10365118" y="4882815"/>
            <a:ext cx="1413931" cy="186689"/>
          </a:xfrm>
          <a:prstGeom prst="rect">
            <a:avLst/>
          </a:prstGeom>
          <a:noFill/>
        </p:spPr>
        <p:txBody>
          <a:bodyPr wrap="none" lIns="0" rIns="0" tIns="0" bIns="0">
            <a:spAutoFit/>
          </a:bodyPr>
          <a:lstStyle/>
          <a:p>
            <a:r>
              <a:rPr sz="1100" b="0">
                <a:solidFill>
                  <a:srgbClr val="2E2E2E"/>
                </a:solidFill>
                <a:latin typeface="Calibri"/>
              </a:rPr>
              <a:t>) · Fastest: South Asia &amp;</a:t>
            </a:r>
          </a:p>
        </p:txBody>
      </p:sp>
      <p:sp>
        <p:nvSpPr>
          <p:cNvPr id="40" name="TextBox 39"/>
          <p:cNvSpPr txBox="1"/>
          <p:nvPr/>
        </p:nvSpPr>
        <p:spPr>
          <a:xfrm>
            <a:off x="8785375" y="5050455"/>
            <a:ext cx="514672" cy="186689"/>
          </a:xfrm>
          <a:prstGeom prst="rect">
            <a:avLst/>
          </a:prstGeom>
          <a:noFill/>
        </p:spPr>
        <p:txBody>
          <a:bodyPr wrap="none" lIns="0" rIns="0" tIns="0" bIns="0">
            <a:spAutoFit/>
          </a:bodyPr>
          <a:lstStyle/>
          <a:p>
            <a:r>
              <a:rPr sz="1100" b="0">
                <a:solidFill>
                  <a:srgbClr val="2E2E2E"/>
                </a:solidFill>
                <a:latin typeface="Calibri"/>
              </a:rPr>
              <a:t>Pacific (</a:t>
            </a:r>
          </a:p>
        </p:txBody>
      </p:sp>
      <p:pic>
        <p:nvPicPr>
          <p:cNvPr id="41" name="Picture 40" descr="lock.png"/>
          <p:cNvPicPr>
            <a:picLocks noChangeAspect="1"/>
          </p:cNvPicPr>
          <p:nvPr/>
        </p:nvPicPr>
        <p:blipFill>
          <a:blip r:embed="rId4"/>
          <a:stretch>
            <a:fillRect/>
          </a:stretch>
        </p:blipFill>
        <p:spPr>
          <a:xfrm>
            <a:off x="9248099" y="5040676"/>
            <a:ext cx="128699" cy="187198"/>
          </a:xfrm>
          <a:prstGeom prst="rect">
            <a:avLst/>
          </a:prstGeom>
        </p:spPr>
      </p:pic>
      <p:sp>
        <p:nvSpPr>
          <p:cNvPr id="42" name="TextBox 41"/>
          <p:cNvSpPr txBox="1"/>
          <p:nvPr/>
        </p:nvSpPr>
        <p:spPr>
          <a:xfrm>
            <a:off x="9415594" y="5050455"/>
            <a:ext cx="118491" cy="186689"/>
          </a:xfrm>
          <a:prstGeom prst="rect">
            <a:avLst/>
          </a:prstGeom>
          <a:noFill/>
        </p:spPr>
        <p:txBody>
          <a:bodyPr wrap="none" lIns="0" rIns="0" tIns="0" bIns="0">
            <a:spAutoFit/>
          </a:bodyPr>
          <a:lstStyle/>
          <a:p>
            <a:r>
              <a:rPr sz="1100" b="0">
                <a:solidFill>
                  <a:srgbClr val="2E2E2E"/>
                </a:solidFill>
                <a:latin typeface="Calibri"/>
              </a:rPr>
              <a:t>)</a:t>
            </a:r>
          </a:p>
        </p:txBody>
      </p:sp>
      <p:sp>
        <p:nvSpPr>
          <p:cNvPr id="43" name="TextBox 42"/>
          <p:cNvSpPr txBox="1"/>
          <p:nvPr/>
        </p:nvSpPr>
        <p:spPr>
          <a:xfrm>
            <a:off x="3784750" y="5923276"/>
            <a:ext cx="945777" cy="186689"/>
          </a:xfrm>
          <a:prstGeom prst="rect">
            <a:avLst/>
          </a:prstGeom>
          <a:noFill/>
        </p:spPr>
        <p:txBody>
          <a:bodyPr wrap="none" lIns="0" rIns="0" tIns="0" bIns="0">
            <a:spAutoFit/>
          </a:bodyPr>
          <a:lstStyle/>
          <a:p>
            <a:r>
              <a:rPr sz="1100" b="0">
                <a:solidFill>
                  <a:srgbClr val="2E2E2E"/>
                </a:solidFill>
                <a:latin typeface="Calibri"/>
              </a:rPr>
              <a:t>An incremental</a:t>
            </a:r>
          </a:p>
        </p:txBody>
      </p:sp>
      <p:pic>
        <p:nvPicPr>
          <p:cNvPr id="44" name="Picture 43" descr="lock.png"/>
          <p:cNvPicPr>
            <a:picLocks noChangeAspect="1"/>
          </p:cNvPicPr>
          <p:nvPr/>
        </p:nvPicPr>
        <p:blipFill>
          <a:blip r:embed="rId4"/>
          <a:stretch>
            <a:fillRect/>
          </a:stretch>
        </p:blipFill>
        <p:spPr>
          <a:xfrm>
            <a:off x="4678579" y="5913497"/>
            <a:ext cx="128699" cy="187198"/>
          </a:xfrm>
          <a:prstGeom prst="rect">
            <a:avLst/>
          </a:prstGeom>
        </p:spPr>
      </p:pic>
      <p:sp>
        <p:nvSpPr>
          <p:cNvPr id="45" name="TextBox 44"/>
          <p:cNvSpPr txBox="1"/>
          <p:nvPr/>
        </p:nvSpPr>
        <p:spPr>
          <a:xfrm>
            <a:off x="4846075" y="5923276"/>
            <a:ext cx="3125043" cy="186689"/>
          </a:xfrm>
          <a:prstGeom prst="rect">
            <a:avLst/>
          </a:prstGeom>
          <a:noFill/>
        </p:spPr>
        <p:txBody>
          <a:bodyPr wrap="none" lIns="0" rIns="0" tIns="0" bIns="0">
            <a:spAutoFit/>
          </a:bodyPr>
          <a:lstStyle/>
          <a:p>
            <a:r>
              <a:rPr sz="1100" b="0">
                <a:solidFill>
                  <a:srgbClr val="2E2E2E"/>
                </a:solidFill>
                <a:latin typeface="Calibri"/>
              </a:rPr>
              <a:t>US$ Mn of demand is added between 2026 and 2036,</a:t>
            </a:r>
          </a:p>
        </p:txBody>
      </p:sp>
      <p:sp>
        <p:nvSpPr>
          <p:cNvPr id="46" name="TextBox 45"/>
          <p:cNvSpPr txBox="1"/>
          <p:nvPr/>
        </p:nvSpPr>
        <p:spPr>
          <a:xfrm>
            <a:off x="3784750" y="6090916"/>
            <a:ext cx="3324497" cy="186689"/>
          </a:xfrm>
          <a:prstGeom prst="rect">
            <a:avLst/>
          </a:prstGeom>
          <a:noFill/>
        </p:spPr>
        <p:txBody>
          <a:bodyPr wrap="none" lIns="0" rIns="0" tIns="0" bIns="0">
            <a:spAutoFit/>
          </a:bodyPr>
          <a:lstStyle/>
          <a:p>
            <a:r>
              <a:rPr sz="1100" b="0">
                <a:solidFill>
                  <a:srgbClr val="2E2E2E"/>
                </a:solidFill>
                <a:latin typeface="Calibri"/>
              </a:rPr>
              <a:t>front-loaded in the leading categories and regions above.</a:t>
            </a:r>
          </a:p>
        </p:txBody>
      </p:sp>
      <p:sp>
        <p:nvSpPr>
          <p:cNvPr id="47" name="TextBox 46"/>
          <p:cNvSpPr txBox="1"/>
          <p:nvPr/>
        </p:nvSpPr>
        <p:spPr>
          <a:xfrm>
            <a:off x="8785375" y="6007096"/>
            <a:ext cx="857919" cy="186689"/>
          </a:xfrm>
          <a:prstGeom prst="rect">
            <a:avLst/>
          </a:prstGeom>
          <a:noFill/>
        </p:spPr>
        <p:txBody>
          <a:bodyPr wrap="none" lIns="0" rIns="0" tIns="0" bIns="0">
            <a:spAutoFit/>
          </a:bodyPr>
          <a:lstStyle/>
          <a:p>
            <a:r>
              <a:rPr sz="1100" b="0">
                <a:solidFill>
                  <a:srgbClr val="2E2E2E"/>
                </a:solidFill>
                <a:latin typeface="Calibri"/>
              </a:rPr>
              <a:t>$ opportunity</a:t>
            </a:r>
          </a:p>
        </p:txBody>
      </p:sp>
      <p:pic>
        <p:nvPicPr>
          <p:cNvPr id="48" name="Picture 47" descr="lock.png"/>
          <p:cNvPicPr>
            <a:picLocks noChangeAspect="1"/>
          </p:cNvPicPr>
          <p:nvPr/>
        </p:nvPicPr>
        <p:blipFill>
          <a:blip r:embed="rId4"/>
          <a:stretch>
            <a:fillRect/>
          </a:stretch>
        </p:blipFill>
        <p:spPr>
          <a:xfrm>
            <a:off x="9591346" y="5997317"/>
            <a:ext cx="128699" cy="187198"/>
          </a:xfrm>
          <a:prstGeom prst="rect">
            <a:avLst/>
          </a:prstGeom>
        </p:spPr>
      </p:pic>
      <p:sp>
        <p:nvSpPr>
          <p:cNvPr id="49" name="TextBox 48"/>
          <p:cNvSpPr txBox="1"/>
          <p:nvPr/>
        </p:nvSpPr>
        <p:spPr>
          <a:xfrm>
            <a:off x="9758842" y="6007096"/>
            <a:ext cx="1345778" cy="186689"/>
          </a:xfrm>
          <a:prstGeom prst="rect">
            <a:avLst/>
          </a:prstGeom>
          <a:noFill/>
        </p:spPr>
        <p:txBody>
          <a:bodyPr wrap="none" lIns="0" rIns="0" tIns="0" bIns="0">
            <a:spAutoFit/>
          </a:bodyPr>
          <a:lstStyle/>
          <a:p>
            <a:r>
              <a:rPr sz="1100" b="0">
                <a:solidFill>
                  <a:srgbClr val="2E2E2E"/>
                </a:solidFill>
                <a:latin typeface="Calibri"/>
              </a:rPr>
              <a:t>US$ Mn (2026–2036) ·</a:t>
            </a:r>
          </a:p>
        </p:txBody>
      </p:sp>
      <p:pic>
        <p:nvPicPr>
          <p:cNvPr id="50" name="Picture 49" descr="lock.png"/>
          <p:cNvPicPr>
            <a:picLocks noChangeAspect="1"/>
          </p:cNvPicPr>
          <p:nvPr/>
        </p:nvPicPr>
        <p:blipFill>
          <a:blip r:embed="rId4"/>
          <a:stretch>
            <a:fillRect/>
          </a:stretch>
        </p:blipFill>
        <p:spPr>
          <a:xfrm>
            <a:off x="11052672" y="5997317"/>
            <a:ext cx="128699" cy="187198"/>
          </a:xfrm>
          <a:prstGeom prst="rect">
            <a:avLst/>
          </a:prstGeom>
        </p:spPr>
      </p:pic>
      <p:sp>
        <p:nvSpPr>
          <p:cNvPr id="51" name="TextBox 50"/>
          <p:cNvSpPr txBox="1"/>
          <p:nvPr/>
        </p:nvSpPr>
        <p:spPr>
          <a:xfrm>
            <a:off x="11220167" y="6007096"/>
            <a:ext cx="528315" cy="186689"/>
          </a:xfrm>
          <a:prstGeom prst="rect">
            <a:avLst/>
          </a:prstGeom>
          <a:noFill/>
        </p:spPr>
        <p:txBody>
          <a:bodyPr wrap="none" lIns="0" rIns="0" tIns="0" bIns="0">
            <a:spAutoFit/>
          </a:bodyPr>
          <a:lstStyle/>
          <a:p>
            <a:r>
              <a:rPr sz="1100" b="0">
                <a:solidFill>
                  <a:srgbClr val="2E2E2E"/>
                </a:solidFill>
                <a:latin typeface="Calibri"/>
              </a:rPr>
              <a:t>by 2031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000375"/>
            <a:ext cx="7239000" cy="247650"/>
          </a:xfrm>
          <a:prstGeom prst="rect">
            <a:avLst/>
          </a:prstGeom>
          <a:noFill/>
        </p:spPr>
        <p:txBody>
          <a:bodyPr wrap="none" lIns="0" tIns="0">
            <a:spAutoFit/>
          </a:bodyPr>
          <a:lstStyle/>
          <a:p>
            <a:r>
              <a:rPr sz="1400" b="0">
                <a:solidFill>
                  <a:srgbClr val="8FC8F2"/>
                </a:solidFill>
                <a:latin typeface="Calibri"/>
              </a:rPr>
              <a:t>Waterproof Coatings Market</a:t>
            </a:r>
          </a:p>
        </p:txBody>
      </p:sp>
      <p:sp>
        <p:nvSpPr>
          <p:cNvPr id="6" name="FMI Breaker Title"/>
          <p:cNvSpPr txBox="1"/>
          <p:nvPr/>
        </p:nvSpPr>
        <p:spPr>
          <a:xfrm>
            <a:off x="914400" y="3305175"/>
            <a:ext cx="7239000" cy="514350"/>
          </a:xfrm>
          <a:prstGeom prst="rect">
            <a:avLst/>
          </a:prstGeom>
          <a:noFill/>
        </p:spPr>
        <p:txBody>
          <a:bodyPr wrap="square" lIns="0" rIns="0" tIns="0">
            <a:spAutoFit/>
          </a:bodyPr>
          <a:lstStyle/>
          <a:p>
            <a:r>
              <a:rPr sz="3000" b="1" cap="all" spc="400">
                <a:solidFill>
                  <a:srgbClr val="FFFFFF"/>
                </a:solidFill>
                <a:latin typeface="Calibri"/>
              </a:rPr>
              <a:t>Market Overview</a:t>
            </a:r>
          </a:p>
        </p:txBody>
      </p:sp>
      <p:sp>
        <p:nvSpPr>
          <p:cNvPr id="7" name="TextBox 6"/>
          <p:cNvSpPr txBox="1"/>
          <p:nvPr/>
        </p:nvSpPr>
        <p:spPr>
          <a:xfrm>
            <a:off x="914400" y="4010025"/>
            <a:ext cx="71247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Taxonomy</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Table of Contents</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List of Figures, List of Tables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Market Taxonomy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Geographic Coverage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Segments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Coverage</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Regions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Geographic scope of the study: the global market broken into 7 regions and the countries assessed under each</a:t>
            </a:r>
          </a:p>
        </p:txBody>
      </p:sp>
      <p:cxnSp>
        <p:nvCxnSpPr>
          <p:cNvPr id="10" name="Connector 9"/>
          <p:cNvCxnSpPr/>
          <p:nvPr/>
        </p:nvCxnSpPr>
        <p:spPr>
          <a:xfrm>
            <a:off x="6096000" y="1445350"/>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42975" y="1627887"/>
            <a:ext cx="10296525" cy="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42975" y="1627887"/>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657475" y="1627887"/>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371975" y="1627887"/>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086475" y="1627887"/>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810500" y="1627887"/>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525000" y="1627887"/>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239500" y="1627887"/>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09650" y="2093356"/>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09650" y="2558825"/>
            <a:ext cx="0" cy="24642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09650" y="3106436"/>
            <a:ext cx="0" cy="24642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724150" y="2093356"/>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724150" y="2558825"/>
            <a:ext cx="0" cy="23729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724150" y="3097309"/>
            <a:ext cx="0" cy="23729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438650" y="2093356"/>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438650" y="2558825"/>
            <a:ext cx="0" cy="24642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438650" y="3106436"/>
            <a:ext cx="0" cy="24642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153150" y="2093356"/>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153150" y="2558825"/>
            <a:ext cx="0" cy="24642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153150" y="3106436"/>
            <a:ext cx="0" cy="24642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153150" y="3827457"/>
            <a:ext cx="0" cy="24642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877175" y="2093356"/>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877175" y="2558825"/>
            <a:ext cx="0" cy="24642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877175" y="3106436"/>
            <a:ext cx="0" cy="255552"/>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877175" y="3663174"/>
            <a:ext cx="0" cy="24642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877175" y="4210785"/>
            <a:ext cx="0" cy="255552"/>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877175" y="4767523"/>
            <a:ext cx="0" cy="24642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877175" y="5315134"/>
            <a:ext cx="0" cy="255552"/>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877175" y="5871872"/>
            <a:ext cx="0" cy="24642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591675" y="2093356"/>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91675" y="2558825"/>
            <a:ext cx="0" cy="24642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591675" y="3106436"/>
            <a:ext cx="0" cy="23729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9591675" y="3644920"/>
            <a:ext cx="0" cy="24642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591675" y="4365941"/>
            <a:ext cx="0" cy="24642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1306175" y="2093356"/>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1306175" y="2732236"/>
            <a:ext cx="0" cy="255552"/>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1306175" y="3288973"/>
            <a:ext cx="0" cy="24642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1306175" y="3836584"/>
            <a:ext cx="0" cy="255552"/>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1306175" y="4393322"/>
            <a:ext cx="0" cy="24642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1306175" y="4940933"/>
            <a:ext cx="0" cy="255552"/>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4667250" y="1080276"/>
            <a:ext cx="2857500" cy="365074"/>
          </a:xfrm>
          <a:prstGeom prst="roundRect">
            <a:avLst>
              <a:gd name="adj" fmla="val 17500"/>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500" b="1">
                <a:solidFill>
                  <a:srgbClr val="FFFFFF"/>
                </a:solidFill>
                <a:latin typeface="Calibri"/>
              </a:rPr>
              <a:t>Waterproof Coatings Market</a:t>
            </a:r>
          </a:p>
        </p:txBody>
      </p:sp>
      <p:sp>
        <p:nvSpPr>
          <p:cNvPr id="52" name="Rounded Rectangle 51"/>
          <p:cNvSpPr/>
          <p:nvPr/>
        </p:nvSpPr>
        <p:spPr>
          <a:xfrm>
            <a:off x="142875" y="1810424"/>
            <a:ext cx="1600200" cy="282932"/>
          </a:xfrm>
          <a:prstGeom prst="roundRect">
            <a:avLst>
              <a:gd name="adj" fmla="val 22580"/>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North America</a:t>
            </a:r>
          </a:p>
        </p:txBody>
      </p:sp>
      <p:sp>
        <p:nvSpPr>
          <p:cNvPr id="53" name="Rounded Rectangle 52"/>
          <p:cNvSpPr/>
          <p:nvPr/>
        </p:nvSpPr>
        <p:spPr>
          <a:xfrm>
            <a:off x="276225" y="2257639"/>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U.S.</a:t>
            </a:r>
          </a:p>
        </p:txBody>
      </p:sp>
      <p:sp>
        <p:nvSpPr>
          <p:cNvPr id="54" name="Rounded Rectangle 53"/>
          <p:cNvSpPr/>
          <p:nvPr/>
        </p:nvSpPr>
        <p:spPr>
          <a:xfrm>
            <a:off x="276225" y="2805250"/>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Canada</a:t>
            </a:r>
          </a:p>
        </p:txBody>
      </p:sp>
      <p:sp>
        <p:nvSpPr>
          <p:cNvPr id="55" name="Rounded Rectangle 54"/>
          <p:cNvSpPr/>
          <p:nvPr/>
        </p:nvSpPr>
        <p:spPr>
          <a:xfrm>
            <a:off x="276225" y="3352861"/>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Mexico</a:t>
            </a:r>
          </a:p>
        </p:txBody>
      </p:sp>
      <p:sp>
        <p:nvSpPr>
          <p:cNvPr id="56" name="Rounded Rectangle 55"/>
          <p:cNvSpPr/>
          <p:nvPr/>
        </p:nvSpPr>
        <p:spPr>
          <a:xfrm>
            <a:off x="1857375" y="1810424"/>
            <a:ext cx="1600200" cy="282932"/>
          </a:xfrm>
          <a:prstGeom prst="roundRect">
            <a:avLst>
              <a:gd name="adj" fmla="val 22580"/>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Latin America</a:t>
            </a:r>
          </a:p>
        </p:txBody>
      </p:sp>
      <p:sp>
        <p:nvSpPr>
          <p:cNvPr id="57" name="Rounded Rectangle 56"/>
          <p:cNvSpPr/>
          <p:nvPr/>
        </p:nvSpPr>
        <p:spPr>
          <a:xfrm>
            <a:off x="1990725" y="2257639"/>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Brazil</a:t>
            </a:r>
          </a:p>
        </p:txBody>
      </p:sp>
      <p:sp>
        <p:nvSpPr>
          <p:cNvPr id="58" name="Rounded Rectangle 57"/>
          <p:cNvSpPr/>
          <p:nvPr/>
        </p:nvSpPr>
        <p:spPr>
          <a:xfrm>
            <a:off x="1990725" y="2796123"/>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Chile</a:t>
            </a:r>
          </a:p>
        </p:txBody>
      </p:sp>
      <p:sp>
        <p:nvSpPr>
          <p:cNvPr id="59" name="Rounded Rectangle 58"/>
          <p:cNvSpPr/>
          <p:nvPr/>
        </p:nvSpPr>
        <p:spPr>
          <a:xfrm>
            <a:off x="1990725" y="3334608"/>
            <a:ext cx="1466850" cy="474596"/>
          </a:xfrm>
          <a:prstGeom prst="roundRect">
            <a:avLst>
              <a:gd name="adj" fmla="val 13461"/>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Latin America</a:t>
            </a:r>
          </a:p>
        </p:txBody>
      </p:sp>
      <p:sp>
        <p:nvSpPr>
          <p:cNvPr id="60" name="Rounded Rectangle 59"/>
          <p:cNvSpPr/>
          <p:nvPr/>
        </p:nvSpPr>
        <p:spPr>
          <a:xfrm>
            <a:off x="3571875" y="1810424"/>
            <a:ext cx="1600200" cy="282932"/>
          </a:xfrm>
          <a:prstGeom prst="roundRect">
            <a:avLst>
              <a:gd name="adj" fmla="val 22580"/>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East Asia</a:t>
            </a:r>
          </a:p>
        </p:txBody>
      </p:sp>
      <p:sp>
        <p:nvSpPr>
          <p:cNvPr id="61" name="Rounded Rectangle 60"/>
          <p:cNvSpPr/>
          <p:nvPr/>
        </p:nvSpPr>
        <p:spPr>
          <a:xfrm>
            <a:off x="3705225" y="2257639"/>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China</a:t>
            </a:r>
          </a:p>
        </p:txBody>
      </p:sp>
      <p:sp>
        <p:nvSpPr>
          <p:cNvPr id="62" name="Rounded Rectangle 61"/>
          <p:cNvSpPr/>
          <p:nvPr/>
        </p:nvSpPr>
        <p:spPr>
          <a:xfrm>
            <a:off x="3705225" y="2805250"/>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Japan</a:t>
            </a:r>
          </a:p>
        </p:txBody>
      </p:sp>
      <p:sp>
        <p:nvSpPr>
          <p:cNvPr id="63" name="Rounded Rectangle 62"/>
          <p:cNvSpPr/>
          <p:nvPr/>
        </p:nvSpPr>
        <p:spPr>
          <a:xfrm>
            <a:off x="3705225" y="3352861"/>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South Korea</a:t>
            </a:r>
          </a:p>
        </p:txBody>
      </p:sp>
      <p:sp>
        <p:nvSpPr>
          <p:cNvPr id="64" name="Rounded Rectangle 63"/>
          <p:cNvSpPr/>
          <p:nvPr/>
        </p:nvSpPr>
        <p:spPr>
          <a:xfrm>
            <a:off x="5286375" y="1810424"/>
            <a:ext cx="1600200" cy="282932"/>
          </a:xfrm>
          <a:prstGeom prst="roundRect">
            <a:avLst>
              <a:gd name="adj" fmla="val 22580"/>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South Asia &amp; Pacific</a:t>
            </a:r>
          </a:p>
        </p:txBody>
      </p:sp>
      <p:sp>
        <p:nvSpPr>
          <p:cNvPr id="65" name="Rounded Rectangle 64"/>
          <p:cNvSpPr/>
          <p:nvPr/>
        </p:nvSpPr>
        <p:spPr>
          <a:xfrm>
            <a:off x="5419725" y="2257639"/>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India</a:t>
            </a:r>
          </a:p>
        </p:txBody>
      </p:sp>
      <p:sp>
        <p:nvSpPr>
          <p:cNvPr id="66" name="Rounded Rectangle 65"/>
          <p:cNvSpPr/>
          <p:nvPr/>
        </p:nvSpPr>
        <p:spPr>
          <a:xfrm>
            <a:off x="5419725" y="2805250"/>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ASEAN</a:t>
            </a:r>
          </a:p>
        </p:txBody>
      </p:sp>
      <p:sp>
        <p:nvSpPr>
          <p:cNvPr id="67" name="Rounded Rectangle 66"/>
          <p:cNvSpPr/>
          <p:nvPr/>
        </p:nvSpPr>
        <p:spPr>
          <a:xfrm>
            <a:off x="5419725" y="3352861"/>
            <a:ext cx="1466850" cy="474596"/>
          </a:xfrm>
          <a:prstGeom prst="roundRect">
            <a:avLst>
              <a:gd name="adj" fmla="val 13461"/>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Australia &amp; New Zealand</a:t>
            </a:r>
          </a:p>
        </p:txBody>
      </p:sp>
      <p:sp>
        <p:nvSpPr>
          <p:cNvPr id="68" name="Rounded Rectangle 67"/>
          <p:cNvSpPr/>
          <p:nvPr/>
        </p:nvSpPr>
        <p:spPr>
          <a:xfrm>
            <a:off x="5419725" y="4073882"/>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South Asia</a:t>
            </a:r>
          </a:p>
        </p:txBody>
      </p:sp>
      <p:sp>
        <p:nvSpPr>
          <p:cNvPr id="69" name="Rounded Rectangle 68"/>
          <p:cNvSpPr/>
          <p:nvPr/>
        </p:nvSpPr>
        <p:spPr>
          <a:xfrm>
            <a:off x="7010400" y="1810424"/>
            <a:ext cx="1600200" cy="282932"/>
          </a:xfrm>
          <a:prstGeom prst="roundRect">
            <a:avLst>
              <a:gd name="adj" fmla="val 22580"/>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Western Europe</a:t>
            </a:r>
          </a:p>
        </p:txBody>
      </p:sp>
      <p:sp>
        <p:nvSpPr>
          <p:cNvPr id="70" name="Rounded Rectangle 69"/>
          <p:cNvSpPr/>
          <p:nvPr/>
        </p:nvSpPr>
        <p:spPr>
          <a:xfrm>
            <a:off x="7143750" y="2257639"/>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Germany</a:t>
            </a:r>
          </a:p>
        </p:txBody>
      </p:sp>
      <p:sp>
        <p:nvSpPr>
          <p:cNvPr id="71" name="Rounded Rectangle 70"/>
          <p:cNvSpPr/>
          <p:nvPr/>
        </p:nvSpPr>
        <p:spPr>
          <a:xfrm>
            <a:off x="7143750" y="2805250"/>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Italy</a:t>
            </a:r>
          </a:p>
        </p:txBody>
      </p:sp>
      <p:sp>
        <p:nvSpPr>
          <p:cNvPr id="72" name="Rounded Rectangle 71"/>
          <p:cNvSpPr/>
          <p:nvPr/>
        </p:nvSpPr>
        <p:spPr>
          <a:xfrm>
            <a:off x="7143750" y="3361988"/>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France</a:t>
            </a:r>
          </a:p>
        </p:txBody>
      </p:sp>
      <p:sp>
        <p:nvSpPr>
          <p:cNvPr id="73" name="Rounded Rectangle 72"/>
          <p:cNvSpPr/>
          <p:nvPr/>
        </p:nvSpPr>
        <p:spPr>
          <a:xfrm>
            <a:off x="7143750" y="3909599"/>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U.K.</a:t>
            </a:r>
          </a:p>
        </p:txBody>
      </p:sp>
      <p:sp>
        <p:nvSpPr>
          <p:cNvPr id="74" name="Rounded Rectangle 73"/>
          <p:cNvSpPr/>
          <p:nvPr/>
        </p:nvSpPr>
        <p:spPr>
          <a:xfrm>
            <a:off x="7143750" y="4466337"/>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Spain</a:t>
            </a:r>
          </a:p>
        </p:txBody>
      </p:sp>
      <p:sp>
        <p:nvSpPr>
          <p:cNvPr id="75" name="Rounded Rectangle 74"/>
          <p:cNvSpPr/>
          <p:nvPr/>
        </p:nvSpPr>
        <p:spPr>
          <a:xfrm>
            <a:off x="7143750" y="5013948"/>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BENELUX</a:t>
            </a:r>
          </a:p>
        </p:txBody>
      </p:sp>
      <p:sp>
        <p:nvSpPr>
          <p:cNvPr id="76" name="Rounded Rectangle 75"/>
          <p:cNvSpPr/>
          <p:nvPr/>
        </p:nvSpPr>
        <p:spPr>
          <a:xfrm>
            <a:off x="7143750" y="5570686"/>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Nordic Countries</a:t>
            </a:r>
          </a:p>
        </p:txBody>
      </p:sp>
      <p:sp>
        <p:nvSpPr>
          <p:cNvPr id="77" name="Rounded Rectangle 76"/>
          <p:cNvSpPr/>
          <p:nvPr/>
        </p:nvSpPr>
        <p:spPr>
          <a:xfrm>
            <a:off x="7143750" y="6118296"/>
            <a:ext cx="1466850" cy="474596"/>
          </a:xfrm>
          <a:prstGeom prst="roundRect">
            <a:avLst>
              <a:gd name="adj" fmla="val 13461"/>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Western Europe</a:t>
            </a:r>
          </a:p>
        </p:txBody>
      </p:sp>
      <p:sp>
        <p:nvSpPr>
          <p:cNvPr id="78" name="Rounded Rectangle 77"/>
          <p:cNvSpPr/>
          <p:nvPr/>
        </p:nvSpPr>
        <p:spPr>
          <a:xfrm>
            <a:off x="8724900" y="1810424"/>
            <a:ext cx="1600200" cy="282932"/>
          </a:xfrm>
          <a:prstGeom prst="roundRect">
            <a:avLst>
              <a:gd name="adj" fmla="val 22580"/>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Eastern Europe</a:t>
            </a:r>
          </a:p>
        </p:txBody>
      </p:sp>
      <p:sp>
        <p:nvSpPr>
          <p:cNvPr id="79" name="Rounded Rectangle 78"/>
          <p:cNvSpPr/>
          <p:nvPr/>
        </p:nvSpPr>
        <p:spPr>
          <a:xfrm>
            <a:off x="8858250" y="2257639"/>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Russia</a:t>
            </a:r>
          </a:p>
        </p:txBody>
      </p:sp>
      <p:sp>
        <p:nvSpPr>
          <p:cNvPr id="80" name="Rounded Rectangle 79"/>
          <p:cNvSpPr/>
          <p:nvPr/>
        </p:nvSpPr>
        <p:spPr>
          <a:xfrm>
            <a:off x="8858250" y="2805250"/>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Hungary</a:t>
            </a:r>
          </a:p>
        </p:txBody>
      </p:sp>
      <p:sp>
        <p:nvSpPr>
          <p:cNvPr id="81" name="Rounded Rectangle 80"/>
          <p:cNvSpPr/>
          <p:nvPr/>
        </p:nvSpPr>
        <p:spPr>
          <a:xfrm>
            <a:off x="8858250" y="3343734"/>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Poland</a:t>
            </a:r>
          </a:p>
        </p:txBody>
      </p:sp>
      <p:sp>
        <p:nvSpPr>
          <p:cNvPr id="82" name="Rounded Rectangle 81"/>
          <p:cNvSpPr/>
          <p:nvPr/>
        </p:nvSpPr>
        <p:spPr>
          <a:xfrm>
            <a:off x="8858250" y="3891345"/>
            <a:ext cx="1466850" cy="474596"/>
          </a:xfrm>
          <a:prstGeom prst="roundRect">
            <a:avLst>
              <a:gd name="adj" fmla="val 13461"/>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Balkan &amp; Baltic Countries</a:t>
            </a:r>
          </a:p>
        </p:txBody>
      </p:sp>
      <p:sp>
        <p:nvSpPr>
          <p:cNvPr id="83" name="Rounded Rectangle 82"/>
          <p:cNvSpPr/>
          <p:nvPr/>
        </p:nvSpPr>
        <p:spPr>
          <a:xfrm>
            <a:off x="8858250" y="4612366"/>
            <a:ext cx="1466850" cy="474596"/>
          </a:xfrm>
          <a:prstGeom prst="roundRect">
            <a:avLst>
              <a:gd name="adj" fmla="val 13461"/>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Eastern Europe</a:t>
            </a:r>
          </a:p>
        </p:txBody>
      </p:sp>
      <p:sp>
        <p:nvSpPr>
          <p:cNvPr id="84" name="Rounded Rectangle 83"/>
          <p:cNvSpPr/>
          <p:nvPr/>
        </p:nvSpPr>
        <p:spPr>
          <a:xfrm>
            <a:off x="10439400" y="1810424"/>
            <a:ext cx="1600200" cy="282932"/>
          </a:xfrm>
          <a:prstGeom prst="roundRect">
            <a:avLst>
              <a:gd name="adj" fmla="val 22580"/>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Middle East &amp; Africa</a:t>
            </a:r>
          </a:p>
        </p:txBody>
      </p:sp>
      <p:sp>
        <p:nvSpPr>
          <p:cNvPr id="85" name="Rounded Rectangle 84"/>
          <p:cNvSpPr/>
          <p:nvPr/>
        </p:nvSpPr>
        <p:spPr>
          <a:xfrm>
            <a:off x="10572750" y="2257639"/>
            <a:ext cx="1466850" cy="474596"/>
          </a:xfrm>
          <a:prstGeom prst="roundRect">
            <a:avLst>
              <a:gd name="adj" fmla="val 13461"/>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Kingdom of Saudi Arabia</a:t>
            </a:r>
          </a:p>
        </p:txBody>
      </p:sp>
      <p:sp>
        <p:nvSpPr>
          <p:cNvPr id="86" name="Rounded Rectangle 85"/>
          <p:cNvSpPr/>
          <p:nvPr/>
        </p:nvSpPr>
        <p:spPr>
          <a:xfrm>
            <a:off x="10572750" y="2987787"/>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Other GCC Countries</a:t>
            </a:r>
          </a:p>
        </p:txBody>
      </p:sp>
      <p:sp>
        <p:nvSpPr>
          <p:cNvPr id="87" name="Rounded Rectangle 86"/>
          <p:cNvSpPr/>
          <p:nvPr/>
        </p:nvSpPr>
        <p:spPr>
          <a:xfrm>
            <a:off x="10572750" y="3535398"/>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Turkiye</a:t>
            </a:r>
          </a:p>
        </p:txBody>
      </p:sp>
      <p:sp>
        <p:nvSpPr>
          <p:cNvPr id="88" name="Rounded Rectangle 87"/>
          <p:cNvSpPr/>
          <p:nvPr/>
        </p:nvSpPr>
        <p:spPr>
          <a:xfrm>
            <a:off x="10572750" y="4092136"/>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South Africa</a:t>
            </a:r>
          </a:p>
        </p:txBody>
      </p:sp>
      <p:sp>
        <p:nvSpPr>
          <p:cNvPr id="89" name="Rounded Rectangle 88"/>
          <p:cNvSpPr/>
          <p:nvPr/>
        </p:nvSpPr>
        <p:spPr>
          <a:xfrm>
            <a:off x="10572750" y="4639747"/>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Other African Union</a:t>
            </a:r>
          </a:p>
        </p:txBody>
      </p:sp>
      <p:sp>
        <p:nvSpPr>
          <p:cNvPr id="90" name="Rounded Rectangle 89"/>
          <p:cNvSpPr/>
          <p:nvPr/>
        </p:nvSpPr>
        <p:spPr>
          <a:xfrm>
            <a:off x="10572750" y="5196485"/>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MEA</a:t>
            </a:r>
          </a:p>
        </p:txBody>
      </p:sp>
      <p:sp>
        <p:nvSpPr>
          <p:cNvPr id="91" name="TextBox 9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Segments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Segmentation framework of the study: 6 axes and the sub-segments sized under each</a:t>
            </a:r>
          </a:p>
        </p:txBody>
      </p:sp>
      <p:sp>
        <p:nvSpPr>
          <p:cNvPr id="10" name="Rectangle 9"/>
          <p:cNvSpPr/>
          <p:nvPr/>
        </p:nvSpPr>
        <p:spPr>
          <a:xfrm>
            <a:off x="142875" y="1028700"/>
            <a:ext cx="2876550" cy="164592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8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90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Product Type / Chemistry</a:t>
            </a:r>
          </a:p>
        </p:txBody>
      </p:sp>
      <p:sp>
        <p:nvSpPr>
          <p:cNvPr id="13" name="TextBox 12"/>
          <p:cNvSpPr txBox="1"/>
          <p:nvPr/>
        </p:nvSpPr>
        <p:spPr>
          <a:xfrm>
            <a:off x="2000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 name="TextBox 13"/>
          <p:cNvSpPr txBox="1"/>
          <p:nvPr/>
        </p:nvSpPr>
        <p:spPr>
          <a:xfrm>
            <a:off x="3905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Acrylic Waterproof Coatings</a:t>
            </a:r>
          </a:p>
        </p:txBody>
      </p:sp>
      <p:cxnSp>
        <p:nvCxnSpPr>
          <p:cNvPr id="15" name="Connector 14"/>
          <p:cNvCxnSpPr/>
          <p:nvPr/>
        </p:nvCxnSpPr>
        <p:spPr>
          <a:xfrm>
            <a:off x="1524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000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 name="TextBox 16"/>
          <p:cNvSpPr txBox="1"/>
          <p:nvPr/>
        </p:nvSpPr>
        <p:spPr>
          <a:xfrm>
            <a:off x="3905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Polyurethane (PU) Waterproof Coatings</a:t>
            </a:r>
          </a:p>
        </p:txBody>
      </p:sp>
      <p:cxnSp>
        <p:nvCxnSpPr>
          <p:cNvPr id="18" name="Connector 17"/>
          <p:cNvCxnSpPr/>
          <p:nvPr/>
        </p:nvCxnSpPr>
        <p:spPr>
          <a:xfrm>
            <a:off x="1524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0002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0" name="TextBox 19"/>
          <p:cNvSpPr txBox="1"/>
          <p:nvPr/>
        </p:nvSpPr>
        <p:spPr>
          <a:xfrm>
            <a:off x="390525" y="16116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Epoxy Waterproof Coatings</a:t>
            </a:r>
          </a:p>
        </p:txBody>
      </p:sp>
      <p:cxnSp>
        <p:nvCxnSpPr>
          <p:cNvPr id="21" name="Connector 20"/>
          <p:cNvCxnSpPr/>
          <p:nvPr/>
        </p:nvCxnSpPr>
        <p:spPr>
          <a:xfrm>
            <a:off x="1524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0002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3" name="TextBox 22"/>
          <p:cNvSpPr txBox="1"/>
          <p:nvPr/>
        </p:nvSpPr>
        <p:spPr>
          <a:xfrm>
            <a:off x="390525" y="178879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Silicone Waterproof Coatings</a:t>
            </a:r>
          </a:p>
        </p:txBody>
      </p:sp>
      <p:cxnSp>
        <p:nvCxnSpPr>
          <p:cNvPr id="24" name="Connector 23"/>
          <p:cNvCxnSpPr/>
          <p:nvPr/>
        </p:nvCxnSpPr>
        <p:spPr>
          <a:xfrm>
            <a:off x="1524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0002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 name="TextBox 25"/>
          <p:cNvSpPr txBox="1"/>
          <p:nvPr/>
        </p:nvSpPr>
        <p:spPr>
          <a:xfrm>
            <a:off x="390525" y="196596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Bituminous Waterproof Coatings</a:t>
            </a:r>
          </a:p>
        </p:txBody>
      </p:sp>
      <p:cxnSp>
        <p:nvCxnSpPr>
          <p:cNvPr id="27" name="Connector 26"/>
          <p:cNvCxnSpPr/>
          <p:nvPr/>
        </p:nvCxnSpPr>
        <p:spPr>
          <a:xfrm>
            <a:off x="1524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0002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9" name="TextBox 28"/>
          <p:cNvSpPr txBox="1"/>
          <p:nvPr/>
        </p:nvSpPr>
        <p:spPr>
          <a:xfrm>
            <a:off x="390525" y="214312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Cementitious Waterproof Coatings</a:t>
            </a:r>
          </a:p>
        </p:txBody>
      </p:sp>
      <p:cxnSp>
        <p:nvCxnSpPr>
          <p:cNvPr id="30" name="Connector 29"/>
          <p:cNvCxnSpPr/>
          <p:nvPr/>
        </p:nvCxnSpPr>
        <p:spPr>
          <a:xfrm>
            <a:off x="152400" y="23202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200025" y="23202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2" name="TextBox 31"/>
          <p:cNvSpPr txBox="1"/>
          <p:nvPr/>
        </p:nvSpPr>
        <p:spPr>
          <a:xfrm>
            <a:off x="390525" y="232029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Polyurea Waterproof Coatings</a:t>
            </a:r>
          </a:p>
        </p:txBody>
      </p:sp>
      <p:cxnSp>
        <p:nvCxnSpPr>
          <p:cNvPr id="33" name="Connector 32"/>
          <p:cNvCxnSpPr/>
          <p:nvPr/>
        </p:nvCxnSpPr>
        <p:spPr>
          <a:xfrm>
            <a:off x="152400" y="24974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00025" y="24974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5" name="TextBox 34"/>
          <p:cNvSpPr txBox="1"/>
          <p:nvPr/>
        </p:nvSpPr>
        <p:spPr>
          <a:xfrm>
            <a:off x="390525" y="249745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Polymer-Based Coatings</a:t>
            </a:r>
          </a:p>
        </p:txBody>
      </p:sp>
      <p:sp>
        <p:nvSpPr>
          <p:cNvPr id="36" name="Rectangle 35"/>
          <p:cNvSpPr/>
          <p:nvPr/>
        </p:nvSpPr>
        <p:spPr>
          <a:xfrm>
            <a:off x="3152775" y="1028700"/>
            <a:ext cx="2876550" cy="58293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1527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2289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Product Configuration</a:t>
            </a:r>
          </a:p>
        </p:txBody>
      </p:sp>
      <p:sp>
        <p:nvSpPr>
          <p:cNvPr id="39" name="TextBox 38"/>
          <p:cNvSpPr txBox="1"/>
          <p:nvPr/>
        </p:nvSpPr>
        <p:spPr>
          <a:xfrm>
            <a:off x="32099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0" name="TextBox 39"/>
          <p:cNvSpPr txBox="1"/>
          <p:nvPr/>
        </p:nvSpPr>
        <p:spPr>
          <a:xfrm>
            <a:off x="34004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Single-Component Coatings</a:t>
            </a:r>
          </a:p>
        </p:txBody>
      </p:sp>
      <p:cxnSp>
        <p:nvCxnSpPr>
          <p:cNvPr id="41" name="Connector 40"/>
          <p:cNvCxnSpPr/>
          <p:nvPr/>
        </p:nvCxnSpPr>
        <p:spPr>
          <a:xfrm>
            <a:off x="31623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2099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3" name="TextBox 42"/>
          <p:cNvSpPr txBox="1"/>
          <p:nvPr/>
        </p:nvSpPr>
        <p:spPr>
          <a:xfrm>
            <a:off x="34004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Two-Component Coatings</a:t>
            </a:r>
          </a:p>
        </p:txBody>
      </p:sp>
      <p:sp>
        <p:nvSpPr>
          <p:cNvPr id="44" name="Rectangle 43"/>
          <p:cNvSpPr/>
          <p:nvPr/>
        </p:nvSpPr>
        <p:spPr>
          <a:xfrm>
            <a:off x="3152775" y="1725930"/>
            <a:ext cx="2876550" cy="129159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152775" y="172593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228975" y="172593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Substrate Material</a:t>
            </a:r>
          </a:p>
        </p:txBody>
      </p:sp>
      <p:sp>
        <p:nvSpPr>
          <p:cNvPr id="47" name="TextBox 46"/>
          <p:cNvSpPr txBox="1"/>
          <p:nvPr/>
        </p:nvSpPr>
        <p:spPr>
          <a:xfrm>
            <a:off x="3209925" y="19545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8" name="TextBox 47"/>
          <p:cNvSpPr txBox="1"/>
          <p:nvPr/>
        </p:nvSpPr>
        <p:spPr>
          <a:xfrm>
            <a:off x="3400425" y="19545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Concrete and Cementitious Surfaces</a:t>
            </a:r>
          </a:p>
        </p:txBody>
      </p:sp>
      <p:cxnSp>
        <p:nvCxnSpPr>
          <p:cNvPr id="49" name="Connector 48"/>
          <p:cNvCxnSpPr/>
          <p:nvPr/>
        </p:nvCxnSpPr>
        <p:spPr>
          <a:xfrm>
            <a:off x="3162300" y="21316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209925" y="21316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1" name="TextBox 50"/>
          <p:cNvSpPr txBox="1"/>
          <p:nvPr/>
        </p:nvSpPr>
        <p:spPr>
          <a:xfrm>
            <a:off x="3400425" y="213169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Metal</a:t>
            </a:r>
          </a:p>
        </p:txBody>
      </p:sp>
      <p:cxnSp>
        <p:nvCxnSpPr>
          <p:cNvPr id="52" name="Connector 51"/>
          <p:cNvCxnSpPr/>
          <p:nvPr/>
        </p:nvCxnSpPr>
        <p:spPr>
          <a:xfrm>
            <a:off x="3162300" y="23088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3209925" y="23088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4" name="TextBox 53"/>
          <p:cNvSpPr txBox="1"/>
          <p:nvPr/>
        </p:nvSpPr>
        <p:spPr>
          <a:xfrm>
            <a:off x="3400425" y="230886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Wood</a:t>
            </a:r>
          </a:p>
        </p:txBody>
      </p:sp>
      <p:cxnSp>
        <p:nvCxnSpPr>
          <p:cNvPr id="55" name="Connector 54"/>
          <p:cNvCxnSpPr/>
          <p:nvPr/>
        </p:nvCxnSpPr>
        <p:spPr>
          <a:xfrm>
            <a:off x="3162300" y="24860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3209925" y="24860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7" name="TextBox 56"/>
          <p:cNvSpPr txBox="1"/>
          <p:nvPr/>
        </p:nvSpPr>
        <p:spPr>
          <a:xfrm>
            <a:off x="3400425" y="248602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Masonry and Brickwork</a:t>
            </a:r>
          </a:p>
        </p:txBody>
      </p:sp>
      <p:cxnSp>
        <p:nvCxnSpPr>
          <p:cNvPr id="58" name="Connector 57"/>
          <p:cNvCxnSpPr/>
          <p:nvPr/>
        </p:nvCxnSpPr>
        <p:spPr>
          <a:xfrm>
            <a:off x="3162300" y="26631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3209925" y="26631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0" name="TextBox 59"/>
          <p:cNvSpPr txBox="1"/>
          <p:nvPr/>
        </p:nvSpPr>
        <p:spPr>
          <a:xfrm>
            <a:off x="3400425" y="266319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Composite Materials</a:t>
            </a:r>
          </a:p>
        </p:txBody>
      </p:sp>
      <p:cxnSp>
        <p:nvCxnSpPr>
          <p:cNvPr id="61" name="Connector 60"/>
          <p:cNvCxnSpPr/>
          <p:nvPr/>
        </p:nvCxnSpPr>
        <p:spPr>
          <a:xfrm>
            <a:off x="3162300" y="28403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3209925" y="28403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3" name="TextBox 62"/>
          <p:cNvSpPr txBox="1"/>
          <p:nvPr/>
        </p:nvSpPr>
        <p:spPr>
          <a:xfrm>
            <a:off x="3400425" y="284035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Substrates</a:t>
            </a:r>
          </a:p>
        </p:txBody>
      </p:sp>
      <p:sp>
        <p:nvSpPr>
          <p:cNvPr id="64" name="Rectangle 63"/>
          <p:cNvSpPr/>
          <p:nvPr/>
        </p:nvSpPr>
        <p:spPr>
          <a:xfrm>
            <a:off x="6162675" y="1028700"/>
            <a:ext cx="2876550" cy="93726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1626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2388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Technology</a:t>
            </a:r>
          </a:p>
        </p:txBody>
      </p:sp>
      <p:sp>
        <p:nvSpPr>
          <p:cNvPr id="67" name="TextBox 66"/>
          <p:cNvSpPr txBox="1"/>
          <p:nvPr/>
        </p:nvSpPr>
        <p:spPr>
          <a:xfrm>
            <a:off x="62198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8" name="TextBox 67"/>
          <p:cNvSpPr txBox="1"/>
          <p:nvPr/>
        </p:nvSpPr>
        <p:spPr>
          <a:xfrm>
            <a:off x="64103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Water-Based Coatings</a:t>
            </a:r>
          </a:p>
        </p:txBody>
      </p:sp>
      <p:cxnSp>
        <p:nvCxnSpPr>
          <p:cNvPr id="69" name="Connector 68"/>
          <p:cNvCxnSpPr/>
          <p:nvPr/>
        </p:nvCxnSpPr>
        <p:spPr>
          <a:xfrm>
            <a:off x="61722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62198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1" name="TextBox 70"/>
          <p:cNvSpPr txBox="1"/>
          <p:nvPr/>
        </p:nvSpPr>
        <p:spPr>
          <a:xfrm>
            <a:off x="64103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Solvent-Based Coatings</a:t>
            </a:r>
          </a:p>
        </p:txBody>
      </p:sp>
      <p:cxnSp>
        <p:nvCxnSpPr>
          <p:cNvPr id="72" name="Connector 71"/>
          <p:cNvCxnSpPr/>
          <p:nvPr/>
        </p:nvCxnSpPr>
        <p:spPr>
          <a:xfrm>
            <a:off x="61722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21982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4" name="TextBox 73"/>
          <p:cNvSpPr txBox="1"/>
          <p:nvPr/>
        </p:nvSpPr>
        <p:spPr>
          <a:xfrm>
            <a:off x="6410325" y="16116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Reactive / 100% Solids Coatings</a:t>
            </a:r>
          </a:p>
        </p:txBody>
      </p:sp>
      <p:cxnSp>
        <p:nvCxnSpPr>
          <p:cNvPr id="75" name="Connector 74"/>
          <p:cNvCxnSpPr/>
          <p:nvPr/>
        </p:nvCxnSpPr>
        <p:spPr>
          <a:xfrm>
            <a:off x="61722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621982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7" name="TextBox 76"/>
          <p:cNvSpPr txBox="1"/>
          <p:nvPr/>
        </p:nvSpPr>
        <p:spPr>
          <a:xfrm>
            <a:off x="6410325" y="178879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UV-Curable and Other Specialty Coatings</a:t>
            </a:r>
          </a:p>
        </p:txBody>
      </p:sp>
      <p:sp>
        <p:nvSpPr>
          <p:cNvPr id="78" name="Rectangle 77"/>
          <p:cNvSpPr/>
          <p:nvPr/>
        </p:nvSpPr>
        <p:spPr>
          <a:xfrm>
            <a:off x="6162675" y="2080260"/>
            <a:ext cx="2876550" cy="111442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6162675" y="208026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238875" y="208026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Distribution Channel</a:t>
            </a:r>
          </a:p>
        </p:txBody>
      </p:sp>
      <p:sp>
        <p:nvSpPr>
          <p:cNvPr id="81" name="TextBox 80"/>
          <p:cNvSpPr txBox="1"/>
          <p:nvPr/>
        </p:nvSpPr>
        <p:spPr>
          <a:xfrm>
            <a:off x="6219825" y="23088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2" name="TextBox 81"/>
          <p:cNvSpPr txBox="1"/>
          <p:nvPr/>
        </p:nvSpPr>
        <p:spPr>
          <a:xfrm>
            <a:off x="6410325" y="230886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Direct Sales</a:t>
            </a:r>
          </a:p>
        </p:txBody>
      </p:sp>
      <p:cxnSp>
        <p:nvCxnSpPr>
          <p:cNvPr id="83" name="Connector 82"/>
          <p:cNvCxnSpPr/>
          <p:nvPr/>
        </p:nvCxnSpPr>
        <p:spPr>
          <a:xfrm>
            <a:off x="6172200" y="24860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6219825" y="24860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5" name="TextBox 84"/>
          <p:cNvSpPr txBox="1"/>
          <p:nvPr/>
        </p:nvSpPr>
        <p:spPr>
          <a:xfrm>
            <a:off x="6410325" y="248602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Distributors and Wholesalers</a:t>
            </a:r>
          </a:p>
        </p:txBody>
      </p:sp>
      <p:cxnSp>
        <p:nvCxnSpPr>
          <p:cNvPr id="86" name="Connector 85"/>
          <p:cNvCxnSpPr/>
          <p:nvPr/>
        </p:nvCxnSpPr>
        <p:spPr>
          <a:xfrm>
            <a:off x="6172200" y="26631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6219825" y="26631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8" name="TextBox 87"/>
          <p:cNvSpPr txBox="1"/>
          <p:nvPr/>
        </p:nvSpPr>
        <p:spPr>
          <a:xfrm>
            <a:off x="6410325" y="266319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Retail and Hardware Stores</a:t>
            </a:r>
          </a:p>
        </p:txBody>
      </p:sp>
      <p:cxnSp>
        <p:nvCxnSpPr>
          <p:cNvPr id="89" name="Connector 88"/>
          <p:cNvCxnSpPr/>
          <p:nvPr/>
        </p:nvCxnSpPr>
        <p:spPr>
          <a:xfrm>
            <a:off x="6172200" y="28403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6219825" y="28403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1" name="TextBox 90"/>
          <p:cNvSpPr txBox="1"/>
          <p:nvPr/>
        </p:nvSpPr>
        <p:spPr>
          <a:xfrm>
            <a:off x="6410325" y="284035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Online Sales</a:t>
            </a:r>
          </a:p>
        </p:txBody>
      </p:sp>
      <p:cxnSp>
        <p:nvCxnSpPr>
          <p:cNvPr id="92" name="Connector 91"/>
          <p:cNvCxnSpPr/>
          <p:nvPr/>
        </p:nvCxnSpPr>
        <p:spPr>
          <a:xfrm>
            <a:off x="6172200" y="30175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6219825" y="30175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4" name="TextBox 93"/>
          <p:cNvSpPr txBox="1"/>
          <p:nvPr/>
        </p:nvSpPr>
        <p:spPr>
          <a:xfrm>
            <a:off x="6410325" y="301752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Channels</a:t>
            </a:r>
          </a:p>
        </p:txBody>
      </p:sp>
      <p:sp>
        <p:nvSpPr>
          <p:cNvPr id="95" name="Rectangle 94"/>
          <p:cNvSpPr/>
          <p:nvPr/>
        </p:nvSpPr>
        <p:spPr>
          <a:xfrm>
            <a:off x="9172575" y="1028700"/>
            <a:ext cx="2876550" cy="182308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91725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2487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Application</a:t>
            </a:r>
          </a:p>
        </p:txBody>
      </p:sp>
      <p:sp>
        <p:nvSpPr>
          <p:cNvPr id="98" name="TextBox 97"/>
          <p:cNvSpPr txBox="1"/>
          <p:nvPr/>
        </p:nvSpPr>
        <p:spPr>
          <a:xfrm>
            <a:off x="92297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9" name="TextBox 98"/>
          <p:cNvSpPr txBox="1"/>
          <p:nvPr/>
        </p:nvSpPr>
        <p:spPr>
          <a:xfrm>
            <a:off x="94202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Roofs and Terraces</a:t>
            </a:r>
          </a:p>
        </p:txBody>
      </p:sp>
      <p:cxnSp>
        <p:nvCxnSpPr>
          <p:cNvPr id="100" name="Connector 99"/>
          <p:cNvCxnSpPr/>
          <p:nvPr/>
        </p:nvCxnSpPr>
        <p:spPr>
          <a:xfrm>
            <a:off x="91821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92297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2" name="TextBox 101"/>
          <p:cNvSpPr txBox="1"/>
          <p:nvPr/>
        </p:nvSpPr>
        <p:spPr>
          <a:xfrm>
            <a:off x="94202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Walls and Building Facades</a:t>
            </a:r>
          </a:p>
        </p:txBody>
      </p:sp>
      <p:cxnSp>
        <p:nvCxnSpPr>
          <p:cNvPr id="103" name="Connector 102"/>
          <p:cNvCxnSpPr/>
          <p:nvPr/>
        </p:nvCxnSpPr>
        <p:spPr>
          <a:xfrm>
            <a:off x="91821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922972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5" name="TextBox 104"/>
          <p:cNvSpPr txBox="1"/>
          <p:nvPr/>
        </p:nvSpPr>
        <p:spPr>
          <a:xfrm>
            <a:off x="9420225" y="16116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Basements and Foundations</a:t>
            </a:r>
          </a:p>
        </p:txBody>
      </p:sp>
      <p:cxnSp>
        <p:nvCxnSpPr>
          <p:cNvPr id="106" name="Connector 105"/>
          <p:cNvCxnSpPr/>
          <p:nvPr/>
        </p:nvCxnSpPr>
        <p:spPr>
          <a:xfrm>
            <a:off x="91821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922972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8" name="TextBox 107"/>
          <p:cNvSpPr txBox="1"/>
          <p:nvPr/>
        </p:nvSpPr>
        <p:spPr>
          <a:xfrm>
            <a:off x="9420225" y="178879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Bathrooms and Wet Areas</a:t>
            </a:r>
          </a:p>
        </p:txBody>
      </p:sp>
      <p:cxnSp>
        <p:nvCxnSpPr>
          <p:cNvPr id="109" name="Connector 108"/>
          <p:cNvCxnSpPr/>
          <p:nvPr/>
        </p:nvCxnSpPr>
        <p:spPr>
          <a:xfrm>
            <a:off x="91821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922972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1" name="TextBox 110"/>
          <p:cNvSpPr txBox="1"/>
          <p:nvPr/>
        </p:nvSpPr>
        <p:spPr>
          <a:xfrm>
            <a:off x="9420225" y="196596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Balconies and Decks</a:t>
            </a:r>
          </a:p>
        </p:txBody>
      </p:sp>
      <p:cxnSp>
        <p:nvCxnSpPr>
          <p:cNvPr id="112" name="Connector 111"/>
          <p:cNvCxnSpPr/>
          <p:nvPr/>
        </p:nvCxnSpPr>
        <p:spPr>
          <a:xfrm>
            <a:off x="91821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922972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4" name="TextBox 113"/>
          <p:cNvSpPr txBox="1"/>
          <p:nvPr/>
        </p:nvSpPr>
        <p:spPr>
          <a:xfrm>
            <a:off x="9420225" y="214312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Floors and Parking Structures</a:t>
            </a:r>
          </a:p>
        </p:txBody>
      </p:sp>
      <p:cxnSp>
        <p:nvCxnSpPr>
          <p:cNvPr id="115" name="Connector 114"/>
          <p:cNvCxnSpPr/>
          <p:nvPr/>
        </p:nvCxnSpPr>
        <p:spPr>
          <a:xfrm>
            <a:off x="9182100" y="23202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9229725" y="23202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7" name="TextBox 116"/>
          <p:cNvSpPr txBox="1"/>
          <p:nvPr/>
        </p:nvSpPr>
        <p:spPr>
          <a:xfrm>
            <a:off x="9420225" y="232029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Bridges, Tunnels and Other Infrastructure</a:t>
            </a:r>
          </a:p>
        </p:txBody>
      </p:sp>
      <p:cxnSp>
        <p:nvCxnSpPr>
          <p:cNvPr id="118" name="Connector 117"/>
          <p:cNvCxnSpPr/>
          <p:nvPr/>
        </p:nvCxnSpPr>
        <p:spPr>
          <a:xfrm>
            <a:off x="9182100" y="24974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9229725" y="24974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0" name="TextBox 119"/>
          <p:cNvSpPr txBox="1"/>
          <p:nvPr/>
        </p:nvSpPr>
        <p:spPr>
          <a:xfrm>
            <a:off x="9420225" y="249745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Water Tanks and Swimming Pools</a:t>
            </a:r>
          </a:p>
        </p:txBody>
      </p:sp>
      <p:cxnSp>
        <p:nvCxnSpPr>
          <p:cNvPr id="121" name="Connector 120"/>
          <p:cNvCxnSpPr/>
          <p:nvPr/>
        </p:nvCxnSpPr>
        <p:spPr>
          <a:xfrm>
            <a:off x="9182100" y="26746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9229725" y="26746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3" name="TextBox 122"/>
          <p:cNvSpPr txBox="1"/>
          <p:nvPr/>
        </p:nvSpPr>
        <p:spPr>
          <a:xfrm>
            <a:off x="9420225" y="267462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Applications</a:t>
            </a:r>
          </a:p>
        </p:txBody>
      </p:sp>
      <p:sp>
        <p:nvSpPr>
          <p:cNvPr id="124" name="TextBox 1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Waterproof Coatings Market Company Coverage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Companies profiled and benchmarked across the competition assessment</a:t>
            </a:r>
          </a:p>
        </p:txBody>
      </p:sp>
      <p:sp>
        <p:nvSpPr>
          <p:cNvPr id="10" name="TextBox 9"/>
          <p:cNvSpPr txBox="1"/>
          <p:nvPr/>
        </p:nvSpPr>
        <p:spPr>
          <a:xfrm>
            <a:off x="142875" y="1007261"/>
            <a:ext cx="11906250" cy="182537"/>
          </a:xfrm>
          <a:prstGeom prst="rect">
            <a:avLst/>
          </a:prstGeom>
          <a:noFill/>
        </p:spPr>
        <p:txBody>
          <a:bodyPr wrap="square" lIns="28575" rIns="28575" tIns="9525" bIns="9525" anchor="ctr">
            <a:spAutoFit/>
          </a:bodyPr>
          <a:lstStyle/>
          <a:p>
            <a:pPr algn="l"/>
            <a:r>
              <a:rPr sz="1100" b="0">
                <a:solidFill>
                  <a:srgbClr val="6C7A89"/>
                </a:solidFill>
                <a:latin typeface="Calibri"/>
              </a:rPr>
              <a:t>Companies covered in this study of the Waterproof Coatings Market profiled and benchmarked in the Competition Assessment section.</a:t>
            </a:r>
          </a:p>
        </p:txBody>
      </p:sp>
      <p:sp>
        <p:nvSpPr>
          <p:cNvPr id="11" name="Rectangle 10"/>
          <p:cNvSpPr/>
          <p:nvPr/>
        </p:nvSpPr>
        <p:spPr>
          <a:xfrm>
            <a:off x="142875" y="1582253"/>
            <a:ext cx="5857875" cy="459080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42875" y="1582253"/>
            <a:ext cx="5857875" cy="273805"/>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2875" y="1646141"/>
            <a:ext cx="5857875" cy="164283"/>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14" name="TextBox 13"/>
          <p:cNvSpPr txBox="1"/>
          <p:nvPr/>
        </p:nvSpPr>
        <p:spPr>
          <a:xfrm>
            <a:off x="333375" y="1856058"/>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5" name="TextBox 14"/>
          <p:cNvSpPr txBox="1"/>
          <p:nvPr/>
        </p:nvSpPr>
        <p:spPr>
          <a:xfrm>
            <a:off x="581025" y="1856058"/>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Sika</a:t>
            </a:r>
          </a:p>
        </p:txBody>
      </p:sp>
      <p:sp>
        <p:nvSpPr>
          <p:cNvPr id="16" name="Rectangle 15"/>
          <p:cNvSpPr/>
          <p:nvPr/>
        </p:nvSpPr>
        <p:spPr>
          <a:xfrm>
            <a:off x="152400" y="2248513"/>
            <a:ext cx="5838825" cy="392455"/>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52400" y="2248513"/>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33375" y="2248513"/>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9" name="TextBox 18"/>
          <p:cNvSpPr txBox="1"/>
          <p:nvPr/>
        </p:nvSpPr>
        <p:spPr>
          <a:xfrm>
            <a:off x="581025" y="2248513"/>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The Sherwin-Williams</a:t>
            </a:r>
          </a:p>
        </p:txBody>
      </p:sp>
      <p:cxnSp>
        <p:nvCxnSpPr>
          <p:cNvPr id="20" name="Connector 19"/>
          <p:cNvCxnSpPr/>
          <p:nvPr/>
        </p:nvCxnSpPr>
        <p:spPr>
          <a:xfrm>
            <a:off x="152400" y="264096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33375" y="2640967"/>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2" name="TextBox 21"/>
          <p:cNvSpPr txBox="1"/>
          <p:nvPr/>
        </p:nvSpPr>
        <p:spPr>
          <a:xfrm>
            <a:off x="581025" y="2640967"/>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PPG Industries</a:t>
            </a:r>
          </a:p>
        </p:txBody>
      </p:sp>
      <p:sp>
        <p:nvSpPr>
          <p:cNvPr id="23" name="Rectangle 22"/>
          <p:cNvSpPr/>
          <p:nvPr/>
        </p:nvSpPr>
        <p:spPr>
          <a:xfrm>
            <a:off x="152400" y="3033422"/>
            <a:ext cx="5838825" cy="392455"/>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152400" y="3033422"/>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33375" y="3033422"/>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6" name="TextBox 25"/>
          <p:cNvSpPr txBox="1"/>
          <p:nvPr/>
        </p:nvSpPr>
        <p:spPr>
          <a:xfrm>
            <a:off x="581025" y="3033422"/>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Akzo Nobel</a:t>
            </a:r>
          </a:p>
        </p:txBody>
      </p:sp>
      <p:cxnSp>
        <p:nvCxnSpPr>
          <p:cNvPr id="27" name="Connector 26"/>
          <p:cNvCxnSpPr/>
          <p:nvPr/>
        </p:nvCxnSpPr>
        <p:spPr>
          <a:xfrm>
            <a:off x="152400" y="3425876"/>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33375" y="3425876"/>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9" name="TextBox 28"/>
          <p:cNvSpPr txBox="1"/>
          <p:nvPr/>
        </p:nvSpPr>
        <p:spPr>
          <a:xfrm>
            <a:off x="581025" y="3425876"/>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BASF</a:t>
            </a:r>
          </a:p>
        </p:txBody>
      </p:sp>
      <p:sp>
        <p:nvSpPr>
          <p:cNvPr id="30" name="Rectangle 29"/>
          <p:cNvSpPr/>
          <p:nvPr/>
        </p:nvSpPr>
        <p:spPr>
          <a:xfrm>
            <a:off x="152400" y="3818331"/>
            <a:ext cx="5838825" cy="392455"/>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152400" y="381833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33375" y="3818331"/>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3" name="TextBox 32"/>
          <p:cNvSpPr txBox="1"/>
          <p:nvPr/>
        </p:nvSpPr>
        <p:spPr>
          <a:xfrm>
            <a:off x="581025" y="3818331"/>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RPM International</a:t>
            </a:r>
          </a:p>
        </p:txBody>
      </p:sp>
      <p:cxnSp>
        <p:nvCxnSpPr>
          <p:cNvPr id="34" name="Connector 33"/>
          <p:cNvCxnSpPr/>
          <p:nvPr/>
        </p:nvCxnSpPr>
        <p:spPr>
          <a:xfrm>
            <a:off x="152400" y="421078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33375" y="4210785"/>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6" name="TextBox 35"/>
          <p:cNvSpPr txBox="1"/>
          <p:nvPr/>
        </p:nvSpPr>
        <p:spPr>
          <a:xfrm>
            <a:off x="581025" y="4210785"/>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Saint-Gobain</a:t>
            </a:r>
          </a:p>
        </p:txBody>
      </p:sp>
      <p:sp>
        <p:nvSpPr>
          <p:cNvPr id="37" name="Rectangle 36"/>
          <p:cNvSpPr/>
          <p:nvPr/>
        </p:nvSpPr>
        <p:spPr>
          <a:xfrm>
            <a:off x="152400" y="4603240"/>
            <a:ext cx="5838825" cy="392455"/>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152400" y="4603240"/>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33375" y="4603240"/>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0" name="TextBox 39"/>
          <p:cNvSpPr txBox="1"/>
          <p:nvPr/>
        </p:nvSpPr>
        <p:spPr>
          <a:xfrm>
            <a:off x="581025" y="4603240"/>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Mapei</a:t>
            </a:r>
          </a:p>
        </p:txBody>
      </p:sp>
      <p:cxnSp>
        <p:nvCxnSpPr>
          <p:cNvPr id="41" name="Connector 40"/>
          <p:cNvCxnSpPr/>
          <p:nvPr/>
        </p:nvCxnSpPr>
        <p:spPr>
          <a:xfrm>
            <a:off x="152400" y="4995694"/>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33375" y="4995694"/>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3" name="TextBox 42"/>
          <p:cNvSpPr txBox="1"/>
          <p:nvPr/>
        </p:nvSpPr>
        <p:spPr>
          <a:xfrm>
            <a:off x="581025" y="4995694"/>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Henkel AG &amp; Co. KGaA</a:t>
            </a:r>
          </a:p>
        </p:txBody>
      </p:sp>
      <p:sp>
        <p:nvSpPr>
          <p:cNvPr id="44" name="Rectangle 43"/>
          <p:cNvSpPr/>
          <p:nvPr/>
        </p:nvSpPr>
        <p:spPr>
          <a:xfrm>
            <a:off x="152400" y="5388149"/>
            <a:ext cx="5838825" cy="392455"/>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152400" y="5388149"/>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333375" y="5388149"/>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7" name="TextBox 46"/>
          <p:cNvSpPr txBox="1"/>
          <p:nvPr/>
        </p:nvSpPr>
        <p:spPr>
          <a:xfrm>
            <a:off x="581025" y="5388149"/>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Dow</a:t>
            </a:r>
          </a:p>
        </p:txBody>
      </p:sp>
      <p:cxnSp>
        <p:nvCxnSpPr>
          <p:cNvPr id="48" name="Connector 47"/>
          <p:cNvCxnSpPr/>
          <p:nvPr/>
        </p:nvCxnSpPr>
        <p:spPr>
          <a:xfrm>
            <a:off x="152400" y="5780603"/>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333375" y="5780603"/>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50" name="TextBox 49"/>
          <p:cNvSpPr txBox="1"/>
          <p:nvPr/>
        </p:nvSpPr>
        <p:spPr>
          <a:xfrm>
            <a:off x="581025" y="5780603"/>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Nippon Paint Holdings</a:t>
            </a:r>
          </a:p>
        </p:txBody>
      </p:sp>
      <p:sp>
        <p:nvSpPr>
          <p:cNvPr id="51" name="Rectangle 50"/>
          <p:cNvSpPr/>
          <p:nvPr/>
        </p:nvSpPr>
        <p:spPr>
          <a:xfrm>
            <a:off x="6191250" y="1582253"/>
            <a:ext cx="5857875" cy="459080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191250" y="1582253"/>
            <a:ext cx="5857875" cy="273805"/>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191250" y="1646141"/>
            <a:ext cx="5857875" cy="164283"/>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54" name="TextBox 53"/>
          <p:cNvSpPr txBox="1"/>
          <p:nvPr/>
        </p:nvSpPr>
        <p:spPr>
          <a:xfrm>
            <a:off x="6381750" y="1856058"/>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55" name="TextBox 54"/>
          <p:cNvSpPr txBox="1"/>
          <p:nvPr/>
        </p:nvSpPr>
        <p:spPr>
          <a:xfrm>
            <a:off x="6629400" y="1856058"/>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Asian Paints</a:t>
            </a:r>
          </a:p>
        </p:txBody>
      </p:sp>
      <p:sp>
        <p:nvSpPr>
          <p:cNvPr id="56" name="Rectangle 55"/>
          <p:cNvSpPr/>
          <p:nvPr/>
        </p:nvSpPr>
        <p:spPr>
          <a:xfrm>
            <a:off x="6200775" y="2248513"/>
            <a:ext cx="5838825" cy="392455"/>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Connector 56"/>
          <p:cNvCxnSpPr/>
          <p:nvPr/>
        </p:nvCxnSpPr>
        <p:spPr>
          <a:xfrm>
            <a:off x="6200775" y="2248513"/>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381750" y="2248513"/>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59" name="TextBox 58"/>
          <p:cNvSpPr txBox="1"/>
          <p:nvPr/>
        </p:nvSpPr>
        <p:spPr>
          <a:xfrm>
            <a:off x="6629400" y="2248513"/>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Berger Paints India</a:t>
            </a:r>
          </a:p>
        </p:txBody>
      </p:sp>
      <p:cxnSp>
        <p:nvCxnSpPr>
          <p:cNvPr id="60" name="Connector 59"/>
          <p:cNvCxnSpPr/>
          <p:nvPr/>
        </p:nvCxnSpPr>
        <p:spPr>
          <a:xfrm>
            <a:off x="6200775" y="264096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381750" y="2640967"/>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62" name="TextBox 61"/>
          <p:cNvSpPr txBox="1"/>
          <p:nvPr/>
        </p:nvSpPr>
        <p:spPr>
          <a:xfrm>
            <a:off x="6629400" y="2640967"/>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Kansai Paint</a:t>
            </a:r>
          </a:p>
        </p:txBody>
      </p:sp>
      <p:sp>
        <p:nvSpPr>
          <p:cNvPr id="63" name="Rectangle 62"/>
          <p:cNvSpPr/>
          <p:nvPr/>
        </p:nvSpPr>
        <p:spPr>
          <a:xfrm>
            <a:off x="6200775" y="3033422"/>
            <a:ext cx="5838825" cy="392455"/>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6200775" y="3033422"/>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6381750" y="3033422"/>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66" name="TextBox 65"/>
          <p:cNvSpPr txBox="1"/>
          <p:nvPr/>
        </p:nvSpPr>
        <p:spPr>
          <a:xfrm>
            <a:off x="6629400" y="3033422"/>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Jotun A/S</a:t>
            </a:r>
          </a:p>
        </p:txBody>
      </p:sp>
      <p:cxnSp>
        <p:nvCxnSpPr>
          <p:cNvPr id="67" name="Connector 66"/>
          <p:cNvCxnSpPr/>
          <p:nvPr/>
        </p:nvCxnSpPr>
        <p:spPr>
          <a:xfrm>
            <a:off x="6200775" y="3425876"/>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6381750" y="3425876"/>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69" name="TextBox 68"/>
          <p:cNvSpPr txBox="1"/>
          <p:nvPr/>
        </p:nvSpPr>
        <p:spPr>
          <a:xfrm>
            <a:off x="6629400" y="3425876"/>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Hempel A/S</a:t>
            </a:r>
          </a:p>
        </p:txBody>
      </p:sp>
      <p:sp>
        <p:nvSpPr>
          <p:cNvPr id="70" name="Rectangle 69"/>
          <p:cNvSpPr/>
          <p:nvPr/>
        </p:nvSpPr>
        <p:spPr>
          <a:xfrm>
            <a:off x="6200775" y="3818331"/>
            <a:ext cx="5838825" cy="392455"/>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1" name="Connector 70"/>
          <p:cNvCxnSpPr/>
          <p:nvPr/>
        </p:nvCxnSpPr>
        <p:spPr>
          <a:xfrm>
            <a:off x="6200775" y="381833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6381750" y="3818331"/>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73" name="TextBox 72"/>
          <p:cNvSpPr txBox="1"/>
          <p:nvPr/>
        </p:nvSpPr>
        <p:spPr>
          <a:xfrm>
            <a:off x="6629400" y="3818331"/>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Oriental Yuhong</a:t>
            </a:r>
          </a:p>
        </p:txBody>
      </p:sp>
      <p:cxnSp>
        <p:nvCxnSpPr>
          <p:cNvPr id="74" name="Connector 73"/>
          <p:cNvCxnSpPr/>
          <p:nvPr/>
        </p:nvCxnSpPr>
        <p:spPr>
          <a:xfrm>
            <a:off x="6200775" y="421078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381750" y="4210785"/>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76" name="TextBox 75"/>
          <p:cNvSpPr txBox="1"/>
          <p:nvPr/>
        </p:nvSpPr>
        <p:spPr>
          <a:xfrm>
            <a:off x="6629400" y="4210785"/>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Keshun Waterproof Technology</a:t>
            </a:r>
          </a:p>
        </p:txBody>
      </p:sp>
      <p:sp>
        <p:nvSpPr>
          <p:cNvPr id="77" name="Rectangle 76"/>
          <p:cNvSpPr/>
          <p:nvPr/>
        </p:nvSpPr>
        <p:spPr>
          <a:xfrm>
            <a:off x="6200775" y="4603240"/>
            <a:ext cx="5838825" cy="392455"/>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8" name="Connector 77"/>
          <p:cNvCxnSpPr/>
          <p:nvPr/>
        </p:nvCxnSpPr>
        <p:spPr>
          <a:xfrm>
            <a:off x="6200775" y="4603240"/>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381750" y="4603240"/>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80" name="TextBox 79"/>
          <p:cNvSpPr txBox="1"/>
          <p:nvPr/>
        </p:nvSpPr>
        <p:spPr>
          <a:xfrm>
            <a:off x="6629400" y="4603240"/>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Fosroc</a:t>
            </a:r>
          </a:p>
        </p:txBody>
      </p:sp>
      <p:cxnSp>
        <p:nvCxnSpPr>
          <p:cNvPr id="81" name="Connector 80"/>
          <p:cNvCxnSpPr/>
          <p:nvPr/>
        </p:nvCxnSpPr>
        <p:spPr>
          <a:xfrm>
            <a:off x="6200775" y="4995694"/>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6381750" y="4995694"/>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83" name="TextBox 82"/>
          <p:cNvSpPr txBox="1"/>
          <p:nvPr/>
        </p:nvSpPr>
        <p:spPr>
          <a:xfrm>
            <a:off x="6629400" y="4995694"/>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GAF Materials</a:t>
            </a:r>
          </a:p>
        </p:txBody>
      </p:sp>
      <p:sp>
        <p:nvSpPr>
          <p:cNvPr id="84" name="Rectangle 83"/>
          <p:cNvSpPr/>
          <p:nvPr/>
        </p:nvSpPr>
        <p:spPr>
          <a:xfrm>
            <a:off x="6200775" y="5388149"/>
            <a:ext cx="5838825" cy="392455"/>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5" name="Connector 84"/>
          <p:cNvCxnSpPr/>
          <p:nvPr/>
        </p:nvCxnSpPr>
        <p:spPr>
          <a:xfrm>
            <a:off x="6200775" y="5388149"/>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6381750" y="5388149"/>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87" name="TextBox 86"/>
          <p:cNvSpPr txBox="1"/>
          <p:nvPr/>
        </p:nvSpPr>
        <p:spPr>
          <a:xfrm>
            <a:off x="6629400" y="5388149"/>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Others Players</a:t>
            </a:r>
          </a:p>
        </p:txBody>
      </p:sp>
      <p:cxnSp>
        <p:nvCxnSpPr>
          <p:cNvPr id="88" name="Connector 87"/>
          <p:cNvCxnSpPr/>
          <p:nvPr/>
        </p:nvCxnSpPr>
        <p:spPr>
          <a:xfrm>
            <a:off x="6200775" y="5780603"/>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142875" y="6337341"/>
            <a:ext cx="11906250" cy="182537"/>
          </a:xfrm>
          <a:prstGeom prst="rect">
            <a:avLst/>
          </a:prstGeom>
          <a:noFill/>
        </p:spPr>
        <p:txBody>
          <a:bodyPr wrap="square" lIns="28575" rIns="28575" tIns="9525" bIns="9525" anchor="ctr">
            <a:spAutoFit/>
          </a:bodyPr>
          <a:lstStyle/>
          <a:p>
            <a:pPr algn="l"/>
            <a:r>
              <a:rPr sz="1100" b="1">
                <a:solidFill>
                  <a:srgbClr val="B06A2C"/>
                </a:solidFill>
                <a:latin typeface="Calibri"/>
              </a:rPr>
              <a:t>Note: the list of companies is indicative and can be customised on request.</a:t>
            </a:r>
          </a:p>
        </p:txBody>
      </p:sp>
      <p:sp>
        <p:nvSpPr>
          <p:cNvPr id="90" name="TextBox 8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3489325"/>
            <a:ext cx="8572500" cy="514350"/>
          </a:xfrm>
          <a:prstGeom prst="rect">
            <a:avLst/>
          </a:prstGeom>
          <a:noFill/>
        </p:spPr>
        <p:txBody>
          <a:bodyPr wrap="square" lIns="0" rIns="0" tIns="0">
            <a:spAutoFit/>
          </a:bodyPr>
          <a:lstStyle/>
          <a:p>
            <a:r>
              <a:rPr sz="3000" b="1">
                <a:solidFill>
                  <a:srgbClr val="0B3C8C"/>
                </a:solidFill>
                <a:latin typeface="Calibri"/>
              </a:rPr>
              <a:t>Table of Contents</a:t>
            </a:r>
          </a:p>
        </p:txBody>
      </p:sp>
      <p:sp>
        <p:nvSpPr>
          <p:cNvPr id="11" name="TextBox 10"/>
          <p:cNvSpPr txBox="1"/>
          <p:nvPr/>
        </p:nvSpPr>
        <p:spPr>
          <a:xfrm>
            <a:off x="914400" y="4175125"/>
            <a:ext cx="84582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The full contents of this study, as delivered</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(1/9)</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1" i="0">
                          <a:solidFill>
                            <a:srgbClr val="000000"/>
                          </a:solidFill>
                          <a:latin typeface="Calibri"/>
                        </a:rPr>
                        <a:t>1.</a:t>
                      </a:r>
                      <a:r>
                        <a:rPr sz="700" b="1" i="0">
                          <a:solidFill>
                            <a:srgbClr val="000000"/>
                          </a:solidFill>
                          <a:latin typeface="Times New Roman"/>
                        </a:rPr>
                        <a:t>       </a:t>
                      </a:r>
                      <a:r>
                        <a:rPr sz="1100" b="1" i="0">
                          <a:solidFill>
                            <a:srgbClr val="000000"/>
                          </a:solidFill>
                          <a:latin typeface="Calibri"/>
                        </a:rPr>
                        <a:t>Executive Summary</a:t>
                      </a:r>
                      <a:endParaRPr sz="1100"/>
                    </a:p>
                  </a:txBody>
                  <a:tcPr marL="171450" marR="9525" marT="9525" marB="0" anchor="ctr"/>
                </a:tc>
              </a:tr>
              <a:tr h="175260">
                <a:tc>
                  <a:txBody>
                    <a:bodyPr wrap="square"/>
                    <a:lstStyle/>
                    <a:p>
                      <a:pPr algn="l"/>
                      <a:r>
                        <a:rPr sz="1100" b="0" i="0">
                          <a:solidFill>
                            <a:srgbClr val="0070C0"/>
                          </a:solidFill>
                          <a:latin typeface="Calibri"/>
                        </a:rPr>
                        <a:t>1.1.</a:t>
                      </a:r>
                      <a:r>
                        <a:rPr sz="700" b="0" i="0">
                          <a:solidFill>
                            <a:srgbClr val="0070C0"/>
                          </a:solidFill>
                          <a:latin typeface="Times New Roman"/>
                        </a:rPr>
                        <a:t>    </a:t>
                      </a:r>
                      <a:r>
                        <a:rPr sz="1100" b="0" i="0">
                          <a:solidFill>
                            <a:srgbClr val="0070C0"/>
                          </a:solidFill>
                          <a:latin typeface="Calibri"/>
                        </a:rPr>
                        <a:t>Global Market Outlook</a:t>
                      </a:r>
                      <a:endParaRPr sz="1100"/>
                    </a:p>
                  </a:txBody>
                  <a:tcPr marL="428625" marR="9525" marT="9525" marB="0" anchor="ctr"/>
                </a:tc>
              </a:tr>
              <a:tr h="175260">
                <a:tc>
                  <a:txBody>
                    <a:bodyPr wrap="square"/>
                    <a:lstStyle/>
                    <a:p>
                      <a:pPr algn="l"/>
                      <a:r>
                        <a:rPr sz="1100" b="0" i="0">
                          <a:solidFill>
                            <a:srgbClr val="0070C0"/>
                          </a:solidFill>
                          <a:latin typeface="Calibri"/>
                        </a:rPr>
                        <a:t>1.2.</a:t>
                      </a:r>
                      <a:r>
                        <a:rPr sz="700" b="0" i="0">
                          <a:solidFill>
                            <a:srgbClr val="0070C0"/>
                          </a:solidFill>
                          <a:latin typeface="Times New Roman"/>
                        </a:rPr>
                        <a:t>    </a:t>
                      </a:r>
                      <a:r>
                        <a:rPr sz="1100" b="0" i="0">
                          <a:solidFill>
                            <a:srgbClr val="0070C0"/>
                          </a:solidFill>
                          <a:latin typeface="Calibri"/>
                        </a:rPr>
                        <a:t>Demand Side Trends</a:t>
                      </a:r>
                      <a:endParaRPr sz="1100"/>
                    </a:p>
                  </a:txBody>
                  <a:tcPr marL="428625" marR="9525" marT="9525" marB="0" anchor="ctr"/>
                </a:tc>
              </a:tr>
              <a:tr h="175260">
                <a:tc>
                  <a:txBody>
                    <a:bodyPr wrap="square"/>
                    <a:lstStyle/>
                    <a:p>
                      <a:pPr algn="l"/>
                      <a:r>
                        <a:rPr sz="1100" b="0" i="0">
                          <a:solidFill>
                            <a:srgbClr val="0070C0"/>
                          </a:solidFill>
                          <a:latin typeface="Calibri"/>
                        </a:rPr>
                        <a:t>1.3.</a:t>
                      </a:r>
                      <a:r>
                        <a:rPr sz="700" b="0" i="0">
                          <a:solidFill>
                            <a:srgbClr val="0070C0"/>
                          </a:solidFill>
                          <a:latin typeface="Times New Roman"/>
                        </a:rPr>
                        <a:t>    </a:t>
                      </a:r>
                      <a:r>
                        <a:rPr sz="1100" b="0" i="0">
                          <a:solidFill>
                            <a:srgbClr val="0070C0"/>
                          </a:solidFill>
                          <a:latin typeface="Calibri"/>
                        </a:rPr>
                        <a:t>Supply Side Trends</a:t>
                      </a:r>
                      <a:endParaRPr sz="1100"/>
                    </a:p>
                  </a:txBody>
                  <a:tcPr marL="428625" marR="9525" marT="9525" marB="0" anchor="ctr"/>
                </a:tc>
              </a:tr>
              <a:tr h="175260">
                <a:tc>
                  <a:txBody>
                    <a:bodyPr wrap="square"/>
                    <a:lstStyle/>
                    <a:p>
                      <a:pPr algn="l"/>
                      <a:r>
                        <a:rPr sz="1100" b="0" i="0">
                          <a:solidFill>
                            <a:srgbClr val="0070C0"/>
                          </a:solidFill>
                          <a:latin typeface="Calibri"/>
                        </a:rPr>
                        <a:t>1.4.</a:t>
                      </a:r>
                      <a:r>
                        <a:rPr sz="700" b="0" i="0">
                          <a:solidFill>
                            <a:srgbClr val="0070C0"/>
                          </a:solidFill>
                          <a:latin typeface="Times New Roman"/>
                        </a:rPr>
                        <a:t>    </a:t>
                      </a:r>
                      <a:r>
                        <a:rPr sz="1100" b="0" i="0">
                          <a:solidFill>
                            <a:srgbClr val="0070C0"/>
                          </a:solidFill>
                          <a:latin typeface="Calibri"/>
                        </a:rPr>
                        <a:t>Technology Roadmap</a:t>
                      </a:r>
                      <a:endParaRPr sz="1100"/>
                    </a:p>
                  </a:txBody>
                  <a:tcPr marL="428625" marR="9525" marT="9525" marB="0" anchor="ctr"/>
                </a:tc>
              </a:tr>
              <a:tr h="175260">
                <a:tc>
                  <a:txBody>
                    <a:bodyPr wrap="square"/>
                    <a:lstStyle/>
                    <a:p>
                      <a:pPr algn="l"/>
                      <a:r>
                        <a:rPr sz="1100" b="0" i="0">
                          <a:solidFill>
                            <a:srgbClr val="0070C0"/>
                          </a:solidFill>
                          <a:latin typeface="Calibri"/>
                        </a:rPr>
                        <a:t>1.5.</a:t>
                      </a:r>
                      <a:r>
                        <a:rPr sz="700" b="0" i="0">
                          <a:solidFill>
                            <a:srgbClr val="0070C0"/>
                          </a:solidFill>
                          <a:latin typeface="Times New Roman"/>
                        </a:rPr>
                        <a:t>    </a:t>
                      </a:r>
                      <a:r>
                        <a:rPr sz="1100" b="0" i="0">
                          <a:solidFill>
                            <a:srgbClr val="0070C0"/>
                          </a:solidFill>
                          <a:latin typeface="Calibri"/>
                        </a:rPr>
                        <a:t>Analysis and Recommendations</a:t>
                      </a:r>
                      <a:endParaRPr sz="1100"/>
                    </a:p>
                  </a:txBody>
                  <a:tcPr marL="428625" marR="9525" marT="9525" marB="0" anchor="ctr"/>
                </a:tc>
              </a:tr>
              <a:tr h="175260">
                <a:tc>
                  <a:txBody>
                    <a:bodyPr wrap="square"/>
                    <a:lstStyle/>
                    <a:p>
                      <a:pPr algn="l"/>
                      <a:r>
                        <a:rPr sz="1100" b="1" i="0">
                          <a:solidFill>
                            <a:srgbClr val="000000"/>
                          </a:solidFill>
                          <a:latin typeface="Calibri"/>
                        </a:rPr>
                        <a:t>2.</a:t>
                      </a:r>
                      <a:r>
                        <a:rPr sz="700" b="1" i="0">
                          <a:solidFill>
                            <a:srgbClr val="000000"/>
                          </a:solidFill>
                          <a:latin typeface="Times New Roman"/>
                        </a:rPr>
                        <a:t>       </a:t>
                      </a:r>
                      <a:r>
                        <a:rPr sz="1100" b="1" i="0">
                          <a:solidFill>
                            <a:srgbClr val="000000"/>
                          </a:solidFill>
                          <a:latin typeface="Calibri"/>
                        </a:rPr>
                        <a:t>Market Overview</a:t>
                      </a:r>
                      <a:endParaRPr sz="1100"/>
                    </a:p>
                  </a:txBody>
                  <a:tcPr marL="171450" marR="9525" marT="9525" marB="0" anchor="ctr"/>
                </a:tc>
              </a:tr>
              <a:tr h="175260">
                <a:tc>
                  <a:txBody>
                    <a:bodyPr wrap="square"/>
                    <a:lstStyle/>
                    <a:p>
                      <a:pPr algn="l"/>
                      <a:r>
                        <a:rPr sz="1100" b="0" i="0">
                          <a:solidFill>
                            <a:srgbClr val="0070C0"/>
                          </a:solidFill>
                          <a:latin typeface="Calibri"/>
                        </a:rPr>
                        <a:t>2.1.</a:t>
                      </a:r>
                      <a:r>
                        <a:rPr sz="700" b="0" i="0">
                          <a:solidFill>
                            <a:srgbClr val="0070C0"/>
                          </a:solidFill>
                          <a:latin typeface="Times New Roman"/>
                        </a:rPr>
                        <a:t>    </a:t>
                      </a:r>
                      <a:r>
                        <a:rPr sz="1100" b="0" i="0">
                          <a:solidFill>
                            <a:srgbClr val="0070C0"/>
                          </a:solidFill>
                          <a:latin typeface="Calibri"/>
                        </a:rPr>
                        <a:t>Market Coverage / Taxonomy</a:t>
                      </a:r>
                      <a:endParaRPr sz="1100"/>
                    </a:p>
                  </a:txBody>
                  <a:tcPr marL="428625" marR="9525" marT="9525" marB="0" anchor="ctr"/>
                </a:tc>
              </a:tr>
              <a:tr h="175260">
                <a:tc>
                  <a:txBody>
                    <a:bodyPr wrap="square"/>
                    <a:lstStyle/>
                    <a:p>
                      <a:pPr algn="l"/>
                      <a:r>
                        <a:rPr sz="1100" b="0" i="0">
                          <a:solidFill>
                            <a:srgbClr val="0070C0"/>
                          </a:solidFill>
                          <a:latin typeface="Calibri"/>
                        </a:rPr>
                        <a:t>2.2.</a:t>
                      </a:r>
                      <a:r>
                        <a:rPr sz="700" b="0" i="0">
                          <a:solidFill>
                            <a:srgbClr val="0070C0"/>
                          </a:solidFill>
                          <a:latin typeface="Times New Roman"/>
                        </a:rPr>
                        <a:t>    </a:t>
                      </a:r>
                      <a:r>
                        <a:rPr sz="1100" b="0" i="0">
                          <a:solidFill>
                            <a:srgbClr val="0070C0"/>
                          </a:solidFill>
                          <a:latin typeface="Calibri"/>
                        </a:rPr>
                        <a:t>Market Definition / Scope / Limitations</a:t>
                      </a:r>
                      <a:endParaRPr sz="1100"/>
                    </a:p>
                  </a:txBody>
                  <a:tcPr marL="428625" marR="9525" marT="9525" marB="0" anchor="ctr"/>
                </a:tc>
              </a:tr>
              <a:tr h="175260">
                <a:tc>
                  <a:txBody>
                    <a:bodyPr wrap="square"/>
                    <a:lstStyle/>
                    <a:p>
                      <a:pPr algn="l"/>
                      <a:r>
                        <a:rPr sz="1100" b="1" i="0">
                          <a:solidFill>
                            <a:srgbClr val="000000"/>
                          </a:solidFill>
                          <a:latin typeface="Calibri"/>
                        </a:rPr>
                        <a:t>3.</a:t>
                      </a:r>
                      <a:r>
                        <a:rPr sz="700" b="1" i="0">
                          <a:solidFill>
                            <a:srgbClr val="000000"/>
                          </a:solidFill>
                          <a:latin typeface="Times New Roman"/>
                        </a:rPr>
                        <a:t>       </a:t>
                      </a:r>
                      <a:r>
                        <a:rPr sz="1100" b="1" i="0">
                          <a:solidFill>
                            <a:srgbClr val="000000"/>
                          </a:solidFill>
                          <a:latin typeface="Calibri"/>
                        </a:rPr>
                        <a:t>Key Market Trends</a:t>
                      </a:r>
                      <a:endParaRPr sz="1100"/>
                    </a:p>
                  </a:txBody>
                  <a:tcPr marL="171450" marR="9525" marT="9525" marB="0" anchor="ctr"/>
                </a:tc>
              </a:tr>
              <a:tr h="175260">
                <a:tc>
                  <a:txBody>
                    <a:bodyPr wrap="square"/>
                    <a:lstStyle/>
                    <a:p>
                      <a:pPr algn="l"/>
                      <a:r>
                        <a:rPr sz="1100" b="0" i="0">
                          <a:solidFill>
                            <a:srgbClr val="0070C0"/>
                          </a:solidFill>
                          <a:latin typeface="Calibri"/>
                        </a:rPr>
                        <a:t>3.1.</a:t>
                      </a:r>
                      <a:r>
                        <a:rPr sz="700" b="0" i="0">
                          <a:solidFill>
                            <a:srgbClr val="0070C0"/>
                          </a:solidFill>
                          <a:latin typeface="Times New Roman"/>
                        </a:rPr>
                        <a:t>    </a:t>
                      </a:r>
                      <a:r>
                        <a:rPr sz="1100" b="0" i="0">
                          <a:solidFill>
                            <a:srgbClr val="0070C0"/>
                          </a:solidFill>
                          <a:latin typeface="Calibri"/>
                        </a:rPr>
                        <a:t>Key Trends Impacting the Market</a:t>
                      </a:r>
                      <a:endParaRPr sz="1100"/>
                    </a:p>
                  </a:txBody>
                  <a:tcPr marL="428625" marR="9525" marT="9525" marB="0" anchor="ctr"/>
                </a:tc>
              </a:tr>
              <a:tr h="175260">
                <a:tc>
                  <a:txBody>
                    <a:bodyPr wrap="square"/>
                    <a:lstStyle/>
                    <a:p>
                      <a:pPr algn="l"/>
                      <a:r>
                        <a:rPr sz="1100" b="0" i="0">
                          <a:solidFill>
                            <a:srgbClr val="0070C0"/>
                          </a:solidFill>
                          <a:latin typeface="Calibri"/>
                        </a:rPr>
                        <a:t>3.2.</a:t>
                      </a:r>
                      <a:r>
                        <a:rPr sz="700" b="0" i="0">
                          <a:solidFill>
                            <a:srgbClr val="0070C0"/>
                          </a:solidFill>
                          <a:latin typeface="Times New Roman"/>
                        </a:rPr>
                        <a:t>    </a:t>
                      </a:r>
                      <a:r>
                        <a:rPr sz="1100" b="0" i="0">
                          <a:solidFill>
                            <a:srgbClr val="0070C0"/>
                          </a:solidFill>
                          <a:latin typeface="Calibri"/>
                        </a:rPr>
                        <a:t>Product Innovation / Development Trends</a:t>
                      </a:r>
                      <a:endParaRPr sz="1100"/>
                    </a:p>
                  </a:txBody>
                  <a:tcPr marL="428625" marR="9525" marT="9525" marB="0" anchor="ctr"/>
                </a:tc>
              </a:tr>
              <a:tr h="175260">
                <a:tc>
                  <a:txBody>
                    <a:bodyPr wrap="square"/>
                    <a:lstStyle/>
                    <a:p>
                      <a:pPr algn="l"/>
                      <a:r>
                        <a:rPr sz="1100" b="1" i="0">
                          <a:solidFill>
                            <a:srgbClr val="000000"/>
                          </a:solidFill>
                          <a:latin typeface="Calibri"/>
                        </a:rPr>
                        <a:t>4.</a:t>
                      </a:r>
                      <a:r>
                        <a:rPr sz="700" b="1" i="0">
                          <a:solidFill>
                            <a:srgbClr val="000000"/>
                          </a:solidFill>
                          <a:latin typeface="Times New Roman"/>
                        </a:rPr>
                        <a:t>       </a:t>
                      </a:r>
                      <a:r>
                        <a:rPr sz="1100" b="1" i="0">
                          <a:solidFill>
                            <a:srgbClr val="000000"/>
                          </a:solidFill>
                          <a:latin typeface="Calibri"/>
                        </a:rPr>
                        <a:t>Key Success Factors</a:t>
                      </a:r>
                      <a:endParaRPr sz="1100"/>
                    </a:p>
                  </a:txBody>
                  <a:tcPr marL="171450" marR="9525" marT="9525" marB="0" anchor="ctr"/>
                </a:tc>
              </a:tr>
              <a:tr h="175260">
                <a:tc>
                  <a:txBody>
                    <a:bodyPr wrap="square"/>
                    <a:lstStyle/>
                    <a:p>
                      <a:pPr algn="l"/>
                      <a:r>
                        <a:rPr sz="1100" b="0" i="0">
                          <a:solidFill>
                            <a:srgbClr val="0070C0"/>
                          </a:solidFill>
                          <a:latin typeface="Calibri"/>
                        </a:rPr>
                        <a:t>4.1.</a:t>
                      </a:r>
                      <a:r>
                        <a:rPr sz="700" b="0" i="0">
                          <a:solidFill>
                            <a:srgbClr val="0070C0"/>
                          </a:solidFill>
                          <a:latin typeface="Times New Roman"/>
                        </a:rPr>
                        <a:t>    </a:t>
                      </a:r>
                      <a:r>
                        <a:rPr sz="1100" b="0" i="0">
                          <a:solidFill>
                            <a:srgbClr val="0070C0"/>
                          </a:solidFill>
                          <a:latin typeface="Calibri"/>
                        </a:rPr>
                        <a:t>Product Adoption / Usage Analysis</a:t>
                      </a:r>
                      <a:endParaRPr sz="1100"/>
                    </a:p>
                  </a:txBody>
                  <a:tcPr marL="428625" marR="9525" marT="9525" marB="0" anchor="ctr"/>
                </a:tc>
              </a:tr>
              <a:tr h="175260">
                <a:tc>
                  <a:txBody>
                    <a:bodyPr wrap="square"/>
                    <a:lstStyle/>
                    <a:p>
                      <a:pPr algn="l"/>
                      <a:r>
                        <a:rPr sz="1100" b="0" i="0">
                          <a:solidFill>
                            <a:srgbClr val="0070C0"/>
                          </a:solidFill>
                          <a:latin typeface="Calibri"/>
                        </a:rPr>
                        <a:t>4.2.</a:t>
                      </a:r>
                      <a:r>
                        <a:rPr sz="700" b="0" i="0">
                          <a:solidFill>
                            <a:srgbClr val="0070C0"/>
                          </a:solidFill>
                          <a:latin typeface="Times New Roman"/>
                        </a:rPr>
                        <a:t>    </a:t>
                      </a:r>
                      <a:r>
                        <a:rPr sz="1100" b="0" i="0">
                          <a:solidFill>
                            <a:srgbClr val="0070C0"/>
                          </a:solidFill>
                          <a:latin typeface="Calibri"/>
                        </a:rPr>
                        <a:t>Product USPs / Features</a:t>
                      </a:r>
                      <a:endParaRPr sz="1100"/>
                    </a:p>
                  </a:txBody>
                  <a:tcPr marL="428625" marR="9525" marT="9525" marB="0" anchor="ctr"/>
                </a:tc>
              </a:tr>
              <a:tr h="175260">
                <a:tc>
                  <a:txBody>
                    <a:bodyPr wrap="square"/>
                    <a:lstStyle/>
                    <a:p>
                      <a:pPr algn="l"/>
                      <a:r>
                        <a:rPr sz="1100" b="0" i="0">
                          <a:solidFill>
                            <a:srgbClr val="0070C0"/>
                          </a:solidFill>
                          <a:latin typeface="Calibri"/>
                        </a:rPr>
                        <a:t>4.3.</a:t>
                      </a:r>
                      <a:r>
                        <a:rPr sz="700" b="0" i="0">
                          <a:solidFill>
                            <a:srgbClr val="0070C0"/>
                          </a:solidFill>
                          <a:latin typeface="Times New Roman"/>
                        </a:rPr>
                        <a:t>    </a:t>
                      </a:r>
                      <a:r>
                        <a:rPr sz="1100" b="0" i="0">
                          <a:solidFill>
                            <a:srgbClr val="0070C0"/>
                          </a:solidFill>
                          <a:latin typeface="Calibri"/>
                        </a:rPr>
                        <a:t>Strategic Promotional Strategies</a:t>
                      </a:r>
                      <a:endParaRPr sz="1100"/>
                    </a:p>
                  </a:txBody>
                  <a:tcPr marL="428625" marR="9525" marT="9525" marB="0" anchor="ctr"/>
                </a:tc>
              </a:tr>
              <a:tr h="175260">
                <a:tc>
                  <a:txBody>
                    <a:bodyPr wrap="square"/>
                    <a:lstStyle/>
                    <a:p>
                      <a:pPr algn="l"/>
                      <a:r>
                        <a:rPr sz="1100" b="1" i="0">
                          <a:solidFill>
                            <a:srgbClr val="000000"/>
                          </a:solidFill>
                          <a:latin typeface="Calibri"/>
                        </a:rPr>
                        <a:t>5.</a:t>
                      </a:r>
                      <a:r>
                        <a:rPr sz="700" b="1" i="0">
                          <a:solidFill>
                            <a:srgbClr val="000000"/>
                          </a:solidFill>
                          <a:latin typeface="Times New Roman"/>
                        </a:rPr>
                        <a:t>       </a:t>
                      </a:r>
                      <a:r>
                        <a:rPr sz="1100" b="1" i="0">
                          <a:solidFill>
                            <a:srgbClr val="000000"/>
                          </a:solidFill>
                          <a:latin typeface="Calibri"/>
                        </a:rPr>
                        <a:t>Global Waterproof Coatings Market Demand Outlook, 2021–2036</a:t>
                      </a:r>
                      <a:endParaRPr sz="1100"/>
                    </a:p>
                  </a:txBody>
                  <a:tcPr marL="171450" marR="9525" marT="9525" marB="0" anchor="ctr"/>
                </a:tc>
              </a:tr>
              <a:tr h="175260">
                <a:tc>
                  <a:txBody>
                    <a:bodyPr wrap="square"/>
                    <a:lstStyle/>
                    <a:p>
                      <a:pPr algn="l"/>
                      <a:r>
                        <a:rPr sz="1100" b="0" i="0">
                          <a:solidFill>
                            <a:srgbClr val="0070C0"/>
                          </a:solidFill>
                          <a:latin typeface="Calibri"/>
                        </a:rPr>
                        <a:t>5.1.</a:t>
                      </a:r>
                      <a:r>
                        <a:rPr sz="700" b="0" i="0">
                          <a:solidFill>
                            <a:srgbClr val="0070C0"/>
                          </a:solidFill>
                          <a:latin typeface="Times New Roman"/>
                        </a:rPr>
                        <a:t>    </a:t>
                      </a:r>
                      <a:r>
                        <a:rPr sz="1100" b="0" i="0">
                          <a:solidFill>
                            <a:srgbClr val="0070C0"/>
                          </a:solidFill>
                          <a:latin typeface="Calibri"/>
                        </a:rPr>
                        <a:t>Historical Market Volume (Tons) Analysis, 2021–2025</a:t>
                      </a:r>
                      <a:endParaRPr sz="1100"/>
                    </a:p>
                  </a:txBody>
                  <a:tcPr marL="428625" marR="9525" marT="9525" marB="0" anchor="ctr"/>
                </a:tc>
              </a:tr>
              <a:tr h="175260">
                <a:tc>
                  <a:txBody>
                    <a:bodyPr wrap="square"/>
                    <a:lstStyle/>
                    <a:p>
                      <a:pPr algn="l"/>
                      <a:r>
                        <a:rPr sz="1100" b="0" i="0">
                          <a:solidFill>
                            <a:srgbClr val="0070C0"/>
                          </a:solidFill>
                          <a:latin typeface="Calibri"/>
                        </a:rPr>
                        <a:t>5.2.</a:t>
                      </a:r>
                      <a:r>
                        <a:rPr sz="700" b="0" i="0">
                          <a:solidFill>
                            <a:srgbClr val="0070C0"/>
                          </a:solidFill>
                          <a:latin typeface="Times New Roman"/>
                        </a:rPr>
                        <a:t>    </a:t>
                      </a:r>
                      <a:r>
                        <a:rPr sz="1100" b="0" i="0">
                          <a:solidFill>
                            <a:srgbClr val="0070C0"/>
                          </a:solidFill>
                          <a:latin typeface="Calibri"/>
                        </a:rPr>
                        <a:t>Current and Future Market Volume (Tons) Projections, 2026–2036</a:t>
                      </a:r>
                      <a:endParaRPr sz="1100"/>
                    </a:p>
                  </a:txBody>
                  <a:tcPr marL="428625" marR="9525" marT="9525" marB="0" anchor="ctr"/>
                </a:tc>
              </a:tr>
              <a:tr h="175260">
                <a:tc>
                  <a:txBody>
                    <a:bodyPr wrap="square"/>
                    <a:lstStyle/>
                    <a:p>
                      <a:pPr algn="l"/>
                      <a:r>
                        <a:rPr sz="1100" b="0" i="0">
                          <a:solidFill>
                            <a:srgbClr val="0070C0"/>
                          </a:solidFill>
                          <a:latin typeface="Calibri"/>
                        </a:rPr>
                        <a:t>5.3.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1" i="0">
                          <a:solidFill>
                            <a:srgbClr val="000000"/>
                          </a:solidFill>
                          <a:latin typeface="Calibri"/>
                        </a:rPr>
                        <a:t>6.</a:t>
                      </a:r>
                      <a:r>
                        <a:rPr sz="700" b="1" i="0">
                          <a:solidFill>
                            <a:srgbClr val="000000"/>
                          </a:solidFill>
                          <a:latin typeface="Times New Roman"/>
                        </a:rPr>
                        <a:t>       </a:t>
                      </a:r>
                      <a:r>
                        <a:rPr sz="1100" b="1" i="0">
                          <a:solidFill>
                            <a:srgbClr val="000000"/>
                          </a:solidFill>
                          <a:latin typeface="Calibri"/>
                        </a:rPr>
                        <a:t>Global Waterproof Coatings Market - Pricing Analysis</a:t>
                      </a:r>
                      <a:endParaRPr sz="1100"/>
                    </a:p>
                  </a:txBody>
                  <a:tcPr marL="171450" marR="9525" marT="9525" marB="0" anchor="ctr"/>
                </a:tc>
              </a:tr>
              <a:tr h="175260">
                <a:tc>
                  <a:txBody>
                    <a:bodyPr wrap="square"/>
                    <a:lstStyle/>
                    <a:p>
                      <a:pPr algn="l"/>
                      <a:r>
                        <a:rPr sz="1100" b="0" i="0">
                          <a:solidFill>
                            <a:srgbClr val="0070C0"/>
                          </a:solidFill>
                          <a:latin typeface="Calibri"/>
                        </a:rPr>
                        <a:t>6.1.</a:t>
                      </a:r>
                      <a:r>
                        <a:rPr sz="700" b="0" i="0">
                          <a:solidFill>
                            <a:srgbClr val="0070C0"/>
                          </a:solidFill>
                          <a:latin typeface="Times New Roman"/>
                        </a:rPr>
                        <a:t>    </a:t>
                      </a:r>
                      <a:r>
                        <a:rPr sz="1100" b="0" i="0">
                          <a:solidFill>
                            <a:srgbClr val="0070C0"/>
                          </a:solidFill>
                          <a:latin typeface="Calibri"/>
                        </a:rPr>
                        <a:t>Regional Pricing Analysis By Product Type / Chemistry</a:t>
                      </a:r>
                      <a:endParaRPr sz="1100"/>
                    </a:p>
                  </a:txBody>
                  <a:tcPr marL="428625" marR="9525" marT="9525" marB="0" anchor="ctr"/>
                </a:tc>
              </a:tr>
              <a:tr h="175260">
                <a:tc>
                  <a:txBody>
                    <a:bodyPr wrap="square"/>
                    <a:lstStyle/>
                    <a:p>
                      <a:pPr algn="l"/>
                      <a:r>
                        <a:rPr sz="1100" b="0" i="0">
                          <a:solidFill>
                            <a:srgbClr val="0070C0"/>
                          </a:solidFill>
                          <a:latin typeface="Calibri"/>
                        </a:rPr>
                        <a:t>6.2.</a:t>
                      </a:r>
                      <a:r>
                        <a:rPr sz="700" b="0" i="0">
                          <a:solidFill>
                            <a:srgbClr val="0070C0"/>
                          </a:solidFill>
                          <a:latin typeface="Times New Roman"/>
                        </a:rPr>
                        <a:t>    </a:t>
                      </a:r>
                      <a:r>
                        <a:rPr sz="1100" b="0" i="0">
                          <a:solidFill>
                            <a:srgbClr val="0070C0"/>
                          </a:solidFill>
                          <a:latin typeface="Calibri"/>
                        </a:rPr>
                        <a:t>Global Average Pricing Analysis Benchmark</a:t>
                      </a:r>
                      <a:endParaRPr sz="1100"/>
                    </a:p>
                  </a:txBody>
                  <a:tcPr marL="428625" marR="9525" marT="9525" marB="0" anchor="ctr"/>
                </a:tc>
              </a:tr>
              <a:tr h="175260">
                <a:tc>
                  <a:txBody>
                    <a:bodyPr wrap="square"/>
                    <a:lstStyle/>
                    <a:p>
                      <a:pPr algn="l"/>
                      <a:r>
                        <a:rPr sz="1100" b="1" i="0">
                          <a:solidFill>
                            <a:srgbClr val="000000"/>
                          </a:solidFill>
                          <a:latin typeface="Calibri"/>
                        </a:rPr>
                        <a:t>7.</a:t>
                      </a:r>
                      <a:r>
                        <a:rPr sz="700" b="1" i="0">
                          <a:solidFill>
                            <a:srgbClr val="000000"/>
                          </a:solidFill>
                          <a:latin typeface="Times New Roman"/>
                        </a:rPr>
                        <a:t>       </a:t>
                      </a:r>
                      <a:r>
                        <a:rPr sz="1100" b="1" i="0">
                          <a:solidFill>
                            <a:srgbClr val="000000"/>
                          </a:solidFill>
                          <a:latin typeface="Calibri"/>
                        </a:rPr>
                        <a:t>Global Waterproof Coatings Market Demand (US$ Mn) Outlook, 2021–2036</a:t>
                      </a:r>
                      <a:endParaRPr sz="1100"/>
                    </a:p>
                  </a:txBody>
                  <a:tcPr marL="171450" marR="9525" marT="9525" marB="0" anchor="ctr"/>
                </a:tc>
              </a:tr>
              <a:tr h="175260">
                <a:tc>
                  <a:txBody>
                    <a:bodyPr wrap="square"/>
                    <a:lstStyle/>
                    <a:p>
                      <a:pPr algn="l"/>
                      <a:r>
                        <a:rPr sz="1100" b="0" i="0">
                          <a:solidFill>
                            <a:srgbClr val="0070C0"/>
                          </a:solidFill>
                          <a:latin typeface="Calibri"/>
                        </a:rPr>
                        <a:t>7.1.</a:t>
                      </a:r>
                      <a:r>
                        <a:rPr sz="700" b="0" i="0">
                          <a:solidFill>
                            <a:srgbClr val="0070C0"/>
                          </a:solidFill>
                          <a:latin typeface="Times New Roman"/>
                        </a:rPr>
                        <a:t>    </a:t>
                      </a:r>
                      <a:r>
                        <a:rPr sz="1100" b="0" i="0">
                          <a:solidFill>
                            <a:srgbClr val="0070C0"/>
                          </a:solidFill>
                          <a:latin typeface="Calibri"/>
                        </a:rPr>
                        <a:t>Historical Market Value (US$ Mn) Analysis, 2021–2025</a:t>
                      </a:r>
                      <a:endParaRPr sz="1100"/>
                    </a:p>
                  </a:txBody>
                  <a:tcPr marL="428625" marR="9525" marT="9525" marB="0" anchor="ctr"/>
                </a:tc>
              </a:tr>
              <a:tr h="175260">
                <a:tc>
                  <a:txBody>
                    <a:bodyPr wrap="square"/>
                    <a:lstStyle/>
                    <a:p>
                      <a:pPr algn="l"/>
                      <a:r>
                        <a:rPr sz="1100" b="0" i="0">
                          <a:solidFill>
                            <a:srgbClr val="0070C0"/>
                          </a:solidFill>
                          <a:latin typeface="Calibri"/>
                        </a:rPr>
                        <a:t>7.2.</a:t>
                      </a:r>
                      <a:r>
                        <a:rPr sz="700" b="0" i="0">
                          <a:solidFill>
                            <a:srgbClr val="0070C0"/>
                          </a:solidFill>
                          <a:latin typeface="Times New Roman"/>
                        </a:rPr>
                        <a:t>    </a:t>
                      </a:r>
                      <a:r>
                        <a:rPr sz="1100" b="0" i="0">
                          <a:solidFill>
                            <a:srgbClr val="0070C0"/>
                          </a:solidFill>
                          <a:latin typeface="Calibri"/>
                        </a:rPr>
                        <a:t>Current and Future Market Value (US$ Mn) Projections, 2026–2036</a:t>
                      </a:r>
                      <a:endParaRPr sz="1100"/>
                    </a:p>
                  </a:txBody>
                  <a:tcPr marL="428625" marR="9525" marT="9525" marB="0" anchor="ctr"/>
                </a:tc>
              </a:tr>
              <a:tr h="175260">
                <a:tc>
                  <a:txBody>
                    <a:bodyPr wrap="square"/>
                    <a:lstStyle/>
                    <a:p>
                      <a:pPr algn="l"/>
                      <a:r>
                        <a:rPr sz="1100" b="0" i="0">
                          <a:solidFill>
                            <a:srgbClr val="000000"/>
                          </a:solidFill>
                          <a:latin typeface="Calibri"/>
                        </a:rPr>
                        <a:t>7.2.1.</a:t>
                      </a:r>
                      <a:r>
                        <a:rPr sz="700" b="0" i="0">
                          <a:solidFill>
                            <a:srgbClr val="000000"/>
                          </a:solidFill>
                          <a:latin typeface="Times New Roman"/>
                        </a:rPr>
                        <a:t>   </a:t>
                      </a:r>
                      <a:r>
                        <a:rPr sz="1100" b="0" i="0">
                          <a:solidFill>
                            <a:srgbClr val="000000"/>
                          </a:solidFill>
                          <a:latin typeface="Calibri"/>
                        </a:rPr>
                        <a:t>Y-o-Y Growth Trend Analysis</a:t>
                      </a:r>
                      <a:endParaRPr sz="1100"/>
                    </a:p>
                  </a:txBody>
                  <a:tcPr marL="771525" marR="9525" marT="9525" marB="0" anchor="ctr"/>
                </a:tc>
              </a:tr>
              <a:tr h="175260">
                <a:tc>
                  <a:txBody>
                    <a:bodyPr wrap="square"/>
                    <a:lstStyle/>
                    <a:p>
                      <a:pPr algn="l"/>
                      <a:r>
                        <a:rPr sz="1100" b="0" i="0">
                          <a:solidFill>
                            <a:srgbClr val="000000"/>
                          </a:solidFill>
                          <a:latin typeface="Calibri"/>
                        </a:rPr>
                        <a:t>7.2.2.</a:t>
                      </a:r>
                      <a:r>
                        <a:rPr sz="700" b="0" i="0">
                          <a:solidFill>
                            <a:srgbClr val="000000"/>
                          </a:solidFill>
                          <a:latin typeface="Times New Roman"/>
                        </a:rPr>
                        <a:t>   </a:t>
                      </a:r>
                      <a:r>
                        <a:rPr sz="1100" b="0" i="0">
                          <a:solidFill>
                            <a:srgbClr val="000000"/>
                          </a:solidFill>
                          <a:latin typeface="Calibri"/>
                        </a:rPr>
                        <a:t>Absolute $ Opportunity Analysis</a:t>
                      </a:r>
                      <a:endParaRPr sz="1100"/>
                    </a:p>
                  </a:txBody>
                  <a:tcPr marL="771525" marR="9525" marT="9525" marB="0" anchor="ctr"/>
                </a:tc>
              </a:tr>
              <a:tr h="175260">
                <a:tc>
                  <a:txBody>
                    <a:bodyPr wrap="square"/>
                    <a:lstStyle/>
                    <a:p>
                      <a:pPr algn="l"/>
                      <a:r>
                        <a:rPr sz="1100" b="1" i="0">
                          <a:solidFill>
                            <a:srgbClr val="000000"/>
                          </a:solidFill>
                          <a:latin typeface="Calibri"/>
                        </a:rPr>
                        <a:t>8.</a:t>
                      </a:r>
                      <a:r>
                        <a:rPr sz="700" b="1" i="0">
                          <a:solidFill>
                            <a:srgbClr val="000000"/>
                          </a:solidFill>
                          <a:latin typeface="Times New Roman"/>
                        </a:rPr>
                        <a:t>       </a:t>
                      </a:r>
                      <a:r>
                        <a:rPr sz="1100" b="1" i="0">
                          <a:solidFill>
                            <a:srgbClr val="000000"/>
                          </a:solidFill>
                          <a:latin typeface="Calibri"/>
                        </a:rPr>
                        <a:t>Market Background</a:t>
                      </a:r>
                      <a:endParaRPr sz="1100"/>
                    </a:p>
                  </a:txBody>
                  <a:tcPr marL="171450" marR="9525" marT="9525" marB="0" anchor="ctr"/>
                </a:tc>
              </a:tr>
              <a:tr h="175260">
                <a:tc>
                  <a:txBody>
                    <a:bodyPr wrap="square"/>
                    <a:lstStyle/>
                    <a:p>
                      <a:pPr algn="l"/>
                      <a:r>
                        <a:rPr sz="1100" b="0" i="0">
                          <a:solidFill>
                            <a:srgbClr val="0070C0"/>
                          </a:solidFill>
                          <a:latin typeface="Calibri"/>
                        </a:rPr>
                        <a:t>8.1.</a:t>
                      </a:r>
                      <a:r>
                        <a:rPr sz="700" b="0" i="0">
                          <a:solidFill>
                            <a:srgbClr val="0070C0"/>
                          </a:solidFill>
                          <a:latin typeface="Times New Roman"/>
                        </a:rPr>
                        <a:t>    </a:t>
                      </a:r>
                      <a:r>
                        <a:rPr sz="1100" b="0" i="0">
                          <a:solidFill>
                            <a:srgbClr val="0070C0"/>
                          </a:solidFill>
                          <a:latin typeface="Calibri"/>
                        </a:rPr>
                        <a:t>Macro-Economic Factors</a:t>
                      </a:r>
                      <a:endParaRPr sz="1100"/>
                    </a:p>
                  </a:txBody>
                  <a:tcPr marL="4286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8.1.1.</a:t>
                      </a:r>
                      <a:r>
                        <a:rPr sz="700" b="0" i="0">
                          <a:solidFill>
                            <a:srgbClr val="000000"/>
                          </a:solidFill>
                          <a:latin typeface="Times New Roman"/>
                        </a:rPr>
                        <a:t>   </a:t>
                      </a:r>
                      <a:r>
                        <a:rPr sz="1100" b="0" i="0">
                          <a:solidFill>
                            <a:srgbClr val="000000"/>
                          </a:solidFill>
                          <a:latin typeface="Calibri"/>
                        </a:rPr>
                        <a:t>Global GDP Growth Outlook</a:t>
                      </a:r>
                      <a:endParaRPr sz="1100"/>
                    </a:p>
                  </a:txBody>
                  <a:tcPr marL="771525" marR="9525" marT="9525" marB="0" anchor="ctr"/>
                </a:tc>
              </a:tr>
              <a:tr h="175260">
                <a:tc>
                  <a:txBody>
                    <a:bodyPr wrap="square"/>
                    <a:lstStyle/>
                    <a:p>
                      <a:pPr algn="l"/>
                      <a:r>
                        <a:rPr sz="1100" b="0" i="0">
                          <a:solidFill>
                            <a:srgbClr val="000000"/>
                          </a:solidFill>
                          <a:latin typeface="Calibri"/>
                        </a:rPr>
                        <a:t>8.1.2.</a:t>
                      </a:r>
                      <a:r>
                        <a:rPr sz="700" b="0" i="0">
                          <a:solidFill>
                            <a:srgbClr val="000000"/>
                          </a:solidFill>
                          <a:latin typeface="Times New Roman"/>
                        </a:rPr>
                        <a:t>   </a:t>
                      </a:r>
                      <a:r>
                        <a:rPr sz="1100" b="0" i="0">
                          <a:solidFill>
                            <a:srgbClr val="000000"/>
                          </a:solidFill>
                          <a:latin typeface="Calibri"/>
                        </a:rPr>
                        <a:t>Global Chemical Industry Overview</a:t>
                      </a:r>
                      <a:endParaRPr sz="1100"/>
                    </a:p>
                  </a:txBody>
                  <a:tcPr marL="771525" marR="9525" marT="9525" marB="0" anchor="ctr"/>
                </a:tc>
              </a:tr>
              <a:tr h="175260">
                <a:tc>
                  <a:txBody>
                    <a:bodyPr wrap="square"/>
                    <a:lstStyle/>
                    <a:p>
                      <a:pPr algn="l"/>
                      <a:r>
                        <a:rPr sz="1100" b="0" i="0">
                          <a:solidFill>
                            <a:srgbClr val="000000"/>
                          </a:solidFill>
                          <a:latin typeface="Calibri"/>
                        </a:rPr>
                        <a:t>8.1.3.</a:t>
                      </a:r>
                      <a:r>
                        <a:rPr sz="700" b="0" i="0">
                          <a:solidFill>
                            <a:srgbClr val="000000"/>
                          </a:solidFill>
                          <a:latin typeface="Times New Roman"/>
                        </a:rPr>
                        <a:t>   </a:t>
                      </a:r>
                      <a:r>
                        <a:rPr sz="1100" b="0" i="0">
                          <a:solidFill>
                            <a:srgbClr val="000000"/>
                          </a:solidFill>
                          <a:latin typeface="Calibri"/>
                        </a:rPr>
                        <a:t>Global Construction Industry Outlook</a:t>
                      </a:r>
                      <a:endParaRPr sz="1100"/>
                    </a:p>
                  </a:txBody>
                  <a:tcPr marL="771525" marR="9525" marT="9525" marB="0" anchor="ctr"/>
                </a:tc>
              </a:tr>
              <a:tr h="175260">
                <a:tc>
                  <a:txBody>
                    <a:bodyPr wrap="square"/>
                    <a:lstStyle/>
                    <a:p>
                      <a:pPr algn="l"/>
                      <a:r>
                        <a:rPr sz="1100" b="0" i="0">
                          <a:solidFill>
                            <a:srgbClr val="000000"/>
                          </a:solidFill>
                          <a:latin typeface="Calibri"/>
                        </a:rPr>
                        <a:t>8.1.4.</a:t>
                      </a:r>
                      <a:r>
                        <a:rPr sz="700" b="0" i="0">
                          <a:solidFill>
                            <a:srgbClr val="000000"/>
                          </a:solidFill>
                          <a:latin typeface="Times New Roman"/>
                        </a:rPr>
                        <a:t>   </a:t>
                      </a:r>
                      <a:r>
                        <a:rPr sz="1100" b="0" i="0">
                          <a:solidFill>
                            <a:srgbClr val="000000"/>
                          </a:solidFill>
                          <a:latin typeface="Calibri"/>
                        </a:rPr>
                        <a:t>Global Pharmaceutical Industry Outlook</a:t>
                      </a:r>
                      <a:endParaRPr sz="1100"/>
                    </a:p>
                  </a:txBody>
                  <a:tcPr marL="771525" marR="9525" marT="9525" marB="0" anchor="ctr"/>
                </a:tc>
              </a:tr>
              <a:tr h="175260">
                <a:tc>
                  <a:txBody>
                    <a:bodyPr wrap="square"/>
                    <a:lstStyle/>
                    <a:p>
                      <a:pPr algn="l"/>
                      <a:r>
                        <a:rPr sz="1100" b="0" i="0">
                          <a:solidFill>
                            <a:srgbClr val="000000"/>
                          </a:solidFill>
                          <a:latin typeface="Calibri"/>
                        </a:rPr>
                        <a:t>8.1.5.</a:t>
                      </a:r>
                      <a:r>
                        <a:rPr sz="700" b="0" i="0">
                          <a:solidFill>
                            <a:srgbClr val="000000"/>
                          </a:solidFill>
                          <a:latin typeface="Times New Roman"/>
                        </a:rPr>
                        <a:t>   </a:t>
                      </a:r>
                      <a:r>
                        <a:rPr sz="1100" b="0" i="0">
                          <a:solidFill>
                            <a:srgbClr val="000000"/>
                          </a:solidFill>
                          <a:latin typeface="Calibri"/>
                        </a:rPr>
                        <a:t>Global Personal Care and Cosmetics Industry Outlook</a:t>
                      </a:r>
                      <a:endParaRPr sz="1100"/>
                    </a:p>
                  </a:txBody>
                  <a:tcPr marL="771525" marR="9525" marT="9525" marB="0" anchor="ctr"/>
                </a:tc>
              </a:tr>
              <a:tr h="175260">
                <a:tc>
                  <a:txBody>
                    <a:bodyPr wrap="square"/>
                    <a:lstStyle/>
                    <a:p>
                      <a:pPr algn="l"/>
                      <a:r>
                        <a:rPr sz="1100" b="0" i="0">
                          <a:solidFill>
                            <a:srgbClr val="0070C0"/>
                          </a:solidFill>
                          <a:latin typeface="Calibri"/>
                        </a:rPr>
                        <a:t>8.2.</a:t>
                      </a:r>
                      <a:r>
                        <a:rPr sz="700" b="0" i="0">
                          <a:solidFill>
                            <a:srgbClr val="0070C0"/>
                          </a:solidFill>
                          <a:latin typeface="Times New Roman"/>
                        </a:rPr>
                        <a:t>    </a:t>
                      </a:r>
                      <a:r>
                        <a:rPr sz="1100" b="0" i="0">
                          <a:solidFill>
                            <a:srgbClr val="0070C0"/>
                          </a:solidFill>
                          <a:latin typeface="Calibri"/>
                        </a:rPr>
                        <a:t>Forecast Factors - Relevance &amp; Impact</a:t>
                      </a:r>
                      <a:endParaRPr sz="1100"/>
                    </a:p>
                  </a:txBody>
                  <a:tcPr marL="428625" marR="9525" marT="9525" marB="0" anchor="ctr"/>
                </a:tc>
              </a:tr>
              <a:tr h="175260">
                <a:tc>
                  <a:txBody>
                    <a:bodyPr wrap="square"/>
                    <a:lstStyle/>
                    <a:p>
                      <a:pPr algn="l"/>
                      <a:r>
                        <a:rPr sz="1100" b="0" i="0">
                          <a:solidFill>
                            <a:srgbClr val="000000"/>
                          </a:solidFill>
                          <a:latin typeface="Calibri"/>
                        </a:rPr>
                        <a:t>8.2.1.</a:t>
                      </a:r>
                      <a:r>
                        <a:rPr sz="700" b="0" i="0">
                          <a:solidFill>
                            <a:srgbClr val="000000"/>
                          </a:solidFill>
                          <a:latin typeface="Times New Roman"/>
                        </a:rPr>
                        <a:t>   </a:t>
                      </a:r>
                      <a:r>
                        <a:rPr sz="1100" b="0" i="0">
                          <a:solidFill>
                            <a:srgbClr val="000000"/>
                          </a:solidFill>
                          <a:latin typeface="Calibri"/>
                        </a:rPr>
                        <a:t>Top Companies Historical Growth</a:t>
                      </a:r>
                      <a:endParaRPr sz="1100"/>
                    </a:p>
                  </a:txBody>
                  <a:tcPr marL="771525" marR="9525" marT="9525" marB="0" anchor="ctr"/>
                </a:tc>
              </a:tr>
              <a:tr h="175260">
                <a:tc>
                  <a:txBody>
                    <a:bodyPr wrap="square"/>
                    <a:lstStyle/>
                    <a:p>
                      <a:pPr algn="l"/>
                      <a:r>
                        <a:rPr sz="1100" b="0" i="0">
                          <a:solidFill>
                            <a:srgbClr val="000000"/>
                          </a:solidFill>
                          <a:latin typeface="Calibri"/>
                        </a:rPr>
                        <a:t>8.2.2.</a:t>
                      </a:r>
                      <a:r>
                        <a:rPr sz="700" b="0" i="0">
                          <a:solidFill>
                            <a:srgbClr val="000000"/>
                          </a:solidFill>
                          <a:latin typeface="Times New Roman"/>
                        </a:rPr>
                        <a:t>   </a:t>
                      </a:r>
                      <a:r>
                        <a:rPr sz="1100" b="0" i="0">
                          <a:solidFill>
                            <a:srgbClr val="000000"/>
                          </a:solidFill>
                          <a:latin typeface="Calibri"/>
                        </a:rPr>
                        <a:t>Urban Population Growth Outlook</a:t>
                      </a:r>
                      <a:endParaRPr sz="1100"/>
                    </a:p>
                  </a:txBody>
                  <a:tcPr marL="771525" marR="9525" marT="9525" marB="0" anchor="ctr"/>
                </a:tc>
              </a:tr>
              <a:tr h="175260">
                <a:tc>
                  <a:txBody>
                    <a:bodyPr wrap="square"/>
                    <a:lstStyle/>
                    <a:p>
                      <a:pPr algn="l"/>
                      <a:r>
                        <a:rPr sz="1100" b="0" i="0">
                          <a:solidFill>
                            <a:srgbClr val="000000"/>
                          </a:solidFill>
                          <a:latin typeface="Calibri"/>
                        </a:rPr>
                        <a:t>8.2.3.</a:t>
                      </a:r>
                      <a:r>
                        <a:rPr sz="700" b="0" i="0">
                          <a:solidFill>
                            <a:srgbClr val="000000"/>
                          </a:solidFill>
                          <a:latin typeface="Times New Roman"/>
                        </a:rPr>
                        <a:t>   </a:t>
                      </a:r>
                      <a:r>
                        <a:rPr sz="1100" b="0" i="0">
                          <a:solidFill>
                            <a:srgbClr val="000000"/>
                          </a:solidFill>
                          <a:latin typeface="Calibri"/>
                        </a:rPr>
                        <a:t>Manufacturing Industry Outlook</a:t>
                      </a:r>
                      <a:endParaRPr sz="1100"/>
                    </a:p>
                  </a:txBody>
                  <a:tcPr marL="771525" marR="9525" marT="9525" marB="0" anchor="ctr"/>
                </a:tc>
              </a:tr>
              <a:tr h="175260">
                <a:tc>
                  <a:txBody>
                    <a:bodyPr wrap="square"/>
                    <a:lstStyle/>
                    <a:p>
                      <a:pPr algn="l"/>
                      <a:r>
                        <a:rPr sz="1100" b="0" i="0">
                          <a:solidFill>
                            <a:srgbClr val="000000"/>
                          </a:solidFill>
                          <a:latin typeface="Calibri"/>
                        </a:rPr>
                        <a:t>8.2.4.</a:t>
                      </a:r>
                      <a:r>
                        <a:rPr sz="700" b="0" i="0">
                          <a:solidFill>
                            <a:srgbClr val="000000"/>
                          </a:solidFill>
                          <a:latin typeface="Times New Roman"/>
                        </a:rPr>
                        <a:t>   </a:t>
                      </a:r>
                      <a:r>
                        <a:rPr sz="1100" b="0" i="0">
                          <a:solidFill>
                            <a:srgbClr val="000000"/>
                          </a:solidFill>
                          <a:latin typeface="Calibri"/>
                        </a:rPr>
                        <a:t>Per Capita Spending Outlook</a:t>
                      </a:r>
                      <a:endParaRPr sz="1100"/>
                    </a:p>
                  </a:txBody>
                  <a:tcPr marL="771525" marR="9525" marT="9525" marB="0" anchor="ctr"/>
                </a:tc>
              </a:tr>
              <a:tr h="175260">
                <a:tc>
                  <a:txBody>
                    <a:bodyPr wrap="square"/>
                    <a:lstStyle/>
                    <a:p>
                      <a:pPr algn="l"/>
                      <a:r>
                        <a:rPr sz="1100" b="0" i="0">
                          <a:solidFill>
                            <a:srgbClr val="000000"/>
                          </a:solidFill>
                          <a:latin typeface="Calibri"/>
                        </a:rPr>
                        <a:t>8.2.5.</a:t>
                      </a:r>
                      <a:r>
                        <a:rPr sz="700" b="0" i="0">
                          <a:solidFill>
                            <a:srgbClr val="000000"/>
                          </a:solidFill>
                          <a:latin typeface="Times New Roman"/>
                        </a:rPr>
                        <a:t>   </a:t>
                      </a:r>
                      <a:r>
                        <a:rPr sz="1100" b="0" i="0">
                          <a:solidFill>
                            <a:srgbClr val="000000"/>
                          </a:solidFill>
                          <a:latin typeface="Calibri"/>
                        </a:rPr>
                        <a:t>Business Climate</a:t>
                      </a:r>
                      <a:endParaRPr sz="1100"/>
                    </a:p>
                  </a:txBody>
                  <a:tcPr marL="771525" marR="9525" marT="9525" marB="0" anchor="ctr"/>
                </a:tc>
              </a:tr>
              <a:tr h="175260">
                <a:tc>
                  <a:txBody>
                    <a:bodyPr wrap="square"/>
                    <a:lstStyle/>
                    <a:p>
                      <a:pPr algn="l"/>
                      <a:r>
                        <a:rPr sz="1100" b="0" i="0">
                          <a:solidFill>
                            <a:srgbClr val="0070C0"/>
                          </a:solidFill>
                          <a:latin typeface="Calibri"/>
                        </a:rPr>
                        <a:t>8.3.</a:t>
                      </a:r>
                      <a:r>
                        <a:rPr sz="700" b="0" i="0">
                          <a:solidFill>
                            <a:srgbClr val="0070C0"/>
                          </a:solidFill>
                          <a:latin typeface="Times New Roman"/>
                        </a:rPr>
                        <a:t>    </a:t>
                      </a:r>
                      <a:r>
                        <a:rPr sz="1100" b="0" i="0">
                          <a:solidFill>
                            <a:srgbClr val="0070C0"/>
                          </a:solidFill>
                          <a:latin typeface="Calibri"/>
                        </a:rPr>
                        <a:t>Value Chain</a:t>
                      </a:r>
                      <a:endParaRPr sz="1100"/>
                    </a:p>
                  </a:txBody>
                  <a:tcPr marL="428625" marR="9525" marT="9525" marB="0" anchor="ctr"/>
                </a:tc>
              </a:tr>
              <a:tr h="175260">
                <a:tc>
                  <a:txBody>
                    <a:bodyPr wrap="square"/>
                    <a:lstStyle/>
                    <a:p>
                      <a:pPr algn="l"/>
                      <a:r>
                        <a:rPr sz="1100" b="0" i="0">
                          <a:solidFill>
                            <a:srgbClr val="000000"/>
                          </a:solidFill>
                          <a:latin typeface="Calibri"/>
                        </a:rPr>
                        <a:t>8.3.1.</a:t>
                      </a:r>
                      <a:r>
                        <a:rPr sz="700" b="0" i="0">
                          <a:solidFill>
                            <a:srgbClr val="000000"/>
                          </a:solidFill>
                          <a:latin typeface="Times New Roman"/>
                        </a:rPr>
                        <a:t>   </a:t>
                      </a:r>
                      <a:r>
                        <a:rPr sz="1100" b="0" i="0">
                          <a:solidFill>
                            <a:srgbClr val="000000"/>
                          </a:solidFill>
                          <a:latin typeface="Calibri"/>
                        </a:rPr>
                        <a:t>Raw Material Suppliers</a:t>
                      </a:r>
                      <a:endParaRPr sz="1100"/>
                    </a:p>
                  </a:txBody>
                  <a:tcPr marL="771525" marR="9525" marT="9525" marB="0" anchor="ctr"/>
                </a:tc>
              </a:tr>
              <a:tr h="175260">
                <a:tc>
                  <a:txBody>
                    <a:bodyPr wrap="square"/>
                    <a:lstStyle/>
                    <a:p>
                      <a:pPr algn="l"/>
                      <a:r>
                        <a:rPr sz="1100" b="0" i="0">
                          <a:solidFill>
                            <a:srgbClr val="000000"/>
                          </a:solidFill>
                          <a:latin typeface="Calibri"/>
                        </a:rPr>
                        <a:t>8.3.2.</a:t>
                      </a:r>
                      <a:r>
                        <a:rPr sz="700" b="0" i="0">
                          <a:solidFill>
                            <a:srgbClr val="000000"/>
                          </a:solidFill>
                          <a:latin typeface="Times New Roman"/>
                        </a:rPr>
                        <a:t>   </a:t>
                      </a:r>
                      <a:r>
                        <a:rPr sz="1100" b="0" i="0">
                          <a:solidFill>
                            <a:srgbClr val="000000"/>
                          </a:solidFill>
                          <a:latin typeface="Calibri"/>
                        </a:rPr>
                        <a:t>Chemical Ingredient Manufacturers</a:t>
                      </a:r>
                      <a:endParaRPr sz="1100"/>
                    </a:p>
                  </a:txBody>
                  <a:tcPr marL="771525" marR="9525" marT="9525" marB="0" anchor="ctr"/>
                </a:tc>
              </a:tr>
              <a:tr h="175260">
                <a:tc>
                  <a:txBody>
                    <a:bodyPr wrap="square"/>
                    <a:lstStyle/>
                    <a:p>
                      <a:pPr algn="l"/>
                      <a:r>
                        <a:rPr sz="1100" b="0" i="0">
                          <a:solidFill>
                            <a:srgbClr val="000000"/>
                          </a:solidFill>
                          <a:latin typeface="Calibri"/>
                        </a:rPr>
                        <a:t>8.3.3.</a:t>
                      </a:r>
                      <a:r>
                        <a:rPr sz="700" b="0" i="0">
                          <a:solidFill>
                            <a:srgbClr val="000000"/>
                          </a:solidFill>
                          <a:latin typeface="Times New Roman"/>
                        </a:rPr>
                        <a:t>   </a:t>
                      </a:r>
                      <a:r>
                        <a:rPr sz="1100" b="0" i="0">
                          <a:solidFill>
                            <a:srgbClr val="000000"/>
                          </a:solidFill>
                          <a:latin typeface="Calibri"/>
                        </a:rPr>
                        <a:t>Waterproof Coating Manufacturers</a:t>
                      </a:r>
                      <a:endParaRPr sz="1100"/>
                    </a:p>
                  </a:txBody>
                  <a:tcPr marL="771525" marR="9525" marT="9525" marB="0" anchor="ctr"/>
                </a:tc>
              </a:tr>
              <a:tr h="175260">
                <a:tc>
                  <a:txBody>
                    <a:bodyPr wrap="square"/>
                    <a:lstStyle/>
                    <a:p>
                      <a:pPr algn="l"/>
                      <a:r>
                        <a:rPr sz="1100" b="0" i="0">
                          <a:solidFill>
                            <a:srgbClr val="000000"/>
                          </a:solidFill>
                          <a:latin typeface="Calibri"/>
                        </a:rPr>
                        <a:t>8.3.4.</a:t>
                      </a:r>
                      <a:r>
                        <a:rPr sz="700" b="0" i="0">
                          <a:solidFill>
                            <a:srgbClr val="000000"/>
                          </a:solidFill>
                          <a:latin typeface="Times New Roman"/>
                        </a:rPr>
                        <a:t>   </a:t>
                      </a:r>
                      <a:r>
                        <a:rPr sz="1100" b="0" i="0">
                          <a:solidFill>
                            <a:srgbClr val="000000"/>
                          </a:solidFill>
                          <a:latin typeface="Calibri"/>
                        </a:rPr>
                        <a:t>Packaging and Logistics Providers</a:t>
                      </a:r>
                      <a:endParaRPr sz="1100"/>
                    </a:p>
                  </a:txBody>
                  <a:tcPr marL="771525" marR="9525" marT="9525" marB="0" anchor="ctr"/>
                </a:tc>
              </a:tr>
              <a:tr h="175260">
                <a:tc>
                  <a:txBody>
                    <a:bodyPr wrap="square"/>
                    <a:lstStyle/>
                    <a:p>
                      <a:pPr algn="l"/>
                      <a:r>
                        <a:rPr sz="1100" b="0" i="0">
                          <a:solidFill>
                            <a:srgbClr val="000000"/>
                          </a:solidFill>
                          <a:latin typeface="Calibri"/>
                        </a:rPr>
                        <a:t>8.3.5.</a:t>
                      </a:r>
                      <a:r>
                        <a:rPr sz="700" b="0" i="0">
                          <a:solidFill>
                            <a:srgbClr val="000000"/>
                          </a:solidFill>
                          <a:latin typeface="Times New Roman"/>
                        </a:rPr>
                        <a:t>   </a:t>
                      </a:r>
                      <a:r>
                        <a:rPr sz="1100" b="0" i="0">
                          <a:solidFill>
                            <a:srgbClr val="000000"/>
                          </a:solidFill>
                          <a:latin typeface="Calibri"/>
                        </a:rPr>
                        <a:t>Distributors and Dealers</a:t>
                      </a:r>
                      <a:endParaRPr sz="1100"/>
                    </a:p>
                  </a:txBody>
                  <a:tcPr marL="771525" marR="9525" marT="9525" marB="0" anchor="ctr"/>
                </a:tc>
              </a:tr>
              <a:tr h="175260">
                <a:tc>
                  <a:txBody>
                    <a:bodyPr wrap="square"/>
                    <a:lstStyle/>
                    <a:p>
                      <a:pPr algn="l"/>
                      <a:r>
                        <a:rPr sz="1100" b="0" i="0">
                          <a:solidFill>
                            <a:srgbClr val="000000"/>
                          </a:solidFill>
                          <a:latin typeface="Calibri"/>
                        </a:rPr>
                        <a:t>8.3.6.</a:t>
                      </a:r>
                      <a:r>
                        <a:rPr sz="700" b="0" i="0">
                          <a:solidFill>
                            <a:srgbClr val="000000"/>
                          </a:solidFill>
                          <a:latin typeface="Times New Roman"/>
                        </a:rPr>
                        <a:t>   </a:t>
                      </a:r>
                      <a:r>
                        <a:rPr sz="1100" b="0" i="0">
                          <a:solidFill>
                            <a:srgbClr val="000000"/>
                          </a:solidFill>
                          <a:latin typeface="Calibri"/>
                        </a:rPr>
                        <a:t>Application Contractors</a:t>
                      </a:r>
                      <a:endParaRPr sz="1100"/>
                    </a:p>
                  </a:txBody>
                  <a:tcPr marL="771525" marR="9525" marT="9525" marB="0" anchor="ctr"/>
                </a:tc>
              </a:tr>
              <a:tr h="175260">
                <a:tc>
                  <a:txBody>
                    <a:bodyPr wrap="square"/>
                    <a:lstStyle/>
                    <a:p>
                      <a:pPr algn="l"/>
                      <a:r>
                        <a:rPr sz="1100" b="0" i="0">
                          <a:solidFill>
                            <a:srgbClr val="000000"/>
                          </a:solidFill>
                          <a:latin typeface="Calibri"/>
                        </a:rPr>
                        <a:t>8.3.7.</a:t>
                      </a:r>
                      <a:r>
                        <a:rPr sz="700" b="0" i="0">
                          <a:solidFill>
                            <a:srgbClr val="000000"/>
                          </a:solidFill>
                          <a:latin typeface="Times New Roman"/>
                        </a:rPr>
                        <a:t>   </a:t>
                      </a:r>
                      <a:r>
                        <a:rPr sz="1100" b="0" i="0">
                          <a:solidFill>
                            <a:srgbClr val="000000"/>
                          </a:solidFill>
                          <a:latin typeface="Calibri"/>
                        </a:rPr>
                        <a:t>End Users</a:t>
                      </a:r>
                      <a:endParaRPr sz="1100"/>
                    </a:p>
                  </a:txBody>
                  <a:tcPr marL="771525" marR="9525" marT="9525" marB="0" anchor="ctr"/>
                </a:tc>
              </a:tr>
              <a:tr h="175260">
                <a:tc>
                  <a:txBody>
                    <a:bodyPr wrap="square"/>
                    <a:lstStyle/>
                    <a:p>
                      <a:pPr algn="l"/>
                      <a:r>
                        <a:rPr sz="1100" b="0" i="0">
                          <a:solidFill>
                            <a:srgbClr val="0070C0"/>
                          </a:solidFill>
                          <a:latin typeface="Calibri"/>
                        </a:rPr>
                        <a:t>8.4.</a:t>
                      </a:r>
                      <a:r>
                        <a:rPr sz="700" b="0" i="0">
                          <a:solidFill>
                            <a:srgbClr val="0070C0"/>
                          </a:solidFill>
                          <a:latin typeface="Times New Roman"/>
                        </a:rPr>
                        <a:t>    </a:t>
                      </a:r>
                      <a:r>
                        <a:rPr sz="1100" b="0" i="0">
                          <a:solidFill>
                            <a:srgbClr val="0070C0"/>
                          </a:solidFill>
                          <a:latin typeface="Calibri"/>
                        </a:rPr>
                        <a:t>Market Dynamics</a:t>
                      </a:r>
                      <a:endParaRPr sz="1100"/>
                    </a:p>
                  </a:txBody>
                  <a:tcPr marL="428625" marR="9525" marT="9525" marB="0" anchor="ctr"/>
                </a:tc>
              </a:tr>
              <a:tr h="175260">
                <a:tc>
                  <a:txBody>
                    <a:bodyPr wrap="square"/>
                    <a:lstStyle/>
                    <a:p>
                      <a:pPr algn="l"/>
                      <a:r>
                        <a:rPr sz="1100" b="0" i="0">
                          <a:solidFill>
                            <a:srgbClr val="000000"/>
                          </a:solidFill>
                          <a:latin typeface="Calibri"/>
                        </a:rPr>
                        <a:t>8.4.1.</a:t>
                      </a:r>
                      <a:r>
                        <a:rPr sz="700" b="0" i="0">
                          <a:solidFill>
                            <a:srgbClr val="000000"/>
                          </a:solidFill>
                          <a:latin typeface="Times New Roman"/>
                        </a:rPr>
                        <a:t>   </a:t>
                      </a:r>
                      <a:r>
                        <a:rPr sz="1100" b="0" i="0">
                          <a:solidFill>
                            <a:srgbClr val="000000"/>
                          </a:solidFill>
                          <a:latin typeface="Calibri"/>
                        </a:rPr>
                        <a:t>Drivers</a:t>
                      </a:r>
                      <a:endParaRPr sz="1100"/>
                    </a:p>
                  </a:txBody>
                  <a:tcPr marL="771525" marR="9525" marT="9525" marB="0" anchor="ctr"/>
                </a:tc>
              </a:tr>
              <a:tr h="175260">
                <a:tc>
                  <a:txBody>
                    <a:bodyPr wrap="square"/>
                    <a:lstStyle/>
                    <a:p>
                      <a:pPr algn="l"/>
                      <a:r>
                        <a:rPr sz="1100" b="0" i="0">
                          <a:solidFill>
                            <a:srgbClr val="000000"/>
                          </a:solidFill>
                          <a:latin typeface="Calibri"/>
                        </a:rPr>
                        <a:t>8.4.2.</a:t>
                      </a:r>
                      <a:r>
                        <a:rPr sz="700" b="0" i="0">
                          <a:solidFill>
                            <a:srgbClr val="000000"/>
                          </a:solidFill>
                          <a:latin typeface="Times New Roman"/>
                        </a:rPr>
                        <a:t>   </a:t>
                      </a:r>
                      <a:r>
                        <a:rPr sz="1100" b="0" i="0">
                          <a:solidFill>
                            <a:srgbClr val="000000"/>
                          </a:solidFill>
                          <a:latin typeface="Calibri"/>
                        </a:rPr>
                        <a:t>Restraints</a:t>
                      </a:r>
                      <a:endParaRPr sz="1100"/>
                    </a:p>
                  </a:txBody>
                  <a:tcPr marL="771525" marR="9525" marT="9525" marB="0" anchor="ctr"/>
                </a:tc>
              </a:tr>
              <a:tr h="175260">
                <a:tc>
                  <a:txBody>
                    <a:bodyPr wrap="square"/>
                    <a:lstStyle/>
                    <a:p>
                      <a:pPr algn="l"/>
                      <a:r>
                        <a:rPr sz="1100" b="0" i="0">
                          <a:solidFill>
                            <a:srgbClr val="000000"/>
                          </a:solidFill>
                          <a:latin typeface="Calibri"/>
                        </a:rPr>
                        <a:t>8.4.3.</a:t>
                      </a:r>
                      <a:r>
                        <a:rPr sz="700" b="0" i="0">
                          <a:solidFill>
                            <a:srgbClr val="000000"/>
                          </a:solidFill>
                          <a:latin typeface="Times New Roman"/>
                        </a:rPr>
                        <a:t>   </a:t>
                      </a:r>
                      <a:r>
                        <a:rPr sz="1100" b="0" i="0">
                          <a:solidFill>
                            <a:srgbClr val="000000"/>
                          </a:solidFill>
                          <a:latin typeface="Calibri"/>
                        </a:rPr>
                        <a:t>Opportunity Analysis</a:t>
                      </a:r>
                      <a:endParaRPr sz="1100"/>
                    </a:p>
                  </a:txBody>
                  <a:tcPr marL="771525" marR="9525" marT="9525" marB="0" anchor="ctr"/>
                </a:tc>
              </a:tr>
              <a:tr h="175260">
                <a:tc>
                  <a:txBody>
                    <a:bodyPr wrap="square"/>
                    <a:lstStyle/>
                    <a:p>
                      <a:pPr algn="l"/>
                      <a:r>
                        <a:rPr sz="1100" b="0" i="0">
                          <a:solidFill>
                            <a:srgbClr val="0070C0"/>
                          </a:solidFill>
                          <a:latin typeface="Calibri"/>
                        </a:rPr>
                        <a:t>8.5.</a:t>
                      </a:r>
                      <a:r>
                        <a:rPr sz="700" b="0" i="0">
                          <a:solidFill>
                            <a:srgbClr val="0070C0"/>
                          </a:solidFill>
                          <a:latin typeface="Times New Roman"/>
                        </a:rPr>
                        <a:t>    </a:t>
                      </a:r>
                      <a:r>
                        <a:rPr sz="1100" b="0" i="0">
                          <a:solidFill>
                            <a:srgbClr val="0070C0"/>
                          </a:solidFill>
                          <a:latin typeface="Calibri"/>
                        </a:rPr>
                        <a:t>Global Supply Demand Analysis</a:t>
                      </a:r>
                      <a:endParaRPr sz="1100"/>
                    </a:p>
                  </a:txBody>
                  <a:tcPr marL="428625" marR="9525" marT="9525" marB="0" anchor="ctr"/>
                </a:tc>
              </a:tr>
              <a:tr h="175260">
                <a:tc>
                  <a:txBody>
                    <a:bodyPr wrap="square"/>
                    <a:lstStyle/>
                    <a:p>
                      <a:pPr algn="l"/>
                      <a:r>
                        <a:rPr sz="1100" b="1" i="0">
                          <a:solidFill>
                            <a:srgbClr val="000000"/>
                          </a:solidFill>
                          <a:latin typeface="Calibri"/>
                        </a:rPr>
                        <a:t>9.</a:t>
                      </a:r>
                      <a:r>
                        <a:rPr sz="700" b="1" i="0">
                          <a:solidFill>
                            <a:srgbClr val="000000"/>
                          </a:solidFill>
                          <a:latin typeface="Times New Roman"/>
                        </a:rPr>
                        <a:t>       </a:t>
                      </a:r>
                      <a:r>
                        <a:rPr sz="1100" b="1" i="0">
                          <a:solidFill>
                            <a:srgbClr val="000000"/>
                          </a:solidFill>
                          <a:latin typeface="Calibri"/>
                        </a:rPr>
                        <a:t>Global Waterproof Coatings Market Outlook, 2021–2036, by Product Type / Chemistry</a:t>
                      </a:r>
                      <a:endParaRPr sz="1100"/>
                    </a:p>
                  </a:txBody>
                  <a:tcPr marL="171450" marR="9525" marT="9525" marB="0" anchor="ctr"/>
                </a:tc>
              </a:tr>
              <a:tr h="175260">
                <a:tc>
                  <a:txBody>
                    <a:bodyPr wrap="square"/>
                    <a:lstStyle/>
                    <a:p>
                      <a:pPr algn="l"/>
                      <a:r>
                        <a:rPr sz="1100" b="0" i="0">
                          <a:solidFill>
                            <a:srgbClr val="0070C0"/>
                          </a:solidFill>
                          <a:latin typeface="Calibri"/>
                        </a:rPr>
                        <a:t>9.1.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350520">
                <a:tc>
                  <a:txBody>
                    <a:bodyPr wrap="square"/>
                    <a:lstStyle/>
                    <a:p>
                      <a:pPr algn="l"/>
                      <a:r>
                        <a:rPr sz="1100" b="0" i="0">
                          <a:solidFill>
                            <a:srgbClr val="0070C0"/>
                          </a:solidFill>
                          <a:latin typeface="Calibri"/>
                        </a:rPr>
                        <a:t>9.2.</a:t>
                      </a:r>
                      <a:r>
                        <a:rPr sz="700" b="0" i="0">
                          <a:solidFill>
                            <a:srgbClr val="0070C0"/>
                          </a:solidFill>
                          <a:latin typeface="Times New Roman"/>
                        </a:rPr>
                        <a:t>    </a:t>
                      </a:r>
                      <a:r>
                        <a:rPr sz="1100" b="0" i="0">
                          <a:solidFill>
                            <a:srgbClr val="0070C0"/>
                          </a:solidFill>
                          <a:latin typeface="Calibri"/>
                        </a:rPr>
                        <a:t>Historical Market Size (US$ Mn) and Volume Analysis By Product Type / Chemistry, 2021–2025</a:t>
                      </a:r>
                      <a:endParaRPr sz="1100"/>
                    </a:p>
                  </a:txBody>
                  <a:tcPr marL="428625" marR="9525" marT="9525" marB="0" anchor="ctr"/>
                </a:tc>
              </a:tr>
              <a:tr h="350520">
                <a:tc>
                  <a:txBody>
                    <a:bodyPr wrap="square"/>
                    <a:lstStyle/>
                    <a:p>
                      <a:pPr algn="l"/>
                      <a:r>
                        <a:rPr sz="1100" b="0" i="0">
                          <a:solidFill>
                            <a:srgbClr val="0070C0"/>
                          </a:solidFill>
                          <a:latin typeface="Calibri"/>
                        </a:rPr>
                        <a:t>9.3.</a:t>
                      </a:r>
                      <a:r>
                        <a:rPr sz="700" b="0" i="0">
                          <a:solidFill>
                            <a:srgbClr val="0070C0"/>
                          </a:solidFill>
                          <a:latin typeface="Times New Roman"/>
                        </a:rPr>
                        <a:t>    </a:t>
                      </a:r>
                      <a:r>
                        <a:rPr sz="1100" b="0" i="0">
                          <a:solidFill>
                            <a:srgbClr val="0070C0"/>
                          </a:solidFill>
                          <a:latin typeface="Calibri"/>
                        </a:rPr>
                        <a:t>Market Size (US$ Mn) and Volume Analysis and Forecast By Product Type / Chemistry, 2026–2036</a:t>
                      </a:r>
                      <a:endParaRPr sz="1100"/>
                    </a:p>
                  </a:txBody>
                  <a:tcPr marL="4286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(2/9)</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9.4.</a:t>
                      </a:r>
                      <a:r>
                        <a:rPr sz="700" b="0" i="0">
                          <a:solidFill>
                            <a:srgbClr val="0070C0"/>
                          </a:solidFill>
                          <a:latin typeface="Times New Roman"/>
                        </a:rPr>
                        <a:t>    </a:t>
                      </a:r>
                      <a:r>
                        <a:rPr sz="1100" b="0" i="0">
                          <a:solidFill>
                            <a:srgbClr val="0070C0"/>
                          </a:solidFill>
                          <a:latin typeface="Calibri"/>
                        </a:rPr>
                        <a:t>Acrylic Waterproof Coatings</a:t>
                      </a:r>
                      <a:endParaRPr sz="1100"/>
                    </a:p>
                  </a:txBody>
                  <a:tcPr marL="428625" marR="9525" marT="9525" marB="0" anchor="ctr"/>
                </a:tc>
              </a:tr>
              <a:tr h="175260">
                <a:tc>
                  <a:txBody>
                    <a:bodyPr wrap="square"/>
                    <a:lstStyle/>
                    <a:p>
                      <a:pPr algn="l"/>
                      <a:r>
                        <a:rPr sz="1100" b="0" i="0">
                          <a:solidFill>
                            <a:srgbClr val="0070C0"/>
                          </a:solidFill>
                          <a:latin typeface="Calibri"/>
                        </a:rPr>
                        <a:t>9.5.</a:t>
                      </a:r>
                      <a:r>
                        <a:rPr sz="700" b="0" i="0">
                          <a:solidFill>
                            <a:srgbClr val="0070C0"/>
                          </a:solidFill>
                          <a:latin typeface="Times New Roman"/>
                        </a:rPr>
                        <a:t>    </a:t>
                      </a:r>
                      <a:r>
                        <a:rPr sz="1100" b="0" i="0">
                          <a:solidFill>
                            <a:srgbClr val="0070C0"/>
                          </a:solidFill>
                          <a:latin typeface="Calibri"/>
                        </a:rPr>
                        <a:t>Polyurethane (PU) Waterproof Coatings</a:t>
                      </a:r>
                      <a:endParaRPr sz="1100"/>
                    </a:p>
                  </a:txBody>
                  <a:tcPr marL="428625" marR="9525" marT="9525" marB="0" anchor="ctr"/>
                </a:tc>
              </a:tr>
              <a:tr h="175260">
                <a:tc>
                  <a:txBody>
                    <a:bodyPr wrap="square"/>
                    <a:lstStyle/>
                    <a:p>
                      <a:pPr algn="l"/>
                      <a:r>
                        <a:rPr sz="1100" b="0" i="0">
                          <a:solidFill>
                            <a:srgbClr val="0070C0"/>
                          </a:solidFill>
                          <a:latin typeface="Calibri"/>
                        </a:rPr>
                        <a:t>9.6.</a:t>
                      </a:r>
                      <a:r>
                        <a:rPr sz="700" b="0" i="0">
                          <a:solidFill>
                            <a:srgbClr val="0070C0"/>
                          </a:solidFill>
                          <a:latin typeface="Times New Roman"/>
                        </a:rPr>
                        <a:t>    </a:t>
                      </a:r>
                      <a:r>
                        <a:rPr sz="1100" b="0" i="0">
                          <a:solidFill>
                            <a:srgbClr val="0070C0"/>
                          </a:solidFill>
                          <a:latin typeface="Calibri"/>
                        </a:rPr>
                        <a:t>Epoxy Waterproof Coatings</a:t>
                      </a:r>
                      <a:endParaRPr sz="1100"/>
                    </a:p>
                  </a:txBody>
                  <a:tcPr marL="428625" marR="9525" marT="9525" marB="0" anchor="ctr"/>
                </a:tc>
              </a:tr>
              <a:tr h="175260">
                <a:tc>
                  <a:txBody>
                    <a:bodyPr wrap="square"/>
                    <a:lstStyle/>
                    <a:p>
                      <a:pPr algn="l"/>
                      <a:r>
                        <a:rPr sz="1100" b="0" i="0">
                          <a:solidFill>
                            <a:srgbClr val="0070C0"/>
                          </a:solidFill>
                          <a:latin typeface="Calibri"/>
                        </a:rPr>
                        <a:t>9.7.</a:t>
                      </a:r>
                      <a:r>
                        <a:rPr sz="700" b="0" i="0">
                          <a:solidFill>
                            <a:srgbClr val="0070C0"/>
                          </a:solidFill>
                          <a:latin typeface="Times New Roman"/>
                        </a:rPr>
                        <a:t>    </a:t>
                      </a:r>
                      <a:r>
                        <a:rPr sz="1100" b="0" i="0">
                          <a:solidFill>
                            <a:srgbClr val="0070C0"/>
                          </a:solidFill>
                          <a:latin typeface="Calibri"/>
                        </a:rPr>
                        <a:t>Silicone Waterproof Coatings</a:t>
                      </a:r>
                      <a:endParaRPr sz="1100"/>
                    </a:p>
                  </a:txBody>
                  <a:tcPr marL="428625" marR="9525" marT="9525" marB="0" anchor="ctr"/>
                </a:tc>
              </a:tr>
              <a:tr h="175260">
                <a:tc>
                  <a:txBody>
                    <a:bodyPr wrap="square"/>
                    <a:lstStyle/>
                    <a:p>
                      <a:pPr algn="l"/>
                      <a:r>
                        <a:rPr sz="1100" b="0" i="0">
                          <a:solidFill>
                            <a:srgbClr val="0070C0"/>
                          </a:solidFill>
                          <a:latin typeface="Calibri"/>
                        </a:rPr>
                        <a:t>9.8.</a:t>
                      </a:r>
                      <a:r>
                        <a:rPr sz="700" b="0" i="0">
                          <a:solidFill>
                            <a:srgbClr val="0070C0"/>
                          </a:solidFill>
                          <a:latin typeface="Times New Roman"/>
                        </a:rPr>
                        <a:t>    </a:t>
                      </a:r>
                      <a:r>
                        <a:rPr sz="1100" b="0" i="0">
                          <a:solidFill>
                            <a:srgbClr val="0070C0"/>
                          </a:solidFill>
                          <a:latin typeface="Calibri"/>
                        </a:rPr>
                        <a:t>Bituminous Waterproof Coatings</a:t>
                      </a:r>
                      <a:endParaRPr sz="1100"/>
                    </a:p>
                  </a:txBody>
                  <a:tcPr marL="428625" marR="9525" marT="9525" marB="0" anchor="ctr"/>
                </a:tc>
              </a:tr>
              <a:tr h="175260">
                <a:tc>
                  <a:txBody>
                    <a:bodyPr wrap="square"/>
                    <a:lstStyle/>
                    <a:p>
                      <a:pPr algn="l"/>
                      <a:r>
                        <a:rPr sz="1100" b="0" i="0">
                          <a:solidFill>
                            <a:srgbClr val="0070C0"/>
                          </a:solidFill>
                          <a:latin typeface="Calibri"/>
                        </a:rPr>
                        <a:t>9.9.</a:t>
                      </a:r>
                      <a:r>
                        <a:rPr sz="700" b="0" i="0">
                          <a:solidFill>
                            <a:srgbClr val="0070C0"/>
                          </a:solidFill>
                          <a:latin typeface="Times New Roman"/>
                        </a:rPr>
                        <a:t>    </a:t>
                      </a:r>
                      <a:r>
                        <a:rPr sz="1100" b="0" i="0">
                          <a:solidFill>
                            <a:srgbClr val="0070C0"/>
                          </a:solidFill>
                          <a:latin typeface="Calibri"/>
                        </a:rPr>
                        <a:t>Cementitious Waterproof Coatings</a:t>
                      </a:r>
                      <a:endParaRPr sz="1100"/>
                    </a:p>
                  </a:txBody>
                  <a:tcPr marL="428625" marR="9525" marT="9525" marB="0" anchor="ctr"/>
                </a:tc>
              </a:tr>
              <a:tr h="175260">
                <a:tc>
                  <a:txBody>
                    <a:bodyPr wrap="square"/>
                    <a:lstStyle/>
                    <a:p>
                      <a:pPr algn="l"/>
                      <a:r>
                        <a:rPr sz="1100" b="0" i="0">
                          <a:solidFill>
                            <a:srgbClr val="0070C0"/>
                          </a:solidFill>
                          <a:latin typeface="Calibri"/>
                        </a:rPr>
                        <a:t>9.10.</a:t>
                      </a:r>
                      <a:r>
                        <a:rPr sz="700" b="0" i="0">
                          <a:solidFill>
                            <a:srgbClr val="0070C0"/>
                          </a:solidFill>
                          <a:latin typeface="Times New Roman"/>
                        </a:rPr>
                        <a:t>  </a:t>
                      </a:r>
                      <a:r>
                        <a:rPr sz="1100" b="0" i="0">
                          <a:solidFill>
                            <a:srgbClr val="0070C0"/>
                          </a:solidFill>
                          <a:latin typeface="Calibri"/>
                        </a:rPr>
                        <a:t>Polyurea Waterproof Coatings</a:t>
                      </a:r>
                      <a:endParaRPr sz="1100"/>
                    </a:p>
                  </a:txBody>
                  <a:tcPr marL="428625" marR="9525" marT="9525" marB="0" anchor="ctr"/>
                </a:tc>
              </a:tr>
              <a:tr h="175260">
                <a:tc>
                  <a:txBody>
                    <a:bodyPr wrap="square"/>
                    <a:lstStyle/>
                    <a:p>
                      <a:pPr algn="l"/>
                      <a:r>
                        <a:rPr sz="1100" b="0" i="0">
                          <a:solidFill>
                            <a:srgbClr val="0070C0"/>
                          </a:solidFill>
                          <a:latin typeface="Calibri"/>
                        </a:rPr>
                        <a:t>9.11.</a:t>
                      </a:r>
                      <a:r>
                        <a:rPr sz="700" b="0" i="0">
                          <a:solidFill>
                            <a:srgbClr val="0070C0"/>
                          </a:solidFill>
                          <a:latin typeface="Times New Roman"/>
                        </a:rPr>
                        <a:t>  </a:t>
                      </a:r>
                      <a:r>
                        <a:rPr sz="1100" b="0" i="0">
                          <a:solidFill>
                            <a:srgbClr val="0070C0"/>
                          </a:solidFill>
                          <a:latin typeface="Calibri"/>
                        </a:rPr>
                        <a:t>Other Polymer-Based Coatings</a:t>
                      </a:r>
                      <a:endParaRPr sz="1100"/>
                    </a:p>
                  </a:txBody>
                  <a:tcPr marL="428625" marR="9525" marT="9525" marB="0" anchor="ctr"/>
                </a:tc>
              </a:tr>
              <a:tr h="175260">
                <a:tc>
                  <a:txBody>
                    <a:bodyPr wrap="square"/>
                    <a:lstStyle/>
                    <a:p>
                      <a:pPr algn="l"/>
                      <a:r>
                        <a:rPr sz="1100" b="0" i="0">
                          <a:solidFill>
                            <a:srgbClr val="0070C0"/>
                          </a:solidFill>
                          <a:latin typeface="Calibri"/>
                        </a:rPr>
                        <a:t>9.12.</a:t>
                      </a:r>
                      <a:r>
                        <a:rPr sz="700" b="0" i="0">
                          <a:solidFill>
                            <a:srgbClr val="0070C0"/>
                          </a:solidFill>
                          <a:latin typeface="Times New Roman"/>
                        </a:rPr>
                        <a:t>  </a:t>
                      </a:r>
                      <a:r>
                        <a:rPr sz="1100" b="0" i="0">
                          <a:solidFill>
                            <a:srgbClr val="0070C0"/>
                          </a:solidFill>
                          <a:latin typeface="Calibri"/>
                        </a:rPr>
                        <a:t>Market Attractiveness Analysis By Product Type / Chemistry</a:t>
                      </a:r>
                      <a:endParaRPr sz="1100"/>
                    </a:p>
                  </a:txBody>
                  <a:tcPr marL="428625" marR="9525" marT="9525" marB="0" anchor="ctr"/>
                </a:tc>
              </a:tr>
              <a:tr h="175260">
                <a:tc>
                  <a:txBody>
                    <a:bodyPr wrap="square"/>
                    <a:lstStyle/>
                    <a:p>
                      <a:pPr algn="l"/>
                      <a:r>
                        <a:rPr sz="1100" b="1" i="0">
                          <a:solidFill>
                            <a:srgbClr val="000000"/>
                          </a:solidFill>
                          <a:latin typeface="Calibri"/>
                        </a:rPr>
                        <a:t>10.</a:t>
                      </a:r>
                      <a:r>
                        <a:rPr sz="700" b="1" i="0">
                          <a:solidFill>
                            <a:srgbClr val="000000"/>
                          </a:solidFill>
                          <a:latin typeface="Times New Roman"/>
                        </a:rPr>
                        <a:t>    </a:t>
                      </a:r>
                      <a:r>
                        <a:rPr sz="1100" b="1" i="0">
                          <a:solidFill>
                            <a:srgbClr val="000000"/>
                          </a:solidFill>
                          <a:latin typeface="Calibri"/>
                        </a:rPr>
                        <a:t>Global Waterproof Coatings Market Outlook, 2021–2036, by Product Configuration</a:t>
                      </a:r>
                      <a:endParaRPr sz="1100"/>
                    </a:p>
                  </a:txBody>
                  <a:tcPr marL="171450" marR="9525" marT="9525" marB="0" anchor="ctr"/>
                </a:tc>
              </a:tr>
              <a:tr h="175260">
                <a:tc>
                  <a:txBody>
                    <a:bodyPr wrap="square"/>
                    <a:lstStyle/>
                    <a:p>
                      <a:pPr algn="l"/>
                      <a:r>
                        <a:rPr sz="1100" b="0" i="0">
                          <a:solidFill>
                            <a:srgbClr val="0070C0"/>
                          </a:solidFill>
                          <a:latin typeface="Calibri"/>
                        </a:rPr>
                        <a:t>10.1.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350520">
                <a:tc>
                  <a:txBody>
                    <a:bodyPr wrap="square"/>
                    <a:lstStyle/>
                    <a:p>
                      <a:pPr algn="l"/>
                      <a:r>
                        <a:rPr sz="1100" b="0" i="0">
                          <a:solidFill>
                            <a:srgbClr val="0070C0"/>
                          </a:solidFill>
                          <a:latin typeface="Calibri"/>
                        </a:rPr>
                        <a:t>10.2.</a:t>
                      </a:r>
                      <a:r>
                        <a:rPr sz="700" b="0" i="0">
                          <a:solidFill>
                            <a:srgbClr val="0070C0"/>
                          </a:solidFill>
                          <a:latin typeface="Times New Roman"/>
                        </a:rPr>
                        <a:t>  </a:t>
                      </a:r>
                      <a:r>
                        <a:rPr sz="1100" b="0" i="0">
                          <a:solidFill>
                            <a:srgbClr val="0070C0"/>
                          </a:solidFill>
                          <a:latin typeface="Calibri"/>
                        </a:rPr>
                        <a:t>Historical Market Size (US$ Mn) and Volume Analysis By Product Configuration, 2021–2025</a:t>
                      </a:r>
                      <a:endParaRPr sz="1100"/>
                    </a:p>
                  </a:txBody>
                  <a:tcPr marL="428625" marR="9525" marT="9525" marB="0" anchor="ctr"/>
                </a:tc>
              </a:tr>
              <a:tr h="350520">
                <a:tc>
                  <a:txBody>
                    <a:bodyPr wrap="square"/>
                    <a:lstStyle/>
                    <a:p>
                      <a:pPr algn="l"/>
                      <a:r>
                        <a:rPr sz="1100" b="0" i="0">
                          <a:solidFill>
                            <a:srgbClr val="0070C0"/>
                          </a:solidFill>
                          <a:latin typeface="Calibri"/>
                        </a:rPr>
                        <a:t>10.3.</a:t>
                      </a:r>
                      <a:r>
                        <a:rPr sz="700" b="0" i="0">
                          <a:solidFill>
                            <a:srgbClr val="0070C0"/>
                          </a:solidFill>
                          <a:latin typeface="Times New Roman"/>
                        </a:rPr>
                        <a:t>  </a:t>
                      </a:r>
                      <a:r>
                        <a:rPr sz="1100" b="0" i="0">
                          <a:solidFill>
                            <a:srgbClr val="0070C0"/>
                          </a:solidFill>
                          <a:latin typeface="Calibri"/>
                        </a:rPr>
                        <a:t>Market Size (US$ Mn) and Volume Analysis and Forecast By Product Configuration, 2026–2036</a:t>
                      </a:r>
                      <a:endParaRPr sz="1100"/>
                    </a:p>
                  </a:txBody>
                  <a:tcPr marL="428625" marR="9525" marT="9525" marB="0" anchor="ctr"/>
                </a:tc>
              </a:tr>
              <a:tr h="175260">
                <a:tc>
                  <a:txBody>
                    <a:bodyPr wrap="square"/>
                    <a:lstStyle/>
                    <a:p>
                      <a:pPr algn="l"/>
                      <a:r>
                        <a:rPr sz="1100" b="0" i="0">
                          <a:solidFill>
                            <a:srgbClr val="0070C0"/>
                          </a:solidFill>
                          <a:latin typeface="Calibri"/>
                        </a:rPr>
                        <a:t>10.4.</a:t>
                      </a:r>
                      <a:r>
                        <a:rPr sz="700" b="0" i="0">
                          <a:solidFill>
                            <a:srgbClr val="0070C0"/>
                          </a:solidFill>
                          <a:latin typeface="Times New Roman"/>
                        </a:rPr>
                        <a:t>  </a:t>
                      </a:r>
                      <a:r>
                        <a:rPr sz="1100" b="0" i="0">
                          <a:solidFill>
                            <a:srgbClr val="0070C0"/>
                          </a:solidFill>
                          <a:latin typeface="Calibri"/>
                        </a:rPr>
                        <a:t>Single-Component Coatings</a:t>
                      </a:r>
                      <a:endParaRPr sz="1100"/>
                    </a:p>
                  </a:txBody>
                  <a:tcPr marL="428625" marR="9525" marT="9525" marB="0" anchor="ctr"/>
                </a:tc>
              </a:tr>
              <a:tr h="175260">
                <a:tc>
                  <a:txBody>
                    <a:bodyPr wrap="square"/>
                    <a:lstStyle/>
                    <a:p>
                      <a:pPr algn="l"/>
                      <a:r>
                        <a:rPr sz="1100" b="0" i="0">
                          <a:solidFill>
                            <a:srgbClr val="0070C0"/>
                          </a:solidFill>
                          <a:latin typeface="Calibri"/>
                        </a:rPr>
                        <a:t>10.5.</a:t>
                      </a:r>
                      <a:r>
                        <a:rPr sz="700" b="0" i="0">
                          <a:solidFill>
                            <a:srgbClr val="0070C0"/>
                          </a:solidFill>
                          <a:latin typeface="Times New Roman"/>
                        </a:rPr>
                        <a:t>  </a:t>
                      </a:r>
                      <a:r>
                        <a:rPr sz="1100" b="0" i="0">
                          <a:solidFill>
                            <a:srgbClr val="0070C0"/>
                          </a:solidFill>
                          <a:latin typeface="Calibri"/>
                        </a:rPr>
                        <a:t>Two-Component Coatings</a:t>
                      </a:r>
                      <a:endParaRPr sz="1100"/>
                    </a:p>
                  </a:txBody>
                  <a:tcPr marL="428625" marR="9525" marT="9525" marB="0" anchor="ctr"/>
                </a:tc>
              </a:tr>
              <a:tr h="175260">
                <a:tc>
                  <a:txBody>
                    <a:bodyPr wrap="square"/>
                    <a:lstStyle/>
                    <a:p>
                      <a:pPr algn="l"/>
                      <a:r>
                        <a:rPr sz="1100" b="0" i="0">
                          <a:solidFill>
                            <a:srgbClr val="0070C0"/>
                          </a:solidFill>
                          <a:latin typeface="Calibri"/>
                        </a:rPr>
                        <a:t>10.6.</a:t>
                      </a:r>
                      <a:r>
                        <a:rPr sz="700" b="0" i="0">
                          <a:solidFill>
                            <a:srgbClr val="0070C0"/>
                          </a:solidFill>
                          <a:latin typeface="Times New Roman"/>
                        </a:rPr>
                        <a:t>  </a:t>
                      </a:r>
                      <a:r>
                        <a:rPr sz="1100" b="0" i="0">
                          <a:solidFill>
                            <a:srgbClr val="0070C0"/>
                          </a:solidFill>
                          <a:latin typeface="Calibri"/>
                        </a:rPr>
                        <a:t>Market Attractiveness Analysis By Product Configuration</a:t>
                      </a:r>
                      <a:endParaRPr sz="1100"/>
                    </a:p>
                  </a:txBody>
                  <a:tcPr marL="428625" marR="9525" marT="9525" marB="0" anchor="ctr"/>
                </a:tc>
              </a:tr>
              <a:tr h="175260">
                <a:tc>
                  <a:txBody>
                    <a:bodyPr wrap="square"/>
                    <a:lstStyle/>
                    <a:p>
                      <a:pPr algn="l"/>
                      <a:r>
                        <a:rPr sz="1100" b="1" i="0">
                          <a:solidFill>
                            <a:srgbClr val="000000"/>
                          </a:solidFill>
                          <a:latin typeface="Calibri"/>
                        </a:rPr>
                        <a:t>11.</a:t>
                      </a:r>
                      <a:r>
                        <a:rPr sz="700" b="1" i="0">
                          <a:solidFill>
                            <a:srgbClr val="000000"/>
                          </a:solidFill>
                          <a:latin typeface="Times New Roman"/>
                        </a:rPr>
                        <a:t>    </a:t>
                      </a:r>
                      <a:r>
                        <a:rPr sz="1100" b="1" i="0">
                          <a:solidFill>
                            <a:srgbClr val="000000"/>
                          </a:solidFill>
                          <a:latin typeface="Calibri"/>
                        </a:rPr>
                        <a:t>Global Waterproof Coatings Market Outlook, 2021–2036, by Technology</a:t>
                      </a:r>
                      <a:endParaRPr sz="1100"/>
                    </a:p>
                  </a:txBody>
                  <a:tcPr marL="171450" marR="9525" marT="9525" marB="0" anchor="ctr"/>
                </a:tc>
              </a:tr>
              <a:tr h="175260">
                <a:tc>
                  <a:txBody>
                    <a:bodyPr wrap="square"/>
                    <a:lstStyle/>
                    <a:p>
                      <a:pPr algn="l"/>
                      <a:r>
                        <a:rPr sz="1100" b="0" i="0">
                          <a:solidFill>
                            <a:srgbClr val="0070C0"/>
                          </a:solidFill>
                          <a:latin typeface="Calibri"/>
                        </a:rPr>
                        <a:t>11.1.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11.2.</a:t>
                      </a:r>
                      <a:r>
                        <a:rPr sz="700" b="0" i="0">
                          <a:solidFill>
                            <a:srgbClr val="0070C0"/>
                          </a:solidFill>
                          <a:latin typeface="Times New Roman"/>
                        </a:rPr>
                        <a:t>  </a:t>
                      </a:r>
                      <a:r>
                        <a:rPr sz="1100" b="0" i="0">
                          <a:solidFill>
                            <a:srgbClr val="0070C0"/>
                          </a:solidFill>
                          <a:latin typeface="Calibri"/>
                        </a:rPr>
                        <a:t>Historical Market Size (US$ Mn) and Volume Analysis By Technology, 2021–2025</a:t>
                      </a:r>
                      <a:endParaRPr sz="1100"/>
                    </a:p>
                  </a:txBody>
                  <a:tcPr marL="428625" marR="9525" marT="9525" marB="0" anchor="ctr"/>
                </a:tc>
              </a:tr>
              <a:tr h="175260">
                <a:tc>
                  <a:txBody>
                    <a:bodyPr wrap="square"/>
                    <a:lstStyle/>
                    <a:p>
                      <a:pPr algn="l"/>
                      <a:r>
                        <a:rPr sz="1100" b="0" i="0">
                          <a:solidFill>
                            <a:srgbClr val="0070C0"/>
                          </a:solidFill>
                          <a:latin typeface="Calibri"/>
                        </a:rPr>
                        <a:t>11.3.</a:t>
                      </a:r>
                      <a:r>
                        <a:rPr sz="700" b="0" i="0">
                          <a:solidFill>
                            <a:srgbClr val="0070C0"/>
                          </a:solidFill>
                          <a:latin typeface="Times New Roman"/>
                        </a:rPr>
                        <a:t>  </a:t>
                      </a:r>
                      <a:r>
                        <a:rPr sz="1100" b="0" i="0">
                          <a:solidFill>
                            <a:srgbClr val="0070C0"/>
                          </a:solidFill>
                          <a:latin typeface="Calibri"/>
                        </a:rPr>
                        <a:t>Market Size (US$ Mn) and Volume Analysis and Forecast By Technology, 2026–2036</a:t>
                      </a:r>
                      <a:endParaRPr sz="1100"/>
                    </a:p>
                  </a:txBody>
                  <a:tcPr marL="428625" marR="9525" marT="9525" marB="0" anchor="ctr"/>
                </a:tc>
              </a:tr>
              <a:tr h="175260">
                <a:tc>
                  <a:txBody>
                    <a:bodyPr wrap="square"/>
                    <a:lstStyle/>
                    <a:p>
                      <a:pPr algn="l"/>
                      <a:r>
                        <a:rPr sz="1100" b="0" i="0">
                          <a:solidFill>
                            <a:srgbClr val="000000"/>
                          </a:solidFill>
                          <a:latin typeface="Calibri"/>
                        </a:rPr>
                        <a:t>11.3.1.</a:t>
                      </a:r>
                      <a:r>
                        <a:rPr sz="700" b="0" i="0">
                          <a:solidFill>
                            <a:srgbClr val="000000"/>
                          </a:solidFill>
                          <a:latin typeface="Times New Roman"/>
                        </a:rPr>
                        <a:t> </a:t>
                      </a:r>
                      <a:r>
                        <a:rPr sz="1100" b="0" i="0">
                          <a:solidFill>
                            <a:srgbClr val="000000"/>
                          </a:solidFill>
                          <a:latin typeface="Calibri"/>
                        </a:rPr>
                        <a:t>Water-Based Coatings</a:t>
                      </a:r>
                      <a:endParaRPr sz="1100"/>
                    </a:p>
                  </a:txBody>
                  <a:tcPr marL="771525" marR="9525" marT="9525" marB="0" anchor="ctr"/>
                </a:tc>
              </a:tr>
              <a:tr h="175260">
                <a:tc>
                  <a:txBody>
                    <a:bodyPr wrap="square"/>
                    <a:lstStyle/>
                    <a:p>
                      <a:pPr algn="l"/>
                      <a:r>
                        <a:rPr sz="1100" b="0" i="0">
                          <a:solidFill>
                            <a:srgbClr val="000000"/>
                          </a:solidFill>
                          <a:latin typeface="Calibri"/>
                        </a:rPr>
                        <a:t>11.3.2.</a:t>
                      </a:r>
                      <a:r>
                        <a:rPr sz="700" b="0" i="0">
                          <a:solidFill>
                            <a:srgbClr val="000000"/>
                          </a:solidFill>
                          <a:latin typeface="Times New Roman"/>
                        </a:rPr>
                        <a:t> </a:t>
                      </a:r>
                      <a:r>
                        <a:rPr sz="1100" b="0" i="0">
                          <a:solidFill>
                            <a:srgbClr val="000000"/>
                          </a:solidFill>
                          <a:latin typeface="Calibri"/>
                        </a:rPr>
                        <a:t>Solvent-Based Coatings</a:t>
                      </a:r>
                      <a:endParaRPr sz="1100"/>
                    </a:p>
                  </a:txBody>
                  <a:tcPr marL="771525" marR="9525" marT="9525" marB="0" anchor="ctr"/>
                </a:tc>
              </a:tr>
              <a:tr h="175260">
                <a:tc>
                  <a:txBody>
                    <a:bodyPr wrap="square"/>
                    <a:lstStyle/>
                    <a:p>
                      <a:pPr algn="l"/>
                      <a:r>
                        <a:rPr sz="1100" b="0" i="0">
                          <a:solidFill>
                            <a:srgbClr val="000000"/>
                          </a:solidFill>
                          <a:latin typeface="Calibri"/>
                        </a:rPr>
                        <a:t>11.3.3.</a:t>
                      </a:r>
                      <a:r>
                        <a:rPr sz="700" b="0" i="0">
                          <a:solidFill>
                            <a:srgbClr val="000000"/>
                          </a:solidFill>
                          <a:latin typeface="Times New Roman"/>
                        </a:rPr>
                        <a:t> </a:t>
                      </a:r>
                      <a:r>
                        <a:rPr sz="1100" b="0" i="0">
                          <a:solidFill>
                            <a:srgbClr val="000000"/>
                          </a:solidFill>
                          <a:latin typeface="Calibri"/>
                        </a:rPr>
                        <a:t>Reactive / 100% Solids Coatings</a:t>
                      </a:r>
                      <a:endParaRPr sz="1100"/>
                    </a:p>
                  </a:txBody>
                  <a:tcPr marL="771525" marR="9525" marT="9525" marB="0" anchor="ctr"/>
                </a:tc>
              </a:tr>
              <a:tr h="175260">
                <a:tc>
                  <a:txBody>
                    <a:bodyPr wrap="square"/>
                    <a:lstStyle/>
                    <a:p>
                      <a:pPr algn="l"/>
                      <a:r>
                        <a:rPr sz="1100" b="0" i="0">
                          <a:solidFill>
                            <a:srgbClr val="000000"/>
                          </a:solidFill>
                          <a:latin typeface="Calibri"/>
                        </a:rPr>
                        <a:t>11.3.4.</a:t>
                      </a:r>
                      <a:r>
                        <a:rPr sz="700" b="0" i="0">
                          <a:solidFill>
                            <a:srgbClr val="000000"/>
                          </a:solidFill>
                          <a:latin typeface="Times New Roman"/>
                        </a:rPr>
                        <a:t> </a:t>
                      </a:r>
                      <a:r>
                        <a:rPr sz="1100" b="0" i="0">
                          <a:solidFill>
                            <a:srgbClr val="000000"/>
                          </a:solidFill>
                          <a:latin typeface="Calibri"/>
                        </a:rPr>
                        <a:t>UV-Curable and Other Specialty Coatings</a:t>
                      </a:r>
                      <a:endParaRPr sz="1100"/>
                    </a:p>
                  </a:txBody>
                  <a:tcPr marL="771525" marR="9525" marT="9525" marB="0" anchor="ctr"/>
                </a:tc>
              </a:tr>
              <a:tr h="175260">
                <a:tc>
                  <a:txBody>
                    <a:bodyPr wrap="square"/>
                    <a:lstStyle/>
                    <a:p>
                      <a:pPr algn="l"/>
                      <a:r>
                        <a:rPr sz="1100" b="0" i="0">
                          <a:solidFill>
                            <a:srgbClr val="0070C0"/>
                          </a:solidFill>
                          <a:latin typeface="Calibri"/>
                        </a:rPr>
                        <a:t>11.4.</a:t>
                      </a:r>
                      <a:r>
                        <a:rPr sz="700" b="0" i="0">
                          <a:solidFill>
                            <a:srgbClr val="0070C0"/>
                          </a:solidFill>
                          <a:latin typeface="Times New Roman"/>
                        </a:rPr>
                        <a:t>  </a:t>
                      </a:r>
                      <a:r>
                        <a:rPr sz="1100" b="0" i="0">
                          <a:solidFill>
                            <a:srgbClr val="0070C0"/>
                          </a:solidFill>
                          <a:latin typeface="Calibri"/>
                        </a:rPr>
                        <a:t>Market Attractiveness Analysis By Technology</a:t>
                      </a:r>
                      <a:endParaRPr sz="1100"/>
                    </a:p>
                  </a:txBody>
                  <a:tcPr marL="428625" marR="9525" marT="9525" marB="0" anchor="ctr"/>
                </a:tc>
              </a:tr>
              <a:tr h="175260">
                <a:tc>
                  <a:txBody>
                    <a:bodyPr wrap="square"/>
                    <a:lstStyle/>
                    <a:p>
                      <a:pPr algn="l"/>
                      <a:r>
                        <a:rPr sz="1100" b="1" i="0">
                          <a:solidFill>
                            <a:srgbClr val="000000"/>
                          </a:solidFill>
                          <a:latin typeface="Calibri"/>
                        </a:rPr>
                        <a:t>12.</a:t>
                      </a:r>
                      <a:r>
                        <a:rPr sz="700" b="1" i="0">
                          <a:solidFill>
                            <a:srgbClr val="000000"/>
                          </a:solidFill>
                          <a:latin typeface="Times New Roman"/>
                        </a:rPr>
                        <a:t>    </a:t>
                      </a:r>
                      <a:r>
                        <a:rPr sz="1100" b="1" i="0">
                          <a:solidFill>
                            <a:srgbClr val="000000"/>
                          </a:solidFill>
                          <a:latin typeface="Calibri"/>
                        </a:rPr>
                        <a:t>Global Waterproof Coatings Market Outlook, 2021–2036, by Application</a:t>
                      </a:r>
                      <a:endParaRPr sz="1100"/>
                    </a:p>
                  </a:txBody>
                  <a:tcPr marL="171450" marR="9525" marT="9525" marB="0" anchor="ctr"/>
                </a:tc>
              </a:tr>
              <a:tr h="175260">
                <a:tc>
                  <a:txBody>
                    <a:bodyPr wrap="square"/>
                    <a:lstStyle/>
                    <a:p>
                      <a:pPr algn="l"/>
                      <a:r>
                        <a:rPr sz="1100" b="0" i="0">
                          <a:solidFill>
                            <a:srgbClr val="0070C0"/>
                          </a:solidFill>
                          <a:latin typeface="Calibri"/>
                        </a:rPr>
                        <a:t>12.1.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12.2.</a:t>
                      </a:r>
                      <a:r>
                        <a:rPr sz="700" b="0" i="0">
                          <a:solidFill>
                            <a:srgbClr val="0070C0"/>
                          </a:solidFill>
                          <a:latin typeface="Times New Roman"/>
                        </a:rPr>
                        <a:t>  </a:t>
                      </a:r>
                      <a:r>
                        <a:rPr sz="1100" b="0" i="0">
                          <a:solidFill>
                            <a:srgbClr val="0070C0"/>
                          </a:solidFill>
                          <a:latin typeface="Calibri"/>
                        </a:rPr>
                        <a:t>Historical Market Size (US$ Mn) and Volume Analysis By Application, 2021–2025</a:t>
                      </a:r>
                      <a:endParaRPr sz="1100"/>
                    </a:p>
                  </a:txBody>
                  <a:tcPr marL="4286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12.3.</a:t>
                      </a:r>
                      <a:r>
                        <a:rPr sz="700" b="0" i="0">
                          <a:solidFill>
                            <a:srgbClr val="0070C0"/>
                          </a:solidFill>
                          <a:latin typeface="Times New Roman"/>
                        </a:rPr>
                        <a:t>  </a:t>
                      </a:r>
                      <a:r>
                        <a:rPr sz="1100" b="0" i="0">
                          <a:solidFill>
                            <a:srgbClr val="0070C0"/>
                          </a:solidFill>
                          <a:latin typeface="Calibri"/>
                        </a:rPr>
                        <a:t>Market Size (US$ Mn) and Volume Analysis and Forecast By Application, 2026–2036</a:t>
                      </a:r>
                      <a:endParaRPr sz="1100"/>
                    </a:p>
                  </a:txBody>
                  <a:tcPr marL="428625" marR="9525" marT="9525" marB="0" anchor="ctr"/>
                </a:tc>
              </a:tr>
              <a:tr h="175260">
                <a:tc>
                  <a:txBody>
                    <a:bodyPr wrap="square"/>
                    <a:lstStyle/>
                    <a:p>
                      <a:pPr algn="l"/>
                      <a:r>
                        <a:rPr sz="1100" b="0" i="0">
                          <a:solidFill>
                            <a:srgbClr val="000000"/>
                          </a:solidFill>
                          <a:latin typeface="Calibri"/>
                        </a:rPr>
                        <a:t>12.3.1.</a:t>
                      </a:r>
                      <a:r>
                        <a:rPr sz="700" b="0" i="0">
                          <a:solidFill>
                            <a:srgbClr val="000000"/>
                          </a:solidFill>
                          <a:latin typeface="Times New Roman"/>
                        </a:rPr>
                        <a:t> </a:t>
                      </a:r>
                      <a:r>
                        <a:rPr sz="1100" b="0" i="0">
                          <a:solidFill>
                            <a:srgbClr val="000000"/>
                          </a:solidFill>
                          <a:latin typeface="Calibri"/>
                        </a:rPr>
                        <a:t>Roofs and Terraces</a:t>
                      </a:r>
                      <a:endParaRPr sz="1100"/>
                    </a:p>
                  </a:txBody>
                  <a:tcPr marL="771525" marR="9525" marT="9525" marB="0" anchor="ctr"/>
                </a:tc>
              </a:tr>
              <a:tr h="175260">
                <a:tc>
                  <a:txBody>
                    <a:bodyPr wrap="square"/>
                    <a:lstStyle/>
                    <a:p>
                      <a:pPr algn="l"/>
                      <a:r>
                        <a:rPr sz="1100" b="0" i="0">
                          <a:solidFill>
                            <a:srgbClr val="000000"/>
                          </a:solidFill>
                          <a:latin typeface="Calibri"/>
                        </a:rPr>
                        <a:t>12.3.2.</a:t>
                      </a:r>
                      <a:r>
                        <a:rPr sz="700" b="0" i="0">
                          <a:solidFill>
                            <a:srgbClr val="000000"/>
                          </a:solidFill>
                          <a:latin typeface="Times New Roman"/>
                        </a:rPr>
                        <a:t> </a:t>
                      </a:r>
                      <a:r>
                        <a:rPr sz="1100" b="0" i="0">
                          <a:solidFill>
                            <a:srgbClr val="000000"/>
                          </a:solidFill>
                          <a:latin typeface="Calibri"/>
                        </a:rPr>
                        <a:t>Walls and Building Facades</a:t>
                      </a:r>
                      <a:endParaRPr sz="1100"/>
                    </a:p>
                  </a:txBody>
                  <a:tcPr marL="771525" marR="9525" marT="9525" marB="0" anchor="ctr"/>
                </a:tc>
              </a:tr>
              <a:tr h="175260">
                <a:tc>
                  <a:txBody>
                    <a:bodyPr wrap="square"/>
                    <a:lstStyle/>
                    <a:p>
                      <a:pPr algn="l"/>
                      <a:r>
                        <a:rPr sz="1100" b="0" i="0">
                          <a:solidFill>
                            <a:srgbClr val="000000"/>
                          </a:solidFill>
                          <a:latin typeface="Calibri"/>
                        </a:rPr>
                        <a:t>12.3.3.</a:t>
                      </a:r>
                      <a:r>
                        <a:rPr sz="700" b="0" i="0">
                          <a:solidFill>
                            <a:srgbClr val="000000"/>
                          </a:solidFill>
                          <a:latin typeface="Times New Roman"/>
                        </a:rPr>
                        <a:t> </a:t>
                      </a:r>
                      <a:r>
                        <a:rPr sz="1100" b="0" i="0">
                          <a:solidFill>
                            <a:srgbClr val="000000"/>
                          </a:solidFill>
                          <a:latin typeface="Calibri"/>
                        </a:rPr>
                        <a:t>Basements and Foundations</a:t>
                      </a:r>
                      <a:endParaRPr sz="1100"/>
                    </a:p>
                  </a:txBody>
                  <a:tcPr marL="771525" marR="9525" marT="9525" marB="0" anchor="ctr"/>
                </a:tc>
              </a:tr>
              <a:tr h="175260">
                <a:tc>
                  <a:txBody>
                    <a:bodyPr wrap="square"/>
                    <a:lstStyle/>
                    <a:p>
                      <a:pPr algn="l"/>
                      <a:r>
                        <a:rPr sz="1100" b="0" i="0">
                          <a:solidFill>
                            <a:srgbClr val="000000"/>
                          </a:solidFill>
                          <a:latin typeface="Calibri"/>
                        </a:rPr>
                        <a:t>12.3.4.</a:t>
                      </a:r>
                      <a:r>
                        <a:rPr sz="700" b="0" i="0">
                          <a:solidFill>
                            <a:srgbClr val="000000"/>
                          </a:solidFill>
                          <a:latin typeface="Times New Roman"/>
                        </a:rPr>
                        <a:t> </a:t>
                      </a:r>
                      <a:r>
                        <a:rPr sz="1100" b="0" i="0">
                          <a:solidFill>
                            <a:srgbClr val="000000"/>
                          </a:solidFill>
                          <a:latin typeface="Calibri"/>
                        </a:rPr>
                        <a:t>Bathrooms and Wet Areas</a:t>
                      </a:r>
                      <a:endParaRPr sz="1100"/>
                    </a:p>
                  </a:txBody>
                  <a:tcPr marL="771525" marR="9525" marT="9525" marB="0" anchor="ctr"/>
                </a:tc>
              </a:tr>
              <a:tr h="175260">
                <a:tc>
                  <a:txBody>
                    <a:bodyPr wrap="square"/>
                    <a:lstStyle/>
                    <a:p>
                      <a:pPr algn="l"/>
                      <a:r>
                        <a:rPr sz="1100" b="0" i="0">
                          <a:solidFill>
                            <a:srgbClr val="000000"/>
                          </a:solidFill>
                          <a:latin typeface="Calibri"/>
                        </a:rPr>
                        <a:t>12.3.5.</a:t>
                      </a:r>
                      <a:r>
                        <a:rPr sz="700" b="0" i="0">
                          <a:solidFill>
                            <a:srgbClr val="000000"/>
                          </a:solidFill>
                          <a:latin typeface="Times New Roman"/>
                        </a:rPr>
                        <a:t> </a:t>
                      </a:r>
                      <a:r>
                        <a:rPr sz="1100" b="0" i="0">
                          <a:solidFill>
                            <a:srgbClr val="000000"/>
                          </a:solidFill>
                          <a:latin typeface="Calibri"/>
                        </a:rPr>
                        <a:t>Balconies and Decks</a:t>
                      </a:r>
                      <a:endParaRPr sz="1100"/>
                    </a:p>
                  </a:txBody>
                  <a:tcPr marL="771525" marR="9525" marT="9525" marB="0" anchor="ctr"/>
                </a:tc>
              </a:tr>
              <a:tr h="175260">
                <a:tc>
                  <a:txBody>
                    <a:bodyPr wrap="square"/>
                    <a:lstStyle/>
                    <a:p>
                      <a:pPr algn="l"/>
                      <a:r>
                        <a:rPr sz="1100" b="0" i="0">
                          <a:solidFill>
                            <a:srgbClr val="000000"/>
                          </a:solidFill>
                          <a:latin typeface="Calibri"/>
                        </a:rPr>
                        <a:t>12.3.6.</a:t>
                      </a:r>
                      <a:r>
                        <a:rPr sz="700" b="0" i="0">
                          <a:solidFill>
                            <a:srgbClr val="000000"/>
                          </a:solidFill>
                          <a:latin typeface="Times New Roman"/>
                        </a:rPr>
                        <a:t> </a:t>
                      </a:r>
                      <a:r>
                        <a:rPr sz="1100" b="0" i="0">
                          <a:solidFill>
                            <a:srgbClr val="000000"/>
                          </a:solidFill>
                          <a:latin typeface="Calibri"/>
                        </a:rPr>
                        <a:t>Floors and Parking Structures</a:t>
                      </a:r>
                      <a:endParaRPr sz="1100"/>
                    </a:p>
                  </a:txBody>
                  <a:tcPr marL="771525" marR="9525" marT="9525" marB="0" anchor="ctr"/>
                </a:tc>
              </a:tr>
              <a:tr h="175260">
                <a:tc>
                  <a:txBody>
                    <a:bodyPr wrap="square"/>
                    <a:lstStyle/>
                    <a:p>
                      <a:pPr algn="l"/>
                      <a:r>
                        <a:rPr sz="1100" b="0" i="0">
                          <a:solidFill>
                            <a:srgbClr val="000000"/>
                          </a:solidFill>
                          <a:latin typeface="Calibri"/>
                        </a:rPr>
                        <a:t>12.3.7.</a:t>
                      </a:r>
                      <a:r>
                        <a:rPr sz="700" b="0" i="0">
                          <a:solidFill>
                            <a:srgbClr val="000000"/>
                          </a:solidFill>
                          <a:latin typeface="Times New Roman"/>
                        </a:rPr>
                        <a:t> </a:t>
                      </a:r>
                      <a:r>
                        <a:rPr sz="1100" b="0" i="0">
                          <a:solidFill>
                            <a:srgbClr val="000000"/>
                          </a:solidFill>
                          <a:latin typeface="Calibri"/>
                        </a:rPr>
                        <a:t>Bridges, Tunnels and Other Infrastructure</a:t>
                      </a:r>
                      <a:endParaRPr sz="1100"/>
                    </a:p>
                  </a:txBody>
                  <a:tcPr marL="771525" marR="9525" marT="9525" marB="0" anchor="ctr"/>
                </a:tc>
              </a:tr>
              <a:tr h="175260">
                <a:tc>
                  <a:txBody>
                    <a:bodyPr wrap="square"/>
                    <a:lstStyle/>
                    <a:p>
                      <a:pPr algn="l"/>
                      <a:r>
                        <a:rPr sz="1100" b="0" i="0">
                          <a:solidFill>
                            <a:srgbClr val="000000"/>
                          </a:solidFill>
                          <a:latin typeface="Calibri"/>
                        </a:rPr>
                        <a:t>12.3.8.</a:t>
                      </a:r>
                      <a:r>
                        <a:rPr sz="700" b="0" i="0">
                          <a:solidFill>
                            <a:srgbClr val="000000"/>
                          </a:solidFill>
                          <a:latin typeface="Times New Roman"/>
                        </a:rPr>
                        <a:t> </a:t>
                      </a:r>
                      <a:r>
                        <a:rPr sz="1100" b="0" i="0">
                          <a:solidFill>
                            <a:srgbClr val="000000"/>
                          </a:solidFill>
                          <a:latin typeface="Calibri"/>
                        </a:rPr>
                        <a:t>Water Tanks and Swimming Pools</a:t>
                      </a:r>
                      <a:endParaRPr sz="1100"/>
                    </a:p>
                  </a:txBody>
                  <a:tcPr marL="771525" marR="9525" marT="9525" marB="0" anchor="ctr"/>
                </a:tc>
              </a:tr>
              <a:tr h="175260">
                <a:tc>
                  <a:txBody>
                    <a:bodyPr wrap="square"/>
                    <a:lstStyle/>
                    <a:p>
                      <a:pPr algn="l"/>
                      <a:r>
                        <a:rPr sz="1100" b="0" i="0">
                          <a:solidFill>
                            <a:srgbClr val="000000"/>
                          </a:solidFill>
                          <a:latin typeface="Calibri"/>
                        </a:rPr>
                        <a:t>12.3.9.</a:t>
                      </a:r>
                      <a:r>
                        <a:rPr sz="700" b="0" i="0">
                          <a:solidFill>
                            <a:srgbClr val="000000"/>
                          </a:solidFill>
                          <a:latin typeface="Times New Roman"/>
                        </a:rPr>
                        <a:t> </a:t>
                      </a:r>
                      <a:r>
                        <a:rPr sz="1100" b="0" i="0">
                          <a:solidFill>
                            <a:srgbClr val="000000"/>
                          </a:solidFill>
                          <a:latin typeface="Calibri"/>
                        </a:rPr>
                        <a:t>Other Applications</a:t>
                      </a:r>
                      <a:endParaRPr sz="1100"/>
                    </a:p>
                  </a:txBody>
                  <a:tcPr marL="771525" marR="9525" marT="9525" marB="0" anchor="ctr"/>
                </a:tc>
              </a:tr>
              <a:tr h="175260">
                <a:tc>
                  <a:txBody>
                    <a:bodyPr wrap="square"/>
                    <a:lstStyle/>
                    <a:p>
                      <a:pPr algn="l"/>
                      <a:r>
                        <a:rPr sz="1100" b="0" i="0">
                          <a:solidFill>
                            <a:srgbClr val="0070C0"/>
                          </a:solidFill>
                          <a:latin typeface="Calibri"/>
                        </a:rPr>
                        <a:t>12.4.</a:t>
                      </a:r>
                      <a:r>
                        <a:rPr sz="700" b="0" i="0">
                          <a:solidFill>
                            <a:srgbClr val="0070C0"/>
                          </a:solidFill>
                          <a:latin typeface="Times New Roman"/>
                        </a:rPr>
                        <a:t>  </a:t>
                      </a:r>
                      <a:r>
                        <a:rPr sz="1100" b="0" i="0">
                          <a:solidFill>
                            <a:srgbClr val="0070C0"/>
                          </a:solidFill>
                          <a:latin typeface="Calibri"/>
                        </a:rPr>
                        <a:t>Market Attractiveness Analysis By Application</a:t>
                      </a:r>
                      <a:endParaRPr sz="1100"/>
                    </a:p>
                  </a:txBody>
                  <a:tcPr marL="428625" marR="9525" marT="9525" marB="0" anchor="ctr"/>
                </a:tc>
              </a:tr>
              <a:tr h="175260">
                <a:tc>
                  <a:txBody>
                    <a:bodyPr wrap="square"/>
                    <a:lstStyle/>
                    <a:p>
                      <a:pPr algn="l"/>
                      <a:r>
                        <a:rPr sz="1100" b="1" i="0">
                          <a:solidFill>
                            <a:srgbClr val="000000"/>
                          </a:solidFill>
                          <a:latin typeface="Calibri"/>
                        </a:rPr>
                        <a:t>13.</a:t>
                      </a:r>
                      <a:r>
                        <a:rPr sz="700" b="1" i="0">
                          <a:solidFill>
                            <a:srgbClr val="000000"/>
                          </a:solidFill>
                          <a:latin typeface="Times New Roman"/>
                        </a:rPr>
                        <a:t>    </a:t>
                      </a:r>
                      <a:r>
                        <a:rPr sz="1100" b="1" i="0">
                          <a:solidFill>
                            <a:srgbClr val="000000"/>
                          </a:solidFill>
                          <a:latin typeface="Calibri"/>
                        </a:rPr>
                        <a:t>Global Waterproof Coatings Market Outlook, 2021–2036, by Substrate Material</a:t>
                      </a:r>
                      <a:endParaRPr sz="1100"/>
                    </a:p>
                  </a:txBody>
                  <a:tcPr marL="171450" marR="9525" marT="9525" marB="0" anchor="ctr"/>
                </a:tc>
              </a:tr>
              <a:tr h="175260">
                <a:tc>
                  <a:txBody>
                    <a:bodyPr wrap="square"/>
                    <a:lstStyle/>
                    <a:p>
                      <a:pPr algn="l"/>
                      <a:r>
                        <a:rPr sz="1100" b="0" i="0">
                          <a:solidFill>
                            <a:srgbClr val="0070C0"/>
                          </a:solidFill>
                          <a:latin typeface="Calibri"/>
                        </a:rPr>
                        <a:t>13.1.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350520">
                <a:tc>
                  <a:txBody>
                    <a:bodyPr wrap="square"/>
                    <a:lstStyle/>
                    <a:p>
                      <a:pPr algn="l"/>
                      <a:r>
                        <a:rPr sz="1100" b="0" i="0">
                          <a:solidFill>
                            <a:srgbClr val="0070C0"/>
                          </a:solidFill>
                          <a:latin typeface="Calibri"/>
                        </a:rPr>
                        <a:t>13.2.</a:t>
                      </a:r>
                      <a:r>
                        <a:rPr sz="700" b="0" i="0">
                          <a:solidFill>
                            <a:srgbClr val="0070C0"/>
                          </a:solidFill>
                          <a:latin typeface="Times New Roman"/>
                        </a:rPr>
                        <a:t>  </a:t>
                      </a:r>
                      <a:r>
                        <a:rPr sz="1100" b="0" i="0">
                          <a:solidFill>
                            <a:srgbClr val="0070C0"/>
                          </a:solidFill>
                          <a:latin typeface="Calibri"/>
                        </a:rPr>
                        <a:t>Historical Market Size (US$ Mn) and Volume Analysis By Substrate Material, 2021–2025</a:t>
                      </a:r>
                      <a:endParaRPr sz="1100"/>
                    </a:p>
                  </a:txBody>
                  <a:tcPr marL="428625" marR="9525" marT="9525" marB="0" anchor="ctr"/>
                </a:tc>
              </a:tr>
              <a:tr h="350520">
                <a:tc>
                  <a:txBody>
                    <a:bodyPr wrap="square"/>
                    <a:lstStyle/>
                    <a:p>
                      <a:pPr algn="l"/>
                      <a:r>
                        <a:rPr sz="1100" b="0" i="0">
                          <a:solidFill>
                            <a:srgbClr val="0070C0"/>
                          </a:solidFill>
                          <a:latin typeface="Calibri"/>
                        </a:rPr>
                        <a:t>13.3.</a:t>
                      </a:r>
                      <a:r>
                        <a:rPr sz="700" b="0" i="0">
                          <a:solidFill>
                            <a:srgbClr val="0070C0"/>
                          </a:solidFill>
                          <a:latin typeface="Times New Roman"/>
                        </a:rPr>
                        <a:t>  </a:t>
                      </a:r>
                      <a:r>
                        <a:rPr sz="1100" b="0" i="0">
                          <a:solidFill>
                            <a:srgbClr val="0070C0"/>
                          </a:solidFill>
                          <a:latin typeface="Calibri"/>
                        </a:rPr>
                        <a:t>Market Size (US$ Mn) and Volume Analysis and Forecast By Substrate Material, 2026–2036</a:t>
                      </a:r>
                      <a:endParaRPr sz="1100"/>
                    </a:p>
                  </a:txBody>
                  <a:tcPr marL="428625" marR="9525" marT="9525" marB="0" anchor="ctr"/>
                </a:tc>
              </a:tr>
              <a:tr h="175260">
                <a:tc>
                  <a:txBody>
                    <a:bodyPr wrap="square"/>
                    <a:lstStyle/>
                    <a:p>
                      <a:pPr algn="l"/>
                      <a:r>
                        <a:rPr sz="1100" b="0" i="0">
                          <a:solidFill>
                            <a:srgbClr val="000000"/>
                          </a:solidFill>
                          <a:latin typeface="Calibri"/>
                        </a:rPr>
                        <a:t>13.3.1.</a:t>
                      </a:r>
                      <a:r>
                        <a:rPr sz="700" b="0" i="0">
                          <a:solidFill>
                            <a:srgbClr val="000000"/>
                          </a:solidFill>
                          <a:latin typeface="Times New Roman"/>
                        </a:rPr>
                        <a:t> </a:t>
                      </a:r>
                      <a:r>
                        <a:rPr sz="1100" b="0" i="0">
                          <a:solidFill>
                            <a:srgbClr val="000000"/>
                          </a:solidFill>
                          <a:latin typeface="Calibri"/>
                        </a:rPr>
                        <a:t>Concrete and Cementitious Surfaces</a:t>
                      </a:r>
                      <a:endParaRPr sz="1100"/>
                    </a:p>
                  </a:txBody>
                  <a:tcPr marL="771525" marR="9525" marT="9525" marB="0" anchor="ctr"/>
                </a:tc>
              </a:tr>
              <a:tr h="175260">
                <a:tc>
                  <a:txBody>
                    <a:bodyPr wrap="square"/>
                    <a:lstStyle/>
                    <a:p>
                      <a:pPr algn="l"/>
                      <a:r>
                        <a:rPr sz="1100" b="0" i="0">
                          <a:solidFill>
                            <a:srgbClr val="000000"/>
                          </a:solidFill>
                          <a:latin typeface="Calibri"/>
                        </a:rPr>
                        <a:t>13.3.2.</a:t>
                      </a:r>
                      <a:r>
                        <a:rPr sz="700" b="0" i="0">
                          <a:solidFill>
                            <a:srgbClr val="000000"/>
                          </a:solidFill>
                          <a:latin typeface="Times New Roman"/>
                        </a:rPr>
                        <a:t> </a:t>
                      </a:r>
                      <a:r>
                        <a:rPr sz="1100" b="0" i="0">
                          <a:solidFill>
                            <a:srgbClr val="000000"/>
                          </a:solidFill>
                          <a:latin typeface="Calibri"/>
                        </a:rPr>
                        <a:t>Metal</a:t>
                      </a:r>
                      <a:endParaRPr sz="1100"/>
                    </a:p>
                  </a:txBody>
                  <a:tcPr marL="771525" marR="9525" marT="9525" marB="0" anchor="ctr"/>
                </a:tc>
              </a:tr>
              <a:tr h="175260">
                <a:tc>
                  <a:txBody>
                    <a:bodyPr wrap="square"/>
                    <a:lstStyle/>
                    <a:p>
                      <a:pPr algn="l"/>
                      <a:r>
                        <a:rPr sz="1100" b="0" i="0">
                          <a:solidFill>
                            <a:srgbClr val="000000"/>
                          </a:solidFill>
                          <a:latin typeface="Calibri"/>
                        </a:rPr>
                        <a:t>13.3.3.</a:t>
                      </a:r>
                      <a:r>
                        <a:rPr sz="700" b="0" i="0">
                          <a:solidFill>
                            <a:srgbClr val="000000"/>
                          </a:solidFill>
                          <a:latin typeface="Times New Roman"/>
                        </a:rPr>
                        <a:t> </a:t>
                      </a:r>
                      <a:r>
                        <a:rPr sz="1100" b="0" i="0">
                          <a:solidFill>
                            <a:srgbClr val="000000"/>
                          </a:solidFill>
                          <a:latin typeface="Calibri"/>
                        </a:rPr>
                        <a:t>Wood</a:t>
                      </a:r>
                      <a:endParaRPr sz="1100"/>
                    </a:p>
                  </a:txBody>
                  <a:tcPr marL="771525" marR="9525" marT="9525" marB="0" anchor="ctr"/>
                </a:tc>
              </a:tr>
              <a:tr h="175260">
                <a:tc>
                  <a:txBody>
                    <a:bodyPr wrap="square"/>
                    <a:lstStyle/>
                    <a:p>
                      <a:pPr algn="l"/>
                      <a:r>
                        <a:rPr sz="1100" b="0" i="0">
                          <a:solidFill>
                            <a:srgbClr val="000000"/>
                          </a:solidFill>
                          <a:latin typeface="Calibri"/>
                        </a:rPr>
                        <a:t>13.3.4.</a:t>
                      </a:r>
                      <a:r>
                        <a:rPr sz="700" b="0" i="0">
                          <a:solidFill>
                            <a:srgbClr val="000000"/>
                          </a:solidFill>
                          <a:latin typeface="Times New Roman"/>
                        </a:rPr>
                        <a:t> </a:t>
                      </a:r>
                      <a:r>
                        <a:rPr sz="1100" b="0" i="0">
                          <a:solidFill>
                            <a:srgbClr val="000000"/>
                          </a:solidFill>
                          <a:latin typeface="Calibri"/>
                        </a:rPr>
                        <a:t>Masonry and Brickwork</a:t>
                      </a:r>
                      <a:endParaRPr sz="1100"/>
                    </a:p>
                  </a:txBody>
                  <a:tcPr marL="771525" marR="9525" marT="9525" marB="0" anchor="ctr"/>
                </a:tc>
              </a:tr>
              <a:tr h="175260">
                <a:tc>
                  <a:txBody>
                    <a:bodyPr wrap="square"/>
                    <a:lstStyle/>
                    <a:p>
                      <a:pPr algn="l"/>
                      <a:r>
                        <a:rPr sz="1100" b="0" i="0">
                          <a:solidFill>
                            <a:srgbClr val="000000"/>
                          </a:solidFill>
                          <a:latin typeface="Calibri"/>
                        </a:rPr>
                        <a:t>13.3.5.</a:t>
                      </a:r>
                      <a:r>
                        <a:rPr sz="700" b="0" i="0">
                          <a:solidFill>
                            <a:srgbClr val="000000"/>
                          </a:solidFill>
                          <a:latin typeface="Times New Roman"/>
                        </a:rPr>
                        <a:t> </a:t>
                      </a:r>
                      <a:r>
                        <a:rPr sz="1100" b="0" i="0">
                          <a:solidFill>
                            <a:srgbClr val="000000"/>
                          </a:solidFill>
                          <a:latin typeface="Calibri"/>
                        </a:rPr>
                        <a:t>Composite Materials</a:t>
                      </a:r>
                      <a:endParaRPr sz="1100"/>
                    </a:p>
                  </a:txBody>
                  <a:tcPr marL="771525" marR="9525" marT="9525" marB="0" anchor="ctr"/>
                </a:tc>
              </a:tr>
              <a:tr h="175260">
                <a:tc>
                  <a:txBody>
                    <a:bodyPr wrap="square"/>
                    <a:lstStyle/>
                    <a:p>
                      <a:pPr algn="l"/>
                      <a:r>
                        <a:rPr sz="1100" b="0" i="0">
                          <a:solidFill>
                            <a:srgbClr val="000000"/>
                          </a:solidFill>
                          <a:latin typeface="Calibri"/>
                        </a:rPr>
                        <a:t>13.3.6.</a:t>
                      </a:r>
                      <a:r>
                        <a:rPr sz="700" b="0" i="0">
                          <a:solidFill>
                            <a:srgbClr val="000000"/>
                          </a:solidFill>
                          <a:latin typeface="Times New Roman"/>
                        </a:rPr>
                        <a:t> </a:t>
                      </a:r>
                      <a:r>
                        <a:rPr sz="1100" b="0" i="0">
                          <a:solidFill>
                            <a:srgbClr val="000000"/>
                          </a:solidFill>
                          <a:latin typeface="Calibri"/>
                        </a:rPr>
                        <a:t>Other Substrates</a:t>
                      </a:r>
                      <a:endParaRPr sz="1100"/>
                    </a:p>
                  </a:txBody>
                  <a:tcPr marL="771525" marR="9525" marT="9525" marB="0" anchor="ctr"/>
                </a:tc>
              </a:tr>
              <a:tr h="175260">
                <a:tc>
                  <a:txBody>
                    <a:bodyPr wrap="square"/>
                    <a:lstStyle/>
                    <a:p>
                      <a:pPr algn="l"/>
                      <a:r>
                        <a:rPr sz="1100" b="0" i="0">
                          <a:solidFill>
                            <a:srgbClr val="0070C0"/>
                          </a:solidFill>
                          <a:latin typeface="Calibri"/>
                        </a:rPr>
                        <a:t>13.4.</a:t>
                      </a:r>
                      <a:r>
                        <a:rPr sz="700" b="0" i="0">
                          <a:solidFill>
                            <a:srgbClr val="0070C0"/>
                          </a:solidFill>
                          <a:latin typeface="Times New Roman"/>
                        </a:rPr>
                        <a:t>  </a:t>
                      </a:r>
                      <a:r>
                        <a:rPr sz="1100" b="0" i="0">
                          <a:solidFill>
                            <a:srgbClr val="0070C0"/>
                          </a:solidFill>
                          <a:latin typeface="Calibri"/>
                        </a:rPr>
                        <a:t>Market Attractiveness Analysis By Substrate Material</a:t>
                      </a:r>
                      <a:endParaRPr sz="1100"/>
                    </a:p>
                  </a:txBody>
                  <a:tcPr marL="428625" marR="9525" marT="9525" marB="0" anchor="ctr"/>
                </a:tc>
              </a:tr>
              <a:tr h="175260">
                <a:tc>
                  <a:txBody>
                    <a:bodyPr wrap="square"/>
                    <a:lstStyle/>
                    <a:p>
                      <a:pPr algn="l"/>
                      <a:r>
                        <a:rPr sz="1100" b="1" i="0">
                          <a:solidFill>
                            <a:srgbClr val="000000"/>
                          </a:solidFill>
                          <a:latin typeface="Calibri"/>
                        </a:rPr>
                        <a:t>14.</a:t>
                      </a:r>
                      <a:r>
                        <a:rPr sz="700" b="1" i="0">
                          <a:solidFill>
                            <a:srgbClr val="000000"/>
                          </a:solidFill>
                          <a:latin typeface="Times New Roman"/>
                        </a:rPr>
                        <a:t>    </a:t>
                      </a:r>
                      <a:r>
                        <a:rPr sz="1100" b="1" i="0">
                          <a:solidFill>
                            <a:srgbClr val="000000"/>
                          </a:solidFill>
                          <a:latin typeface="Calibri"/>
                        </a:rPr>
                        <a:t>Global Waterproof Coatings Market Outlook, 2021–2036, by Distribution Channel</a:t>
                      </a:r>
                      <a:endParaRPr sz="1100"/>
                    </a:p>
                  </a:txBody>
                  <a:tcPr marL="171450" marR="9525" marT="9525" marB="0" anchor="ctr"/>
                </a:tc>
              </a:tr>
              <a:tr h="175260">
                <a:tc>
                  <a:txBody>
                    <a:bodyPr wrap="square"/>
                    <a:lstStyle/>
                    <a:p>
                      <a:pPr algn="l"/>
                      <a:r>
                        <a:rPr sz="1100" b="0" i="0">
                          <a:solidFill>
                            <a:srgbClr val="0070C0"/>
                          </a:solidFill>
                          <a:latin typeface="Calibri"/>
                        </a:rPr>
                        <a:t>14.1.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350520">
                <a:tc>
                  <a:txBody>
                    <a:bodyPr wrap="square"/>
                    <a:lstStyle/>
                    <a:p>
                      <a:pPr algn="l"/>
                      <a:r>
                        <a:rPr sz="1100" b="0" i="0">
                          <a:solidFill>
                            <a:srgbClr val="0070C0"/>
                          </a:solidFill>
                          <a:latin typeface="Calibri"/>
                        </a:rPr>
                        <a:t>14.2.</a:t>
                      </a:r>
                      <a:r>
                        <a:rPr sz="700" b="0" i="0">
                          <a:solidFill>
                            <a:srgbClr val="0070C0"/>
                          </a:solidFill>
                          <a:latin typeface="Times New Roman"/>
                        </a:rPr>
                        <a:t>  </a:t>
                      </a:r>
                      <a:r>
                        <a:rPr sz="1100" b="0" i="0">
                          <a:solidFill>
                            <a:srgbClr val="0070C0"/>
                          </a:solidFill>
                          <a:latin typeface="Calibri"/>
                        </a:rPr>
                        <a:t>Historical Market Size (US$ Mn) and Volume Analysis By Distribution Channel, 2021–2025</a:t>
                      </a:r>
                      <a:endParaRPr sz="1100"/>
                    </a:p>
                  </a:txBody>
                  <a:tcPr marL="428625" marR="9525" marT="9525" marB="0" anchor="ctr"/>
                </a:tc>
              </a:tr>
              <a:tr h="350520">
                <a:tc>
                  <a:txBody>
                    <a:bodyPr wrap="square"/>
                    <a:lstStyle/>
                    <a:p>
                      <a:pPr algn="l"/>
                      <a:r>
                        <a:rPr sz="1100" b="0" i="0">
                          <a:solidFill>
                            <a:srgbClr val="0070C0"/>
                          </a:solidFill>
                          <a:latin typeface="Calibri"/>
                        </a:rPr>
                        <a:t>14.3.</a:t>
                      </a:r>
                      <a:r>
                        <a:rPr sz="700" b="0" i="0">
                          <a:solidFill>
                            <a:srgbClr val="0070C0"/>
                          </a:solidFill>
                          <a:latin typeface="Times New Roman"/>
                        </a:rPr>
                        <a:t>  </a:t>
                      </a:r>
                      <a:r>
                        <a:rPr sz="1100" b="0" i="0">
                          <a:solidFill>
                            <a:srgbClr val="0070C0"/>
                          </a:solidFill>
                          <a:latin typeface="Calibri"/>
                        </a:rPr>
                        <a:t>Market Size (US$ Mn) and Volume Analysis and Forecast By Distribution Channel, 2026–2036</a:t>
                      </a:r>
                      <a:endParaRPr sz="1100"/>
                    </a:p>
                  </a:txBody>
                  <a:tcPr marL="4286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(3/9)</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14.3.1.</a:t>
                      </a:r>
                      <a:r>
                        <a:rPr sz="700" b="0" i="0">
                          <a:solidFill>
                            <a:srgbClr val="000000"/>
                          </a:solidFill>
                          <a:latin typeface="Times New Roman"/>
                        </a:rPr>
                        <a:t> </a:t>
                      </a:r>
                      <a:r>
                        <a:rPr sz="1100" b="0" i="0">
                          <a:solidFill>
                            <a:srgbClr val="000000"/>
                          </a:solidFill>
                          <a:latin typeface="Calibri"/>
                        </a:rPr>
                        <a:t>Direct Sales</a:t>
                      </a:r>
                      <a:endParaRPr sz="1100"/>
                    </a:p>
                  </a:txBody>
                  <a:tcPr marL="771525" marR="9525" marT="9525" marB="0" anchor="ctr"/>
                </a:tc>
              </a:tr>
              <a:tr h="175260">
                <a:tc>
                  <a:txBody>
                    <a:bodyPr wrap="square"/>
                    <a:lstStyle/>
                    <a:p>
                      <a:pPr algn="l"/>
                      <a:r>
                        <a:rPr sz="1100" b="0" i="0">
                          <a:solidFill>
                            <a:srgbClr val="000000"/>
                          </a:solidFill>
                          <a:latin typeface="Calibri"/>
                        </a:rPr>
                        <a:t>14.3.2.</a:t>
                      </a:r>
                      <a:r>
                        <a:rPr sz="700" b="0" i="0">
                          <a:solidFill>
                            <a:srgbClr val="000000"/>
                          </a:solidFill>
                          <a:latin typeface="Times New Roman"/>
                        </a:rPr>
                        <a:t> </a:t>
                      </a:r>
                      <a:r>
                        <a:rPr sz="1100" b="0" i="0">
                          <a:solidFill>
                            <a:srgbClr val="000000"/>
                          </a:solidFill>
                          <a:latin typeface="Calibri"/>
                        </a:rPr>
                        <a:t>Distributors and Wholesalers</a:t>
                      </a:r>
                      <a:endParaRPr sz="1100"/>
                    </a:p>
                  </a:txBody>
                  <a:tcPr marL="771525" marR="9525" marT="9525" marB="0" anchor="ctr"/>
                </a:tc>
              </a:tr>
              <a:tr h="175260">
                <a:tc>
                  <a:txBody>
                    <a:bodyPr wrap="square"/>
                    <a:lstStyle/>
                    <a:p>
                      <a:pPr algn="l"/>
                      <a:r>
                        <a:rPr sz="1100" b="0" i="0">
                          <a:solidFill>
                            <a:srgbClr val="000000"/>
                          </a:solidFill>
                          <a:latin typeface="Calibri"/>
                        </a:rPr>
                        <a:t>14.3.3.</a:t>
                      </a:r>
                      <a:r>
                        <a:rPr sz="700" b="0" i="0">
                          <a:solidFill>
                            <a:srgbClr val="000000"/>
                          </a:solidFill>
                          <a:latin typeface="Times New Roman"/>
                        </a:rPr>
                        <a:t> </a:t>
                      </a:r>
                      <a:r>
                        <a:rPr sz="1100" b="0" i="0">
                          <a:solidFill>
                            <a:srgbClr val="000000"/>
                          </a:solidFill>
                          <a:latin typeface="Calibri"/>
                        </a:rPr>
                        <a:t>Retail and Hardware Stores</a:t>
                      </a:r>
                      <a:endParaRPr sz="1100"/>
                    </a:p>
                  </a:txBody>
                  <a:tcPr marL="771525" marR="9525" marT="9525" marB="0" anchor="ctr"/>
                </a:tc>
              </a:tr>
              <a:tr h="175260">
                <a:tc>
                  <a:txBody>
                    <a:bodyPr wrap="square"/>
                    <a:lstStyle/>
                    <a:p>
                      <a:pPr algn="l"/>
                      <a:r>
                        <a:rPr sz="1100" b="0" i="0">
                          <a:solidFill>
                            <a:srgbClr val="000000"/>
                          </a:solidFill>
                          <a:latin typeface="Calibri"/>
                        </a:rPr>
                        <a:t>14.3.4.</a:t>
                      </a:r>
                      <a:r>
                        <a:rPr sz="700" b="0" i="0">
                          <a:solidFill>
                            <a:srgbClr val="000000"/>
                          </a:solidFill>
                          <a:latin typeface="Times New Roman"/>
                        </a:rPr>
                        <a:t> </a:t>
                      </a:r>
                      <a:r>
                        <a:rPr sz="1100" b="0" i="0">
                          <a:solidFill>
                            <a:srgbClr val="000000"/>
                          </a:solidFill>
                          <a:latin typeface="Calibri"/>
                        </a:rPr>
                        <a:t>Online Sales</a:t>
                      </a:r>
                      <a:endParaRPr sz="1100"/>
                    </a:p>
                  </a:txBody>
                  <a:tcPr marL="771525" marR="9525" marT="9525" marB="0" anchor="ctr"/>
                </a:tc>
              </a:tr>
              <a:tr h="175260">
                <a:tc>
                  <a:txBody>
                    <a:bodyPr wrap="square"/>
                    <a:lstStyle/>
                    <a:p>
                      <a:pPr algn="l"/>
                      <a:r>
                        <a:rPr sz="1100" b="0" i="0">
                          <a:solidFill>
                            <a:srgbClr val="000000"/>
                          </a:solidFill>
                          <a:latin typeface="Calibri"/>
                        </a:rPr>
                        <a:t>14.3.5.</a:t>
                      </a:r>
                      <a:r>
                        <a:rPr sz="700" b="0" i="0">
                          <a:solidFill>
                            <a:srgbClr val="000000"/>
                          </a:solidFill>
                          <a:latin typeface="Times New Roman"/>
                        </a:rPr>
                        <a:t> </a:t>
                      </a:r>
                      <a:r>
                        <a:rPr sz="1100" b="0" i="0">
                          <a:solidFill>
                            <a:srgbClr val="000000"/>
                          </a:solidFill>
                          <a:latin typeface="Calibri"/>
                        </a:rPr>
                        <a:t>Other Channels</a:t>
                      </a:r>
                      <a:endParaRPr sz="1100"/>
                    </a:p>
                  </a:txBody>
                  <a:tcPr marL="771525" marR="9525" marT="9525" marB="0" anchor="ctr"/>
                </a:tc>
              </a:tr>
              <a:tr h="175260">
                <a:tc>
                  <a:txBody>
                    <a:bodyPr wrap="square"/>
                    <a:lstStyle/>
                    <a:p>
                      <a:pPr algn="l"/>
                      <a:r>
                        <a:rPr sz="1100" b="0" i="0">
                          <a:solidFill>
                            <a:srgbClr val="0070C0"/>
                          </a:solidFill>
                          <a:latin typeface="Calibri"/>
                        </a:rPr>
                        <a:t>14.4.</a:t>
                      </a:r>
                      <a:r>
                        <a:rPr sz="700" b="0" i="0">
                          <a:solidFill>
                            <a:srgbClr val="0070C0"/>
                          </a:solidFill>
                          <a:latin typeface="Times New Roman"/>
                        </a:rPr>
                        <a:t>  </a:t>
                      </a:r>
                      <a:r>
                        <a:rPr sz="1100" b="0" i="0">
                          <a:solidFill>
                            <a:srgbClr val="0070C0"/>
                          </a:solidFill>
                          <a:latin typeface="Calibri"/>
                        </a:rPr>
                        <a:t>Market Attractiveness Analysis By Distribution Channel</a:t>
                      </a:r>
                      <a:endParaRPr sz="1100"/>
                    </a:p>
                  </a:txBody>
                  <a:tcPr marL="428625" marR="9525" marT="9525" marB="0" anchor="ctr"/>
                </a:tc>
              </a:tr>
              <a:tr h="175260">
                <a:tc>
                  <a:txBody>
                    <a:bodyPr wrap="square"/>
                    <a:lstStyle/>
                    <a:p>
                      <a:pPr algn="l"/>
                      <a:r>
                        <a:rPr sz="1100" b="1" i="0">
                          <a:solidFill>
                            <a:srgbClr val="000000"/>
                          </a:solidFill>
                          <a:latin typeface="Calibri"/>
                        </a:rPr>
                        <a:t>15.</a:t>
                      </a:r>
                      <a:r>
                        <a:rPr sz="700" b="1" i="0">
                          <a:solidFill>
                            <a:srgbClr val="000000"/>
                          </a:solidFill>
                          <a:latin typeface="Times New Roman"/>
                        </a:rPr>
                        <a:t>    </a:t>
                      </a:r>
                      <a:r>
                        <a:rPr sz="1100" b="1" i="0">
                          <a:solidFill>
                            <a:srgbClr val="000000"/>
                          </a:solidFill>
                          <a:latin typeface="Calibri"/>
                        </a:rPr>
                        <a:t>Global Waterproof Coatings Market Outlook, 2021–2036, by Region</a:t>
                      </a:r>
                      <a:endParaRPr sz="1100"/>
                    </a:p>
                  </a:txBody>
                  <a:tcPr marL="171450" marR="9525" marT="9525" marB="0" anchor="ctr"/>
                </a:tc>
              </a:tr>
              <a:tr h="175260">
                <a:tc>
                  <a:txBody>
                    <a:bodyPr wrap="square"/>
                    <a:lstStyle/>
                    <a:p>
                      <a:pPr algn="l"/>
                      <a:r>
                        <a:rPr sz="1100" b="0" i="0">
                          <a:solidFill>
                            <a:srgbClr val="0070C0"/>
                          </a:solidFill>
                          <a:latin typeface="Calibri"/>
                        </a:rPr>
                        <a:t>15.1.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15.2.</a:t>
                      </a:r>
                      <a:r>
                        <a:rPr sz="700" b="0" i="0">
                          <a:solidFill>
                            <a:srgbClr val="0070C0"/>
                          </a:solidFill>
                          <a:latin typeface="Times New Roman"/>
                        </a:rPr>
                        <a:t>  </a:t>
                      </a:r>
                      <a:r>
                        <a:rPr sz="1100" b="0" i="0">
                          <a:solidFill>
                            <a:srgbClr val="0070C0"/>
                          </a:solidFill>
                          <a:latin typeface="Calibri"/>
                        </a:rPr>
                        <a:t>Historical Market Size (US$ Mn) and Volume Analysis By Region, 2021–2025</a:t>
                      </a:r>
                      <a:endParaRPr sz="1100"/>
                    </a:p>
                  </a:txBody>
                  <a:tcPr marL="428625" marR="9525" marT="9525" marB="0" anchor="ctr"/>
                </a:tc>
              </a:tr>
              <a:tr h="175260">
                <a:tc>
                  <a:txBody>
                    <a:bodyPr wrap="square"/>
                    <a:lstStyle/>
                    <a:p>
                      <a:pPr algn="l"/>
                      <a:r>
                        <a:rPr sz="1100" b="0" i="0">
                          <a:solidFill>
                            <a:srgbClr val="0070C0"/>
                          </a:solidFill>
                          <a:latin typeface="Calibri"/>
                        </a:rPr>
                        <a:t>15.3.</a:t>
                      </a:r>
                      <a:r>
                        <a:rPr sz="700" b="0" i="0">
                          <a:solidFill>
                            <a:srgbClr val="0070C0"/>
                          </a:solidFill>
                          <a:latin typeface="Times New Roman"/>
                        </a:rPr>
                        <a:t>  </a:t>
                      </a:r>
                      <a:r>
                        <a:rPr sz="1100" b="0" i="0">
                          <a:solidFill>
                            <a:srgbClr val="0070C0"/>
                          </a:solidFill>
                          <a:latin typeface="Calibri"/>
                        </a:rPr>
                        <a:t>Market Size (US$ Mn) and Volume Analysis and Forecast By Region, 2026–2036</a:t>
                      </a:r>
                      <a:endParaRPr sz="1100"/>
                    </a:p>
                  </a:txBody>
                  <a:tcPr marL="428625" marR="9525" marT="9525" marB="0" anchor="ctr"/>
                </a:tc>
              </a:tr>
              <a:tr h="175260">
                <a:tc>
                  <a:txBody>
                    <a:bodyPr wrap="square"/>
                    <a:lstStyle/>
                    <a:p>
                      <a:pPr algn="l"/>
                      <a:r>
                        <a:rPr sz="1100" b="0" i="0">
                          <a:solidFill>
                            <a:srgbClr val="000000"/>
                          </a:solidFill>
                          <a:latin typeface="Calibri"/>
                        </a:rPr>
                        <a:t>15.3.1.</a:t>
                      </a:r>
                      <a:r>
                        <a:rPr sz="700" b="0" i="0">
                          <a:solidFill>
                            <a:srgbClr val="000000"/>
                          </a:solidFill>
                          <a:latin typeface="Times New Roman"/>
                        </a:rPr>
                        <a:t> </a:t>
                      </a:r>
                      <a:r>
                        <a:rPr sz="1100" b="0" i="0">
                          <a:solidFill>
                            <a:srgbClr val="000000"/>
                          </a:solidFill>
                          <a:latin typeface="Calibri"/>
                        </a:rPr>
                        <a:t>North America</a:t>
                      </a:r>
                      <a:endParaRPr sz="1100"/>
                    </a:p>
                  </a:txBody>
                  <a:tcPr marL="771525" marR="9525" marT="9525" marB="0" anchor="ctr"/>
                </a:tc>
              </a:tr>
              <a:tr h="175260">
                <a:tc>
                  <a:txBody>
                    <a:bodyPr wrap="square"/>
                    <a:lstStyle/>
                    <a:p>
                      <a:pPr algn="l"/>
                      <a:r>
                        <a:rPr sz="1100" b="0" i="0">
                          <a:solidFill>
                            <a:srgbClr val="000000"/>
                          </a:solidFill>
                          <a:latin typeface="Calibri"/>
                        </a:rPr>
                        <a:t>15.3.2.</a:t>
                      </a:r>
                      <a:r>
                        <a:rPr sz="700" b="0" i="0">
                          <a:solidFill>
                            <a:srgbClr val="000000"/>
                          </a:solidFill>
                          <a:latin typeface="Times New Roman"/>
                        </a:rPr>
                        <a:t> </a:t>
                      </a:r>
                      <a:r>
                        <a:rPr sz="1100" b="0" i="0">
                          <a:solidFill>
                            <a:srgbClr val="000000"/>
                          </a:solidFill>
                          <a:latin typeface="Calibri"/>
                        </a:rPr>
                        <a:t>Latin America</a:t>
                      </a:r>
                      <a:endParaRPr sz="1100"/>
                    </a:p>
                  </a:txBody>
                  <a:tcPr marL="771525" marR="9525" marT="9525" marB="0" anchor="ctr"/>
                </a:tc>
              </a:tr>
              <a:tr h="175260">
                <a:tc>
                  <a:txBody>
                    <a:bodyPr wrap="square"/>
                    <a:lstStyle/>
                    <a:p>
                      <a:pPr algn="l"/>
                      <a:r>
                        <a:rPr sz="1100" b="0" i="0">
                          <a:solidFill>
                            <a:srgbClr val="000000"/>
                          </a:solidFill>
                          <a:latin typeface="Calibri"/>
                        </a:rPr>
                        <a:t>15.3.3.</a:t>
                      </a:r>
                      <a:r>
                        <a:rPr sz="700" b="0" i="0">
                          <a:solidFill>
                            <a:srgbClr val="000000"/>
                          </a:solidFill>
                          <a:latin typeface="Times New Roman"/>
                        </a:rPr>
                        <a:t> </a:t>
                      </a:r>
                      <a:r>
                        <a:rPr sz="1100" b="0" i="0">
                          <a:solidFill>
                            <a:srgbClr val="000000"/>
                          </a:solidFill>
                          <a:latin typeface="Calibri"/>
                        </a:rPr>
                        <a:t>Western Europe</a:t>
                      </a:r>
                      <a:endParaRPr sz="1100"/>
                    </a:p>
                  </a:txBody>
                  <a:tcPr marL="771525" marR="9525" marT="9525" marB="0" anchor="ctr"/>
                </a:tc>
              </a:tr>
              <a:tr h="175260">
                <a:tc>
                  <a:txBody>
                    <a:bodyPr wrap="square"/>
                    <a:lstStyle/>
                    <a:p>
                      <a:pPr algn="l"/>
                      <a:r>
                        <a:rPr sz="1100" b="0" i="0">
                          <a:solidFill>
                            <a:srgbClr val="000000"/>
                          </a:solidFill>
                          <a:latin typeface="Calibri"/>
                        </a:rPr>
                        <a:t>15.3.4.</a:t>
                      </a:r>
                      <a:r>
                        <a:rPr sz="700" b="0" i="0">
                          <a:solidFill>
                            <a:srgbClr val="000000"/>
                          </a:solidFill>
                          <a:latin typeface="Times New Roman"/>
                        </a:rPr>
                        <a:t> </a:t>
                      </a:r>
                      <a:r>
                        <a:rPr sz="1100" b="0" i="0">
                          <a:solidFill>
                            <a:srgbClr val="000000"/>
                          </a:solidFill>
                          <a:latin typeface="Calibri"/>
                        </a:rPr>
                        <a:t>Eastern Europe</a:t>
                      </a:r>
                      <a:endParaRPr sz="1100"/>
                    </a:p>
                  </a:txBody>
                  <a:tcPr marL="771525" marR="9525" marT="9525" marB="0" anchor="ctr"/>
                </a:tc>
              </a:tr>
              <a:tr h="175260">
                <a:tc>
                  <a:txBody>
                    <a:bodyPr wrap="square"/>
                    <a:lstStyle/>
                    <a:p>
                      <a:pPr algn="l"/>
                      <a:r>
                        <a:rPr sz="1100" b="0" i="0">
                          <a:solidFill>
                            <a:srgbClr val="000000"/>
                          </a:solidFill>
                          <a:latin typeface="Calibri"/>
                        </a:rPr>
                        <a:t>15.3.5.</a:t>
                      </a:r>
                      <a:r>
                        <a:rPr sz="700" b="0" i="0">
                          <a:solidFill>
                            <a:srgbClr val="000000"/>
                          </a:solidFill>
                          <a:latin typeface="Times New Roman"/>
                        </a:rPr>
                        <a:t> </a:t>
                      </a:r>
                      <a:r>
                        <a:rPr sz="1100" b="0" i="0">
                          <a:solidFill>
                            <a:srgbClr val="000000"/>
                          </a:solidFill>
                          <a:latin typeface="Calibri"/>
                        </a:rPr>
                        <a:t>Middle East and Africa (MEA)</a:t>
                      </a:r>
                      <a:endParaRPr sz="1100"/>
                    </a:p>
                  </a:txBody>
                  <a:tcPr marL="771525" marR="9525" marT="9525" marB="0" anchor="ctr"/>
                </a:tc>
              </a:tr>
              <a:tr h="175260">
                <a:tc>
                  <a:txBody>
                    <a:bodyPr wrap="square"/>
                    <a:lstStyle/>
                    <a:p>
                      <a:pPr algn="l"/>
                      <a:r>
                        <a:rPr sz="1100" b="0" i="0">
                          <a:solidFill>
                            <a:srgbClr val="000000"/>
                          </a:solidFill>
                          <a:latin typeface="Calibri"/>
                        </a:rPr>
                        <a:t>15.3.6.</a:t>
                      </a:r>
                      <a:r>
                        <a:rPr sz="700" b="0" i="0">
                          <a:solidFill>
                            <a:srgbClr val="000000"/>
                          </a:solidFill>
                          <a:latin typeface="Times New Roman"/>
                        </a:rPr>
                        <a:t> </a:t>
                      </a:r>
                      <a:r>
                        <a:rPr sz="1100" b="0" i="0">
                          <a:solidFill>
                            <a:srgbClr val="000000"/>
                          </a:solidFill>
                          <a:latin typeface="Calibri"/>
                        </a:rPr>
                        <a:t>East Asia</a:t>
                      </a:r>
                      <a:endParaRPr sz="1100"/>
                    </a:p>
                  </a:txBody>
                  <a:tcPr marL="771525" marR="9525" marT="9525" marB="0" anchor="ctr"/>
                </a:tc>
              </a:tr>
              <a:tr h="175260">
                <a:tc>
                  <a:txBody>
                    <a:bodyPr wrap="square"/>
                    <a:lstStyle/>
                    <a:p>
                      <a:pPr algn="l"/>
                      <a:r>
                        <a:rPr sz="1100" b="0" i="0">
                          <a:solidFill>
                            <a:srgbClr val="000000"/>
                          </a:solidFill>
                          <a:latin typeface="Calibri"/>
                        </a:rPr>
                        <a:t>15.3.7.</a:t>
                      </a:r>
                      <a:r>
                        <a:rPr sz="700" b="0" i="0">
                          <a:solidFill>
                            <a:srgbClr val="000000"/>
                          </a:solidFill>
                          <a:latin typeface="Times New Roman"/>
                        </a:rPr>
                        <a:t> </a:t>
                      </a:r>
                      <a:r>
                        <a:rPr sz="1100" b="0" i="0">
                          <a:solidFill>
                            <a:srgbClr val="000000"/>
                          </a:solidFill>
                          <a:latin typeface="Calibri"/>
                        </a:rPr>
                        <a:t>South Asia and Pacific</a:t>
                      </a:r>
                      <a:endParaRPr sz="1100"/>
                    </a:p>
                  </a:txBody>
                  <a:tcPr marL="771525" marR="9525" marT="9525" marB="0" anchor="ctr"/>
                </a:tc>
              </a:tr>
              <a:tr h="175260">
                <a:tc>
                  <a:txBody>
                    <a:bodyPr wrap="square"/>
                    <a:lstStyle/>
                    <a:p>
                      <a:pPr algn="l"/>
                      <a:r>
                        <a:rPr sz="1100" b="0" i="0">
                          <a:solidFill>
                            <a:srgbClr val="0070C0"/>
                          </a:solidFill>
                          <a:latin typeface="Calibri"/>
                        </a:rPr>
                        <a:t>15.4.</a:t>
                      </a:r>
                      <a:r>
                        <a:rPr sz="700" b="0" i="0">
                          <a:solidFill>
                            <a:srgbClr val="0070C0"/>
                          </a:solidFill>
                          <a:latin typeface="Times New Roman"/>
                        </a:rPr>
                        <a:t>  </a:t>
                      </a:r>
                      <a:r>
                        <a:rPr sz="1100" b="0" i="0">
                          <a:solidFill>
                            <a:srgbClr val="0070C0"/>
                          </a:solidFill>
                          <a:latin typeface="Calibri"/>
                        </a:rPr>
                        <a:t>Market Attractiveness Analysis By Region</a:t>
                      </a:r>
                      <a:endParaRPr sz="1100"/>
                    </a:p>
                  </a:txBody>
                  <a:tcPr marL="428625" marR="9525" marT="9525" marB="0" anchor="ctr"/>
                </a:tc>
              </a:tr>
              <a:tr h="175260">
                <a:tc>
                  <a:txBody>
                    <a:bodyPr wrap="square"/>
                    <a:lstStyle/>
                    <a:p>
                      <a:pPr algn="l"/>
                      <a:r>
                        <a:rPr sz="1100" b="1" i="0">
                          <a:solidFill>
                            <a:srgbClr val="000000"/>
                          </a:solidFill>
                          <a:latin typeface="Calibri"/>
                        </a:rPr>
                        <a:t>16.</a:t>
                      </a:r>
                      <a:r>
                        <a:rPr sz="700" b="1" i="0">
                          <a:solidFill>
                            <a:srgbClr val="000000"/>
                          </a:solidFill>
                          <a:latin typeface="Times New Roman"/>
                        </a:rPr>
                        <a:t>    </a:t>
                      </a:r>
                      <a:r>
                        <a:rPr sz="1100" b="1" i="0">
                          <a:solidFill>
                            <a:srgbClr val="000000"/>
                          </a:solidFill>
                          <a:latin typeface="Calibri"/>
                        </a:rPr>
                        <a:t>North America Waterproof Coatings Market Outlook, 2021–2036</a:t>
                      </a:r>
                      <a:endParaRPr sz="1100"/>
                    </a:p>
                  </a:txBody>
                  <a:tcPr marL="171450" marR="9525" marT="9525" marB="0" anchor="ctr"/>
                </a:tc>
              </a:tr>
              <a:tr h="175260">
                <a:tc>
                  <a:txBody>
                    <a:bodyPr wrap="square"/>
                    <a:lstStyle/>
                    <a:p>
                      <a:pPr algn="l"/>
                      <a:r>
                        <a:rPr sz="1100" b="0" i="0">
                          <a:solidFill>
                            <a:srgbClr val="0070C0"/>
                          </a:solidFill>
                          <a:latin typeface="Calibri"/>
                        </a:rPr>
                        <a:t>16.1.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16.2.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r h="350520">
                <a:tc>
                  <a:txBody>
                    <a:bodyPr wrap="square"/>
                    <a:lstStyle/>
                    <a:p>
                      <a:pPr algn="l"/>
                      <a:r>
                        <a:rPr sz="1100" b="0" i="0">
                          <a:solidFill>
                            <a:srgbClr val="0070C0"/>
                          </a:solidFill>
                          <a:latin typeface="Calibri"/>
                        </a:rPr>
                        <a:t>16.3.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16.4.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16.4.1.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16.4.1.1.</a:t>
                      </a:r>
                      <a:r>
                        <a:rPr sz="700" b="0" i="1">
                          <a:solidFill>
                            <a:srgbClr val="000000"/>
                          </a:solidFill>
                          <a:latin typeface="Times New Roman"/>
                        </a:rPr>
                        <a:t> </a:t>
                      </a:r>
                      <a:r>
                        <a:rPr sz="1100" b="0" i="1">
                          <a:solidFill>
                            <a:srgbClr val="000000"/>
                          </a:solidFill>
                          <a:latin typeface="Calibri"/>
                        </a:rPr>
                        <a:t>U.S.</a:t>
                      </a:r>
                      <a:endParaRPr sz="1100"/>
                    </a:p>
                  </a:txBody>
                  <a:tcPr marL="1028700" marR="9525" marT="9525" marB="0" anchor="ctr"/>
                </a:tc>
              </a:tr>
              <a:tr h="175260">
                <a:tc>
                  <a:txBody>
                    <a:bodyPr wrap="square"/>
                    <a:lstStyle/>
                    <a:p>
                      <a:pPr algn="l"/>
                      <a:r>
                        <a:rPr sz="1100" b="0" i="1">
                          <a:solidFill>
                            <a:srgbClr val="000000"/>
                          </a:solidFill>
                          <a:latin typeface="Calibri"/>
                        </a:rPr>
                        <a:t>16.4.1.2.</a:t>
                      </a:r>
                      <a:r>
                        <a:rPr sz="700" b="0" i="1">
                          <a:solidFill>
                            <a:srgbClr val="000000"/>
                          </a:solidFill>
                          <a:latin typeface="Times New Roman"/>
                        </a:rPr>
                        <a:t> </a:t>
                      </a:r>
                      <a:r>
                        <a:rPr sz="1100" b="0" i="1">
                          <a:solidFill>
                            <a:srgbClr val="000000"/>
                          </a:solidFill>
                          <a:latin typeface="Calibri"/>
                        </a:rPr>
                        <a:t>Canada</a:t>
                      </a:r>
                      <a:endParaRPr sz="1100"/>
                    </a:p>
                  </a:txBody>
                  <a:tcPr marL="1028700" marR="9525" marT="9525" marB="0" anchor="ctr"/>
                </a:tc>
              </a:tr>
              <a:tr h="175260">
                <a:tc>
                  <a:txBody>
                    <a:bodyPr wrap="square"/>
                    <a:lstStyle/>
                    <a:p>
                      <a:pPr algn="l"/>
                      <a:r>
                        <a:rPr sz="1100" b="0" i="1">
                          <a:solidFill>
                            <a:srgbClr val="000000"/>
                          </a:solidFill>
                          <a:latin typeface="Calibri"/>
                        </a:rPr>
                        <a:t>16.4.1.3.</a:t>
                      </a:r>
                      <a:r>
                        <a:rPr sz="700" b="0" i="1">
                          <a:solidFill>
                            <a:srgbClr val="000000"/>
                          </a:solidFill>
                          <a:latin typeface="Times New Roman"/>
                        </a:rPr>
                        <a:t> </a:t>
                      </a:r>
                      <a:r>
                        <a:rPr sz="1100" b="0" i="1">
                          <a:solidFill>
                            <a:srgbClr val="000000"/>
                          </a:solidFill>
                          <a:latin typeface="Calibri"/>
                        </a:rPr>
                        <a:t>Mexico</a:t>
                      </a:r>
                      <a:endParaRPr sz="1100"/>
                    </a:p>
                  </a:txBody>
                  <a:tcPr marL="1028700" marR="9525" marT="9525" marB="0" anchor="ctr"/>
                </a:tc>
              </a:tr>
              <a:tr h="175260">
                <a:tc>
                  <a:txBody>
                    <a:bodyPr wrap="square"/>
                    <a:lstStyle/>
                    <a:p>
                      <a:pPr algn="l"/>
                      <a:r>
                        <a:rPr sz="1100" b="0" i="0">
                          <a:solidFill>
                            <a:srgbClr val="000000"/>
                          </a:solidFill>
                          <a:latin typeface="Calibri"/>
                        </a:rPr>
                        <a:t>16.4.2.</a:t>
                      </a:r>
                      <a:r>
                        <a:rPr sz="700" b="0" i="0">
                          <a:solidFill>
                            <a:srgbClr val="000000"/>
                          </a:solidFill>
                          <a:latin typeface="Times New Roman"/>
                        </a:rPr>
                        <a:t> </a:t>
                      </a:r>
                      <a:r>
                        <a:rPr sz="1100" b="0" i="0">
                          <a:solidFill>
                            <a:srgbClr val="000000"/>
                          </a:solidFill>
                          <a:latin typeface="Calibri"/>
                        </a:rPr>
                        <a:t>By Product Type / Chemistry</a:t>
                      </a:r>
                      <a:endParaRPr sz="1100"/>
                    </a:p>
                  </a:txBody>
                  <a:tcPr marL="771525" marR="9525" marT="9525" marB="0" anchor="ctr"/>
                </a:tc>
              </a:tr>
              <a:tr h="175260">
                <a:tc>
                  <a:txBody>
                    <a:bodyPr wrap="square"/>
                    <a:lstStyle/>
                    <a:p>
                      <a:pPr algn="l"/>
                      <a:r>
                        <a:rPr sz="1100" b="0" i="0">
                          <a:solidFill>
                            <a:srgbClr val="000000"/>
                          </a:solidFill>
                          <a:latin typeface="Calibri"/>
                        </a:rPr>
                        <a:t>16.4.3.</a:t>
                      </a:r>
                      <a:r>
                        <a:rPr sz="700" b="0" i="0">
                          <a:solidFill>
                            <a:srgbClr val="000000"/>
                          </a:solidFill>
                          <a:latin typeface="Times New Roman"/>
                        </a:rPr>
                        <a:t> </a:t>
                      </a:r>
                      <a:r>
                        <a:rPr sz="1100" b="0" i="0">
                          <a:solidFill>
                            <a:srgbClr val="000000"/>
                          </a:solidFill>
                          <a:latin typeface="Calibri"/>
                        </a:rPr>
                        <a:t>By Product Configuration</a:t>
                      </a:r>
                      <a:endParaRPr sz="1100"/>
                    </a:p>
                  </a:txBody>
                  <a:tcPr marL="771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16.4.4.</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16.4.5.</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16.4.6.</a:t>
                      </a:r>
                      <a:r>
                        <a:rPr sz="700" b="0" i="0">
                          <a:solidFill>
                            <a:srgbClr val="000000"/>
                          </a:solidFill>
                          <a:latin typeface="Times New Roman"/>
                        </a:rPr>
                        <a:t> </a:t>
                      </a:r>
                      <a:r>
                        <a:rPr sz="1100" b="0" i="0">
                          <a:solidFill>
                            <a:srgbClr val="000000"/>
                          </a:solidFill>
                          <a:latin typeface="Calibri"/>
                        </a:rPr>
                        <a:t>By Substrate Material</a:t>
                      </a:r>
                      <a:endParaRPr sz="1100"/>
                    </a:p>
                  </a:txBody>
                  <a:tcPr marL="771525" marR="9525" marT="9525" marB="0" anchor="ctr"/>
                </a:tc>
              </a:tr>
              <a:tr h="175260">
                <a:tc>
                  <a:txBody>
                    <a:bodyPr wrap="square"/>
                    <a:lstStyle/>
                    <a:p>
                      <a:pPr algn="l"/>
                      <a:r>
                        <a:rPr sz="1100" b="0" i="0">
                          <a:solidFill>
                            <a:srgbClr val="000000"/>
                          </a:solidFill>
                          <a:latin typeface="Calibri"/>
                        </a:rPr>
                        <a:t>16.4.7.</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16.5.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16.5.1.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16.5.2.</a:t>
                      </a:r>
                      <a:r>
                        <a:rPr sz="700" b="0" i="0">
                          <a:solidFill>
                            <a:srgbClr val="000000"/>
                          </a:solidFill>
                          <a:latin typeface="Times New Roman"/>
                        </a:rPr>
                        <a:t> </a:t>
                      </a:r>
                      <a:r>
                        <a:rPr sz="1100" b="0" i="0">
                          <a:solidFill>
                            <a:srgbClr val="000000"/>
                          </a:solidFill>
                          <a:latin typeface="Calibri"/>
                        </a:rPr>
                        <a:t>By Product Type / Chemistry</a:t>
                      </a:r>
                      <a:endParaRPr sz="1100"/>
                    </a:p>
                  </a:txBody>
                  <a:tcPr marL="771525" marR="9525" marT="9525" marB="0" anchor="ctr"/>
                </a:tc>
              </a:tr>
              <a:tr h="175260">
                <a:tc>
                  <a:txBody>
                    <a:bodyPr wrap="square"/>
                    <a:lstStyle/>
                    <a:p>
                      <a:pPr algn="l"/>
                      <a:r>
                        <a:rPr sz="1100" b="0" i="0">
                          <a:solidFill>
                            <a:srgbClr val="000000"/>
                          </a:solidFill>
                          <a:latin typeface="Calibri"/>
                        </a:rPr>
                        <a:t>16.5.3.</a:t>
                      </a:r>
                      <a:r>
                        <a:rPr sz="700" b="0" i="0">
                          <a:solidFill>
                            <a:srgbClr val="000000"/>
                          </a:solidFill>
                          <a:latin typeface="Times New Roman"/>
                        </a:rPr>
                        <a:t> </a:t>
                      </a:r>
                      <a:r>
                        <a:rPr sz="1100" b="0" i="0">
                          <a:solidFill>
                            <a:srgbClr val="000000"/>
                          </a:solidFill>
                          <a:latin typeface="Calibri"/>
                        </a:rPr>
                        <a:t>By Product Configuration</a:t>
                      </a:r>
                      <a:endParaRPr sz="1100"/>
                    </a:p>
                  </a:txBody>
                  <a:tcPr marL="771525" marR="9525" marT="9525" marB="0" anchor="ctr"/>
                </a:tc>
              </a:tr>
              <a:tr h="175260">
                <a:tc>
                  <a:txBody>
                    <a:bodyPr wrap="square"/>
                    <a:lstStyle/>
                    <a:p>
                      <a:pPr algn="l"/>
                      <a:r>
                        <a:rPr sz="1100" b="0" i="0">
                          <a:solidFill>
                            <a:srgbClr val="000000"/>
                          </a:solidFill>
                          <a:latin typeface="Calibri"/>
                        </a:rPr>
                        <a:t>16.5.4.</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16.5.5.</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16.5.6.</a:t>
                      </a:r>
                      <a:r>
                        <a:rPr sz="700" b="0" i="0">
                          <a:solidFill>
                            <a:srgbClr val="000000"/>
                          </a:solidFill>
                          <a:latin typeface="Times New Roman"/>
                        </a:rPr>
                        <a:t> </a:t>
                      </a:r>
                      <a:r>
                        <a:rPr sz="1100" b="0" i="0">
                          <a:solidFill>
                            <a:srgbClr val="000000"/>
                          </a:solidFill>
                          <a:latin typeface="Calibri"/>
                        </a:rPr>
                        <a:t>By Substrate Material</a:t>
                      </a:r>
                      <a:endParaRPr sz="1100"/>
                    </a:p>
                  </a:txBody>
                  <a:tcPr marL="771525" marR="9525" marT="9525" marB="0" anchor="ctr"/>
                </a:tc>
              </a:tr>
              <a:tr h="175260">
                <a:tc>
                  <a:txBody>
                    <a:bodyPr wrap="square"/>
                    <a:lstStyle/>
                    <a:p>
                      <a:pPr algn="l"/>
                      <a:r>
                        <a:rPr sz="1100" b="0" i="0">
                          <a:solidFill>
                            <a:srgbClr val="000000"/>
                          </a:solidFill>
                          <a:latin typeface="Calibri"/>
                        </a:rPr>
                        <a:t>16.5.7.</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16.6.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16.7.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16.8.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r>
                        <a:rPr sz="1100" b="1" i="0">
                          <a:solidFill>
                            <a:srgbClr val="000000"/>
                          </a:solidFill>
                          <a:latin typeface="Calibri"/>
                        </a:rPr>
                        <a:t>17.</a:t>
                      </a:r>
                      <a:r>
                        <a:rPr sz="700" b="1" i="0">
                          <a:solidFill>
                            <a:srgbClr val="000000"/>
                          </a:solidFill>
                          <a:latin typeface="Times New Roman"/>
                        </a:rPr>
                        <a:t>    </a:t>
                      </a:r>
                      <a:r>
                        <a:rPr sz="1100" b="1" i="0">
                          <a:solidFill>
                            <a:srgbClr val="000000"/>
                          </a:solidFill>
                          <a:latin typeface="Calibri"/>
                        </a:rPr>
                        <a:t>Latin America Waterproof Coatings Market Outlook, 2021–2036</a:t>
                      </a:r>
                      <a:endParaRPr sz="1100"/>
                    </a:p>
                  </a:txBody>
                  <a:tcPr marL="171450" marR="9525" marT="9525" marB="0" anchor="ctr"/>
                </a:tc>
              </a:tr>
              <a:tr h="175260">
                <a:tc>
                  <a:txBody>
                    <a:bodyPr wrap="square"/>
                    <a:lstStyle/>
                    <a:p>
                      <a:pPr algn="l"/>
                      <a:r>
                        <a:rPr sz="1100" b="0" i="0">
                          <a:solidFill>
                            <a:srgbClr val="0070C0"/>
                          </a:solidFill>
                          <a:latin typeface="Calibri"/>
                        </a:rPr>
                        <a:t>17.1.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17.2.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r h="350520">
                <a:tc>
                  <a:txBody>
                    <a:bodyPr wrap="square"/>
                    <a:lstStyle/>
                    <a:p>
                      <a:pPr algn="l"/>
                      <a:r>
                        <a:rPr sz="1100" b="0" i="0">
                          <a:solidFill>
                            <a:srgbClr val="0070C0"/>
                          </a:solidFill>
                          <a:latin typeface="Calibri"/>
                        </a:rPr>
                        <a:t>17.3.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17.4.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17.4.1.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17.4.1.1.</a:t>
                      </a:r>
                      <a:r>
                        <a:rPr sz="700" b="0" i="1">
                          <a:solidFill>
                            <a:srgbClr val="000000"/>
                          </a:solidFill>
                          <a:latin typeface="Times New Roman"/>
                        </a:rPr>
                        <a:t> </a:t>
                      </a:r>
                      <a:r>
                        <a:rPr sz="1100" b="0" i="1">
                          <a:solidFill>
                            <a:srgbClr val="000000"/>
                          </a:solidFill>
                          <a:latin typeface="Calibri"/>
                        </a:rPr>
                        <a:t>Brazil</a:t>
                      </a:r>
                      <a:endParaRPr sz="1100"/>
                    </a:p>
                  </a:txBody>
                  <a:tcPr marL="1028700" marR="9525" marT="9525" marB="0" anchor="ctr"/>
                </a:tc>
              </a:tr>
              <a:tr h="175260">
                <a:tc>
                  <a:txBody>
                    <a:bodyPr wrap="square"/>
                    <a:lstStyle/>
                    <a:p>
                      <a:pPr algn="l"/>
                      <a:r>
                        <a:rPr sz="1100" b="0" i="1">
                          <a:solidFill>
                            <a:srgbClr val="000000"/>
                          </a:solidFill>
                          <a:latin typeface="Calibri"/>
                        </a:rPr>
                        <a:t>17.4.1.2.</a:t>
                      </a:r>
                      <a:r>
                        <a:rPr sz="700" b="0" i="1">
                          <a:solidFill>
                            <a:srgbClr val="000000"/>
                          </a:solidFill>
                          <a:latin typeface="Times New Roman"/>
                        </a:rPr>
                        <a:t> </a:t>
                      </a:r>
                      <a:r>
                        <a:rPr sz="1100" b="0" i="1">
                          <a:solidFill>
                            <a:srgbClr val="000000"/>
                          </a:solidFill>
                          <a:latin typeface="Calibri"/>
                        </a:rPr>
                        <a:t>Argentina</a:t>
                      </a:r>
                      <a:endParaRPr sz="1100"/>
                    </a:p>
                  </a:txBody>
                  <a:tcPr marL="1028700" marR="9525" marT="9525" marB="0" anchor="ctr"/>
                </a:tc>
              </a:tr>
              <a:tr h="175260">
                <a:tc>
                  <a:txBody>
                    <a:bodyPr wrap="square"/>
                    <a:lstStyle/>
                    <a:p>
                      <a:pPr algn="l"/>
                      <a:r>
                        <a:rPr sz="1100" b="0" i="1">
                          <a:solidFill>
                            <a:srgbClr val="000000"/>
                          </a:solidFill>
                          <a:latin typeface="Calibri"/>
                        </a:rPr>
                        <a:t>17.4.1.3.</a:t>
                      </a:r>
                      <a:r>
                        <a:rPr sz="700" b="0" i="1">
                          <a:solidFill>
                            <a:srgbClr val="000000"/>
                          </a:solidFill>
                          <a:latin typeface="Times New Roman"/>
                        </a:rPr>
                        <a:t> </a:t>
                      </a:r>
                      <a:r>
                        <a:rPr sz="1100" b="0" i="1">
                          <a:solidFill>
                            <a:srgbClr val="000000"/>
                          </a:solidFill>
                          <a:latin typeface="Calibri"/>
                        </a:rPr>
                        <a:t>Rest of Latin America</a:t>
                      </a:r>
                      <a:endParaRPr sz="1100"/>
                    </a:p>
                  </a:txBody>
                  <a:tcPr marL="1028700" marR="9525" marT="9525" marB="0" anchor="ctr"/>
                </a:tc>
              </a:tr>
              <a:tr h="175260">
                <a:tc>
                  <a:txBody>
                    <a:bodyPr wrap="square"/>
                    <a:lstStyle/>
                    <a:p>
                      <a:pPr algn="l"/>
                      <a:r>
                        <a:rPr sz="1100" b="0" i="0">
                          <a:solidFill>
                            <a:srgbClr val="000000"/>
                          </a:solidFill>
                          <a:latin typeface="Calibri"/>
                        </a:rPr>
                        <a:t>17.4.2.</a:t>
                      </a:r>
                      <a:r>
                        <a:rPr sz="700" b="0" i="0">
                          <a:solidFill>
                            <a:srgbClr val="000000"/>
                          </a:solidFill>
                          <a:latin typeface="Times New Roman"/>
                        </a:rPr>
                        <a:t> </a:t>
                      </a:r>
                      <a:r>
                        <a:rPr sz="1100" b="0" i="0">
                          <a:solidFill>
                            <a:srgbClr val="000000"/>
                          </a:solidFill>
                          <a:latin typeface="Calibri"/>
                        </a:rPr>
                        <a:t>By Product Type / Chemistry</a:t>
                      </a:r>
                      <a:endParaRPr sz="1100"/>
                    </a:p>
                  </a:txBody>
                  <a:tcPr marL="771525" marR="9525" marT="9525" marB="0" anchor="ctr"/>
                </a:tc>
              </a:tr>
              <a:tr h="175260">
                <a:tc>
                  <a:txBody>
                    <a:bodyPr wrap="square"/>
                    <a:lstStyle/>
                    <a:p>
                      <a:pPr algn="l"/>
                      <a:r>
                        <a:rPr sz="1100" b="0" i="0">
                          <a:solidFill>
                            <a:srgbClr val="000000"/>
                          </a:solidFill>
                          <a:latin typeface="Calibri"/>
                        </a:rPr>
                        <a:t>17.4.3.</a:t>
                      </a:r>
                      <a:r>
                        <a:rPr sz="700" b="0" i="0">
                          <a:solidFill>
                            <a:srgbClr val="000000"/>
                          </a:solidFill>
                          <a:latin typeface="Times New Roman"/>
                        </a:rPr>
                        <a:t> </a:t>
                      </a:r>
                      <a:r>
                        <a:rPr sz="1100" b="0" i="0">
                          <a:solidFill>
                            <a:srgbClr val="000000"/>
                          </a:solidFill>
                          <a:latin typeface="Calibri"/>
                        </a:rPr>
                        <a:t>By Product Configuration</a:t>
                      </a:r>
                      <a:endParaRPr sz="1100"/>
                    </a:p>
                  </a:txBody>
                  <a:tcPr marL="771525" marR="9525" marT="9525" marB="0" anchor="ctr"/>
                </a:tc>
              </a:tr>
              <a:tr h="175260">
                <a:tc>
                  <a:txBody>
                    <a:bodyPr wrap="square"/>
                    <a:lstStyle/>
                    <a:p>
                      <a:pPr algn="l"/>
                      <a:r>
                        <a:rPr sz="1100" b="0" i="0">
                          <a:solidFill>
                            <a:srgbClr val="000000"/>
                          </a:solidFill>
                          <a:latin typeface="Calibri"/>
                        </a:rPr>
                        <a:t>17.4.4.</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17.4.5.</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17.4.6.</a:t>
                      </a:r>
                      <a:r>
                        <a:rPr sz="700" b="0" i="0">
                          <a:solidFill>
                            <a:srgbClr val="000000"/>
                          </a:solidFill>
                          <a:latin typeface="Times New Roman"/>
                        </a:rPr>
                        <a:t> </a:t>
                      </a:r>
                      <a:r>
                        <a:rPr sz="1100" b="0" i="0">
                          <a:solidFill>
                            <a:srgbClr val="000000"/>
                          </a:solidFill>
                          <a:latin typeface="Calibri"/>
                        </a:rPr>
                        <a:t>By Substrate Material</a:t>
                      </a:r>
                      <a:endParaRPr sz="1100"/>
                    </a:p>
                  </a:txBody>
                  <a:tcPr marL="771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(4/9)</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17.4.7.</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17.5.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17.5.1.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17.5.2.</a:t>
                      </a:r>
                      <a:r>
                        <a:rPr sz="700" b="0" i="0">
                          <a:solidFill>
                            <a:srgbClr val="000000"/>
                          </a:solidFill>
                          <a:latin typeface="Times New Roman"/>
                        </a:rPr>
                        <a:t> </a:t>
                      </a:r>
                      <a:r>
                        <a:rPr sz="1100" b="0" i="0">
                          <a:solidFill>
                            <a:srgbClr val="000000"/>
                          </a:solidFill>
                          <a:latin typeface="Calibri"/>
                        </a:rPr>
                        <a:t>By Product Type / Chemistry</a:t>
                      </a:r>
                      <a:endParaRPr sz="1100"/>
                    </a:p>
                  </a:txBody>
                  <a:tcPr marL="771525" marR="9525" marT="9525" marB="0" anchor="ctr"/>
                </a:tc>
              </a:tr>
              <a:tr h="175260">
                <a:tc>
                  <a:txBody>
                    <a:bodyPr wrap="square"/>
                    <a:lstStyle/>
                    <a:p>
                      <a:pPr algn="l"/>
                      <a:r>
                        <a:rPr sz="1100" b="0" i="0">
                          <a:solidFill>
                            <a:srgbClr val="000000"/>
                          </a:solidFill>
                          <a:latin typeface="Calibri"/>
                        </a:rPr>
                        <a:t>17.5.3.</a:t>
                      </a:r>
                      <a:r>
                        <a:rPr sz="700" b="0" i="0">
                          <a:solidFill>
                            <a:srgbClr val="000000"/>
                          </a:solidFill>
                          <a:latin typeface="Times New Roman"/>
                        </a:rPr>
                        <a:t> </a:t>
                      </a:r>
                      <a:r>
                        <a:rPr sz="1100" b="0" i="0">
                          <a:solidFill>
                            <a:srgbClr val="000000"/>
                          </a:solidFill>
                          <a:latin typeface="Calibri"/>
                        </a:rPr>
                        <a:t>By Product Configuration</a:t>
                      </a:r>
                      <a:endParaRPr sz="1100"/>
                    </a:p>
                  </a:txBody>
                  <a:tcPr marL="771525" marR="9525" marT="9525" marB="0" anchor="ctr"/>
                </a:tc>
              </a:tr>
              <a:tr h="175260">
                <a:tc>
                  <a:txBody>
                    <a:bodyPr wrap="square"/>
                    <a:lstStyle/>
                    <a:p>
                      <a:pPr algn="l"/>
                      <a:r>
                        <a:rPr sz="1100" b="0" i="0">
                          <a:solidFill>
                            <a:srgbClr val="000000"/>
                          </a:solidFill>
                          <a:latin typeface="Calibri"/>
                        </a:rPr>
                        <a:t>17.5.4.</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17.5.5.</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17.5.6.</a:t>
                      </a:r>
                      <a:r>
                        <a:rPr sz="700" b="0" i="0">
                          <a:solidFill>
                            <a:srgbClr val="000000"/>
                          </a:solidFill>
                          <a:latin typeface="Times New Roman"/>
                        </a:rPr>
                        <a:t> </a:t>
                      </a:r>
                      <a:r>
                        <a:rPr sz="1100" b="0" i="0">
                          <a:solidFill>
                            <a:srgbClr val="000000"/>
                          </a:solidFill>
                          <a:latin typeface="Calibri"/>
                        </a:rPr>
                        <a:t>By Substrate Material</a:t>
                      </a:r>
                      <a:endParaRPr sz="1100"/>
                    </a:p>
                  </a:txBody>
                  <a:tcPr marL="771525" marR="9525" marT="9525" marB="0" anchor="ctr"/>
                </a:tc>
              </a:tr>
              <a:tr h="175260">
                <a:tc>
                  <a:txBody>
                    <a:bodyPr wrap="square"/>
                    <a:lstStyle/>
                    <a:p>
                      <a:pPr algn="l"/>
                      <a:r>
                        <a:rPr sz="1100" b="0" i="0">
                          <a:solidFill>
                            <a:srgbClr val="000000"/>
                          </a:solidFill>
                          <a:latin typeface="Calibri"/>
                        </a:rPr>
                        <a:t>17.5.7.</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17.6.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17.7.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17.8.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r>
                        <a:rPr sz="1100" b="1" i="0">
                          <a:solidFill>
                            <a:srgbClr val="000000"/>
                          </a:solidFill>
                          <a:latin typeface="Calibri"/>
                        </a:rPr>
                        <a:t>18.</a:t>
                      </a:r>
                      <a:r>
                        <a:rPr sz="700" b="1" i="0">
                          <a:solidFill>
                            <a:srgbClr val="000000"/>
                          </a:solidFill>
                          <a:latin typeface="Times New Roman"/>
                        </a:rPr>
                        <a:t>    </a:t>
                      </a:r>
                      <a:r>
                        <a:rPr sz="1100" b="1" i="0">
                          <a:solidFill>
                            <a:srgbClr val="000000"/>
                          </a:solidFill>
                          <a:latin typeface="Calibri"/>
                        </a:rPr>
                        <a:t>Western Europe Waterproof Coatings Market Outlook, 2021–2036</a:t>
                      </a:r>
                      <a:endParaRPr sz="1100"/>
                    </a:p>
                  </a:txBody>
                  <a:tcPr marL="171450" marR="9525" marT="9525" marB="0" anchor="ctr"/>
                </a:tc>
              </a:tr>
              <a:tr h="175260">
                <a:tc>
                  <a:txBody>
                    <a:bodyPr wrap="square"/>
                    <a:lstStyle/>
                    <a:p>
                      <a:pPr algn="l"/>
                      <a:r>
                        <a:rPr sz="1100" b="0" i="0">
                          <a:solidFill>
                            <a:srgbClr val="0070C0"/>
                          </a:solidFill>
                          <a:latin typeface="Calibri"/>
                        </a:rPr>
                        <a:t>18.1.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18.2.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r h="350520">
                <a:tc>
                  <a:txBody>
                    <a:bodyPr wrap="square"/>
                    <a:lstStyle/>
                    <a:p>
                      <a:pPr algn="l"/>
                      <a:r>
                        <a:rPr sz="1100" b="0" i="0">
                          <a:solidFill>
                            <a:srgbClr val="0070C0"/>
                          </a:solidFill>
                          <a:latin typeface="Calibri"/>
                        </a:rPr>
                        <a:t>18.3.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18.4.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18.4.1.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18.4.1.1.</a:t>
                      </a:r>
                      <a:r>
                        <a:rPr sz="700" b="0" i="1">
                          <a:solidFill>
                            <a:srgbClr val="000000"/>
                          </a:solidFill>
                          <a:latin typeface="Times New Roman"/>
                        </a:rPr>
                        <a:t> </a:t>
                      </a:r>
                      <a:r>
                        <a:rPr sz="1100" b="0" i="1">
                          <a:solidFill>
                            <a:srgbClr val="000000"/>
                          </a:solidFill>
                          <a:latin typeface="Calibri"/>
                        </a:rPr>
                        <a:t>Germany</a:t>
                      </a:r>
                      <a:endParaRPr sz="1100"/>
                    </a:p>
                  </a:txBody>
                  <a:tcPr marL="1028700" marR="9525" marT="9525" marB="0" anchor="ctr"/>
                </a:tc>
              </a:tr>
              <a:tr h="175260">
                <a:tc>
                  <a:txBody>
                    <a:bodyPr wrap="square"/>
                    <a:lstStyle/>
                    <a:p>
                      <a:pPr algn="l"/>
                      <a:r>
                        <a:rPr sz="1100" b="0" i="1">
                          <a:solidFill>
                            <a:srgbClr val="000000"/>
                          </a:solidFill>
                          <a:latin typeface="Calibri"/>
                        </a:rPr>
                        <a:t>18.4.1.2.</a:t>
                      </a:r>
                      <a:r>
                        <a:rPr sz="700" b="0" i="1">
                          <a:solidFill>
                            <a:srgbClr val="000000"/>
                          </a:solidFill>
                          <a:latin typeface="Times New Roman"/>
                        </a:rPr>
                        <a:t> </a:t>
                      </a:r>
                      <a:r>
                        <a:rPr sz="1100" b="0" i="1">
                          <a:solidFill>
                            <a:srgbClr val="000000"/>
                          </a:solidFill>
                          <a:latin typeface="Calibri"/>
                        </a:rPr>
                        <a:t>Italy</a:t>
                      </a:r>
                      <a:endParaRPr sz="1100"/>
                    </a:p>
                  </a:txBody>
                  <a:tcPr marL="1028700" marR="9525" marT="9525" marB="0" anchor="ctr"/>
                </a:tc>
              </a:tr>
              <a:tr h="175260">
                <a:tc>
                  <a:txBody>
                    <a:bodyPr wrap="square"/>
                    <a:lstStyle/>
                    <a:p>
                      <a:pPr algn="l"/>
                      <a:r>
                        <a:rPr sz="1100" b="0" i="1">
                          <a:solidFill>
                            <a:srgbClr val="000000"/>
                          </a:solidFill>
                          <a:latin typeface="Calibri"/>
                        </a:rPr>
                        <a:t>18.4.1.3.</a:t>
                      </a:r>
                      <a:r>
                        <a:rPr sz="700" b="0" i="1">
                          <a:solidFill>
                            <a:srgbClr val="000000"/>
                          </a:solidFill>
                          <a:latin typeface="Times New Roman"/>
                        </a:rPr>
                        <a:t> </a:t>
                      </a:r>
                      <a:r>
                        <a:rPr sz="1100" b="0" i="1">
                          <a:solidFill>
                            <a:srgbClr val="000000"/>
                          </a:solidFill>
                          <a:latin typeface="Calibri"/>
                        </a:rPr>
                        <a:t>France</a:t>
                      </a:r>
                      <a:endParaRPr sz="1100"/>
                    </a:p>
                  </a:txBody>
                  <a:tcPr marL="1028700" marR="9525" marT="9525" marB="0" anchor="ctr"/>
                </a:tc>
              </a:tr>
              <a:tr h="175260">
                <a:tc>
                  <a:txBody>
                    <a:bodyPr wrap="square"/>
                    <a:lstStyle/>
                    <a:p>
                      <a:pPr algn="l"/>
                      <a:r>
                        <a:rPr sz="1100" b="0" i="1">
                          <a:solidFill>
                            <a:srgbClr val="000000"/>
                          </a:solidFill>
                          <a:latin typeface="Calibri"/>
                        </a:rPr>
                        <a:t>18.4.1.4.</a:t>
                      </a:r>
                      <a:r>
                        <a:rPr sz="700" b="0" i="1">
                          <a:solidFill>
                            <a:srgbClr val="000000"/>
                          </a:solidFill>
                          <a:latin typeface="Times New Roman"/>
                        </a:rPr>
                        <a:t> </a:t>
                      </a:r>
                      <a:r>
                        <a:rPr sz="1100" b="0" i="1">
                          <a:solidFill>
                            <a:srgbClr val="000000"/>
                          </a:solidFill>
                          <a:latin typeface="Calibri"/>
                        </a:rPr>
                        <a:t>U.K.</a:t>
                      </a:r>
                      <a:endParaRPr sz="1100"/>
                    </a:p>
                  </a:txBody>
                  <a:tcPr marL="1028700" marR="9525" marT="9525" marB="0" anchor="ctr"/>
                </a:tc>
              </a:tr>
              <a:tr h="175260">
                <a:tc>
                  <a:txBody>
                    <a:bodyPr wrap="square"/>
                    <a:lstStyle/>
                    <a:p>
                      <a:pPr algn="l"/>
                      <a:r>
                        <a:rPr sz="1100" b="0" i="1">
                          <a:solidFill>
                            <a:srgbClr val="000000"/>
                          </a:solidFill>
                          <a:latin typeface="Calibri"/>
                        </a:rPr>
                        <a:t>18.4.1.5.</a:t>
                      </a:r>
                      <a:r>
                        <a:rPr sz="700" b="0" i="1">
                          <a:solidFill>
                            <a:srgbClr val="000000"/>
                          </a:solidFill>
                          <a:latin typeface="Times New Roman"/>
                        </a:rPr>
                        <a:t> </a:t>
                      </a:r>
                      <a:r>
                        <a:rPr sz="1100" b="0" i="1">
                          <a:solidFill>
                            <a:srgbClr val="000000"/>
                          </a:solidFill>
                          <a:latin typeface="Calibri"/>
                        </a:rPr>
                        <a:t>Spain</a:t>
                      </a:r>
                      <a:endParaRPr sz="1100"/>
                    </a:p>
                  </a:txBody>
                  <a:tcPr marL="1028700" marR="9525" marT="9525" marB="0" anchor="ctr"/>
                </a:tc>
              </a:tr>
              <a:tr h="175260">
                <a:tc>
                  <a:txBody>
                    <a:bodyPr wrap="square"/>
                    <a:lstStyle/>
                    <a:p>
                      <a:pPr algn="l"/>
                      <a:r>
                        <a:rPr sz="1100" b="0" i="1">
                          <a:solidFill>
                            <a:srgbClr val="000000"/>
                          </a:solidFill>
                          <a:latin typeface="Calibri"/>
                        </a:rPr>
                        <a:t>18.4.1.6.</a:t>
                      </a:r>
                      <a:r>
                        <a:rPr sz="700" b="0" i="1">
                          <a:solidFill>
                            <a:srgbClr val="000000"/>
                          </a:solidFill>
                          <a:latin typeface="Times New Roman"/>
                        </a:rPr>
                        <a:t> </a:t>
                      </a:r>
                      <a:r>
                        <a:rPr sz="1100" b="0" i="1">
                          <a:solidFill>
                            <a:srgbClr val="000000"/>
                          </a:solidFill>
                          <a:latin typeface="Calibri"/>
                        </a:rPr>
                        <a:t>BENELUX</a:t>
                      </a:r>
                      <a:endParaRPr sz="1100"/>
                    </a:p>
                  </a:txBody>
                  <a:tcPr marL="1028700" marR="9525" marT="9525" marB="0" anchor="ctr"/>
                </a:tc>
              </a:tr>
              <a:tr h="175260">
                <a:tc>
                  <a:txBody>
                    <a:bodyPr wrap="square"/>
                    <a:lstStyle/>
                    <a:p>
                      <a:pPr algn="l"/>
                      <a:r>
                        <a:rPr sz="1100" b="0" i="1">
                          <a:solidFill>
                            <a:srgbClr val="000000"/>
                          </a:solidFill>
                          <a:latin typeface="Calibri"/>
                        </a:rPr>
                        <a:t>18.4.1.7.</a:t>
                      </a:r>
                      <a:r>
                        <a:rPr sz="700" b="0" i="1">
                          <a:solidFill>
                            <a:srgbClr val="000000"/>
                          </a:solidFill>
                          <a:latin typeface="Times New Roman"/>
                        </a:rPr>
                        <a:t> </a:t>
                      </a:r>
                      <a:r>
                        <a:rPr sz="1100" b="0" i="1">
                          <a:solidFill>
                            <a:srgbClr val="000000"/>
                          </a:solidFill>
                          <a:latin typeface="Calibri"/>
                        </a:rPr>
                        <a:t>Nordic</a:t>
                      </a:r>
                      <a:endParaRPr sz="1100"/>
                    </a:p>
                  </a:txBody>
                  <a:tcPr marL="1028700" marR="9525" marT="9525" marB="0" anchor="ctr"/>
                </a:tc>
              </a:tr>
              <a:tr h="175260">
                <a:tc>
                  <a:txBody>
                    <a:bodyPr wrap="square"/>
                    <a:lstStyle/>
                    <a:p>
                      <a:pPr algn="l"/>
                      <a:r>
                        <a:rPr sz="1100" b="0" i="1">
                          <a:solidFill>
                            <a:srgbClr val="000000"/>
                          </a:solidFill>
                          <a:latin typeface="Calibri"/>
                        </a:rPr>
                        <a:t>18.4.1.8.</a:t>
                      </a:r>
                      <a:r>
                        <a:rPr sz="700" b="0" i="1">
                          <a:solidFill>
                            <a:srgbClr val="000000"/>
                          </a:solidFill>
                          <a:latin typeface="Times New Roman"/>
                        </a:rPr>
                        <a:t> </a:t>
                      </a:r>
                      <a:r>
                        <a:rPr sz="1100" b="0" i="1">
                          <a:solidFill>
                            <a:srgbClr val="000000"/>
                          </a:solidFill>
                          <a:latin typeface="Calibri"/>
                        </a:rPr>
                        <a:t>Rest of Western Europe</a:t>
                      </a:r>
                      <a:endParaRPr sz="1100"/>
                    </a:p>
                  </a:txBody>
                  <a:tcPr marL="1028700" marR="9525" marT="9525" marB="0" anchor="ctr"/>
                </a:tc>
              </a:tr>
              <a:tr h="175260">
                <a:tc>
                  <a:txBody>
                    <a:bodyPr wrap="square"/>
                    <a:lstStyle/>
                    <a:p>
                      <a:pPr algn="l"/>
                      <a:r>
                        <a:rPr sz="1100" b="0" i="0">
                          <a:solidFill>
                            <a:srgbClr val="000000"/>
                          </a:solidFill>
                          <a:latin typeface="Calibri"/>
                        </a:rPr>
                        <a:t>18.4.2.</a:t>
                      </a:r>
                      <a:r>
                        <a:rPr sz="700" b="0" i="0">
                          <a:solidFill>
                            <a:srgbClr val="000000"/>
                          </a:solidFill>
                          <a:latin typeface="Times New Roman"/>
                        </a:rPr>
                        <a:t> </a:t>
                      </a:r>
                      <a:r>
                        <a:rPr sz="1100" b="0" i="0">
                          <a:solidFill>
                            <a:srgbClr val="000000"/>
                          </a:solidFill>
                          <a:latin typeface="Calibri"/>
                        </a:rPr>
                        <a:t>By Product Type / Chemistry</a:t>
                      </a:r>
                      <a:endParaRPr sz="1100"/>
                    </a:p>
                  </a:txBody>
                  <a:tcPr marL="771525" marR="9525" marT="9525" marB="0" anchor="ctr"/>
                </a:tc>
              </a:tr>
              <a:tr h="175260">
                <a:tc>
                  <a:txBody>
                    <a:bodyPr wrap="square"/>
                    <a:lstStyle/>
                    <a:p>
                      <a:pPr algn="l"/>
                      <a:r>
                        <a:rPr sz="1100" b="0" i="0">
                          <a:solidFill>
                            <a:srgbClr val="000000"/>
                          </a:solidFill>
                          <a:latin typeface="Calibri"/>
                        </a:rPr>
                        <a:t>18.4.3.</a:t>
                      </a:r>
                      <a:r>
                        <a:rPr sz="700" b="0" i="0">
                          <a:solidFill>
                            <a:srgbClr val="000000"/>
                          </a:solidFill>
                          <a:latin typeface="Times New Roman"/>
                        </a:rPr>
                        <a:t> </a:t>
                      </a:r>
                      <a:r>
                        <a:rPr sz="1100" b="0" i="0">
                          <a:solidFill>
                            <a:srgbClr val="000000"/>
                          </a:solidFill>
                          <a:latin typeface="Calibri"/>
                        </a:rPr>
                        <a:t>By Product Configuration</a:t>
                      </a:r>
                      <a:endParaRPr sz="1100"/>
                    </a:p>
                  </a:txBody>
                  <a:tcPr marL="771525" marR="9525" marT="9525" marB="0" anchor="ctr"/>
                </a:tc>
              </a:tr>
              <a:tr h="175260">
                <a:tc>
                  <a:txBody>
                    <a:bodyPr wrap="square"/>
                    <a:lstStyle/>
                    <a:p>
                      <a:pPr algn="l"/>
                      <a:r>
                        <a:rPr sz="1100" b="0" i="0">
                          <a:solidFill>
                            <a:srgbClr val="000000"/>
                          </a:solidFill>
                          <a:latin typeface="Calibri"/>
                        </a:rPr>
                        <a:t>18.4.4.</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18.4.5.</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18.4.6.</a:t>
                      </a:r>
                      <a:r>
                        <a:rPr sz="700" b="0" i="0">
                          <a:solidFill>
                            <a:srgbClr val="000000"/>
                          </a:solidFill>
                          <a:latin typeface="Times New Roman"/>
                        </a:rPr>
                        <a:t> </a:t>
                      </a:r>
                      <a:r>
                        <a:rPr sz="1100" b="0" i="0">
                          <a:solidFill>
                            <a:srgbClr val="000000"/>
                          </a:solidFill>
                          <a:latin typeface="Calibri"/>
                        </a:rPr>
                        <a:t>By Substrate Material</a:t>
                      </a:r>
                      <a:endParaRPr sz="1100"/>
                    </a:p>
                  </a:txBody>
                  <a:tcPr marL="771525" marR="9525" marT="9525" marB="0" anchor="ctr"/>
                </a:tc>
              </a:tr>
              <a:tr h="175260">
                <a:tc>
                  <a:txBody>
                    <a:bodyPr wrap="square"/>
                    <a:lstStyle/>
                    <a:p>
                      <a:pPr algn="l"/>
                      <a:r>
                        <a:rPr sz="1100" b="0" i="0">
                          <a:solidFill>
                            <a:srgbClr val="000000"/>
                          </a:solidFill>
                          <a:latin typeface="Calibri"/>
                        </a:rPr>
                        <a:t>18.4.7.</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18.5.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18.5.1.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18.5.2.</a:t>
                      </a:r>
                      <a:r>
                        <a:rPr sz="700" b="0" i="0">
                          <a:solidFill>
                            <a:srgbClr val="000000"/>
                          </a:solidFill>
                          <a:latin typeface="Times New Roman"/>
                        </a:rPr>
                        <a:t> </a:t>
                      </a:r>
                      <a:r>
                        <a:rPr sz="1100" b="0" i="0">
                          <a:solidFill>
                            <a:srgbClr val="000000"/>
                          </a:solidFill>
                          <a:latin typeface="Calibri"/>
                        </a:rPr>
                        <a:t>By Product Type / Chemistry</a:t>
                      </a:r>
                      <a:endParaRPr sz="1100"/>
                    </a:p>
                  </a:txBody>
                  <a:tcPr marL="771525" marR="9525" marT="9525" marB="0" anchor="ctr"/>
                </a:tc>
              </a:tr>
              <a:tr h="175260">
                <a:tc>
                  <a:txBody>
                    <a:bodyPr wrap="square"/>
                    <a:lstStyle/>
                    <a:p>
                      <a:pPr algn="l"/>
                      <a:r>
                        <a:rPr sz="1100" b="0" i="0">
                          <a:solidFill>
                            <a:srgbClr val="000000"/>
                          </a:solidFill>
                          <a:latin typeface="Calibri"/>
                        </a:rPr>
                        <a:t>18.5.3.</a:t>
                      </a:r>
                      <a:r>
                        <a:rPr sz="700" b="0" i="0">
                          <a:solidFill>
                            <a:srgbClr val="000000"/>
                          </a:solidFill>
                          <a:latin typeface="Times New Roman"/>
                        </a:rPr>
                        <a:t> </a:t>
                      </a:r>
                      <a:r>
                        <a:rPr sz="1100" b="0" i="0">
                          <a:solidFill>
                            <a:srgbClr val="000000"/>
                          </a:solidFill>
                          <a:latin typeface="Calibri"/>
                        </a:rPr>
                        <a:t>By Product Configuration</a:t>
                      </a:r>
                      <a:endParaRPr sz="1100"/>
                    </a:p>
                  </a:txBody>
                  <a:tcPr marL="771525" marR="9525" marT="9525" marB="0" anchor="ctr"/>
                </a:tc>
              </a:tr>
              <a:tr h="175260">
                <a:tc>
                  <a:txBody>
                    <a:bodyPr wrap="square"/>
                    <a:lstStyle/>
                    <a:p>
                      <a:pPr algn="l"/>
                      <a:r>
                        <a:rPr sz="1100" b="0" i="0">
                          <a:solidFill>
                            <a:srgbClr val="000000"/>
                          </a:solidFill>
                          <a:latin typeface="Calibri"/>
                        </a:rPr>
                        <a:t>18.5.4.</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18.5.5.</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18.5.6.</a:t>
                      </a:r>
                      <a:r>
                        <a:rPr sz="700" b="0" i="0">
                          <a:solidFill>
                            <a:srgbClr val="000000"/>
                          </a:solidFill>
                          <a:latin typeface="Times New Roman"/>
                        </a:rPr>
                        <a:t> </a:t>
                      </a:r>
                      <a:r>
                        <a:rPr sz="1100" b="0" i="0">
                          <a:solidFill>
                            <a:srgbClr val="000000"/>
                          </a:solidFill>
                          <a:latin typeface="Calibri"/>
                        </a:rPr>
                        <a:t>By Substrate Material</a:t>
                      </a:r>
                      <a:endParaRPr sz="1100"/>
                    </a:p>
                  </a:txBody>
                  <a:tcPr marL="771525" marR="9525" marT="9525" marB="0" anchor="ctr"/>
                </a:tc>
              </a:tr>
              <a:tr h="175260">
                <a:tc>
                  <a:txBody>
                    <a:bodyPr wrap="square"/>
                    <a:lstStyle/>
                    <a:p>
                      <a:pPr algn="l"/>
                      <a:r>
                        <a:rPr sz="1100" b="0" i="0">
                          <a:solidFill>
                            <a:srgbClr val="000000"/>
                          </a:solidFill>
                          <a:latin typeface="Calibri"/>
                        </a:rPr>
                        <a:t>18.5.7.</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18.6.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18.7.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18.8.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r>
                        <a:rPr sz="1100" b="1" i="0">
                          <a:solidFill>
                            <a:srgbClr val="000000"/>
                          </a:solidFill>
                          <a:latin typeface="Calibri"/>
                        </a:rPr>
                        <a:t>19.</a:t>
                      </a:r>
                      <a:r>
                        <a:rPr sz="700" b="1" i="0">
                          <a:solidFill>
                            <a:srgbClr val="000000"/>
                          </a:solidFill>
                          <a:latin typeface="Times New Roman"/>
                        </a:rPr>
                        <a:t>    </a:t>
                      </a:r>
                      <a:r>
                        <a:rPr sz="1100" b="1" i="0">
                          <a:solidFill>
                            <a:srgbClr val="000000"/>
                          </a:solidFill>
                          <a:latin typeface="Calibri"/>
                        </a:rPr>
                        <a:t>Eastern Europe Waterproof Coatings Market Outlook, 2021–2036</a:t>
                      </a:r>
                      <a:endParaRPr sz="1100"/>
                    </a:p>
                  </a:txBody>
                  <a:tcPr marL="171450" marR="9525" marT="9525" marB="0" anchor="ctr"/>
                </a:tc>
              </a:tr>
              <a:tr h="175260">
                <a:tc>
                  <a:txBody>
                    <a:bodyPr wrap="square"/>
                    <a:lstStyle/>
                    <a:p>
                      <a:pPr algn="l"/>
                      <a:r>
                        <a:rPr sz="1100" b="0" i="0">
                          <a:solidFill>
                            <a:srgbClr val="0070C0"/>
                          </a:solidFill>
                          <a:latin typeface="Calibri"/>
                        </a:rPr>
                        <a:t>19.1.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19.2.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r h="350520">
                <a:tc>
                  <a:txBody>
                    <a:bodyPr wrap="square"/>
                    <a:lstStyle/>
                    <a:p>
                      <a:pPr algn="l"/>
                      <a:r>
                        <a:rPr sz="1100" b="0" i="0">
                          <a:solidFill>
                            <a:srgbClr val="0070C0"/>
                          </a:solidFill>
                          <a:latin typeface="Calibri"/>
                        </a:rPr>
                        <a:t>19.3.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19.4.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19.4.1.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19.4.1.1.</a:t>
                      </a:r>
                      <a:r>
                        <a:rPr sz="700" b="0" i="1">
                          <a:solidFill>
                            <a:srgbClr val="000000"/>
                          </a:solidFill>
                          <a:latin typeface="Times New Roman"/>
                        </a:rPr>
                        <a:t> </a:t>
                      </a:r>
                      <a:r>
                        <a:rPr sz="1100" b="0" i="1">
                          <a:solidFill>
                            <a:srgbClr val="000000"/>
                          </a:solidFill>
                          <a:latin typeface="Calibri"/>
                        </a:rPr>
                        <a:t>Russia</a:t>
                      </a:r>
                      <a:endParaRPr sz="1100"/>
                    </a:p>
                  </a:txBody>
                  <a:tcPr marL="1028700" marR="9525" marT="9525" marB="0" anchor="ctr"/>
                </a:tc>
              </a:tr>
              <a:tr h="175260">
                <a:tc>
                  <a:txBody>
                    <a:bodyPr wrap="square"/>
                    <a:lstStyle/>
                    <a:p>
                      <a:pPr algn="l"/>
                      <a:r>
                        <a:rPr sz="1100" b="0" i="1">
                          <a:solidFill>
                            <a:srgbClr val="000000"/>
                          </a:solidFill>
                          <a:latin typeface="Calibri"/>
                        </a:rPr>
                        <a:t>19.4.1.2.</a:t>
                      </a:r>
                      <a:r>
                        <a:rPr sz="700" b="0" i="1">
                          <a:solidFill>
                            <a:srgbClr val="000000"/>
                          </a:solidFill>
                          <a:latin typeface="Times New Roman"/>
                        </a:rPr>
                        <a:t> </a:t>
                      </a:r>
                      <a:r>
                        <a:rPr sz="1100" b="0" i="1">
                          <a:solidFill>
                            <a:srgbClr val="000000"/>
                          </a:solidFill>
                          <a:latin typeface="Calibri"/>
                        </a:rPr>
                        <a:t>Hungary</a:t>
                      </a:r>
                      <a:endParaRPr sz="1100"/>
                    </a:p>
                  </a:txBody>
                  <a:tcPr marL="1028700" marR="9525" marT="9525" marB="0" anchor="ctr"/>
                </a:tc>
              </a:tr>
              <a:tr h="175260">
                <a:tc>
                  <a:txBody>
                    <a:bodyPr wrap="square"/>
                    <a:lstStyle/>
                    <a:p>
                      <a:pPr algn="l"/>
                      <a:r>
                        <a:rPr sz="1100" b="0" i="1">
                          <a:solidFill>
                            <a:srgbClr val="000000"/>
                          </a:solidFill>
                          <a:latin typeface="Calibri"/>
                        </a:rPr>
                        <a:t>19.4.1.3.</a:t>
                      </a:r>
                      <a:r>
                        <a:rPr sz="700" b="0" i="1">
                          <a:solidFill>
                            <a:srgbClr val="000000"/>
                          </a:solidFill>
                          <a:latin typeface="Times New Roman"/>
                        </a:rPr>
                        <a:t> </a:t>
                      </a:r>
                      <a:r>
                        <a:rPr sz="1100" b="0" i="1">
                          <a:solidFill>
                            <a:srgbClr val="000000"/>
                          </a:solidFill>
                          <a:latin typeface="Calibri"/>
                        </a:rPr>
                        <a:t>Poland</a:t>
                      </a:r>
                      <a:endParaRPr sz="1100"/>
                    </a:p>
                  </a:txBody>
                  <a:tcPr marL="1028700" marR="9525" marT="9525" marB="0" anchor="ctr"/>
                </a:tc>
              </a:tr>
              <a:tr h="175260">
                <a:tc>
                  <a:txBody>
                    <a:bodyPr wrap="square"/>
                    <a:lstStyle/>
                    <a:p>
                      <a:pPr algn="l"/>
                      <a:r>
                        <a:rPr sz="1100" b="0" i="1">
                          <a:solidFill>
                            <a:srgbClr val="000000"/>
                          </a:solidFill>
                          <a:latin typeface="Calibri"/>
                        </a:rPr>
                        <a:t>19.4.1.4.</a:t>
                      </a:r>
                      <a:r>
                        <a:rPr sz="700" b="0" i="1">
                          <a:solidFill>
                            <a:srgbClr val="000000"/>
                          </a:solidFill>
                          <a:latin typeface="Times New Roman"/>
                        </a:rPr>
                        <a:t> </a:t>
                      </a:r>
                      <a:r>
                        <a:rPr sz="1100" b="0" i="1">
                          <a:solidFill>
                            <a:srgbClr val="000000"/>
                          </a:solidFill>
                          <a:latin typeface="Calibri"/>
                        </a:rPr>
                        <a:t>Balkan &amp; Baltics</a:t>
                      </a:r>
                      <a:endParaRPr sz="1100"/>
                    </a:p>
                  </a:txBody>
                  <a:tcPr marL="1028700" marR="9525" marT="9525" marB="0" anchor="ctr"/>
                </a:tc>
              </a:tr>
              <a:tr h="175260">
                <a:tc>
                  <a:txBody>
                    <a:bodyPr wrap="square"/>
                    <a:lstStyle/>
                    <a:p>
                      <a:pPr algn="l"/>
                      <a:r>
                        <a:rPr sz="1100" b="0" i="1">
                          <a:solidFill>
                            <a:srgbClr val="000000"/>
                          </a:solidFill>
                          <a:latin typeface="Calibri"/>
                        </a:rPr>
                        <a:t>19.4.1.5.</a:t>
                      </a:r>
                      <a:r>
                        <a:rPr sz="700" b="0" i="1">
                          <a:solidFill>
                            <a:srgbClr val="000000"/>
                          </a:solidFill>
                          <a:latin typeface="Times New Roman"/>
                        </a:rPr>
                        <a:t> </a:t>
                      </a:r>
                      <a:r>
                        <a:rPr sz="1100" b="0" i="1">
                          <a:solidFill>
                            <a:srgbClr val="000000"/>
                          </a:solidFill>
                          <a:latin typeface="Calibri"/>
                        </a:rPr>
                        <a:t>Rest of Eastern Europe</a:t>
                      </a:r>
                      <a:endParaRPr sz="1100"/>
                    </a:p>
                  </a:txBody>
                  <a:tcPr marL="1028700" marR="9525" marT="9525" marB="0" anchor="ctr"/>
                </a:tc>
              </a:tr>
              <a:tr h="175260">
                <a:tc>
                  <a:txBody>
                    <a:bodyPr wrap="square"/>
                    <a:lstStyle/>
                    <a:p>
                      <a:pPr algn="l"/>
                      <a:r>
                        <a:rPr sz="1100" b="0" i="0">
                          <a:solidFill>
                            <a:srgbClr val="000000"/>
                          </a:solidFill>
                          <a:latin typeface="Calibri"/>
                        </a:rPr>
                        <a:t>19.4.2.</a:t>
                      </a:r>
                      <a:r>
                        <a:rPr sz="700" b="0" i="0">
                          <a:solidFill>
                            <a:srgbClr val="000000"/>
                          </a:solidFill>
                          <a:latin typeface="Times New Roman"/>
                        </a:rPr>
                        <a:t> </a:t>
                      </a:r>
                      <a:r>
                        <a:rPr sz="1100" b="0" i="0">
                          <a:solidFill>
                            <a:srgbClr val="000000"/>
                          </a:solidFill>
                          <a:latin typeface="Calibri"/>
                        </a:rPr>
                        <a:t>By Product Type / Chemistry</a:t>
                      </a:r>
                      <a:endParaRPr sz="1100"/>
                    </a:p>
                  </a:txBody>
                  <a:tcPr marL="771525" marR="9525" marT="9525" marB="0" anchor="ctr"/>
                </a:tc>
              </a:tr>
              <a:tr h="175260">
                <a:tc>
                  <a:txBody>
                    <a:bodyPr wrap="square"/>
                    <a:lstStyle/>
                    <a:p>
                      <a:pPr algn="l"/>
                      <a:r>
                        <a:rPr sz="1100" b="0" i="0">
                          <a:solidFill>
                            <a:srgbClr val="000000"/>
                          </a:solidFill>
                          <a:latin typeface="Calibri"/>
                        </a:rPr>
                        <a:t>19.4.3.</a:t>
                      </a:r>
                      <a:r>
                        <a:rPr sz="700" b="0" i="0">
                          <a:solidFill>
                            <a:srgbClr val="000000"/>
                          </a:solidFill>
                          <a:latin typeface="Times New Roman"/>
                        </a:rPr>
                        <a:t> </a:t>
                      </a:r>
                      <a:r>
                        <a:rPr sz="1100" b="0" i="0">
                          <a:solidFill>
                            <a:srgbClr val="000000"/>
                          </a:solidFill>
                          <a:latin typeface="Calibri"/>
                        </a:rPr>
                        <a:t>By Product Configuration</a:t>
                      </a:r>
                      <a:endParaRPr sz="1100"/>
                    </a:p>
                  </a:txBody>
                  <a:tcPr marL="771525" marR="9525" marT="9525" marB="0" anchor="ctr"/>
                </a:tc>
              </a:tr>
              <a:tr h="175260">
                <a:tc>
                  <a:txBody>
                    <a:bodyPr wrap="square"/>
                    <a:lstStyle/>
                    <a:p>
                      <a:pPr algn="l"/>
                      <a:r>
                        <a:rPr sz="1100" b="0" i="0">
                          <a:solidFill>
                            <a:srgbClr val="000000"/>
                          </a:solidFill>
                          <a:latin typeface="Calibri"/>
                        </a:rPr>
                        <a:t>19.4.4.</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19.4.5.</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(5/9)</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19.4.6.</a:t>
                      </a:r>
                      <a:r>
                        <a:rPr sz="700" b="0" i="0">
                          <a:solidFill>
                            <a:srgbClr val="000000"/>
                          </a:solidFill>
                          <a:latin typeface="Times New Roman"/>
                        </a:rPr>
                        <a:t> </a:t>
                      </a:r>
                      <a:r>
                        <a:rPr sz="1100" b="0" i="0">
                          <a:solidFill>
                            <a:srgbClr val="000000"/>
                          </a:solidFill>
                          <a:latin typeface="Calibri"/>
                        </a:rPr>
                        <a:t>By Substrate Material</a:t>
                      </a:r>
                      <a:endParaRPr sz="1100"/>
                    </a:p>
                  </a:txBody>
                  <a:tcPr marL="771525" marR="9525" marT="9525" marB="0" anchor="ctr"/>
                </a:tc>
              </a:tr>
              <a:tr h="175260">
                <a:tc>
                  <a:txBody>
                    <a:bodyPr wrap="square"/>
                    <a:lstStyle/>
                    <a:p>
                      <a:pPr algn="l"/>
                      <a:r>
                        <a:rPr sz="1100" b="0" i="0">
                          <a:solidFill>
                            <a:srgbClr val="000000"/>
                          </a:solidFill>
                          <a:latin typeface="Calibri"/>
                        </a:rPr>
                        <a:t>19.4.7.</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19.5.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19.5.1.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19.5.2.</a:t>
                      </a:r>
                      <a:r>
                        <a:rPr sz="700" b="0" i="0">
                          <a:solidFill>
                            <a:srgbClr val="000000"/>
                          </a:solidFill>
                          <a:latin typeface="Times New Roman"/>
                        </a:rPr>
                        <a:t> </a:t>
                      </a:r>
                      <a:r>
                        <a:rPr sz="1100" b="0" i="0">
                          <a:solidFill>
                            <a:srgbClr val="000000"/>
                          </a:solidFill>
                          <a:latin typeface="Calibri"/>
                        </a:rPr>
                        <a:t>By Product Type / Chemistry</a:t>
                      </a:r>
                      <a:endParaRPr sz="1100"/>
                    </a:p>
                  </a:txBody>
                  <a:tcPr marL="771525" marR="9525" marT="9525" marB="0" anchor="ctr"/>
                </a:tc>
              </a:tr>
              <a:tr h="175260">
                <a:tc>
                  <a:txBody>
                    <a:bodyPr wrap="square"/>
                    <a:lstStyle/>
                    <a:p>
                      <a:pPr algn="l"/>
                      <a:r>
                        <a:rPr sz="1100" b="0" i="0">
                          <a:solidFill>
                            <a:srgbClr val="000000"/>
                          </a:solidFill>
                          <a:latin typeface="Calibri"/>
                        </a:rPr>
                        <a:t>19.5.3.</a:t>
                      </a:r>
                      <a:r>
                        <a:rPr sz="700" b="0" i="0">
                          <a:solidFill>
                            <a:srgbClr val="000000"/>
                          </a:solidFill>
                          <a:latin typeface="Times New Roman"/>
                        </a:rPr>
                        <a:t> </a:t>
                      </a:r>
                      <a:r>
                        <a:rPr sz="1100" b="0" i="0">
                          <a:solidFill>
                            <a:srgbClr val="000000"/>
                          </a:solidFill>
                          <a:latin typeface="Calibri"/>
                        </a:rPr>
                        <a:t>By Product Configuration</a:t>
                      </a:r>
                      <a:endParaRPr sz="1100"/>
                    </a:p>
                  </a:txBody>
                  <a:tcPr marL="771525" marR="9525" marT="9525" marB="0" anchor="ctr"/>
                </a:tc>
              </a:tr>
              <a:tr h="175260">
                <a:tc>
                  <a:txBody>
                    <a:bodyPr wrap="square"/>
                    <a:lstStyle/>
                    <a:p>
                      <a:pPr algn="l"/>
                      <a:r>
                        <a:rPr sz="1100" b="0" i="0">
                          <a:solidFill>
                            <a:srgbClr val="000000"/>
                          </a:solidFill>
                          <a:latin typeface="Calibri"/>
                        </a:rPr>
                        <a:t>19.5.4.</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19.5.5.</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19.5.6.</a:t>
                      </a:r>
                      <a:r>
                        <a:rPr sz="700" b="0" i="0">
                          <a:solidFill>
                            <a:srgbClr val="000000"/>
                          </a:solidFill>
                          <a:latin typeface="Times New Roman"/>
                        </a:rPr>
                        <a:t> </a:t>
                      </a:r>
                      <a:r>
                        <a:rPr sz="1100" b="0" i="0">
                          <a:solidFill>
                            <a:srgbClr val="000000"/>
                          </a:solidFill>
                          <a:latin typeface="Calibri"/>
                        </a:rPr>
                        <a:t>By Substrate Material</a:t>
                      </a:r>
                      <a:endParaRPr sz="1100"/>
                    </a:p>
                  </a:txBody>
                  <a:tcPr marL="771525" marR="9525" marT="9525" marB="0" anchor="ctr"/>
                </a:tc>
              </a:tr>
              <a:tr h="175260">
                <a:tc>
                  <a:txBody>
                    <a:bodyPr wrap="square"/>
                    <a:lstStyle/>
                    <a:p>
                      <a:pPr algn="l"/>
                      <a:r>
                        <a:rPr sz="1100" b="0" i="0">
                          <a:solidFill>
                            <a:srgbClr val="000000"/>
                          </a:solidFill>
                          <a:latin typeface="Calibri"/>
                        </a:rPr>
                        <a:t>19.5.7.</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19.6.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19.7.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19.8.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r>
                        <a:rPr sz="1100" b="1" i="0">
                          <a:solidFill>
                            <a:srgbClr val="000000"/>
                          </a:solidFill>
                          <a:latin typeface="Calibri"/>
                        </a:rPr>
                        <a:t>20.</a:t>
                      </a:r>
                      <a:r>
                        <a:rPr sz="700" b="1" i="0">
                          <a:solidFill>
                            <a:srgbClr val="000000"/>
                          </a:solidFill>
                          <a:latin typeface="Times New Roman"/>
                        </a:rPr>
                        <a:t>    </a:t>
                      </a:r>
                      <a:r>
                        <a:rPr sz="1100" b="1" i="0">
                          <a:solidFill>
                            <a:srgbClr val="000000"/>
                          </a:solidFill>
                          <a:latin typeface="Calibri"/>
                        </a:rPr>
                        <a:t>South Asia and Pacific Waterproof Coatings Market Outlook, 2021–2036</a:t>
                      </a:r>
                      <a:endParaRPr sz="1100"/>
                    </a:p>
                  </a:txBody>
                  <a:tcPr marL="171450" marR="9525" marT="9525" marB="0" anchor="ctr"/>
                </a:tc>
              </a:tr>
              <a:tr h="175260">
                <a:tc>
                  <a:txBody>
                    <a:bodyPr wrap="square"/>
                    <a:lstStyle/>
                    <a:p>
                      <a:pPr algn="l"/>
                      <a:r>
                        <a:rPr sz="1100" b="0" i="0">
                          <a:solidFill>
                            <a:srgbClr val="0070C0"/>
                          </a:solidFill>
                          <a:latin typeface="Calibri"/>
                        </a:rPr>
                        <a:t>20.1.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20.2.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r h="350520">
                <a:tc>
                  <a:txBody>
                    <a:bodyPr wrap="square"/>
                    <a:lstStyle/>
                    <a:p>
                      <a:pPr algn="l"/>
                      <a:r>
                        <a:rPr sz="1100" b="0" i="0">
                          <a:solidFill>
                            <a:srgbClr val="0070C0"/>
                          </a:solidFill>
                          <a:latin typeface="Calibri"/>
                        </a:rPr>
                        <a:t>20.3.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20.4.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20.4.1.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20.4.1.1.</a:t>
                      </a:r>
                      <a:r>
                        <a:rPr sz="700" b="0" i="1">
                          <a:solidFill>
                            <a:srgbClr val="000000"/>
                          </a:solidFill>
                          <a:latin typeface="Times New Roman"/>
                        </a:rPr>
                        <a:t> </a:t>
                      </a:r>
                      <a:r>
                        <a:rPr sz="1100" b="0" i="1">
                          <a:solidFill>
                            <a:srgbClr val="000000"/>
                          </a:solidFill>
                          <a:latin typeface="Calibri"/>
                        </a:rPr>
                        <a:t>India</a:t>
                      </a:r>
                      <a:endParaRPr sz="1100"/>
                    </a:p>
                  </a:txBody>
                  <a:tcPr marL="1028700" marR="9525" marT="9525" marB="0" anchor="ctr"/>
                </a:tc>
              </a:tr>
              <a:tr h="175260">
                <a:tc>
                  <a:txBody>
                    <a:bodyPr wrap="square"/>
                    <a:lstStyle/>
                    <a:p>
                      <a:pPr algn="l"/>
                      <a:r>
                        <a:rPr sz="1100" b="0" i="1">
                          <a:solidFill>
                            <a:srgbClr val="000000"/>
                          </a:solidFill>
                          <a:latin typeface="Calibri"/>
                        </a:rPr>
                        <a:t>20.4.1.2.</a:t>
                      </a:r>
                      <a:r>
                        <a:rPr sz="700" b="0" i="1">
                          <a:solidFill>
                            <a:srgbClr val="000000"/>
                          </a:solidFill>
                          <a:latin typeface="Times New Roman"/>
                        </a:rPr>
                        <a:t> </a:t>
                      </a:r>
                      <a:r>
                        <a:rPr sz="1100" b="0" i="1">
                          <a:solidFill>
                            <a:srgbClr val="000000"/>
                          </a:solidFill>
                          <a:latin typeface="Calibri"/>
                        </a:rPr>
                        <a:t>ASEAN</a:t>
                      </a:r>
                      <a:endParaRPr sz="1100"/>
                    </a:p>
                  </a:txBody>
                  <a:tcPr marL="1028700" marR="9525" marT="9525" marB="0" anchor="ctr"/>
                </a:tc>
              </a:tr>
              <a:tr h="175260">
                <a:tc>
                  <a:txBody>
                    <a:bodyPr wrap="square"/>
                    <a:lstStyle/>
                    <a:p>
                      <a:pPr algn="l"/>
                      <a:r>
                        <a:rPr sz="1100" b="0" i="1">
                          <a:solidFill>
                            <a:srgbClr val="000000"/>
                          </a:solidFill>
                          <a:latin typeface="Calibri"/>
                        </a:rPr>
                        <a:t>20.4.1.3.</a:t>
                      </a:r>
                      <a:r>
                        <a:rPr sz="700" b="0" i="1">
                          <a:solidFill>
                            <a:srgbClr val="000000"/>
                          </a:solidFill>
                          <a:latin typeface="Times New Roman"/>
                        </a:rPr>
                        <a:t> </a:t>
                      </a:r>
                      <a:r>
                        <a:rPr sz="1100" b="0" i="1">
                          <a:solidFill>
                            <a:srgbClr val="000000"/>
                          </a:solidFill>
                          <a:latin typeface="Calibri"/>
                        </a:rPr>
                        <a:t>Oceania</a:t>
                      </a:r>
                      <a:endParaRPr sz="1100"/>
                    </a:p>
                  </a:txBody>
                  <a:tcPr marL="1028700" marR="9525" marT="9525" marB="0" anchor="ctr"/>
                </a:tc>
              </a:tr>
              <a:tr h="175260">
                <a:tc>
                  <a:txBody>
                    <a:bodyPr wrap="square"/>
                    <a:lstStyle/>
                    <a:p>
                      <a:pPr algn="l"/>
                      <a:r>
                        <a:rPr sz="1100" b="0" i="1">
                          <a:solidFill>
                            <a:srgbClr val="000000"/>
                          </a:solidFill>
                          <a:latin typeface="Calibri"/>
                        </a:rPr>
                        <a:t>20.4.1.4.</a:t>
                      </a:r>
                      <a:r>
                        <a:rPr sz="700" b="0" i="1">
                          <a:solidFill>
                            <a:srgbClr val="000000"/>
                          </a:solidFill>
                          <a:latin typeface="Times New Roman"/>
                        </a:rPr>
                        <a:t> </a:t>
                      </a:r>
                      <a:r>
                        <a:rPr sz="1100" b="0" i="1">
                          <a:solidFill>
                            <a:srgbClr val="000000"/>
                          </a:solidFill>
                          <a:latin typeface="Calibri"/>
                        </a:rPr>
                        <a:t>Rest of South Asia &amp; Pacific</a:t>
                      </a:r>
                      <a:endParaRPr sz="1100"/>
                    </a:p>
                  </a:txBody>
                  <a:tcPr marL="1028700" marR="9525" marT="9525" marB="0" anchor="ctr"/>
                </a:tc>
              </a:tr>
              <a:tr h="175260">
                <a:tc>
                  <a:txBody>
                    <a:bodyPr wrap="square"/>
                    <a:lstStyle/>
                    <a:p>
                      <a:pPr algn="l"/>
                      <a:r>
                        <a:rPr sz="1100" b="0" i="0">
                          <a:solidFill>
                            <a:srgbClr val="000000"/>
                          </a:solidFill>
                          <a:latin typeface="Calibri"/>
                        </a:rPr>
                        <a:t>20.4.2.</a:t>
                      </a:r>
                      <a:r>
                        <a:rPr sz="700" b="0" i="0">
                          <a:solidFill>
                            <a:srgbClr val="000000"/>
                          </a:solidFill>
                          <a:latin typeface="Times New Roman"/>
                        </a:rPr>
                        <a:t> </a:t>
                      </a:r>
                      <a:r>
                        <a:rPr sz="1100" b="0" i="0">
                          <a:solidFill>
                            <a:srgbClr val="000000"/>
                          </a:solidFill>
                          <a:latin typeface="Calibri"/>
                        </a:rPr>
                        <a:t>By Product Type / Chemistry</a:t>
                      </a:r>
                      <a:endParaRPr sz="1100"/>
                    </a:p>
                  </a:txBody>
                  <a:tcPr marL="771525" marR="9525" marT="9525" marB="0" anchor="ctr"/>
                </a:tc>
              </a:tr>
              <a:tr h="175260">
                <a:tc>
                  <a:txBody>
                    <a:bodyPr wrap="square"/>
                    <a:lstStyle/>
                    <a:p>
                      <a:pPr algn="l"/>
                      <a:r>
                        <a:rPr sz="1100" b="0" i="0">
                          <a:solidFill>
                            <a:srgbClr val="000000"/>
                          </a:solidFill>
                          <a:latin typeface="Calibri"/>
                        </a:rPr>
                        <a:t>20.4.3.</a:t>
                      </a:r>
                      <a:r>
                        <a:rPr sz="700" b="0" i="0">
                          <a:solidFill>
                            <a:srgbClr val="000000"/>
                          </a:solidFill>
                          <a:latin typeface="Times New Roman"/>
                        </a:rPr>
                        <a:t> </a:t>
                      </a:r>
                      <a:r>
                        <a:rPr sz="1100" b="0" i="0">
                          <a:solidFill>
                            <a:srgbClr val="000000"/>
                          </a:solidFill>
                          <a:latin typeface="Calibri"/>
                        </a:rPr>
                        <a:t>By Product Configuration</a:t>
                      </a:r>
                      <a:endParaRPr sz="1100"/>
                    </a:p>
                  </a:txBody>
                  <a:tcPr marL="771525" marR="9525" marT="9525" marB="0" anchor="ctr"/>
                </a:tc>
              </a:tr>
              <a:tr h="175260">
                <a:tc>
                  <a:txBody>
                    <a:bodyPr wrap="square"/>
                    <a:lstStyle/>
                    <a:p>
                      <a:pPr algn="l"/>
                      <a:r>
                        <a:rPr sz="1100" b="0" i="0">
                          <a:solidFill>
                            <a:srgbClr val="000000"/>
                          </a:solidFill>
                          <a:latin typeface="Calibri"/>
                        </a:rPr>
                        <a:t>20.4.4.</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20.4.5.</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20.4.6.</a:t>
                      </a:r>
                      <a:r>
                        <a:rPr sz="700" b="0" i="0">
                          <a:solidFill>
                            <a:srgbClr val="000000"/>
                          </a:solidFill>
                          <a:latin typeface="Times New Roman"/>
                        </a:rPr>
                        <a:t> </a:t>
                      </a:r>
                      <a:r>
                        <a:rPr sz="1100" b="0" i="0">
                          <a:solidFill>
                            <a:srgbClr val="000000"/>
                          </a:solidFill>
                          <a:latin typeface="Calibri"/>
                        </a:rPr>
                        <a:t>By Substrate Material</a:t>
                      </a:r>
                      <a:endParaRPr sz="1100"/>
                    </a:p>
                  </a:txBody>
                  <a:tcPr marL="771525" marR="9525" marT="9525" marB="0" anchor="ctr"/>
                </a:tc>
              </a:tr>
              <a:tr h="175260">
                <a:tc>
                  <a:txBody>
                    <a:bodyPr wrap="square"/>
                    <a:lstStyle/>
                    <a:p>
                      <a:pPr algn="l"/>
                      <a:r>
                        <a:rPr sz="1100" b="0" i="0">
                          <a:solidFill>
                            <a:srgbClr val="000000"/>
                          </a:solidFill>
                          <a:latin typeface="Calibri"/>
                        </a:rPr>
                        <a:t>20.4.7.</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20.5.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20.5.1.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20.5.2.</a:t>
                      </a:r>
                      <a:r>
                        <a:rPr sz="700" b="0" i="0">
                          <a:solidFill>
                            <a:srgbClr val="000000"/>
                          </a:solidFill>
                          <a:latin typeface="Times New Roman"/>
                        </a:rPr>
                        <a:t> </a:t>
                      </a:r>
                      <a:r>
                        <a:rPr sz="1100" b="0" i="0">
                          <a:solidFill>
                            <a:srgbClr val="000000"/>
                          </a:solidFill>
                          <a:latin typeface="Calibri"/>
                        </a:rPr>
                        <a:t>By Product Type / Chemistry</a:t>
                      </a:r>
                      <a:endParaRPr sz="1100"/>
                    </a:p>
                  </a:txBody>
                  <a:tcPr marL="771525" marR="9525" marT="9525" marB="0" anchor="ctr"/>
                </a:tc>
              </a:tr>
              <a:tr h="175260">
                <a:tc>
                  <a:txBody>
                    <a:bodyPr wrap="square"/>
                    <a:lstStyle/>
                    <a:p>
                      <a:pPr algn="l"/>
                      <a:r>
                        <a:rPr sz="1100" b="0" i="0">
                          <a:solidFill>
                            <a:srgbClr val="000000"/>
                          </a:solidFill>
                          <a:latin typeface="Calibri"/>
                        </a:rPr>
                        <a:t>20.5.3.</a:t>
                      </a:r>
                      <a:r>
                        <a:rPr sz="700" b="0" i="0">
                          <a:solidFill>
                            <a:srgbClr val="000000"/>
                          </a:solidFill>
                          <a:latin typeface="Times New Roman"/>
                        </a:rPr>
                        <a:t> </a:t>
                      </a:r>
                      <a:r>
                        <a:rPr sz="1100" b="0" i="0">
                          <a:solidFill>
                            <a:srgbClr val="000000"/>
                          </a:solidFill>
                          <a:latin typeface="Calibri"/>
                        </a:rPr>
                        <a:t>By Product Configuration</a:t>
                      </a:r>
                      <a:endParaRPr sz="1100"/>
                    </a:p>
                  </a:txBody>
                  <a:tcPr marL="771525" marR="9525" marT="9525" marB="0" anchor="ctr"/>
                </a:tc>
              </a:tr>
              <a:tr h="175260">
                <a:tc>
                  <a:txBody>
                    <a:bodyPr wrap="square"/>
                    <a:lstStyle/>
                    <a:p>
                      <a:pPr algn="l"/>
                      <a:r>
                        <a:rPr sz="1100" b="0" i="0">
                          <a:solidFill>
                            <a:srgbClr val="000000"/>
                          </a:solidFill>
                          <a:latin typeface="Calibri"/>
                        </a:rPr>
                        <a:t>20.5.4.</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20.5.5.</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20.5.6.</a:t>
                      </a:r>
                      <a:r>
                        <a:rPr sz="700" b="0" i="0">
                          <a:solidFill>
                            <a:srgbClr val="000000"/>
                          </a:solidFill>
                          <a:latin typeface="Times New Roman"/>
                        </a:rPr>
                        <a:t> </a:t>
                      </a:r>
                      <a:r>
                        <a:rPr sz="1100" b="0" i="0">
                          <a:solidFill>
                            <a:srgbClr val="000000"/>
                          </a:solidFill>
                          <a:latin typeface="Calibri"/>
                        </a:rPr>
                        <a:t>By Substrate Material</a:t>
                      </a:r>
                      <a:endParaRPr sz="1100"/>
                    </a:p>
                  </a:txBody>
                  <a:tcPr marL="771525" marR="9525" marT="9525" marB="0" anchor="ctr"/>
                </a:tc>
              </a:tr>
              <a:tr h="175260">
                <a:tc>
                  <a:txBody>
                    <a:bodyPr wrap="square"/>
                    <a:lstStyle/>
                    <a:p>
                      <a:pPr algn="l"/>
                      <a:r>
                        <a:rPr sz="1100" b="0" i="0">
                          <a:solidFill>
                            <a:srgbClr val="000000"/>
                          </a:solidFill>
                          <a:latin typeface="Calibri"/>
                        </a:rPr>
                        <a:t>20.5.7.</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20.6.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20.7.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20.8.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r>
                        <a:rPr sz="1100" b="1" i="0">
                          <a:solidFill>
                            <a:srgbClr val="000000"/>
                          </a:solidFill>
                          <a:latin typeface="Calibri"/>
                        </a:rPr>
                        <a:t>21.</a:t>
                      </a:r>
                      <a:r>
                        <a:rPr sz="700" b="1" i="0">
                          <a:solidFill>
                            <a:srgbClr val="000000"/>
                          </a:solidFill>
                          <a:latin typeface="Times New Roman"/>
                        </a:rPr>
                        <a:t>    </a:t>
                      </a:r>
                      <a:r>
                        <a:rPr sz="1100" b="1" i="0">
                          <a:solidFill>
                            <a:srgbClr val="000000"/>
                          </a:solidFill>
                          <a:latin typeface="Calibri"/>
                        </a:rPr>
                        <a:t>East Asia Waterproof Coatings Market Outlook, 2021–2036</a:t>
                      </a:r>
                      <a:endParaRPr sz="1100"/>
                    </a:p>
                  </a:txBody>
                  <a:tcPr marL="171450" marR="9525" marT="9525" marB="0" anchor="ctr"/>
                </a:tc>
              </a:tr>
              <a:tr h="175260">
                <a:tc>
                  <a:txBody>
                    <a:bodyPr wrap="square"/>
                    <a:lstStyle/>
                    <a:p>
                      <a:pPr algn="l"/>
                      <a:r>
                        <a:rPr sz="1100" b="0" i="0">
                          <a:solidFill>
                            <a:srgbClr val="0070C0"/>
                          </a:solidFill>
                          <a:latin typeface="Calibri"/>
                        </a:rPr>
                        <a:t>21.1.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21.2.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r h="350520">
                <a:tc>
                  <a:txBody>
                    <a:bodyPr wrap="square"/>
                    <a:lstStyle/>
                    <a:p>
                      <a:pPr algn="l"/>
                      <a:r>
                        <a:rPr sz="1100" b="0" i="0">
                          <a:solidFill>
                            <a:srgbClr val="0070C0"/>
                          </a:solidFill>
                          <a:latin typeface="Calibri"/>
                        </a:rPr>
                        <a:t>21.3.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21.4.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21.4.1.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21.4.1.1.</a:t>
                      </a:r>
                      <a:r>
                        <a:rPr sz="700" b="0" i="1">
                          <a:solidFill>
                            <a:srgbClr val="000000"/>
                          </a:solidFill>
                          <a:latin typeface="Times New Roman"/>
                        </a:rPr>
                        <a:t> </a:t>
                      </a:r>
                      <a:r>
                        <a:rPr sz="1100" b="0" i="1">
                          <a:solidFill>
                            <a:srgbClr val="000000"/>
                          </a:solidFill>
                          <a:latin typeface="Calibri"/>
                        </a:rPr>
                        <a:t>China</a:t>
                      </a:r>
                      <a:endParaRPr sz="1100"/>
                    </a:p>
                  </a:txBody>
                  <a:tcPr marL="1028700" marR="9525" marT="9525" marB="0" anchor="ctr"/>
                </a:tc>
              </a:tr>
              <a:tr h="175260">
                <a:tc>
                  <a:txBody>
                    <a:bodyPr wrap="square"/>
                    <a:lstStyle/>
                    <a:p>
                      <a:pPr algn="l"/>
                      <a:r>
                        <a:rPr sz="1100" b="0" i="1">
                          <a:solidFill>
                            <a:srgbClr val="000000"/>
                          </a:solidFill>
                          <a:latin typeface="Calibri"/>
                        </a:rPr>
                        <a:t>21.4.1.2.</a:t>
                      </a:r>
                      <a:r>
                        <a:rPr sz="700" b="0" i="1">
                          <a:solidFill>
                            <a:srgbClr val="000000"/>
                          </a:solidFill>
                          <a:latin typeface="Times New Roman"/>
                        </a:rPr>
                        <a:t> </a:t>
                      </a:r>
                      <a:r>
                        <a:rPr sz="1100" b="0" i="1">
                          <a:solidFill>
                            <a:srgbClr val="000000"/>
                          </a:solidFill>
                          <a:latin typeface="Calibri"/>
                        </a:rPr>
                        <a:t>Japan</a:t>
                      </a:r>
                      <a:endParaRPr sz="1100"/>
                    </a:p>
                  </a:txBody>
                  <a:tcPr marL="1028700" marR="9525" marT="9525" marB="0" anchor="ctr"/>
                </a:tc>
              </a:tr>
              <a:tr h="175260">
                <a:tc>
                  <a:txBody>
                    <a:bodyPr wrap="square"/>
                    <a:lstStyle/>
                    <a:p>
                      <a:pPr algn="l"/>
                      <a:r>
                        <a:rPr sz="1100" b="0" i="1">
                          <a:solidFill>
                            <a:srgbClr val="000000"/>
                          </a:solidFill>
                          <a:latin typeface="Calibri"/>
                        </a:rPr>
                        <a:t>21.4.1.3.</a:t>
                      </a:r>
                      <a:r>
                        <a:rPr sz="700" b="0" i="1">
                          <a:solidFill>
                            <a:srgbClr val="000000"/>
                          </a:solidFill>
                          <a:latin typeface="Times New Roman"/>
                        </a:rPr>
                        <a:t> </a:t>
                      </a:r>
                      <a:r>
                        <a:rPr sz="1100" b="0" i="1">
                          <a:solidFill>
                            <a:srgbClr val="000000"/>
                          </a:solidFill>
                          <a:latin typeface="Calibri"/>
                        </a:rPr>
                        <a:t>South Korea</a:t>
                      </a:r>
                      <a:endParaRPr sz="1100"/>
                    </a:p>
                  </a:txBody>
                  <a:tcPr marL="1028700" marR="9525" marT="9525" marB="0" anchor="ctr"/>
                </a:tc>
              </a:tr>
              <a:tr h="175260">
                <a:tc>
                  <a:txBody>
                    <a:bodyPr wrap="square"/>
                    <a:lstStyle/>
                    <a:p>
                      <a:pPr algn="l"/>
                      <a:r>
                        <a:rPr sz="1100" b="0" i="0">
                          <a:solidFill>
                            <a:srgbClr val="000000"/>
                          </a:solidFill>
                          <a:latin typeface="Calibri"/>
                        </a:rPr>
                        <a:t>21.4.2.</a:t>
                      </a:r>
                      <a:r>
                        <a:rPr sz="700" b="0" i="0">
                          <a:solidFill>
                            <a:srgbClr val="000000"/>
                          </a:solidFill>
                          <a:latin typeface="Times New Roman"/>
                        </a:rPr>
                        <a:t> </a:t>
                      </a:r>
                      <a:r>
                        <a:rPr sz="1100" b="0" i="0">
                          <a:solidFill>
                            <a:srgbClr val="000000"/>
                          </a:solidFill>
                          <a:latin typeface="Calibri"/>
                        </a:rPr>
                        <a:t>By Product Type / Chemistry</a:t>
                      </a:r>
                      <a:endParaRPr sz="1100"/>
                    </a:p>
                  </a:txBody>
                  <a:tcPr marL="771525" marR="9525" marT="9525" marB="0" anchor="ctr"/>
                </a:tc>
              </a:tr>
              <a:tr h="175260">
                <a:tc>
                  <a:txBody>
                    <a:bodyPr wrap="square"/>
                    <a:lstStyle/>
                    <a:p>
                      <a:pPr algn="l"/>
                      <a:r>
                        <a:rPr sz="1100" b="0" i="0">
                          <a:solidFill>
                            <a:srgbClr val="000000"/>
                          </a:solidFill>
                          <a:latin typeface="Calibri"/>
                        </a:rPr>
                        <a:t>21.4.3.</a:t>
                      </a:r>
                      <a:r>
                        <a:rPr sz="700" b="0" i="0">
                          <a:solidFill>
                            <a:srgbClr val="000000"/>
                          </a:solidFill>
                          <a:latin typeface="Times New Roman"/>
                        </a:rPr>
                        <a:t> </a:t>
                      </a:r>
                      <a:r>
                        <a:rPr sz="1100" b="0" i="0">
                          <a:solidFill>
                            <a:srgbClr val="000000"/>
                          </a:solidFill>
                          <a:latin typeface="Calibri"/>
                        </a:rPr>
                        <a:t>By Product Configuration</a:t>
                      </a:r>
                      <a:endParaRPr sz="1100"/>
                    </a:p>
                  </a:txBody>
                  <a:tcPr marL="771525" marR="9525" marT="9525" marB="0" anchor="ctr"/>
                </a:tc>
              </a:tr>
              <a:tr h="175260">
                <a:tc>
                  <a:txBody>
                    <a:bodyPr wrap="square"/>
                    <a:lstStyle/>
                    <a:p>
                      <a:pPr algn="l"/>
                      <a:r>
                        <a:rPr sz="1100" b="0" i="0">
                          <a:solidFill>
                            <a:srgbClr val="000000"/>
                          </a:solidFill>
                          <a:latin typeface="Calibri"/>
                        </a:rPr>
                        <a:t>21.4.4.</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21.4.5.</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21.4.6.</a:t>
                      </a:r>
                      <a:r>
                        <a:rPr sz="700" b="0" i="0">
                          <a:solidFill>
                            <a:srgbClr val="000000"/>
                          </a:solidFill>
                          <a:latin typeface="Times New Roman"/>
                        </a:rPr>
                        <a:t> </a:t>
                      </a:r>
                      <a:r>
                        <a:rPr sz="1100" b="0" i="0">
                          <a:solidFill>
                            <a:srgbClr val="000000"/>
                          </a:solidFill>
                          <a:latin typeface="Calibri"/>
                        </a:rPr>
                        <a:t>By Substrate Material</a:t>
                      </a:r>
                      <a:endParaRPr sz="1100"/>
                    </a:p>
                  </a:txBody>
                  <a:tcPr marL="771525" marR="9525" marT="9525" marB="0" anchor="ctr"/>
                </a:tc>
              </a:tr>
              <a:tr h="175260">
                <a:tc>
                  <a:txBody>
                    <a:bodyPr wrap="square"/>
                    <a:lstStyle/>
                    <a:p>
                      <a:pPr algn="l"/>
                      <a:r>
                        <a:rPr sz="1100" b="0" i="0">
                          <a:solidFill>
                            <a:srgbClr val="000000"/>
                          </a:solidFill>
                          <a:latin typeface="Calibri"/>
                        </a:rPr>
                        <a:t>21.4.7.</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21.5.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21.5.1.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21.5.2.</a:t>
                      </a:r>
                      <a:r>
                        <a:rPr sz="700" b="0" i="0">
                          <a:solidFill>
                            <a:srgbClr val="000000"/>
                          </a:solidFill>
                          <a:latin typeface="Times New Roman"/>
                        </a:rPr>
                        <a:t> </a:t>
                      </a:r>
                      <a:r>
                        <a:rPr sz="1100" b="0" i="0">
                          <a:solidFill>
                            <a:srgbClr val="000000"/>
                          </a:solidFill>
                          <a:latin typeface="Calibri"/>
                        </a:rPr>
                        <a:t>By Product Type / Chemistry</a:t>
                      </a:r>
                      <a:endParaRPr sz="1100"/>
                    </a:p>
                  </a:txBody>
                  <a:tcPr marL="771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(6/9)</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21.5.3.</a:t>
                      </a:r>
                      <a:r>
                        <a:rPr sz="700" b="0" i="0">
                          <a:solidFill>
                            <a:srgbClr val="000000"/>
                          </a:solidFill>
                          <a:latin typeface="Times New Roman"/>
                        </a:rPr>
                        <a:t> </a:t>
                      </a:r>
                      <a:r>
                        <a:rPr sz="1100" b="0" i="0">
                          <a:solidFill>
                            <a:srgbClr val="000000"/>
                          </a:solidFill>
                          <a:latin typeface="Calibri"/>
                        </a:rPr>
                        <a:t>By Product Configuration</a:t>
                      </a:r>
                      <a:endParaRPr sz="1100"/>
                    </a:p>
                  </a:txBody>
                  <a:tcPr marL="771525" marR="9525" marT="9525" marB="0" anchor="ctr"/>
                </a:tc>
              </a:tr>
              <a:tr h="175260">
                <a:tc>
                  <a:txBody>
                    <a:bodyPr wrap="square"/>
                    <a:lstStyle/>
                    <a:p>
                      <a:pPr algn="l"/>
                      <a:r>
                        <a:rPr sz="1100" b="0" i="0">
                          <a:solidFill>
                            <a:srgbClr val="000000"/>
                          </a:solidFill>
                          <a:latin typeface="Calibri"/>
                        </a:rPr>
                        <a:t>21.5.4.</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21.5.5.</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21.5.6.</a:t>
                      </a:r>
                      <a:r>
                        <a:rPr sz="700" b="0" i="0">
                          <a:solidFill>
                            <a:srgbClr val="000000"/>
                          </a:solidFill>
                          <a:latin typeface="Times New Roman"/>
                        </a:rPr>
                        <a:t> </a:t>
                      </a:r>
                      <a:r>
                        <a:rPr sz="1100" b="0" i="0">
                          <a:solidFill>
                            <a:srgbClr val="000000"/>
                          </a:solidFill>
                          <a:latin typeface="Calibri"/>
                        </a:rPr>
                        <a:t>By Substrate Material</a:t>
                      </a:r>
                      <a:endParaRPr sz="1100"/>
                    </a:p>
                  </a:txBody>
                  <a:tcPr marL="771525" marR="9525" marT="9525" marB="0" anchor="ctr"/>
                </a:tc>
              </a:tr>
              <a:tr h="175260">
                <a:tc>
                  <a:txBody>
                    <a:bodyPr wrap="square"/>
                    <a:lstStyle/>
                    <a:p>
                      <a:pPr algn="l"/>
                      <a:r>
                        <a:rPr sz="1100" b="0" i="0">
                          <a:solidFill>
                            <a:srgbClr val="000000"/>
                          </a:solidFill>
                          <a:latin typeface="Calibri"/>
                        </a:rPr>
                        <a:t>21.5.7.</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21.6.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21.7.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21.8.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r>
                        <a:rPr sz="1100" b="1" i="0">
                          <a:solidFill>
                            <a:srgbClr val="000000"/>
                          </a:solidFill>
                          <a:latin typeface="Calibri"/>
                        </a:rPr>
                        <a:t>22.</a:t>
                      </a:r>
                      <a:r>
                        <a:rPr sz="700" b="1" i="0">
                          <a:solidFill>
                            <a:srgbClr val="000000"/>
                          </a:solidFill>
                          <a:latin typeface="Times New Roman"/>
                        </a:rPr>
                        <a:t>    </a:t>
                      </a:r>
                      <a:r>
                        <a:rPr sz="1100" b="1" i="0">
                          <a:solidFill>
                            <a:srgbClr val="000000"/>
                          </a:solidFill>
                          <a:latin typeface="Calibri"/>
                        </a:rPr>
                        <a:t>Middle East and Africa Waterproof Coatings Market Outlook, 2021–2036</a:t>
                      </a:r>
                      <a:endParaRPr sz="1100"/>
                    </a:p>
                  </a:txBody>
                  <a:tcPr marL="171450" marR="9525" marT="9525" marB="0" anchor="ctr"/>
                </a:tc>
              </a:tr>
              <a:tr h="175260">
                <a:tc>
                  <a:txBody>
                    <a:bodyPr wrap="square"/>
                    <a:lstStyle/>
                    <a:p>
                      <a:pPr algn="l"/>
                      <a:r>
                        <a:rPr sz="1100" b="0" i="0">
                          <a:solidFill>
                            <a:srgbClr val="0070C0"/>
                          </a:solidFill>
                          <a:latin typeface="Calibri"/>
                        </a:rPr>
                        <a:t>22.1.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22.2.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r h="350520">
                <a:tc>
                  <a:txBody>
                    <a:bodyPr wrap="square"/>
                    <a:lstStyle/>
                    <a:p>
                      <a:pPr algn="l"/>
                      <a:r>
                        <a:rPr sz="1100" b="0" i="0">
                          <a:solidFill>
                            <a:srgbClr val="0070C0"/>
                          </a:solidFill>
                          <a:latin typeface="Calibri"/>
                        </a:rPr>
                        <a:t>22.3.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22.4.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22.4.1.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22.4.1.1.</a:t>
                      </a:r>
                      <a:r>
                        <a:rPr sz="700" b="0" i="1">
                          <a:solidFill>
                            <a:srgbClr val="000000"/>
                          </a:solidFill>
                          <a:latin typeface="Times New Roman"/>
                        </a:rPr>
                        <a:t> </a:t>
                      </a:r>
                      <a:r>
                        <a:rPr sz="1100" b="0" i="1">
                          <a:solidFill>
                            <a:srgbClr val="000000"/>
                          </a:solidFill>
                          <a:latin typeface="Calibri"/>
                        </a:rPr>
                        <a:t>GCC Countries</a:t>
                      </a:r>
                      <a:endParaRPr sz="1100"/>
                    </a:p>
                  </a:txBody>
                  <a:tcPr marL="1028700" marR="9525" marT="9525" marB="0" anchor="ctr"/>
                </a:tc>
              </a:tr>
              <a:tr h="175260">
                <a:tc>
                  <a:txBody>
                    <a:bodyPr wrap="square"/>
                    <a:lstStyle/>
                    <a:p>
                      <a:pPr algn="l"/>
                      <a:r>
                        <a:rPr sz="1100" b="0" i="1">
                          <a:solidFill>
                            <a:srgbClr val="000000"/>
                          </a:solidFill>
                          <a:latin typeface="Calibri"/>
                        </a:rPr>
                        <a:t>22.4.1.2.</a:t>
                      </a:r>
                      <a:r>
                        <a:rPr sz="700" b="0" i="1">
                          <a:solidFill>
                            <a:srgbClr val="000000"/>
                          </a:solidFill>
                          <a:latin typeface="Times New Roman"/>
                        </a:rPr>
                        <a:t> </a:t>
                      </a:r>
                      <a:r>
                        <a:rPr sz="1100" b="0" i="1">
                          <a:solidFill>
                            <a:srgbClr val="000000"/>
                          </a:solidFill>
                          <a:latin typeface="Calibri"/>
                        </a:rPr>
                        <a:t>Turkiye</a:t>
                      </a:r>
                      <a:endParaRPr sz="1100"/>
                    </a:p>
                  </a:txBody>
                  <a:tcPr marL="1028700" marR="9525" marT="9525" marB="0" anchor="ctr"/>
                </a:tc>
              </a:tr>
              <a:tr h="175260">
                <a:tc>
                  <a:txBody>
                    <a:bodyPr wrap="square"/>
                    <a:lstStyle/>
                    <a:p>
                      <a:pPr algn="l"/>
                      <a:r>
                        <a:rPr sz="1100" b="0" i="1">
                          <a:solidFill>
                            <a:srgbClr val="000000"/>
                          </a:solidFill>
                          <a:latin typeface="Calibri"/>
                        </a:rPr>
                        <a:t>22.4.1.3.</a:t>
                      </a:r>
                      <a:r>
                        <a:rPr sz="700" b="0" i="1">
                          <a:solidFill>
                            <a:srgbClr val="000000"/>
                          </a:solidFill>
                          <a:latin typeface="Times New Roman"/>
                        </a:rPr>
                        <a:t> </a:t>
                      </a:r>
                      <a:r>
                        <a:rPr sz="1100" b="0" i="1">
                          <a:solidFill>
                            <a:srgbClr val="000000"/>
                          </a:solidFill>
                          <a:latin typeface="Calibri"/>
                        </a:rPr>
                        <a:t>Northern Africa</a:t>
                      </a:r>
                      <a:endParaRPr sz="1100"/>
                    </a:p>
                  </a:txBody>
                  <a:tcPr marL="1028700" marR="9525" marT="9525" marB="0" anchor="ctr"/>
                </a:tc>
              </a:tr>
              <a:tr h="175260">
                <a:tc>
                  <a:txBody>
                    <a:bodyPr wrap="square"/>
                    <a:lstStyle/>
                    <a:p>
                      <a:pPr algn="l"/>
                      <a:r>
                        <a:rPr sz="1100" b="0" i="1">
                          <a:solidFill>
                            <a:srgbClr val="000000"/>
                          </a:solidFill>
                          <a:latin typeface="Calibri"/>
                        </a:rPr>
                        <a:t>22.4.1.4.</a:t>
                      </a:r>
                      <a:r>
                        <a:rPr sz="700" b="0" i="1">
                          <a:solidFill>
                            <a:srgbClr val="000000"/>
                          </a:solidFill>
                          <a:latin typeface="Times New Roman"/>
                        </a:rPr>
                        <a:t> </a:t>
                      </a:r>
                      <a:r>
                        <a:rPr sz="1100" b="0" i="1">
                          <a:solidFill>
                            <a:srgbClr val="000000"/>
                          </a:solidFill>
                          <a:latin typeface="Calibri"/>
                        </a:rPr>
                        <a:t>South Africa</a:t>
                      </a:r>
                      <a:endParaRPr sz="1100"/>
                    </a:p>
                  </a:txBody>
                  <a:tcPr marL="1028700" marR="9525" marT="9525" marB="0" anchor="ctr"/>
                </a:tc>
              </a:tr>
              <a:tr h="175260">
                <a:tc>
                  <a:txBody>
                    <a:bodyPr wrap="square"/>
                    <a:lstStyle/>
                    <a:p>
                      <a:pPr algn="l"/>
                      <a:r>
                        <a:rPr sz="1100" b="0" i="1">
                          <a:solidFill>
                            <a:srgbClr val="000000"/>
                          </a:solidFill>
                          <a:latin typeface="Calibri"/>
                        </a:rPr>
                        <a:t>22.4.1.5.</a:t>
                      </a:r>
                      <a:r>
                        <a:rPr sz="700" b="0" i="1">
                          <a:solidFill>
                            <a:srgbClr val="000000"/>
                          </a:solidFill>
                          <a:latin typeface="Times New Roman"/>
                        </a:rPr>
                        <a:t> </a:t>
                      </a:r>
                      <a:r>
                        <a:rPr sz="1100" b="0" i="1">
                          <a:solidFill>
                            <a:srgbClr val="000000"/>
                          </a:solidFill>
                          <a:latin typeface="Calibri"/>
                        </a:rPr>
                        <a:t>Rest of Middle East and Africa</a:t>
                      </a:r>
                      <a:endParaRPr sz="1100"/>
                    </a:p>
                  </a:txBody>
                  <a:tcPr marL="1028700" marR="9525" marT="9525" marB="0" anchor="ctr"/>
                </a:tc>
              </a:tr>
              <a:tr h="175260">
                <a:tc>
                  <a:txBody>
                    <a:bodyPr wrap="square"/>
                    <a:lstStyle/>
                    <a:p>
                      <a:pPr algn="l"/>
                      <a:r>
                        <a:rPr sz="1100" b="0" i="0">
                          <a:solidFill>
                            <a:srgbClr val="000000"/>
                          </a:solidFill>
                          <a:latin typeface="Calibri"/>
                        </a:rPr>
                        <a:t>22.4.2.</a:t>
                      </a:r>
                      <a:r>
                        <a:rPr sz="700" b="0" i="0">
                          <a:solidFill>
                            <a:srgbClr val="000000"/>
                          </a:solidFill>
                          <a:latin typeface="Times New Roman"/>
                        </a:rPr>
                        <a:t> </a:t>
                      </a:r>
                      <a:r>
                        <a:rPr sz="1100" b="0" i="0">
                          <a:solidFill>
                            <a:srgbClr val="000000"/>
                          </a:solidFill>
                          <a:latin typeface="Calibri"/>
                        </a:rPr>
                        <a:t>By Product Type / Chemistry</a:t>
                      </a:r>
                      <a:endParaRPr sz="1100"/>
                    </a:p>
                  </a:txBody>
                  <a:tcPr marL="771525" marR="9525" marT="9525" marB="0" anchor="ctr"/>
                </a:tc>
              </a:tr>
              <a:tr h="175260">
                <a:tc>
                  <a:txBody>
                    <a:bodyPr wrap="square"/>
                    <a:lstStyle/>
                    <a:p>
                      <a:pPr algn="l"/>
                      <a:r>
                        <a:rPr sz="1100" b="0" i="0">
                          <a:solidFill>
                            <a:srgbClr val="000000"/>
                          </a:solidFill>
                          <a:latin typeface="Calibri"/>
                        </a:rPr>
                        <a:t>22.4.3.</a:t>
                      </a:r>
                      <a:r>
                        <a:rPr sz="700" b="0" i="0">
                          <a:solidFill>
                            <a:srgbClr val="000000"/>
                          </a:solidFill>
                          <a:latin typeface="Times New Roman"/>
                        </a:rPr>
                        <a:t> </a:t>
                      </a:r>
                      <a:r>
                        <a:rPr sz="1100" b="0" i="0">
                          <a:solidFill>
                            <a:srgbClr val="000000"/>
                          </a:solidFill>
                          <a:latin typeface="Calibri"/>
                        </a:rPr>
                        <a:t>By Product Configuration</a:t>
                      </a:r>
                      <a:endParaRPr sz="1100"/>
                    </a:p>
                  </a:txBody>
                  <a:tcPr marL="771525" marR="9525" marT="9525" marB="0" anchor="ctr"/>
                </a:tc>
              </a:tr>
              <a:tr h="175260">
                <a:tc>
                  <a:txBody>
                    <a:bodyPr wrap="square"/>
                    <a:lstStyle/>
                    <a:p>
                      <a:pPr algn="l"/>
                      <a:r>
                        <a:rPr sz="1100" b="0" i="0">
                          <a:solidFill>
                            <a:srgbClr val="000000"/>
                          </a:solidFill>
                          <a:latin typeface="Calibri"/>
                        </a:rPr>
                        <a:t>22.4.4.</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22.4.5.</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22.4.6.</a:t>
                      </a:r>
                      <a:r>
                        <a:rPr sz="700" b="0" i="0">
                          <a:solidFill>
                            <a:srgbClr val="000000"/>
                          </a:solidFill>
                          <a:latin typeface="Times New Roman"/>
                        </a:rPr>
                        <a:t> </a:t>
                      </a:r>
                      <a:r>
                        <a:rPr sz="1100" b="0" i="0">
                          <a:solidFill>
                            <a:srgbClr val="000000"/>
                          </a:solidFill>
                          <a:latin typeface="Calibri"/>
                        </a:rPr>
                        <a:t>By Substrate Material</a:t>
                      </a:r>
                      <a:endParaRPr sz="1100"/>
                    </a:p>
                  </a:txBody>
                  <a:tcPr marL="771525" marR="9525" marT="9525" marB="0" anchor="ctr"/>
                </a:tc>
              </a:tr>
              <a:tr h="175260">
                <a:tc>
                  <a:txBody>
                    <a:bodyPr wrap="square"/>
                    <a:lstStyle/>
                    <a:p>
                      <a:pPr algn="l"/>
                      <a:r>
                        <a:rPr sz="1100" b="0" i="0">
                          <a:solidFill>
                            <a:srgbClr val="000000"/>
                          </a:solidFill>
                          <a:latin typeface="Calibri"/>
                        </a:rPr>
                        <a:t>22.4.7.</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22.5.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22.5.1.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22.5.2.</a:t>
                      </a:r>
                      <a:r>
                        <a:rPr sz="700" b="0" i="0">
                          <a:solidFill>
                            <a:srgbClr val="000000"/>
                          </a:solidFill>
                          <a:latin typeface="Times New Roman"/>
                        </a:rPr>
                        <a:t> </a:t>
                      </a:r>
                      <a:r>
                        <a:rPr sz="1100" b="0" i="0">
                          <a:solidFill>
                            <a:srgbClr val="000000"/>
                          </a:solidFill>
                          <a:latin typeface="Calibri"/>
                        </a:rPr>
                        <a:t>By Product Type / Chemistry</a:t>
                      </a:r>
                      <a:endParaRPr sz="1100"/>
                    </a:p>
                  </a:txBody>
                  <a:tcPr marL="771525" marR="9525" marT="9525" marB="0" anchor="ctr"/>
                </a:tc>
              </a:tr>
              <a:tr h="175260">
                <a:tc>
                  <a:txBody>
                    <a:bodyPr wrap="square"/>
                    <a:lstStyle/>
                    <a:p>
                      <a:pPr algn="l"/>
                      <a:r>
                        <a:rPr sz="1100" b="0" i="0">
                          <a:solidFill>
                            <a:srgbClr val="000000"/>
                          </a:solidFill>
                          <a:latin typeface="Calibri"/>
                        </a:rPr>
                        <a:t>22.5.3.</a:t>
                      </a:r>
                      <a:r>
                        <a:rPr sz="700" b="0" i="0">
                          <a:solidFill>
                            <a:srgbClr val="000000"/>
                          </a:solidFill>
                          <a:latin typeface="Times New Roman"/>
                        </a:rPr>
                        <a:t> </a:t>
                      </a:r>
                      <a:r>
                        <a:rPr sz="1100" b="0" i="0">
                          <a:solidFill>
                            <a:srgbClr val="000000"/>
                          </a:solidFill>
                          <a:latin typeface="Calibri"/>
                        </a:rPr>
                        <a:t>By Product Configuration</a:t>
                      </a:r>
                      <a:endParaRPr sz="1100"/>
                    </a:p>
                  </a:txBody>
                  <a:tcPr marL="771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22.5.4.</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22.5.5.</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22.5.6.</a:t>
                      </a:r>
                      <a:r>
                        <a:rPr sz="700" b="0" i="0">
                          <a:solidFill>
                            <a:srgbClr val="000000"/>
                          </a:solidFill>
                          <a:latin typeface="Times New Roman"/>
                        </a:rPr>
                        <a:t> </a:t>
                      </a:r>
                      <a:r>
                        <a:rPr sz="1100" b="0" i="0">
                          <a:solidFill>
                            <a:srgbClr val="000000"/>
                          </a:solidFill>
                          <a:latin typeface="Calibri"/>
                        </a:rPr>
                        <a:t>By Substrate Material</a:t>
                      </a:r>
                      <a:endParaRPr sz="1100"/>
                    </a:p>
                  </a:txBody>
                  <a:tcPr marL="771525" marR="9525" marT="9525" marB="0" anchor="ctr"/>
                </a:tc>
              </a:tr>
              <a:tr h="175260">
                <a:tc>
                  <a:txBody>
                    <a:bodyPr wrap="square"/>
                    <a:lstStyle/>
                    <a:p>
                      <a:pPr algn="l"/>
                      <a:r>
                        <a:rPr sz="1100" b="0" i="0">
                          <a:solidFill>
                            <a:srgbClr val="000000"/>
                          </a:solidFill>
                          <a:latin typeface="Calibri"/>
                        </a:rPr>
                        <a:t>22.5.7.</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22.6.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22.7.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22.8.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r>
                        <a:rPr sz="1100" b="1" i="0">
                          <a:solidFill>
                            <a:srgbClr val="000000"/>
                          </a:solidFill>
                          <a:latin typeface="Calibri"/>
                        </a:rPr>
                        <a:t>23.</a:t>
                      </a:r>
                      <a:r>
                        <a:rPr sz="700" b="1" i="0">
                          <a:solidFill>
                            <a:srgbClr val="000000"/>
                          </a:solidFill>
                          <a:latin typeface="Times New Roman"/>
                        </a:rPr>
                        <a:t>    </a:t>
                      </a:r>
                      <a:r>
                        <a:rPr sz="1100" b="1" i="0">
                          <a:solidFill>
                            <a:srgbClr val="000000"/>
                          </a:solidFill>
                          <a:latin typeface="Calibri"/>
                        </a:rPr>
                        <a:t>Country Wise Waterproof Coatings Market Analysis</a:t>
                      </a:r>
                      <a:endParaRPr sz="1100"/>
                    </a:p>
                  </a:txBody>
                  <a:tcPr marL="171450" marR="9525" marT="9525" marB="0" anchor="ctr"/>
                </a:tc>
              </a:tr>
              <a:tr h="175260">
                <a:tc>
                  <a:txBody>
                    <a:bodyPr wrap="square"/>
                    <a:lstStyle/>
                    <a:p>
                      <a:pPr algn="l"/>
                      <a:r>
                        <a:rPr sz="1100" b="0" i="0">
                          <a:solidFill>
                            <a:srgbClr val="0070C0"/>
                          </a:solidFill>
                          <a:latin typeface="Calibri"/>
                        </a:rPr>
                        <a:t>23.1.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0000"/>
                          </a:solidFill>
                          <a:latin typeface="Calibri"/>
                        </a:rPr>
                        <a:t>23.1.1.</a:t>
                      </a:r>
                      <a:r>
                        <a:rPr sz="700" b="0" i="0">
                          <a:solidFill>
                            <a:srgbClr val="000000"/>
                          </a:solidFill>
                          <a:latin typeface="Times New Roman"/>
                        </a:rPr>
                        <a:t> </a:t>
                      </a:r>
                      <a:r>
                        <a:rPr sz="1100" b="0" i="0">
                          <a:solidFill>
                            <a:srgbClr val="000000"/>
                          </a:solidFill>
                          <a:latin typeface="Calibri"/>
                        </a:rPr>
                        <a:t>Market Value Proportion Analysis, By Key Countries</a:t>
                      </a:r>
                      <a:endParaRPr sz="1100"/>
                    </a:p>
                  </a:txBody>
                  <a:tcPr marL="771525" marR="9525" marT="9525" marB="0" anchor="ctr"/>
                </a:tc>
              </a:tr>
              <a:tr h="175260">
                <a:tc>
                  <a:txBody>
                    <a:bodyPr wrap="square"/>
                    <a:lstStyle/>
                    <a:p>
                      <a:pPr algn="l"/>
                      <a:r>
                        <a:rPr sz="1100" b="0" i="0">
                          <a:solidFill>
                            <a:srgbClr val="000000"/>
                          </a:solidFill>
                          <a:latin typeface="Calibri"/>
                        </a:rPr>
                        <a:t>23.1.2.</a:t>
                      </a:r>
                      <a:r>
                        <a:rPr sz="700" b="0" i="0">
                          <a:solidFill>
                            <a:srgbClr val="000000"/>
                          </a:solidFill>
                          <a:latin typeface="Times New Roman"/>
                        </a:rPr>
                        <a:t> </a:t>
                      </a:r>
                      <a:r>
                        <a:rPr sz="1100" b="0" i="0">
                          <a:solidFill>
                            <a:srgbClr val="000000"/>
                          </a:solidFill>
                          <a:latin typeface="Calibri"/>
                        </a:rPr>
                        <a:t>Global Vs. Country Growth Comparison</a:t>
                      </a:r>
                      <a:endParaRPr sz="1100"/>
                    </a:p>
                  </a:txBody>
                  <a:tcPr marL="771525" marR="9525" marT="9525" marB="0" anchor="ctr"/>
                </a:tc>
              </a:tr>
              <a:tr h="175260">
                <a:tc>
                  <a:txBody>
                    <a:bodyPr wrap="square"/>
                    <a:lstStyle/>
                    <a:p>
                      <a:pPr algn="l"/>
                      <a:r>
                        <a:rPr sz="1100" b="0" i="0">
                          <a:solidFill>
                            <a:srgbClr val="0070C0"/>
                          </a:solidFill>
                          <a:latin typeface="Calibri"/>
                        </a:rPr>
                        <a:t>23.2.</a:t>
                      </a:r>
                      <a:r>
                        <a:rPr sz="700" b="0" i="0">
                          <a:solidFill>
                            <a:srgbClr val="0070C0"/>
                          </a:solidFill>
                          <a:latin typeface="Times New Roman"/>
                        </a:rPr>
                        <a:t>  </a:t>
                      </a:r>
                      <a:r>
                        <a:rPr sz="1100" b="0" i="0">
                          <a:solidFill>
                            <a:srgbClr val="0070C0"/>
                          </a:solidFill>
                          <a:latin typeface="Calibri"/>
                        </a:rPr>
                        <a:t>U.S. Waterproof Coatings Market Analysis</a:t>
                      </a:r>
                      <a:endParaRPr sz="1100"/>
                    </a:p>
                  </a:txBody>
                  <a:tcPr marL="428625" marR="9525" marT="9525" marB="0" anchor="ctr"/>
                </a:tc>
              </a:tr>
              <a:tr h="175260">
                <a:tc>
                  <a:txBody>
                    <a:bodyPr wrap="square"/>
                    <a:lstStyle/>
                    <a:p>
                      <a:pPr algn="l"/>
                      <a:r>
                        <a:rPr sz="1100" b="0" i="0">
                          <a:solidFill>
                            <a:srgbClr val="000000"/>
                          </a:solidFill>
                          <a:latin typeface="Calibri"/>
                        </a:rPr>
                        <a:t>23.2.1.</a:t>
                      </a:r>
                      <a:r>
                        <a:rPr sz="700" b="0" i="0">
                          <a:solidFill>
                            <a:srgbClr val="000000"/>
                          </a:solidFill>
                          <a:latin typeface="Times New Roman"/>
                        </a:rPr>
                        <a:t> </a:t>
                      </a:r>
                      <a:r>
                        <a:rPr sz="1100" b="0" i="0">
                          <a:solidFill>
                            <a:srgbClr val="000000"/>
                          </a:solidFill>
                          <a:latin typeface="Calibri"/>
                        </a:rPr>
                        <a:t>By Product Type / Chemistry</a:t>
                      </a:r>
                      <a:endParaRPr sz="1100"/>
                    </a:p>
                  </a:txBody>
                  <a:tcPr marL="771525" marR="9525" marT="9525" marB="0" anchor="ctr"/>
                </a:tc>
              </a:tr>
              <a:tr h="175260">
                <a:tc>
                  <a:txBody>
                    <a:bodyPr wrap="square"/>
                    <a:lstStyle/>
                    <a:p>
                      <a:pPr algn="l"/>
                      <a:r>
                        <a:rPr sz="1100" b="0" i="0">
                          <a:solidFill>
                            <a:srgbClr val="000000"/>
                          </a:solidFill>
                          <a:latin typeface="Calibri"/>
                        </a:rPr>
                        <a:t>23.2.2.</a:t>
                      </a:r>
                      <a:r>
                        <a:rPr sz="700" b="0" i="0">
                          <a:solidFill>
                            <a:srgbClr val="000000"/>
                          </a:solidFill>
                          <a:latin typeface="Times New Roman"/>
                        </a:rPr>
                        <a:t> </a:t>
                      </a:r>
                      <a:r>
                        <a:rPr sz="1100" b="0" i="0">
                          <a:solidFill>
                            <a:srgbClr val="000000"/>
                          </a:solidFill>
                          <a:latin typeface="Calibri"/>
                        </a:rPr>
                        <a:t>By Product Configuration</a:t>
                      </a:r>
                      <a:endParaRPr sz="1100"/>
                    </a:p>
                  </a:txBody>
                  <a:tcPr marL="771525" marR="9525" marT="9525" marB="0" anchor="ctr"/>
                </a:tc>
              </a:tr>
              <a:tr h="175260">
                <a:tc>
                  <a:txBody>
                    <a:bodyPr wrap="square"/>
                    <a:lstStyle/>
                    <a:p>
                      <a:pPr algn="l"/>
                      <a:r>
                        <a:rPr sz="1100" b="0" i="0">
                          <a:solidFill>
                            <a:srgbClr val="000000"/>
                          </a:solidFill>
                          <a:latin typeface="Calibri"/>
                        </a:rPr>
                        <a:t>23.2.3.</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23.2.4.</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23.2.5.</a:t>
                      </a:r>
                      <a:r>
                        <a:rPr sz="700" b="0" i="0">
                          <a:solidFill>
                            <a:srgbClr val="000000"/>
                          </a:solidFill>
                          <a:latin typeface="Times New Roman"/>
                        </a:rPr>
                        <a:t> </a:t>
                      </a:r>
                      <a:r>
                        <a:rPr sz="1100" b="0" i="0">
                          <a:solidFill>
                            <a:srgbClr val="000000"/>
                          </a:solidFill>
                          <a:latin typeface="Calibri"/>
                        </a:rPr>
                        <a:t>By Substrate Material</a:t>
                      </a:r>
                      <a:endParaRPr sz="1100"/>
                    </a:p>
                  </a:txBody>
                  <a:tcPr marL="771525" marR="9525" marT="9525" marB="0" anchor="ctr"/>
                </a:tc>
              </a:tr>
              <a:tr h="175260">
                <a:tc>
                  <a:txBody>
                    <a:bodyPr wrap="square"/>
                    <a:lstStyle/>
                    <a:p>
                      <a:pPr algn="l"/>
                      <a:r>
                        <a:rPr sz="1100" b="0" i="0">
                          <a:solidFill>
                            <a:srgbClr val="000000"/>
                          </a:solidFill>
                          <a:latin typeface="Calibri"/>
                        </a:rPr>
                        <a:t>23.2.6.</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23.3.</a:t>
                      </a:r>
                      <a:r>
                        <a:rPr sz="700" b="0" i="0">
                          <a:solidFill>
                            <a:srgbClr val="0070C0"/>
                          </a:solidFill>
                          <a:latin typeface="Times New Roman"/>
                        </a:rPr>
                        <a:t>  </a:t>
                      </a:r>
                      <a:r>
                        <a:rPr sz="1100" b="0" i="0">
                          <a:solidFill>
                            <a:srgbClr val="0070C0"/>
                          </a:solidFill>
                          <a:latin typeface="Calibri"/>
                        </a:rPr>
                        <a:t>Canada Waterproof Coatings Market Analysis</a:t>
                      </a:r>
                      <a:endParaRPr sz="1100"/>
                    </a:p>
                  </a:txBody>
                  <a:tcPr marL="428625" marR="9525" marT="9525" marB="0" anchor="ctr"/>
                </a:tc>
              </a:tr>
              <a:tr h="175260">
                <a:tc>
                  <a:txBody>
                    <a:bodyPr wrap="square"/>
                    <a:lstStyle/>
                    <a:p>
                      <a:pPr algn="l"/>
                      <a:r>
                        <a:rPr sz="1100" b="0" i="0">
                          <a:solidFill>
                            <a:srgbClr val="000000"/>
                          </a:solidFill>
                          <a:latin typeface="Calibri"/>
                        </a:rPr>
                        <a:t>23.3.1.</a:t>
                      </a:r>
                      <a:r>
                        <a:rPr sz="700" b="0" i="0">
                          <a:solidFill>
                            <a:srgbClr val="000000"/>
                          </a:solidFill>
                          <a:latin typeface="Times New Roman"/>
                        </a:rPr>
                        <a:t> </a:t>
                      </a:r>
                      <a:r>
                        <a:rPr sz="1100" b="0" i="0">
                          <a:solidFill>
                            <a:srgbClr val="000000"/>
                          </a:solidFill>
                          <a:latin typeface="Calibri"/>
                        </a:rPr>
                        <a:t>By Product Type / Chemistry</a:t>
                      </a:r>
                      <a:endParaRPr sz="1100"/>
                    </a:p>
                  </a:txBody>
                  <a:tcPr marL="771525" marR="9525" marT="9525" marB="0" anchor="ctr"/>
                </a:tc>
              </a:tr>
              <a:tr h="175260">
                <a:tc>
                  <a:txBody>
                    <a:bodyPr wrap="square"/>
                    <a:lstStyle/>
                    <a:p>
                      <a:pPr algn="l"/>
                      <a:r>
                        <a:rPr sz="1100" b="0" i="0">
                          <a:solidFill>
                            <a:srgbClr val="000000"/>
                          </a:solidFill>
                          <a:latin typeface="Calibri"/>
                        </a:rPr>
                        <a:t>23.3.2.</a:t>
                      </a:r>
                      <a:r>
                        <a:rPr sz="700" b="0" i="0">
                          <a:solidFill>
                            <a:srgbClr val="000000"/>
                          </a:solidFill>
                          <a:latin typeface="Times New Roman"/>
                        </a:rPr>
                        <a:t> </a:t>
                      </a:r>
                      <a:r>
                        <a:rPr sz="1100" b="0" i="0">
                          <a:solidFill>
                            <a:srgbClr val="000000"/>
                          </a:solidFill>
                          <a:latin typeface="Calibri"/>
                        </a:rPr>
                        <a:t>By Product Configuration</a:t>
                      </a:r>
                      <a:endParaRPr sz="1100"/>
                    </a:p>
                  </a:txBody>
                  <a:tcPr marL="771525" marR="9525" marT="9525" marB="0" anchor="ctr"/>
                </a:tc>
              </a:tr>
              <a:tr h="175260">
                <a:tc>
                  <a:txBody>
                    <a:bodyPr wrap="square"/>
                    <a:lstStyle/>
                    <a:p>
                      <a:pPr algn="l"/>
                      <a:r>
                        <a:rPr sz="1100" b="0" i="0">
                          <a:solidFill>
                            <a:srgbClr val="000000"/>
                          </a:solidFill>
                          <a:latin typeface="Calibri"/>
                        </a:rPr>
                        <a:t>23.3.3.</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23.3.4.</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23.3.5.</a:t>
                      </a:r>
                      <a:r>
                        <a:rPr sz="700" b="0" i="0">
                          <a:solidFill>
                            <a:srgbClr val="000000"/>
                          </a:solidFill>
                          <a:latin typeface="Times New Roman"/>
                        </a:rPr>
                        <a:t> </a:t>
                      </a:r>
                      <a:r>
                        <a:rPr sz="1100" b="0" i="0">
                          <a:solidFill>
                            <a:srgbClr val="000000"/>
                          </a:solidFill>
                          <a:latin typeface="Calibri"/>
                        </a:rPr>
                        <a:t>By Substrate Material</a:t>
                      </a:r>
                      <a:endParaRPr sz="1100"/>
                    </a:p>
                  </a:txBody>
                  <a:tcPr marL="771525" marR="9525" marT="9525" marB="0" anchor="ctr"/>
                </a:tc>
              </a:tr>
              <a:tr h="175260">
                <a:tc>
                  <a:txBody>
                    <a:bodyPr wrap="square"/>
                    <a:lstStyle/>
                    <a:p>
                      <a:pPr algn="l"/>
                      <a:r>
                        <a:rPr sz="1100" b="0" i="0">
                          <a:solidFill>
                            <a:srgbClr val="000000"/>
                          </a:solidFill>
                          <a:latin typeface="Calibri"/>
                        </a:rPr>
                        <a:t>23.3.6.</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23.4.</a:t>
                      </a:r>
                      <a:r>
                        <a:rPr sz="700" b="0" i="0">
                          <a:solidFill>
                            <a:srgbClr val="0070C0"/>
                          </a:solidFill>
                          <a:latin typeface="Times New Roman"/>
                        </a:rPr>
                        <a:t>  </a:t>
                      </a:r>
                      <a:r>
                        <a:rPr sz="1100" b="0" i="0">
                          <a:solidFill>
                            <a:srgbClr val="0070C0"/>
                          </a:solidFill>
                          <a:latin typeface="Calibri"/>
                        </a:rPr>
                        <a:t>Mexico Waterproof Coatings Market Analysis</a:t>
                      </a:r>
                      <a:endParaRPr sz="1100"/>
                    </a:p>
                  </a:txBody>
                  <a:tcPr marL="428625" marR="9525" marT="9525" marB="0" anchor="ctr"/>
                </a:tc>
              </a:tr>
              <a:tr h="175260">
                <a:tc>
                  <a:txBody>
                    <a:bodyPr wrap="square"/>
                    <a:lstStyle/>
                    <a:p>
                      <a:pPr algn="l"/>
                      <a:r>
                        <a:rPr sz="1100" b="0" i="0">
                          <a:solidFill>
                            <a:srgbClr val="000000"/>
                          </a:solidFill>
                          <a:latin typeface="Calibri"/>
                        </a:rPr>
                        <a:t>23.4.1.</a:t>
                      </a:r>
                      <a:r>
                        <a:rPr sz="700" b="0" i="0">
                          <a:solidFill>
                            <a:srgbClr val="000000"/>
                          </a:solidFill>
                          <a:latin typeface="Times New Roman"/>
                        </a:rPr>
                        <a:t> </a:t>
                      </a:r>
                      <a:r>
                        <a:rPr sz="1100" b="0" i="0">
                          <a:solidFill>
                            <a:srgbClr val="000000"/>
                          </a:solidFill>
                          <a:latin typeface="Calibri"/>
                        </a:rPr>
                        <a:t>By Product Type / Chemistry</a:t>
                      </a:r>
                      <a:endParaRPr sz="1100"/>
                    </a:p>
                  </a:txBody>
                  <a:tcPr marL="771525" marR="9525" marT="9525" marB="0" anchor="ctr"/>
                </a:tc>
              </a:tr>
              <a:tr h="175260">
                <a:tc>
                  <a:txBody>
                    <a:bodyPr wrap="square"/>
                    <a:lstStyle/>
                    <a:p>
                      <a:pPr algn="l"/>
                      <a:r>
                        <a:rPr sz="1100" b="0" i="0">
                          <a:solidFill>
                            <a:srgbClr val="000000"/>
                          </a:solidFill>
                          <a:latin typeface="Calibri"/>
                        </a:rPr>
                        <a:t>23.4.2.</a:t>
                      </a:r>
                      <a:r>
                        <a:rPr sz="700" b="0" i="0">
                          <a:solidFill>
                            <a:srgbClr val="000000"/>
                          </a:solidFill>
                          <a:latin typeface="Times New Roman"/>
                        </a:rPr>
                        <a:t> </a:t>
                      </a:r>
                      <a:r>
                        <a:rPr sz="1100" b="0" i="0">
                          <a:solidFill>
                            <a:srgbClr val="000000"/>
                          </a:solidFill>
                          <a:latin typeface="Calibri"/>
                        </a:rPr>
                        <a:t>By Product Configuration</a:t>
                      </a:r>
                      <a:endParaRPr sz="1100"/>
                    </a:p>
                  </a:txBody>
                  <a:tcPr marL="771525" marR="9525" marT="9525" marB="0" anchor="ctr"/>
                </a:tc>
              </a:tr>
              <a:tr h="175260">
                <a:tc>
                  <a:txBody>
                    <a:bodyPr wrap="square"/>
                    <a:lstStyle/>
                    <a:p>
                      <a:pPr algn="l"/>
                      <a:r>
                        <a:rPr sz="1100" b="0" i="0">
                          <a:solidFill>
                            <a:srgbClr val="000000"/>
                          </a:solidFill>
                          <a:latin typeface="Calibri"/>
                        </a:rPr>
                        <a:t>23.4.3.</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23.4.4.</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(7/9)</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23.4.5.</a:t>
                      </a:r>
                      <a:r>
                        <a:rPr sz="700" b="0" i="0">
                          <a:solidFill>
                            <a:srgbClr val="000000"/>
                          </a:solidFill>
                          <a:latin typeface="Times New Roman"/>
                        </a:rPr>
                        <a:t> </a:t>
                      </a:r>
                      <a:r>
                        <a:rPr sz="1100" b="0" i="0">
                          <a:solidFill>
                            <a:srgbClr val="000000"/>
                          </a:solidFill>
                          <a:latin typeface="Calibri"/>
                        </a:rPr>
                        <a:t>By Substrate Material</a:t>
                      </a:r>
                      <a:endParaRPr sz="1100"/>
                    </a:p>
                  </a:txBody>
                  <a:tcPr marL="771525" marR="9525" marT="9525" marB="0" anchor="ctr"/>
                </a:tc>
              </a:tr>
              <a:tr h="175260">
                <a:tc>
                  <a:txBody>
                    <a:bodyPr wrap="square"/>
                    <a:lstStyle/>
                    <a:p>
                      <a:pPr algn="l"/>
                      <a:r>
                        <a:rPr sz="1100" b="0" i="0">
                          <a:solidFill>
                            <a:srgbClr val="000000"/>
                          </a:solidFill>
                          <a:latin typeface="Calibri"/>
                        </a:rPr>
                        <a:t>23.4.6.</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23.5.</a:t>
                      </a:r>
                      <a:r>
                        <a:rPr sz="700" b="0" i="0">
                          <a:solidFill>
                            <a:srgbClr val="0070C0"/>
                          </a:solidFill>
                          <a:latin typeface="Times New Roman"/>
                        </a:rPr>
                        <a:t>  </a:t>
                      </a:r>
                      <a:r>
                        <a:rPr sz="1100" b="0" i="0">
                          <a:solidFill>
                            <a:srgbClr val="0070C0"/>
                          </a:solidFill>
                          <a:latin typeface="Calibri"/>
                        </a:rPr>
                        <a:t>Brazil Waterproof Coatings Market Analysis</a:t>
                      </a:r>
                      <a:endParaRPr sz="1100"/>
                    </a:p>
                  </a:txBody>
                  <a:tcPr marL="428625" marR="9525" marT="9525" marB="0" anchor="ctr"/>
                </a:tc>
              </a:tr>
              <a:tr h="175260">
                <a:tc>
                  <a:txBody>
                    <a:bodyPr wrap="square"/>
                    <a:lstStyle/>
                    <a:p>
                      <a:pPr algn="l"/>
                      <a:r>
                        <a:rPr sz="1100" b="0" i="0">
                          <a:solidFill>
                            <a:srgbClr val="000000"/>
                          </a:solidFill>
                          <a:latin typeface="Calibri"/>
                        </a:rPr>
                        <a:t>23.5.1.</a:t>
                      </a:r>
                      <a:r>
                        <a:rPr sz="700" b="0" i="0">
                          <a:solidFill>
                            <a:srgbClr val="000000"/>
                          </a:solidFill>
                          <a:latin typeface="Times New Roman"/>
                        </a:rPr>
                        <a:t> </a:t>
                      </a:r>
                      <a:r>
                        <a:rPr sz="1100" b="0" i="0">
                          <a:solidFill>
                            <a:srgbClr val="000000"/>
                          </a:solidFill>
                          <a:latin typeface="Calibri"/>
                        </a:rPr>
                        <a:t>By Product Type / Chemistry</a:t>
                      </a:r>
                      <a:endParaRPr sz="1100"/>
                    </a:p>
                  </a:txBody>
                  <a:tcPr marL="771525" marR="9525" marT="9525" marB="0" anchor="ctr"/>
                </a:tc>
              </a:tr>
              <a:tr h="175260">
                <a:tc>
                  <a:txBody>
                    <a:bodyPr wrap="square"/>
                    <a:lstStyle/>
                    <a:p>
                      <a:pPr algn="l"/>
                      <a:r>
                        <a:rPr sz="1100" b="0" i="0">
                          <a:solidFill>
                            <a:srgbClr val="000000"/>
                          </a:solidFill>
                          <a:latin typeface="Calibri"/>
                        </a:rPr>
                        <a:t>23.5.2.</a:t>
                      </a:r>
                      <a:r>
                        <a:rPr sz="700" b="0" i="0">
                          <a:solidFill>
                            <a:srgbClr val="000000"/>
                          </a:solidFill>
                          <a:latin typeface="Times New Roman"/>
                        </a:rPr>
                        <a:t> </a:t>
                      </a:r>
                      <a:r>
                        <a:rPr sz="1100" b="0" i="0">
                          <a:solidFill>
                            <a:srgbClr val="000000"/>
                          </a:solidFill>
                          <a:latin typeface="Calibri"/>
                        </a:rPr>
                        <a:t>By Product Configuration</a:t>
                      </a:r>
                      <a:endParaRPr sz="1100"/>
                    </a:p>
                  </a:txBody>
                  <a:tcPr marL="771525" marR="9525" marT="9525" marB="0" anchor="ctr"/>
                </a:tc>
              </a:tr>
              <a:tr h="175260">
                <a:tc>
                  <a:txBody>
                    <a:bodyPr wrap="square"/>
                    <a:lstStyle/>
                    <a:p>
                      <a:pPr algn="l"/>
                      <a:r>
                        <a:rPr sz="1100" b="0" i="0">
                          <a:solidFill>
                            <a:srgbClr val="000000"/>
                          </a:solidFill>
                          <a:latin typeface="Calibri"/>
                        </a:rPr>
                        <a:t>23.5.3.</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23.5.4.</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23.5.5.</a:t>
                      </a:r>
                      <a:r>
                        <a:rPr sz="700" b="0" i="0">
                          <a:solidFill>
                            <a:srgbClr val="000000"/>
                          </a:solidFill>
                          <a:latin typeface="Times New Roman"/>
                        </a:rPr>
                        <a:t> </a:t>
                      </a:r>
                      <a:r>
                        <a:rPr sz="1100" b="0" i="0">
                          <a:solidFill>
                            <a:srgbClr val="000000"/>
                          </a:solidFill>
                          <a:latin typeface="Calibri"/>
                        </a:rPr>
                        <a:t>By Substrate Material</a:t>
                      </a:r>
                      <a:endParaRPr sz="1100"/>
                    </a:p>
                  </a:txBody>
                  <a:tcPr marL="771525" marR="9525" marT="9525" marB="0" anchor="ctr"/>
                </a:tc>
              </a:tr>
              <a:tr h="175260">
                <a:tc>
                  <a:txBody>
                    <a:bodyPr wrap="square"/>
                    <a:lstStyle/>
                    <a:p>
                      <a:pPr algn="l"/>
                      <a:r>
                        <a:rPr sz="1100" b="0" i="0">
                          <a:solidFill>
                            <a:srgbClr val="000000"/>
                          </a:solidFill>
                          <a:latin typeface="Calibri"/>
                        </a:rPr>
                        <a:t>23.5.6.</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23.6.</a:t>
                      </a:r>
                      <a:r>
                        <a:rPr sz="700" b="0" i="0">
                          <a:solidFill>
                            <a:srgbClr val="0070C0"/>
                          </a:solidFill>
                          <a:latin typeface="Times New Roman"/>
                        </a:rPr>
                        <a:t>  </a:t>
                      </a:r>
                      <a:r>
                        <a:rPr sz="1100" b="0" i="0">
                          <a:solidFill>
                            <a:srgbClr val="0070C0"/>
                          </a:solidFill>
                          <a:latin typeface="Calibri"/>
                        </a:rPr>
                        <a:t>Germany Waterproof Coatings Market Analysis</a:t>
                      </a:r>
                      <a:endParaRPr sz="1100"/>
                    </a:p>
                  </a:txBody>
                  <a:tcPr marL="428625" marR="9525" marT="9525" marB="0" anchor="ctr"/>
                </a:tc>
              </a:tr>
              <a:tr h="175260">
                <a:tc>
                  <a:txBody>
                    <a:bodyPr wrap="square"/>
                    <a:lstStyle/>
                    <a:p>
                      <a:pPr algn="l"/>
                      <a:r>
                        <a:rPr sz="1100" b="0" i="0">
                          <a:solidFill>
                            <a:srgbClr val="000000"/>
                          </a:solidFill>
                          <a:latin typeface="Calibri"/>
                        </a:rPr>
                        <a:t>23.6.1.</a:t>
                      </a:r>
                      <a:r>
                        <a:rPr sz="700" b="0" i="0">
                          <a:solidFill>
                            <a:srgbClr val="000000"/>
                          </a:solidFill>
                          <a:latin typeface="Times New Roman"/>
                        </a:rPr>
                        <a:t> </a:t>
                      </a:r>
                      <a:r>
                        <a:rPr sz="1100" b="0" i="0">
                          <a:solidFill>
                            <a:srgbClr val="000000"/>
                          </a:solidFill>
                          <a:latin typeface="Calibri"/>
                        </a:rPr>
                        <a:t>By Product Type / Chemistry</a:t>
                      </a:r>
                      <a:endParaRPr sz="1100"/>
                    </a:p>
                  </a:txBody>
                  <a:tcPr marL="771525" marR="9525" marT="9525" marB="0" anchor="ctr"/>
                </a:tc>
              </a:tr>
              <a:tr h="175260">
                <a:tc>
                  <a:txBody>
                    <a:bodyPr wrap="square"/>
                    <a:lstStyle/>
                    <a:p>
                      <a:pPr algn="l"/>
                      <a:r>
                        <a:rPr sz="1100" b="0" i="0">
                          <a:solidFill>
                            <a:srgbClr val="000000"/>
                          </a:solidFill>
                          <a:latin typeface="Calibri"/>
                        </a:rPr>
                        <a:t>23.6.2.</a:t>
                      </a:r>
                      <a:r>
                        <a:rPr sz="700" b="0" i="0">
                          <a:solidFill>
                            <a:srgbClr val="000000"/>
                          </a:solidFill>
                          <a:latin typeface="Times New Roman"/>
                        </a:rPr>
                        <a:t> </a:t>
                      </a:r>
                      <a:r>
                        <a:rPr sz="1100" b="0" i="0">
                          <a:solidFill>
                            <a:srgbClr val="000000"/>
                          </a:solidFill>
                          <a:latin typeface="Calibri"/>
                        </a:rPr>
                        <a:t>By Product Configuration</a:t>
                      </a:r>
                      <a:endParaRPr sz="1100"/>
                    </a:p>
                  </a:txBody>
                  <a:tcPr marL="771525" marR="9525" marT="9525" marB="0" anchor="ctr"/>
                </a:tc>
              </a:tr>
              <a:tr h="175260">
                <a:tc>
                  <a:txBody>
                    <a:bodyPr wrap="square"/>
                    <a:lstStyle/>
                    <a:p>
                      <a:pPr algn="l"/>
                      <a:r>
                        <a:rPr sz="1100" b="0" i="0">
                          <a:solidFill>
                            <a:srgbClr val="000000"/>
                          </a:solidFill>
                          <a:latin typeface="Calibri"/>
                        </a:rPr>
                        <a:t>23.6.3.</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23.6.4.</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23.6.5.</a:t>
                      </a:r>
                      <a:r>
                        <a:rPr sz="700" b="0" i="0">
                          <a:solidFill>
                            <a:srgbClr val="000000"/>
                          </a:solidFill>
                          <a:latin typeface="Times New Roman"/>
                        </a:rPr>
                        <a:t> </a:t>
                      </a:r>
                      <a:r>
                        <a:rPr sz="1100" b="0" i="0">
                          <a:solidFill>
                            <a:srgbClr val="000000"/>
                          </a:solidFill>
                          <a:latin typeface="Calibri"/>
                        </a:rPr>
                        <a:t>By Substrate Material</a:t>
                      </a:r>
                      <a:endParaRPr sz="1100"/>
                    </a:p>
                  </a:txBody>
                  <a:tcPr marL="771525" marR="9525" marT="9525" marB="0" anchor="ctr"/>
                </a:tc>
              </a:tr>
              <a:tr h="175260">
                <a:tc>
                  <a:txBody>
                    <a:bodyPr wrap="square"/>
                    <a:lstStyle/>
                    <a:p>
                      <a:pPr algn="l"/>
                      <a:r>
                        <a:rPr sz="1100" b="0" i="0">
                          <a:solidFill>
                            <a:srgbClr val="000000"/>
                          </a:solidFill>
                          <a:latin typeface="Calibri"/>
                        </a:rPr>
                        <a:t>23.6.6.</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23.7.</a:t>
                      </a:r>
                      <a:r>
                        <a:rPr sz="700" b="0" i="0">
                          <a:solidFill>
                            <a:srgbClr val="0070C0"/>
                          </a:solidFill>
                          <a:latin typeface="Times New Roman"/>
                        </a:rPr>
                        <a:t>  </a:t>
                      </a:r>
                      <a:r>
                        <a:rPr sz="1100" b="0" i="0">
                          <a:solidFill>
                            <a:srgbClr val="0070C0"/>
                          </a:solidFill>
                          <a:latin typeface="Calibri"/>
                        </a:rPr>
                        <a:t>Italy Waterproof Coatings Market Analysis</a:t>
                      </a:r>
                      <a:endParaRPr sz="1100"/>
                    </a:p>
                  </a:txBody>
                  <a:tcPr marL="428625" marR="9525" marT="9525" marB="0" anchor="ctr"/>
                </a:tc>
              </a:tr>
              <a:tr h="175260">
                <a:tc>
                  <a:txBody>
                    <a:bodyPr wrap="square"/>
                    <a:lstStyle/>
                    <a:p>
                      <a:pPr algn="l"/>
                      <a:r>
                        <a:rPr sz="1100" b="0" i="0">
                          <a:solidFill>
                            <a:srgbClr val="000000"/>
                          </a:solidFill>
                          <a:latin typeface="Calibri"/>
                        </a:rPr>
                        <a:t>23.7.1.</a:t>
                      </a:r>
                      <a:r>
                        <a:rPr sz="700" b="0" i="0">
                          <a:solidFill>
                            <a:srgbClr val="000000"/>
                          </a:solidFill>
                          <a:latin typeface="Times New Roman"/>
                        </a:rPr>
                        <a:t> </a:t>
                      </a:r>
                      <a:r>
                        <a:rPr sz="1100" b="0" i="0">
                          <a:solidFill>
                            <a:srgbClr val="000000"/>
                          </a:solidFill>
                          <a:latin typeface="Calibri"/>
                        </a:rPr>
                        <a:t>By Product Type / Chemistry</a:t>
                      </a:r>
                      <a:endParaRPr sz="1100"/>
                    </a:p>
                  </a:txBody>
                  <a:tcPr marL="771525" marR="9525" marT="9525" marB="0" anchor="ctr"/>
                </a:tc>
              </a:tr>
              <a:tr h="175260">
                <a:tc>
                  <a:txBody>
                    <a:bodyPr wrap="square"/>
                    <a:lstStyle/>
                    <a:p>
                      <a:pPr algn="l"/>
                      <a:r>
                        <a:rPr sz="1100" b="0" i="0">
                          <a:solidFill>
                            <a:srgbClr val="000000"/>
                          </a:solidFill>
                          <a:latin typeface="Calibri"/>
                        </a:rPr>
                        <a:t>23.7.2.</a:t>
                      </a:r>
                      <a:r>
                        <a:rPr sz="700" b="0" i="0">
                          <a:solidFill>
                            <a:srgbClr val="000000"/>
                          </a:solidFill>
                          <a:latin typeface="Times New Roman"/>
                        </a:rPr>
                        <a:t> </a:t>
                      </a:r>
                      <a:r>
                        <a:rPr sz="1100" b="0" i="0">
                          <a:solidFill>
                            <a:srgbClr val="000000"/>
                          </a:solidFill>
                          <a:latin typeface="Calibri"/>
                        </a:rPr>
                        <a:t>By Product Configuration</a:t>
                      </a:r>
                      <a:endParaRPr sz="1100"/>
                    </a:p>
                  </a:txBody>
                  <a:tcPr marL="771525" marR="9525" marT="9525" marB="0" anchor="ctr"/>
                </a:tc>
              </a:tr>
              <a:tr h="175260">
                <a:tc>
                  <a:txBody>
                    <a:bodyPr wrap="square"/>
                    <a:lstStyle/>
                    <a:p>
                      <a:pPr algn="l"/>
                      <a:r>
                        <a:rPr sz="1100" b="0" i="0">
                          <a:solidFill>
                            <a:srgbClr val="000000"/>
                          </a:solidFill>
                          <a:latin typeface="Calibri"/>
                        </a:rPr>
                        <a:t>23.7.3.</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23.7.4.</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23.7.5.</a:t>
                      </a:r>
                      <a:r>
                        <a:rPr sz="700" b="0" i="0">
                          <a:solidFill>
                            <a:srgbClr val="000000"/>
                          </a:solidFill>
                          <a:latin typeface="Times New Roman"/>
                        </a:rPr>
                        <a:t> </a:t>
                      </a:r>
                      <a:r>
                        <a:rPr sz="1100" b="0" i="0">
                          <a:solidFill>
                            <a:srgbClr val="000000"/>
                          </a:solidFill>
                          <a:latin typeface="Calibri"/>
                        </a:rPr>
                        <a:t>By Substrate Material</a:t>
                      </a:r>
                      <a:endParaRPr sz="1100"/>
                    </a:p>
                  </a:txBody>
                  <a:tcPr marL="771525" marR="9525" marT="9525" marB="0" anchor="ctr"/>
                </a:tc>
              </a:tr>
              <a:tr h="175260">
                <a:tc>
                  <a:txBody>
                    <a:bodyPr wrap="square"/>
                    <a:lstStyle/>
                    <a:p>
                      <a:pPr algn="l"/>
                      <a:r>
                        <a:rPr sz="1100" b="0" i="0">
                          <a:solidFill>
                            <a:srgbClr val="000000"/>
                          </a:solidFill>
                          <a:latin typeface="Calibri"/>
                        </a:rPr>
                        <a:t>23.7.6.</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23.8.</a:t>
                      </a:r>
                      <a:r>
                        <a:rPr sz="700" b="0" i="0">
                          <a:solidFill>
                            <a:srgbClr val="0070C0"/>
                          </a:solidFill>
                          <a:latin typeface="Times New Roman"/>
                        </a:rPr>
                        <a:t>  </a:t>
                      </a:r>
                      <a:r>
                        <a:rPr sz="1100" b="0" i="0">
                          <a:solidFill>
                            <a:srgbClr val="0070C0"/>
                          </a:solidFill>
                          <a:latin typeface="Calibri"/>
                        </a:rPr>
                        <a:t>France Waterproof Coatings Market Analysis</a:t>
                      </a:r>
                      <a:endParaRPr sz="1100"/>
                    </a:p>
                  </a:txBody>
                  <a:tcPr marL="428625" marR="9525" marT="9525" marB="0" anchor="ctr"/>
                </a:tc>
              </a:tr>
              <a:tr h="175260">
                <a:tc>
                  <a:txBody>
                    <a:bodyPr wrap="square"/>
                    <a:lstStyle/>
                    <a:p>
                      <a:pPr algn="l"/>
                      <a:r>
                        <a:rPr sz="1100" b="0" i="0">
                          <a:solidFill>
                            <a:srgbClr val="000000"/>
                          </a:solidFill>
                          <a:latin typeface="Calibri"/>
                        </a:rPr>
                        <a:t>23.8.1.</a:t>
                      </a:r>
                      <a:r>
                        <a:rPr sz="700" b="0" i="0">
                          <a:solidFill>
                            <a:srgbClr val="000000"/>
                          </a:solidFill>
                          <a:latin typeface="Times New Roman"/>
                        </a:rPr>
                        <a:t> </a:t>
                      </a:r>
                      <a:r>
                        <a:rPr sz="1100" b="0" i="0">
                          <a:solidFill>
                            <a:srgbClr val="000000"/>
                          </a:solidFill>
                          <a:latin typeface="Calibri"/>
                        </a:rPr>
                        <a:t>By Product Type / Chemistry</a:t>
                      </a:r>
                      <a:endParaRPr sz="1100"/>
                    </a:p>
                  </a:txBody>
                  <a:tcPr marL="771525" marR="9525" marT="9525" marB="0" anchor="ctr"/>
                </a:tc>
              </a:tr>
              <a:tr h="175260">
                <a:tc>
                  <a:txBody>
                    <a:bodyPr wrap="square"/>
                    <a:lstStyle/>
                    <a:p>
                      <a:pPr algn="l"/>
                      <a:r>
                        <a:rPr sz="1100" b="0" i="0">
                          <a:solidFill>
                            <a:srgbClr val="000000"/>
                          </a:solidFill>
                          <a:latin typeface="Calibri"/>
                        </a:rPr>
                        <a:t>23.8.2.</a:t>
                      </a:r>
                      <a:r>
                        <a:rPr sz="700" b="0" i="0">
                          <a:solidFill>
                            <a:srgbClr val="000000"/>
                          </a:solidFill>
                          <a:latin typeface="Times New Roman"/>
                        </a:rPr>
                        <a:t> </a:t>
                      </a:r>
                      <a:r>
                        <a:rPr sz="1100" b="0" i="0">
                          <a:solidFill>
                            <a:srgbClr val="000000"/>
                          </a:solidFill>
                          <a:latin typeface="Calibri"/>
                        </a:rPr>
                        <a:t>By Product Configuration</a:t>
                      </a:r>
                      <a:endParaRPr sz="1100"/>
                    </a:p>
                  </a:txBody>
                  <a:tcPr marL="771525" marR="9525" marT="9525" marB="0" anchor="ctr"/>
                </a:tc>
              </a:tr>
              <a:tr h="175260">
                <a:tc>
                  <a:txBody>
                    <a:bodyPr wrap="square"/>
                    <a:lstStyle/>
                    <a:p>
                      <a:pPr algn="l"/>
                      <a:r>
                        <a:rPr sz="1100" b="0" i="0">
                          <a:solidFill>
                            <a:srgbClr val="000000"/>
                          </a:solidFill>
                          <a:latin typeface="Calibri"/>
                        </a:rPr>
                        <a:t>23.8.3.</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23.8.4.</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23.8.5.</a:t>
                      </a:r>
                      <a:r>
                        <a:rPr sz="700" b="0" i="0">
                          <a:solidFill>
                            <a:srgbClr val="000000"/>
                          </a:solidFill>
                          <a:latin typeface="Times New Roman"/>
                        </a:rPr>
                        <a:t> </a:t>
                      </a:r>
                      <a:r>
                        <a:rPr sz="1100" b="0" i="0">
                          <a:solidFill>
                            <a:srgbClr val="000000"/>
                          </a:solidFill>
                          <a:latin typeface="Calibri"/>
                        </a:rPr>
                        <a:t>By Substrate Material</a:t>
                      </a:r>
                      <a:endParaRPr sz="1100"/>
                    </a:p>
                  </a:txBody>
                  <a:tcPr marL="771525" marR="9525" marT="9525" marB="0" anchor="ctr"/>
                </a:tc>
              </a:tr>
              <a:tr h="175260">
                <a:tc>
                  <a:txBody>
                    <a:bodyPr wrap="square"/>
                    <a:lstStyle/>
                    <a:p>
                      <a:pPr algn="l"/>
                      <a:r>
                        <a:rPr sz="1100" b="0" i="0">
                          <a:solidFill>
                            <a:srgbClr val="000000"/>
                          </a:solidFill>
                          <a:latin typeface="Calibri"/>
                        </a:rPr>
                        <a:t>23.8.6.</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23.9.</a:t>
                      </a:r>
                      <a:r>
                        <a:rPr sz="700" b="0" i="0">
                          <a:solidFill>
                            <a:srgbClr val="0070C0"/>
                          </a:solidFill>
                          <a:latin typeface="Times New Roman"/>
                        </a:rPr>
                        <a:t>  </a:t>
                      </a:r>
                      <a:r>
                        <a:rPr sz="1100" b="0" i="0">
                          <a:solidFill>
                            <a:srgbClr val="0070C0"/>
                          </a:solidFill>
                          <a:latin typeface="Calibri"/>
                        </a:rPr>
                        <a:t>U.K. Waterproof Coatings Market Analysis</a:t>
                      </a:r>
                      <a:endParaRPr sz="1100"/>
                    </a:p>
                  </a:txBody>
                  <a:tcPr marL="428625" marR="9525" marT="9525" marB="0" anchor="ctr"/>
                </a:tc>
              </a:tr>
              <a:tr h="175260">
                <a:tc>
                  <a:txBody>
                    <a:bodyPr wrap="square"/>
                    <a:lstStyle/>
                    <a:p>
                      <a:pPr algn="l"/>
                      <a:r>
                        <a:rPr sz="1100" b="0" i="0">
                          <a:solidFill>
                            <a:srgbClr val="000000"/>
                          </a:solidFill>
                          <a:latin typeface="Calibri"/>
                        </a:rPr>
                        <a:t>23.9.1.</a:t>
                      </a:r>
                      <a:r>
                        <a:rPr sz="700" b="0" i="0">
                          <a:solidFill>
                            <a:srgbClr val="000000"/>
                          </a:solidFill>
                          <a:latin typeface="Times New Roman"/>
                        </a:rPr>
                        <a:t> </a:t>
                      </a:r>
                      <a:r>
                        <a:rPr sz="1100" b="0" i="0">
                          <a:solidFill>
                            <a:srgbClr val="000000"/>
                          </a:solidFill>
                          <a:latin typeface="Calibri"/>
                        </a:rPr>
                        <a:t>By Product Type / Chemistry</a:t>
                      </a:r>
                      <a:endParaRPr sz="1100"/>
                    </a:p>
                  </a:txBody>
                  <a:tcPr marL="771525" marR="9525" marT="9525" marB="0" anchor="ctr"/>
                </a:tc>
              </a:tr>
              <a:tr h="175260">
                <a:tc>
                  <a:txBody>
                    <a:bodyPr wrap="square"/>
                    <a:lstStyle/>
                    <a:p>
                      <a:pPr algn="l"/>
                      <a:r>
                        <a:rPr sz="1100" b="0" i="0">
                          <a:solidFill>
                            <a:srgbClr val="000000"/>
                          </a:solidFill>
                          <a:latin typeface="Calibri"/>
                        </a:rPr>
                        <a:t>23.9.2.</a:t>
                      </a:r>
                      <a:r>
                        <a:rPr sz="700" b="0" i="0">
                          <a:solidFill>
                            <a:srgbClr val="000000"/>
                          </a:solidFill>
                          <a:latin typeface="Times New Roman"/>
                        </a:rPr>
                        <a:t> </a:t>
                      </a:r>
                      <a:r>
                        <a:rPr sz="1100" b="0" i="0">
                          <a:solidFill>
                            <a:srgbClr val="000000"/>
                          </a:solidFill>
                          <a:latin typeface="Calibri"/>
                        </a:rPr>
                        <a:t>By Product Configuration</a:t>
                      </a:r>
                      <a:endParaRPr sz="1100"/>
                    </a:p>
                  </a:txBody>
                  <a:tcPr marL="771525" marR="9525" marT="9525" marB="0" anchor="ctr"/>
                </a:tc>
              </a:tr>
              <a:tr h="175260">
                <a:tc>
                  <a:txBody>
                    <a:bodyPr wrap="square"/>
                    <a:lstStyle/>
                    <a:p>
                      <a:pPr algn="l"/>
                      <a:r>
                        <a:rPr sz="1100" b="0" i="0">
                          <a:solidFill>
                            <a:srgbClr val="000000"/>
                          </a:solidFill>
                          <a:latin typeface="Calibri"/>
                        </a:rPr>
                        <a:t>23.9.3.</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23.9.4.</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23.9.5.</a:t>
                      </a:r>
                      <a:r>
                        <a:rPr sz="700" b="0" i="0">
                          <a:solidFill>
                            <a:srgbClr val="000000"/>
                          </a:solidFill>
                          <a:latin typeface="Times New Roman"/>
                        </a:rPr>
                        <a:t> </a:t>
                      </a:r>
                      <a:r>
                        <a:rPr sz="1100" b="0" i="0">
                          <a:solidFill>
                            <a:srgbClr val="000000"/>
                          </a:solidFill>
                          <a:latin typeface="Calibri"/>
                        </a:rPr>
                        <a:t>By Substrate Material</a:t>
                      </a:r>
                      <a:endParaRPr sz="1100"/>
                    </a:p>
                  </a:txBody>
                  <a:tcPr marL="771525" marR="9525" marT="9525" marB="0" anchor="ctr"/>
                </a:tc>
              </a:tr>
              <a:tr h="175260">
                <a:tc>
                  <a:txBody>
                    <a:bodyPr wrap="square"/>
                    <a:lstStyle/>
                    <a:p>
                      <a:pPr algn="l"/>
                      <a:r>
                        <a:rPr sz="1100" b="0" i="0">
                          <a:solidFill>
                            <a:srgbClr val="000000"/>
                          </a:solidFill>
                          <a:latin typeface="Calibri"/>
                        </a:rPr>
                        <a:t>23.9.6.</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23.10.</a:t>
                      </a:r>
                      <a:r>
                        <a:rPr sz="700" b="0" i="0">
                          <a:solidFill>
                            <a:srgbClr val="0070C0"/>
                          </a:solidFill>
                          <a:latin typeface="Times New Roman"/>
                        </a:rPr>
                        <a:t> </a:t>
                      </a:r>
                      <a:r>
                        <a:rPr sz="1100" b="0" i="0">
                          <a:solidFill>
                            <a:srgbClr val="0070C0"/>
                          </a:solidFill>
                          <a:latin typeface="Calibri"/>
                        </a:rPr>
                        <a:t>Spain Waterproof Coatings Market Analysis</a:t>
                      </a:r>
                      <a:endParaRPr sz="1100"/>
                    </a:p>
                  </a:txBody>
                  <a:tcPr marL="428625" marR="9525" marT="9525" marB="0" anchor="ctr"/>
                </a:tc>
              </a:tr>
              <a:tr h="175260">
                <a:tc>
                  <a:txBody>
                    <a:bodyPr wrap="square"/>
                    <a:lstStyle/>
                    <a:p>
                      <a:pPr algn="l"/>
                      <a:r>
                        <a:rPr sz="1100" b="0" i="0">
                          <a:solidFill>
                            <a:srgbClr val="000000"/>
                          </a:solidFill>
                          <a:latin typeface="Calibri"/>
                        </a:rPr>
                        <a:t>23.10.1.</a:t>
                      </a:r>
                      <a:r>
                        <a:rPr sz="700" b="0" i="0">
                          <a:solidFill>
                            <a:srgbClr val="000000"/>
                          </a:solidFill>
                          <a:latin typeface="Times New Roman"/>
                        </a:rPr>
                        <a:t> </a:t>
                      </a:r>
                      <a:r>
                        <a:rPr sz="1100" b="0" i="0">
                          <a:solidFill>
                            <a:srgbClr val="000000"/>
                          </a:solidFill>
                          <a:latin typeface="Calibri"/>
                        </a:rPr>
                        <a:t>By Product Type / Chemistry</a:t>
                      </a:r>
                      <a:endParaRPr sz="1100"/>
                    </a:p>
                  </a:txBody>
                  <a:tcPr marL="771525" marR="9525" marT="9525" marB="0" anchor="ctr"/>
                </a:tc>
              </a:tr>
              <a:tr h="175260">
                <a:tc>
                  <a:txBody>
                    <a:bodyPr wrap="square"/>
                    <a:lstStyle/>
                    <a:p>
                      <a:pPr algn="l"/>
                      <a:r>
                        <a:rPr sz="1100" b="0" i="0">
                          <a:solidFill>
                            <a:srgbClr val="000000"/>
                          </a:solidFill>
                          <a:latin typeface="Calibri"/>
                        </a:rPr>
                        <a:t>23.10.2.</a:t>
                      </a:r>
                      <a:r>
                        <a:rPr sz="700" b="0" i="0">
                          <a:solidFill>
                            <a:srgbClr val="000000"/>
                          </a:solidFill>
                          <a:latin typeface="Times New Roman"/>
                        </a:rPr>
                        <a:t> </a:t>
                      </a:r>
                      <a:r>
                        <a:rPr sz="1100" b="0" i="0">
                          <a:solidFill>
                            <a:srgbClr val="000000"/>
                          </a:solidFill>
                          <a:latin typeface="Calibri"/>
                        </a:rPr>
                        <a:t>By Product Configuration</a:t>
                      </a:r>
                      <a:endParaRPr sz="1100"/>
                    </a:p>
                  </a:txBody>
                  <a:tcPr marL="771525" marR="9525" marT="9525" marB="0" anchor="ctr"/>
                </a:tc>
              </a:tr>
              <a:tr h="175260">
                <a:tc>
                  <a:txBody>
                    <a:bodyPr wrap="square"/>
                    <a:lstStyle/>
                    <a:p>
                      <a:pPr algn="l"/>
                      <a:r>
                        <a:rPr sz="1100" b="0" i="0">
                          <a:solidFill>
                            <a:srgbClr val="000000"/>
                          </a:solidFill>
                          <a:latin typeface="Calibri"/>
                        </a:rPr>
                        <a:t>23.10.3.</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23.10.4.</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23.10.5.</a:t>
                      </a:r>
                      <a:r>
                        <a:rPr sz="700" b="0" i="0">
                          <a:solidFill>
                            <a:srgbClr val="000000"/>
                          </a:solidFill>
                          <a:latin typeface="Times New Roman"/>
                        </a:rPr>
                        <a:t> </a:t>
                      </a:r>
                      <a:r>
                        <a:rPr sz="1100" b="0" i="0">
                          <a:solidFill>
                            <a:srgbClr val="000000"/>
                          </a:solidFill>
                          <a:latin typeface="Calibri"/>
                        </a:rPr>
                        <a:t>By Substrate Material</a:t>
                      </a:r>
                      <a:endParaRPr sz="1100"/>
                    </a:p>
                  </a:txBody>
                  <a:tcPr marL="771525" marR="9525" marT="9525" marB="0" anchor="ctr"/>
                </a:tc>
              </a:tr>
              <a:tr h="175260">
                <a:tc>
                  <a:txBody>
                    <a:bodyPr wrap="square"/>
                    <a:lstStyle/>
                    <a:p>
                      <a:pPr algn="l"/>
                      <a:r>
                        <a:rPr sz="1100" b="0" i="0">
                          <a:solidFill>
                            <a:srgbClr val="000000"/>
                          </a:solidFill>
                          <a:latin typeface="Calibri"/>
                        </a:rPr>
                        <a:t>23.10.6.</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23.11.</a:t>
                      </a:r>
                      <a:r>
                        <a:rPr sz="700" b="0" i="0">
                          <a:solidFill>
                            <a:srgbClr val="0070C0"/>
                          </a:solidFill>
                          <a:latin typeface="Times New Roman"/>
                        </a:rPr>
                        <a:t> </a:t>
                      </a:r>
                      <a:r>
                        <a:rPr sz="1100" b="0" i="0">
                          <a:solidFill>
                            <a:srgbClr val="0070C0"/>
                          </a:solidFill>
                          <a:latin typeface="Calibri"/>
                        </a:rPr>
                        <a:t>Russia Waterproof Coatings Market Analysis</a:t>
                      </a:r>
                      <a:endParaRPr sz="1100"/>
                    </a:p>
                  </a:txBody>
                  <a:tcPr marL="428625" marR="9525" marT="9525" marB="0" anchor="ctr"/>
                </a:tc>
              </a:tr>
              <a:tr h="175260">
                <a:tc>
                  <a:txBody>
                    <a:bodyPr wrap="square"/>
                    <a:lstStyle/>
                    <a:p>
                      <a:pPr algn="l"/>
                      <a:r>
                        <a:rPr sz="1100" b="0" i="0">
                          <a:solidFill>
                            <a:srgbClr val="000000"/>
                          </a:solidFill>
                          <a:latin typeface="Calibri"/>
                        </a:rPr>
                        <a:t>23.11.1.</a:t>
                      </a:r>
                      <a:r>
                        <a:rPr sz="700" b="0" i="0">
                          <a:solidFill>
                            <a:srgbClr val="000000"/>
                          </a:solidFill>
                          <a:latin typeface="Times New Roman"/>
                        </a:rPr>
                        <a:t> </a:t>
                      </a:r>
                      <a:r>
                        <a:rPr sz="1100" b="0" i="0">
                          <a:solidFill>
                            <a:srgbClr val="000000"/>
                          </a:solidFill>
                          <a:latin typeface="Calibri"/>
                        </a:rPr>
                        <a:t>By Product Type / Chemistry</a:t>
                      </a:r>
                      <a:endParaRPr sz="1100"/>
                    </a:p>
                  </a:txBody>
                  <a:tcPr marL="771525" marR="9525" marT="9525" marB="0" anchor="ctr"/>
                </a:tc>
              </a:tr>
              <a:tr h="175260">
                <a:tc>
                  <a:txBody>
                    <a:bodyPr wrap="square"/>
                    <a:lstStyle/>
                    <a:p>
                      <a:pPr algn="l"/>
                      <a:r>
                        <a:rPr sz="1100" b="0" i="0">
                          <a:solidFill>
                            <a:srgbClr val="000000"/>
                          </a:solidFill>
                          <a:latin typeface="Calibri"/>
                        </a:rPr>
                        <a:t>23.11.2.</a:t>
                      </a:r>
                      <a:r>
                        <a:rPr sz="700" b="0" i="0">
                          <a:solidFill>
                            <a:srgbClr val="000000"/>
                          </a:solidFill>
                          <a:latin typeface="Times New Roman"/>
                        </a:rPr>
                        <a:t> </a:t>
                      </a:r>
                      <a:r>
                        <a:rPr sz="1100" b="0" i="0">
                          <a:solidFill>
                            <a:srgbClr val="000000"/>
                          </a:solidFill>
                          <a:latin typeface="Calibri"/>
                        </a:rPr>
                        <a:t>By Product Configuration</a:t>
                      </a:r>
                      <a:endParaRPr sz="1100"/>
                    </a:p>
                  </a:txBody>
                  <a:tcPr marL="771525" marR="9525" marT="9525" marB="0" anchor="ctr"/>
                </a:tc>
              </a:tr>
              <a:tr h="175260">
                <a:tc>
                  <a:txBody>
                    <a:bodyPr wrap="square"/>
                    <a:lstStyle/>
                    <a:p>
                      <a:pPr algn="l"/>
                      <a:r>
                        <a:rPr sz="1100" b="0" i="0">
                          <a:solidFill>
                            <a:srgbClr val="000000"/>
                          </a:solidFill>
                          <a:latin typeface="Calibri"/>
                        </a:rPr>
                        <a:t>23.11.3.</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23.11.4.</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23.11.5.</a:t>
                      </a:r>
                      <a:r>
                        <a:rPr sz="700" b="0" i="0">
                          <a:solidFill>
                            <a:srgbClr val="000000"/>
                          </a:solidFill>
                          <a:latin typeface="Times New Roman"/>
                        </a:rPr>
                        <a:t> </a:t>
                      </a:r>
                      <a:r>
                        <a:rPr sz="1100" b="0" i="0">
                          <a:solidFill>
                            <a:srgbClr val="000000"/>
                          </a:solidFill>
                          <a:latin typeface="Calibri"/>
                        </a:rPr>
                        <a:t>By Substrate Material</a:t>
                      </a:r>
                      <a:endParaRPr sz="1100"/>
                    </a:p>
                  </a:txBody>
                  <a:tcPr marL="771525" marR="9525" marT="9525" marB="0" anchor="ctr"/>
                </a:tc>
              </a:tr>
              <a:tr h="175260">
                <a:tc>
                  <a:txBody>
                    <a:bodyPr wrap="square"/>
                    <a:lstStyle/>
                    <a:p>
                      <a:pPr algn="l"/>
                      <a:r>
                        <a:rPr sz="1100" b="0" i="0">
                          <a:solidFill>
                            <a:srgbClr val="000000"/>
                          </a:solidFill>
                          <a:latin typeface="Calibri"/>
                        </a:rPr>
                        <a:t>23.11.6.</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23.12.</a:t>
                      </a:r>
                      <a:r>
                        <a:rPr sz="700" b="0" i="0">
                          <a:solidFill>
                            <a:srgbClr val="0070C0"/>
                          </a:solidFill>
                          <a:latin typeface="Times New Roman"/>
                        </a:rPr>
                        <a:t> </a:t>
                      </a:r>
                      <a:r>
                        <a:rPr sz="1100" b="0" i="0">
                          <a:solidFill>
                            <a:srgbClr val="0070C0"/>
                          </a:solidFill>
                          <a:latin typeface="Calibri"/>
                        </a:rPr>
                        <a:t>China Waterproof Coatings Market Analysis</a:t>
                      </a:r>
                      <a:endParaRPr sz="1100"/>
                    </a:p>
                  </a:txBody>
                  <a:tcPr marL="428625" marR="9525" marT="9525" marB="0" anchor="ctr"/>
                </a:tc>
              </a:tr>
              <a:tr h="175260">
                <a:tc>
                  <a:txBody>
                    <a:bodyPr wrap="square"/>
                    <a:lstStyle/>
                    <a:p>
                      <a:pPr algn="l"/>
                      <a:r>
                        <a:rPr sz="1100" b="0" i="0">
                          <a:solidFill>
                            <a:srgbClr val="000000"/>
                          </a:solidFill>
                          <a:latin typeface="Calibri"/>
                        </a:rPr>
                        <a:t>23.12.1.</a:t>
                      </a:r>
                      <a:r>
                        <a:rPr sz="700" b="0" i="0">
                          <a:solidFill>
                            <a:srgbClr val="000000"/>
                          </a:solidFill>
                          <a:latin typeface="Times New Roman"/>
                        </a:rPr>
                        <a:t> </a:t>
                      </a:r>
                      <a:r>
                        <a:rPr sz="1100" b="0" i="0">
                          <a:solidFill>
                            <a:srgbClr val="000000"/>
                          </a:solidFill>
                          <a:latin typeface="Calibri"/>
                        </a:rPr>
                        <a:t>By Product Type / Chemistry</a:t>
                      </a:r>
                      <a:endParaRPr sz="1100"/>
                    </a:p>
                  </a:txBody>
                  <a:tcPr marL="771525" marR="9525" marT="9525" marB="0" anchor="ctr"/>
                </a:tc>
              </a:tr>
              <a:tr h="175260">
                <a:tc>
                  <a:txBody>
                    <a:bodyPr wrap="square"/>
                    <a:lstStyle/>
                    <a:p>
                      <a:pPr algn="l"/>
                      <a:r>
                        <a:rPr sz="1100" b="0" i="0">
                          <a:solidFill>
                            <a:srgbClr val="000000"/>
                          </a:solidFill>
                          <a:latin typeface="Calibri"/>
                        </a:rPr>
                        <a:t>23.12.2.</a:t>
                      </a:r>
                      <a:r>
                        <a:rPr sz="700" b="0" i="0">
                          <a:solidFill>
                            <a:srgbClr val="000000"/>
                          </a:solidFill>
                          <a:latin typeface="Times New Roman"/>
                        </a:rPr>
                        <a:t> </a:t>
                      </a:r>
                      <a:r>
                        <a:rPr sz="1100" b="0" i="0">
                          <a:solidFill>
                            <a:srgbClr val="000000"/>
                          </a:solidFill>
                          <a:latin typeface="Calibri"/>
                        </a:rPr>
                        <a:t>By Product Configuration</a:t>
                      </a:r>
                      <a:endParaRPr sz="1100"/>
                    </a:p>
                  </a:txBody>
                  <a:tcPr marL="771525" marR="9525" marT="9525" marB="0" anchor="ctr"/>
                </a:tc>
              </a:tr>
              <a:tr h="175260">
                <a:tc>
                  <a:txBody>
                    <a:bodyPr wrap="square"/>
                    <a:lstStyle/>
                    <a:p>
                      <a:pPr algn="l"/>
                      <a:r>
                        <a:rPr sz="1100" b="0" i="0">
                          <a:solidFill>
                            <a:srgbClr val="000000"/>
                          </a:solidFill>
                          <a:latin typeface="Calibri"/>
                        </a:rPr>
                        <a:t>23.12.3.</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23.12.4.</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23.12.5.</a:t>
                      </a:r>
                      <a:r>
                        <a:rPr sz="700" b="0" i="0">
                          <a:solidFill>
                            <a:srgbClr val="000000"/>
                          </a:solidFill>
                          <a:latin typeface="Times New Roman"/>
                        </a:rPr>
                        <a:t> </a:t>
                      </a:r>
                      <a:r>
                        <a:rPr sz="1100" b="0" i="0">
                          <a:solidFill>
                            <a:srgbClr val="000000"/>
                          </a:solidFill>
                          <a:latin typeface="Calibri"/>
                        </a:rPr>
                        <a:t>By Substrate Material</a:t>
                      </a:r>
                      <a:endParaRPr sz="1100"/>
                    </a:p>
                  </a:txBody>
                  <a:tcPr marL="771525" marR="9525" marT="9525" marB="0" anchor="ctr"/>
                </a:tc>
              </a:tr>
              <a:tr h="175260">
                <a:tc>
                  <a:txBody>
                    <a:bodyPr wrap="square"/>
                    <a:lstStyle/>
                    <a:p>
                      <a:pPr algn="l"/>
                      <a:r>
                        <a:rPr sz="1100" b="0" i="0">
                          <a:solidFill>
                            <a:srgbClr val="000000"/>
                          </a:solidFill>
                          <a:latin typeface="Calibri"/>
                        </a:rPr>
                        <a:t>23.12.6.</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23.13.</a:t>
                      </a:r>
                      <a:r>
                        <a:rPr sz="700" b="0" i="0">
                          <a:solidFill>
                            <a:srgbClr val="0070C0"/>
                          </a:solidFill>
                          <a:latin typeface="Times New Roman"/>
                        </a:rPr>
                        <a:t> </a:t>
                      </a:r>
                      <a:r>
                        <a:rPr sz="1100" b="0" i="0">
                          <a:solidFill>
                            <a:srgbClr val="0070C0"/>
                          </a:solidFill>
                          <a:latin typeface="Calibri"/>
                        </a:rPr>
                        <a:t>Japan Waterproof Coatings Market Analysis</a:t>
                      </a:r>
                      <a:endParaRPr sz="1100"/>
                    </a:p>
                  </a:txBody>
                  <a:tcPr marL="428625" marR="9525" marT="9525" marB="0" anchor="ctr"/>
                </a:tc>
              </a:tr>
              <a:tr h="175260">
                <a:tc>
                  <a:txBody>
                    <a:bodyPr wrap="square"/>
                    <a:lstStyle/>
                    <a:p>
                      <a:pPr algn="l"/>
                      <a:r>
                        <a:rPr sz="1100" b="0" i="0">
                          <a:solidFill>
                            <a:srgbClr val="000000"/>
                          </a:solidFill>
                          <a:latin typeface="Calibri"/>
                        </a:rPr>
                        <a:t>23.13.1.</a:t>
                      </a:r>
                      <a:r>
                        <a:rPr sz="700" b="0" i="0">
                          <a:solidFill>
                            <a:srgbClr val="000000"/>
                          </a:solidFill>
                          <a:latin typeface="Times New Roman"/>
                        </a:rPr>
                        <a:t> </a:t>
                      </a:r>
                      <a:r>
                        <a:rPr sz="1100" b="0" i="0">
                          <a:solidFill>
                            <a:srgbClr val="000000"/>
                          </a:solidFill>
                          <a:latin typeface="Calibri"/>
                        </a:rPr>
                        <a:t>By Product Type / Chemistry</a:t>
                      </a:r>
                      <a:endParaRPr sz="1100"/>
                    </a:p>
                  </a:txBody>
                  <a:tcPr marL="771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(8/9)</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23.13.2.</a:t>
                      </a:r>
                      <a:r>
                        <a:rPr sz="700" b="0" i="0">
                          <a:solidFill>
                            <a:srgbClr val="000000"/>
                          </a:solidFill>
                          <a:latin typeface="Times New Roman"/>
                        </a:rPr>
                        <a:t> </a:t>
                      </a:r>
                      <a:r>
                        <a:rPr sz="1100" b="0" i="0">
                          <a:solidFill>
                            <a:srgbClr val="000000"/>
                          </a:solidFill>
                          <a:latin typeface="Calibri"/>
                        </a:rPr>
                        <a:t>By Product Configuration</a:t>
                      </a:r>
                      <a:endParaRPr sz="1100"/>
                    </a:p>
                  </a:txBody>
                  <a:tcPr marL="771525" marR="9525" marT="9525" marB="0" anchor="ctr"/>
                </a:tc>
              </a:tr>
              <a:tr h="175260">
                <a:tc>
                  <a:txBody>
                    <a:bodyPr wrap="square"/>
                    <a:lstStyle/>
                    <a:p>
                      <a:pPr algn="l"/>
                      <a:r>
                        <a:rPr sz="1100" b="0" i="0">
                          <a:solidFill>
                            <a:srgbClr val="000000"/>
                          </a:solidFill>
                          <a:latin typeface="Calibri"/>
                        </a:rPr>
                        <a:t>23.13.3.</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23.13.4.</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23.13.5.</a:t>
                      </a:r>
                      <a:r>
                        <a:rPr sz="700" b="0" i="0">
                          <a:solidFill>
                            <a:srgbClr val="000000"/>
                          </a:solidFill>
                          <a:latin typeface="Times New Roman"/>
                        </a:rPr>
                        <a:t> </a:t>
                      </a:r>
                      <a:r>
                        <a:rPr sz="1100" b="0" i="0">
                          <a:solidFill>
                            <a:srgbClr val="000000"/>
                          </a:solidFill>
                          <a:latin typeface="Calibri"/>
                        </a:rPr>
                        <a:t>By Substrate Material</a:t>
                      </a:r>
                      <a:endParaRPr sz="1100"/>
                    </a:p>
                  </a:txBody>
                  <a:tcPr marL="771525" marR="9525" marT="9525" marB="0" anchor="ctr"/>
                </a:tc>
              </a:tr>
              <a:tr h="175260">
                <a:tc>
                  <a:txBody>
                    <a:bodyPr wrap="square"/>
                    <a:lstStyle/>
                    <a:p>
                      <a:pPr algn="l"/>
                      <a:r>
                        <a:rPr sz="1100" b="0" i="0">
                          <a:solidFill>
                            <a:srgbClr val="000000"/>
                          </a:solidFill>
                          <a:latin typeface="Calibri"/>
                        </a:rPr>
                        <a:t>23.13.6.</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23.14.</a:t>
                      </a:r>
                      <a:r>
                        <a:rPr sz="700" b="0" i="0">
                          <a:solidFill>
                            <a:srgbClr val="0070C0"/>
                          </a:solidFill>
                          <a:latin typeface="Times New Roman"/>
                        </a:rPr>
                        <a:t> </a:t>
                      </a:r>
                      <a:r>
                        <a:rPr sz="1100" b="0" i="0">
                          <a:solidFill>
                            <a:srgbClr val="0070C0"/>
                          </a:solidFill>
                          <a:latin typeface="Calibri"/>
                        </a:rPr>
                        <a:t>S. Korea Waterproof Coatings Market Analysis</a:t>
                      </a:r>
                      <a:endParaRPr sz="1100"/>
                    </a:p>
                  </a:txBody>
                  <a:tcPr marL="428625" marR="9525" marT="9525" marB="0" anchor="ctr"/>
                </a:tc>
              </a:tr>
              <a:tr h="175260">
                <a:tc>
                  <a:txBody>
                    <a:bodyPr wrap="square"/>
                    <a:lstStyle/>
                    <a:p>
                      <a:pPr algn="l"/>
                      <a:r>
                        <a:rPr sz="1100" b="0" i="0">
                          <a:solidFill>
                            <a:srgbClr val="000000"/>
                          </a:solidFill>
                          <a:latin typeface="Calibri"/>
                        </a:rPr>
                        <a:t>23.14.1.</a:t>
                      </a:r>
                      <a:r>
                        <a:rPr sz="700" b="0" i="0">
                          <a:solidFill>
                            <a:srgbClr val="000000"/>
                          </a:solidFill>
                          <a:latin typeface="Times New Roman"/>
                        </a:rPr>
                        <a:t> </a:t>
                      </a:r>
                      <a:r>
                        <a:rPr sz="1100" b="0" i="0">
                          <a:solidFill>
                            <a:srgbClr val="000000"/>
                          </a:solidFill>
                          <a:latin typeface="Calibri"/>
                        </a:rPr>
                        <a:t>By Product Type / Chemistry</a:t>
                      </a:r>
                      <a:endParaRPr sz="1100"/>
                    </a:p>
                  </a:txBody>
                  <a:tcPr marL="771525" marR="9525" marT="9525" marB="0" anchor="ctr"/>
                </a:tc>
              </a:tr>
              <a:tr h="175260">
                <a:tc>
                  <a:txBody>
                    <a:bodyPr wrap="square"/>
                    <a:lstStyle/>
                    <a:p>
                      <a:pPr algn="l"/>
                      <a:r>
                        <a:rPr sz="1100" b="0" i="0">
                          <a:solidFill>
                            <a:srgbClr val="000000"/>
                          </a:solidFill>
                          <a:latin typeface="Calibri"/>
                        </a:rPr>
                        <a:t>23.14.2.</a:t>
                      </a:r>
                      <a:r>
                        <a:rPr sz="700" b="0" i="0">
                          <a:solidFill>
                            <a:srgbClr val="000000"/>
                          </a:solidFill>
                          <a:latin typeface="Times New Roman"/>
                        </a:rPr>
                        <a:t> </a:t>
                      </a:r>
                      <a:r>
                        <a:rPr sz="1100" b="0" i="0">
                          <a:solidFill>
                            <a:srgbClr val="000000"/>
                          </a:solidFill>
                          <a:latin typeface="Calibri"/>
                        </a:rPr>
                        <a:t>By Product Configuration</a:t>
                      </a:r>
                      <a:endParaRPr sz="1100"/>
                    </a:p>
                  </a:txBody>
                  <a:tcPr marL="771525" marR="9525" marT="9525" marB="0" anchor="ctr"/>
                </a:tc>
              </a:tr>
              <a:tr h="175260">
                <a:tc>
                  <a:txBody>
                    <a:bodyPr wrap="square"/>
                    <a:lstStyle/>
                    <a:p>
                      <a:pPr algn="l"/>
                      <a:r>
                        <a:rPr sz="1100" b="0" i="0">
                          <a:solidFill>
                            <a:srgbClr val="000000"/>
                          </a:solidFill>
                          <a:latin typeface="Calibri"/>
                        </a:rPr>
                        <a:t>23.14.3.</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23.14.4.</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23.14.5.</a:t>
                      </a:r>
                      <a:r>
                        <a:rPr sz="700" b="0" i="0">
                          <a:solidFill>
                            <a:srgbClr val="000000"/>
                          </a:solidFill>
                          <a:latin typeface="Times New Roman"/>
                        </a:rPr>
                        <a:t> </a:t>
                      </a:r>
                      <a:r>
                        <a:rPr sz="1100" b="0" i="0">
                          <a:solidFill>
                            <a:srgbClr val="000000"/>
                          </a:solidFill>
                          <a:latin typeface="Calibri"/>
                        </a:rPr>
                        <a:t>By Substrate Material</a:t>
                      </a:r>
                      <a:endParaRPr sz="1100"/>
                    </a:p>
                  </a:txBody>
                  <a:tcPr marL="771525" marR="9525" marT="9525" marB="0" anchor="ctr"/>
                </a:tc>
              </a:tr>
              <a:tr h="175260">
                <a:tc>
                  <a:txBody>
                    <a:bodyPr wrap="square"/>
                    <a:lstStyle/>
                    <a:p>
                      <a:pPr algn="l"/>
                      <a:r>
                        <a:rPr sz="1100" b="0" i="0">
                          <a:solidFill>
                            <a:srgbClr val="000000"/>
                          </a:solidFill>
                          <a:latin typeface="Calibri"/>
                        </a:rPr>
                        <a:t>23.14.6.</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23.15.</a:t>
                      </a:r>
                      <a:r>
                        <a:rPr sz="700" b="0" i="0">
                          <a:solidFill>
                            <a:srgbClr val="0070C0"/>
                          </a:solidFill>
                          <a:latin typeface="Times New Roman"/>
                        </a:rPr>
                        <a:t> </a:t>
                      </a:r>
                      <a:r>
                        <a:rPr sz="1100" b="0" i="0">
                          <a:solidFill>
                            <a:srgbClr val="0070C0"/>
                          </a:solidFill>
                          <a:latin typeface="Calibri"/>
                        </a:rPr>
                        <a:t>India Waterproof Coatings Market Analysis</a:t>
                      </a:r>
                      <a:endParaRPr sz="1100"/>
                    </a:p>
                  </a:txBody>
                  <a:tcPr marL="428625" marR="9525" marT="9525" marB="0" anchor="ctr"/>
                </a:tc>
              </a:tr>
              <a:tr h="175260">
                <a:tc>
                  <a:txBody>
                    <a:bodyPr wrap="square"/>
                    <a:lstStyle/>
                    <a:p>
                      <a:pPr algn="l"/>
                      <a:r>
                        <a:rPr sz="1100" b="0" i="0">
                          <a:solidFill>
                            <a:srgbClr val="000000"/>
                          </a:solidFill>
                          <a:latin typeface="Calibri"/>
                        </a:rPr>
                        <a:t>23.15.1.</a:t>
                      </a:r>
                      <a:r>
                        <a:rPr sz="700" b="0" i="0">
                          <a:solidFill>
                            <a:srgbClr val="000000"/>
                          </a:solidFill>
                          <a:latin typeface="Times New Roman"/>
                        </a:rPr>
                        <a:t> </a:t>
                      </a:r>
                      <a:r>
                        <a:rPr sz="1100" b="0" i="0">
                          <a:solidFill>
                            <a:srgbClr val="000000"/>
                          </a:solidFill>
                          <a:latin typeface="Calibri"/>
                        </a:rPr>
                        <a:t>By Product Type / Chemistry</a:t>
                      </a:r>
                      <a:endParaRPr sz="1100"/>
                    </a:p>
                  </a:txBody>
                  <a:tcPr marL="771525" marR="9525" marT="9525" marB="0" anchor="ctr"/>
                </a:tc>
              </a:tr>
              <a:tr h="175260">
                <a:tc>
                  <a:txBody>
                    <a:bodyPr wrap="square"/>
                    <a:lstStyle/>
                    <a:p>
                      <a:pPr algn="l"/>
                      <a:r>
                        <a:rPr sz="1100" b="0" i="0">
                          <a:solidFill>
                            <a:srgbClr val="000000"/>
                          </a:solidFill>
                          <a:latin typeface="Calibri"/>
                        </a:rPr>
                        <a:t>23.15.2.</a:t>
                      </a:r>
                      <a:r>
                        <a:rPr sz="700" b="0" i="0">
                          <a:solidFill>
                            <a:srgbClr val="000000"/>
                          </a:solidFill>
                          <a:latin typeface="Times New Roman"/>
                        </a:rPr>
                        <a:t> </a:t>
                      </a:r>
                      <a:r>
                        <a:rPr sz="1100" b="0" i="0">
                          <a:solidFill>
                            <a:srgbClr val="000000"/>
                          </a:solidFill>
                          <a:latin typeface="Calibri"/>
                        </a:rPr>
                        <a:t>By Product Configuration</a:t>
                      </a:r>
                      <a:endParaRPr sz="1100"/>
                    </a:p>
                  </a:txBody>
                  <a:tcPr marL="771525" marR="9525" marT="9525" marB="0" anchor="ctr"/>
                </a:tc>
              </a:tr>
              <a:tr h="175260">
                <a:tc>
                  <a:txBody>
                    <a:bodyPr wrap="square"/>
                    <a:lstStyle/>
                    <a:p>
                      <a:pPr algn="l"/>
                      <a:r>
                        <a:rPr sz="1100" b="0" i="0">
                          <a:solidFill>
                            <a:srgbClr val="000000"/>
                          </a:solidFill>
                          <a:latin typeface="Calibri"/>
                        </a:rPr>
                        <a:t>23.15.3.</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23.15.4.</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23.15.5.</a:t>
                      </a:r>
                      <a:r>
                        <a:rPr sz="700" b="0" i="0">
                          <a:solidFill>
                            <a:srgbClr val="000000"/>
                          </a:solidFill>
                          <a:latin typeface="Times New Roman"/>
                        </a:rPr>
                        <a:t> </a:t>
                      </a:r>
                      <a:r>
                        <a:rPr sz="1100" b="0" i="0">
                          <a:solidFill>
                            <a:srgbClr val="000000"/>
                          </a:solidFill>
                          <a:latin typeface="Calibri"/>
                        </a:rPr>
                        <a:t>By Substrate Material</a:t>
                      </a:r>
                      <a:endParaRPr sz="1100"/>
                    </a:p>
                  </a:txBody>
                  <a:tcPr marL="771525" marR="9525" marT="9525" marB="0" anchor="ctr"/>
                </a:tc>
              </a:tr>
              <a:tr h="175260">
                <a:tc>
                  <a:txBody>
                    <a:bodyPr wrap="square"/>
                    <a:lstStyle/>
                    <a:p>
                      <a:pPr algn="l"/>
                      <a:r>
                        <a:rPr sz="1100" b="0" i="0">
                          <a:solidFill>
                            <a:srgbClr val="000000"/>
                          </a:solidFill>
                          <a:latin typeface="Calibri"/>
                        </a:rPr>
                        <a:t>23.15.6.</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23.16.</a:t>
                      </a:r>
                      <a:r>
                        <a:rPr sz="700" b="0" i="0">
                          <a:solidFill>
                            <a:srgbClr val="0070C0"/>
                          </a:solidFill>
                          <a:latin typeface="Times New Roman"/>
                        </a:rPr>
                        <a:t> </a:t>
                      </a:r>
                      <a:r>
                        <a:rPr sz="1100" b="0" i="0">
                          <a:solidFill>
                            <a:srgbClr val="0070C0"/>
                          </a:solidFill>
                          <a:latin typeface="Calibri"/>
                        </a:rPr>
                        <a:t>ASEAN Waterproof Coatings Market Analysis</a:t>
                      </a:r>
                      <a:endParaRPr sz="1100"/>
                    </a:p>
                  </a:txBody>
                  <a:tcPr marL="428625" marR="9525" marT="9525" marB="0" anchor="ctr"/>
                </a:tc>
              </a:tr>
              <a:tr h="175260">
                <a:tc>
                  <a:txBody>
                    <a:bodyPr wrap="square"/>
                    <a:lstStyle/>
                    <a:p>
                      <a:pPr algn="l"/>
                      <a:r>
                        <a:rPr sz="1100" b="0" i="0">
                          <a:solidFill>
                            <a:srgbClr val="000000"/>
                          </a:solidFill>
                          <a:latin typeface="Calibri"/>
                        </a:rPr>
                        <a:t>23.16.1.</a:t>
                      </a:r>
                      <a:r>
                        <a:rPr sz="700" b="0" i="0">
                          <a:solidFill>
                            <a:srgbClr val="000000"/>
                          </a:solidFill>
                          <a:latin typeface="Times New Roman"/>
                        </a:rPr>
                        <a:t> </a:t>
                      </a:r>
                      <a:r>
                        <a:rPr sz="1100" b="0" i="0">
                          <a:solidFill>
                            <a:srgbClr val="000000"/>
                          </a:solidFill>
                          <a:latin typeface="Calibri"/>
                        </a:rPr>
                        <a:t>By Product Type / Chemistry</a:t>
                      </a:r>
                      <a:endParaRPr sz="1100"/>
                    </a:p>
                  </a:txBody>
                  <a:tcPr marL="771525" marR="9525" marT="9525" marB="0" anchor="ctr"/>
                </a:tc>
              </a:tr>
              <a:tr h="175260">
                <a:tc>
                  <a:txBody>
                    <a:bodyPr wrap="square"/>
                    <a:lstStyle/>
                    <a:p>
                      <a:pPr algn="l"/>
                      <a:r>
                        <a:rPr sz="1100" b="0" i="0">
                          <a:solidFill>
                            <a:srgbClr val="000000"/>
                          </a:solidFill>
                          <a:latin typeface="Calibri"/>
                        </a:rPr>
                        <a:t>23.16.2.</a:t>
                      </a:r>
                      <a:r>
                        <a:rPr sz="700" b="0" i="0">
                          <a:solidFill>
                            <a:srgbClr val="000000"/>
                          </a:solidFill>
                          <a:latin typeface="Times New Roman"/>
                        </a:rPr>
                        <a:t> </a:t>
                      </a:r>
                      <a:r>
                        <a:rPr sz="1100" b="0" i="0">
                          <a:solidFill>
                            <a:srgbClr val="000000"/>
                          </a:solidFill>
                          <a:latin typeface="Calibri"/>
                        </a:rPr>
                        <a:t>By Product Configuration</a:t>
                      </a:r>
                      <a:endParaRPr sz="1100"/>
                    </a:p>
                  </a:txBody>
                  <a:tcPr marL="771525" marR="9525" marT="9525" marB="0" anchor="ctr"/>
                </a:tc>
              </a:tr>
              <a:tr h="175260">
                <a:tc>
                  <a:txBody>
                    <a:bodyPr wrap="square"/>
                    <a:lstStyle/>
                    <a:p>
                      <a:pPr algn="l"/>
                      <a:r>
                        <a:rPr sz="1100" b="0" i="0">
                          <a:solidFill>
                            <a:srgbClr val="000000"/>
                          </a:solidFill>
                          <a:latin typeface="Calibri"/>
                        </a:rPr>
                        <a:t>23.16.3.</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23.16.4.</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23.16.5.</a:t>
                      </a:r>
                      <a:r>
                        <a:rPr sz="700" b="0" i="0">
                          <a:solidFill>
                            <a:srgbClr val="000000"/>
                          </a:solidFill>
                          <a:latin typeface="Times New Roman"/>
                        </a:rPr>
                        <a:t> </a:t>
                      </a:r>
                      <a:r>
                        <a:rPr sz="1100" b="0" i="0">
                          <a:solidFill>
                            <a:srgbClr val="000000"/>
                          </a:solidFill>
                          <a:latin typeface="Calibri"/>
                        </a:rPr>
                        <a:t>By Substrate Material</a:t>
                      </a:r>
                      <a:endParaRPr sz="1100"/>
                    </a:p>
                  </a:txBody>
                  <a:tcPr marL="771525" marR="9525" marT="9525" marB="0" anchor="ctr"/>
                </a:tc>
              </a:tr>
              <a:tr h="175260">
                <a:tc>
                  <a:txBody>
                    <a:bodyPr wrap="square"/>
                    <a:lstStyle/>
                    <a:p>
                      <a:pPr algn="l"/>
                      <a:r>
                        <a:rPr sz="1100" b="0" i="0">
                          <a:solidFill>
                            <a:srgbClr val="000000"/>
                          </a:solidFill>
                          <a:latin typeface="Calibri"/>
                        </a:rPr>
                        <a:t>23.16.6.</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23.17.</a:t>
                      </a:r>
                      <a:r>
                        <a:rPr sz="700" b="0" i="0">
                          <a:solidFill>
                            <a:srgbClr val="0070C0"/>
                          </a:solidFill>
                          <a:latin typeface="Times New Roman"/>
                        </a:rPr>
                        <a:t> </a:t>
                      </a:r>
                      <a:r>
                        <a:rPr sz="1100" b="0" i="0">
                          <a:solidFill>
                            <a:srgbClr val="0070C0"/>
                          </a:solidFill>
                          <a:latin typeface="Calibri"/>
                        </a:rPr>
                        <a:t>Australia and New Zealand Waterproof Coatings Market Analysis</a:t>
                      </a:r>
                      <a:endParaRPr sz="1100"/>
                    </a:p>
                  </a:txBody>
                  <a:tcPr marL="428625" marR="9525" marT="9525" marB="0" anchor="ctr"/>
                </a:tc>
              </a:tr>
              <a:tr h="175260">
                <a:tc>
                  <a:txBody>
                    <a:bodyPr wrap="square"/>
                    <a:lstStyle/>
                    <a:p>
                      <a:pPr algn="l"/>
                      <a:r>
                        <a:rPr sz="1100" b="0" i="0">
                          <a:solidFill>
                            <a:srgbClr val="000000"/>
                          </a:solidFill>
                          <a:latin typeface="Calibri"/>
                        </a:rPr>
                        <a:t>23.17.1.</a:t>
                      </a:r>
                      <a:r>
                        <a:rPr sz="700" b="0" i="0">
                          <a:solidFill>
                            <a:srgbClr val="000000"/>
                          </a:solidFill>
                          <a:latin typeface="Times New Roman"/>
                        </a:rPr>
                        <a:t> </a:t>
                      </a:r>
                      <a:r>
                        <a:rPr sz="1100" b="0" i="0">
                          <a:solidFill>
                            <a:srgbClr val="000000"/>
                          </a:solidFill>
                          <a:latin typeface="Calibri"/>
                        </a:rPr>
                        <a:t>By Product Type / Chemistry</a:t>
                      </a:r>
                      <a:endParaRPr sz="1100"/>
                    </a:p>
                  </a:txBody>
                  <a:tcPr marL="771525" marR="9525" marT="9525" marB="0" anchor="ctr"/>
                </a:tc>
              </a:tr>
              <a:tr h="175260">
                <a:tc>
                  <a:txBody>
                    <a:bodyPr wrap="square"/>
                    <a:lstStyle/>
                    <a:p>
                      <a:pPr algn="l"/>
                      <a:r>
                        <a:rPr sz="1100" b="0" i="0">
                          <a:solidFill>
                            <a:srgbClr val="000000"/>
                          </a:solidFill>
                          <a:latin typeface="Calibri"/>
                        </a:rPr>
                        <a:t>23.17.2.</a:t>
                      </a:r>
                      <a:r>
                        <a:rPr sz="700" b="0" i="0">
                          <a:solidFill>
                            <a:srgbClr val="000000"/>
                          </a:solidFill>
                          <a:latin typeface="Times New Roman"/>
                        </a:rPr>
                        <a:t> </a:t>
                      </a:r>
                      <a:r>
                        <a:rPr sz="1100" b="0" i="0">
                          <a:solidFill>
                            <a:srgbClr val="000000"/>
                          </a:solidFill>
                          <a:latin typeface="Calibri"/>
                        </a:rPr>
                        <a:t>By Product Configuration</a:t>
                      </a:r>
                      <a:endParaRPr sz="1100"/>
                    </a:p>
                  </a:txBody>
                  <a:tcPr marL="771525" marR="9525" marT="9525" marB="0" anchor="ctr"/>
                </a:tc>
              </a:tr>
              <a:tr h="175260">
                <a:tc>
                  <a:txBody>
                    <a:bodyPr wrap="square"/>
                    <a:lstStyle/>
                    <a:p>
                      <a:pPr algn="l"/>
                      <a:r>
                        <a:rPr sz="1100" b="0" i="0">
                          <a:solidFill>
                            <a:srgbClr val="000000"/>
                          </a:solidFill>
                          <a:latin typeface="Calibri"/>
                        </a:rPr>
                        <a:t>23.17.3.</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23.17.4.</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23.17.5.</a:t>
                      </a:r>
                      <a:r>
                        <a:rPr sz="700" b="0" i="0">
                          <a:solidFill>
                            <a:srgbClr val="000000"/>
                          </a:solidFill>
                          <a:latin typeface="Times New Roman"/>
                        </a:rPr>
                        <a:t> </a:t>
                      </a:r>
                      <a:r>
                        <a:rPr sz="1100" b="0" i="0">
                          <a:solidFill>
                            <a:srgbClr val="000000"/>
                          </a:solidFill>
                          <a:latin typeface="Calibri"/>
                        </a:rPr>
                        <a:t>By Substrate Material</a:t>
                      </a:r>
                      <a:endParaRPr sz="1100"/>
                    </a:p>
                  </a:txBody>
                  <a:tcPr marL="771525" marR="9525" marT="9525" marB="0" anchor="ctr"/>
                </a:tc>
              </a:tr>
              <a:tr h="175260">
                <a:tc>
                  <a:txBody>
                    <a:bodyPr wrap="square"/>
                    <a:lstStyle/>
                    <a:p>
                      <a:pPr algn="l"/>
                      <a:r>
                        <a:rPr sz="1100" b="0" i="0">
                          <a:solidFill>
                            <a:srgbClr val="000000"/>
                          </a:solidFill>
                          <a:latin typeface="Calibri"/>
                        </a:rPr>
                        <a:t>23.17.6.</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23.18.</a:t>
                      </a:r>
                      <a:r>
                        <a:rPr sz="700" b="0" i="0">
                          <a:solidFill>
                            <a:srgbClr val="0070C0"/>
                          </a:solidFill>
                          <a:latin typeface="Times New Roman"/>
                        </a:rPr>
                        <a:t> </a:t>
                      </a:r>
                      <a:r>
                        <a:rPr sz="1100" b="0" i="0">
                          <a:solidFill>
                            <a:srgbClr val="0070C0"/>
                          </a:solidFill>
                          <a:latin typeface="Calibri"/>
                        </a:rPr>
                        <a:t>Turkey Waterproof Coatings Market Analysis</a:t>
                      </a:r>
                      <a:endParaRPr sz="1100"/>
                    </a:p>
                  </a:txBody>
                  <a:tcPr marL="428625" marR="9525" marT="9525" marB="0" anchor="ctr"/>
                </a:tc>
              </a:tr>
              <a:tr h="175260">
                <a:tc>
                  <a:txBody>
                    <a:bodyPr wrap="square"/>
                    <a:lstStyle/>
                    <a:p>
                      <a:pPr algn="l"/>
                      <a:r>
                        <a:rPr sz="1100" b="0" i="0">
                          <a:solidFill>
                            <a:srgbClr val="000000"/>
                          </a:solidFill>
                          <a:latin typeface="Calibri"/>
                        </a:rPr>
                        <a:t>23.18.1.</a:t>
                      </a:r>
                      <a:r>
                        <a:rPr sz="700" b="0" i="0">
                          <a:solidFill>
                            <a:srgbClr val="000000"/>
                          </a:solidFill>
                          <a:latin typeface="Times New Roman"/>
                        </a:rPr>
                        <a:t> </a:t>
                      </a:r>
                      <a:r>
                        <a:rPr sz="1100" b="0" i="0">
                          <a:solidFill>
                            <a:srgbClr val="000000"/>
                          </a:solidFill>
                          <a:latin typeface="Calibri"/>
                        </a:rPr>
                        <a:t>By Product Type / Chemistry</a:t>
                      </a:r>
                      <a:endParaRPr sz="1100"/>
                    </a:p>
                  </a:txBody>
                  <a:tcPr marL="771525" marR="9525" marT="9525" marB="0" anchor="ctr"/>
                </a:tc>
              </a:tr>
              <a:tr h="175260">
                <a:tc>
                  <a:txBody>
                    <a:bodyPr wrap="square"/>
                    <a:lstStyle/>
                    <a:p>
                      <a:pPr algn="l"/>
                      <a:r>
                        <a:rPr sz="1100" b="0" i="0">
                          <a:solidFill>
                            <a:srgbClr val="000000"/>
                          </a:solidFill>
                          <a:latin typeface="Calibri"/>
                        </a:rPr>
                        <a:t>23.18.2.</a:t>
                      </a:r>
                      <a:r>
                        <a:rPr sz="700" b="0" i="0">
                          <a:solidFill>
                            <a:srgbClr val="000000"/>
                          </a:solidFill>
                          <a:latin typeface="Times New Roman"/>
                        </a:rPr>
                        <a:t> </a:t>
                      </a:r>
                      <a:r>
                        <a:rPr sz="1100" b="0" i="0">
                          <a:solidFill>
                            <a:srgbClr val="000000"/>
                          </a:solidFill>
                          <a:latin typeface="Calibri"/>
                        </a:rPr>
                        <a:t>By Product Configuration</a:t>
                      </a:r>
                      <a:endParaRPr sz="1100"/>
                    </a:p>
                  </a:txBody>
                  <a:tcPr marL="771525" marR="9525" marT="9525" marB="0" anchor="ctr"/>
                </a:tc>
              </a:tr>
              <a:tr h="175260">
                <a:tc>
                  <a:txBody>
                    <a:bodyPr wrap="square"/>
                    <a:lstStyle/>
                    <a:p>
                      <a:pPr algn="l"/>
                      <a:r>
                        <a:rPr sz="1100" b="0" i="0">
                          <a:solidFill>
                            <a:srgbClr val="000000"/>
                          </a:solidFill>
                          <a:latin typeface="Calibri"/>
                        </a:rPr>
                        <a:t>23.18.3.</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23.18.4.</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23.18.5.</a:t>
                      </a:r>
                      <a:r>
                        <a:rPr sz="700" b="0" i="0">
                          <a:solidFill>
                            <a:srgbClr val="000000"/>
                          </a:solidFill>
                          <a:latin typeface="Times New Roman"/>
                        </a:rPr>
                        <a:t> </a:t>
                      </a:r>
                      <a:r>
                        <a:rPr sz="1100" b="0" i="0">
                          <a:solidFill>
                            <a:srgbClr val="000000"/>
                          </a:solidFill>
                          <a:latin typeface="Calibri"/>
                        </a:rPr>
                        <a:t>By Substrate Material</a:t>
                      </a:r>
                      <a:endParaRPr sz="1100"/>
                    </a:p>
                  </a:txBody>
                  <a:tcPr marL="771525" marR="9525" marT="9525" marB="0" anchor="ctr"/>
                </a:tc>
              </a:tr>
              <a:tr h="175260">
                <a:tc>
                  <a:txBody>
                    <a:bodyPr wrap="square"/>
                    <a:lstStyle/>
                    <a:p>
                      <a:pPr algn="l"/>
                      <a:r>
                        <a:rPr sz="1100" b="0" i="0">
                          <a:solidFill>
                            <a:srgbClr val="000000"/>
                          </a:solidFill>
                          <a:latin typeface="Calibri"/>
                        </a:rPr>
                        <a:t>23.18.6.</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23.19.</a:t>
                      </a:r>
                      <a:r>
                        <a:rPr sz="700" b="0" i="0">
                          <a:solidFill>
                            <a:srgbClr val="0070C0"/>
                          </a:solidFill>
                          <a:latin typeface="Times New Roman"/>
                        </a:rPr>
                        <a:t> </a:t>
                      </a:r>
                      <a:r>
                        <a:rPr sz="1100" b="0" i="0">
                          <a:solidFill>
                            <a:srgbClr val="0070C0"/>
                          </a:solidFill>
                          <a:latin typeface="Calibri"/>
                        </a:rPr>
                        <a:t>South Africa Waterproof Coatings Market Analysis</a:t>
                      </a:r>
                      <a:endParaRPr sz="1100"/>
                    </a:p>
                  </a:txBody>
                  <a:tcPr marL="428625" marR="9525" marT="9525" marB="0" anchor="ctr"/>
                </a:tc>
              </a:tr>
              <a:tr h="175260">
                <a:tc>
                  <a:txBody>
                    <a:bodyPr wrap="square"/>
                    <a:lstStyle/>
                    <a:p>
                      <a:pPr algn="l"/>
                      <a:r>
                        <a:rPr sz="1100" b="0" i="0">
                          <a:solidFill>
                            <a:srgbClr val="000000"/>
                          </a:solidFill>
                          <a:latin typeface="Calibri"/>
                        </a:rPr>
                        <a:t>23.19.1.</a:t>
                      </a:r>
                      <a:r>
                        <a:rPr sz="700" b="0" i="0">
                          <a:solidFill>
                            <a:srgbClr val="000000"/>
                          </a:solidFill>
                          <a:latin typeface="Times New Roman"/>
                        </a:rPr>
                        <a:t> </a:t>
                      </a:r>
                      <a:r>
                        <a:rPr sz="1100" b="0" i="0">
                          <a:solidFill>
                            <a:srgbClr val="000000"/>
                          </a:solidFill>
                          <a:latin typeface="Calibri"/>
                        </a:rPr>
                        <a:t>By Product Type / Chemistry</a:t>
                      </a:r>
                      <a:endParaRPr sz="1100"/>
                    </a:p>
                  </a:txBody>
                  <a:tcPr marL="771525" marR="9525" marT="9525" marB="0" anchor="ctr"/>
                </a:tc>
              </a:tr>
              <a:tr h="175260">
                <a:tc>
                  <a:txBody>
                    <a:bodyPr wrap="square"/>
                    <a:lstStyle/>
                    <a:p>
                      <a:pPr algn="l"/>
                      <a:r>
                        <a:rPr sz="1100" b="0" i="0">
                          <a:solidFill>
                            <a:srgbClr val="000000"/>
                          </a:solidFill>
                          <a:latin typeface="Calibri"/>
                        </a:rPr>
                        <a:t>23.19.2.</a:t>
                      </a:r>
                      <a:r>
                        <a:rPr sz="700" b="0" i="0">
                          <a:solidFill>
                            <a:srgbClr val="000000"/>
                          </a:solidFill>
                          <a:latin typeface="Times New Roman"/>
                        </a:rPr>
                        <a:t> </a:t>
                      </a:r>
                      <a:r>
                        <a:rPr sz="1100" b="0" i="0">
                          <a:solidFill>
                            <a:srgbClr val="000000"/>
                          </a:solidFill>
                          <a:latin typeface="Calibri"/>
                        </a:rPr>
                        <a:t>By Product Configuration</a:t>
                      </a:r>
                      <a:endParaRPr sz="1100"/>
                    </a:p>
                  </a:txBody>
                  <a:tcPr marL="771525" marR="9525" marT="9525" marB="0" anchor="ctr"/>
                </a:tc>
              </a:tr>
              <a:tr h="175260">
                <a:tc>
                  <a:txBody>
                    <a:bodyPr wrap="square"/>
                    <a:lstStyle/>
                    <a:p>
                      <a:pPr algn="l"/>
                      <a:r>
                        <a:rPr sz="1100" b="0" i="0">
                          <a:solidFill>
                            <a:srgbClr val="000000"/>
                          </a:solidFill>
                          <a:latin typeface="Calibri"/>
                        </a:rPr>
                        <a:t>23.19.3.</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23.19.4.</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23.19.5.</a:t>
                      </a:r>
                      <a:r>
                        <a:rPr sz="700" b="0" i="0">
                          <a:solidFill>
                            <a:srgbClr val="000000"/>
                          </a:solidFill>
                          <a:latin typeface="Times New Roman"/>
                        </a:rPr>
                        <a:t> </a:t>
                      </a:r>
                      <a:r>
                        <a:rPr sz="1100" b="0" i="0">
                          <a:solidFill>
                            <a:srgbClr val="000000"/>
                          </a:solidFill>
                          <a:latin typeface="Calibri"/>
                        </a:rPr>
                        <a:t>By Substrate Material</a:t>
                      </a:r>
                      <a:endParaRPr sz="1100"/>
                    </a:p>
                  </a:txBody>
                  <a:tcPr marL="771525" marR="9525" marT="9525" marB="0" anchor="ctr"/>
                </a:tc>
              </a:tr>
              <a:tr h="175260">
                <a:tc>
                  <a:txBody>
                    <a:bodyPr wrap="square"/>
                    <a:lstStyle/>
                    <a:p>
                      <a:pPr algn="l"/>
                      <a:r>
                        <a:rPr sz="1100" b="0" i="0">
                          <a:solidFill>
                            <a:srgbClr val="000000"/>
                          </a:solidFill>
                          <a:latin typeface="Calibri"/>
                        </a:rPr>
                        <a:t>23.19.6.</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1" i="0">
                          <a:solidFill>
                            <a:srgbClr val="000000"/>
                          </a:solidFill>
                          <a:latin typeface="Calibri"/>
                        </a:rPr>
                        <a:t>24.</a:t>
                      </a:r>
                      <a:r>
                        <a:rPr sz="700" b="1" i="0">
                          <a:solidFill>
                            <a:srgbClr val="000000"/>
                          </a:solidFill>
                          <a:latin typeface="Times New Roman"/>
                        </a:rPr>
                        <a:t>    </a:t>
                      </a:r>
                      <a:r>
                        <a:rPr sz="1100" b="1" i="0">
                          <a:solidFill>
                            <a:srgbClr val="000000"/>
                          </a:solidFill>
                          <a:latin typeface="Calibri"/>
                        </a:rPr>
                        <a:t>Market Structure Analysis</a:t>
                      </a:r>
                      <a:endParaRPr sz="1100"/>
                    </a:p>
                  </a:txBody>
                  <a:tcPr marL="171450" marR="9525" marT="9525" marB="0" anchor="ctr"/>
                </a:tc>
              </a:tr>
              <a:tr h="175260">
                <a:tc>
                  <a:txBody>
                    <a:bodyPr wrap="square"/>
                    <a:lstStyle/>
                    <a:p>
                      <a:pPr algn="l"/>
                      <a:r>
                        <a:rPr sz="1100" b="0" i="0">
                          <a:solidFill>
                            <a:srgbClr val="0070C0"/>
                          </a:solidFill>
                          <a:latin typeface="Calibri"/>
                        </a:rPr>
                        <a:t>24.1.</a:t>
                      </a:r>
                      <a:r>
                        <a:rPr sz="700" b="0" i="0">
                          <a:solidFill>
                            <a:srgbClr val="0070C0"/>
                          </a:solidFill>
                          <a:latin typeface="Times New Roman"/>
                        </a:rPr>
                        <a:t>  </a:t>
                      </a:r>
                      <a:r>
                        <a:rPr sz="1100" b="0" i="0">
                          <a:solidFill>
                            <a:srgbClr val="0070C0"/>
                          </a:solidFill>
                          <a:latin typeface="Calibri"/>
                        </a:rPr>
                        <a:t>Market Analysis by Tier of Companies</a:t>
                      </a:r>
                      <a:endParaRPr sz="1100"/>
                    </a:p>
                  </a:txBody>
                  <a:tcPr marL="428625" marR="9525" marT="9525" marB="0" anchor="ctr"/>
                </a:tc>
              </a:tr>
              <a:tr h="175260">
                <a:tc>
                  <a:txBody>
                    <a:bodyPr wrap="square"/>
                    <a:lstStyle/>
                    <a:p>
                      <a:pPr algn="l"/>
                      <a:r>
                        <a:rPr sz="1100" b="0" i="0">
                          <a:solidFill>
                            <a:srgbClr val="0070C0"/>
                          </a:solidFill>
                          <a:latin typeface="Calibri"/>
                        </a:rPr>
                        <a:t>24.2.</a:t>
                      </a:r>
                      <a:r>
                        <a:rPr sz="700" b="0" i="0">
                          <a:solidFill>
                            <a:srgbClr val="0070C0"/>
                          </a:solidFill>
                          <a:latin typeface="Times New Roman"/>
                        </a:rPr>
                        <a:t>  </a:t>
                      </a:r>
                      <a:r>
                        <a:rPr sz="1100" b="0" i="0">
                          <a:solidFill>
                            <a:srgbClr val="0070C0"/>
                          </a:solidFill>
                          <a:latin typeface="Calibri"/>
                        </a:rPr>
                        <a:t>Market Share Analysis of Top Players</a:t>
                      </a:r>
                      <a:endParaRPr sz="1100"/>
                    </a:p>
                  </a:txBody>
                  <a:tcPr marL="428625" marR="9525" marT="9525" marB="0" anchor="ctr"/>
                </a:tc>
              </a:tr>
              <a:tr h="175260">
                <a:tc>
                  <a:txBody>
                    <a:bodyPr wrap="square"/>
                    <a:lstStyle/>
                    <a:p>
                      <a:pPr algn="l"/>
                      <a:r>
                        <a:rPr sz="1100" b="0" i="0">
                          <a:solidFill>
                            <a:srgbClr val="0070C0"/>
                          </a:solidFill>
                          <a:latin typeface="Calibri"/>
                        </a:rPr>
                        <a:t>24.3.</a:t>
                      </a:r>
                      <a:r>
                        <a:rPr sz="700" b="0" i="0">
                          <a:solidFill>
                            <a:srgbClr val="0070C0"/>
                          </a:solidFill>
                          <a:latin typeface="Times New Roman"/>
                        </a:rPr>
                        <a:t>  </a:t>
                      </a:r>
                      <a:r>
                        <a:rPr sz="1100" b="0" i="0">
                          <a:solidFill>
                            <a:srgbClr val="0070C0"/>
                          </a:solidFill>
                          <a:latin typeface="Calibri"/>
                        </a:rPr>
                        <a:t>Market Presence Analysis</a:t>
                      </a:r>
                      <a:endParaRPr sz="1100"/>
                    </a:p>
                  </a:txBody>
                  <a:tcPr marL="428625" marR="9525" marT="9525" marB="0" anchor="ctr"/>
                </a:tc>
              </a:tr>
              <a:tr h="175260">
                <a:tc>
                  <a:txBody>
                    <a:bodyPr wrap="square"/>
                    <a:lstStyle/>
                    <a:p>
                      <a:pPr algn="l"/>
                      <a:r>
                        <a:rPr sz="1100" b="1" i="0">
                          <a:solidFill>
                            <a:srgbClr val="000000"/>
                          </a:solidFill>
                          <a:latin typeface="Calibri"/>
                        </a:rPr>
                        <a:t>25.</a:t>
                      </a:r>
                      <a:r>
                        <a:rPr sz="700" b="1" i="0">
                          <a:solidFill>
                            <a:srgbClr val="000000"/>
                          </a:solidFill>
                          <a:latin typeface="Times New Roman"/>
                        </a:rPr>
                        <a:t>    </a:t>
                      </a:r>
                      <a:r>
                        <a:rPr sz="1100" b="1" i="0">
                          <a:solidFill>
                            <a:srgbClr val="000000"/>
                          </a:solidFill>
                          <a:latin typeface="Calibri"/>
                        </a:rPr>
                        <a:t>Competition Analysis</a:t>
                      </a:r>
                      <a:endParaRPr sz="1100"/>
                    </a:p>
                  </a:txBody>
                  <a:tcPr marL="171450" marR="9525" marT="9525" marB="0" anchor="ctr"/>
                </a:tc>
              </a:tr>
              <a:tr h="175260">
                <a:tc>
                  <a:txBody>
                    <a:bodyPr wrap="square"/>
                    <a:lstStyle/>
                    <a:p>
                      <a:pPr algn="l"/>
                      <a:r>
                        <a:rPr sz="1100" b="0" i="0">
                          <a:solidFill>
                            <a:srgbClr val="0070C0"/>
                          </a:solidFill>
                          <a:latin typeface="Calibri"/>
                        </a:rPr>
                        <a:t>25.1.</a:t>
                      </a:r>
                      <a:r>
                        <a:rPr sz="700" b="0" i="0">
                          <a:solidFill>
                            <a:srgbClr val="0070C0"/>
                          </a:solidFill>
                          <a:latin typeface="Times New Roman"/>
                        </a:rPr>
                        <a:t>  </a:t>
                      </a:r>
                      <a:r>
                        <a:rPr sz="1100" b="0" i="0">
                          <a:solidFill>
                            <a:srgbClr val="0070C0"/>
                          </a:solidFill>
                          <a:latin typeface="Calibri"/>
                        </a:rPr>
                        <a:t>Competition Dashboard</a:t>
                      </a:r>
                      <a:endParaRPr sz="1100"/>
                    </a:p>
                  </a:txBody>
                  <a:tcPr marL="428625" marR="9525" marT="9525" marB="0" anchor="ctr"/>
                </a:tc>
              </a:tr>
              <a:tr h="175260">
                <a:tc>
                  <a:txBody>
                    <a:bodyPr wrap="square"/>
                    <a:lstStyle/>
                    <a:p>
                      <a:pPr algn="l"/>
                      <a:r>
                        <a:rPr sz="1100" b="0" i="0">
                          <a:solidFill>
                            <a:srgbClr val="0070C0"/>
                          </a:solidFill>
                          <a:latin typeface="Calibri"/>
                        </a:rPr>
                        <a:t>25.2.</a:t>
                      </a:r>
                      <a:r>
                        <a:rPr sz="700" b="0" i="0">
                          <a:solidFill>
                            <a:srgbClr val="0070C0"/>
                          </a:solidFill>
                          <a:latin typeface="Times New Roman"/>
                        </a:rPr>
                        <a:t>  </a:t>
                      </a:r>
                      <a:r>
                        <a:rPr sz="1100" b="0" i="0">
                          <a:solidFill>
                            <a:srgbClr val="0070C0"/>
                          </a:solidFill>
                          <a:latin typeface="Calibri"/>
                        </a:rPr>
                        <a:t>Competition Benchmarking</a:t>
                      </a:r>
                      <a:endParaRPr sz="1100"/>
                    </a:p>
                  </a:txBody>
                  <a:tcPr marL="428625" marR="9525" marT="9525" marB="0" anchor="ctr"/>
                </a:tc>
              </a:tr>
              <a:tr h="175260">
                <a:tc>
                  <a:txBody>
                    <a:bodyPr wrap="square"/>
                    <a:lstStyle/>
                    <a:p>
                      <a:pPr algn="l"/>
                      <a:r>
                        <a:rPr sz="1100" b="0" i="0">
                          <a:solidFill>
                            <a:srgbClr val="0070C0"/>
                          </a:solidFill>
                          <a:latin typeface="Calibri"/>
                        </a:rPr>
                        <a:t>25.3.</a:t>
                      </a:r>
                      <a:r>
                        <a:rPr sz="700" b="0" i="0">
                          <a:solidFill>
                            <a:srgbClr val="0070C0"/>
                          </a:solidFill>
                          <a:latin typeface="Times New Roman"/>
                        </a:rPr>
                        <a:t>  </a:t>
                      </a:r>
                      <a:r>
                        <a:rPr sz="1100" b="0" i="0">
                          <a:solidFill>
                            <a:srgbClr val="0070C0"/>
                          </a:solidFill>
                          <a:latin typeface="Calibri"/>
                        </a:rPr>
                        <a:t>Competition Deep Dive</a:t>
                      </a:r>
                      <a:endParaRPr sz="1100"/>
                    </a:p>
                  </a:txBody>
                  <a:tcPr marL="428625" marR="9525" marT="9525" marB="0" anchor="ctr"/>
                </a:tc>
              </a:tr>
              <a:tr h="175260">
                <a:tc>
                  <a:txBody>
                    <a:bodyPr wrap="square"/>
                    <a:lstStyle/>
                    <a:p>
                      <a:pPr algn="l"/>
                      <a:r>
                        <a:rPr sz="1100" b="0" i="0">
                          <a:solidFill>
                            <a:srgbClr val="000000"/>
                          </a:solidFill>
                          <a:latin typeface="Calibri"/>
                        </a:rPr>
                        <a:t>25.3.1.</a:t>
                      </a:r>
                      <a:r>
                        <a:rPr sz="700" b="0" i="0">
                          <a:solidFill>
                            <a:srgbClr val="000000"/>
                          </a:solidFill>
                          <a:latin typeface="Times New Roman"/>
                        </a:rPr>
                        <a:t> </a:t>
                      </a:r>
                      <a:r>
                        <a:rPr sz="1100" b="0" i="0">
                          <a:solidFill>
                            <a:srgbClr val="000000"/>
                          </a:solidFill>
                          <a:latin typeface="Calibri"/>
                        </a:rPr>
                        <a:t>Sika AG.</a:t>
                      </a:r>
                      <a:endParaRPr sz="1100"/>
                    </a:p>
                  </a:txBody>
                  <a:tcPr marL="771525" marR="9525" marT="9525" marB="0" anchor="ctr"/>
                </a:tc>
              </a:tr>
              <a:tr h="175260">
                <a:tc>
                  <a:txBody>
                    <a:bodyPr wrap="square"/>
                    <a:lstStyle/>
                    <a:p>
                      <a:pPr algn="l"/>
                      <a:r>
                        <a:rPr sz="1100" b="0" i="1">
                          <a:solidFill>
                            <a:srgbClr val="000000"/>
                          </a:solidFill>
                          <a:latin typeface="Calibri"/>
                        </a:rPr>
                        <a:t>25.3.1.1.</a:t>
                      </a:r>
                      <a:r>
                        <a:rPr sz="700" b="0" i="1">
                          <a:solidFill>
                            <a:srgbClr val="000000"/>
                          </a:solidFill>
                          <a:latin typeface="Times New Roman"/>
                        </a:rPr>
                        <a:t> </a:t>
                      </a:r>
                      <a:r>
                        <a:rPr sz="1100" b="0" i="1">
                          <a:solidFill>
                            <a:srgbClr val="000000"/>
                          </a:solidFill>
                          <a:latin typeface="Calibri"/>
                        </a:rPr>
                        <a:t>Overview</a:t>
                      </a:r>
                      <a:endParaRPr sz="1100"/>
                    </a:p>
                  </a:txBody>
                  <a:tcPr marL="1028700" marR="9525" marT="9525" marB="0" anchor="ctr"/>
                </a:tc>
              </a:tr>
              <a:tr h="175260">
                <a:tc>
                  <a:txBody>
                    <a:bodyPr wrap="square"/>
                    <a:lstStyle/>
                    <a:p>
                      <a:pPr algn="l"/>
                      <a:r>
                        <a:rPr sz="1100" b="0" i="1">
                          <a:solidFill>
                            <a:srgbClr val="000000"/>
                          </a:solidFill>
                          <a:latin typeface="Calibri"/>
                        </a:rPr>
                        <a:t>25.3.1.2.</a:t>
                      </a:r>
                      <a:r>
                        <a:rPr sz="700" b="0" i="1">
                          <a:solidFill>
                            <a:srgbClr val="000000"/>
                          </a:solidFill>
                          <a:latin typeface="Times New Roman"/>
                        </a:rPr>
                        <a:t> </a:t>
                      </a:r>
                      <a:r>
                        <a:rPr sz="1100" b="0" i="1">
                          <a:solidFill>
                            <a:srgbClr val="000000"/>
                          </a:solidFill>
                          <a:latin typeface="Calibri"/>
                        </a:rPr>
                        <a:t>Product Portfolio</a:t>
                      </a:r>
                      <a:endParaRPr sz="1100"/>
                    </a:p>
                  </a:txBody>
                  <a:tcPr marL="1028700" marR="9525" marT="9525" marB="0" anchor="ctr"/>
                </a:tc>
              </a:tr>
              <a:tr h="175260">
                <a:tc>
                  <a:txBody>
                    <a:bodyPr wrap="square"/>
                    <a:lstStyle/>
                    <a:p>
                      <a:pPr algn="l"/>
                      <a:r>
                        <a:rPr sz="1100" b="0" i="1">
                          <a:solidFill>
                            <a:srgbClr val="000000"/>
                          </a:solidFill>
                          <a:latin typeface="Calibri"/>
                        </a:rPr>
                        <a:t>25.3.1.3.</a:t>
                      </a:r>
                      <a:r>
                        <a:rPr sz="700" b="0" i="1">
                          <a:solidFill>
                            <a:srgbClr val="000000"/>
                          </a:solidFill>
                          <a:latin typeface="Times New Roman"/>
                        </a:rPr>
                        <a:t> </a:t>
                      </a:r>
                      <a:r>
                        <a:rPr sz="1100" b="0" i="1">
                          <a:solidFill>
                            <a:srgbClr val="000000"/>
                          </a:solidFill>
                          <a:latin typeface="Calibri"/>
                        </a:rPr>
                        <a:t>Profitability by Market Segments (Product/Channel/Region)</a:t>
                      </a:r>
                      <a:endParaRPr sz="1100"/>
                    </a:p>
                  </a:txBody>
                  <a:tcPr marL="1028700" marR="9525" marT="9525" marB="0" anchor="ctr"/>
                </a:tc>
              </a:tr>
              <a:tr h="175260">
                <a:tc>
                  <a:txBody>
                    <a:bodyPr wrap="square"/>
                    <a:lstStyle/>
                    <a:p>
                      <a:pPr algn="l"/>
                      <a:r>
                        <a:rPr sz="1100" b="0" i="1">
                          <a:solidFill>
                            <a:srgbClr val="000000"/>
                          </a:solidFill>
                          <a:latin typeface="Calibri"/>
                        </a:rPr>
                        <a:t>25.3.1.4.</a:t>
                      </a:r>
                      <a:r>
                        <a:rPr sz="700" b="0" i="1">
                          <a:solidFill>
                            <a:srgbClr val="000000"/>
                          </a:solidFill>
                          <a:latin typeface="Times New Roman"/>
                        </a:rPr>
                        <a:t> </a:t>
                      </a:r>
                      <a:r>
                        <a:rPr sz="1100" b="0" i="1">
                          <a:solidFill>
                            <a:srgbClr val="000000"/>
                          </a:solidFill>
                          <a:latin typeface="Calibri"/>
                        </a:rPr>
                        <a:t>Sales Footprint</a:t>
                      </a:r>
                      <a:endParaRPr sz="1100"/>
                    </a:p>
                  </a:txBody>
                  <a:tcPr marL="1028700"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(9/9)</a:t>
            </a:r>
          </a:p>
        </p:txBody>
      </p:sp>
      <p:graphicFrame>
        <p:nvGraphicFramePr>
          <p:cNvPr id="9" name="FMI Contents Table"/>
          <p:cNvGraphicFramePr>
            <a:graphicFrameLocks noGrp="1"/>
          </p:cNvGraphicFramePr>
          <p:nvPr/>
        </p:nvGraphicFramePr>
        <p:xfrm>
          <a:off x="142875" y="981075"/>
          <a:ext cx="5876925" cy="403098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1">
                          <a:solidFill>
                            <a:srgbClr val="000000"/>
                          </a:solidFill>
                          <a:latin typeface="Calibri"/>
                        </a:rPr>
                        <a:t>25.3.1.5.</a:t>
                      </a:r>
                      <a:r>
                        <a:rPr sz="700" b="0" i="1">
                          <a:solidFill>
                            <a:srgbClr val="000000"/>
                          </a:solidFill>
                          <a:latin typeface="Times New Roman"/>
                        </a:rPr>
                        <a:t> </a:t>
                      </a:r>
                      <a:r>
                        <a:rPr sz="1100" b="0" i="1">
                          <a:solidFill>
                            <a:srgbClr val="000000"/>
                          </a:solidFill>
                          <a:latin typeface="Calibri"/>
                        </a:rPr>
                        <a:t>Strategy Overview</a:t>
                      </a:r>
                      <a:endParaRPr sz="1100"/>
                    </a:p>
                  </a:txBody>
                  <a:tcPr marL="1028700" marR="9525" marT="9525" marB="0" anchor="ctr"/>
                </a:tc>
              </a:tr>
              <a:tr h="175260">
                <a:tc>
                  <a:txBody>
                    <a:bodyPr wrap="square"/>
                    <a:lstStyle/>
                    <a:p>
                      <a:pPr algn="l"/>
                      <a:r>
                        <a:rPr sz="1100" b="0" i="0">
                          <a:solidFill>
                            <a:srgbClr val="000000"/>
                          </a:solidFill>
                          <a:latin typeface="Calibri"/>
                        </a:rPr>
                        <a:t>25.3.2.</a:t>
                      </a:r>
                      <a:r>
                        <a:rPr sz="700" b="0" i="0">
                          <a:solidFill>
                            <a:srgbClr val="000000"/>
                          </a:solidFill>
                          <a:latin typeface="Times New Roman"/>
                        </a:rPr>
                        <a:t> </a:t>
                      </a:r>
                      <a:r>
                        <a:rPr sz="1100" b="0" i="0">
                          <a:solidFill>
                            <a:srgbClr val="000000"/>
                          </a:solidFill>
                          <a:latin typeface="Calibri"/>
                        </a:rPr>
                        <a:t>The Sherwin-Williams Company</a:t>
                      </a:r>
                      <a:endParaRPr sz="1100"/>
                    </a:p>
                  </a:txBody>
                  <a:tcPr marL="771525" marR="9525" marT="9525" marB="0" anchor="ctr"/>
                </a:tc>
              </a:tr>
              <a:tr h="175260">
                <a:tc>
                  <a:txBody>
                    <a:bodyPr wrap="square"/>
                    <a:lstStyle/>
                    <a:p>
                      <a:pPr algn="l"/>
                      <a:r>
                        <a:rPr sz="1100" b="0" i="0">
                          <a:solidFill>
                            <a:srgbClr val="000000"/>
                          </a:solidFill>
                          <a:latin typeface="Calibri"/>
                        </a:rPr>
                        <a:t>25.3.3.</a:t>
                      </a:r>
                      <a:r>
                        <a:rPr sz="700" b="0" i="0">
                          <a:solidFill>
                            <a:srgbClr val="000000"/>
                          </a:solidFill>
                          <a:latin typeface="Times New Roman"/>
                        </a:rPr>
                        <a:t> </a:t>
                      </a:r>
                      <a:r>
                        <a:rPr sz="1100" b="0" i="0">
                          <a:solidFill>
                            <a:srgbClr val="000000"/>
                          </a:solidFill>
                          <a:latin typeface="Calibri"/>
                        </a:rPr>
                        <a:t>PPG Industries, Inc.</a:t>
                      </a:r>
                      <a:endParaRPr sz="1100"/>
                    </a:p>
                  </a:txBody>
                  <a:tcPr marL="771525" marR="9525" marT="9525" marB="0" anchor="ctr"/>
                </a:tc>
              </a:tr>
              <a:tr h="175260">
                <a:tc>
                  <a:txBody>
                    <a:bodyPr wrap="square"/>
                    <a:lstStyle/>
                    <a:p>
                      <a:pPr algn="l"/>
                      <a:r>
                        <a:rPr sz="1100" b="0" i="0">
                          <a:solidFill>
                            <a:srgbClr val="000000"/>
                          </a:solidFill>
                          <a:latin typeface="Calibri"/>
                        </a:rPr>
                        <a:t>25.3.4.</a:t>
                      </a:r>
                      <a:r>
                        <a:rPr sz="700" b="0" i="0">
                          <a:solidFill>
                            <a:srgbClr val="000000"/>
                          </a:solidFill>
                          <a:latin typeface="Times New Roman"/>
                        </a:rPr>
                        <a:t> </a:t>
                      </a:r>
                      <a:r>
                        <a:rPr sz="1100" b="0" i="0">
                          <a:solidFill>
                            <a:srgbClr val="000000"/>
                          </a:solidFill>
                          <a:latin typeface="Calibri"/>
                        </a:rPr>
                        <a:t>Akzo Nobel N.V.</a:t>
                      </a:r>
                      <a:endParaRPr sz="1100"/>
                    </a:p>
                  </a:txBody>
                  <a:tcPr marL="771525" marR="9525" marT="9525" marB="0" anchor="ctr"/>
                </a:tc>
              </a:tr>
              <a:tr h="175260">
                <a:tc>
                  <a:txBody>
                    <a:bodyPr wrap="square"/>
                    <a:lstStyle/>
                    <a:p>
                      <a:pPr algn="l"/>
                      <a:r>
                        <a:rPr sz="1100" b="0" i="0">
                          <a:solidFill>
                            <a:srgbClr val="000000"/>
                          </a:solidFill>
                          <a:latin typeface="Calibri"/>
                        </a:rPr>
                        <a:t>25.3.5.</a:t>
                      </a:r>
                      <a:r>
                        <a:rPr sz="700" b="0" i="0">
                          <a:solidFill>
                            <a:srgbClr val="000000"/>
                          </a:solidFill>
                          <a:latin typeface="Times New Roman"/>
                        </a:rPr>
                        <a:t> </a:t>
                      </a:r>
                      <a:r>
                        <a:rPr sz="1100" b="0" i="0">
                          <a:solidFill>
                            <a:srgbClr val="000000"/>
                          </a:solidFill>
                          <a:latin typeface="Calibri"/>
                        </a:rPr>
                        <a:t>BASF SE</a:t>
                      </a:r>
                      <a:endParaRPr sz="1100"/>
                    </a:p>
                  </a:txBody>
                  <a:tcPr marL="771525" marR="9525" marT="9525" marB="0" anchor="ctr"/>
                </a:tc>
              </a:tr>
              <a:tr h="175260">
                <a:tc>
                  <a:txBody>
                    <a:bodyPr wrap="square"/>
                    <a:lstStyle/>
                    <a:p>
                      <a:pPr algn="l"/>
                      <a:r>
                        <a:rPr sz="1100" b="0" i="0">
                          <a:solidFill>
                            <a:srgbClr val="000000"/>
                          </a:solidFill>
                          <a:latin typeface="Calibri"/>
                        </a:rPr>
                        <a:t>25.3.6.</a:t>
                      </a:r>
                      <a:r>
                        <a:rPr sz="700" b="0" i="0">
                          <a:solidFill>
                            <a:srgbClr val="000000"/>
                          </a:solidFill>
                          <a:latin typeface="Times New Roman"/>
                        </a:rPr>
                        <a:t> </a:t>
                      </a:r>
                      <a:r>
                        <a:rPr sz="1100" b="0" i="0">
                          <a:solidFill>
                            <a:srgbClr val="000000"/>
                          </a:solidFill>
                          <a:latin typeface="Calibri"/>
                        </a:rPr>
                        <a:t>RPM International Inc.</a:t>
                      </a:r>
                      <a:endParaRPr sz="1100"/>
                    </a:p>
                  </a:txBody>
                  <a:tcPr marL="771525" marR="9525" marT="9525" marB="0" anchor="ctr"/>
                </a:tc>
              </a:tr>
              <a:tr h="175260">
                <a:tc>
                  <a:txBody>
                    <a:bodyPr wrap="square"/>
                    <a:lstStyle/>
                    <a:p>
                      <a:pPr algn="l"/>
                      <a:r>
                        <a:rPr sz="1100" b="0" i="0">
                          <a:solidFill>
                            <a:srgbClr val="000000"/>
                          </a:solidFill>
                          <a:latin typeface="Calibri"/>
                        </a:rPr>
                        <a:t>25.3.7.</a:t>
                      </a:r>
                      <a:r>
                        <a:rPr sz="700" b="0" i="0">
                          <a:solidFill>
                            <a:srgbClr val="000000"/>
                          </a:solidFill>
                          <a:latin typeface="Times New Roman"/>
                        </a:rPr>
                        <a:t> </a:t>
                      </a:r>
                      <a:r>
                        <a:rPr sz="1100" b="0" i="0">
                          <a:solidFill>
                            <a:srgbClr val="000000"/>
                          </a:solidFill>
                          <a:latin typeface="Calibri"/>
                        </a:rPr>
                        <a:t>Saint-Gobain</a:t>
                      </a:r>
                      <a:endParaRPr sz="1100"/>
                    </a:p>
                  </a:txBody>
                  <a:tcPr marL="771525" marR="9525" marT="9525" marB="0" anchor="ctr"/>
                </a:tc>
              </a:tr>
              <a:tr h="175260">
                <a:tc>
                  <a:txBody>
                    <a:bodyPr wrap="square"/>
                    <a:lstStyle/>
                    <a:p>
                      <a:pPr algn="l"/>
                      <a:r>
                        <a:rPr sz="1100" b="0" i="0">
                          <a:solidFill>
                            <a:srgbClr val="000000"/>
                          </a:solidFill>
                          <a:latin typeface="Calibri"/>
                        </a:rPr>
                        <a:t>25.3.8.</a:t>
                      </a:r>
                      <a:r>
                        <a:rPr sz="700" b="0" i="0">
                          <a:solidFill>
                            <a:srgbClr val="000000"/>
                          </a:solidFill>
                          <a:latin typeface="Times New Roman"/>
                        </a:rPr>
                        <a:t> </a:t>
                      </a:r>
                      <a:r>
                        <a:rPr sz="1100" b="0" i="0">
                          <a:solidFill>
                            <a:srgbClr val="000000"/>
                          </a:solidFill>
                          <a:latin typeface="Calibri"/>
                        </a:rPr>
                        <a:t>Mapei S.p.A.</a:t>
                      </a:r>
                      <a:endParaRPr sz="1100"/>
                    </a:p>
                  </a:txBody>
                  <a:tcPr marL="771525" marR="9525" marT="9525" marB="0" anchor="ctr"/>
                </a:tc>
              </a:tr>
              <a:tr h="175260">
                <a:tc>
                  <a:txBody>
                    <a:bodyPr wrap="square"/>
                    <a:lstStyle/>
                    <a:p>
                      <a:pPr algn="l"/>
                      <a:r>
                        <a:rPr sz="1100" b="0" i="0">
                          <a:solidFill>
                            <a:srgbClr val="000000"/>
                          </a:solidFill>
                          <a:latin typeface="Calibri"/>
                        </a:rPr>
                        <a:t>25.3.9.</a:t>
                      </a:r>
                      <a:r>
                        <a:rPr sz="700" b="0" i="0">
                          <a:solidFill>
                            <a:srgbClr val="000000"/>
                          </a:solidFill>
                          <a:latin typeface="Times New Roman"/>
                        </a:rPr>
                        <a:t> </a:t>
                      </a:r>
                      <a:r>
                        <a:rPr sz="1100" b="0" i="0">
                          <a:solidFill>
                            <a:srgbClr val="000000"/>
                          </a:solidFill>
                          <a:latin typeface="Calibri"/>
                        </a:rPr>
                        <a:t>Henkel AG &amp; Co. KGaA</a:t>
                      </a:r>
                      <a:endParaRPr sz="1100"/>
                    </a:p>
                  </a:txBody>
                  <a:tcPr marL="771525" marR="9525" marT="9525" marB="0" anchor="ctr"/>
                </a:tc>
              </a:tr>
              <a:tr h="175260">
                <a:tc>
                  <a:txBody>
                    <a:bodyPr wrap="square"/>
                    <a:lstStyle/>
                    <a:p>
                      <a:pPr algn="l"/>
                      <a:r>
                        <a:rPr sz="1100" b="0" i="0">
                          <a:solidFill>
                            <a:srgbClr val="000000"/>
                          </a:solidFill>
                          <a:latin typeface="Calibri"/>
                        </a:rPr>
                        <a:t>25.3.10.</a:t>
                      </a:r>
                      <a:r>
                        <a:rPr sz="700" b="0" i="0">
                          <a:solidFill>
                            <a:srgbClr val="000000"/>
                          </a:solidFill>
                          <a:latin typeface="Times New Roman"/>
                        </a:rPr>
                        <a:t> </a:t>
                      </a:r>
                      <a:r>
                        <a:rPr sz="1100" b="0" i="0">
                          <a:solidFill>
                            <a:srgbClr val="000000"/>
                          </a:solidFill>
                          <a:latin typeface="Calibri"/>
                        </a:rPr>
                        <a:t>Dow Inc.</a:t>
                      </a:r>
                      <a:endParaRPr sz="1100"/>
                    </a:p>
                  </a:txBody>
                  <a:tcPr marL="771525" marR="9525" marT="9525" marB="0" anchor="ctr"/>
                </a:tc>
              </a:tr>
              <a:tr h="175260">
                <a:tc>
                  <a:txBody>
                    <a:bodyPr wrap="square"/>
                    <a:lstStyle/>
                    <a:p>
                      <a:pPr algn="l"/>
                      <a:r>
                        <a:rPr sz="1100" b="0" i="0">
                          <a:solidFill>
                            <a:srgbClr val="000000"/>
                          </a:solidFill>
                          <a:latin typeface="Calibri"/>
                        </a:rPr>
                        <a:t>25.3.11.</a:t>
                      </a:r>
                      <a:r>
                        <a:rPr sz="700" b="0" i="0">
                          <a:solidFill>
                            <a:srgbClr val="000000"/>
                          </a:solidFill>
                          <a:latin typeface="Times New Roman"/>
                        </a:rPr>
                        <a:t> </a:t>
                      </a:r>
                      <a:r>
                        <a:rPr sz="1100" b="0" i="0">
                          <a:solidFill>
                            <a:srgbClr val="000000"/>
                          </a:solidFill>
                          <a:latin typeface="Calibri"/>
                        </a:rPr>
                        <a:t>Nippon Paint Holdings Co., Ltd.</a:t>
                      </a:r>
                      <a:endParaRPr sz="1100"/>
                    </a:p>
                  </a:txBody>
                  <a:tcPr marL="771525" marR="9525" marT="9525" marB="0" anchor="ctr"/>
                </a:tc>
              </a:tr>
              <a:tr h="175260">
                <a:tc>
                  <a:txBody>
                    <a:bodyPr wrap="square"/>
                    <a:lstStyle/>
                    <a:p>
                      <a:pPr algn="l"/>
                      <a:r>
                        <a:rPr sz="1100" b="0" i="0">
                          <a:solidFill>
                            <a:srgbClr val="000000"/>
                          </a:solidFill>
                          <a:latin typeface="Calibri"/>
                        </a:rPr>
                        <a:t>25.3.12.</a:t>
                      </a:r>
                      <a:r>
                        <a:rPr sz="700" b="0" i="0">
                          <a:solidFill>
                            <a:srgbClr val="000000"/>
                          </a:solidFill>
                          <a:latin typeface="Times New Roman"/>
                        </a:rPr>
                        <a:t> </a:t>
                      </a:r>
                      <a:r>
                        <a:rPr sz="1100" b="0" i="0">
                          <a:solidFill>
                            <a:srgbClr val="000000"/>
                          </a:solidFill>
                          <a:latin typeface="Calibri"/>
                        </a:rPr>
                        <a:t>Asian Paints Limited</a:t>
                      </a:r>
                      <a:endParaRPr sz="1100"/>
                    </a:p>
                  </a:txBody>
                  <a:tcPr marL="771525" marR="9525" marT="9525" marB="0" anchor="ctr"/>
                </a:tc>
              </a:tr>
              <a:tr h="175260">
                <a:tc>
                  <a:txBody>
                    <a:bodyPr wrap="square"/>
                    <a:lstStyle/>
                    <a:p>
                      <a:pPr algn="l"/>
                      <a:r>
                        <a:rPr sz="1100" b="0" i="0">
                          <a:solidFill>
                            <a:srgbClr val="000000"/>
                          </a:solidFill>
                          <a:latin typeface="Calibri"/>
                        </a:rPr>
                        <a:t>25.3.13.</a:t>
                      </a:r>
                      <a:r>
                        <a:rPr sz="700" b="0" i="0">
                          <a:solidFill>
                            <a:srgbClr val="000000"/>
                          </a:solidFill>
                          <a:latin typeface="Times New Roman"/>
                        </a:rPr>
                        <a:t> </a:t>
                      </a:r>
                      <a:r>
                        <a:rPr sz="1100" b="0" i="0">
                          <a:solidFill>
                            <a:srgbClr val="000000"/>
                          </a:solidFill>
                          <a:latin typeface="Calibri"/>
                        </a:rPr>
                        <a:t>Berger Paints India Limited</a:t>
                      </a:r>
                      <a:endParaRPr sz="1100"/>
                    </a:p>
                  </a:txBody>
                  <a:tcPr marL="771525" marR="9525" marT="9525" marB="0" anchor="ctr"/>
                </a:tc>
              </a:tr>
              <a:tr h="175260">
                <a:tc>
                  <a:txBody>
                    <a:bodyPr wrap="square"/>
                    <a:lstStyle/>
                    <a:p>
                      <a:pPr algn="l"/>
                      <a:r>
                        <a:rPr sz="1100" b="0" i="0">
                          <a:solidFill>
                            <a:srgbClr val="000000"/>
                          </a:solidFill>
                          <a:latin typeface="Calibri"/>
                        </a:rPr>
                        <a:t>25.3.14.</a:t>
                      </a:r>
                      <a:r>
                        <a:rPr sz="700" b="0" i="0">
                          <a:solidFill>
                            <a:srgbClr val="000000"/>
                          </a:solidFill>
                          <a:latin typeface="Times New Roman"/>
                        </a:rPr>
                        <a:t> </a:t>
                      </a:r>
                      <a:r>
                        <a:rPr sz="1100" b="0" i="0">
                          <a:solidFill>
                            <a:srgbClr val="000000"/>
                          </a:solidFill>
                          <a:latin typeface="Calibri"/>
                        </a:rPr>
                        <a:t>Kansai Paint Co., Ltd.</a:t>
                      </a:r>
                      <a:endParaRPr sz="1100"/>
                    </a:p>
                  </a:txBody>
                  <a:tcPr marL="771525" marR="9525" marT="9525" marB="0" anchor="ctr"/>
                </a:tc>
              </a:tr>
              <a:tr h="175260">
                <a:tc>
                  <a:txBody>
                    <a:bodyPr wrap="square"/>
                    <a:lstStyle/>
                    <a:p>
                      <a:pPr algn="l"/>
                      <a:r>
                        <a:rPr sz="1100" b="0" i="0">
                          <a:solidFill>
                            <a:srgbClr val="000000"/>
                          </a:solidFill>
                          <a:latin typeface="Calibri"/>
                        </a:rPr>
                        <a:t>25.3.15.</a:t>
                      </a:r>
                      <a:r>
                        <a:rPr sz="700" b="0" i="0">
                          <a:solidFill>
                            <a:srgbClr val="000000"/>
                          </a:solidFill>
                          <a:latin typeface="Times New Roman"/>
                        </a:rPr>
                        <a:t> </a:t>
                      </a:r>
                      <a:r>
                        <a:rPr sz="1100" b="0" i="0">
                          <a:solidFill>
                            <a:srgbClr val="000000"/>
                          </a:solidFill>
                          <a:latin typeface="Calibri"/>
                        </a:rPr>
                        <a:t>Jotun A/S</a:t>
                      </a:r>
                      <a:endParaRPr sz="1100"/>
                    </a:p>
                  </a:txBody>
                  <a:tcPr marL="771525" marR="9525" marT="9525" marB="0" anchor="ctr"/>
                </a:tc>
              </a:tr>
              <a:tr h="175260">
                <a:tc>
                  <a:txBody>
                    <a:bodyPr wrap="square"/>
                    <a:lstStyle/>
                    <a:p>
                      <a:pPr algn="l"/>
                      <a:r>
                        <a:rPr sz="1100" b="0" i="0">
                          <a:solidFill>
                            <a:srgbClr val="000000"/>
                          </a:solidFill>
                          <a:latin typeface="Calibri"/>
                        </a:rPr>
                        <a:t>25.3.16.</a:t>
                      </a:r>
                      <a:r>
                        <a:rPr sz="700" b="0" i="0">
                          <a:solidFill>
                            <a:srgbClr val="000000"/>
                          </a:solidFill>
                          <a:latin typeface="Times New Roman"/>
                        </a:rPr>
                        <a:t> </a:t>
                      </a:r>
                      <a:r>
                        <a:rPr sz="1100" b="0" i="0">
                          <a:solidFill>
                            <a:srgbClr val="000000"/>
                          </a:solidFill>
                          <a:latin typeface="Calibri"/>
                        </a:rPr>
                        <a:t>Hempel A/S</a:t>
                      </a:r>
                      <a:endParaRPr sz="1100"/>
                    </a:p>
                  </a:txBody>
                  <a:tcPr marL="771525" marR="9525" marT="9525" marB="0" anchor="ctr"/>
                </a:tc>
              </a:tr>
              <a:tr h="175260">
                <a:tc>
                  <a:txBody>
                    <a:bodyPr wrap="square"/>
                    <a:lstStyle/>
                    <a:p>
                      <a:pPr algn="l"/>
                      <a:r>
                        <a:rPr sz="1100" b="0" i="0">
                          <a:solidFill>
                            <a:srgbClr val="000000"/>
                          </a:solidFill>
                          <a:latin typeface="Calibri"/>
                        </a:rPr>
                        <a:t>25.3.17.</a:t>
                      </a:r>
                      <a:r>
                        <a:rPr sz="700" b="0" i="0">
                          <a:solidFill>
                            <a:srgbClr val="000000"/>
                          </a:solidFill>
                          <a:latin typeface="Times New Roman"/>
                        </a:rPr>
                        <a:t> </a:t>
                      </a:r>
                      <a:r>
                        <a:rPr sz="1100" b="0" i="0">
                          <a:solidFill>
                            <a:srgbClr val="000000"/>
                          </a:solidFill>
                          <a:latin typeface="Calibri"/>
                        </a:rPr>
                        <a:t>Oriental Yuhong</a:t>
                      </a:r>
                      <a:endParaRPr sz="1100"/>
                    </a:p>
                  </a:txBody>
                  <a:tcPr marL="771525" marR="9525" marT="9525" marB="0" anchor="ctr"/>
                </a:tc>
              </a:tr>
              <a:tr h="175260">
                <a:tc>
                  <a:txBody>
                    <a:bodyPr wrap="square"/>
                    <a:lstStyle/>
                    <a:p>
                      <a:pPr algn="l"/>
                      <a:r>
                        <a:rPr sz="1100" b="0" i="0">
                          <a:solidFill>
                            <a:srgbClr val="000000"/>
                          </a:solidFill>
                          <a:latin typeface="Calibri"/>
                        </a:rPr>
                        <a:t>25.3.18.</a:t>
                      </a:r>
                      <a:r>
                        <a:rPr sz="700" b="0" i="0">
                          <a:solidFill>
                            <a:srgbClr val="000000"/>
                          </a:solidFill>
                          <a:latin typeface="Times New Roman"/>
                        </a:rPr>
                        <a:t> </a:t>
                      </a:r>
                      <a:r>
                        <a:rPr sz="1100" b="0" i="0">
                          <a:solidFill>
                            <a:srgbClr val="000000"/>
                          </a:solidFill>
                          <a:latin typeface="Calibri"/>
                        </a:rPr>
                        <a:t>Keshun Waterproof Technology Co., Ltd.</a:t>
                      </a:r>
                      <a:endParaRPr sz="1100"/>
                    </a:p>
                  </a:txBody>
                  <a:tcPr marL="771525" marR="9525" marT="9525" marB="0" anchor="ctr"/>
                </a:tc>
              </a:tr>
              <a:tr h="175260">
                <a:tc>
                  <a:txBody>
                    <a:bodyPr wrap="square"/>
                    <a:lstStyle/>
                    <a:p>
                      <a:pPr algn="l"/>
                      <a:r>
                        <a:rPr sz="1100" b="0" i="0">
                          <a:solidFill>
                            <a:srgbClr val="000000"/>
                          </a:solidFill>
                          <a:latin typeface="Calibri"/>
                        </a:rPr>
                        <a:t>25.3.19.</a:t>
                      </a:r>
                      <a:r>
                        <a:rPr sz="700" b="0" i="0">
                          <a:solidFill>
                            <a:srgbClr val="000000"/>
                          </a:solidFill>
                          <a:latin typeface="Times New Roman"/>
                        </a:rPr>
                        <a:t> </a:t>
                      </a:r>
                      <a:r>
                        <a:rPr sz="1100" b="0" i="0">
                          <a:solidFill>
                            <a:srgbClr val="000000"/>
                          </a:solidFill>
                          <a:latin typeface="Calibri"/>
                        </a:rPr>
                        <a:t>Fosroc</a:t>
                      </a:r>
                      <a:endParaRPr sz="1100"/>
                    </a:p>
                  </a:txBody>
                  <a:tcPr marL="771525" marR="9525" marT="9525" marB="0" anchor="ctr"/>
                </a:tc>
              </a:tr>
              <a:tr h="175260">
                <a:tc>
                  <a:txBody>
                    <a:bodyPr wrap="square"/>
                    <a:lstStyle/>
                    <a:p>
                      <a:pPr algn="l"/>
                      <a:r>
                        <a:rPr sz="1100" b="0" i="0">
                          <a:solidFill>
                            <a:srgbClr val="000000"/>
                          </a:solidFill>
                          <a:latin typeface="Calibri"/>
                        </a:rPr>
                        <a:t>25.3.20.</a:t>
                      </a:r>
                      <a:r>
                        <a:rPr sz="700" b="0" i="0">
                          <a:solidFill>
                            <a:srgbClr val="000000"/>
                          </a:solidFill>
                          <a:latin typeface="Times New Roman"/>
                        </a:rPr>
                        <a:t> </a:t>
                      </a:r>
                      <a:r>
                        <a:rPr sz="1100" b="0" i="0">
                          <a:solidFill>
                            <a:srgbClr val="000000"/>
                          </a:solidFill>
                          <a:latin typeface="Calibri"/>
                        </a:rPr>
                        <a:t>GAF Materials Corporation</a:t>
                      </a:r>
                      <a:endParaRPr sz="1100"/>
                    </a:p>
                  </a:txBody>
                  <a:tcPr marL="771525" marR="9525" marT="9525" marB="0" anchor="ctr"/>
                </a:tc>
              </a:tr>
              <a:tr h="175260">
                <a:tc>
                  <a:txBody>
                    <a:bodyPr wrap="square"/>
                    <a:lstStyle/>
                    <a:p>
                      <a:pPr algn="l"/>
                      <a:r>
                        <a:rPr sz="1100" b="0" i="0">
                          <a:solidFill>
                            <a:srgbClr val="000000"/>
                          </a:solidFill>
                          <a:latin typeface="Calibri"/>
                        </a:rPr>
                        <a:t>25.3.21.</a:t>
                      </a:r>
                      <a:r>
                        <a:rPr sz="700" b="0" i="0">
                          <a:solidFill>
                            <a:srgbClr val="000000"/>
                          </a:solidFill>
                          <a:latin typeface="Times New Roman"/>
                        </a:rPr>
                        <a:t> </a:t>
                      </a:r>
                      <a:r>
                        <a:rPr sz="1100" b="0" i="0">
                          <a:solidFill>
                            <a:srgbClr val="000000"/>
                          </a:solidFill>
                          <a:latin typeface="Calibri"/>
                        </a:rPr>
                        <a:t>Others Players.</a:t>
                      </a:r>
                      <a:endParaRPr sz="1100"/>
                    </a:p>
                  </a:txBody>
                  <a:tcPr marL="771525" marR="9525" marT="9525" marB="0" anchor="ctr"/>
                </a:tc>
              </a:tr>
              <a:tr h="175260">
                <a:tc>
                  <a:txBody>
                    <a:bodyPr wrap="square"/>
                    <a:lstStyle/>
                    <a:p>
                      <a:pPr algn="l"/>
                      <a:r>
                        <a:rPr sz="1100" b="1" i="0">
                          <a:solidFill>
                            <a:srgbClr val="000000"/>
                          </a:solidFill>
                          <a:latin typeface="Calibri"/>
                        </a:rPr>
                        <a:t>26.</a:t>
                      </a:r>
                      <a:r>
                        <a:rPr sz="700" b="1" i="0">
                          <a:solidFill>
                            <a:srgbClr val="000000"/>
                          </a:solidFill>
                          <a:latin typeface="Times New Roman"/>
                        </a:rPr>
                        <a:t>    </a:t>
                      </a:r>
                      <a:r>
                        <a:rPr sz="1100" b="1" i="0">
                          <a:solidFill>
                            <a:srgbClr val="000000"/>
                          </a:solidFill>
                          <a:latin typeface="Calibri"/>
                        </a:rPr>
                        <a:t>Assumptions and Acronyms Used</a:t>
                      </a:r>
                      <a:endParaRPr sz="1100"/>
                    </a:p>
                  </a:txBody>
                  <a:tcPr marL="171450" marR="9525" marT="9525" marB="0" anchor="ctr"/>
                </a:tc>
              </a:tr>
              <a:tr h="175260">
                <a:tc>
                  <a:txBody>
                    <a:bodyPr wrap="square"/>
                    <a:lstStyle/>
                    <a:p>
                      <a:pPr algn="l"/>
                      <a:r>
                        <a:rPr sz="1100" b="1" i="0">
                          <a:solidFill>
                            <a:srgbClr val="000000"/>
                          </a:solidFill>
                          <a:latin typeface="Calibri"/>
                        </a:rPr>
                        <a:t>27.</a:t>
                      </a:r>
                      <a:r>
                        <a:rPr sz="700" b="1" i="0">
                          <a:solidFill>
                            <a:srgbClr val="000000"/>
                          </a:solidFill>
                          <a:latin typeface="Times New Roman"/>
                        </a:rPr>
                        <a:t>    </a:t>
                      </a:r>
                      <a:r>
                        <a:rPr sz="1100" b="1" i="0">
                          <a:solidFill>
                            <a:srgbClr val="000000"/>
                          </a:solidFill>
                          <a:latin typeface="Calibri"/>
                        </a:rPr>
                        <a:t>Research Methodology</a:t>
                      </a:r>
                      <a:endParaRPr sz="1100"/>
                    </a:p>
                  </a:txBody>
                  <a:tcPr marL="171450" marR="9525" marT="9525" marB="0" anchor="ctr"/>
                </a:tc>
              </a:tr>
            </a:tbl>
          </a:graphicData>
        </a:graphic>
      </p:graphicFrame>
      <p:sp>
        <p:nvSpPr>
          <p:cNvPr id="10" name="TextBox 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94957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3292475"/>
            <a:ext cx="8572500" cy="514350"/>
          </a:xfrm>
          <a:prstGeom prst="rect">
            <a:avLst/>
          </a:prstGeom>
          <a:noFill/>
        </p:spPr>
        <p:txBody>
          <a:bodyPr wrap="square" lIns="0" rIns="0" tIns="0">
            <a:spAutoFit/>
          </a:bodyPr>
          <a:lstStyle/>
          <a:p>
            <a:r>
              <a:rPr sz="3000" b="1">
                <a:solidFill>
                  <a:srgbClr val="0B3C8C"/>
                </a:solidFill>
                <a:latin typeface="Calibri"/>
              </a:rPr>
              <a:t>List of Figures, List of Tables</a:t>
            </a:r>
          </a:p>
        </p:txBody>
      </p:sp>
      <p:sp>
        <p:nvSpPr>
          <p:cNvPr id="11" name="TextBox 10"/>
          <p:cNvSpPr txBox="1"/>
          <p:nvPr/>
        </p:nvSpPr>
        <p:spPr>
          <a:xfrm>
            <a:off x="914400" y="3978275"/>
            <a:ext cx="8458200" cy="8826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figure in the full study, by analysis block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table in the full study, by analysis block</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(1/4)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1: Global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2: Global Market Value Snapshot,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3: Global Market Taxonomy by Segment, 2026</a:t>
                      </a:r>
                      <a:endParaRPr sz="1050"/>
                    </a:p>
                  </a:txBody>
                  <a:tcPr marL="9525" marR="9525" marT="9525" marB="0" anchor="ctr"/>
                </a:tc>
              </a:tr>
              <a:tr h="169606">
                <a:tc>
                  <a:txBody>
                    <a:bodyPr wrap="square"/>
                    <a:lstStyle/>
                    <a:p>
                      <a:pPr algn="l"/>
                      <a:r>
                        <a:rPr sz="1050" b="0" i="0">
                          <a:solidFill>
                            <a:srgbClr val="000000"/>
                          </a:solidFill>
                          <a:latin typeface="Calibri"/>
                        </a:rPr>
                        <a:t>Figure 4: Global Market Share by Product Type / Chemistry, %, 2026</a:t>
                      </a:r>
                      <a:endParaRPr sz="1050"/>
                    </a:p>
                  </a:txBody>
                  <a:tcPr marL="9525" marR="9525" marT="9525" marB="0" anchor="ctr"/>
                </a:tc>
              </a:tr>
              <a:tr h="169606">
                <a:tc>
                  <a:txBody>
                    <a:bodyPr wrap="square"/>
                    <a:lstStyle/>
                    <a:p>
                      <a:pPr algn="l"/>
                      <a:r>
                        <a:rPr sz="1050" b="0" i="0">
                          <a:solidFill>
                            <a:srgbClr val="000000"/>
                          </a:solidFill>
                          <a:latin typeface="Calibri"/>
                        </a:rPr>
                        <a:t>Figure 5: Global Market Share by Product Configuration, %, 2026</a:t>
                      </a:r>
                      <a:endParaRPr sz="1050"/>
                    </a:p>
                  </a:txBody>
                  <a:tcPr marL="9525" marR="9525" marT="9525" marB="0" anchor="ctr"/>
                </a:tc>
              </a:tr>
              <a:tr h="169606">
                <a:tc>
                  <a:txBody>
                    <a:bodyPr wrap="square"/>
                    <a:lstStyle/>
                    <a:p>
                      <a:pPr algn="l"/>
                      <a:r>
                        <a:rPr sz="1050" b="0" i="0">
                          <a:solidFill>
                            <a:srgbClr val="000000"/>
                          </a:solidFill>
                          <a:latin typeface="Calibri"/>
                        </a:rPr>
                        <a:t>Figure 6: Global Market Share by Technology, %, 2026</a:t>
                      </a:r>
                      <a:endParaRPr sz="1050"/>
                    </a:p>
                  </a:txBody>
                  <a:tcPr marL="9525" marR="9525" marT="9525" marB="0" anchor="ctr"/>
                </a:tc>
              </a:tr>
              <a:tr h="169606">
                <a:tc>
                  <a:txBody>
                    <a:bodyPr wrap="square"/>
                    <a:lstStyle/>
                    <a:p>
                      <a:pPr algn="l"/>
                      <a:r>
                        <a:rPr sz="1050" b="0" i="0">
                          <a:solidFill>
                            <a:srgbClr val="000000"/>
                          </a:solidFill>
                          <a:latin typeface="Calibri"/>
                        </a:rPr>
                        <a:t>Figure 7: Global Market Share by Application, %, 2026</a:t>
                      </a:r>
                      <a:endParaRPr sz="1050"/>
                    </a:p>
                  </a:txBody>
                  <a:tcPr marL="9525" marR="9525" marT="9525" marB="0" anchor="ctr"/>
                </a:tc>
              </a:tr>
              <a:tr h="169606">
                <a:tc>
                  <a:txBody>
                    <a:bodyPr wrap="square"/>
                    <a:lstStyle/>
                    <a:p>
                      <a:pPr algn="l"/>
                      <a:r>
                        <a:rPr sz="1050" b="0" i="0">
                          <a:solidFill>
                            <a:srgbClr val="000000"/>
                          </a:solidFill>
                          <a:latin typeface="Calibri"/>
                        </a:rPr>
                        <a:t>Figure 8: Global Market Share by Substrate Material, %, 2026</a:t>
                      </a:r>
                      <a:endParaRPr sz="1050"/>
                    </a:p>
                  </a:txBody>
                  <a:tcPr marL="9525" marR="9525" marT="9525" marB="0" anchor="ctr"/>
                </a:tc>
              </a:tr>
              <a:tr h="169606">
                <a:tc>
                  <a:txBody>
                    <a:bodyPr wrap="square"/>
                    <a:lstStyle/>
                    <a:p>
                      <a:pPr algn="l"/>
                      <a:r>
                        <a:rPr sz="1050" b="0" i="0">
                          <a:solidFill>
                            <a:srgbClr val="000000"/>
                          </a:solidFill>
                          <a:latin typeface="Calibri"/>
                        </a:rPr>
                        <a:t>Figure 9: Global Market Share by Distribution Channel, %, 2026</a:t>
                      </a:r>
                      <a:endParaRPr sz="1050"/>
                    </a:p>
                  </a:txBody>
                  <a:tcPr marL="9525" marR="9525" marT="9525" marB="0" anchor="ctr"/>
                </a:tc>
              </a:tr>
              <a:tr h="169606">
                <a:tc>
                  <a:txBody>
                    <a:bodyPr wrap="square"/>
                    <a:lstStyle/>
                    <a:p>
                      <a:pPr algn="l"/>
                      <a:r>
                        <a:rPr sz="1050" b="0" i="0">
                          <a:solidFill>
                            <a:srgbClr val="000000"/>
                          </a:solidFill>
                          <a:latin typeface="Calibri"/>
                        </a:rPr>
                        <a:t>Figure 10: Global Market Historical Value, US$ Mn, 2021–2025</a:t>
                      </a:r>
                      <a:endParaRPr sz="1050"/>
                    </a:p>
                  </a:txBody>
                  <a:tcPr marL="9525" marR="9525" marT="9525" marB="0" anchor="ctr"/>
                </a:tc>
              </a:tr>
              <a:tr h="169606">
                <a:tc>
                  <a:txBody>
                    <a:bodyPr wrap="square"/>
                    <a:lstStyle/>
                    <a:p>
                      <a:pPr algn="l"/>
                      <a:r>
                        <a:rPr sz="1050" b="0" i="0">
                          <a:solidFill>
                            <a:srgbClr val="000000"/>
                          </a:solidFill>
                          <a:latin typeface="Calibri"/>
                        </a:rPr>
                        <a:t>Figure 11: Global Market Forecast Value, US$ Mn, 2026–2036</a:t>
                      </a:r>
                      <a:endParaRPr sz="1050"/>
                    </a:p>
                  </a:txBody>
                  <a:tcPr marL="9525" marR="9525" marT="9525" marB="0" anchor="ctr"/>
                </a:tc>
              </a:tr>
              <a:tr h="169606">
                <a:tc>
                  <a:txBody>
                    <a:bodyPr wrap="square"/>
                    <a:lstStyle/>
                    <a:p>
                      <a:pPr algn="l"/>
                      <a:r>
                        <a:rPr sz="1050" b="0" i="0">
                          <a:solidFill>
                            <a:srgbClr val="000000"/>
                          </a:solidFill>
                          <a:latin typeface="Calibri"/>
                        </a:rPr>
                        <a:t>Figure 12: Global Market YoY Growth, %, 2021–2036</a:t>
                      </a:r>
                      <a:endParaRPr sz="1050"/>
                    </a:p>
                  </a:txBody>
                  <a:tcPr marL="9525" marR="9525" marT="9525" marB="0" anchor="ctr"/>
                </a:tc>
              </a:tr>
              <a:tr h="169606">
                <a:tc>
                  <a:txBody>
                    <a:bodyPr wrap="square"/>
                    <a:lstStyle/>
                    <a:p>
                      <a:pPr algn="l"/>
                      <a:r>
                        <a:rPr sz="1050" b="0" i="0">
                          <a:solidFill>
                            <a:srgbClr val="000000"/>
                          </a:solidFill>
                          <a:latin typeface="Calibri"/>
                        </a:rPr>
                        <a:t>Figure 13: Global Market Volume and YoY Growth, Units and %, 2021–2036</a:t>
                      </a:r>
                      <a:endParaRPr sz="1050"/>
                    </a:p>
                  </a:txBody>
                  <a:tcPr marL="9525" marR="9525" marT="9525" marB="0" anchor="ctr"/>
                </a:tc>
              </a:tr>
              <a:tr h="169606">
                <a:tc>
                  <a:txBody>
                    <a:bodyPr wrap="square"/>
                    <a:lstStyle/>
                    <a:p>
                      <a:pPr algn="l"/>
                      <a:r>
                        <a:rPr sz="1050" b="0" i="0">
                          <a:solidFill>
                            <a:srgbClr val="000000"/>
                          </a:solidFill>
                          <a:latin typeface="Calibri"/>
                        </a:rPr>
                        <a:t>Figure 14: Global Market Volume vs Value CAGR Comparison, %, 2026–2036</a:t>
                      </a:r>
                      <a:endParaRPr sz="1050"/>
                    </a:p>
                  </a:txBody>
                  <a:tcPr marL="9525" marR="9525" marT="9525" marB="0" anchor="ctr"/>
                </a:tc>
              </a:tr>
              <a:tr h="169606">
                <a:tc>
                  <a:txBody>
                    <a:bodyPr wrap="square"/>
                    <a:lstStyle/>
                    <a:p>
                      <a:pPr algn="l"/>
                      <a:r>
                        <a:rPr sz="1050" b="0" i="0">
                          <a:solidFill>
                            <a:srgbClr val="000000"/>
                          </a:solidFill>
                          <a:latin typeface="Calibri"/>
                        </a:rPr>
                        <a:t>Figure 15: Global Market Average Selling Price, US$/Units, 2021–2036</a:t>
                      </a:r>
                      <a:endParaRPr sz="1050"/>
                    </a:p>
                  </a:txBody>
                  <a:tcPr marL="9525" marR="9525" marT="9525" marB="0" anchor="ctr"/>
                </a:tc>
              </a:tr>
              <a:tr h="169606">
                <a:tc>
                  <a:txBody>
                    <a:bodyPr wrap="square"/>
                    <a:lstStyle/>
                    <a:p>
                      <a:pPr algn="l"/>
                      <a:r>
                        <a:rPr sz="1050" b="0" i="0">
                          <a:solidFill>
                            <a:srgbClr val="000000"/>
                          </a:solidFill>
                          <a:latin typeface="Calibri"/>
                        </a:rPr>
                        <a:t>Figure 16: Global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17: Global Market Incremental Opportunity by Year, US$ Mn, 2026–2036</a:t>
                      </a:r>
                      <a:endParaRPr sz="1050"/>
                    </a:p>
                  </a:txBody>
                  <a:tcPr marL="9525" marR="9525" marT="9525" marB="0" anchor="ctr"/>
                </a:tc>
              </a:tr>
              <a:tr h="169606">
                <a:tc>
                  <a:txBody>
                    <a:bodyPr wrap="square"/>
                    <a:lstStyle/>
                    <a:p>
                      <a:pPr algn="l"/>
                      <a:r>
                        <a:rPr sz="1050" b="0" i="0">
                          <a:solidFill>
                            <a:srgbClr val="000000"/>
                          </a:solidFill>
                          <a:latin typeface="Calibri"/>
                        </a:rPr>
                        <a:t>Figure 18: Global Market Historical vs Forecast CAGR, %, 2021–2036</a:t>
                      </a:r>
                      <a:endParaRPr sz="1050"/>
                    </a:p>
                  </a:txBody>
                  <a:tcPr marL="9525" marR="9525" marT="9525" marB="0" anchor="ctr"/>
                </a:tc>
              </a:tr>
              <a:tr h="169606">
                <a:tc>
                  <a:txBody>
                    <a:bodyPr wrap="square"/>
                    <a:lstStyle/>
                    <a:p>
                      <a:pPr algn="l"/>
                      <a:r>
                        <a:rPr sz="1050" b="0" i="0">
                          <a:solidFill>
                            <a:srgbClr val="000000"/>
                          </a:solidFill>
                          <a:latin typeface="Calibri"/>
                        </a:rPr>
                        <a:t>Figure 19: Global Market Value by Scenario (Optimistic, Likely, Pessimistic), US$ Mn, 2026–2036</a:t>
                      </a:r>
                      <a:endParaRPr sz="1050"/>
                    </a:p>
                  </a:txBody>
                  <a:tcPr marL="9525" marR="9525" marT="9525" marB="0" anchor="ctr"/>
                </a:tc>
              </a:tr>
              <a:tr h="169606">
                <a:tc>
                  <a:txBody>
                    <a:bodyPr wrap="square"/>
                    <a:lstStyle/>
                    <a:p>
                      <a:pPr algn="l"/>
                      <a:r>
                        <a:rPr sz="1050" b="0" i="0">
                          <a:solidFill>
                            <a:srgbClr val="000000"/>
                          </a:solidFill>
                          <a:latin typeface="Calibri"/>
                        </a:rPr>
                        <a:t>Figure 20: Global Market Size Evolution Index, 2025=100, 2021–2036</a:t>
                      </a:r>
                      <a:endParaRPr sz="1050"/>
                    </a:p>
                  </a:txBody>
                  <a:tcPr marL="9525" marR="9525" marT="9525" marB="0" anchor="ctr"/>
                </a:tc>
              </a:tr>
              <a:tr h="169606">
                <a:tc>
                  <a:txBody>
                    <a:bodyPr wrap="square"/>
                    <a:lstStyle/>
                    <a:p>
                      <a:pPr algn="l"/>
                      <a:r>
                        <a:rPr sz="1050" b="0" i="0">
                          <a:solidFill>
                            <a:srgbClr val="000000"/>
                          </a:solidFill>
                          <a:latin typeface="Calibri"/>
                        </a:rPr>
                        <a:t>Figure 21: Global Market Value by Product Type / Chemistry, US$ Mn, 2021–2036</a:t>
                      </a:r>
                      <a:endParaRPr sz="1050"/>
                    </a:p>
                  </a:txBody>
                  <a:tcPr marL="9525" marR="9525" marT="9525" marB="0" anchor="ctr"/>
                </a:tc>
              </a:tr>
              <a:tr h="169606">
                <a:tc>
                  <a:txBody>
                    <a:bodyPr wrap="square"/>
                    <a:lstStyle/>
                    <a:p>
                      <a:pPr algn="l"/>
                      <a:r>
                        <a:rPr sz="1050" b="0" i="0">
                          <a:solidFill>
                            <a:srgbClr val="000000"/>
                          </a:solidFill>
                          <a:latin typeface="Calibri"/>
                        </a:rPr>
                        <a:t>Figure 22: Global Market Value by Product Configuration, US$ Mn, 2021–2036</a:t>
                      </a:r>
                      <a:endParaRPr sz="1050"/>
                    </a:p>
                  </a:txBody>
                  <a:tcPr marL="9525" marR="9525" marT="9525" marB="0" anchor="ctr"/>
                </a:tc>
              </a:tr>
              <a:tr h="169606">
                <a:tc>
                  <a:txBody>
                    <a:bodyPr wrap="square"/>
                    <a:lstStyle/>
                    <a:p>
                      <a:pPr algn="l"/>
                      <a:r>
                        <a:rPr sz="1050" b="0" i="0">
                          <a:solidFill>
                            <a:srgbClr val="000000"/>
                          </a:solidFill>
                          <a:latin typeface="Calibri"/>
                        </a:rPr>
                        <a:t>Figure 23: Global Market Value by Technology, US$ Mn, 2021–2036</a:t>
                      </a:r>
                      <a:endParaRPr sz="1050"/>
                    </a:p>
                  </a:txBody>
                  <a:tcPr marL="9525" marR="9525" marT="9525" marB="0" anchor="ctr"/>
                </a:tc>
              </a:tr>
              <a:tr h="169606">
                <a:tc>
                  <a:txBody>
                    <a:bodyPr wrap="square"/>
                    <a:lstStyle/>
                    <a:p>
                      <a:pPr algn="l"/>
                      <a:r>
                        <a:rPr sz="1050" b="0" i="0">
                          <a:solidFill>
                            <a:srgbClr val="000000"/>
                          </a:solidFill>
                          <a:latin typeface="Calibri"/>
                        </a:rPr>
                        <a:t>Figure 24: Global Market Value by Application, US$ Mn, 2021–2036</a:t>
                      </a:r>
                      <a:endParaRPr sz="1050"/>
                    </a:p>
                  </a:txBody>
                  <a:tcPr marL="9525" marR="9525" marT="9525" marB="0" anchor="ctr"/>
                </a:tc>
              </a:tr>
              <a:tr h="169606">
                <a:tc>
                  <a:txBody>
                    <a:bodyPr wrap="square"/>
                    <a:lstStyle/>
                    <a:p>
                      <a:pPr algn="l"/>
                      <a:r>
                        <a:rPr sz="1050" b="0" i="0">
                          <a:solidFill>
                            <a:srgbClr val="000000"/>
                          </a:solidFill>
                          <a:latin typeface="Calibri"/>
                        </a:rPr>
                        <a:t>Figure 25: Global Market Value by Substrate Material, US$ Mn, 2021–2036</a:t>
                      </a:r>
                      <a:endParaRPr sz="1050"/>
                    </a:p>
                  </a:txBody>
                  <a:tcPr marL="9525" marR="9525" marT="9525" marB="0" anchor="ctr"/>
                </a:tc>
              </a:tr>
              <a:tr h="169606">
                <a:tc>
                  <a:txBody>
                    <a:bodyPr wrap="square"/>
                    <a:lstStyle/>
                    <a:p>
                      <a:pPr algn="l"/>
                      <a:r>
                        <a:rPr sz="1050" b="0" i="0">
                          <a:solidFill>
                            <a:srgbClr val="000000"/>
                          </a:solidFill>
                          <a:latin typeface="Calibri"/>
                        </a:rPr>
                        <a:t>Figure 26: Global Market Value by Distribution Channel, US$ Mn, 2021–2036</a:t>
                      </a:r>
                      <a:endParaRPr sz="1050"/>
                    </a:p>
                  </a:txBody>
                  <a:tcPr marL="9525" marR="9525" marT="9525" marB="0" anchor="ctr"/>
                </a:tc>
              </a:tr>
              <a:tr h="169606">
                <a:tc>
                  <a:txBody>
                    <a:bodyPr wrap="square"/>
                    <a:lstStyle/>
                    <a:p>
                      <a:pPr algn="l"/>
                      <a:r>
                        <a:rPr sz="1050" b="0" i="0">
                          <a:solidFill>
                            <a:srgbClr val="000000"/>
                          </a:solidFill>
                          <a:latin typeface="Calibri"/>
                        </a:rPr>
                        <a:t>Figure 27: Global Market Share by Product Type / Chemistry, %, 2026 and 2036</a:t>
                      </a:r>
                      <a:endParaRPr sz="1050"/>
                    </a:p>
                  </a:txBody>
                  <a:tcPr marL="9525" marR="9525" marT="9525" marB="0" anchor="ctr"/>
                </a:tc>
              </a:tr>
              <a:tr h="169606">
                <a:tc>
                  <a:txBody>
                    <a:bodyPr wrap="square"/>
                    <a:lstStyle/>
                    <a:p>
                      <a:pPr algn="l"/>
                      <a:r>
                        <a:rPr sz="1050" b="0" i="0">
                          <a:solidFill>
                            <a:srgbClr val="000000"/>
                          </a:solidFill>
                          <a:latin typeface="Calibri"/>
                        </a:rPr>
                        <a:t>Figure 28: Global Market Share by Product Configuration, %, 2026 and 2036</a:t>
                      </a:r>
                      <a:endParaRPr sz="1050"/>
                    </a:p>
                  </a:txBody>
                  <a:tcPr marL="9525" marR="9525" marT="9525" marB="0" anchor="ctr"/>
                </a:tc>
              </a:tr>
              <a:tr h="169606">
                <a:tc>
                  <a:txBody>
                    <a:bodyPr wrap="square"/>
                    <a:lstStyle/>
                    <a:p>
                      <a:pPr algn="l"/>
                      <a:r>
                        <a:rPr sz="1050" b="0" i="0">
                          <a:solidFill>
                            <a:srgbClr val="000000"/>
                          </a:solidFill>
                          <a:latin typeface="Calibri"/>
                        </a:rPr>
                        <a:t>Figure 29: Global Market Share by Technology, %, 2026 and 2036</a:t>
                      </a:r>
                      <a:endParaRPr sz="1050"/>
                    </a:p>
                  </a:txBody>
                  <a:tcPr marL="9525" marR="9525" marT="9525" marB="0" anchor="ctr"/>
                </a:tc>
              </a:tr>
              <a:tr h="169606">
                <a:tc>
                  <a:txBody>
                    <a:bodyPr wrap="square"/>
                    <a:lstStyle/>
                    <a:p>
                      <a:pPr algn="l"/>
                      <a:r>
                        <a:rPr sz="1050" b="0" i="0">
                          <a:solidFill>
                            <a:srgbClr val="000000"/>
                          </a:solidFill>
                          <a:latin typeface="Calibri"/>
                        </a:rPr>
                        <a:t>Figure 30: Global Market Share by Application, %, 2026 and 2036</a:t>
                      </a:r>
                      <a:endParaRPr sz="1050"/>
                    </a:p>
                  </a:txBody>
                  <a:tcPr marL="9525" marR="9525" marT="9525" marB="0" anchor="ctr"/>
                </a:tc>
              </a:tr>
              <a:tr h="169606">
                <a:tc>
                  <a:txBody>
                    <a:bodyPr wrap="square"/>
                    <a:lstStyle/>
                    <a:p>
                      <a:pPr algn="l"/>
                      <a:r>
                        <a:rPr sz="1050" b="0" i="0">
                          <a:solidFill>
                            <a:srgbClr val="000000"/>
                          </a:solidFill>
                          <a:latin typeface="Calibri"/>
                        </a:rPr>
                        <a:t>Figure 31: Global Market Share by Substrate Material, %, 2026 and 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32: Global Market Share by Distribution Channel, %, 2026 and 2036</a:t>
                      </a:r>
                      <a:endParaRPr sz="1050"/>
                    </a:p>
                  </a:txBody>
                  <a:tcPr marL="9525" marR="9525" marT="9525" marB="0" anchor="ctr"/>
                </a:tc>
              </a:tr>
              <a:tr h="169606">
                <a:tc>
                  <a:txBody>
                    <a:bodyPr wrap="square"/>
                    <a:lstStyle/>
                    <a:p>
                      <a:pPr algn="l"/>
                      <a:r>
                        <a:rPr sz="1050" b="0" i="0">
                          <a:solidFill>
                            <a:srgbClr val="000000"/>
                          </a:solidFill>
                          <a:latin typeface="Calibri"/>
                        </a:rPr>
                        <a:t>Figure 33: Global Market Absolute $ Opportunity by Product Type / Chemistry, US$ Mn, 2026–2036</a:t>
                      </a:r>
                      <a:endParaRPr sz="1050"/>
                    </a:p>
                  </a:txBody>
                  <a:tcPr marL="9525" marR="9525" marT="9525" marB="0" anchor="ctr"/>
                </a:tc>
              </a:tr>
              <a:tr h="169606">
                <a:tc>
                  <a:txBody>
                    <a:bodyPr wrap="square"/>
                    <a:lstStyle/>
                    <a:p>
                      <a:pPr algn="l"/>
                      <a:r>
                        <a:rPr sz="1050" b="0" i="0">
                          <a:solidFill>
                            <a:srgbClr val="000000"/>
                          </a:solidFill>
                          <a:latin typeface="Calibri"/>
                        </a:rPr>
                        <a:t>Figure 34: Global Market Absolute $ Opportunity by Product Configuration, US$ Mn, 2026–2036</a:t>
                      </a:r>
                      <a:endParaRPr sz="1050"/>
                    </a:p>
                  </a:txBody>
                  <a:tcPr marL="9525" marR="9525" marT="9525" marB="0" anchor="ctr"/>
                </a:tc>
              </a:tr>
              <a:tr h="169606">
                <a:tc>
                  <a:txBody>
                    <a:bodyPr wrap="square"/>
                    <a:lstStyle/>
                    <a:p>
                      <a:pPr algn="l"/>
                      <a:r>
                        <a:rPr sz="1050" b="0" i="0">
                          <a:solidFill>
                            <a:srgbClr val="000000"/>
                          </a:solidFill>
                          <a:latin typeface="Calibri"/>
                        </a:rPr>
                        <a:t>Figure 35: Global Market Absolute $ Opportunity by Technology, US$ Mn, 2026–2036</a:t>
                      </a:r>
                      <a:endParaRPr sz="1050"/>
                    </a:p>
                  </a:txBody>
                  <a:tcPr marL="9525" marR="9525" marT="9525" marB="0" anchor="ctr"/>
                </a:tc>
              </a:tr>
              <a:tr h="169606">
                <a:tc>
                  <a:txBody>
                    <a:bodyPr wrap="square"/>
                    <a:lstStyle/>
                    <a:p>
                      <a:pPr algn="l"/>
                      <a:r>
                        <a:rPr sz="1050" b="0" i="0">
                          <a:solidFill>
                            <a:srgbClr val="000000"/>
                          </a:solidFill>
                          <a:latin typeface="Calibri"/>
                        </a:rPr>
                        <a:t>Figure 36: Global Market Absolute $ Opportunity by Application, US$ Mn, 2026–2036</a:t>
                      </a:r>
                      <a:endParaRPr sz="1050"/>
                    </a:p>
                  </a:txBody>
                  <a:tcPr marL="9525" marR="9525" marT="9525" marB="0" anchor="ctr"/>
                </a:tc>
              </a:tr>
              <a:tr h="169606">
                <a:tc>
                  <a:txBody>
                    <a:bodyPr wrap="square"/>
                    <a:lstStyle/>
                    <a:p>
                      <a:pPr algn="l"/>
                      <a:r>
                        <a:rPr sz="1050" b="0" i="0">
                          <a:solidFill>
                            <a:srgbClr val="000000"/>
                          </a:solidFill>
                          <a:latin typeface="Calibri"/>
                        </a:rPr>
                        <a:t>Figure 37: Global Market Absolute $ Opportunity by Substrate Material, US$ Mn, 2026–2036</a:t>
                      </a:r>
                      <a:endParaRPr sz="1050"/>
                    </a:p>
                  </a:txBody>
                  <a:tcPr marL="9525" marR="9525" marT="9525" marB="0" anchor="ctr"/>
                </a:tc>
              </a:tr>
              <a:tr h="169606">
                <a:tc>
                  <a:txBody>
                    <a:bodyPr wrap="square"/>
                    <a:lstStyle/>
                    <a:p>
                      <a:pPr algn="l"/>
                      <a:r>
                        <a:rPr sz="1050" b="0" i="0">
                          <a:solidFill>
                            <a:srgbClr val="000000"/>
                          </a:solidFill>
                          <a:latin typeface="Calibri"/>
                        </a:rPr>
                        <a:t>Figure 38: Global Market Absolute $ Opportunity by Distribution Channel, US$ Mn, 2026–2036</a:t>
                      </a:r>
                      <a:endParaRPr sz="1050"/>
                    </a:p>
                  </a:txBody>
                  <a:tcPr marL="9525" marR="9525" marT="9525" marB="0" anchor="ctr"/>
                </a:tc>
              </a:tr>
              <a:tr h="169606">
                <a:tc>
                  <a:txBody>
                    <a:bodyPr wrap="square"/>
                    <a:lstStyle/>
                    <a:p>
                      <a:pPr algn="l"/>
                      <a:r>
                        <a:rPr sz="1050" b="0" i="0">
                          <a:solidFill>
                            <a:srgbClr val="000000"/>
                          </a:solidFill>
                          <a:latin typeface="Calibri"/>
                        </a:rPr>
                        <a:t>Figure 39: Global Market BPS Share Change by Product Type / Chemistry, 2026–2036</a:t>
                      </a:r>
                      <a:endParaRPr sz="1050"/>
                    </a:p>
                  </a:txBody>
                  <a:tcPr marL="9525" marR="9525" marT="9525" marB="0" anchor="ctr"/>
                </a:tc>
              </a:tr>
              <a:tr h="169606">
                <a:tc>
                  <a:txBody>
                    <a:bodyPr wrap="square"/>
                    <a:lstStyle/>
                    <a:p>
                      <a:pPr algn="l"/>
                      <a:r>
                        <a:rPr sz="1050" b="0" i="0">
                          <a:solidFill>
                            <a:srgbClr val="000000"/>
                          </a:solidFill>
                          <a:latin typeface="Calibri"/>
                        </a:rPr>
                        <a:t>Figure 40: Global Market BPS Share Change by Product Configuration, 2026–2036</a:t>
                      </a:r>
                      <a:endParaRPr sz="1050"/>
                    </a:p>
                  </a:txBody>
                  <a:tcPr marL="9525" marR="9525" marT="9525" marB="0" anchor="ctr"/>
                </a:tc>
              </a:tr>
              <a:tr h="169606">
                <a:tc>
                  <a:txBody>
                    <a:bodyPr wrap="square"/>
                    <a:lstStyle/>
                    <a:p>
                      <a:pPr algn="l"/>
                      <a:r>
                        <a:rPr sz="1050" b="0" i="0">
                          <a:solidFill>
                            <a:srgbClr val="000000"/>
                          </a:solidFill>
                          <a:latin typeface="Calibri"/>
                        </a:rPr>
                        <a:t>Figure 41: Global Market BPS Share Change by Technology, 2026–2036</a:t>
                      </a:r>
                      <a:endParaRPr sz="1050"/>
                    </a:p>
                  </a:txBody>
                  <a:tcPr marL="9525" marR="9525" marT="9525" marB="0" anchor="ctr"/>
                </a:tc>
              </a:tr>
              <a:tr h="169606">
                <a:tc>
                  <a:txBody>
                    <a:bodyPr wrap="square"/>
                    <a:lstStyle/>
                    <a:p>
                      <a:pPr algn="l"/>
                      <a:r>
                        <a:rPr sz="1050" b="0" i="0">
                          <a:solidFill>
                            <a:srgbClr val="000000"/>
                          </a:solidFill>
                          <a:latin typeface="Calibri"/>
                        </a:rPr>
                        <a:t>Figure 42: Global Market BPS Share Change by Application, 2026–2036</a:t>
                      </a:r>
                      <a:endParaRPr sz="1050"/>
                    </a:p>
                  </a:txBody>
                  <a:tcPr marL="9525" marR="9525" marT="9525" marB="0" anchor="ctr"/>
                </a:tc>
              </a:tr>
              <a:tr h="169606">
                <a:tc>
                  <a:txBody>
                    <a:bodyPr wrap="square"/>
                    <a:lstStyle/>
                    <a:p>
                      <a:pPr algn="l"/>
                      <a:r>
                        <a:rPr sz="1050" b="0" i="0">
                          <a:solidFill>
                            <a:srgbClr val="000000"/>
                          </a:solidFill>
                          <a:latin typeface="Calibri"/>
                        </a:rPr>
                        <a:t>Figure 43: Global Market BPS Share Change by Substrate Material, 2026–2036</a:t>
                      </a:r>
                      <a:endParaRPr sz="1050"/>
                    </a:p>
                  </a:txBody>
                  <a:tcPr marL="9525" marR="9525" marT="9525" marB="0" anchor="ctr"/>
                </a:tc>
              </a:tr>
              <a:tr h="169606">
                <a:tc>
                  <a:txBody>
                    <a:bodyPr wrap="square"/>
                    <a:lstStyle/>
                    <a:p>
                      <a:pPr algn="l"/>
                      <a:r>
                        <a:rPr sz="1050" b="0" i="0">
                          <a:solidFill>
                            <a:srgbClr val="000000"/>
                          </a:solidFill>
                          <a:latin typeface="Calibri"/>
                        </a:rPr>
                        <a:t>Figure 44: Global Market BPS Share Change by Distribution Channel, 2026–2036</a:t>
                      </a:r>
                      <a:endParaRPr sz="1050"/>
                    </a:p>
                  </a:txBody>
                  <a:tcPr marL="9525" marR="9525" marT="9525" marB="0" anchor="ctr"/>
                </a:tc>
              </a:tr>
              <a:tr h="169606">
                <a:tc>
                  <a:txBody>
                    <a:bodyPr wrap="square"/>
                    <a:lstStyle/>
                    <a:p>
                      <a:pPr algn="l"/>
                      <a:r>
                        <a:rPr sz="1050" b="0" i="0">
                          <a:solidFill>
                            <a:srgbClr val="000000"/>
                          </a:solidFill>
                          <a:latin typeface="Calibri"/>
                        </a:rPr>
                        <a:t>Figure 45: Global Market YoY Growth by Product Type / Chemistry, %, 2026–2036</a:t>
                      </a:r>
                      <a:endParaRPr sz="1050"/>
                    </a:p>
                  </a:txBody>
                  <a:tcPr marL="9525" marR="9525" marT="9525" marB="0" anchor="ctr"/>
                </a:tc>
              </a:tr>
              <a:tr h="169606">
                <a:tc>
                  <a:txBody>
                    <a:bodyPr wrap="square"/>
                    <a:lstStyle/>
                    <a:p>
                      <a:pPr algn="l"/>
                      <a:r>
                        <a:rPr sz="1050" b="0" i="0">
                          <a:solidFill>
                            <a:srgbClr val="000000"/>
                          </a:solidFill>
                          <a:latin typeface="Calibri"/>
                        </a:rPr>
                        <a:t>Figure 46: Global Market YoY Growth by Product Configuration, %, 2026–2036</a:t>
                      </a:r>
                      <a:endParaRPr sz="1050"/>
                    </a:p>
                  </a:txBody>
                  <a:tcPr marL="9525" marR="9525" marT="9525" marB="0" anchor="ctr"/>
                </a:tc>
              </a:tr>
              <a:tr h="169606">
                <a:tc>
                  <a:txBody>
                    <a:bodyPr wrap="square"/>
                    <a:lstStyle/>
                    <a:p>
                      <a:pPr algn="l"/>
                      <a:r>
                        <a:rPr sz="1050" b="0" i="0">
                          <a:solidFill>
                            <a:srgbClr val="000000"/>
                          </a:solidFill>
                          <a:latin typeface="Calibri"/>
                        </a:rPr>
                        <a:t>Figure 47: Global Market YoY Growth by Technology, %, 2026–2036</a:t>
                      </a:r>
                      <a:endParaRPr sz="1050"/>
                    </a:p>
                  </a:txBody>
                  <a:tcPr marL="9525" marR="9525" marT="9525" marB="0" anchor="ctr"/>
                </a:tc>
              </a:tr>
              <a:tr h="169606">
                <a:tc>
                  <a:txBody>
                    <a:bodyPr wrap="square"/>
                    <a:lstStyle/>
                    <a:p>
                      <a:pPr algn="l"/>
                      <a:r>
                        <a:rPr sz="1050" b="0" i="0">
                          <a:solidFill>
                            <a:srgbClr val="000000"/>
                          </a:solidFill>
                          <a:latin typeface="Calibri"/>
                        </a:rPr>
                        <a:t>Figure 48: Global Market YoY Growth by Application, %, 2026–2036</a:t>
                      </a:r>
                      <a:endParaRPr sz="1050"/>
                    </a:p>
                  </a:txBody>
                  <a:tcPr marL="9525" marR="9525" marT="9525" marB="0" anchor="ctr"/>
                </a:tc>
              </a:tr>
              <a:tr h="169606">
                <a:tc>
                  <a:txBody>
                    <a:bodyPr wrap="square"/>
                    <a:lstStyle/>
                    <a:p>
                      <a:pPr algn="l"/>
                      <a:r>
                        <a:rPr sz="1050" b="0" i="0">
                          <a:solidFill>
                            <a:srgbClr val="000000"/>
                          </a:solidFill>
                          <a:latin typeface="Calibri"/>
                        </a:rPr>
                        <a:t>Figure 49: Global Market YoY Growth by Substrate Material, %, 2026–2036</a:t>
                      </a:r>
                      <a:endParaRPr sz="1050"/>
                    </a:p>
                  </a:txBody>
                  <a:tcPr marL="9525" marR="9525" marT="9525" marB="0" anchor="ctr"/>
                </a:tc>
              </a:tr>
              <a:tr h="169606">
                <a:tc>
                  <a:txBody>
                    <a:bodyPr wrap="square"/>
                    <a:lstStyle/>
                    <a:p>
                      <a:pPr algn="l"/>
                      <a:r>
                        <a:rPr sz="1050" b="0" i="0">
                          <a:solidFill>
                            <a:srgbClr val="000000"/>
                          </a:solidFill>
                          <a:latin typeface="Calibri"/>
                        </a:rPr>
                        <a:t>Figure 50: Global Market YoY Growth by Distribution Channel, %, 2026–2036</a:t>
                      </a:r>
                      <a:endParaRPr sz="1050"/>
                    </a:p>
                  </a:txBody>
                  <a:tcPr marL="9525" marR="9525" marT="9525" marB="0" anchor="ctr"/>
                </a:tc>
              </a:tr>
              <a:tr h="169606">
                <a:tc>
                  <a:txBody>
                    <a:bodyPr wrap="square"/>
                    <a:lstStyle/>
                    <a:p>
                      <a:pPr algn="l"/>
                      <a:r>
                        <a:rPr sz="1050" b="0" i="0">
                          <a:solidFill>
                            <a:srgbClr val="000000"/>
                          </a:solidFill>
                          <a:latin typeface="Calibri"/>
                        </a:rPr>
                        <a:t>Figure 51: Global Market Attractiveness by Product Type / Chemistry, 2026–2036</a:t>
                      </a:r>
                      <a:endParaRPr sz="1050"/>
                    </a:p>
                  </a:txBody>
                  <a:tcPr marL="9525" marR="9525" marT="9525" marB="0" anchor="ctr"/>
                </a:tc>
              </a:tr>
              <a:tr h="169606">
                <a:tc>
                  <a:txBody>
                    <a:bodyPr wrap="square"/>
                    <a:lstStyle/>
                    <a:p>
                      <a:pPr algn="l"/>
                      <a:r>
                        <a:rPr sz="1050" b="0" i="0">
                          <a:solidFill>
                            <a:srgbClr val="000000"/>
                          </a:solidFill>
                          <a:latin typeface="Calibri"/>
                        </a:rPr>
                        <a:t>Figure 52: Global Market Attractiveness by Product Configuration, 2026–2036</a:t>
                      </a:r>
                      <a:endParaRPr sz="1050"/>
                    </a:p>
                  </a:txBody>
                  <a:tcPr marL="9525" marR="9525" marT="9525" marB="0" anchor="ctr"/>
                </a:tc>
              </a:tr>
              <a:tr h="169606">
                <a:tc>
                  <a:txBody>
                    <a:bodyPr wrap="square"/>
                    <a:lstStyle/>
                    <a:p>
                      <a:pPr algn="l"/>
                      <a:r>
                        <a:rPr sz="1050" b="0" i="0">
                          <a:solidFill>
                            <a:srgbClr val="000000"/>
                          </a:solidFill>
                          <a:latin typeface="Calibri"/>
                        </a:rPr>
                        <a:t>Figure 53: Global Market Attractiveness by Technology, 2026–2036</a:t>
                      </a:r>
                      <a:endParaRPr sz="1050"/>
                    </a:p>
                  </a:txBody>
                  <a:tcPr marL="9525" marR="9525" marT="9525" marB="0" anchor="ctr"/>
                </a:tc>
              </a:tr>
              <a:tr h="169606">
                <a:tc>
                  <a:txBody>
                    <a:bodyPr wrap="square"/>
                    <a:lstStyle/>
                    <a:p>
                      <a:pPr algn="l"/>
                      <a:r>
                        <a:rPr sz="1050" b="0" i="0">
                          <a:solidFill>
                            <a:srgbClr val="000000"/>
                          </a:solidFill>
                          <a:latin typeface="Calibri"/>
                        </a:rPr>
                        <a:t>Figure 54: Global Market Attractiveness by Application, 2026–2036</a:t>
                      </a:r>
                      <a:endParaRPr sz="1050"/>
                    </a:p>
                  </a:txBody>
                  <a:tcPr marL="9525" marR="9525" marT="9525" marB="0" anchor="ctr"/>
                </a:tc>
              </a:tr>
              <a:tr h="169606">
                <a:tc>
                  <a:txBody>
                    <a:bodyPr wrap="square"/>
                    <a:lstStyle/>
                    <a:p>
                      <a:pPr algn="l"/>
                      <a:r>
                        <a:rPr sz="1050" b="0" i="0">
                          <a:solidFill>
                            <a:srgbClr val="000000"/>
                          </a:solidFill>
                          <a:latin typeface="Calibri"/>
                        </a:rPr>
                        <a:t>Figure 55: Global Market Attractiveness by Substrate Material, 2026–2036</a:t>
                      </a:r>
                      <a:endParaRPr sz="1050"/>
                    </a:p>
                  </a:txBody>
                  <a:tcPr marL="9525" marR="9525" marT="9525" marB="0" anchor="ctr"/>
                </a:tc>
              </a:tr>
              <a:tr h="169606">
                <a:tc>
                  <a:txBody>
                    <a:bodyPr wrap="square"/>
                    <a:lstStyle/>
                    <a:p>
                      <a:pPr algn="l"/>
                      <a:r>
                        <a:rPr sz="1050" b="0" i="0">
                          <a:solidFill>
                            <a:srgbClr val="000000"/>
                          </a:solidFill>
                          <a:latin typeface="Calibri"/>
                        </a:rPr>
                        <a:t>Figure 56: Global Market Attractiveness by Distribution Channel, 2026–2036</a:t>
                      </a:r>
                      <a:endParaRPr sz="1050"/>
                    </a:p>
                  </a:txBody>
                  <a:tcPr marL="9525" marR="9525" marT="9525" marB="0" anchor="ctr"/>
                </a:tc>
              </a:tr>
              <a:tr h="169606">
                <a:tc>
                  <a:txBody>
                    <a:bodyPr wrap="square"/>
                    <a:lstStyle/>
                    <a:p>
                      <a:pPr algn="l"/>
                      <a:r>
                        <a:rPr sz="1050" b="0" i="0">
                          <a:solidFill>
                            <a:srgbClr val="000000"/>
                          </a:solidFill>
                          <a:latin typeface="Calibri"/>
                        </a:rPr>
                        <a:t>Figure 57: Global Market Volume by Product Type / Chemistry, Units, 2021–2036</a:t>
                      </a:r>
                      <a:endParaRPr sz="1050"/>
                    </a:p>
                  </a:txBody>
                  <a:tcPr marL="9525" marR="9525" marT="9525" marB="0" anchor="ctr"/>
                </a:tc>
              </a:tr>
              <a:tr h="169606">
                <a:tc>
                  <a:txBody>
                    <a:bodyPr wrap="square"/>
                    <a:lstStyle/>
                    <a:p>
                      <a:pPr algn="l"/>
                      <a:r>
                        <a:rPr sz="1050" b="0" i="0">
                          <a:solidFill>
                            <a:srgbClr val="000000"/>
                          </a:solidFill>
                          <a:latin typeface="Calibri"/>
                        </a:rPr>
                        <a:t>Figure 58: Global Market Volume by Product Configuration, Units, 2021–2036</a:t>
                      </a:r>
                      <a:endParaRPr sz="1050"/>
                    </a:p>
                  </a:txBody>
                  <a:tcPr marL="9525" marR="9525" marT="9525" marB="0" anchor="ctr"/>
                </a:tc>
              </a:tr>
              <a:tr h="169606">
                <a:tc>
                  <a:txBody>
                    <a:bodyPr wrap="square"/>
                    <a:lstStyle/>
                    <a:p>
                      <a:pPr algn="l"/>
                      <a:r>
                        <a:rPr sz="1050" b="0" i="0">
                          <a:solidFill>
                            <a:srgbClr val="000000"/>
                          </a:solidFill>
                          <a:latin typeface="Calibri"/>
                        </a:rPr>
                        <a:t>Figure 59: Global Market Volume by Technology, Units, 2021–2036</a:t>
                      </a:r>
                      <a:endParaRPr sz="1050"/>
                    </a:p>
                  </a:txBody>
                  <a:tcPr marL="9525" marR="9525" marT="9525" marB="0" anchor="ctr"/>
                </a:tc>
              </a:tr>
              <a:tr h="169606">
                <a:tc>
                  <a:txBody>
                    <a:bodyPr wrap="square"/>
                    <a:lstStyle/>
                    <a:p>
                      <a:pPr algn="l"/>
                      <a:r>
                        <a:rPr sz="1050" b="0" i="0">
                          <a:solidFill>
                            <a:srgbClr val="000000"/>
                          </a:solidFill>
                          <a:latin typeface="Calibri"/>
                        </a:rPr>
                        <a:t>Figure 60: Global Market Volume by Application, Units, 2021–2036</a:t>
                      </a:r>
                      <a:endParaRPr sz="1050"/>
                    </a:p>
                  </a:txBody>
                  <a:tcPr marL="9525" marR="9525" marT="9525" marB="0" anchor="ctr"/>
                </a:tc>
              </a:tr>
              <a:tr h="169606">
                <a:tc>
                  <a:txBody>
                    <a:bodyPr wrap="square"/>
                    <a:lstStyle/>
                    <a:p>
                      <a:pPr algn="l"/>
                      <a:r>
                        <a:rPr sz="1050" b="0" i="0">
                          <a:solidFill>
                            <a:srgbClr val="000000"/>
                          </a:solidFill>
                          <a:latin typeface="Calibri"/>
                        </a:rPr>
                        <a:t>Figure 61: Global Market Volume by Substrate Material, Units, 2021–2036</a:t>
                      </a:r>
                      <a:endParaRPr sz="1050"/>
                    </a:p>
                  </a:txBody>
                  <a:tcPr marL="9525" marR="9525" marT="9525" marB="0" anchor="ctr"/>
                </a:tc>
              </a:tr>
              <a:tr h="169606">
                <a:tc>
                  <a:txBody>
                    <a:bodyPr wrap="square"/>
                    <a:lstStyle/>
                    <a:p>
                      <a:pPr algn="l"/>
                      <a:r>
                        <a:rPr sz="1050" b="0" i="0">
                          <a:solidFill>
                            <a:srgbClr val="000000"/>
                          </a:solidFill>
                          <a:latin typeface="Calibri"/>
                        </a:rPr>
                        <a:t>Figure 62: Global Market Volume by Distribution Channel, Units, 2021–2036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(2/4)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63: Global Market Average Selling Price by Product Type / Chemistry, US$/Units, 2021–2036</a:t>
                      </a:r>
                      <a:endParaRPr sz="1050"/>
                    </a:p>
                  </a:txBody>
                  <a:tcPr marL="9525" marR="9525" marT="9525" marB="0" anchor="ctr"/>
                </a:tc>
              </a:tr>
              <a:tr h="169606">
                <a:tc>
                  <a:txBody>
                    <a:bodyPr wrap="square"/>
                    <a:lstStyle/>
                    <a:p>
                      <a:pPr algn="l"/>
                      <a:r>
                        <a:rPr sz="1050" b="0" i="0">
                          <a:solidFill>
                            <a:srgbClr val="000000"/>
                          </a:solidFill>
                          <a:latin typeface="Calibri"/>
                        </a:rPr>
                        <a:t>Figure 64: Product Type / Chemistry × Product Configuration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65: Product Type / Chemistry × Technology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66: Product Type / Chemistry × Application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67: Product Type / Chemistry × Substrate Material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68: Product Type / Chemistry × Distribution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69: Product Configuration × Technology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70: Product Configuration × Application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71: Product Configuration × Substrate Material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72: Product Configuration × Distribution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73: Technology × Application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74: Technology × Substrate Material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75: Technology × Distribution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76: Application × Substrate Material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77: Application × Distribution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78: Substrate Material × Distribution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79: Region × Product Type / Chemistry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80: Region × Product Configuration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81: Region × Technology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82: Region × Application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83: Region × Substrate Material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84: Region × Distribution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85: Global Market Value by Region, US$ Mn, 2021–2036</a:t>
                      </a:r>
                      <a:endParaRPr sz="1050"/>
                    </a:p>
                  </a:txBody>
                  <a:tcPr marL="9525" marR="9525" marT="9525" marB="0" anchor="ctr"/>
                </a:tc>
              </a:tr>
              <a:tr h="169606">
                <a:tc>
                  <a:txBody>
                    <a:bodyPr wrap="square"/>
                    <a:lstStyle/>
                    <a:p>
                      <a:pPr algn="l"/>
                      <a:r>
                        <a:rPr sz="1050" b="0" i="0">
                          <a:solidFill>
                            <a:srgbClr val="000000"/>
                          </a:solidFill>
                          <a:latin typeface="Calibri"/>
                        </a:rPr>
                        <a:t>Figure 86: Global Market Share by Region, %, 2026 and 2036</a:t>
                      </a:r>
                      <a:endParaRPr sz="1050"/>
                    </a:p>
                  </a:txBody>
                  <a:tcPr marL="9525" marR="9525" marT="9525" marB="0" anchor="ctr"/>
                </a:tc>
              </a:tr>
              <a:tr h="169606">
                <a:tc>
                  <a:txBody>
                    <a:bodyPr wrap="square"/>
                    <a:lstStyle/>
                    <a:p>
                      <a:pPr algn="l"/>
                      <a:r>
                        <a:rPr sz="1050" b="0" i="0">
                          <a:solidFill>
                            <a:srgbClr val="000000"/>
                          </a:solidFill>
                          <a:latin typeface="Calibri"/>
                        </a:rPr>
                        <a:t>Figure 87: Global Market CAGR by Region, %, 2026–2036</a:t>
                      </a:r>
                      <a:endParaRPr sz="1050"/>
                    </a:p>
                  </a:txBody>
                  <a:tcPr marL="9525" marR="9525" marT="9525" marB="0" anchor="ctr"/>
                </a:tc>
              </a:tr>
              <a:tr h="169606">
                <a:tc>
                  <a:txBody>
                    <a:bodyPr wrap="square"/>
                    <a:lstStyle/>
                    <a:p>
                      <a:pPr algn="l"/>
                      <a:r>
                        <a:rPr sz="1050" b="0" i="0">
                          <a:solidFill>
                            <a:srgbClr val="000000"/>
                          </a:solidFill>
                          <a:latin typeface="Calibri"/>
                        </a:rPr>
                        <a:t>Figure 88: Global Market Absolute $ Opportunity by Region, US$ Mn, 2026–2036</a:t>
                      </a:r>
                      <a:endParaRPr sz="1050"/>
                    </a:p>
                  </a:txBody>
                  <a:tcPr marL="9525" marR="9525" marT="9525" marB="0" anchor="ctr"/>
                </a:tc>
              </a:tr>
              <a:tr h="169606">
                <a:tc>
                  <a:txBody>
                    <a:bodyPr wrap="square"/>
                    <a:lstStyle/>
                    <a:p>
                      <a:pPr algn="l"/>
                      <a:r>
                        <a:rPr sz="1050" b="0" i="0">
                          <a:solidFill>
                            <a:srgbClr val="000000"/>
                          </a:solidFill>
                          <a:latin typeface="Calibri"/>
                        </a:rPr>
                        <a:t>Figure 89: Global Market Attractiveness by Region, 2026–2036</a:t>
                      </a:r>
                      <a:endParaRPr sz="1050"/>
                    </a:p>
                  </a:txBody>
                  <a:tcPr marL="9525" marR="9525" marT="9525" marB="0" anchor="ctr"/>
                </a:tc>
              </a:tr>
              <a:tr h="169606">
                <a:tc>
                  <a:txBody>
                    <a:bodyPr wrap="square"/>
                    <a:lstStyle/>
                    <a:p>
                      <a:pPr algn="l"/>
                      <a:r>
                        <a:rPr sz="1050" b="0" i="0">
                          <a:solidFill>
                            <a:srgbClr val="000000"/>
                          </a:solidFill>
                          <a:latin typeface="Calibri"/>
                        </a:rPr>
                        <a:t>Figure 90: Global Market BPS Share Change by Region, 2026–2036</a:t>
                      </a:r>
                      <a:endParaRPr sz="1050"/>
                    </a:p>
                  </a:txBody>
                  <a:tcPr marL="9525" marR="9525" marT="9525" marB="0" anchor="ctr"/>
                </a:tc>
              </a:tr>
              <a:tr h="169606">
                <a:tc>
                  <a:txBody>
                    <a:bodyPr wrap="square"/>
                    <a:lstStyle/>
                    <a:p>
                      <a:pPr algn="l"/>
                      <a:r>
                        <a:rPr sz="1050" b="0" i="0">
                          <a:solidFill>
                            <a:srgbClr val="000000"/>
                          </a:solidFill>
                          <a:latin typeface="Calibri"/>
                        </a:rPr>
                        <a:t>Figure 91: North America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92: Latin America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93: East Asia Market Value and YoY Growth, US$ Mn and %, 2021–2036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94: South Asia &amp; Pacific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95: Western Europe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96: Eastern Europe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97: Middle East &amp; Africa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98: North America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99: Latin America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100: East Asia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101: South Asia &amp; Pacific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102: Western Europe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103: Eastern Europe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104: Middle East &amp; Africa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105: North America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106: Latin America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107: East Asia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108: South Asia &amp; Pacific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109: Western Europe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110: Eastern Europe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111: Middle East &amp; Africa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112: U.S.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113: U.S. Market Value by Product Type / Chemistry,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114: U.S. Market Value by Application,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115: U.S. Market Share within North America, %, 2026 and 2036</a:t>
                      </a:r>
                      <a:endParaRPr sz="1050"/>
                    </a:p>
                  </a:txBody>
                  <a:tcPr marL="9525" marR="9525" marT="9525" marB="0" anchor="ctr"/>
                </a:tc>
              </a:tr>
              <a:tr h="169606">
                <a:tc>
                  <a:txBody>
                    <a:bodyPr wrap="square"/>
                    <a:lstStyle/>
                    <a:p>
                      <a:pPr algn="l"/>
                      <a:r>
                        <a:rPr sz="1050" b="0" i="0">
                          <a:solidFill>
                            <a:srgbClr val="000000"/>
                          </a:solidFill>
                          <a:latin typeface="Calibri"/>
                        </a:rPr>
                        <a:t>Figure 116: U.S. Market Value by Product Configuration,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117: U.S. Market Value by Technology,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118: U.S. Market Value by Substrate Material,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119: U.S. Market Value by Distribution Channel,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120: Canada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121: Canada Market Value by Product Type / Chemistry,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122: Canada Market Value by Application,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123: Canada Market Share within North America, %, 2026 and 2036</a:t>
                      </a:r>
                      <a:endParaRPr sz="1050"/>
                    </a:p>
                  </a:txBody>
                  <a:tcPr marL="9525" marR="9525" marT="9525" marB="0" anchor="ctr"/>
                </a:tc>
              </a:tr>
              <a:tr h="169606">
                <a:tc>
                  <a:txBody>
                    <a:bodyPr wrap="square"/>
                    <a:lstStyle/>
                    <a:p>
                      <a:pPr algn="l"/>
                      <a:r>
                        <a:rPr sz="1050" b="0" i="0">
                          <a:solidFill>
                            <a:srgbClr val="000000"/>
                          </a:solidFill>
                          <a:latin typeface="Calibri"/>
                        </a:rPr>
                        <a:t>Figure 124: Canada Market Value by Product Configuration, US$ Mn, 2026 and 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(3/4)</a:t>
            </a:r>
          </a:p>
        </p:txBody>
      </p:sp>
      <p:graphicFrame>
        <p:nvGraphicFramePr>
          <p:cNvPr id="9" name="FMI Contents Table"/>
          <p:cNvGraphicFramePr>
            <a:graphicFrameLocks noGrp="1"/>
          </p:cNvGraphicFramePr>
          <p:nvPr/>
        </p:nvGraphicFramePr>
        <p:xfrm>
          <a:off x="142875" y="981075"/>
          <a:ext cx="5876925" cy="5257793"/>
        </p:xfrm>
        <a:graphic>
          <a:graphicData uri="http://schemas.openxmlformats.org/drawingml/2006/table">
            <a:tbl>
              <a:tblPr>
                <a:tableStyleId>{3B4B98B0-60AC-42C2-AFA5-B58CD77FA1E5}</a:tableStyleId>
              </a:tblPr>
              <a:tblGrid>
                <a:gridCol w="5876925"/>
              </a:tblGrid>
              <a:tr h="170045">
                <a:tc>
                  <a:txBody>
                    <a:bodyPr wrap="square"/>
                    <a:lstStyle/>
                    <a:p>
                      <a:pPr algn="l"/>
                      <a:r>
                        <a:rPr sz="1050" b="0" i="0">
                          <a:solidFill>
                            <a:srgbClr val="000000"/>
                          </a:solidFill>
                          <a:latin typeface="Calibri"/>
                        </a:rPr>
                        <a:t>Figure 125: Canada Market Value by Technology, US$ Mn, 2026 and 2036</a:t>
                      </a:r>
                      <a:endParaRPr sz="1050"/>
                    </a:p>
                  </a:txBody>
                  <a:tcPr marL="9525" marR="9525" marT="9525" marB="0" anchor="ctr"/>
                </a:tc>
              </a:tr>
              <a:tr h="170045">
                <a:tc>
                  <a:txBody>
                    <a:bodyPr wrap="square"/>
                    <a:lstStyle/>
                    <a:p>
                      <a:pPr algn="l"/>
                      <a:r>
                        <a:rPr sz="1050" b="0" i="0">
                          <a:solidFill>
                            <a:srgbClr val="000000"/>
                          </a:solidFill>
                          <a:latin typeface="Calibri"/>
                        </a:rPr>
                        <a:t>Figure 126: Canada Market Value by Substrate Material, US$ Mn, 2026 and 2036</a:t>
                      </a:r>
                      <a:endParaRPr sz="1050"/>
                    </a:p>
                  </a:txBody>
                  <a:tcPr marL="9525" marR="9525" marT="9525" marB="0" anchor="ctr"/>
                </a:tc>
              </a:tr>
              <a:tr h="170045">
                <a:tc>
                  <a:txBody>
                    <a:bodyPr wrap="square"/>
                    <a:lstStyle/>
                    <a:p>
                      <a:pPr algn="l"/>
                      <a:r>
                        <a:rPr sz="1050" b="0" i="0">
                          <a:solidFill>
                            <a:srgbClr val="000000"/>
                          </a:solidFill>
                          <a:latin typeface="Calibri"/>
                        </a:rPr>
                        <a:t>Figure 127: Canada Market Value by Distribution Channel, US$ Mn, 2026 and 2036</a:t>
                      </a:r>
                      <a:endParaRPr sz="1050"/>
                    </a:p>
                  </a:txBody>
                  <a:tcPr marL="9525" marR="9525" marT="9525" marB="0" anchor="ctr"/>
                </a:tc>
              </a:tr>
              <a:tr h="170045">
                <a:tc>
                  <a:txBody>
                    <a:bodyPr wrap="square"/>
                    <a:lstStyle/>
                    <a:p>
                      <a:pPr algn="l"/>
                      <a:r>
                        <a:rPr sz="1050" b="0" i="0">
                          <a:solidFill>
                            <a:srgbClr val="000000"/>
                          </a:solidFill>
                          <a:latin typeface="Calibri"/>
                        </a:rPr>
                        <a:t>Figure 128: India Market Value and YoY Growth, US$ Mn and %, 2021–2036</a:t>
                      </a:r>
                      <a:endParaRPr sz="1050"/>
                    </a:p>
                  </a:txBody>
                  <a:tcPr marL="9525" marR="9525" marT="9525" marB="0" anchor="ctr"/>
                </a:tc>
              </a:tr>
              <a:tr h="170045">
                <a:tc>
                  <a:txBody>
                    <a:bodyPr wrap="square"/>
                    <a:lstStyle/>
                    <a:p>
                      <a:pPr algn="l"/>
                      <a:r>
                        <a:rPr sz="1050" b="0" i="0">
                          <a:solidFill>
                            <a:srgbClr val="000000"/>
                          </a:solidFill>
                          <a:latin typeface="Calibri"/>
                        </a:rPr>
                        <a:t>Figure 129: India Market Value by Product Type / Chemistry, US$ Mn, 2026 and 2036</a:t>
                      </a:r>
                      <a:endParaRPr sz="1050"/>
                    </a:p>
                  </a:txBody>
                  <a:tcPr marL="9525" marR="9525" marT="9525" marB="0" anchor="ctr"/>
                </a:tc>
              </a:tr>
              <a:tr h="170045">
                <a:tc>
                  <a:txBody>
                    <a:bodyPr wrap="square"/>
                    <a:lstStyle/>
                    <a:p>
                      <a:pPr algn="l"/>
                      <a:r>
                        <a:rPr sz="1050" b="0" i="0">
                          <a:solidFill>
                            <a:srgbClr val="000000"/>
                          </a:solidFill>
                          <a:latin typeface="Calibri"/>
                        </a:rPr>
                        <a:t>Figure 130: India Market Value by Application, US$ Mn, 2026 and 2036</a:t>
                      </a:r>
                      <a:endParaRPr sz="1050"/>
                    </a:p>
                  </a:txBody>
                  <a:tcPr marL="9525" marR="9525" marT="9525" marB="0" anchor="ctr"/>
                </a:tc>
              </a:tr>
              <a:tr h="170045">
                <a:tc>
                  <a:txBody>
                    <a:bodyPr wrap="square"/>
                    <a:lstStyle/>
                    <a:p>
                      <a:pPr algn="l"/>
                      <a:r>
                        <a:rPr sz="1050" b="0" i="0">
                          <a:solidFill>
                            <a:srgbClr val="000000"/>
                          </a:solidFill>
                          <a:latin typeface="Calibri"/>
                        </a:rPr>
                        <a:t>Figure 131: India Market Share within South Asia &amp; Pacific, %, 2026 and 2036</a:t>
                      </a:r>
                      <a:endParaRPr sz="1050"/>
                    </a:p>
                  </a:txBody>
                  <a:tcPr marL="9525" marR="9525" marT="9525" marB="0" anchor="ctr"/>
                </a:tc>
              </a:tr>
              <a:tr h="170045">
                <a:tc>
                  <a:txBody>
                    <a:bodyPr wrap="square"/>
                    <a:lstStyle/>
                    <a:p>
                      <a:pPr algn="l"/>
                      <a:r>
                        <a:rPr sz="1050" b="0" i="0">
                          <a:solidFill>
                            <a:srgbClr val="000000"/>
                          </a:solidFill>
                          <a:latin typeface="Calibri"/>
                        </a:rPr>
                        <a:t>Figure 132: India Market Value by Product Configuration, US$ Mn, 2026 and 2036</a:t>
                      </a:r>
                      <a:endParaRPr sz="1050"/>
                    </a:p>
                  </a:txBody>
                  <a:tcPr marL="9525" marR="9525" marT="9525" marB="0" anchor="ctr"/>
                </a:tc>
              </a:tr>
              <a:tr h="170045">
                <a:tc>
                  <a:txBody>
                    <a:bodyPr wrap="square"/>
                    <a:lstStyle/>
                    <a:p>
                      <a:pPr algn="l"/>
                      <a:r>
                        <a:rPr sz="1050" b="0" i="0">
                          <a:solidFill>
                            <a:srgbClr val="000000"/>
                          </a:solidFill>
                          <a:latin typeface="Calibri"/>
                        </a:rPr>
                        <a:t>Figure 133: India Market Value by Technology, US$ Mn, 2026 and 2036</a:t>
                      </a:r>
                      <a:endParaRPr sz="1050"/>
                    </a:p>
                  </a:txBody>
                  <a:tcPr marL="9525" marR="9525" marT="9525" marB="0" anchor="ctr"/>
                </a:tc>
              </a:tr>
              <a:tr h="170045">
                <a:tc>
                  <a:txBody>
                    <a:bodyPr wrap="square"/>
                    <a:lstStyle/>
                    <a:p>
                      <a:pPr algn="l"/>
                      <a:r>
                        <a:rPr sz="1050" b="0" i="0">
                          <a:solidFill>
                            <a:srgbClr val="000000"/>
                          </a:solidFill>
                          <a:latin typeface="Calibri"/>
                        </a:rPr>
                        <a:t>Figure 134: India Market Value by Substrate Material, US$ Mn, 2026 and 2036</a:t>
                      </a:r>
                      <a:endParaRPr sz="1050"/>
                    </a:p>
                  </a:txBody>
                  <a:tcPr marL="9525" marR="9525" marT="9525" marB="0" anchor="ctr"/>
                </a:tc>
              </a:tr>
              <a:tr h="170045">
                <a:tc>
                  <a:txBody>
                    <a:bodyPr wrap="square"/>
                    <a:lstStyle/>
                    <a:p>
                      <a:pPr algn="l"/>
                      <a:r>
                        <a:rPr sz="1050" b="0" i="0">
                          <a:solidFill>
                            <a:srgbClr val="000000"/>
                          </a:solidFill>
                          <a:latin typeface="Calibri"/>
                        </a:rPr>
                        <a:t>Figure 135: India Market Value by Distribution Channel, US$ Mn, 2026 and 2036</a:t>
                      </a:r>
                      <a:endParaRPr sz="1050"/>
                    </a:p>
                  </a:txBody>
                  <a:tcPr marL="9525" marR="9525" marT="9525" marB="0" anchor="ctr"/>
                </a:tc>
              </a:tr>
              <a:tr h="170045">
                <a:tc>
                  <a:txBody>
                    <a:bodyPr wrap="square"/>
                    <a:lstStyle/>
                    <a:p>
                      <a:pPr algn="l"/>
                      <a:r>
                        <a:rPr sz="1050" b="0" i="0">
                          <a:solidFill>
                            <a:srgbClr val="000000"/>
                          </a:solidFill>
                          <a:latin typeface="Calibri"/>
                        </a:rPr>
                        <a:t>Figure 136: China Market Value and YoY Growth, US$ Mn and %, 2021–2036</a:t>
                      </a:r>
                      <a:endParaRPr sz="1050"/>
                    </a:p>
                  </a:txBody>
                  <a:tcPr marL="9525" marR="9525" marT="9525" marB="0" anchor="ctr"/>
                </a:tc>
              </a:tr>
              <a:tr h="170045">
                <a:tc>
                  <a:txBody>
                    <a:bodyPr wrap="square"/>
                    <a:lstStyle/>
                    <a:p>
                      <a:pPr algn="l"/>
                      <a:r>
                        <a:rPr sz="1050" b="0" i="0">
                          <a:solidFill>
                            <a:srgbClr val="000000"/>
                          </a:solidFill>
                          <a:latin typeface="Calibri"/>
                        </a:rPr>
                        <a:t>Figure 137: China Market Value by Product Type / Chemistry, US$ Mn, 2026 and 2036</a:t>
                      </a:r>
                      <a:endParaRPr sz="1050"/>
                    </a:p>
                  </a:txBody>
                  <a:tcPr marL="9525" marR="9525" marT="9525" marB="0" anchor="ctr"/>
                </a:tc>
              </a:tr>
              <a:tr h="170045">
                <a:tc>
                  <a:txBody>
                    <a:bodyPr wrap="square"/>
                    <a:lstStyle/>
                    <a:p>
                      <a:pPr algn="l"/>
                      <a:r>
                        <a:rPr sz="1050" b="0" i="0">
                          <a:solidFill>
                            <a:srgbClr val="000000"/>
                          </a:solidFill>
                          <a:latin typeface="Calibri"/>
                        </a:rPr>
                        <a:t>Figure 138: Brazil Market Value and YoY Growth, US$ Mn and %, 2021–2036</a:t>
                      </a:r>
                      <a:endParaRPr sz="1050"/>
                    </a:p>
                  </a:txBody>
                  <a:tcPr marL="9525" marR="9525" marT="9525" marB="0" anchor="ctr"/>
                </a:tc>
              </a:tr>
              <a:tr h="170045">
                <a:tc>
                  <a:txBody>
                    <a:bodyPr wrap="square"/>
                    <a:lstStyle/>
                    <a:p>
                      <a:pPr algn="l"/>
                      <a:r>
                        <a:rPr sz="1050" b="0" i="0">
                          <a:solidFill>
                            <a:srgbClr val="000000"/>
                          </a:solidFill>
                          <a:latin typeface="Calibri"/>
                        </a:rPr>
                        <a:t>Figure 139: Brazil Market Value by Product Type / Chemistry, US$ Mn, 2026 and 2036</a:t>
                      </a:r>
                      <a:endParaRPr sz="1050"/>
                    </a:p>
                  </a:txBody>
                  <a:tcPr marL="9525" marR="9525" marT="9525" marB="0" anchor="ctr"/>
                </a:tc>
              </a:tr>
              <a:tr h="170045">
                <a:tc>
                  <a:txBody>
                    <a:bodyPr wrap="square"/>
                    <a:lstStyle/>
                    <a:p>
                      <a:pPr algn="l"/>
                      <a:r>
                        <a:rPr sz="1050" b="0" i="0">
                          <a:solidFill>
                            <a:srgbClr val="000000"/>
                          </a:solidFill>
                          <a:latin typeface="Calibri"/>
                        </a:rPr>
                        <a:t>Figure 140: Mexico Market Value and YoY Growth, US$ Mn and %, 2021–2036</a:t>
                      </a:r>
                      <a:endParaRPr sz="1050"/>
                    </a:p>
                  </a:txBody>
                  <a:tcPr marL="9525" marR="9525" marT="9525" marB="0" anchor="ctr"/>
                </a:tc>
              </a:tr>
              <a:tr h="170045">
                <a:tc>
                  <a:txBody>
                    <a:bodyPr wrap="square"/>
                    <a:lstStyle/>
                    <a:p>
                      <a:pPr algn="l"/>
                      <a:r>
                        <a:rPr sz="1050" b="0" i="0">
                          <a:solidFill>
                            <a:srgbClr val="000000"/>
                          </a:solidFill>
                          <a:latin typeface="Calibri"/>
                        </a:rPr>
                        <a:t>Figure 141: Mexico Market Value by Product Type / Chemistry, US$ Mn, 2026 and 2036</a:t>
                      </a:r>
                      <a:endParaRPr sz="1050"/>
                    </a:p>
                  </a:txBody>
                  <a:tcPr marL="9525" marR="9525" marT="9525" marB="0" anchor="ctr"/>
                </a:tc>
              </a:tr>
              <a:tr h="170045">
                <a:tc>
                  <a:txBody>
                    <a:bodyPr wrap="square"/>
                    <a:lstStyle/>
                    <a:p>
                      <a:pPr algn="l"/>
                      <a:r>
                        <a:rPr sz="1050" b="0" i="0">
                          <a:solidFill>
                            <a:srgbClr val="000000"/>
                          </a:solidFill>
                          <a:latin typeface="Calibri"/>
                        </a:rPr>
                        <a:t>Figure 142: Kingdom of Saudi Arabia Market Value and YoY Growth, US$ Mn and %, 2021–2036</a:t>
                      </a:r>
                      <a:endParaRPr sz="1050"/>
                    </a:p>
                  </a:txBody>
                  <a:tcPr marL="9525" marR="9525" marT="9525" marB="0" anchor="ctr"/>
                </a:tc>
              </a:tr>
              <a:tr h="333289">
                <a:tc>
                  <a:txBody>
                    <a:bodyPr wrap="square"/>
                    <a:lstStyle/>
                    <a:p>
                      <a:pPr algn="l"/>
                      <a:r>
                        <a:rPr sz="1050" b="0" i="0">
                          <a:solidFill>
                            <a:srgbClr val="000000"/>
                          </a:solidFill>
                          <a:latin typeface="Calibri"/>
                        </a:rPr>
                        <a:t>Figure 143: Kingdom of Saudi Arabia Market Value by Product Type / Chemistry, US$ Mn, 2026 and 2036</a:t>
                      </a:r>
                      <a:endParaRPr sz="1050"/>
                    </a:p>
                  </a:txBody>
                  <a:tcPr marL="9525" marR="9525" marT="9525" marB="0" anchor="ctr"/>
                </a:tc>
              </a:tr>
              <a:tr h="170045">
                <a:tc>
                  <a:txBody>
                    <a:bodyPr wrap="square"/>
                    <a:lstStyle/>
                    <a:p>
                      <a:pPr algn="l"/>
                      <a:r>
                        <a:rPr sz="1050" b="0" i="0">
                          <a:solidFill>
                            <a:srgbClr val="000000"/>
                          </a:solidFill>
                          <a:latin typeface="Calibri"/>
                        </a:rPr>
                        <a:t>Figure 144: Russia Market Value and YoY Growth, US$ Mn and %, 2021–2036</a:t>
                      </a:r>
                      <a:endParaRPr sz="1050"/>
                    </a:p>
                  </a:txBody>
                  <a:tcPr marL="9525" marR="9525" marT="9525" marB="0" anchor="ctr"/>
                </a:tc>
              </a:tr>
              <a:tr h="170045">
                <a:tc>
                  <a:txBody>
                    <a:bodyPr wrap="square"/>
                    <a:lstStyle/>
                    <a:p>
                      <a:pPr algn="l"/>
                      <a:r>
                        <a:rPr sz="1050" b="0" i="0">
                          <a:solidFill>
                            <a:srgbClr val="000000"/>
                          </a:solidFill>
                          <a:latin typeface="Calibri"/>
                        </a:rPr>
                        <a:t>Figure 145: Russia Market Value by Product Type / Chemistry, US$ Mn, 2026 and 2036</a:t>
                      </a:r>
                      <a:endParaRPr sz="1050"/>
                    </a:p>
                  </a:txBody>
                  <a:tcPr marL="9525" marR="9525" marT="9525" marB="0" anchor="ctr"/>
                </a:tc>
              </a:tr>
              <a:tr h="170045">
                <a:tc>
                  <a:txBody>
                    <a:bodyPr wrap="square"/>
                    <a:lstStyle/>
                    <a:p>
                      <a:pPr algn="l"/>
                      <a:r>
                        <a:rPr sz="1050" b="0" i="0">
                          <a:solidFill>
                            <a:srgbClr val="000000"/>
                          </a:solidFill>
                          <a:latin typeface="Calibri"/>
                        </a:rPr>
                        <a:t>Figure 146: Japan Market Value and YoY Growth, US$ Mn and %, 2021–2036</a:t>
                      </a:r>
                      <a:endParaRPr sz="1050"/>
                    </a:p>
                  </a:txBody>
                  <a:tcPr marL="9525" marR="9525" marT="9525" marB="0" anchor="ctr"/>
                </a:tc>
              </a:tr>
              <a:tr h="170045">
                <a:tc>
                  <a:txBody>
                    <a:bodyPr wrap="square"/>
                    <a:lstStyle/>
                    <a:p>
                      <a:pPr algn="l"/>
                      <a:r>
                        <a:rPr sz="1050" b="0" i="0">
                          <a:solidFill>
                            <a:srgbClr val="000000"/>
                          </a:solidFill>
                          <a:latin typeface="Calibri"/>
                        </a:rPr>
                        <a:t>Figure 147: Japan Market Value by Product Type / Chemistry, US$ Mn, 2026 and 2036</a:t>
                      </a:r>
                      <a:endParaRPr sz="1050"/>
                    </a:p>
                  </a:txBody>
                  <a:tcPr marL="9525" marR="9525" marT="9525" marB="0" anchor="ctr"/>
                </a:tc>
              </a:tr>
              <a:tr h="170045">
                <a:tc>
                  <a:txBody>
                    <a:bodyPr wrap="square"/>
                    <a:lstStyle/>
                    <a:p>
                      <a:pPr algn="l"/>
                      <a:r>
                        <a:rPr sz="1050" b="0" i="0">
                          <a:solidFill>
                            <a:srgbClr val="000000"/>
                          </a:solidFill>
                          <a:latin typeface="Calibri"/>
                        </a:rPr>
                        <a:t>Figure 148: Global Market Average Selling Price Trend, US$/Units, 2021–2036</a:t>
                      </a:r>
                      <a:endParaRPr sz="1050"/>
                    </a:p>
                  </a:txBody>
                  <a:tcPr marL="9525" marR="9525" marT="9525" marB="0" anchor="ctr"/>
                </a:tc>
              </a:tr>
              <a:tr h="170045">
                <a:tc>
                  <a:txBody>
                    <a:bodyPr wrap="square"/>
                    <a:lstStyle/>
                    <a:p>
                      <a:pPr algn="l"/>
                      <a:r>
                        <a:rPr sz="1050" b="0" i="0">
                          <a:solidFill>
                            <a:srgbClr val="000000"/>
                          </a:solidFill>
                          <a:latin typeface="Calibri"/>
                        </a:rPr>
                        <a:t>Figure 149: Global Market Average Selling Price by Region, US$/Units, 2026 and 2036</a:t>
                      </a:r>
                      <a:endParaRPr sz="1050"/>
                    </a:p>
                  </a:txBody>
                  <a:tcPr marL="9525" marR="9525" marT="9525" marB="0" anchor="ctr"/>
                </a:tc>
              </a:tr>
              <a:tr h="333289">
                <a:tc>
                  <a:txBody>
                    <a:bodyPr wrap="square"/>
                    <a:lstStyle/>
                    <a:p>
                      <a:pPr algn="l"/>
                      <a:r>
                        <a:rPr sz="1050" b="0" i="0">
                          <a:solidFill>
                            <a:srgbClr val="000000"/>
                          </a:solidFill>
                          <a:latin typeface="Calibri"/>
                        </a:rPr>
                        <a:t>Figure 150: Global Market Average Selling Price by Product Type / Chemistry, US$/Units, 2026 and 2036</a:t>
                      </a:r>
                      <a:endParaRPr sz="1050"/>
                    </a:p>
                  </a:txBody>
                  <a:tcPr marL="9525" marR="9525" marT="9525" marB="0" anchor="ctr"/>
                </a:tc>
              </a:tr>
              <a:tr h="170045">
                <a:tc>
                  <a:txBody>
                    <a:bodyPr wrap="square"/>
                    <a:lstStyle/>
                    <a:p>
                      <a:pPr algn="l"/>
                      <a:r>
                        <a:rPr sz="1050" b="0" i="0">
                          <a:solidFill>
                            <a:srgbClr val="000000"/>
                          </a:solidFill>
                          <a:latin typeface="Calibri"/>
                        </a:rPr>
                        <a:t>Figure 151: Global Market Average Selling Price by Product Configuration, US$/Units, 2026 and 2036</a:t>
                      </a:r>
                      <a:endParaRPr sz="1050"/>
                    </a:p>
                  </a:txBody>
                  <a:tcPr marL="9525" marR="9525" marT="9525" marB="0" anchor="ctr"/>
                </a:tc>
              </a:tr>
              <a:tr h="170045">
                <a:tc>
                  <a:txBody>
                    <a:bodyPr wrap="square"/>
                    <a:lstStyle/>
                    <a:p>
                      <a:pPr algn="l"/>
                      <a:r>
                        <a:rPr sz="1050" b="0" i="0">
                          <a:solidFill>
                            <a:srgbClr val="000000"/>
                          </a:solidFill>
                          <a:latin typeface="Calibri"/>
                        </a:rPr>
                        <a:t>Figure 152: Global Market Average Selling Price by Technology, US$/Units, 2026 and 2036</a:t>
                      </a:r>
                      <a:endParaRPr sz="1050"/>
                    </a:p>
                  </a:txBody>
                  <a:tcPr marL="9525" marR="9525" marT="9525" marB="0" anchor="ctr"/>
                </a:tc>
              </a:tr>
              <a:tr h="170045">
                <a:tc>
                  <a:txBody>
                    <a:bodyPr wrap="square"/>
                    <a:lstStyle/>
                    <a:p>
                      <a:pPr algn="l"/>
                      <a:r>
                        <a:rPr sz="1050" b="0" i="0">
                          <a:solidFill>
                            <a:srgbClr val="000000"/>
                          </a:solidFill>
                          <a:latin typeface="Calibri"/>
                        </a:rPr>
                        <a:t>Figure 153: Global Market Average Selling Price by Application, US$/Units, 2026 and 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154: Global Market Average Selling Price by Substrate Material, US$/Units, 2026 and 2036</a:t>
                      </a:r>
                      <a:endParaRPr sz="1050"/>
                    </a:p>
                  </a:txBody>
                  <a:tcPr marL="9525" marR="9525" marT="9525" marB="0" anchor="ctr"/>
                </a:tc>
              </a:tr>
              <a:tr h="169606">
                <a:tc>
                  <a:txBody>
                    <a:bodyPr wrap="square"/>
                    <a:lstStyle/>
                    <a:p>
                      <a:pPr algn="l"/>
                      <a:r>
                        <a:rPr sz="1050" b="0" i="0">
                          <a:solidFill>
                            <a:srgbClr val="000000"/>
                          </a:solidFill>
                          <a:latin typeface="Calibri"/>
                        </a:rPr>
                        <a:t>Figure 155: Global Market Average Selling Price by Distribution Channel, US$/Units, 2026 and 2036</a:t>
                      </a:r>
                      <a:endParaRPr sz="1050"/>
                    </a:p>
                  </a:txBody>
                  <a:tcPr marL="9525" marR="9525" marT="9525" marB="0" anchor="ctr"/>
                </a:tc>
              </a:tr>
              <a:tr h="169606">
                <a:tc>
                  <a:txBody>
                    <a:bodyPr wrap="square"/>
                    <a:lstStyle/>
                    <a:p>
                      <a:pPr algn="l"/>
                      <a:r>
                        <a:rPr sz="1050" b="0" i="0">
                          <a:solidFill>
                            <a:srgbClr val="000000"/>
                          </a:solidFill>
                          <a:latin typeface="Calibri"/>
                        </a:rPr>
                        <a:t>Figure 156: Global Market Value Chain Structure, 2026</a:t>
                      </a:r>
                      <a:endParaRPr sz="1050"/>
                    </a:p>
                  </a:txBody>
                  <a:tcPr marL="9525" marR="9525" marT="9525" marB="0" anchor="ctr"/>
                </a:tc>
              </a:tr>
              <a:tr h="169606">
                <a:tc>
                  <a:txBody>
                    <a:bodyPr wrap="square"/>
                    <a:lstStyle/>
                    <a:p>
                      <a:pPr algn="l"/>
                      <a:r>
                        <a:rPr sz="1050" b="0" i="0">
                          <a:solidFill>
                            <a:srgbClr val="000000"/>
                          </a:solidFill>
                          <a:latin typeface="Calibri"/>
                        </a:rPr>
                        <a:t>Figure 157: Global Market Margin Distribution across the Value Chain, %, 2026</a:t>
                      </a:r>
                      <a:endParaRPr sz="1050"/>
                    </a:p>
                  </a:txBody>
                  <a:tcPr marL="9525" marR="9525" marT="9525" marB="0" anchor="ctr"/>
                </a:tc>
              </a:tr>
              <a:tr h="169606">
                <a:tc>
                  <a:txBody>
                    <a:bodyPr wrap="square"/>
                    <a:lstStyle/>
                    <a:p>
                      <a:pPr algn="l"/>
                      <a:r>
                        <a:rPr sz="1050" b="0" i="0">
                          <a:solidFill>
                            <a:srgbClr val="000000"/>
                          </a:solidFill>
                          <a:latin typeface="Calibri"/>
                        </a:rPr>
                        <a:t>Figure 158: Global Market Cost Structure Breakdown, %, 2026</a:t>
                      </a:r>
                      <a:endParaRPr sz="1050"/>
                    </a:p>
                  </a:txBody>
                  <a:tcPr marL="9525" marR="9525" marT="9525" marB="0" anchor="ctr"/>
                </a:tc>
              </a:tr>
              <a:tr h="169606">
                <a:tc>
                  <a:txBody>
                    <a:bodyPr wrap="square"/>
                    <a:lstStyle/>
                    <a:p>
                      <a:pPr algn="l"/>
                      <a:r>
                        <a:rPr sz="1050" b="0" i="0">
                          <a:solidFill>
                            <a:srgbClr val="000000"/>
                          </a:solidFill>
                          <a:latin typeface="Calibri"/>
                        </a:rPr>
                        <a:t>Figure 159: Global Market Pricing Pressure Assessment by Product Type / Chemistry, 2026–2036</a:t>
                      </a:r>
                      <a:endParaRPr sz="1050"/>
                    </a:p>
                  </a:txBody>
                  <a:tcPr marL="9525" marR="9525" marT="9525" marB="0" anchor="ctr"/>
                </a:tc>
              </a:tr>
              <a:tr h="169606">
                <a:tc>
                  <a:txBody>
                    <a:bodyPr wrap="square"/>
                    <a:lstStyle/>
                    <a:p>
                      <a:pPr algn="l"/>
                      <a:r>
                        <a:rPr sz="1050" b="0" i="0">
                          <a:solidFill>
                            <a:srgbClr val="000000"/>
                          </a:solidFill>
                          <a:latin typeface="Calibri"/>
                        </a:rPr>
                        <a:t>Figure 160: Global Market Import and Export Share by Region, %, 2025</a:t>
                      </a:r>
                      <a:endParaRPr sz="1050"/>
                    </a:p>
                  </a:txBody>
                  <a:tcPr marL="9525" marR="9525" marT="9525" marB="0" anchor="ctr"/>
                </a:tc>
              </a:tr>
              <a:tr h="169606">
                <a:tc>
                  <a:txBody>
                    <a:bodyPr wrap="square"/>
                    <a:lstStyle/>
                    <a:p>
                      <a:pPr algn="l"/>
                      <a:r>
                        <a:rPr sz="1050" b="0" i="0">
                          <a:solidFill>
                            <a:srgbClr val="000000"/>
                          </a:solidFill>
                          <a:latin typeface="Calibri"/>
                        </a:rPr>
                        <a:t>Figure 161: Global Market Trade Balance by Leading Country, US$ Mn, 2025</a:t>
                      </a:r>
                      <a:endParaRPr sz="1050"/>
                    </a:p>
                  </a:txBody>
                  <a:tcPr marL="9525" marR="9525" marT="9525" marB="0" anchor="ctr"/>
                </a:tc>
              </a:tr>
              <a:tr h="169606">
                <a:tc>
                  <a:txBody>
                    <a:bodyPr wrap="square"/>
                    <a:lstStyle/>
                    <a:p>
                      <a:pPr algn="l"/>
                      <a:r>
                        <a:rPr sz="1050" b="0" i="0">
                          <a:solidFill>
                            <a:srgbClr val="000000"/>
                          </a:solidFill>
                          <a:latin typeface="Calibri"/>
                        </a:rPr>
                        <a:t>Figure 162: Company Market Share in the Global Market, %, 2026</a:t>
                      </a:r>
                      <a:endParaRPr sz="1050"/>
                    </a:p>
                  </a:txBody>
                  <a:tcPr marL="9525" marR="9525" marT="9525" marB="0" anchor="ctr"/>
                </a:tc>
              </a:tr>
              <a:tr h="169606">
                <a:tc>
                  <a:txBody>
                    <a:bodyPr wrap="square"/>
                    <a:lstStyle/>
                    <a:p>
                      <a:pPr algn="l"/>
                      <a:r>
                        <a:rPr sz="1050" b="0" i="0">
                          <a:solidFill>
                            <a:srgbClr val="000000"/>
                          </a:solidFill>
                          <a:latin typeface="Calibri"/>
                        </a:rPr>
                        <a:t>Figure 163: Competitive Positioning of Leading Waterproof Coatings Manufacturers, 2026</a:t>
                      </a:r>
                      <a:endParaRPr sz="1050"/>
                    </a:p>
                  </a:txBody>
                  <a:tcPr marL="9525" marR="9525" marT="9525" marB="0" anchor="ctr"/>
                </a:tc>
              </a:tr>
              <a:tr h="169606">
                <a:tc>
                  <a:txBody>
                    <a:bodyPr wrap="square"/>
                    <a:lstStyle/>
                    <a:p>
                      <a:pPr algn="l"/>
                      <a:r>
                        <a:rPr sz="1050" b="0" i="0">
                          <a:solidFill>
                            <a:srgbClr val="000000"/>
                          </a:solidFill>
                          <a:latin typeface="Calibri"/>
                        </a:rPr>
                        <a:t>Figure 164: Company Revenue from the Global Market, US$ Mn, 2026</a:t>
                      </a:r>
                      <a:endParaRPr sz="1050"/>
                    </a:p>
                  </a:txBody>
                  <a:tcPr marL="9525" marR="9525" marT="9525" marB="0" anchor="ctr"/>
                </a:tc>
              </a:tr>
              <a:tr h="169606">
                <a:tc>
                  <a:txBody>
                    <a:bodyPr wrap="square"/>
                    <a:lstStyle/>
                    <a:p>
                      <a:pPr algn="l"/>
                      <a:r>
                        <a:rPr sz="1050" b="0" i="0">
                          <a:solidFill>
                            <a:srgbClr val="000000"/>
                          </a:solidFill>
                          <a:latin typeface="Calibri"/>
                        </a:rPr>
                        <a:t>Figure 165: Global Market Concentration by Company Tier, %, 2026</a:t>
                      </a:r>
                      <a:endParaRPr sz="1050"/>
                    </a:p>
                  </a:txBody>
                  <a:tcPr marL="9525" marR="9525" marT="9525" marB="0" anchor="ctr"/>
                </a:tc>
              </a:tr>
              <a:tr h="169606">
                <a:tc>
                  <a:txBody>
                    <a:bodyPr wrap="square"/>
                    <a:lstStyle/>
                    <a:p>
                      <a:pPr algn="l"/>
                      <a:r>
                        <a:rPr sz="1050" b="0" i="0">
                          <a:solidFill>
                            <a:srgbClr val="000000"/>
                          </a:solidFill>
                          <a:latin typeface="Calibri"/>
                        </a:rPr>
                        <a:t>Figure 166: Global Market Competitive Intensity Assessment, 2026</a:t>
                      </a:r>
                      <a:endParaRPr sz="1050"/>
                    </a:p>
                  </a:txBody>
                  <a:tcPr marL="9525" marR="9525" marT="9525" marB="0" anchor="ctr"/>
                </a:tc>
              </a:tr>
              <a:tr h="169606">
                <a:tc>
                  <a:txBody>
                    <a:bodyPr wrap="square"/>
                    <a:lstStyle/>
                    <a:p>
                      <a:pPr algn="l"/>
                      <a:r>
                        <a:rPr sz="1050" b="0" i="0">
                          <a:solidFill>
                            <a:srgbClr val="000000"/>
                          </a:solidFill>
                          <a:latin typeface="Calibri"/>
                        </a:rPr>
                        <a:t>Figure 167: Company Market Share in the North America Market, %, 2026</a:t>
                      </a:r>
                      <a:endParaRPr sz="1050"/>
                    </a:p>
                  </a:txBody>
                  <a:tcPr marL="9525" marR="9525" marT="9525" marB="0" anchor="ctr"/>
                </a:tc>
              </a:tr>
              <a:tr h="169606">
                <a:tc>
                  <a:txBody>
                    <a:bodyPr wrap="square"/>
                    <a:lstStyle/>
                    <a:p>
                      <a:pPr algn="l"/>
                      <a:r>
                        <a:rPr sz="1050" b="0" i="0">
                          <a:solidFill>
                            <a:srgbClr val="000000"/>
                          </a:solidFill>
                          <a:latin typeface="Calibri"/>
                        </a:rPr>
                        <a:t>Figure 168: Company Market Share in the Latin America Market, %, 2026</a:t>
                      </a:r>
                      <a:endParaRPr sz="1050"/>
                    </a:p>
                  </a:txBody>
                  <a:tcPr marL="9525" marR="9525" marT="9525" marB="0" anchor="ctr"/>
                </a:tc>
              </a:tr>
              <a:tr h="169606">
                <a:tc>
                  <a:txBody>
                    <a:bodyPr wrap="square"/>
                    <a:lstStyle/>
                    <a:p>
                      <a:pPr algn="l"/>
                      <a:r>
                        <a:rPr sz="1050" b="0" i="0">
                          <a:solidFill>
                            <a:srgbClr val="000000"/>
                          </a:solidFill>
                          <a:latin typeface="Calibri"/>
                        </a:rPr>
                        <a:t>Figure 169: Company Market Share in the East Asia Market, %, 2026</a:t>
                      </a:r>
                      <a:endParaRPr sz="1050"/>
                    </a:p>
                  </a:txBody>
                  <a:tcPr marL="9525" marR="9525" marT="9525" marB="0" anchor="ctr"/>
                </a:tc>
              </a:tr>
              <a:tr h="169606">
                <a:tc>
                  <a:txBody>
                    <a:bodyPr wrap="square"/>
                    <a:lstStyle/>
                    <a:p>
                      <a:pPr algn="l"/>
                      <a:r>
                        <a:rPr sz="1050" b="0" i="0">
                          <a:solidFill>
                            <a:srgbClr val="000000"/>
                          </a:solidFill>
                          <a:latin typeface="Calibri"/>
                        </a:rPr>
                        <a:t>Figure 170: Company Market Share in the South Asia &amp; Pacific Market, %, 2026</a:t>
                      </a:r>
                      <a:endParaRPr sz="1050"/>
                    </a:p>
                  </a:txBody>
                  <a:tcPr marL="9525" marR="9525" marT="9525" marB="0" anchor="ctr"/>
                </a:tc>
              </a:tr>
              <a:tr h="169606">
                <a:tc>
                  <a:txBody>
                    <a:bodyPr wrap="square"/>
                    <a:lstStyle/>
                    <a:p>
                      <a:pPr algn="l"/>
                      <a:r>
                        <a:rPr sz="1050" b="0" i="0">
                          <a:solidFill>
                            <a:srgbClr val="000000"/>
                          </a:solidFill>
                          <a:latin typeface="Calibri"/>
                        </a:rPr>
                        <a:t>Figure 171: Company Market Share in the Western Europe Market, %, 2026</a:t>
                      </a:r>
                      <a:endParaRPr sz="1050"/>
                    </a:p>
                  </a:txBody>
                  <a:tcPr marL="9525" marR="9525" marT="9525" marB="0" anchor="ctr"/>
                </a:tc>
              </a:tr>
              <a:tr h="169606">
                <a:tc>
                  <a:txBody>
                    <a:bodyPr wrap="square"/>
                    <a:lstStyle/>
                    <a:p>
                      <a:pPr algn="l"/>
                      <a:r>
                        <a:rPr sz="1050" b="0" i="0">
                          <a:solidFill>
                            <a:srgbClr val="000000"/>
                          </a:solidFill>
                          <a:latin typeface="Calibri"/>
                        </a:rPr>
                        <a:t>Figure 172: Company Market Share in the Eastern Europe Market, %, 2026</a:t>
                      </a:r>
                      <a:endParaRPr sz="1050"/>
                    </a:p>
                  </a:txBody>
                  <a:tcPr marL="9525" marR="9525" marT="9525" marB="0" anchor="ctr"/>
                </a:tc>
              </a:tr>
              <a:tr h="169606">
                <a:tc>
                  <a:txBody>
                    <a:bodyPr wrap="square"/>
                    <a:lstStyle/>
                    <a:p>
                      <a:pPr algn="l"/>
                      <a:r>
                        <a:rPr sz="1050" b="0" i="0">
                          <a:solidFill>
                            <a:srgbClr val="000000"/>
                          </a:solidFill>
                          <a:latin typeface="Calibri"/>
                        </a:rPr>
                        <a:t>Figure 173: Company Market Share in the Middle East &amp; Africa Market, %, 2026</a:t>
                      </a:r>
                      <a:endParaRPr sz="1050"/>
                    </a:p>
                  </a:txBody>
                  <a:tcPr marL="9525" marR="9525" marT="9525" marB="0" anchor="ctr"/>
                </a:tc>
              </a:tr>
              <a:tr h="169606">
                <a:tc>
                  <a:txBody>
                    <a:bodyPr wrap="square"/>
                    <a:lstStyle/>
                    <a:p>
                      <a:pPr algn="l"/>
                      <a:r>
                        <a:rPr sz="1050" b="0" i="0">
                          <a:solidFill>
                            <a:srgbClr val="000000"/>
                          </a:solidFill>
                          <a:latin typeface="Calibri"/>
                        </a:rPr>
                        <a:t>Figure 174: Sika: Revenue from the Global Market and Share, US$ Mn and %, 2026</a:t>
                      </a:r>
                      <a:endParaRPr sz="1050"/>
                    </a:p>
                  </a:txBody>
                  <a:tcPr marL="9525" marR="9525" marT="9525" marB="0" anchor="ctr"/>
                </a:tc>
              </a:tr>
              <a:tr h="169606">
                <a:tc>
                  <a:txBody>
                    <a:bodyPr wrap="square"/>
                    <a:lstStyle/>
                    <a:p>
                      <a:pPr algn="l"/>
                      <a:r>
                        <a:rPr sz="1050" b="0" i="0">
                          <a:solidFill>
                            <a:srgbClr val="000000"/>
                          </a:solidFill>
                          <a:latin typeface="Calibri"/>
                        </a:rPr>
                        <a:t>Figure 175: The Sherwin-Williams: Revenue from the Global Market and Share, US$ Mn and %, 2026</a:t>
                      </a:r>
                      <a:endParaRPr sz="1050"/>
                    </a:p>
                  </a:txBody>
                  <a:tcPr marL="9525" marR="9525" marT="9525" marB="0" anchor="ctr"/>
                </a:tc>
              </a:tr>
              <a:tr h="169606">
                <a:tc>
                  <a:txBody>
                    <a:bodyPr wrap="square"/>
                    <a:lstStyle/>
                    <a:p>
                      <a:pPr algn="l"/>
                      <a:r>
                        <a:rPr sz="1050" b="0" i="0">
                          <a:solidFill>
                            <a:srgbClr val="000000"/>
                          </a:solidFill>
                          <a:latin typeface="Calibri"/>
                        </a:rPr>
                        <a:t>Figure 176: PPG Industries: Revenue from the Global Market and Share, US$ Mn and %, 2026</a:t>
                      </a:r>
                      <a:endParaRPr sz="1050"/>
                    </a:p>
                  </a:txBody>
                  <a:tcPr marL="9525" marR="9525" marT="9525" marB="0" anchor="ctr"/>
                </a:tc>
              </a:tr>
              <a:tr h="169606">
                <a:tc>
                  <a:txBody>
                    <a:bodyPr wrap="square"/>
                    <a:lstStyle/>
                    <a:p>
                      <a:pPr algn="l"/>
                      <a:r>
                        <a:rPr sz="1050" b="0" i="0">
                          <a:solidFill>
                            <a:srgbClr val="000000"/>
                          </a:solidFill>
                          <a:latin typeface="Calibri"/>
                        </a:rPr>
                        <a:t>Figure 177: Akzo Nobel: Revenue from the Global Market and Share, US$ Mn and %, 2026</a:t>
                      </a:r>
                      <a:endParaRPr sz="1050"/>
                    </a:p>
                  </a:txBody>
                  <a:tcPr marL="9525" marR="9525" marT="9525" marB="0" anchor="ctr"/>
                </a:tc>
              </a:tr>
              <a:tr h="169606">
                <a:tc>
                  <a:txBody>
                    <a:bodyPr wrap="square"/>
                    <a:lstStyle/>
                    <a:p>
                      <a:pPr algn="l"/>
                      <a:r>
                        <a:rPr sz="1050" b="0" i="0">
                          <a:solidFill>
                            <a:srgbClr val="000000"/>
                          </a:solidFill>
                          <a:latin typeface="Calibri"/>
                        </a:rPr>
                        <a:t>Figure 178: BASF: Revenue from the Global Market and Share, US$ Mn and %, 2026</a:t>
                      </a:r>
                      <a:endParaRPr sz="1050"/>
                    </a:p>
                  </a:txBody>
                  <a:tcPr marL="9525" marR="9525" marT="9525" marB="0" anchor="ctr"/>
                </a:tc>
              </a:tr>
              <a:tr h="169606">
                <a:tc>
                  <a:txBody>
                    <a:bodyPr wrap="square"/>
                    <a:lstStyle/>
                    <a:p>
                      <a:pPr algn="l"/>
                      <a:r>
                        <a:rPr sz="1050" b="0" i="0">
                          <a:solidFill>
                            <a:srgbClr val="000000"/>
                          </a:solidFill>
                          <a:latin typeface="Calibri"/>
                        </a:rPr>
                        <a:t>Figure 179: RPM International: Revenue from the Global Market and Share, US$ Mn and %, 2026</a:t>
                      </a:r>
                      <a:endParaRPr sz="1050"/>
                    </a:p>
                  </a:txBody>
                  <a:tcPr marL="9525" marR="9525" marT="9525" marB="0" anchor="ctr"/>
                </a:tc>
              </a:tr>
              <a:tr h="169606">
                <a:tc>
                  <a:txBody>
                    <a:bodyPr wrap="square"/>
                    <a:lstStyle/>
                    <a:p>
                      <a:pPr algn="l"/>
                      <a:r>
                        <a:rPr sz="1050" b="0" i="0">
                          <a:solidFill>
                            <a:srgbClr val="000000"/>
                          </a:solidFill>
                          <a:latin typeface="Calibri"/>
                        </a:rPr>
                        <a:t>Figure 180: Saint-Gobain: Revenue from the Global Market and Share, US$ Mn and %, 2026</a:t>
                      </a:r>
                      <a:endParaRPr sz="1050"/>
                    </a:p>
                  </a:txBody>
                  <a:tcPr marL="9525" marR="9525" marT="9525" marB="0" anchor="ctr"/>
                </a:tc>
              </a:tr>
              <a:tr h="169606">
                <a:tc>
                  <a:txBody>
                    <a:bodyPr wrap="square"/>
                    <a:lstStyle/>
                    <a:p>
                      <a:pPr algn="l"/>
                      <a:r>
                        <a:rPr sz="1050" b="0" i="0">
                          <a:solidFill>
                            <a:srgbClr val="000000"/>
                          </a:solidFill>
                          <a:latin typeface="Calibri"/>
                        </a:rPr>
                        <a:t>Figure 181: Mapei: Revenue from the Global Market and Share, US$ Mn and %, 2026</a:t>
                      </a:r>
                      <a:endParaRPr sz="1050"/>
                    </a:p>
                  </a:txBody>
                  <a:tcPr marL="9525" marR="9525" marT="9525" marB="0" anchor="ctr"/>
                </a:tc>
              </a:tr>
              <a:tr h="169606">
                <a:tc>
                  <a:txBody>
                    <a:bodyPr wrap="square"/>
                    <a:lstStyle/>
                    <a:p>
                      <a:pPr algn="l"/>
                      <a:r>
                        <a:rPr sz="1050" b="0" i="0">
                          <a:solidFill>
                            <a:srgbClr val="000000"/>
                          </a:solidFill>
                          <a:latin typeface="Calibri"/>
                        </a:rPr>
                        <a:t>Figure 182: Henkel AG &amp; Co. KGaA: Revenue from the Global Market and Share, US$ Mn and %, 2026</a:t>
                      </a:r>
                      <a:endParaRPr sz="1050"/>
                    </a:p>
                  </a:txBody>
                  <a:tcPr marL="9525" marR="9525" marT="9525" marB="0" anchor="ctr"/>
                </a:tc>
              </a:tr>
              <a:tr h="169606">
                <a:tc>
                  <a:txBody>
                    <a:bodyPr wrap="square"/>
                    <a:lstStyle/>
                    <a:p>
                      <a:pPr algn="l"/>
                      <a:r>
                        <a:rPr sz="1050" b="0" i="0">
                          <a:solidFill>
                            <a:srgbClr val="000000"/>
                          </a:solidFill>
                          <a:latin typeface="Calibri"/>
                        </a:rPr>
                        <a:t>Figure 183: Dow: Revenue from the Global Market and Share, US$ Mn and %, 2026</a:t>
                      </a:r>
                      <a:endParaRPr sz="1050"/>
                    </a:p>
                  </a:txBody>
                  <a:tcPr marL="9525" marR="9525" marT="9525" marB="0" anchor="ctr"/>
                </a:tc>
              </a:tr>
              <a:tr h="169606">
                <a:tc>
                  <a:txBody>
                    <a:bodyPr wrap="square"/>
                    <a:lstStyle/>
                    <a:p>
                      <a:pPr algn="l"/>
                      <a:r>
                        <a:rPr sz="1050" b="0" i="0">
                          <a:solidFill>
                            <a:srgbClr val="000000"/>
                          </a:solidFill>
                          <a:latin typeface="Calibri"/>
                        </a:rPr>
                        <a:t>Figure 184: Global Market Strategic Developments by Type, %, 2025–2026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(4/4)</a:t>
            </a:r>
          </a:p>
        </p:txBody>
      </p:sp>
      <p:graphicFrame>
        <p:nvGraphicFramePr>
          <p:cNvPr id="9" name="FMI Contents Table"/>
          <p:cNvGraphicFramePr>
            <a:graphicFrameLocks noGrp="1"/>
          </p:cNvGraphicFramePr>
          <p:nvPr/>
        </p:nvGraphicFramePr>
        <p:xfrm>
          <a:off x="142875" y="981075"/>
          <a:ext cx="5876925" cy="2827028"/>
        </p:xfrm>
        <a:graphic>
          <a:graphicData uri="http://schemas.openxmlformats.org/drawingml/2006/table">
            <a:tbl>
              <a:tblPr>
                <a:tableStyleId>{3B4B98B0-60AC-42C2-AFA5-B58CD77FA1E5}</a:tableStyleId>
              </a:tblPr>
              <a:tblGrid>
                <a:gridCol w="5876925"/>
              </a:tblGrid>
              <a:tr h="166688">
                <a:tc>
                  <a:txBody>
                    <a:bodyPr wrap="square"/>
                    <a:lstStyle/>
                    <a:p>
                      <a:pPr algn="l"/>
                      <a:r>
                        <a:rPr sz="1050" b="0" i="0">
                          <a:solidFill>
                            <a:srgbClr val="000000"/>
                          </a:solidFill>
                          <a:latin typeface="Calibri"/>
                        </a:rPr>
                        <a:t>Figure 185: Global Market Value Forecast by Scenario, US$ Mn, 2026–2036</a:t>
                      </a:r>
                      <a:endParaRPr sz="1050"/>
                    </a:p>
                  </a:txBody>
                  <a:tcPr marL="9525" marR="9525" marT="9525" marB="0" anchor="ctr"/>
                </a:tc>
              </a:tr>
              <a:tr h="166688">
                <a:tc>
                  <a:txBody>
                    <a:bodyPr wrap="square"/>
                    <a:lstStyle/>
                    <a:p>
                      <a:pPr algn="l"/>
                      <a:r>
                        <a:rPr sz="1050" b="0" i="0">
                          <a:solidFill>
                            <a:srgbClr val="000000"/>
                          </a:solidFill>
                          <a:latin typeface="Calibri"/>
                        </a:rPr>
                        <a:t>Figure 186: Global Market YoY Growth by Scenario, %, 2026–2036</a:t>
                      </a:r>
                      <a:endParaRPr sz="1050"/>
                    </a:p>
                  </a:txBody>
                  <a:tcPr marL="9525" marR="9525" marT="9525" marB="0" anchor="ctr"/>
                </a:tc>
              </a:tr>
              <a:tr h="166688">
                <a:tc>
                  <a:txBody>
                    <a:bodyPr wrap="square"/>
                    <a:lstStyle/>
                    <a:p>
                      <a:pPr algn="l"/>
                      <a:r>
                        <a:rPr sz="1050" b="0" i="0">
                          <a:solidFill>
                            <a:srgbClr val="000000"/>
                          </a:solidFill>
                          <a:latin typeface="Calibri"/>
                        </a:rPr>
                        <a:t>Figure 187: Global Market Key Trends Impact Assessment, 2026–2036</a:t>
                      </a:r>
                      <a:endParaRPr sz="1050"/>
                    </a:p>
                  </a:txBody>
                  <a:tcPr marL="9525" marR="9525" marT="9525" marB="0" anchor="ctr"/>
                </a:tc>
              </a:tr>
              <a:tr h="166688">
                <a:tc>
                  <a:txBody>
                    <a:bodyPr wrap="square"/>
                    <a:lstStyle/>
                    <a:p>
                      <a:pPr algn="l"/>
                      <a:r>
                        <a:rPr sz="1050" b="0" i="0">
                          <a:solidFill>
                            <a:srgbClr val="000000"/>
                          </a:solidFill>
                          <a:latin typeface="Calibri"/>
                        </a:rPr>
                        <a:t>Figure 188: Global Market Drivers, Restraints and Opportunities Impact, 2026–2036</a:t>
                      </a:r>
                      <a:endParaRPr sz="1050"/>
                    </a:p>
                  </a:txBody>
                  <a:tcPr marL="9525" marR="9525" marT="9525" marB="0" anchor="ctr"/>
                </a:tc>
              </a:tr>
              <a:tr h="166688">
                <a:tc>
                  <a:txBody>
                    <a:bodyPr wrap="square"/>
                    <a:lstStyle/>
                    <a:p>
                      <a:pPr algn="l"/>
                      <a:r>
                        <a:rPr sz="1050" b="0" i="0">
                          <a:solidFill>
                            <a:srgbClr val="000000"/>
                          </a:solidFill>
                          <a:latin typeface="Calibri"/>
                        </a:rPr>
                        <a:t>Figure 189: Global Market Opportunity Map by Region and Product Type / Chemistry, 2026–2036</a:t>
                      </a:r>
                      <a:endParaRPr sz="1050"/>
                    </a:p>
                  </a:txBody>
                  <a:tcPr marL="9525" marR="9525" marT="9525" marB="0" anchor="ctr"/>
                </a:tc>
              </a:tr>
              <a:tr h="166688">
                <a:tc>
                  <a:txBody>
                    <a:bodyPr wrap="square"/>
                    <a:lstStyle/>
                    <a:p>
                      <a:pPr algn="l"/>
                      <a:r>
                        <a:rPr sz="1050" b="0" i="0">
                          <a:solidFill>
                            <a:srgbClr val="000000"/>
                          </a:solidFill>
                          <a:latin typeface="Calibri"/>
                        </a:rPr>
                        <a:t>Figure 190: Global Market Technology Adoption Roadmap, 2021–2036</a:t>
                      </a:r>
                      <a:endParaRPr sz="1050"/>
                    </a:p>
                  </a:txBody>
                  <a:tcPr marL="9525" marR="9525" marT="9525" marB="0" anchor="ctr"/>
                </a:tc>
              </a:tr>
              <a:tr h="326708">
                <a:tc>
                  <a:txBody>
                    <a:bodyPr wrap="square"/>
                    <a:lstStyle/>
                    <a:p>
                      <a:pPr algn="l"/>
                      <a:r>
                        <a:rPr sz="1050" b="0" i="0">
                          <a:solidFill>
                            <a:srgbClr val="000000"/>
                          </a:solidFill>
                          <a:latin typeface="Calibri"/>
                        </a:rPr>
                        <a:t>Figure 191: Global Market Emerging Opportunity Pockets by Product Type / Chemistry, US$ Mn, 2026–2036</a:t>
                      </a:r>
                      <a:endParaRPr sz="1050"/>
                    </a:p>
                  </a:txBody>
                  <a:tcPr marL="9525" marR="9525" marT="9525" marB="0" anchor="ctr"/>
                </a:tc>
              </a:tr>
              <a:tr h="166688">
                <a:tc>
                  <a:txBody>
                    <a:bodyPr wrap="square"/>
                    <a:lstStyle/>
                    <a:p>
                      <a:pPr algn="l"/>
                      <a:r>
                        <a:rPr sz="1050" b="0" i="0">
                          <a:solidFill>
                            <a:srgbClr val="000000"/>
                          </a:solidFill>
                          <a:latin typeface="Calibri"/>
                        </a:rPr>
                        <a:t>Figure 192: Global Market Risk and Sensitivity Analysis, %, 2026–2036</a:t>
                      </a:r>
                      <a:endParaRPr sz="1050"/>
                    </a:p>
                  </a:txBody>
                  <a:tcPr marL="9525" marR="9525" marT="9525" marB="0" anchor="ctr"/>
                </a:tc>
              </a:tr>
              <a:tr h="166688">
                <a:tc>
                  <a:txBody>
                    <a:bodyPr wrap="square"/>
                    <a:lstStyle/>
                    <a:p>
                      <a:pPr algn="l"/>
                      <a:r>
                        <a:rPr sz="1050" b="0" i="0">
                          <a:solidFill>
                            <a:srgbClr val="000000"/>
                          </a:solidFill>
                          <a:latin typeface="Calibri"/>
                        </a:rPr>
                        <a:t>Figure 193: Global Market Regulatory Landscape Timeline, 2021–2036</a:t>
                      </a:r>
                      <a:endParaRPr sz="1050"/>
                    </a:p>
                  </a:txBody>
                  <a:tcPr marL="9525" marR="9525" marT="9525" marB="0" anchor="ctr"/>
                </a:tc>
              </a:tr>
              <a:tr h="166688">
                <a:tc>
                  <a:txBody>
                    <a:bodyPr wrap="square"/>
                    <a:lstStyle/>
                    <a:p>
                      <a:pPr algn="l"/>
                      <a:r>
                        <a:rPr sz="1050" b="0" i="0">
                          <a:solidFill>
                            <a:srgbClr val="000000"/>
                          </a:solidFill>
                          <a:latin typeface="Calibri"/>
                        </a:rPr>
                        <a:t>Figure 194: Global Market Investment Hotspots by Region, 2026–2036</a:t>
                      </a:r>
                      <a:endParaRPr sz="1050"/>
                    </a:p>
                  </a:txBody>
                  <a:tcPr marL="9525" marR="9525" marT="9525" marB="0" anchor="ctr"/>
                </a:tc>
              </a:tr>
              <a:tr h="166688">
                <a:tc>
                  <a:txBody>
                    <a:bodyPr wrap="square"/>
                    <a:lstStyle/>
                    <a:p>
                      <a:pPr algn="l"/>
                      <a:r>
                        <a:rPr sz="1050" b="0" i="0">
                          <a:solidFill>
                            <a:srgbClr val="000000"/>
                          </a:solidFill>
                          <a:latin typeface="Calibri"/>
                        </a:rPr>
                        <a:t>Figure 195: Global Market Innovation Pipeline Assessment, 2026</a:t>
                      </a:r>
                      <a:endParaRPr sz="1050"/>
                    </a:p>
                  </a:txBody>
                  <a:tcPr marL="9525" marR="9525" marT="9525" marB="0" anchor="ctr"/>
                </a:tc>
              </a:tr>
              <a:tr h="166688">
                <a:tc>
                  <a:txBody>
                    <a:bodyPr wrap="square"/>
                    <a:lstStyle/>
                    <a:p>
                      <a:pPr algn="l"/>
                      <a:r>
                        <a:rPr sz="1050" b="0" i="0">
                          <a:solidFill>
                            <a:srgbClr val="000000"/>
                          </a:solidFill>
                          <a:latin typeface="Calibri"/>
                        </a:rPr>
                        <a:t>Figure 196: Global Market White-Space Opportunity Assessment, 2026–2036</a:t>
                      </a:r>
                      <a:endParaRPr sz="1050"/>
                    </a:p>
                  </a:txBody>
                  <a:tcPr marL="9525" marR="9525" marT="9525" marB="0" anchor="ctr"/>
                </a:tc>
              </a:tr>
              <a:tr h="166688">
                <a:tc>
                  <a:txBody>
                    <a:bodyPr wrap="square"/>
                    <a:lstStyle/>
                    <a:p>
                      <a:pPr algn="l"/>
                      <a:r>
                        <a:rPr sz="1050" b="0" i="0">
                          <a:solidFill>
                            <a:srgbClr val="000000"/>
                          </a:solidFill>
                          <a:latin typeface="Calibri"/>
                        </a:rPr>
                        <a:t>Figure 197: Global Market Customer Purchase Criteria Assessment, 2026</a:t>
                      </a:r>
                      <a:endParaRPr sz="1050"/>
                    </a:p>
                  </a:txBody>
                  <a:tcPr marL="9525" marR="9525" marT="9525" marB="0" anchor="ctr"/>
                </a:tc>
              </a:tr>
              <a:tr h="166688">
                <a:tc>
                  <a:txBody>
                    <a:bodyPr wrap="square"/>
                    <a:lstStyle/>
                    <a:p>
                      <a:pPr algn="l"/>
                      <a:r>
                        <a:rPr sz="1050" b="0" i="0">
                          <a:solidFill>
                            <a:srgbClr val="000000"/>
                          </a:solidFill>
                          <a:latin typeface="Calibri"/>
                        </a:rPr>
                        <a:t>Figure 198: Global Market Go-to-Market Priority by Region, 2026–2036</a:t>
                      </a:r>
                      <a:endParaRPr sz="1050"/>
                    </a:p>
                  </a:txBody>
                  <a:tcPr marL="9525" marR="9525" marT="9525" marB="0" anchor="ctr"/>
                </a:tc>
              </a:tr>
              <a:tr h="166688">
                <a:tc>
                  <a:txBody>
                    <a:bodyPr wrap="square"/>
                    <a:lstStyle/>
                    <a:p>
                      <a:pPr algn="l"/>
                      <a:r>
                        <a:rPr sz="1050" b="0" i="0">
                          <a:solidFill>
                            <a:srgbClr val="000000"/>
                          </a:solidFill>
                          <a:latin typeface="Calibri"/>
                        </a:rPr>
                        <a:t>Figure 199: Global Market Unmet Needs Analysis by Product Type / Chemistry, 2026</a:t>
                      </a:r>
                      <a:endParaRPr sz="1050"/>
                    </a:p>
                  </a:txBody>
                  <a:tcPr marL="9525" marR="9525" marT="9525" marB="0" anchor="ctr"/>
                </a:tc>
              </a:tr>
              <a:tr h="166688">
                <a:tc>
                  <a:txBody>
                    <a:bodyPr wrap="square"/>
                    <a:lstStyle/>
                    <a:p>
                      <a:pPr algn="l"/>
                      <a:r>
                        <a:rPr sz="1050" b="0" i="0">
                          <a:solidFill>
                            <a:srgbClr val="000000"/>
                          </a:solidFill>
                          <a:latin typeface="Calibri"/>
                        </a:rPr>
                        <a:t>Figure 200: Global Market Right-to-Win Assessment, 2026</a:t>
                      </a:r>
                      <a:endParaRPr sz="1050"/>
                    </a:p>
                  </a:txBody>
                  <a:tcPr marL="9525" marR="9525" marT="9525" marB="0" anchor="ctr"/>
                </a:tc>
              </a:tr>
            </a:tbl>
          </a:graphicData>
        </a:graphic>
      </p:graphicFrame>
      <p:sp>
        <p:nvSpPr>
          <p:cNvPr id="10" name="TextBox 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(1/4)</a:t>
            </a:r>
          </a:p>
        </p:txBody>
      </p:sp>
      <p:graphicFrame>
        <p:nvGraphicFramePr>
          <p:cNvPr id="9" name="FMI Contents Table"/>
          <p:cNvGraphicFramePr>
            <a:graphicFrameLocks noGrp="1"/>
          </p:cNvGraphicFramePr>
          <p:nvPr/>
        </p:nvGraphicFramePr>
        <p:xfrm>
          <a:off x="142875" y="981075"/>
          <a:ext cx="5876925" cy="5257793"/>
        </p:xfrm>
        <a:graphic>
          <a:graphicData uri="http://schemas.openxmlformats.org/drawingml/2006/table">
            <a:tbl>
              <a:tblPr>
                <a:tableStyleId>{3B4B98B0-60AC-42C2-AFA5-B58CD77FA1E5}</a:tableStyleId>
              </a:tblPr>
              <a:tblGrid>
                <a:gridCol w="5876925"/>
              </a:tblGrid>
              <a:tr h="170045">
                <a:tc>
                  <a:txBody>
                    <a:bodyPr wrap="square"/>
                    <a:lstStyle/>
                    <a:p>
                      <a:pPr algn="l"/>
                      <a:r>
                        <a:rPr sz="1050" b="0" i="0">
                          <a:solidFill>
                            <a:srgbClr val="000000"/>
                          </a:solidFill>
                          <a:latin typeface="Calibri"/>
                        </a:rPr>
                        <a:t>Table 1: Global Market Snapshot: Value, Volume and CAGR, US$ Mn, 2025–2036</a:t>
                      </a:r>
                      <a:endParaRPr sz="1050"/>
                    </a:p>
                  </a:txBody>
                  <a:tcPr marL="9525" marR="9525" marT="9525" marB="0" anchor="ctr"/>
                </a:tc>
              </a:tr>
              <a:tr h="170045">
                <a:tc>
                  <a:txBody>
                    <a:bodyPr wrap="square"/>
                    <a:lstStyle/>
                    <a:p>
                      <a:pPr algn="l"/>
                      <a:r>
                        <a:rPr sz="1050" b="0" i="0">
                          <a:solidFill>
                            <a:srgbClr val="000000"/>
                          </a:solidFill>
                          <a:latin typeface="Calibri"/>
                        </a:rPr>
                        <a:t>Table 2: Global Market Taxonomy by Segment, 2026</a:t>
                      </a:r>
                      <a:endParaRPr sz="1050"/>
                    </a:p>
                  </a:txBody>
                  <a:tcPr marL="9525" marR="9525" marT="9525" marB="0" anchor="ctr"/>
                </a:tc>
              </a:tr>
              <a:tr h="170045">
                <a:tc>
                  <a:txBody>
                    <a:bodyPr wrap="square"/>
                    <a:lstStyle/>
                    <a:p>
                      <a:pPr algn="l"/>
                      <a:r>
                        <a:rPr sz="1050" b="0" i="0">
                          <a:solidFill>
                            <a:srgbClr val="000000"/>
                          </a:solidFill>
                          <a:latin typeface="Calibri"/>
                        </a:rPr>
                        <a:t>Table 3: Global Market Scope: Inclusions and Exclusions by Segment, 2026</a:t>
                      </a:r>
                      <a:endParaRPr sz="1050"/>
                    </a:p>
                  </a:txBody>
                  <a:tcPr marL="9525" marR="9525" marT="9525" marB="0" anchor="ctr"/>
                </a:tc>
              </a:tr>
              <a:tr h="170045">
                <a:tc>
                  <a:txBody>
                    <a:bodyPr wrap="square"/>
                    <a:lstStyle/>
                    <a:p>
                      <a:pPr algn="l"/>
                      <a:r>
                        <a:rPr sz="1050" b="0" i="0">
                          <a:solidFill>
                            <a:srgbClr val="000000"/>
                          </a:solidFill>
                          <a:latin typeface="Calibri"/>
                        </a:rPr>
                        <a:t>Table 4: Global Market Key Demand Drivers and Impact Rating, 2026–2036</a:t>
                      </a:r>
                      <a:endParaRPr sz="1050"/>
                    </a:p>
                  </a:txBody>
                  <a:tcPr marL="9525" marR="9525" marT="9525" marB="0" anchor="ctr"/>
                </a:tc>
              </a:tr>
              <a:tr h="170045">
                <a:tc>
                  <a:txBody>
                    <a:bodyPr wrap="square"/>
                    <a:lstStyle/>
                    <a:p>
                      <a:pPr algn="l"/>
                      <a:r>
                        <a:rPr sz="1050" b="0" i="0">
                          <a:solidFill>
                            <a:srgbClr val="000000"/>
                          </a:solidFill>
                          <a:latin typeface="Calibri"/>
                        </a:rPr>
                        <a:t>Table 5: Global Market Key Restraints and Impact Rating, 2026–2036</a:t>
                      </a:r>
                      <a:endParaRPr sz="1050"/>
                    </a:p>
                  </a:txBody>
                  <a:tcPr marL="9525" marR="9525" marT="9525" marB="0" anchor="ctr"/>
                </a:tc>
              </a:tr>
              <a:tr h="170045">
                <a:tc>
                  <a:txBody>
                    <a:bodyPr wrap="square"/>
                    <a:lstStyle/>
                    <a:p>
                      <a:pPr algn="l"/>
                      <a:r>
                        <a:rPr sz="1050" b="0" i="0">
                          <a:solidFill>
                            <a:srgbClr val="000000"/>
                          </a:solidFill>
                          <a:latin typeface="Calibri"/>
                        </a:rPr>
                        <a:t>Table 6: Global Market Analyst Recommendations by Segment, 2026–2036</a:t>
                      </a:r>
                      <a:endParaRPr sz="1050"/>
                    </a:p>
                  </a:txBody>
                  <a:tcPr marL="9525" marR="9525" marT="9525" marB="0" anchor="ctr"/>
                </a:tc>
              </a:tr>
              <a:tr h="170045">
                <a:tc>
                  <a:txBody>
                    <a:bodyPr wrap="square"/>
                    <a:lstStyle/>
                    <a:p>
                      <a:pPr algn="l"/>
                      <a:r>
                        <a:rPr sz="1050" b="0" i="0">
                          <a:solidFill>
                            <a:srgbClr val="000000"/>
                          </a:solidFill>
                          <a:latin typeface="Calibri"/>
                        </a:rPr>
                        <a:t>Table 7: Global Market Key Market Signals and Data Points, 2026</a:t>
                      </a:r>
                      <a:endParaRPr sz="1050"/>
                    </a:p>
                  </a:txBody>
                  <a:tcPr marL="9525" marR="9525" marT="9525" marB="0" anchor="ctr"/>
                </a:tc>
              </a:tr>
              <a:tr h="170045">
                <a:tc>
                  <a:txBody>
                    <a:bodyPr wrap="square"/>
                    <a:lstStyle/>
                    <a:p>
                      <a:pPr algn="l"/>
                      <a:r>
                        <a:rPr sz="1050" b="0" i="0">
                          <a:solidFill>
                            <a:srgbClr val="000000"/>
                          </a:solidFill>
                          <a:latin typeface="Calibri"/>
                        </a:rPr>
                        <a:t>Table 8: Global Market Value and YoY Growth, US$ Mn and %, 2021–2036</a:t>
                      </a:r>
                      <a:endParaRPr sz="1050"/>
                    </a:p>
                  </a:txBody>
                  <a:tcPr marL="9525" marR="9525" marT="9525" marB="0" anchor="ctr"/>
                </a:tc>
              </a:tr>
              <a:tr h="170045">
                <a:tc>
                  <a:txBody>
                    <a:bodyPr wrap="square"/>
                    <a:lstStyle/>
                    <a:p>
                      <a:pPr algn="l"/>
                      <a:r>
                        <a:rPr sz="1050" b="0" i="0">
                          <a:solidFill>
                            <a:srgbClr val="000000"/>
                          </a:solidFill>
                          <a:latin typeface="Calibri"/>
                        </a:rPr>
                        <a:t>Table 9: Global Market Historical Value Analysis, US$ Mn, 2021–2025</a:t>
                      </a:r>
                      <a:endParaRPr sz="1050"/>
                    </a:p>
                  </a:txBody>
                  <a:tcPr marL="9525" marR="9525" marT="9525" marB="0" anchor="ctr"/>
                </a:tc>
              </a:tr>
              <a:tr h="170045">
                <a:tc>
                  <a:txBody>
                    <a:bodyPr wrap="square"/>
                    <a:lstStyle/>
                    <a:p>
                      <a:pPr algn="l"/>
                      <a:r>
                        <a:rPr sz="1050" b="0" i="0">
                          <a:solidFill>
                            <a:srgbClr val="000000"/>
                          </a:solidFill>
                          <a:latin typeface="Calibri"/>
                        </a:rPr>
                        <a:t>Table 10: Global Market Forecast Value Analysis, US$ Mn, 2026–2036</a:t>
                      </a:r>
                      <a:endParaRPr sz="1050"/>
                    </a:p>
                  </a:txBody>
                  <a:tcPr marL="9525" marR="9525" marT="9525" marB="0" anchor="ctr"/>
                </a:tc>
              </a:tr>
              <a:tr h="170045">
                <a:tc>
                  <a:txBody>
                    <a:bodyPr wrap="square"/>
                    <a:lstStyle/>
                    <a:p>
                      <a:pPr algn="l"/>
                      <a:r>
                        <a:rPr sz="1050" b="0" i="0">
                          <a:solidFill>
                            <a:srgbClr val="000000"/>
                          </a:solidFill>
                          <a:latin typeface="Calibri"/>
                        </a:rPr>
                        <a:t>Table 11: Global Market Volume and YoY Growth, Units and %, 2021–2036</a:t>
                      </a:r>
                      <a:endParaRPr sz="1050"/>
                    </a:p>
                  </a:txBody>
                  <a:tcPr marL="9525" marR="9525" marT="9525" marB="0" anchor="ctr"/>
                </a:tc>
              </a:tr>
              <a:tr h="170045">
                <a:tc>
                  <a:txBody>
                    <a:bodyPr wrap="square"/>
                    <a:lstStyle/>
                    <a:p>
                      <a:pPr algn="l"/>
                      <a:r>
                        <a:rPr sz="1050" b="0" i="0">
                          <a:solidFill>
                            <a:srgbClr val="000000"/>
                          </a:solidFill>
                          <a:latin typeface="Calibri"/>
                        </a:rPr>
                        <a:t>Table 12: Global Market Volume Forecast, Units, 2026–2036</a:t>
                      </a:r>
                      <a:endParaRPr sz="1050"/>
                    </a:p>
                  </a:txBody>
                  <a:tcPr marL="9525" marR="9525" marT="9525" marB="0" anchor="ctr"/>
                </a:tc>
              </a:tr>
              <a:tr h="170045">
                <a:tc>
                  <a:txBody>
                    <a:bodyPr wrap="square"/>
                    <a:lstStyle/>
                    <a:p>
                      <a:pPr algn="l"/>
                      <a:r>
                        <a:rPr sz="1050" b="0" i="0">
                          <a:solidFill>
                            <a:srgbClr val="000000"/>
                          </a:solidFill>
                          <a:latin typeface="Calibri"/>
                        </a:rPr>
                        <a:t>Table 13: Global Market Average Selling Price, US$/Units, 2021–2036</a:t>
                      </a:r>
                      <a:endParaRPr sz="1050"/>
                    </a:p>
                  </a:txBody>
                  <a:tcPr marL="9525" marR="9525" marT="9525" marB="0" anchor="ctr"/>
                </a:tc>
              </a:tr>
              <a:tr h="170045">
                <a:tc>
                  <a:txBody>
                    <a:bodyPr wrap="square"/>
                    <a:lstStyle/>
                    <a:p>
                      <a:pPr algn="l"/>
                      <a:r>
                        <a:rPr sz="1050" b="0" i="0">
                          <a:solidFill>
                            <a:srgbClr val="000000"/>
                          </a:solidFill>
                          <a:latin typeface="Calibri"/>
                        </a:rPr>
                        <a:t>Table 14: Global Market Average Selling Price YoY Change, %, 2026–2036</a:t>
                      </a:r>
                      <a:endParaRPr sz="1050"/>
                    </a:p>
                  </a:txBody>
                  <a:tcPr marL="9525" marR="9525" marT="9525" marB="0" anchor="ctr"/>
                </a:tc>
              </a:tr>
              <a:tr h="170045">
                <a:tc>
                  <a:txBody>
                    <a:bodyPr wrap="square"/>
                    <a:lstStyle/>
                    <a:p>
                      <a:pPr algn="l"/>
                      <a:r>
                        <a:rPr sz="1050" b="0" i="0">
                          <a:solidFill>
                            <a:srgbClr val="000000"/>
                          </a:solidFill>
                          <a:latin typeface="Calibri"/>
                        </a:rPr>
                        <a:t>Table 15: Global Market CAGR and Absolute $ Opportunity, %, US$ Mn, 2026–2036</a:t>
                      </a:r>
                      <a:endParaRPr sz="1050"/>
                    </a:p>
                  </a:txBody>
                  <a:tcPr marL="9525" marR="9525" marT="9525" marB="0" anchor="ctr"/>
                </a:tc>
              </a:tr>
              <a:tr h="170045">
                <a:tc>
                  <a:txBody>
                    <a:bodyPr wrap="square"/>
                    <a:lstStyle/>
                    <a:p>
                      <a:pPr algn="l"/>
                      <a:r>
                        <a:rPr sz="1050" b="0" i="0">
                          <a:solidFill>
                            <a:srgbClr val="000000"/>
                          </a:solidFill>
                          <a:latin typeface="Calibri"/>
                        </a:rPr>
                        <a:t>Table 16: Global Market Absolute $ Opportunity by Year, US$ Mn, 2026–2036</a:t>
                      </a:r>
                      <a:endParaRPr sz="1050"/>
                    </a:p>
                  </a:txBody>
                  <a:tcPr marL="9525" marR="9525" marT="9525" marB="0" anchor="ctr"/>
                </a:tc>
              </a:tr>
              <a:tr h="170045">
                <a:tc>
                  <a:txBody>
                    <a:bodyPr wrap="square"/>
                    <a:lstStyle/>
                    <a:p>
                      <a:pPr algn="l"/>
                      <a:r>
                        <a:rPr sz="1050" b="0" i="0">
                          <a:solidFill>
                            <a:srgbClr val="000000"/>
                          </a:solidFill>
                          <a:latin typeface="Calibri"/>
                        </a:rPr>
                        <a:t>Table 17: Global Market Value by Scenario (Optimistic, Likely, Pessimistic), US$ Mn, 2026–2036</a:t>
                      </a:r>
                      <a:endParaRPr sz="1050"/>
                    </a:p>
                  </a:txBody>
                  <a:tcPr marL="9525" marR="9525" marT="9525" marB="0" anchor="ctr"/>
                </a:tc>
              </a:tr>
              <a:tr h="170045">
                <a:tc>
                  <a:txBody>
                    <a:bodyPr wrap="square"/>
                    <a:lstStyle/>
                    <a:p>
                      <a:pPr algn="l"/>
                      <a:r>
                        <a:rPr sz="1050" b="0" i="0">
                          <a:solidFill>
                            <a:srgbClr val="000000"/>
                          </a:solidFill>
                          <a:latin typeface="Calibri"/>
                        </a:rPr>
                        <a:t>Table 18: Global Market Scenario CAGR Comparison, %, 2026–2036</a:t>
                      </a:r>
                      <a:endParaRPr sz="1050"/>
                    </a:p>
                  </a:txBody>
                  <a:tcPr marL="9525" marR="9525" marT="9525" marB="0" anchor="ctr"/>
                </a:tc>
              </a:tr>
              <a:tr h="170045">
                <a:tc>
                  <a:txBody>
                    <a:bodyPr wrap="square"/>
                    <a:lstStyle/>
                    <a:p>
                      <a:pPr algn="l"/>
                      <a:r>
                        <a:rPr sz="1050" b="0" i="0">
                          <a:solidFill>
                            <a:srgbClr val="000000"/>
                          </a:solidFill>
                          <a:latin typeface="Calibri"/>
                        </a:rPr>
                        <a:t>Table 19: Global Market Historical vs Forecast Growth Comparison, %, 2021–2036</a:t>
                      </a:r>
                      <a:endParaRPr sz="1050"/>
                    </a:p>
                  </a:txBody>
                  <a:tcPr marL="9525" marR="9525" marT="9525" marB="0" anchor="ctr"/>
                </a:tc>
              </a:tr>
              <a:tr h="170045">
                <a:tc>
                  <a:txBody>
                    <a:bodyPr wrap="square"/>
                    <a:lstStyle/>
                    <a:p>
                      <a:pPr algn="l"/>
                      <a:r>
                        <a:rPr sz="1050" b="0" i="0">
                          <a:solidFill>
                            <a:srgbClr val="000000"/>
                          </a:solidFill>
                          <a:latin typeface="Calibri"/>
                        </a:rPr>
                        <a:t>Table 20: Global Market Five-Year Block Value Summary, US$ Mn, 2021–2036</a:t>
                      </a:r>
                      <a:endParaRPr sz="1050"/>
                    </a:p>
                  </a:txBody>
                  <a:tcPr marL="9525" marR="9525" marT="9525" marB="0" anchor="ctr"/>
                </a:tc>
              </a:tr>
              <a:tr h="170045">
                <a:tc>
                  <a:txBody>
                    <a:bodyPr wrap="square"/>
                    <a:lstStyle/>
                    <a:p>
                      <a:pPr algn="l"/>
                      <a:r>
                        <a:rPr sz="1050" b="0" i="0">
                          <a:solidFill>
                            <a:srgbClr val="000000"/>
                          </a:solidFill>
                          <a:latin typeface="Calibri"/>
                        </a:rPr>
                        <a:t>Table 21: Global Market Value by Product Type / Chemistry, US$ Mn, 2021–2036</a:t>
                      </a:r>
                      <a:endParaRPr sz="1050"/>
                    </a:p>
                  </a:txBody>
                  <a:tcPr marL="9525" marR="9525" marT="9525" marB="0" anchor="ctr"/>
                </a:tc>
              </a:tr>
              <a:tr h="170045">
                <a:tc>
                  <a:txBody>
                    <a:bodyPr wrap="square"/>
                    <a:lstStyle/>
                    <a:p>
                      <a:pPr algn="l"/>
                      <a:r>
                        <a:rPr sz="1050" b="0" i="0">
                          <a:solidFill>
                            <a:srgbClr val="000000"/>
                          </a:solidFill>
                          <a:latin typeface="Calibri"/>
                        </a:rPr>
                        <a:t>Table 22: Global Market Value by Product Configuration, US$ Mn, 2021–2036</a:t>
                      </a:r>
                      <a:endParaRPr sz="1050"/>
                    </a:p>
                  </a:txBody>
                  <a:tcPr marL="9525" marR="9525" marT="9525" marB="0" anchor="ctr"/>
                </a:tc>
              </a:tr>
              <a:tr h="170045">
                <a:tc>
                  <a:txBody>
                    <a:bodyPr wrap="square"/>
                    <a:lstStyle/>
                    <a:p>
                      <a:pPr algn="l"/>
                      <a:r>
                        <a:rPr sz="1050" b="0" i="0">
                          <a:solidFill>
                            <a:srgbClr val="000000"/>
                          </a:solidFill>
                          <a:latin typeface="Calibri"/>
                        </a:rPr>
                        <a:t>Table 23: Global Market Value by Technology, US$ Mn, 2021–2036</a:t>
                      </a:r>
                      <a:endParaRPr sz="1050"/>
                    </a:p>
                  </a:txBody>
                  <a:tcPr marL="9525" marR="9525" marT="9525" marB="0" anchor="ctr"/>
                </a:tc>
              </a:tr>
              <a:tr h="170045">
                <a:tc>
                  <a:txBody>
                    <a:bodyPr wrap="square"/>
                    <a:lstStyle/>
                    <a:p>
                      <a:pPr algn="l"/>
                      <a:r>
                        <a:rPr sz="1050" b="0" i="0">
                          <a:solidFill>
                            <a:srgbClr val="000000"/>
                          </a:solidFill>
                          <a:latin typeface="Calibri"/>
                        </a:rPr>
                        <a:t>Table 24: Global Market Value by Application, US$ Mn, 2021–2036</a:t>
                      </a:r>
                      <a:endParaRPr sz="1050"/>
                    </a:p>
                  </a:txBody>
                  <a:tcPr marL="9525" marR="9525" marT="9525" marB="0" anchor="ctr"/>
                </a:tc>
              </a:tr>
              <a:tr h="170045">
                <a:tc>
                  <a:txBody>
                    <a:bodyPr wrap="square"/>
                    <a:lstStyle/>
                    <a:p>
                      <a:pPr algn="l"/>
                      <a:r>
                        <a:rPr sz="1050" b="0" i="0">
                          <a:solidFill>
                            <a:srgbClr val="000000"/>
                          </a:solidFill>
                          <a:latin typeface="Calibri"/>
                        </a:rPr>
                        <a:t>Table 25: Global Market Value by Substrate Material, US$ Mn, 2021–2036</a:t>
                      </a:r>
                      <a:endParaRPr sz="1050"/>
                    </a:p>
                  </a:txBody>
                  <a:tcPr marL="9525" marR="9525" marT="9525" marB="0" anchor="ctr"/>
                </a:tc>
              </a:tr>
              <a:tr h="170045">
                <a:tc>
                  <a:txBody>
                    <a:bodyPr wrap="square"/>
                    <a:lstStyle/>
                    <a:p>
                      <a:pPr algn="l"/>
                      <a:r>
                        <a:rPr sz="1050" b="0" i="0">
                          <a:solidFill>
                            <a:srgbClr val="000000"/>
                          </a:solidFill>
                          <a:latin typeface="Calibri"/>
                        </a:rPr>
                        <a:t>Table 26: Global Market Value by Distribution Channel, US$ Mn, 2021–2036</a:t>
                      </a:r>
                      <a:endParaRPr sz="1050"/>
                    </a:p>
                  </a:txBody>
                  <a:tcPr marL="9525" marR="9525" marT="9525" marB="0" anchor="ctr"/>
                </a:tc>
              </a:tr>
              <a:tr h="333289">
                <a:tc>
                  <a:txBody>
                    <a:bodyPr wrap="square"/>
                    <a:lstStyle/>
                    <a:p>
                      <a:pPr algn="l"/>
                      <a:r>
                        <a:rPr sz="1050" b="0" i="0">
                          <a:solidFill>
                            <a:srgbClr val="000000"/>
                          </a:solidFill>
                          <a:latin typeface="Calibri"/>
                        </a:rPr>
                        <a:t>Table 27: Global Market CAGR and Absolute $ Opportunity by Product Type / Chemistry, %, US$ Mn, 2026–2036</a:t>
                      </a:r>
                      <a:endParaRPr sz="1050"/>
                    </a:p>
                  </a:txBody>
                  <a:tcPr marL="9525" marR="9525" marT="9525" marB="0" anchor="ctr"/>
                </a:tc>
              </a:tr>
              <a:tr h="333289">
                <a:tc>
                  <a:txBody>
                    <a:bodyPr wrap="square"/>
                    <a:lstStyle/>
                    <a:p>
                      <a:pPr algn="l"/>
                      <a:r>
                        <a:rPr sz="1050" b="0" i="0">
                          <a:solidFill>
                            <a:srgbClr val="000000"/>
                          </a:solidFill>
                          <a:latin typeface="Calibri"/>
                        </a:rPr>
                        <a:t>Table 28: Global Market CAGR and Absolute $ Opportunity by Product Configuration, %, US$ Mn, 2026–2036</a:t>
                      </a:r>
                      <a:endParaRPr sz="1050"/>
                    </a:p>
                  </a:txBody>
                  <a:tcPr marL="9525" marR="9525" marT="9525" marB="0" anchor="ctr"/>
                </a:tc>
              </a:tr>
              <a:tr h="170045">
                <a:tc>
                  <a:txBody>
                    <a:bodyPr wrap="square"/>
                    <a:lstStyle/>
                    <a:p>
                      <a:pPr algn="l"/>
                      <a:r>
                        <a:rPr sz="1050" b="0" i="0">
                          <a:solidFill>
                            <a:srgbClr val="000000"/>
                          </a:solidFill>
                          <a:latin typeface="Calibri"/>
                        </a:rPr>
                        <a:t>Table 29: Global Market CAGR and Absolute $ Opportunity by Technology, %, US$ Mn, 2026–2036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93"/>
        </p:xfrm>
        <a:graphic>
          <a:graphicData uri="http://schemas.openxmlformats.org/drawingml/2006/table">
            <a:tbl>
              <a:tblPr>
                <a:tableStyleId>{3B4B98B0-60AC-42C2-AFA5-B58CD77FA1E5}</a:tableStyleId>
              </a:tblPr>
              <a:tblGrid>
                <a:gridCol w="5876925"/>
              </a:tblGrid>
              <a:tr h="170045">
                <a:tc>
                  <a:txBody>
                    <a:bodyPr wrap="square"/>
                    <a:lstStyle/>
                    <a:p>
                      <a:pPr algn="l"/>
                      <a:r>
                        <a:rPr sz="1050" b="0" i="0">
                          <a:solidFill>
                            <a:srgbClr val="000000"/>
                          </a:solidFill>
                          <a:latin typeface="Calibri"/>
                        </a:rPr>
                        <a:t>Table 30: Global Market CAGR and Absolute $ Opportunity by Application, %, US$ Mn, 2026–2036</a:t>
                      </a:r>
                      <a:endParaRPr sz="1050"/>
                    </a:p>
                  </a:txBody>
                  <a:tcPr marL="9525" marR="9525" marT="9525" marB="0" anchor="ctr"/>
                </a:tc>
              </a:tr>
              <a:tr h="333289">
                <a:tc>
                  <a:txBody>
                    <a:bodyPr wrap="square"/>
                    <a:lstStyle/>
                    <a:p>
                      <a:pPr algn="l"/>
                      <a:r>
                        <a:rPr sz="1050" b="0" i="0">
                          <a:solidFill>
                            <a:srgbClr val="000000"/>
                          </a:solidFill>
                          <a:latin typeface="Calibri"/>
                        </a:rPr>
                        <a:t>Table 31: Global Market CAGR and Absolute $ Opportunity by Substrate Material, %, US$ Mn, 2026–2036</a:t>
                      </a:r>
                      <a:endParaRPr sz="1050"/>
                    </a:p>
                  </a:txBody>
                  <a:tcPr marL="9525" marR="9525" marT="9525" marB="0" anchor="ctr"/>
                </a:tc>
              </a:tr>
              <a:tr h="333289">
                <a:tc>
                  <a:txBody>
                    <a:bodyPr wrap="square"/>
                    <a:lstStyle/>
                    <a:p>
                      <a:pPr algn="l"/>
                      <a:r>
                        <a:rPr sz="1050" b="0" i="0">
                          <a:solidFill>
                            <a:srgbClr val="000000"/>
                          </a:solidFill>
                          <a:latin typeface="Calibri"/>
                        </a:rPr>
                        <a:t>Table 32: Global Market CAGR and Absolute $ Opportunity by Distribution Channel, %, US$ Mn, 2026–2036</a:t>
                      </a:r>
                      <a:endParaRPr sz="1050"/>
                    </a:p>
                  </a:txBody>
                  <a:tcPr marL="9525" marR="9525" marT="9525" marB="0" anchor="ctr"/>
                </a:tc>
              </a:tr>
              <a:tr h="170045">
                <a:tc>
                  <a:txBody>
                    <a:bodyPr wrap="square"/>
                    <a:lstStyle/>
                    <a:p>
                      <a:pPr algn="l"/>
                      <a:r>
                        <a:rPr sz="1050" b="0" i="0">
                          <a:solidFill>
                            <a:srgbClr val="000000"/>
                          </a:solidFill>
                          <a:latin typeface="Calibri"/>
                        </a:rPr>
                        <a:t>Table 33: Global Market Share and BPS Change by Product Type / Chemistry, %, 2025, 2026 and 2036</a:t>
                      </a:r>
                      <a:endParaRPr sz="1050"/>
                    </a:p>
                  </a:txBody>
                  <a:tcPr marL="9525" marR="9525" marT="9525" marB="0" anchor="ctr"/>
                </a:tc>
              </a:tr>
              <a:tr h="170045">
                <a:tc>
                  <a:txBody>
                    <a:bodyPr wrap="square"/>
                    <a:lstStyle/>
                    <a:p>
                      <a:pPr algn="l"/>
                      <a:r>
                        <a:rPr sz="1050" b="0" i="0">
                          <a:solidFill>
                            <a:srgbClr val="000000"/>
                          </a:solidFill>
                          <a:latin typeface="Calibri"/>
                        </a:rPr>
                        <a:t>Table 34: Global Market Share and BPS Change by Product Configuration, %, 2025, 2026 and 2036</a:t>
                      </a:r>
                      <a:endParaRPr sz="1050"/>
                    </a:p>
                  </a:txBody>
                  <a:tcPr marL="9525" marR="9525" marT="9525" marB="0" anchor="ctr"/>
                </a:tc>
              </a:tr>
              <a:tr h="170045">
                <a:tc>
                  <a:txBody>
                    <a:bodyPr wrap="square"/>
                    <a:lstStyle/>
                    <a:p>
                      <a:pPr algn="l"/>
                      <a:r>
                        <a:rPr sz="1050" b="0" i="0">
                          <a:solidFill>
                            <a:srgbClr val="000000"/>
                          </a:solidFill>
                          <a:latin typeface="Calibri"/>
                        </a:rPr>
                        <a:t>Table 35: Global Market Share and BPS Change by Technology, %, 2025, 2026 and 2036</a:t>
                      </a:r>
                      <a:endParaRPr sz="1050"/>
                    </a:p>
                  </a:txBody>
                  <a:tcPr marL="9525" marR="9525" marT="9525" marB="0" anchor="ctr"/>
                </a:tc>
              </a:tr>
              <a:tr h="170045">
                <a:tc>
                  <a:txBody>
                    <a:bodyPr wrap="square"/>
                    <a:lstStyle/>
                    <a:p>
                      <a:pPr algn="l"/>
                      <a:r>
                        <a:rPr sz="1050" b="0" i="0">
                          <a:solidFill>
                            <a:srgbClr val="000000"/>
                          </a:solidFill>
                          <a:latin typeface="Calibri"/>
                        </a:rPr>
                        <a:t>Table 36: Global Market Share and BPS Change by Application, %, 2025, 2026 and 2036</a:t>
                      </a:r>
                      <a:endParaRPr sz="1050"/>
                    </a:p>
                  </a:txBody>
                  <a:tcPr marL="9525" marR="9525" marT="9525" marB="0" anchor="ctr"/>
                </a:tc>
              </a:tr>
              <a:tr h="170045">
                <a:tc>
                  <a:txBody>
                    <a:bodyPr wrap="square"/>
                    <a:lstStyle/>
                    <a:p>
                      <a:pPr algn="l"/>
                      <a:r>
                        <a:rPr sz="1050" b="0" i="0">
                          <a:solidFill>
                            <a:srgbClr val="000000"/>
                          </a:solidFill>
                          <a:latin typeface="Calibri"/>
                        </a:rPr>
                        <a:t>Table 37: Global Market Share and BPS Change by Substrate Material, %, 2025, 2026 and 2036</a:t>
                      </a:r>
                      <a:endParaRPr sz="1050"/>
                    </a:p>
                  </a:txBody>
                  <a:tcPr marL="9525" marR="9525" marT="9525" marB="0" anchor="ctr"/>
                </a:tc>
              </a:tr>
              <a:tr h="170045">
                <a:tc>
                  <a:txBody>
                    <a:bodyPr wrap="square"/>
                    <a:lstStyle/>
                    <a:p>
                      <a:pPr algn="l"/>
                      <a:r>
                        <a:rPr sz="1050" b="0" i="0">
                          <a:solidFill>
                            <a:srgbClr val="000000"/>
                          </a:solidFill>
                          <a:latin typeface="Calibri"/>
                        </a:rPr>
                        <a:t>Table 38: Global Market Share and BPS Change by Distribution Channel, %, 2025, 2026 and 2036</a:t>
                      </a:r>
                      <a:endParaRPr sz="1050"/>
                    </a:p>
                  </a:txBody>
                  <a:tcPr marL="9525" marR="9525" marT="9525" marB="0" anchor="ctr"/>
                </a:tc>
              </a:tr>
              <a:tr h="170045">
                <a:tc>
                  <a:txBody>
                    <a:bodyPr wrap="square"/>
                    <a:lstStyle/>
                    <a:p>
                      <a:pPr algn="l"/>
                      <a:r>
                        <a:rPr sz="1050" b="0" i="0">
                          <a:solidFill>
                            <a:srgbClr val="000000"/>
                          </a:solidFill>
                          <a:latin typeface="Calibri"/>
                        </a:rPr>
                        <a:t>Table 39: Global Market YoY Growth by Product Type / Chemistry, %, 2026–2036</a:t>
                      </a:r>
                      <a:endParaRPr sz="1050"/>
                    </a:p>
                  </a:txBody>
                  <a:tcPr marL="9525" marR="9525" marT="9525" marB="0" anchor="ctr"/>
                </a:tc>
              </a:tr>
              <a:tr h="170045">
                <a:tc>
                  <a:txBody>
                    <a:bodyPr wrap="square"/>
                    <a:lstStyle/>
                    <a:p>
                      <a:pPr algn="l"/>
                      <a:r>
                        <a:rPr sz="1050" b="0" i="0">
                          <a:solidFill>
                            <a:srgbClr val="000000"/>
                          </a:solidFill>
                          <a:latin typeface="Calibri"/>
                        </a:rPr>
                        <a:t>Table 40: Global Market YoY Growth by Product Configuration, %, 2026–2036</a:t>
                      </a:r>
                      <a:endParaRPr sz="1050"/>
                    </a:p>
                  </a:txBody>
                  <a:tcPr marL="9525" marR="9525" marT="9525" marB="0" anchor="ctr"/>
                </a:tc>
              </a:tr>
              <a:tr h="170045">
                <a:tc>
                  <a:txBody>
                    <a:bodyPr wrap="square"/>
                    <a:lstStyle/>
                    <a:p>
                      <a:pPr algn="l"/>
                      <a:r>
                        <a:rPr sz="1050" b="0" i="0">
                          <a:solidFill>
                            <a:srgbClr val="000000"/>
                          </a:solidFill>
                          <a:latin typeface="Calibri"/>
                        </a:rPr>
                        <a:t>Table 41: Global Market YoY Growth by Technology, %, 2026–2036</a:t>
                      </a:r>
                      <a:endParaRPr sz="1050"/>
                    </a:p>
                  </a:txBody>
                  <a:tcPr marL="9525" marR="9525" marT="9525" marB="0" anchor="ctr"/>
                </a:tc>
              </a:tr>
              <a:tr h="170045">
                <a:tc>
                  <a:txBody>
                    <a:bodyPr wrap="square"/>
                    <a:lstStyle/>
                    <a:p>
                      <a:pPr algn="l"/>
                      <a:r>
                        <a:rPr sz="1050" b="0" i="0">
                          <a:solidFill>
                            <a:srgbClr val="000000"/>
                          </a:solidFill>
                          <a:latin typeface="Calibri"/>
                        </a:rPr>
                        <a:t>Table 42: Global Market YoY Growth by Application, %, 2026–2036</a:t>
                      </a:r>
                      <a:endParaRPr sz="1050"/>
                    </a:p>
                  </a:txBody>
                  <a:tcPr marL="9525" marR="9525" marT="9525" marB="0" anchor="ctr"/>
                </a:tc>
              </a:tr>
              <a:tr h="170045">
                <a:tc>
                  <a:txBody>
                    <a:bodyPr wrap="square"/>
                    <a:lstStyle/>
                    <a:p>
                      <a:pPr algn="l"/>
                      <a:r>
                        <a:rPr sz="1050" b="0" i="0">
                          <a:solidFill>
                            <a:srgbClr val="000000"/>
                          </a:solidFill>
                          <a:latin typeface="Calibri"/>
                        </a:rPr>
                        <a:t>Table 43: Global Market YoY Growth by Substrate Material, %, 2026–2036</a:t>
                      </a:r>
                      <a:endParaRPr sz="1050"/>
                    </a:p>
                  </a:txBody>
                  <a:tcPr marL="9525" marR="9525" marT="9525" marB="0" anchor="ctr"/>
                </a:tc>
              </a:tr>
              <a:tr h="170045">
                <a:tc>
                  <a:txBody>
                    <a:bodyPr wrap="square"/>
                    <a:lstStyle/>
                    <a:p>
                      <a:pPr algn="l"/>
                      <a:r>
                        <a:rPr sz="1050" b="0" i="0">
                          <a:solidFill>
                            <a:srgbClr val="000000"/>
                          </a:solidFill>
                          <a:latin typeface="Calibri"/>
                        </a:rPr>
                        <a:t>Table 44: Global Market YoY Growth by Distribution Channel, %, 2026–2036</a:t>
                      </a:r>
                      <a:endParaRPr sz="1050"/>
                    </a:p>
                  </a:txBody>
                  <a:tcPr marL="9525" marR="9525" marT="9525" marB="0" anchor="ctr"/>
                </a:tc>
              </a:tr>
              <a:tr h="170045">
                <a:tc>
                  <a:txBody>
                    <a:bodyPr wrap="square"/>
                    <a:lstStyle/>
                    <a:p>
                      <a:pPr algn="l"/>
                      <a:r>
                        <a:rPr sz="1050" b="0" i="0">
                          <a:solidFill>
                            <a:srgbClr val="000000"/>
                          </a:solidFill>
                          <a:latin typeface="Calibri"/>
                        </a:rPr>
                        <a:t>Table 45: Global Market Volume by Product Type / Chemistry, Units, 2021–2036</a:t>
                      </a:r>
                      <a:endParaRPr sz="1050"/>
                    </a:p>
                  </a:txBody>
                  <a:tcPr marL="9525" marR="9525" marT="9525" marB="0" anchor="ctr"/>
                </a:tc>
              </a:tr>
              <a:tr h="170045">
                <a:tc>
                  <a:txBody>
                    <a:bodyPr wrap="square"/>
                    <a:lstStyle/>
                    <a:p>
                      <a:pPr algn="l"/>
                      <a:r>
                        <a:rPr sz="1050" b="0" i="0">
                          <a:solidFill>
                            <a:srgbClr val="000000"/>
                          </a:solidFill>
                          <a:latin typeface="Calibri"/>
                        </a:rPr>
                        <a:t>Table 46: Global Market Volume by Product Configuration, Units, 2021–2036</a:t>
                      </a:r>
                      <a:endParaRPr sz="1050"/>
                    </a:p>
                  </a:txBody>
                  <a:tcPr marL="9525" marR="9525" marT="9525" marB="0" anchor="ctr"/>
                </a:tc>
              </a:tr>
              <a:tr h="170045">
                <a:tc>
                  <a:txBody>
                    <a:bodyPr wrap="square"/>
                    <a:lstStyle/>
                    <a:p>
                      <a:pPr algn="l"/>
                      <a:r>
                        <a:rPr sz="1050" b="0" i="0">
                          <a:solidFill>
                            <a:srgbClr val="000000"/>
                          </a:solidFill>
                          <a:latin typeface="Calibri"/>
                        </a:rPr>
                        <a:t>Table 47: Global Market Volume by Technology, Units, 2021–2036</a:t>
                      </a:r>
                      <a:endParaRPr sz="1050"/>
                    </a:p>
                  </a:txBody>
                  <a:tcPr marL="9525" marR="9525" marT="9525" marB="0" anchor="ctr"/>
                </a:tc>
              </a:tr>
              <a:tr h="170045">
                <a:tc>
                  <a:txBody>
                    <a:bodyPr wrap="square"/>
                    <a:lstStyle/>
                    <a:p>
                      <a:pPr algn="l"/>
                      <a:r>
                        <a:rPr sz="1050" b="0" i="0">
                          <a:solidFill>
                            <a:srgbClr val="000000"/>
                          </a:solidFill>
                          <a:latin typeface="Calibri"/>
                        </a:rPr>
                        <a:t>Table 48: Global Market Volume by Application, Units, 2021–2036</a:t>
                      </a:r>
                      <a:endParaRPr sz="1050"/>
                    </a:p>
                  </a:txBody>
                  <a:tcPr marL="9525" marR="9525" marT="9525" marB="0" anchor="ctr"/>
                </a:tc>
              </a:tr>
              <a:tr h="170045">
                <a:tc>
                  <a:txBody>
                    <a:bodyPr wrap="square"/>
                    <a:lstStyle/>
                    <a:p>
                      <a:pPr algn="l"/>
                      <a:r>
                        <a:rPr sz="1050" b="0" i="0">
                          <a:solidFill>
                            <a:srgbClr val="000000"/>
                          </a:solidFill>
                          <a:latin typeface="Calibri"/>
                        </a:rPr>
                        <a:t>Table 49: Global Market Volume by Substrate Material, Units, 2021–2036</a:t>
                      </a:r>
                      <a:endParaRPr sz="1050"/>
                    </a:p>
                  </a:txBody>
                  <a:tcPr marL="9525" marR="9525" marT="9525" marB="0" anchor="ctr"/>
                </a:tc>
              </a:tr>
              <a:tr h="170045">
                <a:tc>
                  <a:txBody>
                    <a:bodyPr wrap="square"/>
                    <a:lstStyle/>
                    <a:p>
                      <a:pPr algn="l"/>
                      <a:r>
                        <a:rPr sz="1050" b="0" i="0">
                          <a:solidFill>
                            <a:srgbClr val="000000"/>
                          </a:solidFill>
                          <a:latin typeface="Calibri"/>
                        </a:rPr>
                        <a:t>Table 50: Global Market Volume by Distribution Channel, Units, 2021–2036</a:t>
                      </a:r>
                      <a:endParaRPr sz="1050"/>
                    </a:p>
                  </a:txBody>
                  <a:tcPr marL="9525" marR="9525" marT="9525" marB="0" anchor="ctr"/>
                </a:tc>
              </a:tr>
              <a:tr h="170045">
                <a:tc>
                  <a:txBody>
                    <a:bodyPr wrap="square"/>
                    <a:lstStyle/>
                    <a:p>
                      <a:pPr algn="l"/>
                      <a:r>
                        <a:rPr sz="1050" b="0" i="0">
                          <a:solidFill>
                            <a:srgbClr val="000000"/>
                          </a:solidFill>
                          <a:latin typeface="Calibri"/>
                        </a:rPr>
                        <a:t>Table 51: Global Market Average Selling Price by Product Type / Chemistry, US$/Units, 2021–2036</a:t>
                      </a:r>
                      <a:endParaRPr sz="1050"/>
                    </a:p>
                  </a:txBody>
                  <a:tcPr marL="9525" marR="9525" marT="9525" marB="0" anchor="ctr"/>
                </a:tc>
              </a:tr>
              <a:tr h="170045">
                <a:tc>
                  <a:txBody>
                    <a:bodyPr wrap="square"/>
                    <a:lstStyle/>
                    <a:p>
                      <a:pPr algn="l"/>
                      <a:r>
                        <a:rPr sz="1050" b="0" i="0">
                          <a:solidFill>
                            <a:srgbClr val="000000"/>
                          </a:solidFill>
                          <a:latin typeface="Calibri"/>
                        </a:rPr>
                        <a:t>Table 52: Global Market Average Selling Price by Product Configuration, US$/Units, 2021–2036</a:t>
                      </a:r>
                      <a:endParaRPr sz="1050"/>
                    </a:p>
                  </a:txBody>
                  <a:tcPr marL="9525" marR="9525" marT="9525" marB="0" anchor="ctr"/>
                </a:tc>
              </a:tr>
              <a:tr h="170045">
                <a:tc>
                  <a:txBody>
                    <a:bodyPr wrap="square"/>
                    <a:lstStyle/>
                    <a:p>
                      <a:pPr algn="l"/>
                      <a:r>
                        <a:rPr sz="1050" b="0" i="0">
                          <a:solidFill>
                            <a:srgbClr val="000000"/>
                          </a:solidFill>
                          <a:latin typeface="Calibri"/>
                        </a:rPr>
                        <a:t>Table 53: Global Market Average Selling Price by Technology, US$/Units, 2021–2036</a:t>
                      </a:r>
                      <a:endParaRPr sz="1050"/>
                    </a:p>
                  </a:txBody>
                  <a:tcPr marL="9525" marR="9525" marT="9525" marB="0" anchor="ctr"/>
                </a:tc>
              </a:tr>
              <a:tr h="170045">
                <a:tc>
                  <a:txBody>
                    <a:bodyPr wrap="square"/>
                    <a:lstStyle/>
                    <a:p>
                      <a:pPr algn="l"/>
                      <a:r>
                        <a:rPr sz="1050" b="0" i="0">
                          <a:solidFill>
                            <a:srgbClr val="000000"/>
                          </a:solidFill>
                          <a:latin typeface="Calibri"/>
                        </a:rPr>
                        <a:t>Table 54: Global Market Average Selling Price by Application, US$/Units, 2021–2036</a:t>
                      </a:r>
                      <a:endParaRPr sz="1050"/>
                    </a:p>
                  </a:txBody>
                  <a:tcPr marL="9525" marR="9525" marT="9525" marB="0" anchor="ctr"/>
                </a:tc>
              </a:tr>
              <a:tr h="170045">
                <a:tc>
                  <a:txBody>
                    <a:bodyPr wrap="square"/>
                    <a:lstStyle/>
                    <a:p>
                      <a:pPr algn="l"/>
                      <a:r>
                        <a:rPr sz="1050" b="0" i="0">
                          <a:solidFill>
                            <a:srgbClr val="000000"/>
                          </a:solidFill>
                          <a:latin typeface="Calibri"/>
                        </a:rPr>
                        <a:t>Table 55: Global Market Average Selling Price by Substrate Material, US$/Units, 2021–2036</a:t>
                      </a:r>
                      <a:endParaRPr sz="1050"/>
                    </a:p>
                  </a:txBody>
                  <a:tcPr marL="9525" marR="9525" marT="9525" marB="0" anchor="ctr"/>
                </a:tc>
              </a:tr>
              <a:tr h="170045">
                <a:tc>
                  <a:txBody>
                    <a:bodyPr wrap="square"/>
                    <a:lstStyle/>
                    <a:p>
                      <a:pPr algn="l"/>
                      <a:r>
                        <a:rPr sz="1050" b="0" i="0">
                          <a:solidFill>
                            <a:srgbClr val="000000"/>
                          </a:solidFill>
                          <a:latin typeface="Calibri"/>
                        </a:rPr>
                        <a:t>Table 56: Global Market Average Selling Price by Distribution Channel, US$/Units, 2021–2036</a:t>
                      </a:r>
                      <a:endParaRPr sz="1050"/>
                    </a:p>
                  </a:txBody>
                  <a:tcPr marL="9525" marR="9525" marT="9525" marB="0" anchor="ctr"/>
                </a:tc>
              </a:tr>
              <a:tr h="170045">
                <a:tc>
                  <a:txBody>
                    <a:bodyPr wrap="square"/>
                    <a:lstStyle/>
                    <a:p>
                      <a:pPr algn="l"/>
                      <a:r>
                        <a:rPr sz="1050" b="0" i="0">
                          <a:solidFill>
                            <a:srgbClr val="000000"/>
                          </a:solidFill>
                          <a:latin typeface="Calibri"/>
                        </a:rPr>
                        <a:t>Table 57: Global Market Attractiveness Index by Product Type / Chemistry, 2026–2036</a:t>
                      </a:r>
                      <a:endParaRPr sz="1050"/>
                    </a:p>
                  </a:txBody>
                  <a:tcPr marL="9525" marR="9525" marT="9525" marB="0" anchor="ctr"/>
                </a:tc>
              </a:tr>
              <a:tr h="170045">
                <a:tc>
                  <a:txBody>
                    <a:bodyPr wrap="square"/>
                    <a:lstStyle/>
                    <a:p>
                      <a:pPr algn="l"/>
                      <a:r>
                        <a:rPr sz="1050" b="0" i="0">
                          <a:solidFill>
                            <a:srgbClr val="000000"/>
                          </a:solidFill>
                          <a:latin typeface="Calibri"/>
                        </a:rPr>
                        <a:t>Table 58: Global Market Attractiveness Index by Product Configuration, 2026–2036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(2/4)</a:t>
            </a:r>
          </a:p>
        </p:txBody>
      </p:sp>
      <p:graphicFrame>
        <p:nvGraphicFramePr>
          <p:cNvPr id="9" name="FMI Contents Table"/>
          <p:cNvGraphicFramePr>
            <a:graphicFrameLocks noGrp="1"/>
          </p:cNvGraphicFramePr>
          <p:nvPr/>
        </p:nvGraphicFramePr>
        <p:xfrm>
          <a:off x="142875" y="981075"/>
          <a:ext cx="5876925" cy="5257790"/>
        </p:xfrm>
        <a:graphic>
          <a:graphicData uri="http://schemas.openxmlformats.org/drawingml/2006/table">
            <a:tbl>
              <a:tblPr>
                <a:tableStyleId>{3B4B98B0-60AC-42C2-AFA5-B58CD77FA1E5}</a:tableStyleId>
              </a:tblPr>
              <a:tblGrid>
                <a:gridCol w="5876925"/>
              </a:tblGrid>
              <a:tr h="170486">
                <a:tc>
                  <a:txBody>
                    <a:bodyPr wrap="square"/>
                    <a:lstStyle/>
                    <a:p>
                      <a:pPr algn="l"/>
                      <a:r>
                        <a:rPr sz="1050" b="0" i="0">
                          <a:solidFill>
                            <a:srgbClr val="000000"/>
                          </a:solidFill>
                          <a:latin typeface="Calibri"/>
                        </a:rPr>
                        <a:t>Table 59: Global Market Attractiveness Index by Technology, 2026–2036</a:t>
                      </a:r>
                      <a:endParaRPr sz="1050"/>
                    </a:p>
                  </a:txBody>
                  <a:tcPr marL="9525" marR="9525" marT="9525" marB="0" anchor="ctr"/>
                </a:tc>
              </a:tr>
              <a:tr h="170486">
                <a:tc>
                  <a:txBody>
                    <a:bodyPr wrap="square"/>
                    <a:lstStyle/>
                    <a:p>
                      <a:pPr algn="l"/>
                      <a:r>
                        <a:rPr sz="1050" b="0" i="0">
                          <a:solidFill>
                            <a:srgbClr val="000000"/>
                          </a:solidFill>
                          <a:latin typeface="Calibri"/>
                        </a:rPr>
                        <a:t>Table 60: Global Market Attractiveness Index by Application, 2026–2036</a:t>
                      </a:r>
                      <a:endParaRPr sz="1050"/>
                    </a:p>
                  </a:txBody>
                  <a:tcPr marL="9525" marR="9525" marT="9525" marB="0" anchor="ctr"/>
                </a:tc>
              </a:tr>
              <a:tr h="170486">
                <a:tc>
                  <a:txBody>
                    <a:bodyPr wrap="square"/>
                    <a:lstStyle/>
                    <a:p>
                      <a:pPr algn="l"/>
                      <a:r>
                        <a:rPr sz="1050" b="0" i="0">
                          <a:solidFill>
                            <a:srgbClr val="000000"/>
                          </a:solidFill>
                          <a:latin typeface="Calibri"/>
                        </a:rPr>
                        <a:t>Table 61: Global Market Attractiveness Index by Substrate Material, 2026–2036</a:t>
                      </a:r>
                      <a:endParaRPr sz="1050"/>
                    </a:p>
                  </a:txBody>
                  <a:tcPr marL="9525" marR="9525" marT="9525" marB="0" anchor="ctr"/>
                </a:tc>
              </a:tr>
              <a:tr h="170486">
                <a:tc>
                  <a:txBody>
                    <a:bodyPr wrap="square"/>
                    <a:lstStyle/>
                    <a:p>
                      <a:pPr algn="l"/>
                      <a:r>
                        <a:rPr sz="1050" b="0" i="0">
                          <a:solidFill>
                            <a:srgbClr val="000000"/>
                          </a:solidFill>
                          <a:latin typeface="Calibri"/>
                        </a:rPr>
                        <a:t>Table 62: Global Market Attractiveness Index by Distribution Channel, 2026–2036</a:t>
                      </a:r>
                      <a:endParaRPr sz="1050"/>
                    </a:p>
                  </a:txBody>
                  <a:tcPr marL="9525" marR="9525" marT="9525" marB="0" anchor="ctr"/>
                </a:tc>
              </a:tr>
              <a:tr h="170486">
                <a:tc>
                  <a:txBody>
                    <a:bodyPr wrap="square"/>
                    <a:lstStyle/>
                    <a:p>
                      <a:pPr algn="l"/>
                      <a:r>
                        <a:rPr sz="1050" b="0" i="0">
                          <a:solidFill>
                            <a:srgbClr val="000000"/>
                          </a:solidFill>
                          <a:latin typeface="Calibri"/>
                        </a:rPr>
                        <a:t>Table 63: Global Market Value of Acrylic Waterproof Coatings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64: Global Market Value of Single-Component Coatings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65: Global Market Value of Water-Based Coatings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66: Global Market Value of Roofs and Terraces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67: Global Market Value of Concrete and Cementitious Surfaces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68: Global Market Value of Direct Sales by Region, US$ Mn, 2021–2036</a:t>
                      </a:r>
                      <a:endParaRPr sz="1050"/>
                    </a:p>
                  </a:txBody>
                  <a:tcPr marL="9525" marR="9525" marT="9525" marB="0" anchor="ctr"/>
                </a:tc>
              </a:tr>
              <a:tr h="334153">
                <a:tc>
                  <a:txBody>
                    <a:bodyPr wrap="square"/>
                    <a:lstStyle/>
                    <a:p>
                      <a:pPr algn="l"/>
                      <a:r>
                        <a:rPr sz="1050" b="0" i="0">
                          <a:solidFill>
                            <a:srgbClr val="000000"/>
                          </a:solidFill>
                          <a:latin typeface="Calibri"/>
                        </a:rPr>
                        <a:t>Table 69: Global Market Value of Polyurethane (PU) Waterproof Coatings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70: Global Market Value of Two-Component Coatings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71: Global Market Value of Solvent-Based Coatings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72: Global Market Value of Walls and Building Facades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73: Global Market Value of Metal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74: Global Market Value of Distributors and Wholesalers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75: Global Market Value of Epoxy Waterproof Coatings by Region, US$ Mn, 2021–2036</a:t>
                      </a:r>
                      <a:endParaRPr sz="1050"/>
                    </a:p>
                  </a:txBody>
                  <a:tcPr marL="9525" marR="9525" marT="9525" marB="0" anchor="ctr"/>
                </a:tc>
              </a:tr>
              <a:tr h="334153">
                <a:tc>
                  <a:txBody>
                    <a:bodyPr wrap="square"/>
                    <a:lstStyle/>
                    <a:p>
                      <a:pPr algn="l"/>
                      <a:r>
                        <a:rPr sz="1050" b="0" i="0">
                          <a:solidFill>
                            <a:srgbClr val="000000"/>
                          </a:solidFill>
                          <a:latin typeface="Calibri"/>
                        </a:rPr>
                        <a:t>Table 76: Global Market Value by Product Type / Chemistry and Product Configuration, US$ Mn, 2026–2036</a:t>
                      </a:r>
                      <a:endParaRPr sz="1050"/>
                    </a:p>
                  </a:txBody>
                  <a:tcPr marL="9525" marR="9525" marT="9525" marB="0" anchor="ctr"/>
                </a:tc>
              </a:tr>
              <a:tr h="170486">
                <a:tc>
                  <a:txBody>
                    <a:bodyPr wrap="square"/>
                    <a:lstStyle/>
                    <a:p>
                      <a:pPr algn="l"/>
                      <a:r>
                        <a:rPr sz="1050" b="0" i="0">
                          <a:solidFill>
                            <a:srgbClr val="000000"/>
                          </a:solidFill>
                          <a:latin typeface="Calibri"/>
                        </a:rPr>
                        <a:t>Table 77: Global Market Value by Product Type / Chemistry and Technology, US$ Mn, 2026–2036</a:t>
                      </a:r>
                      <a:endParaRPr sz="1050"/>
                    </a:p>
                  </a:txBody>
                  <a:tcPr marL="9525" marR="9525" marT="9525" marB="0" anchor="ctr"/>
                </a:tc>
              </a:tr>
              <a:tr h="170486">
                <a:tc>
                  <a:txBody>
                    <a:bodyPr wrap="square"/>
                    <a:lstStyle/>
                    <a:p>
                      <a:pPr algn="l"/>
                      <a:r>
                        <a:rPr sz="1050" b="0" i="0">
                          <a:solidFill>
                            <a:srgbClr val="000000"/>
                          </a:solidFill>
                          <a:latin typeface="Calibri"/>
                        </a:rPr>
                        <a:t>Table 78: Global Market Value by Product Type / Chemistry and Application, US$ Mn, 2026–2036</a:t>
                      </a:r>
                      <a:endParaRPr sz="1050"/>
                    </a:p>
                  </a:txBody>
                  <a:tcPr marL="9525" marR="9525" marT="9525" marB="0" anchor="ctr"/>
                </a:tc>
              </a:tr>
              <a:tr h="334153">
                <a:tc>
                  <a:txBody>
                    <a:bodyPr wrap="square"/>
                    <a:lstStyle/>
                    <a:p>
                      <a:pPr algn="l"/>
                      <a:r>
                        <a:rPr sz="1050" b="0" i="0">
                          <a:solidFill>
                            <a:srgbClr val="000000"/>
                          </a:solidFill>
                          <a:latin typeface="Calibri"/>
                        </a:rPr>
                        <a:t>Table 79: Global Market Value by Product Type / Chemistry and Substrate Material, US$ Mn, 2026–2036</a:t>
                      </a:r>
                      <a:endParaRPr sz="1050"/>
                    </a:p>
                  </a:txBody>
                  <a:tcPr marL="9525" marR="9525" marT="9525" marB="0" anchor="ctr"/>
                </a:tc>
              </a:tr>
              <a:tr h="334153">
                <a:tc>
                  <a:txBody>
                    <a:bodyPr wrap="square"/>
                    <a:lstStyle/>
                    <a:p>
                      <a:pPr algn="l"/>
                      <a:r>
                        <a:rPr sz="1050" b="0" i="0">
                          <a:solidFill>
                            <a:srgbClr val="000000"/>
                          </a:solidFill>
                          <a:latin typeface="Calibri"/>
                        </a:rPr>
                        <a:t>Table 80: Global Market Value by Product Type / Chemistry and Distribution Channel, US$ Mn, 2026–2036</a:t>
                      </a:r>
                      <a:endParaRPr sz="1050"/>
                    </a:p>
                  </a:txBody>
                  <a:tcPr marL="9525" marR="9525" marT="9525" marB="0" anchor="ctr"/>
                </a:tc>
              </a:tr>
              <a:tr h="170486">
                <a:tc>
                  <a:txBody>
                    <a:bodyPr wrap="square"/>
                    <a:lstStyle/>
                    <a:p>
                      <a:pPr algn="l"/>
                      <a:r>
                        <a:rPr sz="1050" b="0" i="0">
                          <a:solidFill>
                            <a:srgbClr val="000000"/>
                          </a:solidFill>
                          <a:latin typeface="Calibri"/>
                        </a:rPr>
                        <a:t>Table 81: Global Market Value by Product Configuration and Technology, US$ Mn, 2026–2036</a:t>
                      </a:r>
                      <a:endParaRPr sz="1050"/>
                    </a:p>
                  </a:txBody>
                  <a:tcPr marL="9525" marR="9525" marT="9525" marB="0" anchor="ctr"/>
                </a:tc>
              </a:tr>
              <a:tr h="170486">
                <a:tc>
                  <a:txBody>
                    <a:bodyPr wrap="square"/>
                    <a:lstStyle/>
                    <a:p>
                      <a:pPr algn="l"/>
                      <a:r>
                        <a:rPr sz="1050" b="0" i="0">
                          <a:solidFill>
                            <a:srgbClr val="000000"/>
                          </a:solidFill>
                          <a:latin typeface="Calibri"/>
                        </a:rPr>
                        <a:t>Table 82: Global Market Value by Product Configuration and Application, US$ Mn, 2026–2036</a:t>
                      </a:r>
                      <a:endParaRPr sz="1050"/>
                    </a:p>
                  </a:txBody>
                  <a:tcPr marL="9525" marR="9525" marT="9525" marB="0" anchor="ctr"/>
                </a:tc>
              </a:tr>
              <a:tr h="170486">
                <a:tc>
                  <a:txBody>
                    <a:bodyPr wrap="square"/>
                    <a:lstStyle/>
                    <a:p>
                      <a:pPr algn="l"/>
                      <a:r>
                        <a:rPr sz="1050" b="0" i="0">
                          <a:solidFill>
                            <a:srgbClr val="000000"/>
                          </a:solidFill>
                          <a:latin typeface="Calibri"/>
                        </a:rPr>
                        <a:t>Table 83: Global Market Value by Product Configuration and Substrate Material, US$ Mn, 2026–2036</a:t>
                      </a:r>
                      <a:endParaRPr sz="1050"/>
                    </a:p>
                  </a:txBody>
                  <a:tcPr marL="9525" marR="9525" marT="9525" marB="0" anchor="ctr"/>
                </a:tc>
              </a:tr>
              <a:tr h="170486">
                <a:tc>
                  <a:txBody>
                    <a:bodyPr wrap="square"/>
                    <a:lstStyle/>
                    <a:p>
                      <a:pPr algn="l"/>
                      <a:r>
                        <a:rPr sz="1050" b="0" i="0">
                          <a:solidFill>
                            <a:srgbClr val="000000"/>
                          </a:solidFill>
                          <a:latin typeface="Calibri"/>
                        </a:rPr>
                        <a:t>Table 84: Global Market Value by Product Configuration and Distribution Channel, US$ Mn, 2026–2036</a:t>
                      </a:r>
                      <a:endParaRPr sz="1050"/>
                    </a:p>
                  </a:txBody>
                  <a:tcPr marL="9525" marR="9525" marT="9525" marB="0" anchor="ctr"/>
                </a:tc>
              </a:tr>
              <a:tr h="170486">
                <a:tc>
                  <a:txBody>
                    <a:bodyPr wrap="square"/>
                    <a:lstStyle/>
                    <a:p>
                      <a:pPr algn="l"/>
                      <a:r>
                        <a:rPr sz="1050" b="0" i="0">
                          <a:solidFill>
                            <a:srgbClr val="000000"/>
                          </a:solidFill>
                          <a:latin typeface="Calibri"/>
                        </a:rPr>
                        <a:t>Table 85: Global Market Value by Technology and Application, US$ Mn, 2026–2036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050" b="0" i="0">
                          <a:solidFill>
                            <a:srgbClr val="000000"/>
                          </a:solidFill>
                          <a:latin typeface="Calibri"/>
                        </a:rPr>
                        <a:t>Table 86: Global Market Value by Technology and Substrate Material, US$ Mn, 2026–2036</a:t>
                      </a:r>
                      <a:endParaRPr sz="1050"/>
                    </a:p>
                  </a:txBody>
                  <a:tcPr marL="9525" marR="9525" marT="9525" marB="0" anchor="ctr"/>
                </a:tc>
              </a:tr>
              <a:tr h="175260">
                <a:tc>
                  <a:txBody>
                    <a:bodyPr wrap="square"/>
                    <a:lstStyle/>
                    <a:p>
                      <a:pPr algn="l"/>
                      <a:r>
                        <a:rPr sz="1050" b="0" i="0">
                          <a:solidFill>
                            <a:srgbClr val="000000"/>
                          </a:solidFill>
                          <a:latin typeface="Calibri"/>
                        </a:rPr>
                        <a:t>Table 87: Global Market Value by Technology and Distribution Channel, US$ Mn, 2026–2036</a:t>
                      </a:r>
                      <a:endParaRPr sz="1050"/>
                    </a:p>
                  </a:txBody>
                  <a:tcPr marL="9525" marR="9525" marT="9525" marB="0" anchor="ctr"/>
                </a:tc>
              </a:tr>
              <a:tr h="175260">
                <a:tc>
                  <a:txBody>
                    <a:bodyPr wrap="square"/>
                    <a:lstStyle/>
                    <a:p>
                      <a:pPr algn="l"/>
                      <a:r>
                        <a:rPr sz="1050" b="0" i="0">
                          <a:solidFill>
                            <a:srgbClr val="000000"/>
                          </a:solidFill>
                          <a:latin typeface="Calibri"/>
                        </a:rPr>
                        <a:t>Table 88: Global Market Value by Application and Substrate Material, US$ Mn, 2026–2036</a:t>
                      </a:r>
                      <a:endParaRPr sz="1050"/>
                    </a:p>
                  </a:txBody>
                  <a:tcPr marL="9525" marR="9525" marT="9525" marB="0" anchor="ctr"/>
                </a:tc>
              </a:tr>
              <a:tr h="175260">
                <a:tc>
                  <a:txBody>
                    <a:bodyPr wrap="square"/>
                    <a:lstStyle/>
                    <a:p>
                      <a:pPr algn="l"/>
                      <a:r>
                        <a:rPr sz="1050" b="0" i="0">
                          <a:solidFill>
                            <a:srgbClr val="000000"/>
                          </a:solidFill>
                          <a:latin typeface="Calibri"/>
                        </a:rPr>
                        <a:t>Table 89: Global Market Value by Application and Distribution Channel, US$ Mn, 2026–2036</a:t>
                      </a:r>
                      <a:endParaRPr sz="1050"/>
                    </a:p>
                  </a:txBody>
                  <a:tcPr marL="9525" marR="9525" marT="9525" marB="0" anchor="ctr"/>
                </a:tc>
              </a:tr>
              <a:tr h="175260">
                <a:tc>
                  <a:txBody>
                    <a:bodyPr wrap="square"/>
                    <a:lstStyle/>
                    <a:p>
                      <a:pPr algn="l"/>
                      <a:r>
                        <a:rPr sz="1050" b="0" i="0">
                          <a:solidFill>
                            <a:srgbClr val="000000"/>
                          </a:solidFill>
                          <a:latin typeface="Calibri"/>
                        </a:rPr>
                        <a:t>Table 90: Global Market Value by Substrate Material and Distribution Channel, US$ Mn, 2026–2036</a:t>
                      </a:r>
                      <a:endParaRPr sz="1050"/>
                    </a:p>
                  </a:txBody>
                  <a:tcPr marL="9525" marR="9525" marT="9525" marB="0" anchor="ctr"/>
                </a:tc>
              </a:tr>
              <a:tr h="175260">
                <a:tc>
                  <a:txBody>
                    <a:bodyPr wrap="square"/>
                    <a:lstStyle/>
                    <a:p>
                      <a:pPr algn="l"/>
                      <a:r>
                        <a:rPr sz="1050" b="0" i="0">
                          <a:solidFill>
                            <a:srgbClr val="000000"/>
                          </a:solidFill>
                          <a:latin typeface="Calibri"/>
                        </a:rPr>
                        <a:t>Table 91: Global Market Value by Region and Product Type / Chemistry, US$ Mn, 2026–2036</a:t>
                      </a:r>
                      <a:endParaRPr sz="1050"/>
                    </a:p>
                  </a:txBody>
                  <a:tcPr marL="9525" marR="9525" marT="9525" marB="0" anchor="ctr"/>
                </a:tc>
              </a:tr>
              <a:tr h="175260">
                <a:tc>
                  <a:txBody>
                    <a:bodyPr wrap="square"/>
                    <a:lstStyle/>
                    <a:p>
                      <a:pPr algn="l"/>
                      <a:r>
                        <a:rPr sz="1050" b="0" i="0">
                          <a:solidFill>
                            <a:srgbClr val="000000"/>
                          </a:solidFill>
                          <a:latin typeface="Calibri"/>
                        </a:rPr>
                        <a:t>Table 92: Global Market Value by Region and Product Configuration, US$ Mn, 2026–2036</a:t>
                      </a:r>
                      <a:endParaRPr sz="1050"/>
                    </a:p>
                  </a:txBody>
                  <a:tcPr marL="9525" marR="9525" marT="9525" marB="0" anchor="ctr"/>
                </a:tc>
              </a:tr>
              <a:tr h="175260">
                <a:tc>
                  <a:txBody>
                    <a:bodyPr wrap="square"/>
                    <a:lstStyle/>
                    <a:p>
                      <a:pPr algn="l"/>
                      <a:r>
                        <a:rPr sz="1050" b="0" i="0">
                          <a:solidFill>
                            <a:srgbClr val="000000"/>
                          </a:solidFill>
                          <a:latin typeface="Calibri"/>
                        </a:rPr>
                        <a:t>Table 93: Global Market Value by Region and Technology, US$ Mn, 2026–2036</a:t>
                      </a:r>
                      <a:endParaRPr sz="1050"/>
                    </a:p>
                  </a:txBody>
                  <a:tcPr marL="9525" marR="9525" marT="9525" marB="0" anchor="ctr"/>
                </a:tc>
              </a:tr>
              <a:tr h="175260">
                <a:tc>
                  <a:txBody>
                    <a:bodyPr wrap="square"/>
                    <a:lstStyle/>
                    <a:p>
                      <a:pPr algn="l"/>
                      <a:r>
                        <a:rPr sz="1050" b="0" i="0">
                          <a:solidFill>
                            <a:srgbClr val="000000"/>
                          </a:solidFill>
                          <a:latin typeface="Calibri"/>
                        </a:rPr>
                        <a:t>Table 94: Global Market Value by Region and Application, US$ Mn, 2026–2036</a:t>
                      </a:r>
                      <a:endParaRPr sz="1050"/>
                    </a:p>
                  </a:txBody>
                  <a:tcPr marL="9525" marR="9525" marT="9525" marB="0" anchor="ctr"/>
                </a:tc>
              </a:tr>
              <a:tr h="175260">
                <a:tc>
                  <a:txBody>
                    <a:bodyPr wrap="square"/>
                    <a:lstStyle/>
                    <a:p>
                      <a:pPr algn="l"/>
                      <a:r>
                        <a:rPr sz="1050" b="0" i="0">
                          <a:solidFill>
                            <a:srgbClr val="000000"/>
                          </a:solidFill>
                          <a:latin typeface="Calibri"/>
                        </a:rPr>
                        <a:t>Table 95: Global Market Value by Region and Substrate Material, US$ Mn, 2026–2036</a:t>
                      </a:r>
                      <a:endParaRPr sz="1050"/>
                    </a:p>
                  </a:txBody>
                  <a:tcPr marL="9525" marR="9525" marT="9525" marB="0" anchor="ctr"/>
                </a:tc>
              </a:tr>
              <a:tr h="175260">
                <a:tc>
                  <a:txBody>
                    <a:bodyPr wrap="square"/>
                    <a:lstStyle/>
                    <a:p>
                      <a:pPr algn="l"/>
                      <a:r>
                        <a:rPr sz="1050" b="0" i="0">
                          <a:solidFill>
                            <a:srgbClr val="000000"/>
                          </a:solidFill>
                          <a:latin typeface="Calibri"/>
                        </a:rPr>
                        <a:t>Table 96: Global Market Value by Region and Distribution Channel, US$ Mn, 2026–2036</a:t>
                      </a:r>
                      <a:endParaRPr sz="1050"/>
                    </a:p>
                  </a:txBody>
                  <a:tcPr marL="9525" marR="9525" marT="9525" marB="0" anchor="ctr"/>
                </a:tc>
              </a:tr>
              <a:tr h="175260">
                <a:tc>
                  <a:txBody>
                    <a:bodyPr wrap="square"/>
                    <a:lstStyle/>
                    <a:p>
                      <a:pPr algn="l"/>
                      <a:r>
                        <a:rPr sz="1050" b="0" i="0">
                          <a:solidFill>
                            <a:srgbClr val="000000"/>
                          </a:solidFill>
                          <a:latin typeface="Calibri"/>
                        </a:rPr>
                        <a:t>Table 97: Global Market CAGR by Product Type / Chemistry and Product Configuration, %, 2026–2036</a:t>
                      </a:r>
                      <a:endParaRPr sz="1050"/>
                    </a:p>
                  </a:txBody>
                  <a:tcPr marL="9525" marR="9525" marT="9525" marB="0" anchor="ctr"/>
                </a:tc>
              </a:tr>
              <a:tr h="175260">
                <a:tc>
                  <a:txBody>
                    <a:bodyPr wrap="square"/>
                    <a:lstStyle/>
                    <a:p>
                      <a:pPr algn="l"/>
                      <a:r>
                        <a:rPr sz="1050" b="0" i="0">
                          <a:solidFill>
                            <a:srgbClr val="000000"/>
                          </a:solidFill>
                          <a:latin typeface="Calibri"/>
                        </a:rPr>
                        <a:t>Table 98: Global Market CAGR by Product Type / Chemistry and Technology, %, 2026–2036</a:t>
                      </a:r>
                      <a:endParaRPr sz="1050"/>
                    </a:p>
                  </a:txBody>
                  <a:tcPr marL="9525" marR="9525" marT="9525" marB="0" anchor="ctr"/>
                </a:tc>
              </a:tr>
              <a:tr h="175260">
                <a:tc>
                  <a:txBody>
                    <a:bodyPr wrap="square"/>
                    <a:lstStyle/>
                    <a:p>
                      <a:pPr algn="l"/>
                      <a:r>
                        <a:rPr sz="1050" b="0" i="0">
                          <a:solidFill>
                            <a:srgbClr val="000000"/>
                          </a:solidFill>
                          <a:latin typeface="Calibri"/>
                        </a:rPr>
                        <a:t>Table 99: Global Market CAGR by Product Type / Chemistry and Application, %, 2026–2036</a:t>
                      </a:r>
                      <a:endParaRPr sz="1050"/>
                    </a:p>
                  </a:txBody>
                  <a:tcPr marL="9525" marR="9525" marT="9525" marB="0" anchor="ctr"/>
                </a:tc>
              </a:tr>
              <a:tr h="175260">
                <a:tc>
                  <a:txBody>
                    <a:bodyPr wrap="square"/>
                    <a:lstStyle/>
                    <a:p>
                      <a:pPr algn="l"/>
                      <a:r>
                        <a:rPr sz="1050" b="0" i="0">
                          <a:solidFill>
                            <a:srgbClr val="000000"/>
                          </a:solidFill>
                          <a:latin typeface="Calibri"/>
                        </a:rPr>
                        <a:t>Table 100: Global Market CAGR by Product Type / Chemistry and Substrate Material, %, 2026–2036</a:t>
                      </a:r>
                      <a:endParaRPr sz="1050"/>
                    </a:p>
                  </a:txBody>
                  <a:tcPr marL="9525" marR="9525" marT="9525" marB="0" anchor="ctr"/>
                </a:tc>
              </a:tr>
              <a:tr h="175260">
                <a:tc>
                  <a:txBody>
                    <a:bodyPr wrap="square"/>
                    <a:lstStyle/>
                    <a:p>
                      <a:pPr algn="l"/>
                      <a:r>
                        <a:rPr sz="1050" b="0" i="0">
                          <a:solidFill>
                            <a:srgbClr val="000000"/>
                          </a:solidFill>
                          <a:latin typeface="Calibri"/>
                        </a:rPr>
                        <a:t>Table 101: Global Market CAGR by Product Type / Chemistry and Distribution Channel, %, 2026–2036</a:t>
                      </a:r>
                      <a:endParaRPr sz="1050"/>
                    </a:p>
                  </a:txBody>
                  <a:tcPr marL="9525" marR="9525" marT="9525" marB="0" anchor="ctr"/>
                </a:tc>
              </a:tr>
              <a:tr h="175260">
                <a:tc>
                  <a:txBody>
                    <a:bodyPr wrap="square"/>
                    <a:lstStyle/>
                    <a:p>
                      <a:pPr algn="l"/>
                      <a:r>
                        <a:rPr sz="1050" b="0" i="0">
                          <a:solidFill>
                            <a:srgbClr val="000000"/>
                          </a:solidFill>
                          <a:latin typeface="Calibri"/>
                        </a:rPr>
                        <a:t>Table 102: Global Market CAGR by Product Configuration and Technology, %, 2026–2036</a:t>
                      </a:r>
                      <a:endParaRPr sz="1050"/>
                    </a:p>
                  </a:txBody>
                  <a:tcPr marL="9525" marR="9525" marT="9525" marB="0" anchor="ctr"/>
                </a:tc>
              </a:tr>
              <a:tr h="175260">
                <a:tc>
                  <a:txBody>
                    <a:bodyPr wrap="square"/>
                    <a:lstStyle/>
                    <a:p>
                      <a:pPr algn="l"/>
                      <a:r>
                        <a:rPr sz="1050" b="0" i="0">
                          <a:solidFill>
                            <a:srgbClr val="000000"/>
                          </a:solidFill>
                          <a:latin typeface="Calibri"/>
                        </a:rPr>
                        <a:t>Table 103: Global Market CAGR by Product Configuration and Application, %, 2026–2036</a:t>
                      </a:r>
                      <a:endParaRPr sz="1050"/>
                    </a:p>
                  </a:txBody>
                  <a:tcPr marL="9525" marR="9525" marT="9525" marB="0" anchor="ctr"/>
                </a:tc>
              </a:tr>
              <a:tr h="175260">
                <a:tc>
                  <a:txBody>
                    <a:bodyPr wrap="square"/>
                    <a:lstStyle/>
                    <a:p>
                      <a:pPr algn="l"/>
                      <a:r>
                        <a:rPr sz="1050" b="0" i="0">
                          <a:solidFill>
                            <a:srgbClr val="000000"/>
                          </a:solidFill>
                          <a:latin typeface="Calibri"/>
                        </a:rPr>
                        <a:t>Table 104: Global Market CAGR by Product Configuration and Substrate Material, %, 2026–2036</a:t>
                      </a:r>
                      <a:endParaRPr sz="1050"/>
                    </a:p>
                  </a:txBody>
                  <a:tcPr marL="9525" marR="9525" marT="9525" marB="0" anchor="ctr"/>
                </a:tc>
              </a:tr>
              <a:tr h="175260">
                <a:tc>
                  <a:txBody>
                    <a:bodyPr wrap="square"/>
                    <a:lstStyle/>
                    <a:p>
                      <a:pPr algn="l"/>
                      <a:r>
                        <a:rPr sz="1050" b="0" i="0">
                          <a:solidFill>
                            <a:srgbClr val="000000"/>
                          </a:solidFill>
                          <a:latin typeface="Calibri"/>
                        </a:rPr>
                        <a:t>Table 105: Global Market Value by Region, US$ Mn, 2021–2036</a:t>
                      </a:r>
                      <a:endParaRPr sz="1050"/>
                    </a:p>
                  </a:txBody>
                  <a:tcPr marL="9525" marR="9525" marT="9525" marB="0" anchor="ctr"/>
                </a:tc>
              </a:tr>
              <a:tr h="175260">
                <a:tc>
                  <a:txBody>
                    <a:bodyPr wrap="square"/>
                    <a:lstStyle/>
                    <a:p>
                      <a:pPr algn="l"/>
                      <a:r>
                        <a:rPr sz="1050" b="0" i="0">
                          <a:solidFill>
                            <a:srgbClr val="000000"/>
                          </a:solidFill>
                          <a:latin typeface="Calibri"/>
                        </a:rPr>
                        <a:t>Table 106: Global Market CAGR and Absolute $ Opportunity by Region, %, US$ Mn, 2026–2036</a:t>
                      </a:r>
                      <a:endParaRPr sz="1050"/>
                    </a:p>
                  </a:txBody>
                  <a:tcPr marL="9525" marR="9525" marT="9525" marB="0" anchor="ctr"/>
                </a:tc>
              </a:tr>
              <a:tr h="175260">
                <a:tc>
                  <a:txBody>
                    <a:bodyPr wrap="square"/>
                    <a:lstStyle/>
                    <a:p>
                      <a:pPr algn="l"/>
                      <a:r>
                        <a:rPr sz="1050" b="0" i="0">
                          <a:solidFill>
                            <a:srgbClr val="000000"/>
                          </a:solidFill>
                          <a:latin typeface="Calibri"/>
                        </a:rPr>
                        <a:t>Table 107: Global Market Share and BPS Change by Region, %, 2026 and 2036</a:t>
                      </a:r>
                      <a:endParaRPr sz="1050"/>
                    </a:p>
                  </a:txBody>
                  <a:tcPr marL="9525" marR="9525" marT="9525" marB="0" anchor="ctr"/>
                </a:tc>
              </a:tr>
              <a:tr h="175260">
                <a:tc>
                  <a:txBody>
                    <a:bodyPr wrap="square"/>
                    <a:lstStyle/>
                    <a:p>
                      <a:pPr algn="l"/>
                      <a:r>
                        <a:rPr sz="1050" b="0" i="0">
                          <a:solidFill>
                            <a:srgbClr val="000000"/>
                          </a:solidFill>
                          <a:latin typeface="Calibri"/>
                        </a:rPr>
                        <a:t>Table 108: Global Market Volume by Region, Units, 2021–2036</a:t>
                      </a:r>
                      <a:endParaRPr sz="1050"/>
                    </a:p>
                  </a:txBody>
                  <a:tcPr marL="9525" marR="9525" marT="9525" marB="0" anchor="ctr"/>
                </a:tc>
              </a:tr>
              <a:tr h="175260">
                <a:tc>
                  <a:txBody>
                    <a:bodyPr wrap="square"/>
                    <a:lstStyle/>
                    <a:p>
                      <a:pPr algn="l"/>
                      <a:r>
                        <a:rPr sz="1050" b="0" i="0">
                          <a:solidFill>
                            <a:srgbClr val="000000"/>
                          </a:solidFill>
                          <a:latin typeface="Calibri"/>
                        </a:rPr>
                        <a:t>Table 109: North America Market Value by Country, US$ Mn, 2021–2036</a:t>
                      </a:r>
                      <a:endParaRPr sz="1050"/>
                    </a:p>
                  </a:txBody>
                  <a:tcPr marL="9525" marR="9525" marT="9525" marB="0" anchor="ctr"/>
                </a:tc>
              </a:tr>
              <a:tr h="175260">
                <a:tc>
                  <a:txBody>
                    <a:bodyPr wrap="square"/>
                    <a:lstStyle/>
                    <a:p>
                      <a:pPr algn="l"/>
                      <a:r>
                        <a:rPr sz="1050" b="0" i="0">
                          <a:solidFill>
                            <a:srgbClr val="000000"/>
                          </a:solidFill>
                          <a:latin typeface="Calibri"/>
                        </a:rPr>
                        <a:t>Table 110: Latin America Market Value by Country, US$ Mn, 2021–2036</a:t>
                      </a:r>
                      <a:endParaRPr sz="1050"/>
                    </a:p>
                  </a:txBody>
                  <a:tcPr marL="9525" marR="9525" marT="9525" marB="0" anchor="ctr"/>
                </a:tc>
              </a:tr>
              <a:tr h="175260">
                <a:tc>
                  <a:txBody>
                    <a:bodyPr wrap="square"/>
                    <a:lstStyle/>
                    <a:p>
                      <a:pPr algn="l"/>
                      <a:r>
                        <a:rPr sz="1050" b="0" i="0">
                          <a:solidFill>
                            <a:srgbClr val="000000"/>
                          </a:solidFill>
                          <a:latin typeface="Calibri"/>
                        </a:rPr>
                        <a:t>Table 111: East Asia Market Value by Country, US$ Mn, 2021–2036</a:t>
                      </a:r>
                      <a:endParaRPr sz="1050"/>
                    </a:p>
                  </a:txBody>
                  <a:tcPr marL="9525" marR="9525" marT="9525" marB="0" anchor="ctr"/>
                </a:tc>
              </a:tr>
              <a:tr h="175260">
                <a:tc>
                  <a:txBody>
                    <a:bodyPr wrap="square"/>
                    <a:lstStyle/>
                    <a:p>
                      <a:pPr algn="l"/>
                      <a:r>
                        <a:rPr sz="1050" b="0" i="0">
                          <a:solidFill>
                            <a:srgbClr val="000000"/>
                          </a:solidFill>
                          <a:latin typeface="Calibri"/>
                        </a:rPr>
                        <a:t>Table 112: South Asia &amp; Pacific Market Value by Country, US$ Mn, 2021–2036</a:t>
                      </a:r>
                      <a:endParaRPr sz="1050"/>
                    </a:p>
                  </a:txBody>
                  <a:tcPr marL="9525" marR="9525" marT="9525" marB="0" anchor="ctr"/>
                </a:tc>
              </a:tr>
              <a:tr h="175260">
                <a:tc>
                  <a:txBody>
                    <a:bodyPr wrap="square"/>
                    <a:lstStyle/>
                    <a:p>
                      <a:pPr algn="l"/>
                      <a:r>
                        <a:rPr sz="1050" b="0" i="0">
                          <a:solidFill>
                            <a:srgbClr val="000000"/>
                          </a:solidFill>
                          <a:latin typeface="Calibri"/>
                        </a:rPr>
                        <a:t>Table 113: Western Europe Market Value by Country, US$ Mn, 2021–2036</a:t>
                      </a:r>
                      <a:endParaRPr sz="1050"/>
                    </a:p>
                  </a:txBody>
                  <a:tcPr marL="9525" marR="9525" marT="9525" marB="0" anchor="ctr"/>
                </a:tc>
              </a:tr>
              <a:tr h="175260">
                <a:tc>
                  <a:txBody>
                    <a:bodyPr wrap="square"/>
                    <a:lstStyle/>
                    <a:p>
                      <a:pPr algn="l"/>
                      <a:r>
                        <a:rPr sz="1050" b="0" i="0">
                          <a:solidFill>
                            <a:srgbClr val="000000"/>
                          </a:solidFill>
                          <a:latin typeface="Calibri"/>
                        </a:rPr>
                        <a:t>Table 114: Eastern Europe Market Value by Country, US$ Mn, 2021–2036</a:t>
                      </a:r>
                      <a:endParaRPr sz="1050"/>
                    </a:p>
                  </a:txBody>
                  <a:tcPr marL="9525" marR="9525" marT="9525" marB="0" anchor="ctr"/>
                </a:tc>
              </a:tr>
              <a:tr h="175260">
                <a:tc>
                  <a:txBody>
                    <a:bodyPr wrap="square"/>
                    <a:lstStyle/>
                    <a:p>
                      <a:pPr algn="l"/>
                      <a:r>
                        <a:rPr sz="1050" b="0" i="0">
                          <a:solidFill>
                            <a:srgbClr val="000000"/>
                          </a:solidFill>
                          <a:latin typeface="Calibri"/>
                        </a:rPr>
                        <a:t>Table 115: Middle East &amp; Africa Market Value by Country, US$ Mn, 2021–2036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(3/4)</a:t>
            </a:r>
          </a:p>
        </p:txBody>
      </p:sp>
      <p:graphicFrame>
        <p:nvGraphicFramePr>
          <p:cNvPr id="9" name="FMI Contents Table"/>
          <p:cNvGraphicFramePr>
            <a:graphicFrameLocks noGrp="1"/>
          </p:cNvGraphicFramePr>
          <p:nvPr/>
        </p:nvGraphicFramePr>
        <p:xfrm>
          <a:off x="142875" y="981075"/>
          <a:ext cx="5876925" cy="5257803"/>
        </p:xfrm>
        <a:graphic>
          <a:graphicData uri="http://schemas.openxmlformats.org/drawingml/2006/table">
            <a:tbl>
              <a:tblPr>
                <a:tableStyleId>{3B4B98B0-60AC-42C2-AFA5-B58CD77FA1E5}</a:tableStyleId>
              </a:tblPr>
              <a:tblGrid>
                <a:gridCol w="5876925"/>
              </a:tblGrid>
              <a:tr h="334587">
                <a:tc>
                  <a:txBody>
                    <a:bodyPr wrap="square"/>
                    <a:lstStyle/>
                    <a:p>
                      <a:pPr algn="l"/>
                      <a:r>
                        <a:rPr sz="1050" b="0" i="0">
                          <a:solidFill>
                            <a:srgbClr val="000000"/>
                          </a:solidFill>
                          <a:latin typeface="Calibri"/>
                        </a:rPr>
                        <a:t>Table 116: North America Market CAGR and Absolute $ Opportunity by Country, %, US$ Mn, 2026–2036</a:t>
                      </a:r>
                      <a:endParaRPr sz="1050"/>
                    </a:p>
                  </a:txBody>
                  <a:tcPr marL="9525" marR="9525" marT="9525" marB="0" anchor="ctr"/>
                </a:tc>
              </a:tr>
              <a:tr h="170708">
                <a:tc>
                  <a:txBody>
                    <a:bodyPr wrap="square"/>
                    <a:lstStyle/>
                    <a:p>
                      <a:pPr algn="l"/>
                      <a:r>
                        <a:rPr sz="1050" b="0" i="0">
                          <a:solidFill>
                            <a:srgbClr val="000000"/>
                          </a:solidFill>
                          <a:latin typeface="Calibri"/>
                        </a:rPr>
                        <a:t>Table 117: Latin America Market CAGR and Absolute $ Opportunity by Country, %, US$ Mn, 2026–2036</a:t>
                      </a:r>
                      <a:endParaRPr sz="1050"/>
                    </a:p>
                  </a:txBody>
                  <a:tcPr marL="9525" marR="9525" marT="9525" marB="0" anchor="ctr"/>
                </a:tc>
              </a:tr>
              <a:tr h="170708">
                <a:tc>
                  <a:txBody>
                    <a:bodyPr wrap="square"/>
                    <a:lstStyle/>
                    <a:p>
                      <a:pPr algn="l"/>
                      <a:r>
                        <a:rPr sz="1050" b="0" i="0">
                          <a:solidFill>
                            <a:srgbClr val="000000"/>
                          </a:solidFill>
                          <a:latin typeface="Calibri"/>
                        </a:rPr>
                        <a:t>Table 118: East Asia Market CAGR and Absolute $ Opportunity by Country, %, US$ Mn, 2026–2036</a:t>
                      </a:r>
                      <a:endParaRPr sz="1050"/>
                    </a:p>
                  </a:txBody>
                  <a:tcPr marL="9525" marR="9525" marT="9525" marB="0" anchor="ctr"/>
                </a:tc>
              </a:tr>
              <a:tr h="334587">
                <a:tc>
                  <a:txBody>
                    <a:bodyPr wrap="square"/>
                    <a:lstStyle/>
                    <a:p>
                      <a:pPr algn="l"/>
                      <a:r>
                        <a:rPr sz="1050" b="0" i="0">
                          <a:solidFill>
                            <a:srgbClr val="000000"/>
                          </a:solidFill>
                          <a:latin typeface="Calibri"/>
                        </a:rPr>
                        <a:t>Table 119: South Asia &amp; Pacific Market CAGR and Absolute $ Opportunity by Country, %, US$ Mn, 2026–2036</a:t>
                      </a:r>
                      <a:endParaRPr sz="1050"/>
                    </a:p>
                  </a:txBody>
                  <a:tcPr marL="9525" marR="9525" marT="9525" marB="0" anchor="ctr"/>
                </a:tc>
              </a:tr>
              <a:tr h="334587">
                <a:tc>
                  <a:txBody>
                    <a:bodyPr wrap="square"/>
                    <a:lstStyle/>
                    <a:p>
                      <a:pPr algn="l"/>
                      <a:r>
                        <a:rPr sz="1050" b="0" i="0">
                          <a:solidFill>
                            <a:srgbClr val="000000"/>
                          </a:solidFill>
                          <a:latin typeface="Calibri"/>
                        </a:rPr>
                        <a:t>Table 120: Western Europe Market CAGR and Absolute $ Opportunity by Country, %, US$ Mn, 2026–2036</a:t>
                      </a:r>
                      <a:endParaRPr sz="1050"/>
                    </a:p>
                  </a:txBody>
                  <a:tcPr marL="9525" marR="9525" marT="9525" marB="0" anchor="ctr"/>
                </a:tc>
              </a:tr>
              <a:tr h="334587">
                <a:tc>
                  <a:txBody>
                    <a:bodyPr wrap="square"/>
                    <a:lstStyle/>
                    <a:p>
                      <a:pPr algn="l"/>
                      <a:r>
                        <a:rPr sz="1050" b="0" i="0">
                          <a:solidFill>
                            <a:srgbClr val="000000"/>
                          </a:solidFill>
                          <a:latin typeface="Calibri"/>
                        </a:rPr>
                        <a:t>Table 121: Eastern Europe Market CAGR and Absolute $ Opportunity by Country, %, US$ Mn, 2026–2036</a:t>
                      </a:r>
                      <a:endParaRPr sz="1050"/>
                    </a:p>
                  </a:txBody>
                  <a:tcPr marL="9525" marR="9525" marT="9525" marB="0" anchor="ctr"/>
                </a:tc>
              </a:tr>
              <a:tr h="334587">
                <a:tc>
                  <a:txBody>
                    <a:bodyPr wrap="square"/>
                    <a:lstStyle/>
                    <a:p>
                      <a:pPr algn="l"/>
                      <a:r>
                        <a:rPr sz="1050" b="0" i="0">
                          <a:solidFill>
                            <a:srgbClr val="000000"/>
                          </a:solidFill>
                          <a:latin typeface="Calibri"/>
                        </a:rPr>
                        <a:t>Table 122: Middle East &amp; Africa Market CAGR and Absolute $ Opportunity by Country, %, US$ Mn, 2026–2036</a:t>
                      </a:r>
                      <a:endParaRPr sz="1050"/>
                    </a:p>
                  </a:txBody>
                  <a:tcPr marL="9525" marR="9525" marT="9525" marB="0" anchor="ctr"/>
                </a:tc>
              </a:tr>
              <a:tr h="170708">
                <a:tc>
                  <a:txBody>
                    <a:bodyPr wrap="square"/>
                    <a:lstStyle/>
                    <a:p>
                      <a:pPr algn="l"/>
                      <a:r>
                        <a:rPr sz="1050" b="0" i="0">
                          <a:solidFill>
                            <a:srgbClr val="000000"/>
                          </a:solidFill>
                          <a:latin typeface="Calibri"/>
                        </a:rPr>
                        <a:t>Table 123: North America Market Value by Product Type / Chemistry, US$ Mn, 2021–2036</a:t>
                      </a:r>
                      <a:endParaRPr sz="1050"/>
                    </a:p>
                  </a:txBody>
                  <a:tcPr marL="9525" marR="9525" marT="9525" marB="0" anchor="ctr"/>
                </a:tc>
              </a:tr>
              <a:tr h="170708">
                <a:tc>
                  <a:txBody>
                    <a:bodyPr wrap="square"/>
                    <a:lstStyle/>
                    <a:p>
                      <a:pPr algn="l"/>
                      <a:r>
                        <a:rPr sz="1050" b="0" i="0">
                          <a:solidFill>
                            <a:srgbClr val="000000"/>
                          </a:solidFill>
                          <a:latin typeface="Calibri"/>
                        </a:rPr>
                        <a:t>Table 124: Latin America Market Value by Product Type / Chemistry, US$ Mn, 2021–2036</a:t>
                      </a:r>
                      <a:endParaRPr sz="1050"/>
                    </a:p>
                  </a:txBody>
                  <a:tcPr marL="9525" marR="9525" marT="9525" marB="0" anchor="ctr"/>
                </a:tc>
              </a:tr>
              <a:tr h="170708">
                <a:tc>
                  <a:txBody>
                    <a:bodyPr wrap="square"/>
                    <a:lstStyle/>
                    <a:p>
                      <a:pPr algn="l"/>
                      <a:r>
                        <a:rPr sz="1050" b="0" i="0">
                          <a:solidFill>
                            <a:srgbClr val="000000"/>
                          </a:solidFill>
                          <a:latin typeface="Calibri"/>
                        </a:rPr>
                        <a:t>Table 125: East Asia Market Value by Product Type / Chemistry, US$ Mn, 2021–2036</a:t>
                      </a:r>
                      <a:endParaRPr sz="1050"/>
                    </a:p>
                  </a:txBody>
                  <a:tcPr marL="9525" marR="9525" marT="9525" marB="0" anchor="ctr"/>
                </a:tc>
              </a:tr>
              <a:tr h="170708">
                <a:tc>
                  <a:txBody>
                    <a:bodyPr wrap="square"/>
                    <a:lstStyle/>
                    <a:p>
                      <a:pPr algn="l"/>
                      <a:r>
                        <a:rPr sz="1050" b="0" i="0">
                          <a:solidFill>
                            <a:srgbClr val="000000"/>
                          </a:solidFill>
                          <a:latin typeface="Calibri"/>
                        </a:rPr>
                        <a:t>Table 126: South Asia &amp; Pacific Market Value by Product Type / Chemistry, US$ Mn, 2021–2036</a:t>
                      </a:r>
                      <a:endParaRPr sz="1050"/>
                    </a:p>
                  </a:txBody>
                  <a:tcPr marL="9525" marR="9525" marT="9525" marB="0" anchor="ctr"/>
                </a:tc>
              </a:tr>
              <a:tr h="170708">
                <a:tc>
                  <a:txBody>
                    <a:bodyPr wrap="square"/>
                    <a:lstStyle/>
                    <a:p>
                      <a:pPr algn="l"/>
                      <a:r>
                        <a:rPr sz="1050" b="0" i="0">
                          <a:solidFill>
                            <a:srgbClr val="000000"/>
                          </a:solidFill>
                          <a:latin typeface="Calibri"/>
                        </a:rPr>
                        <a:t>Table 127: Western Europe Market Value by Product Type / Chemistry, US$ Mn, 2021–2036</a:t>
                      </a:r>
                      <a:endParaRPr sz="1050"/>
                    </a:p>
                  </a:txBody>
                  <a:tcPr marL="9525" marR="9525" marT="9525" marB="0" anchor="ctr"/>
                </a:tc>
              </a:tr>
              <a:tr h="170708">
                <a:tc>
                  <a:txBody>
                    <a:bodyPr wrap="square"/>
                    <a:lstStyle/>
                    <a:p>
                      <a:pPr algn="l"/>
                      <a:r>
                        <a:rPr sz="1050" b="0" i="0">
                          <a:solidFill>
                            <a:srgbClr val="000000"/>
                          </a:solidFill>
                          <a:latin typeface="Calibri"/>
                        </a:rPr>
                        <a:t>Table 128: Eastern Europe Market Value by Product Type / Chemistry, US$ Mn, 2021–2036</a:t>
                      </a:r>
                      <a:endParaRPr sz="1050"/>
                    </a:p>
                  </a:txBody>
                  <a:tcPr marL="9525" marR="9525" marT="9525" marB="0" anchor="ctr"/>
                </a:tc>
              </a:tr>
              <a:tr h="170708">
                <a:tc>
                  <a:txBody>
                    <a:bodyPr wrap="square"/>
                    <a:lstStyle/>
                    <a:p>
                      <a:pPr algn="l"/>
                      <a:r>
                        <a:rPr sz="1050" b="0" i="0">
                          <a:solidFill>
                            <a:srgbClr val="000000"/>
                          </a:solidFill>
                          <a:latin typeface="Calibri"/>
                        </a:rPr>
                        <a:t>Table 129: Middle East &amp; Africa Market Value by Product Type / Chemistry, US$ Mn, 2021–2036</a:t>
                      </a:r>
                      <a:endParaRPr sz="1050"/>
                    </a:p>
                  </a:txBody>
                  <a:tcPr marL="9525" marR="9525" marT="9525" marB="0" anchor="ctr"/>
                </a:tc>
              </a:tr>
              <a:tr h="170708">
                <a:tc>
                  <a:txBody>
                    <a:bodyPr wrap="square"/>
                    <a:lstStyle/>
                    <a:p>
                      <a:pPr algn="l"/>
                      <a:r>
                        <a:rPr sz="1050" b="0" i="0">
                          <a:solidFill>
                            <a:srgbClr val="000000"/>
                          </a:solidFill>
                          <a:latin typeface="Calibri"/>
                        </a:rPr>
                        <a:t>Table 130: U.S. Market Value by Product Type / Chemistry, US$ Mn, 2021–2036</a:t>
                      </a:r>
                      <a:endParaRPr sz="1050"/>
                    </a:p>
                  </a:txBody>
                  <a:tcPr marL="9525" marR="9525" marT="9525" marB="0" anchor="ctr"/>
                </a:tc>
              </a:tr>
              <a:tr h="170708">
                <a:tc>
                  <a:txBody>
                    <a:bodyPr wrap="square"/>
                    <a:lstStyle/>
                    <a:p>
                      <a:pPr algn="l"/>
                      <a:r>
                        <a:rPr sz="1050" b="0" i="0">
                          <a:solidFill>
                            <a:srgbClr val="000000"/>
                          </a:solidFill>
                          <a:latin typeface="Calibri"/>
                        </a:rPr>
                        <a:t>Table 131: U.S. Market Historical and Forecast Growth, %, 2021–2036</a:t>
                      </a:r>
                      <a:endParaRPr sz="1050"/>
                    </a:p>
                  </a:txBody>
                  <a:tcPr marL="9525" marR="9525" marT="9525" marB="0" anchor="ctr"/>
                </a:tc>
              </a:tr>
              <a:tr h="170708">
                <a:tc>
                  <a:txBody>
                    <a:bodyPr wrap="square"/>
                    <a:lstStyle/>
                    <a:p>
                      <a:pPr algn="l"/>
                      <a:r>
                        <a:rPr sz="1050" b="0" i="0">
                          <a:solidFill>
                            <a:srgbClr val="000000"/>
                          </a:solidFill>
                          <a:latin typeface="Calibri"/>
                        </a:rPr>
                        <a:t>Table 132: U.S. Market Value by Application, US$ Mn, 2021–2036</a:t>
                      </a:r>
                      <a:endParaRPr sz="1050"/>
                    </a:p>
                  </a:txBody>
                  <a:tcPr marL="9525" marR="9525" marT="9525" marB="0" anchor="ctr"/>
                </a:tc>
              </a:tr>
              <a:tr h="170708">
                <a:tc>
                  <a:txBody>
                    <a:bodyPr wrap="square"/>
                    <a:lstStyle/>
                    <a:p>
                      <a:pPr algn="l"/>
                      <a:r>
                        <a:rPr sz="1050" b="0" i="0">
                          <a:solidFill>
                            <a:srgbClr val="000000"/>
                          </a:solidFill>
                          <a:latin typeface="Calibri"/>
                        </a:rPr>
                        <a:t>Table 133: U.S. Market Share within North America, %, 2025, 2026 and 2036</a:t>
                      </a:r>
                      <a:endParaRPr sz="1050"/>
                    </a:p>
                  </a:txBody>
                  <a:tcPr marL="9525" marR="9525" marT="9525" marB="0" anchor="ctr"/>
                </a:tc>
              </a:tr>
              <a:tr h="170708">
                <a:tc>
                  <a:txBody>
                    <a:bodyPr wrap="square"/>
                    <a:lstStyle/>
                    <a:p>
                      <a:pPr algn="l"/>
                      <a:r>
                        <a:rPr sz="1050" b="0" i="0">
                          <a:solidFill>
                            <a:srgbClr val="000000"/>
                          </a:solidFill>
                          <a:latin typeface="Calibri"/>
                        </a:rPr>
                        <a:t>Table 134: U.S. Market Value by Product Configuration, US$ Mn, 2021–2036</a:t>
                      </a:r>
                      <a:endParaRPr sz="1050"/>
                    </a:p>
                  </a:txBody>
                  <a:tcPr marL="9525" marR="9525" marT="9525" marB="0" anchor="ctr"/>
                </a:tc>
              </a:tr>
              <a:tr h="170708">
                <a:tc>
                  <a:txBody>
                    <a:bodyPr wrap="square"/>
                    <a:lstStyle/>
                    <a:p>
                      <a:pPr algn="l"/>
                      <a:r>
                        <a:rPr sz="1050" b="0" i="0">
                          <a:solidFill>
                            <a:srgbClr val="000000"/>
                          </a:solidFill>
                          <a:latin typeface="Calibri"/>
                        </a:rPr>
                        <a:t>Table 135: U.S. Market Value by Technology, US$ Mn, 2021–2036</a:t>
                      </a:r>
                      <a:endParaRPr sz="1050"/>
                    </a:p>
                  </a:txBody>
                  <a:tcPr marL="9525" marR="9525" marT="9525" marB="0" anchor="ctr"/>
                </a:tc>
              </a:tr>
              <a:tr h="170708">
                <a:tc>
                  <a:txBody>
                    <a:bodyPr wrap="square"/>
                    <a:lstStyle/>
                    <a:p>
                      <a:pPr algn="l"/>
                      <a:r>
                        <a:rPr sz="1050" b="0" i="0">
                          <a:solidFill>
                            <a:srgbClr val="000000"/>
                          </a:solidFill>
                          <a:latin typeface="Calibri"/>
                        </a:rPr>
                        <a:t>Table 136: U.S. Market Value by Substrate Material, US$ Mn, 2021–2036</a:t>
                      </a:r>
                      <a:endParaRPr sz="1050"/>
                    </a:p>
                  </a:txBody>
                  <a:tcPr marL="9525" marR="9525" marT="9525" marB="0" anchor="ctr"/>
                </a:tc>
              </a:tr>
              <a:tr h="170708">
                <a:tc>
                  <a:txBody>
                    <a:bodyPr wrap="square"/>
                    <a:lstStyle/>
                    <a:p>
                      <a:pPr algn="l"/>
                      <a:r>
                        <a:rPr sz="1050" b="0" i="0">
                          <a:solidFill>
                            <a:srgbClr val="000000"/>
                          </a:solidFill>
                          <a:latin typeface="Calibri"/>
                        </a:rPr>
                        <a:t>Table 137: U.S. Market Value by Distribution Channel, US$ Mn, 2021–2036</a:t>
                      </a:r>
                      <a:endParaRPr sz="1050"/>
                    </a:p>
                  </a:txBody>
                  <a:tcPr marL="9525" marR="9525" marT="9525" marB="0" anchor="ctr"/>
                </a:tc>
              </a:tr>
              <a:tr h="170708">
                <a:tc>
                  <a:txBody>
                    <a:bodyPr wrap="square"/>
                    <a:lstStyle/>
                    <a:p>
                      <a:pPr algn="l"/>
                      <a:r>
                        <a:rPr sz="1050" b="0" i="0">
                          <a:solidFill>
                            <a:srgbClr val="000000"/>
                          </a:solidFill>
                          <a:latin typeface="Calibri"/>
                        </a:rPr>
                        <a:t>Table 138: Canada Market Value by Product Type / Chemistry, US$ Mn, 2021–2036</a:t>
                      </a:r>
                      <a:endParaRPr sz="1050"/>
                    </a:p>
                  </a:txBody>
                  <a:tcPr marL="9525" marR="9525" marT="9525" marB="0" anchor="ctr"/>
                </a:tc>
              </a:tr>
              <a:tr h="170708">
                <a:tc>
                  <a:txBody>
                    <a:bodyPr wrap="square"/>
                    <a:lstStyle/>
                    <a:p>
                      <a:pPr algn="l"/>
                      <a:r>
                        <a:rPr sz="1050" b="0" i="0">
                          <a:solidFill>
                            <a:srgbClr val="000000"/>
                          </a:solidFill>
                          <a:latin typeface="Calibri"/>
                        </a:rPr>
                        <a:t>Table 139: Canada Market Historical and Forecast Growth, %, 2021–2036</a:t>
                      </a:r>
                      <a:endParaRPr sz="1050"/>
                    </a:p>
                  </a:txBody>
                  <a:tcPr marL="9525" marR="9525" marT="9525" marB="0" anchor="ctr"/>
                </a:tc>
              </a:tr>
              <a:tr h="170708">
                <a:tc>
                  <a:txBody>
                    <a:bodyPr wrap="square"/>
                    <a:lstStyle/>
                    <a:p>
                      <a:pPr algn="l"/>
                      <a:r>
                        <a:rPr sz="1050" b="0" i="0">
                          <a:solidFill>
                            <a:srgbClr val="000000"/>
                          </a:solidFill>
                          <a:latin typeface="Calibri"/>
                        </a:rPr>
                        <a:t>Table 140: Canada Market Value by Application, US$ Mn, 2021–2036</a:t>
                      </a:r>
                      <a:endParaRPr sz="1050"/>
                    </a:p>
                  </a:txBody>
                  <a:tcPr marL="9525" marR="9525" marT="9525" marB="0" anchor="ctr"/>
                </a:tc>
              </a:tr>
              <a:tr h="170708">
                <a:tc>
                  <a:txBody>
                    <a:bodyPr wrap="square"/>
                    <a:lstStyle/>
                    <a:p>
                      <a:pPr algn="l"/>
                      <a:r>
                        <a:rPr sz="1050" b="0" i="0">
                          <a:solidFill>
                            <a:srgbClr val="000000"/>
                          </a:solidFill>
                          <a:latin typeface="Calibri"/>
                        </a:rPr>
                        <a:t>Table 141: Canada Market Share within North America, %, 2025, 2026 and 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12"/>
        </p:xfrm>
        <a:graphic>
          <a:graphicData uri="http://schemas.openxmlformats.org/drawingml/2006/table">
            <a:tbl>
              <a:tblPr>
                <a:tableStyleId>{3B4B98B0-60AC-42C2-AFA5-B58CD77FA1E5}</a:tableStyleId>
              </a:tblPr>
              <a:tblGrid>
                <a:gridCol w="5876925"/>
              </a:tblGrid>
              <a:tr h="169826">
                <a:tc>
                  <a:txBody>
                    <a:bodyPr wrap="square"/>
                    <a:lstStyle/>
                    <a:p>
                      <a:pPr algn="l"/>
                      <a:r>
                        <a:rPr sz="1050" b="0" i="0">
                          <a:solidFill>
                            <a:srgbClr val="000000"/>
                          </a:solidFill>
                          <a:latin typeface="Calibri"/>
                        </a:rPr>
                        <a:t>Table 142: Canada Market Value by Product Configuration, US$ Mn, 2021–2036</a:t>
                      </a:r>
                      <a:endParaRPr sz="1050"/>
                    </a:p>
                  </a:txBody>
                  <a:tcPr marL="9525" marR="9525" marT="9525" marB="0" anchor="ctr"/>
                </a:tc>
              </a:tr>
              <a:tr h="169826">
                <a:tc>
                  <a:txBody>
                    <a:bodyPr wrap="square"/>
                    <a:lstStyle/>
                    <a:p>
                      <a:pPr algn="l"/>
                      <a:r>
                        <a:rPr sz="1050" b="0" i="0">
                          <a:solidFill>
                            <a:srgbClr val="000000"/>
                          </a:solidFill>
                          <a:latin typeface="Calibri"/>
                        </a:rPr>
                        <a:t>Table 143: Canada Market Value by Technology, US$ Mn, 2021–2036</a:t>
                      </a:r>
                      <a:endParaRPr sz="1050"/>
                    </a:p>
                  </a:txBody>
                  <a:tcPr marL="9525" marR="9525" marT="9525" marB="0" anchor="ctr"/>
                </a:tc>
              </a:tr>
              <a:tr h="169826">
                <a:tc>
                  <a:txBody>
                    <a:bodyPr wrap="square"/>
                    <a:lstStyle/>
                    <a:p>
                      <a:pPr algn="l"/>
                      <a:r>
                        <a:rPr sz="1050" b="0" i="0">
                          <a:solidFill>
                            <a:srgbClr val="000000"/>
                          </a:solidFill>
                          <a:latin typeface="Calibri"/>
                        </a:rPr>
                        <a:t>Table 144: Canada Market Value by Substrate Material, US$ Mn, 2021–2036</a:t>
                      </a:r>
                      <a:endParaRPr sz="1050"/>
                    </a:p>
                  </a:txBody>
                  <a:tcPr marL="9525" marR="9525" marT="9525" marB="0" anchor="ctr"/>
                </a:tc>
              </a:tr>
              <a:tr h="169826">
                <a:tc>
                  <a:txBody>
                    <a:bodyPr wrap="square"/>
                    <a:lstStyle/>
                    <a:p>
                      <a:pPr algn="l"/>
                      <a:r>
                        <a:rPr sz="1050" b="0" i="0">
                          <a:solidFill>
                            <a:srgbClr val="000000"/>
                          </a:solidFill>
                          <a:latin typeface="Calibri"/>
                        </a:rPr>
                        <a:t>Table 145: Canada Market Value by Distribution Channel, US$ Mn, 2021–2036</a:t>
                      </a:r>
                      <a:endParaRPr sz="1050"/>
                    </a:p>
                  </a:txBody>
                  <a:tcPr marL="9525" marR="9525" marT="9525" marB="0" anchor="ctr"/>
                </a:tc>
              </a:tr>
              <a:tr h="169826">
                <a:tc>
                  <a:txBody>
                    <a:bodyPr wrap="square"/>
                    <a:lstStyle/>
                    <a:p>
                      <a:pPr algn="l"/>
                      <a:r>
                        <a:rPr sz="1050" b="0" i="0">
                          <a:solidFill>
                            <a:srgbClr val="000000"/>
                          </a:solidFill>
                          <a:latin typeface="Calibri"/>
                        </a:rPr>
                        <a:t>Table 146: India Market Value by Product Type / Chemistry, US$ Mn, 2021–2036</a:t>
                      </a:r>
                      <a:endParaRPr sz="1050"/>
                    </a:p>
                  </a:txBody>
                  <a:tcPr marL="9525" marR="9525" marT="9525" marB="0" anchor="ctr"/>
                </a:tc>
              </a:tr>
              <a:tr h="169826">
                <a:tc>
                  <a:txBody>
                    <a:bodyPr wrap="square"/>
                    <a:lstStyle/>
                    <a:p>
                      <a:pPr algn="l"/>
                      <a:r>
                        <a:rPr sz="1050" b="0" i="0">
                          <a:solidFill>
                            <a:srgbClr val="000000"/>
                          </a:solidFill>
                          <a:latin typeface="Calibri"/>
                        </a:rPr>
                        <a:t>Table 147: India Market Historical and Forecast Growth, %, 2021–2036</a:t>
                      </a:r>
                      <a:endParaRPr sz="1050"/>
                    </a:p>
                  </a:txBody>
                  <a:tcPr marL="9525" marR="9525" marT="9525" marB="0" anchor="ctr"/>
                </a:tc>
              </a:tr>
              <a:tr h="169826">
                <a:tc>
                  <a:txBody>
                    <a:bodyPr wrap="square"/>
                    <a:lstStyle/>
                    <a:p>
                      <a:pPr algn="l"/>
                      <a:r>
                        <a:rPr sz="1050" b="0" i="0">
                          <a:solidFill>
                            <a:srgbClr val="000000"/>
                          </a:solidFill>
                          <a:latin typeface="Calibri"/>
                        </a:rPr>
                        <a:t>Table 148: India Market Value by Application, US$ Mn, 2021–2036</a:t>
                      </a:r>
                      <a:endParaRPr sz="1050"/>
                    </a:p>
                  </a:txBody>
                  <a:tcPr marL="9525" marR="9525" marT="9525" marB="0" anchor="ctr"/>
                </a:tc>
              </a:tr>
              <a:tr h="169826">
                <a:tc>
                  <a:txBody>
                    <a:bodyPr wrap="square"/>
                    <a:lstStyle/>
                    <a:p>
                      <a:pPr algn="l"/>
                      <a:r>
                        <a:rPr sz="1050" b="0" i="0">
                          <a:solidFill>
                            <a:srgbClr val="000000"/>
                          </a:solidFill>
                          <a:latin typeface="Calibri"/>
                        </a:rPr>
                        <a:t>Table 149: India Market Share within South Asia &amp; Pacific, %, 2025, 2026 and 2036</a:t>
                      </a:r>
                      <a:endParaRPr sz="1050"/>
                    </a:p>
                  </a:txBody>
                  <a:tcPr marL="9525" marR="9525" marT="9525" marB="0" anchor="ctr"/>
                </a:tc>
              </a:tr>
              <a:tr h="169826">
                <a:tc>
                  <a:txBody>
                    <a:bodyPr wrap="square"/>
                    <a:lstStyle/>
                    <a:p>
                      <a:pPr algn="l"/>
                      <a:r>
                        <a:rPr sz="1050" b="0" i="0">
                          <a:solidFill>
                            <a:srgbClr val="000000"/>
                          </a:solidFill>
                          <a:latin typeface="Calibri"/>
                        </a:rPr>
                        <a:t>Table 150: India Market Value by Product Configuration, US$ Mn, 2021–2036</a:t>
                      </a:r>
                      <a:endParaRPr sz="1050"/>
                    </a:p>
                  </a:txBody>
                  <a:tcPr marL="9525" marR="9525" marT="9525" marB="0" anchor="ctr"/>
                </a:tc>
              </a:tr>
              <a:tr h="169826">
                <a:tc>
                  <a:txBody>
                    <a:bodyPr wrap="square"/>
                    <a:lstStyle/>
                    <a:p>
                      <a:pPr algn="l"/>
                      <a:r>
                        <a:rPr sz="1050" b="0" i="0">
                          <a:solidFill>
                            <a:srgbClr val="000000"/>
                          </a:solidFill>
                          <a:latin typeface="Calibri"/>
                        </a:rPr>
                        <a:t>Table 151: India Market Value by Technology, US$ Mn, 2021–2036</a:t>
                      </a:r>
                      <a:endParaRPr sz="1050"/>
                    </a:p>
                  </a:txBody>
                  <a:tcPr marL="9525" marR="9525" marT="9525" marB="0" anchor="ctr"/>
                </a:tc>
              </a:tr>
              <a:tr h="169826">
                <a:tc>
                  <a:txBody>
                    <a:bodyPr wrap="square"/>
                    <a:lstStyle/>
                    <a:p>
                      <a:pPr algn="l"/>
                      <a:r>
                        <a:rPr sz="1050" b="0" i="0">
                          <a:solidFill>
                            <a:srgbClr val="000000"/>
                          </a:solidFill>
                          <a:latin typeface="Calibri"/>
                        </a:rPr>
                        <a:t>Table 152: India Market Value by Substrate Material, US$ Mn, 2021–2036</a:t>
                      </a:r>
                      <a:endParaRPr sz="1050"/>
                    </a:p>
                  </a:txBody>
                  <a:tcPr marL="9525" marR="9525" marT="9525" marB="0" anchor="ctr"/>
                </a:tc>
              </a:tr>
              <a:tr h="169826">
                <a:tc>
                  <a:txBody>
                    <a:bodyPr wrap="square"/>
                    <a:lstStyle/>
                    <a:p>
                      <a:pPr algn="l"/>
                      <a:r>
                        <a:rPr sz="1050" b="0" i="0">
                          <a:solidFill>
                            <a:srgbClr val="000000"/>
                          </a:solidFill>
                          <a:latin typeface="Calibri"/>
                        </a:rPr>
                        <a:t>Table 153: India Market Value by Distribution Channel, US$ Mn, 2021–2036</a:t>
                      </a:r>
                      <a:endParaRPr sz="1050"/>
                    </a:p>
                  </a:txBody>
                  <a:tcPr marL="9525" marR="9525" marT="9525" marB="0" anchor="ctr"/>
                </a:tc>
              </a:tr>
              <a:tr h="169826">
                <a:tc>
                  <a:txBody>
                    <a:bodyPr wrap="square"/>
                    <a:lstStyle/>
                    <a:p>
                      <a:pPr algn="l"/>
                      <a:r>
                        <a:rPr sz="1050" b="0" i="0">
                          <a:solidFill>
                            <a:srgbClr val="000000"/>
                          </a:solidFill>
                          <a:latin typeface="Calibri"/>
                        </a:rPr>
                        <a:t>Table 154: China Market Value by Product Type / Chemistry, US$ Mn, 2021–2036</a:t>
                      </a:r>
                      <a:endParaRPr sz="1050"/>
                    </a:p>
                  </a:txBody>
                  <a:tcPr marL="9525" marR="9525" marT="9525" marB="0" anchor="ctr"/>
                </a:tc>
              </a:tr>
              <a:tr h="169826">
                <a:tc>
                  <a:txBody>
                    <a:bodyPr wrap="square"/>
                    <a:lstStyle/>
                    <a:p>
                      <a:pPr algn="l"/>
                      <a:r>
                        <a:rPr sz="1050" b="0" i="0">
                          <a:solidFill>
                            <a:srgbClr val="000000"/>
                          </a:solidFill>
                          <a:latin typeface="Calibri"/>
                        </a:rPr>
                        <a:t>Table 155: China Market Historical and Forecast Growth, %, 2021–2036</a:t>
                      </a:r>
                      <a:endParaRPr sz="1050"/>
                    </a:p>
                  </a:txBody>
                  <a:tcPr marL="9525" marR="9525" marT="9525" marB="0" anchor="ctr"/>
                </a:tc>
              </a:tr>
              <a:tr h="169826">
                <a:tc>
                  <a:txBody>
                    <a:bodyPr wrap="square"/>
                    <a:lstStyle/>
                    <a:p>
                      <a:pPr algn="l"/>
                      <a:r>
                        <a:rPr sz="1050" b="0" i="0">
                          <a:solidFill>
                            <a:srgbClr val="000000"/>
                          </a:solidFill>
                          <a:latin typeface="Calibri"/>
                        </a:rPr>
                        <a:t>Table 156: China Market Value by Application, US$ Mn, 2021–2036</a:t>
                      </a:r>
                      <a:endParaRPr sz="1050"/>
                    </a:p>
                  </a:txBody>
                  <a:tcPr marL="9525" marR="9525" marT="9525" marB="0" anchor="ctr"/>
                </a:tc>
              </a:tr>
              <a:tr h="169826">
                <a:tc>
                  <a:txBody>
                    <a:bodyPr wrap="square"/>
                    <a:lstStyle/>
                    <a:p>
                      <a:pPr algn="l"/>
                      <a:r>
                        <a:rPr sz="1050" b="0" i="0">
                          <a:solidFill>
                            <a:srgbClr val="000000"/>
                          </a:solidFill>
                          <a:latin typeface="Calibri"/>
                        </a:rPr>
                        <a:t>Table 157: Brazil Market Value by Product Type / Chemistry, US$ Mn, 2021–2036</a:t>
                      </a:r>
                      <a:endParaRPr sz="1050"/>
                    </a:p>
                  </a:txBody>
                  <a:tcPr marL="9525" marR="9525" marT="9525" marB="0" anchor="ctr"/>
                </a:tc>
              </a:tr>
              <a:tr h="169826">
                <a:tc>
                  <a:txBody>
                    <a:bodyPr wrap="square"/>
                    <a:lstStyle/>
                    <a:p>
                      <a:pPr algn="l"/>
                      <a:r>
                        <a:rPr sz="1050" b="0" i="0">
                          <a:solidFill>
                            <a:srgbClr val="000000"/>
                          </a:solidFill>
                          <a:latin typeface="Calibri"/>
                        </a:rPr>
                        <a:t>Table 158: Brazil Market Historical and Forecast Growth, %, 2021–2036</a:t>
                      </a:r>
                      <a:endParaRPr sz="1050"/>
                    </a:p>
                  </a:txBody>
                  <a:tcPr marL="9525" marR="9525" marT="9525" marB="0" anchor="ctr"/>
                </a:tc>
              </a:tr>
              <a:tr h="169826">
                <a:tc>
                  <a:txBody>
                    <a:bodyPr wrap="square"/>
                    <a:lstStyle/>
                    <a:p>
                      <a:pPr algn="l"/>
                      <a:r>
                        <a:rPr sz="1050" b="0" i="0">
                          <a:solidFill>
                            <a:srgbClr val="000000"/>
                          </a:solidFill>
                          <a:latin typeface="Calibri"/>
                        </a:rPr>
                        <a:t>Table 159: Mexico Market Value by Product Type / Chemistry, US$ Mn, 2021–2036</a:t>
                      </a:r>
                      <a:endParaRPr sz="1050"/>
                    </a:p>
                  </a:txBody>
                  <a:tcPr marL="9525" marR="9525" marT="9525" marB="0" anchor="ctr"/>
                </a:tc>
              </a:tr>
              <a:tr h="169826">
                <a:tc>
                  <a:txBody>
                    <a:bodyPr wrap="square"/>
                    <a:lstStyle/>
                    <a:p>
                      <a:pPr algn="l"/>
                      <a:r>
                        <a:rPr sz="1050" b="0" i="0">
                          <a:solidFill>
                            <a:srgbClr val="000000"/>
                          </a:solidFill>
                          <a:latin typeface="Calibri"/>
                        </a:rPr>
                        <a:t>Table 160: Mexico Market Historical and Forecast Growth, %, 2021–2036</a:t>
                      </a:r>
                      <a:endParaRPr sz="1050"/>
                    </a:p>
                  </a:txBody>
                  <a:tcPr marL="9525" marR="9525" marT="9525" marB="0" anchor="ctr"/>
                </a:tc>
              </a:tr>
              <a:tr h="169826">
                <a:tc>
                  <a:txBody>
                    <a:bodyPr wrap="square"/>
                    <a:lstStyle/>
                    <a:p>
                      <a:pPr algn="l"/>
                      <a:r>
                        <a:rPr sz="1050" b="0" i="0">
                          <a:solidFill>
                            <a:srgbClr val="000000"/>
                          </a:solidFill>
                          <a:latin typeface="Calibri"/>
                        </a:rPr>
                        <a:t>Table 161: Kingdom of Saudi Arabia Market Value by Product Type / Chemistry, US$ Mn, 2021–2036</a:t>
                      </a:r>
                      <a:endParaRPr sz="1050"/>
                    </a:p>
                  </a:txBody>
                  <a:tcPr marL="9525" marR="9525" marT="9525" marB="0" anchor="ctr"/>
                </a:tc>
              </a:tr>
              <a:tr h="169826">
                <a:tc>
                  <a:txBody>
                    <a:bodyPr wrap="square"/>
                    <a:lstStyle/>
                    <a:p>
                      <a:pPr algn="l"/>
                      <a:r>
                        <a:rPr sz="1050" b="0" i="0">
                          <a:solidFill>
                            <a:srgbClr val="000000"/>
                          </a:solidFill>
                          <a:latin typeface="Calibri"/>
                        </a:rPr>
                        <a:t>Table 162: Kingdom of Saudi Arabia Market Historical and Forecast Growth, %, 2021–2036</a:t>
                      </a:r>
                      <a:endParaRPr sz="1050"/>
                    </a:p>
                  </a:txBody>
                  <a:tcPr marL="9525" marR="9525" marT="9525" marB="0" anchor="ctr"/>
                </a:tc>
              </a:tr>
              <a:tr h="332858">
                <a:tc>
                  <a:txBody>
                    <a:bodyPr wrap="square"/>
                    <a:lstStyle/>
                    <a:p>
                      <a:pPr algn="l"/>
                      <a:r>
                        <a:rPr sz="1050" b="0" i="0">
                          <a:solidFill>
                            <a:srgbClr val="000000"/>
                          </a:solidFill>
                          <a:latin typeface="Calibri"/>
                        </a:rPr>
                        <a:t>Table 163: Market Product Price Comparison by Company and Product Type / Chemistry, US$/Units, 2026</a:t>
                      </a:r>
                      <a:endParaRPr sz="1050"/>
                    </a:p>
                  </a:txBody>
                  <a:tcPr marL="9525" marR="9525" marT="9525" marB="0" anchor="ctr"/>
                </a:tc>
              </a:tr>
              <a:tr h="169826">
                <a:tc>
                  <a:txBody>
                    <a:bodyPr wrap="square"/>
                    <a:lstStyle/>
                    <a:p>
                      <a:pPr algn="l"/>
                      <a:r>
                        <a:rPr sz="1050" b="0" i="0">
                          <a:solidFill>
                            <a:srgbClr val="000000"/>
                          </a:solidFill>
                          <a:latin typeface="Calibri"/>
                        </a:rPr>
                        <a:t>Table 164: Global Market Average Selling Price by Region, US$/Units, 2021–2036</a:t>
                      </a:r>
                      <a:endParaRPr sz="1050"/>
                    </a:p>
                  </a:txBody>
                  <a:tcPr marL="9525" marR="9525" marT="9525" marB="0" anchor="ctr"/>
                </a:tc>
              </a:tr>
              <a:tr h="169826">
                <a:tc>
                  <a:txBody>
                    <a:bodyPr wrap="square"/>
                    <a:lstStyle/>
                    <a:p>
                      <a:pPr algn="l"/>
                      <a:r>
                        <a:rPr sz="1050" b="0" i="0">
                          <a:solidFill>
                            <a:srgbClr val="000000"/>
                          </a:solidFill>
                          <a:latin typeface="Calibri"/>
                        </a:rPr>
                        <a:t>Table 165: Global Market Average Selling Price by Product Type / Chemistry, US$/Units, 2021–2036</a:t>
                      </a:r>
                      <a:endParaRPr sz="1050"/>
                    </a:p>
                  </a:txBody>
                  <a:tcPr marL="9525" marR="9525" marT="9525" marB="0" anchor="ctr"/>
                </a:tc>
              </a:tr>
              <a:tr h="169826">
                <a:tc>
                  <a:txBody>
                    <a:bodyPr wrap="square"/>
                    <a:lstStyle/>
                    <a:p>
                      <a:pPr algn="l"/>
                      <a:r>
                        <a:rPr sz="1050" b="0" i="0">
                          <a:solidFill>
                            <a:srgbClr val="000000"/>
                          </a:solidFill>
                          <a:latin typeface="Calibri"/>
                        </a:rPr>
                        <a:t>Table 166: Global Market Average Selling Price by Product Configuration, US$/Units, 2021–2036</a:t>
                      </a:r>
                      <a:endParaRPr sz="1050"/>
                    </a:p>
                  </a:txBody>
                  <a:tcPr marL="9525" marR="9525" marT="9525" marB="0" anchor="ctr"/>
                </a:tc>
              </a:tr>
              <a:tr h="169826">
                <a:tc>
                  <a:txBody>
                    <a:bodyPr wrap="square"/>
                    <a:lstStyle/>
                    <a:p>
                      <a:pPr algn="l"/>
                      <a:r>
                        <a:rPr sz="1050" b="0" i="0">
                          <a:solidFill>
                            <a:srgbClr val="000000"/>
                          </a:solidFill>
                          <a:latin typeface="Calibri"/>
                        </a:rPr>
                        <a:t>Table 167: Global Market Average Selling Price by Technology, US$/Units, 2021–2036</a:t>
                      </a:r>
                      <a:endParaRPr sz="1050"/>
                    </a:p>
                  </a:txBody>
                  <a:tcPr marL="9525" marR="9525" marT="9525" marB="0" anchor="ctr"/>
                </a:tc>
              </a:tr>
              <a:tr h="169826">
                <a:tc>
                  <a:txBody>
                    <a:bodyPr wrap="square"/>
                    <a:lstStyle/>
                    <a:p>
                      <a:pPr algn="l"/>
                      <a:r>
                        <a:rPr sz="1050" b="0" i="0">
                          <a:solidFill>
                            <a:srgbClr val="000000"/>
                          </a:solidFill>
                          <a:latin typeface="Calibri"/>
                        </a:rPr>
                        <a:t>Table 168: Global Market Average Selling Price by Application, US$/Units, 2021–2036</a:t>
                      </a:r>
                      <a:endParaRPr sz="1050"/>
                    </a:p>
                  </a:txBody>
                  <a:tcPr marL="9525" marR="9525" marT="9525" marB="0" anchor="ctr"/>
                </a:tc>
              </a:tr>
              <a:tr h="169826">
                <a:tc>
                  <a:txBody>
                    <a:bodyPr wrap="square"/>
                    <a:lstStyle/>
                    <a:p>
                      <a:pPr algn="l"/>
                      <a:r>
                        <a:rPr sz="1050" b="0" i="0">
                          <a:solidFill>
                            <a:srgbClr val="000000"/>
                          </a:solidFill>
                          <a:latin typeface="Calibri"/>
                        </a:rPr>
                        <a:t>Table 169: Global Market Average Selling Price by Substrate Material, US$/Units, 2021–2036</a:t>
                      </a:r>
                      <a:endParaRPr sz="1050"/>
                    </a:p>
                  </a:txBody>
                  <a:tcPr marL="9525" marR="9525" marT="9525" marB="0" anchor="ctr"/>
                </a:tc>
              </a:tr>
              <a:tr h="169826">
                <a:tc>
                  <a:txBody>
                    <a:bodyPr wrap="square"/>
                    <a:lstStyle/>
                    <a:p>
                      <a:pPr algn="l"/>
                      <a:r>
                        <a:rPr sz="1050" b="0" i="0">
                          <a:solidFill>
                            <a:srgbClr val="000000"/>
                          </a:solidFill>
                          <a:latin typeface="Calibri"/>
                        </a:rPr>
                        <a:t>Table 170: Global Market Average Selling Price by Distribution Channel, US$/Units, 2021–2036</a:t>
                      </a:r>
                      <a:endParaRPr sz="1050"/>
                    </a:p>
                  </a:txBody>
                  <a:tcPr marL="9525" marR="9525" marT="9525" marB="0" anchor="ctr"/>
                </a:tc>
              </a:tr>
              <a:tr h="169826">
                <a:tc>
                  <a:txBody>
                    <a:bodyPr wrap="square"/>
                    <a:lstStyle/>
                    <a:p>
                      <a:pPr algn="l"/>
                      <a:r>
                        <a:rPr sz="1050" b="0" i="0">
                          <a:solidFill>
                            <a:srgbClr val="000000"/>
                          </a:solidFill>
                          <a:latin typeface="Calibri"/>
                        </a:rPr>
                        <a:t>Table 171: Supplier-to-Customer Relationship Mapping in U.S., 2026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(4/4)</a:t>
            </a:r>
          </a:p>
        </p:txBody>
      </p:sp>
      <p:graphicFrame>
        <p:nvGraphicFramePr>
          <p:cNvPr id="9" name="FMI Contents Table"/>
          <p:cNvGraphicFramePr>
            <a:graphicFrameLocks noGrp="1"/>
          </p:cNvGraphicFramePr>
          <p:nvPr/>
        </p:nvGraphicFramePr>
        <p:xfrm>
          <a:off x="142875" y="981075"/>
          <a:ext cx="5876925" cy="4993972"/>
        </p:xfrm>
        <a:graphic>
          <a:graphicData uri="http://schemas.openxmlformats.org/drawingml/2006/table">
            <a:tbl>
              <a:tblPr>
                <a:tableStyleId>{3B4B98B0-60AC-42C2-AFA5-B58CD77FA1E5}</a:tableStyleId>
              </a:tblPr>
              <a:tblGrid>
                <a:gridCol w="5876925"/>
              </a:tblGrid>
              <a:tr h="166688">
                <a:tc>
                  <a:txBody>
                    <a:bodyPr wrap="square"/>
                    <a:lstStyle/>
                    <a:p>
                      <a:pPr algn="l"/>
                      <a:r>
                        <a:rPr sz="1050" b="0" i="0">
                          <a:solidFill>
                            <a:srgbClr val="000000"/>
                          </a:solidFill>
                          <a:latin typeface="Calibri"/>
                        </a:rPr>
                        <a:t>Table 172: Global Market Value Chain Participants by Stage, 2026</a:t>
                      </a:r>
                      <a:endParaRPr sz="1050"/>
                    </a:p>
                  </a:txBody>
                  <a:tcPr marL="9525" marR="9525" marT="9525" marB="0" anchor="ctr"/>
                </a:tc>
              </a:tr>
              <a:tr h="166688">
                <a:tc>
                  <a:txBody>
                    <a:bodyPr wrap="square"/>
                    <a:lstStyle/>
                    <a:p>
                      <a:pPr algn="l"/>
                      <a:r>
                        <a:rPr sz="1050" b="0" i="0">
                          <a:solidFill>
                            <a:srgbClr val="000000"/>
                          </a:solidFill>
                          <a:latin typeface="Calibri"/>
                        </a:rPr>
                        <a:t>Table 173: Global Market Margin Analysis by Value Chain Stage, %, 2026</a:t>
                      </a:r>
                      <a:endParaRPr sz="1050"/>
                    </a:p>
                  </a:txBody>
                  <a:tcPr marL="9525" marR="9525" marT="9525" marB="0" anchor="ctr"/>
                </a:tc>
              </a:tr>
              <a:tr h="166688">
                <a:tc>
                  <a:txBody>
                    <a:bodyPr wrap="square"/>
                    <a:lstStyle/>
                    <a:p>
                      <a:pPr algn="l"/>
                      <a:r>
                        <a:rPr sz="1050" b="0" i="0">
                          <a:solidFill>
                            <a:srgbClr val="000000"/>
                          </a:solidFill>
                          <a:latin typeface="Calibri"/>
                        </a:rPr>
                        <a:t>Table 174: Global Market Cost Structure by Component, %, 2026</a:t>
                      </a:r>
                      <a:endParaRPr sz="1050"/>
                    </a:p>
                  </a:txBody>
                  <a:tcPr marL="9525" marR="9525" marT="9525" marB="0" anchor="ctr"/>
                </a:tc>
              </a:tr>
              <a:tr h="166688">
                <a:tc>
                  <a:txBody>
                    <a:bodyPr wrap="square"/>
                    <a:lstStyle/>
                    <a:p>
                      <a:pPr algn="l"/>
                      <a:r>
                        <a:rPr sz="1050" b="0" i="0">
                          <a:solidFill>
                            <a:srgbClr val="000000"/>
                          </a:solidFill>
                          <a:latin typeface="Calibri"/>
                        </a:rPr>
                        <a:t>Table 175: Global Market Import Value by Leading Country, US$ Mn, 2021–2025</a:t>
                      </a:r>
                      <a:endParaRPr sz="1050"/>
                    </a:p>
                  </a:txBody>
                  <a:tcPr marL="9525" marR="9525" marT="9525" marB="0" anchor="ctr"/>
                </a:tc>
              </a:tr>
              <a:tr h="166688">
                <a:tc>
                  <a:txBody>
                    <a:bodyPr wrap="square"/>
                    <a:lstStyle/>
                    <a:p>
                      <a:pPr algn="l"/>
                      <a:r>
                        <a:rPr sz="1050" b="0" i="0">
                          <a:solidFill>
                            <a:srgbClr val="000000"/>
                          </a:solidFill>
                          <a:latin typeface="Calibri"/>
                        </a:rPr>
                        <a:t>Table 176: Global Market Export Value by Leading Country, US$ Mn, 2021–2025</a:t>
                      </a:r>
                      <a:endParaRPr sz="1050"/>
                    </a:p>
                  </a:txBody>
                  <a:tcPr marL="9525" marR="9525" marT="9525" marB="0" anchor="ctr"/>
                </a:tc>
              </a:tr>
              <a:tr h="166688">
                <a:tc>
                  <a:txBody>
                    <a:bodyPr wrap="square"/>
                    <a:lstStyle/>
                    <a:p>
                      <a:pPr algn="l"/>
                      <a:r>
                        <a:rPr sz="1050" b="0" i="0">
                          <a:solidFill>
                            <a:srgbClr val="000000"/>
                          </a:solidFill>
                          <a:latin typeface="Calibri"/>
                        </a:rPr>
                        <a:t>Table 177: Global Market Trade Flow Matrix by Region, US$ Mn, 2025</a:t>
                      </a:r>
                      <a:endParaRPr sz="1050"/>
                    </a:p>
                  </a:txBody>
                  <a:tcPr marL="9525" marR="9525" marT="9525" marB="0" anchor="ctr"/>
                </a:tc>
              </a:tr>
              <a:tr h="166688">
                <a:tc>
                  <a:txBody>
                    <a:bodyPr wrap="square"/>
                    <a:lstStyle/>
                    <a:p>
                      <a:pPr algn="l"/>
                      <a:r>
                        <a:rPr sz="1050" b="0" i="0">
                          <a:solidFill>
                            <a:srgbClr val="000000"/>
                          </a:solidFill>
                          <a:latin typeface="Calibri"/>
                        </a:rPr>
                        <a:t>Table 178: Global Market Pricing Factors and Impact Rating, 2026–2036</a:t>
                      </a:r>
                      <a:endParaRPr sz="1050"/>
                    </a:p>
                  </a:txBody>
                  <a:tcPr marL="9525" marR="9525" marT="9525" marB="0" anchor="ctr"/>
                </a:tc>
              </a:tr>
              <a:tr h="326708">
                <a:tc>
                  <a:txBody>
                    <a:bodyPr wrap="square"/>
                    <a:lstStyle/>
                    <a:p>
                      <a:pPr algn="l"/>
                      <a:r>
                        <a:rPr sz="1050" b="0" i="0">
                          <a:solidFill>
                            <a:srgbClr val="000000"/>
                          </a:solidFill>
                          <a:latin typeface="Calibri"/>
                        </a:rPr>
                        <a:t>Table 179: Leading Waterproof Coatings Manufacturers: Product Portfolio and Geographic Presence, 2026</a:t>
                      </a:r>
                      <a:endParaRPr sz="1050"/>
                    </a:p>
                  </a:txBody>
                  <a:tcPr marL="9525" marR="9525" marT="9525" marB="0" anchor="ctr"/>
                </a:tc>
              </a:tr>
              <a:tr h="166688">
                <a:tc>
                  <a:txBody>
                    <a:bodyPr wrap="square"/>
                    <a:lstStyle/>
                    <a:p>
                      <a:pPr algn="l"/>
                      <a:r>
                        <a:rPr sz="1050" b="0" i="0">
                          <a:solidFill>
                            <a:srgbClr val="000000"/>
                          </a:solidFill>
                          <a:latin typeface="Calibri"/>
                        </a:rPr>
                        <a:t>Table 180: Company Revenue from the Global Market, US$ Mn, 2025–2026</a:t>
                      </a:r>
                      <a:endParaRPr sz="1050"/>
                    </a:p>
                  </a:txBody>
                  <a:tcPr marL="9525" marR="9525" marT="9525" marB="0" anchor="ctr"/>
                </a:tc>
              </a:tr>
              <a:tr h="166688">
                <a:tc>
                  <a:txBody>
                    <a:bodyPr wrap="square"/>
                    <a:lstStyle/>
                    <a:p>
                      <a:pPr algn="l"/>
                      <a:r>
                        <a:rPr sz="1050" b="0" i="0">
                          <a:solidFill>
                            <a:srgbClr val="000000"/>
                          </a:solidFill>
                          <a:latin typeface="Calibri"/>
                        </a:rPr>
                        <a:t>Table 181: Company Market Share in the Global Market by Region, %, 2026</a:t>
                      </a:r>
                      <a:endParaRPr sz="1050"/>
                    </a:p>
                  </a:txBody>
                  <a:tcPr marL="9525" marR="9525" marT="9525" marB="0" anchor="ctr"/>
                </a:tc>
              </a:tr>
              <a:tr h="166688">
                <a:tc>
                  <a:txBody>
                    <a:bodyPr wrap="square"/>
                    <a:lstStyle/>
                    <a:p>
                      <a:pPr algn="l"/>
                      <a:r>
                        <a:rPr sz="1050" b="0" i="0">
                          <a:solidFill>
                            <a:srgbClr val="000000"/>
                          </a:solidFill>
                          <a:latin typeface="Calibri"/>
                        </a:rPr>
                        <a:t>Table 182: Global Market Competitive Benchmarking Matrix, 2026</a:t>
                      </a:r>
                      <a:endParaRPr sz="1050"/>
                    </a:p>
                  </a:txBody>
                  <a:tcPr marL="9525" marR="9525" marT="9525" marB="0" anchor="ctr"/>
                </a:tc>
              </a:tr>
              <a:tr h="166688">
                <a:tc>
                  <a:txBody>
                    <a:bodyPr wrap="square"/>
                    <a:lstStyle/>
                    <a:p>
                      <a:pPr algn="l"/>
                      <a:r>
                        <a:rPr sz="1050" b="0" i="0">
                          <a:solidFill>
                            <a:srgbClr val="000000"/>
                          </a:solidFill>
                          <a:latin typeface="Calibri"/>
                        </a:rPr>
                        <a:t>Table 183: Global Market Mergers, Acquisitions and Partnerships, 2021–2026</a:t>
                      </a:r>
                      <a:endParaRPr sz="1050"/>
                    </a:p>
                  </a:txBody>
                  <a:tcPr marL="9525" marR="9525" marT="9525" marB="0" anchor="ctr"/>
                </a:tc>
              </a:tr>
              <a:tr h="166688">
                <a:tc>
                  <a:txBody>
                    <a:bodyPr wrap="square"/>
                    <a:lstStyle/>
                    <a:p>
                      <a:pPr algn="l"/>
                      <a:r>
                        <a:rPr sz="1050" b="0" i="0">
                          <a:solidFill>
                            <a:srgbClr val="000000"/>
                          </a:solidFill>
                          <a:latin typeface="Calibri"/>
                        </a:rPr>
                        <a:t>Table 184: Sika: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185: The Sherwin-Williams: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186: PPG Industries: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187: Akzo Nobel: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188: BASF: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189: RPM International: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190: Saint-Gobain: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191: Mapei: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192: Henkel AG &amp; Co. KGaA: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193: Dow: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194: Global Market Value by Scenario and Region, US$ Mn, 2026–2036</a:t>
                      </a:r>
                      <a:endParaRPr sz="1050"/>
                    </a:p>
                  </a:txBody>
                  <a:tcPr marL="9525" marR="9525" marT="9525" marB="0" anchor="ctr"/>
                </a:tc>
              </a:tr>
              <a:tr h="166688">
                <a:tc>
                  <a:txBody>
                    <a:bodyPr wrap="square"/>
                    <a:lstStyle/>
                    <a:p>
                      <a:pPr algn="l"/>
                      <a:r>
                        <a:rPr sz="1050" b="0" i="0">
                          <a:solidFill>
                            <a:srgbClr val="000000"/>
                          </a:solidFill>
                          <a:latin typeface="Calibri"/>
                        </a:rPr>
                        <a:t>Table 195: Global Market Key Trends and Impact Rating, 2026–2036</a:t>
                      </a:r>
                      <a:endParaRPr sz="1050"/>
                    </a:p>
                  </a:txBody>
                  <a:tcPr marL="9525" marR="9525" marT="9525" marB="0" anchor="ctr"/>
                </a:tc>
              </a:tr>
              <a:tr h="166688">
                <a:tc>
                  <a:txBody>
                    <a:bodyPr wrap="square"/>
                    <a:lstStyle/>
                    <a:p>
                      <a:pPr algn="l"/>
                      <a:r>
                        <a:rPr sz="1050" b="0" i="0">
                          <a:solidFill>
                            <a:srgbClr val="000000"/>
                          </a:solidFill>
                          <a:latin typeface="Calibri"/>
                        </a:rPr>
                        <a:t>Table 196: Global Market Opportunity Assessment by Product Type / Chemistry, US$ Mn, 2026–2036</a:t>
                      </a:r>
                      <a:endParaRPr sz="1050"/>
                    </a:p>
                  </a:txBody>
                  <a:tcPr marL="9525" marR="9525" marT="9525" marB="0" anchor="ctr"/>
                </a:tc>
              </a:tr>
              <a:tr h="166688">
                <a:tc>
                  <a:txBody>
                    <a:bodyPr wrap="square"/>
                    <a:lstStyle/>
                    <a:p>
                      <a:pPr algn="l"/>
                      <a:r>
                        <a:rPr sz="1050" b="0" i="0">
                          <a:solidFill>
                            <a:srgbClr val="000000"/>
                          </a:solidFill>
                          <a:latin typeface="Calibri"/>
                        </a:rPr>
                        <a:t>Table 197: Global Market Scenario Assumptions, 2026–2036</a:t>
                      </a:r>
                      <a:endParaRPr sz="1050"/>
                    </a:p>
                  </a:txBody>
                  <a:tcPr marL="9525" marR="9525" marT="9525" marB="0" anchor="ctr"/>
                </a:tc>
              </a:tr>
              <a:tr h="166688">
                <a:tc>
                  <a:txBody>
                    <a:bodyPr wrap="square"/>
                    <a:lstStyle/>
                    <a:p>
                      <a:pPr algn="l"/>
                      <a:r>
                        <a:rPr sz="1050" b="0" i="0">
                          <a:solidFill>
                            <a:srgbClr val="000000"/>
                          </a:solidFill>
                          <a:latin typeface="Calibri"/>
                        </a:rPr>
                        <a:t>Table 198: Global Market Client Opportunity Prioritisation by Product Type / Chemistry, 2026–2036</a:t>
                      </a:r>
                      <a:endParaRPr sz="1050"/>
                    </a:p>
                  </a:txBody>
                  <a:tcPr marL="9525" marR="9525" marT="9525" marB="0" anchor="ctr"/>
                </a:tc>
              </a:tr>
              <a:tr h="166688">
                <a:tc>
                  <a:txBody>
                    <a:bodyPr wrap="square"/>
                    <a:lstStyle/>
                    <a:p>
                      <a:pPr algn="l"/>
                      <a:r>
                        <a:rPr sz="1050" b="0" i="0">
                          <a:solidFill>
                            <a:srgbClr val="000000"/>
                          </a:solidFill>
                          <a:latin typeface="Calibri"/>
                        </a:rPr>
                        <a:t>Table 199: Global Market Customer Purchase Criteria by Product Type / Chemistry, 2026</a:t>
                      </a:r>
                      <a:endParaRPr sz="1050"/>
                    </a:p>
                  </a:txBody>
                  <a:tcPr marL="9525" marR="9525" marT="9525" marB="0" anchor="ctr"/>
                </a:tc>
              </a:tr>
              <a:tr h="166688">
                <a:tc>
                  <a:txBody>
                    <a:bodyPr wrap="square"/>
                    <a:lstStyle/>
                    <a:p>
                      <a:pPr algn="l"/>
                      <a:r>
                        <a:rPr sz="1050" b="0" i="0">
                          <a:solidFill>
                            <a:srgbClr val="000000"/>
                          </a:solidFill>
                          <a:latin typeface="Calibri"/>
                        </a:rPr>
                        <a:t>Table 200: Global Market Strategic Recommendations and Action Plan, 2026–2036</a:t>
                      </a:r>
                      <a:endParaRPr sz="1050"/>
                    </a:p>
                  </a:txBody>
                  <a:tcPr marL="9525" marR="9525" marT="9525" marB="0" anchor="ctr"/>
                </a:tc>
              </a:tr>
            </a:tbl>
          </a:graphicData>
        </a:graphic>
      </p:graphicFrame>
      <p:sp>
        <p:nvSpPr>
          <p:cNvPr id="10" name="TextBox 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2173605"/>
            <a:ext cx="7239000" cy="247650"/>
          </a:xfrm>
          <a:prstGeom prst="rect">
            <a:avLst/>
          </a:prstGeom>
          <a:noFill/>
        </p:spPr>
        <p:txBody>
          <a:bodyPr wrap="none" lIns="0" tIns="0">
            <a:spAutoFit/>
          </a:bodyPr>
          <a:lstStyle/>
          <a:p>
            <a:r>
              <a:rPr sz="1400" b="0">
                <a:solidFill>
                  <a:srgbClr val="8FC8F2"/>
                </a:solidFill>
                <a:latin typeface="Calibri"/>
              </a:rPr>
              <a:t>Waterproof Coatings Market</a:t>
            </a:r>
          </a:p>
        </p:txBody>
      </p:sp>
      <p:sp>
        <p:nvSpPr>
          <p:cNvPr id="6" name="FMI Breaker Title"/>
          <p:cNvSpPr txBox="1"/>
          <p:nvPr/>
        </p:nvSpPr>
        <p:spPr>
          <a:xfrm>
            <a:off x="914400" y="2478405"/>
            <a:ext cx="7239000" cy="514350"/>
          </a:xfrm>
          <a:prstGeom prst="rect">
            <a:avLst/>
          </a:prstGeom>
          <a:noFill/>
        </p:spPr>
        <p:txBody>
          <a:bodyPr wrap="square" lIns="0" rIns="0" tIns="0">
            <a:spAutoFit/>
          </a:bodyPr>
          <a:lstStyle/>
          <a:p>
            <a:r>
              <a:rPr sz="3000" b="1" cap="all" spc="400">
                <a:solidFill>
                  <a:srgbClr val="FFFFFF"/>
                </a:solidFill>
                <a:latin typeface="Calibri"/>
              </a:rPr>
              <a:t>Global Market Outlook</a:t>
            </a:r>
          </a:p>
        </p:txBody>
      </p:sp>
      <p:sp>
        <p:nvSpPr>
          <p:cNvPr id="7" name="TextBox 6"/>
          <p:cNvSpPr txBox="1"/>
          <p:nvPr/>
        </p:nvSpPr>
        <p:spPr>
          <a:xfrm>
            <a:off x="914400" y="3183255"/>
            <a:ext cx="7124700" cy="292989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Overview</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Market Analysis By Region</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Market Analysis By Segments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Product Type / Chemistry</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Product Configuration</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Technology</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Application</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Substrate Material</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Distribution Channel</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Global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Waterproof Coatings Market Summary, By Volume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global market volume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(UNITS)</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(UNITS)</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(Units)</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0" name="Rounded Rectangle 19"/>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24" name="Rounded Rectangle 23"/>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6" name="Rectangle 25"/>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3380159" cy="186689"/>
          </a:xfrm>
          <a:prstGeom prst="rect">
            <a:avLst/>
          </a:prstGeom>
          <a:noFill/>
        </p:spPr>
        <p:txBody>
          <a:bodyPr wrap="none" lIns="0" rIns="0" tIns="0" bIns="0">
            <a:spAutoFit/>
          </a:bodyPr>
          <a:lstStyle/>
          <a:p>
            <a:r>
              <a:rPr sz="1100" b="0">
                <a:solidFill>
                  <a:srgbClr val="2E2E2E"/>
                </a:solidFill>
                <a:latin typeface="Calibri"/>
              </a:rPr>
              <a:t>Global waterproof coatings market is projected to register</a:t>
            </a:r>
          </a:p>
        </p:txBody>
      </p:sp>
      <p:pic>
        <p:nvPicPr>
          <p:cNvPr id="35" name="Picture 34" descr="lock.png"/>
          <p:cNvPicPr>
            <a:picLocks noChangeAspect="1"/>
          </p:cNvPicPr>
          <p:nvPr/>
        </p:nvPicPr>
        <p:blipFill>
          <a:blip r:embed="rId6"/>
          <a:stretch>
            <a:fillRect/>
          </a:stretch>
        </p:blipFill>
        <p:spPr>
          <a:xfrm>
            <a:off x="11376836" y="2037208"/>
            <a:ext cx="128699" cy="187198"/>
          </a:xfrm>
          <a:prstGeom prst="rect">
            <a:avLst/>
          </a:prstGeom>
        </p:spPr>
      </p:pic>
      <p:sp>
        <p:nvSpPr>
          <p:cNvPr id="36" name="TextBox 35"/>
          <p:cNvSpPr txBox="1"/>
          <p:nvPr/>
        </p:nvSpPr>
        <p:spPr>
          <a:xfrm>
            <a:off x="11544331" y="2046987"/>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37" name="TextBox 36"/>
          <p:cNvSpPr txBox="1"/>
          <p:nvPr/>
        </p:nvSpPr>
        <p:spPr>
          <a:xfrm>
            <a:off x="8048625" y="2214627"/>
            <a:ext cx="3608809" cy="186689"/>
          </a:xfrm>
          <a:prstGeom prst="rect">
            <a:avLst/>
          </a:prstGeom>
          <a:noFill/>
        </p:spPr>
        <p:txBody>
          <a:bodyPr wrap="none" lIns="0" rIns="0" tIns="0" bIns="0">
            <a:spAutoFit/>
          </a:bodyPr>
          <a:lstStyle/>
          <a:p>
            <a:r>
              <a:rPr sz="1100" b="0">
                <a:solidFill>
                  <a:srgbClr val="2E2E2E"/>
                </a:solidFill>
                <a:latin typeface="Calibri"/>
              </a:rPr>
              <a:t>increase in volume by the end of forecast period, 2036. Global</a:t>
            </a:r>
          </a:p>
        </p:txBody>
      </p:sp>
      <p:sp>
        <p:nvSpPr>
          <p:cNvPr id="38" name="TextBox 37"/>
          <p:cNvSpPr txBox="1"/>
          <p:nvPr/>
        </p:nvSpPr>
        <p:spPr>
          <a:xfrm>
            <a:off x="8048625" y="2382267"/>
            <a:ext cx="2618085" cy="186689"/>
          </a:xfrm>
          <a:prstGeom prst="rect">
            <a:avLst/>
          </a:prstGeom>
          <a:noFill/>
        </p:spPr>
        <p:txBody>
          <a:bodyPr wrap="none" lIns="0" rIns="0" tIns="0" bIns="0">
            <a:spAutoFit/>
          </a:bodyPr>
          <a:lstStyle/>
          <a:p>
            <a:r>
              <a:rPr sz="1100" b="0">
                <a:solidFill>
                  <a:srgbClr val="2E2E2E"/>
                </a:solidFill>
                <a:latin typeface="Calibri"/>
              </a:rPr>
              <a:t>waterproof coatings market volume stood at</a:t>
            </a:r>
          </a:p>
        </p:txBody>
      </p:sp>
      <p:pic>
        <p:nvPicPr>
          <p:cNvPr id="39" name="Picture 38" descr="lock.png"/>
          <p:cNvPicPr>
            <a:picLocks noChangeAspect="1"/>
          </p:cNvPicPr>
          <p:nvPr/>
        </p:nvPicPr>
        <p:blipFill>
          <a:blip r:embed="rId6"/>
          <a:stretch>
            <a:fillRect/>
          </a:stretch>
        </p:blipFill>
        <p:spPr>
          <a:xfrm>
            <a:off x="10614761" y="2372488"/>
            <a:ext cx="128699" cy="187198"/>
          </a:xfrm>
          <a:prstGeom prst="rect">
            <a:avLst/>
          </a:prstGeom>
        </p:spPr>
      </p:pic>
      <p:sp>
        <p:nvSpPr>
          <p:cNvPr id="40" name="TextBox 39"/>
          <p:cNvSpPr txBox="1"/>
          <p:nvPr/>
        </p:nvSpPr>
        <p:spPr>
          <a:xfrm>
            <a:off x="10782257" y="2382267"/>
            <a:ext cx="1071016" cy="186689"/>
          </a:xfrm>
          <a:prstGeom prst="rect">
            <a:avLst/>
          </a:prstGeom>
          <a:noFill/>
        </p:spPr>
        <p:txBody>
          <a:bodyPr wrap="none" lIns="0" rIns="0" tIns="0" bIns="0">
            <a:spAutoFit/>
          </a:bodyPr>
          <a:lstStyle/>
          <a:p>
            <a:r>
              <a:rPr sz="1100" b="0">
                <a:solidFill>
                  <a:srgbClr val="2E2E2E"/>
                </a:solidFill>
                <a:latin typeface="Calibri"/>
              </a:rPr>
              <a:t>Units in 2025 and</a:t>
            </a:r>
          </a:p>
        </p:txBody>
      </p:sp>
      <p:sp>
        <p:nvSpPr>
          <p:cNvPr id="41" name="TextBox 40"/>
          <p:cNvSpPr txBox="1"/>
          <p:nvPr/>
        </p:nvSpPr>
        <p:spPr>
          <a:xfrm>
            <a:off x="8048625" y="2549907"/>
            <a:ext cx="1218629" cy="186689"/>
          </a:xfrm>
          <a:prstGeom prst="rect">
            <a:avLst/>
          </a:prstGeom>
          <a:noFill/>
        </p:spPr>
        <p:txBody>
          <a:bodyPr wrap="none" lIns="0" rIns="0" tIns="0" bIns="0">
            <a:spAutoFit/>
          </a:bodyPr>
          <a:lstStyle/>
          <a:p>
            <a:r>
              <a:rPr sz="1100" b="0">
                <a:solidFill>
                  <a:srgbClr val="2E2E2E"/>
                </a:solidFill>
                <a:latin typeface="Calibri"/>
              </a:rPr>
              <a:t>is expected to reach</a:t>
            </a:r>
          </a:p>
        </p:txBody>
      </p:sp>
      <p:pic>
        <p:nvPicPr>
          <p:cNvPr id="42" name="Picture 41" descr="lock.png"/>
          <p:cNvPicPr>
            <a:picLocks noChangeAspect="1"/>
          </p:cNvPicPr>
          <p:nvPr/>
        </p:nvPicPr>
        <p:blipFill>
          <a:blip r:embed="rId6"/>
          <a:stretch>
            <a:fillRect/>
          </a:stretch>
        </p:blipFill>
        <p:spPr>
          <a:xfrm>
            <a:off x="9215306" y="2540128"/>
            <a:ext cx="128699" cy="187198"/>
          </a:xfrm>
          <a:prstGeom prst="rect">
            <a:avLst/>
          </a:prstGeom>
        </p:spPr>
      </p:pic>
      <p:sp>
        <p:nvSpPr>
          <p:cNvPr id="43" name="TextBox 42"/>
          <p:cNvSpPr txBox="1"/>
          <p:nvPr/>
        </p:nvSpPr>
        <p:spPr>
          <a:xfrm>
            <a:off x="9382801" y="2549907"/>
            <a:ext cx="1882460" cy="186689"/>
          </a:xfrm>
          <a:prstGeom prst="rect">
            <a:avLst/>
          </a:prstGeom>
          <a:noFill/>
        </p:spPr>
        <p:txBody>
          <a:bodyPr wrap="none" lIns="0" rIns="0" tIns="0" bIns="0">
            <a:spAutoFit/>
          </a:bodyPr>
          <a:lstStyle/>
          <a:p>
            <a:r>
              <a:rPr sz="1100" b="0">
                <a:solidFill>
                  <a:srgbClr val="2E2E2E"/>
                </a:solidFill>
                <a:latin typeface="Calibri"/>
              </a:rPr>
              <a:t>Units by 2036 end, at a CAGR of</a:t>
            </a:r>
          </a:p>
        </p:txBody>
      </p:sp>
      <p:pic>
        <p:nvPicPr>
          <p:cNvPr id="44" name="Picture 43" descr="lock.png"/>
          <p:cNvPicPr>
            <a:picLocks noChangeAspect="1"/>
          </p:cNvPicPr>
          <p:nvPr/>
        </p:nvPicPr>
        <p:blipFill>
          <a:blip r:embed="rId6"/>
          <a:stretch>
            <a:fillRect/>
          </a:stretch>
        </p:blipFill>
        <p:spPr>
          <a:xfrm>
            <a:off x="11213313" y="2540128"/>
            <a:ext cx="128699" cy="187198"/>
          </a:xfrm>
          <a:prstGeom prst="rect">
            <a:avLst/>
          </a:prstGeom>
        </p:spPr>
      </p:pic>
      <p:sp>
        <p:nvSpPr>
          <p:cNvPr id="45" name="TextBox 44"/>
          <p:cNvSpPr txBox="1"/>
          <p:nvPr/>
        </p:nvSpPr>
        <p:spPr>
          <a:xfrm>
            <a:off x="11380809" y="254990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6" name="TextBox 45"/>
          <p:cNvSpPr txBox="1"/>
          <p:nvPr/>
        </p:nvSpPr>
        <p:spPr>
          <a:xfrm>
            <a:off x="8048625" y="2767838"/>
            <a:ext cx="3678386" cy="186689"/>
          </a:xfrm>
          <a:prstGeom prst="rect">
            <a:avLst/>
          </a:prstGeom>
          <a:noFill/>
        </p:spPr>
        <p:txBody>
          <a:bodyPr wrap="none" lIns="0" rIns="0" tIns="0" bIns="0">
            <a:spAutoFit/>
          </a:bodyPr>
          <a:lstStyle/>
          <a:p>
            <a:r>
              <a:rPr sz="1100" b="0">
                <a:solidFill>
                  <a:srgbClr val="2E2E2E"/>
                </a:solidFill>
                <a:latin typeface="Calibri"/>
              </a:rPr>
              <a:t>Value is projected to grow faster than volume over the forecast</a:t>
            </a:r>
          </a:p>
        </p:txBody>
      </p:sp>
      <p:sp>
        <p:nvSpPr>
          <p:cNvPr id="47" name="TextBox 46"/>
          <p:cNvSpPr txBox="1"/>
          <p:nvPr/>
        </p:nvSpPr>
        <p:spPr>
          <a:xfrm>
            <a:off x="8048625" y="2935479"/>
            <a:ext cx="3049736" cy="186689"/>
          </a:xfrm>
          <a:prstGeom prst="rect">
            <a:avLst/>
          </a:prstGeom>
          <a:noFill/>
        </p:spPr>
        <p:txBody>
          <a:bodyPr wrap="none" lIns="0" rIns="0" tIns="0" bIns="0">
            <a:spAutoFit/>
          </a:bodyPr>
          <a:lstStyle/>
          <a:p>
            <a:r>
              <a:rPr sz="1100" b="0">
                <a:solidFill>
                  <a:srgbClr val="2E2E2E"/>
                </a:solidFill>
                <a:latin typeface="Calibri"/>
              </a:rPr>
              <a:t>period, owing to an increase in average selling price.</a:t>
            </a:r>
          </a:p>
        </p:txBody>
      </p:sp>
      <p:sp>
        <p:nvSpPr>
          <p:cNvPr id="48" name="TextBox 47"/>
          <p:cNvSpPr txBox="1"/>
          <p:nvPr/>
        </p:nvSpPr>
        <p:spPr>
          <a:xfrm>
            <a:off x="8048625" y="4456475"/>
            <a:ext cx="2868835" cy="194310"/>
          </a:xfrm>
          <a:prstGeom prst="rect">
            <a:avLst/>
          </a:prstGeom>
          <a:noFill/>
        </p:spPr>
        <p:txBody>
          <a:bodyPr wrap="none" lIns="0" rIns="0" tIns="0" bIns="0">
            <a:spAutoFit/>
          </a:bodyPr>
          <a:lstStyle/>
          <a:p>
            <a:r>
              <a:rPr sz="1150" b="0">
                <a:solidFill>
                  <a:srgbClr val="2E2E2E"/>
                </a:solidFill>
                <a:latin typeface="Calibri"/>
              </a:rPr>
              <a:t>▪ 'South Asia &amp; Pacific' leads regional growth at</a:t>
            </a:r>
          </a:p>
        </p:txBody>
      </p:sp>
      <p:pic>
        <p:nvPicPr>
          <p:cNvPr id="49" name="Picture 48" descr="lock.png"/>
          <p:cNvPicPr>
            <a:picLocks noChangeAspect="1"/>
          </p:cNvPicPr>
          <p:nvPr/>
        </p:nvPicPr>
        <p:blipFill>
          <a:blip r:embed="rId6"/>
          <a:stretch>
            <a:fillRect/>
          </a:stretch>
        </p:blipFill>
        <p:spPr>
          <a:xfrm>
            <a:off x="10866614" y="4446251"/>
            <a:ext cx="134549" cy="195707"/>
          </a:xfrm>
          <a:prstGeom prst="rect">
            <a:avLst/>
          </a:prstGeom>
        </p:spPr>
      </p:pic>
      <p:sp>
        <p:nvSpPr>
          <p:cNvPr id="50" name="TextBox 49"/>
          <p:cNvSpPr txBox="1"/>
          <p:nvPr/>
        </p:nvSpPr>
        <p:spPr>
          <a:xfrm>
            <a:off x="11041723"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1" name="TextBox 50"/>
          <p:cNvSpPr txBox="1"/>
          <p:nvPr/>
        </p:nvSpPr>
        <p:spPr>
          <a:xfrm>
            <a:off x="8048625" y="4684312"/>
            <a:ext cx="3848100" cy="194310"/>
          </a:xfrm>
          <a:prstGeom prst="rect">
            <a:avLst/>
          </a:prstGeom>
          <a:noFill/>
        </p:spPr>
        <p:txBody>
          <a:bodyPr wrap="none" lIns="0" rIns="0" tIns="0" bIns="0">
            <a:spAutoFit/>
          </a:bodyPr>
          <a:lstStyle/>
          <a:p>
            <a:r>
              <a:rPr sz="1150" b="0">
                <a:solidFill>
                  <a:srgbClr val="2E2E2E"/>
                </a:solidFill>
                <a:latin typeface="Calibri"/>
              </a:rPr>
              <a:t>▪ Demand concentrates in 'Polyurea Waterproof Coatings' within</a:t>
            </a:r>
          </a:p>
        </p:txBody>
      </p:sp>
      <p:sp>
        <p:nvSpPr>
          <p:cNvPr id="52" name="TextBox 51"/>
          <p:cNvSpPr txBox="1"/>
          <p:nvPr/>
        </p:nvSpPr>
        <p:spPr>
          <a:xfrm>
            <a:off x="8048625" y="4859572"/>
            <a:ext cx="1624843" cy="194310"/>
          </a:xfrm>
          <a:prstGeom prst="rect">
            <a:avLst/>
          </a:prstGeom>
          <a:noFill/>
        </p:spPr>
        <p:txBody>
          <a:bodyPr wrap="none" lIns="0" rIns="0" tIns="0" bIns="0">
            <a:spAutoFit/>
          </a:bodyPr>
          <a:lstStyle/>
          <a:p>
            <a:r>
              <a:rPr sz="1150" b="0">
                <a:solidFill>
                  <a:srgbClr val="2E2E2E"/>
                </a:solidFill>
                <a:latin typeface="Calibri"/>
              </a:rPr>
              <a:t>Product Type / Chemistry.</a:t>
            </a:r>
          </a:p>
        </p:txBody>
      </p:sp>
      <p:sp>
        <p:nvSpPr>
          <p:cNvPr id="53" name="TextBox 52"/>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4" name="TextBox 53"/>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5"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Waterproof Coatings Market Pricing &amp; Regional Price Index</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average price by sub-segment and price variation by region, highlighting where pricing power sits</a:t>
            </a:r>
          </a:p>
        </p:txBody>
      </p:sp>
      <p:sp>
        <p:nvSpPr>
          <p:cNvPr id="10" name="Rounded Rectangle 9"/>
          <p:cNvSpPr/>
          <p:nvPr/>
        </p:nvSpPr>
        <p:spPr>
          <a:xfrm>
            <a:off x="142875" y="1052895"/>
            <a:ext cx="7696200" cy="2665040"/>
          </a:xfrm>
          <a:prstGeom prst="roundRect">
            <a:avLst>
              <a:gd name="adj" fmla="val 28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by Product Type / Chemistry  ·  range across 2021–2036 (US$/Units)</a:t>
            </a:r>
          </a:p>
        </p:txBody>
      </p:sp>
      <p:cxnSp>
        <p:nvCxnSpPr>
          <p:cNvPr id="12" name="Connector 11"/>
          <p:cNvCxnSpPr/>
          <p:nvPr/>
        </p:nvCxnSpPr>
        <p:spPr>
          <a:xfrm>
            <a:off x="657225" y="310071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268877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227683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186488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7225" y="1452945"/>
            <a:ext cx="0" cy="164777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310071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268877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227683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28650" y="186488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28650" y="14529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23" name="FMI Scale tick"/>
          <p:cNvSpPr txBox="1"/>
          <p:nvPr/>
        </p:nvSpPr>
        <p:spPr>
          <a:xfrm>
            <a:off x="219075" y="303404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4" name="FMI Scale tick"/>
          <p:cNvSpPr txBox="1"/>
          <p:nvPr/>
        </p:nvSpPr>
        <p:spPr>
          <a:xfrm>
            <a:off x="219075" y="2210155"/>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5" name="FMI Scale tick"/>
          <p:cNvSpPr txBox="1"/>
          <p:nvPr/>
        </p:nvSpPr>
        <p:spPr>
          <a:xfrm>
            <a:off x="219075" y="138627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cxnSp>
        <p:nvCxnSpPr>
          <p:cNvPr id="26" name="Connector 25"/>
          <p:cNvCxnSpPr/>
          <p:nvPr/>
        </p:nvCxnSpPr>
        <p:spPr>
          <a:xfrm flipV="1">
            <a:off x="1095375" y="1750637"/>
            <a:ext cx="0" cy="245406"/>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63930" y="199604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63930" y="175063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876300" y="1812022"/>
            <a:ext cx="438150" cy="122732"/>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876300" y="1873386"/>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57225" y="1598237"/>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2" name="Connector 31"/>
          <p:cNvCxnSpPr/>
          <p:nvPr/>
        </p:nvCxnSpPr>
        <p:spPr>
          <a:xfrm flipV="1">
            <a:off x="1971675" y="1643073"/>
            <a:ext cx="0" cy="255338"/>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840230" y="189841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840230" y="164307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752600" y="1707020"/>
            <a:ext cx="438150" cy="127674"/>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1752600" y="1770891"/>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533525" y="1490673"/>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8" name="Connector 37"/>
          <p:cNvCxnSpPr/>
          <p:nvPr/>
        </p:nvCxnSpPr>
        <p:spPr>
          <a:xfrm flipV="1">
            <a:off x="2847975" y="1800605"/>
            <a:ext cx="0" cy="237289"/>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2716530" y="2037894"/>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2716530" y="180060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2628900" y="1860086"/>
            <a:ext cx="438150" cy="118634"/>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2628900" y="1919453"/>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2409825" y="1648205"/>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44" name="Connector 43"/>
          <p:cNvCxnSpPr/>
          <p:nvPr/>
        </p:nvCxnSpPr>
        <p:spPr>
          <a:xfrm flipV="1">
            <a:off x="3724275" y="2150994"/>
            <a:ext cx="0" cy="195793"/>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3592830" y="234678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3592830" y="2150994"/>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3505200" y="2199395"/>
            <a:ext cx="438150" cy="97931"/>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3505200" y="2248181"/>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3286125" y="1998594"/>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50" name="Connector 49"/>
          <p:cNvCxnSpPr/>
          <p:nvPr/>
        </p:nvCxnSpPr>
        <p:spPr>
          <a:xfrm flipV="1">
            <a:off x="4600575" y="2779584"/>
            <a:ext cx="0" cy="131004"/>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4469130" y="291058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4469130" y="2779584"/>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4381500" y="2812195"/>
            <a:ext cx="438150" cy="65510"/>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4381500" y="2844898"/>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4162425" y="2627184"/>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56" name="Connector 55"/>
          <p:cNvCxnSpPr/>
          <p:nvPr/>
        </p:nvCxnSpPr>
        <p:spPr>
          <a:xfrm flipV="1">
            <a:off x="5476875" y="1657369"/>
            <a:ext cx="0" cy="249159"/>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345430" y="190652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345430" y="165736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5257800" y="1719350"/>
            <a:ext cx="438150" cy="124600"/>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a:off x="5257800" y="1781548"/>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038725" y="1504969"/>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62" name="Connector 61"/>
          <p:cNvCxnSpPr/>
          <p:nvPr/>
        </p:nvCxnSpPr>
        <p:spPr>
          <a:xfrm flipV="1">
            <a:off x="6353175" y="2709417"/>
            <a:ext cx="0" cy="143095"/>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6221730" y="285251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6221730" y="270941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6134100" y="2745185"/>
            <a:ext cx="438150" cy="71551"/>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6" name="Connector 65"/>
          <p:cNvCxnSpPr/>
          <p:nvPr/>
        </p:nvCxnSpPr>
        <p:spPr>
          <a:xfrm>
            <a:off x="6134100" y="2780957"/>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5915025" y="2557017"/>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68" name="Connector 67"/>
          <p:cNvCxnSpPr/>
          <p:nvPr/>
        </p:nvCxnSpPr>
        <p:spPr>
          <a:xfrm flipV="1">
            <a:off x="7229475" y="1951337"/>
            <a:ext cx="0" cy="211071"/>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7098030" y="216240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7098030" y="195133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71" name="Rectangle 70"/>
          <p:cNvSpPr/>
          <p:nvPr/>
        </p:nvSpPr>
        <p:spPr>
          <a:xfrm>
            <a:off x="7010400" y="2003422"/>
            <a:ext cx="438150" cy="105556"/>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2" name="Connector 71"/>
          <p:cNvCxnSpPr/>
          <p:nvPr/>
        </p:nvCxnSpPr>
        <p:spPr>
          <a:xfrm>
            <a:off x="7010400" y="2055980"/>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791325" y="1798937"/>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74" name="TextBox 73"/>
          <p:cNvSpPr txBox="1"/>
          <p:nvPr/>
        </p:nvSpPr>
        <p:spPr>
          <a:xfrm>
            <a:off x="657225" y="3129290"/>
            <a:ext cx="876300" cy="285750"/>
          </a:xfrm>
          <a:prstGeom prst="rect">
            <a:avLst/>
          </a:prstGeom>
          <a:noFill/>
        </p:spPr>
        <p:txBody>
          <a:bodyPr wrap="square" lIns="28575" rIns="28575" tIns="9525" bIns="9525">
            <a:spAutoFit/>
          </a:bodyPr>
          <a:lstStyle/>
          <a:p>
            <a:pPr algn="ctr"/>
            <a:r>
              <a:rPr sz="1100" b="0">
                <a:solidFill>
                  <a:srgbClr val="2E2E2E"/>
                </a:solidFill>
                <a:latin typeface="Calibri"/>
              </a:rPr>
              <a:t>Acrylic Waterproof Co…</a:t>
            </a:r>
          </a:p>
        </p:txBody>
      </p:sp>
      <p:sp>
        <p:nvSpPr>
          <p:cNvPr id="75" name="TextBox 74"/>
          <p:cNvSpPr txBox="1"/>
          <p:nvPr/>
        </p:nvSpPr>
        <p:spPr>
          <a:xfrm>
            <a:off x="1533525" y="3129290"/>
            <a:ext cx="876300" cy="285750"/>
          </a:xfrm>
          <a:prstGeom prst="rect">
            <a:avLst/>
          </a:prstGeom>
          <a:noFill/>
        </p:spPr>
        <p:txBody>
          <a:bodyPr wrap="square" lIns="28575" rIns="28575" tIns="9525" bIns="9525">
            <a:spAutoFit/>
          </a:bodyPr>
          <a:lstStyle/>
          <a:p>
            <a:pPr algn="ctr"/>
            <a:r>
              <a:rPr sz="1100" b="0">
                <a:solidFill>
                  <a:srgbClr val="2E2E2E"/>
                </a:solidFill>
                <a:latin typeface="Calibri"/>
              </a:rPr>
              <a:t>Polyurethane (PU) Wat…</a:t>
            </a:r>
          </a:p>
        </p:txBody>
      </p:sp>
      <p:sp>
        <p:nvSpPr>
          <p:cNvPr id="76" name="TextBox 75"/>
          <p:cNvSpPr txBox="1"/>
          <p:nvPr/>
        </p:nvSpPr>
        <p:spPr>
          <a:xfrm>
            <a:off x="2409825" y="3129290"/>
            <a:ext cx="876300" cy="285750"/>
          </a:xfrm>
          <a:prstGeom prst="rect">
            <a:avLst/>
          </a:prstGeom>
          <a:noFill/>
        </p:spPr>
        <p:txBody>
          <a:bodyPr wrap="square" lIns="28575" rIns="28575" tIns="9525" bIns="9525">
            <a:spAutoFit/>
          </a:bodyPr>
          <a:lstStyle/>
          <a:p>
            <a:pPr algn="ctr"/>
            <a:r>
              <a:rPr sz="1100" b="0">
                <a:solidFill>
                  <a:srgbClr val="2E2E2E"/>
                </a:solidFill>
                <a:latin typeface="Calibri"/>
              </a:rPr>
              <a:t>Epoxy Waterproof Coat…</a:t>
            </a:r>
          </a:p>
        </p:txBody>
      </p:sp>
      <p:sp>
        <p:nvSpPr>
          <p:cNvPr id="77" name="TextBox 76"/>
          <p:cNvSpPr txBox="1"/>
          <p:nvPr/>
        </p:nvSpPr>
        <p:spPr>
          <a:xfrm>
            <a:off x="3286125" y="3129290"/>
            <a:ext cx="876300" cy="285750"/>
          </a:xfrm>
          <a:prstGeom prst="rect">
            <a:avLst/>
          </a:prstGeom>
          <a:noFill/>
        </p:spPr>
        <p:txBody>
          <a:bodyPr wrap="square" lIns="28575" rIns="28575" tIns="9525" bIns="9525">
            <a:spAutoFit/>
          </a:bodyPr>
          <a:lstStyle/>
          <a:p>
            <a:pPr algn="ctr"/>
            <a:r>
              <a:rPr sz="1100" b="0">
                <a:solidFill>
                  <a:srgbClr val="2E2E2E"/>
                </a:solidFill>
                <a:latin typeface="Calibri"/>
              </a:rPr>
              <a:t>Silicone Waterproof C…</a:t>
            </a:r>
          </a:p>
        </p:txBody>
      </p:sp>
      <p:sp>
        <p:nvSpPr>
          <p:cNvPr id="78" name="TextBox 77"/>
          <p:cNvSpPr txBox="1"/>
          <p:nvPr/>
        </p:nvSpPr>
        <p:spPr>
          <a:xfrm>
            <a:off x="4162425" y="3129290"/>
            <a:ext cx="876300" cy="285750"/>
          </a:xfrm>
          <a:prstGeom prst="rect">
            <a:avLst/>
          </a:prstGeom>
          <a:noFill/>
        </p:spPr>
        <p:txBody>
          <a:bodyPr wrap="square" lIns="28575" rIns="28575" tIns="9525" bIns="9525">
            <a:spAutoFit/>
          </a:bodyPr>
          <a:lstStyle/>
          <a:p>
            <a:pPr algn="ctr"/>
            <a:r>
              <a:rPr sz="1100" b="0">
                <a:solidFill>
                  <a:srgbClr val="2E2E2E"/>
                </a:solidFill>
                <a:latin typeface="Calibri"/>
              </a:rPr>
              <a:t>Bituminous Waterproof…</a:t>
            </a:r>
          </a:p>
        </p:txBody>
      </p:sp>
      <p:sp>
        <p:nvSpPr>
          <p:cNvPr id="79" name="TextBox 78"/>
          <p:cNvSpPr txBox="1"/>
          <p:nvPr/>
        </p:nvSpPr>
        <p:spPr>
          <a:xfrm>
            <a:off x="5038725" y="3129290"/>
            <a:ext cx="876300" cy="285750"/>
          </a:xfrm>
          <a:prstGeom prst="rect">
            <a:avLst/>
          </a:prstGeom>
          <a:noFill/>
        </p:spPr>
        <p:txBody>
          <a:bodyPr wrap="square" lIns="28575" rIns="28575" tIns="9525" bIns="9525">
            <a:spAutoFit/>
          </a:bodyPr>
          <a:lstStyle/>
          <a:p>
            <a:pPr algn="ctr"/>
            <a:r>
              <a:rPr sz="1100" b="0">
                <a:solidFill>
                  <a:srgbClr val="2E2E2E"/>
                </a:solidFill>
                <a:latin typeface="Calibri"/>
              </a:rPr>
              <a:t>Cementitious Waterpro…</a:t>
            </a:r>
          </a:p>
        </p:txBody>
      </p:sp>
      <p:sp>
        <p:nvSpPr>
          <p:cNvPr id="80" name="TextBox 79"/>
          <p:cNvSpPr txBox="1"/>
          <p:nvPr/>
        </p:nvSpPr>
        <p:spPr>
          <a:xfrm>
            <a:off x="5915025" y="3129290"/>
            <a:ext cx="876300" cy="285750"/>
          </a:xfrm>
          <a:prstGeom prst="rect">
            <a:avLst/>
          </a:prstGeom>
          <a:noFill/>
        </p:spPr>
        <p:txBody>
          <a:bodyPr wrap="square" lIns="28575" rIns="28575" tIns="9525" bIns="9525">
            <a:spAutoFit/>
          </a:bodyPr>
          <a:lstStyle/>
          <a:p>
            <a:pPr algn="ctr"/>
            <a:r>
              <a:rPr sz="1100" b="0">
                <a:solidFill>
                  <a:srgbClr val="2E2E2E"/>
                </a:solidFill>
                <a:latin typeface="Calibri"/>
              </a:rPr>
              <a:t>Polyurea Waterproof C…</a:t>
            </a:r>
          </a:p>
        </p:txBody>
      </p:sp>
      <p:sp>
        <p:nvSpPr>
          <p:cNvPr id="81" name="TextBox 80"/>
          <p:cNvSpPr txBox="1"/>
          <p:nvPr/>
        </p:nvSpPr>
        <p:spPr>
          <a:xfrm>
            <a:off x="6791325" y="3129290"/>
            <a:ext cx="876300" cy="285750"/>
          </a:xfrm>
          <a:prstGeom prst="rect">
            <a:avLst/>
          </a:prstGeom>
          <a:noFill/>
        </p:spPr>
        <p:txBody>
          <a:bodyPr wrap="square" lIns="28575" rIns="28575" tIns="9525" bIns="9525">
            <a:spAutoFit/>
          </a:bodyPr>
          <a:lstStyle/>
          <a:p>
            <a:pPr algn="ctr"/>
            <a:r>
              <a:rPr sz="1100" b="0">
                <a:solidFill>
                  <a:srgbClr val="2E2E2E"/>
                </a:solidFill>
                <a:latin typeface="Calibri"/>
              </a:rPr>
              <a:t>Other Polymer-Based C…</a:t>
            </a:r>
          </a:p>
        </p:txBody>
      </p:sp>
      <p:sp>
        <p:nvSpPr>
          <p:cNvPr id="82" name="Rounded Rectangle 81"/>
          <p:cNvSpPr/>
          <p:nvPr/>
        </p:nvSpPr>
        <p:spPr>
          <a:xfrm>
            <a:off x="142875" y="3772696"/>
            <a:ext cx="7696200" cy="2783689"/>
          </a:xfrm>
          <a:prstGeom prst="roundRect">
            <a:avLst>
              <a:gd name="adj" fmla="val 27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 vs Global  ·  2026–2036</a:t>
            </a:r>
          </a:p>
        </p:txBody>
      </p:sp>
      <p:cxnSp>
        <p:nvCxnSpPr>
          <p:cNvPr id="84" name="Connector 83"/>
          <p:cNvCxnSpPr/>
          <p:nvPr/>
        </p:nvCxnSpPr>
        <p:spPr>
          <a:xfrm>
            <a:off x="619125" y="431708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619125" y="472842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619125" y="513977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619125" y="5551123"/>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619125" y="596247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619125" y="4317081"/>
            <a:ext cx="0" cy="164539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590550" y="4317081"/>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590550" y="472842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590550" y="513977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590550" y="555112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590550" y="5962471"/>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95" name="FMI Scale tick"/>
          <p:cNvSpPr txBox="1"/>
          <p:nvPr/>
        </p:nvSpPr>
        <p:spPr>
          <a:xfrm>
            <a:off x="219075" y="4250406"/>
            <a:ext cx="361950" cy="133350"/>
          </a:xfrm>
          <a:prstGeom prst="rect">
            <a:avLst/>
          </a:prstGeom>
          <a:noFill/>
        </p:spPr>
        <p:txBody>
          <a:bodyPr wrap="none" lIns="0" rIns="0" tIns="0" bIns="0" anchor="ctr">
            <a:spAutoFit/>
          </a:bodyPr>
          <a:lstStyle/>
          <a:p>
            <a:pPr algn="r"/>
            <a:r>
              <a:rPr sz="1100" b="0">
                <a:solidFill>
                  <a:srgbClr val="6C7A89"/>
                </a:solidFill>
                <a:latin typeface="Calibri"/>
              </a:rPr>
              <a:t>+56%</a:t>
            </a:r>
          </a:p>
        </p:txBody>
      </p:sp>
      <p:sp>
        <p:nvSpPr>
          <p:cNvPr id="96" name="FMI Scale tick"/>
          <p:cNvSpPr txBox="1"/>
          <p:nvPr/>
        </p:nvSpPr>
        <p:spPr>
          <a:xfrm>
            <a:off x="219075" y="4661753"/>
            <a:ext cx="361950" cy="133350"/>
          </a:xfrm>
          <a:prstGeom prst="rect">
            <a:avLst/>
          </a:prstGeom>
          <a:noFill/>
        </p:spPr>
        <p:txBody>
          <a:bodyPr wrap="none" lIns="0" rIns="0" tIns="0" bIns="0" anchor="ctr">
            <a:spAutoFit/>
          </a:bodyPr>
          <a:lstStyle/>
          <a:p>
            <a:pPr algn="r"/>
            <a:r>
              <a:rPr sz="1100" b="0">
                <a:solidFill>
                  <a:srgbClr val="6C7A89"/>
                </a:solidFill>
                <a:latin typeface="Calibri"/>
              </a:rPr>
              <a:t>+28%</a:t>
            </a:r>
          </a:p>
        </p:txBody>
      </p:sp>
      <p:sp>
        <p:nvSpPr>
          <p:cNvPr id="97" name="FMI Scale tick"/>
          <p:cNvSpPr txBox="1"/>
          <p:nvPr/>
        </p:nvSpPr>
        <p:spPr>
          <a:xfrm>
            <a:off x="107156" y="5073101"/>
            <a:ext cx="473869" cy="133350"/>
          </a:xfrm>
          <a:prstGeom prst="rect">
            <a:avLst/>
          </a:prstGeom>
          <a:noFill/>
        </p:spPr>
        <p:txBody>
          <a:bodyPr wrap="square" lIns="28575" rIns="28575" tIns="9525" bIns="9525" anchor="ctr">
            <a:spAutoFit/>
          </a:bodyPr>
          <a:lstStyle/>
          <a:p>
            <a:pPr algn="r"/>
            <a:r>
              <a:rPr sz="1100" b="1">
                <a:solidFill>
                  <a:srgbClr val="6C7A89"/>
                </a:solidFill>
                <a:latin typeface="Calibri"/>
              </a:rPr>
              <a:t>Global</a:t>
            </a:r>
          </a:p>
        </p:txBody>
      </p:sp>
      <p:sp>
        <p:nvSpPr>
          <p:cNvPr id="98" name="FMI Scale tick"/>
          <p:cNvSpPr txBox="1"/>
          <p:nvPr/>
        </p:nvSpPr>
        <p:spPr>
          <a:xfrm>
            <a:off x="219075" y="5484448"/>
            <a:ext cx="361950" cy="133350"/>
          </a:xfrm>
          <a:prstGeom prst="rect">
            <a:avLst/>
          </a:prstGeom>
          <a:noFill/>
        </p:spPr>
        <p:txBody>
          <a:bodyPr wrap="none" lIns="0" rIns="0" tIns="0" bIns="0" anchor="ctr">
            <a:spAutoFit/>
          </a:bodyPr>
          <a:lstStyle/>
          <a:p>
            <a:pPr algn="r"/>
            <a:r>
              <a:rPr sz="1100" b="0">
                <a:solidFill>
                  <a:srgbClr val="6C7A89"/>
                </a:solidFill>
                <a:latin typeface="Calibri"/>
              </a:rPr>
              <a:t>-28%</a:t>
            </a:r>
          </a:p>
        </p:txBody>
      </p:sp>
      <p:sp>
        <p:nvSpPr>
          <p:cNvPr id="99" name="FMI Scale tick"/>
          <p:cNvSpPr txBox="1"/>
          <p:nvPr/>
        </p:nvSpPr>
        <p:spPr>
          <a:xfrm>
            <a:off x="219075" y="5895796"/>
            <a:ext cx="361950" cy="133350"/>
          </a:xfrm>
          <a:prstGeom prst="rect">
            <a:avLst/>
          </a:prstGeom>
          <a:noFill/>
        </p:spPr>
        <p:txBody>
          <a:bodyPr wrap="none" lIns="0" rIns="0" tIns="0" bIns="0" anchor="ctr">
            <a:spAutoFit/>
          </a:bodyPr>
          <a:lstStyle/>
          <a:p>
            <a:pPr algn="r"/>
            <a:r>
              <a:rPr sz="1100" b="0">
                <a:solidFill>
                  <a:srgbClr val="6C7A89"/>
                </a:solidFill>
                <a:latin typeface="Calibri"/>
              </a:rPr>
              <a:t>-56%</a:t>
            </a:r>
          </a:p>
        </p:txBody>
      </p:sp>
      <p:cxnSp>
        <p:nvCxnSpPr>
          <p:cNvPr id="100" name="Connector 99"/>
          <p:cNvCxnSpPr/>
          <p:nvPr/>
        </p:nvCxnSpPr>
        <p:spPr>
          <a:xfrm>
            <a:off x="619125" y="5139776"/>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101" name="Rectangle 100"/>
          <p:cNvSpPr/>
          <p:nvPr/>
        </p:nvSpPr>
        <p:spPr>
          <a:xfrm>
            <a:off x="893989" y="4423458"/>
            <a:ext cx="457200" cy="716318"/>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FMI Data Label"/>
          <p:cNvSpPr txBox="1"/>
          <p:nvPr/>
        </p:nvSpPr>
        <p:spPr>
          <a:xfrm>
            <a:off x="619125" y="4280583"/>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103" name="Rectangle 102"/>
          <p:cNvSpPr/>
          <p:nvPr/>
        </p:nvSpPr>
        <p:spPr>
          <a:xfrm>
            <a:off x="1900918" y="5103163"/>
            <a:ext cx="457200" cy="36612"/>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FMI Data Label"/>
          <p:cNvSpPr txBox="1"/>
          <p:nvPr/>
        </p:nvSpPr>
        <p:spPr>
          <a:xfrm>
            <a:off x="1626054" y="4960288"/>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105" name="Rectangle 104"/>
          <p:cNvSpPr/>
          <p:nvPr/>
        </p:nvSpPr>
        <p:spPr>
          <a:xfrm>
            <a:off x="2907846" y="5139776"/>
            <a:ext cx="457200" cy="412685"/>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FMI Data Label"/>
          <p:cNvSpPr txBox="1"/>
          <p:nvPr/>
        </p:nvSpPr>
        <p:spPr>
          <a:xfrm>
            <a:off x="2632982" y="5561985"/>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107" name="Rectangle 106"/>
          <p:cNvSpPr/>
          <p:nvPr/>
        </p:nvSpPr>
        <p:spPr>
          <a:xfrm>
            <a:off x="3914775" y="5139776"/>
            <a:ext cx="457200" cy="528830"/>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MI Data Label"/>
          <p:cNvSpPr txBox="1"/>
          <p:nvPr/>
        </p:nvSpPr>
        <p:spPr>
          <a:xfrm>
            <a:off x="3639911" y="5678131"/>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109" name="Rectangle 108"/>
          <p:cNvSpPr/>
          <p:nvPr/>
        </p:nvSpPr>
        <p:spPr>
          <a:xfrm>
            <a:off x="4921704" y="4590074"/>
            <a:ext cx="457200" cy="549702"/>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FMI Data Label"/>
          <p:cNvSpPr txBox="1"/>
          <p:nvPr/>
        </p:nvSpPr>
        <p:spPr>
          <a:xfrm>
            <a:off x="4646839" y="4447199"/>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111" name="Rectangle 110"/>
          <p:cNvSpPr/>
          <p:nvPr/>
        </p:nvSpPr>
        <p:spPr>
          <a:xfrm>
            <a:off x="5928632" y="4944313"/>
            <a:ext cx="457200" cy="195463"/>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FMI Data Label"/>
          <p:cNvSpPr txBox="1"/>
          <p:nvPr/>
        </p:nvSpPr>
        <p:spPr>
          <a:xfrm>
            <a:off x="5653768" y="4801438"/>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113" name="Rectangle 112"/>
          <p:cNvSpPr/>
          <p:nvPr/>
        </p:nvSpPr>
        <p:spPr>
          <a:xfrm>
            <a:off x="6935561" y="5139776"/>
            <a:ext cx="457200" cy="60032"/>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FMI Data Label"/>
          <p:cNvSpPr txBox="1"/>
          <p:nvPr/>
        </p:nvSpPr>
        <p:spPr>
          <a:xfrm>
            <a:off x="6660696" y="5209333"/>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115" name="TextBox 114"/>
          <p:cNvSpPr txBox="1"/>
          <p:nvPr/>
        </p:nvSpPr>
        <p:spPr>
          <a:xfrm>
            <a:off x="619125"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North America</a:t>
            </a:r>
          </a:p>
        </p:txBody>
      </p:sp>
      <p:sp>
        <p:nvSpPr>
          <p:cNvPr id="116" name="TextBox 115"/>
          <p:cNvSpPr txBox="1"/>
          <p:nvPr/>
        </p:nvSpPr>
        <p:spPr>
          <a:xfrm>
            <a:off x="1626054"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Latin America</a:t>
            </a:r>
          </a:p>
        </p:txBody>
      </p:sp>
      <p:sp>
        <p:nvSpPr>
          <p:cNvPr id="117" name="TextBox 116"/>
          <p:cNvSpPr txBox="1"/>
          <p:nvPr/>
        </p:nvSpPr>
        <p:spPr>
          <a:xfrm>
            <a:off x="2632982"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East Asia</a:t>
            </a:r>
          </a:p>
        </p:txBody>
      </p:sp>
      <p:sp>
        <p:nvSpPr>
          <p:cNvPr id="118" name="TextBox 117"/>
          <p:cNvSpPr txBox="1"/>
          <p:nvPr/>
        </p:nvSpPr>
        <p:spPr>
          <a:xfrm>
            <a:off x="3639911"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South Asia &amp; Pacific</a:t>
            </a:r>
          </a:p>
        </p:txBody>
      </p:sp>
      <p:sp>
        <p:nvSpPr>
          <p:cNvPr id="119" name="TextBox 118"/>
          <p:cNvSpPr txBox="1"/>
          <p:nvPr/>
        </p:nvSpPr>
        <p:spPr>
          <a:xfrm>
            <a:off x="4646839"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Western Europe</a:t>
            </a:r>
          </a:p>
        </p:txBody>
      </p:sp>
      <p:sp>
        <p:nvSpPr>
          <p:cNvPr id="120" name="TextBox 119"/>
          <p:cNvSpPr txBox="1"/>
          <p:nvPr/>
        </p:nvSpPr>
        <p:spPr>
          <a:xfrm>
            <a:off x="5653768"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Eastern Europe</a:t>
            </a:r>
          </a:p>
        </p:txBody>
      </p:sp>
      <p:sp>
        <p:nvSpPr>
          <p:cNvPr id="121" name="TextBox 120"/>
          <p:cNvSpPr txBox="1"/>
          <p:nvPr/>
        </p:nvSpPr>
        <p:spPr>
          <a:xfrm>
            <a:off x="6660696"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Middle East &amp; Africa</a:t>
            </a:r>
          </a:p>
        </p:txBody>
      </p:sp>
      <p:sp>
        <p:nvSpPr>
          <p:cNvPr id="122" name="Rounded Rectangle 121"/>
          <p:cNvSpPr/>
          <p:nvPr/>
        </p:nvSpPr>
        <p:spPr>
          <a:xfrm>
            <a:off x="7915275" y="1052895"/>
            <a:ext cx="4133850" cy="5503490"/>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124" name="Rectangle 123"/>
          <p:cNvSpPr/>
          <p:nvPr/>
        </p:nvSpPr>
        <p:spPr>
          <a:xfrm>
            <a:off x="8048625" y="137674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26" name="TextBox 12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27" name="Picture 126" descr="lock.png"/>
          <p:cNvPicPr>
            <a:picLocks noChangeAspect="1"/>
          </p:cNvPicPr>
          <p:nvPr/>
        </p:nvPicPr>
        <p:blipFill>
          <a:blip r:embed="rId4"/>
          <a:stretch>
            <a:fillRect/>
          </a:stretch>
        </p:blipFill>
        <p:spPr>
          <a:xfrm>
            <a:off x="1031025" y="1571313"/>
            <a:ext cx="128699" cy="187198"/>
          </a:xfrm>
          <a:prstGeom prst="rect">
            <a:avLst/>
          </a:prstGeom>
        </p:spPr>
      </p:pic>
      <p:pic>
        <p:nvPicPr>
          <p:cNvPr id="128" name="Picture 127" descr="lock.png"/>
          <p:cNvPicPr>
            <a:picLocks noChangeAspect="1"/>
          </p:cNvPicPr>
          <p:nvPr/>
        </p:nvPicPr>
        <p:blipFill>
          <a:blip r:embed="rId4"/>
          <a:stretch>
            <a:fillRect/>
          </a:stretch>
        </p:blipFill>
        <p:spPr>
          <a:xfrm>
            <a:off x="1907325" y="1463749"/>
            <a:ext cx="128699" cy="187198"/>
          </a:xfrm>
          <a:prstGeom prst="rect">
            <a:avLst/>
          </a:prstGeom>
        </p:spPr>
      </p:pic>
      <p:pic>
        <p:nvPicPr>
          <p:cNvPr id="129" name="Picture 128" descr="lock.png"/>
          <p:cNvPicPr>
            <a:picLocks noChangeAspect="1"/>
          </p:cNvPicPr>
          <p:nvPr/>
        </p:nvPicPr>
        <p:blipFill>
          <a:blip r:embed="rId4"/>
          <a:stretch>
            <a:fillRect/>
          </a:stretch>
        </p:blipFill>
        <p:spPr>
          <a:xfrm>
            <a:off x="2783625" y="1621281"/>
            <a:ext cx="128699" cy="187198"/>
          </a:xfrm>
          <a:prstGeom prst="rect">
            <a:avLst/>
          </a:prstGeom>
        </p:spPr>
      </p:pic>
      <p:pic>
        <p:nvPicPr>
          <p:cNvPr id="130" name="Picture 129" descr="lock.png"/>
          <p:cNvPicPr>
            <a:picLocks noChangeAspect="1"/>
          </p:cNvPicPr>
          <p:nvPr/>
        </p:nvPicPr>
        <p:blipFill>
          <a:blip r:embed="rId4"/>
          <a:stretch>
            <a:fillRect/>
          </a:stretch>
        </p:blipFill>
        <p:spPr>
          <a:xfrm>
            <a:off x="3659925" y="1971670"/>
            <a:ext cx="128699" cy="187198"/>
          </a:xfrm>
          <a:prstGeom prst="rect">
            <a:avLst/>
          </a:prstGeom>
        </p:spPr>
      </p:pic>
      <p:pic>
        <p:nvPicPr>
          <p:cNvPr id="131" name="Picture 130" descr="lock.png"/>
          <p:cNvPicPr>
            <a:picLocks noChangeAspect="1"/>
          </p:cNvPicPr>
          <p:nvPr/>
        </p:nvPicPr>
        <p:blipFill>
          <a:blip r:embed="rId4"/>
          <a:stretch>
            <a:fillRect/>
          </a:stretch>
        </p:blipFill>
        <p:spPr>
          <a:xfrm>
            <a:off x="4536225" y="2600260"/>
            <a:ext cx="128699" cy="187198"/>
          </a:xfrm>
          <a:prstGeom prst="rect">
            <a:avLst/>
          </a:prstGeom>
        </p:spPr>
      </p:pic>
      <p:pic>
        <p:nvPicPr>
          <p:cNvPr id="132" name="Picture 131" descr="lock.png"/>
          <p:cNvPicPr>
            <a:picLocks noChangeAspect="1"/>
          </p:cNvPicPr>
          <p:nvPr/>
        </p:nvPicPr>
        <p:blipFill>
          <a:blip r:embed="rId4"/>
          <a:stretch>
            <a:fillRect/>
          </a:stretch>
        </p:blipFill>
        <p:spPr>
          <a:xfrm>
            <a:off x="5412525" y="1478045"/>
            <a:ext cx="128699" cy="187198"/>
          </a:xfrm>
          <a:prstGeom prst="rect">
            <a:avLst/>
          </a:prstGeom>
        </p:spPr>
      </p:pic>
      <p:pic>
        <p:nvPicPr>
          <p:cNvPr id="133" name="Picture 132" descr="lock.png"/>
          <p:cNvPicPr>
            <a:picLocks noChangeAspect="1"/>
          </p:cNvPicPr>
          <p:nvPr/>
        </p:nvPicPr>
        <p:blipFill>
          <a:blip r:embed="rId4"/>
          <a:stretch>
            <a:fillRect/>
          </a:stretch>
        </p:blipFill>
        <p:spPr>
          <a:xfrm>
            <a:off x="6288825" y="2530093"/>
            <a:ext cx="128699" cy="187198"/>
          </a:xfrm>
          <a:prstGeom prst="rect">
            <a:avLst/>
          </a:prstGeom>
        </p:spPr>
      </p:pic>
      <p:pic>
        <p:nvPicPr>
          <p:cNvPr id="134" name="Picture 133" descr="lock.png"/>
          <p:cNvPicPr>
            <a:picLocks noChangeAspect="1"/>
          </p:cNvPicPr>
          <p:nvPr/>
        </p:nvPicPr>
        <p:blipFill>
          <a:blip r:embed="rId4"/>
          <a:stretch>
            <a:fillRect/>
          </a:stretch>
        </p:blipFill>
        <p:spPr>
          <a:xfrm>
            <a:off x="7165125" y="1772013"/>
            <a:ext cx="128699" cy="187198"/>
          </a:xfrm>
          <a:prstGeom prst="rect">
            <a:avLst/>
          </a:prstGeom>
        </p:spPr>
      </p:pic>
      <p:pic>
        <p:nvPicPr>
          <p:cNvPr id="135" name="Picture 134" descr="lock.png"/>
          <p:cNvPicPr>
            <a:picLocks noChangeAspect="1"/>
          </p:cNvPicPr>
          <p:nvPr/>
        </p:nvPicPr>
        <p:blipFill>
          <a:blip r:embed="rId4"/>
          <a:stretch>
            <a:fillRect/>
          </a:stretch>
        </p:blipFill>
        <p:spPr>
          <a:xfrm>
            <a:off x="1058240" y="4253659"/>
            <a:ext cx="128699" cy="187198"/>
          </a:xfrm>
          <a:prstGeom prst="rect">
            <a:avLst/>
          </a:prstGeom>
        </p:spPr>
      </p:pic>
      <p:pic>
        <p:nvPicPr>
          <p:cNvPr id="136" name="Picture 135" descr="lock.png"/>
          <p:cNvPicPr>
            <a:picLocks noChangeAspect="1"/>
          </p:cNvPicPr>
          <p:nvPr/>
        </p:nvPicPr>
        <p:blipFill>
          <a:blip r:embed="rId4"/>
          <a:stretch>
            <a:fillRect/>
          </a:stretch>
        </p:blipFill>
        <p:spPr>
          <a:xfrm>
            <a:off x="2065168" y="4933363"/>
            <a:ext cx="128699" cy="187198"/>
          </a:xfrm>
          <a:prstGeom prst="rect">
            <a:avLst/>
          </a:prstGeom>
        </p:spPr>
      </p:pic>
      <p:pic>
        <p:nvPicPr>
          <p:cNvPr id="137" name="Picture 136" descr="lock.png"/>
          <p:cNvPicPr>
            <a:picLocks noChangeAspect="1"/>
          </p:cNvPicPr>
          <p:nvPr/>
        </p:nvPicPr>
        <p:blipFill>
          <a:blip r:embed="rId4"/>
          <a:stretch>
            <a:fillRect/>
          </a:stretch>
        </p:blipFill>
        <p:spPr>
          <a:xfrm>
            <a:off x="3072097" y="5535060"/>
            <a:ext cx="128699" cy="187198"/>
          </a:xfrm>
          <a:prstGeom prst="rect">
            <a:avLst/>
          </a:prstGeom>
        </p:spPr>
      </p:pic>
      <p:pic>
        <p:nvPicPr>
          <p:cNvPr id="138" name="Picture 137" descr="lock.png"/>
          <p:cNvPicPr>
            <a:picLocks noChangeAspect="1"/>
          </p:cNvPicPr>
          <p:nvPr/>
        </p:nvPicPr>
        <p:blipFill>
          <a:blip r:embed="rId4"/>
          <a:stretch>
            <a:fillRect/>
          </a:stretch>
        </p:blipFill>
        <p:spPr>
          <a:xfrm>
            <a:off x="4079026" y="5651206"/>
            <a:ext cx="128699" cy="187198"/>
          </a:xfrm>
          <a:prstGeom prst="rect">
            <a:avLst/>
          </a:prstGeom>
        </p:spPr>
      </p:pic>
      <p:pic>
        <p:nvPicPr>
          <p:cNvPr id="139" name="Picture 138" descr="lock.png"/>
          <p:cNvPicPr>
            <a:picLocks noChangeAspect="1"/>
          </p:cNvPicPr>
          <p:nvPr/>
        </p:nvPicPr>
        <p:blipFill>
          <a:blip r:embed="rId4"/>
          <a:stretch>
            <a:fillRect/>
          </a:stretch>
        </p:blipFill>
        <p:spPr>
          <a:xfrm>
            <a:off x="5085954" y="4420275"/>
            <a:ext cx="128699" cy="187198"/>
          </a:xfrm>
          <a:prstGeom prst="rect">
            <a:avLst/>
          </a:prstGeom>
        </p:spPr>
      </p:pic>
      <p:pic>
        <p:nvPicPr>
          <p:cNvPr id="140" name="Picture 139" descr="lock.png"/>
          <p:cNvPicPr>
            <a:picLocks noChangeAspect="1"/>
          </p:cNvPicPr>
          <p:nvPr/>
        </p:nvPicPr>
        <p:blipFill>
          <a:blip r:embed="rId4"/>
          <a:stretch>
            <a:fillRect/>
          </a:stretch>
        </p:blipFill>
        <p:spPr>
          <a:xfrm>
            <a:off x="6092883" y="4774514"/>
            <a:ext cx="128699" cy="187198"/>
          </a:xfrm>
          <a:prstGeom prst="rect">
            <a:avLst/>
          </a:prstGeom>
        </p:spPr>
      </p:pic>
      <p:pic>
        <p:nvPicPr>
          <p:cNvPr id="141" name="Picture 140" descr="lock.png"/>
          <p:cNvPicPr>
            <a:picLocks noChangeAspect="1"/>
          </p:cNvPicPr>
          <p:nvPr/>
        </p:nvPicPr>
        <p:blipFill>
          <a:blip r:embed="rId4"/>
          <a:stretch>
            <a:fillRect/>
          </a:stretch>
        </p:blipFill>
        <p:spPr>
          <a:xfrm>
            <a:off x="7099811" y="5182408"/>
            <a:ext cx="128699" cy="187198"/>
          </a:xfrm>
          <a:prstGeom prst="rect">
            <a:avLst/>
          </a:prstGeom>
        </p:spPr>
      </p:pic>
      <p:sp>
        <p:nvSpPr>
          <p:cNvPr id="142" name="TextBox 141"/>
          <p:cNvSpPr txBox="1"/>
          <p:nvPr/>
        </p:nvSpPr>
        <p:spPr>
          <a:xfrm>
            <a:off x="8048625" y="1471995"/>
            <a:ext cx="3807891" cy="194310"/>
          </a:xfrm>
          <a:prstGeom prst="rect">
            <a:avLst/>
          </a:prstGeom>
          <a:noFill/>
        </p:spPr>
        <p:txBody>
          <a:bodyPr wrap="none" lIns="0" rIns="0" tIns="0" bIns="0">
            <a:spAutoFit/>
          </a:bodyPr>
          <a:lstStyle/>
          <a:p>
            <a:r>
              <a:rPr sz="1150" b="0">
                <a:solidFill>
                  <a:srgbClr val="2E2E2E"/>
                </a:solidFill>
                <a:latin typeface="Calibri"/>
              </a:rPr>
              <a:t>Polyurethane (PU) waterproof coatings segment is expected to</a:t>
            </a:r>
          </a:p>
        </p:txBody>
      </p:sp>
      <p:sp>
        <p:nvSpPr>
          <p:cNvPr id="143" name="TextBox 142"/>
          <p:cNvSpPr txBox="1"/>
          <p:nvPr/>
        </p:nvSpPr>
        <p:spPr>
          <a:xfrm>
            <a:off x="8048625" y="1647255"/>
            <a:ext cx="2627225" cy="194310"/>
          </a:xfrm>
          <a:prstGeom prst="rect">
            <a:avLst/>
          </a:prstGeom>
          <a:noFill/>
        </p:spPr>
        <p:txBody>
          <a:bodyPr wrap="none" lIns="0" rIns="0" tIns="0" bIns="0">
            <a:spAutoFit/>
          </a:bodyPr>
          <a:lstStyle/>
          <a:p>
            <a:r>
              <a:rPr sz="1150" b="0">
                <a:solidFill>
                  <a:srgbClr val="2E2E2E"/>
                </a:solidFill>
                <a:latin typeface="Calibri"/>
              </a:rPr>
              <a:t>command the highest average price of US$</a:t>
            </a:r>
          </a:p>
        </p:txBody>
      </p:sp>
      <p:pic>
        <p:nvPicPr>
          <p:cNvPr id="144" name="Picture 143" descr="lock.png"/>
          <p:cNvPicPr>
            <a:picLocks noChangeAspect="1"/>
          </p:cNvPicPr>
          <p:nvPr/>
        </p:nvPicPr>
        <p:blipFill>
          <a:blip r:embed="rId4"/>
          <a:stretch>
            <a:fillRect/>
          </a:stretch>
        </p:blipFill>
        <p:spPr>
          <a:xfrm>
            <a:off x="10625004" y="1637031"/>
            <a:ext cx="134549" cy="195707"/>
          </a:xfrm>
          <a:prstGeom prst="rect">
            <a:avLst/>
          </a:prstGeom>
        </p:spPr>
      </p:pic>
      <p:sp>
        <p:nvSpPr>
          <p:cNvPr id="145" name="TextBox 144"/>
          <p:cNvSpPr txBox="1"/>
          <p:nvPr/>
        </p:nvSpPr>
        <p:spPr>
          <a:xfrm>
            <a:off x="10800113" y="1647255"/>
            <a:ext cx="706611" cy="194310"/>
          </a:xfrm>
          <a:prstGeom prst="rect">
            <a:avLst/>
          </a:prstGeom>
          <a:noFill/>
        </p:spPr>
        <p:txBody>
          <a:bodyPr wrap="none" lIns="0" rIns="0" tIns="0" bIns="0">
            <a:spAutoFit/>
          </a:bodyPr>
          <a:lstStyle/>
          <a:p>
            <a:r>
              <a:rPr sz="1150" b="0">
                <a:solidFill>
                  <a:srgbClr val="2E2E2E"/>
                </a:solidFill>
                <a:latin typeface="Calibri"/>
              </a:rPr>
              <a:t>per Unit in</a:t>
            </a:r>
          </a:p>
        </p:txBody>
      </p:sp>
      <p:sp>
        <p:nvSpPr>
          <p:cNvPr id="146" name="TextBox 145"/>
          <p:cNvSpPr txBox="1"/>
          <p:nvPr/>
        </p:nvSpPr>
        <p:spPr>
          <a:xfrm>
            <a:off x="8048625" y="1822515"/>
            <a:ext cx="3809563" cy="194310"/>
          </a:xfrm>
          <a:prstGeom prst="rect">
            <a:avLst/>
          </a:prstGeom>
          <a:noFill/>
        </p:spPr>
        <p:txBody>
          <a:bodyPr wrap="none" lIns="0" rIns="0" tIns="0" bIns="0">
            <a:spAutoFit/>
          </a:bodyPr>
          <a:lstStyle/>
          <a:p>
            <a:r>
              <a:rPr sz="1150" b="0">
                <a:solidFill>
                  <a:srgbClr val="2E2E2E"/>
                </a:solidFill>
                <a:latin typeface="Calibri"/>
              </a:rPr>
              <a:t>2036. Average selling price of waterproof coatings is estimated</a:t>
            </a:r>
          </a:p>
        </p:txBody>
      </p:sp>
      <p:sp>
        <p:nvSpPr>
          <p:cNvPr id="147" name="TextBox 146"/>
          <p:cNvSpPr txBox="1"/>
          <p:nvPr/>
        </p:nvSpPr>
        <p:spPr>
          <a:xfrm>
            <a:off x="8048625" y="1997775"/>
            <a:ext cx="463289" cy="194310"/>
          </a:xfrm>
          <a:prstGeom prst="rect">
            <a:avLst/>
          </a:prstGeom>
          <a:noFill/>
        </p:spPr>
        <p:txBody>
          <a:bodyPr wrap="none" lIns="0" rIns="0" tIns="0" bIns="0">
            <a:spAutoFit/>
          </a:bodyPr>
          <a:lstStyle/>
          <a:p>
            <a:r>
              <a:rPr sz="1150" b="0">
                <a:solidFill>
                  <a:srgbClr val="2E2E2E"/>
                </a:solidFill>
                <a:latin typeface="Calibri"/>
              </a:rPr>
              <a:t>at US$</a:t>
            </a:r>
          </a:p>
        </p:txBody>
      </p:sp>
      <p:pic>
        <p:nvPicPr>
          <p:cNvPr id="148" name="Picture 147" descr="lock.png"/>
          <p:cNvPicPr>
            <a:picLocks noChangeAspect="1"/>
          </p:cNvPicPr>
          <p:nvPr/>
        </p:nvPicPr>
        <p:blipFill>
          <a:blip r:embed="rId4"/>
          <a:stretch>
            <a:fillRect/>
          </a:stretch>
        </p:blipFill>
        <p:spPr>
          <a:xfrm>
            <a:off x="8461068" y="1987551"/>
            <a:ext cx="134549" cy="195707"/>
          </a:xfrm>
          <a:prstGeom prst="rect">
            <a:avLst/>
          </a:prstGeom>
        </p:spPr>
      </p:pic>
      <p:sp>
        <p:nvSpPr>
          <p:cNvPr id="149" name="TextBox 148"/>
          <p:cNvSpPr txBox="1"/>
          <p:nvPr/>
        </p:nvSpPr>
        <p:spPr>
          <a:xfrm>
            <a:off x="8636177" y="1997775"/>
            <a:ext cx="3120144" cy="194310"/>
          </a:xfrm>
          <a:prstGeom prst="rect">
            <a:avLst/>
          </a:prstGeom>
          <a:noFill/>
        </p:spPr>
        <p:txBody>
          <a:bodyPr wrap="none" lIns="0" rIns="0" tIns="0" bIns="0">
            <a:spAutoFit/>
          </a:bodyPr>
          <a:lstStyle/>
          <a:p>
            <a:r>
              <a:rPr sz="1150" b="0">
                <a:solidFill>
                  <a:srgbClr val="2E2E2E"/>
                </a:solidFill>
                <a:latin typeface="Calibri"/>
              </a:rPr>
              <a:t>per Unit in 2025 and is projected to remain broadly</a:t>
            </a:r>
          </a:p>
        </p:txBody>
      </p:sp>
      <p:sp>
        <p:nvSpPr>
          <p:cNvPr id="150" name="TextBox 149"/>
          <p:cNvSpPr txBox="1"/>
          <p:nvPr/>
        </p:nvSpPr>
        <p:spPr>
          <a:xfrm>
            <a:off x="8048625" y="2173035"/>
            <a:ext cx="855513" cy="194310"/>
          </a:xfrm>
          <a:prstGeom prst="rect">
            <a:avLst/>
          </a:prstGeom>
          <a:noFill/>
        </p:spPr>
        <p:txBody>
          <a:bodyPr wrap="none" lIns="0" rIns="0" tIns="0" bIns="0">
            <a:spAutoFit/>
          </a:bodyPr>
          <a:lstStyle/>
          <a:p>
            <a:r>
              <a:rPr sz="1150" b="0">
                <a:solidFill>
                  <a:srgbClr val="2E2E2E"/>
                </a:solidFill>
                <a:latin typeface="Calibri"/>
              </a:rPr>
              <a:t>stable at US$</a:t>
            </a:r>
          </a:p>
        </p:txBody>
      </p:sp>
      <p:pic>
        <p:nvPicPr>
          <p:cNvPr id="151" name="Picture 150" descr="lock.png"/>
          <p:cNvPicPr>
            <a:picLocks noChangeAspect="1"/>
          </p:cNvPicPr>
          <p:nvPr/>
        </p:nvPicPr>
        <p:blipFill>
          <a:blip r:embed="rId4"/>
          <a:stretch>
            <a:fillRect/>
          </a:stretch>
        </p:blipFill>
        <p:spPr>
          <a:xfrm>
            <a:off x="8853292" y="2162811"/>
            <a:ext cx="134549" cy="195707"/>
          </a:xfrm>
          <a:prstGeom prst="rect">
            <a:avLst/>
          </a:prstGeom>
        </p:spPr>
      </p:pic>
      <p:sp>
        <p:nvSpPr>
          <p:cNvPr id="152" name="TextBox 151"/>
          <p:cNvSpPr txBox="1"/>
          <p:nvPr/>
        </p:nvSpPr>
        <p:spPr>
          <a:xfrm>
            <a:off x="9028401" y="2173035"/>
            <a:ext cx="1105681" cy="194310"/>
          </a:xfrm>
          <a:prstGeom prst="rect">
            <a:avLst/>
          </a:prstGeom>
          <a:noFill/>
        </p:spPr>
        <p:txBody>
          <a:bodyPr wrap="none" lIns="0" rIns="0" tIns="0" bIns="0">
            <a:spAutoFit/>
          </a:bodyPr>
          <a:lstStyle/>
          <a:p>
            <a:r>
              <a:rPr sz="1150" b="0">
                <a:solidFill>
                  <a:srgbClr val="2E2E2E"/>
                </a:solidFill>
                <a:latin typeface="Calibri"/>
              </a:rPr>
              <a:t>per Unit by 2036.</a:t>
            </a:r>
          </a:p>
        </p:txBody>
      </p:sp>
      <p:sp>
        <p:nvSpPr>
          <p:cNvPr id="153" name="TextBox 152"/>
          <p:cNvSpPr txBox="1"/>
          <p:nvPr/>
        </p:nvSpPr>
        <p:spPr>
          <a:xfrm>
            <a:off x="8048625" y="2400873"/>
            <a:ext cx="3783074" cy="194310"/>
          </a:xfrm>
          <a:prstGeom prst="rect">
            <a:avLst/>
          </a:prstGeom>
          <a:noFill/>
        </p:spPr>
        <p:txBody>
          <a:bodyPr wrap="none" lIns="0" rIns="0" tIns="0" bIns="0">
            <a:spAutoFit/>
          </a:bodyPr>
          <a:lstStyle/>
          <a:p>
            <a:r>
              <a:rPr sz="1150" b="0">
                <a:solidFill>
                  <a:srgbClr val="2E2E2E"/>
                </a:solidFill>
                <a:latin typeface="Calibri"/>
              </a:rPr>
              <a:t>North America is the highest-priced region, while South Asia &amp;</a:t>
            </a:r>
          </a:p>
        </p:txBody>
      </p:sp>
      <p:sp>
        <p:nvSpPr>
          <p:cNvPr id="154" name="TextBox 153"/>
          <p:cNvSpPr txBox="1"/>
          <p:nvPr/>
        </p:nvSpPr>
        <p:spPr>
          <a:xfrm>
            <a:off x="8048625" y="2576133"/>
            <a:ext cx="3821583" cy="194310"/>
          </a:xfrm>
          <a:prstGeom prst="rect">
            <a:avLst/>
          </a:prstGeom>
          <a:noFill/>
        </p:spPr>
        <p:txBody>
          <a:bodyPr wrap="none" lIns="0" rIns="0" tIns="0" bIns="0">
            <a:spAutoFit/>
          </a:bodyPr>
          <a:lstStyle/>
          <a:p>
            <a:r>
              <a:rPr sz="1150" b="0">
                <a:solidFill>
                  <a:srgbClr val="2E2E2E"/>
                </a:solidFill>
                <a:latin typeface="Calibri"/>
              </a:rPr>
              <a:t>Pacific is the most price-competitive market. Against the global</a:t>
            </a:r>
          </a:p>
        </p:txBody>
      </p:sp>
      <p:sp>
        <p:nvSpPr>
          <p:cNvPr id="155" name="TextBox 154"/>
          <p:cNvSpPr txBox="1"/>
          <p:nvPr/>
        </p:nvSpPr>
        <p:spPr>
          <a:xfrm>
            <a:off x="8048625" y="2751393"/>
            <a:ext cx="526901" cy="194310"/>
          </a:xfrm>
          <a:prstGeom prst="rect">
            <a:avLst/>
          </a:prstGeom>
          <a:noFill/>
        </p:spPr>
        <p:txBody>
          <a:bodyPr wrap="none" lIns="0" rIns="0" tIns="0" bIns="0">
            <a:spAutoFit/>
          </a:bodyPr>
          <a:lstStyle/>
          <a:p>
            <a:r>
              <a:rPr sz="1150" b="0">
                <a:solidFill>
                  <a:srgbClr val="2E2E2E"/>
                </a:solidFill>
                <a:latin typeface="Calibri"/>
              </a:rPr>
              <a:t>price of</a:t>
            </a:r>
          </a:p>
        </p:txBody>
      </p:sp>
      <p:pic>
        <p:nvPicPr>
          <p:cNvPr id="156" name="Picture 155" descr="lock.png"/>
          <p:cNvPicPr>
            <a:picLocks noChangeAspect="1"/>
          </p:cNvPicPr>
          <p:nvPr/>
        </p:nvPicPr>
        <p:blipFill>
          <a:blip r:embed="rId4"/>
          <a:stretch>
            <a:fillRect/>
          </a:stretch>
        </p:blipFill>
        <p:spPr>
          <a:xfrm>
            <a:off x="8524680" y="2741169"/>
            <a:ext cx="134549" cy="195707"/>
          </a:xfrm>
          <a:prstGeom prst="rect">
            <a:avLst/>
          </a:prstGeom>
        </p:spPr>
      </p:pic>
      <p:sp>
        <p:nvSpPr>
          <p:cNvPr id="157" name="TextBox 156"/>
          <p:cNvSpPr txBox="1"/>
          <p:nvPr/>
        </p:nvSpPr>
        <p:spPr>
          <a:xfrm>
            <a:off x="8699789" y="2751393"/>
            <a:ext cx="3076500" cy="194310"/>
          </a:xfrm>
          <a:prstGeom prst="rect">
            <a:avLst/>
          </a:prstGeom>
          <a:noFill/>
        </p:spPr>
        <p:txBody>
          <a:bodyPr wrap="none" lIns="0" rIns="0" tIns="0" bIns="0">
            <a:spAutoFit/>
          </a:bodyPr>
          <a:lstStyle/>
          <a:p>
            <a:r>
              <a:rPr sz="1150" b="0">
                <a:solidFill>
                  <a:srgbClr val="2E2E2E"/>
                </a:solidFill>
                <a:latin typeface="Calibri"/>
              </a:rPr>
              <a:t>US$/Units, 4 of 7 regions price above and 3 below.</a:t>
            </a:r>
          </a:p>
        </p:txBody>
      </p:sp>
      <p:sp>
        <p:nvSpPr>
          <p:cNvPr id="158" name="TextBox 157"/>
          <p:cNvSpPr txBox="1"/>
          <p:nvPr/>
        </p:nvSpPr>
        <p:spPr>
          <a:xfrm>
            <a:off x="8048625" y="2979230"/>
            <a:ext cx="2108063" cy="194310"/>
          </a:xfrm>
          <a:prstGeom prst="rect">
            <a:avLst/>
          </a:prstGeom>
          <a:noFill/>
        </p:spPr>
        <p:txBody>
          <a:bodyPr wrap="none" lIns="0" rIns="0" tIns="0" bIns="0">
            <a:spAutoFit/>
          </a:bodyPr>
          <a:lstStyle/>
          <a:p>
            <a:r>
              <a:rPr sz="1150" b="0">
                <a:solidFill>
                  <a:srgbClr val="2E2E2E"/>
                </a:solidFill>
                <a:latin typeface="Calibri"/>
              </a:rPr>
              <a:t>'North America' is the dearest at +</a:t>
            </a:r>
          </a:p>
        </p:txBody>
      </p:sp>
      <p:pic>
        <p:nvPicPr>
          <p:cNvPr id="159" name="Picture 158" descr="lock.png"/>
          <p:cNvPicPr>
            <a:picLocks noChangeAspect="1"/>
          </p:cNvPicPr>
          <p:nvPr/>
        </p:nvPicPr>
        <p:blipFill>
          <a:blip r:embed="rId4"/>
          <a:stretch>
            <a:fillRect/>
          </a:stretch>
        </p:blipFill>
        <p:spPr>
          <a:xfrm>
            <a:off x="10105842" y="2969007"/>
            <a:ext cx="134549" cy="195707"/>
          </a:xfrm>
          <a:prstGeom prst="rect">
            <a:avLst/>
          </a:prstGeom>
        </p:spPr>
      </p:pic>
      <p:sp>
        <p:nvSpPr>
          <p:cNvPr id="160" name="TextBox 159"/>
          <p:cNvSpPr txBox="1"/>
          <p:nvPr/>
        </p:nvSpPr>
        <p:spPr>
          <a:xfrm>
            <a:off x="10280951" y="2979230"/>
            <a:ext cx="1599455" cy="194310"/>
          </a:xfrm>
          <a:prstGeom prst="rect">
            <a:avLst/>
          </a:prstGeom>
          <a:noFill/>
        </p:spPr>
        <p:txBody>
          <a:bodyPr wrap="none" lIns="0" rIns="0" tIns="0" bIns="0">
            <a:spAutoFit/>
          </a:bodyPr>
          <a:lstStyle/>
          <a:p>
            <a:r>
              <a:rPr sz="1150" b="0">
                <a:solidFill>
                  <a:srgbClr val="2E2E2E"/>
                </a:solidFill>
                <a:latin typeface="Calibri"/>
              </a:rPr>
              <a:t>versus Global, 'South Asia</a:t>
            </a:r>
          </a:p>
        </p:txBody>
      </p:sp>
      <p:sp>
        <p:nvSpPr>
          <p:cNvPr id="161" name="TextBox 160"/>
          <p:cNvSpPr txBox="1"/>
          <p:nvPr/>
        </p:nvSpPr>
        <p:spPr>
          <a:xfrm>
            <a:off x="8048625" y="3154490"/>
            <a:ext cx="1653654" cy="194310"/>
          </a:xfrm>
          <a:prstGeom prst="rect">
            <a:avLst/>
          </a:prstGeom>
          <a:noFill/>
        </p:spPr>
        <p:txBody>
          <a:bodyPr wrap="none" lIns="0" rIns="0" tIns="0" bIns="0">
            <a:spAutoFit/>
          </a:bodyPr>
          <a:lstStyle/>
          <a:p>
            <a:r>
              <a:rPr sz="1150" b="0">
                <a:solidFill>
                  <a:srgbClr val="2E2E2E"/>
                </a:solidFill>
                <a:latin typeface="Calibri"/>
              </a:rPr>
              <a:t>&amp; Pacific' the cheapest at -</a:t>
            </a:r>
          </a:p>
        </p:txBody>
      </p:sp>
      <p:pic>
        <p:nvPicPr>
          <p:cNvPr id="162" name="Picture 161" descr="lock.png"/>
          <p:cNvPicPr>
            <a:picLocks noChangeAspect="1"/>
          </p:cNvPicPr>
          <p:nvPr/>
        </p:nvPicPr>
        <p:blipFill>
          <a:blip r:embed="rId4"/>
          <a:stretch>
            <a:fillRect/>
          </a:stretch>
        </p:blipFill>
        <p:spPr>
          <a:xfrm>
            <a:off x="9651433" y="3144267"/>
            <a:ext cx="134549" cy="195707"/>
          </a:xfrm>
          <a:prstGeom prst="rect">
            <a:avLst/>
          </a:prstGeom>
        </p:spPr>
      </p:pic>
      <p:sp>
        <p:nvSpPr>
          <p:cNvPr id="163" name="TextBox 162"/>
          <p:cNvSpPr txBox="1"/>
          <p:nvPr/>
        </p:nvSpPr>
        <p:spPr>
          <a:xfrm>
            <a:off x="9826542" y="3154490"/>
            <a:ext cx="1702147" cy="194310"/>
          </a:xfrm>
          <a:prstGeom prst="rect">
            <a:avLst/>
          </a:prstGeom>
          <a:noFill/>
        </p:spPr>
        <p:txBody>
          <a:bodyPr wrap="none" lIns="0" rIns="0" tIns="0" bIns="0">
            <a:spAutoFit/>
          </a:bodyPr>
          <a:lstStyle/>
          <a:p>
            <a:r>
              <a:rPr sz="1150" b="0">
                <a:solidFill>
                  <a:srgbClr val="2E2E2E"/>
                </a:solidFill>
                <a:latin typeface="Calibri"/>
              </a:rPr>
              <a:t>pointing to premiumisation</a:t>
            </a:r>
          </a:p>
        </p:txBody>
      </p:sp>
      <p:sp>
        <p:nvSpPr>
          <p:cNvPr id="164" name="TextBox 163"/>
          <p:cNvSpPr txBox="1"/>
          <p:nvPr/>
        </p:nvSpPr>
        <p:spPr>
          <a:xfrm>
            <a:off x="8048625" y="3329750"/>
            <a:ext cx="2365647" cy="194310"/>
          </a:xfrm>
          <a:prstGeom prst="rect">
            <a:avLst/>
          </a:prstGeom>
          <a:noFill/>
        </p:spPr>
        <p:txBody>
          <a:bodyPr wrap="none" lIns="0" rIns="0" tIns="0" bIns="0">
            <a:spAutoFit/>
          </a:bodyPr>
          <a:lstStyle/>
          <a:p>
            <a:r>
              <a:rPr sz="1150" b="0">
                <a:solidFill>
                  <a:srgbClr val="2E2E2E"/>
                </a:solidFill>
                <a:latin typeface="Calibri"/>
              </a:rPr>
              <a:t>headroom in the lower-priced regions.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Waterproof Coatings Market Summary, By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global market value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(US$ MN)</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(US$ Mn)</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0" name="Rounded Rectangle 19"/>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Rounded Rectangle 23"/>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6" name="Rectangle 25"/>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3139826" cy="194310"/>
          </a:xfrm>
          <a:prstGeom prst="rect">
            <a:avLst/>
          </a:prstGeom>
          <a:noFill/>
        </p:spPr>
        <p:txBody>
          <a:bodyPr wrap="none" lIns="0" rIns="0" tIns="0" bIns="0">
            <a:spAutoFit/>
          </a:bodyPr>
          <a:lstStyle/>
          <a:p>
            <a:r>
              <a:rPr sz="1150" b="0">
                <a:solidFill>
                  <a:srgbClr val="2E2E2E"/>
                </a:solidFill>
                <a:latin typeface="Calibri"/>
              </a:rPr>
              <a:t>Waterproof coatings market is projected to register</a:t>
            </a:r>
          </a:p>
        </p:txBody>
      </p:sp>
      <p:pic>
        <p:nvPicPr>
          <p:cNvPr id="35" name="Picture 34" descr="lock.png"/>
          <p:cNvPicPr>
            <a:picLocks noChangeAspect="1"/>
          </p:cNvPicPr>
          <p:nvPr/>
        </p:nvPicPr>
        <p:blipFill>
          <a:blip r:embed="rId6"/>
          <a:stretch>
            <a:fillRect/>
          </a:stretch>
        </p:blipFill>
        <p:spPr>
          <a:xfrm>
            <a:off x="11137605" y="2036763"/>
            <a:ext cx="134549" cy="195707"/>
          </a:xfrm>
          <a:prstGeom prst="rect">
            <a:avLst/>
          </a:prstGeom>
        </p:spPr>
      </p:pic>
      <p:sp>
        <p:nvSpPr>
          <p:cNvPr id="36" name="TextBox 35"/>
          <p:cNvSpPr txBox="1"/>
          <p:nvPr/>
        </p:nvSpPr>
        <p:spPr>
          <a:xfrm>
            <a:off x="11312715" y="2046987"/>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37" name="TextBox 36"/>
          <p:cNvSpPr txBox="1"/>
          <p:nvPr/>
        </p:nvSpPr>
        <p:spPr>
          <a:xfrm>
            <a:off x="8048625" y="2222247"/>
            <a:ext cx="3571986" cy="194310"/>
          </a:xfrm>
          <a:prstGeom prst="rect">
            <a:avLst/>
          </a:prstGeom>
          <a:noFill/>
        </p:spPr>
        <p:txBody>
          <a:bodyPr wrap="none" lIns="0" rIns="0" tIns="0" bIns="0">
            <a:spAutoFit/>
          </a:bodyPr>
          <a:lstStyle/>
          <a:p>
            <a:r>
              <a:rPr sz="1150" b="0">
                <a:solidFill>
                  <a:srgbClr val="2E2E2E"/>
                </a:solidFill>
                <a:latin typeface="Calibri"/>
              </a:rPr>
              <a:t>increase in its revenue by the end of forecast period, 2036.</a:t>
            </a:r>
          </a:p>
        </p:txBody>
      </p:sp>
      <p:sp>
        <p:nvSpPr>
          <p:cNvPr id="38" name="TextBox 37"/>
          <p:cNvSpPr txBox="1"/>
          <p:nvPr/>
        </p:nvSpPr>
        <p:spPr>
          <a:xfrm>
            <a:off x="8048625" y="2397507"/>
            <a:ext cx="3777369" cy="194310"/>
          </a:xfrm>
          <a:prstGeom prst="rect">
            <a:avLst/>
          </a:prstGeom>
          <a:noFill/>
        </p:spPr>
        <p:txBody>
          <a:bodyPr wrap="none" lIns="0" rIns="0" tIns="0" bIns="0">
            <a:spAutoFit/>
          </a:bodyPr>
          <a:lstStyle/>
          <a:p>
            <a:r>
              <a:rPr sz="1150" b="0">
                <a:solidFill>
                  <a:srgbClr val="2E2E2E"/>
                </a:solidFill>
                <a:latin typeface="Calibri"/>
              </a:rPr>
              <a:t>Global waterproof coatings market is expected to be valued at</a:t>
            </a:r>
          </a:p>
        </p:txBody>
      </p:sp>
      <p:sp>
        <p:nvSpPr>
          <p:cNvPr id="39" name="TextBox 38"/>
          <p:cNvSpPr txBox="1"/>
          <p:nvPr/>
        </p:nvSpPr>
        <p:spPr>
          <a:xfrm>
            <a:off x="8048625" y="2572767"/>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40" name="Picture 39" descr="lock.png"/>
          <p:cNvPicPr>
            <a:picLocks noChangeAspect="1"/>
          </p:cNvPicPr>
          <p:nvPr/>
        </p:nvPicPr>
        <p:blipFill>
          <a:blip r:embed="rId6"/>
          <a:stretch>
            <a:fillRect/>
          </a:stretch>
        </p:blipFill>
        <p:spPr>
          <a:xfrm>
            <a:off x="8309028" y="2562543"/>
            <a:ext cx="134549" cy="195707"/>
          </a:xfrm>
          <a:prstGeom prst="rect">
            <a:avLst/>
          </a:prstGeom>
        </p:spPr>
      </p:pic>
      <p:sp>
        <p:nvSpPr>
          <p:cNvPr id="41" name="TextBox 40"/>
          <p:cNvSpPr txBox="1"/>
          <p:nvPr/>
        </p:nvSpPr>
        <p:spPr>
          <a:xfrm>
            <a:off x="8484137" y="2572767"/>
            <a:ext cx="1079723" cy="194310"/>
          </a:xfrm>
          <a:prstGeom prst="rect">
            <a:avLst/>
          </a:prstGeom>
          <a:noFill/>
        </p:spPr>
        <p:txBody>
          <a:bodyPr wrap="none" lIns="0" rIns="0" tIns="0" bIns="0">
            <a:spAutoFit/>
          </a:bodyPr>
          <a:lstStyle/>
          <a:p>
            <a:r>
              <a:rPr sz="1150" b="0">
                <a:solidFill>
                  <a:srgbClr val="2E2E2E"/>
                </a:solidFill>
                <a:latin typeface="Calibri"/>
              </a:rPr>
              <a:t>Mn by 2036 end.</a:t>
            </a:r>
          </a:p>
        </p:txBody>
      </p:sp>
      <p:sp>
        <p:nvSpPr>
          <p:cNvPr id="42" name="TextBox 41"/>
          <p:cNvSpPr txBox="1"/>
          <p:nvPr/>
        </p:nvSpPr>
        <p:spPr>
          <a:xfrm>
            <a:off x="8048625" y="2800604"/>
            <a:ext cx="3812455" cy="194310"/>
          </a:xfrm>
          <a:prstGeom prst="rect">
            <a:avLst/>
          </a:prstGeom>
          <a:noFill/>
        </p:spPr>
        <p:txBody>
          <a:bodyPr wrap="none" lIns="0" rIns="0" tIns="0" bIns="0">
            <a:spAutoFit/>
          </a:bodyPr>
          <a:lstStyle/>
          <a:p>
            <a:r>
              <a:rPr sz="1150" b="0">
                <a:solidFill>
                  <a:srgbClr val="2E2E2E"/>
                </a:solidFill>
                <a:latin typeface="Calibri"/>
              </a:rPr>
              <a:t>It is projected to create overall incremental opportunity of US$</a:t>
            </a:r>
          </a:p>
        </p:txBody>
      </p:sp>
      <p:pic>
        <p:nvPicPr>
          <p:cNvPr id="43" name="Picture 42" descr="lock.png"/>
          <p:cNvPicPr>
            <a:picLocks noChangeAspect="1"/>
          </p:cNvPicPr>
          <p:nvPr/>
        </p:nvPicPr>
        <p:blipFill>
          <a:blip r:embed="rId6"/>
          <a:stretch>
            <a:fillRect/>
          </a:stretch>
        </p:blipFill>
        <p:spPr>
          <a:xfrm>
            <a:off x="8034545" y="2965641"/>
            <a:ext cx="134549" cy="195707"/>
          </a:xfrm>
          <a:prstGeom prst="rect">
            <a:avLst/>
          </a:prstGeom>
        </p:spPr>
      </p:pic>
      <p:sp>
        <p:nvSpPr>
          <p:cNvPr id="44" name="TextBox 43"/>
          <p:cNvSpPr txBox="1"/>
          <p:nvPr/>
        </p:nvSpPr>
        <p:spPr>
          <a:xfrm>
            <a:off x="8209654" y="2975864"/>
            <a:ext cx="1455687" cy="194310"/>
          </a:xfrm>
          <a:prstGeom prst="rect">
            <a:avLst/>
          </a:prstGeom>
          <a:noFill/>
        </p:spPr>
        <p:txBody>
          <a:bodyPr wrap="none" lIns="0" rIns="0" tIns="0" bIns="0">
            <a:spAutoFit/>
          </a:bodyPr>
          <a:lstStyle/>
          <a:p>
            <a:r>
              <a:rPr sz="1150" b="0">
                <a:solidFill>
                  <a:srgbClr val="2E2E2E"/>
                </a:solidFill>
                <a:latin typeface="Calibri"/>
              </a:rPr>
              <a:t>Mn from 2025 to 2036.</a:t>
            </a:r>
          </a:p>
        </p:txBody>
      </p:sp>
      <p:sp>
        <p:nvSpPr>
          <p:cNvPr id="45" name="TextBox 44"/>
          <p:cNvSpPr txBox="1"/>
          <p:nvPr/>
        </p:nvSpPr>
        <p:spPr>
          <a:xfrm>
            <a:off x="8048625" y="4456475"/>
            <a:ext cx="2868835" cy="194310"/>
          </a:xfrm>
          <a:prstGeom prst="rect">
            <a:avLst/>
          </a:prstGeom>
          <a:noFill/>
        </p:spPr>
        <p:txBody>
          <a:bodyPr wrap="none" lIns="0" rIns="0" tIns="0" bIns="0">
            <a:spAutoFit/>
          </a:bodyPr>
          <a:lstStyle/>
          <a:p>
            <a:r>
              <a:rPr sz="1150" b="0">
                <a:solidFill>
                  <a:srgbClr val="2E2E2E"/>
                </a:solidFill>
                <a:latin typeface="Calibri"/>
              </a:rPr>
              <a:t>▪ 'South Asia &amp; Pacific' leads regional growth at</a:t>
            </a:r>
          </a:p>
        </p:txBody>
      </p:sp>
      <p:pic>
        <p:nvPicPr>
          <p:cNvPr id="46" name="Picture 45" descr="lock.png"/>
          <p:cNvPicPr>
            <a:picLocks noChangeAspect="1"/>
          </p:cNvPicPr>
          <p:nvPr/>
        </p:nvPicPr>
        <p:blipFill>
          <a:blip r:embed="rId6"/>
          <a:stretch>
            <a:fillRect/>
          </a:stretch>
        </p:blipFill>
        <p:spPr>
          <a:xfrm>
            <a:off x="10866614" y="4446251"/>
            <a:ext cx="134549" cy="195707"/>
          </a:xfrm>
          <a:prstGeom prst="rect">
            <a:avLst/>
          </a:prstGeom>
        </p:spPr>
      </p:pic>
      <p:sp>
        <p:nvSpPr>
          <p:cNvPr id="47" name="TextBox 46"/>
          <p:cNvSpPr txBox="1"/>
          <p:nvPr/>
        </p:nvSpPr>
        <p:spPr>
          <a:xfrm>
            <a:off x="11041723"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48" name="TextBox 47"/>
          <p:cNvSpPr txBox="1"/>
          <p:nvPr/>
        </p:nvSpPr>
        <p:spPr>
          <a:xfrm>
            <a:off x="8048625" y="4684312"/>
            <a:ext cx="3529769" cy="194310"/>
          </a:xfrm>
          <a:prstGeom prst="rect">
            <a:avLst/>
          </a:prstGeom>
          <a:noFill/>
        </p:spPr>
        <p:txBody>
          <a:bodyPr wrap="none" lIns="0" rIns="0" tIns="0" bIns="0">
            <a:spAutoFit/>
          </a:bodyPr>
          <a:lstStyle/>
          <a:p>
            <a:r>
              <a:rPr sz="1150" b="0">
                <a:solidFill>
                  <a:srgbClr val="2E2E2E"/>
                </a:solidFill>
                <a:latin typeface="Calibri"/>
              </a:rPr>
              <a:t>▪ Demand concentrates in 'Other Polymer-Based Coatings'</a:t>
            </a:r>
          </a:p>
        </p:txBody>
      </p:sp>
      <p:sp>
        <p:nvSpPr>
          <p:cNvPr id="49" name="TextBox 48"/>
          <p:cNvSpPr txBox="1"/>
          <p:nvPr/>
        </p:nvSpPr>
        <p:spPr>
          <a:xfrm>
            <a:off x="8048625" y="4859572"/>
            <a:ext cx="2032186" cy="194310"/>
          </a:xfrm>
          <a:prstGeom prst="rect">
            <a:avLst/>
          </a:prstGeom>
          <a:noFill/>
        </p:spPr>
        <p:txBody>
          <a:bodyPr wrap="none" lIns="0" rIns="0" tIns="0" bIns="0">
            <a:spAutoFit/>
          </a:bodyPr>
          <a:lstStyle/>
          <a:p>
            <a:r>
              <a:rPr sz="1150" b="0">
                <a:solidFill>
                  <a:srgbClr val="2E2E2E"/>
                </a:solidFill>
                <a:latin typeface="Calibri"/>
              </a:rPr>
              <a:t>within Product Type / Chemistry.</a:t>
            </a:r>
          </a:p>
        </p:txBody>
      </p:sp>
      <p:sp>
        <p:nvSpPr>
          <p:cNvPr id="50" name="TextBox 49"/>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1" name="TextBox 50"/>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2"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Waterproof Coatings Market Volume &amp; Value Analysis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and value growth of the global market and the incremental $ opportunity it creates, 2021–2036</a:t>
            </a:r>
          </a:p>
        </p:txBody>
      </p:sp>
      <p:sp>
        <p:nvSpPr>
          <p:cNvPr id="10" name="Rounded Rectangle 9"/>
          <p:cNvSpPr/>
          <p:nvPr/>
        </p:nvSpPr>
        <p:spPr>
          <a:xfrm>
            <a:off x="142875" y="981075"/>
            <a:ext cx="4695825" cy="2571750"/>
          </a:xfrm>
          <a:prstGeom prst="roundRect">
            <a:avLst>
              <a:gd name="adj" fmla="val 29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2021–2025 (Historical)</a:t>
            </a:r>
          </a:p>
        </p:txBody>
      </p:sp>
      <p:graphicFrame>
        <p:nvGraphicFramePr>
          <p:cNvPr id="12" name="Chart 11"/>
          <p:cNvGraphicFramePr>
            <a:graphicFrameLocks noGrp="1"/>
          </p:cNvGraphicFramePr>
          <p:nvPr/>
        </p:nvGraphicFramePr>
        <p:xfrm>
          <a:off x="238125" y="1266825"/>
          <a:ext cx="4505325" cy="2228850"/>
        </p:xfrm>
        <a:graphic>
          <a:graphicData uri="http://schemas.openxmlformats.org/drawingml/2006/chart">
            <c:chart xmlns:c="http://schemas.openxmlformats.org/drawingml/2006/chart" r:id="rId3"/>
          </a:graphicData>
        </a:graphic>
      </p:graphicFrame>
      <p:sp>
        <p:nvSpPr>
          <p:cNvPr id="13" name="Rounded Rectangle 12"/>
          <p:cNvSpPr/>
          <p:nvPr/>
        </p:nvSpPr>
        <p:spPr>
          <a:xfrm>
            <a:off x="4991100" y="981075"/>
            <a:ext cx="7048500" cy="2571750"/>
          </a:xfrm>
          <a:prstGeom prst="roundRect">
            <a:avLst>
              <a:gd name="adj" fmla="val 29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2026–2036 (Forecast)</a:t>
            </a:r>
          </a:p>
        </p:txBody>
      </p:sp>
      <p:graphicFrame>
        <p:nvGraphicFramePr>
          <p:cNvPr id="15" name="Chart 14"/>
          <p:cNvGraphicFramePr>
            <a:graphicFrameLocks noGrp="1"/>
          </p:cNvGraphicFramePr>
          <p:nvPr/>
        </p:nvGraphicFramePr>
        <p:xfrm>
          <a:off x="5086350" y="1266825"/>
          <a:ext cx="6858000" cy="222885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686175"/>
            <a:ext cx="25146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2021–2025</a:t>
            </a:r>
          </a:p>
          <a:p>
            <a:pPr algn="ctr">
              <a:lnSpc>
                <a:spcPct val="95000"/>
              </a:lnSpc>
            </a:pPr>
            <a:r>
              <a:rPr sz="1500" b="1">
                <a:solidFill>
                  <a:srgbClr val="0E72AE"/>
                </a:solidFill>
                <a:latin typeface="Calibri"/>
              </a:rPr>
              <a:t> </a:t>
            </a:r>
          </a:p>
        </p:txBody>
      </p:sp>
      <p:sp>
        <p:nvSpPr>
          <p:cNvPr id="17" name="Rounded Rectangle 16"/>
          <p:cNvSpPr/>
          <p:nvPr/>
        </p:nvSpPr>
        <p:spPr>
          <a:xfrm>
            <a:off x="2809875" y="3686175"/>
            <a:ext cx="25146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2026–2036</a:t>
            </a:r>
          </a:p>
          <a:p>
            <a:pPr algn="ctr">
              <a:lnSpc>
                <a:spcPct val="95000"/>
              </a:lnSpc>
            </a:pPr>
            <a:r>
              <a:rPr sz="1500" b="1">
                <a:solidFill>
                  <a:srgbClr val="0E72AE"/>
                </a:solidFill>
                <a:latin typeface="Calibri"/>
              </a:rPr>
              <a:t> </a:t>
            </a:r>
          </a:p>
        </p:txBody>
      </p:sp>
      <p:sp>
        <p:nvSpPr>
          <p:cNvPr id="18" name="Rounded Rectangle 17"/>
          <p:cNvSpPr/>
          <p:nvPr/>
        </p:nvSpPr>
        <p:spPr>
          <a:xfrm>
            <a:off x="5476875" y="3686175"/>
            <a:ext cx="32004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2026–2031</a:t>
            </a:r>
          </a:p>
          <a:p>
            <a:pPr algn="ctr">
              <a:lnSpc>
                <a:spcPct val="95000"/>
              </a:lnSpc>
            </a:pPr>
            <a:r>
              <a:rPr sz="1500" b="1">
                <a:solidFill>
                  <a:srgbClr val="0E72AE"/>
                </a:solidFill>
                <a:latin typeface="Calibri"/>
              </a:rPr>
              <a:t> </a:t>
            </a:r>
          </a:p>
        </p:txBody>
      </p:sp>
      <p:sp>
        <p:nvSpPr>
          <p:cNvPr id="19" name="Rounded Rectangle 18"/>
          <p:cNvSpPr/>
          <p:nvPr/>
        </p:nvSpPr>
        <p:spPr>
          <a:xfrm>
            <a:off x="8829675" y="3686175"/>
            <a:ext cx="32004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2026–2036</a:t>
            </a:r>
          </a:p>
          <a:p>
            <a:pPr algn="ctr">
              <a:lnSpc>
                <a:spcPct val="95000"/>
              </a:lnSpc>
            </a:pPr>
            <a:r>
              <a:rPr sz="1500" b="1">
                <a:solidFill>
                  <a:srgbClr val="0E72AE"/>
                </a:solidFill>
                <a:latin typeface="Calibri"/>
              </a:rPr>
              <a:t> </a:t>
            </a:r>
          </a:p>
        </p:txBody>
      </p:sp>
      <p:sp>
        <p:nvSpPr>
          <p:cNvPr id="20" name="Rounded Rectangle 19"/>
          <p:cNvSpPr/>
          <p:nvPr/>
        </p:nvSpPr>
        <p:spPr>
          <a:xfrm>
            <a:off x="142875" y="4552950"/>
            <a:ext cx="11906250"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&amp; Value Analysis</a:t>
            </a:r>
          </a:p>
        </p:txBody>
      </p:sp>
      <p:sp>
        <p:nvSpPr>
          <p:cNvPr id="22" name="Rectangle 21"/>
          <p:cNvSpPr/>
          <p:nvPr/>
        </p:nvSpPr>
        <p:spPr>
          <a:xfrm>
            <a:off x="276225" y="48768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2533894" y="2050946"/>
            <a:ext cx="205327" cy="298657"/>
          </a:xfrm>
          <a:prstGeom prst="rect">
            <a:avLst/>
          </a:prstGeom>
        </p:spPr>
      </p:pic>
      <p:pic>
        <p:nvPicPr>
          <p:cNvPr id="26" name="Picture 25" descr="lock.png"/>
          <p:cNvPicPr>
            <a:picLocks noChangeAspect="1"/>
          </p:cNvPicPr>
          <p:nvPr/>
        </p:nvPicPr>
        <p:blipFill>
          <a:blip r:embed="rId6"/>
          <a:stretch>
            <a:fillRect/>
          </a:stretch>
        </p:blipFill>
        <p:spPr>
          <a:xfrm>
            <a:off x="8530846" y="2011501"/>
            <a:ext cx="259564" cy="377547"/>
          </a:xfrm>
          <a:prstGeom prst="rect">
            <a:avLst/>
          </a:prstGeom>
        </p:spPr>
      </p:pic>
      <p:pic>
        <p:nvPicPr>
          <p:cNvPr id="27" name="Picture 26" descr="lock.png"/>
          <p:cNvPicPr>
            <a:picLocks noChangeAspect="1"/>
          </p:cNvPicPr>
          <p:nvPr/>
        </p:nvPicPr>
        <p:blipFill>
          <a:blip r:embed="rId6"/>
          <a:stretch>
            <a:fillRect/>
          </a:stretch>
        </p:blipFill>
        <p:spPr>
          <a:xfrm>
            <a:off x="1321594" y="4022407"/>
            <a:ext cx="157162" cy="228600"/>
          </a:xfrm>
          <a:prstGeom prst="rect">
            <a:avLst/>
          </a:prstGeom>
        </p:spPr>
      </p:pic>
      <p:pic>
        <p:nvPicPr>
          <p:cNvPr id="28" name="Picture 27" descr="lock.png"/>
          <p:cNvPicPr>
            <a:picLocks noChangeAspect="1"/>
          </p:cNvPicPr>
          <p:nvPr/>
        </p:nvPicPr>
        <p:blipFill>
          <a:blip r:embed="rId6"/>
          <a:stretch>
            <a:fillRect/>
          </a:stretch>
        </p:blipFill>
        <p:spPr>
          <a:xfrm>
            <a:off x="3988594" y="4022407"/>
            <a:ext cx="157162" cy="228600"/>
          </a:xfrm>
          <a:prstGeom prst="rect">
            <a:avLst/>
          </a:prstGeom>
        </p:spPr>
      </p:pic>
      <p:pic>
        <p:nvPicPr>
          <p:cNvPr id="29" name="Picture 28" descr="lock.png"/>
          <p:cNvPicPr>
            <a:picLocks noChangeAspect="1"/>
          </p:cNvPicPr>
          <p:nvPr/>
        </p:nvPicPr>
        <p:blipFill>
          <a:blip r:embed="rId6"/>
          <a:stretch>
            <a:fillRect/>
          </a:stretch>
        </p:blipFill>
        <p:spPr>
          <a:xfrm>
            <a:off x="6998494" y="4022407"/>
            <a:ext cx="157162" cy="228600"/>
          </a:xfrm>
          <a:prstGeom prst="rect">
            <a:avLst/>
          </a:prstGeom>
        </p:spPr>
      </p:pic>
      <p:pic>
        <p:nvPicPr>
          <p:cNvPr id="30" name="Picture 29" descr="lock.png"/>
          <p:cNvPicPr>
            <a:picLocks noChangeAspect="1"/>
          </p:cNvPicPr>
          <p:nvPr/>
        </p:nvPicPr>
        <p:blipFill>
          <a:blip r:embed="rId6"/>
          <a:stretch>
            <a:fillRect/>
          </a:stretch>
        </p:blipFill>
        <p:spPr>
          <a:xfrm>
            <a:off x="10351294" y="4022407"/>
            <a:ext cx="157162" cy="228600"/>
          </a:xfrm>
          <a:prstGeom prst="rect">
            <a:avLst/>
          </a:prstGeom>
        </p:spPr>
      </p:pic>
      <p:sp>
        <p:nvSpPr>
          <p:cNvPr id="31" name="TextBox 30"/>
          <p:cNvSpPr txBox="1"/>
          <p:nvPr/>
        </p:nvSpPr>
        <p:spPr>
          <a:xfrm>
            <a:off x="276225" y="4972050"/>
            <a:ext cx="3139826" cy="194310"/>
          </a:xfrm>
          <a:prstGeom prst="rect">
            <a:avLst/>
          </a:prstGeom>
          <a:noFill/>
        </p:spPr>
        <p:txBody>
          <a:bodyPr wrap="none" lIns="0" rIns="0" tIns="0" bIns="0">
            <a:spAutoFit/>
          </a:bodyPr>
          <a:lstStyle/>
          <a:p>
            <a:r>
              <a:rPr sz="1150" b="0">
                <a:solidFill>
                  <a:srgbClr val="2E2E2E"/>
                </a:solidFill>
                <a:latin typeface="Calibri"/>
              </a:rPr>
              <a:t>Waterproof coatings market is projected to register</a:t>
            </a:r>
          </a:p>
        </p:txBody>
      </p:sp>
      <p:pic>
        <p:nvPicPr>
          <p:cNvPr id="32" name="Picture 31" descr="lock.png"/>
          <p:cNvPicPr>
            <a:picLocks noChangeAspect="1"/>
          </p:cNvPicPr>
          <p:nvPr/>
        </p:nvPicPr>
        <p:blipFill>
          <a:blip r:embed="rId6"/>
          <a:stretch>
            <a:fillRect/>
          </a:stretch>
        </p:blipFill>
        <p:spPr>
          <a:xfrm>
            <a:off x="3365205" y="4961826"/>
            <a:ext cx="134549" cy="195707"/>
          </a:xfrm>
          <a:prstGeom prst="rect">
            <a:avLst/>
          </a:prstGeom>
        </p:spPr>
      </p:pic>
      <p:sp>
        <p:nvSpPr>
          <p:cNvPr id="33" name="TextBox 32"/>
          <p:cNvSpPr txBox="1"/>
          <p:nvPr/>
        </p:nvSpPr>
        <p:spPr>
          <a:xfrm>
            <a:off x="3540315" y="4972050"/>
            <a:ext cx="7683351" cy="194310"/>
          </a:xfrm>
          <a:prstGeom prst="rect">
            <a:avLst/>
          </a:prstGeom>
          <a:noFill/>
        </p:spPr>
        <p:txBody>
          <a:bodyPr wrap="none" lIns="0" rIns="0" tIns="0" bIns="0">
            <a:spAutoFit/>
          </a:bodyPr>
          <a:lstStyle/>
          <a:p>
            <a:r>
              <a:rPr sz="1150" b="0">
                <a:solidFill>
                  <a:srgbClr val="2E2E2E"/>
                </a:solidFill>
                <a:latin typeface="Calibri"/>
              </a:rPr>
              <a:t>X increase in its revenue by the end of forecast period, 2036. Global waterproof coatings market is expected to be valued at US$</a:t>
            </a:r>
          </a:p>
        </p:txBody>
      </p:sp>
      <p:pic>
        <p:nvPicPr>
          <p:cNvPr id="34" name="Picture 33" descr="lock.png"/>
          <p:cNvPicPr>
            <a:picLocks noChangeAspect="1"/>
          </p:cNvPicPr>
          <p:nvPr/>
        </p:nvPicPr>
        <p:blipFill>
          <a:blip r:embed="rId6"/>
          <a:stretch>
            <a:fillRect/>
          </a:stretch>
        </p:blipFill>
        <p:spPr>
          <a:xfrm>
            <a:off x="11172820" y="4961826"/>
            <a:ext cx="134549" cy="195707"/>
          </a:xfrm>
          <a:prstGeom prst="rect">
            <a:avLst/>
          </a:prstGeom>
        </p:spPr>
      </p:pic>
      <p:sp>
        <p:nvSpPr>
          <p:cNvPr id="35" name="TextBox 34"/>
          <p:cNvSpPr txBox="1"/>
          <p:nvPr/>
        </p:nvSpPr>
        <p:spPr>
          <a:xfrm>
            <a:off x="11347929" y="4972050"/>
            <a:ext cx="453876" cy="194310"/>
          </a:xfrm>
          <a:prstGeom prst="rect">
            <a:avLst/>
          </a:prstGeom>
          <a:noFill/>
        </p:spPr>
        <p:txBody>
          <a:bodyPr wrap="none" lIns="0" rIns="0" tIns="0" bIns="0">
            <a:spAutoFit/>
          </a:bodyPr>
          <a:lstStyle/>
          <a:p>
            <a:r>
              <a:rPr sz="1150" b="0">
                <a:solidFill>
                  <a:srgbClr val="2E2E2E"/>
                </a:solidFill>
                <a:latin typeface="Calibri"/>
              </a:rPr>
              <a:t>Mn by</a:t>
            </a:r>
          </a:p>
        </p:txBody>
      </p:sp>
      <p:sp>
        <p:nvSpPr>
          <p:cNvPr id="36" name="TextBox 35"/>
          <p:cNvSpPr txBox="1"/>
          <p:nvPr/>
        </p:nvSpPr>
        <p:spPr>
          <a:xfrm>
            <a:off x="276225" y="5147310"/>
            <a:ext cx="668957" cy="194310"/>
          </a:xfrm>
          <a:prstGeom prst="rect">
            <a:avLst/>
          </a:prstGeom>
          <a:noFill/>
        </p:spPr>
        <p:txBody>
          <a:bodyPr wrap="none" lIns="0" rIns="0" tIns="0" bIns="0">
            <a:spAutoFit/>
          </a:bodyPr>
          <a:lstStyle/>
          <a:p>
            <a:r>
              <a:rPr sz="1150" b="0">
                <a:solidFill>
                  <a:srgbClr val="2E2E2E"/>
                </a:solidFill>
                <a:latin typeface="Calibri"/>
              </a:rPr>
              <a:t>2036 end.</a:t>
            </a:r>
          </a:p>
        </p:txBody>
      </p:sp>
      <p:sp>
        <p:nvSpPr>
          <p:cNvPr id="37" name="TextBox 36"/>
          <p:cNvSpPr txBox="1"/>
          <p:nvPr/>
        </p:nvSpPr>
        <p:spPr>
          <a:xfrm>
            <a:off x="276225" y="5375147"/>
            <a:ext cx="3812455" cy="194310"/>
          </a:xfrm>
          <a:prstGeom prst="rect">
            <a:avLst/>
          </a:prstGeom>
          <a:noFill/>
        </p:spPr>
        <p:txBody>
          <a:bodyPr wrap="none" lIns="0" rIns="0" tIns="0" bIns="0">
            <a:spAutoFit/>
          </a:bodyPr>
          <a:lstStyle/>
          <a:p>
            <a:r>
              <a:rPr sz="1150" b="0">
                <a:solidFill>
                  <a:srgbClr val="2E2E2E"/>
                </a:solidFill>
                <a:latin typeface="Calibri"/>
              </a:rPr>
              <a:t>It is projected to create overall incremental opportunity of US$</a:t>
            </a:r>
          </a:p>
        </p:txBody>
      </p:sp>
      <p:pic>
        <p:nvPicPr>
          <p:cNvPr id="38" name="Picture 37" descr="lock.png"/>
          <p:cNvPicPr>
            <a:picLocks noChangeAspect="1"/>
          </p:cNvPicPr>
          <p:nvPr/>
        </p:nvPicPr>
        <p:blipFill>
          <a:blip r:embed="rId6"/>
          <a:stretch>
            <a:fillRect/>
          </a:stretch>
        </p:blipFill>
        <p:spPr>
          <a:xfrm>
            <a:off x="4037834" y="5364924"/>
            <a:ext cx="134549" cy="195707"/>
          </a:xfrm>
          <a:prstGeom prst="rect">
            <a:avLst/>
          </a:prstGeom>
        </p:spPr>
      </p:pic>
      <p:sp>
        <p:nvSpPr>
          <p:cNvPr id="39" name="TextBox 38"/>
          <p:cNvSpPr txBox="1"/>
          <p:nvPr/>
        </p:nvSpPr>
        <p:spPr>
          <a:xfrm>
            <a:off x="4212943" y="5375147"/>
            <a:ext cx="4942916" cy="194310"/>
          </a:xfrm>
          <a:prstGeom prst="rect">
            <a:avLst/>
          </a:prstGeom>
          <a:noFill/>
        </p:spPr>
        <p:txBody>
          <a:bodyPr wrap="none" lIns="0" rIns="0" tIns="0" bIns="0">
            <a:spAutoFit/>
          </a:bodyPr>
          <a:lstStyle/>
          <a:p>
            <a:r>
              <a:rPr sz="1150" b="0">
                <a:solidFill>
                  <a:srgbClr val="2E2E2E"/>
                </a:solidFill>
                <a:latin typeface="Calibri"/>
              </a:rPr>
              <a:t>Mn from 2025 to 2036. Global waterproof coatings market is projected to register</a:t>
            </a:r>
          </a:p>
        </p:txBody>
      </p:sp>
      <p:pic>
        <p:nvPicPr>
          <p:cNvPr id="40" name="Picture 39" descr="lock.png"/>
          <p:cNvPicPr>
            <a:picLocks noChangeAspect="1"/>
          </p:cNvPicPr>
          <p:nvPr/>
        </p:nvPicPr>
        <p:blipFill>
          <a:blip r:embed="rId6"/>
          <a:stretch>
            <a:fillRect/>
          </a:stretch>
        </p:blipFill>
        <p:spPr>
          <a:xfrm>
            <a:off x="9105014" y="5364924"/>
            <a:ext cx="134549" cy="195707"/>
          </a:xfrm>
          <a:prstGeom prst="rect">
            <a:avLst/>
          </a:prstGeom>
        </p:spPr>
      </p:pic>
      <p:sp>
        <p:nvSpPr>
          <p:cNvPr id="41" name="TextBox 40"/>
          <p:cNvSpPr txBox="1"/>
          <p:nvPr/>
        </p:nvSpPr>
        <p:spPr>
          <a:xfrm>
            <a:off x="9280123" y="5375147"/>
            <a:ext cx="2121755" cy="194310"/>
          </a:xfrm>
          <a:prstGeom prst="rect">
            <a:avLst/>
          </a:prstGeom>
          <a:noFill/>
        </p:spPr>
        <p:txBody>
          <a:bodyPr wrap="none" lIns="0" rIns="0" tIns="0" bIns="0">
            <a:spAutoFit/>
          </a:bodyPr>
          <a:lstStyle/>
          <a:p>
            <a:r>
              <a:rPr sz="1150" b="0">
                <a:solidFill>
                  <a:srgbClr val="2E2E2E"/>
                </a:solidFill>
                <a:latin typeface="Calibri"/>
              </a:rPr>
              <a:t>X increase in volume by the end of</a:t>
            </a:r>
          </a:p>
        </p:txBody>
      </p:sp>
      <p:sp>
        <p:nvSpPr>
          <p:cNvPr id="42" name="TextBox 41"/>
          <p:cNvSpPr txBox="1"/>
          <p:nvPr/>
        </p:nvSpPr>
        <p:spPr>
          <a:xfrm>
            <a:off x="276225" y="5550407"/>
            <a:ext cx="1383518" cy="194310"/>
          </a:xfrm>
          <a:prstGeom prst="rect">
            <a:avLst/>
          </a:prstGeom>
          <a:noFill/>
        </p:spPr>
        <p:txBody>
          <a:bodyPr wrap="none" lIns="0" rIns="0" tIns="0" bIns="0">
            <a:spAutoFit/>
          </a:bodyPr>
          <a:lstStyle/>
          <a:p>
            <a:r>
              <a:rPr sz="1150" b="0">
                <a:solidFill>
                  <a:srgbClr val="2E2E2E"/>
                </a:solidFill>
                <a:latin typeface="Calibri"/>
              </a:rPr>
              <a:t>forecast period, 2036.</a:t>
            </a:r>
          </a:p>
        </p:txBody>
      </p:sp>
      <p:sp>
        <p:nvSpPr>
          <p:cNvPr id="43" name="TextBox 42"/>
          <p:cNvSpPr txBox="1"/>
          <p:nvPr/>
        </p:nvSpPr>
        <p:spPr>
          <a:xfrm>
            <a:off x="276225" y="5778245"/>
            <a:ext cx="3149810" cy="194310"/>
          </a:xfrm>
          <a:prstGeom prst="rect">
            <a:avLst/>
          </a:prstGeom>
          <a:noFill/>
        </p:spPr>
        <p:txBody>
          <a:bodyPr wrap="none" lIns="0" rIns="0" tIns="0" bIns="0">
            <a:spAutoFit/>
          </a:bodyPr>
          <a:lstStyle/>
          <a:p>
            <a:r>
              <a:rPr sz="1150" b="0">
                <a:solidFill>
                  <a:srgbClr val="2E2E2E"/>
                </a:solidFill>
                <a:latin typeface="Calibri"/>
              </a:rPr>
              <a:t>Global waterproof coatings market volume stood at</a:t>
            </a:r>
          </a:p>
        </p:txBody>
      </p:sp>
      <p:pic>
        <p:nvPicPr>
          <p:cNvPr id="44" name="Picture 43" descr="lock.png"/>
          <p:cNvPicPr>
            <a:picLocks noChangeAspect="1"/>
          </p:cNvPicPr>
          <p:nvPr/>
        </p:nvPicPr>
        <p:blipFill>
          <a:blip r:embed="rId6"/>
          <a:stretch>
            <a:fillRect/>
          </a:stretch>
        </p:blipFill>
        <p:spPr>
          <a:xfrm>
            <a:off x="3375189" y="5768022"/>
            <a:ext cx="134549" cy="195707"/>
          </a:xfrm>
          <a:prstGeom prst="rect">
            <a:avLst/>
          </a:prstGeom>
        </p:spPr>
      </p:pic>
      <p:sp>
        <p:nvSpPr>
          <p:cNvPr id="45" name="TextBox 44"/>
          <p:cNvSpPr txBox="1"/>
          <p:nvPr/>
        </p:nvSpPr>
        <p:spPr>
          <a:xfrm>
            <a:off x="3550299" y="5778245"/>
            <a:ext cx="2343683" cy="194310"/>
          </a:xfrm>
          <a:prstGeom prst="rect">
            <a:avLst/>
          </a:prstGeom>
          <a:noFill/>
        </p:spPr>
        <p:txBody>
          <a:bodyPr wrap="none" lIns="0" rIns="0" tIns="0" bIns="0">
            <a:spAutoFit/>
          </a:bodyPr>
          <a:lstStyle/>
          <a:p>
            <a:r>
              <a:rPr sz="1150" b="0">
                <a:solidFill>
                  <a:srgbClr val="2E2E2E"/>
                </a:solidFill>
                <a:latin typeface="Calibri"/>
              </a:rPr>
              <a:t>Units in 2025 and is expected to reach</a:t>
            </a:r>
          </a:p>
        </p:txBody>
      </p:sp>
      <p:pic>
        <p:nvPicPr>
          <p:cNvPr id="46" name="Picture 45" descr="lock.png"/>
          <p:cNvPicPr>
            <a:picLocks noChangeAspect="1"/>
          </p:cNvPicPr>
          <p:nvPr/>
        </p:nvPicPr>
        <p:blipFill>
          <a:blip r:embed="rId6"/>
          <a:stretch>
            <a:fillRect/>
          </a:stretch>
        </p:blipFill>
        <p:spPr>
          <a:xfrm>
            <a:off x="5843136" y="5768022"/>
            <a:ext cx="134549" cy="195707"/>
          </a:xfrm>
          <a:prstGeom prst="rect">
            <a:avLst/>
          </a:prstGeom>
        </p:spPr>
      </p:pic>
      <p:sp>
        <p:nvSpPr>
          <p:cNvPr id="47" name="TextBox 46"/>
          <p:cNvSpPr txBox="1"/>
          <p:nvPr/>
        </p:nvSpPr>
        <p:spPr>
          <a:xfrm>
            <a:off x="6018245" y="5778245"/>
            <a:ext cx="1964563" cy="194310"/>
          </a:xfrm>
          <a:prstGeom prst="rect">
            <a:avLst/>
          </a:prstGeom>
          <a:noFill/>
        </p:spPr>
        <p:txBody>
          <a:bodyPr wrap="none" lIns="0" rIns="0" tIns="0" bIns="0">
            <a:spAutoFit/>
          </a:bodyPr>
          <a:lstStyle/>
          <a:p>
            <a:r>
              <a:rPr sz="1150" b="0">
                <a:solidFill>
                  <a:srgbClr val="2E2E2E"/>
                </a:solidFill>
                <a:latin typeface="Calibri"/>
              </a:rPr>
              <a:t>Units by 2036 end, at a CAGR of</a:t>
            </a:r>
          </a:p>
        </p:txBody>
      </p:sp>
      <p:pic>
        <p:nvPicPr>
          <p:cNvPr id="48" name="Picture 47" descr="lock.png"/>
          <p:cNvPicPr>
            <a:picLocks noChangeAspect="1"/>
          </p:cNvPicPr>
          <p:nvPr/>
        </p:nvPicPr>
        <p:blipFill>
          <a:blip r:embed="rId6"/>
          <a:stretch>
            <a:fillRect/>
          </a:stretch>
        </p:blipFill>
        <p:spPr>
          <a:xfrm>
            <a:off x="7931962" y="5768022"/>
            <a:ext cx="134549" cy="195707"/>
          </a:xfrm>
          <a:prstGeom prst="rect">
            <a:avLst/>
          </a:prstGeom>
        </p:spPr>
      </p:pic>
      <p:sp>
        <p:nvSpPr>
          <p:cNvPr id="49" name="TextBox 48"/>
          <p:cNvSpPr txBox="1"/>
          <p:nvPr/>
        </p:nvSpPr>
        <p:spPr>
          <a:xfrm>
            <a:off x="8107071" y="5778245"/>
            <a:ext cx="3395699" cy="194310"/>
          </a:xfrm>
          <a:prstGeom prst="rect">
            <a:avLst/>
          </a:prstGeom>
          <a:noFill/>
        </p:spPr>
        <p:txBody>
          <a:bodyPr wrap="none" lIns="0" rIns="0" tIns="0" bIns="0">
            <a:spAutoFit/>
          </a:bodyPr>
          <a:lstStyle/>
          <a:p>
            <a:r>
              <a:rPr sz="1150" b="0">
                <a:solidFill>
                  <a:srgbClr val="2E2E2E"/>
                </a:solidFill>
                <a:latin typeface="Calibri"/>
              </a:rPr>
              <a:t>. Value is projected to grow faster than volume over the</a:t>
            </a:r>
          </a:p>
        </p:txBody>
      </p:sp>
      <p:sp>
        <p:nvSpPr>
          <p:cNvPr id="50" name="TextBox 49"/>
          <p:cNvSpPr txBox="1"/>
          <p:nvPr/>
        </p:nvSpPr>
        <p:spPr>
          <a:xfrm>
            <a:off x="276225" y="5953505"/>
            <a:ext cx="3701206" cy="194310"/>
          </a:xfrm>
          <a:prstGeom prst="rect">
            <a:avLst/>
          </a:prstGeom>
          <a:noFill/>
        </p:spPr>
        <p:txBody>
          <a:bodyPr wrap="none" lIns="0" rIns="0" tIns="0" bIns="0">
            <a:spAutoFit/>
          </a:bodyPr>
          <a:lstStyle/>
          <a:p>
            <a:r>
              <a:rPr sz="1150" b="0">
                <a:solidFill>
                  <a:srgbClr val="2E2E2E"/>
                </a:solidFill>
                <a:latin typeface="Calibri"/>
              </a:rPr>
              <a:t>forecast period, owing to an increase in average selling price.</a:t>
            </a:r>
          </a:p>
        </p:txBody>
      </p:sp>
      <p:sp>
        <p:nvSpPr>
          <p:cNvPr id="51" name="lockshield_12"/>
          <p:cNvSpPr/>
          <p:nvPr/>
        </p:nvSpPr>
        <p:spPr>
          <a:xfrm>
            <a:off x="238125" y="1266825"/>
            <a:ext cx="4505325"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lockshield_15"/>
          <p:cNvSpPr/>
          <p:nvPr/>
        </p:nvSpPr>
        <p:spPr>
          <a:xfrm>
            <a:off x="5086350" y="1266825"/>
            <a:ext cx="6858000"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Waterproof Coatings Market Summary Country Indices (Value)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1007261"/>
            <a:ext cx="3933825" cy="2445995"/>
          </a:xfrm>
          <a:prstGeom prst="roundRect">
            <a:avLst>
              <a:gd name="adj" fmla="val 311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CAGR Index</a:t>
            </a:r>
          </a:p>
        </p:txBody>
      </p:sp>
      <p:graphicFrame>
        <p:nvGraphicFramePr>
          <p:cNvPr id="12" name="Chart 11"/>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489764"/>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3565964"/>
          <a:ext cx="3927746" cy="2132071"/>
        </p:xfrm>
        <a:graphic>
          <a:graphicData uri="http://schemas.openxmlformats.org/drawingml/2006/table">
            <a:tbl>
              <a:tblPr>
                <a:tableStyleId>{5C22544A-7EE6-4342-B048-85BDC9FD1C3A}</a:tableStyleId>
              </a:tblPr>
              <a:tblGrid>
                <a:gridCol w="710293"/>
                <a:gridCol w="1068161"/>
                <a:gridCol w="1068161"/>
                <a:gridCol w="108113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377189">
                <a:tc>
                  <a:txBody>
                    <a:bodyPr wrap="none"/>
                    <a:lstStyle/>
                    <a:p>
                      <a:pPr algn="l"/>
                      <a:r>
                        <a:rPr sz="1100" b="1">
                          <a:solidFill>
                            <a:srgbClr val="2E2E2E"/>
                          </a:solidFill>
                          <a:latin typeface="Calibri"/>
                        </a:rPr>
                        <a:t>India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E2E2E"/>
                          </a:solidFill>
                          <a:latin typeface="Calibri"/>
                        </a:rPr>
                        <a:t>Germany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77189">
                <a:tc>
                  <a:txBody>
                    <a:bodyPr wrap="none"/>
                    <a:lstStyle/>
                    <a:p>
                      <a:pPr algn="l"/>
                      <a:r>
                        <a:rPr sz="1100" b="1">
                          <a:solidFill>
                            <a:srgbClr val="2E2E2E"/>
                          </a:solidFill>
                          <a:latin typeface="Calibri"/>
                        </a:rPr>
                        <a:t>Chile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E2E2E"/>
                          </a:solidFill>
                          <a:latin typeface="Calibri"/>
                        </a:rPr>
                        <a:t>France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77189">
                <a:tc>
                  <a:txBody>
                    <a:bodyPr wrap="none"/>
                    <a:lstStyle/>
                    <a:p>
                      <a:pPr algn="l"/>
                      <a:r>
                        <a:rPr sz="1100" b="1">
                          <a:solidFill>
                            <a:srgbClr val="2E2E2E"/>
                          </a:solidFill>
                          <a:latin typeface="Calibri"/>
                        </a:rPr>
                        <a:t>Poland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5" name="TextBox 14"/>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Rounded Rectangle 15"/>
          <p:cNvSpPr/>
          <p:nvPr/>
        </p:nvSpPr>
        <p:spPr>
          <a:xfrm>
            <a:off x="4114800" y="1007261"/>
            <a:ext cx="3933825" cy="4928498"/>
          </a:xfrm>
          <a:prstGeom prst="roundRect">
            <a:avLst>
              <a:gd name="adj" fmla="val 19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2036 Market By Country (US$ Mn)  ·  Top 10</a:t>
            </a:r>
          </a:p>
        </p:txBody>
      </p:sp>
      <p:sp>
        <p:nvSpPr>
          <p:cNvPr id="18" name="Rectangle 17"/>
          <p:cNvSpPr/>
          <p:nvPr/>
        </p:nvSpPr>
        <p:spPr>
          <a:xfrm>
            <a:off x="4210050" y="1293011"/>
            <a:ext cx="2523950" cy="1794080"/>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9" name="Rectangle 18"/>
          <p:cNvSpPr/>
          <p:nvPr/>
        </p:nvSpPr>
        <p:spPr>
          <a:xfrm>
            <a:off x="6734000" y="1293011"/>
            <a:ext cx="1219375" cy="1794080"/>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20" name="Rectangle 19"/>
          <p:cNvSpPr/>
          <p:nvPr/>
        </p:nvSpPr>
        <p:spPr>
          <a:xfrm>
            <a:off x="4210050" y="3087091"/>
            <a:ext cx="1452626" cy="1407612"/>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India</a:t>
            </a:r>
          </a:p>
          <a:p>
            <a:pPr algn="ctr"/>
            <a:r>
              <a:rPr sz="1100" b="0">
                <a:solidFill>
                  <a:srgbClr val="FFFFFF"/>
                </a:solidFill>
                <a:latin typeface="Calibri"/>
              </a:rPr>
              <a:t> </a:t>
            </a:r>
          </a:p>
        </p:txBody>
      </p:sp>
      <p:sp>
        <p:nvSpPr>
          <p:cNvPr id="21" name="Rectangle 20"/>
          <p:cNvSpPr/>
          <p:nvPr/>
        </p:nvSpPr>
        <p:spPr>
          <a:xfrm>
            <a:off x="4210050" y="4494703"/>
            <a:ext cx="1452626" cy="1383906"/>
          </a:xfrm>
          <a:prstGeom prst="rect">
            <a:avLst/>
          </a:prstGeom>
          <a:solidFill>
            <a:srgbClr val="40315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China</a:t>
            </a:r>
          </a:p>
          <a:p>
            <a:pPr algn="ctr"/>
            <a:r>
              <a:rPr sz="1100" b="0">
                <a:solidFill>
                  <a:srgbClr val="FFFFFF"/>
                </a:solidFill>
                <a:latin typeface="Calibri"/>
              </a:rPr>
              <a:t> </a:t>
            </a:r>
          </a:p>
        </p:txBody>
      </p:sp>
      <p:sp>
        <p:nvSpPr>
          <p:cNvPr id="22" name="Rectangle 21"/>
          <p:cNvSpPr/>
          <p:nvPr/>
        </p:nvSpPr>
        <p:spPr>
          <a:xfrm>
            <a:off x="5662676" y="3087091"/>
            <a:ext cx="1148173" cy="1260029"/>
          </a:xfrm>
          <a:prstGeom prst="rect">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Brazil</a:t>
            </a:r>
          </a:p>
          <a:p>
            <a:pPr algn="ctr"/>
            <a:r>
              <a:rPr sz="1100" b="0">
                <a:solidFill>
                  <a:srgbClr val="FFFFFF"/>
                </a:solidFill>
                <a:latin typeface="Calibri"/>
              </a:rPr>
              <a:t> </a:t>
            </a:r>
          </a:p>
        </p:txBody>
      </p:sp>
      <p:sp>
        <p:nvSpPr>
          <p:cNvPr id="23" name="Rectangle 22"/>
          <p:cNvSpPr/>
          <p:nvPr/>
        </p:nvSpPr>
        <p:spPr>
          <a:xfrm>
            <a:off x="6810849" y="3087091"/>
            <a:ext cx="1142526" cy="1260029"/>
          </a:xfrm>
          <a:prstGeom prst="rect">
            <a:avLst/>
          </a:prstGeom>
          <a:solidFill>
            <a:srgbClr val="80808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Mexico</a:t>
            </a:r>
          </a:p>
          <a:p>
            <a:pPr algn="ctr"/>
            <a:r>
              <a:rPr sz="1100" b="0">
                <a:solidFill>
                  <a:srgbClr val="FFFFFF"/>
                </a:solidFill>
                <a:latin typeface="Calibri"/>
              </a:rPr>
              <a:t> </a:t>
            </a:r>
          </a:p>
        </p:txBody>
      </p:sp>
      <p:sp>
        <p:nvSpPr>
          <p:cNvPr id="24" name="Rectangle 23"/>
          <p:cNvSpPr/>
          <p:nvPr/>
        </p:nvSpPr>
        <p:spPr>
          <a:xfrm>
            <a:off x="5662676" y="4347120"/>
            <a:ext cx="1182618" cy="786238"/>
          </a:xfrm>
          <a:prstGeom prst="rect">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Kingdom of Saudi Arabia</a:t>
            </a:r>
          </a:p>
          <a:p>
            <a:pPr algn="ctr"/>
            <a:r>
              <a:rPr sz="1100" b="0">
                <a:solidFill>
                  <a:srgbClr val="FFFFFF"/>
                </a:solidFill>
                <a:latin typeface="Calibri"/>
              </a:rPr>
              <a:t> </a:t>
            </a:r>
          </a:p>
        </p:txBody>
      </p:sp>
      <p:sp>
        <p:nvSpPr>
          <p:cNvPr id="25" name="Rectangle 24"/>
          <p:cNvSpPr/>
          <p:nvPr/>
        </p:nvSpPr>
        <p:spPr>
          <a:xfrm>
            <a:off x="5662676" y="5133358"/>
            <a:ext cx="1182618" cy="745251"/>
          </a:xfrm>
          <a:prstGeom prst="rect">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Russia</a:t>
            </a:r>
          </a:p>
          <a:p>
            <a:pPr algn="ctr"/>
            <a:r>
              <a:rPr sz="1100" b="0">
                <a:solidFill>
                  <a:srgbClr val="FFFFFF"/>
                </a:solidFill>
                <a:latin typeface="Calibri"/>
              </a:rPr>
              <a:t> </a:t>
            </a:r>
          </a:p>
        </p:txBody>
      </p:sp>
      <p:sp>
        <p:nvSpPr>
          <p:cNvPr id="26" name="Rectangle 25"/>
          <p:cNvSpPr/>
          <p:nvPr/>
        </p:nvSpPr>
        <p:spPr>
          <a:xfrm>
            <a:off x="6845295" y="4347120"/>
            <a:ext cx="1108080" cy="780138"/>
          </a:xfrm>
          <a:prstGeom prst="rect">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Japan</a:t>
            </a:r>
          </a:p>
          <a:p>
            <a:pPr algn="ctr"/>
            <a:r>
              <a:rPr sz="1100" b="0">
                <a:solidFill>
                  <a:srgbClr val="FFFFFF"/>
                </a:solidFill>
                <a:latin typeface="Calibri"/>
              </a:rPr>
              <a:t> </a:t>
            </a:r>
          </a:p>
        </p:txBody>
      </p:sp>
      <p:sp>
        <p:nvSpPr>
          <p:cNvPr id="27" name="Rectangle 26"/>
          <p:cNvSpPr/>
          <p:nvPr/>
        </p:nvSpPr>
        <p:spPr>
          <a:xfrm>
            <a:off x="6845295" y="5127258"/>
            <a:ext cx="1108080" cy="751351"/>
          </a:xfrm>
          <a:prstGeom prst="rect">
            <a:avLst/>
          </a:prstGeom>
          <a:solidFill>
            <a:srgbClr val="6C7A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ASEAN</a:t>
            </a:r>
          </a:p>
          <a:p>
            <a:pPr algn="ctr"/>
            <a:r>
              <a:rPr sz="1100" b="0">
                <a:solidFill>
                  <a:srgbClr val="FFFFFF"/>
                </a:solidFill>
                <a:latin typeface="Calibri"/>
              </a:rPr>
              <a:t> </a:t>
            </a:r>
          </a:p>
        </p:txBody>
      </p:sp>
      <p:sp>
        <p:nvSpPr>
          <p:cNvPr id="28" name="Rounded Rectangle 27"/>
          <p:cNvSpPr/>
          <p:nvPr/>
        </p:nvSpPr>
        <p:spPr>
          <a:xfrm>
            <a:off x="8086725" y="1007261"/>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Absolute Index</a:t>
            </a:r>
          </a:p>
        </p:txBody>
      </p:sp>
      <p:graphicFrame>
        <p:nvGraphicFramePr>
          <p:cNvPr id="30" name="Chart 29"/>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31" name="Rounded Rectangle 30"/>
          <p:cNvSpPr/>
          <p:nvPr/>
        </p:nvSpPr>
        <p:spPr>
          <a:xfrm>
            <a:off x="8086725" y="3471510"/>
            <a:ext cx="3933825" cy="2464249"/>
          </a:xfrm>
          <a:prstGeom prst="roundRect">
            <a:avLst>
              <a:gd name="adj" fmla="val 30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2" name="Table 31"/>
          <p:cNvGraphicFramePr>
            <a:graphicFrameLocks noGrp="1"/>
          </p:cNvGraphicFramePr>
          <p:nvPr/>
        </p:nvGraphicFramePr>
        <p:xfrm>
          <a:off x="8096250" y="3547710"/>
          <a:ext cx="3928892" cy="2159451"/>
        </p:xfrm>
        <a:graphic>
          <a:graphicData uri="http://schemas.openxmlformats.org/drawingml/2006/table">
            <a:tbl>
              <a:tblPr>
                <a:tableStyleId>{5C22544A-7EE6-4342-B048-85BDC9FD1C3A}</a:tableStyleId>
              </a:tblPr>
              <a:tblGrid>
                <a:gridCol w="650421"/>
                <a:gridCol w="1088118"/>
                <a:gridCol w="1088118"/>
                <a:gridCol w="1102235"/>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382665">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82665">
                <a:tc>
                  <a:txBody>
                    <a:bodyPr wrap="none"/>
                    <a:lstStyle/>
                    <a:p>
                      <a:pPr algn="l"/>
                      <a:r>
                        <a:rPr sz="1100" b="1">
                          <a:solidFill>
                            <a:srgbClr val="2E2E2E"/>
                          </a:solidFill>
                          <a:latin typeface="Calibri"/>
                        </a:rPr>
                        <a:t>India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82665">
                <a:tc>
                  <a:txBody>
                    <a:bodyPr wrap="none"/>
                    <a:lstStyle/>
                    <a:p>
                      <a:pPr algn="l"/>
                      <a:r>
                        <a:rPr sz="1100" b="1">
                          <a:solidFill>
                            <a:srgbClr val="2E2E2E"/>
                          </a:solidFill>
                          <a:latin typeface="Calibri"/>
                        </a:rPr>
                        <a:t>Canada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82665">
                <a:tc>
                  <a:txBody>
                    <a:bodyPr wrap="none"/>
                    <a:lstStyle/>
                    <a:p>
                      <a:pPr algn="l"/>
                      <a:r>
                        <a:rPr sz="1100" b="1">
                          <a:solidFill>
                            <a:srgbClr val="2E2E2E"/>
                          </a:solidFill>
                          <a:latin typeface="Calibri"/>
                        </a:rPr>
                        <a:t>China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82665">
                <a:tc>
                  <a:txBody>
                    <a:bodyPr wrap="none"/>
                    <a:lstStyle/>
                    <a:p>
                      <a:pPr algn="l"/>
                      <a:r>
                        <a:rPr sz="1100" b="1">
                          <a:solidFill>
                            <a:srgbClr val="2E2E2E"/>
                          </a:solidFill>
                          <a:latin typeface="Calibri"/>
                        </a:rPr>
                        <a:t>Brazil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33" name="TextBox 32"/>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34" name="Rounded Rectangle 33"/>
          <p:cNvSpPr/>
          <p:nvPr/>
        </p:nvSpPr>
        <p:spPr>
          <a:xfrm>
            <a:off x="142875" y="6027028"/>
            <a:ext cx="10858500" cy="602372"/>
          </a:xfrm>
          <a:prstGeom prst="roundRect">
            <a:avLst>
              <a:gd name="adj" fmla="val 1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6"/>
          <a:stretch>
            <a:fillRect/>
          </a:stretch>
        </p:blipFill>
        <p:spPr>
          <a:xfrm>
            <a:off x="3188017" y="2125483"/>
            <a:ext cx="183356" cy="266700"/>
          </a:xfrm>
          <a:prstGeom prst="rect">
            <a:avLst/>
          </a:prstGeom>
        </p:spPr>
      </p:pic>
      <p:pic>
        <p:nvPicPr>
          <p:cNvPr id="37" name="Picture 36" descr="lock.png"/>
          <p:cNvPicPr>
            <a:picLocks noChangeAspect="1"/>
          </p:cNvPicPr>
          <p:nvPr/>
        </p:nvPicPr>
        <p:blipFill>
          <a:blip r:embed="rId6"/>
          <a:stretch>
            <a:fillRect/>
          </a:stretch>
        </p:blipFill>
        <p:spPr>
          <a:xfrm>
            <a:off x="2266294" y="4499083"/>
            <a:ext cx="351971" cy="511958"/>
          </a:xfrm>
          <a:prstGeom prst="rect">
            <a:avLst/>
          </a:prstGeom>
        </p:spPr>
      </p:pic>
      <p:pic>
        <p:nvPicPr>
          <p:cNvPr id="38" name="Picture 37" descr="lock.png"/>
          <p:cNvPicPr>
            <a:picLocks noChangeAspect="1"/>
          </p:cNvPicPr>
          <p:nvPr/>
        </p:nvPicPr>
        <p:blipFill>
          <a:blip r:embed="rId6"/>
          <a:stretch>
            <a:fillRect/>
          </a:stretch>
        </p:blipFill>
        <p:spPr>
          <a:xfrm>
            <a:off x="5414399" y="2190051"/>
            <a:ext cx="115252" cy="167639"/>
          </a:xfrm>
          <a:prstGeom prst="rect">
            <a:avLst/>
          </a:prstGeom>
        </p:spPr>
      </p:pic>
      <p:pic>
        <p:nvPicPr>
          <p:cNvPr id="39" name="Picture 38" descr="lock.png"/>
          <p:cNvPicPr>
            <a:picLocks noChangeAspect="1"/>
          </p:cNvPicPr>
          <p:nvPr/>
        </p:nvPicPr>
        <p:blipFill>
          <a:blip r:embed="rId6"/>
          <a:stretch>
            <a:fillRect/>
          </a:stretch>
        </p:blipFill>
        <p:spPr>
          <a:xfrm>
            <a:off x="7286061" y="2190051"/>
            <a:ext cx="115252" cy="167639"/>
          </a:xfrm>
          <a:prstGeom prst="rect">
            <a:avLst/>
          </a:prstGeom>
        </p:spPr>
      </p:pic>
      <p:pic>
        <p:nvPicPr>
          <p:cNvPr id="40" name="Picture 39" descr="lock.png"/>
          <p:cNvPicPr>
            <a:picLocks noChangeAspect="1"/>
          </p:cNvPicPr>
          <p:nvPr/>
        </p:nvPicPr>
        <p:blipFill>
          <a:blip r:embed="rId6"/>
          <a:stretch>
            <a:fillRect/>
          </a:stretch>
        </p:blipFill>
        <p:spPr>
          <a:xfrm>
            <a:off x="4878737" y="3790897"/>
            <a:ext cx="115252" cy="167639"/>
          </a:xfrm>
          <a:prstGeom prst="rect">
            <a:avLst/>
          </a:prstGeom>
        </p:spPr>
      </p:pic>
      <p:pic>
        <p:nvPicPr>
          <p:cNvPr id="41" name="Picture 40" descr="lock.png"/>
          <p:cNvPicPr>
            <a:picLocks noChangeAspect="1"/>
          </p:cNvPicPr>
          <p:nvPr/>
        </p:nvPicPr>
        <p:blipFill>
          <a:blip r:embed="rId6"/>
          <a:stretch>
            <a:fillRect/>
          </a:stretch>
        </p:blipFill>
        <p:spPr>
          <a:xfrm>
            <a:off x="4878737" y="5186656"/>
            <a:ext cx="115252" cy="167639"/>
          </a:xfrm>
          <a:prstGeom prst="rect">
            <a:avLst/>
          </a:prstGeom>
        </p:spPr>
      </p:pic>
      <p:pic>
        <p:nvPicPr>
          <p:cNvPr id="42" name="Picture 41" descr="lock.png"/>
          <p:cNvPicPr>
            <a:picLocks noChangeAspect="1"/>
          </p:cNvPicPr>
          <p:nvPr/>
        </p:nvPicPr>
        <p:blipFill>
          <a:blip r:embed="rId6"/>
          <a:stretch>
            <a:fillRect/>
          </a:stretch>
        </p:blipFill>
        <p:spPr>
          <a:xfrm>
            <a:off x="6179136" y="3717105"/>
            <a:ext cx="115252" cy="167639"/>
          </a:xfrm>
          <a:prstGeom prst="rect">
            <a:avLst/>
          </a:prstGeom>
        </p:spPr>
      </p:pic>
      <p:pic>
        <p:nvPicPr>
          <p:cNvPr id="43" name="Picture 42" descr="lock.png"/>
          <p:cNvPicPr>
            <a:picLocks noChangeAspect="1"/>
          </p:cNvPicPr>
          <p:nvPr/>
        </p:nvPicPr>
        <p:blipFill>
          <a:blip r:embed="rId6"/>
          <a:stretch>
            <a:fillRect/>
          </a:stretch>
        </p:blipFill>
        <p:spPr>
          <a:xfrm>
            <a:off x="7324486" y="3717105"/>
            <a:ext cx="115252" cy="167639"/>
          </a:xfrm>
          <a:prstGeom prst="rect">
            <a:avLst/>
          </a:prstGeom>
        </p:spPr>
      </p:pic>
      <p:pic>
        <p:nvPicPr>
          <p:cNvPr id="44" name="Picture 43" descr="lock.png"/>
          <p:cNvPicPr>
            <a:picLocks noChangeAspect="1"/>
          </p:cNvPicPr>
          <p:nvPr/>
        </p:nvPicPr>
        <p:blipFill>
          <a:blip r:embed="rId6"/>
          <a:stretch>
            <a:fillRect/>
          </a:stretch>
        </p:blipFill>
        <p:spPr>
          <a:xfrm>
            <a:off x="6196359" y="4740239"/>
            <a:ext cx="115252" cy="167639"/>
          </a:xfrm>
          <a:prstGeom prst="rect">
            <a:avLst/>
          </a:prstGeom>
        </p:spPr>
      </p:pic>
      <p:pic>
        <p:nvPicPr>
          <p:cNvPr id="45" name="Picture 44" descr="lock.png"/>
          <p:cNvPicPr>
            <a:picLocks noChangeAspect="1"/>
          </p:cNvPicPr>
          <p:nvPr/>
        </p:nvPicPr>
        <p:blipFill>
          <a:blip r:embed="rId6"/>
          <a:stretch>
            <a:fillRect/>
          </a:stretch>
        </p:blipFill>
        <p:spPr>
          <a:xfrm>
            <a:off x="6196359" y="5505983"/>
            <a:ext cx="115252" cy="167639"/>
          </a:xfrm>
          <a:prstGeom prst="rect">
            <a:avLst/>
          </a:prstGeom>
        </p:spPr>
      </p:pic>
      <p:pic>
        <p:nvPicPr>
          <p:cNvPr id="46" name="Picture 45" descr="lock.png"/>
          <p:cNvPicPr>
            <a:picLocks noChangeAspect="1"/>
          </p:cNvPicPr>
          <p:nvPr/>
        </p:nvPicPr>
        <p:blipFill>
          <a:blip r:embed="rId6"/>
          <a:stretch>
            <a:fillRect/>
          </a:stretch>
        </p:blipFill>
        <p:spPr>
          <a:xfrm>
            <a:off x="7341709" y="4737189"/>
            <a:ext cx="115252" cy="167639"/>
          </a:xfrm>
          <a:prstGeom prst="rect">
            <a:avLst/>
          </a:prstGeom>
        </p:spPr>
      </p:pic>
      <p:pic>
        <p:nvPicPr>
          <p:cNvPr id="47" name="Picture 46" descr="lock.png"/>
          <p:cNvPicPr>
            <a:picLocks noChangeAspect="1"/>
          </p:cNvPicPr>
          <p:nvPr/>
        </p:nvPicPr>
        <p:blipFill>
          <a:blip r:embed="rId6"/>
          <a:stretch>
            <a:fillRect/>
          </a:stretch>
        </p:blipFill>
        <p:spPr>
          <a:xfrm>
            <a:off x="7341709" y="5502933"/>
            <a:ext cx="115252" cy="167639"/>
          </a:xfrm>
          <a:prstGeom prst="rect">
            <a:avLst/>
          </a:prstGeom>
        </p:spPr>
      </p:pic>
      <p:pic>
        <p:nvPicPr>
          <p:cNvPr id="48" name="Picture 47" descr="lock.png"/>
          <p:cNvPicPr>
            <a:picLocks noChangeAspect="1"/>
          </p:cNvPicPr>
          <p:nvPr/>
        </p:nvPicPr>
        <p:blipFill>
          <a:blip r:embed="rId6"/>
          <a:stretch>
            <a:fillRect/>
          </a:stretch>
        </p:blipFill>
        <p:spPr>
          <a:xfrm>
            <a:off x="11131867" y="2120920"/>
            <a:ext cx="183356" cy="266700"/>
          </a:xfrm>
          <a:prstGeom prst="rect">
            <a:avLst/>
          </a:prstGeom>
        </p:spPr>
      </p:pic>
      <p:pic>
        <p:nvPicPr>
          <p:cNvPr id="49" name="Picture 48" descr="lock.png"/>
          <p:cNvPicPr>
            <a:picLocks noChangeAspect="1"/>
          </p:cNvPicPr>
          <p:nvPr/>
        </p:nvPicPr>
        <p:blipFill>
          <a:blip r:embed="rId6"/>
          <a:stretch>
            <a:fillRect/>
          </a:stretch>
        </p:blipFill>
        <p:spPr>
          <a:xfrm>
            <a:off x="10175439" y="4490163"/>
            <a:ext cx="357960" cy="520669"/>
          </a:xfrm>
          <a:prstGeom prst="rect">
            <a:avLst/>
          </a:prstGeom>
        </p:spPr>
      </p:pic>
      <p:sp>
        <p:nvSpPr>
          <p:cNvPr id="50" name="TextBox 49"/>
          <p:cNvSpPr txBox="1"/>
          <p:nvPr/>
        </p:nvSpPr>
        <p:spPr>
          <a:xfrm>
            <a:off x="257175" y="6160574"/>
            <a:ext cx="3480841" cy="186689"/>
          </a:xfrm>
          <a:prstGeom prst="rect">
            <a:avLst/>
          </a:prstGeom>
          <a:noFill/>
        </p:spPr>
        <p:txBody>
          <a:bodyPr wrap="none" lIns="0" rIns="0" tIns="0" bIns="0">
            <a:spAutoFit/>
          </a:bodyPr>
          <a:lstStyle/>
          <a:p>
            <a:r>
              <a:rPr sz="1100" b="0">
                <a:solidFill>
                  <a:srgbClr val="2E2E2E"/>
                </a:solidFill>
                <a:latin typeface="Calibri"/>
              </a:rPr>
              <a:t>The U.S. waterproof coatings market is projected to register</a:t>
            </a:r>
          </a:p>
        </p:txBody>
      </p:sp>
      <p:pic>
        <p:nvPicPr>
          <p:cNvPr id="51" name="Picture 50" descr="lock.png"/>
          <p:cNvPicPr>
            <a:picLocks noChangeAspect="1"/>
          </p:cNvPicPr>
          <p:nvPr/>
        </p:nvPicPr>
        <p:blipFill>
          <a:blip r:embed="rId6"/>
          <a:stretch>
            <a:fillRect/>
          </a:stretch>
        </p:blipFill>
        <p:spPr>
          <a:xfrm>
            <a:off x="3686068" y="6150795"/>
            <a:ext cx="128699" cy="187198"/>
          </a:xfrm>
          <a:prstGeom prst="rect">
            <a:avLst/>
          </a:prstGeom>
        </p:spPr>
      </p:pic>
      <p:sp>
        <p:nvSpPr>
          <p:cNvPr id="52" name="TextBox 51"/>
          <p:cNvSpPr txBox="1"/>
          <p:nvPr/>
        </p:nvSpPr>
        <p:spPr>
          <a:xfrm>
            <a:off x="3853564" y="6160574"/>
            <a:ext cx="4198970" cy="186689"/>
          </a:xfrm>
          <a:prstGeom prst="rect">
            <a:avLst/>
          </a:prstGeom>
          <a:noFill/>
        </p:spPr>
        <p:txBody>
          <a:bodyPr wrap="none" lIns="0" rIns="0" tIns="0" bIns="0">
            <a:spAutoFit/>
          </a:bodyPr>
          <a:lstStyle/>
          <a:p>
            <a:r>
              <a:rPr sz="1100" b="0">
                <a:solidFill>
                  <a:srgbClr val="2E2E2E"/>
                </a:solidFill>
                <a:latin typeface="Calibri"/>
              </a:rPr>
              <a:t>X higher value than Canada in 2036. India posts the highest CAGR Index (</a:t>
            </a:r>
          </a:p>
        </p:txBody>
      </p:sp>
      <p:pic>
        <p:nvPicPr>
          <p:cNvPr id="53" name="Picture 52" descr="lock.png"/>
          <p:cNvPicPr>
            <a:picLocks noChangeAspect="1"/>
          </p:cNvPicPr>
          <p:nvPr/>
        </p:nvPicPr>
        <p:blipFill>
          <a:blip r:embed="rId6"/>
          <a:stretch>
            <a:fillRect/>
          </a:stretch>
        </p:blipFill>
        <p:spPr>
          <a:xfrm>
            <a:off x="8000585" y="6150795"/>
            <a:ext cx="128699" cy="187198"/>
          </a:xfrm>
          <a:prstGeom prst="rect">
            <a:avLst/>
          </a:prstGeom>
        </p:spPr>
      </p:pic>
      <p:sp>
        <p:nvSpPr>
          <p:cNvPr id="54" name="TextBox 53"/>
          <p:cNvSpPr txBox="1"/>
          <p:nvPr/>
        </p:nvSpPr>
        <p:spPr>
          <a:xfrm>
            <a:off x="8168081" y="6160574"/>
            <a:ext cx="789979" cy="186689"/>
          </a:xfrm>
          <a:prstGeom prst="rect">
            <a:avLst/>
          </a:prstGeom>
          <a:noFill/>
        </p:spPr>
        <p:txBody>
          <a:bodyPr wrap="none" lIns="0" rIns="0" tIns="0" bIns="0">
            <a:spAutoFit/>
          </a:bodyPr>
          <a:lstStyle/>
          <a:p>
            <a:r>
              <a:rPr sz="1100" b="0">
                <a:solidFill>
                  <a:srgbClr val="2E2E2E"/>
                </a:solidFill>
                <a:latin typeface="Calibri"/>
              </a:rPr>
              <a:t>), growing at</a:t>
            </a:r>
          </a:p>
        </p:txBody>
      </p:sp>
      <p:pic>
        <p:nvPicPr>
          <p:cNvPr id="55" name="Picture 54" descr="lock.png"/>
          <p:cNvPicPr>
            <a:picLocks noChangeAspect="1"/>
          </p:cNvPicPr>
          <p:nvPr/>
        </p:nvPicPr>
        <p:blipFill>
          <a:blip r:embed="rId6"/>
          <a:stretch>
            <a:fillRect/>
          </a:stretch>
        </p:blipFill>
        <p:spPr>
          <a:xfrm>
            <a:off x="8906112" y="6150795"/>
            <a:ext cx="128699" cy="187198"/>
          </a:xfrm>
          <a:prstGeom prst="rect">
            <a:avLst/>
          </a:prstGeom>
        </p:spPr>
      </p:pic>
      <p:sp>
        <p:nvSpPr>
          <p:cNvPr id="56" name="TextBox 55"/>
          <p:cNvSpPr txBox="1"/>
          <p:nvPr/>
        </p:nvSpPr>
        <p:spPr>
          <a:xfrm>
            <a:off x="9073608" y="6160574"/>
            <a:ext cx="1080020" cy="186689"/>
          </a:xfrm>
          <a:prstGeom prst="rect">
            <a:avLst/>
          </a:prstGeom>
          <a:noFill/>
        </p:spPr>
        <p:txBody>
          <a:bodyPr wrap="none" lIns="0" rIns="0" tIns="0" bIns="0">
            <a:spAutoFit/>
          </a:bodyPr>
          <a:lstStyle/>
          <a:p>
            <a:r>
              <a:rPr sz="1100" b="0">
                <a:solidFill>
                  <a:srgbClr val="2E2E2E"/>
                </a:solidFill>
                <a:latin typeface="Calibri"/>
              </a:rPr>
              <a:t>against the global</a:t>
            </a:r>
          </a:p>
        </p:txBody>
      </p:sp>
      <p:sp>
        <p:nvSpPr>
          <p:cNvPr id="57" name="TextBox 56"/>
          <p:cNvSpPr txBox="1"/>
          <p:nvPr/>
        </p:nvSpPr>
        <p:spPr>
          <a:xfrm>
            <a:off x="257175" y="6328214"/>
            <a:ext cx="3580159" cy="186689"/>
          </a:xfrm>
          <a:prstGeom prst="rect">
            <a:avLst/>
          </a:prstGeom>
          <a:noFill/>
        </p:spPr>
        <p:txBody>
          <a:bodyPr wrap="none" lIns="0" rIns="0" tIns="0" bIns="0">
            <a:spAutoFit/>
          </a:bodyPr>
          <a:lstStyle/>
          <a:p>
            <a:r>
              <a:rPr sz="1100" b="0">
                <a:solidFill>
                  <a:srgbClr val="2E2E2E"/>
                </a:solidFill>
                <a:latin typeface="Calibri"/>
              </a:rPr>
              <a:t>benchmark, while U.S. offers the largest absolute opportunity</a:t>
            </a:r>
          </a:p>
        </p:txBody>
      </p:sp>
      <p:pic>
        <p:nvPicPr>
          <p:cNvPr id="58" name="Picture 57" descr="lock.png"/>
          <p:cNvPicPr>
            <a:picLocks noChangeAspect="1"/>
          </p:cNvPicPr>
          <p:nvPr/>
        </p:nvPicPr>
        <p:blipFill>
          <a:blip r:embed="rId6"/>
          <a:stretch>
            <a:fillRect/>
          </a:stretch>
        </p:blipFill>
        <p:spPr>
          <a:xfrm>
            <a:off x="3785386" y="6318435"/>
            <a:ext cx="128699" cy="187198"/>
          </a:xfrm>
          <a:prstGeom prst="rect">
            <a:avLst/>
          </a:prstGeom>
        </p:spPr>
      </p:pic>
      <p:sp>
        <p:nvSpPr>
          <p:cNvPr id="59" name="TextBox 58"/>
          <p:cNvSpPr txBox="1"/>
          <p:nvPr/>
        </p:nvSpPr>
        <p:spPr>
          <a:xfrm>
            <a:off x="3952882" y="6328214"/>
            <a:ext cx="3311946" cy="186689"/>
          </a:xfrm>
          <a:prstGeom prst="rect">
            <a:avLst/>
          </a:prstGeom>
          <a:noFill/>
        </p:spPr>
        <p:txBody>
          <a:bodyPr wrap="none" lIns="0" rIns="0" tIns="0" bIns="0">
            <a:spAutoFit/>
          </a:bodyPr>
          <a:lstStyle/>
          <a:p>
            <a:r>
              <a:rPr sz="1100" b="0">
                <a:solidFill>
                  <a:srgbClr val="2E2E2E"/>
                </a:solidFill>
                <a:latin typeface="Calibri"/>
              </a:rPr>
              <a:t>US$ Mn of incremental market between 2026 and 2036 (</a:t>
            </a:r>
          </a:p>
        </p:txBody>
      </p:sp>
      <p:pic>
        <p:nvPicPr>
          <p:cNvPr id="60" name="Picture 59" descr="lock.png"/>
          <p:cNvPicPr>
            <a:picLocks noChangeAspect="1"/>
          </p:cNvPicPr>
          <p:nvPr/>
        </p:nvPicPr>
        <p:blipFill>
          <a:blip r:embed="rId6"/>
          <a:stretch>
            <a:fillRect/>
          </a:stretch>
        </p:blipFill>
        <p:spPr>
          <a:xfrm>
            <a:off x="7212880" y="6318435"/>
            <a:ext cx="128699" cy="187198"/>
          </a:xfrm>
          <a:prstGeom prst="rect">
            <a:avLst/>
          </a:prstGeom>
        </p:spPr>
      </p:pic>
      <p:sp>
        <p:nvSpPr>
          <p:cNvPr id="61" name="TextBox 60"/>
          <p:cNvSpPr txBox="1"/>
          <p:nvPr/>
        </p:nvSpPr>
        <p:spPr>
          <a:xfrm>
            <a:off x="7380376" y="6328214"/>
            <a:ext cx="1483568" cy="186689"/>
          </a:xfrm>
          <a:prstGeom prst="rect">
            <a:avLst/>
          </a:prstGeom>
          <a:noFill/>
        </p:spPr>
        <p:txBody>
          <a:bodyPr wrap="none" lIns="0" rIns="0" tIns="0" bIns="0">
            <a:spAutoFit/>
          </a:bodyPr>
          <a:lstStyle/>
          <a:p>
            <a:r>
              <a:rPr sz="1100" b="0">
                <a:solidFill>
                  <a:srgbClr val="2E2E2E"/>
                </a:solidFill>
                <a:latin typeface="Calibri"/>
              </a:rPr>
              <a:t>of the global increment).</a:t>
            </a:r>
          </a:p>
        </p:txBody>
      </p:sp>
      <p:sp>
        <p:nvSpPr>
          <p:cNvPr id="62" name="lockshield_12"/>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lockshield_30"/>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Waterproof Coatings Market Summary Country Indices (Value)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98107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152400" y="1057275"/>
          <a:ext cx="11887200" cy="1485896"/>
        </p:xfrm>
        <a:graphic>
          <a:graphicData uri="http://schemas.openxmlformats.org/drawingml/2006/table">
            <a:tbl>
              <a:tblPr>
                <a:tableStyleId>{5C22544A-7EE6-4342-B048-85BDC9FD1C3A}</a:tableStyleId>
              </a:tblPr>
              <a:tblGrid>
                <a:gridCol w="1917762"/>
                <a:gridCol w="3323146"/>
                <a:gridCol w="3323146"/>
                <a:gridCol w="3323146"/>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Brazil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Russia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Hungary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ASEAN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Turkiye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2" name="TextBox 11"/>
          <p:cNvSpPr txBox="1"/>
          <p:nvPr/>
        </p:nvSpPr>
        <p:spPr>
          <a:xfrm>
            <a:off x="219075" y="25527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3" name="Rounded Rectangle 12"/>
          <p:cNvSpPr/>
          <p:nvPr/>
        </p:nvSpPr>
        <p:spPr>
          <a:xfrm>
            <a:off x="142875" y="290512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2981325"/>
          <a:ext cx="11887199" cy="1485896"/>
        </p:xfrm>
        <a:graphic>
          <a:graphicData uri="http://schemas.openxmlformats.org/drawingml/2006/table">
            <a:tbl>
              <a:tblPr>
                <a:tableStyleId>{5C22544A-7EE6-4342-B048-85BDC9FD1C3A}</a:tableStyleId>
              </a:tblPr>
              <a:tblGrid>
                <a:gridCol w="3952787"/>
                <a:gridCol w="2644804"/>
                <a:gridCol w="2644804"/>
                <a:gridCol w="2644804"/>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Mexico</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Russia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ASEAN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Kingdom of Saudi Arabia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Japan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5" name="TextBox 14"/>
          <p:cNvSpPr txBox="1"/>
          <p:nvPr/>
        </p:nvSpPr>
        <p:spPr>
          <a:xfrm>
            <a:off x="219075" y="44767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4"/>
          <a:stretch>
            <a:fillRect/>
          </a:stretch>
        </p:blipFill>
        <p:spPr>
          <a:xfrm>
            <a:off x="6868190" y="1656588"/>
            <a:ext cx="366712" cy="533400"/>
          </a:xfrm>
          <a:prstGeom prst="rect">
            <a:avLst/>
          </a:prstGeom>
        </p:spPr>
      </p:pic>
      <p:pic>
        <p:nvPicPr>
          <p:cNvPr id="18" name="Picture 17" descr="lock.png"/>
          <p:cNvPicPr>
            <a:picLocks noChangeAspect="1"/>
          </p:cNvPicPr>
          <p:nvPr/>
        </p:nvPicPr>
        <p:blipFill>
          <a:blip r:embed="rId4"/>
          <a:stretch>
            <a:fillRect/>
          </a:stretch>
        </p:blipFill>
        <p:spPr>
          <a:xfrm>
            <a:off x="7885702" y="3580638"/>
            <a:ext cx="366712" cy="5334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Overview (1/4)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market size, competitive landscape and the drivers, restraints and trends shaping demand</a:t>
            </a:r>
          </a:p>
        </p:txBody>
      </p:sp>
      <p:sp>
        <p:nvSpPr>
          <p:cNvPr id="10" name="Rounded Rectangle 9"/>
          <p:cNvSpPr/>
          <p:nvPr/>
        </p:nvSpPr>
        <p:spPr>
          <a:xfrm>
            <a:off x="142875" y="981075"/>
            <a:ext cx="11906250"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B2E4A"/>
                </a:solidFill>
                <a:latin typeface="Calibri"/>
              </a:rPr>
              <a:t>Market Overview</a:t>
            </a:r>
          </a:p>
        </p:txBody>
      </p:sp>
      <p:sp>
        <p:nvSpPr>
          <p:cNvPr id="12" name="Rectangle 11"/>
          <p:cNvSpPr/>
          <p:nvPr/>
        </p:nvSpPr>
        <p:spPr>
          <a:xfrm>
            <a:off x="276225" y="13049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11639550"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4" name="Rounded Rectangle 13"/>
          <p:cNvSpPr/>
          <p:nvPr/>
        </p:nvSpPr>
        <p:spPr>
          <a:xfrm>
            <a:off x="142875" y="2800350"/>
            <a:ext cx="11906250" cy="1571625"/>
          </a:xfrm>
          <a:prstGeom prst="roundRect">
            <a:avLst>
              <a:gd name="adj" fmla="val 484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88607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Competitive Landscape</a:t>
            </a:r>
          </a:p>
        </p:txBody>
      </p:sp>
      <p:sp>
        <p:nvSpPr>
          <p:cNvPr id="16" name="Rectangle 15"/>
          <p:cNvSpPr/>
          <p:nvPr/>
        </p:nvSpPr>
        <p:spPr>
          <a:xfrm>
            <a:off x="276225" y="31242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209925"/>
            <a:ext cx="11639550" cy="10858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142875" y="4505325"/>
            <a:ext cx="3943350" cy="2124075"/>
          </a:xfrm>
          <a:prstGeom prst="roundRect">
            <a:avLst>
              <a:gd name="adj" fmla="val 3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591050"/>
            <a:ext cx="3676650" cy="209550"/>
          </a:xfrm>
          <a:prstGeom prst="rect">
            <a:avLst/>
          </a:prstGeom>
          <a:noFill/>
        </p:spPr>
        <p:txBody>
          <a:bodyPr wrap="square" lIns="0" rIns="19050" tIns="9525" bIns="9525">
            <a:spAutoFit/>
          </a:bodyPr>
          <a:lstStyle/>
          <a:p>
            <a:pPr algn="l"/>
            <a:r>
              <a:rPr sz="1300" b="1">
                <a:solidFill>
                  <a:srgbClr val="0B2E4A"/>
                </a:solidFill>
                <a:latin typeface="Calibri"/>
              </a:rPr>
              <a:t>Drivers</a:t>
            </a:r>
          </a:p>
        </p:txBody>
      </p:sp>
      <p:sp>
        <p:nvSpPr>
          <p:cNvPr id="20" name="Rectangle 19"/>
          <p:cNvSpPr/>
          <p:nvPr/>
        </p:nvSpPr>
        <p:spPr>
          <a:xfrm>
            <a:off x="276225" y="4829175"/>
            <a:ext cx="3676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914900"/>
            <a:ext cx="3676650"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4238625" y="4505325"/>
            <a:ext cx="3819525" cy="2124075"/>
          </a:xfrm>
          <a:prstGeom prst="roundRect">
            <a:avLst>
              <a:gd name="adj" fmla="val 3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71975" y="4591050"/>
            <a:ext cx="3552825" cy="209550"/>
          </a:xfrm>
          <a:prstGeom prst="rect">
            <a:avLst/>
          </a:prstGeom>
          <a:noFill/>
        </p:spPr>
        <p:txBody>
          <a:bodyPr wrap="square" lIns="0" rIns="19050" tIns="9525" bIns="9525">
            <a:spAutoFit/>
          </a:bodyPr>
          <a:lstStyle/>
          <a:p>
            <a:pPr algn="l"/>
            <a:r>
              <a:rPr sz="1300" b="1">
                <a:solidFill>
                  <a:srgbClr val="0B2E4A"/>
                </a:solidFill>
                <a:latin typeface="Calibri"/>
              </a:rPr>
              <a:t>Restraints</a:t>
            </a:r>
          </a:p>
        </p:txBody>
      </p:sp>
      <p:sp>
        <p:nvSpPr>
          <p:cNvPr id="24" name="Rectangle 23"/>
          <p:cNvSpPr/>
          <p:nvPr/>
        </p:nvSpPr>
        <p:spPr>
          <a:xfrm>
            <a:off x="4371975" y="48291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71975" y="4914900"/>
            <a:ext cx="3552825"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8210550" y="4505325"/>
            <a:ext cx="3819525" cy="2124075"/>
          </a:xfrm>
          <a:prstGeom prst="roundRect">
            <a:avLst>
              <a:gd name="adj" fmla="val 3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4591050"/>
            <a:ext cx="3552825" cy="209550"/>
          </a:xfrm>
          <a:prstGeom prst="rect">
            <a:avLst/>
          </a:prstGeom>
          <a:noFill/>
        </p:spPr>
        <p:txBody>
          <a:bodyPr wrap="square" lIns="0" rIns="19050" tIns="9525" bIns="9525">
            <a:spAutoFit/>
          </a:bodyPr>
          <a:lstStyle/>
          <a:p>
            <a:pPr algn="l"/>
            <a:r>
              <a:rPr sz="1300" b="1">
                <a:solidFill>
                  <a:srgbClr val="0B2E4A"/>
                </a:solidFill>
                <a:latin typeface="Calibri"/>
              </a:rPr>
              <a:t>Trends</a:t>
            </a:r>
          </a:p>
        </p:txBody>
      </p:sp>
      <p:sp>
        <p:nvSpPr>
          <p:cNvPr id="28" name="Rectangle 27"/>
          <p:cNvSpPr/>
          <p:nvPr/>
        </p:nvSpPr>
        <p:spPr>
          <a:xfrm>
            <a:off x="8343900" y="48291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43900" y="4914900"/>
            <a:ext cx="3552825"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Mix shifting toward 'Silicone Waterproof Coatings' and higher-growth tiers.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South Asia &amp; Pacific outpacing the global average.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Demand broadening across 8 product type / chemistry categories.</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3497820" cy="194310"/>
          </a:xfrm>
          <a:prstGeom prst="rect">
            <a:avLst/>
          </a:prstGeom>
          <a:noFill/>
        </p:spPr>
        <p:txBody>
          <a:bodyPr wrap="none" lIns="0" rIns="0" tIns="0" bIns="0">
            <a:spAutoFit/>
          </a:bodyPr>
          <a:lstStyle/>
          <a:p>
            <a:r>
              <a:rPr sz="1150" b="0">
                <a:solidFill>
                  <a:srgbClr val="2E2E2E"/>
                </a:solidFill>
                <a:latin typeface="Calibri"/>
              </a:rPr>
              <a:t>Global waterproof coatings market is expected to witness</a:t>
            </a:r>
          </a:p>
        </p:txBody>
      </p:sp>
      <p:pic>
        <p:nvPicPr>
          <p:cNvPr id="32" name="Picture 31" descr="lock.png"/>
          <p:cNvPicPr>
            <a:picLocks noChangeAspect="1"/>
          </p:cNvPicPr>
          <p:nvPr/>
        </p:nvPicPr>
        <p:blipFill>
          <a:blip r:embed="rId4"/>
          <a:stretch>
            <a:fillRect/>
          </a:stretch>
        </p:blipFill>
        <p:spPr>
          <a:xfrm>
            <a:off x="3723199" y="1389951"/>
            <a:ext cx="134549" cy="195707"/>
          </a:xfrm>
          <a:prstGeom prst="rect">
            <a:avLst/>
          </a:prstGeom>
        </p:spPr>
      </p:pic>
      <p:sp>
        <p:nvSpPr>
          <p:cNvPr id="33" name="TextBox 32"/>
          <p:cNvSpPr txBox="1"/>
          <p:nvPr/>
        </p:nvSpPr>
        <p:spPr>
          <a:xfrm>
            <a:off x="3898308" y="1400175"/>
            <a:ext cx="5386486" cy="194310"/>
          </a:xfrm>
          <a:prstGeom prst="rect">
            <a:avLst/>
          </a:prstGeom>
          <a:noFill/>
        </p:spPr>
        <p:txBody>
          <a:bodyPr wrap="none" lIns="0" rIns="0" tIns="0" bIns="0">
            <a:spAutoFit/>
          </a:bodyPr>
          <a:lstStyle/>
          <a:p>
            <a:r>
              <a:rPr sz="1150" b="0">
                <a:solidFill>
                  <a:srgbClr val="2E2E2E"/>
                </a:solidFill>
                <a:latin typeface="Calibri"/>
              </a:rPr>
              <a:t>X increase in revenue by 2036 end. Global waterproof coatings market accounted for US$</a:t>
            </a:r>
          </a:p>
        </p:txBody>
      </p:sp>
      <p:pic>
        <p:nvPicPr>
          <p:cNvPr id="34" name="Picture 33" descr="lock.png"/>
          <p:cNvPicPr>
            <a:picLocks noChangeAspect="1"/>
          </p:cNvPicPr>
          <p:nvPr/>
        </p:nvPicPr>
        <p:blipFill>
          <a:blip r:embed="rId4"/>
          <a:stretch>
            <a:fillRect/>
          </a:stretch>
        </p:blipFill>
        <p:spPr>
          <a:xfrm>
            <a:off x="9233949" y="1389951"/>
            <a:ext cx="134549" cy="195707"/>
          </a:xfrm>
          <a:prstGeom prst="rect">
            <a:avLst/>
          </a:prstGeom>
        </p:spPr>
      </p:pic>
      <p:sp>
        <p:nvSpPr>
          <p:cNvPr id="35" name="TextBox 34"/>
          <p:cNvSpPr txBox="1"/>
          <p:nvPr/>
        </p:nvSpPr>
        <p:spPr>
          <a:xfrm>
            <a:off x="9409058" y="1400175"/>
            <a:ext cx="2036179" cy="194310"/>
          </a:xfrm>
          <a:prstGeom prst="rect">
            <a:avLst/>
          </a:prstGeom>
          <a:noFill/>
        </p:spPr>
        <p:txBody>
          <a:bodyPr wrap="none" lIns="0" rIns="0" tIns="0" bIns="0">
            <a:spAutoFit/>
          </a:bodyPr>
          <a:lstStyle/>
          <a:p>
            <a:r>
              <a:rPr sz="1150" b="0">
                <a:solidFill>
                  <a:srgbClr val="2E2E2E"/>
                </a:solidFill>
                <a:latin typeface="Calibri"/>
              </a:rPr>
              <a:t>Mn in 2025, which is expected to</a:t>
            </a:r>
          </a:p>
        </p:txBody>
      </p:sp>
      <p:sp>
        <p:nvSpPr>
          <p:cNvPr id="36" name="TextBox 35"/>
          <p:cNvSpPr txBox="1"/>
          <p:nvPr/>
        </p:nvSpPr>
        <p:spPr>
          <a:xfrm>
            <a:off x="276225" y="1575435"/>
            <a:ext cx="999281" cy="194310"/>
          </a:xfrm>
          <a:prstGeom prst="rect">
            <a:avLst/>
          </a:prstGeom>
          <a:noFill/>
        </p:spPr>
        <p:txBody>
          <a:bodyPr wrap="none" lIns="0" rIns="0" tIns="0" bIns="0">
            <a:spAutoFit/>
          </a:bodyPr>
          <a:lstStyle/>
          <a:p>
            <a:r>
              <a:rPr sz="1150" b="0">
                <a:solidFill>
                  <a:srgbClr val="2E2E2E"/>
                </a:solidFill>
                <a:latin typeface="Calibri"/>
              </a:rPr>
              <a:t>increase to US$</a:t>
            </a:r>
          </a:p>
        </p:txBody>
      </p:sp>
      <p:pic>
        <p:nvPicPr>
          <p:cNvPr id="37" name="Picture 36" descr="lock.png"/>
          <p:cNvPicPr>
            <a:picLocks noChangeAspect="1"/>
          </p:cNvPicPr>
          <p:nvPr/>
        </p:nvPicPr>
        <p:blipFill>
          <a:blip r:embed="rId4"/>
          <a:stretch>
            <a:fillRect/>
          </a:stretch>
        </p:blipFill>
        <p:spPr>
          <a:xfrm>
            <a:off x="1224660" y="1565211"/>
            <a:ext cx="134549" cy="195707"/>
          </a:xfrm>
          <a:prstGeom prst="rect">
            <a:avLst/>
          </a:prstGeom>
        </p:spPr>
      </p:pic>
      <p:sp>
        <p:nvSpPr>
          <p:cNvPr id="38" name="TextBox 37"/>
          <p:cNvSpPr txBox="1"/>
          <p:nvPr/>
        </p:nvSpPr>
        <p:spPr>
          <a:xfrm>
            <a:off x="1399769" y="1575435"/>
            <a:ext cx="1527554" cy="194310"/>
          </a:xfrm>
          <a:prstGeom prst="rect">
            <a:avLst/>
          </a:prstGeom>
          <a:noFill/>
        </p:spPr>
        <p:txBody>
          <a:bodyPr wrap="none" lIns="0" rIns="0" tIns="0" bIns="0">
            <a:spAutoFit/>
          </a:bodyPr>
          <a:lstStyle/>
          <a:p>
            <a:r>
              <a:rPr sz="1150" b="0">
                <a:solidFill>
                  <a:srgbClr val="2E2E2E"/>
                </a:solidFill>
                <a:latin typeface="Calibri"/>
              </a:rPr>
              <a:t>Mn in 2036 at a CAGR of</a:t>
            </a:r>
          </a:p>
        </p:txBody>
      </p:sp>
      <p:pic>
        <p:nvPicPr>
          <p:cNvPr id="39" name="Picture 38" descr="lock.png"/>
          <p:cNvPicPr>
            <a:picLocks noChangeAspect="1"/>
          </p:cNvPicPr>
          <p:nvPr/>
        </p:nvPicPr>
        <p:blipFill>
          <a:blip r:embed="rId4"/>
          <a:stretch>
            <a:fillRect/>
          </a:stretch>
        </p:blipFill>
        <p:spPr>
          <a:xfrm>
            <a:off x="2876477" y="1565211"/>
            <a:ext cx="134549" cy="195707"/>
          </a:xfrm>
          <a:prstGeom prst="rect">
            <a:avLst/>
          </a:prstGeom>
        </p:spPr>
      </p:pic>
      <p:sp>
        <p:nvSpPr>
          <p:cNvPr id="40" name="TextBox 39"/>
          <p:cNvSpPr txBox="1"/>
          <p:nvPr/>
        </p:nvSpPr>
        <p:spPr>
          <a:xfrm>
            <a:off x="3051587" y="157543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1" name="TextBox 40"/>
          <p:cNvSpPr txBox="1"/>
          <p:nvPr/>
        </p:nvSpPr>
        <p:spPr>
          <a:xfrm>
            <a:off x="276225" y="1803273"/>
            <a:ext cx="11607303" cy="194310"/>
          </a:xfrm>
          <a:prstGeom prst="rect">
            <a:avLst/>
          </a:prstGeom>
          <a:noFill/>
        </p:spPr>
        <p:txBody>
          <a:bodyPr wrap="none" lIns="0" rIns="0" tIns="0" bIns="0">
            <a:spAutoFit/>
          </a:bodyPr>
          <a:lstStyle/>
          <a:p>
            <a:r>
              <a:rPr sz="1150" b="0">
                <a:solidFill>
                  <a:srgbClr val="2E2E2E"/>
                </a:solidFill>
                <a:latin typeface="Calibri"/>
              </a:rPr>
              <a:t>The global waterproof coatings market has been analysed on the basis of product type / chemistry, product configuration, technology and application across the globe. North America is expected</a:t>
            </a:r>
          </a:p>
        </p:txBody>
      </p:sp>
      <p:sp>
        <p:nvSpPr>
          <p:cNvPr id="42" name="TextBox 41"/>
          <p:cNvSpPr txBox="1"/>
          <p:nvPr/>
        </p:nvSpPr>
        <p:spPr>
          <a:xfrm>
            <a:off x="276225" y="1978533"/>
            <a:ext cx="8273808" cy="194310"/>
          </a:xfrm>
          <a:prstGeom prst="rect">
            <a:avLst/>
          </a:prstGeom>
          <a:noFill/>
        </p:spPr>
        <p:txBody>
          <a:bodyPr wrap="none" lIns="0" rIns="0" tIns="0" bIns="0">
            <a:spAutoFit/>
          </a:bodyPr>
          <a:lstStyle/>
          <a:p>
            <a:r>
              <a:rPr sz="1150" b="0">
                <a:solidFill>
                  <a:srgbClr val="2E2E2E"/>
                </a:solidFill>
                <a:latin typeface="Calibri"/>
              </a:rPr>
              <a:t>to remain the largest market for waterproof coatings, while demand in South Asia &amp; Pacific is projected to increase at the highest CAGR of</a:t>
            </a:r>
          </a:p>
        </p:txBody>
      </p:sp>
      <p:pic>
        <p:nvPicPr>
          <p:cNvPr id="43" name="Picture 42" descr="lock.png"/>
          <p:cNvPicPr>
            <a:picLocks noChangeAspect="1"/>
          </p:cNvPicPr>
          <p:nvPr/>
        </p:nvPicPr>
        <p:blipFill>
          <a:blip r:embed="rId4"/>
          <a:stretch>
            <a:fillRect/>
          </a:stretch>
        </p:blipFill>
        <p:spPr>
          <a:xfrm>
            <a:off x="8499187" y="1968309"/>
            <a:ext cx="134549" cy="195707"/>
          </a:xfrm>
          <a:prstGeom prst="rect">
            <a:avLst/>
          </a:prstGeom>
        </p:spPr>
      </p:pic>
      <p:sp>
        <p:nvSpPr>
          <p:cNvPr id="44" name="TextBox 43"/>
          <p:cNvSpPr txBox="1"/>
          <p:nvPr/>
        </p:nvSpPr>
        <p:spPr>
          <a:xfrm>
            <a:off x="8674297" y="1978533"/>
            <a:ext cx="1960872" cy="194310"/>
          </a:xfrm>
          <a:prstGeom prst="rect">
            <a:avLst/>
          </a:prstGeom>
          <a:noFill/>
        </p:spPr>
        <p:txBody>
          <a:bodyPr wrap="none" lIns="0" rIns="0" tIns="0" bIns="0">
            <a:spAutoFit/>
          </a:bodyPr>
          <a:lstStyle/>
          <a:p>
            <a:r>
              <a:rPr sz="1150" b="0">
                <a:solidFill>
                  <a:srgbClr val="2E2E2E"/>
                </a:solidFill>
                <a:latin typeface="Calibri"/>
              </a:rPr>
              <a:t>throughout the forecast period.</a:t>
            </a:r>
          </a:p>
        </p:txBody>
      </p:sp>
      <p:sp>
        <p:nvSpPr>
          <p:cNvPr id="45" name="TextBox 44"/>
          <p:cNvSpPr txBox="1"/>
          <p:nvPr/>
        </p:nvSpPr>
        <p:spPr>
          <a:xfrm>
            <a:off x="276225" y="3219450"/>
            <a:ext cx="7476827" cy="194310"/>
          </a:xfrm>
          <a:prstGeom prst="rect">
            <a:avLst/>
          </a:prstGeom>
          <a:noFill/>
        </p:spPr>
        <p:txBody>
          <a:bodyPr wrap="none" lIns="0" rIns="0" tIns="0" bIns="0">
            <a:spAutoFit/>
          </a:bodyPr>
          <a:lstStyle/>
          <a:p>
            <a:r>
              <a:rPr sz="1150" b="0">
                <a:solidFill>
                  <a:srgbClr val="2E2E2E"/>
                </a:solidFill>
                <a:latin typeface="Calibri"/>
              </a:rPr>
              <a:t>▪ The market is moderately fragmented: the leading product type / chemistry category 'Other Polymer-Based Coatings' holds</a:t>
            </a:r>
          </a:p>
        </p:txBody>
      </p:sp>
      <p:pic>
        <p:nvPicPr>
          <p:cNvPr id="46" name="Picture 45" descr="lock.png"/>
          <p:cNvPicPr>
            <a:picLocks noChangeAspect="1"/>
          </p:cNvPicPr>
          <p:nvPr/>
        </p:nvPicPr>
        <p:blipFill>
          <a:blip r:embed="rId4"/>
          <a:stretch>
            <a:fillRect/>
          </a:stretch>
        </p:blipFill>
        <p:spPr>
          <a:xfrm>
            <a:off x="7702206" y="3209226"/>
            <a:ext cx="134549" cy="195707"/>
          </a:xfrm>
          <a:prstGeom prst="rect">
            <a:avLst/>
          </a:prstGeom>
        </p:spPr>
      </p:pic>
      <p:sp>
        <p:nvSpPr>
          <p:cNvPr id="47" name="TextBox 46"/>
          <p:cNvSpPr txBox="1"/>
          <p:nvPr/>
        </p:nvSpPr>
        <p:spPr>
          <a:xfrm>
            <a:off x="7877315" y="3219450"/>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48" name="TextBox 47"/>
          <p:cNvSpPr txBox="1"/>
          <p:nvPr/>
        </p:nvSpPr>
        <p:spPr>
          <a:xfrm>
            <a:off x="276225" y="3447287"/>
            <a:ext cx="5618683" cy="194310"/>
          </a:xfrm>
          <a:prstGeom prst="rect">
            <a:avLst/>
          </a:prstGeom>
          <a:noFill/>
        </p:spPr>
        <p:txBody>
          <a:bodyPr wrap="none" lIns="0" rIns="0" tIns="0" bIns="0">
            <a:spAutoFit/>
          </a:bodyPr>
          <a:lstStyle/>
          <a:p>
            <a:r>
              <a:rPr sz="1150" b="0">
                <a:solidFill>
                  <a:srgbClr val="2E2E2E"/>
                </a:solidFill>
                <a:latin typeface="Calibri"/>
              </a:rPr>
              <a:t>▪ Demand spans 7 regions and 6 segmentation lenses (8 product type / chemistry categories).</a:t>
            </a:r>
          </a:p>
        </p:txBody>
      </p:sp>
      <p:sp>
        <p:nvSpPr>
          <p:cNvPr id="49" name="TextBox 48"/>
          <p:cNvSpPr txBox="1"/>
          <p:nvPr/>
        </p:nvSpPr>
        <p:spPr>
          <a:xfrm>
            <a:off x="276225" y="3675125"/>
            <a:ext cx="2950988" cy="194310"/>
          </a:xfrm>
          <a:prstGeom prst="rect">
            <a:avLst/>
          </a:prstGeom>
          <a:noFill/>
        </p:spPr>
        <p:txBody>
          <a:bodyPr wrap="none" lIns="0" rIns="0" tIns="0" bIns="0">
            <a:spAutoFit/>
          </a:bodyPr>
          <a:lstStyle/>
          <a:p>
            <a:r>
              <a:rPr sz="1150" b="0">
                <a:solidFill>
                  <a:srgbClr val="2E2E2E"/>
                </a:solidFill>
                <a:latin typeface="Calibri"/>
              </a:rPr>
              <a:t>▪ North America is the largest regional market at</a:t>
            </a:r>
          </a:p>
        </p:txBody>
      </p:sp>
      <p:pic>
        <p:nvPicPr>
          <p:cNvPr id="50" name="Picture 49" descr="lock.png"/>
          <p:cNvPicPr>
            <a:picLocks noChangeAspect="1"/>
          </p:cNvPicPr>
          <p:nvPr/>
        </p:nvPicPr>
        <p:blipFill>
          <a:blip r:embed="rId4"/>
          <a:stretch>
            <a:fillRect/>
          </a:stretch>
        </p:blipFill>
        <p:spPr>
          <a:xfrm>
            <a:off x="3176367" y="3664902"/>
            <a:ext cx="134549" cy="195707"/>
          </a:xfrm>
          <a:prstGeom prst="rect">
            <a:avLst/>
          </a:prstGeom>
        </p:spPr>
      </p:pic>
      <p:sp>
        <p:nvSpPr>
          <p:cNvPr id="51" name="TextBox 50"/>
          <p:cNvSpPr txBox="1"/>
          <p:nvPr/>
        </p:nvSpPr>
        <p:spPr>
          <a:xfrm>
            <a:off x="3351477" y="3675125"/>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52" name="TextBox 51"/>
          <p:cNvSpPr txBox="1"/>
          <p:nvPr/>
        </p:nvSpPr>
        <p:spPr>
          <a:xfrm>
            <a:off x="276225" y="4924425"/>
            <a:ext cx="3403401" cy="194310"/>
          </a:xfrm>
          <a:prstGeom prst="rect">
            <a:avLst/>
          </a:prstGeom>
          <a:noFill/>
        </p:spPr>
        <p:txBody>
          <a:bodyPr wrap="none" lIns="0" rIns="0" tIns="0" bIns="0">
            <a:spAutoFit/>
          </a:bodyPr>
          <a:lstStyle/>
          <a:p>
            <a:r>
              <a:rPr sz="1150" b="0">
                <a:solidFill>
                  <a:srgbClr val="2E2E2E"/>
                </a:solidFill>
                <a:latin typeface="Calibri"/>
              </a:rPr>
              <a:t>▪ Accelerating uptake of 'Silicone Waterproof Coatings' (</a:t>
            </a:r>
          </a:p>
        </p:txBody>
      </p:sp>
      <p:pic>
        <p:nvPicPr>
          <p:cNvPr id="53" name="Picture 52" descr="lock.png"/>
          <p:cNvPicPr>
            <a:picLocks noChangeAspect="1"/>
          </p:cNvPicPr>
          <p:nvPr/>
        </p:nvPicPr>
        <p:blipFill>
          <a:blip r:embed="rId4"/>
          <a:stretch>
            <a:fillRect/>
          </a:stretch>
        </p:blipFill>
        <p:spPr>
          <a:xfrm>
            <a:off x="3628780" y="4914201"/>
            <a:ext cx="134549" cy="195707"/>
          </a:xfrm>
          <a:prstGeom prst="rect">
            <a:avLst/>
          </a:prstGeom>
        </p:spPr>
      </p:pic>
      <p:sp>
        <p:nvSpPr>
          <p:cNvPr id="54" name="TextBox 53"/>
          <p:cNvSpPr txBox="1"/>
          <p:nvPr/>
        </p:nvSpPr>
        <p:spPr>
          <a:xfrm>
            <a:off x="276225" y="5099685"/>
            <a:ext cx="490941"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5" name="TextBox 54"/>
          <p:cNvSpPr txBox="1"/>
          <p:nvPr/>
        </p:nvSpPr>
        <p:spPr>
          <a:xfrm>
            <a:off x="276225" y="5327522"/>
            <a:ext cx="2877045" cy="194310"/>
          </a:xfrm>
          <a:prstGeom prst="rect">
            <a:avLst/>
          </a:prstGeom>
          <a:noFill/>
        </p:spPr>
        <p:txBody>
          <a:bodyPr wrap="none" lIns="0" rIns="0" tIns="0" bIns="0">
            <a:spAutoFit/>
          </a:bodyPr>
          <a:lstStyle/>
          <a:p>
            <a:r>
              <a:rPr sz="1150" b="0">
                <a:solidFill>
                  <a:srgbClr val="2E2E2E"/>
                </a:solidFill>
                <a:latin typeface="Calibri"/>
              </a:rPr>
              <a:t>▪ Fast-growing demand in South Asia &amp; Pacific (</a:t>
            </a:r>
          </a:p>
        </p:txBody>
      </p:sp>
      <p:pic>
        <p:nvPicPr>
          <p:cNvPr id="56" name="Picture 55" descr="lock.png"/>
          <p:cNvPicPr>
            <a:picLocks noChangeAspect="1"/>
          </p:cNvPicPr>
          <p:nvPr/>
        </p:nvPicPr>
        <p:blipFill>
          <a:blip r:embed="rId4"/>
          <a:stretch>
            <a:fillRect/>
          </a:stretch>
        </p:blipFill>
        <p:spPr>
          <a:xfrm>
            <a:off x="3102424" y="5317299"/>
            <a:ext cx="134549" cy="195707"/>
          </a:xfrm>
          <a:prstGeom prst="rect">
            <a:avLst/>
          </a:prstGeom>
        </p:spPr>
      </p:pic>
      <p:sp>
        <p:nvSpPr>
          <p:cNvPr id="57" name="TextBox 56"/>
          <p:cNvSpPr txBox="1"/>
          <p:nvPr/>
        </p:nvSpPr>
        <p:spPr>
          <a:xfrm>
            <a:off x="3277533" y="5327522"/>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8" name="TextBox 57"/>
          <p:cNvSpPr txBox="1"/>
          <p:nvPr/>
        </p:nvSpPr>
        <p:spPr>
          <a:xfrm>
            <a:off x="276225" y="5555360"/>
            <a:ext cx="3657600" cy="194310"/>
          </a:xfrm>
          <a:prstGeom prst="rect">
            <a:avLst/>
          </a:prstGeom>
          <a:noFill/>
        </p:spPr>
        <p:txBody>
          <a:bodyPr wrap="none" lIns="0" rIns="0" tIns="0" bIns="0">
            <a:spAutoFit/>
          </a:bodyPr>
          <a:lstStyle/>
          <a:p>
            <a:r>
              <a:rPr sz="1150" b="0">
                <a:solidFill>
                  <a:srgbClr val="2E2E2E"/>
                </a:solidFill>
                <a:latin typeface="Calibri"/>
              </a:rPr>
              <a:t>▪ Momentum in Bathrooms and Wet Areas within application</a:t>
            </a:r>
          </a:p>
        </p:txBody>
      </p:sp>
      <p:sp>
        <p:nvSpPr>
          <p:cNvPr id="59" name="TextBox 58"/>
          <p:cNvSpPr txBox="1"/>
          <p:nvPr/>
        </p:nvSpPr>
        <p:spPr>
          <a:xfrm>
            <a:off x="276225" y="5730620"/>
            <a:ext cx="120414"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60" name="Picture 59" descr="lock.png"/>
          <p:cNvPicPr>
            <a:picLocks noChangeAspect="1"/>
          </p:cNvPicPr>
          <p:nvPr/>
        </p:nvPicPr>
        <p:blipFill>
          <a:blip r:embed="rId4"/>
          <a:stretch>
            <a:fillRect/>
          </a:stretch>
        </p:blipFill>
        <p:spPr>
          <a:xfrm>
            <a:off x="345793" y="5720397"/>
            <a:ext cx="134549" cy="195707"/>
          </a:xfrm>
          <a:prstGeom prst="rect">
            <a:avLst/>
          </a:prstGeom>
        </p:spPr>
      </p:pic>
      <p:sp>
        <p:nvSpPr>
          <p:cNvPr id="61" name="TextBox 60"/>
          <p:cNvSpPr txBox="1"/>
          <p:nvPr/>
        </p:nvSpPr>
        <p:spPr>
          <a:xfrm>
            <a:off x="520902" y="573062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2" name="TextBox 61"/>
          <p:cNvSpPr txBox="1"/>
          <p:nvPr/>
        </p:nvSpPr>
        <p:spPr>
          <a:xfrm>
            <a:off x="4371975" y="4924425"/>
            <a:ext cx="3036279" cy="194310"/>
          </a:xfrm>
          <a:prstGeom prst="rect">
            <a:avLst/>
          </a:prstGeom>
          <a:noFill/>
        </p:spPr>
        <p:txBody>
          <a:bodyPr wrap="none" lIns="0" rIns="0" tIns="0" bIns="0">
            <a:spAutoFit/>
          </a:bodyPr>
          <a:lstStyle/>
          <a:p>
            <a:r>
              <a:rPr sz="1150" b="0">
                <a:solidFill>
                  <a:srgbClr val="2E2E2E"/>
                </a:solidFill>
                <a:latin typeface="Calibri"/>
              </a:rPr>
              <a:t>▪ Slower momentum in 'Cementitious Waterproof</a:t>
            </a:r>
          </a:p>
        </p:txBody>
      </p:sp>
      <p:sp>
        <p:nvSpPr>
          <p:cNvPr id="63" name="TextBox 62"/>
          <p:cNvSpPr txBox="1"/>
          <p:nvPr/>
        </p:nvSpPr>
        <p:spPr>
          <a:xfrm>
            <a:off x="4371975" y="5099685"/>
            <a:ext cx="695771" cy="194310"/>
          </a:xfrm>
          <a:prstGeom prst="rect">
            <a:avLst/>
          </a:prstGeom>
          <a:noFill/>
        </p:spPr>
        <p:txBody>
          <a:bodyPr wrap="none" lIns="0" rIns="0" tIns="0" bIns="0">
            <a:spAutoFit/>
          </a:bodyPr>
          <a:lstStyle/>
          <a:p>
            <a:r>
              <a:rPr sz="1150" b="0">
                <a:solidFill>
                  <a:srgbClr val="2E2E2E"/>
                </a:solidFill>
                <a:latin typeface="Calibri"/>
              </a:rPr>
              <a:t>Coatings' (</a:t>
            </a:r>
          </a:p>
        </p:txBody>
      </p:sp>
      <p:pic>
        <p:nvPicPr>
          <p:cNvPr id="64" name="Picture 63" descr="lock.png"/>
          <p:cNvPicPr>
            <a:picLocks noChangeAspect="1"/>
          </p:cNvPicPr>
          <p:nvPr/>
        </p:nvPicPr>
        <p:blipFill>
          <a:blip r:embed="rId4"/>
          <a:stretch>
            <a:fillRect/>
          </a:stretch>
        </p:blipFill>
        <p:spPr>
          <a:xfrm>
            <a:off x="5016900" y="5089461"/>
            <a:ext cx="134549" cy="195707"/>
          </a:xfrm>
          <a:prstGeom prst="rect">
            <a:avLst/>
          </a:prstGeom>
        </p:spPr>
      </p:pic>
      <p:sp>
        <p:nvSpPr>
          <p:cNvPr id="65" name="TextBox 64"/>
          <p:cNvSpPr txBox="1"/>
          <p:nvPr/>
        </p:nvSpPr>
        <p:spPr>
          <a:xfrm>
            <a:off x="5192009" y="509968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6" name="TextBox 65"/>
          <p:cNvSpPr txBox="1"/>
          <p:nvPr/>
        </p:nvSpPr>
        <p:spPr>
          <a:xfrm>
            <a:off x="4371975" y="5327522"/>
            <a:ext cx="3264197" cy="194310"/>
          </a:xfrm>
          <a:prstGeom prst="rect">
            <a:avLst/>
          </a:prstGeom>
          <a:noFill/>
        </p:spPr>
        <p:txBody>
          <a:bodyPr wrap="none" lIns="0" rIns="0" tIns="0" bIns="0">
            <a:spAutoFit/>
          </a:bodyPr>
          <a:lstStyle/>
          <a:p>
            <a:r>
              <a:rPr sz="1150" b="0">
                <a:solidFill>
                  <a:srgbClr val="2E2E2E"/>
                </a:solidFill>
                <a:latin typeface="Calibri"/>
              </a:rPr>
              <a:t>▪ Maturing demand in established categories caps the</a:t>
            </a:r>
          </a:p>
        </p:txBody>
      </p:sp>
      <p:sp>
        <p:nvSpPr>
          <p:cNvPr id="67" name="TextBox 66"/>
          <p:cNvSpPr txBox="1"/>
          <p:nvPr/>
        </p:nvSpPr>
        <p:spPr>
          <a:xfrm>
            <a:off x="4371975" y="5502782"/>
            <a:ext cx="562272" cy="194310"/>
          </a:xfrm>
          <a:prstGeom prst="rect">
            <a:avLst/>
          </a:prstGeom>
          <a:noFill/>
        </p:spPr>
        <p:txBody>
          <a:bodyPr wrap="none" lIns="0" rIns="0" tIns="0" bIns="0">
            <a:spAutoFit/>
          </a:bodyPr>
          <a:lstStyle/>
          <a:p>
            <a:r>
              <a:rPr sz="1150" b="0">
                <a:solidFill>
                  <a:srgbClr val="2E2E2E"/>
                </a:solidFill>
                <a:latin typeface="Calibri"/>
              </a:rPr>
              <a:t>blended</a:t>
            </a:r>
          </a:p>
        </p:txBody>
      </p:sp>
      <p:pic>
        <p:nvPicPr>
          <p:cNvPr id="68" name="Picture 67" descr="lock.png"/>
          <p:cNvPicPr>
            <a:picLocks noChangeAspect="1"/>
          </p:cNvPicPr>
          <p:nvPr/>
        </p:nvPicPr>
        <p:blipFill>
          <a:blip r:embed="rId4"/>
          <a:stretch>
            <a:fillRect/>
          </a:stretch>
        </p:blipFill>
        <p:spPr>
          <a:xfrm>
            <a:off x="4883401" y="5492559"/>
            <a:ext cx="134549" cy="195707"/>
          </a:xfrm>
          <a:prstGeom prst="rect">
            <a:avLst/>
          </a:prstGeom>
        </p:spPr>
      </p:pic>
      <p:sp>
        <p:nvSpPr>
          <p:cNvPr id="69" name="TextBox 68"/>
          <p:cNvSpPr txBox="1"/>
          <p:nvPr/>
        </p:nvSpPr>
        <p:spPr>
          <a:xfrm>
            <a:off x="5058510" y="5502782"/>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0" name="TextBox 69"/>
          <p:cNvSpPr txBox="1"/>
          <p:nvPr/>
        </p:nvSpPr>
        <p:spPr>
          <a:xfrm>
            <a:off x="4371975" y="5730620"/>
            <a:ext cx="3420802" cy="194310"/>
          </a:xfrm>
          <a:prstGeom prst="rect">
            <a:avLst/>
          </a:prstGeom>
          <a:noFill/>
        </p:spPr>
        <p:txBody>
          <a:bodyPr wrap="none" lIns="0" rIns="0" tIns="0" bIns="0">
            <a:spAutoFit/>
          </a:bodyPr>
          <a:lstStyle/>
          <a:p>
            <a:r>
              <a:rPr sz="1150" b="0">
                <a:solidFill>
                  <a:srgbClr val="2E2E2E"/>
                </a:solidFill>
                <a:latin typeface="Calibri"/>
              </a:rPr>
              <a:t>▪ Value concentration in 'Other Polymer-Based Coatings'</a:t>
            </a:r>
          </a:p>
        </p:txBody>
      </p:sp>
      <p:sp>
        <p:nvSpPr>
          <p:cNvPr id="71" name="TextBox 70"/>
          <p:cNvSpPr txBox="1"/>
          <p:nvPr/>
        </p:nvSpPr>
        <p:spPr>
          <a:xfrm>
            <a:off x="4371975" y="5905880"/>
            <a:ext cx="1978843" cy="194310"/>
          </a:xfrm>
          <a:prstGeom prst="rect">
            <a:avLst/>
          </a:prstGeom>
          <a:noFill/>
        </p:spPr>
        <p:txBody>
          <a:bodyPr wrap="none" lIns="0" rIns="0" tIns="0" bIns="0">
            <a:spAutoFit/>
          </a:bodyPr>
          <a:lstStyle/>
          <a:p>
            <a:r>
              <a:rPr sz="1150" b="0">
                <a:solidFill>
                  <a:srgbClr val="2E2E2E"/>
                </a:solidFill>
                <a:latin typeface="Calibri"/>
              </a:rPr>
              <a:t>raises barriers for new entrants.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Supply Side Trends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recent developments, investments and R&amp;D activity shaping the supply side of the market</a:t>
            </a:r>
          </a:p>
        </p:txBody>
      </p:sp>
      <p:sp>
        <p:nvSpPr>
          <p:cNvPr id="10" name="Rounded Rectangle 9"/>
          <p:cNvSpPr/>
          <p:nvPr/>
        </p:nvSpPr>
        <p:spPr>
          <a:xfrm>
            <a:off x="142875" y="981075"/>
            <a:ext cx="58769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Recent Developments &amp; Key Industry Activities</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Capacity and product development are concentrating in 'Silicone Waterproof Coatings' and South Asia &amp; Pacific.</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Portfolio expansion tracks the shift toward higher-growth product type / chemistry categories.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Commercial focus is intensifying across North America and South Asia &amp; Pacific.</a:t>
            </a:r>
          </a:p>
        </p:txBody>
      </p:sp>
      <p:sp>
        <p:nvSpPr>
          <p:cNvPr id="14" name="Rounded Rectangle 13"/>
          <p:cNvSpPr/>
          <p:nvPr/>
        </p:nvSpPr>
        <p:spPr>
          <a:xfrm>
            <a:off x="6172200" y="981075"/>
            <a:ext cx="58769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p:txBody>
      </p:sp>
      <p:sp>
        <p:nvSpPr>
          <p:cNvPr id="18" name="Rounded Rectangle 17"/>
          <p:cNvSpPr/>
          <p:nvPr/>
        </p:nvSpPr>
        <p:spPr>
          <a:xfrm>
            <a:off x="142875" y="2895600"/>
            <a:ext cx="5876925" cy="1285875"/>
          </a:xfrm>
          <a:prstGeom prst="roundRect">
            <a:avLst>
              <a:gd name="adj" fmla="val 59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981325"/>
            <a:ext cx="5610225" cy="209550"/>
          </a:xfrm>
          <a:prstGeom prst="rect">
            <a:avLst/>
          </a:prstGeom>
          <a:noFill/>
        </p:spPr>
        <p:txBody>
          <a:bodyPr wrap="square" lIns="0" rIns="19050" tIns="9525" bIns="9525">
            <a:spAutoFit/>
          </a:bodyPr>
          <a:lstStyle/>
          <a:p>
            <a:pPr algn="l"/>
            <a:r>
              <a:rPr sz="1300" b="1">
                <a:solidFill>
                  <a:srgbClr val="0B2E4A"/>
                </a:solidFill>
                <a:latin typeface="Calibri"/>
              </a:rPr>
              <a:t>Strategic Acquisitions &amp; New Investments</a:t>
            </a:r>
          </a:p>
        </p:txBody>
      </p:sp>
      <p:sp>
        <p:nvSpPr>
          <p:cNvPr id="20" name="Rectangle 19"/>
          <p:cNvSpPr/>
          <p:nvPr/>
        </p:nvSpPr>
        <p:spPr>
          <a:xfrm>
            <a:off x="276225" y="32194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305175"/>
            <a:ext cx="5610225" cy="800100"/>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22" name="Rounded Rectangle 21"/>
          <p:cNvSpPr/>
          <p:nvPr/>
        </p:nvSpPr>
        <p:spPr>
          <a:xfrm>
            <a:off x="6172200" y="2895600"/>
            <a:ext cx="5876925" cy="1285875"/>
          </a:xfrm>
          <a:prstGeom prst="roundRect">
            <a:avLst>
              <a:gd name="adj" fmla="val 59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981325"/>
            <a:ext cx="5610225" cy="209550"/>
          </a:xfrm>
          <a:prstGeom prst="rect">
            <a:avLst/>
          </a:prstGeom>
          <a:noFill/>
        </p:spPr>
        <p:txBody>
          <a:bodyPr wrap="square" lIns="0" rIns="19050" tIns="9525" bIns="9525">
            <a:spAutoFit/>
          </a:bodyPr>
          <a:lstStyle/>
          <a:p>
            <a:pPr algn="l"/>
            <a:r>
              <a:rPr sz="1300" b="1">
                <a:solidFill>
                  <a:srgbClr val="0B2E4A"/>
                </a:solidFill>
                <a:latin typeface="Calibri"/>
              </a:rPr>
              <a:t>Substantial Investment in R&amp;D</a:t>
            </a:r>
          </a:p>
        </p:txBody>
      </p:sp>
      <p:sp>
        <p:nvSpPr>
          <p:cNvPr id="24" name="Rectangle 23"/>
          <p:cNvSpPr/>
          <p:nvPr/>
        </p:nvSpPr>
        <p:spPr>
          <a:xfrm>
            <a:off x="6305550" y="32194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305175"/>
            <a:ext cx="5610225" cy="800100"/>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26" name="Rounded Rectangle 25"/>
          <p:cNvSpPr/>
          <p:nvPr/>
        </p:nvSpPr>
        <p:spPr>
          <a:xfrm>
            <a:off x="142875" y="4314825"/>
            <a:ext cx="11906250" cy="2295525"/>
          </a:xfrm>
          <a:prstGeom prst="roundRect">
            <a:avLst>
              <a:gd name="adj" fmla="val 33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8125" y="43719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structure product type / chemistry share (2036)</a:t>
            </a:r>
          </a:p>
        </p:txBody>
      </p:sp>
      <p:graphicFrame>
        <p:nvGraphicFramePr>
          <p:cNvPr id="28" name="Chart 27"/>
          <p:cNvGraphicFramePr>
            <a:graphicFrameLocks noGrp="1"/>
          </p:cNvGraphicFramePr>
          <p:nvPr/>
        </p:nvGraphicFramePr>
        <p:xfrm>
          <a:off x="238125" y="4600575"/>
          <a:ext cx="11715750" cy="1952625"/>
        </p:xfrm>
        <a:graphic>
          <a:graphicData uri="http://schemas.openxmlformats.org/drawingml/2006/chart">
            <c:chart xmlns:c="http://schemas.openxmlformats.org/drawingml/2006/chart" r:id="rId3"/>
          </a:graphicData>
        </a:graphic>
      </p:graphicFrame>
      <p:sp>
        <p:nvSpPr>
          <p:cNvPr id="29" name="TextBox 28"/>
          <p:cNvSpPr txBox="1"/>
          <p:nvPr/>
        </p:nvSpPr>
        <p:spPr>
          <a:xfrm>
            <a:off x="3871570" y="5462588"/>
            <a:ext cx="934136" cy="228600"/>
          </a:xfrm>
          <a:prstGeom prst="rect">
            <a:avLst/>
          </a:prstGeom>
          <a:noFill/>
        </p:spPr>
        <p:txBody>
          <a:bodyPr wrap="square" lIns="28575" rIns="28575" tIns="9525" bIns="9525" anchor="ctr">
            <a:spAutoFit/>
          </a:bodyPr>
          <a:lstStyle/>
          <a:p>
            <a:pPr algn="ctr"/>
            <a:r>
              <a:rPr sz="1300" b="1">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5"/>
          <a:stretch>
            <a:fillRect/>
          </a:stretch>
        </p:blipFill>
        <p:spPr>
          <a:xfrm>
            <a:off x="4135025" y="5284520"/>
            <a:ext cx="382860" cy="556888"/>
          </a:xfrm>
          <a:prstGeom prst="rect">
            <a:avLst/>
          </a:prstGeom>
        </p:spPr>
      </p:pic>
      <p:sp>
        <p:nvSpPr>
          <p:cNvPr id="32" name="TextBox 31"/>
          <p:cNvSpPr txBox="1"/>
          <p:nvPr/>
        </p:nvSpPr>
        <p:spPr>
          <a:xfrm>
            <a:off x="6305550" y="1400175"/>
            <a:ext cx="684113" cy="186689"/>
          </a:xfrm>
          <a:prstGeom prst="rect">
            <a:avLst/>
          </a:prstGeom>
          <a:noFill/>
        </p:spPr>
        <p:txBody>
          <a:bodyPr wrap="none" lIns="0" rIns="0" tIns="0" bIns="0">
            <a:spAutoFit/>
          </a:bodyPr>
          <a:lstStyle/>
          <a:p>
            <a:r>
              <a:rPr sz="1100" b="0">
                <a:solidFill>
                  <a:srgbClr val="2E2E2E"/>
                </a:solidFill>
                <a:latin typeface="Calibri"/>
              </a:rPr>
              <a:t>▪ 2026 size</a:t>
            </a:r>
          </a:p>
        </p:txBody>
      </p:sp>
      <p:pic>
        <p:nvPicPr>
          <p:cNvPr id="33" name="Picture 32" descr="lock.png"/>
          <p:cNvPicPr>
            <a:picLocks noChangeAspect="1"/>
          </p:cNvPicPr>
          <p:nvPr/>
        </p:nvPicPr>
        <p:blipFill>
          <a:blip r:embed="rId5"/>
          <a:stretch>
            <a:fillRect/>
          </a:stretch>
        </p:blipFill>
        <p:spPr>
          <a:xfrm>
            <a:off x="6937714" y="1390396"/>
            <a:ext cx="128699" cy="187198"/>
          </a:xfrm>
          <a:prstGeom prst="rect">
            <a:avLst/>
          </a:prstGeom>
        </p:spPr>
      </p:pic>
      <p:sp>
        <p:nvSpPr>
          <p:cNvPr id="34" name="TextBox 33"/>
          <p:cNvSpPr txBox="1"/>
          <p:nvPr/>
        </p:nvSpPr>
        <p:spPr>
          <a:xfrm>
            <a:off x="7105210" y="1400175"/>
            <a:ext cx="878383" cy="186689"/>
          </a:xfrm>
          <a:prstGeom prst="rect">
            <a:avLst/>
          </a:prstGeom>
          <a:noFill/>
        </p:spPr>
        <p:txBody>
          <a:bodyPr wrap="none" lIns="0" rIns="0" tIns="0" bIns="0">
            <a:spAutoFit/>
          </a:bodyPr>
          <a:lstStyle/>
          <a:p>
            <a:r>
              <a:rPr sz="1100" b="0">
                <a:solidFill>
                  <a:srgbClr val="2E2E2E"/>
                </a:solidFill>
                <a:latin typeface="Calibri"/>
              </a:rPr>
              <a:t>US$ Mn; 2036</a:t>
            </a:r>
          </a:p>
        </p:txBody>
      </p:sp>
      <p:pic>
        <p:nvPicPr>
          <p:cNvPr id="35" name="Picture 34" descr="lock.png"/>
          <p:cNvPicPr>
            <a:picLocks noChangeAspect="1"/>
          </p:cNvPicPr>
          <p:nvPr/>
        </p:nvPicPr>
        <p:blipFill>
          <a:blip r:embed="rId5"/>
          <a:stretch>
            <a:fillRect/>
          </a:stretch>
        </p:blipFill>
        <p:spPr>
          <a:xfrm>
            <a:off x="7931645" y="1390396"/>
            <a:ext cx="128699" cy="187198"/>
          </a:xfrm>
          <a:prstGeom prst="rect">
            <a:avLst/>
          </a:prstGeom>
        </p:spPr>
      </p:pic>
      <p:sp>
        <p:nvSpPr>
          <p:cNvPr id="36" name="TextBox 35"/>
          <p:cNvSpPr txBox="1"/>
          <p:nvPr/>
        </p:nvSpPr>
        <p:spPr>
          <a:xfrm>
            <a:off x="8099141" y="1400175"/>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37" name="TextBox 36"/>
          <p:cNvSpPr txBox="1"/>
          <p:nvPr/>
        </p:nvSpPr>
        <p:spPr>
          <a:xfrm>
            <a:off x="6305550" y="1618107"/>
            <a:ext cx="991842" cy="186689"/>
          </a:xfrm>
          <a:prstGeom prst="rect">
            <a:avLst/>
          </a:prstGeom>
          <a:noFill/>
        </p:spPr>
        <p:txBody>
          <a:bodyPr wrap="none" lIns="0" rIns="0" tIns="0" bIns="0">
            <a:spAutoFit/>
          </a:bodyPr>
          <a:lstStyle/>
          <a:p>
            <a:r>
              <a:rPr sz="1100" b="0">
                <a:solidFill>
                  <a:srgbClr val="2E2E2E"/>
                </a:solidFill>
                <a:latin typeface="Calibri"/>
              </a:rPr>
              <a:t>▪ Forecast CAGR</a:t>
            </a:r>
          </a:p>
        </p:txBody>
      </p:sp>
      <p:pic>
        <p:nvPicPr>
          <p:cNvPr id="38" name="Picture 37" descr="lock.png"/>
          <p:cNvPicPr>
            <a:picLocks noChangeAspect="1"/>
          </p:cNvPicPr>
          <p:nvPr/>
        </p:nvPicPr>
        <p:blipFill>
          <a:blip r:embed="rId5"/>
          <a:stretch>
            <a:fillRect/>
          </a:stretch>
        </p:blipFill>
        <p:spPr>
          <a:xfrm>
            <a:off x="7245444" y="1608328"/>
            <a:ext cx="128699" cy="187198"/>
          </a:xfrm>
          <a:prstGeom prst="rect">
            <a:avLst/>
          </a:prstGeom>
        </p:spPr>
      </p:pic>
      <p:sp>
        <p:nvSpPr>
          <p:cNvPr id="39" name="TextBox 38"/>
          <p:cNvSpPr txBox="1"/>
          <p:nvPr/>
        </p:nvSpPr>
        <p:spPr>
          <a:xfrm>
            <a:off x="7412940" y="1618107"/>
            <a:ext cx="833090" cy="186689"/>
          </a:xfrm>
          <a:prstGeom prst="rect">
            <a:avLst/>
          </a:prstGeom>
          <a:noFill/>
        </p:spPr>
        <p:txBody>
          <a:bodyPr wrap="none" lIns="0" rIns="0" tIns="0" bIns="0">
            <a:spAutoFit/>
          </a:bodyPr>
          <a:lstStyle/>
          <a:p>
            <a:r>
              <a:rPr sz="1100" b="0">
                <a:solidFill>
                  <a:srgbClr val="2E2E2E"/>
                </a:solidFill>
                <a:latin typeface="Calibri"/>
              </a:rPr>
              <a:t>(2026–2036).</a:t>
            </a:r>
          </a:p>
        </p:txBody>
      </p:sp>
      <p:sp>
        <p:nvSpPr>
          <p:cNvPr id="40" name="TextBox 39"/>
          <p:cNvSpPr txBox="1"/>
          <p:nvPr/>
        </p:nvSpPr>
        <p:spPr>
          <a:xfrm>
            <a:off x="6305550" y="1836039"/>
            <a:ext cx="2782068" cy="186689"/>
          </a:xfrm>
          <a:prstGeom prst="rect">
            <a:avLst/>
          </a:prstGeom>
          <a:noFill/>
        </p:spPr>
        <p:txBody>
          <a:bodyPr wrap="none" lIns="0" rIns="0" tIns="0" bIns="0">
            <a:spAutoFit/>
          </a:bodyPr>
          <a:lstStyle/>
          <a:p>
            <a:r>
              <a:rPr sz="1100" b="0">
                <a:solidFill>
                  <a:srgbClr val="2E2E2E"/>
                </a:solidFill>
                <a:latin typeface="Calibri"/>
              </a:rPr>
              <a:t>▪ Lead category 'Other Polymer-Based Coatings'</a:t>
            </a:r>
          </a:p>
        </p:txBody>
      </p:sp>
      <p:pic>
        <p:nvPicPr>
          <p:cNvPr id="41" name="Picture 40" descr="lock.png"/>
          <p:cNvPicPr>
            <a:picLocks noChangeAspect="1"/>
          </p:cNvPicPr>
          <p:nvPr/>
        </p:nvPicPr>
        <p:blipFill>
          <a:blip r:embed="rId5"/>
          <a:stretch>
            <a:fillRect/>
          </a:stretch>
        </p:blipFill>
        <p:spPr>
          <a:xfrm>
            <a:off x="9035670" y="1826260"/>
            <a:ext cx="128699" cy="187198"/>
          </a:xfrm>
          <a:prstGeom prst="rect">
            <a:avLst/>
          </a:prstGeom>
        </p:spPr>
      </p:pic>
      <p:sp>
        <p:nvSpPr>
          <p:cNvPr id="42" name="TextBox 41"/>
          <p:cNvSpPr txBox="1"/>
          <p:nvPr/>
        </p:nvSpPr>
        <p:spPr>
          <a:xfrm>
            <a:off x="9203166" y="1836039"/>
            <a:ext cx="543049" cy="186689"/>
          </a:xfrm>
          <a:prstGeom prst="rect">
            <a:avLst/>
          </a:prstGeom>
          <a:noFill/>
        </p:spPr>
        <p:txBody>
          <a:bodyPr wrap="none" lIns="0" rIns="0" tIns="0" bIns="0">
            <a:spAutoFit/>
          </a:bodyPr>
          <a:lstStyle/>
          <a:p>
            <a:r>
              <a:rPr sz="1100" b="0">
                <a:solidFill>
                  <a:srgbClr val="2E2E2E"/>
                </a:solidFill>
                <a:latin typeface="Calibri"/>
              </a:rPr>
              <a:t>of 2036.</a:t>
            </a:r>
          </a:p>
        </p:txBody>
      </p:sp>
      <p:sp>
        <p:nvSpPr>
          <p:cNvPr id="43" name="TextBox 42"/>
          <p:cNvSpPr txBox="1"/>
          <p:nvPr/>
        </p:nvSpPr>
        <p:spPr>
          <a:xfrm>
            <a:off x="6305550" y="2053970"/>
            <a:ext cx="1686297" cy="186689"/>
          </a:xfrm>
          <a:prstGeom prst="rect">
            <a:avLst/>
          </a:prstGeom>
          <a:noFill/>
        </p:spPr>
        <p:txBody>
          <a:bodyPr wrap="none" lIns="0" rIns="0" tIns="0" bIns="0">
            <a:spAutoFit/>
          </a:bodyPr>
          <a:lstStyle/>
          <a:p>
            <a:r>
              <a:rPr sz="1100" b="0">
                <a:solidFill>
                  <a:srgbClr val="2E2E2E"/>
                </a:solidFill>
                <a:latin typeface="Calibri"/>
              </a:rPr>
              <a:t>▪ Lead region North America</a:t>
            </a:r>
          </a:p>
        </p:txBody>
      </p:sp>
      <p:pic>
        <p:nvPicPr>
          <p:cNvPr id="44" name="Picture 43" descr="lock.png"/>
          <p:cNvPicPr>
            <a:picLocks noChangeAspect="1"/>
          </p:cNvPicPr>
          <p:nvPr/>
        </p:nvPicPr>
        <p:blipFill>
          <a:blip r:embed="rId5"/>
          <a:stretch>
            <a:fillRect/>
          </a:stretch>
        </p:blipFill>
        <p:spPr>
          <a:xfrm>
            <a:off x="7939898" y="2044192"/>
            <a:ext cx="128699" cy="187198"/>
          </a:xfrm>
          <a:prstGeom prst="rect">
            <a:avLst/>
          </a:prstGeom>
        </p:spPr>
      </p:pic>
      <p:sp>
        <p:nvSpPr>
          <p:cNvPr id="45" name="TextBox 44"/>
          <p:cNvSpPr txBox="1"/>
          <p:nvPr/>
        </p:nvSpPr>
        <p:spPr>
          <a:xfrm>
            <a:off x="8107394" y="205397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6" name="TextBox 45"/>
          <p:cNvSpPr txBox="1"/>
          <p:nvPr/>
        </p:nvSpPr>
        <p:spPr>
          <a:xfrm>
            <a:off x="6305550" y="2271903"/>
            <a:ext cx="1554782" cy="186689"/>
          </a:xfrm>
          <a:prstGeom prst="rect">
            <a:avLst/>
          </a:prstGeom>
          <a:noFill/>
        </p:spPr>
        <p:txBody>
          <a:bodyPr wrap="none" lIns="0" rIns="0" tIns="0" bIns="0">
            <a:spAutoFit/>
          </a:bodyPr>
          <a:lstStyle/>
          <a:p>
            <a:r>
              <a:rPr sz="1100" b="0">
                <a:solidFill>
                  <a:srgbClr val="2E2E2E"/>
                </a:solidFill>
                <a:latin typeface="Calibri"/>
              </a:rPr>
              <a:t>▪ Incremental opportunity</a:t>
            </a:r>
          </a:p>
        </p:txBody>
      </p:sp>
      <p:pic>
        <p:nvPicPr>
          <p:cNvPr id="47" name="Picture 46" descr="lock.png"/>
          <p:cNvPicPr>
            <a:picLocks noChangeAspect="1"/>
          </p:cNvPicPr>
          <p:nvPr/>
        </p:nvPicPr>
        <p:blipFill>
          <a:blip r:embed="rId5"/>
          <a:stretch>
            <a:fillRect/>
          </a:stretch>
        </p:blipFill>
        <p:spPr>
          <a:xfrm>
            <a:off x="7808384" y="2262124"/>
            <a:ext cx="128699" cy="187198"/>
          </a:xfrm>
          <a:prstGeom prst="rect">
            <a:avLst/>
          </a:prstGeom>
        </p:spPr>
      </p:pic>
      <p:sp>
        <p:nvSpPr>
          <p:cNvPr id="48" name="TextBox 47"/>
          <p:cNvSpPr txBox="1"/>
          <p:nvPr/>
        </p:nvSpPr>
        <p:spPr>
          <a:xfrm>
            <a:off x="7975880" y="2271903"/>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9" name="TextBox 48"/>
          <p:cNvSpPr txBox="1"/>
          <p:nvPr/>
        </p:nvSpPr>
        <p:spPr>
          <a:xfrm>
            <a:off x="276225" y="3314700"/>
            <a:ext cx="5002807" cy="186689"/>
          </a:xfrm>
          <a:prstGeom prst="rect">
            <a:avLst/>
          </a:prstGeom>
          <a:noFill/>
        </p:spPr>
        <p:txBody>
          <a:bodyPr wrap="none" lIns="0" rIns="0" tIns="0" bIns="0">
            <a:spAutoFit/>
          </a:bodyPr>
          <a:lstStyle/>
          <a:p>
            <a:r>
              <a:rPr sz="1100" b="0">
                <a:solidFill>
                  <a:srgbClr val="2E2E2E"/>
                </a:solidFill>
                <a:latin typeface="Calibri"/>
              </a:rPr>
              <a:t>▪ Investment is flowing toward the fastest-growing tier 'Silicone Waterproof Coatings' (</a:t>
            </a:r>
          </a:p>
        </p:txBody>
      </p:sp>
      <p:pic>
        <p:nvPicPr>
          <p:cNvPr id="50" name="Picture 49" descr="lock.png"/>
          <p:cNvPicPr>
            <a:picLocks noChangeAspect="1"/>
          </p:cNvPicPr>
          <p:nvPr/>
        </p:nvPicPr>
        <p:blipFill>
          <a:blip r:embed="rId5"/>
          <a:stretch>
            <a:fillRect/>
          </a:stretch>
        </p:blipFill>
        <p:spPr>
          <a:xfrm>
            <a:off x="5227084" y="3304921"/>
            <a:ext cx="128699" cy="187198"/>
          </a:xfrm>
          <a:prstGeom prst="rect">
            <a:avLst/>
          </a:prstGeom>
        </p:spPr>
      </p:pic>
      <p:sp>
        <p:nvSpPr>
          <p:cNvPr id="51" name="TextBox 50"/>
          <p:cNvSpPr txBox="1"/>
          <p:nvPr/>
        </p:nvSpPr>
        <p:spPr>
          <a:xfrm>
            <a:off x="5394580" y="3314700"/>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52" name="TextBox 51"/>
          <p:cNvSpPr txBox="1"/>
          <p:nvPr/>
        </p:nvSpPr>
        <p:spPr>
          <a:xfrm>
            <a:off x="276225" y="3532632"/>
            <a:ext cx="1351781" cy="186689"/>
          </a:xfrm>
          <a:prstGeom prst="rect">
            <a:avLst/>
          </a:prstGeom>
          <a:noFill/>
        </p:spPr>
        <p:txBody>
          <a:bodyPr wrap="none" lIns="0" rIns="0" tIns="0" bIns="0">
            <a:spAutoFit/>
          </a:bodyPr>
          <a:lstStyle/>
          <a:p>
            <a:r>
              <a:rPr sz="1100" b="0">
                <a:solidFill>
                  <a:srgbClr val="2E2E2E"/>
                </a:solidFill>
                <a:latin typeface="Calibri"/>
              </a:rPr>
              <a:t>▪ South Asia &amp; Pacific (</a:t>
            </a:r>
          </a:p>
        </p:txBody>
      </p:sp>
      <p:pic>
        <p:nvPicPr>
          <p:cNvPr id="53" name="Picture 52" descr="lock.png"/>
          <p:cNvPicPr>
            <a:picLocks noChangeAspect="1"/>
          </p:cNvPicPr>
          <p:nvPr/>
        </p:nvPicPr>
        <p:blipFill>
          <a:blip r:embed="rId5"/>
          <a:stretch>
            <a:fillRect/>
          </a:stretch>
        </p:blipFill>
        <p:spPr>
          <a:xfrm>
            <a:off x="1576057" y="3522853"/>
            <a:ext cx="128699" cy="187198"/>
          </a:xfrm>
          <a:prstGeom prst="rect">
            <a:avLst/>
          </a:prstGeom>
        </p:spPr>
      </p:pic>
      <p:sp>
        <p:nvSpPr>
          <p:cNvPr id="54" name="TextBox 53"/>
          <p:cNvSpPr txBox="1"/>
          <p:nvPr/>
        </p:nvSpPr>
        <p:spPr>
          <a:xfrm>
            <a:off x="1743553" y="3532632"/>
            <a:ext cx="2187525" cy="186689"/>
          </a:xfrm>
          <a:prstGeom prst="rect">
            <a:avLst/>
          </a:prstGeom>
          <a:noFill/>
        </p:spPr>
        <p:txBody>
          <a:bodyPr wrap="none" lIns="0" rIns="0" tIns="0" bIns="0">
            <a:spAutoFit/>
          </a:bodyPr>
          <a:lstStyle/>
          <a:p>
            <a:r>
              <a:rPr sz="1100" b="0">
                <a:solidFill>
                  <a:srgbClr val="2E2E2E"/>
                </a:solidFill>
                <a:latin typeface="Calibri"/>
              </a:rPr>
              <a:t>) is a priority region for new capacity.</a:t>
            </a:r>
          </a:p>
        </p:txBody>
      </p:sp>
      <p:sp>
        <p:nvSpPr>
          <p:cNvPr id="55" name="TextBox 54"/>
          <p:cNvSpPr txBox="1"/>
          <p:nvPr/>
        </p:nvSpPr>
        <p:spPr>
          <a:xfrm>
            <a:off x="276225" y="3750564"/>
            <a:ext cx="3662288" cy="186689"/>
          </a:xfrm>
          <a:prstGeom prst="rect">
            <a:avLst/>
          </a:prstGeom>
          <a:noFill/>
        </p:spPr>
        <p:txBody>
          <a:bodyPr wrap="none" lIns="0" rIns="0" tIns="0" bIns="0">
            <a:spAutoFit/>
          </a:bodyPr>
          <a:lstStyle/>
          <a:p>
            <a:r>
              <a:rPr sz="1100" b="0">
                <a:solidFill>
                  <a:srgbClr val="2E2E2E"/>
                </a:solidFill>
                <a:latin typeface="Calibri"/>
              </a:rPr>
              <a:t>▪ Scale players anchor around 'Other Polymer-Based Coatings' (</a:t>
            </a:r>
          </a:p>
        </p:txBody>
      </p:sp>
      <p:pic>
        <p:nvPicPr>
          <p:cNvPr id="56" name="Picture 55" descr="lock.png"/>
          <p:cNvPicPr>
            <a:picLocks noChangeAspect="1"/>
          </p:cNvPicPr>
          <p:nvPr/>
        </p:nvPicPr>
        <p:blipFill>
          <a:blip r:embed="rId5"/>
          <a:stretch>
            <a:fillRect/>
          </a:stretch>
        </p:blipFill>
        <p:spPr>
          <a:xfrm>
            <a:off x="3886564" y="3740785"/>
            <a:ext cx="128699" cy="187198"/>
          </a:xfrm>
          <a:prstGeom prst="rect">
            <a:avLst/>
          </a:prstGeom>
        </p:spPr>
      </p:pic>
      <p:sp>
        <p:nvSpPr>
          <p:cNvPr id="57" name="TextBox 56"/>
          <p:cNvSpPr txBox="1"/>
          <p:nvPr/>
        </p:nvSpPr>
        <p:spPr>
          <a:xfrm>
            <a:off x="4054060" y="3750564"/>
            <a:ext cx="466923" cy="186689"/>
          </a:xfrm>
          <a:prstGeom prst="rect">
            <a:avLst/>
          </a:prstGeom>
          <a:noFill/>
        </p:spPr>
        <p:txBody>
          <a:bodyPr wrap="none" lIns="0" rIns="0" tIns="0" bIns="0">
            <a:spAutoFit/>
          </a:bodyPr>
          <a:lstStyle/>
          <a:p>
            <a:r>
              <a:rPr sz="1100" b="0">
                <a:solidFill>
                  <a:srgbClr val="2E2E2E"/>
                </a:solidFill>
                <a:latin typeface="Calibri"/>
              </a:rPr>
              <a:t>share).</a:t>
            </a:r>
          </a:p>
        </p:txBody>
      </p:sp>
      <p:sp>
        <p:nvSpPr>
          <p:cNvPr id="58" name="TextBox 57"/>
          <p:cNvSpPr txBox="1"/>
          <p:nvPr/>
        </p:nvSpPr>
        <p:spPr>
          <a:xfrm>
            <a:off x="6305550" y="3314700"/>
            <a:ext cx="5399533" cy="186689"/>
          </a:xfrm>
          <a:prstGeom prst="rect">
            <a:avLst/>
          </a:prstGeom>
          <a:noFill/>
        </p:spPr>
        <p:txBody>
          <a:bodyPr wrap="none" lIns="0" rIns="0" tIns="0" bIns="0">
            <a:spAutoFit/>
          </a:bodyPr>
          <a:lstStyle/>
          <a:p>
            <a:r>
              <a:rPr sz="1100" b="0">
                <a:solidFill>
                  <a:srgbClr val="2E2E2E"/>
                </a:solidFill>
                <a:latin typeface="Calibri"/>
              </a:rPr>
              <a:t>▪ R&amp;D aligns with the migration to 'Silicone Waterproof Coatings' and adjacent premium tiers.</a:t>
            </a:r>
          </a:p>
        </p:txBody>
      </p:sp>
      <p:sp>
        <p:nvSpPr>
          <p:cNvPr id="59" name="TextBox 58"/>
          <p:cNvSpPr txBox="1"/>
          <p:nvPr/>
        </p:nvSpPr>
        <p:spPr>
          <a:xfrm>
            <a:off x="6305550" y="3532632"/>
            <a:ext cx="5083299" cy="186689"/>
          </a:xfrm>
          <a:prstGeom prst="rect">
            <a:avLst/>
          </a:prstGeom>
          <a:noFill/>
        </p:spPr>
        <p:txBody>
          <a:bodyPr wrap="none" lIns="0" rIns="0" tIns="0" bIns="0">
            <a:spAutoFit/>
          </a:bodyPr>
          <a:lstStyle/>
          <a:p>
            <a:r>
              <a:rPr sz="1100" b="0">
                <a:solidFill>
                  <a:srgbClr val="2E2E2E"/>
                </a:solidFill>
                <a:latin typeface="Calibri"/>
              </a:rPr>
              <a:t>▪ Development spend targets product type / chemistry categories gaining share to 2036.</a:t>
            </a:r>
          </a:p>
        </p:txBody>
      </p:sp>
      <p:sp>
        <p:nvSpPr>
          <p:cNvPr id="60" name="TextBox 59"/>
          <p:cNvSpPr txBox="1"/>
          <p:nvPr/>
        </p:nvSpPr>
        <p:spPr>
          <a:xfrm>
            <a:off x="6305550" y="3750564"/>
            <a:ext cx="1594346" cy="186689"/>
          </a:xfrm>
          <a:prstGeom prst="rect">
            <a:avLst/>
          </a:prstGeom>
          <a:noFill/>
        </p:spPr>
        <p:txBody>
          <a:bodyPr wrap="none" lIns="0" rIns="0" tIns="0" bIns="0">
            <a:spAutoFit/>
          </a:bodyPr>
          <a:lstStyle/>
          <a:p>
            <a:r>
              <a:rPr sz="1100" b="0">
                <a:solidFill>
                  <a:srgbClr val="2E2E2E"/>
                </a:solidFill>
                <a:latin typeface="Calibri"/>
              </a:rPr>
              <a:t>▪ Innovation underpins the</a:t>
            </a:r>
          </a:p>
        </p:txBody>
      </p:sp>
      <p:pic>
        <p:nvPicPr>
          <p:cNvPr id="61" name="Picture 60" descr="lock.png"/>
          <p:cNvPicPr>
            <a:picLocks noChangeAspect="1"/>
          </p:cNvPicPr>
          <p:nvPr/>
        </p:nvPicPr>
        <p:blipFill>
          <a:blip r:embed="rId5"/>
          <a:stretch>
            <a:fillRect/>
          </a:stretch>
        </p:blipFill>
        <p:spPr>
          <a:xfrm>
            <a:off x="7847947" y="3740785"/>
            <a:ext cx="128699" cy="187198"/>
          </a:xfrm>
          <a:prstGeom prst="rect">
            <a:avLst/>
          </a:prstGeom>
        </p:spPr>
      </p:pic>
      <p:sp>
        <p:nvSpPr>
          <p:cNvPr id="62" name="TextBox 61"/>
          <p:cNvSpPr txBox="1"/>
          <p:nvPr/>
        </p:nvSpPr>
        <p:spPr>
          <a:xfrm>
            <a:off x="8015443" y="3750564"/>
            <a:ext cx="924478" cy="186689"/>
          </a:xfrm>
          <a:prstGeom prst="rect">
            <a:avLst/>
          </a:prstGeom>
          <a:noFill/>
        </p:spPr>
        <p:txBody>
          <a:bodyPr wrap="none" lIns="0" rIns="0" tIns="0" bIns="0">
            <a:spAutoFit/>
          </a:bodyPr>
          <a:lstStyle/>
          <a:p>
            <a:r>
              <a:rPr sz="1100" b="0">
                <a:solidFill>
                  <a:srgbClr val="2E2E2E"/>
                </a:solidFill>
                <a:latin typeface="Calibri"/>
              </a:rPr>
              <a:t>forecast CAGR.</a:t>
            </a:r>
          </a:p>
        </p:txBody>
      </p:sp>
      <p:sp>
        <p:nvSpPr>
          <p:cNvPr id="63" name="lockshield_28"/>
          <p:cNvSpPr/>
          <p:nvPr/>
        </p:nvSpPr>
        <p:spPr>
          <a:xfrm>
            <a:off x="238125" y="4600575"/>
            <a:ext cx="11715750" cy="19526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Analysis and Recommendation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the market approach, differentiating strategy and FMI's analysis and recommendation</a:t>
            </a:r>
          </a:p>
        </p:txBody>
      </p:sp>
      <p:sp>
        <p:nvSpPr>
          <p:cNvPr id="10" name="Rounded Rectangle 9"/>
          <p:cNvSpPr/>
          <p:nvPr/>
        </p:nvSpPr>
        <p:spPr>
          <a:xfrm>
            <a:off x="142875" y="981075"/>
            <a:ext cx="5876925"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Overall Market Approach</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4" name="Rounded Rectangle 13"/>
          <p:cNvSpPr/>
          <p:nvPr/>
        </p:nvSpPr>
        <p:spPr>
          <a:xfrm>
            <a:off x="6172200" y="981075"/>
            <a:ext cx="5876925"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Differentiating Strategy</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Differentiate through the high-growth 'Silicone Waterproof Coatings' tier and Bathrooms and Wet Areas within application.</a:t>
            </a:r>
          </a:p>
        </p:txBody>
      </p:sp>
      <p:sp>
        <p:nvSpPr>
          <p:cNvPr id="18" name="Rounded Rectangle 17"/>
          <p:cNvSpPr/>
          <p:nvPr/>
        </p:nvSpPr>
        <p:spPr>
          <a:xfrm>
            <a:off x="142875" y="2800350"/>
            <a:ext cx="5876925"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88607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Segment</a:t>
            </a:r>
          </a:p>
        </p:txBody>
      </p:sp>
      <p:sp>
        <p:nvSpPr>
          <p:cNvPr id="20" name="Rectangle 19"/>
          <p:cNvSpPr/>
          <p:nvPr/>
        </p:nvSpPr>
        <p:spPr>
          <a:xfrm>
            <a:off x="276225" y="31242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209925"/>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6172200" y="2800350"/>
            <a:ext cx="5876925"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88607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Region</a:t>
            </a:r>
          </a:p>
        </p:txBody>
      </p:sp>
      <p:sp>
        <p:nvSpPr>
          <p:cNvPr id="24" name="Rectangle 23"/>
          <p:cNvSpPr/>
          <p:nvPr/>
        </p:nvSpPr>
        <p:spPr>
          <a:xfrm>
            <a:off x="6305550" y="31242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209925"/>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42875" y="4619625"/>
            <a:ext cx="11906250" cy="2000250"/>
          </a:xfrm>
          <a:prstGeom prst="roundRect">
            <a:avLst>
              <a:gd name="adj" fmla="val 38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705350"/>
            <a:ext cx="11639550" cy="209550"/>
          </a:xfrm>
          <a:prstGeom prst="rect">
            <a:avLst/>
          </a:prstGeom>
          <a:noFill/>
        </p:spPr>
        <p:txBody>
          <a:bodyPr wrap="square" lIns="0" rIns="19050" tIns="9525" bIns="9525">
            <a:spAutoFit/>
          </a:bodyPr>
          <a:lstStyle/>
          <a:p>
            <a:pPr algn="l"/>
            <a:r>
              <a:rPr sz="1300" b="1">
                <a:solidFill>
                  <a:srgbClr val="0B2E4A"/>
                </a:solidFill>
                <a:latin typeface="Calibri"/>
              </a:rPr>
              <a:t>Fact.MR Analysis &amp; Recommendation</a:t>
            </a:r>
          </a:p>
        </p:txBody>
      </p:sp>
      <p:sp>
        <p:nvSpPr>
          <p:cNvPr id="28" name="Rectangle 27"/>
          <p:cNvSpPr/>
          <p:nvPr/>
        </p:nvSpPr>
        <p:spPr>
          <a:xfrm>
            <a:off x="276225" y="49434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6225" y="5029200"/>
            <a:ext cx="11639550" cy="15144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4976291" cy="194310"/>
          </a:xfrm>
          <a:prstGeom prst="rect">
            <a:avLst/>
          </a:prstGeom>
          <a:noFill/>
        </p:spPr>
        <p:txBody>
          <a:bodyPr wrap="none" lIns="0" rIns="0" tIns="0" bIns="0">
            <a:spAutoFit/>
          </a:bodyPr>
          <a:lstStyle/>
          <a:p>
            <a:r>
              <a:rPr sz="1150" b="0">
                <a:solidFill>
                  <a:srgbClr val="2E2E2E"/>
                </a:solidFill>
                <a:latin typeface="Calibri"/>
              </a:rPr>
              <a:t>▪ Balance scale in 'Other Polymer-Based Coatings' with targeted growth in 'Silicone</a:t>
            </a:r>
          </a:p>
        </p:txBody>
      </p:sp>
      <p:sp>
        <p:nvSpPr>
          <p:cNvPr id="32" name="TextBox 31"/>
          <p:cNvSpPr txBox="1"/>
          <p:nvPr/>
        </p:nvSpPr>
        <p:spPr>
          <a:xfrm>
            <a:off x="276225" y="1575435"/>
            <a:ext cx="2169393" cy="194310"/>
          </a:xfrm>
          <a:prstGeom prst="rect">
            <a:avLst/>
          </a:prstGeom>
          <a:noFill/>
        </p:spPr>
        <p:txBody>
          <a:bodyPr wrap="none" lIns="0" rIns="0" tIns="0" bIns="0">
            <a:spAutoFit/>
          </a:bodyPr>
          <a:lstStyle/>
          <a:p>
            <a:r>
              <a:rPr sz="1150" b="0">
                <a:solidFill>
                  <a:srgbClr val="2E2E2E"/>
                </a:solidFill>
                <a:latin typeface="Calibri"/>
              </a:rPr>
              <a:t>Waterproof Coatings', pursuing the</a:t>
            </a:r>
          </a:p>
        </p:txBody>
      </p:sp>
      <p:pic>
        <p:nvPicPr>
          <p:cNvPr id="33" name="Picture 32" descr="lock.png"/>
          <p:cNvPicPr>
            <a:picLocks noChangeAspect="1"/>
          </p:cNvPicPr>
          <p:nvPr/>
        </p:nvPicPr>
        <p:blipFill>
          <a:blip r:embed="rId4"/>
          <a:stretch>
            <a:fillRect/>
          </a:stretch>
        </p:blipFill>
        <p:spPr>
          <a:xfrm>
            <a:off x="2394772" y="1565211"/>
            <a:ext cx="134549" cy="195707"/>
          </a:xfrm>
          <a:prstGeom prst="rect">
            <a:avLst/>
          </a:prstGeom>
        </p:spPr>
      </p:pic>
      <p:sp>
        <p:nvSpPr>
          <p:cNvPr id="34" name="TextBox 33"/>
          <p:cNvSpPr txBox="1"/>
          <p:nvPr/>
        </p:nvSpPr>
        <p:spPr>
          <a:xfrm>
            <a:off x="2569881" y="1575435"/>
            <a:ext cx="1551800" cy="194310"/>
          </a:xfrm>
          <a:prstGeom prst="rect">
            <a:avLst/>
          </a:prstGeom>
          <a:noFill/>
        </p:spPr>
        <p:txBody>
          <a:bodyPr wrap="none" lIns="0" rIns="0" tIns="0" bIns="0">
            <a:spAutoFit/>
          </a:bodyPr>
          <a:lstStyle/>
          <a:p>
            <a:r>
              <a:rPr sz="1150" b="0">
                <a:solidFill>
                  <a:srgbClr val="2E2E2E"/>
                </a:solidFill>
                <a:latin typeface="Calibri"/>
              </a:rPr>
              <a:t>CAGR trajectory to 2036.</a:t>
            </a:r>
          </a:p>
        </p:txBody>
      </p:sp>
      <p:sp>
        <p:nvSpPr>
          <p:cNvPr id="35" name="TextBox 34"/>
          <p:cNvSpPr txBox="1"/>
          <p:nvPr/>
        </p:nvSpPr>
        <p:spPr>
          <a:xfrm>
            <a:off x="276225" y="3219450"/>
            <a:ext cx="2602123" cy="194310"/>
          </a:xfrm>
          <a:prstGeom prst="rect">
            <a:avLst/>
          </a:prstGeom>
          <a:noFill/>
        </p:spPr>
        <p:txBody>
          <a:bodyPr wrap="none" lIns="0" rIns="0" tIns="0" bIns="0">
            <a:spAutoFit/>
          </a:bodyPr>
          <a:lstStyle/>
          <a:p>
            <a:r>
              <a:rPr sz="1150" b="0">
                <a:solidFill>
                  <a:srgbClr val="2E2E2E"/>
                </a:solidFill>
                <a:latin typeface="Calibri"/>
              </a:rPr>
              <a:t>▪ Prioritise 'Silicone Waterproof Coatings' (</a:t>
            </a:r>
          </a:p>
        </p:txBody>
      </p:sp>
      <p:pic>
        <p:nvPicPr>
          <p:cNvPr id="36" name="Picture 35" descr="lock.png"/>
          <p:cNvPicPr>
            <a:picLocks noChangeAspect="1"/>
          </p:cNvPicPr>
          <p:nvPr/>
        </p:nvPicPr>
        <p:blipFill>
          <a:blip r:embed="rId4"/>
          <a:stretch>
            <a:fillRect/>
          </a:stretch>
        </p:blipFill>
        <p:spPr>
          <a:xfrm>
            <a:off x="2827502" y="3209226"/>
            <a:ext cx="134549" cy="195707"/>
          </a:xfrm>
          <a:prstGeom prst="rect">
            <a:avLst/>
          </a:prstGeom>
        </p:spPr>
      </p:pic>
      <p:sp>
        <p:nvSpPr>
          <p:cNvPr id="37" name="TextBox 36"/>
          <p:cNvSpPr txBox="1"/>
          <p:nvPr/>
        </p:nvSpPr>
        <p:spPr>
          <a:xfrm>
            <a:off x="3002611" y="3219450"/>
            <a:ext cx="2576735" cy="194310"/>
          </a:xfrm>
          <a:prstGeom prst="rect">
            <a:avLst/>
          </a:prstGeom>
          <a:noFill/>
        </p:spPr>
        <p:txBody>
          <a:bodyPr wrap="none" lIns="0" rIns="0" tIns="0" bIns="0">
            <a:spAutoFit/>
          </a:bodyPr>
          <a:lstStyle/>
          <a:p>
            <a:r>
              <a:rPr sz="1150" b="0">
                <a:solidFill>
                  <a:srgbClr val="2E2E2E"/>
                </a:solidFill>
                <a:latin typeface="Calibri"/>
              </a:rPr>
              <a:t>); 'Other Polymer-Based Coatings' anchors</a:t>
            </a:r>
          </a:p>
        </p:txBody>
      </p:sp>
      <p:pic>
        <p:nvPicPr>
          <p:cNvPr id="38" name="Picture 37" descr="lock.png"/>
          <p:cNvPicPr>
            <a:picLocks noChangeAspect="1"/>
          </p:cNvPicPr>
          <p:nvPr/>
        </p:nvPicPr>
        <p:blipFill>
          <a:blip r:embed="rId4"/>
          <a:stretch>
            <a:fillRect/>
          </a:stretch>
        </p:blipFill>
        <p:spPr>
          <a:xfrm>
            <a:off x="5528501" y="3209226"/>
            <a:ext cx="134549" cy="195707"/>
          </a:xfrm>
          <a:prstGeom prst="rect">
            <a:avLst/>
          </a:prstGeom>
        </p:spPr>
      </p:pic>
      <p:sp>
        <p:nvSpPr>
          <p:cNvPr id="39" name="TextBox 38"/>
          <p:cNvSpPr txBox="1"/>
          <p:nvPr/>
        </p:nvSpPr>
        <p:spPr>
          <a:xfrm>
            <a:off x="276225" y="3394710"/>
            <a:ext cx="586519" cy="194310"/>
          </a:xfrm>
          <a:prstGeom prst="rect">
            <a:avLst/>
          </a:prstGeom>
          <a:noFill/>
        </p:spPr>
        <p:txBody>
          <a:bodyPr wrap="none" lIns="0" rIns="0" tIns="0" bIns="0">
            <a:spAutoFit/>
          </a:bodyPr>
          <a:lstStyle/>
          <a:p>
            <a:r>
              <a:rPr sz="1150" b="0">
                <a:solidFill>
                  <a:srgbClr val="2E2E2E"/>
                </a:solidFill>
                <a:latin typeface="Calibri"/>
              </a:rPr>
              <a:t>of value.</a:t>
            </a:r>
          </a:p>
        </p:txBody>
      </p:sp>
      <p:sp>
        <p:nvSpPr>
          <p:cNvPr id="40" name="TextBox 39"/>
          <p:cNvSpPr txBox="1"/>
          <p:nvPr/>
        </p:nvSpPr>
        <p:spPr>
          <a:xfrm>
            <a:off x="6305550" y="3219450"/>
            <a:ext cx="1720688" cy="194310"/>
          </a:xfrm>
          <a:prstGeom prst="rect">
            <a:avLst/>
          </a:prstGeom>
          <a:noFill/>
        </p:spPr>
        <p:txBody>
          <a:bodyPr wrap="none" lIns="0" rIns="0" tIns="0" bIns="0">
            <a:spAutoFit/>
          </a:bodyPr>
          <a:lstStyle/>
          <a:p>
            <a:r>
              <a:rPr sz="1150" b="0">
                <a:solidFill>
                  <a:srgbClr val="2E2E2E"/>
                </a:solidFill>
                <a:latin typeface="Calibri"/>
              </a:rPr>
              <a:t>▪ Lead with North America (</a:t>
            </a:r>
          </a:p>
        </p:txBody>
      </p:sp>
      <p:pic>
        <p:nvPicPr>
          <p:cNvPr id="41" name="Picture 40" descr="lock.png"/>
          <p:cNvPicPr>
            <a:picLocks noChangeAspect="1"/>
          </p:cNvPicPr>
          <p:nvPr/>
        </p:nvPicPr>
        <p:blipFill>
          <a:blip r:embed="rId4"/>
          <a:stretch>
            <a:fillRect/>
          </a:stretch>
        </p:blipFill>
        <p:spPr>
          <a:xfrm>
            <a:off x="7975392" y="3209226"/>
            <a:ext cx="134549" cy="195707"/>
          </a:xfrm>
          <a:prstGeom prst="rect">
            <a:avLst/>
          </a:prstGeom>
        </p:spPr>
      </p:pic>
      <p:sp>
        <p:nvSpPr>
          <p:cNvPr id="42" name="TextBox 41"/>
          <p:cNvSpPr txBox="1"/>
          <p:nvPr/>
        </p:nvSpPr>
        <p:spPr>
          <a:xfrm>
            <a:off x="8150501" y="3219450"/>
            <a:ext cx="2502854" cy="194310"/>
          </a:xfrm>
          <a:prstGeom prst="rect">
            <a:avLst/>
          </a:prstGeom>
          <a:noFill/>
        </p:spPr>
        <p:txBody>
          <a:bodyPr wrap="none" lIns="0" rIns="0" tIns="0" bIns="0">
            <a:spAutoFit/>
          </a:bodyPr>
          <a:lstStyle/>
          <a:p>
            <a:r>
              <a:rPr sz="1150" b="0">
                <a:solidFill>
                  <a:srgbClr val="2E2E2E"/>
                </a:solidFill>
                <a:latin typeface="Calibri"/>
              </a:rPr>
              <a:t>); capture upside in South Asia &amp; Pacific (</a:t>
            </a:r>
          </a:p>
        </p:txBody>
      </p:sp>
      <p:pic>
        <p:nvPicPr>
          <p:cNvPr id="43" name="Picture 42" descr="lock.png"/>
          <p:cNvPicPr>
            <a:picLocks noChangeAspect="1"/>
          </p:cNvPicPr>
          <p:nvPr/>
        </p:nvPicPr>
        <p:blipFill>
          <a:blip r:embed="rId4"/>
          <a:stretch>
            <a:fillRect/>
          </a:stretch>
        </p:blipFill>
        <p:spPr>
          <a:xfrm>
            <a:off x="10602510" y="3209226"/>
            <a:ext cx="134549" cy="195707"/>
          </a:xfrm>
          <a:prstGeom prst="rect">
            <a:avLst/>
          </a:prstGeom>
        </p:spPr>
      </p:pic>
      <p:sp>
        <p:nvSpPr>
          <p:cNvPr id="44" name="TextBox 43"/>
          <p:cNvSpPr txBox="1"/>
          <p:nvPr/>
        </p:nvSpPr>
        <p:spPr>
          <a:xfrm>
            <a:off x="10777620" y="321945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5" name="TextBox 44"/>
          <p:cNvSpPr txBox="1"/>
          <p:nvPr/>
        </p:nvSpPr>
        <p:spPr>
          <a:xfrm>
            <a:off x="276225" y="5038725"/>
            <a:ext cx="1716695" cy="194310"/>
          </a:xfrm>
          <a:prstGeom prst="rect">
            <a:avLst/>
          </a:prstGeom>
          <a:noFill/>
        </p:spPr>
        <p:txBody>
          <a:bodyPr wrap="none" lIns="0" rIns="0" tIns="0" bIns="0">
            <a:spAutoFit/>
          </a:bodyPr>
          <a:lstStyle/>
          <a:p>
            <a:r>
              <a:rPr sz="1150" b="0">
                <a:solidFill>
                  <a:srgbClr val="2E2E2E"/>
                </a:solidFill>
                <a:latin typeface="Calibri"/>
              </a:rPr>
              <a:t>▪ Waterproof Coatings adds</a:t>
            </a:r>
          </a:p>
        </p:txBody>
      </p:sp>
      <p:pic>
        <p:nvPicPr>
          <p:cNvPr id="46" name="Picture 45" descr="lock.png"/>
          <p:cNvPicPr>
            <a:picLocks noChangeAspect="1"/>
          </p:cNvPicPr>
          <p:nvPr/>
        </p:nvPicPr>
        <p:blipFill>
          <a:blip r:embed="rId4"/>
          <a:stretch>
            <a:fillRect/>
          </a:stretch>
        </p:blipFill>
        <p:spPr>
          <a:xfrm>
            <a:off x="1942074" y="5028501"/>
            <a:ext cx="134549" cy="195707"/>
          </a:xfrm>
          <a:prstGeom prst="rect">
            <a:avLst/>
          </a:prstGeom>
        </p:spPr>
      </p:pic>
      <p:sp>
        <p:nvSpPr>
          <p:cNvPr id="47" name="TextBox 46"/>
          <p:cNvSpPr txBox="1"/>
          <p:nvPr/>
        </p:nvSpPr>
        <p:spPr>
          <a:xfrm>
            <a:off x="2117183" y="5038725"/>
            <a:ext cx="1815107" cy="194310"/>
          </a:xfrm>
          <a:prstGeom prst="rect">
            <a:avLst/>
          </a:prstGeom>
          <a:noFill/>
        </p:spPr>
        <p:txBody>
          <a:bodyPr wrap="none" lIns="0" rIns="0" tIns="0" bIns="0">
            <a:spAutoFit/>
          </a:bodyPr>
          <a:lstStyle/>
          <a:p>
            <a:r>
              <a:rPr sz="1150" b="0">
                <a:solidFill>
                  <a:srgbClr val="2E2E2E"/>
                </a:solidFill>
                <a:latin typeface="Calibri"/>
              </a:rPr>
              <a:t>US$ Mn of demand to 2036 a</a:t>
            </a:r>
          </a:p>
        </p:txBody>
      </p:sp>
      <p:pic>
        <p:nvPicPr>
          <p:cNvPr id="48" name="Picture 47" descr="lock.png"/>
          <p:cNvPicPr>
            <a:picLocks noChangeAspect="1"/>
          </p:cNvPicPr>
          <p:nvPr/>
        </p:nvPicPr>
        <p:blipFill>
          <a:blip r:embed="rId4"/>
          <a:stretch>
            <a:fillRect/>
          </a:stretch>
        </p:blipFill>
        <p:spPr>
          <a:xfrm>
            <a:off x="3881445" y="5028501"/>
            <a:ext cx="134549" cy="195707"/>
          </a:xfrm>
          <a:prstGeom prst="rect">
            <a:avLst/>
          </a:prstGeom>
        </p:spPr>
      </p:pic>
      <p:sp>
        <p:nvSpPr>
          <p:cNvPr id="49" name="TextBox 48"/>
          <p:cNvSpPr txBox="1"/>
          <p:nvPr/>
        </p:nvSpPr>
        <p:spPr>
          <a:xfrm>
            <a:off x="4056554" y="5038725"/>
            <a:ext cx="822709" cy="194310"/>
          </a:xfrm>
          <a:prstGeom prst="rect">
            <a:avLst/>
          </a:prstGeom>
          <a:noFill/>
        </p:spPr>
        <p:txBody>
          <a:bodyPr wrap="none" lIns="0" rIns="0" tIns="0" bIns="0">
            <a:spAutoFit/>
          </a:bodyPr>
          <a:lstStyle/>
          <a:p>
            <a:r>
              <a:rPr sz="1150" b="0">
                <a:solidFill>
                  <a:srgbClr val="2E2E2E"/>
                </a:solidFill>
                <a:latin typeface="Calibri"/>
              </a:rPr>
              <a:t>× expansion.</a:t>
            </a:r>
          </a:p>
        </p:txBody>
      </p:sp>
      <p:sp>
        <p:nvSpPr>
          <p:cNvPr id="50" name="TextBox 49"/>
          <p:cNvSpPr txBox="1"/>
          <p:nvPr/>
        </p:nvSpPr>
        <p:spPr>
          <a:xfrm>
            <a:off x="276225" y="5266563"/>
            <a:ext cx="6265639" cy="194310"/>
          </a:xfrm>
          <a:prstGeom prst="rect">
            <a:avLst/>
          </a:prstGeom>
          <a:noFill/>
        </p:spPr>
        <p:txBody>
          <a:bodyPr wrap="none" lIns="0" rIns="0" tIns="0" bIns="0">
            <a:spAutoFit/>
          </a:bodyPr>
          <a:lstStyle/>
          <a:p>
            <a:r>
              <a:rPr sz="1150" b="0">
                <a:solidFill>
                  <a:srgbClr val="2E2E2E"/>
                </a:solidFill>
                <a:latin typeface="Calibri"/>
              </a:rPr>
              <a:t>▪ Concentrate resources on the leading segment/region while seeding the fastest-growing pockets early.</a:t>
            </a:r>
          </a:p>
        </p:txBody>
      </p:sp>
      <p:sp>
        <p:nvSpPr>
          <p:cNvPr id="51" name="TextBox 50"/>
          <p:cNvSpPr txBox="1"/>
          <p:nvPr/>
        </p:nvSpPr>
        <p:spPr>
          <a:xfrm>
            <a:off x="276225" y="5494400"/>
            <a:ext cx="5177966" cy="194310"/>
          </a:xfrm>
          <a:prstGeom prst="rect">
            <a:avLst/>
          </a:prstGeom>
          <a:noFill/>
        </p:spPr>
        <p:txBody>
          <a:bodyPr wrap="none" lIns="0" rIns="0" tIns="0" bIns="0">
            <a:spAutoFit/>
          </a:bodyPr>
          <a:lstStyle/>
          <a:p>
            <a:r>
              <a:rPr sz="1150" b="0">
                <a:solidFill>
                  <a:srgbClr val="2E2E2E"/>
                </a:solidFill>
                <a:latin typeface="Calibri"/>
              </a:rPr>
              <a:t>▪ Defend share in 'Other Polymer-Based Coatings' as the value anchor of the portfolio.</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Scenario Outlook (4/4)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Scenario outlook comparing optimistic, likely and conservative outcomes for 2036 and the CAGR behind each</a:t>
            </a:r>
          </a:p>
        </p:txBody>
      </p:sp>
      <p:sp>
        <p:nvSpPr>
          <p:cNvPr id="10" name="Rounded Rectangle 9"/>
          <p:cNvSpPr/>
          <p:nvPr/>
        </p:nvSpPr>
        <p:spPr>
          <a:xfrm>
            <a:off x="142875" y="981075"/>
            <a:ext cx="3943350"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1" name="Rounded Rectangle 10"/>
          <p:cNvSpPr/>
          <p:nvPr/>
        </p:nvSpPr>
        <p:spPr>
          <a:xfrm>
            <a:off x="4238625"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2" name="Rounded Rectangle 11"/>
          <p:cNvSpPr/>
          <p:nvPr/>
        </p:nvSpPr>
        <p:spPr>
          <a:xfrm>
            <a:off x="8210550"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3" name="Rounded Rectangle 12"/>
          <p:cNvSpPr/>
          <p:nvPr/>
        </p:nvSpPr>
        <p:spPr>
          <a:xfrm>
            <a:off x="142875"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Waterproof Coatings Market Value (US$ Mn) Scenario Forecast, 2025 &amp; 2036</a:t>
            </a:r>
          </a:p>
        </p:txBody>
      </p:sp>
      <p:cxnSp>
        <p:nvCxnSpPr>
          <p:cNvPr id="15" name="Connector 14"/>
          <p:cNvCxnSpPr/>
          <p:nvPr/>
        </p:nvCxnSpPr>
        <p:spPr>
          <a:xfrm>
            <a:off x="238125" y="430530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06342" y="3474956"/>
            <a:ext cx="635826" cy="830344"/>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43936" y="3068660"/>
            <a:ext cx="635826" cy="1236640"/>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25725" y="2897512"/>
            <a:ext cx="635826" cy="140778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07515" y="2705100"/>
            <a:ext cx="635826" cy="1600200"/>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1456468" y="2935310"/>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570768" y="2830535"/>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2" name="Connector 21"/>
          <p:cNvCxnSpPr/>
          <p:nvPr/>
        </p:nvCxnSpPr>
        <p:spPr>
          <a:xfrm>
            <a:off x="1456468" y="2678135"/>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570768" y="2573360"/>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4" name="Connector 23"/>
          <p:cNvCxnSpPr/>
          <p:nvPr/>
        </p:nvCxnSpPr>
        <p:spPr>
          <a:xfrm>
            <a:off x="1456468" y="2420960"/>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570768" y="2316185"/>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sp>
        <p:nvSpPr>
          <p:cNvPr id="26" name="TextBox 25"/>
          <p:cNvSpPr txBox="1"/>
          <p:nvPr/>
        </p:nvSpPr>
        <p:spPr>
          <a:xfrm>
            <a:off x="643255"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2025</a:t>
            </a:r>
          </a:p>
        </p:txBody>
      </p:sp>
      <p:sp>
        <p:nvSpPr>
          <p:cNvPr id="27" name="TextBox 26"/>
          <p:cNvSpPr txBox="1"/>
          <p:nvPr/>
        </p:nvSpPr>
        <p:spPr>
          <a:xfrm>
            <a:off x="3962638"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2036</a:t>
            </a:r>
          </a:p>
        </p:txBody>
      </p:sp>
      <p:sp>
        <p:nvSpPr>
          <p:cNvPr id="28" name="Oval 27"/>
          <p:cNvSpPr/>
          <p:nvPr/>
        </p:nvSpPr>
        <p:spPr>
          <a:xfrm>
            <a:off x="304800" y="457200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577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Conservative Scenario</a:t>
            </a:r>
          </a:p>
        </p:txBody>
      </p:sp>
      <p:sp>
        <p:nvSpPr>
          <p:cNvPr id="30" name="Oval 29"/>
          <p:cNvSpPr/>
          <p:nvPr/>
        </p:nvSpPr>
        <p:spPr>
          <a:xfrm>
            <a:off x="2200275" y="457200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0"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Likely Scenario</a:t>
            </a:r>
          </a:p>
        </p:txBody>
      </p:sp>
      <p:sp>
        <p:nvSpPr>
          <p:cNvPr id="32" name="Oval 31"/>
          <p:cNvSpPr/>
          <p:nvPr/>
        </p:nvSpPr>
        <p:spPr>
          <a:xfrm>
            <a:off x="4095750" y="457200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7672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Optimistic Scenario</a:t>
            </a:r>
          </a:p>
        </p:txBody>
      </p:sp>
      <p:sp>
        <p:nvSpPr>
          <p:cNvPr id="34" name="Rounded Rectangle 33"/>
          <p:cNvSpPr/>
          <p:nvPr/>
        </p:nvSpPr>
        <p:spPr>
          <a:xfrm>
            <a:off x="6172200"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7450"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Waterproof Coatings Market Attractiveness Analysis By Region, 2026–2036</a:t>
            </a:r>
          </a:p>
        </p:txBody>
      </p:sp>
      <p:graphicFrame>
        <p:nvGraphicFramePr>
          <p:cNvPr id="36" name="Chart 35"/>
          <p:cNvGraphicFramePr>
            <a:graphicFrameLocks noGrp="1"/>
          </p:cNvGraphicFramePr>
          <p:nvPr/>
        </p:nvGraphicFramePr>
        <p:xfrm>
          <a:off x="6267450" y="2266950"/>
          <a:ext cx="5686425" cy="2495550"/>
        </p:xfrm>
        <a:graphic>
          <a:graphicData uri="http://schemas.openxmlformats.org/drawingml/2006/chart">
            <c:chart xmlns:c="http://schemas.openxmlformats.org/drawingml/2006/chart" r:id="rId3"/>
          </a:graphicData>
        </a:graphic>
      </p:graphicFrame>
      <p:sp>
        <p:nvSpPr>
          <p:cNvPr id="37" name="Rounded Rectangle 36"/>
          <p:cNvSpPr/>
          <p:nvPr/>
        </p:nvSpPr>
        <p:spPr>
          <a:xfrm>
            <a:off x="142875" y="4953000"/>
            <a:ext cx="11906250" cy="1676400"/>
          </a:xfrm>
          <a:prstGeom prst="roundRect">
            <a:avLst>
              <a:gd name="adj" fmla="val 45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225" y="5038725"/>
            <a:ext cx="11639550" cy="209550"/>
          </a:xfrm>
          <a:prstGeom prst="rect">
            <a:avLst/>
          </a:prstGeom>
          <a:noFill/>
        </p:spPr>
        <p:txBody>
          <a:bodyPr wrap="square" lIns="0" rIns="19050" tIns="9525" bIns="9525">
            <a:spAutoFit/>
          </a:bodyPr>
          <a:lstStyle/>
          <a:p>
            <a:pPr algn="l"/>
            <a:r>
              <a:rPr sz="1300" b="1">
                <a:solidFill>
                  <a:srgbClr val="0B2E4A"/>
                </a:solidFill>
                <a:latin typeface="Calibri"/>
              </a:rPr>
              <a:t>Scenario Assumptions &amp; Outlook</a:t>
            </a:r>
          </a:p>
        </p:txBody>
      </p:sp>
      <p:sp>
        <p:nvSpPr>
          <p:cNvPr id="39" name="Rectangle 38"/>
          <p:cNvSpPr/>
          <p:nvPr/>
        </p:nvSpPr>
        <p:spPr>
          <a:xfrm>
            <a:off x="276225" y="52768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6225" y="5362575"/>
            <a:ext cx="11639550" cy="1190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2" name="Picture 41" descr="lock.png"/>
          <p:cNvPicPr>
            <a:picLocks noChangeAspect="1"/>
          </p:cNvPicPr>
          <p:nvPr/>
        </p:nvPicPr>
        <p:blipFill>
          <a:blip r:embed="rId5"/>
          <a:stretch>
            <a:fillRect/>
          </a:stretch>
        </p:blipFill>
        <p:spPr>
          <a:xfrm>
            <a:off x="2035969" y="1214437"/>
            <a:ext cx="157162" cy="228600"/>
          </a:xfrm>
          <a:prstGeom prst="rect">
            <a:avLst/>
          </a:prstGeom>
        </p:spPr>
      </p:pic>
      <p:pic>
        <p:nvPicPr>
          <p:cNvPr id="43" name="Picture 42" descr="lock.png"/>
          <p:cNvPicPr>
            <a:picLocks noChangeAspect="1"/>
          </p:cNvPicPr>
          <p:nvPr/>
        </p:nvPicPr>
        <p:blipFill>
          <a:blip r:embed="rId5"/>
          <a:stretch>
            <a:fillRect/>
          </a:stretch>
        </p:blipFill>
        <p:spPr>
          <a:xfrm>
            <a:off x="6069806" y="1214437"/>
            <a:ext cx="157162" cy="228600"/>
          </a:xfrm>
          <a:prstGeom prst="rect">
            <a:avLst/>
          </a:prstGeom>
        </p:spPr>
      </p:pic>
      <p:pic>
        <p:nvPicPr>
          <p:cNvPr id="44" name="Picture 43" descr="lock.png"/>
          <p:cNvPicPr>
            <a:picLocks noChangeAspect="1"/>
          </p:cNvPicPr>
          <p:nvPr/>
        </p:nvPicPr>
        <p:blipFill>
          <a:blip r:embed="rId5"/>
          <a:stretch>
            <a:fillRect/>
          </a:stretch>
        </p:blipFill>
        <p:spPr>
          <a:xfrm>
            <a:off x="10041731" y="1214437"/>
            <a:ext cx="157162" cy="228600"/>
          </a:xfrm>
          <a:prstGeom prst="rect">
            <a:avLst/>
          </a:prstGeom>
        </p:spPr>
      </p:pic>
      <p:sp>
        <p:nvSpPr>
          <p:cNvPr id="45" name="TextBox 44"/>
          <p:cNvSpPr txBox="1"/>
          <p:nvPr/>
        </p:nvSpPr>
        <p:spPr>
          <a:xfrm>
            <a:off x="1637332" y="1028326"/>
            <a:ext cx="1030634" cy="166573"/>
          </a:xfrm>
          <a:prstGeom prst="rect">
            <a:avLst/>
          </a:prstGeom>
          <a:noFill/>
        </p:spPr>
        <p:txBody>
          <a:bodyPr wrap="none" lIns="0" rIns="0" tIns="0" bIns="0">
            <a:spAutoFit/>
          </a:bodyPr>
          <a:lstStyle/>
          <a:p>
            <a:r>
              <a:rPr sz="968" b="1">
                <a:solidFill>
                  <a:srgbClr val="6C7A89"/>
                </a:solidFill>
                <a:latin typeface="Calibri"/>
              </a:rPr>
              <a:t>OPTIMISTIC (2036)</a:t>
            </a:r>
          </a:p>
        </p:txBody>
      </p:sp>
      <p:sp>
        <p:nvSpPr>
          <p:cNvPr id="46" name="TextBox 45"/>
          <p:cNvSpPr txBox="1"/>
          <p:nvPr/>
        </p:nvSpPr>
        <p:spPr>
          <a:xfrm>
            <a:off x="1906321"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47" name="Picture 46" descr="lock.png"/>
          <p:cNvPicPr>
            <a:picLocks noChangeAspect="1"/>
          </p:cNvPicPr>
          <p:nvPr/>
        </p:nvPicPr>
        <p:blipFill>
          <a:blip r:embed="rId5"/>
          <a:stretch>
            <a:fillRect/>
          </a:stretch>
        </p:blipFill>
        <p:spPr>
          <a:xfrm>
            <a:off x="2208575" y="1473019"/>
            <a:ext cx="113255" cy="164734"/>
          </a:xfrm>
          <a:prstGeom prst="rect">
            <a:avLst/>
          </a:prstGeom>
        </p:spPr>
      </p:pic>
      <p:sp>
        <p:nvSpPr>
          <p:cNvPr id="48" name="TextBox 47"/>
          <p:cNvSpPr txBox="1"/>
          <p:nvPr/>
        </p:nvSpPr>
        <p:spPr>
          <a:xfrm>
            <a:off x="5807156" y="1028326"/>
            <a:ext cx="758662" cy="166573"/>
          </a:xfrm>
          <a:prstGeom prst="rect">
            <a:avLst/>
          </a:prstGeom>
          <a:noFill/>
        </p:spPr>
        <p:txBody>
          <a:bodyPr wrap="none" lIns="0" rIns="0" tIns="0" bIns="0">
            <a:spAutoFit/>
          </a:bodyPr>
          <a:lstStyle/>
          <a:p>
            <a:r>
              <a:rPr sz="968" b="1">
                <a:solidFill>
                  <a:srgbClr val="6C7A89"/>
                </a:solidFill>
                <a:latin typeface="Calibri"/>
              </a:rPr>
              <a:t>LIKELY (2036)</a:t>
            </a:r>
          </a:p>
        </p:txBody>
      </p:sp>
      <p:sp>
        <p:nvSpPr>
          <p:cNvPr id="49" name="TextBox 48"/>
          <p:cNvSpPr txBox="1"/>
          <p:nvPr/>
        </p:nvSpPr>
        <p:spPr>
          <a:xfrm>
            <a:off x="5940158"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0" name="Picture 49" descr="lock.png"/>
          <p:cNvPicPr>
            <a:picLocks noChangeAspect="1"/>
          </p:cNvPicPr>
          <p:nvPr/>
        </p:nvPicPr>
        <p:blipFill>
          <a:blip r:embed="rId5"/>
          <a:stretch>
            <a:fillRect/>
          </a:stretch>
        </p:blipFill>
        <p:spPr>
          <a:xfrm>
            <a:off x="6242412" y="1473019"/>
            <a:ext cx="113255" cy="164734"/>
          </a:xfrm>
          <a:prstGeom prst="rect">
            <a:avLst/>
          </a:prstGeom>
        </p:spPr>
      </p:pic>
      <p:sp>
        <p:nvSpPr>
          <p:cNvPr id="51" name="TextBox 50"/>
          <p:cNvSpPr txBox="1"/>
          <p:nvPr/>
        </p:nvSpPr>
        <p:spPr>
          <a:xfrm>
            <a:off x="9548094" y="1028326"/>
            <a:ext cx="1220636" cy="166573"/>
          </a:xfrm>
          <a:prstGeom prst="rect">
            <a:avLst/>
          </a:prstGeom>
          <a:noFill/>
        </p:spPr>
        <p:txBody>
          <a:bodyPr wrap="none" lIns="0" rIns="0" tIns="0" bIns="0">
            <a:spAutoFit/>
          </a:bodyPr>
          <a:lstStyle/>
          <a:p>
            <a:r>
              <a:rPr sz="968" b="1">
                <a:solidFill>
                  <a:srgbClr val="6C7A89"/>
                </a:solidFill>
                <a:latin typeface="Calibri"/>
              </a:rPr>
              <a:t>CONSERVATIVE (2036)</a:t>
            </a:r>
          </a:p>
        </p:txBody>
      </p:sp>
      <p:sp>
        <p:nvSpPr>
          <p:cNvPr id="52" name="TextBox 51"/>
          <p:cNvSpPr txBox="1"/>
          <p:nvPr/>
        </p:nvSpPr>
        <p:spPr>
          <a:xfrm>
            <a:off x="9912083"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3" name="Picture 52" descr="lock.png"/>
          <p:cNvPicPr>
            <a:picLocks noChangeAspect="1"/>
          </p:cNvPicPr>
          <p:nvPr/>
        </p:nvPicPr>
        <p:blipFill>
          <a:blip r:embed="rId5"/>
          <a:stretch>
            <a:fillRect/>
          </a:stretch>
        </p:blipFill>
        <p:spPr>
          <a:xfrm>
            <a:off x="10214337" y="1473019"/>
            <a:ext cx="113255" cy="164734"/>
          </a:xfrm>
          <a:prstGeom prst="rect">
            <a:avLst/>
          </a:prstGeom>
        </p:spPr>
      </p:pic>
      <p:sp>
        <p:nvSpPr>
          <p:cNvPr id="54" name="TextBox 53"/>
          <p:cNvSpPr txBox="1"/>
          <p:nvPr/>
        </p:nvSpPr>
        <p:spPr>
          <a:xfrm>
            <a:off x="2032418" y="2864901"/>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5" name="Picture 54" descr="lock.png"/>
          <p:cNvPicPr>
            <a:picLocks noChangeAspect="1"/>
          </p:cNvPicPr>
          <p:nvPr/>
        </p:nvPicPr>
        <p:blipFill>
          <a:blip r:embed="rId5"/>
          <a:stretch>
            <a:fillRect/>
          </a:stretch>
        </p:blipFill>
        <p:spPr>
          <a:xfrm>
            <a:off x="2358973" y="2856686"/>
            <a:ext cx="108107" cy="157246"/>
          </a:xfrm>
          <a:prstGeom prst="rect">
            <a:avLst/>
          </a:prstGeom>
        </p:spPr>
      </p:pic>
      <p:sp>
        <p:nvSpPr>
          <p:cNvPr id="56" name="TextBox 55"/>
          <p:cNvSpPr txBox="1"/>
          <p:nvPr/>
        </p:nvSpPr>
        <p:spPr>
          <a:xfrm>
            <a:off x="2032418" y="2607726"/>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7" name="Picture 56" descr="lock.png"/>
          <p:cNvPicPr>
            <a:picLocks noChangeAspect="1"/>
          </p:cNvPicPr>
          <p:nvPr/>
        </p:nvPicPr>
        <p:blipFill>
          <a:blip r:embed="rId5"/>
          <a:stretch>
            <a:fillRect/>
          </a:stretch>
        </p:blipFill>
        <p:spPr>
          <a:xfrm>
            <a:off x="2358973" y="2599511"/>
            <a:ext cx="108107" cy="157246"/>
          </a:xfrm>
          <a:prstGeom prst="rect">
            <a:avLst/>
          </a:prstGeom>
        </p:spPr>
      </p:pic>
      <p:sp>
        <p:nvSpPr>
          <p:cNvPr id="58" name="TextBox 57"/>
          <p:cNvSpPr txBox="1"/>
          <p:nvPr/>
        </p:nvSpPr>
        <p:spPr>
          <a:xfrm>
            <a:off x="2032418" y="2350551"/>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9" name="Picture 58" descr="lock.png"/>
          <p:cNvPicPr>
            <a:picLocks noChangeAspect="1"/>
          </p:cNvPicPr>
          <p:nvPr/>
        </p:nvPicPr>
        <p:blipFill>
          <a:blip r:embed="rId5"/>
          <a:stretch>
            <a:fillRect/>
          </a:stretch>
        </p:blipFill>
        <p:spPr>
          <a:xfrm>
            <a:off x="2358973" y="2342336"/>
            <a:ext cx="108107" cy="157246"/>
          </a:xfrm>
          <a:prstGeom prst="rect">
            <a:avLst/>
          </a:prstGeom>
        </p:spPr>
      </p:pic>
      <p:sp>
        <p:nvSpPr>
          <p:cNvPr id="60" name="TextBox 59"/>
          <p:cNvSpPr txBox="1"/>
          <p:nvPr/>
        </p:nvSpPr>
        <p:spPr>
          <a:xfrm>
            <a:off x="276225" y="5372100"/>
            <a:ext cx="808161" cy="194310"/>
          </a:xfrm>
          <a:prstGeom prst="rect">
            <a:avLst/>
          </a:prstGeom>
          <a:noFill/>
        </p:spPr>
        <p:txBody>
          <a:bodyPr wrap="none" lIns="0" rIns="0" tIns="0" bIns="0">
            <a:spAutoFit/>
          </a:bodyPr>
          <a:lstStyle/>
          <a:p>
            <a:r>
              <a:rPr sz="1150" b="0">
                <a:solidFill>
                  <a:srgbClr val="2E2E2E"/>
                </a:solidFill>
                <a:latin typeface="Calibri"/>
              </a:rPr>
              <a:t>▪ Optimistic:</a:t>
            </a:r>
          </a:p>
        </p:txBody>
      </p:sp>
      <p:pic>
        <p:nvPicPr>
          <p:cNvPr id="61" name="Picture 60" descr="lock.png"/>
          <p:cNvPicPr>
            <a:picLocks noChangeAspect="1"/>
          </p:cNvPicPr>
          <p:nvPr/>
        </p:nvPicPr>
        <p:blipFill>
          <a:blip r:embed="rId5"/>
          <a:stretch>
            <a:fillRect/>
          </a:stretch>
        </p:blipFill>
        <p:spPr>
          <a:xfrm>
            <a:off x="1033540" y="5361876"/>
            <a:ext cx="134549" cy="195707"/>
          </a:xfrm>
          <a:prstGeom prst="rect">
            <a:avLst/>
          </a:prstGeom>
        </p:spPr>
      </p:pic>
      <p:sp>
        <p:nvSpPr>
          <p:cNvPr id="62" name="TextBox 61"/>
          <p:cNvSpPr txBox="1"/>
          <p:nvPr/>
        </p:nvSpPr>
        <p:spPr>
          <a:xfrm>
            <a:off x="1208649" y="5372100"/>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63" name="Picture 62" descr="lock.png"/>
          <p:cNvPicPr>
            <a:picLocks noChangeAspect="1"/>
          </p:cNvPicPr>
          <p:nvPr/>
        </p:nvPicPr>
        <p:blipFill>
          <a:blip r:embed="rId5"/>
          <a:stretch>
            <a:fillRect/>
          </a:stretch>
        </p:blipFill>
        <p:spPr>
          <a:xfrm>
            <a:off x="2361612" y="5361876"/>
            <a:ext cx="134549" cy="195707"/>
          </a:xfrm>
          <a:prstGeom prst="rect">
            <a:avLst/>
          </a:prstGeom>
        </p:spPr>
      </p:pic>
      <p:sp>
        <p:nvSpPr>
          <p:cNvPr id="64" name="TextBox 63"/>
          <p:cNvSpPr txBox="1"/>
          <p:nvPr/>
        </p:nvSpPr>
        <p:spPr>
          <a:xfrm>
            <a:off x="2536721" y="5372100"/>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5" name="TextBox 64"/>
          <p:cNvSpPr txBox="1"/>
          <p:nvPr/>
        </p:nvSpPr>
        <p:spPr>
          <a:xfrm>
            <a:off x="276225" y="5599938"/>
            <a:ext cx="1448271" cy="194310"/>
          </a:xfrm>
          <a:prstGeom prst="rect">
            <a:avLst/>
          </a:prstGeom>
          <a:noFill/>
        </p:spPr>
        <p:txBody>
          <a:bodyPr wrap="none" lIns="0" rIns="0" tIns="0" bIns="0">
            <a:spAutoFit/>
          </a:bodyPr>
          <a:lstStyle/>
          <a:p>
            <a:r>
              <a:rPr sz="1150" b="0">
                <a:solidFill>
                  <a:srgbClr val="2E2E2E"/>
                </a:solidFill>
                <a:latin typeface="Calibri"/>
              </a:rPr>
              <a:t>▪ Likely (base forecast):</a:t>
            </a:r>
          </a:p>
        </p:txBody>
      </p:sp>
      <p:pic>
        <p:nvPicPr>
          <p:cNvPr id="66" name="Picture 65" descr="lock.png"/>
          <p:cNvPicPr>
            <a:picLocks noChangeAspect="1"/>
          </p:cNvPicPr>
          <p:nvPr/>
        </p:nvPicPr>
        <p:blipFill>
          <a:blip r:embed="rId5"/>
          <a:stretch>
            <a:fillRect/>
          </a:stretch>
        </p:blipFill>
        <p:spPr>
          <a:xfrm>
            <a:off x="1673650" y="5589714"/>
            <a:ext cx="134549" cy="195707"/>
          </a:xfrm>
          <a:prstGeom prst="rect">
            <a:avLst/>
          </a:prstGeom>
        </p:spPr>
      </p:pic>
      <p:sp>
        <p:nvSpPr>
          <p:cNvPr id="67" name="TextBox 66"/>
          <p:cNvSpPr txBox="1"/>
          <p:nvPr/>
        </p:nvSpPr>
        <p:spPr>
          <a:xfrm>
            <a:off x="1848759" y="5599938"/>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68" name="Picture 67" descr="lock.png"/>
          <p:cNvPicPr>
            <a:picLocks noChangeAspect="1"/>
          </p:cNvPicPr>
          <p:nvPr/>
        </p:nvPicPr>
        <p:blipFill>
          <a:blip r:embed="rId5"/>
          <a:stretch>
            <a:fillRect/>
          </a:stretch>
        </p:blipFill>
        <p:spPr>
          <a:xfrm>
            <a:off x="2495966" y="5589714"/>
            <a:ext cx="134549" cy="195707"/>
          </a:xfrm>
          <a:prstGeom prst="rect">
            <a:avLst/>
          </a:prstGeom>
        </p:spPr>
      </p:pic>
      <p:sp>
        <p:nvSpPr>
          <p:cNvPr id="69" name="TextBox 68"/>
          <p:cNvSpPr txBox="1"/>
          <p:nvPr/>
        </p:nvSpPr>
        <p:spPr>
          <a:xfrm>
            <a:off x="2671076" y="5599938"/>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0" name="TextBox 69"/>
          <p:cNvSpPr txBox="1"/>
          <p:nvPr/>
        </p:nvSpPr>
        <p:spPr>
          <a:xfrm>
            <a:off x="276225" y="5827775"/>
            <a:ext cx="969615" cy="194310"/>
          </a:xfrm>
          <a:prstGeom prst="rect">
            <a:avLst/>
          </a:prstGeom>
          <a:noFill/>
        </p:spPr>
        <p:txBody>
          <a:bodyPr wrap="none" lIns="0" rIns="0" tIns="0" bIns="0">
            <a:spAutoFit/>
          </a:bodyPr>
          <a:lstStyle/>
          <a:p>
            <a:r>
              <a:rPr sz="1150" b="0">
                <a:solidFill>
                  <a:srgbClr val="2E2E2E"/>
                </a:solidFill>
                <a:latin typeface="Calibri"/>
              </a:rPr>
              <a:t>▪ Conservative:</a:t>
            </a:r>
          </a:p>
        </p:txBody>
      </p:sp>
      <p:pic>
        <p:nvPicPr>
          <p:cNvPr id="71" name="Picture 70" descr="lock.png"/>
          <p:cNvPicPr>
            <a:picLocks noChangeAspect="1"/>
          </p:cNvPicPr>
          <p:nvPr/>
        </p:nvPicPr>
        <p:blipFill>
          <a:blip r:embed="rId5"/>
          <a:stretch>
            <a:fillRect/>
          </a:stretch>
        </p:blipFill>
        <p:spPr>
          <a:xfrm>
            <a:off x="1194994" y="5817552"/>
            <a:ext cx="134549" cy="195707"/>
          </a:xfrm>
          <a:prstGeom prst="rect">
            <a:avLst/>
          </a:prstGeom>
        </p:spPr>
      </p:pic>
      <p:sp>
        <p:nvSpPr>
          <p:cNvPr id="72" name="TextBox 71"/>
          <p:cNvSpPr txBox="1"/>
          <p:nvPr/>
        </p:nvSpPr>
        <p:spPr>
          <a:xfrm>
            <a:off x="1370103" y="5827775"/>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73" name="Picture 72" descr="lock.png"/>
          <p:cNvPicPr>
            <a:picLocks noChangeAspect="1"/>
          </p:cNvPicPr>
          <p:nvPr/>
        </p:nvPicPr>
        <p:blipFill>
          <a:blip r:embed="rId5"/>
          <a:stretch>
            <a:fillRect/>
          </a:stretch>
        </p:blipFill>
        <p:spPr>
          <a:xfrm>
            <a:off x="2017310" y="5817552"/>
            <a:ext cx="134549" cy="195707"/>
          </a:xfrm>
          <a:prstGeom prst="rect">
            <a:avLst/>
          </a:prstGeom>
        </p:spPr>
      </p:pic>
      <p:sp>
        <p:nvSpPr>
          <p:cNvPr id="74" name="TextBox 73"/>
          <p:cNvSpPr txBox="1"/>
          <p:nvPr/>
        </p:nvSpPr>
        <p:spPr>
          <a:xfrm>
            <a:off x="2192420" y="58277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5" name="TextBox 74"/>
          <p:cNvSpPr txBox="1"/>
          <p:nvPr/>
        </p:nvSpPr>
        <p:spPr>
          <a:xfrm>
            <a:off x="276225" y="6055613"/>
            <a:ext cx="3660130" cy="194310"/>
          </a:xfrm>
          <a:prstGeom prst="rect">
            <a:avLst/>
          </a:prstGeom>
          <a:noFill/>
        </p:spPr>
        <p:txBody>
          <a:bodyPr wrap="none" lIns="0" rIns="0" tIns="0" bIns="0">
            <a:spAutoFit/>
          </a:bodyPr>
          <a:lstStyle/>
          <a:p>
            <a:r>
              <a:rPr sz="1150" b="0">
                <a:solidFill>
                  <a:srgbClr val="2E2E2E"/>
                </a:solidFill>
                <a:latin typeface="Calibri"/>
              </a:rPr>
              <a:t>▪ Scenarios flex the base forecast's year-on-year growth by ±</a:t>
            </a:r>
          </a:p>
        </p:txBody>
      </p:sp>
      <p:pic>
        <p:nvPicPr>
          <p:cNvPr id="76" name="Picture 75" descr="lock.png"/>
          <p:cNvPicPr>
            <a:picLocks noChangeAspect="1"/>
          </p:cNvPicPr>
          <p:nvPr/>
        </p:nvPicPr>
        <p:blipFill>
          <a:blip r:embed="rId5"/>
          <a:stretch>
            <a:fillRect/>
          </a:stretch>
        </p:blipFill>
        <p:spPr>
          <a:xfrm>
            <a:off x="3885509" y="6045390"/>
            <a:ext cx="134549" cy="195707"/>
          </a:xfrm>
          <a:prstGeom prst="rect">
            <a:avLst/>
          </a:prstGeom>
        </p:spPr>
      </p:pic>
      <p:sp>
        <p:nvSpPr>
          <p:cNvPr id="77" name="TextBox 76"/>
          <p:cNvSpPr txBox="1"/>
          <p:nvPr/>
        </p:nvSpPr>
        <p:spPr>
          <a:xfrm>
            <a:off x="4060618" y="6055613"/>
            <a:ext cx="1900683" cy="194310"/>
          </a:xfrm>
          <a:prstGeom prst="rect">
            <a:avLst/>
          </a:prstGeom>
          <a:noFill/>
        </p:spPr>
        <p:txBody>
          <a:bodyPr wrap="none" lIns="0" rIns="0" tIns="0" bIns="0">
            <a:spAutoFit/>
          </a:bodyPr>
          <a:lstStyle/>
          <a:p>
            <a:r>
              <a:rPr sz="1150" b="0">
                <a:solidFill>
                  <a:srgbClr val="2E2E2E"/>
                </a:solidFill>
                <a:latin typeface="Calibri"/>
              </a:rPr>
              <a:t>across the 2026–2036 horizon.</a:t>
            </a:r>
          </a:p>
        </p:txBody>
      </p:sp>
      <p:sp>
        <p:nvSpPr>
          <p:cNvPr id="78" name="lockshield_36"/>
          <p:cNvSpPr/>
          <p:nvPr/>
        </p:nvSpPr>
        <p:spPr>
          <a:xfrm>
            <a:off x="6267450" y="2266950"/>
            <a:ext cx="5686425" cy="2495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B3C8C"/>
                </a:solidFill>
                <a:latin typeface="Calibri"/>
              </a:rPr>
              <a:t>Global Market Analysis By Region</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Waterproof Coatings – Regional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Region</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Waterproof Coatings – Regional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analysis of size, growth and share across 7 regions, highlighting where value concentrates,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By Region view breaks the Global market down geographically. Each region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Region</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330779"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330779"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North America</a:t>
            </a:r>
          </a:p>
        </p:txBody>
      </p:sp>
      <p:sp>
        <p:nvSpPr>
          <p:cNvPr id="22" name="Rectangle 21"/>
          <p:cNvSpPr/>
          <p:nvPr/>
        </p:nvSpPr>
        <p:spPr>
          <a:xfrm>
            <a:off x="1866900"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370364"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311979" y="1773916"/>
            <a:ext cx="1330779"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311979" y="1992961"/>
            <a:ext cx="1330779"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50079"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East Asia</a:t>
            </a:r>
          </a:p>
        </p:txBody>
      </p:sp>
      <p:sp>
        <p:nvSpPr>
          <p:cNvPr id="29" name="Rectangle 28"/>
          <p:cNvSpPr/>
          <p:nvPr/>
        </p:nvSpPr>
        <p:spPr>
          <a:xfrm>
            <a:off x="3311979"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311979"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311979"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3815443"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4757057" y="1773916"/>
            <a:ext cx="1330779"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57057" y="1992961"/>
            <a:ext cx="1330779"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95157"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South Asia &amp; Pacific</a:t>
            </a:r>
          </a:p>
        </p:txBody>
      </p:sp>
      <p:sp>
        <p:nvSpPr>
          <p:cNvPr id="36" name="Rectangle 35"/>
          <p:cNvSpPr/>
          <p:nvPr/>
        </p:nvSpPr>
        <p:spPr>
          <a:xfrm>
            <a:off x="4757057"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4757057"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4757057"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5260521"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6202136" y="1773916"/>
            <a:ext cx="1330779"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02136" y="1992961"/>
            <a:ext cx="1330779"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40236"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Latin America</a:t>
            </a:r>
          </a:p>
        </p:txBody>
      </p:sp>
      <p:sp>
        <p:nvSpPr>
          <p:cNvPr id="43" name="Rectangle 42"/>
          <p:cNvSpPr/>
          <p:nvPr/>
        </p:nvSpPr>
        <p:spPr>
          <a:xfrm>
            <a:off x="6202136"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6202136"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6202136"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670560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7647214" y="1773916"/>
            <a:ext cx="1330779"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647214" y="1992961"/>
            <a:ext cx="1330779"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685314"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Middle East &amp; Africa</a:t>
            </a:r>
          </a:p>
        </p:txBody>
      </p:sp>
      <p:sp>
        <p:nvSpPr>
          <p:cNvPr id="50" name="Rectangle 49"/>
          <p:cNvSpPr/>
          <p:nvPr/>
        </p:nvSpPr>
        <p:spPr>
          <a:xfrm>
            <a:off x="7647214"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7647214"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7647214"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8150679"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9092293" y="1773916"/>
            <a:ext cx="1330779"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092293" y="1992961"/>
            <a:ext cx="1330779"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30393"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Eastern Europe</a:t>
            </a:r>
          </a:p>
        </p:txBody>
      </p:sp>
      <p:sp>
        <p:nvSpPr>
          <p:cNvPr id="57" name="Rectangle 56"/>
          <p:cNvSpPr/>
          <p:nvPr/>
        </p:nvSpPr>
        <p:spPr>
          <a:xfrm>
            <a:off x="9092293"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8" name="Rectangle 57"/>
          <p:cNvSpPr/>
          <p:nvPr/>
        </p:nvSpPr>
        <p:spPr>
          <a:xfrm>
            <a:off x="9092293"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9" name="Rectangle 58"/>
          <p:cNvSpPr/>
          <p:nvPr/>
        </p:nvSpPr>
        <p:spPr>
          <a:xfrm>
            <a:off x="9092293"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0" name="Oval 59"/>
          <p:cNvSpPr/>
          <p:nvPr/>
        </p:nvSpPr>
        <p:spPr>
          <a:xfrm>
            <a:off x="9595757"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1" name="Rounded Rectangle 60"/>
          <p:cNvSpPr/>
          <p:nvPr/>
        </p:nvSpPr>
        <p:spPr>
          <a:xfrm>
            <a:off x="10537371" y="1773916"/>
            <a:ext cx="1330779"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537371" y="1992961"/>
            <a:ext cx="1330779"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575471"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Western Europe</a:t>
            </a:r>
          </a:p>
        </p:txBody>
      </p:sp>
      <p:sp>
        <p:nvSpPr>
          <p:cNvPr id="64" name="Rectangle 63"/>
          <p:cNvSpPr/>
          <p:nvPr/>
        </p:nvSpPr>
        <p:spPr>
          <a:xfrm>
            <a:off x="10537371"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5" name="Rectangle 64"/>
          <p:cNvSpPr/>
          <p:nvPr/>
        </p:nvSpPr>
        <p:spPr>
          <a:xfrm>
            <a:off x="10537371"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6" name="Rectangle 65"/>
          <p:cNvSpPr/>
          <p:nvPr/>
        </p:nvSpPr>
        <p:spPr>
          <a:xfrm>
            <a:off x="10537371"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7" name="Oval 66"/>
          <p:cNvSpPr/>
          <p:nvPr/>
        </p:nvSpPr>
        <p:spPr>
          <a:xfrm>
            <a:off x="11040836"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68" name="Rounded Rectangle 67"/>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70" name="Rectangle 69"/>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72" name="Rounded Rectangle 71"/>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Region Insights</a:t>
            </a:r>
          </a:p>
        </p:txBody>
      </p:sp>
      <p:sp>
        <p:nvSpPr>
          <p:cNvPr id="74" name="Rectangle 73"/>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C7A89"/>
                </a:solidFill>
                <a:latin typeface="Calibri"/>
              </a:rPr>
              <a:t/>
            </a:r>
            <a:r>
              <a:rPr sz="1100" b="1">
                <a:solidFill>
                  <a:srgbClr val="6C7A89"/>
                </a:solidFill>
                <a:latin typeface="Calibri"/>
              </a:rPr>
              <a:t/>
            </a:r>
            <a:r>
              <a:rPr sz="1100" b="0">
                <a:solidFill>
                  <a:srgbClr val="2E2E2E"/>
                </a:solidFill>
                <a:latin typeface="Calibri"/>
              </a:rPr>
              <a:t/>
            </a:r>
          </a:p>
        </p:txBody>
      </p:sp>
      <p:sp>
        <p:nvSpPr>
          <p:cNvPr id="76" name="Rounded Rectangle 75"/>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Region Overview</a:t>
            </a:r>
          </a:p>
        </p:txBody>
      </p:sp>
      <p:sp>
        <p:nvSpPr>
          <p:cNvPr id="78" name="Rectangle 77"/>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By Region split shows where market value concentrates and where growth is fastest.</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demand and access dynamics are rebalancing the geographic mix through 2036.</a:t>
            </a:r>
          </a:p>
        </p:txBody>
      </p:sp>
      <p:sp>
        <p:nvSpPr>
          <p:cNvPr id="80" name="Rectangle 79"/>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82" name="TextBox 81"/>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83" name="TextBox 8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84" name="Picture 83" descr="4_317_605E5C.png"/>
          <p:cNvPicPr>
            <a:picLocks noChangeAspect="1"/>
          </p:cNvPicPr>
          <p:nvPr/>
        </p:nvPicPr>
        <p:blipFill>
          <a:blip r:embed="rId4"/>
          <a:stretch>
            <a:fillRect/>
          </a:stretch>
        </p:blipFill>
        <p:spPr>
          <a:xfrm>
            <a:off x="1934425" y="2286582"/>
            <a:ext cx="1195728" cy="361950"/>
          </a:xfrm>
          <a:prstGeom prst="rect">
            <a:avLst/>
          </a:prstGeom>
        </p:spPr>
      </p:pic>
      <p:pic>
        <p:nvPicPr>
          <p:cNvPr id="85" name="Picture 84" descr="6_529_605E5C.png"/>
          <p:cNvPicPr>
            <a:picLocks noChangeAspect="1"/>
          </p:cNvPicPr>
          <p:nvPr/>
        </p:nvPicPr>
        <p:blipFill>
          <a:blip r:embed="rId5"/>
          <a:stretch>
            <a:fillRect/>
          </a:stretch>
        </p:blipFill>
        <p:spPr>
          <a:xfrm>
            <a:off x="1934425" y="2779432"/>
            <a:ext cx="1195728" cy="361950"/>
          </a:xfrm>
          <a:prstGeom prst="rect">
            <a:avLst/>
          </a:prstGeom>
        </p:spPr>
      </p:pic>
      <p:pic>
        <p:nvPicPr>
          <p:cNvPr id="86" name="Picture 85" descr="4_2__605E5C.png"/>
          <p:cNvPicPr>
            <a:picLocks noChangeAspect="1"/>
          </p:cNvPicPr>
          <p:nvPr/>
        </p:nvPicPr>
        <p:blipFill>
          <a:blip r:embed="rId6"/>
          <a:stretch>
            <a:fillRect/>
          </a:stretch>
        </p:blipFill>
        <p:spPr>
          <a:xfrm>
            <a:off x="2041071" y="3272281"/>
            <a:ext cx="982436" cy="361950"/>
          </a:xfrm>
          <a:prstGeom prst="rect">
            <a:avLst/>
          </a:prstGeom>
        </p:spPr>
      </p:pic>
      <p:pic>
        <p:nvPicPr>
          <p:cNvPr id="87" name="Picture 86" descr="1_700_605E5C.png"/>
          <p:cNvPicPr>
            <a:picLocks noChangeAspect="1"/>
          </p:cNvPicPr>
          <p:nvPr/>
        </p:nvPicPr>
        <p:blipFill>
          <a:blip r:embed="rId7"/>
          <a:stretch>
            <a:fillRect/>
          </a:stretch>
        </p:blipFill>
        <p:spPr>
          <a:xfrm>
            <a:off x="3379504" y="2286582"/>
            <a:ext cx="1195728" cy="361950"/>
          </a:xfrm>
          <a:prstGeom prst="rect">
            <a:avLst/>
          </a:prstGeom>
        </p:spPr>
      </p:pic>
      <p:pic>
        <p:nvPicPr>
          <p:cNvPr id="88" name="Picture 87" descr="2_716_605E5C.png"/>
          <p:cNvPicPr>
            <a:picLocks noChangeAspect="1"/>
          </p:cNvPicPr>
          <p:nvPr/>
        </p:nvPicPr>
        <p:blipFill>
          <a:blip r:embed="rId8"/>
          <a:stretch>
            <a:fillRect/>
          </a:stretch>
        </p:blipFill>
        <p:spPr>
          <a:xfrm>
            <a:off x="3379504" y="2779432"/>
            <a:ext cx="1195728" cy="361950"/>
          </a:xfrm>
          <a:prstGeom prst="rect">
            <a:avLst/>
          </a:prstGeom>
        </p:spPr>
      </p:pic>
      <p:pic>
        <p:nvPicPr>
          <p:cNvPr id="89" name="Picture 88" descr="4_8__605E5C.png"/>
          <p:cNvPicPr>
            <a:picLocks noChangeAspect="1"/>
          </p:cNvPicPr>
          <p:nvPr/>
        </p:nvPicPr>
        <p:blipFill>
          <a:blip r:embed="rId9"/>
          <a:stretch>
            <a:fillRect/>
          </a:stretch>
        </p:blipFill>
        <p:spPr>
          <a:xfrm>
            <a:off x="3486150" y="3272281"/>
            <a:ext cx="982436" cy="361950"/>
          </a:xfrm>
          <a:prstGeom prst="rect">
            <a:avLst/>
          </a:prstGeom>
        </p:spPr>
      </p:pic>
      <p:pic>
        <p:nvPicPr>
          <p:cNvPr id="90" name="Picture 89" descr="1_570_605E5C.png"/>
          <p:cNvPicPr>
            <a:picLocks noChangeAspect="1"/>
          </p:cNvPicPr>
          <p:nvPr/>
        </p:nvPicPr>
        <p:blipFill>
          <a:blip r:embed="rId10"/>
          <a:stretch>
            <a:fillRect/>
          </a:stretch>
        </p:blipFill>
        <p:spPr>
          <a:xfrm>
            <a:off x="4824582" y="2286582"/>
            <a:ext cx="1195728" cy="361950"/>
          </a:xfrm>
          <a:prstGeom prst="rect">
            <a:avLst/>
          </a:prstGeom>
        </p:spPr>
      </p:pic>
      <p:pic>
        <p:nvPicPr>
          <p:cNvPr id="91" name="Picture 90" descr="2_821_605E5C.png"/>
          <p:cNvPicPr>
            <a:picLocks noChangeAspect="1"/>
          </p:cNvPicPr>
          <p:nvPr/>
        </p:nvPicPr>
        <p:blipFill>
          <a:blip r:embed="rId11"/>
          <a:stretch>
            <a:fillRect/>
          </a:stretch>
        </p:blipFill>
        <p:spPr>
          <a:xfrm>
            <a:off x="4824582" y="2779432"/>
            <a:ext cx="1195728" cy="361950"/>
          </a:xfrm>
          <a:prstGeom prst="rect">
            <a:avLst/>
          </a:prstGeom>
        </p:spPr>
      </p:pic>
      <p:pic>
        <p:nvPicPr>
          <p:cNvPr id="92" name="Picture 91" descr="6_0__605E5C.png"/>
          <p:cNvPicPr>
            <a:picLocks noChangeAspect="1"/>
          </p:cNvPicPr>
          <p:nvPr/>
        </p:nvPicPr>
        <p:blipFill>
          <a:blip r:embed="rId12"/>
          <a:stretch>
            <a:fillRect/>
          </a:stretch>
        </p:blipFill>
        <p:spPr>
          <a:xfrm>
            <a:off x="4931228" y="3272281"/>
            <a:ext cx="982436" cy="361950"/>
          </a:xfrm>
          <a:prstGeom prst="rect">
            <a:avLst/>
          </a:prstGeom>
        </p:spPr>
      </p:pic>
      <p:pic>
        <p:nvPicPr>
          <p:cNvPr id="93" name="Picture 92" descr="1_046_605E5C.png"/>
          <p:cNvPicPr>
            <a:picLocks noChangeAspect="1"/>
          </p:cNvPicPr>
          <p:nvPr/>
        </p:nvPicPr>
        <p:blipFill>
          <a:blip r:embed="rId13"/>
          <a:stretch>
            <a:fillRect/>
          </a:stretch>
        </p:blipFill>
        <p:spPr>
          <a:xfrm>
            <a:off x="6269661" y="2286582"/>
            <a:ext cx="1195728" cy="361950"/>
          </a:xfrm>
          <a:prstGeom prst="rect">
            <a:avLst/>
          </a:prstGeom>
        </p:spPr>
      </p:pic>
      <p:pic>
        <p:nvPicPr>
          <p:cNvPr id="94" name="Picture 93" descr="1_854_605E5C.png"/>
          <p:cNvPicPr>
            <a:picLocks noChangeAspect="1"/>
          </p:cNvPicPr>
          <p:nvPr/>
        </p:nvPicPr>
        <p:blipFill>
          <a:blip r:embed="rId14"/>
          <a:stretch>
            <a:fillRect/>
          </a:stretch>
        </p:blipFill>
        <p:spPr>
          <a:xfrm>
            <a:off x="6269661" y="2779432"/>
            <a:ext cx="1195728" cy="361950"/>
          </a:xfrm>
          <a:prstGeom prst="rect">
            <a:avLst/>
          </a:prstGeom>
        </p:spPr>
      </p:pic>
      <p:pic>
        <p:nvPicPr>
          <p:cNvPr id="95" name="Picture 94" descr="5_9__605E5C.png"/>
          <p:cNvPicPr>
            <a:picLocks noChangeAspect="1"/>
          </p:cNvPicPr>
          <p:nvPr/>
        </p:nvPicPr>
        <p:blipFill>
          <a:blip r:embed="rId15"/>
          <a:stretch>
            <a:fillRect/>
          </a:stretch>
        </p:blipFill>
        <p:spPr>
          <a:xfrm>
            <a:off x="6376307" y="3272281"/>
            <a:ext cx="982436" cy="361950"/>
          </a:xfrm>
          <a:prstGeom prst="rect">
            <a:avLst/>
          </a:prstGeom>
        </p:spPr>
      </p:pic>
      <p:pic>
        <p:nvPicPr>
          <p:cNvPr id="96" name="Picture 95" descr="915_6_605E5C.png"/>
          <p:cNvPicPr>
            <a:picLocks noChangeAspect="1"/>
          </p:cNvPicPr>
          <p:nvPr/>
        </p:nvPicPr>
        <p:blipFill>
          <a:blip r:embed="rId16"/>
          <a:stretch>
            <a:fillRect/>
          </a:stretch>
        </p:blipFill>
        <p:spPr>
          <a:xfrm>
            <a:off x="7714739" y="2286582"/>
            <a:ext cx="1195728" cy="361950"/>
          </a:xfrm>
          <a:prstGeom prst="rect">
            <a:avLst/>
          </a:prstGeom>
        </p:spPr>
      </p:pic>
      <p:pic>
        <p:nvPicPr>
          <p:cNvPr id="97" name="Picture 96" descr="1_480_605E5C.png"/>
          <p:cNvPicPr>
            <a:picLocks noChangeAspect="1"/>
          </p:cNvPicPr>
          <p:nvPr/>
        </p:nvPicPr>
        <p:blipFill>
          <a:blip r:embed="rId17"/>
          <a:stretch>
            <a:fillRect/>
          </a:stretch>
        </p:blipFill>
        <p:spPr>
          <a:xfrm>
            <a:off x="7714739" y="2779432"/>
            <a:ext cx="1195728" cy="361950"/>
          </a:xfrm>
          <a:prstGeom prst="rect">
            <a:avLst/>
          </a:prstGeom>
        </p:spPr>
      </p:pic>
      <p:pic>
        <p:nvPicPr>
          <p:cNvPr id="98" name="Picture 97" descr="4_9__605E5C.png"/>
          <p:cNvPicPr>
            <a:picLocks noChangeAspect="1"/>
          </p:cNvPicPr>
          <p:nvPr/>
        </p:nvPicPr>
        <p:blipFill>
          <a:blip r:embed="rId18"/>
          <a:stretch>
            <a:fillRect/>
          </a:stretch>
        </p:blipFill>
        <p:spPr>
          <a:xfrm>
            <a:off x="7821385" y="3272281"/>
            <a:ext cx="982436" cy="361950"/>
          </a:xfrm>
          <a:prstGeom prst="rect">
            <a:avLst/>
          </a:prstGeom>
        </p:spPr>
      </p:pic>
      <p:pic>
        <p:nvPicPr>
          <p:cNvPr id="99" name="Picture 98" descr="803_7_605E5C.png"/>
          <p:cNvPicPr>
            <a:picLocks noChangeAspect="1"/>
          </p:cNvPicPr>
          <p:nvPr/>
        </p:nvPicPr>
        <p:blipFill>
          <a:blip r:embed="rId19"/>
          <a:stretch>
            <a:fillRect/>
          </a:stretch>
        </p:blipFill>
        <p:spPr>
          <a:xfrm>
            <a:off x="9159818" y="2286582"/>
            <a:ext cx="1195728" cy="361950"/>
          </a:xfrm>
          <a:prstGeom prst="rect">
            <a:avLst/>
          </a:prstGeom>
        </p:spPr>
      </p:pic>
      <p:pic>
        <p:nvPicPr>
          <p:cNvPr id="100" name="Picture 99" descr="1_400_605E5C.png"/>
          <p:cNvPicPr>
            <a:picLocks noChangeAspect="1"/>
          </p:cNvPicPr>
          <p:nvPr/>
        </p:nvPicPr>
        <p:blipFill>
          <a:blip r:embed="rId20"/>
          <a:stretch>
            <a:fillRect/>
          </a:stretch>
        </p:blipFill>
        <p:spPr>
          <a:xfrm>
            <a:off x="9159818" y="2779432"/>
            <a:ext cx="1195728" cy="361950"/>
          </a:xfrm>
          <a:prstGeom prst="rect">
            <a:avLst/>
          </a:prstGeom>
        </p:spPr>
      </p:pic>
      <p:pic>
        <p:nvPicPr>
          <p:cNvPr id="101" name="Picture 100" descr="5_7__605E5C.png"/>
          <p:cNvPicPr>
            <a:picLocks noChangeAspect="1"/>
          </p:cNvPicPr>
          <p:nvPr/>
        </p:nvPicPr>
        <p:blipFill>
          <a:blip r:embed="rId21"/>
          <a:stretch>
            <a:fillRect/>
          </a:stretch>
        </p:blipFill>
        <p:spPr>
          <a:xfrm>
            <a:off x="9266464" y="3272281"/>
            <a:ext cx="982436" cy="361950"/>
          </a:xfrm>
          <a:prstGeom prst="rect">
            <a:avLst/>
          </a:prstGeom>
        </p:spPr>
      </p:pic>
      <p:pic>
        <p:nvPicPr>
          <p:cNvPr id="102" name="Picture 101" descr="547_7_605E5C.png"/>
          <p:cNvPicPr>
            <a:picLocks noChangeAspect="1"/>
          </p:cNvPicPr>
          <p:nvPr/>
        </p:nvPicPr>
        <p:blipFill>
          <a:blip r:embed="rId22"/>
          <a:stretch>
            <a:fillRect/>
          </a:stretch>
        </p:blipFill>
        <p:spPr>
          <a:xfrm>
            <a:off x="10604896" y="2286582"/>
            <a:ext cx="1195728" cy="361950"/>
          </a:xfrm>
          <a:prstGeom prst="rect">
            <a:avLst/>
          </a:prstGeom>
        </p:spPr>
      </p:pic>
      <p:pic>
        <p:nvPicPr>
          <p:cNvPr id="103" name="Picture 102" descr="943_6_605E5C.png"/>
          <p:cNvPicPr>
            <a:picLocks noChangeAspect="1"/>
          </p:cNvPicPr>
          <p:nvPr/>
        </p:nvPicPr>
        <p:blipFill>
          <a:blip r:embed="rId23"/>
          <a:stretch>
            <a:fillRect/>
          </a:stretch>
        </p:blipFill>
        <p:spPr>
          <a:xfrm>
            <a:off x="10604896" y="2779432"/>
            <a:ext cx="1195728" cy="361950"/>
          </a:xfrm>
          <a:prstGeom prst="rect">
            <a:avLst/>
          </a:prstGeom>
        </p:spPr>
      </p:pic>
      <p:pic>
        <p:nvPicPr>
          <p:cNvPr id="104" name="Picture 103" descr="5_6__605E5C.png"/>
          <p:cNvPicPr>
            <a:picLocks noChangeAspect="1"/>
          </p:cNvPicPr>
          <p:nvPr/>
        </p:nvPicPr>
        <p:blipFill>
          <a:blip r:embed="rId24"/>
          <a:stretch>
            <a:fillRect/>
          </a:stretch>
        </p:blipFill>
        <p:spPr>
          <a:xfrm>
            <a:off x="10711542" y="3272281"/>
            <a:ext cx="982436" cy="361950"/>
          </a:xfrm>
          <a:prstGeom prst="rect">
            <a:avLst/>
          </a:prstGeom>
        </p:spPr>
      </p:pic>
      <p:pic>
        <p:nvPicPr>
          <p:cNvPr id="105" name="Picture 104" descr="lock.png"/>
          <p:cNvPicPr>
            <a:picLocks noChangeAspect="1"/>
          </p:cNvPicPr>
          <p:nvPr/>
        </p:nvPicPr>
        <p:blipFill>
          <a:blip r:embed="rId25"/>
          <a:stretch>
            <a:fillRect/>
          </a:stretch>
        </p:blipFill>
        <p:spPr>
          <a:xfrm>
            <a:off x="2438944" y="2827057"/>
            <a:ext cx="183356" cy="266700"/>
          </a:xfrm>
          <a:prstGeom prst="rect">
            <a:avLst/>
          </a:prstGeom>
        </p:spPr>
      </p:pic>
      <p:pic>
        <p:nvPicPr>
          <p:cNvPr id="106" name="Picture 105" descr="lock.png"/>
          <p:cNvPicPr>
            <a:picLocks noChangeAspect="1"/>
          </p:cNvPicPr>
          <p:nvPr/>
        </p:nvPicPr>
        <p:blipFill>
          <a:blip r:embed="rId25"/>
          <a:stretch>
            <a:fillRect/>
          </a:stretch>
        </p:blipFill>
        <p:spPr>
          <a:xfrm>
            <a:off x="3884023" y="2827057"/>
            <a:ext cx="183356" cy="266700"/>
          </a:xfrm>
          <a:prstGeom prst="rect">
            <a:avLst/>
          </a:prstGeom>
        </p:spPr>
      </p:pic>
      <p:pic>
        <p:nvPicPr>
          <p:cNvPr id="107" name="Picture 106" descr="lock.png"/>
          <p:cNvPicPr>
            <a:picLocks noChangeAspect="1"/>
          </p:cNvPicPr>
          <p:nvPr/>
        </p:nvPicPr>
        <p:blipFill>
          <a:blip r:embed="rId25"/>
          <a:stretch>
            <a:fillRect/>
          </a:stretch>
        </p:blipFill>
        <p:spPr>
          <a:xfrm>
            <a:off x="5329101" y="2827057"/>
            <a:ext cx="183356" cy="266700"/>
          </a:xfrm>
          <a:prstGeom prst="rect">
            <a:avLst/>
          </a:prstGeom>
        </p:spPr>
      </p:pic>
      <p:pic>
        <p:nvPicPr>
          <p:cNvPr id="108" name="Picture 107" descr="lock.png"/>
          <p:cNvPicPr>
            <a:picLocks noChangeAspect="1"/>
          </p:cNvPicPr>
          <p:nvPr/>
        </p:nvPicPr>
        <p:blipFill>
          <a:blip r:embed="rId25"/>
          <a:stretch>
            <a:fillRect/>
          </a:stretch>
        </p:blipFill>
        <p:spPr>
          <a:xfrm>
            <a:off x="6774180" y="2827057"/>
            <a:ext cx="183356" cy="266700"/>
          </a:xfrm>
          <a:prstGeom prst="rect">
            <a:avLst/>
          </a:prstGeom>
        </p:spPr>
      </p:pic>
      <p:pic>
        <p:nvPicPr>
          <p:cNvPr id="109" name="Picture 108" descr="lock.png"/>
          <p:cNvPicPr>
            <a:picLocks noChangeAspect="1"/>
          </p:cNvPicPr>
          <p:nvPr/>
        </p:nvPicPr>
        <p:blipFill>
          <a:blip r:embed="rId25"/>
          <a:stretch>
            <a:fillRect/>
          </a:stretch>
        </p:blipFill>
        <p:spPr>
          <a:xfrm>
            <a:off x="8219258" y="2827057"/>
            <a:ext cx="183356" cy="266700"/>
          </a:xfrm>
          <a:prstGeom prst="rect">
            <a:avLst/>
          </a:prstGeom>
        </p:spPr>
      </p:pic>
      <p:pic>
        <p:nvPicPr>
          <p:cNvPr id="110" name="Picture 109" descr="lock.png"/>
          <p:cNvPicPr>
            <a:picLocks noChangeAspect="1"/>
          </p:cNvPicPr>
          <p:nvPr/>
        </p:nvPicPr>
        <p:blipFill>
          <a:blip r:embed="rId25"/>
          <a:stretch>
            <a:fillRect/>
          </a:stretch>
        </p:blipFill>
        <p:spPr>
          <a:xfrm>
            <a:off x="9664337" y="2827057"/>
            <a:ext cx="183356" cy="266700"/>
          </a:xfrm>
          <a:prstGeom prst="rect">
            <a:avLst/>
          </a:prstGeom>
        </p:spPr>
      </p:pic>
      <p:pic>
        <p:nvPicPr>
          <p:cNvPr id="111" name="Picture 110" descr="lock.png"/>
          <p:cNvPicPr>
            <a:picLocks noChangeAspect="1"/>
          </p:cNvPicPr>
          <p:nvPr/>
        </p:nvPicPr>
        <p:blipFill>
          <a:blip r:embed="rId25"/>
          <a:stretch>
            <a:fillRect/>
          </a:stretch>
        </p:blipFill>
        <p:spPr>
          <a:xfrm>
            <a:off x="11109415" y="2827057"/>
            <a:ext cx="183356" cy="266700"/>
          </a:xfrm>
          <a:prstGeom prst="rect">
            <a:avLst/>
          </a:prstGeom>
        </p:spPr>
      </p:pic>
      <p:sp>
        <p:nvSpPr>
          <p:cNvPr id="112" name="TextBox 111"/>
          <p:cNvSpPr txBox="1"/>
          <p:nvPr/>
        </p:nvSpPr>
        <p:spPr>
          <a:xfrm>
            <a:off x="485775" y="4229437"/>
            <a:ext cx="2647553" cy="186689"/>
          </a:xfrm>
          <a:prstGeom prst="rect">
            <a:avLst/>
          </a:prstGeom>
          <a:noFill/>
        </p:spPr>
        <p:txBody>
          <a:bodyPr wrap="none" lIns="0" rIns="0" tIns="0" bIns="0">
            <a:spAutoFit/>
          </a:bodyPr>
          <a:lstStyle/>
          <a:p>
            <a:r>
              <a:rPr sz="1100" b="0">
                <a:solidFill>
                  <a:srgbClr val="2E2E2E"/>
                </a:solidFill>
                <a:latin typeface="Calibri"/>
              </a:rPr>
              <a:t>North America waterproof coatings market is</a:t>
            </a:r>
          </a:p>
        </p:txBody>
      </p:sp>
      <p:sp>
        <p:nvSpPr>
          <p:cNvPr id="113" name="TextBox 112"/>
          <p:cNvSpPr txBox="1"/>
          <p:nvPr/>
        </p:nvSpPr>
        <p:spPr>
          <a:xfrm>
            <a:off x="485775" y="4397077"/>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114" name="Picture 113" descr="lock.png"/>
          <p:cNvPicPr>
            <a:picLocks noChangeAspect="1"/>
          </p:cNvPicPr>
          <p:nvPr/>
        </p:nvPicPr>
        <p:blipFill>
          <a:blip r:embed="rId25"/>
          <a:stretch>
            <a:fillRect/>
          </a:stretch>
        </p:blipFill>
        <p:spPr>
          <a:xfrm>
            <a:off x="1678376" y="4387298"/>
            <a:ext cx="128699" cy="187198"/>
          </a:xfrm>
          <a:prstGeom prst="rect">
            <a:avLst/>
          </a:prstGeom>
        </p:spPr>
      </p:pic>
      <p:sp>
        <p:nvSpPr>
          <p:cNvPr id="115" name="TextBox 114"/>
          <p:cNvSpPr txBox="1"/>
          <p:nvPr/>
        </p:nvSpPr>
        <p:spPr>
          <a:xfrm>
            <a:off x="1845872" y="4397077"/>
            <a:ext cx="1535683" cy="186689"/>
          </a:xfrm>
          <a:prstGeom prst="rect">
            <a:avLst/>
          </a:prstGeom>
          <a:noFill/>
        </p:spPr>
        <p:txBody>
          <a:bodyPr wrap="none" lIns="0" rIns="0" tIns="0" bIns="0">
            <a:spAutoFit/>
          </a:bodyPr>
          <a:lstStyle/>
          <a:p>
            <a:r>
              <a:rPr sz="1100" b="0">
                <a:solidFill>
                  <a:srgbClr val="2E2E2E"/>
                </a:solidFill>
                <a:latin typeface="Calibri"/>
              </a:rPr>
              <a:t>X higher value than South</a:t>
            </a:r>
          </a:p>
        </p:txBody>
      </p:sp>
      <p:sp>
        <p:nvSpPr>
          <p:cNvPr id="116" name="TextBox 115"/>
          <p:cNvSpPr txBox="1"/>
          <p:nvPr/>
        </p:nvSpPr>
        <p:spPr>
          <a:xfrm>
            <a:off x="485775" y="4564717"/>
            <a:ext cx="2914650" cy="186689"/>
          </a:xfrm>
          <a:prstGeom prst="rect">
            <a:avLst/>
          </a:prstGeom>
          <a:noFill/>
        </p:spPr>
        <p:txBody>
          <a:bodyPr wrap="none" lIns="0" rIns="0" tIns="0" bIns="0">
            <a:spAutoFit/>
          </a:bodyPr>
          <a:lstStyle/>
          <a:p>
            <a:r>
              <a:rPr sz="1100" b="0">
                <a:solidFill>
                  <a:srgbClr val="2E2E2E"/>
                </a:solidFill>
                <a:latin typeface="Calibri"/>
              </a:rPr>
              <a:t>Asia &amp; Pacific in 2036. Among waterproof coatings</a:t>
            </a:r>
          </a:p>
        </p:txBody>
      </p:sp>
      <p:sp>
        <p:nvSpPr>
          <p:cNvPr id="117" name="TextBox 116"/>
          <p:cNvSpPr txBox="1"/>
          <p:nvPr/>
        </p:nvSpPr>
        <p:spPr>
          <a:xfrm>
            <a:off x="485775" y="4732357"/>
            <a:ext cx="2619722" cy="186689"/>
          </a:xfrm>
          <a:prstGeom prst="rect">
            <a:avLst/>
          </a:prstGeom>
          <a:noFill/>
        </p:spPr>
        <p:txBody>
          <a:bodyPr wrap="none" lIns="0" rIns="0" tIns="0" bIns="0">
            <a:spAutoFit/>
          </a:bodyPr>
          <a:lstStyle/>
          <a:p>
            <a:r>
              <a:rPr sz="1100" b="0">
                <a:solidFill>
                  <a:srgbClr val="2E2E2E"/>
                </a:solidFill>
                <a:latin typeface="Calibri"/>
              </a:rPr>
              <a:t>by region, South Asia &amp; Pacific is expected to</a:t>
            </a:r>
          </a:p>
        </p:txBody>
      </p:sp>
      <p:sp>
        <p:nvSpPr>
          <p:cNvPr id="118" name="TextBox 117"/>
          <p:cNvSpPr txBox="1"/>
          <p:nvPr/>
        </p:nvSpPr>
        <p:spPr>
          <a:xfrm>
            <a:off x="485775" y="489999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119" name="Picture 118" descr="lock.png"/>
          <p:cNvPicPr>
            <a:picLocks noChangeAspect="1"/>
          </p:cNvPicPr>
          <p:nvPr/>
        </p:nvPicPr>
        <p:blipFill>
          <a:blip r:embed="rId25"/>
          <a:stretch>
            <a:fillRect/>
          </a:stretch>
        </p:blipFill>
        <p:spPr>
          <a:xfrm>
            <a:off x="2108919" y="4890217"/>
            <a:ext cx="128699" cy="187198"/>
          </a:xfrm>
          <a:prstGeom prst="rect">
            <a:avLst/>
          </a:prstGeom>
        </p:spPr>
      </p:pic>
      <p:sp>
        <p:nvSpPr>
          <p:cNvPr id="120" name="TextBox 119"/>
          <p:cNvSpPr txBox="1"/>
          <p:nvPr/>
        </p:nvSpPr>
        <p:spPr>
          <a:xfrm>
            <a:off x="2276415" y="489999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121" name="TextBox 120"/>
          <p:cNvSpPr txBox="1"/>
          <p:nvPr/>
        </p:nvSpPr>
        <p:spPr>
          <a:xfrm>
            <a:off x="485775" y="5067637"/>
            <a:ext cx="482475" cy="186689"/>
          </a:xfrm>
          <a:prstGeom prst="rect">
            <a:avLst/>
          </a:prstGeom>
          <a:noFill/>
        </p:spPr>
        <p:txBody>
          <a:bodyPr wrap="none" lIns="0" rIns="0" tIns="0" bIns="0">
            <a:spAutoFit/>
          </a:bodyPr>
          <a:lstStyle/>
          <a:p>
            <a:r>
              <a:rPr sz="1100" b="0">
                <a:solidFill>
                  <a:srgbClr val="2E2E2E"/>
                </a:solidFill>
                <a:latin typeface="Calibri"/>
              </a:rPr>
              <a:t>period.</a:t>
            </a:r>
          </a:p>
        </p:txBody>
      </p:sp>
      <p:sp>
        <p:nvSpPr>
          <p:cNvPr id="122" name="TextBox 121"/>
          <p:cNvSpPr txBox="1"/>
          <p:nvPr/>
        </p:nvSpPr>
        <p:spPr>
          <a:xfrm>
            <a:off x="485775" y="5285569"/>
            <a:ext cx="2914650" cy="186689"/>
          </a:xfrm>
          <a:prstGeom prst="rect">
            <a:avLst/>
          </a:prstGeom>
          <a:noFill/>
        </p:spPr>
        <p:txBody>
          <a:bodyPr wrap="none" lIns="0" rIns="0" tIns="0" bIns="0">
            <a:spAutoFit/>
          </a:bodyPr>
          <a:lstStyle/>
          <a:p>
            <a:r>
              <a:rPr sz="1100" b="0">
                <a:solidFill>
                  <a:srgbClr val="2E2E2E"/>
                </a:solidFill>
                <a:latin typeface="Calibri"/>
              </a:rPr>
              <a:t>In terms of value share by region, North America is</a:t>
            </a:r>
          </a:p>
        </p:txBody>
      </p:sp>
      <p:sp>
        <p:nvSpPr>
          <p:cNvPr id="123" name="TextBox 122"/>
          <p:cNvSpPr txBox="1"/>
          <p:nvPr/>
        </p:nvSpPr>
        <p:spPr>
          <a:xfrm>
            <a:off x="485775" y="5453209"/>
            <a:ext cx="2388889" cy="186689"/>
          </a:xfrm>
          <a:prstGeom prst="rect">
            <a:avLst/>
          </a:prstGeom>
          <a:noFill/>
        </p:spPr>
        <p:txBody>
          <a:bodyPr wrap="none" lIns="0" rIns="0" tIns="0" bIns="0">
            <a:spAutoFit/>
          </a:bodyPr>
          <a:lstStyle/>
          <a:p>
            <a:r>
              <a:rPr sz="1100" b="0">
                <a:solidFill>
                  <a:srgbClr val="2E2E2E"/>
                </a:solidFill>
                <a:latin typeface="Calibri"/>
              </a:rPr>
              <a:t>expected to dominate the market, losing</a:t>
            </a:r>
          </a:p>
        </p:txBody>
      </p:sp>
      <p:pic>
        <p:nvPicPr>
          <p:cNvPr id="124" name="Picture 123" descr="lock.png"/>
          <p:cNvPicPr>
            <a:picLocks noChangeAspect="1"/>
          </p:cNvPicPr>
          <p:nvPr/>
        </p:nvPicPr>
        <p:blipFill>
          <a:blip r:embed="rId25"/>
          <a:stretch>
            <a:fillRect/>
          </a:stretch>
        </p:blipFill>
        <p:spPr>
          <a:xfrm>
            <a:off x="2822716" y="5443430"/>
            <a:ext cx="128699" cy="187198"/>
          </a:xfrm>
          <a:prstGeom prst="rect">
            <a:avLst/>
          </a:prstGeom>
        </p:spPr>
      </p:pic>
      <p:sp>
        <p:nvSpPr>
          <p:cNvPr id="125" name="TextBox 124"/>
          <p:cNvSpPr txBox="1"/>
          <p:nvPr/>
        </p:nvSpPr>
        <p:spPr>
          <a:xfrm>
            <a:off x="2990212" y="5453209"/>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26" name="TextBox 125"/>
          <p:cNvSpPr txBox="1"/>
          <p:nvPr/>
        </p:nvSpPr>
        <p:spPr>
          <a:xfrm>
            <a:off x="485775" y="5620849"/>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127" name="Picture 126" descr="lock.png"/>
          <p:cNvPicPr>
            <a:picLocks noChangeAspect="1"/>
          </p:cNvPicPr>
          <p:nvPr/>
        </p:nvPicPr>
        <p:blipFill>
          <a:blip r:embed="rId25"/>
          <a:stretch>
            <a:fillRect/>
          </a:stretch>
        </p:blipFill>
        <p:spPr>
          <a:xfrm>
            <a:off x="1576057" y="5611070"/>
            <a:ext cx="128699" cy="187198"/>
          </a:xfrm>
          <a:prstGeom prst="rect">
            <a:avLst/>
          </a:prstGeom>
        </p:spPr>
      </p:pic>
      <p:sp>
        <p:nvSpPr>
          <p:cNvPr id="128" name="TextBox 127"/>
          <p:cNvSpPr txBox="1"/>
          <p:nvPr/>
        </p:nvSpPr>
        <p:spPr>
          <a:xfrm>
            <a:off x="1743553" y="5620849"/>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29" name="TextBox 128"/>
          <p:cNvSpPr txBox="1"/>
          <p:nvPr/>
        </p:nvSpPr>
        <p:spPr>
          <a:xfrm>
            <a:off x="3838575" y="4229437"/>
            <a:ext cx="1063376" cy="186689"/>
          </a:xfrm>
          <a:prstGeom prst="rect">
            <a:avLst/>
          </a:prstGeom>
          <a:noFill/>
        </p:spPr>
        <p:txBody>
          <a:bodyPr wrap="none" lIns="0" rIns="0" tIns="0" bIns="0">
            <a:spAutoFit/>
          </a:bodyPr>
          <a:lstStyle/>
          <a:p>
            <a:r>
              <a:rPr sz="1100" b="0">
                <a:solidFill>
                  <a:srgbClr val="2E2E2E"/>
                </a:solidFill>
                <a:latin typeface="Calibri"/>
              </a:rPr>
              <a:t>● North America:</a:t>
            </a:r>
          </a:p>
        </p:txBody>
      </p:sp>
      <p:pic>
        <p:nvPicPr>
          <p:cNvPr id="130" name="Picture 129" descr="lock.png"/>
          <p:cNvPicPr>
            <a:picLocks noChangeAspect="1"/>
          </p:cNvPicPr>
          <p:nvPr/>
        </p:nvPicPr>
        <p:blipFill>
          <a:blip r:embed="rId25"/>
          <a:stretch>
            <a:fillRect/>
          </a:stretch>
        </p:blipFill>
        <p:spPr>
          <a:xfrm>
            <a:off x="4850003" y="4219658"/>
            <a:ext cx="128699" cy="187198"/>
          </a:xfrm>
          <a:prstGeom prst="rect">
            <a:avLst/>
          </a:prstGeom>
        </p:spPr>
      </p:pic>
      <p:sp>
        <p:nvSpPr>
          <p:cNvPr id="131" name="TextBox 130"/>
          <p:cNvSpPr txBox="1"/>
          <p:nvPr/>
        </p:nvSpPr>
        <p:spPr>
          <a:xfrm>
            <a:off x="501749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2" name="Picture 131" descr="lock.png"/>
          <p:cNvPicPr>
            <a:picLocks noChangeAspect="1"/>
          </p:cNvPicPr>
          <p:nvPr/>
        </p:nvPicPr>
        <p:blipFill>
          <a:blip r:embed="rId25"/>
          <a:stretch>
            <a:fillRect/>
          </a:stretch>
        </p:blipFill>
        <p:spPr>
          <a:xfrm>
            <a:off x="5876949" y="4219658"/>
            <a:ext cx="128699" cy="187198"/>
          </a:xfrm>
          <a:prstGeom prst="rect">
            <a:avLst/>
          </a:prstGeom>
        </p:spPr>
      </p:pic>
      <p:sp>
        <p:nvSpPr>
          <p:cNvPr id="133" name="TextBox 132"/>
          <p:cNvSpPr txBox="1"/>
          <p:nvPr/>
        </p:nvSpPr>
        <p:spPr>
          <a:xfrm>
            <a:off x="6044445" y="4229437"/>
            <a:ext cx="1419431" cy="186689"/>
          </a:xfrm>
          <a:prstGeom prst="rect">
            <a:avLst/>
          </a:prstGeom>
          <a:noFill/>
        </p:spPr>
        <p:txBody>
          <a:bodyPr wrap="none" lIns="0" rIns="0" tIns="0" bIns="0">
            <a:spAutoFit/>
          </a:bodyPr>
          <a:lstStyle/>
          <a:p>
            <a:r>
              <a:rPr sz="1100" b="0">
                <a:solidFill>
                  <a:srgbClr val="2E2E2E"/>
                </a:solidFill>
                <a:latin typeface="Calibri"/>
              </a:rPr>
              <a:t>CAGR leads the market.</a:t>
            </a:r>
          </a:p>
        </p:txBody>
      </p:sp>
      <p:sp>
        <p:nvSpPr>
          <p:cNvPr id="134" name="TextBox 133"/>
          <p:cNvSpPr txBox="1"/>
          <p:nvPr/>
        </p:nvSpPr>
        <p:spPr>
          <a:xfrm>
            <a:off x="3838575" y="4447369"/>
            <a:ext cx="732101" cy="186689"/>
          </a:xfrm>
          <a:prstGeom prst="rect">
            <a:avLst/>
          </a:prstGeom>
          <a:noFill/>
        </p:spPr>
        <p:txBody>
          <a:bodyPr wrap="none" lIns="0" rIns="0" tIns="0" bIns="0">
            <a:spAutoFit/>
          </a:bodyPr>
          <a:lstStyle/>
          <a:p>
            <a:r>
              <a:rPr sz="1100" b="0">
                <a:solidFill>
                  <a:srgbClr val="2E2E2E"/>
                </a:solidFill>
                <a:latin typeface="Calibri"/>
              </a:rPr>
              <a:t>● East Asia:</a:t>
            </a:r>
          </a:p>
        </p:txBody>
      </p:sp>
      <p:pic>
        <p:nvPicPr>
          <p:cNvPr id="135" name="Picture 134" descr="lock.png"/>
          <p:cNvPicPr>
            <a:picLocks noChangeAspect="1"/>
          </p:cNvPicPr>
          <p:nvPr/>
        </p:nvPicPr>
        <p:blipFill>
          <a:blip r:embed="rId25"/>
          <a:stretch>
            <a:fillRect/>
          </a:stretch>
        </p:blipFill>
        <p:spPr>
          <a:xfrm>
            <a:off x="4518727" y="4437590"/>
            <a:ext cx="128699" cy="187198"/>
          </a:xfrm>
          <a:prstGeom prst="rect">
            <a:avLst/>
          </a:prstGeom>
        </p:spPr>
      </p:pic>
      <p:sp>
        <p:nvSpPr>
          <p:cNvPr id="136" name="TextBox 135"/>
          <p:cNvSpPr txBox="1"/>
          <p:nvPr/>
        </p:nvSpPr>
        <p:spPr>
          <a:xfrm>
            <a:off x="4686223"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7" name="Picture 136" descr="lock.png"/>
          <p:cNvPicPr>
            <a:picLocks noChangeAspect="1"/>
          </p:cNvPicPr>
          <p:nvPr/>
        </p:nvPicPr>
        <p:blipFill>
          <a:blip r:embed="rId25"/>
          <a:stretch>
            <a:fillRect/>
          </a:stretch>
        </p:blipFill>
        <p:spPr>
          <a:xfrm>
            <a:off x="5545673" y="4437590"/>
            <a:ext cx="128699" cy="187198"/>
          </a:xfrm>
          <a:prstGeom prst="rect">
            <a:avLst/>
          </a:prstGeom>
        </p:spPr>
      </p:pic>
      <p:sp>
        <p:nvSpPr>
          <p:cNvPr id="138" name="TextBox 137"/>
          <p:cNvSpPr txBox="1"/>
          <p:nvPr/>
        </p:nvSpPr>
        <p:spPr>
          <a:xfrm>
            <a:off x="5713169" y="4447369"/>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39" name="TextBox 138"/>
          <p:cNvSpPr txBox="1"/>
          <p:nvPr/>
        </p:nvSpPr>
        <p:spPr>
          <a:xfrm>
            <a:off x="3838575" y="4665301"/>
            <a:ext cx="1350143" cy="186689"/>
          </a:xfrm>
          <a:prstGeom prst="rect">
            <a:avLst/>
          </a:prstGeom>
          <a:noFill/>
        </p:spPr>
        <p:txBody>
          <a:bodyPr wrap="none" lIns="0" rIns="0" tIns="0" bIns="0">
            <a:spAutoFit/>
          </a:bodyPr>
          <a:lstStyle/>
          <a:p>
            <a:r>
              <a:rPr sz="1100" b="0">
                <a:solidFill>
                  <a:srgbClr val="2E2E2E"/>
                </a:solidFill>
                <a:latin typeface="Calibri"/>
              </a:rPr>
              <a:t>● South Asia &amp; Pacific:</a:t>
            </a:r>
          </a:p>
        </p:txBody>
      </p:sp>
      <p:pic>
        <p:nvPicPr>
          <p:cNvPr id="140" name="Picture 139" descr="lock.png"/>
          <p:cNvPicPr>
            <a:picLocks noChangeAspect="1"/>
          </p:cNvPicPr>
          <p:nvPr/>
        </p:nvPicPr>
        <p:blipFill>
          <a:blip r:embed="rId25"/>
          <a:stretch>
            <a:fillRect/>
          </a:stretch>
        </p:blipFill>
        <p:spPr>
          <a:xfrm>
            <a:off x="5136770" y="4655522"/>
            <a:ext cx="128699" cy="187198"/>
          </a:xfrm>
          <a:prstGeom prst="rect">
            <a:avLst/>
          </a:prstGeom>
        </p:spPr>
      </p:pic>
      <p:sp>
        <p:nvSpPr>
          <p:cNvPr id="141" name="TextBox 140"/>
          <p:cNvSpPr txBox="1"/>
          <p:nvPr/>
        </p:nvSpPr>
        <p:spPr>
          <a:xfrm>
            <a:off x="5304266"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2" name="Picture 141" descr="lock.png"/>
          <p:cNvPicPr>
            <a:picLocks noChangeAspect="1"/>
          </p:cNvPicPr>
          <p:nvPr/>
        </p:nvPicPr>
        <p:blipFill>
          <a:blip r:embed="rId25"/>
          <a:stretch>
            <a:fillRect/>
          </a:stretch>
        </p:blipFill>
        <p:spPr>
          <a:xfrm>
            <a:off x="6163716" y="4655522"/>
            <a:ext cx="128699" cy="187198"/>
          </a:xfrm>
          <a:prstGeom prst="rect">
            <a:avLst/>
          </a:prstGeom>
        </p:spPr>
      </p:pic>
      <p:sp>
        <p:nvSpPr>
          <p:cNvPr id="143" name="TextBox 142"/>
          <p:cNvSpPr txBox="1"/>
          <p:nvPr/>
        </p:nvSpPr>
        <p:spPr>
          <a:xfrm>
            <a:off x="6331212" y="466530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44" name="TextBox 143"/>
          <p:cNvSpPr txBox="1"/>
          <p:nvPr/>
        </p:nvSpPr>
        <p:spPr>
          <a:xfrm>
            <a:off x="3838575" y="4883233"/>
            <a:ext cx="1008260" cy="186689"/>
          </a:xfrm>
          <a:prstGeom prst="rect">
            <a:avLst/>
          </a:prstGeom>
          <a:noFill/>
        </p:spPr>
        <p:txBody>
          <a:bodyPr wrap="none" lIns="0" rIns="0" tIns="0" bIns="0">
            <a:spAutoFit/>
          </a:bodyPr>
          <a:lstStyle/>
          <a:p>
            <a:r>
              <a:rPr sz="1100" b="0">
                <a:solidFill>
                  <a:srgbClr val="2E2E2E"/>
                </a:solidFill>
                <a:latin typeface="Calibri"/>
              </a:rPr>
              <a:t>● Latin America:</a:t>
            </a:r>
          </a:p>
        </p:txBody>
      </p:sp>
      <p:pic>
        <p:nvPicPr>
          <p:cNvPr id="145" name="Picture 144" descr="lock.png"/>
          <p:cNvPicPr>
            <a:picLocks noChangeAspect="1"/>
          </p:cNvPicPr>
          <p:nvPr/>
        </p:nvPicPr>
        <p:blipFill>
          <a:blip r:embed="rId25"/>
          <a:stretch>
            <a:fillRect/>
          </a:stretch>
        </p:blipFill>
        <p:spPr>
          <a:xfrm>
            <a:off x="4794887" y="4873454"/>
            <a:ext cx="128699" cy="187198"/>
          </a:xfrm>
          <a:prstGeom prst="rect">
            <a:avLst/>
          </a:prstGeom>
        </p:spPr>
      </p:pic>
      <p:sp>
        <p:nvSpPr>
          <p:cNvPr id="146" name="TextBox 145"/>
          <p:cNvSpPr txBox="1"/>
          <p:nvPr/>
        </p:nvSpPr>
        <p:spPr>
          <a:xfrm>
            <a:off x="4962383"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7" name="Picture 146" descr="lock.png"/>
          <p:cNvPicPr>
            <a:picLocks noChangeAspect="1"/>
          </p:cNvPicPr>
          <p:nvPr/>
        </p:nvPicPr>
        <p:blipFill>
          <a:blip r:embed="rId25"/>
          <a:stretch>
            <a:fillRect/>
          </a:stretch>
        </p:blipFill>
        <p:spPr>
          <a:xfrm>
            <a:off x="5821833" y="4873454"/>
            <a:ext cx="128699" cy="187198"/>
          </a:xfrm>
          <a:prstGeom prst="rect">
            <a:avLst/>
          </a:prstGeom>
        </p:spPr>
      </p:pic>
      <p:sp>
        <p:nvSpPr>
          <p:cNvPr id="148" name="TextBox 147"/>
          <p:cNvSpPr txBox="1"/>
          <p:nvPr/>
        </p:nvSpPr>
        <p:spPr>
          <a:xfrm>
            <a:off x="5989329" y="4883233"/>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49" name="TextBox 148"/>
          <p:cNvSpPr txBox="1"/>
          <p:nvPr/>
        </p:nvSpPr>
        <p:spPr>
          <a:xfrm>
            <a:off x="3838575" y="5101165"/>
            <a:ext cx="1386944" cy="186689"/>
          </a:xfrm>
          <a:prstGeom prst="rect">
            <a:avLst/>
          </a:prstGeom>
          <a:noFill/>
        </p:spPr>
        <p:txBody>
          <a:bodyPr wrap="none" lIns="0" rIns="0" tIns="0" bIns="0">
            <a:spAutoFit/>
          </a:bodyPr>
          <a:lstStyle/>
          <a:p>
            <a:r>
              <a:rPr sz="1100" b="0">
                <a:solidFill>
                  <a:srgbClr val="2E2E2E"/>
                </a:solidFill>
                <a:latin typeface="Calibri"/>
              </a:rPr>
              <a:t>● Middle East &amp; Africa:</a:t>
            </a:r>
          </a:p>
        </p:txBody>
      </p:sp>
      <p:pic>
        <p:nvPicPr>
          <p:cNvPr id="150" name="Picture 149" descr="lock.png"/>
          <p:cNvPicPr>
            <a:picLocks noChangeAspect="1"/>
          </p:cNvPicPr>
          <p:nvPr/>
        </p:nvPicPr>
        <p:blipFill>
          <a:blip r:embed="rId25"/>
          <a:stretch>
            <a:fillRect/>
          </a:stretch>
        </p:blipFill>
        <p:spPr>
          <a:xfrm>
            <a:off x="5173571" y="5091385"/>
            <a:ext cx="128699" cy="187198"/>
          </a:xfrm>
          <a:prstGeom prst="rect">
            <a:avLst/>
          </a:prstGeom>
        </p:spPr>
      </p:pic>
      <p:sp>
        <p:nvSpPr>
          <p:cNvPr id="151" name="TextBox 150"/>
          <p:cNvSpPr txBox="1"/>
          <p:nvPr/>
        </p:nvSpPr>
        <p:spPr>
          <a:xfrm>
            <a:off x="5341067" y="510116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52" name="Picture 151" descr="lock.png"/>
          <p:cNvPicPr>
            <a:picLocks noChangeAspect="1"/>
          </p:cNvPicPr>
          <p:nvPr/>
        </p:nvPicPr>
        <p:blipFill>
          <a:blip r:embed="rId25"/>
          <a:stretch>
            <a:fillRect/>
          </a:stretch>
        </p:blipFill>
        <p:spPr>
          <a:xfrm>
            <a:off x="6200517" y="5091385"/>
            <a:ext cx="128699" cy="187198"/>
          </a:xfrm>
          <a:prstGeom prst="rect">
            <a:avLst/>
          </a:prstGeom>
        </p:spPr>
      </p:pic>
      <p:sp>
        <p:nvSpPr>
          <p:cNvPr id="153" name="TextBox 152"/>
          <p:cNvSpPr txBox="1"/>
          <p:nvPr/>
        </p:nvSpPr>
        <p:spPr>
          <a:xfrm>
            <a:off x="6368013" y="5101165"/>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54" name="TextBox 153"/>
          <p:cNvSpPr txBox="1"/>
          <p:nvPr/>
        </p:nvSpPr>
        <p:spPr>
          <a:xfrm>
            <a:off x="3838575" y="5319097"/>
            <a:ext cx="1096630" cy="186689"/>
          </a:xfrm>
          <a:prstGeom prst="rect">
            <a:avLst/>
          </a:prstGeom>
          <a:noFill/>
        </p:spPr>
        <p:txBody>
          <a:bodyPr wrap="none" lIns="0" rIns="0" tIns="0" bIns="0">
            <a:spAutoFit/>
          </a:bodyPr>
          <a:lstStyle/>
          <a:p>
            <a:r>
              <a:rPr sz="1100" b="0">
                <a:solidFill>
                  <a:srgbClr val="2E2E2E"/>
                </a:solidFill>
                <a:latin typeface="Calibri"/>
              </a:rPr>
              <a:t>● Eastern Europe:</a:t>
            </a:r>
          </a:p>
        </p:txBody>
      </p:sp>
      <p:pic>
        <p:nvPicPr>
          <p:cNvPr id="155" name="Picture 154" descr="lock.png"/>
          <p:cNvPicPr>
            <a:picLocks noChangeAspect="1"/>
          </p:cNvPicPr>
          <p:nvPr/>
        </p:nvPicPr>
        <p:blipFill>
          <a:blip r:embed="rId25"/>
          <a:stretch>
            <a:fillRect/>
          </a:stretch>
        </p:blipFill>
        <p:spPr>
          <a:xfrm>
            <a:off x="4883257" y="5309317"/>
            <a:ext cx="128699" cy="187198"/>
          </a:xfrm>
          <a:prstGeom prst="rect">
            <a:avLst/>
          </a:prstGeom>
        </p:spPr>
      </p:pic>
      <p:sp>
        <p:nvSpPr>
          <p:cNvPr id="156" name="TextBox 155"/>
          <p:cNvSpPr txBox="1"/>
          <p:nvPr/>
        </p:nvSpPr>
        <p:spPr>
          <a:xfrm>
            <a:off x="5050753" y="531909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57" name="Picture 156" descr="lock.png"/>
          <p:cNvPicPr>
            <a:picLocks noChangeAspect="1"/>
          </p:cNvPicPr>
          <p:nvPr/>
        </p:nvPicPr>
        <p:blipFill>
          <a:blip r:embed="rId25"/>
          <a:stretch>
            <a:fillRect/>
          </a:stretch>
        </p:blipFill>
        <p:spPr>
          <a:xfrm>
            <a:off x="5910203" y="5309317"/>
            <a:ext cx="128699" cy="187198"/>
          </a:xfrm>
          <a:prstGeom prst="rect">
            <a:avLst/>
          </a:prstGeom>
        </p:spPr>
      </p:pic>
      <p:sp>
        <p:nvSpPr>
          <p:cNvPr id="158" name="TextBox 157"/>
          <p:cNvSpPr txBox="1"/>
          <p:nvPr/>
        </p:nvSpPr>
        <p:spPr>
          <a:xfrm>
            <a:off x="6077699" y="5319097"/>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59" name="TextBox 158"/>
          <p:cNvSpPr txBox="1"/>
          <p:nvPr/>
        </p:nvSpPr>
        <p:spPr>
          <a:xfrm>
            <a:off x="3838575" y="5537029"/>
            <a:ext cx="1155600" cy="186689"/>
          </a:xfrm>
          <a:prstGeom prst="rect">
            <a:avLst/>
          </a:prstGeom>
          <a:noFill/>
        </p:spPr>
        <p:txBody>
          <a:bodyPr wrap="none" lIns="0" rIns="0" tIns="0" bIns="0">
            <a:spAutoFit/>
          </a:bodyPr>
          <a:lstStyle/>
          <a:p>
            <a:r>
              <a:rPr sz="1100" b="0">
                <a:solidFill>
                  <a:srgbClr val="2E2E2E"/>
                </a:solidFill>
                <a:latin typeface="Calibri"/>
              </a:rPr>
              <a:t>● Western Europe:</a:t>
            </a:r>
          </a:p>
        </p:txBody>
      </p:sp>
      <p:pic>
        <p:nvPicPr>
          <p:cNvPr id="160" name="Picture 159" descr="lock.png"/>
          <p:cNvPicPr>
            <a:picLocks noChangeAspect="1"/>
          </p:cNvPicPr>
          <p:nvPr/>
        </p:nvPicPr>
        <p:blipFill>
          <a:blip r:embed="rId25"/>
          <a:stretch>
            <a:fillRect/>
          </a:stretch>
        </p:blipFill>
        <p:spPr>
          <a:xfrm>
            <a:off x="4942227" y="5527249"/>
            <a:ext cx="128699" cy="187198"/>
          </a:xfrm>
          <a:prstGeom prst="rect">
            <a:avLst/>
          </a:prstGeom>
        </p:spPr>
      </p:pic>
      <p:sp>
        <p:nvSpPr>
          <p:cNvPr id="161" name="TextBox 160"/>
          <p:cNvSpPr txBox="1"/>
          <p:nvPr/>
        </p:nvSpPr>
        <p:spPr>
          <a:xfrm>
            <a:off x="5109723" y="553702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62" name="Picture 161" descr="lock.png"/>
          <p:cNvPicPr>
            <a:picLocks noChangeAspect="1"/>
          </p:cNvPicPr>
          <p:nvPr/>
        </p:nvPicPr>
        <p:blipFill>
          <a:blip r:embed="rId25"/>
          <a:stretch>
            <a:fillRect/>
          </a:stretch>
        </p:blipFill>
        <p:spPr>
          <a:xfrm>
            <a:off x="5969173" y="5527249"/>
            <a:ext cx="128699" cy="187198"/>
          </a:xfrm>
          <a:prstGeom prst="rect">
            <a:avLst/>
          </a:prstGeom>
        </p:spPr>
      </p:pic>
      <p:sp>
        <p:nvSpPr>
          <p:cNvPr id="163" name="TextBox 162"/>
          <p:cNvSpPr txBox="1"/>
          <p:nvPr/>
        </p:nvSpPr>
        <p:spPr>
          <a:xfrm>
            <a:off x="6136669" y="5537029"/>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64" name="TextBox 163"/>
          <p:cNvSpPr txBox="1"/>
          <p:nvPr/>
        </p:nvSpPr>
        <p:spPr>
          <a:xfrm>
            <a:off x="8524875" y="5842641"/>
            <a:ext cx="3081608" cy="194310"/>
          </a:xfrm>
          <a:prstGeom prst="rect">
            <a:avLst/>
          </a:prstGeom>
          <a:noFill/>
        </p:spPr>
        <p:txBody>
          <a:bodyPr wrap="none" lIns="0" rIns="0" tIns="0" bIns="0">
            <a:spAutoFit/>
          </a:bodyPr>
          <a:lstStyle/>
          <a:p>
            <a:r>
              <a:rPr sz="1150" b="1">
                <a:solidFill>
                  <a:srgbClr val="0B2E4A"/>
                </a:solidFill>
                <a:latin typeface="Calibri"/>
              </a:rPr>
              <a:t>The Global market is projected to grow at a CAGR</a:t>
            </a:r>
          </a:p>
        </p:txBody>
      </p:sp>
      <p:sp>
        <p:nvSpPr>
          <p:cNvPr id="165" name="TextBox 164"/>
          <p:cNvSpPr txBox="1"/>
          <p:nvPr/>
        </p:nvSpPr>
        <p:spPr>
          <a:xfrm>
            <a:off x="8524875" y="6017901"/>
            <a:ext cx="200855" cy="194310"/>
          </a:xfrm>
          <a:prstGeom prst="rect">
            <a:avLst/>
          </a:prstGeom>
          <a:noFill/>
        </p:spPr>
        <p:txBody>
          <a:bodyPr wrap="none" lIns="0" rIns="0" tIns="0" bIns="0">
            <a:spAutoFit/>
          </a:bodyPr>
          <a:lstStyle/>
          <a:p>
            <a:r>
              <a:rPr sz="1150" b="1">
                <a:solidFill>
                  <a:srgbClr val="0B2E4A"/>
                </a:solidFill>
                <a:latin typeface="Calibri"/>
              </a:rPr>
              <a:t>of</a:t>
            </a:r>
          </a:p>
        </p:txBody>
      </p:sp>
      <p:pic>
        <p:nvPicPr>
          <p:cNvPr id="166" name="Picture 165" descr="lock.png"/>
          <p:cNvPicPr>
            <a:picLocks noChangeAspect="1"/>
          </p:cNvPicPr>
          <p:nvPr/>
        </p:nvPicPr>
        <p:blipFill>
          <a:blip r:embed="rId25"/>
          <a:stretch>
            <a:fillRect/>
          </a:stretch>
        </p:blipFill>
        <p:spPr>
          <a:xfrm>
            <a:off x="8674884" y="6007677"/>
            <a:ext cx="134549" cy="195707"/>
          </a:xfrm>
          <a:prstGeom prst="rect">
            <a:avLst/>
          </a:prstGeom>
        </p:spPr>
      </p:pic>
      <p:sp>
        <p:nvSpPr>
          <p:cNvPr id="167" name="TextBox 166"/>
          <p:cNvSpPr txBox="1"/>
          <p:nvPr/>
        </p:nvSpPr>
        <p:spPr>
          <a:xfrm>
            <a:off x="8849994"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Waterproof Coatings Market Analysis, By Region Volume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share by region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3" name="TextBox 12"/>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p:txBody>
      </p:sp>
      <p:sp>
        <p:nvSpPr>
          <p:cNvPr id="15" name="FMI Legend Chip"/>
          <p:cNvSpPr/>
          <p:nvPr/>
        </p:nvSpPr>
        <p:spPr>
          <a:xfrm>
            <a:off x="4551045" y="1530164"/>
            <a:ext cx="85725" cy="857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4712970" y="152540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4855845" y="1449202"/>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Western Europe</a:t>
            </a:r>
          </a:p>
        </p:txBody>
      </p:sp>
      <p:sp>
        <p:nvSpPr>
          <p:cNvPr id="18" name="BPS Value 1"/>
          <p:cNvSpPr txBox="1"/>
          <p:nvPr/>
        </p:nvSpPr>
        <p:spPr>
          <a:xfrm>
            <a:off x="6305550" y="151111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551045" y="1721842"/>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4712970" y="171708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4855845" y="1640880"/>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Eastern Europe</a:t>
            </a:r>
          </a:p>
        </p:txBody>
      </p:sp>
      <p:sp>
        <p:nvSpPr>
          <p:cNvPr id="22" name="BPS Value 2"/>
          <p:cNvSpPr txBox="1"/>
          <p:nvPr/>
        </p:nvSpPr>
        <p:spPr>
          <a:xfrm>
            <a:off x="6305550" y="170279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551045" y="2004726"/>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4712970" y="199996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4855845" y="1923764"/>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Middle East &amp; Africa</a:t>
            </a:r>
          </a:p>
        </p:txBody>
      </p:sp>
      <p:sp>
        <p:nvSpPr>
          <p:cNvPr id="26" name="BPS Value 3"/>
          <p:cNvSpPr txBox="1"/>
          <p:nvPr/>
        </p:nvSpPr>
        <p:spPr>
          <a:xfrm>
            <a:off x="6305550" y="198567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551045" y="2348887"/>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4712970" y="234412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4855845" y="226792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Latin America</a:t>
            </a:r>
          </a:p>
        </p:txBody>
      </p:sp>
      <p:sp>
        <p:nvSpPr>
          <p:cNvPr id="30" name="BPS Value 4"/>
          <p:cNvSpPr txBox="1"/>
          <p:nvPr/>
        </p:nvSpPr>
        <p:spPr>
          <a:xfrm>
            <a:off x="6305550" y="232983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551045" y="2932358"/>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a:off x="4712970" y="292759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4855845" y="285139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 Asia</a:t>
            </a:r>
          </a:p>
        </p:txBody>
      </p:sp>
      <p:sp>
        <p:nvSpPr>
          <p:cNvPr id="34" name="BPS Value 5"/>
          <p:cNvSpPr txBox="1"/>
          <p:nvPr/>
        </p:nvSpPr>
        <p:spPr>
          <a:xfrm>
            <a:off x="6305550" y="291330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5" name="FMI Legend Chip"/>
          <p:cNvSpPr/>
          <p:nvPr/>
        </p:nvSpPr>
        <p:spPr>
          <a:xfrm>
            <a:off x="4551045" y="3762153"/>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rot="10800000">
            <a:off x="4712970" y="375739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4855845" y="3681190"/>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North America</a:t>
            </a:r>
          </a:p>
        </p:txBody>
      </p:sp>
      <p:sp>
        <p:nvSpPr>
          <p:cNvPr id="38" name="BPS Value 6"/>
          <p:cNvSpPr txBox="1"/>
          <p:nvPr/>
        </p:nvSpPr>
        <p:spPr>
          <a:xfrm>
            <a:off x="6305550" y="374310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9" name="FMI Legend Chip"/>
          <p:cNvSpPr/>
          <p:nvPr/>
        </p:nvSpPr>
        <p:spPr>
          <a:xfrm>
            <a:off x="4551045" y="4661284"/>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Isosceles Triangle 39"/>
          <p:cNvSpPr/>
          <p:nvPr/>
        </p:nvSpPr>
        <p:spPr>
          <a:xfrm>
            <a:off x="4712970" y="465652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PS Name 7"/>
          <p:cNvSpPr txBox="1"/>
          <p:nvPr/>
        </p:nvSpPr>
        <p:spPr>
          <a:xfrm>
            <a:off x="4855845" y="4580321"/>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South Asia &amp; Pacific</a:t>
            </a:r>
          </a:p>
        </p:txBody>
      </p:sp>
      <p:sp>
        <p:nvSpPr>
          <p:cNvPr id="42" name="BPS Value 7"/>
          <p:cNvSpPr txBox="1"/>
          <p:nvPr/>
        </p:nvSpPr>
        <p:spPr>
          <a:xfrm>
            <a:off x="6305550" y="464223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3" name="Rounded Rectangle 42"/>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45" name="Rectangle 44"/>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7" name="Rounded Rectangle 46"/>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(UNITS)</a:t>
            </a:r>
          </a:p>
          <a:p>
            <a:pPr algn="ctr">
              <a:lnSpc>
                <a:spcPct val="95000"/>
              </a:lnSpc>
            </a:pPr>
            <a:r>
              <a:rPr sz="2000" b="1">
                <a:solidFill>
                  <a:srgbClr val="0E72AE"/>
                </a:solidFill>
                <a:latin typeface="Calibri"/>
              </a:rPr>
              <a:t/>
            </a:r>
          </a:p>
        </p:txBody>
      </p:sp>
      <p:sp>
        <p:nvSpPr>
          <p:cNvPr id="48" name="Rounded Rectangle 47"/>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(UNITS)</a:t>
            </a:r>
          </a:p>
          <a:p>
            <a:pPr algn="ctr">
              <a:lnSpc>
                <a:spcPct val="95000"/>
              </a:lnSpc>
            </a:pPr>
            <a:r>
              <a:rPr sz="2000" b="1">
                <a:solidFill>
                  <a:srgbClr val="0E72AE"/>
                </a:solidFill>
                <a:latin typeface="Calibri"/>
              </a:rPr>
              <a:t/>
            </a:r>
          </a:p>
        </p:txBody>
      </p:sp>
      <p:sp>
        <p:nvSpPr>
          <p:cNvPr id="49" name="Rounded Rectangle 48"/>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r>
          </a:p>
        </p:txBody>
      </p:sp>
      <p:sp>
        <p:nvSpPr>
          <p:cNvPr id="50" name="TextBox 4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1" name="Picture 50" descr="lock.png"/>
          <p:cNvPicPr>
            <a:picLocks noChangeAspect="1"/>
          </p:cNvPicPr>
          <p:nvPr/>
        </p:nvPicPr>
        <p:blipFill>
          <a:blip r:embed="rId5"/>
          <a:stretch>
            <a:fillRect/>
          </a:stretch>
        </p:blipFill>
        <p:spPr>
          <a:xfrm>
            <a:off x="2333863" y="3121818"/>
            <a:ext cx="343793" cy="500062"/>
          </a:xfrm>
          <a:prstGeom prst="rect">
            <a:avLst/>
          </a:prstGeom>
        </p:spPr>
      </p:pic>
      <p:pic>
        <p:nvPicPr>
          <p:cNvPr id="52" name="Picture 51" descr="2_658_537_605E5C.png"/>
          <p:cNvPicPr>
            <a:picLocks noChangeAspect="1"/>
          </p:cNvPicPr>
          <p:nvPr/>
        </p:nvPicPr>
        <p:blipFill>
          <a:blip r:embed="rId6"/>
          <a:stretch>
            <a:fillRect/>
          </a:stretch>
        </p:blipFill>
        <p:spPr>
          <a:xfrm>
            <a:off x="744310" y="5897562"/>
            <a:ext cx="2740473" cy="482599"/>
          </a:xfrm>
          <a:prstGeom prst="rect">
            <a:avLst/>
          </a:prstGeom>
        </p:spPr>
      </p:pic>
      <p:pic>
        <p:nvPicPr>
          <p:cNvPr id="53" name="Picture 52" descr="4_149_656_605E5C.png"/>
          <p:cNvPicPr>
            <a:picLocks noChangeAspect="1"/>
          </p:cNvPicPr>
          <p:nvPr/>
        </p:nvPicPr>
        <p:blipFill>
          <a:blip r:embed="rId7"/>
          <a:stretch>
            <a:fillRect/>
          </a:stretch>
        </p:blipFill>
        <p:spPr>
          <a:xfrm>
            <a:off x="4778148" y="5897562"/>
            <a:ext cx="2740473" cy="482599"/>
          </a:xfrm>
          <a:prstGeom prst="rect">
            <a:avLst/>
          </a:prstGeom>
        </p:spPr>
      </p:pic>
      <p:pic>
        <p:nvPicPr>
          <p:cNvPr id="54" name="Picture 53" descr="4_6__605E5C.png"/>
          <p:cNvPicPr>
            <a:picLocks noChangeAspect="1"/>
          </p:cNvPicPr>
          <p:nvPr/>
        </p:nvPicPr>
        <p:blipFill>
          <a:blip r:embed="rId8"/>
          <a:stretch>
            <a:fillRect/>
          </a:stretch>
        </p:blipFill>
        <p:spPr>
          <a:xfrm>
            <a:off x="9465355" y="5897562"/>
            <a:ext cx="1309912" cy="482599"/>
          </a:xfrm>
          <a:prstGeom prst="rect">
            <a:avLst/>
          </a:prstGeom>
        </p:spPr>
      </p:pic>
      <p:pic>
        <p:nvPicPr>
          <p:cNvPr id="55" name="Picture 54" descr="lock.png"/>
          <p:cNvPicPr>
            <a:picLocks noChangeAspect="1"/>
          </p:cNvPicPr>
          <p:nvPr/>
        </p:nvPicPr>
        <p:blipFill>
          <a:blip r:embed="rId5"/>
          <a:stretch>
            <a:fillRect/>
          </a:stretch>
        </p:blipFill>
        <p:spPr>
          <a:xfrm>
            <a:off x="5914657" y="5893409"/>
            <a:ext cx="337498" cy="490906"/>
          </a:xfrm>
          <a:prstGeom prst="rect">
            <a:avLst/>
          </a:prstGeom>
        </p:spPr>
      </p:pic>
      <p:sp>
        <p:nvSpPr>
          <p:cNvPr id="56" name="TextBox 55"/>
          <p:cNvSpPr txBox="1"/>
          <p:nvPr/>
        </p:nvSpPr>
        <p:spPr>
          <a:xfrm>
            <a:off x="7239000" y="1400175"/>
            <a:ext cx="4318781" cy="194310"/>
          </a:xfrm>
          <a:prstGeom prst="rect">
            <a:avLst/>
          </a:prstGeom>
          <a:noFill/>
        </p:spPr>
        <p:txBody>
          <a:bodyPr wrap="none" lIns="0" rIns="0" tIns="0" bIns="0">
            <a:spAutoFit/>
          </a:bodyPr>
          <a:lstStyle/>
          <a:p>
            <a:r>
              <a:rPr sz="1150" b="0">
                <a:solidFill>
                  <a:srgbClr val="2E2E2E"/>
                </a:solidFill>
                <a:latin typeface="Calibri"/>
              </a:rPr>
              <a:t>South Asia &amp; Pacific waterproof coatings market is projected to register</a:t>
            </a:r>
          </a:p>
        </p:txBody>
      </p:sp>
      <p:pic>
        <p:nvPicPr>
          <p:cNvPr id="57" name="Picture 56" descr="lock.png"/>
          <p:cNvPicPr>
            <a:picLocks noChangeAspect="1"/>
          </p:cNvPicPr>
          <p:nvPr/>
        </p:nvPicPr>
        <p:blipFill>
          <a:blip r:embed="rId5"/>
          <a:stretch>
            <a:fillRect/>
          </a:stretch>
        </p:blipFill>
        <p:spPr>
          <a:xfrm>
            <a:off x="11506935" y="1389951"/>
            <a:ext cx="134549" cy="195707"/>
          </a:xfrm>
          <a:prstGeom prst="rect">
            <a:avLst/>
          </a:prstGeom>
        </p:spPr>
      </p:pic>
      <p:sp>
        <p:nvSpPr>
          <p:cNvPr id="58" name="TextBox 57"/>
          <p:cNvSpPr txBox="1"/>
          <p:nvPr/>
        </p:nvSpPr>
        <p:spPr>
          <a:xfrm>
            <a:off x="11682044" y="1400175"/>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59" name="TextBox 58"/>
          <p:cNvSpPr txBox="1"/>
          <p:nvPr/>
        </p:nvSpPr>
        <p:spPr>
          <a:xfrm>
            <a:off x="7239000" y="1575435"/>
            <a:ext cx="4518459" cy="194310"/>
          </a:xfrm>
          <a:prstGeom prst="rect">
            <a:avLst/>
          </a:prstGeom>
          <a:noFill/>
        </p:spPr>
        <p:txBody>
          <a:bodyPr wrap="none" lIns="0" rIns="0" tIns="0" bIns="0">
            <a:spAutoFit/>
          </a:bodyPr>
          <a:lstStyle/>
          <a:p>
            <a:r>
              <a:rPr sz="1150" b="0">
                <a:solidFill>
                  <a:srgbClr val="2E2E2E"/>
                </a:solidFill>
                <a:latin typeface="Calibri"/>
              </a:rPr>
              <a:t>higher volume than North America in 2036. Among waterproof coatings by</a:t>
            </a:r>
          </a:p>
        </p:txBody>
      </p:sp>
      <p:sp>
        <p:nvSpPr>
          <p:cNvPr id="60" name="TextBox 59"/>
          <p:cNvSpPr txBox="1"/>
          <p:nvPr/>
        </p:nvSpPr>
        <p:spPr>
          <a:xfrm>
            <a:off x="7239000" y="1750695"/>
            <a:ext cx="4263994" cy="194310"/>
          </a:xfrm>
          <a:prstGeom prst="rect">
            <a:avLst/>
          </a:prstGeom>
          <a:noFill/>
        </p:spPr>
        <p:txBody>
          <a:bodyPr wrap="none" lIns="0" rIns="0" tIns="0" bIns="0">
            <a:spAutoFit/>
          </a:bodyPr>
          <a:lstStyle/>
          <a:p>
            <a:r>
              <a:rPr sz="1150" b="0">
                <a:solidFill>
                  <a:srgbClr val="2E2E2E"/>
                </a:solidFill>
                <a:latin typeface="Calibri"/>
              </a:rPr>
              <a:t>region, South Asia &amp; Pacific is expected to witness the highest CAGR of</a:t>
            </a:r>
          </a:p>
        </p:txBody>
      </p:sp>
      <p:pic>
        <p:nvPicPr>
          <p:cNvPr id="61" name="Picture 60" descr="lock.png"/>
          <p:cNvPicPr>
            <a:picLocks noChangeAspect="1"/>
          </p:cNvPicPr>
          <p:nvPr/>
        </p:nvPicPr>
        <p:blipFill>
          <a:blip r:embed="rId5"/>
          <a:stretch>
            <a:fillRect/>
          </a:stretch>
        </p:blipFill>
        <p:spPr>
          <a:xfrm>
            <a:off x="11452148" y="1740471"/>
            <a:ext cx="134549" cy="195707"/>
          </a:xfrm>
          <a:prstGeom prst="rect">
            <a:avLst/>
          </a:prstGeom>
        </p:spPr>
      </p:pic>
      <p:sp>
        <p:nvSpPr>
          <p:cNvPr id="62" name="TextBox 61"/>
          <p:cNvSpPr txBox="1"/>
          <p:nvPr/>
        </p:nvSpPr>
        <p:spPr>
          <a:xfrm>
            <a:off x="7239000" y="192595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63" name="TextBox 62"/>
          <p:cNvSpPr txBox="1"/>
          <p:nvPr/>
        </p:nvSpPr>
        <p:spPr>
          <a:xfrm>
            <a:off x="7239000" y="2153793"/>
            <a:ext cx="4252602" cy="194310"/>
          </a:xfrm>
          <a:prstGeom prst="rect">
            <a:avLst/>
          </a:prstGeom>
          <a:noFill/>
        </p:spPr>
        <p:txBody>
          <a:bodyPr wrap="none" lIns="0" rIns="0" tIns="0" bIns="0">
            <a:spAutoFit/>
          </a:bodyPr>
          <a:lstStyle/>
          <a:p>
            <a:r>
              <a:rPr sz="1150" b="0">
                <a:solidFill>
                  <a:srgbClr val="2E2E2E"/>
                </a:solidFill>
                <a:latin typeface="Calibri"/>
              </a:rPr>
              <a:t>In terms of volume share by region, South Asia &amp; Pacific is expected to</a:t>
            </a:r>
          </a:p>
        </p:txBody>
      </p:sp>
      <p:sp>
        <p:nvSpPr>
          <p:cNvPr id="64" name="TextBox 63"/>
          <p:cNvSpPr txBox="1"/>
          <p:nvPr/>
        </p:nvSpPr>
        <p:spPr>
          <a:xfrm>
            <a:off x="7239000" y="2329053"/>
            <a:ext cx="1837072" cy="194310"/>
          </a:xfrm>
          <a:prstGeom prst="rect">
            <a:avLst/>
          </a:prstGeom>
          <a:noFill/>
        </p:spPr>
        <p:txBody>
          <a:bodyPr wrap="none" lIns="0" rIns="0" tIns="0" bIns="0">
            <a:spAutoFit/>
          </a:bodyPr>
          <a:lstStyle/>
          <a:p>
            <a:r>
              <a:rPr sz="1150" b="0">
                <a:solidFill>
                  <a:srgbClr val="2E2E2E"/>
                </a:solidFill>
                <a:latin typeface="Calibri"/>
              </a:rPr>
              <a:t>dominate the market, gaining</a:t>
            </a:r>
          </a:p>
        </p:txBody>
      </p:sp>
      <p:pic>
        <p:nvPicPr>
          <p:cNvPr id="65" name="Picture 64" descr="lock.png"/>
          <p:cNvPicPr>
            <a:picLocks noChangeAspect="1"/>
          </p:cNvPicPr>
          <p:nvPr/>
        </p:nvPicPr>
        <p:blipFill>
          <a:blip r:embed="rId5"/>
          <a:stretch>
            <a:fillRect/>
          </a:stretch>
        </p:blipFill>
        <p:spPr>
          <a:xfrm>
            <a:off x="9025226" y="2318829"/>
            <a:ext cx="134549" cy="195707"/>
          </a:xfrm>
          <a:prstGeom prst="rect">
            <a:avLst/>
          </a:prstGeom>
        </p:spPr>
      </p:pic>
      <p:sp>
        <p:nvSpPr>
          <p:cNvPr id="66" name="TextBox 65"/>
          <p:cNvSpPr txBox="1"/>
          <p:nvPr/>
        </p:nvSpPr>
        <p:spPr>
          <a:xfrm>
            <a:off x="9200335"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67" name="Picture 66" descr="lock.png"/>
          <p:cNvPicPr>
            <a:picLocks noChangeAspect="1"/>
          </p:cNvPicPr>
          <p:nvPr/>
        </p:nvPicPr>
        <p:blipFill>
          <a:blip r:embed="rId5"/>
          <a:stretch>
            <a:fillRect/>
          </a:stretch>
        </p:blipFill>
        <p:spPr>
          <a:xfrm>
            <a:off x="10595478" y="2318829"/>
            <a:ext cx="134549" cy="195707"/>
          </a:xfrm>
          <a:prstGeom prst="rect">
            <a:avLst/>
          </a:prstGeom>
        </p:spPr>
      </p:pic>
      <p:sp>
        <p:nvSpPr>
          <p:cNvPr id="68" name="TextBox 67"/>
          <p:cNvSpPr txBox="1"/>
          <p:nvPr/>
        </p:nvSpPr>
        <p:spPr>
          <a:xfrm>
            <a:off x="10770588"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9" name="TextBox 68"/>
          <p:cNvSpPr txBox="1"/>
          <p:nvPr/>
        </p:nvSpPr>
        <p:spPr>
          <a:xfrm>
            <a:off x="7239000" y="2504313"/>
            <a:ext cx="2083531" cy="194310"/>
          </a:xfrm>
          <a:prstGeom prst="rect">
            <a:avLst/>
          </a:prstGeom>
          <a:noFill/>
        </p:spPr>
        <p:txBody>
          <a:bodyPr wrap="none" lIns="0" rIns="0" tIns="0" bIns="0">
            <a:spAutoFit/>
          </a:bodyPr>
          <a:lstStyle/>
          <a:p>
            <a:r>
              <a:rPr sz="1150" b="0">
                <a:solidFill>
                  <a:srgbClr val="2E2E2E"/>
                </a:solidFill>
                <a:latin typeface="Calibri"/>
              </a:rPr>
              <a:t>North America is expected to lose</a:t>
            </a:r>
          </a:p>
        </p:txBody>
      </p:sp>
      <p:pic>
        <p:nvPicPr>
          <p:cNvPr id="70" name="Picture 69" descr="lock.png"/>
          <p:cNvPicPr>
            <a:picLocks noChangeAspect="1"/>
          </p:cNvPicPr>
          <p:nvPr/>
        </p:nvPicPr>
        <p:blipFill>
          <a:blip r:embed="rId5"/>
          <a:stretch>
            <a:fillRect/>
          </a:stretch>
        </p:blipFill>
        <p:spPr>
          <a:xfrm>
            <a:off x="9271685" y="2494089"/>
            <a:ext cx="134549" cy="195707"/>
          </a:xfrm>
          <a:prstGeom prst="rect">
            <a:avLst/>
          </a:prstGeom>
        </p:spPr>
      </p:pic>
      <p:sp>
        <p:nvSpPr>
          <p:cNvPr id="71" name="TextBox 70"/>
          <p:cNvSpPr txBox="1"/>
          <p:nvPr/>
        </p:nvSpPr>
        <p:spPr>
          <a:xfrm>
            <a:off x="9446794" y="2504313"/>
            <a:ext cx="1926356" cy="194310"/>
          </a:xfrm>
          <a:prstGeom prst="rect">
            <a:avLst/>
          </a:prstGeom>
          <a:noFill/>
        </p:spPr>
        <p:txBody>
          <a:bodyPr wrap="none" lIns="0" rIns="0" tIns="0" bIns="0">
            <a:spAutoFit/>
          </a:bodyPr>
          <a:lstStyle/>
          <a:p>
            <a:r>
              <a:rPr sz="1150" b="0">
                <a:solidFill>
                  <a:srgbClr val="2E2E2E"/>
                </a:solidFill>
                <a:latin typeface="Calibri"/>
              </a:rPr>
              <a:t>BPS over the forecast period to</a:t>
            </a:r>
          </a:p>
        </p:txBody>
      </p:sp>
      <p:sp>
        <p:nvSpPr>
          <p:cNvPr id="72" name="TextBox 71"/>
          <p:cNvSpPr txBox="1"/>
          <p:nvPr/>
        </p:nvSpPr>
        <p:spPr>
          <a:xfrm>
            <a:off x="7239000" y="2679573"/>
            <a:ext cx="755104" cy="194310"/>
          </a:xfrm>
          <a:prstGeom prst="rect">
            <a:avLst/>
          </a:prstGeom>
          <a:noFill/>
        </p:spPr>
        <p:txBody>
          <a:bodyPr wrap="none" lIns="0" rIns="0" tIns="0" bIns="0">
            <a:spAutoFit/>
          </a:bodyPr>
          <a:lstStyle/>
          <a:p>
            <a:r>
              <a:rPr sz="1150" b="0">
                <a:solidFill>
                  <a:srgbClr val="2E2E2E"/>
                </a:solidFill>
                <a:latin typeface="Calibri"/>
              </a:rPr>
              <a:t>account for</a:t>
            </a:r>
          </a:p>
        </p:txBody>
      </p:sp>
      <p:pic>
        <p:nvPicPr>
          <p:cNvPr id="73" name="Picture 72" descr="lock.png"/>
          <p:cNvPicPr>
            <a:picLocks noChangeAspect="1"/>
          </p:cNvPicPr>
          <p:nvPr/>
        </p:nvPicPr>
        <p:blipFill>
          <a:blip r:embed="rId5"/>
          <a:stretch>
            <a:fillRect/>
          </a:stretch>
        </p:blipFill>
        <p:spPr>
          <a:xfrm>
            <a:off x="7943258" y="2669349"/>
            <a:ext cx="134549" cy="195707"/>
          </a:xfrm>
          <a:prstGeom prst="rect">
            <a:avLst/>
          </a:prstGeom>
        </p:spPr>
      </p:pic>
      <p:sp>
        <p:nvSpPr>
          <p:cNvPr id="74" name="TextBox 73"/>
          <p:cNvSpPr txBox="1"/>
          <p:nvPr/>
        </p:nvSpPr>
        <p:spPr>
          <a:xfrm>
            <a:off x="8118367"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75"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Waterproof Coatings Market Analysis, By Region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region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3" name="TextBox 12"/>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p:txBody>
      </p:sp>
      <p:sp>
        <p:nvSpPr>
          <p:cNvPr id="15" name="FMI Legend Chip"/>
          <p:cNvSpPr/>
          <p:nvPr/>
        </p:nvSpPr>
        <p:spPr>
          <a:xfrm>
            <a:off x="4551045" y="1559593"/>
            <a:ext cx="85725" cy="857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4712970" y="155483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4855845" y="1478630"/>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Western Europe</a:t>
            </a:r>
          </a:p>
        </p:txBody>
      </p:sp>
      <p:sp>
        <p:nvSpPr>
          <p:cNvPr id="18" name="BPS Value 1"/>
          <p:cNvSpPr txBox="1"/>
          <p:nvPr/>
        </p:nvSpPr>
        <p:spPr>
          <a:xfrm>
            <a:off x="6305550" y="154054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551045" y="1801796"/>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4712970" y="179703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4855845" y="1720833"/>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Eastern Europe</a:t>
            </a:r>
          </a:p>
        </p:txBody>
      </p:sp>
      <p:sp>
        <p:nvSpPr>
          <p:cNvPr id="22" name="BPS Value 2"/>
          <p:cNvSpPr txBox="1"/>
          <p:nvPr/>
        </p:nvSpPr>
        <p:spPr>
          <a:xfrm>
            <a:off x="6305550" y="178274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551045" y="2099422"/>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4712970" y="209465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4855845" y="201845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Middle East &amp; Africa</a:t>
            </a:r>
          </a:p>
        </p:txBody>
      </p:sp>
      <p:sp>
        <p:nvSpPr>
          <p:cNvPr id="26" name="BPS Value 3"/>
          <p:cNvSpPr txBox="1"/>
          <p:nvPr/>
        </p:nvSpPr>
        <p:spPr>
          <a:xfrm>
            <a:off x="6305550" y="208037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551045" y="2443960"/>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4712970" y="243919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4855845" y="2362997"/>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Latin America</a:t>
            </a:r>
          </a:p>
        </p:txBody>
      </p:sp>
      <p:sp>
        <p:nvSpPr>
          <p:cNvPr id="30" name="BPS Value 4"/>
          <p:cNvSpPr txBox="1"/>
          <p:nvPr/>
        </p:nvSpPr>
        <p:spPr>
          <a:xfrm>
            <a:off x="6305550" y="242491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551045" y="2916244"/>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rot="10800000">
            <a:off x="4712970" y="291148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4855845" y="2835281"/>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 Asia</a:t>
            </a:r>
          </a:p>
        </p:txBody>
      </p:sp>
      <p:sp>
        <p:nvSpPr>
          <p:cNvPr id="34" name="BPS Value 5"/>
          <p:cNvSpPr txBox="1"/>
          <p:nvPr/>
        </p:nvSpPr>
        <p:spPr>
          <a:xfrm>
            <a:off x="6305550" y="289719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5" name="FMI Legend Chip"/>
          <p:cNvSpPr/>
          <p:nvPr/>
        </p:nvSpPr>
        <p:spPr>
          <a:xfrm>
            <a:off x="4551045" y="3488444"/>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4712970" y="348368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4855845" y="3407482"/>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South Asia &amp; Pacific</a:t>
            </a:r>
          </a:p>
        </p:txBody>
      </p:sp>
      <p:sp>
        <p:nvSpPr>
          <p:cNvPr id="38" name="BPS Value 6"/>
          <p:cNvSpPr txBox="1"/>
          <p:nvPr/>
        </p:nvSpPr>
        <p:spPr>
          <a:xfrm>
            <a:off x="6305550" y="346939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FMI Legend Chip"/>
          <p:cNvSpPr/>
          <p:nvPr/>
        </p:nvSpPr>
        <p:spPr>
          <a:xfrm>
            <a:off x="4551045" y="4454591"/>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Isosceles Triangle 39"/>
          <p:cNvSpPr/>
          <p:nvPr/>
        </p:nvSpPr>
        <p:spPr>
          <a:xfrm rot="10800000">
            <a:off x="4712970" y="444982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PS Name 7"/>
          <p:cNvSpPr txBox="1"/>
          <p:nvPr/>
        </p:nvSpPr>
        <p:spPr>
          <a:xfrm>
            <a:off x="4855845" y="437362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North America</a:t>
            </a:r>
          </a:p>
        </p:txBody>
      </p:sp>
      <p:sp>
        <p:nvSpPr>
          <p:cNvPr id="42" name="BPS Value 7"/>
          <p:cNvSpPr txBox="1"/>
          <p:nvPr/>
        </p:nvSpPr>
        <p:spPr>
          <a:xfrm>
            <a:off x="6305550" y="443554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43" name="Rounded Rectangle 42"/>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45" name="Rectangle 44"/>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7" name="Rounded Rectangle 46"/>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(US$ MN)</a:t>
            </a:r>
          </a:p>
          <a:p>
            <a:pPr algn="ctr">
              <a:lnSpc>
                <a:spcPct val="95000"/>
              </a:lnSpc>
            </a:pPr>
            <a:r>
              <a:rPr sz="2000" b="1">
                <a:solidFill>
                  <a:srgbClr val="0E72AE"/>
                </a:solidFill>
                <a:latin typeface="Calibri"/>
              </a:rPr>
              <a:t/>
            </a:r>
          </a:p>
        </p:txBody>
      </p:sp>
      <p:sp>
        <p:nvSpPr>
          <p:cNvPr id="48" name="Rounded Rectangle 47"/>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(US$ MN)</a:t>
            </a:r>
          </a:p>
          <a:p>
            <a:pPr algn="ctr">
              <a:lnSpc>
                <a:spcPct val="95000"/>
              </a:lnSpc>
            </a:pPr>
            <a:r>
              <a:rPr sz="2000" b="1">
                <a:solidFill>
                  <a:srgbClr val="0E72AE"/>
                </a:solidFill>
                <a:latin typeface="Calibri"/>
              </a:rPr>
              <a:t/>
            </a:r>
          </a:p>
        </p:txBody>
      </p:sp>
      <p:sp>
        <p:nvSpPr>
          <p:cNvPr id="49" name="Rounded Rectangle 48"/>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r>
          </a:p>
        </p:txBody>
      </p:sp>
      <p:sp>
        <p:nvSpPr>
          <p:cNvPr id="50" name="TextBox 4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1" name="Picture 50" descr="lock.png"/>
          <p:cNvPicPr>
            <a:picLocks noChangeAspect="1"/>
          </p:cNvPicPr>
          <p:nvPr/>
        </p:nvPicPr>
        <p:blipFill>
          <a:blip r:embed="rId5"/>
          <a:stretch>
            <a:fillRect/>
          </a:stretch>
        </p:blipFill>
        <p:spPr>
          <a:xfrm>
            <a:off x="2333863" y="3121818"/>
            <a:ext cx="343793" cy="500062"/>
          </a:xfrm>
          <a:prstGeom prst="rect">
            <a:avLst/>
          </a:prstGeom>
        </p:spPr>
      </p:pic>
      <p:pic>
        <p:nvPicPr>
          <p:cNvPr id="52" name="Picture 51" descr="10_900_605E5C.png"/>
          <p:cNvPicPr>
            <a:picLocks noChangeAspect="1"/>
          </p:cNvPicPr>
          <p:nvPr/>
        </p:nvPicPr>
        <p:blipFill>
          <a:blip r:embed="rId6"/>
          <a:stretch>
            <a:fillRect/>
          </a:stretch>
        </p:blipFill>
        <p:spPr>
          <a:xfrm>
            <a:off x="1175203" y="5897562"/>
            <a:ext cx="1878689" cy="482599"/>
          </a:xfrm>
          <a:prstGeom prst="rect">
            <a:avLst/>
          </a:prstGeom>
        </p:spPr>
      </p:pic>
      <p:pic>
        <p:nvPicPr>
          <p:cNvPr id="53" name="Picture 52" descr="17_745_605E5C.png"/>
          <p:cNvPicPr>
            <a:picLocks noChangeAspect="1"/>
          </p:cNvPicPr>
          <p:nvPr/>
        </p:nvPicPr>
        <p:blipFill>
          <a:blip r:embed="rId7"/>
          <a:stretch>
            <a:fillRect/>
          </a:stretch>
        </p:blipFill>
        <p:spPr>
          <a:xfrm>
            <a:off x="5209041" y="5897562"/>
            <a:ext cx="1878689" cy="482599"/>
          </a:xfrm>
          <a:prstGeom prst="rect">
            <a:avLst/>
          </a:prstGeom>
        </p:spPr>
      </p:pic>
      <p:pic>
        <p:nvPicPr>
          <p:cNvPr id="54" name="Picture 53" descr="5_0__605E5C.png"/>
          <p:cNvPicPr>
            <a:picLocks noChangeAspect="1"/>
          </p:cNvPicPr>
          <p:nvPr/>
        </p:nvPicPr>
        <p:blipFill>
          <a:blip r:embed="rId8"/>
          <a:stretch>
            <a:fillRect/>
          </a:stretch>
        </p:blipFill>
        <p:spPr>
          <a:xfrm>
            <a:off x="9465355" y="5897562"/>
            <a:ext cx="1309912" cy="482599"/>
          </a:xfrm>
          <a:prstGeom prst="rect">
            <a:avLst/>
          </a:prstGeom>
        </p:spPr>
      </p:pic>
      <p:pic>
        <p:nvPicPr>
          <p:cNvPr id="55" name="Picture 54" descr="lock.png"/>
          <p:cNvPicPr>
            <a:picLocks noChangeAspect="1"/>
          </p:cNvPicPr>
          <p:nvPr/>
        </p:nvPicPr>
        <p:blipFill>
          <a:blip r:embed="rId5"/>
          <a:stretch>
            <a:fillRect/>
          </a:stretch>
        </p:blipFill>
        <p:spPr>
          <a:xfrm>
            <a:off x="5914657" y="5893409"/>
            <a:ext cx="337498" cy="490906"/>
          </a:xfrm>
          <a:prstGeom prst="rect">
            <a:avLst/>
          </a:prstGeom>
        </p:spPr>
      </p:pic>
      <p:sp>
        <p:nvSpPr>
          <p:cNvPr id="56" name="TextBox 55"/>
          <p:cNvSpPr txBox="1"/>
          <p:nvPr/>
        </p:nvSpPr>
        <p:spPr>
          <a:xfrm>
            <a:off x="7239000" y="1400175"/>
            <a:ext cx="4018979" cy="194310"/>
          </a:xfrm>
          <a:prstGeom prst="rect">
            <a:avLst/>
          </a:prstGeom>
          <a:noFill/>
        </p:spPr>
        <p:txBody>
          <a:bodyPr wrap="none" lIns="0" rIns="0" tIns="0" bIns="0">
            <a:spAutoFit/>
          </a:bodyPr>
          <a:lstStyle/>
          <a:p>
            <a:r>
              <a:rPr sz="1150" b="0">
                <a:solidFill>
                  <a:srgbClr val="2E2E2E"/>
                </a:solidFill>
                <a:latin typeface="Calibri"/>
              </a:rPr>
              <a:t>North America waterproof coatings market is projected to register</a:t>
            </a:r>
          </a:p>
        </p:txBody>
      </p:sp>
      <p:pic>
        <p:nvPicPr>
          <p:cNvPr id="57" name="Picture 56" descr="lock.png"/>
          <p:cNvPicPr>
            <a:picLocks noChangeAspect="1"/>
          </p:cNvPicPr>
          <p:nvPr/>
        </p:nvPicPr>
        <p:blipFill>
          <a:blip r:embed="rId5"/>
          <a:stretch>
            <a:fillRect/>
          </a:stretch>
        </p:blipFill>
        <p:spPr>
          <a:xfrm>
            <a:off x="11207133" y="1389951"/>
            <a:ext cx="134549" cy="195707"/>
          </a:xfrm>
          <a:prstGeom prst="rect">
            <a:avLst/>
          </a:prstGeom>
        </p:spPr>
      </p:pic>
      <p:sp>
        <p:nvSpPr>
          <p:cNvPr id="58" name="TextBox 57"/>
          <p:cNvSpPr txBox="1"/>
          <p:nvPr/>
        </p:nvSpPr>
        <p:spPr>
          <a:xfrm>
            <a:off x="11382242" y="1400175"/>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59" name="TextBox 58"/>
          <p:cNvSpPr txBox="1"/>
          <p:nvPr/>
        </p:nvSpPr>
        <p:spPr>
          <a:xfrm>
            <a:off x="7239000" y="1575435"/>
            <a:ext cx="4648200" cy="194310"/>
          </a:xfrm>
          <a:prstGeom prst="rect">
            <a:avLst/>
          </a:prstGeom>
          <a:noFill/>
        </p:spPr>
        <p:txBody>
          <a:bodyPr wrap="none" lIns="0" rIns="0" tIns="0" bIns="0">
            <a:spAutoFit/>
          </a:bodyPr>
          <a:lstStyle/>
          <a:p>
            <a:r>
              <a:rPr sz="1150" b="0">
                <a:solidFill>
                  <a:srgbClr val="2E2E2E"/>
                </a:solidFill>
                <a:latin typeface="Calibri"/>
              </a:rPr>
              <a:t>higher value than South Asia &amp; Pacific in 2036. Among waterproof coatings by</a:t>
            </a:r>
          </a:p>
        </p:txBody>
      </p:sp>
      <p:sp>
        <p:nvSpPr>
          <p:cNvPr id="60" name="TextBox 59"/>
          <p:cNvSpPr txBox="1"/>
          <p:nvPr/>
        </p:nvSpPr>
        <p:spPr>
          <a:xfrm>
            <a:off x="7239000" y="1750695"/>
            <a:ext cx="4263994" cy="194310"/>
          </a:xfrm>
          <a:prstGeom prst="rect">
            <a:avLst/>
          </a:prstGeom>
          <a:noFill/>
        </p:spPr>
        <p:txBody>
          <a:bodyPr wrap="none" lIns="0" rIns="0" tIns="0" bIns="0">
            <a:spAutoFit/>
          </a:bodyPr>
          <a:lstStyle/>
          <a:p>
            <a:r>
              <a:rPr sz="1150" b="0">
                <a:solidFill>
                  <a:srgbClr val="2E2E2E"/>
                </a:solidFill>
                <a:latin typeface="Calibri"/>
              </a:rPr>
              <a:t>region, South Asia &amp; Pacific is expected to witness the highest CAGR of</a:t>
            </a:r>
          </a:p>
        </p:txBody>
      </p:sp>
      <p:pic>
        <p:nvPicPr>
          <p:cNvPr id="61" name="Picture 60" descr="lock.png"/>
          <p:cNvPicPr>
            <a:picLocks noChangeAspect="1"/>
          </p:cNvPicPr>
          <p:nvPr/>
        </p:nvPicPr>
        <p:blipFill>
          <a:blip r:embed="rId5"/>
          <a:stretch>
            <a:fillRect/>
          </a:stretch>
        </p:blipFill>
        <p:spPr>
          <a:xfrm>
            <a:off x="11452148" y="1740471"/>
            <a:ext cx="134549" cy="195707"/>
          </a:xfrm>
          <a:prstGeom prst="rect">
            <a:avLst/>
          </a:prstGeom>
        </p:spPr>
      </p:pic>
      <p:sp>
        <p:nvSpPr>
          <p:cNvPr id="62" name="TextBox 61"/>
          <p:cNvSpPr txBox="1"/>
          <p:nvPr/>
        </p:nvSpPr>
        <p:spPr>
          <a:xfrm>
            <a:off x="7239000" y="192595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63" name="TextBox 62"/>
          <p:cNvSpPr txBox="1"/>
          <p:nvPr/>
        </p:nvSpPr>
        <p:spPr>
          <a:xfrm>
            <a:off x="7239000" y="2153793"/>
            <a:ext cx="4648200" cy="194310"/>
          </a:xfrm>
          <a:prstGeom prst="rect">
            <a:avLst/>
          </a:prstGeom>
          <a:noFill/>
        </p:spPr>
        <p:txBody>
          <a:bodyPr wrap="none" lIns="0" rIns="0" tIns="0" bIns="0">
            <a:spAutoFit/>
          </a:bodyPr>
          <a:lstStyle/>
          <a:p>
            <a:r>
              <a:rPr sz="1150" b="0">
                <a:solidFill>
                  <a:srgbClr val="2E2E2E"/>
                </a:solidFill>
                <a:latin typeface="Calibri"/>
              </a:rPr>
              <a:t>In terms of value share by region, North America is expected to dominate the</a:t>
            </a:r>
          </a:p>
        </p:txBody>
      </p:sp>
      <p:sp>
        <p:nvSpPr>
          <p:cNvPr id="64" name="TextBox 63"/>
          <p:cNvSpPr txBox="1"/>
          <p:nvPr/>
        </p:nvSpPr>
        <p:spPr>
          <a:xfrm>
            <a:off x="7239000" y="2329053"/>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65" name="Picture 64" descr="lock.png"/>
          <p:cNvPicPr>
            <a:picLocks noChangeAspect="1"/>
          </p:cNvPicPr>
          <p:nvPr/>
        </p:nvPicPr>
        <p:blipFill>
          <a:blip r:embed="rId5"/>
          <a:stretch>
            <a:fillRect/>
          </a:stretch>
        </p:blipFill>
        <p:spPr>
          <a:xfrm>
            <a:off x="8106708" y="2318829"/>
            <a:ext cx="134549" cy="195707"/>
          </a:xfrm>
          <a:prstGeom prst="rect">
            <a:avLst/>
          </a:prstGeom>
        </p:spPr>
      </p:pic>
      <p:sp>
        <p:nvSpPr>
          <p:cNvPr id="66" name="TextBox 65"/>
          <p:cNvSpPr txBox="1"/>
          <p:nvPr/>
        </p:nvSpPr>
        <p:spPr>
          <a:xfrm>
            <a:off x="8281817"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67" name="Picture 66" descr="lock.png"/>
          <p:cNvPicPr>
            <a:picLocks noChangeAspect="1"/>
          </p:cNvPicPr>
          <p:nvPr/>
        </p:nvPicPr>
        <p:blipFill>
          <a:blip r:embed="rId5"/>
          <a:stretch>
            <a:fillRect/>
          </a:stretch>
        </p:blipFill>
        <p:spPr>
          <a:xfrm>
            <a:off x="9676961" y="2318829"/>
            <a:ext cx="134549" cy="195707"/>
          </a:xfrm>
          <a:prstGeom prst="rect">
            <a:avLst/>
          </a:prstGeom>
        </p:spPr>
      </p:pic>
      <p:sp>
        <p:nvSpPr>
          <p:cNvPr id="68" name="TextBox 67"/>
          <p:cNvSpPr txBox="1"/>
          <p:nvPr/>
        </p:nvSpPr>
        <p:spPr>
          <a:xfrm>
            <a:off x="9852070"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9"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Waterproof Coatings Market Share Analysis, By Region Volume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share by region, 2021–2036, highlighting the geographies gaining and ceding ground</a:t>
            </a:r>
          </a:p>
        </p:txBody>
      </p:sp>
      <p:sp>
        <p:nvSpPr>
          <p:cNvPr id="10" name="Rounded Rectangle 9"/>
          <p:cNvSpPr/>
          <p:nvPr/>
        </p:nvSpPr>
        <p:spPr>
          <a:xfrm>
            <a:off x="142875" y="981075"/>
            <a:ext cx="11906250" cy="3267075"/>
          </a:xfrm>
          <a:prstGeom prst="roundRect">
            <a:avLst>
              <a:gd name="adj" fmla="val 233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(Units)</a:t>
            </a:r>
          </a:p>
        </p:txBody>
      </p:sp>
      <p:graphicFrame>
        <p:nvGraphicFramePr>
          <p:cNvPr id="12" name="Table 11"/>
          <p:cNvGraphicFramePr>
            <a:graphicFrameLocks noGrp="1"/>
          </p:cNvGraphicFramePr>
          <p:nvPr/>
        </p:nvGraphicFramePr>
        <p:xfrm>
          <a:off x="152400" y="1238250"/>
          <a:ext cx="11892680" cy="2800348"/>
        </p:xfrm>
        <a:graphic>
          <a:graphicData uri="http://schemas.openxmlformats.org/drawingml/2006/table">
            <a:tbl>
              <a:tblPr>
                <a:tableStyleId>{5C22544A-7EE6-4342-B048-85BDC9FD1C3A}</a:tableStyleId>
              </a:tblPr>
              <a:tblGrid>
                <a:gridCol w="1388836"/>
                <a:gridCol w="632064"/>
                <a:gridCol w="632064"/>
                <a:gridCol w="632064"/>
                <a:gridCol w="632064"/>
                <a:gridCol w="632064"/>
                <a:gridCol w="632064"/>
                <a:gridCol w="632064"/>
                <a:gridCol w="632064"/>
                <a:gridCol w="632064"/>
                <a:gridCol w="632064"/>
                <a:gridCol w="632064"/>
                <a:gridCol w="632064"/>
                <a:gridCol w="632064"/>
                <a:gridCol w="632064"/>
                <a:gridCol w="632064"/>
                <a:gridCol w="632064"/>
                <a:gridCol w="390820"/>
              </a:tblGrid>
              <a:tr h="438912">
                <a:tc>
                  <a:txBody>
                    <a:bodyPr wrap="none"/>
                    <a:lstStyle/>
                    <a:p>
                      <a:pPr algn="l"/>
                      <a:r>
                        <a:rPr sz="1100" b="1">
                          <a:solidFill>
                            <a:srgbClr val="0B2E4A"/>
                          </a:solidFill>
                          <a:latin typeface="Calibri"/>
                        </a:rPr>
                        <a:t>Region</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2021A</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2022A</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2023A</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2024A</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2025A</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2027F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2028F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2029F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2030F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2031F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2032F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2033F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2034F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2035F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square"/>
                    <a:lstStyle/>
                    <a:p>
                      <a:pPr algn="ctr"/>
                      <a:r>
                        <a:rPr sz="1100" b="1">
                          <a:solidFill>
                            <a:srgbClr val="0B2E4A"/>
                          </a:solidFill>
                          <a:latin typeface="Calibri"/>
                        </a:rPr>
                        <a:t>F-CAGR</a:t>
                      </a:r>
                      <a:endParaRPr sz="1100"/>
                    </a:p>
                  </a:txBody>
                  <a:tcPr marL="19050" marR="14288" marT="19050" marB="19050" anchor="ctr">
                    <a:solidFill>
                      <a:srgbClr val="E0E8EF"/>
                    </a:solidFill>
                  </a:tcPr>
                </a:tc>
              </a:tr>
              <a:tr h="246983">
                <a:tc>
                  <a:txBody>
                    <a:bodyPr wrap="none"/>
                    <a:lstStyle/>
                    <a:p>
                      <a:pPr algn="l"/>
                      <a:r>
                        <a:rPr sz="1100" b="1">
                          <a:solidFill>
                            <a:srgbClr val="2E2E2E"/>
                          </a:solidFill>
                          <a:latin typeface="Calibri"/>
                        </a:rPr>
                        <a:t>North America</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983">
                <a:tc>
                  <a:txBody>
                    <a:bodyPr wrap="none"/>
                    <a:lstStyle/>
                    <a:p>
                      <a:pPr algn="l"/>
                      <a:r>
                        <a:rPr sz="1100" b="1">
                          <a:solidFill>
                            <a:srgbClr val="2E2E2E"/>
                          </a:solidFill>
                          <a:latin typeface="Calibri"/>
                        </a:rPr>
                        <a:t>Latin America</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r>
              <a:tr h="246983">
                <a:tc>
                  <a:txBody>
                    <a:bodyPr wrap="none"/>
                    <a:lstStyle/>
                    <a:p>
                      <a:pPr algn="l"/>
                      <a:r>
                        <a:rPr sz="1100" b="1">
                          <a:solidFill>
                            <a:srgbClr val="2E2E2E"/>
                          </a:solidFill>
                          <a:latin typeface="Calibri"/>
                        </a:rPr>
                        <a:t>East Asia</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439769">
                <a:tc>
                  <a:txBody>
                    <a:bodyPr wrap="none"/>
                    <a:lstStyle/>
                    <a:p>
                      <a:pPr algn="l"/>
                      <a:r>
                        <a:rPr sz="1100" b="1">
                          <a:solidFill>
                            <a:srgbClr val="2E2E2E"/>
                          </a:solidFill>
                          <a:latin typeface="Calibri"/>
                        </a:rPr>
                        <a:t>South Asia &amp;</a:t>
                      </a:r>
                      <a:endParaRPr sz="1100"/>
                    </a:p>
                    <a:p>
                      <a:pPr algn="l"/>
                      <a:r>
                        <a:rPr sz="1100" b="1">
                          <a:solidFill>
                            <a:srgbClr val="2E2E2E"/>
                          </a:solidFill>
                          <a:latin typeface="Calibri"/>
                        </a:rPr>
                        <a:t>Pacific</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r>
              <a:tr h="246983">
                <a:tc>
                  <a:txBody>
                    <a:bodyPr wrap="none"/>
                    <a:lstStyle/>
                    <a:p>
                      <a:pPr algn="l"/>
                      <a:r>
                        <a:rPr sz="1100" b="1">
                          <a:solidFill>
                            <a:srgbClr val="2E2E2E"/>
                          </a:solidFill>
                          <a:latin typeface="Calibri"/>
                        </a:rPr>
                        <a:t>Western Europe</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983">
                <a:tc>
                  <a:txBody>
                    <a:bodyPr wrap="none"/>
                    <a:lstStyle/>
                    <a:p>
                      <a:pPr algn="l"/>
                      <a:r>
                        <a:rPr sz="1100" b="1">
                          <a:solidFill>
                            <a:srgbClr val="2E2E2E"/>
                          </a:solidFill>
                          <a:latin typeface="Calibri"/>
                        </a:rPr>
                        <a:t>Eastern Europe</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r>
              <a:tr h="439769">
                <a:tc>
                  <a:txBody>
                    <a:bodyPr wrap="none"/>
                    <a:lstStyle/>
                    <a:p>
                      <a:pPr algn="l"/>
                      <a:r>
                        <a:rPr sz="1100" b="1">
                          <a:solidFill>
                            <a:srgbClr val="2E2E2E"/>
                          </a:solidFill>
                          <a:latin typeface="Calibri"/>
                        </a:rPr>
                        <a:t>Middle East &amp;</a:t>
                      </a:r>
                      <a:endParaRPr sz="1100"/>
                    </a:p>
                    <a:p>
                      <a:pPr algn="l"/>
                      <a:r>
                        <a:rPr sz="1100" b="1">
                          <a:solidFill>
                            <a:srgbClr val="2E2E2E"/>
                          </a:solidFill>
                          <a:latin typeface="Calibri"/>
                        </a:rPr>
                        <a:t>Africa</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983">
                <a:tc>
                  <a:txBody>
                    <a:bodyPr wrap="none"/>
                    <a:lstStyle/>
                    <a:p>
                      <a:pPr algn="l"/>
                      <a:r>
                        <a:rPr sz="1100" b="1">
                          <a:solidFill>
                            <a:srgbClr val="2E2E2E"/>
                          </a:solidFill>
                          <a:latin typeface="Calibri"/>
                        </a:rPr>
                        <a:t>Total</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r>
            </a:tbl>
          </a:graphicData>
        </a:graphic>
      </p:graphicFrame>
      <p:sp>
        <p:nvSpPr>
          <p:cNvPr id="13" name="TextBox 12"/>
          <p:cNvSpPr txBox="1"/>
          <p:nvPr/>
        </p:nvSpPr>
        <p:spPr>
          <a:xfrm>
            <a:off x="219075" y="40481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381500"/>
            <a:ext cx="11906250" cy="2247900"/>
          </a:xfrm>
          <a:prstGeom prst="roundRect">
            <a:avLst>
              <a:gd name="adj" fmla="val 338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46722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Share Read-out, By Region</a:t>
            </a:r>
          </a:p>
        </p:txBody>
      </p:sp>
      <p:sp>
        <p:nvSpPr>
          <p:cNvPr id="16" name="Rectangle 15"/>
          <p:cNvSpPr/>
          <p:nvPr/>
        </p:nvSpPr>
        <p:spPr>
          <a:xfrm>
            <a:off x="276225" y="47053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791075"/>
            <a:ext cx="11639550" cy="1762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529244" y="2591179"/>
            <a:ext cx="366712" cy="533400"/>
          </a:xfrm>
          <a:prstGeom prst="rect">
            <a:avLst/>
          </a:prstGeom>
        </p:spPr>
      </p:pic>
      <p:sp>
        <p:nvSpPr>
          <p:cNvPr id="20" name="TextBox 19"/>
          <p:cNvSpPr txBox="1"/>
          <p:nvPr/>
        </p:nvSpPr>
        <p:spPr>
          <a:xfrm>
            <a:off x="276225" y="4800600"/>
            <a:ext cx="4318781" cy="194310"/>
          </a:xfrm>
          <a:prstGeom prst="rect">
            <a:avLst/>
          </a:prstGeom>
          <a:noFill/>
        </p:spPr>
        <p:txBody>
          <a:bodyPr wrap="none" lIns="0" rIns="0" tIns="0" bIns="0">
            <a:spAutoFit/>
          </a:bodyPr>
          <a:lstStyle/>
          <a:p>
            <a:r>
              <a:rPr sz="1150" b="0">
                <a:solidFill>
                  <a:srgbClr val="2E2E2E"/>
                </a:solidFill>
                <a:latin typeface="Calibri"/>
              </a:rPr>
              <a:t>South Asia &amp; Pacific waterproof coatings market is projected to register</a:t>
            </a:r>
          </a:p>
        </p:txBody>
      </p:sp>
      <p:pic>
        <p:nvPicPr>
          <p:cNvPr id="21" name="Picture 20" descr="lock.png"/>
          <p:cNvPicPr>
            <a:picLocks noChangeAspect="1"/>
          </p:cNvPicPr>
          <p:nvPr/>
        </p:nvPicPr>
        <p:blipFill>
          <a:blip r:embed="rId4"/>
          <a:stretch>
            <a:fillRect/>
          </a:stretch>
        </p:blipFill>
        <p:spPr>
          <a:xfrm>
            <a:off x="4544160" y="4790376"/>
            <a:ext cx="134549" cy="195707"/>
          </a:xfrm>
          <a:prstGeom prst="rect">
            <a:avLst/>
          </a:prstGeom>
        </p:spPr>
      </p:pic>
      <p:sp>
        <p:nvSpPr>
          <p:cNvPr id="22" name="TextBox 21"/>
          <p:cNvSpPr txBox="1"/>
          <p:nvPr/>
        </p:nvSpPr>
        <p:spPr>
          <a:xfrm>
            <a:off x="4719269" y="4800600"/>
            <a:ext cx="7143650" cy="194310"/>
          </a:xfrm>
          <a:prstGeom prst="rect">
            <a:avLst/>
          </a:prstGeom>
          <a:noFill/>
        </p:spPr>
        <p:txBody>
          <a:bodyPr wrap="none" lIns="0" rIns="0" tIns="0" bIns="0">
            <a:spAutoFit/>
          </a:bodyPr>
          <a:lstStyle/>
          <a:p>
            <a:r>
              <a:rPr sz="1150" b="0">
                <a:solidFill>
                  <a:srgbClr val="2E2E2E"/>
                </a:solidFill>
                <a:latin typeface="Calibri"/>
              </a:rPr>
              <a:t>X higher volume than North America in 2036. Among waterproof coatings by region, South Asia &amp; Pacific is expected to</a:t>
            </a:r>
          </a:p>
        </p:txBody>
      </p:sp>
      <p:sp>
        <p:nvSpPr>
          <p:cNvPr id="23" name="TextBox 22"/>
          <p:cNvSpPr txBox="1"/>
          <p:nvPr/>
        </p:nvSpPr>
        <p:spPr>
          <a:xfrm>
            <a:off x="276225" y="4975860"/>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24" name="Picture 23" descr="lock.png"/>
          <p:cNvPicPr>
            <a:picLocks noChangeAspect="1"/>
          </p:cNvPicPr>
          <p:nvPr/>
        </p:nvPicPr>
        <p:blipFill>
          <a:blip r:embed="rId4"/>
          <a:stretch>
            <a:fillRect/>
          </a:stretch>
        </p:blipFill>
        <p:spPr>
          <a:xfrm>
            <a:off x="1973149" y="4965636"/>
            <a:ext cx="134549" cy="195707"/>
          </a:xfrm>
          <a:prstGeom prst="rect">
            <a:avLst/>
          </a:prstGeom>
        </p:spPr>
      </p:pic>
      <p:sp>
        <p:nvSpPr>
          <p:cNvPr id="25" name="TextBox 24"/>
          <p:cNvSpPr txBox="1"/>
          <p:nvPr/>
        </p:nvSpPr>
        <p:spPr>
          <a:xfrm>
            <a:off x="2148258" y="497586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5203697"/>
            <a:ext cx="6046564" cy="194310"/>
          </a:xfrm>
          <a:prstGeom prst="rect">
            <a:avLst/>
          </a:prstGeom>
          <a:noFill/>
        </p:spPr>
        <p:txBody>
          <a:bodyPr wrap="none" lIns="0" rIns="0" tIns="0" bIns="0">
            <a:spAutoFit/>
          </a:bodyPr>
          <a:lstStyle/>
          <a:p>
            <a:r>
              <a:rPr sz="1150" b="0">
                <a:solidFill>
                  <a:srgbClr val="2E2E2E"/>
                </a:solidFill>
                <a:latin typeface="Calibri"/>
              </a:rPr>
              <a:t>In terms of volume share by region, South Asia &amp; Pacific is expected to dominate the market, gaining</a:t>
            </a:r>
          </a:p>
        </p:txBody>
      </p:sp>
      <p:pic>
        <p:nvPicPr>
          <p:cNvPr id="27" name="Picture 26" descr="lock.png"/>
          <p:cNvPicPr>
            <a:picLocks noChangeAspect="1"/>
          </p:cNvPicPr>
          <p:nvPr/>
        </p:nvPicPr>
        <p:blipFill>
          <a:blip r:embed="rId4"/>
          <a:stretch>
            <a:fillRect/>
          </a:stretch>
        </p:blipFill>
        <p:spPr>
          <a:xfrm>
            <a:off x="6271943" y="5193474"/>
            <a:ext cx="134549" cy="195707"/>
          </a:xfrm>
          <a:prstGeom prst="rect">
            <a:avLst/>
          </a:prstGeom>
        </p:spPr>
      </p:pic>
      <p:sp>
        <p:nvSpPr>
          <p:cNvPr id="28" name="TextBox 27"/>
          <p:cNvSpPr txBox="1"/>
          <p:nvPr/>
        </p:nvSpPr>
        <p:spPr>
          <a:xfrm>
            <a:off x="6447052" y="520369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7842195" y="5193474"/>
            <a:ext cx="134549" cy="195707"/>
          </a:xfrm>
          <a:prstGeom prst="rect">
            <a:avLst/>
          </a:prstGeom>
        </p:spPr>
      </p:pic>
      <p:sp>
        <p:nvSpPr>
          <p:cNvPr id="30" name="TextBox 29"/>
          <p:cNvSpPr txBox="1"/>
          <p:nvPr/>
        </p:nvSpPr>
        <p:spPr>
          <a:xfrm>
            <a:off x="8017304" y="5203697"/>
            <a:ext cx="2986645" cy="194310"/>
          </a:xfrm>
          <a:prstGeom prst="rect">
            <a:avLst/>
          </a:prstGeom>
          <a:noFill/>
        </p:spPr>
        <p:txBody>
          <a:bodyPr wrap="none" lIns="0" rIns="0" tIns="0" bIns="0">
            <a:spAutoFit/>
          </a:bodyPr>
          <a:lstStyle/>
          <a:p>
            <a:r>
              <a:rPr sz="1150" b="0">
                <a:solidFill>
                  <a:srgbClr val="2E2E2E"/>
                </a:solidFill>
                <a:latin typeface="Calibri"/>
              </a:rPr>
              <a:t>share by 2036. North America is expected to lose</a:t>
            </a:r>
          </a:p>
        </p:txBody>
      </p:sp>
      <p:pic>
        <p:nvPicPr>
          <p:cNvPr id="31" name="Picture 30" descr="lock.png"/>
          <p:cNvPicPr>
            <a:picLocks noChangeAspect="1"/>
          </p:cNvPicPr>
          <p:nvPr/>
        </p:nvPicPr>
        <p:blipFill>
          <a:blip r:embed="rId4"/>
          <a:stretch>
            <a:fillRect/>
          </a:stretch>
        </p:blipFill>
        <p:spPr>
          <a:xfrm>
            <a:off x="10953104" y="5193474"/>
            <a:ext cx="134549" cy="195707"/>
          </a:xfrm>
          <a:prstGeom prst="rect">
            <a:avLst/>
          </a:prstGeom>
        </p:spPr>
      </p:pic>
      <p:sp>
        <p:nvSpPr>
          <p:cNvPr id="32" name="TextBox 31"/>
          <p:cNvSpPr txBox="1"/>
          <p:nvPr/>
        </p:nvSpPr>
        <p:spPr>
          <a:xfrm>
            <a:off x="11128213" y="5203697"/>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33" name="TextBox 32"/>
          <p:cNvSpPr txBox="1"/>
          <p:nvPr/>
        </p:nvSpPr>
        <p:spPr>
          <a:xfrm>
            <a:off x="276225" y="5378957"/>
            <a:ext cx="2383048" cy="194310"/>
          </a:xfrm>
          <a:prstGeom prst="rect">
            <a:avLst/>
          </a:prstGeom>
          <a:noFill/>
        </p:spPr>
        <p:txBody>
          <a:bodyPr wrap="none" lIns="0" rIns="0" tIns="0" bIns="0">
            <a:spAutoFit/>
          </a:bodyPr>
          <a:lstStyle/>
          <a:p>
            <a:r>
              <a:rPr sz="1150" b="0">
                <a:solidFill>
                  <a:srgbClr val="2E2E2E"/>
                </a:solidFill>
                <a:latin typeface="Calibri"/>
              </a:rPr>
              <a:t>over the forecast period to account for</a:t>
            </a:r>
          </a:p>
        </p:txBody>
      </p:sp>
      <p:pic>
        <p:nvPicPr>
          <p:cNvPr id="34" name="Picture 33" descr="lock.png"/>
          <p:cNvPicPr>
            <a:picLocks noChangeAspect="1"/>
          </p:cNvPicPr>
          <p:nvPr/>
        </p:nvPicPr>
        <p:blipFill>
          <a:blip r:embed="rId4"/>
          <a:stretch>
            <a:fillRect/>
          </a:stretch>
        </p:blipFill>
        <p:spPr>
          <a:xfrm>
            <a:off x="2608427" y="5368734"/>
            <a:ext cx="134549" cy="195707"/>
          </a:xfrm>
          <a:prstGeom prst="rect">
            <a:avLst/>
          </a:prstGeom>
        </p:spPr>
      </p:pic>
      <p:sp>
        <p:nvSpPr>
          <p:cNvPr id="35" name="TextBox 34"/>
          <p:cNvSpPr txBox="1"/>
          <p:nvPr/>
        </p:nvSpPr>
        <p:spPr>
          <a:xfrm>
            <a:off x="2783536" y="537895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Waterproof Coatings Market Share Analysis, By Region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and share by region, 2021–2036, highlighting the geographies gaining and ceding ground</a:t>
            </a:r>
          </a:p>
        </p:txBody>
      </p:sp>
      <p:sp>
        <p:nvSpPr>
          <p:cNvPr id="10" name="Rounded Rectangle 9"/>
          <p:cNvSpPr/>
          <p:nvPr/>
        </p:nvSpPr>
        <p:spPr>
          <a:xfrm>
            <a:off x="142875" y="981075"/>
            <a:ext cx="11906250" cy="2686050"/>
          </a:xfrm>
          <a:prstGeom prst="roundRect">
            <a:avLst>
              <a:gd name="adj" fmla="val 28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(US$ Mn)</a:t>
            </a:r>
          </a:p>
        </p:txBody>
      </p:sp>
      <p:graphicFrame>
        <p:nvGraphicFramePr>
          <p:cNvPr id="12" name="Table 11"/>
          <p:cNvGraphicFramePr>
            <a:graphicFrameLocks noGrp="1"/>
          </p:cNvGraphicFramePr>
          <p:nvPr/>
        </p:nvGraphicFramePr>
        <p:xfrm>
          <a:off x="152400" y="1238250"/>
          <a:ext cx="11887195" cy="2219326"/>
        </p:xfrm>
        <a:graphic>
          <a:graphicData uri="http://schemas.openxmlformats.org/drawingml/2006/table">
            <a:tbl>
              <a:tblPr>
                <a:tableStyleId>{5C22544A-7EE6-4342-B048-85BDC9FD1C3A}</a:tableStyleId>
              </a:tblPr>
              <a:tblGrid>
                <a:gridCol w="1475375"/>
                <a:gridCol w="612460"/>
                <a:gridCol w="612460"/>
                <a:gridCol w="612460"/>
                <a:gridCol w="612460"/>
                <a:gridCol w="612460"/>
                <a:gridCol w="612460"/>
                <a:gridCol w="612460"/>
                <a:gridCol w="612460"/>
                <a:gridCol w="612460"/>
                <a:gridCol w="612460"/>
                <a:gridCol w="612460"/>
                <a:gridCol w="612460"/>
                <a:gridCol w="612460"/>
                <a:gridCol w="612460"/>
                <a:gridCol w="612460"/>
                <a:gridCol w="612460"/>
                <a:gridCol w="612460"/>
              </a:tblGrid>
              <a:tr h="246126">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650">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East Asia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Western 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Eastern Europe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4671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800475"/>
            <a:ext cx="11906250" cy="2828925"/>
          </a:xfrm>
          <a:prstGeom prst="roundRect">
            <a:avLst>
              <a:gd name="adj" fmla="val 26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88620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Share Read-out, By Region</a:t>
            </a:r>
          </a:p>
        </p:txBody>
      </p:sp>
      <p:sp>
        <p:nvSpPr>
          <p:cNvPr id="16" name="Rectangle 15"/>
          <p:cNvSpPr/>
          <p:nvPr/>
        </p:nvSpPr>
        <p:spPr>
          <a:xfrm>
            <a:off x="276225" y="41243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210050"/>
            <a:ext cx="11639550" cy="2343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646995" y="2204276"/>
            <a:ext cx="366712" cy="533400"/>
          </a:xfrm>
          <a:prstGeom prst="rect">
            <a:avLst/>
          </a:prstGeom>
        </p:spPr>
      </p:pic>
      <p:sp>
        <p:nvSpPr>
          <p:cNvPr id="20" name="TextBox 19"/>
          <p:cNvSpPr txBox="1"/>
          <p:nvPr/>
        </p:nvSpPr>
        <p:spPr>
          <a:xfrm>
            <a:off x="276225" y="4219575"/>
            <a:ext cx="4018979" cy="194310"/>
          </a:xfrm>
          <a:prstGeom prst="rect">
            <a:avLst/>
          </a:prstGeom>
          <a:noFill/>
        </p:spPr>
        <p:txBody>
          <a:bodyPr wrap="none" lIns="0" rIns="0" tIns="0" bIns="0">
            <a:spAutoFit/>
          </a:bodyPr>
          <a:lstStyle/>
          <a:p>
            <a:r>
              <a:rPr sz="1150" b="0">
                <a:solidFill>
                  <a:srgbClr val="2E2E2E"/>
                </a:solidFill>
                <a:latin typeface="Calibri"/>
              </a:rPr>
              <a:t>North America waterproof coatings market is projected to register</a:t>
            </a:r>
          </a:p>
        </p:txBody>
      </p:sp>
      <p:pic>
        <p:nvPicPr>
          <p:cNvPr id="21" name="Picture 20" descr="lock.png"/>
          <p:cNvPicPr>
            <a:picLocks noChangeAspect="1"/>
          </p:cNvPicPr>
          <p:nvPr/>
        </p:nvPicPr>
        <p:blipFill>
          <a:blip r:embed="rId4"/>
          <a:stretch>
            <a:fillRect/>
          </a:stretch>
        </p:blipFill>
        <p:spPr>
          <a:xfrm>
            <a:off x="4244358" y="4209351"/>
            <a:ext cx="134549" cy="195707"/>
          </a:xfrm>
          <a:prstGeom prst="rect">
            <a:avLst/>
          </a:prstGeom>
        </p:spPr>
      </p:pic>
      <p:sp>
        <p:nvSpPr>
          <p:cNvPr id="22" name="TextBox 21"/>
          <p:cNvSpPr txBox="1"/>
          <p:nvPr/>
        </p:nvSpPr>
        <p:spPr>
          <a:xfrm>
            <a:off x="4419467" y="4219575"/>
            <a:ext cx="7319652" cy="194310"/>
          </a:xfrm>
          <a:prstGeom prst="rect">
            <a:avLst/>
          </a:prstGeom>
          <a:noFill/>
        </p:spPr>
        <p:txBody>
          <a:bodyPr wrap="none" lIns="0" rIns="0" tIns="0" bIns="0">
            <a:spAutoFit/>
          </a:bodyPr>
          <a:lstStyle/>
          <a:p>
            <a:r>
              <a:rPr sz="1150" b="0">
                <a:solidFill>
                  <a:srgbClr val="2E2E2E"/>
                </a:solidFill>
                <a:latin typeface="Calibri"/>
              </a:rPr>
              <a:t>X higher value than South Asia &amp; Pacific in 2036. Among waterproof coatings by region, South Asia &amp; Pacific is expected to</a:t>
            </a:r>
          </a:p>
        </p:txBody>
      </p:sp>
      <p:sp>
        <p:nvSpPr>
          <p:cNvPr id="23" name="TextBox 22"/>
          <p:cNvSpPr txBox="1"/>
          <p:nvPr/>
        </p:nvSpPr>
        <p:spPr>
          <a:xfrm>
            <a:off x="276225" y="4394835"/>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24" name="Picture 23" descr="lock.png"/>
          <p:cNvPicPr>
            <a:picLocks noChangeAspect="1"/>
          </p:cNvPicPr>
          <p:nvPr/>
        </p:nvPicPr>
        <p:blipFill>
          <a:blip r:embed="rId4"/>
          <a:stretch>
            <a:fillRect/>
          </a:stretch>
        </p:blipFill>
        <p:spPr>
          <a:xfrm>
            <a:off x="1973149" y="4384611"/>
            <a:ext cx="134549" cy="195707"/>
          </a:xfrm>
          <a:prstGeom prst="rect">
            <a:avLst/>
          </a:prstGeom>
        </p:spPr>
      </p:pic>
      <p:sp>
        <p:nvSpPr>
          <p:cNvPr id="25" name="TextBox 24"/>
          <p:cNvSpPr txBox="1"/>
          <p:nvPr/>
        </p:nvSpPr>
        <p:spPr>
          <a:xfrm>
            <a:off x="2148258" y="43948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622672"/>
            <a:ext cx="5541664" cy="194310"/>
          </a:xfrm>
          <a:prstGeom prst="rect">
            <a:avLst/>
          </a:prstGeom>
          <a:noFill/>
        </p:spPr>
        <p:txBody>
          <a:bodyPr wrap="none" lIns="0" rIns="0" tIns="0" bIns="0">
            <a:spAutoFit/>
          </a:bodyPr>
          <a:lstStyle/>
          <a:p>
            <a:r>
              <a:rPr sz="1150" b="0">
                <a:solidFill>
                  <a:srgbClr val="2E2E2E"/>
                </a:solidFill>
                <a:latin typeface="Calibri"/>
              </a:rPr>
              <a:t>In terms of value share by region, North America is expected to dominate the market, losing</a:t>
            </a:r>
          </a:p>
        </p:txBody>
      </p:sp>
      <p:pic>
        <p:nvPicPr>
          <p:cNvPr id="27" name="Picture 26" descr="lock.png"/>
          <p:cNvPicPr>
            <a:picLocks noChangeAspect="1"/>
          </p:cNvPicPr>
          <p:nvPr/>
        </p:nvPicPr>
        <p:blipFill>
          <a:blip r:embed="rId4"/>
          <a:stretch>
            <a:fillRect/>
          </a:stretch>
        </p:blipFill>
        <p:spPr>
          <a:xfrm>
            <a:off x="5767043" y="4612449"/>
            <a:ext cx="134549" cy="195707"/>
          </a:xfrm>
          <a:prstGeom prst="rect">
            <a:avLst/>
          </a:prstGeom>
        </p:spPr>
      </p:pic>
      <p:sp>
        <p:nvSpPr>
          <p:cNvPr id="28" name="TextBox 27"/>
          <p:cNvSpPr txBox="1"/>
          <p:nvPr/>
        </p:nvSpPr>
        <p:spPr>
          <a:xfrm>
            <a:off x="5942153" y="46226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7337296" y="4612449"/>
            <a:ext cx="134549" cy="195707"/>
          </a:xfrm>
          <a:prstGeom prst="rect">
            <a:avLst/>
          </a:prstGeom>
        </p:spPr>
      </p:pic>
      <p:sp>
        <p:nvSpPr>
          <p:cNvPr id="30" name="TextBox 29"/>
          <p:cNvSpPr txBox="1"/>
          <p:nvPr/>
        </p:nvSpPr>
        <p:spPr>
          <a:xfrm>
            <a:off x="7512405" y="462267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Waterproof Coatings Market Trends, By Region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regional volume and value shares shift over 2021–2036, highlighting who gains ground</a:t>
            </a:r>
          </a:p>
        </p:txBody>
      </p:sp>
      <p:sp>
        <p:nvSpPr>
          <p:cNvPr id="10" name="Rounded Rectangle 9"/>
          <p:cNvSpPr/>
          <p:nvPr/>
        </p:nvSpPr>
        <p:spPr>
          <a:xfrm>
            <a:off x="142875" y="981075"/>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By Region (Units)</a:t>
            </a:r>
          </a:p>
        </p:txBody>
      </p:sp>
      <p:graphicFrame>
        <p:nvGraphicFramePr>
          <p:cNvPr id="12" name="Chart 11"/>
          <p:cNvGraphicFramePr>
            <a:graphicFrameLocks noGrp="1"/>
          </p:cNvGraphicFramePr>
          <p:nvPr/>
        </p:nvGraphicFramePr>
        <p:xfrm>
          <a:off x="238125" y="1266825"/>
          <a:ext cx="9448800"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9763125" y="1304925"/>
            <a:ext cx="2190750" cy="2333625"/>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MI Dense Legend"/>
          <p:cNvSpPr txBox="1"/>
          <p:nvPr/>
        </p:nvSpPr>
        <p:spPr>
          <a:xfrm>
            <a:off x="9839325" y="1362075"/>
            <a:ext cx="2057400" cy="171450"/>
          </a:xfrm>
          <a:prstGeom prst="rect">
            <a:avLst/>
          </a:prstGeom>
          <a:noFill/>
        </p:spPr>
        <p:txBody>
          <a:bodyPr wrap="none">
            <a:spAutoFit/>
          </a:bodyPr>
          <a:lstStyle/>
          <a:p>
            <a:pPr/>
            <a:r>
              <a:rPr sz="850" b="1">
                <a:solidFill>
                  <a:srgbClr val="6C7A89"/>
                </a:solidFill>
                <a:latin typeface="Calibri"/>
              </a:rPr>
              <a:t/>
            </a:r>
          </a:p>
        </p:txBody>
      </p:sp>
      <p:sp>
        <p:nvSpPr>
          <p:cNvPr id="15" name="FMI Dense Legend"/>
          <p:cNvSpPr txBox="1"/>
          <p:nvPr/>
        </p:nvSpPr>
        <p:spPr>
          <a:xfrm>
            <a:off x="9839325" y="1533525"/>
            <a:ext cx="2057400" cy="2047875"/>
          </a:xfrm>
          <a:prstGeom prst="rect">
            <a:avLst/>
          </a:prstGeom>
          <a:noFill/>
        </p:spPr>
        <p:txBody>
          <a:bodyPr wrap="square">
            <a:spAutoFit/>
          </a:bodyPr>
          <a:lstStyle/>
          <a:p>
            <a:pPr>
              <a:spcBef>
                <a:spcPts val="500"/>
              </a:spcBef>
            </a:pPr>
            <a:r>
              <a:rPr sz="900">
                <a:solidFill>
                  <a:srgbClr val="008189"/>
                </a:solidFill>
                <a:latin typeface="Calibri"/>
              </a:rPr>
              <a:t>■  </a:t>
            </a:r>
            <a:r>
              <a:rPr sz="750">
                <a:solidFill>
                  <a:srgbClr val="2E2E2E"/>
                </a:solidFill>
                <a:latin typeface="Calibri"/>
              </a:rPr>
              <a:t>   South Asia &amp; Pacific</a:t>
            </a:r>
          </a:p>
          <a:p>
            <a:pPr>
              <a:spcBef>
                <a:spcPts val="500"/>
              </a:spcBef>
            </a:pPr>
            <a:r>
              <a:rPr sz="900">
                <a:solidFill>
                  <a:srgbClr val="3D85C6"/>
                </a:solidFill>
                <a:latin typeface="Calibri"/>
              </a:rPr>
              <a:t>■  </a:t>
            </a:r>
            <a:r>
              <a:rPr sz="750">
                <a:solidFill>
                  <a:srgbClr val="2E2E2E"/>
                </a:solidFill>
                <a:latin typeface="Calibri"/>
              </a:rPr>
              <a:t>   North America</a:t>
            </a:r>
          </a:p>
          <a:p>
            <a:pPr>
              <a:spcBef>
                <a:spcPts val="500"/>
              </a:spcBef>
            </a:pPr>
            <a:r>
              <a:rPr sz="900">
                <a:solidFill>
                  <a:srgbClr val="9E7E0A"/>
                </a:solidFill>
                <a:latin typeface="Calibri"/>
              </a:rPr>
              <a:t>■  </a:t>
            </a:r>
            <a:r>
              <a:rPr sz="750">
                <a:solidFill>
                  <a:srgbClr val="2E2E2E"/>
                </a:solidFill>
                <a:latin typeface="Calibri"/>
              </a:rPr>
              <a:t>   East Asia</a:t>
            </a:r>
          </a:p>
          <a:p>
            <a:pPr>
              <a:spcBef>
                <a:spcPts val="500"/>
              </a:spcBef>
            </a:pPr>
            <a:r>
              <a:rPr sz="900">
                <a:solidFill>
                  <a:srgbClr val="40315E"/>
                </a:solidFill>
                <a:latin typeface="Calibri"/>
              </a:rPr>
              <a:t>■  </a:t>
            </a:r>
            <a:r>
              <a:rPr sz="750">
                <a:solidFill>
                  <a:srgbClr val="2E2E2E"/>
                </a:solidFill>
                <a:latin typeface="Calibri"/>
              </a:rPr>
              <a:t>   Latin America</a:t>
            </a:r>
          </a:p>
          <a:p>
            <a:pPr>
              <a:spcBef>
                <a:spcPts val="500"/>
              </a:spcBef>
            </a:pPr>
            <a:r>
              <a:rPr sz="900">
                <a:solidFill>
                  <a:srgbClr val="A35313"/>
                </a:solidFill>
                <a:latin typeface="Calibri"/>
              </a:rPr>
              <a:t>■  </a:t>
            </a:r>
            <a:r>
              <a:rPr sz="750">
                <a:solidFill>
                  <a:srgbClr val="2E2E2E"/>
                </a:solidFill>
                <a:latin typeface="Calibri"/>
              </a:rPr>
              <a:t>   Middle East &amp; Africa</a:t>
            </a:r>
          </a:p>
          <a:p>
            <a:pPr>
              <a:spcBef>
                <a:spcPts val="500"/>
              </a:spcBef>
            </a:pPr>
            <a:r>
              <a:rPr sz="900">
                <a:solidFill>
                  <a:srgbClr val="808080"/>
                </a:solidFill>
                <a:latin typeface="Calibri"/>
              </a:rPr>
              <a:t>■  </a:t>
            </a:r>
            <a:r>
              <a:rPr sz="750">
                <a:solidFill>
                  <a:srgbClr val="2E2E2E"/>
                </a:solidFill>
                <a:latin typeface="Calibri"/>
              </a:rPr>
              <a:t>   Eastern Europe</a:t>
            </a:r>
          </a:p>
          <a:p>
            <a:pPr>
              <a:spcBef>
                <a:spcPts val="500"/>
              </a:spcBef>
            </a:pPr>
            <a:r>
              <a:rPr sz="900">
                <a:solidFill>
                  <a:srgbClr val="0E72AE"/>
                </a:solidFill>
                <a:latin typeface="Calibri"/>
              </a:rPr>
              <a:t>■  </a:t>
            </a:r>
            <a:r>
              <a:rPr sz="750">
                <a:solidFill>
                  <a:srgbClr val="2E2E2E"/>
                </a:solidFill>
                <a:latin typeface="Calibri"/>
              </a:rPr>
              <a:t>   Western Europe</a:t>
            </a:r>
          </a:p>
        </p:txBody>
      </p:sp>
      <p:sp>
        <p:nvSpPr>
          <p:cNvPr id="16" name="Rounded Rectangle 15"/>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Region (US$ Mn)</a:t>
            </a:r>
          </a:p>
        </p:txBody>
      </p:sp>
      <p:graphicFrame>
        <p:nvGraphicFramePr>
          <p:cNvPr id="18" name="Chart 17"/>
          <p:cNvGraphicFramePr>
            <a:graphicFrameLocks noGrp="1"/>
          </p:cNvGraphicFramePr>
          <p:nvPr/>
        </p:nvGraphicFramePr>
        <p:xfrm>
          <a:off x="238125" y="4152900"/>
          <a:ext cx="9448800" cy="2409825"/>
        </p:xfrm>
        <a:graphic>
          <a:graphicData uri="http://schemas.openxmlformats.org/drawingml/2006/chart">
            <c:chart xmlns:c="http://schemas.openxmlformats.org/drawingml/2006/chart" r:id="rId4"/>
          </a:graphicData>
        </a:graphic>
      </p:graphicFrame>
      <p:sp>
        <p:nvSpPr>
          <p:cNvPr id="19" name="Rounded Rectangle 18"/>
          <p:cNvSpPr/>
          <p:nvPr/>
        </p:nvSpPr>
        <p:spPr>
          <a:xfrm>
            <a:off x="9763125" y="4191000"/>
            <a:ext cx="2190750" cy="2333625"/>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MI Dense Legend"/>
          <p:cNvSpPr txBox="1"/>
          <p:nvPr/>
        </p:nvSpPr>
        <p:spPr>
          <a:xfrm>
            <a:off x="9839325" y="4248150"/>
            <a:ext cx="2057400" cy="171450"/>
          </a:xfrm>
          <a:prstGeom prst="rect">
            <a:avLst/>
          </a:prstGeom>
          <a:noFill/>
        </p:spPr>
        <p:txBody>
          <a:bodyPr wrap="none">
            <a:spAutoFit/>
          </a:bodyPr>
          <a:lstStyle/>
          <a:p>
            <a:pPr/>
            <a:r>
              <a:rPr sz="850" b="1">
                <a:solidFill>
                  <a:srgbClr val="6C7A89"/>
                </a:solidFill>
                <a:latin typeface="Calibri"/>
              </a:rPr>
              <a:t/>
            </a:r>
          </a:p>
        </p:txBody>
      </p:sp>
      <p:sp>
        <p:nvSpPr>
          <p:cNvPr id="21" name="FMI Dense Legend"/>
          <p:cNvSpPr txBox="1"/>
          <p:nvPr/>
        </p:nvSpPr>
        <p:spPr>
          <a:xfrm>
            <a:off x="9839325" y="4419600"/>
            <a:ext cx="2057400" cy="2047875"/>
          </a:xfrm>
          <a:prstGeom prst="rect">
            <a:avLst/>
          </a:prstGeom>
          <a:noFill/>
        </p:spPr>
        <p:txBody>
          <a:bodyPr wrap="square">
            <a:spAutoFit/>
          </a:bodyPr>
          <a:lstStyle/>
          <a:p>
            <a:pPr>
              <a:spcBef>
                <a:spcPts val="500"/>
              </a:spcBef>
            </a:pPr>
            <a:r>
              <a:rPr sz="900">
                <a:solidFill>
                  <a:srgbClr val="3D85C6"/>
                </a:solidFill>
                <a:latin typeface="Calibri"/>
              </a:rPr>
              <a:t>■  </a:t>
            </a:r>
            <a:r>
              <a:rPr sz="750">
                <a:solidFill>
                  <a:srgbClr val="2E2E2E"/>
                </a:solidFill>
                <a:latin typeface="Calibri"/>
              </a:rPr>
              <a:t>   North America</a:t>
            </a:r>
          </a:p>
          <a:p>
            <a:pPr>
              <a:spcBef>
                <a:spcPts val="500"/>
              </a:spcBef>
            </a:pPr>
            <a:r>
              <a:rPr sz="900">
                <a:solidFill>
                  <a:srgbClr val="008189"/>
                </a:solidFill>
                <a:latin typeface="Calibri"/>
              </a:rPr>
              <a:t>■  </a:t>
            </a:r>
            <a:r>
              <a:rPr sz="750">
                <a:solidFill>
                  <a:srgbClr val="2E2E2E"/>
                </a:solidFill>
                <a:latin typeface="Calibri"/>
              </a:rPr>
              <a:t>   South Asia &amp; Pacific</a:t>
            </a:r>
          </a:p>
          <a:p>
            <a:pPr>
              <a:spcBef>
                <a:spcPts val="500"/>
              </a:spcBef>
            </a:pPr>
            <a:r>
              <a:rPr sz="900">
                <a:solidFill>
                  <a:srgbClr val="9E7E0A"/>
                </a:solidFill>
                <a:latin typeface="Calibri"/>
              </a:rPr>
              <a:t>■  </a:t>
            </a:r>
            <a:r>
              <a:rPr sz="750">
                <a:solidFill>
                  <a:srgbClr val="2E2E2E"/>
                </a:solidFill>
                <a:latin typeface="Calibri"/>
              </a:rPr>
              <a:t>   East Asia</a:t>
            </a:r>
          </a:p>
          <a:p>
            <a:pPr>
              <a:spcBef>
                <a:spcPts val="500"/>
              </a:spcBef>
            </a:pPr>
            <a:r>
              <a:rPr sz="900">
                <a:solidFill>
                  <a:srgbClr val="40315E"/>
                </a:solidFill>
                <a:latin typeface="Calibri"/>
              </a:rPr>
              <a:t>■  </a:t>
            </a:r>
            <a:r>
              <a:rPr sz="750">
                <a:solidFill>
                  <a:srgbClr val="2E2E2E"/>
                </a:solidFill>
                <a:latin typeface="Calibri"/>
              </a:rPr>
              <a:t>   Latin America</a:t>
            </a:r>
          </a:p>
          <a:p>
            <a:pPr>
              <a:spcBef>
                <a:spcPts val="500"/>
              </a:spcBef>
            </a:pPr>
            <a:r>
              <a:rPr sz="900">
                <a:solidFill>
                  <a:srgbClr val="A35313"/>
                </a:solidFill>
                <a:latin typeface="Calibri"/>
              </a:rPr>
              <a:t>■  </a:t>
            </a:r>
            <a:r>
              <a:rPr sz="750">
                <a:solidFill>
                  <a:srgbClr val="2E2E2E"/>
                </a:solidFill>
                <a:latin typeface="Calibri"/>
              </a:rPr>
              <a:t>   Middle East &amp; Africa</a:t>
            </a:r>
          </a:p>
          <a:p>
            <a:pPr>
              <a:spcBef>
                <a:spcPts val="500"/>
              </a:spcBef>
            </a:pPr>
            <a:r>
              <a:rPr sz="900">
                <a:solidFill>
                  <a:srgbClr val="808080"/>
                </a:solidFill>
                <a:latin typeface="Calibri"/>
              </a:rPr>
              <a:t>■  </a:t>
            </a:r>
            <a:r>
              <a:rPr sz="750">
                <a:solidFill>
                  <a:srgbClr val="2E2E2E"/>
                </a:solidFill>
                <a:latin typeface="Calibri"/>
              </a:rPr>
              <a:t>   Eastern Europe</a:t>
            </a:r>
          </a:p>
          <a:p>
            <a:pPr>
              <a:spcBef>
                <a:spcPts val="500"/>
              </a:spcBef>
            </a:pPr>
            <a:r>
              <a:rPr sz="900">
                <a:solidFill>
                  <a:srgbClr val="0E72AE"/>
                </a:solidFill>
                <a:latin typeface="Calibri"/>
              </a:rPr>
              <a:t>■  </a:t>
            </a:r>
            <a:r>
              <a:rPr sz="750">
                <a:solidFill>
                  <a:srgbClr val="2E2E2E"/>
                </a:solidFill>
                <a:latin typeface="Calibri"/>
              </a:rPr>
              <a:t>   Western Europe</a:t>
            </a: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23" name="TextBox 22"/>
          <p:cNvSpPr txBox="1"/>
          <p:nvPr/>
        </p:nvSpPr>
        <p:spPr>
          <a:xfrm>
            <a:off x="9930765" y="1407795"/>
            <a:ext cx="452511" cy="112318"/>
          </a:xfrm>
          <a:prstGeom prst="rect">
            <a:avLst/>
          </a:prstGeom>
          <a:noFill/>
        </p:spPr>
        <p:txBody>
          <a:bodyPr wrap="none" lIns="0" rIns="0" tIns="0" bIns="0">
            <a:spAutoFit/>
          </a:bodyPr>
          <a:lstStyle/>
          <a:p>
            <a:r>
              <a:rPr sz="611" b="1">
                <a:solidFill>
                  <a:srgbClr val="6C7A89"/>
                </a:solidFill>
                <a:latin typeface="Calibri"/>
              </a:rPr>
              <a:t>By segment</a:t>
            </a:r>
          </a:p>
        </p:txBody>
      </p:sp>
      <p:sp>
        <p:nvSpPr>
          <p:cNvPr id="24" name="TextBox 23"/>
          <p:cNvSpPr txBox="1"/>
          <p:nvPr/>
        </p:nvSpPr>
        <p:spPr>
          <a:xfrm>
            <a:off x="9930765" y="4293870"/>
            <a:ext cx="452511" cy="112318"/>
          </a:xfrm>
          <a:prstGeom prst="rect">
            <a:avLst/>
          </a:prstGeom>
          <a:noFill/>
        </p:spPr>
        <p:txBody>
          <a:bodyPr wrap="none" lIns="0" rIns="0" tIns="0" bIns="0">
            <a:spAutoFit/>
          </a:bodyPr>
          <a:lstStyle/>
          <a:p>
            <a:r>
              <a:rPr sz="611" b="1">
                <a:solidFill>
                  <a:srgbClr val="6C7A89"/>
                </a:solidFill>
                <a:latin typeface="Calibri"/>
              </a:rPr>
              <a:t>By segment</a:t>
            </a:r>
          </a:p>
        </p:txBody>
      </p:sp>
      <p:sp>
        <p:nvSpPr>
          <p:cNvPr id="25" name="lockshield_12"/>
          <p:cNvSpPr/>
          <p:nvPr/>
        </p:nvSpPr>
        <p:spPr>
          <a:xfrm>
            <a:off x="238125" y="1266825"/>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8"/>
          <p:cNvSpPr/>
          <p:nvPr/>
        </p:nvSpPr>
        <p:spPr>
          <a:xfrm>
            <a:off x="238125" y="4152900"/>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Waterproof Coatings Market Top 10 Countries (2036)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hierarchy of the global market in 2036, highlighting the leading countries within each region by value</a:t>
            </a:r>
          </a:p>
        </p:txBody>
      </p:sp>
      <p:sp>
        <p:nvSpPr>
          <p:cNvPr id="10" name="Rounded Rectangle 9"/>
          <p:cNvSpPr/>
          <p:nvPr/>
        </p:nvSpPr>
        <p:spPr>
          <a:xfrm>
            <a:off x="142875" y="981075"/>
            <a:ext cx="11906250"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by country  ·  2036 (US$ Mn)  ·  tile size = market value</a:t>
            </a:r>
          </a:p>
        </p:txBody>
      </p:sp>
      <p:sp>
        <p:nvSpPr>
          <p:cNvPr id="12" name="Rectangle 11"/>
          <p:cNvSpPr/>
          <p:nvPr/>
        </p:nvSpPr>
        <p:spPr>
          <a:xfrm>
            <a:off x="238125" y="1266825"/>
            <a:ext cx="3090574" cy="5305425"/>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3" name="Rectangle 12"/>
          <p:cNvSpPr/>
          <p:nvPr/>
        </p:nvSpPr>
        <p:spPr>
          <a:xfrm>
            <a:off x="3328699" y="1266825"/>
            <a:ext cx="2888699" cy="2742291"/>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4" name="Rectangle 13"/>
          <p:cNvSpPr/>
          <p:nvPr/>
        </p:nvSpPr>
        <p:spPr>
          <a:xfrm>
            <a:off x="3328699" y="4009116"/>
            <a:ext cx="2888699" cy="2563134"/>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India</a:t>
            </a:r>
          </a:p>
          <a:p>
            <a:pPr algn="ctr"/>
            <a:r>
              <a:rPr sz="1100" b="0">
                <a:solidFill>
                  <a:srgbClr val="FFFFFF"/>
                </a:solidFill>
                <a:latin typeface="Calibri"/>
              </a:rPr>
              <a:t> </a:t>
            </a:r>
          </a:p>
        </p:txBody>
      </p:sp>
      <p:sp>
        <p:nvSpPr>
          <p:cNvPr id="15" name="Rectangle 14"/>
          <p:cNvSpPr/>
          <p:nvPr/>
        </p:nvSpPr>
        <p:spPr>
          <a:xfrm>
            <a:off x="6217398" y="1266825"/>
            <a:ext cx="2359499" cy="3085160"/>
          </a:xfrm>
          <a:prstGeom prst="rect">
            <a:avLst/>
          </a:prstGeom>
          <a:solidFill>
            <a:srgbClr val="40315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China</a:t>
            </a:r>
          </a:p>
          <a:p>
            <a:pPr algn="ctr"/>
            <a:r>
              <a:rPr sz="1100" b="0">
                <a:solidFill>
                  <a:srgbClr val="FFFFFF"/>
                </a:solidFill>
                <a:latin typeface="Calibri"/>
              </a:rPr>
              <a:t> </a:t>
            </a:r>
          </a:p>
        </p:txBody>
      </p:sp>
      <p:sp>
        <p:nvSpPr>
          <p:cNvPr id="16" name="Rectangle 15"/>
          <p:cNvSpPr/>
          <p:nvPr/>
        </p:nvSpPr>
        <p:spPr>
          <a:xfrm>
            <a:off x="6217398" y="4351985"/>
            <a:ext cx="2359499" cy="2220265"/>
          </a:xfrm>
          <a:prstGeom prst="rect">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Brazil</a:t>
            </a:r>
          </a:p>
          <a:p>
            <a:pPr algn="ctr"/>
            <a:r>
              <a:rPr sz="1100" b="0">
                <a:solidFill>
                  <a:srgbClr val="FFFFFF"/>
                </a:solidFill>
                <a:latin typeface="Calibri"/>
              </a:rPr>
              <a:t> </a:t>
            </a:r>
          </a:p>
        </p:txBody>
      </p:sp>
      <p:sp>
        <p:nvSpPr>
          <p:cNvPr id="17" name="Rectangle 16"/>
          <p:cNvSpPr/>
          <p:nvPr/>
        </p:nvSpPr>
        <p:spPr>
          <a:xfrm>
            <a:off x="8576896" y="1266825"/>
            <a:ext cx="2051777" cy="2540699"/>
          </a:xfrm>
          <a:prstGeom prst="rect">
            <a:avLst/>
          </a:prstGeom>
          <a:solidFill>
            <a:srgbClr val="80808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Mexico</a:t>
            </a:r>
          </a:p>
          <a:p>
            <a:pPr algn="ctr"/>
            <a:r>
              <a:rPr sz="1100" b="0">
                <a:solidFill>
                  <a:srgbClr val="FFFFFF"/>
                </a:solidFill>
                <a:latin typeface="Calibri"/>
              </a:rPr>
              <a:t> </a:t>
            </a:r>
          </a:p>
        </p:txBody>
      </p:sp>
      <p:sp>
        <p:nvSpPr>
          <p:cNvPr id="18" name="Rectangle 17"/>
          <p:cNvSpPr/>
          <p:nvPr/>
        </p:nvSpPr>
        <p:spPr>
          <a:xfrm>
            <a:off x="10628673" y="1266825"/>
            <a:ext cx="1325202" cy="2540699"/>
          </a:xfrm>
          <a:prstGeom prst="rect">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Kingdom of Saudi Arabia</a:t>
            </a:r>
          </a:p>
          <a:p>
            <a:pPr algn="ctr"/>
            <a:r>
              <a:rPr sz="1100" b="0">
                <a:solidFill>
                  <a:srgbClr val="FFFFFF"/>
                </a:solidFill>
                <a:latin typeface="Calibri"/>
              </a:rPr>
              <a:t> </a:t>
            </a:r>
          </a:p>
        </p:txBody>
      </p:sp>
      <p:sp>
        <p:nvSpPr>
          <p:cNvPr id="19" name="Rectangle 18"/>
          <p:cNvSpPr/>
          <p:nvPr/>
        </p:nvSpPr>
        <p:spPr>
          <a:xfrm>
            <a:off x="8576896" y="3807524"/>
            <a:ext cx="2286546" cy="1395738"/>
          </a:xfrm>
          <a:prstGeom prst="rect">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Russia</a:t>
            </a:r>
          </a:p>
          <a:p>
            <a:pPr algn="ctr"/>
            <a:r>
              <a:rPr sz="1100" b="0">
                <a:solidFill>
                  <a:srgbClr val="FFFFFF"/>
                </a:solidFill>
                <a:latin typeface="Calibri"/>
              </a:rPr>
              <a:t> </a:t>
            </a:r>
          </a:p>
        </p:txBody>
      </p:sp>
      <p:sp>
        <p:nvSpPr>
          <p:cNvPr id="20" name="Rectangle 19"/>
          <p:cNvSpPr/>
          <p:nvPr/>
        </p:nvSpPr>
        <p:spPr>
          <a:xfrm>
            <a:off x="8576896" y="5203263"/>
            <a:ext cx="2286546" cy="1368987"/>
          </a:xfrm>
          <a:prstGeom prst="rect">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Japan</a:t>
            </a:r>
          </a:p>
          <a:p>
            <a:pPr algn="ctr"/>
            <a:r>
              <a:rPr sz="1100" b="0">
                <a:solidFill>
                  <a:srgbClr val="FFFFFF"/>
                </a:solidFill>
                <a:latin typeface="Calibri"/>
              </a:rPr>
              <a:t> </a:t>
            </a:r>
          </a:p>
        </p:txBody>
      </p:sp>
      <p:sp>
        <p:nvSpPr>
          <p:cNvPr id="21" name="Rectangle 20"/>
          <p:cNvSpPr/>
          <p:nvPr/>
        </p:nvSpPr>
        <p:spPr>
          <a:xfrm>
            <a:off x="10863442" y="3807524"/>
            <a:ext cx="1090433" cy="2764726"/>
          </a:xfrm>
          <a:prstGeom prst="rect">
            <a:avLst/>
          </a:prstGeom>
          <a:solidFill>
            <a:srgbClr val="6C7A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ASEAN</a:t>
            </a:r>
          </a:p>
          <a:p>
            <a:pPr algn="ctr"/>
            <a:r>
              <a:rPr sz="1100" b="0">
                <a:solidFill>
                  <a:srgbClr val="FFFFFF"/>
                </a:solidFill>
                <a:latin typeface="Calibri"/>
              </a:rPr>
              <a:t> </a:t>
            </a: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4"/>
          <a:stretch>
            <a:fillRect/>
          </a:stretch>
        </p:blipFill>
        <p:spPr>
          <a:xfrm>
            <a:off x="1628973" y="3919537"/>
            <a:ext cx="308877" cy="449275"/>
          </a:xfrm>
          <a:prstGeom prst="rect">
            <a:avLst/>
          </a:prstGeom>
        </p:spPr>
      </p:pic>
      <p:pic>
        <p:nvPicPr>
          <p:cNvPr id="24" name="Picture 23" descr="lock.png"/>
          <p:cNvPicPr>
            <a:picLocks noChangeAspect="1"/>
          </p:cNvPicPr>
          <p:nvPr/>
        </p:nvPicPr>
        <p:blipFill>
          <a:blip r:embed="rId4"/>
          <a:stretch>
            <a:fillRect/>
          </a:stretch>
        </p:blipFill>
        <p:spPr>
          <a:xfrm>
            <a:off x="4618610" y="2637970"/>
            <a:ext cx="308877" cy="449275"/>
          </a:xfrm>
          <a:prstGeom prst="rect">
            <a:avLst/>
          </a:prstGeom>
        </p:spPr>
      </p:pic>
      <p:pic>
        <p:nvPicPr>
          <p:cNvPr id="25" name="Picture 24" descr="lock.png"/>
          <p:cNvPicPr>
            <a:picLocks noChangeAspect="1"/>
          </p:cNvPicPr>
          <p:nvPr/>
        </p:nvPicPr>
        <p:blipFill>
          <a:blip r:embed="rId4"/>
          <a:stretch>
            <a:fillRect/>
          </a:stretch>
        </p:blipFill>
        <p:spPr>
          <a:xfrm>
            <a:off x="4618610" y="5290683"/>
            <a:ext cx="308877" cy="449275"/>
          </a:xfrm>
          <a:prstGeom prst="rect">
            <a:avLst/>
          </a:prstGeom>
        </p:spPr>
      </p:pic>
      <p:pic>
        <p:nvPicPr>
          <p:cNvPr id="26" name="Picture 25" descr="lock.png"/>
          <p:cNvPicPr>
            <a:picLocks noChangeAspect="1"/>
          </p:cNvPicPr>
          <p:nvPr/>
        </p:nvPicPr>
        <p:blipFill>
          <a:blip r:embed="rId4"/>
          <a:stretch>
            <a:fillRect/>
          </a:stretch>
        </p:blipFill>
        <p:spPr>
          <a:xfrm>
            <a:off x="7242709" y="2809405"/>
            <a:ext cx="308877" cy="449275"/>
          </a:xfrm>
          <a:prstGeom prst="rect">
            <a:avLst/>
          </a:prstGeom>
        </p:spPr>
      </p:pic>
      <p:pic>
        <p:nvPicPr>
          <p:cNvPr id="27" name="Picture 26" descr="lock.png"/>
          <p:cNvPicPr>
            <a:picLocks noChangeAspect="1"/>
          </p:cNvPicPr>
          <p:nvPr/>
        </p:nvPicPr>
        <p:blipFill>
          <a:blip r:embed="rId4"/>
          <a:stretch>
            <a:fillRect/>
          </a:stretch>
        </p:blipFill>
        <p:spPr>
          <a:xfrm>
            <a:off x="7242709" y="5462117"/>
            <a:ext cx="308877" cy="449275"/>
          </a:xfrm>
          <a:prstGeom prst="rect">
            <a:avLst/>
          </a:prstGeom>
        </p:spPr>
      </p:pic>
      <p:pic>
        <p:nvPicPr>
          <p:cNvPr id="28" name="Picture 27" descr="lock.png"/>
          <p:cNvPicPr>
            <a:picLocks noChangeAspect="1"/>
          </p:cNvPicPr>
          <p:nvPr/>
        </p:nvPicPr>
        <p:blipFill>
          <a:blip r:embed="rId4"/>
          <a:stretch>
            <a:fillRect/>
          </a:stretch>
        </p:blipFill>
        <p:spPr>
          <a:xfrm>
            <a:off x="9448346" y="2537174"/>
            <a:ext cx="308877" cy="449275"/>
          </a:xfrm>
          <a:prstGeom prst="rect">
            <a:avLst/>
          </a:prstGeom>
        </p:spPr>
      </p:pic>
      <p:pic>
        <p:nvPicPr>
          <p:cNvPr id="29" name="Picture 28" descr="lock.png"/>
          <p:cNvPicPr>
            <a:picLocks noChangeAspect="1"/>
          </p:cNvPicPr>
          <p:nvPr/>
        </p:nvPicPr>
        <p:blipFill>
          <a:blip r:embed="rId4"/>
          <a:stretch>
            <a:fillRect/>
          </a:stretch>
        </p:blipFill>
        <p:spPr>
          <a:xfrm>
            <a:off x="11136835" y="2537174"/>
            <a:ext cx="308877" cy="449275"/>
          </a:xfrm>
          <a:prstGeom prst="rect">
            <a:avLst/>
          </a:prstGeom>
        </p:spPr>
      </p:pic>
      <p:pic>
        <p:nvPicPr>
          <p:cNvPr id="30" name="Picture 29" descr="lock.png"/>
          <p:cNvPicPr>
            <a:picLocks noChangeAspect="1"/>
          </p:cNvPicPr>
          <p:nvPr/>
        </p:nvPicPr>
        <p:blipFill>
          <a:blip r:embed="rId4"/>
          <a:stretch>
            <a:fillRect/>
          </a:stretch>
        </p:blipFill>
        <p:spPr>
          <a:xfrm>
            <a:off x="9565730" y="4505393"/>
            <a:ext cx="308877" cy="449275"/>
          </a:xfrm>
          <a:prstGeom prst="rect">
            <a:avLst/>
          </a:prstGeom>
        </p:spPr>
      </p:pic>
      <p:pic>
        <p:nvPicPr>
          <p:cNvPr id="31" name="Picture 30" descr="lock.png"/>
          <p:cNvPicPr>
            <a:picLocks noChangeAspect="1"/>
          </p:cNvPicPr>
          <p:nvPr/>
        </p:nvPicPr>
        <p:blipFill>
          <a:blip r:embed="rId4"/>
          <a:stretch>
            <a:fillRect/>
          </a:stretch>
        </p:blipFill>
        <p:spPr>
          <a:xfrm>
            <a:off x="9565730" y="5887756"/>
            <a:ext cx="308877" cy="449275"/>
          </a:xfrm>
          <a:prstGeom prst="rect">
            <a:avLst/>
          </a:prstGeom>
        </p:spPr>
      </p:pic>
      <p:pic>
        <p:nvPicPr>
          <p:cNvPr id="32" name="Picture 31" descr="lock.png"/>
          <p:cNvPicPr>
            <a:picLocks noChangeAspect="1"/>
          </p:cNvPicPr>
          <p:nvPr/>
        </p:nvPicPr>
        <p:blipFill>
          <a:blip r:embed="rId4"/>
          <a:stretch>
            <a:fillRect/>
          </a:stretch>
        </p:blipFill>
        <p:spPr>
          <a:xfrm>
            <a:off x="11254220" y="5189887"/>
            <a:ext cx="308877" cy="449275"/>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16217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2505075"/>
            <a:ext cx="8572500" cy="514350"/>
          </a:xfrm>
          <a:prstGeom prst="rect">
            <a:avLst/>
          </a:prstGeom>
          <a:noFill/>
        </p:spPr>
        <p:txBody>
          <a:bodyPr wrap="square" lIns="0" rIns="0" tIns="0">
            <a:spAutoFit/>
          </a:bodyPr>
          <a:lstStyle/>
          <a:p>
            <a:r>
              <a:rPr sz="3000" b="1">
                <a:solidFill>
                  <a:srgbClr val="0B3C8C"/>
                </a:solidFill>
                <a:latin typeface="Calibri"/>
              </a:rPr>
              <a:t>Global Market Analysis By Segments</a:t>
            </a:r>
          </a:p>
        </p:txBody>
      </p:sp>
      <p:sp>
        <p:nvSpPr>
          <p:cNvPr id="11" name="TextBox 10"/>
          <p:cNvSpPr txBox="1"/>
          <p:nvPr/>
        </p:nvSpPr>
        <p:spPr>
          <a:xfrm>
            <a:off x="914400" y="3190875"/>
            <a:ext cx="8458200" cy="24574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Type / Chemistry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Configuration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Technology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Application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Substrate Material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Distribution Channel</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Product Type / Chemistry</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Type / Chemistry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Product Type / Chemistry Segment Outlook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8 sub-segments of Product Type / Chemistry,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Product Type / Chemistry segment categorizes the market by product type / chemistry.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Polymer-Based Coatings</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Cementitious Waterproof Coatings</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Polyurea Waterproof Coatings</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Silicone Waterproof Coatings</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9" name="Rectangle 48"/>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E2E2E"/>
                </a:solidFill>
                <a:latin typeface="Calibri"/>
              </a:rPr>
              <a:t/>
            </a:r>
          </a:p>
          <a:p>
            <a:pPr algn="l">
              <a:lnSpc>
                <a:spcPct val="105000"/>
              </a:lnSpc>
              <a:spcBef>
                <a:spcPts val="0"/>
              </a:spcBef>
              <a:spcAft>
                <a:spcPts val="300"/>
              </a:spcAft>
            </a:pPr>
            <a:r>
              <a:rPr sz="1100" b="0">
                <a:solidFill>
                  <a:srgbClr val="2E2E2E"/>
                </a:solidFill>
                <a:latin typeface="Calibri"/>
              </a:rPr>
              <a:t/>
            </a:r>
          </a:p>
        </p:txBody>
      </p:sp>
      <p:sp>
        <p:nvSpPr>
          <p:cNvPr id="51" name="Rounded Rectangle 5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3" name="Rectangle 52"/>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5" name="Rounded Rectangle 5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7" name="Rectangle 56"/>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Product Type / Chemistry split shows how demand is distributed across product type / chemistry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9" name="Rectangle 5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1" name="TextBox 6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2_701_605E5C.png"/>
          <p:cNvPicPr>
            <a:picLocks noChangeAspect="1"/>
          </p:cNvPicPr>
          <p:nvPr/>
        </p:nvPicPr>
        <p:blipFill>
          <a:blip r:embed="rId4"/>
          <a:stretch>
            <a:fillRect/>
          </a:stretch>
        </p:blipFill>
        <p:spPr>
          <a:xfrm>
            <a:off x="2476330" y="2286582"/>
            <a:ext cx="1195728" cy="361950"/>
          </a:xfrm>
          <a:prstGeom prst="rect">
            <a:avLst/>
          </a:prstGeom>
        </p:spPr>
      </p:pic>
      <p:pic>
        <p:nvPicPr>
          <p:cNvPr id="64" name="Picture 63" descr="3_700_605E5C.png"/>
          <p:cNvPicPr>
            <a:picLocks noChangeAspect="1"/>
          </p:cNvPicPr>
          <p:nvPr/>
        </p:nvPicPr>
        <p:blipFill>
          <a:blip r:embed="rId5"/>
          <a:stretch>
            <a:fillRect/>
          </a:stretch>
        </p:blipFill>
        <p:spPr>
          <a:xfrm>
            <a:off x="2476330" y="2779432"/>
            <a:ext cx="1195728" cy="361950"/>
          </a:xfrm>
          <a:prstGeom prst="rect">
            <a:avLst/>
          </a:prstGeom>
        </p:spPr>
      </p:pic>
      <p:pic>
        <p:nvPicPr>
          <p:cNvPr id="65" name="Picture 64" descr="3_2__605E5C.png"/>
          <p:cNvPicPr>
            <a:picLocks noChangeAspect="1"/>
          </p:cNvPicPr>
          <p:nvPr/>
        </p:nvPicPr>
        <p:blipFill>
          <a:blip r:embed="rId6"/>
          <a:stretch>
            <a:fillRect/>
          </a:stretch>
        </p:blipFill>
        <p:spPr>
          <a:xfrm>
            <a:off x="2582976" y="3272281"/>
            <a:ext cx="982436" cy="361950"/>
          </a:xfrm>
          <a:prstGeom prst="rect">
            <a:avLst/>
          </a:prstGeom>
        </p:spPr>
      </p:pic>
      <p:pic>
        <p:nvPicPr>
          <p:cNvPr id="66" name="Picture 65" descr="1_967_605E5C.png"/>
          <p:cNvPicPr>
            <a:picLocks noChangeAspect="1"/>
          </p:cNvPicPr>
          <p:nvPr/>
        </p:nvPicPr>
        <p:blipFill>
          <a:blip r:embed="rId7"/>
          <a:stretch>
            <a:fillRect/>
          </a:stretch>
        </p:blipFill>
        <p:spPr>
          <a:xfrm>
            <a:off x="5005218" y="2286582"/>
            <a:ext cx="1195728" cy="361950"/>
          </a:xfrm>
          <a:prstGeom prst="rect">
            <a:avLst/>
          </a:prstGeom>
        </p:spPr>
      </p:pic>
      <p:pic>
        <p:nvPicPr>
          <p:cNvPr id="67" name="Picture 66" descr="2_432_605E5C.png"/>
          <p:cNvPicPr>
            <a:picLocks noChangeAspect="1"/>
          </p:cNvPicPr>
          <p:nvPr/>
        </p:nvPicPr>
        <p:blipFill>
          <a:blip r:embed="rId8"/>
          <a:stretch>
            <a:fillRect/>
          </a:stretch>
        </p:blipFill>
        <p:spPr>
          <a:xfrm>
            <a:off x="5005218" y="2779432"/>
            <a:ext cx="1195728" cy="361950"/>
          </a:xfrm>
          <a:prstGeom prst="rect">
            <a:avLst/>
          </a:prstGeom>
        </p:spPr>
      </p:pic>
      <p:pic>
        <p:nvPicPr>
          <p:cNvPr id="68" name="Picture 67" descr="2_1__605E5C.png"/>
          <p:cNvPicPr>
            <a:picLocks noChangeAspect="1"/>
          </p:cNvPicPr>
          <p:nvPr/>
        </p:nvPicPr>
        <p:blipFill>
          <a:blip r:embed="rId9"/>
          <a:stretch>
            <a:fillRect/>
          </a:stretch>
        </p:blipFill>
        <p:spPr>
          <a:xfrm>
            <a:off x="5111864" y="3272281"/>
            <a:ext cx="982436" cy="361950"/>
          </a:xfrm>
          <a:prstGeom prst="rect">
            <a:avLst/>
          </a:prstGeom>
        </p:spPr>
      </p:pic>
      <p:pic>
        <p:nvPicPr>
          <p:cNvPr id="69" name="Picture 68" descr="1_831_605E5C.png"/>
          <p:cNvPicPr>
            <a:picLocks noChangeAspect="1"/>
          </p:cNvPicPr>
          <p:nvPr/>
        </p:nvPicPr>
        <p:blipFill>
          <a:blip r:embed="rId10"/>
          <a:stretch>
            <a:fillRect/>
          </a:stretch>
        </p:blipFill>
        <p:spPr>
          <a:xfrm>
            <a:off x="7534105" y="2286582"/>
            <a:ext cx="1195728" cy="361950"/>
          </a:xfrm>
          <a:prstGeom prst="rect">
            <a:avLst/>
          </a:prstGeom>
        </p:spPr>
      </p:pic>
      <p:pic>
        <p:nvPicPr>
          <p:cNvPr id="70" name="Picture 69" descr="3_553_605E5C.png"/>
          <p:cNvPicPr>
            <a:picLocks noChangeAspect="1"/>
          </p:cNvPicPr>
          <p:nvPr/>
        </p:nvPicPr>
        <p:blipFill>
          <a:blip r:embed="rId11"/>
          <a:stretch>
            <a:fillRect/>
          </a:stretch>
        </p:blipFill>
        <p:spPr>
          <a:xfrm>
            <a:off x="7534105" y="2779432"/>
            <a:ext cx="1195728" cy="361950"/>
          </a:xfrm>
          <a:prstGeom prst="rect">
            <a:avLst/>
          </a:prstGeom>
        </p:spPr>
      </p:pic>
      <p:pic>
        <p:nvPicPr>
          <p:cNvPr id="71" name="Picture 70" descr="6_9__605E5C.png"/>
          <p:cNvPicPr>
            <a:picLocks noChangeAspect="1"/>
          </p:cNvPicPr>
          <p:nvPr/>
        </p:nvPicPr>
        <p:blipFill>
          <a:blip r:embed="rId12"/>
          <a:stretch>
            <a:fillRect/>
          </a:stretch>
        </p:blipFill>
        <p:spPr>
          <a:xfrm>
            <a:off x="7640751" y="3272281"/>
            <a:ext cx="982436" cy="361950"/>
          </a:xfrm>
          <a:prstGeom prst="rect">
            <a:avLst/>
          </a:prstGeom>
        </p:spPr>
      </p:pic>
      <p:pic>
        <p:nvPicPr>
          <p:cNvPr id="72" name="Picture 71" descr="1_499_605E5C.png"/>
          <p:cNvPicPr>
            <a:picLocks noChangeAspect="1"/>
          </p:cNvPicPr>
          <p:nvPr/>
        </p:nvPicPr>
        <p:blipFill>
          <a:blip r:embed="rId13"/>
          <a:stretch>
            <a:fillRect/>
          </a:stretch>
        </p:blipFill>
        <p:spPr>
          <a:xfrm>
            <a:off x="10062992" y="2286582"/>
            <a:ext cx="1195728" cy="361950"/>
          </a:xfrm>
          <a:prstGeom prst="rect">
            <a:avLst/>
          </a:prstGeom>
        </p:spPr>
      </p:pic>
      <p:pic>
        <p:nvPicPr>
          <p:cNvPr id="73" name="Picture 72" descr="3_229_605E5C.png"/>
          <p:cNvPicPr>
            <a:picLocks noChangeAspect="1"/>
          </p:cNvPicPr>
          <p:nvPr/>
        </p:nvPicPr>
        <p:blipFill>
          <a:blip r:embed="rId14"/>
          <a:stretch>
            <a:fillRect/>
          </a:stretch>
        </p:blipFill>
        <p:spPr>
          <a:xfrm>
            <a:off x="10062992" y="2779432"/>
            <a:ext cx="1195728" cy="361950"/>
          </a:xfrm>
          <a:prstGeom prst="rect">
            <a:avLst/>
          </a:prstGeom>
        </p:spPr>
      </p:pic>
      <p:pic>
        <p:nvPicPr>
          <p:cNvPr id="74" name="Picture 73" descr="8_0__605E5C.png"/>
          <p:cNvPicPr>
            <a:picLocks noChangeAspect="1"/>
          </p:cNvPicPr>
          <p:nvPr/>
        </p:nvPicPr>
        <p:blipFill>
          <a:blip r:embed="rId15"/>
          <a:stretch>
            <a:fillRect/>
          </a:stretch>
        </p:blipFill>
        <p:spPr>
          <a:xfrm>
            <a:off x="10169638" y="3272281"/>
            <a:ext cx="982436" cy="361950"/>
          </a:xfrm>
          <a:prstGeom prst="rect">
            <a:avLst/>
          </a:prstGeom>
        </p:spPr>
      </p:pic>
      <p:pic>
        <p:nvPicPr>
          <p:cNvPr id="75" name="Picture 74" descr="lock.png"/>
          <p:cNvPicPr>
            <a:picLocks noChangeAspect="1"/>
          </p:cNvPicPr>
          <p:nvPr/>
        </p:nvPicPr>
        <p:blipFill>
          <a:blip r:embed="rId16"/>
          <a:stretch>
            <a:fillRect/>
          </a:stretch>
        </p:blipFill>
        <p:spPr>
          <a:xfrm>
            <a:off x="2980848"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5509737" y="2827057"/>
            <a:ext cx="183356" cy="266700"/>
          </a:xfrm>
          <a:prstGeom prst="rect">
            <a:avLst/>
          </a:prstGeom>
        </p:spPr>
      </p:pic>
      <p:pic>
        <p:nvPicPr>
          <p:cNvPr id="77" name="Picture 76" descr="lock.png"/>
          <p:cNvPicPr>
            <a:picLocks noChangeAspect="1"/>
          </p:cNvPicPr>
          <p:nvPr/>
        </p:nvPicPr>
        <p:blipFill>
          <a:blip r:embed="rId16"/>
          <a:stretch>
            <a:fillRect/>
          </a:stretch>
        </p:blipFill>
        <p:spPr>
          <a:xfrm>
            <a:off x="8038624" y="2827057"/>
            <a:ext cx="183356" cy="266700"/>
          </a:xfrm>
          <a:prstGeom prst="rect">
            <a:avLst/>
          </a:prstGeom>
        </p:spPr>
      </p:pic>
      <p:pic>
        <p:nvPicPr>
          <p:cNvPr id="78" name="Picture 77" descr="lock.png"/>
          <p:cNvPicPr>
            <a:picLocks noChangeAspect="1"/>
          </p:cNvPicPr>
          <p:nvPr/>
        </p:nvPicPr>
        <p:blipFill>
          <a:blip r:embed="rId16"/>
          <a:stretch>
            <a:fillRect/>
          </a:stretch>
        </p:blipFill>
        <p:spPr>
          <a:xfrm>
            <a:off x="10567511" y="2827057"/>
            <a:ext cx="183356" cy="266700"/>
          </a:xfrm>
          <a:prstGeom prst="rect">
            <a:avLst/>
          </a:prstGeom>
        </p:spPr>
      </p:pic>
      <p:sp>
        <p:nvSpPr>
          <p:cNvPr id="79" name="TextBox 78"/>
          <p:cNvSpPr txBox="1"/>
          <p:nvPr/>
        </p:nvSpPr>
        <p:spPr>
          <a:xfrm>
            <a:off x="485775" y="4229437"/>
            <a:ext cx="2680841" cy="186689"/>
          </a:xfrm>
          <a:prstGeom prst="rect">
            <a:avLst/>
          </a:prstGeom>
          <a:noFill/>
        </p:spPr>
        <p:txBody>
          <a:bodyPr wrap="none" lIns="0" rIns="0" tIns="0" bIns="0">
            <a:spAutoFit/>
          </a:bodyPr>
          <a:lstStyle/>
          <a:p>
            <a:r>
              <a:rPr sz="1100" b="0">
                <a:solidFill>
                  <a:srgbClr val="2E2E2E"/>
                </a:solidFill>
                <a:latin typeface="Calibri"/>
              </a:rPr>
              <a:t>Among waterproof coatings by product type /</a:t>
            </a:r>
          </a:p>
        </p:txBody>
      </p:sp>
      <p:sp>
        <p:nvSpPr>
          <p:cNvPr id="80" name="TextBox 79"/>
          <p:cNvSpPr txBox="1"/>
          <p:nvPr/>
        </p:nvSpPr>
        <p:spPr>
          <a:xfrm>
            <a:off x="485775" y="4397077"/>
            <a:ext cx="2914650" cy="186689"/>
          </a:xfrm>
          <a:prstGeom prst="rect">
            <a:avLst/>
          </a:prstGeom>
          <a:noFill/>
        </p:spPr>
        <p:txBody>
          <a:bodyPr wrap="none" lIns="0" rIns="0" tIns="0" bIns="0">
            <a:spAutoFit/>
          </a:bodyPr>
          <a:lstStyle/>
          <a:p>
            <a:r>
              <a:rPr sz="1100" b="0">
                <a:solidFill>
                  <a:srgbClr val="2E2E2E"/>
                </a:solidFill>
                <a:latin typeface="Calibri"/>
              </a:rPr>
              <a:t>chemistry, silicone waterproof coatings segment is</a:t>
            </a:r>
          </a:p>
        </p:txBody>
      </p:sp>
      <p:sp>
        <p:nvSpPr>
          <p:cNvPr id="81" name="TextBox 80"/>
          <p:cNvSpPr txBox="1"/>
          <p:nvPr/>
        </p:nvSpPr>
        <p:spPr>
          <a:xfrm>
            <a:off x="485775" y="456471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82" name="Picture 81" descr="lock.png"/>
          <p:cNvPicPr>
            <a:picLocks noChangeAspect="1"/>
          </p:cNvPicPr>
          <p:nvPr/>
        </p:nvPicPr>
        <p:blipFill>
          <a:blip r:embed="rId16"/>
          <a:stretch>
            <a:fillRect/>
          </a:stretch>
        </p:blipFill>
        <p:spPr>
          <a:xfrm>
            <a:off x="2815059" y="4554938"/>
            <a:ext cx="128699" cy="187198"/>
          </a:xfrm>
          <a:prstGeom prst="rect">
            <a:avLst/>
          </a:prstGeom>
        </p:spPr>
      </p:pic>
      <p:sp>
        <p:nvSpPr>
          <p:cNvPr id="83" name="TextBox 82"/>
          <p:cNvSpPr txBox="1"/>
          <p:nvPr/>
        </p:nvSpPr>
        <p:spPr>
          <a:xfrm>
            <a:off x="2982555" y="456471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84" name="TextBox 83"/>
          <p:cNvSpPr txBox="1"/>
          <p:nvPr/>
        </p:nvSpPr>
        <p:spPr>
          <a:xfrm>
            <a:off x="485775" y="4732357"/>
            <a:ext cx="2699122" cy="186689"/>
          </a:xfrm>
          <a:prstGeom prst="rect">
            <a:avLst/>
          </a:prstGeom>
          <a:noFill/>
        </p:spPr>
        <p:txBody>
          <a:bodyPr wrap="none" lIns="0" rIns="0" tIns="0" bIns="0">
            <a:spAutoFit/>
          </a:bodyPr>
          <a:lstStyle/>
          <a:p>
            <a:r>
              <a:rPr sz="1100" b="0">
                <a:solidFill>
                  <a:srgbClr val="2E2E2E"/>
                </a:solidFill>
                <a:latin typeface="Calibri"/>
              </a:rPr>
              <a:t>the forecast period. In terms of value share by</a:t>
            </a:r>
          </a:p>
        </p:txBody>
      </p:sp>
      <p:sp>
        <p:nvSpPr>
          <p:cNvPr id="85" name="TextBox 84"/>
          <p:cNvSpPr txBox="1"/>
          <p:nvPr/>
        </p:nvSpPr>
        <p:spPr>
          <a:xfrm>
            <a:off x="485775" y="4899997"/>
            <a:ext cx="2914650" cy="186689"/>
          </a:xfrm>
          <a:prstGeom prst="rect">
            <a:avLst/>
          </a:prstGeom>
          <a:noFill/>
        </p:spPr>
        <p:txBody>
          <a:bodyPr wrap="none" lIns="0" rIns="0" tIns="0" bIns="0">
            <a:spAutoFit/>
          </a:bodyPr>
          <a:lstStyle/>
          <a:p>
            <a:r>
              <a:rPr sz="1100" b="0">
                <a:solidFill>
                  <a:srgbClr val="2E2E2E"/>
                </a:solidFill>
                <a:latin typeface="Calibri"/>
              </a:rPr>
              <a:t>product type / chemistry, the other polymer-based</a:t>
            </a:r>
          </a:p>
        </p:txBody>
      </p:sp>
      <p:sp>
        <p:nvSpPr>
          <p:cNvPr id="86" name="TextBox 85"/>
          <p:cNvSpPr txBox="1"/>
          <p:nvPr/>
        </p:nvSpPr>
        <p:spPr>
          <a:xfrm>
            <a:off x="485775" y="5067637"/>
            <a:ext cx="2697212" cy="186689"/>
          </a:xfrm>
          <a:prstGeom prst="rect">
            <a:avLst/>
          </a:prstGeom>
          <a:noFill/>
        </p:spPr>
        <p:txBody>
          <a:bodyPr wrap="none" lIns="0" rIns="0" tIns="0" bIns="0">
            <a:spAutoFit/>
          </a:bodyPr>
          <a:lstStyle/>
          <a:p>
            <a:r>
              <a:rPr sz="1100" b="0">
                <a:solidFill>
                  <a:srgbClr val="2E2E2E"/>
                </a:solidFill>
                <a:latin typeface="Calibri"/>
              </a:rPr>
              <a:t>coatings segment is expected to dominate the</a:t>
            </a:r>
          </a:p>
        </p:txBody>
      </p:sp>
      <p:sp>
        <p:nvSpPr>
          <p:cNvPr id="87" name="TextBox 86"/>
          <p:cNvSpPr txBox="1"/>
          <p:nvPr/>
        </p:nvSpPr>
        <p:spPr>
          <a:xfrm>
            <a:off x="485775" y="5235277"/>
            <a:ext cx="881930" cy="186689"/>
          </a:xfrm>
          <a:prstGeom prst="rect">
            <a:avLst/>
          </a:prstGeom>
          <a:noFill/>
        </p:spPr>
        <p:txBody>
          <a:bodyPr wrap="none" lIns="0" rIns="0" tIns="0" bIns="0">
            <a:spAutoFit/>
          </a:bodyPr>
          <a:lstStyle/>
          <a:p>
            <a:r>
              <a:rPr sz="1100" b="0">
                <a:solidFill>
                  <a:srgbClr val="2E2E2E"/>
                </a:solidFill>
                <a:latin typeface="Calibri"/>
              </a:rPr>
              <a:t>market, losing</a:t>
            </a:r>
          </a:p>
        </p:txBody>
      </p:sp>
      <p:pic>
        <p:nvPicPr>
          <p:cNvPr id="88" name="Picture 87" descr="lock.png"/>
          <p:cNvPicPr>
            <a:picLocks noChangeAspect="1"/>
          </p:cNvPicPr>
          <p:nvPr/>
        </p:nvPicPr>
        <p:blipFill>
          <a:blip r:embed="rId16"/>
          <a:stretch>
            <a:fillRect/>
          </a:stretch>
        </p:blipFill>
        <p:spPr>
          <a:xfrm>
            <a:off x="1315757" y="5225498"/>
            <a:ext cx="128699" cy="187198"/>
          </a:xfrm>
          <a:prstGeom prst="rect">
            <a:avLst/>
          </a:prstGeom>
        </p:spPr>
      </p:pic>
      <p:sp>
        <p:nvSpPr>
          <p:cNvPr id="89" name="TextBox 88"/>
          <p:cNvSpPr txBox="1"/>
          <p:nvPr/>
        </p:nvSpPr>
        <p:spPr>
          <a:xfrm>
            <a:off x="1483253" y="523527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90" name="Picture 89" descr="lock.png"/>
          <p:cNvPicPr>
            <a:picLocks noChangeAspect="1"/>
          </p:cNvPicPr>
          <p:nvPr/>
        </p:nvPicPr>
        <p:blipFill>
          <a:blip r:embed="rId16"/>
          <a:stretch>
            <a:fillRect/>
          </a:stretch>
        </p:blipFill>
        <p:spPr>
          <a:xfrm>
            <a:off x="2817737" y="5225498"/>
            <a:ext cx="128699" cy="187198"/>
          </a:xfrm>
          <a:prstGeom prst="rect">
            <a:avLst/>
          </a:prstGeom>
        </p:spPr>
      </p:pic>
      <p:sp>
        <p:nvSpPr>
          <p:cNvPr id="91" name="TextBox 90"/>
          <p:cNvSpPr txBox="1"/>
          <p:nvPr/>
        </p:nvSpPr>
        <p:spPr>
          <a:xfrm>
            <a:off x="485775" y="540291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92" name="TextBox 91"/>
          <p:cNvSpPr txBox="1"/>
          <p:nvPr/>
        </p:nvSpPr>
        <p:spPr>
          <a:xfrm>
            <a:off x="485775" y="5620849"/>
            <a:ext cx="2438003" cy="186689"/>
          </a:xfrm>
          <a:prstGeom prst="rect">
            <a:avLst/>
          </a:prstGeom>
          <a:noFill/>
        </p:spPr>
        <p:txBody>
          <a:bodyPr wrap="none" lIns="0" rIns="0" tIns="0" bIns="0">
            <a:spAutoFit/>
          </a:bodyPr>
          <a:lstStyle/>
          <a:p>
            <a:r>
              <a:rPr sz="1100" b="0">
                <a:solidFill>
                  <a:srgbClr val="2E2E2E"/>
                </a:solidFill>
                <a:latin typeface="Calibri"/>
              </a:rPr>
              <a:t>Other polymer-based coatings segment is</a:t>
            </a:r>
          </a:p>
        </p:txBody>
      </p:sp>
      <p:sp>
        <p:nvSpPr>
          <p:cNvPr id="93" name="TextBox 92"/>
          <p:cNvSpPr txBox="1"/>
          <p:nvPr/>
        </p:nvSpPr>
        <p:spPr>
          <a:xfrm>
            <a:off x="485775" y="5788489"/>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94" name="Picture 93" descr="lock.png"/>
          <p:cNvPicPr>
            <a:picLocks noChangeAspect="1"/>
          </p:cNvPicPr>
          <p:nvPr/>
        </p:nvPicPr>
        <p:blipFill>
          <a:blip r:embed="rId16"/>
          <a:stretch>
            <a:fillRect/>
          </a:stretch>
        </p:blipFill>
        <p:spPr>
          <a:xfrm>
            <a:off x="1678376" y="5778710"/>
            <a:ext cx="128699" cy="187198"/>
          </a:xfrm>
          <a:prstGeom prst="rect">
            <a:avLst/>
          </a:prstGeom>
        </p:spPr>
      </p:pic>
      <p:sp>
        <p:nvSpPr>
          <p:cNvPr id="95" name="TextBox 94"/>
          <p:cNvSpPr txBox="1"/>
          <p:nvPr/>
        </p:nvSpPr>
        <p:spPr>
          <a:xfrm>
            <a:off x="1845872" y="5788489"/>
            <a:ext cx="1172517" cy="186689"/>
          </a:xfrm>
          <a:prstGeom prst="rect">
            <a:avLst/>
          </a:prstGeom>
          <a:noFill/>
        </p:spPr>
        <p:txBody>
          <a:bodyPr wrap="none" lIns="0" rIns="0" tIns="0" bIns="0">
            <a:spAutoFit/>
          </a:bodyPr>
          <a:lstStyle/>
          <a:p>
            <a:r>
              <a:rPr sz="1100" b="0">
                <a:solidFill>
                  <a:srgbClr val="2E2E2E"/>
                </a:solidFill>
                <a:latin typeface="Calibri"/>
              </a:rPr>
              <a:t>X higher value than</a:t>
            </a:r>
          </a:p>
        </p:txBody>
      </p:sp>
      <p:sp>
        <p:nvSpPr>
          <p:cNvPr id="96" name="TextBox 95"/>
          <p:cNvSpPr txBox="1"/>
          <p:nvPr/>
        </p:nvSpPr>
        <p:spPr>
          <a:xfrm>
            <a:off x="485775" y="5956129"/>
            <a:ext cx="2768426" cy="186689"/>
          </a:xfrm>
          <a:prstGeom prst="rect">
            <a:avLst/>
          </a:prstGeom>
          <a:noFill/>
        </p:spPr>
        <p:txBody>
          <a:bodyPr wrap="none" lIns="0" rIns="0" tIns="0" bIns="0">
            <a:spAutoFit/>
          </a:bodyPr>
          <a:lstStyle/>
          <a:p>
            <a:r>
              <a:rPr sz="1100" b="0">
                <a:solidFill>
                  <a:srgbClr val="2E2E2E"/>
                </a:solidFill>
                <a:latin typeface="Calibri"/>
              </a:rPr>
              <a:t>polyurea waterproof coatings segment in 2036.</a:t>
            </a:r>
          </a:p>
        </p:txBody>
      </p:sp>
      <p:sp>
        <p:nvSpPr>
          <p:cNvPr id="97" name="TextBox 96"/>
          <p:cNvSpPr txBox="1"/>
          <p:nvPr/>
        </p:nvSpPr>
        <p:spPr>
          <a:xfrm>
            <a:off x="3838575" y="4229437"/>
            <a:ext cx="1966788" cy="186689"/>
          </a:xfrm>
          <a:prstGeom prst="rect">
            <a:avLst/>
          </a:prstGeom>
          <a:noFill/>
        </p:spPr>
        <p:txBody>
          <a:bodyPr wrap="none" lIns="0" rIns="0" tIns="0" bIns="0">
            <a:spAutoFit/>
          </a:bodyPr>
          <a:lstStyle/>
          <a:p>
            <a:r>
              <a:rPr sz="1100" b="0">
                <a:solidFill>
                  <a:srgbClr val="2E2E2E"/>
                </a:solidFill>
                <a:latin typeface="Calibri"/>
              </a:rPr>
              <a:t>● Other Polymer-Based Coatings:</a:t>
            </a:r>
          </a:p>
        </p:txBody>
      </p:sp>
      <p:pic>
        <p:nvPicPr>
          <p:cNvPr id="98" name="Picture 97" descr="lock.png"/>
          <p:cNvPicPr>
            <a:picLocks noChangeAspect="1"/>
          </p:cNvPicPr>
          <p:nvPr/>
        </p:nvPicPr>
        <p:blipFill>
          <a:blip r:embed="rId16"/>
          <a:stretch>
            <a:fillRect/>
          </a:stretch>
        </p:blipFill>
        <p:spPr>
          <a:xfrm>
            <a:off x="5753415" y="4219658"/>
            <a:ext cx="128699" cy="187198"/>
          </a:xfrm>
          <a:prstGeom prst="rect">
            <a:avLst/>
          </a:prstGeom>
        </p:spPr>
      </p:pic>
      <p:sp>
        <p:nvSpPr>
          <p:cNvPr id="99" name="TextBox 98"/>
          <p:cNvSpPr txBox="1"/>
          <p:nvPr/>
        </p:nvSpPr>
        <p:spPr>
          <a:xfrm>
            <a:off x="5920910"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0" name="Picture 99" descr="lock.png"/>
          <p:cNvPicPr>
            <a:picLocks noChangeAspect="1"/>
          </p:cNvPicPr>
          <p:nvPr/>
        </p:nvPicPr>
        <p:blipFill>
          <a:blip r:embed="rId16"/>
          <a:stretch>
            <a:fillRect/>
          </a:stretch>
        </p:blipFill>
        <p:spPr>
          <a:xfrm>
            <a:off x="6780361" y="4219658"/>
            <a:ext cx="128699" cy="187198"/>
          </a:xfrm>
          <a:prstGeom prst="rect">
            <a:avLst/>
          </a:prstGeom>
        </p:spPr>
      </p:pic>
      <p:sp>
        <p:nvSpPr>
          <p:cNvPr id="101" name="TextBox 100"/>
          <p:cNvSpPr txBox="1"/>
          <p:nvPr/>
        </p:nvSpPr>
        <p:spPr>
          <a:xfrm>
            <a:off x="6947856" y="4229437"/>
            <a:ext cx="723659" cy="186689"/>
          </a:xfrm>
          <a:prstGeom prst="rect">
            <a:avLst/>
          </a:prstGeom>
          <a:noFill/>
        </p:spPr>
        <p:txBody>
          <a:bodyPr wrap="none" lIns="0" rIns="0" tIns="0" bIns="0">
            <a:spAutoFit/>
          </a:bodyPr>
          <a:lstStyle/>
          <a:p>
            <a:r>
              <a:rPr sz="1100" b="0">
                <a:solidFill>
                  <a:srgbClr val="2E2E2E"/>
                </a:solidFill>
                <a:latin typeface="Calibri"/>
              </a:rPr>
              <a:t>CAGR leads</a:t>
            </a:r>
          </a:p>
        </p:txBody>
      </p:sp>
      <p:sp>
        <p:nvSpPr>
          <p:cNvPr id="102" name="TextBox 101"/>
          <p:cNvSpPr txBox="1"/>
          <p:nvPr/>
        </p:nvSpPr>
        <p:spPr>
          <a:xfrm>
            <a:off x="3838575" y="4397077"/>
            <a:ext cx="824358" cy="186689"/>
          </a:xfrm>
          <a:prstGeom prst="rect">
            <a:avLst/>
          </a:prstGeom>
          <a:noFill/>
        </p:spPr>
        <p:txBody>
          <a:bodyPr wrap="none" lIns="0" rIns="0" tIns="0" bIns="0">
            <a:spAutoFit/>
          </a:bodyPr>
          <a:lstStyle/>
          <a:p>
            <a:r>
              <a:rPr sz="1100" b="0">
                <a:solidFill>
                  <a:srgbClr val="2E2E2E"/>
                </a:solidFill>
                <a:latin typeface="Calibri"/>
              </a:rPr>
              <a:t>the segment.</a:t>
            </a:r>
          </a:p>
        </p:txBody>
      </p:sp>
      <p:sp>
        <p:nvSpPr>
          <p:cNvPr id="103" name="TextBox 102"/>
          <p:cNvSpPr txBox="1"/>
          <p:nvPr/>
        </p:nvSpPr>
        <p:spPr>
          <a:xfrm>
            <a:off x="3838575" y="4615009"/>
            <a:ext cx="2207989" cy="186689"/>
          </a:xfrm>
          <a:prstGeom prst="rect">
            <a:avLst/>
          </a:prstGeom>
          <a:noFill/>
        </p:spPr>
        <p:txBody>
          <a:bodyPr wrap="none" lIns="0" rIns="0" tIns="0" bIns="0">
            <a:spAutoFit/>
          </a:bodyPr>
          <a:lstStyle/>
          <a:p>
            <a:r>
              <a:rPr sz="1100" b="0">
                <a:solidFill>
                  <a:srgbClr val="2E2E2E"/>
                </a:solidFill>
                <a:latin typeface="Calibri"/>
              </a:rPr>
              <a:t>● Cementitious Waterproof Coatings:</a:t>
            </a:r>
          </a:p>
        </p:txBody>
      </p:sp>
      <p:pic>
        <p:nvPicPr>
          <p:cNvPr id="104" name="Picture 103" descr="lock.png"/>
          <p:cNvPicPr>
            <a:picLocks noChangeAspect="1"/>
          </p:cNvPicPr>
          <p:nvPr/>
        </p:nvPicPr>
        <p:blipFill>
          <a:blip r:embed="rId16"/>
          <a:stretch>
            <a:fillRect/>
          </a:stretch>
        </p:blipFill>
        <p:spPr>
          <a:xfrm>
            <a:off x="5994615" y="4605230"/>
            <a:ext cx="128699" cy="187198"/>
          </a:xfrm>
          <a:prstGeom prst="rect">
            <a:avLst/>
          </a:prstGeom>
        </p:spPr>
      </p:pic>
      <p:sp>
        <p:nvSpPr>
          <p:cNvPr id="105" name="TextBox 104"/>
          <p:cNvSpPr txBox="1"/>
          <p:nvPr/>
        </p:nvSpPr>
        <p:spPr>
          <a:xfrm>
            <a:off x="6162111"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6" name="Picture 105" descr="lock.png"/>
          <p:cNvPicPr>
            <a:picLocks noChangeAspect="1"/>
          </p:cNvPicPr>
          <p:nvPr/>
        </p:nvPicPr>
        <p:blipFill>
          <a:blip r:embed="rId16"/>
          <a:stretch>
            <a:fillRect/>
          </a:stretch>
        </p:blipFill>
        <p:spPr>
          <a:xfrm>
            <a:off x="7021561" y="4605230"/>
            <a:ext cx="128699" cy="187198"/>
          </a:xfrm>
          <a:prstGeom prst="rect">
            <a:avLst/>
          </a:prstGeom>
        </p:spPr>
      </p:pic>
      <p:sp>
        <p:nvSpPr>
          <p:cNvPr id="107" name="TextBox 106"/>
          <p:cNvSpPr txBox="1"/>
          <p:nvPr/>
        </p:nvSpPr>
        <p:spPr>
          <a:xfrm>
            <a:off x="7189057" y="4615009"/>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08" name="TextBox 107"/>
          <p:cNvSpPr txBox="1"/>
          <p:nvPr/>
        </p:nvSpPr>
        <p:spPr>
          <a:xfrm>
            <a:off x="3838575" y="4782649"/>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09" name="TextBox 108"/>
          <p:cNvSpPr txBox="1"/>
          <p:nvPr/>
        </p:nvSpPr>
        <p:spPr>
          <a:xfrm>
            <a:off x="3838575" y="5000581"/>
            <a:ext cx="1949598" cy="186689"/>
          </a:xfrm>
          <a:prstGeom prst="rect">
            <a:avLst/>
          </a:prstGeom>
          <a:noFill/>
        </p:spPr>
        <p:txBody>
          <a:bodyPr wrap="none" lIns="0" rIns="0" tIns="0" bIns="0">
            <a:spAutoFit/>
          </a:bodyPr>
          <a:lstStyle/>
          <a:p>
            <a:r>
              <a:rPr sz="1100" b="0">
                <a:solidFill>
                  <a:srgbClr val="2E2E2E"/>
                </a:solidFill>
                <a:latin typeface="Calibri"/>
              </a:rPr>
              <a:t>● Polyurea Waterproof Coatings:</a:t>
            </a:r>
          </a:p>
        </p:txBody>
      </p:sp>
      <p:pic>
        <p:nvPicPr>
          <p:cNvPr id="110" name="Picture 109" descr="lock.png"/>
          <p:cNvPicPr>
            <a:picLocks noChangeAspect="1"/>
          </p:cNvPicPr>
          <p:nvPr/>
        </p:nvPicPr>
        <p:blipFill>
          <a:blip r:embed="rId16"/>
          <a:stretch>
            <a:fillRect/>
          </a:stretch>
        </p:blipFill>
        <p:spPr>
          <a:xfrm>
            <a:off x="5736225" y="4990801"/>
            <a:ext cx="128699" cy="187198"/>
          </a:xfrm>
          <a:prstGeom prst="rect">
            <a:avLst/>
          </a:prstGeom>
        </p:spPr>
      </p:pic>
      <p:sp>
        <p:nvSpPr>
          <p:cNvPr id="111" name="TextBox 110"/>
          <p:cNvSpPr txBox="1"/>
          <p:nvPr/>
        </p:nvSpPr>
        <p:spPr>
          <a:xfrm>
            <a:off x="5903721"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2" name="Picture 111" descr="lock.png"/>
          <p:cNvPicPr>
            <a:picLocks noChangeAspect="1"/>
          </p:cNvPicPr>
          <p:nvPr/>
        </p:nvPicPr>
        <p:blipFill>
          <a:blip r:embed="rId16"/>
          <a:stretch>
            <a:fillRect/>
          </a:stretch>
        </p:blipFill>
        <p:spPr>
          <a:xfrm>
            <a:off x="6763171" y="4990801"/>
            <a:ext cx="128699" cy="187198"/>
          </a:xfrm>
          <a:prstGeom prst="rect">
            <a:avLst/>
          </a:prstGeom>
        </p:spPr>
      </p:pic>
      <p:sp>
        <p:nvSpPr>
          <p:cNvPr id="113" name="TextBox 112"/>
          <p:cNvSpPr txBox="1"/>
          <p:nvPr/>
        </p:nvSpPr>
        <p:spPr>
          <a:xfrm>
            <a:off x="6930667" y="5000581"/>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14" name="TextBox 113"/>
          <p:cNvSpPr txBox="1"/>
          <p:nvPr/>
        </p:nvSpPr>
        <p:spPr>
          <a:xfrm>
            <a:off x="3838575" y="5168221"/>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15" name="TextBox 114"/>
          <p:cNvSpPr txBox="1"/>
          <p:nvPr/>
        </p:nvSpPr>
        <p:spPr>
          <a:xfrm>
            <a:off x="3838575" y="5386153"/>
            <a:ext cx="1886024" cy="186689"/>
          </a:xfrm>
          <a:prstGeom prst="rect">
            <a:avLst/>
          </a:prstGeom>
          <a:noFill/>
        </p:spPr>
        <p:txBody>
          <a:bodyPr wrap="none" lIns="0" rIns="0" tIns="0" bIns="0">
            <a:spAutoFit/>
          </a:bodyPr>
          <a:lstStyle/>
          <a:p>
            <a:r>
              <a:rPr sz="1100" b="0">
                <a:solidFill>
                  <a:srgbClr val="2E2E2E"/>
                </a:solidFill>
                <a:latin typeface="Calibri"/>
              </a:rPr>
              <a:t>● Silicone Waterproof Coatings:</a:t>
            </a:r>
          </a:p>
        </p:txBody>
      </p:sp>
      <p:pic>
        <p:nvPicPr>
          <p:cNvPr id="116" name="Picture 115" descr="lock.png"/>
          <p:cNvPicPr>
            <a:picLocks noChangeAspect="1"/>
          </p:cNvPicPr>
          <p:nvPr/>
        </p:nvPicPr>
        <p:blipFill>
          <a:blip r:embed="rId16"/>
          <a:stretch>
            <a:fillRect/>
          </a:stretch>
        </p:blipFill>
        <p:spPr>
          <a:xfrm>
            <a:off x="5672651" y="5376373"/>
            <a:ext cx="128699" cy="187198"/>
          </a:xfrm>
          <a:prstGeom prst="rect">
            <a:avLst/>
          </a:prstGeom>
        </p:spPr>
      </p:pic>
      <p:sp>
        <p:nvSpPr>
          <p:cNvPr id="117" name="TextBox 116"/>
          <p:cNvSpPr txBox="1"/>
          <p:nvPr/>
        </p:nvSpPr>
        <p:spPr>
          <a:xfrm>
            <a:off x="5840146" y="538615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8" name="Picture 117" descr="lock.png"/>
          <p:cNvPicPr>
            <a:picLocks noChangeAspect="1"/>
          </p:cNvPicPr>
          <p:nvPr/>
        </p:nvPicPr>
        <p:blipFill>
          <a:blip r:embed="rId16"/>
          <a:stretch>
            <a:fillRect/>
          </a:stretch>
        </p:blipFill>
        <p:spPr>
          <a:xfrm>
            <a:off x="6699597" y="5376373"/>
            <a:ext cx="128699" cy="187198"/>
          </a:xfrm>
          <a:prstGeom prst="rect">
            <a:avLst/>
          </a:prstGeom>
        </p:spPr>
      </p:pic>
      <p:sp>
        <p:nvSpPr>
          <p:cNvPr id="119" name="TextBox 118"/>
          <p:cNvSpPr txBox="1"/>
          <p:nvPr/>
        </p:nvSpPr>
        <p:spPr>
          <a:xfrm>
            <a:off x="6867092" y="5386153"/>
            <a:ext cx="769771" cy="186689"/>
          </a:xfrm>
          <a:prstGeom prst="rect">
            <a:avLst/>
          </a:prstGeom>
          <a:noFill/>
        </p:spPr>
        <p:txBody>
          <a:bodyPr wrap="none" lIns="0" rIns="0" tIns="0" bIns="0">
            <a:spAutoFit/>
          </a:bodyPr>
          <a:lstStyle/>
          <a:p>
            <a:r>
              <a:rPr sz="1100" b="0">
                <a:solidFill>
                  <a:srgbClr val="2E2E2E"/>
                </a:solidFill>
                <a:latin typeface="Calibri"/>
              </a:rPr>
              <a:t>CAGR grows</a:t>
            </a:r>
          </a:p>
        </p:txBody>
      </p:sp>
      <p:sp>
        <p:nvSpPr>
          <p:cNvPr id="120" name="TextBox 119"/>
          <p:cNvSpPr txBox="1"/>
          <p:nvPr/>
        </p:nvSpPr>
        <p:spPr>
          <a:xfrm>
            <a:off x="3838575" y="5553793"/>
            <a:ext cx="493390" cy="186689"/>
          </a:xfrm>
          <a:prstGeom prst="rect">
            <a:avLst/>
          </a:prstGeom>
          <a:noFill/>
        </p:spPr>
        <p:txBody>
          <a:bodyPr wrap="none" lIns="0" rIns="0" tIns="0" bIns="0">
            <a:spAutoFit/>
          </a:bodyPr>
          <a:lstStyle/>
          <a:p>
            <a:r>
              <a:rPr sz="1100" b="0">
                <a:solidFill>
                  <a:srgbClr val="2E2E2E"/>
                </a:solidFill>
                <a:latin typeface="Calibri"/>
              </a:rPr>
              <a:t>fastest.</a:t>
            </a:r>
          </a:p>
        </p:txBody>
      </p:sp>
      <p:sp>
        <p:nvSpPr>
          <p:cNvPr id="121" name="TextBox 120"/>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Product Type / Chemistry segment is projected</a:t>
            </a:r>
          </a:p>
        </p:txBody>
      </p:sp>
      <p:sp>
        <p:nvSpPr>
          <p:cNvPr id="122" name="TextBox 121"/>
          <p:cNvSpPr txBox="1"/>
          <p:nvPr/>
        </p:nvSpPr>
        <p:spPr>
          <a:xfrm>
            <a:off x="8524875" y="6017901"/>
            <a:ext cx="1340133" cy="194310"/>
          </a:xfrm>
          <a:prstGeom prst="rect">
            <a:avLst/>
          </a:prstGeom>
          <a:noFill/>
        </p:spPr>
        <p:txBody>
          <a:bodyPr wrap="none" lIns="0" rIns="0" tIns="0" bIns="0">
            <a:spAutoFit/>
          </a:bodyPr>
          <a:lstStyle/>
          <a:p>
            <a:r>
              <a:rPr sz="1150" b="1">
                <a:solidFill>
                  <a:srgbClr val="0B2E4A"/>
                </a:solidFill>
                <a:latin typeface="Calibri"/>
              </a:rPr>
              <a:t>to grow at a CAGR of</a:t>
            </a:r>
          </a:p>
        </p:txBody>
      </p:sp>
      <p:pic>
        <p:nvPicPr>
          <p:cNvPr id="123" name="Picture 122" descr="lock.png"/>
          <p:cNvPicPr>
            <a:picLocks noChangeAspect="1"/>
          </p:cNvPicPr>
          <p:nvPr/>
        </p:nvPicPr>
        <p:blipFill>
          <a:blip r:embed="rId16"/>
          <a:stretch>
            <a:fillRect/>
          </a:stretch>
        </p:blipFill>
        <p:spPr>
          <a:xfrm>
            <a:off x="9814162" y="6007677"/>
            <a:ext cx="134549" cy="195707"/>
          </a:xfrm>
          <a:prstGeom prst="rect">
            <a:avLst/>
          </a:prstGeom>
        </p:spPr>
      </p:pic>
      <p:sp>
        <p:nvSpPr>
          <p:cNvPr id="124" name="TextBox 123"/>
          <p:cNvSpPr txBox="1"/>
          <p:nvPr/>
        </p:nvSpPr>
        <p:spPr>
          <a:xfrm>
            <a:off x="9989271"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Product Type / Chemistry Segment Outlook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8 sub-segments of Product Type / Chemistry,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Product Type / Chemistry segment categorizes the market by product type / chemistry.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Polyurethane (PU) Waterproof Coat…</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25" name="Oval 24"/>
          <p:cNvSpPr/>
          <p:nvPr/>
        </p:nvSpPr>
        <p:spPr>
          <a:xfrm>
            <a:off x="2912269"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26" name="Rounded Rectangle 25"/>
          <p:cNvSpPr/>
          <p:nvPr/>
        </p:nvSpPr>
        <p:spPr>
          <a:xfrm>
            <a:off x="4395788" y="1773916"/>
            <a:ext cx="2414588"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Epoxy Waterproof Coatings</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32" name="Oval 31"/>
          <p:cNvSpPr/>
          <p:nvPr/>
        </p:nvSpPr>
        <p:spPr>
          <a:xfrm>
            <a:off x="5441156"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33" name="Rounded Rectangle 32"/>
          <p:cNvSpPr/>
          <p:nvPr/>
        </p:nvSpPr>
        <p:spPr>
          <a:xfrm>
            <a:off x="6924675" y="1773916"/>
            <a:ext cx="2414588"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Bituminous Waterproof Coatings</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9" name="Oval 38"/>
          <p:cNvSpPr/>
          <p:nvPr/>
        </p:nvSpPr>
        <p:spPr>
          <a:xfrm>
            <a:off x="7970044"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40" name="Rounded Rectangle 39"/>
          <p:cNvSpPr/>
          <p:nvPr/>
        </p:nvSpPr>
        <p:spPr>
          <a:xfrm>
            <a:off x="9453562"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Acrylic Waterproof Coatings</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46" name="Oval 45"/>
          <p:cNvSpPr/>
          <p:nvPr/>
        </p:nvSpPr>
        <p:spPr>
          <a:xfrm>
            <a:off x="10498931"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8</a:t>
            </a:r>
          </a:p>
        </p:txBody>
      </p:sp>
      <p:sp>
        <p:nvSpPr>
          <p:cNvPr id="47" name="Rounded Rectangle 46"/>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9" name="Rectangle 48"/>
          <p:cNvSpPr/>
          <p:nvPr/>
        </p:nvSpPr>
        <p:spPr>
          <a:xfrm>
            <a:off x="457200" y="4146897"/>
            <a:ext cx="112776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C7A89"/>
                </a:solidFill>
                <a:latin typeface="Calibri"/>
              </a:rPr>
              <a:t/>
            </a:r>
            <a:r>
              <a:rPr sz="1100" b="1">
                <a:solidFill>
                  <a:srgbClr val="6C7A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p:txBody>
      </p:sp>
      <p:sp>
        <p:nvSpPr>
          <p:cNvPr id="51" name="TextBox 5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3" name="Picture 52" descr="1_100_605E5C.png"/>
          <p:cNvPicPr>
            <a:picLocks noChangeAspect="1"/>
          </p:cNvPicPr>
          <p:nvPr/>
        </p:nvPicPr>
        <p:blipFill>
          <a:blip r:embed="rId4"/>
          <a:stretch>
            <a:fillRect/>
          </a:stretch>
        </p:blipFill>
        <p:spPr>
          <a:xfrm>
            <a:off x="2476330" y="2286582"/>
            <a:ext cx="1195728" cy="361950"/>
          </a:xfrm>
          <a:prstGeom prst="rect">
            <a:avLst/>
          </a:prstGeom>
        </p:spPr>
      </p:pic>
      <p:pic>
        <p:nvPicPr>
          <p:cNvPr id="54" name="Picture 53" descr="1_673_605E5C.png"/>
          <p:cNvPicPr>
            <a:picLocks noChangeAspect="1"/>
          </p:cNvPicPr>
          <p:nvPr/>
        </p:nvPicPr>
        <p:blipFill>
          <a:blip r:embed="rId5"/>
          <a:stretch>
            <a:fillRect/>
          </a:stretch>
        </p:blipFill>
        <p:spPr>
          <a:xfrm>
            <a:off x="2476330" y="2779432"/>
            <a:ext cx="1195728" cy="361950"/>
          </a:xfrm>
          <a:prstGeom prst="rect">
            <a:avLst/>
          </a:prstGeom>
        </p:spPr>
      </p:pic>
      <p:pic>
        <p:nvPicPr>
          <p:cNvPr id="55" name="Picture 54" descr="4_3__605E5C.png"/>
          <p:cNvPicPr>
            <a:picLocks noChangeAspect="1"/>
          </p:cNvPicPr>
          <p:nvPr/>
        </p:nvPicPr>
        <p:blipFill>
          <a:blip r:embed="rId6"/>
          <a:stretch>
            <a:fillRect/>
          </a:stretch>
        </p:blipFill>
        <p:spPr>
          <a:xfrm>
            <a:off x="2582976" y="3272281"/>
            <a:ext cx="982436" cy="361950"/>
          </a:xfrm>
          <a:prstGeom prst="rect">
            <a:avLst/>
          </a:prstGeom>
        </p:spPr>
      </p:pic>
      <p:pic>
        <p:nvPicPr>
          <p:cNvPr id="56" name="Picture 55" descr="893_5_605E5C.png"/>
          <p:cNvPicPr>
            <a:picLocks noChangeAspect="1"/>
          </p:cNvPicPr>
          <p:nvPr/>
        </p:nvPicPr>
        <p:blipFill>
          <a:blip r:embed="rId7"/>
          <a:stretch>
            <a:fillRect/>
          </a:stretch>
        </p:blipFill>
        <p:spPr>
          <a:xfrm>
            <a:off x="5005218" y="2286582"/>
            <a:ext cx="1195728" cy="361950"/>
          </a:xfrm>
          <a:prstGeom prst="rect">
            <a:avLst/>
          </a:prstGeom>
        </p:spPr>
      </p:pic>
      <p:pic>
        <p:nvPicPr>
          <p:cNvPr id="57" name="Picture 56" descr="1_550_605E5C.png"/>
          <p:cNvPicPr>
            <a:picLocks noChangeAspect="1"/>
          </p:cNvPicPr>
          <p:nvPr/>
        </p:nvPicPr>
        <p:blipFill>
          <a:blip r:embed="rId8"/>
          <a:stretch>
            <a:fillRect/>
          </a:stretch>
        </p:blipFill>
        <p:spPr>
          <a:xfrm>
            <a:off x="5005218" y="2779432"/>
            <a:ext cx="1195728" cy="361950"/>
          </a:xfrm>
          <a:prstGeom prst="rect">
            <a:avLst/>
          </a:prstGeom>
        </p:spPr>
      </p:pic>
      <p:pic>
        <p:nvPicPr>
          <p:cNvPr id="58" name="Picture 57" descr="5_7__605E5C.png"/>
          <p:cNvPicPr>
            <a:picLocks noChangeAspect="1"/>
          </p:cNvPicPr>
          <p:nvPr/>
        </p:nvPicPr>
        <p:blipFill>
          <a:blip r:embed="rId9"/>
          <a:stretch>
            <a:fillRect/>
          </a:stretch>
        </p:blipFill>
        <p:spPr>
          <a:xfrm>
            <a:off x="5111864" y="3272281"/>
            <a:ext cx="982436" cy="361950"/>
          </a:xfrm>
          <a:prstGeom prst="rect">
            <a:avLst/>
          </a:prstGeom>
        </p:spPr>
      </p:pic>
      <p:pic>
        <p:nvPicPr>
          <p:cNvPr id="59" name="Picture 58" descr="542_6_605E5C.png"/>
          <p:cNvPicPr>
            <a:picLocks noChangeAspect="1"/>
          </p:cNvPicPr>
          <p:nvPr/>
        </p:nvPicPr>
        <p:blipFill>
          <a:blip r:embed="rId10"/>
          <a:stretch>
            <a:fillRect/>
          </a:stretch>
        </p:blipFill>
        <p:spPr>
          <a:xfrm>
            <a:off x="7534105" y="2286582"/>
            <a:ext cx="1195728" cy="361950"/>
          </a:xfrm>
          <a:prstGeom prst="rect">
            <a:avLst/>
          </a:prstGeom>
        </p:spPr>
      </p:pic>
      <p:pic>
        <p:nvPicPr>
          <p:cNvPr id="60" name="Picture 59" descr="1_001_605E5C.png"/>
          <p:cNvPicPr>
            <a:picLocks noChangeAspect="1"/>
          </p:cNvPicPr>
          <p:nvPr/>
        </p:nvPicPr>
        <p:blipFill>
          <a:blip r:embed="rId11"/>
          <a:stretch>
            <a:fillRect/>
          </a:stretch>
        </p:blipFill>
        <p:spPr>
          <a:xfrm>
            <a:off x="7534105" y="2779432"/>
            <a:ext cx="1195728" cy="361950"/>
          </a:xfrm>
          <a:prstGeom prst="rect">
            <a:avLst/>
          </a:prstGeom>
        </p:spPr>
      </p:pic>
      <p:pic>
        <p:nvPicPr>
          <p:cNvPr id="61" name="Picture 60" descr="6_3__605E5C.png"/>
          <p:cNvPicPr>
            <a:picLocks noChangeAspect="1"/>
          </p:cNvPicPr>
          <p:nvPr/>
        </p:nvPicPr>
        <p:blipFill>
          <a:blip r:embed="rId12"/>
          <a:stretch>
            <a:fillRect/>
          </a:stretch>
        </p:blipFill>
        <p:spPr>
          <a:xfrm>
            <a:off x="7640751" y="3272281"/>
            <a:ext cx="982436" cy="361950"/>
          </a:xfrm>
          <a:prstGeom prst="rect">
            <a:avLst/>
          </a:prstGeom>
        </p:spPr>
      </p:pic>
      <p:pic>
        <p:nvPicPr>
          <p:cNvPr id="62" name="Picture 61" descr="365_2_605E5C.png"/>
          <p:cNvPicPr>
            <a:picLocks noChangeAspect="1"/>
          </p:cNvPicPr>
          <p:nvPr/>
        </p:nvPicPr>
        <p:blipFill>
          <a:blip r:embed="rId13"/>
          <a:stretch>
            <a:fillRect/>
          </a:stretch>
        </p:blipFill>
        <p:spPr>
          <a:xfrm>
            <a:off x="10062992" y="2286582"/>
            <a:ext cx="1195728" cy="361950"/>
          </a:xfrm>
          <a:prstGeom prst="rect">
            <a:avLst/>
          </a:prstGeom>
        </p:spPr>
      </p:pic>
      <p:pic>
        <p:nvPicPr>
          <p:cNvPr id="63" name="Picture 62" descr="606_5_605E5C.png"/>
          <p:cNvPicPr>
            <a:picLocks noChangeAspect="1"/>
          </p:cNvPicPr>
          <p:nvPr/>
        </p:nvPicPr>
        <p:blipFill>
          <a:blip r:embed="rId14"/>
          <a:stretch>
            <a:fillRect/>
          </a:stretch>
        </p:blipFill>
        <p:spPr>
          <a:xfrm>
            <a:off x="10062992" y="2779432"/>
            <a:ext cx="1195728" cy="361950"/>
          </a:xfrm>
          <a:prstGeom prst="rect">
            <a:avLst/>
          </a:prstGeom>
        </p:spPr>
      </p:pic>
      <p:pic>
        <p:nvPicPr>
          <p:cNvPr id="64" name="Picture 63" descr="5_2__605E5C.png"/>
          <p:cNvPicPr>
            <a:picLocks noChangeAspect="1"/>
          </p:cNvPicPr>
          <p:nvPr/>
        </p:nvPicPr>
        <p:blipFill>
          <a:blip r:embed="rId15"/>
          <a:stretch>
            <a:fillRect/>
          </a:stretch>
        </p:blipFill>
        <p:spPr>
          <a:xfrm>
            <a:off x="10169638" y="3272281"/>
            <a:ext cx="982436" cy="361950"/>
          </a:xfrm>
          <a:prstGeom prst="rect">
            <a:avLst/>
          </a:prstGeom>
        </p:spPr>
      </p:pic>
      <p:pic>
        <p:nvPicPr>
          <p:cNvPr id="65" name="Picture 64" descr="lock.png"/>
          <p:cNvPicPr>
            <a:picLocks noChangeAspect="1"/>
          </p:cNvPicPr>
          <p:nvPr/>
        </p:nvPicPr>
        <p:blipFill>
          <a:blip r:embed="rId16"/>
          <a:stretch>
            <a:fillRect/>
          </a:stretch>
        </p:blipFill>
        <p:spPr>
          <a:xfrm>
            <a:off x="2980848" y="2827057"/>
            <a:ext cx="183356" cy="266700"/>
          </a:xfrm>
          <a:prstGeom prst="rect">
            <a:avLst/>
          </a:prstGeom>
        </p:spPr>
      </p:pic>
      <p:pic>
        <p:nvPicPr>
          <p:cNvPr id="66" name="Picture 65" descr="lock.png"/>
          <p:cNvPicPr>
            <a:picLocks noChangeAspect="1"/>
          </p:cNvPicPr>
          <p:nvPr/>
        </p:nvPicPr>
        <p:blipFill>
          <a:blip r:embed="rId16"/>
          <a:stretch>
            <a:fillRect/>
          </a:stretch>
        </p:blipFill>
        <p:spPr>
          <a:xfrm>
            <a:off x="5509737" y="2827057"/>
            <a:ext cx="183356" cy="266700"/>
          </a:xfrm>
          <a:prstGeom prst="rect">
            <a:avLst/>
          </a:prstGeom>
        </p:spPr>
      </p:pic>
      <p:pic>
        <p:nvPicPr>
          <p:cNvPr id="67" name="Picture 66" descr="lock.png"/>
          <p:cNvPicPr>
            <a:picLocks noChangeAspect="1"/>
          </p:cNvPicPr>
          <p:nvPr/>
        </p:nvPicPr>
        <p:blipFill>
          <a:blip r:embed="rId16"/>
          <a:stretch>
            <a:fillRect/>
          </a:stretch>
        </p:blipFill>
        <p:spPr>
          <a:xfrm>
            <a:off x="8038624" y="2827057"/>
            <a:ext cx="183356" cy="266700"/>
          </a:xfrm>
          <a:prstGeom prst="rect">
            <a:avLst/>
          </a:prstGeom>
        </p:spPr>
      </p:pic>
      <p:pic>
        <p:nvPicPr>
          <p:cNvPr id="68" name="Picture 67" descr="lock.png"/>
          <p:cNvPicPr>
            <a:picLocks noChangeAspect="1"/>
          </p:cNvPicPr>
          <p:nvPr/>
        </p:nvPicPr>
        <p:blipFill>
          <a:blip r:embed="rId16"/>
          <a:stretch>
            <a:fillRect/>
          </a:stretch>
        </p:blipFill>
        <p:spPr>
          <a:xfrm>
            <a:off x="10567511" y="2827057"/>
            <a:ext cx="183356" cy="266700"/>
          </a:xfrm>
          <a:prstGeom prst="rect">
            <a:avLst/>
          </a:prstGeom>
        </p:spPr>
      </p:pic>
      <p:sp>
        <p:nvSpPr>
          <p:cNvPr id="69" name="TextBox 68"/>
          <p:cNvSpPr txBox="1"/>
          <p:nvPr/>
        </p:nvSpPr>
        <p:spPr>
          <a:xfrm>
            <a:off x="485775" y="4229437"/>
            <a:ext cx="2491209" cy="186689"/>
          </a:xfrm>
          <a:prstGeom prst="rect">
            <a:avLst/>
          </a:prstGeom>
          <a:noFill/>
        </p:spPr>
        <p:txBody>
          <a:bodyPr wrap="none" lIns="0" rIns="0" tIns="0" bIns="0">
            <a:spAutoFit/>
          </a:bodyPr>
          <a:lstStyle/>
          <a:p>
            <a:r>
              <a:rPr sz="1100" b="0">
                <a:solidFill>
                  <a:srgbClr val="2E2E2E"/>
                </a:solidFill>
                <a:latin typeface="Calibri"/>
              </a:rPr>
              <a:t>● Polyurethane (PU) Waterproof Coatings:</a:t>
            </a:r>
          </a:p>
        </p:txBody>
      </p:sp>
      <p:pic>
        <p:nvPicPr>
          <p:cNvPr id="70" name="Picture 69" descr="lock.png"/>
          <p:cNvPicPr>
            <a:picLocks noChangeAspect="1"/>
          </p:cNvPicPr>
          <p:nvPr/>
        </p:nvPicPr>
        <p:blipFill>
          <a:blip r:embed="rId16"/>
          <a:stretch>
            <a:fillRect/>
          </a:stretch>
        </p:blipFill>
        <p:spPr>
          <a:xfrm>
            <a:off x="2925035" y="4219658"/>
            <a:ext cx="128699" cy="187198"/>
          </a:xfrm>
          <a:prstGeom prst="rect">
            <a:avLst/>
          </a:prstGeom>
        </p:spPr>
      </p:pic>
      <p:sp>
        <p:nvSpPr>
          <p:cNvPr id="71" name="TextBox 70"/>
          <p:cNvSpPr txBox="1"/>
          <p:nvPr/>
        </p:nvSpPr>
        <p:spPr>
          <a:xfrm>
            <a:off x="3092531"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2" name="Picture 71" descr="lock.png"/>
          <p:cNvPicPr>
            <a:picLocks noChangeAspect="1"/>
          </p:cNvPicPr>
          <p:nvPr/>
        </p:nvPicPr>
        <p:blipFill>
          <a:blip r:embed="rId16"/>
          <a:stretch>
            <a:fillRect/>
          </a:stretch>
        </p:blipFill>
        <p:spPr>
          <a:xfrm>
            <a:off x="3951981" y="4219658"/>
            <a:ext cx="128699" cy="187198"/>
          </a:xfrm>
          <a:prstGeom prst="rect">
            <a:avLst/>
          </a:prstGeom>
        </p:spPr>
      </p:pic>
      <p:sp>
        <p:nvSpPr>
          <p:cNvPr id="73" name="TextBox 72"/>
          <p:cNvSpPr txBox="1"/>
          <p:nvPr/>
        </p:nvSpPr>
        <p:spPr>
          <a:xfrm>
            <a:off x="4119477" y="4229437"/>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74" name="TextBox 73"/>
          <p:cNvSpPr txBox="1"/>
          <p:nvPr/>
        </p:nvSpPr>
        <p:spPr>
          <a:xfrm>
            <a:off x="485775" y="4447369"/>
            <a:ext cx="1788616" cy="186689"/>
          </a:xfrm>
          <a:prstGeom prst="rect">
            <a:avLst/>
          </a:prstGeom>
          <a:noFill/>
        </p:spPr>
        <p:txBody>
          <a:bodyPr wrap="none" lIns="0" rIns="0" tIns="0" bIns="0">
            <a:spAutoFit/>
          </a:bodyPr>
          <a:lstStyle/>
          <a:p>
            <a:r>
              <a:rPr sz="1100" b="0">
                <a:solidFill>
                  <a:srgbClr val="2E2E2E"/>
                </a:solidFill>
                <a:latin typeface="Calibri"/>
              </a:rPr>
              <a:t>● Epoxy Waterproof Coatings:</a:t>
            </a:r>
          </a:p>
        </p:txBody>
      </p:sp>
      <p:pic>
        <p:nvPicPr>
          <p:cNvPr id="75" name="Picture 74" descr="lock.png"/>
          <p:cNvPicPr>
            <a:picLocks noChangeAspect="1"/>
          </p:cNvPicPr>
          <p:nvPr/>
        </p:nvPicPr>
        <p:blipFill>
          <a:blip r:embed="rId16"/>
          <a:stretch>
            <a:fillRect/>
          </a:stretch>
        </p:blipFill>
        <p:spPr>
          <a:xfrm>
            <a:off x="2222443" y="4437590"/>
            <a:ext cx="128699" cy="187198"/>
          </a:xfrm>
          <a:prstGeom prst="rect">
            <a:avLst/>
          </a:prstGeom>
        </p:spPr>
      </p:pic>
      <p:sp>
        <p:nvSpPr>
          <p:cNvPr id="76" name="TextBox 75"/>
          <p:cNvSpPr txBox="1"/>
          <p:nvPr/>
        </p:nvSpPr>
        <p:spPr>
          <a:xfrm>
            <a:off x="2389938"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7" name="Picture 76" descr="lock.png"/>
          <p:cNvPicPr>
            <a:picLocks noChangeAspect="1"/>
          </p:cNvPicPr>
          <p:nvPr/>
        </p:nvPicPr>
        <p:blipFill>
          <a:blip r:embed="rId16"/>
          <a:stretch>
            <a:fillRect/>
          </a:stretch>
        </p:blipFill>
        <p:spPr>
          <a:xfrm>
            <a:off x="3249389" y="4437590"/>
            <a:ext cx="128699" cy="187198"/>
          </a:xfrm>
          <a:prstGeom prst="rect">
            <a:avLst/>
          </a:prstGeom>
        </p:spPr>
      </p:pic>
      <p:sp>
        <p:nvSpPr>
          <p:cNvPr id="78" name="TextBox 77"/>
          <p:cNvSpPr txBox="1"/>
          <p:nvPr/>
        </p:nvSpPr>
        <p:spPr>
          <a:xfrm>
            <a:off x="3416884"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79" name="TextBox 78"/>
          <p:cNvSpPr txBox="1"/>
          <p:nvPr/>
        </p:nvSpPr>
        <p:spPr>
          <a:xfrm>
            <a:off x="485775" y="4665301"/>
            <a:ext cx="2096938" cy="186689"/>
          </a:xfrm>
          <a:prstGeom prst="rect">
            <a:avLst/>
          </a:prstGeom>
          <a:noFill/>
        </p:spPr>
        <p:txBody>
          <a:bodyPr wrap="none" lIns="0" rIns="0" tIns="0" bIns="0">
            <a:spAutoFit/>
          </a:bodyPr>
          <a:lstStyle/>
          <a:p>
            <a:r>
              <a:rPr sz="1100" b="0">
                <a:solidFill>
                  <a:srgbClr val="2E2E2E"/>
                </a:solidFill>
                <a:latin typeface="Calibri"/>
              </a:rPr>
              <a:t>● Bituminous Waterproof Coatings:</a:t>
            </a:r>
          </a:p>
        </p:txBody>
      </p:sp>
      <p:pic>
        <p:nvPicPr>
          <p:cNvPr id="80" name="Picture 79" descr="lock.png"/>
          <p:cNvPicPr>
            <a:picLocks noChangeAspect="1"/>
          </p:cNvPicPr>
          <p:nvPr/>
        </p:nvPicPr>
        <p:blipFill>
          <a:blip r:embed="rId16"/>
          <a:stretch>
            <a:fillRect/>
          </a:stretch>
        </p:blipFill>
        <p:spPr>
          <a:xfrm>
            <a:off x="2530765" y="4655522"/>
            <a:ext cx="128699" cy="187198"/>
          </a:xfrm>
          <a:prstGeom prst="rect">
            <a:avLst/>
          </a:prstGeom>
        </p:spPr>
      </p:pic>
      <p:sp>
        <p:nvSpPr>
          <p:cNvPr id="81" name="TextBox 80"/>
          <p:cNvSpPr txBox="1"/>
          <p:nvPr/>
        </p:nvSpPr>
        <p:spPr>
          <a:xfrm>
            <a:off x="2698261"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2" name="Picture 81" descr="lock.png"/>
          <p:cNvPicPr>
            <a:picLocks noChangeAspect="1"/>
          </p:cNvPicPr>
          <p:nvPr/>
        </p:nvPicPr>
        <p:blipFill>
          <a:blip r:embed="rId16"/>
          <a:stretch>
            <a:fillRect/>
          </a:stretch>
        </p:blipFill>
        <p:spPr>
          <a:xfrm>
            <a:off x="3557711" y="4655522"/>
            <a:ext cx="128699" cy="187198"/>
          </a:xfrm>
          <a:prstGeom prst="rect">
            <a:avLst/>
          </a:prstGeom>
        </p:spPr>
      </p:pic>
      <p:sp>
        <p:nvSpPr>
          <p:cNvPr id="83" name="TextBox 82"/>
          <p:cNvSpPr txBox="1"/>
          <p:nvPr/>
        </p:nvSpPr>
        <p:spPr>
          <a:xfrm>
            <a:off x="3725207"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84" name="TextBox 83"/>
          <p:cNvSpPr txBox="1"/>
          <p:nvPr/>
        </p:nvSpPr>
        <p:spPr>
          <a:xfrm>
            <a:off x="485775" y="4883233"/>
            <a:ext cx="1825178" cy="186689"/>
          </a:xfrm>
          <a:prstGeom prst="rect">
            <a:avLst/>
          </a:prstGeom>
          <a:noFill/>
        </p:spPr>
        <p:txBody>
          <a:bodyPr wrap="none" lIns="0" rIns="0" tIns="0" bIns="0">
            <a:spAutoFit/>
          </a:bodyPr>
          <a:lstStyle/>
          <a:p>
            <a:r>
              <a:rPr sz="1100" b="0">
                <a:solidFill>
                  <a:srgbClr val="2E2E2E"/>
                </a:solidFill>
                <a:latin typeface="Calibri"/>
              </a:rPr>
              <a:t>● Acrylic Waterproof Coatings:</a:t>
            </a:r>
          </a:p>
        </p:txBody>
      </p:sp>
      <p:pic>
        <p:nvPicPr>
          <p:cNvPr id="85" name="Picture 84" descr="lock.png"/>
          <p:cNvPicPr>
            <a:picLocks noChangeAspect="1"/>
          </p:cNvPicPr>
          <p:nvPr/>
        </p:nvPicPr>
        <p:blipFill>
          <a:blip r:embed="rId16"/>
          <a:stretch>
            <a:fillRect/>
          </a:stretch>
        </p:blipFill>
        <p:spPr>
          <a:xfrm>
            <a:off x="2259005" y="4873454"/>
            <a:ext cx="128699" cy="187198"/>
          </a:xfrm>
          <a:prstGeom prst="rect">
            <a:avLst/>
          </a:prstGeom>
        </p:spPr>
      </p:pic>
      <p:sp>
        <p:nvSpPr>
          <p:cNvPr id="86" name="TextBox 85"/>
          <p:cNvSpPr txBox="1"/>
          <p:nvPr/>
        </p:nvSpPr>
        <p:spPr>
          <a:xfrm>
            <a:off x="2426500"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7" name="Picture 86" descr="lock.png"/>
          <p:cNvPicPr>
            <a:picLocks noChangeAspect="1"/>
          </p:cNvPicPr>
          <p:nvPr/>
        </p:nvPicPr>
        <p:blipFill>
          <a:blip r:embed="rId16"/>
          <a:stretch>
            <a:fillRect/>
          </a:stretch>
        </p:blipFill>
        <p:spPr>
          <a:xfrm>
            <a:off x="3285951" y="4873454"/>
            <a:ext cx="128699" cy="187198"/>
          </a:xfrm>
          <a:prstGeom prst="rect">
            <a:avLst/>
          </a:prstGeom>
        </p:spPr>
      </p:pic>
      <p:sp>
        <p:nvSpPr>
          <p:cNvPr id="88" name="TextBox 87"/>
          <p:cNvSpPr txBox="1"/>
          <p:nvPr/>
        </p:nvSpPr>
        <p:spPr>
          <a:xfrm>
            <a:off x="3453446" y="488323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Product Type / Chemistry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Product Type / Chemistry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Type / Chemistry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Product Type / Chemistry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582896" cy="186689"/>
          </a:xfrm>
          <a:prstGeom prst="rect">
            <a:avLst/>
          </a:prstGeom>
          <a:noFill/>
        </p:spPr>
        <p:txBody>
          <a:bodyPr wrap="none" lIns="0" rIns="0" tIns="0" bIns="0">
            <a:spAutoFit/>
          </a:bodyPr>
          <a:lstStyle/>
          <a:p>
            <a:r>
              <a:rPr sz="1100" b="0">
                <a:solidFill>
                  <a:srgbClr val="2E2E2E"/>
                </a:solidFill>
                <a:latin typeface="Calibri"/>
              </a:rPr>
              <a:t>Polyurea waterproof coatings followed by silicone waterproof coatings are expected to be the two most attractive product type / chemistry segments in the global waterproof coatings market in terms of</a:t>
            </a:r>
          </a:p>
        </p:txBody>
      </p:sp>
      <p:sp>
        <p:nvSpPr>
          <p:cNvPr id="20" name="TextBox 19"/>
          <p:cNvSpPr txBox="1"/>
          <p:nvPr/>
        </p:nvSpPr>
        <p:spPr>
          <a:xfrm>
            <a:off x="257175" y="5861685"/>
            <a:ext cx="6775234" cy="186689"/>
          </a:xfrm>
          <a:prstGeom prst="rect">
            <a:avLst/>
          </a:prstGeom>
          <a:noFill/>
        </p:spPr>
        <p:txBody>
          <a:bodyPr wrap="none" lIns="0" rIns="0" tIns="0" bIns="0">
            <a:spAutoFit/>
          </a:bodyPr>
          <a:lstStyle/>
          <a:p>
            <a:r>
              <a:rPr sz="1100" b="0">
                <a:solidFill>
                  <a:srgbClr val="2E2E2E"/>
                </a:solidFill>
                <a:latin typeface="Calibri"/>
              </a:rPr>
              <a:t>value over the forecast period. Polyurea waterproof coatings and silicone waterproof coatings exhibit a CAGR index of</a:t>
            </a:r>
          </a:p>
        </p:txBody>
      </p:sp>
      <p:pic>
        <p:nvPicPr>
          <p:cNvPr id="21" name="Picture 20" descr="lock.png"/>
          <p:cNvPicPr>
            <a:picLocks noChangeAspect="1"/>
          </p:cNvPicPr>
          <p:nvPr/>
        </p:nvPicPr>
        <p:blipFill>
          <a:blip r:embed="rId6"/>
          <a:stretch>
            <a:fillRect/>
          </a:stretch>
        </p:blipFill>
        <p:spPr>
          <a:xfrm>
            <a:off x="6980461" y="5851905"/>
            <a:ext cx="128699" cy="187198"/>
          </a:xfrm>
          <a:prstGeom prst="rect">
            <a:avLst/>
          </a:prstGeom>
        </p:spPr>
      </p:pic>
      <p:sp>
        <p:nvSpPr>
          <p:cNvPr id="22" name="TextBox 21"/>
          <p:cNvSpPr txBox="1"/>
          <p:nvPr/>
        </p:nvSpPr>
        <p:spPr>
          <a:xfrm>
            <a:off x="7147956"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7385851" y="5851905"/>
            <a:ext cx="128699" cy="187198"/>
          </a:xfrm>
          <a:prstGeom prst="rect">
            <a:avLst/>
          </a:prstGeom>
        </p:spPr>
      </p:pic>
      <p:sp>
        <p:nvSpPr>
          <p:cNvPr id="24" name="TextBox 23"/>
          <p:cNvSpPr txBox="1"/>
          <p:nvPr/>
        </p:nvSpPr>
        <p:spPr>
          <a:xfrm>
            <a:off x="7553347"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9162320" y="5851905"/>
            <a:ext cx="128699" cy="187198"/>
          </a:xfrm>
          <a:prstGeom prst="rect">
            <a:avLst/>
          </a:prstGeom>
        </p:spPr>
      </p:pic>
      <p:sp>
        <p:nvSpPr>
          <p:cNvPr id="26" name="TextBox 25"/>
          <p:cNvSpPr txBox="1"/>
          <p:nvPr/>
        </p:nvSpPr>
        <p:spPr>
          <a:xfrm>
            <a:off x="9329816"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9567710" y="5851905"/>
            <a:ext cx="128699" cy="187198"/>
          </a:xfrm>
          <a:prstGeom prst="rect">
            <a:avLst/>
          </a:prstGeom>
        </p:spPr>
      </p:pic>
      <p:sp>
        <p:nvSpPr>
          <p:cNvPr id="28" name="TextBox 27"/>
          <p:cNvSpPr txBox="1"/>
          <p:nvPr/>
        </p:nvSpPr>
        <p:spPr>
          <a:xfrm>
            <a:off x="9735206" y="5861685"/>
            <a:ext cx="1453281" cy="186689"/>
          </a:xfrm>
          <a:prstGeom prst="rect">
            <a:avLst/>
          </a:prstGeom>
          <a:noFill/>
        </p:spPr>
        <p:txBody>
          <a:bodyPr wrap="none" lIns="0" rIns="0" tIns="0" bIns="0">
            <a:spAutoFit/>
          </a:bodyPr>
          <a:lstStyle/>
          <a:p>
            <a:r>
              <a:rPr sz="1100" b="0">
                <a:solidFill>
                  <a:srgbClr val="2E2E2E"/>
                </a:solidFill>
                <a:latin typeface="Calibri"/>
              </a:rPr>
              <a:t>respectively, against the</a:t>
            </a:r>
          </a:p>
        </p:txBody>
      </p:sp>
      <p:sp>
        <p:nvSpPr>
          <p:cNvPr id="29" name="TextBox 28"/>
          <p:cNvSpPr txBox="1"/>
          <p:nvPr/>
        </p:nvSpPr>
        <p:spPr>
          <a:xfrm>
            <a:off x="257175" y="6029325"/>
            <a:ext cx="1197619" cy="186689"/>
          </a:xfrm>
          <a:prstGeom prst="rect">
            <a:avLst/>
          </a:prstGeom>
          <a:noFill/>
        </p:spPr>
        <p:txBody>
          <a:bodyPr wrap="none" lIns="0" rIns="0" tIns="0" bIns="0">
            <a:spAutoFit/>
          </a:bodyPr>
          <a:lstStyle/>
          <a:p>
            <a:r>
              <a:rPr sz="1100" b="0">
                <a:solidFill>
                  <a:srgbClr val="2E2E2E"/>
                </a:solidFill>
                <a:latin typeface="Calibri"/>
              </a:rPr>
              <a:t>segment average of</a:t>
            </a:r>
          </a:p>
        </p:txBody>
      </p:sp>
      <p:pic>
        <p:nvPicPr>
          <p:cNvPr id="30" name="Picture 29" descr="lock.png"/>
          <p:cNvPicPr>
            <a:picLocks noChangeAspect="1"/>
          </p:cNvPicPr>
          <p:nvPr/>
        </p:nvPicPr>
        <p:blipFill>
          <a:blip r:embed="rId6"/>
          <a:stretch>
            <a:fillRect/>
          </a:stretch>
        </p:blipFill>
        <p:spPr>
          <a:xfrm>
            <a:off x="1402846" y="6019545"/>
            <a:ext cx="128699" cy="187198"/>
          </a:xfrm>
          <a:prstGeom prst="rect">
            <a:avLst/>
          </a:prstGeom>
        </p:spPr>
      </p:pic>
      <p:sp>
        <p:nvSpPr>
          <p:cNvPr id="31" name="TextBox 30"/>
          <p:cNvSpPr txBox="1"/>
          <p:nvPr/>
        </p:nvSpPr>
        <p:spPr>
          <a:xfrm>
            <a:off x="1570342" y="6029325"/>
            <a:ext cx="9908116" cy="186689"/>
          </a:xfrm>
          <a:prstGeom prst="rect">
            <a:avLst/>
          </a:prstGeom>
          <a:noFill/>
        </p:spPr>
        <p:txBody>
          <a:bodyPr wrap="none" lIns="0" rIns="0" tIns="0" bIns="0">
            <a:spAutoFit/>
          </a:bodyPr>
          <a:lstStyle/>
          <a:p>
            <a:r>
              <a:rPr sz="1100" b="0">
                <a:solidFill>
                  <a:srgbClr val="2E2E2E"/>
                </a:solidFill>
                <a:latin typeface="Calibri"/>
              </a:rPr>
              <a:t>. The acrylic waterproof coatings segment is expected to be less attractive as compared to other segments over the forecast period, owing to its lower CAGR and incremental</a:t>
            </a:r>
          </a:p>
        </p:txBody>
      </p:sp>
      <p:sp>
        <p:nvSpPr>
          <p:cNvPr id="32" name="TextBox 31"/>
          <p:cNvSpPr txBox="1"/>
          <p:nvPr/>
        </p:nvSpPr>
        <p:spPr>
          <a:xfrm>
            <a:off x="257175" y="6196965"/>
            <a:ext cx="5122845" cy="186689"/>
          </a:xfrm>
          <a:prstGeom prst="rect">
            <a:avLst/>
          </a:prstGeom>
          <a:noFill/>
        </p:spPr>
        <p:txBody>
          <a:bodyPr wrap="none" lIns="0" rIns="0" tIns="0" bIns="0">
            <a:spAutoFit/>
          </a:bodyPr>
          <a:lstStyle/>
          <a:p>
            <a:r>
              <a:rPr sz="1100" b="0">
                <a:solidFill>
                  <a:srgbClr val="2E2E2E"/>
                </a:solidFill>
                <a:latin typeface="Calibri"/>
              </a:rPr>
              <a:t>opportunity. Bubbles right of the CAGR-Index line grow faster 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Product Type / Chemistry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Type / Chemistry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Acrylic Waterproof Coatings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Polyurethane (PU) Waterproof Coatings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Epoxy Waterproof Coatings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Silicone Waterproof Coatings</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Product Type / Chemistry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Type / Chemistry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Bituminous Waterproof Coatings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Cementitious Waterproof Coatings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Polyurea Waterproof Coatings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Other Polymer-Based Coatings</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Product Type / Chemistry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Product Type / Chemistry, 2021–2036, highlighting the sub-segments driving growth</a:t>
            </a:r>
          </a:p>
        </p:txBody>
      </p:sp>
      <p:sp>
        <p:nvSpPr>
          <p:cNvPr id="10" name="Rounded Rectangle 9"/>
          <p:cNvSpPr/>
          <p:nvPr/>
        </p:nvSpPr>
        <p:spPr>
          <a:xfrm>
            <a:off x="142875" y="981075"/>
            <a:ext cx="11906250"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Product Type / Chemistry (US$ Mn)</a:t>
            </a:r>
          </a:p>
        </p:txBody>
      </p:sp>
      <p:graphicFrame>
        <p:nvGraphicFramePr>
          <p:cNvPr id="12" name="Table 11"/>
          <p:cNvGraphicFramePr>
            <a:graphicFrameLocks noGrp="1"/>
          </p:cNvGraphicFramePr>
          <p:nvPr/>
        </p:nvGraphicFramePr>
        <p:xfrm>
          <a:off x="152400" y="1238250"/>
          <a:ext cx="11887204" cy="2466975"/>
        </p:xfrm>
        <a:graphic>
          <a:graphicData uri="http://schemas.openxmlformats.org/drawingml/2006/table">
            <a:tbl>
              <a:tblPr>
                <a:tableStyleId>{5C22544A-7EE6-4342-B048-85BDC9FD1C3A}</a:tableStyleId>
              </a:tblPr>
              <a:tblGrid>
                <a:gridCol w="2664768"/>
                <a:gridCol w="520319"/>
                <a:gridCol w="520319"/>
                <a:gridCol w="520319"/>
                <a:gridCol w="543885"/>
                <a:gridCol w="543885"/>
                <a:gridCol w="543885"/>
                <a:gridCol w="543885"/>
                <a:gridCol w="543885"/>
                <a:gridCol w="543885"/>
                <a:gridCol w="543885"/>
                <a:gridCol w="543885"/>
                <a:gridCol w="543885"/>
                <a:gridCol w="543885"/>
                <a:gridCol w="543885"/>
                <a:gridCol w="543885"/>
                <a:gridCol w="543885"/>
                <a:gridCol w="590974"/>
              </a:tblGrid>
              <a:tr h="246126">
                <a:tc>
                  <a:txBody>
                    <a:bodyPr wrap="none"/>
                    <a:lstStyle/>
                    <a:p>
                      <a:pPr algn="l"/>
                      <a:r>
                        <a:rPr sz="1100" b="1">
                          <a:solidFill>
                            <a:srgbClr val="0B2E4A"/>
                          </a:solidFill>
                          <a:latin typeface="Calibri"/>
                        </a:rPr>
                        <a:t>Product Type / Chemistry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761">
                <a:tc>
                  <a:txBody>
                    <a:bodyPr wrap="none"/>
                    <a:lstStyle/>
                    <a:p>
                      <a:pPr algn="l"/>
                      <a:r>
                        <a:rPr sz="1100" b="1">
                          <a:solidFill>
                            <a:srgbClr val="2E2E2E"/>
                          </a:solidFill>
                          <a:latin typeface="Calibri"/>
                        </a:rPr>
                        <a:t>Acrylic Waterproof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Polyurethane (PU) Waterproof Coatings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Epoxy Waterproof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Silicone Waterproof Coatings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Bituminous Waterproof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Cementitious Waterproof Coatings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Polyurea Waterproof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Other Polymer-Based Coatings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7147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048125"/>
            <a:ext cx="11906250" cy="2581275"/>
          </a:xfrm>
          <a:prstGeom prst="roundRect">
            <a:avLst>
              <a:gd name="adj" fmla="val 295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1338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Product Type / Chemistry</a:t>
            </a:r>
          </a:p>
        </p:txBody>
      </p:sp>
      <p:sp>
        <p:nvSpPr>
          <p:cNvPr id="16" name="Rectangle 15"/>
          <p:cNvSpPr/>
          <p:nvPr/>
        </p:nvSpPr>
        <p:spPr>
          <a:xfrm>
            <a:off x="276225" y="43719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457700"/>
            <a:ext cx="11639550" cy="20955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241696" y="2328100"/>
            <a:ext cx="366712" cy="533399"/>
          </a:xfrm>
          <a:prstGeom prst="rect">
            <a:avLst/>
          </a:prstGeom>
        </p:spPr>
      </p:pic>
      <p:sp>
        <p:nvSpPr>
          <p:cNvPr id="20" name="TextBox 19"/>
          <p:cNvSpPr txBox="1"/>
          <p:nvPr/>
        </p:nvSpPr>
        <p:spPr>
          <a:xfrm>
            <a:off x="276225" y="4467225"/>
            <a:ext cx="3799904" cy="194310"/>
          </a:xfrm>
          <a:prstGeom prst="rect">
            <a:avLst/>
          </a:prstGeom>
          <a:noFill/>
        </p:spPr>
        <p:txBody>
          <a:bodyPr wrap="none" lIns="0" rIns="0" tIns="0" bIns="0">
            <a:spAutoFit/>
          </a:bodyPr>
          <a:lstStyle/>
          <a:p>
            <a:r>
              <a:rPr sz="1150" b="0">
                <a:solidFill>
                  <a:srgbClr val="2E2E2E"/>
                </a:solidFill>
                <a:latin typeface="Calibri"/>
              </a:rPr>
              <a:t>Other polymer-based coatings segment is projected to register</a:t>
            </a:r>
          </a:p>
        </p:txBody>
      </p:sp>
      <p:pic>
        <p:nvPicPr>
          <p:cNvPr id="21" name="Picture 20" descr="lock.png"/>
          <p:cNvPicPr>
            <a:picLocks noChangeAspect="1"/>
          </p:cNvPicPr>
          <p:nvPr/>
        </p:nvPicPr>
        <p:blipFill>
          <a:blip r:embed="rId4"/>
          <a:stretch>
            <a:fillRect/>
          </a:stretch>
        </p:blipFill>
        <p:spPr>
          <a:xfrm>
            <a:off x="4025283" y="4457001"/>
            <a:ext cx="134549" cy="195707"/>
          </a:xfrm>
          <a:prstGeom prst="rect">
            <a:avLst/>
          </a:prstGeom>
        </p:spPr>
      </p:pic>
      <p:sp>
        <p:nvSpPr>
          <p:cNvPr id="22" name="TextBox 21"/>
          <p:cNvSpPr txBox="1"/>
          <p:nvPr/>
        </p:nvSpPr>
        <p:spPr>
          <a:xfrm>
            <a:off x="4200392" y="4467225"/>
            <a:ext cx="7480820" cy="194310"/>
          </a:xfrm>
          <a:prstGeom prst="rect">
            <a:avLst/>
          </a:prstGeom>
          <a:noFill/>
        </p:spPr>
        <p:txBody>
          <a:bodyPr wrap="none" lIns="0" rIns="0" tIns="0" bIns="0">
            <a:spAutoFit/>
          </a:bodyPr>
          <a:lstStyle/>
          <a:p>
            <a:r>
              <a:rPr sz="1150" b="0">
                <a:solidFill>
                  <a:srgbClr val="2E2E2E"/>
                </a:solidFill>
                <a:latin typeface="Calibri"/>
              </a:rPr>
              <a:t>X higher value than polyurea waterproof coatings segment in 2036. Among waterproof coatings by product type / chemistry,</a:t>
            </a:r>
          </a:p>
        </p:txBody>
      </p:sp>
      <p:sp>
        <p:nvSpPr>
          <p:cNvPr id="23" name="TextBox 22"/>
          <p:cNvSpPr txBox="1"/>
          <p:nvPr/>
        </p:nvSpPr>
        <p:spPr>
          <a:xfrm>
            <a:off x="276225" y="4642485"/>
            <a:ext cx="4869874" cy="194310"/>
          </a:xfrm>
          <a:prstGeom prst="rect">
            <a:avLst/>
          </a:prstGeom>
          <a:noFill/>
        </p:spPr>
        <p:txBody>
          <a:bodyPr wrap="none" lIns="0" rIns="0" tIns="0" bIns="0">
            <a:spAutoFit/>
          </a:bodyPr>
          <a:lstStyle/>
          <a:p>
            <a:r>
              <a:rPr sz="1150" b="0">
                <a:solidFill>
                  <a:srgbClr val="2E2E2E"/>
                </a:solidFill>
                <a:latin typeface="Calibri"/>
              </a:rPr>
              <a:t>silicone waterproof coatings segment is expected to witness the highest CAGR of</a:t>
            </a:r>
          </a:p>
        </p:txBody>
      </p:sp>
      <p:pic>
        <p:nvPicPr>
          <p:cNvPr id="24" name="Picture 23" descr="lock.png"/>
          <p:cNvPicPr>
            <a:picLocks noChangeAspect="1"/>
          </p:cNvPicPr>
          <p:nvPr/>
        </p:nvPicPr>
        <p:blipFill>
          <a:blip r:embed="rId4"/>
          <a:stretch>
            <a:fillRect/>
          </a:stretch>
        </p:blipFill>
        <p:spPr>
          <a:xfrm>
            <a:off x="5095253" y="4632261"/>
            <a:ext cx="134549" cy="195707"/>
          </a:xfrm>
          <a:prstGeom prst="rect">
            <a:avLst/>
          </a:prstGeom>
        </p:spPr>
      </p:pic>
      <p:sp>
        <p:nvSpPr>
          <p:cNvPr id="25" name="TextBox 24"/>
          <p:cNvSpPr txBox="1"/>
          <p:nvPr/>
        </p:nvSpPr>
        <p:spPr>
          <a:xfrm>
            <a:off x="5270362" y="46424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870322"/>
            <a:ext cx="8322034" cy="194310"/>
          </a:xfrm>
          <a:prstGeom prst="rect">
            <a:avLst/>
          </a:prstGeom>
          <a:noFill/>
        </p:spPr>
        <p:txBody>
          <a:bodyPr wrap="none" lIns="0" rIns="0" tIns="0" bIns="0">
            <a:spAutoFit/>
          </a:bodyPr>
          <a:lstStyle/>
          <a:p>
            <a:r>
              <a:rPr sz="1150" b="0">
                <a:solidFill>
                  <a:srgbClr val="2E2E2E"/>
                </a:solidFill>
                <a:latin typeface="Calibri"/>
              </a:rPr>
              <a:t>In terms of value share by product type / chemistry, the other polymer-based coatings segment is expected to dominate the market, losing</a:t>
            </a:r>
          </a:p>
        </p:txBody>
      </p:sp>
      <p:pic>
        <p:nvPicPr>
          <p:cNvPr id="27" name="Picture 26" descr="lock.png"/>
          <p:cNvPicPr>
            <a:picLocks noChangeAspect="1"/>
          </p:cNvPicPr>
          <p:nvPr/>
        </p:nvPicPr>
        <p:blipFill>
          <a:blip r:embed="rId4"/>
          <a:stretch>
            <a:fillRect/>
          </a:stretch>
        </p:blipFill>
        <p:spPr>
          <a:xfrm>
            <a:off x="8547413" y="4860099"/>
            <a:ext cx="134549" cy="195707"/>
          </a:xfrm>
          <a:prstGeom prst="rect">
            <a:avLst/>
          </a:prstGeom>
        </p:spPr>
      </p:pic>
      <p:sp>
        <p:nvSpPr>
          <p:cNvPr id="28" name="TextBox 27"/>
          <p:cNvSpPr txBox="1"/>
          <p:nvPr/>
        </p:nvSpPr>
        <p:spPr>
          <a:xfrm>
            <a:off x="8722522" y="48703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10117666" y="4860099"/>
            <a:ext cx="134549" cy="195707"/>
          </a:xfrm>
          <a:prstGeom prst="rect">
            <a:avLst/>
          </a:prstGeom>
        </p:spPr>
      </p:pic>
      <p:sp>
        <p:nvSpPr>
          <p:cNvPr id="30" name="TextBox 29"/>
          <p:cNvSpPr txBox="1"/>
          <p:nvPr/>
        </p:nvSpPr>
        <p:spPr>
          <a:xfrm>
            <a:off x="10292775" y="4870322"/>
            <a:ext cx="1200100" cy="194310"/>
          </a:xfrm>
          <a:prstGeom prst="rect">
            <a:avLst/>
          </a:prstGeom>
          <a:noFill/>
        </p:spPr>
        <p:txBody>
          <a:bodyPr wrap="none" lIns="0" rIns="0" tIns="0" bIns="0">
            <a:spAutoFit/>
          </a:bodyPr>
          <a:lstStyle/>
          <a:p>
            <a:r>
              <a:rPr sz="1150" b="0">
                <a:solidFill>
                  <a:srgbClr val="2E2E2E"/>
                </a:solidFill>
                <a:latin typeface="Calibri"/>
              </a:rPr>
              <a:t>share by 2036. The</a:t>
            </a:r>
          </a:p>
        </p:txBody>
      </p:sp>
      <p:sp>
        <p:nvSpPr>
          <p:cNvPr id="31" name="TextBox 30"/>
          <p:cNvSpPr txBox="1"/>
          <p:nvPr/>
        </p:nvSpPr>
        <p:spPr>
          <a:xfrm>
            <a:off x="276225" y="5045582"/>
            <a:ext cx="3769382" cy="194310"/>
          </a:xfrm>
          <a:prstGeom prst="rect">
            <a:avLst/>
          </a:prstGeom>
          <a:noFill/>
        </p:spPr>
        <p:txBody>
          <a:bodyPr wrap="none" lIns="0" rIns="0" tIns="0" bIns="0">
            <a:spAutoFit/>
          </a:bodyPr>
          <a:lstStyle/>
          <a:p>
            <a:r>
              <a:rPr sz="1150" b="0">
                <a:solidFill>
                  <a:srgbClr val="2E2E2E"/>
                </a:solidFill>
                <a:latin typeface="Calibri"/>
              </a:rPr>
              <a:t>cementitious waterproof coatings segment is expected to lose</a:t>
            </a:r>
          </a:p>
        </p:txBody>
      </p:sp>
      <p:pic>
        <p:nvPicPr>
          <p:cNvPr id="32" name="Picture 31" descr="lock.png"/>
          <p:cNvPicPr>
            <a:picLocks noChangeAspect="1"/>
          </p:cNvPicPr>
          <p:nvPr/>
        </p:nvPicPr>
        <p:blipFill>
          <a:blip r:embed="rId4"/>
          <a:stretch>
            <a:fillRect/>
          </a:stretch>
        </p:blipFill>
        <p:spPr>
          <a:xfrm>
            <a:off x="3994761" y="5035359"/>
            <a:ext cx="134549" cy="195707"/>
          </a:xfrm>
          <a:prstGeom prst="rect">
            <a:avLst/>
          </a:prstGeom>
        </p:spPr>
      </p:pic>
      <p:sp>
        <p:nvSpPr>
          <p:cNvPr id="33" name="TextBox 32"/>
          <p:cNvSpPr txBox="1"/>
          <p:nvPr/>
        </p:nvSpPr>
        <p:spPr>
          <a:xfrm>
            <a:off x="4169870" y="504558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6757375" y="5035359"/>
            <a:ext cx="134549" cy="195707"/>
          </a:xfrm>
          <a:prstGeom prst="rect">
            <a:avLst/>
          </a:prstGeom>
        </p:spPr>
      </p:pic>
      <p:sp>
        <p:nvSpPr>
          <p:cNvPr id="35" name="TextBox 34"/>
          <p:cNvSpPr txBox="1"/>
          <p:nvPr/>
        </p:nvSpPr>
        <p:spPr>
          <a:xfrm>
            <a:off x="6932484" y="50455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Product Type / Chemistry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Product Type / Chemistry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Product Type / Chemistry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749400"/>
            <a:ext cx="85725" cy="85725"/>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174463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66843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Acrylic Waterproof Coatings</a:t>
            </a:r>
          </a:p>
        </p:txBody>
      </p:sp>
      <p:sp>
        <p:nvSpPr>
          <p:cNvPr id="18" name="BPS Value 1"/>
          <p:cNvSpPr txBox="1"/>
          <p:nvPr/>
        </p:nvSpPr>
        <p:spPr>
          <a:xfrm>
            <a:off x="6896100" y="173035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1956446"/>
            <a:ext cx="85725" cy="857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195168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187548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Bituminous Waterproof Coatings</a:t>
            </a:r>
          </a:p>
        </p:txBody>
      </p:sp>
      <p:sp>
        <p:nvSpPr>
          <p:cNvPr id="22" name="BPS Value 2"/>
          <p:cNvSpPr txBox="1"/>
          <p:nvPr/>
        </p:nvSpPr>
        <p:spPr>
          <a:xfrm>
            <a:off x="6896100" y="193739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928997" y="2285064"/>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5090922" y="228030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20410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Epoxy Waterproof Coatings</a:t>
            </a:r>
          </a:p>
        </p:txBody>
      </p:sp>
      <p:sp>
        <p:nvSpPr>
          <p:cNvPr id="26" name="BPS Value 3"/>
          <p:cNvSpPr txBox="1"/>
          <p:nvPr/>
        </p:nvSpPr>
        <p:spPr>
          <a:xfrm>
            <a:off x="6896100" y="226601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928997" y="2700300"/>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5090922" y="269553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261933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Polyurethane (PU) Waterproof Coatings</a:t>
            </a:r>
          </a:p>
        </p:txBody>
      </p:sp>
      <p:sp>
        <p:nvSpPr>
          <p:cNvPr id="30" name="BPS Value 4"/>
          <p:cNvSpPr txBox="1"/>
          <p:nvPr/>
        </p:nvSpPr>
        <p:spPr>
          <a:xfrm>
            <a:off x="6896100" y="268125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FMI Legend Chip"/>
          <p:cNvSpPr/>
          <p:nvPr/>
        </p:nvSpPr>
        <p:spPr>
          <a:xfrm>
            <a:off x="4928997" y="3229199"/>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rot="10800000">
            <a:off x="5090922" y="322443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314823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Cementitious Waterproof Coatings</a:t>
            </a:r>
          </a:p>
        </p:txBody>
      </p:sp>
      <p:sp>
        <p:nvSpPr>
          <p:cNvPr id="34" name="BPS Value 5"/>
          <p:cNvSpPr txBox="1"/>
          <p:nvPr/>
        </p:nvSpPr>
        <p:spPr>
          <a:xfrm>
            <a:off x="6896100" y="321014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5" name="FMI Legend Chip"/>
          <p:cNvSpPr/>
          <p:nvPr/>
        </p:nvSpPr>
        <p:spPr>
          <a:xfrm>
            <a:off x="4928997" y="3958612"/>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5090922" y="395385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5233797" y="387765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Silicone Waterproof Coatings</a:t>
            </a:r>
          </a:p>
        </p:txBody>
      </p:sp>
      <p:sp>
        <p:nvSpPr>
          <p:cNvPr id="38" name="BPS Value 6"/>
          <p:cNvSpPr txBox="1"/>
          <p:nvPr/>
        </p:nvSpPr>
        <p:spPr>
          <a:xfrm>
            <a:off x="6896100" y="393956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FMI Legend Chip"/>
          <p:cNvSpPr/>
          <p:nvPr/>
        </p:nvSpPr>
        <p:spPr>
          <a:xfrm>
            <a:off x="4928997" y="4832427"/>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Isosceles Triangle 39"/>
          <p:cNvSpPr/>
          <p:nvPr/>
        </p:nvSpPr>
        <p:spPr>
          <a:xfrm>
            <a:off x="5090922" y="482766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PS Name 7"/>
          <p:cNvSpPr txBox="1"/>
          <p:nvPr/>
        </p:nvSpPr>
        <p:spPr>
          <a:xfrm>
            <a:off x="5233797" y="475146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Polyurea Waterproof Coatings</a:t>
            </a:r>
          </a:p>
        </p:txBody>
      </p:sp>
      <p:sp>
        <p:nvSpPr>
          <p:cNvPr id="42" name="BPS Value 7"/>
          <p:cNvSpPr txBox="1"/>
          <p:nvPr/>
        </p:nvSpPr>
        <p:spPr>
          <a:xfrm>
            <a:off x="6896100" y="481337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3" name="FMI Legend Chip"/>
          <p:cNvSpPr/>
          <p:nvPr/>
        </p:nvSpPr>
        <p:spPr>
          <a:xfrm>
            <a:off x="4928997" y="5766922"/>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Isosceles Triangle 43"/>
          <p:cNvSpPr/>
          <p:nvPr/>
        </p:nvSpPr>
        <p:spPr>
          <a:xfrm rot="10800000">
            <a:off x="5090922" y="576215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PS Name 8"/>
          <p:cNvSpPr txBox="1"/>
          <p:nvPr/>
        </p:nvSpPr>
        <p:spPr>
          <a:xfrm>
            <a:off x="5233797" y="568595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Polymer-Based Coatings</a:t>
            </a:r>
          </a:p>
        </p:txBody>
      </p:sp>
      <p:sp>
        <p:nvSpPr>
          <p:cNvPr id="46" name="BPS Value 8"/>
          <p:cNvSpPr txBox="1"/>
          <p:nvPr/>
        </p:nvSpPr>
        <p:spPr>
          <a:xfrm>
            <a:off x="6896100" y="574787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47" name="Rounded Rectangle 46"/>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Product Type / Chemistry</a:t>
            </a:r>
          </a:p>
        </p:txBody>
      </p:sp>
      <p:sp>
        <p:nvSpPr>
          <p:cNvPr id="49" name="Rectangle 48"/>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51" name="TextBox 5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2" name="Picture 51" descr="lock.png"/>
          <p:cNvPicPr>
            <a:picLocks noChangeAspect="1"/>
          </p:cNvPicPr>
          <p:nvPr/>
        </p:nvPicPr>
        <p:blipFill>
          <a:blip r:embed="rId5"/>
          <a:stretch>
            <a:fillRect/>
          </a:stretch>
        </p:blipFill>
        <p:spPr>
          <a:xfrm>
            <a:off x="2557843" y="3833622"/>
            <a:ext cx="275034" cy="400050"/>
          </a:xfrm>
          <a:prstGeom prst="rect">
            <a:avLst/>
          </a:prstGeom>
        </p:spPr>
      </p:pic>
      <p:sp>
        <p:nvSpPr>
          <p:cNvPr id="53" name="TextBox 52"/>
          <p:cNvSpPr txBox="1"/>
          <p:nvPr/>
        </p:nvSpPr>
        <p:spPr>
          <a:xfrm>
            <a:off x="7829550" y="1400175"/>
            <a:ext cx="3933403" cy="194310"/>
          </a:xfrm>
          <a:prstGeom prst="rect">
            <a:avLst/>
          </a:prstGeom>
          <a:noFill/>
        </p:spPr>
        <p:txBody>
          <a:bodyPr wrap="none" lIns="0" rIns="0" tIns="0" bIns="0">
            <a:spAutoFit/>
          </a:bodyPr>
          <a:lstStyle/>
          <a:p>
            <a:r>
              <a:rPr sz="1150" b="0">
                <a:solidFill>
                  <a:srgbClr val="2E2E2E"/>
                </a:solidFill>
                <a:latin typeface="Calibri"/>
              </a:rPr>
              <a:t>Among waterproof coatings by product type / chemistry, silicone</a:t>
            </a:r>
          </a:p>
        </p:txBody>
      </p:sp>
      <p:sp>
        <p:nvSpPr>
          <p:cNvPr id="54" name="TextBox 53"/>
          <p:cNvSpPr txBox="1"/>
          <p:nvPr/>
        </p:nvSpPr>
        <p:spPr>
          <a:xfrm>
            <a:off x="7829550" y="1575435"/>
            <a:ext cx="3868935" cy="194310"/>
          </a:xfrm>
          <a:prstGeom prst="rect">
            <a:avLst/>
          </a:prstGeom>
          <a:noFill/>
        </p:spPr>
        <p:txBody>
          <a:bodyPr wrap="none" lIns="0" rIns="0" tIns="0" bIns="0">
            <a:spAutoFit/>
          </a:bodyPr>
          <a:lstStyle/>
          <a:p>
            <a:r>
              <a:rPr sz="1150" b="0">
                <a:solidFill>
                  <a:srgbClr val="2E2E2E"/>
                </a:solidFill>
                <a:latin typeface="Calibri"/>
              </a:rPr>
              <a:t>waterproof coatings segment is expected to witness the highest</a:t>
            </a:r>
          </a:p>
        </p:txBody>
      </p:sp>
      <p:sp>
        <p:nvSpPr>
          <p:cNvPr id="55" name="TextBox 54"/>
          <p:cNvSpPr txBox="1"/>
          <p:nvPr/>
        </p:nvSpPr>
        <p:spPr>
          <a:xfrm>
            <a:off x="7829550" y="1750695"/>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56" name="Picture 55" descr="lock.png"/>
          <p:cNvPicPr>
            <a:picLocks noChangeAspect="1"/>
          </p:cNvPicPr>
          <p:nvPr/>
        </p:nvPicPr>
        <p:blipFill>
          <a:blip r:embed="rId5"/>
          <a:stretch>
            <a:fillRect/>
          </a:stretch>
        </p:blipFill>
        <p:spPr>
          <a:xfrm>
            <a:off x="8343240" y="1740471"/>
            <a:ext cx="134549" cy="195707"/>
          </a:xfrm>
          <a:prstGeom prst="rect">
            <a:avLst/>
          </a:prstGeom>
        </p:spPr>
      </p:pic>
      <p:sp>
        <p:nvSpPr>
          <p:cNvPr id="57" name="TextBox 56"/>
          <p:cNvSpPr txBox="1"/>
          <p:nvPr/>
        </p:nvSpPr>
        <p:spPr>
          <a:xfrm>
            <a:off x="8518350" y="1750695"/>
            <a:ext cx="3118147"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a:t>
            </a:r>
          </a:p>
        </p:txBody>
      </p:sp>
      <p:sp>
        <p:nvSpPr>
          <p:cNvPr id="58" name="TextBox 57"/>
          <p:cNvSpPr txBox="1"/>
          <p:nvPr/>
        </p:nvSpPr>
        <p:spPr>
          <a:xfrm>
            <a:off x="7829550" y="1925955"/>
            <a:ext cx="3631034" cy="194310"/>
          </a:xfrm>
          <a:prstGeom prst="rect">
            <a:avLst/>
          </a:prstGeom>
          <a:noFill/>
        </p:spPr>
        <p:txBody>
          <a:bodyPr wrap="none" lIns="0" rIns="0" tIns="0" bIns="0">
            <a:spAutoFit/>
          </a:bodyPr>
          <a:lstStyle/>
          <a:p>
            <a:r>
              <a:rPr sz="1150" b="0">
                <a:solidFill>
                  <a:srgbClr val="2E2E2E"/>
                </a:solidFill>
                <a:latin typeface="Calibri"/>
              </a:rPr>
              <a:t>product type / chemistry, the other polymer-based coatings</a:t>
            </a:r>
          </a:p>
        </p:txBody>
      </p:sp>
      <p:sp>
        <p:nvSpPr>
          <p:cNvPr id="59" name="TextBox 58"/>
          <p:cNvSpPr txBox="1"/>
          <p:nvPr/>
        </p:nvSpPr>
        <p:spPr>
          <a:xfrm>
            <a:off x="7829550" y="2101215"/>
            <a:ext cx="3164644" cy="194310"/>
          </a:xfrm>
          <a:prstGeom prst="rect">
            <a:avLst/>
          </a:prstGeom>
          <a:noFill/>
        </p:spPr>
        <p:txBody>
          <a:bodyPr wrap="none" lIns="0" rIns="0" tIns="0" bIns="0">
            <a:spAutoFit/>
          </a:bodyPr>
          <a:lstStyle/>
          <a:p>
            <a:r>
              <a:rPr sz="1150" b="0">
                <a:solidFill>
                  <a:srgbClr val="2E2E2E"/>
                </a:solidFill>
                <a:latin typeface="Calibri"/>
              </a:rPr>
              <a:t>segment is expected to dominate the market, losing</a:t>
            </a:r>
          </a:p>
        </p:txBody>
      </p:sp>
      <p:pic>
        <p:nvPicPr>
          <p:cNvPr id="60" name="Picture 59" descr="lock.png"/>
          <p:cNvPicPr>
            <a:picLocks noChangeAspect="1"/>
          </p:cNvPicPr>
          <p:nvPr/>
        </p:nvPicPr>
        <p:blipFill>
          <a:blip r:embed="rId5"/>
          <a:stretch>
            <a:fillRect/>
          </a:stretch>
        </p:blipFill>
        <p:spPr>
          <a:xfrm>
            <a:off x="10943347" y="2090991"/>
            <a:ext cx="134549" cy="195707"/>
          </a:xfrm>
          <a:prstGeom prst="rect">
            <a:avLst/>
          </a:prstGeom>
        </p:spPr>
      </p:pic>
      <p:sp>
        <p:nvSpPr>
          <p:cNvPr id="61" name="TextBox 60"/>
          <p:cNvSpPr txBox="1"/>
          <p:nvPr/>
        </p:nvSpPr>
        <p:spPr>
          <a:xfrm>
            <a:off x="11118457" y="2101215"/>
            <a:ext cx="554856" cy="194310"/>
          </a:xfrm>
          <a:prstGeom prst="rect">
            <a:avLst/>
          </a:prstGeom>
          <a:noFill/>
        </p:spPr>
        <p:txBody>
          <a:bodyPr wrap="none" lIns="0" rIns="0" tIns="0" bIns="0">
            <a:spAutoFit/>
          </a:bodyPr>
          <a:lstStyle/>
          <a:p>
            <a:r>
              <a:rPr sz="1150" b="0">
                <a:solidFill>
                  <a:srgbClr val="2E2E2E"/>
                </a:solidFill>
                <a:latin typeface="Calibri"/>
              </a:rPr>
              <a:t>BPS and</a:t>
            </a:r>
          </a:p>
        </p:txBody>
      </p:sp>
      <p:sp>
        <p:nvSpPr>
          <p:cNvPr id="62" name="TextBox 61"/>
          <p:cNvSpPr txBox="1"/>
          <p:nvPr/>
        </p:nvSpPr>
        <p:spPr>
          <a:xfrm>
            <a:off x="7829550" y="2276475"/>
            <a:ext cx="934243" cy="194310"/>
          </a:xfrm>
          <a:prstGeom prst="rect">
            <a:avLst/>
          </a:prstGeom>
          <a:noFill/>
        </p:spPr>
        <p:txBody>
          <a:bodyPr wrap="none" lIns="0" rIns="0" tIns="0" bIns="0">
            <a:spAutoFit/>
          </a:bodyPr>
          <a:lstStyle/>
          <a:p>
            <a:r>
              <a:rPr sz="1150" b="0">
                <a:solidFill>
                  <a:srgbClr val="2E2E2E"/>
                </a:solidFill>
                <a:latin typeface="Calibri"/>
              </a:rPr>
              <a:t>accounting for</a:t>
            </a:r>
          </a:p>
        </p:txBody>
      </p:sp>
      <p:pic>
        <p:nvPicPr>
          <p:cNvPr id="63" name="Picture 62" descr="lock.png"/>
          <p:cNvPicPr>
            <a:picLocks noChangeAspect="1"/>
          </p:cNvPicPr>
          <p:nvPr/>
        </p:nvPicPr>
        <p:blipFill>
          <a:blip r:embed="rId5"/>
          <a:stretch>
            <a:fillRect/>
          </a:stretch>
        </p:blipFill>
        <p:spPr>
          <a:xfrm>
            <a:off x="8712947" y="2266251"/>
            <a:ext cx="134549" cy="195707"/>
          </a:xfrm>
          <a:prstGeom prst="rect">
            <a:avLst/>
          </a:prstGeom>
        </p:spPr>
      </p:pic>
      <p:sp>
        <p:nvSpPr>
          <p:cNvPr id="64" name="TextBox 63"/>
          <p:cNvSpPr txBox="1"/>
          <p:nvPr/>
        </p:nvSpPr>
        <p:spPr>
          <a:xfrm>
            <a:off x="8888056" y="227647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5" name="TextBox 64"/>
          <p:cNvSpPr txBox="1"/>
          <p:nvPr/>
        </p:nvSpPr>
        <p:spPr>
          <a:xfrm>
            <a:off x="7829550" y="2504313"/>
            <a:ext cx="4023258" cy="194310"/>
          </a:xfrm>
          <a:prstGeom prst="rect">
            <a:avLst/>
          </a:prstGeom>
          <a:noFill/>
        </p:spPr>
        <p:txBody>
          <a:bodyPr wrap="none" lIns="0" rIns="0" tIns="0" bIns="0">
            <a:spAutoFit/>
          </a:bodyPr>
          <a:lstStyle/>
          <a:p>
            <a:r>
              <a:rPr sz="1150" b="0">
                <a:solidFill>
                  <a:srgbClr val="2E2E2E"/>
                </a:solidFill>
                <a:latin typeface="Calibri"/>
              </a:rPr>
              <a:t>The cementitious waterproof coatings segment is expected to lose</a:t>
            </a:r>
          </a:p>
        </p:txBody>
      </p:sp>
      <p:pic>
        <p:nvPicPr>
          <p:cNvPr id="66" name="Picture 65" descr="lock.png"/>
          <p:cNvPicPr>
            <a:picLocks noChangeAspect="1"/>
          </p:cNvPicPr>
          <p:nvPr/>
        </p:nvPicPr>
        <p:blipFill>
          <a:blip r:embed="rId5"/>
          <a:stretch>
            <a:fillRect/>
          </a:stretch>
        </p:blipFill>
        <p:spPr>
          <a:xfrm>
            <a:off x="7815470" y="2669349"/>
            <a:ext cx="134549" cy="195707"/>
          </a:xfrm>
          <a:prstGeom prst="rect">
            <a:avLst/>
          </a:prstGeom>
        </p:spPr>
      </p:pic>
      <p:sp>
        <p:nvSpPr>
          <p:cNvPr id="67" name="TextBox 66"/>
          <p:cNvSpPr txBox="1"/>
          <p:nvPr/>
        </p:nvSpPr>
        <p:spPr>
          <a:xfrm>
            <a:off x="7990579" y="267957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68" name="Picture 67" descr="lock.png"/>
          <p:cNvPicPr>
            <a:picLocks noChangeAspect="1"/>
          </p:cNvPicPr>
          <p:nvPr/>
        </p:nvPicPr>
        <p:blipFill>
          <a:blip r:embed="rId5"/>
          <a:stretch>
            <a:fillRect/>
          </a:stretch>
        </p:blipFill>
        <p:spPr>
          <a:xfrm>
            <a:off x="10578084" y="2669349"/>
            <a:ext cx="134549" cy="195707"/>
          </a:xfrm>
          <a:prstGeom prst="rect">
            <a:avLst/>
          </a:prstGeom>
        </p:spPr>
      </p:pic>
      <p:sp>
        <p:nvSpPr>
          <p:cNvPr id="69" name="TextBox 68"/>
          <p:cNvSpPr txBox="1"/>
          <p:nvPr/>
        </p:nvSpPr>
        <p:spPr>
          <a:xfrm>
            <a:off x="10753193"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70"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Product Configuration</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Configuration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Product Configuration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2 sub-segments of Product Configuration,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Product Configuration segment categorizes the market by product configuration.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Two-Component Coatings</a:t>
            </a:r>
          </a:p>
        </p:txBody>
      </p:sp>
      <p:sp>
        <p:nvSpPr>
          <p:cNvPr id="22" name="Rectangle 21"/>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Single-Component Coatings</a:t>
            </a:r>
          </a:p>
        </p:txBody>
      </p:sp>
      <p:sp>
        <p:nvSpPr>
          <p:cNvPr id="29" name="Rectangle 28"/>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5" name="Rectangle 34"/>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37" name="Rounded Rectangle 3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39" name="Rectangle 38"/>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41" name="Rounded Rectangle 4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3" name="Rectangle 42"/>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Product Configuration split shows how demand is distributed across product configuration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45" name="Rectangle 4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7" name="TextBox 46"/>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9" name="Picture 48" descr="7_929_605E5C.png"/>
          <p:cNvPicPr>
            <a:picLocks noChangeAspect="1"/>
          </p:cNvPicPr>
          <p:nvPr/>
        </p:nvPicPr>
        <p:blipFill>
          <a:blip r:embed="rId4"/>
          <a:stretch>
            <a:fillRect/>
          </a:stretch>
        </p:blipFill>
        <p:spPr>
          <a:xfrm>
            <a:off x="3740773" y="2286582"/>
            <a:ext cx="1195728" cy="361950"/>
          </a:xfrm>
          <a:prstGeom prst="rect">
            <a:avLst/>
          </a:prstGeom>
        </p:spPr>
      </p:pic>
      <p:pic>
        <p:nvPicPr>
          <p:cNvPr id="50" name="Picture 49" descr="14_258_605E5C.png"/>
          <p:cNvPicPr>
            <a:picLocks noChangeAspect="1"/>
          </p:cNvPicPr>
          <p:nvPr/>
        </p:nvPicPr>
        <p:blipFill>
          <a:blip r:embed="rId5"/>
          <a:stretch>
            <a:fillRect/>
          </a:stretch>
        </p:blipFill>
        <p:spPr>
          <a:xfrm>
            <a:off x="3634127" y="2779432"/>
            <a:ext cx="1409020" cy="361950"/>
          </a:xfrm>
          <a:prstGeom prst="rect">
            <a:avLst/>
          </a:prstGeom>
        </p:spPr>
      </p:pic>
      <p:pic>
        <p:nvPicPr>
          <p:cNvPr id="51" name="Picture 50" descr="6_0__605E5C.png"/>
          <p:cNvPicPr>
            <a:picLocks noChangeAspect="1"/>
          </p:cNvPicPr>
          <p:nvPr/>
        </p:nvPicPr>
        <p:blipFill>
          <a:blip r:embed="rId6"/>
          <a:stretch>
            <a:fillRect/>
          </a:stretch>
        </p:blipFill>
        <p:spPr>
          <a:xfrm>
            <a:off x="3847419" y="3272281"/>
            <a:ext cx="982436" cy="361950"/>
          </a:xfrm>
          <a:prstGeom prst="rect">
            <a:avLst/>
          </a:prstGeom>
        </p:spPr>
      </p:pic>
      <p:pic>
        <p:nvPicPr>
          <p:cNvPr id="52" name="Picture 51" descr="2_971_605E5C.png"/>
          <p:cNvPicPr>
            <a:picLocks noChangeAspect="1"/>
          </p:cNvPicPr>
          <p:nvPr/>
        </p:nvPicPr>
        <p:blipFill>
          <a:blip r:embed="rId7"/>
          <a:stretch>
            <a:fillRect/>
          </a:stretch>
        </p:blipFill>
        <p:spPr>
          <a:xfrm>
            <a:off x="8798548" y="2286582"/>
            <a:ext cx="1195728" cy="361950"/>
          </a:xfrm>
          <a:prstGeom prst="rect">
            <a:avLst/>
          </a:prstGeom>
        </p:spPr>
      </p:pic>
      <p:pic>
        <p:nvPicPr>
          <p:cNvPr id="53" name="Picture 52" descr="3_487_605E5C.png"/>
          <p:cNvPicPr>
            <a:picLocks noChangeAspect="1"/>
          </p:cNvPicPr>
          <p:nvPr/>
        </p:nvPicPr>
        <p:blipFill>
          <a:blip r:embed="rId8"/>
          <a:stretch>
            <a:fillRect/>
          </a:stretch>
        </p:blipFill>
        <p:spPr>
          <a:xfrm>
            <a:off x="8798548" y="2779432"/>
            <a:ext cx="1195728" cy="361950"/>
          </a:xfrm>
          <a:prstGeom prst="rect">
            <a:avLst/>
          </a:prstGeom>
        </p:spPr>
      </p:pic>
      <p:pic>
        <p:nvPicPr>
          <p:cNvPr id="54" name="Picture 53" descr="1_6__605E5C.png"/>
          <p:cNvPicPr>
            <a:picLocks noChangeAspect="1"/>
          </p:cNvPicPr>
          <p:nvPr/>
        </p:nvPicPr>
        <p:blipFill>
          <a:blip r:embed="rId9"/>
          <a:stretch>
            <a:fillRect/>
          </a:stretch>
        </p:blipFill>
        <p:spPr>
          <a:xfrm>
            <a:off x="8905194" y="3272281"/>
            <a:ext cx="982436" cy="361950"/>
          </a:xfrm>
          <a:prstGeom prst="rect">
            <a:avLst/>
          </a:prstGeom>
        </p:spPr>
      </p:pic>
      <p:pic>
        <p:nvPicPr>
          <p:cNvPr id="55" name="Picture 54" descr="lock.png"/>
          <p:cNvPicPr>
            <a:picLocks noChangeAspect="1"/>
          </p:cNvPicPr>
          <p:nvPr/>
        </p:nvPicPr>
        <p:blipFill>
          <a:blip r:embed="rId10"/>
          <a:stretch>
            <a:fillRect/>
          </a:stretch>
        </p:blipFill>
        <p:spPr>
          <a:xfrm>
            <a:off x="4230493" y="2805915"/>
            <a:ext cx="212425" cy="308982"/>
          </a:xfrm>
          <a:prstGeom prst="rect">
            <a:avLst/>
          </a:prstGeom>
        </p:spPr>
      </p:pic>
      <p:pic>
        <p:nvPicPr>
          <p:cNvPr id="56" name="Picture 55" descr="lock.png"/>
          <p:cNvPicPr>
            <a:picLocks noChangeAspect="1"/>
          </p:cNvPicPr>
          <p:nvPr/>
        </p:nvPicPr>
        <p:blipFill>
          <a:blip r:embed="rId10"/>
          <a:stretch>
            <a:fillRect/>
          </a:stretch>
        </p:blipFill>
        <p:spPr>
          <a:xfrm>
            <a:off x="9288268" y="2805915"/>
            <a:ext cx="212425" cy="308982"/>
          </a:xfrm>
          <a:prstGeom prst="rect">
            <a:avLst/>
          </a:prstGeom>
        </p:spPr>
      </p:pic>
      <p:sp>
        <p:nvSpPr>
          <p:cNvPr id="57" name="TextBox 56"/>
          <p:cNvSpPr txBox="1"/>
          <p:nvPr/>
        </p:nvSpPr>
        <p:spPr>
          <a:xfrm>
            <a:off x="485775" y="4229437"/>
            <a:ext cx="2310308" cy="186689"/>
          </a:xfrm>
          <a:prstGeom prst="rect">
            <a:avLst/>
          </a:prstGeom>
          <a:noFill/>
        </p:spPr>
        <p:txBody>
          <a:bodyPr wrap="none" lIns="0" rIns="0" tIns="0" bIns="0">
            <a:spAutoFit/>
          </a:bodyPr>
          <a:lstStyle/>
          <a:p>
            <a:r>
              <a:rPr sz="1100" b="0">
                <a:solidFill>
                  <a:srgbClr val="2E2E2E"/>
                </a:solidFill>
                <a:latin typeface="Calibri"/>
              </a:rPr>
              <a:t>Among waterproof coatings by product</a:t>
            </a:r>
          </a:p>
        </p:txBody>
      </p:sp>
      <p:sp>
        <p:nvSpPr>
          <p:cNvPr id="58" name="TextBox 57"/>
          <p:cNvSpPr txBox="1"/>
          <p:nvPr/>
        </p:nvSpPr>
        <p:spPr>
          <a:xfrm>
            <a:off x="485775" y="4397077"/>
            <a:ext cx="2914650" cy="186689"/>
          </a:xfrm>
          <a:prstGeom prst="rect">
            <a:avLst/>
          </a:prstGeom>
          <a:noFill/>
        </p:spPr>
        <p:txBody>
          <a:bodyPr wrap="none" lIns="0" rIns="0" tIns="0" bIns="0">
            <a:spAutoFit/>
          </a:bodyPr>
          <a:lstStyle/>
          <a:p>
            <a:r>
              <a:rPr sz="1100" b="0">
                <a:solidFill>
                  <a:srgbClr val="2E2E2E"/>
                </a:solidFill>
                <a:latin typeface="Calibri"/>
              </a:rPr>
              <a:t>configuration, two-component coatings segment is</a:t>
            </a:r>
          </a:p>
        </p:txBody>
      </p:sp>
      <p:sp>
        <p:nvSpPr>
          <p:cNvPr id="59" name="TextBox 58"/>
          <p:cNvSpPr txBox="1"/>
          <p:nvPr/>
        </p:nvSpPr>
        <p:spPr>
          <a:xfrm>
            <a:off x="485775" y="456471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60" name="Picture 59" descr="lock.png"/>
          <p:cNvPicPr>
            <a:picLocks noChangeAspect="1"/>
          </p:cNvPicPr>
          <p:nvPr/>
        </p:nvPicPr>
        <p:blipFill>
          <a:blip r:embed="rId10"/>
          <a:stretch>
            <a:fillRect/>
          </a:stretch>
        </p:blipFill>
        <p:spPr>
          <a:xfrm>
            <a:off x="2815059" y="4554938"/>
            <a:ext cx="128699" cy="187198"/>
          </a:xfrm>
          <a:prstGeom prst="rect">
            <a:avLst/>
          </a:prstGeom>
        </p:spPr>
      </p:pic>
      <p:sp>
        <p:nvSpPr>
          <p:cNvPr id="61" name="TextBox 60"/>
          <p:cNvSpPr txBox="1"/>
          <p:nvPr/>
        </p:nvSpPr>
        <p:spPr>
          <a:xfrm>
            <a:off x="2982555" y="456471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62" name="TextBox 61"/>
          <p:cNvSpPr txBox="1"/>
          <p:nvPr/>
        </p:nvSpPr>
        <p:spPr>
          <a:xfrm>
            <a:off x="485775" y="4732357"/>
            <a:ext cx="2699122" cy="186689"/>
          </a:xfrm>
          <a:prstGeom prst="rect">
            <a:avLst/>
          </a:prstGeom>
          <a:noFill/>
        </p:spPr>
        <p:txBody>
          <a:bodyPr wrap="none" lIns="0" rIns="0" tIns="0" bIns="0">
            <a:spAutoFit/>
          </a:bodyPr>
          <a:lstStyle/>
          <a:p>
            <a:r>
              <a:rPr sz="1100" b="0">
                <a:solidFill>
                  <a:srgbClr val="2E2E2E"/>
                </a:solidFill>
                <a:latin typeface="Calibri"/>
              </a:rPr>
              <a:t>the forecast period. In terms of value share by</a:t>
            </a:r>
          </a:p>
        </p:txBody>
      </p:sp>
      <p:sp>
        <p:nvSpPr>
          <p:cNvPr id="63" name="TextBox 62"/>
          <p:cNvSpPr txBox="1"/>
          <p:nvPr/>
        </p:nvSpPr>
        <p:spPr>
          <a:xfrm>
            <a:off x="485775" y="4899997"/>
            <a:ext cx="2525042" cy="186689"/>
          </a:xfrm>
          <a:prstGeom prst="rect">
            <a:avLst/>
          </a:prstGeom>
          <a:noFill/>
        </p:spPr>
        <p:txBody>
          <a:bodyPr wrap="none" lIns="0" rIns="0" tIns="0" bIns="0">
            <a:spAutoFit/>
          </a:bodyPr>
          <a:lstStyle/>
          <a:p>
            <a:r>
              <a:rPr sz="1100" b="0">
                <a:solidFill>
                  <a:srgbClr val="2E2E2E"/>
                </a:solidFill>
                <a:latin typeface="Calibri"/>
              </a:rPr>
              <a:t>product configuration, the two-component</a:t>
            </a:r>
          </a:p>
        </p:txBody>
      </p:sp>
      <p:sp>
        <p:nvSpPr>
          <p:cNvPr id="64" name="TextBox 63"/>
          <p:cNvSpPr txBox="1"/>
          <p:nvPr/>
        </p:nvSpPr>
        <p:spPr>
          <a:xfrm>
            <a:off x="485775" y="5067637"/>
            <a:ext cx="2697212" cy="186689"/>
          </a:xfrm>
          <a:prstGeom prst="rect">
            <a:avLst/>
          </a:prstGeom>
          <a:noFill/>
        </p:spPr>
        <p:txBody>
          <a:bodyPr wrap="none" lIns="0" rIns="0" tIns="0" bIns="0">
            <a:spAutoFit/>
          </a:bodyPr>
          <a:lstStyle/>
          <a:p>
            <a:r>
              <a:rPr sz="1100" b="0">
                <a:solidFill>
                  <a:srgbClr val="2E2E2E"/>
                </a:solidFill>
                <a:latin typeface="Calibri"/>
              </a:rPr>
              <a:t>coatings segment is expected to dominate the</a:t>
            </a:r>
          </a:p>
        </p:txBody>
      </p:sp>
      <p:sp>
        <p:nvSpPr>
          <p:cNvPr id="65" name="TextBox 64"/>
          <p:cNvSpPr txBox="1"/>
          <p:nvPr/>
        </p:nvSpPr>
        <p:spPr>
          <a:xfrm>
            <a:off x="485775" y="5235277"/>
            <a:ext cx="959693" cy="186689"/>
          </a:xfrm>
          <a:prstGeom prst="rect">
            <a:avLst/>
          </a:prstGeom>
          <a:noFill/>
        </p:spPr>
        <p:txBody>
          <a:bodyPr wrap="none" lIns="0" rIns="0" tIns="0" bIns="0">
            <a:spAutoFit/>
          </a:bodyPr>
          <a:lstStyle/>
          <a:p>
            <a:r>
              <a:rPr sz="1100" b="0">
                <a:solidFill>
                  <a:srgbClr val="2E2E2E"/>
                </a:solidFill>
                <a:latin typeface="Calibri"/>
              </a:rPr>
              <a:t>market, gaining</a:t>
            </a:r>
          </a:p>
        </p:txBody>
      </p:sp>
      <p:pic>
        <p:nvPicPr>
          <p:cNvPr id="66" name="Picture 65" descr="lock.png"/>
          <p:cNvPicPr>
            <a:picLocks noChangeAspect="1"/>
          </p:cNvPicPr>
          <p:nvPr/>
        </p:nvPicPr>
        <p:blipFill>
          <a:blip r:embed="rId10"/>
          <a:stretch>
            <a:fillRect/>
          </a:stretch>
        </p:blipFill>
        <p:spPr>
          <a:xfrm>
            <a:off x="1393519" y="5225498"/>
            <a:ext cx="128699" cy="187198"/>
          </a:xfrm>
          <a:prstGeom prst="rect">
            <a:avLst/>
          </a:prstGeom>
        </p:spPr>
      </p:pic>
      <p:sp>
        <p:nvSpPr>
          <p:cNvPr id="67" name="TextBox 66"/>
          <p:cNvSpPr txBox="1"/>
          <p:nvPr/>
        </p:nvSpPr>
        <p:spPr>
          <a:xfrm>
            <a:off x="1561015" y="523527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68" name="Picture 67" descr="lock.png"/>
          <p:cNvPicPr>
            <a:picLocks noChangeAspect="1"/>
          </p:cNvPicPr>
          <p:nvPr/>
        </p:nvPicPr>
        <p:blipFill>
          <a:blip r:embed="rId10"/>
          <a:stretch>
            <a:fillRect/>
          </a:stretch>
        </p:blipFill>
        <p:spPr>
          <a:xfrm>
            <a:off x="2895500" y="5225498"/>
            <a:ext cx="128699" cy="187198"/>
          </a:xfrm>
          <a:prstGeom prst="rect">
            <a:avLst/>
          </a:prstGeom>
        </p:spPr>
      </p:pic>
      <p:sp>
        <p:nvSpPr>
          <p:cNvPr id="69" name="TextBox 68"/>
          <p:cNvSpPr txBox="1"/>
          <p:nvPr/>
        </p:nvSpPr>
        <p:spPr>
          <a:xfrm>
            <a:off x="485775" y="540291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70" name="TextBox 69"/>
          <p:cNvSpPr txBox="1"/>
          <p:nvPr/>
        </p:nvSpPr>
        <p:spPr>
          <a:xfrm>
            <a:off x="485775" y="5620849"/>
            <a:ext cx="2893392" cy="186689"/>
          </a:xfrm>
          <a:prstGeom prst="rect">
            <a:avLst/>
          </a:prstGeom>
          <a:noFill/>
        </p:spPr>
        <p:txBody>
          <a:bodyPr wrap="none" lIns="0" rIns="0" tIns="0" bIns="0">
            <a:spAutoFit/>
          </a:bodyPr>
          <a:lstStyle/>
          <a:p>
            <a:r>
              <a:rPr sz="1100" b="0">
                <a:solidFill>
                  <a:srgbClr val="2E2E2E"/>
                </a:solidFill>
                <a:latin typeface="Calibri"/>
              </a:rPr>
              <a:t>Two-component coatings segment is projected to</a:t>
            </a:r>
          </a:p>
        </p:txBody>
      </p:sp>
      <p:sp>
        <p:nvSpPr>
          <p:cNvPr id="71" name="TextBox 70"/>
          <p:cNvSpPr txBox="1"/>
          <p:nvPr/>
        </p:nvSpPr>
        <p:spPr>
          <a:xfrm>
            <a:off x="485775" y="578848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72" name="Picture 71" descr="lock.png"/>
          <p:cNvPicPr>
            <a:picLocks noChangeAspect="1"/>
          </p:cNvPicPr>
          <p:nvPr/>
        </p:nvPicPr>
        <p:blipFill>
          <a:blip r:embed="rId10"/>
          <a:stretch>
            <a:fillRect/>
          </a:stretch>
        </p:blipFill>
        <p:spPr>
          <a:xfrm>
            <a:off x="946316" y="5778710"/>
            <a:ext cx="128699" cy="187198"/>
          </a:xfrm>
          <a:prstGeom prst="rect">
            <a:avLst/>
          </a:prstGeom>
        </p:spPr>
      </p:pic>
      <p:sp>
        <p:nvSpPr>
          <p:cNvPr id="73" name="TextBox 72"/>
          <p:cNvSpPr txBox="1"/>
          <p:nvPr/>
        </p:nvSpPr>
        <p:spPr>
          <a:xfrm>
            <a:off x="1113812" y="5788489"/>
            <a:ext cx="2229544" cy="186689"/>
          </a:xfrm>
          <a:prstGeom prst="rect">
            <a:avLst/>
          </a:prstGeom>
          <a:noFill/>
        </p:spPr>
        <p:txBody>
          <a:bodyPr wrap="none" lIns="0" rIns="0" tIns="0" bIns="0">
            <a:spAutoFit/>
          </a:bodyPr>
          <a:lstStyle/>
          <a:p>
            <a:r>
              <a:rPr sz="1100" b="0">
                <a:solidFill>
                  <a:srgbClr val="2E2E2E"/>
                </a:solidFill>
                <a:latin typeface="Calibri"/>
              </a:rPr>
              <a:t>X higher value than single-component</a:t>
            </a:r>
          </a:p>
        </p:txBody>
      </p:sp>
      <p:sp>
        <p:nvSpPr>
          <p:cNvPr id="74" name="TextBox 73"/>
          <p:cNvSpPr txBox="1"/>
          <p:nvPr/>
        </p:nvSpPr>
        <p:spPr>
          <a:xfrm>
            <a:off x="485775" y="5956129"/>
            <a:ext cx="1559693" cy="186689"/>
          </a:xfrm>
          <a:prstGeom prst="rect">
            <a:avLst/>
          </a:prstGeom>
          <a:noFill/>
        </p:spPr>
        <p:txBody>
          <a:bodyPr wrap="none" lIns="0" rIns="0" tIns="0" bIns="0">
            <a:spAutoFit/>
          </a:bodyPr>
          <a:lstStyle/>
          <a:p>
            <a:r>
              <a:rPr sz="1100" b="0">
                <a:solidFill>
                  <a:srgbClr val="2E2E2E"/>
                </a:solidFill>
                <a:latin typeface="Calibri"/>
              </a:rPr>
              <a:t>coatings segment in 2036.</a:t>
            </a:r>
          </a:p>
        </p:txBody>
      </p:sp>
      <p:sp>
        <p:nvSpPr>
          <p:cNvPr id="75" name="TextBox 74"/>
          <p:cNvSpPr txBox="1"/>
          <p:nvPr/>
        </p:nvSpPr>
        <p:spPr>
          <a:xfrm>
            <a:off x="3838575" y="4229437"/>
            <a:ext cx="1703759" cy="186689"/>
          </a:xfrm>
          <a:prstGeom prst="rect">
            <a:avLst/>
          </a:prstGeom>
          <a:noFill/>
        </p:spPr>
        <p:txBody>
          <a:bodyPr wrap="none" lIns="0" rIns="0" tIns="0" bIns="0">
            <a:spAutoFit/>
          </a:bodyPr>
          <a:lstStyle/>
          <a:p>
            <a:r>
              <a:rPr sz="1100" b="0">
                <a:solidFill>
                  <a:srgbClr val="2E2E2E"/>
                </a:solidFill>
                <a:latin typeface="Calibri"/>
              </a:rPr>
              <a:t>● Two-Component Coatings:</a:t>
            </a:r>
          </a:p>
        </p:txBody>
      </p:sp>
      <p:pic>
        <p:nvPicPr>
          <p:cNvPr id="76" name="Picture 75" descr="lock.png"/>
          <p:cNvPicPr>
            <a:picLocks noChangeAspect="1"/>
          </p:cNvPicPr>
          <p:nvPr/>
        </p:nvPicPr>
        <p:blipFill>
          <a:blip r:embed="rId10"/>
          <a:stretch>
            <a:fillRect/>
          </a:stretch>
        </p:blipFill>
        <p:spPr>
          <a:xfrm>
            <a:off x="5490386" y="4219658"/>
            <a:ext cx="128699" cy="187198"/>
          </a:xfrm>
          <a:prstGeom prst="rect">
            <a:avLst/>
          </a:prstGeom>
        </p:spPr>
      </p:pic>
      <p:sp>
        <p:nvSpPr>
          <p:cNvPr id="77" name="TextBox 76"/>
          <p:cNvSpPr txBox="1"/>
          <p:nvPr/>
        </p:nvSpPr>
        <p:spPr>
          <a:xfrm>
            <a:off x="5657881"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8" name="Picture 77" descr="lock.png"/>
          <p:cNvPicPr>
            <a:picLocks noChangeAspect="1"/>
          </p:cNvPicPr>
          <p:nvPr/>
        </p:nvPicPr>
        <p:blipFill>
          <a:blip r:embed="rId10"/>
          <a:stretch>
            <a:fillRect/>
          </a:stretch>
        </p:blipFill>
        <p:spPr>
          <a:xfrm>
            <a:off x="6517332" y="4219658"/>
            <a:ext cx="128699" cy="187198"/>
          </a:xfrm>
          <a:prstGeom prst="rect">
            <a:avLst/>
          </a:prstGeom>
        </p:spPr>
      </p:pic>
      <p:sp>
        <p:nvSpPr>
          <p:cNvPr id="79" name="TextBox 78"/>
          <p:cNvSpPr txBox="1"/>
          <p:nvPr/>
        </p:nvSpPr>
        <p:spPr>
          <a:xfrm>
            <a:off x="6684828"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80" name="TextBox 79"/>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81" name="TextBox 80"/>
          <p:cNvSpPr txBox="1"/>
          <p:nvPr/>
        </p:nvSpPr>
        <p:spPr>
          <a:xfrm>
            <a:off x="3838575" y="4615009"/>
            <a:ext cx="1799257" cy="186689"/>
          </a:xfrm>
          <a:prstGeom prst="rect">
            <a:avLst/>
          </a:prstGeom>
          <a:noFill/>
        </p:spPr>
        <p:txBody>
          <a:bodyPr wrap="none" lIns="0" rIns="0" tIns="0" bIns="0">
            <a:spAutoFit/>
          </a:bodyPr>
          <a:lstStyle/>
          <a:p>
            <a:r>
              <a:rPr sz="1100" b="0">
                <a:solidFill>
                  <a:srgbClr val="2E2E2E"/>
                </a:solidFill>
                <a:latin typeface="Calibri"/>
              </a:rPr>
              <a:t>● Single-Component Coatings:</a:t>
            </a:r>
          </a:p>
        </p:txBody>
      </p:sp>
      <p:pic>
        <p:nvPicPr>
          <p:cNvPr id="82" name="Picture 81" descr="lock.png"/>
          <p:cNvPicPr>
            <a:picLocks noChangeAspect="1"/>
          </p:cNvPicPr>
          <p:nvPr/>
        </p:nvPicPr>
        <p:blipFill>
          <a:blip r:embed="rId10"/>
          <a:stretch>
            <a:fillRect/>
          </a:stretch>
        </p:blipFill>
        <p:spPr>
          <a:xfrm>
            <a:off x="5585884" y="4605230"/>
            <a:ext cx="128699" cy="187198"/>
          </a:xfrm>
          <a:prstGeom prst="rect">
            <a:avLst/>
          </a:prstGeom>
        </p:spPr>
      </p:pic>
      <p:sp>
        <p:nvSpPr>
          <p:cNvPr id="83" name="TextBox 82"/>
          <p:cNvSpPr txBox="1"/>
          <p:nvPr/>
        </p:nvSpPr>
        <p:spPr>
          <a:xfrm>
            <a:off x="5753380"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4" name="Picture 83" descr="lock.png"/>
          <p:cNvPicPr>
            <a:picLocks noChangeAspect="1"/>
          </p:cNvPicPr>
          <p:nvPr/>
        </p:nvPicPr>
        <p:blipFill>
          <a:blip r:embed="rId10"/>
          <a:stretch>
            <a:fillRect/>
          </a:stretch>
        </p:blipFill>
        <p:spPr>
          <a:xfrm>
            <a:off x="6612830" y="4605230"/>
            <a:ext cx="128699" cy="187198"/>
          </a:xfrm>
          <a:prstGeom prst="rect">
            <a:avLst/>
          </a:prstGeom>
        </p:spPr>
      </p:pic>
      <p:sp>
        <p:nvSpPr>
          <p:cNvPr id="85" name="TextBox 84"/>
          <p:cNvSpPr txBox="1"/>
          <p:nvPr/>
        </p:nvSpPr>
        <p:spPr>
          <a:xfrm>
            <a:off x="6780326" y="4615009"/>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86" name="TextBox 85"/>
          <p:cNvSpPr txBox="1"/>
          <p:nvPr/>
        </p:nvSpPr>
        <p:spPr>
          <a:xfrm>
            <a:off x="3838575" y="4782649"/>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87" name="TextBox 86"/>
          <p:cNvSpPr txBox="1"/>
          <p:nvPr/>
        </p:nvSpPr>
        <p:spPr>
          <a:xfrm>
            <a:off x="8524875" y="5842641"/>
            <a:ext cx="3137830" cy="194310"/>
          </a:xfrm>
          <a:prstGeom prst="rect">
            <a:avLst/>
          </a:prstGeom>
          <a:noFill/>
        </p:spPr>
        <p:txBody>
          <a:bodyPr wrap="none" lIns="0" rIns="0" tIns="0" bIns="0">
            <a:spAutoFit/>
          </a:bodyPr>
          <a:lstStyle/>
          <a:p>
            <a:r>
              <a:rPr sz="1150" b="1">
                <a:solidFill>
                  <a:srgbClr val="0B2E4A"/>
                </a:solidFill>
                <a:latin typeface="Calibri"/>
              </a:rPr>
              <a:t>The Product Configuration segment is projected to</a:t>
            </a:r>
          </a:p>
        </p:txBody>
      </p:sp>
      <p:sp>
        <p:nvSpPr>
          <p:cNvPr id="88" name="TextBox 87"/>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89" name="Picture 88" descr="lock.png"/>
          <p:cNvPicPr>
            <a:picLocks noChangeAspect="1"/>
          </p:cNvPicPr>
          <p:nvPr/>
        </p:nvPicPr>
        <p:blipFill>
          <a:blip r:embed="rId10"/>
          <a:stretch>
            <a:fillRect/>
          </a:stretch>
        </p:blipFill>
        <p:spPr>
          <a:xfrm>
            <a:off x="9651852" y="6007677"/>
            <a:ext cx="134549" cy="195707"/>
          </a:xfrm>
          <a:prstGeom prst="rect">
            <a:avLst/>
          </a:prstGeom>
        </p:spPr>
      </p:pic>
      <p:sp>
        <p:nvSpPr>
          <p:cNvPr id="90" name="TextBox 89"/>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Product Configuration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Product Configuration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Configuration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Product Configuration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677650" cy="186689"/>
          </a:xfrm>
          <a:prstGeom prst="rect">
            <a:avLst/>
          </a:prstGeom>
          <a:noFill/>
        </p:spPr>
        <p:txBody>
          <a:bodyPr wrap="none" lIns="0" rIns="0" tIns="0" bIns="0">
            <a:spAutoFit/>
          </a:bodyPr>
          <a:lstStyle/>
          <a:p>
            <a:r>
              <a:rPr sz="1100" b="0">
                <a:solidFill>
                  <a:srgbClr val="2E2E2E"/>
                </a:solidFill>
                <a:latin typeface="Calibri"/>
              </a:rPr>
              <a:t>Two-component coatings followed by single-component coatings are expected to be the two most attractive product configuration segments in the global waterproof coatings market in terms of value over</a:t>
            </a:r>
          </a:p>
        </p:txBody>
      </p:sp>
      <p:sp>
        <p:nvSpPr>
          <p:cNvPr id="20" name="TextBox 19"/>
          <p:cNvSpPr txBox="1"/>
          <p:nvPr/>
        </p:nvSpPr>
        <p:spPr>
          <a:xfrm>
            <a:off x="257175" y="5945505"/>
            <a:ext cx="5877825" cy="186689"/>
          </a:xfrm>
          <a:prstGeom prst="rect">
            <a:avLst/>
          </a:prstGeom>
          <a:noFill/>
        </p:spPr>
        <p:txBody>
          <a:bodyPr wrap="none" lIns="0" rIns="0" tIns="0" bIns="0">
            <a:spAutoFit/>
          </a:bodyPr>
          <a:lstStyle/>
          <a:p>
            <a:r>
              <a:rPr sz="1100" b="0">
                <a:solidFill>
                  <a:srgbClr val="2E2E2E"/>
                </a:solidFill>
                <a:latin typeface="Calibri"/>
              </a:rPr>
              <a:t>the forecast period. Two-Component coatings and Single-Component coatings exhibit a CAGR index of</a:t>
            </a:r>
          </a:p>
        </p:txBody>
      </p:sp>
      <p:pic>
        <p:nvPicPr>
          <p:cNvPr id="21" name="Picture 20" descr="lock.png"/>
          <p:cNvPicPr>
            <a:picLocks noChangeAspect="1"/>
          </p:cNvPicPr>
          <p:nvPr/>
        </p:nvPicPr>
        <p:blipFill>
          <a:blip r:embed="rId6"/>
          <a:stretch>
            <a:fillRect/>
          </a:stretch>
        </p:blipFill>
        <p:spPr>
          <a:xfrm>
            <a:off x="6083052" y="5935726"/>
            <a:ext cx="128699" cy="187198"/>
          </a:xfrm>
          <a:prstGeom prst="rect">
            <a:avLst/>
          </a:prstGeom>
        </p:spPr>
      </p:pic>
      <p:sp>
        <p:nvSpPr>
          <p:cNvPr id="22" name="TextBox 21"/>
          <p:cNvSpPr txBox="1"/>
          <p:nvPr/>
        </p:nvSpPr>
        <p:spPr>
          <a:xfrm>
            <a:off x="6250548"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6488442" y="5935726"/>
            <a:ext cx="128699" cy="187198"/>
          </a:xfrm>
          <a:prstGeom prst="rect">
            <a:avLst/>
          </a:prstGeom>
        </p:spPr>
      </p:pic>
      <p:sp>
        <p:nvSpPr>
          <p:cNvPr id="24" name="TextBox 23"/>
          <p:cNvSpPr txBox="1"/>
          <p:nvPr/>
        </p:nvSpPr>
        <p:spPr>
          <a:xfrm>
            <a:off x="6655938"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8264911" y="5935726"/>
            <a:ext cx="128699" cy="187198"/>
          </a:xfrm>
          <a:prstGeom prst="rect">
            <a:avLst/>
          </a:prstGeom>
        </p:spPr>
      </p:pic>
      <p:sp>
        <p:nvSpPr>
          <p:cNvPr id="26" name="TextBox 25"/>
          <p:cNvSpPr txBox="1"/>
          <p:nvPr/>
        </p:nvSpPr>
        <p:spPr>
          <a:xfrm>
            <a:off x="8432407"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8670301" y="5935726"/>
            <a:ext cx="128699" cy="187198"/>
          </a:xfrm>
          <a:prstGeom prst="rect">
            <a:avLst/>
          </a:prstGeom>
        </p:spPr>
      </p:pic>
      <p:sp>
        <p:nvSpPr>
          <p:cNvPr id="28" name="TextBox 27"/>
          <p:cNvSpPr txBox="1"/>
          <p:nvPr/>
        </p:nvSpPr>
        <p:spPr>
          <a:xfrm>
            <a:off x="8837797"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243707" y="6103366"/>
            <a:ext cx="128699" cy="187198"/>
          </a:xfrm>
          <a:prstGeom prst="rect">
            <a:avLst/>
          </a:prstGeom>
        </p:spPr>
      </p:pic>
      <p:sp>
        <p:nvSpPr>
          <p:cNvPr id="30" name="TextBox 29"/>
          <p:cNvSpPr txBox="1"/>
          <p:nvPr/>
        </p:nvSpPr>
        <p:spPr>
          <a:xfrm>
            <a:off x="411203" y="6113145"/>
            <a:ext cx="4443717" cy="186689"/>
          </a:xfrm>
          <a:prstGeom prst="rect">
            <a:avLst/>
          </a:prstGeom>
          <a:noFill/>
        </p:spPr>
        <p:txBody>
          <a:bodyPr wrap="none" lIns="0" rIns="0" tIns="0" bIns="0">
            <a:spAutoFit/>
          </a:bodyPr>
          <a:lstStyle/>
          <a:p>
            <a:r>
              <a:rPr sz="1100" b="0">
                <a:solidFill>
                  <a:srgbClr val="2E2E2E"/>
                </a:solidFill>
                <a:latin typeface="Calibri"/>
              </a:rPr>
              <a:t>. Bubbles right of the CAGR-Index line grow faster than the segment average.</a:t>
            </a:r>
          </a:p>
        </p:txBody>
      </p:sp>
      <p:sp>
        <p:nvSpPr>
          <p:cNvPr id="31"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Product Configuration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Configuration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Single-Component Coatings</a:t>
            </a:r>
          </a:p>
        </p:txBody>
      </p:sp>
      <p:graphicFrame>
        <p:nvGraphicFramePr>
          <p:cNvPr id="12" name="Chart 11"/>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Two-Component Coatings</a:t>
            </a:r>
          </a:p>
        </p:txBody>
      </p:sp>
      <p:graphicFrame>
        <p:nvGraphicFramePr>
          <p:cNvPr id="15" name="Chart 14"/>
          <p:cNvGraphicFramePr>
            <a:graphicFrameLocks noGrp="1"/>
          </p:cNvGraphicFramePr>
          <p:nvPr/>
        </p:nvGraphicFramePr>
        <p:xfrm>
          <a:off x="6267450" y="1438275"/>
          <a:ext cx="5686425" cy="5133975"/>
        </p:xfrm>
        <a:graphic>
          <a:graphicData uri="http://schemas.openxmlformats.org/drawingml/2006/chart">
            <c:chart xmlns:c="http://schemas.openxmlformats.org/drawingml/2006/chart" r:id="rId4"/>
          </a:graphicData>
        </a:graphic>
      </p:graphicFrame>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6"/>
          <a:stretch>
            <a:fillRect/>
          </a:stretch>
        </p:blipFill>
        <p:spPr>
          <a:xfrm>
            <a:off x="3027556" y="3674659"/>
            <a:ext cx="395643" cy="575481"/>
          </a:xfrm>
          <a:prstGeom prst="rect">
            <a:avLst/>
          </a:prstGeom>
        </p:spPr>
      </p:pic>
      <p:pic>
        <p:nvPicPr>
          <p:cNvPr id="18" name="Picture 17" descr="lock.png"/>
          <p:cNvPicPr>
            <a:picLocks noChangeAspect="1"/>
          </p:cNvPicPr>
          <p:nvPr/>
        </p:nvPicPr>
        <p:blipFill>
          <a:blip r:embed="rId6"/>
          <a:stretch>
            <a:fillRect/>
          </a:stretch>
        </p:blipFill>
        <p:spPr>
          <a:xfrm>
            <a:off x="9056881" y="3674659"/>
            <a:ext cx="395643" cy="575481"/>
          </a:xfrm>
          <a:prstGeom prst="rect">
            <a:avLst/>
          </a:prstGeom>
        </p:spPr>
      </p:pic>
      <p:sp>
        <p:nvSpPr>
          <p:cNvPr id="19" name="lockshield_12"/>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ockshield_15"/>
          <p:cNvSpPr/>
          <p:nvPr/>
        </p:nvSpPr>
        <p:spPr>
          <a:xfrm>
            <a:off x="6267450"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Product Configuration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Product Configuration, 2021–2036, highlighting the sub-segments driving growth</a:t>
            </a:r>
          </a:p>
        </p:txBody>
      </p:sp>
      <p:sp>
        <p:nvSpPr>
          <p:cNvPr id="10" name="Rounded Rectangle 9"/>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Product Configuration (US$ Mn)</a:t>
            </a:r>
          </a:p>
        </p:txBody>
      </p:sp>
      <p:graphicFrame>
        <p:nvGraphicFramePr>
          <p:cNvPr id="12" name="Table 11"/>
          <p:cNvGraphicFramePr>
            <a:graphicFrameLocks noGrp="1"/>
          </p:cNvGraphicFramePr>
          <p:nvPr/>
        </p:nvGraphicFramePr>
        <p:xfrm>
          <a:off x="152400" y="1238250"/>
          <a:ext cx="11887195" cy="990600"/>
        </p:xfrm>
        <a:graphic>
          <a:graphicData uri="http://schemas.openxmlformats.org/drawingml/2006/table">
            <a:tbl>
              <a:tblPr>
                <a:tableStyleId>{5C22544A-7EE6-4342-B048-85BDC9FD1C3A}</a:tableStyleId>
              </a:tblPr>
              <a:tblGrid>
                <a:gridCol w="1875368"/>
                <a:gridCol w="588931"/>
                <a:gridCol w="588931"/>
                <a:gridCol w="588931"/>
                <a:gridCol w="588931"/>
                <a:gridCol w="588931"/>
                <a:gridCol w="588931"/>
                <a:gridCol w="588931"/>
                <a:gridCol w="588931"/>
                <a:gridCol w="588931"/>
                <a:gridCol w="588931"/>
                <a:gridCol w="588931"/>
                <a:gridCol w="588931"/>
                <a:gridCol w="588931"/>
                <a:gridCol w="588931"/>
                <a:gridCol w="588931"/>
                <a:gridCol w="588931"/>
                <a:gridCol w="588931"/>
              </a:tblGrid>
              <a:tr h="246126">
                <a:tc>
                  <a:txBody>
                    <a:bodyPr wrap="none"/>
                    <a:lstStyle/>
                    <a:p>
                      <a:pPr algn="l"/>
                      <a:r>
                        <a:rPr sz="1100" b="1">
                          <a:solidFill>
                            <a:srgbClr val="0B2E4A"/>
                          </a:solidFill>
                          <a:latin typeface="Calibri"/>
                        </a:rPr>
                        <a:t>Product Configuration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Single-Component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Two-Component Coatings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571750"/>
            <a:ext cx="11906250" cy="4057650"/>
          </a:xfrm>
          <a:prstGeom prst="roundRect">
            <a:avLst>
              <a:gd name="adj" fmla="val 1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Product Configuration</a:t>
            </a:r>
          </a:p>
        </p:txBody>
      </p:sp>
      <p:sp>
        <p:nvSpPr>
          <p:cNvPr id="16" name="Rectangle 15"/>
          <p:cNvSpPr/>
          <p:nvPr/>
        </p:nvSpPr>
        <p:spPr>
          <a:xfrm>
            <a:off x="276225" y="28956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846991" y="1589913"/>
            <a:ext cx="366712" cy="533400"/>
          </a:xfrm>
          <a:prstGeom prst="rect">
            <a:avLst/>
          </a:prstGeom>
        </p:spPr>
      </p:pic>
      <p:sp>
        <p:nvSpPr>
          <p:cNvPr id="20" name="TextBox 19"/>
          <p:cNvSpPr txBox="1"/>
          <p:nvPr/>
        </p:nvSpPr>
        <p:spPr>
          <a:xfrm>
            <a:off x="276225" y="2990850"/>
            <a:ext cx="3510657" cy="194310"/>
          </a:xfrm>
          <a:prstGeom prst="rect">
            <a:avLst/>
          </a:prstGeom>
          <a:noFill/>
        </p:spPr>
        <p:txBody>
          <a:bodyPr wrap="none" lIns="0" rIns="0" tIns="0" bIns="0">
            <a:spAutoFit/>
          </a:bodyPr>
          <a:lstStyle/>
          <a:p>
            <a:r>
              <a:rPr sz="1150" b="0">
                <a:solidFill>
                  <a:srgbClr val="2E2E2E"/>
                </a:solidFill>
                <a:latin typeface="Calibri"/>
              </a:rPr>
              <a:t>Two-component coatings segment is projected to register</a:t>
            </a:r>
          </a:p>
        </p:txBody>
      </p:sp>
      <p:pic>
        <p:nvPicPr>
          <p:cNvPr id="21" name="Picture 20" descr="lock.png"/>
          <p:cNvPicPr>
            <a:picLocks noChangeAspect="1"/>
          </p:cNvPicPr>
          <p:nvPr/>
        </p:nvPicPr>
        <p:blipFill>
          <a:blip r:embed="rId4"/>
          <a:stretch>
            <a:fillRect/>
          </a:stretch>
        </p:blipFill>
        <p:spPr>
          <a:xfrm>
            <a:off x="3736035" y="2980626"/>
            <a:ext cx="134549" cy="195707"/>
          </a:xfrm>
          <a:prstGeom prst="rect">
            <a:avLst/>
          </a:prstGeom>
        </p:spPr>
      </p:pic>
      <p:sp>
        <p:nvSpPr>
          <p:cNvPr id="22" name="TextBox 21"/>
          <p:cNvSpPr txBox="1"/>
          <p:nvPr/>
        </p:nvSpPr>
        <p:spPr>
          <a:xfrm>
            <a:off x="3911145" y="2990850"/>
            <a:ext cx="7146503" cy="194310"/>
          </a:xfrm>
          <a:prstGeom prst="rect">
            <a:avLst/>
          </a:prstGeom>
          <a:noFill/>
        </p:spPr>
        <p:txBody>
          <a:bodyPr wrap="none" lIns="0" rIns="0" tIns="0" bIns="0">
            <a:spAutoFit/>
          </a:bodyPr>
          <a:lstStyle/>
          <a:p>
            <a:r>
              <a:rPr sz="1150" b="0">
                <a:solidFill>
                  <a:srgbClr val="2E2E2E"/>
                </a:solidFill>
                <a:latin typeface="Calibri"/>
              </a:rPr>
              <a:t>X higher value than single-component coatings segment in 2036. Among waterproof coatings by product configuration,</a:t>
            </a:r>
          </a:p>
        </p:txBody>
      </p:sp>
      <p:sp>
        <p:nvSpPr>
          <p:cNvPr id="23" name="TextBox 22"/>
          <p:cNvSpPr txBox="1"/>
          <p:nvPr/>
        </p:nvSpPr>
        <p:spPr>
          <a:xfrm>
            <a:off x="276225" y="3166110"/>
            <a:ext cx="4676757" cy="194310"/>
          </a:xfrm>
          <a:prstGeom prst="rect">
            <a:avLst/>
          </a:prstGeom>
          <a:noFill/>
        </p:spPr>
        <p:txBody>
          <a:bodyPr wrap="none" lIns="0" rIns="0" tIns="0" bIns="0">
            <a:spAutoFit/>
          </a:bodyPr>
          <a:lstStyle/>
          <a:p>
            <a:r>
              <a:rPr sz="1150" b="0">
                <a:solidFill>
                  <a:srgbClr val="2E2E2E"/>
                </a:solidFill>
                <a:latin typeface="Calibri"/>
              </a:rPr>
              <a:t>two-component coatings segment is expected to witness the highest CAGR of</a:t>
            </a:r>
          </a:p>
        </p:txBody>
      </p:sp>
      <p:pic>
        <p:nvPicPr>
          <p:cNvPr id="24" name="Picture 23" descr="lock.png"/>
          <p:cNvPicPr>
            <a:picLocks noChangeAspect="1"/>
          </p:cNvPicPr>
          <p:nvPr/>
        </p:nvPicPr>
        <p:blipFill>
          <a:blip r:embed="rId4"/>
          <a:stretch>
            <a:fillRect/>
          </a:stretch>
        </p:blipFill>
        <p:spPr>
          <a:xfrm>
            <a:off x="4902136" y="3155886"/>
            <a:ext cx="134549" cy="195707"/>
          </a:xfrm>
          <a:prstGeom prst="rect">
            <a:avLst/>
          </a:prstGeom>
        </p:spPr>
      </p:pic>
      <p:sp>
        <p:nvSpPr>
          <p:cNvPr id="25" name="TextBox 24"/>
          <p:cNvSpPr txBox="1"/>
          <p:nvPr/>
        </p:nvSpPr>
        <p:spPr>
          <a:xfrm>
            <a:off x="5077245"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393947"/>
            <a:ext cx="7935800" cy="194310"/>
          </a:xfrm>
          <a:prstGeom prst="rect">
            <a:avLst/>
          </a:prstGeom>
          <a:noFill/>
        </p:spPr>
        <p:txBody>
          <a:bodyPr wrap="none" lIns="0" rIns="0" tIns="0" bIns="0">
            <a:spAutoFit/>
          </a:bodyPr>
          <a:lstStyle/>
          <a:p>
            <a:r>
              <a:rPr sz="1150" b="0">
                <a:solidFill>
                  <a:srgbClr val="2E2E2E"/>
                </a:solidFill>
                <a:latin typeface="Calibri"/>
              </a:rPr>
              <a:t>In terms of value share by product configuration, the two-component coatings segment is expected to dominate the market, gaining</a:t>
            </a:r>
          </a:p>
        </p:txBody>
      </p:sp>
      <p:pic>
        <p:nvPicPr>
          <p:cNvPr id="27" name="Picture 26" descr="lock.png"/>
          <p:cNvPicPr>
            <a:picLocks noChangeAspect="1"/>
          </p:cNvPicPr>
          <p:nvPr/>
        </p:nvPicPr>
        <p:blipFill>
          <a:blip r:embed="rId4"/>
          <a:stretch>
            <a:fillRect/>
          </a:stretch>
        </p:blipFill>
        <p:spPr>
          <a:xfrm>
            <a:off x="8161179" y="3383724"/>
            <a:ext cx="134549" cy="195707"/>
          </a:xfrm>
          <a:prstGeom prst="rect">
            <a:avLst/>
          </a:prstGeom>
        </p:spPr>
      </p:pic>
      <p:sp>
        <p:nvSpPr>
          <p:cNvPr id="28" name="TextBox 27"/>
          <p:cNvSpPr txBox="1"/>
          <p:nvPr/>
        </p:nvSpPr>
        <p:spPr>
          <a:xfrm>
            <a:off x="8336289"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9731432" y="3383724"/>
            <a:ext cx="134549" cy="195707"/>
          </a:xfrm>
          <a:prstGeom prst="rect">
            <a:avLst/>
          </a:prstGeom>
        </p:spPr>
      </p:pic>
      <p:sp>
        <p:nvSpPr>
          <p:cNvPr id="30" name="TextBox 29"/>
          <p:cNvSpPr txBox="1"/>
          <p:nvPr/>
        </p:nvSpPr>
        <p:spPr>
          <a:xfrm>
            <a:off x="9906541" y="3393947"/>
            <a:ext cx="1200100" cy="194310"/>
          </a:xfrm>
          <a:prstGeom prst="rect">
            <a:avLst/>
          </a:prstGeom>
          <a:noFill/>
        </p:spPr>
        <p:txBody>
          <a:bodyPr wrap="none" lIns="0" rIns="0" tIns="0" bIns="0">
            <a:spAutoFit/>
          </a:bodyPr>
          <a:lstStyle/>
          <a:p>
            <a:r>
              <a:rPr sz="1150" b="0">
                <a:solidFill>
                  <a:srgbClr val="2E2E2E"/>
                </a:solidFill>
                <a:latin typeface="Calibri"/>
              </a:rPr>
              <a:t>share by 2036. The</a:t>
            </a:r>
          </a:p>
        </p:txBody>
      </p:sp>
      <p:sp>
        <p:nvSpPr>
          <p:cNvPr id="31" name="TextBox 30"/>
          <p:cNvSpPr txBox="1"/>
          <p:nvPr/>
        </p:nvSpPr>
        <p:spPr>
          <a:xfrm>
            <a:off x="276225" y="3569207"/>
            <a:ext cx="3357760" cy="194310"/>
          </a:xfrm>
          <a:prstGeom prst="rect">
            <a:avLst/>
          </a:prstGeom>
          <a:noFill/>
        </p:spPr>
        <p:txBody>
          <a:bodyPr wrap="none" lIns="0" rIns="0" tIns="0" bIns="0">
            <a:spAutoFit/>
          </a:bodyPr>
          <a:lstStyle/>
          <a:p>
            <a:r>
              <a:rPr sz="1150" b="0">
                <a:solidFill>
                  <a:srgbClr val="2E2E2E"/>
                </a:solidFill>
                <a:latin typeface="Calibri"/>
              </a:rPr>
              <a:t>single-component coatings segment is expected to lose</a:t>
            </a:r>
          </a:p>
        </p:txBody>
      </p:sp>
      <p:pic>
        <p:nvPicPr>
          <p:cNvPr id="32" name="Picture 31" descr="lock.png"/>
          <p:cNvPicPr>
            <a:picLocks noChangeAspect="1"/>
          </p:cNvPicPr>
          <p:nvPr/>
        </p:nvPicPr>
        <p:blipFill>
          <a:blip r:embed="rId4"/>
          <a:stretch>
            <a:fillRect/>
          </a:stretch>
        </p:blipFill>
        <p:spPr>
          <a:xfrm>
            <a:off x="3583139" y="3558984"/>
            <a:ext cx="134549" cy="195707"/>
          </a:xfrm>
          <a:prstGeom prst="rect">
            <a:avLst/>
          </a:prstGeom>
        </p:spPr>
      </p:pic>
      <p:sp>
        <p:nvSpPr>
          <p:cNvPr id="33" name="TextBox 32"/>
          <p:cNvSpPr txBox="1"/>
          <p:nvPr/>
        </p:nvSpPr>
        <p:spPr>
          <a:xfrm>
            <a:off x="3758249" y="356920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6345753" y="3558984"/>
            <a:ext cx="134549" cy="195707"/>
          </a:xfrm>
          <a:prstGeom prst="rect">
            <a:avLst/>
          </a:prstGeom>
        </p:spPr>
      </p:pic>
      <p:sp>
        <p:nvSpPr>
          <p:cNvPr id="35" name="TextBox 34"/>
          <p:cNvSpPr txBox="1"/>
          <p:nvPr/>
        </p:nvSpPr>
        <p:spPr>
          <a:xfrm>
            <a:off x="6520862" y="35692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Product Configuration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Product Configuration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Product Configuration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2120527"/>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211576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203956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Single-Component Coatings</a:t>
            </a:r>
          </a:p>
        </p:txBody>
      </p:sp>
      <p:sp>
        <p:nvSpPr>
          <p:cNvPr id="18" name="BPS Value 1"/>
          <p:cNvSpPr txBox="1"/>
          <p:nvPr/>
        </p:nvSpPr>
        <p:spPr>
          <a:xfrm>
            <a:off x="6896100" y="210147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4406717"/>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440195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432575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Two-Component Coatings</a:t>
            </a:r>
          </a:p>
        </p:txBody>
      </p:sp>
      <p:sp>
        <p:nvSpPr>
          <p:cNvPr id="22" name="BPS Value 2"/>
          <p:cNvSpPr txBox="1"/>
          <p:nvPr/>
        </p:nvSpPr>
        <p:spPr>
          <a:xfrm>
            <a:off x="6896100" y="438766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Rounded Rectangle 22"/>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Product Configuration</a:t>
            </a:r>
          </a:p>
        </p:txBody>
      </p:sp>
      <p:sp>
        <p:nvSpPr>
          <p:cNvPr id="25" name="Rectangle 24"/>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8" name="Picture 27" descr="lock.png"/>
          <p:cNvPicPr>
            <a:picLocks noChangeAspect="1"/>
          </p:cNvPicPr>
          <p:nvPr/>
        </p:nvPicPr>
        <p:blipFill>
          <a:blip r:embed="rId5"/>
          <a:stretch>
            <a:fillRect/>
          </a:stretch>
        </p:blipFill>
        <p:spPr>
          <a:xfrm>
            <a:off x="2557843" y="3833622"/>
            <a:ext cx="275034" cy="400050"/>
          </a:xfrm>
          <a:prstGeom prst="rect">
            <a:avLst/>
          </a:prstGeom>
        </p:spPr>
      </p:pic>
      <p:sp>
        <p:nvSpPr>
          <p:cNvPr id="29" name="TextBox 28"/>
          <p:cNvSpPr txBox="1"/>
          <p:nvPr/>
        </p:nvSpPr>
        <p:spPr>
          <a:xfrm>
            <a:off x="7829550" y="1400175"/>
            <a:ext cx="3278175" cy="194310"/>
          </a:xfrm>
          <a:prstGeom prst="rect">
            <a:avLst/>
          </a:prstGeom>
          <a:noFill/>
        </p:spPr>
        <p:txBody>
          <a:bodyPr wrap="none" lIns="0" rIns="0" tIns="0" bIns="0">
            <a:spAutoFit/>
          </a:bodyPr>
          <a:lstStyle/>
          <a:p>
            <a:r>
              <a:rPr sz="1150" b="0">
                <a:solidFill>
                  <a:srgbClr val="2E2E2E"/>
                </a:solidFill>
                <a:latin typeface="Calibri"/>
              </a:rPr>
              <a:t>Among waterproof coatings by product configuration,</a:t>
            </a:r>
          </a:p>
        </p:txBody>
      </p:sp>
      <p:sp>
        <p:nvSpPr>
          <p:cNvPr id="30" name="TextBox 29"/>
          <p:cNvSpPr txBox="1"/>
          <p:nvPr/>
        </p:nvSpPr>
        <p:spPr>
          <a:xfrm>
            <a:off x="7829550" y="1575435"/>
            <a:ext cx="3687514" cy="194310"/>
          </a:xfrm>
          <a:prstGeom prst="rect">
            <a:avLst/>
          </a:prstGeom>
          <a:noFill/>
        </p:spPr>
        <p:txBody>
          <a:bodyPr wrap="none" lIns="0" rIns="0" tIns="0" bIns="0">
            <a:spAutoFit/>
          </a:bodyPr>
          <a:lstStyle/>
          <a:p>
            <a:r>
              <a:rPr sz="1150" b="0">
                <a:solidFill>
                  <a:srgbClr val="2E2E2E"/>
                </a:solidFill>
                <a:latin typeface="Calibri"/>
              </a:rPr>
              <a:t>two-component coatings segment is expected to witness the</a:t>
            </a:r>
          </a:p>
        </p:txBody>
      </p:sp>
      <p:sp>
        <p:nvSpPr>
          <p:cNvPr id="31" name="TextBox 30"/>
          <p:cNvSpPr txBox="1"/>
          <p:nvPr/>
        </p:nvSpPr>
        <p:spPr>
          <a:xfrm>
            <a:off x="7829550" y="1750695"/>
            <a:ext cx="1032353" cy="194310"/>
          </a:xfrm>
          <a:prstGeom prst="rect">
            <a:avLst/>
          </a:prstGeom>
          <a:noFill/>
        </p:spPr>
        <p:txBody>
          <a:bodyPr wrap="none" lIns="0" rIns="0" tIns="0" bIns="0">
            <a:spAutoFit/>
          </a:bodyPr>
          <a:lstStyle/>
          <a:p>
            <a:r>
              <a:rPr sz="1150" b="0">
                <a:solidFill>
                  <a:srgbClr val="2E2E2E"/>
                </a:solidFill>
                <a:latin typeface="Calibri"/>
              </a:rPr>
              <a:t>highest CAGR of</a:t>
            </a:r>
          </a:p>
        </p:txBody>
      </p:sp>
      <p:pic>
        <p:nvPicPr>
          <p:cNvPr id="32" name="Picture 31" descr="lock.png"/>
          <p:cNvPicPr>
            <a:picLocks noChangeAspect="1"/>
          </p:cNvPicPr>
          <p:nvPr/>
        </p:nvPicPr>
        <p:blipFill>
          <a:blip r:embed="rId5"/>
          <a:stretch>
            <a:fillRect/>
          </a:stretch>
        </p:blipFill>
        <p:spPr>
          <a:xfrm>
            <a:off x="8811057" y="1740471"/>
            <a:ext cx="134549" cy="195707"/>
          </a:xfrm>
          <a:prstGeom prst="rect">
            <a:avLst/>
          </a:prstGeom>
        </p:spPr>
      </p:pic>
      <p:sp>
        <p:nvSpPr>
          <p:cNvPr id="33" name="TextBox 32"/>
          <p:cNvSpPr txBox="1"/>
          <p:nvPr/>
        </p:nvSpPr>
        <p:spPr>
          <a:xfrm>
            <a:off x="8986166" y="1750695"/>
            <a:ext cx="2581585" cy="194310"/>
          </a:xfrm>
          <a:prstGeom prst="rect">
            <a:avLst/>
          </a:prstGeom>
          <a:noFill/>
        </p:spPr>
        <p:txBody>
          <a:bodyPr wrap="none" lIns="0" rIns="0" tIns="0" bIns="0">
            <a:spAutoFit/>
          </a:bodyPr>
          <a:lstStyle/>
          <a:p>
            <a:r>
              <a:rPr sz="1150" b="0">
                <a:solidFill>
                  <a:srgbClr val="2E2E2E"/>
                </a:solidFill>
                <a:latin typeface="Calibri"/>
              </a:rPr>
              <a:t>over the forecast period. In terms of value</a:t>
            </a:r>
          </a:p>
        </p:txBody>
      </p:sp>
      <p:sp>
        <p:nvSpPr>
          <p:cNvPr id="34" name="TextBox 33"/>
          <p:cNvSpPr txBox="1"/>
          <p:nvPr/>
        </p:nvSpPr>
        <p:spPr>
          <a:xfrm>
            <a:off x="7829550" y="1925955"/>
            <a:ext cx="3700065" cy="194310"/>
          </a:xfrm>
          <a:prstGeom prst="rect">
            <a:avLst/>
          </a:prstGeom>
          <a:noFill/>
        </p:spPr>
        <p:txBody>
          <a:bodyPr wrap="none" lIns="0" rIns="0" tIns="0" bIns="0">
            <a:spAutoFit/>
          </a:bodyPr>
          <a:lstStyle/>
          <a:p>
            <a:r>
              <a:rPr sz="1150" b="0">
                <a:solidFill>
                  <a:srgbClr val="2E2E2E"/>
                </a:solidFill>
                <a:latin typeface="Calibri"/>
              </a:rPr>
              <a:t>share by product configuration, the two-component coatings</a:t>
            </a:r>
          </a:p>
        </p:txBody>
      </p:sp>
      <p:sp>
        <p:nvSpPr>
          <p:cNvPr id="35" name="TextBox 34"/>
          <p:cNvSpPr txBox="1"/>
          <p:nvPr/>
        </p:nvSpPr>
        <p:spPr>
          <a:xfrm>
            <a:off x="7829550" y="2101215"/>
            <a:ext cx="3245941" cy="194310"/>
          </a:xfrm>
          <a:prstGeom prst="rect">
            <a:avLst/>
          </a:prstGeom>
          <a:noFill/>
        </p:spPr>
        <p:txBody>
          <a:bodyPr wrap="none" lIns="0" rIns="0" tIns="0" bIns="0">
            <a:spAutoFit/>
          </a:bodyPr>
          <a:lstStyle/>
          <a:p>
            <a:r>
              <a:rPr sz="1150" b="0">
                <a:solidFill>
                  <a:srgbClr val="2E2E2E"/>
                </a:solidFill>
                <a:latin typeface="Calibri"/>
              </a:rPr>
              <a:t>segment is expected to dominate the market, gaining</a:t>
            </a:r>
          </a:p>
        </p:txBody>
      </p:sp>
      <p:pic>
        <p:nvPicPr>
          <p:cNvPr id="36" name="Picture 35" descr="lock.png"/>
          <p:cNvPicPr>
            <a:picLocks noChangeAspect="1"/>
          </p:cNvPicPr>
          <p:nvPr/>
        </p:nvPicPr>
        <p:blipFill>
          <a:blip r:embed="rId5"/>
          <a:stretch>
            <a:fillRect/>
          </a:stretch>
        </p:blipFill>
        <p:spPr>
          <a:xfrm>
            <a:off x="11024645" y="2090991"/>
            <a:ext cx="134549" cy="195707"/>
          </a:xfrm>
          <a:prstGeom prst="rect">
            <a:avLst/>
          </a:prstGeom>
        </p:spPr>
      </p:pic>
      <p:sp>
        <p:nvSpPr>
          <p:cNvPr id="37" name="TextBox 36"/>
          <p:cNvSpPr txBox="1"/>
          <p:nvPr/>
        </p:nvSpPr>
        <p:spPr>
          <a:xfrm>
            <a:off x="11199754" y="2101215"/>
            <a:ext cx="554856" cy="194310"/>
          </a:xfrm>
          <a:prstGeom prst="rect">
            <a:avLst/>
          </a:prstGeom>
          <a:noFill/>
        </p:spPr>
        <p:txBody>
          <a:bodyPr wrap="none" lIns="0" rIns="0" tIns="0" bIns="0">
            <a:spAutoFit/>
          </a:bodyPr>
          <a:lstStyle/>
          <a:p>
            <a:r>
              <a:rPr sz="1150" b="0">
                <a:solidFill>
                  <a:srgbClr val="2E2E2E"/>
                </a:solidFill>
                <a:latin typeface="Calibri"/>
              </a:rPr>
              <a:t>BPS and</a:t>
            </a:r>
          </a:p>
        </p:txBody>
      </p:sp>
      <p:sp>
        <p:nvSpPr>
          <p:cNvPr id="38" name="TextBox 37"/>
          <p:cNvSpPr txBox="1"/>
          <p:nvPr/>
        </p:nvSpPr>
        <p:spPr>
          <a:xfrm>
            <a:off x="7829550" y="2276475"/>
            <a:ext cx="934243" cy="194310"/>
          </a:xfrm>
          <a:prstGeom prst="rect">
            <a:avLst/>
          </a:prstGeom>
          <a:noFill/>
        </p:spPr>
        <p:txBody>
          <a:bodyPr wrap="none" lIns="0" rIns="0" tIns="0" bIns="0">
            <a:spAutoFit/>
          </a:bodyPr>
          <a:lstStyle/>
          <a:p>
            <a:r>
              <a:rPr sz="1150" b="0">
                <a:solidFill>
                  <a:srgbClr val="2E2E2E"/>
                </a:solidFill>
                <a:latin typeface="Calibri"/>
              </a:rPr>
              <a:t>accounting for</a:t>
            </a:r>
          </a:p>
        </p:txBody>
      </p:sp>
      <p:pic>
        <p:nvPicPr>
          <p:cNvPr id="39" name="Picture 38" descr="lock.png"/>
          <p:cNvPicPr>
            <a:picLocks noChangeAspect="1"/>
          </p:cNvPicPr>
          <p:nvPr/>
        </p:nvPicPr>
        <p:blipFill>
          <a:blip r:embed="rId5"/>
          <a:stretch>
            <a:fillRect/>
          </a:stretch>
        </p:blipFill>
        <p:spPr>
          <a:xfrm>
            <a:off x="8712947" y="2266251"/>
            <a:ext cx="134549" cy="195707"/>
          </a:xfrm>
          <a:prstGeom prst="rect">
            <a:avLst/>
          </a:prstGeom>
        </p:spPr>
      </p:pic>
      <p:sp>
        <p:nvSpPr>
          <p:cNvPr id="40" name="TextBox 39"/>
          <p:cNvSpPr txBox="1"/>
          <p:nvPr/>
        </p:nvSpPr>
        <p:spPr>
          <a:xfrm>
            <a:off x="8888056" y="227647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1" name="TextBox 40"/>
          <p:cNvSpPr txBox="1"/>
          <p:nvPr/>
        </p:nvSpPr>
        <p:spPr>
          <a:xfrm>
            <a:off x="7829550" y="2504313"/>
            <a:ext cx="3611636" cy="194310"/>
          </a:xfrm>
          <a:prstGeom prst="rect">
            <a:avLst/>
          </a:prstGeom>
          <a:noFill/>
        </p:spPr>
        <p:txBody>
          <a:bodyPr wrap="none" lIns="0" rIns="0" tIns="0" bIns="0">
            <a:spAutoFit/>
          </a:bodyPr>
          <a:lstStyle/>
          <a:p>
            <a:r>
              <a:rPr sz="1150" b="0">
                <a:solidFill>
                  <a:srgbClr val="2E2E2E"/>
                </a:solidFill>
                <a:latin typeface="Calibri"/>
              </a:rPr>
              <a:t>The single-component coatings segment is expected to lose</a:t>
            </a:r>
          </a:p>
        </p:txBody>
      </p:sp>
      <p:pic>
        <p:nvPicPr>
          <p:cNvPr id="42" name="Picture 41" descr="lock.png"/>
          <p:cNvPicPr>
            <a:picLocks noChangeAspect="1"/>
          </p:cNvPicPr>
          <p:nvPr/>
        </p:nvPicPr>
        <p:blipFill>
          <a:blip r:embed="rId5"/>
          <a:stretch>
            <a:fillRect/>
          </a:stretch>
        </p:blipFill>
        <p:spPr>
          <a:xfrm>
            <a:off x="11390340" y="2494089"/>
            <a:ext cx="134549" cy="195707"/>
          </a:xfrm>
          <a:prstGeom prst="rect">
            <a:avLst/>
          </a:prstGeom>
        </p:spPr>
      </p:pic>
      <p:sp>
        <p:nvSpPr>
          <p:cNvPr id="43" name="TextBox 42"/>
          <p:cNvSpPr txBox="1"/>
          <p:nvPr/>
        </p:nvSpPr>
        <p:spPr>
          <a:xfrm>
            <a:off x="7829550" y="267957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44" name="Picture 43" descr="lock.png"/>
          <p:cNvPicPr>
            <a:picLocks noChangeAspect="1"/>
          </p:cNvPicPr>
          <p:nvPr/>
        </p:nvPicPr>
        <p:blipFill>
          <a:blip r:embed="rId5"/>
          <a:stretch>
            <a:fillRect/>
          </a:stretch>
        </p:blipFill>
        <p:spPr>
          <a:xfrm>
            <a:off x="10417054" y="2669349"/>
            <a:ext cx="134549" cy="195707"/>
          </a:xfrm>
          <a:prstGeom prst="rect">
            <a:avLst/>
          </a:prstGeom>
        </p:spPr>
      </p:pic>
      <p:sp>
        <p:nvSpPr>
          <p:cNvPr id="45" name="TextBox 44"/>
          <p:cNvSpPr txBox="1"/>
          <p:nvPr/>
        </p:nvSpPr>
        <p:spPr>
          <a:xfrm>
            <a:off x="10592163"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6"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Technology</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Technology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Technology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4 sub-segments of Technology,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Technology segment categorizes the market by technology.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Solvent-Based Coatings</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Water-Based Coatings</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UV-Curable and Other Specialty Co…</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Reactive / 100% Solids Coatings</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9" name="Rectangle 48"/>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1" name="Rounded Rectangle 5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3" name="Rectangle 52"/>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5" name="Rounded Rectangle 5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7" name="Rectangle 56"/>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Technology split shows how demand is distributed across technology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9" name="Rectangle 5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1" name="TextBox 6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3_789_605E5C.png"/>
          <p:cNvPicPr>
            <a:picLocks noChangeAspect="1"/>
          </p:cNvPicPr>
          <p:nvPr/>
        </p:nvPicPr>
        <p:blipFill>
          <a:blip r:embed="rId4"/>
          <a:stretch>
            <a:fillRect/>
          </a:stretch>
        </p:blipFill>
        <p:spPr>
          <a:xfrm>
            <a:off x="2476330" y="2286582"/>
            <a:ext cx="1195728" cy="361950"/>
          </a:xfrm>
          <a:prstGeom prst="rect">
            <a:avLst/>
          </a:prstGeom>
        </p:spPr>
      </p:pic>
      <p:pic>
        <p:nvPicPr>
          <p:cNvPr id="64" name="Picture 63" descr="4_820_605E5C.png"/>
          <p:cNvPicPr>
            <a:picLocks noChangeAspect="1"/>
          </p:cNvPicPr>
          <p:nvPr/>
        </p:nvPicPr>
        <p:blipFill>
          <a:blip r:embed="rId5"/>
          <a:stretch>
            <a:fillRect/>
          </a:stretch>
        </p:blipFill>
        <p:spPr>
          <a:xfrm>
            <a:off x="2476330" y="2779432"/>
            <a:ext cx="1195728" cy="361950"/>
          </a:xfrm>
          <a:prstGeom prst="rect">
            <a:avLst/>
          </a:prstGeom>
        </p:spPr>
      </p:pic>
      <p:pic>
        <p:nvPicPr>
          <p:cNvPr id="65" name="Picture 64" descr="2_4__605E5C.png"/>
          <p:cNvPicPr>
            <a:picLocks noChangeAspect="1"/>
          </p:cNvPicPr>
          <p:nvPr/>
        </p:nvPicPr>
        <p:blipFill>
          <a:blip r:embed="rId6"/>
          <a:stretch>
            <a:fillRect/>
          </a:stretch>
        </p:blipFill>
        <p:spPr>
          <a:xfrm>
            <a:off x="2582976" y="3272281"/>
            <a:ext cx="982436" cy="361950"/>
          </a:xfrm>
          <a:prstGeom prst="rect">
            <a:avLst/>
          </a:prstGeom>
        </p:spPr>
      </p:pic>
      <p:pic>
        <p:nvPicPr>
          <p:cNvPr id="66" name="Picture 65" descr="2_900_605E5C.png"/>
          <p:cNvPicPr>
            <a:picLocks noChangeAspect="1"/>
          </p:cNvPicPr>
          <p:nvPr/>
        </p:nvPicPr>
        <p:blipFill>
          <a:blip r:embed="rId7"/>
          <a:stretch>
            <a:fillRect/>
          </a:stretch>
        </p:blipFill>
        <p:spPr>
          <a:xfrm>
            <a:off x="5005218" y="2286582"/>
            <a:ext cx="1195728" cy="361950"/>
          </a:xfrm>
          <a:prstGeom prst="rect">
            <a:avLst/>
          </a:prstGeom>
        </p:spPr>
      </p:pic>
      <p:pic>
        <p:nvPicPr>
          <p:cNvPr id="67" name="Picture 66" descr="5_317_605E5C.png"/>
          <p:cNvPicPr>
            <a:picLocks noChangeAspect="1"/>
          </p:cNvPicPr>
          <p:nvPr/>
        </p:nvPicPr>
        <p:blipFill>
          <a:blip r:embed="rId8"/>
          <a:stretch>
            <a:fillRect/>
          </a:stretch>
        </p:blipFill>
        <p:spPr>
          <a:xfrm>
            <a:off x="5005218" y="2779432"/>
            <a:ext cx="1195728" cy="361950"/>
          </a:xfrm>
          <a:prstGeom prst="rect">
            <a:avLst/>
          </a:prstGeom>
        </p:spPr>
      </p:pic>
      <p:pic>
        <p:nvPicPr>
          <p:cNvPr id="68" name="Picture 67" descr="6_2__605E5C.png"/>
          <p:cNvPicPr>
            <a:picLocks noChangeAspect="1"/>
          </p:cNvPicPr>
          <p:nvPr/>
        </p:nvPicPr>
        <p:blipFill>
          <a:blip r:embed="rId9"/>
          <a:stretch>
            <a:fillRect/>
          </a:stretch>
        </p:blipFill>
        <p:spPr>
          <a:xfrm>
            <a:off x="5111864" y="3272281"/>
            <a:ext cx="982436" cy="361950"/>
          </a:xfrm>
          <a:prstGeom prst="rect">
            <a:avLst/>
          </a:prstGeom>
        </p:spPr>
      </p:pic>
      <p:pic>
        <p:nvPicPr>
          <p:cNvPr id="69" name="Picture 68" descr="2_808_605E5C.png"/>
          <p:cNvPicPr>
            <a:picLocks noChangeAspect="1"/>
          </p:cNvPicPr>
          <p:nvPr/>
        </p:nvPicPr>
        <p:blipFill>
          <a:blip r:embed="rId10"/>
          <a:stretch>
            <a:fillRect/>
          </a:stretch>
        </p:blipFill>
        <p:spPr>
          <a:xfrm>
            <a:off x="7534105" y="2286582"/>
            <a:ext cx="1195728" cy="361950"/>
          </a:xfrm>
          <a:prstGeom prst="rect">
            <a:avLst/>
          </a:prstGeom>
        </p:spPr>
      </p:pic>
      <p:pic>
        <p:nvPicPr>
          <p:cNvPr id="70" name="Picture 69" descr="5_152_605E5C.png"/>
          <p:cNvPicPr>
            <a:picLocks noChangeAspect="1"/>
          </p:cNvPicPr>
          <p:nvPr/>
        </p:nvPicPr>
        <p:blipFill>
          <a:blip r:embed="rId11"/>
          <a:stretch>
            <a:fillRect/>
          </a:stretch>
        </p:blipFill>
        <p:spPr>
          <a:xfrm>
            <a:off x="7534105" y="2779432"/>
            <a:ext cx="1195728" cy="361950"/>
          </a:xfrm>
          <a:prstGeom prst="rect">
            <a:avLst/>
          </a:prstGeom>
        </p:spPr>
      </p:pic>
      <p:pic>
        <p:nvPicPr>
          <p:cNvPr id="71" name="Picture 70" descr="6_3__605E5C.png"/>
          <p:cNvPicPr>
            <a:picLocks noChangeAspect="1"/>
          </p:cNvPicPr>
          <p:nvPr/>
        </p:nvPicPr>
        <p:blipFill>
          <a:blip r:embed="rId12"/>
          <a:stretch>
            <a:fillRect/>
          </a:stretch>
        </p:blipFill>
        <p:spPr>
          <a:xfrm>
            <a:off x="7640751" y="3272281"/>
            <a:ext cx="982436" cy="361950"/>
          </a:xfrm>
          <a:prstGeom prst="rect">
            <a:avLst/>
          </a:prstGeom>
        </p:spPr>
      </p:pic>
      <p:pic>
        <p:nvPicPr>
          <p:cNvPr id="72" name="Picture 71" descr="1_402_605E5C.png"/>
          <p:cNvPicPr>
            <a:picLocks noChangeAspect="1"/>
          </p:cNvPicPr>
          <p:nvPr/>
        </p:nvPicPr>
        <p:blipFill>
          <a:blip r:embed="rId13"/>
          <a:stretch>
            <a:fillRect/>
          </a:stretch>
        </p:blipFill>
        <p:spPr>
          <a:xfrm>
            <a:off x="10062992" y="2286582"/>
            <a:ext cx="1195728" cy="361950"/>
          </a:xfrm>
          <a:prstGeom prst="rect">
            <a:avLst/>
          </a:prstGeom>
        </p:spPr>
      </p:pic>
      <p:pic>
        <p:nvPicPr>
          <p:cNvPr id="73" name="Picture 72" descr="2_456_605E5C.png"/>
          <p:cNvPicPr>
            <a:picLocks noChangeAspect="1"/>
          </p:cNvPicPr>
          <p:nvPr/>
        </p:nvPicPr>
        <p:blipFill>
          <a:blip r:embed="rId14"/>
          <a:stretch>
            <a:fillRect/>
          </a:stretch>
        </p:blipFill>
        <p:spPr>
          <a:xfrm>
            <a:off x="10062992" y="2779432"/>
            <a:ext cx="1195728" cy="361950"/>
          </a:xfrm>
          <a:prstGeom prst="rect">
            <a:avLst/>
          </a:prstGeom>
        </p:spPr>
      </p:pic>
      <p:pic>
        <p:nvPicPr>
          <p:cNvPr id="74" name="Picture 73" descr="5_8__605E5C.png"/>
          <p:cNvPicPr>
            <a:picLocks noChangeAspect="1"/>
          </p:cNvPicPr>
          <p:nvPr/>
        </p:nvPicPr>
        <p:blipFill>
          <a:blip r:embed="rId15"/>
          <a:stretch>
            <a:fillRect/>
          </a:stretch>
        </p:blipFill>
        <p:spPr>
          <a:xfrm>
            <a:off x="10169638" y="3272281"/>
            <a:ext cx="982436" cy="361950"/>
          </a:xfrm>
          <a:prstGeom prst="rect">
            <a:avLst/>
          </a:prstGeom>
        </p:spPr>
      </p:pic>
      <p:pic>
        <p:nvPicPr>
          <p:cNvPr id="75" name="Picture 74" descr="lock.png"/>
          <p:cNvPicPr>
            <a:picLocks noChangeAspect="1"/>
          </p:cNvPicPr>
          <p:nvPr/>
        </p:nvPicPr>
        <p:blipFill>
          <a:blip r:embed="rId16"/>
          <a:stretch>
            <a:fillRect/>
          </a:stretch>
        </p:blipFill>
        <p:spPr>
          <a:xfrm>
            <a:off x="2980848"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5509737" y="2827057"/>
            <a:ext cx="183356" cy="266700"/>
          </a:xfrm>
          <a:prstGeom prst="rect">
            <a:avLst/>
          </a:prstGeom>
        </p:spPr>
      </p:pic>
      <p:pic>
        <p:nvPicPr>
          <p:cNvPr id="77" name="Picture 76" descr="lock.png"/>
          <p:cNvPicPr>
            <a:picLocks noChangeAspect="1"/>
          </p:cNvPicPr>
          <p:nvPr/>
        </p:nvPicPr>
        <p:blipFill>
          <a:blip r:embed="rId16"/>
          <a:stretch>
            <a:fillRect/>
          </a:stretch>
        </p:blipFill>
        <p:spPr>
          <a:xfrm>
            <a:off x="8038624" y="2827057"/>
            <a:ext cx="183356" cy="266700"/>
          </a:xfrm>
          <a:prstGeom prst="rect">
            <a:avLst/>
          </a:prstGeom>
        </p:spPr>
      </p:pic>
      <p:pic>
        <p:nvPicPr>
          <p:cNvPr id="78" name="Picture 77" descr="lock.png"/>
          <p:cNvPicPr>
            <a:picLocks noChangeAspect="1"/>
          </p:cNvPicPr>
          <p:nvPr/>
        </p:nvPicPr>
        <p:blipFill>
          <a:blip r:embed="rId16"/>
          <a:stretch>
            <a:fillRect/>
          </a:stretch>
        </p:blipFill>
        <p:spPr>
          <a:xfrm>
            <a:off x="10567511" y="2827057"/>
            <a:ext cx="183356" cy="266700"/>
          </a:xfrm>
          <a:prstGeom prst="rect">
            <a:avLst/>
          </a:prstGeom>
        </p:spPr>
      </p:pic>
      <p:sp>
        <p:nvSpPr>
          <p:cNvPr id="79" name="TextBox 78"/>
          <p:cNvSpPr txBox="1"/>
          <p:nvPr/>
        </p:nvSpPr>
        <p:spPr>
          <a:xfrm>
            <a:off x="485775" y="4229437"/>
            <a:ext cx="2527498" cy="186689"/>
          </a:xfrm>
          <a:prstGeom prst="rect">
            <a:avLst/>
          </a:prstGeom>
          <a:noFill/>
        </p:spPr>
        <p:txBody>
          <a:bodyPr wrap="none" lIns="0" rIns="0" tIns="0" bIns="0">
            <a:spAutoFit/>
          </a:bodyPr>
          <a:lstStyle/>
          <a:p>
            <a:r>
              <a:rPr sz="1100" b="0">
                <a:solidFill>
                  <a:srgbClr val="2E2E2E"/>
                </a:solidFill>
                <a:latin typeface="Calibri"/>
              </a:rPr>
              <a:t>Among waterproof coatings by technology,</a:t>
            </a:r>
          </a:p>
        </p:txBody>
      </p:sp>
      <p:sp>
        <p:nvSpPr>
          <p:cNvPr id="80" name="TextBox 79"/>
          <p:cNvSpPr txBox="1"/>
          <p:nvPr/>
        </p:nvSpPr>
        <p:spPr>
          <a:xfrm>
            <a:off x="485775" y="4397077"/>
            <a:ext cx="2914650" cy="186689"/>
          </a:xfrm>
          <a:prstGeom prst="rect">
            <a:avLst/>
          </a:prstGeom>
          <a:noFill/>
        </p:spPr>
        <p:txBody>
          <a:bodyPr wrap="none" lIns="0" rIns="0" tIns="0" bIns="0">
            <a:spAutoFit/>
          </a:bodyPr>
          <a:lstStyle/>
          <a:p>
            <a:r>
              <a:rPr sz="1100" b="0">
                <a:solidFill>
                  <a:srgbClr val="2E2E2E"/>
                </a:solidFill>
                <a:latin typeface="Calibri"/>
              </a:rPr>
              <a:t>uv-curable and other specialty coatings segment is</a:t>
            </a:r>
          </a:p>
        </p:txBody>
      </p:sp>
      <p:sp>
        <p:nvSpPr>
          <p:cNvPr id="81" name="TextBox 80"/>
          <p:cNvSpPr txBox="1"/>
          <p:nvPr/>
        </p:nvSpPr>
        <p:spPr>
          <a:xfrm>
            <a:off x="485775" y="456471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82" name="Picture 81" descr="lock.png"/>
          <p:cNvPicPr>
            <a:picLocks noChangeAspect="1"/>
          </p:cNvPicPr>
          <p:nvPr/>
        </p:nvPicPr>
        <p:blipFill>
          <a:blip r:embed="rId16"/>
          <a:stretch>
            <a:fillRect/>
          </a:stretch>
        </p:blipFill>
        <p:spPr>
          <a:xfrm>
            <a:off x="2815059" y="4554938"/>
            <a:ext cx="128699" cy="187198"/>
          </a:xfrm>
          <a:prstGeom prst="rect">
            <a:avLst/>
          </a:prstGeom>
        </p:spPr>
      </p:pic>
      <p:sp>
        <p:nvSpPr>
          <p:cNvPr id="83" name="TextBox 82"/>
          <p:cNvSpPr txBox="1"/>
          <p:nvPr/>
        </p:nvSpPr>
        <p:spPr>
          <a:xfrm>
            <a:off x="2982555" y="456471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84" name="TextBox 83"/>
          <p:cNvSpPr txBox="1"/>
          <p:nvPr/>
        </p:nvSpPr>
        <p:spPr>
          <a:xfrm>
            <a:off x="485775" y="4732357"/>
            <a:ext cx="2699122" cy="186689"/>
          </a:xfrm>
          <a:prstGeom prst="rect">
            <a:avLst/>
          </a:prstGeom>
          <a:noFill/>
        </p:spPr>
        <p:txBody>
          <a:bodyPr wrap="none" lIns="0" rIns="0" tIns="0" bIns="0">
            <a:spAutoFit/>
          </a:bodyPr>
          <a:lstStyle/>
          <a:p>
            <a:r>
              <a:rPr sz="1100" b="0">
                <a:solidFill>
                  <a:srgbClr val="2E2E2E"/>
                </a:solidFill>
                <a:latin typeface="Calibri"/>
              </a:rPr>
              <a:t>the forecast period. In terms of value share by</a:t>
            </a:r>
          </a:p>
        </p:txBody>
      </p:sp>
      <p:sp>
        <p:nvSpPr>
          <p:cNvPr id="85" name="TextBox 84"/>
          <p:cNvSpPr txBox="1"/>
          <p:nvPr/>
        </p:nvSpPr>
        <p:spPr>
          <a:xfrm>
            <a:off x="485775" y="4899997"/>
            <a:ext cx="2853828" cy="186689"/>
          </a:xfrm>
          <a:prstGeom prst="rect">
            <a:avLst/>
          </a:prstGeom>
          <a:noFill/>
        </p:spPr>
        <p:txBody>
          <a:bodyPr wrap="none" lIns="0" rIns="0" tIns="0" bIns="0">
            <a:spAutoFit/>
          </a:bodyPr>
          <a:lstStyle/>
          <a:p>
            <a:r>
              <a:rPr sz="1100" b="0">
                <a:solidFill>
                  <a:srgbClr val="2E2E2E"/>
                </a:solidFill>
                <a:latin typeface="Calibri"/>
              </a:rPr>
              <a:t>technology, the water-based coatings segment is</a:t>
            </a:r>
          </a:p>
        </p:txBody>
      </p:sp>
      <p:sp>
        <p:nvSpPr>
          <p:cNvPr id="86" name="TextBox 85"/>
          <p:cNvSpPr txBox="1"/>
          <p:nvPr/>
        </p:nvSpPr>
        <p:spPr>
          <a:xfrm>
            <a:off x="485775" y="5067637"/>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87" name="Picture 86" descr="lock.png"/>
          <p:cNvPicPr>
            <a:picLocks noChangeAspect="1"/>
          </p:cNvPicPr>
          <p:nvPr/>
        </p:nvPicPr>
        <p:blipFill>
          <a:blip r:embed="rId16"/>
          <a:stretch>
            <a:fillRect/>
          </a:stretch>
        </p:blipFill>
        <p:spPr>
          <a:xfrm>
            <a:off x="2900479" y="5057858"/>
            <a:ext cx="128699" cy="187198"/>
          </a:xfrm>
          <a:prstGeom prst="rect">
            <a:avLst/>
          </a:prstGeom>
        </p:spPr>
      </p:pic>
      <p:sp>
        <p:nvSpPr>
          <p:cNvPr id="88" name="TextBox 87"/>
          <p:cNvSpPr txBox="1"/>
          <p:nvPr/>
        </p:nvSpPr>
        <p:spPr>
          <a:xfrm>
            <a:off x="3067974" y="506763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89" name="TextBox 88"/>
          <p:cNvSpPr txBox="1"/>
          <p:nvPr/>
        </p:nvSpPr>
        <p:spPr>
          <a:xfrm>
            <a:off x="485775" y="523527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90" name="Picture 89" descr="lock.png"/>
          <p:cNvPicPr>
            <a:picLocks noChangeAspect="1"/>
          </p:cNvPicPr>
          <p:nvPr/>
        </p:nvPicPr>
        <p:blipFill>
          <a:blip r:embed="rId16"/>
          <a:stretch>
            <a:fillRect/>
          </a:stretch>
        </p:blipFill>
        <p:spPr>
          <a:xfrm>
            <a:off x="1576057" y="5225498"/>
            <a:ext cx="128699" cy="187198"/>
          </a:xfrm>
          <a:prstGeom prst="rect">
            <a:avLst/>
          </a:prstGeom>
        </p:spPr>
      </p:pic>
      <p:sp>
        <p:nvSpPr>
          <p:cNvPr id="91" name="TextBox 90"/>
          <p:cNvSpPr txBox="1"/>
          <p:nvPr/>
        </p:nvSpPr>
        <p:spPr>
          <a:xfrm>
            <a:off x="1743553"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92" name="TextBox 91"/>
          <p:cNvSpPr txBox="1"/>
          <p:nvPr/>
        </p:nvSpPr>
        <p:spPr>
          <a:xfrm>
            <a:off x="485775" y="5453209"/>
            <a:ext cx="2691209" cy="186689"/>
          </a:xfrm>
          <a:prstGeom prst="rect">
            <a:avLst/>
          </a:prstGeom>
          <a:noFill/>
        </p:spPr>
        <p:txBody>
          <a:bodyPr wrap="none" lIns="0" rIns="0" tIns="0" bIns="0">
            <a:spAutoFit/>
          </a:bodyPr>
          <a:lstStyle/>
          <a:p>
            <a:r>
              <a:rPr sz="1100" b="0">
                <a:solidFill>
                  <a:srgbClr val="2E2E2E"/>
                </a:solidFill>
                <a:latin typeface="Calibri"/>
              </a:rPr>
              <a:t>Water-based coatings segment is projected to</a:t>
            </a:r>
          </a:p>
        </p:txBody>
      </p:sp>
      <p:sp>
        <p:nvSpPr>
          <p:cNvPr id="93" name="TextBox 92"/>
          <p:cNvSpPr txBox="1"/>
          <p:nvPr/>
        </p:nvSpPr>
        <p:spPr>
          <a:xfrm>
            <a:off x="485775" y="562084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94" name="Picture 93" descr="lock.png"/>
          <p:cNvPicPr>
            <a:picLocks noChangeAspect="1"/>
          </p:cNvPicPr>
          <p:nvPr/>
        </p:nvPicPr>
        <p:blipFill>
          <a:blip r:embed="rId16"/>
          <a:stretch>
            <a:fillRect/>
          </a:stretch>
        </p:blipFill>
        <p:spPr>
          <a:xfrm>
            <a:off x="946316" y="5611070"/>
            <a:ext cx="128699" cy="187198"/>
          </a:xfrm>
          <a:prstGeom prst="rect">
            <a:avLst/>
          </a:prstGeom>
        </p:spPr>
      </p:pic>
      <p:sp>
        <p:nvSpPr>
          <p:cNvPr id="95" name="TextBox 94"/>
          <p:cNvSpPr txBox="1"/>
          <p:nvPr/>
        </p:nvSpPr>
        <p:spPr>
          <a:xfrm>
            <a:off x="1113812" y="5620849"/>
            <a:ext cx="2052191" cy="186689"/>
          </a:xfrm>
          <a:prstGeom prst="rect">
            <a:avLst/>
          </a:prstGeom>
          <a:noFill/>
        </p:spPr>
        <p:txBody>
          <a:bodyPr wrap="none" lIns="0" rIns="0" tIns="0" bIns="0">
            <a:spAutoFit/>
          </a:bodyPr>
          <a:lstStyle/>
          <a:p>
            <a:r>
              <a:rPr sz="1100" b="0">
                <a:solidFill>
                  <a:srgbClr val="2E2E2E"/>
                </a:solidFill>
                <a:latin typeface="Calibri"/>
              </a:rPr>
              <a:t>X higher value than uv-curable and</a:t>
            </a:r>
          </a:p>
        </p:txBody>
      </p:sp>
      <p:sp>
        <p:nvSpPr>
          <p:cNvPr id="96" name="TextBox 95"/>
          <p:cNvSpPr txBox="1"/>
          <p:nvPr/>
        </p:nvSpPr>
        <p:spPr>
          <a:xfrm>
            <a:off x="485775" y="5788489"/>
            <a:ext cx="2433637" cy="186689"/>
          </a:xfrm>
          <a:prstGeom prst="rect">
            <a:avLst/>
          </a:prstGeom>
          <a:noFill/>
        </p:spPr>
        <p:txBody>
          <a:bodyPr wrap="none" lIns="0" rIns="0" tIns="0" bIns="0">
            <a:spAutoFit/>
          </a:bodyPr>
          <a:lstStyle/>
          <a:p>
            <a:r>
              <a:rPr sz="1100" b="0">
                <a:solidFill>
                  <a:srgbClr val="2E2E2E"/>
                </a:solidFill>
                <a:latin typeface="Calibri"/>
              </a:rPr>
              <a:t>other specialty coatings segment in 2036.</a:t>
            </a:r>
          </a:p>
        </p:txBody>
      </p:sp>
      <p:sp>
        <p:nvSpPr>
          <p:cNvPr id="97" name="TextBox 96"/>
          <p:cNvSpPr txBox="1"/>
          <p:nvPr/>
        </p:nvSpPr>
        <p:spPr>
          <a:xfrm>
            <a:off x="3838575" y="4229437"/>
            <a:ext cx="1555328" cy="186689"/>
          </a:xfrm>
          <a:prstGeom prst="rect">
            <a:avLst/>
          </a:prstGeom>
          <a:noFill/>
        </p:spPr>
        <p:txBody>
          <a:bodyPr wrap="none" lIns="0" rIns="0" tIns="0" bIns="0">
            <a:spAutoFit/>
          </a:bodyPr>
          <a:lstStyle/>
          <a:p>
            <a:r>
              <a:rPr sz="1100" b="0">
                <a:solidFill>
                  <a:srgbClr val="2E2E2E"/>
                </a:solidFill>
                <a:latin typeface="Calibri"/>
              </a:rPr>
              <a:t>● Solvent-Based Coatings:</a:t>
            </a:r>
          </a:p>
        </p:txBody>
      </p:sp>
      <p:pic>
        <p:nvPicPr>
          <p:cNvPr id="98" name="Picture 97" descr="lock.png"/>
          <p:cNvPicPr>
            <a:picLocks noChangeAspect="1"/>
          </p:cNvPicPr>
          <p:nvPr/>
        </p:nvPicPr>
        <p:blipFill>
          <a:blip r:embed="rId16"/>
          <a:stretch>
            <a:fillRect/>
          </a:stretch>
        </p:blipFill>
        <p:spPr>
          <a:xfrm>
            <a:off x="5341954" y="4219658"/>
            <a:ext cx="128699" cy="187198"/>
          </a:xfrm>
          <a:prstGeom prst="rect">
            <a:avLst/>
          </a:prstGeom>
        </p:spPr>
      </p:pic>
      <p:sp>
        <p:nvSpPr>
          <p:cNvPr id="99" name="TextBox 98"/>
          <p:cNvSpPr txBox="1"/>
          <p:nvPr/>
        </p:nvSpPr>
        <p:spPr>
          <a:xfrm>
            <a:off x="5509450"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0" name="Picture 99" descr="lock.png"/>
          <p:cNvPicPr>
            <a:picLocks noChangeAspect="1"/>
          </p:cNvPicPr>
          <p:nvPr/>
        </p:nvPicPr>
        <p:blipFill>
          <a:blip r:embed="rId16"/>
          <a:stretch>
            <a:fillRect/>
          </a:stretch>
        </p:blipFill>
        <p:spPr>
          <a:xfrm>
            <a:off x="6368900" y="4219658"/>
            <a:ext cx="128699" cy="187198"/>
          </a:xfrm>
          <a:prstGeom prst="rect">
            <a:avLst/>
          </a:prstGeom>
        </p:spPr>
      </p:pic>
      <p:sp>
        <p:nvSpPr>
          <p:cNvPr id="101" name="TextBox 100"/>
          <p:cNvSpPr txBox="1"/>
          <p:nvPr/>
        </p:nvSpPr>
        <p:spPr>
          <a:xfrm>
            <a:off x="6536396"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102" name="TextBox 101"/>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103" name="TextBox 102"/>
          <p:cNvSpPr txBox="1"/>
          <p:nvPr/>
        </p:nvSpPr>
        <p:spPr>
          <a:xfrm>
            <a:off x="3838575" y="4615009"/>
            <a:ext cx="1489025" cy="186689"/>
          </a:xfrm>
          <a:prstGeom prst="rect">
            <a:avLst/>
          </a:prstGeom>
          <a:noFill/>
        </p:spPr>
        <p:txBody>
          <a:bodyPr wrap="none" lIns="0" rIns="0" tIns="0" bIns="0">
            <a:spAutoFit/>
          </a:bodyPr>
          <a:lstStyle/>
          <a:p>
            <a:r>
              <a:rPr sz="1100" b="0">
                <a:solidFill>
                  <a:srgbClr val="2E2E2E"/>
                </a:solidFill>
                <a:latin typeface="Calibri"/>
              </a:rPr>
              <a:t>● Water-Based Coatings:</a:t>
            </a:r>
          </a:p>
        </p:txBody>
      </p:sp>
      <p:pic>
        <p:nvPicPr>
          <p:cNvPr id="104" name="Picture 103" descr="lock.png"/>
          <p:cNvPicPr>
            <a:picLocks noChangeAspect="1"/>
          </p:cNvPicPr>
          <p:nvPr/>
        </p:nvPicPr>
        <p:blipFill>
          <a:blip r:embed="rId16"/>
          <a:stretch>
            <a:fillRect/>
          </a:stretch>
        </p:blipFill>
        <p:spPr>
          <a:xfrm>
            <a:off x="5275651" y="4605230"/>
            <a:ext cx="128699" cy="187198"/>
          </a:xfrm>
          <a:prstGeom prst="rect">
            <a:avLst/>
          </a:prstGeom>
        </p:spPr>
      </p:pic>
      <p:sp>
        <p:nvSpPr>
          <p:cNvPr id="105" name="TextBox 104"/>
          <p:cNvSpPr txBox="1"/>
          <p:nvPr/>
        </p:nvSpPr>
        <p:spPr>
          <a:xfrm>
            <a:off x="5443147"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6" name="Picture 105" descr="lock.png"/>
          <p:cNvPicPr>
            <a:picLocks noChangeAspect="1"/>
          </p:cNvPicPr>
          <p:nvPr/>
        </p:nvPicPr>
        <p:blipFill>
          <a:blip r:embed="rId16"/>
          <a:stretch>
            <a:fillRect/>
          </a:stretch>
        </p:blipFill>
        <p:spPr>
          <a:xfrm>
            <a:off x="6302598" y="4605230"/>
            <a:ext cx="128699" cy="187198"/>
          </a:xfrm>
          <a:prstGeom prst="rect">
            <a:avLst/>
          </a:prstGeom>
        </p:spPr>
      </p:pic>
      <p:sp>
        <p:nvSpPr>
          <p:cNvPr id="107" name="TextBox 106"/>
          <p:cNvSpPr txBox="1"/>
          <p:nvPr/>
        </p:nvSpPr>
        <p:spPr>
          <a:xfrm>
            <a:off x="6470093" y="461500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08" name="TextBox 107"/>
          <p:cNvSpPr txBox="1"/>
          <p:nvPr/>
        </p:nvSpPr>
        <p:spPr>
          <a:xfrm>
            <a:off x="3838575" y="4832941"/>
            <a:ext cx="2547416" cy="186689"/>
          </a:xfrm>
          <a:prstGeom prst="rect">
            <a:avLst/>
          </a:prstGeom>
          <a:noFill/>
        </p:spPr>
        <p:txBody>
          <a:bodyPr wrap="none" lIns="0" rIns="0" tIns="0" bIns="0">
            <a:spAutoFit/>
          </a:bodyPr>
          <a:lstStyle/>
          <a:p>
            <a:r>
              <a:rPr sz="1100" b="0">
                <a:solidFill>
                  <a:srgbClr val="2E2E2E"/>
                </a:solidFill>
                <a:latin typeface="Calibri"/>
              </a:rPr>
              <a:t>● UV-Curable and Other Specialty Coatings:</a:t>
            </a:r>
          </a:p>
        </p:txBody>
      </p:sp>
      <p:pic>
        <p:nvPicPr>
          <p:cNvPr id="109" name="Picture 108" descr="lock.png"/>
          <p:cNvPicPr>
            <a:picLocks noChangeAspect="1"/>
          </p:cNvPicPr>
          <p:nvPr/>
        </p:nvPicPr>
        <p:blipFill>
          <a:blip r:embed="rId16"/>
          <a:stretch>
            <a:fillRect/>
          </a:stretch>
        </p:blipFill>
        <p:spPr>
          <a:xfrm>
            <a:off x="6334043" y="4823162"/>
            <a:ext cx="128699" cy="187198"/>
          </a:xfrm>
          <a:prstGeom prst="rect">
            <a:avLst/>
          </a:prstGeom>
        </p:spPr>
      </p:pic>
      <p:sp>
        <p:nvSpPr>
          <p:cNvPr id="110" name="TextBox 109"/>
          <p:cNvSpPr txBox="1"/>
          <p:nvPr/>
        </p:nvSpPr>
        <p:spPr>
          <a:xfrm>
            <a:off x="6501539" y="483294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1" name="Picture 110" descr="lock.png"/>
          <p:cNvPicPr>
            <a:picLocks noChangeAspect="1"/>
          </p:cNvPicPr>
          <p:nvPr/>
        </p:nvPicPr>
        <p:blipFill>
          <a:blip r:embed="rId16"/>
          <a:stretch>
            <a:fillRect/>
          </a:stretch>
        </p:blipFill>
        <p:spPr>
          <a:xfrm>
            <a:off x="7360989" y="4823162"/>
            <a:ext cx="128699" cy="187198"/>
          </a:xfrm>
          <a:prstGeom prst="rect">
            <a:avLst/>
          </a:prstGeom>
        </p:spPr>
      </p:pic>
      <p:sp>
        <p:nvSpPr>
          <p:cNvPr id="112" name="TextBox 111"/>
          <p:cNvSpPr txBox="1"/>
          <p:nvPr/>
        </p:nvSpPr>
        <p:spPr>
          <a:xfrm>
            <a:off x="3838575" y="500058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13" name="TextBox 112"/>
          <p:cNvSpPr txBox="1"/>
          <p:nvPr/>
        </p:nvSpPr>
        <p:spPr>
          <a:xfrm>
            <a:off x="3838575" y="5218513"/>
            <a:ext cx="2024087" cy="186689"/>
          </a:xfrm>
          <a:prstGeom prst="rect">
            <a:avLst/>
          </a:prstGeom>
          <a:noFill/>
        </p:spPr>
        <p:txBody>
          <a:bodyPr wrap="none" lIns="0" rIns="0" tIns="0" bIns="0">
            <a:spAutoFit/>
          </a:bodyPr>
          <a:lstStyle/>
          <a:p>
            <a:r>
              <a:rPr sz="1100" b="0">
                <a:solidFill>
                  <a:srgbClr val="2E2E2E"/>
                </a:solidFill>
                <a:latin typeface="Calibri"/>
              </a:rPr>
              <a:t>● Reactive / 100% Solids Coatings:</a:t>
            </a:r>
          </a:p>
        </p:txBody>
      </p:sp>
      <p:pic>
        <p:nvPicPr>
          <p:cNvPr id="114" name="Picture 113" descr="lock.png"/>
          <p:cNvPicPr>
            <a:picLocks noChangeAspect="1"/>
          </p:cNvPicPr>
          <p:nvPr/>
        </p:nvPicPr>
        <p:blipFill>
          <a:blip r:embed="rId16"/>
          <a:stretch>
            <a:fillRect/>
          </a:stretch>
        </p:blipFill>
        <p:spPr>
          <a:xfrm>
            <a:off x="5810713" y="5208733"/>
            <a:ext cx="128699" cy="187198"/>
          </a:xfrm>
          <a:prstGeom prst="rect">
            <a:avLst/>
          </a:prstGeom>
        </p:spPr>
      </p:pic>
      <p:sp>
        <p:nvSpPr>
          <p:cNvPr id="115" name="TextBox 114"/>
          <p:cNvSpPr txBox="1"/>
          <p:nvPr/>
        </p:nvSpPr>
        <p:spPr>
          <a:xfrm>
            <a:off x="5978209" y="521851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6" name="Picture 115" descr="lock.png"/>
          <p:cNvPicPr>
            <a:picLocks noChangeAspect="1"/>
          </p:cNvPicPr>
          <p:nvPr/>
        </p:nvPicPr>
        <p:blipFill>
          <a:blip r:embed="rId16"/>
          <a:stretch>
            <a:fillRect/>
          </a:stretch>
        </p:blipFill>
        <p:spPr>
          <a:xfrm>
            <a:off x="6837659" y="5208733"/>
            <a:ext cx="128699" cy="187198"/>
          </a:xfrm>
          <a:prstGeom prst="rect">
            <a:avLst/>
          </a:prstGeom>
        </p:spPr>
      </p:pic>
      <p:sp>
        <p:nvSpPr>
          <p:cNvPr id="117" name="TextBox 116"/>
          <p:cNvSpPr txBox="1"/>
          <p:nvPr/>
        </p:nvSpPr>
        <p:spPr>
          <a:xfrm>
            <a:off x="7005155" y="5218513"/>
            <a:ext cx="787234" cy="186689"/>
          </a:xfrm>
          <a:prstGeom prst="rect">
            <a:avLst/>
          </a:prstGeom>
          <a:noFill/>
        </p:spPr>
        <p:txBody>
          <a:bodyPr wrap="none" lIns="0" rIns="0" tIns="0" bIns="0">
            <a:spAutoFit/>
          </a:bodyPr>
          <a:lstStyle/>
          <a:p>
            <a:r>
              <a:rPr sz="1100" b="0">
                <a:solidFill>
                  <a:srgbClr val="2E2E2E"/>
                </a:solidFill>
                <a:latin typeface="Calibri"/>
              </a:rPr>
              <a:t>CAGR serves</a:t>
            </a:r>
          </a:p>
        </p:txBody>
      </p:sp>
      <p:sp>
        <p:nvSpPr>
          <p:cNvPr id="118" name="TextBox 117"/>
          <p:cNvSpPr txBox="1"/>
          <p:nvPr/>
        </p:nvSpPr>
        <p:spPr>
          <a:xfrm>
            <a:off x="3838575" y="5386153"/>
            <a:ext cx="517673" cy="186689"/>
          </a:xfrm>
          <a:prstGeom prst="rect">
            <a:avLst/>
          </a:prstGeom>
          <a:noFill/>
        </p:spPr>
        <p:txBody>
          <a:bodyPr wrap="none" lIns="0" rIns="0" tIns="0" bIns="0">
            <a:spAutoFit/>
          </a:bodyPr>
          <a:lstStyle/>
          <a:p>
            <a:r>
              <a:rPr sz="1100" b="0">
                <a:solidFill>
                  <a:srgbClr val="2E2E2E"/>
                </a:solidFill>
                <a:latin typeface="Calibri"/>
              </a:rPr>
              <a:t>a niche.</a:t>
            </a:r>
          </a:p>
        </p:txBody>
      </p:sp>
      <p:sp>
        <p:nvSpPr>
          <p:cNvPr id="119" name="TextBox 118"/>
          <p:cNvSpPr txBox="1"/>
          <p:nvPr/>
        </p:nvSpPr>
        <p:spPr>
          <a:xfrm>
            <a:off x="8524875" y="5842641"/>
            <a:ext cx="3094471" cy="194310"/>
          </a:xfrm>
          <a:prstGeom prst="rect">
            <a:avLst/>
          </a:prstGeom>
          <a:noFill/>
        </p:spPr>
        <p:txBody>
          <a:bodyPr wrap="none" lIns="0" rIns="0" tIns="0" bIns="0">
            <a:spAutoFit/>
          </a:bodyPr>
          <a:lstStyle/>
          <a:p>
            <a:r>
              <a:rPr sz="1150" b="1">
                <a:solidFill>
                  <a:srgbClr val="0B2E4A"/>
                </a:solidFill>
                <a:latin typeface="Calibri"/>
              </a:rPr>
              <a:t>The Technology segment is projected to grow at a</a:t>
            </a:r>
          </a:p>
        </p:txBody>
      </p:sp>
      <p:sp>
        <p:nvSpPr>
          <p:cNvPr id="120" name="TextBox 119"/>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21" name="Picture 120" descr="lock.png"/>
          <p:cNvPicPr>
            <a:picLocks noChangeAspect="1"/>
          </p:cNvPicPr>
          <p:nvPr/>
        </p:nvPicPr>
        <p:blipFill>
          <a:blip r:embed="rId16"/>
          <a:stretch>
            <a:fillRect/>
          </a:stretch>
        </p:blipFill>
        <p:spPr>
          <a:xfrm>
            <a:off x="9048826" y="6007677"/>
            <a:ext cx="134549" cy="195707"/>
          </a:xfrm>
          <a:prstGeom prst="rect">
            <a:avLst/>
          </a:prstGeom>
        </p:spPr>
      </p:pic>
      <p:sp>
        <p:nvSpPr>
          <p:cNvPr id="122" name="TextBox 121"/>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Technology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Technology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Technology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Technology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607179" cy="186689"/>
          </a:xfrm>
          <a:prstGeom prst="rect">
            <a:avLst/>
          </a:prstGeom>
          <a:noFill/>
        </p:spPr>
        <p:txBody>
          <a:bodyPr wrap="none" lIns="0" rIns="0" tIns="0" bIns="0">
            <a:spAutoFit/>
          </a:bodyPr>
          <a:lstStyle/>
          <a:p>
            <a:r>
              <a:rPr sz="1100" b="0">
                <a:solidFill>
                  <a:srgbClr val="2E2E2E"/>
                </a:solidFill>
                <a:latin typeface="Calibri"/>
              </a:rPr>
              <a:t>Water-based coatings followed by uv-curable and other specialty coatings are expected to be the two most attractive technology segments in the global waterproof coatings market in terms of value over</a:t>
            </a:r>
          </a:p>
        </p:txBody>
      </p:sp>
      <p:sp>
        <p:nvSpPr>
          <p:cNvPr id="20" name="TextBox 19"/>
          <p:cNvSpPr txBox="1"/>
          <p:nvPr/>
        </p:nvSpPr>
        <p:spPr>
          <a:xfrm>
            <a:off x="257175" y="5861685"/>
            <a:ext cx="6382873" cy="186689"/>
          </a:xfrm>
          <a:prstGeom prst="rect">
            <a:avLst/>
          </a:prstGeom>
          <a:noFill/>
        </p:spPr>
        <p:txBody>
          <a:bodyPr wrap="none" lIns="0" rIns="0" tIns="0" bIns="0">
            <a:spAutoFit/>
          </a:bodyPr>
          <a:lstStyle/>
          <a:p>
            <a:r>
              <a:rPr sz="1100" b="0">
                <a:solidFill>
                  <a:srgbClr val="2E2E2E"/>
                </a:solidFill>
                <a:latin typeface="Calibri"/>
              </a:rPr>
              <a:t>the forecast period. Water-Based coatings and UV-Curable and other specialty coatings exhibit a CAGR index of</a:t>
            </a:r>
          </a:p>
        </p:txBody>
      </p:sp>
      <p:pic>
        <p:nvPicPr>
          <p:cNvPr id="21" name="Picture 20" descr="lock.png"/>
          <p:cNvPicPr>
            <a:picLocks noChangeAspect="1"/>
          </p:cNvPicPr>
          <p:nvPr/>
        </p:nvPicPr>
        <p:blipFill>
          <a:blip r:embed="rId6"/>
          <a:stretch>
            <a:fillRect/>
          </a:stretch>
        </p:blipFill>
        <p:spPr>
          <a:xfrm>
            <a:off x="6588100" y="5851905"/>
            <a:ext cx="128699" cy="187198"/>
          </a:xfrm>
          <a:prstGeom prst="rect">
            <a:avLst/>
          </a:prstGeom>
        </p:spPr>
      </p:pic>
      <p:sp>
        <p:nvSpPr>
          <p:cNvPr id="22" name="TextBox 21"/>
          <p:cNvSpPr txBox="1"/>
          <p:nvPr/>
        </p:nvSpPr>
        <p:spPr>
          <a:xfrm>
            <a:off x="6755596"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6993490" y="5851905"/>
            <a:ext cx="128699" cy="187198"/>
          </a:xfrm>
          <a:prstGeom prst="rect">
            <a:avLst/>
          </a:prstGeom>
        </p:spPr>
      </p:pic>
      <p:sp>
        <p:nvSpPr>
          <p:cNvPr id="24" name="TextBox 23"/>
          <p:cNvSpPr txBox="1"/>
          <p:nvPr/>
        </p:nvSpPr>
        <p:spPr>
          <a:xfrm>
            <a:off x="7160986"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8769960" y="5851905"/>
            <a:ext cx="128699" cy="187198"/>
          </a:xfrm>
          <a:prstGeom prst="rect">
            <a:avLst/>
          </a:prstGeom>
        </p:spPr>
      </p:pic>
      <p:sp>
        <p:nvSpPr>
          <p:cNvPr id="26" name="TextBox 25"/>
          <p:cNvSpPr txBox="1"/>
          <p:nvPr/>
        </p:nvSpPr>
        <p:spPr>
          <a:xfrm>
            <a:off x="8937455"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9175350" y="5851905"/>
            <a:ext cx="128699" cy="187198"/>
          </a:xfrm>
          <a:prstGeom prst="rect">
            <a:avLst/>
          </a:prstGeom>
        </p:spPr>
      </p:pic>
      <p:sp>
        <p:nvSpPr>
          <p:cNvPr id="28" name="TextBox 27"/>
          <p:cNvSpPr txBox="1"/>
          <p:nvPr/>
        </p:nvSpPr>
        <p:spPr>
          <a:xfrm>
            <a:off x="9342846" y="5861685"/>
            <a:ext cx="1976338" cy="186689"/>
          </a:xfrm>
          <a:prstGeom prst="rect">
            <a:avLst/>
          </a:prstGeom>
          <a:noFill/>
        </p:spPr>
        <p:txBody>
          <a:bodyPr wrap="none" lIns="0" rIns="0" tIns="0" bIns="0">
            <a:spAutoFit/>
          </a:bodyPr>
          <a:lstStyle/>
          <a:p>
            <a:r>
              <a:rPr sz="1100" b="0">
                <a:solidFill>
                  <a:srgbClr val="2E2E2E"/>
                </a:solidFill>
                <a:latin typeface="Calibri"/>
              </a:rPr>
              <a:t>respectively, against the segment</a:t>
            </a:r>
          </a:p>
        </p:txBody>
      </p:sp>
      <p:sp>
        <p:nvSpPr>
          <p:cNvPr id="29" name="TextBox 28"/>
          <p:cNvSpPr txBox="1"/>
          <p:nvPr/>
        </p:nvSpPr>
        <p:spPr>
          <a:xfrm>
            <a:off x="257175" y="6029325"/>
            <a:ext cx="674563" cy="186689"/>
          </a:xfrm>
          <a:prstGeom prst="rect">
            <a:avLst/>
          </a:prstGeom>
          <a:noFill/>
        </p:spPr>
        <p:txBody>
          <a:bodyPr wrap="none" lIns="0" rIns="0" tIns="0" bIns="0">
            <a:spAutoFit/>
          </a:bodyPr>
          <a:lstStyle/>
          <a:p>
            <a:r>
              <a:rPr sz="1100" b="0">
                <a:solidFill>
                  <a:srgbClr val="2E2E2E"/>
                </a:solidFill>
                <a:latin typeface="Calibri"/>
              </a:rPr>
              <a:t>average of</a:t>
            </a:r>
          </a:p>
        </p:txBody>
      </p:sp>
      <p:pic>
        <p:nvPicPr>
          <p:cNvPr id="30" name="Picture 29" descr="lock.png"/>
          <p:cNvPicPr>
            <a:picLocks noChangeAspect="1"/>
          </p:cNvPicPr>
          <p:nvPr/>
        </p:nvPicPr>
        <p:blipFill>
          <a:blip r:embed="rId6"/>
          <a:stretch>
            <a:fillRect/>
          </a:stretch>
        </p:blipFill>
        <p:spPr>
          <a:xfrm>
            <a:off x="879790" y="6019545"/>
            <a:ext cx="128699" cy="187198"/>
          </a:xfrm>
          <a:prstGeom prst="rect">
            <a:avLst/>
          </a:prstGeom>
        </p:spPr>
      </p:pic>
      <p:sp>
        <p:nvSpPr>
          <p:cNvPr id="31" name="TextBox 30"/>
          <p:cNvSpPr txBox="1"/>
          <p:nvPr/>
        </p:nvSpPr>
        <p:spPr>
          <a:xfrm>
            <a:off x="1047285" y="6029325"/>
            <a:ext cx="10854911" cy="186689"/>
          </a:xfrm>
          <a:prstGeom prst="rect">
            <a:avLst/>
          </a:prstGeom>
          <a:noFill/>
        </p:spPr>
        <p:txBody>
          <a:bodyPr wrap="none" lIns="0" rIns="0" tIns="0" bIns="0">
            <a:spAutoFit/>
          </a:bodyPr>
          <a:lstStyle/>
          <a:p>
            <a:r>
              <a:rPr sz="1100" b="0">
                <a:solidFill>
                  <a:srgbClr val="2E2E2E"/>
                </a:solidFill>
                <a:latin typeface="Calibri"/>
              </a:rPr>
              <a:t>. The reactive / 100% solids coatings segment is expected to be less attractive as compared to other segments over the forecast period, owing to its lower CAGR and incremental opportunity.</a:t>
            </a:r>
          </a:p>
        </p:txBody>
      </p:sp>
      <p:sp>
        <p:nvSpPr>
          <p:cNvPr id="32" name="TextBox 31"/>
          <p:cNvSpPr txBox="1"/>
          <p:nvPr/>
        </p:nvSpPr>
        <p:spPr>
          <a:xfrm>
            <a:off x="257175" y="6196965"/>
            <a:ext cx="4376869" cy="186689"/>
          </a:xfrm>
          <a:prstGeom prst="rect">
            <a:avLst/>
          </a:prstGeom>
          <a:noFill/>
        </p:spPr>
        <p:txBody>
          <a:bodyPr wrap="none" lIns="0" rIns="0" tIns="0" bIns="0">
            <a:spAutoFit/>
          </a:bodyPr>
          <a:lstStyle/>
          <a:p>
            <a:r>
              <a:rPr sz="1100" b="0">
                <a:solidFill>
                  <a:srgbClr val="2E2E2E"/>
                </a:solidFill>
                <a:latin typeface="Calibri"/>
              </a:rPr>
              <a:t>Bubbles right of the CAGR-Index line grow faster 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Technology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Technology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Water-Based Coatings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Solvent-Based Coatings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Reactive / 100% Solids Coatings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UV-Curable and Other Specialty Coatings</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Technology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Technology, 2021–2036, highlighting the sub-segments driving growth</a:t>
            </a:r>
          </a:p>
        </p:txBody>
      </p:sp>
      <p:sp>
        <p:nvSpPr>
          <p:cNvPr id="10" name="Rounded Rectangle 9"/>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Technology (US$ Mn)</a:t>
            </a:r>
          </a:p>
        </p:txBody>
      </p:sp>
      <p:graphicFrame>
        <p:nvGraphicFramePr>
          <p:cNvPr id="12" name="Table 11"/>
          <p:cNvGraphicFramePr>
            <a:graphicFrameLocks noGrp="1"/>
          </p:cNvGraphicFramePr>
          <p:nvPr/>
        </p:nvGraphicFramePr>
        <p:xfrm>
          <a:off x="152400" y="1238250"/>
          <a:ext cx="11887206" cy="1485896"/>
        </p:xfrm>
        <a:graphic>
          <a:graphicData uri="http://schemas.openxmlformats.org/drawingml/2006/table">
            <a:tbl>
              <a:tblPr>
                <a:tableStyleId>{5C22544A-7EE6-4342-B048-85BDC9FD1C3A}</a:tableStyleId>
              </a:tblPr>
              <a:tblGrid>
                <a:gridCol w="2713265"/>
                <a:gridCol w="517583"/>
                <a:gridCol w="517583"/>
                <a:gridCol w="517583"/>
                <a:gridCol w="541025"/>
                <a:gridCol w="541025"/>
                <a:gridCol w="541025"/>
                <a:gridCol w="541025"/>
                <a:gridCol w="541025"/>
                <a:gridCol w="541025"/>
                <a:gridCol w="541025"/>
                <a:gridCol w="541025"/>
                <a:gridCol w="541025"/>
                <a:gridCol w="541025"/>
                <a:gridCol w="541025"/>
                <a:gridCol w="541025"/>
                <a:gridCol w="541025"/>
                <a:gridCol w="587867"/>
              </a:tblGrid>
              <a:tr h="246126">
                <a:tc>
                  <a:txBody>
                    <a:bodyPr wrap="none"/>
                    <a:lstStyle/>
                    <a:p>
                      <a:pPr algn="l"/>
                      <a:r>
                        <a:rPr sz="1100" b="1">
                          <a:solidFill>
                            <a:srgbClr val="0B2E4A"/>
                          </a:solidFill>
                          <a:latin typeface="Calibri"/>
                        </a:rPr>
                        <a:t>Technology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Water-Based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Solvent-Based Coatings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Reactive / 100% Solids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UV-Curable and Other Specialty Coatings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067050"/>
            <a:ext cx="11906250" cy="3562350"/>
          </a:xfrm>
          <a:prstGeom prst="roundRect">
            <a:avLst>
              <a:gd name="adj" fmla="val 21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1527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Technology</a:t>
            </a:r>
          </a:p>
        </p:txBody>
      </p:sp>
      <p:sp>
        <p:nvSpPr>
          <p:cNvPr id="16" name="Rectangle 15"/>
          <p:cNvSpPr/>
          <p:nvPr/>
        </p:nvSpPr>
        <p:spPr>
          <a:xfrm>
            <a:off x="276225" y="33909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476625"/>
            <a:ext cx="1163955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265945" y="1837563"/>
            <a:ext cx="366712" cy="533400"/>
          </a:xfrm>
          <a:prstGeom prst="rect">
            <a:avLst/>
          </a:prstGeom>
        </p:spPr>
      </p:pic>
      <p:sp>
        <p:nvSpPr>
          <p:cNvPr id="20" name="TextBox 19"/>
          <p:cNvSpPr txBox="1"/>
          <p:nvPr/>
        </p:nvSpPr>
        <p:spPr>
          <a:xfrm>
            <a:off x="276225" y="3486150"/>
            <a:ext cx="3299283" cy="194310"/>
          </a:xfrm>
          <a:prstGeom prst="rect">
            <a:avLst/>
          </a:prstGeom>
          <a:noFill/>
        </p:spPr>
        <p:txBody>
          <a:bodyPr wrap="none" lIns="0" rIns="0" tIns="0" bIns="0">
            <a:spAutoFit/>
          </a:bodyPr>
          <a:lstStyle/>
          <a:p>
            <a:r>
              <a:rPr sz="1150" b="0">
                <a:solidFill>
                  <a:srgbClr val="2E2E2E"/>
                </a:solidFill>
                <a:latin typeface="Calibri"/>
              </a:rPr>
              <a:t>Water-based coatings segment is projected to register</a:t>
            </a:r>
          </a:p>
        </p:txBody>
      </p:sp>
      <p:pic>
        <p:nvPicPr>
          <p:cNvPr id="21" name="Picture 20" descr="lock.png"/>
          <p:cNvPicPr>
            <a:picLocks noChangeAspect="1"/>
          </p:cNvPicPr>
          <p:nvPr/>
        </p:nvPicPr>
        <p:blipFill>
          <a:blip r:embed="rId4"/>
          <a:stretch>
            <a:fillRect/>
          </a:stretch>
        </p:blipFill>
        <p:spPr>
          <a:xfrm>
            <a:off x="3524662" y="3475926"/>
            <a:ext cx="134549" cy="195707"/>
          </a:xfrm>
          <a:prstGeom prst="rect">
            <a:avLst/>
          </a:prstGeom>
        </p:spPr>
      </p:pic>
      <p:sp>
        <p:nvSpPr>
          <p:cNvPr id="22" name="TextBox 21"/>
          <p:cNvSpPr txBox="1"/>
          <p:nvPr/>
        </p:nvSpPr>
        <p:spPr>
          <a:xfrm>
            <a:off x="3699772" y="3486150"/>
            <a:ext cx="8155161" cy="194310"/>
          </a:xfrm>
          <a:prstGeom prst="rect">
            <a:avLst/>
          </a:prstGeom>
          <a:noFill/>
        </p:spPr>
        <p:txBody>
          <a:bodyPr wrap="none" lIns="0" rIns="0" tIns="0" bIns="0">
            <a:spAutoFit/>
          </a:bodyPr>
          <a:lstStyle/>
          <a:p>
            <a:r>
              <a:rPr sz="1150" b="0">
                <a:solidFill>
                  <a:srgbClr val="2E2E2E"/>
                </a:solidFill>
                <a:latin typeface="Calibri"/>
              </a:rPr>
              <a:t>X higher value than uv-curable and other specialty coatings segment in 2036. Among waterproof coatings by technology, uv-curable and</a:t>
            </a:r>
          </a:p>
        </p:txBody>
      </p:sp>
      <p:sp>
        <p:nvSpPr>
          <p:cNvPr id="23" name="TextBox 22"/>
          <p:cNvSpPr txBox="1"/>
          <p:nvPr/>
        </p:nvSpPr>
        <p:spPr>
          <a:xfrm>
            <a:off x="276225" y="3661410"/>
            <a:ext cx="4597456" cy="194310"/>
          </a:xfrm>
          <a:prstGeom prst="rect">
            <a:avLst/>
          </a:prstGeom>
          <a:noFill/>
        </p:spPr>
        <p:txBody>
          <a:bodyPr wrap="none" lIns="0" rIns="0" tIns="0" bIns="0">
            <a:spAutoFit/>
          </a:bodyPr>
          <a:lstStyle/>
          <a:p>
            <a:r>
              <a:rPr sz="1150" b="0">
                <a:solidFill>
                  <a:srgbClr val="2E2E2E"/>
                </a:solidFill>
                <a:latin typeface="Calibri"/>
              </a:rPr>
              <a:t>other specialty coatings segment is expected to witness the highest CAGR of</a:t>
            </a:r>
          </a:p>
        </p:txBody>
      </p:sp>
      <p:pic>
        <p:nvPicPr>
          <p:cNvPr id="24" name="Picture 23" descr="lock.png"/>
          <p:cNvPicPr>
            <a:picLocks noChangeAspect="1"/>
          </p:cNvPicPr>
          <p:nvPr/>
        </p:nvPicPr>
        <p:blipFill>
          <a:blip r:embed="rId4"/>
          <a:stretch>
            <a:fillRect/>
          </a:stretch>
        </p:blipFill>
        <p:spPr>
          <a:xfrm>
            <a:off x="4822835" y="3651186"/>
            <a:ext cx="134549" cy="195707"/>
          </a:xfrm>
          <a:prstGeom prst="rect">
            <a:avLst/>
          </a:prstGeom>
        </p:spPr>
      </p:pic>
      <p:sp>
        <p:nvSpPr>
          <p:cNvPr id="25" name="TextBox 24"/>
          <p:cNvSpPr txBox="1"/>
          <p:nvPr/>
        </p:nvSpPr>
        <p:spPr>
          <a:xfrm>
            <a:off x="4997944" y="36614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889247"/>
            <a:ext cx="7081750" cy="194310"/>
          </a:xfrm>
          <a:prstGeom prst="rect">
            <a:avLst/>
          </a:prstGeom>
          <a:noFill/>
        </p:spPr>
        <p:txBody>
          <a:bodyPr wrap="none" lIns="0" rIns="0" tIns="0" bIns="0">
            <a:spAutoFit/>
          </a:bodyPr>
          <a:lstStyle/>
          <a:p>
            <a:r>
              <a:rPr sz="1150" b="0">
                <a:solidFill>
                  <a:srgbClr val="2E2E2E"/>
                </a:solidFill>
                <a:latin typeface="Calibri"/>
              </a:rPr>
              <a:t>In terms of value share by technology, the water-based coatings segment is expected to dominate the market, gaining</a:t>
            </a:r>
          </a:p>
        </p:txBody>
      </p:sp>
      <p:pic>
        <p:nvPicPr>
          <p:cNvPr id="27" name="Picture 26" descr="lock.png"/>
          <p:cNvPicPr>
            <a:picLocks noChangeAspect="1"/>
          </p:cNvPicPr>
          <p:nvPr/>
        </p:nvPicPr>
        <p:blipFill>
          <a:blip r:embed="rId4"/>
          <a:stretch>
            <a:fillRect/>
          </a:stretch>
        </p:blipFill>
        <p:spPr>
          <a:xfrm>
            <a:off x="7307129" y="3879024"/>
            <a:ext cx="134549" cy="195707"/>
          </a:xfrm>
          <a:prstGeom prst="rect">
            <a:avLst/>
          </a:prstGeom>
        </p:spPr>
      </p:pic>
      <p:sp>
        <p:nvSpPr>
          <p:cNvPr id="28" name="TextBox 27"/>
          <p:cNvSpPr txBox="1"/>
          <p:nvPr/>
        </p:nvSpPr>
        <p:spPr>
          <a:xfrm>
            <a:off x="7482238" y="38892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877382" y="3879024"/>
            <a:ext cx="134549" cy="195707"/>
          </a:xfrm>
          <a:prstGeom prst="rect">
            <a:avLst/>
          </a:prstGeom>
        </p:spPr>
      </p:pic>
      <p:sp>
        <p:nvSpPr>
          <p:cNvPr id="30" name="TextBox 29"/>
          <p:cNvSpPr txBox="1"/>
          <p:nvPr/>
        </p:nvSpPr>
        <p:spPr>
          <a:xfrm>
            <a:off x="9052491" y="3889247"/>
            <a:ext cx="2590427" cy="194310"/>
          </a:xfrm>
          <a:prstGeom prst="rect">
            <a:avLst/>
          </a:prstGeom>
          <a:noFill/>
        </p:spPr>
        <p:txBody>
          <a:bodyPr wrap="none" lIns="0" rIns="0" tIns="0" bIns="0">
            <a:spAutoFit/>
          </a:bodyPr>
          <a:lstStyle/>
          <a:p>
            <a:r>
              <a:rPr sz="1150" b="0">
                <a:solidFill>
                  <a:srgbClr val="2E2E2E"/>
                </a:solidFill>
                <a:latin typeface="Calibri"/>
              </a:rPr>
              <a:t>share by 2036. The solvent-based coatings</a:t>
            </a:r>
          </a:p>
        </p:txBody>
      </p:sp>
      <p:sp>
        <p:nvSpPr>
          <p:cNvPr id="31" name="TextBox 30"/>
          <p:cNvSpPr txBox="1"/>
          <p:nvPr/>
        </p:nvSpPr>
        <p:spPr>
          <a:xfrm>
            <a:off x="276225" y="4064507"/>
            <a:ext cx="1725538" cy="194310"/>
          </a:xfrm>
          <a:prstGeom prst="rect">
            <a:avLst/>
          </a:prstGeom>
          <a:noFill/>
        </p:spPr>
        <p:txBody>
          <a:bodyPr wrap="none" lIns="0" rIns="0" tIns="0" bIns="0">
            <a:spAutoFit/>
          </a:bodyPr>
          <a:lstStyle/>
          <a:p>
            <a:r>
              <a:rPr sz="1150" b="0">
                <a:solidFill>
                  <a:srgbClr val="2E2E2E"/>
                </a:solidFill>
                <a:latin typeface="Calibri"/>
              </a:rPr>
              <a:t>segment is expected to lose</a:t>
            </a:r>
          </a:p>
        </p:txBody>
      </p:sp>
      <p:pic>
        <p:nvPicPr>
          <p:cNvPr id="32" name="Picture 31" descr="lock.png"/>
          <p:cNvPicPr>
            <a:picLocks noChangeAspect="1"/>
          </p:cNvPicPr>
          <p:nvPr/>
        </p:nvPicPr>
        <p:blipFill>
          <a:blip r:embed="rId4"/>
          <a:stretch>
            <a:fillRect/>
          </a:stretch>
        </p:blipFill>
        <p:spPr>
          <a:xfrm>
            <a:off x="1950917" y="4054284"/>
            <a:ext cx="134549" cy="195707"/>
          </a:xfrm>
          <a:prstGeom prst="rect">
            <a:avLst/>
          </a:prstGeom>
        </p:spPr>
      </p:pic>
      <p:sp>
        <p:nvSpPr>
          <p:cNvPr id="33" name="TextBox 32"/>
          <p:cNvSpPr txBox="1"/>
          <p:nvPr/>
        </p:nvSpPr>
        <p:spPr>
          <a:xfrm>
            <a:off x="2126026" y="406450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4713530" y="4054284"/>
            <a:ext cx="134549" cy="195707"/>
          </a:xfrm>
          <a:prstGeom prst="rect">
            <a:avLst/>
          </a:prstGeom>
        </p:spPr>
      </p:pic>
      <p:sp>
        <p:nvSpPr>
          <p:cNvPr id="35" name="TextBox 34"/>
          <p:cNvSpPr txBox="1"/>
          <p:nvPr/>
        </p:nvSpPr>
        <p:spPr>
          <a:xfrm>
            <a:off x="4888640" y="40645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Technology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Technology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Technology ·  2021 / 2026 / 2036 (US$ Mn)  ·  right axis = BPS share shift</a:t>
            </a:r>
          </a:p>
        </p:txBody>
      </p:sp>
      <p:graphicFrame>
        <p:nvGraphicFramePr>
          <p:cNvPr id="12" name="Chart 11"/>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419225"/>
            <a:ext cx="2595753" cy="177927"/>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3932301"/>
            <a:ext cx="38100" cy="38100"/>
          </a:xfrm>
          <a:prstGeom prst="rect">
            <a:avLst/>
          </a:prstGeom>
          <a:noFill/>
        </p:spPr>
        <p:txBody>
          <a:bodyPr wrap="none">
            <a:spAutoFit/>
          </a:bodyPr>
          <a:lstStyle/>
          <a:p/>
        </p:txBody>
      </p:sp>
      <p:sp>
        <p:nvSpPr>
          <p:cNvPr id="15" name="FMI Legend Chip"/>
          <p:cNvSpPr/>
          <p:nvPr/>
        </p:nvSpPr>
        <p:spPr>
          <a:xfrm>
            <a:off x="4928997" y="1834488"/>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182972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75352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Reactive / 100% Solids Coatings</a:t>
            </a:r>
          </a:p>
        </p:txBody>
      </p:sp>
      <p:sp>
        <p:nvSpPr>
          <p:cNvPr id="18" name="BPS Value 1"/>
          <p:cNvSpPr txBox="1"/>
          <p:nvPr/>
        </p:nvSpPr>
        <p:spPr>
          <a:xfrm>
            <a:off x="6896100" y="181543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2805643"/>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280088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72468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Solvent-Based Coatings</a:t>
            </a:r>
          </a:p>
        </p:txBody>
      </p:sp>
      <p:sp>
        <p:nvSpPr>
          <p:cNvPr id="22" name="BPS Value 2"/>
          <p:cNvSpPr txBox="1"/>
          <p:nvPr/>
        </p:nvSpPr>
        <p:spPr>
          <a:xfrm>
            <a:off x="6896100" y="278659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4136660"/>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5090922" y="413189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405569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UV-Curable and Other Specialty Coatings</a:t>
            </a:r>
          </a:p>
        </p:txBody>
      </p:sp>
      <p:sp>
        <p:nvSpPr>
          <p:cNvPr id="26" name="BPS Value 3"/>
          <p:cNvSpPr txBox="1"/>
          <p:nvPr/>
        </p:nvSpPr>
        <p:spPr>
          <a:xfrm>
            <a:off x="6896100" y="411761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928997" y="5533991"/>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5090922" y="552922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545302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Water-Based Coatings</a:t>
            </a:r>
          </a:p>
        </p:txBody>
      </p:sp>
      <p:sp>
        <p:nvSpPr>
          <p:cNvPr id="30" name="BPS Value 4"/>
          <p:cNvSpPr txBox="1"/>
          <p:nvPr/>
        </p:nvSpPr>
        <p:spPr>
          <a:xfrm>
            <a:off x="6896100" y="551494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Rounded Rectangle 30"/>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Technology</a:t>
            </a:r>
          </a:p>
        </p:txBody>
      </p:sp>
      <p:sp>
        <p:nvSpPr>
          <p:cNvPr id="33" name="Rectangle 32"/>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5"/>
          <a:stretch>
            <a:fillRect/>
          </a:stretch>
        </p:blipFill>
        <p:spPr>
          <a:xfrm>
            <a:off x="2557843" y="3751325"/>
            <a:ext cx="275034" cy="400050"/>
          </a:xfrm>
          <a:prstGeom prst="rect">
            <a:avLst/>
          </a:prstGeom>
        </p:spPr>
      </p:pic>
      <p:sp>
        <p:nvSpPr>
          <p:cNvPr id="37" name="TextBox 36"/>
          <p:cNvSpPr txBox="1"/>
          <p:nvPr/>
        </p:nvSpPr>
        <p:spPr>
          <a:xfrm>
            <a:off x="7829550" y="1400175"/>
            <a:ext cx="3918284" cy="194310"/>
          </a:xfrm>
          <a:prstGeom prst="rect">
            <a:avLst/>
          </a:prstGeom>
          <a:noFill/>
        </p:spPr>
        <p:txBody>
          <a:bodyPr wrap="none" lIns="0" rIns="0" tIns="0" bIns="0">
            <a:spAutoFit/>
          </a:bodyPr>
          <a:lstStyle/>
          <a:p>
            <a:r>
              <a:rPr sz="1150" b="0">
                <a:solidFill>
                  <a:srgbClr val="2E2E2E"/>
                </a:solidFill>
                <a:latin typeface="Calibri"/>
              </a:rPr>
              <a:t>Among waterproof coatings by technology, uv-curable and other</a:t>
            </a:r>
          </a:p>
        </p:txBody>
      </p:sp>
      <p:sp>
        <p:nvSpPr>
          <p:cNvPr id="38" name="TextBox 37"/>
          <p:cNvSpPr txBox="1"/>
          <p:nvPr/>
        </p:nvSpPr>
        <p:spPr>
          <a:xfrm>
            <a:off x="7829550" y="1575435"/>
            <a:ext cx="4057650" cy="194310"/>
          </a:xfrm>
          <a:prstGeom prst="rect">
            <a:avLst/>
          </a:prstGeom>
          <a:noFill/>
        </p:spPr>
        <p:txBody>
          <a:bodyPr wrap="none" lIns="0" rIns="0" tIns="0" bIns="0">
            <a:spAutoFit/>
          </a:bodyPr>
          <a:lstStyle/>
          <a:p>
            <a:r>
              <a:rPr sz="1150" b="0">
                <a:solidFill>
                  <a:srgbClr val="2E2E2E"/>
                </a:solidFill>
                <a:latin typeface="Calibri"/>
              </a:rPr>
              <a:t>specialty coatings segment is expected to witness the highest CAGR</a:t>
            </a:r>
          </a:p>
        </p:txBody>
      </p:sp>
      <p:sp>
        <p:nvSpPr>
          <p:cNvPr id="39" name="TextBox 38"/>
          <p:cNvSpPr txBox="1"/>
          <p:nvPr/>
        </p:nvSpPr>
        <p:spPr>
          <a:xfrm>
            <a:off x="7829550" y="1750695"/>
            <a:ext cx="197718" cy="194310"/>
          </a:xfrm>
          <a:prstGeom prst="rect">
            <a:avLst/>
          </a:prstGeom>
          <a:noFill/>
        </p:spPr>
        <p:txBody>
          <a:bodyPr wrap="none" lIns="0" rIns="0" tIns="0" bIns="0">
            <a:spAutoFit/>
          </a:bodyPr>
          <a:lstStyle/>
          <a:p>
            <a:r>
              <a:rPr sz="1150" b="0">
                <a:solidFill>
                  <a:srgbClr val="2E2E2E"/>
                </a:solidFill>
                <a:latin typeface="Calibri"/>
              </a:rPr>
              <a:t>of</a:t>
            </a:r>
          </a:p>
        </p:txBody>
      </p:sp>
      <p:pic>
        <p:nvPicPr>
          <p:cNvPr id="40" name="Picture 39" descr="lock.png"/>
          <p:cNvPicPr>
            <a:picLocks noChangeAspect="1"/>
          </p:cNvPicPr>
          <p:nvPr/>
        </p:nvPicPr>
        <p:blipFill>
          <a:blip r:embed="rId5"/>
          <a:stretch>
            <a:fillRect/>
          </a:stretch>
        </p:blipFill>
        <p:spPr>
          <a:xfrm>
            <a:off x="7976422" y="1740471"/>
            <a:ext cx="134549" cy="195707"/>
          </a:xfrm>
          <a:prstGeom prst="rect">
            <a:avLst/>
          </a:prstGeom>
        </p:spPr>
      </p:pic>
      <p:sp>
        <p:nvSpPr>
          <p:cNvPr id="41" name="TextBox 40"/>
          <p:cNvSpPr txBox="1"/>
          <p:nvPr/>
        </p:nvSpPr>
        <p:spPr>
          <a:xfrm>
            <a:off x="8151531" y="1750695"/>
            <a:ext cx="3118147"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a:t>
            </a:r>
          </a:p>
        </p:txBody>
      </p:sp>
      <p:sp>
        <p:nvSpPr>
          <p:cNvPr id="42" name="TextBox 41"/>
          <p:cNvSpPr txBox="1"/>
          <p:nvPr/>
        </p:nvSpPr>
        <p:spPr>
          <a:xfrm>
            <a:off x="7829550" y="1925955"/>
            <a:ext cx="3718321" cy="194310"/>
          </a:xfrm>
          <a:prstGeom prst="rect">
            <a:avLst/>
          </a:prstGeom>
          <a:noFill/>
        </p:spPr>
        <p:txBody>
          <a:bodyPr wrap="none" lIns="0" rIns="0" tIns="0" bIns="0">
            <a:spAutoFit/>
          </a:bodyPr>
          <a:lstStyle/>
          <a:p>
            <a:r>
              <a:rPr sz="1150" b="0">
                <a:solidFill>
                  <a:srgbClr val="2E2E2E"/>
                </a:solidFill>
                <a:latin typeface="Calibri"/>
              </a:rPr>
              <a:t>technology, the water-based coatings segment is expected to</a:t>
            </a:r>
          </a:p>
        </p:txBody>
      </p:sp>
      <p:sp>
        <p:nvSpPr>
          <p:cNvPr id="43" name="TextBox 42"/>
          <p:cNvSpPr txBox="1"/>
          <p:nvPr/>
        </p:nvSpPr>
        <p:spPr>
          <a:xfrm>
            <a:off x="7829550" y="2101215"/>
            <a:ext cx="1837072" cy="194310"/>
          </a:xfrm>
          <a:prstGeom prst="rect">
            <a:avLst/>
          </a:prstGeom>
          <a:noFill/>
        </p:spPr>
        <p:txBody>
          <a:bodyPr wrap="none" lIns="0" rIns="0" tIns="0" bIns="0">
            <a:spAutoFit/>
          </a:bodyPr>
          <a:lstStyle/>
          <a:p>
            <a:r>
              <a:rPr sz="1150" b="0">
                <a:solidFill>
                  <a:srgbClr val="2E2E2E"/>
                </a:solidFill>
                <a:latin typeface="Calibri"/>
              </a:rPr>
              <a:t>dominate the market, gaining</a:t>
            </a:r>
          </a:p>
        </p:txBody>
      </p:sp>
      <p:pic>
        <p:nvPicPr>
          <p:cNvPr id="44" name="Picture 43" descr="lock.png"/>
          <p:cNvPicPr>
            <a:picLocks noChangeAspect="1"/>
          </p:cNvPicPr>
          <p:nvPr/>
        </p:nvPicPr>
        <p:blipFill>
          <a:blip r:embed="rId5"/>
          <a:stretch>
            <a:fillRect/>
          </a:stretch>
        </p:blipFill>
        <p:spPr>
          <a:xfrm>
            <a:off x="9615776" y="2090991"/>
            <a:ext cx="134549" cy="195707"/>
          </a:xfrm>
          <a:prstGeom prst="rect">
            <a:avLst/>
          </a:prstGeom>
        </p:spPr>
      </p:pic>
      <p:sp>
        <p:nvSpPr>
          <p:cNvPr id="45" name="TextBox 44"/>
          <p:cNvSpPr txBox="1"/>
          <p:nvPr/>
        </p:nvSpPr>
        <p:spPr>
          <a:xfrm>
            <a:off x="9790885"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6" name="Picture 45" descr="lock.png"/>
          <p:cNvPicPr>
            <a:picLocks noChangeAspect="1"/>
          </p:cNvPicPr>
          <p:nvPr/>
        </p:nvPicPr>
        <p:blipFill>
          <a:blip r:embed="rId5"/>
          <a:stretch>
            <a:fillRect/>
          </a:stretch>
        </p:blipFill>
        <p:spPr>
          <a:xfrm>
            <a:off x="11186028" y="2090991"/>
            <a:ext cx="134549" cy="195707"/>
          </a:xfrm>
          <a:prstGeom prst="rect">
            <a:avLst/>
          </a:prstGeom>
        </p:spPr>
      </p:pic>
      <p:sp>
        <p:nvSpPr>
          <p:cNvPr id="47" name="TextBox 46"/>
          <p:cNvSpPr txBox="1"/>
          <p:nvPr/>
        </p:nvSpPr>
        <p:spPr>
          <a:xfrm>
            <a:off x="7829550" y="227647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8" name="TextBox 47"/>
          <p:cNvSpPr txBox="1"/>
          <p:nvPr/>
        </p:nvSpPr>
        <p:spPr>
          <a:xfrm>
            <a:off x="7829550" y="2504313"/>
            <a:ext cx="3369741" cy="194310"/>
          </a:xfrm>
          <a:prstGeom prst="rect">
            <a:avLst/>
          </a:prstGeom>
          <a:noFill/>
        </p:spPr>
        <p:txBody>
          <a:bodyPr wrap="none" lIns="0" rIns="0" tIns="0" bIns="0">
            <a:spAutoFit/>
          </a:bodyPr>
          <a:lstStyle/>
          <a:p>
            <a:r>
              <a:rPr sz="1150" b="0">
                <a:solidFill>
                  <a:srgbClr val="2E2E2E"/>
                </a:solidFill>
                <a:latin typeface="Calibri"/>
              </a:rPr>
              <a:t>The solvent-based coatings segment is expected to lose</a:t>
            </a:r>
          </a:p>
        </p:txBody>
      </p:sp>
      <p:pic>
        <p:nvPicPr>
          <p:cNvPr id="49" name="Picture 48" descr="lock.png"/>
          <p:cNvPicPr>
            <a:picLocks noChangeAspect="1"/>
          </p:cNvPicPr>
          <p:nvPr/>
        </p:nvPicPr>
        <p:blipFill>
          <a:blip r:embed="rId5"/>
          <a:stretch>
            <a:fillRect/>
          </a:stretch>
        </p:blipFill>
        <p:spPr>
          <a:xfrm>
            <a:off x="11148445" y="2494089"/>
            <a:ext cx="134549" cy="195707"/>
          </a:xfrm>
          <a:prstGeom prst="rect">
            <a:avLst/>
          </a:prstGeom>
        </p:spPr>
      </p:pic>
      <p:sp>
        <p:nvSpPr>
          <p:cNvPr id="50" name="TextBox 49"/>
          <p:cNvSpPr txBox="1"/>
          <p:nvPr/>
        </p:nvSpPr>
        <p:spPr>
          <a:xfrm>
            <a:off x="11323554" y="2504313"/>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51" name="TextBox 50"/>
          <p:cNvSpPr txBox="1"/>
          <p:nvPr/>
        </p:nvSpPr>
        <p:spPr>
          <a:xfrm>
            <a:off x="7829550" y="2679573"/>
            <a:ext cx="2383048" cy="194310"/>
          </a:xfrm>
          <a:prstGeom prst="rect">
            <a:avLst/>
          </a:prstGeom>
          <a:noFill/>
        </p:spPr>
        <p:txBody>
          <a:bodyPr wrap="none" lIns="0" rIns="0" tIns="0" bIns="0">
            <a:spAutoFit/>
          </a:bodyPr>
          <a:lstStyle/>
          <a:p>
            <a:r>
              <a:rPr sz="1150" b="0">
                <a:solidFill>
                  <a:srgbClr val="2E2E2E"/>
                </a:solidFill>
                <a:latin typeface="Calibri"/>
              </a:rPr>
              <a:t>over the forecast period to account for</a:t>
            </a:r>
          </a:p>
        </p:txBody>
      </p:sp>
      <p:pic>
        <p:nvPicPr>
          <p:cNvPr id="52" name="Picture 51" descr="lock.png"/>
          <p:cNvPicPr>
            <a:picLocks noChangeAspect="1"/>
          </p:cNvPicPr>
          <p:nvPr/>
        </p:nvPicPr>
        <p:blipFill>
          <a:blip r:embed="rId5"/>
          <a:stretch>
            <a:fillRect/>
          </a:stretch>
        </p:blipFill>
        <p:spPr>
          <a:xfrm>
            <a:off x="10161752" y="2669349"/>
            <a:ext cx="134549" cy="195707"/>
          </a:xfrm>
          <a:prstGeom prst="rect">
            <a:avLst/>
          </a:prstGeom>
        </p:spPr>
      </p:pic>
      <p:sp>
        <p:nvSpPr>
          <p:cNvPr id="53" name="TextBox 52"/>
          <p:cNvSpPr txBox="1"/>
          <p:nvPr/>
        </p:nvSpPr>
        <p:spPr>
          <a:xfrm>
            <a:off x="10336861"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4" name="lockshield_12"/>
          <p:cNvSpPr/>
          <p:nvPr/>
        </p:nvSpPr>
        <p:spPr>
          <a:xfrm>
            <a:off x="238125" y="1409700"/>
            <a:ext cx="4614672" cy="516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Application</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Application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Application Segment Outlook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9 sub-segments of Application,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Application segment categorizes the market by application.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90881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90881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Roofs and Terraces</a:t>
            </a:r>
          </a:p>
        </p:txBody>
      </p:sp>
      <p:sp>
        <p:nvSpPr>
          <p:cNvPr id="22" name="Rectangle 21"/>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65938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890010" y="1773916"/>
            <a:ext cx="190881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890010" y="1992961"/>
            <a:ext cx="190881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Bathrooms and Wet Areas</a:t>
            </a:r>
          </a:p>
        </p:txBody>
      </p:sp>
      <p:sp>
        <p:nvSpPr>
          <p:cNvPr id="29" name="Rectangle 28"/>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68249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913120" y="1773916"/>
            <a:ext cx="190881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913120" y="1992961"/>
            <a:ext cx="190881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Walls and Building Facades</a:t>
            </a:r>
          </a:p>
        </p:txBody>
      </p:sp>
      <p:sp>
        <p:nvSpPr>
          <p:cNvPr id="36" name="Rectangle 35"/>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670560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7936230" y="1773916"/>
            <a:ext cx="1908810"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936230" y="1992961"/>
            <a:ext cx="1908810"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Water Tanks and Swimming Pools</a:t>
            </a:r>
          </a:p>
        </p:txBody>
      </p:sp>
      <p:sp>
        <p:nvSpPr>
          <p:cNvPr id="43" name="Rectangle 42"/>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872871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9959340" y="1773916"/>
            <a:ext cx="1908810"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959340" y="1992961"/>
            <a:ext cx="1908810"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Bridges, Tunnels and Other Infras…</a:t>
            </a:r>
          </a:p>
        </p:txBody>
      </p:sp>
      <p:sp>
        <p:nvSpPr>
          <p:cNvPr id="50" name="Rectangle 49"/>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10751820"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6" name="Rectangle 55"/>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8" name="Rounded Rectangle 57"/>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0" name="Rectangle 59"/>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p:txBody>
      </p:sp>
      <p:sp>
        <p:nvSpPr>
          <p:cNvPr id="62" name="Rounded Rectangle 61"/>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4" name="Rectangle 63"/>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Application split shows how demand is distributed across application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66" name="Rectangle 65"/>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8" name="TextBox 67"/>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9" name="TextBox 6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0" name="Picture 69" descr="2_607_605E5C.png"/>
          <p:cNvPicPr>
            <a:picLocks noChangeAspect="1"/>
          </p:cNvPicPr>
          <p:nvPr/>
        </p:nvPicPr>
        <p:blipFill>
          <a:blip r:embed="rId4"/>
          <a:stretch>
            <a:fillRect/>
          </a:stretch>
        </p:blipFill>
        <p:spPr>
          <a:xfrm>
            <a:off x="2223441" y="2286582"/>
            <a:ext cx="1195728" cy="361950"/>
          </a:xfrm>
          <a:prstGeom prst="rect">
            <a:avLst/>
          </a:prstGeom>
        </p:spPr>
      </p:pic>
      <p:pic>
        <p:nvPicPr>
          <p:cNvPr id="71" name="Picture 70" descr="4_081_605E5C.png"/>
          <p:cNvPicPr>
            <a:picLocks noChangeAspect="1"/>
          </p:cNvPicPr>
          <p:nvPr/>
        </p:nvPicPr>
        <p:blipFill>
          <a:blip r:embed="rId5"/>
          <a:stretch>
            <a:fillRect/>
          </a:stretch>
        </p:blipFill>
        <p:spPr>
          <a:xfrm>
            <a:off x="2223441" y="2779432"/>
            <a:ext cx="1195728" cy="361950"/>
          </a:xfrm>
          <a:prstGeom prst="rect">
            <a:avLst/>
          </a:prstGeom>
        </p:spPr>
      </p:pic>
      <p:pic>
        <p:nvPicPr>
          <p:cNvPr id="72" name="Picture 71" descr="4_6__605E5C.png"/>
          <p:cNvPicPr>
            <a:picLocks noChangeAspect="1"/>
          </p:cNvPicPr>
          <p:nvPr/>
        </p:nvPicPr>
        <p:blipFill>
          <a:blip r:embed="rId6"/>
          <a:stretch>
            <a:fillRect/>
          </a:stretch>
        </p:blipFill>
        <p:spPr>
          <a:xfrm>
            <a:off x="2330087" y="3272281"/>
            <a:ext cx="982436" cy="361950"/>
          </a:xfrm>
          <a:prstGeom prst="rect">
            <a:avLst/>
          </a:prstGeom>
        </p:spPr>
      </p:pic>
      <p:pic>
        <p:nvPicPr>
          <p:cNvPr id="73" name="Picture 72" descr="1_576_605E5C.png"/>
          <p:cNvPicPr>
            <a:picLocks noChangeAspect="1"/>
          </p:cNvPicPr>
          <p:nvPr/>
        </p:nvPicPr>
        <p:blipFill>
          <a:blip r:embed="rId7"/>
          <a:stretch>
            <a:fillRect/>
          </a:stretch>
        </p:blipFill>
        <p:spPr>
          <a:xfrm>
            <a:off x="4246551" y="2286582"/>
            <a:ext cx="1195728" cy="361950"/>
          </a:xfrm>
          <a:prstGeom prst="rect">
            <a:avLst/>
          </a:prstGeom>
        </p:spPr>
      </p:pic>
      <p:pic>
        <p:nvPicPr>
          <p:cNvPr id="74" name="Picture 73" descr="3_146_605E5C.png"/>
          <p:cNvPicPr>
            <a:picLocks noChangeAspect="1"/>
          </p:cNvPicPr>
          <p:nvPr/>
        </p:nvPicPr>
        <p:blipFill>
          <a:blip r:embed="rId8"/>
          <a:stretch>
            <a:fillRect/>
          </a:stretch>
        </p:blipFill>
        <p:spPr>
          <a:xfrm>
            <a:off x="4246551" y="2779432"/>
            <a:ext cx="1195728" cy="361950"/>
          </a:xfrm>
          <a:prstGeom prst="rect">
            <a:avLst/>
          </a:prstGeom>
        </p:spPr>
      </p:pic>
      <p:pic>
        <p:nvPicPr>
          <p:cNvPr id="75" name="Picture 74" descr="7_2__605E5C.png"/>
          <p:cNvPicPr>
            <a:picLocks noChangeAspect="1"/>
          </p:cNvPicPr>
          <p:nvPr/>
        </p:nvPicPr>
        <p:blipFill>
          <a:blip r:embed="rId9"/>
          <a:stretch>
            <a:fillRect/>
          </a:stretch>
        </p:blipFill>
        <p:spPr>
          <a:xfrm>
            <a:off x="4353197" y="3272281"/>
            <a:ext cx="982436" cy="361950"/>
          </a:xfrm>
          <a:prstGeom prst="rect">
            <a:avLst/>
          </a:prstGeom>
        </p:spPr>
      </p:pic>
      <p:pic>
        <p:nvPicPr>
          <p:cNvPr id="76" name="Picture 75" descr="1_509_605E5C.png"/>
          <p:cNvPicPr>
            <a:picLocks noChangeAspect="1"/>
          </p:cNvPicPr>
          <p:nvPr/>
        </p:nvPicPr>
        <p:blipFill>
          <a:blip r:embed="rId10"/>
          <a:stretch>
            <a:fillRect/>
          </a:stretch>
        </p:blipFill>
        <p:spPr>
          <a:xfrm>
            <a:off x="6269661" y="2286582"/>
            <a:ext cx="1195728" cy="361950"/>
          </a:xfrm>
          <a:prstGeom prst="rect">
            <a:avLst/>
          </a:prstGeom>
        </p:spPr>
      </p:pic>
      <p:pic>
        <p:nvPicPr>
          <p:cNvPr id="77" name="Picture 76" descr="2_991_605E5C.png"/>
          <p:cNvPicPr>
            <a:picLocks noChangeAspect="1"/>
          </p:cNvPicPr>
          <p:nvPr/>
        </p:nvPicPr>
        <p:blipFill>
          <a:blip r:embed="rId11"/>
          <a:stretch>
            <a:fillRect/>
          </a:stretch>
        </p:blipFill>
        <p:spPr>
          <a:xfrm>
            <a:off x="6269661" y="2779432"/>
            <a:ext cx="1195728" cy="361950"/>
          </a:xfrm>
          <a:prstGeom prst="rect">
            <a:avLst/>
          </a:prstGeom>
        </p:spPr>
      </p:pic>
      <p:pic>
        <p:nvPicPr>
          <p:cNvPr id="78" name="Picture 77" descr="7_1__605E5C.png"/>
          <p:cNvPicPr>
            <a:picLocks noChangeAspect="1"/>
          </p:cNvPicPr>
          <p:nvPr/>
        </p:nvPicPr>
        <p:blipFill>
          <a:blip r:embed="rId12"/>
          <a:stretch>
            <a:fillRect/>
          </a:stretch>
        </p:blipFill>
        <p:spPr>
          <a:xfrm>
            <a:off x="6376307" y="3272281"/>
            <a:ext cx="982436" cy="361950"/>
          </a:xfrm>
          <a:prstGeom prst="rect">
            <a:avLst/>
          </a:prstGeom>
        </p:spPr>
      </p:pic>
      <p:pic>
        <p:nvPicPr>
          <p:cNvPr id="79" name="Picture 78" descr="1_198_605E5C.png"/>
          <p:cNvPicPr>
            <a:picLocks noChangeAspect="1"/>
          </p:cNvPicPr>
          <p:nvPr/>
        </p:nvPicPr>
        <p:blipFill>
          <a:blip r:embed="rId13"/>
          <a:stretch>
            <a:fillRect/>
          </a:stretch>
        </p:blipFill>
        <p:spPr>
          <a:xfrm>
            <a:off x="8292771" y="2286582"/>
            <a:ext cx="1195728" cy="361950"/>
          </a:xfrm>
          <a:prstGeom prst="rect">
            <a:avLst/>
          </a:prstGeom>
        </p:spPr>
      </p:pic>
      <p:pic>
        <p:nvPicPr>
          <p:cNvPr id="80" name="Picture 79" descr="2_158_605E5C.png"/>
          <p:cNvPicPr>
            <a:picLocks noChangeAspect="1"/>
          </p:cNvPicPr>
          <p:nvPr/>
        </p:nvPicPr>
        <p:blipFill>
          <a:blip r:embed="rId14"/>
          <a:stretch>
            <a:fillRect/>
          </a:stretch>
        </p:blipFill>
        <p:spPr>
          <a:xfrm>
            <a:off x="8292771" y="2779432"/>
            <a:ext cx="1195728" cy="361950"/>
          </a:xfrm>
          <a:prstGeom prst="rect">
            <a:avLst/>
          </a:prstGeom>
        </p:spPr>
      </p:pic>
      <p:pic>
        <p:nvPicPr>
          <p:cNvPr id="81" name="Picture 80" descr="6_1__605E5C.png"/>
          <p:cNvPicPr>
            <a:picLocks noChangeAspect="1"/>
          </p:cNvPicPr>
          <p:nvPr/>
        </p:nvPicPr>
        <p:blipFill>
          <a:blip r:embed="rId15"/>
          <a:stretch>
            <a:fillRect/>
          </a:stretch>
        </p:blipFill>
        <p:spPr>
          <a:xfrm>
            <a:off x="8399417" y="3272281"/>
            <a:ext cx="982436" cy="361950"/>
          </a:xfrm>
          <a:prstGeom prst="rect">
            <a:avLst/>
          </a:prstGeom>
        </p:spPr>
      </p:pic>
      <p:pic>
        <p:nvPicPr>
          <p:cNvPr id="82" name="Picture 81" descr="1_057_605E5C.png"/>
          <p:cNvPicPr>
            <a:picLocks noChangeAspect="1"/>
          </p:cNvPicPr>
          <p:nvPr/>
        </p:nvPicPr>
        <p:blipFill>
          <a:blip r:embed="rId16"/>
          <a:stretch>
            <a:fillRect/>
          </a:stretch>
        </p:blipFill>
        <p:spPr>
          <a:xfrm>
            <a:off x="10315881" y="2286582"/>
            <a:ext cx="1195728" cy="361950"/>
          </a:xfrm>
          <a:prstGeom prst="rect">
            <a:avLst/>
          </a:prstGeom>
        </p:spPr>
      </p:pic>
      <p:pic>
        <p:nvPicPr>
          <p:cNvPr id="83" name="Picture 82" descr="1_317_605E5C.png"/>
          <p:cNvPicPr>
            <a:picLocks noChangeAspect="1"/>
          </p:cNvPicPr>
          <p:nvPr/>
        </p:nvPicPr>
        <p:blipFill>
          <a:blip r:embed="rId17"/>
          <a:stretch>
            <a:fillRect/>
          </a:stretch>
        </p:blipFill>
        <p:spPr>
          <a:xfrm>
            <a:off x="10315881" y="2779432"/>
            <a:ext cx="1195728" cy="361950"/>
          </a:xfrm>
          <a:prstGeom prst="rect">
            <a:avLst/>
          </a:prstGeom>
        </p:spPr>
      </p:pic>
      <p:pic>
        <p:nvPicPr>
          <p:cNvPr id="84" name="Picture 83" descr="2_2__605E5C.png"/>
          <p:cNvPicPr>
            <a:picLocks noChangeAspect="1"/>
          </p:cNvPicPr>
          <p:nvPr/>
        </p:nvPicPr>
        <p:blipFill>
          <a:blip r:embed="rId18"/>
          <a:stretch>
            <a:fillRect/>
          </a:stretch>
        </p:blipFill>
        <p:spPr>
          <a:xfrm>
            <a:off x="10422527" y="3272281"/>
            <a:ext cx="982436" cy="361950"/>
          </a:xfrm>
          <a:prstGeom prst="rect">
            <a:avLst/>
          </a:prstGeom>
        </p:spPr>
      </p:pic>
      <p:pic>
        <p:nvPicPr>
          <p:cNvPr id="85" name="Picture 84" descr="lock.png"/>
          <p:cNvPicPr>
            <a:picLocks noChangeAspect="1"/>
          </p:cNvPicPr>
          <p:nvPr/>
        </p:nvPicPr>
        <p:blipFill>
          <a:blip r:embed="rId19"/>
          <a:stretch>
            <a:fillRect/>
          </a:stretch>
        </p:blipFill>
        <p:spPr>
          <a:xfrm>
            <a:off x="2727960" y="2827057"/>
            <a:ext cx="183356" cy="266700"/>
          </a:xfrm>
          <a:prstGeom prst="rect">
            <a:avLst/>
          </a:prstGeom>
        </p:spPr>
      </p:pic>
      <p:pic>
        <p:nvPicPr>
          <p:cNvPr id="86" name="Picture 85" descr="lock.png"/>
          <p:cNvPicPr>
            <a:picLocks noChangeAspect="1"/>
          </p:cNvPicPr>
          <p:nvPr/>
        </p:nvPicPr>
        <p:blipFill>
          <a:blip r:embed="rId19"/>
          <a:stretch>
            <a:fillRect/>
          </a:stretch>
        </p:blipFill>
        <p:spPr>
          <a:xfrm>
            <a:off x="4751070" y="2827057"/>
            <a:ext cx="183356" cy="266700"/>
          </a:xfrm>
          <a:prstGeom prst="rect">
            <a:avLst/>
          </a:prstGeom>
        </p:spPr>
      </p:pic>
      <p:pic>
        <p:nvPicPr>
          <p:cNvPr id="87" name="Picture 86" descr="lock.png"/>
          <p:cNvPicPr>
            <a:picLocks noChangeAspect="1"/>
          </p:cNvPicPr>
          <p:nvPr/>
        </p:nvPicPr>
        <p:blipFill>
          <a:blip r:embed="rId19"/>
          <a:stretch>
            <a:fillRect/>
          </a:stretch>
        </p:blipFill>
        <p:spPr>
          <a:xfrm>
            <a:off x="6774180" y="2827057"/>
            <a:ext cx="183356" cy="266700"/>
          </a:xfrm>
          <a:prstGeom prst="rect">
            <a:avLst/>
          </a:prstGeom>
        </p:spPr>
      </p:pic>
      <p:pic>
        <p:nvPicPr>
          <p:cNvPr id="88" name="Picture 87" descr="lock.png"/>
          <p:cNvPicPr>
            <a:picLocks noChangeAspect="1"/>
          </p:cNvPicPr>
          <p:nvPr/>
        </p:nvPicPr>
        <p:blipFill>
          <a:blip r:embed="rId19"/>
          <a:stretch>
            <a:fillRect/>
          </a:stretch>
        </p:blipFill>
        <p:spPr>
          <a:xfrm>
            <a:off x="8797290" y="2827057"/>
            <a:ext cx="183356" cy="266700"/>
          </a:xfrm>
          <a:prstGeom prst="rect">
            <a:avLst/>
          </a:prstGeom>
        </p:spPr>
      </p:pic>
      <p:pic>
        <p:nvPicPr>
          <p:cNvPr id="89" name="Picture 88" descr="lock.png"/>
          <p:cNvPicPr>
            <a:picLocks noChangeAspect="1"/>
          </p:cNvPicPr>
          <p:nvPr/>
        </p:nvPicPr>
        <p:blipFill>
          <a:blip r:embed="rId19"/>
          <a:stretch>
            <a:fillRect/>
          </a:stretch>
        </p:blipFill>
        <p:spPr>
          <a:xfrm>
            <a:off x="10820400" y="2827057"/>
            <a:ext cx="183356" cy="266700"/>
          </a:xfrm>
          <a:prstGeom prst="rect">
            <a:avLst/>
          </a:prstGeom>
        </p:spPr>
      </p:pic>
      <p:sp>
        <p:nvSpPr>
          <p:cNvPr id="90" name="TextBox 89"/>
          <p:cNvSpPr txBox="1"/>
          <p:nvPr/>
        </p:nvSpPr>
        <p:spPr>
          <a:xfrm>
            <a:off x="485775" y="4229437"/>
            <a:ext cx="2526679" cy="186689"/>
          </a:xfrm>
          <a:prstGeom prst="rect">
            <a:avLst/>
          </a:prstGeom>
          <a:noFill/>
        </p:spPr>
        <p:txBody>
          <a:bodyPr wrap="none" lIns="0" rIns="0" tIns="0" bIns="0">
            <a:spAutoFit/>
          </a:bodyPr>
          <a:lstStyle/>
          <a:p>
            <a:r>
              <a:rPr sz="1100" b="0">
                <a:solidFill>
                  <a:srgbClr val="2E2E2E"/>
                </a:solidFill>
                <a:latin typeface="Calibri"/>
              </a:rPr>
              <a:t>Among waterproof coatings by application,</a:t>
            </a:r>
          </a:p>
        </p:txBody>
      </p:sp>
      <p:sp>
        <p:nvSpPr>
          <p:cNvPr id="91" name="TextBox 90"/>
          <p:cNvSpPr txBox="1"/>
          <p:nvPr/>
        </p:nvSpPr>
        <p:spPr>
          <a:xfrm>
            <a:off x="485775" y="4397077"/>
            <a:ext cx="2878385" cy="186689"/>
          </a:xfrm>
          <a:prstGeom prst="rect">
            <a:avLst/>
          </a:prstGeom>
          <a:noFill/>
        </p:spPr>
        <p:txBody>
          <a:bodyPr wrap="none" lIns="0" rIns="0" tIns="0" bIns="0">
            <a:spAutoFit/>
          </a:bodyPr>
          <a:lstStyle/>
          <a:p>
            <a:r>
              <a:rPr sz="1100" b="0">
                <a:solidFill>
                  <a:srgbClr val="2E2E2E"/>
                </a:solidFill>
                <a:latin typeface="Calibri"/>
              </a:rPr>
              <a:t>bathrooms and wet areas segment is expected to</a:t>
            </a:r>
          </a:p>
        </p:txBody>
      </p:sp>
      <p:sp>
        <p:nvSpPr>
          <p:cNvPr id="92" name="TextBox 91"/>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93" name="Picture 92" descr="lock.png"/>
          <p:cNvPicPr>
            <a:picLocks noChangeAspect="1"/>
          </p:cNvPicPr>
          <p:nvPr/>
        </p:nvPicPr>
        <p:blipFill>
          <a:blip r:embed="rId19"/>
          <a:stretch>
            <a:fillRect/>
          </a:stretch>
        </p:blipFill>
        <p:spPr>
          <a:xfrm>
            <a:off x="2108919" y="4554938"/>
            <a:ext cx="128699" cy="187198"/>
          </a:xfrm>
          <a:prstGeom prst="rect">
            <a:avLst/>
          </a:prstGeom>
        </p:spPr>
      </p:pic>
      <p:sp>
        <p:nvSpPr>
          <p:cNvPr id="94" name="TextBox 93"/>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95" name="TextBox 94"/>
          <p:cNvSpPr txBox="1"/>
          <p:nvPr/>
        </p:nvSpPr>
        <p:spPr>
          <a:xfrm>
            <a:off x="485775" y="4732357"/>
            <a:ext cx="2902123" cy="186689"/>
          </a:xfrm>
          <a:prstGeom prst="rect">
            <a:avLst/>
          </a:prstGeom>
          <a:noFill/>
        </p:spPr>
        <p:txBody>
          <a:bodyPr wrap="none" lIns="0" rIns="0" tIns="0" bIns="0">
            <a:spAutoFit/>
          </a:bodyPr>
          <a:lstStyle/>
          <a:p>
            <a:r>
              <a:rPr sz="1100" b="0">
                <a:solidFill>
                  <a:srgbClr val="2E2E2E"/>
                </a:solidFill>
                <a:latin typeface="Calibri"/>
              </a:rPr>
              <a:t>period. In terms of value share by application, the</a:t>
            </a:r>
          </a:p>
        </p:txBody>
      </p:sp>
      <p:sp>
        <p:nvSpPr>
          <p:cNvPr id="96" name="TextBox 95"/>
          <p:cNvSpPr txBox="1"/>
          <p:nvPr/>
        </p:nvSpPr>
        <p:spPr>
          <a:xfrm>
            <a:off x="485775" y="4899997"/>
            <a:ext cx="2458466" cy="186689"/>
          </a:xfrm>
          <a:prstGeom prst="rect">
            <a:avLst/>
          </a:prstGeom>
          <a:noFill/>
        </p:spPr>
        <p:txBody>
          <a:bodyPr wrap="none" lIns="0" rIns="0" tIns="0" bIns="0">
            <a:spAutoFit/>
          </a:bodyPr>
          <a:lstStyle/>
          <a:p>
            <a:r>
              <a:rPr sz="1100" b="0">
                <a:solidFill>
                  <a:srgbClr val="2E2E2E"/>
                </a:solidFill>
                <a:latin typeface="Calibri"/>
              </a:rPr>
              <a:t>roofs and terraces segment is expected to</a:t>
            </a:r>
          </a:p>
        </p:txBody>
      </p:sp>
      <p:sp>
        <p:nvSpPr>
          <p:cNvPr id="97" name="TextBox 96"/>
          <p:cNvSpPr txBox="1"/>
          <p:nvPr/>
        </p:nvSpPr>
        <p:spPr>
          <a:xfrm>
            <a:off x="485775" y="5067637"/>
            <a:ext cx="1682750" cy="186689"/>
          </a:xfrm>
          <a:prstGeom prst="rect">
            <a:avLst/>
          </a:prstGeom>
          <a:noFill/>
        </p:spPr>
        <p:txBody>
          <a:bodyPr wrap="none" lIns="0" rIns="0" tIns="0" bIns="0">
            <a:spAutoFit/>
          </a:bodyPr>
          <a:lstStyle/>
          <a:p>
            <a:r>
              <a:rPr sz="1100" b="0">
                <a:solidFill>
                  <a:srgbClr val="2E2E2E"/>
                </a:solidFill>
                <a:latin typeface="Calibri"/>
              </a:rPr>
              <a:t>dominate the market, losing</a:t>
            </a:r>
          </a:p>
        </p:txBody>
      </p:sp>
      <p:pic>
        <p:nvPicPr>
          <p:cNvPr id="98" name="Picture 97" descr="lock.png"/>
          <p:cNvPicPr>
            <a:picLocks noChangeAspect="1"/>
          </p:cNvPicPr>
          <p:nvPr/>
        </p:nvPicPr>
        <p:blipFill>
          <a:blip r:embed="rId19"/>
          <a:stretch>
            <a:fillRect/>
          </a:stretch>
        </p:blipFill>
        <p:spPr>
          <a:xfrm>
            <a:off x="2116576" y="5057858"/>
            <a:ext cx="128699" cy="187198"/>
          </a:xfrm>
          <a:prstGeom prst="rect">
            <a:avLst/>
          </a:prstGeom>
        </p:spPr>
      </p:pic>
      <p:sp>
        <p:nvSpPr>
          <p:cNvPr id="99" name="TextBox 98"/>
          <p:cNvSpPr txBox="1"/>
          <p:nvPr/>
        </p:nvSpPr>
        <p:spPr>
          <a:xfrm>
            <a:off x="2284072"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100" name="TextBox 99"/>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101" name="Picture 100" descr="lock.png"/>
          <p:cNvPicPr>
            <a:picLocks noChangeAspect="1"/>
          </p:cNvPicPr>
          <p:nvPr/>
        </p:nvPicPr>
        <p:blipFill>
          <a:blip r:embed="rId19"/>
          <a:stretch>
            <a:fillRect/>
          </a:stretch>
        </p:blipFill>
        <p:spPr>
          <a:xfrm>
            <a:off x="1330764" y="5225498"/>
            <a:ext cx="128699" cy="187198"/>
          </a:xfrm>
          <a:prstGeom prst="rect">
            <a:avLst/>
          </a:prstGeom>
        </p:spPr>
      </p:pic>
      <p:sp>
        <p:nvSpPr>
          <p:cNvPr id="102" name="TextBox 101"/>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03" name="TextBox 102"/>
          <p:cNvSpPr txBox="1"/>
          <p:nvPr/>
        </p:nvSpPr>
        <p:spPr>
          <a:xfrm>
            <a:off x="485775" y="5453209"/>
            <a:ext cx="2914650" cy="186689"/>
          </a:xfrm>
          <a:prstGeom prst="rect">
            <a:avLst/>
          </a:prstGeom>
          <a:noFill/>
        </p:spPr>
        <p:txBody>
          <a:bodyPr wrap="none" lIns="0" rIns="0" tIns="0" bIns="0">
            <a:spAutoFit/>
          </a:bodyPr>
          <a:lstStyle/>
          <a:p>
            <a:r>
              <a:rPr sz="1100" b="0">
                <a:solidFill>
                  <a:srgbClr val="2E2E2E"/>
                </a:solidFill>
                <a:latin typeface="Calibri"/>
              </a:rPr>
              <a:t>Roofs and terraces segment is projected to register</a:t>
            </a:r>
          </a:p>
        </p:txBody>
      </p:sp>
      <p:pic>
        <p:nvPicPr>
          <p:cNvPr id="104" name="Picture 103" descr="lock.png"/>
          <p:cNvPicPr>
            <a:picLocks noChangeAspect="1"/>
          </p:cNvPicPr>
          <p:nvPr/>
        </p:nvPicPr>
        <p:blipFill>
          <a:blip r:embed="rId19"/>
          <a:stretch>
            <a:fillRect/>
          </a:stretch>
        </p:blipFill>
        <p:spPr>
          <a:xfrm>
            <a:off x="472307" y="5611070"/>
            <a:ext cx="128699" cy="187198"/>
          </a:xfrm>
          <a:prstGeom prst="rect">
            <a:avLst/>
          </a:prstGeom>
        </p:spPr>
      </p:pic>
      <p:sp>
        <p:nvSpPr>
          <p:cNvPr id="105" name="TextBox 104"/>
          <p:cNvSpPr txBox="1"/>
          <p:nvPr/>
        </p:nvSpPr>
        <p:spPr>
          <a:xfrm>
            <a:off x="639803" y="5620849"/>
            <a:ext cx="2658740" cy="186689"/>
          </a:xfrm>
          <a:prstGeom prst="rect">
            <a:avLst/>
          </a:prstGeom>
          <a:noFill/>
        </p:spPr>
        <p:txBody>
          <a:bodyPr wrap="none" lIns="0" rIns="0" tIns="0" bIns="0">
            <a:spAutoFit/>
          </a:bodyPr>
          <a:lstStyle/>
          <a:p>
            <a:r>
              <a:rPr sz="1100" b="0">
                <a:solidFill>
                  <a:srgbClr val="2E2E2E"/>
                </a:solidFill>
                <a:latin typeface="Calibri"/>
              </a:rPr>
              <a:t>X higher value than bathrooms and wet areas</a:t>
            </a:r>
          </a:p>
        </p:txBody>
      </p:sp>
      <p:sp>
        <p:nvSpPr>
          <p:cNvPr id="106" name="TextBox 105"/>
          <p:cNvSpPr txBox="1"/>
          <p:nvPr/>
        </p:nvSpPr>
        <p:spPr>
          <a:xfrm>
            <a:off x="485775" y="5788489"/>
            <a:ext cx="1055464" cy="186689"/>
          </a:xfrm>
          <a:prstGeom prst="rect">
            <a:avLst/>
          </a:prstGeom>
          <a:noFill/>
        </p:spPr>
        <p:txBody>
          <a:bodyPr wrap="none" lIns="0" rIns="0" tIns="0" bIns="0">
            <a:spAutoFit/>
          </a:bodyPr>
          <a:lstStyle/>
          <a:p>
            <a:r>
              <a:rPr sz="1100" b="0">
                <a:solidFill>
                  <a:srgbClr val="2E2E2E"/>
                </a:solidFill>
                <a:latin typeface="Calibri"/>
              </a:rPr>
              <a:t>segment in 2036.</a:t>
            </a:r>
          </a:p>
        </p:txBody>
      </p:sp>
      <p:sp>
        <p:nvSpPr>
          <p:cNvPr id="107" name="TextBox 106"/>
          <p:cNvSpPr txBox="1"/>
          <p:nvPr/>
        </p:nvSpPr>
        <p:spPr>
          <a:xfrm>
            <a:off x="3838575" y="4229437"/>
            <a:ext cx="1312490" cy="186689"/>
          </a:xfrm>
          <a:prstGeom prst="rect">
            <a:avLst/>
          </a:prstGeom>
          <a:noFill/>
        </p:spPr>
        <p:txBody>
          <a:bodyPr wrap="none" lIns="0" rIns="0" tIns="0" bIns="0">
            <a:spAutoFit/>
          </a:bodyPr>
          <a:lstStyle/>
          <a:p>
            <a:r>
              <a:rPr sz="1100" b="0">
                <a:solidFill>
                  <a:srgbClr val="2E2E2E"/>
                </a:solidFill>
                <a:latin typeface="Calibri"/>
              </a:rPr>
              <a:t>● Roofs and Terraces:</a:t>
            </a:r>
          </a:p>
        </p:txBody>
      </p:sp>
      <p:pic>
        <p:nvPicPr>
          <p:cNvPr id="108" name="Picture 107" descr="lock.png"/>
          <p:cNvPicPr>
            <a:picLocks noChangeAspect="1"/>
          </p:cNvPicPr>
          <p:nvPr/>
        </p:nvPicPr>
        <p:blipFill>
          <a:blip r:embed="rId19"/>
          <a:stretch>
            <a:fillRect/>
          </a:stretch>
        </p:blipFill>
        <p:spPr>
          <a:xfrm>
            <a:off x="5099117" y="4219658"/>
            <a:ext cx="128699" cy="187198"/>
          </a:xfrm>
          <a:prstGeom prst="rect">
            <a:avLst/>
          </a:prstGeom>
        </p:spPr>
      </p:pic>
      <p:sp>
        <p:nvSpPr>
          <p:cNvPr id="109" name="TextBox 108"/>
          <p:cNvSpPr txBox="1"/>
          <p:nvPr/>
        </p:nvSpPr>
        <p:spPr>
          <a:xfrm>
            <a:off x="5266612"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0" name="Picture 109" descr="lock.png"/>
          <p:cNvPicPr>
            <a:picLocks noChangeAspect="1"/>
          </p:cNvPicPr>
          <p:nvPr/>
        </p:nvPicPr>
        <p:blipFill>
          <a:blip r:embed="rId19"/>
          <a:stretch>
            <a:fillRect/>
          </a:stretch>
        </p:blipFill>
        <p:spPr>
          <a:xfrm>
            <a:off x="6126063" y="4219658"/>
            <a:ext cx="128699" cy="187198"/>
          </a:xfrm>
          <a:prstGeom prst="rect">
            <a:avLst/>
          </a:prstGeom>
        </p:spPr>
      </p:pic>
      <p:sp>
        <p:nvSpPr>
          <p:cNvPr id="111" name="TextBox 110"/>
          <p:cNvSpPr txBox="1"/>
          <p:nvPr/>
        </p:nvSpPr>
        <p:spPr>
          <a:xfrm>
            <a:off x="6293558"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12" name="TextBox 111"/>
          <p:cNvSpPr txBox="1"/>
          <p:nvPr/>
        </p:nvSpPr>
        <p:spPr>
          <a:xfrm>
            <a:off x="3838575" y="4447369"/>
            <a:ext cx="1725314" cy="186689"/>
          </a:xfrm>
          <a:prstGeom prst="rect">
            <a:avLst/>
          </a:prstGeom>
          <a:noFill/>
        </p:spPr>
        <p:txBody>
          <a:bodyPr wrap="none" lIns="0" rIns="0" tIns="0" bIns="0">
            <a:spAutoFit/>
          </a:bodyPr>
          <a:lstStyle/>
          <a:p>
            <a:r>
              <a:rPr sz="1100" b="0">
                <a:solidFill>
                  <a:srgbClr val="2E2E2E"/>
                </a:solidFill>
                <a:latin typeface="Calibri"/>
              </a:rPr>
              <a:t>● Bathrooms and Wet Areas:</a:t>
            </a:r>
          </a:p>
        </p:txBody>
      </p:sp>
      <p:pic>
        <p:nvPicPr>
          <p:cNvPr id="113" name="Picture 112" descr="lock.png"/>
          <p:cNvPicPr>
            <a:picLocks noChangeAspect="1"/>
          </p:cNvPicPr>
          <p:nvPr/>
        </p:nvPicPr>
        <p:blipFill>
          <a:blip r:embed="rId19"/>
          <a:stretch>
            <a:fillRect/>
          </a:stretch>
        </p:blipFill>
        <p:spPr>
          <a:xfrm>
            <a:off x="5511941" y="4437590"/>
            <a:ext cx="128699" cy="187198"/>
          </a:xfrm>
          <a:prstGeom prst="rect">
            <a:avLst/>
          </a:prstGeom>
        </p:spPr>
      </p:pic>
      <p:sp>
        <p:nvSpPr>
          <p:cNvPr id="114" name="TextBox 113"/>
          <p:cNvSpPr txBox="1"/>
          <p:nvPr/>
        </p:nvSpPr>
        <p:spPr>
          <a:xfrm>
            <a:off x="5679437"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5" name="Picture 114" descr="lock.png"/>
          <p:cNvPicPr>
            <a:picLocks noChangeAspect="1"/>
          </p:cNvPicPr>
          <p:nvPr/>
        </p:nvPicPr>
        <p:blipFill>
          <a:blip r:embed="rId19"/>
          <a:stretch>
            <a:fillRect/>
          </a:stretch>
        </p:blipFill>
        <p:spPr>
          <a:xfrm>
            <a:off x="6538887" y="4437590"/>
            <a:ext cx="128699" cy="187198"/>
          </a:xfrm>
          <a:prstGeom prst="rect">
            <a:avLst/>
          </a:prstGeom>
        </p:spPr>
      </p:pic>
      <p:sp>
        <p:nvSpPr>
          <p:cNvPr id="116" name="TextBox 115"/>
          <p:cNvSpPr txBox="1"/>
          <p:nvPr/>
        </p:nvSpPr>
        <p:spPr>
          <a:xfrm>
            <a:off x="6706383" y="4447369"/>
            <a:ext cx="769771" cy="186689"/>
          </a:xfrm>
          <a:prstGeom prst="rect">
            <a:avLst/>
          </a:prstGeom>
          <a:noFill/>
        </p:spPr>
        <p:txBody>
          <a:bodyPr wrap="none" lIns="0" rIns="0" tIns="0" bIns="0">
            <a:spAutoFit/>
          </a:bodyPr>
          <a:lstStyle/>
          <a:p>
            <a:r>
              <a:rPr sz="1100" b="0">
                <a:solidFill>
                  <a:srgbClr val="2E2E2E"/>
                </a:solidFill>
                <a:latin typeface="Calibri"/>
              </a:rPr>
              <a:t>CAGR grows</a:t>
            </a:r>
          </a:p>
        </p:txBody>
      </p:sp>
      <p:sp>
        <p:nvSpPr>
          <p:cNvPr id="117" name="TextBox 116"/>
          <p:cNvSpPr txBox="1"/>
          <p:nvPr/>
        </p:nvSpPr>
        <p:spPr>
          <a:xfrm>
            <a:off x="3838575" y="4615009"/>
            <a:ext cx="493390" cy="186689"/>
          </a:xfrm>
          <a:prstGeom prst="rect">
            <a:avLst/>
          </a:prstGeom>
          <a:noFill/>
        </p:spPr>
        <p:txBody>
          <a:bodyPr wrap="none" lIns="0" rIns="0" tIns="0" bIns="0">
            <a:spAutoFit/>
          </a:bodyPr>
          <a:lstStyle/>
          <a:p>
            <a:r>
              <a:rPr sz="1100" b="0">
                <a:solidFill>
                  <a:srgbClr val="2E2E2E"/>
                </a:solidFill>
                <a:latin typeface="Calibri"/>
              </a:rPr>
              <a:t>fastest.</a:t>
            </a:r>
          </a:p>
        </p:txBody>
      </p:sp>
      <p:sp>
        <p:nvSpPr>
          <p:cNvPr id="118" name="TextBox 117"/>
          <p:cNvSpPr txBox="1"/>
          <p:nvPr/>
        </p:nvSpPr>
        <p:spPr>
          <a:xfrm>
            <a:off x="3838575" y="4832941"/>
            <a:ext cx="1761544" cy="186689"/>
          </a:xfrm>
          <a:prstGeom prst="rect">
            <a:avLst/>
          </a:prstGeom>
          <a:noFill/>
        </p:spPr>
        <p:txBody>
          <a:bodyPr wrap="none" lIns="0" rIns="0" tIns="0" bIns="0">
            <a:spAutoFit/>
          </a:bodyPr>
          <a:lstStyle/>
          <a:p>
            <a:r>
              <a:rPr sz="1100" b="0">
                <a:solidFill>
                  <a:srgbClr val="2E2E2E"/>
                </a:solidFill>
                <a:latin typeface="Calibri"/>
              </a:rPr>
              <a:t>● Walls and Building Facades:</a:t>
            </a:r>
          </a:p>
        </p:txBody>
      </p:sp>
      <p:pic>
        <p:nvPicPr>
          <p:cNvPr id="119" name="Picture 118" descr="lock.png"/>
          <p:cNvPicPr>
            <a:picLocks noChangeAspect="1"/>
          </p:cNvPicPr>
          <p:nvPr/>
        </p:nvPicPr>
        <p:blipFill>
          <a:blip r:embed="rId19"/>
          <a:stretch>
            <a:fillRect/>
          </a:stretch>
        </p:blipFill>
        <p:spPr>
          <a:xfrm>
            <a:off x="5548171" y="4823162"/>
            <a:ext cx="128699" cy="187198"/>
          </a:xfrm>
          <a:prstGeom prst="rect">
            <a:avLst/>
          </a:prstGeom>
        </p:spPr>
      </p:pic>
      <p:sp>
        <p:nvSpPr>
          <p:cNvPr id="120" name="TextBox 119"/>
          <p:cNvSpPr txBox="1"/>
          <p:nvPr/>
        </p:nvSpPr>
        <p:spPr>
          <a:xfrm>
            <a:off x="5715666" y="483294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1" name="Picture 120" descr="lock.png"/>
          <p:cNvPicPr>
            <a:picLocks noChangeAspect="1"/>
          </p:cNvPicPr>
          <p:nvPr/>
        </p:nvPicPr>
        <p:blipFill>
          <a:blip r:embed="rId19"/>
          <a:stretch>
            <a:fillRect/>
          </a:stretch>
        </p:blipFill>
        <p:spPr>
          <a:xfrm>
            <a:off x="6575117" y="4823162"/>
            <a:ext cx="128699" cy="187198"/>
          </a:xfrm>
          <a:prstGeom prst="rect">
            <a:avLst/>
          </a:prstGeom>
        </p:spPr>
      </p:pic>
      <p:sp>
        <p:nvSpPr>
          <p:cNvPr id="122" name="TextBox 121"/>
          <p:cNvSpPr txBox="1"/>
          <p:nvPr/>
        </p:nvSpPr>
        <p:spPr>
          <a:xfrm>
            <a:off x="6742612" y="4832941"/>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23" name="TextBox 122"/>
          <p:cNvSpPr txBox="1"/>
          <p:nvPr/>
        </p:nvSpPr>
        <p:spPr>
          <a:xfrm>
            <a:off x="3838575" y="5000581"/>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24" name="TextBox 123"/>
          <p:cNvSpPr txBox="1"/>
          <p:nvPr/>
        </p:nvSpPr>
        <p:spPr>
          <a:xfrm>
            <a:off x="3838575" y="5218513"/>
            <a:ext cx="2150144" cy="186689"/>
          </a:xfrm>
          <a:prstGeom prst="rect">
            <a:avLst/>
          </a:prstGeom>
          <a:noFill/>
        </p:spPr>
        <p:txBody>
          <a:bodyPr wrap="none" lIns="0" rIns="0" tIns="0" bIns="0">
            <a:spAutoFit/>
          </a:bodyPr>
          <a:lstStyle/>
          <a:p>
            <a:r>
              <a:rPr sz="1100" b="0">
                <a:solidFill>
                  <a:srgbClr val="2E2E2E"/>
                </a:solidFill>
                <a:latin typeface="Calibri"/>
              </a:rPr>
              <a:t>● Water Tanks and Swimming Pools:</a:t>
            </a:r>
          </a:p>
        </p:txBody>
      </p:sp>
      <p:pic>
        <p:nvPicPr>
          <p:cNvPr id="125" name="Picture 124" descr="lock.png"/>
          <p:cNvPicPr>
            <a:picLocks noChangeAspect="1"/>
          </p:cNvPicPr>
          <p:nvPr/>
        </p:nvPicPr>
        <p:blipFill>
          <a:blip r:embed="rId19"/>
          <a:stretch>
            <a:fillRect/>
          </a:stretch>
        </p:blipFill>
        <p:spPr>
          <a:xfrm>
            <a:off x="5936771" y="5208733"/>
            <a:ext cx="128699" cy="187198"/>
          </a:xfrm>
          <a:prstGeom prst="rect">
            <a:avLst/>
          </a:prstGeom>
        </p:spPr>
      </p:pic>
      <p:sp>
        <p:nvSpPr>
          <p:cNvPr id="126" name="TextBox 125"/>
          <p:cNvSpPr txBox="1"/>
          <p:nvPr/>
        </p:nvSpPr>
        <p:spPr>
          <a:xfrm>
            <a:off x="6104267" y="521851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7" name="Picture 126" descr="lock.png"/>
          <p:cNvPicPr>
            <a:picLocks noChangeAspect="1"/>
          </p:cNvPicPr>
          <p:nvPr/>
        </p:nvPicPr>
        <p:blipFill>
          <a:blip r:embed="rId19"/>
          <a:stretch>
            <a:fillRect/>
          </a:stretch>
        </p:blipFill>
        <p:spPr>
          <a:xfrm>
            <a:off x="6963717" y="5208733"/>
            <a:ext cx="128699" cy="187198"/>
          </a:xfrm>
          <a:prstGeom prst="rect">
            <a:avLst/>
          </a:prstGeom>
        </p:spPr>
      </p:pic>
      <p:sp>
        <p:nvSpPr>
          <p:cNvPr id="128" name="TextBox 127"/>
          <p:cNvSpPr txBox="1"/>
          <p:nvPr/>
        </p:nvSpPr>
        <p:spPr>
          <a:xfrm>
            <a:off x="7131213" y="5218513"/>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29" name="TextBox 128"/>
          <p:cNvSpPr txBox="1"/>
          <p:nvPr/>
        </p:nvSpPr>
        <p:spPr>
          <a:xfrm>
            <a:off x="3838575" y="5386153"/>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30" name="TextBox 129"/>
          <p:cNvSpPr txBox="1"/>
          <p:nvPr/>
        </p:nvSpPr>
        <p:spPr>
          <a:xfrm>
            <a:off x="3838575" y="5604085"/>
            <a:ext cx="2589708" cy="186689"/>
          </a:xfrm>
          <a:prstGeom prst="rect">
            <a:avLst/>
          </a:prstGeom>
          <a:noFill/>
        </p:spPr>
        <p:txBody>
          <a:bodyPr wrap="none" lIns="0" rIns="0" tIns="0" bIns="0">
            <a:spAutoFit/>
          </a:bodyPr>
          <a:lstStyle/>
          <a:p>
            <a:r>
              <a:rPr sz="1100" b="0">
                <a:solidFill>
                  <a:srgbClr val="2E2E2E"/>
                </a:solidFill>
                <a:latin typeface="Calibri"/>
              </a:rPr>
              <a:t>● Bridges, Tunnels and Other Infrastructure:</a:t>
            </a:r>
          </a:p>
        </p:txBody>
      </p:sp>
      <p:pic>
        <p:nvPicPr>
          <p:cNvPr id="131" name="Picture 130" descr="lock.png"/>
          <p:cNvPicPr>
            <a:picLocks noChangeAspect="1"/>
          </p:cNvPicPr>
          <p:nvPr/>
        </p:nvPicPr>
        <p:blipFill>
          <a:blip r:embed="rId19"/>
          <a:stretch>
            <a:fillRect/>
          </a:stretch>
        </p:blipFill>
        <p:spPr>
          <a:xfrm>
            <a:off x="6376335" y="5594305"/>
            <a:ext cx="128699" cy="187198"/>
          </a:xfrm>
          <a:prstGeom prst="rect">
            <a:avLst/>
          </a:prstGeom>
        </p:spPr>
      </p:pic>
      <p:sp>
        <p:nvSpPr>
          <p:cNvPr id="132" name="TextBox 131"/>
          <p:cNvSpPr txBox="1"/>
          <p:nvPr/>
        </p:nvSpPr>
        <p:spPr>
          <a:xfrm>
            <a:off x="6543831" y="560408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3" name="Picture 132" descr="lock.png"/>
          <p:cNvPicPr>
            <a:picLocks noChangeAspect="1"/>
          </p:cNvPicPr>
          <p:nvPr/>
        </p:nvPicPr>
        <p:blipFill>
          <a:blip r:embed="rId19"/>
          <a:stretch>
            <a:fillRect/>
          </a:stretch>
        </p:blipFill>
        <p:spPr>
          <a:xfrm>
            <a:off x="7403281" y="5594305"/>
            <a:ext cx="128699" cy="187198"/>
          </a:xfrm>
          <a:prstGeom prst="rect">
            <a:avLst/>
          </a:prstGeom>
        </p:spPr>
      </p:pic>
      <p:sp>
        <p:nvSpPr>
          <p:cNvPr id="134" name="TextBox 133"/>
          <p:cNvSpPr txBox="1"/>
          <p:nvPr/>
        </p:nvSpPr>
        <p:spPr>
          <a:xfrm>
            <a:off x="3838575" y="5771725"/>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35" name="TextBox 134"/>
          <p:cNvSpPr txBox="1"/>
          <p:nvPr/>
        </p:nvSpPr>
        <p:spPr>
          <a:xfrm>
            <a:off x="8524875" y="5842641"/>
            <a:ext cx="3093045" cy="194310"/>
          </a:xfrm>
          <a:prstGeom prst="rect">
            <a:avLst/>
          </a:prstGeom>
          <a:noFill/>
        </p:spPr>
        <p:txBody>
          <a:bodyPr wrap="none" lIns="0" rIns="0" tIns="0" bIns="0">
            <a:spAutoFit/>
          </a:bodyPr>
          <a:lstStyle/>
          <a:p>
            <a:r>
              <a:rPr sz="1150" b="1">
                <a:solidFill>
                  <a:srgbClr val="0B2E4A"/>
                </a:solidFill>
                <a:latin typeface="Calibri"/>
              </a:rPr>
              <a:t>The Application segment is projected to grow at a</a:t>
            </a:r>
          </a:p>
        </p:txBody>
      </p:sp>
      <p:sp>
        <p:nvSpPr>
          <p:cNvPr id="136" name="TextBox 135"/>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37" name="Picture 136" descr="lock.png"/>
          <p:cNvPicPr>
            <a:picLocks noChangeAspect="1"/>
          </p:cNvPicPr>
          <p:nvPr/>
        </p:nvPicPr>
        <p:blipFill>
          <a:blip r:embed="rId19"/>
          <a:stretch>
            <a:fillRect/>
          </a:stretch>
        </p:blipFill>
        <p:spPr>
          <a:xfrm>
            <a:off x="9048826" y="6007677"/>
            <a:ext cx="134549" cy="195707"/>
          </a:xfrm>
          <a:prstGeom prst="rect">
            <a:avLst/>
          </a:prstGeom>
        </p:spPr>
      </p:pic>
      <p:sp>
        <p:nvSpPr>
          <p:cNvPr id="138" name="TextBox 137"/>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Application Segment Outlook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9 sub-segments of Application,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Application segment categorizes the market by application.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Basements and Foundations</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25" name="Oval 24"/>
          <p:cNvSpPr/>
          <p:nvPr/>
        </p:nvSpPr>
        <p:spPr>
          <a:xfrm>
            <a:off x="2912269"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26" name="Rounded Rectangle 25"/>
          <p:cNvSpPr/>
          <p:nvPr/>
        </p:nvSpPr>
        <p:spPr>
          <a:xfrm>
            <a:off x="4395788" y="1773916"/>
            <a:ext cx="2414588"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Floors and Parking Structures</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2" name="Oval 31"/>
          <p:cNvSpPr/>
          <p:nvPr/>
        </p:nvSpPr>
        <p:spPr>
          <a:xfrm>
            <a:off x="5441156"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33" name="Rounded Rectangle 32"/>
          <p:cNvSpPr/>
          <p:nvPr/>
        </p:nvSpPr>
        <p:spPr>
          <a:xfrm>
            <a:off x="6924675"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Balconies and Decks</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39" name="Oval 38"/>
          <p:cNvSpPr/>
          <p:nvPr/>
        </p:nvSpPr>
        <p:spPr>
          <a:xfrm>
            <a:off x="7970044"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8</a:t>
            </a:r>
          </a:p>
        </p:txBody>
      </p:sp>
      <p:sp>
        <p:nvSpPr>
          <p:cNvPr id="40" name="Rounded Rectangle 39"/>
          <p:cNvSpPr/>
          <p:nvPr/>
        </p:nvSpPr>
        <p:spPr>
          <a:xfrm>
            <a:off x="9453562"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Applications</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46" name="Oval 45"/>
          <p:cNvSpPr/>
          <p:nvPr/>
        </p:nvSpPr>
        <p:spPr>
          <a:xfrm>
            <a:off x="10498931"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9</a:t>
            </a:r>
          </a:p>
        </p:txBody>
      </p:sp>
      <p:sp>
        <p:nvSpPr>
          <p:cNvPr id="47" name="Rounded Rectangle 46"/>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9" name="Rectangle 48"/>
          <p:cNvSpPr/>
          <p:nvPr/>
        </p:nvSpPr>
        <p:spPr>
          <a:xfrm>
            <a:off x="457200" y="4146897"/>
            <a:ext cx="112776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C7A89"/>
                </a:solidFill>
                <a:latin typeface="Calibri"/>
              </a:rPr>
              <a:t/>
            </a:r>
            <a:r>
              <a:rPr sz="1100" b="1">
                <a:solidFill>
                  <a:srgbClr val="6C7A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51" name="TextBox 5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3" name="Picture 52" descr="1_027_605E5C.png"/>
          <p:cNvPicPr>
            <a:picLocks noChangeAspect="1"/>
          </p:cNvPicPr>
          <p:nvPr/>
        </p:nvPicPr>
        <p:blipFill>
          <a:blip r:embed="rId4"/>
          <a:stretch>
            <a:fillRect/>
          </a:stretch>
        </p:blipFill>
        <p:spPr>
          <a:xfrm>
            <a:off x="2476330" y="2286582"/>
            <a:ext cx="1195728" cy="361950"/>
          </a:xfrm>
          <a:prstGeom prst="rect">
            <a:avLst/>
          </a:prstGeom>
        </p:spPr>
      </p:pic>
      <p:pic>
        <p:nvPicPr>
          <p:cNvPr id="54" name="Picture 53" descr="1_331_605E5C.png"/>
          <p:cNvPicPr>
            <a:picLocks noChangeAspect="1"/>
          </p:cNvPicPr>
          <p:nvPr/>
        </p:nvPicPr>
        <p:blipFill>
          <a:blip r:embed="rId5"/>
          <a:stretch>
            <a:fillRect/>
          </a:stretch>
        </p:blipFill>
        <p:spPr>
          <a:xfrm>
            <a:off x="2476330" y="2779432"/>
            <a:ext cx="1195728" cy="361950"/>
          </a:xfrm>
          <a:prstGeom prst="rect">
            <a:avLst/>
          </a:prstGeom>
        </p:spPr>
      </p:pic>
      <p:pic>
        <p:nvPicPr>
          <p:cNvPr id="55" name="Picture 54" descr="2_6__605E5C.png"/>
          <p:cNvPicPr>
            <a:picLocks noChangeAspect="1"/>
          </p:cNvPicPr>
          <p:nvPr/>
        </p:nvPicPr>
        <p:blipFill>
          <a:blip r:embed="rId6"/>
          <a:stretch>
            <a:fillRect/>
          </a:stretch>
        </p:blipFill>
        <p:spPr>
          <a:xfrm>
            <a:off x="2582976" y="3272281"/>
            <a:ext cx="982436" cy="361950"/>
          </a:xfrm>
          <a:prstGeom prst="rect">
            <a:avLst/>
          </a:prstGeom>
        </p:spPr>
      </p:pic>
      <p:pic>
        <p:nvPicPr>
          <p:cNvPr id="56" name="Picture 55" descr="767_1_605E5C.png"/>
          <p:cNvPicPr>
            <a:picLocks noChangeAspect="1"/>
          </p:cNvPicPr>
          <p:nvPr/>
        </p:nvPicPr>
        <p:blipFill>
          <a:blip r:embed="rId7"/>
          <a:stretch>
            <a:fillRect/>
          </a:stretch>
        </p:blipFill>
        <p:spPr>
          <a:xfrm>
            <a:off x="5005218" y="2286582"/>
            <a:ext cx="1195728" cy="361950"/>
          </a:xfrm>
          <a:prstGeom prst="rect">
            <a:avLst/>
          </a:prstGeom>
        </p:spPr>
      </p:pic>
      <p:pic>
        <p:nvPicPr>
          <p:cNvPr id="57" name="Picture 56" descr="1_166_605E5C.png"/>
          <p:cNvPicPr>
            <a:picLocks noChangeAspect="1"/>
          </p:cNvPicPr>
          <p:nvPr/>
        </p:nvPicPr>
        <p:blipFill>
          <a:blip r:embed="rId8"/>
          <a:stretch>
            <a:fillRect/>
          </a:stretch>
        </p:blipFill>
        <p:spPr>
          <a:xfrm>
            <a:off x="5005218" y="2779432"/>
            <a:ext cx="1195728" cy="361950"/>
          </a:xfrm>
          <a:prstGeom prst="rect">
            <a:avLst/>
          </a:prstGeom>
        </p:spPr>
      </p:pic>
      <p:pic>
        <p:nvPicPr>
          <p:cNvPr id="58" name="Picture 57" descr="4_3__605E5C.png"/>
          <p:cNvPicPr>
            <a:picLocks noChangeAspect="1"/>
          </p:cNvPicPr>
          <p:nvPr/>
        </p:nvPicPr>
        <p:blipFill>
          <a:blip r:embed="rId9"/>
          <a:stretch>
            <a:fillRect/>
          </a:stretch>
        </p:blipFill>
        <p:spPr>
          <a:xfrm>
            <a:off x="5111864" y="3272281"/>
            <a:ext cx="982436" cy="361950"/>
          </a:xfrm>
          <a:prstGeom prst="rect">
            <a:avLst/>
          </a:prstGeom>
        </p:spPr>
      </p:pic>
      <p:pic>
        <p:nvPicPr>
          <p:cNvPr id="59" name="Picture 58" descr="637_6_605E5C.png"/>
          <p:cNvPicPr>
            <a:picLocks noChangeAspect="1"/>
          </p:cNvPicPr>
          <p:nvPr/>
        </p:nvPicPr>
        <p:blipFill>
          <a:blip r:embed="rId10"/>
          <a:stretch>
            <a:fillRect/>
          </a:stretch>
        </p:blipFill>
        <p:spPr>
          <a:xfrm>
            <a:off x="7534105" y="2286582"/>
            <a:ext cx="1195728" cy="361950"/>
          </a:xfrm>
          <a:prstGeom prst="rect">
            <a:avLst/>
          </a:prstGeom>
        </p:spPr>
      </p:pic>
      <p:pic>
        <p:nvPicPr>
          <p:cNvPr id="60" name="Picture 59" descr="715_1_605E5C.png"/>
          <p:cNvPicPr>
            <a:picLocks noChangeAspect="1"/>
          </p:cNvPicPr>
          <p:nvPr/>
        </p:nvPicPr>
        <p:blipFill>
          <a:blip r:embed="rId11"/>
          <a:stretch>
            <a:fillRect/>
          </a:stretch>
        </p:blipFill>
        <p:spPr>
          <a:xfrm>
            <a:off x="7534105" y="2779432"/>
            <a:ext cx="1195728" cy="361950"/>
          </a:xfrm>
          <a:prstGeom prst="rect">
            <a:avLst/>
          </a:prstGeom>
        </p:spPr>
      </p:pic>
      <p:pic>
        <p:nvPicPr>
          <p:cNvPr id="61" name="Picture 60" descr="1_2__605E5C.png"/>
          <p:cNvPicPr>
            <a:picLocks noChangeAspect="1"/>
          </p:cNvPicPr>
          <p:nvPr/>
        </p:nvPicPr>
        <p:blipFill>
          <a:blip r:embed="rId12"/>
          <a:stretch>
            <a:fillRect/>
          </a:stretch>
        </p:blipFill>
        <p:spPr>
          <a:xfrm>
            <a:off x="7640751" y="3272281"/>
            <a:ext cx="982436" cy="361950"/>
          </a:xfrm>
          <a:prstGeom prst="rect">
            <a:avLst/>
          </a:prstGeom>
        </p:spPr>
      </p:pic>
      <p:pic>
        <p:nvPicPr>
          <p:cNvPr id="62" name="Picture 61" descr="521_3_605E5C.png"/>
          <p:cNvPicPr>
            <a:picLocks noChangeAspect="1"/>
          </p:cNvPicPr>
          <p:nvPr/>
        </p:nvPicPr>
        <p:blipFill>
          <a:blip r:embed="rId13"/>
          <a:stretch>
            <a:fillRect/>
          </a:stretch>
        </p:blipFill>
        <p:spPr>
          <a:xfrm>
            <a:off x="10062992" y="2286582"/>
            <a:ext cx="1195728" cy="361950"/>
          </a:xfrm>
          <a:prstGeom prst="rect">
            <a:avLst/>
          </a:prstGeom>
        </p:spPr>
      </p:pic>
      <p:pic>
        <p:nvPicPr>
          <p:cNvPr id="63" name="Picture 62" descr="839_2_605E5C.png"/>
          <p:cNvPicPr>
            <a:picLocks noChangeAspect="1"/>
          </p:cNvPicPr>
          <p:nvPr/>
        </p:nvPicPr>
        <p:blipFill>
          <a:blip r:embed="rId14"/>
          <a:stretch>
            <a:fillRect/>
          </a:stretch>
        </p:blipFill>
        <p:spPr>
          <a:xfrm>
            <a:off x="10062992" y="2779432"/>
            <a:ext cx="1195728" cy="361950"/>
          </a:xfrm>
          <a:prstGeom prst="rect">
            <a:avLst/>
          </a:prstGeom>
        </p:spPr>
      </p:pic>
      <p:pic>
        <p:nvPicPr>
          <p:cNvPr id="64" name="Picture 63" descr="4_9__605E5C.png"/>
          <p:cNvPicPr>
            <a:picLocks noChangeAspect="1"/>
          </p:cNvPicPr>
          <p:nvPr/>
        </p:nvPicPr>
        <p:blipFill>
          <a:blip r:embed="rId15"/>
          <a:stretch>
            <a:fillRect/>
          </a:stretch>
        </p:blipFill>
        <p:spPr>
          <a:xfrm>
            <a:off x="10169638" y="3272281"/>
            <a:ext cx="982436" cy="361950"/>
          </a:xfrm>
          <a:prstGeom prst="rect">
            <a:avLst/>
          </a:prstGeom>
        </p:spPr>
      </p:pic>
      <p:pic>
        <p:nvPicPr>
          <p:cNvPr id="65" name="Picture 64" descr="lock.png"/>
          <p:cNvPicPr>
            <a:picLocks noChangeAspect="1"/>
          </p:cNvPicPr>
          <p:nvPr/>
        </p:nvPicPr>
        <p:blipFill>
          <a:blip r:embed="rId16"/>
          <a:stretch>
            <a:fillRect/>
          </a:stretch>
        </p:blipFill>
        <p:spPr>
          <a:xfrm>
            <a:off x="2980848" y="2827057"/>
            <a:ext cx="183356" cy="266700"/>
          </a:xfrm>
          <a:prstGeom prst="rect">
            <a:avLst/>
          </a:prstGeom>
        </p:spPr>
      </p:pic>
      <p:pic>
        <p:nvPicPr>
          <p:cNvPr id="66" name="Picture 65" descr="lock.png"/>
          <p:cNvPicPr>
            <a:picLocks noChangeAspect="1"/>
          </p:cNvPicPr>
          <p:nvPr/>
        </p:nvPicPr>
        <p:blipFill>
          <a:blip r:embed="rId16"/>
          <a:stretch>
            <a:fillRect/>
          </a:stretch>
        </p:blipFill>
        <p:spPr>
          <a:xfrm>
            <a:off x="5509737" y="2827057"/>
            <a:ext cx="183356" cy="266700"/>
          </a:xfrm>
          <a:prstGeom prst="rect">
            <a:avLst/>
          </a:prstGeom>
        </p:spPr>
      </p:pic>
      <p:pic>
        <p:nvPicPr>
          <p:cNvPr id="67" name="Picture 66" descr="lock.png"/>
          <p:cNvPicPr>
            <a:picLocks noChangeAspect="1"/>
          </p:cNvPicPr>
          <p:nvPr/>
        </p:nvPicPr>
        <p:blipFill>
          <a:blip r:embed="rId16"/>
          <a:stretch>
            <a:fillRect/>
          </a:stretch>
        </p:blipFill>
        <p:spPr>
          <a:xfrm>
            <a:off x="8038624" y="2827057"/>
            <a:ext cx="183356" cy="266700"/>
          </a:xfrm>
          <a:prstGeom prst="rect">
            <a:avLst/>
          </a:prstGeom>
        </p:spPr>
      </p:pic>
      <p:pic>
        <p:nvPicPr>
          <p:cNvPr id="68" name="Picture 67" descr="lock.png"/>
          <p:cNvPicPr>
            <a:picLocks noChangeAspect="1"/>
          </p:cNvPicPr>
          <p:nvPr/>
        </p:nvPicPr>
        <p:blipFill>
          <a:blip r:embed="rId16"/>
          <a:stretch>
            <a:fillRect/>
          </a:stretch>
        </p:blipFill>
        <p:spPr>
          <a:xfrm>
            <a:off x="10567511" y="2827057"/>
            <a:ext cx="183356" cy="266700"/>
          </a:xfrm>
          <a:prstGeom prst="rect">
            <a:avLst/>
          </a:prstGeom>
        </p:spPr>
      </p:pic>
      <p:sp>
        <p:nvSpPr>
          <p:cNvPr id="69" name="TextBox 68"/>
          <p:cNvSpPr txBox="1"/>
          <p:nvPr/>
        </p:nvSpPr>
        <p:spPr>
          <a:xfrm>
            <a:off x="485775" y="4229437"/>
            <a:ext cx="1835244" cy="186689"/>
          </a:xfrm>
          <a:prstGeom prst="rect">
            <a:avLst/>
          </a:prstGeom>
          <a:noFill/>
        </p:spPr>
        <p:txBody>
          <a:bodyPr wrap="none" lIns="0" rIns="0" tIns="0" bIns="0">
            <a:spAutoFit/>
          </a:bodyPr>
          <a:lstStyle/>
          <a:p>
            <a:r>
              <a:rPr sz="1100" b="0">
                <a:solidFill>
                  <a:srgbClr val="2E2E2E"/>
                </a:solidFill>
                <a:latin typeface="Calibri"/>
              </a:rPr>
              <a:t>● Basements and Foundations:</a:t>
            </a:r>
          </a:p>
        </p:txBody>
      </p:sp>
      <p:pic>
        <p:nvPicPr>
          <p:cNvPr id="70" name="Picture 69" descr="lock.png"/>
          <p:cNvPicPr>
            <a:picLocks noChangeAspect="1"/>
          </p:cNvPicPr>
          <p:nvPr/>
        </p:nvPicPr>
        <p:blipFill>
          <a:blip r:embed="rId16"/>
          <a:stretch>
            <a:fillRect/>
          </a:stretch>
        </p:blipFill>
        <p:spPr>
          <a:xfrm>
            <a:off x="2269070" y="4219658"/>
            <a:ext cx="128699" cy="187198"/>
          </a:xfrm>
          <a:prstGeom prst="rect">
            <a:avLst/>
          </a:prstGeom>
        </p:spPr>
      </p:pic>
      <p:sp>
        <p:nvSpPr>
          <p:cNvPr id="71" name="TextBox 70"/>
          <p:cNvSpPr txBox="1"/>
          <p:nvPr/>
        </p:nvSpPr>
        <p:spPr>
          <a:xfrm>
            <a:off x="2436566"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2" name="Picture 71" descr="lock.png"/>
          <p:cNvPicPr>
            <a:picLocks noChangeAspect="1"/>
          </p:cNvPicPr>
          <p:nvPr/>
        </p:nvPicPr>
        <p:blipFill>
          <a:blip r:embed="rId16"/>
          <a:stretch>
            <a:fillRect/>
          </a:stretch>
        </p:blipFill>
        <p:spPr>
          <a:xfrm>
            <a:off x="3296016" y="4219658"/>
            <a:ext cx="128699" cy="187198"/>
          </a:xfrm>
          <a:prstGeom prst="rect">
            <a:avLst/>
          </a:prstGeom>
        </p:spPr>
      </p:pic>
      <p:sp>
        <p:nvSpPr>
          <p:cNvPr id="73" name="TextBox 72"/>
          <p:cNvSpPr txBox="1"/>
          <p:nvPr/>
        </p:nvSpPr>
        <p:spPr>
          <a:xfrm>
            <a:off x="3463512" y="4229437"/>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74" name="TextBox 73"/>
          <p:cNvSpPr txBox="1"/>
          <p:nvPr/>
        </p:nvSpPr>
        <p:spPr>
          <a:xfrm>
            <a:off x="485775" y="4447369"/>
            <a:ext cx="1893937" cy="186689"/>
          </a:xfrm>
          <a:prstGeom prst="rect">
            <a:avLst/>
          </a:prstGeom>
          <a:noFill/>
        </p:spPr>
        <p:txBody>
          <a:bodyPr wrap="none" lIns="0" rIns="0" tIns="0" bIns="0">
            <a:spAutoFit/>
          </a:bodyPr>
          <a:lstStyle/>
          <a:p>
            <a:r>
              <a:rPr sz="1100" b="0">
                <a:solidFill>
                  <a:srgbClr val="2E2E2E"/>
                </a:solidFill>
                <a:latin typeface="Calibri"/>
              </a:rPr>
              <a:t>● Floors and Parking Structures:</a:t>
            </a:r>
          </a:p>
        </p:txBody>
      </p:sp>
      <p:pic>
        <p:nvPicPr>
          <p:cNvPr id="75" name="Picture 74" descr="lock.png"/>
          <p:cNvPicPr>
            <a:picLocks noChangeAspect="1"/>
          </p:cNvPicPr>
          <p:nvPr/>
        </p:nvPicPr>
        <p:blipFill>
          <a:blip r:embed="rId16"/>
          <a:stretch>
            <a:fillRect/>
          </a:stretch>
        </p:blipFill>
        <p:spPr>
          <a:xfrm>
            <a:off x="2327763" y="4437590"/>
            <a:ext cx="128699" cy="187198"/>
          </a:xfrm>
          <a:prstGeom prst="rect">
            <a:avLst/>
          </a:prstGeom>
        </p:spPr>
      </p:pic>
      <p:sp>
        <p:nvSpPr>
          <p:cNvPr id="76" name="TextBox 75"/>
          <p:cNvSpPr txBox="1"/>
          <p:nvPr/>
        </p:nvSpPr>
        <p:spPr>
          <a:xfrm>
            <a:off x="2495259"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7" name="Picture 76" descr="lock.png"/>
          <p:cNvPicPr>
            <a:picLocks noChangeAspect="1"/>
          </p:cNvPicPr>
          <p:nvPr/>
        </p:nvPicPr>
        <p:blipFill>
          <a:blip r:embed="rId16"/>
          <a:stretch>
            <a:fillRect/>
          </a:stretch>
        </p:blipFill>
        <p:spPr>
          <a:xfrm>
            <a:off x="3354709" y="4437590"/>
            <a:ext cx="128699" cy="187198"/>
          </a:xfrm>
          <a:prstGeom prst="rect">
            <a:avLst/>
          </a:prstGeom>
        </p:spPr>
      </p:pic>
      <p:sp>
        <p:nvSpPr>
          <p:cNvPr id="78" name="TextBox 77"/>
          <p:cNvSpPr txBox="1"/>
          <p:nvPr/>
        </p:nvSpPr>
        <p:spPr>
          <a:xfrm>
            <a:off x="3522205"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79" name="TextBox 78"/>
          <p:cNvSpPr txBox="1"/>
          <p:nvPr/>
        </p:nvSpPr>
        <p:spPr>
          <a:xfrm>
            <a:off x="485775" y="4665301"/>
            <a:ext cx="1377156" cy="186689"/>
          </a:xfrm>
          <a:prstGeom prst="rect">
            <a:avLst/>
          </a:prstGeom>
          <a:noFill/>
        </p:spPr>
        <p:txBody>
          <a:bodyPr wrap="none" lIns="0" rIns="0" tIns="0" bIns="0">
            <a:spAutoFit/>
          </a:bodyPr>
          <a:lstStyle/>
          <a:p>
            <a:r>
              <a:rPr sz="1100" b="0">
                <a:solidFill>
                  <a:srgbClr val="2E2E2E"/>
                </a:solidFill>
                <a:latin typeface="Calibri"/>
              </a:rPr>
              <a:t>● Balconies and Decks:</a:t>
            </a:r>
          </a:p>
        </p:txBody>
      </p:sp>
      <p:pic>
        <p:nvPicPr>
          <p:cNvPr id="80" name="Picture 79" descr="lock.png"/>
          <p:cNvPicPr>
            <a:picLocks noChangeAspect="1"/>
          </p:cNvPicPr>
          <p:nvPr/>
        </p:nvPicPr>
        <p:blipFill>
          <a:blip r:embed="rId16"/>
          <a:stretch>
            <a:fillRect/>
          </a:stretch>
        </p:blipFill>
        <p:spPr>
          <a:xfrm>
            <a:off x="1810982" y="4655522"/>
            <a:ext cx="128699" cy="187198"/>
          </a:xfrm>
          <a:prstGeom prst="rect">
            <a:avLst/>
          </a:prstGeom>
        </p:spPr>
      </p:pic>
      <p:sp>
        <p:nvSpPr>
          <p:cNvPr id="81" name="TextBox 80"/>
          <p:cNvSpPr txBox="1"/>
          <p:nvPr/>
        </p:nvSpPr>
        <p:spPr>
          <a:xfrm>
            <a:off x="1978478"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2" name="Picture 81" descr="lock.png"/>
          <p:cNvPicPr>
            <a:picLocks noChangeAspect="1"/>
          </p:cNvPicPr>
          <p:nvPr/>
        </p:nvPicPr>
        <p:blipFill>
          <a:blip r:embed="rId16"/>
          <a:stretch>
            <a:fillRect/>
          </a:stretch>
        </p:blipFill>
        <p:spPr>
          <a:xfrm>
            <a:off x="2837928" y="4655522"/>
            <a:ext cx="128699" cy="187198"/>
          </a:xfrm>
          <a:prstGeom prst="rect">
            <a:avLst/>
          </a:prstGeom>
        </p:spPr>
      </p:pic>
      <p:sp>
        <p:nvSpPr>
          <p:cNvPr id="83" name="TextBox 82"/>
          <p:cNvSpPr txBox="1"/>
          <p:nvPr/>
        </p:nvSpPr>
        <p:spPr>
          <a:xfrm>
            <a:off x="3005424"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84" name="TextBox 83"/>
          <p:cNvSpPr txBox="1"/>
          <p:nvPr/>
        </p:nvSpPr>
        <p:spPr>
          <a:xfrm>
            <a:off x="485775" y="4883233"/>
            <a:ext cx="1291208" cy="186689"/>
          </a:xfrm>
          <a:prstGeom prst="rect">
            <a:avLst/>
          </a:prstGeom>
          <a:noFill/>
        </p:spPr>
        <p:txBody>
          <a:bodyPr wrap="none" lIns="0" rIns="0" tIns="0" bIns="0">
            <a:spAutoFit/>
          </a:bodyPr>
          <a:lstStyle/>
          <a:p>
            <a:r>
              <a:rPr sz="1100" b="0">
                <a:solidFill>
                  <a:srgbClr val="2E2E2E"/>
                </a:solidFill>
                <a:latin typeface="Calibri"/>
              </a:rPr>
              <a:t>● Other Applications:</a:t>
            </a:r>
          </a:p>
        </p:txBody>
      </p:sp>
      <p:pic>
        <p:nvPicPr>
          <p:cNvPr id="85" name="Picture 84" descr="lock.png"/>
          <p:cNvPicPr>
            <a:picLocks noChangeAspect="1"/>
          </p:cNvPicPr>
          <p:nvPr/>
        </p:nvPicPr>
        <p:blipFill>
          <a:blip r:embed="rId16"/>
          <a:stretch>
            <a:fillRect/>
          </a:stretch>
        </p:blipFill>
        <p:spPr>
          <a:xfrm>
            <a:off x="1725034" y="4873454"/>
            <a:ext cx="128699" cy="187198"/>
          </a:xfrm>
          <a:prstGeom prst="rect">
            <a:avLst/>
          </a:prstGeom>
        </p:spPr>
      </p:pic>
      <p:sp>
        <p:nvSpPr>
          <p:cNvPr id="86" name="TextBox 85"/>
          <p:cNvSpPr txBox="1"/>
          <p:nvPr/>
        </p:nvSpPr>
        <p:spPr>
          <a:xfrm>
            <a:off x="1892530"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7" name="Picture 86" descr="lock.png"/>
          <p:cNvPicPr>
            <a:picLocks noChangeAspect="1"/>
          </p:cNvPicPr>
          <p:nvPr/>
        </p:nvPicPr>
        <p:blipFill>
          <a:blip r:embed="rId16"/>
          <a:stretch>
            <a:fillRect/>
          </a:stretch>
        </p:blipFill>
        <p:spPr>
          <a:xfrm>
            <a:off x="2751980" y="4873454"/>
            <a:ext cx="128699" cy="187198"/>
          </a:xfrm>
          <a:prstGeom prst="rect">
            <a:avLst/>
          </a:prstGeom>
        </p:spPr>
      </p:pic>
      <p:sp>
        <p:nvSpPr>
          <p:cNvPr id="88" name="TextBox 87"/>
          <p:cNvSpPr txBox="1"/>
          <p:nvPr/>
        </p:nvSpPr>
        <p:spPr>
          <a:xfrm>
            <a:off x="2919476" y="488323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Application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Application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Application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Application · Bubble size represents 2036 value</a:t>
            </a:r>
          </a:p>
        </p:txBody>
      </p:sp>
      <p:graphicFrame>
        <p:nvGraphicFramePr>
          <p:cNvPr id="15" name="Chart 14"/>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370344" cy="186689"/>
          </a:xfrm>
          <a:prstGeom prst="rect">
            <a:avLst/>
          </a:prstGeom>
          <a:noFill/>
        </p:spPr>
        <p:txBody>
          <a:bodyPr wrap="none" lIns="0" rIns="0" tIns="0" bIns="0">
            <a:spAutoFit/>
          </a:bodyPr>
          <a:lstStyle/>
          <a:p>
            <a:r>
              <a:rPr sz="1100" b="0">
                <a:solidFill>
                  <a:srgbClr val="2E2E2E"/>
                </a:solidFill>
                <a:latin typeface="Calibri"/>
              </a:rPr>
              <a:t>Roofs and terraces followed by bathrooms and wet areas are expected to be the two most attractive application segments in the global waterproof coatings market in terms of value over the forecast</a:t>
            </a:r>
          </a:p>
        </p:txBody>
      </p:sp>
      <p:sp>
        <p:nvSpPr>
          <p:cNvPr id="20" name="TextBox 19"/>
          <p:cNvSpPr txBox="1"/>
          <p:nvPr/>
        </p:nvSpPr>
        <p:spPr>
          <a:xfrm>
            <a:off x="257175" y="5861685"/>
            <a:ext cx="4665273" cy="186689"/>
          </a:xfrm>
          <a:prstGeom prst="rect">
            <a:avLst/>
          </a:prstGeom>
          <a:noFill/>
        </p:spPr>
        <p:txBody>
          <a:bodyPr wrap="none" lIns="0" rIns="0" tIns="0" bIns="0">
            <a:spAutoFit/>
          </a:bodyPr>
          <a:lstStyle/>
          <a:p>
            <a:r>
              <a:rPr sz="1100" b="0">
                <a:solidFill>
                  <a:srgbClr val="2E2E2E"/>
                </a:solidFill>
                <a:latin typeface="Calibri"/>
              </a:rPr>
              <a:t>period. Roofs and terraces and bathrooms and wet areas exhibit a CAGR index of</a:t>
            </a:r>
          </a:p>
        </p:txBody>
      </p:sp>
      <p:pic>
        <p:nvPicPr>
          <p:cNvPr id="21" name="Picture 20" descr="lock.png"/>
          <p:cNvPicPr>
            <a:picLocks noChangeAspect="1"/>
          </p:cNvPicPr>
          <p:nvPr/>
        </p:nvPicPr>
        <p:blipFill>
          <a:blip r:embed="rId6"/>
          <a:stretch>
            <a:fillRect/>
          </a:stretch>
        </p:blipFill>
        <p:spPr>
          <a:xfrm>
            <a:off x="4870499" y="5851905"/>
            <a:ext cx="128699" cy="187198"/>
          </a:xfrm>
          <a:prstGeom prst="rect">
            <a:avLst/>
          </a:prstGeom>
        </p:spPr>
      </p:pic>
      <p:sp>
        <p:nvSpPr>
          <p:cNvPr id="22" name="TextBox 21"/>
          <p:cNvSpPr txBox="1"/>
          <p:nvPr/>
        </p:nvSpPr>
        <p:spPr>
          <a:xfrm>
            <a:off x="5037995"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5275890" y="5851905"/>
            <a:ext cx="128699" cy="187198"/>
          </a:xfrm>
          <a:prstGeom prst="rect">
            <a:avLst/>
          </a:prstGeom>
        </p:spPr>
      </p:pic>
      <p:sp>
        <p:nvSpPr>
          <p:cNvPr id="24" name="TextBox 23"/>
          <p:cNvSpPr txBox="1"/>
          <p:nvPr/>
        </p:nvSpPr>
        <p:spPr>
          <a:xfrm>
            <a:off x="5443385"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7052359" y="5851905"/>
            <a:ext cx="128699" cy="187198"/>
          </a:xfrm>
          <a:prstGeom prst="rect">
            <a:avLst/>
          </a:prstGeom>
        </p:spPr>
      </p:pic>
      <p:sp>
        <p:nvSpPr>
          <p:cNvPr id="26" name="TextBox 25"/>
          <p:cNvSpPr txBox="1"/>
          <p:nvPr/>
        </p:nvSpPr>
        <p:spPr>
          <a:xfrm>
            <a:off x="7219855"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7457749" y="5851905"/>
            <a:ext cx="128699" cy="187198"/>
          </a:xfrm>
          <a:prstGeom prst="rect">
            <a:avLst/>
          </a:prstGeom>
        </p:spPr>
      </p:pic>
      <p:sp>
        <p:nvSpPr>
          <p:cNvPr id="28" name="TextBox 27"/>
          <p:cNvSpPr txBox="1"/>
          <p:nvPr/>
        </p:nvSpPr>
        <p:spPr>
          <a:xfrm>
            <a:off x="7625245"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10179649" y="5851905"/>
            <a:ext cx="128699" cy="187198"/>
          </a:xfrm>
          <a:prstGeom prst="rect">
            <a:avLst/>
          </a:prstGeom>
        </p:spPr>
      </p:pic>
      <p:sp>
        <p:nvSpPr>
          <p:cNvPr id="30" name="TextBox 29"/>
          <p:cNvSpPr txBox="1"/>
          <p:nvPr/>
        </p:nvSpPr>
        <p:spPr>
          <a:xfrm>
            <a:off x="10347145" y="5861685"/>
            <a:ext cx="920948" cy="186689"/>
          </a:xfrm>
          <a:prstGeom prst="rect">
            <a:avLst/>
          </a:prstGeom>
          <a:noFill/>
        </p:spPr>
        <p:txBody>
          <a:bodyPr wrap="none" lIns="0" rIns="0" tIns="0" bIns="0">
            <a:spAutoFit/>
          </a:bodyPr>
          <a:lstStyle/>
          <a:p>
            <a:r>
              <a:rPr sz="1100" b="0">
                <a:solidFill>
                  <a:srgbClr val="2E2E2E"/>
                </a:solidFill>
                <a:latin typeface="Calibri"/>
              </a:rPr>
              <a:t>. The balconies</a:t>
            </a:r>
          </a:p>
        </p:txBody>
      </p:sp>
      <p:sp>
        <p:nvSpPr>
          <p:cNvPr id="31" name="TextBox 30"/>
          <p:cNvSpPr txBox="1"/>
          <p:nvPr/>
        </p:nvSpPr>
        <p:spPr>
          <a:xfrm>
            <a:off x="257175" y="6029325"/>
            <a:ext cx="11465535" cy="186689"/>
          </a:xfrm>
          <a:prstGeom prst="rect">
            <a:avLst/>
          </a:prstGeom>
          <a:noFill/>
        </p:spPr>
        <p:txBody>
          <a:bodyPr wrap="none" lIns="0" rIns="0" tIns="0" bIns="0">
            <a:spAutoFit/>
          </a:bodyPr>
          <a:lstStyle/>
          <a:p>
            <a:r>
              <a:rPr sz="1100" b="0">
                <a:solidFill>
                  <a:srgbClr val="2E2E2E"/>
                </a:solidFill>
                <a:latin typeface="Calibri"/>
              </a:rPr>
              <a:t>and decks segment is expected to be less attractive as compared to other segments over the forecast period, owing to its lower CAGR and incremental opportunity. Bubbles right of the CAGR-Index line</a:t>
            </a:r>
          </a:p>
        </p:txBody>
      </p:sp>
      <p:sp>
        <p:nvSpPr>
          <p:cNvPr id="32" name="TextBox 31"/>
          <p:cNvSpPr txBox="1"/>
          <p:nvPr/>
        </p:nvSpPr>
        <p:spPr>
          <a:xfrm>
            <a:off x="257175" y="6196965"/>
            <a:ext cx="2279476" cy="186689"/>
          </a:xfrm>
          <a:prstGeom prst="rect">
            <a:avLst/>
          </a:prstGeom>
          <a:noFill/>
        </p:spPr>
        <p:txBody>
          <a:bodyPr wrap="none" lIns="0" rIns="0" tIns="0" bIns="0">
            <a:spAutoFit/>
          </a:bodyPr>
          <a:lstStyle/>
          <a:p>
            <a:r>
              <a:rPr sz="1100" b="0">
                <a:solidFill>
                  <a:srgbClr val="2E2E2E"/>
                </a:solidFill>
                <a:latin typeface="Calibri"/>
              </a:rPr>
              <a:t>grow faster 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Application (1/3)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Application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Roofs and Terraces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Walls and Building Facades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Basements and Foundations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Bathrooms and Wet Areas</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Application (2/3)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Application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Balconies and Decks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Floors and Parking Structures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Bridges, Tunnels and Other Infrastructure</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Water Tanks and Swimming Pools</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Application (3/3)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Application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Other Applications</a:t>
            </a:r>
          </a:p>
        </p:txBody>
      </p:sp>
      <p:graphicFrame>
        <p:nvGraphicFramePr>
          <p:cNvPr id="12" name="Chart 11"/>
          <p:cNvGraphicFramePr>
            <a:graphicFrameLocks noGrp="1"/>
          </p:cNvGraphicFramePr>
          <p:nvPr/>
        </p:nvGraphicFramePr>
        <p:xfrm>
          <a:off x="238125" y="1266825"/>
          <a:ext cx="5686425" cy="53054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Application</a:t>
            </a:r>
          </a:p>
        </p:txBody>
      </p:sp>
      <p:sp>
        <p:nvSpPr>
          <p:cNvPr id="15" name="Rectangle 14"/>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5550" y="1390650"/>
            <a:ext cx="5610225"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024059" y="3583939"/>
            <a:ext cx="402511" cy="585471"/>
          </a:xfrm>
          <a:prstGeom prst="rect">
            <a:avLst/>
          </a:prstGeom>
        </p:spPr>
      </p:pic>
      <p:sp>
        <p:nvSpPr>
          <p:cNvPr id="19" name="TextBox 18"/>
          <p:cNvSpPr txBox="1"/>
          <p:nvPr/>
        </p:nvSpPr>
        <p:spPr>
          <a:xfrm>
            <a:off x="6305550" y="1400175"/>
            <a:ext cx="5021909" cy="194310"/>
          </a:xfrm>
          <a:prstGeom prst="rect">
            <a:avLst/>
          </a:prstGeom>
          <a:noFill/>
        </p:spPr>
        <p:txBody>
          <a:bodyPr wrap="none" lIns="0" rIns="0" tIns="0" bIns="0">
            <a:spAutoFit/>
          </a:bodyPr>
          <a:lstStyle/>
          <a:p>
            <a:r>
              <a:rPr sz="1150" b="0">
                <a:solidFill>
                  <a:srgbClr val="2E2E2E"/>
                </a:solidFill>
                <a:latin typeface="Calibri"/>
              </a:rPr>
              <a:t>By 2036, bathrooms and wet areas segment is anticipated to witness an increase of</a:t>
            </a:r>
          </a:p>
        </p:txBody>
      </p:sp>
      <p:pic>
        <p:nvPicPr>
          <p:cNvPr id="20" name="Picture 19" descr="lock.png"/>
          <p:cNvPicPr>
            <a:picLocks noChangeAspect="1"/>
          </p:cNvPicPr>
          <p:nvPr/>
        </p:nvPicPr>
        <p:blipFill>
          <a:blip r:embed="rId5"/>
          <a:stretch>
            <a:fillRect/>
          </a:stretch>
        </p:blipFill>
        <p:spPr>
          <a:xfrm>
            <a:off x="11276613" y="1389951"/>
            <a:ext cx="134549" cy="195707"/>
          </a:xfrm>
          <a:prstGeom prst="rect">
            <a:avLst/>
          </a:prstGeom>
        </p:spPr>
      </p:pic>
      <p:sp>
        <p:nvSpPr>
          <p:cNvPr id="21" name="TextBox 20"/>
          <p:cNvSpPr txBox="1"/>
          <p:nvPr/>
        </p:nvSpPr>
        <p:spPr>
          <a:xfrm>
            <a:off x="11451723" y="1400175"/>
            <a:ext cx="295560" cy="194310"/>
          </a:xfrm>
          <a:prstGeom prst="rect">
            <a:avLst/>
          </a:prstGeom>
          <a:noFill/>
        </p:spPr>
        <p:txBody>
          <a:bodyPr wrap="none" lIns="0" rIns="0" tIns="0" bIns="0">
            <a:spAutoFit/>
          </a:bodyPr>
          <a:lstStyle/>
          <a:p>
            <a:r>
              <a:rPr sz="1150" b="0">
                <a:solidFill>
                  <a:srgbClr val="2E2E2E"/>
                </a:solidFill>
                <a:latin typeface="Calibri"/>
              </a:rPr>
              <a:t>X in</a:t>
            </a:r>
          </a:p>
        </p:txBody>
      </p:sp>
      <p:sp>
        <p:nvSpPr>
          <p:cNvPr id="22" name="TextBox 21"/>
          <p:cNvSpPr txBox="1"/>
          <p:nvPr/>
        </p:nvSpPr>
        <p:spPr>
          <a:xfrm>
            <a:off x="6305550" y="1575435"/>
            <a:ext cx="5467498" cy="194310"/>
          </a:xfrm>
          <a:prstGeom prst="rect">
            <a:avLst/>
          </a:prstGeom>
          <a:noFill/>
        </p:spPr>
        <p:txBody>
          <a:bodyPr wrap="none" lIns="0" rIns="0" tIns="0" bIns="0">
            <a:spAutoFit/>
          </a:bodyPr>
          <a:lstStyle/>
          <a:p>
            <a:r>
              <a:rPr sz="1150" b="0">
                <a:solidFill>
                  <a:srgbClr val="2E2E2E"/>
                </a:solidFill>
                <a:latin typeface="Calibri"/>
              </a:rPr>
              <a:t>terms of value as compared to 2026. The bathrooms and wet areas segment is expected to</a:t>
            </a:r>
          </a:p>
        </p:txBody>
      </p:sp>
      <p:sp>
        <p:nvSpPr>
          <p:cNvPr id="23" name="TextBox 22"/>
          <p:cNvSpPr txBox="1"/>
          <p:nvPr/>
        </p:nvSpPr>
        <p:spPr>
          <a:xfrm>
            <a:off x="6305550" y="1750695"/>
            <a:ext cx="2547069" cy="194310"/>
          </a:xfrm>
          <a:prstGeom prst="rect">
            <a:avLst/>
          </a:prstGeom>
          <a:noFill/>
        </p:spPr>
        <p:txBody>
          <a:bodyPr wrap="none" lIns="0" rIns="0" tIns="0" bIns="0">
            <a:spAutoFit/>
          </a:bodyPr>
          <a:lstStyle/>
          <a:p>
            <a:r>
              <a:rPr sz="1150" b="0">
                <a:solidFill>
                  <a:srgbClr val="2E2E2E"/>
                </a:solidFill>
                <a:latin typeface="Calibri"/>
              </a:rPr>
              <a:t>create an incremental opportunity of US$</a:t>
            </a:r>
          </a:p>
        </p:txBody>
      </p:sp>
      <p:pic>
        <p:nvPicPr>
          <p:cNvPr id="24" name="Picture 23" descr="lock.png"/>
          <p:cNvPicPr>
            <a:picLocks noChangeAspect="1"/>
          </p:cNvPicPr>
          <p:nvPr/>
        </p:nvPicPr>
        <p:blipFill>
          <a:blip r:embed="rId5"/>
          <a:stretch>
            <a:fillRect/>
          </a:stretch>
        </p:blipFill>
        <p:spPr>
          <a:xfrm>
            <a:off x="8801773" y="1740471"/>
            <a:ext cx="134549" cy="195707"/>
          </a:xfrm>
          <a:prstGeom prst="rect">
            <a:avLst/>
          </a:prstGeom>
        </p:spPr>
      </p:pic>
      <p:sp>
        <p:nvSpPr>
          <p:cNvPr id="25" name="TextBox 24"/>
          <p:cNvSpPr txBox="1"/>
          <p:nvPr/>
        </p:nvSpPr>
        <p:spPr>
          <a:xfrm>
            <a:off x="8976882" y="1750695"/>
            <a:ext cx="2844874" cy="194310"/>
          </a:xfrm>
          <a:prstGeom prst="rect">
            <a:avLst/>
          </a:prstGeom>
          <a:noFill/>
        </p:spPr>
        <p:txBody>
          <a:bodyPr wrap="none" lIns="0" rIns="0" tIns="0" bIns="0">
            <a:spAutoFit/>
          </a:bodyPr>
          <a:lstStyle/>
          <a:p>
            <a:r>
              <a:rPr sz="1150" b="0">
                <a:solidFill>
                  <a:srgbClr val="2E2E2E"/>
                </a:solidFill>
                <a:latin typeface="Calibri"/>
              </a:rPr>
              <a:t>Mn for the overall waterproof coatings market</a:t>
            </a:r>
          </a:p>
        </p:txBody>
      </p:sp>
      <p:sp>
        <p:nvSpPr>
          <p:cNvPr id="26" name="TextBox 25"/>
          <p:cNvSpPr txBox="1"/>
          <p:nvPr/>
        </p:nvSpPr>
        <p:spPr>
          <a:xfrm>
            <a:off x="6305550" y="1925955"/>
            <a:ext cx="1220923" cy="194310"/>
          </a:xfrm>
          <a:prstGeom prst="rect">
            <a:avLst/>
          </a:prstGeom>
          <a:noFill/>
        </p:spPr>
        <p:txBody>
          <a:bodyPr wrap="none" lIns="0" rIns="0" tIns="0" bIns="0">
            <a:spAutoFit/>
          </a:bodyPr>
          <a:lstStyle/>
          <a:p>
            <a:r>
              <a:rPr sz="1150" b="0">
                <a:solidFill>
                  <a:srgbClr val="2E2E2E"/>
                </a:solidFill>
                <a:latin typeface="Calibri"/>
              </a:rPr>
              <a:t>from 2026 to 2036.</a:t>
            </a:r>
          </a:p>
        </p:txBody>
      </p:sp>
      <p:sp>
        <p:nvSpPr>
          <p:cNvPr id="27" name="TextBox 26"/>
          <p:cNvSpPr txBox="1"/>
          <p:nvPr/>
        </p:nvSpPr>
        <p:spPr>
          <a:xfrm>
            <a:off x="6305550" y="2153793"/>
            <a:ext cx="5525405" cy="194310"/>
          </a:xfrm>
          <a:prstGeom prst="rect">
            <a:avLst/>
          </a:prstGeom>
          <a:noFill/>
        </p:spPr>
        <p:txBody>
          <a:bodyPr wrap="none" lIns="0" rIns="0" tIns="0" bIns="0">
            <a:spAutoFit/>
          </a:bodyPr>
          <a:lstStyle/>
          <a:p>
            <a:r>
              <a:rPr sz="1150" b="0">
                <a:solidFill>
                  <a:srgbClr val="2E2E2E"/>
                </a:solidFill>
                <a:latin typeface="Calibri"/>
              </a:rPr>
              <a:t>The walls and building facades segment is expected to create an incremental opportunity of</a:t>
            </a:r>
          </a:p>
        </p:txBody>
      </p:sp>
      <p:sp>
        <p:nvSpPr>
          <p:cNvPr id="28" name="TextBox 27"/>
          <p:cNvSpPr txBox="1"/>
          <p:nvPr/>
        </p:nvSpPr>
        <p:spPr>
          <a:xfrm>
            <a:off x="6305550" y="2329053"/>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29" name="Picture 28" descr="lock.png"/>
          <p:cNvPicPr>
            <a:picLocks noChangeAspect="1"/>
          </p:cNvPicPr>
          <p:nvPr/>
        </p:nvPicPr>
        <p:blipFill>
          <a:blip r:embed="rId5"/>
          <a:stretch>
            <a:fillRect/>
          </a:stretch>
        </p:blipFill>
        <p:spPr>
          <a:xfrm>
            <a:off x="6565953" y="2318829"/>
            <a:ext cx="134549" cy="195707"/>
          </a:xfrm>
          <a:prstGeom prst="rect">
            <a:avLst/>
          </a:prstGeom>
        </p:spPr>
      </p:pic>
      <p:sp>
        <p:nvSpPr>
          <p:cNvPr id="30" name="TextBox 29"/>
          <p:cNvSpPr txBox="1"/>
          <p:nvPr/>
        </p:nvSpPr>
        <p:spPr>
          <a:xfrm>
            <a:off x="6741062" y="2329053"/>
            <a:ext cx="4872744" cy="194310"/>
          </a:xfrm>
          <a:prstGeom prst="rect">
            <a:avLst/>
          </a:prstGeom>
          <a:noFill/>
        </p:spPr>
        <p:txBody>
          <a:bodyPr wrap="none" lIns="0" rIns="0" tIns="0" bIns="0">
            <a:spAutoFit/>
          </a:bodyPr>
          <a:lstStyle/>
          <a:p>
            <a:r>
              <a:rPr sz="1150" b="0">
                <a:solidFill>
                  <a:srgbClr val="2E2E2E"/>
                </a:solidFill>
                <a:latin typeface="Calibri"/>
              </a:rPr>
              <a:t>Mn for the overall waterproof coatings market from 2026 to 2036. The roofs and</a:t>
            </a:r>
          </a:p>
        </p:txBody>
      </p:sp>
      <p:sp>
        <p:nvSpPr>
          <p:cNvPr id="31" name="TextBox 30"/>
          <p:cNvSpPr txBox="1"/>
          <p:nvPr/>
        </p:nvSpPr>
        <p:spPr>
          <a:xfrm>
            <a:off x="6305550" y="2504313"/>
            <a:ext cx="4474529" cy="194310"/>
          </a:xfrm>
          <a:prstGeom prst="rect">
            <a:avLst/>
          </a:prstGeom>
          <a:noFill/>
        </p:spPr>
        <p:txBody>
          <a:bodyPr wrap="none" lIns="0" rIns="0" tIns="0" bIns="0">
            <a:spAutoFit/>
          </a:bodyPr>
          <a:lstStyle/>
          <a:p>
            <a:r>
              <a:rPr sz="1150" b="0">
                <a:solidFill>
                  <a:srgbClr val="2E2E2E"/>
                </a:solidFill>
                <a:latin typeface="Calibri"/>
              </a:rPr>
              <a:t>terraces segment is expected to create an incremental opportunity of US$</a:t>
            </a:r>
          </a:p>
        </p:txBody>
      </p:sp>
      <p:pic>
        <p:nvPicPr>
          <p:cNvPr id="32" name="Picture 31" descr="lock.png"/>
          <p:cNvPicPr>
            <a:picLocks noChangeAspect="1"/>
          </p:cNvPicPr>
          <p:nvPr/>
        </p:nvPicPr>
        <p:blipFill>
          <a:blip r:embed="rId5"/>
          <a:stretch>
            <a:fillRect/>
          </a:stretch>
        </p:blipFill>
        <p:spPr>
          <a:xfrm>
            <a:off x="10729233" y="2494089"/>
            <a:ext cx="134549" cy="195707"/>
          </a:xfrm>
          <a:prstGeom prst="rect">
            <a:avLst/>
          </a:prstGeom>
        </p:spPr>
      </p:pic>
      <p:sp>
        <p:nvSpPr>
          <p:cNvPr id="33" name="TextBox 32"/>
          <p:cNvSpPr txBox="1"/>
          <p:nvPr/>
        </p:nvSpPr>
        <p:spPr>
          <a:xfrm>
            <a:off x="10904343" y="2504313"/>
            <a:ext cx="715168" cy="194310"/>
          </a:xfrm>
          <a:prstGeom prst="rect">
            <a:avLst/>
          </a:prstGeom>
          <a:noFill/>
        </p:spPr>
        <p:txBody>
          <a:bodyPr wrap="none" lIns="0" rIns="0" tIns="0" bIns="0">
            <a:spAutoFit/>
          </a:bodyPr>
          <a:lstStyle/>
          <a:p>
            <a:r>
              <a:rPr sz="1150" b="0">
                <a:solidFill>
                  <a:srgbClr val="2E2E2E"/>
                </a:solidFill>
                <a:latin typeface="Calibri"/>
              </a:rPr>
              <a:t>Mn for the</a:t>
            </a:r>
          </a:p>
        </p:txBody>
      </p:sp>
      <p:sp>
        <p:nvSpPr>
          <p:cNvPr id="34" name="TextBox 33"/>
          <p:cNvSpPr txBox="1"/>
          <p:nvPr/>
        </p:nvSpPr>
        <p:spPr>
          <a:xfrm>
            <a:off x="6305550" y="2679573"/>
            <a:ext cx="3350629" cy="194310"/>
          </a:xfrm>
          <a:prstGeom prst="rect">
            <a:avLst/>
          </a:prstGeom>
          <a:noFill/>
        </p:spPr>
        <p:txBody>
          <a:bodyPr wrap="none" lIns="0" rIns="0" tIns="0" bIns="0">
            <a:spAutoFit/>
          </a:bodyPr>
          <a:lstStyle/>
          <a:p>
            <a:r>
              <a:rPr sz="1150" b="0">
                <a:solidFill>
                  <a:srgbClr val="2E2E2E"/>
                </a:solidFill>
                <a:latin typeface="Calibri"/>
              </a:rPr>
              <a:t>overall waterproof coatings market from 2026 to 2036.</a:t>
            </a:r>
          </a:p>
        </p:txBody>
      </p:sp>
      <p:sp>
        <p:nvSpPr>
          <p:cNvPr id="35" name="lockshield_12"/>
          <p:cNvSpPr/>
          <p:nvPr/>
        </p:nvSpPr>
        <p:spPr>
          <a:xfrm>
            <a:off x="238125" y="1266825"/>
            <a:ext cx="56864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Application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Application, 2021–2036, highlighting the sub-segments driving growth</a:t>
            </a:r>
          </a:p>
        </p:txBody>
      </p:sp>
      <p:sp>
        <p:nvSpPr>
          <p:cNvPr id="10" name="Rounded Rectangle 9"/>
          <p:cNvSpPr/>
          <p:nvPr/>
        </p:nvSpPr>
        <p:spPr>
          <a:xfrm>
            <a:off x="142875" y="981075"/>
            <a:ext cx="1190625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Application (US$ Mn)</a:t>
            </a:r>
          </a:p>
        </p:txBody>
      </p:sp>
      <p:graphicFrame>
        <p:nvGraphicFramePr>
          <p:cNvPr id="12" name="Table 11"/>
          <p:cNvGraphicFramePr>
            <a:graphicFrameLocks noGrp="1"/>
          </p:cNvGraphicFramePr>
          <p:nvPr/>
        </p:nvGraphicFramePr>
        <p:xfrm>
          <a:off x="152400" y="1238250"/>
          <a:ext cx="11887205" cy="2714626"/>
        </p:xfrm>
        <a:graphic>
          <a:graphicData uri="http://schemas.openxmlformats.org/drawingml/2006/table">
            <a:tbl>
              <a:tblPr>
                <a:tableStyleId>{5C22544A-7EE6-4342-B048-85BDC9FD1C3A}</a:tableStyleId>
              </a:tblPr>
              <a:tblGrid>
                <a:gridCol w="2755284"/>
                <a:gridCol w="515212"/>
                <a:gridCol w="515212"/>
                <a:gridCol w="515212"/>
                <a:gridCol w="538547"/>
                <a:gridCol w="538547"/>
                <a:gridCol w="538547"/>
                <a:gridCol w="538547"/>
                <a:gridCol w="538547"/>
                <a:gridCol w="538547"/>
                <a:gridCol w="538547"/>
                <a:gridCol w="538547"/>
                <a:gridCol w="538547"/>
                <a:gridCol w="538547"/>
                <a:gridCol w="538547"/>
                <a:gridCol w="538547"/>
                <a:gridCol w="538547"/>
                <a:gridCol w="585174"/>
              </a:tblGrid>
              <a:tr h="246126">
                <a:tc>
                  <a:txBody>
                    <a:bodyPr wrap="none"/>
                    <a:lstStyle/>
                    <a:p>
                      <a:pPr algn="l"/>
                      <a:r>
                        <a:rPr sz="1100" b="1">
                          <a:solidFill>
                            <a:srgbClr val="0B2E4A"/>
                          </a:solidFill>
                          <a:latin typeface="Calibri"/>
                        </a:rPr>
                        <a:t>Application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850">
                <a:tc>
                  <a:txBody>
                    <a:bodyPr wrap="none"/>
                    <a:lstStyle/>
                    <a:p>
                      <a:pPr algn="l"/>
                      <a:r>
                        <a:rPr sz="1100" b="1">
                          <a:solidFill>
                            <a:srgbClr val="2E2E2E"/>
                          </a:solidFill>
                          <a:latin typeface="Calibri"/>
                        </a:rPr>
                        <a:t>Roofs and Terraces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Walls and Building Facades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Basements and Foundations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Bathrooms and Wet Areas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Balconies and Decks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Floors and Parking Structures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Bridges, Tunnels and Other Infrastructure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Water Tanks and Swimming Pools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Other Applications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9624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295775"/>
            <a:ext cx="11906250" cy="2333625"/>
          </a:xfrm>
          <a:prstGeom prst="roundRect">
            <a:avLst>
              <a:gd name="adj" fmla="val 32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38150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Application</a:t>
            </a:r>
          </a:p>
        </p:txBody>
      </p:sp>
      <p:sp>
        <p:nvSpPr>
          <p:cNvPr id="16" name="Rectangle 15"/>
          <p:cNvSpPr/>
          <p:nvPr/>
        </p:nvSpPr>
        <p:spPr>
          <a:xfrm>
            <a:off x="276225" y="46196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705350"/>
            <a:ext cx="11639550" cy="18478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286954" y="2451926"/>
            <a:ext cx="366712" cy="533400"/>
          </a:xfrm>
          <a:prstGeom prst="rect">
            <a:avLst/>
          </a:prstGeom>
        </p:spPr>
      </p:pic>
      <p:sp>
        <p:nvSpPr>
          <p:cNvPr id="20" name="TextBox 19"/>
          <p:cNvSpPr txBox="1"/>
          <p:nvPr/>
        </p:nvSpPr>
        <p:spPr>
          <a:xfrm>
            <a:off x="276225" y="4714875"/>
            <a:ext cx="3111301" cy="194310"/>
          </a:xfrm>
          <a:prstGeom prst="rect">
            <a:avLst/>
          </a:prstGeom>
          <a:noFill/>
        </p:spPr>
        <p:txBody>
          <a:bodyPr wrap="none" lIns="0" rIns="0" tIns="0" bIns="0">
            <a:spAutoFit/>
          </a:bodyPr>
          <a:lstStyle/>
          <a:p>
            <a:r>
              <a:rPr sz="1150" b="0">
                <a:solidFill>
                  <a:srgbClr val="2E2E2E"/>
                </a:solidFill>
                <a:latin typeface="Calibri"/>
              </a:rPr>
              <a:t>Roofs and terraces segment is projected to register</a:t>
            </a:r>
          </a:p>
        </p:txBody>
      </p:sp>
      <p:pic>
        <p:nvPicPr>
          <p:cNvPr id="21" name="Picture 20" descr="lock.png"/>
          <p:cNvPicPr>
            <a:picLocks noChangeAspect="1"/>
          </p:cNvPicPr>
          <p:nvPr/>
        </p:nvPicPr>
        <p:blipFill>
          <a:blip r:embed="rId4"/>
          <a:stretch>
            <a:fillRect/>
          </a:stretch>
        </p:blipFill>
        <p:spPr>
          <a:xfrm>
            <a:off x="3336680" y="4704651"/>
            <a:ext cx="134549" cy="195707"/>
          </a:xfrm>
          <a:prstGeom prst="rect">
            <a:avLst/>
          </a:prstGeom>
        </p:spPr>
      </p:pic>
      <p:sp>
        <p:nvSpPr>
          <p:cNvPr id="22" name="TextBox 21"/>
          <p:cNvSpPr txBox="1"/>
          <p:nvPr/>
        </p:nvSpPr>
        <p:spPr>
          <a:xfrm>
            <a:off x="3511789" y="4714875"/>
            <a:ext cx="7981726" cy="194310"/>
          </a:xfrm>
          <a:prstGeom prst="rect">
            <a:avLst/>
          </a:prstGeom>
          <a:noFill/>
        </p:spPr>
        <p:txBody>
          <a:bodyPr wrap="none" lIns="0" rIns="0" tIns="0" bIns="0">
            <a:spAutoFit/>
          </a:bodyPr>
          <a:lstStyle/>
          <a:p>
            <a:r>
              <a:rPr sz="1150" b="0">
                <a:solidFill>
                  <a:srgbClr val="2E2E2E"/>
                </a:solidFill>
                <a:latin typeface="Calibri"/>
              </a:rPr>
              <a:t>X higher value than bathrooms and wet areas segment in 2036. Among waterproof coatings by application, bathrooms and wet areas</a:t>
            </a:r>
          </a:p>
        </p:txBody>
      </p:sp>
      <p:sp>
        <p:nvSpPr>
          <p:cNvPr id="23" name="TextBox 22"/>
          <p:cNvSpPr txBox="1"/>
          <p:nvPr/>
        </p:nvSpPr>
        <p:spPr>
          <a:xfrm>
            <a:off x="276225" y="48901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24" name="Picture 23" descr="lock.png"/>
          <p:cNvPicPr>
            <a:picLocks noChangeAspect="1"/>
          </p:cNvPicPr>
          <p:nvPr/>
        </p:nvPicPr>
        <p:blipFill>
          <a:blip r:embed="rId4"/>
          <a:stretch>
            <a:fillRect/>
          </a:stretch>
        </p:blipFill>
        <p:spPr>
          <a:xfrm>
            <a:off x="3382018" y="4879911"/>
            <a:ext cx="134549" cy="195707"/>
          </a:xfrm>
          <a:prstGeom prst="rect">
            <a:avLst/>
          </a:prstGeom>
        </p:spPr>
      </p:pic>
      <p:sp>
        <p:nvSpPr>
          <p:cNvPr id="25" name="TextBox 24"/>
          <p:cNvSpPr txBox="1"/>
          <p:nvPr/>
        </p:nvSpPr>
        <p:spPr>
          <a:xfrm>
            <a:off x="3557127" y="48901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5117972"/>
            <a:ext cx="6809047" cy="194310"/>
          </a:xfrm>
          <a:prstGeom prst="rect">
            <a:avLst/>
          </a:prstGeom>
          <a:noFill/>
        </p:spPr>
        <p:txBody>
          <a:bodyPr wrap="none" lIns="0" rIns="0" tIns="0" bIns="0">
            <a:spAutoFit/>
          </a:bodyPr>
          <a:lstStyle/>
          <a:p>
            <a:r>
              <a:rPr sz="1150" b="0">
                <a:solidFill>
                  <a:srgbClr val="2E2E2E"/>
                </a:solidFill>
                <a:latin typeface="Calibri"/>
              </a:rPr>
              <a:t>In terms of value share by application, the roofs and terraces segment is expected to dominate the market, losing</a:t>
            </a:r>
          </a:p>
        </p:txBody>
      </p:sp>
      <p:pic>
        <p:nvPicPr>
          <p:cNvPr id="27" name="Picture 26" descr="lock.png"/>
          <p:cNvPicPr>
            <a:picLocks noChangeAspect="1"/>
          </p:cNvPicPr>
          <p:nvPr/>
        </p:nvPicPr>
        <p:blipFill>
          <a:blip r:embed="rId4"/>
          <a:stretch>
            <a:fillRect/>
          </a:stretch>
        </p:blipFill>
        <p:spPr>
          <a:xfrm>
            <a:off x="7034426" y="5107749"/>
            <a:ext cx="134549" cy="195707"/>
          </a:xfrm>
          <a:prstGeom prst="rect">
            <a:avLst/>
          </a:prstGeom>
        </p:spPr>
      </p:pic>
      <p:sp>
        <p:nvSpPr>
          <p:cNvPr id="28" name="TextBox 27"/>
          <p:cNvSpPr txBox="1"/>
          <p:nvPr/>
        </p:nvSpPr>
        <p:spPr>
          <a:xfrm>
            <a:off x="7209536" y="51179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604679" y="5107749"/>
            <a:ext cx="134549" cy="195707"/>
          </a:xfrm>
          <a:prstGeom prst="rect">
            <a:avLst/>
          </a:prstGeom>
        </p:spPr>
      </p:pic>
      <p:sp>
        <p:nvSpPr>
          <p:cNvPr id="30" name="TextBox 29"/>
          <p:cNvSpPr txBox="1"/>
          <p:nvPr/>
        </p:nvSpPr>
        <p:spPr>
          <a:xfrm>
            <a:off x="8779788" y="5117972"/>
            <a:ext cx="2798378" cy="194310"/>
          </a:xfrm>
          <a:prstGeom prst="rect">
            <a:avLst/>
          </a:prstGeom>
          <a:noFill/>
        </p:spPr>
        <p:txBody>
          <a:bodyPr wrap="none" lIns="0" rIns="0" tIns="0" bIns="0">
            <a:spAutoFit/>
          </a:bodyPr>
          <a:lstStyle/>
          <a:p>
            <a:r>
              <a:rPr sz="1150" b="0">
                <a:solidFill>
                  <a:srgbClr val="2E2E2E"/>
                </a:solidFill>
                <a:latin typeface="Calibri"/>
              </a:rPr>
              <a:t>share by 2036. The bridges, tunnels and other</a:t>
            </a:r>
          </a:p>
        </p:txBody>
      </p:sp>
      <p:sp>
        <p:nvSpPr>
          <p:cNvPr id="31" name="TextBox 30"/>
          <p:cNvSpPr txBox="1"/>
          <p:nvPr/>
        </p:nvSpPr>
        <p:spPr>
          <a:xfrm>
            <a:off x="276225" y="5293232"/>
            <a:ext cx="2579873" cy="194310"/>
          </a:xfrm>
          <a:prstGeom prst="rect">
            <a:avLst/>
          </a:prstGeom>
          <a:noFill/>
        </p:spPr>
        <p:txBody>
          <a:bodyPr wrap="none" lIns="0" rIns="0" tIns="0" bIns="0">
            <a:spAutoFit/>
          </a:bodyPr>
          <a:lstStyle/>
          <a:p>
            <a:r>
              <a:rPr sz="1150" b="0">
                <a:solidFill>
                  <a:srgbClr val="2E2E2E"/>
                </a:solidFill>
                <a:latin typeface="Calibri"/>
              </a:rPr>
              <a:t>infrastructure segment is expected to lose</a:t>
            </a:r>
          </a:p>
        </p:txBody>
      </p:sp>
      <p:pic>
        <p:nvPicPr>
          <p:cNvPr id="32" name="Picture 31" descr="lock.png"/>
          <p:cNvPicPr>
            <a:picLocks noChangeAspect="1"/>
          </p:cNvPicPr>
          <p:nvPr/>
        </p:nvPicPr>
        <p:blipFill>
          <a:blip r:embed="rId4"/>
          <a:stretch>
            <a:fillRect/>
          </a:stretch>
        </p:blipFill>
        <p:spPr>
          <a:xfrm>
            <a:off x="2805252" y="5283009"/>
            <a:ext cx="134549" cy="195707"/>
          </a:xfrm>
          <a:prstGeom prst="rect">
            <a:avLst/>
          </a:prstGeom>
        </p:spPr>
      </p:pic>
      <p:sp>
        <p:nvSpPr>
          <p:cNvPr id="33" name="TextBox 32"/>
          <p:cNvSpPr txBox="1"/>
          <p:nvPr/>
        </p:nvSpPr>
        <p:spPr>
          <a:xfrm>
            <a:off x="2980361" y="52932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5567866" y="5283009"/>
            <a:ext cx="134549" cy="195707"/>
          </a:xfrm>
          <a:prstGeom prst="rect">
            <a:avLst/>
          </a:prstGeom>
        </p:spPr>
      </p:pic>
      <p:sp>
        <p:nvSpPr>
          <p:cNvPr id="35" name="TextBox 34"/>
          <p:cNvSpPr txBox="1"/>
          <p:nvPr/>
        </p:nvSpPr>
        <p:spPr>
          <a:xfrm>
            <a:off x="5742975" y="52932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Application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Application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Application ·  2021 / 2026 / 2036 (US$ Mn)  ·  right axis = BPS share shift</a:t>
            </a:r>
          </a:p>
        </p:txBody>
      </p:sp>
      <p:graphicFrame>
        <p:nvGraphicFramePr>
          <p:cNvPr id="12" name="Chart 11"/>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419225"/>
            <a:ext cx="2595753" cy="177927"/>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3932301"/>
            <a:ext cx="38100" cy="38100"/>
          </a:xfrm>
          <a:prstGeom prst="rect">
            <a:avLst/>
          </a:prstGeom>
          <a:noFill/>
        </p:spPr>
        <p:txBody>
          <a:bodyPr wrap="none">
            <a:spAutoFit/>
          </a:bodyPr>
          <a:lstStyle/>
          <a:p/>
        </p:txBody>
      </p:sp>
      <p:sp>
        <p:nvSpPr>
          <p:cNvPr id="15" name="FMI Legend Chip"/>
          <p:cNvSpPr/>
          <p:nvPr/>
        </p:nvSpPr>
        <p:spPr>
          <a:xfrm>
            <a:off x="4928997" y="1602119"/>
            <a:ext cx="85725" cy="85725"/>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59735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52115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Balconies and Decks</a:t>
            </a:r>
          </a:p>
        </p:txBody>
      </p:sp>
      <p:sp>
        <p:nvSpPr>
          <p:cNvPr id="18" name="BPS Value 1"/>
          <p:cNvSpPr txBox="1"/>
          <p:nvPr/>
        </p:nvSpPr>
        <p:spPr>
          <a:xfrm>
            <a:off x="6896100" y="158306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1809584"/>
            <a:ext cx="85725" cy="85725"/>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180482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172862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Applications</a:t>
            </a:r>
          </a:p>
        </p:txBody>
      </p:sp>
      <p:sp>
        <p:nvSpPr>
          <p:cNvPr id="22" name="BPS Value 2"/>
          <p:cNvSpPr txBox="1"/>
          <p:nvPr/>
        </p:nvSpPr>
        <p:spPr>
          <a:xfrm>
            <a:off x="6896100" y="179053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2077282"/>
            <a:ext cx="85725" cy="857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207251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199631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Floors and Parking Structures</a:t>
            </a:r>
          </a:p>
        </p:txBody>
      </p:sp>
      <p:sp>
        <p:nvSpPr>
          <p:cNvPr id="26" name="BPS Value 3"/>
          <p:cNvSpPr txBox="1"/>
          <p:nvPr/>
        </p:nvSpPr>
        <p:spPr>
          <a:xfrm>
            <a:off x="6896100" y="205823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928997" y="2408735"/>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5090922" y="240397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232777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Bridges, Tunnels and Other Infrastructure</a:t>
            </a:r>
          </a:p>
        </p:txBody>
      </p:sp>
      <p:sp>
        <p:nvSpPr>
          <p:cNvPr id="30" name="BPS Value 4"/>
          <p:cNvSpPr txBox="1"/>
          <p:nvPr/>
        </p:nvSpPr>
        <p:spPr>
          <a:xfrm>
            <a:off x="6896100" y="238968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FMI Legend Chip"/>
          <p:cNvSpPr/>
          <p:nvPr/>
        </p:nvSpPr>
        <p:spPr>
          <a:xfrm>
            <a:off x="4928997" y="2762170"/>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rot="10800000">
            <a:off x="5090922" y="275740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268120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Basements and Foundations</a:t>
            </a:r>
          </a:p>
        </p:txBody>
      </p:sp>
      <p:sp>
        <p:nvSpPr>
          <p:cNvPr id="34" name="BPS Value 5"/>
          <p:cNvSpPr txBox="1"/>
          <p:nvPr/>
        </p:nvSpPr>
        <p:spPr>
          <a:xfrm>
            <a:off x="6896100" y="274312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5" name="FMI Legend Chip"/>
          <p:cNvSpPr/>
          <p:nvPr/>
        </p:nvSpPr>
        <p:spPr>
          <a:xfrm>
            <a:off x="4928997" y="3227878"/>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5090922" y="322311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5233797" y="314691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Water Tanks and Swimming Pools</a:t>
            </a:r>
          </a:p>
        </p:txBody>
      </p:sp>
      <p:sp>
        <p:nvSpPr>
          <p:cNvPr id="38" name="BPS Value 6"/>
          <p:cNvSpPr txBox="1"/>
          <p:nvPr/>
        </p:nvSpPr>
        <p:spPr>
          <a:xfrm>
            <a:off x="6896100" y="320882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FMI Legend Chip"/>
          <p:cNvSpPr/>
          <p:nvPr/>
        </p:nvSpPr>
        <p:spPr>
          <a:xfrm>
            <a:off x="4928997" y="3915144"/>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Isosceles Triangle 39"/>
          <p:cNvSpPr/>
          <p:nvPr/>
        </p:nvSpPr>
        <p:spPr>
          <a:xfrm>
            <a:off x="5090922" y="391038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PS Name 7"/>
          <p:cNvSpPr txBox="1"/>
          <p:nvPr/>
        </p:nvSpPr>
        <p:spPr>
          <a:xfrm>
            <a:off x="5233797" y="383418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Walls and Building Facades</a:t>
            </a:r>
          </a:p>
        </p:txBody>
      </p:sp>
      <p:sp>
        <p:nvSpPr>
          <p:cNvPr id="42" name="BPS Value 7"/>
          <p:cNvSpPr txBox="1"/>
          <p:nvPr/>
        </p:nvSpPr>
        <p:spPr>
          <a:xfrm>
            <a:off x="6896100" y="389609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3" name="FMI Legend Chip"/>
          <p:cNvSpPr/>
          <p:nvPr/>
        </p:nvSpPr>
        <p:spPr>
          <a:xfrm>
            <a:off x="4928997" y="4734320"/>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Isosceles Triangle 43"/>
          <p:cNvSpPr/>
          <p:nvPr/>
        </p:nvSpPr>
        <p:spPr>
          <a:xfrm>
            <a:off x="5090922" y="472955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PS Name 8"/>
          <p:cNvSpPr txBox="1"/>
          <p:nvPr/>
        </p:nvSpPr>
        <p:spPr>
          <a:xfrm>
            <a:off x="5233797" y="465335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Bathrooms and Wet Areas</a:t>
            </a:r>
          </a:p>
        </p:txBody>
      </p:sp>
      <p:sp>
        <p:nvSpPr>
          <p:cNvPr id="46" name="BPS Value 8"/>
          <p:cNvSpPr txBox="1"/>
          <p:nvPr/>
        </p:nvSpPr>
        <p:spPr>
          <a:xfrm>
            <a:off x="6896100" y="471527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7" name="FMI Legend Chip"/>
          <p:cNvSpPr/>
          <p:nvPr/>
        </p:nvSpPr>
        <p:spPr>
          <a:xfrm>
            <a:off x="4928997" y="5698952"/>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Isosceles Triangle 47"/>
          <p:cNvSpPr/>
          <p:nvPr/>
        </p:nvSpPr>
        <p:spPr>
          <a:xfrm rot="10800000">
            <a:off x="5090922" y="569419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PS Name 9"/>
          <p:cNvSpPr txBox="1"/>
          <p:nvPr/>
        </p:nvSpPr>
        <p:spPr>
          <a:xfrm>
            <a:off x="5233797" y="561799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Roofs and Terraces</a:t>
            </a:r>
          </a:p>
        </p:txBody>
      </p:sp>
      <p:sp>
        <p:nvSpPr>
          <p:cNvPr id="50" name="BPS Value 9"/>
          <p:cNvSpPr txBox="1"/>
          <p:nvPr/>
        </p:nvSpPr>
        <p:spPr>
          <a:xfrm>
            <a:off x="6896100" y="567990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51" name="Rounded Rectangle 50"/>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Application</a:t>
            </a:r>
          </a:p>
        </p:txBody>
      </p:sp>
      <p:sp>
        <p:nvSpPr>
          <p:cNvPr id="53" name="Rectangle 52"/>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55" name="TextBox 5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6" name="Picture 55" descr="lock.png"/>
          <p:cNvPicPr>
            <a:picLocks noChangeAspect="1"/>
          </p:cNvPicPr>
          <p:nvPr/>
        </p:nvPicPr>
        <p:blipFill>
          <a:blip r:embed="rId5"/>
          <a:stretch>
            <a:fillRect/>
          </a:stretch>
        </p:blipFill>
        <p:spPr>
          <a:xfrm>
            <a:off x="2557843" y="3751325"/>
            <a:ext cx="275034" cy="400050"/>
          </a:xfrm>
          <a:prstGeom prst="rect">
            <a:avLst/>
          </a:prstGeom>
        </p:spPr>
      </p:pic>
      <p:sp>
        <p:nvSpPr>
          <p:cNvPr id="57" name="TextBox 56"/>
          <p:cNvSpPr txBox="1"/>
          <p:nvPr/>
        </p:nvSpPr>
        <p:spPr>
          <a:xfrm>
            <a:off x="7829550" y="1400175"/>
            <a:ext cx="3838128" cy="194310"/>
          </a:xfrm>
          <a:prstGeom prst="rect">
            <a:avLst/>
          </a:prstGeom>
          <a:noFill/>
        </p:spPr>
        <p:txBody>
          <a:bodyPr wrap="none" lIns="0" rIns="0" tIns="0" bIns="0">
            <a:spAutoFit/>
          </a:bodyPr>
          <a:lstStyle/>
          <a:p>
            <a:r>
              <a:rPr sz="1150" b="0">
                <a:solidFill>
                  <a:srgbClr val="2E2E2E"/>
                </a:solidFill>
                <a:latin typeface="Calibri"/>
              </a:rPr>
              <a:t>Among waterproof coatings by application, bathrooms and wet</a:t>
            </a:r>
          </a:p>
        </p:txBody>
      </p:sp>
      <p:sp>
        <p:nvSpPr>
          <p:cNvPr id="58" name="TextBox 57"/>
          <p:cNvSpPr txBox="1"/>
          <p:nvPr/>
        </p:nvSpPr>
        <p:spPr>
          <a:xfrm>
            <a:off x="7829550" y="1575435"/>
            <a:ext cx="3510353" cy="194310"/>
          </a:xfrm>
          <a:prstGeom prst="rect">
            <a:avLst/>
          </a:prstGeom>
          <a:noFill/>
        </p:spPr>
        <p:txBody>
          <a:bodyPr wrap="none" lIns="0" rIns="0" tIns="0" bIns="0">
            <a:spAutoFit/>
          </a:bodyPr>
          <a:lstStyle/>
          <a:p>
            <a:r>
              <a:rPr sz="1150" b="0">
                <a:solidFill>
                  <a:srgbClr val="2E2E2E"/>
                </a:solidFill>
                <a:latin typeface="Calibri"/>
              </a:rPr>
              <a:t>areas segment is expected to witness the highest CAGR of</a:t>
            </a:r>
          </a:p>
        </p:txBody>
      </p:sp>
      <p:pic>
        <p:nvPicPr>
          <p:cNvPr id="59" name="Picture 58" descr="lock.png"/>
          <p:cNvPicPr>
            <a:picLocks noChangeAspect="1"/>
          </p:cNvPicPr>
          <p:nvPr/>
        </p:nvPicPr>
        <p:blipFill>
          <a:blip r:embed="rId5"/>
          <a:stretch>
            <a:fillRect/>
          </a:stretch>
        </p:blipFill>
        <p:spPr>
          <a:xfrm>
            <a:off x="11289057" y="1565211"/>
            <a:ext cx="134549" cy="195707"/>
          </a:xfrm>
          <a:prstGeom prst="rect">
            <a:avLst/>
          </a:prstGeom>
        </p:spPr>
      </p:pic>
      <p:sp>
        <p:nvSpPr>
          <p:cNvPr id="60" name="TextBox 59"/>
          <p:cNvSpPr txBox="1"/>
          <p:nvPr/>
        </p:nvSpPr>
        <p:spPr>
          <a:xfrm>
            <a:off x="11464167" y="1575435"/>
            <a:ext cx="342912" cy="194310"/>
          </a:xfrm>
          <a:prstGeom prst="rect">
            <a:avLst/>
          </a:prstGeom>
          <a:noFill/>
        </p:spPr>
        <p:txBody>
          <a:bodyPr wrap="none" lIns="0" rIns="0" tIns="0" bIns="0">
            <a:spAutoFit/>
          </a:bodyPr>
          <a:lstStyle/>
          <a:p>
            <a:r>
              <a:rPr sz="1150" b="0">
                <a:solidFill>
                  <a:srgbClr val="2E2E2E"/>
                </a:solidFill>
                <a:latin typeface="Calibri"/>
              </a:rPr>
              <a:t>over</a:t>
            </a:r>
          </a:p>
        </p:txBody>
      </p:sp>
      <p:sp>
        <p:nvSpPr>
          <p:cNvPr id="61" name="TextBox 60"/>
          <p:cNvSpPr txBox="1"/>
          <p:nvPr/>
        </p:nvSpPr>
        <p:spPr>
          <a:xfrm>
            <a:off x="7829550" y="1750695"/>
            <a:ext cx="4057650" cy="194310"/>
          </a:xfrm>
          <a:prstGeom prst="rect">
            <a:avLst/>
          </a:prstGeom>
          <a:noFill/>
        </p:spPr>
        <p:txBody>
          <a:bodyPr wrap="none" lIns="0" rIns="0" tIns="0" bIns="0">
            <a:spAutoFit/>
          </a:bodyPr>
          <a:lstStyle/>
          <a:p>
            <a:r>
              <a:rPr sz="1150" b="0">
                <a:solidFill>
                  <a:srgbClr val="2E2E2E"/>
                </a:solidFill>
                <a:latin typeface="Calibri"/>
              </a:rPr>
              <a:t>the forecast period. In terms of value share by application, the roofs</a:t>
            </a:r>
          </a:p>
        </p:txBody>
      </p:sp>
      <p:sp>
        <p:nvSpPr>
          <p:cNvPr id="62" name="TextBox 61"/>
          <p:cNvSpPr txBox="1"/>
          <p:nvPr/>
        </p:nvSpPr>
        <p:spPr>
          <a:xfrm>
            <a:off x="7829550" y="1925955"/>
            <a:ext cx="3939678" cy="194310"/>
          </a:xfrm>
          <a:prstGeom prst="rect">
            <a:avLst/>
          </a:prstGeom>
          <a:noFill/>
        </p:spPr>
        <p:txBody>
          <a:bodyPr wrap="none" lIns="0" rIns="0" tIns="0" bIns="0">
            <a:spAutoFit/>
          </a:bodyPr>
          <a:lstStyle/>
          <a:p>
            <a:r>
              <a:rPr sz="1150" b="0">
                <a:solidFill>
                  <a:srgbClr val="2E2E2E"/>
                </a:solidFill>
                <a:latin typeface="Calibri"/>
              </a:rPr>
              <a:t>and terraces segment is expected to dominate the market, losing</a:t>
            </a:r>
          </a:p>
        </p:txBody>
      </p:sp>
      <p:pic>
        <p:nvPicPr>
          <p:cNvPr id="63" name="Picture 62" descr="lock.png"/>
          <p:cNvPicPr>
            <a:picLocks noChangeAspect="1"/>
          </p:cNvPicPr>
          <p:nvPr/>
        </p:nvPicPr>
        <p:blipFill>
          <a:blip r:embed="rId5"/>
          <a:stretch>
            <a:fillRect/>
          </a:stretch>
        </p:blipFill>
        <p:spPr>
          <a:xfrm>
            <a:off x="7815470" y="2090991"/>
            <a:ext cx="134549" cy="195707"/>
          </a:xfrm>
          <a:prstGeom prst="rect">
            <a:avLst/>
          </a:prstGeom>
        </p:spPr>
      </p:pic>
      <p:sp>
        <p:nvSpPr>
          <p:cNvPr id="64" name="TextBox 63"/>
          <p:cNvSpPr txBox="1"/>
          <p:nvPr/>
        </p:nvSpPr>
        <p:spPr>
          <a:xfrm>
            <a:off x="7990579"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65" name="Picture 64" descr="lock.png"/>
          <p:cNvPicPr>
            <a:picLocks noChangeAspect="1"/>
          </p:cNvPicPr>
          <p:nvPr/>
        </p:nvPicPr>
        <p:blipFill>
          <a:blip r:embed="rId5"/>
          <a:stretch>
            <a:fillRect/>
          </a:stretch>
        </p:blipFill>
        <p:spPr>
          <a:xfrm>
            <a:off x="9385722" y="2090991"/>
            <a:ext cx="134549" cy="195707"/>
          </a:xfrm>
          <a:prstGeom prst="rect">
            <a:avLst/>
          </a:prstGeom>
        </p:spPr>
      </p:pic>
      <p:sp>
        <p:nvSpPr>
          <p:cNvPr id="66" name="TextBox 65"/>
          <p:cNvSpPr txBox="1"/>
          <p:nvPr/>
        </p:nvSpPr>
        <p:spPr>
          <a:xfrm>
            <a:off x="9560832"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7" name="TextBox 66"/>
          <p:cNvSpPr txBox="1"/>
          <p:nvPr/>
        </p:nvSpPr>
        <p:spPr>
          <a:xfrm>
            <a:off x="7829550" y="2329053"/>
            <a:ext cx="3999296" cy="194310"/>
          </a:xfrm>
          <a:prstGeom prst="rect">
            <a:avLst/>
          </a:prstGeom>
          <a:noFill/>
        </p:spPr>
        <p:txBody>
          <a:bodyPr wrap="none" lIns="0" rIns="0" tIns="0" bIns="0">
            <a:spAutoFit/>
          </a:bodyPr>
          <a:lstStyle/>
          <a:p>
            <a:r>
              <a:rPr sz="1150" b="0">
                <a:solidFill>
                  <a:srgbClr val="2E2E2E"/>
                </a:solidFill>
                <a:latin typeface="Calibri"/>
              </a:rPr>
              <a:t>The bridges, tunnels and other infrastructure segment is expected</a:t>
            </a:r>
          </a:p>
        </p:txBody>
      </p:sp>
      <p:sp>
        <p:nvSpPr>
          <p:cNvPr id="68" name="TextBox 67"/>
          <p:cNvSpPr txBox="1"/>
          <p:nvPr/>
        </p:nvSpPr>
        <p:spPr>
          <a:xfrm>
            <a:off x="7829550" y="2504313"/>
            <a:ext cx="475840" cy="194310"/>
          </a:xfrm>
          <a:prstGeom prst="rect">
            <a:avLst/>
          </a:prstGeom>
          <a:noFill/>
        </p:spPr>
        <p:txBody>
          <a:bodyPr wrap="none" lIns="0" rIns="0" tIns="0" bIns="0">
            <a:spAutoFit/>
          </a:bodyPr>
          <a:lstStyle/>
          <a:p>
            <a:r>
              <a:rPr sz="1150" b="0">
                <a:solidFill>
                  <a:srgbClr val="2E2E2E"/>
                </a:solidFill>
                <a:latin typeface="Calibri"/>
              </a:rPr>
              <a:t>to lose</a:t>
            </a:r>
          </a:p>
        </p:txBody>
      </p:sp>
      <p:pic>
        <p:nvPicPr>
          <p:cNvPr id="69" name="Picture 68" descr="lock.png"/>
          <p:cNvPicPr>
            <a:picLocks noChangeAspect="1"/>
          </p:cNvPicPr>
          <p:nvPr/>
        </p:nvPicPr>
        <p:blipFill>
          <a:blip r:embed="rId5"/>
          <a:stretch>
            <a:fillRect/>
          </a:stretch>
        </p:blipFill>
        <p:spPr>
          <a:xfrm>
            <a:off x="8254544" y="2494089"/>
            <a:ext cx="134549" cy="195707"/>
          </a:xfrm>
          <a:prstGeom prst="rect">
            <a:avLst/>
          </a:prstGeom>
        </p:spPr>
      </p:pic>
      <p:sp>
        <p:nvSpPr>
          <p:cNvPr id="70" name="TextBox 69"/>
          <p:cNvSpPr txBox="1"/>
          <p:nvPr/>
        </p:nvSpPr>
        <p:spPr>
          <a:xfrm>
            <a:off x="8429653" y="250431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71" name="Picture 70" descr="lock.png"/>
          <p:cNvPicPr>
            <a:picLocks noChangeAspect="1"/>
          </p:cNvPicPr>
          <p:nvPr/>
        </p:nvPicPr>
        <p:blipFill>
          <a:blip r:embed="rId5"/>
          <a:stretch>
            <a:fillRect/>
          </a:stretch>
        </p:blipFill>
        <p:spPr>
          <a:xfrm>
            <a:off x="11017158" y="2494089"/>
            <a:ext cx="134549" cy="195707"/>
          </a:xfrm>
          <a:prstGeom prst="rect">
            <a:avLst/>
          </a:prstGeom>
        </p:spPr>
      </p:pic>
      <p:sp>
        <p:nvSpPr>
          <p:cNvPr id="72" name="TextBox 71"/>
          <p:cNvSpPr txBox="1"/>
          <p:nvPr/>
        </p:nvSpPr>
        <p:spPr>
          <a:xfrm>
            <a:off x="11192267" y="2504313"/>
            <a:ext cx="403671" cy="194310"/>
          </a:xfrm>
          <a:prstGeom prst="rect">
            <a:avLst/>
          </a:prstGeom>
          <a:noFill/>
        </p:spPr>
        <p:txBody>
          <a:bodyPr wrap="none" lIns="0" rIns="0" tIns="0" bIns="0">
            <a:spAutoFit/>
          </a:bodyPr>
          <a:lstStyle/>
          <a:p>
            <a:r>
              <a:rPr sz="1150" b="0">
                <a:solidFill>
                  <a:srgbClr val="2E2E2E"/>
                </a:solidFill>
                <a:latin typeface="Calibri"/>
              </a:rPr>
              <a:t>share</a:t>
            </a:r>
          </a:p>
        </p:txBody>
      </p:sp>
      <p:sp>
        <p:nvSpPr>
          <p:cNvPr id="73" name="TextBox 72"/>
          <p:cNvSpPr txBox="1"/>
          <p:nvPr/>
        </p:nvSpPr>
        <p:spPr>
          <a:xfrm>
            <a:off x="7829550" y="2679573"/>
            <a:ext cx="585663" cy="194310"/>
          </a:xfrm>
          <a:prstGeom prst="rect">
            <a:avLst/>
          </a:prstGeom>
          <a:noFill/>
        </p:spPr>
        <p:txBody>
          <a:bodyPr wrap="none" lIns="0" rIns="0" tIns="0" bIns="0">
            <a:spAutoFit/>
          </a:bodyPr>
          <a:lstStyle/>
          <a:p>
            <a:r>
              <a:rPr sz="1150" b="0">
                <a:solidFill>
                  <a:srgbClr val="2E2E2E"/>
                </a:solidFill>
                <a:latin typeface="Calibri"/>
              </a:rPr>
              <a:t>by 2036.</a:t>
            </a:r>
          </a:p>
        </p:txBody>
      </p:sp>
      <p:sp>
        <p:nvSpPr>
          <p:cNvPr id="74" name="lockshield_12"/>
          <p:cNvSpPr/>
          <p:nvPr/>
        </p:nvSpPr>
        <p:spPr>
          <a:xfrm>
            <a:off x="238125" y="1409700"/>
            <a:ext cx="4614672" cy="516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Substrate Material</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Substrate Material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Substrate Material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6 sub-segments of Substrate Material,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Substrate Material segment categorizes the market by substrate material.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Substrates</a:t>
            </a:r>
          </a:p>
        </p:txBody>
      </p:sp>
      <p:sp>
        <p:nvSpPr>
          <p:cNvPr id="22" name="Rectangle 21"/>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Composite Materials</a:t>
            </a:r>
          </a:p>
        </p:txBody>
      </p:sp>
      <p:sp>
        <p:nvSpPr>
          <p:cNvPr id="29" name="Rectangle 28"/>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Masonry and Brickwork</a:t>
            </a:r>
          </a:p>
        </p:txBody>
      </p:sp>
      <p:sp>
        <p:nvSpPr>
          <p:cNvPr id="36" name="Rectangle 35"/>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Wood</a:t>
            </a:r>
          </a:p>
        </p:txBody>
      </p:sp>
      <p:sp>
        <p:nvSpPr>
          <p:cNvPr id="43" name="Rectangle 42"/>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Metal</a:t>
            </a:r>
          </a:p>
        </p:txBody>
      </p:sp>
      <p:sp>
        <p:nvSpPr>
          <p:cNvPr id="50" name="Rectangle 49"/>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Concrete and Cementitious Surfaces</a:t>
            </a:r>
          </a:p>
        </p:txBody>
      </p:sp>
      <p:sp>
        <p:nvSpPr>
          <p:cNvPr id="57" name="Rectangle 56"/>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8" name="Rectangle 57"/>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9" name="Rectangle 58"/>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0" name="Oval 59"/>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1" name="Rounded Rectangle 6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3" name="Rectangle 6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5" name="Rounded Rectangle 6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7" name="Rectangle 6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9" name="Rounded Rectangle 6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71" name="Rectangle 7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Substrate Material split shows how demand is distributed across substrate material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73" name="Rectangle 7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5" name="TextBox 7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6" name="TextBox 7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7" name="Picture 76" descr="3_298_605E5C.png"/>
          <p:cNvPicPr>
            <a:picLocks noChangeAspect="1"/>
          </p:cNvPicPr>
          <p:nvPr/>
        </p:nvPicPr>
        <p:blipFill>
          <a:blip r:embed="rId4"/>
          <a:stretch>
            <a:fillRect/>
          </a:stretch>
        </p:blipFill>
        <p:spPr>
          <a:xfrm>
            <a:off x="2054848" y="2286582"/>
            <a:ext cx="1195728" cy="361950"/>
          </a:xfrm>
          <a:prstGeom prst="rect">
            <a:avLst/>
          </a:prstGeom>
        </p:spPr>
      </p:pic>
      <p:pic>
        <p:nvPicPr>
          <p:cNvPr id="78" name="Picture 77" descr="4_567_605E5C.png"/>
          <p:cNvPicPr>
            <a:picLocks noChangeAspect="1"/>
          </p:cNvPicPr>
          <p:nvPr/>
        </p:nvPicPr>
        <p:blipFill>
          <a:blip r:embed="rId5"/>
          <a:stretch>
            <a:fillRect/>
          </a:stretch>
        </p:blipFill>
        <p:spPr>
          <a:xfrm>
            <a:off x="2054848" y="2779432"/>
            <a:ext cx="1195728" cy="361950"/>
          </a:xfrm>
          <a:prstGeom prst="rect">
            <a:avLst/>
          </a:prstGeom>
        </p:spPr>
      </p:pic>
      <p:pic>
        <p:nvPicPr>
          <p:cNvPr id="79" name="Picture 78" descr="3_3__605E5C.png"/>
          <p:cNvPicPr>
            <a:picLocks noChangeAspect="1"/>
          </p:cNvPicPr>
          <p:nvPr/>
        </p:nvPicPr>
        <p:blipFill>
          <a:blip r:embed="rId6"/>
          <a:stretch>
            <a:fillRect/>
          </a:stretch>
        </p:blipFill>
        <p:spPr>
          <a:xfrm>
            <a:off x="2161494" y="3272281"/>
            <a:ext cx="982436" cy="361950"/>
          </a:xfrm>
          <a:prstGeom prst="rect">
            <a:avLst/>
          </a:prstGeom>
        </p:spPr>
      </p:pic>
      <p:pic>
        <p:nvPicPr>
          <p:cNvPr id="80" name="Picture 79" descr="2_539_605E5C.png"/>
          <p:cNvPicPr>
            <a:picLocks noChangeAspect="1"/>
          </p:cNvPicPr>
          <p:nvPr/>
        </p:nvPicPr>
        <p:blipFill>
          <a:blip r:embed="rId7"/>
          <a:stretch>
            <a:fillRect/>
          </a:stretch>
        </p:blipFill>
        <p:spPr>
          <a:xfrm>
            <a:off x="3740773" y="2286582"/>
            <a:ext cx="1195728" cy="361950"/>
          </a:xfrm>
          <a:prstGeom prst="rect">
            <a:avLst/>
          </a:prstGeom>
        </p:spPr>
      </p:pic>
      <p:pic>
        <p:nvPicPr>
          <p:cNvPr id="81" name="Picture 80" descr="4_424_605E5C.png"/>
          <p:cNvPicPr>
            <a:picLocks noChangeAspect="1"/>
          </p:cNvPicPr>
          <p:nvPr/>
        </p:nvPicPr>
        <p:blipFill>
          <a:blip r:embed="rId8"/>
          <a:stretch>
            <a:fillRect/>
          </a:stretch>
        </p:blipFill>
        <p:spPr>
          <a:xfrm>
            <a:off x="3740773" y="2779432"/>
            <a:ext cx="1195728" cy="361950"/>
          </a:xfrm>
          <a:prstGeom prst="rect">
            <a:avLst/>
          </a:prstGeom>
        </p:spPr>
      </p:pic>
      <p:pic>
        <p:nvPicPr>
          <p:cNvPr id="82" name="Picture 81" descr="5_7__605E5C.png"/>
          <p:cNvPicPr>
            <a:picLocks noChangeAspect="1"/>
          </p:cNvPicPr>
          <p:nvPr/>
        </p:nvPicPr>
        <p:blipFill>
          <a:blip r:embed="rId9"/>
          <a:stretch>
            <a:fillRect/>
          </a:stretch>
        </p:blipFill>
        <p:spPr>
          <a:xfrm>
            <a:off x="3847419" y="3272281"/>
            <a:ext cx="982436" cy="361950"/>
          </a:xfrm>
          <a:prstGeom prst="rect">
            <a:avLst/>
          </a:prstGeom>
        </p:spPr>
      </p:pic>
      <p:pic>
        <p:nvPicPr>
          <p:cNvPr id="83" name="Picture 82" descr="2_375_605E5C.png"/>
          <p:cNvPicPr>
            <a:picLocks noChangeAspect="1"/>
          </p:cNvPicPr>
          <p:nvPr/>
        </p:nvPicPr>
        <p:blipFill>
          <a:blip r:embed="rId10"/>
          <a:stretch>
            <a:fillRect/>
          </a:stretch>
        </p:blipFill>
        <p:spPr>
          <a:xfrm>
            <a:off x="5426698" y="2286582"/>
            <a:ext cx="1195728" cy="361950"/>
          </a:xfrm>
          <a:prstGeom prst="rect">
            <a:avLst/>
          </a:prstGeom>
        </p:spPr>
      </p:pic>
      <p:pic>
        <p:nvPicPr>
          <p:cNvPr id="84" name="Picture 83" descr="4_763_605E5C.png"/>
          <p:cNvPicPr>
            <a:picLocks noChangeAspect="1"/>
          </p:cNvPicPr>
          <p:nvPr/>
        </p:nvPicPr>
        <p:blipFill>
          <a:blip r:embed="rId11"/>
          <a:stretch>
            <a:fillRect/>
          </a:stretch>
        </p:blipFill>
        <p:spPr>
          <a:xfrm>
            <a:off x="5426698" y="2779432"/>
            <a:ext cx="1195728" cy="361950"/>
          </a:xfrm>
          <a:prstGeom prst="rect">
            <a:avLst/>
          </a:prstGeom>
        </p:spPr>
      </p:pic>
      <p:pic>
        <p:nvPicPr>
          <p:cNvPr id="85" name="Picture 84" descr="7_2__605E5C.png"/>
          <p:cNvPicPr>
            <a:picLocks noChangeAspect="1"/>
          </p:cNvPicPr>
          <p:nvPr/>
        </p:nvPicPr>
        <p:blipFill>
          <a:blip r:embed="rId12"/>
          <a:stretch>
            <a:fillRect/>
          </a:stretch>
        </p:blipFill>
        <p:spPr>
          <a:xfrm>
            <a:off x="5533344" y="3272281"/>
            <a:ext cx="982436" cy="361950"/>
          </a:xfrm>
          <a:prstGeom prst="rect">
            <a:avLst/>
          </a:prstGeom>
        </p:spPr>
      </p:pic>
      <p:pic>
        <p:nvPicPr>
          <p:cNvPr id="86" name="Picture 85" descr="1_686_605E5C.png"/>
          <p:cNvPicPr>
            <a:picLocks noChangeAspect="1"/>
          </p:cNvPicPr>
          <p:nvPr/>
        </p:nvPicPr>
        <p:blipFill>
          <a:blip r:embed="rId13"/>
          <a:stretch>
            <a:fillRect/>
          </a:stretch>
        </p:blipFill>
        <p:spPr>
          <a:xfrm>
            <a:off x="7112623" y="2286582"/>
            <a:ext cx="1195728" cy="361950"/>
          </a:xfrm>
          <a:prstGeom prst="rect">
            <a:avLst/>
          </a:prstGeom>
        </p:spPr>
      </p:pic>
      <p:pic>
        <p:nvPicPr>
          <p:cNvPr id="87" name="Picture 86" descr="2_666_605E5C.png"/>
          <p:cNvPicPr>
            <a:picLocks noChangeAspect="1"/>
          </p:cNvPicPr>
          <p:nvPr/>
        </p:nvPicPr>
        <p:blipFill>
          <a:blip r:embed="rId14"/>
          <a:stretch>
            <a:fillRect/>
          </a:stretch>
        </p:blipFill>
        <p:spPr>
          <a:xfrm>
            <a:off x="7112623" y="2779432"/>
            <a:ext cx="1195728" cy="361950"/>
          </a:xfrm>
          <a:prstGeom prst="rect">
            <a:avLst/>
          </a:prstGeom>
        </p:spPr>
      </p:pic>
      <p:pic>
        <p:nvPicPr>
          <p:cNvPr id="88" name="Picture 87" descr="4_7__605E5C.png"/>
          <p:cNvPicPr>
            <a:picLocks noChangeAspect="1"/>
          </p:cNvPicPr>
          <p:nvPr/>
        </p:nvPicPr>
        <p:blipFill>
          <a:blip r:embed="rId15"/>
          <a:stretch>
            <a:fillRect/>
          </a:stretch>
        </p:blipFill>
        <p:spPr>
          <a:xfrm>
            <a:off x="7219269" y="3272281"/>
            <a:ext cx="982436" cy="361950"/>
          </a:xfrm>
          <a:prstGeom prst="rect">
            <a:avLst/>
          </a:prstGeom>
        </p:spPr>
      </p:pic>
      <p:pic>
        <p:nvPicPr>
          <p:cNvPr id="89" name="Picture 88" descr="578_9_605E5C.png"/>
          <p:cNvPicPr>
            <a:picLocks noChangeAspect="1"/>
          </p:cNvPicPr>
          <p:nvPr/>
        </p:nvPicPr>
        <p:blipFill>
          <a:blip r:embed="rId16"/>
          <a:stretch>
            <a:fillRect/>
          </a:stretch>
        </p:blipFill>
        <p:spPr>
          <a:xfrm>
            <a:off x="8798548" y="2286582"/>
            <a:ext cx="1195728" cy="361950"/>
          </a:xfrm>
          <a:prstGeom prst="rect">
            <a:avLst/>
          </a:prstGeom>
        </p:spPr>
      </p:pic>
      <p:pic>
        <p:nvPicPr>
          <p:cNvPr id="90" name="Picture 89" descr="718_8_605E5C.png"/>
          <p:cNvPicPr>
            <a:picLocks noChangeAspect="1"/>
          </p:cNvPicPr>
          <p:nvPr/>
        </p:nvPicPr>
        <p:blipFill>
          <a:blip r:embed="rId17"/>
          <a:stretch>
            <a:fillRect/>
          </a:stretch>
        </p:blipFill>
        <p:spPr>
          <a:xfrm>
            <a:off x="8798548" y="2779432"/>
            <a:ext cx="1195728" cy="361950"/>
          </a:xfrm>
          <a:prstGeom prst="rect">
            <a:avLst/>
          </a:prstGeom>
        </p:spPr>
      </p:pic>
      <p:pic>
        <p:nvPicPr>
          <p:cNvPr id="91" name="Picture 90" descr="2_2__605E5C.png"/>
          <p:cNvPicPr>
            <a:picLocks noChangeAspect="1"/>
          </p:cNvPicPr>
          <p:nvPr/>
        </p:nvPicPr>
        <p:blipFill>
          <a:blip r:embed="rId18"/>
          <a:stretch>
            <a:fillRect/>
          </a:stretch>
        </p:blipFill>
        <p:spPr>
          <a:xfrm>
            <a:off x="8905194" y="3272281"/>
            <a:ext cx="982436" cy="361950"/>
          </a:xfrm>
          <a:prstGeom prst="rect">
            <a:avLst/>
          </a:prstGeom>
        </p:spPr>
      </p:pic>
      <p:pic>
        <p:nvPicPr>
          <p:cNvPr id="92" name="Picture 91" descr="423_7_605E5C.png"/>
          <p:cNvPicPr>
            <a:picLocks noChangeAspect="1"/>
          </p:cNvPicPr>
          <p:nvPr/>
        </p:nvPicPr>
        <p:blipFill>
          <a:blip r:embed="rId19"/>
          <a:stretch>
            <a:fillRect/>
          </a:stretch>
        </p:blipFill>
        <p:spPr>
          <a:xfrm>
            <a:off x="10484473" y="2286582"/>
            <a:ext cx="1195728" cy="361950"/>
          </a:xfrm>
          <a:prstGeom prst="rect">
            <a:avLst/>
          </a:prstGeom>
        </p:spPr>
      </p:pic>
      <p:pic>
        <p:nvPicPr>
          <p:cNvPr id="93" name="Picture 92" descr="605_5_605E5C.png"/>
          <p:cNvPicPr>
            <a:picLocks noChangeAspect="1"/>
          </p:cNvPicPr>
          <p:nvPr/>
        </p:nvPicPr>
        <p:blipFill>
          <a:blip r:embed="rId20"/>
          <a:stretch>
            <a:fillRect/>
          </a:stretch>
        </p:blipFill>
        <p:spPr>
          <a:xfrm>
            <a:off x="10484473" y="2779432"/>
            <a:ext cx="1195728" cy="361950"/>
          </a:xfrm>
          <a:prstGeom prst="rect">
            <a:avLst/>
          </a:prstGeom>
        </p:spPr>
      </p:pic>
      <p:pic>
        <p:nvPicPr>
          <p:cNvPr id="94" name="Picture 93" descr="3_6__605E5C.png"/>
          <p:cNvPicPr>
            <a:picLocks noChangeAspect="1"/>
          </p:cNvPicPr>
          <p:nvPr/>
        </p:nvPicPr>
        <p:blipFill>
          <a:blip r:embed="rId21"/>
          <a:stretch>
            <a:fillRect/>
          </a:stretch>
        </p:blipFill>
        <p:spPr>
          <a:xfrm>
            <a:off x="10591119" y="3272281"/>
            <a:ext cx="982436" cy="361950"/>
          </a:xfrm>
          <a:prstGeom prst="rect">
            <a:avLst/>
          </a:prstGeom>
        </p:spPr>
      </p:pic>
      <p:pic>
        <p:nvPicPr>
          <p:cNvPr id="95" name="Picture 94" descr="lock.png"/>
          <p:cNvPicPr>
            <a:picLocks noChangeAspect="1"/>
          </p:cNvPicPr>
          <p:nvPr/>
        </p:nvPicPr>
        <p:blipFill>
          <a:blip r:embed="rId22"/>
          <a:stretch>
            <a:fillRect/>
          </a:stretch>
        </p:blipFill>
        <p:spPr>
          <a:xfrm>
            <a:off x="255936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424529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593121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7617142" y="2827057"/>
            <a:ext cx="183356" cy="266700"/>
          </a:xfrm>
          <a:prstGeom prst="rect">
            <a:avLst/>
          </a:prstGeom>
        </p:spPr>
      </p:pic>
      <p:pic>
        <p:nvPicPr>
          <p:cNvPr id="99" name="Picture 98" descr="lock.png"/>
          <p:cNvPicPr>
            <a:picLocks noChangeAspect="1"/>
          </p:cNvPicPr>
          <p:nvPr/>
        </p:nvPicPr>
        <p:blipFill>
          <a:blip r:embed="rId22"/>
          <a:stretch>
            <a:fillRect/>
          </a:stretch>
        </p:blipFill>
        <p:spPr>
          <a:xfrm>
            <a:off x="9303067" y="2827057"/>
            <a:ext cx="183356" cy="266700"/>
          </a:xfrm>
          <a:prstGeom prst="rect">
            <a:avLst/>
          </a:prstGeom>
        </p:spPr>
      </p:pic>
      <p:pic>
        <p:nvPicPr>
          <p:cNvPr id="100" name="Picture 99" descr="lock.png"/>
          <p:cNvPicPr>
            <a:picLocks noChangeAspect="1"/>
          </p:cNvPicPr>
          <p:nvPr/>
        </p:nvPicPr>
        <p:blipFill>
          <a:blip r:embed="rId22"/>
          <a:stretch>
            <a:fillRect/>
          </a:stretch>
        </p:blipFill>
        <p:spPr>
          <a:xfrm>
            <a:off x="10988992" y="2827057"/>
            <a:ext cx="183356" cy="266700"/>
          </a:xfrm>
          <a:prstGeom prst="rect">
            <a:avLst/>
          </a:prstGeom>
        </p:spPr>
      </p:pic>
      <p:sp>
        <p:nvSpPr>
          <p:cNvPr id="101" name="TextBox 100"/>
          <p:cNvSpPr txBox="1"/>
          <p:nvPr/>
        </p:nvSpPr>
        <p:spPr>
          <a:xfrm>
            <a:off x="485775" y="4229437"/>
            <a:ext cx="2914650" cy="186689"/>
          </a:xfrm>
          <a:prstGeom prst="rect">
            <a:avLst/>
          </a:prstGeom>
          <a:noFill/>
        </p:spPr>
        <p:txBody>
          <a:bodyPr wrap="none" lIns="0" rIns="0" tIns="0" bIns="0">
            <a:spAutoFit/>
          </a:bodyPr>
          <a:lstStyle/>
          <a:p>
            <a:r>
              <a:rPr sz="1100" b="0">
                <a:solidFill>
                  <a:srgbClr val="2E2E2E"/>
                </a:solidFill>
                <a:latin typeface="Calibri"/>
              </a:rPr>
              <a:t>Among waterproof coatings by substrate material,</a:t>
            </a:r>
          </a:p>
        </p:txBody>
      </p:sp>
      <p:sp>
        <p:nvSpPr>
          <p:cNvPr id="102" name="TextBox 101"/>
          <p:cNvSpPr txBox="1"/>
          <p:nvPr/>
        </p:nvSpPr>
        <p:spPr>
          <a:xfrm>
            <a:off x="485775" y="4397077"/>
            <a:ext cx="2756148" cy="186689"/>
          </a:xfrm>
          <a:prstGeom prst="rect">
            <a:avLst/>
          </a:prstGeom>
          <a:noFill/>
        </p:spPr>
        <p:txBody>
          <a:bodyPr wrap="none" lIns="0" rIns="0" tIns="0" bIns="0">
            <a:spAutoFit/>
          </a:bodyPr>
          <a:lstStyle/>
          <a:p>
            <a:r>
              <a:rPr sz="1100" b="0">
                <a:solidFill>
                  <a:srgbClr val="2E2E2E"/>
                </a:solidFill>
                <a:latin typeface="Calibri"/>
              </a:rPr>
              <a:t>masonry and brickwork segment is expected to</a:t>
            </a:r>
          </a:p>
        </p:txBody>
      </p:sp>
      <p:sp>
        <p:nvSpPr>
          <p:cNvPr id="103" name="TextBox 102"/>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104" name="Picture 103" descr="lock.png"/>
          <p:cNvPicPr>
            <a:picLocks noChangeAspect="1"/>
          </p:cNvPicPr>
          <p:nvPr/>
        </p:nvPicPr>
        <p:blipFill>
          <a:blip r:embed="rId22"/>
          <a:stretch>
            <a:fillRect/>
          </a:stretch>
        </p:blipFill>
        <p:spPr>
          <a:xfrm>
            <a:off x="2108919" y="4554938"/>
            <a:ext cx="128699" cy="187198"/>
          </a:xfrm>
          <a:prstGeom prst="rect">
            <a:avLst/>
          </a:prstGeom>
        </p:spPr>
      </p:pic>
      <p:sp>
        <p:nvSpPr>
          <p:cNvPr id="105" name="TextBox 104"/>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106" name="TextBox 105"/>
          <p:cNvSpPr txBox="1"/>
          <p:nvPr/>
        </p:nvSpPr>
        <p:spPr>
          <a:xfrm>
            <a:off x="485775" y="4732357"/>
            <a:ext cx="2550417" cy="186689"/>
          </a:xfrm>
          <a:prstGeom prst="rect">
            <a:avLst/>
          </a:prstGeom>
          <a:noFill/>
        </p:spPr>
        <p:txBody>
          <a:bodyPr wrap="none" lIns="0" rIns="0" tIns="0" bIns="0">
            <a:spAutoFit/>
          </a:bodyPr>
          <a:lstStyle/>
          <a:p>
            <a:r>
              <a:rPr sz="1100" b="0">
                <a:solidFill>
                  <a:srgbClr val="2E2E2E"/>
                </a:solidFill>
                <a:latin typeface="Calibri"/>
              </a:rPr>
              <a:t>period. In terms of value share by substrate</a:t>
            </a:r>
          </a:p>
        </p:txBody>
      </p:sp>
      <p:sp>
        <p:nvSpPr>
          <p:cNvPr id="107" name="TextBox 106"/>
          <p:cNvSpPr txBox="1"/>
          <p:nvPr/>
        </p:nvSpPr>
        <p:spPr>
          <a:xfrm>
            <a:off x="485775" y="4899997"/>
            <a:ext cx="2813174" cy="186689"/>
          </a:xfrm>
          <a:prstGeom prst="rect">
            <a:avLst/>
          </a:prstGeom>
          <a:noFill/>
        </p:spPr>
        <p:txBody>
          <a:bodyPr wrap="none" lIns="0" rIns="0" tIns="0" bIns="0">
            <a:spAutoFit/>
          </a:bodyPr>
          <a:lstStyle/>
          <a:p>
            <a:r>
              <a:rPr sz="1100" b="0">
                <a:solidFill>
                  <a:srgbClr val="2E2E2E"/>
                </a:solidFill>
                <a:latin typeface="Calibri"/>
              </a:rPr>
              <a:t>material, the masonry and brickwork segment is</a:t>
            </a:r>
          </a:p>
        </p:txBody>
      </p:sp>
      <p:sp>
        <p:nvSpPr>
          <p:cNvPr id="108" name="TextBox 107"/>
          <p:cNvSpPr txBox="1"/>
          <p:nvPr/>
        </p:nvSpPr>
        <p:spPr>
          <a:xfrm>
            <a:off x="485775" y="5067637"/>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109" name="Picture 108" descr="lock.png"/>
          <p:cNvPicPr>
            <a:picLocks noChangeAspect="1"/>
          </p:cNvPicPr>
          <p:nvPr/>
        </p:nvPicPr>
        <p:blipFill>
          <a:blip r:embed="rId22"/>
          <a:stretch>
            <a:fillRect/>
          </a:stretch>
        </p:blipFill>
        <p:spPr>
          <a:xfrm>
            <a:off x="2900479" y="5057858"/>
            <a:ext cx="128699" cy="187198"/>
          </a:xfrm>
          <a:prstGeom prst="rect">
            <a:avLst/>
          </a:prstGeom>
        </p:spPr>
      </p:pic>
      <p:sp>
        <p:nvSpPr>
          <p:cNvPr id="110" name="TextBox 109"/>
          <p:cNvSpPr txBox="1"/>
          <p:nvPr/>
        </p:nvSpPr>
        <p:spPr>
          <a:xfrm>
            <a:off x="3067974" y="506763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11" name="TextBox 110"/>
          <p:cNvSpPr txBox="1"/>
          <p:nvPr/>
        </p:nvSpPr>
        <p:spPr>
          <a:xfrm>
            <a:off x="485775" y="523527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112" name="Picture 111" descr="lock.png"/>
          <p:cNvPicPr>
            <a:picLocks noChangeAspect="1"/>
          </p:cNvPicPr>
          <p:nvPr/>
        </p:nvPicPr>
        <p:blipFill>
          <a:blip r:embed="rId22"/>
          <a:stretch>
            <a:fillRect/>
          </a:stretch>
        </p:blipFill>
        <p:spPr>
          <a:xfrm>
            <a:off x="1576057" y="5225498"/>
            <a:ext cx="128699" cy="187198"/>
          </a:xfrm>
          <a:prstGeom prst="rect">
            <a:avLst/>
          </a:prstGeom>
        </p:spPr>
      </p:pic>
      <p:sp>
        <p:nvSpPr>
          <p:cNvPr id="113" name="TextBox 112"/>
          <p:cNvSpPr txBox="1"/>
          <p:nvPr/>
        </p:nvSpPr>
        <p:spPr>
          <a:xfrm>
            <a:off x="1743553"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4" name="TextBox 113"/>
          <p:cNvSpPr txBox="1"/>
          <p:nvPr/>
        </p:nvSpPr>
        <p:spPr>
          <a:xfrm>
            <a:off x="485775" y="5453209"/>
            <a:ext cx="2789981" cy="186689"/>
          </a:xfrm>
          <a:prstGeom prst="rect">
            <a:avLst/>
          </a:prstGeom>
          <a:noFill/>
        </p:spPr>
        <p:txBody>
          <a:bodyPr wrap="none" lIns="0" rIns="0" tIns="0" bIns="0">
            <a:spAutoFit/>
          </a:bodyPr>
          <a:lstStyle/>
          <a:p>
            <a:r>
              <a:rPr sz="1100" b="0">
                <a:solidFill>
                  <a:srgbClr val="2E2E2E"/>
                </a:solidFill>
                <a:latin typeface="Calibri"/>
              </a:rPr>
              <a:t>Masonry and brickwork segment is projected to</a:t>
            </a:r>
          </a:p>
        </p:txBody>
      </p:sp>
      <p:sp>
        <p:nvSpPr>
          <p:cNvPr id="115" name="TextBox 114"/>
          <p:cNvSpPr txBox="1"/>
          <p:nvPr/>
        </p:nvSpPr>
        <p:spPr>
          <a:xfrm>
            <a:off x="485775" y="562084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116" name="Picture 115" descr="lock.png"/>
          <p:cNvPicPr>
            <a:picLocks noChangeAspect="1"/>
          </p:cNvPicPr>
          <p:nvPr/>
        </p:nvPicPr>
        <p:blipFill>
          <a:blip r:embed="rId22"/>
          <a:stretch>
            <a:fillRect/>
          </a:stretch>
        </p:blipFill>
        <p:spPr>
          <a:xfrm>
            <a:off x="946316" y="5611070"/>
            <a:ext cx="128699" cy="187198"/>
          </a:xfrm>
          <a:prstGeom prst="rect">
            <a:avLst/>
          </a:prstGeom>
        </p:spPr>
      </p:pic>
      <p:sp>
        <p:nvSpPr>
          <p:cNvPr id="117" name="TextBox 116"/>
          <p:cNvSpPr txBox="1"/>
          <p:nvPr/>
        </p:nvSpPr>
        <p:spPr>
          <a:xfrm>
            <a:off x="1113812" y="5620849"/>
            <a:ext cx="2137866" cy="186689"/>
          </a:xfrm>
          <a:prstGeom prst="rect">
            <a:avLst/>
          </a:prstGeom>
          <a:noFill/>
        </p:spPr>
        <p:txBody>
          <a:bodyPr wrap="none" lIns="0" rIns="0" tIns="0" bIns="0">
            <a:spAutoFit/>
          </a:bodyPr>
          <a:lstStyle/>
          <a:p>
            <a:r>
              <a:rPr sz="1100" b="0">
                <a:solidFill>
                  <a:srgbClr val="2E2E2E"/>
                </a:solidFill>
                <a:latin typeface="Calibri"/>
              </a:rPr>
              <a:t>X higher value than other substrates</a:t>
            </a:r>
          </a:p>
        </p:txBody>
      </p:sp>
      <p:sp>
        <p:nvSpPr>
          <p:cNvPr id="118" name="TextBox 117"/>
          <p:cNvSpPr txBox="1"/>
          <p:nvPr/>
        </p:nvSpPr>
        <p:spPr>
          <a:xfrm>
            <a:off x="485775" y="5788489"/>
            <a:ext cx="1055464" cy="186689"/>
          </a:xfrm>
          <a:prstGeom prst="rect">
            <a:avLst/>
          </a:prstGeom>
          <a:noFill/>
        </p:spPr>
        <p:txBody>
          <a:bodyPr wrap="none" lIns="0" rIns="0" tIns="0" bIns="0">
            <a:spAutoFit/>
          </a:bodyPr>
          <a:lstStyle/>
          <a:p>
            <a:r>
              <a:rPr sz="1100" b="0">
                <a:solidFill>
                  <a:srgbClr val="2E2E2E"/>
                </a:solidFill>
                <a:latin typeface="Calibri"/>
              </a:rPr>
              <a:t>segment in 2036.</a:t>
            </a:r>
          </a:p>
        </p:txBody>
      </p:sp>
      <p:sp>
        <p:nvSpPr>
          <p:cNvPr id="119" name="TextBox 118"/>
          <p:cNvSpPr txBox="1"/>
          <p:nvPr/>
        </p:nvSpPr>
        <p:spPr>
          <a:xfrm>
            <a:off x="3838575" y="4229437"/>
            <a:ext cx="1191617" cy="186689"/>
          </a:xfrm>
          <a:prstGeom prst="rect">
            <a:avLst/>
          </a:prstGeom>
          <a:noFill/>
        </p:spPr>
        <p:txBody>
          <a:bodyPr wrap="none" lIns="0" rIns="0" tIns="0" bIns="0">
            <a:spAutoFit/>
          </a:bodyPr>
          <a:lstStyle/>
          <a:p>
            <a:r>
              <a:rPr sz="1100" b="0">
                <a:solidFill>
                  <a:srgbClr val="2E2E2E"/>
                </a:solidFill>
                <a:latin typeface="Calibri"/>
              </a:rPr>
              <a:t>● Other Substrates:</a:t>
            </a:r>
          </a:p>
        </p:txBody>
      </p:sp>
      <p:pic>
        <p:nvPicPr>
          <p:cNvPr id="120" name="Picture 119" descr="lock.png"/>
          <p:cNvPicPr>
            <a:picLocks noChangeAspect="1"/>
          </p:cNvPicPr>
          <p:nvPr/>
        </p:nvPicPr>
        <p:blipFill>
          <a:blip r:embed="rId22"/>
          <a:stretch>
            <a:fillRect/>
          </a:stretch>
        </p:blipFill>
        <p:spPr>
          <a:xfrm>
            <a:off x="4978243" y="4219658"/>
            <a:ext cx="128699" cy="187198"/>
          </a:xfrm>
          <a:prstGeom prst="rect">
            <a:avLst/>
          </a:prstGeom>
        </p:spPr>
      </p:pic>
      <p:sp>
        <p:nvSpPr>
          <p:cNvPr id="121" name="TextBox 120"/>
          <p:cNvSpPr txBox="1"/>
          <p:nvPr/>
        </p:nvSpPr>
        <p:spPr>
          <a:xfrm>
            <a:off x="514573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2" name="Picture 121" descr="lock.png"/>
          <p:cNvPicPr>
            <a:picLocks noChangeAspect="1"/>
          </p:cNvPicPr>
          <p:nvPr/>
        </p:nvPicPr>
        <p:blipFill>
          <a:blip r:embed="rId22"/>
          <a:stretch>
            <a:fillRect/>
          </a:stretch>
        </p:blipFill>
        <p:spPr>
          <a:xfrm>
            <a:off x="6005189" y="4219658"/>
            <a:ext cx="128699" cy="187198"/>
          </a:xfrm>
          <a:prstGeom prst="rect">
            <a:avLst/>
          </a:prstGeom>
        </p:spPr>
      </p:pic>
      <p:sp>
        <p:nvSpPr>
          <p:cNvPr id="123" name="TextBox 122"/>
          <p:cNvSpPr txBox="1"/>
          <p:nvPr/>
        </p:nvSpPr>
        <p:spPr>
          <a:xfrm>
            <a:off x="6172685"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24" name="TextBox 123"/>
          <p:cNvSpPr txBox="1"/>
          <p:nvPr/>
        </p:nvSpPr>
        <p:spPr>
          <a:xfrm>
            <a:off x="3838575" y="4447369"/>
            <a:ext cx="1408807" cy="186689"/>
          </a:xfrm>
          <a:prstGeom prst="rect">
            <a:avLst/>
          </a:prstGeom>
          <a:noFill/>
        </p:spPr>
        <p:txBody>
          <a:bodyPr wrap="none" lIns="0" rIns="0" tIns="0" bIns="0">
            <a:spAutoFit/>
          </a:bodyPr>
          <a:lstStyle/>
          <a:p>
            <a:r>
              <a:rPr sz="1100" b="0">
                <a:solidFill>
                  <a:srgbClr val="2E2E2E"/>
                </a:solidFill>
                <a:latin typeface="Calibri"/>
              </a:rPr>
              <a:t>● Composite Materials:</a:t>
            </a:r>
          </a:p>
        </p:txBody>
      </p:sp>
      <p:pic>
        <p:nvPicPr>
          <p:cNvPr id="125" name="Picture 124" descr="lock.png"/>
          <p:cNvPicPr>
            <a:picLocks noChangeAspect="1"/>
          </p:cNvPicPr>
          <p:nvPr/>
        </p:nvPicPr>
        <p:blipFill>
          <a:blip r:embed="rId22"/>
          <a:stretch>
            <a:fillRect/>
          </a:stretch>
        </p:blipFill>
        <p:spPr>
          <a:xfrm>
            <a:off x="5195433" y="4437590"/>
            <a:ext cx="128699" cy="187198"/>
          </a:xfrm>
          <a:prstGeom prst="rect">
            <a:avLst/>
          </a:prstGeom>
        </p:spPr>
      </p:pic>
      <p:sp>
        <p:nvSpPr>
          <p:cNvPr id="126" name="TextBox 125"/>
          <p:cNvSpPr txBox="1"/>
          <p:nvPr/>
        </p:nvSpPr>
        <p:spPr>
          <a:xfrm>
            <a:off x="5362929"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7" name="Picture 126" descr="lock.png"/>
          <p:cNvPicPr>
            <a:picLocks noChangeAspect="1"/>
          </p:cNvPicPr>
          <p:nvPr/>
        </p:nvPicPr>
        <p:blipFill>
          <a:blip r:embed="rId22"/>
          <a:stretch>
            <a:fillRect/>
          </a:stretch>
        </p:blipFill>
        <p:spPr>
          <a:xfrm>
            <a:off x="6222379" y="4437590"/>
            <a:ext cx="128699" cy="187198"/>
          </a:xfrm>
          <a:prstGeom prst="rect">
            <a:avLst/>
          </a:prstGeom>
        </p:spPr>
      </p:pic>
      <p:sp>
        <p:nvSpPr>
          <p:cNvPr id="128" name="TextBox 127"/>
          <p:cNvSpPr txBox="1"/>
          <p:nvPr/>
        </p:nvSpPr>
        <p:spPr>
          <a:xfrm>
            <a:off x="6389875"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9" name="TextBox 128"/>
          <p:cNvSpPr txBox="1"/>
          <p:nvPr/>
        </p:nvSpPr>
        <p:spPr>
          <a:xfrm>
            <a:off x="3838575" y="4665301"/>
            <a:ext cx="1572517" cy="186689"/>
          </a:xfrm>
          <a:prstGeom prst="rect">
            <a:avLst/>
          </a:prstGeom>
          <a:noFill/>
        </p:spPr>
        <p:txBody>
          <a:bodyPr wrap="none" lIns="0" rIns="0" tIns="0" bIns="0">
            <a:spAutoFit/>
          </a:bodyPr>
          <a:lstStyle/>
          <a:p>
            <a:r>
              <a:rPr sz="1100" b="0">
                <a:solidFill>
                  <a:srgbClr val="2E2E2E"/>
                </a:solidFill>
                <a:latin typeface="Calibri"/>
              </a:rPr>
              <a:t>● Masonry and Brickwork:</a:t>
            </a:r>
          </a:p>
        </p:txBody>
      </p:sp>
      <p:pic>
        <p:nvPicPr>
          <p:cNvPr id="130" name="Picture 129" descr="lock.png"/>
          <p:cNvPicPr>
            <a:picLocks noChangeAspect="1"/>
          </p:cNvPicPr>
          <p:nvPr/>
        </p:nvPicPr>
        <p:blipFill>
          <a:blip r:embed="rId22"/>
          <a:stretch>
            <a:fillRect/>
          </a:stretch>
        </p:blipFill>
        <p:spPr>
          <a:xfrm>
            <a:off x="5359144" y="4655522"/>
            <a:ext cx="128699" cy="187198"/>
          </a:xfrm>
          <a:prstGeom prst="rect">
            <a:avLst/>
          </a:prstGeom>
        </p:spPr>
      </p:pic>
      <p:sp>
        <p:nvSpPr>
          <p:cNvPr id="131" name="TextBox 130"/>
          <p:cNvSpPr txBox="1"/>
          <p:nvPr/>
        </p:nvSpPr>
        <p:spPr>
          <a:xfrm>
            <a:off x="5526640"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2" name="Picture 131" descr="lock.png"/>
          <p:cNvPicPr>
            <a:picLocks noChangeAspect="1"/>
          </p:cNvPicPr>
          <p:nvPr/>
        </p:nvPicPr>
        <p:blipFill>
          <a:blip r:embed="rId22"/>
          <a:stretch>
            <a:fillRect/>
          </a:stretch>
        </p:blipFill>
        <p:spPr>
          <a:xfrm>
            <a:off x="6386090" y="4655522"/>
            <a:ext cx="128699" cy="187198"/>
          </a:xfrm>
          <a:prstGeom prst="rect">
            <a:avLst/>
          </a:prstGeom>
        </p:spPr>
      </p:pic>
      <p:sp>
        <p:nvSpPr>
          <p:cNvPr id="133" name="TextBox 132"/>
          <p:cNvSpPr txBox="1"/>
          <p:nvPr/>
        </p:nvSpPr>
        <p:spPr>
          <a:xfrm>
            <a:off x="6553586" y="466530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34" name="TextBox 133"/>
          <p:cNvSpPr txBox="1"/>
          <p:nvPr/>
        </p:nvSpPr>
        <p:spPr>
          <a:xfrm>
            <a:off x="3838575" y="4883233"/>
            <a:ext cx="574699" cy="186689"/>
          </a:xfrm>
          <a:prstGeom prst="rect">
            <a:avLst/>
          </a:prstGeom>
          <a:noFill/>
        </p:spPr>
        <p:txBody>
          <a:bodyPr wrap="none" lIns="0" rIns="0" tIns="0" bIns="0">
            <a:spAutoFit/>
          </a:bodyPr>
          <a:lstStyle/>
          <a:p>
            <a:r>
              <a:rPr sz="1100" b="0">
                <a:solidFill>
                  <a:srgbClr val="2E2E2E"/>
                </a:solidFill>
                <a:latin typeface="Calibri"/>
              </a:rPr>
              <a:t>● Wood:</a:t>
            </a:r>
          </a:p>
        </p:txBody>
      </p:sp>
      <p:pic>
        <p:nvPicPr>
          <p:cNvPr id="135" name="Picture 134" descr="lock.png"/>
          <p:cNvPicPr>
            <a:picLocks noChangeAspect="1"/>
          </p:cNvPicPr>
          <p:nvPr/>
        </p:nvPicPr>
        <p:blipFill>
          <a:blip r:embed="rId22"/>
          <a:stretch>
            <a:fillRect/>
          </a:stretch>
        </p:blipFill>
        <p:spPr>
          <a:xfrm>
            <a:off x="4361326" y="4873454"/>
            <a:ext cx="128699" cy="187198"/>
          </a:xfrm>
          <a:prstGeom prst="rect">
            <a:avLst/>
          </a:prstGeom>
        </p:spPr>
      </p:pic>
      <p:sp>
        <p:nvSpPr>
          <p:cNvPr id="136" name="TextBox 135"/>
          <p:cNvSpPr txBox="1"/>
          <p:nvPr/>
        </p:nvSpPr>
        <p:spPr>
          <a:xfrm>
            <a:off x="4528822"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7" name="Picture 136" descr="lock.png"/>
          <p:cNvPicPr>
            <a:picLocks noChangeAspect="1"/>
          </p:cNvPicPr>
          <p:nvPr/>
        </p:nvPicPr>
        <p:blipFill>
          <a:blip r:embed="rId22"/>
          <a:stretch>
            <a:fillRect/>
          </a:stretch>
        </p:blipFill>
        <p:spPr>
          <a:xfrm>
            <a:off x="5388272" y="4873454"/>
            <a:ext cx="128699" cy="187198"/>
          </a:xfrm>
          <a:prstGeom prst="rect">
            <a:avLst/>
          </a:prstGeom>
        </p:spPr>
      </p:pic>
      <p:sp>
        <p:nvSpPr>
          <p:cNvPr id="138" name="TextBox 137"/>
          <p:cNvSpPr txBox="1"/>
          <p:nvPr/>
        </p:nvSpPr>
        <p:spPr>
          <a:xfrm>
            <a:off x="5555768" y="488323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39" name="TextBox 138"/>
          <p:cNvSpPr txBox="1"/>
          <p:nvPr/>
        </p:nvSpPr>
        <p:spPr>
          <a:xfrm>
            <a:off x="3838575" y="5101165"/>
            <a:ext cx="564604" cy="186689"/>
          </a:xfrm>
          <a:prstGeom prst="rect">
            <a:avLst/>
          </a:prstGeom>
          <a:noFill/>
        </p:spPr>
        <p:txBody>
          <a:bodyPr wrap="none" lIns="0" rIns="0" tIns="0" bIns="0">
            <a:spAutoFit/>
          </a:bodyPr>
          <a:lstStyle/>
          <a:p>
            <a:r>
              <a:rPr sz="1100" b="0">
                <a:solidFill>
                  <a:srgbClr val="2E2E2E"/>
                </a:solidFill>
                <a:latin typeface="Calibri"/>
              </a:rPr>
              <a:t>● Metal:</a:t>
            </a:r>
          </a:p>
        </p:txBody>
      </p:sp>
      <p:pic>
        <p:nvPicPr>
          <p:cNvPr id="140" name="Picture 139" descr="lock.png"/>
          <p:cNvPicPr>
            <a:picLocks noChangeAspect="1"/>
          </p:cNvPicPr>
          <p:nvPr/>
        </p:nvPicPr>
        <p:blipFill>
          <a:blip r:embed="rId22"/>
          <a:stretch>
            <a:fillRect/>
          </a:stretch>
        </p:blipFill>
        <p:spPr>
          <a:xfrm>
            <a:off x="4351230" y="5091385"/>
            <a:ext cx="128699" cy="187198"/>
          </a:xfrm>
          <a:prstGeom prst="rect">
            <a:avLst/>
          </a:prstGeom>
        </p:spPr>
      </p:pic>
      <p:sp>
        <p:nvSpPr>
          <p:cNvPr id="141" name="TextBox 140"/>
          <p:cNvSpPr txBox="1"/>
          <p:nvPr/>
        </p:nvSpPr>
        <p:spPr>
          <a:xfrm>
            <a:off x="4518726" y="510116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2" name="Picture 141" descr="lock.png"/>
          <p:cNvPicPr>
            <a:picLocks noChangeAspect="1"/>
          </p:cNvPicPr>
          <p:nvPr/>
        </p:nvPicPr>
        <p:blipFill>
          <a:blip r:embed="rId22"/>
          <a:stretch>
            <a:fillRect/>
          </a:stretch>
        </p:blipFill>
        <p:spPr>
          <a:xfrm>
            <a:off x="5378176" y="5091385"/>
            <a:ext cx="128699" cy="187198"/>
          </a:xfrm>
          <a:prstGeom prst="rect">
            <a:avLst/>
          </a:prstGeom>
        </p:spPr>
      </p:pic>
      <p:sp>
        <p:nvSpPr>
          <p:cNvPr id="143" name="TextBox 142"/>
          <p:cNvSpPr txBox="1"/>
          <p:nvPr/>
        </p:nvSpPr>
        <p:spPr>
          <a:xfrm>
            <a:off x="5545672" y="5101165"/>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4" name="TextBox 143"/>
          <p:cNvSpPr txBox="1"/>
          <p:nvPr/>
        </p:nvSpPr>
        <p:spPr>
          <a:xfrm>
            <a:off x="3838575" y="5319097"/>
            <a:ext cx="2291481" cy="186689"/>
          </a:xfrm>
          <a:prstGeom prst="rect">
            <a:avLst/>
          </a:prstGeom>
          <a:noFill/>
        </p:spPr>
        <p:txBody>
          <a:bodyPr wrap="none" lIns="0" rIns="0" tIns="0" bIns="0">
            <a:spAutoFit/>
          </a:bodyPr>
          <a:lstStyle/>
          <a:p>
            <a:r>
              <a:rPr sz="1100" b="0">
                <a:solidFill>
                  <a:srgbClr val="2E2E2E"/>
                </a:solidFill>
                <a:latin typeface="Calibri"/>
              </a:rPr>
              <a:t>● Concrete and Cementitious Surfaces:</a:t>
            </a:r>
          </a:p>
        </p:txBody>
      </p:sp>
      <p:pic>
        <p:nvPicPr>
          <p:cNvPr id="145" name="Picture 144" descr="lock.png"/>
          <p:cNvPicPr>
            <a:picLocks noChangeAspect="1"/>
          </p:cNvPicPr>
          <p:nvPr/>
        </p:nvPicPr>
        <p:blipFill>
          <a:blip r:embed="rId22"/>
          <a:stretch>
            <a:fillRect/>
          </a:stretch>
        </p:blipFill>
        <p:spPr>
          <a:xfrm>
            <a:off x="6078108" y="5309317"/>
            <a:ext cx="128699" cy="187198"/>
          </a:xfrm>
          <a:prstGeom prst="rect">
            <a:avLst/>
          </a:prstGeom>
        </p:spPr>
      </p:pic>
      <p:sp>
        <p:nvSpPr>
          <p:cNvPr id="146" name="TextBox 145"/>
          <p:cNvSpPr txBox="1"/>
          <p:nvPr/>
        </p:nvSpPr>
        <p:spPr>
          <a:xfrm>
            <a:off x="6245604" y="531909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7" name="Picture 146" descr="lock.png"/>
          <p:cNvPicPr>
            <a:picLocks noChangeAspect="1"/>
          </p:cNvPicPr>
          <p:nvPr/>
        </p:nvPicPr>
        <p:blipFill>
          <a:blip r:embed="rId22"/>
          <a:stretch>
            <a:fillRect/>
          </a:stretch>
        </p:blipFill>
        <p:spPr>
          <a:xfrm>
            <a:off x="7105054" y="5309317"/>
            <a:ext cx="128699" cy="187198"/>
          </a:xfrm>
          <a:prstGeom prst="rect">
            <a:avLst/>
          </a:prstGeom>
        </p:spPr>
      </p:pic>
      <p:sp>
        <p:nvSpPr>
          <p:cNvPr id="148" name="TextBox 147"/>
          <p:cNvSpPr txBox="1"/>
          <p:nvPr/>
        </p:nvSpPr>
        <p:spPr>
          <a:xfrm>
            <a:off x="7272550" y="5319097"/>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49" name="TextBox 148"/>
          <p:cNvSpPr txBox="1"/>
          <p:nvPr/>
        </p:nvSpPr>
        <p:spPr>
          <a:xfrm>
            <a:off x="3838575" y="5486737"/>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50" name="TextBox 149"/>
          <p:cNvSpPr txBox="1"/>
          <p:nvPr/>
        </p:nvSpPr>
        <p:spPr>
          <a:xfrm>
            <a:off x="8524875" y="5842641"/>
            <a:ext cx="2932732" cy="194310"/>
          </a:xfrm>
          <a:prstGeom prst="rect">
            <a:avLst/>
          </a:prstGeom>
          <a:noFill/>
        </p:spPr>
        <p:txBody>
          <a:bodyPr wrap="none" lIns="0" rIns="0" tIns="0" bIns="0">
            <a:spAutoFit/>
          </a:bodyPr>
          <a:lstStyle/>
          <a:p>
            <a:r>
              <a:rPr sz="1150" b="1">
                <a:solidFill>
                  <a:srgbClr val="0B2E4A"/>
                </a:solidFill>
                <a:latin typeface="Calibri"/>
              </a:rPr>
              <a:t>The Substrate Material segment is projected to</a:t>
            </a:r>
          </a:p>
        </p:txBody>
      </p:sp>
      <p:sp>
        <p:nvSpPr>
          <p:cNvPr id="151" name="TextBox 150"/>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152" name="Picture 151" descr="lock.png"/>
          <p:cNvPicPr>
            <a:picLocks noChangeAspect="1"/>
          </p:cNvPicPr>
          <p:nvPr/>
        </p:nvPicPr>
        <p:blipFill>
          <a:blip r:embed="rId22"/>
          <a:stretch>
            <a:fillRect/>
          </a:stretch>
        </p:blipFill>
        <p:spPr>
          <a:xfrm>
            <a:off x="9651852" y="6007677"/>
            <a:ext cx="134549" cy="195707"/>
          </a:xfrm>
          <a:prstGeom prst="rect">
            <a:avLst/>
          </a:prstGeom>
        </p:spPr>
      </p:pic>
      <p:sp>
        <p:nvSpPr>
          <p:cNvPr id="153" name="TextBox 152"/>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Substrate Material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Substrate Material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Substrate Material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Substrate Material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268025" cy="186689"/>
          </a:xfrm>
          <a:prstGeom prst="rect">
            <a:avLst/>
          </a:prstGeom>
          <a:noFill/>
        </p:spPr>
        <p:txBody>
          <a:bodyPr wrap="none" lIns="0" rIns="0" tIns="0" bIns="0">
            <a:spAutoFit/>
          </a:bodyPr>
          <a:lstStyle/>
          <a:p>
            <a:r>
              <a:rPr sz="1100" b="0">
                <a:solidFill>
                  <a:srgbClr val="2E2E2E"/>
                </a:solidFill>
                <a:latin typeface="Calibri"/>
              </a:rPr>
              <a:t>Masonry and brickwork followed by composite materials are expected to be the two most attractive substrate material segments in the global waterproof coatings market in terms of value over the</a:t>
            </a:r>
          </a:p>
        </p:txBody>
      </p:sp>
      <p:sp>
        <p:nvSpPr>
          <p:cNvPr id="20" name="TextBox 19"/>
          <p:cNvSpPr txBox="1"/>
          <p:nvPr/>
        </p:nvSpPr>
        <p:spPr>
          <a:xfrm>
            <a:off x="257175" y="5861685"/>
            <a:ext cx="5139216" cy="186689"/>
          </a:xfrm>
          <a:prstGeom prst="rect">
            <a:avLst/>
          </a:prstGeom>
          <a:noFill/>
        </p:spPr>
        <p:txBody>
          <a:bodyPr wrap="none" lIns="0" rIns="0" tIns="0" bIns="0">
            <a:spAutoFit/>
          </a:bodyPr>
          <a:lstStyle/>
          <a:p>
            <a:r>
              <a:rPr sz="1100" b="0">
                <a:solidFill>
                  <a:srgbClr val="2E2E2E"/>
                </a:solidFill>
                <a:latin typeface="Calibri"/>
              </a:rPr>
              <a:t>forecast period. Masonry and brickwork and composite materials exhibit a CAGR index of</a:t>
            </a:r>
          </a:p>
        </p:txBody>
      </p:sp>
      <p:pic>
        <p:nvPicPr>
          <p:cNvPr id="21" name="Picture 20" descr="lock.png"/>
          <p:cNvPicPr>
            <a:picLocks noChangeAspect="1"/>
          </p:cNvPicPr>
          <p:nvPr/>
        </p:nvPicPr>
        <p:blipFill>
          <a:blip r:embed="rId6"/>
          <a:stretch>
            <a:fillRect/>
          </a:stretch>
        </p:blipFill>
        <p:spPr>
          <a:xfrm>
            <a:off x="5344443" y="5851905"/>
            <a:ext cx="128699" cy="187198"/>
          </a:xfrm>
          <a:prstGeom prst="rect">
            <a:avLst/>
          </a:prstGeom>
        </p:spPr>
      </p:pic>
      <p:sp>
        <p:nvSpPr>
          <p:cNvPr id="22" name="TextBox 21"/>
          <p:cNvSpPr txBox="1"/>
          <p:nvPr/>
        </p:nvSpPr>
        <p:spPr>
          <a:xfrm>
            <a:off x="5511938"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5749833" y="5851905"/>
            <a:ext cx="128699" cy="187198"/>
          </a:xfrm>
          <a:prstGeom prst="rect">
            <a:avLst/>
          </a:prstGeom>
        </p:spPr>
      </p:pic>
      <p:sp>
        <p:nvSpPr>
          <p:cNvPr id="24" name="TextBox 23"/>
          <p:cNvSpPr txBox="1"/>
          <p:nvPr/>
        </p:nvSpPr>
        <p:spPr>
          <a:xfrm>
            <a:off x="5917329"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7526302" y="5851905"/>
            <a:ext cx="128699" cy="187198"/>
          </a:xfrm>
          <a:prstGeom prst="rect">
            <a:avLst/>
          </a:prstGeom>
        </p:spPr>
      </p:pic>
      <p:sp>
        <p:nvSpPr>
          <p:cNvPr id="26" name="TextBox 25"/>
          <p:cNvSpPr txBox="1"/>
          <p:nvPr/>
        </p:nvSpPr>
        <p:spPr>
          <a:xfrm>
            <a:off x="7693798"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7931692" y="5851905"/>
            <a:ext cx="128699" cy="187198"/>
          </a:xfrm>
          <a:prstGeom prst="rect">
            <a:avLst/>
          </a:prstGeom>
        </p:spPr>
      </p:pic>
      <p:sp>
        <p:nvSpPr>
          <p:cNvPr id="28" name="TextBox 27"/>
          <p:cNvSpPr txBox="1"/>
          <p:nvPr/>
        </p:nvSpPr>
        <p:spPr>
          <a:xfrm>
            <a:off x="8099188"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10653592" y="5851905"/>
            <a:ext cx="128699" cy="187198"/>
          </a:xfrm>
          <a:prstGeom prst="rect">
            <a:avLst/>
          </a:prstGeom>
        </p:spPr>
      </p:pic>
      <p:sp>
        <p:nvSpPr>
          <p:cNvPr id="30" name="TextBox 29"/>
          <p:cNvSpPr txBox="1"/>
          <p:nvPr/>
        </p:nvSpPr>
        <p:spPr>
          <a:xfrm>
            <a:off x="10821088" y="5861685"/>
            <a:ext cx="354235" cy="186689"/>
          </a:xfrm>
          <a:prstGeom prst="rect">
            <a:avLst/>
          </a:prstGeom>
          <a:noFill/>
        </p:spPr>
        <p:txBody>
          <a:bodyPr wrap="none" lIns="0" rIns="0" tIns="0" bIns="0">
            <a:spAutoFit/>
          </a:bodyPr>
          <a:lstStyle/>
          <a:p>
            <a:r>
              <a:rPr sz="1100" b="0">
                <a:solidFill>
                  <a:srgbClr val="2E2E2E"/>
                </a:solidFill>
                <a:latin typeface="Calibri"/>
              </a:rPr>
              <a:t>. The</a:t>
            </a:r>
          </a:p>
        </p:txBody>
      </p:sp>
      <p:sp>
        <p:nvSpPr>
          <p:cNvPr id="31" name="TextBox 30"/>
          <p:cNvSpPr txBox="1"/>
          <p:nvPr/>
        </p:nvSpPr>
        <p:spPr>
          <a:xfrm>
            <a:off x="257175" y="6029325"/>
            <a:ext cx="11546845" cy="186689"/>
          </a:xfrm>
          <a:prstGeom prst="rect">
            <a:avLst/>
          </a:prstGeom>
          <a:noFill/>
        </p:spPr>
        <p:txBody>
          <a:bodyPr wrap="none" lIns="0" rIns="0" tIns="0" bIns="0">
            <a:spAutoFit/>
          </a:bodyPr>
          <a:lstStyle/>
          <a:p>
            <a:r>
              <a:rPr sz="1100" b="0">
                <a:solidFill>
                  <a:srgbClr val="2E2E2E"/>
                </a:solidFill>
                <a:latin typeface="Calibri"/>
              </a:rPr>
              <a:t>metal segment is expected to be less attractive as compared to other segments over the forecast period, owing to its lower CAGR and incremental opportunity. Bubbles right of the CAGR-Index line grow</a:t>
            </a:r>
          </a:p>
        </p:txBody>
      </p:sp>
      <p:sp>
        <p:nvSpPr>
          <p:cNvPr id="32" name="TextBox 31"/>
          <p:cNvSpPr txBox="1"/>
          <p:nvPr/>
        </p:nvSpPr>
        <p:spPr>
          <a:xfrm>
            <a:off x="257175" y="6196965"/>
            <a:ext cx="1959694" cy="186689"/>
          </a:xfrm>
          <a:prstGeom prst="rect">
            <a:avLst/>
          </a:prstGeom>
          <a:noFill/>
        </p:spPr>
        <p:txBody>
          <a:bodyPr wrap="none" lIns="0" rIns="0" tIns="0" bIns="0">
            <a:spAutoFit/>
          </a:bodyPr>
          <a:lstStyle/>
          <a:p>
            <a:r>
              <a:rPr sz="1100" b="0">
                <a:solidFill>
                  <a:srgbClr val="2E2E2E"/>
                </a:solidFill>
                <a:latin typeface="Calibri"/>
              </a:rPr>
              <a:t>faster 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Substrate Material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Substrate Material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Concrete and Cementitious Surfaces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Metal</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Wood</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Masonry and Brickwork</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Substrate Material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Substrate Material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Composite Materials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Other Substrates</a:t>
            </a:r>
          </a:p>
        </p:txBody>
      </p:sp>
      <p:graphicFrame>
        <p:nvGraphicFramePr>
          <p:cNvPr id="15" name="Chart 14"/>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066800"/>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Substrate Material</a:t>
            </a:r>
          </a:p>
        </p:txBody>
      </p:sp>
      <p:sp>
        <p:nvSpPr>
          <p:cNvPr id="18" name="Rectangle 17"/>
          <p:cNvSpPr/>
          <p:nvPr/>
        </p:nvSpPr>
        <p:spPr>
          <a:xfrm>
            <a:off x="6305550" y="150299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5550" y="1588720"/>
            <a:ext cx="5610225"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6"/>
          <a:stretch>
            <a:fillRect/>
          </a:stretch>
        </p:blipFill>
        <p:spPr>
          <a:xfrm>
            <a:off x="3094826" y="2237234"/>
            <a:ext cx="263506" cy="383281"/>
          </a:xfrm>
          <a:prstGeom prst="rect">
            <a:avLst/>
          </a:prstGeom>
        </p:spPr>
      </p:pic>
      <p:pic>
        <p:nvPicPr>
          <p:cNvPr id="22" name="Picture 21" descr="lock.png"/>
          <p:cNvPicPr>
            <a:picLocks noChangeAspect="1"/>
          </p:cNvPicPr>
          <p:nvPr/>
        </p:nvPicPr>
        <p:blipFill>
          <a:blip r:embed="rId6"/>
          <a:stretch>
            <a:fillRect/>
          </a:stretch>
        </p:blipFill>
        <p:spPr>
          <a:xfrm>
            <a:off x="3094826" y="5123309"/>
            <a:ext cx="263506" cy="383281"/>
          </a:xfrm>
          <a:prstGeom prst="rect">
            <a:avLst/>
          </a:prstGeom>
        </p:spPr>
      </p:pic>
      <p:sp>
        <p:nvSpPr>
          <p:cNvPr id="23" name="TextBox 22"/>
          <p:cNvSpPr txBox="1"/>
          <p:nvPr/>
        </p:nvSpPr>
        <p:spPr>
          <a:xfrm>
            <a:off x="6305550" y="1598245"/>
            <a:ext cx="4894116" cy="194310"/>
          </a:xfrm>
          <a:prstGeom prst="rect">
            <a:avLst/>
          </a:prstGeom>
          <a:noFill/>
        </p:spPr>
        <p:txBody>
          <a:bodyPr wrap="none" lIns="0" rIns="0" tIns="0" bIns="0">
            <a:spAutoFit/>
          </a:bodyPr>
          <a:lstStyle/>
          <a:p>
            <a:r>
              <a:rPr sz="1150" b="0">
                <a:solidFill>
                  <a:srgbClr val="2E2E2E"/>
                </a:solidFill>
                <a:latin typeface="Calibri"/>
              </a:rPr>
              <a:t>By 2036, masonry and brickwork segment is anticipated to witness an increase of</a:t>
            </a:r>
          </a:p>
        </p:txBody>
      </p:sp>
      <p:pic>
        <p:nvPicPr>
          <p:cNvPr id="24" name="Picture 23" descr="lock.png"/>
          <p:cNvPicPr>
            <a:picLocks noChangeAspect="1"/>
          </p:cNvPicPr>
          <p:nvPr/>
        </p:nvPicPr>
        <p:blipFill>
          <a:blip r:embed="rId6"/>
          <a:stretch>
            <a:fillRect/>
          </a:stretch>
        </p:blipFill>
        <p:spPr>
          <a:xfrm>
            <a:off x="11148820" y="1588021"/>
            <a:ext cx="134549" cy="195707"/>
          </a:xfrm>
          <a:prstGeom prst="rect">
            <a:avLst/>
          </a:prstGeom>
        </p:spPr>
      </p:pic>
      <p:sp>
        <p:nvSpPr>
          <p:cNvPr id="25" name="TextBox 24"/>
          <p:cNvSpPr txBox="1"/>
          <p:nvPr/>
        </p:nvSpPr>
        <p:spPr>
          <a:xfrm>
            <a:off x="11323929" y="1598245"/>
            <a:ext cx="295560" cy="194310"/>
          </a:xfrm>
          <a:prstGeom prst="rect">
            <a:avLst/>
          </a:prstGeom>
          <a:noFill/>
        </p:spPr>
        <p:txBody>
          <a:bodyPr wrap="none" lIns="0" rIns="0" tIns="0" bIns="0">
            <a:spAutoFit/>
          </a:bodyPr>
          <a:lstStyle/>
          <a:p>
            <a:r>
              <a:rPr sz="1150" b="0">
                <a:solidFill>
                  <a:srgbClr val="2E2E2E"/>
                </a:solidFill>
                <a:latin typeface="Calibri"/>
              </a:rPr>
              <a:t>X in</a:t>
            </a:r>
          </a:p>
        </p:txBody>
      </p:sp>
      <p:sp>
        <p:nvSpPr>
          <p:cNvPr id="26" name="TextBox 25"/>
          <p:cNvSpPr txBox="1"/>
          <p:nvPr/>
        </p:nvSpPr>
        <p:spPr>
          <a:xfrm>
            <a:off x="6305550" y="1773505"/>
            <a:ext cx="5339705" cy="194310"/>
          </a:xfrm>
          <a:prstGeom prst="rect">
            <a:avLst/>
          </a:prstGeom>
          <a:noFill/>
        </p:spPr>
        <p:txBody>
          <a:bodyPr wrap="none" lIns="0" rIns="0" tIns="0" bIns="0">
            <a:spAutoFit/>
          </a:bodyPr>
          <a:lstStyle/>
          <a:p>
            <a:r>
              <a:rPr sz="1150" b="0">
                <a:solidFill>
                  <a:srgbClr val="2E2E2E"/>
                </a:solidFill>
                <a:latin typeface="Calibri"/>
              </a:rPr>
              <a:t>terms of value as compared to 2026. The masonry and brickwork segment is expected to</a:t>
            </a:r>
          </a:p>
        </p:txBody>
      </p:sp>
      <p:sp>
        <p:nvSpPr>
          <p:cNvPr id="27" name="TextBox 26"/>
          <p:cNvSpPr txBox="1"/>
          <p:nvPr/>
        </p:nvSpPr>
        <p:spPr>
          <a:xfrm>
            <a:off x="6305550" y="1948765"/>
            <a:ext cx="2547069" cy="194310"/>
          </a:xfrm>
          <a:prstGeom prst="rect">
            <a:avLst/>
          </a:prstGeom>
          <a:noFill/>
        </p:spPr>
        <p:txBody>
          <a:bodyPr wrap="none" lIns="0" rIns="0" tIns="0" bIns="0">
            <a:spAutoFit/>
          </a:bodyPr>
          <a:lstStyle/>
          <a:p>
            <a:r>
              <a:rPr sz="1150" b="0">
                <a:solidFill>
                  <a:srgbClr val="2E2E2E"/>
                </a:solidFill>
                <a:latin typeface="Calibri"/>
              </a:rPr>
              <a:t>create an incremental opportunity of US$</a:t>
            </a:r>
          </a:p>
        </p:txBody>
      </p:sp>
      <p:pic>
        <p:nvPicPr>
          <p:cNvPr id="28" name="Picture 27" descr="lock.png"/>
          <p:cNvPicPr>
            <a:picLocks noChangeAspect="1"/>
          </p:cNvPicPr>
          <p:nvPr/>
        </p:nvPicPr>
        <p:blipFill>
          <a:blip r:embed="rId6"/>
          <a:stretch>
            <a:fillRect/>
          </a:stretch>
        </p:blipFill>
        <p:spPr>
          <a:xfrm>
            <a:off x="8801773" y="1938541"/>
            <a:ext cx="134549" cy="195707"/>
          </a:xfrm>
          <a:prstGeom prst="rect">
            <a:avLst/>
          </a:prstGeom>
        </p:spPr>
      </p:pic>
      <p:sp>
        <p:nvSpPr>
          <p:cNvPr id="29" name="TextBox 28"/>
          <p:cNvSpPr txBox="1"/>
          <p:nvPr/>
        </p:nvSpPr>
        <p:spPr>
          <a:xfrm>
            <a:off x="8976882" y="1948765"/>
            <a:ext cx="2844874" cy="194310"/>
          </a:xfrm>
          <a:prstGeom prst="rect">
            <a:avLst/>
          </a:prstGeom>
          <a:noFill/>
        </p:spPr>
        <p:txBody>
          <a:bodyPr wrap="none" lIns="0" rIns="0" tIns="0" bIns="0">
            <a:spAutoFit/>
          </a:bodyPr>
          <a:lstStyle/>
          <a:p>
            <a:r>
              <a:rPr sz="1150" b="0">
                <a:solidFill>
                  <a:srgbClr val="2E2E2E"/>
                </a:solidFill>
                <a:latin typeface="Calibri"/>
              </a:rPr>
              <a:t>Mn for the overall waterproof coatings market</a:t>
            </a:r>
          </a:p>
        </p:txBody>
      </p:sp>
      <p:sp>
        <p:nvSpPr>
          <p:cNvPr id="30" name="TextBox 29"/>
          <p:cNvSpPr txBox="1"/>
          <p:nvPr/>
        </p:nvSpPr>
        <p:spPr>
          <a:xfrm>
            <a:off x="6305550" y="2124025"/>
            <a:ext cx="1220923" cy="194310"/>
          </a:xfrm>
          <a:prstGeom prst="rect">
            <a:avLst/>
          </a:prstGeom>
          <a:noFill/>
        </p:spPr>
        <p:txBody>
          <a:bodyPr wrap="none" lIns="0" rIns="0" tIns="0" bIns="0">
            <a:spAutoFit/>
          </a:bodyPr>
          <a:lstStyle/>
          <a:p>
            <a:r>
              <a:rPr sz="1150" b="0">
                <a:solidFill>
                  <a:srgbClr val="2E2E2E"/>
                </a:solidFill>
                <a:latin typeface="Calibri"/>
              </a:rPr>
              <a:t>from 2026 to 2036.</a:t>
            </a:r>
          </a:p>
        </p:txBody>
      </p:sp>
      <p:sp>
        <p:nvSpPr>
          <p:cNvPr id="31" name="TextBox 30"/>
          <p:cNvSpPr txBox="1"/>
          <p:nvPr/>
        </p:nvSpPr>
        <p:spPr>
          <a:xfrm>
            <a:off x="6305550" y="2351863"/>
            <a:ext cx="5451524" cy="194310"/>
          </a:xfrm>
          <a:prstGeom prst="rect">
            <a:avLst/>
          </a:prstGeom>
          <a:noFill/>
        </p:spPr>
        <p:txBody>
          <a:bodyPr wrap="none" lIns="0" rIns="0" tIns="0" bIns="0">
            <a:spAutoFit/>
          </a:bodyPr>
          <a:lstStyle/>
          <a:p>
            <a:r>
              <a:rPr sz="1150" b="0">
                <a:solidFill>
                  <a:srgbClr val="2E2E2E"/>
                </a:solidFill>
                <a:latin typeface="Calibri"/>
              </a:rPr>
              <a:t>The composite materials segment is expected to create an incremental opportunity of US$</a:t>
            </a:r>
          </a:p>
        </p:txBody>
      </p:sp>
      <p:pic>
        <p:nvPicPr>
          <p:cNvPr id="32" name="Picture 31" descr="lock.png"/>
          <p:cNvPicPr>
            <a:picLocks noChangeAspect="1"/>
          </p:cNvPicPr>
          <p:nvPr/>
        </p:nvPicPr>
        <p:blipFill>
          <a:blip r:embed="rId6"/>
          <a:stretch>
            <a:fillRect/>
          </a:stretch>
        </p:blipFill>
        <p:spPr>
          <a:xfrm>
            <a:off x="6291470" y="2516899"/>
            <a:ext cx="134549" cy="195707"/>
          </a:xfrm>
          <a:prstGeom prst="rect">
            <a:avLst/>
          </a:prstGeom>
        </p:spPr>
      </p:pic>
      <p:sp>
        <p:nvSpPr>
          <p:cNvPr id="33" name="TextBox 32"/>
          <p:cNvSpPr txBox="1"/>
          <p:nvPr/>
        </p:nvSpPr>
        <p:spPr>
          <a:xfrm>
            <a:off x="6466579" y="2527123"/>
            <a:ext cx="5285792" cy="194310"/>
          </a:xfrm>
          <a:prstGeom prst="rect">
            <a:avLst/>
          </a:prstGeom>
          <a:noFill/>
        </p:spPr>
        <p:txBody>
          <a:bodyPr wrap="none" lIns="0" rIns="0" tIns="0" bIns="0">
            <a:spAutoFit/>
          </a:bodyPr>
          <a:lstStyle/>
          <a:p>
            <a:r>
              <a:rPr sz="1150" b="0">
                <a:solidFill>
                  <a:srgbClr val="2E2E2E"/>
                </a:solidFill>
                <a:latin typeface="Calibri"/>
              </a:rPr>
              <a:t>Mn for the overall waterproof coatings market from 2026 to 2036. The other substrates</a:t>
            </a:r>
          </a:p>
        </p:txBody>
      </p:sp>
      <p:sp>
        <p:nvSpPr>
          <p:cNvPr id="34" name="TextBox 33"/>
          <p:cNvSpPr txBox="1"/>
          <p:nvPr/>
        </p:nvSpPr>
        <p:spPr>
          <a:xfrm>
            <a:off x="6305550" y="2702383"/>
            <a:ext cx="3955938" cy="194310"/>
          </a:xfrm>
          <a:prstGeom prst="rect">
            <a:avLst/>
          </a:prstGeom>
          <a:noFill/>
        </p:spPr>
        <p:txBody>
          <a:bodyPr wrap="none" lIns="0" rIns="0" tIns="0" bIns="0">
            <a:spAutoFit/>
          </a:bodyPr>
          <a:lstStyle/>
          <a:p>
            <a:r>
              <a:rPr sz="1150" b="0">
                <a:solidFill>
                  <a:srgbClr val="2E2E2E"/>
                </a:solidFill>
                <a:latin typeface="Calibri"/>
              </a:rPr>
              <a:t>segment is expected to create an incremental opportunity of US$</a:t>
            </a:r>
          </a:p>
        </p:txBody>
      </p:sp>
      <p:pic>
        <p:nvPicPr>
          <p:cNvPr id="35" name="Picture 34" descr="lock.png"/>
          <p:cNvPicPr>
            <a:picLocks noChangeAspect="1"/>
          </p:cNvPicPr>
          <p:nvPr/>
        </p:nvPicPr>
        <p:blipFill>
          <a:blip r:embed="rId6"/>
          <a:stretch>
            <a:fillRect/>
          </a:stretch>
        </p:blipFill>
        <p:spPr>
          <a:xfrm>
            <a:off x="10210642" y="2692159"/>
            <a:ext cx="134549" cy="195707"/>
          </a:xfrm>
          <a:prstGeom prst="rect">
            <a:avLst/>
          </a:prstGeom>
        </p:spPr>
      </p:pic>
      <p:sp>
        <p:nvSpPr>
          <p:cNvPr id="36" name="TextBox 35"/>
          <p:cNvSpPr txBox="1"/>
          <p:nvPr/>
        </p:nvSpPr>
        <p:spPr>
          <a:xfrm>
            <a:off x="10385751" y="2702383"/>
            <a:ext cx="1152177" cy="194310"/>
          </a:xfrm>
          <a:prstGeom prst="rect">
            <a:avLst/>
          </a:prstGeom>
          <a:noFill/>
        </p:spPr>
        <p:txBody>
          <a:bodyPr wrap="none" lIns="0" rIns="0" tIns="0" bIns="0">
            <a:spAutoFit/>
          </a:bodyPr>
          <a:lstStyle/>
          <a:p>
            <a:r>
              <a:rPr sz="1150" b="0">
                <a:solidFill>
                  <a:srgbClr val="2E2E2E"/>
                </a:solidFill>
                <a:latin typeface="Calibri"/>
              </a:rPr>
              <a:t>Mn for the overall</a:t>
            </a:r>
          </a:p>
        </p:txBody>
      </p:sp>
      <p:sp>
        <p:nvSpPr>
          <p:cNvPr id="37" name="TextBox 36"/>
          <p:cNvSpPr txBox="1"/>
          <p:nvPr/>
        </p:nvSpPr>
        <p:spPr>
          <a:xfrm>
            <a:off x="6305550" y="2877643"/>
            <a:ext cx="2913620" cy="194310"/>
          </a:xfrm>
          <a:prstGeom prst="rect">
            <a:avLst/>
          </a:prstGeom>
          <a:noFill/>
        </p:spPr>
        <p:txBody>
          <a:bodyPr wrap="none" lIns="0" rIns="0" tIns="0" bIns="0">
            <a:spAutoFit/>
          </a:bodyPr>
          <a:lstStyle/>
          <a:p>
            <a:r>
              <a:rPr sz="1150" b="0">
                <a:solidFill>
                  <a:srgbClr val="2E2E2E"/>
                </a:solidFill>
                <a:latin typeface="Calibri"/>
              </a:rPr>
              <a:t>waterproof coatings market from 2026 to 2036.</a:t>
            </a:r>
          </a:p>
        </p:txBody>
      </p:sp>
      <p:sp>
        <p:nvSpPr>
          <p:cNvPr id="38"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ockshield_15"/>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Substrate Material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Substrate Material, 2021–2036, highlighting the sub-segments driving growth</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Substrate Material (US$ Mn)</a:t>
            </a:r>
          </a:p>
        </p:txBody>
      </p:sp>
      <p:graphicFrame>
        <p:nvGraphicFramePr>
          <p:cNvPr id="12" name="Table 11"/>
          <p:cNvGraphicFramePr>
            <a:graphicFrameLocks noGrp="1"/>
          </p:cNvGraphicFramePr>
          <p:nvPr/>
        </p:nvGraphicFramePr>
        <p:xfrm>
          <a:off x="152400" y="1238250"/>
          <a:ext cx="11887204" cy="1971675"/>
        </p:xfrm>
        <a:graphic>
          <a:graphicData uri="http://schemas.openxmlformats.org/drawingml/2006/table">
            <a:tbl>
              <a:tblPr>
                <a:tableStyleId>{5C22544A-7EE6-4342-B048-85BDC9FD1C3A}</a:tableStyleId>
              </a:tblPr>
              <a:tblGrid>
                <a:gridCol w="2320556"/>
                <a:gridCol w="562744"/>
                <a:gridCol w="562744"/>
                <a:gridCol w="562744"/>
                <a:gridCol w="562744"/>
                <a:gridCol w="562744"/>
                <a:gridCol w="562744"/>
                <a:gridCol w="562744"/>
                <a:gridCol w="562744"/>
                <a:gridCol w="562744"/>
                <a:gridCol w="562744"/>
                <a:gridCol w="562744"/>
                <a:gridCol w="562744"/>
                <a:gridCol w="562744"/>
                <a:gridCol w="562744"/>
                <a:gridCol w="562744"/>
                <a:gridCol w="562744"/>
                <a:gridCol w="562744"/>
              </a:tblGrid>
              <a:tr h="246126">
                <a:tc>
                  <a:txBody>
                    <a:bodyPr wrap="none"/>
                    <a:lstStyle/>
                    <a:p>
                      <a:pPr algn="l"/>
                      <a:r>
                        <a:rPr sz="1100" b="1">
                          <a:solidFill>
                            <a:srgbClr val="0B2E4A"/>
                          </a:solidFill>
                          <a:latin typeface="Calibri"/>
                        </a:rPr>
                        <a:t>Substrate Material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Concrete and Cementitious Surfaces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Metal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Wood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Masonry and Brickwork</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Composite Materials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Other Substrates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Substrate Material</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069589" y="2080450"/>
            <a:ext cx="366712" cy="533399"/>
          </a:xfrm>
          <a:prstGeom prst="rect">
            <a:avLst/>
          </a:prstGeom>
        </p:spPr>
      </p:pic>
      <p:sp>
        <p:nvSpPr>
          <p:cNvPr id="20" name="TextBox 19"/>
          <p:cNvSpPr txBox="1"/>
          <p:nvPr/>
        </p:nvSpPr>
        <p:spPr>
          <a:xfrm>
            <a:off x="276225" y="3971925"/>
            <a:ext cx="3402545" cy="194310"/>
          </a:xfrm>
          <a:prstGeom prst="rect">
            <a:avLst/>
          </a:prstGeom>
          <a:noFill/>
        </p:spPr>
        <p:txBody>
          <a:bodyPr wrap="none" lIns="0" rIns="0" tIns="0" bIns="0">
            <a:spAutoFit/>
          </a:bodyPr>
          <a:lstStyle/>
          <a:p>
            <a:r>
              <a:rPr sz="1150" b="0">
                <a:solidFill>
                  <a:srgbClr val="2E2E2E"/>
                </a:solidFill>
                <a:latin typeface="Calibri"/>
              </a:rPr>
              <a:t>Masonry and brickwork segment is projected to register</a:t>
            </a:r>
          </a:p>
        </p:txBody>
      </p:sp>
      <p:pic>
        <p:nvPicPr>
          <p:cNvPr id="21" name="Picture 20" descr="lock.png"/>
          <p:cNvPicPr>
            <a:picLocks noChangeAspect="1"/>
          </p:cNvPicPr>
          <p:nvPr/>
        </p:nvPicPr>
        <p:blipFill>
          <a:blip r:embed="rId4"/>
          <a:stretch>
            <a:fillRect/>
          </a:stretch>
        </p:blipFill>
        <p:spPr>
          <a:xfrm>
            <a:off x="3627924" y="3961701"/>
            <a:ext cx="134549" cy="195707"/>
          </a:xfrm>
          <a:prstGeom prst="rect">
            <a:avLst/>
          </a:prstGeom>
        </p:spPr>
      </p:pic>
      <p:sp>
        <p:nvSpPr>
          <p:cNvPr id="22" name="TextBox 21"/>
          <p:cNvSpPr txBox="1"/>
          <p:nvPr/>
        </p:nvSpPr>
        <p:spPr>
          <a:xfrm>
            <a:off x="3803034" y="3971925"/>
            <a:ext cx="7739546" cy="194310"/>
          </a:xfrm>
          <a:prstGeom prst="rect">
            <a:avLst/>
          </a:prstGeom>
          <a:noFill/>
        </p:spPr>
        <p:txBody>
          <a:bodyPr wrap="none" lIns="0" rIns="0" tIns="0" bIns="0">
            <a:spAutoFit/>
          </a:bodyPr>
          <a:lstStyle/>
          <a:p>
            <a:r>
              <a:rPr sz="1150" b="0">
                <a:solidFill>
                  <a:srgbClr val="2E2E2E"/>
                </a:solidFill>
                <a:latin typeface="Calibri"/>
              </a:rPr>
              <a:t>X higher value than other substrates segment in 2036. Among waterproof coatings by substrate material, masonry and brickwork</a:t>
            </a:r>
          </a:p>
        </p:txBody>
      </p:sp>
      <p:sp>
        <p:nvSpPr>
          <p:cNvPr id="23" name="TextBox 22"/>
          <p:cNvSpPr txBox="1"/>
          <p:nvPr/>
        </p:nvSpPr>
        <p:spPr>
          <a:xfrm>
            <a:off x="276225" y="414718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24" name="Picture 23" descr="lock.png"/>
          <p:cNvPicPr>
            <a:picLocks noChangeAspect="1"/>
          </p:cNvPicPr>
          <p:nvPr/>
        </p:nvPicPr>
        <p:blipFill>
          <a:blip r:embed="rId4"/>
          <a:stretch>
            <a:fillRect/>
          </a:stretch>
        </p:blipFill>
        <p:spPr>
          <a:xfrm>
            <a:off x="3382018" y="4136961"/>
            <a:ext cx="134549" cy="195707"/>
          </a:xfrm>
          <a:prstGeom prst="rect">
            <a:avLst/>
          </a:prstGeom>
        </p:spPr>
      </p:pic>
      <p:sp>
        <p:nvSpPr>
          <p:cNvPr id="25" name="TextBox 24"/>
          <p:cNvSpPr txBox="1"/>
          <p:nvPr/>
        </p:nvSpPr>
        <p:spPr>
          <a:xfrm>
            <a:off x="3557127"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375022"/>
            <a:ext cx="7631720" cy="194310"/>
          </a:xfrm>
          <a:prstGeom prst="rect">
            <a:avLst/>
          </a:prstGeom>
          <a:noFill/>
        </p:spPr>
        <p:txBody>
          <a:bodyPr wrap="none" lIns="0" rIns="0" tIns="0" bIns="0">
            <a:spAutoFit/>
          </a:bodyPr>
          <a:lstStyle/>
          <a:p>
            <a:r>
              <a:rPr sz="1150" b="0">
                <a:solidFill>
                  <a:srgbClr val="2E2E2E"/>
                </a:solidFill>
                <a:latin typeface="Calibri"/>
              </a:rPr>
              <a:t>In terms of value share by substrate material, the masonry and brickwork segment is expected to dominate the market, gaining</a:t>
            </a:r>
          </a:p>
        </p:txBody>
      </p:sp>
      <p:pic>
        <p:nvPicPr>
          <p:cNvPr id="27" name="Picture 26" descr="lock.png"/>
          <p:cNvPicPr>
            <a:picLocks noChangeAspect="1"/>
          </p:cNvPicPr>
          <p:nvPr/>
        </p:nvPicPr>
        <p:blipFill>
          <a:blip r:embed="rId4"/>
          <a:stretch>
            <a:fillRect/>
          </a:stretch>
        </p:blipFill>
        <p:spPr>
          <a:xfrm>
            <a:off x="7857099" y="4364799"/>
            <a:ext cx="134549" cy="195707"/>
          </a:xfrm>
          <a:prstGeom prst="rect">
            <a:avLst/>
          </a:prstGeom>
        </p:spPr>
      </p:pic>
      <p:sp>
        <p:nvSpPr>
          <p:cNvPr id="28" name="TextBox 27"/>
          <p:cNvSpPr txBox="1"/>
          <p:nvPr/>
        </p:nvSpPr>
        <p:spPr>
          <a:xfrm>
            <a:off x="8032208"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9427351" y="4364799"/>
            <a:ext cx="134549" cy="195707"/>
          </a:xfrm>
          <a:prstGeom prst="rect">
            <a:avLst/>
          </a:prstGeom>
        </p:spPr>
      </p:pic>
      <p:sp>
        <p:nvSpPr>
          <p:cNvPr id="30" name="TextBox 29"/>
          <p:cNvSpPr txBox="1"/>
          <p:nvPr/>
        </p:nvSpPr>
        <p:spPr>
          <a:xfrm>
            <a:off x="9602460" y="4375022"/>
            <a:ext cx="1559805" cy="194310"/>
          </a:xfrm>
          <a:prstGeom prst="rect">
            <a:avLst/>
          </a:prstGeom>
          <a:noFill/>
        </p:spPr>
        <p:txBody>
          <a:bodyPr wrap="none" lIns="0" rIns="0" tIns="0" bIns="0">
            <a:spAutoFit/>
          </a:bodyPr>
          <a:lstStyle/>
          <a:p>
            <a:r>
              <a:rPr sz="1150" b="0">
                <a:solidFill>
                  <a:srgbClr val="2E2E2E"/>
                </a:solidFill>
                <a:latin typeface="Calibri"/>
              </a:rPr>
              <a:t>share by 2036. The other</a:t>
            </a:r>
          </a:p>
        </p:txBody>
      </p:sp>
      <p:sp>
        <p:nvSpPr>
          <p:cNvPr id="31" name="TextBox 30"/>
          <p:cNvSpPr txBox="1"/>
          <p:nvPr/>
        </p:nvSpPr>
        <p:spPr>
          <a:xfrm>
            <a:off x="276225" y="4550282"/>
            <a:ext cx="2375061" cy="194310"/>
          </a:xfrm>
          <a:prstGeom prst="rect">
            <a:avLst/>
          </a:prstGeom>
          <a:noFill/>
        </p:spPr>
        <p:txBody>
          <a:bodyPr wrap="none" lIns="0" rIns="0" tIns="0" bIns="0">
            <a:spAutoFit/>
          </a:bodyPr>
          <a:lstStyle/>
          <a:p>
            <a:r>
              <a:rPr sz="1150" b="0">
                <a:solidFill>
                  <a:srgbClr val="2E2E2E"/>
                </a:solidFill>
                <a:latin typeface="Calibri"/>
              </a:rPr>
              <a:t>substrates segment is expected to lose</a:t>
            </a:r>
          </a:p>
        </p:txBody>
      </p:sp>
      <p:pic>
        <p:nvPicPr>
          <p:cNvPr id="32" name="Picture 31" descr="lock.png"/>
          <p:cNvPicPr>
            <a:picLocks noChangeAspect="1"/>
          </p:cNvPicPr>
          <p:nvPr/>
        </p:nvPicPr>
        <p:blipFill>
          <a:blip r:embed="rId4"/>
          <a:stretch>
            <a:fillRect/>
          </a:stretch>
        </p:blipFill>
        <p:spPr>
          <a:xfrm>
            <a:off x="2600440" y="4540059"/>
            <a:ext cx="134549" cy="195707"/>
          </a:xfrm>
          <a:prstGeom prst="rect">
            <a:avLst/>
          </a:prstGeom>
        </p:spPr>
      </p:pic>
      <p:sp>
        <p:nvSpPr>
          <p:cNvPr id="33" name="TextBox 32"/>
          <p:cNvSpPr txBox="1"/>
          <p:nvPr/>
        </p:nvSpPr>
        <p:spPr>
          <a:xfrm>
            <a:off x="2775549" y="455028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5363053" y="4540059"/>
            <a:ext cx="134549" cy="195707"/>
          </a:xfrm>
          <a:prstGeom prst="rect">
            <a:avLst/>
          </a:prstGeom>
        </p:spPr>
      </p:pic>
      <p:sp>
        <p:nvSpPr>
          <p:cNvPr id="35" name="TextBox 34"/>
          <p:cNvSpPr txBox="1"/>
          <p:nvPr/>
        </p:nvSpPr>
        <p:spPr>
          <a:xfrm>
            <a:off x="5538163" y="45502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Substrate Material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Substrate Material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Substrate Material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749263"/>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74450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66830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Concrete and Cementitious Surfaces</a:t>
            </a:r>
          </a:p>
        </p:txBody>
      </p:sp>
      <p:sp>
        <p:nvSpPr>
          <p:cNvPr id="18" name="BPS Value 1"/>
          <p:cNvSpPr txBox="1"/>
          <p:nvPr/>
        </p:nvSpPr>
        <p:spPr>
          <a:xfrm>
            <a:off x="6896100" y="173021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1919876"/>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191511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183891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Metal</a:t>
            </a:r>
          </a:p>
        </p:txBody>
      </p:sp>
      <p:sp>
        <p:nvSpPr>
          <p:cNvPr id="22" name="BPS Value 2"/>
          <p:cNvSpPr txBox="1"/>
          <p:nvPr/>
        </p:nvSpPr>
        <p:spPr>
          <a:xfrm>
            <a:off x="6896100" y="190082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2355978"/>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235121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27501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Wood</a:t>
            </a:r>
          </a:p>
        </p:txBody>
      </p:sp>
      <p:sp>
        <p:nvSpPr>
          <p:cNvPr id="26" name="BPS Value 3"/>
          <p:cNvSpPr txBox="1"/>
          <p:nvPr/>
        </p:nvSpPr>
        <p:spPr>
          <a:xfrm>
            <a:off x="6896100" y="233692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928997" y="3269488"/>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5090922" y="326472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318852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Composite Materials</a:t>
            </a:r>
          </a:p>
        </p:txBody>
      </p:sp>
      <p:sp>
        <p:nvSpPr>
          <p:cNvPr id="30" name="BPS Value 4"/>
          <p:cNvSpPr txBox="1"/>
          <p:nvPr/>
        </p:nvSpPr>
        <p:spPr>
          <a:xfrm>
            <a:off x="6896100" y="325043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928997" y="4427886"/>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rot="10800000">
            <a:off x="5090922" y="442312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434692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Substrates</a:t>
            </a:r>
          </a:p>
        </p:txBody>
      </p:sp>
      <p:sp>
        <p:nvSpPr>
          <p:cNvPr id="34" name="BPS Value 5"/>
          <p:cNvSpPr txBox="1"/>
          <p:nvPr/>
        </p:nvSpPr>
        <p:spPr>
          <a:xfrm>
            <a:off x="6896100" y="440883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5" name="FMI Legend Chip"/>
          <p:cNvSpPr/>
          <p:nvPr/>
        </p:nvSpPr>
        <p:spPr>
          <a:xfrm>
            <a:off x="4928997" y="5629953"/>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5090922" y="562519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5233797" y="554899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Masonry and Brickwork</a:t>
            </a:r>
          </a:p>
        </p:txBody>
      </p:sp>
      <p:sp>
        <p:nvSpPr>
          <p:cNvPr id="38" name="BPS Value 6"/>
          <p:cNvSpPr txBox="1"/>
          <p:nvPr/>
        </p:nvSpPr>
        <p:spPr>
          <a:xfrm>
            <a:off x="6896100" y="561090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Rounded Rectangle 38"/>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Substrate Material</a:t>
            </a:r>
          </a:p>
        </p:txBody>
      </p:sp>
      <p:sp>
        <p:nvSpPr>
          <p:cNvPr id="41" name="Rectangle 40"/>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3" name="TextBox 4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4" name="Picture 43" descr="lock.png"/>
          <p:cNvPicPr>
            <a:picLocks noChangeAspect="1"/>
          </p:cNvPicPr>
          <p:nvPr/>
        </p:nvPicPr>
        <p:blipFill>
          <a:blip r:embed="rId5"/>
          <a:stretch>
            <a:fillRect/>
          </a:stretch>
        </p:blipFill>
        <p:spPr>
          <a:xfrm>
            <a:off x="2557843" y="3833622"/>
            <a:ext cx="275034" cy="400050"/>
          </a:xfrm>
          <a:prstGeom prst="rect">
            <a:avLst/>
          </a:prstGeom>
        </p:spPr>
      </p:pic>
      <p:sp>
        <p:nvSpPr>
          <p:cNvPr id="45" name="TextBox 44"/>
          <p:cNvSpPr txBox="1"/>
          <p:nvPr/>
        </p:nvSpPr>
        <p:spPr>
          <a:xfrm>
            <a:off x="7829550" y="1400175"/>
            <a:ext cx="3872358" cy="194310"/>
          </a:xfrm>
          <a:prstGeom prst="rect">
            <a:avLst/>
          </a:prstGeom>
          <a:noFill/>
        </p:spPr>
        <p:txBody>
          <a:bodyPr wrap="none" lIns="0" rIns="0" tIns="0" bIns="0">
            <a:spAutoFit/>
          </a:bodyPr>
          <a:lstStyle/>
          <a:p>
            <a:r>
              <a:rPr sz="1150" b="0">
                <a:solidFill>
                  <a:srgbClr val="2E2E2E"/>
                </a:solidFill>
                <a:latin typeface="Calibri"/>
              </a:rPr>
              <a:t>Among waterproof coatings by substrate material, masonry and</a:t>
            </a:r>
          </a:p>
        </p:txBody>
      </p:sp>
      <p:sp>
        <p:nvSpPr>
          <p:cNvPr id="46" name="TextBox 45"/>
          <p:cNvSpPr txBox="1"/>
          <p:nvPr/>
        </p:nvSpPr>
        <p:spPr>
          <a:xfrm>
            <a:off x="7829550" y="1575435"/>
            <a:ext cx="3778492" cy="194310"/>
          </a:xfrm>
          <a:prstGeom prst="rect">
            <a:avLst/>
          </a:prstGeom>
          <a:noFill/>
        </p:spPr>
        <p:txBody>
          <a:bodyPr wrap="none" lIns="0" rIns="0" tIns="0" bIns="0">
            <a:spAutoFit/>
          </a:bodyPr>
          <a:lstStyle/>
          <a:p>
            <a:r>
              <a:rPr sz="1150" b="0">
                <a:solidFill>
                  <a:srgbClr val="2E2E2E"/>
                </a:solidFill>
                <a:latin typeface="Calibri"/>
              </a:rPr>
              <a:t>brickwork segment is expected to witness the highest CAGR of</a:t>
            </a:r>
          </a:p>
        </p:txBody>
      </p:sp>
      <p:pic>
        <p:nvPicPr>
          <p:cNvPr id="47" name="Picture 46" descr="lock.png"/>
          <p:cNvPicPr>
            <a:picLocks noChangeAspect="1"/>
          </p:cNvPicPr>
          <p:nvPr/>
        </p:nvPicPr>
        <p:blipFill>
          <a:blip r:embed="rId5"/>
          <a:stretch>
            <a:fillRect/>
          </a:stretch>
        </p:blipFill>
        <p:spPr>
          <a:xfrm>
            <a:off x="11557196" y="1565211"/>
            <a:ext cx="134549" cy="195707"/>
          </a:xfrm>
          <a:prstGeom prst="rect">
            <a:avLst/>
          </a:prstGeom>
        </p:spPr>
      </p:pic>
      <p:sp>
        <p:nvSpPr>
          <p:cNvPr id="48" name="TextBox 47"/>
          <p:cNvSpPr txBox="1"/>
          <p:nvPr/>
        </p:nvSpPr>
        <p:spPr>
          <a:xfrm>
            <a:off x="7829550" y="1750695"/>
            <a:ext cx="3710620"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substrate</a:t>
            </a:r>
          </a:p>
        </p:txBody>
      </p:sp>
      <p:sp>
        <p:nvSpPr>
          <p:cNvPr id="49" name="TextBox 48"/>
          <p:cNvSpPr txBox="1"/>
          <p:nvPr/>
        </p:nvSpPr>
        <p:spPr>
          <a:xfrm>
            <a:off x="7829550" y="1925955"/>
            <a:ext cx="3675819" cy="194310"/>
          </a:xfrm>
          <a:prstGeom prst="rect">
            <a:avLst/>
          </a:prstGeom>
          <a:noFill/>
        </p:spPr>
        <p:txBody>
          <a:bodyPr wrap="none" lIns="0" rIns="0" tIns="0" bIns="0">
            <a:spAutoFit/>
          </a:bodyPr>
          <a:lstStyle/>
          <a:p>
            <a:r>
              <a:rPr sz="1150" b="0">
                <a:solidFill>
                  <a:srgbClr val="2E2E2E"/>
                </a:solidFill>
                <a:latin typeface="Calibri"/>
              </a:rPr>
              <a:t>material, the masonry and brickwork segment is expected to</a:t>
            </a:r>
          </a:p>
        </p:txBody>
      </p:sp>
      <p:sp>
        <p:nvSpPr>
          <p:cNvPr id="50" name="TextBox 49"/>
          <p:cNvSpPr txBox="1"/>
          <p:nvPr/>
        </p:nvSpPr>
        <p:spPr>
          <a:xfrm>
            <a:off x="7829550" y="2101215"/>
            <a:ext cx="1837072" cy="194310"/>
          </a:xfrm>
          <a:prstGeom prst="rect">
            <a:avLst/>
          </a:prstGeom>
          <a:noFill/>
        </p:spPr>
        <p:txBody>
          <a:bodyPr wrap="none" lIns="0" rIns="0" tIns="0" bIns="0">
            <a:spAutoFit/>
          </a:bodyPr>
          <a:lstStyle/>
          <a:p>
            <a:r>
              <a:rPr sz="1150" b="0">
                <a:solidFill>
                  <a:srgbClr val="2E2E2E"/>
                </a:solidFill>
                <a:latin typeface="Calibri"/>
              </a:rPr>
              <a:t>dominate the market, gaining</a:t>
            </a:r>
          </a:p>
        </p:txBody>
      </p:sp>
      <p:pic>
        <p:nvPicPr>
          <p:cNvPr id="51" name="Picture 50" descr="lock.png"/>
          <p:cNvPicPr>
            <a:picLocks noChangeAspect="1"/>
          </p:cNvPicPr>
          <p:nvPr/>
        </p:nvPicPr>
        <p:blipFill>
          <a:blip r:embed="rId5"/>
          <a:stretch>
            <a:fillRect/>
          </a:stretch>
        </p:blipFill>
        <p:spPr>
          <a:xfrm>
            <a:off x="9615776" y="2090991"/>
            <a:ext cx="134549" cy="195707"/>
          </a:xfrm>
          <a:prstGeom prst="rect">
            <a:avLst/>
          </a:prstGeom>
        </p:spPr>
      </p:pic>
      <p:sp>
        <p:nvSpPr>
          <p:cNvPr id="52" name="TextBox 51"/>
          <p:cNvSpPr txBox="1"/>
          <p:nvPr/>
        </p:nvSpPr>
        <p:spPr>
          <a:xfrm>
            <a:off x="9790885"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3" name="Picture 52" descr="lock.png"/>
          <p:cNvPicPr>
            <a:picLocks noChangeAspect="1"/>
          </p:cNvPicPr>
          <p:nvPr/>
        </p:nvPicPr>
        <p:blipFill>
          <a:blip r:embed="rId5"/>
          <a:stretch>
            <a:fillRect/>
          </a:stretch>
        </p:blipFill>
        <p:spPr>
          <a:xfrm>
            <a:off x="11186028" y="2090991"/>
            <a:ext cx="134549" cy="195707"/>
          </a:xfrm>
          <a:prstGeom prst="rect">
            <a:avLst/>
          </a:prstGeom>
        </p:spPr>
      </p:pic>
      <p:sp>
        <p:nvSpPr>
          <p:cNvPr id="54" name="TextBox 53"/>
          <p:cNvSpPr txBox="1"/>
          <p:nvPr/>
        </p:nvSpPr>
        <p:spPr>
          <a:xfrm>
            <a:off x="7829550" y="227647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5" name="TextBox 54"/>
          <p:cNvSpPr txBox="1"/>
          <p:nvPr/>
        </p:nvSpPr>
        <p:spPr>
          <a:xfrm>
            <a:off x="7829550" y="2504313"/>
            <a:ext cx="2988642" cy="194310"/>
          </a:xfrm>
          <a:prstGeom prst="rect">
            <a:avLst/>
          </a:prstGeom>
          <a:noFill/>
        </p:spPr>
        <p:txBody>
          <a:bodyPr wrap="none" lIns="0" rIns="0" tIns="0" bIns="0">
            <a:spAutoFit/>
          </a:bodyPr>
          <a:lstStyle/>
          <a:p>
            <a:r>
              <a:rPr sz="1150" b="0">
                <a:solidFill>
                  <a:srgbClr val="2E2E2E"/>
                </a:solidFill>
                <a:latin typeface="Calibri"/>
              </a:rPr>
              <a:t>The other substrates segment is expected to lose</a:t>
            </a:r>
          </a:p>
        </p:txBody>
      </p:sp>
      <p:pic>
        <p:nvPicPr>
          <p:cNvPr id="56" name="Picture 55" descr="lock.png"/>
          <p:cNvPicPr>
            <a:picLocks noChangeAspect="1"/>
          </p:cNvPicPr>
          <p:nvPr/>
        </p:nvPicPr>
        <p:blipFill>
          <a:blip r:embed="rId5"/>
          <a:stretch>
            <a:fillRect/>
          </a:stretch>
        </p:blipFill>
        <p:spPr>
          <a:xfrm>
            <a:off x="10767346" y="2494089"/>
            <a:ext cx="134549" cy="195707"/>
          </a:xfrm>
          <a:prstGeom prst="rect">
            <a:avLst/>
          </a:prstGeom>
        </p:spPr>
      </p:pic>
      <p:sp>
        <p:nvSpPr>
          <p:cNvPr id="57" name="TextBox 56"/>
          <p:cNvSpPr txBox="1"/>
          <p:nvPr/>
        </p:nvSpPr>
        <p:spPr>
          <a:xfrm>
            <a:off x="10942455" y="250431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58" name="TextBox 57"/>
          <p:cNvSpPr txBox="1"/>
          <p:nvPr/>
        </p:nvSpPr>
        <p:spPr>
          <a:xfrm>
            <a:off x="7829550" y="267957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59" name="Picture 58" descr="lock.png"/>
          <p:cNvPicPr>
            <a:picLocks noChangeAspect="1"/>
          </p:cNvPicPr>
          <p:nvPr/>
        </p:nvPicPr>
        <p:blipFill>
          <a:blip r:embed="rId5"/>
          <a:stretch>
            <a:fillRect/>
          </a:stretch>
        </p:blipFill>
        <p:spPr>
          <a:xfrm>
            <a:off x="9630324" y="2669349"/>
            <a:ext cx="134549" cy="195707"/>
          </a:xfrm>
          <a:prstGeom prst="rect">
            <a:avLst/>
          </a:prstGeom>
        </p:spPr>
      </p:pic>
      <p:sp>
        <p:nvSpPr>
          <p:cNvPr id="60" name="TextBox 59"/>
          <p:cNvSpPr txBox="1"/>
          <p:nvPr/>
        </p:nvSpPr>
        <p:spPr>
          <a:xfrm>
            <a:off x="9805433"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1"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Distribution Channel</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Distribution Channel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Distribution Channel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5 sub-segments of Distribution Channel,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Distribution Channel segment categorizes the market by distribution channel.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90881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90881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Online Sales</a:t>
            </a:r>
          </a:p>
        </p:txBody>
      </p:sp>
      <p:sp>
        <p:nvSpPr>
          <p:cNvPr id="22" name="Rectangle 21"/>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65938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890010" y="1773916"/>
            <a:ext cx="190881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890010" y="1992961"/>
            <a:ext cx="190881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Channels</a:t>
            </a:r>
          </a:p>
        </p:txBody>
      </p:sp>
      <p:sp>
        <p:nvSpPr>
          <p:cNvPr id="29" name="Rectangle 28"/>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68249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913120" y="1773916"/>
            <a:ext cx="190881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913120" y="1992961"/>
            <a:ext cx="190881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Direct Sales</a:t>
            </a:r>
          </a:p>
        </p:txBody>
      </p:sp>
      <p:sp>
        <p:nvSpPr>
          <p:cNvPr id="36" name="Rectangle 35"/>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670560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7936230" y="1773916"/>
            <a:ext cx="1908810"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936230" y="1992961"/>
            <a:ext cx="1908810"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Retail and Hardware Stores</a:t>
            </a:r>
          </a:p>
        </p:txBody>
      </p:sp>
      <p:sp>
        <p:nvSpPr>
          <p:cNvPr id="43" name="Rectangle 42"/>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872871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9959340" y="1773916"/>
            <a:ext cx="1908810"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959340" y="1992961"/>
            <a:ext cx="1908810"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Distributors and Wholesalers</a:t>
            </a:r>
          </a:p>
        </p:txBody>
      </p:sp>
      <p:sp>
        <p:nvSpPr>
          <p:cNvPr id="50" name="Rectangle 49"/>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10751820"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6" name="Rectangle 55"/>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8" name="Rounded Rectangle 57"/>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0" name="Rectangle 59"/>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p:txBody>
      </p:sp>
      <p:sp>
        <p:nvSpPr>
          <p:cNvPr id="62" name="Rounded Rectangle 61"/>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4" name="Rectangle 63"/>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Distribution Channel split shows how demand is distributed across distribution channel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66" name="Rectangle 65"/>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8" name="TextBox 67"/>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9" name="TextBox 6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0" name="Picture 69" descr="3_213_605E5C.png"/>
          <p:cNvPicPr>
            <a:picLocks noChangeAspect="1"/>
          </p:cNvPicPr>
          <p:nvPr/>
        </p:nvPicPr>
        <p:blipFill>
          <a:blip r:embed="rId4"/>
          <a:stretch>
            <a:fillRect/>
          </a:stretch>
        </p:blipFill>
        <p:spPr>
          <a:xfrm>
            <a:off x="2223441" y="2286582"/>
            <a:ext cx="1195728" cy="361950"/>
          </a:xfrm>
          <a:prstGeom prst="rect">
            <a:avLst/>
          </a:prstGeom>
        </p:spPr>
      </p:pic>
      <p:pic>
        <p:nvPicPr>
          <p:cNvPr id="71" name="Picture 70" descr="4_599_605E5C.png"/>
          <p:cNvPicPr>
            <a:picLocks noChangeAspect="1"/>
          </p:cNvPicPr>
          <p:nvPr/>
        </p:nvPicPr>
        <p:blipFill>
          <a:blip r:embed="rId5"/>
          <a:stretch>
            <a:fillRect/>
          </a:stretch>
        </p:blipFill>
        <p:spPr>
          <a:xfrm>
            <a:off x="2223441" y="2779432"/>
            <a:ext cx="1195728" cy="361950"/>
          </a:xfrm>
          <a:prstGeom prst="rect">
            <a:avLst/>
          </a:prstGeom>
        </p:spPr>
      </p:pic>
      <p:pic>
        <p:nvPicPr>
          <p:cNvPr id="72" name="Picture 71" descr="3_7__605E5C.png"/>
          <p:cNvPicPr>
            <a:picLocks noChangeAspect="1"/>
          </p:cNvPicPr>
          <p:nvPr/>
        </p:nvPicPr>
        <p:blipFill>
          <a:blip r:embed="rId6"/>
          <a:stretch>
            <a:fillRect/>
          </a:stretch>
        </p:blipFill>
        <p:spPr>
          <a:xfrm>
            <a:off x="2330087" y="3272281"/>
            <a:ext cx="982436" cy="361950"/>
          </a:xfrm>
          <a:prstGeom prst="rect">
            <a:avLst/>
          </a:prstGeom>
        </p:spPr>
      </p:pic>
      <p:pic>
        <p:nvPicPr>
          <p:cNvPr id="73" name="Picture 72" descr="2_793_605E5C.png"/>
          <p:cNvPicPr>
            <a:picLocks noChangeAspect="1"/>
          </p:cNvPicPr>
          <p:nvPr/>
        </p:nvPicPr>
        <p:blipFill>
          <a:blip r:embed="rId7"/>
          <a:stretch>
            <a:fillRect/>
          </a:stretch>
        </p:blipFill>
        <p:spPr>
          <a:xfrm>
            <a:off x="4246551" y="2286582"/>
            <a:ext cx="1195728" cy="361950"/>
          </a:xfrm>
          <a:prstGeom prst="rect">
            <a:avLst/>
          </a:prstGeom>
        </p:spPr>
      </p:pic>
      <p:pic>
        <p:nvPicPr>
          <p:cNvPr id="74" name="Picture 73" descr="4_615_605E5C.png"/>
          <p:cNvPicPr>
            <a:picLocks noChangeAspect="1"/>
          </p:cNvPicPr>
          <p:nvPr/>
        </p:nvPicPr>
        <p:blipFill>
          <a:blip r:embed="rId8"/>
          <a:stretch>
            <a:fillRect/>
          </a:stretch>
        </p:blipFill>
        <p:spPr>
          <a:xfrm>
            <a:off x="4246551" y="2779432"/>
            <a:ext cx="1195728" cy="361950"/>
          </a:xfrm>
          <a:prstGeom prst="rect">
            <a:avLst/>
          </a:prstGeom>
        </p:spPr>
      </p:pic>
      <p:pic>
        <p:nvPicPr>
          <p:cNvPr id="75" name="Picture 74" descr="5_1__605E5C.png"/>
          <p:cNvPicPr>
            <a:picLocks noChangeAspect="1"/>
          </p:cNvPicPr>
          <p:nvPr/>
        </p:nvPicPr>
        <p:blipFill>
          <a:blip r:embed="rId9"/>
          <a:stretch>
            <a:fillRect/>
          </a:stretch>
        </p:blipFill>
        <p:spPr>
          <a:xfrm>
            <a:off x="4353197" y="3272281"/>
            <a:ext cx="982436" cy="361950"/>
          </a:xfrm>
          <a:prstGeom prst="rect">
            <a:avLst/>
          </a:prstGeom>
        </p:spPr>
      </p:pic>
      <p:pic>
        <p:nvPicPr>
          <p:cNvPr id="76" name="Picture 75" descr="1_677_605E5C.png"/>
          <p:cNvPicPr>
            <a:picLocks noChangeAspect="1"/>
          </p:cNvPicPr>
          <p:nvPr/>
        </p:nvPicPr>
        <p:blipFill>
          <a:blip r:embed="rId10"/>
          <a:stretch>
            <a:fillRect/>
          </a:stretch>
        </p:blipFill>
        <p:spPr>
          <a:xfrm>
            <a:off x="6269661" y="2286582"/>
            <a:ext cx="1195728" cy="361950"/>
          </a:xfrm>
          <a:prstGeom prst="rect">
            <a:avLst/>
          </a:prstGeom>
        </p:spPr>
      </p:pic>
      <p:pic>
        <p:nvPicPr>
          <p:cNvPr id="77" name="Picture 76" descr="3_566_605E5C.png"/>
          <p:cNvPicPr>
            <a:picLocks noChangeAspect="1"/>
          </p:cNvPicPr>
          <p:nvPr/>
        </p:nvPicPr>
        <p:blipFill>
          <a:blip r:embed="rId11"/>
          <a:stretch>
            <a:fillRect/>
          </a:stretch>
        </p:blipFill>
        <p:spPr>
          <a:xfrm>
            <a:off x="6269661" y="2779432"/>
            <a:ext cx="1195728" cy="361950"/>
          </a:xfrm>
          <a:prstGeom prst="rect">
            <a:avLst/>
          </a:prstGeom>
        </p:spPr>
      </p:pic>
      <p:pic>
        <p:nvPicPr>
          <p:cNvPr id="78" name="Picture 77" descr="7_8__605E5C.png"/>
          <p:cNvPicPr>
            <a:picLocks noChangeAspect="1"/>
          </p:cNvPicPr>
          <p:nvPr/>
        </p:nvPicPr>
        <p:blipFill>
          <a:blip r:embed="rId12"/>
          <a:stretch>
            <a:fillRect/>
          </a:stretch>
        </p:blipFill>
        <p:spPr>
          <a:xfrm>
            <a:off x="6376307" y="3272281"/>
            <a:ext cx="982436" cy="361950"/>
          </a:xfrm>
          <a:prstGeom prst="rect">
            <a:avLst/>
          </a:prstGeom>
        </p:spPr>
      </p:pic>
      <p:pic>
        <p:nvPicPr>
          <p:cNvPr id="79" name="Picture 78" descr="1_671_605E5C.png"/>
          <p:cNvPicPr>
            <a:picLocks noChangeAspect="1"/>
          </p:cNvPicPr>
          <p:nvPr/>
        </p:nvPicPr>
        <p:blipFill>
          <a:blip r:embed="rId13"/>
          <a:stretch>
            <a:fillRect/>
          </a:stretch>
        </p:blipFill>
        <p:spPr>
          <a:xfrm>
            <a:off x="8292771" y="2286582"/>
            <a:ext cx="1195728" cy="361950"/>
          </a:xfrm>
          <a:prstGeom prst="rect">
            <a:avLst/>
          </a:prstGeom>
        </p:spPr>
      </p:pic>
      <p:pic>
        <p:nvPicPr>
          <p:cNvPr id="80" name="Picture 79" descr="1_967_605E5C.png"/>
          <p:cNvPicPr>
            <a:picLocks noChangeAspect="1"/>
          </p:cNvPicPr>
          <p:nvPr/>
        </p:nvPicPr>
        <p:blipFill>
          <a:blip r:embed="rId14"/>
          <a:stretch>
            <a:fillRect/>
          </a:stretch>
        </p:blipFill>
        <p:spPr>
          <a:xfrm>
            <a:off x="8292771" y="2779432"/>
            <a:ext cx="1195728" cy="361950"/>
          </a:xfrm>
          <a:prstGeom prst="rect">
            <a:avLst/>
          </a:prstGeom>
        </p:spPr>
      </p:pic>
      <p:pic>
        <p:nvPicPr>
          <p:cNvPr id="81" name="Picture 80" descr="1_6__605E5C.png"/>
          <p:cNvPicPr>
            <a:picLocks noChangeAspect="1"/>
          </p:cNvPicPr>
          <p:nvPr/>
        </p:nvPicPr>
        <p:blipFill>
          <a:blip r:embed="rId15"/>
          <a:stretch>
            <a:fillRect/>
          </a:stretch>
        </p:blipFill>
        <p:spPr>
          <a:xfrm>
            <a:off x="8399417" y="3272281"/>
            <a:ext cx="982436" cy="361950"/>
          </a:xfrm>
          <a:prstGeom prst="rect">
            <a:avLst/>
          </a:prstGeom>
        </p:spPr>
      </p:pic>
      <p:pic>
        <p:nvPicPr>
          <p:cNvPr id="82" name="Picture 81" descr="1_546_605E5C.png"/>
          <p:cNvPicPr>
            <a:picLocks noChangeAspect="1"/>
          </p:cNvPicPr>
          <p:nvPr/>
        </p:nvPicPr>
        <p:blipFill>
          <a:blip r:embed="rId16"/>
          <a:stretch>
            <a:fillRect/>
          </a:stretch>
        </p:blipFill>
        <p:spPr>
          <a:xfrm>
            <a:off x="10315881" y="2286582"/>
            <a:ext cx="1195728" cy="361950"/>
          </a:xfrm>
          <a:prstGeom prst="rect">
            <a:avLst/>
          </a:prstGeom>
        </p:spPr>
      </p:pic>
      <p:pic>
        <p:nvPicPr>
          <p:cNvPr id="83" name="Picture 82" descr="2_998_605E5C.png"/>
          <p:cNvPicPr>
            <a:picLocks noChangeAspect="1"/>
          </p:cNvPicPr>
          <p:nvPr/>
        </p:nvPicPr>
        <p:blipFill>
          <a:blip r:embed="rId17"/>
          <a:stretch>
            <a:fillRect/>
          </a:stretch>
        </p:blipFill>
        <p:spPr>
          <a:xfrm>
            <a:off x="10315881" y="2779432"/>
            <a:ext cx="1195728" cy="361950"/>
          </a:xfrm>
          <a:prstGeom prst="rect">
            <a:avLst/>
          </a:prstGeom>
        </p:spPr>
      </p:pic>
      <p:pic>
        <p:nvPicPr>
          <p:cNvPr id="84" name="Picture 83" descr="6_8__605E5C.png"/>
          <p:cNvPicPr>
            <a:picLocks noChangeAspect="1"/>
          </p:cNvPicPr>
          <p:nvPr/>
        </p:nvPicPr>
        <p:blipFill>
          <a:blip r:embed="rId18"/>
          <a:stretch>
            <a:fillRect/>
          </a:stretch>
        </p:blipFill>
        <p:spPr>
          <a:xfrm>
            <a:off x="10422527" y="3272281"/>
            <a:ext cx="982436" cy="361950"/>
          </a:xfrm>
          <a:prstGeom prst="rect">
            <a:avLst/>
          </a:prstGeom>
        </p:spPr>
      </p:pic>
      <p:pic>
        <p:nvPicPr>
          <p:cNvPr id="85" name="Picture 84" descr="lock.png"/>
          <p:cNvPicPr>
            <a:picLocks noChangeAspect="1"/>
          </p:cNvPicPr>
          <p:nvPr/>
        </p:nvPicPr>
        <p:blipFill>
          <a:blip r:embed="rId19"/>
          <a:stretch>
            <a:fillRect/>
          </a:stretch>
        </p:blipFill>
        <p:spPr>
          <a:xfrm>
            <a:off x="2727960" y="2827057"/>
            <a:ext cx="183356" cy="266700"/>
          </a:xfrm>
          <a:prstGeom prst="rect">
            <a:avLst/>
          </a:prstGeom>
        </p:spPr>
      </p:pic>
      <p:pic>
        <p:nvPicPr>
          <p:cNvPr id="86" name="Picture 85" descr="lock.png"/>
          <p:cNvPicPr>
            <a:picLocks noChangeAspect="1"/>
          </p:cNvPicPr>
          <p:nvPr/>
        </p:nvPicPr>
        <p:blipFill>
          <a:blip r:embed="rId19"/>
          <a:stretch>
            <a:fillRect/>
          </a:stretch>
        </p:blipFill>
        <p:spPr>
          <a:xfrm>
            <a:off x="4751070" y="2827057"/>
            <a:ext cx="183356" cy="266700"/>
          </a:xfrm>
          <a:prstGeom prst="rect">
            <a:avLst/>
          </a:prstGeom>
        </p:spPr>
      </p:pic>
      <p:pic>
        <p:nvPicPr>
          <p:cNvPr id="87" name="Picture 86" descr="lock.png"/>
          <p:cNvPicPr>
            <a:picLocks noChangeAspect="1"/>
          </p:cNvPicPr>
          <p:nvPr/>
        </p:nvPicPr>
        <p:blipFill>
          <a:blip r:embed="rId19"/>
          <a:stretch>
            <a:fillRect/>
          </a:stretch>
        </p:blipFill>
        <p:spPr>
          <a:xfrm>
            <a:off x="6774180" y="2827057"/>
            <a:ext cx="183356" cy="266700"/>
          </a:xfrm>
          <a:prstGeom prst="rect">
            <a:avLst/>
          </a:prstGeom>
        </p:spPr>
      </p:pic>
      <p:pic>
        <p:nvPicPr>
          <p:cNvPr id="88" name="Picture 87" descr="lock.png"/>
          <p:cNvPicPr>
            <a:picLocks noChangeAspect="1"/>
          </p:cNvPicPr>
          <p:nvPr/>
        </p:nvPicPr>
        <p:blipFill>
          <a:blip r:embed="rId19"/>
          <a:stretch>
            <a:fillRect/>
          </a:stretch>
        </p:blipFill>
        <p:spPr>
          <a:xfrm>
            <a:off x="8797290" y="2827057"/>
            <a:ext cx="183356" cy="266700"/>
          </a:xfrm>
          <a:prstGeom prst="rect">
            <a:avLst/>
          </a:prstGeom>
        </p:spPr>
      </p:pic>
      <p:pic>
        <p:nvPicPr>
          <p:cNvPr id="89" name="Picture 88" descr="lock.png"/>
          <p:cNvPicPr>
            <a:picLocks noChangeAspect="1"/>
          </p:cNvPicPr>
          <p:nvPr/>
        </p:nvPicPr>
        <p:blipFill>
          <a:blip r:embed="rId19"/>
          <a:stretch>
            <a:fillRect/>
          </a:stretch>
        </p:blipFill>
        <p:spPr>
          <a:xfrm>
            <a:off x="10820400" y="2827057"/>
            <a:ext cx="183356" cy="266700"/>
          </a:xfrm>
          <a:prstGeom prst="rect">
            <a:avLst/>
          </a:prstGeom>
        </p:spPr>
      </p:pic>
      <p:sp>
        <p:nvSpPr>
          <p:cNvPr id="90" name="TextBox 89"/>
          <p:cNvSpPr txBox="1"/>
          <p:nvPr/>
        </p:nvSpPr>
        <p:spPr>
          <a:xfrm>
            <a:off x="485775" y="4229437"/>
            <a:ext cx="2522587" cy="186689"/>
          </a:xfrm>
          <a:prstGeom prst="rect">
            <a:avLst/>
          </a:prstGeom>
          <a:noFill/>
        </p:spPr>
        <p:txBody>
          <a:bodyPr wrap="none" lIns="0" rIns="0" tIns="0" bIns="0">
            <a:spAutoFit/>
          </a:bodyPr>
          <a:lstStyle/>
          <a:p>
            <a:r>
              <a:rPr sz="1100" b="0">
                <a:solidFill>
                  <a:srgbClr val="2E2E2E"/>
                </a:solidFill>
                <a:latin typeface="Calibri"/>
              </a:rPr>
              <a:t>Among waterproof coatings by distribution</a:t>
            </a:r>
          </a:p>
        </p:txBody>
      </p:sp>
      <p:sp>
        <p:nvSpPr>
          <p:cNvPr id="91" name="TextBox 90"/>
          <p:cNvSpPr txBox="1"/>
          <p:nvPr/>
        </p:nvSpPr>
        <p:spPr>
          <a:xfrm>
            <a:off x="485775" y="4397077"/>
            <a:ext cx="2577975" cy="186689"/>
          </a:xfrm>
          <a:prstGeom prst="rect">
            <a:avLst/>
          </a:prstGeom>
          <a:noFill/>
        </p:spPr>
        <p:txBody>
          <a:bodyPr wrap="none" lIns="0" rIns="0" tIns="0" bIns="0">
            <a:spAutoFit/>
          </a:bodyPr>
          <a:lstStyle/>
          <a:p>
            <a:r>
              <a:rPr sz="1100" b="0">
                <a:solidFill>
                  <a:srgbClr val="2E2E2E"/>
                </a:solidFill>
                <a:latin typeface="Calibri"/>
              </a:rPr>
              <a:t>channel, direct sales segment is expected to</a:t>
            </a:r>
          </a:p>
        </p:txBody>
      </p:sp>
      <p:sp>
        <p:nvSpPr>
          <p:cNvPr id="92" name="TextBox 91"/>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93" name="Picture 92" descr="lock.png"/>
          <p:cNvPicPr>
            <a:picLocks noChangeAspect="1"/>
          </p:cNvPicPr>
          <p:nvPr/>
        </p:nvPicPr>
        <p:blipFill>
          <a:blip r:embed="rId19"/>
          <a:stretch>
            <a:fillRect/>
          </a:stretch>
        </p:blipFill>
        <p:spPr>
          <a:xfrm>
            <a:off x="2108919" y="4554938"/>
            <a:ext cx="128699" cy="187198"/>
          </a:xfrm>
          <a:prstGeom prst="rect">
            <a:avLst/>
          </a:prstGeom>
        </p:spPr>
      </p:pic>
      <p:sp>
        <p:nvSpPr>
          <p:cNvPr id="94" name="TextBox 93"/>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95" name="TextBox 94"/>
          <p:cNvSpPr txBox="1"/>
          <p:nvPr/>
        </p:nvSpPr>
        <p:spPr>
          <a:xfrm>
            <a:off x="485775" y="4732357"/>
            <a:ext cx="2676475" cy="186689"/>
          </a:xfrm>
          <a:prstGeom prst="rect">
            <a:avLst/>
          </a:prstGeom>
          <a:noFill/>
        </p:spPr>
        <p:txBody>
          <a:bodyPr wrap="none" lIns="0" rIns="0" tIns="0" bIns="0">
            <a:spAutoFit/>
          </a:bodyPr>
          <a:lstStyle/>
          <a:p>
            <a:r>
              <a:rPr sz="1100" b="0">
                <a:solidFill>
                  <a:srgbClr val="2E2E2E"/>
                </a:solidFill>
                <a:latin typeface="Calibri"/>
              </a:rPr>
              <a:t>period. In terms of value share by distribution</a:t>
            </a:r>
          </a:p>
        </p:txBody>
      </p:sp>
      <p:sp>
        <p:nvSpPr>
          <p:cNvPr id="96" name="TextBox 95"/>
          <p:cNvSpPr txBox="1"/>
          <p:nvPr/>
        </p:nvSpPr>
        <p:spPr>
          <a:xfrm>
            <a:off x="485775" y="4899997"/>
            <a:ext cx="2854374" cy="186689"/>
          </a:xfrm>
          <a:prstGeom prst="rect">
            <a:avLst/>
          </a:prstGeom>
          <a:noFill/>
        </p:spPr>
        <p:txBody>
          <a:bodyPr wrap="none" lIns="0" rIns="0" tIns="0" bIns="0">
            <a:spAutoFit/>
          </a:bodyPr>
          <a:lstStyle/>
          <a:p>
            <a:r>
              <a:rPr sz="1100" b="0">
                <a:solidFill>
                  <a:srgbClr val="2E2E2E"/>
                </a:solidFill>
                <a:latin typeface="Calibri"/>
              </a:rPr>
              <a:t>channel, the other channels segment is expected</a:t>
            </a:r>
          </a:p>
        </p:txBody>
      </p:sp>
      <p:sp>
        <p:nvSpPr>
          <p:cNvPr id="97" name="TextBox 96"/>
          <p:cNvSpPr txBox="1"/>
          <p:nvPr/>
        </p:nvSpPr>
        <p:spPr>
          <a:xfrm>
            <a:off x="485775" y="5067637"/>
            <a:ext cx="1912763" cy="186689"/>
          </a:xfrm>
          <a:prstGeom prst="rect">
            <a:avLst/>
          </a:prstGeom>
          <a:noFill/>
        </p:spPr>
        <p:txBody>
          <a:bodyPr wrap="none" lIns="0" rIns="0" tIns="0" bIns="0">
            <a:spAutoFit/>
          </a:bodyPr>
          <a:lstStyle/>
          <a:p>
            <a:r>
              <a:rPr sz="1100" b="0">
                <a:solidFill>
                  <a:srgbClr val="2E2E2E"/>
                </a:solidFill>
                <a:latin typeface="Calibri"/>
              </a:rPr>
              <a:t>to dominate the market, gaining</a:t>
            </a:r>
          </a:p>
        </p:txBody>
      </p:sp>
      <p:pic>
        <p:nvPicPr>
          <p:cNvPr id="98" name="Picture 97" descr="lock.png"/>
          <p:cNvPicPr>
            <a:picLocks noChangeAspect="1"/>
          </p:cNvPicPr>
          <p:nvPr/>
        </p:nvPicPr>
        <p:blipFill>
          <a:blip r:embed="rId19"/>
          <a:stretch>
            <a:fillRect/>
          </a:stretch>
        </p:blipFill>
        <p:spPr>
          <a:xfrm>
            <a:off x="2346590" y="5057858"/>
            <a:ext cx="128699" cy="187198"/>
          </a:xfrm>
          <a:prstGeom prst="rect">
            <a:avLst/>
          </a:prstGeom>
        </p:spPr>
      </p:pic>
      <p:sp>
        <p:nvSpPr>
          <p:cNvPr id="99" name="TextBox 98"/>
          <p:cNvSpPr txBox="1"/>
          <p:nvPr/>
        </p:nvSpPr>
        <p:spPr>
          <a:xfrm>
            <a:off x="2514086"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100" name="TextBox 99"/>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101" name="Picture 100" descr="lock.png"/>
          <p:cNvPicPr>
            <a:picLocks noChangeAspect="1"/>
          </p:cNvPicPr>
          <p:nvPr/>
        </p:nvPicPr>
        <p:blipFill>
          <a:blip r:embed="rId19"/>
          <a:stretch>
            <a:fillRect/>
          </a:stretch>
        </p:blipFill>
        <p:spPr>
          <a:xfrm>
            <a:off x="1330764" y="5225498"/>
            <a:ext cx="128699" cy="187198"/>
          </a:xfrm>
          <a:prstGeom prst="rect">
            <a:avLst/>
          </a:prstGeom>
        </p:spPr>
      </p:pic>
      <p:sp>
        <p:nvSpPr>
          <p:cNvPr id="102" name="TextBox 101"/>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03" name="TextBox 102"/>
          <p:cNvSpPr txBox="1"/>
          <p:nvPr/>
        </p:nvSpPr>
        <p:spPr>
          <a:xfrm>
            <a:off x="485775" y="5453209"/>
            <a:ext cx="2783160" cy="186689"/>
          </a:xfrm>
          <a:prstGeom prst="rect">
            <a:avLst/>
          </a:prstGeom>
          <a:noFill/>
        </p:spPr>
        <p:txBody>
          <a:bodyPr wrap="none" lIns="0" rIns="0" tIns="0" bIns="0">
            <a:spAutoFit/>
          </a:bodyPr>
          <a:lstStyle/>
          <a:p>
            <a:r>
              <a:rPr sz="1100" b="0">
                <a:solidFill>
                  <a:srgbClr val="2E2E2E"/>
                </a:solidFill>
                <a:latin typeface="Calibri"/>
              </a:rPr>
              <a:t>Other channels segment is projected to register</a:t>
            </a:r>
          </a:p>
        </p:txBody>
      </p:sp>
      <p:pic>
        <p:nvPicPr>
          <p:cNvPr id="104" name="Picture 103" descr="lock.png"/>
          <p:cNvPicPr>
            <a:picLocks noChangeAspect="1"/>
          </p:cNvPicPr>
          <p:nvPr/>
        </p:nvPicPr>
        <p:blipFill>
          <a:blip r:embed="rId19"/>
          <a:stretch>
            <a:fillRect/>
          </a:stretch>
        </p:blipFill>
        <p:spPr>
          <a:xfrm>
            <a:off x="472307" y="5611070"/>
            <a:ext cx="128699" cy="187198"/>
          </a:xfrm>
          <a:prstGeom prst="rect">
            <a:avLst/>
          </a:prstGeom>
        </p:spPr>
      </p:pic>
      <p:sp>
        <p:nvSpPr>
          <p:cNvPr id="105" name="TextBox 104"/>
          <p:cNvSpPr txBox="1"/>
          <p:nvPr/>
        </p:nvSpPr>
        <p:spPr>
          <a:xfrm>
            <a:off x="639803" y="5620849"/>
            <a:ext cx="2528316" cy="186689"/>
          </a:xfrm>
          <a:prstGeom prst="rect">
            <a:avLst/>
          </a:prstGeom>
          <a:noFill/>
        </p:spPr>
        <p:txBody>
          <a:bodyPr wrap="none" lIns="0" rIns="0" tIns="0" bIns="0">
            <a:spAutoFit/>
          </a:bodyPr>
          <a:lstStyle/>
          <a:p>
            <a:r>
              <a:rPr sz="1100" b="0">
                <a:solidFill>
                  <a:srgbClr val="2E2E2E"/>
                </a:solidFill>
                <a:latin typeface="Calibri"/>
              </a:rPr>
              <a:t>X higher value than online sales segment in</a:t>
            </a:r>
          </a:p>
        </p:txBody>
      </p:sp>
      <p:sp>
        <p:nvSpPr>
          <p:cNvPr id="106" name="TextBox 105"/>
          <p:cNvSpPr txBox="1"/>
          <p:nvPr/>
        </p:nvSpPr>
        <p:spPr>
          <a:xfrm>
            <a:off x="485775" y="5788489"/>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107" name="TextBox 106"/>
          <p:cNvSpPr txBox="1"/>
          <p:nvPr/>
        </p:nvSpPr>
        <p:spPr>
          <a:xfrm>
            <a:off x="3838575" y="4229437"/>
            <a:ext cx="921766" cy="186689"/>
          </a:xfrm>
          <a:prstGeom prst="rect">
            <a:avLst/>
          </a:prstGeom>
          <a:noFill/>
        </p:spPr>
        <p:txBody>
          <a:bodyPr wrap="none" lIns="0" rIns="0" tIns="0" bIns="0">
            <a:spAutoFit/>
          </a:bodyPr>
          <a:lstStyle/>
          <a:p>
            <a:r>
              <a:rPr sz="1100" b="0">
                <a:solidFill>
                  <a:srgbClr val="2E2E2E"/>
                </a:solidFill>
                <a:latin typeface="Calibri"/>
              </a:rPr>
              <a:t>● Online Sales:</a:t>
            </a:r>
          </a:p>
        </p:txBody>
      </p:sp>
      <p:pic>
        <p:nvPicPr>
          <p:cNvPr id="108" name="Picture 107" descr="lock.png"/>
          <p:cNvPicPr>
            <a:picLocks noChangeAspect="1"/>
          </p:cNvPicPr>
          <p:nvPr/>
        </p:nvPicPr>
        <p:blipFill>
          <a:blip r:embed="rId19"/>
          <a:stretch>
            <a:fillRect/>
          </a:stretch>
        </p:blipFill>
        <p:spPr>
          <a:xfrm>
            <a:off x="4708393" y="4219658"/>
            <a:ext cx="128699" cy="187198"/>
          </a:xfrm>
          <a:prstGeom prst="rect">
            <a:avLst/>
          </a:prstGeom>
        </p:spPr>
      </p:pic>
      <p:sp>
        <p:nvSpPr>
          <p:cNvPr id="109" name="TextBox 108"/>
          <p:cNvSpPr txBox="1"/>
          <p:nvPr/>
        </p:nvSpPr>
        <p:spPr>
          <a:xfrm>
            <a:off x="487588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0" name="Picture 109" descr="lock.png"/>
          <p:cNvPicPr>
            <a:picLocks noChangeAspect="1"/>
          </p:cNvPicPr>
          <p:nvPr/>
        </p:nvPicPr>
        <p:blipFill>
          <a:blip r:embed="rId19"/>
          <a:stretch>
            <a:fillRect/>
          </a:stretch>
        </p:blipFill>
        <p:spPr>
          <a:xfrm>
            <a:off x="5735339" y="4219658"/>
            <a:ext cx="128699" cy="187198"/>
          </a:xfrm>
          <a:prstGeom prst="rect">
            <a:avLst/>
          </a:prstGeom>
        </p:spPr>
      </p:pic>
      <p:sp>
        <p:nvSpPr>
          <p:cNvPr id="111" name="TextBox 110"/>
          <p:cNvSpPr txBox="1"/>
          <p:nvPr/>
        </p:nvSpPr>
        <p:spPr>
          <a:xfrm>
            <a:off x="5902835"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12" name="TextBox 111"/>
          <p:cNvSpPr txBox="1"/>
          <p:nvPr/>
        </p:nvSpPr>
        <p:spPr>
          <a:xfrm>
            <a:off x="3838575" y="4447369"/>
            <a:ext cx="1110307" cy="186689"/>
          </a:xfrm>
          <a:prstGeom prst="rect">
            <a:avLst/>
          </a:prstGeom>
          <a:noFill/>
        </p:spPr>
        <p:txBody>
          <a:bodyPr wrap="none" lIns="0" rIns="0" tIns="0" bIns="0">
            <a:spAutoFit/>
          </a:bodyPr>
          <a:lstStyle/>
          <a:p>
            <a:r>
              <a:rPr sz="1100" b="0">
                <a:solidFill>
                  <a:srgbClr val="2E2E2E"/>
                </a:solidFill>
                <a:latin typeface="Calibri"/>
              </a:rPr>
              <a:t>● Other Channels:</a:t>
            </a:r>
          </a:p>
        </p:txBody>
      </p:sp>
      <p:pic>
        <p:nvPicPr>
          <p:cNvPr id="113" name="Picture 112" descr="lock.png"/>
          <p:cNvPicPr>
            <a:picLocks noChangeAspect="1"/>
          </p:cNvPicPr>
          <p:nvPr/>
        </p:nvPicPr>
        <p:blipFill>
          <a:blip r:embed="rId19"/>
          <a:stretch>
            <a:fillRect/>
          </a:stretch>
        </p:blipFill>
        <p:spPr>
          <a:xfrm>
            <a:off x="4896934" y="4437590"/>
            <a:ext cx="128699" cy="187198"/>
          </a:xfrm>
          <a:prstGeom prst="rect">
            <a:avLst/>
          </a:prstGeom>
        </p:spPr>
      </p:pic>
      <p:sp>
        <p:nvSpPr>
          <p:cNvPr id="114" name="TextBox 113"/>
          <p:cNvSpPr txBox="1"/>
          <p:nvPr/>
        </p:nvSpPr>
        <p:spPr>
          <a:xfrm>
            <a:off x="5064429"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5" name="Picture 114" descr="lock.png"/>
          <p:cNvPicPr>
            <a:picLocks noChangeAspect="1"/>
          </p:cNvPicPr>
          <p:nvPr/>
        </p:nvPicPr>
        <p:blipFill>
          <a:blip r:embed="rId19"/>
          <a:stretch>
            <a:fillRect/>
          </a:stretch>
        </p:blipFill>
        <p:spPr>
          <a:xfrm>
            <a:off x="5923880" y="4437590"/>
            <a:ext cx="128699" cy="187198"/>
          </a:xfrm>
          <a:prstGeom prst="rect">
            <a:avLst/>
          </a:prstGeom>
        </p:spPr>
      </p:pic>
      <p:sp>
        <p:nvSpPr>
          <p:cNvPr id="116" name="TextBox 115"/>
          <p:cNvSpPr txBox="1"/>
          <p:nvPr/>
        </p:nvSpPr>
        <p:spPr>
          <a:xfrm>
            <a:off x="6091375"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7" name="TextBox 116"/>
          <p:cNvSpPr txBox="1"/>
          <p:nvPr/>
        </p:nvSpPr>
        <p:spPr>
          <a:xfrm>
            <a:off x="3838575" y="4665301"/>
            <a:ext cx="891207" cy="186689"/>
          </a:xfrm>
          <a:prstGeom prst="rect">
            <a:avLst/>
          </a:prstGeom>
          <a:noFill/>
        </p:spPr>
        <p:txBody>
          <a:bodyPr wrap="none" lIns="0" rIns="0" tIns="0" bIns="0">
            <a:spAutoFit/>
          </a:bodyPr>
          <a:lstStyle/>
          <a:p>
            <a:r>
              <a:rPr sz="1100" b="0">
                <a:solidFill>
                  <a:srgbClr val="2E2E2E"/>
                </a:solidFill>
                <a:latin typeface="Calibri"/>
              </a:rPr>
              <a:t>● Direct Sales:</a:t>
            </a:r>
          </a:p>
        </p:txBody>
      </p:sp>
      <p:pic>
        <p:nvPicPr>
          <p:cNvPr id="118" name="Picture 117" descr="lock.png"/>
          <p:cNvPicPr>
            <a:picLocks noChangeAspect="1"/>
          </p:cNvPicPr>
          <p:nvPr/>
        </p:nvPicPr>
        <p:blipFill>
          <a:blip r:embed="rId19"/>
          <a:stretch>
            <a:fillRect/>
          </a:stretch>
        </p:blipFill>
        <p:spPr>
          <a:xfrm>
            <a:off x="4677834" y="4655522"/>
            <a:ext cx="128699" cy="187198"/>
          </a:xfrm>
          <a:prstGeom prst="rect">
            <a:avLst/>
          </a:prstGeom>
        </p:spPr>
      </p:pic>
      <p:sp>
        <p:nvSpPr>
          <p:cNvPr id="119" name="TextBox 118"/>
          <p:cNvSpPr txBox="1"/>
          <p:nvPr/>
        </p:nvSpPr>
        <p:spPr>
          <a:xfrm>
            <a:off x="4845330"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0" name="Picture 119" descr="lock.png"/>
          <p:cNvPicPr>
            <a:picLocks noChangeAspect="1"/>
          </p:cNvPicPr>
          <p:nvPr/>
        </p:nvPicPr>
        <p:blipFill>
          <a:blip r:embed="rId19"/>
          <a:stretch>
            <a:fillRect/>
          </a:stretch>
        </p:blipFill>
        <p:spPr>
          <a:xfrm>
            <a:off x="5704780" y="4655522"/>
            <a:ext cx="128699" cy="187198"/>
          </a:xfrm>
          <a:prstGeom prst="rect">
            <a:avLst/>
          </a:prstGeom>
        </p:spPr>
      </p:pic>
      <p:sp>
        <p:nvSpPr>
          <p:cNvPr id="121" name="TextBox 120"/>
          <p:cNvSpPr txBox="1"/>
          <p:nvPr/>
        </p:nvSpPr>
        <p:spPr>
          <a:xfrm>
            <a:off x="5872276" y="466530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22" name="TextBox 121"/>
          <p:cNvSpPr txBox="1"/>
          <p:nvPr/>
        </p:nvSpPr>
        <p:spPr>
          <a:xfrm>
            <a:off x="3838575" y="4883233"/>
            <a:ext cx="1780703" cy="186689"/>
          </a:xfrm>
          <a:prstGeom prst="rect">
            <a:avLst/>
          </a:prstGeom>
          <a:noFill/>
        </p:spPr>
        <p:txBody>
          <a:bodyPr wrap="none" lIns="0" rIns="0" tIns="0" bIns="0">
            <a:spAutoFit/>
          </a:bodyPr>
          <a:lstStyle/>
          <a:p>
            <a:r>
              <a:rPr sz="1100" b="0">
                <a:solidFill>
                  <a:srgbClr val="2E2E2E"/>
                </a:solidFill>
                <a:latin typeface="Calibri"/>
              </a:rPr>
              <a:t>● Retail and Hardware Stores:</a:t>
            </a:r>
          </a:p>
        </p:txBody>
      </p:sp>
      <p:pic>
        <p:nvPicPr>
          <p:cNvPr id="123" name="Picture 122" descr="lock.png"/>
          <p:cNvPicPr>
            <a:picLocks noChangeAspect="1"/>
          </p:cNvPicPr>
          <p:nvPr/>
        </p:nvPicPr>
        <p:blipFill>
          <a:blip r:embed="rId19"/>
          <a:stretch>
            <a:fillRect/>
          </a:stretch>
        </p:blipFill>
        <p:spPr>
          <a:xfrm>
            <a:off x="5567330" y="4873454"/>
            <a:ext cx="128699" cy="187198"/>
          </a:xfrm>
          <a:prstGeom prst="rect">
            <a:avLst/>
          </a:prstGeom>
        </p:spPr>
      </p:pic>
      <p:sp>
        <p:nvSpPr>
          <p:cNvPr id="124" name="TextBox 123"/>
          <p:cNvSpPr txBox="1"/>
          <p:nvPr/>
        </p:nvSpPr>
        <p:spPr>
          <a:xfrm>
            <a:off x="5734826"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5" name="Picture 124" descr="lock.png"/>
          <p:cNvPicPr>
            <a:picLocks noChangeAspect="1"/>
          </p:cNvPicPr>
          <p:nvPr/>
        </p:nvPicPr>
        <p:blipFill>
          <a:blip r:embed="rId19"/>
          <a:stretch>
            <a:fillRect/>
          </a:stretch>
        </p:blipFill>
        <p:spPr>
          <a:xfrm>
            <a:off x="6594276" y="4873454"/>
            <a:ext cx="128699" cy="187198"/>
          </a:xfrm>
          <a:prstGeom prst="rect">
            <a:avLst/>
          </a:prstGeom>
        </p:spPr>
      </p:pic>
      <p:sp>
        <p:nvSpPr>
          <p:cNvPr id="126" name="TextBox 125"/>
          <p:cNvSpPr txBox="1"/>
          <p:nvPr/>
        </p:nvSpPr>
        <p:spPr>
          <a:xfrm>
            <a:off x="6761772" y="4883233"/>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27" name="TextBox 126"/>
          <p:cNvSpPr txBox="1"/>
          <p:nvPr/>
        </p:nvSpPr>
        <p:spPr>
          <a:xfrm>
            <a:off x="3838575" y="5050873"/>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28" name="TextBox 127"/>
          <p:cNvSpPr txBox="1"/>
          <p:nvPr/>
        </p:nvSpPr>
        <p:spPr>
          <a:xfrm>
            <a:off x="3838575" y="5268805"/>
            <a:ext cx="1877838" cy="186689"/>
          </a:xfrm>
          <a:prstGeom prst="rect">
            <a:avLst/>
          </a:prstGeom>
          <a:noFill/>
        </p:spPr>
        <p:txBody>
          <a:bodyPr wrap="none" lIns="0" rIns="0" tIns="0" bIns="0">
            <a:spAutoFit/>
          </a:bodyPr>
          <a:lstStyle/>
          <a:p>
            <a:r>
              <a:rPr sz="1100" b="0">
                <a:solidFill>
                  <a:srgbClr val="2E2E2E"/>
                </a:solidFill>
                <a:latin typeface="Calibri"/>
              </a:rPr>
              <a:t>● Distributors and Wholesalers:</a:t>
            </a:r>
          </a:p>
        </p:txBody>
      </p:sp>
      <p:pic>
        <p:nvPicPr>
          <p:cNvPr id="129" name="Picture 128" descr="lock.png"/>
          <p:cNvPicPr>
            <a:picLocks noChangeAspect="1"/>
          </p:cNvPicPr>
          <p:nvPr/>
        </p:nvPicPr>
        <p:blipFill>
          <a:blip r:embed="rId19"/>
          <a:stretch>
            <a:fillRect/>
          </a:stretch>
        </p:blipFill>
        <p:spPr>
          <a:xfrm>
            <a:off x="5664465" y="5259026"/>
            <a:ext cx="128699" cy="187198"/>
          </a:xfrm>
          <a:prstGeom prst="rect">
            <a:avLst/>
          </a:prstGeom>
        </p:spPr>
      </p:pic>
      <p:sp>
        <p:nvSpPr>
          <p:cNvPr id="130" name="TextBox 129"/>
          <p:cNvSpPr txBox="1"/>
          <p:nvPr/>
        </p:nvSpPr>
        <p:spPr>
          <a:xfrm>
            <a:off x="5831961" y="526880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1" name="Picture 130" descr="lock.png"/>
          <p:cNvPicPr>
            <a:picLocks noChangeAspect="1"/>
          </p:cNvPicPr>
          <p:nvPr/>
        </p:nvPicPr>
        <p:blipFill>
          <a:blip r:embed="rId19"/>
          <a:stretch>
            <a:fillRect/>
          </a:stretch>
        </p:blipFill>
        <p:spPr>
          <a:xfrm>
            <a:off x="6691411" y="5259026"/>
            <a:ext cx="128699" cy="187198"/>
          </a:xfrm>
          <a:prstGeom prst="rect">
            <a:avLst/>
          </a:prstGeom>
        </p:spPr>
      </p:pic>
      <p:sp>
        <p:nvSpPr>
          <p:cNvPr id="132" name="TextBox 131"/>
          <p:cNvSpPr txBox="1"/>
          <p:nvPr/>
        </p:nvSpPr>
        <p:spPr>
          <a:xfrm>
            <a:off x="6858907" y="5268805"/>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33" name="TextBox 132"/>
          <p:cNvSpPr txBox="1"/>
          <p:nvPr/>
        </p:nvSpPr>
        <p:spPr>
          <a:xfrm>
            <a:off x="3838575" y="5436445"/>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34" name="TextBox 133"/>
          <p:cNvSpPr txBox="1"/>
          <p:nvPr/>
        </p:nvSpPr>
        <p:spPr>
          <a:xfrm>
            <a:off x="8524875" y="5842641"/>
            <a:ext cx="3048830" cy="194310"/>
          </a:xfrm>
          <a:prstGeom prst="rect">
            <a:avLst/>
          </a:prstGeom>
          <a:noFill/>
        </p:spPr>
        <p:txBody>
          <a:bodyPr wrap="none" lIns="0" rIns="0" tIns="0" bIns="0">
            <a:spAutoFit/>
          </a:bodyPr>
          <a:lstStyle/>
          <a:p>
            <a:r>
              <a:rPr sz="1150" b="1">
                <a:solidFill>
                  <a:srgbClr val="0B2E4A"/>
                </a:solidFill>
                <a:latin typeface="Calibri"/>
              </a:rPr>
              <a:t>The Distribution Channel segment is projected to</a:t>
            </a:r>
          </a:p>
        </p:txBody>
      </p:sp>
      <p:sp>
        <p:nvSpPr>
          <p:cNvPr id="135" name="TextBox 134"/>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136" name="Picture 135" descr="lock.png"/>
          <p:cNvPicPr>
            <a:picLocks noChangeAspect="1"/>
          </p:cNvPicPr>
          <p:nvPr/>
        </p:nvPicPr>
        <p:blipFill>
          <a:blip r:embed="rId19"/>
          <a:stretch>
            <a:fillRect/>
          </a:stretch>
        </p:blipFill>
        <p:spPr>
          <a:xfrm>
            <a:off x="9651852" y="6007677"/>
            <a:ext cx="134549" cy="195707"/>
          </a:xfrm>
          <a:prstGeom prst="rect">
            <a:avLst/>
          </a:prstGeom>
        </p:spPr>
      </p:pic>
      <p:sp>
        <p:nvSpPr>
          <p:cNvPr id="137" name="TextBox 136"/>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Distribution Channel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Distribution Channel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Distribution Channel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Distribution Channel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675665" cy="186689"/>
          </a:xfrm>
          <a:prstGeom prst="rect">
            <a:avLst/>
          </a:prstGeom>
          <a:noFill/>
        </p:spPr>
        <p:txBody>
          <a:bodyPr wrap="none" lIns="0" rIns="0" tIns="0" bIns="0">
            <a:spAutoFit/>
          </a:bodyPr>
          <a:lstStyle/>
          <a:p>
            <a:r>
              <a:rPr sz="1100" b="0">
                <a:solidFill>
                  <a:srgbClr val="2E2E2E"/>
                </a:solidFill>
                <a:latin typeface="Calibri"/>
              </a:rPr>
              <a:t>Direct sales followed by other channels are expected to be the two most attractive distribution channel segments in the global waterproof coatings market in terms of value over the forecast period. Direct</a:t>
            </a:r>
          </a:p>
        </p:txBody>
      </p:sp>
      <p:sp>
        <p:nvSpPr>
          <p:cNvPr id="20" name="TextBox 19"/>
          <p:cNvSpPr txBox="1"/>
          <p:nvPr/>
        </p:nvSpPr>
        <p:spPr>
          <a:xfrm>
            <a:off x="257175" y="5861685"/>
            <a:ext cx="2835530" cy="186689"/>
          </a:xfrm>
          <a:prstGeom prst="rect">
            <a:avLst/>
          </a:prstGeom>
          <a:noFill/>
        </p:spPr>
        <p:txBody>
          <a:bodyPr wrap="none" lIns="0" rIns="0" tIns="0" bIns="0">
            <a:spAutoFit/>
          </a:bodyPr>
          <a:lstStyle/>
          <a:p>
            <a:r>
              <a:rPr sz="1100" b="0">
                <a:solidFill>
                  <a:srgbClr val="2E2E2E"/>
                </a:solidFill>
                <a:latin typeface="Calibri"/>
              </a:rPr>
              <a:t>sales and other channels exhibit a CAGR index of</a:t>
            </a:r>
          </a:p>
        </p:txBody>
      </p:sp>
      <p:pic>
        <p:nvPicPr>
          <p:cNvPr id="21" name="Picture 20" descr="lock.png"/>
          <p:cNvPicPr>
            <a:picLocks noChangeAspect="1"/>
          </p:cNvPicPr>
          <p:nvPr/>
        </p:nvPicPr>
        <p:blipFill>
          <a:blip r:embed="rId6"/>
          <a:stretch>
            <a:fillRect/>
          </a:stretch>
        </p:blipFill>
        <p:spPr>
          <a:xfrm>
            <a:off x="3040757" y="5851905"/>
            <a:ext cx="128699" cy="187198"/>
          </a:xfrm>
          <a:prstGeom prst="rect">
            <a:avLst/>
          </a:prstGeom>
        </p:spPr>
      </p:pic>
      <p:sp>
        <p:nvSpPr>
          <p:cNvPr id="22" name="TextBox 21"/>
          <p:cNvSpPr txBox="1"/>
          <p:nvPr/>
        </p:nvSpPr>
        <p:spPr>
          <a:xfrm>
            <a:off x="3208253"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3446147" y="5851905"/>
            <a:ext cx="128699" cy="187198"/>
          </a:xfrm>
          <a:prstGeom prst="rect">
            <a:avLst/>
          </a:prstGeom>
        </p:spPr>
      </p:pic>
      <p:sp>
        <p:nvSpPr>
          <p:cNvPr id="24" name="TextBox 23"/>
          <p:cNvSpPr txBox="1"/>
          <p:nvPr/>
        </p:nvSpPr>
        <p:spPr>
          <a:xfrm>
            <a:off x="3613643"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5222616" y="5851905"/>
            <a:ext cx="128699" cy="187198"/>
          </a:xfrm>
          <a:prstGeom prst="rect">
            <a:avLst/>
          </a:prstGeom>
        </p:spPr>
      </p:pic>
      <p:sp>
        <p:nvSpPr>
          <p:cNvPr id="26" name="TextBox 25"/>
          <p:cNvSpPr txBox="1"/>
          <p:nvPr/>
        </p:nvSpPr>
        <p:spPr>
          <a:xfrm>
            <a:off x="5390112"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5628007" y="5851905"/>
            <a:ext cx="128699" cy="187198"/>
          </a:xfrm>
          <a:prstGeom prst="rect">
            <a:avLst/>
          </a:prstGeom>
        </p:spPr>
      </p:pic>
      <p:sp>
        <p:nvSpPr>
          <p:cNvPr id="28" name="TextBox 27"/>
          <p:cNvSpPr txBox="1"/>
          <p:nvPr/>
        </p:nvSpPr>
        <p:spPr>
          <a:xfrm>
            <a:off x="5795502"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8349907" y="5851905"/>
            <a:ext cx="128699" cy="187198"/>
          </a:xfrm>
          <a:prstGeom prst="rect">
            <a:avLst/>
          </a:prstGeom>
        </p:spPr>
      </p:pic>
      <p:sp>
        <p:nvSpPr>
          <p:cNvPr id="30" name="TextBox 29"/>
          <p:cNvSpPr txBox="1"/>
          <p:nvPr/>
        </p:nvSpPr>
        <p:spPr>
          <a:xfrm>
            <a:off x="8517402" y="5861685"/>
            <a:ext cx="2528316" cy="186689"/>
          </a:xfrm>
          <a:prstGeom prst="rect">
            <a:avLst/>
          </a:prstGeom>
          <a:noFill/>
        </p:spPr>
        <p:txBody>
          <a:bodyPr wrap="none" lIns="0" rIns="0" tIns="0" bIns="0">
            <a:spAutoFit/>
          </a:bodyPr>
          <a:lstStyle/>
          <a:p>
            <a:r>
              <a:rPr sz="1100" b="0">
                <a:solidFill>
                  <a:srgbClr val="2E2E2E"/>
                </a:solidFill>
                <a:latin typeface="Calibri"/>
              </a:rPr>
              <a:t>. The retail and hardware stores segment is</a:t>
            </a:r>
          </a:p>
        </p:txBody>
      </p:sp>
      <p:sp>
        <p:nvSpPr>
          <p:cNvPr id="31" name="TextBox 30"/>
          <p:cNvSpPr txBox="1"/>
          <p:nvPr/>
        </p:nvSpPr>
        <p:spPr>
          <a:xfrm>
            <a:off x="257175" y="6029325"/>
            <a:ext cx="11421333" cy="186689"/>
          </a:xfrm>
          <a:prstGeom prst="rect">
            <a:avLst/>
          </a:prstGeom>
          <a:noFill/>
        </p:spPr>
        <p:txBody>
          <a:bodyPr wrap="none" lIns="0" rIns="0" tIns="0" bIns="0">
            <a:spAutoFit/>
          </a:bodyPr>
          <a:lstStyle/>
          <a:p>
            <a:r>
              <a:rPr sz="1100" b="0">
                <a:solidFill>
                  <a:srgbClr val="2E2E2E"/>
                </a:solidFill>
                <a:latin typeface="Calibri"/>
              </a:rPr>
              <a:t>expected to be less attractive as compared to other segments over the forecast period, owing to its lower CAGR and incremental opportunity. Bubbles right of the CAGR-Index line grow faster than the</a:t>
            </a:r>
          </a:p>
        </p:txBody>
      </p:sp>
      <p:sp>
        <p:nvSpPr>
          <p:cNvPr id="32" name="TextBox 31"/>
          <p:cNvSpPr txBox="1"/>
          <p:nvPr/>
        </p:nvSpPr>
        <p:spPr>
          <a:xfrm>
            <a:off x="257175" y="6196965"/>
            <a:ext cx="1084932" cy="186689"/>
          </a:xfrm>
          <a:prstGeom prst="rect">
            <a:avLst/>
          </a:prstGeom>
          <a:noFill/>
        </p:spPr>
        <p:txBody>
          <a:bodyPr wrap="none" lIns="0" rIns="0" tIns="0" bIns="0">
            <a:spAutoFit/>
          </a:bodyPr>
          <a:lstStyle/>
          <a:p>
            <a:r>
              <a:rPr sz="1100" b="0">
                <a:solidFill>
                  <a:srgbClr val="2E2E2E"/>
                </a:solidFill>
                <a:latin typeface="Calibri"/>
              </a:rPr>
              <a:t>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Distribution Channel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Distribution Channel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Direct Sales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Distributors and Wholesalers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Retail and Hardware Stores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Online Sales</a:t>
            </a:r>
          </a:p>
        </p:txBody>
      </p:sp>
      <p:graphicFrame>
        <p:nvGraphicFramePr>
          <p:cNvPr id="21" name="Chart 20"/>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4151" y="5123309"/>
            <a:ext cx="263506" cy="383281"/>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Distribution Channel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Distribution Channel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Other Channels</a:t>
            </a:r>
          </a:p>
        </p:txBody>
      </p:sp>
      <p:graphicFrame>
        <p:nvGraphicFramePr>
          <p:cNvPr id="12" name="Chart 11"/>
          <p:cNvGraphicFramePr>
            <a:graphicFrameLocks noGrp="1"/>
          </p:cNvGraphicFramePr>
          <p:nvPr/>
        </p:nvGraphicFramePr>
        <p:xfrm>
          <a:off x="238125" y="1266825"/>
          <a:ext cx="5686425" cy="53054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066800"/>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Distribution Channel</a:t>
            </a:r>
          </a:p>
        </p:txBody>
      </p:sp>
      <p:sp>
        <p:nvSpPr>
          <p:cNvPr id="15" name="Rectangle 14"/>
          <p:cNvSpPr/>
          <p:nvPr/>
        </p:nvSpPr>
        <p:spPr>
          <a:xfrm>
            <a:off x="6305550" y="150299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5550" y="1588720"/>
            <a:ext cx="5610225"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024059" y="3583939"/>
            <a:ext cx="402511" cy="585471"/>
          </a:xfrm>
          <a:prstGeom prst="rect">
            <a:avLst/>
          </a:prstGeom>
        </p:spPr>
      </p:pic>
      <p:sp>
        <p:nvSpPr>
          <p:cNvPr id="19" name="TextBox 18"/>
          <p:cNvSpPr txBox="1"/>
          <p:nvPr/>
        </p:nvSpPr>
        <p:spPr>
          <a:xfrm>
            <a:off x="6305550" y="1598245"/>
            <a:ext cx="4169856" cy="194310"/>
          </a:xfrm>
          <a:prstGeom prst="rect">
            <a:avLst/>
          </a:prstGeom>
          <a:noFill/>
        </p:spPr>
        <p:txBody>
          <a:bodyPr wrap="none" lIns="0" rIns="0" tIns="0" bIns="0">
            <a:spAutoFit/>
          </a:bodyPr>
          <a:lstStyle/>
          <a:p>
            <a:r>
              <a:rPr sz="1150" b="0">
                <a:solidFill>
                  <a:srgbClr val="2E2E2E"/>
                </a:solidFill>
                <a:latin typeface="Calibri"/>
              </a:rPr>
              <a:t>By 2036, direct sales segment is anticipated to witness an increase of</a:t>
            </a:r>
          </a:p>
        </p:txBody>
      </p:sp>
      <p:pic>
        <p:nvPicPr>
          <p:cNvPr id="20" name="Picture 19" descr="lock.png"/>
          <p:cNvPicPr>
            <a:picLocks noChangeAspect="1"/>
          </p:cNvPicPr>
          <p:nvPr/>
        </p:nvPicPr>
        <p:blipFill>
          <a:blip r:embed="rId5"/>
          <a:stretch>
            <a:fillRect/>
          </a:stretch>
        </p:blipFill>
        <p:spPr>
          <a:xfrm>
            <a:off x="10424560" y="1588021"/>
            <a:ext cx="134549" cy="195707"/>
          </a:xfrm>
          <a:prstGeom prst="rect">
            <a:avLst/>
          </a:prstGeom>
        </p:spPr>
      </p:pic>
      <p:sp>
        <p:nvSpPr>
          <p:cNvPr id="21" name="TextBox 20"/>
          <p:cNvSpPr txBox="1"/>
          <p:nvPr/>
        </p:nvSpPr>
        <p:spPr>
          <a:xfrm>
            <a:off x="10599669" y="1598245"/>
            <a:ext cx="1181844" cy="194310"/>
          </a:xfrm>
          <a:prstGeom prst="rect">
            <a:avLst/>
          </a:prstGeom>
          <a:noFill/>
        </p:spPr>
        <p:txBody>
          <a:bodyPr wrap="none" lIns="0" rIns="0" tIns="0" bIns="0">
            <a:spAutoFit/>
          </a:bodyPr>
          <a:lstStyle/>
          <a:p>
            <a:r>
              <a:rPr sz="1150" b="0">
                <a:solidFill>
                  <a:srgbClr val="2E2E2E"/>
                </a:solidFill>
                <a:latin typeface="Calibri"/>
              </a:rPr>
              <a:t>X in terms of value</a:t>
            </a:r>
          </a:p>
        </p:txBody>
      </p:sp>
      <p:sp>
        <p:nvSpPr>
          <p:cNvPr id="22" name="TextBox 21"/>
          <p:cNvSpPr txBox="1"/>
          <p:nvPr/>
        </p:nvSpPr>
        <p:spPr>
          <a:xfrm>
            <a:off x="6305550" y="1773505"/>
            <a:ext cx="5067287" cy="194310"/>
          </a:xfrm>
          <a:prstGeom prst="rect">
            <a:avLst/>
          </a:prstGeom>
          <a:noFill/>
        </p:spPr>
        <p:txBody>
          <a:bodyPr wrap="none" lIns="0" rIns="0" tIns="0" bIns="0">
            <a:spAutoFit/>
          </a:bodyPr>
          <a:lstStyle/>
          <a:p>
            <a:r>
              <a:rPr sz="1150" b="0">
                <a:solidFill>
                  <a:srgbClr val="2E2E2E"/>
                </a:solidFill>
                <a:latin typeface="Calibri"/>
              </a:rPr>
              <a:t>as compared to 2026. The direct sales segment is expected to create an incremental</a:t>
            </a:r>
          </a:p>
        </p:txBody>
      </p:sp>
      <p:sp>
        <p:nvSpPr>
          <p:cNvPr id="23" name="TextBox 22"/>
          <p:cNvSpPr txBox="1"/>
          <p:nvPr/>
        </p:nvSpPr>
        <p:spPr>
          <a:xfrm>
            <a:off x="6305550" y="1948765"/>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24" name="Picture 23" descr="lock.png"/>
          <p:cNvPicPr>
            <a:picLocks noChangeAspect="1"/>
          </p:cNvPicPr>
          <p:nvPr/>
        </p:nvPicPr>
        <p:blipFill>
          <a:blip r:embed="rId5"/>
          <a:stretch>
            <a:fillRect/>
          </a:stretch>
        </p:blipFill>
        <p:spPr>
          <a:xfrm>
            <a:off x="7463647" y="1938541"/>
            <a:ext cx="134549" cy="195707"/>
          </a:xfrm>
          <a:prstGeom prst="rect">
            <a:avLst/>
          </a:prstGeom>
        </p:spPr>
      </p:pic>
      <p:sp>
        <p:nvSpPr>
          <p:cNvPr id="25" name="TextBox 24"/>
          <p:cNvSpPr txBox="1"/>
          <p:nvPr/>
        </p:nvSpPr>
        <p:spPr>
          <a:xfrm>
            <a:off x="7638756" y="1948765"/>
            <a:ext cx="4022687" cy="194310"/>
          </a:xfrm>
          <a:prstGeom prst="rect">
            <a:avLst/>
          </a:prstGeom>
          <a:noFill/>
        </p:spPr>
        <p:txBody>
          <a:bodyPr wrap="none" lIns="0" rIns="0" tIns="0" bIns="0">
            <a:spAutoFit/>
          </a:bodyPr>
          <a:lstStyle/>
          <a:p>
            <a:r>
              <a:rPr sz="1150" b="0">
                <a:solidFill>
                  <a:srgbClr val="2E2E2E"/>
                </a:solidFill>
                <a:latin typeface="Calibri"/>
              </a:rPr>
              <a:t>Mn for the overall waterproof coatings market from 2026 to 2036.</a:t>
            </a:r>
          </a:p>
        </p:txBody>
      </p:sp>
      <p:sp>
        <p:nvSpPr>
          <p:cNvPr id="26" name="TextBox 25"/>
          <p:cNvSpPr txBox="1"/>
          <p:nvPr/>
        </p:nvSpPr>
        <p:spPr>
          <a:xfrm>
            <a:off x="6305550" y="2176603"/>
            <a:ext cx="5128046" cy="194310"/>
          </a:xfrm>
          <a:prstGeom prst="rect">
            <a:avLst/>
          </a:prstGeom>
          <a:noFill/>
        </p:spPr>
        <p:txBody>
          <a:bodyPr wrap="none" lIns="0" rIns="0" tIns="0" bIns="0">
            <a:spAutoFit/>
          </a:bodyPr>
          <a:lstStyle/>
          <a:p>
            <a:r>
              <a:rPr sz="1150" b="0">
                <a:solidFill>
                  <a:srgbClr val="2E2E2E"/>
                </a:solidFill>
                <a:latin typeface="Calibri"/>
              </a:rPr>
              <a:t>The other channels segment is expected to create an incremental opportunity of US$</a:t>
            </a:r>
          </a:p>
        </p:txBody>
      </p:sp>
      <p:pic>
        <p:nvPicPr>
          <p:cNvPr id="27" name="Picture 26" descr="lock.png"/>
          <p:cNvPicPr>
            <a:picLocks noChangeAspect="1"/>
          </p:cNvPicPr>
          <p:nvPr/>
        </p:nvPicPr>
        <p:blipFill>
          <a:blip r:embed="rId5"/>
          <a:stretch>
            <a:fillRect/>
          </a:stretch>
        </p:blipFill>
        <p:spPr>
          <a:xfrm>
            <a:off x="11382750" y="2166379"/>
            <a:ext cx="134549" cy="195707"/>
          </a:xfrm>
          <a:prstGeom prst="rect">
            <a:avLst/>
          </a:prstGeom>
        </p:spPr>
      </p:pic>
      <p:sp>
        <p:nvSpPr>
          <p:cNvPr id="28" name="TextBox 27"/>
          <p:cNvSpPr txBox="1"/>
          <p:nvPr/>
        </p:nvSpPr>
        <p:spPr>
          <a:xfrm>
            <a:off x="11557859" y="2176603"/>
            <a:ext cx="277874" cy="194310"/>
          </a:xfrm>
          <a:prstGeom prst="rect">
            <a:avLst/>
          </a:prstGeom>
          <a:noFill/>
        </p:spPr>
        <p:txBody>
          <a:bodyPr wrap="none" lIns="0" rIns="0" tIns="0" bIns="0">
            <a:spAutoFit/>
          </a:bodyPr>
          <a:lstStyle/>
          <a:p>
            <a:r>
              <a:rPr sz="1150" b="0">
                <a:solidFill>
                  <a:srgbClr val="2E2E2E"/>
                </a:solidFill>
                <a:latin typeface="Calibri"/>
              </a:rPr>
              <a:t>Mn</a:t>
            </a:r>
          </a:p>
        </p:txBody>
      </p:sp>
      <p:sp>
        <p:nvSpPr>
          <p:cNvPr id="29" name="TextBox 28"/>
          <p:cNvSpPr txBox="1"/>
          <p:nvPr/>
        </p:nvSpPr>
        <p:spPr>
          <a:xfrm>
            <a:off x="6305550" y="2351863"/>
            <a:ext cx="5020220" cy="194310"/>
          </a:xfrm>
          <a:prstGeom prst="rect">
            <a:avLst/>
          </a:prstGeom>
          <a:noFill/>
        </p:spPr>
        <p:txBody>
          <a:bodyPr wrap="none" lIns="0" rIns="0" tIns="0" bIns="0">
            <a:spAutoFit/>
          </a:bodyPr>
          <a:lstStyle/>
          <a:p>
            <a:r>
              <a:rPr sz="1150" b="0">
                <a:solidFill>
                  <a:srgbClr val="2E2E2E"/>
                </a:solidFill>
                <a:latin typeface="Calibri"/>
              </a:rPr>
              <a:t>for the overall waterproof coatings market from 2026 to 2036. The distributors and</a:t>
            </a:r>
          </a:p>
        </p:txBody>
      </p:sp>
      <p:sp>
        <p:nvSpPr>
          <p:cNvPr id="30" name="TextBox 29"/>
          <p:cNvSpPr txBox="1"/>
          <p:nvPr/>
        </p:nvSpPr>
        <p:spPr>
          <a:xfrm>
            <a:off x="6305550" y="2527123"/>
            <a:ext cx="4695031" cy="194310"/>
          </a:xfrm>
          <a:prstGeom prst="rect">
            <a:avLst/>
          </a:prstGeom>
          <a:noFill/>
        </p:spPr>
        <p:txBody>
          <a:bodyPr wrap="none" lIns="0" rIns="0" tIns="0" bIns="0">
            <a:spAutoFit/>
          </a:bodyPr>
          <a:lstStyle/>
          <a:p>
            <a:r>
              <a:rPr sz="1150" b="0">
                <a:solidFill>
                  <a:srgbClr val="2E2E2E"/>
                </a:solidFill>
                <a:latin typeface="Calibri"/>
              </a:rPr>
              <a:t>wholesalers segment is expected to create an incremental opportunity of US$</a:t>
            </a:r>
          </a:p>
        </p:txBody>
      </p:sp>
      <p:pic>
        <p:nvPicPr>
          <p:cNvPr id="31" name="Picture 30" descr="lock.png"/>
          <p:cNvPicPr>
            <a:picLocks noChangeAspect="1"/>
          </p:cNvPicPr>
          <p:nvPr/>
        </p:nvPicPr>
        <p:blipFill>
          <a:blip r:embed="rId5"/>
          <a:stretch>
            <a:fillRect/>
          </a:stretch>
        </p:blipFill>
        <p:spPr>
          <a:xfrm>
            <a:off x="10949735" y="2516899"/>
            <a:ext cx="134549" cy="195707"/>
          </a:xfrm>
          <a:prstGeom prst="rect">
            <a:avLst/>
          </a:prstGeom>
        </p:spPr>
      </p:pic>
      <p:sp>
        <p:nvSpPr>
          <p:cNvPr id="32" name="TextBox 31"/>
          <p:cNvSpPr txBox="1"/>
          <p:nvPr/>
        </p:nvSpPr>
        <p:spPr>
          <a:xfrm>
            <a:off x="11124844" y="2527123"/>
            <a:ext cx="715168" cy="194310"/>
          </a:xfrm>
          <a:prstGeom prst="rect">
            <a:avLst/>
          </a:prstGeom>
          <a:noFill/>
        </p:spPr>
        <p:txBody>
          <a:bodyPr wrap="none" lIns="0" rIns="0" tIns="0" bIns="0">
            <a:spAutoFit/>
          </a:bodyPr>
          <a:lstStyle/>
          <a:p>
            <a:r>
              <a:rPr sz="1150" b="0">
                <a:solidFill>
                  <a:srgbClr val="2E2E2E"/>
                </a:solidFill>
                <a:latin typeface="Calibri"/>
              </a:rPr>
              <a:t>Mn for the</a:t>
            </a:r>
          </a:p>
        </p:txBody>
      </p:sp>
      <p:sp>
        <p:nvSpPr>
          <p:cNvPr id="33" name="TextBox 32"/>
          <p:cNvSpPr txBox="1"/>
          <p:nvPr/>
        </p:nvSpPr>
        <p:spPr>
          <a:xfrm>
            <a:off x="6305550" y="2702383"/>
            <a:ext cx="3350629" cy="194310"/>
          </a:xfrm>
          <a:prstGeom prst="rect">
            <a:avLst/>
          </a:prstGeom>
          <a:noFill/>
        </p:spPr>
        <p:txBody>
          <a:bodyPr wrap="none" lIns="0" rIns="0" tIns="0" bIns="0">
            <a:spAutoFit/>
          </a:bodyPr>
          <a:lstStyle/>
          <a:p>
            <a:r>
              <a:rPr sz="1150" b="0">
                <a:solidFill>
                  <a:srgbClr val="2E2E2E"/>
                </a:solidFill>
                <a:latin typeface="Calibri"/>
              </a:rPr>
              <a:t>overall waterproof coatings market from 2026 to 2036.</a:t>
            </a:r>
          </a:p>
        </p:txBody>
      </p:sp>
      <p:sp>
        <p:nvSpPr>
          <p:cNvPr id="34" name="lockshield_12"/>
          <p:cNvSpPr/>
          <p:nvPr/>
        </p:nvSpPr>
        <p:spPr>
          <a:xfrm>
            <a:off x="238125" y="1266825"/>
            <a:ext cx="56864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Distribution Channel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Distribution Channel, 2021–2036, highlighting the sub-segments driving growth</a:t>
            </a:r>
          </a:p>
        </p:txBody>
      </p:sp>
      <p:sp>
        <p:nvSpPr>
          <p:cNvPr id="10" name="Rounded Rectangle 9"/>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Distribution Channel (US$ Mn)</a:t>
            </a:r>
          </a:p>
        </p:txBody>
      </p:sp>
      <p:graphicFrame>
        <p:nvGraphicFramePr>
          <p:cNvPr id="12" name="Table 11"/>
          <p:cNvGraphicFramePr>
            <a:graphicFrameLocks noGrp="1"/>
          </p:cNvGraphicFramePr>
          <p:nvPr/>
        </p:nvGraphicFramePr>
        <p:xfrm>
          <a:off x="152400" y="1238250"/>
          <a:ext cx="11887205" cy="1724028"/>
        </p:xfrm>
        <a:graphic>
          <a:graphicData uri="http://schemas.openxmlformats.org/drawingml/2006/table">
            <a:tbl>
              <a:tblPr>
                <a:tableStyleId>{5C22544A-7EE6-4342-B048-85BDC9FD1C3A}</a:tableStyleId>
              </a:tblPr>
              <a:tblGrid>
                <a:gridCol w="1956026"/>
                <a:gridCol w="584187"/>
                <a:gridCol w="584187"/>
                <a:gridCol w="584187"/>
                <a:gridCol w="584187"/>
                <a:gridCol w="584187"/>
                <a:gridCol w="584187"/>
                <a:gridCol w="584187"/>
                <a:gridCol w="584187"/>
                <a:gridCol w="584187"/>
                <a:gridCol w="584187"/>
                <a:gridCol w="584187"/>
                <a:gridCol w="584187"/>
                <a:gridCol w="584187"/>
                <a:gridCol w="584187"/>
                <a:gridCol w="584187"/>
                <a:gridCol w="584187"/>
                <a:gridCol w="584187"/>
              </a:tblGrid>
              <a:tr h="246126">
                <a:tc>
                  <a:txBody>
                    <a:bodyPr wrap="none"/>
                    <a:lstStyle/>
                    <a:p>
                      <a:pPr algn="l"/>
                      <a:r>
                        <a:rPr sz="1100" b="1">
                          <a:solidFill>
                            <a:srgbClr val="0B2E4A"/>
                          </a:solidFill>
                          <a:latin typeface="Calibri"/>
                        </a:rPr>
                        <a:t>Distribution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7">
                <a:tc>
                  <a:txBody>
                    <a:bodyPr wrap="none"/>
                    <a:lstStyle/>
                    <a:p>
                      <a:pPr algn="l"/>
                      <a:r>
                        <a:rPr sz="1100" b="1">
                          <a:solidFill>
                            <a:srgbClr val="2E2E2E"/>
                          </a:solidFill>
                          <a:latin typeface="Calibri"/>
                        </a:rPr>
                        <a:t>Direct Sales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Distributors and Wholesalers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Retail and Hardware Stores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Online Sales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Other Channels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305175"/>
            <a:ext cx="1190625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39090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Distribution Channel</a:t>
            </a:r>
          </a:p>
        </p:txBody>
      </p:sp>
      <p:sp>
        <p:nvSpPr>
          <p:cNvPr id="16" name="Rectangle 15"/>
          <p:cNvSpPr/>
          <p:nvPr/>
        </p:nvSpPr>
        <p:spPr>
          <a:xfrm>
            <a:off x="276225" y="36290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714750"/>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887325" y="1956627"/>
            <a:ext cx="366712" cy="533400"/>
          </a:xfrm>
          <a:prstGeom prst="rect">
            <a:avLst/>
          </a:prstGeom>
        </p:spPr>
      </p:pic>
      <p:sp>
        <p:nvSpPr>
          <p:cNvPr id="20" name="TextBox 19"/>
          <p:cNvSpPr txBox="1"/>
          <p:nvPr/>
        </p:nvSpPr>
        <p:spPr>
          <a:xfrm>
            <a:off x="276225" y="3724275"/>
            <a:ext cx="2906204" cy="194310"/>
          </a:xfrm>
          <a:prstGeom prst="rect">
            <a:avLst/>
          </a:prstGeom>
          <a:noFill/>
        </p:spPr>
        <p:txBody>
          <a:bodyPr wrap="none" lIns="0" rIns="0" tIns="0" bIns="0">
            <a:spAutoFit/>
          </a:bodyPr>
          <a:lstStyle/>
          <a:p>
            <a:r>
              <a:rPr sz="1150" b="0">
                <a:solidFill>
                  <a:srgbClr val="2E2E2E"/>
                </a:solidFill>
                <a:latin typeface="Calibri"/>
              </a:rPr>
              <a:t>Other channels segment is projected to register</a:t>
            </a:r>
          </a:p>
        </p:txBody>
      </p:sp>
      <p:pic>
        <p:nvPicPr>
          <p:cNvPr id="21" name="Picture 20" descr="lock.png"/>
          <p:cNvPicPr>
            <a:picLocks noChangeAspect="1"/>
          </p:cNvPicPr>
          <p:nvPr/>
        </p:nvPicPr>
        <p:blipFill>
          <a:blip r:embed="rId4"/>
          <a:stretch>
            <a:fillRect/>
          </a:stretch>
        </p:blipFill>
        <p:spPr>
          <a:xfrm>
            <a:off x="3131582" y="3714051"/>
            <a:ext cx="134549" cy="195707"/>
          </a:xfrm>
          <a:prstGeom prst="rect">
            <a:avLst/>
          </a:prstGeom>
        </p:spPr>
      </p:pic>
      <p:sp>
        <p:nvSpPr>
          <p:cNvPr id="22" name="TextBox 21"/>
          <p:cNvSpPr txBox="1"/>
          <p:nvPr/>
        </p:nvSpPr>
        <p:spPr>
          <a:xfrm>
            <a:off x="3306692" y="3724275"/>
            <a:ext cx="8245586" cy="194310"/>
          </a:xfrm>
          <a:prstGeom prst="rect">
            <a:avLst/>
          </a:prstGeom>
          <a:noFill/>
        </p:spPr>
        <p:txBody>
          <a:bodyPr wrap="none" lIns="0" rIns="0" tIns="0" bIns="0">
            <a:spAutoFit/>
          </a:bodyPr>
          <a:lstStyle/>
          <a:p>
            <a:r>
              <a:rPr sz="1150" b="0">
                <a:solidFill>
                  <a:srgbClr val="2E2E2E"/>
                </a:solidFill>
                <a:latin typeface="Calibri"/>
              </a:rPr>
              <a:t>X higher value than online sales segment in 2036. Among waterproof coatings by distribution channel, direct sales segment is expected to</a:t>
            </a:r>
          </a:p>
        </p:txBody>
      </p:sp>
      <p:sp>
        <p:nvSpPr>
          <p:cNvPr id="23" name="TextBox 22"/>
          <p:cNvSpPr txBox="1"/>
          <p:nvPr/>
        </p:nvSpPr>
        <p:spPr>
          <a:xfrm>
            <a:off x="276225" y="3899535"/>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24" name="Picture 23" descr="lock.png"/>
          <p:cNvPicPr>
            <a:picLocks noChangeAspect="1"/>
          </p:cNvPicPr>
          <p:nvPr/>
        </p:nvPicPr>
        <p:blipFill>
          <a:blip r:embed="rId4"/>
          <a:stretch>
            <a:fillRect/>
          </a:stretch>
        </p:blipFill>
        <p:spPr>
          <a:xfrm>
            <a:off x="1973149" y="3889311"/>
            <a:ext cx="134549" cy="195707"/>
          </a:xfrm>
          <a:prstGeom prst="rect">
            <a:avLst/>
          </a:prstGeom>
        </p:spPr>
      </p:pic>
      <p:sp>
        <p:nvSpPr>
          <p:cNvPr id="25" name="TextBox 24"/>
          <p:cNvSpPr txBox="1"/>
          <p:nvPr/>
        </p:nvSpPr>
        <p:spPr>
          <a:xfrm>
            <a:off x="2148258" y="38995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127372"/>
            <a:ext cx="7227515" cy="194310"/>
          </a:xfrm>
          <a:prstGeom prst="rect">
            <a:avLst/>
          </a:prstGeom>
          <a:noFill/>
        </p:spPr>
        <p:txBody>
          <a:bodyPr wrap="none" lIns="0" rIns="0" tIns="0" bIns="0">
            <a:spAutoFit/>
          </a:bodyPr>
          <a:lstStyle/>
          <a:p>
            <a:r>
              <a:rPr sz="1150" b="0">
                <a:solidFill>
                  <a:srgbClr val="2E2E2E"/>
                </a:solidFill>
                <a:latin typeface="Calibri"/>
              </a:rPr>
              <a:t>In terms of value share by distribution channel, the other channels segment is expected to dominate the market, gaining</a:t>
            </a:r>
          </a:p>
        </p:txBody>
      </p:sp>
      <p:pic>
        <p:nvPicPr>
          <p:cNvPr id="27" name="Picture 26" descr="lock.png"/>
          <p:cNvPicPr>
            <a:picLocks noChangeAspect="1"/>
          </p:cNvPicPr>
          <p:nvPr/>
        </p:nvPicPr>
        <p:blipFill>
          <a:blip r:embed="rId4"/>
          <a:stretch>
            <a:fillRect/>
          </a:stretch>
        </p:blipFill>
        <p:spPr>
          <a:xfrm>
            <a:off x="7452894" y="4117149"/>
            <a:ext cx="134549" cy="195707"/>
          </a:xfrm>
          <a:prstGeom prst="rect">
            <a:avLst/>
          </a:prstGeom>
        </p:spPr>
      </p:pic>
      <p:sp>
        <p:nvSpPr>
          <p:cNvPr id="28" name="TextBox 27"/>
          <p:cNvSpPr txBox="1"/>
          <p:nvPr/>
        </p:nvSpPr>
        <p:spPr>
          <a:xfrm>
            <a:off x="7628003" y="41273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9023146" y="4117149"/>
            <a:ext cx="134549" cy="195707"/>
          </a:xfrm>
          <a:prstGeom prst="rect">
            <a:avLst/>
          </a:prstGeom>
        </p:spPr>
      </p:pic>
      <p:sp>
        <p:nvSpPr>
          <p:cNvPr id="30" name="TextBox 29"/>
          <p:cNvSpPr txBox="1"/>
          <p:nvPr/>
        </p:nvSpPr>
        <p:spPr>
          <a:xfrm>
            <a:off x="9198256" y="4127372"/>
            <a:ext cx="2405298" cy="194310"/>
          </a:xfrm>
          <a:prstGeom prst="rect">
            <a:avLst/>
          </a:prstGeom>
          <a:noFill/>
        </p:spPr>
        <p:txBody>
          <a:bodyPr wrap="none" lIns="0" rIns="0" tIns="0" bIns="0">
            <a:spAutoFit/>
          </a:bodyPr>
          <a:lstStyle/>
          <a:p>
            <a:r>
              <a:rPr sz="1150" b="0">
                <a:solidFill>
                  <a:srgbClr val="2E2E2E"/>
                </a:solidFill>
                <a:latin typeface="Calibri"/>
              </a:rPr>
              <a:t>share by 2036. The retail and hardware</a:t>
            </a:r>
          </a:p>
        </p:txBody>
      </p:sp>
      <p:sp>
        <p:nvSpPr>
          <p:cNvPr id="31" name="TextBox 30"/>
          <p:cNvSpPr txBox="1"/>
          <p:nvPr/>
        </p:nvSpPr>
        <p:spPr>
          <a:xfrm>
            <a:off x="276225" y="4302632"/>
            <a:ext cx="2122611" cy="194310"/>
          </a:xfrm>
          <a:prstGeom prst="rect">
            <a:avLst/>
          </a:prstGeom>
          <a:noFill/>
        </p:spPr>
        <p:txBody>
          <a:bodyPr wrap="none" lIns="0" rIns="0" tIns="0" bIns="0">
            <a:spAutoFit/>
          </a:bodyPr>
          <a:lstStyle/>
          <a:p>
            <a:r>
              <a:rPr sz="1150" b="0">
                <a:solidFill>
                  <a:srgbClr val="2E2E2E"/>
                </a:solidFill>
                <a:latin typeface="Calibri"/>
              </a:rPr>
              <a:t>stores segment is expected to lose</a:t>
            </a:r>
          </a:p>
        </p:txBody>
      </p:sp>
      <p:pic>
        <p:nvPicPr>
          <p:cNvPr id="32" name="Picture 31" descr="lock.png"/>
          <p:cNvPicPr>
            <a:picLocks noChangeAspect="1"/>
          </p:cNvPicPr>
          <p:nvPr/>
        </p:nvPicPr>
        <p:blipFill>
          <a:blip r:embed="rId4"/>
          <a:stretch>
            <a:fillRect/>
          </a:stretch>
        </p:blipFill>
        <p:spPr>
          <a:xfrm>
            <a:off x="2347990" y="4292409"/>
            <a:ext cx="134549" cy="195707"/>
          </a:xfrm>
          <a:prstGeom prst="rect">
            <a:avLst/>
          </a:prstGeom>
        </p:spPr>
      </p:pic>
      <p:sp>
        <p:nvSpPr>
          <p:cNvPr id="33" name="TextBox 32"/>
          <p:cNvSpPr txBox="1"/>
          <p:nvPr/>
        </p:nvSpPr>
        <p:spPr>
          <a:xfrm>
            <a:off x="2523099" y="43026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5110604" y="4292409"/>
            <a:ext cx="134549" cy="195707"/>
          </a:xfrm>
          <a:prstGeom prst="rect">
            <a:avLst/>
          </a:prstGeom>
        </p:spPr>
      </p:pic>
      <p:sp>
        <p:nvSpPr>
          <p:cNvPr id="35" name="TextBox 34"/>
          <p:cNvSpPr txBox="1"/>
          <p:nvPr/>
        </p:nvSpPr>
        <p:spPr>
          <a:xfrm>
            <a:off x="5285713" y="43026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Distribution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Distribution Channel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Distribution Channel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924728"/>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91996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84376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Retail and Hardware Stores</a:t>
            </a:r>
          </a:p>
        </p:txBody>
      </p:sp>
      <p:sp>
        <p:nvSpPr>
          <p:cNvPr id="18" name="BPS Value 1"/>
          <p:cNvSpPr txBox="1"/>
          <p:nvPr/>
        </p:nvSpPr>
        <p:spPr>
          <a:xfrm>
            <a:off x="6896100" y="190567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2564453"/>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255969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48349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Distributors and Wholesalers</a:t>
            </a:r>
          </a:p>
        </p:txBody>
      </p:sp>
      <p:sp>
        <p:nvSpPr>
          <p:cNvPr id="22" name="BPS Value 2"/>
          <p:cNvSpPr txBox="1"/>
          <p:nvPr/>
        </p:nvSpPr>
        <p:spPr>
          <a:xfrm>
            <a:off x="6896100" y="254540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928997" y="3410103"/>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5090922" y="340534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332914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Direct Sales</a:t>
            </a:r>
          </a:p>
        </p:txBody>
      </p:sp>
      <p:sp>
        <p:nvSpPr>
          <p:cNvPr id="26" name="BPS Value 3"/>
          <p:cNvSpPr txBox="1"/>
          <p:nvPr/>
        </p:nvSpPr>
        <p:spPr>
          <a:xfrm>
            <a:off x="6896100" y="339105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928997" y="4462012"/>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5090922" y="445724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438104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Online Sales</a:t>
            </a:r>
          </a:p>
        </p:txBody>
      </p:sp>
      <p:sp>
        <p:nvSpPr>
          <p:cNvPr id="30" name="BPS Value 4"/>
          <p:cNvSpPr txBox="1"/>
          <p:nvPr/>
        </p:nvSpPr>
        <p:spPr>
          <a:xfrm>
            <a:off x="6896100" y="444296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FMI Legend Chip"/>
          <p:cNvSpPr/>
          <p:nvPr/>
        </p:nvSpPr>
        <p:spPr>
          <a:xfrm>
            <a:off x="4928997" y="5649082"/>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a:off x="5090922" y="564431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556811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Channels</a:t>
            </a:r>
          </a:p>
        </p:txBody>
      </p:sp>
      <p:sp>
        <p:nvSpPr>
          <p:cNvPr id="34" name="BPS Value 5"/>
          <p:cNvSpPr txBox="1"/>
          <p:nvPr/>
        </p:nvSpPr>
        <p:spPr>
          <a:xfrm>
            <a:off x="6896100" y="563003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5" name="Rounded Rectangle 34"/>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Distribution Channel</a:t>
            </a:r>
          </a:p>
        </p:txBody>
      </p:sp>
      <p:sp>
        <p:nvSpPr>
          <p:cNvPr id="37" name="Rectangle 36"/>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9" name="TextBox 3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0" name="Picture 39" descr="lock.png"/>
          <p:cNvPicPr>
            <a:picLocks noChangeAspect="1"/>
          </p:cNvPicPr>
          <p:nvPr/>
        </p:nvPicPr>
        <p:blipFill>
          <a:blip r:embed="rId5"/>
          <a:stretch>
            <a:fillRect/>
          </a:stretch>
        </p:blipFill>
        <p:spPr>
          <a:xfrm>
            <a:off x="2557843" y="3833622"/>
            <a:ext cx="275034" cy="400050"/>
          </a:xfrm>
          <a:prstGeom prst="rect">
            <a:avLst/>
          </a:prstGeom>
        </p:spPr>
      </p:pic>
      <p:sp>
        <p:nvSpPr>
          <p:cNvPr id="41" name="TextBox 40"/>
          <p:cNvSpPr txBox="1"/>
          <p:nvPr/>
        </p:nvSpPr>
        <p:spPr>
          <a:xfrm>
            <a:off x="7829550" y="1400175"/>
            <a:ext cx="3873499" cy="194310"/>
          </a:xfrm>
          <a:prstGeom prst="rect">
            <a:avLst/>
          </a:prstGeom>
          <a:noFill/>
        </p:spPr>
        <p:txBody>
          <a:bodyPr wrap="none" lIns="0" rIns="0" tIns="0" bIns="0">
            <a:spAutoFit/>
          </a:bodyPr>
          <a:lstStyle/>
          <a:p>
            <a:r>
              <a:rPr sz="1150" b="0">
                <a:solidFill>
                  <a:srgbClr val="2E2E2E"/>
                </a:solidFill>
                <a:latin typeface="Calibri"/>
              </a:rPr>
              <a:t>Among waterproof coatings by distribution channel, direct sales</a:t>
            </a:r>
          </a:p>
        </p:txBody>
      </p:sp>
      <p:sp>
        <p:nvSpPr>
          <p:cNvPr id="42" name="TextBox 41"/>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43" name="Picture 42" descr="lock.png"/>
          <p:cNvPicPr>
            <a:picLocks noChangeAspect="1"/>
          </p:cNvPicPr>
          <p:nvPr/>
        </p:nvPicPr>
        <p:blipFill>
          <a:blip r:embed="rId5"/>
          <a:stretch>
            <a:fillRect/>
          </a:stretch>
        </p:blipFill>
        <p:spPr>
          <a:xfrm>
            <a:off x="10935343" y="1565211"/>
            <a:ext cx="134549" cy="195707"/>
          </a:xfrm>
          <a:prstGeom prst="rect">
            <a:avLst/>
          </a:prstGeom>
        </p:spPr>
      </p:pic>
      <p:sp>
        <p:nvSpPr>
          <p:cNvPr id="44" name="TextBox 43"/>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45" name="TextBox 44"/>
          <p:cNvSpPr txBox="1"/>
          <p:nvPr/>
        </p:nvSpPr>
        <p:spPr>
          <a:xfrm>
            <a:off x="7829550" y="1750695"/>
            <a:ext cx="4057650" cy="194310"/>
          </a:xfrm>
          <a:prstGeom prst="rect">
            <a:avLst/>
          </a:prstGeom>
          <a:noFill/>
        </p:spPr>
        <p:txBody>
          <a:bodyPr wrap="none" lIns="0" rIns="0" tIns="0" bIns="0">
            <a:spAutoFit/>
          </a:bodyPr>
          <a:lstStyle/>
          <a:p>
            <a:r>
              <a:rPr sz="1150" b="0">
                <a:solidFill>
                  <a:srgbClr val="2E2E2E"/>
                </a:solidFill>
                <a:latin typeface="Calibri"/>
              </a:rPr>
              <a:t>forecast period. In terms of value share by distribution channel, the</a:t>
            </a:r>
          </a:p>
        </p:txBody>
      </p:sp>
      <p:sp>
        <p:nvSpPr>
          <p:cNvPr id="46" name="TextBox 45"/>
          <p:cNvSpPr txBox="1"/>
          <p:nvPr/>
        </p:nvSpPr>
        <p:spPr>
          <a:xfrm>
            <a:off x="7829550" y="1925955"/>
            <a:ext cx="3702918" cy="194310"/>
          </a:xfrm>
          <a:prstGeom prst="rect">
            <a:avLst/>
          </a:prstGeom>
          <a:noFill/>
        </p:spPr>
        <p:txBody>
          <a:bodyPr wrap="none" lIns="0" rIns="0" tIns="0" bIns="0">
            <a:spAutoFit/>
          </a:bodyPr>
          <a:lstStyle/>
          <a:p>
            <a:r>
              <a:rPr sz="1150" b="0">
                <a:solidFill>
                  <a:srgbClr val="2E2E2E"/>
                </a:solidFill>
                <a:latin typeface="Calibri"/>
              </a:rPr>
              <a:t>other channels segment is expected to dominate the market,</a:t>
            </a:r>
          </a:p>
        </p:txBody>
      </p:sp>
      <p:sp>
        <p:nvSpPr>
          <p:cNvPr id="47" name="TextBox 46"/>
          <p:cNvSpPr txBox="1"/>
          <p:nvPr/>
        </p:nvSpPr>
        <p:spPr>
          <a:xfrm>
            <a:off x="7829550" y="2101215"/>
            <a:ext cx="504366" cy="194310"/>
          </a:xfrm>
          <a:prstGeom prst="rect">
            <a:avLst/>
          </a:prstGeom>
          <a:noFill/>
        </p:spPr>
        <p:txBody>
          <a:bodyPr wrap="none" lIns="0" rIns="0" tIns="0" bIns="0">
            <a:spAutoFit/>
          </a:bodyPr>
          <a:lstStyle/>
          <a:p>
            <a:r>
              <a:rPr sz="1150" b="0">
                <a:solidFill>
                  <a:srgbClr val="2E2E2E"/>
                </a:solidFill>
                <a:latin typeface="Calibri"/>
              </a:rPr>
              <a:t>gaining</a:t>
            </a:r>
          </a:p>
        </p:txBody>
      </p:sp>
      <p:pic>
        <p:nvPicPr>
          <p:cNvPr id="48" name="Picture 47" descr="lock.png"/>
          <p:cNvPicPr>
            <a:picLocks noChangeAspect="1"/>
          </p:cNvPicPr>
          <p:nvPr/>
        </p:nvPicPr>
        <p:blipFill>
          <a:blip r:embed="rId5"/>
          <a:stretch>
            <a:fillRect/>
          </a:stretch>
        </p:blipFill>
        <p:spPr>
          <a:xfrm>
            <a:off x="8283070" y="2090991"/>
            <a:ext cx="134549" cy="195707"/>
          </a:xfrm>
          <a:prstGeom prst="rect">
            <a:avLst/>
          </a:prstGeom>
        </p:spPr>
      </p:pic>
      <p:sp>
        <p:nvSpPr>
          <p:cNvPr id="49" name="TextBox 48"/>
          <p:cNvSpPr txBox="1"/>
          <p:nvPr/>
        </p:nvSpPr>
        <p:spPr>
          <a:xfrm>
            <a:off x="8458179"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0" name="Picture 49" descr="lock.png"/>
          <p:cNvPicPr>
            <a:picLocks noChangeAspect="1"/>
          </p:cNvPicPr>
          <p:nvPr/>
        </p:nvPicPr>
        <p:blipFill>
          <a:blip r:embed="rId5"/>
          <a:stretch>
            <a:fillRect/>
          </a:stretch>
        </p:blipFill>
        <p:spPr>
          <a:xfrm>
            <a:off x="9853322" y="2090991"/>
            <a:ext cx="134549" cy="195707"/>
          </a:xfrm>
          <a:prstGeom prst="rect">
            <a:avLst/>
          </a:prstGeom>
        </p:spPr>
      </p:pic>
      <p:sp>
        <p:nvSpPr>
          <p:cNvPr id="51" name="TextBox 50"/>
          <p:cNvSpPr txBox="1"/>
          <p:nvPr/>
        </p:nvSpPr>
        <p:spPr>
          <a:xfrm>
            <a:off x="10028431"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2" name="TextBox 51"/>
          <p:cNvSpPr txBox="1"/>
          <p:nvPr/>
        </p:nvSpPr>
        <p:spPr>
          <a:xfrm>
            <a:off x="7829550" y="2329053"/>
            <a:ext cx="3581685" cy="194310"/>
          </a:xfrm>
          <a:prstGeom prst="rect">
            <a:avLst/>
          </a:prstGeom>
          <a:noFill/>
        </p:spPr>
        <p:txBody>
          <a:bodyPr wrap="none" lIns="0" rIns="0" tIns="0" bIns="0">
            <a:spAutoFit/>
          </a:bodyPr>
          <a:lstStyle/>
          <a:p>
            <a:r>
              <a:rPr sz="1150" b="0">
                <a:solidFill>
                  <a:srgbClr val="2E2E2E"/>
                </a:solidFill>
                <a:latin typeface="Calibri"/>
              </a:rPr>
              <a:t>The retail and hardware stores segment is expected to lose</a:t>
            </a:r>
          </a:p>
        </p:txBody>
      </p:sp>
      <p:pic>
        <p:nvPicPr>
          <p:cNvPr id="53" name="Picture 52" descr="lock.png"/>
          <p:cNvPicPr>
            <a:picLocks noChangeAspect="1"/>
          </p:cNvPicPr>
          <p:nvPr/>
        </p:nvPicPr>
        <p:blipFill>
          <a:blip r:embed="rId5"/>
          <a:stretch>
            <a:fillRect/>
          </a:stretch>
        </p:blipFill>
        <p:spPr>
          <a:xfrm>
            <a:off x="11360389" y="2318829"/>
            <a:ext cx="134549" cy="195707"/>
          </a:xfrm>
          <a:prstGeom prst="rect">
            <a:avLst/>
          </a:prstGeom>
        </p:spPr>
      </p:pic>
      <p:sp>
        <p:nvSpPr>
          <p:cNvPr id="54" name="TextBox 53"/>
          <p:cNvSpPr txBox="1"/>
          <p:nvPr/>
        </p:nvSpPr>
        <p:spPr>
          <a:xfrm>
            <a:off x="11535498" y="2329053"/>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55" name="TextBox 54"/>
          <p:cNvSpPr txBox="1"/>
          <p:nvPr/>
        </p:nvSpPr>
        <p:spPr>
          <a:xfrm>
            <a:off x="7829550" y="2504313"/>
            <a:ext cx="2383048" cy="194310"/>
          </a:xfrm>
          <a:prstGeom prst="rect">
            <a:avLst/>
          </a:prstGeom>
          <a:noFill/>
        </p:spPr>
        <p:txBody>
          <a:bodyPr wrap="none" lIns="0" rIns="0" tIns="0" bIns="0">
            <a:spAutoFit/>
          </a:bodyPr>
          <a:lstStyle/>
          <a:p>
            <a:r>
              <a:rPr sz="1150" b="0">
                <a:solidFill>
                  <a:srgbClr val="2E2E2E"/>
                </a:solidFill>
                <a:latin typeface="Calibri"/>
              </a:rPr>
              <a:t>over the forecast period to account for</a:t>
            </a:r>
          </a:p>
        </p:txBody>
      </p:sp>
      <p:pic>
        <p:nvPicPr>
          <p:cNvPr id="56" name="Picture 55" descr="lock.png"/>
          <p:cNvPicPr>
            <a:picLocks noChangeAspect="1"/>
          </p:cNvPicPr>
          <p:nvPr/>
        </p:nvPicPr>
        <p:blipFill>
          <a:blip r:embed="rId5"/>
          <a:stretch>
            <a:fillRect/>
          </a:stretch>
        </p:blipFill>
        <p:spPr>
          <a:xfrm>
            <a:off x="10161752" y="2494089"/>
            <a:ext cx="134549" cy="195707"/>
          </a:xfrm>
          <a:prstGeom prst="rect">
            <a:avLst/>
          </a:prstGeom>
        </p:spPr>
      </p:pic>
      <p:sp>
        <p:nvSpPr>
          <p:cNvPr id="57" name="TextBox 56"/>
          <p:cNvSpPr txBox="1"/>
          <p:nvPr/>
        </p:nvSpPr>
        <p:spPr>
          <a:xfrm>
            <a:off x="10336861"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8"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1945005"/>
            <a:ext cx="7239000" cy="247650"/>
          </a:xfrm>
          <a:prstGeom prst="rect">
            <a:avLst/>
          </a:prstGeom>
          <a:noFill/>
        </p:spPr>
        <p:txBody>
          <a:bodyPr wrap="none" lIns="0" tIns="0">
            <a:spAutoFit/>
          </a:bodyPr>
          <a:lstStyle/>
          <a:p>
            <a:r>
              <a:rPr sz="1400" b="0">
                <a:solidFill>
                  <a:srgbClr val="8FC8F2"/>
                </a:solidFill>
                <a:latin typeface="Calibri"/>
              </a:rPr>
              <a:t>Waterproof Coatings Market</a:t>
            </a:r>
          </a:p>
        </p:txBody>
      </p:sp>
      <p:sp>
        <p:nvSpPr>
          <p:cNvPr id="6" name="FMI Breaker Title"/>
          <p:cNvSpPr txBox="1"/>
          <p:nvPr/>
        </p:nvSpPr>
        <p:spPr>
          <a:xfrm>
            <a:off x="914400" y="2249805"/>
            <a:ext cx="7239000" cy="971550"/>
          </a:xfrm>
          <a:prstGeom prst="rect">
            <a:avLst/>
          </a:prstGeom>
          <a:noFill/>
        </p:spPr>
        <p:txBody>
          <a:bodyPr wrap="square" lIns="0" rIns="0" tIns="0">
            <a:spAutoFit/>
          </a:bodyPr>
          <a:lstStyle/>
          <a:p>
            <a:r>
              <a:rPr sz="3000" b="1" cap="all" spc="400">
                <a:solidFill>
                  <a:srgbClr val="FFFFFF"/>
                </a:solidFill>
                <a:latin typeface="Calibri"/>
              </a:rPr>
              <a:t>North America Market Outlook</a:t>
            </a:r>
          </a:p>
        </p:txBody>
      </p:sp>
      <p:sp>
        <p:nvSpPr>
          <p:cNvPr id="7" name="TextBox 6"/>
          <p:cNvSpPr txBox="1"/>
          <p:nvPr/>
        </p:nvSpPr>
        <p:spPr>
          <a:xfrm>
            <a:off x="914400" y="3411855"/>
            <a:ext cx="7124700" cy="292989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Overview</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Market Analysis By Country</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Market Analysis By Segments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Product Type / Chemistry</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Product Configuration</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Technology</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Application</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Substrate Material</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Distribution Channel</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North America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Waterproof Coatings Market Summary, By Volume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North America market volume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(UNITS)</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(UNITS)</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(Units)</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0" name="Rounded Rectangle 19"/>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24" name="Rounded Rectangle 23"/>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6" name="Rectangle 25"/>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3847554" cy="186689"/>
          </a:xfrm>
          <a:prstGeom prst="rect">
            <a:avLst/>
          </a:prstGeom>
          <a:noFill/>
        </p:spPr>
        <p:txBody>
          <a:bodyPr wrap="none" lIns="0" rIns="0" tIns="0" bIns="0">
            <a:spAutoFit/>
          </a:bodyPr>
          <a:lstStyle/>
          <a:p>
            <a:r>
              <a:rPr sz="1100" b="0">
                <a:solidFill>
                  <a:srgbClr val="2E2E2E"/>
                </a:solidFill>
                <a:latin typeface="Calibri"/>
              </a:rPr>
              <a:t>North America waterproof coatings market is projected to register</a:t>
            </a:r>
          </a:p>
        </p:txBody>
      </p:sp>
      <p:pic>
        <p:nvPicPr>
          <p:cNvPr id="35" name="Picture 34" descr="lock.png"/>
          <p:cNvPicPr>
            <a:picLocks noChangeAspect="1"/>
          </p:cNvPicPr>
          <p:nvPr/>
        </p:nvPicPr>
        <p:blipFill>
          <a:blip r:embed="rId6"/>
          <a:stretch>
            <a:fillRect/>
          </a:stretch>
        </p:blipFill>
        <p:spPr>
          <a:xfrm>
            <a:off x="8035157" y="2204848"/>
            <a:ext cx="128699" cy="187198"/>
          </a:xfrm>
          <a:prstGeom prst="rect">
            <a:avLst/>
          </a:prstGeom>
        </p:spPr>
      </p:pic>
      <p:sp>
        <p:nvSpPr>
          <p:cNvPr id="36" name="TextBox 35"/>
          <p:cNvSpPr txBox="1"/>
          <p:nvPr/>
        </p:nvSpPr>
        <p:spPr>
          <a:xfrm>
            <a:off x="8202653" y="2214627"/>
            <a:ext cx="3679750" cy="186689"/>
          </a:xfrm>
          <a:prstGeom prst="rect">
            <a:avLst/>
          </a:prstGeom>
          <a:noFill/>
        </p:spPr>
        <p:txBody>
          <a:bodyPr wrap="none" lIns="0" rIns="0" tIns="0" bIns="0">
            <a:spAutoFit/>
          </a:bodyPr>
          <a:lstStyle/>
          <a:p>
            <a:r>
              <a:rPr sz="1100" b="0">
                <a:solidFill>
                  <a:srgbClr val="2E2E2E"/>
                </a:solidFill>
                <a:latin typeface="Calibri"/>
              </a:rPr>
              <a:t>X increase in volume by the end of forecast period, 2036. North</a:t>
            </a:r>
          </a:p>
        </p:txBody>
      </p:sp>
      <p:sp>
        <p:nvSpPr>
          <p:cNvPr id="37" name="TextBox 36"/>
          <p:cNvSpPr txBox="1"/>
          <p:nvPr/>
        </p:nvSpPr>
        <p:spPr>
          <a:xfrm>
            <a:off x="8048625" y="2382267"/>
            <a:ext cx="3118767" cy="186689"/>
          </a:xfrm>
          <a:prstGeom prst="rect">
            <a:avLst/>
          </a:prstGeom>
          <a:noFill/>
        </p:spPr>
        <p:txBody>
          <a:bodyPr wrap="none" lIns="0" rIns="0" tIns="0" bIns="0">
            <a:spAutoFit/>
          </a:bodyPr>
          <a:lstStyle/>
          <a:p>
            <a:r>
              <a:rPr sz="1100" b="0">
                <a:solidFill>
                  <a:srgbClr val="2E2E2E"/>
                </a:solidFill>
                <a:latin typeface="Calibri"/>
              </a:rPr>
              <a:t>America waterproof coatings market volume stood at</a:t>
            </a:r>
          </a:p>
        </p:txBody>
      </p:sp>
      <p:pic>
        <p:nvPicPr>
          <p:cNvPr id="38" name="Picture 37" descr="lock.png"/>
          <p:cNvPicPr>
            <a:picLocks noChangeAspect="1"/>
          </p:cNvPicPr>
          <p:nvPr/>
        </p:nvPicPr>
        <p:blipFill>
          <a:blip r:embed="rId6"/>
          <a:stretch>
            <a:fillRect/>
          </a:stretch>
        </p:blipFill>
        <p:spPr>
          <a:xfrm>
            <a:off x="11115444" y="2372488"/>
            <a:ext cx="128699" cy="187198"/>
          </a:xfrm>
          <a:prstGeom prst="rect">
            <a:avLst/>
          </a:prstGeom>
        </p:spPr>
      </p:pic>
      <p:sp>
        <p:nvSpPr>
          <p:cNvPr id="39" name="TextBox 38"/>
          <p:cNvSpPr txBox="1"/>
          <p:nvPr/>
        </p:nvSpPr>
        <p:spPr>
          <a:xfrm>
            <a:off x="11282940" y="2382267"/>
            <a:ext cx="510306" cy="186689"/>
          </a:xfrm>
          <a:prstGeom prst="rect">
            <a:avLst/>
          </a:prstGeom>
          <a:noFill/>
        </p:spPr>
        <p:txBody>
          <a:bodyPr wrap="none" lIns="0" rIns="0" tIns="0" bIns="0">
            <a:spAutoFit/>
          </a:bodyPr>
          <a:lstStyle/>
          <a:p>
            <a:r>
              <a:rPr sz="1100" b="0">
                <a:solidFill>
                  <a:srgbClr val="2E2E2E"/>
                </a:solidFill>
                <a:latin typeface="Calibri"/>
              </a:rPr>
              <a:t>Units in</a:t>
            </a:r>
          </a:p>
        </p:txBody>
      </p:sp>
      <p:sp>
        <p:nvSpPr>
          <p:cNvPr id="40" name="TextBox 39"/>
          <p:cNvSpPr txBox="1"/>
          <p:nvPr/>
        </p:nvSpPr>
        <p:spPr>
          <a:xfrm>
            <a:off x="8048625" y="2549907"/>
            <a:ext cx="1779339" cy="186689"/>
          </a:xfrm>
          <a:prstGeom prst="rect">
            <a:avLst/>
          </a:prstGeom>
          <a:noFill/>
        </p:spPr>
        <p:txBody>
          <a:bodyPr wrap="none" lIns="0" rIns="0" tIns="0" bIns="0">
            <a:spAutoFit/>
          </a:bodyPr>
          <a:lstStyle/>
          <a:p>
            <a:r>
              <a:rPr sz="1100" b="0">
                <a:solidFill>
                  <a:srgbClr val="2E2E2E"/>
                </a:solidFill>
                <a:latin typeface="Calibri"/>
              </a:rPr>
              <a:t>2025 and is expected to reach</a:t>
            </a:r>
          </a:p>
        </p:txBody>
      </p:sp>
      <p:pic>
        <p:nvPicPr>
          <p:cNvPr id="41" name="Picture 40" descr="lock.png"/>
          <p:cNvPicPr>
            <a:picLocks noChangeAspect="1"/>
          </p:cNvPicPr>
          <p:nvPr/>
        </p:nvPicPr>
        <p:blipFill>
          <a:blip r:embed="rId6"/>
          <a:stretch>
            <a:fillRect/>
          </a:stretch>
        </p:blipFill>
        <p:spPr>
          <a:xfrm>
            <a:off x="9776016" y="2540128"/>
            <a:ext cx="128699" cy="187198"/>
          </a:xfrm>
          <a:prstGeom prst="rect">
            <a:avLst/>
          </a:prstGeom>
        </p:spPr>
      </p:pic>
      <p:sp>
        <p:nvSpPr>
          <p:cNvPr id="42" name="TextBox 41"/>
          <p:cNvSpPr txBox="1"/>
          <p:nvPr/>
        </p:nvSpPr>
        <p:spPr>
          <a:xfrm>
            <a:off x="9943511" y="2549907"/>
            <a:ext cx="1882460" cy="186689"/>
          </a:xfrm>
          <a:prstGeom prst="rect">
            <a:avLst/>
          </a:prstGeom>
          <a:noFill/>
        </p:spPr>
        <p:txBody>
          <a:bodyPr wrap="none" lIns="0" rIns="0" tIns="0" bIns="0">
            <a:spAutoFit/>
          </a:bodyPr>
          <a:lstStyle/>
          <a:p>
            <a:r>
              <a:rPr sz="1100" b="0">
                <a:solidFill>
                  <a:srgbClr val="2E2E2E"/>
                </a:solidFill>
                <a:latin typeface="Calibri"/>
              </a:rPr>
              <a:t>Units by 2036 end, at a CAGR of</a:t>
            </a:r>
          </a:p>
        </p:txBody>
      </p:sp>
      <p:pic>
        <p:nvPicPr>
          <p:cNvPr id="43" name="Picture 42" descr="lock.png"/>
          <p:cNvPicPr>
            <a:picLocks noChangeAspect="1"/>
          </p:cNvPicPr>
          <p:nvPr/>
        </p:nvPicPr>
        <p:blipFill>
          <a:blip r:embed="rId6"/>
          <a:stretch>
            <a:fillRect/>
          </a:stretch>
        </p:blipFill>
        <p:spPr>
          <a:xfrm>
            <a:off x="8035157" y="2707768"/>
            <a:ext cx="128699" cy="187198"/>
          </a:xfrm>
          <a:prstGeom prst="rect">
            <a:avLst/>
          </a:prstGeom>
        </p:spPr>
      </p:pic>
      <p:sp>
        <p:nvSpPr>
          <p:cNvPr id="44" name="TextBox 43"/>
          <p:cNvSpPr txBox="1"/>
          <p:nvPr/>
        </p:nvSpPr>
        <p:spPr>
          <a:xfrm>
            <a:off x="8202653" y="271754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5" name="TextBox 44"/>
          <p:cNvSpPr txBox="1"/>
          <p:nvPr/>
        </p:nvSpPr>
        <p:spPr>
          <a:xfrm>
            <a:off x="8048625" y="2935479"/>
            <a:ext cx="3678386" cy="186689"/>
          </a:xfrm>
          <a:prstGeom prst="rect">
            <a:avLst/>
          </a:prstGeom>
          <a:noFill/>
        </p:spPr>
        <p:txBody>
          <a:bodyPr wrap="none" lIns="0" rIns="0" tIns="0" bIns="0">
            <a:spAutoFit/>
          </a:bodyPr>
          <a:lstStyle/>
          <a:p>
            <a:r>
              <a:rPr sz="1100" b="0">
                <a:solidFill>
                  <a:srgbClr val="2E2E2E"/>
                </a:solidFill>
                <a:latin typeface="Calibri"/>
              </a:rPr>
              <a:t>Value is projected to grow faster than volume over the forecast</a:t>
            </a:r>
          </a:p>
        </p:txBody>
      </p:sp>
      <p:sp>
        <p:nvSpPr>
          <p:cNvPr id="46" name="TextBox 45"/>
          <p:cNvSpPr txBox="1"/>
          <p:nvPr/>
        </p:nvSpPr>
        <p:spPr>
          <a:xfrm>
            <a:off x="8048625" y="3103119"/>
            <a:ext cx="3049736" cy="186689"/>
          </a:xfrm>
          <a:prstGeom prst="rect">
            <a:avLst/>
          </a:prstGeom>
          <a:noFill/>
        </p:spPr>
        <p:txBody>
          <a:bodyPr wrap="none" lIns="0" rIns="0" tIns="0" bIns="0">
            <a:spAutoFit/>
          </a:bodyPr>
          <a:lstStyle/>
          <a:p>
            <a:r>
              <a:rPr sz="1100" b="0">
                <a:solidFill>
                  <a:srgbClr val="2E2E2E"/>
                </a:solidFill>
                <a:latin typeface="Calibri"/>
              </a:rPr>
              <a:t>period, owing to an increase in average selling price.</a:t>
            </a:r>
          </a:p>
        </p:txBody>
      </p:sp>
      <p:sp>
        <p:nvSpPr>
          <p:cNvPr id="47" name="TextBox 46"/>
          <p:cNvSpPr txBox="1"/>
          <p:nvPr/>
        </p:nvSpPr>
        <p:spPr>
          <a:xfrm>
            <a:off x="8048625" y="4456475"/>
            <a:ext cx="2130883" cy="194310"/>
          </a:xfrm>
          <a:prstGeom prst="rect">
            <a:avLst/>
          </a:prstGeom>
          <a:noFill/>
        </p:spPr>
        <p:txBody>
          <a:bodyPr wrap="none" lIns="0" rIns="0" tIns="0" bIns="0">
            <a:spAutoFit/>
          </a:bodyPr>
          <a:lstStyle/>
          <a:p>
            <a:r>
              <a:rPr sz="1150" b="0">
                <a:solidFill>
                  <a:srgbClr val="2E2E2E"/>
                </a:solidFill>
                <a:latin typeface="Calibri"/>
              </a:rPr>
              <a:t>▪ 'Mexico' leads regional growth at</a:t>
            </a:r>
          </a:p>
        </p:txBody>
      </p:sp>
      <p:pic>
        <p:nvPicPr>
          <p:cNvPr id="48" name="Picture 47" descr="lock.png"/>
          <p:cNvPicPr>
            <a:picLocks noChangeAspect="1"/>
          </p:cNvPicPr>
          <p:nvPr/>
        </p:nvPicPr>
        <p:blipFill>
          <a:blip r:embed="rId6"/>
          <a:stretch>
            <a:fillRect/>
          </a:stretch>
        </p:blipFill>
        <p:spPr>
          <a:xfrm>
            <a:off x="10128662" y="4446251"/>
            <a:ext cx="134549" cy="195707"/>
          </a:xfrm>
          <a:prstGeom prst="rect">
            <a:avLst/>
          </a:prstGeom>
        </p:spPr>
      </p:pic>
      <p:sp>
        <p:nvSpPr>
          <p:cNvPr id="49" name="TextBox 48"/>
          <p:cNvSpPr txBox="1"/>
          <p:nvPr/>
        </p:nvSpPr>
        <p:spPr>
          <a:xfrm>
            <a:off x="10303772"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0" name="TextBox 49"/>
          <p:cNvSpPr txBox="1"/>
          <p:nvPr/>
        </p:nvSpPr>
        <p:spPr>
          <a:xfrm>
            <a:off x="8048625" y="4684312"/>
            <a:ext cx="3848100" cy="194310"/>
          </a:xfrm>
          <a:prstGeom prst="rect">
            <a:avLst/>
          </a:prstGeom>
          <a:noFill/>
        </p:spPr>
        <p:txBody>
          <a:bodyPr wrap="none" lIns="0" rIns="0" tIns="0" bIns="0">
            <a:spAutoFit/>
          </a:bodyPr>
          <a:lstStyle/>
          <a:p>
            <a:r>
              <a:rPr sz="1150" b="0">
                <a:solidFill>
                  <a:srgbClr val="2E2E2E"/>
                </a:solidFill>
                <a:latin typeface="Calibri"/>
              </a:rPr>
              <a:t>▪ Demand concentrates in 'Polyurea Waterproof Coatings' within</a:t>
            </a:r>
          </a:p>
        </p:txBody>
      </p:sp>
      <p:sp>
        <p:nvSpPr>
          <p:cNvPr id="51" name="TextBox 50"/>
          <p:cNvSpPr txBox="1"/>
          <p:nvPr/>
        </p:nvSpPr>
        <p:spPr>
          <a:xfrm>
            <a:off x="8048625" y="4859572"/>
            <a:ext cx="1624843" cy="194310"/>
          </a:xfrm>
          <a:prstGeom prst="rect">
            <a:avLst/>
          </a:prstGeom>
          <a:noFill/>
        </p:spPr>
        <p:txBody>
          <a:bodyPr wrap="none" lIns="0" rIns="0" tIns="0" bIns="0">
            <a:spAutoFit/>
          </a:bodyPr>
          <a:lstStyle/>
          <a:p>
            <a:r>
              <a:rPr sz="1150" b="0">
                <a:solidFill>
                  <a:srgbClr val="2E2E2E"/>
                </a:solidFill>
                <a:latin typeface="Calibri"/>
              </a:rPr>
              <a:t>Product Type / Chemistry.</a:t>
            </a:r>
          </a:p>
        </p:txBody>
      </p:sp>
      <p:sp>
        <p:nvSpPr>
          <p:cNvPr id="52" name="TextBox 51"/>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3" name="TextBox 52"/>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4"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Waterproof Coatings Market Pricing &amp; Regional Price Index</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average price by sub-segment and price variation by country, highlighting where pricing power sits</a:t>
            </a:r>
          </a:p>
        </p:txBody>
      </p:sp>
      <p:sp>
        <p:nvSpPr>
          <p:cNvPr id="10" name="Rounded Rectangle 9"/>
          <p:cNvSpPr/>
          <p:nvPr/>
        </p:nvSpPr>
        <p:spPr>
          <a:xfrm>
            <a:off x="142875" y="1052895"/>
            <a:ext cx="7696200" cy="2665040"/>
          </a:xfrm>
          <a:prstGeom prst="roundRect">
            <a:avLst>
              <a:gd name="adj" fmla="val 28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by Product Type / Chemistry  ·  range across 2021–2036 (US$/Units)</a:t>
            </a:r>
          </a:p>
        </p:txBody>
      </p:sp>
      <p:cxnSp>
        <p:nvCxnSpPr>
          <p:cNvPr id="12" name="Connector 11"/>
          <p:cNvCxnSpPr/>
          <p:nvPr/>
        </p:nvCxnSpPr>
        <p:spPr>
          <a:xfrm>
            <a:off x="657225" y="310071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268877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227683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186488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7225" y="1452945"/>
            <a:ext cx="0" cy="164777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310071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268877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227683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28650" y="186488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28650" y="14529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23" name="FMI Scale tick"/>
          <p:cNvSpPr txBox="1"/>
          <p:nvPr/>
        </p:nvSpPr>
        <p:spPr>
          <a:xfrm>
            <a:off x="219075" y="303404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4" name="FMI Scale tick"/>
          <p:cNvSpPr txBox="1"/>
          <p:nvPr/>
        </p:nvSpPr>
        <p:spPr>
          <a:xfrm>
            <a:off x="219075" y="2210155"/>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5" name="FMI Scale tick"/>
          <p:cNvSpPr txBox="1"/>
          <p:nvPr/>
        </p:nvSpPr>
        <p:spPr>
          <a:xfrm>
            <a:off x="219075" y="138627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cxnSp>
        <p:nvCxnSpPr>
          <p:cNvPr id="26" name="Connector 25"/>
          <p:cNvCxnSpPr/>
          <p:nvPr/>
        </p:nvCxnSpPr>
        <p:spPr>
          <a:xfrm flipV="1">
            <a:off x="1095375" y="1746935"/>
            <a:ext cx="0" cy="466532"/>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63930" y="221346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63930" y="174693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876300" y="1876393"/>
            <a:ext cx="438150" cy="232576"/>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876300" y="1996815"/>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57225" y="1594535"/>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2" name="Connector 31"/>
          <p:cNvCxnSpPr/>
          <p:nvPr/>
        </p:nvCxnSpPr>
        <p:spPr>
          <a:xfrm flipV="1">
            <a:off x="1971675" y="1643073"/>
            <a:ext cx="0" cy="489975"/>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840230" y="213304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840230" y="164307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752600" y="1779051"/>
            <a:ext cx="438150" cy="244269"/>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1752600" y="1905542"/>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533525" y="1490673"/>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8" name="Connector 37"/>
          <p:cNvCxnSpPr/>
          <p:nvPr/>
        </p:nvCxnSpPr>
        <p:spPr>
          <a:xfrm flipV="1">
            <a:off x="2847975" y="1764944"/>
            <a:ext cx="0" cy="464082"/>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2716530" y="222902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2716530" y="1764944"/>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2628900" y="1893719"/>
            <a:ext cx="438150" cy="231366"/>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2628900" y="2013532"/>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2409825" y="1612544"/>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44" name="Connector 43"/>
          <p:cNvCxnSpPr/>
          <p:nvPr/>
        </p:nvCxnSpPr>
        <p:spPr>
          <a:xfrm flipV="1">
            <a:off x="3724275" y="2097460"/>
            <a:ext cx="0" cy="386761"/>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3592830" y="248422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3592830" y="209746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3505200" y="2204784"/>
            <a:ext cx="438150" cy="192815"/>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3505200" y="2304630"/>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3286125" y="1945060"/>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50" name="Connector 49"/>
          <p:cNvCxnSpPr/>
          <p:nvPr/>
        </p:nvCxnSpPr>
        <p:spPr>
          <a:xfrm flipV="1">
            <a:off x="4600575" y="2648484"/>
            <a:ext cx="0" cy="262104"/>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4469130" y="291058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4469130" y="2648484"/>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4381500" y="2721215"/>
            <a:ext cx="438150" cy="130670"/>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4381500" y="2788879"/>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4162425" y="2496084"/>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56" name="Connector 55"/>
          <p:cNvCxnSpPr/>
          <p:nvPr/>
        </p:nvCxnSpPr>
        <p:spPr>
          <a:xfrm flipV="1">
            <a:off x="5476875" y="1657707"/>
            <a:ext cx="0" cy="485304"/>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345430" y="214301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345430" y="165770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5257800" y="1792389"/>
            <a:ext cx="438150" cy="241935"/>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a:off x="5257800" y="1917677"/>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038725" y="1505307"/>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62" name="Connector 61"/>
          <p:cNvCxnSpPr/>
          <p:nvPr/>
        </p:nvCxnSpPr>
        <p:spPr>
          <a:xfrm flipV="1">
            <a:off x="6353175" y="2609912"/>
            <a:ext cx="0" cy="268991"/>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6221730" y="287890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6221730" y="260991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6134100" y="2684551"/>
            <a:ext cx="438150" cy="134098"/>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6" name="Connector 65"/>
          <p:cNvCxnSpPr/>
          <p:nvPr/>
        </p:nvCxnSpPr>
        <p:spPr>
          <a:xfrm>
            <a:off x="6134100" y="2753991"/>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5915025" y="2457512"/>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68" name="Connector 67"/>
          <p:cNvCxnSpPr/>
          <p:nvPr/>
        </p:nvCxnSpPr>
        <p:spPr>
          <a:xfrm flipV="1">
            <a:off x="7229475" y="1906134"/>
            <a:ext cx="0" cy="428297"/>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7098030" y="233443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7098030" y="1906134"/>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71" name="Rectangle 70"/>
          <p:cNvSpPr/>
          <p:nvPr/>
        </p:nvSpPr>
        <p:spPr>
          <a:xfrm>
            <a:off x="7010400" y="2024972"/>
            <a:ext cx="438150" cy="213519"/>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2" name="Connector 71"/>
          <p:cNvCxnSpPr/>
          <p:nvPr/>
        </p:nvCxnSpPr>
        <p:spPr>
          <a:xfrm>
            <a:off x="7010400" y="2135542"/>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791325" y="1753734"/>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74" name="TextBox 73"/>
          <p:cNvSpPr txBox="1"/>
          <p:nvPr/>
        </p:nvSpPr>
        <p:spPr>
          <a:xfrm>
            <a:off x="657225" y="3129290"/>
            <a:ext cx="876300" cy="285750"/>
          </a:xfrm>
          <a:prstGeom prst="rect">
            <a:avLst/>
          </a:prstGeom>
          <a:noFill/>
        </p:spPr>
        <p:txBody>
          <a:bodyPr wrap="square" lIns="28575" rIns="28575" tIns="9525" bIns="9525">
            <a:spAutoFit/>
          </a:bodyPr>
          <a:lstStyle/>
          <a:p>
            <a:pPr algn="ctr"/>
            <a:r>
              <a:rPr sz="1100" b="0">
                <a:solidFill>
                  <a:srgbClr val="2E2E2E"/>
                </a:solidFill>
                <a:latin typeface="Calibri"/>
              </a:rPr>
              <a:t>Acrylic Waterproof Co…</a:t>
            </a:r>
          </a:p>
        </p:txBody>
      </p:sp>
      <p:sp>
        <p:nvSpPr>
          <p:cNvPr id="75" name="TextBox 74"/>
          <p:cNvSpPr txBox="1"/>
          <p:nvPr/>
        </p:nvSpPr>
        <p:spPr>
          <a:xfrm>
            <a:off x="1533525" y="3129290"/>
            <a:ext cx="876300" cy="285750"/>
          </a:xfrm>
          <a:prstGeom prst="rect">
            <a:avLst/>
          </a:prstGeom>
          <a:noFill/>
        </p:spPr>
        <p:txBody>
          <a:bodyPr wrap="square" lIns="28575" rIns="28575" tIns="9525" bIns="9525">
            <a:spAutoFit/>
          </a:bodyPr>
          <a:lstStyle/>
          <a:p>
            <a:pPr algn="ctr"/>
            <a:r>
              <a:rPr sz="1100" b="0">
                <a:solidFill>
                  <a:srgbClr val="2E2E2E"/>
                </a:solidFill>
                <a:latin typeface="Calibri"/>
              </a:rPr>
              <a:t>Polyurethane (PU) Wat…</a:t>
            </a:r>
          </a:p>
        </p:txBody>
      </p:sp>
      <p:sp>
        <p:nvSpPr>
          <p:cNvPr id="76" name="TextBox 75"/>
          <p:cNvSpPr txBox="1"/>
          <p:nvPr/>
        </p:nvSpPr>
        <p:spPr>
          <a:xfrm>
            <a:off x="2409825" y="3129290"/>
            <a:ext cx="876300" cy="285750"/>
          </a:xfrm>
          <a:prstGeom prst="rect">
            <a:avLst/>
          </a:prstGeom>
          <a:noFill/>
        </p:spPr>
        <p:txBody>
          <a:bodyPr wrap="square" lIns="28575" rIns="28575" tIns="9525" bIns="9525">
            <a:spAutoFit/>
          </a:bodyPr>
          <a:lstStyle/>
          <a:p>
            <a:pPr algn="ctr"/>
            <a:r>
              <a:rPr sz="1100" b="0">
                <a:solidFill>
                  <a:srgbClr val="2E2E2E"/>
                </a:solidFill>
                <a:latin typeface="Calibri"/>
              </a:rPr>
              <a:t>Epoxy Waterproof Coat…</a:t>
            </a:r>
          </a:p>
        </p:txBody>
      </p:sp>
      <p:sp>
        <p:nvSpPr>
          <p:cNvPr id="77" name="TextBox 76"/>
          <p:cNvSpPr txBox="1"/>
          <p:nvPr/>
        </p:nvSpPr>
        <p:spPr>
          <a:xfrm>
            <a:off x="3286125" y="3129290"/>
            <a:ext cx="876300" cy="285750"/>
          </a:xfrm>
          <a:prstGeom prst="rect">
            <a:avLst/>
          </a:prstGeom>
          <a:noFill/>
        </p:spPr>
        <p:txBody>
          <a:bodyPr wrap="square" lIns="28575" rIns="28575" tIns="9525" bIns="9525">
            <a:spAutoFit/>
          </a:bodyPr>
          <a:lstStyle/>
          <a:p>
            <a:pPr algn="ctr"/>
            <a:r>
              <a:rPr sz="1100" b="0">
                <a:solidFill>
                  <a:srgbClr val="2E2E2E"/>
                </a:solidFill>
                <a:latin typeface="Calibri"/>
              </a:rPr>
              <a:t>Silicone Waterproof C…</a:t>
            </a:r>
          </a:p>
        </p:txBody>
      </p:sp>
      <p:sp>
        <p:nvSpPr>
          <p:cNvPr id="78" name="TextBox 77"/>
          <p:cNvSpPr txBox="1"/>
          <p:nvPr/>
        </p:nvSpPr>
        <p:spPr>
          <a:xfrm>
            <a:off x="4162425" y="3129290"/>
            <a:ext cx="876300" cy="285750"/>
          </a:xfrm>
          <a:prstGeom prst="rect">
            <a:avLst/>
          </a:prstGeom>
          <a:noFill/>
        </p:spPr>
        <p:txBody>
          <a:bodyPr wrap="square" lIns="28575" rIns="28575" tIns="9525" bIns="9525">
            <a:spAutoFit/>
          </a:bodyPr>
          <a:lstStyle/>
          <a:p>
            <a:pPr algn="ctr"/>
            <a:r>
              <a:rPr sz="1100" b="0">
                <a:solidFill>
                  <a:srgbClr val="2E2E2E"/>
                </a:solidFill>
                <a:latin typeface="Calibri"/>
              </a:rPr>
              <a:t>Bituminous Waterproof…</a:t>
            </a:r>
          </a:p>
        </p:txBody>
      </p:sp>
      <p:sp>
        <p:nvSpPr>
          <p:cNvPr id="79" name="TextBox 78"/>
          <p:cNvSpPr txBox="1"/>
          <p:nvPr/>
        </p:nvSpPr>
        <p:spPr>
          <a:xfrm>
            <a:off x="5038725" y="3129290"/>
            <a:ext cx="876300" cy="285750"/>
          </a:xfrm>
          <a:prstGeom prst="rect">
            <a:avLst/>
          </a:prstGeom>
          <a:noFill/>
        </p:spPr>
        <p:txBody>
          <a:bodyPr wrap="square" lIns="28575" rIns="28575" tIns="9525" bIns="9525">
            <a:spAutoFit/>
          </a:bodyPr>
          <a:lstStyle/>
          <a:p>
            <a:pPr algn="ctr"/>
            <a:r>
              <a:rPr sz="1100" b="0">
                <a:solidFill>
                  <a:srgbClr val="2E2E2E"/>
                </a:solidFill>
                <a:latin typeface="Calibri"/>
              </a:rPr>
              <a:t>Cementitious Waterpro…</a:t>
            </a:r>
          </a:p>
        </p:txBody>
      </p:sp>
      <p:sp>
        <p:nvSpPr>
          <p:cNvPr id="80" name="TextBox 79"/>
          <p:cNvSpPr txBox="1"/>
          <p:nvPr/>
        </p:nvSpPr>
        <p:spPr>
          <a:xfrm>
            <a:off x="5915025" y="3129290"/>
            <a:ext cx="876300" cy="285750"/>
          </a:xfrm>
          <a:prstGeom prst="rect">
            <a:avLst/>
          </a:prstGeom>
          <a:noFill/>
        </p:spPr>
        <p:txBody>
          <a:bodyPr wrap="square" lIns="28575" rIns="28575" tIns="9525" bIns="9525">
            <a:spAutoFit/>
          </a:bodyPr>
          <a:lstStyle/>
          <a:p>
            <a:pPr algn="ctr"/>
            <a:r>
              <a:rPr sz="1100" b="0">
                <a:solidFill>
                  <a:srgbClr val="2E2E2E"/>
                </a:solidFill>
                <a:latin typeface="Calibri"/>
              </a:rPr>
              <a:t>Polyurea Waterproof C…</a:t>
            </a:r>
          </a:p>
        </p:txBody>
      </p:sp>
      <p:sp>
        <p:nvSpPr>
          <p:cNvPr id="81" name="TextBox 80"/>
          <p:cNvSpPr txBox="1"/>
          <p:nvPr/>
        </p:nvSpPr>
        <p:spPr>
          <a:xfrm>
            <a:off x="6791325" y="3129290"/>
            <a:ext cx="876300" cy="285750"/>
          </a:xfrm>
          <a:prstGeom prst="rect">
            <a:avLst/>
          </a:prstGeom>
          <a:noFill/>
        </p:spPr>
        <p:txBody>
          <a:bodyPr wrap="square" lIns="28575" rIns="28575" tIns="9525" bIns="9525">
            <a:spAutoFit/>
          </a:bodyPr>
          <a:lstStyle/>
          <a:p>
            <a:pPr algn="ctr"/>
            <a:r>
              <a:rPr sz="1100" b="0">
                <a:solidFill>
                  <a:srgbClr val="2E2E2E"/>
                </a:solidFill>
                <a:latin typeface="Calibri"/>
              </a:rPr>
              <a:t>Other Polymer-Based C…</a:t>
            </a:r>
          </a:p>
        </p:txBody>
      </p:sp>
      <p:sp>
        <p:nvSpPr>
          <p:cNvPr id="82" name="Rounded Rectangle 81"/>
          <p:cNvSpPr/>
          <p:nvPr/>
        </p:nvSpPr>
        <p:spPr>
          <a:xfrm>
            <a:off x="142875" y="3772696"/>
            <a:ext cx="7696200" cy="2783689"/>
          </a:xfrm>
          <a:prstGeom prst="roundRect">
            <a:avLst>
              <a:gd name="adj" fmla="val 27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Country vs North America  ·  2026–2036</a:t>
            </a:r>
          </a:p>
        </p:txBody>
      </p:sp>
      <p:cxnSp>
        <p:nvCxnSpPr>
          <p:cNvPr id="84" name="Connector 83"/>
          <p:cNvCxnSpPr/>
          <p:nvPr/>
        </p:nvCxnSpPr>
        <p:spPr>
          <a:xfrm>
            <a:off x="619125" y="4321999"/>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619125" y="4757557"/>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619125" y="519311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619125" y="5628674"/>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619125" y="6064232"/>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619125" y="4321999"/>
            <a:ext cx="0" cy="1742233"/>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590550" y="4321999"/>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590550" y="4757557"/>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590550" y="519311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590550" y="5628674"/>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590550" y="6064232"/>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95" name="FMI Scale tick"/>
          <p:cNvSpPr txBox="1"/>
          <p:nvPr/>
        </p:nvSpPr>
        <p:spPr>
          <a:xfrm>
            <a:off x="138112" y="4255324"/>
            <a:ext cx="442912" cy="133350"/>
          </a:xfrm>
          <a:prstGeom prst="rect">
            <a:avLst/>
          </a:prstGeom>
          <a:noFill/>
        </p:spPr>
        <p:txBody>
          <a:bodyPr wrap="square" lIns="28575" rIns="28575" tIns="9525" bIns="9525" anchor="ctr">
            <a:spAutoFit/>
          </a:bodyPr>
          <a:lstStyle/>
          <a:p>
            <a:pPr algn="r"/>
            <a:r>
              <a:rPr sz="1100" b="0">
                <a:solidFill>
                  <a:srgbClr val="6C7A89"/>
                </a:solidFill>
                <a:latin typeface="Calibri"/>
              </a:rPr>
              <a:t>+4.7%</a:t>
            </a:r>
          </a:p>
        </p:txBody>
      </p:sp>
      <p:sp>
        <p:nvSpPr>
          <p:cNvPr id="96" name="FMI Scale tick"/>
          <p:cNvSpPr txBox="1"/>
          <p:nvPr/>
        </p:nvSpPr>
        <p:spPr>
          <a:xfrm>
            <a:off x="138112" y="4690882"/>
            <a:ext cx="442912" cy="133350"/>
          </a:xfrm>
          <a:prstGeom prst="rect">
            <a:avLst/>
          </a:prstGeom>
          <a:noFill/>
        </p:spPr>
        <p:txBody>
          <a:bodyPr wrap="square" lIns="28575" rIns="28575" tIns="9525" bIns="9525" anchor="ctr">
            <a:spAutoFit/>
          </a:bodyPr>
          <a:lstStyle/>
          <a:p>
            <a:pPr algn="r"/>
            <a:r>
              <a:rPr sz="1100" b="0">
                <a:solidFill>
                  <a:srgbClr val="6C7A89"/>
                </a:solidFill>
                <a:latin typeface="Calibri"/>
              </a:rPr>
              <a:t>+2.4%</a:t>
            </a:r>
          </a:p>
        </p:txBody>
      </p:sp>
      <p:sp>
        <p:nvSpPr>
          <p:cNvPr id="97" name="FMI Scale tick"/>
          <p:cNvSpPr txBox="1"/>
          <p:nvPr/>
        </p:nvSpPr>
        <p:spPr>
          <a:xfrm>
            <a:off x="219075" y="5126441"/>
            <a:ext cx="361950" cy="133350"/>
          </a:xfrm>
          <a:prstGeom prst="rect">
            <a:avLst/>
          </a:prstGeom>
          <a:noFill/>
        </p:spPr>
        <p:txBody>
          <a:bodyPr wrap="square" lIns="28575" rIns="28575" tIns="9525" bIns="9525" anchor="ctr">
            <a:spAutoFit/>
          </a:bodyPr>
          <a:lstStyle/>
          <a:p>
            <a:pPr algn="r"/>
            <a:r>
              <a:rPr sz="1100" b="1">
                <a:solidFill>
                  <a:srgbClr val="6C7A89"/>
                </a:solidFill>
                <a:latin typeface="Calibri"/>
              </a:rPr>
              <a:t>North America</a:t>
            </a:r>
          </a:p>
        </p:txBody>
      </p:sp>
      <p:sp>
        <p:nvSpPr>
          <p:cNvPr id="98" name="FMI Scale tick"/>
          <p:cNvSpPr txBox="1"/>
          <p:nvPr/>
        </p:nvSpPr>
        <p:spPr>
          <a:xfrm>
            <a:off x="164306" y="5561999"/>
            <a:ext cx="416719" cy="133350"/>
          </a:xfrm>
          <a:prstGeom prst="rect">
            <a:avLst/>
          </a:prstGeom>
          <a:noFill/>
        </p:spPr>
        <p:txBody>
          <a:bodyPr wrap="square" lIns="28575" rIns="28575" tIns="9525" bIns="9525" anchor="ctr">
            <a:spAutoFit/>
          </a:bodyPr>
          <a:lstStyle/>
          <a:p>
            <a:pPr algn="r"/>
            <a:r>
              <a:rPr sz="1100" b="0">
                <a:solidFill>
                  <a:srgbClr val="6C7A89"/>
                </a:solidFill>
                <a:latin typeface="Calibri"/>
              </a:rPr>
              <a:t>-2.4%</a:t>
            </a:r>
          </a:p>
        </p:txBody>
      </p:sp>
      <p:sp>
        <p:nvSpPr>
          <p:cNvPr id="99" name="FMI Scale tick"/>
          <p:cNvSpPr txBox="1"/>
          <p:nvPr/>
        </p:nvSpPr>
        <p:spPr>
          <a:xfrm>
            <a:off x="164306" y="5997557"/>
            <a:ext cx="416719" cy="133350"/>
          </a:xfrm>
          <a:prstGeom prst="rect">
            <a:avLst/>
          </a:prstGeom>
          <a:noFill/>
        </p:spPr>
        <p:txBody>
          <a:bodyPr wrap="square" lIns="28575" rIns="28575" tIns="9525" bIns="9525" anchor="ctr">
            <a:spAutoFit/>
          </a:bodyPr>
          <a:lstStyle/>
          <a:p>
            <a:pPr algn="r"/>
            <a:r>
              <a:rPr sz="1100" b="0">
                <a:solidFill>
                  <a:srgbClr val="6C7A89"/>
                </a:solidFill>
                <a:latin typeface="Calibri"/>
              </a:rPr>
              <a:t>-4.7%</a:t>
            </a:r>
          </a:p>
        </p:txBody>
      </p:sp>
      <p:cxnSp>
        <p:nvCxnSpPr>
          <p:cNvPr id="100" name="Connector 99"/>
          <p:cNvCxnSpPr/>
          <p:nvPr/>
        </p:nvCxnSpPr>
        <p:spPr>
          <a:xfrm>
            <a:off x="619125" y="5193116"/>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101" name="Rectangle 100"/>
          <p:cNvSpPr/>
          <p:nvPr/>
        </p:nvSpPr>
        <p:spPr>
          <a:xfrm>
            <a:off x="1565275" y="5193116"/>
            <a:ext cx="457200" cy="380494"/>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FMI Data Label"/>
          <p:cNvSpPr txBox="1"/>
          <p:nvPr/>
        </p:nvSpPr>
        <p:spPr>
          <a:xfrm>
            <a:off x="619125" y="5583135"/>
            <a:ext cx="234950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103" name="Rectangle 102"/>
          <p:cNvSpPr/>
          <p:nvPr/>
        </p:nvSpPr>
        <p:spPr>
          <a:xfrm>
            <a:off x="3914775" y="4437287"/>
            <a:ext cx="457200" cy="755829"/>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FMI Data Label"/>
          <p:cNvSpPr txBox="1"/>
          <p:nvPr/>
        </p:nvSpPr>
        <p:spPr>
          <a:xfrm>
            <a:off x="2968625" y="4294412"/>
            <a:ext cx="234950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105" name="Rectangle 104"/>
          <p:cNvSpPr/>
          <p:nvPr/>
        </p:nvSpPr>
        <p:spPr>
          <a:xfrm>
            <a:off x="6264275" y="5030210"/>
            <a:ext cx="457200" cy="162906"/>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FMI Data Label"/>
          <p:cNvSpPr txBox="1"/>
          <p:nvPr/>
        </p:nvSpPr>
        <p:spPr>
          <a:xfrm>
            <a:off x="5318125" y="4887335"/>
            <a:ext cx="234950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107" name="TextBox 106"/>
          <p:cNvSpPr txBox="1"/>
          <p:nvPr/>
        </p:nvSpPr>
        <p:spPr>
          <a:xfrm>
            <a:off x="619125" y="6242060"/>
            <a:ext cx="2349500" cy="247650"/>
          </a:xfrm>
          <a:prstGeom prst="rect">
            <a:avLst/>
          </a:prstGeom>
          <a:noFill/>
        </p:spPr>
        <p:txBody>
          <a:bodyPr wrap="square" lIns="28575" rIns="28575" tIns="9525" bIns="9525">
            <a:spAutoFit/>
          </a:bodyPr>
          <a:lstStyle/>
          <a:p>
            <a:pPr algn="ctr"/>
            <a:r>
              <a:rPr sz="1100" b="0">
                <a:solidFill>
                  <a:srgbClr val="2E2E2E"/>
                </a:solidFill>
                <a:latin typeface="Calibri"/>
              </a:rPr>
              <a:t>U.S.</a:t>
            </a:r>
          </a:p>
        </p:txBody>
      </p:sp>
      <p:sp>
        <p:nvSpPr>
          <p:cNvPr id="108" name="TextBox 107"/>
          <p:cNvSpPr txBox="1"/>
          <p:nvPr/>
        </p:nvSpPr>
        <p:spPr>
          <a:xfrm>
            <a:off x="2968625" y="6242060"/>
            <a:ext cx="2349500" cy="247650"/>
          </a:xfrm>
          <a:prstGeom prst="rect">
            <a:avLst/>
          </a:prstGeom>
          <a:noFill/>
        </p:spPr>
        <p:txBody>
          <a:bodyPr wrap="square" lIns="28575" rIns="28575" tIns="9525" bIns="9525">
            <a:spAutoFit/>
          </a:bodyPr>
          <a:lstStyle/>
          <a:p>
            <a:pPr algn="ctr"/>
            <a:r>
              <a:rPr sz="1100" b="0">
                <a:solidFill>
                  <a:srgbClr val="2E2E2E"/>
                </a:solidFill>
                <a:latin typeface="Calibri"/>
              </a:rPr>
              <a:t>Canada</a:t>
            </a:r>
          </a:p>
        </p:txBody>
      </p:sp>
      <p:sp>
        <p:nvSpPr>
          <p:cNvPr id="109" name="TextBox 108"/>
          <p:cNvSpPr txBox="1"/>
          <p:nvPr/>
        </p:nvSpPr>
        <p:spPr>
          <a:xfrm>
            <a:off x="5318125" y="6242060"/>
            <a:ext cx="2349500" cy="247650"/>
          </a:xfrm>
          <a:prstGeom prst="rect">
            <a:avLst/>
          </a:prstGeom>
          <a:noFill/>
        </p:spPr>
        <p:txBody>
          <a:bodyPr wrap="square" lIns="28575" rIns="28575" tIns="9525" bIns="9525">
            <a:spAutoFit/>
          </a:bodyPr>
          <a:lstStyle/>
          <a:p>
            <a:pPr algn="ctr"/>
            <a:r>
              <a:rPr sz="1100" b="0">
                <a:solidFill>
                  <a:srgbClr val="2E2E2E"/>
                </a:solidFill>
                <a:latin typeface="Calibri"/>
              </a:rPr>
              <a:t>Mexico</a:t>
            </a:r>
          </a:p>
        </p:txBody>
      </p:sp>
      <p:sp>
        <p:nvSpPr>
          <p:cNvPr id="110" name="Rounded Rectangle 109"/>
          <p:cNvSpPr/>
          <p:nvPr/>
        </p:nvSpPr>
        <p:spPr>
          <a:xfrm>
            <a:off x="7915275" y="1052895"/>
            <a:ext cx="4133850" cy="5503490"/>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112" name="Rectangle 111"/>
          <p:cNvSpPr/>
          <p:nvPr/>
        </p:nvSpPr>
        <p:spPr>
          <a:xfrm>
            <a:off x="8048625" y="137674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14" name="TextBox 1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15" name="Picture 114" descr="lock.png"/>
          <p:cNvPicPr>
            <a:picLocks noChangeAspect="1"/>
          </p:cNvPicPr>
          <p:nvPr/>
        </p:nvPicPr>
        <p:blipFill>
          <a:blip r:embed="rId4"/>
          <a:stretch>
            <a:fillRect/>
          </a:stretch>
        </p:blipFill>
        <p:spPr>
          <a:xfrm>
            <a:off x="1031025" y="1567611"/>
            <a:ext cx="128699" cy="187198"/>
          </a:xfrm>
          <a:prstGeom prst="rect">
            <a:avLst/>
          </a:prstGeom>
        </p:spPr>
      </p:pic>
      <p:pic>
        <p:nvPicPr>
          <p:cNvPr id="116" name="Picture 115" descr="lock.png"/>
          <p:cNvPicPr>
            <a:picLocks noChangeAspect="1"/>
          </p:cNvPicPr>
          <p:nvPr/>
        </p:nvPicPr>
        <p:blipFill>
          <a:blip r:embed="rId4"/>
          <a:stretch>
            <a:fillRect/>
          </a:stretch>
        </p:blipFill>
        <p:spPr>
          <a:xfrm>
            <a:off x="1907325" y="1463749"/>
            <a:ext cx="128699" cy="187198"/>
          </a:xfrm>
          <a:prstGeom prst="rect">
            <a:avLst/>
          </a:prstGeom>
        </p:spPr>
      </p:pic>
      <p:pic>
        <p:nvPicPr>
          <p:cNvPr id="117" name="Picture 116" descr="lock.png"/>
          <p:cNvPicPr>
            <a:picLocks noChangeAspect="1"/>
          </p:cNvPicPr>
          <p:nvPr/>
        </p:nvPicPr>
        <p:blipFill>
          <a:blip r:embed="rId4"/>
          <a:stretch>
            <a:fillRect/>
          </a:stretch>
        </p:blipFill>
        <p:spPr>
          <a:xfrm>
            <a:off x="2783625" y="1585620"/>
            <a:ext cx="128699" cy="187198"/>
          </a:xfrm>
          <a:prstGeom prst="rect">
            <a:avLst/>
          </a:prstGeom>
        </p:spPr>
      </p:pic>
      <p:pic>
        <p:nvPicPr>
          <p:cNvPr id="118" name="Picture 117" descr="lock.png"/>
          <p:cNvPicPr>
            <a:picLocks noChangeAspect="1"/>
          </p:cNvPicPr>
          <p:nvPr/>
        </p:nvPicPr>
        <p:blipFill>
          <a:blip r:embed="rId4"/>
          <a:stretch>
            <a:fillRect/>
          </a:stretch>
        </p:blipFill>
        <p:spPr>
          <a:xfrm>
            <a:off x="3659925" y="1918136"/>
            <a:ext cx="128699" cy="187198"/>
          </a:xfrm>
          <a:prstGeom prst="rect">
            <a:avLst/>
          </a:prstGeom>
        </p:spPr>
      </p:pic>
      <p:pic>
        <p:nvPicPr>
          <p:cNvPr id="119" name="Picture 118" descr="lock.png"/>
          <p:cNvPicPr>
            <a:picLocks noChangeAspect="1"/>
          </p:cNvPicPr>
          <p:nvPr/>
        </p:nvPicPr>
        <p:blipFill>
          <a:blip r:embed="rId4"/>
          <a:stretch>
            <a:fillRect/>
          </a:stretch>
        </p:blipFill>
        <p:spPr>
          <a:xfrm>
            <a:off x="4536225" y="2469160"/>
            <a:ext cx="128699" cy="187198"/>
          </a:xfrm>
          <a:prstGeom prst="rect">
            <a:avLst/>
          </a:prstGeom>
        </p:spPr>
      </p:pic>
      <p:pic>
        <p:nvPicPr>
          <p:cNvPr id="120" name="Picture 119" descr="lock.png"/>
          <p:cNvPicPr>
            <a:picLocks noChangeAspect="1"/>
          </p:cNvPicPr>
          <p:nvPr/>
        </p:nvPicPr>
        <p:blipFill>
          <a:blip r:embed="rId4"/>
          <a:stretch>
            <a:fillRect/>
          </a:stretch>
        </p:blipFill>
        <p:spPr>
          <a:xfrm>
            <a:off x="5412525" y="1478383"/>
            <a:ext cx="128699" cy="187198"/>
          </a:xfrm>
          <a:prstGeom prst="rect">
            <a:avLst/>
          </a:prstGeom>
        </p:spPr>
      </p:pic>
      <p:pic>
        <p:nvPicPr>
          <p:cNvPr id="121" name="Picture 120" descr="lock.png"/>
          <p:cNvPicPr>
            <a:picLocks noChangeAspect="1"/>
          </p:cNvPicPr>
          <p:nvPr/>
        </p:nvPicPr>
        <p:blipFill>
          <a:blip r:embed="rId4"/>
          <a:stretch>
            <a:fillRect/>
          </a:stretch>
        </p:blipFill>
        <p:spPr>
          <a:xfrm>
            <a:off x="6288825" y="2430588"/>
            <a:ext cx="128699" cy="187198"/>
          </a:xfrm>
          <a:prstGeom prst="rect">
            <a:avLst/>
          </a:prstGeom>
        </p:spPr>
      </p:pic>
      <p:pic>
        <p:nvPicPr>
          <p:cNvPr id="122" name="Picture 121" descr="lock.png"/>
          <p:cNvPicPr>
            <a:picLocks noChangeAspect="1"/>
          </p:cNvPicPr>
          <p:nvPr/>
        </p:nvPicPr>
        <p:blipFill>
          <a:blip r:embed="rId4"/>
          <a:stretch>
            <a:fillRect/>
          </a:stretch>
        </p:blipFill>
        <p:spPr>
          <a:xfrm>
            <a:off x="7165125" y="1726810"/>
            <a:ext cx="128699" cy="187198"/>
          </a:xfrm>
          <a:prstGeom prst="rect">
            <a:avLst/>
          </a:prstGeom>
        </p:spPr>
      </p:pic>
      <p:pic>
        <p:nvPicPr>
          <p:cNvPr id="123" name="Picture 122" descr="lock.png"/>
          <p:cNvPicPr>
            <a:picLocks noChangeAspect="1"/>
          </p:cNvPicPr>
          <p:nvPr/>
        </p:nvPicPr>
        <p:blipFill>
          <a:blip r:embed="rId4"/>
          <a:stretch>
            <a:fillRect/>
          </a:stretch>
        </p:blipFill>
        <p:spPr>
          <a:xfrm>
            <a:off x="1729525" y="5556211"/>
            <a:ext cx="128699" cy="187198"/>
          </a:xfrm>
          <a:prstGeom prst="rect">
            <a:avLst/>
          </a:prstGeom>
        </p:spPr>
      </p:pic>
      <p:pic>
        <p:nvPicPr>
          <p:cNvPr id="124" name="Picture 123" descr="lock.png"/>
          <p:cNvPicPr>
            <a:picLocks noChangeAspect="1"/>
          </p:cNvPicPr>
          <p:nvPr/>
        </p:nvPicPr>
        <p:blipFill>
          <a:blip r:embed="rId4"/>
          <a:stretch>
            <a:fillRect/>
          </a:stretch>
        </p:blipFill>
        <p:spPr>
          <a:xfrm>
            <a:off x="4079025" y="4267488"/>
            <a:ext cx="128699" cy="187198"/>
          </a:xfrm>
          <a:prstGeom prst="rect">
            <a:avLst/>
          </a:prstGeom>
        </p:spPr>
      </p:pic>
      <p:pic>
        <p:nvPicPr>
          <p:cNvPr id="125" name="Picture 124" descr="lock.png"/>
          <p:cNvPicPr>
            <a:picLocks noChangeAspect="1"/>
          </p:cNvPicPr>
          <p:nvPr/>
        </p:nvPicPr>
        <p:blipFill>
          <a:blip r:embed="rId4"/>
          <a:stretch>
            <a:fillRect/>
          </a:stretch>
        </p:blipFill>
        <p:spPr>
          <a:xfrm>
            <a:off x="6428525" y="4860411"/>
            <a:ext cx="128699" cy="187198"/>
          </a:xfrm>
          <a:prstGeom prst="rect">
            <a:avLst/>
          </a:prstGeom>
        </p:spPr>
      </p:pic>
      <p:sp>
        <p:nvSpPr>
          <p:cNvPr id="126" name="TextBox 125"/>
          <p:cNvSpPr txBox="1"/>
          <p:nvPr/>
        </p:nvSpPr>
        <p:spPr>
          <a:xfrm>
            <a:off x="8048625" y="1471995"/>
            <a:ext cx="3807891" cy="194310"/>
          </a:xfrm>
          <a:prstGeom prst="rect">
            <a:avLst/>
          </a:prstGeom>
          <a:noFill/>
        </p:spPr>
        <p:txBody>
          <a:bodyPr wrap="none" lIns="0" rIns="0" tIns="0" bIns="0">
            <a:spAutoFit/>
          </a:bodyPr>
          <a:lstStyle/>
          <a:p>
            <a:r>
              <a:rPr sz="1150" b="0">
                <a:solidFill>
                  <a:srgbClr val="2E2E2E"/>
                </a:solidFill>
                <a:latin typeface="Calibri"/>
              </a:rPr>
              <a:t>Polyurethane (PU) waterproof coatings segment is expected to</a:t>
            </a:r>
          </a:p>
        </p:txBody>
      </p:sp>
      <p:sp>
        <p:nvSpPr>
          <p:cNvPr id="127" name="TextBox 126"/>
          <p:cNvSpPr txBox="1"/>
          <p:nvPr/>
        </p:nvSpPr>
        <p:spPr>
          <a:xfrm>
            <a:off x="8048625" y="1647255"/>
            <a:ext cx="2627225" cy="194310"/>
          </a:xfrm>
          <a:prstGeom prst="rect">
            <a:avLst/>
          </a:prstGeom>
          <a:noFill/>
        </p:spPr>
        <p:txBody>
          <a:bodyPr wrap="none" lIns="0" rIns="0" tIns="0" bIns="0">
            <a:spAutoFit/>
          </a:bodyPr>
          <a:lstStyle/>
          <a:p>
            <a:r>
              <a:rPr sz="1150" b="0">
                <a:solidFill>
                  <a:srgbClr val="2E2E2E"/>
                </a:solidFill>
                <a:latin typeface="Calibri"/>
              </a:rPr>
              <a:t>command the highest average price of US$</a:t>
            </a:r>
          </a:p>
        </p:txBody>
      </p:sp>
      <p:pic>
        <p:nvPicPr>
          <p:cNvPr id="128" name="Picture 127" descr="lock.png"/>
          <p:cNvPicPr>
            <a:picLocks noChangeAspect="1"/>
          </p:cNvPicPr>
          <p:nvPr/>
        </p:nvPicPr>
        <p:blipFill>
          <a:blip r:embed="rId4"/>
          <a:stretch>
            <a:fillRect/>
          </a:stretch>
        </p:blipFill>
        <p:spPr>
          <a:xfrm>
            <a:off x="10625004" y="1637031"/>
            <a:ext cx="134549" cy="195707"/>
          </a:xfrm>
          <a:prstGeom prst="rect">
            <a:avLst/>
          </a:prstGeom>
        </p:spPr>
      </p:pic>
      <p:sp>
        <p:nvSpPr>
          <p:cNvPr id="129" name="TextBox 128"/>
          <p:cNvSpPr txBox="1"/>
          <p:nvPr/>
        </p:nvSpPr>
        <p:spPr>
          <a:xfrm>
            <a:off x="10800113" y="1647255"/>
            <a:ext cx="706611" cy="194310"/>
          </a:xfrm>
          <a:prstGeom prst="rect">
            <a:avLst/>
          </a:prstGeom>
          <a:noFill/>
        </p:spPr>
        <p:txBody>
          <a:bodyPr wrap="none" lIns="0" rIns="0" tIns="0" bIns="0">
            <a:spAutoFit/>
          </a:bodyPr>
          <a:lstStyle/>
          <a:p>
            <a:r>
              <a:rPr sz="1150" b="0">
                <a:solidFill>
                  <a:srgbClr val="2E2E2E"/>
                </a:solidFill>
                <a:latin typeface="Calibri"/>
              </a:rPr>
              <a:t>per Unit in</a:t>
            </a:r>
          </a:p>
        </p:txBody>
      </p:sp>
      <p:sp>
        <p:nvSpPr>
          <p:cNvPr id="130" name="TextBox 129"/>
          <p:cNvSpPr txBox="1"/>
          <p:nvPr/>
        </p:nvSpPr>
        <p:spPr>
          <a:xfrm>
            <a:off x="8048625" y="1822515"/>
            <a:ext cx="3809563" cy="194310"/>
          </a:xfrm>
          <a:prstGeom prst="rect">
            <a:avLst/>
          </a:prstGeom>
          <a:noFill/>
        </p:spPr>
        <p:txBody>
          <a:bodyPr wrap="none" lIns="0" rIns="0" tIns="0" bIns="0">
            <a:spAutoFit/>
          </a:bodyPr>
          <a:lstStyle/>
          <a:p>
            <a:r>
              <a:rPr sz="1150" b="0">
                <a:solidFill>
                  <a:srgbClr val="2E2E2E"/>
                </a:solidFill>
                <a:latin typeface="Calibri"/>
              </a:rPr>
              <a:t>2036. Average selling price of waterproof coatings is estimated</a:t>
            </a:r>
          </a:p>
        </p:txBody>
      </p:sp>
      <p:sp>
        <p:nvSpPr>
          <p:cNvPr id="131" name="TextBox 130"/>
          <p:cNvSpPr txBox="1"/>
          <p:nvPr/>
        </p:nvSpPr>
        <p:spPr>
          <a:xfrm>
            <a:off x="8048625" y="1997775"/>
            <a:ext cx="463289" cy="194310"/>
          </a:xfrm>
          <a:prstGeom prst="rect">
            <a:avLst/>
          </a:prstGeom>
          <a:noFill/>
        </p:spPr>
        <p:txBody>
          <a:bodyPr wrap="none" lIns="0" rIns="0" tIns="0" bIns="0">
            <a:spAutoFit/>
          </a:bodyPr>
          <a:lstStyle/>
          <a:p>
            <a:r>
              <a:rPr sz="1150" b="0">
                <a:solidFill>
                  <a:srgbClr val="2E2E2E"/>
                </a:solidFill>
                <a:latin typeface="Calibri"/>
              </a:rPr>
              <a:t>at US$</a:t>
            </a:r>
          </a:p>
        </p:txBody>
      </p:sp>
      <p:pic>
        <p:nvPicPr>
          <p:cNvPr id="132" name="Picture 131" descr="lock.png"/>
          <p:cNvPicPr>
            <a:picLocks noChangeAspect="1"/>
          </p:cNvPicPr>
          <p:nvPr/>
        </p:nvPicPr>
        <p:blipFill>
          <a:blip r:embed="rId4"/>
          <a:stretch>
            <a:fillRect/>
          </a:stretch>
        </p:blipFill>
        <p:spPr>
          <a:xfrm>
            <a:off x="8461068" y="1987551"/>
            <a:ext cx="134549" cy="195707"/>
          </a:xfrm>
          <a:prstGeom prst="rect">
            <a:avLst/>
          </a:prstGeom>
        </p:spPr>
      </p:pic>
      <p:sp>
        <p:nvSpPr>
          <p:cNvPr id="133" name="TextBox 132"/>
          <p:cNvSpPr txBox="1"/>
          <p:nvPr/>
        </p:nvSpPr>
        <p:spPr>
          <a:xfrm>
            <a:off x="8636177" y="1997775"/>
            <a:ext cx="3138115" cy="194310"/>
          </a:xfrm>
          <a:prstGeom prst="rect">
            <a:avLst/>
          </a:prstGeom>
          <a:noFill/>
        </p:spPr>
        <p:txBody>
          <a:bodyPr wrap="none" lIns="0" rIns="0" tIns="0" bIns="0">
            <a:spAutoFit/>
          </a:bodyPr>
          <a:lstStyle/>
          <a:p>
            <a:r>
              <a:rPr sz="1150" b="0">
                <a:solidFill>
                  <a:srgbClr val="2E2E2E"/>
                </a:solidFill>
                <a:latin typeface="Calibri"/>
              </a:rPr>
              <a:t>per Unit in 2025 and is projected to increase to US$</a:t>
            </a:r>
          </a:p>
        </p:txBody>
      </p:sp>
      <p:pic>
        <p:nvPicPr>
          <p:cNvPr id="134" name="Picture 133" descr="lock.png"/>
          <p:cNvPicPr>
            <a:picLocks noChangeAspect="1"/>
          </p:cNvPicPr>
          <p:nvPr/>
        </p:nvPicPr>
        <p:blipFill>
          <a:blip r:embed="rId4"/>
          <a:stretch>
            <a:fillRect/>
          </a:stretch>
        </p:blipFill>
        <p:spPr>
          <a:xfrm>
            <a:off x="8034545" y="2162811"/>
            <a:ext cx="134549" cy="195707"/>
          </a:xfrm>
          <a:prstGeom prst="rect">
            <a:avLst/>
          </a:prstGeom>
        </p:spPr>
      </p:pic>
      <p:sp>
        <p:nvSpPr>
          <p:cNvPr id="135" name="TextBox 134"/>
          <p:cNvSpPr txBox="1"/>
          <p:nvPr/>
        </p:nvSpPr>
        <p:spPr>
          <a:xfrm>
            <a:off x="8209654" y="2173035"/>
            <a:ext cx="1105681" cy="194310"/>
          </a:xfrm>
          <a:prstGeom prst="rect">
            <a:avLst/>
          </a:prstGeom>
          <a:noFill/>
        </p:spPr>
        <p:txBody>
          <a:bodyPr wrap="none" lIns="0" rIns="0" tIns="0" bIns="0">
            <a:spAutoFit/>
          </a:bodyPr>
          <a:lstStyle/>
          <a:p>
            <a:r>
              <a:rPr sz="1150" b="0">
                <a:solidFill>
                  <a:srgbClr val="2E2E2E"/>
                </a:solidFill>
                <a:latin typeface="Calibri"/>
              </a:rPr>
              <a:t>per Unit by 2036.</a:t>
            </a:r>
          </a:p>
        </p:txBody>
      </p:sp>
      <p:sp>
        <p:nvSpPr>
          <p:cNvPr id="136" name="TextBox 135"/>
          <p:cNvSpPr txBox="1"/>
          <p:nvPr/>
        </p:nvSpPr>
        <p:spPr>
          <a:xfrm>
            <a:off x="8048625" y="2400873"/>
            <a:ext cx="3596518" cy="194310"/>
          </a:xfrm>
          <a:prstGeom prst="rect">
            <a:avLst/>
          </a:prstGeom>
          <a:noFill/>
        </p:spPr>
        <p:txBody>
          <a:bodyPr wrap="none" lIns="0" rIns="0" tIns="0" bIns="0">
            <a:spAutoFit/>
          </a:bodyPr>
          <a:lstStyle/>
          <a:p>
            <a:r>
              <a:rPr sz="1150" b="0">
                <a:solidFill>
                  <a:srgbClr val="2E2E2E"/>
                </a:solidFill>
                <a:latin typeface="Calibri"/>
              </a:rPr>
              <a:t>Canada is the highest-priced country, while U.S. is the most</a:t>
            </a:r>
          </a:p>
        </p:txBody>
      </p:sp>
      <p:sp>
        <p:nvSpPr>
          <p:cNvPr id="137" name="TextBox 136"/>
          <p:cNvSpPr txBox="1"/>
          <p:nvPr/>
        </p:nvSpPr>
        <p:spPr>
          <a:xfrm>
            <a:off x="8048625" y="2576133"/>
            <a:ext cx="3714898" cy="194310"/>
          </a:xfrm>
          <a:prstGeom prst="rect">
            <a:avLst/>
          </a:prstGeom>
          <a:noFill/>
        </p:spPr>
        <p:txBody>
          <a:bodyPr wrap="none" lIns="0" rIns="0" tIns="0" bIns="0">
            <a:spAutoFit/>
          </a:bodyPr>
          <a:lstStyle/>
          <a:p>
            <a:r>
              <a:rPr sz="1150" b="0">
                <a:solidFill>
                  <a:srgbClr val="2E2E2E"/>
                </a:solidFill>
                <a:latin typeface="Calibri"/>
              </a:rPr>
              <a:t>price-competitive market. Against the North America price of</a:t>
            </a:r>
          </a:p>
        </p:txBody>
      </p:sp>
      <p:pic>
        <p:nvPicPr>
          <p:cNvPr id="138" name="Picture 137" descr="lock.png"/>
          <p:cNvPicPr>
            <a:picLocks noChangeAspect="1"/>
          </p:cNvPicPr>
          <p:nvPr/>
        </p:nvPicPr>
        <p:blipFill>
          <a:blip r:embed="rId4"/>
          <a:stretch>
            <a:fillRect/>
          </a:stretch>
        </p:blipFill>
        <p:spPr>
          <a:xfrm>
            <a:off x="8034545" y="2741169"/>
            <a:ext cx="134549" cy="195707"/>
          </a:xfrm>
          <a:prstGeom prst="rect">
            <a:avLst/>
          </a:prstGeom>
        </p:spPr>
      </p:pic>
      <p:sp>
        <p:nvSpPr>
          <p:cNvPr id="139" name="TextBox 138"/>
          <p:cNvSpPr txBox="1"/>
          <p:nvPr/>
        </p:nvSpPr>
        <p:spPr>
          <a:xfrm>
            <a:off x="8209654" y="2751393"/>
            <a:ext cx="3195451" cy="194310"/>
          </a:xfrm>
          <a:prstGeom prst="rect">
            <a:avLst/>
          </a:prstGeom>
          <a:noFill/>
        </p:spPr>
        <p:txBody>
          <a:bodyPr wrap="none" lIns="0" rIns="0" tIns="0" bIns="0">
            <a:spAutoFit/>
          </a:bodyPr>
          <a:lstStyle/>
          <a:p>
            <a:r>
              <a:rPr sz="1150" b="0">
                <a:solidFill>
                  <a:srgbClr val="2E2E2E"/>
                </a:solidFill>
                <a:latin typeface="Calibri"/>
              </a:rPr>
              <a:t>US$/Units, 2 of 3 countries price above and 1 below.</a:t>
            </a:r>
          </a:p>
        </p:txBody>
      </p:sp>
      <p:sp>
        <p:nvSpPr>
          <p:cNvPr id="140" name="TextBox 139"/>
          <p:cNvSpPr txBox="1"/>
          <p:nvPr/>
        </p:nvSpPr>
        <p:spPr>
          <a:xfrm>
            <a:off x="8048625" y="2979230"/>
            <a:ext cx="1677330" cy="194310"/>
          </a:xfrm>
          <a:prstGeom prst="rect">
            <a:avLst/>
          </a:prstGeom>
          <a:noFill/>
        </p:spPr>
        <p:txBody>
          <a:bodyPr wrap="none" lIns="0" rIns="0" tIns="0" bIns="0">
            <a:spAutoFit/>
          </a:bodyPr>
          <a:lstStyle/>
          <a:p>
            <a:r>
              <a:rPr sz="1150" b="0">
                <a:solidFill>
                  <a:srgbClr val="2E2E2E"/>
                </a:solidFill>
                <a:latin typeface="Calibri"/>
              </a:rPr>
              <a:t>'Canada' is the dearest at +</a:t>
            </a:r>
          </a:p>
        </p:txBody>
      </p:sp>
      <p:pic>
        <p:nvPicPr>
          <p:cNvPr id="141" name="Picture 140" descr="lock.png"/>
          <p:cNvPicPr>
            <a:picLocks noChangeAspect="1"/>
          </p:cNvPicPr>
          <p:nvPr/>
        </p:nvPicPr>
        <p:blipFill>
          <a:blip r:embed="rId4"/>
          <a:stretch>
            <a:fillRect/>
          </a:stretch>
        </p:blipFill>
        <p:spPr>
          <a:xfrm>
            <a:off x="9675109" y="2969007"/>
            <a:ext cx="134549" cy="195707"/>
          </a:xfrm>
          <a:prstGeom prst="rect">
            <a:avLst/>
          </a:prstGeom>
        </p:spPr>
      </p:pic>
      <p:sp>
        <p:nvSpPr>
          <p:cNvPr id="142" name="TextBox 141"/>
          <p:cNvSpPr txBox="1"/>
          <p:nvPr/>
        </p:nvSpPr>
        <p:spPr>
          <a:xfrm>
            <a:off x="9850218" y="2979230"/>
            <a:ext cx="1961728" cy="194310"/>
          </a:xfrm>
          <a:prstGeom prst="rect">
            <a:avLst/>
          </a:prstGeom>
          <a:noFill/>
        </p:spPr>
        <p:txBody>
          <a:bodyPr wrap="none" lIns="0" rIns="0" tIns="0" bIns="0">
            <a:spAutoFit/>
          </a:bodyPr>
          <a:lstStyle/>
          <a:p>
            <a:r>
              <a:rPr sz="1150" b="0">
                <a:solidFill>
                  <a:srgbClr val="2E2E2E"/>
                </a:solidFill>
                <a:latin typeface="Calibri"/>
              </a:rPr>
              <a:t>versus North America, 'U.S.' the</a:t>
            </a:r>
          </a:p>
        </p:txBody>
      </p:sp>
      <p:sp>
        <p:nvSpPr>
          <p:cNvPr id="143" name="TextBox 142"/>
          <p:cNvSpPr txBox="1"/>
          <p:nvPr/>
        </p:nvSpPr>
        <p:spPr>
          <a:xfrm>
            <a:off x="8048625" y="3154490"/>
            <a:ext cx="842962" cy="194310"/>
          </a:xfrm>
          <a:prstGeom prst="rect">
            <a:avLst/>
          </a:prstGeom>
          <a:noFill/>
        </p:spPr>
        <p:txBody>
          <a:bodyPr wrap="none" lIns="0" rIns="0" tIns="0" bIns="0">
            <a:spAutoFit/>
          </a:bodyPr>
          <a:lstStyle/>
          <a:p>
            <a:r>
              <a:rPr sz="1150" b="0">
                <a:solidFill>
                  <a:srgbClr val="2E2E2E"/>
                </a:solidFill>
                <a:latin typeface="Calibri"/>
              </a:rPr>
              <a:t>cheapest at -</a:t>
            </a:r>
          </a:p>
        </p:txBody>
      </p:sp>
      <p:pic>
        <p:nvPicPr>
          <p:cNvPr id="144" name="Picture 143" descr="lock.png"/>
          <p:cNvPicPr>
            <a:picLocks noChangeAspect="1"/>
          </p:cNvPicPr>
          <p:nvPr/>
        </p:nvPicPr>
        <p:blipFill>
          <a:blip r:embed="rId4"/>
          <a:stretch>
            <a:fillRect/>
          </a:stretch>
        </p:blipFill>
        <p:spPr>
          <a:xfrm>
            <a:off x="8840741" y="3144267"/>
            <a:ext cx="134549" cy="195707"/>
          </a:xfrm>
          <a:prstGeom prst="rect">
            <a:avLst/>
          </a:prstGeom>
        </p:spPr>
      </p:pic>
      <p:sp>
        <p:nvSpPr>
          <p:cNvPr id="145" name="TextBox 144"/>
          <p:cNvSpPr txBox="1"/>
          <p:nvPr/>
        </p:nvSpPr>
        <p:spPr>
          <a:xfrm>
            <a:off x="9015850" y="3154490"/>
            <a:ext cx="2728205" cy="194310"/>
          </a:xfrm>
          <a:prstGeom prst="rect">
            <a:avLst/>
          </a:prstGeom>
          <a:noFill/>
        </p:spPr>
        <p:txBody>
          <a:bodyPr wrap="none" lIns="0" rIns="0" tIns="0" bIns="0">
            <a:spAutoFit/>
          </a:bodyPr>
          <a:lstStyle/>
          <a:p>
            <a:r>
              <a:rPr sz="1150" b="0">
                <a:solidFill>
                  <a:srgbClr val="2E2E2E"/>
                </a:solidFill>
                <a:latin typeface="Calibri"/>
              </a:rPr>
              <a:t>pointing to premiumisation headroom in the</a:t>
            </a:r>
          </a:p>
        </p:txBody>
      </p:sp>
      <p:sp>
        <p:nvSpPr>
          <p:cNvPr id="146" name="TextBox 145"/>
          <p:cNvSpPr txBox="1"/>
          <p:nvPr/>
        </p:nvSpPr>
        <p:spPr>
          <a:xfrm>
            <a:off x="8048625" y="3329750"/>
            <a:ext cx="1458540" cy="194310"/>
          </a:xfrm>
          <a:prstGeom prst="rect">
            <a:avLst/>
          </a:prstGeom>
          <a:noFill/>
        </p:spPr>
        <p:txBody>
          <a:bodyPr wrap="none" lIns="0" rIns="0" tIns="0" bIns="0">
            <a:spAutoFit/>
          </a:bodyPr>
          <a:lstStyle/>
          <a:p>
            <a:r>
              <a:rPr sz="1150" b="0">
                <a:solidFill>
                  <a:srgbClr val="2E2E2E"/>
                </a:solidFill>
                <a:latin typeface="Calibri"/>
              </a:rPr>
              <a:t>lower-priced countries.</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Waterproof Coatings Market Summary, By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North America market value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(US$ MN)</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(US$ Mn)</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0" name="Rounded Rectangle 19"/>
          <p:cNvSpPr/>
          <p:nvPr/>
        </p:nvSpPr>
        <p:spPr>
          <a:xfrm>
            <a:off x="7915275" y="1627887"/>
            <a:ext cx="4133850" cy="2955981"/>
          </a:xfrm>
          <a:prstGeom prst="roundRect">
            <a:avLst>
              <a:gd name="adj" fmla="val 25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2037462"/>
            <a:ext cx="3867150" cy="2470206"/>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E2E2E"/>
                </a:solidFill>
                <a:latin typeface="Calibri"/>
              </a:rPr>
              <a:t/>
            </a:r>
          </a:p>
          <a:p>
            <a:pPr algn="l">
              <a:lnSpc>
                <a:spcPct val="100000"/>
              </a:lnSpc>
              <a:spcBef>
                <a:spcPts val="0"/>
              </a:spcBef>
              <a:spcAft>
                <a:spcPts val="300"/>
              </a:spcAft>
            </a:pPr>
            <a:r>
              <a:rPr sz="1100" b="0">
                <a:solidFill>
                  <a:srgbClr val="2E2E2E"/>
                </a:solidFill>
                <a:latin typeface="Calibri"/>
              </a:rPr>
              <a:t/>
            </a:r>
          </a:p>
          <a:p>
            <a:pPr algn="l">
              <a:lnSpc>
                <a:spcPct val="100000"/>
              </a:lnSpc>
              <a:spcBef>
                <a:spcPts val="0"/>
              </a:spcBef>
              <a:spcAft>
                <a:spcPts val="300"/>
              </a:spcAft>
            </a:pPr>
            <a:r>
              <a:rPr sz="1100" b="0">
                <a:solidFill>
                  <a:srgbClr val="2E2E2E"/>
                </a:solidFill>
                <a:latin typeface="Calibri"/>
              </a:rPr>
              <a:t/>
            </a:r>
          </a:p>
        </p:txBody>
      </p:sp>
      <p:sp>
        <p:nvSpPr>
          <p:cNvPr id="24" name="Rounded Rectangle 23"/>
          <p:cNvSpPr/>
          <p:nvPr/>
        </p:nvSpPr>
        <p:spPr>
          <a:xfrm>
            <a:off x="7915275" y="4638629"/>
            <a:ext cx="4133850" cy="1917756"/>
          </a:xfrm>
          <a:prstGeom prst="roundRect">
            <a:avLst>
              <a:gd name="adj" fmla="val 397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724354"/>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6" name="Rectangle 25"/>
          <p:cNvSpPr/>
          <p:nvPr/>
        </p:nvSpPr>
        <p:spPr>
          <a:xfrm>
            <a:off x="8048625" y="4962479"/>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5048204"/>
            <a:ext cx="3867150" cy="1431981"/>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3848100" cy="186689"/>
          </a:xfrm>
          <a:prstGeom prst="rect">
            <a:avLst/>
          </a:prstGeom>
          <a:noFill/>
        </p:spPr>
        <p:txBody>
          <a:bodyPr wrap="none" lIns="0" rIns="0" tIns="0" bIns="0">
            <a:spAutoFit/>
          </a:bodyPr>
          <a:lstStyle/>
          <a:p>
            <a:r>
              <a:rPr sz="1100" b="0">
                <a:solidFill>
                  <a:srgbClr val="2E2E2E"/>
                </a:solidFill>
                <a:latin typeface="Calibri"/>
              </a:rPr>
              <a:t>Waterproof coatings market value in North America is expected to</a:t>
            </a:r>
          </a:p>
        </p:txBody>
      </p:sp>
      <p:sp>
        <p:nvSpPr>
          <p:cNvPr id="35" name="TextBox 34"/>
          <p:cNvSpPr txBox="1"/>
          <p:nvPr/>
        </p:nvSpPr>
        <p:spPr>
          <a:xfrm>
            <a:off x="8048625" y="2214627"/>
            <a:ext cx="550416" cy="186689"/>
          </a:xfrm>
          <a:prstGeom prst="rect">
            <a:avLst/>
          </a:prstGeom>
          <a:noFill/>
        </p:spPr>
        <p:txBody>
          <a:bodyPr wrap="none" lIns="0" rIns="0" tIns="0" bIns="0">
            <a:spAutoFit/>
          </a:bodyPr>
          <a:lstStyle/>
          <a:p>
            <a:r>
              <a:rPr sz="1100" b="0">
                <a:solidFill>
                  <a:srgbClr val="2E2E2E"/>
                </a:solidFill>
                <a:latin typeface="Calibri"/>
              </a:rPr>
              <a:t>increase</a:t>
            </a:r>
          </a:p>
        </p:txBody>
      </p:sp>
      <p:pic>
        <p:nvPicPr>
          <p:cNvPr id="36" name="Picture 35" descr="lock.png"/>
          <p:cNvPicPr>
            <a:picLocks noChangeAspect="1"/>
          </p:cNvPicPr>
          <p:nvPr/>
        </p:nvPicPr>
        <p:blipFill>
          <a:blip r:embed="rId6"/>
          <a:stretch>
            <a:fillRect/>
          </a:stretch>
        </p:blipFill>
        <p:spPr>
          <a:xfrm>
            <a:off x="8547092" y="2204848"/>
            <a:ext cx="128699" cy="187198"/>
          </a:xfrm>
          <a:prstGeom prst="rect">
            <a:avLst/>
          </a:prstGeom>
        </p:spPr>
      </p:pic>
      <p:sp>
        <p:nvSpPr>
          <p:cNvPr id="37" name="TextBox 36"/>
          <p:cNvSpPr txBox="1"/>
          <p:nvPr/>
        </p:nvSpPr>
        <p:spPr>
          <a:xfrm>
            <a:off x="8714588" y="2214627"/>
            <a:ext cx="2982069" cy="186689"/>
          </a:xfrm>
          <a:prstGeom prst="rect">
            <a:avLst/>
          </a:prstGeom>
          <a:noFill/>
        </p:spPr>
        <p:txBody>
          <a:bodyPr wrap="none" lIns="0" rIns="0" tIns="0" bIns="0">
            <a:spAutoFit/>
          </a:bodyPr>
          <a:lstStyle/>
          <a:p>
            <a:r>
              <a:rPr sz="1100" b="0">
                <a:solidFill>
                  <a:srgbClr val="2E2E2E"/>
                </a:solidFill>
                <a:latin typeface="Calibri"/>
              </a:rPr>
              <a:t>X between 2025 and 2036. In 2025, the waterproof</a:t>
            </a:r>
          </a:p>
        </p:txBody>
      </p:sp>
      <p:sp>
        <p:nvSpPr>
          <p:cNvPr id="38" name="TextBox 37"/>
          <p:cNvSpPr txBox="1"/>
          <p:nvPr/>
        </p:nvSpPr>
        <p:spPr>
          <a:xfrm>
            <a:off x="8048625" y="2382267"/>
            <a:ext cx="3055466" cy="186689"/>
          </a:xfrm>
          <a:prstGeom prst="rect">
            <a:avLst/>
          </a:prstGeom>
          <a:noFill/>
        </p:spPr>
        <p:txBody>
          <a:bodyPr wrap="none" lIns="0" rIns="0" tIns="0" bIns="0">
            <a:spAutoFit/>
          </a:bodyPr>
          <a:lstStyle/>
          <a:p>
            <a:r>
              <a:rPr sz="1100" b="0">
                <a:solidFill>
                  <a:srgbClr val="2E2E2E"/>
                </a:solidFill>
                <a:latin typeface="Calibri"/>
              </a:rPr>
              <a:t>coatings market in North America was valued at US$</a:t>
            </a:r>
          </a:p>
        </p:txBody>
      </p:sp>
      <p:pic>
        <p:nvPicPr>
          <p:cNvPr id="39" name="Picture 38" descr="lock.png"/>
          <p:cNvPicPr>
            <a:picLocks noChangeAspect="1"/>
          </p:cNvPicPr>
          <p:nvPr/>
        </p:nvPicPr>
        <p:blipFill>
          <a:blip r:embed="rId6"/>
          <a:stretch>
            <a:fillRect/>
          </a:stretch>
        </p:blipFill>
        <p:spPr>
          <a:xfrm>
            <a:off x="11052142" y="2372488"/>
            <a:ext cx="128699" cy="187198"/>
          </a:xfrm>
          <a:prstGeom prst="rect">
            <a:avLst/>
          </a:prstGeom>
        </p:spPr>
      </p:pic>
      <p:sp>
        <p:nvSpPr>
          <p:cNvPr id="40" name="TextBox 39"/>
          <p:cNvSpPr txBox="1"/>
          <p:nvPr/>
        </p:nvSpPr>
        <p:spPr>
          <a:xfrm>
            <a:off x="11219638" y="2382267"/>
            <a:ext cx="632817" cy="186689"/>
          </a:xfrm>
          <a:prstGeom prst="rect">
            <a:avLst/>
          </a:prstGeom>
          <a:noFill/>
        </p:spPr>
        <p:txBody>
          <a:bodyPr wrap="none" lIns="0" rIns="0" tIns="0" bIns="0">
            <a:spAutoFit/>
          </a:bodyPr>
          <a:lstStyle/>
          <a:p>
            <a:r>
              <a:rPr sz="1100" b="0">
                <a:solidFill>
                  <a:srgbClr val="2E2E2E"/>
                </a:solidFill>
                <a:latin typeface="Calibri"/>
              </a:rPr>
              <a:t>Mn and is</a:t>
            </a:r>
          </a:p>
        </p:txBody>
      </p:sp>
      <p:sp>
        <p:nvSpPr>
          <p:cNvPr id="41" name="TextBox 40"/>
          <p:cNvSpPr txBox="1"/>
          <p:nvPr/>
        </p:nvSpPr>
        <p:spPr>
          <a:xfrm>
            <a:off x="8048625" y="2549907"/>
            <a:ext cx="1737593" cy="186689"/>
          </a:xfrm>
          <a:prstGeom prst="rect">
            <a:avLst/>
          </a:prstGeom>
          <a:noFill/>
        </p:spPr>
        <p:txBody>
          <a:bodyPr wrap="none" lIns="0" rIns="0" tIns="0" bIns="0">
            <a:spAutoFit/>
          </a:bodyPr>
          <a:lstStyle/>
          <a:p>
            <a:r>
              <a:rPr sz="1100" b="0">
                <a:solidFill>
                  <a:srgbClr val="2E2E2E"/>
                </a:solidFill>
                <a:latin typeface="Calibri"/>
              </a:rPr>
              <a:t>estimated to account for US$</a:t>
            </a:r>
          </a:p>
        </p:txBody>
      </p:sp>
      <p:pic>
        <p:nvPicPr>
          <p:cNvPr id="42" name="Picture 41" descr="lock.png"/>
          <p:cNvPicPr>
            <a:picLocks noChangeAspect="1"/>
          </p:cNvPicPr>
          <p:nvPr/>
        </p:nvPicPr>
        <p:blipFill>
          <a:blip r:embed="rId6"/>
          <a:stretch>
            <a:fillRect/>
          </a:stretch>
        </p:blipFill>
        <p:spPr>
          <a:xfrm>
            <a:off x="9734269" y="2540128"/>
            <a:ext cx="128699" cy="187198"/>
          </a:xfrm>
          <a:prstGeom prst="rect">
            <a:avLst/>
          </a:prstGeom>
        </p:spPr>
      </p:pic>
      <p:sp>
        <p:nvSpPr>
          <p:cNvPr id="43" name="TextBox 42"/>
          <p:cNvSpPr txBox="1"/>
          <p:nvPr/>
        </p:nvSpPr>
        <p:spPr>
          <a:xfrm>
            <a:off x="9901765" y="2549907"/>
            <a:ext cx="1977156" cy="186689"/>
          </a:xfrm>
          <a:prstGeom prst="rect">
            <a:avLst/>
          </a:prstGeom>
          <a:noFill/>
        </p:spPr>
        <p:txBody>
          <a:bodyPr wrap="none" lIns="0" rIns="0" tIns="0" bIns="0">
            <a:spAutoFit/>
          </a:bodyPr>
          <a:lstStyle/>
          <a:p>
            <a:r>
              <a:rPr sz="1100" b="0">
                <a:solidFill>
                  <a:srgbClr val="2E2E2E"/>
                </a:solidFill>
                <a:latin typeface="Calibri"/>
              </a:rPr>
              <a:t>Mn by the end of 2026, reflecting</a:t>
            </a:r>
          </a:p>
        </p:txBody>
      </p:sp>
      <p:sp>
        <p:nvSpPr>
          <p:cNvPr id="44" name="TextBox 43"/>
          <p:cNvSpPr txBox="1"/>
          <p:nvPr/>
        </p:nvSpPr>
        <p:spPr>
          <a:xfrm>
            <a:off x="8048625" y="2717547"/>
            <a:ext cx="1322313" cy="186689"/>
          </a:xfrm>
          <a:prstGeom prst="rect">
            <a:avLst/>
          </a:prstGeom>
          <a:noFill/>
        </p:spPr>
        <p:txBody>
          <a:bodyPr wrap="none" lIns="0" rIns="0" tIns="0" bIns="0">
            <a:spAutoFit/>
          </a:bodyPr>
          <a:lstStyle/>
          <a:p>
            <a:r>
              <a:rPr sz="1100" b="0">
                <a:solidFill>
                  <a:srgbClr val="2E2E2E"/>
                </a:solidFill>
                <a:latin typeface="Calibri"/>
              </a:rPr>
              <a:t>a Y-o-Y growth rate of</a:t>
            </a:r>
          </a:p>
        </p:txBody>
      </p:sp>
      <p:pic>
        <p:nvPicPr>
          <p:cNvPr id="45" name="Picture 44" descr="lock.png"/>
          <p:cNvPicPr>
            <a:picLocks noChangeAspect="1"/>
          </p:cNvPicPr>
          <p:nvPr/>
        </p:nvPicPr>
        <p:blipFill>
          <a:blip r:embed="rId6"/>
          <a:stretch>
            <a:fillRect/>
          </a:stretch>
        </p:blipFill>
        <p:spPr>
          <a:xfrm>
            <a:off x="9318989" y="2707768"/>
            <a:ext cx="128699" cy="187198"/>
          </a:xfrm>
          <a:prstGeom prst="rect">
            <a:avLst/>
          </a:prstGeom>
        </p:spPr>
      </p:pic>
      <p:sp>
        <p:nvSpPr>
          <p:cNvPr id="46" name="TextBox 45"/>
          <p:cNvSpPr txBox="1"/>
          <p:nvPr/>
        </p:nvSpPr>
        <p:spPr>
          <a:xfrm>
            <a:off x="9486485" y="271754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7" name="TextBox 46"/>
          <p:cNvSpPr txBox="1"/>
          <p:nvPr/>
        </p:nvSpPr>
        <p:spPr>
          <a:xfrm>
            <a:off x="8048625" y="2935479"/>
            <a:ext cx="3491210" cy="186689"/>
          </a:xfrm>
          <a:prstGeom prst="rect">
            <a:avLst/>
          </a:prstGeom>
          <a:noFill/>
        </p:spPr>
        <p:txBody>
          <a:bodyPr wrap="none" lIns="0" rIns="0" tIns="0" bIns="0">
            <a:spAutoFit/>
          </a:bodyPr>
          <a:lstStyle/>
          <a:p>
            <a:r>
              <a:rPr sz="1100" b="0">
                <a:solidFill>
                  <a:srgbClr val="2E2E2E"/>
                </a:solidFill>
                <a:latin typeface="Calibri"/>
              </a:rPr>
              <a:t>The market in North America is expected to account for US$</a:t>
            </a:r>
          </a:p>
        </p:txBody>
      </p:sp>
      <p:pic>
        <p:nvPicPr>
          <p:cNvPr id="48" name="Picture 47" descr="lock.png"/>
          <p:cNvPicPr>
            <a:picLocks noChangeAspect="1"/>
          </p:cNvPicPr>
          <p:nvPr/>
        </p:nvPicPr>
        <p:blipFill>
          <a:blip r:embed="rId6"/>
          <a:stretch>
            <a:fillRect/>
          </a:stretch>
        </p:blipFill>
        <p:spPr>
          <a:xfrm>
            <a:off x="8035157" y="3093340"/>
            <a:ext cx="128699" cy="187198"/>
          </a:xfrm>
          <a:prstGeom prst="rect">
            <a:avLst/>
          </a:prstGeom>
        </p:spPr>
      </p:pic>
      <p:sp>
        <p:nvSpPr>
          <p:cNvPr id="49" name="TextBox 48"/>
          <p:cNvSpPr txBox="1"/>
          <p:nvPr/>
        </p:nvSpPr>
        <p:spPr>
          <a:xfrm>
            <a:off x="8202653" y="3103119"/>
            <a:ext cx="1495556" cy="186689"/>
          </a:xfrm>
          <a:prstGeom prst="rect">
            <a:avLst/>
          </a:prstGeom>
          <a:noFill/>
        </p:spPr>
        <p:txBody>
          <a:bodyPr wrap="none" lIns="0" rIns="0" tIns="0" bIns="0">
            <a:spAutoFit/>
          </a:bodyPr>
          <a:lstStyle/>
          <a:p>
            <a:r>
              <a:rPr sz="1100" b="0">
                <a:solidFill>
                  <a:srgbClr val="2E2E2E"/>
                </a:solidFill>
                <a:latin typeface="Calibri"/>
              </a:rPr>
              <a:t>Mn by 2036 at a CAGR of</a:t>
            </a:r>
          </a:p>
        </p:txBody>
      </p:sp>
      <p:pic>
        <p:nvPicPr>
          <p:cNvPr id="50" name="Picture 49" descr="lock.png"/>
          <p:cNvPicPr>
            <a:picLocks noChangeAspect="1"/>
          </p:cNvPicPr>
          <p:nvPr/>
        </p:nvPicPr>
        <p:blipFill>
          <a:blip r:embed="rId6"/>
          <a:stretch>
            <a:fillRect/>
          </a:stretch>
        </p:blipFill>
        <p:spPr>
          <a:xfrm>
            <a:off x="9646261" y="3093340"/>
            <a:ext cx="128699" cy="187198"/>
          </a:xfrm>
          <a:prstGeom prst="rect">
            <a:avLst/>
          </a:prstGeom>
        </p:spPr>
      </p:pic>
      <p:sp>
        <p:nvSpPr>
          <p:cNvPr id="51" name="TextBox 50"/>
          <p:cNvSpPr txBox="1"/>
          <p:nvPr/>
        </p:nvSpPr>
        <p:spPr>
          <a:xfrm>
            <a:off x="9813757" y="3103119"/>
            <a:ext cx="1849462" cy="186689"/>
          </a:xfrm>
          <a:prstGeom prst="rect">
            <a:avLst/>
          </a:prstGeom>
          <a:noFill/>
        </p:spPr>
        <p:txBody>
          <a:bodyPr wrap="none" lIns="0" rIns="0" tIns="0" bIns="0">
            <a:spAutoFit/>
          </a:bodyPr>
          <a:lstStyle/>
          <a:p>
            <a:r>
              <a:rPr sz="1100" b="0">
                <a:solidFill>
                  <a:srgbClr val="2E2E2E"/>
                </a:solidFill>
                <a:latin typeface="Calibri"/>
              </a:rPr>
              <a:t>over the forecast period. North</a:t>
            </a:r>
          </a:p>
        </p:txBody>
      </p:sp>
      <p:sp>
        <p:nvSpPr>
          <p:cNvPr id="52" name="TextBox 51"/>
          <p:cNvSpPr txBox="1"/>
          <p:nvPr/>
        </p:nvSpPr>
        <p:spPr>
          <a:xfrm>
            <a:off x="8048625" y="3270759"/>
            <a:ext cx="3764880" cy="186689"/>
          </a:xfrm>
          <a:prstGeom prst="rect">
            <a:avLst/>
          </a:prstGeom>
          <a:noFill/>
        </p:spPr>
        <p:txBody>
          <a:bodyPr wrap="none" lIns="0" rIns="0" tIns="0" bIns="0">
            <a:spAutoFit/>
          </a:bodyPr>
          <a:lstStyle/>
          <a:p>
            <a:r>
              <a:rPr sz="1100" b="0">
                <a:solidFill>
                  <a:srgbClr val="2E2E2E"/>
                </a:solidFill>
                <a:latin typeface="Calibri"/>
              </a:rPr>
              <a:t>America is expected to create an incremental opportunity of US$</a:t>
            </a:r>
          </a:p>
        </p:txBody>
      </p:sp>
      <p:pic>
        <p:nvPicPr>
          <p:cNvPr id="53" name="Picture 52" descr="lock.png"/>
          <p:cNvPicPr>
            <a:picLocks noChangeAspect="1"/>
          </p:cNvPicPr>
          <p:nvPr/>
        </p:nvPicPr>
        <p:blipFill>
          <a:blip r:embed="rId6"/>
          <a:stretch>
            <a:fillRect/>
          </a:stretch>
        </p:blipFill>
        <p:spPr>
          <a:xfrm>
            <a:off x="8035157" y="3428620"/>
            <a:ext cx="128699" cy="187198"/>
          </a:xfrm>
          <a:prstGeom prst="rect">
            <a:avLst/>
          </a:prstGeom>
        </p:spPr>
      </p:pic>
      <p:sp>
        <p:nvSpPr>
          <p:cNvPr id="54" name="TextBox 53"/>
          <p:cNvSpPr txBox="1"/>
          <p:nvPr/>
        </p:nvSpPr>
        <p:spPr>
          <a:xfrm>
            <a:off x="8202653" y="3438399"/>
            <a:ext cx="3500487" cy="186689"/>
          </a:xfrm>
          <a:prstGeom prst="rect">
            <a:avLst/>
          </a:prstGeom>
          <a:noFill/>
        </p:spPr>
        <p:txBody>
          <a:bodyPr wrap="none" lIns="0" rIns="0" tIns="0" bIns="0">
            <a:spAutoFit/>
          </a:bodyPr>
          <a:lstStyle/>
          <a:p>
            <a:r>
              <a:rPr sz="1100" b="0">
                <a:solidFill>
                  <a:srgbClr val="2E2E2E"/>
                </a:solidFill>
                <a:latin typeface="Calibri"/>
              </a:rPr>
              <a:t>Mn for the overall waterproof coatings market from 2025 to</a:t>
            </a:r>
          </a:p>
        </p:txBody>
      </p:sp>
      <p:sp>
        <p:nvSpPr>
          <p:cNvPr id="55" name="TextBox 54"/>
          <p:cNvSpPr txBox="1"/>
          <p:nvPr/>
        </p:nvSpPr>
        <p:spPr>
          <a:xfrm>
            <a:off x="8048625" y="3606039"/>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56" name="TextBox 55"/>
          <p:cNvSpPr txBox="1"/>
          <p:nvPr/>
        </p:nvSpPr>
        <p:spPr>
          <a:xfrm>
            <a:off x="8048625" y="3823971"/>
            <a:ext cx="2837184" cy="186689"/>
          </a:xfrm>
          <a:prstGeom prst="rect">
            <a:avLst/>
          </a:prstGeom>
          <a:noFill/>
        </p:spPr>
        <p:txBody>
          <a:bodyPr wrap="none" lIns="0" rIns="0" tIns="0" bIns="0">
            <a:spAutoFit/>
          </a:bodyPr>
          <a:lstStyle/>
          <a:p>
            <a:r>
              <a:rPr sz="1100" b="0">
                <a:solidFill>
                  <a:srgbClr val="2E2E2E"/>
                </a:solidFill>
                <a:latin typeface="Calibri"/>
              </a:rPr>
              <a:t>Absolute $ value for 2026 is estimated to be US$</a:t>
            </a:r>
          </a:p>
        </p:txBody>
      </p:sp>
      <p:pic>
        <p:nvPicPr>
          <p:cNvPr id="57" name="Picture 56" descr="lock.png"/>
          <p:cNvPicPr>
            <a:picLocks noChangeAspect="1"/>
          </p:cNvPicPr>
          <p:nvPr/>
        </p:nvPicPr>
        <p:blipFill>
          <a:blip r:embed="rId6"/>
          <a:stretch>
            <a:fillRect/>
          </a:stretch>
        </p:blipFill>
        <p:spPr>
          <a:xfrm>
            <a:off x="10833861" y="3814192"/>
            <a:ext cx="128699" cy="187198"/>
          </a:xfrm>
          <a:prstGeom prst="rect">
            <a:avLst/>
          </a:prstGeom>
        </p:spPr>
      </p:pic>
      <p:sp>
        <p:nvSpPr>
          <p:cNvPr id="58" name="TextBox 57"/>
          <p:cNvSpPr txBox="1"/>
          <p:nvPr/>
        </p:nvSpPr>
        <p:spPr>
          <a:xfrm>
            <a:off x="11001357" y="3823971"/>
            <a:ext cx="304303" cy="186689"/>
          </a:xfrm>
          <a:prstGeom prst="rect">
            <a:avLst/>
          </a:prstGeom>
          <a:noFill/>
        </p:spPr>
        <p:txBody>
          <a:bodyPr wrap="none" lIns="0" rIns="0" tIns="0" bIns="0">
            <a:spAutoFit/>
          </a:bodyPr>
          <a:lstStyle/>
          <a:p>
            <a:r>
              <a:rPr sz="1100" b="0">
                <a:solidFill>
                  <a:srgbClr val="2E2E2E"/>
                </a:solidFill>
                <a:latin typeface="Calibri"/>
              </a:rPr>
              <a:t>Mn.</a:t>
            </a:r>
          </a:p>
        </p:txBody>
      </p:sp>
      <p:sp>
        <p:nvSpPr>
          <p:cNvPr id="59" name="TextBox 58"/>
          <p:cNvSpPr txBox="1"/>
          <p:nvPr/>
        </p:nvSpPr>
        <p:spPr>
          <a:xfrm>
            <a:off x="8048625" y="5057729"/>
            <a:ext cx="2130883" cy="194310"/>
          </a:xfrm>
          <a:prstGeom prst="rect">
            <a:avLst/>
          </a:prstGeom>
          <a:noFill/>
        </p:spPr>
        <p:txBody>
          <a:bodyPr wrap="none" lIns="0" rIns="0" tIns="0" bIns="0">
            <a:spAutoFit/>
          </a:bodyPr>
          <a:lstStyle/>
          <a:p>
            <a:r>
              <a:rPr sz="1150" b="0">
                <a:solidFill>
                  <a:srgbClr val="2E2E2E"/>
                </a:solidFill>
                <a:latin typeface="Calibri"/>
              </a:rPr>
              <a:t>▪ 'Mexico' leads regional growth at</a:t>
            </a:r>
          </a:p>
        </p:txBody>
      </p:sp>
      <p:pic>
        <p:nvPicPr>
          <p:cNvPr id="60" name="Picture 59" descr="lock.png"/>
          <p:cNvPicPr>
            <a:picLocks noChangeAspect="1"/>
          </p:cNvPicPr>
          <p:nvPr/>
        </p:nvPicPr>
        <p:blipFill>
          <a:blip r:embed="rId6"/>
          <a:stretch>
            <a:fillRect/>
          </a:stretch>
        </p:blipFill>
        <p:spPr>
          <a:xfrm>
            <a:off x="10128662" y="5047505"/>
            <a:ext cx="134549" cy="195707"/>
          </a:xfrm>
          <a:prstGeom prst="rect">
            <a:avLst/>
          </a:prstGeom>
        </p:spPr>
      </p:pic>
      <p:sp>
        <p:nvSpPr>
          <p:cNvPr id="61" name="TextBox 60"/>
          <p:cNvSpPr txBox="1"/>
          <p:nvPr/>
        </p:nvSpPr>
        <p:spPr>
          <a:xfrm>
            <a:off x="10303772" y="5057729"/>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2" name="TextBox 61"/>
          <p:cNvSpPr txBox="1"/>
          <p:nvPr/>
        </p:nvSpPr>
        <p:spPr>
          <a:xfrm>
            <a:off x="8048625" y="5285566"/>
            <a:ext cx="3529769" cy="194310"/>
          </a:xfrm>
          <a:prstGeom prst="rect">
            <a:avLst/>
          </a:prstGeom>
          <a:noFill/>
        </p:spPr>
        <p:txBody>
          <a:bodyPr wrap="none" lIns="0" rIns="0" tIns="0" bIns="0">
            <a:spAutoFit/>
          </a:bodyPr>
          <a:lstStyle/>
          <a:p>
            <a:r>
              <a:rPr sz="1150" b="0">
                <a:solidFill>
                  <a:srgbClr val="2E2E2E"/>
                </a:solidFill>
                <a:latin typeface="Calibri"/>
              </a:rPr>
              <a:t>▪ Demand concentrates in 'Other Polymer-Based Coatings'</a:t>
            </a:r>
          </a:p>
        </p:txBody>
      </p:sp>
      <p:sp>
        <p:nvSpPr>
          <p:cNvPr id="63" name="TextBox 62"/>
          <p:cNvSpPr txBox="1"/>
          <p:nvPr/>
        </p:nvSpPr>
        <p:spPr>
          <a:xfrm>
            <a:off x="8048625" y="5460826"/>
            <a:ext cx="2032186" cy="194310"/>
          </a:xfrm>
          <a:prstGeom prst="rect">
            <a:avLst/>
          </a:prstGeom>
          <a:noFill/>
        </p:spPr>
        <p:txBody>
          <a:bodyPr wrap="none" lIns="0" rIns="0" tIns="0" bIns="0">
            <a:spAutoFit/>
          </a:bodyPr>
          <a:lstStyle/>
          <a:p>
            <a:r>
              <a:rPr sz="1150" b="0">
                <a:solidFill>
                  <a:srgbClr val="2E2E2E"/>
                </a:solidFill>
                <a:latin typeface="Calibri"/>
              </a:rPr>
              <a:t>within Product Type / Chemistry.</a:t>
            </a:r>
          </a:p>
        </p:txBody>
      </p:sp>
      <p:sp>
        <p:nvSpPr>
          <p:cNvPr id="64" name="TextBox 63"/>
          <p:cNvSpPr txBox="1"/>
          <p:nvPr/>
        </p:nvSpPr>
        <p:spPr>
          <a:xfrm>
            <a:off x="8048625" y="5688664"/>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65" name="TextBox 64"/>
          <p:cNvSpPr txBox="1"/>
          <p:nvPr/>
        </p:nvSpPr>
        <p:spPr>
          <a:xfrm>
            <a:off x="8048625" y="5916502"/>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66"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Waterproof Coatings Market Volume &amp; Value Analysis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and value growth of the North America market and the incremental $ opportunity it creates, 2021–2036</a:t>
            </a:r>
          </a:p>
        </p:txBody>
      </p:sp>
      <p:sp>
        <p:nvSpPr>
          <p:cNvPr id="10" name="Rounded Rectangle 9"/>
          <p:cNvSpPr/>
          <p:nvPr/>
        </p:nvSpPr>
        <p:spPr>
          <a:xfrm>
            <a:off x="142875" y="981075"/>
            <a:ext cx="4695825" cy="2524125"/>
          </a:xfrm>
          <a:prstGeom prst="roundRect">
            <a:avLst>
              <a:gd name="adj" fmla="val 30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2021–2025 (Historical)</a:t>
            </a:r>
          </a:p>
        </p:txBody>
      </p:sp>
      <p:graphicFrame>
        <p:nvGraphicFramePr>
          <p:cNvPr id="12" name="Chart 11"/>
          <p:cNvGraphicFramePr>
            <a:graphicFrameLocks noGrp="1"/>
          </p:cNvGraphicFramePr>
          <p:nvPr/>
        </p:nvGraphicFramePr>
        <p:xfrm>
          <a:off x="238125" y="1266825"/>
          <a:ext cx="4505325" cy="2181225"/>
        </p:xfrm>
        <a:graphic>
          <a:graphicData uri="http://schemas.openxmlformats.org/drawingml/2006/chart">
            <c:chart xmlns:c="http://schemas.openxmlformats.org/drawingml/2006/chart" r:id="rId3"/>
          </a:graphicData>
        </a:graphic>
      </p:graphicFrame>
      <p:sp>
        <p:nvSpPr>
          <p:cNvPr id="13" name="Rounded Rectangle 12"/>
          <p:cNvSpPr/>
          <p:nvPr/>
        </p:nvSpPr>
        <p:spPr>
          <a:xfrm>
            <a:off x="4991100" y="981075"/>
            <a:ext cx="7048500" cy="2524125"/>
          </a:xfrm>
          <a:prstGeom prst="roundRect">
            <a:avLst>
              <a:gd name="adj" fmla="val 30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2026–2036 (Forecast)</a:t>
            </a:r>
          </a:p>
        </p:txBody>
      </p:sp>
      <p:graphicFrame>
        <p:nvGraphicFramePr>
          <p:cNvPr id="15" name="Chart 14"/>
          <p:cNvGraphicFramePr>
            <a:graphicFrameLocks noGrp="1"/>
          </p:cNvGraphicFramePr>
          <p:nvPr/>
        </p:nvGraphicFramePr>
        <p:xfrm>
          <a:off x="5086350" y="1266825"/>
          <a:ext cx="6858000" cy="21812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638550"/>
            <a:ext cx="25146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2021–2025</a:t>
            </a:r>
          </a:p>
          <a:p>
            <a:pPr algn="ctr">
              <a:lnSpc>
                <a:spcPct val="95000"/>
              </a:lnSpc>
            </a:pPr>
            <a:r>
              <a:rPr sz="1500" b="1">
                <a:solidFill>
                  <a:srgbClr val="0E72AE"/>
                </a:solidFill>
                <a:latin typeface="Calibri"/>
              </a:rPr>
              <a:t> </a:t>
            </a:r>
          </a:p>
        </p:txBody>
      </p:sp>
      <p:sp>
        <p:nvSpPr>
          <p:cNvPr id="17" name="Rounded Rectangle 16"/>
          <p:cNvSpPr/>
          <p:nvPr/>
        </p:nvSpPr>
        <p:spPr>
          <a:xfrm>
            <a:off x="2809875" y="3638550"/>
            <a:ext cx="25146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2026–2036</a:t>
            </a:r>
          </a:p>
          <a:p>
            <a:pPr algn="ctr">
              <a:lnSpc>
                <a:spcPct val="95000"/>
              </a:lnSpc>
            </a:pPr>
            <a:r>
              <a:rPr sz="1500" b="1">
                <a:solidFill>
                  <a:srgbClr val="0E72AE"/>
                </a:solidFill>
                <a:latin typeface="Calibri"/>
              </a:rPr>
              <a:t> </a:t>
            </a:r>
          </a:p>
        </p:txBody>
      </p:sp>
      <p:sp>
        <p:nvSpPr>
          <p:cNvPr id="18" name="Rounded Rectangle 17"/>
          <p:cNvSpPr/>
          <p:nvPr/>
        </p:nvSpPr>
        <p:spPr>
          <a:xfrm>
            <a:off x="5476875" y="3638550"/>
            <a:ext cx="32004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2026–2031</a:t>
            </a:r>
          </a:p>
          <a:p>
            <a:pPr algn="ctr">
              <a:lnSpc>
                <a:spcPct val="95000"/>
              </a:lnSpc>
            </a:pPr>
            <a:r>
              <a:rPr sz="1500" b="1">
                <a:solidFill>
                  <a:srgbClr val="0E72AE"/>
                </a:solidFill>
                <a:latin typeface="Calibri"/>
              </a:rPr>
              <a:t> </a:t>
            </a:r>
          </a:p>
        </p:txBody>
      </p:sp>
      <p:sp>
        <p:nvSpPr>
          <p:cNvPr id="19" name="Rounded Rectangle 18"/>
          <p:cNvSpPr/>
          <p:nvPr/>
        </p:nvSpPr>
        <p:spPr>
          <a:xfrm>
            <a:off x="8829675" y="3638550"/>
            <a:ext cx="32004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2026–2036</a:t>
            </a:r>
          </a:p>
          <a:p>
            <a:pPr algn="ctr">
              <a:lnSpc>
                <a:spcPct val="95000"/>
              </a:lnSpc>
            </a:pPr>
            <a:r>
              <a:rPr sz="1500" b="1">
                <a:solidFill>
                  <a:srgbClr val="0E72AE"/>
                </a:solidFill>
                <a:latin typeface="Calibri"/>
              </a:rPr>
              <a:t> </a:t>
            </a:r>
          </a:p>
        </p:txBody>
      </p:sp>
      <p:sp>
        <p:nvSpPr>
          <p:cNvPr id="20" name="Rounded Rectangle 19"/>
          <p:cNvSpPr/>
          <p:nvPr/>
        </p:nvSpPr>
        <p:spPr>
          <a:xfrm>
            <a:off x="142875" y="4457700"/>
            <a:ext cx="11906250" cy="2152650"/>
          </a:xfrm>
          <a:prstGeom prst="roundRect">
            <a:avLst>
              <a:gd name="adj" fmla="val 35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54342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Volume &amp; Value Analysis</a:t>
            </a:r>
          </a:p>
        </p:txBody>
      </p:sp>
      <p:sp>
        <p:nvSpPr>
          <p:cNvPr id="22" name="Rectangle 21"/>
          <p:cNvSpPr/>
          <p:nvPr/>
        </p:nvSpPr>
        <p:spPr>
          <a:xfrm>
            <a:off x="276225" y="47815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4867275"/>
            <a:ext cx="11639550" cy="1666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2535356" y="2029222"/>
            <a:ext cx="202455" cy="294480"/>
          </a:xfrm>
          <a:prstGeom prst="rect">
            <a:avLst/>
          </a:prstGeom>
        </p:spPr>
      </p:pic>
      <p:pic>
        <p:nvPicPr>
          <p:cNvPr id="26" name="Picture 25" descr="lock.png"/>
          <p:cNvPicPr>
            <a:picLocks noChangeAspect="1"/>
          </p:cNvPicPr>
          <p:nvPr/>
        </p:nvPicPr>
        <p:blipFill>
          <a:blip r:embed="rId6"/>
          <a:stretch>
            <a:fillRect/>
          </a:stretch>
        </p:blipFill>
        <p:spPr>
          <a:xfrm>
            <a:off x="8532694" y="1990329"/>
            <a:ext cx="255933" cy="372266"/>
          </a:xfrm>
          <a:prstGeom prst="rect">
            <a:avLst/>
          </a:prstGeom>
        </p:spPr>
      </p:pic>
      <p:pic>
        <p:nvPicPr>
          <p:cNvPr id="27" name="Picture 26" descr="lock.png"/>
          <p:cNvPicPr>
            <a:picLocks noChangeAspect="1"/>
          </p:cNvPicPr>
          <p:nvPr/>
        </p:nvPicPr>
        <p:blipFill>
          <a:blip r:embed="rId6"/>
          <a:stretch>
            <a:fillRect/>
          </a:stretch>
        </p:blipFill>
        <p:spPr>
          <a:xfrm>
            <a:off x="1321594" y="3950970"/>
            <a:ext cx="157162" cy="228600"/>
          </a:xfrm>
          <a:prstGeom prst="rect">
            <a:avLst/>
          </a:prstGeom>
        </p:spPr>
      </p:pic>
      <p:pic>
        <p:nvPicPr>
          <p:cNvPr id="28" name="Picture 27" descr="lock.png"/>
          <p:cNvPicPr>
            <a:picLocks noChangeAspect="1"/>
          </p:cNvPicPr>
          <p:nvPr/>
        </p:nvPicPr>
        <p:blipFill>
          <a:blip r:embed="rId6"/>
          <a:stretch>
            <a:fillRect/>
          </a:stretch>
        </p:blipFill>
        <p:spPr>
          <a:xfrm>
            <a:off x="3988594" y="3950970"/>
            <a:ext cx="157162" cy="228600"/>
          </a:xfrm>
          <a:prstGeom prst="rect">
            <a:avLst/>
          </a:prstGeom>
        </p:spPr>
      </p:pic>
      <p:pic>
        <p:nvPicPr>
          <p:cNvPr id="29" name="Picture 28" descr="lock.png"/>
          <p:cNvPicPr>
            <a:picLocks noChangeAspect="1"/>
          </p:cNvPicPr>
          <p:nvPr/>
        </p:nvPicPr>
        <p:blipFill>
          <a:blip r:embed="rId6"/>
          <a:stretch>
            <a:fillRect/>
          </a:stretch>
        </p:blipFill>
        <p:spPr>
          <a:xfrm>
            <a:off x="6998494" y="3950970"/>
            <a:ext cx="157162" cy="228600"/>
          </a:xfrm>
          <a:prstGeom prst="rect">
            <a:avLst/>
          </a:prstGeom>
        </p:spPr>
      </p:pic>
      <p:pic>
        <p:nvPicPr>
          <p:cNvPr id="30" name="Picture 29" descr="lock.png"/>
          <p:cNvPicPr>
            <a:picLocks noChangeAspect="1"/>
          </p:cNvPicPr>
          <p:nvPr/>
        </p:nvPicPr>
        <p:blipFill>
          <a:blip r:embed="rId6"/>
          <a:stretch>
            <a:fillRect/>
          </a:stretch>
        </p:blipFill>
        <p:spPr>
          <a:xfrm>
            <a:off x="10351294" y="3950970"/>
            <a:ext cx="157162" cy="228600"/>
          </a:xfrm>
          <a:prstGeom prst="rect">
            <a:avLst/>
          </a:prstGeom>
        </p:spPr>
      </p:pic>
      <p:sp>
        <p:nvSpPr>
          <p:cNvPr id="31" name="TextBox 30"/>
          <p:cNvSpPr txBox="1"/>
          <p:nvPr/>
        </p:nvSpPr>
        <p:spPr>
          <a:xfrm>
            <a:off x="276225" y="4876800"/>
            <a:ext cx="4552689" cy="194310"/>
          </a:xfrm>
          <a:prstGeom prst="rect">
            <a:avLst/>
          </a:prstGeom>
          <a:noFill/>
        </p:spPr>
        <p:txBody>
          <a:bodyPr wrap="none" lIns="0" rIns="0" tIns="0" bIns="0">
            <a:spAutoFit/>
          </a:bodyPr>
          <a:lstStyle/>
          <a:p>
            <a:r>
              <a:rPr sz="1150" b="0">
                <a:solidFill>
                  <a:srgbClr val="2E2E2E"/>
                </a:solidFill>
                <a:latin typeface="Calibri"/>
              </a:rPr>
              <a:t>Waterproof coatings market value in North America is expected to increase</a:t>
            </a:r>
          </a:p>
        </p:txBody>
      </p:sp>
      <p:pic>
        <p:nvPicPr>
          <p:cNvPr id="32" name="Picture 31" descr="lock.png"/>
          <p:cNvPicPr>
            <a:picLocks noChangeAspect="1"/>
          </p:cNvPicPr>
          <p:nvPr/>
        </p:nvPicPr>
        <p:blipFill>
          <a:blip r:embed="rId6"/>
          <a:stretch>
            <a:fillRect/>
          </a:stretch>
        </p:blipFill>
        <p:spPr>
          <a:xfrm>
            <a:off x="4778068" y="4866576"/>
            <a:ext cx="134549" cy="195707"/>
          </a:xfrm>
          <a:prstGeom prst="rect">
            <a:avLst/>
          </a:prstGeom>
        </p:spPr>
      </p:pic>
      <p:sp>
        <p:nvSpPr>
          <p:cNvPr id="33" name="TextBox 32"/>
          <p:cNvSpPr txBox="1"/>
          <p:nvPr/>
        </p:nvSpPr>
        <p:spPr>
          <a:xfrm>
            <a:off x="4953177" y="4876800"/>
            <a:ext cx="6261930" cy="194310"/>
          </a:xfrm>
          <a:prstGeom prst="rect">
            <a:avLst/>
          </a:prstGeom>
          <a:noFill/>
        </p:spPr>
        <p:txBody>
          <a:bodyPr wrap="none" lIns="0" rIns="0" tIns="0" bIns="0">
            <a:spAutoFit/>
          </a:bodyPr>
          <a:lstStyle/>
          <a:p>
            <a:r>
              <a:rPr sz="1150" b="0">
                <a:solidFill>
                  <a:srgbClr val="2E2E2E"/>
                </a:solidFill>
                <a:latin typeface="Calibri"/>
              </a:rPr>
              <a:t>X between 2025 and 2036. In 2025, the waterproof coatings market in North America was valued at US$</a:t>
            </a:r>
          </a:p>
        </p:txBody>
      </p:sp>
      <p:pic>
        <p:nvPicPr>
          <p:cNvPr id="34" name="Picture 33" descr="lock.png"/>
          <p:cNvPicPr>
            <a:picLocks noChangeAspect="1"/>
          </p:cNvPicPr>
          <p:nvPr/>
        </p:nvPicPr>
        <p:blipFill>
          <a:blip r:embed="rId6"/>
          <a:stretch>
            <a:fillRect/>
          </a:stretch>
        </p:blipFill>
        <p:spPr>
          <a:xfrm>
            <a:off x="11164262" y="4866576"/>
            <a:ext cx="134549" cy="195707"/>
          </a:xfrm>
          <a:prstGeom prst="rect">
            <a:avLst/>
          </a:prstGeom>
        </p:spPr>
      </p:pic>
      <p:sp>
        <p:nvSpPr>
          <p:cNvPr id="35" name="TextBox 34"/>
          <p:cNvSpPr txBox="1"/>
          <p:nvPr/>
        </p:nvSpPr>
        <p:spPr>
          <a:xfrm>
            <a:off x="11339371" y="4876800"/>
            <a:ext cx="277874" cy="194310"/>
          </a:xfrm>
          <a:prstGeom prst="rect">
            <a:avLst/>
          </a:prstGeom>
          <a:noFill/>
        </p:spPr>
        <p:txBody>
          <a:bodyPr wrap="none" lIns="0" rIns="0" tIns="0" bIns="0">
            <a:spAutoFit/>
          </a:bodyPr>
          <a:lstStyle/>
          <a:p>
            <a:r>
              <a:rPr sz="1150" b="0">
                <a:solidFill>
                  <a:srgbClr val="2E2E2E"/>
                </a:solidFill>
                <a:latin typeface="Calibri"/>
              </a:rPr>
              <a:t>Mn</a:t>
            </a:r>
          </a:p>
        </p:txBody>
      </p:sp>
      <p:sp>
        <p:nvSpPr>
          <p:cNvPr id="36" name="TextBox 35"/>
          <p:cNvSpPr txBox="1"/>
          <p:nvPr/>
        </p:nvSpPr>
        <p:spPr>
          <a:xfrm>
            <a:off x="276225" y="5052060"/>
            <a:ext cx="2193354" cy="194310"/>
          </a:xfrm>
          <a:prstGeom prst="rect">
            <a:avLst/>
          </a:prstGeom>
          <a:noFill/>
        </p:spPr>
        <p:txBody>
          <a:bodyPr wrap="none" lIns="0" rIns="0" tIns="0" bIns="0">
            <a:spAutoFit/>
          </a:bodyPr>
          <a:lstStyle/>
          <a:p>
            <a:r>
              <a:rPr sz="1150" b="0">
                <a:solidFill>
                  <a:srgbClr val="2E2E2E"/>
                </a:solidFill>
                <a:latin typeface="Calibri"/>
              </a:rPr>
              <a:t>and is estimated to account for US$</a:t>
            </a:r>
          </a:p>
        </p:txBody>
      </p:sp>
      <p:pic>
        <p:nvPicPr>
          <p:cNvPr id="37" name="Picture 36" descr="lock.png"/>
          <p:cNvPicPr>
            <a:picLocks noChangeAspect="1"/>
          </p:cNvPicPr>
          <p:nvPr/>
        </p:nvPicPr>
        <p:blipFill>
          <a:blip r:embed="rId6"/>
          <a:stretch>
            <a:fillRect/>
          </a:stretch>
        </p:blipFill>
        <p:spPr>
          <a:xfrm>
            <a:off x="2418733" y="5041836"/>
            <a:ext cx="134549" cy="195707"/>
          </a:xfrm>
          <a:prstGeom prst="rect">
            <a:avLst/>
          </a:prstGeom>
        </p:spPr>
      </p:pic>
      <p:sp>
        <p:nvSpPr>
          <p:cNvPr id="38" name="TextBox 37"/>
          <p:cNvSpPr txBox="1"/>
          <p:nvPr/>
        </p:nvSpPr>
        <p:spPr>
          <a:xfrm>
            <a:off x="2593842" y="5052060"/>
            <a:ext cx="3399408" cy="194310"/>
          </a:xfrm>
          <a:prstGeom prst="rect">
            <a:avLst/>
          </a:prstGeom>
          <a:noFill/>
        </p:spPr>
        <p:txBody>
          <a:bodyPr wrap="none" lIns="0" rIns="0" tIns="0" bIns="0">
            <a:spAutoFit/>
          </a:bodyPr>
          <a:lstStyle/>
          <a:p>
            <a:r>
              <a:rPr sz="1150" b="0">
                <a:solidFill>
                  <a:srgbClr val="2E2E2E"/>
                </a:solidFill>
                <a:latin typeface="Calibri"/>
              </a:rPr>
              <a:t>Mn by the end of 2026, reflecting a Y-o-Y growth rate of</a:t>
            </a:r>
          </a:p>
        </p:txBody>
      </p:sp>
      <p:pic>
        <p:nvPicPr>
          <p:cNvPr id="39" name="Picture 38" descr="lock.png"/>
          <p:cNvPicPr>
            <a:picLocks noChangeAspect="1"/>
          </p:cNvPicPr>
          <p:nvPr/>
        </p:nvPicPr>
        <p:blipFill>
          <a:blip r:embed="rId6"/>
          <a:stretch>
            <a:fillRect/>
          </a:stretch>
        </p:blipFill>
        <p:spPr>
          <a:xfrm>
            <a:off x="5942404" y="5041836"/>
            <a:ext cx="134549" cy="195707"/>
          </a:xfrm>
          <a:prstGeom prst="rect">
            <a:avLst/>
          </a:prstGeom>
        </p:spPr>
      </p:pic>
      <p:sp>
        <p:nvSpPr>
          <p:cNvPr id="40" name="TextBox 39"/>
          <p:cNvSpPr txBox="1"/>
          <p:nvPr/>
        </p:nvSpPr>
        <p:spPr>
          <a:xfrm>
            <a:off x="6117513" y="5052060"/>
            <a:ext cx="3716325" cy="194310"/>
          </a:xfrm>
          <a:prstGeom prst="rect">
            <a:avLst/>
          </a:prstGeom>
          <a:noFill/>
        </p:spPr>
        <p:txBody>
          <a:bodyPr wrap="none" lIns="0" rIns="0" tIns="0" bIns="0">
            <a:spAutoFit/>
          </a:bodyPr>
          <a:lstStyle/>
          <a:p>
            <a:r>
              <a:rPr sz="1150" b="0">
                <a:solidFill>
                  <a:srgbClr val="2E2E2E"/>
                </a:solidFill>
                <a:latin typeface="Calibri"/>
              </a:rPr>
              <a:t>. The market in North America is expected to account for US$</a:t>
            </a:r>
          </a:p>
        </p:txBody>
      </p:sp>
      <p:pic>
        <p:nvPicPr>
          <p:cNvPr id="41" name="Picture 40" descr="lock.png"/>
          <p:cNvPicPr>
            <a:picLocks noChangeAspect="1"/>
          </p:cNvPicPr>
          <p:nvPr/>
        </p:nvPicPr>
        <p:blipFill>
          <a:blip r:embed="rId6"/>
          <a:stretch>
            <a:fillRect/>
          </a:stretch>
        </p:blipFill>
        <p:spPr>
          <a:xfrm>
            <a:off x="9782992" y="5041836"/>
            <a:ext cx="134549" cy="195707"/>
          </a:xfrm>
          <a:prstGeom prst="rect">
            <a:avLst/>
          </a:prstGeom>
        </p:spPr>
      </p:pic>
      <p:sp>
        <p:nvSpPr>
          <p:cNvPr id="42" name="TextBox 41"/>
          <p:cNvSpPr txBox="1"/>
          <p:nvPr/>
        </p:nvSpPr>
        <p:spPr>
          <a:xfrm>
            <a:off x="9958102" y="5052060"/>
            <a:ext cx="1560072" cy="194310"/>
          </a:xfrm>
          <a:prstGeom prst="rect">
            <a:avLst/>
          </a:prstGeom>
          <a:noFill/>
        </p:spPr>
        <p:txBody>
          <a:bodyPr wrap="none" lIns="0" rIns="0" tIns="0" bIns="0">
            <a:spAutoFit/>
          </a:bodyPr>
          <a:lstStyle/>
          <a:p>
            <a:r>
              <a:rPr sz="1150" b="0">
                <a:solidFill>
                  <a:srgbClr val="2E2E2E"/>
                </a:solidFill>
                <a:latin typeface="Calibri"/>
              </a:rPr>
              <a:t>Mn by 2036 at a CAGR of</a:t>
            </a:r>
          </a:p>
        </p:txBody>
      </p:sp>
      <p:pic>
        <p:nvPicPr>
          <p:cNvPr id="43" name="Picture 42" descr="lock.png"/>
          <p:cNvPicPr>
            <a:picLocks noChangeAspect="1"/>
          </p:cNvPicPr>
          <p:nvPr/>
        </p:nvPicPr>
        <p:blipFill>
          <a:blip r:embed="rId6"/>
          <a:stretch>
            <a:fillRect/>
          </a:stretch>
        </p:blipFill>
        <p:spPr>
          <a:xfrm>
            <a:off x="262145" y="5217096"/>
            <a:ext cx="134549" cy="195707"/>
          </a:xfrm>
          <a:prstGeom prst="rect">
            <a:avLst/>
          </a:prstGeom>
        </p:spPr>
      </p:pic>
      <p:sp>
        <p:nvSpPr>
          <p:cNvPr id="44" name="TextBox 43"/>
          <p:cNvSpPr txBox="1"/>
          <p:nvPr/>
        </p:nvSpPr>
        <p:spPr>
          <a:xfrm>
            <a:off x="437254" y="522732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45" name="TextBox 44"/>
          <p:cNvSpPr txBox="1"/>
          <p:nvPr/>
        </p:nvSpPr>
        <p:spPr>
          <a:xfrm>
            <a:off x="276225" y="5455157"/>
            <a:ext cx="4313932" cy="194310"/>
          </a:xfrm>
          <a:prstGeom prst="rect">
            <a:avLst/>
          </a:prstGeom>
          <a:noFill/>
        </p:spPr>
        <p:txBody>
          <a:bodyPr wrap="none" lIns="0" rIns="0" tIns="0" bIns="0">
            <a:spAutoFit/>
          </a:bodyPr>
          <a:lstStyle/>
          <a:p>
            <a:r>
              <a:rPr sz="1150" b="0">
                <a:solidFill>
                  <a:srgbClr val="2E2E2E"/>
                </a:solidFill>
                <a:latin typeface="Calibri"/>
              </a:rPr>
              <a:t>North America is expected to create an incremental opportunity of US$</a:t>
            </a:r>
          </a:p>
        </p:txBody>
      </p:sp>
      <p:pic>
        <p:nvPicPr>
          <p:cNvPr id="46" name="Picture 45" descr="lock.png"/>
          <p:cNvPicPr>
            <a:picLocks noChangeAspect="1"/>
          </p:cNvPicPr>
          <p:nvPr/>
        </p:nvPicPr>
        <p:blipFill>
          <a:blip r:embed="rId6"/>
          <a:stretch>
            <a:fillRect/>
          </a:stretch>
        </p:blipFill>
        <p:spPr>
          <a:xfrm>
            <a:off x="4539310" y="5444934"/>
            <a:ext cx="134549" cy="195707"/>
          </a:xfrm>
          <a:prstGeom prst="rect">
            <a:avLst/>
          </a:prstGeom>
        </p:spPr>
      </p:pic>
      <p:sp>
        <p:nvSpPr>
          <p:cNvPr id="47" name="TextBox 46"/>
          <p:cNvSpPr txBox="1"/>
          <p:nvPr/>
        </p:nvSpPr>
        <p:spPr>
          <a:xfrm>
            <a:off x="4714420" y="5455157"/>
            <a:ext cx="6942261" cy="194310"/>
          </a:xfrm>
          <a:prstGeom prst="rect">
            <a:avLst/>
          </a:prstGeom>
          <a:noFill/>
        </p:spPr>
        <p:txBody>
          <a:bodyPr wrap="none" lIns="0" rIns="0" tIns="0" bIns="0">
            <a:spAutoFit/>
          </a:bodyPr>
          <a:lstStyle/>
          <a:p>
            <a:r>
              <a:rPr sz="1150" b="0">
                <a:solidFill>
                  <a:srgbClr val="2E2E2E"/>
                </a:solidFill>
                <a:latin typeface="Calibri"/>
              </a:rPr>
              <a:t>Mn for the overall waterproof coatings market from 2025 to 2036. Absolute $ value for 2026 is estimated to be US$</a:t>
            </a:r>
          </a:p>
        </p:txBody>
      </p:sp>
      <p:pic>
        <p:nvPicPr>
          <p:cNvPr id="48" name="Picture 47" descr="lock.png"/>
          <p:cNvPicPr>
            <a:picLocks noChangeAspect="1"/>
          </p:cNvPicPr>
          <p:nvPr/>
        </p:nvPicPr>
        <p:blipFill>
          <a:blip r:embed="rId6"/>
          <a:stretch>
            <a:fillRect/>
          </a:stretch>
        </p:blipFill>
        <p:spPr>
          <a:xfrm>
            <a:off x="262145" y="5620194"/>
            <a:ext cx="134549" cy="195707"/>
          </a:xfrm>
          <a:prstGeom prst="rect">
            <a:avLst/>
          </a:prstGeom>
        </p:spPr>
      </p:pic>
      <p:sp>
        <p:nvSpPr>
          <p:cNvPr id="49" name="TextBox 48"/>
          <p:cNvSpPr txBox="1"/>
          <p:nvPr/>
        </p:nvSpPr>
        <p:spPr>
          <a:xfrm>
            <a:off x="437254" y="5630417"/>
            <a:ext cx="4290541" cy="194310"/>
          </a:xfrm>
          <a:prstGeom prst="rect">
            <a:avLst/>
          </a:prstGeom>
          <a:noFill/>
        </p:spPr>
        <p:txBody>
          <a:bodyPr wrap="none" lIns="0" rIns="0" tIns="0" bIns="0">
            <a:spAutoFit/>
          </a:bodyPr>
          <a:lstStyle/>
          <a:p>
            <a:r>
              <a:rPr sz="1150" b="0">
                <a:solidFill>
                  <a:srgbClr val="2E2E2E"/>
                </a:solidFill>
                <a:latin typeface="Calibri"/>
              </a:rPr>
              <a:t>Mn. North America waterproof coatings market is projected to register</a:t>
            </a:r>
          </a:p>
        </p:txBody>
      </p:sp>
      <p:pic>
        <p:nvPicPr>
          <p:cNvPr id="50" name="Picture 49" descr="lock.png"/>
          <p:cNvPicPr>
            <a:picLocks noChangeAspect="1"/>
          </p:cNvPicPr>
          <p:nvPr/>
        </p:nvPicPr>
        <p:blipFill>
          <a:blip r:embed="rId6"/>
          <a:stretch>
            <a:fillRect/>
          </a:stretch>
        </p:blipFill>
        <p:spPr>
          <a:xfrm>
            <a:off x="4676949" y="5620194"/>
            <a:ext cx="134549" cy="195707"/>
          </a:xfrm>
          <a:prstGeom prst="rect">
            <a:avLst/>
          </a:prstGeom>
        </p:spPr>
      </p:pic>
      <p:sp>
        <p:nvSpPr>
          <p:cNvPr id="51" name="TextBox 50"/>
          <p:cNvSpPr txBox="1"/>
          <p:nvPr/>
        </p:nvSpPr>
        <p:spPr>
          <a:xfrm>
            <a:off x="4852059" y="5630417"/>
            <a:ext cx="3462163" cy="194310"/>
          </a:xfrm>
          <a:prstGeom prst="rect">
            <a:avLst/>
          </a:prstGeom>
          <a:noFill/>
        </p:spPr>
        <p:txBody>
          <a:bodyPr wrap="none" lIns="0" rIns="0" tIns="0" bIns="0">
            <a:spAutoFit/>
          </a:bodyPr>
          <a:lstStyle/>
          <a:p>
            <a:r>
              <a:rPr sz="1150" b="0">
                <a:solidFill>
                  <a:srgbClr val="2E2E2E"/>
                </a:solidFill>
                <a:latin typeface="Calibri"/>
              </a:rPr>
              <a:t>X increase in volume by the end of forecast period, 2036.</a:t>
            </a:r>
          </a:p>
        </p:txBody>
      </p:sp>
      <p:sp>
        <p:nvSpPr>
          <p:cNvPr id="52" name="TextBox 51"/>
          <p:cNvSpPr txBox="1"/>
          <p:nvPr/>
        </p:nvSpPr>
        <p:spPr>
          <a:xfrm>
            <a:off x="276225" y="5858255"/>
            <a:ext cx="3638450" cy="194310"/>
          </a:xfrm>
          <a:prstGeom prst="rect">
            <a:avLst/>
          </a:prstGeom>
          <a:noFill/>
        </p:spPr>
        <p:txBody>
          <a:bodyPr wrap="none" lIns="0" rIns="0" tIns="0" bIns="0">
            <a:spAutoFit/>
          </a:bodyPr>
          <a:lstStyle/>
          <a:p>
            <a:r>
              <a:rPr sz="1150" b="0">
                <a:solidFill>
                  <a:srgbClr val="2E2E2E"/>
                </a:solidFill>
                <a:latin typeface="Calibri"/>
              </a:rPr>
              <a:t>North America waterproof coatings market volume stood at</a:t>
            </a:r>
          </a:p>
        </p:txBody>
      </p:sp>
      <p:pic>
        <p:nvPicPr>
          <p:cNvPr id="53" name="Picture 52" descr="lock.png"/>
          <p:cNvPicPr>
            <a:picLocks noChangeAspect="1"/>
          </p:cNvPicPr>
          <p:nvPr/>
        </p:nvPicPr>
        <p:blipFill>
          <a:blip r:embed="rId6"/>
          <a:stretch>
            <a:fillRect/>
          </a:stretch>
        </p:blipFill>
        <p:spPr>
          <a:xfrm>
            <a:off x="3863829" y="5848032"/>
            <a:ext cx="134549" cy="195707"/>
          </a:xfrm>
          <a:prstGeom prst="rect">
            <a:avLst/>
          </a:prstGeom>
        </p:spPr>
      </p:pic>
      <p:sp>
        <p:nvSpPr>
          <p:cNvPr id="54" name="TextBox 53"/>
          <p:cNvSpPr txBox="1"/>
          <p:nvPr/>
        </p:nvSpPr>
        <p:spPr>
          <a:xfrm>
            <a:off x="4038938" y="5858255"/>
            <a:ext cx="2343683" cy="194310"/>
          </a:xfrm>
          <a:prstGeom prst="rect">
            <a:avLst/>
          </a:prstGeom>
          <a:noFill/>
        </p:spPr>
        <p:txBody>
          <a:bodyPr wrap="none" lIns="0" rIns="0" tIns="0" bIns="0">
            <a:spAutoFit/>
          </a:bodyPr>
          <a:lstStyle/>
          <a:p>
            <a:r>
              <a:rPr sz="1150" b="0">
                <a:solidFill>
                  <a:srgbClr val="2E2E2E"/>
                </a:solidFill>
                <a:latin typeface="Calibri"/>
              </a:rPr>
              <a:t>Units in 2025 and is expected to reach</a:t>
            </a:r>
          </a:p>
        </p:txBody>
      </p:sp>
      <p:pic>
        <p:nvPicPr>
          <p:cNvPr id="55" name="Picture 54" descr="lock.png"/>
          <p:cNvPicPr>
            <a:picLocks noChangeAspect="1"/>
          </p:cNvPicPr>
          <p:nvPr/>
        </p:nvPicPr>
        <p:blipFill>
          <a:blip r:embed="rId6"/>
          <a:stretch>
            <a:fillRect/>
          </a:stretch>
        </p:blipFill>
        <p:spPr>
          <a:xfrm>
            <a:off x="6331776" y="5848032"/>
            <a:ext cx="134549" cy="195707"/>
          </a:xfrm>
          <a:prstGeom prst="rect">
            <a:avLst/>
          </a:prstGeom>
        </p:spPr>
      </p:pic>
      <p:sp>
        <p:nvSpPr>
          <p:cNvPr id="56" name="TextBox 55"/>
          <p:cNvSpPr txBox="1"/>
          <p:nvPr/>
        </p:nvSpPr>
        <p:spPr>
          <a:xfrm>
            <a:off x="6506885" y="5858255"/>
            <a:ext cx="1964563" cy="194310"/>
          </a:xfrm>
          <a:prstGeom prst="rect">
            <a:avLst/>
          </a:prstGeom>
          <a:noFill/>
        </p:spPr>
        <p:txBody>
          <a:bodyPr wrap="none" lIns="0" rIns="0" tIns="0" bIns="0">
            <a:spAutoFit/>
          </a:bodyPr>
          <a:lstStyle/>
          <a:p>
            <a:r>
              <a:rPr sz="1150" b="0">
                <a:solidFill>
                  <a:srgbClr val="2E2E2E"/>
                </a:solidFill>
                <a:latin typeface="Calibri"/>
              </a:rPr>
              <a:t>Units by 2036 end, at a CAGR of</a:t>
            </a:r>
          </a:p>
        </p:txBody>
      </p:sp>
      <p:pic>
        <p:nvPicPr>
          <p:cNvPr id="57" name="Picture 56" descr="lock.png"/>
          <p:cNvPicPr>
            <a:picLocks noChangeAspect="1"/>
          </p:cNvPicPr>
          <p:nvPr/>
        </p:nvPicPr>
        <p:blipFill>
          <a:blip r:embed="rId6"/>
          <a:stretch>
            <a:fillRect/>
          </a:stretch>
        </p:blipFill>
        <p:spPr>
          <a:xfrm>
            <a:off x="8420602" y="5848032"/>
            <a:ext cx="134549" cy="195707"/>
          </a:xfrm>
          <a:prstGeom prst="rect">
            <a:avLst/>
          </a:prstGeom>
        </p:spPr>
      </p:pic>
      <p:sp>
        <p:nvSpPr>
          <p:cNvPr id="58" name="TextBox 57"/>
          <p:cNvSpPr txBox="1"/>
          <p:nvPr/>
        </p:nvSpPr>
        <p:spPr>
          <a:xfrm>
            <a:off x="8595711" y="5858255"/>
            <a:ext cx="2864271" cy="194310"/>
          </a:xfrm>
          <a:prstGeom prst="rect">
            <a:avLst/>
          </a:prstGeom>
          <a:noFill/>
        </p:spPr>
        <p:txBody>
          <a:bodyPr wrap="none" lIns="0" rIns="0" tIns="0" bIns="0">
            <a:spAutoFit/>
          </a:bodyPr>
          <a:lstStyle/>
          <a:p>
            <a:r>
              <a:rPr sz="1150" b="0">
                <a:solidFill>
                  <a:srgbClr val="2E2E2E"/>
                </a:solidFill>
                <a:latin typeface="Calibri"/>
              </a:rPr>
              <a:t>. Value is projected to grow faster than volume</a:t>
            </a:r>
          </a:p>
        </p:txBody>
      </p:sp>
      <p:sp>
        <p:nvSpPr>
          <p:cNvPr id="59" name="TextBox 58"/>
          <p:cNvSpPr txBox="1"/>
          <p:nvPr/>
        </p:nvSpPr>
        <p:spPr>
          <a:xfrm>
            <a:off x="276225" y="6033515"/>
            <a:ext cx="4232634" cy="194310"/>
          </a:xfrm>
          <a:prstGeom prst="rect">
            <a:avLst/>
          </a:prstGeom>
          <a:noFill/>
        </p:spPr>
        <p:txBody>
          <a:bodyPr wrap="none" lIns="0" rIns="0" tIns="0" bIns="0">
            <a:spAutoFit/>
          </a:bodyPr>
          <a:lstStyle/>
          <a:p>
            <a:r>
              <a:rPr sz="1150" b="0">
                <a:solidFill>
                  <a:srgbClr val="2E2E2E"/>
                </a:solidFill>
                <a:latin typeface="Calibri"/>
              </a:rPr>
              <a:t>over the forecast period, owing to an increase in average selling price.</a:t>
            </a:r>
          </a:p>
        </p:txBody>
      </p:sp>
      <p:sp>
        <p:nvSpPr>
          <p:cNvPr id="60" name="lockshield_12"/>
          <p:cNvSpPr/>
          <p:nvPr/>
        </p:nvSpPr>
        <p:spPr>
          <a:xfrm>
            <a:off x="238125" y="1266825"/>
            <a:ext cx="4505325" cy="21812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lockshield_15"/>
          <p:cNvSpPr/>
          <p:nvPr/>
        </p:nvSpPr>
        <p:spPr>
          <a:xfrm>
            <a:off x="5086350" y="1266825"/>
            <a:ext cx="6858000" cy="21812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Waterproof Coatings Market Summary Country Indices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1007261"/>
            <a:ext cx="3933825" cy="2445995"/>
          </a:xfrm>
          <a:prstGeom prst="roundRect">
            <a:avLst>
              <a:gd name="adj" fmla="val 311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CAGR Index</a:t>
            </a:r>
          </a:p>
        </p:txBody>
      </p:sp>
      <p:graphicFrame>
        <p:nvGraphicFramePr>
          <p:cNvPr id="12" name="Chart 11"/>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489764"/>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3565964"/>
          <a:ext cx="3928892" cy="2132070"/>
        </p:xfrm>
        <a:graphic>
          <a:graphicData uri="http://schemas.openxmlformats.org/drawingml/2006/table">
            <a:tbl>
              <a:tblPr>
                <a:tableStyleId>{5C22544A-7EE6-4342-B048-85BDC9FD1C3A}</a:tableStyleId>
              </a:tblPr>
              <a:tblGrid>
                <a:gridCol w="650421"/>
                <a:gridCol w="1088118"/>
                <a:gridCol w="1088118"/>
                <a:gridCol w="1102235"/>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628648">
                <a:tc>
                  <a:txBody>
                    <a:bodyPr wrap="none"/>
                    <a:lstStyle/>
                    <a:p>
                      <a:pPr algn="l"/>
                      <a:r>
                        <a:rPr sz="1100" b="1">
                          <a:solidFill>
                            <a:srgbClr val="2E2E2E"/>
                          </a:solidFill>
                          <a:latin typeface="Calibri"/>
                        </a:rPr>
                        <a:t>Mexico</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628648">
                <a:tc>
                  <a:txBody>
                    <a:bodyPr wrap="none"/>
                    <a:lstStyle/>
                    <a:p>
                      <a:pPr algn="l"/>
                      <a:r>
                        <a:rPr sz="1100" b="1">
                          <a:solidFill>
                            <a:srgbClr val="2E2E2E"/>
                          </a:solidFill>
                          <a:latin typeface="Calibri"/>
                        </a:rPr>
                        <a:t>Canada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628648">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5" name="TextBox 14"/>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Rounded Rectangle 15"/>
          <p:cNvSpPr/>
          <p:nvPr/>
        </p:nvSpPr>
        <p:spPr>
          <a:xfrm>
            <a:off x="4114800" y="1007261"/>
            <a:ext cx="3933825" cy="4928498"/>
          </a:xfrm>
          <a:prstGeom prst="roundRect">
            <a:avLst>
              <a:gd name="adj" fmla="val 19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2036 Market By Country (US$ Mn)  ·  Top 10</a:t>
            </a:r>
          </a:p>
        </p:txBody>
      </p:sp>
      <p:sp>
        <p:nvSpPr>
          <p:cNvPr id="18" name="Rectangle 17"/>
          <p:cNvSpPr/>
          <p:nvPr/>
        </p:nvSpPr>
        <p:spPr>
          <a:xfrm>
            <a:off x="4210050" y="1293011"/>
            <a:ext cx="3743325" cy="2546075"/>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9" name="Rectangle 18"/>
          <p:cNvSpPr/>
          <p:nvPr/>
        </p:nvSpPr>
        <p:spPr>
          <a:xfrm>
            <a:off x="4210050" y="3839086"/>
            <a:ext cx="2257649" cy="2039523"/>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20" name="Rectangle 19"/>
          <p:cNvSpPr/>
          <p:nvPr/>
        </p:nvSpPr>
        <p:spPr>
          <a:xfrm>
            <a:off x="6467699" y="3839086"/>
            <a:ext cx="1485676" cy="2039523"/>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Mexico</a:t>
            </a:r>
          </a:p>
          <a:p>
            <a:pPr algn="ctr"/>
            <a:r>
              <a:rPr sz="1100" b="0">
                <a:solidFill>
                  <a:srgbClr val="FFFFFF"/>
                </a:solidFill>
                <a:latin typeface="Calibri"/>
              </a:rPr>
              <a:t> </a:t>
            </a:r>
          </a:p>
        </p:txBody>
      </p:sp>
      <p:sp>
        <p:nvSpPr>
          <p:cNvPr id="21" name="Rounded Rectangle 20"/>
          <p:cNvSpPr/>
          <p:nvPr/>
        </p:nvSpPr>
        <p:spPr>
          <a:xfrm>
            <a:off x="8086725" y="1007261"/>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Absolute Index</a:t>
            </a:r>
          </a:p>
        </p:txBody>
      </p:sp>
      <p:graphicFrame>
        <p:nvGraphicFramePr>
          <p:cNvPr id="23" name="Chart 22"/>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24" name="Rounded Rectangle 23"/>
          <p:cNvSpPr/>
          <p:nvPr/>
        </p:nvSpPr>
        <p:spPr>
          <a:xfrm>
            <a:off x="8086725" y="3471510"/>
            <a:ext cx="3933825" cy="2464249"/>
          </a:xfrm>
          <a:prstGeom prst="roundRect">
            <a:avLst>
              <a:gd name="adj" fmla="val 30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5" name="Table 24"/>
          <p:cNvGraphicFramePr>
            <a:graphicFrameLocks noGrp="1"/>
          </p:cNvGraphicFramePr>
          <p:nvPr/>
        </p:nvGraphicFramePr>
        <p:xfrm>
          <a:off x="8096250" y="3547710"/>
          <a:ext cx="3928892" cy="2159448"/>
        </p:xfrm>
        <a:graphic>
          <a:graphicData uri="http://schemas.openxmlformats.org/drawingml/2006/table">
            <a:tbl>
              <a:tblPr>
                <a:tableStyleId>{5C22544A-7EE6-4342-B048-85BDC9FD1C3A}</a:tableStyleId>
              </a:tblPr>
              <a:tblGrid>
                <a:gridCol w="650421"/>
                <a:gridCol w="1088118"/>
                <a:gridCol w="1088118"/>
                <a:gridCol w="1102235"/>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637774">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637774">
                <a:tc>
                  <a:txBody>
                    <a:bodyPr wrap="none"/>
                    <a:lstStyle/>
                    <a:p>
                      <a:pPr algn="l"/>
                      <a:r>
                        <a:rPr sz="1100" b="1">
                          <a:solidFill>
                            <a:srgbClr val="2E2E2E"/>
                          </a:solidFill>
                          <a:latin typeface="Calibri"/>
                        </a:rPr>
                        <a:t>Canada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637774">
                <a:tc>
                  <a:txBody>
                    <a:bodyPr wrap="none"/>
                    <a:lstStyle/>
                    <a:p>
                      <a:pPr algn="l"/>
                      <a:r>
                        <a:rPr sz="1100" b="1">
                          <a:solidFill>
                            <a:srgbClr val="2E2E2E"/>
                          </a:solidFill>
                          <a:latin typeface="Calibri"/>
                        </a:rPr>
                        <a:t>Mexico</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26" name="TextBox 25"/>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27" name="Rounded Rectangle 26"/>
          <p:cNvSpPr/>
          <p:nvPr/>
        </p:nvSpPr>
        <p:spPr>
          <a:xfrm>
            <a:off x="142875" y="6027028"/>
            <a:ext cx="10858500" cy="602372"/>
          </a:xfrm>
          <a:prstGeom prst="roundRect">
            <a:avLst>
              <a:gd name="adj" fmla="val 1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3188017" y="2125483"/>
            <a:ext cx="183356" cy="266700"/>
          </a:xfrm>
          <a:prstGeom prst="rect">
            <a:avLst/>
          </a:prstGeom>
        </p:spPr>
      </p:pic>
      <p:pic>
        <p:nvPicPr>
          <p:cNvPr id="30" name="Picture 29" descr="lock.png"/>
          <p:cNvPicPr>
            <a:picLocks noChangeAspect="1"/>
          </p:cNvPicPr>
          <p:nvPr/>
        </p:nvPicPr>
        <p:blipFill>
          <a:blip r:embed="rId6"/>
          <a:stretch>
            <a:fillRect/>
          </a:stretch>
        </p:blipFill>
        <p:spPr>
          <a:xfrm>
            <a:off x="2232897" y="4496596"/>
            <a:ext cx="355389" cy="516930"/>
          </a:xfrm>
          <a:prstGeom prst="rect">
            <a:avLst/>
          </a:prstGeom>
        </p:spPr>
      </p:pic>
      <p:pic>
        <p:nvPicPr>
          <p:cNvPr id="31" name="Picture 30" descr="lock.png"/>
          <p:cNvPicPr>
            <a:picLocks noChangeAspect="1"/>
          </p:cNvPicPr>
          <p:nvPr/>
        </p:nvPicPr>
        <p:blipFill>
          <a:blip r:embed="rId6"/>
          <a:stretch>
            <a:fillRect/>
          </a:stretch>
        </p:blipFill>
        <p:spPr>
          <a:xfrm>
            <a:off x="6024086" y="2566048"/>
            <a:ext cx="115252" cy="167639"/>
          </a:xfrm>
          <a:prstGeom prst="rect">
            <a:avLst/>
          </a:prstGeom>
        </p:spPr>
      </p:pic>
      <p:pic>
        <p:nvPicPr>
          <p:cNvPr id="32" name="Picture 31" descr="lock.png"/>
          <p:cNvPicPr>
            <a:picLocks noChangeAspect="1"/>
          </p:cNvPicPr>
          <p:nvPr/>
        </p:nvPicPr>
        <p:blipFill>
          <a:blip r:embed="rId6"/>
          <a:stretch>
            <a:fillRect/>
          </a:stretch>
        </p:blipFill>
        <p:spPr>
          <a:xfrm>
            <a:off x="5281248" y="4858847"/>
            <a:ext cx="115252" cy="167639"/>
          </a:xfrm>
          <a:prstGeom prst="rect">
            <a:avLst/>
          </a:prstGeom>
        </p:spPr>
      </p:pic>
      <p:pic>
        <p:nvPicPr>
          <p:cNvPr id="33" name="Picture 32" descr="lock.png"/>
          <p:cNvPicPr>
            <a:picLocks noChangeAspect="1"/>
          </p:cNvPicPr>
          <p:nvPr/>
        </p:nvPicPr>
        <p:blipFill>
          <a:blip r:embed="rId6"/>
          <a:stretch>
            <a:fillRect/>
          </a:stretch>
        </p:blipFill>
        <p:spPr>
          <a:xfrm>
            <a:off x="7152911" y="4858847"/>
            <a:ext cx="115252" cy="167639"/>
          </a:xfrm>
          <a:prstGeom prst="rect">
            <a:avLst/>
          </a:prstGeom>
        </p:spPr>
      </p:pic>
      <p:pic>
        <p:nvPicPr>
          <p:cNvPr id="34" name="Picture 33" descr="lock.png"/>
          <p:cNvPicPr>
            <a:picLocks noChangeAspect="1"/>
          </p:cNvPicPr>
          <p:nvPr/>
        </p:nvPicPr>
        <p:blipFill>
          <a:blip r:embed="rId6"/>
          <a:stretch>
            <a:fillRect/>
          </a:stretch>
        </p:blipFill>
        <p:spPr>
          <a:xfrm>
            <a:off x="11131867" y="2120920"/>
            <a:ext cx="183356" cy="266700"/>
          </a:xfrm>
          <a:prstGeom prst="rect">
            <a:avLst/>
          </a:prstGeom>
        </p:spPr>
      </p:pic>
      <p:pic>
        <p:nvPicPr>
          <p:cNvPr id="35" name="Picture 34" descr="lock.png"/>
          <p:cNvPicPr>
            <a:picLocks noChangeAspect="1"/>
          </p:cNvPicPr>
          <p:nvPr/>
        </p:nvPicPr>
        <p:blipFill>
          <a:blip r:embed="rId6"/>
          <a:stretch>
            <a:fillRect/>
          </a:stretch>
        </p:blipFill>
        <p:spPr>
          <a:xfrm>
            <a:off x="10175439" y="4490162"/>
            <a:ext cx="357960" cy="520669"/>
          </a:xfrm>
          <a:prstGeom prst="rect">
            <a:avLst/>
          </a:prstGeom>
        </p:spPr>
      </p:pic>
      <p:sp>
        <p:nvSpPr>
          <p:cNvPr id="36" name="TextBox 35"/>
          <p:cNvSpPr txBox="1"/>
          <p:nvPr/>
        </p:nvSpPr>
        <p:spPr>
          <a:xfrm>
            <a:off x="257175" y="6160574"/>
            <a:ext cx="3480841" cy="186689"/>
          </a:xfrm>
          <a:prstGeom prst="rect">
            <a:avLst/>
          </a:prstGeom>
          <a:noFill/>
        </p:spPr>
        <p:txBody>
          <a:bodyPr wrap="none" lIns="0" rIns="0" tIns="0" bIns="0">
            <a:spAutoFit/>
          </a:bodyPr>
          <a:lstStyle/>
          <a:p>
            <a:r>
              <a:rPr sz="1100" b="0">
                <a:solidFill>
                  <a:srgbClr val="2E2E2E"/>
                </a:solidFill>
                <a:latin typeface="Calibri"/>
              </a:rPr>
              <a:t>The U.S. waterproof coatings market is projected to register</a:t>
            </a:r>
          </a:p>
        </p:txBody>
      </p:sp>
      <p:pic>
        <p:nvPicPr>
          <p:cNvPr id="37" name="Picture 36" descr="lock.png"/>
          <p:cNvPicPr>
            <a:picLocks noChangeAspect="1"/>
          </p:cNvPicPr>
          <p:nvPr/>
        </p:nvPicPr>
        <p:blipFill>
          <a:blip r:embed="rId6"/>
          <a:stretch>
            <a:fillRect/>
          </a:stretch>
        </p:blipFill>
        <p:spPr>
          <a:xfrm>
            <a:off x="3686068" y="6150795"/>
            <a:ext cx="128699" cy="187198"/>
          </a:xfrm>
          <a:prstGeom prst="rect">
            <a:avLst/>
          </a:prstGeom>
        </p:spPr>
      </p:pic>
      <p:sp>
        <p:nvSpPr>
          <p:cNvPr id="38" name="TextBox 37"/>
          <p:cNvSpPr txBox="1"/>
          <p:nvPr/>
        </p:nvSpPr>
        <p:spPr>
          <a:xfrm>
            <a:off x="3853564" y="6160574"/>
            <a:ext cx="4332667" cy="186689"/>
          </a:xfrm>
          <a:prstGeom prst="rect">
            <a:avLst/>
          </a:prstGeom>
          <a:noFill/>
        </p:spPr>
        <p:txBody>
          <a:bodyPr wrap="none" lIns="0" rIns="0" tIns="0" bIns="0">
            <a:spAutoFit/>
          </a:bodyPr>
          <a:lstStyle/>
          <a:p>
            <a:r>
              <a:rPr sz="1100" b="0">
                <a:solidFill>
                  <a:srgbClr val="2E2E2E"/>
                </a:solidFill>
                <a:latin typeface="Calibri"/>
              </a:rPr>
              <a:t>X higher value than Canada in 2036. Mexico posts the highest CAGR Index (</a:t>
            </a:r>
          </a:p>
        </p:txBody>
      </p:sp>
      <p:pic>
        <p:nvPicPr>
          <p:cNvPr id="39" name="Picture 38" descr="lock.png"/>
          <p:cNvPicPr>
            <a:picLocks noChangeAspect="1"/>
          </p:cNvPicPr>
          <p:nvPr/>
        </p:nvPicPr>
        <p:blipFill>
          <a:blip r:embed="rId6"/>
          <a:stretch>
            <a:fillRect/>
          </a:stretch>
        </p:blipFill>
        <p:spPr>
          <a:xfrm>
            <a:off x="8134283" y="6150795"/>
            <a:ext cx="128699" cy="187198"/>
          </a:xfrm>
          <a:prstGeom prst="rect">
            <a:avLst/>
          </a:prstGeom>
        </p:spPr>
      </p:pic>
      <p:sp>
        <p:nvSpPr>
          <p:cNvPr id="40" name="TextBox 39"/>
          <p:cNvSpPr txBox="1"/>
          <p:nvPr/>
        </p:nvSpPr>
        <p:spPr>
          <a:xfrm>
            <a:off x="8301778" y="6160574"/>
            <a:ext cx="789979" cy="186689"/>
          </a:xfrm>
          <a:prstGeom prst="rect">
            <a:avLst/>
          </a:prstGeom>
          <a:noFill/>
        </p:spPr>
        <p:txBody>
          <a:bodyPr wrap="none" lIns="0" rIns="0" tIns="0" bIns="0">
            <a:spAutoFit/>
          </a:bodyPr>
          <a:lstStyle/>
          <a:p>
            <a:r>
              <a:rPr sz="1100" b="0">
                <a:solidFill>
                  <a:srgbClr val="2E2E2E"/>
                </a:solidFill>
                <a:latin typeface="Calibri"/>
              </a:rPr>
              <a:t>), growing at</a:t>
            </a:r>
          </a:p>
        </p:txBody>
      </p:sp>
      <p:pic>
        <p:nvPicPr>
          <p:cNvPr id="41" name="Picture 40" descr="lock.png"/>
          <p:cNvPicPr>
            <a:picLocks noChangeAspect="1"/>
          </p:cNvPicPr>
          <p:nvPr/>
        </p:nvPicPr>
        <p:blipFill>
          <a:blip r:embed="rId6"/>
          <a:stretch>
            <a:fillRect/>
          </a:stretch>
        </p:blipFill>
        <p:spPr>
          <a:xfrm>
            <a:off x="9039810" y="6150795"/>
            <a:ext cx="128699" cy="187198"/>
          </a:xfrm>
          <a:prstGeom prst="rect">
            <a:avLst/>
          </a:prstGeom>
        </p:spPr>
      </p:pic>
      <p:sp>
        <p:nvSpPr>
          <p:cNvPr id="42" name="TextBox 41"/>
          <p:cNvSpPr txBox="1"/>
          <p:nvPr/>
        </p:nvSpPr>
        <p:spPr>
          <a:xfrm>
            <a:off x="9207306" y="6160574"/>
            <a:ext cx="1069106" cy="186689"/>
          </a:xfrm>
          <a:prstGeom prst="rect">
            <a:avLst/>
          </a:prstGeom>
          <a:noFill/>
        </p:spPr>
        <p:txBody>
          <a:bodyPr wrap="none" lIns="0" rIns="0" tIns="0" bIns="0">
            <a:spAutoFit/>
          </a:bodyPr>
          <a:lstStyle/>
          <a:p>
            <a:r>
              <a:rPr sz="1100" b="0">
                <a:solidFill>
                  <a:srgbClr val="2E2E2E"/>
                </a:solidFill>
                <a:latin typeface="Calibri"/>
              </a:rPr>
              <a:t>against the North</a:t>
            </a:r>
          </a:p>
        </p:txBody>
      </p:sp>
      <p:sp>
        <p:nvSpPr>
          <p:cNvPr id="43" name="TextBox 42"/>
          <p:cNvSpPr txBox="1"/>
          <p:nvPr/>
        </p:nvSpPr>
        <p:spPr>
          <a:xfrm>
            <a:off x="257175" y="6328214"/>
            <a:ext cx="4080842" cy="186689"/>
          </a:xfrm>
          <a:prstGeom prst="rect">
            <a:avLst/>
          </a:prstGeom>
          <a:noFill/>
        </p:spPr>
        <p:txBody>
          <a:bodyPr wrap="none" lIns="0" rIns="0" tIns="0" bIns="0">
            <a:spAutoFit/>
          </a:bodyPr>
          <a:lstStyle/>
          <a:p>
            <a:r>
              <a:rPr sz="1100" b="0">
                <a:solidFill>
                  <a:srgbClr val="2E2E2E"/>
                </a:solidFill>
                <a:latin typeface="Calibri"/>
              </a:rPr>
              <a:t>America benchmark, while U.S. offers the largest absolute opportunity</a:t>
            </a:r>
          </a:p>
        </p:txBody>
      </p:sp>
      <p:pic>
        <p:nvPicPr>
          <p:cNvPr id="44" name="Picture 43" descr="lock.png"/>
          <p:cNvPicPr>
            <a:picLocks noChangeAspect="1"/>
          </p:cNvPicPr>
          <p:nvPr/>
        </p:nvPicPr>
        <p:blipFill>
          <a:blip r:embed="rId6"/>
          <a:stretch>
            <a:fillRect/>
          </a:stretch>
        </p:blipFill>
        <p:spPr>
          <a:xfrm>
            <a:off x="4286068" y="6318435"/>
            <a:ext cx="128699" cy="187198"/>
          </a:xfrm>
          <a:prstGeom prst="rect">
            <a:avLst/>
          </a:prstGeom>
        </p:spPr>
      </p:pic>
      <p:sp>
        <p:nvSpPr>
          <p:cNvPr id="45" name="TextBox 44"/>
          <p:cNvSpPr txBox="1"/>
          <p:nvPr/>
        </p:nvSpPr>
        <p:spPr>
          <a:xfrm>
            <a:off x="4453564" y="6328214"/>
            <a:ext cx="3311946" cy="186689"/>
          </a:xfrm>
          <a:prstGeom prst="rect">
            <a:avLst/>
          </a:prstGeom>
          <a:noFill/>
        </p:spPr>
        <p:txBody>
          <a:bodyPr wrap="none" lIns="0" rIns="0" tIns="0" bIns="0">
            <a:spAutoFit/>
          </a:bodyPr>
          <a:lstStyle/>
          <a:p>
            <a:r>
              <a:rPr sz="1100" b="0">
                <a:solidFill>
                  <a:srgbClr val="2E2E2E"/>
                </a:solidFill>
                <a:latin typeface="Calibri"/>
              </a:rPr>
              <a:t>US$ Mn of incremental market between 2026 and 2036 (</a:t>
            </a:r>
          </a:p>
        </p:txBody>
      </p:sp>
      <p:pic>
        <p:nvPicPr>
          <p:cNvPr id="46" name="Picture 45" descr="lock.png"/>
          <p:cNvPicPr>
            <a:picLocks noChangeAspect="1"/>
          </p:cNvPicPr>
          <p:nvPr/>
        </p:nvPicPr>
        <p:blipFill>
          <a:blip r:embed="rId6"/>
          <a:stretch>
            <a:fillRect/>
          </a:stretch>
        </p:blipFill>
        <p:spPr>
          <a:xfrm>
            <a:off x="7713563" y="6318435"/>
            <a:ext cx="128699" cy="187198"/>
          </a:xfrm>
          <a:prstGeom prst="rect">
            <a:avLst/>
          </a:prstGeom>
        </p:spPr>
      </p:pic>
      <p:sp>
        <p:nvSpPr>
          <p:cNvPr id="47" name="TextBox 46"/>
          <p:cNvSpPr txBox="1"/>
          <p:nvPr/>
        </p:nvSpPr>
        <p:spPr>
          <a:xfrm>
            <a:off x="7881058" y="6328214"/>
            <a:ext cx="1973336" cy="186689"/>
          </a:xfrm>
          <a:prstGeom prst="rect">
            <a:avLst/>
          </a:prstGeom>
          <a:noFill/>
        </p:spPr>
        <p:txBody>
          <a:bodyPr wrap="none" lIns="0" rIns="0" tIns="0" bIns="0">
            <a:spAutoFit/>
          </a:bodyPr>
          <a:lstStyle/>
          <a:p>
            <a:r>
              <a:rPr sz="1100" b="0">
                <a:solidFill>
                  <a:srgbClr val="2E2E2E"/>
                </a:solidFill>
                <a:latin typeface="Calibri"/>
              </a:rPr>
              <a:t>of the North America increment).</a:t>
            </a:r>
          </a:p>
        </p:txBody>
      </p:sp>
      <p:sp>
        <p:nvSpPr>
          <p:cNvPr id="48" name="lockshield_12"/>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lockshield_23"/>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Overview (1/4)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market size, competitive landscape and the drivers, restraints and trends shaping demand</a:t>
            </a:r>
          </a:p>
        </p:txBody>
      </p:sp>
      <p:sp>
        <p:nvSpPr>
          <p:cNvPr id="10" name="Rounded Rectangle 9"/>
          <p:cNvSpPr/>
          <p:nvPr/>
        </p:nvSpPr>
        <p:spPr>
          <a:xfrm>
            <a:off x="142875" y="981075"/>
            <a:ext cx="11906250"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B2E4A"/>
                </a:solidFill>
                <a:latin typeface="Calibri"/>
              </a:rPr>
              <a:t>Market Overview</a:t>
            </a:r>
          </a:p>
        </p:txBody>
      </p:sp>
      <p:sp>
        <p:nvSpPr>
          <p:cNvPr id="12" name="Rectangle 11"/>
          <p:cNvSpPr/>
          <p:nvPr/>
        </p:nvSpPr>
        <p:spPr>
          <a:xfrm>
            <a:off x="276225" y="13049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11639550"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4" name="Rounded Rectangle 13"/>
          <p:cNvSpPr/>
          <p:nvPr/>
        </p:nvSpPr>
        <p:spPr>
          <a:xfrm>
            <a:off x="142875" y="2800350"/>
            <a:ext cx="11906250" cy="1571625"/>
          </a:xfrm>
          <a:prstGeom prst="roundRect">
            <a:avLst>
              <a:gd name="adj" fmla="val 484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88607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Competitive Landscape</a:t>
            </a:r>
          </a:p>
        </p:txBody>
      </p:sp>
      <p:sp>
        <p:nvSpPr>
          <p:cNvPr id="16" name="Rectangle 15"/>
          <p:cNvSpPr/>
          <p:nvPr/>
        </p:nvSpPr>
        <p:spPr>
          <a:xfrm>
            <a:off x="276225" y="31242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209925"/>
            <a:ext cx="11639550" cy="10858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142875" y="4505325"/>
            <a:ext cx="3943350" cy="2124075"/>
          </a:xfrm>
          <a:prstGeom prst="roundRect">
            <a:avLst>
              <a:gd name="adj" fmla="val 3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591050"/>
            <a:ext cx="3676650" cy="209550"/>
          </a:xfrm>
          <a:prstGeom prst="rect">
            <a:avLst/>
          </a:prstGeom>
          <a:noFill/>
        </p:spPr>
        <p:txBody>
          <a:bodyPr wrap="square" lIns="0" rIns="19050" tIns="9525" bIns="9525">
            <a:spAutoFit/>
          </a:bodyPr>
          <a:lstStyle/>
          <a:p>
            <a:pPr algn="l"/>
            <a:r>
              <a:rPr sz="1300" b="1">
                <a:solidFill>
                  <a:srgbClr val="0B2E4A"/>
                </a:solidFill>
                <a:latin typeface="Calibri"/>
              </a:rPr>
              <a:t>Drivers</a:t>
            </a:r>
          </a:p>
        </p:txBody>
      </p:sp>
      <p:sp>
        <p:nvSpPr>
          <p:cNvPr id="20" name="Rectangle 19"/>
          <p:cNvSpPr/>
          <p:nvPr/>
        </p:nvSpPr>
        <p:spPr>
          <a:xfrm>
            <a:off x="276225" y="4829175"/>
            <a:ext cx="3676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914900"/>
            <a:ext cx="3676650"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4238625" y="4505325"/>
            <a:ext cx="3819525" cy="2124075"/>
          </a:xfrm>
          <a:prstGeom prst="roundRect">
            <a:avLst>
              <a:gd name="adj" fmla="val 3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71975" y="4591050"/>
            <a:ext cx="3552825" cy="209550"/>
          </a:xfrm>
          <a:prstGeom prst="rect">
            <a:avLst/>
          </a:prstGeom>
          <a:noFill/>
        </p:spPr>
        <p:txBody>
          <a:bodyPr wrap="square" lIns="0" rIns="19050" tIns="9525" bIns="9525">
            <a:spAutoFit/>
          </a:bodyPr>
          <a:lstStyle/>
          <a:p>
            <a:pPr algn="l"/>
            <a:r>
              <a:rPr sz="1300" b="1">
                <a:solidFill>
                  <a:srgbClr val="0B2E4A"/>
                </a:solidFill>
                <a:latin typeface="Calibri"/>
              </a:rPr>
              <a:t>Restraints</a:t>
            </a:r>
          </a:p>
        </p:txBody>
      </p:sp>
      <p:sp>
        <p:nvSpPr>
          <p:cNvPr id="24" name="Rectangle 23"/>
          <p:cNvSpPr/>
          <p:nvPr/>
        </p:nvSpPr>
        <p:spPr>
          <a:xfrm>
            <a:off x="4371975" y="48291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71975" y="4914900"/>
            <a:ext cx="3552825"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8210550" y="4505325"/>
            <a:ext cx="3819525" cy="2124075"/>
          </a:xfrm>
          <a:prstGeom prst="roundRect">
            <a:avLst>
              <a:gd name="adj" fmla="val 3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4591050"/>
            <a:ext cx="3552825" cy="209550"/>
          </a:xfrm>
          <a:prstGeom prst="rect">
            <a:avLst/>
          </a:prstGeom>
          <a:noFill/>
        </p:spPr>
        <p:txBody>
          <a:bodyPr wrap="square" lIns="0" rIns="19050" tIns="9525" bIns="9525">
            <a:spAutoFit/>
          </a:bodyPr>
          <a:lstStyle/>
          <a:p>
            <a:pPr algn="l"/>
            <a:r>
              <a:rPr sz="1300" b="1">
                <a:solidFill>
                  <a:srgbClr val="0B2E4A"/>
                </a:solidFill>
                <a:latin typeface="Calibri"/>
              </a:rPr>
              <a:t>Trends</a:t>
            </a:r>
          </a:p>
        </p:txBody>
      </p:sp>
      <p:sp>
        <p:nvSpPr>
          <p:cNvPr id="28" name="Rectangle 27"/>
          <p:cNvSpPr/>
          <p:nvPr/>
        </p:nvSpPr>
        <p:spPr>
          <a:xfrm>
            <a:off x="8343900" y="48291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43900" y="4914900"/>
            <a:ext cx="3552825"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Mix shifting toward 'Silicone Waterproof Coatings' and higher-growth tiers.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Mexico outpacing the North America average.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Demand broadening across 8 product type / chemistry categories.</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3497820" cy="194310"/>
          </a:xfrm>
          <a:prstGeom prst="rect">
            <a:avLst/>
          </a:prstGeom>
          <a:noFill/>
        </p:spPr>
        <p:txBody>
          <a:bodyPr wrap="none" lIns="0" rIns="0" tIns="0" bIns="0">
            <a:spAutoFit/>
          </a:bodyPr>
          <a:lstStyle/>
          <a:p>
            <a:r>
              <a:rPr sz="1150" b="0">
                <a:solidFill>
                  <a:srgbClr val="2E2E2E"/>
                </a:solidFill>
                <a:latin typeface="Calibri"/>
              </a:rPr>
              <a:t>Global waterproof coatings market is expected to witness</a:t>
            </a:r>
          </a:p>
        </p:txBody>
      </p:sp>
      <p:pic>
        <p:nvPicPr>
          <p:cNvPr id="32" name="Picture 31" descr="lock.png"/>
          <p:cNvPicPr>
            <a:picLocks noChangeAspect="1"/>
          </p:cNvPicPr>
          <p:nvPr/>
        </p:nvPicPr>
        <p:blipFill>
          <a:blip r:embed="rId4"/>
          <a:stretch>
            <a:fillRect/>
          </a:stretch>
        </p:blipFill>
        <p:spPr>
          <a:xfrm>
            <a:off x="3723199" y="1389951"/>
            <a:ext cx="134549" cy="195707"/>
          </a:xfrm>
          <a:prstGeom prst="rect">
            <a:avLst/>
          </a:prstGeom>
        </p:spPr>
      </p:pic>
      <p:sp>
        <p:nvSpPr>
          <p:cNvPr id="33" name="TextBox 32"/>
          <p:cNvSpPr txBox="1"/>
          <p:nvPr/>
        </p:nvSpPr>
        <p:spPr>
          <a:xfrm>
            <a:off x="3898308" y="1400175"/>
            <a:ext cx="5386486" cy="194310"/>
          </a:xfrm>
          <a:prstGeom prst="rect">
            <a:avLst/>
          </a:prstGeom>
          <a:noFill/>
        </p:spPr>
        <p:txBody>
          <a:bodyPr wrap="none" lIns="0" rIns="0" tIns="0" bIns="0">
            <a:spAutoFit/>
          </a:bodyPr>
          <a:lstStyle/>
          <a:p>
            <a:r>
              <a:rPr sz="1150" b="0">
                <a:solidFill>
                  <a:srgbClr val="2E2E2E"/>
                </a:solidFill>
                <a:latin typeface="Calibri"/>
              </a:rPr>
              <a:t>X increase in revenue by 2036 end. Global waterproof coatings market accounted for US$</a:t>
            </a:r>
          </a:p>
        </p:txBody>
      </p:sp>
      <p:pic>
        <p:nvPicPr>
          <p:cNvPr id="34" name="Picture 33" descr="lock.png"/>
          <p:cNvPicPr>
            <a:picLocks noChangeAspect="1"/>
          </p:cNvPicPr>
          <p:nvPr/>
        </p:nvPicPr>
        <p:blipFill>
          <a:blip r:embed="rId4"/>
          <a:stretch>
            <a:fillRect/>
          </a:stretch>
        </p:blipFill>
        <p:spPr>
          <a:xfrm>
            <a:off x="9233949" y="1389951"/>
            <a:ext cx="134549" cy="195707"/>
          </a:xfrm>
          <a:prstGeom prst="rect">
            <a:avLst/>
          </a:prstGeom>
        </p:spPr>
      </p:pic>
      <p:sp>
        <p:nvSpPr>
          <p:cNvPr id="35" name="TextBox 34"/>
          <p:cNvSpPr txBox="1"/>
          <p:nvPr/>
        </p:nvSpPr>
        <p:spPr>
          <a:xfrm>
            <a:off x="9409058" y="1400175"/>
            <a:ext cx="2036179" cy="194310"/>
          </a:xfrm>
          <a:prstGeom prst="rect">
            <a:avLst/>
          </a:prstGeom>
          <a:noFill/>
        </p:spPr>
        <p:txBody>
          <a:bodyPr wrap="none" lIns="0" rIns="0" tIns="0" bIns="0">
            <a:spAutoFit/>
          </a:bodyPr>
          <a:lstStyle/>
          <a:p>
            <a:r>
              <a:rPr sz="1150" b="0">
                <a:solidFill>
                  <a:srgbClr val="2E2E2E"/>
                </a:solidFill>
                <a:latin typeface="Calibri"/>
              </a:rPr>
              <a:t>Mn in 2025, which is expected to</a:t>
            </a:r>
          </a:p>
        </p:txBody>
      </p:sp>
      <p:sp>
        <p:nvSpPr>
          <p:cNvPr id="36" name="TextBox 35"/>
          <p:cNvSpPr txBox="1"/>
          <p:nvPr/>
        </p:nvSpPr>
        <p:spPr>
          <a:xfrm>
            <a:off x="276225" y="1575435"/>
            <a:ext cx="999281" cy="194310"/>
          </a:xfrm>
          <a:prstGeom prst="rect">
            <a:avLst/>
          </a:prstGeom>
          <a:noFill/>
        </p:spPr>
        <p:txBody>
          <a:bodyPr wrap="none" lIns="0" rIns="0" tIns="0" bIns="0">
            <a:spAutoFit/>
          </a:bodyPr>
          <a:lstStyle/>
          <a:p>
            <a:r>
              <a:rPr sz="1150" b="0">
                <a:solidFill>
                  <a:srgbClr val="2E2E2E"/>
                </a:solidFill>
                <a:latin typeface="Calibri"/>
              </a:rPr>
              <a:t>increase to US$</a:t>
            </a:r>
          </a:p>
        </p:txBody>
      </p:sp>
      <p:pic>
        <p:nvPicPr>
          <p:cNvPr id="37" name="Picture 36" descr="lock.png"/>
          <p:cNvPicPr>
            <a:picLocks noChangeAspect="1"/>
          </p:cNvPicPr>
          <p:nvPr/>
        </p:nvPicPr>
        <p:blipFill>
          <a:blip r:embed="rId4"/>
          <a:stretch>
            <a:fillRect/>
          </a:stretch>
        </p:blipFill>
        <p:spPr>
          <a:xfrm>
            <a:off x="1224660" y="1565211"/>
            <a:ext cx="134549" cy="195707"/>
          </a:xfrm>
          <a:prstGeom prst="rect">
            <a:avLst/>
          </a:prstGeom>
        </p:spPr>
      </p:pic>
      <p:sp>
        <p:nvSpPr>
          <p:cNvPr id="38" name="TextBox 37"/>
          <p:cNvSpPr txBox="1"/>
          <p:nvPr/>
        </p:nvSpPr>
        <p:spPr>
          <a:xfrm>
            <a:off x="1399769" y="1575435"/>
            <a:ext cx="1527554" cy="194310"/>
          </a:xfrm>
          <a:prstGeom prst="rect">
            <a:avLst/>
          </a:prstGeom>
          <a:noFill/>
        </p:spPr>
        <p:txBody>
          <a:bodyPr wrap="none" lIns="0" rIns="0" tIns="0" bIns="0">
            <a:spAutoFit/>
          </a:bodyPr>
          <a:lstStyle/>
          <a:p>
            <a:r>
              <a:rPr sz="1150" b="0">
                <a:solidFill>
                  <a:srgbClr val="2E2E2E"/>
                </a:solidFill>
                <a:latin typeface="Calibri"/>
              </a:rPr>
              <a:t>Mn in 2036 at a CAGR of</a:t>
            </a:r>
          </a:p>
        </p:txBody>
      </p:sp>
      <p:pic>
        <p:nvPicPr>
          <p:cNvPr id="39" name="Picture 38" descr="lock.png"/>
          <p:cNvPicPr>
            <a:picLocks noChangeAspect="1"/>
          </p:cNvPicPr>
          <p:nvPr/>
        </p:nvPicPr>
        <p:blipFill>
          <a:blip r:embed="rId4"/>
          <a:stretch>
            <a:fillRect/>
          </a:stretch>
        </p:blipFill>
        <p:spPr>
          <a:xfrm>
            <a:off x="2876477" y="1565211"/>
            <a:ext cx="134549" cy="195707"/>
          </a:xfrm>
          <a:prstGeom prst="rect">
            <a:avLst/>
          </a:prstGeom>
        </p:spPr>
      </p:pic>
      <p:sp>
        <p:nvSpPr>
          <p:cNvPr id="40" name="TextBox 39"/>
          <p:cNvSpPr txBox="1"/>
          <p:nvPr/>
        </p:nvSpPr>
        <p:spPr>
          <a:xfrm>
            <a:off x="3051587" y="157543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1" name="TextBox 40"/>
          <p:cNvSpPr txBox="1"/>
          <p:nvPr/>
        </p:nvSpPr>
        <p:spPr>
          <a:xfrm>
            <a:off x="276225" y="1803273"/>
            <a:ext cx="11583057" cy="194310"/>
          </a:xfrm>
          <a:prstGeom prst="rect">
            <a:avLst/>
          </a:prstGeom>
          <a:noFill/>
        </p:spPr>
        <p:txBody>
          <a:bodyPr wrap="none" lIns="0" rIns="0" tIns="0" bIns="0">
            <a:spAutoFit/>
          </a:bodyPr>
          <a:lstStyle/>
          <a:p>
            <a:r>
              <a:rPr sz="1150" b="0">
                <a:solidFill>
                  <a:srgbClr val="2E2E2E"/>
                </a:solidFill>
                <a:latin typeface="Calibri"/>
              </a:rPr>
              <a:t>The global waterproof coatings market has been analysed on the basis of product type / chemistry, product configuration, technology and application across the globe. U.S. is expected to remain</a:t>
            </a:r>
          </a:p>
        </p:txBody>
      </p:sp>
      <p:sp>
        <p:nvSpPr>
          <p:cNvPr id="42" name="TextBox 41"/>
          <p:cNvSpPr txBox="1"/>
          <p:nvPr/>
        </p:nvSpPr>
        <p:spPr>
          <a:xfrm>
            <a:off x="276225" y="1978533"/>
            <a:ext cx="6922846" cy="194310"/>
          </a:xfrm>
          <a:prstGeom prst="rect">
            <a:avLst/>
          </a:prstGeom>
          <a:noFill/>
        </p:spPr>
        <p:txBody>
          <a:bodyPr wrap="none" lIns="0" rIns="0" tIns="0" bIns="0">
            <a:spAutoFit/>
          </a:bodyPr>
          <a:lstStyle/>
          <a:p>
            <a:r>
              <a:rPr sz="1150" b="0">
                <a:solidFill>
                  <a:srgbClr val="2E2E2E"/>
                </a:solidFill>
                <a:latin typeface="Calibri"/>
              </a:rPr>
              <a:t>the largest market for waterproof coatings, while demand in Mexico is projected to increase at the highest CAGR of</a:t>
            </a:r>
          </a:p>
        </p:txBody>
      </p:sp>
      <p:pic>
        <p:nvPicPr>
          <p:cNvPr id="43" name="Picture 42" descr="lock.png"/>
          <p:cNvPicPr>
            <a:picLocks noChangeAspect="1"/>
          </p:cNvPicPr>
          <p:nvPr/>
        </p:nvPicPr>
        <p:blipFill>
          <a:blip r:embed="rId4"/>
          <a:stretch>
            <a:fillRect/>
          </a:stretch>
        </p:blipFill>
        <p:spPr>
          <a:xfrm>
            <a:off x="7148225" y="1968309"/>
            <a:ext cx="134549" cy="195707"/>
          </a:xfrm>
          <a:prstGeom prst="rect">
            <a:avLst/>
          </a:prstGeom>
        </p:spPr>
      </p:pic>
      <p:sp>
        <p:nvSpPr>
          <p:cNvPr id="44" name="TextBox 43"/>
          <p:cNvSpPr txBox="1"/>
          <p:nvPr/>
        </p:nvSpPr>
        <p:spPr>
          <a:xfrm>
            <a:off x="7323334" y="1978533"/>
            <a:ext cx="1960872" cy="194310"/>
          </a:xfrm>
          <a:prstGeom prst="rect">
            <a:avLst/>
          </a:prstGeom>
          <a:noFill/>
        </p:spPr>
        <p:txBody>
          <a:bodyPr wrap="none" lIns="0" rIns="0" tIns="0" bIns="0">
            <a:spAutoFit/>
          </a:bodyPr>
          <a:lstStyle/>
          <a:p>
            <a:r>
              <a:rPr sz="1150" b="0">
                <a:solidFill>
                  <a:srgbClr val="2E2E2E"/>
                </a:solidFill>
                <a:latin typeface="Calibri"/>
              </a:rPr>
              <a:t>throughout the forecast period.</a:t>
            </a:r>
          </a:p>
        </p:txBody>
      </p:sp>
      <p:sp>
        <p:nvSpPr>
          <p:cNvPr id="45" name="TextBox 44"/>
          <p:cNvSpPr txBox="1"/>
          <p:nvPr/>
        </p:nvSpPr>
        <p:spPr>
          <a:xfrm>
            <a:off x="276225" y="3219450"/>
            <a:ext cx="7476827" cy="194310"/>
          </a:xfrm>
          <a:prstGeom prst="rect">
            <a:avLst/>
          </a:prstGeom>
          <a:noFill/>
        </p:spPr>
        <p:txBody>
          <a:bodyPr wrap="none" lIns="0" rIns="0" tIns="0" bIns="0">
            <a:spAutoFit/>
          </a:bodyPr>
          <a:lstStyle/>
          <a:p>
            <a:r>
              <a:rPr sz="1150" b="0">
                <a:solidFill>
                  <a:srgbClr val="2E2E2E"/>
                </a:solidFill>
                <a:latin typeface="Calibri"/>
              </a:rPr>
              <a:t>▪ The market is moderately fragmented: the leading product type / chemistry category 'Other Polymer-Based Coatings' holds</a:t>
            </a:r>
          </a:p>
        </p:txBody>
      </p:sp>
      <p:pic>
        <p:nvPicPr>
          <p:cNvPr id="46" name="Picture 45" descr="lock.png"/>
          <p:cNvPicPr>
            <a:picLocks noChangeAspect="1"/>
          </p:cNvPicPr>
          <p:nvPr/>
        </p:nvPicPr>
        <p:blipFill>
          <a:blip r:embed="rId4"/>
          <a:stretch>
            <a:fillRect/>
          </a:stretch>
        </p:blipFill>
        <p:spPr>
          <a:xfrm>
            <a:off x="7702206" y="3209226"/>
            <a:ext cx="134549" cy="195707"/>
          </a:xfrm>
          <a:prstGeom prst="rect">
            <a:avLst/>
          </a:prstGeom>
        </p:spPr>
      </p:pic>
      <p:sp>
        <p:nvSpPr>
          <p:cNvPr id="47" name="TextBox 46"/>
          <p:cNvSpPr txBox="1"/>
          <p:nvPr/>
        </p:nvSpPr>
        <p:spPr>
          <a:xfrm>
            <a:off x="7877315" y="3219450"/>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48" name="TextBox 47"/>
          <p:cNvSpPr txBox="1"/>
          <p:nvPr/>
        </p:nvSpPr>
        <p:spPr>
          <a:xfrm>
            <a:off x="276225" y="3447287"/>
            <a:ext cx="5737634" cy="194310"/>
          </a:xfrm>
          <a:prstGeom prst="rect">
            <a:avLst/>
          </a:prstGeom>
          <a:noFill/>
        </p:spPr>
        <p:txBody>
          <a:bodyPr wrap="none" lIns="0" rIns="0" tIns="0" bIns="0">
            <a:spAutoFit/>
          </a:bodyPr>
          <a:lstStyle/>
          <a:p>
            <a:r>
              <a:rPr sz="1150" b="0">
                <a:solidFill>
                  <a:srgbClr val="2E2E2E"/>
                </a:solidFill>
                <a:latin typeface="Calibri"/>
              </a:rPr>
              <a:t>▪ Demand spans 3 countries and 6 segmentation lenses (8 product type / chemistry categories).</a:t>
            </a:r>
          </a:p>
        </p:txBody>
      </p:sp>
      <p:sp>
        <p:nvSpPr>
          <p:cNvPr id="49" name="TextBox 48"/>
          <p:cNvSpPr txBox="1"/>
          <p:nvPr/>
        </p:nvSpPr>
        <p:spPr>
          <a:xfrm>
            <a:off x="276225" y="3675125"/>
            <a:ext cx="2288914" cy="194310"/>
          </a:xfrm>
          <a:prstGeom prst="rect">
            <a:avLst/>
          </a:prstGeom>
          <a:noFill/>
        </p:spPr>
        <p:txBody>
          <a:bodyPr wrap="none" lIns="0" rIns="0" tIns="0" bIns="0">
            <a:spAutoFit/>
          </a:bodyPr>
          <a:lstStyle/>
          <a:p>
            <a:r>
              <a:rPr sz="1150" b="0">
                <a:solidFill>
                  <a:srgbClr val="2E2E2E"/>
                </a:solidFill>
                <a:latin typeface="Calibri"/>
              </a:rPr>
              <a:t>▪ U.S. is the largest country market at</a:t>
            </a:r>
          </a:p>
        </p:txBody>
      </p:sp>
      <p:pic>
        <p:nvPicPr>
          <p:cNvPr id="50" name="Picture 49" descr="lock.png"/>
          <p:cNvPicPr>
            <a:picLocks noChangeAspect="1"/>
          </p:cNvPicPr>
          <p:nvPr/>
        </p:nvPicPr>
        <p:blipFill>
          <a:blip r:embed="rId4"/>
          <a:stretch>
            <a:fillRect/>
          </a:stretch>
        </p:blipFill>
        <p:spPr>
          <a:xfrm>
            <a:off x="2514293" y="3664902"/>
            <a:ext cx="134549" cy="195707"/>
          </a:xfrm>
          <a:prstGeom prst="rect">
            <a:avLst/>
          </a:prstGeom>
        </p:spPr>
      </p:pic>
      <p:sp>
        <p:nvSpPr>
          <p:cNvPr id="51" name="TextBox 50"/>
          <p:cNvSpPr txBox="1"/>
          <p:nvPr/>
        </p:nvSpPr>
        <p:spPr>
          <a:xfrm>
            <a:off x="2689402" y="3675125"/>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52" name="TextBox 51"/>
          <p:cNvSpPr txBox="1"/>
          <p:nvPr/>
        </p:nvSpPr>
        <p:spPr>
          <a:xfrm>
            <a:off x="276225" y="4924425"/>
            <a:ext cx="3403401" cy="194310"/>
          </a:xfrm>
          <a:prstGeom prst="rect">
            <a:avLst/>
          </a:prstGeom>
          <a:noFill/>
        </p:spPr>
        <p:txBody>
          <a:bodyPr wrap="none" lIns="0" rIns="0" tIns="0" bIns="0">
            <a:spAutoFit/>
          </a:bodyPr>
          <a:lstStyle/>
          <a:p>
            <a:r>
              <a:rPr sz="1150" b="0">
                <a:solidFill>
                  <a:srgbClr val="2E2E2E"/>
                </a:solidFill>
                <a:latin typeface="Calibri"/>
              </a:rPr>
              <a:t>▪ Accelerating uptake of 'Silicone Waterproof Coatings' (</a:t>
            </a:r>
          </a:p>
        </p:txBody>
      </p:sp>
      <p:pic>
        <p:nvPicPr>
          <p:cNvPr id="53" name="Picture 52" descr="lock.png"/>
          <p:cNvPicPr>
            <a:picLocks noChangeAspect="1"/>
          </p:cNvPicPr>
          <p:nvPr/>
        </p:nvPicPr>
        <p:blipFill>
          <a:blip r:embed="rId4"/>
          <a:stretch>
            <a:fillRect/>
          </a:stretch>
        </p:blipFill>
        <p:spPr>
          <a:xfrm>
            <a:off x="3628780" y="4914201"/>
            <a:ext cx="134549" cy="195707"/>
          </a:xfrm>
          <a:prstGeom prst="rect">
            <a:avLst/>
          </a:prstGeom>
        </p:spPr>
      </p:pic>
      <p:sp>
        <p:nvSpPr>
          <p:cNvPr id="54" name="TextBox 53"/>
          <p:cNvSpPr txBox="1"/>
          <p:nvPr/>
        </p:nvSpPr>
        <p:spPr>
          <a:xfrm>
            <a:off x="276225" y="5099685"/>
            <a:ext cx="490941"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5" name="TextBox 54"/>
          <p:cNvSpPr txBox="1"/>
          <p:nvPr/>
        </p:nvSpPr>
        <p:spPr>
          <a:xfrm>
            <a:off x="276225" y="5327522"/>
            <a:ext cx="2139093" cy="194310"/>
          </a:xfrm>
          <a:prstGeom prst="rect">
            <a:avLst/>
          </a:prstGeom>
          <a:noFill/>
        </p:spPr>
        <p:txBody>
          <a:bodyPr wrap="none" lIns="0" rIns="0" tIns="0" bIns="0">
            <a:spAutoFit/>
          </a:bodyPr>
          <a:lstStyle/>
          <a:p>
            <a:r>
              <a:rPr sz="1150" b="0">
                <a:solidFill>
                  <a:srgbClr val="2E2E2E"/>
                </a:solidFill>
                <a:latin typeface="Calibri"/>
              </a:rPr>
              <a:t>▪ Fast-growing demand in Mexico (</a:t>
            </a:r>
          </a:p>
        </p:txBody>
      </p:sp>
      <p:pic>
        <p:nvPicPr>
          <p:cNvPr id="56" name="Picture 55" descr="lock.png"/>
          <p:cNvPicPr>
            <a:picLocks noChangeAspect="1"/>
          </p:cNvPicPr>
          <p:nvPr/>
        </p:nvPicPr>
        <p:blipFill>
          <a:blip r:embed="rId4"/>
          <a:stretch>
            <a:fillRect/>
          </a:stretch>
        </p:blipFill>
        <p:spPr>
          <a:xfrm>
            <a:off x="2364472" y="5317299"/>
            <a:ext cx="134549" cy="195707"/>
          </a:xfrm>
          <a:prstGeom prst="rect">
            <a:avLst/>
          </a:prstGeom>
        </p:spPr>
      </p:pic>
      <p:sp>
        <p:nvSpPr>
          <p:cNvPr id="57" name="TextBox 56"/>
          <p:cNvSpPr txBox="1"/>
          <p:nvPr/>
        </p:nvSpPr>
        <p:spPr>
          <a:xfrm>
            <a:off x="2539582" y="5327522"/>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8" name="TextBox 57"/>
          <p:cNvSpPr txBox="1"/>
          <p:nvPr/>
        </p:nvSpPr>
        <p:spPr>
          <a:xfrm>
            <a:off x="276225" y="5555360"/>
            <a:ext cx="3657600" cy="194310"/>
          </a:xfrm>
          <a:prstGeom prst="rect">
            <a:avLst/>
          </a:prstGeom>
          <a:noFill/>
        </p:spPr>
        <p:txBody>
          <a:bodyPr wrap="none" lIns="0" rIns="0" tIns="0" bIns="0">
            <a:spAutoFit/>
          </a:bodyPr>
          <a:lstStyle/>
          <a:p>
            <a:r>
              <a:rPr sz="1150" b="0">
                <a:solidFill>
                  <a:srgbClr val="2E2E2E"/>
                </a:solidFill>
                <a:latin typeface="Calibri"/>
              </a:rPr>
              <a:t>▪ Momentum in Bathrooms and Wet Areas within application</a:t>
            </a:r>
          </a:p>
        </p:txBody>
      </p:sp>
      <p:sp>
        <p:nvSpPr>
          <p:cNvPr id="59" name="TextBox 58"/>
          <p:cNvSpPr txBox="1"/>
          <p:nvPr/>
        </p:nvSpPr>
        <p:spPr>
          <a:xfrm>
            <a:off x="276225" y="5730620"/>
            <a:ext cx="120414"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60" name="Picture 59" descr="lock.png"/>
          <p:cNvPicPr>
            <a:picLocks noChangeAspect="1"/>
          </p:cNvPicPr>
          <p:nvPr/>
        </p:nvPicPr>
        <p:blipFill>
          <a:blip r:embed="rId4"/>
          <a:stretch>
            <a:fillRect/>
          </a:stretch>
        </p:blipFill>
        <p:spPr>
          <a:xfrm>
            <a:off x="345793" y="5720397"/>
            <a:ext cx="134549" cy="195707"/>
          </a:xfrm>
          <a:prstGeom prst="rect">
            <a:avLst/>
          </a:prstGeom>
        </p:spPr>
      </p:pic>
      <p:sp>
        <p:nvSpPr>
          <p:cNvPr id="61" name="TextBox 60"/>
          <p:cNvSpPr txBox="1"/>
          <p:nvPr/>
        </p:nvSpPr>
        <p:spPr>
          <a:xfrm>
            <a:off x="520902" y="573062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2" name="TextBox 61"/>
          <p:cNvSpPr txBox="1"/>
          <p:nvPr/>
        </p:nvSpPr>
        <p:spPr>
          <a:xfrm>
            <a:off x="4371975" y="4924425"/>
            <a:ext cx="3036279" cy="194310"/>
          </a:xfrm>
          <a:prstGeom prst="rect">
            <a:avLst/>
          </a:prstGeom>
          <a:noFill/>
        </p:spPr>
        <p:txBody>
          <a:bodyPr wrap="none" lIns="0" rIns="0" tIns="0" bIns="0">
            <a:spAutoFit/>
          </a:bodyPr>
          <a:lstStyle/>
          <a:p>
            <a:r>
              <a:rPr sz="1150" b="0">
                <a:solidFill>
                  <a:srgbClr val="2E2E2E"/>
                </a:solidFill>
                <a:latin typeface="Calibri"/>
              </a:rPr>
              <a:t>▪ Slower momentum in 'Cementitious Waterproof</a:t>
            </a:r>
          </a:p>
        </p:txBody>
      </p:sp>
      <p:sp>
        <p:nvSpPr>
          <p:cNvPr id="63" name="TextBox 62"/>
          <p:cNvSpPr txBox="1"/>
          <p:nvPr/>
        </p:nvSpPr>
        <p:spPr>
          <a:xfrm>
            <a:off x="4371975" y="5099685"/>
            <a:ext cx="695771" cy="194310"/>
          </a:xfrm>
          <a:prstGeom prst="rect">
            <a:avLst/>
          </a:prstGeom>
          <a:noFill/>
        </p:spPr>
        <p:txBody>
          <a:bodyPr wrap="none" lIns="0" rIns="0" tIns="0" bIns="0">
            <a:spAutoFit/>
          </a:bodyPr>
          <a:lstStyle/>
          <a:p>
            <a:r>
              <a:rPr sz="1150" b="0">
                <a:solidFill>
                  <a:srgbClr val="2E2E2E"/>
                </a:solidFill>
                <a:latin typeface="Calibri"/>
              </a:rPr>
              <a:t>Coatings' (</a:t>
            </a:r>
          </a:p>
        </p:txBody>
      </p:sp>
      <p:pic>
        <p:nvPicPr>
          <p:cNvPr id="64" name="Picture 63" descr="lock.png"/>
          <p:cNvPicPr>
            <a:picLocks noChangeAspect="1"/>
          </p:cNvPicPr>
          <p:nvPr/>
        </p:nvPicPr>
        <p:blipFill>
          <a:blip r:embed="rId4"/>
          <a:stretch>
            <a:fillRect/>
          </a:stretch>
        </p:blipFill>
        <p:spPr>
          <a:xfrm>
            <a:off x="5016900" y="5089461"/>
            <a:ext cx="134549" cy="195707"/>
          </a:xfrm>
          <a:prstGeom prst="rect">
            <a:avLst/>
          </a:prstGeom>
        </p:spPr>
      </p:pic>
      <p:sp>
        <p:nvSpPr>
          <p:cNvPr id="65" name="TextBox 64"/>
          <p:cNvSpPr txBox="1"/>
          <p:nvPr/>
        </p:nvSpPr>
        <p:spPr>
          <a:xfrm>
            <a:off x="5192009" y="509968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6" name="TextBox 65"/>
          <p:cNvSpPr txBox="1"/>
          <p:nvPr/>
        </p:nvSpPr>
        <p:spPr>
          <a:xfrm>
            <a:off x="4371975" y="5327522"/>
            <a:ext cx="3264197" cy="194310"/>
          </a:xfrm>
          <a:prstGeom prst="rect">
            <a:avLst/>
          </a:prstGeom>
          <a:noFill/>
        </p:spPr>
        <p:txBody>
          <a:bodyPr wrap="none" lIns="0" rIns="0" tIns="0" bIns="0">
            <a:spAutoFit/>
          </a:bodyPr>
          <a:lstStyle/>
          <a:p>
            <a:r>
              <a:rPr sz="1150" b="0">
                <a:solidFill>
                  <a:srgbClr val="2E2E2E"/>
                </a:solidFill>
                <a:latin typeface="Calibri"/>
              </a:rPr>
              <a:t>▪ Maturing demand in established categories caps the</a:t>
            </a:r>
          </a:p>
        </p:txBody>
      </p:sp>
      <p:sp>
        <p:nvSpPr>
          <p:cNvPr id="67" name="TextBox 66"/>
          <p:cNvSpPr txBox="1"/>
          <p:nvPr/>
        </p:nvSpPr>
        <p:spPr>
          <a:xfrm>
            <a:off x="4371975" y="5502782"/>
            <a:ext cx="562272" cy="194310"/>
          </a:xfrm>
          <a:prstGeom prst="rect">
            <a:avLst/>
          </a:prstGeom>
          <a:noFill/>
        </p:spPr>
        <p:txBody>
          <a:bodyPr wrap="none" lIns="0" rIns="0" tIns="0" bIns="0">
            <a:spAutoFit/>
          </a:bodyPr>
          <a:lstStyle/>
          <a:p>
            <a:r>
              <a:rPr sz="1150" b="0">
                <a:solidFill>
                  <a:srgbClr val="2E2E2E"/>
                </a:solidFill>
                <a:latin typeface="Calibri"/>
              </a:rPr>
              <a:t>blended</a:t>
            </a:r>
          </a:p>
        </p:txBody>
      </p:sp>
      <p:pic>
        <p:nvPicPr>
          <p:cNvPr id="68" name="Picture 67" descr="lock.png"/>
          <p:cNvPicPr>
            <a:picLocks noChangeAspect="1"/>
          </p:cNvPicPr>
          <p:nvPr/>
        </p:nvPicPr>
        <p:blipFill>
          <a:blip r:embed="rId4"/>
          <a:stretch>
            <a:fillRect/>
          </a:stretch>
        </p:blipFill>
        <p:spPr>
          <a:xfrm>
            <a:off x="4883401" y="5492559"/>
            <a:ext cx="134549" cy="195707"/>
          </a:xfrm>
          <a:prstGeom prst="rect">
            <a:avLst/>
          </a:prstGeom>
        </p:spPr>
      </p:pic>
      <p:sp>
        <p:nvSpPr>
          <p:cNvPr id="69" name="TextBox 68"/>
          <p:cNvSpPr txBox="1"/>
          <p:nvPr/>
        </p:nvSpPr>
        <p:spPr>
          <a:xfrm>
            <a:off x="5058510" y="5502782"/>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0" name="TextBox 69"/>
          <p:cNvSpPr txBox="1"/>
          <p:nvPr/>
        </p:nvSpPr>
        <p:spPr>
          <a:xfrm>
            <a:off x="4371975" y="5730620"/>
            <a:ext cx="3420802" cy="194310"/>
          </a:xfrm>
          <a:prstGeom prst="rect">
            <a:avLst/>
          </a:prstGeom>
          <a:noFill/>
        </p:spPr>
        <p:txBody>
          <a:bodyPr wrap="none" lIns="0" rIns="0" tIns="0" bIns="0">
            <a:spAutoFit/>
          </a:bodyPr>
          <a:lstStyle/>
          <a:p>
            <a:r>
              <a:rPr sz="1150" b="0">
                <a:solidFill>
                  <a:srgbClr val="2E2E2E"/>
                </a:solidFill>
                <a:latin typeface="Calibri"/>
              </a:rPr>
              <a:t>▪ Value concentration in 'Other Polymer-Based Coatings'</a:t>
            </a:r>
          </a:p>
        </p:txBody>
      </p:sp>
      <p:sp>
        <p:nvSpPr>
          <p:cNvPr id="71" name="TextBox 70"/>
          <p:cNvSpPr txBox="1"/>
          <p:nvPr/>
        </p:nvSpPr>
        <p:spPr>
          <a:xfrm>
            <a:off x="4371975" y="5905880"/>
            <a:ext cx="1978843" cy="194310"/>
          </a:xfrm>
          <a:prstGeom prst="rect">
            <a:avLst/>
          </a:prstGeom>
          <a:noFill/>
        </p:spPr>
        <p:txBody>
          <a:bodyPr wrap="none" lIns="0" rIns="0" tIns="0" bIns="0">
            <a:spAutoFit/>
          </a:bodyPr>
          <a:lstStyle/>
          <a:p>
            <a:r>
              <a:rPr sz="1150" b="0">
                <a:solidFill>
                  <a:srgbClr val="2E2E2E"/>
                </a:solidFill>
                <a:latin typeface="Calibri"/>
              </a:rPr>
              <a:t>raises barriers for new entrants.</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Supply Side Trends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recent developments, investments and R&amp;D activity shaping the supply side of the market</a:t>
            </a:r>
          </a:p>
        </p:txBody>
      </p:sp>
      <p:sp>
        <p:nvSpPr>
          <p:cNvPr id="10" name="Rounded Rectangle 9"/>
          <p:cNvSpPr/>
          <p:nvPr/>
        </p:nvSpPr>
        <p:spPr>
          <a:xfrm>
            <a:off x="142875" y="981075"/>
            <a:ext cx="58769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Recent Developments &amp; Key Industry Activities</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Capacity and product development are concentrating in 'Silicone Waterproof Coatings' and Mexico.</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Portfolio expansion tracks the shift toward higher-growth product type / chemistry categories.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Commercial focus is intensifying across U.S. and Mexico.</a:t>
            </a:r>
          </a:p>
        </p:txBody>
      </p:sp>
      <p:sp>
        <p:nvSpPr>
          <p:cNvPr id="14" name="Rounded Rectangle 13"/>
          <p:cNvSpPr/>
          <p:nvPr/>
        </p:nvSpPr>
        <p:spPr>
          <a:xfrm>
            <a:off x="6172200" y="981075"/>
            <a:ext cx="58769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p:txBody>
      </p:sp>
      <p:sp>
        <p:nvSpPr>
          <p:cNvPr id="18" name="Rounded Rectangle 17"/>
          <p:cNvSpPr/>
          <p:nvPr/>
        </p:nvSpPr>
        <p:spPr>
          <a:xfrm>
            <a:off x="142875" y="2895600"/>
            <a:ext cx="5876925" cy="1285875"/>
          </a:xfrm>
          <a:prstGeom prst="roundRect">
            <a:avLst>
              <a:gd name="adj" fmla="val 59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981325"/>
            <a:ext cx="5610225" cy="209550"/>
          </a:xfrm>
          <a:prstGeom prst="rect">
            <a:avLst/>
          </a:prstGeom>
          <a:noFill/>
        </p:spPr>
        <p:txBody>
          <a:bodyPr wrap="square" lIns="0" rIns="19050" tIns="9525" bIns="9525">
            <a:spAutoFit/>
          </a:bodyPr>
          <a:lstStyle/>
          <a:p>
            <a:pPr algn="l"/>
            <a:r>
              <a:rPr sz="1300" b="1">
                <a:solidFill>
                  <a:srgbClr val="0B2E4A"/>
                </a:solidFill>
                <a:latin typeface="Calibri"/>
              </a:rPr>
              <a:t>Strategic Acquisitions &amp; New Investments</a:t>
            </a:r>
          </a:p>
        </p:txBody>
      </p:sp>
      <p:sp>
        <p:nvSpPr>
          <p:cNvPr id="20" name="Rectangle 19"/>
          <p:cNvSpPr/>
          <p:nvPr/>
        </p:nvSpPr>
        <p:spPr>
          <a:xfrm>
            <a:off x="276225" y="32194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305175"/>
            <a:ext cx="5610225" cy="800100"/>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22" name="Rounded Rectangle 21"/>
          <p:cNvSpPr/>
          <p:nvPr/>
        </p:nvSpPr>
        <p:spPr>
          <a:xfrm>
            <a:off x="6172200" y="2895600"/>
            <a:ext cx="5876925" cy="1285875"/>
          </a:xfrm>
          <a:prstGeom prst="roundRect">
            <a:avLst>
              <a:gd name="adj" fmla="val 59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981325"/>
            <a:ext cx="5610225" cy="209550"/>
          </a:xfrm>
          <a:prstGeom prst="rect">
            <a:avLst/>
          </a:prstGeom>
          <a:noFill/>
        </p:spPr>
        <p:txBody>
          <a:bodyPr wrap="square" lIns="0" rIns="19050" tIns="9525" bIns="9525">
            <a:spAutoFit/>
          </a:bodyPr>
          <a:lstStyle/>
          <a:p>
            <a:pPr algn="l"/>
            <a:r>
              <a:rPr sz="1300" b="1">
                <a:solidFill>
                  <a:srgbClr val="0B2E4A"/>
                </a:solidFill>
                <a:latin typeface="Calibri"/>
              </a:rPr>
              <a:t>Substantial Investment in R&amp;D</a:t>
            </a:r>
          </a:p>
        </p:txBody>
      </p:sp>
      <p:sp>
        <p:nvSpPr>
          <p:cNvPr id="24" name="Rectangle 23"/>
          <p:cNvSpPr/>
          <p:nvPr/>
        </p:nvSpPr>
        <p:spPr>
          <a:xfrm>
            <a:off x="6305550" y="32194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305175"/>
            <a:ext cx="5610225" cy="800100"/>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26" name="Rounded Rectangle 25"/>
          <p:cNvSpPr/>
          <p:nvPr/>
        </p:nvSpPr>
        <p:spPr>
          <a:xfrm>
            <a:off x="142875" y="4314825"/>
            <a:ext cx="11906250" cy="2295525"/>
          </a:xfrm>
          <a:prstGeom prst="roundRect">
            <a:avLst>
              <a:gd name="adj" fmla="val 33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8125" y="43719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structure product type / chemistry share (2036)</a:t>
            </a:r>
          </a:p>
        </p:txBody>
      </p:sp>
      <p:graphicFrame>
        <p:nvGraphicFramePr>
          <p:cNvPr id="28" name="Chart 27"/>
          <p:cNvGraphicFramePr>
            <a:graphicFrameLocks noGrp="1"/>
          </p:cNvGraphicFramePr>
          <p:nvPr/>
        </p:nvGraphicFramePr>
        <p:xfrm>
          <a:off x="238125" y="4600575"/>
          <a:ext cx="11715750" cy="1952625"/>
        </p:xfrm>
        <a:graphic>
          <a:graphicData uri="http://schemas.openxmlformats.org/drawingml/2006/chart">
            <c:chart xmlns:c="http://schemas.openxmlformats.org/drawingml/2006/chart" r:id="rId3"/>
          </a:graphicData>
        </a:graphic>
      </p:graphicFrame>
      <p:sp>
        <p:nvSpPr>
          <p:cNvPr id="29" name="TextBox 28"/>
          <p:cNvSpPr txBox="1"/>
          <p:nvPr/>
        </p:nvSpPr>
        <p:spPr>
          <a:xfrm>
            <a:off x="3871570" y="5462588"/>
            <a:ext cx="934136" cy="228600"/>
          </a:xfrm>
          <a:prstGeom prst="rect">
            <a:avLst/>
          </a:prstGeom>
          <a:noFill/>
        </p:spPr>
        <p:txBody>
          <a:bodyPr wrap="square" lIns="28575" rIns="28575" tIns="9525" bIns="9525" anchor="ctr">
            <a:spAutoFit/>
          </a:bodyPr>
          <a:lstStyle/>
          <a:p>
            <a:pPr algn="ctr"/>
            <a:r>
              <a:rPr sz="1300" b="1">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5"/>
          <a:stretch>
            <a:fillRect/>
          </a:stretch>
        </p:blipFill>
        <p:spPr>
          <a:xfrm>
            <a:off x="4135025" y="5284520"/>
            <a:ext cx="382860" cy="556888"/>
          </a:xfrm>
          <a:prstGeom prst="rect">
            <a:avLst/>
          </a:prstGeom>
        </p:spPr>
      </p:pic>
      <p:sp>
        <p:nvSpPr>
          <p:cNvPr id="32" name="TextBox 31"/>
          <p:cNvSpPr txBox="1"/>
          <p:nvPr/>
        </p:nvSpPr>
        <p:spPr>
          <a:xfrm>
            <a:off x="6305550" y="1400175"/>
            <a:ext cx="684113" cy="186689"/>
          </a:xfrm>
          <a:prstGeom prst="rect">
            <a:avLst/>
          </a:prstGeom>
          <a:noFill/>
        </p:spPr>
        <p:txBody>
          <a:bodyPr wrap="none" lIns="0" rIns="0" tIns="0" bIns="0">
            <a:spAutoFit/>
          </a:bodyPr>
          <a:lstStyle/>
          <a:p>
            <a:r>
              <a:rPr sz="1100" b="0">
                <a:solidFill>
                  <a:srgbClr val="2E2E2E"/>
                </a:solidFill>
                <a:latin typeface="Calibri"/>
              </a:rPr>
              <a:t>▪ 2026 size</a:t>
            </a:r>
          </a:p>
        </p:txBody>
      </p:sp>
      <p:pic>
        <p:nvPicPr>
          <p:cNvPr id="33" name="Picture 32" descr="lock.png"/>
          <p:cNvPicPr>
            <a:picLocks noChangeAspect="1"/>
          </p:cNvPicPr>
          <p:nvPr/>
        </p:nvPicPr>
        <p:blipFill>
          <a:blip r:embed="rId5"/>
          <a:stretch>
            <a:fillRect/>
          </a:stretch>
        </p:blipFill>
        <p:spPr>
          <a:xfrm>
            <a:off x="6937714" y="1390396"/>
            <a:ext cx="128699" cy="187198"/>
          </a:xfrm>
          <a:prstGeom prst="rect">
            <a:avLst/>
          </a:prstGeom>
        </p:spPr>
      </p:pic>
      <p:sp>
        <p:nvSpPr>
          <p:cNvPr id="34" name="TextBox 33"/>
          <p:cNvSpPr txBox="1"/>
          <p:nvPr/>
        </p:nvSpPr>
        <p:spPr>
          <a:xfrm>
            <a:off x="7105210" y="1400175"/>
            <a:ext cx="878383" cy="186689"/>
          </a:xfrm>
          <a:prstGeom prst="rect">
            <a:avLst/>
          </a:prstGeom>
          <a:noFill/>
        </p:spPr>
        <p:txBody>
          <a:bodyPr wrap="none" lIns="0" rIns="0" tIns="0" bIns="0">
            <a:spAutoFit/>
          </a:bodyPr>
          <a:lstStyle/>
          <a:p>
            <a:r>
              <a:rPr sz="1100" b="0">
                <a:solidFill>
                  <a:srgbClr val="2E2E2E"/>
                </a:solidFill>
                <a:latin typeface="Calibri"/>
              </a:rPr>
              <a:t>US$ Mn; 2036</a:t>
            </a:r>
          </a:p>
        </p:txBody>
      </p:sp>
      <p:pic>
        <p:nvPicPr>
          <p:cNvPr id="35" name="Picture 34" descr="lock.png"/>
          <p:cNvPicPr>
            <a:picLocks noChangeAspect="1"/>
          </p:cNvPicPr>
          <p:nvPr/>
        </p:nvPicPr>
        <p:blipFill>
          <a:blip r:embed="rId5"/>
          <a:stretch>
            <a:fillRect/>
          </a:stretch>
        </p:blipFill>
        <p:spPr>
          <a:xfrm>
            <a:off x="7931645" y="1390396"/>
            <a:ext cx="128699" cy="187198"/>
          </a:xfrm>
          <a:prstGeom prst="rect">
            <a:avLst/>
          </a:prstGeom>
        </p:spPr>
      </p:pic>
      <p:sp>
        <p:nvSpPr>
          <p:cNvPr id="36" name="TextBox 35"/>
          <p:cNvSpPr txBox="1"/>
          <p:nvPr/>
        </p:nvSpPr>
        <p:spPr>
          <a:xfrm>
            <a:off x="8099141" y="1400175"/>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37" name="TextBox 36"/>
          <p:cNvSpPr txBox="1"/>
          <p:nvPr/>
        </p:nvSpPr>
        <p:spPr>
          <a:xfrm>
            <a:off x="6305550" y="1618107"/>
            <a:ext cx="991842" cy="186689"/>
          </a:xfrm>
          <a:prstGeom prst="rect">
            <a:avLst/>
          </a:prstGeom>
          <a:noFill/>
        </p:spPr>
        <p:txBody>
          <a:bodyPr wrap="none" lIns="0" rIns="0" tIns="0" bIns="0">
            <a:spAutoFit/>
          </a:bodyPr>
          <a:lstStyle/>
          <a:p>
            <a:r>
              <a:rPr sz="1100" b="0">
                <a:solidFill>
                  <a:srgbClr val="2E2E2E"/>
                </a:solidFill>
                <a:latin typeface="Calibri"/>
              </a:rPr>
              <a:t>▪ Forecast CAGR</a:t>
            </a:r>
          </a:p>
        </p:txBody>
      </p:sp>
      <p:pic>
        <p:nvPicPr>
          <p:cNvPr id="38" name="Picture 37" descr="lock.png"/>
          <p:cNvPicPr>
            <a:picLocks noChangeAspect="1"/>
          </p:cNvPicPr>
          <p:nvPr/>
        </p:nvPicPr>
        <p:blipFill>
          <a:blip r:embed="rId5"/>
          <a:stretch>
            <a:fillRect/>
          </a:stretch>
        </p:blipFill>
        <p:spPr>
          <a:xfrm>
            <a:off x="7245444" y="1608328"/>
            <a:ext cx="128699" cy="187198"/>
          </a:xfrm>
          <a:prstGeom prst="rect">
            <a:avLst/>
          </a:prstGeom>
        </p:spPr>
      </p:pic>
      <p:sp>
        <p:nvSpPr>
          <p:cNvPr id="39" name="TextBox 38"/>
          <p:cNvSpPr txBox="1"/>
          <p:nvPr/>
        </p:nvSpPr>
        <p:spPr>
          <a:xfrm>
            <a:off x="7412940" y="1618107"/>
            <a:ext cx="833090" cy="186689"/>
          </a:xfrm>
          <a:prstGeom prst="rect">
            <a:avLst/>
          </a:prstGeom>
          <a:noFill/>
        </p:spPr>
        <p:txBody>
          <a:bodyPr wrap="none" lIns="0" rIns="0" tIns="0" bIns="0">
            <a:spAutoFit/>
          </a:bodyPr>
          <a:lstStyle/>
          <a:p>
            <a:r>
              <a:rPr sz="1100" b="0">
                <a:solidFill>
                  <a:srgbClr val="2E2E2E"/>
                </a:solidFill>
                <a:latin typeface="Calibri"/>
              </a:rPr>
              <a:t>(2026–2036).</a:t>
            </a:r>
          </a:p>
        </p:txBody>
      </p:sp>
      <p:sp>
        <p:nvSpPr>
          <p:cNvPr id="40" name="TextBox 39"/>
          <p:cNvSpPr txBox="1"/>
          <p:nvPr/>
        </p:nvSpPr>
        <p:spPr>
          <a:xfrm>
            <a:off x="6305550" y="1836039"/>
            <a:ext cx="2782068" cy="186689"/>
          </a:xfrm>
          <a:prstGeom prst="rect">
            <a:avLst/>
          </a:prstGeom>
          <a:noFill/>
        </p:spPr>
        <p:txBody>
          <a:bodyPr wrap="none" lIns="0" rIns="0" tIns="0" bIns="0">
            <a:spAutoFit/>
          </a:bodyPr>
          <a:lstStyle/>
          <a:p>
            <a:r>
              <a:rPr sz="1100" b="0">
                <a:solidFill>
                  <a:srgbClr val="2E2E2E"/>
                </a:solidFill>
                <a:latin typeface="Calibri"/>
              </a:rPr>
              <a:t>▪ Lead category 'Other Polymer-Based Coatings'</a:t>
            </a:r>
          </a:p>
        </p:txBody>
      </p:sp>
      <p:pic>
        <p:nvPicPr>
          <p:cNvPr id="41" name="Picture 40" descr="lock.png"/>
          <p:cNvPicPr>
            <a:picLocks noChangeAspect="1"/>
          </p:cNvPicPr>
          <p:nvPr/>
        </p:nvPicPr>
        <p:blipFill>
          <a:blip r:embed="rId5"/>
          <a:stretch>
            <a:fillRect/>
          </a:stretch>
        </p:blipFill>
        <p:spPr>
          <a:xfrm>
            <a:off x="9035670" y="1826260"/>
            <a:ext cx="128699" cy="187198"/>
          </a:xfrm>
          <a:prstGeom prst="rect">
            <a:avLst/>
          </a:prstGeom>
        </p:spPr>
      </p:pic>
      <p:sp>
        <p:nvSpPr>
          <p:cNvPr id="42" name="TextBox 41"/>
          <p:cNvSpPr txBox="1"/>
          <p:nvPr/>
        </p:nvSpPr>
        <p:spPr>
          <a:xfrm>
            <a:off x="9203166" y="1836039"/>
            <a:ext cx="543049" cy="186689"/>
          </a:xfrm>
          <a:prstGeom prst="rect">
            <a:avLst/>
          </a:prstGeom>
          <a:noFill/>
        </p:spPr>
        <p:txBody>
          <a:bodyPr wrap="none" lIns="0" rIns="0" tIns="0" bIns="0">
            <a:spAutoFit/>
          </a:bodyPr>
          <a:lstStyle/>
          <a:p>
            <a:r>
              <a:rPr sz="1100" b="0">
                <a:solidFill>
                  <a:srgbClr val="2E2E2E"/>
                </a:solidFill>
                <a:latin typeface="Calibri"/>
              </a:rPr>
              <a:t>of 2036.</a:t>
            </a:r>
          </a:p>
        </p:txBody>
      </p:sp>
      <p:sp>
        <p:nvSpPr>
          <p:cNvPr id="43" name="TextBox 42"/>
          <p:cNvSpPr txBox="1"/>
          <p:nvPr/>
        </p:nvSpPr>
        <p:spPr>
          <a:xfrm>
            <a:off x="6305550" y="2053970"/>
            <a:ext cx="1152053" cy="186689"/>
          </a:xfrm>
          <a:prstGeom prst="rect">
            <a:avLst/>
          </a:prstGeom>
          <a:noFill/>
        </p:spPr>
        <p:txBody>
          <a:bodyPr wrap="none" lIns="0" rIns="0" tIns="0" bIns="0">
            <a:spAutoFit/>
          </a:bodyPr>
          <a:lstStyle/>
          <a:p>
            <a:r>
              <a:rPr sz="1100" b="0">
                <a:solidFill>
                  <a:srgbClr val="2E2E2E"/>
                </a:solidFill>
                <a:latin typeface="Calibri"/>
              </a:rPr>
              <a:t>▪ Lead country U.S.</a:t>
            </a:r>
          </a:p>
        </p:txBody>
      </p:sp>
      <p:pic>
        <p:nvPicPr>
          <p:cNvPr id="44" name="Picture 43" descr="lock.png"/>
          <p:cNvPicPr>
            <a:picLocks noChangeAspect="1"/>
          </p:cNvPicPr>
          <p:nvPr/>
        </p:nvPicPr>
        <p:blipFill>
          <a:blip r:embed="rId5"/>
          <a:stretch>
            <a:fillRect/>
          </a:stretch>
        </p:blipFill>
        <p:spPr>
          <a:xfrm>
            <a:off x="7405655" y="2044192"/>
            <a:ext cx="128699" cy="187198"/>
          </a:xfrm>
          <a:prstGeom prst="rect">
            <a:avLst/>
          </a:prstGeom>
        </p:spPr>
      </p:pic>
      <p:sp>
        <p:nvSpPr>
          <p:cNvPr id="45" name="TextBox 44"/>
          <p:cNvSpPr txBox="1"/>
          <p:nvPr/>
        </p:nvSpPr>
        <p:spPr>
          <a:xfrm>
            <a:off x="7573151" y="205397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6" name="TextBox 45"/>
          <p:cNvSpPr txBox="1"/>
          <p:nvPr/>
        </p:nvSpPr>
        <p:spPr>
          <a:xfrm>
            <a:off x="6305550" y="2271903"/>
            <a:ext cx="1554782" cy="186689"/>
          </a:xfrm>
          <a:prstGeom prst="rect">
            <a:avLst/>
          </a:prstGeom>
          <a:noFill/>
        </p:spPr>
        <p:txBody>
          <a:bodyPr wrap="none" lIns="0" rIns="0" tIns="0" bIns="0">
            <a:spAutoFit/>
          </a:bodyPr>
          <a:lstStyle/>
          <a:p>
            <a:r>
              <a:rPr sz="1100" b="0">
                <a:solidFill>
                  <a:srgbClr val="2E2E2E"/>
                </a:solidFill>
                <a:latin typeface="Calibri"/>
              </a:rPr>
              <a:t>▪ Incremental opportunity</a:t>
            </a:r>
          </a:p>
        </p:txBody>
      </p:sp>
      <p:pic>
        <p:nvPicPr>
          <p:cNvPr id="47" name="Picture 46" descr="lock.png"/>
          <p:cNvPicPr>
            <a:picLocks noChangeAspect="1"/>
          </p:cNvPicPr>
          <p:nvPr/>
        </p:nvPicPr>
        <p:blipFill>
          <a:blip r:embed="rId5"/>
          <a:stretch>
            <a:fillRect/>
          </a:stretch>
        </p:blipFill>
        <p:spPr>
          <a:xfrm>
            <a:off x="7808384" y="2262124"/>
            <a:ext cx="128699" cy="187198"/>
          </a:xfrm>
          <a:prstGeom prst="rect">
            <a:avLst/>
          </a:prstGeom>
        </p:spPr>
      </p:pic>
      <p:sp>
        <p:nvSpPr>
          <p:cNvPr id="48" name="TextBox 47"/>
          <p:cNvSpPr txBox="1"/>
          <p:nvPr/>
        </p:nvSpPr>
        <p:spPr>
          <a:xfrm>
            <a:off x="7975880" y="2271903"/>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9" name="TextBox 48"/>
          <p:cNvSpPr txBox="1"/>
          <p:nvPr/>
        </p:nvSpPr>
        <p:spPr>
          <a:xfrm>
            <a:off x="276225" y="3314700"/>
            <a:ext cx="5002807" cy="186689"/>
          </a:xfrm>
          <a:prstGeom prst="rect">
            <a:avLst/>
          </a:prstGeom>
          <a:noFill/>
        </p:spPr>
        <p:txBody>
          <a:bodyPr wrap="none" lIns="0" rIns="0" tIns="0" bIns="0">
            <a:spAutoFit/>
          </a:bodyPr>
          <a:lstStyle/>
          <a:p>
            <a:r>
              <a:rPr sz="1100" b="0">
                <a:solidFill>
                  <a:srgbClr val="2E2E2E"/>
                </a:solidFill>
                <a:latin typeface="Calibri"/>
              </a:rPr>
              <a:t>▪ Investment is flowing toward the fastest-growing tier 'Silicone Waterproof Coatings' (</a:t>
            </a:r>
          </a:p>
        </p:txBody>
      </p:sp>
      <p:pic>
        <p:nvPicPr>
          <p:cNvPr id="50" name="Picture 49" descr="lock.png"/>
          <p:cNvPicPr>
            <a:picLocks noChangeAspect="1"/>
          </p:cNvPicPr>
          <p:nvPr/>
        </p:nvPicPr>
        <p:blipFill>
          <a:blip r:embed="rId5"/>
          <a:stretch>
            <a:fillRect/>
          </a:stretch>
        </p:blipFill>
        <p:spPr>
          <a:xfrm>
            <a:off x="5227084" y="3304921"/>
            <a:ext cx="128699" cy="187198"/>
          </a:xfrm>
          <a:prstGeom prst="rect">
            <a:avLst/>
          </a:prstGeom>
        </p:spPr>
      </p:pic>
      <p:sp>
        <p:nvSpPr>
          <p:cNvPr id="51" name="TextBox 50"/>
          <p:cNvSpPr txBox="1"/>
          <p:nvPr/>
        </p:nvSpPr>
        <p:spPr>
          <a:xfrm>
            <a:off x="5394580" y="3314700"/>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52" name="TextBox 51"/>
          <p:cNvSpPr txBox="1"/>
          <p:nvPr/>
        </p:nvSpPr>
        <p:spPr>
          <a:xfrm>
            <a:off x="276225" y="3532632"/>
            <a:ext cx="645914" cy="186689"/>
          </a:xfrm>
          <a:prstGeom prst="rect">
            <a:avLst/>
          </a:prstGeom>
          <a:noFill/>
        </p:spPr>
        <p:txBody>
          <a:bodyPr wrap="none" lIns="0" rIns="0" tIns="0" bIns="0">
            <a:spAutoFit/>
          </a:bodyPr>
          <a:lstStyle/>
          <a:p>
            <a:r>
              <a:rPr sz="1100" b="0">
                <a:solidFill>
                  <a:srgbClr val="2E2E2E"/>
                </a:solidFill>
                <a:latin typeface="Calibri"/>
              </a:rPr>
              <a:t>▪ Mexico (</a:t>
            </a:r>
          </a:p>
        </p:txBody>
      </p:sp>
      <p:pic>
        <p:nvPicPr>
          <p:cNvPr id="53" name="Picture 52" descr="lock.png"/>
          <p:cNvPicPr>
            <a:picLocks noChangeAspect="1"/>
          </p:cNvPicPr>
          <p:nvPr/>
        </p:nvPicPr>
        <p:blipFill>
          <a:blip r:embed="rId5"/>
          <a:stretch>
            <a:fillRect/>
          </a:stretch>
        </p:blipFill>
        <p:spPr>
          <a:xfrm>
            <a:off x="870190" y="3522853"/>
            <a:ext cx="128699" cy="187198"/>
          </a:xfrm>
          <a:prstGeom prst="rect">
            <a:avLst/>
          </a:prstGeom>
        </p:spPr>
      </p:pic>
      <p:sp>
        <p:nvSpPr>
          <p:cNvPr id="54" name="TextBox 53"/>
          <p:cNvSpPr txBox="1"/>
          <p:nvPr/>
        </p:nvSpPr>
        <p:spPr>
          <a:xfrm>
            <a:off x="1037686" y="3532632"/>
            <a:ext cx="2262832" cy="186689"/>
          </a:xfrm>
          <a:prstGeom prst="rect">
            <a:avLst/>
          </a:prstGeom>
          <a:noFill/>
        </p:spPr>
        <p:txBody>
          <a:bodyPr wrap="none" lIns="0" rIns="0" tIns="0" bIns="0">
            <a:spAutoFit/>
          </a:bodyPr>
          <a:lstStyle/>
          <a:p>
            <a:r>
              <a:rPr sz="1100" b="0">
                <a:solidFill>
                  <a:srgbClr val="2E2E2E"/>
                </a:solidFill>
                <a:latin typeface="Calibri"/>
              </a:rPr>
              <a:t>) is a priority country for new capacity.</a:t>
            </a:r>
          </a:p>
        </p:txBody>
      </p:sp>
      <p:sp>
        <p:nvSpPr>
          <p:cNvPr id="55" name="TextBox 54"/>
          <p:cNvSpPr txBox="1"/>
          <p:nvPr/>
        </p:nvSpPr>
        <p:spPr>
          <a:xfrm>
            <a:off x="276225" y="3750564"/>
            <a:ext cx="3662288" cy="186689"/>
          </a:xfrm>
          <a:prstGeom prst="rect">
            <a:avLst/>
          </a:prstGeom>
          <a:noFill/>
        </p:spPr>
        <p:txBody>
          <a:bodyPr wrap="none" lIns="0" rIns="0" tIns="0" bIns="0">
            <a:spAutoFit/>
          </a:bodyPr>
          <a:lstStyle/>
          <a:p>
            <a:r>
              <a:rPr sz="1100" b="0">
                <a:solidFill>
                  <a:srgbClr val="2E2E2E"/>
                </a:solidFill>
                <a:latin typeface="Calibri"/>
              </a:rPr>
              <a:t>▪ Scale players anchor around 'Other Polymer-Based Coatings' (</a:t>
            </a:r>
          </a:p>
        </p:txBody>
      </p:sp>
      <p:pic>
        <p:nvPicPr>
          <p:cNvPr id="56" name="Picture 55" descr="lock.png"/>
          <p:cNvPicPr>
            <a:picLocks noChangeAspect="1"/>
          </p:cNvPicPr>
          <p:nvPr/>
        </p:nvPicPr>
        <p:blipFill>
          <a:blip r:embed="rId5"/>
          <a:stretch>
            <a:fillRect/>
          </a:stretch>
        </p:blipFill>
        <p:spPr>
          <a:xfrm>
            <a:off x="3886564" y="3740785"/>
            <a:ext cx="128699" cy="187198"/>
          </a:xfrm>
          <a:prstGeom prst="rect">
            <a:avLst/>
          </a:prstGeom>
        </p:spPr>
      </p:pic>
      <p:sp>
        <p:nvSpPr>
          <p:cNvPr id="57" name="TextBox 56"/>
          <p:cNvSpPr txBox="1"/>
          <p:nvPr/>
        </p:nvSpPr>
        <p:spPr>
          <a:xfrm>
            <a:off x="4054060" y="3750564"/>
            <a:ext cx="466923" cy="186689"/>
          </a:xfrm>
          <a:prstGeom prst="rect">
            <a:avLst/>
          </a:prstGeom>
          <a:noFill/>
        </p:spPr>
        <p:txBody>
          <a:bodyPr wrap="none" lIns="0" rIns="0" tIns="0" bIns="0">
            <a:spAutoFit/>
          </a:bodyPr>
          <a:lstStyle/>
          <a:p>
            <a:r>
              <a:rPr sz="1100" b="0">
                <a:solidFill>
                  <a:srgbClr val="2E2E2E"/>
                </a:solidFill>
                <a:latin typeface="Calibri"/>
              </a:rPr>
              <a:t>share).</a:t>
            </a:r>
          </a:p>
        </p:txBody>
      </p:sp>
      <p:sp>
        <p:nvSpPr>
          <p:cNvPr id="58" name="TextBox 57"/>
          <p:cNvSpPr txBox="1"/>
          <p:nvPr/>
        </p:nvSpPr>
        <p:spPr>
          <a:xfrm>
            <a:off x="6305550" y="3314700"/>
            <a:ext cx="5399533" cy="186689"/>
          </a:xfrm>
          <a:prstGeom prst="rect">
            <a:avLst/>
          </a:prstGeom>
          <a:noFill/>
        </p:spPr>
        <p:txBody>
          <a:bodyPr wrap="none" lIns="0" rIns="0" tIns="0" bIns="0">
            <a:spAutoFit/>
          </a:bodyPr>
          <a:lstStyle/>
          <a:p>
            <a:r>
              <a:rPr sz="1100" b="0">
                <a:solidFill>
                  <a:srgbClr val="2E2E2E"/>
                </a:solidFill>
                <a:latin typeface="Calibri"/>
              </a:rPr>
              <a:t>▪ R&amp;D aligns with the migration to 'Silicone Waterproof Coatings' and adjacent premium tiers.</a:t>
            </a:r>
          </a:p>
        </p:txBody>
      </p:sp>
      <p:sp>
        <p:nvSpPr>
          <p:cNvPr id="59" name="TextBox 58"/>
          <p:cNvSpPr txBox="1"/>
          <p:nvPr/>
        </p:nvSpPr>
        <p:spPr>
          <a:xfrm>
            <a:off x="6305550" y="3532632"/>
            <a:ext cx="5083299" cy="186689"/>
          </a:xfrm>
          <a:prstGeom prst="rect">
            <a:avLst/>
          </a:prstGeom>
          <a:noFill/>
        </p:spPr>
        <p:txBody>
          <a:bodyPr wrap="none" lIns="0" rIns="0" tIns="0" bIns="0">
            <a:spAutoFit/>
          </a:bodyPr>
          <a:lstStyle/>
          <a:p>
            <a:r>
              <a:rPr sz="1100" b="0">
                <a:solidFill>
                  <a:srgbClr val="2E2E2E"/>
                </a:solidFill>
                <a:latin typeface="Calibri"/>
              </a:rPr>
              <a:t>▪ Development spend targets product type / chemistry categories gaining share to 2036.</a:t>
            </a:r>
          </a:p>
        </p:txBody>
      </p:sp>
      <p:sp>
        <p:nvSpPr>
          <p:cNvPr id="60" name="TextBox 59"/>
          <p:cNvSpPr txBox="1"/>
          <p:nvPr/>
        </p:nvSpPr>
        <p:spPr>
          <a:xfrm>
            <a:off x="6305550" y="3750564"/>
            <a:ext cx="1594346" cy="186689"/>
          </a:xfrm>
          <a:prstGeom prst="rect">
            <a:avLst/>
          </a:prstGeom>
          <a:noFill/>
        </p:spPr>
        <p:txBody>
          <a:bodyPr wrap="none" lIns="0" rIns="0" tIns="0" bIns="0">
            <a:spAutoFit/>
          </a:bodyPr>
          <a:lstStyle/>
          <a:p>
            <a:r>
              <a:rPr sz="1100" b="0">
                <a:solidFill>
                  <a:srgbClr val="2E2E2E"/>
                </a:solidFill>
                <a:latin typeface="Calibri"/>
              </a:rPr>
              <a:t>▪ Innovation underpins the</a:t>
            </a:r>
          </a:p>
        </p:txBody>
      </p:sp>
      <p:pic>
        <p:nvPicPr>
          <p:cNvPr id="61" name="Picture 60" descr="lock.png"/>
          <p:cNvPicPr>
            <a:picLocks noChangeAspect="1"/>
          </p:cNvPicPr>
          <p:nvPr/>
        </p:nvPicPr>
        <p:blipFill>
          <a:blip r:embed="rId5"/>
          <a:stretch>
            <a:fillRect/>
          </a:stretch>
        </p:blipFill>
        <p:spPr>
          <a:xfrm>
            <a:off x="7847947" y="3740785"/>
            <a:ext cx="128699" cy="187198"/>
          </a:xfrm>
          <a:prstGeom prst="rect">
            <a:avLst/>
          </a:prstGeom>
        </p:spPr>
      </p:pic>
      <p:sp>
        <p:nvSpPr>
          <p:cNvPr id="62" name="TextBox 61"/>
          <p:cNvSpPr txBox="1"/>
          <p:nvPr/>
        </p:nvSpPr>
        <p:spPr>
          <a:xfrm>
            <a:off x="8015443" y="3750564"/>
            <a:ext cx="924478" cy="186689"/>
          </a:xfrm>
          <a:prstGeom prst="rect">
            <a:avLst/>
          </a:prstGeom>
          <a:noFill/>
        </p:spPr>
        <p:txBody>
          <a:bodyPr wrap="none" lIns="0" rIns="0" tIns="0" bIns="0">
            <a:spAutoFit/>
          </a:bodyPr>
          <a:lstStyle/>
          <a:p>
            <a:r>
              <a:rPr sz="1100" b="0">
                <a:solidFill>
                  <a:srgbClr val="2E2E2E"/>
                </a:solidFill>
                <a:latin typeface="Calibri"/>
              </a:rPr>
              <a:t>forecast CAGR.</a:t>
            </a:r>
          </a:p>
        </p:txBody>
      </p:sp>
      <p:sp>
        <p:nvSpPr>
          <p:cNvPr id="63" name="lockshield_28"/>
          <p:cNvSpPr/>
          <p:nvPr/>
        </p:nvSpPr>
        <p:spPr>
          <a:xfrm>
            <a:off x="238125" y="4600575"/>
            <a:ext cx="11715750" cy="19526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Analysis and Recommendation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the market approach, differentiating strategy and FMI's analysis and recommendation</a:t>
            </a:r>
          </a:p>
        </p:txBody>
      </p:sp>
      <p:sp>
        <p:nvSpPr>
          <p:cNvPr id="10" name="Rounded Rectangle 9"/>
          <p:cNvSpPr/>
          <p:nvPr/>
        </p:nvSpPr>
        <p:spPr>
          <a:xfrm>
            <a:off x="142875" y="981075"/>
            <a:ext cx="5876925"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Overall Market Approach</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4" name="Rounded Rectangle 13"/>
          <p:cNvSpPr/>
          <p:nvPr/>
        </p:nvSpPr>
        <p:spPr>
          <a:xfrm>
            <a:off x="6172200" y="981075"/>
            <a:ext cx="5876925"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Differentiating Strategy</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Differentiate through the high-growth 'Silicone Waterproof Coatings' tier and Bathrooms and Wet Areas within application.</a:t>
            </a:r>
          </a:p>
        </p:txBody>
      </p:sp>
      <p:sp>
        <p:nvSpPr>
          <p:cNvPr id="18" name="Rounded Rectangle 17"/>
          <p:cNvSpPr/>
          <p:nvPr/>
        </p:nvSpPr>
        <p:spPr>
          <a:xfrm>
            <a:off x="142875" y="2800350"/>
            <a:ext cx="5876925"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88607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Segment</a:t>
            </a:r>
          </a:p>
        </p:txBody>
      </p:sp>
      <p:sp>
        <p:nvSpPr>
          <p:cNvPr id="20" name="Rectangle 19"/>
          <p:cNvSpPr/>
          <p:nvPr/>
        </p:nvSpPr>
        <p:spPr>
          <a:xfrm>
            <a:off x="276225" y="31242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209925"/>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6172200" y="2800350"/>
            <a:ext cx="5876925"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88607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Country</a:t>
            </a:r>
          </a:p>
        </p:txBody>
      </p:sp>
      <p:sp>
        <p:nvSpPr>
          <p:cNvPr id="24" name="Rectangle 23"/>
          <p:cNvSpPr/>
          <p:nvPr/>
        </p:nvSpPr>
        <p:spPr>
          <a:xfrm>
            <a:off x="6305550" y="31242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209925"/>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42875" y="4619625"/>
            <a:ext cx="11906250" cy="2000250"/>
          </a:xfrm>
          <a:prstGeom prst="roundRect">
            <a:avLst>
              <a:gd name="adj" fmla="val 38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705350"/>
            <a:ext cx="11639550" cy="209550"/>
          </a:xfrm>
          <a:prstGeom prst="rect">
            <a:avLst/>
          </a:prstGeom>
          <a:noFill/>
        </p:spPr>
        <p:txBody>
          <a:bodyPr wrap="square" lIns="0" rIns="19050" tIns="9525" bIns="9525">
            <a:spAutoFit/>
          </a:bodyPr>
          <a:lstStyle/>
          <a:p>
            <a:pPr algn="l"/>
            <a:r>
              <a:rPr sz="1300" b="1">
                <a:solidFill>
                  <a:srgbClr val="0B2E4A"/>
                </a:solidFill>
                <a:latin typeface="Calibri"/>
              </a:rPr>
              <a:t>Fact.MR Analysis &amp; Recommendation</a:t>
            </a:r>
          </a:p>
        </p:txBody>
      </p:sp>
      <p:sp>
        <p:nvSpPr>
          <p:cNvPr id="28" name="Rectangle 27"/>
          <p:cNvSpPr/>
          <p:nvPr/>
        </p:nvSpPr>
        <p:spPr>
          <a:xfrm>
            <a:off x="276225" y="49434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6225" y="5029200"/>
            <a:ext cx="11639550" cy="15144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4976291" cy="194310"/>
          </a:xfrm>
          <a:prstGeom prst="rect">
            <a:avLst/>
          </a:prstGeom>
          <a:noFill/>
        </p:spPr>
        <p:txBody>
          <a:bodyPr wrap="none" lIns="0" rIns="0" tIns="0" bIns="0">
            <a:spAutoFit/>
          </a:bodyPr>
          <a:lstStyle/>
          <a:p>
            <a:r>
              <a:rPr sz="1150" b="0">
                <a:solidFill>
                  <a:srgbClr val="2E2E2E"/>
                </a:solidFill>
                <a:latin typeface="Calibri"/>
              </a:rPr>
              <a:t>▪ Balance scale in 'Other Polymer-Based Coatings' with targeted growth in 'Silicone</a:t>
            </a:r>
          </a:p>
        </p:txBody>
      </p:sp>
      <p:sp>
        <p:nvSpPr>
          <p:cNvPr id="32" name="TextBox 31"/>
          <p:cNvSpPr txBox="1"/>
          <p:nvPr/>
        </p:nvSpPr>
        <p:spPr>
          <a:xfrm>
            <a:off x="276225" y="1575435"/>
            <a:ext cx="2169393" cy="194310"/>
          </a:xfrm>
          <a:prstGeom prst="rect">
            <a:avLst/>
          </a:prstGeom>
          <a:noFill/>
        </p:spPr>
        <p:txBody>
          <a:bodyPr wrap="none" lIns="0" rIns="0" tIns="0" bIns="0">
            <a:spAutoFit/>
          </a:bodyPr>
          <a:lstStyle/>
          <a:p>
            <a:r>
              <a:rPr sz="1150" b="0">
                <a:solidFill>
                  <a:srgbClr val="2E2E2E"/>
                </a:solidFill>
                <a:latin typeface="Calibri"/>
              </a:rPr>
              <a:t>Waterproof Coatings', pursuing the</a:t>
            </a:r>
          </a:p>
        </p:txBody>
      </p:sp>
      <p:pic>
        <p:nvPicPr>
          <p:cNvPr id="33" name="Picture 32" descr="lock.png"/>
          <p:cNvPicPr>
            <a:picLocks noChangeAspect="1"/>
          </p:cNvPicPr>
          <p:nvPr/>
        </p:nvPicPr>
        <p:blipFill>
          <a:blip r:embed="rId4"/>
          <a:stretch>
            <a:fillRect/>
          </a:stretch>
        </p:blipFill>
        <p:spPr>
          <a:xfrm>
            <a:off x="2394772" y="1565211"/>
            <a:ext cx="134549" cy="195707"/>
          </a:xfrm>
          <a:prstGeom prst="rect">
            <a:avLst/>
          </a:prstGeom>
        </p:spPr>
      </p:pic>
      <p:sp>
        <p:nvSpPr>
          <p:cNvPr id="34" name="TextBox 33"/>
          <p:cNvSpPr txBox="1"/>
          <p:nvPr/>
        </p:nvSpPr>
        <p:spPr>
          <a:xfrm>
            <a:off x="2569881" y="1575435"/>
            <a:ext cx="1551800" cy="194310"/>
          </a:xfrm>
          <a:prstGeom prst="rect">
            <a:avLst/>
          </a:prstGeom>
          <a:noFill/>
        </p:spPr>
        <p:txBody>
          <a:bodyPr wrap="none" lIns="0" rIns="0" tIns="0" bIns="0">
            <a:spAutoFit/>
          </a:bodyPr>
          <a:lstStyle/>
          <a:p>
            <a:r>
              <a:rPr sz="1150" b="0">
                <a:solidFill>
                  <a:srgbClr val="2E2E2E"/>
                </a:solidFill>
                <a:latin typeface="Calibri"/>
              </a:rPr>
              <a:t>CAGR trajectory to 2036.</a:t>
            </a:r>
          </a:p>
        </p:txBody>
      </p:sp>
      <p:sp>
        <p:nvSpPr>
          <p:cNvPr id="35" name="TextBox 34"/>
          <p:cNvSpPr txBox="1"/>
          <p:nvPr/>
        </p:nvSpPr>
        <p:spPr>
          <a:xfrm>
            <a:off x="276225" y="3219450"/>
            <a:ext cx="2602123" cy="194310"/>
          </a:xfrm>
          <a:prstGeom prst="rect">
            <a:avLst/>
          </a:prstGeom>
          <a:noFill/>
        </p:spPr>
        <p:txBody>
          <a:bodyPr wrap="none" lIns="0" rIns="0" tIns="0" bIns="0">
            <a:spAutoFit/>
          </a:bodyPr>
          <a:lstStyle/>
          <a:p>
            <a:r>
              <a:rPr sz="1150" b="0">
                <a:solidFill>
                  <a:srgbClr val="2E2E2E"/>
                </a:solidFill>
                <a:latin typeface="Calibri"/>
              </a:rPr>
              <a:t>▪ Prioritise 'Silicone Waterproof Coatings' (</a:t>
            </a:r>
          </a:p>
        </p:txBody>
      </p:sp>
      <p:pic>
        <p:nvPicPr>
          <p:cNvPr id="36" name="Picture 35" descr="lock.png"/>
          <p:cNvPicPr>
            <a:picLocks noChangeAspect="1"/>
          </p:cNvPicPr>
          <p:nvPr/>
        </p:nvPicPr>
        <p:blipFill>
          <a:blip r:embed="rId4"/>
          <a:stretch>
            <a:fillRect/>
          </a:stretch>
        </p:blipFill>
        <p:spPr>
          <a:xfrm>
            <a:off x="2827502" y="3209226"/>
            <a:ext cx="134549" cy="195707"/>
          </a:xfrm>
          <a:prstGeom prst="rect">
            <a:avLst/>
          </a:prstGeom>
        </p:spPr>
      </p:pic>
      <p:sp>
        <p:nvSpPr>
          <p:cNvPr id="37" name="TextBox 36"/>
          <p:cNvSpPr txBox="1"/>
          <p:nvPr/>
        </p:nvSpPr>
        <p:spPr>
          <a:xfrm>
            <a:off x="3002611" y="3219450"/>
            <a:ext cx="2576735" cy="194310"/>
          </a:xfrm>
          <a:prstGeom prst="rect">
            <a:avLst/>
          </a:prstGeom>
          <a:noFill/>
        </p:spPr>
        <p:txBody>
          <a:bodyPr wrap="none" lIns="0" rIns="0" tIns="0" bIns="0">
            <a:spAutoFit/>
          </a:bodyPr>
          <a:lstStyle/>
          <a:p>
            <a:r>
              <a:rPr sz="1150" b="0">
                <a:solidFill>
                  <a:srgbClr val="2E2E2E"/>
                </a:solidFill>
                <a:latin typeface="Calibri"/>
              </a:rPr>
              <a:t>); 'Other Polymer-Based Coatings' anchors</a:t>
            </a:r>
          </a:p>
        </p:txBody>
      </p:sp>
      <p:pic>
        <p:nvPicPr>
          <p:cNvPr id="38" name="Picture 37" descr="lock.png"/>
          <p:cNvPicPr>
            <a:picLocks noChangeAspect="1"/>
          </p:cNvPicPr>
          <p:nvPr/>
        </p:nvPicPr>
        <p:blipFill>
          <a:blip r:embed="rId4"/>
          <a:stretch>
            <a:fillRect/>
          </a:stretch>
        </p:blipFill>
        <p:spPr>
          <a:xfrm>
            <a:off x="5528501" y="3209226"/>
            <a:ext cx="134549" cy="195707"/>
          </a:xfrm>
          <a:prstGeom prst="rect">
            <a:avLst/>
          </a:prstGeom>
        </p:spPr>
      </p:pic>
      <p:sp>
        <p:nvSpPr>
          <p:cNvPr id="39" name="TextBox 38"/>
          <p:cNvSpPr txBox="1"/>
          <p:nvPr/>
        </p:nvSpPr>
        <p:spPr>
          <a:xfrm>
            <a:off x="276225" y="3394710"/>
            <a:ext cx="586519" cy="194310"/>
          </a:xfrm>
          <a:prstGeom prst="rect">
            <a:avLst/>
          </a:prstGeom>
          <a:noFill/>
        </p:spPr>
        <p:txBody>
          <a:bodyPr wrap="none" lIns="0" rIns="0" tIns="0" bIns="0">
            <a:spAutoFit/>
          </a:bodyPr>
          <a:lstStyle/>
          <a:p>
            <a:r>
              <a:rPr sz="1150" b="0">
                <a:solidFill>
                  <a:srgbClr val="2E2E2E"/>
                </a:solidFill>
                <a:latin typeface="Calibri"/>
              </a:rPr>
              <a:t>of value.</a:t>
            </a:r>
          </a:p>
        </p:txBody>
      </p:sp>
      <p:sp>
        <p:nvSpPr>
          <p:cNvPr id="40" name="TextBox 39"/>
          <p:cNvSpPr txBox="1"/>
          <p:nvPr/>
        </p:nvSpPr>
        <p:spPr>
          <a:xfrm>
            <a:off x="6305550" y="3219450"/>
            <a:ext cx="1083431" cy="194310"/>
          </a:xfrm>
          <a:prstGeom prst="rect">
            <a:avLst/>
          </a:prstGeom>
          <a:noFill/>
        </p:spPr>
        <p:txBody>
          <a:bodyPr wrap="none" lIns="0" rIns="0" tIns="0" bIns="0">
            <a:spAutoFit/>
          </a:bodyPr>
          <a:lstStyle/>
          <a:p>
            <a:r>
              <a:rPr sz="1150" b="0">
                <a:solidFill>
                  <a:srgbClr val="2E2E2E"/>
                </a:solidFill>
                <a:latin typeface="Calibri"/>
              </a:rPr>
              <a:t>▪ Lead with U.S. (</a:t>
            </a:r>
          </a:p>
        </p:txBody>
      </p:sp>
      <p:pic>
        <p:nvPicPr>
          <p:cNvPr id="41" name="Picture 40" descr="lock.png"/>
          <p:cNvPicPr>
            <a:picLocks noChangeAspect="1"/>
          </p:cNvPicPr>
          <p:nvPr/>
        </p:nvPicPr>
        <p:blipFill>
          <a:blip r:embed="rId4"/>
          <a:stretch>
            <a:fillRect/>
          </a:stretch>
        </p:blipFill>
        <p:spPr>
          <a:xfrm>
            <a:off x="7338135" y="3209226"/>
            <a:ext cx="134549" cy="195707"/>
          </a:xfrm>
          <a:prstGeom prst="rect">
            <a:avLst/>
          </a:prstGeom>
        </p:spPr>
      </p:pic>
      <p:sp>
        <p:nvSpPr>
          <p:cNvPr id="42" name="TextBox 41"/>
          <p:cNvSpPr txBox="1"/>
          <p:nvPr/>
        </p:nvSpPr>
        <p:spPr>
          <a:xfrm>
            <a:off x="7513244" y="3219450"/>
            <a:ext cx="1764903" cy="194310"/>
          </a:xfrm>
          <a:prstGeom prst="rect">
            <a:avLst/>
          </a:prstGeom>
          <a:noFill/>
        </p:spPr>
        <p:txBody>
          <a:bodyPr wrap="none" lIns="0" rIns="0" tIns="0" bIns="0">
            <a:spAutoFit/>
          </a:bodyPr>
          <a:lstStyle/>
          <a:p>
            <a:r>
              <a:rPr sz="1150" b="0">
                <a:solidFill>
                  <a:srgbClr val="2E2E2E"/>
                </a:solidFill>
                <a:latin typeface="Calibri"/>
              </a:rPr>
              <a:t>); capture upside in Mexico (</a:t>
            </a:r>
          </a:p>
        </p:txBody>
      </p:sp>
      <p:pic>
        <p:nvPicPr>
          <p:cNvPr id="43" name="Picture 42" descr="lock.png"/>
          <p:cNvPicPr>
            <a:picLocks noChangeAspect="1"/>
          </p:cNvPicPr>
          <p:nvPr/>
        </p:nvPicPr>
        <p:blipFill>
          <a:blip r:embed="rId4"/>
          <a:stretch>
            <a:fillRect/>
          </a:stretch>
        </p:blipFill>
        <p:spPr>
          <a:xfrm>
            <a:off x="9227301" y="3209226"/>
            <a:ext cx="134549" cy="195707"/>
          </a:xfrm>
          <a:prstGeom prst="rect">
            <a:avLst/>
          </a:prstGeom>
        </p:spPr>
      </p:pic>
      <p:sp>
        <p:nvSpPr>
          <p:cNvPr id="44" name="TextBox 43"/>
          <p:cNvSpPr txBox="1"/>
          <p:nvPr/>
        </p:nvSpPr>
        <p:spPr>
          <a:xfrm>
            <a:off x="9402411" y="321945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5" name="TextBox 44"/>
          <p:cNvSpPr txBox="1"/>
          <p:nvPr/>
        </p:nvSpPr>
        <p:spPr>
          <a:xfrm>
            <a:off x="276225" y="5038725"/>
            <a:ext cx="1716695" cy="194310"/>
          </a:xfrm>
          <a:prstGeom prst="rect">
            <a:avLst/>
          </a:prstGeom>
          <a:noFill/>
        </p:spPr>
        <p:txBody>
          <a:bodyPr wrap="none" lIns="0" rIns="0" tIns="0" bIns="0">
            <a:spAutoFit/>
          </a:bodyPr>
          <a:lstStyle/>
          <a:p>
            <a:r>
              <a:rPr sz="1150" b="0">
                <a:solidFill>
                  <a:srgbClr val="2E2E2E"/>
                </a:solidFill>
                <a:latin typeface="Calibri"/>
              </a:rPr>
              <a:t>▪ Waterproof Coatings adds</a:t>
            </a:r>
          </a:p>
        </p:txBody>
      </p:sp>
      <p:pic>
        <p:nvPicPr>
          <p:cNvPr id="46" name="Picture 45" descr="lock.png"/>
          <p:cNvPicPr>
            <a:picLocks noChangeAspect="1"/>
          </p:cNvPicPr>
          <p:nvPr/>
        </p:nvPicPr>
        <p:blipFill>
          <a:blip r:embed="rId4"/>
          <a:stretch>
            <a:fillRect/>
          </a:stretch>
        </p:blipFill>
        <p:spPr>
          <a:xfrm>
            <a:off x="1942074" y="5028501"/>
            <a:ext cx="134549" cy="195707"/>
          </a:xfrm>
          <a:prstGeom prst="rect">
            <a:avLst/>
          </a:prstGeom>
        </p:spPr>
      </p:pic>
      <p:sp>
        <p:nvSpPr>
          <p:cNvPr id="47" name="TextBox 46"/>
          <p:cNvSpPr txBox="1"/>
          <p:nvPr/>
        </p:nvSpPr>
        <p:spPr>
          <a:xfrm>
            <a:off x="2117183" y="5038725"/>
            <a:ext cx="1815107" cy="194310"/>
          </a:xfrm>
          <a:prstGeom prst="rect">
            <a:avLst/>
          </a:prstGeom>
          <a:noFill/>
        </p:spPr>
        <p:txBody>
          <a:bodyPr wrap="none" lIns="0" rIns="0" tIns="0" bIns="0">
            <a:spAutoFit/>
          </a:bodyPr>
          <a:lstStyle/>
          <a:p>
            <a:r>
              <a:rPr sz="1150" b="0">
                <a:solidFill>
                  <a:srgbClr val="2E2E2E"/>
                </a:solidFill>
                <a:latin typeface="Calibri"/>
              </a:rPr>
              <a:t>US$ Mn of demand to 2036 a</a:t>
            </a:r>
          </a:p>
        </p:txBody>
      </p:sp>
      <p:pic>
        <p:nvPicPr>
          <p:cNvPr id="48" name="Picture 47" descr="lock.png"/>
          <p:cNvPicPr>
            <a:picLocks noChangeAspect="1"/>
          </p:cNvPicPr>
          <p:nvPr/>
        </p:nvPicPr>
        <p:blipFill>
          <a:blip r:embed="rId4"/>
          <a:stretch>
            <a:fillRect/>
          </a:stretch>
        </p:blipFill>
        <p:spPr>
          <a:xfrm>
            <a:off x="3881445" y="5028501"/>
            <a:ext cx="134549" cy="195707"/>
          </a:xfrm>
          <a:prstGeom prst="rect">
            <a:avLst/>
          </a:prstGeom>
        </p:spPr>
      </p:pic>
      <p:sp>
        <p:nvSpPr>
          <p:cNvPr id="49" name="TextBox 48"/>
          <p:cNvSpPr txBox="1"/>
          <p:nvPr/>
        </p:nvSpPr>
        <p:spPr>
          <a:xfrm>
            <a:off x="4056554" y="5038725"/>
            <a:ext cx="822709" cy="194310"/>
          </a:xfrm>
          <a:prstGeom prst="rect">
            <a:avLst/>
          </a:prstGeom>
          <a:noFill/>
        </p:spPr>
        <p:txBody>
          <a:bodyPr wrap="none" lIns="0" rIns="0" tIns="0" bIns="0">
            <a:spAutoFit/>
          </a:bodyPr>
          <a:lstStyle/>
          <a:p>
            <a:r>
              <a:rPr sz="1150" b="0">
                <a:solidFill>
                  <a:srgbClr val="2E2E2E"/>
                </a:solidFill>
                <a:latin typeface="Calibri"/>
              </a:rPr>
              <a:t>× expansion.</a:t>
            </a:r>
          </a:p>
        </p:txBody>
      </p:sp>
      <p:sp>
        <p:nvSpPr>
          <p:cNvPr id="50" name="TextBox 49"/>
          <p:cNvSpPr txBox="1"/>
          <p:nvPr/>
        </p:nvSpPr>
        <p:spPr>
          <a:xfrm>
            <a:off x="276225" y="5266563"/>
            <a:ext cx="6344369" cy="194310"/>
          </a:xfrm>
          <a:prstGeom prst="rect">
            <a:avLst/>
          </a:prstGeom>
          <a:noFill/>
        </p:spPr>
        <p:txBody>
          <a:bodyPr wrap="none" lIns="0" rIns="0" tIns="0" bIns="0">
            <a:spAutoFit/>
          </a:bodyPr>
          <a:lstStyle/>
          <a:p>
            <a:r>
              <a:rPr sz="1150" b="0">
                <a:solidFill>
                  <a:srgbClr val="2E2E2E"/>
                </a:solidFill>
                <a:latin typeface="Calibri"/>
              </a:rPr>
              <a:t>▪ Concentrate resources on the leading segment/country while seeding the fastest-growing pockets early.</a:t>
            </a:r>
          </a:p>
        </p:txBody>
      </p:sp>
      <p:sp>
        <p:nvSpPr>
          <p:cNvPr id="51" name="TextBox 50"/>
          <p:cNvSpPr txBox="1"/>
          <p:nvPr/>
        </p:nvSpPr>
        <p:spPr>
          <a:xfrm>
            <a:off x="276225" y="5494400"/>
            <a:ext cx="5177966" cy="194310"/>
          </a:xfrm>
          <a:prstGeom prst="rect">
            <a:avLst/>
          </a:prstGeom>
          <a:noFill/>
        </p:spPr>
        <p:txBody>
          <a:bodyPr wrap="none" lIns="0" rIns="0" tIns="0" bIns="0">
            <a:spAutoFit/>
          </a:bodyPr>
          <a:lstStyle/>
          <a:p>
            <a:r>
              <a:rPr sz="1150" b="0">
                <a:solidFill>
                  <a:srgbClr val="2E2E2E"/>
                </a:solidFill>
                <a:latin typeface="Calibri"/>
              </a:rPr>
              <a:t>▪ Defend share in 'Other Polymer-Based Coatings' as the value anchor of the portfolio.</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Scenario Outlook (4/4)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Scenario outlook comparing optimistic, likely and conservative outcomes for 2036 and the CAGR behind each</a:t>
            </a:r>
          </a:p>
        </p:txBody>
      </p:sp>
      <p:sp>
        <p:nvSpPr>
          <p:cNvPr id="10" name="Rounded Rectangle 9"/>
          <p:cNvSpPr/>
          <p:nvPr/>
        </p:nvSpPr>
        <p:spPr>
          <a:xfrm>
            <a:off x="142875" y="981075"/>
            <a:ext cx="3943350"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1" name="Rounded Rectangle 10"/>
          <p:cNvSpPr/>
          <p:nvPr/>
        </p:nvSpPr>
        <p:spPr>
          <a:xfrm>
            <a:off x="4238625"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2" name="Rounded Rectangle 11"/>
          <p:cNvSpPr/>
          <p:nvPr/>
        </p:nvSpPr>
        <p:spPr>
          <a:xfrm>
            <a:off x="8210550"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3" name="Rounded Rectangle 12"/>
          <p:cNvSpPr/>
          <p:nvPr/>
        </p:nvSpPr>
        <p:spPr>
          <a:xfrm>
            <a:off x="142875"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Waterproof Coatings Market Value (US$ Mn) Scenario Forecast, 2025 &amp; 2036</a:t>
            </a:r>
          </a:p>
        </p:txBody>
      </p:sp>
      <p:cxnSp>
        <p:nvCxnSpPr>
          <p:cNvPr id="15" name="Connector 14"/>
          <p:cNvCxnSpPr/>
          <p:nvPr/>
        </p:nvCxnSpPr>
        <p:spPr>
          <a:xfrm>
            <a:off x="238125" y="430530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06342" y="3445264"/>
            <a:ext cx="635826" cy="860036"/>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43936" y="3100375"/>
            <a:ext cx="635826" cy="1204925"/>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25725" y="2960089"/>
            <a:ext cx="635826" cy="1345211"/>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07515" y="2805113"/>
            <a:ext cx="635826" cy="1500187"/>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1456468" y="2967025"/>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570768" y="2862250"/>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2" name="Connector 21"/>
          <p:cNvCxnSpPr/>
          <p:nvPr/>
        </p:nvCxnSpPr>
        <p:spPr>
          <a:xfrm>
            <a:off x="1456468" y="2709850"/>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570768" y="2605075"/>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4" name="Connector 23"/>
          <p:cNvCxnSpPr/>
          <p:nvPr/>
        </p:nvCxnSpPr>
        <p:spPr>
          <a:xfrm>
            <a:off x="1456468" y="2452675"/>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570768" y="2347900"/>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sp>
        <p:nvSpPr>
          <p:cNvPr id="26" name="TextBox 25"/>
          <p:cNvSpPr txBox="1"/>
          <p:nvPr/>
        </p:nvSpPr>
        <p:spPr>
          <a:xfrm>
            <a:off x="643255"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2025</a:t>
            </a:r>
          </a:p>
        </p:txBody>
      </p:sp>
      <p:sp>
        <p:nvSpPr>
          <p:cNvPr id="27" name="TextBox 26"/>
          <p:cNvSpPr txBox="1"/>
          <p:nvPr/>
        </p:nvSpPr>
        <p:spPr>
          <a:xfrm>
            <a:off x="3962638"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2036</a:t>
            </a:r>
          </a:p>
        </p:txBody>
      </p:sp>
      <p:sp>
        <p:nvSpPr>
          <p:cNvPr id="28" name="Oval 27"/>
          <p:cNvSpPr/>
          <p:nvPr/>
        </p:nvSpPr>
        <p:spPr>
          <a:xfrm>
            <a:off x="304800" y="457200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577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Conservative Scenario</a:t>
            </a:r>
          </a:p>
        </p:txBody>
      </p:sp>
      <p:sp>
        <p:nvSpPr>
          <p:cNvPr id="30" name="Oval 29"/>
          <p:cNvSpPr/>
          <p:nvPr/>
        </p:nvSpPr>
        <p:spPr>
          <a:xfrm>
            <a:off x="2200275" y="457200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0"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Likely Scenario</a:t>
            </a:r>
          </a:p>
        </p:txBody>
      </p:sp>
      <p:sp>
        <p:nvSpPr>
          <p:cNvPr id="32" name="Oval 31"/>
          <p:cNvSpPr/>
          <p:nvPr/>
        </p:nvSpPr>
        <p:spPr>
          <a:xfrm>
            <a:off x="4095750" y="457200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7672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Optimistic Scenario</a:t>
            </a:r>
          </a:p>
        </p:txBody>
      </p:sp>
      <p:sp>
        <p:nvSpPr>
          <p:cNvPr id="34" name="Rounded Rectangle 33"/>
          <p:cNvSpPr/>
          <p:nvPr/>
        </p:nvSpPr>
        <p:spPr>
          <a:xfrm>
            <a:off x="6172200"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7450"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Waterproof Coatings Market Attractiveness Analysis By Region, 2026–2036</a:t>
            </a:r>
          </a:p>
        </p:txBody>
      </p:sp>
      <p:graphicFrame>
        <p:nvGraphicFramePr>
          <p:cNvPr id="36" name="Chart 35"/>
          <p:cNvGraphicFramePr>
            <a:graphicFrameLocks noGrp="1"/>
          </p:cNvGraphicFramePr>
          <p:nvPr/>
        </p:nvGraphicFramePr>
        <p:xfrm>
          <a:off x="6267450" y="2266950"/>
          <a:ext cx="5686425" cy="2495550"/>
        </p:xfrm>
        <a:graphic>
          <a:graphicData uri="http://schemas.openxmlformats.org/drawingml/2006/chart">
            <c:chart xmlns:c="http://schemas.openxmlformats.org/drawingml/2006/chart" r:id="rId3"/>
          </a:graphicData>
        </a:graphic>
      </p:graphicFrame>
      <p:sp>
        <p:nvSpPr>
          <p:cNvPr id="37" name="Rounded Rectangle 36"/>
          <p:cNvSpPr/>
          <p:nvPr/>
        </p:nvSpPr>
        <p:spPr>
          <a:xfrm>
            <a:off x="142875" y="4953000"/>
            <a:ext cx="11906250" cy="1676400"/>
          </a:xfrm>
          <a:prstGeom prst="roundRect">
            <a:avLst>
              <a:gd name="adj" fmla="val 45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225" y="5038725"/>
            <a:ext cx="11639550" cy="209550"/>
          </a:xfrm>
          <a:prstGeom prst="rect">
            <a:avLst/>
          </a:prstGeom>
          <a:noFill/>
        </p:spPr>
        <p:txBody>
          <a:bodyPr wrap="square" lIns="0" rIns="19050" tIns="9525" bIns="9525">
            <a:spAutoFit/>
          </a:bodyPr>
          <a:lstStyle/>
          <a:p>
            <a:pPr algn="l"/>
            <a:r>
              <a:rPr sz="1300" b="1">
                <a:solidFill>
                  <a:srgbClr val="0B2E4A"/>
                </a:solidFill>
                <a:latin typeface="Calibri"/>
              </a:rPr>
              <a:t>Scenario Assumptions &amp; Outlook</a:t>
            </a:r>
          </a:p>
        </p:txBody>
      </p:sp>
      <p:sp>
        <p:nvSpPr>
          <p:cNvPr id="39" name="Rectangle 38"/>
          <p:cNvSpPr/>
          <p:nvPr/>
        </p:nvSpPr>
        <p:spPr>
          <a:xfrm>
            <a:off x="276225" y="52768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6225" y="5362575"/>
            <a:ext cx="11639550" cy="1190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2" name="Picture 41" descr="lock.png"/>
          <p:cNvPicPr>
            <a:picLocks noChangeAspect="1"/>
          </p:cNvPicPr>
          <p:nvPr/>
        </p:nvPicPr>
        <p:blipFill>
          <a:blip r:embed="rId5"/>
          <a:stretch>
            <a:fillRect/>
          </a:stretch>
        </p:blipFill>
        <p:spPr>
          <a:xfrm>
            <a:off x="2035969" y="1214437"/>
            <a:ext cx="157162" cy="228600"/>
          </a:xfrm>
          <a:prstGeom prst="rect">
            <a:avLst/>
          </a:prstGeom>
        </p:spPr>
      </p:pic>
      <p:pic>
        <p:nvPicPr>
          <p:cNvPr id="43" name="Picture 42" descr="lock.png"/>
          <p:cNvPicPr>
            <a:picLocks noChangeAspect="1"/>
          </p:cNvPicPr>
          <p:nvPr/>
        </p:nvPicPr>
        <p:blipFill>
          <a:blip r:embed="rId5"/>
          <a:stretch>
            <a:fillRect/>
          </a:stretch>
        </p:blipFill>
        <p:spPr>
          <a:xfrm>
            <a:off x="6069806" y="1214437"/>
            <a:ext cx="157162" cy="228600"/>
          </a:xfrm>
          <a:prstGeom prst="rect">
            <a:avLst/>
          </a:prstGeom>
        </p:spPr>
      </p:pic>
      <p:pic>
        <p:nvPicPr>
          <p:cNvPr id="44" name="Picture 43" descr="lock.png"/>
          <p:cNvPicPr>
            <a:picLocks noChangeAspect="1"/>
          </p:cNvPicPr>
          <p:nvPr/>
        </p:nvPicPr>
        <p:blipFill>
          <a:blip r:embed="rId5"/>
          <a:stretch>
            <a:fillRect/>
          </a:stretch>
        </p:blipFill>
        <p:spPr>
          <a:xfrm>
            <a:off x="10041731" y="1214437"/>
            <a:ext cx="157162" cy="228600"/>
          </a:xfrm>
          <a:prstGeom prst="rect">
            <a:avLst/>
          </a:prstGeom>
        </p:spPr>
      </p:pic>
      <p:sp>
        <p:nvSpPr>
          <p:cNvPr id="45" name="TextBox 44"/>
          <p:cNvSpPr txBox="1"/>
          <p:nvPr/>
        </p:nvSpPr>
        <p:spPr>
          <a:xfrm>
            <a:off x="1637332" y="1028326"/>
            <a:ext cx="1030634" cy="166573"/>
          </a:xfrm>
          <a:prstGeom prst="rect">
            <a:avLst/>
          </a:prstGeom>
          <a:noFill/>
        </p:spPr>
        <p:txBody>
          <a:bodyPr wrap="none" lIns="0" rIns="0" tIns="0" bIns="0">
            <a:spAutoFit/>
          </a:bodyPr>
          <a:lstStyle/>
          <a:p>
            <a:r>
              <a:rPr sz="968" b="1">
                <a:solidFill>
                  <a:srgbClr val="6C7A89"/>
                </a:solidFill>
                <a:latin typeface="Calibri"/>
              </a:rPr>
              <a:t>OPTIMISTIC (2036)</a:t>
            </a:r>
          </a:p>
        </p:txBody>
      </p:sp>
      <p:sp>
        <p:nvSpPr>
          <p:cNvPr id="46" name="TextBox 45"/>
          <p:cNvSpPr txBox="1"/>
          <p:nvPr/>
        </p:nvSpPr>
        <p:spPr>
          <a:xfrm>
            <a:off x="1906321"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47" name="Picture 46" descr="lock.png"/>
          <p:cNvPicPr>
            <a:picLocks noChangeAspect="1"/>
          </p:cNvPicPr>
          <p:nvPr/>
        </p:nvPicPr>
        <p:blipFill>
          <a:blip r:embed="rId5"/>
          <a:stretch>
            <a:fillRect/>
          </a:stretch>
        </p:blipFill>
        <p:spPr>
          <a:xfrm>
            <a:off x="2208575" y="1473019"/>
            <a:ext cx="113255" cy="164734"/>
          </a:xfrm>
          <a:prstGeom prst="rect">
            <a:avLst/>
          </a:prstGeom>
        </p:spPr>
      </p:pic>
      <p:sp>
        <p:nvSpPr>
          <p:cNvPr id="48" name="TextBox 47"/>
          <p:cNvSpPr txBox="1"/>
          <p:nvPr/>
        </p:nvSpPr>
        <p:spPr>
          <a:xfrm>
            <a:off x="5807156" y="1028326"/>
            <a:ext cx="758662" cy="166573"/>
          </a:xfrm>
          <a:prstGeom prst="rect">
            <a:avLst/>
          </a:prstGeom>
          <a:noFill/>
        </p:spPr>
        <p:txBody>
          <a:bodyPr wrap="none" lIns="0" rIns="0" tIns="0" bIns="0">
            <a:spAutoFit/>
          </a:bodyPr>
          <a:lstStyle/>
          <a:p>
            <a:r>
              <a:rPr sz="968" b="1">
                <a:solidFill>
                  <a:srgbClr val="6C7A89"/>
                </a:solidFill>
                <a:latin typeface="Calibri"/>
              </a:rPr>
              <a:t>LIKELY (2036)</a:t>
            </a:r>
          </a:p>
        </p:txBody>
      </p:sp>
      <p:sp>
        <p:nvSpPr>
          <p:cNvPr id="49" name="TextBox 48"/>
          <p:cNvSpPr txBox="1"/>
          <p:nvPr/>
        </p:nvSpPr>
        <p:spPr>
          <a:xfrm>
            <a:off x="5940158"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0" name="Picture 49" descr="lock.png"/>
          <p:cNvPicPr>
            <a:picLocks noChangeAspect="1"/>
          </p:cNvPicPr>
          <p:nvPr/>
        </p:nvPicPr>
        <p:blipFill>
          <a:blip r:embed="rId5"/>
          <a:stretch>
            <a:fillRect/>
          </a:stretch>
        </p:blipFill>
        <p:spPr>
          <a:xfrm>
            <a:off x="6242412" y="1473019"/>
            <a:ext cx="113255" cy="164734"/>
          </a:xfrm>
          <a:prstGeom prst="rect">
            <a:avLst/>
          </a:prstGeom>
        </p:spPr>
      </p:pic>
      <p:sp>
        <p:nvSpPr>
          <p:cNvPr id="51" name="TextBox 50"/>
          <p:cNvSpPr txBox="1"/>
          <p:nvPr/>
        </p:nvSpPr>
        <p:spPr>
          <a:xfrm>
            <a:off x="9548094" y="1028326"/>
            <a:ext cx="1220636" cy="166573"/>
          </a:xfrm>
          <a:prstGeom prst="rect">
            <a:avLst/>
          </a:prstGeom>
          <a:noFill/>
        </p:spPr>
        <p:txBody>
          <a:bodyPr wrap="none" lIns="0" rIns="0" tIns="0" bIns="0">
            <a:spAutoFit/>
          </a:bodyPr>
          <a:lstStyle/>
          <a:p>
            <a:r>
              <a:rPr sz="968" b="1">
                <a:solidFill>
                  <a:srgbClr val="6C7A89"/>
                </a:solidFill>
                <a:latin typeface="Calibri"/>
              </a:rPr>
              <a:t>CONSERVATIVE (2036)</a:t>
            </a:r>
          </a:p>
        </p:txBody>
      </p:sp>
      <p:sp>
        <p:nvSpPr>
          <p:cNvPr id="52" name="TextBox 51"/>
          <p:cNvSpPr txBox="1"/>
          <p:nvPr/>
        </p:nvSpPr>
        <p:spPr>
          <a:xfrm>
            <a:off x="9912083"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3" name="Picture 52" descr="lock.png"/>
          <p:cNvPicPr>
            <a:picLocks noChangeAspect="1"/>
          </p:cNvPicPr>
          <p:nvPr/>
        </p:nvPicPr>
        <p:blipFill>
          <a:blip r:embed="rId5"/>
          <a:stretch>
            <a:fillRect/>
          </a:stretch>
        </p:blipFill>
        <p:spPr>
          <a:xfrm>
            <a:off x="10214337" y="1473019"/>
            <a:ext cx="113255" cy="164734"/>
          </a:xfrm>
          <a:prstGeom prst="rect">
            <a:avLst/>
          </a:prstGeom>
        </p:spPr>
      </p:pic>
      <p:sp>
        <p:nvSpPr>
          <p:cNvPr id="54" name="TextBox 53"/>
          <p:cNvSpPr txBox="1"/>
          <p:nvPr/>
        </p:nvSpPr>
        <p:spPr>
          <a:xfrm>
            <a:off x="2032418" y="2896616"/>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5" name="Picture 54" descr="lock.png"/>
          <p:cNvPicPr>
            <a:picLocks noChangeAspect="1"/>
          </p:cNvPicPr>
          <p:nvPr/>
        </p:nvPicPr>
        <p:blipFill>
          <a:blip r:embed="rId5"/>
          <a:stretch>
            <a:fillRect/>
          </a:stretch>
        </p:blipFill>
        <p:spPr>
          <a:xfrm>
            <a:off x="2358973" y="2888401"/>
            <a:ext cx="108107" cy="157246"/>
          </a:xfrm>
          <a:prstGeom prst="rect">
            <a:avLst/>
          </a:prstGeom>
        </p:spPr>
      </p:pic>
      <p:sp>
        <p:nvSpPr>
          <p:cNvPr id="56" name="TextBox 55"/>
          <p:cNvSpPr txBox="1"/>
          <p:nvPr/>
        </p:nvSpPr>
        <p:spPr>
          <a:xfrm>
            <a:off x="2032418" y="2639441"/>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7" name="Picture 56" descr="lock.png"/>
          <p:cNvPicPr>
            <a:picLocks noChangeAspect="1"/>
          </p:cNvPicPr>
          <p:nvPr/>
        </p:nvPicPr>
        <p:blipFill>
          <a:blip r:embed="rId5"/>
          <a:stretch>
            <a:fillRect/>
          </a:stretch>
        </p:blipFill>
        <p:spPr>
          <a:xfrm>
            <a:off x="2358973" y="2631226"/>
            <a:ext cx="108107" cy="157246"/>
          </a:xfrm>
          <a:prstGeom prst="rect">
            <a:avLst/>
          </a:prstGeom>
        </p:spPr>
      </p:pic>
      <p:sp>
        <p:nvSpPr>
          <p:cNvPr id="58" name="TextBox 57"/>
          <p:cNvSpPr txBox="1"/>
          <p:nvPr/>
        </p:nvSpPr>
        <p:spPr>
          <a:xfrm>
            <a:off x="2032418" y="2382266"/>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9" name="Picture 58" descr="lock.png"/>
          <p:cNvPicPr>
            <a:picLocks noChangeAspect="1"/>
          </p:cNvPicPr>
          <p:nvPr/>
        </p:nvPicPr>
        <p:blipFill>
          <a:blip r:embed="rId5"/>
          <a:stretch>
            <a:fillRect/>
          </a:stretch>
        </p:blipFill>
        <p:spPr>
          <a:xfrm>
            <a:off x="2358973" y="2374051"/>
            <a:ext cx="108107" cy="157246"/>
          </a:xfrm>
          <a:prstGeom prst="rect">
            <a:avLst/>
          </a:prstGeom>
        </p:spPr>
      </p:pic>
      <p:sp>
        <p:nvSpPr>
          <p:cNvPr id="60" name="TextBox 59"/>
          <p:cNvSpPr txBox="1"/>
          <p:nvPr/>
        </p:nvSpPr>
        <p:spPr>
          <a:xfrm>
            <a:off x="276225" y="5372100"/>
            <a:ext cx="808161" cy="194310"/>
          </a:xfrm>
          <a:prstGeom prst="rect">
            <a:avLst/>
          </a:prstGeom>
          <a:noFill/>
        </p:spPr>
        <p:txBody>
          <a:bodyPr wrap="none" lIns="0" rIns="0" tIns="0" bIns="0">
            <a:spAutoFit/>
          </a:bodyPr>
          <a:lstStyle/>
          <a:p>
            <a:r>
              <a:rPr sz="1150" b="0">
                <a:solidFill>
                  <a:srgbClr val="2E2E2E"/>
                </a:solidFill>
                <a:latin typeface="Calibri"/>
              </a:rPr>
              <a:t>▪ Optimistic:</a:t>
            </a:r>
          </a:p>
        </p:txBody>
      </p:sp>
      <p:pic>
        <p:nvPicPr>
          <p:cNvPr id="61" name="Picture 60" descr="lock.png"/>
          <p:cNvPicPr>
            <a:picLocks noChangeAspect="1"/>
          </p:cNvPicPr>
          <p:nvPr/>
        </p:nvPicPr>
        <p:blipFill>
          <a:blip r:embed="rId5"/>
          <a:stretch>
            <a:fillRect/>
          </a:stretch>
        </p:blipFill>
        <p:spPr>
          <a:xfrm>
            <a:off x="1033540" y="5361876"/>
            <a:ext cx="134549" cy="195707"/>
          </a:xfrm>
          <a:prstGeom prst="rect">
            <a:avLst/>
          </a:prstGeom>
        </p:spPr>
      </p:pic>
      <p:sp>
        <p:nvSpPr>
          <p:cNvPr id="62" name="TextBox 61"/>
          <p:cNvSpPr txBox="1"/>
          <p:nvPr/>
        </p:nvSpPr>
        <p:spPr>
          <a:xfrm>
            <a:off x="1208649" y="5372100"/>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63" name="Picture 62" descr="lock.png"/>
          <p:cNvPicPr>
            <a:picLocks noChangeAspect="1"/>
          </p:cNvPicPr>
          <p:nvPr/>
        </p:nvPicPr>
        <p:blipFill>
          <a:blip r:embed="rId5"/>
          <a:stretch>
            <a:fillRect/>
          </a:stretch>
        </p:blipFill>
        <p:spPr>
          <a:xfrm>
            <a:off x="2361612" y="5361876"/>
            <a:ext cx="134549" cy="195707"/>
          </a:xfrm>
          <a:prstGeom prst="rect">
            <a:avLst/>
          </a:prstGeom>
        </p:spPr>
      </p:pic>
      <p:sp>
        <p:nvSpPr>
          <p:cNvPr id="64" name="TextBox 63"/>
          <p:cNvSpPr txBox="1"/>
          <p:nvPr/>
        </p:nvSpPr>
        <p:spPr>
          <a:xfrm>
            <a:off x="2536721" y="5372100"/>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5" name="TextBox 64"/>
          <p:cNvSpPr txBox="1"/>
          <p:nvPr/>
        </p:nvSpPr>
        <p:spPr>
          <a:xfrm>
            <a:off x="276225" y="5599938"/>
            <a:ext cx="1448271" cy="194310"/>
          </a:xfrm>
          <a:prstGeom prst="rect">
            <a:avLst/>
          </a:prstGeom>
          <a:noFill/>
        </p:spPr>
        <p:txBody>
          <a:bodyPr wrap="none" lIns="0" rIns="0" tIns="0" bIns="0">
            <a:spAutoFit/>
          </a:bodyPr>
          <a:lstStyle/>
          <a:p>
            <a:r>
              <a:rPr sz="1150" b="0">
                <a:solidFill>
                  <a:srgbClr val="2E2E2E"/>
                </a:solidFill>
                <a:latin typeface="Calibri"/>
              </a:rPr>
              <a:t>▪ Likely (base forecast):</a:t>
            </a:r>
          </a:p>
        </p:txBody>
      </p:sp>
      <p:pic>
        <p:nvPicPr>
          <p:cNvPr id="66" name="Picture 65" descr="lock.png"/>
          <p:cNvPicPr>
            <a:picLocks noChangeAspect="1"/>
          </p:cNvPicPr>
          <p:nvPr/>
        </p:nvPicPr>
        <p:blipFill>
          <a:blip r:embed="rId5"/>
          <a:stretch>
            <a:fillRect/>
          </a:stretch>
        </p:blipFill>
        <p:spPr>
          <a:xfrm>
            <a:off x="1673650" y="5589714"/>
            <a:ext cx="134549" cy="195707"/>
          </a:xfrm>
          <a:prstGeom prst="rect">
            <a:avLst/>
          </a:prstGeom>
        </p:spPr>
      </p:pic>
      <p:sp>
        <p:nvSpPr>
          <p:cNvPr id="67" name="TextBox 66"/>
          <p:cNvSpPr txBox="1"/>
          <p:nvPr/>
        </p:nvSpPr>
        <p:spPr>
          <a:xfrm>
            <a:off x="1848759" y="5599938"/>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68" name="Picture 67" descr="lock.png"/>
          <p:cNvPicPr>
            <a:picLocks noChangeAspect="1"/>
          </p:cNvPicPr>
          <p:nvPr/>
        </p:nvPicPr>
        <p:blipFill>
          <a:blip r:embed="rId5"/>
          <a:stretch>
            <a:fillRect/>
          </a:stretch>
        </p:blipFill>
        <p:spPr>
          <a:xfrm>
            <a:off x="2495966" y="5589714"/>
            <a:ext cx="134549" cy="195707"/>
          </a:xfrm>
          <a:prstGeom prst="rect">
            <a:avLst/>
          </a:prstGeom>
        </p:spPr>
      </p:pic>
      <p:sp>
        <p:nvSpPr>
          <p:cNvPr id="69" name="TextBox 68"/>
          <p:cNvSpPr txBox="1"/>
          <p:nvPr/>
        </p:nvSpPr>
        <p:spPr>
          <a:xfrm>
            <a:off x="2671076" y="5599938"/>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0" name="TextBox 69"/>
          <p:cNvSpPr txBox="1"/>
          <p:nvPr/>
        </p:nvSpPr>
        <p:spPr>
          <a:xfrm>
            <a:off x="276225" y="5827775"/>
            <a:ext cx="969615" cy="194310"/>
          </a:xfrm>
          <a:prstGeom prst="rect">
            <a:avLst/>
          </a:prstGeom>
          <a:noFill/>
        </p:spPr>
        <p:txBody>
          <a:bodyPr wrap="none" lIns="0" rIns="0" tIns="0" bIns="0">
            <a:spAutoFit/>
          </a:bodyPr>
          <a:lstStyle/>
          <a:p>
            <a:r>
              <a:rPr sz="1150" b="0">
                <a:solidFill>
                  <a:srgbClr val="2E2E2E"/>
                </a:solidFill>
                <a:latin typeface="Calibri"/>
              </a:rPr>
              <a:t>▪ Conservative:</a:t>
            </a:r>
          </a:p>
        </p:txBody>
      </p:sp>
      <p:pic>
        <p:nvPicPr>
          <p:cNvPr id="71" name="Picture 70" descr="lock.png"/>
          <p:cNvPicPr>
            <a:picLocks noChangeAspect="1"/>
          </p:cNvPicPr>
          <p:nvPr/>
        </p:nvPicPr>
        <p:blipFill>
          <a:blip r:embed="rId5"/>
          <a:stretch>
            <a:fillRect/>
          </a:stretch>
        </p:blipFill>
        <p:spPr>
          <a:xfrm>
            <a:off x="1194994" y="5817552"/>
            <a:ext cx="134549" cy="195707"/>
          </a:xfrm>
          <a:prstGeom prst="rect">
            <a:avLst/>
          </a:prstGeom>
        </p:spPr>
      </p:pic>
      <p:sp>
        <p:nvSpPr>
          <p:cNvPr id="72" name="TextBox 71"/>
          <p:cNvSpPr txBox="1"/>
          <p:nvPr/>
        </p:nvSpPr>
        <p:spPr>
          <a:xfrm>
            <a:off x="1370103" y="5827775"/>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73" name="Picture 72" descr="lock.png"/>
          <p:cNvPicPr>
            <a:picLocks noChangeAspect="1"/>
          </p:cNvPicPr>
          <p:nvPr/>
        </p:nvPicPr>
        <p:blipFill>
          <a:blip r:embed="rId5"/>
          <a:stretch>
            <a:fillRect/>
          </a:stretch>
        </p:blipFill>
        <p:spPr>
          <a:xfrm>
            <a:off x="2017310" y="5817552"/>
            <a:ext cx="134549" cy="195707"/>
          </a:xfrm>
          <a:prstGeom prst="rect">
            <a:avLst/>
          </a:prstGeom>
        </p:spPr>
      </p:pic>
      <p:sp>
        <p:nvSpPr>
          <p:cNvPr id="74" name="TextBox 73"/>
          <p:cNvSpPr txBox="1"/>
          <p:nvPr/>
        </p:nvSpPr>
        <p:spPr>
          <a:xfrm>
            <a:off x="2192420" y="58277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5" name="TextBox 74"/>
          <p:cNvSpPr txBox="1"/>
          <p:nvPr/>
        </p:nvSpPr>
        <p:spPr>
          <a:xfrm>
            <a:off x="276225" y="6055613"/>
            <a:ext cx="3660130" cy="194310"/>
          </a:xfrm>
          <a:prstGeom prst="rect">
            <a:avLst/>
          </a:prstGeom>
          <a:noFill/>
        </p:spPr>
        <p:txBody>
          <a:bodyPr wrap="none" lIns="0" rIns="0" tIns="0" bIns="0">
            <a:spAutoFit/>
          </a:bodyPr>
          <a:lstStyle/>
          <a:p>
            <a:r>
              <a:rPr sz="1150" b="0">
                <a:solidFill>
                  <a:srgbClr val="2E2E2E"/>
                </a:solidFill>
                <a:latin typeface="Calibri"/>
              </a:rPr>
              <a:t>▪ Scenarios flex the base forecast's year-on-year growth by ±</a:t>
            </a:r>
          </a:p>
        </p:txBody>
      </p:sp>
      <p:pic>
        <p:nvPicPr>
          <p:cNvPr id="76" name="Picture 75" descr="lock.png"/>
          <p:cNvPicPr>
            <a:picLocks noChangeAspect="1"/>
          </p:cNvPicPr>
          <p:nvPr/>
        </p:nvPicPr>
        <p:blipFill>
          <a:blip r:embed="rId5"/>
          <a:stretch>
            <a:fillRect/>
          </a:stretch>
        </p:blipFill>
        <p:spPr>
          <a:xfrm>
            <a:off x="3885509" y="6045390"/>
            <a:ext cx="134549" cy="195707"/>
          </a:xfrm>
          <a:prstGeom prst="rect">
            <a:avLst/>
          </a:prstGeom>
        </p:spPr>
      </p:pic>
      <p:sp>
        <p:nvSpPr>
          <p:cNvPr id="77" name="TextBox 76"/>
          <p:cNvSpPr txBox="1"/>
          <p:nvPr/>
        </p:nvSpPr>
        <p:spPr>
          <a:xfrm>
            <a:off x="4060618" y="6055613"/>
            <a:ext cx="1900683" cy="194310"/>
          </a:xfrm>
          <a:prstGeom prst="rect">
            <a:avLst/>
          </a:prstGeom>
          <a:noFill/>
        </p:spPr>
        <p:txBody>
          <a:bodyPr wrap="none" lIns="0" rIns="0" tIns="0" bIns="0">
            <a:spAutoFit/>
          </a:bodyPr>
          <a:lstStyle/>
          <a:p>
            <a:r>
              <a:rPr sz="1150" b="0">
                <a:solidFill>
                  <a:srgbClr val="2E2E2E"/>
                </a:solidFill>
                <a:latin typeface="Calibri"/>
              </a:rPr>
              <a:t>across the 2026–2036 horizon.</a:t>
            </a:r>
          </a:p>
        </p:txBody>
      </p:sp>
      <p:sp>
        <p:nvSpPr>
          <p:cNvPr id="78" name="lockshield_36"/>
          <p:cNvSpPr/>
          <p:nvPr/>
        </p:nvSpPr>
        <p:spPr>
          <a:xfrm>
            <a:off x="6267450" y="2266950"/>
            <a:ext cx="5686425" cy="2495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9</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B3C8C"/>
                </a:solidFill>
                <a:latin typeface="Calibri"/>
              </a:rPr>
              <a:t>North America Market Analysis By Country</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North America Waterproof Coatings – Country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Country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Country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Country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Waterproof Coatings – Country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analysis of size, growth and share across 3 countries, highlighting where value concentrates,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By Country view breaks the North America market down geographically. Each country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Country</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U.S.</a:t>
            </a:r>
          </a:p>
        </p:txBody>
      </p:sp>
      <p:sp>
        <p:nvSpPr>
          <p:cNvPr id="22" name="Rectangle 21"/>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3" name="Rectangle 22"/>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4" name="Rectangle 23"/>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5" name="Oval 24"/>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Canada</a:t>
            </a:r>
          </a:p>
        </p:txBody>
      </p:sp>
      <p:sp>
        <p:nvSpPr>
          <p:cNvPr id="29" name="Rectangle 28"/>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30" name="Rectangle 29"/>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31" name="Rectangle 30"/>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32" name="Oval 31"/>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Mexico</a:t>
            </a:r>
          </a:p>
        </p:txBody>
      </p:sp>
      <p:sp>
        <p:nvSpPr>
          <p:cNvPr id="36" name="Rectangle 35"/>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t>
            </a:r>
          </a:p>
        </p:txBody>
      </p:sp>
      <p:sp>
        <p:nvSpPr>
          <p:cNvPr id="37" name="Rectangle 36"/>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t>
            </a:r>
          </a:p>
        </p:txBody>
      </p:sp>
      <p:sp>
        <p:nvSpPr>
          <p:cNvPr id="38" name="Rectangle 37"/>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t>
            </a:r>
          </a:p>
        </p:txBody>
      </p:sp>
      <p:sp>
        <p:nvSpPr>
          <p:cNvPr id="39" name="Oval 38"/>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2" name="Rectangle 41"/>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4" name="Rounded Rectangle 43"/>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Country Insights</a:t>
            </a:r>
          </a:p>
        </p:txBody>
      </p:sp>
      <p:sp>
        <p:nvSpPr>
          <p:cNvPr id="46" name="Rectangle 45"/>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8" name="Rounded Rectangle 47"/>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Country Overview</a:t>
            </a:r>
          </a:p>
        </p:txBody>
      </p:sp>
      <p:sp>
        <p:nvSpPr>
          <p:cNvPr id="50" name="Rectangle 49"/>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By Country split shows where market value concentrates and where growth is fastest.</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demand and access dynamics are rebalancing the geographic mix through 2036.</a:t>
            </a:r>
          </a:p>
        </p:txBody>
      </p:sp>
      <p:sp>
        <p:nvSpPr>
          <p:cNvPr id="52" name="Rectangle 51"/>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4" name="TextBox 53"/>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5" name="TextBox 5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6" name="Picture 55" descr="lock.png"/>
          <p:cNvPicPr>
            <a:picLocks noChangeAspect="1"/>
          </p:cNvPicPr>
          <p:nvPr/>
        </p:nvPicPr>
        <p:blipFill>
          <a:blip r:embed="rId4"/>
          <a:stretch>
            <a:fillRect/>
          </a:stretch>
        </p:blipFill>
        <p:spPr>
          <a:xfrm>
            <a:off x="3407926" y="2339922"/>
            <a:ext cx="175498" cy="255270"/>
          </a:xfrm>
          <a:prstGeom prst="rect">
            <a:avLst/>
          </a:prstGeom>
        </p:spPr>
      </p:pic>
      <p:pic>
        <p:nvPicPr>
          <p:cNvPr id="57" name="Picture 56" descr="lock.png"/>
          <p:cNvPicPr>
            <a:picLocks noChangeAspect="1"/>
          </p:cNvPicPr>
          <p:nvPr/>
        </p:nvPicPr>
        <p:blipFill>
          <a:blip r:embed="rId4"/>
          <a:stretch>
            <a:fillRect/>
          </a:stretch>
        </p:blipFill>
        <p:spPr>
          <a:xfrm>
            <a:off x="3407926" y="2832772"/>
            <a:ext cx="175498" cy="255270"/>
          </a:xfrm>
          <a:prstGeom prst="rect">
            <a:avLst/>
          </a:prstGeom>
        </p:spPr>
      </p:pic>
      <p:pic>
        <p:nvPicPr>
          <p:cNvPr id="58" name="Picture 57" descr="lock.png"/>
          <p:cNvPicPr>
            <a:picLocks noChangeAspect="1"/>
          </p:cNvPicPr>
          <p:nvPr/>
        </p:nvPicPr>
        <p:blipFill>
          <a:blip r:embed="rId4"/>
          <a:stretch>
            <a:fillRect/>
          </a:stretch>
        </p:blipFill>
        <p:spPr>
          <a:xfrm>
            <a:off x="3407926" y="3325622"/>
            <a:ext cx="175498" cy="255270"/>
          </a:xfrm>
          <a:prstGeom prst="rect">
            <a:avLst/>
          </a:prstGeom>
        </p:spPr>
      </p:pic>
      <p:pic>
        <p:nvPicPr>
          <p:cNvPr id="59" name="Picture 58" descr="lock.png"/>
          <p:cNvPicPr>
            <a:picLocks noChangeAspect="1"/>
          </p:cNvPicPr>
          <p:nvPr/>
        </p:nvPicPr>
        <p:blipFill>
          <a:blip r:embed="rId4"/>
          <a:stretch>
            <a:fillRect/>
          </a:stretch>
        </p:blipFill>
        <p:spPr>
          <a:xfrm>
            <a:off x="6779776" y="2339922"/>
            <a:ext cx="175498" cy="255270"/>
          </a:xfrm>
          <a:prstGeom prst="rect">
            <a:avLst/>
          </a:prstGeom>
        </p:spPr>
      </p:pic>
      <p:pic>
        <p:nvPicPr>
          <p:cNvPr id="60" name="Picture 59" descr="lock.png"/>
          <p:cNvPicPr>
            <a:picLocks noChangeAspect="1"/>
          </p:cNvPicPr>
          <p:nvPr/>
        </p:nvPicPr>
        <p:blipFill>
          <a:blip r:embed="rId4"/>
          <a:stretch>
            <a:fillRect/>
          </a:stretch>
        </p:blipFill>
        <p:spPr>
          <a:xfrm>
            <a:off x="6779776" y="2832772"/>
            <a:ext cx="175498" cy="255270"/>
          </a:xfrm>
          <a:prstGeom prst="rect">
            <a:avLst/>
          </a:prstGeom>
        </p:spPr>
      </p:pic>
      <p:pic>
        <p:nvPicPr>
          <p:cNvPr id="61" name="Picture 60" descr="lock.png"/>
          <p:cNvPicPr>
            <a:picLocks noChangeAspect="1"/>
          </p:cNvPicPr>
          <p:nvPr/>
        </p:nvPicPr>
        <p:blipFill>
          <a:blip r:embed="rId4"/>
          <a:stretch>
            <a:fillRect/>
          </a:stretch>
        </p:blipFill>
        <p:spPr>
          <a:xfrm>
            <a:off x="6779776" y="3325622"/>
            <a:ext cx="175498" cy="255270"/>
          </a:xfrm>
          <a:prstGeom prst="rect">
            <a:avLst/>
          </a:prstGeom>
        </p:spPr>
      </p:pic>
      <p:pic>
        <p:nvPicPr>
          <p:cNvPr id="62" name="Picture 61" descr="lock.png"/>
          <p:cNvPicPr>
            <a:picLocks noChangeAspect="1"/>
          </p:cNvPicPr>
          <p:nvPr/>
        </p:nvPicPr>
        <p:blipFill>
          <a:blip r:embed="rId4"/>
          <a:stretch>
            <a:fillRect/>
          </a:stretch>
        </p:blipFill>
        <p:spPr>
          <a:xfrm>
            <a:off x="10151626" y="2339922"/>
            <a:ext cx="175498" cy="255270"/>
          </a:xfrm>
          <a:prstGeom prst="rect">
            <a:avLst/>
          </a:prstGeom>
        </p:spPr>
      </p:pic>
      <p:pic>
        <p:nvPicPr>
          <p:cNvPr id="63" name="Picture 62" descr="lock.png"/>
          <p:cNvPicPr>
            <a:picLocks noChangeAspect="1"/>
          </p:cNvPicPr>
          <p:nvPr/>
        </p:nvPicPr>
        <p:blipFill>
          <a:blip r:embed="rId4"/>
          <a:stretch>
            <a:fillRect/>
          </a:stretch>
        </p:blipFill>
        <p:spPr>
          <a:xfrm>
            <a:off x="10151626" y="2832772"/>
            <a:ext cx="175498" cy="255270"/>
          </a:xfrm>
          <a:prstGeom prst="rect">
            <a:avLst/>
          </a:prstGeom>
        </p:spPr>
      </p:pic>
      <p:pic>
        <p:nvPicPr>
          <p:cNvPr id="64" name="Picture 63" descr="lock.png"/>
          <p:cNvPicPr>
            <a:picLocks noChangeAspect="1"/>
          </p:cNvPicPr>
          <p:nvPr/>
        </p:nvPicPr>
        <p:blipFill>
          <a:blip r:embed="rId4"/>
          <a:stretch>
            <a:fillRect/>
          </a:stretch>
        </p:blipFill>
        <p:spPr>
          <a:xfrm>
            <a:off x="10151626" y="3325622"/>
            <a:ext cx="175498" cy="255270"/>
          </a:xfrm>
          <a:prstGeom prst="rect">
            <a:avLst/>
          </a:prstGeom>
        </p:spPr>
      </p:pic>
      <p:sp>
        <p:nvSpPr>
          <p:cNvPr id="65" name="TextBox 64"/>
          <p:cNvSpPr txBox="1"/>
          <p:nvPr/>
        </p:nvSpPr>
        <p:spPr>
          <a:xfrm>
            <a:off x="485775" y="4229437"/>
            <a:ext cx="2860650" cy="186689"/>
          </a:xfrm>
          <a:prstGeom prst="rect">
            <a:avLst/>
          </a:prstGeom>
          <a:noFill/>
        </p:spPr>
        <p:txBody>
          <a:bodyPr wrap="none" lIns="0" rIns="0" tIns="0" bIns="0">
            <a:spAutoFit/>
          </a:bodyPr>
          <a:lstStyle/>
          <a:p>
            <a:r>
              <a:rPr sz="1100" b="0">
                <a:solidFill>
                  <a:srgbClr val="2E2E2E"/>
                </a:solidFill>
                <a:latin typeface="Calibri"/>
              </a:rPr>
              <a:t>The U.S. waterproof coatings market is projected</a:t>
            </a:r>
          </a:p>
        </p:txBody>
      </p:sp>
      <p:sp>
        <p:nvSpPr>
          <p:cNvPr id="66" name="TextBox 65"/>
          <p:cNvSpPr txBox="1"/>
          <p:nvPr/>
        </p:nvSpPr>
        <p:spPr>
          <a:xfrm>
            <a:off x="485775" y="4397077"/>
            <a:ext cx="664740" cy="186689"/>
          </a:xfrm>
          <a:prstGeom prst="rect">
            <a:avLst/>
          </a:prstGeom>
          <a:noFill/>
        </p:spPr>
        <p:txBody>
          <a:bodyPr wrap="none" lIns="0" rIns="0" tIns="0" bIns="0">
            <a:spAutoFit/>
          </a:bodyPr>
          <a:lstStyle/>
          <a:p>
            <a:r>
              <a:rPr sz="1100" b="0">
                <a:solidFill>
                  <a:srgbClr val="2E2E2E"/>
                </a:solidFill>
                <a:latin typeface="Calibri"/>
              </a:rPr>
              <a:t>to register</a:t>
            </a:r>
          </a:p>
        </p:txBody>
      </p:sp>
      <p:pic>
        <p:nvPicPr>
          <p:cNvPr id="67" name="Picture 66" descr="lock.png"/>
          <p:cNvPicPr>
            <a:picLocks noChangeAspect="1"/>
          </p:cNvPicPr>
          <p:nvPr/>
        </p:nvPicPr>
        <p:blipFill>
          <a:blip r:embed="rId4"/>
          <a:stretch>
            <a:fillRect/>
          </a:stretch>
        </p:blipFill>
        <p:spPr>
          <a:xfrm>
            <a:off x="1098567" y="4387298"/>
            <a:ext cx="128699" cy="187198"/>
          </a:xfrm>
          <a:prstGeom prst="rect">
            <a:avLst/>
          </a:prstGeom>
        </p:spPr>
      </p:pic>
      <p:sp>
        <p:nvSpPr>
          <p:cNvPr id="68" name="TextBox 67"/>
          <p:cNvSpPr txBox="1"/>
          <p:nvPr/>
        </p:nvSpPr>
        <p:spPr>
          <a:xfrm>
            <a:off x="1266063" y="4397077"/>
            <a:ext cx="2113855" cy="186689"/>
          </a:xfrm>
          <a:prstGeom prst="rect">
            <a:avLst/>
          </a:prstGeom>
          <a:noFill/>
        </p:spPr>
        <p:txBody>
          <a:bodyPr wrap="none" lIns="0" rIns="0" tIns="0" bIns="0">
            <a:spAutoFit/>
          </a:bodyPr>
          <a:lstStyle/>
          <a:p>
            <a:r>
              <a:rPr sz="1100" b="0">
                <a:solidFill>
                  <a:srgbClr val="2E2E2E"/>
                </a:solidFill>
                <a:latin typeface="Calibri"/>
              </a:rPr>
              <a:t>X higher value than Canada in 2036.</a:t>
            </a:r>
          </a:p>
        </p:txBody>
      </p:sp>
      <p:sp>
        <p:nvSpPr>
          <p:cNvPr id="69" name="TextBox 68"/>
          <p:cNvSpPr txBox="1"/>
          <p:nvPr/>
        </p:nvSpPr>
        <p:spPr>
          <a:xfrm>
            <a:off x="485775" y="4564717"/>
            <a:ext cx="2899940" cy="186689"/>
          </a:xfrm>
          <a:prstGeom prst="rect">
            <a:avLst/>
          </a:prstGeom>
          <a:noFill/>
        </p:spPr>
        <p:txBody>
          <a:bodyPr wrap="none" lIns="0" rIns="0" tIns="0" bIns="0">
            <a:spAutoFit/>
          </a:bodyPr>
          <a:lstStyle/>
          <a:p>
            <a:r>
              <a:rPr sz="1100" b="0">
                <a:solidFill>
                  <a:srgbClr val="2E2E2E"/>
                </a:solidFill>
                <a:latin typeface="Calibri"/>
              </a:rPr>
              <a:t>Among waterproof coatings by country, Mexico is</a:t>
            </a:r>
          </a:p>
        </p:txBody>
      </p:sp>
      <p:sp>
        <p:nvSpPr>
          <p:cNvPr id="70" name="TextBox 69"/>
          <p:cNvSpPr txBox="1"/>
          <p:nvPr/>
        </p:nvSpPr>
        <p:spPr>
          <a:xfrm>
            <a:off x="485775" y="473235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71" name="Picture 70" descr="lock.png"/>
          <p:cNvPicPr>
            <a:picLocks noChangeAspect="1"/>
          </p:cNvPicPr>
          <p:nvPr/>
        </p:nvPicPr>
        <p:blipFill>
          <a:blip r:embed="rId4"/>
          <a:stretch>
            <a:fillRect/>
          </a:stretch>
        </p:blipFill>
        <p:spPr>
          <a:xfrm>
            <a:off x="2815059" y="4722578"/>
            <a:ext cx="128699" cy="187198"/>
          </a:xfrm>
          <a:prstGeom prst="rect">
            <a:avLst/>
          </a:prstGeom>
        </p:spPr>
      </p:pic>
      <p:sp>
        <p:nvSpPr>
          <p:cNvPr id="72" name="TextBox 71"/>
          <p:cNvSpPr txBox="1"/>
          <p:nvPr/>
        </p:nvSpPr>
        <p:spPr>
          <a:xfrm>
            <a:off x="2982555" y="473235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73" name="TextBox 72"/>
          <p:cNvSpPr txBox="1"/>
          <p:nvPr/>
        </p:nvSpPr>
        <p:spPr>
          <a:xfrm>
            <a:off x="485775" y="4899997"/>
            <a:ext cx="1197892" cy="186689"/>
          </a:xfrm>
          <a:prstGeom prst="rect">
            <a:avLst/>
          </a:prstGeom>
          <a:noFill/>
        </p:spPr>
        <p:txBody>
          <a:bodyPr wrap="none" lIns="0" rIns="0" tIns="0" bIns="0">
            <a:spAutoFit/>
          </a:bodyPr>
          <a:lstStyle/>
          <a:p>
            <a:r>
              <a:rPr sz="1100" b="0">
                <a:solidFill>
                  <a:srgbClr val="2E2E2E"/>
                </a:solidFill>
                <a:latin typeface="Calibri"/>
              </a:rPr>
              <a:t>the forecast period.</a:t>
            </a:r>
          </a:p>
        </p:txBody>
      </p:sp>
      <p:sp>
        <p:nvSpPr>
          <p:cNvPr id="74" name="TextBox 73"/>
          <p:cNvSpPr txBox="1"/>
          <p:nvPr/>
        </p:nvSpPr>
        <p:spPr>
          <a:xfrm>
            <a:off x="485775" y="5117929"/>
            <a:ext cx="2914650" cy="186689"/>
          </a:xfrm>
          <a:prstGeom prst="rect">
            <a:avLst/>
          </a:prstGeom>
          <a:noFill/>
        </p:spPr>
        <p:txBody>
          <a:bodyPr wrap="none" lIns="0" rIns="0" tIns="0" bIns="0">
            <a:spAutoFit/>
          </a:bodyPr>
          <a:lstStyle/>
          <a:p>
            <a:r>
              <a:rPr sz="1100" b="0">
                <a:solidFill>
                  <a:srgbClr val="2E2E2E"/>
                </a:solidFill>
                <a:latin typeface="Calibri"/>
              </a:rPr>
              <a:t>In terms of value share by country, U.S. is expected</a:t>
            </a:r>
          </a:p>
        </p:txBody>
      </p:sp>
      <p:sp>
        <p:nvSpPr>
          <p:cNvPr id="75" name="TextBox 74"/>
          <p:cNvSpPr txBox="1"/>
          <p:nvPr/>
        </p:nvSpPr>
        <p:spPr>
          <a:xfrm>
            <a:off x="485775" y="5285569"/>
            <a:ext cx="1835001" cy="186689"/>
          </a:xfrm>
          <a:prstGeom prst="rect">
            <a:avLst/>
          </a:prstGeom>
          <a:noFill/>
        </p:spPr>
        <p:txBody>
          <a:bodyPr wrap="none" lIns="0" rIns="0" tIns="0" bIns="0">
            <a:spAutoFit/>
          </a:bodyPr>
          <a:lstStyle/>
          <a:p>
            <a:r>
              <a:rPr sz="1100" b="0">
                <a:solidFill>
                  <a:srgbClr val="2E2E2E"/>
                </a:solidFill>
                <a:latin typeface="Calibri"/>
              </a:rPr>
              <a:t>to dominate the market, losing</a:t>
            </a:r>
          </a:p>
        </p:txBody>
      </p:sp>
      <p:pic>
        <p:nvPicPr>
          <p:cNvPr id="76" name="Picture 75" descr="lock.png"/>
          <p:cNvPicPr>
            <a:picLocks noChangeAspect="1"/>
          </p:cNvPicPr>
          <p:nvPr/>
        </p:nvPicPr>
        <p:blipFill>
          <a:blip r:embed="rId4"/>
          <a:stretch>
            <a:fillRect/>
          </a:stretch>
        </p:blipFill>
        <p:spPr>
          <a:xfrm>
            <a:off x="2268827" y="5275790"/>
            <a:ext cx="128699" cy="187198"/>
          </a:xfrm>
          <a:prstGeom prst="rect">
            <a:avLst/>
          </a:prstGeom>
        </p:spPr>
      </p:pic>
      <p:sp>
        <p:nvSpPr>
          <p:cNvPr id="77" name="TextBox 76"/>
          <p:cNvSpPr txBox="1"/>
          <p:nvPr/>
        </p:nvSpPr>
        <p:spPr>
          <a:xfrm>
            <a:off x="2436323" y="5285569"/>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78" name="TextBox 77"/>
          <p:cNvSpPr txBox="1"/>
          <p:nvPr/>
        </p:nvSpPr>
        <p:spPr>
          <a:xfrm>
            <a:off x="485775" y="5453209"/>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79" name="Picture 78" descr="lock.png"/>
          <p:cNvPicPr>
            <a:picLocks noChangeAspect="1"/>
          </p:cNvPicPr>
          <p:nvPr/>
        </p:nvPicPr>
        <p:blipFill>
          <a:blip r:embed="rId4"/>
          <a:stretch>
            <a:fillRect/>
          </a:stretch>
        </p:blipFill>
        <p:spPr>
          <a:xfrm>
            <a:off x="1330764" y="5443430"/>
            <a:ext cx="128699" cy="187198"/>
          </a:xfrm>
          <a:prstGeom prst="rect">
            <a:avLst/>
          </a:prstGeom>
        </p:spPr>
      </p:pic>
      <p:sp>
        <p:nvSpPr>
          <p:cNvPr id="80" name="TextBox 79"/>
          <p:cNvSpPr txBox="1"/>
          <p:nvPr/>
        </p:nvSpPr>
        <p:spPr>
          <a:xfrm>
            <a:off x="1498259" y="5453209"/>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81" name="TextBox 80"/>
          <p:cNvSpPr txBox="1"/>
          <p:nvPr/>
        </p:nvSpPr>
        <p:spPr>
          <a:xfrm>
            <a:off x="3838575" y="4229437"/>
            <a:ext cx="453826" cy="186689"/>
          </a:xfrm>
          <a:prstGeom prst="rect">
            <a:avLst/>
          </a:prstGeom>
          <a:noFill/>
        </p:spPr>
        <p:txBody>
          <a:bodyPr wrap="none" lIns="0" rIns="0" tIns="0" bIns="0">
            <a:spAutoFit/>
          </a:bodyPr>
          <a:lstStyle/>
          <a:p>
            <a:r>
              <a:rPr sz="1100" b="0">
                <a:solidFill>
                  <a:srgbClr val="2E2E2E"/>
                </a:solidFill>
                <a:latin typeface="Calibri"/>
              </a:rPr>
              <a:t>● U.S.:</a:t>
            </a:r>
          </a:p>
        </p:txBody>
      </p:sp>
      <p:pic>
        <p:nvPicPr>
          <p:cNvPr id="82" name="Picture 81" descr="lock.png"/>
          <p:cNvPicPr>
            <a:picLocks noChangeAspect="1"/>
          </p:cNvPicPr>
          <p:nvPr/>
        </p:nvPicPr>
        <p:blipFill>
          <a:blip r:embed="rId4"/>
          <a:stretch>
            <a:fillRect/>
          </a:stretch>
        </p:blipFill>
        <p:spPr>
          <a:xfrm>
            <a:off x="4240453" y="4219658"/>
            <a:ext cx="128699" cy="187198"/>
          </a:xfrm>
          <a:prstGeom prst="rect">
            <a:avLst/>
          </a:prstGeom>
        </p:spPr>
      </p:pic>
      <p:sp>
        <p:nvSpPr>
          <p:cNvPr id="83" name="TextBox 82"/>
          <p:cNvSpPr txBox="1"/>
          <p:nvPr/>
        </p:nvSpPr>
        <p:spPr>
          <a:xfrm>
            <a:off x="4407948"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4" name="Picture 83" descr="lock.png"/>
          <p:cNvPicPr>
            <a:picLocks noChangeAspect="1"/>
          </p:cNvPicPr>
          <p:nvPr/>
        </p:nvPicPr>
        <p:blipFill>
          <a:blip r:embed="rId4"/>
          <a:stretch>
            <a:fillRect/>
          </a:stretch>
        </p:blipFill>
        <p:spPr>
          <a:xfrm>
            <a:off x="5267399" y="4219658"/>
            <a:ext cx="128699" cy="187198"/>
          </a:xfrm>
          <a:prstGeom prst="rect">
            <a:avLst/>
          </a:prstGeom>
        </p:spPr>
      </p:pic>
      <p:sp>
        <p:nvSpPr>
          <p:cNvPr id="85" name="TextBox 84"/>
          <p:cNvSpPr txBox="1"/>
          <p:nvPr/>
        </p:nvSpPr>
        <p:spPr>
          <a:xfrm>
            <a:off x="5434895" y="4229437"/>
            <a:ext cx="1419431" cy="186689"/>
          </a:xfrm>
          <a:prstGeom prst="rect">
            <a:avLst/>
          </a:prstGeom>
          <a:noFill/>
        </p:spPr>
        <p:txBody>
          <a:bodyPr wrap="none" lIns="0" rIns="0" tIns="0" bIns="0">
            <a:spAutoFit/>
          </a:bodyPr>
          <a:lstStyle/>
          <a:p>
            <a:r>
              <a:rPr sz="1100" b="0">
                <a:solidFill>
                  <a:srgbClr val="2E2E2E"/>
                </a:solidFill>
                <a:latin typeface="Calibri"/>
              </a:rPr>
              <a:t>CAGR leads the market.</a:t>
            </a:r>
          </a:p>
        </p:txBody>
      </p:sp>
      <p:sp>
        <p:nvSpPr>
          <p:cNvPr id="86" name="TextBox 85"/>
          <p:cNvSpPr txBox="1"/>
          <p:nvPr/>
        </p:nvSpPr>
        <p:spPr>
          <a:xfrm>
            <a:off x="3838575" y="4447369"/>
            <a:ext cx="651371" cy="186689"/>
          </a:xfrm>
          <a:prstGeom prst="rect">
            <a:avLst/>
          </a:prstGeom>
          <a:noFill/>
        </p:spPr>
        <p:txBody>
          <a:bodyPr wrap="none" lIns="0" rIns="0" tIns="0" bIns="0">
            <a:spAutoFit/>
          </a:bodyPr>
          <a:lstStyle/>
          <a:p>
            <a:r>
              <a:rPr sz="1100" b="0">
                <a:solidFill>
                  <a:srgbClr val="2E2E2E"/>
                </a:solidFill>
                <a:latin typeface="Calibri"/>
              </a:rPr>
              <a:t>● Canada:</a:t>
            </a:r>
          </a:p>
        </p:txBody>
      </p:sp>
      <p:pic>
        <p:nvPicPr>
          <p:cNvPr id="87" name="Picture 86" descr="lock.png"/>
          <p:cNvPicPr>
            <a:picLocks noChangeAspect="1"/>
          </p:cNvPicPr>
          <p:nvPr/>
        </p:nvPicPr>
        <p:blipFill>
          <a:blip r:embed="rId4"/>
          <a:stretch>
            <a:fillRect/>
          </a:stretch>
        </p:blipFill>
        <p:spPr>
          <a:xfrm>
            <a:off x="4437997" y="4437590"/>
            <a:ext cx="128699" cy="187198"/>
          </a:xfrm>
          <a:prstGeom prst="rect">
            <a:avLst/>
          </a:prstGeom>
        </p:spPr>
      </p:pic>
      <p:sp>
        <p:nvSpPr>
          <p:cNvPr id="88" name="TextBox 87"/>
          <p:cNvSpPr txBox="1"/>
          <p:nvPr/>
        </p:nvSpPr>
        <p:spPr>
          <a:xfrm>
            <a:off x="4605493"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9" name="Picture 88" descr="lock.png"/>
          <p:cNvPicPr>
            <a:picLocks noChangeAspect="1"/>
          </p:cNvPicPr>
          <p:nvPr/>
        </p:nvPicPr>
        <p:blipFill>
          <a:blip r:embed="rId4"/>
          <a:stretch>
            <a:fillRect/>
          </a:stretch>
        </p:blipFill>
        <p:spPr>
          <a:xfrm>
            <a:off x="5464943" y="4437590"/>
            <a:ext cx="128699" cy="187198"/>
          </a:xfrm>
          <a:prstGeom prst="rect">
            <a:avLst/>
          </a:prstGeom>
        </p:spPr>
      </p:pic>
      <p:sp>
        <p:nvSpPr>
          <p:cNvPr id="90" name="TextBox 89"/>
          <p:cNvSpPr txBox="1"/>
          <p:nvPr/>
        </p:nvSpPr>
        <p:spPr>
          <a:xfrm>
            <a:off x="5632439" y="4447369"/>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91" name="TextBox 90"/>
          <p:cNvSpPr txBox="1"/>
          <p:nvPr/>
        </p:nvSpPr>
        <p:spPr>
          <a:xfrm>
            <a:off x="3838575" y="4665301"/>
            <a:ext cx="644276" cy="186689"/>
          </a:xfrm>
          <a:prstGeom prst="rect">
            <a:avLst/>
          </a:prstGeom>
          <a:noFill/>
        </p:spPr>
        <p:txBody>
          <a:bodyPr wrap="none" lIns="0" rIns="0" tIns="0" bIns="0">
            <a:spAutoFit/>
          </a:bodyPr>
          <a:lstStyle/>
          <a:p>
            <a:r>
              <a:rPr sz="1100" b="0">
                <a:solidFill>
                  <a:srgbClr val="2E2E2E"/>
                </a:solidFill>
                <a:latin typeface="Calibri"/>
              </a:rPr>
              <a:t>● Mexico:</a:t>
            </a:r>
          </a:p>
        </p:txBody>
      </p:sp>
      <p:pic>
        <p:nvPicPr>
          <p:cNvPr id="92" name="Picture 91" descr="lock.png"/>
          <p:cNvPicPr>
            <a:picLocks noChangeAspect="1"/>
          </p:cNvPicPr>
          <p:nvPr/>
        </p:nvPicPr>
        <p:blipFill>
          <a:blip r:embed="rId4"/>
          <a:stretch>
            <a:fillRect/>
          </a:stretch>
        </p:blipFill>
        <p:spPr>
          <a:xfrm>
            <a:off x="4430903" y="4655522"/>
            <a:ext cx="128699" cy="187198"/>
          </a:xfrm>
          <a:prstGeom prst="rect">
            <a:avLst/>
          </a:prstGeom>
        </p:spPr>
      </p:pic>
      <p:sp>
        <p:nvSpPr>
          <p:cNvPr id="93" name="TextBox 92"/>
          <p:cNvSpPr txBox="1"/>
          <p:nvPr/>
        </p:nvSpPr>
        <p:spPr>
          <a:xfrm>
            <a:off x="4598399"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4" name="Picture 93" descr="lock.png"/>
          <p:cNvPicPr>
            <a:picLocks noChangeAspect="1"/>
          </p:cNvPicPr>
          <p:nvPr/>
        </p:nvPicPr>
        <p:blipFill>
          <a:blip r:embed="rId4"/>
          <a:stretch>
            <a:fillRect/>
          </a:stretch>
        </p:blipFill>
        <p:spPr>
          <a:xfrm>
            <a:off x="5457849" y="4655522"/>
            <a:ext cx="128699" cy="187198"/>
          </a:xfrm>
          <a:prstGeom prst="rect">
            <a:avLst/>
          </a:prstGeom>
        </p:spPr>
      </p:pic>
      <p:sp>
        <p:nvSpPr>
          <p:cNvPr id="95" name="TextBox 94"/>
          <p:cNvSpPr txBox="1"/>
          <p:nvPr/>
        </p:nvSpPr>
        <p:spPr>
          <a:xfrm>
            <a:off x="5625345" y="466530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96" name="TextBox 95"/>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North America market is projected to grow at a</a:t>
            </a:r>
          </a:p>
        </p:txBody>
      </p:sp>
      <p:sp>
        <p:nvSpPr>
          <p:cNvPr id="97" name="TextBox 96"/>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98" name="Picture 97" descr="lock.png"/>
          <p:cNvPicPr>
            <a:picLocks noChangeAspect="1"/>
          </p:cNvPicPr>
          <p:nvPr/>
        </p:nvPicPr>
        <p:blipFill>
          <a:blip r:embed="rId4"/>
          <a:stretch>
            <a:fillRect/>
          </a:stretch>
        </p:blipFill>
        <p:spPr>
          <a:xfrm>
            <a:off x="9048826" y="6007677"/>
            <a:ext cx="134549" cy="195707"/>
          </a:xfrm>
          <a:prstGeom prst="rect">
            <a:avLst/>
          </a:prstGeom>
        </p:spPr>
      </p:pic>
      <p:sp>
        <p:nvSpPr>
          <p:cNvPr id="99" name="TextBox 98"/>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Waterproof Coatings Market Analysis, By Country Volume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share by country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3" name="TextBox 12"/>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p:txBody>
      </p:sp>
      <p:sp>
        <p:nvSpPr>
          <p:cNvPr id="15" name="FMI Legend Chip"/>
          <p:cNvSpPr/>
          <p:nvPr/>
        </p:nvSpPr>
        <p:spPr>
          <a:xfrm>
            <a:off x="4551045" y="1783136"/>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4712970" y="177837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4855845" y="1702173"/>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Mexico</a:t>
            </a:r>
          </a:p>
        </p:txBody>
      </p:sp>
      <p:sp>
        <p:nvSpPr>
          <p:cNvPr id="18" name="BPS Value 1"/>
          <p:cNvSpPr txBox="1"/>
          <p:nvPr/>
        </p:nvSpPr>
        <p:spPr>
          <a:xfrm>
            <a:off x="6305550" y="176408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551045" y="2574790"/>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4712970" y="257002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4855845" y="2493828"/>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Canada</a:t>
            </a:r>
          </a:p>
        </p:txBody>
      </p:sp>
      <p:sp>
        <p:nvSpPr>
          <p:cNvPr id="22" name="BPS Value 2"/>
          <p:cNvSpPr txBox="1"/>
          <p:nvPr/>
        </p:nvSpPr>
        <p:spPr>
          <a:xfrm>
            <a:off x="6305550" y="255574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551045" y="4087304"/>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4712970" y="408254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4855845" y="4006342"/>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U.S.</a:t>
            </a:r>
          </a:p>
        </p:txBody>
      </p:sp>
      <p:sp>
        <p:nvSpPr>
          <p:cNvPr id="26" name="BPS Value 3"/>
          <p:cNvSpPr txBox="1"/>
          <p:nvPr/>
        </p:nvSpPr>
        <p:spPr>
          <a:xfrm>
            <a:off x="6305550" y="406825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Rounded Rectangle 26"/>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29" name="Rectangle 28"/>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1" name="Rounded Rectangle 30"/>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(UNITS)</a:t>
            </a:r>
          </a:p>
          <a:p>
            <a:pPr algn="ctr">
              <a:lnSpc>
                <a:spcPct val="95000"/>
              </a:lnSpc>
            </a:pPr>
            <a:r>
              <a:rPr sz="2000" b="1">
                <a:solidFill>
                  <a:srgbClr val="0E72AE"/>
                </a:solidFill>
                <a:latin typeface="Calibri"/>
              </a:rPr>
              <a:t> </a:t>
            </a:r>
          </a:p>
        </p:txBody>
      </p:sp>
      <p:sp>
        <p:nvSpPr>
          <p:cNvPr id="32" name="Rounded Rectangle 31"/>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(UNITS)</a:t>
            </a:r>
          </a:p>
          <a:p>
            <a:pPr algn="ctr">
              <a:lnSpc>
                <a:spcPct val="95000"/>
              </a:lnSpc>
            </a:pPr>
            <a:r>
              <a:rPr sz="2000" b="1">
                <a:solidFill>
                  <a:srgbClr val="0E72AE"/>
                </a:solidFill>
                <a:latin typeface="Calibri"/>
              </a:rPr>
              <a:t> </a:t>
            </a:r>
          </a:p>
        </p:txBody>
      </p:sp>
      <p:sp>
        <p:nvSpPr>
          <p:cNvPr id="33" name="Rounded Rectangle 32"/>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t>
            </a:r>
          </a:p>
        </p:txBody>
      </p:sp>
      <p:sp>
        <p:nvSpPr>
          <p:cNvPr id="34" name="TextBox 3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5" name="Picture 34" descr="lock.png"/>
          <p:cNvPicPr>
            <a:picLocks noChangeAspect="1"/>
          </p:cNvPicPr>
          <p:nvPr/>
        </p:nvPicPr>
        <p:blipFill>
          <a:blip r:embed="rId5"/>
          <a:stretch>
            <a:fillRect/>
          </a:stretch>
        </p:blipFill>
        <p:spPr>
          <a:xfrm>
            <a:off x="2368867" y="3171825"/>
            <a:ext cx="275034" cy="400050"/>
          </a:xfrm>
          <a:prstGeom prst="rect">
            <a:avLst/>
          </a:prstGeom>
        </p:spPr>
      </p:pic>
      <p:pic>
        <p:nvPicPr>
          <p:cNvPr id="36" name="Picture 35" descr="lock.png"/>
          <p:cNvPicPr>
            <a:picLocks noChangeAspect="1"/>
          </p:cNvPicPr>
          <p:nvPr/>
        </p:nvPicPr>
        <p:blipFill>
          <a:blip r:embed="rId5"/>
          <a:stretch>
            <a:fillRect/>
          </a:stretch>
        </p:blipFill>
        <p:spPr>
          <a:xfrm>
            <a:off x="2009775" y="6070282"/>
            <a:ext cx="209550" cy="304800"/>
          </a:xfrm>
          <a:prstGeom prst="rect">
            <a:avLst/>
          </a:prstGeom>
        </p:spPr>
      </p:pic>
      <p:pic>
        <p:nvPicPr>
          <p:cNvPr id="37" name="Picture 36" descr="lock.png"/>
          <p:cNvPicPr>
            <a:picLocks noChangeAspect="1"/>
          </p:cNvPicPr>
          <p:nvPr/>
        </p:nvPicPr>
        <p:blipFill>
          <a:blip r:embed="rId5"/>
          <a:stretch>
            <a:fillRect/>
          </a:stretch>
        </p:blipFill>
        <p:spPr>
          <a:xfrm>
            <a:off x="6043612" y="6070282"/>
            <a:ext cx="209550" cy="304800"/>
          </a:xfrm>
          <a:prstGeom prst="rect">
            <a:avLst/>
          </a:prstGeom>
        </p:spPr>
      </p:pic>
      <p:pic>
        <p:nvPicPr>
          <p:cNvPr id="38" name="Picture 37" descr="lock.png"/>
          <p:cNvPicPr>
            <a:picLocks noChangeAspect="1"/>
          </p:cNvPicPr>
          <p:nvPr/>
        </p:nvPicPr>
        <p:blipFill>
          <a:blip r:embed="rId5"/>
          <a:stretch>
            <a:fillRect/>
          </a:stretch>
        </p:blipFill>
        <p:spPr>
          <a:xfrm>
            <a:off x="10015537" y="6070282"/>
            <a:ext cx="209550" cy="304800"/>
          </a:xfrm>
          <a:prstGeom prst="rect">
            <a:avLst/>
          </a:prstGeom>
        </p:spPr>
      </p:pic>
      <p:sp>
        <p:nvSpPr>
          <p:cNvPr id="39" name="TextBox 38"/>
          <p:cNvSpPr txBox="1"/>
          <p:nvPr/>
        </p:nvSpPr>
        <p:spPr>
          <a:xfrm>
            <a:off x="7239000" y="1400175"/>
            <a:ext cx="3635598" cy="194310"/>
          </a:xfrm>
          <a:prstGeom prst="rect">
            <a:avLst/>
          </a:prstGeom>
          <a:noFill/>
        </p:spPr>
        <p:txBody>
          <a:bodyPr wrap="none" lIns="0" rIns="0" tIns="0" bIns="0">
            <a:spAutoFit/>
          </a:bodyPr>
          <a:lstStyle/>
          <a:p>
            <a:r>
              <a:rPr sz="1150" b="0">
                <a:solidFill>
                  <a:srgbClr val="2E2E2E"/>
                </a:solidFill>
                <a:latin typeface="Calibri"/>
              </a:rPr>
              <a:t>The U.S. waterproof coatings market is projected to register</a:t>
            </a:r>
          </a:p>
        </p:txBody>
      </p:sp>
      <p:pic>
        <p:nvPicPr>
          <p:cNvPr id="40" name="Picture 39" descr="lock.png"/>
          <p:cNvPicPr>
            <a:picLocks noChangeAspect="1"/>
          </p:cNvPicPr>
          <p:nvPr/>
        </p:nvPicPr>
        <p:blipFill>
          <a:blip r:embed="rId5"/>
          <a:stretch>
            <a:fillRect/>
          </a:stretch>
        </p:blipFill>
        <p:spPr>
          <a:xfrm>
            <a:off x="10823752" y="1389951"/>
            <a:ext cx="134549" cy="195707"/>
          </a:xfrm>
          <a:prstGeom prst="rect">
            <a:avLst/>
          </a:prstGeom>
        </p:spPr>
      </p:pic>
      <p:sp>
        <p:nvSpPr>
          <p:cNvPr id="41" name="TextBox 40"/>
          <p:cNvSpPr txBox="1"/>
          <p:nvPr/>
        </p:nvSpPr>
        <p:spPr>
          <a:xfrm>
            <a:off x="10998861" y="1400175"/>
            <a:ext cx="564839" cy="194310"/>
          </a:xfrm>
          <a:prstGeom prst="rect">
            <a:avLst/>
          </a:prstGeom>
          <a:noFill/>
        </p:spPr>
        <p:txBody>
          <a:bodyPr wrap="none" lIns="0" rIns="0" tIns="0" bIns="0">
            <a:spAutoFit/>
          </a:bodyPr>
          <a:lstStyle/>
          <a:p>
            <a:r>
              <a:rPr sz="1150" b="0">
                <a:solidFill>
                  <a:srgbClr val="2E2E2E"/>
                </a:solidFill>
                <a:latin typeface="Calibri"/>
              </a:rPr>
              <a:t>X higher</a:t>
            </a:r>
          </a:p>
        </p:txBody>
      </p:sp>
      <p:sp>
        <p:nvSpPr>
          <p:cNvPr id="42" name="TextBox 41"/>
          <p:cNvSpPr txBox="1"/>
          <p:nvPr/>
        </p:nvSpPr>
        <p:spPr>
          <a:xfrm>
            <a:off x="7239000" y="1575435"/>
            <a:ext cx="4648200" cy="194310"/>
          </a:xfrm>
          <a:prstGeom prst="rect">
            <a:avLst/>
          </a:prstGeom>
          <a:noFill/>
        </p:spPr>
        <p:txBody>
          <a:bodyPr wrap="none" lIns="0" rIns="0" tIns="0" bIns="0">
            <a:spAutoFit/>
          </a:bodyPr>
          <a:lstStyle/>
          <a:p>
            <a:r>
              <a:rPr sz="1150" b="0">
                <a:solidFill>
                  <a:srgbClr val="2E2E2E"/>
                </a:solidFill>
                <a:latin typeface="Calibri"/>
              </a:rPr>
              <a:t>volume than Canada in 2036. Among waterproof coatings by country, Mexico</a:t>
            </a:r>
          </a:p>
        </p:txBody>
      </p:sp>
      <p:sp>
        <p:nvSpPr>
          <p:cNvPr id="43" name="TextBox 42"/>
          <p:cNvSpPr txBox="1"/>
          <p:nvPr/>
        </p:nvSpPr>
        <p:spPr>
          <a:xfrm>
            <a:off x="7239000" y="1750695"/>
            <a:ext cx="2609807" cy="194310"/>
          </a:xfrm>
          <a:prstGeom prst="rect">
            <a:avLst/>
          </a:prstGeom>
          <a:noFill/>
        </p:spPr>
        <p:txBody>
          <a:bodyPr wrap="none" lIns="0" rIns="0" tIns="0" bIns="0">
            <a:spAutoFit/>
          </a:bodyPr>
          <a:lstStyle/>
          <a:p>
            <a:r>
              <a:rPr sz="1150" b="0">
                <a:solidFill>
                  <a:srgbClr val="2E2E2E"/>
                </a:solidFill>
                <a:latin typeface="Calibri"/>
              </a:rPr>
              <a:t>is expected to witness the highest CAGR of</a:t>
            </a:r>
          </a:p>
        </p:txBody>
      </p:sp>
      <p:pic>
        <p:nvPicPr>
          <p:cNvPr id="44" name="Picture 43" descr="lock.png"/>
          <p:cNvPicPr>
            <a:picLocks noChangeAspect="1"/>
          </p:cNvPicPr>
          <p:nvPr/>
        </p:nvPicPr>
        <p:blipFill>
          <a:blip r:embed="rId5"/>
          <a:stretch>
            <a:fillRect/>
          </a:stretch>
        </p:blipFill>
        <p:spPr>
          <a:xfrm>
            <a:off x="9797961" y="1740471"/>
            <a:ext cx="134549" cy="195707"/>
          </a:xfrm>
          <a:prstGeom prst="rect">
            <a:avLst/>
          </a:prstGeom>
        </p:spPr>
      </p:pic>
      <p:sp>
        <p:nvSpPr>
          <p:cNvPr id="45" name="TextBox 44"/>
          <p:cNvSpPr txBox="1"/>
          <p:nvPr/>
        </p:nvSpPr>
        <p:spPr>
          <a:xfrm>
            <a:off x="9973070"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46" name="TextBox 45"/>
          <p:cNvSpPr txBox="1"/>
          <p:nvPr/>
        </p:nvSpPr>
        <p:spPr>
          <a:xfrm>
            <a:off x="7239000" y="1978533"/>
            <a:ext cx="4231493" cy="194310"/>
          </a:xfrm>
          <a:prstGeom prst="rect">
            <a:avLst/>
          </a:prstGeom>
          <a:noFill/>
        </p:spPr>
        <p:txBody>
          <a:bodyPr wrap="none" lIns="0" rIns="0" tIns="0" bIns="0">
            <a:spAutoFit/>
          </a:bodyPr>
          <a:lstStyle/>
          <a:p>
            <a:r>
              <a:rPr sz="1150" b="0">
                <a:solidFill>
                  <a:srgbClr val="2E2E2E"/>
                </a:solidFill>
                <a:latin typeface="Calibri"/>
              </a:rPr>
              <a:t>In terms of volume share by country, U.S. is expected to dominate the</a:t>
            </a:r>
          </a:p>
        </p:txBody>
      </p:sp>
      <p:sp>
        <p:nvSpPr>
          <p:cNvPr id="47" name="TextBox 46"/>
          <p:cNvSpPr txBox="1"/>
          <p:nvPr/>
        </p:nvSpPr>
        <p:spPr>
          <a:xfrm>
            <a:off x="7239000" y="2153793"/>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48" name="Picture 47" descr="lock.png"/>
          <p:cNvPicPr>
            <a:picLocks noChangeAspect="1"/>
          </p:cNvPicPr>
          <p:nvPr/>
        </p:nvPicPr>
        <p:blipFill>
          <a:blip r:embed="rId5"/>
          <a:stretch>
            <a:fillRect/>
          </a:stretch>
        </p:blipFill>
        <p:spPr>
          <a:xfrm>
            <a:off x="8106708" y="2143569"/>
            <a:ext cx="134549" cy="195707"/>
          </a:xfrm>
          <a:prstGeom prst="rect">
            <a:avLst/>
          </a:prstGeom>
        </p:spPr>
      </p:pic>
      <p:sp>
        <p:nvSpPr>
          <p:cNvPr id="49" name="TextBox 48"/>
          <p:cNvSpPr txBox="1"/>
          <p:nvPr/>
        </p:nvSpPr>
        <p:spPr>
          <a:xfrm>
            <a:off x="8281817" y="215379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0" name="Picture 49" descr="lock.png"/>
          <p:cNvPicPr>
            <a:picLocks noChangeAspect="1"/>
          </p:cNvPicPr>
          <p:nvPr/>
        </p:nvPicPr>
        <p:blipFill>
          <a:blip r:embed="rId5"/>
          <a:stretch>
            <a:fillRect/>
          </a:stretch>
        </p:blipFill>
        <p:spPr>
          <a:xfrm>
            <a:off x="9676961" y="2143569"/>
            <a:ext cx="134549" cy="195707"/>
          </a:xfrm>
          <a:prstGeom prst="rect">
            <a:avLst/>
          </a:prstGeom>
        </p:spPr>
      </p:pic>
      <p:sp>
        <p:nvSpPr>
          <p:cNvPr id="51" name="TextBox 50"/>
          <p:cNvSpPr txBox="1"/>
          <p:nvPr/>
        </p:nvSpPr>
        <p:spPr>
          <a:xfrm>
            <a:off x="9852070" y="215379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2"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Waterproof Coatings Market Analysis, By Country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country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3" name="TextBox 12"/>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p:txBody>
      </p:sp>
      <p:sp>
        <p:nvSpPr>
          <p:cNvPr id="15" name="FMI Legend Chip"/>
          <p:cNvSpPr/>
          <p:nvPr/>
        </p:nvSpPr>
        <p:spPr>
          <a:xfrm>
            <a:off x="4551045" y="1785752"/>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4712970" y="178098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4855845" y="170478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Mexico</a:t>
            </a:r>
          </a:p>
        </p:txBody>
      </p:sp>
      <p:sp>
        <p:nvSpPr>
          <p:cNvPr id="18" name="BPS Value 1"/>
          <p:cNvSpPr txBox="1"/>
          <p:nvPr/>
        </p:nvSpPr>
        <p:spPr>
          <a:xfrm>
            <a:off x="6305550" y="176670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551045" y="2601260"/>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4712970" y="259649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4855845" y="2520298"/>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Canada</a:t>
            </a:r>
          </a:p>
        </p:txBody>
      </p:sp>
      <p:sp>
        <p:nvSpPr>
          <p:cNvPr id="22" name="BPS Value 2"/>
          <p:cNvSpPr txBox="1"/>
          <p:nvPr/>
        </p:nvSpPr>
        <p:spPr>
          <a:xfrm>
            <a:off x="6305550" y="258221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551045" y="4111158"/>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4712970" y="410639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4855845" y="4030196"/>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U.S.</a:t>
            </a:r>
          </a:p>
        </p:txBody>
      </p:sp>
      <p:sp>
        <p:nvSpPr>
          <p:cNvPr id="26" name="BPS Value 3"/>
          <p:cNvSpPr txBox="1"/>
          <p:nvPr/>
        </p:nvSpPr>
        <p:spPr>
          <a:xfrm>
            <a:off x="6305550" y="409210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Rounded Rectangle 26"/>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29" name="Rectangle 28"/>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1" name="Rounded Rectangle 30"/>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(US$ MN)</a:t>
            </a:r>
          </a:p>
          <a:p>
            <a:pPr algn="ctr">
              <a:lnSpc>
                <a:spcPct val="95000"/>
              </a:lnSpc>
            </a:pPr>
            <a:r>
              <a:rPr sz="2000" b="1">
                <a:solidFill>
                  <a:srgbClr val="0E72AE"/>
                </a:solidFill>
                <a:latin typeface="Calibri"/>
              </a:rPr>
              <a:t> </a:t>
            </a:r>
          </a:p>
        </p:txBody>
      </p:sp>
      <p:sp>
        <p:nvSpPr>
          <p:cNvPr id="32" name="Rounded Rectangle 31"/>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(US$ MN)</a:t>
            </a:r>
          </a:p>
          <a:p>
            <a:pPr algn="ctr">
              <a:lnSpc>
                <a:spcPct val="95000"/>
              </a:lnSpc>
            </a:pPr>
            <a:r>
              <a:rPr sz="2000" b="1">
                <a:solidFill>
                  <a:srgbClr val="0E72AE"/>
                </a:solidFill>
                <a:latin typeface="Calibri"/>
              </a:rPr>
              <a:t> </a:t>
            </a:r>
          </a:p>
        </p:txBody>
      </p:sp>
      <p:sp>
        <p:nvSpPr>
          <p:cNvPr id="33" name="Rounded Rectangle 32"/>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t>
            </a:r>
          </a:p>
        </p:txBody>
      </p:sp>
      <p:sp>
        <p:nvSpPr>
          <p:cNvPr id="34" name="TextBox 3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5" name="Picture 34" descr="lock.png"/>
          <p:cNvPicPr>
            <a:picLocks noChangeAspect="1"/>
          </p:cNvPicPr>
          <p:nvPr/>
        </p:nvPicPr>
        <p:blipFill>
          <a:blip r:embed="rId5"/>
          <a:stretch>
            <a:fillRect/>
          </a:stretch>
        </p:blipFill>
        <p:spPr>
          <a:xfrm>
            <a:off x="2368867" y="3171825"/>
            <a:ext cx="275034" cy="400050"/>
          </a:xfrm>
          <a:prstGeom prst="rect">
            <a:avLst/>
          </a:prstGeom>
        </p:spPr>
      </p:pic>
      <p:pic>
        <p:nvPicPr>
          <p:cNvPr id="36" name="Picture 35" descr="lock.png"/>
          <p:cNvPicPr>
            <a:picLocks noChangeAspect="1"/>
          </p:cNvPicPr>
          <p:nvPr/>
        </p:nvPicPr>
        <p:blipFill>
          <a:blip r:embed="rId5"/>
          <a:stretch>
            <a:fillRect/>
          </a:stretch>
        </p:blipFill>
        <p:spPr>
          <a:xfrm>
            <a:off x="2009775" y="6070282"/>
            <a:ext cx="209550" cy="304800"/>
          </a:xfrm>
          <a:prstGeom prst="rect">
            <a:avLst/>
          </a:prstGeom>
        </p:spPr>
      </p:pic>
      <p:pic>
        <p:nvPicPr>
          <p:cNvPr id="37" name="Picture 36" descr="lock.png"/>
          <p:cNvPicPr>
            <a:picLocks noChangeAspect="1"/>
          </p:cNvPicPr>
          <p:nvPr/>
        </p:nvPicPr>
        <p:blipFill>
          <a:blip r:embed="rId5"/>
          <a:stretch>
            <a:fillRect/>
          </a:stretch>
        </p:blipFill>
        <p:spPr>
          <a:xfrm>
            <a:off x="6043612" y="6070282"/>
            <a:ext cx="209550" cy="304800"/>
          </a:xfrm>
          <a:prstGeom prst="rect">
            <a:avLst/>
          </a:prstGeom>
        </p:spPr>
      </p:pic>
      <p:pic>
        <p:nvPicPr>
          <p:cNvPr id="38" name="Picture 37" descr="lock.png"/>
          <p:cNvPicPr>
            <a:picLocks noChangeAspect="1"/>
          </p:cNvPicPr>
          <p:nvPr/>
        </p:nvPicPr>
        <p:blipFill>
          <a:blip r:embed="rId5"/>
          <a:stretch>
            <a:fillRect/>
          </a:stretch>
        </p:blipFill>
        <p:spPr>
          <a:xfrm>
            <a:off x="10015537" y="6070282"/>
            <a:ext cx="209550" cy="304800"/>
          </a:xfrm>
          <a:prstGeom prst="rect">
            <a:avLst/>
          </a:prstGeom>
        </p:spPr>
      </p:pic>
      <p:sp>
        <p:nvSpPr>
          <p:cNvPr id="39" name="TextBox 38"/>
          <p:cNvSpPr txBox="1"/>
          <p:nvPr/>
        </p:nvSpPr>
        <p:spPr>
          <a:xfrm>
            <a:off x="7239000" y="1400175"/>
            <a:ext cx="3635598" cy="194310"/>
          </a:xfrm>
          <a:prstGeom prst="rect">
            <a:avLst/>
          </a:prstGeom>
          <a:noFill/>
        </p:spPr>
        <p:txBody>
          <a:bodyPr wrap="none" lIns="0" rIns="0" tIns="0" bIns="0">
            <a:spAutoFit/>
          </a:bodyPr>
          <a:lstStyle/>
          <a:p>
            <a:r>
              <a:rPr sz="1150" b="0">
                <a:solidFill>
                  <a:srgbClr val="2E2E2E"/>
                </a:solidFill>
                <a:latin typeface="Calibri"/>
              </a:rPr>
              <a:t>The U.S. waterproof coatings market is projected to register</a:t>
            </a:r>
          </a:p>
        </p:txBody>
      </p:sp>
      <p:pic>
        <p:nvPicPr>
          <p:cNvPr id="40" name="Picture 39" descr="lock.png"/>
          <p:cNvPicPr>
            <a:picLocks noChangeAspect="1"/>
          </p:cNvPicPr>
          <p:nvPr/>
        </p:nvPicPr>
        <p:blipFill>
          <a:blip r:embed="rId5"/>
          <a:stretch>
            <a:fillRect/>
          </a:stretch>
        </p:blipFill>
        <p:spPr>
          <a:xfrm>
            <a:off x="10823752" y="1389951"/>
            <a:ext cx="134549" cy="195707"/>
          </a:xfrm>
          <a:prstGeom prst="rect">
            <a:avLst/>
          </a:prstGeom>
        </p:spPr>
      </p:pic>
      <p:sp>
        <p:nvSpPr>
          <p:cNvPr id="41" name="TextBox 40"/>
          <p:cNvSpPr txBox="1"/>
          <p:nvPr/>
        </p:nvSpPr>
        <p:spPr>
          <a:xfrm>
            <a:off x="10998861" y="1400175"/>
            <a:ext cx="564839" cy="194310"/>
          </a:xfrm>
          <a:prstGeom prst="rect">
            <a:avLst/>
          </a:prstGeom>
          <a:noFill/>
        </p:spPr>
        <p:txBody>
          <a:bodyPr wrap="none" lIns="0" rIns="0" tIns="0" bIns="0">
            <a:spAutoFit/>
          </a:bodyPr>
          <a:lstStyle/>
          <a:p>
            <a:r>
              <a:rPr sz="1150" b="0">
                <a:solidFill>
                  <a:srgbClr val="2E2E2E"/>
                </a:solidFill>
                <a:latin typeface="Calibri"/>
              </a:rPr>
              <a:t>X higher</a:t>
            </a:r>
          </a:p>
        </p:txBody>
      </p:sp>
      <p:sp>
        <p:nvSpPr>
          <p:cNvPr id="42" name="TextBox 41"/>
          <p:cNvSpPr txBox="1"/>
          <p:nvPr/>
        </p:nvSpPr>
        <p:spPr>
          <a:xfrm>
            <a:off x="7239000" y="1575435"/>
            <a:ext cx="4648200" cy="194310"/>
          </a:xfrm>
          <a:prstGeom prst="rect">
            <a:avLst/>
          </a:prstGeom>
          <a:noFill/>
        </p:spPr>
        <p:txBody>
          <a:bodyPr wrap="none" lIns="0" rIns="0" tIns="0" bIns="0">
            <a:spAutoFit/>
          </a:bodyPr>
          <a:lstStyle/>
          <a:p>
            <a:r>
              <a:rPr sz="1150" b="0">
                <a:solidFill>
                  <a:srgbClr val="2E2E2E"/>
                </a:solidFill>
                <a:latin typeface="Calibri"/>
              </a:rPr>
              <a:t>value than Canada in 2036. Among waterproof coatings by country, Mexico is</a:t>
            </a:r>
          </a:p>
        </p:txBody>
      </p:sp>
      <p:sp>
        <p:nvSpPr>
          <p:cNvPr id="43" name="TextBox 42"/>
          <p:cNvSpPr txBox="1"/>
          <p:nvPr/>
        </p:nvSpPr>
        <p:spPr>
          <a:xfrm>
            <a:off x="7239000" y="1750695"/>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44" name="Picture 43" descr="lock.png"/>
          <p:cNvPicPr>
            <a:picLocks noChangeAspect="1"/>
          </p:cNvPicPr>
          <p:nvPr/>
        </p:nvPicPr>
        <p:blipFill>
          <a:blip r:embed="rId5"/>
          <a:stretch>
            <a:fillRect/>
          </a:stretch>
        </p:blipFill>
        <p:spPr>
          <a:xfrm>
            <a:off x="9674161" y="1740471"/>
            <a:ext cx="134549" cy="195707"/>
          </a:xfrm>
          <a:prstGeom prst="rect">
            <a:avLst/>
          </a:prstGeom>
        </p:spPr>
      </p:pic>
      <p:sp>
        <p:nvSpPr>
          <p:cNvPr id="45" name="TextBox 44"/>
          <p:cNvSpPr txBox="1"/>
          <p:nvPr/>
        </p:nvSpPr>
        <p:spPr>
          <a:xfrm>
            <a:off x="9849270"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46" name="TextBox 45"/>
          <p:cNvSpPr txBox="1"/>
          <p:nvPr/>
        </p:nvSpPr>
        <p:spPr>
          <a:xfrm>
            <a:off x="7239000" y="1978533"/>
            <a:ext cx="4603179" cy="194310"/>
          </a:xfrm>
          <a:prstGeom prst="rect">
            <a:avLst/>
          </a:prstGeom>
          <a:noFill/>
        </p:spPr>
        <p:txBody>
          <a:bodyPr wrap="none" lIns="0" rIns="0" tIns="0" bIns="0">
            <a:spAutoFit/>
          </a:bodyPr>
          <a:lstStyle/>
          <a:p>
            <a:r>
              <a:rPr sz="1150" b="0">
                <a:solidFill>
                  <a:srgbClr val="2E2E2E"/>
                </a:solidFill>
                <a:latin typeface="Calibri"/>
              </a:rPr>
              <a:t>In terms of value share by country, U.S. is expected to dominate the market,</a:t>
            </a:r>
          </a:p>
        </p:txBody>
      </p:sp>
      <p:sp>
        <p:nvSpPr>
          <p:cNvPr id="47" name="TextBox 46"/>
          <p:cNvSpPr txBox="1"/>
          <p:nvPr/>
        </p:nvSpPr>
        <p:spPr>
          <a:xfrm>
            <a:off x="7239000" y="2153793"/>
            <a:ext cx="423068" cy="194310"/>
          </a:xfrm>
          <a:prstGeom prst="rect">
            <a:avLst/>
          </a:prstGeom>
          <a:noFill/>
        </p:spPr>
        <p:txBody>
          <a:bodyPr wrap="none" lIns="0" rIns="0" tIns="0" bIns="0">
            <a:spAutoFit/>
          </a:bodyPr>
          <a:lstStyle/>
          <a:p>
            <a:r>
              <a:rPr sz="1150" b="0">
                <a:solidFill>
                  <a:srgbClr val="2E2E2E"/>
                </a:solidFill>
                <a:latin typeface="Calibri"/>
              </a:rPr>
              <a:t>losing</a:t>
            </a:r>
          </a:p>
        </p:txBody>
      </p:sp>
      <p:pic>
        <p:nvPicPr>
          <p:cNvPr id="48" name="Picture 47" descr="lock.png"/>
          <p:cNvPicPr>
            <a:picLocks noChangeAspect="1"/>
          </p:cNvPicPr>
          <p:nvPr/>
        </p:nvPicPr>
        <p:blipFill>
          <a:blip r:embed="rId5"/>
          <a:stretch>
            <a:fillRect/>
          </a:stretch>
        </p:blipFill>
        <p:spPr>
          <a:xfrm>
            <a:off x="7611222" y="2143569"/>
            <a:ext cx="134549" cy="195707"/>
          </a:xfrm>
          <a:prstGeom prst="rect">
            <a:avLst/>
          </a:prstGeom>
        </p:spPr>
      </p:pic>
      <p:sp>
        <p:nvSpPr>
          <p:cNvPr id="49" name="TextBox 48"/>
          <p:cNvSpPr txBox="1"/>
          <p:nvPr/>
        </p:nvSpPr>
        <p:spPr>
          <a:xfrm>
            <a:off x="7786331" y="215379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0" name="Picture 49" descr="lock.png"/>
          <p:cNvPicPr>
            <a:picLocks noChangeAspect="1"/>
          </p:cNvPicPr>
          <p:nvPr/>
        </p:nvPicPr>
        <p:blipFill>
          <a:blip r:embed="rId5"/>
          <a:stretch>
            <a:fillRect/>
          </a:stretch>
        </p:blipFill>
        <p:spPr>
          <a:xfrm>
            <a:off x="9181475" y="2143569"/>
            <a:ext cx="134549" cy="195707"/>
          </a:xfrm>
          <a:prstGeom prst="rect">
            <a:avLst/>
          </a:prstGeom>
        </p:spPr>
      </p:pic>
      <p:sp>
        <p:nvSpPr>
          <p:cNvPr id="51" name="TextBox 50"/>
          <p:cNvSpPr txBox="1"/>
          <p:nvPr/>
        </p:nvSpPr>
        <p:spPr>
          <a:xfrm>
            <a:off x="9356584" y="215379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2"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Waterproof Coatings Market Share Analysis, By Country Volume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share by country, 2021–2036, highlighting the geographies gaining and ceding ground</a:t>
            </a:r>
          </a:p>
        </p:txBody>
      </p:sp>
      <p:sp>
        <p:nvSpPr>
          <p:cNvPr id="10" name="Rounded Rectangle 9"/>
          <p:cNvSpPr/>
          <p:nvPr/>
        </p:nvSpPr>
        <p:spPr>
          <a:xfrm>
            <a:off x="142875" y="981075"/>
            <a:ext cx="11906250" cy="1704975"/>
          </a:xfrm>
          <a:prstGeom prst="roundRect">
            <a:avLst>
              <a:gd name="adj" fmla="val 446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Size, By Country (Units)</a:t>
            </a:r>
          </a:p>
        </p:txBody>
      </p:sp>
      <p:graphicFrame>
        <p:nvGraphicFramePr>
          <p:cNvPr id="12" name="Table 11"/>
          <p:cNvGraphicFramePr>
            <a:graphicFrameLocks noGrp="1"/>
          </p:cNvGraphicFramePr>
          <p:nvPr/>
        </p:nvGraphicFramePr>
        <p:xfrm>
          <a:off x="152400" y="1238250"/>
          <a:ext cx="11887205" cy="1238250"/>
        </p:xfrm>
        <a:graphic>
          <a:graphicData uri="http://schemas.openxmlformats.org/drawingml/2006/table">
            <a:tbl>
              <a:tblPr>
                <a:tableStyleId>{5C22544A-7EE6-4342-B048-85BDC9FD1C3A}</a:tableStyleId>
              </a:tblPr>
              <a:tblGrid>
                <a:gridCol w="663023"/>
                <a:gridCol w="660246"/>
                <a:gridCol w="660246"/>
                <a:gridCol w="660246"/>
                <a:gridCol w="660246"/>
                <a:gridCol w="660246"/>
                <a:gridCol w="660246"/>
                <a:gridCol w="660246"/>
                <a:gridCol w="660246"/>
                <a:gridCol w="660246"/>
                <a:gridCol w="660246"/>
                <a:gridCol w="660246"/>
                <a:gridCol w="660246"/>
                <a:gridCol w="660246"/>
                <a:gridCol w="660246"/>
                <a:gridCol w="660246"/>
                <a:gridCol w="660246"/>
                <a:gridCol w="660246"/>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031">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Canada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031">
                <a:tc>
                  <a:txBody>
                    <a:bodyPr wrap="none"/>
                    <a:lstStyle/>
                    <a:p>
                      <a:pPr algn="l"/>
                      <a:r>
                        <a:rPr sz="1100" b="1">
                          <a:solidFill>
                            <a:srgbClr val="2E2E2E"/>
                          </a:solidFill>
                          <a:latin typeface="Calibri"/>
                        </a:rPr>
                        <a:t>Mexico</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819400"/>
            <a:ext cx="11906250"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90512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Volume Share Read-out, By Country</a:t>
            </a:r>
          </a:p>
        </p:txBody>
      </p:sp>
      <p:sp>
        <p:nvSpPr>
          <p:cNvPr id="16" name="Rectangle 15"/>
          <p:cNvSpPr/>
          <p:nvPr/>
        </p:nvSpPr>
        <p:spPr>
          <a:xfrm>
            <a:off x="276225" y="31432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228975"/>
            <a:ext cx="1163955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240824" y="1713738"/>
            <a:ext cx="366712" cy="533400"/>
          </a:xfrm>
          <a:prstGeom prst="rect">
            <a:avLst/>
          </a:prstGeom>
        </p:spPr>
      </p:pic>
      <p:sp>
        <p:nvSpPr>
          <p:cNvPr id="20" name="TextBox 19"/>
          <p:cNvSpPr txBox="1"/>
          <p:nvPr/>
        </p:nvSpPr>
        <p:spPr>
          <a:xfrm>
            <a:off x="276225" y="3238500"/>
            <a:ext cx="3635598" cy="194310"/>
          </a:xfrm>
          <a:prstGeom prst="rect">
            <a:avLst/>
          </a:prstGeom>
          <a:noFill/>
        </p:spPr>
        <p:txBody>
          <a:bodyPr wrap="none" lIns="0" rIns="0" tIns="0" bIns="0">
            <a:spAutoFit/>
          </a:bodyPr>
          <a:lstStyle/>
          <a:p>
            <a:r>
              <a:rPr sz="1150" b="0">
                <a:solidFill>
                  <a:srgbClr val="2E2E2E"/>
                </a:solidFill>
                <a:latin typeface="Calibri"/>
              </a:rPr>
              <a:t>The U.S. waterproof coatings market is projected to register</a:t>
            </a:r>
          </a:p>
        </p:txBody>
      </p:sp>
      <p:pic>
        <p:nvPicPr>
          <p:cNvPr id="21" name="Picture 20" descr="lock.png"/>
          <p:cNvPicPr>
            <a:picLocks noChangeAspect="1"/>
          </p:cNvPicPr>
          <p:nvPr/>
        </p:nvPicPr>
        <p:blipFill>
          <a:blip r:embed="rId4"/>
          <a:stretch>
            <a:fillRect/>
          </a:stretch>
        </p:blipFill>
        <p:spPr>
          <a:xfrm>
            <a:off x="3860977" y="3228276"/>
            <a:ext cx="134549" cy="195707"/>
          </a:xfrm>
          <a:prstGeom prst="rect">
            <a:avLst/>
          </a:prstGeom>
        </p:spPr>
      </p:pic>
      <p:sp>
        <p:nvSpPr>
          <p:cNvPr id="22" name="TextBox 21"/>
          <p:cNvSpPr txBox="1"/>
          <p:nvPr/>
        </p:nvSpPr>
        <p:spPr>
          <a:xfrm>
            <a:off x="4036086" y="3238500"/>
            <a:ext cx="7758355" cy="194310"/>
          </a:xfrm>
          <a:prstGeom prst="rect">
            <a:avLst/>
          </a:prstGeom>
          <a:noFill/>
        </p:spPr>
        <p:txBody>
          <a:bodyPr wrap="none" lIns="0" rIns="0" tIns="0" bIns="0">
            <a:spAutoFit/>
          </a:bodyPr>
          <a:lstStyle/>
          <a:p>
            <a:r>
              <a:rPr sz="1150" b="0">
                <a:solidFill>
                  <a:srgbClr val="2E2E2E"/>
                </a:solidFill>
                <a:latin typeface="Calibri"/>
              </a:rPr>
              <a:t>X higher volume than Canada in 2036. Among waterproof coatings by country, Mexico is expected to witness the highest CAGR of</a:t>
            </a:r>
          </a:p>
        </p:txBody>
      </p:sp>
      <p:pic>
        <p:nvPicPr>
          <p:cNvPr id="23" name="Picture 22" descr="lock.png"/>
          <p:cNvPicPr>
            <a:picLocks noChangeAspect="1"/>
          </p:cNvPicPr>
          <p:nvPr/>
        </p:nvPicPr>
        <p:blipFill>
          <a:blip r:embed="rId4"/>
          <a:stretch>
            <a:fillRect/>
          </a:stretch>
        </p:blipFill>
        <p:spPr>
          <a:xfrm>
            <a:off x="262145" y="3403536"/>
            <a:ext cx="134549" cy="195707"/>
          </a:xfrm>
          <a:prstGeom prst="rect">
            <a:avLst/>
          </a:prstGeom>
        </p:spPr>
      </p:pic>
      <p:sp>
        <p:nvSpPr>
          <p:cNvPr id="24" name="TextBox 23"/>
          <p:cNvSpPr txBox="1"/>
          <p:nvPr/>
        </p:nvSpPr>
        <p:spPr>
          <a:xfrm>
            <a:off x="437254" y="341376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5" name="TextBox 24"/>
          <p:cNvSpPr txBox="1"/>
          <p:nvPr/>
        </p:nvSpPr>
        <p:spPr>
          <a:xfrm>
            <a:off x="276225" y="3641597"/>
            <a:ext cx="5106937" cy="194310"/>
          </a:xfrm>
          <a:prstGeom prst="rect">
            <a:avLst/>
          </a:prstGeom>
          <a:noFill/>
        </p:spPr>
        <p:txBody>
          <a:bodyPr wrap="none" lIns="0" rIns="0" tIns="0" bIns="0">
            <a:spAutoFit/>
          </a:bodyPr>
          <a:lstStyle/>
          <a:p>
            <a:r>
              <a:rPr sz="1150" b="0">
                <a:solidFill>
                  <a:srgbClr val="2E2E2E"/>
                </a:solidFill>
                <a:latin typeface="Calibri"/>
              </a:rPr>
              <a:t>In terms of volume share by country, U.S. is expected to dominate the market, losing</a:t>
            </a:r>
          </a:p>
        </p:txBody>
      </p:sp>
      <p:pic>
        <p:nvPicPr>
          <p:cNvPr id="26" name="Picture 25" descr="lock.png"/>
          <p:cNvPicPr>
            <a:picLocks noChangeAspect="1"/>
          </p:cNvPicPr>
          <p:nvPr/>
        </p:nvPicPr>
        <p:blipFill>
          <a:blip r:embed="rId4"/>
          <a:stretch>
            <a:fillRect/>
          </a:stretch>
        </p:blipFill>
        <p:spPr>
          <a:xfrm>
            <a:off x="5332316" y="3631374"/>
            <a:ext cx="134549" cy="195707"/>
          </a:xfrm>
          <a:prstGeom prst="rect">
            <a:avLst/>
          </a:prstGeom>
        </p:spPr>
      </p:pic>
      <p:sp>
        <p:nvSpPr>
          <p:cNvPr id="27" name="TextBox 26"/>
          <p:cNvSpPr txBox="1"/>
          <p:nvPr/>
        </p:nvSpPr>
        <p:spPr>
          <a:xfrm>
            <a:off x="5507426" y="364159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8" name="Picture 27" descr="lock.png"/>
          <p:cNvPicPr>
            <a:picLocks noChangeAspect="1"/>
          </p:cNvPicPr>
          <p:nvPr/>
        </p:nvPicPr>
        <p:blipFill>
          <a:blip r:embed="rId4"/>
          <a:stretch>
            <a:fillRect/>
          </a:stretch>
        </p:blipFill>
        <p:spPr>
          <a:xfrm>
            <a:off x="6902569" y="3631374"/>
            <a:ext cx="134549" cy="195707"/>
          </a:xfrm>
          <a:prstGeom prst="rect">
            <a:avLst/>
          </a:prstGeom>
        </p:spPr>
      </p:pic>
      <p:sp>
        <p:nvSpPr>
          <p:cNvPr id="29" name="TextBox 28"/>
          <p:cNvSpPr txBox="1"/>
          <p:nvPr/>
        </p:nvSpPr>
        <p:spPr>
          <a:xfrm>
            <a:off x="7077678" y="364159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Waterproof Coatings Market Share Analysis, By Country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and share by country, 2021–2036, highlighting the geographies gaining and ceding ground</a:t>
            </a:r>
          </a:p>
        </p:txBody>
      </p:sp>
      <p:sp>
        <p:nvSpPr>
          <p:cNvPr id="10" name="Rounded Rectangle 9"/>
          <p:cNvSpPr/>
          <p:nvPr/>
        </p:nvSpPr>
        <p:spPr>
          <a:xfrm>
            <a:off x="142875" y="981075"/>
            <a:ext cx="11906250" cy="1704975"/>
          </a:xfrm>
          <a:prstGeom prst="roundRect">
            <a:avLst>
              <a:gd name="adj" fmla="val 446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Size, By Country (US$ Mn)</a:t>
            </a:r>
          </a:p>
        </p:txBody>
      </p:sp>
      <p:graphicFrame>
        <p:nvGraphicFramePr>
          <p:cNvPr id="12" name="Table 11"/>
          <p:cNvGraphicFramePr>
            <a:graphicFrameLocks noGrp="1"/>
          </p:cNvGraphicFramePr>
          <p:nvPr/>
        </p:nvGraphicFramePr>
        <p:xfrm>
          <a:off x="152400" y="1238250"/>
          <a:ext cx="11887200" cy="1238250"/>
        </p:xfrm>
        <a:graphic>
          <a:graphicData uri="http://schemas.openxmlformats.org/drawingml/2006/table">
            <a:tbl>
              <a:tblPr>
                <a:tableStyleId>{5C22544A-7EE6-4342-B048-85BDC9FD1C3A}</a:tableStyleId>
              </a:tblPr>
              <a:tblGrid>
                <a:gridCol w="696253"/>
                <a:gridCol w="658291"/>
                <a:gridCol w="658291"/>
                <a:gridCol w="658291"/>
                <a:gridCol w="658291"/>
                <a:gridCol w="658291"/>
                <a:gridCol w="658291"/>
                <a:gridCol w="658291"/>
                <a:gridCol w="658291"/>
                <a:gridCol w="658291"/>
                <a:gridCol w="658291"/>
                <a:gridCol w="658291"/>
                <a:gridCol w="658291"/>
                <a:gridCol w="658291"/>
                <a:gridCol w="658291"/>
                <a:gridCol w="658291"/>
                <a:gridCol w="658291"/>
                <a:gridCol w="65829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031">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Canada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031">
                <a:tc>
                  <a:txBody>
                    <a:bodyPr wrap="none"/>
                    <a:lstStyle/>
                    <a:p>
                      <a:pPr algn="l"/>
                      <a:r>
                        <a:rPr sz="1100" b="1">
                          <a:solidFill>
                            <a:srgbClr val="2E2E2E"/>
                          </a:solidFill>
                          <a:latin typeface="Calibri"/>
                        </a:rPr>
                        <a:t>Mexico</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819400"/>
            <a:ext cx="11906250"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90512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Share Read-out, By Country</a:t>
            </a:r>
          </a:p>
        </p:txBody>
      </p:sp>
      <p:sp>
        <p:nvSpPr>
          <p:cNvPr id="16" name="Rectangle 15"/>
          <p:cNvSpPr/>
          <p:nvPr/>
        </p:nvSpPr>
        <p:spPr>
          <a:xfrm>
            <a:off x="276225" y="31432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228975"/>
            <a:ext cx="1163955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257436" y="1713738"/>
            <a:ext cx="366712" cy="533400"/>
          </a:xfrm>
          <a:prstGeom prst="rect">
            <a:avLst/>
          </a:prstGeom>
        </p:spPr>
      </p:pic>
      <p:sp>
        <p:nvSpPr>
          <p:cNvPr id="20" name="TextBox 19"/>
          <p:cNvSpPr txBox="1"/>
          <p:nvPr/>
        </p:nvSpPr>
        <p:spPr>
          <a:xfrm>
            <a:off x="276225" y="3238500"/>
            <a:ext cx="3635598" cy="194310"/>
          </a:xfrm>
          <a:prstGeom prst="rect">
            <a:avLst/>
          </a:prstGeom>
          <a:noFill/>
        </p:spPr>
        <p:txBody>
          <a:bodyPr wrap="none" lIns="0" rIns="0" tIns="0" bIns="0">
            <a:spAutoFit/>
          </a:bodyPr>
          <a:lstStyle/>
          <a:p>
            <a:r>
              <a:rPr sz="1150" b="0">
                <a:solidFill>
                  <a:srgbClr val="2E2E2E"/>
                </a:solidFill>
                <a:latin typeface="Calibri"/>
              </a:rPr>
              <a:t>The U.S. waterproof coatings market is projected to register</a:t>
            </a:r>
          </a:p>
        </p:txBody>
      </p:sp>
      <p:pic>
        <p:nvPicPr>
          <p:cNvPr id="21" name="Picture 20" descr="lock.png"/>
          <p:cNvPicPr>
            <a:picLocks noChangeAspect="1"/>
          </p:cNvPicPr>
          <p:nvPr/>
        </p:nvPicPr>
        <p:blipFill>
          <a:blip r:embed="rId4"/>
          <a:stretch>
            <a:fillRect/>
          </a:stretch>
        </p:blipFill>
        <p:spPr>
          <a:xfrm>
            <a:off x="3860977" y="3228276"/>
            <a:ext cx="134549" cy="195707"/>
          </a:xfrm>
          <a:prstGeom prst="rect">
            <a:avLst/>
          </a:prstGeom>
        </p:spPr>
      </p:pic>
      <p:sp>
        <p:nvSpPr>
          <p:cNvPr id="22" name="TextBox 21"/>
          <p:cNvSpPr txBox="1"/>
          <p:nvPr/>
        </p:nvSpPr>
        <p:spPr>
          <a:xfrm>
            <a:off x="4036086" y="3238500"/>
            <a:ext cx="7634554" cy="194310"/>
          </a:xfrm>
          <a:prstGeom prst="rect">
            <a:avLst/>
          </a:prstGeom>
          <a:noFill/>
        </p:spPr>
        <p:txBody>
          <a:bodyPr wrap="none" lIns="0" rIns="0" tIns="0" bIns="0">
            <a:spAutoFit/>
          </a:bodyPr>
          <a:lstStyle/>
          <a:p>
            <a:r>
              <a:rPr sz="1150" b="0">
                <a:solidFill>
                  <a:srgbClr val="2E2E2E"/>
                </a:solidFill>
                <a:latin typeface="Calibri"/>
              </a:rPr>
              <a:t>X higher value than Canada in 2036. Among waterproof coatings by country, Mexico is expected to witness the highest CAGR of</a:t>
            </a:r>
          </a:p>
        </p:txBody>
      </p:sp>
      <p:pic>
        <p:nvPicPr>
          <p:cNvPr id="23" name="Picture 22" descr="lock.png"/>
          <p:cNvPicPr>
            <a:picLocks noChangeAspect="1"/>
          </p:cNvPicPr>
          <p:nvPr/>
        </p:nvPicPr>
        <p:blipFill>
          <a:blip r:embed="rId4"/>
          <a:stretch>
            <a:fillRect/>
          </a:stretch>
        </p:blipFill>
        <p:spPr>
          <a:xfrm>
            <a:off x="262145" y="3403536"/>
            <a:ext cx="134549" cy="195707"/>
          </a:xfrm>
          <a:prstGeom prst="rect">
            <a:avLst/>
          </a:prstGeom>
        </p:spPr>
      </p:pic>
      <p:sp>
        <p:nvSpPr>
          <p:cNvPr id="24" name="TextBox 23"/>
          <p:cNvSpPr txBox="1"/>
          <p:nvPr/>
        </p:nvSpPr>
        <p:spPr>
          <a:xfrm>
            <a:off x="437254" y="341376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5" name="TextBox 24"/>
          <p:cNvSpPr txBox="1"/>
          <p:nvPr/>
        </p:nvSpPr>
        <p:spPr>
          <a:xfrm>
            <a:off x="276225" y="3641597"/>
            <a:ext cx="4983137" cy="194310"/>
          </a:xfrm>
          <a:prstGeom prst="rect">
            <a:avLst/>
          </a:prstGeom>
          <a:noFill/>
        </p:spPr>
        <p:txBody>
          <a:bodyPr wrap="none" lIns="0" rIns="0" tIns="0" bIns="0">
            <a:spAutoFit/>
          </a:bodyPr>
          <a:lstStyle/>
          <a:p>
            <a:r>
              <a:rPr sz="1150" b="0">
                <a:solidFill>
                  <a:srgbClr val="2E2E2E"/>
                </a:solidFill>
                <a:latin typeface="Calibri"/>
              </a:rPr>
              <a:t>In terms of value share by country, U.S. is expected to dominate the market, losing</a:t>
            </a:r>
          </a:p>
        </p:txBody>
      </p:sp>
      <p:pic>
        <p:nvPicPr>
          <p:cNvPr id="26" name="Picture 25" descr="lock.png"/>
          <p:cNvPicPr>
            <a:picLocks noChangeAspect="1"/>
          </p:cNvPicPr>
          <p:nvPr/>
        </p:nvPicPr>
        <p:blipFill>
          <a:blip r:embed="rId4"/>
          <a:stretch>
            <a:fillRect/>
          </a:stretch>
        </p:blipFill>
        <p:spPr>
          <a:xfrm>
            <a:off x="5208516" y="3631374"/>
            <a:ext cx="134549" cy="195707"/>
          </a:xfrm>
          <a:prstGeom prst="rect">
            <a:avLst/>
          </a:prstGeom>
        </p:spPr>
      </p:pic>
      <p:sp>
        <p:nvSpPr>
          <p:cNvPr id="27" name="TextBox 26"/>
          <p:cNvSpPr txBox="1"/>
          <p:nvPr/>
        </p:nvSpPr>
        <p:spPr>
          <a:xfrm>
            <a:off x="5383625" y="364159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8" name="Picture 27" descr="lock.png"/>
          <p:cNvPicPr>
            <a:picLocks noChangeAspect="1"/>
          </p:cNvPicPr>
          <p:nvPr/>
        </p:nvPicPr>
        <p:blipFill>
          <a:blip r:embed="rId4"/>
          <a:stretch>
            <a:fillRect/>
          </a:stretch>
        </p:blipFill>
        <p:spPr>
          <a:xfrm>
            <a:off x="6778769" y="3631374"/>
            <a:ext cx="134549" cy="195707"/>
          </a:xfrm>
          <a:prstGeom prst="rect">
            <a:avLst/>
          </a:prstGeom>
        </p:spPr>
      </p:pic>
      <p:sp>
        <p:nvSpPr>
          <p:cNvPr id="29" name="TextBox 28"/>
          <p:cNvSpPr txBox="1"/>
          <p:nvPr/>
        </p:nvSpPr>
        <p:spPr>
          <a:xfrm>
            <a:off x="6953878" y="364159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Waterproof Coatings Market Trends, By Country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country volume and value shares shift over 2021–2036, highlighting who gains ground</a:t>
            </a:r>
          </a:p>
        </p:txBody>
      </p:sp>
      <p:sp>
        <p:nvSpPr>
          <p:cNvPr id="10" name="Rounded Rectangle 9"/>
          <p:cNvSpPr/>
          <p:nvPr/>
        </p:nvSpPr>
        <p:spPr>
          <a:xfrm>
            <a:off x="142875" y="981075"/>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By Country (Units)</a:t>
            </a:r>
          </a:p>
        </p:txBody>
      </p:sp>
      <p:graphicFrame>
        <p:nvGraphicFramePr>
          <p:cNvPr id="12" name="Chart 11"/>
          <p:cNvGraphicFramePr>
            <a:graphicFrameLocks noGrp="1"/>
          </p:cNvGraphicFramePr>
          <p:nvPr/>
        </p:nvGraphicFramePr>
        <p:xfrm>
          <a:off x="238125" y="1266825"/>
          <a:ext cx="11715750"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Country (US$ Mn)</a:t>
            </a:r>
          </a:p>
        </p:txBody>
      </p:sp>
      <p:graphicFrame>
        <p:nvGraphicFramePr>
          <p:cNvPr id="15" name="Chart 14"/>
          <p:cNvGraphicFramePr>
            <a:graphicFrameLocks noGrp="1"/>
          </p:cNvGraphicFramePr>
          <p:nvPr/>
        </p:nvGraphicFramePr>
        <p:xfrm>
          <a:off x="238125" y="4152900"/>
          <a:ext cx="11715750" cy="2409825"/>
        </p:xfrm>
        <a:graphic>
          <a:graphicData uri="http://schemas.openxmlformats.org/drawingml/2006/chart">
            <c:chart xmlns:c="http://schemas.openxmlformats.org/drawingml/2006/chart" r:id="rId4"/>
          </a:graphicData>
        </a:graphic>
      </p:graphicFrame>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6"/>
          <a:stretch>
            <a:fillRect/>
          </a:stretch>
        </p:blipFill>
        <p:spPr>
          <a:xfrm>
            <a:off x="6058646" y="2026489"/>
            <a:ext cx="363375" cy="528545"/>
          </a:xfrm>
          <a:prstGeom prst="rect">
            <a:avLst/>
          </a:prstGeom>
        </p:spPr>
      </p:pic>
      <p:pic>
        <p:nvPicPr>
          <p:cNvPr id="18" name="Picture 17" descr="lock.png"/>
          <p:cNvPicPr>
            <a:picLocks noChangeAspect="1"/>
          </p:cNvPicPr>
          <p:nvPr/>
        </p:nvPicPr>
        <p:blipFill>
          <a:blip r:embed="rId6"/>
          <a:stretch>
            <a:fillRect/>
          </a:stretch>
        </p:blipFill>
        <p:spPr>
          <a:xfrm>
            <a:off x="6058646" y="4912564"/>
            <a:ext cx="363375" cy="528545"/>
          </a:xfrm>
          <a:prstGeom prst="rect">
            <a:avLst/>
          </a:prstGeom>
        </p:spPr>
      </p:pic>
      <p:sp>
        <p:nvSpPr>
          <p:cNvPr id="19" name="lockshield_12"/>
          <p:cNvSpPr/>
          <p:nvPr/>
        </p:nvSpPr>
        <p:spPr>
          <a:xfrm>
            <a:off x="238125" y="1266825"/>
            <a:ext cx="1171575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ockshield_15"/>
          <p:cNvSpPr/>
          <p:nvPr/>
        </p:nvSpPr>
        <p:spPr>
          <a:xfrm>
            <a:off x="238125" y="4152900"/>
            <a:ext cx="1171575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Waterproof Coatings Market Top 3 Countries (2036)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hierarchy of the North America market in 2036, highlighting the leading countries within each region by value</a:t>
            </a:r>
          </a:p>
        </p:txBody>
      </p:sp>
      <p:sp>
        <p:nvSpPr>
          <p:cNvPr id="10" name="Rounded Rectangle 9"/>
          <p:cNvSpPr/>
          <p:nvPr/>
        </p:nvSpPr>
        <p:spPr>
          <a:xfrm>
            <a:off x="142875" y="981075"/>
            <a:ext cx="11906250"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by country  ·  2036 (US$ Mn)  ·  tile size = market value</a:t>
            </a:r>
          </a:p>
        </p:txBody>
      </p:sp>
      <p:sp>
        <p:nvSpPr>
          <p:cNvPr id="12" name="Rectangle 11"/>
          <p:cNvSpPr/>
          <p:nvPr/>
        </p:nvSpPr>
        <p:spPr>
          <a:xfrm>
            <a:off x="238125" y="1266825"/>
            <a:ext cx="6504970" cy="5305425"/>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3" name="Rectangle 12"/>
          <p:cNvSpPr/>
          <p:nvPr/>
        </p:nvSpPr>
        <p:spPr>
          <a:xfrm>
            <a:off x="6743095" y="1266825"/>
            <a:ext cx="5210780" cy="3199772"/>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4" name="Rectangle 13"/>
          <p:cNvSpPr/>
          <p:nvPr/>
        </p:nvSpPr>
        <p:spPr>
          <a:xfrm>
            <a:off x="6743095" y="4466597"/>
            <a:ext cx="5210780" cy="2105653"/>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Mexico</a:t>
            </a:r>
          </a:p>
          <a:p>
            <a:pPr algn="ctr"/>
            <a:r>
              <a:rPr sz="1100" b="0">
                <a:solidFill>
                  <a:srgbClr val="FFFFFF"/>
                </a:solidFill>
                <a:latin typeface="Calibri"/>
              </a:rPr>
              <a:t> </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6" name="Picture 15" descr="lock.png"/>
          <p:cNvPicPr>
            <a:picLocks noChangeAspect="1"/>
          </p:cNvPicPr>
          <p:nvPr/>
        </p:nvPicPr>
        <p:blipFill>
          <a:blip r:embed="rId4"/>
          <a:stretch>
            <a:fillRect/>
          </a:stretch>
        </p:blipFill>
        <p:spPr>
          <a:xfrm>
            <a:off x="3432984" y="3919537"/>
            <a:ext cx="115252" cy="167639"/>
          </a:xfrm>
          <a:prstGeom prst="rect">
            <a:avLst/>
          </a:prstGeom>
        </p:spPr>
      </p:pic>
      <p:pic>
        <p:nvPicPr>
          <p:cNvPr id="17" name="Picture 16" descr="lock.png"/>
          <p:cNvPicPr>
            <a:picLocks noChangeAspect="1"/>
          </p:cNvPicPr>
          <p:nvPr/>
        </p:nvPicPr>
        <p:blipFill>
          <a:blip r:embed="rId4"/>
          <a:stretch>
            <a:fillRect/>
          </a:stretch>
        </p:blipFill>
        <p:spPr>
          <a:xfrm>
            <a:off x="9290859" y="2866710"/>
            <a:ext cx="115252" cy="167639"/>
          </a:xfrm>
          <a:prstGeom prst="rect">
            <a:avLst/>
          </a:prstGeom>
        </p:spPr>
      </p:pic>
      <p:pic>
        <p:nvPicPr>
          <p:cNvPr id="18" name="Picture 17" descr="lock.png"/>
          <p:cNvPicPr>
            <a:picLocks noChangeAspect="1"/>
          </p:cNvPicPr>
          <p:nvPr/>
        </p:nvPicPr>
        <p:blipFill>
          <a:blip r:embed="rId4"/>
          <a:stretch>
            <a:fillRect/>
          </a:stretch>
        </p:blipFill>
        <p:spPr>
          <a:xfrm>
            <a:off x="9290859" y="5519423"/>
            <a:ext cx="115252" cy="167639"/>
          </a:xfrm>
          <a:prstGeom prst="rect">
            <a:avLst/>
          </a:prstGeom>
        </p:spPr>
      </p:pic>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16217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2505075"/>
            <a:ext cx="8572500" cy="514350"/>
          </a:xfrm>
          <a:prstGeom prst="rect">
            <a:avLst/>
          </a:prstGeom>
          <a:noFill/>
        </p:spPr>
        <p:txBody>
          <a:bodyPr wrap="square" lIns="0" rIns="0" tIns="0">
            <a:spAutoFit/>
          </a:bodyPr>
          <a:lstStyle/>
          <a:p>
            <a:r>
              <a:rPr sz="3000" b="1">
                <a:solidFill>
                  <a:srgbClr val="0B3C8C"/>
                </a:solidFill>
                <a:latin typeface="Calibri"/>
              </a:rPr>
              <a:t>North America Market Analysis By Segments</a:t>
            </a:r>
          </a:p>
        </p:txBody>
      </p:sp>
      <p:sp>
        <p:nvSpPr>
          <p:cNvPr id="11" name="TextBox 10"/>
          <p:cNvSpPr txBox="1"/>
          <p:nvPr/>
        </p:nvSpPr>
        <p:spPr>
          <a:xfrm>
            <a:off x="914400" y="3190875"/>
            <a:ext cx="8458200" cy="24574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Type / Chemistry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Configuration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Technology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Application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Substrate Material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Distribution Channel</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Product Type / Chemistry</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Type / Chemistry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Product Type / Chemistry Segment Outlook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8 sub-segments of Product Type / Chemistry,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Product Type / Chemistry segment categorizes the market by product type / chemistry.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Polymer-Based Coatings</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Cementitious Waterproof Coatings</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Polyurea Waterproof Coatings</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Silicone Waterproof Coatings</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9" name="Rectangle 48"/>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E2E2E"/>
                </a:solidFill>
                <a:latin typeface="Calibri"/>
              </a:rPr>
              <a:t/>
            </a:r>
          </a:p>
          <a:p>
            <a:pPr algn="l">
              <a:lnSpc>
                <a:spcPct val="105000"/>
              </a:lnSpc>
              <a:spcBef>
                <a:spcPts val="0"/>
              </a:spcBef>
              <a:spcAft>
                <a:spcPts val="300"/>
              </a:spcAft>
            </a:pPr>
            <a:r>
              <a:rPr sz="1100" b="0">
                <a:solidFill>
                  <a:srgbClr val="2E2E2E"/>
                </a:solidFill>
                <a:latin typeface="Calibri"/>
              </a:rPr>
              <a:t/>
            </a:r>
          </a:p>
        </p:txBody>
      </p:sp>
      <p:sp>
        <p:nvSpPr>
          <p:cNvPr id="51" name="Rounded Rectangle 5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3" name="Rectangle 52"/>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5" name="Rounded Rectangle 5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7" name="Rectangle 56"/>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Product Type / Chemistry split shows how demand is distributed across product type / chemistry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9" name="Rectangle 5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1" name="TextBox 6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1_056_605E5C.png"/>
          <p:cNvPicPr>
            <a:picLocks noChangeAspect="1"/>
          </p:cNvPicPr>
          <p:nvPr/>
        </p:nvPicPr>
        <p:blipFill>
          <a:blip r:embed="rId4"/>
          <a:stretch>
            <a:fillRect/>
          </a:stretch>
        </p:blipFill>
        <p:spPr>
          <a:xfrm>
            <a:off x="2476330" y="2286582"/>
            <a:ext cx="1195728" cy="361950"/>
          </a:xfrm>
          <a:prstGeom prst="rect">
            <a:avLst/>
          </a:prstGeom>
        </p:spPr>
      </p:pic>
      <p:pic>
        <p:nvPicPr>
          <p:cNvPr id="64" name="Picture 63" descr="1_335_605E5C.png"/>
          <p:cNvPicPr>
            <a:picLocks noChangeAspect="1"/>
          </p:cNvPicPr>
          <p:nvPr/>
        </p:nvPicPr>
        <p:blipFill>
          <a:blip r:embed="rId5"/>
          <a:stretch>
            <a:fillRect/>
          </a:stretch>
        </p:blipFill>
        <p:spPr>
          <a:xfrm>
            <a:off x="2476330" y="2779432"/>
            <a:ext cx="1195728" cy="361950"/>
          </a:xfrm>
          <a:prstGeom prst="rect">
            <a:avLst/>
          </a:prstGeom>
        </p:spPr>
      </p:pic>
      <p:pic>
        <p:nvPicPr>
          <p:cNvPr id="65" name="Picture 64" descr="2_4__605E5C.png"/>
          <p:cNvPicPr>
            <a:picLocks noChangeAspect="1"/>
          </p:cNvPicPr>
          <p:nvPr/>
        </p:nvPicPr>
        <p:blipFill>
          <a:blip r:embed="rId6"/>
          <a:stretch>
            <a:fillRect/>
          </a:stretch>
        </p:blipFill>
        <p:spPr>
          <a:xfrm>
            <a:off x="2582976" y="3272281"/>
            <a:ext cx="982436" cy="361950"/>
          </a:xfrm>
          <a:prstGeom prst="rect">
            <a:avLst/>
          </a:prstGeom>
        </p:spPr>
      </p:pic>
      <p:pic>
        <p:nvPicPr>
          <p:cNvPr id="66" name="Picture 65" descr="785_7_605E5C.png"/>
          <p:cNvPicPr>
            <a:picLocks noChangeAspect="1"/>
          </p:cNvPicPr>
          <p:nvPr/>
        </p:nvPicPr>
        <p:blipFill>
          <a:blip r:embed="rId7"/>
          <a:stretch>
            <a:fillRect/>
          </a:stretch>
        </p:blipFill>
        <p:spPr>
          <a:xfrm>
            <a:off x="5005218" y="2286582"/>
            <a:ext cx="1195728" cy="361950"/>
          </a:xfrm>
          <a:prstGeom prst="rect">
            <a:avLst/>
          </a:prstGeom>
        </p:spPr>
      </p:pic>
      <p:pic>
        <p:nvPicPr>
          <p:cNvPr id="67" name="Picture 66" descr="900_4_605E5C.png"/>
          <p:cNvPicPr>
            <a:picLocks noChangeAspect="1"/>
          </p:cNvPicPr>
          <p:nvPr/>
        </p:nvPicPr>
        <p:blipFill>
          <a:blip r:embed="rId8"/>
          <a:stretch>
            <a:fillRect/>
          </a:stretch>
        </p:blipFill>
        <p:spPr>
          <a:xfrm>
            <a:off x="5005218" y="2779432"/>
            <a:ext cx="1195728" cy="361950"/>
          </a:xfrm>
          <a:prstGeom prst="rect">
            <a:avLst/>
          </a:prstGeom>
        </p:spPr>
      </p:pic>
      <p:pic>
        <p:nvPicPr>
          <p:cNvPr id="68" name="Picture 67" descr="1_4__605E5C.png"/>
          <p:cNvPicPr>
            <a:picLocks noChangeAspect="1"/>
          </p:cNvPicPr>
          <p:nvPr/>
        </p:nvPicPr>
        <p:blipFill>
          <a:blip r:embed="rId9"/>
          <a:stretch>
            <a:fillRect/>
          </a:stretch>
        </p:blipFill>
        <p:spPr>
          <a:xfrm>
            <a:off x="5111864" y="3272281"/>
            <a:ext cx="982436" cy="361950"/>
          </a:xfrm>
          <a:prstGeom prst="rect">
            <a:avLst/>
          </a:prstGeom>
        </p:spPr>
      </p:pic>
      <p:pic>
        <p:nvPicPr>
          <p:cNvPr id="69" name="Picture 68" descr="715_4_605E5C.png"/>
          <p:cNvPicPr>
            <a:picLocks noChangeAspect="1"/>
          </p:cNvPicPr>
          <p:nvPr/>
        </p:nvPicPr>
        <p:blipFill>
          <a:blip r:embed="rId10"/>
          <a:stretch>
            <a:fillRect/>
          </a:stretch>
        </p:blipFill>
        <p:spPr>
          <a:xfrm>
            <a:off x="7534105" y="2286582"/>
            <a:ext cx="1195728" cy="361950"/>
          </a:xfrm>
          <a:prstGeom prst="rect">
            <a:avLst/>
          </a:prstGeom>
        </p:spPr>
      </p:pic>
      <p:pic>
        <p:nvPicPr>
          <p:cNvPr id="70" name="Picture 69" descr="1_284_605E5C.png"/>
          <p:cNvPicPr>
            <a:picLocks noChangeAspect="1"/>
          </p:cNvPicPr>
          <p:nvPr/>
        </p:nvPicPr>
        <p:blipFill>
          <a:blip r:embed="rId11"/>
          <a:stretch>
            <a:fillRect/>
          </a:stretch>
        </p:blipFill>
        <p:spPr>
          <a:xfrm>
            <a:off x="7534105" y="2779432"/>
            <a:ext cx="1195728" cy="361950"/>
          </a:xfrm>
          <a:prstGeom prst="rect">
            <a:avLst/>
          </a:prstGeom>
        </p:spPr>
      </p:pic>
      <p:pic>
        <p:nvPicPr>
          <p:cNvPr id="71" name="Picture 70" descr="6_0__605E5C.png"/>
          <p:cNvPicPr>
            <a:picLocks noChangeAspect="1"/>
          </p:cNvPicPr>
          <p:nvPr/>
        </p:nvPicPr>
        <p:blipFill>
          <a:blip r:embed="rId12"/>
          <a:stretch>
            <a:fillRect/>
          </a:stretch>
        </p:blipFill>
        <p:spPr>
          <a:xfrm>
            <a:off x="7640751" y="3272281"/>
            <a:ext cx="982436" cy="361950"/>
          </a:xfrm>
          <a:prstGeom prst="rect">
            <a:avLst/>
          </a:prstGeom>
        </p:spPr>
      </p:pic>
      <p:pic>
        <p:nvPicPr>
          <p:cNvPr id="72" name="Picture 71" descr="621_3_605E5C.png"/>
          <p:cNvPicPr>
            <a:picLocks noChangeAspect="1"/>
          </p:cNvPicPr>
          <p:nvPr/>
        </p:nvPicPr>
        <p:blipFill>
          <a:blip r:embed="rId13"/>
          <a:stretch>
            <a:fillRect/>
          </a:stretch>
        </p:blipFill>
        <p:spPr>
          <a:xfrm>
            <a:off x="10062992" y="2286582"/>
            <a:ext cx="1195728" cy="361950"/>
          </a:xfrm>
          <a:prstGeom prst="rect">
            <a:avLst/>
          </a:prstGeom>
        </p:spPr>
      </p:pic>
      <p:pic>
        <p:nvPicPr>
          <p:cNvPr id="73" name="Picture 72" descr="1_245_605E5C.png"/>
          <p:cNvPicPr>
            <a:picLocks noChangeAspect="1"/>
          </p:cNvPicPr>
          <p:nvPr/>
        </p:nvPicPr>
        <p:blipFill>
          <a:blip r:embed="rId14"/>
          <a:stretch>
            <a:fillRect/>
          </a:stretch>
        </p:blipFill>
        <p:spPr>
          <a:xfrm>
            <a:off x="10062992" y="2779432"/>
            <a:ext cx="1195728" cy="361950"/>
          </a:xfrm>
          <a:prstGeom prst="rect">
            <a:avLst/>
          </a:prstGeom>
        </p:spPr>
      </p:pic>
      <p:pic>
        <p:nvPicPr>
          <p:cNvPr id="74" name="Picture 73" descr="7_2__605E5C.png"/>
          <p:cNvPicPr>
            <a:picLocks noChangeAspect="1"/>
          </p:cNvPicPr>
          <p:nvPr/>
        </p:nvPicPr>
        <p:blipFill>
          <a:blip r:embed="rId15"/>
          <a:stretch>
            <a:fillRect/>
          </a:stretch>
        </p:blipFill>
        <p:spPr>
          <a:xfrm>
            <a:off x="10169638" y="3272281"/>
            <a:ext cx="982436" cy="361950"/>
          </a:xfrm>
          <a:prstGeom prst="rect">
            <a:avLst/>
          </a:prstGeom>
        </p:spPr>
      </p:pic>
      <p:pic>
        <p:nvPicPr>
          <p:cNvPr id="75" name="Picture 74" descr="lock.png"/>
          <p:cNvPicPr>
            <a:picLocks noChangeAspect="1"/>
          </p:cNvPicPr>
          <p:nvPr/>
        </p:nvPicPr>
        <p:blipFill>
          <a:blip r:embed="rId16"/>
          <a:stretch>
            <a:fillRect/>
          </a:stretch>
        </p:blipFill>
        <p:spPr>
          <a:xfrm>
            <a:off x="2980848"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5509737" y="2827057"/>
            <a:ext cx="183356" cy="266700"/>
          </a:xfrm>
          <a:prstGeom prst="rect">
            <a:avLst/>
          </a:prstGeom>
        </p:spPr>
      </p:pic>
      <p:pic>
        <p:nvPicPr>
          <p:cNvPr id="77" name="Picture 76" descr="lock.png"/>
          <p:cNvPicPr>
            <a:picLocks noChangeAspect="1"/>
          </p:cNvPicPr>
          <p:nvPr/>
        </p:nvPicPr>
        <p:blipFill>
          <a:blip r:embed="rId16"/>
          <a:stretch>
            <a:fillRect/>
          </a:stretch>
        </p:blipFill>
        <p:spPr>
          <a:xfrm>
            <a:off x="8038624" y="2827057"/>
            <a:ext cx="183356" cy="266700"/>
          </a:xfrm>
          <a:prstGeom prst="rect">
            <a:avLst/>
          </a:prstGeom>
        </p:spPr>
      </p:pic>
      <p:pic>
        <p:nvPicPr>
          <p:cNvPr id="78" name="Picture 77" descr="lock.png"/>
          <p:cNvPicPr>
            <a:picLocks noChangeAspect="1"/>
          </p:cNvPicPr>
          <p:nvPr/>
        </p:nvPicPr>
        <p:blipFill>
          <a:blip r:embed="rId16"/>
          <a:stretch>
            <a:fillRect/>
          </a:stretch>
        </p:blipFill>
        <p:spPr>
          <a:xfrm>
            <a:off x="10567511" y="2827057"/>
            <a:ext cx="183356" cy="266700"/>
          </a:xfrm>
          <a:prstGeom prst="rect">
            <a:avLst/>
          </a:prstGeom>
        </p:spPr>
      </p:pic>
      <p:sp>
        <p:nvSpPr>
          <p:cNvPr id="79" name="TextBox 78"/>
          <p:cNvSpPr txBox="1"/>
          <p:nvPr/>
        </p:nvSpPr>
        <p:spPr>
          <a:xfrm>
            <a:off x="485775" y="4229437"/>
            <a:ext cx="2680841" cy="186689"/>
          </a:xfrm>
          <a:prstGeom prst="rect">
            <a:avLst/>
          </a:prstGeom>
          <a:noFill/>
        </p:spPr>
        <p:txBody>
          <a:bodyPr wrap="none" lIns="0" rIns="0" tIns="0" bIns="0">
            <a:spAutoFit/>
          </a:bodyPr>
          <a:lstStyle/>
          <a:p>
            <a:r>
              <a:rPr sz="1100" b="0">
                <a:solidFill>
                  <a:srgbClr val="2E2E2E"/>
                </a:solidFill>
                <a:latin typeface="Calibri"/>
              </a:rPr>
              <a:t>Among waterproof coatings by product type /</a:t>
            </a:r>
          </a:p>
        </p:txBody>
      </p:sp>
      <p:sp>
        <p:nvSpPr>
          <p:cNvPr id="80" name="TextBox 79"/>
          <p:cNvSpPr txBox="1"/>
          <p:nvPr/>
        </p:nvSpPr>
        <p:spPr>
          <a:xfrm>
            <a:off x="485775" y="4397077"/>
            <a:ext cx="2914650" cy="186689"/>
          </a:xfrm>
          <a:prstGeom prst="rect">
            <a:avLst/>
          </a:prstGeom>
          <a:noFill/>
        </p:spPr>
        <p:txBody>
          <a:bodyPr wrap="none" lIns="0" rIns="0" tIns="0" bIns="0">
            <a:spAutoFit/>
          </a:bodyPr>
          <a:lstStyle/>
          <a:p>
            <a:r>
              <a:rPr sz="1100" b="0">
                <a:solidFill>
                  <a:srgbClr val="2E2E2E"/>
                </a:solidFill>
                <a:latin typeface="Calibri"/>
              </a:rPr>
              <a:t>chemistry, silicone waterproof coatings segment is</a:t>
            </a:r>
          </a:p>
        </p:txBody>
      </p:sp>
      <p:sp>
        <p:nvSpPr>
          <p:cNvPr id="81" name="TextBox 80"/>
          <p:cNvSpPr txBox="1"/>
          <p:nvPr/>
        </p:nvSpPr>
        <p:spPr>
          <a:xfrm>
            <a:off x="485775" y="456471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82" name="Picture 81" descr="lock.png"/>
          <p:cNvPicPr>
            <a:picLocks noChangeAspect="1"/>
          </p:cNvPicPr>
          <p:nvPr/>
        </p:nvPicPr>
        <p:blipFill>
          <a:blip r:embed="rId16"/>
          <a:stretch>
            <a:fillRect/>
          </a:stretch>
        </p:blipFill>
        <p:spPr>
          <a:xfrm>
            <a:off x="2815059" y="4554938"/>
            <a:ext cx="128699" cy="187198"/>
          </a:xfrm>
          <a:prstGeom prst="rect">
            <a:avLst/>
          </a:prstGeom>
        </p:spPr>
      </p:pic>
      <p:sp>
        <p:nvSpPr>
          <p:cNvPr id="83" name="TextBox 82"/>
          <p:cNvSpPr txBox="1"/>
          <p:nvPr/>
        </p:nvSpPr>
        <p:spPr>
          <a:xfrm>
            <a:off x="2982555" y="456471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84" name="TextBox 83"/>
          <p:cNvSpPr txBox="1"/>
          <p:nvPr/>
        </p:nvSpPr>
        <p:spPr>
          <a:xfrm>
            <a:off x="485775" y="4732357"/>
            <a:ext cx="2699122" cy="186689"/>
          </a:xfrm>
          <a:prstGeom prst="rect">
            <a:avLst/>
          </a:prstGeom>
          <a:noFill/>
        </p:spPr>
        <p:txBody>
          <a:bodyPr wrap="none" lIns="0" rIns="0" tIns="0" bIns="0">
            <a:spAutoFit/>
          </a:bodyPr>
          <a:lstStyle/>
          <a:p>
            <a:r>
              <a:rPr sz="1100" b="0">
                <a:solidFill>
                  <a:srgbClr val="2E2E2E"/>
                </a:solidFill>
                <a:latin typeface="Calibri"/>
              </a:rPr>
              <a:t>the forecast period. In terms of value share by</a:t>
            </a:r>
          </a:p>
        </p:txBody>
      </p:sp>
      <p:sp>
        <p:nvSpPr>
          <p:cNvPr id="85" name="TextBox 84"/>
          <p:cNvSpPr txBox="1"/>
          <p:nvPr/>
        </p:nvSpPr>
        <p:spPr>
          <a:xfrm>
            <a:off x="485775" y="4899997"/>
            <a:ext cx="2914650" cy="186689"/>
          </a:xfrm>
          <a:prstGeom prst="rect">
            <a:avLst/>
          </a:prstGeom>
          <a:noFill/>
        </p:spPr>
        <p:txBody>
          <a:bodyPr wrap="none" lIns="0" rIns="0" tIns="0" bIns="0">
            <a:spAutoFit/>
          </a:bodyPr>
          <a:lstStyle/>
          <a:p>
            <a:r>
              <a:rPr sz="1100" b="0">
                <a:solidFill>
                  <a:srgbClr val="2E2E2E"/>
                </a:solidFill>
                <a:latin typeface="Calibri"/>
              </a:rPr>
              <a:t>product type / chemistry, the other polymer-based</a:t>
            </a:r>
          </a:p>
        </p:txBody>
      </p:sp>
      <p:sp>
        <p:nvSpPr>
          <p:cNvPr id="86" name="TextBox 85"/>
          <p:cNvSpPr txBox="1"/>
          <p:nvPr/>
        </p:nvSpPr>
        <p:spPr>
          <a:xfrm>
            <a:off x="485775" y="5067637"/>
            <a:ext cx="2697212" cy="186689"/>
          </a:xfrm>
          <a:prstGeom prst="rect">
            <a:avLst/>
          </a:prstGeom>
          <a:noFill/>
        </p:spPr>
        <p:txBody>
          <a:bodyPr wrap="none" lIns="0" rIns="0" tIns="0" bIns="0">
            <a:spAutoFit/>
          </a:bodyPr>
          <a:lstStyle/>
          <a:p>
            <a:r>
              <a:rPr sz="1100" b="0">
                <a:solidFill>
                  <a:srgbClr val="2E2E2E"/>
                </a:solidFill>
                <a:latin typeface="Calibri"/>
              </a:rPr>
              <a:t>coatings segment is expected to dominate the</a:t>
            </a:r>
          </a:p>
        </p:txBody>
      </p:sp>
      <p:sp>
        <p:nvSpPr>
          <p:cNvPr id="87" name="TextBox 86"/>
          <p:cNvSpPr txBox="1"/>
          <p:nvPr/>
        </p:nvSpPr>
        <p:spPr>
          <a:xfrm>
            <a:off x="485775" y="5235277"/>
            <a:ext cx="881930" cy="186689"/>
          </a:xfrm>
          <a:prstGeom prst="rect">
            <a:avLst/>
          </a:prstGeom>
          <a:noFill/>
        </p:spPr>
        <p:txBody>
          <a:bodyPr wrap="none" lIns="0" rIns="0" tIns="0" bIns="0">
            <a:spAutoFit/>
          </a:bodyPr>
          <a:lstStyle/>
          <a:p>
            <a:r>
              <a:rPr sz="1100" b="0">
                <a:solidFill>
                  <a:srgbClr val="2E2E2E"/>
                </a:solidFill>
                <a:latin typeface="Calibri"/>
              </a:rPr>
              <a:t>market, losing</a:t>
            </a:r>
          </a:p>
        </p:txBody>
      </p:sp>
      <p:pic>
        <p:nvPicPr>
          <p:cNvPr id="88" name="Picture 87" descr="lock.png"/>
          <p:cNvPicPr>
            <a:picLocks noChangeAspect="1"/>
          </p:cNvPicPr>
          <p:nvPr/>
        </p:nvPicPr>
        <p:blipFill>
          <a:blip r:embed="rId16"/>
          <a:stretch>
            <a:fillRect/>
          </a:stretch>
        </p:blipFill>
        <p:spPr>
          <a:xfrm>
            <a:off x="1315757" y="5225498"/>
            <a:ext cx="128699" cy="187198"/>
          </a:xfrm>
          <a:prstGeom prst="rect">
            <a:avLst/>
          </a:prstGeom>
        </p:spPr>
      </p:pic>
      <p:sp>
        <p:nvSpPr>
          <p:cNvPr id="89" name="TextBox 88"/>
          <p:cNvSpPr txBox="1"/>
          <p:nvPr/>
        </p:nvSpPr>
        <p:spPr>
          <a:xfrm>
            <a:off x="1483253" y="523527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90" name="Picture 89" descr="lock.png"/>
          <p:cNvPicPr>
            <a:picLocks noChangeAspect="1"/>
          </p:cNvPicPr>
          <p:nvPr/>
        </p:nvPicPr>
        <p:blipFill>
          <a:blip r:embed="rId16"/>
          <a:stretch>
            <a:fillRect/>
          </a:stretch>
        </p:blipFill>
        <p:spPr>
          <a:xfrm>
            <a:off x="2817737" y="5225498"/>
            <a:ext cx="128699" cy="187198"/>
          </a:xfrm>
          <a:prstGeom prst="rect">
            <a:avLst/>
          </a:prstGeom>
        </p:spPr>
      </p:pic>
      <p:sp>
        <p:nvSpPr>
          <p:cNvPr id="91" name="TextBox 90"/>
          <p:cNvSpPr txBox="1"/>
          <p:nvPr/>
        </p:nvSpPr>
        <p:spPr>
          <a:xfrm>
            <a:off x="485775" y="540291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92" name="TextBox 91"/>
          <p:cNvSpPr txBox="1"/>
          <p:nvPr/>
        </p:nvSpPr>
        <p:spPr>
          <a:xfrm>
            <a:off x="485775" y="5620849"/>
            <a:ext cx="2438003" cy="186689"/>
          </a:xfrm>
          <a:prstGeom prst="rect">
            <a:avLst/>
          </a:prstGeom>
          <a:noFill/>
        </p:spPr>
        <p:txBody>
          <a:bodyPr wrap="none" lIns="0" rIns="0" tIns="0" bIns="0">
            <a:spAutoFit/>
          </a:bodyPr>
          <a:lstStyle/>
          <a:p>
            <a:r>
              <a:rPr sz="1100" b="0">
                <a:solidFill>
                  <a:srgbClr val="2E2E2E"/>
                </a:solidFill>
                <a:latin typeface="Calibri"/>
              </a:rPr>
              <a:t>Other polymer-based coatings segment is</a:t>
            </a:r>
          </a:p>
        </p:txBody>
      </p:sp>
      <p:sp>
        <p:nvSpPr>
          <p:cNvPr id="93" name="TextBox 92"/>
          <p:cNvSpPr txBox="1"/>
          <p:nvPr/>
        </p:nvSpPr>
        <p:spPr>
          <a:xfrm>
            <a:off x="485775" y="5788489"/>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94" name="Picture 93" descr="lock.png"/>
          <p:cNvPicPr>
            <a:picLocks noChangeAspect="1"/>
          </p:cNvPicPr>
          <p:nvPr/>
        </p:nvPicPr>
        <p:blipFill>
          <a:blip r:embed="rId16"/>
          <a:stretch>
            <a:fillRect/>
          </a:stretch>
        </p:blipFill>
        <p:spPr>
          <a:xfrm>
            <a:off x="1678376" y="5778710"/>
            <a:ext cx="128699" cy="187198"/>
          </a:xfrm>
          <a:prstGeom prst="rect">
            <a:avLst/>
          </a:prstGeom>
        </p:spPr>
      </p:pic>
      <p:sp>
        <p:nvSpPr>
          <p:cNvPr id="95" name="TextBox 94"/>
          <p:cNvSpPr txBox="1"/>
          <p:nvPr/>
        </p:nvSpPr>
        <p:spPr>
          <a:xfrm>
            <a:off x="1845872" y="5788489"/>
            <a:ext cx="1172517" cy="186689"/>
          </a:xfrm>
          <a:prstGeom prst="rect">
            <a:avLst/>
          </a:prstGeom>
          <a:noFill/>
        </p:spPr>
        <p:txBody>
          <a:bodyPr wrap="none" lIns="0" rIns="0" tIns="0" bIns="0">
            <a:spAutoFit/>
          </a:bodyPr>
          <a:lstStyle/>
          <a:p>
            <a:r>
              <a:rPr sz="1100" b="0">
                <a:solidFill>
                  <a:srgbClr val="2E2E2E"/>
                </a:solidFill>
                <a:latin typeface="Calibri"/>
              </a:rPr>
              <a:t>X higher value than</a:t>
            </a:r>
          </a:p>
        </p:txBody>
      </p:sp>
      <p:sp>
        <p:nvSpPr>
          <p:cNvPr id="96" name="TextBox 95"/>
          <p:cNvSpPr txBox="1"/>
          <p:nvPr/>
        </p:nvSpPr>
        <p:spPr>
          <a:xfrm>
            <a:off x="485775" y="5956129"/>
            <a:ext cx="2768426" cy="186689"/>
          </a:xfrm>
          <a:prstGeom prst="rect">
            <a:avLst/>
          </a:prstGeom>
          <a:noFill/>
        </p:spPr>
        <p:txBody>
          <a:bodyPr wrap="none" lIns="0" rIns="0" tIns="0" bIns="0">
            <a:spAutoFit/>
          </a:bodyPr>
          <a:lstStyle/>
          <a:p>
            <a:r>
              <a:rPr sz="1100" b="0">
                <a:solidFill>
                  <a:srgbClr val="2E2E2E"/>
                </a:solidFill>
                <a:latin typeface="Calibri"/>
              </a:rPr>
              <a:t>polyurea waterproof coatings segment in 2036.</a:t>
            </a:r>
          </a:p>
        </p:txBody>
      </p:sp>
      <p:sp>
        <p:nvSpPr>
          <p:cNvPr id="97" name="TextBox 96"/>
          <p:cNvSpPr txBox="1"/>
          <p:nvPr/>
        </p:nvSpPr>
        <p:spPr>
          <a:xfrm>
            <a:off x="3838575" y="4229437"/>
            <a:ext cx="1966788" cy="186689"/>
          </a:xfrm>
          <a:prstGeom prst="rect">
            <a:avLst/>
          </a:prstGeom>
          <a:noFill/>
        </p:spPr>
        <p:txBody>
          <a:bodyPr wrap="none" lIns="0" rIns="0" tIns="0" bIns="0">
            <a:spAutoFit/>
          </a:bodyPr>
          <a:lstStyle/>
          <a:p>
            <a:r>
              <a:rPr sz="1100" b="0">
                <a:solidFill>
                  <a:srgbClr val="2E2E2E"/>
                </a:solidFill>
                <a:latin typeface="Calibri"/>
              </a:rPr>
              <a:t>● Other Polymer-Based Coatings:</a:t>
            </a:r>
          </a:p>
        </p:txBody>
      </p:sp>
      <p:pic>
        <p:nvPicPr>
          <p:cNvPr id="98" name="Picture 97" descr="lock.png"/>
          <p:cNvPicPr>
            <a:picLocks noChangeAspect="1"/>
          </p:cNvPicPr>
          <p:nvPr/>
        </p:nvPicPr>
        <p:blipFill>
          <a:blip r:embed="rId16"/>
          <a:stretch>
            <a:fillRect/>
          </a:stretch>
        </p:blipFill>
        <p:spPr>
          <a:xfrm>
            <a:off x="5753415" y="4219658"/>
            <a:ext cx="128699" cy="187198"/>
          </a:xfrm>
          <a:prstGeom prst="rect">
            <a:avLst/>
          </a:prstGeom>
        </p:spPr>
      </p:pic>
      <p:sp>
        <p:nvSpPr>
          <p:cNvPr id="99" name="TextBox 98"/>
          <p:cNvSpPr txBox="1"/>
          <p:nvPr/>
        </p:nvSpPr>
        <p:spPr>
          <a:xfrm>
            <a:off x="5920910"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0" name="Picture 99" descr="lock.png"/>
          <p:cNvPicPr>
            <a:picLocks noChangeAspect="1"/>
          </p:cNvPicPr>
          <p:nvPr/>
        </p:nvPicPr>
        <p:blipFill>
          <a:blip r:embed="rId16"/>
          <a:stretch>
            <a:fillRect/>
          </a:stretch>
        </p:blipFill>
        <p:spPr>
          <a:xfrm>
            <a:off x="6780361" y="4219658"/>
            <a:ext cx="128699" cy="187198"/>
          </a:xfrm>
          <a:prstGeom prst="rect">
            <a:avLst/>
          </a:prstGeom>
        </p:spPr>
      </p:pic>
      <p:sp>
        <p:nvSpPr>
          <p:cNvPr id="101" name="TextBox 100"/>
          <p:cNvSpPr txBox="1"/>
          <p:nvPr/>
        </p:nvSpPr>
        <p:spPr>
          <a:xfrm>
            <a:off x="6947856" y="4229437"/>
            <a:ext cx="723659" cy="186689"/>
          </a:xfrm>
          <a:prstGeom prst="rect">
            <a:avLst/>
          </a:prstGeom>
          <a:noFill/>
        </p:spPr>
        <p:txBody>
          <a:bodyPr wrap="none" lIns="0" rIns="0" tIns="0" bIns="0">
            <a:spAutoFit/>
          </a:bodyPr>
          <a:lstStyle/>
          <a:p>
            <a:r>
              <a:rPr sz="1100" b="0">
                <a:solidFill>
                  <a:srgbClr val="2E2E2E"/>
                </a:solidFill>
                <a:latin typeface="Calibri"/>
              </a:rPr>
              <a:t>CAGR leads</a:t>
            </a:r>
          </a:p>
        </p:txBody>
      </p:sp>
      <p:sp>
        <p:nvSpPr>
          <p:cNvPr id="102" name="TextBox 101"/>
          <p:cNvSpPr txBox="1"/>
          <p:nvPr/>
        </p:nvSpPr>
        <p:spPr>
          <a:xfrm>
            <a:off x="3838575" y="4397077"/>
            <a:ext cx="824358" cy="186689"/>
          </a:xfrm>
          <a:prstGeom prst="rect">
            <a:avLst/>
          </a:prstGeom>
          <a:noFill/>
        </p:spPr>
        <p:txBody>
          <a:bodyPr wrap="none" lIns="0" rIns="0" tIns="0" bIns="0">
            <a:spAutoFit/>
          </a:bodyPr>
          <a:lstStyle/>
          <a:p>
            <a:r>
              <a:rPr sz="1100" b="0">
                <a:solidFill>
                  <a:srgbClr val="2E2E2E"/>
                </a:solidFill>
                <a:latin typeface="Calibri"/>
              </a:rPr>
              <a:t>the segment.</a:t>
            </a:r>
          </a:p>
        </p:txBody>
      </p:sp>
      <p:sp>
        <p:nvSpPr>
          <p:cNvPr id="103" name="TextBox 102"/>
          <p:cNvSpPr txBox="1"/>
          <p:nvPr/>
        </p:nvSpPr>
        <p:spPr>
          <a:xfrm>
            <a:off x="3838575" y="4615009"/>
            <a:ext cx="2207989" cy="186689"/>
          </a:xfrm>
          <a:prstGeom prst="rect">
            <a:avLst/>
          </a:prstGeom>
          <a:noFill/>
        </p:spPr>
        <p:txBody>
          <a:bodyPr wrap="none" lIns="0" rIns="0" tIns="0" bIns="0">
            <a:spAutoFit/>
          </a:bodyPr>
          <a:lstStyle/>
          <a:p>
            <a:r>
              <a:rPr sz="1100" b="0">
                <a:solidFill>
                  <a:srgbClr val="2E2E2E"/>
                </a:solidFill>
                <a:latin typeface="Calibri"/>
              </a:rPr>
              <a:t>● Cementitious Waterproof Coatings:</a:t>
            </a:r>
          </a:p>
        </p:txBody>
      </p:sp>
      <p:pic>
        <p:nvPicPr>
          <p:cNvPr id="104" name="Picture 103" descr="lock.png"/>
          <p:cNvPicPr>
            <a:picLocks noChangeAspect="1"/>
          </p:cNvPicPr>
          <p:nvPr/>
        </p:nvPicPr>
        <p:blipFill>
          <a:blip r:embed="rId16"/>
          <a:stretch>
            <a:fillRect/>
          </a:stretch>
        </p:blipFill>
        <p:spPr>
          <a:xfrm>
            <a:off x="5994615" y="4605230"/>
            <a:ext cx="128699" cy="187198"/>
          </a:xfrm>
          <a:prstGeom prst="rect">
            <a:avLst/>
          </a:prstGeom>
        </p:spPr>
      </p:pic>
      <p:sp>
        <p:nvSpPr>
          <p:cNvPr id="105" name="TextBox 104"/>
          <p:cNvSpPr txBox="1"/>
          <p:nvPr/>
        </p:nvSpPr>
        <p:spPr>
          <a:xfrm>
            <a:off x="6162111"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6" name="Picture 105" descr="lock.png"/>
          <p:cNvPicPr>
            <a:picLocks noChangeAspect="1"/>
          </p:cNvPicPr>
          <p:nvPr/>
        </p:nvPicPr>
        <p:blipFill>
          <a:blip r:embed="rId16"/>
          <a:stretch>
            <a:fillRect/>
          </a:stretch>
        </p:blipFill>
        <p:spPr>
          <a:xfrm>
            <a:off x="7021561" y="4605230"/>
            <a:ext cx="128699" cy="187198"/>
          </a:xfrm>
          <a:prstGeom prst="rect">
            <a:avLst/>
          </a:prstGeom>
        </p:spPr>
      </p:pic>
      <p:sp>
        <p:nvSpPr>
          <p:cNvPr id="107" name="TextBox 106"/>
          <p:cNvSpPr txBox="1"/>
          <p:nvPr/>
        </p:nvSpPr>
        <p:spPr>
          <a:xfrm>
            <a:off x="7189057" y="4615009"/>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08" name="TextBox 107"/>
          <p:cNvSpPr txBox="1"/>
          <p:nvPr/>
        </p:nvSpPr>
        <p:spPr>
          <a:xfrm>
            <a:off x="3838575" y="4782649"/>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09" name="TextBox 108"/>
          <p:cNvSpPr txBox="1"/>
          <p:nvPr/>
        </p:nvSpPr>
        <p:spPr>
          <a:xfrm>
            <a:off x="3838575" y="5000581"/>
            <a:ext cx="1949598" cy="186689"/>
          </a:xfrm>
          <a:prstGeom prst="rect">
            <a:avLst/>
          </a:prstGeom>
          <a:noFill/>
        </p:spPr>
        <p:txBody>
          <a:bodyPr wrap="none" lIns="0" rIns="0" tIns="0" bIns="0">
            <a:spAutoFit/>
          </a:bodyPr>
          <a:lstStyle/>
          <a:p>
            <a:r>
              <a:rPr sz="1100" b="0">
                <a:solidFill>
                  <a:srgbClr val="2E2E2E"/>
                </a:solidFill>
                <a:latin typeface="Calibri"/>
              </a:rPr>
              <a:t>● Polyurea Waterproof Coatings:</a:t>
            </a:r>
          </a:p>
        </p:txBody>
      </p:sp>
      <p:pic>
        <p:nvPicPr>
          <p:cNvPr id="110" name="Picture 109" descr="lock.png"/>
          <p:cNvPicPr>
            <a:picLocks noChangeAspect="1"/>
          </p:cNvPicPr>
          <p:nvPr/>
        </p:nvPicPr>
        <p:blipFill>
          <a:blip r:embed="rId16"/>
          <a:stretch>
            <a:fillRect/>
          </a:stretch>
        </p:blipFill>
        <p:spPr>
          <a:xfrm>
            <a:off x="5736225" y="4990801"/>
            <a:ext cx="128699" cy="187198"/>
          </a:xfrm>
          <a:prstGeom prst="rect">
            <a:avLst/>
          </a:prstGeom>
        </p:spPr>
      </p:pic>
      <p:sp>
        <p:nvSpPr>
          <p:cNvPr id="111" name="TextBox 110"/>
          <p:cNvSpPr txBox="1"/>
          <p:nvPr/>
        </p:nvSpPr>
        <p:spPr>
          <a:xfrm>
            <a:off x="5903721"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2" name="Picture 111" descr="lock.png"/>
          <p:cNvPicPr>
            <a:picLocks noChangeAspect="1"/>
          </p:cNvPicPr>
          <p:nvPr/>
        </p:nvPicPr>
        <p:blipFill>
          <a:blip r:embed="rId16"/>
          <a:stretch>
            <a:fillRect/>
          </a:stretch>
        </p:blipFill>
        <p:spPr>
          <a:xfrm>
            <a:off x="6763171" y="4990801"/>
            <a:ext cx="128699" cy="187198"/>
          </a:xfrm>
          <a:prstGeom prst="rect">
            <a:avLst/>
          </a:prstGeom>
        </p:spPr>
      </p:pic>
      <p:sp>
        <p:nvSpPr>
          <p:cNvPr id="113" name="TextBox 112"/>
          <p:cNvSpPr txBox="1"/>
          <p:nvPr/>
        </p:nvSpPr>
        <p:spPr>
          <a:xfrm>
            <a:off x="6930667" y="5000581"/>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14" name="TextBox 113"/>
          <p:cNvSpPr txBox="1"/>
          <p:nvPr/>
        </p:nvSpPr>
        <p:spPr>
          <a:xfrm>
            <a:off x="3838575" y="5168221"/>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15" name="TextBox 114"/>
          <p:cNvSpPr txBox="1"/>
          <p:nvPr/>
        </p:nvSpPr>
        <p:spPr>
          <a:xfrm>
            <a:off x="3838575" y="5386153"/>
            <a:ext cx="1886024" cy="186689"/>
          </a:xfrm>
          <a:prstGeom prst="rect">
            <a:avLst/>
          </a:prstGeom>
          <a:noFill/>
        </p:spPr>
        <p:txBody>
          <a:bodyPr wrap="none" lIns="0" rIns="0" tIns="0" bIns="0">
            <a:spAutoFit/>
          </a:bodyPr>
          <a:lstStyle/>
          <a:p>
            <a:r>
              <a:rPr sz="1100" b="0">
                <a:solidFill>
                  <a:srgbClr val="2E2E2E"/>
                </a:solidFill>
                <a:latin typeface="Calibri"/>
              </a:rPr>
              <a:t>● Silicone Waterproof Coatings:</a:t>
            </a:r>
          </a:p>
        </p:txBody>
      </p:sp>
      <p:pic>
        <p:nvPicPr>
          <p:cNvPr id="116" name="Picture 115" descr="lock.png"/>
          <p:cNvPicPr>
            <a:picLocks noChangeAspect="1"/>
          </p:cNvPicPr>
          <p:nvPr/>
        </p:nvPicPr>
        <p:blipFill>
          <a:blip r:embed="rId16"/>
          <a:stretch>
            <a:fillRect/>
          </a:stretch>
        </p:blipFill>
        <p:spPr>
          <a:xfrm>
            <a:off x="5672651" y="5376373"/>
            <a:ext cx="128699" cy="187198"/>
          </a:xfrm>
          <a:prstGeom prst="rect">
            <a:avLst/>
          </a:prstGeom>
        </p:spPr>
      </p:pic>
      <p:sp>
        <p:nvSpPr>
          <p:cNvPr id="117" name="TextBox 116"/>
          <p:cNvSpPr txBox="1"/>
          <p:nvPr/>
        </p:nvSpPr>
        <p:spPr>
          <a:xfrm>
            <a:off x="5840146" y="538615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8" name="Picture 117" descr="lock.png"/>
          <p:cNvPicPr>
            <a:picLocks noChangeAspect="1"/>
          </p:cNvPicPr>
          <p:nvPr/>
        </p:nvPicPr>
        <p:blipFill>
          <a:blip r:embed="rId16"/>
          <a:stretch>
            <a:fillRect/>
          </a:stretch>
        </p:blipFill>
        <p:spPr>
          <a:xfrm>
            <a:off x="6699597" y="5376373"/>
            <a:ext cx="128699" cy="187198"/>
          </a:xfrm>
          <a:prstGeom prst="rect">
            <a:avLst/>
          </a:prstGeom>
        </p:spPr>
      </p:pic>
      <p:sp>
        <p:nvSpPr>
          <p:cNvPr id="119" name="TextBox 118"/>
          <p:cNvSpPr txBox="1"/>
          <p:nvPr/>
        </p:nvSpPr>
        <p:spPr>
          <a:xfrm>
            <a:off x="6867092" y="5386153"/>
            <a:ext cx="769771" cy="186689"/>
          </a:xfrm>
          <a:prstGeom prst="rect">
            <a:avLst/>
          </a:prstGeom>
          <a:noFill/>
        </p:spPr>
        <p:txBody>
          <a:bodyPr wrap="none" lIns="0" rIns="0" tIns="0" bIns="0">
            <a:spAutoFit/>
          </a:bodyPr>
          <a:lstStyle/>
          <a:p>
            <a:r>
              <a:rPr sz="1100" b="0">
                <a:solidFill>
                  <a:srgbClr val="2E2E2E"/>
                </a:solidFill>
                <a:latin typeface="Calibri"/>
              </a:rPr>
              <a:t>CAGR grows</a:t>
            </a:r>
          </a:p>
        </p:txBody>
      </p:sp>
      <p:sp>
        <p:nvSpPr>
          <p:cNvPr id="120" name="TextBox 119"/>
          <p:cNvSpPr txBox="1"/>
          <p:nvPr/>
        </p:nvSpPr>
        <p:spPr>
          <a:xfrm>
            <a:off x="3838575" y="5553793"/>
            <a:ext cx="493390" cy="186689"/>
          </a:xfrm>
          <a:prstGeom prst="rect">
            <a:avLst/>
          </a:prstGeom>
          <a:noFill/>
        </p:spPr>
        <p:txBody>
          <a:bodyPr wrap="none" lIns="0" rIns="0" tIns="0" bIns="0">
            <a:spAutoFit/>
          </a:bodyPr>
          <a:lstStyle/>
          <a:p>
            <a:r>
              <a:rPr sz="1100" b="0">
                <a:solidFill>
                  <a:srgbClr val="2E2E2E"/>
                </a:solidFill>
                <a:latin typeface="Calibri"/>
              </a:rPr>
              <a:t>fastest.</a:t>
            </a:r>
          </a:p>
        </p:txBody>
      </p:sp>
      <p:sp>
        <p:nvSpPr>
          <p:cNvPr id="121" name="TextBox 120"/>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Product Type / Chemistry segment is projected</a:t>
            </a:r>
          </a:p>
        </p:txBody>
      </p:sp>
      <p:sp>
        <p:nvSpPr>
          <p:cNvPr id="122" name="TextBox 121"/>
          <p:cNvSpPr txBox="1"/>
          <p:nvPr/>
        </p:nvSpPr>
        <p:spPr>
          <a:xfrm>
            <a:off x="8524875" y="6017901"/>
            <a:ext cx="1340133" cy="194310"/>
          </a:xfrm>
          <a:prstGeom prst="rect">
            <a:avLst/>
          </a:prstGeom>
          <a:noFill/>
        </p:spPr>
        <p:txBody>
          <a:bodyPr wrap="none" lIns="0" rIns="0" tIns="0" bIns="0">
            <a:spAutoFit/>
          </a:bodyPr>
          <a:lstStyle/>
          <a:p>
            <a:r>
              <a:rPr sz="1150" b="1">
                <a:solidFill>
                  <a:srgbClr val="0B2E4A"/>
                </a:solidFill>
                <a:latin typeface="Calibri"/>
              </a:rPr>
              <a:t>to grow at a CAGR of</a:t>
            </a:r>
          </a:p>
        </p:txBody>
      </p:sp>
      <p:pic>
        <p:nvPicPr>
          <p:cNvPr id="123" name="Picture 122" descr="lock.png"/>
          <p:cNvPicPr>
            <a:picLocks noChangeAspect="1"/>
          </p:cNvPicPr>
          <p:nvPr/>
        </p:nvPicPr>
        <p:blipFill>
          <a:blip r:embed="rId16"/>
          <a:stretch>
            <a:fillRect/>
          </a:stretch>
        </p:blipFill>
        <p:spPr>
          <a:xfrm>
            <a:off x="9814162" y="6007677"/>
            <a:ext cx="134549" cy="195707"/>
          </a:xfrm>
          <a:prstGeom prst="rect">
            <a:avLst/>
          </a:prstGeom>
        </p:spPr>
      </p:pic>
      <p:sp>
        <p:nvSpPr>
          <p:cNvPr id="124" name="TextBox 123"/>
          <p:cNvSpPr txBox="1"/>
          <p:nvPr/>
        </p:nvSpPr>
        <p:spPr>
          <a:xfrm>
            <a:off x="9989271"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Product Type / Chemistry Segment Outlook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8 sub-segments of Product Type / Chemistry,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Product Type / Chemistry segment categorizes the market by product type / chemistry.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Polyurethane (PU) Waterproof Coat…</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25" name="Oval 24"/>
          <p:cNvSpPr/>
          <p:nvPr/>
        </p:nvSpPr>
        <p:spPr>
          <a:xfrm>
            <a:off x="2912269"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26" name="Rounded Rectangle 25"/>
          <p:cNvSpPr/>
          <p:nvPr/>
        </p:nvSpPr>
        <p:spPr>
          <a:xfrm>
            <a:off x="4395788" y="1773916"/>
            <a:ext cx="2414588"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Epoxy Waterproof Coatings</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32" name="Oval 31"/>
          <p:cNvSpPr/>
          <p:nvPr/>
        </p:nvSpPr>
        <p:spPr>
          <a:xfrm>
            <a:off x="5441156"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33" name="Rounded Rectangle 32"/>
          <p:cNvSpPr/>
          <p:nvPr/>
        </p:nvSpPr>
        <p:spPr>
          <a:xfrm>
            <a:off x="6924675" y="1773916"/>
            <a:ext cx="2414588"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Bituminous Waterproof Coatings</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9" name="Oval 38"/>
          <p:cNvSpPr/>
          <p:nvPr/>
        </p:nvSpPr>
        <p:spPr>
          <a:xfrm>
            <a:off x="7970044"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40" name="Rounded Rectangle 39"/>
          <p:cNvSpPr/>
          <p:nvPr/>
        </p:nvSpPr>
        <p:spPr>
          <a:xfrm>
            <a:off x="9453562"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Acrylic Waterproof Coatings</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46" name="Oval 45"/>
          <p:cNvSpPr/>
          <p:nvPr/>
        </p:nvSpPr>
        <p:spPr>
          <a:xfrm>
            <a:off x="10498931"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8</a:t>
            </a:r>
          </a:p>
        </p:txBody>
      </p:sp>
      <p:sp>
        <p:nvSpPr>
          <p:cNvPr id="47" name="Rounded Rectangle 46"/>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9" name="Rectangle 48"/>
          <p:cNvSpPr/>
          <p:nvPr/>
        </p:nvSpPr>
        <p:spPr>
          <a:xfrm>
            <a:off x="457200" y="4146897"/>
            <a:ext cx="112776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C7A89"/>
                </a:solidFill>
                <a:latin typeface="Calibri"/>
              </a:rPr>
              <a:t/>
            </a:r>
            <a:r>
              <a:rPr sz="1100" b="1">
                <a:solidFill>
                  <a:srgbClr val="6C7A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p:txBody>
      </p:sp>
      <p:sp>
        <p:nvSpPr>
          <p:cNvPr id="51" name="TextBox 5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3" name="Picture 52" descr="435_0_605E5C.png"/>
          <p:cNvPicPr>
            <a:picLocks noChangeAspect="1"/>
          </p:cNvPicPr>
          <p:nvPr/>
        </p:nvPicPr>
        <p:blipFill>
          <a:blip r:embed="rId4"/>
          <a:stretch>
            <a:fillRect/>
          </a:stretch>
        </p:blipFill>
        <p:spPr>
          <a:xfrm>
            <a:off x="2476330" y="2286582"/>
            <a:ext cx="1195728" cy="361950"/>
          </a:xfrm>
          <a:prstGeom prst="rect">
            <a:avLst/>
          </a:prstGeom>
        </p:spPr>
      </p:pic>
      <p:pic>
        <p:nvPicPr>
          <p:cNvPr id="54" name="Picture 53" descr="616_6_605E5C.png"/>
          <p:cNvPicPr>
            <a:picLocks noChangeAspect="1"/>
          </p:cNvPicPr>
          <p:nvPr/>
        </p:nvPicPr>
        <p:blipFill>
          <a:blip r:embed="rId5"/>
          <a:stretch>
            <a:fillRect/>
          </a:stretch>
        </p:blipFill>
        <p:spPr>
          <a:xfrm>
            <a:off x="2476330" y="2779432"/>
            <a:ext cx="1195728" cy="361950"/>
          </a:xfrm>
          <a:prstGeom prst="rect">
            <a:avLst/>
          </a:prstGeom>
        </p:spPr>
      </p:pic>
      <p:pic>
        <p:nvPicPr>
          <p:cNvPr id="55" name="Picture 54" descr="3_5__605E5C.png"/>
          <p:cNvPicPr>
            <a:picLocks noChangeAspect="1"/>
          </p:cNvPicPr>
          <p:nvPr/>
        </p:nvPicPr>
        <p:blipFill>
          <a:blip r:embed="rId6"/>
          <a:stretch>
            <a:fillRect/>
          </a:stretch>
        </p:blipFill>
        <p:spPr>
          <a:xfrm>
            <a:off x="2582976" y="3272281"/>
            <a:ext cx="982436" cy="361950"/>
          </a:xfrm>
          <a:prstGeom prst="rect">
            <a:avLst/>
          </a:prstGeom>
        </p:spPr>
      </p:pic>
      <p:pic>
        <p:nvPicPr>
          <p:cNvPr id="56" name="Picture 55" descr="349_3_605E5C.png"/>
          <p:cNvPicPr>
            <a:picLocks noChangeAspect="1"/>
          </p:cNvPicPr>
          <p:nvPr/>
        </p:nvPicPr>
        <p:blipFill>
          <a:blip r:embed="rId7"/>
          <a:stretch>
            <a:fillRect/>
          </a:stretch>
        </p:blipFill>
        <p:spPr>
          <a:xfrm>
            <a:off x="5005218" y="2286582"/>
            <a:ext cx="1195728" cy="361950"/>
          </a:xfrm>
          <a:prstGeom prst="rect">
            <a:avLst/>
          </a:prstGeom>
        </p:spPr>
      </p:pic>
      <p:pic>
        <p:nvPicPr>
          <p:cNvPr id="57" name="Picture 56" descr="566_6_605E5C.png"/>
          <p:cNvPicPr>
            <a:picLocks noChangeAspect="1"/>
          </p:cNvPicPr>
          <p:nvPr/>
        </p:nvPicPr>
        <p:blipFill>
          <a:blip r:embed="rId8"/>
          <a:stretch>
            <a:fillRect/>
          </a:stretch>
        </p:blipFill>
        <p:spPr>
          <a:xfrm>
            <a:off x="5005218" y="2779432"/>
            <a:ext cx="1195728" cy="361950"/>
          </a:xfrm>
          <a:prstGeom prst="rect">
            <a:avLst/>
          </a:prstGeom>
        </p:spPr>
      </p:pic>
      <p:pic>
        <p:nvPicPr>
          <p:cNvPr id="58" name="Picture 57" descr="5_0__605E5C.png"/>
          <p:cNvPicPr>
            <a:picLocks noChangeAspect="1"/>
          </p:cNvPicPr>
          <p:nvPr/>
        </p:nvPicPr>
        <p:blipFill>
          <a:blip r:embed="rId9"/>
          <a:stretch>
            <a:fillRect/>
          </a:stretch>
        </p:blipFill>
        <p:spPr>
          <a:xfrm>
            <a:off x="5111864" y="3272281"/>
            <a:ext cx="982436" cy="361950"/>
          </a:xfrm>
          <a:prstGeom prst="rect">
            <a:avLst/>
          </a:prstGeom>
        </p:spPr>
      </p:pic>
      <p:pic>
        <p:nvPicPr>
          <p:cNvPr id="59" name="Picture 58" descr="205_5_605E5C.png"/>
          <p:cNvPicPr>
            <a:picLocks noChangeAspect="1"/>
          </p:cNvPicPr>
          <p:nvPr/>
        </p:nvPicPr>
        <p:blipFill>
          <a:blip r:embed="rId10"/>
          <a:stretch>
            <a:fillRect/>
          </a:stretch>
        </p:blipFill>
        <p:spPr>
          <a:xfrm>
            <a:off x="7534105" y="2286582"/>
            <a:ext cx="1195728" cy="361950"/>
          </a:xfrm>
          <a:prstGeom prst="rect">
            <a:avLst/>
          </a:prstGeom>
        </p:spPr>
      </p:pic>
      <p:pic>
        <p:nvPicPr>
          <p:cNvPr id="60" name="Picture 59" descr="350_8_605E5C.png"/>
          <p:cNvPicPr>
            <a:picLocks noChangeAspect="1"/>
          </p:cNvPicPr>
          <p:nvPr/>
        </p:nvPicPr>
        <p:blipFill>
          <a:blip r:embed="rId11"/>
          <a:stretch>
            <a:fillRect/>
          </a:stretch>
        </p:blipFill>
        <p:spPr>
          <a:xfrm>
            <a:off x="7534105" y="2779432"/>
            <a:ext cx="1195728" cy="361950"/>
          </a:xfrm>
          <a:prstGeom prst="rect">
            <a:avLst/>
          </a:prstGeom>
        </p:spPr>
      </p:pic>
      <p:pic>
        <p:nvPicPr>
          <p:cNvPr id="61" name="Picture 60" descr="5_5__605E5C.png"/>
          <p:cNvPicPr>
            <a:picLocks noChangeAspect="1"/>
          </p:cNvPicPr>
          <p:nvPr/>
        </p:nvPicPr>
        <p:blipFill>
          <a:blip r:embed="rId12"/>
          <a:stretch>
            <a:fillRect/>
          </a:stretch>
        </p:blipFill>
        <p:spPr>
          <a:xfrm>
            <a:off x="7640751" y="3272281"/>
            <a:ext cx="982436" cy="361950"/>
          </a:xfrm>
          <a:prstGeom prst="rect">
            <a:avLst/>
          </a:prstGeom>
        </p:spPr>
      </p:pic>
      <p:pic>
        <p:nvPicPr>
          <p:cNvPr id="62" name="Picture 61" descr="148_3_605E5C.png"/>
          <p:cNvPicPr>
            <a:picLocks noChangeAspect="1"/>
          </p:cNvPicPr>
          <p:nvPr/>
        </p:nvPicPr>
        <p:blipFill>
          <a:blip r:embed="rId13"/>
          <a:stretch>
            <a:fillRect/>
          </a:stretch>
        </p:blipFill>
        <p:spPr>
          <a:xfrm>
            <a:off x="10062992" y="2286582"/>
            <a:ext cx="1195728" cy="361950"/>
          </a:xfrm>
          <a:prstGeom prst="rect">
            <a:avLst/>
          </a:prstGeom>
        </p:spPr>
      </p:pic>
      <p:pic>
        <p:nvPicPr>
          <p:cNvPr id="63" name="Picture 62" descr="230_4_605E5C.png"/>
          <p:cNvPicPr>
            <a:picLocks noChangeAspect="1"/>
          </p:cNvPicPr>
          <p:nvPr/>
        </p:nvPicPr>
        <p:blipFill>
          <a:blip r:embed="rId14"/>
          <a:stretch>
            <a:fillRect/>
          </a:stretch>
        </p:blipFill>
        <p:spPr>
          <a:xfrm>
            <a:off x="10062992" y="2779432"/>
            <a:ext cx="1195728" cy="361950"/>
          </a:xfrm>
          <a:prstGeom prst="rect">
            <a:avLst/>
          </a:prstGeom>
        </p:spPr>
      </p:pic>
      <p:pic>
        <p:nvPicPr>
          <p:cNvPr id="64" name="Picture 63" descr="4_5__605E5C.png"/>
          <p:cNvPicPr>
            <a:picLocks noChangeAspect="1"/>
          </p:cNvPicPr>
          <p:nvPr/>
        </p:nvPicPr>
        <p:blipFill>
          <a:blip r:embed="rId15"/>
          <a:stretch>
            <a:fillRect/>
          </a:stretch>
        </p:blipFill>
        <p:spPr>
          <a:xfrm>
            <a:off x="10169638" y="3272281"/>
            <a:ext cx="982436" cy="361950"/>
          </a:xfrm>
          <a:prstGeom prst="rect">
            <a:avLst/>
          </a:prstGeom>
        </p:spPr>
      </p:pic>
      <p:pic>
        <p:nvPicPr>
          <p:cNvPr id="65" name="Picture 64" descr="lock.png"/>
          <p:cNvPicPr>
            <a:picLocks noChangeAspect="1"/>
          </p:cNvPicPr>
          <p:nvPr/>
        </p:nvPicPr>
        <p:blipFill>
          <a:blip r:embed="rId16"/>
          <a:stretch>
            <a:fillRect/>
          </a:stretch>
        </p:blipFill>
        <p:spPr>
          <a:xfrm>
            <a:off x="2980848" y="2827057"/>
            <a:ext cx="183356" cy="266700"/>
          </a:xfrm>
          <a:prstGeom prst="rect">
            <a:avLst/>
          </a:prstGeom>
        </p:spPr>
      </p:pic>
      <p:pic>
        <p:nvPicPr>
          <p:cNvPr id="66" name="Picture 65" descr="lock.png"/>
          <p:cNvPicPr>
            <a:picLocks noChangeAspect="1"/>
          </p:cNvPicPr>
          <p:nvPr/>
        </p:nvPicPr>
        <p:blipFill>
          <a:blip r:embed="rId16"/>
          <a:stretch>
            <a:fillRect/>
          </a:stretch>
        </p:blipFill>
        <p:spPr>
          <a:xfrm>
            <a:off x="5509737" y="2827057"/>
            <a:ext cx="183356" cy="266700"/>
          </a:xfrm>
          <a:prstGeom prst="rect">
            <a:avLst/>
          </a:prstGeom>
        </p:spPr>
      </p:pic>
      <p:pic>
        <p:nvPicPr>
          <p:cNvPr id="67" name="Picture 66" descr="lock.png"/>
          <p:cNvPicPr>
            <a:picLocks noChangeAspect="1"/>
          </p:cNvPicPr>
          <p:nvPr/>
        </p:nvPicPr>
        <p:blipFill>
          <a:blip r:embed="rId16"/>
          <a:stretch>
            <a:fillRect/>
          </a:stretch>
        </p:blipFill>
        <p:spPr>
          <a:xfrm>
            <a:off x="8038624" y="2827057"/>
            <a:ext cx="183356" cy="266700"/>
          </a:xfrm>
          <a:prstGeom prst="rect">
            <a:avLst/>
          </a:prstGeom>
        </p:spPr>
      </p:pic>
      <p:pic>
        <p:nvPicPr>
          <p:cNvPr id="68" name="Picture 67" descr="lock.png"/>
          <p:cNvPicPr>
            <a:picLocks noChangeAspect="1"/>
          </p:cNvPicPr>
          <p:nvPr/>
        </p:nvPicPr>
        <p:blipFill>
          <a:blip r:embed="rId16"/>
          <a:stretch>
            <a:fillRect/>
          </a:stretch>
        </p:blipFill>
        <p:spPr>
          <a:xfrm>
            <a:off x="10567511" y="2827057"/>
            <a:ext cx="183356" cy="266700"/>
          </a:xfrm>
          <a:prstGeom prst="rect">
            <a:avLst/>
          </a:prstGeom>
        </p:spPr>
      </p:pic>
      <p:sp>
        <p:nvSpPr>
          <p:cNvPr id="69" name="TextBox 68"/>
          <p:cNvSpPr txBox="1"/>
          <p:nvPr/>
        </p:nvSpPr>
        <p:spPr>
          <a:xfrm>
            <a:off x="485775" y="4229437"/>
            <a:ext cx="2491209" cy="186689"/>
          </a:xfrm>
          <a:prstGeom prst="rect">
            <a:avLst/>
          </a:prstGeom>
          <a:noFill/>
        </p:spPr>
        <p:txBody>
          <a:bodyPr wrap="none" lIns="0" rIns="0" tIns="0" bIns="0">
            <a:spAutoFit/>
          </a:bodyPr>
          <a:lstStyle/>
          <a:p>
            <a:r>
              <a:rPr sz="1100" b="0">
                <a:solidFill>
                  <a:srgbClr val="2E2E2E"/>
                </a:solidFill>
                <a:latin typeface="Calibri"/>
              </a:rPr>
              <a:t>● Polyurethane (PU) Waterproof Coatings:</a:t>
            </a:r>
          </a:p>
        </p:txBody>
      </p:sp>
      <p:pic>
        <p:nvPicPr>
          <p:cNvPr id="70" name="Picture 69" descr="lock.png"/>
          <p:cNvPicPr>
            <a:picLocks noChangeAspect="1"/>
          </p:cNvPicPr>
          <p:nvPr/>
        </p:nvPicPr>
        <p:blipFill>
          <a:blip r:embed="rId16"/>
          <a:stretch>
            <a:fillRect/>
          </a:stretch>
        </p:blipFill>
        <p:spPr>
          <a:xfrm>
            <a:off x="2925035" y="4219658"/>
            <a:ext cx="128699" cy="187198"/>
          </a:xfrm>
          <a:prstGeom prst="rect">
            <a:avLst/>
          </a:prstGeom>
        </p:spPr>
      </p:pic>
      <p:sp>
        <p:nvSpPr>
          <p:cNvPr id="71" name="TextBox 70"/>
          <p:cNvSpPr txBox="1"/>
          <p:nvPr/>
        </p:nvSpPr>
        <p:spPr>
          <a:xfrm>
            <a:off x="3092531"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2" name="Picture 71" descr="lock.png"/>
          <p:cNvPicPr>
            <a:picLocks noChangeAspect="1"/>
          </p:cNvPicPr>
          <p:nvPr/>
        </p:nvPicPr>
        <p:blipFill>
          <a:blip r:embed="rId16"/>
          <a:stretch>
            <a:fillRect/>
          </a:stretch>
        </p:blipFill>
        <p:spPr>
          <a:xfrm>
            <a:off x="3951981" y="4219658"/>
            <a:ext cx="128699" cy="187198"/>
          </a:xfrm>
          <a:prstGeom prst="rect">
            <a:avLst/>
          </a:prstGeom>
        </p:spPr>
      </p:pic>
      <p:sp>
        <p:nvSpPr>
          <p:cNvPr id="73" name="TextBox 72"/>
          <p:cNvSpPr txBox="1"/>
          <p:nvPr/>
        </p:nvSpPr>
        <p:spPr>
          <a:xfrm>
            <a:off x="4119477" y="4229437"/>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74" name="TextBox 73"/>
          <p:cNvSpPr txBox="1"/>
          <p:nvPr/>
        </p:nvSpPr>
        <p:spPr>
          <a:xfrm>
            <a:off x="485775" y="4447369"/>
            <a:ext cx="1788616" cy="186689"/>
          </a:xfrm>
          <a:prstGeom prst="rect">
            <a:avLst/>
          </a:prstGeom>
          <a:noFill/>
        </p:spPr>
        <p:txBody>
          <a:bodyPr wrap="none" lIns="0" rIns="0" tIns="0" bIns="0">
            <a:spAutoFit/>
          </a:bodyPr>
          <a:lstStyle/>
          <a:p>
            <a:r>
              <a:rPr sz="1100" b="0">
                <a:solidFill>
                  <a:srgbClr val="2E2E2E"/>
                </a:solidFill>
                <a:latin typeface="Calibri"/>
              </a:rPr>
              <a:t>● Epoxy Waterproof Coatings:</a:t>
            </a:r>
          </a:p>
        </p:txBody>
      </p:sp>
      <p:pic>
        <p:nvPicPr>
          <p:cNvPr id="75" name="Picture 74" descr="lock.png"/>
          <p:cNvPicPr>
            <a:picLocks noChangeAspect="1"/>
          </p:cNvPicPr>
          <p:nvPr/>
        </p:nvPicPr>
        <p:blipFill>
          <a:blip r:embed="rId16"/>
          <a:stretch>
            <a:fillRect/>
          </a:stretch>
        </p:blipFill>
        <p:spPr>
          <a:xfrm>
            <a:off x="2222443" y="4437590"/>
            <a:ext cx="128699" cy="187198"/>
          </a:xfrm>
          <a:prstGeom prst="rect">
            <a:avLst/>
          </a:prstGeom>
        </p:spPr>
      </p:pic>
      <p:sp>
        <p:nvSpPr>
          <p:cNvPr id="76" name="TextBox 75"/>
          <p:cNvSpPr txBox="1"/>
          <p:nvPr/>
        </p:nvSpPr>
        <p:spPr>
          <a:xfrm>
            <a:off x="2389938"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7" name="Picture 76" descr="lock.png"/>
          <p:cNvPicPr>
            <a:picLocks noChangeAspect="1"/>
          </p:cNvPicPr>
          <p:nvPr/>
        </p:nvPicPr>
        <p:blipFill>
          <a:blip r:embed="rId16"/>
          <a:stretch>
            <a:fillRect/>
          </a:stretch>
        </p:blipFill>
        <p:spPr>
          <a:xfrm>
            <a:off x="3249389" y="4437590"/>
            <a:ext cx="128699" cy="187198"/>
          </a:xfrm>
          <a:prstGeom prst="rect">
            <a:avLst/>
          </a:prstGeom>
        </p:spPr>
      </p:pic>
      <p:sp>
        <p:nvSpPr>
          <p:cNvPr id="78" name="TextBox 77"/>
          <p:cNvSpPr txBox="1"/>
          <p:nvPr/>
        </p:nvSpPr>
        <p:spPr>
          <a:xfrm>
            <a:off x="3416884"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79" name="TextBox 78"/>
          <p:cNvSpPr txBox="1"/>
          <p:nvPr/>
        </p:nvSpPr>
        <p:spPr>
          <a:xfrm>
            <a:off x="485775" y="4665301"/>
            <a:ext cx="2096938" cy="186689"/>
          </a:xfrm>
          <a:prstGeom prst="rect">
            <a:avLst/>
          </a:prstGeom>
          <a:noFill/>
        </p:spPr>
        <p:txBody>
          <a:bodyPr wrap="none" lIns="0" rIns="0" tIns="0" bIns="0">
            <a:spAutoFit/>
          </a:bodyPr>
          <a:lstStyle/>
          <a:p>
            <a:r>
              <a:rPr sz="1100" b="0">
                <a:solidFill>
                  <a:srgbClr val="2E2E2E"/>
                </a:solidFill>
                <a:latin typeface="Calibri"/>
              </a:rPr>
              <a:t>● Bituminous Waterproof Coatings:</a:t>
            </a:r>
          </a:p>
        </p:txBody>
      </p:sp>
      <p:pic>
        <p:nvPicPr>
          <p:cNvPr id="80" name="Picture 79" descr="lock.png"/>
          <p:cNvPicPr>
            <a:picLocks noChangeAspect="1"/>
          </p:cNvPicPr>
          <p:nvPr/>
        </p:nvPicPr>
        <p:blipFill>
          <a:blip r:embed="rId16"/>
          <a:stretch>
            <a:fillRect/>
          </a:stretch>
        </p:blipFill>
        <p:spPr>
          <a:xfrm>
            <a:off x="2530765" y="4655522"/>
            <a:ext cx="128699" cy="187198"/>
          </a:xfrm>
          <a:prstGeom prst="rect">
            <a:avLst/>
          </a:prstGeom>
        </p:spPr>
      </p:pic>
      <p:sp>
        <p:nvSpPr>
          <p:cNvPr id="81" name="TextBox 80"/>
          <p:cNvSpPr txBox="1"/>
          <p:nvPr/>
        </p:nvSpPr>
        <p:spPr>
          <a:xfrm>
            <a:off x="2698261"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2" name="Picture 81" descr="lock.png"/>
          <p:cNvPicPr>
            <a:picLocks noChangeAspect="1"/>
          </p:cNvPicPr>
          <p:nvPr/>
        </p:nvPicPr>
        <p:blipFill>
          <a:blip r:embed="rId16"/>
          <a:stretch>
            <a:fillRect/>
          </a:stretch>
        </p:blipFill>
        <p:spPr>
          <a:xfrm>
            <a:off x="3557711" y="4655522"/>
            <a:ext cx="128699" cy="187198"/>
          </a:xfrm>
          <a:prstGeom prst="rect">
            <a:avLst/>
          </a:prstGeom>
        </p:spPr>
      </p:pic>
      <p:sp>
        <p:nvSpPr>
          <p:cNvPr id="83" name="TextBox 82"/>
          <p:cNvSpPr txBox="1"/>
          <p:nvPr/>
        </p:nvSpPr>
        <p:spPr>
          <a:xfrm>
            <a:off x="3725207"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84" name="TextBox 83"/>
          <p:cNvSpPr txBox="1"/>
          <p:nvPr/>
        </p:nvSpPr>
        <p:spPr>
          <a:xfrm>
            <a:off x="485775" y="4883233"/>
            <a:ext cx="1825178" cy="186689"/>
          </a:xfrm>
          <a:prstGeom prst="rect">
            <a:avLst/>
          </a:prstGeom>
          <a:noFill/>
        </p:spPr>
        <p:txBody>
          <a:bodyPr wrap="none" lIns="0" rIns="0" tIns="0" bIns="0">
            <a:spAutoFit/>
          </a:bodyPr>
          <a:lstStyle/>
          <a:p>
            <a:r>
              <a:rPr sz="1100" b="0">
                <a:solidFill>
                  <a:srgbClr val="2E2E2E"/>
                </a:solidFill>
                <a:latin typeface="Calibri"/>
              </a:rPr>
              <a:t>● Acrylic Waterproof Coatings:</a:t>
            </a:r>
          </a:p>
        </p:txBody>
      </p:sp>
      <p:pic>
        <p:nvPicPr>
          <p:cNvPr id="85" name="Picture 84" descr="lock.png"/>
          <p:cNvPicPr>
            <a:picLocks noChangeAspect="1"/>
          </p:cNvPicPr>
          <p:nvPr/>
        </p:nvPicPr>
        <p:blipFill>
          <a:blip r:embed="rId16"/>
          <a:stretch>
            <a:fillRect/>
          </a:stretch>
        </p:blipFill>
        <p:spPr>
          <a:xfrm>
            <a:off x="2259005" y="4873454"/>
            <a:ext cx="128699" cy="187198"/>
          </a:xfrm>
          <a:prstGeom prst="rect">
            <a:avLst/>
          </a:prstGeom>
        </p:spPr>
      </p:pic>
      <p:sp>
        <p:nvSpPr>
          <p:cNvPr id="86" name="TextBox 85"/>
          <p:cNvSpPr txBox="1"/>
          <p:nvPr/>
        </p:nvSpPr>
        <p:spPr>
          <a:xfrm>
            <a:off x="2426500"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7" name="Picture 86" descr="lock.png"/>
          <p:cNvPicPr>
            <a:picLocks noChangeAspect="1"/>
          </p:cNvPicPr>
          <p:nvPr/>
        </p:nvPicPr>
        <p:blipFill>
          <a:blip r:embed="rId16"/>
          <a:stretch>
            <a:fillRect/>
          </a:stretch>
        </p:blipFill>
        <p:spPr>
          <a:xfrm>
            <a:off x="3285951" y="4873454"/>
            <a:ext cx="128699" cy="187198"/>
          </a:xfrm>
          <a:prstGeom prst="rect">
            <a:avLst/>
          </a:prstGeom>
        </p:spPr>
      </p:pic>
      <p:sp>
        <p:nvSpPr>
          <p:cNvPr id="88" name="TextBox 87"/>
          <p:cNvSpPr txBox="1"/>
          <p:nvPr/>
        </p:nvSpPr>
        <p:spPr>
          <a:xfrm>
            <a:off x="3453446" y="488323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Product Type / Chemistry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Product Type / Chemistry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Type / Chemistry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Product Type / Chemistry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572254" cy="186689"/>
          </a:xfrm>
          <a:prstGeom prst="rect">
            <a:avLst/>
          </a:prstGeom>
          <a:noFill/>
        </p:spPr>
        <p:txBody>
          <a:bodyPr wrap="none" lIns="0" rIns="0" tIns="0" bIns="0">
            <a:spAutoFit/>
          </a:bodyPr>
          <a:lstStyle/>
          <a:p>
            <a:r>
              <a:rPr sz="1100" b="0">
                <a:solidFill>
                  <a:srgbClr val="2E2E2E"/>
                </a:solidFill>
                <a:latin typeface="Calibri"/>
              </a:rPr>
              <a:t>Silicone waterproof coatings followed by polyurea waterproof coatings are expected to be the two most attractive product type / chemistry segments in the North America waterproof coatings market in</a:t>
            </a:r>
          </a:p>
        </p:txBody>
      </p:sp>
      <p:sp>
        <p:nvSpPr>
          <p:cNvPr id="20" name="TextBox 19"/>
          <p:cNvSpPr txBox="1"/>
          <p:nvPr/>
        </p:nvSpPr>
        <p:spPr>
          <a:xfrm>
            <a:off x="257175" y="5861685"/>
            <a:ext cx="7296926" cy="186689"/>
          </a:xfrm>
          <a:prstGeom prst="rect">
            <a:avLst/>
          </a:prstGeom>
          <a:noFill/>
        </p:spPr>
        <p:txBody>
          <a:bodyPr wrap="none" lIns="0" rIns="0" tIns="0" bIns="0">
            <a:spAutoFit/>
          </a:bodyPr>
          <a:lstStyle/>
          <a:p>
            <a:r>
              <a:rPr sz="1100" b="0">
                <a:solidFill>
                  <a:srgbClr val="2E2E2E"/>
                </a:solidFill>
                <a:latin typeface="Calibri"/>
              </a:rPr>
              <a:t>terms of value over the forecast period. Silicone waterproof coatings and polyurea waterproof coatings exhibit a CAGR index of</a:t>
            </a:r>
          </a:p>
        </p:txBody>
      </p:sp>
      <p:pic>
        <p:nvPicPr>
          <p:cNvPr id="21" name="Picture 20" descr="lock.png"/>
          <p:cNvPicPr>
            <a:picLocks noChangeAspect="1"/>
          </p:cNvPicPr>
          <p:nvPr/>
        </p:nvPicPr>
        <p:blipFill>
          <a:blip r:embed="rId6"/>
          <a:stretch>
            <a:fillRect/>
          </a:stretch>
        </p:blipFill>
        <p:spPr>
          <a:xfrm>
            <a:off x="7502153" y="5851905"/>
            <a:ext cx="128699" cy="187198"/>
          </a:xfrm>
          <a:prstGeom prst="rect">
            <a:avLst/>
          </a:prstGeom>
        </p:spPr>
      </p:pic>
      <p:sp>
        <p:nvSpPr>
          <p:cNvPr id="22" name="TextBox 21"/>
          <p:cNvSpPr txBox="1"/>
          <p:nvPr/>
        </p:nvSpPr>
        <p:spPr>
          <a:xfrm>
            <a:off x="7669649"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7907543" y="5851905"/>
            <a:ext cx="128699" cy="187198"/>
          </a:xfrm>
          <a:prstGeom prst="rect">
            <a:avLst/>
          </a:prstGeom>
        </p:spPr>
      </p:pic>
      <p:sp>
        <p:nvSpPr>
          <p:cNvPr id="24" name="TextBox 23"/>
          <p:cNvSpPr txBox="1"/>
          <p:nvPr/>
        </p:nvSpPr>
        <p:spPr>
          <a:xfrm>
            <a:off x="8075039"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9684012" y="5851905"/>
            <a:ext cx="128699" cy="187198"/>
          </a:xfrm>
          <a:prstGeom prst="rect">
            <a:avLst/>
          </a:prstGeom>
        </p:spPr>
      </p:pic>
      <p:sp>
        <p:nvSpPr>
          <p:cNvPr id="26" name="TextBox 25"/>
          <p:cNvSpPr txBox="1"/>
          <p:nvPr/>
        </p:nvSpPr>
        <p:spPr>
          <a:xfrm>
            <a:off x="9851508"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10089402" y="5851905"/>
            <a:ext cx="128699" cy="187198"/>
          </a:xfrm>
          <a:prstGeom prst="rect">
            <a:avLst/>
          </a:prstGeom>
        </p:spPr>
      </p:pic>
      <p:sp>
        <p:nvSpPr>
          <p:cNvPr id="28" name="TextBox 27"/>
          <p:cNvSpPr txBox="1"/>
          <p:nvPr/>
        </p:nvSpPr>
        <p:spPr>
          <a:xfrm>
            <a:off x="10256898" y="5861685"/>
            <a:ext cx="1231726" cy="186689"/>
          </a:xfrm>
          <a:prstGeom prst="rect">
            <a:avLst/>
          </a:prstGeom>
          <a:noFill/>
        </p:spPr>
        <p:txBody>
          <a:bodyPr wrap="none" lIns="0" rIns="0" tIns="0" bIns="0">
            <a:spAutoFit/>
          </a:bodyPr>
          <a:lstStyle/>
          <a:p>
            <a:r>
              <a:rPr sz="1100" b="0">
                <a:solidFill>
                  <a:srgbClr val="2E2E2E"/>
                </a:solidFill>
                <a:latin typeface="Calibri"/>
              </a:rPr>
              <a:t>respectively, against</a:t>
            </a:r>
          </a:p>
        </p:txBody>
      </p:sp>
      <p:sp>
        <p:nvSpPr>
          <p:cNvPr id="29" name="TextBox 28"/>
          <p:cNvSpPr txBox="1"/>
          <p:nvPr/>
        </p:nvSpPr>
        <p:spPr>
          <a:xfrm>
            <a:off x="257175" y="6029325"/>
            <a:ext cx="1419175" cy="186689"/>
          </a:xfrm>
          <a:prstGeom prst="rect">
            <a:avLst/>
          </a:prstGeom>
          <a:noFill/>
        </p:spPr>
        <p:txBody>
          <a:bodyPr wrap="none" lIns="0" rIns="0" tIns="0" bIns="0">
            <a:spAutoFit/>
          </a:bodyPr>
          <a:lstStyle/>
          <a:p>
            <a:r>
              <a:rPr sz="1100" b="0">
                <a:solidFill>
                  <a:srgbClr val="2E2E2E"/>
                </a:solidFill>
                <a:latin typeface="Calibri"/>
              </a:rPr>
              <a:t>the segment average of</a:t>
            </a:r>
          </a:p>
        </p:txBody>
      </p:sp>
      <p:pic>
        <p:nvPicPr>
          <p:cNvPr id="30" name="Picture 29" descr="lock.png"/>
          <p:cNvPicPr>
            <a:picLocks noChangeAspect="1"/>
          </p:cNvPicPr>
          <p:nvPr/>
        </p:nvPicPr>
        <p:blipFill>
          <a:blip r:embed="rId6"/>
          <a:stretch>
            <a:fillRect/>
          </a:stretch>
        </p:blipFill>
        <p:spPr>
          <a:xfrm>
            <a:off x="1624401" y="6019545"/>
            <a:ext cx="128699" cy="187198"/>
          </a:xfrm>
          <a:prstGeom prst="rect">
            <a:avLst/>
          </a:prstGeom>
        </p:spPr>
      </p:pic>
      <p:sp>
        <p:nvSpPr>
          <p:cNvPr id="31" name="TextBox 30"/>
          <p:cNvSpPr txBox="1"/>
          <p:nvPr/>
        </p:nvSpPr>
        <p:spPr>
          <a:xfrm>
            <a:off x="1791897" y="6029325"/>
            <a:ext cx="9908116" cy="186689"/>
          </a:xfrm>
          <a:prstGeom prst="rect">
            <a:avLst/>
          </a:prstGeom>
          <a:noFill/>
        </p:spPr>
        <p:txBody>
          <a:bodyPr wrap="none" lIns="0" rIns="0" tIns="0" bIns="0">
            <a:spAutoFit/>
          </a:bodyPr>
          <a:lstStyle/>
          <a:p>
            <a:r>
              <a:rPr sz="1100" b="0">
                <a:solidFill>
                  <a:srgbClr val="2E2E2E"/>
                </a:solidFill>
                <a:latin typeface="Calibri"/>
              </a:rPr>
              <a:t>. The acrylic waterproof coatings segment is expected to be less attractive as compared to other segments over the forecast period, owing to its lower CAGR and incremental</a:t>
            </a:r>
          </a:p>
        </p:txBody>
      </p:sp>
      <p:sp>
        <p:nvSpPr>
          <p:cNvPr id="32" name="TextBox 31"/>
          <p:cNvSpPr txBox="1"/>
          <p:nvPr/>
        </p:nvSpPr>
        <p:spPr>
          <a:xfrm>
            <a:off x="257175" y="6196965"/>
            <a:ext cx="5122845" cy="186689"/>
          </a:xfrm>
          <a:prstGeom prst="rect">
            <a:avLst/>
          </a:prstGeom>
          <a:noFill/>
        </p:spPr>
        <p:txBody>
          <a:bodyPr wrap="none" lIns="0" rIns="0" tIns="0" bIns="0">
            <a:spAutoFit/>
          </a:bodyPr>
          <a:lstStyle/>
          <a:p>
            <a:r>
              <a:rPr sz="1100" b="0">
                <a:solidFill>
                  <a:srgbClr val="2E2E2E"/>
                </a:solidFill>
                <a:latin typeface="Calibri"/>
              </a:rPr>
              <a:t>opportunity. Bubbles right of the CAGR-Index line grow faster 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Product Type / Chemistry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Type / Chemistry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Acrylic Waterproof Coatings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Polyurethane (PU) Waterproof Coatings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Epoxy Waterproof Coatings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Silicone Waterproof Coatings</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Product Type / Chemistry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Type / Chemistry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Bituminous Waterproof Coatings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Cementitious Waterproof Coatings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Polyurea Waterproof Coatings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Other Polymer-Based Coatings</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Product Type / Chemistry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Product Type / Chemistry, 2021–2036, highlighting the sub-segments driving growth</a:t>
            </a:r>
          </a:p>
        </p:txBody>
      </p:sp>
      <p:sp>
        <p:nvSpPr>
          <p:cNvPr id="10" name="Rounded Rectangle 9"/>
          <p:cNvSpPr/>
          <p:nvPr/>
        </p:nvSpPr>
        <p:spPr>
          <a:xfrm>
            <a:off x="142875" y="981075"/>
            <a:ext cx="11906250"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Product Type / Chemistry (US$ Mn)</a:t>
            </a:r>
          </a:p>
        </p:txBody>
      </p:sp>
      <p:graphicFrame>
        <p:nvGraphicFramePr>
          <p:cNvPr id="12" name="Table 11"/>
          <p:cNvGraphicFramePr>
            <a:graphicFrameLocks noGrp="1"/>
          </p:cNvGraphicFramePr>
          <p:nvPr/>
        </p:nvGraphicFramePr>
        <p:xfrm>
          <a:off x="152400" y="1238250"/>
          <a:ext cx="11887201" cy="2466975"/>
        </p:xfrm>
        <a:graphic>
          <a:graphicData uri="http://schemas.openxmlformats.org/drawingml/2006/table">
            <a:tbl>
              <a:tblPr>
                <a:tableStyleId>{5C22544A-7EE6-4342-B048-85BDC9FD1C3A}</a:tableStyleId>
              </a:tblPr>
              <a:tblGrid>
                <a:gridCol w="2796592"/>
                <a:gridCol w="546059"/>
                <a:gridCol w="546059"/>
                <a:gridCol w="546059"/>
                <a:gridCol w="546059"/>
                <a:gridCol w="546059"/>
                <a:gridCol w="526824"/>
                <a:gridCol w="521328"/>
                <a:gridCol w="521328"/>
                <a:gridCol w="521328"/>
                <a:gridCol w="521328"/>
                <a:gridCol w="521328"/>
                <a:gridCol w="521328"/>
                <a:gridCol w="521328"/>
                <a:gridCol w="521328"/>
                <a:gridCol w="521328"/>
                <a:gridCol w="521328"/>
                <a:gridCol w="620210"/>
              </a:tblGrid>
              <a:tr h="246126">
                <a:tc>
                  <a:txBody>
                    <a:bodyPr wrap="none"/>
                    <a:lstStyle/>
                    <a:p>
                      <a:pPr algn="l"/>
                      <a:r>
                        <a:rPr sz="1100" b="1">
                          <a:solidFill>
                            <a:srgbClr val="0B2E4A"/>
                          </a:solidFill>
                          <a:latin typeface="Calibri"/>
                        </a:rPr>
                        <a:t>Product Type / Chemistry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761">
                <a:tc>
                  <a:txBody>
                    <a:bodyPr wrap="none"/>
                    <a:lstStyle/>
                    <a:p>
                      <a:pPr algn="l"/>
                      <a:r>
                        <a:rPr sz="1100" b="1">
                          <a:solidFill>
                            <a:srgbClr val="2E2E2E"/>
                          </a:solidFill>
                          <a:latin typeface="Calibri"/>
                        </a:rPr>
                        <a:t>Acrylic Waterproof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Polyurethane (PU) Waterproof Coatings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Epoxy Waterproof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Silicone Waterproof Coatings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Bituminous Waterproof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Cementitious Waterproof Coatings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Polyurea Waterproof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Other Polymer-Based Coatings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7147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048125"/>
            <a:ext cx="11906250" cy="2581275"/>
          </a:xfrm>
          <a:prstGeom prst="roundRect">
            <a:avLst>
              <a:gd name="adj" fmla="val 295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13385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Product Type / Chemistry</a:t>
            </a:r>
          </a:p>
        </p:txBody>
      </p:sp>
      <p:sp>
        <p:nvSpPr>
          <p:cNvPr id="16" name="Rectangle 15"/>
          <p:cNvSpPr/>
          <p:nvPr/>
        </p:nvSpPr>
        <p:spPr>
          <a:xfrm>
            <a:off x="276225" y="43719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457700"/>
            <a:ext cx="11639550" cy="20955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307606" y="2328100"/>
            <a:ext cx="366712" cy="533399"/>
          </a:xfrm>
          <a:prstGeom prst="rect">
            <a:avLst/>
          </a:prstGeom>
        </p:spPr>
      </p:pic>
      <p:sp>
        <p:nvSpPr>
          <p:cNvPr id="20" name="TextBox 19"/>
          <p:cNvSpPr txBox="1"/>
          <p:nvPr/>
        </p:nvSpPr>
        <p:spPr>
          <a:xfrm>
            <a:off x="276225" y="4467225"/>
            <a:ext cx="3799904" cy="194310"/>
          </a:xfrm>
          <a:prstGeom prst="rect">
            <a:avLst/>
          </a:prstGeom>
          <a:noFill/>
        </p:spPr>
        <p:txBody>
          <a:bodyPr wrap="none" lIns="0" rIns="0" tIns="0" bIns="0">
            <a:spAutoFit/>
          </a:bodyPr>
          <a:lstStyle/>
          <a:p>
            <a:r>
              <a:rPr sz="1150" b="0">
                <a:solidFill>
                  <a:srgbClr val="2E2E2E"/>
                </a:solidFill>
                <a:latin typeface="Calibri"/>
              </a:rPr>
              <a:t>Other polymer-based coatings segment is projected to register</a:t>
            </a:r>
          </a:p>
        </p:txBody>
      </p:sp>
      <p:pic>
        <p:nvPicPr>
          <p:cNvPr id="21" name="Picture 20" descr="lock.png"/>
          <p:cNvPicPr>
            <a:picLocks noChangeAspect="1"/>
          </p:cNvPicPr>
          <p:nvPr/>
        </p:nvPicPr>
        <p:blipFill>
          <a:blip r:embed="rId4"/>
          <a:stretch>
            <a:fillRect/>
          </a:stretch>
        </p:blipFill>
        <p:spPr>
          <a:xfrm>
            <a:off x="4025283" y="4457001"/>
            <a:ext cx="134549" cy="195707"/>
          </a:xfrm>
          <a:prstGeom prst="rect">
            <a:avLst/>
          </a:prstGeom>
        </p:spPr>
      </p:pic>
      <p:sp>
        <p:nvSpPr>
          <p:cNvPr id="22" name="TextBox 21"/>
          <p:cNvSpPr txBox="1"/>
          <p:nvPr/>
        </p:nvSpPr>
        <p:spPr>
          <a:xfrm>
            <a:off x="4200392" y="4467225"/>
            <a:ext cx="7480820" cy="194310"/>
          </a:xfrm>
          <a:prstGeom prst="rect">
            <a:avLst/>
          </a:prstGeom>
          <a:noFill/>
        </p:spPr>
        <p:txBody>
          <a:bodyPr wrap="none" lIns="0" rIns="0" tIns="0" bIns="0">
            <a:spAutoFit/>
          </a:bodyPr>
          <a:lstStyle/>
          <a:p>
            <a:r>
              <a:rPr sz="1150" b="0">
                <a:solidFill>
                  <a:srgbClr val="2E2E2E"/>
                </a:solidFill>
                <a:latin typeface="Calibri"/>
              </a:rPr>
              <a:t>X higher value than polyurea waterproof coatings segment in 2036. Among waterproof coatings by product type / chemistry,</a:t>
            </a:r>
          </a:p>
        </p:txBody>
      </p:sp>
      <p:sp>
        <p:nvSpPr>
          <p:cNvPr id="23" name="TextBox 22"/>
          <p:cNvSpPr txBox="1"/>
          <p:nvPr/>
        </p:nvSpPr>
        <p:spPr>
          <a:xfrm>
            <a:off x="276225" y="4642485"/>
            <a:ext cx="4869874" cy="194310"/>
          </a:xfrm>
          <a:prstGeom prst="rect">
            <a:avLst/>
          </a:prstGeom>
          <a:noFill/>
        </p:spPr>
        <p:txBody>
          <a:bodyPr wrap="none" lIns="0" rIns="0" tIns="0" bIns="0">
            <a:spAutoFit/>
          </a:bodyPr>
          <a:lstStyle/>
          <a:p>
            <a:r>
              <a:rPr sz="1150" b="0">
                <a:solidFill>
                  <a:srgbClr val="2E2E2E"/>
                </a:solidFill>
                <a:latin typeface="Calibri"/>
              </a:rPr>
              <a:t>silicone waterproof coatings segment is expected to witness the highest CAGR of</a:t>
            </a:r>
          </a:p>
        </p:txBody>
      </p:sp>
      <p:pic>
        <p:nvPicPr>
          <p:cNvPr id="24" name="Picture 23" descr="lock.png"/>
          <p:cNvPicPr>
            <a:picLocks noChangeAspect="1"/>
          </p:cNvPicPr>
          <p:nvPr/>
        </p:nvPicPr>
        <p:blipFill>
          <a:blip r:embed="rId4"/>
          <a:stretch>
            <a:fillRect/>
          </a:stretch>
        </p:blipFill>
        <p:spPr>
          <a:xfrm>
            <a:off x="5095253" y="4632261"/>
            <a:ext cx="134549" cy="195707"/>
          </a:xfrm>
          <a:prstGeom prst="rect">
            <a:avLst/>
          </a:prstGeom>
        </p:spPr>
      </p:pic>
      <p:sp>
        <p:nvSpPr>
          <p:cNvPr id="25" name="TextBox 24"/>
          <p:cNvSpPr txBox="1"/>
          <p:nvPr/>
        </p:nvSpPr>
        <p:spPr>
          <a:xfrm>
            <a:off x="5270362" y="46424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870322"/>
            <a:ext cx="8322034" cy="194310"/>
          </a:xfrm>
          <a:prstGeom prst="rect">
            <a:avLst/>
          </a:prstGeom>
          <a:noFill/>
        </p:spPr>
        <p:txBody>
          <a:bodyPr wrap="none" lIns="0" rIns="0" tIns="0" bIns="0">
            <a:spAutoFit/>
          </a:bodyPr>
          <a:lstStyle/>
          <a:p>
            <a:r>
              <a:rPr sz="1150" b="0">
                <a:solidFill>
                  <a:srgbClr val="2E2E2E"/>
                </a:solidFill>
                <a:latin typeface="Calibri"/>
              </a:rPr>
              <a:t>In terms of value share by product type / chemistry, the other polymer-based coatings segment is expected to dominate the market, losing</a:t>
            </a:r>
          </a:p>
        </p:txBody>
      </p:sp>
      <p:pic>
        <p:nvPicPr>
          <p:cNvPr id="27" name="Picture 26" descr="lock.png"/>
          <p:cNvPicPr>
            <a:picLocks noChangeAspect="1"/>
          </p:cNvPicPr>
          <p:nvPr/>
        </p:nvPicPr>
        <p:blipFill>
          <a:blip r:embed="rId4"/>
          <a:stretch>
            <a:fillRect/>
          </a:stretch>
        </p:blipFill>
        <p:spPr>
          <a:xfrm>
            <a:off x="8547413" y="4860099"/>
            <a:ext cx="134549" cy="195707"/>
          </a:xfrm>
          <a:prstGeom prst="rect">
            <a:avLst/>
          </a:prstGeom>
        </p:spPr>
      </p:pic>
      <p:sp>
        <p:nvSpPr>
          <p:cNvPr id="28" name="TextBox 27"/>
          <p:cNvSpPr txBox="1"/>
          <p:nvPr/>
        </p:nvSpPr>
        <p:spPr>
          <a:xfrm>
            <a:off x="8722522" y="48703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10117666" y="4860099"/>
            <a:ext cx="134549" cy="195707"/>
          </a:xfrm>
          <a:prstGeom prst="rect">
            <a:avLst/>
          </a:prstGeom>
        </p:spPr>
      </p:pic>
      <p:sp>
        <p:nvSpPr>
          <p:cNvPr id="30" name="TextBox 29"/>
          <p:cNvSpPr txBox="1"/>
          <p:nvPr/>
        </p:nvSpPr>
        <p:spPr>
          <a:xfrm>
            <a:off x="10292775" y="4870322"/>
            <a:ext cx="1200100" cy="194310"/>
          </a:xfrm>
          <a:prstGeom prst="rect">
            <a:avLst/>
          </a:prstGeom>
          <a:noFill/>
        </p:spPr>
        <p:txBody>
          <a:bodyPr wrap="none" lIns="0" rIns="0" tIns="0" bIns="0">
            <a:spAutoFit/>
          </a:bodyPr>
          <a:lstStyle/>
          <a:p>
            <a:r>
              <a:rPr sz="1150" b="0">
                <a:solidFill>
                  <a:srgbClr val="2E2E2E"/>
                </a:solidFill>
                <a:latin typeface="Calibri"/>
              </a:rPr>
              <a:t>share by 2036. The</a:t>
            </a:r>
          </a:p>
        </p:txBody>
      </p:sp>
      <p:sp>
        <p:nvSpPr>
          <p:cNvPr id="31" name="TextBox 30"/>
          <p:cNvSpPr txBox="1"/>
          <p:nvPr/>
        </p:nvSpPr>
        <p:spPr>
          <a:xfrm>
            <a:off x="276225" y="5045582"/>
            <a:ext cx="3769382" cy="194310"/>
          </a:xfrm>
          <a:prstGeom prst="rect">
            <a:avLst/>
          </a:prstGeom>
          <a:noFill/>
        </p:spPr>
        <p:txBody>
          <a:bodyPr wrap="none" lIns="0" rIns="0" tIns="0" bIns="0">
            <a:spAutoFit/>
          </a:bodyPr>
          <a:lstStyle/>
          <a:p>
            <a:r>
              <a:rPr sz="1150" b="0">
                <a:solidFill>
                  <a:srgbClr val="2E2E2E"/>
                </a:solidFill>
                <a:latin typeface="Calibri"/>
              </a:rPr>
              <a:t>cementitious waterproof coatings segment is expected to lose</a:t>
            </a:r>
          </a:p>
        </p:txBody>
      </p:sp>
      <p:pic>
        <p:nvPicPr>
          <p:cNvPr id="32" name="Picture 31" descr="lock.png"/>
          <p:cNvPicPr>
            <a:picLocks noChangeAspect="1"/>
          </p:cNvPicPr>
          <p:nvPr/>
        </p:nvPicPr>
        <p:blipFill>
          <a:blip r:embed="rId4"/>
          <a:stretch>
            <a:fillRect/>
          </a:stretch>
        </p:blipFill>
        <p:spPr>
          <a:xfrm>
            <a:off x="3994761" y="5035359"/>
            <a:ext cx="134549" cy="195707"/>
          </a:xfrm>
          <a:prstGeom prst="rect">
            <a:avLst/>
          </a:prstGeom>
        </p:spPr>
      </p:pic>
      <p:sp>
        <p:nvSpPr>
          <p:cNvPr id="33" name="TextBox 32"/>
          <p:cNvSpPr txBox="1"/>
          <p:nvPr/>
        </p:nvSpPr>
        <p:spPr>
          <a:xfrm>
            <a:off x="4169870" y="504558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6757375" y="5035359"/>
            <a:ext cx="134549" cy="195707"/>
          </a:xfrm>
          <a:prstGeom prst="rect">
            <a:avLst/>
          </a:prstGeom>
        </p:spPr>
      </p:pic>
      <p:sp>
        <p:nvSpPr>
          <p:cNvPr id="35" name="TextBox 34"/>
          <p:cNvSpPr txBox="1"/>
          <p:nvPr/>
        </p:nvSpPr>
        <p:spPr>
          <a:xfrm>
            <a:off x="6932484" y="50455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Product Type / Chemistry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Product Type / Chemistry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Product Type / Chemistry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751925"/>
            <a:ext cx="85725" cy="85725"/>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174716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67096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Acrylic Waterproof Coatings</a:t>
            </a:r>
          </a:p>
        </p:txBody>
      </p:sp>
      <p:sp>
        <p:nvSpPr>
          <p:cNvPr id="18" name="BPS Value 1"/>
          <p:cNvSpPr txBox="1"/>
          <p:nvPr/>
        </p:nvSpPr>
        <p:spPr>
          <a:xfrm>
            <a:off x="6896100" y="173287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1955417"/>
            <a:ext cx="85725" cy="857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195065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187445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Bituminous Waterproof Coatings</a:t>
            </a:r>
          </a:p>
        </p:txBody>
      </p:sp>
      <p:sp>
        <p:nvSpPr>
          <p:cNvPr id="22" name="BPS Value 2"/>
          <p:cNvSpPr txBox="1"/>
          <p:nvPr/>
        </p:nvSpPr>
        <p:spPr>
          <a:xfrm>
            <a:off x="6896100" y="193636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928997" y="2276629"/>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5090922" y="227186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19566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Epoxy Waterproof Coatings</a:t>
            </a:r>
          </a:p>
        </p:txBody>
      </p:sp>
      <p:sp>
        <p:nvSpPr>
          <p:cNvPr id="26" name="BPS Value 3"/>
          <p:cNvSpPr txBox="1"/>
          <p:nvPr/>
        </p:nvSpPr>
        <p:spPr>
          <a:xfrm>
            <a:off x="6896100" y="225757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928997" y="2690918"/>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5090922" y="268615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260995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Polyurethane (PU) Waterproof Coatings</a:t>
            </a:r>
          </a:p>
        </p:txBody>
      </p:sp>
      <p:sp>
        <p:nvSpPr>
          <p:cNvPr id="30" name="BPS Value 4"/>
          <p:cNvSpPr txBox="1"/>
          <p:nvPr/>
        </p:nvSpPr>
        <p:spPr>
          <a:xfrm>
            <a:off x="6896100" y="267186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FMI Legend Chip"/>
          <p:cNvSpPr/>
          <p:nvPr/>
        </p:nvSpPr>
        <p:spPr>
          <a:xfrm>
            <a:off x="4928997" y="3222112"/>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rot="10800000">
            <a:off x="5090922" y="321735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314115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Cementitious Waterproof Coatings</a:t>
            </a:r>
          </a:p>
        </p:txBody>
      </p:sp>
      <p:sp>
        <p:nvSpPr>
          <p:cNvPr id="34" name="BPS Value 5"/>
          <p:cNvSpPr txBox="1"/>
          <p:nvPr/>
        </p:nvSpPr>
        <p:spPr>
          <a:xfrm>
            <a:off x="6896100" y="320306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5" name="FMI Legend Chip"/>
          <p:cNvSpPr/>
          <p:nvPr/>
        </p:nvSpPr>
        <p:spPr>
          <a:xfrm>
            <a:off x="4928997" y="3973449"/>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5090922" y="396868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5233797" y="389248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Silicone Waterproof Coatings</a:t>
            </a:r>
          </a:p>
        </p:txBody>
      </p:sp>
      <p:sp>
        <p:nvSpPr>
          <p:cNvPr id="38" name="BPS Value 6"/>
          <p:cNvSpPr txBox="1"/>
          <p:nvPr/>
        </p:nvSpPr>
        <p:spPr>
          <a:xfrm>
            <a:off x="6896100" y="395439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FMI Legend Chip"/>
          <p:cNvSpPr/>
          <p:nvPr/>
        </p:nvSpPr>
        <p:spPr>
          <a:xfrm>
            <a:off x="4928997" y="4859209"/>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Isosceles Triangle 39"/>
          <p:cNvSpPr/>
          <p:nvPr/>
        </p:nvSpPr>
        <p:spPr>
          <a:xfrm>
            <a:off x="5090922" y="485444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PS Name 7"/>
          <p:cNvSpPr txBox="1"/>
          <p:nvPr/>
        </p:nvSpPr>
        <p:spPr>
          <a:xfrm>
            <a:off x="5233797" y="477824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Polyurea Waterproof Coatings</a:t>
            </a:r>
          </a:p>
        </p:txBody>
      </p:sp>
      <p:sp>
        <p:nvSpPr>
          <p:cNvPr id="42" name="BPS Value 7"/>
          <p:cNvSpPr txBox="1"/>
          <p:nvPr/>
        </p:nvSpPr>
        <p:spPr>
          <a:xfrm>
            <a:off x="6896100" y="484015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3" name="FMI Legend Chip"/>
          <p:cNvSpPr/>
          <p:nvPr/>
        </p:nvSpPr>
        <p:spPr>
          <a:xfrm>
            <a:off x="4928997" y="5776282"/>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Isosceles Triangle 43"/>
          <p:cNvSpPr/>
          <p:nvPr/>
        </p:nvSpPr>
        <p:spPr>
          <a:xfrm rot="10800000">
            <a:off x="5090922" y="577152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PS Name 8"/>
          <p:cNvSpPr txBox="1"/>
          <p:nvPr/>
        </p:nvSpPr>
        <p:spPr>
          <a:xfrm>
            <a:off x="5233797" y="569532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Polymer-Based Coatings</a:t>
            </a:r>
          </a:p>
        </p:txBody>
      </p:sp>
      <p:sp>
        <p:nvSpPr>
          <p:cNvPr id="46" name="BPS Value 8"/>
          <p:cNvSpPr txBox="1"/>
          <p:nvPr/>
        </p:nvSpPr>
        <p:spPr>
          <a:xfrm>
            <a:off x="6896100" y="575723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47" name="Rounded Rectangle 46"/>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829550" y="1066800"/>
            <a:ext cx="4076700" cy="407620"/>
          </a:xfrm>
          <a:prstGeom prst="rect">
            <a:avLst/>
          </a:prstGeom>
          <a:noFill/>
        </p:spPr>
        <p:txBody>
          <a:bodyPr wrap="square" lIns="0" rIns="19050" tIns="9525" bIns="9525">
            <a:spAutoFit/>
          </a:bodyPr>
          <a:lstStyle/>
          <a:p>
            <a:pPr algn="l"/>
            <a:r>
              <a:rPr sz="1300" b="1">
                <a:solidFill>
                  <a:srgbClr val="0B2E4A"/>
                </a:solidFill>
                <a:latin typeface="Calibri"/>
              </a:rPr>
              <a:t>North America Read-out, By Product Type / Chemistry</a:t>
            </a:r>
          </a:p>
        </p:txBody>
      </p:sp>
      <p:sp>
        <p:nvSpPr>
          <p:cNvPr id="49" name="Rectangle 48"/>
          <p:cNvSpPr/>
          <p:nvPr/>
        </p:nvSpPr>
        <p:spPr>
          <a:xfrm>
            <a:off x="7829550" y="150299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829550" y="1588720"/>
            <a:ext cx="4076700"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51" name="TextBox 5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2" name="Picture 51" descr="lock.png"/>
          <p:cNvPicPr>
            <a:picLocks noChangeAspect="1"/>
          </p:cNvPicPr>
          <p:nvPr/>
        </p:nvPicPr>
        <p:blipFill>
          <a:blip r:embed="rId5"/>
          <a:stretch>
            <a:fillRect/>
          </a:stretch>
        </p:blipFill>
        <p:spPr>
          <a:xfrm>
            <a:off x="2557843" y="3833622"/>
            <a:ext cx="275034" cy="400050"/>
          </a:xfrm>
          <a:prstGeom prst="rect">
            <a:avLst/>
          </a:prstGeom>
        </p:spPr>
      </p:pic>
      <p:sp>
        <p:nvSpPr>
          <p:cNvPr id="53" name="TextBox 52"/>
          <p:cNvSpPr txBox="1"/>
          <p:nvPr/>
        </p:nvSpPr>
        <p:spPr>
          <a:xfrm>
            <a:off x="7829550" y="1598245"/>
            <a:ext cx="3933403" cy="194310"/>
          </a:xfrm>
          <a:prstGeom prst="rect">
            <a:avLst/>
          </a:prstGeom>
          <a:noFill/>
        </p:spPr>
        <p:txBody>
          <a:bodyPr wrap="none" lIns="0" rIns="0" tIns="0" bIns="0">
            <a:spAutoFit/>
          </a:bodyPr>
          <a:lstStyle/>
          <a:p>
            <a:r>
              <a:rPr sz="1150" b="0">
                <a:solidFill>
                  <a:srgbClr val="2E2E2E"/>
                </a:solidFill>
                <a:latin typeface="Calibri"/>
              </a:rPr>
              <a:t>Among waterproof coatings by product type / chemistry, silicone</a:t>
            </a:r>
          </a:p>
        </p:txBody>
      </p:sp>
      <p:sp>
        <p:nvSpPr>
          <p:cNvPr id="54" name="TextBox 53"/>
          <p:cNvSpPr txBox="1"/>
          <p:nvPr/>
        </p:nvSpPr>
        <p:spPr>
          <a:xfrm>
            <a:off x="7829550" y="1773505"/>
            <a:ext cx="3868935" cy="194310"/>
          </a:xfrm>
          <a:prstGeom prst="rect">
            <a:avLst/>
          </a:prstGeom>
          <a:noFill/>
        </p:spPr>
        <p:txBody>
          <a:bodyPr wrap="none" lIns="0" rIns="0" tIns="0" bIns="0">
            <a:spAutoFit/>
          </a:bodyPr>
          <a:lstStyle/>
          <a:p>
            <a:r>
              <a:rPr sz="1150" b="0">
                <a:solidFill>
                  <a:srgbClr val="2E2E2E"/>
                </a:solidFill>
                <a:latin typeface="Calibri"/>
              </a:rPr>
              <a:t>waterproof coatings segment is expected to witness the highest</a:t>
            </a:r>
          </a:p>
        </p:txBody>
      </p:sp>
      <p:sp>
        <p:nvSpPr>
          <p:cNvPr id="55" name="TextBox 54"/>
          <p:cNvSpPr txBox="1"/>
          <p:nvPr/>
        </p:nvSpPr>
        <p:spPr>
          <a:xfrm>
            <a:off x="7829550" y="1948765"/>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56" name="Picture 55" descr="lock.png"/>
          <p:cNvPicPr>
            <a:picLocks noChangeAspect="1"/>
          </p:cNvPicPr>
          <p:nvPr/>
        </p:nvPicPr>
        <p:blipFill>
          <a:blip r:embed="rId5"/>
          <a:stretch>
            <a:fillRect/>
          </a:stretch>
        </p:blipFill>
        <p:spPr>
          <a:xfrm>
            <a:off x="8343240" y="1938541"/>
            <a:ext cx="134549" cy="195707"/>
          </a:xfrm>
          <a:prstGeom prst="rect">
            <a:avLst/>
          </a:prstGeom>
        </p:spPr>
      </p:pic>
      <p:sp>
        <p:nvSpPr>
          <p:cNvPr id="57" name="TextBox 56"/>
          <p:cNvSpPr txBox="1"/>
          <p:nvPr/>
        </p:nvSpPr>
        <p:spPr>
          <a:xfrm>
            <a:off x="8518350" y="1948765"/>
            <a:ext cx="3118147"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a:t>
            </a:r>
          </a:p>
        </p:txBody>
      </p:sp>
      <p:sp>
        <p:nvSpPr>
          <p:cNvPr id="58" name="TextBox 57"/>
          <p:cNvSpPr txBox="1"/>
          <p:nvPr/>
        </p:nvSpPr>
        <p:spPr>
          <a:xfrm>
            <a:off x="7829550" y="2124025"/>
            <a:ext cx="3631034" cy="194310"/>
          </a:xfrm>
          <a:prstGeom prst="rect">
            <a:avLst/>
          </a:prstGeom>
          <a:noFill/>
        </p:spPr>
        <p:txBody>
          <a:bodyPr wrap="none" lIns="0" rIns="0" tIns="0" bIns="0">
            <a:spAutoFit/>
          </a:bodyPr>
          <a:lstStyle/>
          <a:p>
            <a:r>
              <a:rPr sz="1150" b="0">
                <a:solidFill>
                  <a:srgbClr val="2E2E2E"/>
                </a:solidFill>
                <a:latin typeface="Calibri"/>
              </a:rPr>
              <a:t>product type / chemistry, the other polymer-based coatings</a:t>
            </a:r>
          </a:p>
        </p:txBody>
      </p:sp>
      <p:sp>
        <p:nvSpPr>
          <p:cNvPr id="59" name="TextBox 58"/>
          <p:cNvSpPr txBox="1"/>
          <p:nvPr/>
        </p:nvSpPr>
        <p:spPr>
          <a:xfrm>
            <a:off x="7829550" y="2299285"/>
            <a:ext cx="3164644" cy="194310"/>
          </a:xfrm>
          <a:prstGeom prst="rect">
            <a:avLst/>
          </a:prstGeom>
          <a:noFill/>
        </p:spPr>
        <p:txBody>
          <a:bodyPr wrap="none" lIns="0" rIns="0" tIns="0" bIns="0">
            <a:spAutoFit/>
          </a:bodyPr>
          <a:lstStyle/>
          <a:p>
            <a:r>
              <a:rPr sz="1150" b="0">
                <a:solidFill>
                  <a:srgbClr val="2E2E2E"/>
                </a:solidFill>
                <a:latin typeface="Calibri"/>
              </a:rPr>
              <a:t>segment is expected to dominate the market, losing</a:t>
            </a:r>
          </a:p>
        </p:txBody>
      </p:sp>
      <p:pic>
        <p:nvPicPr>
          <p:cNvPr id="60" name="Picture 59" descr="lock.png"/>
          <p:cNvPicPr>
            <a:picLocks noChangeAspect="1"/>
          </p:cNvPicPr>
          <p:nvPr/>
        </p:nvPicPr>
        <p:blipFill>
          <a:blip r:embed="rId5"/>
          <a:stretch>
            <a:fillRect/>
          </a:stretch>
        </p:blipFill>
        <p:spPr>
          <a:xfrm>
            <a:off x="10943347" y="2289061"/>
            <a:ext cx="134549" cy="195707"/>
          </a:xfrm>
          <a:prstGeom prst="rect">
            <a:avLst/>
          </a:prstGeom>
        </p:spPr>
      </p:pic>
      <p:sp>
        <p:nvSpPr>
          <p:cNvPr id="61" name="TextBox 60"/>
          <p:cNvSpPr txBox="1"/>
          <p:nvPr/>
        </p:nvSpPr>
        <p:spPr>
          <a:xfrm>
            <a:off x="11118457" y="2299285"/>
            <a:ext cx="554856" cy="194310"/>
          </a:xfrm>
          <a:prstGeom prst="rect">
            <a:avLst/>
          </a:prstGeom>
          <a:noFill/>
        </p:spPr>
        <p:txBody>
          <a:bodyPr wrap="none" lIns="0" rIns="0" tIns="0" bIns="0">
            <a:spAutoFit/>
          </a:bodyPr>
          <a:lstStyle/>
          <a:p>
            <a:r>
              <a:rPr sz="1150" b="0">
                <a:solidFill>
                  <a:srgbClr val="2E2E2E"/>
                </a:solidFill>
                <a:latin typeface="Calibri"/>
              </a:rPr>
              <a:t>BPS and</a:t>
            </a:r>
          </a:p>
        </p:txBody>
      </p:sp>
      <p:sp>
        <p:nvSpPr>
          <p:cNvPr id="62" name="TextBox 61"/>
          <p:cNvSpPr txBox="1"/>
          <p:nvPr/>
        </p:nvSpPr>
        <p:spPr>
          <a:xfrm>
            <a:off x="7829550" y="2474545"/>
            <a:ext cx="934243" cy="194310"/>
          </a:xfrm>
          <a:prstGeom prst="rect">
            <a:avLst/>
          </a:prstGeom>
          <a:noFill/>
        </p:spPr>
        <p:txBody>
          <a:bodyPr wrap="none" lIns="0" rIns="0" tIns="0" bIns="0">
            <a:spAutoFit/>
          </a:bodyPr>
          <a:lstStyle/>
          <a:p>
            <a:r>
              <a:rPr sz="1150" b="0">
                <a:solidFill>
                  <a:srgbClr val="2E2E2E"/>
                </a:solidFill>
                <a:latin typeface="Calibri"/>
              </a:rPr>
              <a:t>accounting for</a:t>
            </a:r>
          </a:p>
        </p:txBody>
      </p:sp>
      <p:pic>
        <p:nvPicPr>
          <p:cNvPr id="63" name="Picture 62" descr="lock.png"/>
          <p:cNvPicPr>
            <a:picLocks noChangeAspect="1"/>
          </p:cNvPicPr>
          <p:nvPr/>
        </p:nvPicPr>
        <p:blipFill>
          <a:blip r:embed="rId5"/>
          <a:stretch>
            <a:fillRect/>
          </a:stretch>
        </p:blipFill>
        <p:spPr>
          <a:xfrm>
            <a:off x="8712947" y="2464321"/>
            <a:ext cx="134549" cy="195707"/>
          </a:xfrm>
          <a:prstGeom prst="rect">
            <a:avLst/>
          </a:prstGeom>
        </p:spPr>
      </p:pic>
      <p:sp>
        <p:nvSpPr>
          <p:cNvPr id="64" name="TextBox 63"/>
          <p:cNvSpPr txBox="1"/>
          <p:nvPr/>
        </p:nvSpPr>
        <p:spPr>
          <a:xfrm>
            <a:off x="8888056" y="247454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5" name="TextBox 64"/>
          <p:cNvSpPr txBox="1"/>
          <p:nvPr/>
        </p:nvSpPr>
        <p:spPr>
          <a:xfrm>
            <a:off x="7829550" y="2702382"/>
            <a:ext cx="4023258" cy="194310"/>
          </a:xfrm>
          <a:prstGeom prst="rect">
            <a:avLst/>
          </a:prstGeom>
          <a:noFill/>
        </p:spPr>
        <p:txBody>
          <a:bodyPr wrap="none" lIns="0" rIns="0" tIns="0" bIns="0">
            <a:spAutoFit/>
          </a:bodyPr>
          <a:lstStyle/>
          <a:p>
            <a:r>
              <a:rPr sz="1150" b="0">
                <a:solidFill>
                  <a:srgbClr val="2E2E2E"/>
                </a:solidFill>
                <a:latin typeface="Calibri"/>
              </a:rPr>
              <a:t>The cementitious waterproof coatings segment is expected to lose</a:t>
            </a:r>
          </a:p>
        </p:txBody>
      </p:sp>
      <p:pic>
        <p:nvPicPr>
          <p:cNvPr id="66" name="Picture 65" descr="lock.png"/>
          <p:cNvPicPr>
            <a:picLocks noChangeAspect="1"/>
          </p:cNvPicPr>
          <p:nvPr/>
        </p:nvPicPr>
        <p:blipFill>
          <a:blip r:embed="rId5"/>
          <a:stretch>
            <a:fillRect/>
          </a:stretch>
        </p:blipFill>
        <p:spPr>
          <a:xfrm>
            <a:off x="7815470" y="2867419"/>
            <a:ext cx="134549" cy="195707"/>
          </a:xfrm>
          <a:prstGeom prst="rect">
            <a:avLst/>
          </a:prstGeom>
        </p:spPr>
      </p:pic>
      <p:sp>
        <p:nvSpPr>
          <p:cNvPr id="67" name="TextBox 66"/>
          <p:cNvSpPr txBox="1"/>
          <p:nvPr/>
        </p:nvSpPr>
        <p:spPr>
          <a:xfrm>
            <a:off x="7990579" y="287764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68" name="Picture 67" descr="lock.png"/>
          <p:cNvPicPr>
            <a:picLocks noChangeAspect="1"/>
          </p:cNvPicPr>
          <p:nvPr/>
        </p:nvPicPr>
        <p:blipFill>
          <a:blip r:embed="rId5"/>
          <a:stretch>
            <a:fillRect/>
          </a:stretch>
        </p:blipFill>
        <p:spPr>
          <a:xfrm>
            <a:off x="10578084" y="2867419"/>
            <a:ext cx="134549" cy="195707"/>
          </a:xfrm>
          <a:prstGeom prst="rect">
            <a:avLst/>
          </a:prstGeom>
        </p:spPr>
      </p:pic>
      <p:sp>
        <p:nvSpPr>
          <p:cNvPr id="69" name="TextBox 68"/>
          <p:cNvSpPr txBox="1"/>
          <p:nvPr/>
        </p:nvSpPr>
        <p:spPr>
          <a:xfrm>
            <a:off x="10753193" y="287764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70"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Product Configuration</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Configuration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Product Configuration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2 sub-segments of Product Configuration,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Product Configuration segment categorizes the market by product configuration.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Two-Component Coatings</a:t>
            </a:r>
          </a:p>
        </p:txBody>
      </p:sp>
      <p:sp>
        <p:nvSpPr>
          <p:cNvPr id="22" name="Rectangle 21"/>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Single-Component Coatings</a:t>
            </a:r>
          </a:p>
        </p:txBody>
      </p:sp>
      <p:sp>
        <p:nvSpPr>
          <p:cNvPr id="29" name="Rectangle 28"/>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5" name="Rectangle 34"/>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37" name="Rounded Rectangle 3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39" name="Rectangle 38"/>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41" name="Rounded Rectangle 4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3" name="Rectangle 42"/>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Product Configuration split shows how demand is distributed across product configuration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45" name="Rectangle 4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7" name="TextBox 46"/>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9" name="Picture 48" descr="3_169_605E5C.png"/>
          <p:cNvPicPr>
            <a:picLocks noChangeAspect="1"/>
          </p:cNvPicPr>
          <p:nvPr/>
        </p:nvPicPr>
        <p:blipFill>
          <a:blip r:embed="rId4"/>
          <a:stretch>
            <a:fillRect/>
          </a:stretch>
        </p:blipFill>
        <p:spPr>
          <a:xfrm>
            <a:off x="3740773" y="2286582"/>
            <a:ext cx="1195728" cy="361950"/>
          </a:xfrm>
          <a:prstGeom prst="rect">
            <a:avLst/>
          </a:prstGeom>
        </p:spPr>
      </p:pic>
      <p:pic>
        <p:nvPicPr>
          <p:cNvPr id="50" name="Picture 49" descr="5_286_605E5C.png"/>
          <p:cNvPicPr>
            <a:picLocks noChangeAspect="1"/>
          </p:cNvPicPr>
          <p:nvPr/>
        </p:nvPicPr>
        <p:blipFill>
          <a:blip r:embed="rId5"/>
          <a:stretch>
            <a:fillRect/>
          </a:stretch>
        </p:blipFill>
        <p:spPr>
          <a:xfrm>
            <a:off x="3740773" y="2779432"/>
            <a:ext cx="1195728" cy="361950"/>
          </a:xfrm>
          <a:prstGeom prst="rect">
            <a:avLst/>
          </a:prstGeom>
        </p:spPr>
      </p:pic>
      <p:pic>
        <p:nvPicPr>
          <p:cNvPr id="51" name="Picture 50" descr="5_2__605E5C.png"/>
          <p:cNvPicPr>
            <a:picLocks noChangeAspect="1"/>
          </p:cNvPicPr>
          <p:nvPr/>
        </p:nvPicPr>
        <p:blipFill>
          <a:blip r:embed="rId6"/>
          <a:stretch>
            <a:fillRect/>
          </a:stretch>
        </p:blipFill>
        <p:spPr>
          <a:xfrm>
            <a:off x="3847419" y="3272281"/>
            <a:ext cx="982436" cy="361950"/>
          </a:xfrm>
          <a:prstGeom prst="rect">
            <a:avLst/>
          </a:prstGeom>
        </p:spPr>
      </p:pic>
      <p:pic>
        <p:nvPicPr>
          <p:cNvPr id="52" name="Picture 51" descr="1_147_605E5C.png"/>
          <p:cNvPicPr>
            <a:picLocks noChangeAspect="1"/>
          </p:cNvPicPr>
          <p:nvPr/>
        </p:nvPicPr>
        <p:blipFill>
          <a:blip r:embed="rId7"/>
          <a:stretch>
            <a:fillRect/>
          </a:stretch>
        </p:blipFill>
        <p:spPr>
          <a:xfrm>
            <a:off x="8798548" y="2286582"/>
            <a:ext cx="1195728" cy="361950"/>
          </a:xfrm>
          <a:prstGeom prst="rect">
            <a:avLst/>
          </a:prstGeom>
        </p:spPr>
      </p:pic>
      <p:pic>
        <p:nvPicPr>
          <p:cNvPr id="53" name="Picture 52" descr="1_243_605E5C.png"/>
          <p:cNvPicPr>
            <a:picLocks noChangeAspect="1"/>
          </p:cNvPicPr>
          <p:nvPr/>
        </p:nvPicPr>
        <p:blipFill>
          <a:blip r:embed="rId8"/>
          <a:stretch>
            <a:fillRect/>
          </a:stretch>
        </p:blipFill>
        <p:spPr>
          <a:xfrm>
            <a:off x="8798548" y="2779432"/>
            <a:ext cx="1195728" cy="361950"/>
          </a:xfrm>
          <a:prstGeom prst="rect">
            <a:avLst/>
          </a:prstGeom>
        </p:spPr>
      </p:pic>
      <p:pic>
        <p:nvPicPr>
          <p:cNvPr id="54" name="Picture 53" descr="0_8__605E5C.png"/>
          <p:cNvPicPr>
            <a:picLocks noChangeAspect="1"/>
          </p:cNvPicPr>
          <p:nvPr/>
        </p:nvPicPr>
        <p:blipFill>
          <a:blip r:embed="rId9"/>
          <a:stretch>
            <a:fillRect/>
          </a:stretch>
        </p:blipFill>
        <p:spPr>
          <a:xfrm>
            <a:off x="8905194" y="3272281"/>
            <a:ext cx="982436" cy="361950"/>
          </a:xfrm>
          <a:prstGeom prst="rect">
            <a:avLst/>
          </a:prstGeom>
        </p:spPr>
      </p:pic>
      <p:pic>
        <p:nvPicPr>
          <p:cNvPr id="55" name="Picture 54" descr="lock.png"/>
          <p:cNvPicPr>
            <a:picLocks noChangeAspect="1"/>
          </p:cNvPicPr>
          <p:nvPr/>
        </p:nvPicPr>
        <p:blipFill>
          <a:blip r:embed="rId10"/>
          <a:stretch>
            <a:fillRect/>
          </a:stretch>
        </p:blipFill>
        <p:spPr>
          <a:xfrm>
            <a:off x="4230493" y="2805915"/>
            <a:ext cx="212425" cy="308982"/>
          </a:xfrm>
          <a:prstGeom prst="rect">
            <a:avLst/>
          </a:prstGeom>
        </p:spPr>
      </p:pic>
      <p:pic>
        <p:nvPicPr>
          <p:cNvPr id="56" name="Picture 55" descr="lock.png"/>
          <p:cNvPicPr>
            <a:picLocks noChangeAspect="1"/>
          </p:cNvPicPr>
          <p:nvPr/>
        </p:nvPicPr>
        <p:blipFill>
          <a:blip r:embed="rId10"/>
          <a:stretch>
            <a:fillRect/>
          </a:stretch>
        </p:blipFill>
        <p:spPr>
          <a:xfrm>
            <a:off x="9288268" y="2805915"/>
            <a:ext cx="212425" cy="308982"/>
          </a:xfrm>
          <a:prstGeom prst="rect">
            <a:avLst/>
          </a:prstGeom>
        </p:spPr>
      </p:pic>
      <p:sp>
        <p:nvSpPr>
          <p:cNvPr id="57" name="TextBox 56"/>
          <p:cNvSpPr txBox="1"/>
          <p:nvPr/>
        </p:nvSpPr>
        <p:spPr>
          <a:xfrm>
            <a:off x="485775" y="4229437"/>
            <a:ext cx="2310308" cy="186689"/>
          </a:xfrm>
          <a:prstGeom prst="rect">
            <a:avLst/>
          </a:prstGeom>
          <a:noFill/>
        </p:spPr>
        <p:txBody>
          <a:bodyPr wrap="none" lIns="0" rIns="0" tIns="0" bIns="0">
            <a:spAutoFit/>
          </a:bodyPr>
          <a:lstStyle/>
          <a:p>
            <a:r>
              <a:rPr sz="1100" b="0">
                <a:solidFill>
                  <a:srgbClr val="2E2E2E"/>
                </a:solidFill>
                <a:latin typeface="Calibri"/>
              </a:rPr>
              <a:t>Among waterproof coatings by product</a:t>
            </a:r>
          </a:p>
        </p:txBody>
      </p:sp>
      <p:sp>
        <p:nvSpPr>
          <p:cNvPr id="58" name="TextBox 57"/>
          <p:cNvSpPr txBox="1"/>
          <p:nvPr/>
        </p:nvSpPr>
        <p:spPr>
          <a:xfrm>
            <a:off x="485775" y="4397077"/>
            <a:ext cx="2914650" cy="186689"/>
          </a:xfrm>
          <a:prstGeom prst="rect">
            <a:avLst/>
          </a:prstGeom>
          <a:noFill/>
        </p:spPr>
        <p:txBody>
          <a:bodyPr wrap="none" lIns="0" rIns="0" tIns="0" bIns="0">
            <a:spAutoFit/>
          </a:bodyPr>
          <a:lstStyle/>
          <a:p>
            <a:r>
              <a:rPr sz="1100" b="0">
                <a:solidFill>
                  <a:srgbClr val="2E2E2E"/>
                </a:solidFill>
                <a:latin typeface="Calibri"/>
              </a:rPr>
              <a:t>configuration, two-component coatings segment is</a:t>
            </a:r>
          </a:p>
        </p:txBody>
      </p:sp>
      <p:sp>
        <p:nvSpPr>
          <p:cNvPr id="59" name="TextBox 58"/>
          <p:cNvSpPr txBox="1"/>
          <p:nvPr/>
        </p:nvSpPr>
        <p:spPr>
          <a:xfrm>
            <a:off x="485775" y="456471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60" name="Picture 59" descr="lock.png"/>
          <p:cNvPicPr>
            <a:picLocks noChangeAspect="1"/>
          </p:cNvPicPr>
          <p:nvPr/>
        </p:nvPicPr>
        <p:blipFill>
          <a:blip r:embed="rId10"/>
          <a:stretch>
            <a:fillRect/>
          </a:stretch>
        </p:blipFill>
        <p:spPr>
          <a:xfrm>
            <a:off x="2815059" y="4554938"/>
            <a:ext cx="128699" cy="187198"/>
          </a:xfrm>
          <a:prstGeom prst="rect">
            <a:avLst/>
          </a:prstGeom>
        </p:spPr>
      </p:pic>
      <p:sp>
        <p:nvSpPr>
          <p:cNvPr id="61" name="TextBox 60"/>
          <p:cNvSpPr txBox="1"/>
          <p:nvPr/>
        </p:nvSpPr>
        <p:spPr>
          <a:xfrm>
            <a:off x="2982555" y="456471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62" name="TextBox 61"/>
          <p:cNvSpPr txBox="1"/>
          <p:nvPr/>
        </p:nvSpPr>
        <p:spPr>
          <a:xfrm>
            <a:off x="485775" y="4732357"/>
            <a:ext cx="2699122" cy="186689"/>
          </a:xfrm>
          <a:prstGeom prst="rect">
            <a:avLst/>
          </a:prstGeom>
          <a:noFill/>
        </p:spPr>
        <p:txBody>
          <a:bodyPr wrap="none" lIns="0" rIns="0" tIns="0" bIns="0">
            <a:spAutoFit/>
          </a:bodyPr>
          <a:lstStyle/>
          <a:p>
            <a:r>
              <a:rPr sz="1100" b="0">
                <a:solidFill>
                  <a:srgbClr val="2E2E2E"/>
                </a:solidFill>
                <a:latin typeface="Calibri"/>
              </a:rPr>
              <a:t>the forecast period. In terms of value share by</a:t>
            </a:r>
          </a:p>
        </p:txBody>
      </p:sp>
      <p:sp>
        <p:nvSpPr>
          <p:cNvPr id="63" name="TextBox 62"/>
          <p:cNvSpPr txBox="1"/>
          <p:nvPr/>
        </p:nvSpPr>
        <p:spPr>
          <a:xfrm>
            <a:off x="485775" y="4899997"/>
            <a:ext cx="2525042" cy="186689"/>
          </a:xfrm>
          <a:prstGeom prst="rect">
            <a:avLst/>
          </a:prstGeom>
          <a:noFill/>
        </p:spPr>
        <p:txBody>
          <a:bodyPr wrap="none" lIns="0" rIns="0" tIns="0" bIns="0">
            <a:spAutoFit/>
          </a:bodyPr>
          <a:lstStyle/>
          <a:p>
            <a:r>
              <a:rPr sz="1100" b="0">
                <a:solidFill>
                  <a:srgbClr val="2E2E2E"/>
                </a:solidFill>
                <a:latin typeface="Calibri"/>
              </a:rPr>
              <a:t>product configuration, the two-component</a:t>
            </a:r>
          </a:p>
        </p:txBody>
      </p:sp>
      <p:sp>
        <p:nvSpPr>
          <p:cNvPr id="64" name="TextBox 63"/>
          <p:cNvSpPr txBox="1"/>
          <p:nvPr/>
        </p:nvSpPr>
        <p:spPr>
          <a:xfrm>
            <a:off x="485775" y="5067637"/>
            <a:ext cx="2697212" cy="186689"/>
          </a:xfrm>
          <a:prstGeom prst="rect">
            <a:avLst/>
          </a:prstGeom>
          <a:noFill/>
        </p:spPr>
        <p:txBody>
          <a:bodyPr wrap="none" lIns="0" rIns="0" tIns="0" bIns="0">
            <a:spAutoFit/>
          </a:bodyPr>
          <a:lstStyle/>
          <a:p>
            <a:r>
              <a:rPr sz="1100" b="0">
                <a:solidFill>
                  <a:srgbClr val="2E2E2E"/>
                </a:solidFill>
                <a:latin typeface="Calibri"/>
              </a:rPr>
              <a:t>coatings segment is expected to dominate the</a:t>
            </a:r>
          </a:p>
        </p:txBody>
      </p:sp>
      <p:sp>
        <p:nvSpPr>
          <p:cNvPr id="65" name="TextBox 64"/>
          <p:cNvSpPr txBox="1"/>
          <p:nvPr/>
        </p:nvSpPr>
        <p:spPr>
          <a:xfrm>
            <a:off x="485775" y="5235277"/>
            <a:ext cx="959693" cy="186689"/>
          </a:xfrm>
          <a:prstGeom prst="rect">
            <a:avLst/>
          </a:prstGeom>
          <a:noFill/>
        </p:spPr>
        <p:txBody>
          <a:bodyPr wrap="none" lIns="0" rIns="0" tIns="0" bIns="0">
            <a:spAutoFit/>
          </a:bodyPr>
          <a:lstStyle/>
          <a:p>
            <a:r>
              <a:rPr sz="1100" b="0">
                <a:solidFill>
                  <a:srgbClr val="2E2E2E"/>
                </a:solidFill>
                <a:latin typeface="Calibri"/>
              </a:rPr>
              <a:t>market, gaining</a:t>
            </a:r>
          </a:p>
        </p:txBody>
      </p:sp>
      <p:pic>
        <p:nvPicPr>
          <p:cNvPr id="66" name="Picture 65" descr="lock.png"/>
          <p:cNvPicPr>
            <a:picLocks noChangeAspect="1"/>
          </p:cNvPicPr>
          <p:nvPr/>
        </p:nvPicPr>
        <p:blipFill>
          <a:blip r:embed="rId10"/>
          <a:stretch>
            <a:fillRect/>
          </a:stretch>
        </p:blipFill>
        <p:spPr>
          <a:xfrm>
            <a:off x="1393519" y="5225498"/>
            <a:ext cx="128699" cy="187198"/>
          </a:xfrm>
          <a:prstGeom prst="rect">
            <a:avLst/>
          </a:prstGeom>
        </p:spPr>
      </p:pic>
      <p:sp>
        <p:nvSpPr>
          <p:cNvPr id="67" name="TextBox 66"/>
          <p:cNvSpPr txBox="1"/>
          <p:nvPr/>
        </p:nvSpPr>
        <p:spPr>
          <a:xfrm>
            <a:off x="1561015" y="523527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68" name="Picture 67" descr="lock.png"/>
          <p:cNvPicPr>
            <a:picLocks noChangeAspect="1"/>
          </p:cNvPicPr>
          <p:nvPr/>
        </p:nvPicPr>
        <p:blipFill>
          <a:blip r:embed="rId10"/>
          <a:stretch>
            <a:fillRect/>
          </a:stretch>
        </p:blipFill>
        <p:spPr>
          <a:xfrm>
            <a:off x="2895500" y="5225498"/>
            <a:ext cx="128699" cy="187198"/>
          </a:xfrm>
          <a:prstGeom prst="rect">
            <a:avLst/>
          </a:prstGeom>
        </p:spPr>
      </p:pic>
      <p:sp>
        <p:nvSpPr>
          <p:cNvPr id="69" name="TextBox 68"/>
          <p:cNvSpPr txBox="1"/>
          <p:nvPr/>
        </p:nvSpPr>
        <p:spPr>
          <a:xfrm>
            <a:off x="485775" y="540291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70" name="TextBox 69"/>
          <p:cNvSpPr txBox="1"/>
          <p:nvPr/>
        </p:nvSpPr>
        <p:spPr>
          <a:xfrm>
            <a:off x="485775" y="5620849"/>
            <a:ext cx="2893392" cy="186689"/>
          </a:xfrm>
          <a:prstGeom prst="rect">
            <a:avLst/>
          </a:prstGeom>
          <a:noFill/>
        </p:spPr>
        <p:txBody>
          <a:bodyPr wrap="none" lIns="0" rIns="0" tIns="0" bIns="0">
            <a:spAutoFit/>
          </a:bodyPr>
          <a:lstStyle/>
          <a:p>
            <a:r>
              <a:rPr sz="1100" b="0">
                <a:solidFill>
                  <a:srgbClr val="2E2E2E"/>
                </a:solidFill>
                <a:latin typeface="Calibri"/>
              </a:rPr>
              <a:t>Two-component coatings segment is projected to</a:t>
            </a:r>
          </a:p>
        </p:txBody>
      </p:sp>
      <p:sp>
        <p:nvSpPr>
          <p:cNvPr id="71" name="TextBox 70"/>
          <p:cNvSpPr txBox="1"/>
          <p:nvPr/>
        </p:nvSpPr>
        <p:spPr>
          <a:xfrm>
            <a:off x="485775" y="578848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72" name="Picture 71" descr="lock.png"/>
          <p:cNvPicPr>
            <a:picLocks noChangeAspect="1"/>
          </p:cNvPicPr>
          <p:nvPr/>
        </p:nvPicPr>
        <p:blipFill>
          <a:blip r:embed="rId10"/>
          <a:stretch>
            <a:fillRect/>
          </a:stretch>
        </p:blipFill>
        <p:spPr>
          <a:xfrm>
            <a:off x="946316" y="5778710"/>
            <a:ext cx="128699" cy="187198"/>
          </a:xfrm>
          <a:prstGeom prst="rect">
            <a:avLst/>
          </a:prstGeom>
        </p:spPr>
      </p:pic>
      <p:sp>
        <p:nvSpPr>
          <p:cNvPr id="73" name="TextBox 72"/>
          <p:cNvSpPr txBox="1"/>
          <p:nvPr/>
        </p:nvSpPr>
        <p:spPr>
          <a:xfrm>
            <a:off x="1113812" y="5788489"/>
            <a:ext cx="2229544" cy="186689"/>
          </a:xfrm>
          <a:prstGeom prst="rect">
            <a:avLst/>
          </a:prstGeom>
          <a:noFill/>
        </p:spPr>
        <p:txBody>
          <a:bodyPr wrap="none" lIns="0" rIns="0" tIns="0" bIns="0">
            <a:spAutoFit/>
          </a:bodyPr>
          <a:lstStyle/>
          <a:p>
            <a:r>
              <a:rPr sz="1100" b="0">
                <a:solidFill>
                  <a:srgbClr val="2E2E2E"/>
                </a:solidFill>
                <a:latin typeface="Calibri"/>
              </a:rPr>
              <a:t>X higher value than single-component</a:t>
            </a:r>
          </a:p>
        </p:txBody>
      </p:sp>
      <p:sp>
        <p:nvSpPr>
          <p:cNvPr id="74" name="TextBox 73"/>
          <p:cNvSpPr txBox="1"/>
          <p:nvPr/>
        </p:nvSpPr>
        <p:spPr>
          <a:xfrm>
            <a:off x="485775" y="5956129"/>
            <a:ext cx="1559693" cy="186689"/>
          </a:xfrm>
          <a:prstGeom prst="rect">
            <a:avLst/>
          </a:prstGeom>
          <a:noFill/>
        </p:spPr>
        <p:txBody>
          <a:bodyPr wrap="none" lIns="0" rIns="0" tIns="0" bIns="0">
            <a:spAutoFit/>
          </a:bodyPr>
          <a:lstStyle/>
          <a:p>
            <a:r>
              <a:rPr sz="1100" b="0">
                <a:solidFill>
                  <a:srgbClr val="2E2E2E"/>
                </a:solidFill>
                <a:latin typeface="Calibri"/>
              </a:rPr>
              <a:t>coatings segment in 2036.</a:t>
            </a:r>
          </a:p>
        </p:txBody>
      </p:sp>
      <p:sp>
        <p:nvSpPr>
          <p:cNvPr id="75" name="TextBox 74"/>
          <p:cNvSpPr txBox="1"/>
          <p:nvPr/>
        </p:nvSpPr>
        <p:spPr>
          <a:xfrm>
            <a:off x="3838575" y="4229437"/>
            <a:ext cx="1703759" cy="186689"/>
          </a:xfrm>
          <a:prstGeom prst="rect">
            <a:avLst/>
          </a:prstGeom>
          <a:noFill/>
        </p:spPr>
        <p:txBody>
          <a:bodyPr wrap="none" lIns="0" rIns="0" tIns="0" bIns="0">
            <a:spAutoFit/>
          </a:bodyPr>
          <a:lstStyle/>
          <a:p>
            <a:r>
              <a:rPr sz="1100" b="0">
                <a:solidFill>
                  <a:srgbClr val="2E2E2E"/>
                </a:solidFill>
                <a:latin typeface="Calibri"/>
              </a:rPr>
              <a:t>● Two-Component Coatings:</a:t>
            </a:r>
          </a:p>
        </p:txBody>
      </p:sp>
      <p:pic>
        <p:nvPicPr>
          <p:cNvPr id="76" name="Picture 75" descr="lock.png"/>
          <p:cNvPicPr>
            <a:picLocks noChangeAspect="1"/>
          </p:cNvPicPr>
          <p:nvPr/>
        </p:nvPicPr>
        <p:blipFill>
          <a:blip r:embed="rId10"/>
          <a:stretch>
            <a:fillRect/>
          </a:stretch>
        </p:blipFill>
        <p:spPr>
          <a:xfrm>
            <a:off x="5490386" y="4219658"/>
            <a:ext cx="128699" cy="187198"/>
          </a:xfrm>
          <a:prstGeom prst="rect">
            <a:avLst/>
          </a:prstGeom>
        </p:spPr>
      </p:pic>
      <p:sp>
        <p:nvSpPr>
          <p:cNvPr id="77" name="TextBox 76"/>
          <p:cNvSpPr txBox="1"/>
          <p:nvPr/>
        </p:nvSpPr>
        <p:spPr>
          <a:xfrm>
            <a:off x="5657881"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8" name="Picture 77" descr="lock.png"/>
          <p:cNvPicPr>
            <a:picLocks noChangeAspect="1"/>
          </p:cNvPicPr>
          <p:nvPr/>
        </p:nvPicPr>
        <p:blipFill>
          <a:blip r:embed="rId10"/>
          <a:stretch>
            <a:fillRect/>
          </a:stretch>
        </p:blipFill>
        <p:spPr>
          <a:xfrm>
            <a:off x="6517332" y="4219658"/>
            <a:ext cx="128699" cy="187198"/>
          </a:xfrm>
          <a:prstGeom prst="rect">
            <a:avLst/>
          </a:prstGeom>
        </p:spPr>
      </p:pic>
      <p:sp>
        <p:nvSpPr>
          <p:cNvPr id="79" name="TextBox 78"/>
          <p:cNvSpPr txBox="1"/>
          <p:nvPr/>
        </p:nvSpPr>
        <p:spPr>
          <a:xfrm>
            <a:off x="6684828"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80" name="TextBox 79"/>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81" name="TextBox 80"/>
          <p:cNvSpPr txBox="1"/>
          <p:nvPr/>
        </p:nvSpPr>
        <p:spPr>
          <a:xfrm>
            <a:off x="3838575" y="4615009"/>
            <a:ext cx="1799257" cy="186689"/>
          </a:xfrm>
          <a:prstGeom prst="rect">
            <a:avLst/>
          </a:prstGeom>
          <a:noFill/>
        </p:spPr>
        <p:txBody>
          <a:bodyPr wrap="none" lIns="0" rIns="0" tIns="0" bIns="0">
            <a:spAutoFit/>
          </a:bodyPr>
          <a:lstStyle/>
          <a:p>
            <a:r>
              <a:rPr sz="1100" b="0">
                <a:solidFill>
                  <a:srgbClr val="2E2E2E"/>
                </a:solidFill>
                <a:latin typeface="Calibri"/>
              </a:rPr>
              <a:t>● Single-Component Coatings:</a:t>
            </a:r>
          </a:p>
        </p:txBody>
      </p:sp>
      <p:pic>
        <p:nvPicPr>
          <p:cNvPr id="82" name="Picture 81" descr="lock.png"/>
          <p:cNvPicPr>
            <a:picLocks noChangeAspect="1"/>
          </p:cNvPicPr>
          <p:nvPr/>
        </p:nvPicPr>
        <p:blipFill>
          <a:blip r:embed="rId10"/>
          <a:stretch>
            <a:fillRect/>
          </a:stretch>
        </p:blipFill>
        <p:spPr>
          <a:xfrm>
            <a:off x="5585884" y="4605230"/>
            <a:ext cx="128699" cy="187198"/>
          </a:xfrm>
          <a:prstGeom prst="rect">
            <a:avLst/>
          </a:prstGeom>
        </p:spPr>
      </p:pic>
      <p:sp>
        <p:nvSpPr>
          <p:cNvPr id="83" name="TextBox 82"/>
          <p:cNvSpPr txBox="1"/>
          <p:nvPr/>
        </p:nvSpPr>
        <p:spPr>
          <a:xfrm>
            <a:off x="5753380"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4" name="Picture 83" descr="lock.png"/>
          <p:cNvPicPr>
            <a:picLocks noChangeAspect="1"/>
          </p:cNvPicPr>
          <p:nvPr/>
        </p:nvPicPr>
        <p:blipFill>
          <a:blip r:embed="rId10"/>
          <a:stretch>
            <a:fillRect/>
          </a:stretch>
        </p:blipFill>
        <p:spPr>
          <a:xfrm>
            <a:off x="6612830" y="4605230"/>
            <a:ext cx="128699" cy="187198"/>
          </a:xfrm>
          <a:prstGeom prst="rect">
            <a:avLst/>
          </a:prstGeom>
        </p:spPr>
      </p:pic>
      <p:sp>
        <p:nvSpPr>
          <p:cNvPr id="85" name="TextBox 84"/>
          <p:cNvSpPr txBox="1"/>
          <p:nvPr/>
        </p:nvSpPr>
        <p:spPr>
          <a:xfrm>
            <a:off x="6780326" y="4615009"/>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86" name="TextBox 85"/>
          <p:cNvSpPr txBox="1"/>
          <p:nvPr/>
        </p:nvSpPr>
        <p:spPr>
          <a:xfrm>
            <a:off x="3838575" y="4782649"/>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87" name="TextBox 86"/>
          <p:cNvSpPr txBox="1"/>
          <p:nvPr/>
        </p:nvSpPr>
        <p:spPr>
          <a:xfrm>
            <a:off x="8524875" y="5842641"/>
            <a:ext cx="3137830" cy="194310"/>
          </a:xfrm>
          <a:prstGeom prst="rect">
            <a:avLst/>
          </a:prstGeom>
          <a:noFill/>
        </p:spPr>
        <p:txBody>
          <a:bodyPr wrap="none" lIns="0" rIns="0" tIns="0" bIns="0">
            <a:spAutoFit/>
          </a:bodyPr>
          <a:lstStyle/>
          <a:p>
            <a:r>
              <a:rPr sz="1150" b="1">
                <a:solidFill>
                  <a:srgbClr val="0B2E4A"/>
                </a:solidFill>
                <a:latin typeface="Calibri"/>
              </a:rPr>
              <a:t>The Product Configuration segment is projected to</a:t>
            </a:r>
          </a:p>
        </p:txBody>
      </p:sp>
      <p:sp>
        <p:nvSpPr>
          <p:cNvPr id="88" name="TextBox 87"/>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89" name="Picture 88" descr="lock.png"/>
          <p:cNvPicPr>
            <a:picLocks noChangeAspect="1"/>
          </p:cNvPicPr>
          <p:nvPr/>
        </p:nvPicPr>
        <p:blipFill>
          <a:blip r:embed="rId10"/>
          <a:stretch>
            <a:fillRect/>
          </a:stretch>
        </p:blipFill>
        <p:spPr>
          <a:xfrm>
            <a:off x="9651852" y="6007677"/>
            <a:ext cx="134549" cy="195707"/>
          </a:xfrm>
          <a:prstGeom prst="rect">
            <a:avLst/>
          </a:prstGeom>
        </p:spPr>
      </p:pic>
      <p:sp>
        <p:nvSpPr>
          <p:cNvPr id="90" name="TextBox 89"/>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Product Configuration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Product Configuration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Configuration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Product Configuration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590535" cy="186689"/>
          </a:xfrm>
          <a:prstGeom prst="rect">
            <a:avLst/>
          </a:prstGeom>
          <a:noFill/>
        </p:spPr>
        <p:txBody>
          <a:bodyPr wrap="none" lIns="0" rIns="0" tIns="0" bIns="0">
            <a:spAutoFit/>
          </a:bodyPr>
          <a:lstStyle/>
          <a:p>
            <a:r>
              <a:rPr sz="1100" b="0">
                <a:solidFill>
                  <a:srgbClr val="2E2E2E"/>
                </a:solidFill>
                <a:latin typeface="Calibri"/>
              </a:rPr>
              <a:t>Two-component coatings followed by single-component coatings are expected to be the two most attractive product configuration segments in the North America waterproof coatings market in terms of</a:t>
            </a:r>
          </a:p>
        </p:txBody>
      </p:sp>
      <p:sp>
        <p:nvSpPr>
          <p:cNvPr id="20" name="TextBox 19"/>
          <p:cNvSpPr txBox="1"/>
          <p:nvPr/>
        </p:nvSpPr>
        <p:spPr>
          <a:xfrm>
            <a:off x="257175" y="5945505"/>
            <a:ext cx="6501291" cy="186689"/>
          </a:xfrm>
          <a:prstGeom prst="rect">
            <a:avLst/>
          </a:prstGeom>
          <a:noFill/>
        </p:spPr>
        <p:txBody>
          <a:bodyPr wrap="none" lIns="0" rIns="0" tIns="0" bIns="0">
            <a:spAutoFit/>
          </a:bodyPr>
          <a:lstStyle/>
          <a:p>
            <a:r>
              <a:rPr sz="1100" b="0">
                <a:solidFill>
                  <a:srgbClr val="2E2E2E"/>
                </a:solidFill>
                <a:latin typeface="Calibri"/>
              </a:rPr>
              <a:t>value over the forecast period. Two-Component coatings and Single-Component coatings exhibit a CAGR index of</a:t>
            </a:r>
          </a:p>
        </p:txBody>
      </p:sp>
      <p:pic>
        <p:nvPicPr>
          <p:cNvPr id="21" name="Picture 20" descr="lock.png"/>
          <p:cNvPicPr>
            <a:picLocks noChangeAspect="1"/>
          </p:cNvPicPr>
          <p:nvPr/>
        </p:nvPicPr>
        <p:blipFill>
          <a:blip r:embed="rId6"/>
          <a:stretch>
            <a:fillRect/>
          </a:stretch>
        </p:blipFill>
        <p:spPr>
          <a:xfrm>
            <a:off x="6706518" y="5935726"/>
            <a:ext cx="128699" cy="187198"/>
          </a:xfrm>
          <a:prstGeom prst="rect">
            <a:avLst/>
          </a:prstGeom>
        </p:spPr>
      </p:pic>
      <p:sp>
        <p:nvSpPr>
          <p:cNvPr id="22" name="TextBox 21"/>
          <p:cNvSpPr txBox="1"/>
          <p:nvPr/>
        </p:nvSpPr>
        <p:spPr>
          <a:xfrm>
            <a:off x="6874013"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7111908" y="5935726"/>
            <a:ext cx="128699" cy="187198"/>
          </a:xfrm>
          <a:prstGeom prst="rect">
            <a:avLst/>
          </a:prstGeom>
        </p:spPr>
      </p:pic>
      <p:sp>
        <p:nvSpPr>
          <p:cNvPr id="24" name="TextBox 23"/>
          <p:cNvSpPr txBox="1"/>
          <p:nvPr/>
        </p:nvSpPr>
        <p:spPr>
          <a:xfrm>
            <a:off x="7279404"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8888377" y="5935726"/>
            <a:ext cx="128699" cy="187198"/>
          </a:xfrm>
          <a:prstGeom prst="rect">
            <a:avLst/>
          </a:prstGeom>
        </p:spPr>
      </p:pic>
      <p:sp>
        <p:nvSpPr>
          <p:cNvPr id="26" name="TextBox 25"/>
          <p:cNvSpPr txBox="1"/>
          <p:nvPr/>
        </p:nvSpPr>
        <p:spPr>
          <a:xfrm>
            <a:off x="9055873"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9293767" y="5935726"/>
            <a:ext cx="128699" cy="187198"/>
          </a:xfrm>
          <a:prstGeom prst="rect">
            <a:avLst/>
          </a:prstGeom>
        </p:spPr>
      </p:pic>
      <p:sp>
        <p:nvSpPr>
          <p:cNvPr id="28" name="TextBox 27"/>
          <p:cNvSpPr txBox="1"/>
          <p:nvPr/>
        </p:nvSpPr>
        <p:spPr>
          <a:xfrm>
            <a:off x="9461263" y="5945505"/>
            <a:ext cx="1976338" cy="186689"/>
          </a:xfrm>
          <a:prstGeom prst="rect">
            <a:avLst/>
          </a:prstGeom>
          <a:noFill/>
        </p:spPr>
        <p:txBody>
          <a:bodyPr wrap="none" lIns="0" rIns="0" tIns="0" bIns="0">
            <a:spAutoFit/>
          </a:bodyPr>
          <a:lstStyle/>
          <a:p>
            <a:r>
              <a:rPr sz="1100" b="0">
                <a:solidFill>
                  <a:srgbClr val="2E2E2E"/>
                </a:solidFill>
                <a:latin typeface="Calibri"/>
              </a:rPr>
              <a:t>respectively, against the segment</a:t>
            </a:r>
          </a:p>
        </p:txBody>
      </p:sp>
      <p:sp>
        <p:nvSpPr>
          <p:cNvPr id="29" name="TextBox 28"/>
          <p:cNvSpPr txBox="1"/>
          <p:nvPr/>
        </p:nvSpPr>
        <p:spPr>
          <a:xfrm>
            <a:off x="257175" y="6113145"/>
            <a:ext cx="674563" cy="186689"/>
          </a:xfrm>
          <a:prstGeom prst="rect">
            <a:avLst/>
          </a:prstGeom>
          <a:noFill/>
        </p:spPr>
        <p:txBody>
          <a:bodyPr wrap="none" lIns="0" rIns="0" tIns="0" bIns="0">
            <a:spAutoFit/>
          </a:bodyPr>
          <a:lstStyle/>
          <a:p>
            <a:r>
              <a:rPr sz="1100" b="0">
                <a:solidFill>
                  <a:srgbClr val="2E2E2E"/>
                </a:solidFill>
                <a:latin typeface="Calibri"/>
              </a:rPr>
              <a:t>average of</a:t>
            </a:r>
          </a:p>
        </p:txBody>
      </p:sp>
      <p:pic>
        <p:nvPicPr>
          <p:cNvPr id="30" name="Picture 29" descr="lock.png"/>
          <p:cNvPicPr>
            <a:picLocks noChangeAspect="1"/>
          </p:cNvPicPr>
          <p:nvPr/>
        </p:nvPicPr>
        <p:blipFill>
          <a:blip r:embed="rId6"/>
          <a:stretch>
            <a:fillRect/>
          </a:stretch>
        </p:blipFill>
        <p:spPr>
          <a:xfrm>
            <a:off x="879790" y="6103366"/>
            <a:ext cx="128699" cy="187198"/>
          </a:xfrm>
          <a:prstGeom prst="rect">
            <a:avLst/>
          </a:prstGeom>
        </p:spPr>
      </p:pic>
      <p:sp>
        <p:nvSpPr>
          <p:cNvPr id="31" name="TextBox 30"/>
          <p:cNvSpPr txBox="1"/>
          <p:nvPr/>
        </p:nvSpPr>
        <p:spPr>
          <a:xfrm>
            <a:off x="1047285" y="6113145"/>
            <a:ext cx="4443717" cy="186689"/>
          </a:xfrm>
          <a:prstGeom prst="rect">
            <a:avLst/>
          </a:prstGeom>
          <a:noFill/>
        </p:spPr>
        <p:txBody>
          <a:bodyPr wrap="none" lIns="0" rIns="0" tIns="0" bIns="0">
            <a:spAutoFit/>
          </a:bodyPr>
          <a:lstStyle/>
          <a:p>
            <a:r>
              <a:rPr sz="1100" b="0">
                <a:solidFill>
                  <a:srgbClr val="2E2E2E"/>
                </a:solidFill>
                <a:latin typeface="Calibri"/>
              </a:rPr>
              <a:t>. Bubbles 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Product Configuration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Configuration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Single-Component Coatings</a:t>
            </a:r>
          </a:p>
        </p:txBody>
      </p:sp>
      <p:graphicFrame>
        <p:nvGraphicFramePr>
          <p:cNvPr id="12" name="Chart 11"/>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Two-Component Coatings</a:t>
            </a:r>
          </a:p>
        </p:txBody>
      </p:sp>
      <p:graphicFrame>
        <p:nvGraphicFramePr>
          <p:cNvPr id="15" name="Chart 14"/>
          <p:cNvGraphicFramePr>
            <a:graphicFrameLocks noGrp="1"/>
          </p:cNvGraphicFramePr>
          <p:nvPr/>
        </p:nvGraphicFramePr>
        <p:xfrm>
          <a:off x="6267450" y="1438275"/>
          <a:ext cx="5686425" cy="5133975"/>
        </p:xfrm>
        <a:graphic>
          <a:graphicData uri="http://schemas.openxmlformats.org/drawingml/2006/chart">
            <c:chart xmlns:c="http://schemas.openxmlformats.org/drawingml/2006/chart" r:id="rId4"/>
          </a:graphicData>
        </a:graphic>
      </p:graphicFrame>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6"/>
          <a:stretch>
            <a:fillRect/>
          </a:stretch>
        </p:blipFill>
        <p:spPr>
          <a:xfrm>
            <a:off x="3027556" y="3674659"/>
            <a:ext cx="395643" cy="575481"/>
          </a:xfrm>
          <a:prstGeom prst="rect">
            <a:avLst/>
          </a:prstGeom>
        </p:spPr>
      </p:pic>
      <p:pic>
        <p:nvPicPr>
          <p:cNvPr id="18" name="Picture 17" descr="lock.png"/>
          <p:cNvPicPr>
            <a:picLocks noChangeAspect="1"/>
          </p:cNvPicPr>
          <p:nvPr/>
        </p:nvPicPr>
        <p:blipFill>
          <a:blip r:embed="rId6"/>
          <a:stretch>
            <a:fillRect/>
          </a:stretch>
        </p:blipFill>
        <p:spPr>
          <a:xfrm>
            <a:off x="9056881" y="3674659"/>
            <a:ext cx="395643" cy="575481"/>
          </a:xfrm>
          <a:prstGeom prst="rect">
            <a:avLst/>
          </a:prstGeom>
        </p:spPr>
      </p:pic>
      <p:sp>
        <p:nvSpPr>
          <p:cNvPr id="19" name="lockshield_12"/>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ockshield_15"/>
          <p:cNvSpPr/>
          <p:nvPr/>
        </p:nvSpPr>
        <p:spPr>
          <a:xfrm>
            <a:off x="6267450"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Product Configuration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Product Configuration, 2021–2036, highlighting the sub-segments driving growth</a:t>
            </a:r>
          </a:p>
        </p:txBody>
      </p:sp>
      <p:sp>
        <p:nvSpPr>
          <p:cNvPr id="10" name="Rounded Rectangle 9"/>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Product Configuration (US$ Mn)</a:t>
            </a:r>
          </a:p>
        </p:txBody>
      </p:sp>
      <p:graphicFrame>
        <p:nvGraphicFramePr>
          <p:cNvPr id="12" name="Table 11"/>
          <p:cNvGraphicFramePr>
            <a:graphicFrameLocks noGrp="1"/>
          </p:cNvGraphicFramePr>
          <p:nvPr/>
        </p:nvGraphicFramePr>
        <p:xfrm>
          <a:off x="152400" y="1238250"/>
          <a:ext cx="11887195" cy="990600"/>
        </p:xfrm>
        <a:graphic>
          <a:graphicData uri="http://schemas.openxmlformats.org/drawingml/2006/table">
            <a:tbl>
              <a:tblPr>
                <a:tableStyleId>{5C22544A-7EE6-4342-B048-85BDC9FD1C3A}</a:tableStyleId>
              </a:tblPr>
              <a:tblGrid>
                <a:gridCol w="1875368"/>
                <a:gridCol w="588931"/>
                <a:gridCol w="588931"/>
                <a:gridCol w="588931"/>
                <a:gridCol w="588931"/>
                <a:gridCol w="588931"/>
                <a:gridCol w="588931"/>
                <a:gridCol w="588931"/>
                <a:gridCol w="588931"/>
                <a:gridCol w="588931"/>
                <a:gridCol w="588931"/>
                <a:gridCol w="588931"/>
                <a:gridCol w="588931"/>
                <a:gridCol w="588931"/>
                <a:gridCol w="588931"/>
                <a:gridCol w="588931"/>
                <a:gridCol w="588931"/>
                <a:gridCol w="588931"/>
              </a:tblGrid>
              <a:tr h="246126">
                <a:tc>
                  <a:txBody>
                    <a:bodyPr wrap="none"/>
                    <a:lstStyle/>
                    <a:p>
                      <a:pPr algn="l"/>
                      <a:r>
                        <a:rPr sz="1100" b="1">
                          <a:solidFill>
                            <a:srgbClr val="0B2E4A"/>
                          </a:solidFill>
                          <a:latin typeface="Calibri"/>
                        </a:rPr>
                        <a:t>Product Configuration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Single-Component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Two-Component Coatings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571750"/>
            <a:ext cx="11906250" cy="4057650"/>
          </a:xfrm>
          <a:prstGeom prst="roundRect">
            <a:avLst>
              <a:gd name="adj" fmla="val 1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Product Configuration</a:t>
            </a:r>
          </a:p>
        </p:txBody>
      </p:sp>
      <p:sp>
        <p:nvSpPr>
          <p:cNvPr id="16" name="Rectangle 15"/>
          <p:cNvSpPr/>
          <p:nvPr/>
        </p:nvSpPr>
        <p:spPr>
          <a:xfrm>
            <a:off x="276225" y="28956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846991" y="1589913"/>
            <a:ext cx="366712" cy="533400"/>
          </a:xfrm>
          <a:prstGeom prst="rect">
            <a:avLst/>
          </a:prstGeom>
        </p:spPr>
      </p:pic>
      <p:sp>
        <p:nvSpPr>
          <p:cNvPr id="20" name="TextBox 19"/>
          <p:cNvSpPr txBox="1"/>
          <p:nvPr/>
        </p:nvSpPr>
        <p:spPr>
          <a:xfrm>
            <a:off x="276225" y="2990850"/>
            <a:ext cx="3510657" cy="194310"/>
          </a:xfrm>
          <a:prstGeom prst="rect">
            <a:avLst/>
          </a:prstGeom>
          <a:noFill/>
        </p:spPr>
        <p:txBody>
          <a:bodyPr wrap="none" lIns="0" rIns="0" tIns="0" bIns="0">
            <a:spAutoFit/>
          </a:bodyPr>
          <a:lstStyle/>
          <a:p>
            <a:r>
              <a:rPr sz="1150" b="0">
                <a:solidFill>
                  <a:srgbClr val="2E2E2E"/>
                </a:solidFill>
                <a:latin typeface="Calibri"/>
              </a:rPr>
              <a:t>Two-component coatings segment is projected to register</a:t>
            </a:r>
          </a:p>
        </p:txBody>
      </p:sp>
      <p:pic>
        <p:nvPicPr>
          <p:cNvPr id="21" name="Picture 20" descr="lock.png"/>
          <p:cNvPicPr>
            <a:picLocks noChangeAspect="1"/>
          </p:cNvPicPr>
          <p:nvPr/>
        </p:nvPicPr>
        <p:blipFill>
          <a:blip r:embed="rId4"/>
          <a:stretch>
            <a:fillRect/>
          </a:stretch>
        </p:blipFill>
        <p:spPr>
          <a:xfrm>
            <a:off x="3736035" y="2980626"/>
            <a:ext cx="134549" cy="195707"/>
          </a:xfrm>
          <a:prstGeom prst="rect">
            <a:avLst/>
          </a:prstGeom>
        </p:spPr>
      </p:pic>
      <p:sp>
        <p:nvSpPr>
          <p:cNvPr id="22" name="TextBox 21"/>
          <p:cNvSpPr txBox="1"/>
          <p:nvPr/>
        </p:nvSpPr>
        <p:spPr>
          <a:xfrm>
            <a:off x="3911145" y="2990850"/>
            <a:ext cx="7146503" cy="194310"/>
          </a:xfrm>
          <a:prstGeom prst="rect">
            <a:avLst/>
          </a:prstGeom>
          <a:noFill/>
        </p:spPr>
        <p:txBody>
          <a:bodyPr wrap="none" lIns="0" rIns="0" tIns="0" bIns="0">
            <a:spAutoFit/>
          </a:bodyPr>
          <a:lstStyle/>
          <a:p>
            <a:r>
              <a:rPr sz="1150" b="0">
                <a:solidFill>
                  <a:srgbClr val="2E2E2E"/>
                </a:solidFill>
                <a:latin typeface="Calibri"/>
              </a:rPr>
              <a:t>X higher value than single-component coatings segment in 2036. Among waterproof coatings by product configuration,</a:t>
            </a:r>
          </a:p>
        </p:txBody>
      </p:sp>
      <p:sp>
        <p:nvSpPr>
          <p:cNvPr id="23" name="TextBox 22"/>
          <p:cNvSpPr txBox="1"/>
          <p:nvPr/>
        </p:nvSpPr>
        <p:spPr>
          <a:xfrm>
            <a:off x="276225" y="3166110"/>
            <a:ext cx="4676757" cy="194310"/>
          </a:xfrm>
          <a:prstGeom prst="rect">
            <a:avLst/>
          </a:prstGeom>
          <a:noFill/>
        </p:spPr>
        <p:txBody>
          <a:bodyPr wrap="none" lIns="0" rIns="0" tIns="0" bIns="0">
            <a:spAutoFit/>
          </a:bodyPr>
          <a:lstStyle/>
          <a:p>
            <a:r>
              <a:rPr sz="1150" b="0">
                <a:solidFill>
                  <a:srgbClr val="2E2E2E"/>
                </a:solidFill>
                <a:latin typeface="Calibri"/>
              </a:rPr>
              <a:t>two-component coatings segment is expected to witness the highest CAGR of</a:t>
            </a:r>
          </a:p>
        </p:txBody>
      </p:sp>
      <p:pic>
        <p:nvPicPr>
          <p:cNvPr id="24" name="Picture 23" descr="lock.png"/>
          <p:cNvPicPr>
            <a:picLocks noChangeAspect="1"/>
          </p:cNvPicPr>
          <p:nvPr/>
        </p:nvPicPr>
        <p:blipFill>
          <a:blip r:embed="rId4"/>
          <a:stretch>
            <a:fillRect/>
          </a:stretch>
        </p:blipFill>
        <p:spPr>
          <a:xfrm>
            <a:off x="4902136" y="3155886"/>
            <a:ext cx="134549" cy="195707"/>
          </a:xfrm>
          <a:prstGeom prst="rect">
            <a:avLst/>
          </a:prstGeom>
        </p:spPr>
      </p:pic>
      <p:sp>
        <p:nvSpPr>
          <p:cNvPr id="25" name="TextBox 24"/>
          <p:cNvSpPr txBox="1"/>
          <p:nvPr/>
        </p:nvSpPr>
        <p:spPr>
          <a:xfrm>
            <a:off x="5077245"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393947"/>
            <a:ext cx="7935800" cy="194310"/>
          </a:xfrm>
          <a:prstGeom prst="rect">
            <a:avLst/>
          </a:prstGeom>
          <a:noFill/>
        </p:spPr>
        <p:txBody>
          <a:bodyPr wrap="none" lIns="0" rIns="0" tIns="0" bIns="0">
            <a:spAutoFit/>
          </a:bodyPr>
          <a:lstStyle/>
          <a:p>
            <a:r>
              <a:rPr sz="1150" b="0">
                <a:solidFill>
                  <a:srgbClr val="2E2E2E"/>
                </a:solidFill>
                <a:latin typeface="Calibri"/>
              </a:rPr>
              <a:t>In terms of value share by product configuration, the two-component coatings segment is expected to dominate the market, gaining</a:t>
            </a:r>
          </a:p>
        </p:txBody>
      </p:sp>
      <p:pic>
        <p:nvPicPr>
          <p:cNvPr id="27" name="Picture 26" descr="lock.png"/>
          <p:cNvPicPr>
            <a:picLocks noChangeAspect="1"/>
          </p:cNvPicPr>
          <p:nvPr/>
        </p:nvPicPr>
        <p:blipFill>
          <a:blip r:embed="rId4"/>
          <a:stretch>
            <a:fillRect/>
          </a:stretch>
        </p:blipFill>
        <p:spPr>
          <a:xfrm>
            <a:off x="8161179" y="3383724"/>
            <a:ext cx="134549" cy="195707"/>
          </a:xfrm>
          <a:prstGeom prst="rect">
            <a:avLst/>
          </a:prstGeom>
        </p:spPr>
      </p:pic>
      <p:sp>
        <p:nvSpPr>
          <p:cNvPr id="28" name="TextBox 27"/>
          <p:cNvSpPr txBox="1"/>
          <p:nvPr/>
        </p:nvSpPr>
        <p:spPr>
          <a:xfrm>
            <a:off x="8336289"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9731432" y="3383724"/>
            <a:ext cx="134549" cy="195707"/>
          </a:xfrm>
          <a:prstGeom prst="rect">
            <a:avLst/>
          </a:prstGeom>
        </p:spPr>
      </p:pic>
      <p:sp>
        <p:nvSpPr>
          <p:cNvPr id="30" name="TextBox 29"/>
          <p:cNvSpPr txBox="1"/>
          <p:nvPr/>
        </p:nvSpPr>
        <p:spPr>
          <a:xfrm>
            <a:off x="9906541" y="3393947"/>
            <a:ext cx="1200100" cy="194310"/>
          </a:xfrm>
          <a:prstGeom prst="rect">
            <a:avLst/>
          </a:prstGeom>
          <a:noFill/>
        </p:spPr>
        <p:txBody>
          <a:bodyPr wrap="none" lIns="0" rIns="0" tIns="0" bIns="0">
            <a:spAutoFit/>
          </a:bodyPr>
          <a:lstStyle/>
          <a:p>
            <a:r>
              <a:rPr sz="1150" b="0">
                <a:solidFill>
                  <a:srgbClr val="2E2E2E"/>
                </a:solidFill>
                <a:latin typeface="Calibri"/>
              </a:rPr>
              <a:t>share by 2036. The</a:t>
            </a:r>
          </a:p>
        </p:txBody>
      </p:sp>
      <p:sp>
        <p:nvSpPr>
          <p:cNvPr id="31" name="TextBox 30"/>
          <p:cNvSpPr txBox="1"/>
          <p:nvPr/>
        </p:nvSpPr>
        <p:spPr>
          <a:xfrm>
            <a:off x="276225" y="3569207"/>
            <a:ext cx="3357760" cy="194310"/>
          </a:xfrm>
          <a:prstGeom prst="rect">
            <a:avLst/>
          </a:prstGeom>
          <a:noFill/>
        </p:spPr>
        <p:txBody>
          <a:bodyPr wrap="none" lIns="0" rIns="0" tIns="0" bIns="0">
            <a:spAutoFit/>
          </a:bodyPr>
          <a:lstStyle/>
          <a:p>
            <a:r>
              <a:rPr sz="1150" b="0">
                <a:solidFill>
                  <a:srgbClr val="2E2E2E"/>
                </a:solidFill>
                <a:latin typeface="Calibri"/>
              </a:rPr>
              <a:t>single-component coatings segment is expected to lose</a:t>
            </a:r>
          </a:p>
        </p:txBody>
      </p:sp>
      <p:pic>
        <p:nvPicPr>
          <p:cNvPr id="32" name="Picture 31" descr="lock.png"/>
          <p:cNvPicPr>
            <a:picLocks noChangeAspect="1"/>
          </p:cNvPicPr>
          <p:nvPr/>
        </p:nvPicPr>
        <p:blipFill>
          <a:blip r:embed="rId4"/>
          <a:stretch>
            <a:fillRect/>
          </a:stretch>
        </p:blipFill>
        <p:spPr>
          <a:xfrm>
            <a:off x="3583139" y="3558984"/>
            <a:ext cx="134549" cy="195707"/>
          </a:xfrm>
          <a:prstGeom prst="rect">
            <a:avLst/>
          </a:prstGeom>
        </p:spPr>
      </p:pic>
      <p:sp>
        <p:nvSpPr>
          <p:cNvPr id="33" name="TextBox 32"/>
          <p:cNvSpPr txBox="1"/>
          <p:nvPr/>
        </p:nvSpPr>
        <p:spPr>
          <a:xfrm>
            <a:off x="3758249" y="356920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6345753" y="3558984"/>
            <a:ext cx="134549" cy="195707"/>
          </a:xfrm>
          <a:prstGeom prst="rect">
            <a:avLst/>
          </a:prstGeom>
        </p:spPr>
      </p:pic>
      <p:sp>
        <p:nvSpPr>
          <p:cNvPr id="35" name="TextBox 34"/>
          <p:cNvSpPr txBox="1"/>
          <p:nvPr/>
        </p:nvSpPr>
        <p:spPr>
          <a:xfrm>
            <a:off x="6520862" y="35692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Product Configuration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Product Configuration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Product Configuration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2106493"/>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210173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202553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Single-Component Coatings</a:t>
            </a:r>
          </a:p>
        </p:txBody>
      </p:sp>
      <p:sp>
        <p:nvSpPr>
          <p:cNvPr id="18" name="BPS Value 1"/>
          <p:cNvSpPr txBox="1"/>
          <p:nvPr/>
        </p:nvSpPr>
        <p:spPr>
          <a:xfrm>
            <a:off x="6896100" y="208744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4392683"/>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438792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431172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Two-Component Coatings</a:t>
            </a:r>
          </a:p>
        </p:txBody>
      </p:sp>
      <p:sp>
        <p:nvSpPr>
          <p:cNvPr id="22" name="BPS Value 2"/>
          <p:cNvSpPr txBox="1"/>
          <p:nvPr/>
        </p:nvSpPr>
        <p:spPr>
          <a:xfrm>
            <a:off x="6896100" y="437363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Rounded Rectangle 22"/>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Product Configuration</a:t>
            </a:r>
          </a:p>
        </p:txBody>
      </p:sp>
      <p:sp>
        <p:nvSpPr>
          <p:cNvPr id="25" name="Rectangle 24"/>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8" name="Picture 27" descr="lock.png"/>
          <p:cNvPicPr>
            <a:picLocks noChangeAspect="1"/>
          </p:cNvPicPr>
          <p:nvPr/>
        </p:nvPicPr>
        <p:blipFill>
          <a:blip r:embed="rId5"/>
          <a:stretch>
            <a:fillRect/>
          </a:stretch>
        </p:blipFill>
        <p:spPr>
          <a:xfrm>
            <a:off x="2557843" y="3833622"/>
            <a:ext cx="275034" cy="400050"/>
          </a:xfrm>
          <a:prstGeom prst="rect">
            <a:avLst/>
          </a:prstGeom>
        </p:spPr>
      </p:pic>
      <p:sp>
        <p:nvSpPr>
          <p:cNvPr id="29" name="TextBox 28"/>
          <p:cNvSpPr txBox="1"/>
          <p:nvPr/>
        </p:nvSpPr>
        <p:spPr>
          <a:xfrm>
            <a:off x="7829550" y="1400175"/>
            <a:ext cx="3278175" cy="194310"/>
          </a:xfrm>
          <a:prstGeom prst="rect">
            <a:avLst/>
          </a:prstGeom>
          <a:noFill/>
        </p:spPr>
        <p:txBody>
          <a:bodyPr wrap="none" lIns="0" rIns="0" tIns="0" bIns="0">
            <a:spAutoFit/>
          </a:bodyPr>
          <a:lstStyle/>
          <a:p>
            <a:r>
              <a:rPr sz="1150" b="0">
                <a:solidFill>
                  <a:srgbClr val="2E2E2E"/>
                </a:solidFill>
                <a:latin typeface="Calibri"/>
              </a:rPr>
              <a:t>Among waterproof coatings by product configuration,</a:t>
            </a:r>
          </a:p>
        </p:txBody>
      </p:sp>
      <p:sp>
        <p:nvSpPr>
          <p:cNvPr id="30" name="TextBox 29"/>
          <p:cNvSpPr txBox="1"/>
          <p:nvPr/>
        </p:nvSpPr>
        <p:spPr>
          <a:xfrm>
            <a:off x="7829550" y="1575435"/>
            <a:ext cx="3687514" cy="194310"/>
          </a:xfrm>
          <a:prstGeom prst="rect">
            <a:avLst/>
          </a:prstGeom>
          <a:noFill/>
        </p:spPr>
        <p:txBody>
          <a:bodyPr wrap="none" lIns="0" rIns="0" tIns="0" bIns="0">
            <a:spAutoFit/>
          </a:bodyPr>
          <a:lstStyle/>
          <a:p>
            <a:r>
              <a:rPr sz="1150" b="0">
                <a:solidFill>
                  <a:srgbClr val="2E2E2E"/>
                </a:solidFill>
                <a:latin typeface="Calibri"/>
              </a:rPr>
              <a:t>two-component coatings segment is expected to witness the</a:t>
            </a:r>
          </a:p>
        </p:txBody>
      </p:sp>
      <p:sp>
        <p:nvSpPr>
          <p:cNvPr id="31" name="TextBox 30"/>
          <p:cNvSpPr txBox="1"/>
          <p:nvPr/>
        </p:nvSpPr>
        <p:spPr>
          <a:xfrm>
            <a:off x="7829550" y="1750695"/>
            <a:ext cx="1032353" cy="194310"/>
          </a:xfrm>
          <a:prstGeom prst="rect">
            <a:avLst/>
          </a:prstGeom>
          <a:noFill/>
        </p:spPr>
        <p:txBody>
          <a:bodyPr wrap="none" lIns="0" rIns="0" tIns="0" bIns="0">
            <a:spAutoFit/>
          </a:bodyPr>
          <a:lstStyle/>
          <a:p>
            <a:r>
              <a:rPr sz="1150" b="0">
                <a:solidFill>
                  <a:srgbClr val="2E2E2E"/>
                </a:solidFill>
                <a:latin typeface="Calibri"/>
              </a:rPr>
              <a:t>highest CAGR of</a:t>
            </a:r>
          </a:p>
        </p:txBody>
      </p:sp>
      <p:pic>
        <p:nvPicPr>
          <p:cNvPr id="32" name="Picture 31" descr="lock.png"/>
          <p:cNvPicPr>
            <a:picLocks noChangeAspect="1"/>
          </p:cNvPicPr>
          <p:nvPr/>
        </p:nvPicPr>
        <p:blipFill>
          <a:blip r:embed="rId5"/>
          <a:stretch>
            <a:fillRect/>
          </a:stretch>
        </p:blipFill>
        <p:spPr>
          <a:xfrm>
            <a:off x="8811057" y="1740471"/>
            <a:ext cx="134549" cy="195707"/>
          </a:xfrm>
          <a:prstGeom prst="rect">
            <a:avLst/>
          </a:prstGeom>
        </p:spPr>
      </p:pic>
      <p:sp>
        <p:nvSpPr>
          <p:cNvPr id="33" name="TextBox 32"/>
          <p:cNvSpPr txBox="1"/>
          <p:nvPr/>
        </p:nvSpPr>
        <p:spPr>
          <a:xfrm>
            <a:off x="8986166" y="1750695"/>
            <a:ext cx="2581585" cy="194310"/>
          </a:xfrm>
          <a:prstGeom prst="rect">
            <a:avLst/>
          </a:prstGeom>
          <a:noFill/>
        </p:spPr>
        <p:txBody>
          <a:bodyPr wrap="none" lIns="0" rIns="0" tIns="0" bIns="0">
            <a:spAutoFit/>
          </a:bodyPr>
          <a:lstStyle/>
          <a:p>
            <a:r>
              <a:rPr sz="1150" b="0">
                <a:solidFill>
                  <a:srgbClr val="2E2E2E"/>
                </a:solidFill>
                <a:latin typeface="Calibri"/>
              </a:rPr>
              <a:t>over the forecast period. In terms of value</a:t>
            </a:r>
          </a:p>
        </p:txBody>
      </p:sp>
      <p:sp>
        <p:nvSpPr>
          <p:cNvPr id="34" name="TextBox 33"/>
          <p:cNvSpPr txBox="1"/>
          <p:nvPr/>
        </p:nvSpPr>
        <p:spPr>
          <a:xfrm>
            <a:off x="7829550" y="1925955"/>
            <a:ext cx="3700065" cy="194310"/>
          </a:xfrm>
          <a:prstGeom prst="rect">
            <a:avLst/>
          </a:prstGeom>
          <a:noFill/>
        </p:spPr>
        <p:txBody>
          <a:bodyPr wrap="none" lIns="0" rIns="0" tIns="0" bIns="0">
            <a:spAutoFit/>
          </a:bodyPr>
          <a:lstStyle/>
          <a:p>
            <a:r>
              <a:rPr sz="1150" b="0">
                <a:solidFill>
                  <a:srgbClr val="2E2E2E"/>
                </a:solidFill>
                <a:latin typeface="Calibri"/>
              </a:rPr>
              <a:t>share by product configuration, the two-component coatings</a:t>
            </a:r>
          </a:p>
        </p:txBody>
      </p:sp>
      <p:sp>
        <p:nvSpPr>
          <p:cNvPr id="35" name="TextBox 34"/>
          <p:cNvSpPr txBox="1"/>
          <p:nvPr/>
        </p:nvSpPr>
        <p:spPr>
          <a:xfrm>
            <a:off x="7829550" y="2101215"/>
            <a:ext cx="3245941" cy="194310"/>
          </a:xfrm>
          <a:prstGeom prst="rect">
            <a:avLst/>
          </a:prstGeom>
          <a:noFill/>
        </p:spPr>
        <p:txBody>
          <a:bodyPr wrap="none" lIns="0" rIns="0" tIns="0" bIns="0">
            <a:spAutoFit/>
          </a:bodyPr>
          <a:lstStyle/>
          <a:p>
            <a:r>
              <a:rPr sz="1150" b="0">
                <a:solidFill>
                  <a:srgbClr val="2E2E2E"/>
                </a:solidFill>
                <a:latin typeface="Calibri"/>
              </a:rPr>
              <a:t>segment is expected to dominate the market, gaining</a:t>
            </a:r>
          </a:p>
        </p:txBody>
      </p:sp>
      <p:pic>
        <p:nvPicPr>
          <p:cNvPr id="36" name="Picture 35" descr="lock.png"/>
          <p:cNvPicPr>
            <a:picLocks noChangeAspect="1"/>
          </p:cNvPicPr>
          <p:nvPr/>
        </p:nvPicPr>
        <p:blipFill>
          <a:blip r:embed="rId5"/>
          <a:stretch>
            <a:fillRect/>
          </a:stretch>
        </p:blipFill>
        <p:spPr>
          <a:xfrm>
            <a:off x="11024645" y="2090991"/>
            <a:ext cx="134549" cy="195707"/>
          </a:xfrm>
          <a:prstGeom prst="rect">
            <a:avLst/>
          </a:prstGeom>
        </p:spPr>
      </p:pic>
      <p:sp>
        <p:nvSpPr>
          <p:cNvPr id="37" name="TextBox 36"/>
          <p:cNvSpPr txBox="1"/>
          <p:nvPr/>
        </p:nvSpPr>
        <p:spPr>
          <a:xfrm>
            <a:off x="11199754" y="2101215"/>
            <a:ext cx="554856" cy="194310"/>
          </a:xfrm>
          <a:prstGeom prst="rect">
            <a:avLst/>
          </a:prstGeom>
          <a:noFill/>
        </p:spPr>
        <p:txBody>
          <a:bodyPr wrap="none" lIns="0" rIns="0" tIns="0" bIns="0">
            <a:spAutoFit/>
          </a:bodyPr>
          <a:lstStyle/>
          <a:p>
            <a:r>
              <a:rPr sz="1150" b="0">
                <a:solidFill>
                  <a:srgbClr val="2E2E2E"/>
                </a:solidFill>
                <a:latin typeface="Calibri"/>
              </a:rPr>
              <a:t>BPS and</a:t>
            </a:r>
          </a:p>
        </p:txBody>
      </p:sp>
      <p:sp>
        <p:nvSpPr>
          <p:cNvPr id="38" name="TextBox 37"/>
          <p:cNvSpPr txBox="1"/>
          <p:nvPr/>
        </p:nvSpPr>
        <p:spPr>
          <a:xfrm>
            <a:off x="7829550" y="2276475"/>
            <a:ext cx="934243" cy="194310"/>
          </a:xfrm>
          <a:prstGeom prst="rect">
            <a:avLst/>
          </a:prstGeom>
          <a:noFill/>
        </p:spPr>
        <p:txBody>
          <a:bodyPr wrap="none" lIns="0" rIns="0" tIns="0" bIns="0">
            <a:spAutoFit/>
          </a:bodyPr>
          <a:lstStyle/>
          <a:p>
            <a:r>
              <a:rPr sz="1150" b="0">
                <a:solidFill>
                  <a:srgbClr val="2E2E2E"/>
                </a:solidFill>
                <a:latin typeface="Calibri"/>
              </a:rPr>
              <a:t>accounting for</a:t>
            </a:r>
          </a:p>
        </p:txBody>
      </p:sp>
      <p:pic>
        <p:nvPicPr>
          <p:cNvPr id="39" name="Picture 38" descr="lock.png"/>
          <p:cNvPicPr>
            <a:picLocks noChangeAspect="1"/>
          </p:cNvPicPr>
          <p:nvPr/>
        </p:nvPicPr>
        <p:blipFill>
          <a:blip r:embed="rId5"/>
          <a:stretch>
            <a:fillRect/>
          </a:stretch>
        </p:blipFill>
        <p:spPr>
          <a:xfrm>
            <a:off x="8712947" y="2266251"/>
            <a:ext cx="134549" cy="195707"/>
          </a:xfrm>
          <a:prstGeom prst="rect">
            <a:avLst/>
          </a:prstGeom>
        </p:spPr>
      </p:pic>
      <p:sp>
        <p:nvSpPr>
          <p:cNvPr id="40" name="TextBox 39"/>
          <p:cNvSpPr txBox="1"/>
          <p:nvPr/>
        </p:nvSpPr>
        <p:spPr>
          <a:xfrm>
            <a:off x="8888056" y="227647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1" name="TextBox 40"/>
          <p:cNvSpPr txBox="1"/>
          <p:nvPr/>
        </p:nvSpPr>
        <p:spPr>
          <a:xfrm>
            <a:off x="7829550" y="2504313"/>
            <a:ext cx="3611636" cy="194310"/>
          </a:xfrm>
          <a:prstGeom prst="rect">
            <a:avLst/>
          </a:prstGeom>
          <a:noFill/>
        </p:spPr>
        <p:txBody>
          <a:bodyPr wrap="none" lIns="0" rIns="0" tIns="0" bIns="0">
            <a:spAutoFit/>
          </a:bodyPr>
          <a:lstStyle/>
          <a:p>
            <a:r>
              <a:rPr sz="1150" b="0">
                <a:solidFill>
                  <a:srgbClr val="2E2E2E"/>
                </a:solidFill>
                <a:latin typeface="Calibri"/>
              </a:rPr>
              <a:t>The single-component coatings segment is expected to lose</a:t>
            </a:r>
          </a:p>
        </p:txBody>
      </p:sp>
      <p:pic>
        <p:nvPicPr>
          <p:cNvPr id="42" name="Picture 41" descr="lock.png"/>
          <p:cNvPicPr>
            <a:picLocks noChangeAspect="1"/>
          </p:cNvPicPr>
          <p:nvPr/>
        </p:nvPicPr>
        <p:blipFill>
          <a:blip r:embed="rId5"/>
          <a:stretch>
            <a:fillRect/>
          </a:stretch>
        </p:blipFill>
        <p:spPr>
          <a:xfrm>
            <a:off x="11390340" y="2494089"/>
            <a:ext cx="134549" cy="195707"/>
          </a:xfrm>
          <a:prstGeom prst="rect">
            <a:avLst/>
          </a:prstGeom>
        </p:spPr>
      </p:pic>
      <p:sp>
        <p:nvSpPr>
          <p:cNvPr id="43" name="TextBox 42"/>
          <p:cNvSpPr txBox="1"/>
          <p:nvPr/>
        </p:nvSpPr>
        <p:spPr>
          <a:xfrm>
            <a:off x="7829550" y="267957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44" name="Picture 43" descr="lock.png"/>
          <p:cNvPicPr>
            <a:picLocks noChangeAspect="1"/>
          </p:cNvPicPr>
          <p:nvPr/>
        </p:nvPicPr>
        <p:blipFill>
          <a:blip r:embed="rId5"/>
          <a:stretch>
            <a:fillRect/>
          </a:stretch>
        </p:blipFill>
        <p:spPr>
          <a:xfrm>
            <a:off x="10417054" y="2669349"/>
            <a:ext cx="134549" cy="195707"/>
          </a:xfrm>
          <a:prstGeom prst="rect">
            <a:avLst/>
          </a:prstGeom>
        </p:spPr>
      </p:pic>
      <p:sp>
        <p:nvSpPr>
          <p:cNvPr id="45" name="TextBox 44"/>
          <p:cNvSpPr txBox="1"/>
          <p:nvPr/>
        </p:nvSpPr>
        <p:spPr>
          <a:xfrm>
            <a:off x="10592163"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6"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Technology</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Technology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Technology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4 sub-segments of Technology,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Technology segment categorizes the market by technology.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Solvent-Based Coatings</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UV-Curable and Other Specialty Co…</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Water-Based Coatings</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Reactive / 100% Solids Coatings</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9" name="Rectangle 48"/>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1" name="Rounded Rectangle 5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3" name="Rectangle 52"/>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5" name="Rounded Rectangle 5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7" name="Rectangle 56"/>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Technology split shows how demand is distributed across technology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9" name="Rectangle 5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1" name="TextBox 6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1_621_605E5C.png"/>
          <p:cNvPicPr>
            <a:picLocks noChangeAspect="1"/>
          </p:cNvPicPr>
          <p:nvPr/>
        </p:nvPicPr>
        <p:blipFill>
          <a:blip r:embed="rId4"/>
          <a:stretch>
            <a:fillRect/>
          </a:stretch>
        </p:blipFill>
        <p:spPr>
          <a:xfrm>
            <a:off x="2476330" y="2286582"/>
            <a:ext cx="1195728" cy="361950"/>
          </a:xfrm>
          <a:prstGeom prst="rect">
            <a:avLst/>
          </a:prstGeom>
        </p:spPr>
      </p:pic>
      <p:pic>
        <p:nvPicPr>
          <p:cNvPr id="64" name="Picture 63" descr="1_942_605E5C.png"/>
          <p:cNvPicPr>
            <a:picLocks noChangeAspect="1"/>
          </p:cNvPicPr>
          <p:nvPr/>
        </p:nvPicPr>
        <p:blipFill>
          <a:blip r:embed="rId5"/>
          <a:stretch>
            <a:fillRect/>
          </a:stretch>
        </p:blipFill>
        <p:spPr>
          <a:xfrm>
            <a:off x="2476330" y="2779432"/>
            <a:ext cx="1195728" cy="361950"/>
          </a:xfrm>
          <a:prstGeom prst="rect">
            <a:avLst/>
          </a:prstGeom>
        </p:spPr>
      </p:pic>
      <p:pic>
        <p:nvPicPr>
          <p:cNvPr id="65" name="Picture 64" descr="1_8__605E5C.png"/>
          <p:cNvPicPr>
            <a:picLocks noChangeAspect="1"/>
          </p:cNvPicPr>
          <p:nvPr/>
        </p:nvPicPr>
        <p:blipFill>
          <a:blip r:embed="rId6"/>
          <a:stretch>
            <a:fillRect/>
          </a:stretch>
        </p:blipFill>
        <p:spPr>
          <a:xfrm>
            <a:off x="2582976" y="3272281"/>
            <a:ext cx="982436" cy="361950"/>
          </a:xfrm>
          <a:prstGeom prst="rect">
            <a:avLst/>
          </a:prstGeom>
        </p:spPr>
      </p:pic>
      <p:pic>
        <p:nvPicPr>
          <p:cNvPr id="66" name="Picture 65" descr="1_121_605E5C.png"/>
          <p:cNvPicPr>
            <a:picLocks noChangeAspect="1"/>
          </p:cNvPicPr>
          <p:nvPr/>
        </p:nvPicPr>
        <p:blipFill>
          <a:blip r:embed="rId7"/>
          <a:stretch>
            <a:fillRect/>
          </a:stretch>
        </p:blipFill>
        <p:spPr>
          <a:xfrm>
            <a:off x="5005218" y="2286582"/>
            <a:ext cx="1195728" cy="361950"/>
          </a:xfrm>
          <a:prstGeom prst="rect">
            <a:avLst/>
          </a:prstGeom>
        </p:spPr>
      </p:pic>
      <p:pic>
        <p:nvPicPr>
          <p:cNvPr id="67" name="Picture 66" descr="1_937_605E5C.png"/>
          <p:cNvPicPr>
            <a:picLocks noChangeAspect="1"/>
          </p:cNvPicPr>
          <p:nvPr/>
        </p:nvPicPr>
        <p:blipFill>
          <a:blip r:embed="rId8"/>
          <a:stretch>
            <a:fillRect/>
          </a:stretch>
        </p:blipFill>
        <p:spPr>
          <a:xfrm>
            <a:off x="5005218" y="2779432"/>
            <a:ext cx="1195728" cy="361950"/>
          </a:xfrm>
          <a:prstGeom prst="rect">
            <a:avLst/>
          </a:prstGeom>
        </p:spPr>
      </p:pic>
      <p:pic>
        <p:nvPicPr>
          <p:cNvPr id="68" name="Picture 67" descr="5_6__605E5C.png"/>
          <p:cNvPicPr>
            <a:picLocks noChangeAspect="1"/>
          </p:cNvPicPr>
          <p:nvPr/>
        </p:nvPicPr>
        <p:blipFill>
          <a:blip r:embed="rId9"/>
          <a:stretch>
            <a:fillRect/>
          </a:stretch>
        </p:blipFill>
        <p:spPr>
          <a:xfrm>
            <a:off x="5111864" y="3272281"/>
            <a:ext cx="982436" cy="361950"/>
          </a:xfrm>
          <a:prstGeom prst="rect">
            <a:avLst/>
          </a:prstGeom>
        </p:spPr>
      </p:pic>
      <p:pic>
        <p:nvPicPr>
          <p:cNvPr id="69" name="Picture 68" descr="968_8_605E5C.png"/>
          <p:cNvPicPr>
            <a:picLocks noChangeAspect="1"/>
          </p:cNvPicPr>
          <p:nvPr/>
        </p:nvPicPr>
        <p:blipFill>
          <a:blip r:embed="rId10"/>
          <a:stretch>
            <a:fillRect/>
          </a:stretch>
        </p:blipFill>
        <p:spPr>
          <a:xfrm>
            <a:off x="7534105" y="2286582"/>
            <a:ext cx="1195728" cy="361950"/>
          </a:xfrm>
          <a:prstGeom prst="rect">
            <a:avLst/>
          </a:prstGeom>
        </p:spPr>
      </p:pic>
      <p:pic>
        <p:nvPicPr>
          <p:cNvPr id="70" name="Picture 69" descr="1_653_605E5C.png"/>
          <p:cNvPicPr>
            <a:picLocks noChangeAspect="1"/>
          </p:cNvPicPr>
          <p:nvPr/>
        </p:nvPicPr>
        <p:blipFill>
          <a:blip r:embed="rId11"/>
          <a:stretch>
            <a:fillRect/>
          </a:stretch>
        </p:blipFill>
        <p:spPr>
          <a:xfrm>
            <a:off x="7534105" y="2779432"/>
            <a:ext cx="1195728" cy="361950"/>
          </a:xfrm>
          <a:prstGeom prst="rect">
            <a:avLst/>
          </a:prstGeom>
        </p:spPr>
      </p:pic>
      <p:pic>
        <p:nvPicPr>
          <p:cNvPr id="71" name="Picture 70" descr="5_5__605E5C.png"/>
          <p:cNvPicPr>
            <a:picLocks noChangeAspect="1"/>
          </p:cNvPicPr>
          <p:nvPr/>
        </p:nvPicPr>
        <p:blipFill>
          <a:blip r:embed="rId12"/>
          <a:stretch>
            <a:fillRect/>
          </a:stretch>
        </p:blipFill>
        <p:spPr>
          <a:xfrm>
            <a:off x="7640751" y="3272281"/>
            <a:ext cx="982436" cy="361950"/>
          </a:xfrm>
          <a:prstGeom prst="rect">
            <a:avLst/>
          </a:prstGeom>
        </p:spPr>
      </p:pic>
      <p:pic>
        <p:nvPicPr>
          <p:cNvPr id="72" name="Picture 71" descr="605_8_605E5C.png"/>
          <p:cNvPicPr>
            <a:picLocks noChangeAspect="1"/>
          </p:cNvPicPr>
          <p:nvPr/>
        </p:nvPicPr>
        <p:blipFill>
          <a:blip r:embed="rId13"/>
          <a:stretch>
            <a:fillRect/>
          </a:stretch>
        </p:blipFill>
        <p:spPr>
          <a:xfrm>
            <a:off x="10062992" y="2286582"/>
            <a:ext cx="1195728" cy="361950"/>
          </a:xfrm>
          <a:prstGeom prst="rect">
            <a:avLst/>
          </a:prstGeom>
        </p:spPr>
      </p:pic>
      <p:pic>
        <p:nvPicPr>
          <p:cNvPr id="73" name="Picture 72" descr="996_8_605E5C.png"/>
          <p:cNvPicPr>
            <a:picLocks noChangeAspect="1"/>
          </p:cNvPicPr>
          <p:nvPr/>
        </p:nvPicPr>
        <p:blipFill>
          <a:blip r:embed="rId14"/>
          <a:stretch>
            <a:fillRect/>
          </a:stretch>
        </p:blipFill>
        <p:spPr>
          <a:xfrm>
            <a:off x="10062992" y="2779432"/>
            <a:ext cx="1195728" cy="361950"/>
          </a:xfrm>
          <a:prstGeom prst="rect">
            <a:avLst/>
          </a:prstGeom>
        </p:spPr>
      </p:pic>
      <p:pic>
        <p:nvPicPr>
          <p:cNvPr id="74" name="Picture 73" descr="5_1__605E5C.png"/>
          <p:cNvPicPr>
            <a:picLocks noChangeAspect="1"/>
          </p:cNvPicPr>
          <p:nvPr/>
        </p:nvPicPr>
        <p:blipFill>
          <a:blip r:embed="rId15"/>
          <a:stretch>
            <a:fillRect/>
          </a:stretch>
        </p:blipFill>
        <p:spPr>
          <a:xfrm>
            <a:off x="10169638" y="3272281"/>
            <a:ext cx="982436" cy="361950"/>
          </a:xfrm>
          <a:prstGeom prst="rect">
            <a:avLst/>
          </a:prstGeom>
        </p:spPr>
      </p:pic>
      <p:pic>
        <p:nvPicPr>
          <p:cNvPr id="75" name="Picture 74" descr="lock.png"/>
          <p:cNvPicPr>
            <a:picLocks noChangeAspect="1"/>
          </p:cNvPicPr>
          <p:nvPr/>
        </p:nvPicPr>
        <p:blipFill>
          <a:blip r:embed="rId16"/>
          <a:stretch>
            <a:fillRect/>
          </a:stretch>
        </p:blipFill>
        <p:spPr>
          <a:xfrm>
            <a:off x="2980848"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5509737" y="2827057"/>
            <a:ext cx="183356" cy="266700"/>
          </a:xfrm>
          <a:prstGeom prst="rect">
            <a:avLst/>
          </a:prstGeom>
        </p:spPr>
      </p:pic>
      <p:pic>
        <p:nvPicPr>
          <p:cNvPr id="77" name="Picture 76" descr="lock.png"/>
          <p:cNvPicPr>
            <a:picLocks noChangeAspect="1"/>
          </p:cNvPicPr>
          <p:nvPr/>
        </p:nvPicPr>
        <p:blipFill>
          <a:blip r:embed="rId16"/>
          <a:stretch>
            <a:fillRect/>
          </a:stretch>
        </p:blipFill>
        <p:spPr>
          <a:xfrm>
            <a:off x="8038624" y="2827057"/>
            <a:ext cx="183356" cy="266700"/>
          </a:xfrm>
          <a:prstGeom prst="rect">
            <a:avLst/>
          </a:prstGeom>
        </p:spPr>
      </p:pic>
      <p:pic>
        <p:nvPicPr>
          <p:cNvPr id="78" name="Picture 77" descr="lock.png"/>
          <p:cNvPicPr>
            <a:picLocks noChangeAspect="1"/>
          </p:cNvPicPr>
          <p:nvPr/>
        </p:nvPicPr>
        <p:blipFill>
          <a:blip r:embed="rId16"/>
          <a:stretch>
            <a:fillRect/>
          </a:stretch>
        </p:blipFill>
        <p:spPr>
          <a:xfrm>
            <a:off x="10567511" y="2827057"/>
            <a:ext cx="183356" cy="266700"/>
          </a:xfrm>
          <a:prstGeom prst="rect">
            <a:avLst/>
          </a:prstGeom>
        </p:spPr>
      </p:pic>
      <p:sp>
        <p:nvSpPr>
          <p:cNvPr id="79" name="TextBox 78"/>
          <p:cNvSpPr txBox="1"/>
          <p:nvPr/>
        </p:nvSpPr>
        <p:spPr>
          <a:xfrm>
            <a:off x="485775" y="4229437"/>
            <a:ext cx="2527498" cy="186689"/>
          </a:xfrm>
          <a:prstGeom prst="rect">
            <a:avLst/>
          </a:prstGeom>
          <a:noFill/>
        </p:spPr>
        <p:txBody>
          <a:bodyPr wrap="none" lIns="0" rIns="0" tIns="0" bIns="0">
            <a:spAutoFit/>
          </a:bodyPr>
          <a:lstStyle/>
          <a:p>
            <a:r>
              <a:rPr sz="1100" b="0">
                <a:solidFill>
                  <a:srgbClr val="2E2E2E"/>
                </a:solidFill>
                <a:latin typeface="Calibri"/>
              </a:rPr>
              <a:t>Among waterproof coatings by technology,</a:t>
            </a:r>
          </a:p>
        </p:txBody>
      </p:sp>
      <p:sp>
        <p:nvSpPr>
          <p:cNvPr id="80" name="TextBox 79"/>
          <p:cNvSpPr txBox="1"/>
          <p:nvPr/>
        </p:nvSpPr>
        <p:spPr>
          <a:xfrm>
            <a:off x="485775" y="4397077"/>
            <a:ext cx="2914650" cy="186689"/>
          </a:xfrm>
          <a:prstGeom prst="rect">
            <a:avLst/>
          </a:prstGeom>
          <a:noFill/>
        </p:spPr>
        <p:txBody>
          <a:bodyPr wrap="none" lIns="0" rIns="0" tIns="0" bIns="0">
            <a:spAutoFit/>
          </a:bodyPr>
          <a:lstStyle/>
          <a:p>
            <a:r>
              <a:rPr sz="1100" b="0">
                <a:solidFill>
                  <a:srgbClr val="2E2E2E"/>
                </a:solidFill>
                <a:latin typeface="Calibri"/>
              </a:rPr>
              <a:t>uv-curable and other specialty coatings segment is</a:t>
            </a:r>
          </a:p>
        </p:txBody>
      </p:sp>
      <p:sp>
        <p:nvSpPr>
          <p:cNvPr id="81" name="TextBox 80"/>
          <p:cNvSpPr txBox="1"/>
          <p:nvPr/>
        </p:nvSpPr>
        <p:spPr>
          <a:xfrm>
            <a:off x="485775" y="456471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82" name="Picture 81" descr="lock.png"/>
          <p:cNvPicPr>
            <a:picLocks noChangeAspect="1"/>
          </p:cNvPicPr>
          <p:nvPr/>
        </p:nvPicPr>
        <p:blipFill>
          <a:blip r:embed="rId16"/>
          <a:stretch>
            <a:fillRect/>
          </a:stretch>
        </p:blipFill>
        <p:spPr>
          <a:xfrm>
            <a:off x="2815059" y="4554938"/>
            <a:ext cx="128699" cy="187198"/>
          </a:xfrm>
          <a:prstGeom prst="rect">
            <a:avLst/>
          </a:prstGeom>
        </p:spPr>
      </p:pic>
      <p:sp>
        <p:nvSpPr>
          <p:cNvPr id="83" name="TextBox 82"/>
          <p:cNvSpPr txBox="1"/>
          <p:nvPr/>
        </p:nvSpPr>
        <p:spPr>
          <a:xfrm>
            <a:off x="2982555" y="456471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84" name="TextBox 83"/>
          <p:cNvSpPr txBox="1"/>
          <p:nvPr/>
        </p:nvSpPr>
        <p:spPr>
          <a:xfrm>
            <a:off x="485775" y="4732357"/>
            <a:ext cx="2699122" cy="186689"/>
          </a:xfrm>
          <a:prstGeom prst="rect">
            <a:avLst/>
          </a:prstGeom>
          <a:noFill/>
        </p:spPr>
        <p:txBody>
          <a:bodyPr wrap="none" lIns="0" rIns="0" tIns="0" bIns="0">
            <a:spAutoFit/>
          </a:bodyPr>
          <a:lstStyle/>
          <a:p>
            <a:r>
              <a:rPr sz="1100" b="0">
                <a:solidFill>
                  <a:srgbClr val="2E2E2E"/>
                </a:solidFill>
                <a:latin typeface="Calibri"/>
              </a:rPr>
              <a:t>the forecast period. In terms of value share by</a:t>
            </a:r>
          </a:p>
        </p:txBody>
      </p:sp>
      <p:sp>
        <p:nvSpPr>
          <p:cNvPr id="85" name="TextBox 84"/>
          <p:cNvSpPr txBox="1"/>
          <p:nvPr/>
        </p:nvSpPr>
        <p:spPr>
          <a:xfrm>
            <a:off x="485775" y="4899997"/>
            <a:ext cx="2914650" cy="186689"/>
          </a:xfrm>
          <a:prstGeom prst="rect">
            <a:avLst/>
          </a:prstGeom>
          <a:noFill/>
        </p:spPr>
        <p:txBody>
          <a:bodyPr wrap="none" lIns="0" rIns="0" tIns="0" bIns="0">
            <a:spAutoFit/>
          </a:bodyPr>
          <a:lstStyle/>
          <a:p>
            <a:r>
              <a:rPr sz="1100" b="0">
                <a:solidFill>
                  <a:srgbClr val="2E2E2E"/>
                </a:solidFill>
                <a:latin typeface="Calibri"/>
              </a:rPr>
              <a:t>technology, the solvent-based coatings segment is</a:t>
            </a:r>
          </a:p>
        </p:txBody>
      </p:sp>
      <p:sp>
        <p:nvSpPr>
          <p:cNvPr id="86" name="TextBox 85"/>
          <p:cNvSpPr txBox="1"/>
          <p:nvPr/>
        </p:nvSpPr>
        <p:spPr>
          <a:xfrm>
            <a:off x="485775" y="5067637"/>
            <a:ext cx="2388889" cy="186689"/>
          </a:xfrm>
          <a:prstGeom prst="rect">
            <a:avLst/>
          </a:prstGeom>
          <a:noFill/>
        </p:spPr>
        <p:txBody>
          <a:bodyPr wrap="none" lIns="0" rIns="0" tIns="0" bIns="0">
            <a:spAutoFit/>
          </a:bodyPr>
          <a:lstStyle/>
          <a:p>
            <a:r>
              <a:rPr sz="1100" b="0">
                <a:solidFill>
                  <a:srgbClr val="2E2E2E"/>
                </a:solidFill>
                <a:latin typeface="Calibri"/>
              </a:rPr>
              <a:t>expected to dominate the market, losing</a:t>
            </a:r>
          </a:p>
        </p:txBody>
      </p:sp>
      <p:pic>
        <p:nvPicPr>
          <p:cNvPr id="87" name="Picture 86" descr="lock.png"/>
          <p:cNvPicPr>
            <a:picLocks noChangeAspect="1"/>
          </p:cNvPicPr>
          <p:nvPr/>
        </p:nvPicPr>
        <p:blipFill>
          <a:blip r:embed="rId16"/>
          <a:stretch>
            <a:fillRect/>
          </a:stretch>
        </p:blipFill>
        <p:spPr>
          <a:xfrm>
            <a:off x="2822716" y="5057858"/>
            <a:ext cx="128699" cy="187198"/>
          </a:xfrm>
          <a:prstGeom prst="rect">
            <a:avLst/>
          </a:prstGeom>
        </p:spPr>
      </p:pic>
      <p:sp>
        <p:nvSpPr>
          <p:cNvPr id="88" name="TextBox 87"/>
          <p:cNvSpPr txBox="1"/>
          <p:nvPr/>
        </p:nvSpPr>
        <p:spPr>
          <a:xfrm>
            <a:off x="2990212" y="506763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89" name="TextBox 88"/>
          <p:cNvSpPr txBox="1"/>
          <p:nvPr/>
        </p:nvSpPr>
        <p:spPr>
          <a:xfrm>
            <a:off x="485775" y="523527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90" name="Picture 89" descr="lock.png"/>
          <p:cNvPicPr>
            <a:picLocks noChangeAspect="1"/>
          </p:cNvPicPr>
          <p:nvPr/>
        </p:nvPicPr>
        <p:blipFill>
          <a:blip r:embed="rId16"/>
          <a:stretch>
            <a:fillRect/>
          </a:stretch>
        </p:blipFill>
        <p:spPr>
          <a:xfrm>
            <a:off x="1576057" y="5225498"/>
            <a:ext cx="128699" cy="187198"/>
          </a:xfrm>
          <a:prstGeom prst="rect">
            <a:avLst/>
          </a:prstGeom>
        </p:spPr>
      </p:pic>
      <p:sp>
        <p:nvSpPr>
          <p:cNvPr id="91" name="TextBox 90"/>
          <p:cNvSpPr txBox="1"/>
          <p:nvPr/>
        </p:nvSpPr>
        <p:spPr>
          <a:xfrm>
            <a:off x="1743553"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92" name="TextBox 91"/>
          <p:cNvSpPr txBox="1"/>
          <p:nvPr/>
        </p:nvSpPr>
        <p:spPr>
          <a:xfrm>
            <a:off x="485775" y="5453209"/>
            <a:ext cx="2757512" cy="186689"/>
          </a:xfrm>
          <a:prstGeom prst="rect">
            <a:avLst/>
          </a:prstGeom>
          <a:noFill/>
        </p:spPr>
        <p:txBody>
          <a:bodyPr wrap="none" lIns="0" rIns="0" tIns="0" bIns="0">
            <a:spAutoFit/>
          </a:bodyPr>
          <a:lstStyle/>
          <a:p>
            <a:r>
              <a:rPr sz="1100" b="0">
                <a:solidFill>
                  <a:srgbClr val="2E2E2E"/>
                </a:solidFill>
                <a:latin typeface="Calibri"/>
              </a:rPr>
              <a:t>Solvent-based coatings segment is projected to</a:t>
            </a:r>
          </a:p>
        </p:txBody>
      </p:sp>
      <p:sp>
        <p:nvSpPr>
          <p:cNvPr id="93" name="TextBox 92"/>
          <p:cNvSpPr txBox="1"/>
          <p:nvPr/>
        </p:nvSpPr>
        <p:spPr>
          <a:xfrm>
            <a:off x="485775" y="562084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94" name="Picture 93" descr="lock.png"/>
          <p:cNvPicPr>
            <a:picLocks noChangeAspect="1"/>
          </p:cNvPicPr>
          <p:nvPr/>
        </p:nvPicPr>
        <p:blipFill>
          <a:blip r:embed="rId16"/>
          <a:stretch>
            <a:fillRect/>
          </a:stretch>
        </p:blipFill>
        <p:spPr>
          <a:xfrm>
            <a:off x="946316" y="5611070"/>
            <a:ext cx="128699" cy="187198"/>
          </a:xfrm>
          <a:prstGeom prst="rect">
            <a:avLst/>
          </a:prstGeom>
        </p:spPr>
      </p:pic>
      <p:sp>
        <p:nvSpPr>
          <p:cNvPr id="95" name="TextBox 94"/>
          <p:cNvSpPr txBox="1"/>
          <p:nvPr/>
        </p:nvSpPr>
        <p:spPr>
          <a:xfrm>
            <a:off x="1113812" y="5620849"/>
            <a:ext cx="2052191" cy="186689"/>
          </a:xfrm>
          <a:prstGeom prst="rect">
            <a:avLst/>
          </a:prstGeom>
          <a:noFill/>
        </p:spPr>
        <p:txBody>
          <a:bodyPr wrap="none" lIns="0" rIns="0" tIns="0" bIns="0">
            <a:spAutoFit/>
          </a:bodyPr>
          <a:lstStyle/>
          <a:p>
            <a:r>
              <a:rPr sz="1100" b="0">
                <a:solidFill>
                  <a:srgbClr val="2E2E2E"/>
                </a:solidFill>
                <a:latin typeface="Calibri"/>
              </a:rPr>
              <a:t>X higher value than uv-curable and</a:t>
            </a:r>
          </a:p>
        </p:txBody>
      </p:sp>
      <p:sp>
        <p:nvSpPr>
          <p:cNvPr id="96" name="TextBox 95"/>
          <p:cNvSpPr txBox="1"/>
          <p:nvPr/>
        </p:nvSpPr>
        <p:spPr>
          <a:xfrm>
            <a:off x="485775" y="5788489"/>
            <a:ext cx="2433637" cy="186689"/>
          </a:xfrm>
          <a:prstGeom prst="rect">
            <a:avLst/>
          </a:prstGeom>
          <a:noFill/>
        </p:spPr>
        <p:txBody>
          <a:bodyPr wrap="none" lIns="0" rIns="0" tIns="0" bIns="0">
            <a:spAutoFit/>
          </a:bodyPr>
          <a:lstStyle/>
          <a:p>
            <a:r>
              <a:rPr sz="1100" b="0">
                <a:solidFill>
                  <a:srgbClr val="2E2E2E"/>
                </a:solidFill>
                <a:latin typeface="Calibri"/>
              </a:rPr>
              <a:t>other specialty coatings segment in 2036.</a:t>
            </a:r>
          </a:p>
        </p:txBody>
      </p:sp>
      <p:sp>
        <p:nvSpPr>
          <p:cNvPr id="97" name="TextBox 96"/>
          <p:cNvSpPr txBox="1"/>
          <p:nvPr/>
        </p:nvSpPr>
        <p:spPr>
          <a:xfrm>
            <a:off x="3838575" y="4229437"/>
            <a:ext cx="1555328" cy="186689"/>
          </a:xfrm>
          <a:prstGeom prst="rect">
            <a:avLst/>
          </a:prstGeom>
          <a:noFill/>
        </p:spPr>
        <p:txBody>
          <a:bodyPr wrap="none" lIns="0" rIns="0" tIns="0" bIns="0">
            <a:spAutoFit/>
          </a:bodyPr>
          <a:lstStyle/>
          <a:p>
            <a:r>
              <a:rPr sz="1100" b="0">
                <a:solidFill>
                  <a:srgbClr val="2E2E2E"/>
                </a:solidFill>
                <a:latin typeface="Calibri"/>
              </a:rPr>
              <a:t>● Solvent-Based Coatings:</a:t>
            </a:r>
          </a:p>
        </p:txBody>
      </p:sp>
      <p:pic>
        <p:nvPicPr>
          <p:cNvPr id="98" name="Picture 97" descr="lock.png"/>
          <p:cNvPicPr>
            <a:picLocks noChangeAspect="1"/>
          </p:cNvPicPr>
          <p:nvPr/>
        </p:nvPicPr>
        <p:blipFill>
          <a:blip r:embed="rId16"/>
          <a:stretch>
            <a:fillRect/>
          </a:stretch>
        </p:blipFill>
        <p:spPr>
          <a:xfrm>
            <a:off x="5341954" y="4219658"/>
            <a:ext cx="128699" cy="187198"/>
          </a:xfrm>
          <a:prstGeom prst="rect">
            <a:avLst/>
          </a:prstGeom>
        </p:spPr>
      </p:pic>
      <p:sp>
        <p:nvSpPr>
          <p:cNvPr id="99" name="TextBox 98"/>
          <p:cNvSpPr txBox="1"/>
          <p:nvPr/>
        </p:nvSpPr>
        <p:spPr>
          <a:xfrm>
            <a:off x="5509450"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0" name="Picture 99" descr="lock.png"/>
          <p:cNvPicPr>
            <a:picLocks noChangeAspect="1"/>
          </p:cNvPicPr>
          <p:nvPr/>
        </p:nvPicPr>
        <p:blipFill>
          <a:blip r:embed="rId16"/>
          <a:stretch>
            <a:fillRect/>
          </a:stretch>
        </p:blipFill>
        <p:spPr>
          <a:xfrm>
            <a:off x="6368900" y="4219658"/>
            <a:ext cx="128699" cy="187198"/>
          </a:xfrm>
          <a:prstGeom prst="rect">
            <a:avLst/>
          </a:prstGeom>
        </p:spPr>
      </p:pic>
      <p:sp>
        <p:nvSpPr>
          <p:cNvPr id="101" name="TextBox 100"/>
          <p:cNvSpPr txBox="1"/>
          <p:nvPr/>
        </p:nvSpPr>
        <p:spPr>
          <a:xfrm>
            <a:off x="6536396"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102" name="TextBox 101"/>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103" name="TextBox 102"/>
          <p:cNvSpPr txBox="1"/>
          <p:nvPr/>
        </p:nvSpPr>
        <p:spPr>
          <a:xfrm>
            <a:off x="3838575" y="4615009"/>
            <a:ext cx="2547416" cy="186689"/>
          </a:xfrm>
          <a:prstGeom prst="rect">
            <a:avLst/>
          </a:prstGeom>
          <a:noFill/>
        </p:spPr>
        <p:txBody>
          <a:bodyPr wrap="none" lIns="0" rIns="0" tIns="0" bIns="0">
            <a:spAutoFit/>
          </a:bodyPr>
          <a:lstStyle/>
          <a:p>
            <a:r>
              <a:rPr sz="1100" b="0">
                <a:solidFill>
                  <a:srgbClr val="2E2E2E"/>
                </a:solidFill>
                <a:latin typeface="Calibri"/>
              </a:rPr>
              <a:t>● UV-Curable and Other Specialty Coatings:</a:t>
            </a:r>
          </a:p>
        </p:txBody>
      </p:sp>
      <p:pic>
        <p:nvPicPr>
          <p:cNvPr id="104" name="Picture 103" descr="lock.png"/>
          <p:cNvPicPr>
            <a:picLocks noChangeAspect="1"/>
          </p:cNvPicPr>
          <p:nvPr/>
        </p:nvPicPr>
        <p:blipFill>
          <a:blip r:embed="rId16"/>
          <a:stretch>
            <a:fillRect/>
          </a:stretch>
        </p:blipFill>
        <p:spPr>
          <a:xfrm>
            <a:off x="6334043" y="4605230"/>
            <a:ext cx="128699" cy="187198"/>
          </a:xfrm>
          <a:prstGeom prst="rect">
            <a:avLst/>
          </a:prstGeom>
        </p:spPr>
      </p:pic>
      <p:sp>
        <p:nvSpPr>
          <p:cNvPr id="105" name="TextBox 104"/>
          <p:cNvSpPr txBox="1"/>
          <p:nvPr/>
        </p:nvSpPr>
        <p:spPr>
          <a:xfrm>
            <a:off x="6501539"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6" name="Picture 105" descr="lock.png"/>
          <p:cNvPicPr>
            <a:picLocks noChangeAspect="1"/>
          </p:cNvPicPr>
          <p:nvPr/>
        </p:nvPicPr>
        <p:blipFill>
          <a:blip r:embed="rId16"/>
          <a:stretch>
            <a:fillRect/>
          </a:stretch>
        </p:blipFill>
        <p:spPr>
          <a:xfrm>
            <a:off x="7360989" y="4605230"/>
            <a:ext cx="128699" cy="187198"/>
          </a:xfrm>
          <a:prstGeom prst="rect">
            <a:avLst/>
          </a:prstGeom>
        </p:spPr>
      </p:pic>
      <p:sp>
        <p:nvSpPr>
          <p:cNvPr id="107" name="TextBox 106"/>
          <p:cNvSpPr txBox="1"/>
          <p:nvPr/>
        </p:nvSpPr>
        <p:spPr>
          <a:xfrm>
            <a:off x="3838575" y="478264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08" name="TextBox 107"/>
          <p:cNvSpPr txBox="1"/>
          <p:nvPr/>
        </p:nvSpPr>
        <p:spPr>
          <a:xfrm>
            <a:off x="3838575" y="5000581"/>
            <a:ext cx="1489025" cy="186689"/>
          </a:xfrm>
          <a:prstGeom prst="rect">
            <a:avLst/>
          </a:prstGeom>
          <a:noFill/>
        </p:spPr>
        <p:txBody>
          <a:bodyPr wrap="none" lIns="0" rIns="0" tIns="0" bIns="0">
            <a:spAutoFit/>
          </a:bodyPr>
          <a:lstStyle/>
          <a:p>
            <a:r>
              <a:rPr sz="1100" b="0">
                <a:solidFill>
                  <a:srgbClr val="2E2E2E"/>
                </a:solidFill>
                <a:latin typeface="Calibri"/>
              </a:rPr>
              <a:t>● Water-Based Coatings:</a:t>
            </a:r>
          </a:p>
        </p:txBody>
      </p:sp>
      <p:pic>
        <p:nvPicPr>
          <p:cNvPr id="109" name="Picture 108" descr="lock.png"/>
          <p:cNvPicPr>
            <a:picLocks noChangeAspect="1"/>
          </p:cNvPicPr>
          <p:nvPr/>
        </p:nvPicPr>
        <p:blipFill>
          <a:blip r:embed="rId16"/>
          <a:stretch>
            <a:fillRect/>
          </a:stretch>
        </p:blipFill>
        <p:spPr>
          <a:xfrm>
            <a:off x="5275651" y="4990801"/>
            <a:ext cx="128699" cy="187198"/>
          </a:xfrm>
          <a:prstGeom prst="rect">
            <a:avLst/>
          </a:prstGeom>
        </p:spPr>
      </p:pic>
      <p:sp>
        <p:nvSpPr>
          <p:cNvPr id="110" name="TextBox 109"/>
          <p:cNvSpPr txBox="1"/>
          <p:nvPr/>
        </p:nvSpPr>
        <p:spPr>
          <a:xfrm>
            <a:off x="5443147"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1" name="Picture 110" descr="lock.png"/>
          <p:cNvPicPr>
            <a:picLocks noChangeAspect="1"/>
          </p:cNvPicPr>
          <p:nvPr/>
        </p:nvPicPr>
        <p:blipFill>
          <a:blip r:embed="rId16"/>
          <a:stretch>
            <a:fillRect/>
          </a:stretch>
        </p:blipFill>
        <p:spPr>
          <a:xfrm>
            <a:off x="6302598" y="4990801"/>
            <a:ext cx="128699" cy="187198"/>
          </a:xfrm>
          <a:prstGeom prst="rect">
            <a:avLst/>
          </a:prstGeom>
        </p:spPr>
      </p:pic>
      <p:sp>
        <p:nvSpPr>
          <p:cNvPr id="112" name="TextBox 111"/>
          <p:cNvSpPr txBox="1"/>
          <p:nvPr/>
        </p:nvSpPr>
        <p:spPr>
          <a:xfrm>
            <a:off x="6470093" y="500058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3" name="TextBox 112"/>
          <p:cNvSpPr txBox="1"/>
          <p:nvPr/>
        </p:nvSpPr>
        <p:spPr>
          <a:xfrm>
            <a:off x="3838575" y="5218513"/>
            <a:ext cx="2024087" cy="186689"/>
          </a:xfrm>
          <a:prstGeom prst="rect">
            <a:avLst/>
          </a:prstGeom>
          <a:noFill/>
        </p:spPr>
        <p:txBody>
          <a:bodyPr wrap="none" lIns="0" rIns="0" tIns="0" bIns="0">
            <a:spAutoFit/>
          </a:bodyPr>
          <a:lstStyle/>
          <a:p>
            <a:r>
              <a:rPr sz="1100" b="0">
                <a:solidFill>
                  <a:srgbClr val="2E2E2E"/>
                </a:solidFill>
                <a:latin typeface="Calibri"/>
              </a:rPr>
              <a:t>● Reactive / 100% Solids Coatings:</a:t>
            </a:r>
          </a:p>
        </p:txBody>
      </p:sp>
      <p:pic>
        <p:nvPicPr>
          <p:cNvPr id="114" name="Picture 113" descr="lock.png"/>
          <p:cNvPicPr>
            <a:picLocks noChangeAspect="1"/>
          </p:cNvPicPr>
          <p:nvPr/>
        </p:nvPicPr>
        <p:blipFill>
          <a:blip r:embed="rId16"/>
          <a:stretch>
            <a:fillRect/>
          </a:stretch>
        </p:blipFill>
        <p:spPr>
          <a:xfrm>
            <a:off x="5810713" y="5208733"/>
            <a:ext cx="128699" cy="187198"/>
          </a:xfrm>
          <a:prstGeom prst="rect">
            <a:avLst/>
          </a:prstGeom>
        </p:spPr>
      </p:pic>
      <p:sp>
        <p:nvSpPr>
          <p:cNvPr id="115" name="TextBox 114"/>
          <p:cNvSpPr txBox="1"/>
          <p:nvPr/>
        </p:nvSpPr>
        <p:spPr>
          <a:xfrm>
            <a:off x="5978209" y="521851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6" name="Picture 115" descr="lock.png"/>
          <p:cNvPicPr>
            <a:picLocks noChangeAspect="1"/>
          </p:cNvPicPr>
          <p:nvPr/>
        </p:nvPicPr>
        <p:blipFill>
          <a:blip r:embed="rId16"/>
          <a:stretch>
            <a:fillRect/>
          </a:stretch>
        </p:blipFill>
        <p:spPr>
          <a:xfrm>
            <a:off x="6837659" y="5208733"/>
            <a:ext cx="128699" cy="187198"/>
          </a:xfrm>
          <a:prstGeom prst="rect">
            <a:avLst/>
          </a:prstGeom>
        </p:spPr>
      </p:pic>
      <p:sp>
        <p:nvSpPr>
          <p:cNvPr id="117" name="TextBox 116"/>
          <p:cNvSpPr txBox="1"/>
          <p:nvPr/>
        </p:nvSpPr>
        <p:spPr>
          <a:xfrm>
            <a:off x="7005155" y="5218513"/>
            <a:ext cx="787234" cy="186689"/>
          </a:xfrm>
          <a:prstGeom prst="rect">
            <a:avLst/>
          </a:prstGeom>
          <a:noFill/>
        </p:spPr>
        <p:txBody>
          <a:bodyPr wrap="none" lIns="0" rIns="0" tIns="0" bIns="0">
            <a:spAutoFit/>
          </a:bodyPr>
          <a:lstStyle/>
          <a:p>
            <a:r>
              <a:rPr sz="1100" b="0">
                <a:solidFill>
                  <a:srgbClr val="2E2E2E"/>
                </a:solidFill>
                <a:latin typeface="Calibri"/>
              </a:rPr>
              <a:t>CAGR serves</a:t>
            </a:r>
          </a:p>
        </p:txBody>
      </p:sp>
      <p:sp>
        <p:nvSpPr>
          <p:cNvPr id="118" name="TextBox 117"/>
          <p:cNvSpPr txBox="1"/>
          <p:nvPr/>
        </p:nvSpPr>
        <p:spPr>
          <a:xfrm>
            <a:off x="3838575" y="5386153"/>
            <a:ext cx="517673" cy="186689"/>
          </a:xfrm>
          <a:prstGeom prst="rect">
            <a:avLst/>
          </a:prstGeom>
          <a:noFill/>
        </p:spPr>
        <p:txBody>
          <a:bodyPr wrap="none" lIns="0" rIns="0" tIns="0" bIns="0">
            <a:spAutoFit/>
          </a:bodyPr>
          <a:lstStyle/>
          <a:p>
            <a:r>
              <a:rPr sz="1100" b="0">
                <a:solidFill>
                  <a:srgbClr val="2E2E2E"/>
                </a:solidFill>
                <a:latin typeface="Calibri"/>
              </a:rPr>
              <a:t>a niche.</a:t>
            </a:r>
          </a:p>
        </p:txBody>
      </p:sp>
      <p:sp>
        <p:nvSpPr>
          <p:cNvPr id="119" name="TextBox 118"/>
          <p:cNvSpPr txBox="1"/>
          <p:nvPr/>
        </p:nvSpPr>
        <p:spPr>
          <a:xfrm>
            <a:off x="8524875" y="5842641"/>
            <a:ext cx="3094471" cy="194310"/>
          </a:xfrm>
          <a:prstGeom prst="rect">
            <a:avLst/>
          </a:prstGeom>
          <a:noFill/>
        </p:spPr>
        <p:txBody>
          <a:bodyPr wrap="none" lIns="0" rIns="0" tIns="0" bIns="0">
            <a:spAutoFit/>
          </a:bodyPr>
          <a:lstStyle/>
          <a:p>
            <a:r>
              <a:rPr sz="1150" b="1">
                <a:solidFill>
                  <a:srgbClr val="0B2E4A"/>
                </a:solidFill>
                <a:latin typeface="Calibri"/>
              </a:rPr>
              <a:t>The Technology segment is projected to grow at a</a:t>
            </a:r>
          </a:p>
        </p:txBody>
      </p:sp>
      <p:sp>
        <p:nvSpPr>
          <p:cNvPr id="120" name="TextBox 119"/>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21" name="Picture 120" descr="lock.png"/>
          <p:cNvPicPr>
            <a:picLocks noChangeAspect="1"/>
          </p:cNvPicPr>
          <p:nvPr/>
        </p:nvPicPr>
        <p:blipFill>
          <a:blip r:embed="rId16"/>
          <a:stretch>
            <a:fillRect/>
          </a:stretch>
        </p:blipFill>
        <p:spPr>
          <a:xfrm>
            <a:off x="9048826" y="6007677"/>
            <a:ext cx="134549" cy="195707"/>
          </a:xfrm>
          <a:prstGeom prst="rect">
            <a:avLst/>
          </a:prstGeom>
        </p:spPr>
      </p:pic>
      <p:sp>
        <p:nvSpPr>
          <p:cNvPr id="122" name="TextBox 121"/>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Technology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Technology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Technology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Technology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465297" cy="186689"/>
          </a:xfrm>
          <a:prstGeom prst="rect">
            <a:avLst/>
          </a:prstGeom>
          <a:noFill/>
        </p:spPr>
        <p:txBody>
          <a:bodyPr wrap="none" lIns="0" rIns="0" tIns="0" bIns="0">
            <a:spAutoFit/>
          </a:bodyPr>
          <a:lstStyle/>
          <a:p>
            <a:r>
              <a:rPr sz="1100" b="0">
                <a:solidFill>
                  <a:srgbClr val="2E2E2E"/>
                </a:solidFill>
                <a:latin typeface="Calibri"/>
              </a:rPr>
              <a:t>Uv-curable and other specialty coatings followed by water-based coatings are expected to be the two most attractive technology segments in the North America waterproof coatings market in terms of</a:t>
            </a:r>
          </a:p>
        </p:txBody>
      </p:sp>
      <p:sp>
        <p:nvSpPr>
          <p:cNvPr id="20" name="TextBox 19"/>
          <p:cNvSpPr txBox="1"/>
          <p:nvPr/>
        </p:nvSpPr>
        <p:spPr>
          <a:xfrm>
            <a:off x="257175" y="5861685"/>
            <a:ext cx="7006339" cy="186689"/>
          </a:xfrm>
          <a:prstGeom prst="rect">
            <a:avLst/>
          </a:prstGeom>
          <a:noFill/>
        </p:spPr>
        <p:txBody>
          <a:bodyPr wrap="none" lIns="0" rIns="0" tIns="0" bIns="0">
            <a:spAutoFit/>
          </a:bodyPr>
          <a:lstStyle/>
          <a:p>
            <a:r>
              <a:rPr sz="1100" b="0">
                <a:solidFill>
                  <a:srgbClr val="2E2E2E"/>
                </a:solidFill>
                <a:latin typeface="Calibri"/>
              </a:rPr>
              <a:t>value over the forecast period. UV-Curable and other specialty coatings and Water-Based coatings exhibit a CAGR index of</a:t>
            </a:r>
          </a:p>
        </p:txBody>
      </p:sp>
      <p:pic>
        <p:nvPicPr>
          <p:cNvPr id="21" name="Picture 20" descr="lock.png"/>
          <p:cNvPicPr>
            <a:picLocks noChangeAspect="1"/>
          </p:cNvPicPr>
          <p:nvPr/>
        </p:nvPicPr>
        <p:blipFill>
          <a:blip r:embed="rId6"/>
          <a:stretch>
            <a:fillRect/>
          </a:stretch>
        </p:blipFill>
        <p:spPr>
          <a:xfrm>
            <a:off x="7211566" y="5851905"/>
            <a:ext cx="128699" cy="187198"/>
          </a:xfrm>
          <a:prstGeom prst="rect">
            <a:avLst/>
          </a:prstGeom>
        </p:spPr>
      </p:pic>
      <p:sp>
        <p:nvSpPr>
          <p:cNvPr id="22" name="TextBox 21"/>
          <p:cNvSpPr txBox="1"/>
          <p:nvPr/>
        </p:nvSpPr>
        <p:spPr>
          <a:xfrm>
            <a:off x="7379062"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7616956" y="5851905"/>
            <a:ext cx="128699" cy="187198"/>
          </a:xfrm>
          <a:prstGeom prst="rect">
            <a:avLst/>
          </a:prstGeom>
        </p:spPr>
      </p:pic>
      <p:sp>
        <p:nvSpPr>
          <p:cNvPr id="24" name="TextBox 23"/>
          <p:cNvSpPr txBox="1"/>
          <p:nvPr/>
        </p:nvSpPr>
        <p:spPr>
          <a:xfrm>
            <a:off x="7784452"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9393425" y="5851905"/>
            <a:ext cx="128699" cy="187198"/>
          </a:xfrm>
          <a:prstGeom prst="rect">
            <a:avLst/>
          </a:prstGeom>
        </p:spPr>
      </p:pic>
      <p:sp>
        <p:nvSpPr>
          <p:cNvPr id="26" name="TextBox 25"/>
          <p:cNvSpPr txBox="1"/>
          <p:nvPr/>
        </p:nvSpPr>
        <p:spPr>
          <a:xfrm>
            <a:off x="9560921"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9798816" y="5851905"/>
            <a:ext cx="128699" cy="187198"/>
          </a:xfrm>
          <a:prstGeom prst="rect">
            <a:avLst/>
          </a:prstGeom>
        </p:spPr>
      </p:pic>
      <p:sp>
        <p:nvSpPr>
          <p:cNvPr id="28" name="TextBox 27"/>
          <p:cNvSpPr txBox="1"/>
          <p:nvPr/>
        </p:nvSpPr>
        <p:spPr>
          <a:xfrm>
            <a:off x="9966311" y="5861685"/>
            <a:ext cx="1453281" cy="186689"/>
          </a:xfrm>
          <a:prstGeom prst="rect">
            <a:avLst/>
          </a:prstGeom>
          <a:noFill/>
        </p:spPr>
        <p:txBody>
          <a:bodyPr wrap="none" lIns="0" rIns="0" tIns="0" bIns="0">
            <a:spAutoFit/>
          </a:bodyPr>
          <a:lstStyle/>
          <a:p>
            <a:r>
              <a:rPr sz="1100" b="0">
                <a:solidFill>
                  <a:srgbClr val="2E2E2E"/>
                </a:solidFill>
                <a:latin typeface="Calibri"/>
              </a:rPr>
              <a:t>respectively, against the</a:t>
            </a:r>
          </a:p>
        </p:txBody>
      </p:sp>
      <p:sp>
        <p:nvSpPr>
          <p:cNvPr id="29" name="TextBox 28"/>
          <p:cNvSpPr txBox="1"/>
          <p:nvPr/>
        </p:nvSpPr>
        <p:spPr>
          <a:xfrm>
            <a:off x="257175" y="6029325"/>
            <a:ext cx="1197619" cy="186689"/>
          </a:xfrm>
          <a:prstGeom prst="rect">
            <a:avLst/>
          </a:prstGeom>
          <a:noFill/>
        </p:spPr>
        <p:txBody>
          <a:bodyPr wrap="none" lIns="0" rIns="0" tIns="0" bIns="0">
            <a:spAutoFit/>
          </a:bodyPr>
          <a:lstStyle/>
          <a:p>
            <a:r>
              <a:rPr sz="1100" b="0">
                <a:solidFill>
                  <a:srgbClr val="2E2E2E"/>
                </a:solidFill>
                <a:latin typeface="Calibri"/>
              </a:rPr>
              <a:t>segment average of</a:t>
            </a:r>
          </a:p>
        </p:txBody>
      </p:sp>
      <p:pic>
        <p:nvPicPr>
          <p:cNvPr id="30" name="Picture 29" descr="lock.png"/>
          <p:cNvPicPr>
            <a:picLocks noChangeAspect="1"/>
          </p:cNvPicPr>
          <p:nvPr/>
        </p:nvPicPr>
        <p:blipFill>
          <a:blip r:embed="rId6"/>
          <a:stretch>
            <a:fillRect/>
          </a:stretch>
        </p:blipFill>
        <p:spPr>
          <a:xfrm>
            <a:off x="1402846" y="6019545"/>
            <a:ext cx="128699" cy="187198"/>
          </a:xfrm>
          <a:prstGeom prst="rect">
            <a:avLst/>
          </a:prstGeom>
        </p:spPr>
      </p:pic>
      <p:sp>
        <p:nvSpPr>
          <p:cNvPr id="31" name="TextBox 30"/>
          <p:cNvSpPr txBox="1"/>
          <p:nvPr/>
        </p:nvSpPr>
        <p:spPr>
          <a:xfrm>
            <a:off x="1570342" y="6029325"/>
            <a:ext cx="10108934" cy="186689"/>
          </a:xfrm>
          <a:prstGeom prst="rect">
            <a:avLst/>
          </a:prstGeom>
          <a:noFill/>
        </p:spPr>
        <p:txBody>
          <a:bodyPr wrap="none" lIns="0" rIns="0" tIns="0" bIns="0">
            <a:spAutoFit/>
          </a:bodyPr>
          <a:lstStyle/>
          <a:p>
            <a:r>
              <a:rPr sz="1100" b="0">
                <a:solidFill>
                  <a:srgbClr val="2E2E2E"/>
                </a:solidFill>
                <a:latin typeface="Calibri"/>
              </a:rPr>
              <a:t>. The reactive / 100% solids coatings segment is expected to be less attractive as compared to other segments over the forecast period, owing to its lower CAGR and incremental</a:t>
            </a:r>
          </a:p>
        </p:txBody>
      </p:sp>
      <p:sp>
        <p:nvSpPr>
          <p:cNvPr id="32" name="TextBox 31"/>
          <p:cNvSpPr txBox="1"/>
          <p:nvPr/>
        </p:nvSpPr>
        <p:spPr>
          <a:xfrm>
            <a:off x="257175" y="6196965"/>
            <a:ext cx="5122845" cy="186689"/>
          </a:xfrm>
          <a:prstGeom prst="rect">
            <a:avLst/>
          </a:prstGeom>
          <a:noFill/>
        </p:spPr>
        <p:txBody>
          <a:bodyPr wrap="none" lIns="0" rIns="0" tIns="0" bIns="0">
            <a:spAutoFit/>
          </a:bodyPr>
          <a:lstStyle/>
          <a:p>
            <a:r>
              <a:rPr sz="1100" b="0">
                <a:solidFill>
                  <a:srgbClr val="2E2E2E"/>
                </a:solidFill>
                <a:latin typeface="Calibri"/>
              </a:rPr>
              <a:t>opportunity. Bubbles right of the CAGR-Index line grow faster 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Technology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Technology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Water-Based Coatings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Solvent-Based Coatings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Reactive / 100% Solids Coatings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UV-Curable and Other Specialty Coatings</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Technology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Technology, 2021–2036, highlighting the sub-segments driving growth</a:t>
            </a:r>
          </a:p>
        </p:txBody>
      </p:sp>
      <p:sp>
        <p:nvSpPr>
          <p:cNvPr id="10" name="Rounded Rectangle 9"/>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Technology (US$ Mn)</a:t>
            </a:r>
          </a:p>
        </p:txBody>
      </p:sp>
      <p:graphicFrame>
        <p:nvGraphicFramePr>
          <p:cNvPr id="12" name="Table 11"/>
          <p:cNvGraphicFramePr>
            <a:graphicFrameLocks noGrp="1"/>
          </p:cNvGraphicFramePr>
          <p:nvPr/>
        </p:nvGraphicFramePr>
        <p:xfrm>
          <a:off x="152400" y="1238250"/>
          <a:ext cx="11887203" cy="1485896"/>
        </p:xfrm>
        <a:graphic>
          <a:graphicData uri="http://schemas.openxmlformats.org/drawingml/2006/table">
            <a:tbl>
              <a:tblPr>
                <a:tableStyleId>{5C22544A-7EE6-4342-B048-85BDC9FD1C3A}</a:tableStyleId>
              </a:tblPr>
              <a:tblGrid>
                <a:gridCol w="2846748"/>
                <a:gridCol w="543046"/>
                <a:gridCol w="543046"/>
                <a:gridCol w="543046"/>
                <a:gridCol w="543046"/>
                <a:gridCol w="543046"/>
                <a:gridCol w="523917"/>
                <a:gridCol w="518452"/>
                <a:gridCol w="518452"/>
                <a:gridCol w="518452"/>
                <a:gridCol w="518452"/>
                <a:gridCol w="518452"/>
                <a:gridCol w="518452"/>
                <a:gridCol w="518452"/>
                <a:gridCol w="518452"/>
                <a:gridCol w="518452"/>
                <a:gridCol w="518452"/>
                <a:gridCol w="616788"/>
              </a:tblGrid>
              <a:tr h="246126">
                <a:tc>
                  <a:txBody>
                    <a:bodyPr wrap="none"/>
                    <a:lstStyle/>
                    <a:p>
                      <a:pPr algn="l"/>
                      <a:r>
                        <a:rPr sz="1100" b="1">
                          <a:solidFill>
                            <a:srgbClr val="0B2E4A"/>
                          </a:solidFill>
                          <a:latin typeface="Calibri"/>
                        </a:rPr>
                        <a:t>Technology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Water-Based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Solvent-Based Coatings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Reactive / 100% Solids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UV-Curable and Other Specialty Coatings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067050"/>
            <a:ext cx="11906250" cy="3562350"/>
          </a:xfrm>
          <a:prstGeom prst="roundRect">
            <a:avLst>
              <a:gd name="adj" fmla="val 21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15277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Technology</a:t>
            </a:r>
          </a:p>
        </p:txBody>
      </p:sp>
      <p:sp>
        <p:nvSpPr>
          <p:cNvPr id="16" name="Rectangle 15"/>
          <p:cNvSpPr/>
          <p:nvPr/>
        </p:nvSpPr>
        <p:spPr>
          <a:xfrm>
            <a:off x="276225" y="33909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476625"/>
            <a:ext cx="1163955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332685" y="1837563"/>
            <a:ext cx="366712" cy="533400"/>
          </a:xfrm>
          <a:prstGeom prst="rect">
            <a:avLst/>
          </a:prstGeom>
        </p:spPr>
      </p:pic>
      <p:sp>
        <p:nvSpPr>
          <p:cNvPr id="20" name="TextBox 19"/>
          <p:cNvSpPr txBox="1"/>
          <p:nvPr/>
        </p:nvSpPr>
        <p:spPr>
          <a:xfrm>
            <a:off x="276225" y="3486150"/>
            <a:ext cx="3368600" cy="194310"/>
          </a:xfrm>
          <a:prstGeom prst="rect">
            <a:avLst/>
          </a:prstGeom>
          <a:noFill/>
        </p:spPr>
        <p:txBody>
          <a:bodyPr wrap="none" lIns="0" rIns="0" tIns="0" bIns="0">
            <a:spAutoFit/>
          </a:bodyPr>
          <a:lstStyle/>
          <a:p>
            <a:r>
              <a:rPr sz="1150" b="0">
                <a:solidFill>
                  <a:srgbClr val="2E2E2E"/>
                </a:solidFill>
                <a:latin typeface="Calibri"/>
              </a:rPr>
              <a:t>Solvent-based coatings segment is projected to register</a:t>
            </a:r>
          </a:p>
        </p:txBody>
      </p:sp>
      <p:pic>
        <p:nvPicPr>
          <p:cNvPr id="21" name="Picture 20" descr="lock.png"/>
          <p:cNvPicPr>
            <a:picLocks noChangeAspect="1"/>
          </p:cNvPicPr>
          <p:nvPr/>
        </p:nvPicPr>
        <p:blipFill>
          <a:blip r:embed="rId4"/>
          <a:stretch>
            <a:fillRect/>
          </a:stretch>
        </p:blipFill>
        <p:spPr>
          <a:xfrm>
            <a:off x="3593979" y="3475926"/>
            <a:ext cx="134549" cy="195707"/>
          </a:xfrm>
          <a:prstGeom prst="rect">
            <a:avLst/>
          </a:prstGeom>
        </p:spPr>
      </p:pic>
      <p:sp>
        <p:nvSpPr>
          <p:cNvPr id="22" name="TextBox 21"/>
          <p:cNvSpPr txBox="1"/>
          <p:nvPr/>
        </p:nvSpPr>
        <p:spPr>
          <a:xfrm>
            <a:off x="3769088" y="3486150"/>
            <a:ext cx="7898717" cy="194310"/>
          </a:xfrm>
          <a:prstGeom prst="rect">
            <a:avLst/>
          </a:prstGeom>
          <a:noFill/>
        </p:spPr>
        <p:txBody>
          <a:bodyPr wrap="none" lIns="0" rIns="0" tIns="0" bIns="0">
            <a:spAutoFit/>
          </a:bodyPr>
          <a:lstStyle/>
          <a:p>
            <a:r>
              <a:rPr sz="1150" b="0">
                <a:solidFill>
                  <a:srgbClr val="2E2E2E"/>
                </a:solidFill>
                <a:latin typeface="Calibri"/>
              </a:rPr>
              <a:t>X higher value than uv-curable and other specialty coatings segment in 2036. Among waterproof coatings by technology, uv-curable</a:t>
            </a:r>
          </a:p>
        </p:txBody>
      </p:sp>
      <p:sp>
        <p:nvSpPr>
          <p:cNvPr id="23" name="TextBox 22"/>
          <p:cNvSpPr txBox="1"/>
          <p:nvPr/>
        </p:nvSpPr>
        <p:spPr>
          <a:xfrm>
            <a:off x="276225" y="3661410"/>
            <a:ext cx="4853899" cy="194310"/>
          </a:xfrm>
          <a:prstGeom prst="rect">
            <a:avLst/>
          </a:prstGeom>
          <a:noFill/>
        </p:spPr>
        <p:txBody>
          <a:bodyPr wrap="none" lIns="0" rIns="0" tIns="0" bIns="0">
            <a:spAutoFit/>
          </a:bodyPr>
          <a:lstStyle/>
          <a:p>
            <a:r>
              <a:rPr sz="1150" b="0">
                <a:solidFill>
                  <a:srgbClr val="2E2E2E"/>
                </a:solidFill>
                <a:latin typeface="Calibri"/>
              </a:rPr>
              <a:t>and other specialty coatings segment is expected to witness the highest CAGR of</a:t>
            </a:r>
          </a:p>
        </p:txBody>
      </p:sp>
      <p:pic>
        <p:nvPicPr>
          <p:cNvPr id="24" name="Picture 23" descr="lock.png"/>
          <p:cNvPicPr>
            <a:picLocks noChangeAspect="1"/>
          </p:cNvPicPr>
          <p:nvPr/>
        </p:nvPicPr>
        <p:blipFill>
          <a:blip r:embed="rId4"/>
          <a:stretch>
            <a:fillRect/>
          </a:stretch>
        </p:blipFill>
        <p:spPr>
          <a:xfrm>
            <a:off x="5079278" y="3651186"/>
            <a:ext cx="134549" cy="195707"/>
          </a:xfrm>
          <a:prstGeom prst="rect">
            <a:avLst/>
          </a:prstGeom>
        </p:spPr>
      </p:pic>
      <p:sp>
        <p:nvSpPr>
          <p:cNvPr id="25" name="TextBox 24"/>
          <p:cNvSpPr txBox="1"/>
          <p:nvPr/>
        </p:nvSpPr>
        <p:spPr>
          <a:xfrm>
            <a:off x="5254388" y="36614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889247"/>
            <a:ext cx="7085458" cy="194310"/>
          </a:xfrm>
          <a:prstGeom prst="rect">
            <a:avLst/>
          </a:prstGeom>
          <a:noFill/>
        </p:spPr>
        <p:txBody>
          <a:bodyPr wrap="none" lIns="0" rIns="0" tIns="0" bIns="0">
            <a:spAutoFit/>
          </a:bodyPr>
          <a:lstStyle/>
          <a:p>
            <a:r>
              <a:rPr sz="1150" b="0">
                <a:solidFill>
                  <a:srgbClr val="2E2E2E"/>
                </a:solidFill>
                <a:latin typeface="Calibri"/>
              </a:rPr>
              <a:t>In terms of value share by technology, the solvent-based coatings segment is expected to dominate the market, losing</a:t>
            </a:r>
          </a:p>
        </p:txBody>
      </p:sp>
      <p:pic>
        <p:nvPicPr>
          <p:cNvPr id="27" name="Picture 26" descr="lock.png"/>
          <p:cNvPicPr>
            <a:picLocks noChangeAspect="1"/>
          </p:cNvPicPr>
          <p:nvPr/>
        </p:nvPicPr>
        <p:blipFill>
          <a:blip r:embed="rId4"/>
          <a:stretch>
            <a:fillRect/>
          </a:stretch>
        </p:blipFill>
        <p:spPr>
          <a:xfrm>
            <a:off x="7310837" y="3879024"/>
            <a:ext cx="134549" cy="195707"/>
          </a:xfrm>
          <a:prstGeom prst="rect">
            <a:avLst/>
          </a:prstGeom>
        </p:spPr>
      </p:pic>
      <p:sp>
        <p:nvSpPr>
          <p:cNvPr id="28" name="TextBox 27"/>
          <p:cNvSpPr txBox="1"/>
          <p:nvPr/>
        </p:nvSpPr>
        <p:spPr>
          <a:xfrm>
            <a:off x="7485947" y="38892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881090" y="3879024"/>
            <a:ext cx="134549" cy="195707"/>
          </a:xfrm>
          <a:prstGeom prst="rect">
            <a:avLst/>
          </a:prstGeom>
        </p:spPr>
      </p:pic>
      <p:sp>
        <p:nvSpPr>
          <p:cNvPr id="30" name="TextBox 29"/>
          <p:cNvSpPr txBox="1"/>
          <p:nvPr/>
        </p:nvSpPr>
        <p:spPr>
          <a:xfrm>
            <a:off x="9056199" y="38892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Technology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Technology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Technology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2020302"/>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201554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93934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Reactive / 100% Solids Coatings</a:t>
            </a:r>
          </a:p>
        </p:txBody>
      </p:sp>
      <p:sp>
        <p:nvSpPr>
          <p:cNvPr id="18" name="BPS Value 1"/>
          <p:cNvSpPr txBox="1"/>
          <p:nvPr/>
        </p:nvSpPr>
        <p:spPr>
          <a:xfrm>
            <a:off x="6896100" y="200125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2948140"/>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294337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86717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Water-Based Coatings</a:t>
            </a:r>
          </a:p>
        </p:txBody>
      </p:sp>
      <p:sp>
        <p:nvSpPr>
          <p:cNvPr id="22" name="BPS Value 2"/>
          <p:cNvSpPr txBox="1"/>
          <p:nvPr/>
        </p:nvSpPr>
        <p:spPr>
          <a:xfrm>
            <a:off x="6896100" y="292909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928997" y="4205263"/>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5090922" y="420050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412430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UV-Curable and Other Specialty Coatings</a:t>
            </a:r>
          </a:p>
        </p:txBody>
      </p:sp>
      <p:sp>
        <p:nvSpPr>
          <p:cNvPr id="26" name="BPS Value 3"/>
          <p:cNvSpPr txBox="1"/>
          <p:nvPr/>
        </p:nvSpPr>
        <p:spPr>
          <a:xfrm>
            <a:off x="6896100" y="418621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928997" y="5563615"/>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5090922" y="555885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548265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Solvent-Based Coatings</a:t>
            </a:r>
          </a:p>
        </p:txBody>
      </p:sp>
      <p:sp>
        <p:nvSpPr>
          <p:cNvPr id="30" name="BPS Value 4"/>
          <p:cNvSpPr txBox="1"/>
          <p:nvPr/>
        </p:nvSpPr>
        <p:spPr>
          <a:xfrm>
            <a:off x="6896100" y="554456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Rounded Rectangle 30"/>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Technology</a:t>
            </a:r>
          </a:p>
        </p:txBody>
      </p:sp>
      <p:sp>
        <p:nvSpPr>
          <p:cNvPr id="33" name="Rectangle 32"/>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5"/>
          <a:stretch>
            <a:fillRect/>
          </a:stretch>
        </p:blipFill>
        <p:spPr>
          <a:xfrm>
            <a:off x="2557843" y="3833622"/>
            <a:ext cx="275034" cy="400050"/>
          </a:xfrm>
          <a:prstGeom prst="rect">
            <a:avLst/>
          </a:prstGeom>
        </p:spPr>
      </p:pic>
      <p:sp>
        <p:nvSpPr>
          <p:cNvPr id="37" name="TextBox 36"/>
          <p:cNvSpPr txBox="1"/>
          <p:nvPr/>
        </p:nvSpPr>
        <p:spPr>
          <a:xfrm>
            <a:off x="7829550" y="1400175"/>
            <a:ext cx="3918284" cy="194310"/>
          </a:xfrm>
          <a:prstGeom prst="rect">
            <a:avLst/>
          </a:prstGeom>
          <a:noFill/>
        </p:spPr>
        <p:txBody>
          <a:bodyPr wrap="none" lIns="0" rIns="0" tIns="0" bIns="0">
            <a:spAutoFit/>
          </a:bodyPr>
          <a:lstStyle/>
          <a:p>
            <a:r>
              <a:rPr sz="1150" b="0">
                <a:solidFill>
                  <a:srgbClr val="2E2E2E"/>
                </a:solidFill>
                <a:latin typeface="Calibri"/>
              </a:rPr>
              <a:t>Among waterproof coatings by technology, uv-curable and other</a:t>
            </a:r>
          </a:p>
        </p:txBody>
      </p:sp>
      <p:sp>
        <p:nvSpPr>
          <p:cNvPr id="38" name="TextBox 37"/>
          <p:cNvSpPr txBox="1"/>
          <p:nvPr/>
        </p:nvSpPr>
        <p:spPr>
          <a:xfrm>
            <a:off x="7829550" y="1575435"/>
            <a:ext cx="4057650" cy="194310"/>
          </a:xfrm>
          <a:prstGeom prst="rect">
            <a:avLst/>
          </a:prstGeom>
          <a:noFill/>
        </p:spPr>
        <p:txBody>
          <a:bodyPr wrap="none" lIns="0" rIns="0" tIns="0" bIns="0">
            <a:spAutoFit/>
          </a:bodyPr>
          <a:lstStyle/>
          <a:p>
            <a:r>
              <a:rPr sz="1150" b="0">
                <a:solidFill>
                  <a:srgbClr val="2E2E2E"/>
                </a:solidFill>
                <a:latin typeface="Calibri"/>
              </a:rPr>
              <a:t>specialty coatings segment is expected to witness the highest CAGR</a:t>
            </a:r>
          </a:p>
        </p:txBody>
      </p:sp>
      <p:sp>
        <p:nvSpPr>
          <p:cNvPr id="39" name="TextBox 38"/>
          <p:cNvSpPr txBox="1"/>
          <p:nvPr/>
        </p:nvSpPr>
        <p:spPr>
          <a:xfrm>
            <a:off x="7829550" y="1750695"/>
            <a:ext cx="197718" cy="194310"/>
          </a:xfrm>
          <a:prstGeom prst="rect">
            <a:avLst/>
          </a:prstGeom>
          <a:noFill/>
        </p:spPr>
        <p:txBody>
          <a:bodyPr wrap="none" lIns="0" rIns="0" tIns="0" bIns="0">
            <a:spAutoFit/>
          </a:bodyPr>
          <a:lstStyle/>
          <a:p>
            <a:r>
              <a:rPr sz="1150" b="0">
                <a:solidFill>
                  <a:srgbClr val="2E2E2E"/>
                </a:solidFill>
                <a:latin typeface="Calibri"/>
              </a:rPr>
              <a:t>of</a:t>
            </a:r>
          </a:p>
        </p:txBody>
      </p:sp>
      <p:pic>
        <p:nvPicPr>
          <p:cNvPr id="40" name="Picture 39" descr="lock.png"/>
          <p:cNvPicPr>
            <a:picLocks noChangeAspect="1"/>
          </p:cNvPicPr>
          <p:nvPr/>
        </p:nvPicPr>
        <p:blipFill>
          <a:blip r:embed="rId5"/>
          <a:stretch>
            <a:fillRect/>
          </a:stretch>
        </p:blipFill>
        <p:spPr>
          <a:xfrm>
            <a:off x="7976422" y="1740471"/>
            <a:ext cx="134549" cy="195707"/>
          </a:xfrm>
          <a:prstGeom prst="rect">
            <a:avLst/>
          </a:prstGeom>
        </p:spPr>
      </p:pic>
      <p:sp>
        <p:nvSpPr>
          <p:cNvPr id="41" name="TextBox 40"/>
          <p:cNvSpPr txBox="1"/>
          <p:nvPr/>
        </p:nvSpPr>
        <p:spPr>
          <a:xfrm>
            <a:off x="8151531"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42" name="TextBox 41"/>
          <p:cNvSpPr txBox="1"/>
          <p:nvPr/>
        </p:nvSpPr>
        <p:spPr>
          <a:xfrm>
            <a:off x="7829550" y="1978533"/>
            <a:ext cx="3963925" cy="194310"/>
          </a:xfrm>
          <a:prstGeom prst="rect">
            <a:avLst/>
          </a:prstGeom>
          <a:noFill/>
        </p:spPr>
        <p:txBody>
          <a:bodyPr wrap="none" lIns="0" rIns="0" tIns="0" bIns="0">
            <a:spAutoFit/>
          </a:bodyPr>
          <a:lstStyle/>
          <a:p>
            <a:r>
              <a:rPr sz="1150" b="0">
                <a:solidFill>
                  <a:srgbClr val="2E2E2E"/>
                </a:solidFill>
                <a:latin typeface="Calibri"/>
              </a:rPr>
              <a:t>In terms of value share by technology, the solvent-based coatings</a:t>
            </a:r>
          </a:p>
        </p:txBody>
      </p:sp>
      <p:sp>
        <p:nvSpPr>
          <p:cNvPr id="43" name="TextBox 42"/>
          <p:cNvSpPr txBox="1"/>
          <p:nvPr/>
        </p:nvSpPr>
        <p:spPr>
          <a:xfrm>
            <a:off x="7829550" y="2153793"/>
            <a:ext cx="3164644" cy="194310"/>
          </a:xfrm>
          <a:prstGeom prst="rect">
            <a:avLst/>
          </a:prstGeom>
          <a:noFill/>
        </p:spPr>
        <p:txBody>
          <a:bodyPr wrap="none" lIns="0" rIns="0" tIns="0" bIns="0">
            <a:spAutoFit/>
          </a:bodyPr>
          <a:lstStyle/>
          <a:p>
            <a:r>
              <a:rPr sz="1150" b="0">
                <a:solidFill>
                  <a:srgbClr val="2E2E2E"/>
                </a:solidFill>
                <a:latin typeface="Calibri"/>
              </a:rPr>
              <a:t>segment is expected to dominate the market, losing</a:t>
            </a:r>
          </a:p>
        </p:txBody>
      </p:sp>
      <p:pic>
        <p:nvPicPr>
          <p:cNvPr id="44" name="Picture 43" descr="lock.png"/>
          <p:cNvPicPr>
            <a:picLocks noChangeAspect="1"/>
          </p:cNvPicPr>
          <p:nvPr/>
        </p:nvPicPr>
        <p:blipFill>
          <a:blip r:embed="rId5"/>
          <a:stretch>
            <a:fillRect/>
          </a:stretch>
        </p:blipFill>
        <p:spPr>
          <a:xfrm>
            <a:off x="10943347" y="2143569"/>
            <a:ext cx="134549" cy="195707"/>
          </a:xfrm>
          <a:prstGeom prst="rect">
            <a:avLst/>
          </a:prstGeom>
        </p:spPr>
      </p:pic>
      <p:sp>
        <p:nvSpPr>
          <p:cNvPr id="45" name="TextBox 44"/>
          <p:cNvSpPr txBox="1"/>
          <p:nvPr/>
        </p:nvSpPr>
        <p:spPr>
          <a:xfrm>
            <a:off x="11118457" y="2153793"/>
            <a:ext cx="554856" cy="194310"/>
          </a:xfrm>
          <a:prstGeom prst="rect">
            <a:avLst/>
          </a:prstGeom>
          <a:noFill/>
        </p:spPr>
        <p:txBody>
          <a:bodyPr wrap="none" lIns="0" rIns="0" tIns="0" bIns="0">
            <a:spAutoFit/>
          </a:bodyPr>
          <a:lstStyle/>
          <a:p>
            <a:r>
              <a:rPr sz="1150" b="0">
                <a:solidFill>
                  <a:srgbClr val="2E2E2E"/>
                </a:solidFill>
                <a:latin typeface="Calibri"/>
              </a:rPr>
              <a:t>BPS and</a:t>
            </a:r>
          </a:p>
        </p:txBody>
      </p:sp>
      <p:sp>
        <p:nvSpPr>
          <p:cNvPr id="46" name="TextBox 45"/>
          <p:cNvSpPr txBox="1"/>
          <p:nvPr/>
        </p:nvSpPr>
        <p:spPr>
          <a:xfrm>
            <a:off x="7829550" y="2329053"/>
            <a:ext cx="934243" cy="194310"/>
          </a:xfrm>
          <a:prstGeom prst="rect">
            <a:avLst/>
          </a:prstGeom>
          <a:noFill/>
        </p:spPr>
        <p:txBody>
          <a:bodyPr wrap="none" lIns="0" rIns="0" tIns="0" bIns="0">
            <a:spAutoFit/>
          </a:bodyPr>
          <a:lstStyle/>
          <a:p>
            <a:r>
              <a:rPr sz="1150" b="0">
                <a:solidFill>
                  <a:srgbClr val="2E2E2E"/>
                </a:solidFill>
                <a:latin typeface="Calibri"/>
              </a:rPr>
              <a:t>accounting for</a:t>
            </a:r>
          </a:p>
        </p:txBody>
      </p:sp>
      <p:pic>
        <p:nvPicPr>
          <p:cNvPr id="47" name="Picture 46" descr="lock.png"/>
          <p:cNvPicPr>
            <a:picLocks noChangeAspect="1"/>
          </p:cNvPicPr>
          <p:nvPr/>
        </p:nvPicPr>
        <p:blipFill>
          <a:blip r:embed="rId5"/>
          <a:stretch>
            <a:fillRect/>
          </a:stretch>
        </p:blipFill>
        <p:spPr>
          <a:xfrm>
            <a:off x="8712947" y="2318829"/>
            <a:ext cx="134549" cy="195707"/>
          </a:xfrm>
          <a:prstGeom prst="rect">
            <a:avLst/>
          </a:prstGeom>
        </p:spPr>
      </p:pic>
      <p:sp>
        <p:nvSpPr>
          <p:cNvPr id="48" name="TextBox 47"/>
          <p:cNvSpPr txBox="1"/>
          <p:nvPr/>
        </p:nvSpPr>
        <p:spPr>
          <a:xfrm>
            <a:off x="8888056"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9"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Application</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Application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Application Segment Outlook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9 sub-segments of Application,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Application segment categorizes the market by application.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90881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90881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Roofs and Terraces</a:t>
            </a:r>
          </a:p>
        </p:txBody>
      </p:sp>
      <p:sp>
        <p:nvSpPr>
          <p:cNvPr id="22" name="Rectangle 21"/>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65938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890010" y="1773916"/>
            <a:ext cx="190881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890010" y="1992961"/>
            <a:ext cx="190881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Bathrooms and Wet Areas</a:t>
            </a:r>
          </a:p>
        </p:txBody>
      </p:sp>
      <p:sp>
        <p:nvSpPr>
          <p:cNvPr id="29" name="Rectangle 28"/>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68249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913120" y="1773916"/>
            <a:ext cx="190881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913120" y="1992961"/>
            <a:ext cx="190881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Walls and Building Facades</a:t>
            </a:r>
          </a:p>
        </p:txBody>
      </p:sp>
      <p:sp>
        <p:nvSpPr>
          <p:cNvPr id="36" name="Rectangle 35"/>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670560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7936230" y="1773916"/>
            <a:ext cx="1908810"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936230" y="1992961"/>
            <a:ext cx="1908810"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Water Tanks and Swimming Pools</a:t>
            </a:r>
          </a:p>
        </p:txBody>
      </p:sp>
      <p:sp>
        <p:nvSpPr>
          <p:cNvPr id="43" name="Rectangle 42"/>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872871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9959340" y="1773916"/>
            <a:ext cx="1908810"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959340" y="1992961"/>
            <a:ext cx="1908810"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Basements and Foundations</a:t>
            </a:r>
          </a:p>
        </p:txBody>
      </p:sp>
      <p:sp>
        <p:nvSpPr>
          <p:cNvPr id="50" name="Rectangle 49"/>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10751820"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6" name="Rectangle 55"/>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8" name="Rounded Rectangle 57"/>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0" name="Rectangle 59"/>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p:txBody>
      </p:sp>
      <p:sp>
        <p:nvSpPr>
          <p:cNvPr id="62" name="Rounded Rectangle 61"/>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4" name="Rectangle 63"/>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Application split shows how demand is distributed across application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66" name="Rectangle 65"/>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8" name="TextBox 67"/>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9" name="TextBox 6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0" name="Picture 69" descr="1_065_605E5C.png"/>
          <p:cNvPicPr>
            <a:picLocks noChangeAspect="1"/>
          </p:cNvPicPr>
          <p:nvPr/>
        </p:nvPicPr>
        <p:blipFill>
          <a:blip r:embed="rId4"/>
          <a:stretch>
            <a:fillRect/>
          </a:stretch>
        </p:blipFill>
        <p:spPr>
          <a:xfrm>
            <a:off x="2223441" y="2286582"/>
            <a:ext cx="1195728" cy="361950"/>
          </a:xfrm>
          <a:prstGeom prst="rect">
            <a:avLst/>
          </a:prstGeom>
        </p:spPr>
      </p:pic>
      <p:pic>
        <p:nvPicPr>
          <p:cNvPr id="71" name="Picture 70" descr="1_560_605E5C.png"/>
          <p:cNvPicPr>
            <a:picLocks noChangeAspect="1"/>
          </p:cNvPicPr>
          <p:nvPr/>
        </p:nvPicPr>
        <p:blipFill>
          <a:blip r:embed="rId5"/>
          <a:stretch>
            <a:fillRect/>
          </a:stretch>
        </p:blipFill>
        <p:spPr>
          <a:xfrm>
            <a:off x="2223441" y="2779432"/>
            <a:ext cx="1195728" cy="361950"/>
          </a:xfrm>
          <a:prstGeom prst="rect">
            <a:avLst/>
          </a:prstGeom>
        </p:spPr>
      </p:pic>
      <p:pic>
        <p:nvPicPr>
          <p:cNvPr id="72" name="Picture 71" descr="3_9__605E5C.png"/>
          <p:cNvPicPr>
            <a:picLocks noChangeAspect="1"/>
          </p:cNvPicPr>
          <p:nvPr/>
        </p:nvPicPr>
        <p:blipFill>
          <a:blip r:embed="rId6"/>
          <a:stretch>
            <a:fillRect/>
          </a:stretch>
        </p:blipFill>
        <p:spPr>
          <a:xfrm>
            <a:off x="2330087" y="3272281"/>
            <a:ext cx="982436" cy="361950"/>
          </a:xfrm>
          <a:prstGeom prst="rect">
            <a:avLst/>
          </a:prstGeom>
        </p:spPr>
      </p:pic>
      <p:pic>
        <p:nvPicPr>
          <p:cNvPr id="73" name="Picture 72" descr="588_5_605E5C.png"/>
          <p:cNvPicPr>
            <a:picLocks noChangeAspect="1"/>
          </p:cNvPicPr>
          <p:nvPr/>
        </p:nvPicPr>
        <p:blipFill>
          <a:blip r:embed="rId7"/>
          <a:stretch>
            <a:fillRect/>
          </a:stretch>
        </p:blipFill>
        <p:spPr>
          <a:xfrm>
            <a:off x="4246551" y="2286582"/>
            <a:ext cx="1195728" cy="361950"/>
          </a:xfrm>
          <a:prstGeom prst="rect">
            <a:avLst/>
          </a:prstGeom>
        </p:spPr>
      </p:pic>
      <p:pic>
        <p:nvPicPr>
          <p:cNvPr id="74" name="Picture 73" descr="1_090_605E5C.png"/>
          <p:cNvPicPr>
            <a:picLocks noChangeAspect="1"/>
          </p:cNvPicPr>
          <p:nvPr/>
        </p:nvPicPr>
        <p:blipFill>
          <a:blip r:embed="rId8"/>
          <a:stretch>
            <a:fillRect/>
          </a:stretch>
        </p:blipFill>
        <p:spPr>
          <a:xfrm>
            <a:off x="4246551" y="2779432"/>
            <a:ext cx="1195728" cy="361950"/>
          </a:xfrm>
          <a:prstGeom prst="rect">
            <a:avLst/>
          </a:prstGeom>
        </p:spPr>
      </p:pic>
      <p:pic>
        <p:nvPicPr>
          <p:cNvPr id="75" name="Picture 74" descr="6_4__605E5C.png"/>
          <p:cNvPicPr>
            <a:picLocks noChangeAspect="1"/>
          </p:cNvPicPr>
          <p:nvPr/>
        </p:nvPicPr>
        <p:blipFill>
          <a:blip r:embed="rId9"/>
          <a:stretch>
            <a:fillRect/>
          </a:stretch>
        </p:blipFill>
        <p:spPr>
          <a:xfrm>
            <a:off x="4353197" y="3272281"/>
            <a:ext cx="982436" cy="361950"/>
          </a:xfrm>
          <a:prstGeom prst="rect">
            <a:avLst/>
          </a:prstGeom>
        </p:spPr>
      </p:pic>
      <p:pic>
        <p:nvPicPr>
          <p:cNvPr id="76" name="Picture 75" descr="561_4_605E5C.png"/>
          <p:cNvPicPr>
            <a:picLocks noChangeAspect="1"/>
          </p:cNvPicPr>
          <p:nvPr/>
        </p:nvPicPr>
        <p:blipFill>
          <a:blip r:embed="rId10"/>
          <a:stretch>
            <a:fillRect/>
          </a:stretch>
        </p:blipFill>
        <p:spPr>
          <a:xfrm>
            <a:off x="6269661" y="2286582"/>
            <a:ext cx="1195728" cy="361950"/>
          </a:xfrm>
          <a:prstGeom prst="rect">
            <a:avLst/>
          </a:prstGeom>
        </p:spPr>
      </p:pic>
      <p:pic>
        <p:nvPicPr>
          <p:cNvPr id="77" name="Picture 76" descr="1_037_605E5C.png"/>
          <p:cNvPicPr>
            <a:picLocks noChangeAspect="1"/>
          </p:cNvPicPr>
          <p:nvPr/>
        </p:nvPicPr>
        <p:blipFill>
          <a:blip r:embed="rId11"/>
          <a:stretch>
            <a:fillRect/>
          </a:stretch>
        </p:blipFill>
        <p:spPr>
          <a:xfrm>
            <a:off x="6269661" y="2779432"/>
            <a:ext cx="1195728" cy="361950"/>
          </a:xfrm>
          <a:prstGeom prst="rect">
            <a:avLst/>
          </a:prstGeom>
        </p:spPr>
      </p:pic>
      <p:pic>
        <p:nvPicPr>
          <p:cNvPr id="78" name="Picture 77" descr="6_3__605E5C.png"/>
          <p:cNvPicPr>
            <a:picLocks noChangeAspect="1"/>
          </p:cNvPicPr>
          <p:nvPr/>
        </p:nvPicPr>
        <p:blipFill>
          <a:blip r:embed="rId12"/>
          <a:stretch>
            <a:fillRect/>
          </a:stretch>
        </p:blipFill>
        <p:spPr>
          <a:xfrm>
            <a:off x="6376307" y="3272281"/>
            <a:ext cx="982436" cy="361950"/>
          </a:xfrm>
          <a:prstGeom prst="rect">
            <a:avLst/>
          </a:prstGeom>
        </p:spPr>
      </p:pic>
      <p:pic>
        <p:nvPicPr>
          <p:cNvPr id="79" name="Picture 78" descr="477_9_605E5C.png"/>
          <p:cNvPicPr>
            <a:picLocks noChangeAspect="1"/>
          </p:cNvPicPr>
          <p:nvPr/>
        </p:nvPicPr>
        <p:blipFill>
          <a:blip r:embed="rId13"/>
          <a:stretch>
            <a:fillRect/>
          </a:stretch>
        </p:blipFill>
        <p:spPr>
          <a:xfrm>
            <a:off x="8292771" y="2286582"/>
            <a:ext cx="1195728" cy="361950"/>
          </a:xfrm>
          <a:prstGeom prst="rect">
            <a:avLst/>
          </a:prstGeom>
        </p:spPr>
      </p:pic>
      <p:pic>
        <p:nvPicPr>
          <p:cNvPr id="80" name="Picture 79" descr="803_9_605E5C.png"/>
          <p:cNvPicPr>
            <a:picLocks noChangeAspect="1"/>
          </p:cNvPicPr>
          <p:nvPr/>
        </p:nvPicPr>
        <p:blipFill>
          <a:blip r:embed="rId14"/>
          <a:stretch>
            <a:fillRect/>
          </a:stretch>
        </p:blipFill>
        <p:spPr>
          <a:xfrm>
            <a:off x="8292771" y="2779432"/>
            <a:ext cx="1195728" cy="361950"/>
          </a:xfrm>
          <a:prstGeom prst="rect">
            <a:avLst/>
          </a:prstGeom>
        </p:spPr>
      </p:pic>
      <p:pic>
        <p:nvPicPr>
          <p:cNvPr id="81" name="Picture 80" descr="5_3__605E5C.png"/>
          <p:cNvPicPr>
            <a:picLocks noChangeAspect="1"/>
          </p:cNvPicPr>
          <p:nvPr/>
        </p:nvPicPr>
        <p:blipFill>
          <a:blip r:embed="rId15"/>
          <a:stretch>
            <a:fillRect/>
          </a:stretch>
        </p:blipFill>
        <p:spPr>
          <a:xfrm>
            <a:off x="8399417" y="3272281"/>
            <a:ext cx="982436" cy="361950"/>
          </a:xfrm>
          <a:prstGeom prst="rect">
            <a:avLst/>
          </a:prstGeom>
        </p:spPr>
      </p:pic>
      <p:pic>
        <p:nvPicPr>
          <p:cNvPr id="82" name="Picture 81" descr="423_3_605E5C.png"/>
          <p:cNvPicPr>
            <a:picLocks noChangeAspect="1"/>
          </p:cNvPicPr>
          <p:nvPr/>
        </p:nvPicPr>
        <p:blipFill>
          <a:blip r:embed="rId16"/>
          <a:stretch>
            <a:fillRect/>
          </a:stretch>
        </p:blipFill>
        <p:spPr>
          <a:xfrm>
            <a:off x="10315881" y="2286582"/>
            <a:ext cx="1195728" cy="361950"/>
          </a:xfrm>
          <a:prstGeom prst="rect">
            <a:avLst/>
          </a:prstGeom>
        </p:spPr>
      </p:pic>
      <p:pic>
        <p:nvPicPr>
          <p:cNvPr id="83" name="Picture 82" descr="511_3_605E5C.png"/>
          <p:cNvPicPr>
            <a:picLocks noChangeAspect="1"/>
          </p:cNvPicPr>
          <p:nvPr/>
        </p:nvPicPr>
        <p:blipFill>
          <a:blip r:embed="rId17"/>
          <a:stretch>
            <a:fillRect/>
          </a:stretch>
        </p:blipFill>
        <p:spPr>
          <a:xfrm>
            <a:off x="10315881" y="2779432"/>
            <a:ext cx="1195728" cy="361950"/>
          </a:xfrm>
          <a:prstGeom prst="rect">
            <a:avLst/>
          </a:prstGeom>
        </p:spPr>
      </p:pic>
      <p:pic>
        <p:nvPicPr>
          <p:cNvPr id="84" name="Picture 83" descr="1_9__605E5C.png"/>
          <p:cNvPicPr>
            <a:picLocks noChangeAspect="1"/>
          </p:cNvPicPr>
          <p:nvPr/>
        </p:nvPicPr>
        <p:blipFill>
          <a:blip r:embed="rId18"/>
          <a:stretch>
            <a:fillRect/>
          </a:stretch>
        </p:blipFill>
        <p:spPr>
          <a:xfrm>
            <a:off x="10422527" y="3272281"/>
            <a:ext cx="982436" cy="361950"/>
          </a:xfrm>
          <a:prstGeom prst="rect">
            <a:avLst/>
          </a:prstGeom>
        </p:spPr>
      </p:pic>
      <p:pic>
        <p:nvPicPr>
          <p:cNvPr id="85" name="Picture 84" descr="lock.png"/>
          <p:cNvPicPr>
            <a:picLocks noChangeAspect="1"/>
          </p:cNvPicPr>
          <p:nvPr/>
        </p:nvPicPr>
        <p:blipFill>
          <a:blip r:embed="rId19"/>
          <a:stretch>
            <a:fillRect/>
          </a:stretch>
        </p:blipFill>
        <p:spPr>
          <a:xfrm>
            <a:off x="2727960" y="2827057"/>
            <a:ext cx="183356" cy="266700"/>
          </a:xfrm>
          <a:prstGeom prst="rect">
            <a:avLst/>
          </a:prstGeom>
        </p:spPr>
      </p:pic>
      <p:pic>
        <p:nvPicPr>
          <p:cNvPr id="86" name="Picture 85" descr="lock.png"/>
          <p:cNvPicPr>
            <a:picLocks noChangeAspect="1"/>
          </p:cNvPicPr>
          <p:nvPr/>
        </p:nvPicPr>
        <p:blipFill>
          <a:blip r:embed="rId19"/>
          <a:stretch>
            <a:fillRect/>
          </a:stretch>
        </p:blipFill>
        <p:spPr>
          <a:xfrm>
            <a:off x="4751070" y="2827057"/>
            <a:ext cx="183356" cy="266700"/>
          </a:xfrm>
          <a:prstGeom prst="rect">
            <a:avLst/>
          </a:prstGeom>
        </p:spPr>
      </p:pic>
      <p:pic>
        <p:nvPicPr>
          <p:cNvPr id="87" name="Picture 86" descr="lock.png"/>
          <p:cNvPicPr>
            <a:picLocks noChangeAspect="1"/>
          </p:cNvPicPr>
          <p:nvPr/>
        </p:nvPicPr>
        <p:blipFill>
          <a:blip r:embed="rId19"/>
          <a:stretch>
            <a:fillRect/>
          </a:stretch>
        </p:blipFill>
        <p:spPr>
          <a:xfrm>
            <a:off x="6774180" y="2827057"/>
            <a:ext cx="183356" cy="266700"/>
          </a:xfrm>
          <a:prstGeom prst="rect">
            <a:avLst/>
          </a:prstGeom>
        </p:spPr>
      </p:pic>
      <p:pic>
        <p:nvPicPr>
          <p:cNvPr id="88" name="Picture 87" descr="lock.png"/>
          <p:cNvPicPr>
            <a:picLocks noChangeAspect="1"/>
          </p:cNvPicPr>
          <p:nvPr/>
        </p:nvPicPr>
        <p:blipFill>
          <a:blip r:embed="rId19"/>
          <a:stretch>
            <a:fillRect/>
          </a:stretch>
        </p:blipFill>
        <p:spPr>
          <a:xfrm>
            <a:off x="8797290" y="2827057"/>
            <a:ext cx="183356" cy="266700"/>
          </a:xfrm>
          <a:prstGeom prst="rect">
            <a:avLst/>
          </a:prstGeom>
        </p:spPr>
      </p:pic>
      <p:pic>
        <p:nvPicPr>
          <p:cNvPr id="89" name="Picture 88" descr="lock.png"/>
          <p:cNvPicPr>
            <a:picLocks noChangeAspect="1"/>
          </p:cNvPicPr>
          <p:nvPr/>
        </p:nvPicPr>
        <p:blipFill>
          <a:blip r:embed="rId19"/>
          <a:stretch>
            <a:fillRect/>
          </a:stretch>
        </p:blipFill>
        <p:spPr>
          <a:xfrm>
            <a:off x="10820400" y="2827057"/>
            <a:ext cx="183356" cy="266700"/>
          </a:xfrm>
          <a:prstGeom prst="rect">
            <a:avLst/>
          </a:prstGeom>
        </p:spPr>
      </p:pic>
      <p:sp>
        <p:nvSpPr>
          <p:cNvPr id="90" name="TextBox 89"/>
          <p:cNvSpPr txBox="1"/>
          <p:nvPr/>
        </p:nvSpPr>
        <p:spPr>
          <a:xfrm>
            <a:off x="485775" y="4229437"/>
            <a:ext cx="2526679" cy="186689"/>
          </a:xfrm>
          <a:prstGeom prst="rect">
            <a:avLst/>
          </a:prstGeom>
          <a:noFill/>
        </p:spPr>
        <p:txBody>
          <a:bodyPr wrap="none" lIns="0" rIns="0" tIns="0" bIns="0">
            <a:spAutoFit/>
          </a:bodyPr>
          <a:lstStyle/>
          <a:p>
            <a:r>
              <a:rPr sz="1100" b="0">
                <a:solidFill>
                  <a:srgbClr val="2E2E2E"/>
                </a:solidFill>
                <a:latin typeface="Calibri"/>
              </a:rPr>
              <a:t>Among waterproof coatings by application,</a:t>
            </a:r>
          </a:p>
        </p:txBody>
      </p:sp>
      <p:sp>
        <p:nvSpPr>
          <p:cNvPr id="91" name="TextBox 90"/>
          <p:cNvSpPr txBox="1"/>
          <p:nvPr/>
        </p:nvSpPr>
        <p:spPr>
          <a:xfrm>
            <a:off x="485775" y="4397077"/>
            <a:ext cx="2878385" cy="186689"/>
          </a:xfrm>
          <a:prstGeom prst="rect">
            <a:avLst/>
          </a:prstGeom>
          <a:noFill/>
        </p:spPr>
        <p:txBody>
          <a:bodyPr wrap="none" lIns="0" rIns="0" tIns="0" bIns="0">
            <a:spAutoFit/>
          </a:bodyPr>
          <a:lstStyle/>
          <a:p>
            <a:r>
              <a:rPr sz="1100" b="0">
                <a:solidFill>
                  <a:srgbClr val="2E2E2E"/>
                </a:solidFill>
                <a:latin typeface="Calibri"/>
              </a:rPr>
              <a:t>bathrooms and wet areas segment is expected to</a:t>
            </a:r>
          </a:p>
        </p:txBody>
      </p:sp>
      <p:sp>
        <p:nvSpPr>
          <p:cNvPr id="92" name="TextBox 91"/>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93" name="Picture 92" descr="lock.png"/>
          <p:cNvPicPr>
            <a:picLocks noChangeAspect="1"/>
          </p:cNvPicPr>
          <p:nvPr/>
        </p:nvPicPr>
        <p:blipFill>
          <a:blip r:embed="rId19"/>
          <a:stretch>
            <a:fillRect/>
          </a:stretch>
        </p:blipFill>
        <p:spPr>
          <a:xfrm>
            <a:off x="2108919" y="4554938"/>
            <a:ext cx="128699" cy="187198"/>
          </a:xfrm>
          <a:prstGeom prst="rect">
            <a:avLst/>
          </a:prstGeom>
        </p:spPr>
      </p:pic>
      <p:sp>
        <p:nvSpPr>
          <p:cNvPr id="94" name="TextBox 93"/>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95" name="TextBox 94"/>
          <p:cNvSpPr txBox="1"/>
          <p:nvPr/>
        </p:nvSpPr>
        <p:spPr>
          <a:xfrm>
            <a:off x="485775" y="4732357"/>
            <a:ext cx="2902123" cy="186689"/>
          </a:xfrm>
          <a:prstGeom prst="rect">
            <a:avLst/>
          </a:prstGeom>
          <a:noFill/>
        </p:spPr>
        <p:txBody>
          <a:bodyPr wrap="none" lIns="0" rIns="0" tIns="0" bIns="0">
            <a:spAutoFit/>
          </a:bodyPr>
          <a:lstStyle/>
          <a:p>
            <a:r>
              <a:rPr sz="1100" b="0">
                <a:solidFill>
                  <a:srgbClr val="2E2E2E"/>
                </a:solidFill>
                <a:latin typeface="Calibri"/>
              </a:rPr>
              <a:t>period. In terms of value share by application, the</a:t>
            </a:r>
          </a:p>
        </p:txBody>
      </p:sp>
      <p:sp>
        <p:nvSpPr>
          <p:cNvPr id="96" name="TextBox 95"/>
          <p:cNvSpPr txBox="1"/>
          <p:nvPr/>
        </p:nvSpPr>
        <p:spPr>
          <a:xfrm>
            <a:off x="485775" y="4899997"/>
            <a:ext cx="2458466" cy="186689"/>
          </a:xfrm>
          <a:prstGeom prst="rect">
            <a:avLst/>
          </a:prstGeom>
          <a:noFill/>
        </p:spPr>
        <p:txBody>
          <a:bodyPr wrap="none" lIns="0" rIns="0" tIns="0" bIns="0">
            <a:spAutoFit/>
          </a:bodyPr>
          <a:lstStyle/>
          <a:p>
            <a:r>
              <a:rPr sz="1100" b="0">
                <a:solidFill>
                  <a:srgbClr val="2E2E2E"/>
                </a:solidFill>
                <a:latin typeface="Calibri"/>
              </a:rPr>
              <a:t>roofs and terraces segment is expected to</a:t>
            </a:r>
          </a:p>
        </p:txBody>
      </p:sp>
      <p:sp>
        <p:nvSpPr>
          <p:cNvPr id="97" name="TextBox 96"/>
          <p:cNvSpPr txBox="1"/>
          <p:nvPr/>
        </p:nvSpPr>
        <p:spPr>
          <a:xfrm>
            <a:off x="485775" y="5067637"/>
            <a:ext cx="1682750" cy="186689"/>
          </a:xfrm>
          <a:prstGeom prst="rect">
            <a:avLst/>
          </a:prstGeom>
          <a:noFill/>
        </p:spPr>
        <p:txBody>
          <a:bodyPr wrap="none" lIns="0" rIns="0" tIns="0" bIns="0">
            <a:spAutoFit/>
          </a:bodyPr>
          <a:lstStyle/>
          <a:p>
            <a:r>
              <a:rPr sz="1100" b="0">
                <a:solidFill>
                  <a:srgbClr val="2E2E2E"/>
                </a:solidFill>
                <a:latin typeface="Calibri"/>
              </a:rPr>
              <a:t>dominate the market, losing</a:t>
            </a:r>
          </a:p>
        </p:txBody>
      </p:sp>
      <p:pic>
        <p:nvPicPr>
          <p:cNvPr id="98" name="Picture 97" descr="lock.png"/>
          <p:cNvPicPr>
            <a:picLocks noChangeAspect="1"/>
          </p:cNvPicPr>
          <p:nvPr/>
        </p:nvPicPr>
        <p:blipFill>
          <a:blip r:embed="rId19"/>
          <a:stretch>
            <a:fillRect/>
          </a:stretch>
        </p:blipFill>
        <p:spPr>
          <a:xfrm>
            <a:off x="2116576" y="5057858"/>
            <a:ext cx="128699" cy="187198"/>
          </a:xfrm>
          <a:prstGeom prst="rect">
            <a:avLst/>
          </a:prstGeom>
        </p:spPr>
      </p:pic>
      <p:sp>
        <p:nvSpPr>
          <p:cNvPr id="99" name="TextBox 98"/>
          <p:cNvSpPr txBox="1"/>
          <p:nvPr/>
        </p:nvSpPr>
        <p:spPr>
          <a:xfrm>
            <a:off x="2284072"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100" name="TextBox 99"/>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101" name="Picture 100" descr="lock.png"/>
          <p:cNvPicPr>
            <a:picLocks noChangeAspect="1"/>
          </p:cNvPicPr>
          <p:nvPr/>
        </p:nvPicPr>
        <p:blipFill>
          <a:blip r:embed="rId19"/>
          <a:stretch>
            <a:fillRect/>
          </a:stretch>
        </p:blipFill>
        <p:spPr>
          <a:xfrm>
            <a:off x="1330764" y="5225498"/>
            <a:ext cx="128699" cy="187198"/>
          </a:xfrm>
          <a:prstGeom prst="rect">
            <a:avLst/>
          </a:prstGeom>
        </p:spPr>
      </p:pic>
      <p:sp>
        <p:nvSpPr>
          <p:cNvPr id="102" name="TextBox 101"/>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03" name="TextBox 102"/>
          <p:cNvSpPr txBox="1"/>
          <p:nvPr/>
        </p:nvSpPr>
        <p:spPr>
          <a:xfrm>
            <a:off x="485775" y="5453209"/>
            <a:ext cx="2914650" cy="186689"/>
          </a:xfrm>
          <a:prstGeom prst="rect">
            <a:avLst/>
          </a:prstGeom>
          <a:noFill/>
        </p:spPr>
        <p:txBody>
          <a:bodyPr wrap="none" lIns="0" rIns="0" tIns="0" bIns="0">
            <a:spAutoFit/>
          </a:bodyPr>
          <a:lstStyle/>
          <a:p>
            <a:r>
              <a:rPr sz="1100" b="0">
                <a:solidFill>
                  <a:srgbClr val="2E2E2E"/>
                </a:solidFill>
                <a:latin typeface="Calibri"/>
              </a:rPr>
              <a:t>Roofs and terraces segment is projected to register</a:t>
            </a:r>
          </a:p>
        </p:txBody>
      </p:sp>
      <p:pic>
        <p:nvPicPr>
          <p:cNvPr id="104" name="Picture 103" descr="lock.png"/>
          <p:cNvPicPr>
            <a:picLocks noChangeAspect="1"/>
          </p:cNvPicPr>
          <p:nvPr/>
        </p:nvPicPr>
        <p:blipFill>
          <a:blip r:embed="rId19"/>
          <a:stretch>
            <a:fillRect/>
          </a:stretch>
        </p:blipFill>
        <p:spPr>
          <a:xfrm>
            <a:off x="472307" y="5611070"/>
            <a:ext cx="128699" cy="187198"/>
          </a:xfrm>
          <a:prstGeom prst="rect">
            <a:avLst/>
          </a:prstGeom>
        </p:spPr>
      </p:pic>
      <p:sp>
        <p:nvSpPr>
          <p:cNvPr id="105" name="TextBox 104"/>
          <p:cNvSpPr txBox="1"/>
          <p:nvPr/>
        </p:nvSpPr>
        <p:spPr>
          <a:xfrm>
            <a:off x="639803" y="5620849"/>
            <a:ext cx="2658740" cy="186689"/>
          </a:xfrm>
          <a:prstGeom prst="rect">
            <a:avLst/>
          </a:prstGeom>
          <a:noFill/>
        </p:spPr>
        <p:txBody>
          <a:bodyPr wrap="none" lIns="0" rIns="0" tIns="0" bIns="0">
            <a:spAutoFit/>
          </a:bodyPr>
          <a:lstStyle/>
          <a:p>
            <a:r>
              <a:rPr sz="1100" b="0">
                <a:solidFill>
                  <a:srgbClr val="2E2E2E"/>
                </a:solidFill>
                <a:latin typeface="Calibri"/>
              </a:rPr>
              <a:t>X higher value than bathrooms and wet areas</a:t>
            </a:r>
          </a:p>
        </p:txBody>
      </p:sp>
      <p:sp>
        <p:nvSpPr>
          <p:cNvPr id="106" name="TextBox 105"/>
          <p:cNvSpPr txBox="1"/>
          <p:nvPr/>
        </p:nvSpPr>
        <p:spPr>
          <a:xfrm>
            <a:off x="485775" y="5788489"/>
            <a:ext cx="1055464" cy="186689"/>
          </a:xfrm>
          <a:prstGeom prst="rect">
            <a:avLst/>
          </a:prstGeom>
          <a:noFill/>
        </p:spPr>
        <p:txBody>
          <a:bodyPr wrap="none" lIns="0" rIns="0" tIns="0" bIns="0">
            <a:spAutoFit/>
          </a:bodyPr>
          <a:lstStyle/>
          <a:p>
            <a:r>
              <a:rPr sz="1100" b="0">
                <a:solidFill>
                  <a:srgbClr val="2E2E2E"/>
                </a:solidFill>
                <a:latin typeface="Calibri"/>
              </a:rPr>
              <a:t>segment in 2036.</a:t>
            </a:r>
          </a:p>
        </p:txBody>
      </p:sp>
      <p:sp>
        <p:nvSpPr>
          <p:cNvPr id="107" name="TextBox 106"/>
          <p:cNvSpPr txBox="1"/>
          <p:nvPr/>
        </p:nvSpPr>
        <p:spPr>
          <a:xfrm>
            <a:off x="3838575" y="4229437"/>
            <a:ext cx="1312490" cy="186689"/>
          </a:xfrm>
          <a:prstGeom prst="rect">
            <a:avLst/>
          </a:prstGeom>
          <a:noFill/>
        </p:spPr>
        <p:txBody>
          <a:bodyPr wrap="none" lIns="0" rIns="0" tIns="0" bIns="0">
            <a:spAutoFit/>
          </a:bodyPr>
          <a:lstStyle/>
          <a:p>
            <a:r>
              <a:rPr sz="1100" b="0">
                <a:solidFill>
                  <a:srgbClr val="2E2E2E"/>
                </a:solidFill>
                <a:latin typeface="Calibri"/>
              </a:rPr>
              <a:t>● Roofs and Terraces:</a:t>
            </a:r>
          </a:p>
        </p:txBody>
      </p:sp>
      <p:pic>
        <p:nvPicPr>
          <p:cNvPr id="108" name="Picture 107" descr="lock.png"/>
          <p:cNvPicPr>
            <a:picLocks noChangeAspect="1"/>
          </p:cNvPicPr>
          <p:nvPr/>
        </p:nvPicPr>
        <p:blipFill>
          <a:blip r:embed="rId19"/>
          <a:stretch>
            <a:fillRect/>
          </a:stretch>
        </p:blipFill>
        <p:spPr>
          <a:xfrm>
            <a:off x="5099117" y="4219658"/>
            <a:ext cx="128699" cy="187198"/>
          </a:xfrm>
          <a:prstGeom prst="rect">
            <a:avLst/>
          </a:prstGeom>
        </p:spPr>
      </p:pic>
      <p:sp>
        <p:nvSpPr>
          <p:cNvPr id="109" name="TextBox 108"/>
          <p:cNvSpPr txBox="1"/>
          <p:nvPr/>
        </p:nvSpPr>
        <p:spPr>
          <a:xfrm>
            <a:off x="5266612"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0" name="Picture 109" descr="lock.png"/>
          <p:cNvPicPr>
            <a:picLocks noChangeAspect="1"/>
          </p:cNvPicPr>
          <p:nvPr/>
        </p:nvPicPr>
        <p:blipFill>
          <a:blip r:embed="rId19"/>
          <a:stretch>
            <a:fillRect/>
          </a:stretch>
        </p:blipFill>
        <p:spPr>
          <a:xfrm>
            <a:off x="6126063" y="4219658"/>
            <a:ext cx="128699" cy="187198"/>
          </a:xfrm>
          <a:prstGeom prst="rect">
            <a:avLst/>
          </a:prstGeom>
        </p:spPr>
      </p:pic>
      <p:sp>
        <p:nvSpPr>
          <p:cNvPr id="111" name="TextBox 110"/>
          <p:cNvSpPr txBox="1"/>
          <p:nvPr/>
        </p:nvSpPr>
        <p:spPr>
          <a:xfrm>
            <a:off x="6293558"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12" name="TextBox 111"/>
          <p:cNvSpPr txBox="1"/>
          <p:nvPr/>
        </p:nvSpPr>
        <p:spPr>
          <a:xfrm>
            <a:off x="3838575" y="4447369"/>
            <a:ext cx="1725314" cy="186689"/>
          </a:xfrm>
          <a:prstGeom prst="rect">
            <a:avLst/>
          </a:prstGeom>
          <a:noFill/>
        </p:spPr>
        <p:txBody>
          <a:bodyPr wrap="none" lIns="0" rIns="0" tIns="0" bIns="0">
            <a:spAutoFit/>
          </a:bodyPr>
          <a:lstStyle/>
          <a:p>
            <a:r>
              <a:rPr sz="1100" b="0">
                <a:solidFill>
                  <a:srgbClr val="2E2E2E"/>
                </a:solidFill>
                <a:latin typeface="Calibri"/>
              </a:rPr>
              <a:t>● Bathrooms and Wet Areas:</a:t>
            </a:r>
          </a:p>
        </p:txBody>
      </p:sp>
      <p:pic>
        <p:nvPicPr>
          <p:cNvPr id="113" name="Picture 112" descr="lock.png"/>
          <p:cNvPicPr>
            <a:picLocks noChangeAspect="1"/>
          </p:cNvPicPr>
          <p:nvPr/>
        </p:nvPicPr>
        <p:blipFill>
          <a:blip r:embed="rId19"/>
          <a:stretch>
            <a:fillRect/>
          </a:stretch>
        </p:blipFill>
        <p:spPr>
          <a:xfrm>
            <a:off x="5511941" y="4437590"/>
            <a:ext cx="128699" cy="187198"/>
          </a:xfrm>
          <a:prstGeom prst="rect">
            <a:avLst/>
          </a:prstGeom>
        </p:spPr>
      </p:pic>
      <p:sp>
        <p:nvSpPr>
          <p:cNvPr id="114" name="TextBox 113"/>
          <p:cNvSpPr txBox="1"/>
          <p:nvPr/>
        </p:nvSpPr>
        <p:spPr>
          <a:xfrm>
            <a:off x="5679437"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5" name="Picture 114" descr="lock.png"/>
          <p:cNvPicPr>
            <a:picLocks noChangeAspect="1"/>
          </p:cNvPicPr>
          <p:nvPr/>
        </p:nvPicPr>
        <p:blipFill>
          <a:blip r:embed="rId19"/>
          <a:stretch>
            <a:fillRect/>
          </a:stretch>
        </p:blipFill>
        <p:spPr>
          <a:xfrm>
            <a:off x="6538887" y="4437590"/>
            <a:ext cx="128699" cy="187198"/>
          </a:xfrm>
          <a:prstGeom prst="rect">
            <a:avLst/>
          </a:prstGeom>
        </p:spPr>
      </p:pic>
      <p:sp>
        <p:nvSpPr>
          <p:cNvPr id="116" name="TextBox 115"/>
          <p:cNvSpPr txBox="1"/>
          <p:nvPr/>
        </p:nvSpPr>
        <p:spPr>
          <a:xfrm>
            <a:off x="6706383" y="4447369"/>
            <a:ext cx="769771" cy="186689"/>
          </a:xfrm>
          <a:prstGeom prst="rect">
            <a:avLst/>
          </a:prstGeom>
          <a:noFill/>
        </p:spPr>
        <p:txBody>
          <a:bodyPr wrap="none" lIns="0" rIns="0" tIns="0" bIns="0">
            <a:spAutoFit/>
          </a:bodyPr>
          <a:lstStyle/>
          <a:p>
            <a:r>
              <a:rPr sz="1100" b="0">
                <a:solidFill>
                  <a:srgbClr val="2E2E2E"/>
                </a:solidFill>
                <a:latin typeface="Calibri"/>
              </a:rPr>
              <a:t>CAGR grows</a:t>
            </a:r>
          </a:p>
        </p:txBody>
      </p:sp>
      <p:sp>
        <p:nvSpPr>
          <p:cNvPr id="117" name="TextBox 116"/>
          <p:cNvSpPr txBox="1"/>
          <p:nvPr/>
        </p:nvSpPr>
        <p:spPr>
          <a:xfrm>
            <a:off x="3838575" y="4615009"/>
            <a:ext cx="493390" cy="186689"/>
          </a:xfrm>
          <a:prstGeom prst="rect">
            <a:avLst/>
          </a:prstGeom>
          <a:noFill/>
        </p:spPr>
        <p:txBody>
          <a:bodyPr wrap="none" lIns="0" rIns="0" tIns="0" bIns="0">
            <a:spAutoFit/>
          </a:bodyPr>
          <a:lstStyle/>
          <a:p>
            <a:r>
              <a:rPr sz="1100" b="0">
                <a:solidFill>
                  <a:srgbClr val="2E2E2E"/>
                </a:solidFill>
                <a:latin typeface="Calibri"/>
              </a:rPr>
              <a:t>fastest.</a:t>
            </a:r>
          </a:p>
        </p:txBody>
      </p:sp>
      <p:sp>
        <p:nvSpPr>
          <p:cNvPr id="118" name="TextBox 117"/>
          <p:cNvSpPr txBox="1"/>
          <p:nvPr/>
        </p:nvSpPr>
        <p:spPr>
          <a:xfrm>
            <a:off x="3838575" y="4832941"/>
            <a:ext cx="1761544" cy="186689"/>
          </a:xfrm>
          <a:prstGeom prst="rect">
            <a:avLst/>
          </a:prstGeom>
          <a:noFill/>
        </p:spPr>
        <p:txBody>
          <a:bodyPr wrap="none" lIns="0" rIns="0" tIns="0" bIns="0">
            <a:spAutoFit/>
          </a:bodyPr>
          <a:lstStyle/>
          <a:p>
            <a:r>
              <a:rPr sz="1100" b="0">
                <a:solidFill>
                  <a:srgbClr val="2E2E2E"/>
                </a:solidFill>
                <a:latin typeface="Calibri"/>
              </a:rPr>
              <a:t>● Walls and Building Facades:</a:t>
            </a:r>
          </a:p>
        </p:txBody>
      </p:sp>
      <p:pic>
        <p:nvPicPr>
          <p:cNvPr id="119" name="Picture 118" descr="lock.png"/>
          <p:cNvPicPr>
            <a:picLocks noChangeAspect="1"/>
          </p:cNvPicPr>
          <p:nvPr/>
        </p:nvPicPr>
        <p:blipFill>
          <a:blip r:embed="rId19"/>
          <a:stretch>
            <a:fillRect/>
          </a:stretch>
        </p:blipFill>
        <p:spPr>
          <a:xfrm>
            <a:off x="5548171" y="4823162"/>
            <a:ext cx="128699" cy="187198"/>
          </a:xfrm>
          <a:prstGeom prst="rect">
            <a:avLst/>
          </a:prstGeom>
        </p:spPr>
      </p:pic>
      <p:sp>
        <p:nvSpPr>
          <p:cNvPr id="120" name="TextBox 119"/>
          <p:cNvSpPr txBox="1"/>
          <p:nvPr/>
        </p:nvSpPr>
        <p:spPr>
          <a:xfrm>
            <a:off x="5715666" y="483294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1" name="Picture 120" descr="lock.png"/>
          <p:cNvPicPr>
            <a:picLocks noChangeAspect="1"/>
          </p:cNvPicPr>
          <p:nvPr/>
        </p:nvPicPr>
        <p:blipFill>
          <a:blip r:embed="rId19"/>
          <a:stretch>
            <a:fillRect/>
          </a:stretch>
        </p:blipFill>
        <p:spPr>
          <a:xfrm>
            <a:off x="6575117" y="4823162"/>
            <a:ext cx="128699" cy="187198"/>
          </a:xfrm>
          <a:prstGeom prst="rect">
            <a:avLst/>
          </a:prstGeom>
        </p:spPr>
      </p:pic>
      <p:sp>
        <p:nvSpPr>
          <p:cNvPr id="122" name="TextBox 121"/>
          <p:cNvSpPr txBox="1"/>
          <p:nvPr/>
        </p:nvSpPr>
        <p:spPr>
          <a:xfrm>
            <a:off x="6742612" y="4832941"/>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23" name="TextBox 122"/>
          <p:cNvSpPr txBox="1"/>
          <p:nvPr/>
        </p:nvSpPr>
        <p:spPr>
          <a:xfrm>
            <a:off x="3838575" y="5000581"/>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24" name="TextBox 123"/>
          <p:cNvSpPr txBox="1"/>
          <p:nvPr/>
        </p:nvSpPr>
        <p:spPr>
          <a:xfrm>
            <a:off x="3838575" y="5218513"/>
            <a:ext cx="2150144" cy="186689"/>
          </a:xfrm>
          <a:prstGeom prst="rect">
            <a:avLst/>
          </a:prstGeom>
          <a:noFill/>
        </p:spPr>
        <p:txBody>
          <a:bodyPr wrap="none" lIns="0" rIns="0" tIns="0" bIns="0">
            <a:spAutoFit/>
          </a:bodyPr>
          <a:lstStyle/>
          <a:p>
            <a:r>
              <a:rPr sz="1100" b="0">
                <a:solidFill>
                  <a:srgbClr val="2E2E2E"/>
                </a:solidFill>
                <a:latin typeface="Calibri"/>
              </a:rPr>
              <a:t>● Water Tanks and Swimming Pools:</a:t>
            </a:r>
          </a:p>
        </p:txBody>
      </p:sp>
      <p:pic>
        <p:nvPicPr>
          <p:cNvPr id="125" name="Picture 124" descr="lock.png"/>
          <p:cNvPicPr>
            <a:picLocks noChangeAspect="1"/>
          </p:cNvPicPr>
          <p:nvPr/>
        </p:nvPicPr>
        <p:blipFill>
          <a:blip r:embed="rId19"/>
          <a:stretch>
            <a:fillRect/>
          </a:stretch>
        </p:blipFill>
        <p:spPr>
          <a:xfrm>
            <a:off x="5936771" y="5208733"/>
            <a:ext cx="128699" cy="187198"/>
          </a:xfrm>
          <a:prstGeom prst="rect">
            <a:avLst/>
          </a:prstGeom>
        </p:spPr>
      </p:pic>
      <p:sp>
        <p:nvSpPr>
          <p:cNvPr id="126" name="TextBox 125"/>
          <p:cNvSpPr txBox="1"/>
          <p:nvPr/>
        </p:nvSpPr>
        <p:spPr>
          <a:xfrm>
            <a:off x="6104267" y="521851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7" name="Picture 126" descr="lock.png"/>
          <p:cNvPicPr>
            <a:picLocks noChangeAspect="1"/>
          </p:cNvPicPr>
          <p:nvPr/>
        </p:nvPicPr>
        <p:blipFill>
          <a:blip r:embed="rId19"/>
          <a:stretch>
            <a:fillRect/>
          </a:stretch>
        </p:blipFill>
        <p:spPr>
          <a:xfrm>
            <a:off x="6963717" y="5208733"/>
            <a:ext cx="128699" cy="187198"/>
          </a:xfrm>
          <a:prstGeom prst="rect">
            <a:avLst/>
          </a:prstGeom>
        </p:spPr>
      </p:pic>
      <p:sp>
        <p:nvSpPr>
          <p:cNvPr id="128" name="TextBox 127"/>
          <p:cNvSpPr txBox="1"/>
          <p:nvPr/>
        </p:nvSpPr>
        <p:spPr>
          <a:xfrm>
            <a:off x="7131213" y="5218513"/>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29" name="TextBox 128"/>
          <p:cNvSpPr txBox="1"/>
          <p:nvPr/>
        </p:nvSpPr>
        <p:spPr>
          <a:xfrm>
            <a:off x="3838575" y="5386153"/>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30" name="TextBox 129"/>
          <p:cNvSpPr txBox="1"/>
          <p:nvPr/>
        </p:nvSpPr>
        <p:spPr>
          <a:xfrm>
            <a:off x="3838575" y="5604085"/>
            <a:ext cx="1835244" cy="186689"/>
          </a:xfrm>
          <a:prstGeom prst="rect">
            <a:avLst/>
          </a:prstGeom>
          <a:noFill/>
        </p:spPr>
        <p:txBody>
          <a:bodyPr wrap="none" lIns="0" rIns="0" tIns="0" bIns="0">
            <a:spAutoFit/>
          </a:bodyPr>
          <a:lstStyle/>
          <a:p>
            <a:r>
              <a:rPr sz="1100" b="0">
                <a:solidFill>
                  <a:srgbClr val="2E2E2E"/>
                </a:solidFill>
                <a:latin typeface="Calibri"/>
              </a:rPr>
              <a:t>● Basements and Foundations:</a:t>
            </a:r>
          </a:p>
        </p:txBody>
      </p:sp>
      <p:pic>
        <p:nvPicPr>
          <p:cNvPr id="131" name="Picture 130" descr="lock.png"/>
          <p:cNvPicPr>
            <a:picLocks noChangeAspect="1"/>
          </p:cNvPicPr>
          <p:nvPr/>
        </p:nvPicPr>
        <p:blipFill>
          <a:blip r:embed="rId19"/>
          <a:stretch>
            <a:fillRect/>
          </a:stretch>
        </p:blipFill>
        <p:spPr>
          <a:xfrm>
            <a:off x="5621870" y="5594305"/>
            <a:ext cx="128699" cy="187198"/>
          </a:xfrm>
          <a:prstGeom prst="rect">
            <a:avLst/>
          </a:prstGeom>
        </p:spPr>
      </p:pic>
      <p:sp>
        <p:nvSpPr>
          <p:cNvPr id="132" name="TextBox 131"/>
          <p:cNvSpPr txBox="1"/>
          <p:nvPr/>
        </p:nvSpPr>
        <p:spPr>
          <a:xfrm>
            <a:off x="5789366" y="560408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3" name="Picture 132" descr="lock.png"/>
          <p:cNvPicPr>
            <a:picLocks noChangeAspect="1"/>
          </p:cNvPicPr>
          <p:nvPr/>
        </p:nvPicPr>
        <p:blipFill>
          <a:blip r:embed="rId19"/>
          <a:stretch>
            <a:fillRect/>
          </a:stretch>
        </p:blipFill>
        <p:spPr>
          <a:xfrm>
            <a:off x="6648816" y="5594305"/>
            <a:ext cx="128699" cy="187198"/>
          </a:xfrm>
          <a:prstGeom prst="rect">
            <a:avLst/>
          </a:prstGeom>
        </p:spPr>
      </p:pic>
      <p:sp>
        <p:nvSpPr>
          <p:cNvPr id="134" name="TextBox 133"/>
          <p:cNvSpPr txBox="1"/>
          <p:nvPr/>
        </p:nvSpPr>
        <p:spPr>
          <a:xfrm>
            <a:off x="6816312" y="5604085"/>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35" name="TextBox 134"/>
          <p:cNvSpPr txBox="1"/>
          <p:nvPr/>
        </p:nvSpPr>
        <p:spPr>
          <a:xfrm>
            <a:off x="3838575" y="5771725"/>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36" name="TextBox 135"/>
          <p:cNvSpPr txBox="1"/>
          <p:nvPr/>
        </p:nvSpPr>
        <p:spPr>
          <a:xfrm>
            <a:off x="8524875" y="5842641"/>
            <a:ext cx="3093045" cy="194310"/>
          </a:xfrm>
          <a:prstGeom prst="rect">
            <a:avLst/>
          </a:prstGeom>
          <a:noFill/>
        </p:spPr>
        <p:txBody>
          <a:bodyPr wrap="none" lIns="0" rIns="0" tIns="0" bIns="0">
            <a:spAutoFit/>
          </a:bodyPr>
          <a:lstStyle/>
          <a:p>
            <a:r>
              <a:rPr sz="1150" b="1">
                <a:solidFill>
                  <a:srgbClr val="0B2E4A"/>
                </a:solidFill>
                <a:latin typeface="Calibri"/>
              </a:rPr>
              <a:t>The Application segment is projected to grow at a</a:t>
            </a:r>
          </a:p>
        </p:txBody>
      </p:sp>
      <p:sp>
        <p:nvSpPr>
          <p:cNvPr id="137" name="TextBox 136"/>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38" name="Picture 137" descr="lock.png"/>
          <p:cNvPicPr>
            <a:picLocks noChangeAspect="1"/>
          </p:cNvPicPr>
          <p:nvPr/>
        </p:nvPicPr>
        <p:blipFill>
          <a:blip r:embed="rId19"/>
          <a:stretch>
            <a:fillRect/>
          </a:stretch>
        </p:blipFill>
        <p:spPr>
          <a:xfrm>
            <a:off x="9048826" y="6007677"/>
            <a:ext cx="134549" cy="195707"/>
          </a:xfrm>
          <a:prstGeom prst="rect">
            <a:avLst/>
          </a:prstGeom>
        </p:spPr>
      </p:pic>
      <p:sp>
        <p:nvSpPr>
          <p:cNvPr id="139" name="TextBox 138"/>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Application Segment Outlook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9 sub-segments of Application,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Application segment categorizes the market by application.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Bridges, Tunnels and Other Infras…</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25" name="Oval 24"/>
          <p:cNvSpPr/>
          <p:nvPr/>
        </p:nvSpPr>
        <p:spPr>
          <a:xfrm>
            <a:off x="2912269"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26" name="Rounded Rectangle 25"/>
          <p:cNvSpPr/>
          <p:nvPr/>
        </p:nvSpPr>
        <p:spPr>
          <a:xfrm>
            <a:off x="4395788" y="1773916"/>
            <a:ext cx="2414588"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Floors and Parking Structures</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2" name="Oval 31"/>
          <p:cNvSpPr/>
          <p:nvPr/>
        </p:nvSpPr>
        <p:spPr>
          <a:xfrm>
            <a:off x="5441156"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33" name="Rounded Rectangle 32"/>
          <p:cNvSpPr/>
          <p:nvPr/>
        </p:nvSpPr>
        <p:spPr>
          <a:xfrm>
            <a:off x="6924675"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Balconies and Decks</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39" name="Oval 38"/>
          <p:cNvSpPr/>
          <p:nvPr/>
        </p:nvSpPr>
        <p:spPr>
          <a:xfrm>
            <a:off x="7970044"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8</a:t>
            </a:r>
          </a:p>
        </p:txBody>
      </p:sp>
      <p:sp>
        <p:nvSpPr>
          <p:cNvPr id="40" name="Rounded Rectangle 39"/>
          <p:cNvSpPr/>
          <p:nvPr/>
        </p:nvSpPr>
        <p:spPr>
          <a:xfrm>
            <a:off x="9453562"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Applications</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46" name="Oval 45"/>
          <p:cNvSpPr/>
          <p:nvPr/>
        </p:nvSpPr>
        <p:spPr>
          <a:xfrm>
            <a:off x="10498931"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9</a:t>
            </a:r>
          </a:p>
        </p:txBody>
      </p:sp>
      <p:sp>
        <p:nvSpPr>
          <p:cNvPr id="47" name="Rounded Rectangle 46"/>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9" name="Rectangle 48"/>
          <p:cNvSpPr/>
          <p:nvPr/>
        </p:nvSpPr>
        <p:spPr>
          <a:xfrm>
            <a:off x="457200" y="4146897"/>
            <a:ext cx="112776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C7A89"/>
                </a:solidFill>
                <a:latin typeface="Calibri"/>
              </a:rPr>
              <a:t/>
            </a:r>
            <a:r>
              <a:rPr sz="1100" b="1">
                <a:solidFill>
                  <a:srgbClr val="6C7A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51" name="TextBox 5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3" name="Picture 52" descr="411_3_605E5C.png"/>
          <p:cNvPicPr>
            <a:picLocks noChangeAspect="1"/>
          </p:cNvPicPr>
          <p:nvPr/>
        </p:nvPicPr>
        <p:blipFill>
          <a:blip r:embed="rId4"/>
          <a:stretch>
            <a:fillRect/>
          </a:stretch>
        </p:blipFill>
        <p:spPr>
          <a:xfrm>
            <a:off x="2476330" y="2286582"/>
            <a:ext cx="1195728" cy="361950"/>
          </a:xfrm>
          <a:prstGeom prst="rect">
            <a:avLst/>
          </a:prstGeom>
        </p:spPr>
      </p:pic>
      <p:pic>
        <p:nvPicPr>
          <p:cNvPr id="54" name="Picture 53" descr="480_5_605E5C.png"/>
          <p:cNvPicPr>
            <a:picLocks noChangeAspect="1"/>
          </p:cNvPicPr>
          <p:nvPr/>
        </p:nvPicPr>
        <p:blipFill>
          <a:blip r:embed="rId5"/>
          <a:stretch>
            <a:fillRect/>
          </a:stretch>
        </p:blipFill>
        <p:spPr>
          <a:xfrm>
            <a:off x="2476330" y="2779432"/>
            <a:ext cx="1195728" cy="361950"/>
          </a:xfrm>
          <a:prstGeom prst="rect">
            <a:avLst/>
          </a:prstGeom>
        </p:spPr>
      </p:pic>
      <p:pic>
        <p:nvPicPr>
          <p:cNvPr id="55" name="Picture 54" descr="1_6__605E5C.png"/>
          <p:cNvPicPr>
            <a:picLocks noChangeAspect="1"/>
          </p:cNvPicPr>
          <p:nvPr/>
        </p:nvPicPr>
        <p:blipFill>
          <a:blip r:embed="rId6"/>
          <a:stretch>
            <a:fillRect/>
          </a:stretch>
        </p:blipFill>
        <p:spPr>
          <a:xfrm>
            <a:off x="2582976" y="3272281"/>
            <a:ext cx="982436" cy="361950"/>
          </a:xfrm>
          <a:prstGeom prst="rect">
            <a:avLst/>
          </a:prstGeom>
        </p:spPr>
      </p:pic>
      <p:pic>
        <p:nvPicPr>
          <p:cNvPr id="56" name="Picture 55" descr="327_8_605E5C.png"/>
          <p:cNvPicPr>
            <a:picLocks noChangeAspect="1"/>
          </p:cNvPicPr>
          <p:nvPr/>
        </p:nvPicPr>
        <p:blipFill>
          <a:blip r:embed="rId7"/>
          <a:stretch>
            <a:fillRect/>
          </a:stretch>
        </p:blipFill>
        <p:spPr>
          <a:xfrm>
            <a:off x="5005218" y="2286582"/>
            <a:ext cx="1195728" cy="361950"/>
          </a:xfrm>
          <a:prstGeom prst="rect">
            <a:avLst/>
          </a:prstGeom>
        </p:spPr>
      </p:pic>
      <p:pic>
        <p:nvPicPr>
          <p:cNvPr id="57" name="Picture 56" descr="468_6_605E5C.png"/>
          <p:cNvPicPr>
            <a:picLocks noChangeAspect="1"/>
          </p:cNvPicPr>
          <p:nvPr/>
        </p:nvPicPr>
        <p:blipFill>
          <a:blip r:embed="rId8"/>
          <a:stretch>
            <a:fillRect/>
          </a:stretch>
        </p:blipFill>
        <p:spPr>
          <a:xfrm>
            <a:off x="5005218" y="2779432"/>
            <a:ext cx="1195728" cy="361950"/>
          </a:xfrm>
          <a:prstGeom prst="rect">
            <a:avLst/>
          </a:prstGeom>
        </p:spPr>
      </p:pic>
      <p:pic>
        <p:nvPicPr>
          <p:cNvPr id="58" name="Picture 57" descr="3_6__605E5C.png"/>
          <p:cNvPicPr>
            <a:picLocks noChangeAspect="1"/>
          </p:cNvPicPr>
          <p:nvPr/>
        </p:nvPicPr>
        <p:blipFill>
          <a:blip r:embed="rId9"/>
          <a:stretch>
            <a:fillRect/>
          </a:stretch>
        </p:blipFill>
        <p:spPr>
          <a:xfrm>
            <a:off x="5111864" y="3272281"/>
            <a:ext cx="982436" cy="361950"/>
          </a:xfrm>
          <a:prstGeom prst="rect">
            <a:avLst/>
          </a:prstGeom>
        </p:spPr>
      </p:pic>
      <p:pic>
        <p:nvPicPr>
          <p:cNvPr id="59" name="Picture 58" descr="247_3_605E5C.png"/>
          <p:cNvPicPr>
            <a:picLocks noChangeAspect="1"/>
          </p:cNvPicPr>
          <p:nvPr/>
        </p:nvPicPr>
        <p:blipFill>
          <a:blip r:embed="rId10"/>
          <a:stretch>
            <a:fillRect/>
          </a:stretch>
        </p:blipFill>
        <p:spPr>
          <a:xfrm>
            <a:off x="7534105" y="2286582"/>
            <a:ext cx="1195728" cy="361950"/>
          </a:xfrm>
          <a:prstGeom prst="rect">
            <a:avLst/>
          </a:prstGeom>
        </p:spPr>
      </p:pic>
      <p:pic>
        <p:nvPicPr>
          <p:cNvPr id="60" name="Picture 59" descr="257_2_605E5C.png"/>
          <p:cNvPicPr>
            <a:picLocks noChangeAspect="1"/>
          </p:cNvPicPr>
          <p:nvPr/>
        </p:nvPicPr>
        <p:blipFill>
          <a:blip r:embed="rId11"/>
          <a:stretch>
            <a:fillRect/>
          </a:stretch>
        </p:blipFill>
        <p:spPr>
          <a:xfrm>
            <a:off x="7534105" y="2779432"/>
            <a:ext cx="1195728" cy="361950"/>
          </a:xfrm>
          <a:prstGeom prst="rect">
            <a:avLst/>
          </a:prstGeom>
        </p:spPr>
      </p:pic>
      <p:pic>
        <p:nvPicPr>
          <p:cNvPr id="61" name="Picture 60" descr="0_4__605E5C.png"/>
          <p:cNvPicPr>
            <a:picLocks noChangeAspect="1"/>
          </p:cNvPicPr>
          <p:nvPr/>
        </p:nvPicPr>
        <p:blipFill>
          <a:blip r:embed="rId12"/>
          <a:stretch>
            <a:fillRect/>
          </a:stretch>
        </p:blipFill>
        <p:spPr>
          <a:xfrm>
            <a:off x="7640751" y="3272281"/>
            <a:ext cx="982436" cy="361950"/>
          </a:xfrm>
          <a:prstGeom prst="rect">
            <a:avLst/>
          </a:prstGeom>
        </p:spPr>
      </p:pic>
      <p:pic>
        <p:nvPicPr>
          <p:cNvPr id="62" name="Picture 61" descr="213_6_605E5C.png"/>
          <p:cNvPicPr>
            <a:picLocks noChangeAspect="1"/>
          </p:cNvPicPr>
          <p:nvPr/>
        </p:nvPicPr>
        <p:blipFill>
          <a:blip r:embed="rId13"/>
          <a:stretch>
            <a:fillRect/>
          </a:stretch>
        </p:blipFill>
        <p:spPr>
          <a:xfrm>
            <a:off x="10062992" y="2286582"/>
            <a:ext cx="1195728" cy="361950"/>
          </a:xfrm>
          <a:prstGeom prst="rect">
            <a:avLst/>
          </a:prstGeom>
        </p:spPr>
      </p:pic>
      <p:pic>
        <p:nvPicPr>
          <p:cNvPr id="63" name="Picture 62" descr="320_4_605E5C.png"/>
          <p:cNvPicPr>
            <a:picLocks noChangeAspect="1"/>
          </p:cNvPicPr>
          <p:nvPr/>
        </p:nvPicPr>
        <p:blipFill>
          <a:blip r:embed="rId14"/>
          <a:stretch>
            <a:fillRect/>
          </a:stretch>
        </p:blipFill>
        <p:spPr>
          <a:xfrm>
            <a:off x="10062992" y="2779432"/>
            <a:ext cx="1195728" cy="361950"/>
          </a:xfrm>
          <a:prstGeom prst="rect">
            <a:avLst/>
          </a:prstGeom>
        </p:spPr>
      </p:pic>
      <p:pic>
        <p:nvPicPr>
          <p:cNvPr id="64" name="Picture 63" descr="4_1__605E5C.png"/>
          <p:cNvPicPr>
            <a:picLocks noChangeAspect="1"/>
          </p:cNvPicPr>
          <p:nvPr/>
        </p:nvPicPr>
        <p:blipFill>
          <a:blip r:embed="rId15"/>
          <a:stretch>
            <a:fillRect/>
          </a:stretch>
        </p:blipFill>
        <p:spPr>
          <a:xfrm>
            <a:off x="10169638" y="3272281"/>
            <a:ext cx="982436" cy="361950"/>
          </a:xfrm>
          <a:prstGeom prst="rect">
            <a:avLst/>
          </a:prstGeom>
        </p:spPr>
      </p:pic>
      <p:pic>
        <p:nvPicPr>
          <p:cNvPr id="65" name="Picture 64" descr="lock.png"/>
          <p:cNvPicPr>
            <a:picLocks noChangeAspect="1"/>
          </p:cNvPicPr>
          <p:nvPr/>
        </p:nvPicPr>
        <p:blipFill>
          <a:blip r:embed="rId16"/>
          <a:stretch>
            <a:fillRect/>
          </a:stretch>
        </p:blipFill>
        <p:spPr>
          <a:xfrm>
            <a:off x="2980848" y="2827057"/>
            <a:ext cx="183356" cy="266700"/>
          </a:xfrm>
          <a:prstGeom prst="rect">
            <a:avLst/>
          </a:prstGeom>
        </p:spPr>
      </p:pic>
      <p:pic>
        <p:nvPicPr>
          <p:cNvPr id="66" name="Picture 65" descr="lock.png"/>
          <p:cNvPicPr>
            <a:picLocks noChangeAspect="1"/>
          </p:cNvPicPr>
          <p:nvPr/>
        </p:nvPicPr>
        <p:blipFill>
          <a:blip r:embed="rId16"/>
          <a:stretch>
            <a:fillRect/>
          </a:stretch>
        </p:blipFill>
        <p:spPr>
          <a:xfrm>
            <a:off x="5509737" y="2827057"/>
            <a:ext cx="183356" cy="266700"/>
          </a:xfrm>
          <a:prstGeom prst="rect">
            <a:avLst/>
          </a:prstGeom>
        </p:spPr>
      </p:pic>
      <p:pic>
        <p:nvPicPr>
          <p:cNvPr id="67" name="Picture 66" descr="lock.png"/>
          <p:cNvPicPr>
            <a:picLocks noChangeAspect="1"/>
          </p:cNvPicPr>
          <p:nvPr/>
        </p:nvPicPr>
        <p:blipFill>
          <a:blip r:embed="rId16"/>
          <a:stretch>
            <a:fillRect/>
          </a:stretch>
        </p:blipFill>
        <p:spPr>
          <a:xfrm>
            <a:off x="8038624" y="2827057"/>
            <a:ext cx="183356" cy="266700"/>
          </a:xfrm>
          <a:prstGeom prst="rect">
            <a:avLst/>
          </a:prstGeom>
        </p:spPr>
      </p:pic>
      <p:pic>
        <p:nvPicPr>
          <p:cNvPr id="68" name="Picture 67" descr="lock.png"/>
          <p:cNvPicPr>
            <a:picLocks noChangeAspect="1"/>
          </p:cNvPicPr>
          <p:nvPr/>
        </p:nvPicPr>
        <p:blipFill>
          <a:blip r:embed="rId16"/>
          <a:stretch>
            <a:fillRect/>
          </a:stretch>
        </p:blipFill>
        <p:spPr>
          <a:xfrm>
            <a:off x="10567511" y="2827057"/>
            <a:ext cx="183356" cy="266700"/>
          </a:xfrm>
          <a:prstGeom prst="rect">
            <a:avLst/>
          </a:prstGeom>
        </p:spPr>
      </p:pic>
      <p:sp>
        <p:nvSpPr>
          <p:cNvPr id="69" name="TextBox 68"/>
          <p:cNvSpPr txBox="1"/>
          <p:nvPr/>
        </p:nvSpPr>
        <p:spPr>
          <a:xfrm>
            <a:off x="485775" y="4229437"/>
            <a:ext cx="2589708" cy="186689"/>
          </a:xfrm>
          <a:prstGeom prst="rect">
            <a:avLst/>
          </a:prstGeom>
          <a:noFill/>
        </p:spPr>
        <p:txBody>
          <a:bodyPr wrap="none" lIns="0" rIns="0" tIns="0" bIns="0">
            <a:spAutoFit/>
          </a:bodyPr>
          <a:lstStyle/>
          <a:p>
            <a:r>
              <a:rPr sz="1100" b="0">
                <a:solidFill>
                  <a:srgbClr val="2E2E2E"/>
                </a:solidFill>
                <a:latin typeface="Calibri"/>
              </a:rPr>
              <a:t>● Bridges, Tunnels and Other Infrastructure:</a:t>
            </a:r>
          </a:p>
        </p:txBody>
      </p:sp>
      <p:pic>
        <p:nvPicPr>
          <p:cNvPr id="70" name="Picture 69" descr="lock.png"/>
          <p:cNvPicPr>
            <a:picLocks noChangeAspect="1"/>
          </p:cNvPicPr>
          <p:nvPr/>
        </p:nvPicPr>
        <p:blipFill>
          <a:blip r:embed="rId16"/>
          <a:stretch>
            <a:fillRect/>
          </a:stretch>
        </p:blipFill>
        <p:spPr>
          <a:xfrm>
            <a:off x="3023535" y="4219658"/>
            <a:ext cx="128699" cy="187198"/>
          </a:xfrm>
          <a:prstGeom prst="rect">
            <a:avLst/>
          </a:prstGeom>
        </p:spPr>
      </p:pic>
      <p:sp>
        <p:nvSpPr>
          <p:cNvPr id="71" name="TextBox 70"/>
          <p:cNvSpPr txBox="1"/>
          <p:nvPr/>
        </p:nvSpPr>
        <p:spPr>
          <a:xfrm>
            <a:off x="3191031"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2" name="Picture 71" descr="lock.png"/>
          <p:cNvPicPr>
            <a:picLocks noChangeAspect="1"/>
          </p:cNvPicPr>
          <p:nvPr/>
        </p:nvPicPr>
        <p:blipFill>
          <a:blip r:embed="rId16"/>
          <a:stretch>
            <a:fillRect/>
          </a:stretch>
        </p:blipFill>
        <p:spPr>
          <a:xfrm>
            <a:off x="4050481" y="4219658"/>
            <a:ext cx="128699" cy="187198"/>
          </a:xfrm>
          <a:prstGeom prst="rect">
            <a:avLst/>
          </a:prstGeom>
        </p:spPr>
      </p:pic>
      <p:sp>
        <p:nvSpPr>
          <p:cNvPr id="73" name="TextBox 72"/>
          <p:cNvSpPr txBox="1"/>
          <p:nvPr/>
        </p:nvSpPr>
        <p:spPr>
          <a:xfrm>
            <a:off x="4217977" y="4229437"/>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74" name="TextBox 73"/>
          <p:cNvSpPr txBox="1"/>
          <p:nvPr/>
        </p:nvSpPr>
        <p:spPr>
          <a:xfrm>
            <a:off x="485775" y="4447369"/>
            <a:ext cx="1893937" cy="186689"/>
          </a:xfrm>
          <a:prstGeom prst="rect">
            <a:avLst/>
          </a:prstGeom>
          <a:noFill/>
        </p:spPr>
        <p:txBody>
          <a:bodyPr wrap="none" lIns="0" rIns="0" tIns="0" bIns="0">
            <a:spAutoFit/>
          </a:bodyPr>
          <a:lstStyle/>
          <a:p>
            <a:r>
              <a:rPr sz="1100" b="0">
                <a:solidFill>
                  <a:srgbClr val="2E2E2E"/>
                </a:solidFill>
                <a:latin typeface="Calibri"/>
              </a:rPr>
              <a:t>● Floors and Parking Structures:</a:t>
            </a:r>
          </a:p>
        </p:txBody>
      </p:sp>
      <p:pic>
        <p:nvPicPr>
          <p:cNvPr id="75" name="Picture 74" descr="lock.png"/>
          <p:cNvPicPr>
            <a:picLocks noChangeAspect="1"/>
          </p:cNvPicPr>
          <p:nvPr/>
        </p:nvPicPr>
        <p:blipFill>
          <a:blip r:embed="rId16"/>
          <a:stretch>
            <a:fillRect/>
          </a:stretch>
        </p:blipFill>
        <p:spPr>
          <a:xfrm>
            <a:off x="2327763" y="4437590"/>
            <a:ext cx="128699" cy="187198"/>
          </a:xfrm>
          <a:prstGeom prst="rect">
            <a:avLst/>
          </a:prstGeom>
        </p:spPr>
      </p:pic>
      <p:sp>
        <p:nvSpPr>
          <p:cNvPr id="76" name="TextBox 75"/>
          <p:cNvSpPr txBox="1"/>
          <p:nvPr/>
        </p:nvSpPr>
        <p:spPr>
          <a:xfrm>
            <a:off x="2495259"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7" name="Picture 76" descr="lock.png"/>
          <p:cNvPicPr>
            <a:picLocks noChangeAspect="1"/>
          </p:cNvPicPr>
          <p:nvPr/>
        </p:nvPicPr>
        <p:blipFill>
          <a:blip r:embed="rId16"/>
          <a:stretch>
            <a:fillRect/>
          </a:stretch>
        </p:blipFill>
        <p:spPr>
          <a:xfrm>
            <a:off x="3354709" y="4437590"/>
            <a:ext cx="128699" cy="187198"/>
          </a:xfrm>
          <a:prstGeom prst="rect">
            <a:avLst/>
          </a:prstGeom>
        </p:spPr>
      </p:pic>
      <p:sp>
        <p:nvSpPr>
          <p:cNvPr id="78" name="TextBox 77"/>
          <p:cNvSpPr txBox="1"/>
          <p:nvPr/>
        </p:nvSpPr>
        <p:spPr>
          <a:xfrm>
            <a:off x="3522205"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79" name="TextBox 78"/>
          <p:cNvSpPr txBox="1"/>
          <p:nvPr/>
        </p:nvSpPr>
        <p:spPr>
          <a:xfrm>
            <a:off x="485775" y="4665301"/>
            <a:ext cx="1377156" cy="186689"/>
          </a:xfrm>
          <a:prstGeom prst="rect">
            <a:avLst/>
          </a:prstGeom>
          <a:noFill/>
        </p:spPr>
        <p:txBody>
          <a:bodyPr wrap="none" lIns="0" rIns="0" tIns="0" bIns="0">
            <a:spAutoFit/>
          </a:bodyPr>
          <a:lstStyle/>
          <a:p>
            <a:r>
              <a:rPr sz="1100" b="0">
                <a:solidFill>
                  <a:srgbClr val="2E2E2E"/>
                </a:solidFill>
                <a:latin typeface="Calibri"/>
              </a:rPr>
              <a:t>● Balconies and Decks:</a:t>
            </a:r>
          </a:p>
        </p:txBody>
      </p:sp>
      <p:pic>
        <p:nvPicPr>
          <p:cNvPr id="80" name="Picture 79" descr="lock.png"/>
          <p:cNvPicPr>
            <a:picLocks noChangeAspect="1"/>
          </p:cNvPicPr>
          <p:nvPr/>
        </p:nvPicPr>
        <p:blipFill>
          <a:blip r:embed="rId16"/>
          <a:stretch>
            <a:fillRect/>
          </a:stretch>
        </p:blipFill>
        <p:spPr>
          <a:xfrm>
            <a:off x="1810982" y="4655522"/>
            <a:ext cx="128699" cy="187198"/>
          </a:xfrm>
          <a:prstGeom prst="rect">
            <a:avLst/>
          </a:prstGeom>
        </p:spPr>
      </p:pic>
      <p:sp>
        <p:nvSpPr>
          <p:cNvPr id="81" name="TextBox 80"/>
          <p:cNvSpPr txBox="1"/>
          <p:nvPr/>
        </p:nvSpPr>
        <p:spPr>
          <a:xfrm>
            <a:off x="1978478"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2" name="Picture 81" descr="lock.png"/>
          <p:cNvPicPr>
            <a:picLocks noChangeAspect="1"/>
          </p:cNvPicPr>
          <p:nvPr/>
        </p:nvPicPr>
        <p:blipFill>
          <a:blip r:embed="rId16"/>
          <a:stretch>
            <a:fillRect/>
          </a:stretch>
        </p:blipFill>
        <p:spPr>
          <a:xfrm>
            <a:off x="2837928" y="4655522"/>
            <a:ext cx="128699" cy="187198"/>
          </a:xfrm>
          <a:prstGeom prst="rect">
            <a:avLst/>
          </a:prstGeom>
        </p:spPr>
      </p:pic>
      <p:sp>
        <p:nvSpPr>
          <p:cNvPr id="83" name="TextBox 82"/>
          <p:cNvSpPr txBox="1"/>
          <p:nvPr/>
        </p:nvSpPr>
        <p:spPr>
          <a:xfrm>
            <a:off x="3005424"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84" name="TextBox 83"/>
          <p:cNvSpPr txBox="1"/>
          <p:nvPr/>
        </p:nvSpPr>
        <p:spPr>
          <a:xfrm>
            <a:off x="485775" y="4883233"/>
            <a:ext cx="1291208" cy="186689"/>
          </a:xfrm>
          <a:prstGeom prst="rect">
            <a:avLst/>
          </a:prstGeom>
          <a:noFill/>
        </p:spPr>
        <p:txBody>
          <a:bodyPr wrap="none" lIns="0" rIns="0" tIns="0" bIns="0">
            <a:spAutoFit/>
          </a:bodyPr>
          <a:lstStyle/>
          <a:p>
            <a:r>
              <a:rPr sz="1100" b="0">
                <a:solidFill>
                  <a:srgbClr val="2E2E2E"/>
                </a:solidFill>
                <a:latin typeface="Calibri"/>
              </a:rPr>
              <a:t>● Other Applications:</a:t>
            </a:r>
          </a:p>
        </p:txBody>
      </p:sp>
      <p:pic>
        <p:nvPicPr>
          <p:cNvPr id="85" name="Picture 84" descr="lock.png"/>
          <p:cNvPicPr>
            <a:picLocks noChangeAspect="1"/>
          </p:cNvPicPr>
          <p:nvPr/>
        </p:nvPicPr>
        <p:blipFill>
          <a:blip r:embed="rId16"/>
          <a:stretch>
            <a:fillRect/>
          </a:stretch>
        </p:blipFill>
        <p:spPr>
          <a:xfrm>
            <a:off x="1725034" y="4873454"/>
            <a:ext cx="128699" cy="187198"/>
          </a:xfrm>
          <a:prstGeom prst="rect">
            <a:avLst/>
          </a:prstGeom>
        </p:spPr>
      </p:pic>
      <p:sp>
        <p:nvSpPr>
          <p:cNvPr id="86" name="TextBox 85"/>
          <p:cNvSpPr txBox="1"/>
          <p:nvPr/>
        </p:nvSpPr>
        <p:spPr>
          <a:xfrm>
            <a:off x="1892530"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7" name="Picture 86" descr="lock.png"/>
          <p:cNvPicPr>
            <a:picLocks noChangeAspect="1"/>
          </p:cNvPicPr>
          <p:nvPr/>
        </p:nvPicPr>
        <p:blipFill>
          <a:blip r:embed="rId16"/>
          <a:stretch>
            <a:fillRect/>
          </a:stretch>
        </p:blipFill>
        <p:spPr>
          <a:xfrm>
            <a:off x="2751980" y="4873454"/>
            <a:ext cx="128699" cy="187198"/>
          </a:xfrm>
          <a:prstGeom prst="rect">
            <a:avLst/>
          </a:prstGeom>
        </p:spPr>
      </p:pic>
      <p:sp>
        <p:nvSpPr>
          <p:cNvPr id="88" name="TextBox 87"/>
          <p:cNvSpPr txBox="1"/>
          <p:nvPr/>
        </p:nvSpPr>
        <p:spPr>
          <a:xfrm>
            <a:off x="2919476" y="488323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Application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Application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Application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Application · Bubble size represents 2036 value</a:t>
            </a:r>
          </a:p>
        </p:txBody>
      </p:sp>
      <p:graphicFrame>
        <p:nvGraphicFramePr>
          <p:cNvPr id="15" name="Chart 14"/>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366251" cy="186689"/>
          </a:xfrm>
          <a:prstGeom prst="rect">
            <a:avLst/>
          </a:prstGeom>
          <a:noFill/>
        </p:spPr>
        <p:txBody>
          <a:bodyPr wrap="none" lIns="0" rIns="0" tIns="0" bIns="0">
            <a:spAutoFit/>
          </a:bodyPr>
          <a:lstStyle/>
          <a:p>
            <a:r>
              <a:rPr sz="1100" b="0">
                <a:solidFill>
                  <a:srgbClr val="2E2E2E"/>
                </a:solidFill>
                <a:latin typeface="Calibri"/>
              </a:rPr>
              <a:t>Roofs and terraces followed by bathrooms and wet areas are expected to be the two most attractive application segments in the North America waterproof coatings market in terms of value over the</a:t>
            </a:r>
          </a:p>
        </p:txBody>
      </p:sp>
      <p:sp>
        <p:nvSpPr>
          <p:cNvPr id="20" name="TextBox 19"/>
          <p:cNvSpPr txBox="1"/>
          <p:nvPr/>
        </p:nvSpPr>
        <p:spPr>
          <a:xfrm>
            <a:off x="257175" y="5861685"/>
            <a:ext cx="5159134" cy="186689"/>
          </a:xfrm>
          <a:prstGeom prst="rect">
            <a:avLst/>
          </a:prstGeom>
          <a:noFill/>
        </p:spPr>
        <p:txBody>
          <a:bodyPr wrap="none" lIns="0" rIns="0" tIns="0" bIns="0">
            <a:spAutoFit/>
          </a:bodyPr>
          <a:lstStyle/>
          <a:p>
            <a:r>
              <a:rPr sz="1100" b="0">
                <a:solidFill>
                  <a:srgbClr val="2E2E2E"/>
                </a:solidFill>
                <a:latin typeface="Calibri"/>
              </a:rPr>
              <a:t>forecast period. Roofs and terraces and bathrooms and wet areas exhibit a CAGR index of</a:t>
            </a:r>
          </a:p>
        </p:txBody>
      </p:sp>
      <p:pic>
        <p:nvPicPr>
          <p:cNvPr id="21" name="Picture 20" descr="lock.png"/>
          <p:cNvPicPr>
            <a:picLocks noChangeAspect="1"/>
          </p:cNvPicPr>
          <p:nvPr/>
        </p:nvPicPr>
        <p:blipFill>
          <a:blip r:embed="rId6"/>
          <a:stretch>
            <a:fillRect/>
          </a:stretch>
        </p:blipFill>
        <p:spPr>
          <a:xfrm>
            <a:off x="5364361" y="5851905"/>
            <a:ext cx="128699" cy="187198"/>
          </a:xfrm>
          <a:prstGeom prst="rect">
            <a:avLst/>
          </a:prstGeom>
        </p:spPr>
      </p:pic>
      <p:sp>
        <p:nvSpPr>
          <p:cNvPr id="22" name="TextBox 21"/>
          <p:cNvSpPr txBox="1"/>
          <p:nvPr/>
        </p:nvSpPr>
        <p:spPr>
          <a:xfrm>
            <a:off x="5531857"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5769751" y="5851905"/>
            <a:ext cx="128699" cy="187198"/>
          </a:xfrm>
          <a:prstGeom prst="rect">
            <a:avLst/>
          </a:prstGeom>
        </p:spPr>
      </p:pic>
      <p:sp>
        <p:nvSpPr>
          <p:cNvPr id="24" name="TextBox 23"/>
          <p:cNvSpPr txBox="1"/>
          <p:nvPr/>
        </p:nvSpPr>
        <p:spPr>
          <a:xfrm>
            <a:off x="5937247"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7546220" y="5851905"/>
            <a:ext cx="128699" cy="187198"/>
          </a:xfrm>
          <a:prstGeom prst="rect">
            <a:avLst/>
          </a:prstGeom>
        </p:spPr>
      </p:pic>
      <p:sp>
        <p:nvSpPr>
          <p:cNvPr id="26" name="TextBox 25"/>
          <p:cNvSpPr txBox="1"/>
          <p:nvPr/>
        </p:nvSpPr>
        <p:spPr>
          <a:xfrm>
            <a:off x="7713716"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7951610" y="5851905"/>
            <a:ext cx="128699" cy="187198"/>
          </a:xfrm>
          <a:prstGeom prst="rect">
            <a:avLst/>
          </a:prstGeom>
        </p:spPr>
      </p:pic>
      <p:sp>
        <p:nvSpPr>
          <p:cNvPr id="28" name="TextBox 27"/>
          <p:cNvSpPr txBox="1"/>
          <p:nvPr/>
        </p:nvSpPr>
        <p:spPr>
          <a:xfrm>
            <a:off x="8119106"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10673510" y="5851905"/>
            <a:ext cx="128699" cy="187198"/>
          </a:xfrm>
          <a:prstGeom prst="rect">
            <a:avLst/>
          </a:prstGeom>
        </p:spPr>
      </p:pic>
      <p:sp>
        <p:nvSpPr>
          <p:cNvPr id="30" name="TextBox 29"/>
          <p:cNvSpPr txBox="1"/>
          <p:nvPr/>
        </p:nvSpPr>
        <p:spPr>
          <a:xfrm>
            <a:off x="10841006" y="5861685"/>
            <a:ext cx="354235" cy="186689"/>
          </a:xfrm>
          <a:prstGeom prst="rect">
            <a:avLst/>
          </a:prstGeom>
          <a:noFill/>
        </p:spPr>
        <p:txBody>
          <a:bodyPr wrap="none" lIns="0" rIns="0" tIns="0" bIns="0">
            <a:spAutoFit/>
          </a:bodyPr>
          <a:lstStyle/>
          <a:p>
            <a:r>
              <a:rPr sz="1100" b="0">
                <a:solidFill>
                  <a:srgbClr val="2E2E2E"/>
                </a:solidFill>
                <a:latin typeface="Calibri"/>
              </a:rPr>
              <a:t>. The</a:t>
            </a:r>
          </a:p>
        </p:txBody>
      </p:sp>
      <p:sp>
        <p:nvSpPr>
          <p:cNvPr id="31" name="TextBox 30"/>
          <p:cNvSpPr txBox="1"/>
          <p:nvPr/>
        </p:nvSpPr>
        <p:spPr>
          <a:xfrm>
            <a:off x="257175" y="6029325"/>
            <a:ext cx="11087380" cy="186689"/>
          </a:xfrm>
          <a:prstGeom prst="rect">
            <a:avLst/>
          </a:prstGeom>
          <a:noFill/>
        </p:spPr>
        <p:txBody>
          <a:bodyPr wrap="none" lIns="0" rIns="0" tIns="0" bIns="0">
            <a:spAutoFit/>
          </a:bodyPr>
          <a:lstStyle/>
          <a:p>
            <a:r>
              <a:rPr sz="1100" b="0">
                <a:solidFill>
                  <a:srgbClr val="2E2E2E"/>
                </a:solidFill>
                <a:latin typeface="Calibri"/>
              </a:rPr>
              <a:t>balconies and decks segment is expected to be less attractive as compared to other segments over the forecast period, owing to its lower CAGR and incremental opportunity. Bubbles right of the</a:t>
            </a:r>
          </a:p>
        </p:txBody>
      </p:sp>
      <p:sp>
        <p:nvSpPr>
          <p:cNvPr id="32" name="TextBox 31"/>
          <p:cNvSpPr txBox="1"/>
          <p:nvPr/>
        </p:nvSpPr>
        <p:spPr>
          <a:xfrm>
            <a:off x="257175" y="6196965"/>
            <a:ext cx="3224344" cy="186689"/>
          </a:xfrm>
          <a:prstGeom prst="rect">
            <a:avLst/>
          </a:prstGeom>
          <a:noFill/>
        </p:spPr>
        <p:txBody>
          <a:bodyPr wrap="none" lIns="0" rIns="0" tIns="0" bIns="0">
            <a:spAutoFit/>
          </a:bodyPr>
          <a:lstStyle/>
          <a:p>
            <a:r>
              <a:rPr sz="1100" b="0">
                <a:solidFill>
                  <a:srgbClr val="2E2E2E"/>
                </a:solidFill>
                <a:latin typeface="Calibri"/>
              </a:rPr>
              <a:t>CAGR-Index line grow faster 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Application (1/3)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Application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Roofs and Terraces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Walls and Building Facades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Basements and Foundations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Bathrooms and Wet Areas</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Application (2/3)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Application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Balconies and Decks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Floors and Parking Structures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Bridges, Tunnels and Other Infrastructure</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Water Tanks and Swimming Pools</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Application (3/3)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Application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Other Applications</a:t>
            </a:r>
          </a:p>
        </p:txBody>
      </p:sp>
      <p:graphicFrame>
        <p:nvGraphicFramePr>
          <p:cNvPr id="12" name="Chart 11"/>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066800"/>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North America Absolute $ Opportunity Analysis, By Application</a:t>
            </a:r>
          </a:p>
        </p:txBody>
      </p:sp>
      <p:sp>
        <p:nvSpPr>
          <p:cNvPr id="15" name="Rectangle 14"/>
          <p:cNvSpPr/>
          <p:nvPr/>
        </p:nvSpPr>
        <p:spPr>
          <a:xfrm>
            <a:off x="6305550" y="150299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5550" y="1588720"/>
            <a:ext cx="5610225"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027556" y="3674659"/>
            <a:ext cx="395643" cy="575481"/>
          </a:xfrm>
          <a:prstGeom prst="rect">
            <a:avLst/>
          </a:prstGeom>
        </p:spPr>
      </p:pic>
      <p:sp>
        <p:nvSpPr>
          <p:cNvPr id="19" name="TextBox 18"/>
          <p:cNvSpPr txBox="1"/>
          <p:nvPr/>
        </p:nvSpPr>
        <p:spPr>
          <a:xfrm>
            <a:off x="6305550" y="1598245"/>
            <a:ext cx="5021909" cy="194310"/>
          </a:xfrm>
          <a:prstGeom prst="rect">
            <a:avLst/>
          </a:prstGeom>
          <a:noFill/>
        </p:spPr>
        <p:txBody>
          <a:bodyPr wrap="none" lIns="0" rIns="0" tIns="0" bIns="0">
            <a:spAutoFit/>
          </a:bodyPr>
          <a:lstStyle/>
          <a:p>
            <a:r>
              <a:rPr sz="1150" b="0">
                <a:solidFill>
                  <a:srgbClr val="2E2E2E"/>
                </a:solidFill>
                <a:latin typeface="Calibri"/>
              </a:rPr>
              <a:t>By 2036, bathrooms and wet areas segment is anticipated to witness an increase of</a:t>
            </a:r>
          </a:p>
        </p:txBody>
      </p:sp>
      <p:pic>
        <p:nvPicPr>
          <p:cNvPr id="20" name="Picture 19" descr="lock.png"/>
          <p:cNvPicPr>
            <a:picLocks noChangeAspect="1"/>
          </p:cNvPicPr>
          <p:nvPr/>
        </p:nvPicPr>
        <p:blipFill>
          <a:blip r:embed="rId5"/>
          <a:stretch>
            <a:fillRect/>
          </a:stretch>
        </p:blipFill>
        <p:spPr>
          <a:xfrm>
            <a:off x="11276613" y="1588021"/>
            <a:ext cx="134549" cy="195707"/>
          </a:xfrm>
          <a:prstGeom prst="rect">
            <a:avLst/>
          </a:prstGeom>
        </p:spPr>
      </p:pic>
      <p:sp>
        <p:nvSpPr>
          <p:cNvPr id="21" name="TextBox 20"/>
          <p:cNvSpPr txBox="1"/>
          <p:nvPr/>
        </p:nvSpPr>
        <p:spPr>
          <a:xfrm>
            <a:off x="11451723" y="1598245"/>
            <a:ext cx="295560" cy="194310"/>
          </a:xfrm>
          <a:prstGeom prst="rect">
            <a:avLst/>
          </a:prstGeom>
          <a:noFill/>
        </p:spPr>
        <p:txBody>
          <a:bodyPr wrap="none" lIns="0" rIns="0" tIns="0" bIns="0">
            <a:spAutoFit/>
          </a:bodyPr>
          <a:lstStyle/>
          <a:p>
            <a:r>
              <a:rPr sz="1150" b="0">
                <a:solidFill>
                  <a:srgbClr val="2E2E2E"/>
                </a:solidFill>
                <a:latin typeface="Calibri"/>
              </a:rPr>
              <a:t>X in</a:t>
            </a:r>
          </a:p>
        </p:txBody>
      </p:sp>
      <p:sp>
        <p:nvSpPr>
          <p:cNvPr id="22" name="TextBox 21"/>
          <p:cNvSpPr txBox="1"/>
          <p:nvPr/>
        </p:nvSpPr>
        <p:spPr>
          <a:xfrm>
            <a:off x="6305550" y="1773505"/>
            <a:ext cx="5467498" cy="194310"/>
          </a:xfrm>
          <a:prstGeom prst="rect">
            <a:avLst/>
          </a:prstGeom>
          <a:noFill/>
        </p:spPr>
        <p:txBody>
          <a:bodyPr wrap="none" lIns="0" rIns="0" tIns="0" bIns="0">
            <a:spAutoFit/>
          </a:bodyPr>
          <a:lstStyle/>
          <a:p>
            <a:r>
              <a:rPr sz="1150" b="0">
                <a:solidFill>
                  <a:srgbClr val="2E2E2E"/>
                </a:solidFill>
                <a:latin typeface="Calibri"/>
              </a:rPr>
              <a:t>terms of value as compared to 2026. The bathrooms and wet areas segment is expected to</a:t>
            </a:r>
          </a:p>
        </p:txBody>
      </p:sp>
      <p:sp>
        <p:nvSpPr>
          <p:cNvPr id="23" name="TextBox 22"/>
          <p:cNvSpPr txBox="1"/>
          <p:nvPr/>
        </p:nvSpPr>
        <p:spPr>
          <a:xfrm>
            <a:off x="6305550" y="1948765"/>
            <a:ext cx="2547069" cy="194310"/>
          </a:xfrm>
          <a:prstGeom prst="rect">
            <a:avLst/>
          </a:prstGeom>
          <a:noFill/>
        </p:spPr>
        <p:txBody>
          <a:bodyPr wrap="none" lIns="0" rIns="0" tIns="0" bIns="0">
            <a:spAutoFit/>
          </a:bodyPr>
          <a:lstStyle/>
          <a:p>
            <a:r>
              <a:rPr sz="1150" b="0">
                <a:solidFill>
                  <a:srgbClr val="2E2E2E"/>
                </a:solidFill>
                <a:latin typeface="Calibri"/>
              </a:rPr>
              <a:t>create an incremental opportunity of US$</a:t>
            </a:r>
          </a:p>
        </p:txBody>
      </p:sp>
      <p:pic>
        <p:nvPicPr>
          <p:cNvPr id="24" name="Picture 23" descr="lock.png"/>
          <p:cNvPicPr>
            <a:picLocks noChangeAspect="1"/>
          </p:cNvPicPr>
          <p:nvPr/>
        </p:nvPicPr>
        <p:blipFill>
          <a:blip r:embed="rId5"/>
          <a:stretch>
            <a:fillRect/>
          </a:stretch>
        </p:blipFill>
        <p:spPr>
          <a:xfrm>
            <a:off x="8801773" y="1938541"/>
            <a:ext cx="134549" cy="195707"/>
          </a:xfrm>
          <a:prstGeom prst="rect">
            <a:avLst/>
          </a:prstGeom>
        </p:spPr>
      </p:pic>
      <p:sp>
        <p:nvSpPr>
          <p:cNvPr id="25" name="TextBox 24"/>
          <p:cNvSpPr txBox="1"/>
          <p:nvPr/>
        </p:nvSpPr>
        <p:spPr>
          <a:xfrm>
            <a:off x="8976882" y="1948765"/>
            <a:ext cx="2844874" cy="194310"/>
          </a:xfrm>
          <a:prstGeom prst="rect">
            <a:avLst/>
          </a:prstGeom>
          <a:noFill/>
        </p:spPr>
        <p:txBody>
          <a:bodyPr wrap="none" lIns="0" rIns="0" tIns="0" bIns="0">
            <a:spAutoFit/>
          </a:bodyPr>
          <a:lstStyle/>
          <a:p>
            <a:r>
              <a:rPr sz="1150" b="0">
                <a:solidFill>
                  <a:srgbClr val="2E2E2E"/>
                </a:solidFill>
                <a:latin typeface="Calibri"/>
              </a:rPr>
              <a:t>Mn for the overall waterproof coatings market</a:t>
            </a:r>
          </a:p>
        </p:txBody>
      </p:sp>
      <p:sp>
        <p:nvSpPr>
          <p:cNvPr id="26" name="TextBox 25"/>
          <p:cNvSpPr txBox="1"/>
          <p:nvPr/>
        </p:nvSpPr>
        <p:spPr>
          <a:xfrm>
            <a:off x="6305550" y="2124025"/>
            <a:ext cx="1220923" cy="194310"/>
          </a:xfrm>
          <a:prstGeom prst="rect">
            <a:avLst/>
          </a:prstGeom>
          <a:noFill/>
        </p:spPr>
        <p:txBody>
          <a:bodyPr wrap="none" lIns="0" rIns="0" tIns="0" bIns="0">
            <a:spAutoFit/>
          </a:bodyPr>
          <a:lstStyle/>
          <a:p>
            <a:r>
              <a:rPr sz="1150" b="0">
                <a:solidFill>
                  <a:srgbClr val="2E2E2E"/>
                </a:solidFill>
                <a:latin typeface="Calibri"/>
              </a:rPr>
              <a:t>from 2026 to 2036.</a:t>
            </a:r>
          </a:p>
        </p:txBody>
      </p:sp>
      <p:sp>
        <p:nvSpPr>
          <p:cNvPr id="27" name="TextBox 26"/>
          <p:cNvSpPr txBox="1"/>
          <p:nvPr/>
        </p:nvSpPr>
        <p:spPr>
          <a:xfrm>
            <a:off x="6305550" y="2351863"/>
            <a:ext cx="5324586" cy="194310"/>
          </a:xfrm>
          <a:prstGeom prst="rect">
            <a:avLst/>
          </a:prstGeom>
          <a:noFill/>
        </p:spPr>
        <p:txBody>
          <a:bodyPr wrap="none" lIns="0" rIns="0" tIns="0" bIns="0">
            <a:spAutoFit/>
          </a:bodyPr>
          <a:lstStyle/>
          <a:p>
            <a:r>
              <a:rPr sz="1150" b="0">
                <a:solidFill>
                  <a:srgbClr val="2E2E2E"/>
                </a:solidFill>
                <a:latin typeface="Calibri"/>
              </a:rPr>
              <a:t>The roofs and terraces segment is expected to create an incremental opportunity of US$</a:t>
            </a:r>
          </a:p>
        </p:txBody>
      </p:sp>
      <p:pic>
        <p:nvPicPr>
          <p:cNvPr id="28" name="Picture 27" descr="lock.png"/>
          <p:cNvPicPr>
            <a:picLocks noChangeAspect="1"/>
          </p:cNvPicPr>
          <p:nvPr/>
        </p:nvPicPr>
        <p:blipFill>
          <a:blip r:embed="rId5"/>
          <a:stretch>
            <a:fillRect/>
          </a:stretch>
        </p:blipFill>
        <p:spPr>
          <a:xfrm>
            <a:off x="6291470" y="2516899"/>
            <a:ext cx="134549" cy="195707"/>
          </a:xfrm>
          <a:prstGeom prst="rect">
            <a:avLst/>
          </a:prstGeom>
        </p:spPr>
      </p:pic>
      <p:sp>
        <p:nvSpPr>
          <p:cNvPr id="29" name="TextBox 28"/>
          <p:cNvSpPr txBox="1"/>
          <p:nvPr/>
        </p:nvSpPr>
        <p:spPr>
          <a:xfrm>
            <a:off x="6466579" y="2527123"/>
            <a:ext cx="5374506" cy="194310"/>
          </a:xfrm>
          <a:prstGeom prst="rect">
            <a:avLst/>
          </a:prstGeom>
          <a:noFill/>
        </p:spPr>
        <p:txBody>
          <a:bodyPr wrap="none" lIns="0" rIns="0" tIns="0" bIns="0">
            <a:spAutoFit/>
          </a:bodyPr>
          <a:lstStyle/>
          <a:p>
            <a:r>
              <a:rPr sz="1150" b="0">
                <a:solidFill>
                  <a:srgbClr val="2E2E2E"/>
                </a:solidFill>
                <a:latin typeface="Calibri"/>
              </a:rPr>
              <a:t>Mn for the overall waterproof coatings market from 2026 to 2036. The walls and building</a:t>
            </a:r>
          </a:p>
        </p:txBody>
      </p:sp>
      <p:sp>
        <p:nvSpPr>
          <p:cNvPr id="30" name="TextBox 29"/>
          <p:cNvSpPr txBox="1"/>
          <p:nvPr/>
        </p:nvSpPr>
        <p:spPr>
          <a:xfrm>
            <a:off x="6305550" y="2702383"/>
            <a:ext cx="4441725" cy="194310"/>
          </a:xfrm>
          <a:prstGeom prst="rect">
            <a:avLst/>
          </a:prstGeom>
          <a:noFill/>
        </p:spPr>
        <p:txBody>
          <a:bodyPr wrap="none" lIns="0" rIns="0" tIns="0" bIns="0">
            <a:spAutoFit/>
          </a:bodyPr>
          <a:lstStyle/>
          <a:p>
            <a:r>
              <a:rPr sz="1150" b="0">
                <a:solidFill>
                  <a:srgbClr val="2E2E2E"/>
                </a:solidFill>
                <a:latin typeface="Calibri"/>
              </a:rPr>
              <a:t>facades segment is expected to create an incremental opportunity of US$</a:t>
            </a:r>
          </a:p>
        </p:txBody>
      </p:sp>
      <p:pic>
        <p:nvPicPr>
          <p:cNvPr id="31" name="Picture 30" descr="lock.png"/>
          <p:cNvPicPr>
            <a:picLocks noChangeAspect="1"/>
          </p:cNvPicPr>
          <p:nvPr/>
        </p:nvPicPr>
        <p:blipFill>
          <a:blip r:embed="rId5"/>
          <a:stretch>
            <a:fillRect/>
          </a:stretch>
        </p:blipFill>
        <p:spPr>
          <a:xfrm>
            <a:off x="10696429" y="2692159"/>
            <a:ext cx="134549" cy="195707"/>
          </a:xfrm>
          <a:prstGeom prst="rect">
            <a:avLst/>
          </a:prstGeom>
        </p:spPr>
      </p:pic>
      <p:sp>
        <p:nvSpPr>
          <p:cNvPr id="32" name="TextBox 31"/>
          <p:cNvSpPr txBox="1"/>
          <p:nvPr/>
        </p:nvSpPr>
        <p:spPr>
          <a:xfrm>
            <a:off x="10871538" y="2702383"/>
            <a:ext cx="715168" cy="194310"/>
          </a:xfrm>
          <a:prstGeom prst="rect">
            <a:avLst/>
          </a:prstGeom>
          <a:noFill/>
        </p:spPr>
        <p:txBody>
          <a:bodyPr wrap="none" lIns="0" rIns="0" tIns="0" bIns="0">
            <a:spAutoFit/>
          </a:bodyPr>
          <a:lstStyle/>
          <a:p>
            <a:r>
              <a:rPr sz="1150" b="0">
                <a:solidFill>
                  <a:srgbClr val="2E2E2E"/>
                </a:solidFill>
                <a:latin typeface="Calibri"/>
              </a:rPr>
              <a:t>Mn for the</a:t>
            </a:r>
          </a:p>
        </p:txBody>
      </p:sp>
      <p:sp>
        <p:nvSpPr>
          <p:cNvPr id="33" name="TextBox 32"/>
          <p:cNvSpPr txBox="1"/>
          <p:nvPr/>
        </p:nvSpPr>
        <p:spPr>
          <a:xfrm>
            <a:off x="6305550" y="2877643"/>
            <a:ext cx="3350629" cy="194310"/>
          </a:xfrm>
          <a:prstGeom prst="rect">
            <a:avLst/>
          </a:prstGeom>
          <a:noFill/>
        </p:spPr>
        <p:txBody>
          <a:bodyPr wrap="none" lIns="0" rIns="0" tIns="0" bIns="0">
            <a:spAutoFit/>
          </a:bodyPr>
          <a:lstStyle/>
          <a:p>
            <a:r>
              <a:rPr sz="1150" b="0">
                <a:solidFill>
                  <a:srgbClr val="2E2E2E"/>
                </a:solidFill>
                <a:latin typeface="Calibri"/>
              </a:rPr>
              <a:t>overall waterproof coatings market from 2026 to 2036.</a:t>
            </a:r>
          </a:p>
        </p:txBody>
      </p:sp>
      <p:sp>
        <p:nvSpPr>
          <p:cNvPr id="34" name="lockshield_12"/>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Application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Application, 2021–2036, highlighting the sub-segments driving growth</a:t>
            </a:r>
          </a:p>
        </p:txBody>
      </p:sp>
      <p:sp>
        <p:nvSpPr>
          <p:cNvPr id="10" name="Rounded Rectangle 9"/>
          <p:cNvSpPr/>
          <p:nvPr/>
        </p:nvSpPr>
        <p:spPr>
          <a:xfrm>
            <a:off x="142875" y="981075"/>
            <a:ext cx="1190625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Application (US$ Mn)</a:t>
            </a:r>
          </a:p>
        </p:txBody>
      </p:sp>
      <p:graphicFrame>
        <p:nvGraphicFramePr>
          <p:cNvPr id="12" name="Table 11"/>
          <p:cNvGraphicFramePr>
            <a:graphicFrameLocks noGrp="1"/>
          </p:cNvGraphicFramePr>
          <p:nvPr/>
        </p:nvGraphicFramePr>
        <p:xfrm>
          <a:off x="152400" y="1238250"/>
          <a:ext cx="11887202" cy="2714626"/>
        </p:xfrm>
        <a:graphic>
          <a:graphicData uri="http://schemas.openxmlformats.org/drawingml/2006/table">
            <a:tbl>
              <a:tblPr>
                <a:tableStyleId>{5C22544A-7EE6-4342-B048-85BDC9FD1C3A}</a:tableStyleId>
              </a:tblPr>
              <a:tblGrid>
                <a:gridCol w="2890183"/>
                <a:gridCol w="540437"/>
                <a:gridCol w="540437"/>
                <a:gridCol w="540437"/>
                <a:gridCol w="540437"/>
                <a:gridCol w="540437"/>
                <a:gridCol w="521400"/>
                <a:gridCol w="515961"/>
                <a:gridCol w="515961"/>
                <a:gridCol w="515961"/>
                <a:gridCol w="515961"/>
                <a:gridCol w="515961"/>
                <a:gridCol w="515961"/>
                <a:gridCol w="515961"/>
                <a:gridCol w="515961"/>
                <a:gridCol w="515961"/>
                <a:gridCol w="515961"/>
                <a:gridCol w="613824"/>
              </a:tblGrid>
              <a:tr h="246126">
                <a:tc>
                  <a:txBody>
                    <a:bodyPr wrap="none"/>
                    <a:lstStyle/>
                    <a:p>
                      <a:pPr algn="l"/>
                      <a:r>
                        <a:rPr sz="1100" b="1">
                          <a:solidFill>
                            <a:srgbClr val="0B2E4A"/>
                          </a:solidFill>
                          <a:latin typeface="Calibri"/>
                        </a:rPr>
                        <a:t>Application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850">
                <a:tc>
                  <a:txBody>
                    <a:bodyPr wrap="none"/>
                    <a:lstStyle/>
                    <a:p>
                      <a:pPr algn="l"/>
                      <a:r>
                        <a:rPr sz="1100" b="1">
                          <a:solidFill>
                            <a:srgbClr val="2E2E2E"/>
                          </a:solidFill>
                          <a:latin typeface="Calibri"/>
                        </a:rPr>
                        <a:t>Roofs and Terraces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Walls and Building Facades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Basements and Foundations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Bathrooms and Wet Areas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Balconies and Decks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Floors and Parking Structures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Bridges, Tunnels and Other Infrastructure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Water Tanks and Swimming Pools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Other Applications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9624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295775"/>
            <a:ext cx="11906250" cy="2333625"/>
          </a:xfrm>
          <a:prstGeom prst="roundRect">
            <a:avLst>
              <a:gd name="adj" fmla="val 32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38150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Application</a:t>
            </a:r>
          </a:p>
        </p:txBody>
      </p:sp>
      <p:sp>
        <p:nvSpPr>
          <p:cNvPr id="16" name="Rectangle 15"/>
          <p:cNvSpPr/>
          <p:nvPr/>
        </p:nvSpPr>
        <p:spPr>
          <a:xfrm>
            <a:off x="276225" y="46196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705350"/>
            <a:ext cx="11639550" cy="18478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354402" y="2451926"/>
            <a:ext cx="366712" cy="533400"/>
          </a:xfrm>
          <a:prstGeom prst="rect">
            <a:avLst/>
          </a:prstGeom>
        </p:spPr>
      </p:pic>
      <p:sp>
        <p:nvSpPr>
          <p:cNvPr id="20" name="TextBox 19"/>
          <p:cNvSpPr txBox="1"/>
          <p:nvPr/>
        </p:nvSpPr>
        <p:spPr>
          <a:xfrm>
            <a:off x="276225" y="4714875"/>
            <a:ext cx="3111301" cy="194310"/>
          </a:xfrm>
          <a:prstGeom prst="rect">
            <a:avLst/>
          </a:prstGeom>
          <a:noFill/>
        </p:spPr>
        <p:txBody>
          <a:bodyPr wrap="none" lIns="0" rIns="0" tIns="0" bIns="0">
            <a:spAutoFit/>
          </a:bodyPr>
          <a:lstStyle/>
          <a:p>
            <a:r>
              <a:rPr sz="1150" b="0">
                <a:solidFill>
                  <a:srgbClr val="2E2E2E"/>
                </a:solidFill>
                <a:latin typeface="Calibri"/>
              </a:rPr>
              <a:t>Roofs and terraces segment is projected to register</a:t>
            </a:r>
          </a:p>
        </p:txBody>
      </p:sp>
      <p:pic>
        <p:nvPicPr>
          <p:cNvPr id="21" name="Picture 20" descr="lock.png"/>
          <p:cNvPicPr>
            <a:picLocks noChangeAspect="1"/>
          </p:cNvPicPr>
          <p:nvPr/>
        </p:nvPicPr>
        <p:blipFill>
          <a:blip r:embed="rId4"/>
          <a:stretch>
            <a:fillRect/>
          </a:stretch>
        </p:blipFill>
        <p:spPr>
          <a:xfrm>
            <a:off x="3336680" y="4704651"/>
            <a:ext cx="134549" cy="195707"/>
          </a:xfrm>
          <a:prstGeom prst="rect">
            <a:avLst/>
          </a:prstGeom>
        </p:spPr>
      </p:pic>
      <p:sp>
        <p:nvSpPr>
          <p:cNvPr id="22" name="TextBox 21"/>
          <p:cNvSpPr txBox="1"/>
          <p:nvPr/>
        </p:nvSpPr>
        <p:spPr>
          <a:xfrm>
            <a:off x="3511789" y="4714875"/>
            <a:ext cx="7981726" cy="194310"/>
          </a:xfrm>
          <a:prstGeom prst="rect">
            <a:avLst/>
          </a:prstGeom>
          <a:noFill/>
        </p:spPr>
        <p:txBody>
          <a:bodyPr wrap="none" lIns="0" rIns="0" tIns="0" bIns="0">
            <a:spAutoFit/>
          </a:bodyPr>
          <a:lstStyle/>
          <a:p>
            <a:r>
              <a:rPr sz="1150" b="0">
                <a:solidFill>
                  <a:srgbClr val="2E2E2E"/>
                </a:solidFill>
                <a:latin typeface="Calibri"/>
              </a:rPr>
              <a:t>X higher value than bathrooms and wet areas segment in 2036. Among waterproof coatings by application, bathrooms and wet areas</a:t>
            </a:r>
          </a:p>
        </p:txBody>
      </p:sp>
      <p:sp>
        <p:nvSpPr>
          <p:cNvPr id="23" name="TextBox 22"/>
          <p:cNvSpPr txBox="1"/>
          <p:nvPr/>
        </p:nvSpPr>
        <p:spPr>
          <a:xfrm>
            <a:off x="276225" y="48901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24" name="Picture 23" descr="lock.png"/>
          <p:cNvPicPr>
            <a:picLocks noChangeAspect="1"/>
          </p:cNvPicPr>
          <p:nvPr/>
        </p:nvPicPr>
        <p:blipFill>
          <a:blip r:embed="rId4"/>
          <a:stretch>
            <a:fillRect/>
          </a:stretch>
        </p:blipFill>
        <p:spPr>
          <a:xfrm>
            <a:off x="3382018" y="4879911"/>
            <a:ext cx="134549" cy="195707"/>
          </a:xfrm>
          <a:prstGeom prst="rect">
            <a:avLst/>
          </a:prstGeom>
        </p:spPr>
      </p:pic>
      <p:sp>
        <p:nvSpPr>
          <p:cNvPr id="25" name="TextBox 24"/>
          <p:cNvSpPr txBox="1"/>
          <p:nvPr/>
        </p:nvSpPr>
        <p:spPr>
          <a:xfrm>
            <a:off x="3557127" y="48901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5117972"/>
            <a:ext cx="6809047" cy="194310"/>
          </a:xfrm>
          <a:prstGeom prst="rect">
            <a:avLst/>
          </a:prstGeom>
          <a:noFill/>
        </p:spPr>
        <p:txBody>
          <a:bodyPr wrap="none" lIns="0" rIns="0" tIns="0" bIns="0">
            <a:spAutoFit/>
          </a:bodyPr>
          <a:lstStyle/>
          <a:p>
            <a:r>
              <a:rPr sz="1150" b="0">
                <a:solidFill>
                  <a:srgbClr val="2E2E2E"/>
                </a:solidFill>
                <a:latin typeface="Calibri"/>
              </a:rPr>
              <a:t>In terms of value share by application, the roofs and terraces segment is expected to dominate the market, losing</a:t>
            </a:r>
          </a:p>
        </p:txBody>
      </p:sp>
      <p:pic>
        <p:nvPicPr>
          <p:cNvPr id="27" name="Picture 26" descr="lock.png"/>
          <p:cNvPicPr>
            <a:picLocks noChangeAspect="1"/>
          </p:cNvPicPr>
          <p:nvPr/>
        </p:nvPicPr>
        <p:blipFill>
          <a:blip r:embed="rId4"/>
          <a:stretch>
            <a:fillRect/>
          </a:stretch>
        </p:blipFill>
        <p:spPr>
          <a:xfrm>
            <a:off x="7034426" y="5107749"/>
            <a:ext cx="134549" cy="195707"/>
          </a:xfrm>
          <a:prstGeom prst="rect">
            <a:avLst/>
          </a:prstGeom>
        </p:spPr>
      </p:pic>
      <p:sp>
        <p:nvSpPr>
          <p:cNvPr id="28" name="TextBox 27"/>
          <p:cNvSpPr txBox="1"/>
          <p:nvPr/>
        </p:nvSpPr>
        <p:spPr>
          <a:xfrm>
            <a:off x="7209536" y="51179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604679" y="5107749"/>
            <a:ext cx="134549" cy="195707"/>
          </a:xfrm>
          <a:prstGeom prst="rect">
            <a:avLst/>
          </a:prstGeom>
        </p:spPr>
      </p:pic>
      <p:sp>
        <p:nvSpPr>
          <p:cNvPr id="30" name="TextBox 29"/>
          <p:cNvSpPr txBox="1"/>
          <p:nvPr/>
        </p:nvSpPr>
        <p:spPr>
          <a:xfrm>
            <a:off x="8779788" y="5117972"/>
            <a:ext cx="2798378" cy="194310"/>
          </a:xfrm>
          <a:prstGeom prst="rect">
            <a:avLst/>
          </a:prstGeom>
          <a:noFill/>
        </p:spPr>
        <p:txBody>
          <a:bodyPr wrap="none" lIns="0" rIns="0" tIns="0" bIns="0">
            <a:spAutoFit/>
          </a:bodyPr>
          <a:lstStyle/>
          <a:p>
            <a:r>
              <a:rPr sz="1150" b="0">
                <a:solidFill>
                  <a:srgbClr val="2E2E2E"/>
                </a:solidFill>
                <a:latin typeface="Calibri"/>
              </a:rPr>
              <a:t>share by 2036. The bridges, tunnels and other</a:t>
            </a:r>
          </a:p>
        </p:txBody>
      </p:sp>
      <p:sp>
        <p:nvSpPr>
          <p:cNvPr id="31" name="TextBox 30"/>
          <p:cNvSpPr txBox="1"/>
          <p:nvPr/>
        </p:nvSpPr>
        <p:spPr>
          <a:xfrm>
            <a:off x="276225" y="5293232"/>
            <a:ext cx="2579873" cy="194310"/>
          </a:xfrm>
          <a:prstGeom prst="rect">
            <a:avLst/>
          </a:prstGeom>
          <a:noFill/>
        </p:spPr>
        <p:txBody>
          <a:bodyPr wrap="none" lIns="0" rIns="0" tIns="0" bIns="0">
            <a:spAutoFit/>
          </a:bodyPr>
          <a:lstStyle/>
          <a:p>
            <a:r>
              <a:rPr sz="1150" b="0">
                <a:solidFill>
                  <a:srgbClr val="2E2E2E"/>
                </a:solidFill>
                <a:latin typeface="Calibri"/>
              </a:rPr>
              <a:t>infrastructure segment is expected to lose</a:t>
            </a:r>
          </a:p>
        </p:txBody>
      </p:sp>
      <p:pic>
        <p:nvPicPr>
          <p:cNvPr id="32" name="Picture 31" descr="lock.png"/>
          <p:cNvPicPr>
            <a:picLocks noChangeAspect="1"/>
          </p:cNvPicPr>
          <p:nvPr/>
        </p:nvPicPr>
        <p:blipFill>
          <a:blip r:embed="rId4"/>
          <a:stretch>
            <a:fillRect/>
          </a:stretch>
        </p:blipFill>
        <p:spPr>
          <a:xfrm>
            <a:off x="2805252" y="5283009"/>
            <a:ext cx="134549" cy="195707"/>
          </a:xfrm>
          <a:prstGeom prst="rect">
            <a:avLst/>
          </a:prstGeom>
        </p:spPr>
      </p:pic>
      <p:sp>
        <p:nvSpPr>
          <p:cNvPr id="33" name="TextBox 32"/>
          <p:cNvSpPr txBox="1"/>
          <p:nvPr/>
        </p:nvSpPr>
        <p:spPr>
          <a:xfrm>
            <a:off x="2980361" y="52932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5567866" y="5283009"/>
            <a:ext cx="134549" cy="195707"/>
          </a:xfrm>
          <a:prstGeom prst="rect">
            <a:avLst/>
          </a:prstGeom>
        </p:spPr>
      </p:pic>
      <p:sp>
        <p:nvSpPr>
          <p:cNvPr id="35" name="TextBox 34"/>
          <p:cNvSpPr txBox="1"/>
          <p:nvPr/>
        </p:nvSpPr>
        <p:spPr>
          <a:xfrm>
            <a:off x="5742975" y="52932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Application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Application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Application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761304"/>
            <a:ext cx="85725" cy="85725"/>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75654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68034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Balconies and Decks</a:t>
            </a:r>
          </a:p>
        </p:txBody>
      </p:sp>
      <p:sp>
        <p:nvSpPr>
          <p:cNvPr id="18" name="BPS Value 1"/>
          <p:cNvSpPr txBox="1"/>
          <p:nvPr/>
        </p:nvSpPr>
        <p:spPr>
          <a:xfrm>
            <a:off x="6896100" y="174225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1963532"/>
            <a:ext cx="85725" cy="85725"/>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195876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188256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Applications</a:t>
            </a:r>
          </a:p>
        </p:txBody>
      </p:sp>
      <p:sp>
        <p:nvSpPr>
          <p:cNvPr id="22" name="BPS Value 2"/>
          <p:cNvSpPr txBox="1"/>
          <p:nvPr/>
        </p:nvSpPr>
        <p:spPr>
          <a:xfrm>
            <a:off x="6896100" y="194448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2239803"/>
            <a:ext cx="85725" cy="857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223504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15884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Floors and Parking Structures</a:t>
            </a:r>
          </a:p>
        </p:txBody>
      </p:sp>
      <p:sp>
        <p:nvSpPr>
          <p:cNvPr id="26" name="BPS Value 3"/>
          <p:cNvSpPr txBox="1"/>
          <p:nvPr/>
        </p:nvSpPr>
        <p:spPr>
          <a:xfrm>
            <a:off x="6896100" y="222075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928997" y="2572145"/>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5090922" y="256738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249118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Bridges, Tunnels and Other Infrastructure</a:t>
            </a:r>
          </a:p>
        </p:txBody>
      </p:sp>
      <p:sp>
        <p:nvSpPr>
          <p:cNvPr id="30" name="BPS Value 4"/>
          <p:cNvSpPr txBox="1"/>
          <p:nvPr/>
        </p:nvSpPr>
        <p:spPr>
          <a:xfrm>
            <a:off x="6896100" y="255309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FMI Legend Chip"/>
          <p:cNvSpPr/>
          <p:nvPr/>
        </p:nvSpPr>
        <p:spPr>
          <a:xfrm>
            <a:off x="4928997" y="2919437"/>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rot="10800000">
            <a:off x="5090922" y="291467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283847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Basements and Foundations</a:t>
            </a:r>
          </a:p>
        </p:txBody>
      </p:sp>
      <p:sp>
        <p:nvSpPr>
          <p:cNvPr id="34" name="BPS Value 5"/>
          <p:cNvSpPr txBox="1"/>
          <p:nvPr/>
        </p:nvSpPr>
        <p:spPr>
          <a:xfrm>
            <a:off x="6896100" y="290038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5" name="FMI Legend Chip"/>
          <p:cNvSpPr/>
          <p:nvPr/>
        </p:nvSpPr>
        <p:spPr>
          <a:xfrm>
            <a:off x="4928997" y="3379972"/>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5090922" y="337521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5233797" y="329901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Water Tanks and Swimming Pools</a:t>
            </a:r>
          </a:p>
        </p:txBody>
      </p:sp>
      <p:sp>
        <p:nvSpPr>
          <p:cNvPr id="38" name="BPS Value 6"/>
          <p:cNvSpPr txBox="1"/>
          <p:nvPr/>
        </p:nvSpPr>
        <p:spPr>
          <a:xfrm>
            <a:off x="6896100" y="336092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FMI Legend Chip"/>
          <p:cNvSpPr/>
          <p:nvPr/>
        </p:nvSpPr>
        <p:spPr>
          <a:xfrm>
            <a:off x="4928997" y="4024527"/>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Isosceles Triangle 39"/>
          <p:cNvSpPr/>
          <p:nvPr/>
        </p:nvSpPr>
        <p:spPr>
          <a:xfrm>
            <a:off x="5090922" y="401976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PS Name 7"/>
          <p:cNvSpPr txBox="1"/>
          <p:nvPr/>
        </p:nvSpPr>
        <p:spPr>
          <a:xfrm>
            <a:off x="5233797" y="394356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Walls and Building Facades</a:t>
            </a:r>
          </a:p>
        </p:txBody>
      </p:sp>
      <p:sp>
        <p:nvSpPr>
          <p:cNvPr id="42" name="BPS Value 7"/>
          <p:cNvSpPr txBox="1"/>
          <p:nvPr/>
        </p:nvSpPr>
        <p:spPr>
          <a:xfrm>
            <a:off x="6896100" y="400547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3" name="FMI Legend Chip"/>
          <p:cNvSpPr/>
          <p:nvPr/>
        </p:nvSpPr>
        <p:spPr>
          <a:xfrm>
            <a:off x="4928997" y="4769318"/>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Isosceles Triangle 43"/>
          <p:cNvSpPr/>
          <p:nvPr/>
        </p:nvSpPr>
        <p:spPr>
          <a:xfrm>
            <a:off x="5090922" y="476455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PS Name 8"/>
          <p:cNvSpPr txBox="1"/>
          <p:nvPr/>
        </p:nvSpPr>
        <p:spPr>
          <a:xfrm>
            <a:off x="5233797" y="468835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Bathrooms and Wet Areas</a:t>
            </a:r>
          </a:p>
        </p:txBody>
      </p:sp>
      <p:sp>
        <p:nvSpPr>
          <p:cNvPr id="46" name="BPS Value 8"/>
          <p:cNvSpPr txBox="1"/>
          <p:nvPr/>
        </p:nvSpPr>
        <p:spPr>
          <a:xfrm>
            <a:off x="6896100" y="475026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7" name="FMI Legend Chip"/>
          <p:cNvSpPr/>
          <p:nvPr/>
        </p:nvSpPr>
        <p:spPr>
          <a:xfrm>
            <a:off x="4928997" y="5697342"/>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Isosceles Triangle 47"/>
          <p:cNvSpPr/>
          <p:nvPr/>
        </p:nvSpPr>
        <p:spPr>
          <a:xfrm rot="10800000">
            <a:off x="5090922" y="569258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PS Name 9"/>
          <p:cNvSpPr txBox="1"/>
          <p:nvPr/>
        </p:nvSpPr>
        <p:spPr>
          <a:xfrm>
            <a:off x="5233797" y="561638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Roofs and Terraces</a:t>
            </a:r>
          </a:p>
        </p:txBody>
      </p:sp>
      <p:sp>
        <p:nvSpPr>
          <p:cNvPr id="50" name="BPS Value 9"/>
          <p:cNvSpPr txBox="1"/>
          <p:nvPr/>
        </p:nvSpPr>
        <p:spPr>
          <a:xfrm>
            <a:off x="6896100" y="567829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51" name="Rounded Rectangle 50"/>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Application</a:t>
            </a:r>
          </a:p>
        </p:txBody>
      </p:sp>
      <p:sp>
        <p:nvSpPr>
          <p:cNvPr id="53" name="Rectangle 52"/>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55" name="TextBox 5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6" name="Picture 55" descr="lock.png"/>
          <p:cNvPicPr>
            <a:picLocks noChangeAspect="1"/>
          </p:cNvPicPr>
          <p:nvPr/>
        </p:nvPicPr>
        <p:blipFill>
          <a:blip r:embed="rId5"/>
          <a:stretch>
            <a:fillRect/>
          </a:stretch>
        </p:blipFill>
        <p:spPr>
          <a:xfrm>
            <a:off x="2557843" y="3833622"/>
            <a:ext cx="275034" cy="400050"/>
          </a:xfrm>
          <a:prstGeom prst="rect">
            <a:avLst/>
          </a:prstGeom>
        </p:spPr>
      </p:pic>
      <p:sp>
        <p:nvSpPr>
          <p:cNvPr id="57" name="TextBox 56"/>
          <p:cNvSpPr txBox="1"/>
          <p:nvPr/>
        </p:nvSpPr>
        <p:spPr>
          <a:xfrm>
            <a:off x="7829550" y="1400175"/>
            <a:ext cx="3838128" cy="194310"/>
          </a:xfrm>
          <a:prstGeom prst="rect">
            <a:avLst/>
          </a:prstGeom>
          <a:noFill/>
        </p:spPr>
        <p:txBody>
          <a:bodyPr wrap="none" lIns="0" rIns="0" tIns="0" bIns="0">
            <a:spAutoFit/>
          </a:bodyPr>
          <a:lstStyle/>
          <a:p>
            <a:r>
              <a:rPr sz="1150" b="0">
                <a:solidFill>
                  <a:srgbClr val="2E2E2E"/>
                </a:solidFill>
                <a:latin typeface="Calibri"/>
              </a:rPr>
              <a:t>Among waterproof coatings by application, bathrooms and wet</a:t>
            </a:r>
          </a:p>
        </p:txBody>
      </p:sp>
      <p:sp>
        <p:nvSpPr>
          <p:cNvPr id="58" name="TextBox 57"/>
          <p:cNvSpPr txBox="1"/>
          <p:nvPr/>
        </p:nvSpPr>
        <p:spPr>
          <a:xfrm>
            <a:off x="7829550" y="1575435"/>
            <a:ext cx="3510353" cy="194310"/>
          </a:xfrm>
          <a:prstGeom prst="rect">
            <a:avLst/>
          </a:prstGeom>
          <a:noFill/>
        </p:spPr>
        <p:txBody>
          <a:bodyPr wrap="none" lIns="0" rIns="0" tIns="0" bIns="0">
            <a:spAutoFit/>
          </a:bodyPr>
          <a:lstStyle/>
          <a:p>
            <a:r>
              <a:rPr sz="1150" b="0">
                <a:solidFill>
                  <a:srgbClr val="2E2E2E"/>
                </a:solidFill>
                <a:latin typeface="Calibri"/>
              </a:rPr>
              <a:t>areas segment is expected to witness the highest CAGR of</a:t>
            </a:r>
          </a:p>
        </p:txBody>
      </p:sp>
      <p:pic>
        <p:nvPicPr>
          <p:cNvPr id="59" name="Picture 58" descr="lock.png"/>
          <p:cNvPicPr>
            <a:picLocks noChangeAspect="1"/>
          </p:cNvPicPr>
          <p:nvPr/>
        </p:nvPicPr>
        <p:blipFill>
          <a:blip r:embed="rId5"/>
          <a:stretch>
            <a:fillRect/>
          </a:stretch>
        </p:blipFill>
        <p:spPr>
          <a:xfrm>
            <a:off x="11289057" y="1565211"/>
            <a:ext cx="134549" cy="195707"/>
          </a:xfrm>
          <a:prstGeom prst="rect">
            <a:avLst/>
          </a:prstGeom>
        </p:spPr>
      </p:pic>
      <p:sp>
        <p:nvSpPr>
          <p:cNvPr id="60" name="TextBox 59"/>
          <p:cNvSpPr txBox="1"/>
          <p:nvPr/>
        </p:nvSpPr>
        <p:spPr>
          <a:xfrm>
            <a:off x="11464167" y="1575435"/>
            <a:ext cx="342912" cy="194310"/>
          </a:xfrm>
          <a:prstGeom prst="rect">
            <a:avLst/>
          </a:prstGeom>
          <a:noFill/>
        </p:spPr>
        <p:txBody>
          <a:bodyPr wrap="none" lIns="0" rIns="0" tIns="0" bIns="0">
            <a:spAutoFit/>
          </a:bodyPr>
          <a:lstStyle/>
          <a:p>
            <a:r>
              <a:rPr sz="1150" b="0">
                <a:solidFill>
                  <a:srgbClr val="2E2E2E"/>
                </a:solidFill>
                <a:latin typeface="Calibri"/>
              </a:rPr>
              <a:t>over</a:t>
            </a:r>
          </a:p>
        </p:txBody>
      </p:sp>
      <p:sp>
        <p:nvSpPr>
          <p:cNvPr id="61" name="TextBox 60"/>
          <p:cNvSpPr txBox="1"/>
          <p:nvPr/>
        </p:nvSpPr>
        <p:spPr>
          <a:xfrm>
            <a:off x="7829550" y="1750695"/>
            <a:ext cx="4057650" cy="194310"/>
          </a:xfrm>
          <a:prstGeom prst="rect">
            <a:avLst/>
          </a:prstGeom>
          <a:noFill/>
        </p:spPr>
        <p:txBody>
          <a:bodyPr wrap="none" lIns="0" rIns="0" tIns="0" bIns="0">
            <a:spAutoFit/>
          </a:bodyPr>
          <a:lstStyle/>
          <a:p>
            <a:r>
              <a:rPr sz="1150" b="0">
                <a:solidFill>
                  <a:srgbClr val="2E2E2E"/>
                </a:solidFill>
                <a:latin typeface="Calibri"/>
              </a:rPr>
              <a:t>the forecast period. In terms of value share by application, the roofs</a:t>
            </a:r>
          </a:p>
        </p:txBody>
      </p:sp>
      <p:sp>
        <p:nvSpPr>
          <p:cNvPr id="62" name="TextBox 61"/>
          <p:cNvSpPr txBox="1"/>
          <p:nvPr/>
        </p:nvSpPr>
        <p:spPr>
          <a:xfrm>
            <a:off x="7829550" y="1925955"/>
            <a:ext cx="3939678" cy="194310"/>
          </a:xfrm>
          <a:prstGeom prst="rect">
            <a:avLst/>
          </a:prstGeom>
          <a:noFill/>
        </p:spPr>
        <p:txBody>
          <a:bodyPr wrap="none" lIns="0" rIns="0" tIns="0" bIns="0">
            <a:spAutoFit/>
          </a:bodyPr>
          <a:lstStyle/>
          <a:p>
            <a:r>
              <a:rPr sz="1150" b="0">
                <a:solidFill>
                  <a:srgbClr val="2E2E2E"/>
                </a:solidFill>
                <a:latin typeface="Calibri"/>
              </a:rPr>
              <a:t>and terraces segment is expected to dominate the market, losing</a:t>
            </a:r>
          </a:p>
        </p:txBody>
      </p:sp>
      <p:pic>
        <p:nvPicPr>
          <p:cNvPr id="63" name="Picture 62" descr="lock.png"/>
          <p:cNvPicPr>
            <a:picLocks noChangeAspect="1"/>
          </p:cNvPicPr>
          <p:nvPr/>
        </p:nvPicPr>
        <p:blipFill>
          <a:blip r:embed="rId5"/>
          <a:stretch>
            <a:fillRect/>
          </a:stretch>
        </p:blipFill>
        <p:spPr>
          <a:xfrm>
            <a:off x="7815470" y="2090991"/>
            <a:ext cx="134549" cy="195707"/>
          </a:xfrm>
          <a:prstGeom prst="rect">
            <a:avLst/>
          </a:prstGeom>
        </p:spPr>
      </p:pic>
      <p:sp>
        <p:nvSpPr>
          <p:cNvPr id="64" name="TextBox 63"/>
          <p:cNvSpPr txBox="1"/>
          <p:nvPr/>
        </p:nvSpPr>
        <p:spPr>
          <a:xfrm>
            <a:off x="7990579"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65" name="Picture 64" descr="lock.png"/>
          <p:cNvPicPr>
            <a:picLocks noChangeAspect="1"/>
          </p:cNvPicPr>
          <p:nvPr/>
        </p:nvPicPr>
        <p:blipFill>
          <a:blip r:embed="rId5"/>
          <a:stretch>
            <a:fillRect/>
          </a:stretch>
        </p:blipFill>
        <p:spPr>
          <a:xfrm>
            <a:off x="9385722" y="2090991"/>
            <a:ext cx="134549" cy="195707"/>
          </a:xfrm>
          <a:prstGeom prst="rect">
            <a:avLst/>
          </a:prstGeom>
        </p:spPr>
      </p:pic>
      <p:sp>
        <p:nvSpPr>
          <p:cNvPr id="66" name="TextBox 65"/>
          <p:cNvSpPr txBox="1"/>
          <p:nvPr/>
        </p:nvSpPr>
        <p:spPr>
          <a:xfrm>
            <a:off x="9560832"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7" name="TextBox 66"/>
          <p:cNvSpPr txBox="1"/>
          <p:nvPr/>
        </p:nvSpPr>
        <p:spPr>
          <a:xfrm>
            <a:off x="7829550" y="2329053"/>
            <a:ext cx="3999296" cy="194310"/>
          </a:xfrm>
          <a:prstGeom prst="rect">
            <a:avLst/>
          </a:prstGeom>
          <a:noFill/>
        </p:spPr>
        <p:txBody>
          <a:bodyPr wrap="none" lIns="0" rIns="0" tIns="0" bIns="0">
            <a:spAutoFit/>
          </a:bodyPr>
          <a:lstStyle/>
          <a:p>
            <a:r>
              <a:rPr sz="1150" b="0">
                <a:solidFill>
                  <a:srgbClr val="2E2E2E"/>
                </a:solidFill>
                <a:latin typeface="Calibri"/>
              </a:rPr>
              <a:t>The bridges, tunnels and other infrastructure segment is expected</a:t>
            </a:r>
          </a:p>
        </p:txBody>
      </p:sp>
      <p:sp>
        <p:nvSpPr>
          <p:cNvPr id="68" name="TextBox 67"/>
          <p:cNvSpPr txBox="1"/>
          <p:nvPr/>
        </p:nvSpPr>
        <p:spPr>
          <a:xfrm>
            <a:off x="7829550" y="2504313"/>
            <a:ext cx="475840" cy="194310"/>
          </a:xfrm>
          <a:prstGeom prst="rect">
            <a:avLst/>
          </a:prstGeom>
          <a:noFill/>
        </p:spPr>
        <p:txBody>
          <a:bodyPr wrap="none" lIns="0" rIns="0" tIns="0" bIns="0">
            <a:spAutoFit/>
          </a:bodyPr>
          <a:lstStyle/>
          <a:p>
            <a:r>
              <a:rPr sz="1150" b="0">
                <a:solidFill>
                  <a:srgbClr val="2E2E2E"/>
                </a:solidFill>
                <a:latin typeface="Calibri"/>
              </a:rPr>
              <a:t>to lose</a:t>
            </a:r>
          </a:p>
        </p:txBody>
      </p:sp>
      <p:pic>
        <p:nvPicPr>
          <p:cNvPr id="69" name="Picture 68" descr="lock.png"/>
          <p:cNvPicPr>
            <a:picLocks noChangeAspect="1"/>
          </p:cNvPicPr>
          <p:nvPr/>
        </p:nvPicPr>
        <p:blipFill>
          <a:blip r:embed="rId5"/>
          <a:stretch>
            <a:fillRect/>
          </a:stretch>
        </p:blipFill>
        <p:spPr>
          <a:xfrm>
            <a:off x="8254544" y="2494089"/>
            <a:ext cx="134549" cy="195707"/>
          </a:xfrm>
          <a:prstGeom prst="rect">
            <a:avLst/>
          </a:prstGeom>
        </p:spPr>
      </p:pic>
      <p:sp>
        <p:nvSpPr>
          <p:cNvPr id="70" name="TextBox 69"/>
          <p:cNvSpPr txBox="1"/>
          <p:nvPr/>
        </p:nvSpPr>
        <p:spPr>
          <a:xfrm>
            <a:off x="8429653" y="250431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71" name="Picture 70" descr="lock.png"/>
          <p:cNvPicPr>
            <a:picLocks noChangeAspect="1"/>
          </p:cNvPicPr>
          <p:nvPr/>
        </p:nvPicPr>
        <p:blipFill>
          <a:blip r:embed="rId5"/>
          <a:stretch>
            <a:fillRect/>
          </a:stretch>
        </p:blipFill>
        <p:spPr>
          <a:xfrm>
            <a:off x="11017158" y="2494089"/>
            <a:ext cx="134549" cy="195707"/>
          </a:xfrm>
          <a:prstGeom prst="rect">
            <a:avLst/>
          </a:prstGeom>
        </p:spPr>
      </p:pic>
      <p:sp>
        <p:nvSpPr>
          <p:cNvPr id="72" name="TextBox 71"/>
          <p:cNvSpPr txBox="1"/>
          <p:nvPr/>
        </p:nvSpPr>
        <p:spPr>
          <a:xfrm>
            <a:off x="11192267" y="2504313"/>
            <a:ext cx="403671" cy="194310"/>
          </a:xfrm>
          <a:prstGeom prst="rect">
            <a:avLst/>
          </a:prstGeom>
          <a:noFill/>
        </p:spPr>
        <p:txBody>
          <a:bodyPr wrap="none" lIns="0" rIns="0" tIns="0" bIns="0">
            <a:spAutoFit/>
          </a:bodyPr>
          <a:lstStyle/>
          <a:p>
            <a:r>
              <a:rPr sz="1150" b="0">
                <a:solidFill>
                  <a:srgbClr val="2E2E2E"/>
                </a:solidFill>
                <a:latin typeface="Calibri"/>
              </a:rPr>
              <a:t>share</a:t>
            </a:r>
          </a:p>
        </p:txBody>
      </p:sp>
      <p:sp>
        <p:nvSpPr>
          <p:cNvPr id="73" name="TextBox 72"/>
          <p:cNvSpPr txBox="1"/>
          <p:nvPr/>
        </p:nvSpPr>
        <p:spPr>
          <a:xfrm>
            <a:off x="7829550" y="2679573"/>
            <a:ext cx="585663" cy="194310"/>
          </a:xfrm>
          <a:prstGeom prst="rect">
            <a:avLst/>
          </a:prstGeom>
          <a:noFill/>
        </p:spPr>
        <p:txBody>
          <a:bodyPr wrap="none" lIns="0" rIns="0" tIns="0" bIns="0">
            <a:spAutoFit/>
          </a:bodyPr>
          <a:lstStyle/>
          <a:p>
            <a:r>
              <a:rPr sz="1150" b="0">
                <a:solidFill>
                  <a:srgbClr val="2E2E2E"/>
                </a:solidFill>
                <a:latin typeface="Calibri"/>
              </a:rPr>
              <a:t>by 2036.</a:t>
            </a:r>
          </a:p>
        </p:txBody>
      </p:sp>
      <p:sp>
        <p:nvSpPr>
          <p:cNvPr id="74"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Substrate Material</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Substrate Material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Substrate Material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6 sub-segments of Substrate Material,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Substrate Material segment categorizes the market by substrate material.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Substrates</a:t>
            </a:r>
          </a:p>
        </p:txBody>
      </p:sp>
      <p:sp>
        <p:nvSpPr>
          <p:cNvPr id="22" name="Rectangle 21"/>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Composite Materials</a:t>
            </a:r>
          </a:p>
        </p:txBody>
      </p:sp>
      <p:sp>
        <p:nvSpPr>
          <p:cNvPr id="29" name="Rectangle 28"/>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Masonry and Brickwork</a:t>
            </a:r>
          </a:p>
        </p:txBody>
      </p:sp>
      <p:sp>
        <p:nvSpPr>
          <p:cNvPr id="36" name="Rectangle 35"/>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Wood</a:t>
            </a:r>
          </a:p>
        </p:txBody>
      </p:sp>
      <p:sp>
        <p:nvSpPr>
          <p:cNvPr id="43" name="Rectangle 42"/>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Metal</a:t>
            </a:r>
          </a:p>
        </p:txBody>
      </p:sp>
      <p:sp>
        <p:nvSpPr>
          <p:cNvPr id="50" name="Rectangle 49"/>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Concrete and Cementitious Surfaces</a:t>
            </a:r>
          </a:p>
        </p:txBody>
      </p:sp>
      <p:sp>
        <p:nvSpPr>
          <p:cNvPr id="57" name="Rectangle 56"/>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8" name="Rectangle 57"/>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9" name="Rectangle 58"/>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0" name="Oval 59"/>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1" name="Rounded Rectangle 6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3" name="Rectangle 6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5" name="Rounded Rectangle 6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7" name="Rectangle 6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9" name="Rounded Rectangle 6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71" name="Rectangle 7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Substrate Material split shows how demand is distributed across substrate material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73" name="Rectangle 7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5" name="TextBox 7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6" name="TextBox 7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7" name="Picture 76" descr="1_307_605E5C.png"/>
          <p:cNvPicPr>
            <a:picLocks noChangeAspect="1"/>
          </p:cNvPicPr>
          <p:nvPr/>
        </p:nvPicPr>
        <p:blipFill>
          <a:blip r:embed="rId4"/>
          <a:stretch>
            <a:fillRect/>
          </a:stretch>
        </p:blipFill>
        <p:spPr>
          <a:xfrm>
            <a:off x="2054848" y="2286582"/>
            <a:ext cx="1195728" cy="361950"/>
          </a:xfrm>
          <a:prstGeom prst="rect">
            <a:avLst/>
          </a:prstGeom>
        </p:spPr>
      </p:pic>
      <p:pic>
        <p:nvPicPr>
          <p:cNvPr id="78" name="Picture 77" descr="1_683_605E5C.png"/>
          <p:cNvPicPr>
            <a:picLocks noChangeAspect="1"/>
          </p:cNvPicPr>
          <p:nvPr/>
        </p:nvPicPr>
        <p:blipFill>
          <a:blip r:embed="rId5"/>
          <a:stretch>
            <a:fillRect/>
          </a:stretch>
        </p:blipFill>
        <p:spPr>
          <a:xfrm>
            <a:off x="2054848" y="2779432"/>
            <a:ext cx="1195728" cy="361950"/>
          </a:xfrm>
          <a:prstGeom prst="rect">
            <a:avLst/>
          </a:prstGeom>
        </p:spPr>
      </p:pic>
      <p:pic>
        <p:nvPicPr>
          <p:cNvPr id="79" name="Picture 78" descr="2_6__605E5C.png"/>
          <p:cNvPicPr>
            <a:picLocks noChangeAspect="1"/>
          </p:cNvPicPr>
          <p:nvPr/>
        </p:nvPicPr>
        <p:blipFill>
          <a:blip r:embed="rId6"/>
          <a:stretch>
            <a:fillRect/>
          </a:stretch>
        </p:blipFill>
        <p:spPr>
          <a:xfrm>
            <a:off x="2161494" y="3272281"/>
            <a:ext cx="982436" cy="361950"/>
          </a:xfrm>
          <a:prstGeom prst="rect">
            <a:avLst/>
          </a:prstGeom>
        </p:spPr>
      </p:pic>
      <p:pic>
        <p:nvPicPr>
          <p:cNvPr id="80" name="Picture 79" descr="963_0_605E5C.png"/>
          <p:cNvPicPr>
            <a:picLocks noChangeAspect="1"/>
          </p:cNvPicPr>
          <p:nvPr/>
        </p:nvPicPr>
        <p:blipFill>
          <a:blip r:embed="rId7"/>
          <a:stretch>
            <a:fillRect/>
          </a:stretch>
        </p:blipFill>
        <p:spPr>
          <a:xfrm>
            <a:off x="3740773" y="2286582"/>
            <a:ext cx="1195728" cy="361950"/>
          </a:xfrm>
          <a:prstGeom prst="rect">
            <a:avLst/>
          </a:prstGeom>
        </p:spPr>
      </p:pic>
      <p:pic>
        <p:nvPicPr>
          <p:cNvPr id="81" name="Picture 80" descr="1_560_605E5C.png"/>
          <p:cNvPicPr>
            <a:picLocks noChangeAspect="1"/>
          </p:cNvPicPr>
          <p:nvPr/>
        </p:nvPicPr>
        <p:blipFill>
          <a:blip r:embed="rId8"/>
          <a:stretch>
            <a:fillRect/>
          </a:stretch>
        </p:blipFill>
        <p:spPr>
          <a:xfrm>
            <a:off x="3740773" y="2779432"/>
            <a:ext cx="1195728" cy="361950"/>
          </a:xfrm>
          <a:prstGeom prst="rect">
            <a:avLst/>
          </a:prstGeom>
        </p:spPr>
      </p:pic>
      <p:pic>
        <p:nvPicPr>
          <p:cNvPr id="82" name="Picture 81" descr="4_9__605E5C.png"/>
          <p:cNvPicPr>
            <a:picLocks noChangeAspect="1"/>
          </p:cNvPicPr>
          <p:nvPr/>
        </p:nvPicPr>
        <p:blipFill>
          <a:blip r:embed="rId9"/>
          <a:stretch>
            <a:fillRect/>
          </a:stretch>
        </p:blipFill>
        <p:spPr>
          <a:xfrm>
            <a:off x="3847419" y="3272281"/>
            <a:ext cx="982436" cy="361950"/>
          </a:xfrm>
          <a:prstGeom prst="rect">
            <a:avLst/>
          </a:prstGeom>
        </p:spPr>
      </p:pic>
      <p:pic>
        <p:nvPicPr>
          <p:cNvPr id="83" name="Picture 82" descr="940_2_605E5C.png"/>
          <p:cNvPicPr>
            <a:picLocks noChangeAspect="1"/>
          </p:cNvPicPr>
          <p:nvPr/>
        </p:nvPicPr>
        <p:blipFill>
          <a:blip r:embed="rId10"/>
          <a:stretch>
            <a:fillRect/>
          </a:stretch>
        </p:blipFill>
        <p:spPr>
          <a:xfrm>
            <a:off x="5426698" y="2286582"/>
            <a:ext cx="1195728" cy="361950"/>
          </a:xfrm>
          <a:prstGeom prst="rect">
            <a:avLst/>
          </a:prstGeom>
        </p:spPr>
      </p:pic>
      <p:pic>
        <p:nvPicPr>
          <p:cNvPr id="84" name="Picture 83" descr="1_758_605E5C.png"/>
          <p:cNvPicPr>
            <a:picLocks noChangeAspect="1"/>
          </p:cNvPicPr>
          <p:nvPr/>
        </p:nvPicPr>
        <p:blipFill>
          <a:blip r:embed="rId11"/>
          <a:stretch>
            <a:fillRect/>
          </a:stretch>
        </p:blipFill>
        <p:spPr>
          <a:xfrm>
            <a:off x="5426698" y="2779432"/>
            <a:ext cx="1195728" cy="361950"/>
          </a:xfrm>
          <a:prstGeom prst="rect">
            <a:avLst/>
          </a:prstGeom>
        </p:spPr>
      </p:pic>
      <p:pic>
        <p:nvPicPr>
          <p:cNvPr id="85" name="Picture 84" descr="6_5__605E5C.png"/>
          <p:cNvPicPr>
            <a:picLocks noChangeAspect="1"/>
          </p:cNvPicPr>
          <p:nvPr/>
        </p:nvPicPr>
        <p:blipFill>
          <a:blip r:embed="rId12"/>
          <a:stretch>
            <a:fillRect/>
          </a:stretch>
        </p:blipFill>
        <p:spPr>
          <a:xfrm>
            <a:off x="5533344" y="3272281"/>
            <a:ext cx="982436" cy="361950"/>
          </a:xfrm>
          <a:prstGeom prst="rect">
            <a:avLst/>
          </a:prstGeom>
        </p:spPr>
      </p:pic>
      <p:pic>
        <p:nvPicPr>
          <p:cNvPr id="86" name="Picture 85" descr="715_9_605E5C.png"/>
          <p:cNvPicPr>
            <a:picLocks noChangeAspect="1"/>
          </p:cNvPicPr>
          <p:nvPr/>
        </p:nvPicPr>
        <p:blipFill>
          <a:blip r:embed="rId13"/>
          <a:stretch>
            <a:fillRect/>
          </a:stretch>
        </p:blipFill>
        <p:spPr>
          <a:xfrm>
            <a:off x="7112623" y="2286582"/>
            <a:ext cx="1195728" cy="361950"/>
          </a:xfrm>
          <a:prstGeom prst="rect">
            <a:avLst/>
          </a:prstGeom>
        </p:spPr>
      </p:pic>
      <p:pic>
        <p:nvPicPr>
          <p:cNvPr id="87" name="Picture 86" descr="1_048_605E5C.png"/>
          <p:cNvPicPr>
            <a:picLocks noChangeAspect="1"/>
          </p:cNvPicPr>
          <p:nvPr/>
        </p:nvPicPr>
        <p:blipFill>
          <a:blip r:embed="rId14"/>
          <a:stretch>
            <a:fillRect/>
          </a:stretch>
        </p:blipFill>
        <p:spPr>
          <a:xfrm>
            <a:off x="7112623" y="2779432"/>
            <a:ext cx="1195728" cy="361950"/>
          </a:xfrm>
          <a:prstGeom prst="rect">
            <a:avLst/>
          </a:prstGeom>
        </p:spPr>
      </p:pic>
      <p:pic>
        <p:nvPicPr>
          <p:cNvPr id="88" name="Picture 87" descr="3_9__605E5C.png"/>
          <p:cNvPicPr>
            <a:picLocks noChangeAspect="1"/>
          </p:cNvPicPr>
          <p:nvPr/>
        </p:nvPicPr>
        <p:blipFill>
          <a:blip r:embed="rId15"/>
          <a:stretch>
            <a:fillRect/>
          </a:stretch>
        </p:blipFill>
        <p:spPr>
          <a:xfrm>
            <a:off x="7219269" y="3272281"/>
            <a:ext cx="982436" cy="361950"/>
          </a:xfrm>
          <a:prstGeom prst="rect">
            <a:avLst/>
          </a:prstGeom>
        </p:spPr>
      </p:pic>
      <p:pic>
        <p:nvPicPr>
          <p:cNvPr id="89" name="Picture 88" descr="228_4_605E5C.png"/>
          <p:cNvPicPr>
            <a:picLocks noChangeAspect="1"/>
          </p:cNvPicPr>
          <p:nvPr/>
        </p:nvPicPr>
        <p:blipFill>
          <a:blip r:embed="rId16"/>
          <a:stretch>
            <a:fillRect/>
          </a:stretch>
        </p:blipFill>
        <p:spPr>
          <a:xfrm>
            <a:off x="8798548" y="2286582"/>
            <a:ext cx="1195728" cy="361950"/>
          </a:xfrm>
          <a:prstGeom prst="rect">
            <a:avLst/>
          </a:prstGeom>
        </p:spPr>
      </p:pic>
      <p:pic>
        <p:nvPicPr>
          <p:cNvPr id="90" name="Picture 89" descr="264_7_605E5C.png"/>
          <p:cNvPicPr>
            <a:picLocks noChangeAspect="1"/>
          </p:cNvPicPr>
          <p:nvPr/>
        </p:nvPicPr>
        <p:blipFill>
          <a:blip r:embed="rId17"/>
          <a:stretch>
            <a:fillRect/>
          </a:stretch>
        </p:blipFill>
        <p:spPr>
          <a:xfrm>
            <a:off x="8798548" y="2779432"/>
            <a:ext cx="1195728" cy="361950"/>
          </a:xfrm>
          <a:prstGeom prst="rect">
            <a:avLst/>
          </a:prstGeom>
        </p:spPr>
      </p:pic>
      <p:pic>
        <p:nvPicPr>
          <p:cNvPr id="91" name="Picture 90" descr="1_5__605E5C.png"/>
          <p:cNvPicPr>
            <a:picLocks noChangeAspect="1"/>
          </p:cNvPicPr>
          <p:nvPr/>
        </p:nvPicPr>
        <p:blipFill>
          <a:blip r:embed="rId18"/>
          <a:stretch>
            <a:fillRect/>
          </a:stretch>
        </p:blipFill>
        <p:spPr>
          <a:xfrm>
            <a:off x="8905194" y="3272281"/>
            <a:ext cx="982436" cy="361950"/>
          </a:xfrm>
          <a:prstGeom prst="rect">
            <a:avLst/>
          </a:prstGeom>
        </p:spPr>
      </p:pic>
      <p:pic>
        <p:nvPicPr>
          <p:cNvPr id="92" name="Picture 91" descr="161_6_605E5C.png"/>
          <p:cNvPicPr>
            <a:picLocks noChangeAspect="1"/>
          </p:cNvPicPr>
          <p:nvPr/>
        </p:nvPicPr>
        <p:blipFill>
          <a:blip r:embed="rId19"/>
          <a:stretch>
            <a:fillRect/>
          </a:stretch>
        </p:blipFill>
        <p:spPr>
          <a:xfrm>
            <a:off x="10484473" y="2286582"/>
            <a:ext cx="1195728" cy="361950"/>
          </a:xfrm>
          <a:prstGeom prst="rect">
            <a:avLst/>
          </a:prstGeom>
        </p:spPr>
      </p:pic>
      <p:pic>
        <p:nvPicPr>
          <p:cNvPr id="93" name="Picture 92" descr="214_1_605E5C.png"/>
          <p:cNvPicPr>
            <a:picLocks noChangeAspect="1"/>
          </p:cNvPicPr>
          <p:nvPr/>
        </p:nvPicPr>
        <p:blipFill>
          <a:blip r:embed="rId20"/>
          <a:stretch>
            <a:fillRect/>
          </a:stretch>
        </p:blipFill>
        <p:spPr>
          <a:xfrm>
            <a:off x="10484473" y="2779432"/>
            <a:ext cx="1195728" cy="361950"/>
          </a:xfrm>
          <a:prstGeom prst="rect">
            <a:avLst/>
          </a:prstGeom>
        </p:spPr>
      </p:pic>
      <p:pic>
        <p:nvPicPr>
          <p:cNvPr id="94" name="Picture 93" descr="2_9__605E5C.png"/>
          <p:cNvPicPr>
            <a:picLocks noChangeAspect="1"/>
          </p:cNvPicPr>
          <p:nvPr/>
        </p:nvPicPr>
        <p:blipFill>
          <a:blip r:embed="rId21"/>
          <a:stretch>
            <a:fillRect/>
          </a:stretch>
        </p:blipFill>
        <p:spPr>
          <a:xfrm>
            <a:off x="10591119" y="3272281"/>
            <a:ext cx="982436" cy="361950"/>
          </a:xfrm>
          <a:prstGeom prst="rect">
            <a:avLst/>
          </a:prstGeom>
        </p:spPr>
      </p:pic>
      <p:pic>
        <p:nvPicPr>
          <p:cNvPr id="95" name="Picture 94" descr="lock.png"/>
          <p:cNvPicPr>
            <a:picLocks noChangeAspect="1"/>
          </p:cNvPicPr>
          <p:nvPr/>
        </p:nvPicPr>
        <p:blipFill>
          <a:blip r:embed="rId22"/>
          <a:stretch>
            <a:fillRect/>
          </a:stretch>
        </p:blipFill>
        <p:spPr>
          <a:xfrm>
            <a:off x="255936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424529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593121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7617142" y="2827057"/>
            <a:ext cx="183356" cy="266700"/>
          </a:xfrm>
          <a:prstGeom prst="rect">
            <a:avLst/>
          </a:prstGeom>
        </p:spPr>
      </p:pic>
      <p:pic>
        <p:nvPicPr>
          <p:cNvPr id="99" name="Picture 98" descr="lock.png"/>
          <p:cNvPicPr>
            <a:picLocks noChangeAspect="1"/>
          </p:cNvPicPr>
          <p:nvPr/>
        </p:nvPicPr>
        <p:blipFill>
          <a:blip r:embed="rId22"/>
          <a:stretch>
            <a:fillRect/>
          </a:stretch>
        </p:blipFill>
        <p:spPr>
          <a:xfrm>
            <a:off x="9303067" y="2827057"/>
            <a:ext cx="183356" cy="266700"/>
          </a:xfrm>
          <a:prstGeom prst="rect">
            <a:avLst/>
          </a:prstGeom>
        </p:spPr>
      </p:pic>
      <p:pic>
        <p:nvPicPr>
          <p:cNvPr id="100" name="Picture 99" descr="lock.png"/>
          <p:cNvPicPr>
            <a:picLocks noChangeAspect="1"/>
          </p:cNvPicPr>
          <p:nvPr/>
        </p:nvPicPr>
        <p:blipFill>
          <a:blip r:embed="rId22"/>
          <a:stretch>
            <a:fillRect/>
          </a:stretch>
        </p:blipFill>
        <p:spPr>
          <a:xfrm>
            <a:off x="10988992" y="2827057"/>
            <a:ext cx="183356" cy="266700"/>
          </a:xfrm>
          <a:prstGeom prst="rect">
            <a:avLst/>
          </a:prstGeom>
        </p:spPr>
      </p:pic>
      <p:sp>
        <p:nvSpPr>
          <p:cNvPr id="101" name="TextBox 100"/>
          <p:cNvSpPr txBox="1"/>
          <p:nvPr/>
        </p:nvSpPr>
        <p:spPr>
          <a:xfrm>
            <a:off x="485775" y="4229437"/>
            <a:ext cx="2914650" cy="186689"/>
          </a:xfrm>
          <a:prstGeom prst="rect">
            <a:avLst/>
          </a:prstGeom>
          <a:noFill/>
        </p:spPr>
        <p:txBody>
          <a:bodyPr wrap="none" lIns="0" rIns="0" tIns="0" bIns="0">
            <a:spAutoFit/>
          </a:bodyPr>
          <a:lstStyle/>
          <a:p>
            <a:r>
              <a:rPr sz="1100" b="0">
                <a:solidFill>
                  <a:srgbClr val="2E2E2E"/>
                </a:solidFill>
                <a:latin typeface="Calibri"/>
              </a:rPr>
              <a:t>Among waterproof coatings by substrate material,</a:t>
            </a:r>
          </a:p>
        </p:txBody>
      </p:sp>
      <p:sp>
        <p:nvSpPr>
          <p:cNvPr id="102" name="TextBox 101"/>
          <p:cNvSpPr txBox="1"/>
          <p:nvPr/>
        </p:nvSpPr>
        <p:spPr>
          <a:xfrm>
            <a:off x="485775" y="4397077"/>
            <a:ext cx="2756148" cy="186689"/>
          </a:xfrm>
          <a:prstGeom prst="rect">
            <a:avLst/>
          </a:prstGeom>
          <a:noFill/>
        </p:spPr>
        <p:txBody>
          <a:bodyPr wrap="none" lIns="0" rIns="0" tIns="0" bIns="0">
            <a:spAutoFit/>
          </a:bodyPr>
          <a:lstStyle/>
          <a:p>
            <a:r>
              <a:rPr sz="1100" b="0">
                <a:solidFill>
                  <a:srgbClr val="2E2E2E"/>
                </a:solidFill>
                <a:latin typeface="Calibri"/>
              </a:rPr>
              <a:t>masonry and brickwork segment is expected to</a:t>
            </a:r>
          </a:p>
        </p:txBody>
      </p:sp>
      <p:sp>
        <p:nvSpPr>
          <p:cNvPr id="103" name="TextBox 102"/>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104" name="Picture 103" descr="lock.png"/>
          <p:cNvPicPr>
            <a:picLocks noChangeAspect="1"/>
          </p:cNvPicPr>
          <p:nvPr/>
        </p:nvPicPr>
        <p:blipFill>
          <a:blip r:embed="rId22"/>
          <a:stretch>
            <a:fillRect/>
          </a:stretch>
        </p:blipFill>
        <p:spPr>
          <a:xfrm>
            <a:off x="2108919" y="4554938"/>
            <a:ext cx="128699" cy="187198"/>
          </a:xfrm>
          <a:prstGeom prst="rect">
            <a:avLst/>
          </a:prstGeom>
        </p:spPr>
      </p:pic>
      <p:sp>
        <p:nvSpPr>
          <p:cNvPr id="105" name="TextBox 104"/>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106" name="TextBox 105"/>
          <p:cNvSpPr txBox="1"/>
          <p:nvPr/>
        </p:nvSpPr>
        <p:spPr>
          <a:xfrm>
            <a:off x="485775" y="4732357"/>
            <a:ext cx="2550417" cy="186689"/>
          </a:xfrm>
          <a:prstGeom prst="rect">
            <a:avLst/>
          </a:prstGeom>
          <a:noFill/>
        </p:spPr>
        <p:txBody>
          <a:bodyPr wrap="none" lIns="0" rIns="0" tIns="0" bIns="0">
            <a:spAutoFit/>
          </a:bodyPr>
          <a:lstStyle/>
          <a:p>
            <a:r>
              <a:rPr sz="1100" b="0">
                <a:solidFill>
                  <a:srgbClr val="2E2E2E"/>
                </a:solidFill>
                <a:latin typeface="Calibri"/>
              </a:rPr>
              <a:t>period. In terms of value share by substrate</a:t>
            </a:r>
          </a:p>
        </p:txBody>
      </p:sp>
      <p:sp>
        <p:nvSpPr>
          <p:cNvPr id="107" name="TextBox 106"/>
          <p:cNvSpPr txBox="1"/>
          <p:nvPr/>
        </p:nvSpPr>
        <p:spPr>
          <a:xfrm>
            <a:off x="485775" y="4899997"/>
            <a:ext cx="2813174" cy="186689"/>
          </a:xfrm>
          <a:prstGeom prst="rect">
            <a:avLst/>
          </a:prstGeom>
          <a:noFill/>
        </p:spPr>
        <p:txBody>
          <a:bodyPr wrap="none" lIns="0" rIns="0" tIns="0" bIns="0">
            <a:spAutoFit/>
          </a:bodyPr>
          <a:lstStyle/>
          <a:p>
            <a:r>
              <a:rPr sz="1100" b="0">
                <a:solidFill>
                  <a:srgbClr val="2E2E2E"/>
                </a:solidFill>
                <a:latin typeface="Calibri"/>
              </a:rPr>
              <a:t>material, the masonry and brickwork segment is</a:t>
            </a:r>
          </a:p>
        </p:txBody>
      </p:sp>
      <p:sp>
        <p:nvSpPr>
          <p:cNvPr id="108" name="TextBox 107"/>
          <p:cNvSpPr txBox="1"/>
          <p:nvPr/>
        </p:nvSpPr>
        <p:spPr>
          <a:xfrm>
            <a:off x="485775" y="5067637"/>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109" name="Picture 108" descr="lock.png"/>
          <p:cNvPicPr>
            <a:picLocks noChangeAspect="1"/>
          </p:cNvPicPr>
          <p:nvPr/>
        </p:nvPicPr>
        <p:blipFill>
          <a:blip r:embed="rId22"/>
          <a:stretch>
            <a:fillRect/>
          </a:stretch>
        </p:blipFill>
        <p:spPr>
          <a:xfrm>
            <a:off x="2900479" y="5057858"/>
            <a:ext cx="128699" cy="187198"/>
          </a:xfrm>
          <a:prstGeom prst="rect">
            <a:avLst/>
          </a:prstGeom>
        </p:spPr>
      </p:pic>
      <p:sp>
        <p:nvSpPr>
          <p:cNvPr id="110" name="TextBox 109"/>
          <p:cNvSpPr txBox="1"/>
          <p:nvPr/>
        </p:nvSpPr>
        <p:spPr>
          <a:xfrm>
            <a:off x="3067974" y="506763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11" name="TextBox 110"/>
          <p:cNvSpPr txBox="1"/>
          <p:nvPr/>
        </p:nvSpPr>
        <p:spPr>
          <a:xfrm>
            <a:off x="485775" y="523527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112" name="Picture 111" descr="lock.png"/>
          <p:cNvPicPr>
            <a:picLocks noChangeAspect="1"/>
          </p:cNvPicPr>
          <p:nvPr/>
        </p:nvPicPr>
        <p:blipFill>
          <a:blip r:embed="rId22"/>
          <a:stretch>
            <a:fillRect/>
          </a:stretch>
        </p:blipFill>
        <p:spPr>
          <a:xfrm>
            <a:off x="1576057" y="5225498"/>
            <a:ext cx="128699" cy="187198"/>
          </a:xfrm>
          <a:prstGeom prst="rect">
            <a:avLst/>
          </a:prstGeom>
        </p:spPr>
      </p:pic>
      <p:sp>
        <p:nvSpPr>
          <p:cNvPr id="113" name="TextBox 112"/>
          <p:cNvSpPr txBox="1"/>
          <p:nvPr/>
        </p:nvSpPr>
        <p:spPr>
          <a:xfrm>
            <a:off x="1743553"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4" name="TextBox 113"/>
          <p:cNvSpPr txBox="1"/>
          <p:nvPr/>
        </p:nvSpPr>
        <p:spPr>
          <a:xfrm>
            <a:off x="485775" y="5453209"/>
            <a:ext cx="2789981" cy="186689"/>
          </a:xfrm>
          <a:prstGeom prst="rect">
            <a:avLst/>
          </a:prstGeom>
          <a:noFill/>
        </p:spPr>
        <p:txBody>
          <a:bodyPr wrap="none" lIns="0" rIns="0" tIns="0" bIns="0">
            <a:spAutoFit/>
          </a:bodyPr>
          <a:lstStyle/>
          <a:p>
            <a:r>
              <a:rPr sz="1100" b="0">
                <a:solidFill>
                  <a:srgbClr val="2E2E2E"/>
                </a:solidFill>
                <a:latin typeface="Calibri"/>
              </a:rPr>
              <a:t>Masonry and brickwork segment is projected to</a:t>
            </a:r>
          </a:p>
        </p:txBody>
      </p:sp>
      <p:sp>
        <p:nvSpPr>
          <p:cNvPr id="115" name="TextBox 114"/>
          <p:cNvSpPr txBox="1"/>
          <p:nvPr/>
        </p:nvSpPr>
        <p:spPr>
          <a:xfrm>
            <a:off x="485775" y="562084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116" name="Picture 115" descr="lock.png"/>
          <p:cNvPicPr>
            <a:picLocks noChangeAspect="1"/>
          </p:cNvPicPr>
          <p:nvPr/>
        </p:nvPicPr>
        <p:blipFill>
          <a:blip r:embed="rId22"/>
          <a:stretch>
            <a:fillRect/>
          </a:stretch>
        </p:blipFill>
        <p:spPr>
          <a:xfrm>
            <a:off x="946316" y="5611070"/>
            <a:ext cx="128699" cy="187198"/>
          </a:xfrm>
          <a:prstGeom prst="rect">
            <a:avLst/>
          </a:prstGeom>
        </p:spPr>
      </p:pic>
      <p:sp>
        <p:nvSpPr>
          <p:cNvPr id="117" name="TextBox 116"/>
          <p:cNvSpPr txBox="1"/>
          <p:nvPr/>
        </p:nvSpPr>
        <p:spPr>
          <a:xfrm>
            <a:off x="1113812" y="5620849"/>
            <a:ext cx="2137866" cy="186689"/>
          </a:xfrm>
          <a:prstGeom prst="rect">
            <a:avLst/>
          </a:prstGeom>
          <a:noFill/>
        </p:spPr>
        <p:txBody>
          <a:bodyPr wrap="none" lIns="0" rIns="0" tIns="0" bIns="0">
            <a:spAutoFit/>
          </a:bodyPr>
          <a:lstStyle/>
          <a:p>
            <a:r>
              <a:rPr sz="1100" b="0">
                <a:solidFill>
                  <a:srgbClr val="2E2E2E"/>
                </a:solidFill>
                <a:latin typeface="Calibri"/>
              </a:rPr>
              <a:t>X higher value than other substrates</a:t>
            </a:r>
          </a:p>
        </p:txBody>
      </p:sp>
      <p:sp>
        <p:nvSpPr>
          <p:cNvPr id="118" name="TextBox 117"/>
          <p:cNvSpPr txBox="1"/>
          <p:nvPr/>
        </p:nvSpPr>
        <p:spPr>
          <a:xfrm>
            <a:off x="485775" y="5788489"/>
            <a:ext cx="1055464" cy="186689"/>
          </a:xfrm>
          <a:prstGeom prst="rect">
            <a:avLst/>
          </a:prstGeom>
          <a:noFill/>
        </p:spPr>
        <p:txBody>
          <a:bodyPr wrap="none" lIns="0" rIns="0" tIns="0" bIns="0">
            <a:spAutoFit/>
          </a:bodyPr>
          <a:lstStyle/>
          <a:p>
            <a:r>
              <a:rPr sz="1100" b="0">
                <a:solidFill>
                  <a:srgbClr val="2E2E2E"/>
                </a:solidFill>
                <a:latin typeface="Calibri"/>
              </a:rPr>
              <a:t>segment in 2036.</a:t>
            </a:r>
          </a:p>
        </p:txBody>
      </p:sp>
      <p:sp>
        <p:nvSpPr>
          <p:cNvPr id="119" name="TextBox 118"/>
          <p:cNvSpPr txBox="1"/>
          <p:nvPr/>
        </p:nvSpPr>
        <p:spPr>
          <a:xfrm>
            <a:off x="3838575" y="4229437"/>
            <a:ext cx="1191617" cy="186689"/>
          </a:xfrm>
          <a:prstGeom prst="rect">
            <a:avLst/>
          </a:prstGeom>
          <a:noFill/>
        </p:spPr>
        <p:txBody>
          <a:bodyPr wrap="none" lIns="0" rIns="0" tIns="0" bIns="0">
            <a:spAutoFit/>
          </a:bodyPr>
          <a:lstStyle/>
          <a:p>
            <a:r>
              <a:rPr sz="1100" b="0">
                <a:solidFill>
                  <a:srgbClr val="2E2E2E"/>
                </a:solidFill>
                <a:latin typeface="Calibri"/>
              </a:rPr>
              <a:t>● Other Substrates:</a:t>
            </a:r>
          </a:p>
        </p:txBody>
      </p:sp>
      <p:pic>
        <p:nvPicPr>
          <p:cNvPr id="120" name="Picture 119" descr="lock.png"/>
          <p:cNvPicPr>
            <a:picLocks noChangeAspect="1"/>
          </p:cNvPicPr>
          <p:nvPr/>
        </p:nvPicPr>
        <p:blipFill>
          <a:blip r:embed="rId22"/>
          <a:stretch>
            <a:fillRect/>
          </a:stretch>
        </p:blipFill>
        <p:spPr>
          <a:xfrm>
            <a:off x="4978243" y="4219658"/>
            <a:ext cx="128699" cy="187198"/>
          </a:xfrm>
          <a:prstGeom prst="rect">
            <a:avLst/>
          </a:prstGeom>
        </p:spPr>
      </p:pic>
      <p:sp>
        <p:nvSpPr>
          <p:cNvPr id="121" name="TextBox 120"/>
          <p:cNvSpPr txBox="1"/>
          <p:nvPr/>
        </p:nvSpPr>
        <p:spPr>
          <a:xfrm>
            <a:off x="514573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2" name="Picture 121" descr="lock.png"/>
          <p:cNvPicPr>
            <a:picLocks noChangeAspect="1"/>
          </p:cNvPicPr>
          <p:nvPr/>
        </p:nvPicPr>
        <p:blipFill>
          <a:blip r:embed="rId22"/>
          <a:stretch>
            <a:fillRect/>
          </a:stretch>
        </p:blipFill>
        <p:spPr>
          <a:xfrm>
            <a:off x="6005189" y="4219658"/>
            <a:ext cx="128699" cy="187198"/>
          </a:xfrm>
          <a:prstGeom prst="rect">
            <a:avLst/>
          </a:prstGeom>
        </p:spPr>
      </p:pic>
      <p:sp>
        <p:nvSpPr>
          <p:cNvPr id="123" name="TextBox 122"/>
          <p:cNvSpPr txBox="1"/>
          <p:nvPr/>
        </p:nvSpPr>
        <p:spPr>
          <a:xfrm>
            <a:off x="6172685"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24" name="TextBox 123"/>
          <p:cNvSpPr txBox="1"/>
          <p:nvPr/>
        </p:nvSpPr>
        <p:spPr>
          <a:xfrm>
            <a:off x="3838575" y="4447369"/>
            <a:ext cx="1408807" cy="186689"/>
          </a:xfrm>
          <a:prstGeom prst="rect">
            <a:avLst/>
          </a:prstGeom>
          <a:noFill/>
        </p:spPr>
        <p:txBody>
          <a:bodyPr wrap="none" lIns="0" rIns="0" tIns="0" bIns="0">
            <a:spAutoFit/>
          </a:bodyPr>
          <a:lstStyle/>
          <a:p>
            <a:r>
              <a:rPr sz="1100" b="0">
                <a:solidFill>
                  <a:srgbClr val="2E2E2E"/>
                </a:solidFill>
                <a:latin typeface="Calibri"/>
              </a:rPr>
              <a:t>● Composite Materials:</a:t>
            </a:r>
          </a:p>
        </p:txBody>
      </p:sp>
      <p:pic>
        <p:nvPicPr>
          <p:cNvPr id="125" name="Picture 124" descr="lock.png"/>
          <p:cNvPicPr>
            <a:picLocks noChangeAspect="1"/>
          </p:cNvPicPr>
          <p:nvPr/>
        </p:nvPicPr>
        <p:blipFill>
          <a:blip r:embed="rId22"/>
          <a:stretch>
            <a:fillRect/>
          </a:stretch>
        </p:blipFill>
        <p:spPr>
          <a:xfrm>
            <a:off x="5195433" y="4437590"/>
            <a:ext cx="128699" cy="187198"/>
          </a:xfrm>
          <a:prstGeom prst="rect">
            <a:avLst/>
          </a:prstGeom>
        </p:spPr>
      </p:pic>
      <p:sp>
        <p:nvSpPr>
          <p:cNvPr id="126" name="TextBox 125"/>
          <p:cNvSpPr txBox="1"/>
          <p:nvPr/>
        </p:nvSpPr>
        <p:spPr>
          <a:xfrm>
            <a:off x="5362929"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7" name="Picture 126" descr="lock.png"/>
          <p:cNvPicPr>
            <a:picLocks noChangeAspect="1"/>
          </p:cNvPicPr>
          <p:nvPr/>
        </p:nvPicPr>
        <p:blipFill>
          <a:blip r:embed="rId22"/>
          <a:stretch>
            <a:fillRect/>
          </a:stretch>
        </p:blipFill>
        <p:spPr>
          <a:xfrm>
            <a:off x="6222379" y="4437590"/>
            <a:ext cx="128699" cy="187198"/>
          </a:xfrm>
          <a:prstGeom prst="rect">
            <a:avLst/>
          </a:prstGeom>
        </p:spPr>
      </p:pic>
      <p:sp>
        <p:nvSpPr>
          <p:cNvPr id="128" name="TextBox 127"/>
          <p:cNvSpPr txBox="1"/>
          <p:nvPr/>
        </p:nvSpPr>
        <p:spPr>
          <a:xfrm>
            <a:off x="6389875"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9" name="TextBox 128"/>
          <p:cNvSpPr txBox="1"/>
          <p:nvPr/>
        </p:nvSpPr>
        <p:spPr>
          <a:xfrm>
            <a:off x="3838575" y="4665301"/>
            <a:ext cx="1572517" cy="186689"/>
          </a:xfrm>
          <a:prstGeom prst="rect">
            <a:avLst/>
          </a:prstGeom>
          <a:noFill/>
        </p:spPr>
        <p:txBody>
          <a:bodyPr wrap="none" lIns="0" rIns="0" tIns="0" bIns="0">
            <a:spAutoFit/>
          </a:bodyPr>
          <a:lstStyle/>
          <a:p>
            <a:r>
              <a:rPr sz="1100" b="0">
                <a:solidFill>
                  <a:srgbClr val="2E2E2E"/>
                </a:solidFill>
                <a:latin typeface="Calibri"/>
              </a:rPr>
              <a:t>● Masonry and Brickwork:</a:t>
            </a:r>
          </a:p>
        </p:txBody>
      </p:sp>
      <p:pic>
        <p:nvPicPr>
          <p:cNvPr id="130" name="Picture 129" descr="lock.png"/>
          <p:cNvPicPr>
            <a:picLocks noChangeAspect="1"/>
          </p:cNvPicPr>
          <p:nvPr/>
        </p:nvPicPr>
        <p:blipFill>
          <a:blip r:embed="rId22"/>
          <a:stretch>
            <a:fillRect/>
          </a:stretch>
        </p:blipFill>
        <p:spPr>
          <a:xfrm>
            <a:off x="5359144" y="4655522"/>
            <a:ext cx="128699" cy="187198"/>
          </a:xfrm>
          <a:prstGeom prst="rect">
            <a:avLst/>
          </a:prstGeom>
        </p:spPr>
      </p:pic>
      <p:sp>
        <p:nvSpPr>
          <p:cNvPr id="131" name="TextBox 130"/>
          <p:cNvSpPr txBox="1"/>
          <p:nvPr/>
        </p:nvSpPr>
        <p:spPr>
          <a:xfrm>
            <a:off x="5526640"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2" name="Picture 131" descr="lock.png"/>
          <p:cNvPicPr>
            <a:picLocks noChangeAspect="1"/>
          </p:cNvPicPr>
          <p:nvPr/>
        </p:nvPicPr>
        <p:blipFill>
          <a:blip r:embed="rId22"/>
          <a:stretch>
            <a:fillRect/>
          </a:stretch>
        </p:blipFill>
        <p:spPr>
          <a:xfrm>
            <a:off x="6386090" y="4655522"/>
            <a:ext cx="128699" cy="187198"/>
          </a:xfrm>
          <a:prstGeom prst="rect">
            <a:avLst/>
          </a:prstGeom>
        </p:spPr>
      </p:pic>
      <p:sp>
        <p:nvSpPr>
          <p:cNvPr id="133" name="TextBox 132"/>
          <p:cNvSpPr txBox="1"/>
          <p:nvPr/>
        </p:nvSpPr>
        <p:spPr>
          <a:xfrm>
            <a:off x="6553586" y="466530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34" name="TextBox 133"/>
          <p:cNvSpPr txBox="1"/>
          <p:nvPr/>
        </p:nvSpPr>
        <p:spPr>
          <a:xfrm>
            <a:off x="3838575" y="4883233"/>
            <a:ext cx="574699" cy="186689"/>
          </a:xfrm>
          <a:prstGeom prst="rect">
            <a:avLst/>
          </a:prstGeom>
          <a:noFill/>
        </p:spPr>
        <p:txBody>
          <a:bodyPr wrap="none" lIns="0" rIns="0" tIns="0" bIns="0">
            <a:spAutoFit/>
          </a:bodyPr>
          <a:lstStyle/>
          <a:p>
            <a:r>
              <a:rPr sz="1100" b="0">
                <a:solidFill>
                  <a:srgbClr val="2E2E2E"/>
                </a:solidFill>
                <a:latin typeface="Calibri"/>
              </a:rPr>
              <a:t>● Wood:</a:t>
            </a:r>
          </a:p>
        </p:txBody>
      </p:sp>
      <p:pic>
        <p:nvPicPr>
          <p:cNvPr id="135" name="Picture 134" descr="lock.png"/>
          <p:cNvPicPr>
            <a:picLocks noChangeAspect="1"/>
          </p:cNvPicPr>
          <p:nvPr/>
        </p:nvPicPr>
        <p:blipFill>
          <a:blip r:embed="rId22"/>
          <a:stretch>
            <a:fillRect/>
          </a:stretch>
        </p:blipFill>
        <p:spPr>
          <a:xfrm>
            <a:off x="4361326" y="4873454"/>
            <a:ext cx="128699" cy="187198"/>
          </a:xfrm>
          <a:prstGeom prst="rect">
            <a:avLst/>
          </a:prstGeom>
        </p:spPr>
      </p:pic>
      <p:sp>
        <p:nvSpPr>
          <p:cNvPr id="136" name="TextBox 135"/>
          <p:cNvSpPr txBox="1"/>
          <p:nvPr/>
        </p:nvSpPr>
        <p:spPr>
          <a:xfrm>
            <a:off x="4528822"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7" name="Picture 136" descr="lock.png"/>
          <p:cNvPicPr>
            <a:picLocks noChangeAspect="1"/>
          </p:cNvPicPr>
          <p:nvPr/>
        </p:nvPicPr>
        <p:blipFill>
          <a:blip r:embed="rId22"/>
          <a:stretch>
            <a:fillRect/>
          </a:stretch>
        </p:blipFill>
        <p:spPr>
          <a:xfrm>
            <a:off x="5388272" y="4873454"/>
            <a:ext cx="128699" cy="187198"/>
          </a:xfrm>
          <a:prstGeom prst="rect">
            <a:avLst/>
          </a:prstGeom>
        </p:spPr>
      </p:pic>
      <p:sp>
        <p:nvSpPr>
          <p:cNvPr id="138" name="TextBox 137"/>
          <p:cNvSpPr txBox="1"/>
          <p:nvPr/>
        </p:nvSpPr>
        <p:spPr>
          <a:xfrm>
            <a:off x="5555768" y="488323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39" name="TextBox 138"/>
          <p:cNvSpPr txBox="1"/>
          <p:nvPr/>
        </p:nvSpPr>
        <p:spPr>
          <a:xfrm>
            <a:off x="3838575" y="5101165"/>
            <a:ext cx="564604" cy="186689"/>
          </a:xfrm>
          <a:prstGeom prst="rect">
            <a:avLst/>
          </a:prstGeom>
          <a:noFill/>
        </p:spPr>
        <p:txBody>
          <a:bodyPr wrap="none" lIns="0" rIns="0" tIns="0" bIns="0">
            <a:spAutoFit/>
          </a:bodyPr>
          <a:lstStyle/>
          <a:p>
            <a:r>
              <a:rPr sz="1100" b="0">
                <a:solidFill>
                  <a:srgbClr val="2E2E2E"/>
                </a:solidFill>
                <a:latin typeface="Calibri"/>
              </a:rPr>
              <a:t>● Metal:</a:t>
            </a:r>
          </a:p>
        </p:txBody>
      </p:sp>
      <p:pic>
        <p:nvPicPr>
          <p:cNvPr id="140" name="Picture 139" descr="lock.png"/>
          <p:cNvPicPr>
            <a:picLocks noChangeAspect="1"/>
          </p:cNvPicPr>
          <p:nvPr/>
        </p:nvPicPr>
        <p:blipFill>
          <a:blip r:embed="rId22"/>
          <a:stretch>
            <a:fillRect/>
          </a:stretch>
        </p:blipFill>
        <p:spPr>
          <a:xfrm>
            <a:off x="4351230" y="5091385"/>
            <a:ext cx="128699" cy="187198"/>
          </a:xfrm>
          <a:prstGeom prst="rect">
            <a:avLst/>
          </a:prstGeom>
        </p:spPr>
      </p:pic>
      <p:sp>
        <p:nvSpPr>
          <p:cNvPr id="141" name="TextBox 140"/>
          <p:cNvSpPr txBox="1"/>
          <p:nvPr/>
        </p:nvSpPr>
        <p:spPr>
          <a:xfrm>
            <a:off x="4518726" y="510116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2" name="Picture 141" descr="lock.png"/>
          <p:cNvPicPr>
            <a:picLocks noChangeAspect="1"/>
          </p:cNvPicPr>
          <p:nvPr/>
        </p:nvPicPr>
        <p:blipFill>
          <a:blip r:embed="rId22"/>
          <a:stretch>
            <a:fillRect/>
          </a:stretch>
        </p:blipFill>
        <p:spPr>
          <a:xfrm>
            <a:off x="5378176" y="5091385"/>
            <a:ext cx="128699" cy="187198"/>
          </a:xfrm>
          <a:prstGeom prst="rect">
            <a:avLst/>
          </a:prstGeom>
        </p:spPr>
      </p:pic>
      <p:sp>
        <p:nvSpPr>
          <p:cNvPr id="143" name="TextBox 142"/>
          <p:cNvSpPr txBox="1"/>
          <p:nvPr/>
        </p:nvSpPr>
        <p:spPr>
          <a:xfrm>
            <a:off x="5545672" y="5101165"/>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4" name="TextBox 143"/>
          <p:cNvSpPr txBox="1"/>
          <p:nvPr/>
        </p:nvSpPr>
        <p:spPr>
          <a:xfrm>
            <a:off x="3838575" y="5319097"/>
            <a:ext cx="2291481" cy="186689"/>
          </a:xfrm>
          <a:prstGeom prst="rect">
            <a:avLst/>
          </a:prstGeom>
          <a:noFill/>
        </p:spPr>
        <p:txBody>
          <a:bodyPr wrap="none" lIns="0" rIns="0" tIns="0" bIns="0">
            <a:spAutoFit/>
          </a:bodyPr>
          <a:lstStyle/>
          <a:p>
            <a:r>
              <a:rPr sz="1100" b="0">
                <a:solidFill>
                  <a:srgbClr val="2E2E2E"/>
                </a:solidFill>
                <a:latin typeface="Calibri"/>
              </a:rPr>
              <a:t>● Concrete and Cementitious Surfaces:</a:t>
            </a:r>
          </a:p>
        </p:txBody>
      </p:sp>
      <p:pic>
        <p:nvPicPr>
          <p:cNvPr id="145" name="Picture 144" descr="lock.png"/>
          <p:cNvPicPr>
            <a:picLocks noChangeAspect="1"/>
          </p:cNvPicPr>
          <p:nvPr/>
        </p:nvPicPr>
        <p:blipFill>
          <a:blip r:embed="rId22"/>
          <a:stretch>
            <a:fillRect/>
          </a:stretch>
        </p:blipFill>
        <p:spPr>
          <a:xfrm>
            <a:off x="6078108" y="5309317"/>
            <a:ext cx="128699" cy="187198"/>
          </a:xfrm>
          <a:prstGeom prst="rect">
            <a:avLst/>
          </a:prstGeom>
        </p:spPr>
      </p:pic>
      <p:sp>
        <p:nvSpPr>
          <p:cNvPr id="146" name="TextBox 145"/>
          <p:cNvSpPr txBox="1"/>
          <p:nvPr/>
        </p:nvSpPr>
        <p:spPr>
          <a:xfrm>
            <a:off x="6245604" y="531909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7" name="Picture 146" descr="lock.png"/>
          <p:cNvPicPr>
            <a:picLocks noChangeAspect="1"/>
          </p:cNvPicPr>
          <p:nvPr/>
        </p:nvPicPr>
        <p:blipFill>
          <a:blip r:embed="rId22"/>
          <a:stretch>
            <a:fillRect/>
          </a:stretch>
        </p:blipFill>
        <p:spPr>
          <a:xfrm>
            <a:off x="7105054" y="5309317"/>
            <a:ext cx="128699" cy="187198"/>
          </a:xfrm>
          <a:prstGeom prst="rect">
            <a:avLst/>
          </a:prstGeom>
        </p:spPr>
      </p:pic>
      <p:sp>
        <p:nvSpPr>
          <p:cNvPr id="148" name="TextBox 147"/>
          <p:cNvSpPr txBox="1"/>
          <p:nvPr/>
        </p:nvSpPr>
        <p:spPr>
          <a:xfrm>
            <a:off x="7272550" y="5319097"/>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49" name="TextBox 148"/>
          <p:cNvSpPr txBox="1"/>
          <p:nvPr/>
        </p:nvSpPr>
        <p:spPr>
          <a:xfrm>
            <a:off x="3838575" y="5486737"/>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50" name="TextBox 149"/>
          <p:cNvSpPr txBox="1"/>
          <p:nvPr/>
        </p:nvSpPr>
        <p:spPr>
          <a:xfrm>
            <a:off x="8524875" y="5842641"/>
            <a:ext cx="2932732" cy="194310"/>
          </a:xfrm>
          <a:prstGeom prst="rect">
            <a:avLst/>
          </a:prstGeom>
          <a:noFill/>
        </p:spPr>
        <p:txBody>
          <a:bodyPr wrap="none" lIns="0" rIns="0" tIns="0" bIns="0">
            <a:spAutoFit/>
          </a:bodyPr>
          <a:lstStyle/>
          <a:p>
            <a:r>
              <a:rPr sz="1150" b="1">
                <a:solidFill>
                  <a:srgbClr val="0B2E4A"/>
                </a:solidFill>
                <a:latin typeface="Calibri"/>
              </a:rPr>
              <a:t>The Substrate Material segment is projected to</a:t>
            </a:r>
          </a:p>
        </p:txBody>
      </p:sp>
      <p:sp>
        <p:nvSpPr>
          <p:cNvPr id="151" name="TextBox 150"/>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152" name="Picture 151" descr="lock.png"/>
          <p:cNvPicPr>
            <a:picLocks noChangeAspect="1"/>
          </p:cNvPicPr>
          <p:nvPr/>
        </p:nvPicPr>
        <p:blipFill>
          <a:blip r:embed="rId22"/>
          <a:stretch>
            <a:fillRect/>
          </a:stretch>
        </p:blipFill>
        <p:spPr>
          <a:xfrm>
            <a:off x="9651852" y="6007677"/>
            <a:ext cx="134549" cy="195707"/>
          </a:xfrm>
          <a:prstGeom prst="rect">
            <a:avLst/>
          </a:prstGeom>
        </p:spPr>
      </p:pic>
      <p:sp>
        <p:nvSpPr>
          <p:cNvPr id="153" name="TextBox 152"/>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Substrate Material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Substrate Material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Substrate Material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Substrate Material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536238" cy="186689"/>
          </a:xfrm>
          <a:prstGeom prst="rect">
            <a:avLst/>
          </a:prstGeom>
          <a:noFill/>
        </p:spPr>
        <p:txBody>
          <a:bodyPr wrap="none" lIns="0" rIns="0" tIns="0" bIns="0">
            <a:spAutoFit/>
          </a:bodyPr>
          <a:lstStyle/>
          <a:p>
            <a:r>
              <a:rPr sz="1100" b="0">
                <a:solidFill>
                  <a:srgbClr val="2E2E2E"/>
                </a:solidFill>
                <a:latin typeface="Calibri"/>
              </a:rPr>
              <a:t>Masonry and brickwork followed by composite materials are expected to be the two most attractive substrate material segments in the North America waterproof coatings market in terms of value over</a:t>
            </a:r>
          </a:p>
        </p:txBody>
      </p:sp>
      <p:sp>
        <p:nvSpPr>
          <p:cNvPr id="20" name="TextBox 19"/>
          <p:cNvSpPr txBox="1"/>
          <p:nvPr/>
        </p:nvSpPr>
        <p:spPr>
          <a:xfrm>
            <a:off x="257175" y="5861685"/>
            <a:ext cx="5360772" cy="186689"/>
          </a:xfrm>
          <a:prstGeom prst="rect">
            <a:avLst/>
          </a:prstGeom>
          <a:noFill/>
        </p:spPr>
        <p:txBody>
          <a:bodyPr wrap="none" lIns="0" rIns="0" tIns="0" bIns="0">
            <a:spAutoFit/>
          </a:bodyPr>
          <a:lstStyle/>
          <a:p>
            <a:r>
              <a:rPr sz="1100" b="0">
                <a:solidFill>
                  <a:srgbClr val="2E2E2E"/>
                </a:solidFill>
                <a:latin typeface="Calibri"/>
              </a:rPr>
              <a:t>the forecast period. Masonry and brickwork and composite materials exhibit a CAGR index of</a:t>
            </a:r>
          </a:p>
        </p:txBody>
      </p:sp>
      <p:pic>
        <p:nvPicPr>
          <p:cNvPr id="21" name="Picture 20" descr="lock.png"/>
          <p:cNvPicPr>
            <a:picLocks noChangeAspect="1"/>
          </p:cNvPicPr>
          <p:nvPr/>
        </p:nvPicPr>
        <p:blipFill>
          <a:blip r:embed="rId6"/>
          <a:stretch>
            <a:fillRect/>
          </a:stretch>
        </p:blipFill>
        <p:spPr>
          <a:xfrm>
            <a:off x="5565998" y="5851905"/>
            <a:ext cx="128699" cy="187198"/>
          </a:xfrm>
          <a:prstGeom prst="rect">
            <a:avLst/>
          </a:prstGeom>
        </p:spPr>
      </p:pic>
      <p:sp>
        <p:nvSpPr>
          <p:cNvPr id="22" name="TextBox 21"/>
          <p:cNvSpPr txBox="1"/>
          <p:nvPr/>
        </p:nvSpPr>
        <p:spPr>
          <a:xfrm>
            <a:off x="5733494"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5971388" y="5851905"/>
            <a:ext cx="128699" cy="187198"/>
          </a:xfrm>
          <a:prstGeom prst="rect">
            <a:avLst/>
          </a:prstGeom>
        </p:spPr>
      </p:pic>
      <p:sp>
        <p:nvSpPr>
          <p:cNvPr id="24" name="TextBox 23"/>
          <p:cNvSpPr txBox="1"/>
          <p:nvPr/>
        </p:nvSpPr>
        <p:spPr>
          <a:xfrm>
            <a:off x="6138884"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7747858" y="5851905"/>
            <a:ext cx="128699" cy="187198"/>
          </a:xfrm>
          <a:prstGeom prst="rect">
            <a:avLst/>
          </a:prstGeom>
        </p:spPr>
      </p:pic>
      <p:sp>
        <p:nvSpPr>
          <p:cNvPr id="26" name="TextBox 25"/>
          <p:cNvSpPr txBox="1"/>
          <p:nvPr/>
        </p:nvSpPr>
        <p:spPr>
          <a:xfrm>
            <a:off x="7915353"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8153248" y="5851905"/>
            <a:ext cx="128699" cy="187198"/>
          </a:xfrm>
          <a:prstGeom prst="rect">
            <a:avLst/>
          </a:prstGeom>
        </p:spPr>
      </p:pic>
      <p:sp>
        <p:nvSpPr>
          <p:cNvPr id="28" name="TextBox 27"/>
          <p:cNvSpPr txBox="1"/>
          <p:nvPr/>
        </p:nvSpPr>
        <p:spPr>
          <a:xfrm>
            <a:off x="8320744"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10875148" y="5851905"/>
            <a:ext cx="128699" cy="187198"/>
          </a:xfrm>
          <a:prstGeom prst="rect">
            <a:avLst/>
          </a:prstGeom>
        </p:spPr>
      </p:pic>
      <p:sp>
        <p:nvSpPr>
          <p:cNvPr id="30" name="TextBox 29"/>
          <p:cNvSpPr txBox="1"/>
          <p:nvPr/>
        </p:nvSpPr>
        <p:spPr>
          <a:xfrm>
            <a:off x="11042644" y="5861685"/>
            <a:ext cx="354235" cy="186689"/>
          </a:xfrm>
          <a:prstGeom prst="rect">
            <a:avLst/>
          </a:prstGeom>
          <a:noFill/>
        </p:spPr>
        <p:txBody>
          <a:bodyPr wrap="none" lIns="0" rIns="0" tIns="0" bIns="0">
            <a:spAutoFit/>
          </a:bodyPr>
          <a:lstStyle/>
          <a:p>
            <a:r>
              <a:rPr sz="1100" b="0">
                <a:solidFill>
                  <a:srgbClr val="2E2E2E"/>
                </a:solidFill>
                <a:latin typeface="Calibri"/>
              </a:rPr>
              <a:t>. The</a:t>
            </a:r>
          </a:p>
        </p:txBody>
      </p:sp>
      <p:sp>
        <p:nvSpPr>
          <p:cNvPr id="31" name="TextBox 30"/>
          <p:cNvSpPr txBox="1"/>
          <p:nvPr/>
        </p:nvSpPr>
        <p:spPr>
          <a:xfrm>
            <a:off x="257175" y="6029325"/>
            <a:ext cx="11546845" cy="186689"/>
          </a:xfrm>
          <a:prstGeom prst="rect">
            <a:avLst/>
          </a:prstGeom>
          <a:noFill/>
        </p:spPr>
        <p:txBody>
          <a:bodyPr wrap="none" lIns="0" rIns="0" tIns="0" bIns="0">
            <a:spAutoFit/>
          </a:bodyPr>
          <a:lstStyle/>
          <a:p>
            <a:r>
              <a:rPr sz="1100" b="0">
                <a:solidFill>
                  <a:srgbClr val="2E2E2E"/>
                </a:solidFill>
                <a:latin typeface="Calibri"/>
              </a:rPr>
              <a:t>metal segment is expected to be less attractive as compared to other segments over the forecast period, owing to its lower CAGR and incremental opportunity. Bubbles right of the CAGR-Index line grow</a:t>
            </a:r>
          </a:p>
        </p:txBody>
      </p:sp>
      <p:sp>
        <p:nvSpPr>
          <p:cNvPr id="32" name="TextBox 31"/>
          <p:cNvSpPr txBox="1"/>
          <p:nvPr/>
        </p:nvSpPr>
        <p:spPr>
          <a:xfrm>
            <a:off x="257175" y="6196965"/>
            <a:ext cx="1959694" cy="186689"/>
          </a:xfrm>
          <a:prstGeom prst="rect">
            <a:avLst/>
          </a:prstGeom>
          <a:noFill/>
        </p:spPr>
        <p:txBody>
          <a:bodyPr wrap="none" lIns="0" rIns="0" tIns="0" bIns="0">
            <a:spAutoFit/>
          </a:bodyPr>
          <a:lstStyle/>
          <a:p>
            <a:r>
              <a:rPr sz="1100" b="0">
                <a:solidFill>
                  <a:srgbClr val="2E2E2E"/>
                </a:solidFill>
                <a:latin typeface="Calibri"/>
              </a:rPr>
              <a:t>faster 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Substrate Material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Substrate Material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Concrete and Cementitious Surfaces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Metal</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Wood</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Masonry and Brickwork</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Substrate Material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Substrate Material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Composite Materials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Other Substrates</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066800"/>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North America Absolute $ Opportunity Analysis, By Substrate Material</a:t>
            </a:r>
          </a:p>
        </p:txBody>
      </p:sp>
      <p:sp>
        <p:nvSpPr>
          <p:cNvPr id="18" name="Rectangle 17"/>
          <p:cNvSpPr/>
          <p:nvPr/>
        </p:nvSpPr>
        <p:spPr>
          <a:xfrm>
            <a:off x="6305550" y="150299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5550" y="1588720"/>
            <a:ext cx="5610225"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6"/>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6"/>
          <a:stretch>
            <a:fillRect/>
          </a:stretch>
        </p:blipFill>
        <p:spPr>
          <a:xfrm>
            <a:off x="3100230" y="5216754"/>
            <a:ext cx="252890" cy="367840"/>
          </a:xfrm>
          <a:prstGeom prst="rect">
            <a:avLst/>
          </a:prstGeom>
        </p:spPr>
      </p:pic>
      <p:sp>
        <p:nvSpPr>
          <p:cNvPr id="23" name="TextBox 22"/>
          <p:cNvSpPr txBox="1"/>
          <p:nvPr/>
        </p:nvSpPr>
        <p:spPr>
          <a:xfrm>
            <a:off x="6305550" y="1598245"/>
            <a:ext cx="4894116" cy="194310"/>
          </a:xfrm>
          <a:prstGeom prst="rect">
            <a:avLst/>
          </a:prstGeom>
          <a:noFill/>
        </p:spPr>
        <p:txBody>
          <a:bodyPr wrap="none" lIns="0" rIns="0" tIns="0" bIns="0">
            <a:spAutoFit/>
          </a:bodyPr>
          <a:lstStyle/>
          <a:p>
            <a:r>
              <a:rPr sz="1150" b="0">
                <a:solidFill>
                  <a:srgbClr val="2E2E2E"/>
                </a:solidFill>
                <a:latin typeface="Calibri"/>
              </a:rPr>
              <a:t>By 2036, masonry and brickwork segment is anticipated to witness an increase of</a:t>
            </a:r>
          </a:p>
        </p:txBody>
      </p:sp>
      <p:pic>
        <p:nvPicPr>
          <p:cNvPr id="24" name="Picture 23" descr="lock.png"/>
          <p:cNvPicPr>
            <a:picLocks noChangeAspect="1"/>
          </p:cNvPicPr>
          <p:nvPr/>
        </p:nvPicPr>
        <p:blipFill>
          <a:blip r:embed="rId6"/>
          <a:stretch>
            <a:fillRect/>
          </a:stretch>
        </p:blipFill>
        <p:spPr>
          <a:xfrm>
            <a:off x="11148820" y="1588021"/>
            <a:ext cx="134549" cy="195707"/>
          </a:xfrm>
          <a:prstGeom prst="rect">
            <a:avLst/>
          </a:prstGeom>
        </p:spPr>
      </p:pic>
      <p:sp>
        <p:nvSpPr>
          <p:cNvPr id="25" name="TextBox 24"/>
          <p:cNvSpPr txBox="1"/>
          <p:nvPr/>
        </p:nvSpPr>
        <p:spPr>
          <a:xfrm>
            <a:off x="11323929" y="1598245"/>
            <a:ext cx="295560" cy="194310"/>
          </a:xfrm>
          <a:prstGeom prst="rect">
            <a:avLst/>
          </a:prstGeom>
          <a:noFill/>
        </p:spPr>
        <p:txBody>
          <a:bodyPr wrap="none" lIns="0" rIns="0" tIns="0" bIns="0">
            <a:spAutoFit/>
          </a:bodyPr>
          <a:lstStyle/>
          <a:p>
            <a:r>
              <a:rPr sz="1150" b="0">
                <a:solidFill>
                  <a:srgbClr val="2E2E2E"/>
                </a:solidFill>
                <a:latin typeface="Calibri"/>
              </a:rPr>
              <a:t>X in</a:t>
            </a:r>
          </a:p>
        </p:txBody>
      </p:sp>
      <p:sp>
        <p:nvSpPr>
          <p:cNvPr id="26" name="TextBox 25"/>
          <p:cNvSpPr txBox="1"/>
          <p:nvPr/>
        </p:nvSpPr>
        <p:spPr>
          <a:xfrm>
            <a:off x="6305550" y="1773505"/>
            <a:ext cx="5339705" cy="194310"/>
          </a:xfrm>
          <a:prstGeom prst="rect">
            <a:avLst/>
          </a:prstGeom>
          <a:noFill/>
        </p:spPr>
        <p:txBody>
          <a:bodyPr wrap="none" lIns="0" rIns="0" tIns="0" bIns="0">
            <a:spAutoFit/>
          </a:bodyPr>
          <a:lstStyle/>
          <a:p>
            <a:r>
              <a:rPr sz="1150" b="0">
                <a:solidFill>
                  <a:srgbClr val="2E2E2E"/>
                </a:solidFill>
                <a:latin typeface="Calibri"/>
              </a:rPr>
              <a:t>terms of value as compared to 2026. The masonry and brickwork segment is expected to</a:t>
            </a:r>
          </a:p>
        </p:txBody>
      </p:sp>
      <p:sp>
        <p:nvSpPr>
          <p:cNvPr id="27" name="TextBox 26"/>
          <p:cNvSpPr txBox="1"/>
          <p:nvPr/>
        </p:nvSpPr>
        <p:spPr>
          <a:xfrm>
            <a:off x="6305550" y="1948765"/>
            <a:ext cx="2547069" cy="194310"/>
          </a:xfrm>
          <a:prstGeom prst="rect">
            <a:avLst/>
          </a:prstGeom>
          <a:noFill/>
        </p:spPr>
        <p:txBody>
          <a:bodyPr wrap="none" lIns="0" rIns="0" tIns="0" bIns="0">
            <a:spAutoFit/>
          </a:bodyPr>
          <a:lstStyle/>
          <a:p>
            <a:r>
              <a:rPr sz="1150" b="0">
                <a:solidFill>
                  <a:srgbClr val="2E2E2E"/>
                </a:solidFill>
                <a:latin typeface="Calibri"/>
              </a:rPr>
              <a:t>create an incremental opportunity of US$</a:t>
            </a:r>
          </a:p>
        </p:txBody>
      </p:sp>
      <p:pic>
        <p:nvPicPr>
          <p:cNvPr id="28" name="Picture 27" descr="lock.png"/>
          <p:cNvPicPr>
            <a:picLocks noChangeAspect="1"/>
          </p:cNvPicPr>
          <p:nvPr/>
        </p:nvPicPr>
        <p:blipFill>
          <a:blip r:embed="rId6"/>
          <a:stretch>
            <a:fillRect/>
          </a:stretch>
        </p:blipFill>
        <p:spPr>
          <a:xfrm>
            <a:off x="8801773" y="1938541"/>
            <a:ext cx="134549" cy="195707"/>
          </a:xfrm>
          <a:prstGeom prst="rect">
            <a:avLst/>
          </a:prstGeom>
        </p:spPr>
      </p:pic>
      <p:sp>
        <p:nvSpPr>
          <p:cNvPr id="29" name="TextBox 28"/>
          <p:cNvSpPr txBox="1"/>
          <p:nvPr/>
        </p:nvSpPr>
        <p:spPr>
          <a:xfrm>
            <a:off x="8976882" y="1948765"/>
            <a:ext cx="2844874" cy="194310"/>
          </a:xfrm>
          <a:prstGeom prst="rect">
            <a:avLst/>
          </a:prstGeom>
          <a:noFill/>
        </p:spPr>
        <p:txBody>
          <a:bodyPr wrap="none" lIns="0" rIns="0" tIns="0" bIns="0">
            <a:spAutoFit/>
          </a:bodyPr>
          <a:lstStyle/>
          <a:p>
            <a:r>
              <a:rPr sz="1150" b="0">
                <a:solidFill>
                  <a:srgbClr val="2E2E2E"/>
                </a:solidFill>
                <a:latin typeface="Calibri"/>
              </a:rPr>
              <a:t>Mn for the overall waterproof coatings market</a:t>
            </a:r>
          </a:p>
        </p:txBody>
      </p:sp>
      <p:sp>
        <p:nvSpPr>
          <p:cNvPr id="30" name="TextBox 29"/>
          <p:cNvSpPr txBox="1"/>
          <p:nvPr/>
        </p:nvSpPr>
        <p:spPr>
          <a:xfrm>
            <a:off x="6305550" y="2124025"/>
            <a:ext cx="1220923" cy="194310"/>
          </a:xfrm>
          <a:prstGeom prst="rect">
            <a:avLst/>
          </a:prstGeom>
          <a:noFill/>
        </p:spPr>
        <p:txBody>
          <a:bodyPr wrap="none" lIns="0" rIns="0" tIns="0" bIns="0">
            <a:spAutoFit/>
          </a:bodyPr>
          <a:lstStyle/>
          <a:p>
            <a:r>
              <a:rPr sz="1150" b="0">
                <a:solidFill>
                  <a:srgbClr val="2E2E2E"/>
                </a:solidFill>
                <a:latin typeface="Calibri"/>
              </a:rPr>
              <a:t>from 2026 to 2036.</a:t>
            </a:r>
          </a:p>
        </p:txBody>
      </p:sp>
      <p:sp>
        <p:nvSpPr>
          <p:cNvPr id="31" name="TextBox 30"/>
          <p:cNvSpPr txBox="1"/>
          <p:nvPr/>
        </p:nvSpPr>
        <p:spPr>
          <a:xfrm>
            <a:off x="6305550" y="2351863"/>
            <a:ext cx="5451524" cy="194310"/>
          </a:xfrm>
          <a:prstGeom prst="rect">
            <a:avLst/>
          </a:prstGeom>
          <a:noFill/>
        </p:spPr>
        <p:txBody>
          <a:bodyPr wrap="none" lIns="0" rIns="0" tIns="0" bIns="0">
            <a:spAutoFit/>
          </a:bodyPr>
          <a:lstStyle/>
          <a:p>
            <a:r>
              <a:rPr sz="1150" b="0">
                <a:solidFill>
                  <a:srgbClr val="2E2E2E"/>
                </a:solidFill>
                <a:latin typeface="Calibri"/>
              </a:rPr>
              <a:t>The composite materials segment is expected to create an incremental opportunity of US$</a:t>
            </a:r>
          </a:p>
        </p:txBody>
      </p:sp>
      <p:pic>
        <p:nvPicPr>
          <p:cNvPr id="32" name="Picture 31" descr="lock.png"/>
          <p:cNvPicPr>
            <a:picLocks noChangeAspect="1"/>
          </p:cNvPicPr>
          <p:nvPr/>
        </p:nvPicPr>
        <p:blipFill>
          <a:blip r:embed="rId6"/>
          <a:stretch>
            <a:fillRect/>
          </a:stretch>
        </p:blipFill>
        <p:spPr>
          <a:xfrm>
            <a:off x="6291470" y="2516899"/>
            <a:ext cx="134549" cy="195707"/>
          </a:xfrm>
          <a:prstGeom prst="rect">
            <a:avLst/>
          </a:prstGeom>
        </p:spPr>
      </p:pic>
      <p:sp>
        <p:nvSpPr>
          <p:cNvPr id="33" name="TextBox 32"/>
          <p:cNvSpPr txBox="1"/>
          <p:nvPr/>
        </p:nvSpPr>
        <p:spPr>
          <a:xfrm>
            <a:off x="6466579" y="2527123"/>
            <a:ext cx="5285792" cy="194310"/>
          </a:xfrm>
          <a:prstGeom prst="rect">
            <a:avLst/>
          </a:prstGeom>
          <a:noFill/>
        </p:spPr>
        <p:txBody>
          <a:bodyPr wrap="none" lIns="0" rIns="0" tIns="0" bIns="0">
            <a:spAutoFit/>
          </a:bodyPr>
          <a:lstStyle/>
          <a:p>
            <a:r>
              <a:rPr sz="1150" b="0">
                <a:solidFill>
                  <a:srgbClr val="2E2E2E"/>
                </a:solidFill>
                <a:latin typeface="Calibri"/>
              </a:rPr>
              <a:t>Mn for the overall waterproof coatings market from 2026 to 2036. The other substrates</a:t>
            </a:r>
          </a:p>
        </p:txBody>
      </p:sp>
      <p:sp>
        <p:nvSpPr>
          <p:cNvPr id="34" name="TextBox 33"/>
          <p:cNvSpPr txBox="1"/>
          <p:nvPr/>
        </p:nvSpPr>
        <p:spPr>
          <a:xfrm>
            <a:off x="6305550" y="2702383"/>
            <a:ext cx="3955938" cy="194310"/>
          </a:xfrm>
          <a:prstGeom prst="rect">
            <a:avLst/>
          </a:prstGeom>
          <a:noFill/>
        </p:spPr>
        <p:txBody>
          <a:bodyPr wrap="none" lIns="0" rIns="0" tIns="0" bIns="0">
            <a:spAutoFit/>
          </a:bodyPr>
          <a:lstStyle/>
          <a:p>
            <a:r>
              <a:rPr sz="1150" b="0">
                <a:solidFill>
                  <a:srgbClr val="2E2E2E"/>
                </a:solidFill>
                <a:latin typeface="Calibri"/>
              </a:rPr>
              <a:t>segment is expected to create an incremental opportunity of US$</a:t>
            </a:r>
          </a:p>
        </p:txBody>
      </p:sp>
      <p:pic>
        <p:nvPicPr>
          <p:cNvPr id="35" name="Picture 34" descr="lock.png"/>
          <p:cNvPicPr>
            <a:picLocks noChangeAspect="1"/>
          </p:cNvPicPr>
          <p:nvPr/>
        </p:nvPicPr>
        <p:blipFill>
          <a:blip r:embed="rId6"/>
          <a:stretch>
            <a:fillRect/>
          </a:stretch>
        </p:blipFill>
        <p:spPr>
          <a:xfrm>
            <a:off x="10210642" y="2692159"/>
            <a:ext cx="134549" cy="195707"/>
          </a:xfrm>
          <a:prstGeom prst="rect">
            <a:avLst/>
          </a:prstGeom>
        </p:spPr>
      </p:pic>
      <p:sp>
        <p:nvSpPr>
          <p:cNvPr id="36" name="TextBox 35"/>
          <p:cNvSpPr txBox="1"/>
          <p:nvPr/>
        </p:nvSpPr>
        <p:spPr>
          <a:xfrm>
            <a:off x="10385751" y="2702383"/>
            <a:ext cx="1152177" cy="194310"/>
          </a:xfrm>
          <a:prstGeom prst="rect">
            <a:avLst/>
          </a:prstGeom>
          <a:noFill/>
        </p:spPr>
        <p:txBody>
          <a:bodyPr wrap="none" lIns="0" rIns="0" tIns="0" bIns="0">
            <a:spAutoFit/>
          </a:bodyPr>
          <a:lstStyle/>
          <a:p>
            <a:r>
              <a:rPr sz="1150" b="0">
                <a:solidFill>
                  <a:srgbClr val="2E2E2E"/>
                </a:solidFill>
                <a:latin typeface="Calibri"/>
              </a:rPr>
              <a:t>Mn for the overall</a:t>
            </a:r>
          </a:p>
        </p:txBody>
      </p:sp>
      <p:sp>
        <p:nvSpPr>
          <p:cNvPr id="37" name="TextBox 36"/>
          <p:cNvSpPr txBox="1"/>
          <p:nvPr/>
        </p:nvSpPr>
        <p:spPr>
          <a:xfrm>
            <a:off x="6305550" y="2877643"/>
            <a:ext cx="2913620" cy="194310"/>
          </a:xfrm>
          <a:prstGeom prst="rect">
            <a:avLst/>
          </a:prstGeom>
          <a:noFill/>
        </p:spPr>
        <p:txBody>
          <a:bodyPr wrap="none" lIns="0" rIns="0" tIns="0" bIns="0">
            <a:spAutoFit/>
          </a:bodyPr>
          <a:lstStyle/>
          <a:p>
            <a:r>
              <a:rPr sz="1150" b="0">
                <a:solidFill>
                  <a:srgbClr val="2E2E2E"/>
                </a:solidFill>
                <a:latin typeface="Calibri"/>
              </a:rPr>
              <a:t>waterproof coatings market from 2026 to 2036.</a:t>
            </a:r>
          </a:p>
        </p:txBody>
      </p:sp>
      <p:sp>
        <p:nvSpPr>
          <p:cNvPr id="38"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Substrate Material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Substrate Material, 2021–2036, highlighting the sub-segments driving growth</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Substrate Material (US$ Mn)</a:t>
            </a:r>
          </a:p>
        </p:txBody>
      </p:sp>
      <p:graphicFrame>
        <p:nvGraphicFramePr>
          <p:cNvPr id="12" name="Table 11"/>
          <p:cNvGraphicFramePr>
            <a:graphicFrameLocks noGrp="1"/>
          </p:cNvGraphicFramePr>
          <p:nvPr/>
        </p:nvGraphicFramePr>
        <p:xfrm>
          <a:off x="152400" y="1238250"/>
          <a:ext cx="11887204" cy="1971675"/>
        </p:xfrm>
        <a:graphic>
          <a:graphicData uri="http://schemas.openxmlformats.org/drawingml/2006/table">
            <a:tbl>
              <a:tblPr>
                <a:tableStyleId>{5C22544A-7EE6-4342-B048-85BDC9FD1C3A}</a:tableStyleId>
              </a:tblPr>
              <a:tblGrid>
                <a:gridCol w="2320556"/>
                <a:gridCol w="562744"/>
                <a:gridCol w="562744"/>
                <a:gridCol w="562744"/>
                <a:gridCol w="562744"/>
                <a:gridCol w="562744"/>
                <a:gridCol w="562744"/>
                <a:gridCol w="562744"/>
                <a:gridCol w="562744"/>
                <a:gridCol w="562744"/>
                <a:gridCol w="562744"/>
                <a:gridCol w="562744"/>
                <a:gridCol w="562744"/>
                <a:gridCol w="562744"/>
                <a:gridCol w="562744"/>
                <a:gridCol w="562744"/>
                <a:gridCol w="562744"/>
                <a:gridCol w="562744"/>
              </a:tblGrid>
              <a:tr h="246126">
                <a:tc>
                  <a:txBody>
                    <a:bodyPr wrap="none"/>
                    <a:lstStyle/>
                    <a:p>
                      <a:pPr algn="l"/>
                      <a:r>
                        <a:rPr sz="1100" b="1">
                          <a:solidFill>
                            <a:srgbClr val="0B2E4A"/>
                          </a:solidFill>
                          <a:latin typeface="Calibri"/>
                        </a:rPr>
                        <a:t>Substrate Material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Concrete and Cementitious Surfaces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Metal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Wood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Masonry and Brickwork</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Composite Materials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Other Substrates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Substrate Material</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069589" y="2080450"/>
            <a:ext cx="366712" cy="533399"/>
          </a:xfrm>
          <a:prstGeom prst="rect">
            <a:avLst/>
          </a:prstGeom>
        </p:spPr>
      </p:pic>
      <p:sp>
        <p:nvSpPr>
          <p:cNvPr id="20" name="TextBox 19"/>
          <p:cNvSpPr txBox="1"/>
          <p:nvPr/>
        </p:nvSpPr>
        <p:spPr>
          <a:xfrm>
            <a:off x="276225" y="3971925"/>
            <a:ext cx="3402545" cy="194310"/>
          </a:xfrm>
          <a:prstGeom prst="rect">
            <a:avLst/>
          </a:prstGeom>
          <a:noFill/>
        </p:spPr>
        <p:txBody>
          <a:bodyPr wrap="none" lIns="0" rIns="0" tIns="0" bIns="0">
            <a:spAutoFit/>
          </a:bodyPr>
          <a:lstStyle/>
          <a:p>
            <a:r>
              <a:rPr sz="1150" b="0">
                <a:solidFill>
                  <a:srgbClr val="2E2E2E"/>
                </a:solidFill>
                <a:latin typeface="Calibri"/>
              </a:rPr>
              <a:t>Masonry and brickwork segment is projected to register</a:t>
            </a:r>
          </a:p>
        </p:txBody>
      </p:sp>
      <p:pic>
        <p:nvPicPr>
          <p:cNvPr id="21" name="Picture 20" descr="lock.png"/>
          <p:cNvPicPr>
            <a:picLocks noChangeAspect="1"/>
          </p:cNvPicPr>
          <p:nvPr/>
        </p:nvPicPr>
        <p:blipFill>
          <a:blip r:embed="rId4"/>
          <a:stretch>
            <a:fillRect/>
          </a:stretch>
        </p:blipFill>
        <p:spPr>
          <a:xfrm>
            <a:off x="3627924" y="3961701"/>
            <a:ext cx="134549" cy="195707"/>
          </a:xfrm>
          <a:prstGeom prst="rect">
            <a:avLst/>
          </a:prstGeom>
        </p:spPr>
      </p:pic>
      <p:sp>
        <p:nvSpPr>
          <p:cNvPr id="22" name="TextBox 21"/>
          <p:cNvSpPr txBox="1"/>
          <p:nvPr/>
        </p:nvSpPr>
        <p:spPr>
          <a:xfrm>
            <a:off x="3803034" y="3971925"/>
            <a:ext cx="7739546" cy="194310"/>
          </a:xfrm>
          <a:prstGeom prst="rect">
            <a:avLst/>
          </a:prstGeom>
          <a:noFill/>
        </p:spPr>
        <p:txBody>
          <a:bodyPr wrap="none" lIns="0" rIns="0" tIns="0" bIns="0">
            <a:spAutoFit/>
          </a:bodyPr>
          <a:lstStyle/>
          <a:p>
            <a:r>
              <a:rPr sz="1150" b="0">
                <a:solidFill>
                  <a:srgbClr val="2E2E2E"/>
                </a:solidFill>
                <a:latin typeface="Calibri"/>
              </a:rPr>
              <a:t>X higher value than other substrates segment in 2036. Among waterproof coatings by substrate material, masonry and brickwork</a:t>
            </a:r>
          </a:p>
        </p:txBody>
      </p:sp>
      <p:sp>
        <p:nvSpPr>
          <p:cNvPr id="23" name="TextBox 22"/>
          <p:cNvSpPr txBox="1"/>
          <p:nvPr/>
        </p:nvSpPr>
        <p:spPr>
          <a:xfrm>
            <a:off x="276225" y="414718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24" name="Picture 23" descr="lock.png"/>
          <p:cNvPicPr>
            <a:picLocks noChangeAspect="1"/>
          </p:cNvPicPr>
          <p:nvPr/>
        </p:nvPicPr>
        <p:blipFill>
          <a:blip r:embed="rId4"/>
          <a:stretch>
            <a:fillRect/>
          </a:stretch>
        </p:blipFill>
        <p:spPr>
          <a:xfrm>
            <a:off x="3382018" y="4136961"/>
            <a:ext cx="134549" cy="195707"/>
          </a:xfrm>
          <a:prstGeom prst="rect">
            <a:avLst/>
          </a:prstGeom>
        </p:spPr>
      </p:pic>
      <p:sp>
        <p:nvSpPr>
          <p:cNvPr id="25" name="TextBox 24"/>
          <p:cNvSpPr txBox="1"/>
          <p:nvPr/>
        </p:nvSpPr>
        <p:spPr>
          <a:xfrm>
            <a:off x="3557127"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375022"/>
            <a:ext cx="7631720" cy="194310"/>
          </a:xfrm>
          <a:prstGeom prst="rect">
            <a:avLst/>
          </a:prstGeom>
          <a:noFill/>
        </p:spPr>
        <p:txBody>
          <a:bodyPr wrap="none" lIns="0" rIns="0" tIns="0" bIns="0">
            <a:spAutoFit/>
          </a:bodyPr>
          <a:lstStyle/>
          <a:p>
            <a:r>
              <a:rPr sz="1150" b="0">
                <a:solidFill>
                  <a:srgbClr val="2E2E2E"/>
                </a:solidFill>
                <a:latin typeface="Calibri"/>
              </a:rPr>
              <a:t>In terms of value share by substrate material, the masonry and brickwork segment is expected to dominate the market, gaining</a:t>
            </a:r>
          </a:p>
        </p:txBody>
      </p:sp>
      <p:pic>
        <p:nvPicPr>
          <p:cNvPr id="27" name="Picture 26" descr="lock.png"/>
          <p:cNvPicPr>
            <a:picLocks noChangeAspect="1"/>
          </p:cNvPicPr>
          <p:nvPr/>
        </p:nvPicPr>
        <p:blipFill>
          <a:blip r:embed="rId4"/>
          <a:stretch>
            <a:fillRect/>
          </a:stretch>
        </p:blipFill>
        <p:spPr>
          <a:xfrm>
            <a:off x="7857099" y="4364799"/>
            <a:ext cx="134549" cy="195707"/>
          </a:xfrm>
          <a:prstGeom prst="rect">
            <a:avLst/>
          </a:prstGeom>
        </p:spPr>
      </p:pic>
      <p:sp>
        <p:nvSpPr>
          <p:cNvPr id="28" name="TextBox 27"/>
          <p:cNvSpPr txBox="1"/>
          <p:nvPr/>
        </p:nvSpPr>
        <p:spPr>
          <a:xfrm>
            <a:off x="8032208"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9427351" y="4364799"/>
            <a:ext cx="134549" cy="195707"/>
          </a:xfrm>
          <a:prstGeom prst="rect">
            <a:avLst/>
          </a:prstGeom>
        </p:spPr>
      </p:pic>
      <p:sp>
        <p:nvSpPr>
          <p:cNvPr id="30" name="TextBox 29"/>
          <p:cNvSpPr txBox="1"/>
          <p:nvPr/>
        </p:nvSpPr>
        <p:spPr>
          <a:xfrm>
            <a:off x="9602460" y="4375022"/>
            <a:ext cx="1559805" cy="194310"/>
          </a:xfrm>
          <a:prstGeom prst="rect">
            <a:avLst/>
          </a:prstGeom>
          <a:noFill/>
        </p:spPr>
        <p:txBody>
          <a:bodyPr wrap="none" lIns="0" rIns="0" tIns="0" bIns="0">
            <a:spAutoFit/>
          </a:bodyPr>
          <a:lstStyle/>
          <a:p>
            <a:r>
              <a:rPr sz="1150" b="0">
                <a:solidFill>
                  <a:srgbClr val="2E2E2E"/>
                </a:solidFill>
                <a:latin typeface="Calibri"/>
              </a:rPr>
              <a:t>share by 2036. The other</a:t>
            </a:r>
          </a:p>
        </p:txBody>
      </p:sp>
      <p:sp>
        <p:nvSpPr>
          <p:cNvPr id="31" name="TextBox 30"/>
          <p:cNvSpPr txBox="1"/>
          <p:nvPr/>
        </p:nvSpPr>
        <p:spPr>
          <a:xfrm>
            <a:off x="276225" y="4550282"/>
            <a:ext cx="2375061" cy="194310"/>
          </a:xfrm>
          <a:prstGeom prst="rect">
            <a:avLst/>
          </a:prstGeom>
          <a:noFill/>
        </p:spPr>
        <p:txBody>
          <a:bodyPr wrap="none" lIns="0" rIns="0" tIns="0" bIns="0">
            <a:spAutoFit/>
          </a:bodyPr>
          <a:lstStyle/>
          <a:p>
            <a:r>
              <a:rPr sz="1150" b="0">
                <a:solidFill>
                  <a:srgbClr val="2E2E2E"/>
                </a:solidFill>
                <a:latin typeface="Calibri"/>
              </a:rPr>
              <a:t>substrates segment is expected to lose</a:t>
            </a:r>
          </a:p>
        </p:txBody>
      </p:sp>
      <p:pic>
        <p:nvPicPr>
          <p:cNvPr id="32" name="Picture 31" descr="lock.png"/>
          <p:cNvPicPr>
            <a:picLocks noChangeAspect="1"/>
          </p:cNvPicPr>
          <p:nvPr/>
        </p:nvPicPr>
        <p:blipFill>
          <a:blip r:embed="rId4"/>
          <a:stretch>
            <a:fillRect/>
          </a:stretch>
        </p:blipFill>
        <p:spPr>
          <a:xfrm>
            <a:off x="2600440" y="4540059"/>
            <a:ext cx="134549" cy="195707"/>
          </a:xfrm>
          <a:prstGeom prst="rect">
            <a:avLst/>
          </a:prstGeom>
        </p:spPr>
      </p:pic>
      <p:sp>
        <p:nvSpPr>
          <p:cNvPr id="33" name="TextBox 32"/>
          <p:cNvSpPr txBox="1"/>
          <p:nvPr/>
        </p:nvSpPr>
        <p:spPr>
          <a:xfrm>
            <a:off x="2775549" y="455028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5363053" y="4540059"/>
            <a:ext cx="134549" cy="195707"/>
          </a:xfrm>
          <a:prstGeom prst="rect">
            <a:avLst/>
          </a:prstGeom>
        </p:spPr>
      </p:pic>
      <p:sp>
        <p:nvSpPr>
          <p:cNvPr id="35" name="TextBox 34"/>
          <p:cNvSpPr txBox="1"/>
          <p:nvPr/>
        </p:nvSpPr>
        <p:spPr>
          <a:xfrm>
            <a:off x="5538163" y="45502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Substrate Material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Substrate Material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Substrate Material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746227"/>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74146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66526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Concrete and Cementitious Surfaces</a:t>
            </a:r>
          </a:p>
        </p:txBody>
      </p:sp>
      <p:sp>
        <p:nvSpPr>
          <p:cNvPr id="18" name="BPS Value 1"/>
          <p:cNvSpPr txBox="1"/>
          <p:nvPr/>
        </p:nvSpPr>
        <p:spPr>
          <a:xfrm>
            <a:off x="6896100" y="172717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1913888"/>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190912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183292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Metal</a:t>
            </a:r>
          </a:p>
        </p:txBody>
      </p:sp>
      <p:sp>
        <p:nvSpPr>
          <p:cNvPr id="22" name="BPS Value 2"/>
          <p:cNvSpPr txBox="1"/>
          <p:nvPr/>
        </p:nvSpPr>
        <p:spPr>
          <a:xfrm>
            <a:off x="6896100" y="189483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2373624"/>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236886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29266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Wood</a:t>
            </a:r>
          </a:p>
        </p:txBody>
      </p:sp>
      <p:sp>
        <p:nvSpPr>
          <p:cNvPr id="26" name="BPS Value 3"/>
          <p:cNvSpPr txBox="1"/>
          <p:nvPr/>
        </p:nvSpPr>
        <p:spPr>
          <a:xfrm>
            <a:off x="6896100" y="235457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928997" y="3286968"/>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5090922" y="328220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320600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Composite Materials</a:t>
            </a:r>
          </a:p>
        </p:txBody>
      </p:sp>
      <p:sp>
        <p:nvSpPr>
          <p:cNvPr id="30" name="BPS Value 4"/>
          <p:cNvSpPr txBox="1"/>
          <p:nvPr/>
        </p:nvSpPr>
        <p:spPr>
          <a:xfrm>
            <a:off x="6896100" y="326791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928997" y="4422743"/>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rot="10800000">
            <a:off x="5090922" y="441798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434178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Substrates</a:t>
            </a:r>
          </a:p>
        </p:txBody>
      </p:sp>
      <p:sp>
        <p:nvSpPr>
          <p:cNvPr id="34" name="BPS Value 5"/>
          <p:cNvSpPr txBox="1"/>
          <p:nvPr/>
        </p:nvSpPr>
        <p:spPr>
          <a:xfrm>
            <a:off x="6896100" y="440369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5" name="FMI Legend Chip"/>
          <p:cNvSpPr/>
          <p:nvPr/>
        </p:nvSpPr>
        <p:spPr>
          <a:xfrm>
            <a:off x="4928997" y="5627929"/>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5090922" y="562316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5233797" y="554696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Masonry and Brickwork</a:t>
            </a:r>
          </a:p>
        </p:txBody>
      </p:sp>
      <p:sp>
        <p:nvSpPr>
          <p:cNvPr id="38" name="BPS Value 6"/>
          <p:cNvSpPr txBox="1"/>
          <p:nvPr/>
        </p:nvSpPr>
        <p:spPr>
          <a:xfrm>
            <a:off x="6896100" y="560887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Rounded Rectangle 38"/>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Substrate Material</a:t>
            </a:r>
          </a:p>
        </p:txBody>
      </p:sp>
      <p:sp>
        <p:nvSpPr>
          <p:cNvPr id="41" name="Rectangle 40"/>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3" name="TextBox 4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4" name="Picture 43" descr="lock.png"/>
          <p:cNvPicPr>
            <a:picLocks noChangeAspect="1"/>
          </p:cNvPicPr>
          <p:nvPr/>
        </p:nvPicPr>
        <p:blipFill>
          <a:blip r:embed="rId5"/>
          <a:stretch>
            <a:fillRect/>
          </a:stretch>
        </p:blipFill>
        <p:spPr>
          <a:xfrm>
            <a:off x="2557843" y="3833622"/>
            <a:ext cx="275034" cy="400050"/>
          </a:xfrm>
          <a:prstGeom prst="rect">
            <a:avLst/>
          </a:prstGeom>
        </p:spPr>
      </p:pic>
      <p:sp>
        <p:nvSpPr>
          <p:cNvPr id="45" name="TextBox 44"/>
          <p:cNvSpPr txBox="1"/>
          <p:nvPr/>
        </p:nvSpPr>
        <p:spPr>
          <a:xfrm>
            <a:off x="7829550" y="1400175"/>
            <a:ext cx="3872358" cy="194310"/>
          </a:xfrm>
          <a:prstGeom prst="rect">
            <a:avLst/>
          </a:prstGeom>
          <a:noFill/>
        </p:spPr>
        <p:txBody>
          <a:bodyPr wrap="none" lIns="0" rIns="0" tIns="0" bIns="0">
            <a:spAutoFit/>
          </a:bodyPr>
          <a:lstStyle/>
          <a:p>
            <a:r>
              <a:rPr sz="1150" b="0">
                <a:solidFill>
                  <a:srgbClr val="2E2E2E"/>
                </a:solidFill>
                <a:latin typeface="Calibri"/>
              </a:rPr>
              <a:t>Among waterproof coatings by substrate material, masonry and</a:t>
            </a:r>
          </a:p>
        </p:txBody>
      </p:sp>
      <p:sp>
        <p:nvSpPr>
          <p:cNvPr id="46" name="TextBox 45"/>
          <p:cNvSpPr txBox="1"/>
          <p:nvPr/>
        </p:nvSpPr>
        <p:spPr>
          <a:xfrm>
            <a:off x="7829550" y="1575435"/>
            <a:ext cx="3778492" cy="194310"/>
          </a:xfrm>
          <a:prstGeom prst="rect">
            <a:avLst/>
          </a:prstGeom>
          <a:noFill/>
        </p:spPr>
        <p:txBody>
          <a:bodyPr wrap="none" lIns="0" rIns="0" tIns="0" bIns="0">
            <a:spAutoFit/>
          </a:bodyPr>
          <a:lstStyle/>
          <a:p>
            <a:r>
              <a:rPr sz="1150" b="0">
                <a:solidFill>
                  <a:srgbClr val="2E2E2E"/>
                </a:solidFill>
                <a:latin typeface="Calibri"/>
              </a:rPr>
              <a:t>brickwork segment is expected to witness the highest CAGR of</a:t>
            </a:r>
          </a:p>
        </p:txBody>
      </p:sp>
      <p:pic>
        <p:nvPicPr>
          <p:cNvPr id="47" name="Picture 46" descr="lock.png"/>
          <p:cNvPicPr>
            <a:picLocks noChangeAspect="1"/>
          </p:cNvPicPr>
          <p:nvPr/>
        </p:nvPicPr>
        <p:blipFill>
          <a:blip r:embed="rId5"/>
          <a:stretch>
            <a:fillRect/>
          </a:stretch>
        </p:blipFill>
        <p:spPr>
          <a:xfrm>
            <a:off x="11557196" y="1565211"/>
            <a:ext cx="134549" cy="195707"/>
          </a:xfrm>
          <a:prstGeom prst="rect">
            <a:avLst/>
          </a:prstGeom>
        </p:spPr>
      </p:pic>
      <p:sp>
        <p:nvSpPr>
          <p:cNvPr id="48" name="TextBox 47"/>
          <p:cNvSpPr txBox="1"/>
          <p:nvPr/>
        </p:nvSpPr>
        <p:spPr>
          <a:xfrm>
            <a:off x="7829550" y="1750695"/>
            <a:ext cx="3710620"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substrate</a:t>
            </a:r>
          </a:p>
        </p:txBody>
      </p:sp>
      <p:sp>
        <p:nvSpPr>
          <p:cNvPr id="49" name="TextBox 48"/>
          <p:cNvSpPr txBox="1"/>
          <p:nvPr/>
        </p:nvSpPr>
        <p:spPr>
          <a:xfrm>
            <a:off x="7829550" y="1925955"/>
            <a:ext cx="3675819" cy="194310"/>
          </a:xfrm>
          <a:prstGeom prst="rect">
            <a:avLst/>
          </a:prstGeom>
          <a:noFill/>
        </p:spPr>
        <p:txBody>
          <a:bodyPr wrap="none" lIns="0" rIns="0" tIns="0" bIns="0">
            <a:spAutoFit/>
          </a:bodyPr>
          <a:lstStyle/>
          <a:p>
            <a:r>
              <a:rPr sz="1150" b="0">
                <a:solidFill>
                  <a:srgbClr val="2E2E2E"/>
                </a:solidFill>
                <a:latin typeface="Calibri"/>
              </a:rPr>
              <a:t>material, the masonry and brickwork segment is expected to</a:t>
            </a:r>
          </a:p>
        </p:txBody>
      </p:sp>
      <p:sp>
        <p:nvSpPr>
          <p:cNvPr id="50" name="TextBox 49"/>
          <p:cNvSpPr txBox="1"/>
          <p:nvPr/>
        </p:nvSpPr>
        <p:spPr>
          <a:xfrm>
            <a:off x="7829550" y="2101215"/>
            <a:ext cx="1837072" cy="194310"/>
          </a:xfrm>
          <a:prstGeom prst="rect">
            <a:avLst/>
          </a:prstGeom>
          <a:noFill/>
        </p:spPr>
        <p:txBody>
          <a:bodyPr wrap="none" lIns="0" rIns="0" tIns="0" bIns="0">
            <a:spAutoFit/>
          </a:bodyPr>
          <a:lstStyle/>
          <a:p>
            <a:r>
              <a:rPr sz="1150" b="0">
                <a:solidFill>
                  <a:srgbClr val="2E2E2E"/>
                </a:solidFill>
                <a:latin typeface="Calibri"/>
              </a:rPr>
              <a:t>dominate the market, gaining</a:t>
            </a:r>
          </a:p>
        </p:txBody>
      </p:sp>
      <p:pic>
        <p:nvPicPr>
          <p:cNvPr id="51" name="Picture 50" descr="lock.png"/>
          <p:cNvPicPr>
            <a:picLocks noChangeAspect="1"/>
          </p:cNvPicPr>
          <p:nvPr/>
        </p:nvPicPr>
        <p:blipFill>
          <a:blip r:embed="rId5"/>
          <a:stretch>
            <a:fillRect/>
          </a:stretch>
        </p:blipFill>
        <p:spPr>
          <a:xfrm>
            <a:off x="9615776" y="2090991"/>
            <a:ext cx="134549" cy="195707"/>
          </a:xfrm>
          <a:prstGeom prst="rect">
            <a:avLst/>
          </a:prstGeom>
        </p:spPr>
      </p:pic>
      <p:sp>
        <p:nvSpPr>
          <p:cNvPr id="52" name="TextBox 51"/>
          <p:cNvSpPr txBox="1"/>
          <p:nvPr/>
        </p:nvSpPr>
        <p:spPr>
          <a:xfrm>
            <a:off x="9790885"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3" name="Picture 52" descr="lock.png"/>
          <p:cNvPicPr>
            <a:picLocks noChangeAspect="1"/>
          </p:cNvPicPr>
          <p:nvPr/>
        </p:nvPicPr>
        <p:blipFill>
          <a:blip r:embed="rId5"/>
          <a:stretch>
            <a:fillRect/>
          </a:stretch>
        </p:blipFill>
        <p:spPr>
          <a:xfrm>
            <a:off x="11186028" y="2090991"/>
            <a:ext cx="134549" cy="195707"/>
          </a:xfrm>
          <a:prstGeom prst="rect">
            <a:avLst/>
          </a:prstGeom>
        </p:spPr>
      </p:pic>
      <p:sp>
        <p:nvSpPr>
          <p:cNvPr id="54" name="TextBox 53"/>
          <p:cNvSpPr txBox="1"/>
          <p:nvPr/>
        </p:nvSpPr>
        <p:spPr>
          <a:xfrm>
            <a:off x="7829550" y="227647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5" name="TextBox 54"/>
          <p:cNvSpPr txBox="1"/>
          <p:nvPr/>
        </p:nvSpPr>
        <p:spPr>
          <a:xfrm>
            <a:off x="7829550" y="2504313"/>
            <a:ext cx="2988642" cy="194310"/>
          </a:xfrm>
          <a:prstGeom prst="rect">
            <a:avLst/>
          </a:prstGeom>
          <a:noFill/>
        </p:spPr>
        <p:txBody>
          <a:bodyPr wrap="none" lIns="0" rIns="0" tIns="0" bIns="0">
            <a:spAutoFit/>
          </a:bodyPr>
          <a:lstStyle/>
          <a:p>
            <a:r>
              <a:rPr sz="1150" b="0">
                <a:solidFill>
                  <a:srgbClr val="2E2E2E"/>
                </a:solidFill>
                <a:latin typeface="Calibri"/>
              </a:rPr>
              <a:t>The other substrates segment is expected to lose</a:t>
            </a:r>
          </a:p>
        </p:txBody>
      </p:sp>
      <p:pic>
        <p:nvPicPr>
          <p:cNvPr id="56" name="Picture 55" descr="lock.png"/>
          <p:cNvPicPr>
            <a:picLocks noChangeAspect="1"/>
          </p:cNvPicPr>
          <p:nvPr/>
        </p:nvPicPr>
        <p:blipFill>
          <a:blip r:embed="rId5"/>
          <a:stretch>
            <a:fillRect/>
          </a:stretch>
        </p:blipFill>
        <p:spPr>
          <a:xfrm>
            <a:off x="10767346" y="2494089"/>
            <a:ext cx="134549" cy="195707"/>
          </a:xfrm>
          <a:prstGeom prst="rect">
            <a:avLst/>
          </a:prstGeom>
        </p:spPr>
      </p:pic>
      <p:sp>
        <p:nvSpPr>
          <p:cNvPr id="57" name="TextBox 56"/>
          <p:cNvSpPr txBox="1"/>
          <p:nvPr/>
        </p:nvSpPr>
        <p:spPr>
          <a:xfrm>
            <a:off x="10942455" y="250431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58" name="TextBox 57"/>
          <p:cNvSpPr txBox="1"/>
          <p:nvPr/>
        </p:nvSpPr>
        <p:spPr>
          <a:xfrm>
            <a:off x="7829550" y="267957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59" name="Picture 58" descr="lock.png"/>
          <p:cNvPicPr>
            <a:picLocks noChangeAspect="1"/>
          </p:cNvPicPr>
          <p:nvPr/>
        </p:nvPicPr>
        <p:blipFill>
          <a:blip r:embed="rId5"/>
          <a:stretch>
            <a:fillRect/>
          </a:stretch>
        </p:blipFill>
        <p:spPr>
          <a:xfrm>
            <a:off x="9630324" y="2669349"/>
            <a:ext cx="134549" cy="195707"/>
          </a:xfrm>
          <a:prstGeom prst="rect">
            <a:avLst/>
          </a:prstGeom>
        </p:spPr>
      </p:pic>
      <p:sp>
        <p:nvSpPr>
          <p:cNvPr id="60" name="TextBox 59"/>
          <p:cNvSpPr txBox="1"/>
          <p:nvPr/>
        </p:nvSpPr>
        <p:spPr>
          <a:xfrm>
            <a:off x="9805433"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1"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Distribution Channel</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Distribution Channel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Distribution Channel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5 sub-segments of Distribution Channel,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Distribution Channel segment categorizes the market by distribution channel.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90881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90881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Online Sales</a:t>
            </a:r>
          </a:p>
        </p:txBody>
      </p:sp>
      <p:sp>
        <p:nvSpPr>
          <p:cNvPr id="22" name="Rectangle 21"/>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65938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890010" y="1773916"/>
            <a:ext cx="190881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890010" y="1992961"/>
            <a:ext cx="190881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Channels</a:t>
            </a:r>
          </a:p>
        </p:txBody>
      </p:sp>
      <p:sp>
        <p:nvSpPr>
          <p:cNvPr id="29" name="Rectangle 28"/>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68249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913120" y="1773916"/>
            <a:ext cx="190881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913120" y="1992961"/>
            <a:ext cx="190881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Retail and Hardware Stores</a:t>
            </a:r>
          </a:p>
        </p:txBody>
      </p:sp>
      <p:sp>
        <p:nvSpPr>
          <p:cNvPr id="36" name="Rectangle 35"/>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670560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7936230" y="1773916"/>
            <a:ext cx="1908810"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936230" y="1992961"/>
            <a:ext cx="1908810"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Distributors and Wholesalers</a:t>
            </a:r>
          </a:p>
        </p:txBody>
      </p:sp>
      <p:sp>
        <p:nvSpPr>
          <p:cNvPr id="43" name="Rectangle 42"/>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872871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9959340" y="1773916"/>
            <a:ext cx="1908810"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959340" y="1992961"/>
            <a:ext cx="1908810"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Direct Sales</a:t>
            </a:r>
          </a:p>
        </p:txBody>
      </p:sp>
      <p:sp>
        <p:nvSpPr>
          <p:cNvPr id="50" name="Rectangle 49"/>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10751820"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6" name="Rectangle 55"/>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8" name="Rounded Rectangle 57"/>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0" name="Rectangle 59"/>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p:txBody>
      </p:sp>
      <p:sp>
        <p:nvSpPr>
          <p:cNvPr id="62" name="Rounded Rectangle 61"/>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4" name="Rectangle 63"/>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Distribution Channel split shows how demand is distributed across distribution channel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66" name="Rectangle 65"/>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8" name="TextBox 67"/>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9" name="TextBox 6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0" name="Picture 69" descr="1_180_605E5C.png"/>
          <p:cNvPicPr>
            <a:picLocks noChangeAspect="1"/>
          </p:cNvPicPr>
          <p:nvPr/>
        </p:nvPicPr>
        <p:blipFill>
          <a:blip r:embed="rId4"/>
          <a:stretch>
            <a:fillRect/>
          </a:stretch>
        </p:blipFill>
        <p:spPr>
          <a:xfrm>
            <a:off x="2223441" y="2286582"/>
            <a:ext cx="1195728" cy="361950"/>
          </a:xfrm>
          <a:prstGeom prst="rect">
            <a:avLst/>
          </a:prstGeom>
        </p:spPr>
      </p:pic>
      <p:pic>
        <p:nvPicPr>
          <p:cNvPr id="71" name="Picture 70" descr="1_565_605E5C.png"/>
          <p:cNvPicPr>
            <a:picLocks noChangeAspect="1"/>
          </p:cNvPicPr>
          <p:nvPr/>
        </p:nvPicPr>
        <p:blipFill>
          <a:blip r:embed="rId5"/>
          <a:stretch>
            <a:fillRect/>
          </a:stretch>
        </p:blipFill>
        <p:spPr>
          <a:xfrm>
            <a:off x="2223441" y="2779432"/>
            <a:ext cx="1195728" cy="361950"/>
          </a:xfrm>
          <a:prstGeom prst="rect">
            <a:avLst/>
          </a:prstGeom>
        </p:spPr>
      </p:pic>
      <p:pic>
        <p:nvPicPr>
          <p:cNvPr id="72" name="Picture 71" descr="2_9__605E5C.png"/>
          <p:cNvPicPr>
            <a:picLocks noChangeAspect="1"/>
          </p:cNvPicPr>
          <p:nvPr/>
        </p:nvPicPr>
        <p:blipFill>
          <a:blip r:embed="rId6"/>
          <a:stretch>
            <a:fillRect/>
          </a:stretch>
        </p:blipFill>
        <p:spPr>
          <a:xfrm>
            <a:off x="2330087" y="3272281"/>
            <a:ext cx="982436" cy="361950"/>
          </a:xfrm>
          <a:prstGeom prst="rect">
            <a:avLst/>
          </a:prstGeom>
        </p:spPr>
      </p:pic>
      <p:pic>
        <p:nvPicPr>
          <p:cNvPr id="73" name="Picture 72" descr="1_146_605E5C.png"/>
          <p:cNvPicPr>
            <a:picLocks noChangeAspect="1"/>
          </p:cNvPicPr>
          <p:nvPr/>
        </p:nvPicPr>
        <p:blipFill>
          <a:blip r:embed="rId7"/>
          <a:stretch>
            <a:fillRect/>
          </a:stretch>
        </p:blipFill>
        <p:spPr>
          <a:xfrm>
            <a:off x="4246551" y="2286582"/>
            <a:ext cx="1195728" cy="361950"/>
          </a:xfrm>
          <a:prstGeom prst="rect">
            <a:avLst/>
          </a:prstGeom>
        </p:spPr>
      </p:pic>
      <p:pic>
        <p:nvPicPr>
          <p:cNvPr id="74" name="Picture 73" descr="1_750_605E5C.png"/>
          <p:cNvPicPr>
            <a:picLocks noChangeAspect="1"/>
          </p:cNvPicPr>
          <p:nvPr/>
        </p:nvPicPr>
        <p:blipFill>
          <a:blip r:embed="rId8"/>
          <a:stretch>
            <a:fillRect/>
          </a:stretch>
        </p:blipFill>
        <p:spPr>
          <a:xfrm>
            <a:off x="4246551" y="2779432"/>
            <a:ext cx="1195728" cy="361950"/>
          </a:xfrm>
          <a:prstGeom prst="rect">
            <a:avLst/>
          </a:prstGeom>
        </p:spPr>
      </p:pic>
      <p:pic>
        <p:nvPicPr>
          <p:cNvPr id="75" name="Picture 74" descr="4_3__605E5C.png"/>
          <p:cNvPicPr>
            <a:picLocks noChangeAspect="1"/>
          </p:cNvPicPr>
          <p:nvPr/>
        </p:nvPicPr>
        <p:blipFill>
          <a:blip r:embed="rId9"/>
          <a:stretch>
            <a:fillRect/>
          </a:stretch>
        </p:blipFill>
        <p:spPr>
          <a:xfrm>
            <a:off x="4353197" y="3272281"/>
            <a:ext cx="982436" cy="361950"/>
          </a:xfrm>
          <a:prstGeom prst="rect">
            <a:avLst/>
          </a:prstGeom>
        </p:spPr>
      </p:pic>
      <p:pic>
        <p:nvPicPr>
          <p:cNvPr id="76" name="Picture 75" descr="690_9_605E5C.png"/>
          <p:cNvPicPr>
            <a:picLocks noChangeAspect="1"/>
          </p:cNvPicPr>
          <p:nvPr/>
        </p:nvPicPr>
        <p:blipFill>
          <a:blip r:embed="rId10"/>
          <a:stretch>
            <a:fillRect/>
          </a:stretch>
        </p:blipFill>
        <p:spPr>
          <a:xfrm>
            <a:off x="6269661" y="2286582"/>
            <a:ext cx="1195728" cy="361950"/>
          </a:xfrm>
          <a:prstGeom prst="rect">
            <a:avLst/>
          </a:prstGeom>
        </p:spPr>
      </p:pic>
      <p:pic>
        <p:nvPicPr>
          <p:cNvPr id="77" name="Picture 76" descr="757_5_605E5C.png"/>
          <p:cNvPicPr>
            <a:picLocks noChangeAspect="1"/>
          </p:cNvPicPr>
          <p:nvPr/>
        </p:nvPicPr>
        <p:blipFill>
          <a:blip r:embed="rId11"/>
          <a:stretch>
            <a:fillRect/>
          </a:stretch>
        </p:blipFill>
        <p:spPr>
          <a:xfrm>
            <a:off x="6269661" y="2779432"/>
            <a:ext cx="1195728" cy="361950"/>
          </a:xfrm>
          <a:prstGeom prst="rect">
            <a:avLst/>
          </a:prstGeom>
        </p:spPr>
      </p:pic>
      <p:pic>
        <p:nvPicPr>
          <p:cNvPr id="78" name="Picture 77" descr="0_9__605E5C.png"/>
          <p:cNvPicPr>
            <a:picLocks noChangeAspect="1"/>
          </p:cNvPicPr>
          <p:nvPr/>
        </p:nvPicPr>
        <p:blipFill>
          <a:blip r:embed="rId12"/>
          <a:stretch>
            <a:fillRect/>
          </a:stretch>
        </p:blipFill>
        <p:spPr>
          <a:xfrm>
            <a:off x="6376307" y="3272281"/>
            <a:ext cx="982436" cy="361950"/>
          </a:xfrm>
          <a:prstGeom prst="rect">
            <a:avLst/>
          </a:prstGeom>
        </p:spPr>
      </p:pic>
      <p:pic>
        <p:nvPicPr>
          <p:cNvPr id="79" name="Picture 78" descr="652_9_605E5C.png"/>
          <p:cNvPicPr>
            <a:picLocks noChangeAspect="1"/>
          </p:cNvPicPr>
          <p:nvPr/>
        </p:nvPicPr>
        <p:blipFill>
          <a:blip r:embed="rId13"/>
          <a:stretch>
            <a:fillRect/>
          </a:stretch>
        </p:blipFill>
        <p:spPr>
          <a:xfrm>
            <a:off x="8292771" y="2286582"/>
            <a:ext cx="1195728" cy="361950"/>
          </a:xfrm>
          <a:prstGeom prst="rect">
            <a:avLst/>
          </a:prstGeom>
        </p:spPr>
      </p:pic>
      <p:pic>
        <p:nvPicPr>
          <p:cNvPr id="80" name="Picture 79" descr="1_176_605E5C.png"/>
          <p:cNvPicPr>
            <a:picLocks noChangeAspect="1"/>
          </p:cNvPicPr>
          <p:nvPr/>
        </p:nvPicPr>
        <p:blipFill>
          <a:blip r:embed="rId14"/>
          <a:stretch>
            <a:fillRect/>
          </a:stretch>
        </p:blipFill>
        <p:spPr>
          <a:xfrm>
            <a:off x="8292771" y="2779432"/>
            <a:ext cx="1195728" cy="361950"/>
          </a:xfrm>
          <a:prstGeom prst="rect">
            <a:avLst/>
          </a:prstGeom>
        </p:spPr>
      </p:pic>
      <p:pic>
        <p:nvPicPr>
          <p:cNvPr id="81" name="Picture 80" descr="6_1__605E5C.png"/>
          <p:cNvPicPr>
            <a:picLocks noChangeAspect="1"/>
          </p:cNvPicPr>
          <p:nvPr/>
        </p:nvPicPr>
        <p:blipFill>
          <a:blip r:embed="rId15"/>
          <a:stretch>
            <a:fillRect/>
          </a:stretch>
        </p:blipFill>
        <p:spPr>
          <a:xfrm>
            <a:off x="8399417" y="3272281"/>
            <a:ext cx="982436" cy="361950"/>
          </a:xfrm>
          <a:prstGeom prst="rect">
            <a:avLst/>
          </a:prstGeom>
        </p:spPr>
      </p:pic>
      <p:pic>
        <p:nvPicPr>
          <p:cNvPr id="82" name="Picture 81" descr="647_1_605E5C.png"/>
          <p:cNvPicPr>
            <a:picLocks noChangeAspect="1"/>
          </p:cNvPicPr>
          <p:nvPr/>
        </p:nvPicPr>
        <p:blipFill>
          <a:blip r:embed="rId16"/>
          <a:stretch>
            <a:fillRect/>
          </a:stretch>
        </p:blipFill>
        <p:spPr>
          <a:xfrm>
            <a:off x="10315881" y="2286582"/>
            <a:ext cx="1195728" cy="361950"/>
          </a:xfrm>
          <a:prstGeom prst="rect">
            <a:avLst/>
          </a:prstGeom>
        </p:spPr>
      </p:pic>
      <p:pic>
        <p:nvPicPr>
          <p:cNvPr id="83" name="Picture 82" descr="1_281_605E5C.png"/>
          <p:cNvPicPr>
            <a:picLocks noChangeAspect="1"/>
          </p:cNvPicPr>
          <p:nvPr/>
        </p:nvPicPr>
        <p:blipFill>
          <a:blip r:embed="rId17"/>
          <a:stretch>
            <a:fillRect/>
          </a:stretch>
        </p:blipFill>
        <p:spPr>
          <a:xfrm>
            <a:off x="10315881" y="2779432"/>
            <a:ext cx="1195728" cy="361950"/>
          </a:xfrm>
          <a:prstGeom prst="rect">
            <a:avLst/>
          </a:prstGeom>
        </p:spPr>
      </p:pic>
      <p:pic>
        <p:nvPicPr>
          <p:cNvPr id="84" name="Picture 83" descr="7_1__605E5C.png"/>
          <p:cNvPicPr>
            <a:picLocks noChangeAspect="1"/>
          </p:cNvPicPr>
          <p:nvPr/>
        </p:nvPicPr>
        <p:blipFill>
          <a:blip r:embed="rId18"/>
          <a:stretch>
            <a:fillRect/>
          </a:stretch>
        </p:blipFill>
        <p:spPr>
          <a:xfrm>
            <a:off x="10422527" y="3272281"/>
            <a:ext cx="982436" cy="361950"/>
          </a:xfrm>
          <a:prstGeom prst="rect">
            <a:avLst/>
          </a:prstGeom>
        </p:spPr>
      </p:pic>
      <p:pic>
        <p:nvPicPr>
          <p:cNvPr id="85" name="Picture 84" descr="lock.png"/>
          <p:cNvPicPr>
            <a:picLocks noChangeAspect="1"/>
          </p:cNvPicPr>
          <p:nvPr/>
        </p:nvPicPr>
        <p:blipFill>
          <a:blip r:embed="rId19"/>
          <a:stretch>
            <a:fillRect/>
          </a:stretch>
        </p:blipFill>
        <p:spPr>
          <a:xfrm>
            <a:off x="2727960" y="2827057"/>
            <a:ext cx="183356" cy="266700"/>
          </a:xfrm>
          <a:prstGeom prst="rect">
            <a:avLst/>
          </a:prstGeom>
        </p:spPr>
      </p:pic>
      <p:pic>
        <p:nvPicPr>
          <p:cNvPr id="86" name="Picture 85" descr="lock.png"/>
          <p:cNvPicPr>
            <a:picLocks noChangeAspect="1"/>
          </p:cNvPicPr>
          <p:nvPr/>
        </p:nvPicPr>
        <p:blipFill>
          <a:blip r:embed="rId19"/>
          <a:stretch>
            <a:fillRect/>
          </a:stretch>
        </p:blipFill>
        <p:spPr>
          <a:xfrm>
            <a:off x="4751070" y="2827057"/>
            <a:ext cx="183356" cy="266700"/>
          </a:xfrm>
          <a:prstGeom prst="rect">
            <a:avLst/>
          </a:prstGeom>
        </p:spPr>
      </p:pic>
      <p:pic>
        <p:nvPicPr>
          <p:cNvPr id="87" name="Picture 86" descr="lock.png"/>
          <p:cNvPicPr>
            <a:picLocks noChangeAspect="1"/>
          </p:cNvPicPr>
          <p:nvPr/>
        </p:nvPicPr>
        <p:blipFill>
          <a:blip r:embed="rId19"/>
          <a:stretch>
            <a:fillRect/>
          </a:stretch>
        </p:blipFill>
        <p:spPr>
          <a:xfrm>
            <a:off x="6774180" y="2827057"/>
            <a:ext cx="183356" cy="266700"/>
          </a:xfrm>
          <a:prstGeom prst="rect">
            <a:avLst/>
          </a:prstGeom>
        </p:spPr>
      </p:pic>
      <p:pic>
        <p:nvPicPr>
          <p:cNvPr id="88" name="Picture 87" descr="lock.png"/>
          <p:cNvPicPr>
            <a:picLocks noChangeAspect="1"/>
          </p:cNvPicPr>
          <p:nvPr/>
        </p:nvPicPr>
        <p:blipFill>
          <a:blip r:embed="rId19"/>
          <a:stretch>
            <a:fillRect/>
          </a:stretch>
        </p:blipFill>
        <p:spPr>
          <a:xfrm>
            <a:off x="8797290" y="2827057"/>
            <a:ext cx="183356" cy="266700"/>
          </a:xfrm>
          <a:prstGeom prst="rect">
            <a:avLst/>
          </a:prstGeom>
        </p:spPr>
      </p:pic>
      <p:pic>
        <p:nvPicPr>
          <p:cNvPr id="89" name="Picture 88" descr="lock.png"/>
          <p:cNvPicPr>
            <a:picLocks noChangeAspect="1"/>
          </p:cNvPicPr>
          <p:nvPr/>
        </p:nvPicPr>
        <p:blipFill>
          <a:blip r:embed="rId19"/>
          <a:stretch>
            <a:fillRect/>
          </a:stretch>
        </p:blipFill>
        <p:spPr>
          <a:xfrm>
            <a:off x="10820400" y="2827057"/>
            <a:ext cx="183356" cy="266700"/>
          </a:xfrm>
          <a:prstGeom prst="rect">
            <a:avLst/>
          </a:prstGeom>
        </p:spPr>
      </p:pic>
      <p:sp>
        <p:nvSpPr>
          <p:cNvPr id="90" name="TextBox 89"/>
          <p:cNvSpPr txBox="1"/>
          <p:nvPr/>
        </p:nvSpPr>
        <p:spPr>
          <a:xfrm>
            <a:off x="485775" y="4229437"/>
            <a:ext cx="2522587" cy="186689"/>
          </a:xfrm>
          <a:prstGeom prst="rect">
            <a:avLst/>
          </a:prstGeom>
          <a:noFill/>
        </p:spPr>
        <p:txBody>
          <a:bodyPr wrap="none" lIns="0" rIns="0" tIns="0" bIns="0">
            <a:spAutoFit/>
          </a:bodyPr>
          <a:lstStyle/>
          <a:p>
            <a:r>
              <a:rPr sz="1100" b="0">
                <a:solidFill>
                  <a:srgbClr val="2E2E2E"/>
                </a:solidFill>
                <a:latin typeface="Calibri"/>
              </a:rPr>
              <a:t>Among waterproof coatings by distribution</a:t>
            </a:r>
          </a:p>
        </p:txBody>
      </p:sp>
      <p:sp>
        <p:nvSpPr>
          <p:cNvPr id="91" name="TextBox 90"/>
          <p:cNvSpPr txBox="1"/>
          <p:nvPr/>
        </p:nvSpPr>
        <p:spPr>
          <a:xfrm>
            <a:off x="485775" y="4397077"/>
            <a:ext cx="2577975" cy="186689"/>
          </a:xfrm>
          <a:prstGeom prst="rect">
            <a:avLst/>
          </a:prstGeom>
          <a:noFill/>
        </p:spPr>
        <p:txBody>
          <a:bodyPr wrap="none" lIns="0" rIns="0" tIns="0" bIns="0">
            <a:spAutoFit/>
          </a:bodyPr>
          <a:lstStyle/>
          <a:p>
            <a:r>
              <a:rPr sz="1100" b="0">
                <a:solidFill>
                  <a:srgbClr val="2E2E2E"/>
                </a:solidFill>
                <a:latin typeface="Calibri"/>
              </a:rPr>
              <a:t>channel, direct sales segment is expected to</a:t>
            </a:r>
          </a:p>
        </p:txBody>
      </p:sp>
      <p:sp>
        <p:nvSpPr>
          <p:cNvPr id="92" name="TextBox 91"/>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93" name="Picture 92" descr="lock.png"/>
          <p:cNvPicPr>
            <a:picLocks noChangeAspect="1"/>
          </p:cNvPicPr>
          <p:nvPr/>
        </p:nvPicPr>
        <p:blipFill>
          <a:blip r:embed="rId19"/>
          <a:stretch>
            <a:fillRect/>
          </a:stretch>
        </p:blipFill>
        <p:spPr>
          <a:xfrm>
            <a:off x="2108919" y="4554938"/>
            <a:ext cx="128699" cy="187198"/>
          </a:xfrm>
          <a:prstGeom prst="rect">
            <a:avLst/>
          </a:prstGeom>
        </p:spPr>
      </p:pic>
      <p:sp>
        <p:nvSpPr>
          <p:cNvPr id="94" name="TextBox 93"/>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95" name="TextBox 94"/>
          <p:cNvSpPr txBox="1"/>
          <p:nvPr/>
        </p:nvSpPr>
        <p:spPr>
          <a:xfrm>
            <a:off x="485775" y="4732357"/>
            <a:ext cx="2676475" cy="186689"/>
          </a:xfrm>
          <a:prstGeom prst="rect">
            <a:avLst/>
          </a:prstGeom>
          <a:noFill/>
        </p:spPr>
        <p:txBody>
          <a:bodyPr wrap="none" lIns="0" rIns="0" tIns="0" bIns="0">
            <a:spAutoFit/>
          </a:bodyPr>
          <a:lstStyle/>
          <a:p>
            <a:r>
              <a:rPr sz="1100" b="0">
                <a:solidFill>
                  <a:srgbClr val="2E2E2E"/>
                </a:solidFill>
                <a:latin typeface="Calibri"/>
              </a:rPr>
              <a:t>period. In terms of value share by distribution</a:t>
            </a:r>
          </a:p>
        </p:txBody>
      </p:sp>
      <p:sp>
        <p:nvSpPr>
          <p:cNvPr id="96" name="TextBox 95"/>
          <p:cNvSpPr txBox="1"/>
          <p:nvPr/>
        </p:nvSpPr>
        <p:spPr>
          <a:xfrm>
            <a:off x="485775" y="4899997"/>
            <a:ext cx="2854374" cy="186689"/>
          </a:xfrm>
          <a:prstGeom prst="rect">
            <a:avLst/>
          </a:prstGeom>
          <a:noFill/>
        </p:spPr>
        <p:txBody>
          <a:bodyPr wrap="none" lIns="0" rIns="0" tIns="0" bIns="0">
            <a:spAutoFit/>
          </a:bodyPr>
          <a:lstStyle/>
          <a:p>
            <a:r>
              <a:rPr sz="1100" b="0">
                <a:solidFill>
                  <a:srgbClr val="2E2E2E"/>
                </a:solidFill>
                <a:latin typeface="Calibri"/>
              </a:rPr>
              <a:t>channel, the other channels segment is expected</a:t>
            </a:r>
          </a:p>
        </p:txBody>
      </p:sp>
      <p:sp>
        <p:nvSpPr>
          <p:cNvPr id="97" name="TextBox 96"/>
          <p:cNvSpPr txBox="1"/>
          <p:nvPr/>
        </p:nvSpPr>
        <p:spPr>
          <a:xfrm>
            <a:off x="485775" y="5067637"/>
            <a:ext cx="1912763" cy="186689"/>
          </a:xfrm>
          <a:prstGeom prst="rect">
            <a:avLst/>
          </a:prstGeom>
          <a:noFill/>
        </p:spPr>
        <p:txBody>
          <a:bodyPr wrap="none" lIns="0" rIns="0" tIns="0" bIns="0">
            <a:spAutoFit/>
          </a:bodyPr>
          <a:lstStyle/>
          <a:p>
            <a:r>
              <a:rPr sz="1100" b="0">
                <a:solidFill>
                  <a:srgbClr val="2E2E2E"/>
                </a:solidFill>
                <a:latin typeface="Calibri"/>
              </a:rPr>
              <a:t>to dominate the market, gaining</a:t>
            </a:r>
          </a:p>
        </p:txBody>
      </p:sp>
      <p:pic>
        <p:nvPicPr>
          <p:cNvPr id="98" name="Picture 97" descr="lock.png"/>
          <p:cNvPicPr>
            <a:picLocks noChangeAspect="1"/>
          </p:cNvPicPr>
          <p:nvPr/>
        </p:nvPicPr>
        <p:blipFill>
          <a:blip r:embed="rId19"/>
          <a:stretch>
            <a:fillRect/>
          </a:stretch>
        </p:blipFill>
        <p:spPr>
          <a:xfrm>
            <a:off x="2346590" y="5057858"/>
            <a:ext cx="128699" cy="187198"/>
          </a:xfrm>
          <a:prstGeom prst="rect">
            <a:avLst/>
          </a:prstGeom>
        </p:spPr>
      </p:pic>
      <p:sp>
        <p:nvSpPr>
          <p:cNvPr id="99" name="TextBox 98"/>
          <p:cNvSpPr txBox="1"/>
          <p:nvPr/>
        </p:nvSpPr>
        <p:spPr>
          <a:xfrm>
            <a:off x="2514086"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100" name="TextBox 99"/>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101" name="Picture 100" descr="lock.png"/>
          <p:cNvPicPr>
            <a:picLocks noChangeAspect="1"/>
          </p:cNvPicPr>
          <p:nvPr/>
        </p:nvPicPr>
        <p:blipFill>
          <a:blip r:embed="rId19"/>
          <a:stretch>
            <a:fillRect/>
          </a:stretch>
        </p:blipFill>
        <p:spPr>
          <a:xfrm>
            <a:off x="1330764" y="5225498"/>
            <a:ext cx="128699" cy="187198"/>
          </a:xfrm>
          <a:prstGeom prst="rect">
            <a:avLst/>
          </a:prstGeom>
        </p:spPr>
      </p:pic>
      <p:sp>
        <p:nvSpPr>
          <p:cNvPr id="102" name="TextBox 101"/>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03" name="TextBox 102"/>
          <p:cNvSpPr txBox="1"/>
          <p:nvPr/>
        </p:nvSpPr>
        <p:spPr>
          <a:xfrm>
            <a:off x="485775" y="5453209"/>
            <a:ext cx="2783160" cy="186689"/>
          </a:xfrm>
          <a:prstGeom prst="rect">
            <a:avLst/>
          </a:prstGeom>
          <a:noFill/>
        </p:spPr>
        <p:txBody>
          <a:bodyPr wrap="none" lIns="0" rIns="0" tIns="0" bIns="0">
            <a:spAutoFit/>
          </a:bodyPr>
          <a:lstStyle/>
          <a:p>
            <a:r>
              <a:rPr sz="1100" b="0">
                <a:solidFill>
                  <a:srgbClr val="2E2E2E"/>
                </a:solidFill>
                <a:latin typeface="Calibri"/>
              </a:rPr>
              <a:t>Other channels segment is projected to register</a:t>
            </a:r>
          </a:p>
        </p:txBody>
      </p:sp>
      <p:pic>
        <p:nvPicPr>
          <p:cNvPr id="104" name="Picture 103" descr="lock.png"/>
          <p:cNvPicPr>
            <a:picLocks noChangeAspect="1"/>
          </p:cNvPicPr>
          <p:nvPr/>
        </p:nvPicPr>
        <p:blipFill>
          <a:blip r:embed="rId19"/>
          <a:stretch>
            <a:fillRect/>
          </a:stretch>
        </p:blipFill>
        <p:spPr>
          <a:xfrm>
            <a:off x="472307" y="5611070"/>
            <a:ext cx="128699" cy="187198"/>
          </a:xfrm>
          <a:prstGeom prst="rect">
            <a:avLst/>
          </a:prstGeom>
        </p:spPr>
      </p:pic>
      <p:sp>
        <p:nvSpPr>
          <p:cNvPr id="105" name="TextBox 104"/>
          <p:cNvSpPr txBox="1"/>
          <p:nvPr/>
        </p:nvSpPr>
        <p:spPr>
          <a:xfrm>
            <a:off x="639803" y="5620849"/>
            <a:ext cx="2528316" cy="186689"/>
          </a:xfrm>
          <a:prstGeom prst="rect">
            <a:avLst/>
          </a:prstGeom>
          <a:noFill/>
        </p:spPr>
        <p:txBody>
          <a:bodyPr wrap="none" lIns="0" rIns="0" tIns="0" bIns="0">
            <a:spAutoFit/>
          </a:bodyPr>
          <a:lstStyle/>
          <a:p>
            <a:r>
              <a:rPr sz="1100" b="0">
                <a:solidFill>
                  <a:srgbClr val="2E2E2E"/>
                </a:solidFill>
                <a:latin typeface="Calibri"/>
              </a:rPr>
              <a:t>X higher value than online sales segment in</a:t>
            </a:r>
          </a:p>
        </p:txBody>
      </p:sp>
      <p:sp>
        <p:nvSpPr>
          <p:cNvPr id="106" name="TextBox 105"/>
          <p:cNvSpPr txBox="1"/>
          <p:nvPr/>
        </p:nvSpPr>
        <p:spPr>
          <a:xfrm>
            <a:off x="485775" y="5788489"/>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107" name="TextBox 106"/>
          <p:cNvSpPr txBox="1"/>
          <p:nvPr/>
        </p:nvSpPr>
        <p:spPr>
          <a:xfrm>
            <a:off x="3838575" y="4229437"/>
            <a:ext cx="921766" cy="186689"/>
          </a:xfrm>
          <a:prstGeom prst="rect">
            <a:avLst/>
          </a:prstGeom>
          <a:noFill/>
        </p:spPr>
        <p:txBody>
          <a:bodyPr wrap="none" lIns="0" rIns="0" tIns="0" bIns="0">
            <a:spAutoFit/>
          </a:bodyPr>
          <a:lstStyle/>
          <a:p>
            <a:r>
              <a:rPr sz="1100" b="0">
                <a:solidFill>
                  <a:srgbClr val="2E2E2E"/>
                </a:solidFill>
                <a:latin typeface="Calibri"/>
              </a:rPr>
              <a:t>● Online Sales:</a:t>
            </a:r>
          </a:p>
        </p:txBody>
      </p:sp>
      <p:pic>
        <p:nvPicPr>
          <p:cNvPr id="108" name="Picture 107" descr="lock.png"/>
          <p:cNvPicPr>
            <a:picLocks noChangeAspect="1"/>
          </p:cNvPicPr>
          <p:nvPr/>
        </p:nvPicPr>
        <p:blipFill>
          <a:blip r:embed="rId19"/>
          <a:stretch>
            <a:fillRect/>
          </a:stretch>
        </p:blipFill>
        <p:spPr>
          <a:xfrm>
            <a:off x="4708393" y="4219658"/>
            <a:ext cx="128699" cy="187198"/>
          </a:xfrm>
          <a:prstGeom prst="rect">
            <a:avLst/>
          </a:prstGeom>
        </p:spPr>
      </p:pic>
      <p:sp>
        <p:nvSpPr>
          <p:cNvPr id="109" name="TextBox 108"/>
          <p:cNvSpPr txBox="1"/>
          <p:nvPr/>
        </p:nvSpPr>
        <p:spPr>
          <a:xfrm>
            <a:off x="487588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0" name="Picture 109" descr="lock.png"/>
          <p:cNvPicPr>
            <a:picLocks noChangeAspect="1"/>
          </p:cNvPicPr>
          <p:nvPr/>
        </p:nvPicPr>
        <p:blipFill>
          <a:blip r:embed="rId19"/>
          <a:stretch>
            <a:fillRect/>
          </a:stretch>
        </p:blipFill>
        <p:spPr>
          <a:xfrm>
            <a:off x="5735339" y="4219658"/>
            <a:ext cx="128699" cy="187198"/>
          </a:xfrm>
          <a:prstGeom prst="rect">
            <a:avLst/>
          </a:prstGeom>
        </p:spPr>
      </p:pic>
      <p:sp>
        <p:nvSpPr>
          <p:cNvPr id="111" name="TextBox 110"/>
          <p:cNvSpPr txBox="1"/>
          <p:nvPr/>
        </p:nvSpPr>
        <p:spPr>
          <a:xfrm>
            <a:off x="5902835"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12" name="TextBox 111"/>
          <p:cNvSpPr txBox="1"/>
          <p:nvPr/>
        </p:nvSpPr>
        <p:spPr>
          <a:xfrm>
            <a:off x="3838575" y="4447369"/>
            <a:ext cx="1110307" cy="186689"/>
          </a:xfrm>
          <a:prstGeom prst="rect">
            <a:avLst/>
          </a:prstGeom>
          <a:noFill/>
        </p:spPr>
        <p:txBody>
          <a:bodyPr wrap="none" lIns="0" rIns="0" tIns="0" bIns="0">
            <a:spAutoFit/>
          </a:bodyPr>
          <a:lstStyle/>
          <a:p>
            <a:r>
              <a:rPr sz="1100" b="0">
                <a:solidFill>
                  <a:srgbClr val="2E2E2E"/>
                </a:solidFill>
                <a:latin typeface="Calibri"/>
              </a:rPr>
              <a:t>● Other Channels:</a:t>
            </a:r>
          </a:p>
        </p:txBody>
      </p:sp>
      <p:pic>
        <p:nvPicPr>
          <p:cNvPr id="113" name="Picture 112" descr="lock.png"/>
          <p:cNvPicPr>
            <a:picLocks noChangeAspect="1"/>
          </p:cNvPicPr>
          <p:nvPr/>
        </p:nvPicPr>
        <p:blipFill>
          <a:blip r:embed="rId19"/>
          <a:stretch>
            <a:fillRect/>
          </a:stretch>
        </p:blipFill>
        <p:spPr>
          <a:xfrm>
            <a:off x="4896934" y="4437590"/>
            <a:ext cx="128699" cy="187198"/>
          </a:xfrm>
          <a:prstGeom prst="rect">
            <a:avLst/>
          </a:prstGeom>
        </p:spPr>
      </p:pic>
      <p:sp>
        <p:nvSpPr>
          <p:cNvPr id="114" name="TextBox 113"/>
          <p:cNvSpPr txBox="1"/>
          <p:nvPr/>
        </p:nvSpPr>
        <p:spPr>
          <a:xfrm>
            <a:off x="5064429"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5" name="Picture 114" descr="lock.png"/>
          <p:cNvPicPr>
            <a:picLocks noChangeAspect="1"/>
          </p:cNvPicPr>
          <p:nvPr/>
        </p:nvPicPr>
        <p:blipFill>
          <a:blip r:embed="rId19"/>
          <a:stretch>
            <a:fillRect/>
          </a:stretch>
        </p:blipFill>
        <p:spPr>
          <a:xfrm>
            <a:off x="5923880" y="4437590"/>
            <a:ext cx="128699" cy="187198"/>
          </a:xfrm>
          <a:prstGeom prst="rect">
            <a:avLst/>
          </a:prstGeom>
        </p:spPr>
      </p:pic>
      <p:sp>
        <p:nvSpPr>
          <p:cNvPr id="116" name="TextBox 115"/>
          <p:cNvSpPr txBox="1"/>
          <p:nvPr/>
        </p:nvSpPr>
        <p:spPr>
          <a:xfrm>
            <a:off x="6091375"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7" name="TextBox 116"/>
          <p:cNvSpPr txBox="1"/>
          <p:nvPr/>
        </p:nvSpPr>
        <p:spPr>
          <a:xfrm>
            <a:off x="3838575" y="4665301"/>
            <a:ext cx="1780703" cy="186689"/>
          </a:xfrm>
          <a:prstGeom prst="rect">
            <a:avLst/>
          </a:prstGeom>
          <a:noFill/>
        </p:spPr>
        <p:txBody>
          <a:bodyPr wrap="none" lIns="0" rIns="0" tIns="0" bIns="0">
            <a:spAutoFit/>
          </a:bodyPr>
          <a:lstStyle/>
          <a:p>
            <a:r>
              <a:rPr sz="1100" b="0">
                <a:solidFill>
                  <a:srgbClr val="2E2E2E"/>
                </a:solidFill>
                <a:latin typeface="Calibri"/>
              </a:rPr>
              <a:t>● Retail and Hardware Stores:</a:t>
            </a:r>
          </a:p>
        </p:txBody>
      </p:sp>
      <p:pic>
        <p:nvPicPr>
          <p:cNvPr id="118" name="Picture 117" descr="lock.png"/>
          <p:cNvPicPr>
            <a:picLocks noChangeAspect="1"/>
          </p:cNvPicPr>
          <p:nvPr/>
        </p:nvPicPr>
        <p:blipFill>
          <a:blip r:embed="rId19"/>
          <a:stretch>
            <a:fillRect/>
          </a:stretch>
        </p:blipFill>
        <p:spPr>
          <a:xfrm>
            <a:off x="5567330" y="4655522"/>
            <a:ext cx="128699" cy="187198"/>
          </a:xfrm>
          <a:prstGeom prst="rect">
            <a:avLst/>
          </a:prstGeom>
        </p:spPr>
      </p:pic>
      <p:sp>
        <p:nvSpPr>
          <p:cNvPr id="119" name="TextBox 118"/>
          <p:cNvSpPr txBox="1"/>
          <p:nvPr/>
        </p:nvSpPr>
        <p:spPr>
          <a:xfrm>
            <a:off x="5734826"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0" name="Picture 119" descr="lock.png"/>
          <p:cNvPicPr>
            <a:picLocks noChangeAspect="1"/>
          </p:cNvPicPr>
          <p:nvPr/>
        </p:nvPicPr>
        <p:blipFill>
          <a:blip r:embed="rId19"/>
          <a:stretch>
            <a:fillRect/>
          </a:stretch>
        </p:blipFill>
        <p:spPr>
          <a:xfrm>
            <a:off x="6594276" y="4655522"/>
            <a:ext cx="128699" cy="187198"/>
          </a:xfrm>
          <a:prstGeom prst="rect">
            <a:avLst/>
          </a:prstGeom>
        </p:spPr>
      </p:pic>
      <p:sp>
        <p:nvSpPr>
          <p:cNvPr id="121" name="TextBox 120"/>
          <p:cNvSpPr txBox="1"/>
          <p:nvPr/>
        </p:nvSpPr>
        <p:spPr>
          <a:xfrm>
            <a:off x="6761772" y="4665301"/>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22" name="TextBox 121"/>
          <p:cNvSpPr txBox="1"/>
          <p:nvPr/>
        </p:nvSpPr>
        <p:spPr>
          <a:xfrm>
            <a:off x="3838575" y="4832941"/>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23" name="TextBox 122"/>
          <p:cNvSpPr txBox="1"/>
          <p:nvPr/>
        </p:nvSpPr>
        <p:spPr>
          <a:xfrm>
            <a:off x="3838575" y="5050872"/>
            <a:ext cx="1877838" cy="186689"/>
          </a:xfrm>
          <a:prstGeom prst="rect">
            <a:avLst/>
          </a:prstGeom>
          <a:noFill/>
        </p:spPr>
        <p:txBody>
          <a:bodyPr wrap="none" lIns="0" rIns="0" tIns="0" bIns="0">
            <a:spAutoFit/>
          </a:bodyPr>
          <a:lstStyle/>
          <a:p>
            <a:r>
              <a:rPr sz="1100" b="0">
                <a:solidFill>
                  <a:srgbClr val="2E2E2E"/>
                </a:solidFill>
                <a:latin typeface="Calibri"/>
              </a:rPr>
              <a:t>● Distributors and Wholesalers:</a:t>
            </a:r>
          </a:p>
        </p:txBody>
      </p:sp>
      <p:pic>
        <p:nvPicPr>
          <p:cNvPr id="124" name="Picture 123" descr="lock.png"/>
          <p:cNvPicPr>
            <a:picLocks noChangeAspect="1"/>
          </p:cNvPicPr>
          <p:nvPr/>
        </p:nvPicPr>
        <p:blipFill>
          <a:blip r:embed="rId19"/>
          <a:stretch>
            <a:fillRect/>
          </a:stretch>
        </p:blipFill>
        <p:spPr>
          <a:xfrm>
            <a:off x="5664465" y="5041093"/>
            <a:ext cx="128699" cy="187198"/>
          </a:xfrm>
          <a:prstGeom prst="rect">
            <a:avLst/>
          </a:prstGeom>
        </p:spPr>
      </p:pic>
      <p:sp>
        <p:nvSpPr>
          <p:cNvPr id="125" name="TextBox 124"/>
          <p:cNvSpPr txBox="1"/>
          <p:nvPr/>
        </p:nvSpPr>
        <p:spPr>
          <a:xfrm>
            <a:off x="5831961" y="5050872"/>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6" name="Picture 125" descr="lock.png"/>
          <p:cNvPicPr>
            <a:picLocks noChangeAspect="1"/>
          </p:cNvPicPr>
          <p:nvPr/>
        </p:nvPicPr>
        <p:blipFill>
          <a:blip r:embed="rId19"/>
          <a:stretch>
            <a:fillRect/>
          </a:stretch>
        </p:blipFill>
        <p:spPr>
          <a:xfrm>
            <a:off x="6691411" y="5041093"/>
            <a:ext cx="128699" cy="187198"/>
          </a:xfrm>
          <a:prstGeom prst="rect">
            <a:avLst/>
          </a:prstGeom>
        </p:spPr>
      </p:pic>
      <p:sp>
        <p:nvSpPr>
          <p:cNvPr id="127" name="TextBox 126"/>
          <p:cNvSpPr txBox="1"/>
          <p:nvPr/>
        </p:nvSpPr>
        <p:spPr>
          <a:xfrm>
            <a:off x="6858907" y="5050872"/>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28" name="TextBox 127"/>
          <p:cNvSpPr txBox="1"/>
          <p:nvPr/>
        </p:nvSpPr>
        <p:spPr>
          <a:xfrm>
            <a:off x="3838575" y="5218513"/>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29" name="TextBox 128"/>
          <p:cNvSpPr txBox="1"/>
          <p:nvPr/>
        </p:nvSpPr>
        <p:spPr>
          <a:xfrm>
            <a:off x="3838575" y="5436445"/>
            <a:ext cx="891207" cy="186689"/>
          </a:xfrm>
          <a:prstGeom prst="rect">
            <a:avLst/>
          </a:prstGeom>
          <a:noFill/>
        </p:spPr>
        <p:txBody>
          <a:bodyPr wrap="none" lIns="0" rIns="0" tIns="0" bIns="0">
            <a:spAutoFit/>
          </a:bodyPr>
          <a:lstStyle/>
          <a:p>
            <a:r>
              <a:rPr sz="1100" b="0">
                <a:solidFill>
                  <a:srgbClr val="2E2E2E"/>
                </a:solidFill>
                <a:latin typeface="Calibri"/>
              </a:rPr>
              <a:t>● Direct Sales:</a:t>
            </a:r>
          </a:p>
        </p:txBody>
      </p:sp>
      <p:pic>
        <p:nvPicPr>
          <p:cNvPr id="130" name="Picture 129" descr="lock.png"/>
          <p:cNvPicPr>
            <a:picLocks noChangeAspect="1"/>
          </p:cNvPicPr>
          <p:nvPr/>
        </p:nvPicPr>
        <p:blipFill>
          <a:blip r:embed="rId19"/>
          <a:stretch>
            <a:fillRect/>
          </a:stretch>
        </p:blipFill>
        <p:spPr>
          <a:xfrm>
            <a:off x="4677834" y="5426665"/>
            <a:ext cx="128699" cy="187198"/>
          </a:xfrm>
          <a:prstGeom prst="rect">
            <a:avLst/>
          </a:prstGeom>
        </p:spPr>
      </p:pic>
      <p:sp>
        <p:nvSpPr>
          <p:cNvPr id="131" name="TextBox 130"/>
          <p:cNvSpPr txBox="1"/>
          <p:nvPr/>
        </p:nvSpPr>
        <p:spPr>
          <a:xfrm>
            <a:off x="4845330" y="543644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2" name="Picture 131" descr="lock.png"/>
          <p:cNvPicPr>
            <a:picLocks noChangeAspect="1"/>
          </p:cNvPicPr>
          <p:nvPr/>
        </p:nvPicPr>
        <p:blipFill>
          <a:blip r:embed="rId19"/>
          <a:stretch>
            <a:fillRect/>
          </a:stretch>
        </p:blipFill>
        <p:spPr>
          <a:xfrm>
            <a:off x="5704780" y="5426665"/>
            <a:ext cx="128699" cy="187198"/>
          </a:xfrm>
          <a:prstGeom prst="rect">
            <a:avLst/>
          </a:prstGeom>
        </p:spPr>
      </p:pic>
      <p:sp>
        <p:nvSpPr>
          <p:cNvPr id="133" name="TextBox 132"/>
          <p:cNvSpPr txBox="1"/>
          <p:nvPr/>
        </p:nvSpPr>
        <p:spPr>
          <a:xfrm>
            <a:off x="5872276" y="5436445"/>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34" name="TextBox 133"/>
          <p:cNvSpPr txBox="1"/>
          <p:nvPr/>
        </p:nvSpPr>
        <p:spPr>
          <a:xfrm>
            <a:off x="8524875" y="5842641"/>
            <a:ext cx="3048830" cy="194310"/>
          </a:xfrm>
          <a:prstGeom prst="rect">
            <a:avLst/>
          </a:prstGeom>
          <a:noFill/>
        </p:spPr>
        <p:txBody>
          <a:bodyPr wrap="none" lIns="0" rIns="0" tIns="0" bIns="0">
            <a:spAutoFit/>
          </a:bodyPr>
          <a:lstStyle/>
          <a:p>
            <a:r>
              <a:rPr sz="1150" b="1">
                <a:solidFill>
                  <a:srgbClr val="0B2E4A"/>
                </a:solidFill>
                <a:latin typeface="Calibri"/>
              </a:rPr>
              <a:t>The Distribution Channel segment is projected to</a:t>
            </a:r>
          </a:p>
        </p:txBody>
      </p:sp>
      <p:sp>
        <p:nvSpPr>
          <p:cNvPr id="135" name="TextBox 134"/>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136" name="Picture 135" descr="lock.png"/>
          <p:cNvPicPr>
            <a:picLocks noChangeAspect="1"/>
          </p:cNvPicPr>
          <p:nvPr/>
        </p:nvPicPr>
        <p:blipFill>
          <a:blip r:embed="rId19"/>
          <a:stretch>
            <a:fillRect/>
          </a:stretch>
        </p:blipFill>
        <p:spPr>
          <a:xfrm>
            <a:off x="9651852" y="6007677"/>
            <a:ext cx="134549" cy="195707"/>
          </a:xfrm>
          <a:prstGeom prst="rect">
            <a:avLst/>
          </a:prstGeom>
        </p:spPr>
      </p:pic>
      <p:sp>
        <p:nvSpPr>
          <p:cNvPr id="137" name="TextBox 136"/>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Distribution Channel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Distribution Channel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Distribution Channel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Distribution Channel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353155" cy="186689"/>
          </a:xfrm>
          <a:prstGeom prst="rect">
            <a:avLst/>
          </a:prstGeom>
          <a:noFill/>
        </p:spPr>
        <p:txBody>
          <a:bodyPr wrap="none" lIns="0" rIns="0" tIns="0" bIns="0">
            <a:spAutoFit/>
          </a:bodyPr>
          <a:lstStyle/>
          <a:p>
            <a:r>
              <a:rPr sz="1100" b="0">
                <a:solidFill>
                  <a:srgbClr val="2E2E2E"/>
                </a:solidFill>
                <a:latin typeface="Calibri"/>
              </a:rPr>
              <a:t>Direct sales followed by other channels are expected to be the two most attractive distribution channel segments in the North America waterproof coatings market in terms of value over the forecast</a:t>
            </a:r>
          </a:p>
        </p:txBody>
      </p:sp>
      <p:sp>
        <p:nvSpPr>
          <p:cNvPr id="20" name="TextBox 19"/>
          <p:cNvSpPr txBox="1"/>
          <p:nvPr/>
        </p:nvSpPr>
        <p:spPr>
          <a:xfrm>
            <a:off x="257175" y="5861685"/>
            <a:ext cx="3647809" cy="186689"/>
          </a:xfrm>
          <a:prstGeom prst="rect">
            <a:avLst/>
          </a:prstGeom>
          <a:noFill/>
        </p:spPr>
        <p:txBody>
          <a:bodyPr wrap="none" lIns="0" rIns="0" tIns="0" bIns="0">
            <a:spAutoFit/>
          </a:bodyPr>
          <a:lstStyle/>
          <a:p>
            <a:r>
              <a:rPr sz="1100" b="0">
                <a:solidFill>
                  <a:srgbClr val="2E2E2E"/>
                </a:solidFill>
                <a:latin typeface="Calibri"/>
              </a:rPr>
              <a:t>period. Direct sales and other channels exhibit a CAGR index of</a:t>
            </a:r>
          </a:p>
        </p:txBody>
      </p:sp>
      <p:pic>
        <p:nvPicPr>
          <p:cNvPr id="21" name="Picture 20" descr="lock.png"/>
          <p:cNvPicPr>
            <a:picLocks noChangeAspect="1"/>
          </p:cNvPicPr>
          <p:nvPr/>
        </p:nvPicPr>
        <p:blipFill>
          <a:blip r:embed="rId6"/>
          <a:stretch>
            <a:fillRect/>
          </a:stretch>
        </p:blipFill>
        <p:spPr>
          <a:xfrm>
            <a:off x="3853036" y="5851905"/>
            <a:ext cx="128699" cy="187198"/>
          </a:xfrm>
          <a:prstGeom prst="rect">
            <a:avLst/>
          </a:prstGeom>
        </p:spPr>
      </p:pic>
      <p:sp>
        <p:nvSpPr>
          <p:cNvPr id="22" name="TextBox 21"/>
          <p:cNvSpPr txBox="1"/>
          <p:nvPr/>
        </p:nvSpPr>
        <p:spPr>
          <a:xfrm>
            <a:off x="4020532"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4258426" y="5851905"/>
            <a:ext cx="128699" cy="187198"/>
          </a:xfrm>
          <a:prstGeom prst="rect">
            <a:avLst/>
          </a:prstGeom>
        </p:spPr>
      </p:pic>
      <p:sp>
        <p:nvSpPr>
          <p:cNvPr id="24" name="TextBox 23"/>
          <p:cNvSpPr txBox="1"/>
          <p:nvPr/>
        </p:nvSpPr>
        <p:spPr>
          <a:xfrm>
            <a:off x="4425922"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6034895" y="5851905"/>
            <a:ext cx="128699" cy="187198"/>
          </a:xfrm>
          <a:prstGeom prst="rect">
            <a:avLst/>
          </a:prstGeom>
        </p:spPr>
      </p:pic>
      <p:sp>
        <p:nvSpPr>
          <p:cNvPr id="26" name="TextBox 25"/>
          <p:cNvSpPr txBox="1"/>
          <p:nvPr/>
        </p:nvSpPr>
        <p:spPr>
          <a:xfrm>
            <a:off x="6202391"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6440286" y="5851905"/>
            <a:ext cx="128699" cy="187198"/>
          </a:xfrm>
          <a:prstGeom prst="rect">
            <a:avLst/>
          </a:prstGeom>
        </p:spPr>
      </p:pic>
      <p:sp>
        <p:nvSpPr>
          <p:cNvPr id="28" name="TextBox 27"/>
          <p:cNvSpPr txBox="1"/>
          <p:nvPr/>
        </p:nvSpPr>
        <p:spPr>
          <a:xfrm>
            <a:off x="6607781"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9162186" y="5851905"/>
            <a:ext cx="128699" cy="187198"/>
          </a:xfrm>
          <a:prstGeom prst="rect">
            <a:avLst/>
          </a:prstGeom>
        </p:spPr>
      </p:pic>
      <p:sp>
        <p:nvSpPr>
          <p:cNvPr id="30" name="TextBox 29"/>
          <p:cNvSpPr txBox="1"/>
          <p:nvPr/>
        </p:nvSpPr>
        <p:spPr>
          <a:xfrm>
            <a:off x="9329681" y="5861685"/>
            <a:ext cx="1886842" cy="186689"/>
          </a:xfrm>
          <a:prstGeom prst="rect">
            <a:avLst/>
          </a:prstGeom>
          <a:noFill/>
        </p:spPr>
        <p:txBody>
          <a:bodyPr wrap="none" lIns="0" rIns="0" tIns="0" bIns="0">
            <a:spAutoFit/>
          </a:bodyPr>
          <a:lstStyle/>
          <a:p>
            <a:r>
              <a:rPr sz="1100" b="0">
                <a:solidFill>
                  <a:srgbClr val="2E2E2E"/>
                </a:solidFill>
                <a:latin typeface="Calibri"/>
              </a:rPr>
              <a:t>. The retail and hardware stores</a:t>
            </a:r>
          </a:p>
        </p:txBody>
      </p:sp>
      <p:sp>
        <p:nvSpPr>
          <p:cNvPr id="31" name="TextBox 30"/>
          <p:cNvSpPr txBox="1"/>
          <p:nvPr/>
        </p:nvSpPr>
        <p:spPr>
          <a:xfrm>
            <a:off x="257175" y="6029325"/>
            <a:ext cx="11549028" cy="186689"/>
          </a:xfrm>
          <a:prstGeom prst="rect">
            <a:avLst/>
          </a:prstGeom>
          <a:noFill/>
        </p:spPr>
        <p:txBody>
          <a:bodyPr wrap="none" lIns="0" rIns="0" tIns="0" bIns="0">
            <a:spAutoFit/>
          </a:bodyPr>
          <a:lstStyle/>
          <a:p>
            <a:r>
              <a:rPr sz="1100" b="0">
                <a:solidFill>
                  <a:srgbClr val="2E2E2E"/>
                </a:solidFill>
                <a:latin typeface="Calibri"/>
              </a:rPr>
              <a:t>segment is expected to be less attractive as compared to other segments over the forecast period, owing to its lower CAGR and incremental opportunity. Bubbles right of the CAGR-Index line grow faster</a:t>
            </a:r>
          </a:p>
        </p:txBody>
      </p:sp>
      <p:sp>
        <p:nvSpPr>
          <p:cNvPr id="32" name="TextBox 31"/>
          <p:cNvSpPr txBox="1"/>
          <p:nvPr/>
        </p:nvSpPr>
        <p:spPr>
          <a:xfrm>
            <a:off x="257175" y="6196965"/>
            <a:ext cx="1598711" cy="186689"/>
          </a:xfrm>
          <a:prstGeom prst="rect">
            <a:avLst/>
          </a:prstGeom>
          <a:noFill/>
        </p:spPr>
        <p:txBody>
          <a:bodyPr wrap="none" lIns="0" rIns="0" tIns="0" bIns="0">
            <a:spAutoFit/>
          </a:bodyPr>
          <a:lstStyle/>
          <a:p>
            <a:r>
              <a:rPr sz="1100" b="0">
                <a:solidFill>
                  <a:srgbClr val="2E2E2E"/>
                </a:solidFill>
                <a:latin typeface="Calibri"/>
              </a:rPr>
              <a:t>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Distribution Channel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Distribution Channel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Direct Sales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Distributors and Wholesalers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Retail and Hardware Stores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Online Sales</a:t>
            </a:r>
          </a:p>
        </p:txBody>
      </p:sp>
      <p:graphicFrame>
        <p:nvGraphicFramePr>
          <p:cNvPr id="21" name="Chart 20"/>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4151" y="5123309"/>
            <a:ext cx="263506" cy="383281"/>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Distribution Channel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Distribution Channel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Other Channels</a:t>
            </a:r>
          </a:p>
        </p:txBody>
      </p:sp>
      <p:graphicFrame>
        <p:nvGraphicFramePr>
          <p:cNvPr id="12" name="Chart 11"/>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066800"/>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North America Absolute $ Opportunity Analysis, By Distribution Channel</a:t>
            </a:r>
          </a:p>
        </p:txBody>
      </p:sp>
      <p:sp>
        <p:nvSpPr>
          <p:cNvPr id="15" name="Rectangle 14"/>
          <p:cNvSpPr/>
          <p:nvPr/>
        </p:nvSpPr>
        <p:spPr>
          <a:xfrm>
            <a:off x="6305550" y="150299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5550" y="1588720"/>
            <a:ext cx="5610225"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027556" y="3674659"/>
            <a:ext cx="395643" cy="575481"/>
          </a:xfrm>
          <a:prstGeom prst="rect">
            <a:avLst/>
          </a:prstGeom>
        </p:spPr>
      </p:pic>
      <p:sp>
        <p:nvSpPr>
          <p:cNvPr id="19" name="TextBox 18"/>
          <p:cNvSpPr txBox="1"/>
          <p:nvPr/>
        </p:nvSpPr>
        <p:spPr>
          <a:xfrm>
            <a:off x="6305550" y="1598245"/>
            <a:ext cx="4169856" cy="194310"/>
          </a:xfrm>
          <a:prstGeom prst="rect">
            <a:avLst/>
          </a:prstGeom>
          <a:noFill/>
        </p:spPr>
        <p:txBody>
          <a:bodyPr wrap="none" lIns="0" rIns="0" tIns="0" bIns="0">
            <a:spAutoFit/>
          </a:bodyPr>
          <a:lstStyle/>
          <a:p>
            <a:r>
              <a:rPr sz="1150" b="0">
                <a:solidFill>
                  <a:srgbClr val="2E2E2E"/>
                </a:solidFill>
                <a:latin typeface="Calibri"/>
              </a:rPr>
              <a:t>By 2036, direct sales segment is anticipated to witness an increase of</a:t>
            </a:r>
          </a:p>
        </p:txBody>
      </p:sp>
      <p:pic>
        <p:nvPicPr>
          <p:cNvPr id="20" name="Picture 19" descr="lock.png"/>
          <p:cNvPicPr>
            <a:picLocks noChangeAspect="1"/>
          </p:cNvPicPr>
          <p:nvPr/>
        </p:nvPicPr>
        <p:blipFill>
          <a:blip r:embed="rId5"/>
          <a:stretch>
            <a:fillRect/>
          </a:stretch>
        </p:blipFill>
        <p:spPr>
          <a:xfrm>
            <a:off x="10424560" y="1588021"/>
            <a:ext cx="134549" cy="195707"/>
          </a:xfrm>
          <a:prstGeom prst="rect">
            <a:avLst/>
          </a:prstGeom>
        </p:spPr>
      </p:pic>
      <p:sp>
        <p:nvSpPr>
          <p:cNvPr id="21" name="TextBox 20"/>
          <p:cNvSpPr txBox="1"/>
          <p:nvPr/>
        </p:nvSpPr>
        <p:spPr>
          <a:xfrm>
            <a:off x="10599669" y="1598245"/>
            <a:ext cx="1181844" cy="194310"/>
          </a:xfrm>
          <a:prstGeom prst="rect">
            <a:avLst/>
          </a:prstGeom>
          <a:noFill/>
        </p:spPr>
        <p:txBody>
          <a:bodyPr wrap="none" lIns="0" rIns="0" tIns="0" bIns="0">
            <a:spAutoFit/>
          </a:bodyPr>
          <a:lstStyle/>
          <a:p>
            <a:r>
              <a:rPr sz="1150" b="0">
                <a:solidFill>
                  <a:srgbClr val="2E2E2E"/>
                </a:solidFill>
                <a:latin typeface="Calibri"/>
              </a:rPr>
              <a:t>X in terms of value</a:t>
            </a:r>
          </a:p>
        </p:txBody>
      </p:sp>
      <p:sp>
        <p:nvSpPr>
          <p:cNvPr id="22" name="TextBox 21"/>
          <p:cNvSpPr txBox="1"/>
          <p:nvPr/>
        </p:nvSpPr>
        <p:spPr>
          <a:xfrm>
            <a:off x="6305550" y="1773505"/>
            <a:ext cx="5067287" cy="194310"/>
          </a:xfrm>
          <a:prstGeom prst="rect">
            <a:avLst/>
          </a:prstGeom>
          <a:noFill/>
        </p:spPr>
        <p:txBody>
          <a:bodyPr wrap="none" lIns="0" rIns="0" tIns="0" bIns="0">
            <a:spAutoFit/>
          </a:bodyPr>
          <a:lstStyle/>
          <a:p>
            <a:r>
              <a:rPr sz="1150" b="0">
                <a:solidFill>
                  <a:srgbClr val="2E2E2E"/>
                </a:solidFill>
                <a:latin typeface="Calibri"/>
              </a:rPr>
              <a:t>as compared to 2026. The direct sales segment is expected to create an incremental</a:t>
            </a:r>
          </a:p>
        </p:txBody>
      </p:sp>
      <p:sp>
        <p:nvSpPr>
          <p:cNvPr id="23" name="TextBox 22"/>
          <p:cNvSpPr txBox="1"/>
          <p:nvPr/>
        </p:nvSpPr>
        <p:spPr>
          <a:xfrm>
            <a:off x="6305550" y="1948765"/>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24" name="Picture 23" descr="lock.png"/>
          <p:cNvPicPr>
            <a:picLocks noChangeAspect="1"/>
          </p:cNvPicPr>
          <p:nvPr/>
        </p:nvPicPr>
        <p:blipFill>
          <a:blip r:embed="rId5"/>
          <a:stretch>
            <a:fillRect/>
          </a:stretch>
        </p:blipFill>
        <p:spPr>
          <a:xfrm>
            <a:off x="7463647" y="1938541"/>
            <a:ext cx="134549" cy="195707"/>
          </a:xfrm>
          <a:prstGeom prst="rect">
            <a:avLst/>
          </a:prstGeom>
        </p:spPr>
      </p:pic>
      <p:sp>
        <p:nvSpPr>
          <p:cNvPr id="25" name="TextBox 24"/>
          <p:cNvSpPr txBox="1"/>
          <p:nvPr/>
        </p:nvSpPr>
        <p:spPr>
          <a:xfrm>
            <a:off x="7638756" y="1948765"/>
            <a:ext cx="4022687" cy="194310"/>
          </a:xfrm>
          <a:prstGeom prst="rect">
            <a:avLst/>
          </a:prstGeom>
          <a:noFill/>
        </p:spPr>
        <p:txBody>
          <a:bodyPr wrap="none" lIns="0" rIns="0" tIns="0" bIns="0">
            <a:spAutoFit/>
          </a:bodyPr>
          <a:lstStyle/>
          <a:p>
            <a:r>
              <a:rPr sz="1150" b="0">
                <a:solidFill>
                  <a:srgbClr val="2E2E2E"/>
                </a:solidFill>
                <a:latin typeface="Calibri"/>
              </a:rPr>
              <a:t>Mn for the overall waterproof coatings market from 2026 to 2036.</a:t>
            </a:r>
          </a:p>
        </p:txBody>
      </p:sp>
      <p:sp>
        <p:nvSpPr>
          <p:cNvPr id="26" name="TextBox 25"/>
          <p:cNvSpPr txBox="1"/>
          <p:nvPr/>
        </p:nvSpPr>
        <p:spPr>
          <a:xfrm>
            <a:off x="6305550" y="2176603"/>
            <a:ext cx="5128046" cy="194310"/>
          </a:xfrm>
          <a:prstGeom prst="rect">
            <a:avLst/>
          </a:prstGeom>
          <a:noFill/>
        </p:spPr>
        <p:txBody>
          <a:bodyPr wrap="none" lIns="0" rIns="0" tIns="0" bIns="0">
            <a:spAutoFit/>
          </a:bodyPr>
          <a:lstStyle/>
          <a:p>
            <a:r>
              <a:rPr sz="1150" b="0">
                <a:solidFill>
                  <a:srgbClr val="2E2E2E"/>
                </a:solidFill>
                <a:latin typeface="Calibri"/>
              </a:rPr>
              <a:t>The other channels segment is expected to create an incremental opportunity of US$</a:t>
            </a:r>
          </a:p>
        </p:txBody>
      </p:sp>
      <p:pic>
        <p:nvPicPr>
          <p:cNvPr id="27" name="Picture 26" descr="lock.png"/>
          <p:cNvPicPr>
            <a:picLocks noChangeAspect="1"/>
          </p:cNvPicPr>
          <p:nvPr/>
        </p:nvPicPr>
        <p:blipFill>
          <a:blip r:embed="rId5"/>
          <a:stretch>
            <a:fillRect/>
          </a:stretch>
        </p:blipFill>
        <p:spPr>
          <a:xfrm>
            <a:off x="11382750" y="2166379"/>
            <a:ext cx="134549" cy="195707"/>
          </a:xfrm>
          <a:prstGeom prst="rect">
            <a:avLst/>
          </a:prstGeom>
        </p:spPr>
      </p:pic>
      <p:sp>
        <p:nvSpPr>
          <p:cNvPr id="28" name="TextBox 27"/>
          <p:cNvSpPr txBox="1"/>
          <p:nvPr/>
        </p:nvSpPr>
        <p:spPr>
          <a:xfrm>
            <a:off x="11557859" y="2176603"/>
            <a:ext cx="277874" cy="194310"/>
          </a:xfrm>
          <a:prstGeom prst="rect">
            <a:avLst/>
          </a:prstGeom>
          <a:noFill/>
        </p:spPr>
        <p:txBody>
          <a:bodyPr wrap="none" lIns="0" rIns="0" tIns="0" bIns="0">
            <a:spAutoFit/>
          </a:bodyPr>
          <a:lstStyle/>
          <a:p>
            <a:r>
              <a:rPr sz="1150" b="0">
                <a:solidFill>
                  <a:srgbClr val="2E2E2E"/>
                </a:solidFill>
                <a:latin typeface="Calibri"/>
              </a:rPr>
              <a:t>Mn</a:t>
            </a:r>
          </a:p>
        </p:txBody>
      </p:sp>
      <p:sp>
        <p:nvSpPr>
          <p:cNvPr id="29" name="TextBox 28"/>
          <p:cNvSpPr txBox="1"/>
          <p:nvPr/>
        </p:nvSpPr>
        <p:spPr>
          <a:xfrm>
            <a:off x="6305550" y="2351863"/>
            <a:ext cx="5020220" cy="194310"/>
          </a:xfrm>
          <a:prstGeom prst="rect">
            <a:avLst/>
          </a:prstGeom>
          <a:noFill/>
        </p:spPr>
        <p:txBody>
          <a:bodyPr wrap="none" lIns="0" rIns="0" tIns="0" bIns="0">
            <a:spAutoFit/>
          </a:bodyPr>
          <a:lstStyle/>
          <a:p>
            <a:r>
              <a:rPr sz="1150" b="0">
                <a:solidFill>
                  <a:srgbClr val="2E2E2E"/>
                </a:solidFill>
                <a:latin typeface="Calibri"/>
              </a:rPr>
              <a:t>for the overall waterproof coatings market from 2026 to 2036. The distributors and</a:t>
            </a:r>
          </a:p>
        </p:txBody>
      </p:sp>
      <p:sp>
        <p:nvSpPr>
          <p:cNvPr id="30" name="TextBox 29"/>
          <p:cNvSpPr txBox="1"/>
          <p:nvPr/>
        </p:nvSpPr>
        <p:spPr>
          <a:xfrm>
            <a:off x="6305550" y="2527123"/>
            <a:ext cx="4695031" cy="194310"/>
          </a:xfrm>
          <a:prstGeom prst="rect">
            <a:avLst/>
          </a:prstGeom>
          <a:noFill/>
        </p:spPr>
        <p:txBody>
          <a:bodyPr wrap="none" lIns="0" rIns="0" tIns="0" bIns="0">
            <a:spAutoFit/>
          </a:bodyPr>
          <a:lstStyle/>
          <a:p>
            <a:r>
              <a:rPr sz="1150" b="0">
                <a:solidFill>
                  <a:srgbClr val="2E2E2E"/>
                </a:solidFill>
                <a:latin typeface="Calibri"/>
              </a:rPr>
              <a:t>wholesalers segment is expected to create an incremental opportunity of US$</a:t>
            </a:r>
          </a:p>
        </p:txBody>
      </p:sp>
      <p:pic>
        <p:nvPicPr>
          <p:cNvPr id="31" name="Picture 30" descr="lock.png"/>
          <p:cNvPicPr>
            <a:picLocks noChangeAspect="1"/>
          </p:cNvPicPr>
          <p:nvPr/>
        </p:nvPicPr>
        <p:blipFill>
          <a:blip r:embed="rId5"/>
          <a:stretch>
            <a:fillRect/>
          </a:stretch>
        </p:blipFill>
        <p:spPr>
          <a:xfrm>
            <a:off x="10949735" y="2516899"/>
            <a:ext cx="134549" cy="195707"/>
          </a:xfrm>
          <a:prstGeom prst="rect">
            <a:avLst/>
          </a:prstGeom>
        </p:spPr>
      </p:pic>
      <p:sp>
        <p:nvSpPr>
          <p:cNvPr id="32" name="TextBox 31"/>
          <p:cNvSpPr txBox="1"/>
          <p:nvPr/>
        </p:nvSpPr>
        <p:spPr>
          <a:xfrm>
            <a:off x="11124844" y="2527123"/>
            <a:ext cx="715168" cy="194310"/>
          </a:xfrm>
          <a:prstGeom prst="rect">
            <a:avLst/>
          </a:prstGeom>
          <a:noFill/>
        </p:spPr>
        <p:txBody>
          <a:bodyPr wrap="none" lIns="0" rIns="0" tIns="0" bIns="0">
            <a:spAutoFit/>
          </a:bodyPr>
          <a:lstStyle/>
          <a:p>
            <a:r>
              <a:rPr sz="1150" b="0">
                <a:solidFill>
                  <a:srgbClr val="2E2E2E"/>
                </a:solidFill>
                <a:latin typeface="Calibri"/>
              </a:rPr>
              <a:t>Mn for the</a:t>
            </a:r>
          </a:p>
        </p:txBody>
      </p:sp>
      <p:sp>
        <p:nvSpPr>
          <p:cNvPr id="33" name="TextBox 32"/>
          <p:cNvSpPr txBox="1"/>
          <p:nvPr/>
        </p:nvSpPr>
        <p:spPr>
          <a:xfrm>
            <a:off x="6305550" y="2702383"/>
            <a:ext cx="3350629" cy="194310"/>
          </a:xfrm>
          <a:prstGeom prst="rect">
            <a:avLst/>
          </a:prstGeom>
          <a:noFill/>
        </p:spPr>
        <p:txBody>
          <a:bodyPr wrap="none" lIns="0" rIns="0" tIns="0" bIns="0">
            <a:spAutoFit/>
          </a:bodyPr>
          <a:lstStyle/>
          <a:p>
            <a:r>
              <a:rPr sz="1150" b="0">
                <a:solidFill>
                  <a:srgbClr val="2E2E2E"/>
                </a:solidFill>
                <a:latin typeface="Calibri"/>
              </a:rPr>
              <a:t>overall waterproof coatings market from 2026 to 2036.</a:t>
            </a:r>
          </a:p>
        </p:txBody>
      </p:sp>
      <p:sp>
        <p:nvSpPr>
          <p:cNvPr id="34" name="lockshield_12"/>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Distribution Channel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Distribution Channel, 2021–2036, highlighting the sub-segments driving growth</a:t>
            </a:r>
          </a:p>
        </p:txBody>
      </p:sp>
      <p:sp>
        <p:nvSpPr>
          <p:cNvPr id="10" name="Rounded Rectangle 9"/>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Distribution Channel (US$ Mn)</a:t>
            </a:r>
          </a:p>
        </p:txBody>
      </p:sp>
      <p:graphicFrame>
        <p:nvGraphicFramePr>
          <p:cNvPr id="12" name="Table 11"/>
          <p:cNvGraphicFramePr>
            <a:graphicFrameLocks noGrp="1"/>
          </p:cNvGraphicFramePr>
          <p:nvPr/>
        </p:nvGraphicFramePr>
        <p:xfrm>
          <a:off x="152400" y="1238250"/>
          <a:ext cx="11887205" cy="1724028"/>
        </p:xfrm>
        <a:graphic>
          <a:graphicData uri="http://schemas.openxmlformats.org/drawingml/2006/table">
            <a:tbl>
              <a:tblPr>
                <a:tableStyleId>{5C22544A-7EE6-4342-B048-85BDC9FD1C3A}</a:tableStyleId>
              </a:tblPr>
              <a:tblGrid>
                <a:gridCol w="1956026"/>
                <a:gridCol w="584187"/>
                <a:gridCol w="584187"/>
                <a:gridCol w="584187"/>
                <a:gridCol w="584187"/>
                <a:gridCol w="584187"/>
                <a:gridCol w="584187"/>
                <a:gridCol w="584187"/>
                <a:gridCol w="584187"/>
                <a:gridCol w="584187"/>
                <a:gridCol w="584187"/>
                <a:gridCol w="584187"/>
                <a:gridCol w="584187"/>
                <a:gridCol w="584187"/>
                <a:gridCol w="584187"/>
                <a:gridCol w="584187"/>
                <a:gridCol w="584187"/>
                <a:gridCol w="584187"/>
              </a:tblGrid>
              <a:tr h="246126">
                <a:tc>
                  <a:txBody>
                    <a:bodyPr wrap="none"/>
                    <a:lstStyle/>
                    <a:p>
                      <a:pPr algn="l"/>
                      <a:r>
                        <a:rPr sz="1100" b="1">
                          <a:solidFill>
                            <a:srgbClr val="0B2E4A"/>
                          </a:solidFill>
                          <a:latin typeface="Calibri"/>
                        </a:rPr>
                        <a:t>Distribution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7">
                <a:tc>
                  <a:txBody>
                    <a:bodyPr wrap="none"/>
                    <a:lstStyle/>
                    <a:p>
                      <a:pPr algn="l"/>
                      <a:r>
                        <a:rPr sz="1100" b="1">
                          <a:solidFill>
                            <a:srgbClr val="2E2E2E"/>
                          </a:solidFill>
                          <a:latin typeface="Calibri"/>
                        </a:rPr>
                        <a:t>Direct Sales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Distributors and Wholesalers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Retail and Hardware Stores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Online Sales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Other Channels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305175"/>
            <a:ext cx="1190625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39090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Distribution Channel</a:t>
            </a:r>
          </a:p>
        </p:txBody>
      </p:sp>
      <p:sp>
        <p:nvSpPr>
          <p:cNvPr id="16" name="Rectangle 15"/>
          <p:cNvSpPr/>
          <p:nvPr/>
        </p:nvSpPr>
        <p:spPr>
          <a:xfrm>
            <a:off x="276225" y="36290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714750"/>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887325" y="1956627"/>
            <a:ext cx="366712" cy="533400"/>
          </a:xfrm>
          <a:prstGeom prst="rect">
            <a:avLst/>
          </a:prstGeom>
        </p:spPr>
      </p:pic>
      <p:sp>
        <p:nvSpPr>
          <p:cNvPr id="20" name="TextBox 19"/>
          <p:cNvSpPr txBox="1"/>
          <p:nvPr/>
        </p:nvSpPr>
        <p:spPr>
          <a:xfrm>
            <a:off x="276225" y="3724275"/>
            <a:ext cx="2906204" cy="194310"/>
          </a:xfrm>
          <a:prstGeom prst="rect">
            <a:avLst/>
          </a:prstGeom>
          <a:noFill/>
        </p:spPr>
        <p:txBody>
          <a:bodyPr wrap="none" lIns="0" rIns="0" tIns="0" bIns="0">
            <a:spAutoFit/>
          </a:bodyPr>
          <a:lstStyle/>
          <a:p>
            <a:r>
              <a:rPr sz="1150" b="0">
                <a:solidFill>
                  <a:srgbClr val="2E2E2E"/>
                </a:solidFill>
                <a:latin typeface="Calibri"/>
              </a:rPr>
              <a:t>Other channels segment is projected to register</a:t>
            </a:r>
          </a:p>
        </p:txBody>
      </p:sp>
      <p:pic>
        <p:nvPicPr>
          <p:cNvPr id="21" name="Picture 20" descr="lock.png"/>
          <p:cNvPicPr>
            <a:picLocks noChangeAspect="1"/>
          </p:cNvPicPr>
          <p:nvPr/>
        </p:nvPicPr>
        <p:blipFill>
          <a:blip r:embed="rId4"/>
          <a:stretch>
            <a:fillRect/>
          </a:stretch>
        </p:blipFill>
        <p:spPr>
          <a:xfrm>
            <a:off x="3131582" y="3714051"/>
            <a:ext cx="134549" cy="195707"/>
          </a:xfrm>
          <a:prstGeom prst="rect">
            <a:avLst/>
          </a:prstGeom>
        </p:spPr>
      </p:pic>
      <p:sp>
        <p:nvSpPr>
          <p:cNvPr id="22" name="TextBox 21"/>
          <p:cNvSpPr txBox="1"/>
          <p:nvPr/>
        </p:nvSpPr>
        <p:spPr>
          <a:xfrm>
            <a:off x="3306692" y="3724275"/>
            <a:ext cx="8245586" cy="194310"/>
          </a:xfrm>
          <a:prstGeom prst="rect">
            <a:avLst/>
          </a:prstGeom>
          <a:noFill/>
        </p:spPr>
        <p:txBody>
          <a:bodyPr wrap="none" lIns="0" rIns="0" tIns="0" bIns="0">
            <a:spAutoFit/>
          </a:bodyPr>
          <a:lstStyle/>
          <a:p>
            <a:r>
              <a:rPr sz="1150" b="0">
                <a:solidFill>
                  <a:srgbClr val="2E2E2E"/>
                </a:solidFill>
                <a:latin typeface="Calibri"/>
              </a:rPr>
              <a:t>X higher value than online sales segment in 2036. Among waterproof coatings by distribution channel, direct sales segment is expected to</a:t>
            </a:r>
          </a:p>
        </p:txBody>
      </p:sp>
      <p:sp>
        <p:nvSpPr>
          <p:cNvPr id="23" name="TextBox 22"/>
          <p:cNvSpPr txBox="1"/>
          <p:nvPr/>
        </p:nvSpPr>
        <p:spPr>
          <a:xfrm>
            <a:off x="276225" y="3899535"/>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24" name="Picture 23" descr="lock.png"/>
          <p:cNvPicPr>
            <a:picLocks noChangeAspect="1"/>
          </p:cNvPicPr>
          <p:nvPr/>
        </p:nvPicPr>
        <p:blipFill>
          <a:blip r:embed="rId4"/>
          <a:stretch>
            <a:fillRect/>
          </a:stretch>
        </p:blipFill>
        <p:spPr>
          <a:xfrm>
            <a:off x="1973149" y="3889311"/>
            <a:ext cx="134549" cy="195707"/>
          </a:xfrm>
          <a:prstGeom prst="rect">
            <a:avLst/>
          </a:prstGeom>
        </p:spPr>
      </p:pic>
      <p:sp>
        <p:nvSpPr>
          <p:cNvPr id="25" name="TextBox 24"/>
          <p:cNvSpPr txBox="1"/>
          <p:nvPr/>
        </p:nvSpPr>
        <p:spPr>
          <a:xfrm>
            <a:off x="2148258" y="38995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127372"/>
            <a:ext cx="7227515" cy="194310"/>
          </a:xfrm>
          <a:prstGeom prst="rect">
            <a:avLst/>
          </a:prstGeom>
          <a:noFill/>
        </p:spPr>
        <p:txBody>
          <a:bodyPr wrap="none" lIns="0" rIns="0" tIns="0" bIns="0">
            <a:spAutoFit/>
          </a:bodyPr>
          <a:lstStyle/>
          <a:p>
            <a:r>
              <a:rPr sz="1150" b="0">
                <a:solidFill>
                  <a:srgbClr val="2E2E2E"/>
                </a:solidFill>
                <a:latin typeface="Calibri"/>
              </a:rPr>
              <a:t>In terms of value share by distribution channel, the other channels segment is expected to dominate the market, gaining</a:t>
            </a:r>
          </a:p>
        </p:txBody>
      </p:sp>
      <p:pic>
        <p:nvPicPr>
          <p:cNvPr id="27" name="Picture 26" descr="lock.png"/>
          <p:cNvPicPr>
            <a:picLocks noChangeAspect="1"/>
          </p:cNvPicPr>
          <p:nvPr/>
        </p:nvPicPr>
        <p:blipFill>
          <a:blip r:embed="rId4"/>
          <a:stretch>
            <a:fillRect/>
          </a:stretch>
        </p:blipFill>
        <p:spPr>
          <a:xfrm>
            <a:off x="7452894" y="4117149"/>
            <a:ext cx="134549" cy="195707"/>
          </a:xfrm>
          <a:prstGeom prst="rect">
            <a:avLst/>
          </a:prstGeom>
        </p:spPr>
      </p:pic>
      <p:sp>
        <p:nvSpPr>
          <p:cNvPr id="28" name="TextBox 27"/>
          <p:cNvSpPr txBox="1"/>
          <p:nvPr/>
        </p:nvSpPr>
        <p:spPr>
          <a:xfrm>
            <a:off x="7628003" y="41273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9023146" y="4117149"/>
            <a:ext cx="134549" cy="195707"/>
          </a:xfrm>
          <a:prstGeom prst="rect">
            <a:avLst/>
          </a:prstGeom>
        </p:spPr>
      </p:pic>
      <p:sp>
        <p:nvSpPr>
          <p:cNvPr id="30" name="TextBox 29"/>
          <p:cNvSpPr txBox="1"/>
          <p:nvPr/>
        </p:nvSpPr>
        <p:spPr>
          <a:xfrm>
            <a:off x="9198256" y="4127372"/>
            <a:ext cx="2405298" cy="194310"/>
          </a:xfrm>
          <a:prstGeom prst="rect">
            <a:avLst/>
          </a:prstGeom>
          <a:noFill/>
        </p:spPr>
        <p:txBody>
          <a:bodyPr wrap="none" lIns="0" rIns="0" tIns="0" bIns="0">
            <a:spAutoFit/>
          </a:bodyPr>
          <a:lstStyle/>
          <a:p>
            <a:r>
              <a:rPr sz="1150" b="0">
                <a:solidFill>
                  <a:srgbClr val="2E2E2E"/>
                </a:solidFill>
                <a:latin typeface="Calibri"/>
              </a:rPr>
              <a:t>share by 2036. The retail and hardware</a:t>
            </a:r>
          </a:p>
        </p:txBody>
      </p:sp>
      <p:sp>
        <p:nvSpPr>
          <p:cNvPr id="31" name="TextBox 30"/>
          <p:cNvSpPr txBox="1"/>
          <p:nvPr/>
        </p:nvSpPr>
        <p:spPr>
          <a:xfrm>
            <a:off x="276225" y="4302632"/>
            <a:ext cx="2122611" cy="194310"/>
          </a:xfrm>
          <a:prstGeom prst="rect">
            <a:avLst/>
          </a:prstGeom>
          <a:noFill/>
        </p:spPr>
        <p:txBody>
          <a:bodyPr wrap="none" lIns="0" rIns="0" tIns="0" bIns="0">
            <a:spAutoFit/>
          </a:bodyPr>
          <a:lstStyle/>
          <a:p>
            <a:r>
              <a:rPr sz="1150" b="0">
                <a:solidFill>
                  <a:srgbClr val="2E2E2E"/>
                </a:solidFill>
                <a:latin typeface="Calibri"/>
              </a:rPr>
              <a:t>stores segment is expected to lose</a:t>
            </a:r>
          </a:p>
        </p:txBody>
      </p:sp>
      <p:pic>
        <p:nvPicPr>
          <p:cNvPr id="32" name="Picture 31" descr="lock.png"/>
          <p:cNvPicPr>
            <a:picLocks noChangeAspect="1"/>
          </p:cNvPicPr>
          <p:nvPr/>
        </p:nvPicPr>
        <p:blipFill>
          <a:blip r:embed="rId4"/>
          <a:stretch>
            <a:fillRect/>
          </a:stretch>
        </p:blipFill>
        <p:spPr>
          <a:xfrm>
            <a:off x="2347990" y="4292409"/>
            <a:ext cx="134549" cy="195707"/>
          </a:xfrm>
          <a:prstGeom prst="rect">
            <a:avLst/>
          </a:prstGeom>
        </p:spPr>
      </p:pic>
      <p:sp>
        <p:nvSpPr>
          <p:cNvPr id="33" name="TextBox 32"/>
          <p:cNvSpPr txBox="1"/>
          <p:nvPr/>
        </p:nvSpPr>
        <p:spPr>
          <a:xfrm>
            <a:off x="2523099" y="43026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5110604" y="4292409"/>
            <a:ext cx="134549" cy="195707"/>
          </a:xfrm>
          <a:prstGeom prst="rect">
            <a:avLst/>
          </a:prstGeom>
        </p:spPr>
      </p:pic>
      <p:sp>
        <p:nvSpPr>
          <p:cNvPr id="35" name="TextBox 34"/>
          <p:cNvSpPr txBox="1"/>
          <p:nvPr/>
        </p:nvSpPr>
        <p:spPr>
          <a:xfrm>
            <a:off x="5285713" y="43026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Distribution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Distribution Channel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Distribution Channel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936513"/>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93175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85555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Retail and Hardware Stores</a:t>
            </a:r>
          </a:p>
        </p:txBody>
      </p:sp>
      <p:sp>
        <p:nvSpPr>
          <p:cNvPr id="18" name="BPS Value 1"/>
          <p:cNvSpPr txBox="1"/>
          <p:nvPr/>
        </p:nvSpPr>
        <p:spPr>
          <a:xfrm>
            <a:off x="6896100" y="191746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2613569"/>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260880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53260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Distributors and Wholesalers</a:t>
            </a:r>
          </a:p>
        </p:txBody>
      </p:sp>
      <p:sp>
        <p:nvSpPr>
          <p:cNvPr id="22" name="BPS Value 2"/>
          <p:cNvSpPr txBox="1"/>
          <p:nvPr/>
        </p:nvSpPr>
        <p:spPr>
          <a:xfrm>
            <a:off x="6896100" y="259451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928997" y="3473763"/>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5090922" y="346900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339280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Direct Sales</a:t>
            </a:r>
          </a:p>
        </p:txBody>
      </p:sp>
      <p:sp>
        <p:nvSpPr>
          <p:cNvPr id="26" name="BPS Value 3"/>
          <p:cNvSpPr txBox="1"/>
          <p:nvPr/>
        </p:nvSpPr>
        <p:spPr>
          <a:xfrm>
            <a:off x="6896100" y="345471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928997" y="4470050"/>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5090922" y="446528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438908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Online Sales</a:t>
            </a:r>
          </a:p>
        </p:txBody>
      </p:sp>
      <p:sp>
        <p:nvSpPr>
          <p:cNvPr id="30" name="BPS Value 4"/>
          <p:cNvSpPr txBox="1"/>
          <p:nvPr/>
        </p:nvSpPr>
        <p:spPr>
          <a:xfrm>
            <a:off x="6896100" y="445100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FMI Legend Chip"/>
          <p:cNvSpPr/>
          <p:nvPr/>
        </p:nvSpPr>
        <p:spPr>
          <a:xfrm>
            <a:off x="4928997" y="5630790"/>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a:off x="5090922" y="562602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554982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Channels</a:t>
            </a:r>
          </a:p>
        </p:txBody>
      </p:sp>
      <p:sp>
        <p:nvSpPr>
          <p:cNvPr id="34" name="BPS Value 5"/>
          <p:cNvSpPr txBox="1"/>
          <p:nvPr/>
        </p:nvSpPr>
        <p:spPr>
          <a:xfrm>
            <a:off x="6896100" y="561174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5" name="Rounded Rectangle 34"/>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Distribution Channel</a:t>
            </a:r>
          </a:p>
        </p:txBody>
      </p:sp>
      <p:sp>
        <p:nvSpPr>
          <p:cNvPr id="37" name="Rectangle 36"/>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9" name="TextBox 3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0" name="Picture 39" descr="lock.png"/>
          <p:cNvPicPr>
            <a:picLocks noChangeAspect="1"/>
          </p:cNvPicPr>
          <p:nvPr/>
        </p:nvPicPr>
        <p:blipFill>
          <a:blip r:embed="rId5"/>
          <a:stretch>
            <a:fillRect/>
          </a:stretch>
        </p:blipFill>
        <p:spPr>
          <a:xfrm>
            <a:off x="2557843" y="3833622"/>
            <a:ext cx="275034" cy="400050"/>
          </a:xfrm>
          <a:prstGeom prst="rect">
            <a:avLst/>
          </a:prstGeom>
        </p:spPr>
      </p:pic>
      <p:sp>
        <p:nvSpPr>
          <p:cNvPr id="41" name="TextBox 40"/>
          <p:cNvSpPr txBox="1"/>
          <p:nvPr/>
        </p:nvSpPr>
        <p:spPr>
          <a:xfrm>
            <a:off x="7829550" y="1400175"/>
            <a:ext cx="3873499" cy="194310"/>
          </a:xfrm>
          <a:prstGeom prst="rect">
            <a:avLst/>
          </a:prstGeom>
          <a:noFill/>
        </p:spPr>
        <p:txBody>
          <a:bodyPr wrap="none" lIns="0" rIns="0" tIns="0" bIns="0">
            <a:spAutoFit/>
          </a:bodyPr>
          <a:lstStyle/>
          <a:p>
            <a:r>
              <a:rPr sz="1150" b="0">
                <a:solidFill>
                  <a:srgbClr val="2E2E2E"/>
                </a:solidFill>
                <a:latin typeface="Calibri"/>
              </a:rPr>
              <a:t>Among waterproof coatings by distribution channel, direct sales</a:t>
            </a:r>
          </a:p>
        </p:txBody>
      </p:sp>
      <p:sp>
        <p:nvSpPr>
          <p:cNvPr id="42" name="TextBox 41"/>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43" name="Picture 42" descr="lock.png"/>
          <p:cNvPicPr>
            <a:picLocks noChangeAspect="1"/>
          </p:cNvPicPr>
          <p:nvPr/>
        </p:nvPicPr>
        <p:blipFill>
          <a:blip r:embed="rId5"/>
          <a:stretch>
            <a:fillRect/>
          </a:stretch>
        </p:blipFill>
        <p:spPr>
          <a:xfrm>
            <a:off x="10935343" y="1565211"/>
            <a:ext cx="134549" cy="195707"/>
          </a:xfrm>
          <a:prstGeom prst="rect">
            <a:avLst/>
          </a:prstGeom>
        </p:spPr>
      </p:pic>
      <p:sp>
        <p:nvSpPr>
          <p:cNvPr id="44" name="TextBox 43"/>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45" name="TextBox 44"/>
          <p:cNvSpPr txBox="1"/>
          <p:nvPr/>
        </p:nvSpPr>
        <p:spPr>
          <a:xfrm>
            <a:off x="7829550" y="1750695"/>
            <a:ext cx="4057650" cy="194310"/>
          </a:xfrm>
          <a:prstGeom prst="rect">
            <a:avLst/>
          </a:prstGeom>
          <a:noFill/>
        </p:spPr>
        <p:txBody>
          <a:bodyPr wrap="none" lIns="0" rIns="0" tIns="0" bIns="0">
            <a:spAutoFit/>
          </a:bodyPr>
          <a:lstStyle/>
          <a:p>
            <a:r>
              <a:rPr sz="1150" b="0">
                <a:solidFill>
                  <a:srgbClr val="2E2E2E"/>
                </a:solidFill>
                <a:latin typeface="Calibri"/>
              </a:rPr>
              <a:t>forecast period. In terms of value share by distribution channel, the</a:t>
            </a:r>
          </a:p>
        </p:txBody>
      </p:sp>
      <p:sp>
        <p:nvSpPr>
          <p:cNvPr id="46" name="TextBox 45"/>
          <p:cNvSpPr txBox="1"/>
          <p:nvPr/>
        </p:nvSpPr>
        <p:spPr>
          <a:xfrm>
            <a:off x="7829550" y="1925955"/>
            <a:ext cx="3702918" cy="194310"/>
          </a:xfrm>
          <a:prstGeom prst="rect">
            <a:avLst/>
          </a:prstGeom>
          <a:noFill/>
        </p:spPr>
        <p:txBody>
          <a:bodyPr wrap="none" lIns="0" rIns="0" tIns="0" bIns="0">
            <a:spAutoFit/>
          </a:bodyPr>
          <a:lstStyle/>
          <a:p>
            <a:r>
              <a:rPr sz="1150" b="0">
                <a:solidFill>
                  <a:srgbClr val="2E2E2E"/>
                </a:solidFill>
                <a:latin typeface="Calibri"/>
              </a:rPr>
              <a:t>other channels segment is expected to dominate the market,</a:t>
            </a:r>
          </a:p>
        </p:txBody>
      </p:sp>
      <p:sp>
        <p:nvSpPr>
          <p:cNvPr id="47" name="TextBox 46"/>
          <p:cNvSpPr txBox="1"/>
          <p:nvPr/>
        </p:nvSpPr>
        <p:spPr>
          <a:xfrm>
            <a:off x="7829550" y="2101215"/>
            <a:ext cx="504366" cy="194310"/>
          </a:xfrm>
          <a:prstGeom prst="rect">
            <a:avLst/>
          </a:prstGeom>
          <a:noFill/>
        </p:spPr>
        <p:txBody>
          <a:bodyPr wrap="none" lIns="0" rIns="0" tIns="0" bIns="0">
            <a:spAutoFit/>
          </a:bodyPr>
          <a:lstStyle/>
          <a:p>
            <a:r>
              <a:rPr sz="1150" b="0">
                <a:solidFill>
                  <a:srgbClr val="2E2E2E"/>
                </a:solidFill>
                <a:latin typeface="Calibri"/>
              </a:rPr>
              <a:t>gaining</a:t>
            </a:r>
          </a:p>
        </p:txBody>
      </p:sp>
      <p:pic>
        <p:nvPicPr>
          <p:cNvPr id="48" name="Picture 47" descr="lock.png"/>
          <p:cNvPicPr>
            <a:picLocks noChangeAspect="1"/>
          </p:cNvPicPr>
          <p:nvPr/>
        </p:nvPicPr>
        <p:blipFill>
          <a:blip r:embed="rId5"/>
          <a:stretch>
            <a:fillRect/>
          </a:stretch>
        </p:blipFill>
        <p:spPr>
          <a:xfrm>
            <a:off x="8283070" y="2090991"/>
            <a:ext cx="134549" cy="195707"/>
          </a:xfrm>
          <a:prstGeom prst="rect">
            <a:avLst/>
          </a:prstGeom>
        </p:spPr>
      </p:pic>
      <p:sp>
        <p:nvSpPr>
          <p:cNvPr id="49" name="TextBox 48"/>
          <p:cNvSpPr txBox="1"/>
          <p:nvPr/>
        </p:nvSpPr>
        <p:spPr>
          <a:xfrm>
            <a:off x="8458179"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0" name="Picture 49" descr="lock.png"/>
          <p:cNvPicPr>
            <a:picLocks noChangeAspect="1"/>
          </p:cNvPicPr>
          <p:nvPr/>
        </p:nvPicPr>
        <p:blipFill>
          <a:blip r:embed="rId5"/>
          <a:stretch>
            <a:fillRect/>
          </a:stretch>
        </p:blipFill>
        <p:spPr>
          <a:xfrm>
            <a:off x="9853322" y="2090991"/>
            <a:ext cx="134549" cy="195707"/>
          </a:xfrm>
          <a:prstGeom prst="rect">
            <a:avLst/>
          </a:prstGeom>
        </p:spPr>
      </p:pic>
      <p:sp>
        <p:nvSpPr>
          <p:cNvPr id="51" name="TextBox 50"/>
          <p:cNvSpPr txBox="1"/>
          <p:nvPr/>
        </p:nvSpPr>
        <p:spPr>
          <a:xfrm>
            <a:off x="10028431"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2" name="TextBox 51"/>
          <p:cNvSpPr txBox="1"/>
          <p:nvPr/>
        </p:nvSpPr>
        <p:spPr>
          <a:xfrm>
            <a:off x="7829550" y="2329053"/>
            <a:ext cx="3581685" cy="194310"/>
          </a:xfrm>
          <a:prstGeom prst="rect">
            <a:avLst/>
          </a:prstGeom>
          <a:noFill/>
        </p:spPr>
        <p:txBody>
          <a:bodyPr wrap="none" lIns="0" rIns="0" tIns="0" bIns="0">
            <a:spAutoFit/>
          </a:bodyPr>
          <a:lstStyle/>
          <a:p>
            <a:r>
              <a:rPr sz="1150" b="0">
                <a:solidFill>
                  <a:srgbClr val="2E2E2E"/>
                </a:solidFill>
                <a:latin typeface="Calibri"/>
              </a:rPr>
              <a:t>The retail and hardware stores segment is expected to lose</a:t>
            </a:r>
          </a:p>
        </p:txBody>
      </p:sp>
      <p:pic>
        <p:nvPicPr>
          <p:cNvPr id="53" name="Picture 52" descr="lock.png"/>
          <p:cNvPicPr>
            <a:picLocks noChangeAspect="1"/>
          </p:cNvPicPr>
          <p:nvPr/>
        </p:nvPicPr>
        <p:blipFill>
          <a:blip r:embed="rId5"/>
          <a:stretch>
            <a:fillRect/>
          </a:stretch>
        </p:blipFill>
        <p:spPr>
          <a:xfrm>
            <a:off x="11360389" y="2318829"/>
            <a:ext cx="134549" cy="195707"/>
          </a:xfrm>
          <a:prstGeom prst="rect">
            <a:avLst/>
          </a:prstGeom>
        </p:spPr>
      </p:pic>
      <p:sp>
        <p:nvSpPr>
          <p:cNvPr id="54" name="TextBox 53"/>
          <p:cNvSpPr txBox="1"/>
          <p:nvPr/>
        </p:nvSpPr>
        <p:spPr>
          <a:xfrm>
            <a:off x="11535498" y="2329053"/>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55" name="TextBox 54"/>
          <p:cNvSpPr txBox="1"/>
          <p:nvPr/>
        </p:nvSpPr>
        <p:spPr>
          <a:xfrm>
            <a:off x="7829550" y="2504313"/>
            <a:ext cx="2383048" cy="194310"/>
          </a:xfrm>
          <a:prstGeom prst="rect">
            <a:avLst/>
          </a:prstGeom>
          <a:noFill/>
        </p:spPr>
        <p:txBody>
          <a:bodyPr wrap="none" lIns="0" rIns="0" tIns="0" bIns="0">
            <a:spAutoFit/>
          </a:bodyPr>
          <a:lstStyle/>
          <a:p>
            <a:r>
              <a:rPr sz="1150" b="0">
                <a:solidFill>
                  <a:srgbClr val="2E2E2E"/>
                </a:solidFill>
                <a:latin typeface="Calibri"/>
              </a:rPr>
              <a:t>over the forecast period to account for</a:t>
            </a:r>
          </a:p>
        </p:txBody>
      </p:sp>
      <p:pic>
        <p:nvPicPr>
          <p:cNvPr id="56" name="Picture 55" descr="lock.png"/>
          <p:cNvPicPr>
            <a:picLocks noChangeAspect="1"/>
          </p:cNvPicPr>
          <p:nvPr/>
        </p:nvPicPr>
        <p:blipFill>
          <a:blip r:embed="rId5"/>
          <a:stretch>
            <a:fillRect/>
          </a:stretch>
        </p:blipFill>
        <p:spPr>
          <a:xfrm>
            <a:off x="10161752" y="2494089"/>
            <a:ext cx="134549" cy="195707"/>
          </a:xfrm>
          <a:prstGeom prst="rect">
            <a:avLst/>
          </a:prstGeom>
        </p:spPr>
      </p:pic>
      <p:sp>
        <p:nvSpPr>
          <p:cNvPr id="57" name="TextBox 56"/>
          <p:cNvSpPr txBox="1"/>
          <p:nvPr/>
        </p:nvSpPr>
        <p:spPr>
          <a:xfrm>
            <a:off x="10336861"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8"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2370455"/>
            <a:ext cx="7239000" cy="247650"/>
          </a:xfrm>
          <a:prstGeom prst="rect">
            <a:avLst/>
          </a:prstGeom>
          <a:noFill/>
        </p:spPr>
        <p:txBody>
          <a:bodyPr wrap="none" lIns="0" tIns="0">
            <a:spAutoFit/>
          </a:bodyPr>
          <a:lstStyle/>
          <a:p>
            <a:r>
              <a:rPr sz="1400" b="0">
                <a:solidFill>
                  <a:srgbClr val="8FC8F2"/>
                </a:solidFill>
                <a:latin typeface="Calibri"/>
              </a:rPr>
              <a:t>Waterproof Coatings Market</a:t>
            </a:r>
          </a:p>
        </p:txBody>
      </p:sp>
      <p:sp>
        <p:nvSpPr>
          <p:cNvPr id="6" name="FMI Breaker Title"/>
          <p:cNvSpPr txBox="1"/>
          <p:nvPr/>
        </p:nvSpPr>
        <p:spPr>
          <a:xfrm>
            <a:off x="914400" y="2675255"/>
            <a:ext cx="7239000" cy="514350"/>
          </a:xfrm>
          <a:prstGeom prst="rect">
            <a:avLst/>
          </a:prstGeom>
          <a:noFill/>
        </p:spPr>
        <p:txBody>
          <a:bodyPr wrap="square" lIns="0" rIns="0" tIns="0">
            <a:spAutoFit/>
          </a:bodyPr>
          <a:lstStyle/>
          <a:p>
            <a:r>
              <a:rPr sz="3000" b="1" cap="all" spc="400">
                <a:solidFill>
                  <a:srgbClr val="FFFFFF"/>
                </a:solidFill>
                <a:latin typeface="Calibri"/>
              </a:rPr>
              <a:t>Country Market Outlook</a:t>
            </a:r>
          </a:p>
        </p:txBody>
      </p:sp>
      <p:sp>
        <p:nvSpPr>
          <p:cNvPr id="7" name="TextBox 6"/>
          <p:cNvSpPr txBox="1"/>
          <p:nvPr/>
        </p:nvSpPr>
        <p:spPr>
          <a:xfrm>
            <a:off x="914400" y="3380105"/>
            <a:ext cx="7124700" cy="253619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Overview (Volume &amp; Value)</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Segment Overview (Volume &amp; Value)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Product Type / Chemistry</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Product Configuration</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Technology</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Application</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Substrate Material</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Distribution Channel</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Overview (Volume &amp; Value)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Overview</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Overview</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Segments (Value)</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Waterproof Coatings Market Volume Overview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the U.S. market in volume: size, growth, YoY momentum and gap to the Global benchmark</a:t>
            </a:r>
          </a:p>
        </p:txBody>
      </p:sp>
      <p:sp>
        <p:nvSpPr>
          <p:cNvPr id="10" name="Rounded Rectangle 9"/>
          <p:cNvSpPr/>
          <p:nvPr/>
        </p:nvSpPr>
        <p:spPr>
          <a:xfrm>
            <a:off x="1428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2025 MARKET SIZE (UNITS)</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estimate year</a:t>
            </a:r>
          </a:p>
        </p:txBody>
      </p:sp>
      <p:sp>
        <p:nvSpPr>
          <p:cNvPr id="11" name="Rounded Rectangle 10"/>
          <p:cNvSpPr/>
          <p:nvPr/>
        </p:nvSpPr>
        <p:spPr>
          <a:xfrm>
            <a:off x="31527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(UNITS)</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forecast horizon</a:t>
            </a:r>
          </a:p>
        </p:txBody>
      </p:sp>
      <p:sp>
        <p:nvSpPr>
          <p:cNvPr id="12" name="Rounded Rectangle 11"/>
          <p:cNvSpPr/>
          <p:nvPr/>
        </p:nvSpPr>
        <p:spPr>
          <a:xfrm>
            <a:off x="61626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H-CAGR (2021–2025)</a:t>
            </a:r>
          </a:p>
          <a:p>
            <a:pPr algn="ctr">
              <a:lnSpc>
                <a:spcPct val="95000"/>
              </a:lnSpc>
            </a:pPr>
            <a:r>
              <a:rPr sz="1500" b="1">
                <a:solidFill>
                  <a:srgbClr val="0E72AE"/>
                </a:solidFill>
                <a:latin typeface="Calibri"/>
              </a:rPr>
              <a:t> </a:t>
            </a:r>
          </a:p>
        </p:txBody>
      </p:sp>
      <p:sp>
        <p:nvSpPr>
          <p:cNvPr id="13" name="Rounded Rectangle 12"/>
          <p:cNvSpPr/>
          <p:nvPr/>
        </p:nvSpPr>
        <p:spPr>
          <a:xfrm>
            <a:off x="91725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F-CAGR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819275"/>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Volume (Units), 2021–2036</a:t>
            </a:r>
          </a:p>
        </p:txBody>
      </p:sp>
      <p:graphicFrame>
        <p:nvGraphicFramePr>
          <p:cNvPr id="16" name="Chart 15"/>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7" name="Rounded Rectangle 16"/>
          <p:cNvSpPr/>
          <p:nvPr/>
        </p:nvSpPr>
        <p:spPr>
          <a:xfrm>
            <a:off x="4991100" y="1819275"/>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Comparison &amp; Growth Deviation from Regional Benchmark</a:t>
            </a:r>
          </a:p>
        </p:txBody>
      </p:sp>
      <p:graphicFrame>
        <p:nvGraphicFramePr>
          <p:cNvPr id="19" name="Chart 18"/>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20" name="TextBox 19"/>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44D3A"/>
                </a:solidFill>
                <a:latin typeface="Calibri"/>
              </a:rPr>
              <a:t> </a:t>
            </a:r>
          </a:p>
          <a:p>
            <a:pPr algn="ctr"/>
            <a:r>
              <a:rPr sz="1100" b="0">
                <a:solidFill>
                  <a:srgbClr val="6C7A89"/>
                </a:solidFill>
                <a:latin typeface="Calibri"/>
              </a:rPr>
              <a:t>vs North America benchmark</a:t>
            </a:r>
          </a:p>
          <a:p>
            <a:pPr algn="ctr"/>
            <a:r>
              <a:rPr sz="1100" b="1">
                <a:solidFill>
                  <a:srgbClr val="E44D3A"/>
                </a:solidFill>
                <a:latin typeface="Calibri"/>
              </a:rPr>
              <a:t>▼ below benchmark</a:t>
            </a:r>
          </a:p>
        </p:txBody>
      </p:sp>
      <p:sp>
        <p:nvSpPr>
          <p:cNvPr id="21" name="TextBox 20"/>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E2E2E"/>
                </a:solidFill>
                <a:latin typeface="Calibri"/>
              </a:rPr>
              <a:t/>
            </a:r>
          </a:p>
        </p:txBody>
      </p:sp>
      <p:sp>
        <p:nvSpPr>
          <p:cNvPr id="22" name="Rounded Rectangle 21"/>
          <p:cNvSpPr/>
          <p:nvPr/>
        </p:nvSpPr>
        <p:spPr>
          <a:xfrm>
            <a:off x="142875" y="3733800"/>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Forecast Build-up 2026–2036 (Units)</a:t>
            </a:r>
          </a:p>
        </p:txBody>
      </p:sp>
      <p:graphicFrame>
        <p:nvGraphicFramePr>
          <p:cNvPr id="24" name="Chart 23"/>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5" name="Rounded Rectangle 24"/>
          <p:cNvSpPr/>
          <p:nvPr/>
        </p:nvSpPr>
        <p:spPr>
          <a:xfrm>
            <a:off x="4991100" y="3733800"/>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Market Share, 2026</a:t>
            </a:r>
          </a:p>
        </p:txBody>
      </p:sp>
      <p:graphicFrame>
        <p:nvGraphicFramePr>
          <p:cNvPr id="27" name="Chart 26"/>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8" name="Rounded Rectangle 27"/>
          <p:cNvSpPr/>
          <p:nvPr/>
        </p:nvSpPr>
        <p:spPr>
          <a:xfrm>
            <a:off x="142875"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9" name="Rounded Rectangle 28"/>
          <p:cNvSpPr/>
          <p:nvPr/>
        </p:nvSpPr>
        <p:spPr>
          <a:xfrm>
            <a:off x="6172200"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8"/>
          <a:stretch>
            <a:fillRect/>
          </a:stretch>
        </p:blipFill>
        <p:spPr>
          <a:xfrm>
            <a:off x="1493044" y="1219200"/>
            <a:ext cx="157162" cy="228600"/>
          </a:xfrm>
          <a:prstGeom prst="rect">
            <a:avLst/>
          </a:prstGeom>
        </p:spPr>
      </p:pic>
      <p:pic>
        <p:nvPicPr>
          <p:cNvPr id="32" name="Picture 31" descr="lock.png"/>
          <p:cNvPicPr>
            <a:picLocks noChangeAspect="1"/>
          </p:cNvPicPr>
          <p:nvPr/>
        </p:nvPicPr>
        <p:blipFill>
          <a:blip r:embed="rId8"/>
          <a:stretch>
            <a:fillRect/>
          </a:stretch>
        </p:blipFill>
        <p:spPr>
          <a:xfrm>
            <a:off x="4502944" y="1219200"/>
            <a:ext cx="157162" cy="228600"/>
          </a:xfrm>
          <a:prstGeom prst="rect">
            <a:avLst/>
          </a:prstGeom>
        </p:spPr>
      </p:pic>
      <p:pic>
        <p:nvPicPr>
          <p:cNvPr id="33" name="Picture 32" descr="lock.png"/>
          <p:cNvPicPr>
            <a:picLocks noChangeAspect="1"/>
          </p:cNvPicPr>
          <p:nvPr/>
        </p:nvPicPr>
        <p:blipFill>
          <a:blip r:embed="rId8"/>
          <a:stretch>
            <a:fillRect/>
          </a:stretch>
        </p:blipFill>
        <p:spPr>
          <a:xfrm>
            <a:off x="7512844" y="1303020"/>
            <a:ext cx="157162" cy="228600"/>
          </a:xfrm>
          <a:prstGeom prst="rect">
            <a:avLst/>
          </a:prstGeom>
        </p:spPr>
      </p:pic>
      <p:pic>
        <p:nvPicPr>
          <p:cNvPr id="34" name="Picture 33" descr="lock.png"/>
          <p:cNvPicPr>
            <a:picLocks noChangeAspect="1"/>
          </p:cNvPicPr>
          <p:nvPr/>
        </p:nvPicPr>
        <p:blipFill>
          <a:blip r:embed="rId8"/>
          <a:stretch>
            <a:fillRect/>
          </a:stretch>
        </p:blipFill>
        <p:spPr>
          <a:xfrm>
            <a:off x="10522744" y="1303020"/>
            <a:ext cx="157162" cy="228600"/>
          </a:xfrm>
          <a:prstGeom prst="rect">
            <a:avLst/>
          </a:prstGeom>
        </p:spPr>
      </p:pic>
      <p:pic>
        <p:nvPicPr>
          <p:cNvPr id="35" name="Picture 34" descr="lock.png"/>
          <p:cNvPicPr>
            <a:picLocks noChangeAspect="1"/>
          </p:cNvPicPr>
          <p:nvPr/>
        </p:nvPicPr>
        <p:blipFill>
          <a:blip r:embed="rId8"/>
          <a:stretch>
            <a:fillRect/>
          </a:stretch>
        </p:blipFill>
        <p:spPr>
          <a:xfrm>
            <a:off x="2554414" y="2661285"/>
            <a:ext cx="165021" cy="240030"/>
          </a:xfrm>
          <a:prstGeom prst="rect">
            <a:avLst/>
          </a:prstGeom>
        </p:spPr>
      </p:pic>
      <p:pic>
        <p:nvPicPr>
          <p:cNvPr id="36" name="Picture 35" descr="lock.png"/>
          <p:cNvPicPr>
            <a:picLocks noChangeAspect="1"/>
          </p:cNvPicPr>
          <p:nvPr/>
        </p:nvPicPr>
        <p:blipFill>
          <a:blip r:embed="rId8"/>
          <a:stretch>
            <a:fillRect/>
          </a:stretch>
        </p:blipFill>
        <p:spPr>
          <a:xfrm>
            <a:off x="6762365" y="2599095"/>
            <a:ext cx="191595" cy="278683"/>
          </a:xfrm>
          <a:prstGeom prst="rect">
            <a:avLst/>
          </a:prstGeom>
        </p:spPr>
      </p:pic>
      <p:pic>
        <p:nvPicPr>
          <p:cNvPr id="37" name="Picture 36" descr="lock.png"/>
          <p:cNvPicPr>
            <a:picLocks noChangeAspect="1"/>
          </p:cNvPicPr>
          <p:nvPr/>
        </p:nvPicPr>
        <p:blipFill>
          <a:blip r:embed="rId8"/>
          <a:stretch>
            <a:fillRect/>
          </a:stretch>
        </p:blipFill>
        <p:spPr>
          <a:xfrm>
            <a:off x="9878378" y="2141220"/>
            <a:ext cx="230504" cy="335279"/>
          </a:xfrm>
          <a:prstGeom prst="rect">
            <a:avLst/>
          </a:prstGeom>
        </p:spPr>
      </p:pic>
      <p:pic>
        <p:nvPicPr>
          <p:cNvPr id="38" name="Picture 37" descr="lock.png"/>
          <p:cNvPicPr>
            <a:picLocks noChangeAspect="1"/>
          </p:cNvPicPr>
          <p:nvPr/>
        </p:nvPicPr>
        <p:blipFill>
          <a:blip r:embed="rId8"/>
          <a:stretch>
            <a:fillRect/>
          </a:stretch>
        </p:blipFill>
        <p:spPr>
          <a:xfrm>
            <a:off x="2554414" y="4575810"/>
            <a:ext cx="165021" cy="240030"/>
          </a:xfrm>
          <a:prstGeom prst="rect">
            <a:avLst/>
          </a:prstGeom>
        </p:spPr>
      </p:pic>
      <p:pic>
        <p:nvPicPr>
          <p:cNvPr id="39" name="Picture 38" descr="lock.png"/>
          <p:cNvPicPr>
            <a:picLocks noChangeAspect="1"/>
          </p:cNvPicPr>
          <p:nvPr/>
        </p:nvPicPr>
        <p:blipFill>
          <a:blip r:embed="rId8"/>
          <a:stretch>
            <a:fillRect/>
          </a:stretch>
        </p:blipFill>
        <p:spPr>
          <a:xfrm>
            <a:off x="8715708" y="4462938"/>
            <a:ext cx="261282" cy="380047"/>
          </a:xfrm>
          <a:prstGeom prst="rect">
            <a:avLst/>
          </a:prstGeom>
        </p:spPr>
      </p:pic>
      <p:sp>
        <p:nvSpPr>
          <p:cNvPr id="40" name="TextBox 39"/>
          <p:cNvSpPr txBox="1"/>
          <p:nvPr/>
        </p:nvSpPr>
        <p:spPr>
          <a:xfrm>
            <a:off x="8071485" y="2876550"/>
            <a:ext cx="2653828" cy="186689"/>
          </a:xfrm>
          <a:prstGeom prst="rect">
            <a:avLst/>
          </a:prstGeom>
          <a:noFill/>
        </p:spPr>
        <p:txBody>
          <a:bodyPr wrap="none" lIns="0" rIns="0" tIns="0" bIns="0">
            <a:spAutoFit/>
          </a:bodyPr>
          <a:lstStyle/>
          <a:p>
            <a:r>
              <a:rPr sz="1100" b="0">
                <a:solidFill>
                  <a:srgbClr val="2E2E2E"/>
                </a:solidFill>
                <a:latin typeface="Calibri"/>
              </a:rPr>
              <a:t>U.S.'s waterproof coatings market expands at</a:t>
            </a:r>
          </a:p>
        </p:txBody>
      </p:sp>
      <p:pic>
        <p:nvPicPr>
          <p:cNvPr id="41" name="Picture 40" descr="lock.png"/>
          <p:cNvPicPr>
            <a:picLocks noChangeAspect="1"/>
          </p:cNvPicPr>
          <p:nvPr/>
        </p:nvPicPr>
        <p:blipFill>
          <a:blip r:embed="rId8"/>
          <a:stretch>
            <a:fillRect/>
          </a:stretch>
        </p:blipFill>
        <p:spPr>
          <a:xfrm>
            <a:off x="10673365" y="2866771"/>
            <a:ext cx="128699" cy="187198"/>
          </a:xfrm>
          <a:prstGeom prst="rect">
            <a:avLst/>
          </a:prstGeom>
        </p:spPr>
      </p:pic>
      <p:sp>
        <p:nvSpPr>
          <p:cNvPr id="42" name="TextBox 41"/>
          <p:cNvSpPr txBox="1"/>
          <p:nvPr/>
        </p:nvSpPr>
        <p:spPr>
          <a:xfrm>
            <a:off x="10840861" y="2876550"/>
            <a:ext cx="882459" cy="186689"/>
          </a:xfrm>
          <a:prstGeom prst="rect">
            <a:avLst/>
          </a:prstGeom>
          <a:noFill/>
        </p:spPr>
        <p:txBody>
          <a:bodyPr wrap="none" lIns="0" rIns="0" tIns="0" bIns="0">
            <a:spAutoFit/>
          </a:bodyPr>
          <a:lstStyle/>
          <a:p>
            <a:r>
              <a:rPr sz="1100" b="0">
                <a:solidFill>
                  <a:srgbClr val="2E2E2E"/>
                </a:solidFill>
                <a:latin typeface="Calibri"/>
              </a:rPr>
              <a:t>CAGR through</a:t>
            </a:r>
          </a:p>
        </p:txBody>
      </p:sp>
      <p:sp>
        <p:nvSpPr>
          <p:cNvPr id="43" name="TextBox 42"/>
          <p:cNvSpPr txBox="1"/>
          <p:nvPr/>
        </p:nvSpPr>
        <p:spPr>
          <a:xfrm>
            <a:off x="8071485" y="3044190"/>
            <a:ext cx="2731318" cy="186689"/>
          </a:xfrm>
          <a:prstGeom prst="rect">
            <a:avLst/>
          </a:prstGeom>
          <a:noFill/>
        </p:spPr>
        <p:txBody>
          <a:bodyPr wrap="none" lIns="0" rIns="0" tIns="0" bIns="0">
            <a:spAutoFit/>
          </a:bodyPr>
          <a:lstStyle/>
          <a:p>
            <a:r>
              <a:rPr sz="1100" b="0">
                <a:solidFill>
                  <a:srgbClr val="2E2E2E"/>
                </a:solidFill>
                <a:latin typeface="Calibri"/>
              </a:rPr>
              <a:t>2036, trailing the North America benchmark of</a:t>
            </a:r>
          </a:p>
        </p:txBody>
      </p:sp>
      <p:pic>
        <p:nvPicPr>
          <p:cNvPr id="44" name="Picture 43" descr="lock.png"/>
          <p:cNvPicPr>
            <a:picLocks noChangeAspect="1"/>
          </p:cNvPicPr>
          <p:nvPr/>
        </p:nvPicPr>
        <p:blipFill>
          <a:blip r:embed="rId8"/>
          <a:stretch>
            <a:fillRect/>
          </a:stretch>
        </p:blipFill>
        <p:spPr>
          <a:xfrm>
            <a:off x="10750855" y="3034411"/>
            <a:ext cx="128699" cy="187198"/>
          </a:xfrm>
          <a:prstGeom prst="rect">
            <a:avLst/>
          </a:prstGeom>
        </p:spPr>
      </p:pic>
      <p:sp>
        <p:nvSpPr>
          <p:cNvPr id="45" name="TextBox 44"/>
          <p:cNvSpPr txBox="1"/>
          <p:nvPr/>
        </p:nvSpPr>
        <p:spPr>
          <a:xfrm>
            <a:off x="10918350" y="3044190"/>
            <a:ext cx="212898" cy="186689"/>
          </a:xfrm>
          <a:prstGeom prst="rect">
            <a:avLst/>
          </a:prstGeom>
          <a:noFill/>
        </p:spPr>
        <p:txBody>
          <a:bodyPr wrap="none" lIns="0" rIns="0" tIns="0" bIns="0">
            <a:spAutoFit/>
          </a:bodyPr>
          <a:lstStyle/>
          <a:p>
            <a:r>
              <a:rPr sz="1100" b="0">
                <a:solidFill>
                  <a:srgbClr val="2E2E2E"/>
                </a:solidFill>
                <a:latin typeface="Calibri"/>
              </a:rPr>
              <a:t>by</a:t>
            </a:r>
          </a:p>
        </p:txBody>
      </p:sp>
      <p:pic>
        <p:nvPicPr>
          <p:cNvPr id="46" name="Picture 45" descr="lock.png"/>
          <p:cNvPicPr>
            <a:picLocks noChangeAspect="1"/>
          </p:cNvPicPr>
          <p:nvPr/>
        </p:nvPicPr>
        <p:blipFill>
          <a:blip r:embed="rId8"/>
          <a:stretch>
            <a:fillRect/>
          </a:stretch>
        </p:blipFill>
        <p:spPr>
          <a:xfrm>
            <a:off x="11079301" y="3034411"/>
            <a:ext cx="128699" cy="187198"/>
          </a:xfrm>
          <a:prstGeom prst="rect">
            <a:avLst/>
          </a:prstGeom>
        </p:spPr>
      </p:pic>
      <p:sp>
        <p:nvSpPr>
          <p:cNvPr id="47" name="TextBox 46"/>
          <p:cNvSpPr txBox="1"/>
          <p:nvPr/>
        </p:nvSpPr>
        <p:spPr>
          <a:xfrm>
            <a:off x="11246797" y="3044190"/>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48" name="TextBox 47"/>
          <p:cNvSpPr txBox="1"/>
          <p:nvPr/>
        </p:nvSpPr>
        <p:spPr>
          <a:xfrm>
            <a:off x="257175" y="5966460"/>
            <a:ext cx="639365" cy="186689"/>
          </a:xfrm>
          <a:prstGeom prst="rect">
            <a:avLst/>
          </a:prstGeom>
          <a:noFill/>
        </p:spPr>
        <p:txBody>
          <a:bodyPr wrap="none" lIns="0" rIns="0" tIns="0" bIns="0">
            <a:spAutoFit/>
          </a:bodyPr>
          <a:lstStyle/>
          <a:p>
            <a:r>
              <a:rPr sz="1100" b="0">
                <a:solidFill>
                  <a:srgbClr val="2E2E2E"/>
                </a:solidFill>
                <a:latin typeface="Calibri"/>
              </a:rPr>
              <a:t>U.S. holds</a:t>
            </a:r>
          </a:p>
        </p:txBody>
      </p:sp>
      <p:pic>
        <p:nvPicPr>
          <p:cNvPr id="49" name="Picture 48" descr="lock.png"/>
          <p:cNvPicPr>
            <a:picLocks noChangeAspect="1"/>
          </p:cNvPicPr>
          <p:nvPr/>
        </p:nvPicPr>
        <p:blipFill>
          <a:blip r:embed="rId8"/>
          <a:stretch>
            <a:fillRect/>
          </a:stretch>
        </p:blipFill>
        <p:spPr>
          <a:xfrm>
            <a:off x="844592" y="5956680"/>
            <a:ext cx="128699" cy="187198"/>
          </a:xfrm>
          <a:prstGeom prst="rect">
            <a:avLst/>
          </a:prstGeom>
        </p:spPr>
      </p:pic>
      <p:sp>
        <p:nvSpPr>
          <p:cNvPr id="50" name="TextBox 49"/>
          <p:cNvSpPr txBox="1"/>
          <p:nvPr/>
        </p:nvSpPr>
        <p:spPr>
          <a:xfrm>
            <a:off x="1012088" y="5966460"/>
            <a:ext cx="1035000" cy="186689"/>
          </a:xfrm>
          <a:prstGeom prst="rect">
            <a:avLst/>
          </a:prstGeom>
          <a:noFill/>
        </p:spPr>
        <p:txBody>
          <a:bodyPr wrap="none" lIns="0" rIns="0" tIns="0" bIns="0">
            <a:spAutoFit/>
          </a:bodyPr>
          <a:lstStyle/>
          <a:p>
            <a:r>
              <a:rPr sz="1100" b="0">
                <a:solidFill>
                  <a:srgbClr val="2E2E2E"/>
                </a:solidFill>
                <a:latin typeface="Calibri"/>
              </a:rPr>
              <a:t>of the global and</a:t>
            </a:r>
          </a:p>
        </p:txBody>
      </p:sp>
      <p:pic>
        <p:nvPicPr>
          <p:cNvPr id="51" name="Picture 50" descr="lock.png"/>
          <p:cNvPicPr>
            <a:picLocks noChangeAspect="1"/>
          </p:cNvPicPr>
          <p:nvPr/>
        </p:nvPicPr>
        <p:blipFill>
          <a:blip r:embed="rId8"/>
          <a:stretch>
            <a:fillRect/>
          </a:stretch>
        </p:blipFill>
        <p:spPr>
          <a:xfrm>
            <a:off x="1995140" y="5956680"/>
            <a:ext cx="128699" cy="187198"/>
          </a:xfrm>
          <a:prstGeom prst="rect">
            <a:avLst/>
          </a:prstGeom>
        </p:spPr>
      </p:pic>
      <p:sp>
        <p:nvSpPr>
          <p:cNvPr id="52" name="TextBox 51"/>
          <p:cNvSpPr txBox="1"/>
          <p:nvPr/>
        </p:nvSpPr>
        <p:spPr>
          <a:xfrm>
            <a:off x="2162635" y="5966460"/>
            <a:ext cx="3556967" cy="186689"/>
          </a:xfrm>
          <a:prstGeom prst="rect">
            <a:avLst/>
          </a:prstGeom>
          <a:noFill/>
        </p:spPr>
        <p:txBody>
          <a:bodyPr wrap="none" lIns="0" rIns="0" tIns="0" bIns="0">
            <a:spAutoFit/>
          </a:bodyPr>
          <a:lstStyle/>
          <a:p>
            <a:r>
              <a:rPr sz="1100" b="0">
                <a:solidFill>
                  <a:srgbClr val="2E2E2E"/>
                </a:solidFill>
                <a:latin typeface="Calibri"/>
              </a:rPr>
              <a:t>of the North America waterproof coatings market in 2026; by</a:t>
            </a:r>
          </a:p>
        </p:txBody>
      </p:sp>
      <p:sp>
        <p:nvSpPr>
          <p:cNvPr id="53" name="TextBox 52"/>
          <p:cNvSpPr txBox="1"/>
          <p:nvPr/>
        </p:nvSpPr>
        <p:spPr>
          <a:xfrm>
            <a:off x="257175" y="6134100"/>
            <a:ext cx="1610990" cy="186689"/>
          </a:xfrm>
          <a:prstGeom prst="rect">
            <a:avLst/>
          </a:prstGeom>
          <a:noFill/>
        </p:spPr>
        <p:txBody>
          <a:bodyPr wrap="none" lIns="0" rIns="0" tIns="0" bIns="0">
            <a:spAutoFit/>
          </a:bodyPr>
          <a:lstStyle/>
          <a:p>
            <a:r>
              <a:rPr sz="1100" b="0">
                <a:solidFill>
                  <a:srgbClr val="2E2E2E"/>
                </a:solidFill>
                <a:latin typeface="Calibri"/>
              </a:rPr>
              <a:t>2036 those shares move to</a:t>
            </a:r>
          </a:p>
        </p:txBody>
      </p:sp>
      <p:pic>
        <p:nvPicPr>
          <p:cNvPr id="54" name="Picture 53" descr="lock.png"/>
          <p:cNvPicPr>
            <a:picLocks noChangeAspect="1"/>
          </p:cNvPicPr>
          <p:nvPr/>
        </p:nvPicPr>
        <p:blipFill>
          <a:blip r:embed="rId8"/>
          <a:stretch>
            <a:fillRect/>
          </a:stretch>
        </p:blipFill>
        <p:spPr>
          <a:xfrm>
            <a:off x="1816216" y="6124320"/>
            <a:ext cx="128699" cy="187198"/>
          </a:xfrm>
          <a:prstGeom prst="rect">
            <a:avLst/>
          </a:prstGeom>
        </p:spPr>
      </p:pic>
      <p:sp>
        <p:nvSpPr>
          <p:cNvPr id="55" name="TextBox 54"/>
          <p:cNvSpPr txBox="1"/>
          <p:nvPr/>
        </p:nvSpPr>
        <p:spPr>
          <a:xfrm>
            <a:off x="1983712" y="6134100"/>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56" name="Picture 55" descr="lock.png"/>
          <p:cNvPicPr>
            <a:picLocks noChangeAspect="1"/>
          </p:cNvPicPr>
          <p:nvPr/>
        </p:nvPicPr>
        <p:blipFill>
          <a:blip r:embed="rId8"/>
          <a:stretch>
            <a:fillRect/>
          </a:stretch>
        </p:blipFill>
        <p:spPr>
          <a:xfrm>
            <a:off x="2221606" y="6124320"/>
            <a:ext cx="128699" cy="187198"/>
          </a:xfrm>
          <a:prstGeom prst="rect">
            <a:avLst/>
          </a:prstGeom>
        </p:spPr>
      </p:pic>
      <p:sp>
        <p:nvSpPr>
          <p:cNvPr id="57" name="TextBox 56"/>
          <p:cNvSpPr txBox="1"/>
          <p:nvPr/>
        </p:nvSpPr>
        <p:spPr>
          <a:xfrm>
            <a:off x="2389102" y="6134100"/>
            <a:ext cx="793799" cy="186689"/>
          </a:xfrm>
          <a:prstGeom prst="rect">
            <a:avLst/>
          </a:prstGeom>
          <a:noFill/>
        </p:spPr>
        <p:txBody>
          <a:bodyPr wrap="none" lIns="0" rIns="0" tIns="0" bIns="0">
            <a:spAutoFit/>
          </a:bodyPr>
          <a:lstStyle/>
          <a:p>
            <a:r>
              <a:rPr sz="1100" b="0">
                <a:solidFill>
                  <a:srgbClr val="2E2E2E"/>
                </a:solidFill>
                <a:latin typeface="Calibri"/>
              </a:rPr>
              <a:t>respectively.</a:t>
            </a:r>
          </a:p>
        </p:txBody>
      </p:sp>
      <p:sp>
        <p:nvSpPr>
          <p:cNvPr id="58" name="TextBox 57"/>
          <p:cNvSpPr txBox="1"/>
          <p:nvPr/>
        </p:nvSpPr>
        <p:spPr>
          <a:xfrm>
            <a:off x="6286500" y="5966460"/>
            <a:ext cx="1586979" cy="186689"/>
          </a:xfrm>
          <a:prstGeom prst="rect">
            <a:avLst/>
          </a:prstGeom>
          <a:noFill/>
        </p:spPr>
        <p:txBody>
          <a:bodyPr wrap="none" lIns="0" rIns="0" tIns="0" bIns="0">
            <a:spAutoFit/>
          </a:bodyPr>
          <a:lstStyle/>
          <a:p>
            <a:r>
              <a:rPr sz="1100" b="0">
                <a:solidFill>
                  <a:srgbClr val="2E2E2E"/>
                </a:solidFill>
                <a:latin typeface="Calibri"/>
              </a:rPr>
              <a:t>The forecast build-up adds</a:t>
            </a:r>
          </a:p>
        </p:txBody>
      </p:sp>
      <p:pic>
        <p:nvPicPr>
          <p:cNvPr id="59" name="Picture 58" descr="lock.png"/>
          <p:cNvPicPr>
            <a:picLocks noChangeAspect="1"/>
          </p:cNvPicPr>
          <p:nvPr/>
        </p:nvPicPr>
        <p:blipFill>
          <a:blip r:embed="rId8"/>
          <a:stretch>
            <a:fillRect/>
          </a:stretch>
        </p:blipFill>
        <p:spPr>
          <a:xfrm>
            <a:off x="7821530" y="5956680"/>
            <a:ext cx="128699" cy="187198"/>
          </a:xfrm>
          <a:prstGeom prst="rect">
            <a:avLst/>
          </a:prstGeom>
        </p:spPr>
      </p:pic>
      <p:sp>
        <p:nvSpPr>
          <p:cNvPr id="60" name="TextBox 59"/>
          <p:cNvSpPr txBox="1"/>
          <p:nvPr/>
        </p:nvSpPr>
        <p:spPr>
          <a:xfrm>
            <a:off x="7989026" y="5966460"/>
            <a:ext cx="3226271" cy="186689"/>
          </a:xfrm>
          <a:prstGeom prst="rect">
            <a:avLst/>
          </a:prstGeom>
          <a:noFill/>
        </p:spPr>
        <p:txBody>
          <a:bodyPr wrap="none" lIns="0" rIns="0" tIns="0" bIns="0">
            <a:spAutoFit/>
          </a:bodyPr>
          <a:lstStyle/>
          <a:p>
            <a:r>
              <a:rPr sz="1100" b="0">
                <a:solidFill>
                  <a:srgbClr val="2E2E2E"/>
                </a:solidFill>
                <a:latin typeface="Calibri"/>
              </a:rPr>
              <a:t>Units between 2026 and 2036 the U.S. market grows to</a:t>
            </a:r>
          </a:p>
        </p:txBody>
      </p:sp>
      <p:pic>
        <p:nvPicPr>
          <p:cNvPr id="61" name="Picture 60" descr="lock.png"/>
          <p:cNvPicPr>
            <a:picLocks noChangeAspect="1"/>
          </p:cNvPicPr>
          <p:nvPr/>
        </p:nvPicPr>
        <p:blipFill>
          <a:blip r:embed="rId8"/>
          <a:stretch>
            <a:fillRect/>
          </a:stretch>
        </p:blipFill>
        <p:spPr>
          <a:xfrm>
            <a:off x="11163349" y="5956680"/>
            <a:ext cx="128699" cy="187198"/>
          </a:xfrm>
          <a:prstGeom prst="rect">
            <a:avLst/>
          </a:prstGeom>
        </p:spPr>
      </p:pic>
      <p:sp>
        <p:nvSpPr>
          <p:cNvPr id="62" name="TextBox 61"/>
          <p:cNvSpPr txBox="1"/>
          <p:nvPr/>
        </p:nvSpPr>
        <p:spPr>
          <a:xfrm>
            <a:off x="11330845" y="5966460"/>
            <a:ext cx="311125" cy="186689"/>
          </a:xfrm>
          <a:prstGeom prst="rect">
            <a:avLst/>
          </a:prstGeom>
          <a:noFill/>
        </p:spPr>
        <p:txBody>
          <a:bodyPr wrap="none" lIns="0" rIns="0" tIns="0" bIns="0">
            <a:spAutoFit/>
          </a:bodyPr>
          <a:lstStyle/>
          <a:p>
            <a:r>
              <a:rPr sz="1100" b="0">
                <a:solidFill>
                  <a:srgbClr val="2E2E2E"/>
                </a:solidFill>
                <a:latin typeface="Calibri"/>
              </a:rPr>
              <a:t>× its</a:t>
            </a:r>
          </a:p>
        </p:txBody>
      </p:sp>
      <p:sp>
        <p:nvSpPr>
          <p:cNvPr id="63" name="TextBox 62"/>
          <p:cNvSpPr txBox="1"/>
          <p:nvPr/>
        </p:nvSpPr>
        <p:spPr>
          <a:xfrm>
            <a:off x="6286500" y="6134100"/>
            <a:ext cx="1590253" cy="186689"/>
          </a:xfrm>
          <a:prstGeom prst="rect">
            <a:avLst/>
          </a:prstGeom>
          <a:noFill/>
        </p:spPr>
        <p:txBody>
          <a:bodyPr wrap="none" lIns="0" rIns="0" tIns="0" bIns="0">
            <a:spAutoFit/>
          </a:bodyPr>
          <a:lstStyle/>
          <a:p>
            <a:r>
              <a:rPr sz="1100" b="0">
                <a:solidFill>
                  <a:srgbClr val="2E2E2E"/>
                </a:solidFill>
                <a:latin typeface="Calibri"/>
              </a:rPr>
              <a:t>2026 size over the decade.</a:t>
            </a:r>
          </a:p>
        </p:txBody>
      </p:sp>
      <p:sp>
        <p:nvSpPr>
          <p:cNvPr id="64" name="lockshield_16"/>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lockshield_19"/>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lockshield_24"/>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lockshield_27"/>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Waterproof Coatings Market Value Overview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the U.S. market in value: size, growth, YoY momentum and gap to the Global benchmark</a:t>
            </a:r>
          </a:p>
        </p:txBody>
      </p:sp>
      <p:sp>
        <p:nvSpPr>
          <p:cNvPr id="10" name="Rounded Rectangle 9"/>
          <p:cNvSpPr/>
          <p:nvPr/>
        </p:nvSpPr>
        <p:spPr>
          <a:xfrm>
            <a:off x="1428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2025 MARKET SIZE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estimate year</a:t>
            </a:r>
          </a:p>
        </p:txBody>
      </p:sp>
      <p:sp>
        <p:nvSpPr>
          <p:cNvPr id="11" name="Rounded Rectangle 10"/>
          <p:cNvSpPr/>
          <p:nvPr/>
        </p:nvSpPr>
        <p:spPr>
          <a:xfrm>
            <a:off x="31527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forecast horizon</a:t>
            </a:r>
          </a:p>
        </p:txBody>
      </p:sp>
      <p:sp>
        <p:nvSpPr>
          <p:cNvPr id="12" name="Rounded Rectangle 11"/>
          <p:cNvSpPr/>
          <p:nvPr/>
        </p:nvSpPr>
        <p:spPr>
          <a:xfrm>
            <a:off x="61626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H-CAGR (2021–2025)</a:t>
            </a:r>
          </a:p>
          <a:p>
            <a:pPr algn="ctr">
              <a:lnSpc>
                <a:spcPct val="95000"/>
              </a:lnSpc>
            </a:pPr>
            <a:r>
              <a:rPr sz="1500" b="1">
                <a:solidFill>
                  <a:srgbClr val="0E72AE"/>
                </a:solidFill>
                <a:latin typeface="Calibri"/>
              </a:rPr>
              <a:t> </a:t>
            </a:r>
          </a:p>
        </p:txBody>
      </p:sp>
      <p:sp>
        <p:nvSpPr>
          <p:cNvPr id="13" name="Rounded Rectangle 12"/>
          <p:cNvSpPr/>
          <p:nvPr/>
        </p:nvSpPr>
        <p:spPr>
          <a:xfrm>
            <a:off x="91725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F-CAGR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819275"/>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(US$ Mn), 2021–2036</a:t>
            </a:r>
          </a:p>
        </p:txBody>
      </p:sp>
      <p:graphicFrame>
        <p:nvGraphicFramePr>
          <p:cNvPr id="16" name="Chart 15"/>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7" name="Rounded Rectangle 16"/>
          <p:cNvSpPr/>
          <p:nvPr/>
        </p:nvSpPr>
        <p:spPr>
          <a:xfrm>
            <a:off x="4991100" y="1819275"/>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Comparison &amp; Growth Deviation from Regional Benchmark</a:t>
            </a:r>
          </a:p>
        </p:txBody>
      </p:sp>
      <p:graphicFrame>
        <p:nvGraphicFramePr>
          <p:cNvPr id="19" name="Chart 18"/>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20" name="TextBox 19"/>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44D3A"/>
                </a:solidFill>
                <a:latin typeface="Calibri"/>
              </a:rPr>
              <a:t> </a:t>
            </a:r>
          </a:p>
          <a:p>
            <a:pPr algn="ctr"/>
            <a:r>
              <a:rPr sz="1100" b="0">
                <a:solidFill>
                  <a:srgbClr val="6C7A89"/>
                </a:solidFill>
                <a:latin typeface="Calibri"/>
              </a:rPr>
              <a:t>vs North America benchmark</a:t>
            </a:r>
          </a:p>
          <a:p>
            <a:pPr algn="ctr"/>
            <a:r>
              <a:rPr sz="1100" b="1">
                <a:solidFill>
                  <a:srgbClr val="E44D3A"/>
                </a:solidFill>
                <a:latin typeface="Calibri"/>
              </a:rPr>
              <a:t>▼ below benchmark</a:t>
            </a:r>
          </a:p>
        </p:txBody>
      </p:sp>
      <p:sp>
        <p:nvSpPr>
          <p:cNvPr id="21" name="TextBox 20"/>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E2E2E"/>
                </a:solidFill>
                <a:latin typeface="Calibri"/>
              </a:rPr>
              <a:t/>
            </a:r>
          </a:p>
        </p:txBody>
      </p:sp>
      <p:sp>
        <p:nvSpPr>
          <p:cNvPr id="22" name="Rounded Rectangle 21"/>
          <p:cNvSpPr/>
          <p:nvPr/>
        </p:nvSpPr>
        <p:spPr>
          <a:xfrm>
            <a:off x="142875" y="3733800"/>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Forecast Build-up 2026–2036 (US$ Mn)</a:t>
            </a:r>
          </a:p>
        </p:txBody>
      </p:sp>
      <p:graphicFrame>
        <p:nvGraphicFramePr>
          <p:cNvPr id="24" name="Chart 23"/>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5" name="Rounded Rectangle 24"/>
          <p:cNvSpPr/>
          <p:nvPr/>
        </p:nvSpPr>
        <p:spPr>
          <a:xfrm>
            <a:off x="4991100" y="3733800"/>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Market Share, 2026</a:t>
            </a:r>
          </a:p>
        </p:txBody>
      </p:sp>
      <p:graphicFrame>
        <p:nvGraphicFramePr>
          <p:cNvPr id="27" name="Chart 26"/>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8" name="Rounded Rectangle 27"/>
          <p:cNvSpPr/>
          <p:nvPr/>
        </p:nvSpPr>
        <p:spPr>
          <a:xfrm>
            <a:off x="142875"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9" name="Rounded Rectangle 28"/>
          <p:cNvSpPr/>
          <p:nvPr/>
        </p:nvSpPr>
        <p:spPr>
          <a:xfrm>
            <a:off x="6172200"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8"/>
          <a:stretch>
            <a:fillRect/>
          </a:stretch>
        </p:blipFill>
        <p:spPr>
          <a:xfrm>
            <a:off x="1493044" y="1219200"/>
            <a:ext cx="157162" cy="228600"/>
          </a:xfrm>
          <a:prstGeom prst="rect">
            <a:avLst/>
          </a:prstGeom>
        </p:spPr>
      </p:pic>
      <p:pic>
        <p:nvPicPr>
          <p:cNvPr id="32" name="Picture 31" descr="lock.png"/>
          <p:cNvPicPr>
            <a:picLocks noChangeAspect="1"/>
          </p:cNvPicPr>
          <p:nvPr/>
        </p:nvPicPr>
        <p:blipFill>
          <a:blip r:embed="rId8"/>
          <a:stretch>
            <a:fillRect/>
          </a:stretch>
        </p:blipFill>
        <p:spPr>
          <a:xfrm>
            <a:off x="4502944" y="1219200"/>
            <a:ext cx="157162" cy="228600"/>
          </a:xfrm>
          <a:prstGeom prst="rect">
            <a:avLst/>
          </a:prstGeom>
        </p:spPr>
      </p:pic>
      <p:pic>
        <p:nvPicPr>
          <p:cNvPr id="33" name="Picture 32" descr="lock.png"/>
          <p:cNvPicPr>
            <a:picLocks noChangeAspect="1"/>
          </p:cNvPicPr>
          <p:nvPr/>
        </p:nvPicPr>
        <p:blipFill>
          <a:blip r:embed="rId8"/>
          <a:stretch>
            <a:fillRect/>
          </a:stretch>
        </p:blipFill>
        <p:spPr>
          <a:xfrm>
            <a:off x="7512844" y="1303020"/>
            <a:ext cx="157162" cy="228600"/>
          </a:xfrm>
          <a:prstGeom prst="rect">
            <a:avLst/>
          </a:prstGeom>
        </p:spPr>
      </p:pic>
      <p:pic>
        <p:nvPicPr>
          <p:cNvPr id="34" name="Picture 33" descr="lock.png"/>
          <p:cNvPicPr>
            <a:picLocks noChangeAspect="1"/>
          </p:cNvPicPr>
          <p:nvPr/>
        </p:nvPicPr>
        <p:blipFill>
          <a:blip r:embed="rId8"/>
          <a:stretch>
            <a:fillRect/>
          </a:stretch>
        </p:blipFill>
        <p:spPr>
          <a:xfrm>
            <a:off x="10522744" y="1303020"/>
            <a:ext cx="157162" cy="228600"/>
          </a:xfrm>
          <a:prstGeom prst="rect">
            <a:avLst/>
          </a:prstGeom>
        </p:spPr>
      </p:pic>
      <p:pic>
        <p:nvPicPr>
          <p:cNvPr id="35" name="Picture 34" descr="lock.png"/>
          <p:cNvPicPr>
            <a:picLocks noChangeAspect="1"/>
          </p:cNvPicPr>
          <p:nvPr/>
        </p:nvPicPr>
        <p:blipFill>
          <a:blip r:embed="rId8"/>
          <a:stretch>
            <a:fillRect/>
          </a:stretch>
        </p:blipFill>
        <p:spPr>
          <a:xfrm>
            <a:off x="2554414" y="2661285"/>
            <a:ext cx="165021" cy="240030"/>
          </a:xfrm>
          <a:prstGeom prst="rect">
            <a:avLst/>
          </a:prstGeom>
        </p:spPr>
      </p:pic>
      <p:pic>
        <p:nvPicPr>
          <p:cNvPr id="36" name="Picture 35" descr="lock.png"/>
          <p:cNvPicPr>
            <a:picLocks noChangeAspect="1"/>
          </p:cNvPicPr>
          <p:nvPr/>
        </p:nvPicPr>
        <p:blipFill>
          <a:blip r:embed="rId8"/>
          <a:stretch>
            <a:fillRect/>
          </a:stretch>
        </p:blipFill>
        <p:spPr>
          <a:xfrm>
            <a:off x="6762365" y="2599095"/>
            <a:ext cx="191595" cy="278683"/>
          </a:xfrm>
          <a:prstGeom prst="rect">
            <a:avLst/>
          </a:prstGeom>
        </p:spPr>
      </p:pic>
      <p:pic>
        <p:nvPicPr>
          <p:cNvPr id="37" name="Picture 36" descr="lock.png"/>
          <p:cNvPicPr>
            <a:picLocks noChangeAspect="1"/>
          </p:cNvPicPr>
          <p:nvPr/>
        </p:nvPicPr>
        <p:blipFill>
          <a:blip r:embed="rId8"/>
          <a:stretch>
            <a:fillRect/>
          </a:stretch>
        </p:blipFill>
        <p:spPr>
          <a:xfrm>
            <a:off x="9878378" y="2141220"/>
            <a:ext cx="230504" cy="335279"/>
          </a:xfrm>
          <a:prstGeom prst="rect">
            <a:avLst/>
          </a:prstGeom>
        </p:spPr>
      </p:pic>
      <p:pic>
        <p:nvPicPr>
          <p:cNvPr id="38" name="Picture 37" descr="lock.png"/>
          <p:cNvPicPr>
            <a:picLocks noChangeAspect="1"/>
          </p:cNvPicPr>
          <p:nvPr/>
        </p:nvPicPr>
        <p:blipFill>
          <a:blip r:embed="rId8"/>
          <a:stretch>
            <a:fillRect/>
          </a:stretch>
        </p:blipFill>
        <p:spPr>
          <a:xfrm>
            <a:off x="2554414" y="4575810"/>
            <a:ext cx="165021" cy="240030"/>
          </a:xfrm>
          <a:prstGeom prst="rect">
            <a:avLst/>
          </a:prstGeom>
        </p:spPr>
      </p:pic>
      <p:pic>
        <p:nvPicPr>
          <p:cNvPr id="39" name="Picture 38" descr="lock.png"/>
          <p:cNvPicPr>
            <a:picLocks noChangeAspect="1"/>
          </p:cNvPicPr>
          <p:nvPr/>
        </p:nvPicPr>
        <p:blipFill>
          <a:blip r:embed="rId8"/>
          <a:stretch>
            <a:fillRect/>
          </a:stretch>
        </p:blipFill>
        <p:spPr>
          <a:xfrm>
            <a:off x="8715708" y="4462938"/>
            <a:ext cx="261282" cy="380047"/>
          </a:xfrm>
          <a:prstGeom prst="rect">
            <a:avLst/>
          </a:prstGeom>
        </p:spPr>
      </p:pic>
      <p:sp>
        <p:nvSpPr>
          <p:cNvPr id="40" name="TextBox 39"/>
          <p:cNvSpPr txBox="1"/>
          <p:nvPr/>
        </p:nvSpPr>
        <p:spPr>
          <a:xfrm>
            <a:off x="8071485" y="2876550"/>
            <a:ext cx="2653828" cy="186689"/>
          </a:xfrm>
          <a:prstGeom prst="rect">
            <a:avLst/>
          </a:prstGeom>
          <a:noFill/>
        </p:spPr>
        <p:txBody>
          <a:bodyPr wrap="none" lIns="0" rIns="0" tIns="0" bIns="0">
            <a:spAutoFit/>
          </a:bodyPr>
          <a:lstStyle/>
          <a:p>
            <a:r>
              <a:rPr sz="1100" b="0">
                <a:solidFill>
                  <a:srgbClr val="2E2E2E"/>
                </a:solidFill>
                <a:latin typeface="Calibri"/>
              </a:rPr>
              <a:t>U.S.'s waterproof coatings market expands at</a:t>
            </a:r>
          </a:p>
        </p:txBody>
      </p:sp>
      <p:pic>
        <p:nvPicPr>
          <p:cNvPr id="41" name="Picture 40" descr="lock.png"/>
          <p:cNvPicPr>
            <a:picLocks noChangeAspect="1"/>
          </p:cNvPicPr>
          <p:nvPr/>
        </p:nvPicPr>
        <p:blipFill>
          <a:blip r:embed="rId8"/>
          <a:stretch>
            <a:fillRect/>
          </a:stretch>
        </p:blipFill>
        <p:spPr>
          <a:xfrm>
            <a:off x="10673365" y="2866771"/>
            <a:ext cx="128699" cy="187198"/>
          </a:xfrm>
          <a:prstGeom prst="rect">
            <a:avLst/>
          </a:prstGeom>
        </p:spPr>
      </p:pic>
      <p:sp>
        <p:nvSpPr>
          <p:cNvPr id="42" name="TextBox 41"/>
          <p:cNvSpPr txBox="1"/>
          <p:nvPr/>
        </p:nvSpPr>
        <p:spPr>
          <a:xfrm>
            <a:off x="10840861" y="2876550"/>
            <a:ext cx="882459" cy="186689"/>
          </a:xfrm>
          <a:prstGeom prst="rect">
            <a:avLst/>
          </a:prstGeom>
          <a:noFill/>
        </p:spPr>
        <p:txBody>
          <a:bodyPr wrap="none" lIns="0" rIns="0" tIns="0" bIns="0">
            <a:spAutoFit/>
          </a:bodyPr>
          <a:lstStyle/>
          <a:p>
            <a:r>
              <a:rPr sz="1100" b="0">
                <a:solidFill>
                  <a:srgbClr val="2E2E2E"/>
                </a:solidFill>
                <a:latin typeface="Calibri"/>
              </a:rPr>
              <a:t>CAGR through</a:t>
            </a:r>
          </a:p>
        </p:txBody>
      </p:sp>
      <p:sp>
        <p:nvSpPr>
          <p:cNvPr id="43" name="TextBox 42"/>
          <p:cNvSpPr txBox="1"/>
          <p:nvPr/>
        </p:nvSpPr>
        <p:spPr>
          <a:xfrm>
            <a:off x="8071485" y="3044190"/>
            <a:ext cx="2731318" cy="186689"/>
          </a:xfrm>
          <a:prstGeom prst="rect">
            <a:avLst/>
          </a:prstGeom>
          <a:noFill/>
        </p:spPr>
        <p:txBody>
          <a:bodyPr wrap="none" lIns="0" rIns="0" tIns="0" bIns="0">
            <a:spAutoFit/>
          </a:bodyPr>
          <a:lstStyle/>
          <a:p>
            <a:r>
              <a:rPr sz="1100" b="0">
                <a:solidFill>
                  <a:srgbClr val="2E2E2E"/>
                </a:solidFill>
                <a:latin typeface="Calibri"/>
              </a:rPr>
              <a:t>2036, trailing the North America benchmark of</a:t>
            </a:r>
          </a:p>
        </p:txBody>
      </p:sp>
      <p:pic>
        <p:nvPicPr>
          <p:cNvPr id="44" name="Picture 43" descr="lock.png"/>
          <p:cNvPicPr>
            <a:picLocks noChangeAspect="1"/>
          </p:cNvPicPr>
          <p:nvPr/>
        </p:nvPicPr>
        <p:blipFill>
          <a:blip r:embed="rId8"/>
          <a:stretch>
            <a:fillRect/>
          </a:stretch>
        </p:blipFill>
        <p:spPr>
          <a:xfrm>
            <a:off x="10750855" y="3034411"/>
            <a:ext cx="128699" cy="187198"/>
          </a:xfrm>
          <a:prstGeom prst="rect">
            <a:avLst/>
          </a:prstGeom>
        </p:spPr>
      </p:pic>
      <p:sp>
        <p:nvSpPr>
          <p:cNvPr id="45" name="TextBox 44"/>
          <p:cNvSpPr txBox="1"/>
          <p:nvPr/>
        </p:nvSpPr>
        <p:spPr>
          <a:xfrm>
            <a:off x="10918350" y="3044190"/>
            <a:ext cx="212898" cy="186689"/>
          </a:xfrm>
          <a:prstGeom prst="rect">
            <a:avLst/>
          </a:prstGeom>
          <a:noFill/>
        </p:spPr>
        <p:txBody>
          <a:bodyPr wrap="none" lIns="0" rIns="0" tIns="0" bIns="0">
            <a:spAutoFit/>
          </a:bodyPr>
          <a:lstStyle/>
          <a:p>
            <a:r>
              <a:rPr sz="1100" b="0">
                <a:solidFill>
                  <a:srgbClr val="2E2E2E"/>
                </a:solidFill>
                <a:latin typeface="Calibri"/>
              </a:rPr>
              <a:t>by</a:t>
            </a:r>
          </a:p>
        </p:txBody>
      </p:sp>
      <p:pic>
        <p:nvPicPr>
          <p:cNvPr id="46" name="Picture 45" descr="lock.png"/>
          <p:cNvPicPr>
            <a:picLocks noChangeAspect="1"/>
          </p:cNvPicPr>
          <p:nvPr/>
        </p:nvPicPr>
        <p:blipFill>
          <a:blip r:embed="rId8"/>
          <a:stretch>
            <a:fillRect/>
          </a:stretch>
        </p:blipFill>
        <p:spPr>
          <a:xfrm>
            <a:off x="11079301" y="3034411"/>
            <a:ext cx="128699" cy="187198"/>
          </a:xfrm>
          <a:prstGeom prst="rect">
            <a:avLst/>
          </a:prstGeom>
        </p:spPr>
      </p:pic>
      <p:sp>
        <p:nvSpPr>
          <p:cNvPr id="47" name="TextBox 46"/>
          <p:cNvSpPr txBox="1"/>
          <p:nvPr/>
        </p:nvSpPr>
        <p:spPr>
          <a:xfrm>
            <a:off x="11246797" y="3044190"/>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48" name="TextBox 47"/>
          <p:cNvSpPr txBox="1"/>
          <p:nvPr/>
        </p:nvSpPr>
        <p:spPr>
          <a:xfrm>
            <a:off x="257175" y="5966460"/>
            <a:ext cx="639365" cy="186689"/>
          </a:xfrm>
          <a:prstGeom prst="rect">
            <a:avLst/>
          </a:prstGeom>
          <a:noFill/>
        </p:spPr>
        <p:txBody>
          <a:bodyPr wrap="none" lIns="0" rIns="0" tIns="0" bIns="0">
            <a:spAutoFit/>
          </a:bodyPr>
          <a:lstStyle/>
          <a:p>
            <a:r>
              <a:rPr sz="1100" b="0">
                <a:solidFill>
                  <a:srgbClr val="2E2E2E"/>
                </a:solidFill>
                <a:latin typeface="Calibri"/>
              </a:rPr>
              <a:t>U.S. holds</a:t>
            </a:r>
          </a:p>
        </p:txBody>
      </p:sp>
      <p:pic>
        <p:nvPicPr>
          <p:cNvPr id="49" name="Picture 48" descr="lock.png"/>
          <p:cNvPicPr>
            <a:picLocks noChangeAspect="1"/>
          </p:cNvPicPr>
          <p:nvPr/>
        </p:nvPicPr>
        <p:blipFill>
          <a:blip r:embed="rId8"/>
          <a:stretch>
            <a:fillRect/>
          </a:stretch>
        </p:blipFill>
        <p:spPr>
          <a:xfrm>
            <a:off x="844592" y="5956680"/>
            <a:ext cx="128699" cy="187198"/>
          </a:xfrm>
          <a:prstGeom prst="rect">
            <a:avLst/>
          </a:prstGeom>
        </p:spPr>
      </p:pic>
      <p:sp>
        <p:nvSpPr>
          <p:cNvPr id="50" name="TextBox 49"/>
          <p:cNvSpPr txBox="1"/>
          <p:nvPr/>
        </p:nvSpPr>
        <p:spPr>
          <a:xfrm>
            <a:off x="1012088" y="5966460"/>
            <a:ext cx="1035000" cy="186689"/>
          </a:xfrm>
          <a:prstGeom prst="rect">
            <a:avLst/>
          </a:prstGeom>
          <a:noFill/>
        </p:spPr>
        <p:txBody>
          <a:bodyPr wrap="none" lIns="0" rIns="0" tIns="0" bIns="0">
            <a:spAutoFit/>
          </a:bodyPr>
          <a:lstStyle/>
          <a:p>
            <a:r>
              <a:rPr sz="1100" b="0">
                <a:solidFill>
                  <a:srgbClr val="2E2E2E"/>
                </a:solidFill>
                <a:latin typeface="Calibri"/>
              </a:rPr>
              <a:t>of the global and</a:t>
            </a:r>
          </a:p>
        </p:txBody>
      </p:sp>
      <p:pic>
        <p:nvPicPr>
          <p:cNvPr id="51" name="Picture 50" descr="lock.png"/>
          <p:cNvPicPr>
            <a:picLocks noChangeAspect="1"/>
          </p:cNvPicPr>
          <p:nvPr/>
        </p:nvPicPr>
        <p:blipFill>
          <a:blip r:embed="rId8"/>
          <a:stretch>
            <a:fillRect/>
          </a:stretch>
        </p:blipFill>
        <p:spPr>
          <a:xfrm>
            <a:off x="1995140" y="5956680"/>
            <a:ext cx="128699" cy="187198"/>
          </a:xfrm>
          <a:prstGeom prst="rect">
            <a:avLst/>
          </a:prstGeom>
        </p:spPr>
      </p:pic>
      <p:sp>
        <p:nvSpPr>
          <p:cNvPr id="52" name="TextBox 51"/>
          <p:cNvSpPr txBox="1"/>
          <p:nvPr/>
        </p:nvSpPr>
        <p:spPr>
          <a:xfrm>
            <a:off x="2162635" y="5966460"/>
            <a:ext cx="3556967" cy="186689"/>
          </a:xfrm>
          <a:prstGeom prst="rect">
            <a:avLst/>
          </a:prstGeom>
          <a:noFill/>
        </p:spPr>
        <p:txBody>
          <a:bodyPr wrap="none" lIns="0" rIns="0" tIns="0" bIns="0">
            <a:spAutoFit/>
          </a:bodyPr>
          <a:lstStyle/>
          <a:p>
            <a:r>
              <a:rPr sz="1100" b="0">
                <a:solidFill>
                  <a:srgbClr val="2E2E2E"/>
                </a:solidFill>
                <a:latin typeface="Calibri"/>
              </a:rPr>
              <a:t>of the North America waterproof coatings market in 2026; by</a:t>
            </a:r>
          </a:p>
        </p:txBody>
      </p:sp>
      <p:sp>
        <p:nvSpPr>
          <p:cNvPr id="53" name="TextBox 52"/>
          <p:cNvSpPr txBox="1"/>
          <p:nvPr/>
        </p:nvSpPr>
        <p:spPr>
          <a:xfrm>
            <a:off x="257175" y="6134100"/>
            <a:ext cx="1610990" cy="186689"/>
          </a:xfrm>
          <a:prstGeom prst="rect">
            <a:avLst/>
          </a:prstGeom>
          <a:noFill/>
        </p:spPr>
        <p:txBody>
          <a:bodyPr wrap="none" lIns="0" rIns="0" tIns="0" bIns="0">
            <a:spAutoFit/>
          </a:bodyPr>
          <a:lstStyle/>
          <a:p>
            <a:r>
              <a:rPr sz="1100" b="0">
                <a:solidFill>
                  <a:srgbClr val="2E2E2E"/>
                </a:solidFill>
                <a:latin typeface="Calibri"/>
              </a:rPr>
              <a:t>2036 those shares move to</a:t>
            </a:r>
          </a:p>
        </p:txBody>
      </p:sp>
      <p:pic>
        <p:nvPicPr>
          <p:cNvPr id="54" name="Picture 53" descr="lock.png"/>
          <p:cNvPicPr>
            <a:picLocks noChangeAspect="1"/>
          </p:cNvPicPr>
          <p:nvPr/>
        </p:nvPicPr>
        <p:blipFill>
          <a:blip r:embed="rId8"/>
          <a:stretch>
            <a:fillRect/>
          </a:stretch>
        </p:blipFill>
        <p:spPr>
          <a:xfrm>
            <a:off x="1816216" y="6124320"/>
            <a:ext cx="128699" cy="187198"/>
          </a:xfrm>
          <a:prstGeom prst="rect">
            <a:avLst/>
          </a:prstGeom>
        </p:spPr>
      </p:pic>
      <p:sp>
        <p:nvSpPr>
          <p:cNvPr id="55" name="TextBox 54"/>
          <p:cNvSpPr txBox="1"/>
          <p:nvPr/>
        </p:nvSpPr>
        <p:spPr>
          <a:xfrm>
            <a:off x="1983712" y="6134100"/>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56" name="Picture 55" descr="lock.png"/>
          <p:cNvPicPr>
            <a:picLocks noChangeAspect="1"/>
          </p:cNvPicPr>
          <p:nvPr/>
        </p:nvPicPr>
        <p:blipFill>
          <a:blip r:embed="rId8"/>
          <a:stretch>
            <a:fillRect/>
          </a:stretch>
        </p:blipFill>
        <p:spPr>
          <a:xfrm>
            <a:off x="2221606" y="6124320"/>
            <a:ext cx="128699" cy="187198"/>
          </a:xfrm>
          <a:prstGeom prst="rect">
            <a:avLst/>
          </a:prstGeom>
        </p:spPr>
      </p:pic>
      <p:sp>
        <p:nvSpPr>
          <p:cNvPr id="57" name="TextBox 56"/>
          <p:cNvSpPr txBox="1"/>
          <p:nvPr/>
        </p:nvSpPr>
        <p:spPr>
          <a:xfrm>
            <a:off x="2389102" y="6134100"/>
            <a:ext cx="793799" cy="186689"/>
          </a:xfrm>
          <a:prstGeom prst="rect">
            <a:avLst/>
          </a:prstGeom>
          <a:noFill/>
        </p:spPr>
        <p:txBody>
          <a:bodyPr wrap="none" lIns="0" rIns="0" tIns="0" bIns="0">
            <a:spAutoFit/>
          </a:bodyPr>
          <a:lstStyle/>
          <a:p>
            <a:r>
              <a:rPr sz="1100" b="0">
                <a:solidFill>
                  <a:srgbClr val="2E2E2E"/>
                </a:solidFill>
                <a:latin typeface="Calibri"/>
              </a:rPr>
              <a:t>respectively.</a:t>
            </a:r>
          </a:p>
        </p:txBody>
      </p:sp>
      <p:sp>
        <p:nvSpPr>
          <p:cNvPr id="58" name="TextBox 57"/>
          <p:cNvSpPr txBox="1"/>
          <p:nvPr/>
        </p:nvSpPr>
        <p:spPr>
          <a:xfrm>
            <a:off x="6286500" y="5882640"/>
            <a:ext cx="3103215" cy="186689"/>
          </a:xfrm>
          <a:prstGeom prst="rect">
            <a:avLst/>
          </a:prstGeom>
          <a:noFill/>
        </p:spPr>
        <p:txBody>
          <a:bodyPr wrap="none" lIns="0" rIns="0" tIns="0" bIns="0">
            <a:spAutoFit/>
          </a:bodyPr>
          <a:lstStyle/>
          <a:p>
            <a:r>
              <a:rPr sz="1100" b="0">
                <a:solidFill>
                  <a:srgbClr val="2E2E2E"/>
                </a:solidFill>
                <a:latin typeface="Calibri"/>
              </a:rPr>
              <a:t>The market in the U.S. is expected to account for US$</a:t>
            </a:r>
          </a:p>
        </p:txBody>
      </p:sp>
      <p:pic>
        <p:nvPicPr>
          <p:cNvPr id="59" name="Picture 58" descr="lock.png"/>
          <p:cNvPicPr>
            <a:picLocks noChangeAspect="1"/>
          </p:cNvPicPr>
          <p:nvPr/>
        </p:nvPicPr>
        <p:blipFill>
          <a:blip r:embed="rId8"/>
          <a:stretch>
            <a:fillRect/>
          </a:stretch>
        </p:blipFill>
        <p:spPr>
          <a:xfrm>
            <a:off x="9337766" y="5872860"/>
            <a:ext cx="128699" cy="187198"/>
          </a:xfrm>
          <a:prstGeom prst="rect">
            <a:avLst/>
          </a:prstGeom>
        </p:spPr>
      </p:pic>
      <p:sp>
        <p:nvSpPr>
          <p:cNvPr id="60" name="TextBox 59"/>
          <p:cNvSpPr txBox="1"/>
          <p:nvPr/>
        </p:nvSpPr>
        <p:spPr>
          <a:xfrm>
            <a:off x="9505262" y="5882640"/>
            <a:ext cx="1495556" cy="186689"/>
          </a:xfrm>
          <a:prstGeom prst="rect">
            <a:avLst/>
          </a:prstGeom>
          <a:noFill/>
        </p:spPr>
        <p:txBody>
          <a:bodyPr wrap="none" lIns="0" rIns="0" tIns="0" bIns="0">
            <a:spAutoFit/>
          </a:bodyPr>
          <a:lstStyle/>
          <a:p>
            <a:r>
              <a:rPr sz="1100" b="0">
                <a:solidFill>
                  <a:srgbClr val="2E2E2E"/>
                </a:solidFill>
                <a:latin typeface="Calibri"/>
              </a:rPr>
              <a:t>Mn by 2036 at a CAGR of</a:t>
            </a:r>
          </a:p>
        </p:txBody>
      </p:sp>
      <p:pic>
        <p:nvPicPr>
          <p:cNvPr id="61" name="Picture 60" descr="lock.png"/>
          <p:cNvPicPr>
            <a:picLocks noChangeAspect="1"/>
          </p:cNvPicPr>
          <p:nvPr/>
        </p:nvPicPr>
        <p:blipFill>
          <a:blip r:embed="rId8"/>
          <a:stretch>
            <a:fillRect/>
          </a:stretch>
        </p:blipFill>
        <p:spPr>
          <a:xfrm>
            <a:off x="10948871" y="5872860"/>
            <a:ext cx="128699" cy="187198"/>
          </a:xfrm>
          <a:prstGeom prst="rect">
            <a:avLst/>
          </a:prstGeom>
        </p:spPr>
      </p:pic>
      <p:sp>
        <p:nvSpPr>
          <p:cNvPr id="62" name="TextBox 61"/>
          <p:cNvSpPr txBox="1"/>
          <p:nvPr/>
        </p:nvSpPr>
        <p:spPr>
          <a:xfrm>
            <a:off x="11116366" y="5882640"/>
            <a:ext cx="552871" cy="186689"/>
          </a:xfrm>
          <a:prstGeom prst="rect">
            <a:avLst/>
          </a:prstGeom>
          <a:noFill/>
        </p:spPr>
        <p:txBody>
          <a:bodyPr wrap="none" lIns="0" rIns="0" tIns="0" bIns="0">
            <a:spAutoFit/>
          </a:bodyPr>
          <a:lstStyle/>
          <a:p>
            <a:r>
              <a:rPr sz="1100" b="0">
                <a:solidFill>
                  <a:srgbClr val="2E2E2E"/>
                </a:solidFill>
                <a:latin typeface="Calibri"/>
              </a:rPr>
              <a:t>over the</a:t>
            </a:r>
          </a:p>
        </p:txBody>
      </p:sp>
      <p:sp>
        <p:nvSpPr>
          <p:cNvPr id="63" name="TextBox 62"/>
          <p:cNvSpPr txBox="1"/>
          <p:nvPr/>
        </p:nvSpPr>
        <p:spPr>
          <a:xfrm>
            <a:off x="6286500" y="6050280"/>
            <a:ext cx="4694758" cy="186689"/>
          </a:xfrm>
          <a:prstGeom prst="rect">
            <a:avLst/>
          </a:prstGeom>
          <a:noFill/>
        </p:spPr>
        <p:txBody>
          <a:bodyPr wrap="none" lIns="0" rIns="0" tIns="0" bIns="0">
            <a:spAutoFit/>
          </a:bodyPr>
          <a:lstStyle/>
          <a:p>
            <a:r>
              <a:rPr sz="1100" b="0">
                <a:solidFill>
                  <a:srgbClr val="2E2E2E"/>
                </a:solidFill>
                <a:latin typeface="Calibri"/>
              </a:rPr>
              <a:t>forecast period. The U.S. is expected to create an incremental opportunity of US$</a:t>
            </a:r>
          </a:p>
        </p:txBody>
      </p:sp>
      <p:pic>
        <p:nvPicPr>
          <p:cNvPr id="64" name="Picture 63" descr="lock.png"/>
          <p:cNvPicPr>
            <a:picLocks noChangeAspect="1"/>
          </p:cNvPicPr>
          <p:nvPr/>
        </p:nvPicPr>
        <p:blipFill>
          <a:blip r:embed="rId8"/>
          <a:stretch>
            <a:fillRect/>
          </a:stretch>
        </p:blipFill>
        <p:spPr>
          <a:xfrm>
            <a:off x="10929309" y="6040501"/>
            <a:ext cx="128699" cy="187198"/>
          </a:xfrm>
          <a:prstGeom prst="rect">
            <a:avLst/>
          </a:prstGeom>
        </p:spPr>
      </p:pic>
      <p:sp>
        <p:nvSpPr>
          <p:cNvPr id="65" name="TextBox 64"/>
          <p:cNvSpPr txBox="1"/>
          <p:nvPr/>
        </p:nvSpPr>
        <p:spPr>
          <a:xfrm>
            <a:off x="11096805" y="6050280"/>
            <a:ext cx="687387" cy="186689"/>
          </a:xfrm>
          <a:prstGeom prst="rect">
            <a:avLst/>
          </a:prstGeom>
          <a:noFill/>
        </p:spPr>
        <p:txBody>
          <a:bodyPr wrap="none" lIns="0" rIns="0" tIns="0" bIns="0">
            <a:spAutoFit/>
          </a:bodyPr>
          <a:lstStyle/>
          <a:p>
            <a:r>
              <a:rPr sz="1100" b="0">
                <a:solidFill>
                  <a:srgbClr val="2E2E2E"/>
                </a:solidFill>
                <a:latin typeface="Calibri"/>
              </a:rPr>
              <a:t>Mn for the</a:t>
            </a:r>
          </a:p>
        </p:txBody>
      </p:sp>
      <p:sp>
        <p:nvSpPr>
          <p:cNvPr id="66" name="TextBox 65"/>
          <p:cNvSpPr txBox="1"/>
          <p:nvPr/>
        </p:nvSpPr>
        <p:spPr>
          <a:xfrm>
            <a:off x="6286500" y="6217920"/>
            <a:ext cx="3208263" cy="186689"/>
          </a:xfrm>
          <a:prstGeom prst="rect">
            <a:avLst/>
          </a:prstGeom>
          <a:noFill/>
        </p:spPr>
        <p:txBody>
          <a:bodyPr wrap="none" lIns="0" rIns="0" tIns="0" bIns="0">
            <a:spAutoFit/>
          </a:bodyPr>
          <a:lstStyle/>
          <a:p>
            <a:r>
              <a:rPr sz="1100" b="0">
                <a:solidFill>
                  <a:srgbClr val="2E2E2E"/>
                </a:solidFill>
                <a:latin typeface="Calibri"/>
              </a:rPr>
              <a:t>overall waterproof coatings market from 2025 to 2036.</a:t>
            </a:r>
          </a:p>
        </p:txBody>
      </p:sp>
      <p:sp>
        <p:nvSpPr>
          <p:cNvPr id="67" name="lockshield_16"/>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lockshield_19"/>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lockshield_24"/>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lockshield_27"/>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Waterproof Coatings Market Key Segments Overview, By Value (2026)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U.S.'s key segments by value, highlighting the leading sub-segment of every segmentation</a:t>
            </a:r>
          </a:p>
        </p:txBody>
      </p:sp>
      <p:sp>
        <p:nvSpPr>
          <p:cNvPr id="10" name="Rounded Rectangle 9"/>
          <p:cNvSpPr/>
          <p:nvPr/>
        </p:nvSpPr>
        <p:spPr>
          <a:xfrm>
            <a:off x="142875" y="981075"/>
            <a:ext cx="2857500"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266700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Type / Chemistry  (US$ Mn)</a:t>
            </a:r>
          </a:p>
        </p:txBody>
      </p:sp>
      <p:graphicFrame>
        <p:nvGraphicFramePr>
          <p:cNvPr id="12" name="Chart 11"/>
          <p:cNvGraphicFramePr>
            <a:graphicFrameLocks noGrp="1"/>
          </p:cNvGraphicFramePr>
          <p:nvPr/>
        </p:nvGraphicFramePr>
        <p:xfrm>
          <a:off x="238125" y="1438275"/>
          <a:ext cx="2667000" cy="1181100"/>
        </p:xfrm>
        <a:graphic>
          <a:graphicData uri="http://schemas.openxmlformats.org/drawingml/2006/chart">
            <c:chart xmlns:c="http://schemas.openxmlformats.org/drawingml/2006/chart" r:id="rId3"/>
          </a:graphicData>
        </a:graphic>
      </p:graphicFrame>
      <p:sp>
        <p:nvSpPr>
          <p:cNvPr id="13" name="Rounded Rectangle 12"/>
          <p:cNvSpPr/>
          <p:nvPr/>
        </p:nvSpPr>
        <p:spPr>
          <a:xfrm>
            <a:off x="3152775" y="981075"/>
            <a:ext cx="2857500"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480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Configuration  (US$ Mn)</a:t>
            </a:r>
          </a:p>
        </p:txBody>
      </p:sp>
      <p:graphicFrame>
        <p:nvGraphicFramePr>
          <p:cNvPr id="15" name="Chart 14"/>
          <p:cNvGraphicFramePr>
            <a:graphicFrameLocks noGrp="1"/>
          </p:cNvGraphicFramePr>
          <p:nvPr/>
        </p:nvGraphicFramePr>
        <p:xfrm>
          <a:off x="3248025" y="1266825"/>
          <a:ext cx="2667000" cy="1352550"/>
        </p:xfrm>
        <a:graphic>
          <a:graphicData uri="http://schemas.openxmlformats.org/drawingml/2006/chart">
            <c:chart xmlns:c="http://schemas.openxmlformats.org/drawingml/2006/chart" r:id="rId4"/>
          </a:graphicData>
        </a:graphic>
      </p:graphicFrame>
      <p:sp>
        <p:nvSpPr>
          <p:cNvPr id="16" name="Rounded Rectangle 15"/>
          <p:cNvSpPr/>
          <p:nvPr/>
        </p:nvSpPr>
        <p:spPr>
          <a:xfrm>
            <a:off x="6162675" y="981075"/>
            <a:ext cx="2857500"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579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Technology  (US$ Mn)</a:t>
            </a:r>
          </a:p>
        </p:txBody>
      </p:sp>
      <p:graphicFrame>
        <p:nvGraphicFramePr>
          <p:cNvPr id="18" name="Chart 17"/>
          <p:cNvGraphicFramePr>
            <a:graphicFrameLocks noGrp="1"/>
          </p:cNvGraphicFramePr>
          <p:nvPr/>
        </p:nvGraphicFramePr>
        <p:xfrm>
          <a:off x="6257925" y="1266825"/>
          <a:ext cx="2667000" cy="1352550"/>
        </p:xfrm>
        <a:graphic>
          <a:graphicData uri="http://schemas.openxmlformats.org/drawingml/2006/chart">
            <c:chart xmlns:c="http://schemas.openxmlformats.org/drawingml/2006/chart" r:id="rId5"/>
          </a:graphicData>
        </a:graphic>
      </p:graphicFrame>
      <p:sp>
        <p:nvSpPr>
          <p:cNvPr id="19" name="Rounded Rectangle 18"/>
          <p:cNvSpPr/>
          <p:nvPr/>
        </p:nvSpPr>
        <p:spPr>
          <a:xfrm>
            <a:off x="9172575" y="981075"/>
            <a:ext cx="2857500"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678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Application  (US$ Mn)</a:t>
            </a:r>
          </a:p>
        </p:txBody>
      </p:sp>
      <p:graphicFrame>
        <p:nvGraphicFramePr>
          <p:cNvPr id="21" name="Chart 20"/>
          <p:cNvGraphicFramePr>
            <a:graphicFrameLocks noGrp="1"/>
          </p:cNvGraphicFramePr>
          <p:nvPr/>
        </p:nvGraphicFramePr>
        <p:xfrm>
          <a:off x="9267825" y="1266825"/>
          <a:ext cx="2667000" cy="1352550"/>
        </p:xfrm>
        <a:graphic>
          <a:graphicData uri="http://schemas.openxmlformats.org/drawingml/2006/chart">
            <c:chart xmlns:c="http://schemas.openxmlformats.org/drawingml/2006/chart" r:id="rId6"/>
          </a:graphicData>
        </a:graphic>
      </p:graphicFrame>
      <p:sp>
        <p:nvSpPr>
          <p:cNvPr id="22" name="Rounded Rectangle 21"/>
          <p:cNvSpPr/>
          <p:nvPr/>
        </p:nvSpPr>
        <p:spPr>
          <a:xfrm>
            <a:off x="142875" y="2809875"/>
            <a:ext cx="2933700"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8125" y="2867025"/>
            <a:ext cx="27432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Substrate Material  (US$ Mn)</a:t>
            </a:r>
          </a:p>
        </p:txBody>
      </p:sp>
      <p:graphicFrame>
        <p:nvGraphicFramePr>
          <p:cNvPr id="24" name="Chart 23"/>
          <p:cNvGraphicFramePr>
            <a:graphicFrameLocks noGrp="1"/>
          </p:cNvGraphicFramePr>
          <p:nvPr/>
        </p:nvGraphicFramePr>
        <p:xfrm>
          <a:off x="238125" y="3095625"/>
          <a:ext cx="2743200" cy="1352550"/>
        </p:xfrm>
        <a:graphic>
          <a:graphicData uri="http://schemas.openxmlformats.org/drawingml/2006/chart">
            <c:chart xmlns:c="http://schemas.openxmlformats.org/drawingml/2006/chart" r:id="rId7"/>
          </a:graphicData>
        </a:graphic>
      </p:graphicFrame>
      <p:sp>
        <p:nvSpPr>
          <p:cNvPr id="25" name="Rounded Rectangle 24"/>
          <p:cNvSpPr/>
          <p:nvPr/>
        </p:nvSpPr>
        <p:spPr>
          <a:xfrm>
            <a:off x="3228975" y="2809875"/>
            <a:ext cx="2933700"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24225" y="2867025"/>
            <a:ext cx="27432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Distribution Channel  (US$ Mn)</a:t>
            </a:r>
          </a:p>
        </p:txBody>
      </p:sp>
      <p:graphicFrame>
        <p:nvGraphicFramePr>
          <p:cNvPr id="27" name="Chart 26"/>
          <p:cNvGraphicFramePr>
            <a:graphicFrameLocks noGrp="1"/>
          </p:cNvGraphicFramePr>
          <p:nvPr/>
        </p:nvGraphicFramePr>
        <p:xfrm>
          <a:off x="3324225" y="3095625"/>
          <a:ext cx="2743200" cy="1352550"/>
        </p:xfrm>
        <a:graphic>
          <a:graphicData uri="http://schemas.openxmlformats.org/drawingml/2006/chart">
            <c:chart xmlns:c="http://schemas.openxmlformats.org/drawingml/2006/chart" r:id="rId8"/>
          </a:graphicData>
        </a:graphic>
      </p:graphicFrame>
      <p:sp>
        <p:nvSpPr>
          <p:cNvPr id="28" name="Rounded Rectangle 27"/>
          <p:cNvSpPr/>
          <p:nvPr/>
        </p:nvSpPr>
        <p:spPr>
          <a:xfrm>
            <a:off x="142875" y="4638675"/>
            <a:ext cx="11906250" cy="1981200"/>
          </a:xfrm>
          <a:prstGeom prst="roundRect">
            <a:avLst>
              <a:gd name="adj" fmla="val 384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6225" y="4724400"/>
            <a:ext cx="11639550" cy="209550"/>
          </a:xfrm>
          <a:prstGeom prst="rect">
            <a:avLst/>
          </a:prstGeom>
          <a:noFill/>
        </p:spPr>
        <p:txBody>
          <a:bodyPr wrap="square" lIns="0" rIns="19050" tIns="9525" bIns="9525">
            <a:spAutoFit/>
          </a:bodyPr>
          <a:lstStyle/>
          <a:p>
            <a:pPr algn="l"/>
            <a:r>
              <a:rPr sz="1300" b="1">
                <a:solidFill>
                  <a:srgbClr val="0B2E4A"/>
                </a:solidFill>
                <a:latin typeface="Calibri"/>
              </a:rPr>
              <a:t/>
            </a:r>
          </a:p>
        </p:txBody>
      </p:sp>
      <p:sp>
        <p:nvSpPr>
          <p:cNvPr id="30" name="Rectangle 29"/>
          <p:cNvSpPr/>
          <p:nvPr/>
        </p:nvSpPr>
        <p:spPr>
          <a:xfrm>
            <a:off x="276225" y="49625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6225" y="5048250"/>
            <a:ext cx="11639550" cy="14954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3" name="Picture 32" descr="lock.png"/>
          <p:cNvPicPr>
            <a:picLocks noChangeAspect="1"/>
          </p:cNvPicPr>
          <p:nvPr/>
        </p:nvPicPr>
        <p:blipFill>
          <a:blip r:embed="rId10"/>
          <a:stretch>
            <a:fillRect/>
          </a:stretch>
        </p:blipFill>
        <p:spPr>
          <a:xfrm>
            <a:off x="1811655" y="1809750"/>
            <a:ext cx="183356" cy="266700"/>
          </a:xfrm>
          <a:prstGeom prst="rect">
            <a:avLst/>
          </a:prstGeom>
        </p:spPr>
      </p:pic>
      <p:pic>
        <p:nvPicPr>
          <p:cNvPr id="34" name="Picture 33" descr="lock.png"/>
          <p:cNvPicPr>
            <a:picLocks noChangeAspect="1"/>
          </p:cNvPicPr>
          <p:nvPr/>
        </p:nvPicPr>
        <p:blipFill>
          <a:blip r:embed="rId10"/>
          <a:stretch>
            <a:fillRect/>
          </a:stretch>
        </p:blipFill>
        <p:spPr>
          <a:xfrm>
            <a:off x="4821555" y="1724025"/>
            <a:ext cx="183356" cy="266700"/>
          </a:xfrm>
          <a:prstGeom prst="rect">
            <a:avLst/>
          </a:prstGeom>
        </p:spPr>
      </p:pic>
      <p:pic>
        <p:nvPicPr>
          <p:cNvPr id="35" name="Picture 34" descr="lock.png"/>
          <p:cNvPicPr>
            <a:picLocks noChangeAspect="1"/>
          </p:cNvPicPr>
          <p:nvPr/>
        </p:nvPicPr>
        <p:blipFill>
          <a:blip r:embed="rId10"/>
          <a:stretch>
            <a:fillRect/>
          </a:stretch>
        </p:blipFill>
        <p:spPr>
          <a:xfrm>
            <a:off x="7831455" y="1724025"/>
            <a:ext cx="183356" cy="266700"/>
          </a:xfrm>
          <a:prstGeom prst="rect">
            <a:avLst/>
          </a:prstGeom>
        </p:spPr>
      </p:pic>
      <p:pic>
        <p:nvPicPr>
          <p:cNvPr id="36" name="Picture 35" descr="lock.png"/>
          <p:cNvPicPr>
            <a:picLocks noChangeAspect="1"/>
          </p:cNvPicPr>
          <p:nvPr/>
        </p:nvPicPr>
        <p:blipFill>
          <a:blip r:embed="rId10"/>
          <a:stretch>
            <a:fillRect/>
          </a:stretch>
        </p:blipFill>
        <p:spPr>
          <a:xfrm>
            <a:off x="10841355" y="1724025"/>
            <a:ext cx="183356" cy="266700"/>
          </a:xfrm>
          <a:prstGeom prst="rect">
            <a:avLst/>
          </a:prstGeom>
        </p:spPr>
      </p:pic>
      <p:pic>
        <p:nvPicPr>
          <p:cNvPr id="37" name="Picture 36" descr="lock.png"/>
          <p:cNvPicPr>
            <a:picLocks noChangeAspect="1"/>
          </p:cNvPicPr>
          <p:nvPr/>
        </p:nvPicPr>
        <p:blipFill>
          <a:blip r:embed="rId10"/>
          <a:stretch>
            <a:fillRect/>
          </a:stretch>
        </p:blipFill>
        <p:spPr>
          <a:xfrm>
            <a:off x="1849755" y="3552825"/>
            <a:ext cx="183356" cy="266700"/>
          </a:xfrm>
          <a:prstGeom prst="rect">
            <a:avLst/>
          </a:prstGeom>
        </p:spPr>
      </p:pic>
      <p:pic>
        <p:nvPicPr>
          <p:cNvPr id="38" name="Picture 37" descr="lock.png"/>
          <p:cNvPicPr>
            <a:picLocks noChangeAspect="1"/>
          </p:cNvPicPr>
          <p:nvPr/>
        </p:nvPicPr>
        <p:blipFill>
          <a:blip r:embed="rId10"/>
          <a:stretch>
            <a:fillRect/>
          </a:stretch>
        </p:blipFill>
        <p:spPr>
          <a:xfrm>
            <a:off x="4935855" y="3552825"/>
            <a:ext cx="183356" cy="266700"/>
          </a:xfrm>
          <a:prstGeom prst="rect">
            <a:avLst/>
          </a:prstGeom>
        </p:spPr>
      </p:pic>
      <p:sp>
        <p:nvSpPr>
          <p:cNvPr id="39" name="TextBox 38"/>
          <p:cNvSpPr txBox="1"/>
          <p:nvPr/>
        </p:nvSpPr>
        <p:spPr>
          <a:xfrm>
            <a:off x="276225" y="4733925"/>
            <a:ext cx="1468037" cy="161696"/>
          </a:xfrm>
          <a:prstGeom prst="rect">
            <a:avLst/>
          </a:prstGeom>
          <a:noFill/>
        </p:spPr>
        <p:txBody>
          <a:bodyPr wrap="none" lIns="0" rIns="0" tIns="0" bIns="0">
            <a:spAutoFit/>
          </a:bodyPr>
          <a:lstStyle/>
          <a:p>
            <a:r>
              <a:rPr sz="935" b="1">
                <a:solidFill>
                  <a:srgbClr val="0B2E4A"/>
                </a:solidFill>
                <a:latin typeface="Calibri"/>
              </a:rPr>
              <a:t>Key Takeaways · 2026 Total:</a:t>
            </a:r>
          </a:p>
        </p:txBody>
      </p:sp>
      <p:pic>
        <p:nvPicPr>
          <p:cNvPr id="40" name="Picture 39" descr="lock.png"/>
          <p:cNvPicPr>
            <a:picLocks noChangeAspect="1"/>
          </p:cNvPicPr>
          <p:nvPr/>
        </p:nvPicPr>
        <p:blipFill>
          <a:blip r:embed="rId10"/>
          <a:stretch>
            <a:fillRect/>
          </a:stretch>
        </p:blipFill>
        <p:spPr>
          <a:xfrm>
            <a:off x="1688698" y="4725603"/>
            <a:ext cx="109510" cy="159288"/>
          </a:xfrm>
          <a:prstGeom prst="rect">
            <a:avLst/>
          </a:prstGeom>
        </p:spPr>
      </p:pic>
      <p:sp>
        <p:nvSpPr>
          <p:cNvPr id="41" name="TextBox 40"/>
          <p:cNvSpPr txBox="1"/>
          <p:nvPr/>
        </p:nvSpPr>
        <p:spPr>
          <a:xfrm>
            <a:off x="1831222" y="4733925"/>
            <a:ext cx="465087" cy="161696"/>
          </a:xfrm>
          <a:prstGeom prst="rect">
            <a:avLst/>
          </a:prstGeom>
          <a:noFill/>
        </p:spPr>
        <p:txBody>
          <a:bodyPr wrap="none" lIns="0" rIns="0" tIns="0" bIns="0">
            <a:spAutoFit/>
          </a:bodyPr>
          <a:lstStyle/>
          <a:p>
            <a:r>
              <a:rPr sz="935" b="1">
                <a:solidFill>
                  <a:srgbClr val="0B2E4A"/>
                </a:solidFill>
                <a:latin typeface="Calibri"/>
              </a:rPr>
              <a:t>US$ Mn</a:t>
            </a:r>
          </a:p>
        </p:txBody>
      </p:sp>
      <p:sp>
        <p:nvSpPr>
          <p:cNvPr id="42" name="TextBox 41"/>
          <p:cNvSpPr txBox="1"/>
          <p:nvPr/>
        </p:nvSpPr>
        <p:spPr>
          <a:xfrm>
            <a:off x="276225" y="5057775"/>
            <a:ext cx="3952068" cy="179984"/>
          </a:xfrm>
          <a:prstGeom prst="rect">
            <a:avLst/>
          </a:prstGeom>
          <a:noFill/>
        </p:spPr>
        <p:txBody>
          <a:bodyPr wrap="none" lIns="0" rIns="0" tIns="0" bIns="0">
            <a:spAutoFit/>
          </a:bodyPr>
          <a:lstStyle/>
          <a:p>
            <a:r>
              <a:rPr sz="1055" b="0">
                <a:solidFill>
                  <a:srgbClr val="2E2E2E"/>
                </a:solidFill>
                <a:latin typeface="Calibri"/>
              </a:rPr>
              <a:t>▪ By Product Type / Chemistry, 'Other Polymer-Based Coatings' leads at</a:t>
            </a:r>
          </a:p>
        </p:txBody>
      </p:sp>
      <p:pic>
        <p:nvPicPr>
          <p:cNvPr id="43" name="Picture 42" descr="lock.png"/>
          <p:cNvPicPr>
            <a:picLocks noChangeAspect="1"/>
          </p:cNvPicPr>
          <p:nvPr/>
        </p:nvPicPr>
        <p:blipFill>
          <a:blip r:embed="rId10"/>
          <a:stretch>
            <a:fillRect/>
          </a:stretch>
        </p:blipFill>
        <p:spPr>
          <a:xfrm>
            <a:off x="4175375" y="5048387"/>
            <a:ext cx="123551" cy="179710"/>
          </a:xfrm>
          <a:prstGeom prst="rect">
            <a:avLst/>
          </a:prstGeom>
        </p:spPr>
      </p:pic>
      <p:sp>
        <p:nvSpPr>
          <p:cNvPr id="44" name="TextBox 43"/>
          <p:cNvSpPr txBox="1"/>
          <p:nvPr/>
        </p:nvSpPr>
        <p:spPr>
          <a:xfrm>
            <a:off x="4336171" y="5057775"/>
            <a:ext cx="578596" cy="179984"/>
          </a:xfrm>
          <a:prstGeom prst="rect">
            <a:avLst/>
          </a:prstGeom>
          <a:noFill/>
        </p:spPr>
        <p:txBody>
          <a:bodyPr wrap="none" lIns="0" rIns="0" tIns="0" bIns="0">
            <a:spAutoFit/>
          </a:bodyPr>
          <a:lstStyle/>
          <a:p>
            <a:r>
              <a:rPr sz="1055" b="0">
                <a:solidFill>
                  <a:srgbClr val="2E2E2E"/>
                </a:solidFill>
                <a:latin typeface="Calibri"/>
              </a:rPr>
              <a:t>US$ Mn (</a:t>
            </a:r>
          </a:p>
        </p:txBody>
      </p:sp>
      <p:pic>
        <p:nvPicPr>
          <p:cNvPr id="45" name="Picture 44" descr="lock.png"/>
          <p:cNvPicPr>
            <a:picLocks noChangeAspect="1"/>
          </p:cNvPicPr>
          <p:nvPr/>
        </p:nvPicPr>
        <p:blipFill>
          <a:blip r:embed="rId10"/>
          <a:stretch>
            <a:fillRect/>
          </a:stretch>
        </p:blipFill>
        <p:spPr>
          <a:xfrm>
            <a:off x="4861848" y="5048387"/>
            <a:ext cx="123551" cy="179710"/>
          </a:xfrm>
          <a:prstGeom prst="rect">
            <a:avLst/>
          </a:prstGeom>
        </p:spPr>
      </p:pic>
      <p:sp>
        <p:nvSpPr>
          <p:cNvPr id="46" name="TextBox 45"/>
          <p:cNvSpPr txBox="1"/>
          <p:nvPr/>
        </p:nvSpPr>
        <p:spPr>
          <a:xfrm>
            <a:off x="5022644" y="5057775"/>
            <a:ext cx="3019329" cy="179984"/>
          </a:xfrm>
          <a:prstGeom prst="rect">
            <a:avLst/>
          </a:prstGeom>
          <a:noFill/>
        </p:spPr>
        <p:txBody>
          <a:bodyPr wrap="none" lIns="0" rIns="0" tIns="0" bIns="0">
            <a:spAutoFit/>
          </a:bodyPr>
          <a:lstStyle/>
          <a:p>
            <a:r>
              <a:rPr sz="1055" b="0">
                <a:solidFill>
                  <a:srgbClr val="2E2E2E"/>
                </a:solidFill>
                <a:latin typeface="Calibri"/>
              </a:rPr>
              <a:t>share), ahead of 'Cementitious Waterproof Coatings' (</a:t>
            </a:r>
          </a:p>
        </p:txBody>
      </p:sp>
      <p:pic>
        <p:nvPicPr>
          <p:cNvPr id="47" name="Picture 46" descr="lock.png"/>
          <p:cNvPicPr>
            <a:picLocks noChangeAspect="1"/>
          </p:cNvPicPr>
          <p:nvPr/>
        </p:nvPicPr>
        <p:blipFill>
          <a:blip r:embed="rId10"/>
          <a:stretch>
            <a:fillRect/>
          </a:stretch>
        </p:blipFill>
        <p:spPr>
          <a:xfrm>
            <a:off x="7989056" y="5048387"/>
            <a:ext cx="123551" cy="179710"/>
          </a:xfrm>
          <a:prstGeom prst="rect">
            <a:avLst/>
          </a:prstGeom>
        </p:spPr>
      </p:pic>
      <p:sp>
        <p:nvSpPr>
          <p:cNvPr id="48" name="TextBox 47"/>
          <p:cNvSpPr txBox="1"/>
          <p:nvPr/>
        </p:nvSpPr>
        <p:spPr>
          <a:xfrm>
            <a:off x="8149852" y="5057775"/>
            <a:ext cx="582001" cy="179984"/>
          </a:xfrm>
          <a:prstGeom prst="rect">
            <a:avLst/>
          </a:prstGeom>
          <a:noFill/>
        </p:spPr>
        <p:txBody>
          <a:bodyPr wrap="none" lIns="0" rIns="0" tIns="0" bIns="0">
            <a:spAutoFit/>
          </a:bodyPr>
          <a:lstStyle/>
          <a:p>
            <a:r>
              <a:rPr sz="1055" b="0">
                <a:solidFill>
                  <a:srgbClr val="2E2E2E"/>
                </a:solidFill>
                <a:latin typeface="Calibri"/>
              </a:rPr>
              <a:t>US$ Mn).</a:t>
            </a:r>
          </a:p>
        </p:txBody>
      </p:sp>
      <p:sp>
        <p:nvSpPr>
          <p:cNvPr id="49" name="TextBox 48"/>
          <p:cNvSpPr txBox="1"/>
          <p:nvPr/>
        </p:nvSpPr>
        <p:spPr>
          <a:xfrm>
            <a:off x="276225" y="5266989"/>
            <a:ext cx="3517776" cy="179984"/>
          </a:xfrm>
          <a:prstGeom prst="rect">
            <a:avLst/>
          </a:prstGeom>
          <a:noFill/>
        </p:spPr>
        <p:txBody>
          <a:bodyPr wrap="none" lIns="0" rIns="0" tIns="0" bIns="0">
            <a:spAutoFit/>
          </a:bodyPr>
          <a:lstStyle/>
          <a:p>
            <a:r>
              <a:rPr sz="1055" b="0">
                <a:solidFill>
                  <a:srgbClr val="2E2E2E"/>
                </a:solidFill>
                <a:latin typeface="Calibri"/>
              </a:rPr>
              <a:t>▪ By Product Configuration, 'Two-Component Coatings' leads at</a:t>
            </a:r>
          </a:p>
        </p:txBody>
      </p:sp>
      <p:pic>
        <p:nvPicPr>
          <p:cNvPr id="50" name="Picture 49" descr="lock.png"/>
          <p:cNvPicPr>
            <a:picLocks noChangeAspect="1"/>
          </p:cNvPicPr>
          <p:nvPr/>
        </p:nvPicPr>
        <p:blipFill>
          <a:blip r:embed="rId10"/>
          <a:stretch>
            <a:fillRect/>
          </a:stretch>
        </p:blipFill>
        <p:spPr>
          <a:xfrm>
            <a:off x="3741082" y="5257601"/>
            <a:ext cx="123551" cy="179710"/>
          </a:xfrm>
          <a:prstGeom prst="rect">
            <a:avLst/>
          </a:prstGeom>
        </p:spPr>
      </p:pic>
      <p:sp>
        <p:nvSpPr>
          <p:cNvPr id="51" name="TextBox 50"/>
          <p:cNvSpPr txBox="1"/>
          <p:nvPr/>
        </p:nvSpPr>
        <p:spPr>
          <a:xfrm>
            <a:off x="3901878" y="5266989"/>
            <a:ext cx="578596" cy="179984"/>
          </a:xfrm>
          <a:prstGeom prst="rect">
            <a:avLst/>
          </a:prstGeom>
          <a:noFill/>
        </p:spPr>
        <p:txBody>
          <a:bodyPr wrap="none" lIns="0" rIns="0" tIns="0" bIns="0">
            <a:spAutoFit/>
          </a:bodyPr>
          <a:lstStyle/>
          <a:p>
            <a:r>
              <a:rPr sz="1055" b="0">
                <a:solidFill>
                  <a:srgbClr val="2E2E2E"/>
                </a:solidFill>
                <a:latin typeface="Calibri"/>
              </a:rPr>
              <a:t>US$ Mn (</a:t>
            </a:r>
          </a:p>
        </p:txBody>
      </p:sp>
      <p:pic>
        <p:nvPicPr>
          <p:cNvPr id="52" name="Picture 51" descr="lock.png"/>
          <p:cNvPicPr>
            <a:picLocks noChangeAspect="1"/>
          </p:cNvPicPr>
          <p:nvPr/>
        </p:nvPicPr>
        <p:blipFill>
          <a:blip r:embed="rId10"/>
          <a:stretch>
            <a:fillRect/>
          </a:stretch>
        </p:blipFill>
        <p:spPr>
          <a:xfrm>
            <a:off x="4427556" y="5257601"/>
            <a:ext cx="123551" cy="179710"/>
          </a:xfrm>
          <a:prstGeom prst="rect">
            <a:avLst/>
          </a:prstGeom>
        </p:spPr>
      </p:pic>
      <p:sp>
        <p:nvSpPr>
          <p:cNvPr id="53" name="TextBox 52"/>
          <p:cNvSpPr txBox="1"/>
          <p:nvPr/>
        </p:nvSpPr>
        <p:spPr>
          <a:xfrm>
            <a:off x="4588352" y="5266989"/>
            <a:ext cx="2626947" cy="179984"/>
          </a:xfrm>
          <a:prstGeom prst="rect">
            <a:avLst/>
          </a:prstGeom>
          <a:noFill/>
        </p:spPr>
        <p:txBody>
          <a:bodyPr wrap="none" lIns="0" rIns="0" tIns="0" bIns="0">
            <a:spAutoFit/>
          </a:bodyPr>
          <a:lstStyle/>
          <a:p>
            <a:r>
              <a:rPr sz="1055" b="0">
                <a:solidFill>
                  <a:srgbClr val="2E2E2E"/>
                </a:solidFill>
                <a:latin typeface="Calibri"/>
              </a:rPr>
              <a:t>share), ahead of 'Single-Component Coatings' (</a:t>
            </a:r>
          </a:p>
        </p:txBody>
      </p:sp>
      <p:pic>
        <p:nvPicPr>
          <p:cNvPr id="54" name="Picture 53" descr="lock.png"/>
          <p:cNvPicPr>
            <a:picLocks noChangeAspect="1"/>
          </p:cNvPicPr>
          <p:nvPr/>
        </p:nvPicPr>
        <p:blipFill>
          <a:blip r:embed="rId10"/>
          <a:stretch>
            <a:fillRect/>
          </a:stretch>
        </p:blipFill>
        <p:spPr>
          <a:xfrm>
            <a:off x="7162381" y="5257601"/>
            <a:ext cx="123551" cy="179710"/>
          </a:xfrm>
          <a:prstGeom prst="rect">
            <a:avLst/>
          </a:prstGeom>
        </p:spPr>
      </p:pic>
      <p:sp>
        <p:nvSpPr>
          <p:cNvPr id="55" name="TextBox 54"/>
          <p:cNvSpPr txBox="1"/>
          <p:nvPr/>
        </p:nvSpPr>
        <p:spPr>
          <a:xfrm>
            <a:off x="7323177" y="5266989"/>
            <a:ext cx="582001" cy="179984"/>
          </a:xfrm>
          <a:prstGeom prst="rect">
            <a:avLst/>
          </a:prstGeom>
          <a:noFill/>
        </p:spPr>
        <p:txBody>
          <a:bodyPr wrap="none" lIns="0" rIns="0" tIns="0" bIns="0">
            <a:spAutoFit/>
          </a:bodyPr>
          <a:lstStyle/>
          <a:p>
            <a:r>
              <a:rPr sz="1055" b="0">
                <a:solidFill>
                  <a:srgbClr val="2E2E2E"/>
                </a:solidFill>
                <a:latin typeface="Calibri"/>
              </a:rPr>
              <a:t>US$ Mn).</a:t>
            </a:r>
          </a:p>
        </p:txBody>
      </p:sp>
      <p:sp>
        <p:nvSpPr>
          <p:cNvPr id="56" name="TextBox 55"/>
          <p:cNvSpPr txBox="1"/>
          <p:nvPr/>
        </p:nvSpPr>
        <p:spPr>
          <a:xfrm>
            <a:off x="276225" y="5476204"/>
            <a:ext cx="2795090" cy="179984"/>
          </a:xfrm>
          <a:prstGeom prst="rect">
            <a:avLst/>
          </a:prstGeom>
          <a:noFill/>
        </p:spPr>
        <p:txBody>
          <a:bodyPr wrap="none" lIns="0" rIns="0" tIns="0" bIns="0">
            <a:spAutoFit/>
          </a:bodyPr>
          <a:lstStyle/>
          <a:p>
            <a:r>
              <a:rPr sz="1055" b="0">
                <a:solidFill>
                  <a:srgbClr val="2E2E2E"/>
                </a:solidFill>
                <a:latin typeface="Calibri"/>
              </a:rPr>
              <a:t>▪ By Technology, 'Solvent-Based Coatings' leads at</a:t>
            </a:r>
          </a:p>
        </p:txBody>
      </p:sp>
      <p:pic>
        <p:nvPicPr>
          <p:cNvPr id="57" name="Picture 56" descr="lock.png"/>
          <p:cNvPicPr>
            <a:picLocks noChangeAspect="1"/>
          </p:cNvPicPr>
          <p:nvPr/>
        </p:nvPicPr>
        <p:blipFill>
          <a:blip r:embed="rId10"/>
          <a:stretch>
            <a:fillRect/>
          </a:stretch>
        </p:blipFill>
        <p:spPr>
          <a:xfrm>
            <a:off x="3018397" y="5466816"/>
            <a:ext cx="123551" cy="179710"/>
          </a:xfrm>
          <a:prstGeom prst="rect">
            <a:avLst/>
          </a:prstGeom>
        </p:spPr>
      </p:pic>
      <p:sp>
        <p:nvSpPr>
          <p:cNvPr id="58" name="TextBox 57"/>
          <p:cNvSpPr txBox="1"/>
          <p:nvPr/>
        </p:nvSpPr>
        <p:spPr>
          <a:xfrm>
            <a:off x="3179193" y="5476204"/>
            <a:ext cx="578596" cy="179984"/>
          </a:xfrm>
          <a:prstGeom prst="rect">
            <a:avLst/>
          </a:prstGeom>
          <a:noFill/>
        </p:spPr>
        <p:txBody>
          <a:bodyPr wrap="none" lIns="0" rIns="0" tIns="0" bIns="0">
            <a:spAutoFit/>
          </a:bodyPr>
          <a:lstStyle/>
          <a:p>
            <a:r>
              <a:rPr sz="1055" b="0">
                <a:solidFill>
                  <a:srgbClr val="2E2E2E"/>
                </a:solidFill>
                <a:latin typeface="Calibri"/>
              </a:rPr>
              <a:t>US$ Mn (</a:t>
            </a:r>
          </a:p>
        </p:txBody>
      </p:sp>
      <p:pic>
        <p:nvPicPr>
          <p:cNvPr id="59" name="Picture 58" descr="lock.png"/>
          <p:cNvPicPr>
            <a:picLocks noChangeAspect="1"/>
          </p:cNvPicPr>
          <p:nvPr/>
        </p:nvPicPr>
        <p:blipFill>
          <a:blip r:embed="rId10"/>
          <a:stretch>
            <a:fillRect/>
          </a:stretch>
        </p:blipFill>
        <p:spPr>
          <a:xfrm>
            <a:off x="3704870" y="5466816"/>
            <a:ext cx="123551" cy="179710"/>
          </a:xfrm>
          <a:prstGeom prst="rect">
            <a:avLst/>
          </a:prstGeom>
        </p:spPr>
      </p:pic>
      <p:sp>
        <p:nvSpPr>
          <p:cNvPr id="60" name="TextBox 59"/>
          <p:cNvSpPr txBox="1"/>
          <p:nvPr/>
        </p:nvSpPr>
        <p:spPr>
          <a:xfrm>
            <a:off x="3865666" y="5476204"/>
            <a:ext cx="3345179" cy="179984"/>
          </a:xfrm>
          <a:prstGeom prst="rect">
            <a:avLst/>
          </a:prstGeom>
          <a:noFill/>
        </p:spPr>
        <p:txBody>
          <a:bodyPr wrap="none" lIns="0" rIns="0" tIns="0" bIns="0">
            <a:spAutoFit/>
          </a:bodyPr>
          <a:lstStyle/>
          <a:p>
            <a:r>
              <a:rPr sz="1055" b="0">
                <a:solidFill>
                  <a:srgbClr val="2E2E2E"/>
                </a:solidFill>
                <a:latin typeface="Calibri"/>
              </a:rPr>
              <a:t>share), ahead of 'UV-Curable and Other Specialty Coatings' (</a:t>
            </a:r>
          </a:p>
        </p:txBody>
      </p:sp>
      <p:pic>
        <p:nvPicPr>
          <p:cNvPr id="61" name="Picture 60" descr="lock.png"/>
          <p:cNvPicPr>
            <a:picLocks noChangeAspect="1"/>
          </p:cNvPicPr>
          <p:nvPr/>
        </p:nvPicPr>
        <p:blipFill>
          <a:blip r:embed="rId10"/>
          <a:stretch>
            <a:fillRect/>
          </a:stretch>
        </p:blipFill>
        <p:spPr>
          <a:xfrm>
            <a:off x="7157928" y="5466816"/>
            <a:ext cx="123551" cy="179710"/>
          </a:xfrm>
          <a:prstGeom prst="rect">
            <a:avLst/>
          </a:prstGeom>
        </p:spPr>
      </p:pic>
      <p:sp>
        <p:nvSpPr>
          <p:cNvPr id="62" name="TextBox 61"/>
          <p:cNvSpPr txBox="1"/>
          <p:nvPr/>
        </p:nvSpPr>
        <p:spPr>
          <a:xfrm>
            <a:off x="7318724" y="5476204"/>
            <a:ext cx="582001" cy="179984"/>
          </a:xfrm>
          <a:prstGeom prst="rect">
            <a:avLst/>
          </a:prstGeom>
          <a:noFill/>
        </p:spPr>
        <p:txBody>
          <a:bodyPr wrap="none" lIns="0" rIns="0" tIns="0" bIns="0">
            <a:spAutoFit/>
          </a:bodyPr>
          <a:lstStyle/>
          <a:p>
            <a:r>
              <a:rPr sz="1055" b="0">
                <a:solidFill>
                  <a:srgbClr val="2E2E2E"/>
                </a:solidFill>
                <a:latin typeface="Calibri"/>
              </a:rPr>
              <a:t>US$ Mn).</a:t>
            </a:r>
          </a:p>
        </p:txBody>
      </p:sp>
      <p:sp>
        <p:nvSpPr>
          <p:cNvPr id="63" name="TextBox 62"/>
          <p:cNvSpPr txBox="1"/>
          <p:nvPr/>
        </p:nvSpPr>
        <p:spPr>
          <a:xfrm>
            <a:off x="276225" y="5685419"/>
            <a:ext cx="2554108" cy="179984"/>
          </a:xfrm>
          <a:prstGeom prst="rect">
            <a:avLst/>
          </a:prstGeom>
          <a:noFill/>
        </p:spPr>
        <p:txBody>
          <a:bodyPr wrap="none" lIns="0" rIns="0" tIns="0" bIns="0">
            <a:spAutoFit/>
          </a:bodyPr>
          <a:lstStyle/>
          <a:p>
            <a:r>
              <a:rPr sz="1055" b="0">
                <a:solidFill>
                  <a:srgbClr val="2E2E2E"/>
                </a:solidFill>
                <a:latin typeface="Calibri"/>
              </a:rPr>
              <a:t>▪ By Application, 'Roofs and Terraces' leads at</a:t>
            </a:r>
          </a:p>
        </p:txBody>
      </p:sp>
      <p:pic>
        <p:nvPicPr>
          <p:cNvPr id="64" name="Picture 63" descr="lock.png"/>
          <p:cNvPicPr>
            <a:picLocks noChangeAspect="1"/>
          </p:cNvPicPr>
          <p:nvPr/>
        </p:nvPicPr>
        <p:blipFill>
          <a:blip r:embed="rId10"/>
          <a:stretch>
            <a:fillRect/>
          </a:stretch>
        </p:blipFill>
        <p:spPr>
          <a:xfrm>
            <a:off x="2777414" y="5676031"/>
            <a:ext cx="123551" cy="179710"/>
          </a:xfrm>
          <a:prstGeom prst="rect">
            <a:avLst/>
          </a:prstGeom>
        </p:spPr>
      </p:pic>
      <p:sp>
        <p:nvSpPr>
          <p:cNvPr id="65" name="TextBox 64"/>
          <p:cNvSpPr txBox="1"/>
          <p:nvPr/>
        </p:nvSpPr>
        <p:spPr>
          <a:xfrm>
            <a:off x="2938210" y="5685419"/>
            <a:ext cx="578596" cy="179984"/>
          </a:xfrm>
          <a:prstGeom prst="rect">
            <a:avLst/>
          </a:prstGeom>
          <a:noFill/>
        </p:spPr>
        <p:txBody>
          <a:bodyPr wrap="none" lIns="0" rIns="0" tIns="0" bIns="0">
            <a:spAutoFit/>
          </a:bodyPr>
          <a:lstStyle/>
          <a:p>
            <a:r>
              <a:rPr sz="1055" b="0">
                <a:solidFill>
                  <a:srgbClr val="2E2E2E"/>
                </a:solidFill>
                <a:latin typeface="Calibri"/>
              </a:rPr>
              <a:t>US$ Mn (</a:t>
            </a:r>
          </a:p>
        </p:txBody>
      </p:sp>
      <p:pic>
        <p:nvPicPr>
          <p:cNvPr id="66" name="Picture 65" descr="lock.png"/>
          <p:cNvPicPr>
            <a:picLocks noChangeAspect="1"/>
          </p:cNvPicPr>
          <p:nvPr/>
        </p:nvPicPr>
        <p:blipFill>
          <a:blip r:embed="rId10"/>
          <a:stretch>
            <a:fillRect/>
          </a:stretch>
        </p:blipFill>
        <p:spPr>
          <a:xfrm>
            <a:off x="3463888" y="5676031"/>
            <a:ext cx="123551" cy="179710"/>
          </a:xfrm>
          <a:prstGeom prst="rect">
            <a:avLst/>
          </a:prstGeom>
        </p:spPr>
      </p:pic>
      <p:sp>
        <p:nvSpPr>
          <p:cNvPr id="67" name="TextBox 66"/>
          <p:cNvSpPr txBox="1"/>
          <p:nvPr/>
        </p:nvSpPr>
        <p:spPr>
          <a:xfrm>
            <a:off x="3624684" y="5685419"/>
            <a:ext cx="2555962" cy="179984"/>
          </a:xfrm>
          <a:prstGeom prst="rect">
            <a:avLst/>
          </a:prstGeom>
          <a:noFill/>
        </p:spPr>
        <p:txBody>
          <a:bodyPr wrap="none" lIns="0" rIns="0" tIns="0" bIns="0">
            <a:spAutoFit/>
          </a:bodyPr>
          <a:lstStyle/>
          <a:p>
            <a:r>
              <a:rPr sz="1055" b="0">
                <a:solidFill>
                  <a:srgbClr val="2E2E2E"/>
                </a:solidFill>
                <a:latin typeface="Calibri"/>
              </a:rPr>
              <a:t>share), ahead of 'Bathrooms and Wet Areas' (</a:t>
            </a:r>
          </a:p>
        </p:txBody>
      </p:sp>
      <p:pic>
        <p:nvPicPr>
          <p:cNvPr id="68" name="Picture 67" descr="lock.png"/>
          <p:cNvPicPr>
            <a:picLocks noChangeAspect="1"/>
          </p:cNvPicPr>
          <p:nvPr/>
        </p:nvPicPr>
        <p:blipFill>
          <a:blip r:embed="rId10"/>
          <a:stretch>
            <a:fillRect/>
          </a:stretch>
        </p:blipFill>
        <p:spPr>
          <a:xfrm>
            <a:off x="6127728" y="5676031"/>
            <a:ext cx="123551" cy="179710"/>
          </a:xfrm>
          <a:prstGeom prst="rect">
            <a:avLst/>
          </a:prstGeom>
        </p:spPr>
      </p:pic>
      <p:sp>
        <p:nvSpPr>
          <p:cNvPr id="69" name="TextBox 68"/>
          <p:cNvSpPr txBox="1"/>
          <p:nvPr/>
        </p:nvSpPr>
        <p:spPr>
          <a:xfrm>
            <a:off x="6288524" y="5685419"/>
            <a:ext cx="582001" cy="179984"/>
          </a:xfrm>
          <a:prstGeom prst="rect">
            <a:avLst/>
          </a:prstGeom>
          <a:noFill/>
        </p:spPr>
        <p:txBody>
          <a:bodyPr wrap="none" lIns="0" rIns="0" tIns="0" bIns="0">
            <a:spAutoFit/>
          </a:bodyPr>
          <a:lstStyle/>
          <a:p>
            <a:r>
              <a:rPr sz="1055" b="0">
                <a:solidFill>
                  <a:srgbClr val="2E2E2E"/>
                </a:solidFill>
                <a:latin typeface="Calibri"/>
              </a:rPr>
              <a:t>US$ Mn).</a:t>
            </a:r>
          </a:p>
        </p:txBody>
      </p:sp>
      <p:sp>
        <p:nvSpPr>
          <p:cNvPr id="70" name="TextBox 69"/>
          <p:cNvSpPr txBox="1"/>
          <p:nvPr/>
        </p:nvSpPr>
        <p:spPr>
          <a:xfrm>
            <a:off x="276225" y="5894633"/>
            <a:ext cx="2836476" cy="179984"/>
          </a:xfrm>
          <a:prstGeom prst="rect">
            <a:avLst/>
          </a:prstGeom>
          <a:noFill/>
        </p:spPr>
        <p:txBody>
          <a:bodyPr wrap="none" lIns="0" rIns="0" tIns="0" bIns="0">
            <a:spAutoFit/>
          </a:bodyPr>
          <a:lstStyle/>
          <a:p>
            <a:r>
              <a:rPr sz="1055" b="0">
                <a:solidFill>
                  <a:srgbClr val="2E2E2E"/>
                </a:solidFill>
                <a:latin typeface="Calibri"/>
              </a:rPr>
              <a:t>▪ By Substrate Material, 'Other Substrates' leads at</a:t>
            </a:r>
          </a:p>
        </p:txBody>
      </p:sp>
      <p:pic>
        <p:nvPicPr>
          <p:cNvPr id="71" name="Picture 70" descr="lock.png"/>
          <p:cNvPicPr>
            <a:picLocks noChangeAspect="1"/>
          </p:cNvPicPr>
          <p:nvPr/>
        </p:nvPicPr>
        <p:blipFill>
          <a:blip r:embed="rId10"/>
          <a:stretch>
            <a:fillRect/>
          </a:stretch>
        </p:blipFill>
        <p:spPr>
          <a:xfrm>
            <a:off x="3059783" y="5885246"/>
            <a:ext cx="123551" cy="179710"/>
          </a:xfrm>
          <a:prstGeom prst="rect">
            <a:avLst/>
          </a:prstGeom>
        </p:spPr>
      </p:pic>
      <p:sp>
        <p:nvSpPr>
          <p:cNvPr id="72" name="TextBox 71"/>
          <p:cNvSpPr txBox="1"/>
          <p:nvPr/>
        </p:nvSpPr>
        <p:spPr>
          <a:xfrm>
            <a:off x="3220579" y="5894633"/>
            <a:ext cx="578596" cy="179984"/>
          </a:xfrm>
          <a:prstGeom prst="rect">
            <a:avLst/>
          </a:prstGeom>
          <a:noFill/>
        </p:spPr>
        <p:txBody>
          <a:bodyPr wrap="none" lIns="0" rIns="0" tIns="0" bIns="0">
            <a:spAutoFit/>
          </a:bodyPr>
          <a:lstStyle/>
          <a:p>
            <a:r>
              <a:rPr sz="1055" b="0">
                <a:solidFill>
                  <a:srgbClr val="2E2E2E"/>
                </a:solidFill>
                <a:latin typeface="Calibri"/>
              </a:rPr>
              <a:t>US$ Mn (</a:t>
            </a:r>
          </a:p>
        </p:txBody>
      </p:sp>
      <p:pic>
        <p:nvPicPr>
          <p:cNvPr id="73" name="Picture 72" descr="lock.png"/>
          <p:cNvPicPr>
            <a:picLocks noChangeAspect="1"/>
          </p:cNvPicPr>
          <p:nvPr/>
        </p:nvPicPr>
        <p:blipFill>
          <a:blip r:embed="rId10"/>
          <a:stretch>
            <a:fillRect/>
          </a:stretch>
        </p:blipFill>
        <p:spPr>
          <a:xfrm>
            <a:off x="3746257" y="5885246"/>
            <a:ext cx="123551" cy="179710"/>
          </a:xfrm>
          <a:prstGeom prst="rect">
            <a:avLst/>
          </a:prstGeom>
        </p:spPr>
      </p:pic>
      <p:sp>
        <p:nvSpPr>
          <p:cNvPr id="74" name="TextBox 73"/>
          <p:cNvSpPr txBox="1"/>
          <p:nvPr/>
        </p:nvSpPr>
        <p:spPr>
          <a:xfrm>
            <a:off x="3907053" y="5894633"/>
            <a:ext cx="2409277" cy="179984"/>
          </a:xfrm>
          <a:prstGeom prst="rect">
            <a:avLst/>
          </a:prstGeom>
          <a:noFill/>
        </p:spPr>
        <p:txBody>
          <a:bodyPr wrap="none" lIns="0" rIns="0" tIns="0" bIns="0">
            <a:spAutoFit/>
          </a:bodyPr>
          <a:lstStyle/>
          <a:p>
            <a:r>
              <a:rPr sz="1055" b="0">
                <a:solidFill>
                  <a:srgbClr val="2E2E2E"/>
                </a:solidFill>
                <a:latin typeface="Calibri"/>
              </a:rPr>
              <a:t>share), ahead of 'Masonry and Brickwork' (</a:t>
            </a:r>
          </a:p>
        </p:txBody>
      </p:sp>
      <p:pic>
        <p:nvPicPr>
          <p:cNvPr id="75" name="Picture 74" descr="lock.png"/>
          <p:cNvPicPr>
            <a:picLocks noChangeAspect="1"/>
          </p:cNvPicPr>
          <p:nvPr/>
        </p:nvPicPr>
        <p:blipFill>
          <a:blip r:embed="rId10"/>
          <a:stretch>
            <a:fillRect/>
          </a:stretch>
        </p:blipFill>
        <p:spPr>
          <a:xfrm>
            <a:off x="6263411" y="5885246"/>
            <a:ext cx="123551" cy="179710"/>
          </a:xfrm>
          <a:prstGeom prst="rect">
            <a:avLst/>
          </a:prstGeom>
        </p:spPr>
      </p:pic>
      <p:sp>
        <p:nvSpPr>
          <p:cNvPr id="76" name="TextBox 75"/>
          <p:cNvSpPr txBox="1"/>
          <p:nvPr/>
        </p:nvSpPr>
        <p:spPr>
          <a:xfrm>
            <a:off x="6424207" y="5894633"/>
            <a:ext cx="582001" cy="179984"/>
          </a:xfrm>
          <a:prstGeom prst="rect">
            <a:avLst/>
          </a:prstGeom>
          <a:noFill/>
        </p:spPr>
        <p:txBody>
          <a:bodyPr wrap="none" lIns="0" rIns="0" tIns="0" bIns="0">
            <a:spAutoFit/>
          </a:bodyPr>
          <a:lstStyle/>
          <a:p>
            <a:r>
              <a:rPr sz="1055" b="0">
                <a:solidFill>
                  <a:srgbClr val="2E2E2E"/>
                </a:solidFill>
                <a:latin typeface="Calibri"/>
              </a:rPr>
              <a:t>US$ Mn).</a:t>
            </a:r>
          </a:p>
        </p:txBody>
      </p:sp>
      <p:sp>
        <p:nvSpPr>
          <p:cNvPr id="77" name="TextBox 76"/>
          <p:cNvSpPr txBox="1"/>
          <p:nvPr/>
        </p:nvSpPr>
        <p:spPr>
          <a:xfrm>
            <a:off x="276225" y="6103848"/>
            <a:ext cx="2863456" cy="179984"/>
          </a:xfrm>
          <a:prstGeom prst="rect">
            <a:avLst/>
          </a:prstGeom>
          <a:noFill/>
        </p:spPr>
        <p:txBody>
          <a:bodyPr wrap="none" lIns="0" rIns="0" tIns="0" bIns="0">
            <a:spAutoFit/>
          </a:bodyPr>
          <a:lstStyle/>
          <a:p>
            <a:r>
              <a:rPr sz="1055" b="0">
                <a:solidFill>
                  <a:srgbClr val="2E2E2E"/>
                </a:solidFill>
                <a:latin typeface="Calibri"/>
              </a:rPr>
              <a:t>▪ By Distribution Channel, 'Other Channels' leads at</a:t>
            </a:r>
          </a:p>
        </p:txBody>
      </p:sp>
      <p:pic>
        <p:nvPicPr>
          <p:cNvPr id="78" name="Picture 77" descr="lock.png"/>
          <p:cNvPicPr>
            <a:picLocks noChangeAspect="1"/>
          </p:cNvPicPr>
          <p:nvPr/>
        </p:nvPicPr>
        <p:blipFill>
          <a:blip r:embed="rId10"/>
          <a:stretch>
            <a:fillRect/>
          </a:stretch>
        </p:blipFill>
        <p:spPr>
          <a:xfrm>
            <a:off x="3086763" y="6094460"/>
            <a:ext cx="123551" cy="179710"/>
          </a:xfrm>
          <a:prstGeom prst="rect">
            <a:avLst/>
          </a:prstGeom>
        </p:spPr>
      </p:pic>
      <p:sp>
        <p:nvSpPr>
          <p:cNvPr id="79" name="TextBox 78"/>
          <p:cNvSpPr txBox="1"/>
          <p:nvPr/>
        </p:nvSpPr>
        <p:spPr>
          <a:xfrm>
            <a:off x="3247558" y="6103848"/>
            <a:ext cx="578596" cy="179984"/>
          </a:xfrm>
          <a:prstGeom prst="rect">
            <a:avLst/>
          </a:prstGeom>
          <a:noFill/>
        </p:spPr>
        <p:txBody>
          <a:bodyPr wrap="none" lIns="0" rIns="0" tIns="0" bIns="0">
            <a:spAutoFit/>
          </a:bodyPr>
          <a:lstStyle/>
          <a:p>
            <a:r>
              <a:rPr sz="1055" b="0">
                <a:solidFill>
                  <a:srgbClr val="2E2E2E"/>
                </a:solidFill>
                <a:latin typeface="Calibri"/>
              </a:rPr>
              <a:t>US$ Mn (</a:t>
            </a:r>
          </a:p>
        </p:txBody>
      </p:sp>
      <p:pic>
        <p:nvPicPr>
          <p:cNvPr id="80" name="Picture 79" descr="lock.png"/>
          <p:cNvPicPr>
            <a:picLocks noChangeAspect="1"/>
          </p:cNvPicPr>
          <p:nvPr/>
        </p:nvPicPr>
        <p:blipFill>
          <a:blip r:embed="rId10"/>
          <a:stretch>
            <a:fillRect/>
          </a:stretch>
        </p:blipFill>
        <p:spPr>
          <a:xfrm>
            <a:off x="3773236" y="6094460"/>
            <a:ext cx="123551" cy="179710"/>
          </a:xfrm>
          <a:prstGeom prst="rect">
            <a:avLst/>
          </a:prstGeom>
        </p:spPr>
      </p:pic>
      <p:sp>
        <p:nvSpPr>
          <p:cNvPr id="81" name="TextBox 80"/>
          <p:cNvSpPr txBox="1"/>
          <p:nvPr/>
        </p:nvSpPr>
        <p:spPr>
          <a:xfrm>
            <a:off x="3934032" y="6103848"/>
            <a:ext cx="1784556" cy="179984"/>
          </a:xfrm>
          <a:prstGeom prst="rect">
            <a:avLst/>
          </a:prstGeom>
          <a:noFill/>
        </p:spPr>
        <p:txBody>
          <a:bodyPr wrap="none" lIns="0" rIns="0" tIns="0" bIns="0">
            <a:spAutoFit/>
          </a:bodyPr>
          <a:lstStyle/>
          <a:p>
            <a:r>
              <a:rPr sz="1055" b="0">
                <a:solidFill>
                  <a:srgbClr val="2E2E2E"/>
                </a:solidFill>
                <a:latin typeface="Calibri"/>
              </a:rPr>
              <a:t>share), ahead of 'Online Sales' (</a:t>
            </a:r>
          </a:p>
        </p:txBody>
      </p:sp>
      <p:pic>
        <p:nvPicPr>
          <p:cNvPr id="82" name="Picture 81" descr="lock.png"/>
          <p:cNvPicPr>
            <a:picLocks noChangeAspect="1"/>
          </p:cNvPicPr>
          <p:nvPr/>
        </p:nvPicPr>
        <p:blipFill>
          <a:blip r:embed="rId10"/>
          <a:stretch>
            <a:fillRect/>
          </a:stretch>
        </p:blipFill>
        <p:spPr>
          <a:xfrm>
            <a:off x="5665670" y="6094460"/>
            <a:ext cx="123551" cy="179710"/>
          </a:xfrm>
          <a:prstGeom prst="rect">
            <a:avLst/>
          </a:prstGeom>
        </p:spPr>
      </p:pic>
      <p:sp>
        <p:nvSpPr>
          <p:cNvPr id="83" name="TextBox 82"/>
          <p:cNvSpPr txBox="1"/>
          <p:nvPr/>
        </p:nvSpPr>
        <p:spPr>
          <a:xfrm>
            <a:off x="5826466" y="6103848"/>
            <a:ext cx="582001" cy="179984"/>
          </a:xfrm>
          <a:prstGeom prst="rect">
            <a:avLst/>
          </a:prstGeom>
          <a:noFill/>
        </p:spPr>
        <p:txBody>
          <a:bodyPr wrap="none" lIns="0" rIns="0" tIns="0" bIns="0">
            <a:spAutoFit/>
          </a:bodyPr>
          <a:lstStyle/>
          <a:p>
            <a:r>
              <a:rPr sz="1055" b="0">
                <a:solidFill>
                  <a:srgbClr val="2E2E2E"/>
                </a:solidFill>
                <a:latin typeface="Calibri"/>
              </a:rPr>
              <a:t>US$ Mn).</a:t>
            </a:r>
          </a:p>
        </p:txBody>
      </p:sp>
      <p:sp>
        <p:nvSpPr>
          <p:cNvPr id="84" name="TextBox 83"/>
          <p:cNvSpPr txBox="1"/>
          <p:nvPr/>
        </p:nvSpPr>
        <p:spPr>
          <a:xfrm>
            <a:off x="276225" y="6313063"/>
            <a:ext cx="6413777" cy="179984"/>
          </a:xfrm>
          <a:prstGeom prst="rect">
            <a:avLst/>
          </a:prstGeom>
          <a:noFill/>
        </p:spPr>
        <p:txBody>
          <a:bodyPr wrap="none" lIns="0" rIns="0" tIns="0" bIns="0">
            <a:spAutoFit/>
          </a:bodyPr>
          <a:lstStyle/>
          <a:p>
            <a:r>
              <a:rPr sz="1055" b="0">
                <a:solidFill>
                  <a:srgbClr val="2E2E2E"/>
                </a:solidFill>
                <a:latin typeface="Calibri"/>
              </a:rPr>
              <a:t>▪ Use the Country slicer in the top band to switch country the selection stays synced across every page of the report.</a:t>
            </a:r>
          </a:p>
        </p:txBody>
      </p:sp>
      <p:sp>
        <p:nvSpPr>
          <p:cNvPr id="85" name="lockshield_12"/>
          <p:cNvSpPr/>
          <p:nvPr/>
        </p:nvSpPr>
        <p:spPr>
          <a:xfrm>
            <a:off x="238125" y="1438275"/>
            <a:ext cx="2667000" cy="118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lockshield_15"/>
          <p:cNvSpPr/>
          <p:nvPr/>
        </p:nvSpPr>
        <p:spPr>
          <a:xfrm>
            <a:off x="3248025" y="1266825"/>
            <a:ext cx="2667000" cy="135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lockshield_18"/>
          <p:cNvSpPr/>
          <p:nvPr/>
        </p:nvSpPr>
        <p:spPr>
          <a:xfrm>
            <a:off x="6257925" y="1266825"/>
            <a:ext cx="2667000" cy="135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lockshield_21"/>
          <p:cNvSpPr/>
          <p:nvPr/>
        </p:nvSpPr>
        <p:spPr>
          <a:xfrm>
            <a:off x="9267825" y="1266825"/>
            <a:ext cx="2667000" cy="135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lockshield_24"/>
          <p:cNvSpPr/>
          <p:nvPr/>
        </p:nvSpPr>
        <p:spPr>
          <a:xfrm>
            <a:off x="238125" y="3095625"/>
            <a:ext cx="2743200" cy="135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lockshield_27"/>
          <p:cNvSpPr/>
          <p:nvPr/>
        </p:nvSpPr>
        <p:spPr>
          <a:xfrm>
            <a:off x="3324225" y="3095625"/>
            <a:ext cx="2743200" cy="135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16217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2505075"/>
            <a:ext cx="8572500" cy="514350"/>
          </a:xfrm>
          <a:prstGeom prst="rect">
            <a:avLst/>
          </a:prstGeom>
          <a:noFill/>
        </p:spPr>
        <p:txBody>
          <a:bodyPr wrap="square" lIns="0" rIns="0" tIns="0">
            <a:spAutoFit/>
          </a:bodyPr>
          <a:lstStyle/>
          <a:p>
            <a:r>
              <a:rPr sz="3000" b="1">
                <a:solidFill>
                  <a:srgbClr val="0B3C8C"/>
                </a:solidFill>
                <a:latin typeface="Calibri"/>
              </a:rPr>
              <a:t>Segment Overview (Volume &amp; Value)</a:t>
            </a:r>
          </a:p>
        </p:txBody>
      </p:sp>
      <p:sp>
        <p:nvSpPr>
          <p:cNvPr id="11" name="TextBox 10"/>
          <p:cNvSpPr txBox="1"/>
          <p:nvPr/>
        </p:nvSpPr>
        <p:spPr>
          <a:xfrm>
            <a:off x="914400" y="3190875"/>
            <a:ext cx="8458200" cy="24574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Type / Chemistry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Configuration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Technology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Application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Substrate Material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Distribution Channel</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Product Type / Chemistry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Waterproof Coatings Market Segmental Analysis Product Type / Chemistry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Product Type / Chemistry: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Product Type / Chemistry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Product Type / Chemistry</a:t>
            </a:r>
          </a:p>
        </p:txBody>
      </p:sp>
      <p:graphicFrame>
        <p:nvGraphicFramePr>
          <p:cNvPr id="15" name="Table 14"/>
          <p:cNvGraphicFramePr>
            <a:graphicFrameLocks noGrp="1"/>
          </p:cNvGraphicFramePr>
          <p:nvPr/>
        </p:nvGraphicFramePr>
        <p:xfrm>
          <a:off x="6181725" y="1238250"/>
          <a:ext cx="5857875" cy="2285998"/>
        </p:xfrm>
        <a:graphic>
          <a:graphicData uri="http://schemas.openxmlformats.org/drawingml/2006/table">
            <a:tbl>
              <a:tblPr>
                <a:tableStyleId>{5C22544A-7EE6-4342-B048-85BDC9FD1C3A}</a:tableStyleId>
              </a:tblPr>
              <a:tblGrid>
                <a:gridCol w="2622154"/>
                <a:gridCol w="813449"/>
                <a:gridCol w="813449"/>
                <a:gridCol w="1027299"/>
                <a:gridCol w="581524"/>
              </a:tblGrid>
              <a:tr h="246126">
                <a:tc>
                  <a:txBody>
                    <a:bodyPr wrap="none"/>
                    <a:lstStyle/>
                    <a:p>
                      <a:pPr algn="l"/>
                      <a:r>
                        <a:rPr sz="1100" b="1">
                          <a:solidFill>
                            <a:srgbClr val="0B2E4A"/>
                          </a:solidFill>
                          <a:latin typeface="Calibri"/>
                        </a:rPr>
                        <a:t>Product Type / Chemistry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54984">
                <a:tc>
                  <a:txBody>
                    <a:bodyPr wrap="none"/>
                    <a:lstStyle/>
                    <a:p>
                      <a:pPr algn="l"/>
                      <a:r>
                        <a:rPr sz="1100" b="1">
                          <a:solidFill>
                            <a:srgbClr val="2E2E2E"/>
                          </a:solidFill>
                          <a:latin typeface="Calibri"/>
                        </a:rPr>
                        <a:t>Acrylic Waterproof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54984">
                <a:tc>
                  <a:txBody>
                    <a:bodyPr wrap="none"/>
                    <a:lstStyle/>
                    <a:p>
                      <a:pPr algn="l"/>
                      <a:r>
                        <a:rPr sz="1100" b="1">
                          <a:solidFill>
                            <a:srgbClr val="2E2E2E"/>
                          </a:solidFill>
                          <a:latin typeface="Calibri"/>
                        </a:rPr>
                        <a:t>Polyurethane (PU) Waterproof Coatings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54984">
                <a:tc>
                  <a:txBody>
                    <a:bodyPr wrap="none"/>
                    <a:lstStyle/>
                    <a:p>
                      <a:pPr algn="l"/>
                      <a:r>
                        <a:rPr sz="1100" b="1">
                          <a:solidFill>
                            <a:srgbClr val="2E2E2E"/>
                          </a:solidFill>
                          <a:latin typeface="Calibri"/>
                        </a:rPr>
                        <a:t>Epoxy Waterproof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54984">
                <a:tc>
                  <a:txBody>
                    <a:bodyPr wrap="none"/>
                    <a:lstStyle/>
                    <a:p>
                      <a:pPr algn="l"/>
                      <a:r>
                        <a:rPr sz="1100" b="1">
                          <a:solidFill>
                            <a:srgbClr val="2E2E2E"/>
                          </a:solidFill>
                          <a:latin typeface="Calibri"/>
                        </a:rPr>
                        <a:t>Silicone Waterproof Coatings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54984">
                <a:tc>
                  <a:txBody>
                    <a:bodyPr wrap="none"/>
                    <a:lstStyle/>
                    <a:p>
                      <a:pPr algn="l"/>
                      <a:r>
                        <a:rPr sz="1100" b="1">
                          <a:solidFill>
                            <a:srgbClr val="2E2E2E"/>
                          </a:solidFill>
                          <a:latin typeface="Calibri"/>
                        </a:rPr>
                        <a:t>Bituminous Waterproof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54984">
                <a:tc>
                  <a:txBody>
                    <a:bodyPr wrap="none"/>
                    <a:lstStyle/>
                    <a:p>
                      <a:pPr algn="l"/>
                      <a:r>
                        <a:rPr sz="1100" b="1">
                          <a:solidFill>
                            <a:srgbClr val="2E2E2E"/>
                          </a:solidFill>
                          <a:latin typeface="Calibri"/>
                        </a:rPr>
                        <a:t>Cementitious Waterproof Coatings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54984">
                <a:tc>
                  <a:txBody>
                    <a:bodyPr wrap="none"/>
                    <a:lstStyle/>
                    <a:p>
                      <a:pPr algn="l"/>
                      <a:r>
                        <a:rPr sz="1100" b="1">
                          <a:solidFill>
                            <a:srgbClr val="2E2E2E"/>
                          </a:solidFill>
                          <a:latin typeface="Calibri"/>
                        </a:rPr>
                        <a:t>Polyurea Waterproof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54984">
                <a:tc>
                  <a:txBody>
                    <a:bodyPr wrap="none"/>
                    <a:lstStyle/>
                    <a:p>
                      <a:pPr algn="l"/>
                      <a:r>
                        <a:rPr sz="1100" b="1">
                          <a:solidFill>
                            <a:srgbClr val="2E2E2E"/>
                          </a:solidFill>
                          <a:latin typeface="Calibri"/>
                        </a:rPr>
                        <a:t>Other Polymer-Based Coatings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Product Type / Chemistry (US$ Mn), between 2026–2036</a:t>
            </a:r>
          </a:p>
        </p:txBody>
      </p:sp>
      <p:graphicFrame>
        <p:nvGraphicFramePr>
          <p:cNvPr id="19" name="Chart 18"/>
          <p:cNvGraphicFramePr>
            <a:graphicFrameLocks noGrp="1"/>
          </p:cNvGraphicFramePr>
          <p:nvPr/>
        </p:nvGraphicFramePr>
        <p:xfrm>
          <a:off x="238125" y="4324350"/>
          <a:ext cx="11520309" cy="223837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10235605" y="2238406"/>
            <a:ext cx="365620" cy="531811"/>
          </a:xfrm>
          <a:prstGeom prst="rect">
            <a:avLst/>
          </a:prstGeom>
        </p:spPr>
      </p:pic>
      <p:pic>
        <p:nvPicPr>
          <p:cNvPr id="27" name="Picture 26" descr="lock.png"/>
          <p:cNvPicPr>
            <a:picLocks noChangeAspect="1"/>
          </p:cNvPicPr>
          <p:nvPr/>
        </p:nvPicPr>
        <p:blipFill>
          <a:blip r:embed="rId6"/>
          <a:stretch>
            <a:fillRect/>
          </a:stretch>
        </p:blipFill>
        <p:spPr>
          <a:xfrm>
            <a:off x="5969555" y="5216754"/>
            <a:ext cx="252890" cy="367840"/>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324350"/>
            <a:ext cx="11520309"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Waterproof Coatings Market Tables Product Type / Chemistry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Product Type / Chemistry, 2021–2036</a:t>
            </a:r>
          </a:p>
        </p:txBody>
      </p:sp>
      <p:sp>
        <p:nvSpPr>
          <p:cNvPr id="10" name="Rounded Rectangle 9"/>
          <p:cNvSpPr/>
          <p:nvPr/>
        </p:nvSpPr>
        <p:spPr>
          <a:xfrm>
            <a:off x="142875" y="981075"/>
            <a:ext cx="11906250"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Product Type / Chemistry (US$ Mn)</a:t>
            </a:r>
          </a:p>
        </p:txBody>
      </p:sp>
      <p:graphicFrame>
        <p:nvGraphicFramePr>
          <p:cNvPr id="12" name="Table 11"/>
          <p:cNvGraphicFramePr>
            <a:graphicFrameLocks noGrp="1"/>
          </p:cNvGraphicFramePr>
          <p:nvPr/>
        </p:nvGraphicFramePr>
        <p:xfrm>
          <a:off x="152400" y="1238250"/>
          <a:ext cx="11887201" cy="2466975"/>
        </p:xfrm>
        <a:graphic>
          <a:graphicData uri="http://schemas.openxmlformats.org/drawingml/2006/table">
            <a:tbl>
              <a:tblPr>
                <a:tableStyleId>{5C22544A-7EE6-4342-B048-85BDC9FD1C3A}</a:tableStyleId>
              </a:tblPr>
              <a:tblGrid>
                <a:gridCol w="2796592"/>
                <a:gridCol w="546059"/>
                <a:gridCol w="546059"/>
                <a:gridCol w="546059"/>
                <a:gridCol w="546059"/>
                <a:gridCol w="546059"/>
                <a:gridCol w="526824"/>
                <a:gridCol w="521328"/>
                <a:gridCol w="521328"/>
                <a:gridCol w="521328"/>
                <a:gridCol w="521328"/>
                <a:gridCol w="521328"/>
                <a:gridCol w="521328"/>
                <a:gridCol w="521328"/>
                <a:gridCol w="521328"/>
                <a:gridCol w="521328"/>
                <a:gridCol w="521328"/>
                <a:gridCol w="620210"/>
              </a:tblGrid>
              <a:tr h="246126">
                <a:tc>
                  <a:txBody>
                    <a:bodyPr wrap="none"/>
                    <a:lstStyle/>
                    <a:p>
                      <a:pPr algn="l"/>
                      <a:r>
                        <a:rPr sz="1100" b="1">
                          <a:solidFill>
                            <a:srgbClr val="0B2E4A"/>
                          </a:solidFill>
                          <a:latin typeface="Calibri"/>
                        </a:rPr>
                        <a:t>Product Type / Chemistry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761">
                <a:tc>
                  <a:txBody>
                    <a:bodyPr wrap="none"/>
                    <a:lstStyle/>
                    <a:p>
                      <a:pPr algn="l"/>
                      <a:r>
                        <a:rPr sz="1100" b="1">
                          <a:solidFill>
                            <a:srgbClr val="2E2E2E"/>
                          </a:solidFill>
                          <a:latin typeface="Calibri"/>
                        </a:rPr>
                        <a:t>Acrylic Waterproof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Polyurethane (PU) Waterproof Coatings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Epoxy Waterproof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Silicone Waterproof Coatings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Bituminous Waterproof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Cementitious Waterproof Coatings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Polyurea Waterproof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Other Polymer-Based Coatings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7147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7307606" y="2328100"/>
            <a:ext cx="366712" cy="533399"/>
          </a:xfrm>
          <a:prstGeom prst="rect">
            <a:avLst/>
          </a:prstGeom>
        </p:spPr>
      </p:pic>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Product Configuration</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Waterproof Coatings Market Segmental Analysis Product Configuration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Product Configuration: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Product Configuration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Product Configuration</a:t>
            </a:r>
          </a:p>
        </p:txBody>
      </p:sp>
      <p:graphicFrame>
        <p:nvGraphicFramePr>
          <p:cNvPr id="15" name="Table 14"/>
          <p:cNvGraphicFramePr>
            <a:graphicFrameLocks noGrp="1"/>
          </p:cNvGraphicFramePr>
          <p:nvPr/>
        </p:nvGraphicFramePr>
        <p:xfrm>
          <a:off x="6181725" y="1238250"/>
          <a:ext cx="5857875" cy="2286000"/>
        </p:xfrm>
        <a:graphic>
          <a:graphicData uri="http://schemas.openxmlformats.org/drawingml/2006/table">
            <a:tbl>
              <a:tblPr>
                <a:tableStyleId>{5C22544A-7EE6-4342-B048-85BDC9FD1C3A}</a:tableStyleId>
              </a:tblPr>
              <a:tblGrid>
                <a:gridCol w="1819751"/>
                <a:gridCol w="1009531"/>
                <a:gridCol w="1009531"/>
                <a:gridCol w="1009531"/>
                <a:gridCol w="1009531"/>
              </a:tblGrid>
              <a:tr h="246126">
                <a:tc>
                  <a:txBody>
                    <a:bodyPr wrap="none"/>
                    <a:lstStyle/>
                    <a:p>
                      <a:pPr algn="l"/>
                      <a:r>
                        <a:rPr sz="1100" b="1">
                          <a:solidFill>
                            <a:srgbClr val="0B2E4A"/>
                          </a:solidFill>
                          <a:latin typeface="Calibri"/>
                        </a:rPr>
                        <a:t>Product Configuration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1019937">
                <a:tc>
                  <a:txBody>
                    <a:bodyPr wrap="none"/>
                    <a:lstStyle/>
                    <a:p>
                      <a:pPr algn="l"/>
                      <a:r>
                        <a:rPr sz="1100" b="1">
                          <a:solidFill>
                            <a:srgbClr val="2E2E2E"/>
                          </a:solidFill>
                          <a:latin typeface="Calibri"/>
                        </a:rPr>
                        <a:t>Single-Component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019937">
                <a:tc>
                  <a:txBody>
                    <a:bodyPr wrap="none"/>
                    <a:lstStyle/>
                    <a:p>
                      <a:pPr algn="l"/>
                      <a:r>
                        <a:rPr sz="1100" b="1">
                          <a:solidFill>
                            <a:srgbClr val="2E2E2E"/>
                          </a:solidFill>
                          <a:latin typeface="Calibri"/>
                        </a:rPr>
                        <a:t>Two-Component Coatings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Product Configuration (US$ Mn), between 2026–2036</a:t>
            </a:r>
          </a:p>
        </p:txBody>
      </p:sp>
      <p:graphicFrame>
        <p:nvGraphicFramePr>
          <p:cNvPr id="19" name="Chart 18"/>
          <p:cNvGraphicFramePr>
            <a:graphicFrameLocks noGrp="1"/>
          </p:cNvGraphicFramePr>
          <p:nvPr/>
        </p:nvGraphicFramePr>
        <p:xfrm>
          <a:off x="238125" y="4324350"/>
          <a:ext cx="11520309" cy="223837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9833848" y="2237613"/>
            <a:ext cx="366712" cy="533400"/>
          </a:xfrm>
          <a:prstGeom prst="rect">
            <a:avLst/>
          </a:prstGeom>
        </p:spPr>
      </p:pic>
      <p:pic>
        <p:nvPicPr>
          <p:cNvPr id="27" name="Picture 26" descr="lock.png"/>
          <p:cNvPicPr>
            <a:picLocks noChangeAspect="1"/>
          </p:cNvPicPr>
          <p:nvPr/>
        </p:nvPicPr>
        <p:blipFill>
          <a:blip r:embed="rId6"/>
          <a:stretch>
            <a:fillRect/>
          </a:stretch>
        </p:blipFill>
        <p:spPr>
          <a:xfrm>
            <a:off x="5969555" y="5216754"/>
            <a:ext cx="252890" cy="367840"/>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324350"/>
            <a:ext cx="11520309"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Waterproof Coatings Market Tables Product Configuration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Product Configuration, 2021–2036</a:t>
            </a:r>
          </a:p>
        </p:txBody>
      </p:sp>
      <p:sp>
        <p:nvSpPr>
          <p:cNvPr id="14" name="Rounded Rectangle 13"/>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Product Configuration (US$ Mn)</a:t>
            </a:r>
          </a:p>
        </p:txBody>
      </p:sp>
      <p:graphicFrame>
        <p:nvGraphicFramePr>
          <p:cNvPr id="16" name="Table 15"/>
          <p:cNvGraphicFramePr>
            <a:graphicFrameLocks noGrp="1"/>
          </p:cNvGraphicFramePr>
          <p:nvPr/>
        </p:nvGraphicFramePr>
        <p:xfrm>
          <a:off x="152400" y="1238250"/>
          <a:ext cx="11887195" cy="990600"/>
        </p:xfrm>
        <a:graphic>
          <a:graphicData uri="http://schemas.openxmlformats.org/drawingml/2006/table">
            <a:tbl>
              <a:tblPr>
                <a:tableStyleId>{5C22544A-7EE6-4342-B048-85BDC9FD1C3A}</a:tableStyleId>
              </a:tblPr>
              <a:tblGrid>
                <a:gridCol w="1875368"/>
                <a:gridCol w="588931"/>
                <a:gridCol w="588931"/>
                <a:gridCol w="588931"/>
                <a:gridCol w="588931"/>
                <a:gridCol w="588931"/>
                <a:gridCol w="588931"/>
                <a:gridCol w="588931"/>
                <a:gridCol w="588931"/>
                <a:gridCol w="588931"/>
                <a:gridCol w="588931"/>
                <a:gridCol w="588931"/>
                <a:gridCol w="588931"/>
                <a:gridCol w="588931"/>
                <a:gridCol w="588931"/>
                <a:gridCol w="588931"/>
                <a:gridCol w="588931"/>
                <a:gridCol w="588931"/>
              </a:tblGrid>
              <a:tr h="246126">
                <a:tc>
                  <a:txBody>
                    <a:bodyPr wrap="none"/>
                    <a:lstStyle/>
                    <a:p>
                      <a:pPr algn="l"/>
                      <a:r>
                        <a:rPr sz="1100" b="1">
                          <a:solidFill>
                            <a:srgbClr val="0B2E4A"/>
                          </a:solidFill>
                          <a:latin typeface="Calibri"/>
                        </a:rPr>
                        <a:t>Product Configuration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Single-Component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Two-Component Coatings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7" name="TextBox 16"/>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846991" y="1589912"/>
            <a:ext cx="366712" cy="533400"/>
          </a:xfrm>
          <a:prstGeom prst="rect">
            <a:avLst/>
          </a:prstGeom>
        </p:spPr>
      </p:pic>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Technology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Waterproof Coatings Market Segmental Analysis Technology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Technology: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Technology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Technology</a:t>
            </a:r>
          </a:p>
        </p:txBody>
      </p:sp>
      <p:graphicFrame>
        <p:nvGraphicFramePr>
          <p:cNvPr id="15" name="Table 14"/>
          <p:cNvGraphicFramePr>
            <a:graphicFrameLocks noGrp="1"/>
          </p:cNvGraphicFramePr>
          <p:nvPr/>
        </p:nvGraphicFramePr>
        <p:xfrm>
          <a:off x="6181725" y="1238250"/>
          <a:ext cx="5857874" cy="2285998"/>
        </p:xfrm>
        <a:graphic>
          <a:graphicData uri="http://schemas.openxmlformats.org/drawingml/2006/table">
            <a:tbl>
              <a:tblPr>
                <a:tableStyleId>{5C22544A-7EE6-4342-B048-85BDC9FD1C3A}</a:tableStyleId>
              </a:tblPr>
              <a:tblGrid>
                <a:gridCol w="2655953"/>
                <a:gridCol w="804952"/>
                <a:gridCol w="804952"/>
                <a:gridCol w="1016568"/>
                <a:gridCol w="575449"/>
              </a:tblGrid>
              <a:tr h="246126">
                <a:tc>
                  <a:txBody>
                    <a:bodyPr wrap="none"/>
                    <a:lstStyle/>
                    <a:p>
                      <a:pPr algn="l"/>
                      <a:r>
                        <a:rPr sz="1100" b="1">
                          <a:solidFill>
                            <a:srgbClr val="0B2E4A"/>
                          </a:solidFill>
                          <a:latin typeface="Calibri"/>
                        </a:rPr>
                        <a:t>Technology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509968">
                <a:tc>
                  <a:txBody>
                    <a:bodyPr wrap="none"/>
                    <a:lstStyle/>
                    <a:p>
                      <a:pPr algn="l"/>
                      <a:r>
                        <a:rPr sz="1100" b="1">
                          <a:solidFill>
                            <a:srgbClr val="2E2E2E"/>
                          </a:solidFill>
                          <a:latin typeface="Calibri"/>
                        </a:rPr>
                        <a:t>Water-Based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509968">
                <a:tc>
                  <a:txBody>
                    <a:bodyPr wrap="none"/>
                    <a:lstStyle/>
                    <a:p>
                      <a:pPr algn="l"/>
                      <a:r>
                        <a:rPr sz="1100" b="1">
                          <a:solidFill>
                            <a:srgbClr val="2E2E2E"/>
                          </a:solidFill>
                          <a:latin typeface="Calibri"/>
                        </a:rPr>
                        <a:t>Solvent-Based Coatings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509968">
                <a:tc>
                  <a:txBody>
                    <a:bodyPr wrap="none"/>
                    <a:lstStyle/>
                    <a:p>
                      <a:pPr algn="l"/>
                      <a:r>
                        <a:rPr sz="1100" b="1">
                          <a:solidFill>
                            <a:srgbClr val="2E2E2E"/>
                          </a:solidFill>
                          <a:latin typeface="Calibri"/>
                        </a:rPr>
                        <a:t>Reactive / 100% Solids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509968">
                <a:tc>
                  <a:txBody>
                    <a:bodyPr wrap="none"/>
                    <a:lstStyle/>
                    <a:p>
                      <a:pPr algn="l"/>
                      <a:r>
                        <a:rPr sz="1100" b="1">
                          <a:solidFill>
                            <a:srgbClr val="2E2E2E"/>
                          </a:solidFill>
                          <a:latin typeface="Calibri"/>
                        </a:rPr>
                        <a:t>UV-Curable and Other Specialty Coatings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Technology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10253479" y="2239798"/>
            <a:ext cx="363705" cy="529026"/>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Waterproof Coatings Market Tables Technology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Technology, 2021–2036</a:t>
            </a:r>
          </a:p>
        </p:txBody>
      </p:sp>
      <p:sp>
        <p:nvSpPr>
          <p:cNvPr id="14" name="Rounded Rectangle 13"/>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Technology (US$ Mn)</a:t>
            </a:r>
          </a:p>
        </p:txBody>
      </p:sp>
      <p:graphicFrame>
        <p:nvGraphicFramePr>
          <p:cNvPr id="16" name="Table 15"/>
          <p:cNvGraphicFramePr>
            <a:graphicFrameLocks noGrp="1"/>
          </p:cNvGraphicFramePr>
          <p:nvPr/>
        </p:nvGraphicFramePr>
        <p:xfrm>
          <a:off x="152400" y="1238250"/>
          <a:ext cx="11887203" cy="1485896"/>
        </p:xfrm>
        <a:graphic>
          <a:graphicData uri="http://schemas.openxmlformats.org/drawingml/2006/table">
            <a:tbl>
              <a:tblPr>
                <a:tableStyleId>{5C22544A-7EE6-4342-B048-85BDC9FD1C3A}</a:tableStyleId>
              </a:tblPr>
              <a:tblGrid>
                <a:gridCol w="2846748"/>
                <a:gridCol w="543046"/>
                <a:gridCol w="543046"/>
                <a:gridCol w="543046"/>
                <a:gridCol w="543046"/>
                <a:gridCol w="543046"/>
                <a:gridCol w="523917"/>
                <a:gridCol w="518452"/>
                <a:gridCol w="518452"/>
                <a:gridCol w="518452"/>
                <a:gridCol w="518452"/>
                <a:gridCol w="518452"/>
                <a:gridCol w="518452"/>
                <a:gridCol w="518452"/>
                <a:gridCol w="518452"/>
                <a:gridCol w="518452"/>
                <a:gridCol w="518452"/>
                <a:gridCol w="616788"/>
              </a:tblGrid>
              <a:tr h="246126">
                <a:tc>
                  <a:txBody>
                    <a:bodyPr wrap="none"/>
                    <a:lstStyle/>
                    <a:p>
                      <a:pPr algn="l"/>
                      <a:r>
                        <a:rPr sz="1100" b="1">
                          <a:solidFill>
                            <a:srgbClr val="0B2E4A"/>
                          </a:solidFill>
                          <a:latin typeface="Calibri"/>
                        </a:rPr>
                        <a:t>Technology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Water-Based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Solvent-Based Coatings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Reactive / 100% Solids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UV-Curable and Other Specialty Coatings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7" name="TextBox 16"/>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7332685" y="1837563"/>
            <a:ext cx="366712" cy="533400"/>
          </a:xfrm>
          <a:prstGeom prst="rect">
            <a:avLst/>
          </a:prstGeom>
        </p:spPr>
      </p:pic>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Application</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Waterproof Coatings Market Segmental Analysis Application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Application: growth contribution, share variance and absolute $ opportunity</a:t>
            </a:r>
          </a:p>
        </p:txBody>
      </p:sp>
      <p:sp>
        <p:nvSpPr>
          <p:cNvPr id="10" name="Rounded Rectangle 9"/>
          <p:cNvSpPr/>
          <p:nvPr/>
        </p:nvSpPr>
        <p:spPr>
          <a:xfrm>
            <a:off x="142875" y="981075"/>
            <a:ext cx="5876925"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Application (US$ Mn)</a:t>
            </a:r>
          </a:p>
        </p:txBody>
      </p:sp>
      <p:graphicFrame>
        <p:nvGraphicFramePr>
          <p:cNvPr id="12" name="Chart 11"/>
          <p:cNvGraphicFramePr>
            <a:graphicFrameLocks noGrp="1"/>
          </p:cNvGraphicFramePr>
          <p:nvPr/>
        </p:nvGraphicFramePr>
        <p:xfrm>
          <a:off x="238125" y="1266825"/>
          <a:ext cx="5686425" cy="2590800"/>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Application</a:t>
            </a:r>
          </a:p>
        </p:txBody>
      </p:sp>
      <p:graphicFrame>
        <p:nvGraphicFramePr>
          <p:cNvPr id="15" name="Table 14"/>
          <p:cNvGraphicFramePr>
            <a:graphicFrameLocks noGrp="1"/>
          </p:cNvGraphicFramePr>
          <p:nvPr/>
        </p:nvGraphicFramePr>
        <p:xfrm>
          <a:off x="6181725" y="1238250"/>
          <a:ext cx="5857874" cy="2466975"/>
        </p:xfrm>
        <a:graphic>
          <a:graphicData uri="http://schemas.openxmlformats.org/drawingml/2006/table">
            <a:tbl>
              <a:tblPr>
                <a:tableStyleId>{5C22544A-7EE6-4342-B048-85BDC9FD1C3A}</a:tableStyleId>
              </a:tblPr>
              <a:tblGrid>
                <a:gridCol w="2684954"/>
                <a:gridCol w="797661"/>
                <a:gridCol w="797661"/>
                <a:gridCol w="1007361"/>
                <a:gridCol w="570237"/>
              </a:tblGrid>
              <a:tr h="246126">
                <a:tc>
                  <a:txBody>
                    <a:bodyPr wrap="none"/>
                    <a:lstStyle/>
                    <a:p>
                      <a:pPr algn="l"/>
                      <a:r>
                        <a:rPr sz="1100" b="1">
                          <a:solidFill>
                            <a:srgbClr val="0B2E4A"/>
                          </a:solidFill>
                          <a:latin typeface="Calibri"/>
                        </a:rPr>
                        <a:t>Application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761">
                <a:tc>
                  <a:txBody>
                    <a:bodyPr wrap="none"/>
                    <a:lstStyle/>
                    <a:p>
                      <a:pPr algn="l"/>
                      <a:r>
                        <a:rPr sz="1100" b="1">
                          <a:solidFill>
                            <a:srgbClr val="2E2E2E"/>
                          </a:solidFill>
                          <a:latin typeface="Calibri"/>
                        </a:rPr>
                        <a:t>Roofs and Terraces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Walls and Building Facades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Basements and Foundations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Bathrooms and Wet Areas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Balconies and Decks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Floors and Parking Structures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Bridges, Tunnels and Other Infrastructure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Water Tanks and Swimming Pools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Other Applications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6" name="TextBox 15"/>
          <p:cNvSpPr txBox="1"/>
          <p:nvPr/>
        </p:nvSpPr>
        <p:spPr>
          <a:xfrm>
            <a:off x="6248400" y="3714750"/>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089348" y="2319896"/>
            <a:ext cx="274265" cy="398931"/>
          </a:xfrm>
          <a:prstGeom prst="rect">
            <a:avLst/>
          </a:prstGeom>
        </p:spPr>
      </p:pic>
      <p:pic>
        <p:nvPicPr>
          <p:cNvPr id="19" name="Picture 18" descr="lock.png"/>
          <p:cNvPicPr>
            <a:picLocks noChangeAspect="1"/>
          </p:cNvPicPr>
          <p:nvPr/>
        </p:nvPicPr>
        <p:blipFill>
          <a:blip r:embed="rId5"/>
          <a:stretch>
            <a:fillRect/>
          </a:stretch>
        </p:blipFill>
        <p:spPr>
          <a:xfrm>
            <a:off x="10266449" y="2328100"/>
            <a:ext cx="366712" cy="533400"/>
          </a:xfrm>
          <a:prstGeom prst="rect">
            <a:avLst/>
          </a:prstGeom>
        </p:spPr>
      </p:pic>
      <p:sp>
        <p:nvSpPr>
          <p:cNvPr id="20" name="lockshield_12"/>
          <p:cNvSpPr/>
          <p:nvPr/>
        </p:nvSpPr>
        <p:spPr>
          <a:xfrm>
            <a:off x="238125" y="1266825"/>
            <a:ext cx="5686425" cy="25908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Waterproof Coatings Market Segmental Analysis Application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Application: growth contribution, share variance and absolute $ opportunity</a:t>
            </a:r>
          </a:p>
        </p:txBody>
      </p:sp>
      <p:sp>
        <p:nvSpPr>
          <p:cNvPr id="10" name="Rounded Rectangle 9"/>
          <p:cNvSpPr/>
          <p:nvPr/>
        </p:nvSpPr>
        <p:spPr>
          <a:xfrm>
            <a:off x="142875" y="981075"/>
            <a:ext cx="5876925"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Application (US$ Mn), between 2026–2036</a:t>
            </a:r>
          </a:p>
        </p:txBody>
      </p:sp>
      <p:graphicFrame>
        <p:nvGraphicFramePr>
          <p:cNvPr id="12" name="Chart 11"/>
          <p:cNvGraphicFramePr>
            <a:graphicFrameLocks noGrp="1"/>
          </p:cNvGraphicFramePr>
          <p:nvPr/>
        </p:nvGraphicFramePr>
        <p:xfrm>
          <a:off x="238125" y="1266825"/>
          <a:ext cx="5686425" cy="2590800"/>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Volume Shares &amp; Variance, By Application</a:t>
            </a:r>
          </a:p>
        </p:txBody>
      </p:sp>
      <p:graphicFrame>
        <p:nvGraphicFramePr>
          <p:cNvPr id="15" name="Table 14"/>
          <p:cNvGraphicFramePr>
            <a:graphicFrameLocks noGrp="1"/>
          </p:cNvGraphicFramePr>
          <p:nvPr/>
        </p:nvGraphicFramePr>
        <p:xfrm>
          <a:off x="6181725" y="1238250"/>
          <a:ext cx="5857874" cy="2466975"/>
        </p:xfrm>
        <a:graphic>
          <a:graphicData uri="http://schemas.openxmlformats.org/drawingml/2006/table">
            <a:tbl>
              <a:tblPr>
                <a:tableStyleId>{5C22544A-7EE6-4342-B048-85BDC9FD1C3A}</a:tableStyleId>
              </a:tblPr>
              <a:tblGrid>
                <a:gridCol w="2684954"/>
                <a:gridCol w="797661"/>
                <a:gridCol w="797661"/>
                <a:gridCol w="1007361"/>
                <a:gridCol w="570237"/>
              </a:tblGrid>
              <a:tr h="246126">
                <a:tc>
                  <a:txBody>
                    <a:bodyPr wrap="none"/>
                    <a:lstStyle/>
                    <a:p>
                      <a:pPr algn="l"/>
                      <a:r>
                        <a:rPr sz="1100" b="1">
                          <a:solidFill>
                            <a:srgbClr val="0B2E4A"/>
                          </a:solidFill>
                          <a:latin typeface="Calibri"/>
                        </a:rPr>
                        <a:t>Application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761">
                <a:tc>
                  <a:txBody>
                    <a:bodyPr wrap="none"/>
                    <a:lstStyle/>
                    <a:p>
                      <a:pPr algn="l"/>
                      <a:r>
                        <a:rPr sz="1100" b="1">
                          <a:solidFill>
                            <a:srgbClr val="2E2E2E"/>
                          </a:solidFill>
                          <a:latin typeface="Calibri"/>
                        </a:rPr>
                        <a:t>Roofs and Terraces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Walls and Building Facades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Basements and Foundations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Bathrooms and Wet Areas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Balconies and Decks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Floors and Parking Structures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Bridges, Tunnels and Other Infrastructure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Water Tanks and Swimming Pools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Other Applications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6" name="TextBox 15"/>
          <p:cNvSpPr txBox="1"/>
          <p:nvPr/>
        </p:nvSpPr>
        <p:spPr>
          <a:xfrm>
            <a:off x="6248400" y="3714750"/>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089348" y="2319896"/>
            <a:ext cx="274265" cy="398931"/>
          </a:xfrm>
          <a:prstGeom prst="rect">
            <a:avLst/>
          </a:prstGeom>
        </p:spPr>
      </p:pic>
      <p:pic>
        <p:nvPicPr>
          <p:cNvPr id="19" name="Picture 18" descr="lock.png"/>
          <p:cNvPicPr>
            <a:picLocks noChangeAspect="1"/>
          </p:cNvPicPr>
          <p:nvPr/>
        </p:nvPicPr>
        <p:blipFill>
          <a:blip r:embed="rId5"/>
          <a:stretch>
            <a:fillRect/>
          </a:stretch>
        </p:blipFill>
        <p:spPr>
          <a:xfrm>
            <a:off x="10266449" y="2328100"/>
            <a:ext cx="366712" cy="533400"/>
          </a:xfrm>
          <a:prstGeom prst="rect">
            <a:avLst/>
          </a:prstGeom>
        </p:spPr>
      </p:pic>
      <p:sp>
        <p:nvSpPr>
          <p:cNvPr id="20" name="lockshield_12"/>
          <p:cNvSpPr/>
          <p:nvPr/>
        </p:nvSpPr>
        <p:spPr>
          <a:xfrm>
            <a:off x="238125" y="1266825"/>
            <a:ext cx="5686425" cy="25908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Waterproof Coatings Market Tables Application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Application, 2021–2036</a:t>
            </a:r>
          </a:p>
        </p:txBody>
      </p:sp>
      <p:sp>
        <p:nvSpPr>
          <p:cNvPr id="10" name="Rounded Rectangle 9"/>
          <p:cNvSpPr/>
          <p:nvPr/>
        </p:nvSpPr>
        <p:spPr>
          <a:xfrm>
            <a:off x="142875" y="981075"/>
            <a:ext cx="1190625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Application (US$ Mn)</a:t>
            </a:r>
          </a:p>
        </p:txBody>
      </p:sp>
      <p:graphicFrame>
        <p:nvGraphicFramePr>
          <p:cNvPr id="12" name="Table 11"/>
          <p:cNvGraphicFramePr>
            <a:graphicFrameLocks noGrp="1"/>
          </p:cNvGraphicFramePr>
          <p:nvPr/>
        </p:nvGraphicFramePr>
        <p:xfrm>
          <a:off x="152400" y="1238250"/>
          <a:ext cx="11887202" cy="2714626"/>
        </p:xfrm>
        <a:graphic>
          <a:graphicData uri="http://schemas.openxmlformats.org/drawingml/2006/table">
            <a:tbl>
              <a:tblPr>
                <a:tableStyleId>{5C22544A-7EE6-4342-B048-85BDC9FD1C3A}</a:tableStyleId>
              </a:tblPr>
              <a:tblGrid>
                <a:gridCol w="2890183"/>
                <a:gridCol w="540437"/>
                <a:gridCol w="540437"/>
                <a:gridCol w="540437"/>
                <a:gridCol w="540437"/>
                <a:gridCol w="540437"/>
                <a:gridCol w="521400"/>
                <a:gridCol w="515961"/>
                <a:gridCol w="515961"/>
                <a:gridCol w="515961"/>
                <a:gridCol w="515961"/>
                <a:gridCol w="515961"/>
                <a:gridCol w="515961"/>
                <a:gridCol w="515961"/>
                <a:gridCol w="515961"/>
                <a:gridCol w="515961"/>
                <a:gridCol w="515961"/>
                <a:gridCol w="613824"/>
              </a:tblGrid>
              <a:tr h="246126">
                <a:tc>
                  <a:txBody>
                    <a:bodyPr wrap="none"/>
                    <a:lstStyle/>
                    <a:p>
                      <a:pPr algn="l"/>
                      <a:r>
                        <a:rPr sz="1100" b="1">
                          <a:solidFill>
                            <a:srgbClr val="0B2E4A"/>
                          </a:solidFill>
                          <a:latin typeface="Calibri"/>
                        </a:rPr>
                        <a:t>Application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850">
                <a:tc>
                  <a:txBody>
                    <a:bodyPr wrap="none"/>
                    <a:lstStyle/>
                    <a:p>
                      <a:pPr algn="l"/>
                      <a:r>
                        <a:rPr sz="1100" b="1">
                          <a:solidFill>
                            <a:srgbClr val="2E2E2E"/>
                          </a:solidFill>
                          <a:latin typeface="Calibri"/>
                        </a:rPr>
                        <a:t>Roofs and Terraces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Walls and Building Facades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Basements and Foundations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Bathrooms and Wet Areas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Balconies and Decks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Floors and Parking Structures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Bridges, Tunnels and Other Infrastructure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Water Tanks and Swimming Pools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Other Applications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9624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7354402" y="2451926"/>
            <a:ext cx="366712" cy="533400"/>
          </a:xfrm>
          <a:prstGeom prst="rect">
            <a:avLst/>
          </a:prstGeom>
        </p:spPr>
      </p:pic>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Substrate Material</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Waterproof Coatings Market Segmental Analysis Substrate Material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Substrate Material: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Substrate Material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Substrate Material</a:t>
            </a:r>
          </a:p>
        </p:txBody>
      </p:sp>
      <p:graphicFrame>
        <p:nvGraphicFramePr>
          <p:cNvPr id="15" name="Table 14"/>
          <p:cNvGraphicFramePr>
            <a:graphicFrameLocks noGrp="1"/>
          </p:cNvGraphicFramePr>
          <p:nvPr/>
        </p:nvGraphicFramePr>
        <p:xfrm>
          <a:off x="6181725" y="1238250"/>
          <a:ext cx="5857875" cy="2286000"/>
        </p:xfrm>
        <a:graphic>
          <a:graphicData uri="http://schemas.openxmlformats.org/drawingml/2006/table">
            <a:tbl>
              <a:tblPr>
                <a:tableStyleId>{5C22544A-7EE6-4342-B048-85BDC9FD1C3A}</a:tableStyleId>
              </a:tblPr>
              <a:tblGrid>
                <a:gridCol w="2493410"/>
                <a:gridCol w="845815"/>
                <a:gridCol w="845815"/>
                <a:gridCol w="1068173"/>
                <a:gridCol w="604662"/>
              </a:tblGrid>
              <a:tr h="246126">
                <a:tc>
                  <a:txBody>
                    <a:bodyPr wrap="none"/>
                    <a:lstStyle/>
                    <a:p>
                      <a:pPr algn="l"/>
                      <a:r>
                        <a:rPr sz="1100" b="1">
                          <a:solidFill>
                            <a:srgbClr val="0B2E4A"/>
                          </a:solidFill>
                          <a:latin typeface="Calibri"/>
                        </a:rPr>
                        <a:t>Substrate Material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339979">
                <a:tc>
                  <a:txBody>
                    <a:bodyPr wrap="none"/>
                    <a:lstStyle/>
                    <a:p>
                      <a:pPr algn="l"/>
                      <a:r>
                        <a:rPr sz="1100" b="1">
                          <a:solidFill>
                            <a:srgbClr val="2E2E2E"/>
                          </a:solidFill>
                          <a:latin typeface="Calibri"/>
                        </a:rPr>
                        <a:t>Concrete and Cementitious Surfaces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Metal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9979">
                <a:tc>
                  <a:txBody>
                    <a:bodyPr wrap="none"/>
                    <a:lstStyle/>
                    <a:p>
                      <a:pPr algn="l"/>
                      <a:r>
                        <a:rPr sz="1100" b="1">
                          <a:solidFill>
                            <a:srgbClr val="2E2E2E"/>
                          </a:solidFill>
                          <a:latin typeface="Calibri"/>
                        </a:rPr>
                        <a:t>Wood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Masonry and Brickwork</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9979">
                <a:tc>
                  <a:txBody>
                    <a:bodyPr wrap="none"/>
                    <a:lstStyle/>
                    <a:p>
                      <a:pPr algn="l"/>
                      <a:r>
                        <a:rPr sz="1100" b="1">
                          <a:solidFill>
                            <a:srgbClr val="2E2E2E"/>
                          </a:solidFill>
                          <a:latin typeface="Calibri"/>
                        </a:rPr>
                        <a:t>Composite Materials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Other Substrates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Substrate Material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10170677" y="2237613"/>
            <a:ext cx="366712" cy="53340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Waterproof Coatings Market Tables Substrate Material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Substrate Material, 2021–2036</a:t>
            </a:r>
          </a:p>
        </p:txBody>
      </p:sp>
      <p:sp>
        <p:nvSpPr>
          <p:cNvPr id="14" name="Rounded Rectangle 13"/>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Substrate Material (US$ Mn)</a:t>
            </a:r>
          </a:p>
        </p:txBody>
      </p:sp>
      <p:graphicFrame>
        <p:nvGraphicFramePr>
          <p:cNvPr id="16" name="Table 15"/>
          <p:cNvGraphicFramePr>
            <a:graphicFrameLocks noGrp="1"/>
          </p:cNvGraphicFramePr>
          <p:nvPr/>
        </p:nvGraphicFramePr>
        <p:xfrm>
          <a:off x="152400" y="1238250"/>
          <a:ext cx="11887204" cy="1971675"/>
        </p:xfrm>
        <a:graphic>
          <a:graphicData uri="http://schemas.openxmlformats.org/drawingml/2006/table">
            <a:tbl>
              <a:tblPr>
                <a:tableStyleId>{5C22544A-7EE6-4342-B048-85BDC9FD1C3A}</a:tableStyleId>
              </a:tblPr>
              <a:tblGrid>
                <a:gridCol w="2320556"/>
                <a:gridCol w="562744"/>
                <a:gridCol w="562744"/>
                <a:gridCol w="562744"/>
                <a:gridCol w="562744"/>
                <a:gridCol w="562744"/>
                <a:gridCol w="562744"/>
                <a:gridCol w="562744"/>
                <a:gridCol w="562744"/>
                <a:gridCol w="562744"/>
                <a:gridCol w="562744"/>
                <a:gridCol w="562744"/>
                <a:gridCol w="562744"/>
                <a:gridCol w="562744"/>
                <a:gridCol w="562744"/>
                <a:gridCol w="562744"/>
                <a:gridCol w="562744"/>
                <a:gridCol w="562744"/>
              </a:tblGrid>
              <a:tr h="246126">
                <a:tc>
                  <a:txBody>
                    <a:bodyPr wrap="none"/>
                    <a:lstStyle/>
                    <a:p>
                      <a:pPr algn="l"/>
                      <a:r>
                        <a:rPr sz="1100" b="1">
                          <a:solidFill>
                            <a:srgbClr val="0B2E4A"/>
                          </a:solidFill>
                          <a:latin typeface="Calibri"/>
                        </a:rPr>
                        <a:t>Substrate Material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Concrete and Cementitious Surfaces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Metal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Wood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Masonry and Brickwork</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Composite Materials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Other Substrates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7" name="TextBox 16"/>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7069589" y="2080450"/>
            <a:ext cx="366712" cy="533400"/>
          </a:xfrm>
          <a:prstGeom prst="rect">
            <a:avLst/>
          </a:prstGeom>
        </p:spPr>
      </p:pic>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Distribution Channel</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Waterproof Coatings Market Segmental Analysis Distribution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Distribution Channel: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Distribution Channel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Distribution Channel</a:t>
            </a:r>
          </a:p>
        </p:txBody>
      </p:sp>
      <p:graphicFrame>
        <p:nvGraphicFramePr>
          <p:cNvPr id="15" name="Table 14"/>
          <p:cNvGraphicFramePr>
            <a:graphicFrameLocks noGrp="1"/>
          </p:cNvGraphicFramePr>
          <p:nvPr/>
        </p:nvGraphicFramePr>
        <p:xfrm>
          <a:off x="6181725" y="1238250"/>
          <a:ext cx="5861482" cy="2286001"/>
        </p:xfrm>
        <a:graphic>
          <a:graphicData uri="http://schemas.openxmlformats.org/drawingml/2006/table">
            <a:tbl>
              <a:tblPr>
                <a:tableStyleId>{5C22544A-7EE6-4342-B048-85BDC9FD1C3A}</a:tableStyleId>
              </a:tblPr>
              <a:tblGrid>
                <a:gridCol w="1897743"/>
                <a:gridCol w="990033"/>
                <a:gridCol w="990033"/>
                <a:gridCol w="990033"/>
                <a:gridCol w="993640"/>
              </a:tblGrid>
              <a:tr h="246126">
                <a:tc>
                  <a:txBody>
                    <a:bodyPr wrap="none"/>
                    <a:lstStyle/>
                    <a:p>
                      <a:pPr algn="l"/>
                      <a:r>
                        <a:rPr sz="1100" b="1">
                          <a:solidFill>
                            <a:srgbClr val="0B2E4A"/>
                          </a:solidFill>
                          <a:latin typeface="Calibri"/>
                        </a:rPr>
                        <a:t>Distribution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407975">
                <a:tc>
                  <a:txBody>
                    <a:bodyPr wrap="none"/>
                    <a:lstStyle/>
                    <a:p>
                      <a:pPr algn="l"/>
                      <a:r>
                        <a:rPr sz="1100" b="1">
                          <a:solidFill>
                            <a:srgbClr val="2E2E2E"/>
                          </a:solidFill>
                          <a:latin typeface="Calibri"/>
                        </a:rPr>
                        <a:t>Direct Sales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07975">
                <a:tc>
                  <a:txBody>
                    <a:bodyPr wrap="none"/>
                    <a:lstStyle/>
                    <a:p>
                      <a:pPr algn="l"/>
                      <a:r>
                        <a:rPr sz="1100" b="1">
                          <a:solidFill>
                            <a:srgbClr val="2E2E2E"/>
                          </a:solidFill>
                          <a:latin typeface="Calibri"/>
                        </a:rPr>
                        <a:t>Distributors and Wholesalers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07975">
                <a:tc>
                  <a:txBody>
                    <a:bodyPr wrap="none"/>
                    <a:lstStyle/>
                    <a:p>
                      <a:pPr algn="l"/>
                      <a:r>
                        <a:rPr sz="1100" b="1">
                          <a:solidFill>
                            <a:srgbClr val="2E2E2E"/>
                          </a:solidFill>
                          <a:latin typeface="Calibri"/>
                        </a:rPr>
                        <a:t>Retail and Hardware Stores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07975">
                <a:tc>
                  <a:txBody>
                    <a:bodyPr wrap="none"/>
                    <a:lstStyle/>
                    <a:p>
                      <a:pPr algn="l"/>
                      <a:r>
                        <a:rPr sz="1100" b="1">
                          <a:solidFill>
                            <a:srgbClr val="2E2E2E"/>
                          </a:solidFill>
                          <a:latin typeface="Calibri"/>
                        </a:rPr>
                        <a:t>Online Sales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07975">
                <a:tc>
                  <a:txBody>
                    <a:bodyPr wrap="none"/>
                    <a:lstStyle/>
                    <a:p>
                      <a:pPr algn="l"/>
                      <a:r>
                        <a:rPr sz="1100" b="1">
                          <a:solidFill>
                            <a:srgbClr val="2E2E2E"/>
                          </a:solidFill>
                          <a:latin typeface="Calibri"/>
                        </a:rPr>
                        <a:t>Other Channels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Distribution Channel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9865629" y="2237613"/>
            <a:ext cx="366712" cy="53340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Waterproof Coatings Market Tables Distribution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Distribution Channel, 2021–2036</a:t>
            </a:r>
          </a:p>
        </p:txBody>
      </p:sp>
      <p:sp>
        <p:nvSpPr>
          <p:cNvPr id="14" name="Rounded Rectangle 13"/>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Distribution Channel (US$ Mn)</a:t>
            </a:r>
          </a:p>
        </p:txBody>
      </p:sp>
      <p:graphicFrame>
        <p:nvGraphicFramePr>
          <p:cNvPr id="16" name="Table 15"/>
          <p:cNvGraphicFramePr>
            <a:graphicFrameLocks noGrp="1"/>
          </p:cNvGraphicFramePr>
          <p:nvPr/>
        </p:nvGraphicFramePr>
        <p:xfrm>
          <a:off x="152400" y="1238250"/>
          <a:ext cx="11887205" cy="1724028"/>
        </p:xfrm>
        <a:graphic>
          <a:graphicData uri="http://schemas.openxmlformats.org/drawingml/2006/table">
            <a:tbl>
              <a:tblPr>
                <a:tableStyleId>{5C22544A-7EE6-4342-B048-85BDC9FD1C3A}</a:tableStyleId>
              </a:tblPr>
              <a:tblGrid>
                <a:gridCol w="1956026"/>
                <a:gridCol w="584187"/>
                <a:gridCol w="584187"/>
                <a:gridCol w="584187"/>
                <a:gridCol w="584187"/>
                <a:gridCol w="584187"/>
                <a:gridCol w="584187"/>
                <a:gridCol w="584187"/>
                <a:gridCol w="584187"/>
                <a:gridCol w="584187"/>
                <a:gridCol w="584187"/>
                <a:gridCol w="584187"/>
                <a:gridCol w="584187"/>
                <a:gridCol w="584187"/>
                <a:gridCol w="584187"/>
                <a:gridCol w="584187"/>
                <a:gridCol w="584187"/>
                <a:gridCol w="584187"/>
              </a:tblGrid>
              <a:tr h="246126">
                <a:tc>
                  <a:txBody>
                    <a:bodyPr wrap="none"/>
                    <a:lstStyle/>
                    <a:p>
                      <a:pPr algn="l"/>
                      <a:r>
                        <a:rPr sz="1100" b="1">
                          <a:solidFill>
                            <a:srgbClr val="0B2E4A"/>
                          </a:solidFill>
                          <a:latin typeface="Calibri"/>
                        </a:rPr>
                        <a:t>Distribution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7">
                <a:tc>
                  <a:txBody>
                    <a:bodyPr wrap="none"/>
                    <a:lstStyle/>
                    <a:p>
                      <a:pPr algn="l"/>
                      <a:r>
                        <a:rPr sz="1100" b="1">
                          <a:solidFill>
                            <a:srgbClr val="2E2E2E"/>
                          </a:solidFill>
                          <a:latin typeface="Calibri"/>
                        </a:rPr>
                        <a:t>Direct Sales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Distributors and Wholesalers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Retail and Hardware Stores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Online Sales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Other Channels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7" name="TextBox 16"/>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887325" y="1956627"/>
            <a:ext cx="366712" cy="533400"/>
          </a:xfrm>
          <a:prstGeom prst="rect">
            <a:avLst/>
          </a:prstGeom>
        </p:spPr>
      </p:pic>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Waterproof Coatings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Pricing Assessment</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Pricing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Pricing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Pricing &amp; Regional Price Index Trends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Pricing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Price Positioning &amp; Key Findings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Pricing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Factors Impacting Pricing</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Waterproof Coatings Market Product Pricing &amp; Regional Price Index Trends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range by sub-segment and indexed regional price movement, highlighting dispersion and structural shifts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Analysis of average USD pricing by product type and indexed regional price movement with base-year inflation adjustments.</a:t>
            </a:r>
          </a:p>
        </p:txBody>
      </p:sp>
      <p:sp>
        <p:nvSpPr>
          <p:cNvPr id="11" name="Rounded Rectangle 10"/>
          <p:cNvSpPr/>
          <p:nvPr/>
        </p:nvSpPr>
        <p:spPr>
          <a:xfrm>
            <a:off x="142875" y="1317574"/>
            <a:ext cx="7696200"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Pricing by Product Type</a:t>
            </a:r>
          </a:p>
        </p:txBody>
      </p:sp>
      <p:sp>
        <p:nvSpPr>
          <p:cNvPr id="13" name="TextBox 12"/>
          <p:cNvSpPr txBox="1"/>
          <p:nvPr/>
        </p:nvSpPr>
        <p:spPr>
          <a:xfrm>
            <a:off x="111919" y="3471051"/>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2192.6</a:t>
            </a:r>
          </a:p>
        </p:txBody>
      </p:sp>
      <p:sp>
        <p:nvSpPr>
          <p:cNvPr id="14" name="TextBox 13"/>
          <p:cNvSpPr txBox="1"/>
          <p:nvPr/>
        </p:nvSpPr>
        <p:spPr>
          <a:xfrm>
            <a:off x="111919" y="2561000"/>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4087.5</a:t>
            </a:r>
          </a:p>
        </p:txBody>
      </p:sp>
      <p:sp>
        <p:nvSpPr>
          <p:cNvPr id="15" name="TextBox 14"/>
          <p:cNvSpPr txBox="1"/>
          <p:nvPr/>
        </p:nvSpPr>
        <p:spPr>
          <a:xfrm>
            <a:off x="111919" y="1650949"/>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5982.3</a:t>
            </a:r>
          </a:p>
        </p:txBody>
      </p:sp>
      <p:cxnSp>
        <p:nvCxnSpPr>
          <p:cNvPr id="16" name="Connector 15"/>
          <p:cNvCxnSpPr/>
          <p:nvPr/>
        </p:nvCxnSpPr>
        <p:spPr>
          <a:xfrm>
            <a:off x="1095375" y="2046450"/>
            <a:ext cx="0" cy="271071"/>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876300" y="2046450"/>
            <a:ext cx="438150" cy="271072"/>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7225" y="1894050"/>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19" name="TextBox 18"/>
          <p:cNvSpPr txBox="1"/>
          <p:nvPr/>
        </p:nvSpPr>
        <p:spPr>
          <a:xfrm>
            <a:off x="657225" y="3566301"/>
            <a:ext cx="876300" cy="285750"/>
          </a:xfrm>
          <a:prstGeom prst="rect">
            <a:avLst/>
          </a:prstGeom>
          <a:noFill/>
        </p:spPr>
        <p:txBody>
          <a:bodyPr wrap="square" lIns="28575" rIns="28575" tIns="9525" bIns="9525">
            <a:spAutoFit/>
          </a:bodyPr>
          <a:lstStyle/>
          <a:p>
            <a:pPr algn="ctr"/>
            <a:r>
              <a:rPr sz="1100" b="0">
                <a:solidFill>
                  <a:srgbClr val="2E2E2E"/>
                </a:solidFill>
                <a:latin typeface="Calibri"/>
              </a:rPr>
              <a:t>Acrylic Waterproof Co…</a:t>
            </a:r>
          </a:p>
        </p:txBody>
      </p:sp>
      <p:cxnSp>
        <p:nvCxnSpPr>
          <p:cNvPr id="20" name="Connector 19"/>
          <p:cNvCxnSpPr/>
          <p:nvPr/>
        </p:nvCxnSpPr>
        <p:spPr>
          <a:xfrm>
            <a:off x="1971675" y="1927636"/>
            <a:ext cx="0" cy="282043"/>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1752600" y="1927636"/>
            <a:ext cx="438150" cy="282043"/>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33525" y="1775236"/>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23" name="TextBox 22"/>
          <p:cNvSpPr txBox="1"/>
          <p:nvPr/>
        </p:nvSpPr>
        <p:spPr>
          <a:xfrm>
            <a:off x="1533525" y="3566301"/>
            <a:ext cx="876300" cy="285750"/>
          </a:xfrm>
          <a:prstGeom prst="rect">
            <a:avLst/>
          </a:prstGeom>
          <a:noFill/>
        </p:spPr>
        <p:txBody>
          <a:bodyPr wrap="square" lIns="28575" rIns="28575" tIns="9525" bIns="9525">
            <a:spAutoFit/>
          </a:bodyPr>
          <a:lstStyle/>
          <a:p>
            <a:pPr algn="ctr"/>
            <a:r>
              <a:rPr sz="1100" b="0">
                <a:solidFill>
                  <a:srgbClr val="2E2E2E"/>
                </a:solidFill>
                <a:latin typeface="Calibri"/>
              </a:rPr>
              <a:t>Polyurethane (PU) Wat…</a:t>
            </a:r>
          </a:p>
        </p:txBody>
      </p:sp>
      <p:cxnSp>
        <p:nvCxnSpPr>
          <p:cNvPr id="24" name="Connector 23"/>
          <p:cNvCxnSpPr/>
          <p:nvPr/>
        </p:nvCxnSpPr>
        <p:spPr>
          <a:xfrm>
            <a:off x="2847975" y="2101644"/>
            <a:ext cx="0" cy="262105"/>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2628900" y="2101644"/>
            <a:ext cx="438150" cy="262105"/>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409825" y="1949244"/>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27" name="TextBox 26"/>
          <p:cNvSpPr txBox="1"/>
          <p:nvPr/>
        </p:nvSpPr>
        <p:spPr>
          <a:xfrm>
            <a:off x="2409825" y="3566301"/>
            <a:ext cx="876300" cy="285750"/>
          </a:xfrm>
          <a:prstGeom prst="rect">
            <a:avLst/>
          </a:prstGeom>
          <a:noFill/>
        </p:spPr>
        <p:txBody>
          <a:bodyPr wrap="square" lIns="28575" rIns="28575" tIns="9525" bIns="9525">
            <a:spAutoFit/>
          </a:bodyPr>
          <a:lstStyle/>
          <a:p>
            <a:pPr algn="ctr"/>
            <a:r>
              <a:rPr sz="1100" b="0">
                <a:solidFill>
                  <a:srgbClr val="2E2E2E"/>
                </a:solidFill>
                <a:latin typeface="Calibri"/>
              </a:rPr>
              <a:t>Epoxy Waterproof Coat…</a:t>
            </a:r>
          </a:p>
        </p:txBody>
      </p:sp>
      <p:cxnSp>
        <p:nvCxnSpPr>
          <p:cNvPr id="28" name="Connector 27"/>
          <p:cNvCxnSpPr/>
          <p:nvPr/>
        </p:nvCxnSpPr>
        <p:spPr>
          <a:xfrm>
            <a:off x="3724275" y="2488678"/>
            <a:ext cx="0" cy="216270"/>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3505200" y="2488678"/>
            <a:ext cx="438150" cy="216269"/>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86125" y="2336278"/>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31" name="TextBox 30"/>
          <p:cNvSpPr txBox="1"/>
          <p:nvPr/>
        </p:nvSpPr>
        <p:spPr>
          <a:xfrm>
            <a:off x="3286125" y="3566301"/>
            <a:ext cx="876300" cy="285750"/>
          </a:xfrm>
          <a:prstGeom prst="rect">
            <a:avLst/>
          </a:prstGeom>
          <a:noFill/>
        </p:spPr>
        <p:txBody>
          <a:bodyPr wrap="square" lIns="28575" rIns="28575" tIns="9525" bIns="9525">
            <a:spAutoFit/>
          </a:bodyPr>
          <a:lstStyle/>
          <a:p>
            <a:pPr algn="ctr"/>
            <a:r>
              <a:rPr sz="1100" b="0">
                <a:solidFill>
                  <a:srgbClr val="2E2E2E"/>
                </a:solidFill>
                <a:latin typeface="Calibri"/>
              </a:rPr>
              <a:t>Silicone Waterproof C…</a:t>
            </a:r>
          </a:p>
        </p:txBody>
      </p:sp>
      <p:cxnSp>
        <p:nvCxnSpPr>
          <p:cNvPr id="32" name="Connector 31"/>
          <p:cNvCxnSpPr/>
          <p:nvPr/>
        </p:nvCxnSpPr>
        <p:spPr>
          <a:xfrm>
            <a:off x="4600575" y="3183009"/>
            <a:ext cx="0" cy="144705"/>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4381500" y="3183009"/>
            <a:ext cx="438150" cy="144705"/>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62425" y="3030609"/>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35" name="TextBox 34"/>
          <p:cNvSpPr txBox="1"/>
          <p:nvPr/>
        </p:nvSpPr>
        <p:spPr>
          <a:xfrm>
            <a:off x="4162425" y="3566301"/>
            <a:ext cx="876300" cy="285750"/>
          </a:xfrm>
          <a:prstGeom prst="rect">
            <a:avLst/>
          </a:prstGeom>
          <a:noFill/>
        </p:spPr>
        <p:txBody>
          <a:bodyPr wrap="square" lIns="28575" rIns="28575" tIns="9525" bIns="9525">
            <a:spAutoFit/>
          </a:bodyPr>
          <a:lstStyle/>
          <a:p>
            <a:pPr algn="ctr"/>
            <a:r>
              <a:rPr sz="1100" b="0">
                <a:solidFill>
                  <a:srgbClr val="2E2E2E"/>
                </a:solidFill>
                <a:latin typeface="Calibri"/>
              </a:rPr>
              <a:t>Bituminous Waterproof…</a:t>
            </a:r>
          </a:p>
        </p:txBody>
      </p:sp>
      <p:cxnSp>
        <p:nvCxnSpPr>
          <p:cNvPr id="36" name="Connector 35"/>
          <p:cNvCxnSpPr/>
          <p:nvPr/>
        </p:nvCxnSpPr>
        <p:spPr>
          <a:xfrm>
            <a:off x="5476875" y="1943427"/>
            <a:ext cx="0" cy="275217"/>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257800" y="1943427"/>
            <a:ext cx="438150" cy="275217"/>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38725" y="1791027"/>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39" name="TextBox 38"/>
          <p:cNvSpPr txBox="1"/>
          <p:nvPr/>
        </p:nvSpPr>
        <p:spPr>
          <a:xfrm>
            <a:off x="5038725" y="3566301"/>
            <a:ext cx="876300" cy="285750"/>
          </a:xfrm>
          <a:prstGeom prst="rect">
            <a:avLst/>
          </a:prstGeom>
          <a:noFill/>
        </p:spPr>
        <p:txBody>
          <a:bodyPr wrap="square" lIns="28575" rIns="28575" tIns="9525" bIns="9525">
            <a:spAutoFit/>
          </a:bodyPr>
          <a:lstStyle/>
          <a:p>
            <a:pPr algn="ctr"/>
            <a:r>
              <a:rPr sz="1100" b="0">
                <a:solidFill>
                  <a:srgbClr val="2E2E2E"/>
                </a:solidFill>
                <a:latin typeface="Calibri"/>
              </a:rPr>
              <a:t>Cementitious Waterpro…</a:t>
            </a:r>
          </a:p>
        </p:txBody>
      </p:sp>
      <p:cxnSp>
        <p:nvCxnSpPr>
          <p:cNvPr id="40" name="Connector 39"/>
          <p:cNvCxnSpPr/>
          <p:nvPr/>
        </p:nvCxnSpPr>
        <p:spPr>
          <a:xfrm>
            <a:off x="6353175" y="3105504"/>
            <a:ext cx="0" cy="158060"/>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6134100" y="3105504"/>
            <a:ext cx="438150" cy="158061"/>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15025" y="2953104"/>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43" name="TextBox 42"/>
          <p:cNvSpPr txBox="1"/>
          <p:nvPr/>
        </p:nvSpPr>
        <p:spPr>
          <a:xfrm>
            <a:off x="5915025" y="3566301"/>
            <a:ext cx="876300" cy="285750"/>
          </a:xfrm>
          <a:prstGeom prst="rect">
            <a:avLst/>
          </a:prstGeom>
          <a:noFill/>
        </p:spPr>
        <p:txBody>
          <a:bodyPr wrap="square" lIns="28575" rIns="28575" tIns="9525" bIns="9525">
            <a:spAutoFit/>
          </a:bodyPr>
          <a:lstStyle/>
          <a:p>
            <a:pPr algn="ctr"/>
            <a:r>
              <a:rPr sz="1100" b="0">
                <a:solidFill>
                  <a:srgbClr val="2E2E2E"/>
                </a:solidFill>
                <a:latin typeface="Calibri"/>
              </a:rPr>
              <a:t>Polyurea Waterproof C…</a:t>
            </a:r>
          </a:p>
        </p:txBody>
      </p:sp>
      <p:cxnSp>
        <p:nvCxnSpPr>
          <p:cNvPr id="44" name="Connector 43"/>
          <p:cNvCxnSpPr/>
          <p:nvPr/>
        </p:nvCxnSpPr>
        <p:spPr>
          <a:xfrm>
            <a:off x="7229475" y="2268140"/>
            <a:ext cx="0" cy="233146"/>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7010400" y="2268140"/>
            <a:ext cx="438150" cy="233146"/>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791325" y="2115740"/>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47" name="TextBox 46"/>
          <p:cNvSpPr txBox="1"/>
          <p:nvPr/>
        </p:nvSpPr>
        <p:spPr>
          <a:xfrm>
            <a:off x="6791325" y="3566301"/>
            <a:ext cx="876300" cy="285750"/>
          </a:xfrm>
          <a:prstGeom prst="rect">
            <a:avLst/>
          </a:prstGeom>
          <a:noFill/>
        </p:spPr>
        <p:txBody>
          <a:bodyPr wrap="square" lIns="28575" rIns="28575" tIns="9525" bIns="9525">
            <a:spAutoFit/>
          </a:bodyPr>
          <a:lstStyle/>
          <a:p>
            <a:pPr algn="ctr"/>
            <a:r>
              <a:rPr sz="1100" b="0">
                <a:solidFill>
                  <a:srgbClr val="2E2E2E"/>
                </a:solidFill>
                <a:latin typeface="Calibri"/>
              </a:rPr>
              <a:t>Other Polymer-Based C…</a:t>
            </a:r>
          </a:p>
        </p:txBody>
      </p:sp>
      <p:sp>
        <p:nvSpPr>
          <p:cNvPr id="48" name="Rounded Rectangle 47"/>
          <p:cNvSpPr/>
          <p:nvPr/>
        </p:nvSpPr>
        <p:spPr>
          <a:xfrm>
            <a:off x="142875" y="3991741"/>
            <a:ext cx="7696200" cy="2564645"/>
          </a:xfrm>
          <a:prstGeom prst="roundRect">
            <a:avLst>
              <a:gd name="adj" fmla="val 29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38125" y="4048891"/>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 vs Global Price Trend (2026–2036)</a:t>
            </a:r>
          </a:p>
        </p:txBody>
      </p:sp>
      <p:cxnSp>
        <p:nvCxnSpPr>
          <p:cNvPr id="50" name="Connector 49"/>
          <p:cNvCxnSpPr/>
          <p:nvPr/>
        </p:nvCxnSpPr>
        <p:spPr>
          <a:xfrm>
            <a:off x="619125" y="4518482"/>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19125" y="488389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19125" y="524929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19125" y="561470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19125" y="5980114"/>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19125" y="4518482"/>
            <a:ext cx="0" cy="1461632"/>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590550" y="4518482"/>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90550" y="488389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90550" y="524929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590550" y="561470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90550" y="5980114"/>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61" name="FMI Scale tick"/>
          <p:cNvSpPr txBox="1"/>
          <p:nvPr/>
        </p:nvSpPr>
        <p:spPr>
          <a:xfrm>
            <a:off x="219075" y="4451807"/>
            <a:ext cx="361950" cy="133350"/>
          </a:xfrm>
          <a:prstGeom prst="rect">
            <a:avLst/>
          </a:prstGeom>
          <a:noFill/>
        </p:spPr>
        <p:txBody>
          <a:bodyPr wrap="none" lIns="0" rIns="0" tIns="0" bIns="0" anchor="ctr">
            <a:spAutoFit/>
          </a:bodyPr>
          <a:lstStyle/>
          <a:p>
            <a:pPr algn="r"/>
            <a:r>
              <a:rPr sz="1100" b="0">
                <a:solidFill>
                  <a:srgbClr val="6C7A89"/>
                </a:solidFill>
                <a:latin typeface="Calibri"/>
              </a:rPr>
              <a:t>+13%</a:t>
            </a:r>
          </a:p>
        </p:txBody>
      </p:sp>
      <p:sp>
        <p:nvSpPr>
          <p:cNvPr id="62" name="FMI Scale tick"/>
          <p:cNvSpPr txBox="1"/>
          <p:nvPr/>
        </p:nvSpPr>
        <p:spPr>
          <a:xfrm>
            <a:off x="219075" y="4817215"/>
            <a:ext cx="361950" cy="133350"/>
          </a:xfrm>
          <a:prstGeom prst="rect">
            <a:avLst/>
          </a:prstGeom>
          <a:noFill/>
        </p:spPr>
        <p:txBody>
          <a:bodyPr wrap="none" lIns="0" rIns="0" tIns="0" bIns="0" anchor="ctr">
            <a:spAutoFit/>
          </a:bodyPr>
          <a:lstStyle/>
          <a:p>
            <a:pPr algn="r"/>
            <a:r>
              <a:rPr sz="1100" b="0">
                <a:solidFill>
                  <a:srgbClr val="6C7A89"/>
                </a:solidFill>
                <a:latin typeface="Calibri"/>
              </a:rPr>
              <a:t>+6%</a:t>
            </a:r>
          </a:p>
        </p:txBody>
      </p:sp>
      <p:sp>
        <p:nvSpPr>
          <p:cNvPr id="63" name="FMI Scale tick"/>
          <p:cNvSpPr txBox="1"/>
          <p:nvPr/>
        </p:nvSpPr>
        <p:spPr>
          <a:xfrm>
            <a:off x="219075" y="5182623"/>
            <a:ext cx="361950" cy="133350"/>
          </a:xfrm>
          <a:prstGeom prst="rect">
            <a:avLst/>
          </a:prstGeom>
          <a:noFill/>
        </p:spPr>
        <p:txBody>
          <a:bodyPr wrap="none" lIns="0" rIns="0" tIns="0" bIns="0" anchor="ctr">
            <a:spAutoFit/>
          </a:bodyPr>
          <a:lstStyle/>
          <a:p>
            <a:pPr algn="r"/>
            <a:r>
              <a:rPr sz="1100" b="0">
                <a:solidFill>
                  <a:srgbClr val="6C7A89"/>
                </a:solidFill>
                <a:latin typeface="Calibri"/>
              </a:rPr>
              <a:t>0%</a:t>
            </a:r>
          </a:p>
        </p:txBody>
      </p:sp>
      <p:sp>
        <p:nvSpPr>
          <p:cNvPr id="64" name="FMI Scale tick"/>
          <p:cNvSpPr txBox="1"/>
          <p:nvPr/>
        </p:nvSpPr>
        <p:spPr>
          <a:xfrm>
            <a:off x="219075" y="5548031"/>
            <a:ext cx="361950" cy="133350"/>
          </a:xfrm>
          <a:prstGeom prst="rect">
            <a:avLst/>
          </a:prstGeom>
          <a:noFill/>
        </p:spPr>
        <p:txBody>
          <a:bodyPr wrap="none" lIns="0" rIns="0" tIns="0" bIns="0" anchor="ctr">
            <a:spAutoFit/>
          </a:bodyPr>
          <a:lstStyle/>
          <a:p>
            <a:pPr algn="r"/>
            <a:r>
              <a:rPr sz="1100" b="0">
                <a:solidFill>
                  <a:srgbClr val="6C7A89"/>
                </a:solidFill>
                <a:latin typeface="Calibri"/>
              </a:rPr>
              <a:t>-6%</a:t>
            </a:r>
          </a:p>
        </p:txBody>
      </p:sp>
      <p:sp>
        <p:nvSpPr>
          <p:cNvPr id="65" name="FMI Scale tick"/>
          <p:cNvSpPr txBox="1"/>
          <p:nvPr/>
        </p:nvSpPr>
        <p:spPr>
          <a:xfrm>
            <a:off x="219075" y="5913439"/>
            <a:ext cx="361950" cy="133350"/>
          </a:xfrm>
          <a:prstGeom prst="rect">
            <a:avLst/>
          </a:prstGeom>
          <a:noFill/>
        </p:spPr>
        <p:txBody>
          <a:bodyPr wrap="none" lIns="0" rIns="0" tIns="0" bIns="0" anchor="ctr">
            <a:spAutoFit/>
          </a:bodyPr>
          <a:lstStyle/>
          <a:p>
            <a:pPr algn="r"/>
            <a:r>
              <a:rPr sz="1100" b="0">
                <a:solidFill>
                  <a:srgbClr val="6C7A89"/>
                </a:solidFill>
                <a:latin typeface="Calibri"/>
              </a:rPr>
              <a:t>-13%</a:t>
            </a:r>
          </a:p>
        </p:txBody>
      </p:sp>
      <p:cxnSp>
        <p:nvCxnSpPr>
          <p:cNvPr id="66" name="Connector 65"/>
          <p:cNvCxnSpPr/>
          <p:nvPr/>
        </p:nvCxnSpPr>
        <p:spPr>
          <a:xfrm>
            <a:off x="619125" y="5249298"/>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893989" y="4614107"/>
            <a:ext cx="457200" cy="635191"/>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MI Data Label"/>
          <p:cNvSpPr txBox="1"/>
          <p:nvPr/>
        </p:nvSpPr>
        <p:spPr>
          <a:xfrm>
            <a:off x="619125" y="4471232"/>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9" name="Rectangle 68"/>
          <p:cNvSpPr/>
          <p:nvPr/>
        </p:nvSpPr>
        <p:spPr>
          <a:xfrm>
            <a:off x="1900918" y="5105130"/>
            <a:ext cx="457200" cy="144167"/>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FMI Data Label"/>
          <p:cNvSpPr txBox="1"/>
          <p:nvPr/>
        </p:nvSpPr>
        <p:spPr>
          <a:xfrm>
            <a:off x="1626054" y="4962255"/>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1" name="Rectangle 70"/>
          <p:cNvSpPr/>
          <p:nvPr/>
        </p:nvSpPr>
        <p:spPr>
          <a:xfrm>
            <a:off x="2907846" y="5249298"/>
            <a:ext cx="457200" cy="243560"/>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MI Data Label"/>
          <p:cNvSpPr txBox="1"/>
          <p:nvPr/>
        </p:nvSpPr>
        <p:spPr>
          <a:xfrm>
            <a:off x="2632982" y="5502383"/>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3" name="Rectangle 72"/>
          <p:cNvSpPr/>
          <p:nvPr/>
        </p:nvSpPr>
        <p:spPr>
          <a:xfrm>
            <a:off x="3914775" y="5249298"/>
            <a:ext cx="457200" cy="307007"/>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MI Data Label"/>
          <p:cNvSpPr txBox="1"/>
          <p:nvPr/>
        </p:nvSpPr>
        <p:spPr>
          <a:xfrm>
            <a:off x="3639911" y="5565830"/>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5" name="Rectangle 74"/>
          <p:cNvSpPr/>
          <p:nvPr/>
        </p:nvSpPr>
        <p:spPr>
          <a:xfrm>
            <a:off x="4921704" y="4710856"/>
            <a:ext cx="457200" cy="538442"/>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MI Data Label"/>
          <p:cNvSpPr txBox="1"/>
          <p:nvPr/>
        </p:nvSpPr>
        <p:spPr>
          <a:xfrm>
            <a:off x="4646839" y="4567981"/>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7" name="Rectangle 76"/>
          <p:cNvSpPr/>
          <p:nvPr/>
        </p:nvSpPr>
        <p:spPr>
          <a:xfrm>
            <a:off x="5928632" y="4816972"/>
            <a:ext cx="457200" cy="432326"/>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MI Data Label"/>
          <p:cNvSpPr txBox="1"/>
          <p:nvPr/>
        </p:nvSpPr>
        <p:spPr>
          <a:xfrm>
            <a:off x="5653768" y="4674097"/>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9" name="FMI Data Label"/>
          <p:cNvSpPr txBox="1"/>
          <p:nvPr/>
        </p:nvSpPr>
        <p:spPr>
          <a:xfrm>
            <a:off x="6660696" y="5097812"/>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80" name="TextBox 79"/>
          <p:cNvSpPr txBox="1"/>
          <p:nvPr/>
        </p:nvSpPr>
        <p:spPr>
          <a:xfrm>
            <a:off x="619125"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North America</a:t>
            </a:r>
          </a:p>
        </p:txBody>
      </p:sp>
      <p:sp>
        <p:nvSpPr>
          <p:cNvPr id="81" name="TextBox 80"/>
          <p:cNvSpPr txBox="1"/>
          <p:nvPr/>
        </p:nvSpPr>
        <p:spPr>
          <a:xfrm>
            <a:off x="1626054"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Latin America</a:t>
            </a:r>
          </a:p>
        </p:txBody>
      </p:sp>
      <p:sp>
        <p:nvSpPr>
          <p:cNvPr id="82" name="TextBox 81"/>
          <p:cNvSpPr txBox="1"/>
          <p:nvPr/>
        </p:nvSpPr>
        <p:spPr>
          <a:xfrm>
            <a:off x="2632982"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East Asia</a:t>
            </a:r>
          </a:p>
        </p:txBody>
      </p:sp>
      <p:sp>
        <p:nvSpPr>
          <p:cNvPr id="83" name="TextBox 82"/>
          <p:cNvSpPr txBox="1"/>
          <p:nvPr/>
        </p:nvSpPr>
        <p:spPr>
          <a:xfrm>
            <a:off x="3639911"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South Asia &amp; Pacific</a:t>
            </a:r>
          </a:p>
        </p:txBody>
      </p:sp>
      <p:sp>
        <p:nvSpPr>
          <p:cNvPr id="84" name="TextBox 83"/>
          <p:cNvSpPr txBox="1"/>
          <p:nvPr/>
        </p:nvSpPr>
        <p:spPr>
          <a:xfrm>
            <a:off x="4646839"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Western Europe</a:t>
            </a:r>
          </a:p>
        </p:txBody>
      </p:sp>
      <p:sp>
        <p:nvSpPr>
          <p:cNvPr id="85" name="TextBox 84"/>
          <p:cNvSpPr txBox="1"/>
          <p:nvPr/>
        </p:nvSpPr>
        <p:spPr>
          <a:xfrm>
            <a:off x="5653768"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Eastern Europe</a:t>
            </a:r>
          </a:p>
        </p:txBody>
      </p:sp>
      <p:sp>
        <p:nvSpPr>
          <p:cNvPr id="86" name="TextBox 85"/>
          <p:cNvSpPr txBox="1"/>
          <p:nvPr/>
        </p:nvSpPr>
        <p:spPr>
          <a:xfrm>
            <a:off x="6660696"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Middle East &amp; Africa</a:t>
            </a:r>
          </a:p>
        </p:txBody>
      </p:sp>
      <p:sp>
        <p:nvSpPr>
          <p:cNvPr id="87" name="Rounded Rectangle 86"/>
          <p:cNvSpPr/>
          <p:nvPr/>
        </p:nvSpPr>
        <p:spPr>
          <a:xfrm>
            <a:off x="7915275" y="1317574"/>
            <a:ext cx="4133850" cy="5238811"/>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89" name="Rectangle 88"/>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91" name="TextBox 9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92" name="Picture 91" descr="lock.png"/>
          <p:cNvPicPr>
            <a:picLocks noChangeAspect="1"/>
          </p:cNvPicPr>
          <p:nvPr/>
        </p:nvPicPr>
        <p:blipFill>
          <a:blip r:embed="rId4"/>
          <a:stretch>
            <a:fillRect/>
          </a:stretch>
        </p:blipFill>
        <p:spPr>
          <a:xfrm>
            <a:off x="1031025" y="1867126"/>
            <a:ext cx="128699" cy="187198"/>
          </a:xfrm>
          <a:prstGeom prst="rect">
            <a:avLst/>
          </a:prstGeom>
        </p:spPr>
      </p:pic>
      <p:pic>
        <p:nvPicPr>
          <p:cNvPr id="93" name="Picture 92" descr="lock.png"/>
          <p:cNvPicPr>
            <a:picLocks noChangeAspect="1"/>
          </p:cNvPicPr>
          <p:nvPr/>
        </p:nvPicPr>
        <p:blipFill>
          <a:blip r:embed="rId4"/>
          <a:stretch>
            <a:fillRect/>
          </a:stretch>
        </p:blipFill>
        <p:spPr>
          <a:xfrm>
            <a:off x="1907325" y="1748312"/>
            <a:ext cx="128699" cy="187198"/>
          </a:xfrm>
          <a:prstGeom prst="rect">
            <a:avLst/>
          </a:prstGeom>
        </p:spPr>
      </p:pic>
      <p:pic>
        <p:nvPicPr>
          <p:cNvPr id="94" name="Picture 93" descr="lock.png"/>
          <p:cNvPicPr>
            <a:picLocks noChangeAspect="1"/>
          </p:cNvPicPr>
          <p:nvPr/>
        </p:nvPicPr>
        <p:blipFill>
          <a:blip r:embed="rId4"/>
          <a:stretch>
            <a:fillRect/>
          </a:stretch>
        </p:blipFill>
        <p:spPr>
          <a:xfrm>
            <a:off x="2783625" y="1922320"/>
            <a:ext cx="128699" cy="187198"/>
          </a:xfrm>
          <a:prstGeom prst="rect">
            <a:avLst/>
          </a:prstGeom>
        </p:spPr>
      </p:pic>
      <p:pic>
        <p:nvPicPr>
          <p:cNvPr id="95" name="Picture 94" descr="lock.png"/>
          <p:cNvPicPr>
            <a:picLocks noChangeAspect="1"/>
          </p:cNvPicPr>
          <p:nvPr/>
        </p:nvPicPr>
        <p:blipFill>
          <a:blip r:embed="rId4"/>
          <a:stretch>
            <a:fillRect/>
          </a:stretch>
        </p:blipFill>
        <p:spPr>
          <a:xfrm>
            <a:off x="3659925" y="2309354"/>
            <a:ext cx="128699" cy="187198"/>
          </a:xfrm>
          <a:prstGeom prst="rect">
            <a:avLst/>
          </a:prstGeom>
        </p:spPr>
      </p:pic>
      <p:pic>
        <p:nvPicPr>
          <p:cNvPr id="96" name="Picture 95" descr="lock.png"/>
          <p:cNvPicPr>
            <a:picLocks noChangeAspect="1"/>
          </p:cNvPicPr>
          <p:nvPr/>
        </p:nvPicPr>
        <p:blipFill>
          <a:blip r:embed="rId4"/>
          <a:stretch>
            <a:fillRect/>
          </a:stretch>
        </p:blipFill>
        <p:spPr>
          <a:xfrm>
            <a:off x="4536225" y="3003685"/>
            <a:ext cx="128699" cy="187198"/>
          </a:xfrm>
          <a:prstGeom prst="rect">
            <a:avLst/>
          </a:prstGeom>
        </p:spPr>
      </p:pic>
      <p:pic>
        <p:nvPicPr>
          <p:cNvPr id="97" name="Picture 96" descr="lock.png"/>
          <p:cNvPicPr>
            <a:picLocks noChangeAspect="1"/>
          </p:cNvPicPr>
          <p:nvPr/>
        </p:nvPicPr>
        <p:blipFill>
          <a:blip r:embed="rId4"/>
          <a:stretch>
            <a:fillRect/>
          </a:stretch>
        </p:blipFill>
        <p:spPr>
          <a:xfrm>
            <a:off x="5412525" y="1764103"/>
            <a:ext cx="128699" cy="187198"/>
          </a:xfrm>
          <a:prstGeom prst="rect">
            <a:avLst/>
          </a:prstGeom>
        </p:spPr>
      </p:pic>
      <p:pic>
        <p:nvPicPr>
          <p:cNvPr id="98" name="Picture 97" descr="lock.png"/>
          <p:cNvPicPr>
            <a:picLocks noChangeAspect="1"/>
          </p:cNvPicPr>
          <p:nvPr/>
        </p:nvPicPr>
        <p:blipFill>
          <a:blip r:embed="rId4"/>
          <a:stretch>
            <a:fillRect/>
          </a:stretch>
        </p:blipFill>
        <p:spPr>
          <a:xfrm>
            <a:off x="6288825" y="2926180"/>
            <a:ext cx="128699" cy="187198"/>
          </a:xfrm>
          <a:prstGeom prst="rect">
            <a:avLst/>
          </a:prstGeom>
        </p:spPr>
      </p:pic>
      <p:pic>
        <p:nvPicPr>
          <p:cNvPr id="99" name="Picture 98" descr="lock.png"/>
          <p:cNvPicPr>
            <a:picLocks noChangeAspect="1"/>
          </p:cNvPicPr>
          <p:nvPr/>
        </p:nvPicPr>
        <p:blipFill>
          <a:blip r:embed="rId4"/>
          <a:stretch>
            <a:fillRect/>
          </a:stretch>
        </p:blipFill>
        <p:spPr>
          <a:xfrm>
            <a:off x="7165125" y="2088816"/>
            <a:ext cx="128699" cy="187198"/>
          </a:xfrm>
          <a:prstGeom prst="rect">
            <a:avLst/>
          </a:prstGeom>
        </p:spPr>
      </p:pic>
      <p:pic>
        <p:nvPicPr>
          <p:cNvPr id="100" name="Picture 99" descr="lock.png"/>
          <p:cNvPicPr>
            <a:picLocks noChangeAspect="1"/>
          </p:cNvPicPr>
          <p:nvPr/>
        </p:nvPicPr>
        <p:blipFill>
          <a:blip r:embed="rId4"/>
          <a:stretch>
            <a:fillRect/>
          </a:stretch>
        </p:blipFill>
        <p:spPr>
          <a:xfrm>
            <a:off x="1058240" y="4444308"/>
            <a:ext cx="128699" cy="187198"/>
          </a:xfrm>
          <a:prstGeom prst="rect">
            <a:avLst/>
          </a:prstGeom>
        </p:spPr>
      </p:pic>
      <p:pic>
        <p:nvPicPr>
          <p:cNvPr id="101" name="Picture 100" descr="lock.png"/>
          <p:cNvPicPr>
            <a:picLocks noChangeAspect="1"/>
          </p:cNvPicPr>
          <p:nvPr/>
        </p:nvPicPr>
        <p:blipFill>
          <a:blip r:embed="rId4"/>
          <a:stretch>
            <a:fillRect/>
          </a:stretch>
        </p:blipFill>
        <p:spPr>
          <a:xfrm>
            <a:off x="2065168" y="4935330"/>
            <a:ext cx="128699" cy="187198"/>
          </a:xfrm>
          <a:prstGeom prst="rect">
            <a:avLst/>
          </a:prstGeom>
        </p:spPr>
      </p:pic>
      <p:pic>
        <p:nvPicPr>
          <p:cNvPr id="102" name="Picture 101" descr="lock.png"/>
          <p:cNvPicPr>
            <a:picLocks noChangeAspect="1"/>
          </p:cNvPicPr>
          <p:nvPr/>
        </p:nvPicPr>
        <p:blipFill>
          <a:blip r:embed="rId4"/>
          <a:stretch>
            <a:fillRect/>
          </a:stretch>
        </p:blipFill>
        <p:spPr>
          <a:xfrm>
            <a:off x="3072097" y="5475459"/>
            <a:ext cx="128699" cy="187198"/>
          </a:xfrm>
          <a:prstGeom prst="rect">
            <a:avLst/>
          </a:prstGeom>
        </p:spPr>
      </p:pic>
      <p:pic>
        <p:nvPicPr>
          <p:cNvPr id="103" name="Picture 102" descr="lock.png"/>
          <p:cNvPicPr>
            <a:picLocks noChangeAspect="1"/>
          </p:cNvPicPr>
          <p:nvPr/>
        </p:nvPicPr>
        <p:blipFill>
          <a:blip r:embed="rId4"/>
          <a:stretch>
            <a:fillRect/>
          </a:stretch>
        </p:blipFill>
        <p:spPr>
          <a:xfrm>
            <a:off x="4079026" y="5538906"/>
            <a:ext cx="128699" cy="187198"/>
          </a:xfrm>
          <a:prstGeom prst="rect">
            <a:avLst/>
          </a:prstGeom>
        </p:spPr>
      </p:pic>
      <p:pic>
        <p:nvPicPr>
          <p:cNvPr id="104" name="Picture 103" descr="lock.png"/>
          <p:cNvPicPr>
            <a:picLocks noChangeAspect="1"/>
          </p:cNvPicPr>
          <p:nvPr/>
        </p:nvPicPr>
        <p:blipFill>
          <a:blip r:embed="rId4"/>
          <a:stretch>
            <a:fillRect/>
          </a:stretch>
        </p:blipFill>
        <p:spPr>
          <a:xfrm>
            <a:off x="5085954" y="4541057"/>
            <a:ext cx="128699" cy="187198"/>
          </a:xfrm>
          <a:prstGeom prst="rect">
            <a:avLst/>
          </a:prstGeom>
        </p:spPr>
      </p:pic>
      <p:pic>
        <p:nvPicPr>
          <p:cNvPr id="105" name="Picture 104" descr="lock.png"/>
          <p:cNvPicPr>
            <a:picLocks noChangeAspect="1"/>
          </p:cNvPicPr>
          <p:nvPr/>
        </p:nvPicPr>
        <p:blipFill>
          <a:blip r:embed="rId4"/>
          <a:stretch>
            <a:fillRect/>
          </a:stretch>
        </p:blipFill>
        <p:spPr>
          <a:xfrm>
            <a:off x="6092883" y="4647173"/>
            <a:ext cx="128699" cy="187198"/>
          </a:xfrm>
          <a:prstGeom prst="rect">
            <a:avLst/>
          </a:prstGeom>
        </p:spPr>
      </p:pic>
      <p:pic>
        <p:nvPicPr>
          <p:cNvPr id="106" name="Picture 105" descr="lock.png"/>
          <p:cNvPicPr>
            <a:picLocks noChangeAspect="1"/>
          </p:cNvPicPr>
          <p:nvPr/>
        </p:nvPicPr>
        <p:blipFill>
          <a:blip r:embed="rId4"/>
          <a:stretch>
            <a:fillRect/>
          </a:stretch>
        </p:blipFill>
        <p:spPr>
          <a:xfrm>
            <a:off x="7099811" y="5070888"/>
            <a:ext cx="128699" cy="187198"/>
          </a:xfrm>
          <a:prstGeom prst="rect">
            <a:avLst/>
          </a:prstGeom>
        </p:spPr>
      </p:pic>
      <p:sp>
        <p:nvSpPr>
          <p:cNvPr id="107" name="TextBox 106"/>
          <p:cNvSpPr txBox="1"/>
          <p:nvPr/>
        </p:nvSpPr>
        <p:spPr>
          <a:xfrm>
            <a:off x="8048625" y="1736673"/>
            <a:ext cx="3743994" cy="194310"/>
          </a:xfrm>
          <a:prstGeom prst="rect">
            <a:avLst/>
          </a:prstGeom>
          <a:noFill/>
        </p:spPr>
        <p:txBody>
          <a:bodyPr wrap="none" lIns="0" rIns="0" tIns="0" bIns="0">
            <a:spAutoFit/>
          </a:bodyPr>
          <a:lstStyle/>
          <a:p>
            <a:r>
              <a:rPr sz="1150" b="0">
                <a:solidFill>
                  <a:srgbClr val="2E2E2E"/>
                </a:solidFill>
                <a:latin typeface="Calibri"/>
              </a:rPr>
              <a:t>▪ The chart shows global average pricing of key product type /</a:t>
            </a:r>
          </a:p>
        </p:txBody>
      </p:sp>
      <p:sp>
        <p:nvSpPr>
          <p:cNvPr id="108" name="TextBox 107"/>
          <p:cNvSpPr txBox="1"/>
          <p:nvPr/>
        </p:nvSpPr>
        <p:spPr>
          <a:xfrm>
            <a:off x="8048625" y="1911934"/>
            <a:ext cx="3448088" cy="194310"/>
          </a:xfrm>
          <a:prstGeom prst="rect">
            <a:avLst/>
          </a:prstGeom>
          <a:noFill/>
        </p:spPr>
        <p:txBody>
          <a:bodyPr wrap="none" lIns="0" rIns="0" tIns="0" bIns="0">
            <a:spAutoFit/>
          </a:bodyPr>
          <a:lstStyle/>
          <a:p>
            <a:r>
              <a:rPr sz="1150" b="0">
                <a:solidFill>
                  <a:srgbClr val="2E2E2E"/>
                </a:solidFill>
                <a:latin typeface="Calibri"/>
              </a:rPr>
              <a:t>chemistry types in USD, harmonised across regions. Each</a:t>
            </a:r>
          </a:p>
        </p:txBody>
      </p:sp>
      <p:sp>
        <p:nvSpPr>
          <p:cNvPr id="109" name="TextBox 108"/>
          <p:cNvSpPr txBox="1"/>
          <p:nvPr/>
        </p:nvSpPr>
        <p:spPr>
          <a:xfrm>
            <a:off x="8048625" y="2087194"/>
            <a:ext cx="3663553" cy="194310"/>
          </a:xfrm>
          <a:prstGeom prst="rect">
            <a:avLst/>
          </a:prstGeom>
          <a:noFill/>
        </p:spPr>
        <p:txBody>
          <a:bodyPr wrap="none" lIns="0" rIns="0" tIns="0" bIns="0">
            <a:spAutoFit/>
          </a:bodyPr>
          <a:lstStyle/>
          <a:p>
            <a:r>
              <a:rPr sz="1150" b="0">
                <a:solidFill>
                  <a:srgbClr val="2E2E2E"/>
                </a:solidFill>
                <a:latin typeface="Calibri"/>
              </a:rPr>
              <a:t>candlestick spans the minimum-to-maximum observed price</a:t>
            </a:r>
          </a:p>
        </p:txBody>
      </p:sp>
      <p:sp>
        <p:nvSpPr>
          <p:cNvPr id="110" name="TextBox 109"/>
          <p:cNvSpPr txBox="1"/>
          <p:nvPr/>
        </p:nvSpPr>
        <p:spPr>
          <a:xfrm>
            <a:off x="8048625" y="2262454"/>
            <a:ext cx="3542890" cy="194310"/>
          </a:xfrm>
          <a:prstGeom prst="rect">
            <a:avLst/>
          </a:prstGeom>
          <a:noFill/>
        </p:spPr>
        <p:txBody>
          <a:bodyPr wrap="none" lIns="0" rIns="0" tIns="0" bIns="0">
            <a:spAutoFit/>
          </a:bodyPr>
          <a:lstStyle/>
          <a:p>
            <a:r>
              <a:rPr sz="1150" b="0">
                <a:solidFill>
                  <a:srgbClr val="2E2E2E"/>
                </a:solidFill>
                <a:latin typeface="Calibri"/>
              </a:rPr>
              <a:t>within the base year, giving a clear read of price range and</a:t>
            </a:r>
          </a:p>
        </p:txBody>
      </p:sp>
      <p:sp>
        <p:nvSpPr>
          <p:cNvPr id="111" name="TextBox 110"/>
          <p:cNvSpPr txBox="1"/>
          <p:nvPr/>
        </p:nvSpPr>
        <p:spPr>
          <a:xfrm>
            <a:off x="8048625" y="2437714"/>
            <a:ext cx="1184411" cy="194310"/>
          </a:xfrm>
          <a:prstGeom prst="rect">
            <a:avLst/>
          </a:prstGeom>
          <a:noFill/>
        </p:spPr>
        <p:txBody>
          <a:bodyPr wrap="none" lIns="0" rIns="0" tIns="0" bIns="0">
            <a:spAutoFit/>
          </a:bodyPr>
          <a:lstStyle/>
          <a:p>
            <a:r>
              <a:rPr sz="1150" b="0">
                <a:solidFill>
                  <a:srgbClr val="2E2E2E"/>
                </a:solidFill>
                <a:latin typeface="Calibri"/>
              </a:rPr>
              <a:t>market dispersion.</a:t>
            </a:r>
          </a:p>
        </p:txBody>
      </p:sp>
      <p:sp>
        <p:nvSpPr>
          <p:cNvPr id="112" name="TextBox 111"/>
          <p:cNvSpPr txBox="1"/>
          <p:nvPr/>
        </p:nvSpPr>
        <p:spPr>
          <a:xfrm>
            <a:off x="8048625" y="2665551"/>
            <a:ext cx="3793058" cy="194310"/>
          </a:xfrm>
          <a:prstGeom prst="rect">
            <a:avLst/>
          </a:prstGeom>
          <a:noFill/>
        </p:spPr>
        <p:txBody>
          <a:bodyPr wrap="none" lIns="0" rIns="0" tIns="0" bIns="0">
            <a:spAutoFit/>
          </a:bodyPr>
          <a:lstStyle/>
          <a:p>
            <a:r>
              <a:rPr sz="1150" b="0">
                <a:solidFill>
                  <a:srgbClr val="2E2E2E"/>
                </a:solidFill>
                <a:latin typeface="Calibri"/>
              </a:rPr>
              <a:t>▪ Wider bodies mark a larger gap between opening and closing</a:t>
            </a:r>
          </a:p>
        </p:txBody>
      </p:sp>
      <p:sp>
        <p:nvSpPr>
          <p:cNvPr id="113" name="TextBox 112"/>
          <p:cNvSpPr txBox="1"/>
          <p:nvPr/>
        </p:nvSpPr>
        <p:spPr>
          <a:xfrm>
            <a:off x="8048625" y="2840811"/>
            <a:ext cx="3476711" cy="194310"/>
          </a:xfrm>
          <a:prstGeom prst="rect">
            <a:avLst/>
          </a:prstGeom>
          <a:noFill/>
        </p:spPr>
        <p:txBody>
          <a:bodyPr wrap="none" lIns="0" rIns="0" tIns="0" bIns="0">
            <a:spAutoFit/>
          </a:bodyPr>
          <a:lstStyle/>
          <a:p>
            <a:r>
              <a:rPr sz="1150" b="0">
                <a:solidFill>
                  <a:srgbClr val="2E2E2E"/>
                </a:solidFill>
                <a:latin typeface="Calibri"/>
              </a:rPr>
              <a:t>price levels 'Acrylic Waterproof Coatings' shows the most</a:t>
            </a:r>
          </a:p>
        </p:txBody>
      </p:sp>
      <p:sp>
        <p:nvSpPr>
          <p:cNvPr id="114" name="TextBox 113"/>
          <p:cNvSpPr txBox="1"/>
          <p:nvPr/>
        </p:nvSpPr>
        <p:spPr>
          <a:xfrm>
            <a:off x="8048625" y="3016071"/>
            <a:ext cx="873769" cy="194310"/>
          </a:xfrm>
          <a:prstGeom prst="rect">
            <a:avLst/>
          </a:prstGeom>
          <a:noFill/>
        </p:spPr>
        <p:txBody>
          <a:bodyPr wrap="none" lIns="0" rIns="0" tIns="0" bIns="0">
            <a:spAutoFit/>
          </a:bodyPr>
          <a:lstStyle/>
          <a:p>
            <a:r>
              <a:rPr sz="1150" b="0">
                <a:solidFill>
                  <a:srgbClr val="2E2E2E"/>
                </a:solidFill>
                <a:latin typeface="Calibri"/>
              </a:rPr>
              <a:t>movement (+</a:t>
            </a:r>
          </a:p>
        </p:txBody>
      </p:sp>
      <p:pic>
        <p:nvPicPr>
          <p:cNvPr id="115" name="Picture 114" descr="lock.png"/>
          <p:cNvPicPr>
            <a:picLocks noChangeAspect="1"/>
          </p:cNvPicPr>
          <p:nvPr/>
        </p:nvPicPr>
        <p:blipFill>
          <a:blip r:embed="rId4"/>
          <a:stretch>
            <a:fillRect/>
          </a:stretch>
        </p:blipFill>
        <p:spPr>
          <a:xfrm>
            <a:off x="8871548" y="3005848"/>
            <a:ext cx="134549" cy="195707"/>
          </a:xfrm>
          <a:prstGeom prst="rect">
            <a:avLst/>
          </a:prstGeom>
        </p:spPr>
      </p:pic>
      <p:sp>
        <p:nvSpPr>
          <p:cNvPr id="116" name="TextBox 115"/>
          <p:cNvSpPr txBox="1"/>
          <p:nvPr/>
        </p:nvSpPr>
        <p:spPr>
          <a:xfrm>
            <a:off x="9046658" y="3016071"/>
            <a:ext cx="2837743" cy="194310"/>
          </a:xfrm>
          <a:prstGeom prst="rect">
            <a:avLst/>
          </a:prstGeom>
          <a:noFill/>
        </p:spPr>
        <p:txBody>
          <a:bodyPr wrap="none" lIns="0" rIns="0" tIns="0" bIns="0">
            <a:spAutoFit/>
          </a:bodyPr>
          <a:lstStyle/>
          <a:p>
            <a:r>
              <a:rPr sz="1150" b="0">
                <a:solidFill>
                  <a:srgbClr val="2E2E2E"/>
                </a:solidFill>
                <a:latin typeface="Calibri"/>
              </a:rPr>
              <a:t>) and 'Other Polymer-Based Coatings' the least</a:t>
            </a:r>
          </a:p>
        </p:txBody>
      </p:sp>
      <p:sp>
        <p:nvSpPr>
          <p:cNvPr id="117" name="TextBox 116"/>
          <p:cNvSpPr txBox="1"/>
          <p:nvPr/>
        </p:nvSpPr>
        <p:spPr>
          <a:xfrm>
            <a:off x="8048625" y="3191331"/>
            <a:ext cx="193154"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118" name="Picture 117" descr="lock.png"/>
          <p:cNvPicPr>
            <a:picLocks noChangeAspect="1"/>
          </p:cNvPicPr>
          <p:nvPr/>
        </p:nvPicPr>
        <p:blipFill>
          <a:blip r:embed="rId4"/>
          <a:stretch>
            <a:fillRect/>
          </a:stretch>
        </p:blipFill>
        <p:spPr>
          <a:xfrm>
            <a:off x="8190933" y="3181108"/>
            <a:ext cx="134549" cy="195707"/>
          </a:xfrm>
          <a:prstGeom prst="rect">
            <a:avLst/>
          </a:prstGeom>
        </p:spPr>
      </p:pic>
      <p:sp>
        <p:nvSpPr>
          <p:cNvPr id="119" name="TextBox 118"/>
          <p:cNvSpPr txBox="1"/>
          <p:nvPr/>
        </p:nvSpPr>
        <p:spPr>
          <a:xfrm>
            <a:off x="8366042" y="3191331"/>
            <a:ext cx="3385145" cy="194310"/>
          </a:xfrm>
          <a:prstGeom prst="rect">
            <a:avLst/>
          </a:prstGeom>
          <a:noFill/>
        </p:spPr>
        <p:txBody>
          <a:bodyPr wrap="none" lIns="0" rIns="0" tIns="0" bIns="0">
            <a:spAutoFit/>
          </a:bodyPr>
          <a:lstStyle/>
          <a:p>
            <a:r>
              <a:rPr sz="1150" b="0">
                <a:solidFill>
                  <a:srgbClr val="2E2E2E"/>
                </a:solidFill>
                <a:latin typeface="Calibri"/>
              </a:rPr>
              <a:t>) variability stakeholders should monitor when planning</a:t>
            </a:r>
          </a:p>
        </p:txBody>
      </p:sp>
      <p:sp>
        <p:nvSpPr>
          <p:cNvPr id="120" name="TextBox 119"/>
          <p:cNvSpPr txBox="1"/>
          <p:nvPr/>
        </p:nvSpPr>
        <p:spPr>
          <a:xfrm>
            <a:off x="8048625" y="3366591"/>
            <a:ext cx="1492200" cy="194310"/>
          </a:xfrm>
          <a:prstGeom prst="rect">
            <a:avLst/>
          </a:prstGeom>
          <a:noFill/>
        </p:spPr>
        <p:txBody>
          <a:bodyPr wrap="none" lIns="0" rIns="0" tIns="0" bIns="0">
            <a:spAutoFit/>
          </a:bodyPr>
          <a:lstStyle/>
          <a:p>
            <a:r>
              <a:rPr sz="1150" b="0">
                <a:solidFill>
                  <a:srgbClr val="2E2E2E"/>
                </a:solidFill>
                <a:latin typeface="Calibri"/>
              </a:rPr>
              <a:t>procurement or pricing.</a:t>
            </a:r>
          </a:p>
        </p:txBody>
      </p:sp>
      <p:sp>
        <p:nvSpPr>
          <p:cNvPr id="121" name="TextBox 120"/>
          <p:cNvSpPr txBox="1"/>
          <p:nvPr/>
        </p:nvSpPr>
        <p:spPr>
          <a:xfrm>
            <a:off x="8048625" y="3594429"/>
            <a:ext cx="3718607" cy="194310"/>
          </a:xfrm>
          <a:prstGeom prst="rect">
            <a:avLst/>
          </a:prstGeom>
          <a:noFill/>
        </p:spPr>
        <p:txBody>
          <a:bodyPr wrap="none" lIns="0" rIns="0" tIns="0" bIns="0">
            <a:spAutoFit/>
          </a:bodyPr>
          <a:lstStyle/>
          <a:p>
            <a:r>
              <a:rPr sz="1150" b="0">
                <a:solidFill>
                  <a:srgbClr val="2E2E2E"/>
                </a:solidFill>
                <a:latin typeface="Calibri"/>
              </a:rPr>
              <a:t>▪ The lower chart indexes region-level price movement to the</a:t>
            </a:r>
          </a:p>
        </p:txBody>
      </p:sp>
      <p:sp>
        <p:nvSpPr>
          <p:cNvPr id="122" name="TextBox 121"/>
          <p:cNvSpPr txBox="1"/>
          <p:nvPr/>
        </p:nvSpPr>
        <p:spPr>
          <a:xfrm>
            <a:off x="8048625" y="3769689"/>
            <a:ext cx="3716610" cy="194310"/>
          </a:xfrm>
          <a:prstGeom prst="rect">
            <a:avLst/>
          </a:prstGeom>
          <a:noFill/>
        </p:spPr>
        <p:txBody>
          <a:bodyPr wrap="none" lIns="0" rIns="0" tIns="0" bIns="0">
            <a:spAutoFit/>
          </a:bodyPr>
          <a:lstStyle/>
          <a:p>
            <a:r>
              <a:rPr sz="1150" b="0">
                <a:solidFill>
                  <a:srgbClr val="2E2E2E"/>
                </a:solidFill>
                <a:latin typeface="Calibri"/>
              </a:rPr>
              <a:t>base year, applied consistently across the horizon to strip out</a:t>
            </a:r>
          </a:p>
        </p:txBody>
      </p:sp>
      <p:sp>
        <p:nvSpPr>
          <p:cNvPr id="123" name="TextBox 122"/>
          <p:cNvSpPr txBox="1"/>
          <p:nvPr/>
        </p:nvSpPr>
        <p:spPr>
          <a:xfrm>
            <a:off x="8048625" y="3944949"/>
            <a:ext cx="3693219" cy="194310"/>
          </a:xfrm>
          <a:prstGeom prst="rect">
            <a:avLst/>
          </a:prstGeom>
          <a:noFill/>
        </p:spPr>
        <p:txBody>
          <a:bodyPr wrap="none" lIns="0" rIns="0" tIns="0" bIns="0">
            <a:spAutoFit/>
          </a:bodyPr>
          <a:lstStyle/>
          <a:p>
            <a:r>
              <a:rPr sz="1150" b="0">
                <a:solidFill>
                  <a:srgbClr val="2E2E2E"/>
                </a:solidFill>
                <a:latin typeface="Calibri"/>
              </a:rPr>
              <a:t>year-on-year inflationary volatility and reveal structural price</a:t>
            </a:r>
          </a:p>
        </p:txBody>
      </p:sp>
      <p:sp>
        <p:nvSpPr>
          <p:cNvPr id="124" name="TextBox 123"/>
          <p:cNvSpPr txBox="1"/>
          <p:nvPr/>
        </p:nvSpPr>
        <p:spPr>
          <a:xfrm>
            <a:off x="8048625" y="4120209"/>
            <a:ext cx="431055" cy="194310"/>
          </a:xfrm>
          <a:prstGeom prst="rect">
            <a:avLst/>
          </a:prstGeom>
          <a:noFill/>
        </p:spPr>
        <p:txBody>
          <a:bodyPr wrap="none" lIns="0" rIns="0" tIns="0" bIns="0">
            <a:spAutoFit/>
          </a:bodyPr>
          <a:lstStyle/>
          <a:p>
            <a:r>
              <a:rPr sz="1150" b="0">
                <a:solidFill>
                  <a:srgbClr val="2E2E2E"/>
                </a:solidFill>
                <a:latin typeface="Calibri"/>
              </a:rPr>
              <a:t>shifts.</a:t>
            </a:r>
          </a:p>
        </p:txBody>
      </p:sp>
      <p:sp>
        <p:nvSpPr>
          <p:cNvPr id="125" name="TextBox 124"/>
          <p:cNvSpPr txBox="1"/>
          <p:nvPr/>
        </p:nvSpPr>
        <p:spPr>
          <a:xfrm>
            <a:off x="8048625" y="4348047"/>
            <a:ext cx="2340260" cy="194310"/>
          </a:xfrm>
          <a:prstGeom prst="rect">
            <a:avLst/>
          </a:prstGeom>
          <a:noFill/>
        </p:spPr>
        <p:txBody>
          <a:bodyPr wrap="none" lIns="0" rIns="0" tIns="0" bIns="0">
            <a:spAutoFit/>
          </a:bodyPr>
          <a:lstStyle/>
          <a:p>
            <a:r>
              <a:rPr sz="1150" b="0">
                <a:solidFill>
                  <a:srgbClr val="2E2E2E"/>
                </a:solidFill>
                <a:latin typeface="Calibri"/>
              </a:rPr>
              <a:t>▪ Region price indices diverge by up to</a:t>
            </a:r>
          </a:p>
        </p:txBody>
      </p:sp>
      <p:pic>
        <p:nvPicPr>
          <p:cNvPr id="126" name="Picture 125" descr="lock.png"/>
          <p:cNvPicPr>
            <a:picLocks noChangeAspect="1"/>
          </p:cNvPicPr>
          <p:nvPr/>
        </p:nvPicPr>
        <p:blipFill>
          <a:blip r:embed="rId4"/>
          <a:stretch>
            <a:fillRect/>
          </a:stretch>
        </p:blipFill>
        <p:spPr>
          <a:xfrm>
            <a:off x="10338039" y="4337824"/>
            <a:ext cx="134549" cy="195707"/>
          </a:xfrm>
          <a:prstGeom prst="rect">
            <a:avLst/>
          </a:prstGeom>
        </p:spPr>
      </p:pic>
      <p:sp>
        <p:nvSpPr>
          <p:cNvPr id="127" name="TextBox 126"/>
          <p:cNvSpPr txBox="1"/>
          <p:nvPr/>
        </p:nvSpPr>
        <p:spPr>
          <a:xfrm>
            <a:off x="10513148" y="4348047"/>
            <a:ext cx="1187549" cy="194310"/>
          </a:xfrm>
          <a:prstGeom prst="rect">
            <a:avLst/>
          </a:prstGeom>
          <a:noFill/>
        </p:spPr>
        <p:txBody>
          <a:bodyPr wrap="none" lIns="0" rIns="0" tIns="0" bIns="0">
            <a:spAutoFit/>
          </a:bodyPr>
          <a:lstStyle/>
          <a:p>
            <a:r>
              <a:rPr sz="1150" b="0">
                <a:solidFill>
                  <a:srgbClr val="2E2E2E"/>
                </a:solidFill>
                <a:latin typeface="Calibri"/>
              </a:rPr>
              <a:t>between 2026 and</a:t>
            </a:r>
          </a:p>
        </p:txBody>
      </p:sp>
      <p:sp>
        <p:nvSpPr>
          <p:cNvPr id="128" name="TextBox 127"/>
          <p:cNvSpPr txBox="1"/>
          <p:nvPr/>
        </p:nvSpPr>
        <p:spPr>
          <a:xfrm>
            <a:off x="8048625" y="4523307"/>
            <a:ext cx="3848100" cy="194310"/>
          </a:xfrm>
          <a:prstGeom prst="rect">
            <a:avLst/>
          </a:prstGeom>
          <a:noFill/>
        </p:spPr>
        <p:txBody>
          <a:bodyPr wrap="none" lIns="0" rIns="0" tIns="0" bIns="0">
            <a:spAutoFit/>
          </a:bodyPr>
          <a:lstStyle/>
          <a:p>
            <a:r>
              <a:rPr sz="1150" b="0">
                <a:solidFill>
                  <a:srgbClr val="2E2E2E"/>
                </a:solidFill>
                <a:latin typeface="Calibri"/>
              </a:rPr>
              <a:t>2036: higher-priced regions start higher and grow steadily, while</a:t>
            </a:r>
          </a:p>
        </p:txBody>
      </p:sp>
      <p:sp>
        <p:nvSpPr>
          <p:cNvPr id="129" name="TextBox 128"/>
          <p:cNvSpPr txBox="1"/>
          <p:nvPr/>
        </p:nvSpPr>
        <p:spPr>
          <a:xfrm>
            <a:off x="8048625" y="4698567"/>
            <a:ext cx="3454747" cy="194310"/>
          </a:xfrm>
          <a:prstGeom prst="rect">
            <a:avLst/>
          </a:prstGeom>
          <a:noFill/>
        </p:spPr>
        <p:txBody>
          <a:bodyPr wrap="none" lIns="0" rIns="0" tIns="0" bIns="0">
            <a:spAutoFit/>
          </a:bodyPr>
          <a:lstStyle/>
          <a:p>
            <a:r>
              <a:rPr sz="1150" b="0">
                <a:solidFill>
                  <a:srgbClr val="2E2E2E"/>
                </a:solidFill>
                <a:latin typeface="Calibri"/>
              </a:rPr>
              <a:t>lower-priced regions start lower and converge, reflecting</a:t>
            </a:r>
          </a:p>
        </p:txBody>
      </p:sp>
      <p:sp>
        <p:nvSpPr>
          <p:cNvPr id="130" name="TextBox 129"/>
          <p:cNvSpPr txBox="1"/>
          <p:nvPr/>
        </p:nvSpPr>
        <p:spPr>
          <a:xfrm>
            <a:off x="8048625" y="4873827"/>
            <a:ext cx="1090848" cy="194310"/>
          </a:xfrm>
          <a:prstGeom prst="rect">
            <a:avLst/>
          </a:prstGeom>
          <a:noFill/>
        </p:spPr>
        <p:txBody>
          <a:bodyPr wrap="none" lIns="0" rIns="0" tIns="0" bIns="0">
            <a:spAutoFit/>
          </a:bodyPr>
          <a:lstStyle/>
          <a:p>
            <a:r>
              <a:rPr sz="1150" b="0">
                <a:solidFill>
                  <a:srgbClr val="2E2E2E"/>
                </a:solidFill>
                <a:latin typeface="Calibri"/>
              </a:rPr>
              <a:t>catch-up growth.</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Waterproof Coatings Market Pricing Assessment: By Product Type / Chemistry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Average price (US$/Units) by product type / chemistry, 2021 to 2036, with 2026 price index and growth outlook</a:t>
            </a:r>
          </a:p>
        </p:txBody>
      </p:sp>
      <p:sp>
        <p:nvSpPr>
          <p:cNvPr id="10" name="Rectangle 9"/>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11" name="Rectangle 10"/>
          <p:cNvSpPr/>
          <p:nvPr/>
        </p:nvSpPr>
        <p:spPr>
          <a:xfrm>
            <a:off x="274320" y="1529715"/>
            <a:ext cx="6446520" cy="3520440"/>
          </a:xfrm>
          <a:prstGeom prst="rect">
            <a:avLst/>
          </a:prstGeom>
          <a:solidFill>
            <a:srgbClr val="F3F6F9"/>
          </a:solidFill>
          <a:ln>
            <a:noFill/>
          </a:ln>
          <a:effectLst/>
        </p:spPr>
        <p:txBody>
          <a:bodyPr rtlCol="0" anchor="ctr"/>
          <a:lstStyle/>
          <a:p>
            <a:pPr algn="ctr"/>
          </a:p>
        </p:txBody>
      </p:sp>
      <p:sp>
        <p:nvSpPr>
          <p:cNvPr id="12" name="TextBox 11"/>
          <p:cNvSpPr txBox="1"/>
          <p:nvPr/>
        </p:nvSpPr>
        <p:spPr>
          <a:xfrm>
            <a:off x="384048" y="1575435"/>
            <a:ext cx="6217920" cy="257175"/>
          </a:xfrm>
          <a:prstGeom prst="rect">
            <a:avLst/>
          </a:prstGeom>
          <a:noFill/>
        </p:spPr>
        <p:txBody>
          <a:bodyPr wrap="square" anchor="t" lIns="27432" rIns="27432" tIns="27432" bIns="27432">
            <a:spAutoFit/>
          </a:bodyPr>
          <a:lstStyle/>
          <a:p>
            <a:pPr algn="l"/>
            <a:r>
              <a:rPr sz="1150" b="1" i="0">
                <a:solidFill>
                  <a:srgbClr val="0B2E4A"/>
                </a:solidFill>
                <a:latin typeface="Calibri"/>
              </a:rPr>
              <a:t>Price Trend by Product Type / Chemistry, 2021 to 2036 (US$/Units)</a:t>
            </a:r>
          </a:p>
        </p:txBody>
      </p:sp>
      <p:graphicFrame>
        <p:nvGraphicFramePr>
          <p:cNvPr id="13" name="FMI Price Chart"/>
          <p:cNvGraphicFramePr>
            <a:graphicFrameLocks noGrp="1"/>
          </p:cNvGraphicFramePr>
          <p:nvPr/>
        </p:nvGraphicFramePr>
        <p:xfrm>
          <a:off x="347472" y="1831467"/>
          <a:ext cx="6309360" cy="3182112"/>
        </p:xfrm>
        <a:graphic>
          <a:graphicData uri="http://schemas.openxmlformats.org/drawingml/2006/chart">
            <c:chart xmlns:c="http://schemas.openxmlformats.org/drawingml/2006/chart" r:id="rId3"/>
          </a:graphicData>
        </a:graphic>
      </p:graphicFrame>
      <p:sp>
        <p:nvSpPr>
          <p:cNvPr id="14" name="TextBox 13"/>
          <p:cNvSpPr txBox="1"/>
          <p:nvPr/>
        </p:nvSpPr>
        <p:spPr>
          <a:xfrm>
            <a:off x="4572000" y="1593723"/>
            <a:ext cx="2103120" cy="228600"/>
          </a:xfrm>
          <a:prstGeom prst="rect">
            <a:avLst/>
          </a:prstGeom>
          <a:noFill/>
        </p:spPr>
        <p:txBody>
          <a:bodyPr wrap="square" anchor="t" lIns="27432" rIns="27432" tIns="27432" bIns="27432">
            <a:spAutoFit/>
          </a:bodyPr>
          <a:lstStyle/>
          <a:p>
            <a:pPr algn="r"/>
            <a:r>
              <a:rPr sz="850" b="0" i="1">
                <a:solidFill>
                  <a:srgbClr val="59636E"/>
                </a:solidFill>
                <a:latin typeface="Calibri"/>
              </a:rPr>
              <a:t>Forecast period: 2026 to 2036</a:t>
            </a:r>
          </a:p>
        </p:txBody>
      </p:sp>
      <p:sp>
        <p:nvSpPr>
          <p:cNvPr id="15" name="Rectangle 14"/>
          <p:cNvSpPr/>
          <p:nvPr/>
        </p:nvSpPr>
        <p:spPr>
          <a:xfrm>
            <a:off x="6858000" y="1529715"/>
            <a:ext cx="5056632" cy="1600200"/>
          </a:xfrm>
          <a:prstGeom prst="rect">
            <a:avLst/>
          </a:prstGeom>
          <a:solidFill>
            <a:srgbClr val="F3F6F9"/>
          </a:solidFill>
          <a:ln>
            <a:noFill/>
          </a:ln>
          <a:effectLst/>
        </p:spPr>
        <p:txBody>
          <a:bodyPr rtlCol="0" anchor="ctr"/>
          <a:lstStyle/>
          <a:p>
            <a:pPr algn="ctr"/>
          </a:p>
        </p:txBody>
      </p:sp>
      <p:sp>
        <p:nvSpPr>
          <p:cNvPr id="16" name="TextBox 15"/>
          <p:cNvSpPr txBox="1"/>
          <p:nvPr/>
        </p:nvSpPr>
        <p:spPr>
          <a:xfrm>
            <a:off x="6967728" y="1575435"/>
            <a:ext cx="4846320" cy="257175"/>
          </a:xfrm>
          <a:prstGeom prst="rect">
            <a:avLst/>
          </a:prstGeom>
          <a:noFill/>
        </p:spPr>
        <p:txBody>
          <a:bodyPr wrap="square" anchor="t" lIns="27432" rIns="27432" tIns="27432" bIns="27432">
            <a:spAutoFit/>
          </a:bodyPr>
          <a:lstStyle/>
          <a:p>
            <a:pPr algn="l"/>
            <a:r>
              <a:rPr sz="1150" b="1" i="0">
                <a:solidFill>
                  <a:srgbClr val="0B2E4A"/>
                </a:solidFill>
                <a:latin typeface="Calibri"/>
              </a:rPr>
              <a:t/>
            </a:r>
          </a:p>
        </p:txBody>
      </p:sp>
      <p:graphicFrame>
        <p:nvGraphicFramePr>
          <p:cNvPr id="17" name="FMI Open Chart"/>
          <p:cNvGraphicFramePr>
            <a:graphicFrameLocks noGrp="1"/>
          </p:cNvGraphicFramePr>
          <p:nvPr/>
        </p:nvGraphicFramePr>
        <p:xfrm>
          <a:off x="6903720" y="1785747"/>
          <a:ext cx="4965192" cy="1325880"/>
        </p:xfrm>
        <a:graphic>
          <a:graphicData uri="http://schemas.openxmlformats.org/drawingml/2006/chart">
            <c:chart xmlns:c="http://schemas.openxmlformats.org/drawingml/2006/chart" r:id="rId4"/>
          </a:graphicData>
        </a:graphic>
      </p:graphicFrame>
      <p:graphicFrame>
        <p:nvGraphicFramePr>
          <p:cNvPr id="18" name="Table 17"/>
          <p:cNvGraphicFramePr>
            <a:graphicFrameLocks noGrp="1"/>
          </p:cNvGraphicFramePr>
          <p:nvPr/>
        </p:nvGraphicFramePr>
        <p:xfrm>
          <a:off x="6858000" y="3203067"/>
          <a:ext cx="5056632" cy="1847090"/>
        </p:xfrm>
        <a:graphic>
          <a:graphicData uri="http://schemas.openxmlformats.org/drawingml/2006/table">
            <a:tbl>
              <a:tblPr firstRow="1" bandRow="1">
                <a:tableStyleId>{5C22544A-7EE6-4342-B048-85BDC9FD1C3A}</a:tableStyleId>
              </a:tblPr>
              <a:tblGrid>
                <a:gridCol w="2130552"/>
                <a:gridCol w="548640"/>
                <a:gridCol w="548640"/>
                <a:gridCol w="548640"/>
                <a:gridCol w="777240"/>
                <a:gridCol w="502920"/>
              </a:tblGrid>
              <a:tr h="184709">
                <a:tc>
                  <a:txBody>
                    <a:bodyPr wrap="square"/>
                    <a:lstStyle/>
                    <a:p>
                      <a:pPr algn="l"/>
                      <a:r>
                        <a:rPr sz="850" b="1">
                          <a:solidFill>
                            <a:srgbClr val="FFFFFF"/>
                          </a:solidFill>
                          <a:latin typeface="Calibri"/>
                        </a:rPr>
                        <a:t>Product Type / Chemistry</a:t>
                      </a:r>
                    </a:p>
                  </a:txBody>
                  <a:tcPr marL="36576" marR="36576" marT="9144" marB="9144" anchor="ctr">
                    <a:solidFill>
                      <a:srgbClr val="0B2E4A"/>
                    </a:solidFill>
                  </a:tcPr>
                </a:tc>
                <a:tc>
                  <a:txBody>
                    <a:bodyPr wrap="square"/>
                    <a:lstStyle/>
                    <a:p>
                      <a:pPr algn="ctr"/>
                      <a:r>
                        <a:rPr sz="850" b="1">
                          <a:solidFill>
                            <a:srgbClr val="FFFFFF"/>
                          </a:solidFill>
                          <a:latin typeface="Calibri"/>
                        </a:rPr>
                        <a:t>2021</a:t>
                      </a:r>
                    </a:p>
                  </a:txBody>
                  <a:tcPr marL="36576" marR="36576" marT="9144" marB="9144" anchor="ctr">
                    <a:solidFill>
                      <a:srgbClr val="0B2E4A"/>
                    </a:solidFill>
                  </a:tcPr>
                </a:tc>
                <a:tc>
                  <a:txBody>
                    <a:bodyPr wrap="square"/>
                    <a:lstStyle/>
                    <a:p>
                      <a:pPr algn="ctr"/>
                      <a:r>
                        <a:rPr sz="850" b="1">
                          <a:solidFill>
                            <a:srgbClr val="FFFFFF"/>
                          </a:solidFill>
                          <a:latin typeface="Calibri"/>
                        </a:rPr>
                        <a:t>2026</a:t>
                      </a:r>
                    </a:p>
                  </a:txBody>
                  <a:tcPr marL="36576" marR="36576" marT="9144" marB="9144" anchor="ctr">
                    <a:solidFill>
                      <a:srgbClr val="0B2E4A"/>
                    </a:solidFill>
                  </a:tcPr>
                </a:tc>
                <a:tc>
                  <a:txBody>
                    <a:bodyPr wrap="square"/>
                    <a:lstStyle/>
                    <a:p>
                      <a:pPr algn="ctr"/>
                      <a:r>
                        <a:rPr sz="850" b="1">
                          <a:solidFill>
                            <a:srgbClr val="FFFFFF"/>
                          </a:solidFill>
                          <a:latin typeface="Calibri"/>
                        </a:rPr>
                        <a:t>2036</a:t>
                      </a:r>
                    </a:p>
                  </a:txBody>
                  <a:tcPr marL="36576" marR="36576" marT="9144" marB="9144" anchor="ctr">
                    <a:solidFill>
                      <a:srgbClr val="0B2E4A"/>
                    </a:solidFill>
                  </a:tcPr>
                </a:tc>
                <a:tc>
                  <a:txBody>
                    <a:bodyPr wrap="square"/>
                    <a:lstStyle/>
                    <a:p>
                      <a:pPr algn="ctr"/>
                      <a:r>
                        <a:rPr sz="850" b="1">
                          <a:solidFill>
                            <a:srgbClr val="FFFFFF"/>
                          </a:solidFill>
                          <a:latin typeface="Calibri"/>
                        </a:rPr>
                        <a:t>CAGR 2026 to 2036</a:t>
                      </a:r>
                    </a:p>
                  </a:txBody>
                  <a:tcPr marL="36576" marR="36576" marT="9144" marB="9144" anchor="ctr">
                    <a:solidFill>
                      <a:srgbClr val="0B2E4A"/>
                    </a:solidFill>
                  </a:tcPr>
                </a:tc>
                <a:tc>
                  <a:txBody>
                    <a:bodyPr wrap="square"/>
                    <a:lstStyle/>
                    <a:p>
                      <a:pPr algn="ctr"/>
                      <a:r>
                        <a:rPr sz="850" b="1">
                          <a:solidFill>
                            <a:srgbClr val="FFFFFF"/>
                          </a:solidFill>
                          <a:latin typeface="Calibri"/>
                        </a:rPr>
                        <a:t>Index</a:t>
                      </a:r>
                    </a:p>
                  </a:txBody>
                  <a:tcPr marL="36576" marR="36576" marT="9144" marB="9144" anchor="ctr">
                    <a:solidFill>
                      <a:srgbClr val="0B2E4A"/>
                    </a:solidFill>
                  </a:tcPr>
                </a:tc>
              </a:tr>
              <a:tr h="184709">
                <a:tc>
                  <a:txBody>
                    <a:bodyPr wrap="square"/>
                    <a:lstStyle/>
                    <a:p>
                      <a:pPr algn="l"/>
                      <a:r>
                        <a:rPr sz="850" b="1">
                          <a:solidFill>
                            <a:srgbClr val="1F1F1F"/>
                          </a:solidFill>
                          <a:latin typeface="Calibri"/>
                        </a:rPr>
                        <a:t>Polyurethane (PU) Waterproof Coatings</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4B183"/>
                    </a:solidFill>
                  </a:tcPr>
                </a:tc>
              </a:tr>
              <a:tr h="184709">
                <a:tc>
                  <a:txBody>
                    <a:bodyPr wrap="square"/>
                    <a:lstStyle/>
                    <a:p>
                      <a:pPr algn="l"/>
                      <a:r>
                        <a:rPr sz="850" b="1">
                          <a:solidFill>
                            <a:srgbClr val="1F1F1F"/>
                          </a:solidFill>
                          <a:latin typeface="Calibri"/>
                        </a:rPr>
                        <a:t>Cementitious Waterproof Coatings</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4B183"/>
                    </a:solidFill>
                  </a:tcPr>
                </a:tc>
              </a:tr>
              <a:tr h="184709">
                <a:tc>
                  <a:txBody>
                    <a:bodyPr wrap="square"/>
                    <a:lstStyle/>
                    <a:p>
                      <a:pPr algn="l"/>
                      <a:r>
                        <a:rPr sz="850" b="1">
                          <a:solidFill>
                            <a:srgbClr val="1F1F1F"/>
                          </a:solidFill>
                          <a:latin typeface="Calibri"/>
                        </a:rPr>
                        <a:t>Acrylic Waterproof Coatings</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4B183"/>
                    </a:solidFill>
                  </a:tcPr>
                </a:tc>
              </a:tr>
              <a:tr h="184709">
                <a:tc>
                  <a:txBody>
                    <a:bodyPr wrap="square"/>
                    <a:lstStyle/>
                    <a:p>
                      <a:pPr algn="l"/>
                      <a:r>
                        <a:rPr sz="850" b="1">
                          <a:solidFill>
                            <a:srgbClr val="1F1F1F"/>
                          </a:solidFill>
                          <a:latin typeface="Calibri"/>
                        </a:rPr>
                        <a:t>Epoxy Waterproof Coatings</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4B183"/>
                    </a:solidFill>
                  </a:tcPr>
                </a:tc>
              </a:tr>
              <a:tr h="184709">
                <a:tc>
                  <a:txBody>
                    <a:bodyPr wrap="square"/>
                    <a:lstStyle/>
                    <a:p>
                      <a:pPr algn="l"/>
                      <a:r>
                        <a:rPr sz="850" b="1">
                          <a:solidFill>
                            <a:srgbClr val="1F1F1F"/>
                          </a:solidFill>
                          <a:latin typeface="Calibri"/>
                        </a:rPr>
                        <a:t>Other Polymer-Based Coatings</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4B183"/>
                    </a:solidFill>
                  </a:tcPr>
                </a:tc>
              </a:tr>
              <a:tr h="184709">
                <a:tc>
                  <a:txBody>
                    <a:bodyPr wrap="square"/>
                    <a:lstStyle/>
                    <a:p>
                      <a:pPr algn="l"/>
                      <a:r>
                        <a:rPr sz="850" b="1">
                          <a:solidFill>
                            <a:srgbClr val="1F1F1F"/>
                          </a:solidFill>
                          <a:latin typeface="Calibri"/>
                        </a:rPr>
                        <a:t>Silicone Waterproof Coatings</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7F7F7"/>
                    </a:solidFill>
                  </a:tcPr>
                </a:tc>
              </a:tr>
              <a:tr h="184709">
                <a:tc>
                  <a:txBody>
                    <a:bodyPr wrap="square"/>
                    <a:lstStyle/>
                    <a:p>
                      <a:pPr algn="l"/>
                      <a:r>
                        <a:rPr sz="850" b="1">
                          <a:solidFill>
                            <a:srgbClr val="1F1F1F"/>
                          </a:solidFill>
                          <a:latin typeface="Calibri"/>
                        </a:rPr>
                        <a:t>Polyurea Waterproof Coatings</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9DC0E0"/>
                    </a:solidFill>
                  </a:tcPr>
                </a:tc>
              </a:tr>
              <a:tr h="184709">
                <a:tc>
                  <a:txBody>
                    <a:bodyPr wrap="square"/>
                    <a:lstStyle/>
                    <a:p>
                      <a:pPr algn="l"/>
                      <a:r>
                        <a:rPr sz="850" b="1">
                          <a:solidFill>
                            <a:srgbClr val="1F1F1F"/>
                          </a:solidFill>
                          <a:latin typeface="Calibri"/>
                        </a:rPr>
                        <a:t>Bituminous Waterproof Coatings</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9DC0E0"/>
                    </a:solidFill>
                  </a:tcPr>
                </a:tc>
              </a:tr>
              <a:tr h="184709">
                <a:tc>
                  <a:txBody>
                    <a:bodyPr wrap="square"/>
                    <a:lstStyle/>
                    <a:p>
                      <a:pPr algn="l"/>
                      <a:r>
                        <a:rPr sz="850" b="1">
                          <a:solidFill>
                            <a:srgbClr val="1F1F1F"/>
                          </a:solidFill>
                          <a:latin typeface="Calibri"/>
                        </a:rPr>
                        <a:t>Global Average</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r>
            </a:tbl>
          </a:graphicData>
        </a:graphic>
      </p:graphicFrame>
      <p:sp>
        <p:nvSpPr>
          <p:cNvPr id="19" name="Rectangle 18"/>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20" name="Oval 19"/>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21" name="TextBox 20"/>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Hierarchy</a:t>
            </a:r>
          </a:p>
        </p:txBody>
      </p:sp>
      <p:sp>
        <p:nvSpPr>
          <p:cNvPr id="22" name="TextBox 21"/>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3" name="Rectangle 22"/>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4" name="Oval 23"/>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5" name="TextBox 24"/>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Momentum</a:t>
            </a:r>
          </a:p>
        </p:txBody>
      </p:sp>
      <p:sp>
        <p:nvSpPr>
          <p:cNvPr id="26" name="TextBox 25"/>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7" name="Rectangle 26"/>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8" name="Oval 27"/>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9" name="TextBox 28"/>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Outlook</a:t>
            </a:r>
          </a:p>
        </p:txBody>
      </p:sp>
      <p:sp>
        <p:nvSpPr>
          <p:cNvPr id="30" name="TextBox 29"/>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31" name="TextBox 30"/>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FMI analysis. Average price = market value (US$) / market volume (Units). 2021 to 2025 historical, 2026 to 2036 forecast.</a:t>
            </a: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3" name="Picture 32" descr="lock.png"/>
          <p:cNvPicPr>
            <a:picLocks noChangeAspect="1"/>
          </p:cNvPicPr>
          <p:nvPr/>
        </p:nvPicPr>
        <p:blipFill>
          <a:blip r:embed="rId6"/>
          <a:stretch>
            <a:fillRect/>
          </a:stretch>
        </p:blipFill>
        <p:spPr>
          <a:xfrm>
            <a:off x="10283571" y="3978936"/>
            <a:ext cx="330041" cy="480060"/>
          </a:xfrm>
          <a:prstGeom prst="rect">
            <a:avLst/>
          </a:prstGeom>
        </p:spPr>
      </p:pic>
      <p:sp>
        <p:nvSpPr>
          <p:cNvPr id="34" name="TextBox 33"/>
          <p:cNvSpPr txBox="1"/>
          <p:nvPr/>
        </p:nvSpPr>
        <p:spPr>
          <a:xfrm>
            <a:off x="411480" y="1110615"/>
            <a:ext cx="5974010" cy="217169"/>
          </a:xfrm>
          <a:prstGeom prst="rect">
            <a:avLst/>
          </a:prstGeom>
          <a:noFill/>
        </p:spPr>
        <p:txBody>
          <a:bodyPr wrap="none" lIns="0" rIns="0" tIns="0" bIns="0">
            <a:spAutoFit/>
          </a:bodyPr>
          <a:lstStyle/>
          <a:p>
            <a:r>
              <a:rPr sz="1300" b="1">
                <a:solidFill>
                  <a:srgbClr val="FFFFFF"/>
                </a:solidFill>
                <a:latin typeface="Calibri"/>
              </a:rPr>
              <a:t>Polyurethane (PU) Waterproof Coatings command the highest 2026 price point at US$</a:t>
            </a:r>
          </a:p>
        </p:txBody>
      </p:sp>
      <p:pic>
        <p:nvPicPr>
          <p:cNvPr id="35" name="Picture 34" descr="lock.png"/>
          <p:cNvPicPr>
            <a:picLocks noChangeAspect="1"/>
          </p:cNvPicPr>
          <p:nvPr/>
        </p:nvPicPr>
        <p:blipFill>
          <a:blip r:embed="rId6"/>
          <a:stretch>
            <a:fillRect/>
          </a:stretch>
        </p:blipFill>
        <p:spPr>
          <a:xfrm>
            <a:off x="6337951" y="1099058"/>
            <a:ext cx="152098" cy="221234"/>
          </a:xfrm>
          <a:prstGeom prst="rect">
            <a:avLst/>
          </a:prstGeom>
        </p:spPr>
      </p:pic>
      <p:sp>
        <p:nvSpPr>
          <p:cNvPr id="36" name="TextBox 35"/>
          <p:cNvSpPr txBox="1"/>
          <p:nvPr/>
        </p:nvSpPr>
        <p:spPr>
          <a:xfrm>
            <a:off x="6535901" y="1110615"/>
            <a:ext cx="668883" cy="217169"/>
          </a:xfrm>
          <a:prstGeom prst="rect">
            <a:avLst/>
          </a:prstGeom>
          <a:noFill/>
        </p:spPr>
        <p:txBody>
          <a:bodyPr wrap="none" lIns="0" rIns="0" tIns="0" bIns="0">
            <a:spAutoFit/>
          </a:bodyPr>
          <a:lstStyle/>
          <a:p>
            <a:r>
              <a:rPr sz="1300" b="1">
                <a:solidFill>
                  <a:srgbClr val="FFFFFF"/>
                </a:solidFill>
                <a:latin typeface="Calibri"/>
              </a:rPr>
              <a:t>/Units, a</a:t>
            </a:r>
          </a:p>
        </p:txBody>
      </p:sp>
      <p:pic>
        <p:nvPicPr>
          <p:cNvPr id="37" name="Picture 36" descr="lock.png"/>
          <p:cNvPicPr>
            <a:picLocks noChangeAspect="1"/>
          </p:cNvPicPr>
          <p:nvPr/>
        </p:nvPicPr>
        <p:blipFill>
          <a:blip r:embed="rId6"/>
          <a:stretch>
            <a:fillRect/>
          </a:stretch>
        </p:blipFill>
        <p:spPr>
          <a:xfrm>
            <a:off x="7157245" y="1099058"/>
            <a:ext cx="152098" cy="221234"/>
          </a:xfrm>
          <a:prstGeom prst="rect">
            <a:avLst/>
          </a:prstGeom>
        </p:spPr>
      </p:pic>
      <p:sp>
        <p:nvSpPr>
          <p:cNvPr id="38" name="TextBox 37"/>
          <p:cNvSpPr txBox="1"/>
          <p:nvPr/>
        </p:nvSpPr>
        <p:spPr>
          <a:xfrm>
            <a:off x="7355194" y="1110615"/>
            <a:ext cx="3389486" cy="217169"/>
          </a:xfrm>
          <a:prstGeom prst="rect">
            <a:avLst/>
          </a:prstGeom>
          <a:noFill/>
        </p:spPr>
        <p:txBody>
          <a:bodyPr wrap="none" lIns="0" rIns="0" tIns="0" bIns="0">
            <a:spAutoFit/>
          </a:bodyPr>
          <a:lstStyle/>
          <a:p>
            <a:r>
              <a:rPr sz="1300" b="1">
                <a:solidFill>
                  <a:srgbClr val="FFFFFF"/>
                </a:solidFill>
                <a:latin typeface="Calibri"/>
              </a:rPr>
              <a:t>premium over Bituminous Waterproof Coatings.</a:t>
            </a:r>
          </a:p>
        </p:txBody>
      </p:sp>
      <p:sp>
        <p:nvSpPr>
          <p:cNvPr id="39" name="TextBox 38"/>
          <p:cNvSpPr txBox="1"/>
          <p:nvPr/>
        </p:nvSpPr>
        <p:spPr>
          <a:xfrm>
            <a:off x="6995160" y="1602867"/>
            <a:ext cx="2164334" cy="180289"/>
          </a:xfrm>
          <a:prstGeom prst="rect">
            <a:avLst/>
          </a:prstGeom>
          <a:noFill/>
        </p:spPr>
        <p:txBody>
          <a:bodyPr wrap="none" lIns="0" rIns="0" tIns="0" bIns="0">
            <a:spAutoFit/>
          </a:bodyPr>
          <a:lstStyle/>
          <a:p>
            <a:r>
              <a:rPr sz="1057" b="1">
                <a:solidFill>
                  <a:srgbClr val="0B2E4A"/>
                </a:solidFill>
                <a:latin typeface="Calibri"/>
              </a:rPr>
              <a:t>2026 Price Index vs Global Average (=</a:t>
            </a:r>
          </a:p>
        </p:txBody>
      </p:sp>
      <p:pic>
        <p:nvPicPr>
          <p:cNvPr id="40" name="Picture 39" descr="lock.png"/>
          <p:cNvPicPr>
            <a:picLocks noChangeAspect="1"/>
          </p:cNvPicPr>
          <p:nvPr/>
        </p:nvPicPr>
        <p:blipFill>
          <a:blip r:embed="rId6"/>
          <a:stretch>
            <a:fillRect/>
          </a:stretch>
        </p:blipFill>
        <p:spPr>
          <a:xfrm>
            <a:off x="9106620" y="1593461"/>
            <a:ext cx="123784" cy="180050"/>
          </a:xfrm>
          <a:prstGeom prst="rect">
            <a:avLst/>
          </a:prstGeom>
        </p:spPr>
      </p:pic>
      <p:sp>
        <p:nvSpPr>
          <p:cNvPr id="41" name="TextBox 40"/>
          <p:cNvSpPr txBox="1"/>
          <p:nvPr/>
        </p:nvSpPr>
        <p:spPr>
          <a:xfrm>
            <a:off x="9267721" y="1602867"/>
            <a:ext cx="118189" cy="180289"/>
          </a:xfrm>
          <a:prstGeom prst="rect">
            <a:avLst/>
          </a:prstGeom>
          <a:noFill/>
        </p:spPr>
        <p:txBody>
          <a:bodyPr wrap="none" lIns="0" rIns="0" tIns="0" bIns="0">
            <a:spAutoFit/>
          </a:bodyPr>
          <a:lstStyle/>
          <a:p>
            <a:r>
              <a:rPr sz="1057" b="1">
                <a:solidFill>
                  <a:srgbClr val="0B2E4A"/>
                </a:solidFill>
                <a:latin typeface="Calibri"/>
              </a:rPr>
              <a:t>)</a:t>
            </a:r>
          </a:p>
        </p:txBody>
      </p:sp>
      <p:sp>
        <p:nvSpPr>
          <p:cNvPr id="42" name="TextBox 41"/>
          <p:cNvSpPr txBox="1"/>
          <p:nvPr/>
        </p:nvSpPr>
        <p:spPr>
          <a:xfrm>
            <a:off x="806576" y="5530976"/>
            <a:ext cx="3143250" cy="172669"/>
          </a:xfrm>
          <a:prstGeom prst="rect">
            <a:avLst/>
          </a:prstGeom>
          <a:noFill/>
        </p:spPr>
        <p:txBody>
          <a:bodyPr wrap="none" lIns="0" rIns="0" tIns="0" bIns="0">
            <a:spAutoFit/>
          </a:bodyPr>
          <a:lstStyle/>
          <a:p>
            <a:r>
              <a:rPr sz="1008" b="0">
                <a:solidFill>
                  <a:srgbClr val="1F1F1F"/>
                </a:solidFill>
                <a:latin typeface="Calibri"/>
              </a:rPr>
              <a:t>Polyurethane (PU) Waterproof Coatings sit at the top of the</a:t>
            </a:r>
          </a:p>
        </p:txBody>
      </p:sp>
      <p:sp>
        <p:nvSpPr>
          <p:cNvPr id="43" name="TextBox 42"/>
          <p:cNvSpPr txBox="1"/>
          <p:nvPr/>
        </p:nvSpPr>
        <p:spPr>
          <a:xfrm>
            <a:off x="806576" y="5684596"/>
            <a:ext cx="1726156" cy="172669"/>
          </a:xfrm>
          <a:prstGeom prst="rect">
            <a:avLst/>
          </a:prstGeom>
          <a:noFill/>
        </p:spPr>
        <p:txBody>
          <a:bodyPr wrap="none" lIns="0" rIns="0" tIns="0" bIns="0">
            <a:spAutoFit/>
          </a:bodyPr>
          <a:lstStyle/>
          <a:p>
            <a:r>
              <a:rPr sz="1008" b="0">
                <a:solidFill>
                  <a:srgbClr val="1F1F1F"/>
                </a:solidFill>
                <a:latin typeface="Calibri"/>
              </a:rPr>
              <a:t>2026 price ladder at an index of</a:t>
            </a:r>
          </a:p>
        </p:txBody>
      </p:sp>
      <p:pic>
        <p:nvPicPr>
          <p:cNvPr id="44" name="Picture 43" descr="lock.png"/>
          <p:cNvPicPr>
            <a:picLocks noChangeAspect="1"/>
          </p:cNvPicPr>
          <p:nvPr/>
        </p:nvPicPr>
        <p:blipFill>
          <a:blip r:embed="rId6"/>
          <a:stretch>
            <a:fillRect/>
          </a:stretch>
        </p:blipFill>
        <p:spPr>
          <a:xfrm>
            <a:off x="2478756" y="5675635"/>
            <a:ext cx="117934" cy="171541"/>
          </a:xfrm>
          <a:prstGeom prst="rect">
            <a:avLst/>
          </a:prstGeom>
        </p:spPr>
      </p:pic>
      <p:sp>
        <p:nvSpPr>
          <p:cNvPr id="45" name="TextBox 44"/>
          <p:cNvSpPr txBox="1"/>
          <p:nvPr/>
        </p:nvSpPr>
        <p:spPr>
          <a:xfrm>
            <a:off x="2632243" y="5684596"/>
            <a:ext cx="1041070" cy="172669"/>
          </a:xfrm>
          <a:prstGeom prst="rect">
            <a:avLst/>
          </a:prstGeom>
          <a:noFill/>
        </p:spPr>
        <p:txBody>
          <a:bodyPr wrap="none" lIns="0" rIns="0" tIns="0" bIns="0">
            <a:spAutoFit/>
          </a:bodyPr>
          <a:lstStyle/>
          <a:p>
            <a:r>
              <a:rPr sz="1008" b="0">
                <a:solidFill>
                  <a:srgbClr val="1F1F1F"/>
                </a:solidFill>
                <a:latin typeface="Calibri"/>
              </a:rPr>
              <a:t>, while Bituminous</a:t>
            </a:r>
          </a:p>
        </p:txBody>
      </p:sp>
      <p:sp>
        <p:nvSpPr>
          <p:cNvPr id="46" name="TextBox 45"/>
          <p:cNvSpPr txBox="1"/>
          <p:nvPr/>
        </p:nvSpPr>
        <p:spPr>
          <a:xfrm>
            <a:off x="806576" y="5838215"/>
            <a:ext cx="1607391" cy="172669"/>
          </a:xfrm>
          <a:prstGeom prst="rect">
            <a:avLst/>
          </a:prstGeom>
          <a:noFill/>
        </p:spPr>
        <p:txBody>
          <a:bodyPr wrap="none" lIns="0" rIns="0" tIns="0" bIns="0">
            <a:spAutoFit/>
          </a:bodyPr>
          <a:lstStyle/>
          <a:p>
            <a:r>
              <a:rPr sz="1008" b="0">
                <a:solidFill>
                  <a:srgbClr val="1F1F1F"/>
                </a:solidFill>
                <a:latin typeface="Calibri"/>
              </a:rPr>
              <a:t>Waterproof Coatings trade at</a:t>
            </a:r>
          </a:p>
        </p:txBody>
      </p:sp>
      <p:pic>
        <p:nvPicPr>
          <p:cNvPr id="47" name="Picture 46" descr="lock.png"/>
          <p:cNvPicPr>
            <a:picLocks noChangeAspect="1"/>
          </p:cNvPicPr>
          <p:nvPr/>
        </p:nvPicPr>
        <p:blipFill>
          <a:blip r:embed="rId6"/>
          <a:stretch>
            <a:fillRect/>
          </a:stretch>
        </p:blipFill>
        <p:spPr>
          <a:xfrm>
            <a:off x="2359991" y="5829254"/>
            <a:ext cx="117934" cy="171541"/>
          </a:xfrm>
          <a:prstGeom prst="rect">
            <a:avLst/>
          </a:prstGeom>
        </p:spPr>
      </p:pic>
      <p:sp>
        <p:nvSpPr>
          <p:cNvPr id="48" name="TextBox 47"/>
          <p:cNvSpPr txBox="1"/>
          <p:nvPr/>
        </p:nvSpPr>
        <p:spPr>
          <a:xfrm>
            <a:off x="2513478" y="5838215"/>
            <a:ext cx="1176337" cy="172669"/>
          </a:xfrm>
          <a:prstGeom prst="rect">
            <a:avLst/>
          </a:prstGeom>
          <a:noFill/>
        </p:spPr>
        <p:txBody>
          <a:bodyPr wrap="none" lIns="0" rIns="0" tIns="0" bIns="0">
            <a:spAutoFit/>
          </a:bodyPr>
          <a:lstStyle/>
          <a:p>
            <a:r>
              <a:rPr sz="1008" b="0">
                <a:solidFill>
                  <a:srgbClr val="1F1F1F"/>
                </a:solidFill>
                <a:latin typeface="Calibri"/>
              </a:rPr>
              <a:t>, which keeps the full</a:t>
            </a:r>
          </a:p>
        </p:txBody>
      </p:sp>
      <p:sp>
        <p:nvSpPr>
          <p:cNvPr id="49" name="TextBox 48"/>
          <p:cNvSpPr txBox="1"/>
          <p:nvPr/>
        </p:nvSpPr>
        <p:spPr>
          <a:xfrm>
            <a:off x="806576" y="5991834"/>
            <a:ext cx="2109204" cy="172669"/>
          </a:xfrm>
          <a:prstGeom prst="rect">
            <a:avLst/>
          </a:prstGeom>
          <a:noFill/>
        </p:spPr>
        <p:txBody>
          <a:bodyPr wrap="none" lIns="0" rIns="0" tIns="0" bIns="0">
            <a:spAutoFit/>
          </a:bodyPr>
          <a:lstStyle/>
          <a:p>
            <a:r>
              <a:rPr sz="1008" b="0">
                <a:solidFill>
                  <a:srgbClr val="1F1F1F"/>
                </a:solidFill>
                <a:latin typeface="Calibri"/>
              </a:rPr>
              <a:t>product type / chemistry spread within</a:t>
            </a:r>
          </a:p>
        </p:txBody>
      </p:sp>
      <p:pic>
        <p:nvPicPr>
          <p:cNvPr id="50" name="Picture 49" descr="lock.png"/>
          <p:cNvPicPr>
            <a:picLocks noChangeAspect="1"/>
          </p:cNvPicPr>
          <p:nvPr/>
        </p:nvPicPr>
        <p:blipFill>
          <a:blip r:embed="rId6"/>
          <a:stretch>
            <a:fillRect/>
          </a:stretch>
        </p:blipFill>
        <p:spPr>
          <a:xfrm>
            <a:off x="2861804" y="5982873"/>
            <a:ext cx="117934" cy="171541"/>
          </a:xfrm>
          <a:prstGeom prst="rect">
            <a:avLst/>
          </a:prstGeom>
        </p:spPr>
      </p:pic>
      <p:sp>
        <p:nvSpPr>
          <p:cNvPr id="51" name="TextBox 50"/>
          <p:cNvSpPr txBox="1"/>
          <p:nvPr/>
        </p:nvSpPr>
        <p:spPr>
          <a:xfrm>
            <a:off x="3015291" y="5991834"/>
            <a:ext cx="108454" cy="172669"/>
          </a:xfrm>
          <a:prstGeom prst="rect">
            <a:avLst/>
          </a:prstGeom>
          <a:noFill/>
        </p:spPr>
        <p:txBody>
          <a:bodyPr wrap="none" lIns="0" rIns="0" tIns="0" bIns="0">
            <a:spAutoFit/>
          </a:bodyPr>
          <a:lstStyle/>
          <a:p>
            <a:r>
              <a:rPr sz="1008" b="0">
                <a:solidFill>
                  <a:srgbClr val="1F1F1F"/>
                </a:solidFill>
                <a:latin typeface="Calibri"/>
              </a:rPr>
              <a:t>.</a:t>
            </a:r>
          </a:p>
        </p:txBody>
      </p:sp>
      <p:sp>
        <p:nvSpPr>
          <p:cNvPr id="52" name="TextBox 51"/>
          <p:cNvSpPr txBox="1"/>
          <p:nvPr/>
        </p:nvSpPr>
        <p:spPr>
          <a:xfrm>
            <a:off x="4732401" y="5530976"/>
            <a:ext cx="3143249" cy="179069"/>
          </a:xfrm>
          <a:prstGeom prst="rect">
            <a:avLst/>
          </a:prstGeom>
          <a:noFill/>
        </p:spPr>
        <p:txBody>
          <a:bodyPr wrap="none" lIns="0" rIns="0" tIns="0" bIns="0">
            <a:spAutoFit/>
          </a:bodyPr>
          <a:lstStyle/>
          <a:p>
            <a:r>
              <a:rPr sz="1050" b="0">
                <a:solidFill>
                  <a:srgbClr val="1F1F1F"/>
                </a:solidFill>
                <a:latin typeface="Calibri"/>
              </a:rPr>
              <a:t>Acrylic Waterproof Coatings post the fastest price growth</a:t>
            </a:r>
          </a:p>
        </p:txBody>
      </p:sp>
      <p:sp>
        <p:nvSpPr>
          <p:cNvPr id="53" name="TextBox 52"/>
          <p:cNvSpPr txBox="1"/>
          <p:nvPr/>
        </p:nvSpPr>
        <p:spPr>
          <a:xfrm>
            <a:off x="4732401" y="5690996"/>
            <a:ext cx="278829" cy="179069"/>
          </a:xfrm>
          <a:prstGeom prst="rect">
            <a:avLst/>
          </a:prstGeom>
          <a:noFill/>
        </p:spPr>
        <p:txBody>
          <a:bodyPr wrap="none" lIns="0" rIns="0" tIns="0" bIns="0">
            <a:spAutoFit/>
          </a:bodyPr>
          <a:lstStyle/>
          <a:p>
            <a:r>
              <a:rPr sz="1050" b="0">
                <a:solidFill>
                  <a:srgbClr val="1F1F1F"/>
                </a:solidFill>
                <a:latin typeface="Calibri"/>
              </a:rPr>
              <a:t>at a</a:t>
            </a:r>
          </a:p>
        </p:txBody>
      </p:sp>
      <p:pic>
        <p:nvPicPr>
          <p:cNvPr id="54" name="Picture 53" descr="lock.png"/>
          <p:cNvPicPr>
            <a:picLocks noChangeAspect="1"/>
          </p:cNvPicPr>
          <p:nvPr/>
        </p:nvPicPr>
        <p:blipFill>
          <a:blip r:embed="rId6"/>
          <a:stretch>
            <a:fillRect/>
          </a:stretch>
        </p:blipFill>
        <p:spPr>
          <a:xfrm>
            <a:off x="4958179" y="5681662"/>
            <a:ext cx="122849" cy="178689"/>
          </a:xfrm>
          <a:prstGeom prst="rect">
            <a:avLst/>
          </a:prstGeom>
        </p:spPr>
      </p:pic>
      <p:sp>
        <p:nvSpPr>
          <p:cNvPr id="55" name="TextBox 54"/>
          <p:cNvSpPr txBox="1"/>
          <p:nvPr/>
        </p:nvSpPr>
        <p:spPr>
          <a:xfrm>
            <a:off x="5118062" y="5690996"/>
            <a:ext cx="2611917" cy="179069"/>
          </a:xfrm>
          <a:prstGeom prst="rect">
            <a:avLst/>
          </a:prstGeom>
          <a:noFill/>
        </p:spPr>
        <p:txBody>
          <a:bodyPr wrap="none" lIns="0" rIns="0" tIns="0" bIns="0">
            <a:spAutoFit/>
          </a:bodyPr>
          <a:lstStyle/>
          <a:p>
            <a:r>
              <a:rPr sz="1050" b="0">
                <a:solidFill>
                  <a:srgbClr val="1F1F1F"/>
                </a:solidFill>
                <a:latin typeface="Calibri"/>
              </a:rPr>
              <a:t>CAGR between 2026 and 2036, compared with</a:t>
            </a:r>
          </a:p>
        </p:txBody>
      </p:sp>
      <p:pic>
        <p:nvPicPr>
          <p:cNvPr id="56" name="Picture 55" descr="lock.png"/>
          <p:cNvPicPr>
            <a:picLocks noChangeAspect="1"/>
          </p:cNvPicPr>
          <p:nvPr/>
        </p:nvPicPr>
        <p:blipFill>
          <a:blip r:embed="rId6"/>
          <a:stretch>
            <a:fillRect/>
          </a:stretch>
        </p:blipFill>
        <p:spPr>
          <a:xfrm>
            <a:off x="4719545" y="5841682"/>
            <a:ext cx="122849" cy="178689"/>
          </a:xfrm>
          <a:prstGeom prst="rect">
            <a:avLst/>
          </a:prstGeom>
        </p:spPr>
      </p:pic>
      <p:sp>
        <p:nvSpPr>
          <p:cNvPr id="57" name="TextBox 56"/>
          <p:cNvSpPr txBox="1"/>
          <p:nvPr/>
        </p:nvSpPr>
        <p:spPr>
          <a:xfrm>
            <a:off x="4879428" y="5851016"/>
            <a:ext cx="1955862" cy="179069"/>
          </a:xfrm>
          <a:prstGeom prst="rect">
            <a:avLst/>
          </a:prstGeom>
          <a:noFill/>
        </p:spPr>
        <p:txBody>
          <a:bodyPr wrap="none" lIns="0" rIns="0" tIns="0" bIns="0">
            <a:spAutoFit/>
          </a:bodyPr>
          <a:lstStyle/>
          <a:p>
            <a:r>
              <a:rPr sz="1050" b="0">
                <a:solidFill>
                  <a:srgbClr val="1F1F1F"/>
                </a:solidFill>
                <a:latin typeface="Calibri"/>
              </a:rPr>
              <a:t>for Other Polymer-Based Coatings.</a:t>
            </a:r>
          </a:p>
        </p:txBody>
      </p:sp>
      <p:sp>
        <p:nvSpPr>
          <p:cNvPr id="58" name="TextBox 57"/>
          <p:cNvSpPr txBox="1"/>
          <p:nvPr/>
        </p:nvSpPr>
        <p:spPr>
          <a:xfrm>
            <a:off x="8658225" y="5530976"/>
            <a:ext cx="2235844" cy="179069"/>
          </a:xfrm>
          <a:prstGeom prst="rect">
            <a:avLst/>
          </a:prstGeom>
          <a:noFill/>
        </p:spPr>
        <p:txBody>
          <a:bodyPr wrap="none" lIns="0" rIns="0" tIns="0" bIns="0">
            <a:spAutoFit/>
          </a:bodyPr>
          <a:lstStyle/>
          <a:p>
            <a:r>
              <a:rPr sz="1050" b="0">
                <a:solidFill>
                  <a:srgbClr val="1F1F1F"/>
                </a:solidFill>
                <a:latin typeface="Calibri"/>
              </a:rPr>
              <a:t>The Global average price rises from US$</a:t>
            </a:r>
          </a:p>
        </p:txBody>
      </p:sp>
      <p:pic>
        <p:nvPicPr>
          <p:cNvPr id="59" name="Picture 58" descr="lock.png"/>
          <p:cNvPicPr>
            <a:picLocks noChangeAspect="1"/>
          </p:cNvPicPr>
          <p:nvPr/>
        </p:nvPicPr>
        <p:blipFill>
          <a:blip r:embed="rId6"/>
          <a:stretch>
            <a:fillRect/>
          </a:stretch>
        </p:blipFill>
        <p:spPr>
          <a:xfrm>
            <a:off x="10841019" y="5521642"/>
            <a:ext cx="122849" cy="178689"/>
          </a:xfrm>
          <a:prstGeom prst="rect">
            <a:avLst/>
          </a:prstGeom>
        </p:spPr>
      </p:pic>
      <p:sp>
        <p:nvSpPr>
          <p:cNvPr id="60" name="TextBox 59"/>
          <p:cNvSpPr txBox="1"/>
          <p:nvPr/>
        </p:nvSpPr>
        <p:spPr>
          <a:xfrm>
            <a:off x="11000901" y="5530976"/>
            <a:ext cx="542143" cy="179069"/>
          </a:xfrm>
          <a:prstGeom prst="rect">
            <a:avLst/>
          </a:prstGeom>
          <a:noFill/>
        </p:spPr>
        <p:txBody>
          <a:bodyPr wrap="none" lIns="0" rIns="0" tIns="0" bIns="0">
            <a:spAutoFit/>
          </a:bodyPr>
          <a:lstStyle/>
          <a:p>
            <a:r>
              <a:rPr sz="1050" b="0">
                <a:solidFill>
                  <a:srgbClr val="1F1F1F"/>
                </a:solidFill>
                <a:latin typeface="Calibri"/>
              </a:rPr>
              <a:t>/Units in</a:t>
            </a:r>
          </a:p>
        </p:txBody>
      </p:sp>
      <p:sp>
        <p:nvSpPr>
          <p:cNvPr id="61" name="TextBox 60"/>
          <p:cNvSpPr txBox="1"/>
          <p:nvPr/>
        </p:nvSpPr>
        <p:spPr>
          <a:xfrm>
            <a:off x="8658225" y="5690996"/>
            <a:ext cx="737220" cy="179069"/>
          </a:xfrm>
          <a:prstGeom prst="rect">
            <a:avLst/>
          </a:prstGeom>
          <a:noFill/>
        </p:spPr>
        <p:txBody>
          <a:bodyPr wrap="none" lIns="0" rIns="0" tIns="0" bIns="0">
            <a:spAutoFit/>
          </a:bodyPr>
          <a:lstStyle/>
          <a:p>
            <a:r>
              <a:rPr sz="1050" b="0">
                <a:solidFill>
                  <a:srgbClr val="1F1F1F"/>
                </a:solidFill>
                <a:latin typeface="Calibri"/>
              </a:rPr>
              <a:t>2026 to US$</a:t>
            </a:r>
          </a:p>
        </p:txBody>
      </p:sp>
      <p:pic>
        <p:nvPicPr>
          <p:cNvPr id="62" name="Picture 61" descr="lock.png"/>
          <p:cNvPicPr>
            <a:picLocks noChangeAspect="1"/>
          </p:cNvPicPr>
          <p:nvPr/>
        </p:nvPicPr>
        <p:blipFill>
          <a:blip r:embed="rId6"/>
          <a:stretch>
            <a:fillRect/>
          </a:stretch>
        </p:blipFill>
        <p:spPr>
          <a:xfrm>
            <a:off x="9342394" y="5681662"/>
            <a:ext cx="122849" cy="178689"/>
          </a:xfrm>
          <a:prstGeom prst="rect">
            <a:avLst/>
          </a:prstGeom>
        </p:spPr>
      </p:pic>
      <p:sp>
        <p:nvSpPr>
          <p:cNvPr id="63" name="TextBox 62"/>
          <p:cNvSpPr txBox="1"/>
          <p:nvPr/>
        </p:nvSpPr>
        <p:spPr>
          <a:xfrm>
            <a:off x="9502276" y="5690996"/>
            <a:ext cx="2270224" cy="179069"/>
          </a:xfrm>
          <a:prstGeom prst="rect">
            <a:avLst/>
          </a:prstGeom>
          <a:noFill/>
        </p:spPr>
        <p:txBody>
          <a:bodyPr wrap="none" lIns="0" rIns="0" tIns="0" bIns="0">
            <a:spAutoFit/>
          </a:bodyPr>
          <a:lstStyle/>
          <a:p>
            <a:r>
              <a:rPr sz="1050" b="0">
                <a:solidFill>
                  <a:srgbClr val="1F1F1F"/>
                </a:solidFill>
                <a:latin typeface="Calibri"/>
              </a:rPr>
              <a:t>/Units in 2036, and the gap between the</a:t>
            </a:r>
          </a:p>
        </p:txBody>
      </p:sp>
      <p:sp>
        <p:nvSpPr>
          <p:cNvPr id="64" name="TextBox 63"/>
          <p:cNvSpPr txBox="1"/>
          <p:nvPr/>
        </p:nvSpPr>
        <p:spPr>
          <a:xfrm>
            <a:off x="8658225" y="5851016"/>
            <a:ext cx="2844514" cy="179069"/>
          </a:xfrm>
          <a:prstGeom prst="rect">
            <a:avLst/>
          </a:prstGeom>
          <a:noFill/>
        </p:spPr>
        <p:txBody>
          <a:bodyPr wrap="none" lIns="0" rIns="0" tIns="0" bIns="0">
            <a:spAutoFit/>
          </a:bodyPr>
          <a:lstStyle/>
          <a:p>
            <a:r>
              <a:rPr sz="1050" b="0">
                <a:solidFill>
                  <a:srgbClr val="1F1F1F"/>
                </a:solidFill>
                <a:latin typeface="Calibri"/>
              </a:rPr>
              <a:t>highest and lowest priced product type / chemistry</a:t>
            </a:r>
          </a:p>
        </p:txBody>
      </p:sp>
      <p:sp>
        <p:nvSpPr>
          <p:cNvPr id="65" name="TextBox 64"/>
          <p:cNvSpPr txBox="1"/>
          <p:nvPr/>
        </p:nvSpPr>
        <p:spPr>
          <a:xfrm>
            <a:off x="8658225" y="6011036"/>
            <a:ext cx="726020" cy="179069"/>
          </a:xfrm>
          <a:prstGeom prst="rect">
            <a:avLst/>
          </a:prstGeom>
          <a:noFill/>
        </p:spPr>
        <p:txBody>
          <a:bodyPr wrap="none" lIns="0" rIns="0" tIns="0" bIns="0">
            <a:spAutoFit/>
          </a:bodyPr>
          <a:lstStyle/>
          <a:p>
            <a:r>
              <a:rPr sz="1050" b="0">
                <a:solidFill>
                  <a:srgbClr val="1F1F1F"/>
                </a:solidFill>
                <a:latin typeface="Calibri"/>
              </a:rPr>
              <a:t>moves from</a:t>
            </a:r>
          </a:p>
        </p:txBody>
      </p:sp>
      <p:pic>
        <p:nvPicPr>
          <p:cNvPr id="66" name="Picture 65" descr="lock.png"/>
          <p:cNvPicPr>
            <a:picLocks noChangeAspect="1"/>
          </p:cNvPicPr>
          <p:nvPr/>
        </p:nvPicPr>
        <p:blipFill>
          <a:blip r:embed="rId6"/>
          <a:stretch>
            <a:fillRect/>
          </a:stretch>
        </p:blipFill>
        <p:spPr>
          <a:xfrm>
            <a:off x="9331195" y="6001702"/>
            <a:ext cx="122849" cy="178689"/>
          </a:xfrm>
          <a:prstGeom prst="rect">
            <a:avLst/>
          </a:prstGeom>
        </p:spPr>
      </p:pic>
      <p:sp>
        <p:nvSpPr>
          <p:cNvPr id="67" name="TextBox 66"/>
          <p:cNvSpPr txBox="1"/>
          <p:nvPr/>
        </p:nvSpPr>
        <p:spPr>
          <a:xfrm>
            <a:off x="9491077" y="6011036"/>
            <a:ext cx="623403" cy="179069"/>
          </a:xfrm>
          <a:prstGeom prst="rect">
            <a:avLst/>
          </a:prstGeom>
          <a:noFill/>
        </p:spPr>
        <p:txBody>
          <a:bodyPr wrap="none" lIns="0" rIns="0" tIns="0" bIns="0">
            <a:spAutoFit/>
          </a:bodyPr>
          <a:lstStyle/>
          <a:p>
            <a:r>
              <a:rPr sz="1050" b="0">
                <a:solidFill>
                  <a:srgbClr val="1F1F1F"/>
                </a:solidFill>
                <a:latin typeface="Calibri"/>
              </a:rPr>
              <a:t>in 2021 to</a:t>
            </a:r>
          </a:p>
        </p:txBody>
      </p:sp>
      <p:pic>
        <p:nvPicPr>
          <p:cNvPr id="68" name="Picture 67" descr="lock.png"/>
          <p:cNvPicPr>
            <a:picLocks noChangeAspect="1"/>
          </p:cNvPicPr>
          <p:nvPr/>
        </p:nvPicPr>
        <p:blipFill>
          <a:blip r:embed="rId6"/>
          <a:stretch>
            <a:fillRect/>
          </a:stretch>
        </p:blipFill>
        <p:spPr>
          <a:xfrm>
            <a:off x="10061430" y="6001702"/>
            <a:ext cx="122849" cy="178689"/>
          </a:xfrm>
          <a:prstGeom prst="rect">
            <a:avLst/>
          </a:prstGeom>
        </p:spPr>
      </p:pic>
      <p:sp>
        <p:nvSpPr>
          <p:cNvPr id="69" name="TextBox 68"/>
          <p:cNvSpPr txBox="1"/>
          <p:nvPr/>
        </p:nvSpPr>
        <p:spPr>
          <a:xfrm>
            <a:off x="10221312" y="6011036"/>
            <a:ext cx="511671" cy="179069"/>
          </a:xfrm>
          <a:prstGeom prst="rect">
            <a:avLst/>
          </a:prstGeom>
          <a:noFill/>
        </p:spPr>
        <p:txBody>
          <a:bodyPr wrap="none" lIns="0" rIns="0" tIns="0" bIns="0">
            <a:spAutoFit/>
          </a:bodyPr>
          <a:lstStyle/>
          <a:p>
            <a:r>
              <a:rPr sz="1050" b="0">
                <a:solidFill>
                  <a:srgbClr val="1F1F1F"/>
                </a:solidFill>
                <a:latin typeface="Calibri"/>
              </a:rPr>
              <a:t>in 2036.</a:t>
            </a:r>
          </a:p>
        </p:txBody>
      </p:sp>
      <p:pic>
        <p:nvPicPr>
          <p:cNvPr id="70" name="Picture 69" descr="lock.png"/>
          <p:cNvPicPr>
            <a:picLocks noChangeAspect="1"/>
          </p:cNvPicPr>
          <p:nvPr/>
        </p:nvPicPr>
        <p:blipFill>
          <a:blip r:embed="rId6"/>
          <a:stretch>
            <a:fillRect/>
          </a:stretch>
        </p:blipFill>
        <p:spPr>
          <a:xfrm>
            <a:off x="3418190" y="3048804"/>
            <a:ext cx="454926" cy="661711"/>
          </a:xfrm>
          <a:prstGeom prst="rect">
            <a:avLst/>
          </a:prstGeom>
        </p:spPr>
      </p:pic>
      <p:pic>
        <p:nvPicPr>
          <p:cNvPr id="71" name="Picture 70" descr="lock.png"/>
          <p:cNvPicPr>
            <a:picLocks noChangeAspect="1"/>
          </p:cNvPicPr>
          <p:nvPr/>
        </p:nvPicPr>
        <p:blipFill>
          <a:blip r:embed="rId6"/>
          <a:stretch>
            <a:fillRect/>
          </a:stretch>
        </p:blipFill>
        <p:spPr>
          <a:xfrm>
            <a:off x="9403270" y="2219134"/>
            <a:ext cx="256698" cy="373379"/>
          </a:xfrm>
          <a:prstGeom prst="rect">
            <a:avLst/>
          </a:prstGeom>
        </p:spPr>
      </p:pic>
      <p:sp>
        <p:nvSpPr>
          <p:cNvPr id="72" name="lockshield_13"/>
          <p:cNvSpPr/>
          <p:nvPr/>
        </p:nvSpPr>
        <p:spPr>
          <a:xfrm>
            <a:off x="347472" y="1831467"/>
            <a:ext cx="6309360" cy="3182112"/>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lockshield_17"/>
          <p:cNvSpPr/>
          <p:nvPr/>
        </p:nvSpPr>
        <p:spPr>
          <a:xfrm>
            <a:off x="6903720" y="1785747"/>
            <a:ext cx="4965192" cy="132588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Waterproof Coatings Market Pricing Assessment: Region Benchmarking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 average price and price range across product type / chemistrys, 2026 (US$/Units)</a:t>
            </a:r>
          </a:p>
        </p:txBody>
      </p:sp>
      <p:sp>
        <p:nvSpPr>
          <p:cNvPr id="10" name="Rectangle 9"/>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11" name="Rectangle 10"/>
          <p:cNvSpPr/>
          <p:nvPr/>
        </p:nvSpPr>
        <p:spPr>
          <a:xfrm>
            <a:off x="274320" y="1529715"/>
            <a:ext cx="7543800" cy="3520440"/>
          </a:xfrm>
          <a:prstGeom prst="rect">
            <a:avLst/>
          </a:prstGeom>
          <a:solidFill>
            <a:srgbClr val="F3F6F9"/>
          </a:solidFill>
          <a:ln>
            <a:noFill/>
          </a:ln>
          <a:effectLst/>
        </p:spPr>
        <p:txBody>
          <a:bodyPr rtlCol="0" anchor="ctr"/>
          <a:lstStyle/>
          <a:p>
            <a:pPr algn="ctr"/>
          </a:p>
        </p:txBody>
      </p:sp>
      <p:sp>
        <p:nvSpPr>
          <p:cNvPr id="12" name="TextBox 11"/>
          <p:cNvSpPr txBox="1"/>
          <p:nvPr/>
        </p:nvSpPr>
        <p:spPr>
          <a:xfrm>
            <a:off x="384048" y="1575435"/>
            <a:ext cx="7315200" cy="257175"/>
          </a:xfrm>
          <a:prstGeom prst="rect">
            <a:avLst/>
          </a:prstGeom>
          <a:noFill/>
        </p:spPr>
        <p:txBody>
          <a:bodyPr wrap="square" anchor="t" lIns="27432" rIns="27432" tIns="27432" bIns="27432">
            <a:spAutoFit/>
          </a:bodyPr>
          <a:lstStyle/>
          <a:p>
            <a:pPr algn="l"/>
            <a:r>
              <a:rPr sz="1150" b="1" i="0">
                <a:solidFill>
                  <a:srgbClr val="0B2E4A"/>
                </a:solidFill>
                <a:latin typeface="Calibri"/>
              </a:rPr>
              <a:t>2026 Price Range Across Product Type / Chemistrys by Region (US$/Units), Ranked by Average</a:t>
            </a:r>
          </a:p>
        </p:txBody>
      </p:sp>
      <p:graphicFrame>
        <p:nvGraphicFramePr>
          <p:cNvPr id="13" name="FMI Open Chart"/>
          <p:cNvGraphicFramePr>
            <a:graphicFrameLocks noGrp="1"/>
          </p:cNvGraphicFramePr>
          <p:nvPr/>
        </p:nvGraphicFramePr>
        <p:xfrm>
          <a:off x="347472" y="2014347"/>
          <a:ext cx="7406640" cy="3017520"/>
        </p:xfrm>
        <a:graphic>
          <a:graphicData uri="http://schemas.openxmlformats.org/drawingml/2006/chart">
            <c:chart xmlns:c="http://schemas.openxmlformats.org/drawingml/2006/chart" r:id="rId3"/>
          </a:graphicData>
        </a:graphic>
      </p:graphicFrame>
      <p:sp>
        <p:nvSpPr>
          <p:cNvPr id="14" name="TextBox 13"/>
          <p:cNvSpPr txBox="1"/>
          <p:nvPr/>
        </p:nvSpPr>
        <p:spPr>
          <a:xfrm>
            <a:off x="384048" y="1804035"/>
            <a:ext cx="7223760" cy="219075"/>
          </a:xfrm>
          <a:prstGeom prst="rect">
            <a:avLst/>
          </a:prstGeom>
          <a:noFill/>
        </p:spPr>
        <p:txBody>
          <a:bodyPr wrap="square" anchor="t" lIns="27432" rIns="27432" tIns="27432" bIns="27432">
            <a:spAutoFit/>
          </a:bodyPr>
          <a:lstStyle/>
          <a:p>
            <a:pPr algn="l"/>
            <a:r>
              <a:rPr sz="850" b="0" i="1">
                <a:solidFill>
                  <a:srgbClr val="59636E"/>
                </a:solidFill>
                <a:latin typeface="Calibri"/>
              </a:rPr>
              <a:t/>
            </a:r>
          </a:p>
        </p:txBody>
      </p:sp>
      <p:sp>
        <p:nvSpPr>
          <p:cNvPr id="15" name="Rectangle 14"/>
          <p:cNvSpPr/>
          <p:nvPr/>
        </p:nvSpPr>
        <p:spPr>
          <a:xfrm>
            <a:off x="7955280" y="1529715"/>
            <a:ext cx="3959352" cy="3520440"/>
          </a:xfrm>
          <a:prstGeom prst="rect">
            <a:avLst/>
          </a:prstGeom>
          <a:solidFill>
            <a:srgbClr val="F3F6F9"/>
          </a:solidFill>
          <a:ln>
            <a:noFill/>
          </a:ln>
          <a:effectLst/>
        </p:spPr>
        <p:txBody>
          <a:bodyPr rtlCol="0" anchor="ctr"/>
          <a:lstStyle/>
          <a:p>
            <a:pPr algn="ctr"/>
          </a:p>
        </p:txBody>
      </p:sp>
      <p:sp>
        <p:nvSpPr>
          <p:cNvPr id="16" name="TextBox 15"/>
          <p:cNvSpPr txBox="1"/>
          <p:nvPr/>
        </p:nvSpPr>
        <p:spPr>
          <a:xfrm>
            <a:off x="8065008" y="1575435"/>
            <a:ext cx="3749040" cy="257175"/>
          </a:xfrm>
          <a:prstGeom prst="rect">
            <a:avLst/>
          </a:prstGeom>
          <a:noFill/>
        </p:spPr>
        <p:txBody>
          <a:bodyPr wrap="square" anchor="t" lIns="27432" rIns="27432" tIns="27432" bIns="27432">
            <a:spAutoFit/>
          </a:bodyPr>
          <a:lstStyle/>
          <a:p>
            <a:pPr algn="l"/>
            <a:r>
              <a:rPr sz="1150" b="1" i="0">
                <a:solidFill>
                  <a:srgbClr val="0B2E4A"/>
                </a:solidFill>
                <a:latin typeface="Calibri"/>
              </a:rPr>
              <a:t>Premium and Discount Markets</a:t>
            </a:r>
          </a:p>
        </p:txBody>
      </p:sp>
      <p:graphicFrame>
        <p:nvGraphicFramePr>
          <p:cNvPr id="17" name="Table 16"/>
          <p:cNvGraphicFramePr>
            <a:graphicFrameLocks noGrp="1"/>
          </p:cNvGraphicFramePr>
          <p:nvPr/>
        </p:nvGraphicFramePr>
        <p:xfrm>
          <a:off x="8046720" y="1868043"/>
          <a:ext cx="3776472" cy="3090675"/>
        </p:xfrm>
        <a:graphic>
          <a:graphicData uri="http://schemas.openxmlformats.org/drawingml/2006/table">
            <a:tbl>
              <a:tblPr firstRow="1" bandRow="1">
                <a:tableStyleId>{5C22544A-7EE6-4342-B048-85BDC9FD1C3A}</a:tableStyleId>
              </a:tblPr>
              <a:tblGrid>
                <a:gridCol w="1417320"/>
                <a:gridCol w="786384"/>
                <a:gridCol w="658368"/>
                <a:gridCol w="914400"/>
              </a:tblGrid>
              <a:tr h="441525">
                <a:tc>
                  <a:txBody>
                    <a:bodyPr wrap="square"/>
                    <a:lstStyle/>
                    <a:p>
                      <a:pPr algn="l"/>
                      <a:r>
                        <a:rPr sz="900" b="1">
                          <a:solidFill>
                            <a:srgbClr val="FFFFFF"/>
                          </a:solidFill>
                          <a:latin typeface="Calibri"/>
                        </a:rPr>
                        <a:t>Region</a:t>
                      </a:r>
                    </a:p>
                  </a:txBody>
                  <a:tcPr marL="36576" marR="36576" marT="9144" marB="9144" anchor="ctr">
                    <a:solidFill>
                      <a:srgbClr val="0B2E4A"/>
                    </a:solidFill>
                  </a:tcPr>
                </a:tc>
                <a:tc>
                  <a:txBody>
                    <a:bodyPr wrap="square"/>
                    <a:lstStyle/>
                    <a:p>
                      <a:pPr algn="ctr"/>
                      <a:r>
                        <a:rPr sz="900" b="1">
                          <a:solidFill>
                            <a:srgbClr val="FFFFFF"/>
                          </a:solidFill>
                          <a:latin typeface="Calibri"/>
                        </a:rPr>
                        <a:t>Avg. 2026</a:t>
                      </a:r>
                    </a:p>
                  </a:txBody>
                  <a:tcPr marL="36576" marR="36576" marT="9144" marB="9144" anchor="ctr">
                    <a:solidFill>
                      <a:srgbClr val="0B2E4A"/>
                    </a:solidFill>
                  </a:tcPr>
                </a:tc>
                <a:tc>
                  <a:txBody>
                    <a:bodyPr wrap="square"/>
                    <a:lstStyle/>
                    <a:p>
                      <a:pPr algn="ctr"/>
                      <a:r>
                        <a:rPr sz="900" b="1">
                          <a:solidFill>
                            <a:srgbClr val="FFFFFF"/>
                          </a:solidFill>
                          <a:latin typeface="Calibri"/>
                        </a:rPr>
                        <a:t>Index</a:t>
                      </a:r>
                    </a:p>
                  </a:txBody>
                  <a:tcPr marL="36576" marR="36576" marT="9144" marB="9144" anchor="ctr">
                    <a:solidFill>
                      <a:srgbClr val="0B2E4A"/>
                    </a:solidFill>
                  </a:tcPr>
                </a:tc>
                <a:tc>
                  <a:txBody>
                    <a:bodyPr wrap="square"/>
                    <a:lstStyle/>
                    <a:p>
                      <a:pPr algn="ctr"/>
                      <a:r>
                        <a:rPr sz="900" b="1">
                          <a:solidFill>
                            <a:srgbClr val="FFFFFF"/>
                          </a:solidFill>
                          <a:latin typeface="Calibri"/>
                        </a:rPr>
                        <a:t>CAGR 2026 to 2036</a:t>
                      </a:r>
                    </a:p>
                  </a:txBody>
                  <a:tcPr marL="36576" marR="36576" marT="9144" marB="9144" anchor="ctr">
                    <a:solidFill>
                      <a:srgbClr val="0B2E4A"/>
                    </a:solidFill>
                  </a:tcPr>
                </a:tc>
              </a:tr>
              <a:tr h="441525">
                <a:tc>
                  <a:txBody>
                    <a:bodyPr wrap="square"/>
                    <a:lstStyle/>
                    <a:p>
                      <a:pPr algn="l"/>
                      <a:r>
                        <a:rPr sz="900" b="1">
                          <a:solidFill>
                            <a:srgbClr val="1F1F1F"/>
                          </a:solidFill>
                          <a:latin typeface="Calibri"/>
                        </a:rPr>
                        <a:t>North America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Western Europe</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Eastern Europe</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Middle East &amp; Africa</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East Asia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South Asia &amp; Pacific</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bl>
          </a:graphicData>
        </a:graphic>
      </p:graphicFrame>
      <p:sp>
        <p:nvSpPr>
          <p:cNvPr id="18" name="Rectangle 17"/>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19" name="Oval 18"/>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20" name="TextBox 19"/>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Region Spread</a:t>
            </a:r>
          </a:p>
        </p:txBody>
      </p:sp>
      <p:sp>
        <p:nvSpPr>
          <p:cNvPr id="21" name="TextBox 20"/>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2" name="Rectangle 21"/>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3" name="Oval 22"/>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4" name="TextBox 23"/>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Growth Leader</a:t>
            </a:r>
          </a:p>
        </p:txBody>
      </p:sp>
      <p:sp>
        <p:nvSpPr>
          <p:cNvPr id="25" name="TextBox 24"/>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6" name="Rectangle 25"/>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7" name="Oval 26"/>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8" name="TextBox 27"/>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Mix Exposure</a:t>
            </a:r>
          </a:p>
        </p:txBody>
      </p:sp>
      <p:sp>
        <p:nvSpPr>
          <p:cNvPr id="29" name="TextBox 28"/>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30" name="TextBox 29"/>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FMI analysis. Range = lowest to highest product type / chemistry price in each region; ranked by average price. Other geographies grouped as 'Other' are excluded from the ranking.</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5"/>
          <a:stretch>
            <a:fillRect/>
          </a:stretch>
        </p:blipFill>
        <p:spPr>
          <a:xfrm>
            <a:off x="10462494" y="3375398"/>
            <a:ext cx="355774" cy="517489"/>
          </a:xfrm>
          <a:prstGeom prst="rect">
            <a:avLst/>
          </a:prstGeom>
        </p:spPr>
      </p:pic>
      <p:sp>
        <p:nvSpPr>
          <p:cNvPr id="33" name="TextBox 32"/>
          <p:cNvSpPr txBox="1"/>
          <p:nvPr/>
        </p:nvSpPr>
        <p:spPr>
          <a:xfrm>
            <a:off x="411480" y="1110615"/>
            <a:ext cx="3985393" cy="217169"/>
          </a:xfrm>
          <a:prstGeom prst="rect">
            <a:avLst/>
          </a:prstGeom>
          <a:noFill/>
        </p:spPr>
        <p:txBody>
          <a:bodyPr wrap="none" lIns="0" rIns="0" tIns="0" bIns="0">
            <a:spAutoFit/>
          </a:bodyPr>
          <a:lstStyle/>
          <a:p>
            <a:r>
              <a:rPr sz="1300" b="1">
                <a:solidFill>
                  <a:srgbClr val="FFFFFF"/>
                </a:solidFill>
                <a:latin typeface="Calibri"/>
              </a:rPr>
              <a:t>North America is the most premium Global region at US$</a:t>
            </a:r>
          </a:p>
        </p:txBody>
      </p:sp>
      <p:pic>
        <p:nvPicPr>
          <p:cNvPr id="34" name="Picture 33" descr="lock.png"/>
          <p:cNvPicPr>
            <a:picLocks noChangeAspect="1"/>
          </p:cNvPicPr>
          <p:nvPr/>
        </p:nvPicPr>
        <p:blipFill>
          <a:blip r:embed="rId5"/>
          <a:stretch>
            <a:fillRect/>
          </a:stretch>
        </p:blipFill>
        <p:spPr>
          <a:xfrm>
            <a:off x="4349334" y="1099058"/>
            <a:ext cx="152098" cy="221234"/>
          </a:xfrm>
          <a:prstGeom prst="rect">
            <a:avLst/>
          </a:prstGeom>
        </p:spPr>
      </p:pic>
      <p:sp>
        <p:nvSpPr>
          <p:cNvPr id="35" name="TextBox 34"/>
          <p:cNvSpPr txBox="1"/>
          <p:nvPr/>
        </p:nvSpPr>
        <p:spPr>
          <a:xfrm>
            <a:off x="4547284" y="1110615"/>
            <a:ext cx="1209005" cy="217169"/>
          </a:xfrm>
          <a:prstGeom prst="rect">
            <a:avLst/>
          </a:prstGeom>
          <a:noFill/>
        </p:spPr>
        <p:txBody>
          <a:bodyPr wrap="none" lIns="0" rIns="0" tIns="0" bIns="0">
            <a:spAutoFit/>
          </a:bodyPr>
          <a:lstStyle/>
          <a:p>
            <a:r>
              <a:rPr sz="1300" b="1">
                <a:solidFill>
                  <a:srgbClr val="FFFFFF"/>
                </a:solidFill>
                <a:latin typeface="Calibri"/>
              </a:rPr>
              <a:t>/Units in 2026, +</a:t>
            </a:r>
          </a:p>
        </p:txBody>
      </p:sp>
      <p:pic>
        <p:nvPicPr>
          <p:cNvPr id="36" name="Picture 35" descr="lock.png"/>
          <p:cNvPicPr>
            <a:picLocks noChangeAspect="1"/>
          </p:cNvPicPr>
          <p:nvPr/>
        </p:nvPicPr>
        <p:blipFill>
          <a:blip r:embed="rId5"/>
          <a:stretch>
            <a:fillRect/>
          </a:stretch>
        </p:blipFill>
        <p:spPr>
          <a:xfrm>
            <a:off x="5708750" y="1099058"/>
            <a:ext cx="152098" cy="221234"/>
          </a:xfrm>
          <a:prstGeom prst="rect">
            <a:avLst/>
          </a:prstGeom>
        </p:spPr>
      </p:pic>
      <p:sp>
        <p:nvSpPr>
          <p:cNvPr id="37" name="TextBox 36"/>
          <p:cNvSpPr txBox="1"/>
          <p:nvPr/>
        </p:nvSpPr>
        <p:spPr>
          <a:xfrm>
            <a:off x="5906700" y="1110615"/>
            <a:ext cx="5071119" cy="217169"/>
          </a:xfrm>
          <a:prstGeom prst="rect">
            <a:avLst/>
          </a:prstGeom>
          <a:noFill/>
        </p:spPr>
        <p:txBody>
          <a:bodyPr wrap="none" lIns="0" rIns="0" tIns="0" bIns="0">
            <a:spAutoFit/>
          </a:bodyPr>
          <a:lstStyle/>
          <a:p>
            <a:r>
              <a:rPr sz="1300" b="1">
                <a:solidFill>
                  <a:srgbClr val="FFFFFF"/>
                </a:solidFill>
                <a:latin typeface="Calibri"/>
              </a:rPr>
              <a:t>above the global average, while South Asia &amp; Pacific is the lowest priced.</a:t>
            </a:r>
          </a:p>
        </p:txBody>
      </p:sp>
      <p:sp>
        <p:nvSpPr>
          <p:cNvPr id="38" name="TextBox 37"/>
          <p:cNvSpPr txBox="1"/>
          <p:nvPr/>
        </p:nvSpPr>
        <p:spPr>
          <a:xfrm>
            <a:off x="411480" y="1831467"/>
            <a:ext cx="5064594" cy="138226"/>
          </a:xfrm>
          <a:prstGeom prst="rect">
            <a:avLst/>
          </a:prstGeom>
          <a:noFill/>
        </p:spPr>
        <p:txBody>
          <a:bodyPr wrap="none" lIns="0" rIns="0" tIns="0" bIns="0">
            <a:spAutoFit/>
          </a:bodyPr>
          <a:lstStyle/>
          <a:p>
            <a:r>
              <a:rPr sz="781" b="0">
                <a:solidFill>
                  <a:srgbClr val="59636E"/>
                </a:solidFill>
                <a:latin typeface="Calibri"/>
              </a:rPr>
              <a:t>Bar spans the lowest to highest product type / chemistry price in each region, read on the price index axis (Global average =</a:t>
            </a:r>
          </a:p>
        </p:txBody>
      </p:sp>
      <p:pic>
        <p:nvPicPr>
          <p:cNvPr id="39" name="Picture 38" descr="lock.png"/>
          <p:cNvPicPr>
            <a:picLocks noChangeAspect="1"/>
          </p:cNvPicPr>
          <p:nvPr/>
        </p:nvPicPr>
        <p:blipFill>
          <a:blip r:embed="rId5"/>
          <a:stretch>
            <a:fillRect/>
          </a:stretch>
        </p:blipFill>
        <p:spPr>
          <a:xfrm>
            <a:off x="5417115" y="1824515"/>
            <a:ext cx="91492" cy="133080"/>
          </a:xfrm>
          <a:prstGeom prst="rect">
            <a:avLst/>
          </a:prstGeom>
        </p:spPr>
      </p:pic>
      <p:sp>
        <p:nvSpPr>
          <p:cNvPr id="40" name="TextBox 39"/>
          <p:cNvSpPr txBox="1"/>
          <p:nvPr/>
        </p:nvSpPr>
        <p:spPr>
          <a:xfrm>
            <a:off x="5536189" y="1831467"/>
            <a:ext cx="1880145" cy="138226"/>
          </a:xfrm>
          <a:prstGeom prst="rect">
            <a:avLst/>
          </a:prstGeom>
          <a:noFill/>
        </p:spPr>
        <p:txBody>
          <a:bodyPr wrap="none" lIns="0" rIns="0" tIns="0" bIns="0">
            <a:spAutoFit/>
          </a:bodyPr>
          <a:lstStyle/>
          <a:p>
            <a:r>
              <a:rPr sz="781" b="0">
                <a:solidFill>
                  <a:srgbClr val="59636E"/>
                </a:solidFill>
                <a:latin typeface="Calibri"/>
              </a:rPr>
              <a:t>). Teal = above Global average, blue = below.</a:t>
            </a:r>
          </a:p>
        </p:txBody>
      </p:sp>
      <p:sp>
        <p:nvSpPr>
          <p:cNvPr id="41" name="TextBox 40"/>
          <p:cNvSpPr txBox="1"/>
          <p:nvPr/>
        </p:nvSpPr>
        <p:spPr>
          <a:xfrm>
            <a:off x="806576" y="5530976"/>
            <a:ext cx="2778324" cy="179069"/>
          </a:xfrm>
          <a:prstGeom prst="rect">
            <a:avLst/>
          </a:prstGeom>
          <a:noFill/>
        </p:spPr>
        <p:txBody>
          <a:bodyPr wrap="none" lIns="0" rIns="0" tIns="0" bIns="0">
            <a:spAutoFit/>
          </a:bodyPr>
          <a:lstStyle/>
          <a:p>
            <a:r>
              <a:rPr sz="1050" b="0">
                <a:solidFill>
                  <a:srgbClr val="1F1F1F"/>
                </a:solidFill>
                <a:latin typeface="Calibri"/>
              </a:rPr>
              <a:t>Average prices across the ranked regions differ by</a:t>
            </a:r>
          </a:p>
        </p:txBody>
      </p:sp>
      <p:pic>
        <p:nvPicPr>
          <p:cNvPr id="42" name="Picture 41" descr="lock.png"/>
          <p:cNvPicPr>
            <a:picLocks noChangeAspect="1"/>
          </p:cNvPicPr>
          <p:nvPr/>
        </p:nvPicPr>
        <p:blipFill>
          <a:blip r:embed="rId5"/>
          <a:stretch>
            <a:fillRect/>
          </a:stretch>
        </p:blipFill>
        <p:spPr>
          <a:xfrm>
            <a:off x="3531850" y="5521642"/>
            <a:ext cx="122849" cy="178689"/>
          </a:xfrm>
          <a:prstGeom prst="rect">
            <a:avLst/>
          </a:prstGeom>
        </p:spPr>
      </p:pic>
      <p:sp>
        <p:nvSpPr>
          <p:cNvPr id="43" name="TextBox 42"/>
          <p:cNvSpPr txBox="1"/>
          <p:nvPr/>
        </p:nvSpPr>
        <p:spPr>
          <a:xfrm>
            <a:off x="3691732" y="5530976"/>
            <a:ext cx="176993" cy="179069"/>
          </a:xfrm>
          <a:prstGeom prst="rect">
            <a:avLst/>
          </a:prstGeom>
          <a:noFill/>
        </p:spPr>
        <p:txBody>
          <a:bodyPr wrap="none" lIns="0" rIns="0" tIns="0" bIns="0">
            <a:spAutoFit/>
          </a:bodyPr>
          <a:lstStyle/>
          <a:p>
            <a:r>
              <a:rPr sz="1050" b="0">
                <a:solidFill>
                  <a:srgbClr val="1F1F1F"/>
                </a:solidFill>
                <a:latin typeface="Calibri"/>
              </a:rPr>
              <a:t>in</a:t>
            </a:r>
          </a:p>
        </p:txBody>
      </p:sp>
      <p:sp>
        <p:nvSpPr>
          <p:cNvPr id="44" name="TextBox 43"/>
          <p:cNvSpPr txBox="1"/>
          <p:nvPr/>
        </p:nvSpPr>
        <p:spPr>
          <a:xfrm>
            <a:off x="806576" y="5690996"/>
            <a:ext cx="919534" cy="179069"/>
          </a:xfrm>
          <a:prstGeom prst="rect">
            <a:avLst/>
          </a:prstGeom>
          <a:noFill/>
        </p:spPr>
        <p:txBody>
          <a:bodyPr wrap="none" lIns="0" rIns="0" tIns="0" bIns="0">
            <a:spAutoFit/>
          </a:bodyPr>
          <a:lstStyle/>
          <a:p>
            <a:r>
              <a:rPr sz="1050" b="0">
                <a:solidFill>
                  <a:srgbClr val="1F1F1F"/>
                </a:solidFill>
                <a:latin typeface="Calibri"/>
              </a:rPr>
              <a:t>2026, from US$</a:t>
            </a:r>
          </a:p>
        </p:txBody>
      </p:sp>
      <p:pic>
        <p:nvPicPr>
          <p:cNvPr id="45" name="Picture 44" descr="lock.png"/>
          <p:cNvPicPr>
            <a:picLocks noChangeAspect="1"/>
          </p:cNvPicPr>
          <p:nvPr/>
        </p:nvPicPr>
        <p:blipFill>
          <a:blip r:embed="rId5"/>
          <a:stretch>
            <a:fillRect/>
          </a:stretch>
        </p:blipFill>
        <p:spPr>
          <a:xfrm>
            <a:off x="1673060" y="5681662"/>
            <a:ext cx="122849" cy="178689"/>
          </a:xfrm>
          <a:prstGeom prst="rect">
            <a:avLst/>
          </a:prstGeom>
        </p:spPr>
      </p:pic>
      <p:sp>
        <p:nvSpPr>
          <p:cNvPr id="46" name="TextBox 45"/>
          <p:cNvSpPr txBox="1"/>
          <p:nvPr/>
        </p:nvSpPr>
        <p:spPr>
          <a:xfrm>
            <a:off x="1832943" y="5690996"/>
            <a:ext cx="2032173" cy="179069"/>
          </a:xfrm>
          <a:prstGeom prst="rect">
            <a:avLst/>
          </a:prstGeom>
          <a:noFill/>
        </p:spPr>
        <p:txBody>
          <a:bodyPr wrap="none" lIns="0" rIns="0" tIns="0" bIns="0">
            <a:spAutoFit/>
          </a:bodyPr>
          <a:lstStyle/>
          <a:p>
            <a:r>
              <a:rPr sz="1050" b="0">
                <a:solidFill>
                  <a:srgbClr val="1F1F1F"/>
                </a:solidFill>
                <a:latin typeface="Calibri"/>
              </a:rPr>
              <a:t>/Units in South Asia &amp; Pacific to US$</a:t>
            </a:r>
          </a:p>
        </p:txBody>
      </p:sp>
      <p:pic>
        <p:nvPicPr>
          <p:cNvPr id="47" name="Picture 46" descr="lock.png"/>
          <p:cNvPicPr>
            <a:picLocks noChangeAspect="1"/>
          </p:cNvPicPr>
          <p:nvPr/>
        </p:nvPicPr>
        <p:blipFill>
          <a:blip r:embed="rId5"/>
          <a:stretch>
            <a:fillRect/>
          </a:stretch>
        </p:blipFill>
        <p:spPr>
          <a:xfrm>
            <a:off x="793721" y="5841682"/>
            <a:ext cx="122849" cy="178689"/>
          </a:xfrm>
          <a:prstGeom prst="rect">
            <a:avLst/>
          </a:prstGeom>
        </p:spPr>
      </p:pic>
      <p:sp>
        <p:nvSpPr>
          <p:cNvPr id="48" name="TextBox 47"/>
          <p:cNvSpPr txBox="1"/>
          <p:nvPr/>
        </p:nvSpPr>
        <p:spPr>
          <a:xfrm>
            <a:off x="953604" y="5851016"/>
            <a:ext cx="1401886" cy="179069"/>
          </a:xfrm>
          <a:prstGeom prst="rect">
            <a:avLst/>
          </a:prstGeom>
          <a:noFill/>
        </p:spPr>
        <p:txBody>
          <a:bodyPr wrap="none" lIns="0" rIns="0" tIns="0" bIns="0">
            <a:spAutoFit/>
          </a:bodyPr>
          <a:lstStyle/>
          <a:p>
            <a:r>
              <a:rPr sz="1050" b="0">
                <a:solidFill>
                  <a:srgbClr val="1F1F1F"/>
                </a:solidFill>
                <a:latin typeface="Calibri"/>
              </a:rPr>
              <a:t>/Units in North America.</a:t>
            </a:r>
          </a:p>
        </p:txBody>
      </p:sp>
      <p:sp>
        <p:nvSpPr>
          <p:cNvPr id="49" name="TextBox 48"/>
          <p:cNvSpPr txBox="1"/>
          <p:nvPr/>
        </p:nvSpPr>
        <p:spPr>
          <a:xfrm>
            <a:off x="4732401" y="5530976"/>
            <a:ext cx="3098192" cy="179069"/>
          </a:xfrm>
          <a:prstGeom prst="rect">
            <a:avLst/>
          </a:prstGeom>
          <a:noFill/>
        </p:spPr>
        <p:txBody>
          <a:bodyPr wrap="none" lIns="0" rIns="0" tIns="0" bIns="0">
            <a:spAutoFit/>
          </a:bodyPr>
          <a:lstStyle/>
          <a:p>
            <a:r>
              <a:rPr sz="1050" b="0">
                <a:solidFill>
                  <a:srgbClr val="1F1F1F"/>
                </a:solidFill>
                <a:latin typeface="Calibri"/>
              </a:rPr>
              <a:t>North America records the fastest average price growth</a:t>
            </a:r>
          </a:p>
        </p:txBody>
      </p:sp>
      <p:sp>
        <p:nvSpPr>
          <p:cNvPr id="50" name="TextBox 49"/>
          <p:cNvSpPr txBox="1"/>
          <p:nvPr/>
        </p:nvSpPr>
        <p:spPr>
          <a:xfrm>
            <a:off x="4732401" y="5690996"/>
            <a:ext cx="278829" cy="179069"/>
          </a:xfrm>
          <a:prstGeom prst="rect">
            <a:avLst/>
          </a:prstGeom>
          <a:noFill/>
        </p:spPr>
        <p:txBody>
          <a:bodyPr wrap="none" lIns="0" rIns="0" tIns="0" bIns="0">
            <a:spAutoFit/>
          </a:bodyPr>
          <a:lstStyle/>
          <a:p>
            <a:r>
              <a:rPr sz="1050" b="0">
                <a:solidFill>
                  <a:srgbClr val="1F1F1F"/>
                </a:solidFill>
                <a:latin typeface="Calibri"/>
              </a:rPr>
              <a:t>at a</a:t>
            </a:r>
          </a:p>
        </p:txBody>
      </p:sp>
      <p:pic>
        <p:nvPicPr>
          <p:cNvPr id="51" name="Picture 50" descr="lock.png"/>
          <p:cNvPicPr>
            <a:picLocks noChangeAspect="1"/>
          </p:cNvPicPr>
          <p:nvPr/>
        </p:nvPicPr>
        <p:blipFill>
          <a:blip r:embed="rId5"/>
          <a:stretch>
            <a:fillRect/>
          </a:stretch>
        </p:blipFill>
        <p:spPr>
          <a:xfrm>
            <a:off x="4958179" y="5681662"/>
            <a:ext cx="122849" cy="178689"/>
          </a:xfrm>
          <a:prstGeom prst="rect">
            <a:avLst/>
          </a:prstGeom>
        </p:spPr>
      </p:pic>
      <p:sp>
        <p:nvSpPr>
          <p:cNvPr id="52" name="TextBox 51"/>
          <p:cNvSpPr txBox="1"/>
          <p:nvPr/>
        </p:nvSpPr>
        <p:spPr>
          <a:xfrm>
            <a:off x="5118062" y="5690996"/>
            <a:ext cx="2178529" cy="179069"/>
          </a:xfrm>
          <a:prstGeom prst="rect">
            <a:avLst/>
          </a:prstGeom>
          <a:noFill/>
        </p:spPr>
        <p:txBody>
          <a:bodyPr wrap="none" lIns="0" rIns="0" tIns="0" bIns="0">
            <a:spAutoFit/>
          </a:bodyPr>
          <a:lstStyle/>
          <a:p>
            <a:r>
              <a:rPr sz="1050" b="0">
                <a:solidFill>
                  <a:srgbClr val="1F1F1F"/>
                </a:solidFill>
                <a:latin typeface="Calibri"/>
              </a:rPr>
              <a:t>CAGR between 2026 and 2036, against</a:t>
            </a:r>
          </a:p>
        </p:txBody>
      </p:sp>
      <p:pic>
        <p:nvPicPr>
          <p:cNvPr id="53" name="Picture 52" descr="lock.png"/>
          <p:cNvPicPr>
            <a:picLocks noChangeAspect="1"/>
          </p:cNvPicPr>
          <p:nvPr/>
        </p:nvPicPr>
        <p:blipFill>
          <a:blip r:embed="rId5"/>
          <a:stretch>
            <a:fillRect/>
          </a:stretch>
        </p:blipFill>
        <p:spPr>
          <a:xfrm>
            <a:off x="7243541" y="5681662"/>
            <a:ext cx="122849" cy="178689"/>
          </a:xfrm>
          <a:prstGeom prst="rect">
            <a:avLst/>
          </a:prstGeom>
        </p:spPr>
      </p:pic>
      <p:sp>
        <p:nvSpPr>
          <p:cNvPr id="54" name="TextBox 53"/>
          <p:cNvSpPr txBox="1"/>
          <p:nvPr/>
        </p:nvSpPr>
        <p:spPr>
          <a:xfrm>
            <a:off x="7403423" y="5690996"/>
            <a:ext cx="233771" cy="179069"/>
          </a:xfrm>
          <a:prstGeom prst="rect">
            <a:avLst/>
          </a:prstGeom>
          <a:noFill/>
        </p:spPr>
        <p:txBody>
          <a:bodyPr wrap="none" lIns="0" rIns="0" tIns="0" bIns="0">
            <a:spAutoFit/>
          </a:bodyPr>
          <a:lstStyle/>
          <a:p>
            <a:r>
              <a:rPr sz="1050" b="0">
                <a:solidFill>
                  <a:srgbClr val="1F1F1F"/>
                </a:solidFill>
                <a:latin typeface="Calibri"/>
              </a:rPr>
              <a:t>for</a:t>
            </a:r>
          </a:p>
        </p:txBody>
      </p:sp>
      <p:sp>
        <p:nvSpPr>
          <p:cNvPr id="55" name="TextBox 54"/>
          <p:cNvSpPr txBox="1"/>
          <p:nvPr/>
        </p:nvSpPr>
        <p:spPr>
          <a:xfrm>
            <a:off x="4732401" y="5851016"/>
            <a:ext cx="1062781" cy="179069"/>
          </a:xfrm>
          <a:prstGeom prst="rect">
            <a:avLst/>
          </a:prstGeom>
          <a:noFill/>
        </p:spPr>
        <p:txBody>
          <a:bodyPr wrap="none" lIns="0" rIns="0" tIns="0" bIns="0">
            <a:spAutoFit/>
          </a:bodyPr>
          <a:lstStyle/>
          <a:p>
            <a:r>
              <a:rPr sz="1050" b="0">
                <a:solidFill>
                  <a:srgbClr val="1F1F1F"/>
                </a:solidFill>
                <a:latin typeface="Calibri"/>
              </a:rPr>
              <a:t>Global as a whole.</a:t>
            </a:r>
          </a:p>
        </p:txBody>
      </p:sp>
      <p:sp>
        <p:nvSpPr>
          <p:cNvPr id="56" name="TextBox 55"/>
          <p:cNvSpPr txBox="1"/>
          <p:nvPr/>
        </p:nvSpPr>
        <p:spPr>
          <a:xfrm>
            <a:off x="8658225" y="5530976"/>
            <a:ext cx="3011462" cy="179069"/>
          </a:xfrm>
          <a:prstGeom prst="rect">
            <a:avLst/>
          </a:prstGeom>
          <a:noFill/>
        </p:spPr>
        <p:txBody>
          <a:bodyPr wrap="none" lIns="0" rIns="0" tIns="0" bIns="0">
            <a:spAutoFit/>
          </a:bodyPr>
          <a:lstStyle/>
          <a:p>
            <a:r>
              <a:rPr sz="1050" b="0">
                <a:solidFill>
                  <a:srgbClr val="1F1F1F"/>
                </a:solidFill>
                <a:latin typeface="Calibri"/>
              </a:rPr>
              <a:t>South Asia &amp; Pacific shows the widest gap between its</a:t>
            </a:r>
          </a:p>
        </p:txBody>
      </p:sp>
      <p:sp>
        <p:nvSpPr>
          <p:cNvPr id="57" name="TextBox 56"/>
          <p:cNvSpPr txBox="1"/>
          <p:nvPr/>
        </p:nvSpPr>
        <p:spPr>
          <a:xfrm>
            <a:off x="8658225" y="5690996"/>
            <a:ext cx="3143250" cy="179069"/>
          </a:xfrm>
          <a:prstGeom prst="rect">
            <a:avLst/>
          </a:prstGeom>
          <a:noFill/>
        </p:spPr>
        <p:txBody>
          <a:bodyPr wrap="none" lIns="0" rIns="0" tIns="0" bIns="0">
            <a:spAutoFit/>
          </a:bodyPr>
          <a:lstStyle/>
          <a:p>
            <a:r>
              <a:rPr sz="1050" b="0">
                <a:solidFill>
                  <a:srgbClr val="1F1F1F"/>
                </a:solidFill>
                <a:latin typeface="Calibri"/>
              </a:rPr>
              <a:t>cheapest and most expensive product type / chemistry at</a:t>
            </a:r>
          </a:p>
        </p:txBody>
      </p:sp>
      <p:pic>
        <p:nvPicPr>
          <p:cNvPr id="58" name="Picture 57" descr="lock.png"/>
          <p:cNvPicPr>
            <a:picLocks noChangeAspect="1"/>
          </p:cNvPicPr>
          <p:nvPr/>
        </p:nvPicPr>
        <p:blipFill>
          <a:blip r:embed="rId5"/>
          <a:stretch>
            <a:fillRect/>
          </a:stretch>
        </p:blipFill>
        <p:spPr>
          <a:xfrm>
            <a:off x="8645369" y="5841682"/>
            <a:ext cx="122849" cy="178689"/>
          </a:xfrm>
          <a:prstGeom prst="rect">
            <a:avLst/>
          </a:prstGeom>
        </p:spPr>
      </p:pic>
      <p:sp>
        <p:nvSpPr>
          <p:cNvPr id="59" name="TextBox 58"/>
          <p:cNvSpPr txBox="1"/>
          <p:nvPr/>
        </p:nvSpPr>
        <p:spPr>
          <a:xfrm>
            <a:off x="8805252" y="5851016"/>
            <a:ext cx="2730437" cy="179069"/>
          </a:xfrm>
          <a:prstGeom prst="rect">
            <a:avLst/>
          </a:prstGeom>
          <a:noFill/>
        </p:spPr>
        <p:txBody>
          <a:bodyPr wrap="none" lIns="0" rIns="0" tIns="0" bIns="0">
            <a:spAutoFit/>
          </a:bodyPr>
          <a:lstStyle/>
          <a:p>
            <a:r>
              <a:rPr sz="1050" b="0">
                <a:solidFill>
                  <a:srgbClr val="1F1F1F"/>
                </a:solidFill>
                <a:latin typeface="Calibri"/>
              </a:rPr>
              <a:t>, so product mix shifts move its average price the</a:t>
            </a:r>
          </a:p>
        </p:txBody>
      </p:sp>
      <p:sp>
        <p:nvSpPr>
          <p:cNvPr id="60" name="TextBox 59"/>
          <p:cNvSpPr txBox="1"/>
          <p:nvPr/>
        </p:nvSpPr>
        <p:spPr>
          <a:xfrm>
            <a:off x="8658225" y="6011036"/>
            <a:ext cx="383530" cy="179069"/>
          </a:xfrm>
          <a:prstGeom prst="rect">
            <a:avLst/>
          </a:prstGeom>
          <a:noFill/>
        </p:spPr>
        <p:txBody>
          <a:bodyPr wrap="none" lIns="0" rIns="0" tIns="0" bIns="0">
            <a:spAutoFit/>
          </a:bodyPr>
          <a:lstStyle/>
          <a:p>
            <a:r>
              <a:rPr sz="1050" b="0">
                <a:solidFill>
                  <a:srgbClr val="1F1F1F"/>
                </a:solidFill>
                <a:latin typeface="Calibri"/>
              </a:rPr>
              <a:t>most.</a:t>
            </a:r>
          </a:p>
        </p:txBody>
      </p:sp>
      <p:pic>
        <p:nvPicPr>
          <p:cNvPr id="61" name="Picture 60" descr="lock.png"/>
          <p:cNvPicPr>
            <a:picLocks noChangeAspect="1"/>
          </p:cNvPicPr>
          <p:nvPr/>
        </p:nvPicPr>
        <p:blipFill>
          <a:blip r:embed="rId5"/>
          <a:stretch>
            <a:fillRect/>
          </a:stretch>
        </p:blipFill>
        <p:spPr>
          <a:xfrm>
            <a:off x="3952821" y="3129375"/>
            <a:ext cx="482444" cy="701737"/>
          </a:xfrm>
          <a:prstGeom prst="rect">
            <a:avLst/>
          </a:prstGeom>
        </p:spPr>
      </p:pic>
      <p:sp>
        <p:nvSpPr>
          <p:cNvPr id="62" name="lockshield_13"/>
          <p:cNvSpPr/>
          <p:nvPr/>
        </p:nvSpPr>
        <p:spPr>
          <a:xfrm>
            <a:off x="347472" y="2014347"/>
            <a:ext cx="7406640" cy="301752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Waterproof Coatings Market Price Positioning &amp; Key Findings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positioning of each region on a common axis with FMI's key findings on where premiums and discounts sit</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Average selling price and price range by region on a shared price scale (US$/Units).</a:t>
            </a:r>
          </a:p>
        </p:txBody>
      </p:sp>
      <p:sp>
        <p:nvSpPr>
          <p:cNvPr id="11" name="Rounded Rectangle 10"/>
          <p:cNvSpPr/>
          <p:nvPr/>
        </p:nvSpPr>
        <p:spPr>
          <a:xfrm>
            <a:off x="142875" y="1317574"/>
            <a:ext cx="7696200" cy="5238811"/>
          </a:xfrm>
          <a:prstGeom prst="roundRect">
            <a:avLst>
              <a:gd name="adj" fmla="val 14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&amp; Range by Region</a:t>
            </a:r>
          </a:p>
        </p:txBody>
      </p:sp>
      <p:cxnSp>
        <p:nvCxnSpPr>
          <p:cNvPr id="13" name="Connector 12"/>
          <p:cNvCxnSpPr/>
          <p:nvPr/>
        </p:nvCxnSpPr>
        <p:spPr>
          <a:xfrm>
            <a:off x="13620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11442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1,041</a:t>
            </a:r>
          </a:p>
        </p:txBody>
      </p:sp>
      <p:cxnSp>
        <p:nvCxnSpPr>
          <p:cNvPr id="15" name="Connector 14"/>
          <p:cNvCxnSpPr/>
          <p:nvPr/>
        </p:nvCxnSpPr>
        <p:spPr>
          <a:xfrm>
            <a:off x="261175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36410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2,443</a:t>
            </a:r>
          </a:p>
        </p:txBody>
      </p:sp>
      <p:cxnSp>
        <p:nvCxnSpPr>
          <p:cNvPr id="17" name="Connector 16"/>
          <p:cNvCxnSpPr/>
          <p:nvPr/>
        </p:nvCxnSpPr>
        <p:spPr>
          <a:xfrm>
            <a:off x="386143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61378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3,845</a:t>
            </a:r>
          </a:p>
        </p:txBody>
      </p:sp>
      <p:cxnSp>
        <p:nvCxnSpPr>
          <p:cNvPr id="19" name="Connector 18"/>
          <p:cNvCxnSpPr/>
          <p:nvPr/>
        </p:nvCxnSpPr>
        <p:spPr>
          <a:xfrm>
            <a:off x="511111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86346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5,246</a:t>
            </a:r>
          </a:p>
        </p:txBody>
      </p:sp>
      <p:cxnSp>
        <p:nvCxnSpPr>
          <p:cNvPr id="21" name="Connector 20"/>
          <p:cNvCxnSpPr/>
          <p:nvPr/>
        </p:nvCxnSpPr>
        <p:spPr>
          <a:xfrm>
            <a:off x="636079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11314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6,648</a:t>
            </a:r>
          </a:p>
        </p:txBody>
      </p:sp>
      <p:cxnSp>
        <p:nvCxnSpPr>
          <p:cNvPr id="23" name="Connector 22"/>
          <p:cNvCxnSpPr/>
          <p:nvPr/>
        </p:nvCxnSpPr>
        <p:spPr>
          <a:xfrm>
            <a:off x="76104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36282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8,050</a:t>
            </a:r>
          </a:p>
        </p:txBody>
      </p:sp>
      <p:sp>
        <p:nvSpPr>
          <p:cNvPr id="25" name="TextBox 24"/>
          <p:cNvSpPr txBox="1"/>
          <p:nvPr/>
        </p:nvSpPr>
        <p:spPr>
          <a:xfrm>
            <a:off x="238125" y="2151696"/>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North America</a:t>
            </a:r>
          </a:p>
        </p:txBody>
      </p:sp>
      <p:sp>
        <p:nvSpPr>
          <p:cNvPr id="26" name="Rectangle 25"/>
          <p:cNvSpPr/>
          <p:nvPr/>
        </p:nvSpPr>
        <p:spPr>
          <a:xfrm>
            <a:off x="3901207" y="2076093"/>
            <a:ext cx="3025849"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764041" y="2175509"/>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8125" y="2772191"/>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Latin America</a:t>
            </a:r>
          </a:p>
        </p:txBody>
      </p:sp>
      <p:sp>
        <p:nvSpPr>
          <p:cNvPr id="29" name="Rectangle 28"/>
          <p:cNvSpPr/>
          <p:nvPr/>
        </p:nvSpPr>
        <p:spPr>
          <a:xfrm>
            <a:off x="2954422" y="2696587"/>
            <a:ext cx="2185454"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283890" y="2796003"/>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 y="3392685"/>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East Asia</a:t>
            </a:r>
          </a:p>
        </p:txBody>
      </p:sp>
      <p:sp>
        <p:nvSpPr>
          <p:cNvPr id="32" name="Rectangle 31"/>
          <p:cNvSpPr/>
          <p:nvPr/>
        </p:nvSpPr>
        <p:spPr>
          <a:xfrm>
            <a:off x="2216464" y="3317082"/>
            <a:ext cx="1562421"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151422" y="3416498"/>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8125" y="4013180"/>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South Asia &amp; Pacific</a:t>
            </a:r>
          </a:p>
        </p:txBody>
      </p:sp>
      <p:sp>
        <p:nvSpPr>
          <p:cNvPr id="35" name="Rectangle 34"/>
          <p:cNvSpPr/>
          <p:nvPr/>
        </p:nvSpPr>
        <p:spPr>
          <a:xfrm>
            <a:off x="2045494" y="3937576"/>
            <a:ext cx="1413337"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880615" y="4036992"/>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38125" y="4633674"/>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Western Europe</a:t>
            </a:r>
          </a:p>
        </p:txBody>
      </p:sp>
      <p:sp>
        <p:nvSpPr>
          <p:cNvPr id="38" name="Rectangle 37"/>
          <p:cNvSpPr/>
          <p:nvPr/>
        </p:nvSpPr>
        <p:spPr>
          <a:xfrm>
            <a:off x="3729209" y="4558070"/>
            <a:ext cx="2868934"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5490338" y="465748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8125" y="5254169"/>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Eastern Europe</a:t>
            </a:r>
          </a:p>
        </p:txBody>
      </p:sp>
      <p:sp>
        <p:nvSpPr>
          <p:cNvPr id="41" name="Rectangle 40"/>
          <p:cNvSpPr/>
          <p:nvPr/>
        </p:nvSpPr>
        <p:spPr>
          <a:xfrm>
            <a:off x="3106516" y="5178565"/>
            <a:ext cx="2339796"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538949" y="5277981"/>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38125" y="5874663"/>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Middle East &amp; Africa</a:t>
            </a:r>
          </a:p>
        </p:txBody>
      </p:sp>
      <p:sp>
        <p:nvSpPr>
          <p:cNvPr id="44" name="Rectangle 43"/>
          <p:cNvSpPr/>
          <p:nvPr/>
        </p:nvSpPr>
        <p:spPr>
          <a:xfrm>
            <a:off x="2773143" y="5799059"/>
            <a:ext cx="2048743"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014579" y="5898475"/>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362075" y="1727149"/>
            <a:ext cx="114300" cy="114300"/>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495425" y="1717624"/>
            <a:ext cx="838200" cy="133350"/>
          </a:xfrm>
          <a:prstGeom prst="rect">
            <a:avLst/>
          </a:prstGeom>
          <a:noFill/>
        </p:spPr>
        <p:txBody>
          <a:bodyPr wrap="square" lIns="28575" rIns="28575" tIns="9525" bIns="9525">
            <a:spAutoFit/>
          </a:bodyPr>
          <a:lstStyle/>
          <a:p>
            <a:pPr algn="l"/>
            <a:r>
              <a:rPr sz="1100" b="0">
                <a:solidFill>
                  <a:srgbClr val="2E2E2E"/>
                </a:solidFill>
                <a:latin typeface="Calibri"/>
              </a:rPr>
              <a:t>Average Price</a:t>
            </a:r>
          </a:p>
        </p:txBody>
      </p:sp>
      <p:sp>
        <p:nvSpPr>
          <p:cNvPr id="48" name="Rectangle 47"/>
          <p:cNvSpPr/>
          <p:nvPr/>
        </p:nvSpPr>
        <p:spPr>
          <a:xfrm>
            <a:off x="2390775" y="1736674"/>
            <a:ext cx="190500" cy="114300"/>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619375" y="1717624"/>
            <a:ext cx="800100" cy="133350"/>
          </a:xfrm>
          <a:prstGeom prst="rect">
            <a:avLst/>
          </a:prstGeom>
          <a:noFill/>
        </p:spPr>
        <p:txBody>
          <a:bodyPr wrap="square" lIns="28575" rIns="28575" tIns="9525" bIns="9525">
            <a:spAutoFit/>
          </a:bodyPr>
          <a:lstStyle/>
          <a:p>
            <a:pPr algn="l"/>
            <a:r>
              <a:rPr sz="1100" b="0">
                <a:solidFill>
                  <a:srgbClr val="2E2E2E"/>
                </a:solidFill>
                <a:latin typeface="Calibri"/>
              </a:rPr>
              <a:t>Price Range</a:t>
            </a:r>
          </a:p>
        </p:txBody>
      </p:sp>
      <p:sp>
        <p:nvSpPr>
          <p:cNvPr id="50" name="Rounded Rectangle 49"/>
          <p:cNvSpPr/>
          <p:nvPr/>
        </p:nvSpPr>
        <p:spPr>
          <a:xfrm>
            <a:off x="7915275" y="1317574"/>
            <a:ext cx="4133850" cy="3924545"/>
          </a:xfrm>
          <a:prstGeom prst="roundRect">
            <a:avLst>
              <a:gd name="adj" fmla="val 194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52" name="Rectangle 51"/>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048625" y="1727149"/>
            <a:ext cx="3867150" cy="343877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54" name="Rounded Rectangle 53"/>
          <p:cNvSpPr/>
          <p:nvPr/>
        </p:nvSpPr>
        <p:spPr>
          <a:xfrm>
            <a:off x="7915275" y="5351641"/>
            <a:ext cx="4133850" cy="1204744"/>
          </a:xfrm>
          <a:prstGeom prst="roundRect">
            <a:avLst>
              <a:gd name="adj" fmla="val 63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Note: the above information is indicative in nature and does not constitute any form of analysis.</a:t>
            </a:r>
          </a:p>
        </p:txBody>
      </p:sp>
      <p:sp>
        <p:nvSpPr>
          <p:cNvPr id="55" name="TextBox 5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56" name="TextBox 55"/>
          <p:cNvSpPr txBox="1"/>
          <p:nvPr/>
        </p:nvSpPr>
        <p:spPr>
          <a:xfrm>
            <a:off x="8048625" y="1736673"/>
            <a:ext cx="3807891" cy="194310"/>
          </a:xfrm>
          <a:prstGeom prst="rect">
            <a:avLst/>
          </a:prstGeom>
          <a:noFill/>
        </p:spPr>
        <p:txBody>
          <a:bodyPr wrap="none" lIns="0" rIns="0" tIns="0" bIns="0">
            <a:spAutoFit/>
          </a:bodyPr>
          <a:lstStyle/>
          <a:p>
            <a:r>
              <a:rPr sz="1150" b="0">
                <a:solidFill>
                  <a:srgbClr val="2E2E2E"/>
                </a:solidFill>
                <a:latin typeface="Calibri"/>
              </a:rPr>
              <a:t>Polyurethane (PU) waterproof coatings segment is expected to</a:t>
            </a:r>
          </a:p>
        </p:txBody>
      </p:sp>
      <p:sp>
        <p:nvSpPr>
          <p:cNvPr id="57" name="TextBox 56"/>
          <p:cNvSpPr txBox="1"/>
          <p:nvPr/>
        </p:nvSpPr>
        <p:spPr>
          <a:xfrm>
            <a:off x="8048625" y="1911934"/>
            <a:ext cx="2627225" cy="194310"/>
          </a:xfrm>
          <a:prstGeom prst="rect">
            <a:avLst/>
          </a:prstGeom>
          <a:noFill/>
        </p:spPr>
        <p:txBody>
          <a:bodyPr wrap="none" lIns="0" rIns="0" tIns="0" bIns="0">
            <a:spAutoFit/>
          </a:bodyPr>
          <a:lstStyle/>
          <a:p>
            <a:r>
              <a:rPr sz="1150" b="0">
                <a:solidFill>
                  <a:srgbClr val="2E2E2E"/>
                </a:solidFill>
                <a:latin typeface="Calibri"/>
              </a:rPr>
              <a:t>command the highest average price of US$</a:t>
            </a:r>
          </a:p>
        </p:txBody>
      </p:sp>
      <p:pic>
        <p:nvPicPr>
          <p:cNvPr id="58" name="Picture 57" descr="lock.png"/>
          <p:cNvPicPr>
            <a:picLocks noChangeAspect="1"/>
          </p:cNvPicPr>
          <p:nvPr/>
        </p:nvPicPr>
        <p:blipFill>
          <a:blip r:embed="rId4"/>
          <a:stretch>
            <a:fillRect/>
          </a:stretch>
        </p:blipFill>
        <p:spPr>
          <a:xfrm>
            <a:off x="10625004" y="1901710"/>
            <a:ext cx="134549" cy="195707"/>
          </a:xfrm>
          <a:prstGeom prst="rect">
            <a:avLst/>
          </a:prstGeom>
        </p:spPr>
      </p:pic>
      <p:sp>
        <p:nvSpPr>
          <p:cNvPr id="59" name="TextBox 58"/>
          <p:cNvSpPr txBox="1"/>
          <p:nvPr/>
        </p:nvSpPr>
        <p:spPr>
          <a:xfrm>
            <a:off x="10800113" y="1911934"/>
            <a:ext cx="706611" cy="194310"/>
          </a:xfrm>
          <a:prstGeom prst="rect">
            <a:avLst/>
          </a:prstGeom>
          <a:noFill/>
        </p:spPr>
        <p:txBody>
          <a:bodyPr wrap="none" lIns="0" rIns="0" tIns="0" bIns="0">
            <a:spAutoFit/>
          </a:bodyPr>
          <a:lstStyle/>
          <a:p>
            <a:r>
              <a:rPr sz="1150" b="0">
                <a:solidFill>
                  <a:srgbClr val="2E2E2E"/>
                </a:solidFill>
                <a:latin typeface="Calibri"/>
              </a:rPr>
              <a:t>per Unit in</a:t>
            </a:r>
          </a:p>
        </p:txBody>
      </p:sp>
      <p:sp>
        <p:nvSpPr>
          <p:cNvPr id="60" name="TextBox 59"/>
          <p:cNvSpPr txBox="1"/>
          <p:nvPr/>
        </p:nvSpPr>
        <p:spPr>
          <a:xfrm>
            <a:off x="8048625" y="2087194"/>
            <a:ext cx="3809563" cy="194310"/>
          </a:xfrm>
          <a:prstGeom prst="rect">
            <a:avLst/>
          </a:prstGeom>
          <a:noFill/>
        </p:spPr>
        <p:txBody>
          <a:bodyPr wrap="none" lIns="0" rIns="0" tIns="0" bIns="0">
            <a:spAutoFit/>
          </a:bodyPr>
          <a:lstStyle/>
          <a:p>
            <a:r>
              <a:rPr sz="1150" b="0">
                <a:solidFill>
                  <a:srgbClr val="2E2E2E"/>
                </a:solidFill>
                <a:latin typeface="Calibri"/>
              </a:rPr>
              <a:t>2036. Average selling price of waterproof coatings is estimated</a:t>
            </a:r>
          </a:p>
        </p:txBody>
      </p:sp>
      <p:sp>
        <p:nvSpPr>
          <p:cNvPr id="61" name="TextBox 60"/>
          <p:cNvSpPr txBox="1"/>
          <p:nvPr/>
        </p:nvSpPr>
        <p:spPr>
          <a:xfrm>
            <a:off x="8048625" y="2262454"/>
            <a:ext cx="463289" cy="194310"/>
          </a:xfrm>
          <a:prstGeom prst="rect">
            <a:avLst/>
          </a:prstGeom>
          <a:noFill/>
        </p:spPr>
        <p:txBody>
          <a:bodyPr wrap="none" lIns="0" rIns="0" tIns="0" bIns="0">
            <a:spAutoFit/>
          </a:bodyPr>
          <a:lstStyle/>
          <a:p>
            <a:r>
              <a:rPr sz="1150" b="0">
                <a:solidFill>
                  <a:srgbClr val="2E2E2E"/>
                </a:solidFill>
                <a:latin typeface="Calibri"/>
              </a:rPr>
              <a:t>at US$</a:t>
            </a:r>
          </a:p>
        </p:txBody>
      </p:sp>
      <p:pic>
        <p:nvPicPr>
          <p:cNvPr id="62" name="Picture 61" descr="lock.png"/>
          <p:cNvPicPr>
            <a:picLocks noChangeAspect="1"/>
          </p:cNvPicPr>
          <p:nvPr/>
        </p:nvPicPr>
        <p:blipFill>
          <a:blip r:embed="rId4"/>
          <a:stretch>
            <a:fillRect/>
          </a:stretch>
        </p:blipFill>
        <p:spPr>
          <a:xfrm>
            <a:off x="8461068" y="2252230"/>
            <a:ext cx="134549" cy="195707"/>
          </a:xfrm>
          <a:prstGeom prst="rect">
            <a:avLst/>
          </a:prstGeom>
        </p:spPr>
      </p:pic>
      <p:sp>
        <p:nvSpPr>
          <p:cNvPr id="63" name="TextBox 62"/>
          <p:cNvSpPr txBox="1"/>
          <p:nvPr/>
        </p:nvSpPr>
        <p:spPr>
          <a:xfrm>
            <a:off x="8636177" y="2262454"/>
            <a:ext cx="3120144" cy="194310"/>
          </a:xfrm>
          <a:prstGeom prst="rect">
            <a:avLst/>
          </a:prstGeom>
          <a:noFill/>
        </p:spPr>
        <p:txBody>
          <a:bodyPr wrap="none" lIns="0" rIns="0" tIns="0" bIns="0">
            <a:spAutoFit/>
          </a:bodyPr>
          <a:lstStyle/>
          <a:p>
            <a:r>
              <a:rPr sz="1150" b="0">
                <a:solidFill>
                  <a:srgbClr val="2E2E2E"/>
                </a:solidFill>
                <a:latin typeface="Calibri"/>
              </a:rPr>
              <a:t>per Unit in 2025 and is projected to remain broadly</a:t>
            </a:r>
          </a:p>
        </p:txBody>
      </p:sp>
      <p:sp>
        <p:nvSpPr>
          <p:cNvPr id="64" name="TextBox 63"/>
          <p:cNvSpPr txBox="1"/>
          <p:nvPr/>
        </p:nvSpPr>
        <p:spPr>
          <a:xfrm>
            <a:off x="8048625" y="2437714"/>
            <a:ext cx="855513" cy="194310"/>
          </a:xfrm>
          <a:prstGeom prst="rect">
            <a:avLst/>
          </a:prstGeom>
          <a:noFill/>
        </p:spPr>
        <p:txBody>
          <a:bodyPr wrap="none" lIns="0" rIns="0" tIns="0" bIns="0">
            <a:spAutoFit/>
          </a:bodyPr>
          <a:lstStyle/>
          <a:p>
            <a:r>
              <a:rPr sz="1150" b="0">
                <a:solidFill>
                  <a:srgbClr val="2E2E2E"/>
                </a:solidFill>
                <a:latin typeface="Calibri"/>
              </a:rPr>
              <a:t>stable at US$</a:t>
            </a:r>
          </a:p>
        </p:txBody>
      </p:sp>
      <p:pic>
        <p:nvPicPr>
          <p:cNvPr id="65" name="Picture 64" descr="lock.png"/>
          <p:cNvPicPr>
            <a:picLocks noChangeAspect="1"/>
          </p:cNvPicPr>
          <p:nvPr/>
        </p:nvPicPr>
        <p:blipFill>
          <a:blip r:embed="rId4"/>
          <a:stretch>
            <a:fillRect/>
          </a:stretch>
        </p:blipFill>
        <p:spPr>
          <a:xfrm>
            <a:off x="8853292" y="2427490"/>
            <a:ext cx="134549" cy="195707"/>
          </a:xfrm>
          <a:prstGeom prst="rect">
            <a:avLst/>
          </a:prstGeom>
        </p:spPr>
      </p:pic>
      <p:sp>
        <p:nvSpPr>
          <p:cNvPr id="66" name="TextBox 65"/>
          <p:cNvSpPr txBox="1"/>
          <p:nvPr/>
        </p:nvSpPr>
        <p:spPr>
          <a:xfrm>
            <a:off x="9028401" y="2437714"/>
            <a:ext cx="1105681" cy="194310"/>
          </a:xfrm>
          <a:prstGeom prst="rect">
            <a:avLst/>
          </a:prstGeom>
          <a:noFill/>
        </p:spPr>
        <p:txBody>
          <a:bodyPr wrap="none" lIns="0" rIns="0" tIns="0" bIns="0">
            <a:spAutoFit/>
          </a:bodyPr>
          <a:lstStyle/>
          <a:p>
            <a:r>
              <a:rPr sz="1150" b="0">
                <a:solidFill>
                  <a:srgbClr val="2E2E2E"/>
                </a:solidFill>
                <a:latin typeface="Calibri"/>
              </a:rPr>
              <a:t>per Unit by 2036.</a:t>
            </a:r>
          </a:p>
        </p:txBody>
      </p:sp>
      <p:sp>
        <p:nvSpPr>
          <p:cNvPr id="67" name="TextBox 66"/>
          <p:cNvSpPr txBox="1"/>
          <p:nvPr/>
        </p:nvSpPr>
        <p:spPr>
          <a:xfrm>
            <a:off x="8048625" y="2665551"/>
            <a:ext cx="3783074" cy="194310"/>
          </a:xfrm>
          <a:prstGeom prst="rect">
            <a:avLst/>
          </a:prstGeom>
          <a:noFill/>
        </p:spPr>
        <p:txBody>
          <a:bodyPr wrap="none" lIns="0" rIns="0" tIns="0" bIns="0">
            <a:spAutoFit/>
          </a:bodyPr>
          <a:lstStyle/>
          <a:p>
            <a:r>
              <a:rPr sz="1150" b="0">
                <a:solidFill>
                  <a:srgbClr val="2E2E2E"/>
                </a:solidFill>
                <a:latin typeface="Calibri"/>
              </a:rPr>
              <a:t>North America is the highest-priced region, while South Asia &amp;</a:t>
            </a:r>
          </a:p>
        </p:txBody>
      </p:sp>
      <p:sp>
        <p:nvSpPr>
          <p:cNvPr id="68" name="TextBox 67"/>
          <p:cNvSpPr txBox="1"/>
          <p:nvPr/>
        </p:nvSpPr>
        <p:spPr>
          <a:xfrm>
            <a:off x="8048625" y="2840811"/>
            <a:ext cx="3787353" cy="194310"/>
          </a:xfrm>
          <a:prstGeom prst="rect">
            <a:avLst/>
          </a:prstGeom>
          <a:noFill/>
        </p:spPr>
        <p:txBody>
          <a:bodyPr wrap="none" lIns="0" rIns="0" tIns="0" bIns="0">
            <a:spAutoFit/>
          </a:bodyPr>
          <a:lstStyle/>
          <a:p>
            <a:r>
              <a:rPr sz="1150" b="0">
                <a:solidFill>
                  <a:srgbClr val="2E2E2E"/>
                </a:solidFill>
                <a:latin typeface="Calibri"/>
              </a:rPr>
              <a:t>Pacific is the most price-competitive market. The orange dot is</a:t>
            </a:r>
          </a:p>
        </p:txBody>
      </p:sp>
      <p:sp>
        <p:nvSpPr>
          <p:cNvPr id="69" name="TextBox 68"/>
          <p:cNvSpPr txBox="1"/>
          <p:nvPr/>
        </p:nvSpPr>
        <p:spPr>
          <a:xfrm>
            <a:off x="8048625" y="3016071"/>
            <a:ext cx="3517503" cy="194310"/>
          </a:xfrm>
          <a:prstGeom prst="rect">
            <a:avLst/>
          </a:prstGeom>
          <a:noFill/>
        </p:spPr>
        <p:txBody>
          <a:bodyPr wrap="none" lIns="0" rIns="0" tIns="0" bIns="0">
            <a:spAutoFit/>
          </a:bodyPr>
          <a:lstStyle/>
          <a:p>
            <a:r>
              <a:rPr sz="1150" b="0">
                <a:solidFill>
                  <a:srgbClr val="2E2E2E"/>
                </a:solidFill>
                <a:latin typeface="Calibri"/>
              </a:rPr>
              <a:t>each region's average selling price; the blue band is its full</a:t>
            </a:r>
          </a:p>
        </p:txBody>
      </p:sp>
      <p:sp>
        <p:nvSpPr>
          <p:cNvPr id="70" name="TextBox 69"/>
          <p:cNvSpPr txBox="1"/>
          <p:nvPr/>
        </p:nvSpPr>
        <p:spPr>
          <a:xfrm>
            <a:off x="8048625" y="3191331"/>
            <a:ext cx="3318395" cy="194310"/>
          </a:xfrm>
          <a:prstGeom prst="rect">
            <a:avLst/>
          </a:prstGeom>
          <a:noFill/>
        </p:spPr>
        <p:txBody>
          <a:bodyPr wrap="none" lIns="0" rIns="0" tIns="0" bIns="0">
            <a:spAutoFit/>
          </a:bodyPr>
          <a:lstStyle/>
          <a:p>
            <a:r>
              <a:rPr sz="1150" b="0">
                <a:solidFill>
                  <a:srgbClr val="2E2E2E"/>
                </a:solidFill>
                <a:latin typeface="Calibri"/>
              </a:rPr>
              <a:t>low-to-high price range, all derived as Value ÷ Volume.</a:t>
            </a:r>
          </a:p>
        </p:txBody>
      </p:sp>
      <p:sp>
        <p:nvSpPr>
          <p:cNvPr id="71" name="TextBox 70"/>
          <p:cNvSpPr txBox="1"/>
          <p:nvPr/>
        </p:nvSpPr>
        <p:spPr>
          <a:xfrm>
            <a:off x="8048625" y="3419169"/>
            <a:ext cx="3691793" cy="194310"/>
          </a:xfrm>
          <a:prstGeom prst="rect">
            <a:avLst/>
          </a:prstGeom>
          <a:noFill/>
        </p:spPr>
        <p:txBody>
          <a:bodyPr wrap="none" lIns="0" rIns="0" tIns="0" bIns="0">
            <a:spAutoFit/>
          </a:bodyPr>
          <a:lstStyle/>
          <a:p>
            <a:r>
              <a:rPr sz="1150" b="0">
                <a:solidFill>
                  <a:srgbClr val="2E2E2E"/>
                </a:solidFill>
                <a:latin typeface="Calibri"/>
              </a:rPr>
              <a:t>Narrow bands point to commoditised, price-led competition;</a:t>
            </a:r>
          </a:p>
        </p:txBody>
      </p:sp>
      <p:sp>
        <p:nvSpPr>
          <p:cNvPr id="72" name="TextBox 71"/>
          <p:cNvSpPr txBox="1"/>
          <p:nvPr/>
        </p:nvSpPr>
        <p:spPr>
          <a:xfrm>
            <a:off x="8048625" y="3594429"/>
            <a:ext cx="3812170" cy="194310"/>
          </a:xfrm>
          <a:prstGeom prst="rect">
            <a:avLst/>
          </a:prstGeom>
          <a:noFill/>
        </p:spPr>
        <p:txBody>
          <a:bodyPr wrap="none" lIns="0" rIns="0" tIns="0" bIns="0">
            <a:spAutoFit/>
          </a:bodyPr>
          <a:lstStyle/>
          <a:p>
            <a:r>
              <a:rPr sz="1150" b="0">
                <a:solidFill>
                  <a:srgbClr val="2E2E2E"/>
                </a:solidFill>
                <a:latin typeface="Calibri"/>
              </a:rPr>
              <a:t>wider bands flag premiumisation headroom to trade buyers up</a:t>
            </a:r>
          </a:p>
        </p:txBody>
      </p:sp>
      <p:sp>
        <p:nvSpPr>
          <p:cNvPr id="73" name="TextBox 72"/>
          <p:cNvSpPr txBox="1"/>
          <p:nvPr/>
        </p:nvSpPr>
        <p:spPr>
          <a:xfrm>
            <a:off x="8048625" y="3769689"/>
            <a:ext cx="558279" cy="194310"/>
          </a:xfrm>
          <a:prstGeom prst="rect">
            <a:avLst/>
          </a:prstGeom>
          <a:noFill/>
        </p:spPr>
        <p:txBody>
          <a:bodyPr wrap="none" lIns="0" rIns="0" tIns="0" bIns="0">
            <a:spAutoFit/>
          </a:bodyPr>
          <a:lstStyle/>
          <a:p>
            <a:r>
              <a:rPr sz="1150" b="0">
                <a:solidFill>
                  <a:srgbClr val="2E2E2E"/>
                </a:solidFill>
                <a:latin typeface="Calibri"/>
              </a:rPr>
              <a:t>the mix.</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Key Pricing Drivers Influencing Waterproof Coatings Market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input costs, market conditions and competitive forces shaping pricing strategies and profitability</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Analysis of input costs, market conditions, and competitive forces shaping pricing strategies and profitability across the value chain</a:t>
            </a:r>
          </a:p>
        </p:txBody>
      </p:sp>
      <p:sp>
        <p:nvSpPr>
          <p:cNvPr id="11" name="Rounded Rectangle 10"/>
          <p:cNvSpPr/>
          <p:nvPr/>
        </p:nvSpPr>
        <p:spPr>
          <a:xfrm>
            <a:off x="142875" y="1354081"/>
            <a:ext cx="7029450" cy="5220558"/>
          </a:xfrm>
          <a:prstGeom prst="roundRect">
            <a:avLst>
              <a:gd name="adj" fmla="val 14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411231"/>
            <a:ext cx="6838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Impacting Factors</a:t>
            </a:r>
          </a:p>
        </p:txBody>
      </p:sp>
      <p:sp>
        <p:nvSpPr>
          <p:cNvPr id="13" name="Freeform 12"/>
          <p:cNvSpPr/>
          <p:nvPr/>
        </p:nvSpPr>
        <p:spPr>
          <a:xfrm>
            <a:off x="3295650" y="3705225"/>
            <a:ext cx="723900" cy="752475"/>
          </a:xfrm>
          <a:custGeom>
            <a:avLst/>
            <a:gdLst/>
            <a:ahLst/>
            <a:cxnLst/>
            <a:rect l="l" t="t" r="r" b="b"/>
            <a:pathLst>
              <a:path w="76" h="79">
                <a:moveTo>
                  <a:pt x="38" y="0"/>
                </a:moveTo>
                <a:lnTo>
                  <a:pt x="61" y="7"/>
                </a:lnTo>
                <a:lnTo>
                  <a:pt x="76" y="27"/>
                </a:lnTo>
                <a:lnTo>
                  <a:pt x="76" y="51"/>
                </a:lnTo>
                <a:lnTo>
                  <a:pt x="61" y="71"/>
                </a:lnTo>
                <a:lnTo>
                  <a:pt x="38" y="79"/>
                </a:lnTo>
                <a:lnTo>
                  <a:pt x="15" y="71"/>
                </a:lnTo>
                <a:lnTo>
                  <a:pt x="0" y="51"/>
                </a:lnTo>
                <a:lnTo>
                  <a:pt x="0" y="27"/>
                </a:lnTo>
                <a:lnTo>
                  <a:pt x="15" y="7"/>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943225" y="3324225"/>
            <a:ext cx="1428750" cy="1504950"/>
          </a:xfrm>
          <a:custGeom>
            <a:avLst/>
            <a:gdLst/>
            <a:ahLst/>
            <a:cxnLst/>
            <a:rect l="l" t="t" r="r" b="b"/>
            <a:pathLst>
              <a:path w="150" h="158">
                <a:moveTo>
                  <a:pt x="75" y="0"/>
                </a:moveTo>
                <a:lnTo>
                  <a:pt x="122" y="15"/>
                </a:lnTo>
                <a:lnTo>
                  <a:pt x="150" y="55"/>
                </a:lnTo>
                <a:lnTo>
                  <a:pt x="150" y="104"/>
                </a:lnTo>
                <a:lnTo>
                  <a:pt x="122" y="143"/>
                </a:lnTo>
                <a:lnTo>
                  <a:pt x="75" y="158"/>
                </a:lnTo>
                <a:lnTo>
                  <a:pt x="28" y="143"/>
                </a:lnTo>
                <a:lnTo>
                  <a:pt x="0" y="104"/>
                </a:lnTo>
                <a:lnTo>
                  <a:pt x="0" y="55"/>
                </a:lnTo>
                <a:lnTo>
                  <a:pt x="28" y="15"/>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581275" y="2943225"/>
            <a:ext cx="2152650" cy="2266950"/>
          </a:xfrm>
          <a:custGeom>
            <a:avLst/>
            <a:gdLst/>
            <a:ahLst/>
            <a:cxnLst/>
            <a:rect l="l" t="t" r="r" b="b"/>
            <a:pathLst>
              <a:path w="226" h="238">
                <a:moveTo>
                  <a:pt x="113" y="0"/>
                </a:moveTo>
                <a:lnTo>
                  <a:pt x="183" y="23"/>
                </a:lnTo>
                <a:lnTo>
                  <a:pt x="226" y="82"/>
                </a:lnTo>
                <a:lnTo>
                  <a:pt x="226" y="156"/>
                </a:lnTo>
                <a:lnTo>
                  <a:pt x="183" y="215"/>
                </a:lnTo>
                <a:lnTo>
                  <a:pt x="113" y="238"/>
                </a:lnTo>
                <a:lnTo>
                  <a:pt x="43" y="215"/>
                </a:lnTo>
                <a:lnTo>
                  <a:pt x="0" y="156"/>
                </a:lnTo>
                <a:lnTo>
                  <a:pt x="0" y="82"/>
                </a:lnTo>
                <a:lnTo>
                  <a:pt x="43" y="23"/>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219325" y="2571750"/>
            <a:ext cx="2876550" cy="3019425"/>
          </a:xfrm>
          <a:custGeom>
            <a:avLst/>
            <a:gdLst/>
            <a:ahLst/>
            <a:cxnLst/>
            <a:rect l="l" t="t" r="r" b="b"/>
            <a:pathLst>
              <a:path w="302" h="317">
                <a:moveTo>
                  <a:pt x="151" y="0"/>
                </a:moveTo>
                <a:lnTo>
                  <a:pt x="244" y="30"/>
                </a:lnTo>
                <a:lnTo>
                  <a:pt x="302" y="109"/>
                </a:lnTo>
                <a:lnTo>
                  <a:pt x="302" y="207"/>
                </a:lnTo>
                <a:lnTo>
                  <a:pt x="244" y="286"/>
                </a:lnTo>
                <a:lnTo>
                  <a:pt x="151" y="317"/>
                </a:lnTo>
                <a:lnTo>
                  <a:pt x="58" y="286"/>
                </a:lnTo>
                <a:lnTo>
                  <a:pt x="0" y="207"/>
                </a:lnTo>
                <a:lnTo>
                  <a:pt x="0" y="109"/>
                </a:lnTo>
                <a:lnTo>
                  <a:pt x="58" y="30"/>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1866900" y="2190750"/>
            <a:ext cx="3581400" cy="3771900"/>
          </a:xfrm>
          <a:custGeom>
            <a:avLst/>
            <a:gdLst/>
            <a:ahLst/>
            <a:cxnLst/>
            <a:rect l="l" t="t" r="r" b="b"/>
            <a:pathLst>
              <a:path w="376" h="396">
                <a:moveTo>
                  <a:pt x="188" y="0"/>
                </a:moveTo>
                <a:lnTo>
                  <a:pt x="304" y="38"/>
                </a:lnTo>
                <a:lnTo>
                  <a:pt x="376" y="137"/>
                </a:lnTo>
                <a:lnTo>
                  <a:pt x="376" y="259"/>
                </a:lnTo>
                <a:lnTo>
                  <a:pt x="304" y="358"/>
                </a:lnTo>
                <a:lnTo>
                  <a:pt x="188" y="396"/>
                </a:lnTo>
                <a:lnTo>
                  <a:pt x="72" y="358"/>
                </a:lnTo>
                <a:lnTo>
                  <a:pt x="0" y="259"/>
                </a:lnTo>
                <a:lnTo>
                  <a:pt x="0" y="137"/>
                </a:lnTo>
                <a:lnTo>
                  <a:pt x="72" y="38"/>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V="1">
            <a:off x="3657600" y="2192281"/>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657600"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657600"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657600"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657600"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657600" y="4078660"/>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2548814"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863547"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1863547"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548814"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2495550" y="2381250"/>
            <a:ext cx="2505075" cy="3209925"/>
          </a:xfrm>
          <a:custGeom>
            <a:avLst/>
            <a:gdLst/>
            <a:ahLst/>
            <a:cxnLst/>
            <a:rect l="l" t="t" r="r" b="b"/>
            <a:pathLst>
              <a:path w="263" h="337">
                <a:moveTo>
                  <a:pt x="122" y="0"/>
                </a:moveTo>
                <a:lnTo>
                  <a:pt x="203" y="66"/>
                </a:lnTo>
                <a:lnTo>
                  <a:pt x="244" y="138"/>
                </a:lnTo>
                <a:lnTo>
                  <a:pt x="263" y="224"/>
                </a:lnTo>
                <a:lnTo>
                  <a:pt x="221" y="314"/>
                </a:lnTo>
                <a:lnTo>
                  <a:pt x="122" y="337"/>
                </a:lnTo>
                <a:lnTo>
                  <a:pt x="52" y="274"/>
                </a:lnTo>
                <a:lnTo>
                  <a:pt x="18" y="212"/>
                </a:lnTo>
                <a:lnTo>
                  <a:pt x="0" y="138"/>
                </a:lnTo>
                <a:lnTo>
                  <a:pt x="70" y="106"/>
                </a:lnTo>
                <a:close/>
              </a:path>
            </a:pathLst>
          </a:custGeom>
          <a:solidFill>
            <a:srgbClr val="2B5F8E">
              <a:alpha val="62000"/>
            </a:srgbClr>
          </a:solidFill>
          <a:ln w="27940">
            <a:solidFill>
              <a:srgbClr val="2B5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624262" y="234758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400412" y="2977044"/>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790397"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969802" y="4482515"/>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566730" y="534251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624262" y="5554426"/>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958991" y="496099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637533" y="436593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458128"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125309" y="335857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86175" y="3634709"/>
            <a:ext cx="285750" cy="123825"/>
          </a:xfrm>
          <a:prstGeom prst="rect">
            <a:avLst/>
          </a:prstGeom>
          <a:noFill/>
        </p:spPr>
        <p:txBody>
          <a:bodyPr wrap="none" lIns="0" rIns="0" tIns="0" bIns="0" anchor="ctr">
            <a:spAutoFit/>
          </a:bodyPr>
          <a:lstStyle/>
          <a:p>
            <a:pPr algn="l"/>
            <a:r>
              <a:rPr sz="1100" b="0">
                <a:solidFill>
                  <a:srgbClr val="6C7A89"/>
                </a:solidFill>
                <a:latin typeface="Calibri"/>
              </a:rPr>
              <a:t>2</a:t>
            </a:r>
          </a:p>
        </p:txBody>
      </p:sp>
      <p:sp>
        <p:nvSpPr>
          <p:cNvPr id="40" name="TextBox 39"/>
          <p:cNvSpPr txBox="1"/>
          <p:nvPr/>
        </p:nvSpPr>
        <p:spPr>
          <a:xfrm>
            <a:off x="3686175" y="3257434"/>
            <a:ext cx="285750" cy="123825"/>
          </a:xfrm>
          <a:prstGeom prst="rect">
            <a:avLst/>
          </a:prstGeom>
          <a:noFill/>
        </p:spPr>
        <p:txBody>
          <a:bodyPr wrap="none" lIns="0" rIns="0" tIns="0" bIns="0" anchor="ctr">
            <a:spAutoFit/>
          </a:bodyPr>
          <a:lstStyle/>
          <a:p>
            <a:pPr algn="l"/>
            <a:r>
              <a:rPr sz="1100" b="0">
                <a:solidFill>
                  <a:srgbClr val="6C7A89"/>
                </a:solidFill>
                <a:latin typeface="Calibri"/>
              </a:rPr>
              <a:t>4</a:t>
            </a:r>
          </a:p>
        </p:txBody>
      </p:sp>
      <p:sp>
        <p:nvSpPr>
          <p:cNvPr id="41" name="TextBox 40"/>
          <p:cNvSpPr txBox="1"/>
          <p:nvPr/>
        </p:nvSpPr>
        <p:spPr>
          <a:xfrm>
            <a:off x="3686175" y="2880158"/>
            <a:ext cx="285750" cy="123825"/>
          </a:xfrm>
          <a:prstGeom prst="rect">
            <a:avLst/>
          </a:prstGeom>
          <a:noFill/>
        </p:spPr>
        <p:txBody>
          <a:bodyPr wrap="none" lIns="0" rIns="0" tIns="0" bIns="0" anchor="ctr">
            <a:spAutoFit/>
          </a:bodyPr>
          <a:lstStyle/>
          <a:p>
            <a:pPr algn="l"/>
            <a:r>
              <a:rPr sz="1100" b="0">
                <a:solidFill>
                  <a:srgbClr val="6C7A89"/>
                </a:solidFill>
                <a:latin typeface="Calibri"/>
              </a:rPr>
              <a:t>6</a:t>
            </a:r>
          </a:p>
        </p:txBody>
      </p:sp>
      <p:sp>
        <p:nvSpPr>
          <p:cNvPr id="42" name="TextBox 41"/>
          <p:cNvSpPr txBox="1"/>
          <p:nvPr/>
        </p:nvSpPr>
        <p:spPr>
          <a:xfrm>
            <a:off x="3686175" y="2502882"/>
            <a:ext cx="285750" cy="123825"/>
          </a:xfrm>
          <a:prstGeom prst="rect">
            <a:avLst/>
          </a:prstGeom>
          <a:noFill/>
        </p:spPr>
        <p:txBody>
          <a:bodyPr wrap="none" lIns="0" rIns="0" tIns="0" bIns="0" anchor="ctr">
            <a:spAutoFit/>
          </a:bodyPr>
          <a:lstStyle/>
          <a:p>
            <a:pPr algn="l"/>
            <a:r>
              <a:rPr sz="1100" b="0">
                <a:solidFill>
                  <a:srgbClr val="6C7A89"/>
                </a:solidFill>
                <a:latin typeface="Calibri"/>
              </a:rPr>
              <a:t>8</a:t>
            </a:r>
          </a:p>
        </p:txBody>
      </p:sp>
      <p:sp>
        <p:nvSpPr>
          <p:cNvPr id="43" name="TextBox 42"/>
          <p:cNvSpPr txBox="1"/>
          <p:nvPr/>
        </p:nvSpPr>
        <p:spPr>
          <a:xfrm>
            <a:off x="3686175" y="2125606"/>
            <a:ext cx="285750" cy="123825"/>
          </a:xfrm>
          <a:prstGeom prst="rect">
            <a:avLst/>
          </a:prstGeom>
          <a:noFill/>
        </p:spPr>
        <p:txBody>
          <a:bodyPr wrap="none" lIns="0" rIns="0" tIns="0" bIns="0" anchor="ctr">
            <a:spAutoFit/>
          </a:bodyPr>
          <a:lstStyle/>
          <a:p>
            <a:pPr algn="l"/>
            <a:r>
              <a:rPr sz="1100" b="0">
                <a:solidFill>
                  <a:srgbClr val="6C7A89"/>
                </a:solidFill>
                <a:latin typeface="Calibri"/>
              </a:rPr>
              <a:t>10</a:t>
            </a:r>
          </a:p>
        </p:txBody>
      </p:sp>
      <p:sp>
        <p:nvSpPr>
          <p:cNvPr id="44" name="TextBox 43"/>
          <p:cNvSpPr txBox="1"/>
          <p:nvPr/>
        </p:nvSpPr>
        <p:spPr>
          <a:xfrm>
            <a:off x="3000375" y="1839856"/>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5" name="TextBox 44"/>
          <p:cNvSpPr txBox="1"/>
          <p:nvPr/>
        </p:nvSpPr>
        <p:spPr>
          <a:xfrm>
            <a:off x="4232331" y="224014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6" name="TextBox 45"/>
          <p:cNvSpPr txBox="1"/>
          <p:nvPr/>
        </p:nvSpPr>
        <p:spPr>
          <a:xfrm>
            <a:off x="4993722" y="3288108"/>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7" name="TextBox 46"/>
          <p:cNvSpPr txBox="1"/>
          <p:nvPr/>
        </p:nvSpPr>
        <p:spPr>
          <a:xfrm>
            <a:off x="4993722" y="458346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8" name="TextBox 47"/>
          <p:cNvSpPr txBox="1"/>
          <p:nvPr/>
        </p:nvSpPr>
        <p:spPr>
          <a:xfrm>
            <a:off x="4232331" y="5631427"/>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9" name="TextBox 48"/>
          <p:cNvSpPr txBox="1"/>
          <p:nvPr/>
        </p:nvSpPr>
        <p:spPr>
          <a:xfrm>
            <a:off x="3000375" y="6031714"/>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0" name="TextBox 49"/>
          <p:cNvSpPr txBox="1"/>
          <p:nvPr/>
        </p:nvSpPr>
        <p:spPr>
          <a:xfrm>
            <a:off x="1768419" y="5631427"/>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1" name="TextBox 50"/>
          <p:cNvSpPr txBox="1"/>
          <p:nvPr/>
        </p:nvSpPr>
        <p:spPr>
          <a:xfrm>
            <a:off x="1007028" y="458346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2" name="TextBox 51"/>
          <p:cNvSpPr txBox="1"/>
          <p:nvPr/>
        </p:nvSpPr>
        <p:spPr>
          <a:xfrm>
            <a:off x="1007028" y="3288108"/>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3" name="TextBox 52"/>
          <p:cNvSpPr txBox="1"/>
          <p:nvPr/>
        </p:nvSpPr>
        <p:spPr>
          <a:xfrm>
            <a:off x="1768419" y="224014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4" name="Rounded Rectangle 53"/>
          <p:cNvSpPr/>
          <p:nvPr/>
        </p:nvSpPr>
        <p:spPr>
          <a:xfrm>
            <a:off x="7248525" y="1354081"/>
            <a:ext cx="4800600" cy="3479443"/>
          </a:xfrm>
          <a:prstGeom prst="roundRect">
            <a:avLst>
              <a:gd name="adj" fmla="val 219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381875" y="1439806"/>
            <a:ext cx="453390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56" name="Rectangle 55"/>
          <p:cNvSpPr/>
          <p:nvPr/>
        </p:nvSpPr>
        <p:spPr>
          <a:xfrm>
            <a:off x="7381875" y="1677931"/>
            <a:ext cx="45339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381875" y="1763656"/>
            <a:ext cx="4533900" cy="2993668"/>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Pricing across the Waterproof Coatings Market is shaped by a mix of input costs, operational efficiency and market dynamics with raw-material and input costs carrying the single heaviest weight on selling prices today.</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Raw-material and input costs and demand and broader market conditions are the dominant cost pressures; as they fluctuate they feed directly into prices and squeeze margins along the value chain.</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Competitive intensity and supply-chain and logistics conditions are the next most influential forces helping offset cost inflation and setting how aggressively players can price without ceding share.</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Demand strength, competitive intensity and supply-chain reliability together define the ceiling on pricing power across the Waterproof Coatings Market.</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Regulatory, currency and brand factors add second-order effects while aftermarket and service costs exert the least pressure collectively creating a pricing balance that must be monitored to stay competitive and profitable.</a:t>
            </a:r>
          </a:p>
        </p:txBody>
      </p:sp>
      <p:sp>
        <p:nvSpPr>
          <p:cNvPr id="58" name="Rounded Rectangle 57"/>
          <p:cNvSpPr/>
          <p:nvPr/>
        </p:nvSpPr>
        <p:spPr>
          <a:xfrm>
            <a:off x="7248525" y="4943046"/>
            <a:ext cx="4800600" cy="1686354"/>
          </a:xfrm>
          <a:prstGeom prst="roundRect">
            <a:avLst>
              <a:gd name="adj" fmla="val 45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381875" y="5028771"/>
            <a:ext cx="4533900" cy="209550"/>
          </a:xfrm>
          <a:prstGeom prst="rect">
            <a:avLst/>
          </a:prstGeom>
          <a:noFill/>
        </p:spPr>
        <p:txBody>
          <a:bodyPr wrap="square" lIns="0" rIns="19050" tIns="9525" bIns="9525">
            <a:spAutoFit/>
          </a:bodyPr>
          <a:lstStyle/>
          <a:p>
            <a:pPr algn="l"/>
            <a:r>
              <a:rPr sz="1300" b="1">
                <a:solidFill>
                  <a:srgbClr val="0B2E4A"/>
                </a:solidFill>
                <a:latin typeface="Calibri"/>
              </a:rPr>
              <a:t>Highest-Impact Drivers</a:t>
            </a:r>
          </a:p>
        </p:txBody>
      </p:sp>
      <p:sp>
        <p:nvSpPr>
          <p:cNvPr id="60" name="Rectangle 59"/>
          <p:cNvSpPr/>
          <p:nvPr/>
        </p:nvSpPr>
        <p:spPr>
          <a:xfrm>
            <a:off x="7381875" y="5266896"/>
            <a:ext cx="45339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381875" y="5352621"/>
            <a:ext cx="4533900" cy="1200579"/>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3288771" y="1898910"/>
            <a:ext cx="659829" cy="186689"/>
          </a:xfrm>
          <a:prstGeom prst="rect">
            <a:avLst/>
          </a:prstGeom>
          <a:noFill/>
        </p:spPr>
        <p:txBody>
          <a:bodyPr wrap="none" lIns="0" rIns="0" tIns="0" bIns="0">
            <a:spAutoFit/>
          </a:bodyPr>
          <a:lstStyle/>
          <a:p>
            <a:r>
              <a:rPr sz="1100" b="0">
                <a:solidFill>
                  <a:srgbClr val="2E2E2E"/>
                </a:solidFill>
                <a:latin typeface="Calibri"/>
              </a:rPr>
              <a:t>Input Cost</a:t>
            </a:r>
          </a:p>
        </p:txBody>
      </p:sp>
      <p:pic>
        <p:nvPicPr>
          <p:cNvPr id="64" name="Picture 63" descr="lock.png"/>
          <p:cNvPicPr>
            <a:picLocks noChangeAspect="1"/>
          </p:cNvPicPr>
          <p:nvPr/>
        </p:nvPicPr>
        <p:blipFill>
          <a:blip r:embed="rId4"/>
          <a:stretch>
            <a:fillRect/>
          </a:stretch>
        </p:blipFill>
        <p:spPr>
          <a:xfrm>
            <a:off x="3896652" y="1889132"/>
            <a:ext cx="128699" cy="187198"/>
          </a:xfrm>
          <a:prstGeom prst="rect">
            <a:avLst/>
          </a:prstGeom>
        </p:spPr>
      </p:pic>
      <p:sp>
        <p:nvSpPr>
          <p:cNvPr id="65" name="TextBox 64"/>
          <p:cNvSpPr txBox="1"/>
          <p:nvPr/>
        </p:nvSpPr>
        <p:spPr>
          <a:xfrm>
            <a:off x="4314683" y="2322667"/>
            <a:ext cx="1115044" cy="139750"/>
          </a:xfrm>
          <a:prstGeom prst="rect">
            <a:avLst/>
          </a:prstGeom>
          <a:noFill/>
        </p:spPr>
        <p:txBody>
          <a:bodyPr wrap="none" lIns="0" rIns="0" tIns="0" bIns="0">
            <a:spAutoFit/>
          </a:bodyPr>
          <a:lstStyle/>
          <a:p>
            <a:r>
              <a:rPr sz="791" b="0">
                <a:solidFill>
                  <a:srgbClr val="2E2E2E"/>
                </a:solidFill>
                <a:latin typeface="Calibri"/>
              </a:rPr>
              <a:t>Labor &amp; Production Costs</a:t>
            </a:r>
          </a:p>
        </p:txBody>
      </p:sp>
      <p:pic>
        <p:nvPicPr>
          <p:cNvPr id="66" name="Picture 65" descr="lock.png"/>
          <p:cNvPicPr>
            <a:picLocks noChangeAspect="1"/>
          </p:cNvPicPr>
          <p:nvPr/>
        </p:nvPicPr>
        <p:blipFill>
          <a:blip r:embed="rId4"/>
          <a:stretch>
            <a:fillRect/>
          </a:stretch>
        </p:blipFill>
        <p:spPr>
          <a:xfrm>
            <a:off x="5370988" y="2315626"/>
            <a:ext cx="92663" cy="134782"/>
          </a:xfrm>
          <a:prstGeom prst="rect">
            <a:avLst/>
          </a:prstGeom>
        </p:spPr>
      </p:pic>
      <p:sp>
        <p:nvSpPr>
          <p:cNvPr id="67" name="TextBox 66"/>
          <p:cNvSpPr txBox="1"/>
          <p:nvPr/>
        </p:nvSpPr>
        <p:spPr>
          <a:xfrm>
            <a:off x="5083343" y="3370632"/>
            <a:ext cx="1100506" cy="139750"/>
          </a:xfrm>
          <a:prstGeom prst="rect">
            <a:avLst/>
          </a:prstGeom>
          <a:noFill/>
        </p:spPr>
        <p:txBody>
          <a:bodyPr wrap="none" lIns="0" rIns="0" tIns="0" bIns="0">
            <a:spAutoFit/>
          </a:bodyPr>
          <a:lstStyle/>
          <a:p>
            <a:r>
              <a:rPr sz="791" b="0">
                <a:solidFill>
                  <a:srgbClr val="2E2E2E"/>
                </a:solidFill>
                <a:latin typeface="Calibri"/>
              </a:rPr>
              <a:t>Technology &amp; Innovation</a:t>
            </a:r>
          </a:p>
        </p:txBody>
      </p:sp>
      <p:pic>
        <p:nvPicPr>
          <p:cNvPr id="68" name="Picture 67" descr="lock.png"/>
          <p:cNvPicPr>
            <a:picLocks noChangeAspect="1"/>
          </p:cNvPicPr>
          <p:nvPr/>
        </p:nvPicPr>
        <p:blipFill>
          <a:blip r:embed="rId4"/>
          <a:stretch>
            <a:fillRect/>
          </a:stretch>
        </p:blipFill>
        <p:spPr>
          <a:xfrm>
            <a:off x="6125111" y="3363591"/>
            <a:ext cx="92663" cy="134782"/>
          </a:xfrm>
          <a:prstGeom prst="rect">
            <a:avLst/>
          </a:prstGeom>
        </p:spPr>
      </p:pic>
      <p:sp>
        <p:nvSpPr>
          <p:cNvPr id="69" name="TextBox 68"/>
          <p:cNvSpPr txBox="1"/>
          <p:nvPr/>
        </p:nvSpPr>
        <p:spPr>
          <a:xfrm>
            <a:off x="5072546" y="4662634"/>
            <a:ext cx="1115939" cy="146456"/>
          </a:xfrm>
          <a:prstGeom prst="rect">
            <a:avLst/>
          </a:prstGeom>
          <a:noFill/>
        </p:spPr>
        <p:txBody>
          <a:bodyPr wrap="none" lIns="0" rIns="0" tIns="0" bIns="0">
            <a:spAutoFit/>
          </a:bodyPr>
          <a:lstStyle/>
          <a:p>
            <a:r>
              <a:rPr sz="835" b="0">
                <a:solidFill>
                  <a:srgbClr val="2E2E2E"/>
                </a:solidFill>
                <a:latin typeface="Calibri"/>
              </a:rPr>
              <a:t>Supply Chain &amp; Logistics</a:t>
            </a:r>
          </a:p>
        </p:txBody>
      </p:sp>
      <p:pic>
        <p:nvPicPr>
          <p:cNvPr id="70" name="Picture 69" descr="lock.png"/>
          <p:cNvPicPr>
            <a:picLocks noChangeAspect="1"/>
          </p:cNvPicPr>
          <p:nvPr/>
        </p:nvPicPr>
        <p:blipFill>
          <a:blip r:embed="rId4"/>
          <a:stretch>
            <a:fillRect/>
          </a:stretch>
        </p:blipFill>
        <p:spPr>
          <a:xfrm>
            <a:off x="6130716" y="4655202"/>
            <a:ext cx="97811" cy="142270"/>
          </a:xfrm>
          <a:prstGeom prst="rect">
            <a:avLst/>
          </a:prstGeom>
        </p:spPr>
      </p:pic>
      <p:sp>
        <p:nvSpPr>
          <p:cNvPr id="71" name="TextBox 70"/>
          <p:cNvSpPr txBox="1"/>
          <p:nvPr/>
        </p:nvSpPr>
        <p:spPr>
          <a:xfrm>
            <a:off x="4279667" y="5653601"/>
            <a:ext cx="1238538" cy="139750"/>
          </a:xfrm>
          <a:prstGeom prst="rect">
            <a:avLst/>
          </a:prstGeom>
          <a:noFill/>
        </p:spPr>
        <p:txBody>
          <a:bodyPr wrap="none" lIns="0" rIns="0" tIns="0" bIns="0">
            <a:spAutoFit/>
          </a:bodyPr>
          <a:lstStyle/>
          <a:p>
            <a:r>
              <a:rPr sz="791" b="0">
                <a:solidFill>
                  <a:srgbClr val="2E2E2E"/>
                </a:solidFill>
                <a:latin typeface="Calibri"/>
              </a:rPr>
              <a:t>Demand &amp; Market Conditions</a:t>
            </a:r>
          </a:p>
        </p:txBody>
      </p:sp>
      <p:pic>
        <p:nvPicPr>
          <p:cNvPr id="72" name="Picture 71" descr="lock.png"/>
          <p:cNvPicPr>
            <a:picLocks noChangeAspect="1"/>
          </p:cNvPicPr>
          <p:nvPr/>
        </p:nvPicPr>
        <p:blipFill>
          <a:blip r:embed="rId4"/>
          <a:stretch>
            <a:fillRect/>
          </a:stretch>
        </p:blipFill>
        <p:spPr>
          <a:xfrm>
            <a:off x="4837988" y="5767261"/>
            <a:ext cx="92663" cy="134782"/>
          </a:xfrm>
          <a:prstGeom prst="rect">
            <a:avLst/>
          </a:prstGeom>
        </p:spPr>
      </p:pic>
      <p:sp>
        <p:nvSpPr>
          <p:cNvPr id="73" name="TextBox 72"/>
          <p:cNvSpPr txBox="1"/>
          <p:nvPr/>
        </p:nvSpPr>
        <p:spPr>
          <a:xfrm>
            <a:off x="3097033" y="6110885"/>
            <a:ext cx="1080271" cy="146456"/>
          </a:xfrm>
          <a:prstGeom prst="rect">
            <a:avLst/>
          </a:prstGeom>
          <a:noFill/>
        </p:spPr>
        <p:txBody>
          <a:bodyPr wrap="none" lIns="0" rIns="0" tIns="0" bIns="0">
            <a:spAutoFit/>
          </a:bodyPr>
          <a:lstStyle/>
          <a:p>
            <a:r>
              <a:rPr sz="835" b="0">
                <a:solidFill>
                  <a:srgbClr val="2E2E2E"/>
                </a:solidFill>
                <a:latin typeface="Calibri"/>
              </a:rPr>
              <a:t>Competitive Landscape</a:t>
            </a:r>
          </a:p>
        </p:txBody>
      </p:sp>
      <p:pic>
        <p:nvPicPr>
          <p:cNvPr id="74" name="Picture 73" descr="lock.png"/>
          <p:cNvPicPr>
            <a:picLocks noChangeAspect="1"/>
          </p:cNvPicPr>
          <p:nvPr/>
        </p:nvPicPr>
        <p:blipFill>
          <a:blip r:embed="rId4"/>
          <a:stretch>
            <a:fillRect/>
          </a:stretch>
        </p:blipFill>
        <p:spPr>
          <a:xfrm>
            <a:off x="4119536" y="6103453"/>
            <a:ext cx="97811" cy="142270"/>
          </a:xfrm>
          <a:prstGeom prst="rect">
            <a:avLst/>
          </a:prstGeom>
        </p:spPr>
      </p:pic>
      <p:sp>
        <p:nvSpPr>
          <p:cNvPr id="75" name="TextBox 74"/>
          <p:cNvSpPr txBox="1"/>
          <p:nvPr/>
        </p:nvSpPr>
        <p:spPr>
          <a:xfrm>
            <a:off x="1906713" y="5653601"/>
            <a:ext cx="1114061" cy="139750"/>
          </a:xfrm>
          <a:prstGeom prst="rect">
            <a:avLst/>
          </a:prstGeom>
          <a:noFill/>
        </p:spPr>
        <p:txBody>
          <a:bodyPr wrap="none" lIns="0" rIns="0" tIns="0" bIns="0">
            <a:spAutoFit/>
          </a:bodyPr>
          <a:lstStyle/>
          <a:p>
            <a:r>
              <a:rPr sz="791" b="0">
                <a:solidFill>
                  <a:srgbClr val="2E2E2E"/>
                </a:solidFill>
                <a:latin typeface="Calibri"/>
              </a:rPr>
              <a:t>Regulatory &amp; Compliance</a:t>
            </a:r>
          </a:p>
        </p:txBody>
      </p:sp>
      <p:sp>
        <p:nvSpPr>
          <p:cNvPr id="76" name="TextBox 75"/>
          <p:cNvSpPr txBox="1"/>
          <p:nvPr/>
        </p:nvSpPr>
        <p:spPr>
          <a:xfrm>
            <a:off x="2260671" y="5774302"/>
            <a:ext cx="295245" cy="139750"/>
          </a:xfrm>
          <a:prstGeom prst="rect">
            <a:avLst/>
          </a:prstGeom>
          <a:noFill/>
        </p:spPr>
        <p:txBody>
          <a:bodyPr wrap="none" lIns="0" rIns="0" tIns="0" bIns="0">
            <a:spAutoFit/>
          </a:bodyPr>
          <a:lstStyle/>
          <a:p>
            <a:r>
              <a:rPr sz="791" b="0">
                <a:solidFill>
                  <a:srgbClr val="2E2E2E"/>
                </a:solidFill>
                <a:latin typeface="Calibri"/>
              </a:rPr>
              <a:t>Costs</a:t>
            </a:r>
          </a:p>
        </p:txBody>
      </p:sp>
      <p:pic>
        <p:nvPicPr>
          <p:cNvPr id="77" name="Picture 76" descr="lock.png"/>
          <p:cNvPicPr>
            <a:picLocks noChangeAspect="1"/>
          </p:cNvPicPr>
          <p:nvPr/>
        </p:nvPicPr>
        <p:blipFill>
          <a:blip r:embed="rId4"/>
          <a:stretch>
            <a:fillRect/>
          </a:stretch>
        </p:blipFill>
        <p:spPr>
          <a:xfrm>
            <a:off x="2497177" y="5767261"/>
            <a:ext cx="92663" cy="134782"/>
          </a:xfrm>
          <a:prstGeom prst="rect">
            <a:avLst/>
          </a:prstGeom>
        </p:spPr>
      </p:pic>
      <p:sp>
        <p:nvSpPr>
          <p:cNvPr id="78" name="TextBox 77"/>
          <p:cNvSpPr txBox="1"/>
          <p:nvPr/>
        </p:nvSpPr>
        <p:spPr>
          <a:xfrm>
            <a:off x="1097191" y="4605637"/>
            <a:ext cx="1195711" cy="139750"/>
          </a:xfrm>
          <a:prstGeom prst="rect">
            <a:avLst/>
          </a:prstGeom>
          <a:noFill/>
        </p:spPr>
        <p:txBody>
          <a:bodyPr wrap="none" lIns="0" rIns="0" tIns="0" bIns="0">
            <a:spAutoFit/>
          </a:bodyPr>
          <a:lstStyle/>
          <a:p>
            <a:r>
              <a:rPr sz="791" b="0">
                <a:solidFill>
                  <a:srgbClr val="2E2E2E"/>
                </a:solidFill>
                <a:latin typeface="Calibri"/>
              </a:rPr>
              <a:t>Currency &amp; Trade Dynamics</a:t>
            </a:r>
          </a:p>
        </p:txBody>
      </p:sp>
      <p:pic>
        <p:nvPicPr>
          <p:cNvPr id="79" name="Picture 78" descr="lock.png"/>
          <p:cNvPicPr>
            <a:picLocks noChangeAspect="1"/>
          </p:cNvPicPr>
          <p:nvPr/>
        </p:nvPicPr>
        <p:blipFill>
          <a:blip r:embed="rId4"/>
          <a:stretch>
            <a:fillRect/>
          </a:stretch>
        </p:blipFill>
        <p:spPr>
          <a:xfrm>
            <a:off x="1612685" y="4719297"/>
            <a:ext cx="92663" cy="134782"/>
          </a:xfrm>
          <a:prstGeom prst="rect">
            <a:avLst/>
          </a:prstGeom>
        </p:spPr>
      </p:pic>
      <p:sp>
        <p:nvSpPr>
          <p:cNvPr id="80" name="TextBox 79"/>
          <p:cNvSpPr txBox="1"/>
          <p:nvPr/>
        </p:nvSpPr>
        <p:spPr>
          <a:xfrm>
            <a:off x="1079852" y="3370632"/>
            <a:ext cx="1134100" cy="139750"/>
          </a:xfrm>
          <a:prstGeom prst="rect">
            <a:avLst/>
          </a:prstGeom>
          <a:noFill/>
        </p:spPr>
        <p:txBody>
          <a:bodyPr wrap="none" lIns="0" rIns="0" tIns="0" bIns="0">
            <a:spAutoFit/>
          </a:bodyPr>
          <a:lstStyle/>
          <a:p>
            <a:r>
              <a:rPr sz="791" b="0">
                <a:solidFill>
                  <a:srgbClr val="2E2E2E"/>
                </a:solidFill>
                <a:latin typeface="Calibri"/>
              </a:rPr>
              <a:t>Brand &amp; Value Perception</a:t>
            </a:r>
          </a:p>
        </p:txBody>
      </p:sp>
      <p:pic>
        <p:nvPicPr>
          <p:cNvPr id="81" name="Picture 80" descr="lock.png"/>
          <p:cNvPicPr>
            <a:picLocks noChangeAspect="1"/>
          </p:cNvPicPr>
          <p:nvPr/>
        </p:nvPicPr>
        <p:blipFill>
          <a:blip r:embed="rId4"/>
          <a:stretch>
            <a:fillRect/>
          </a:stretch>
        </p:blipFill>
        <p:spPr>
          <a:xfrm>
            <a:off x="2155213" y="3363591"/>
            <a:ext cx="92663" cy="134782"/>
          </a:xfrm>
          <a:prstGeom prst="rect">
            <a:avLst/>
          </a:prstGeom>
        </p:spPr>
      </p:pic>
      <p:sp>
        <p:nvSpPr>
          <p:cNvPr id="82" name="TextBox 81"/>
          <p:cNvSpPr txBox="1"/>
          <p:nvPr/>
        </p:nvSpPr>
        <p:spPr>
          <a:xfrm>
            <a:off x="1850723" y="2262317"/>
            <a:ext cx="1203570" cy="139750"/>
          </a:xfrm>
          <a:prstGeom prst="rect">
            <a:avLst/>
          </a:prstGeom>
          <a:noFill/>
        </p:spPr>
        <p:txBody>
          <a:bodyPr wrap="none" lIns="0" rIns="0" tIns="0" bIns="0">
            <a:spAutoFit/>
          </a:bodyPr>
          <a:lstStyle/>
          <a:p>
            <a:r>
              <a:rPr sz="791" b="0">
                <a:solidFill>
                  <a:srgbClr val="2E2E2E"/>
                </a:solidFill>
                <a:latin typeface="Calibri"/>
              </a:rPr>
              <a:t>Aftermarket &amp; Service Costs</a:t>
            </a:r>
          </a:p>
        </p:txBody>
      </p:sp>
      <p:pic>
        <p:nvPicPr>
          <p:cNvPr id="83" name="Picture 82" descr="lock.png"/>
          <p:cNvPicPr>
            <a:picLocks noChangeAspect="1"/>
          </p:cNvPicPr>
          <p:nvPr/>
        </p:nvPicPr>
        <p:blipFill>
          <a:blip r:embed="rId4"/>
          <a:stretch>
            <a:fillRect/>
          </a:stretch>
        </p:blipFill>
        <p:spPr>
          <a:xfrm>
            <a:off x="2374076" y="2375977"/>
            <a:ext cx="92663" cy="134782"/>
          </a:xfrm>
          <a:prstGeom prst="rect">
            <a:avLst/>
          </a:prstGeom>
        </p:spPr>
      </p:pic>
      <p:sp>
        <p:nvSpPr>
          <p:cNvPr id="84" name="TextBox 83"/>
          <p:cNvSpPr txBox="1"/>
          <p:nvPr/>
        </p:nvSpPr>
        <p:spPr>
          <a:xfrm>
            <a:off x="7381875" y="5362146"/>
            <a:ext cx="740866" cy="186689"/>
          </a:xfrm>
          <a:prstGeom prst="rect">
            <a:avLst/>
          </a:prstGeom>
          <a:noFill/>
        </p:spPr>
        <p:txBody>
          <a:bodyPr wrap="none" lIns="0" rIns="0" tIns="0" bIns="0">
            <a:spAutoFit/>
          </a:bodyPr>
          <a:lstStyle/>
          <a:p>
            <a:r>
              <a:rPr sz="1100" b="0">
                <a:solidFill>
                  <a:srgbClr val="2E2E2E"/>
                </a:solidFill>
                <a:latin typeface="Calibri"/>
              </a:rPr>
              <a:t>▪ Input Cost</a:t>
            </a:r>
          </a:p>
        </p:txBody>
      </p:sp>
      <p:pic>
        <p:nvPicPr>
          <p:cNvPr id="85" name="Picture 84" descr="lock.png"/>
          <p:cNvPicPr>
            <a:picLocks noChangeAspect="1"/>
          </p:cNvPicPr>
          <p:nvPr/>
        </p:nvPicPr>
        <p:blipFill>
          <a:blip r:embed="rId4"/>
          <a:stretch>
            <a:fillRect/>
          </a:stretch>
        </p:blipFill>
        <p:spPr>
          <a:xfrm>
            <a:off x="8070793" y="5352366"/>
            <a:ext cx="128699" cy="187198"/>
          </a:xfrm>
          <a:prstGeom prst="rect">
            <a:avLst/>
          </a:prstGeom>
        </p:spPr>
      </p:pic>
      <p:sp>
        <p:nvSpPr>
          <p:cNvPr id="86" name="TextBox 85"/>
          <p:cNvSpPr txBox="1"/>
          <p:nvPr/>
        </p:nvSpPr>
        <p:spPr>
          <a:xfrm>
            <a:off x="8238288" y="5362146"/>
            <a:ext cx="1744141" cy="186689"/>
          </a:xfrm>
          <a:prstGeom prst="rect">
            <a:avLst/>
          </a:prstGeom>
          <a:noFill/>
        </p:spPr>
        <p:txBody>
          <a:bodyPr wrap="none" lIns="0" rIns="0" tIns="0" bIns="0">
            <a:spAutoFit/>
          </a:bodyPr>
          <a:lstStyle/>
          <a:p>
            <a:r>
              <a:rPr sz="1100" b="0">
                <a:solidFill>
                  <a:srgbClr val="2E2E2E"/>
                </a:solidFill>
                <a:latin typeface="Calibri"/>
              </a:rPr>
              <a:t>/ 10 · dominant cost pressure</a:t>
            </a:r>
          </a:p>
        </p:txBody>
      </p:sp>
      <p:sp>
        <p:nvSpPr>
          <p:cNvPr id="87" name="TextBox 86"/>
          <p:cNvSpPr txBox="1"/>
          <p:nvPr/>
        </p:nvSpPr>
        <p:spPr>
          <a:xfrm>
            <a:off x="7381875" y="5580078"/>
            <a:ext cx="1851372" cy="186689"/>
          </a:xfrm>
          <a:prstGeom prst="rect">
            <a:avLst/>
          </a:prstGeom>
          <a:noFill/>
        </p:spPr>
        <p:txBody>
          <a:bodyPr wrap="none" lIns="0" rIns="0" tIns="0" bIns="0">
            <a:spAutoFit/>
          </a:bodyPr>
          <a:lstStyle/>
          <a:p>
            <a:r>
              <a:rPr sz="1100" b="0">
                <a:solidFill>
                  <a:srgbClr val="2E2E2E"/>
                </a:solidFill>
                <a:latin typeface="Calibri"/>
              </a:rPr>
              <a:t>▪ Demand &amp; Market Conditions</a:t>
            </a:r>
          </a:p>
        </p:txBody>
      </p:sp>
      <p:pic>
        <p:nvPicPr>
          <p:cNvPr id="88" name="Picture 87" descr="lock.png"/>
          <p:cNvPicPr>
            <a:picLocks noChangeAspect="1"/>
          </p:cNvPicPr>
          <p:nvPr/>
        </p:nvPicPr>
        <p:blipFill>
          <a:blip r:embed="rId4"/>
          <a:stretch>
            <a:fillRect/>
          </a:stretch>
        </p:blipFill>
        <p:spPr>
          <a:xfrm>
            <a:off x="9181298" y="5570298"/>
            <a:ext cx="128699" cy="187198"/>
          </a:xfrm>
          <a:prstGeom prst="rect">
            <a:avLst/>
          </a:prstGeom>
        </p:spPr>
      </p:pic>
      <p:sp>
        <p:nvSpPr>
          <p:cNvPr id="89" name="TextBox 88"/>
          <p:cNvSpPr txBox="1"/>
          <p:nvPr/>
        </p:nvSpPr>
        <p:spPr>
          <a:xfrm>
            <a:off x="9348794" y="5580078"/>
            <a:ext cx="1527224" cy="186689"/>
          </a:xfrm>
          <a:prstGeom prst="rect">
            <a:avLst/>
          </a:prstGeom>
          <a:noFill/>
        </p:spPr>
        <p:txBody>
          <a:bodyPr wrap="none" lIns="0" rIns="0" tIns="0" bIns="0">
            <a:spAutoFit/>
          </a:bodyPr>
          <a:lstStyle/>
          <a:p>
            <a:r>
              <a:rPr sz="1100" b="0">
                <a:solidFill>
                  <a:srgbClr val="2E2E2E"/>
                </a:solidFill>
                <a:latin typeface="Calibri"/>
              </a:rPr>
              <a:t>/ 10 · major cost pressure</a:t>
            </a:r>
          </a:p>
        </p:txBody>
      </p:sp>
      <p:sp>
        <p:nvSpPr>
          <p:cNvPr id="90" name="TextBox 89"/>
          <p:cNvSpPr txBox="1"/>
          <p:nvPr/>
        </p:nvSpPr>
        <p:spPr>
          <a:xfrm>
            <a:off x="7381875" y="5798010"/>
            <a:ext cx="1478384" cy="186689"/>
          </a:xfrm>
          <a:prstGeom prst="rect">
            <a:avLst/>
          </a:prstGeom>
          <a:noFill/>
        </p:spPr>
        <p:txBody>
          <a:bodyPr wrap="none" lIns="0" rIns="0" tIns="0" bIns="0">
            <a:spAutoFit/>
          </a:bodyPr>
          <a:lstStyle/>
          <a:p>
            <a:r>
              <a:rPr sz="1100" b="0">
                <a:solidFill>
                  <a:srgbClr val="2E2E2E"/>
                </a:solidFill>
                <a:latin typeface="Calibri"/>
              </a:rPr>
              <a:t>▪ Competitive Landscape</a:t>
            </a:r>
          </a:p>
        </p:txBody>
      </p:sp>
      <p:pic>
        <p:nvPicPr>
          <p:cNvPr id="91" name="Picture 90" descr="lock.png"/>
          <p:cNvPicPr>
            <a:picLocks noChangeAspect="1"/>
          </p:cNvPicPr>
          <p:nvPr/>
        </p:nvPicPr>
        <p:blipFill>
          <a:blip r:embed="rId4"/>
          <a:stretch>
            <a:fillRect/>
          </a:stretch>
        </p:blipFill>
        <p:spPr>
          <a:xfrm>
            <a:off x="8808310" y="5788230"/>
            <a:ext cx="128699" cy="187198"/>
          </a:xfrm>
          <a:prstGeom prst="rect">
            <a:avLst/>
          </a:prstGeom>
        </p:spPr>
      </p:pic>
      <p:sp>
        <p:nvSpPr>
          <p:cNvPr id="92" name="TextBox 91"/>
          <p:cNvSpPr txBox="1"/>
          <p:nvPr/>
        </p:nvSpPr>
        <p:spPr>
          <a:xfrm>
            <a:off x="8975806" y="5798010"/>
            <a:ext cx="1330225" cy="186689"/>
          </a:xfrm>
          <a:prstGeom prst="rect">
            <a:avLst/>
          </a:prstGeom>
          <a:noFill/>
        </p:spPr>
        <p:txBody>
          <a:bodyPr wrap="none" lIns="0" rIns="0" tIns="0" bIns="0">
            <a:spAutoFit/>
          </a:bodyPr>
          <a:lstStyle/>
          <a:p>
            <a:r>
              <a:rPr sz="1100" b="0">
                <a:solidFill>
                  <a:srgbClr val="2E2E2E"/>
                </a:solidFill>
                <a:latin typeface="Calibri"/>
              </a:rPr>
              <a:t>/ 10 · key pricing lever</a:t>
            </a:r>
          </a:p>
        </p:txBody>
      </p:sp>
      <p:sp>
        <p:nvSpPr>
          <p:cNvPr id="93" name="TextBox 92"/>
          <p:cNvSpPr txBox="1"/>
          <p:nvPr/>
        </p:nvSpPr>
        <p:spPr>
          <a:xfrm>
            <a:off x="7381875" y="6015942"/>
            <a:ext cx="1525314" cy="186689"/>
          </a:xfrm>
          <a:prstGeom prst="rect">
            <a:avLst/>
          </a:prstGeom>
          <a:noFill/>
        </p:spPr>
        <p:txBody>
          <a:bodyPr wrap="none" lIns="0" rIns="0" tIns="0" bIns="0">
            <a:spAutoFit/>
          </a:bodyPr>
          <a:lstStyle/>
          <a:p>
            <a:r>
              <a:rPr sz="1100" b="0">
                <a:solidFill>
                  <a:srgbClr val="2E2E2E"/>
                </a:solidFill>
                <a:latin typeface="Calibri"/>
              </a:rPr>
              <a:t>▪ Supply Chain &amp; Logistics</a:t>
            </a:r>
          </a:p>
        </p:txBody>
      </p:sp>
      <p:pic>
        <p:nvPicPr>
          <p:cNvPr id="94" name="Picture 93" descr="lock.png"/>
          <p:cNvPicPr>
            <a:picLocks noChangeAspect="1"/>
          </p:cNvPicPr>
          <p:nvPr/>
        </p:nvPicPr>
        <p:blipFill>
          <a:blip r:embed="rId4"/>
          <a:stretch>
            <a:fillRect/>
          </a:stretch>
        </p:blipFill>
        <p:spPr>
          <a:xfrm>
            <a:off x="8855241" y="6006162"/>
            <a:ext cx="128699" cy="187198"/>
          </a:xfrm>
          <a:prstGeom prst="rect">
            <a:avLst/>
          </a:prstGeom>
        </p:spPr>
      </p:pic>
      <p:sp>
        <p:nvSpPr>
          <p:cNvPr id="95" name="TextBox 94"/>
          <p:cNvSpPr txBox="1"/>
          <p:nvPr/>
        </p:nvSpPr>
        <p:spPr>
          <a:xfrm>
            <a:off x="9022737" y="6015942"/>
            <a:ext cx="1330225" cy="186689"/>
          </a:xfrm>
          <a:prstGeom prst="rect">
            <a:avLst/>
          </a:prstGeom>
          <a:noFill/>
        </p:spPr>
        <p:txBody>
          <a:bodyPr wrap="none" lIns="0" rIns="0" tIns="0" bIns="0">
            <a:spAutoFit/>
          </a:bodyPr>
          <a:lstStyle/>
          <a:p>
            <a:r>
              <a:rPr sz="1100" b="0">
                <a:solidFill>
                  <a:srgbClr val="2E2E2E"/>
                </a:solidFill>
                <a:latin typeface="Calibri"/>
              </a:rPr>
              <a:t>/ 10 · key pricing lever</a:t>
            </a:r>
          </a:p>
        </p:txBody>
      </p:sp>
      <p:sp>
        <p:nvSpPr>
          <p:cNvPr id="96" name="TextBox 95"/>
          <p:cNvSpPr txBox="1"/>
          <p:nvPr/>
        </p:nvSpPr>
        <p:spPr>
          <a:xfrm>
            <a:off x="7381875" y="6233874"/>
            <a:ext cx="1600075" cy="186689"/>
          </a:xfrm>
          <a:prstGeom prst="rect">
            <a:avLst/>
          </a:prstGeom>
          <a:noFill/>
        </p:spPr>
        <p:txBody>
          <a:bodyPr wrap="none" lIns="0" rIns="0" tIns="0" bIns="0">
            <a:spAutoFit/>
          </a:bodyPr>
          <a:lstStyle/>
          <a:p>
            <a:r>
              <a:rPr sz="1100" b="0">
                <a:solidFill>
                  <a:srgbClr val="2E2E2E"/>
                </a:solidFill>
                <a:latin typeface="Calibri"/>
              </a:rPr>
              <a:t>▪ Labor &amp; Production Costs</a:t>
            </a:r>
          </a:p>
        </p:txBody>
      </p:sp>
      <p:pic>
        <p:nvPicPr>
          <p:cNvPr id="97" name="Picture 96" descr="lock.png"/>
          <p:cNvPicPr>
            <a:picLocks noChangeAspect="1"/>
          </p:cNvPicPr>
          <p:nvPr/>
        </p:nvPicPr>
        <p:blipFill>
          <a:blip r:embed="rId4"/>
          <a:stretch>
            <a:fillRect/>
          </a:stretch>
        </p:blipFill>
        <p:spPr>
          <a:xfrm>
            <a:off x="8930002" y="6224094"/>
            <a:ext cx="128699" cy="187198"/>
          </a:xfrm>
          <a:prstGeom prst="rect">
            <a:avLst/>
          </a:prstGeom>
        </p:spPr>
      </p:pic>
      <p:sp>
        <p:nvSpPr>
          <p:cNvPr id="98" name="TextBox 97"/>
          <p:cNvSpPr txBox="1"/>
          <p:nvPr/>
        </p:nvSpPr>
        <p:spPr>
          <a:xfrm>
            <a:off x="9097498" y="6233874"/>
            <a:ext cx="1387524" cy="186689"/>
          </a:xfrm>
          <a:prstGeom prst="rect">
            <a:avLst/>
          </a:prstGeom>
          <a:noFill/>
        </p:spPr>
        <p:txBody>
          <a:bodyPr wrap="none" lIns="0" rIns="0" tIns="0" bIns="0">
            <a:spAutoFit/>
          </a:bodyPr>
          <a:lstStyle/>
          <a:p>
            <a:r>
              <a:rPr sz="1100" b="0">
                <a:solidFill>
                  <a:srgbClr val="2E2E2E"/>
                </a:solidFill>
                <a:latin typeface="Calibri"/>
              </a:rPr>
              <a:t>/ 10 · supporting factor</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Waterproof Coatings Market Factors Impacting Pricing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Factors affecting the pricing decision of the product: category, price impact, direction of pressure and rationale</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The cost, demand, efficiency and regulatory forces shaping and impacting achievable selling prices grouped by category, with each factor's direction, impact and score.</a:t>
            </a:r>
          </a:p>
        </p:txBody>
      </p:sp>
      <p:sp>
        <p:nvSpPr>
          <p:cNvPr id="11" name="Rounded Rectangle 10"/>
          <p:cNvSpPr/>
          <p:nvPr/>
        </p:nvSpPr>
        <p:spPr>
          <a:xfrm>
            <a:off x="142875" y="1314450"/>
            <a:ext cx="11906250" cy="3286125"/>
          </a:xfrm>
          <a:prstGeom prst="roundRect">
            <a:avLst>
              <a:gd name="adj" fmla="val 23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1390650"/>
          <a:ext cx="11887199" cy="2981326"/>
        </p:xfrm>
        <a:graphic>
          <a:graphicData uri="http://schemas.openxmlformats.org/drawingml/2006/table">
            <a:tbl>
              <a:tblPr>
                <a:tableStyleId>{5C22544A-7EE6-4342-B048-85BDC9FD1C3A}</a:tableStyleId>
              </a:tblPr>
              <a:tblGrid>
                <a:gridCol w="2561515"/>
                <a:gridCol w="2697613"/>
                <a:gridCol w="1098187"/>
                <a:gridCol w="1211368"/>
                <a:gridCol w="1098187"/>
                <a:gridCol w="3220329"/>
              </a:tblGrid>
              <a:tr h="246126">
                <a:tc>
                  <a:txBody>
                    <a:bodyPr wrap="none"/>
                    <a:lstStyle/>
                    <a:p>
                      <a:pPr algn="l"/>
                      <a:r>
                        <a:rPr sz="1100" b="1">
                          <a:solidFill>
                            <a:srgbClr val="0B2E4A"/>
                          </a:solidFill>
                          <a:latin typeface="Calibri"/>
                        </a:rPr>
                        <a:t>Factor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Category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Price Impact</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Direction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Score (0–10)</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How It Shapes Price</a:t>
                      </a:r>
                      <a:endParaRPr sz="1100"/>
                    </a:p>
                  </a:txBody>
                  <a:tcPr marL="47625" marR="38100" marT="19050" marB="19050" anchor="ctr">
                    <a:solidFill>
                      <a:srgbClr val="E0E8EF"/>
                    </a:solidFill>
                  </a:tcPr>
                </a:tc>
              </a:tr>
              <a:tr h="273520">
                <a:tc>
                  <a:txBody>
                    <a:bodyPr wrap="none"/>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Raw-material and input costs.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Labor &amp; Production Costs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Labour and production expenses.</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Supply Chain &amp; Logistics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Supply-chain and logistics conditions.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Demand &amp; Market Conditions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and broader market conditions.</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Competitive Landscape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Competitive intensity.</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Brand &amp; Value Perception</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Brand strength and value perception.</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Innovation &amp; Operating Efficiency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Technology and process innovation.</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Aftermarket &amp; Service Costs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Innovation &amp; Operating Efficiency</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Aftermarket and service costs.</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Regulatory, Currency &amp; Macro</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Regulatory and compliance costs.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Currency &amp; Trade Dynamics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Regulatory, Currency &amp; Macro</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Currency and trade dynamics.</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43815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75297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838700"/>
            <a:ext cx="11639550" cy="209550"/>
          </a:xfrm>
          <a:prstGeom prst="rect">
            <a:avLst/>
          </a:prstGeom>
          <a:noFill/>
        </p:spPr>
        <p:txBody>
          <a:bodyPr wrap="square" lIns="0" rIns="19050" tIns="9525" bIns="9525">
            <a:spAutoFit/>
          </a:bodyPr>
          <a:lstStyle/>
          <a:p>
            <a:pPr algn="l"/>
            <a:r>
              <a:rPr sz="1300" b="1">
                <a:solidFill>
                  <a:srgbClr val="0B2E4A"/>
                </a:solidFill>
                <a:latin typeface="Calibri"/>
              </a:rPr>
              <a:t>What the Factors Imply</a:t>
            </a:r>
          </a:p>
        </p:txBody>
      </p:sp>
      <p:sp>
        <p:nvSpPr>
          <p:cNvPr id="16" name="Rectangle 15"/>
          <p:cNvSpPr/>
          <p:nvPr/>
        </p:nvSpPr>
        <p:spPr>
          <a:xfrm>
            <a:off x="276225" y="50768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162550"/>
            <a:ext cx="11639550" cy="13049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8102155" y="2764346"/>
            <a:ext cx="330041" cy="480060"/>
          </a:xfrm>
          <a:prstGeom prst="rect">
            <a:avLst/>
          </a:prstGeom>
        </p:spPr>
      </p:pic>
      <p:sp>
        <p:nvSpPr>
          <p:cNvPr id="20" name="TextBox 19"/>
          <p:cNvSpPr txBox="1"/>
          <p:nvPr/>
        </p:nvSpPr>
        <p:spPr>
          <a:xfrm>
            <a:off x="276225" y="5172075"/>
            <a:ext cx="5425566" cy="194310"/>
          </a:xfrm>
          <a:prstGeom prst="rect">
            <a:avLst/>
          </a:prstGeom>
          <a:noFill/>
        </p:spPr>
        <p:txBody>
          <a:bodyPr wrap="none" lIns="0" rIns="0" tIns="0" bIns="0">
            <a:spAutoFit/>
          </a:bodyPr>
          <a:lstStyle/>
          <a:p>
            <a:r>
              <a:rPr sz="1150" b="0">
                <a:solidFill>
                  <a:srgbClr val="2E2E2E"/>
                </a:solidFill>
                <a:latin typeface="Calibri"/>
              </a:rPr>
              <a:t>▪ Input Cost and Demand &amp; Market Conditions carry the heaviest weight on selling prices (</a:t>
            </a:r>
          </a:p>
        </p:txBody>
      </p:sp>
      <p:pic>
        <p:nvPicPr>
          <p:cNvPr id="21" name="Picture 20" descr="lock.png"/>
          <p:cNvPicPr>
            <a:picLocks noChangeAspect="1"/>
          </p:cNvPicPr>
          <p:nvPr/>
        </p:nvPicPr>
        <p:blipFill>
          <a:blip r:embed="rId4"/>
          <a:stretch>
            <a:fillRect/>
          </a:stretch>
        </p:blipFill>
        <p:spPr>
          <a:xfrm>
            <a:off x="5650945" y="5161851"/>
            <a:ext cx="134549" cy="195707"/>
          </a:xfrm>
          <a:prstGeom prst="rect">
            <a:avLst/>
          </a:prstGeom>
        </p:spPr>
      </p:pic>
      <p:sp>
        <p:nvSpPr>
          <p:cNvPr id="22" name="TextBox 21"/>
          <p:cNvSpPr txBox="1"/>
          <p:nvPr/>
        </p:nvSpPr>
        <p:spPr>
          <a:xfrm>
            <a:off x="5826054" y="5172075"/>
            <a:ext cx="299553" cy="194310"/>
          </a:xfrm>
          <a:prstGeom prst="rect">
            <a:avLst/>
          </a:prstGeom>
          <a:noFill/>
        </p:spPr>
        <p:txBody>
          <a:bodyPr wrap="none" lIns="0" rIns="0" tIns="0" bIns="0">
            <a:spAutoFit/>
          </a:bodyPr>
          <a:lstStyle/>
          <a:p>
            <a:r>
              <a:rPr sz="1150" b="0">
                <a:solidFill>
                  <a:srgbClr val="2E2E2E"/>
                </a:solidFill>
                <a:latin typeface="Calibri"/>
              </a:rPr>
              <a:t>and</a:t>
            </a:r>
          </a:p>
        </p:txBody>
      </p:sp>
      <p:pic>
        <p:nvPicPr>
          <p:cNvPr id="23" name="Picture 22" descr="lock.png"/>
          <p:cNvPicPr>
            <a:picLocks noChangeAspect="1"/>
          </p:cNvPicPr>
          <p:nvPr/>
        </p:nvPicPr>
        <p:blipFill>
          <a:blip r:embed="rId4"/>
          <a:stretch>
            <a:fillRect/>
          </a:stretch>
        </p:blipFill>
        <p:spPr>
          <a:xfrm>
            <a:off x="6074762" y="5161851"/>
            <a:ext cx="134549" cy="195707"/>
          </a:xfrm>
          <a:prstGeom prst="rect">
            <a:avLst/>
          </a:prstGeom>
        </p:spPr>
      </p:pic>
      <p:sp>
        <p:nvSpPr>
          <p:cNvPr id="24" name="TextBox 23"/>
          <p:cNvSpPr txBox="1"/>
          <p:nvPr/>
        </p:nvSpPr>
        <p:spPr>
          <a:xfrm>
            <a:off x="6249871" y="5172075"/>
            <a:ext cx="395113" cy="194310"/>
          </a:xfrm>
          <a:prstGeom prst="rect">
            <a:avLst/>
          </a:prstGeom>
          <a:noFill/>
        </p:spPr>
        <p:txBody>
          <a:bodyPr wrap="none" lIns="0" rIns="0" tIns="0" bIns="0">
            <a:spAutoFit/>
          </a:bodyPr>
          <a:lstStyle/>
          <a:p>
            <a:r>
              <a:rPr sz="1150" b="0">
                <a:solidFill>
                  <a:srgbClr val="2E2E2E"/>
                </a:solidFill>
                <a:latin typeface="Calibri"/>
              </a:rPr>
              <a:t>/ 10).</a:t>
            </a:r>
          </a:p>
        </p:txBody>
      </p:sp>
      <p:sp>
        <p:nvSpPr>
          <p:cNvPr id="25" name="TextBox 24"/>
          <p:cNvSpPr txBox="1"/>
          <p:nvPr/>
        </p:nvSpPr>
        <p:spPr>
          <a:xfrm>
            <a:off x="276225" y="5399913"/>
            <a:ext cx="8333444" cy="194310"/>
          </a:xfrm>
          <a:prstGeom prst="rect">
            <a:avLst/>
          </a:prstGeom>
          <a:noFill/>
        </p:spPr>
        <p:txBody>
          <a:bodyPr wrap="none" lIns="0" rIns="0" tIns="0" bIns="0">
            <a:spAutoFit/>
          </a:bodyPr>
          <a:lstStyle/>
          <a:p>
            <a:r>
              <a:rPr sz="1150" b="0">
                <a:solidFill>
                  <a:srgbClr val="2E2E2E"/>
                </a:solidFill>
                <a:latin typeface="Calibri"/>
              </a:rPr>
              <a:t>▪ 8 of 10 factors exert upward pressure on price; the rest pull prices down chiefly Technology &amp; Innovation and the Competitive Landscape.</a:t>
            </a:r>
          </a:p>
        </p:txBody>
      </p:sp>
      <p:sp>
        <p:nvSpPr>
          <p:cNvPr id="26" name="TextBox 25"/>
          <p:cNvSpPr txBox="1"/>
          <p:nvPr/>
        </p:nvSpPr>
        <p:spPr>
          <a:xfrm>
            <a:off x="276225" y="5627750"/>
            <a:ext cx="8053610" cy="194310"/>
          </a:xfrm>
          <a:prstGeom prst="rect">
            <a:avLst/>
          </a:prstGeom>
          <a:noFill/>
        </p:spPr>
        <p:txBody>
          <a:bodyPr wrap="none" lIns="0" rIns="0" tIns="0" bIns="0">
            <a:spAutoFit/>
          </a:bodyPr>
          <a:lstStyle/>
          <a:p>
            <a:r>
              <a:rPr sz="1150" b="0">
                <a:solidFill>
                  <a:srgbClr val="2E2E2E"/>
                </a:solidFill>
                <a:latin typeface="Calibri"/>
              </a:rPr>
              <a:t>▪ Cost-side factors set the price floor; demand, brand and competitive forces determine how much of that cost can be passed through.</a:t>
            </a:r>
          </a:p>
        </p:txBody>
      </p:sp>
      <p:sp>
        <p:nvSpPr>
          <p:cNvPr id="27" name="TextBox 26"/>
          <p:cNvSpPr txBox="1"/>
          <p:nvPr/>
        </p:nvSpPr>
        <p:spPr>
          <a:xfrm>
            <a:off x="276225" y="5855588"/>
            <a:ext cx="7048375" cy="194310"/>
          </a:xfrm>
          <a:prstGeom prst="rect">
            <a:avLst/>
          </a:prstGeom>
          <a:noFill/>
        </p:spPr>
        <p:txBody>
          <a:bodyPr wrap="none" lIns="0" rIns="0" tIns="0" bIns="0">
            <a:spAutoFit/>
          </a:bodyPr>
          <a:lstStyle/>
          <a:p>
            <a:r>
              <a:rPr sz="1150" b="0">
                <a:solidFill>
                  <a:srgbClr val="2E2E2E"/>
                </a:solidFill>
                <a:latin typeface="Calibri"/>
              </a:rPr>
              <a:t>▪ Aftermarket &amp; Service Costs exerts the least pressure a second-order effect to monitor rather than actively manage.</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Waterproof Coatings Market Regional Price Assessment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price assessment across the value chain, from manufacturer to retail, and average price by geography, 2026–2036</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Regional price assessment across the value chain (US$/Units) and price trajectory to 2036.</a:t>
            </a:r>
          </a:p>
        </p:txBody>
      </p:sp>
      <p:sp>
        <p:nvSpPr>
          <p:cNvPr id="11" name="Rounded Rectangle 10"/>
          <p:cNvSpPr/>
          <p:nvPr/>
        </p:nvSpPr>
        <p:spPr>
          <a:xfrm>
            <a:off x="142875" y="1317574"/>
            <a:ext cx="5905500" cy="2738055"/>
          </a:xfrm>
          <a:prstGeom prst="roundRect">
            <a:avLst>
              <a:gd name="adj" fmla="val 27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Regional Price by Value-Chain Level (US$/Units)</a:t>
            </a:r>
          </a:p>
        </p:txBody>
      </p:sp>
      <p:graphicFrame>
        <p:nvGraphicFramePr>
          <p:cNvPr id="13" name="Table 12"/>
          <p:cNvGraphicFramePr>
            <a:graphicFrameLocks noGrp="1"/>
          </p:cNvGraphicFramePr>
          <p:nvPr/>
        </p:nvGraphicFramePr>
        <p:xfrm>
          <a:off x="152400" y="1574749"/>
          <a:ext cx="5886452" cy="2271331"/>
        </p:xfrm>
        <a:graphic>
          <a:graphicData uri="http://schemas.openxmlformats.org/drawingml/2006/table">
            <a:tbl>
              <a:tblPr>
                <a:tableStyleId>{5C22544A-7EE6-4342-B048-85BDC9FD1C3A}</a:tableStyleId>
              </a:tblPr>
              <a:tblGrid>
                <a:gridCol w="1370904"/>
                <a:gridCol w="1128887"/>
                <a:gridCol w="1128887"/>
                <a:gridCol w="1128887"/>
                <a:gridCol w="1128887"/>
              </a:tblGrid>
              <a:tr h="246126">
                <a:tc>
                  <a:txBody>
                    <a:bodyPr wrap="none"/>
                    <a:lstStyle/>
                    <a:p>
                      <a:pPr algn="l"/>
                      <a:r>
                        <a:rPr sz="1100" b="1">
                          <a:solidFill>
                            <a:srgbClr val="0B2E4A"/>
                          </a:solidFill>
                          <a:latin typeface="Calibri"/>
                        </a:rPr>
                        <a:t>Geography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Manufacturer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Distribution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Retail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 Margin (%)</a:t>
                      </a:r>
                      <a:endParaRPr sz="1100"/>
                    </a:p>
                  </a:txBody>
                  <a:tcPr marL="47625" marR="38100" marT="19050" marB="19050" anchor="ctr">
                    <a:solidFill>
                      <a:srgbClr val="E0E8EF"/>
                    </a:solidFill>
                  </a:tcPr>
                </a:tc>
              </a:tr>
              <a:tr h="289315">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89315">
                <a:tc>
                  <a:txBody>
                    <a:bodyPr wrap="none"/>
                    <a:lstStyle/>
                    <a:p>
                      <a:pPr algn="l"/>
                      <a:r>
                        <a:rPr sz="1100" b="1">
                          <a:solidFill>
                            <a:srgbClr val="2E2E2E"/>
                          </a:solidFill>
                          <a:latin typeface="Calibri"/>
                        </a:rPr>
                        <a:t>East Asia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89315">
                <a:tc>
                  <a:txBody>
                    <a:bodyPr wrap="none"/>
                    <a:lstStyle/>
                    <a:p>
                      <a:pPr algn="l"/>
                      <a:r>
                        <a:rPr sz="1100" b="1">
                          <a:solidFill>
                            <a:srgbClr val="2E2E2E"/>
                          </a:solidFill>
                          <a:latin typeface="Calibri"/>
                        </a:rPr>
                        <a:t>Western 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E2E2E"/>
                          </a:solidFill>
                          <a:latin typeface="Calibri"/>
                        </a:rPr>
                        <a:t>Eastern Europe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89315">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4" name="TextBox 13"/>
          <p:cNvSpPr txBox="1"/>
          <p:nvPr/>
        </p:nvSpPr>
        <p:spPr>
          <a:xfrm>
            <a:off x="219075" y="3855604"/>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6200775" y="1317574"/>
            <a:ext cx="5848350" cy="2738055"/>
          </a:xfrm>
          <a:prstGeom prst="roundRect">
            <a:avLst>
              <a:gd name="adj" fmla="val 27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6025" y="1374724"/>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by Geography (US$/Units)</a:t>
            </a:r>
          </a:p>
        </p:txBody>
      </p:sp>
      <p:graphicFrame>
        <p:nvGraphicFramePr>
          <p:cNvPr id="17" name="Table 16"/>
          <p:cNvGraphicFramePr>
            <a:graphicFrameLocks noGrp="1"/>
          </p:cNvGraphicFramePr>
          <p:nvPr/>
        </p:nvGraphicFramePr>
        <p:xfrm>
          <a:off x="6210300" y="1574749"/>
          <a:ext cx="5829299" cy="2271331"/>
        </p:xfrm>
        <a:graphic>
          <a:graphicData uri="http://schemas.openxmlformats.org/drawingml/2006/table">
            <a:tbl>
              <a:tblPr>
                <a:tableStyleId>{5C22544A-7EE6-4342-B048-85BDC9FD1C3A}</a:tableStyleId>
              </a:tblPr>
              <a:tblGrid>
                <a:gridCol w="2038759"/>
                <a:gridCol w="947635"/>
                <a:gridCol w="947635"/>
                <a:gridCol w="947635"/>
                <a:gridCol w="947635"/>
              </a:tblGrid>
              <a:tr h="246126">
                <a:tc>
                  <a:txBody>
                    <a:bodyPr wrap="none"/>
                    <a:lstStyle/>
                    <a:p>
                      <a:pPr algn="l"/>
                      <a:r>
                        <a:rPr sz="1100" b="1">
                          <a:solidFill>
                            <a:srgbClr val="0B2E4A"/>
                          </a:solidFill>
                          <a:latin typeface="Calibri"/>
                        </a:rPr>
                        <a:t>Geography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89315">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89315">
                <a:tc>
                  <a:txBody>
                    <a:bodyPr wrap="none"/>
                    <a:lstStyle/>
                    <a:p>
                      <a:pPr algn="l"/>
                      <a:r>
                        <a:rPr sz="1100" b="1">
                          <a:solidFill>
                            <a:srgbClr val="2E2E2E"/>
                          </a:solidFill>
                          <a:latin typeface="Calibri"/>
                        </a:rPr>
                        <a:t>East Asia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89315">
                <a:tc>
                  <a:txBody>
                    <a:bodyPr wrap="none"/>
                    <a:lstStyle/>
                    <a:p>
                      <a:pPr algn="l"/>
                      <a:r>
                        <a:rPr sz="1100" b="1">
                          <a:solidFill>
                            <a:srgbClr val="2E2E2E"/>
                          </a:solidFill>
                          <a:latin typeface="Calibri"/>
                        </a:rPr>
                        <a:t>Western 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E2E2E"/>
                          </a:solidFill>
                          <a:latin typeface="Calibri"/>
                        </a:rPr>
                        <a:t>Eastern Europe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89315">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8" name="TextBox 17"/>
          <p:cNvSpPr txBox="1"/>
          <p:nvPr/>
        </p:nvSpPr>
        <p:spPr>
          <a:xfrm>
            <a:off x="6276975" y="3855604"/>
            <a:ext cx="56959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142875" y="4201658"/>
            <a:ext cx="119062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287383"/>
            <a:ext cx="11639550" cy="209550"/>
          </a:xfrm>
          <a:prstGeom prst="rect">
            <a:avLst/>
          </a:prstGeom>
          <a:noFill/>
        </p:spPr>
        <p:txBody>
          <a:bodyPr wrap="square" lIns="0" rIns="19050" tIns="9525" bIns="9525">
            <a:spAutoFit/>
          </a:bodyPr>
          <a:lstStyle/>
          <a:p>
            <a:pPr algn="l"/>
            <a:r>
              <a:rPr sz="1300" b="1">
                <a:solidFill>
                  <a:srgbClr val="0B2E4A"/>
                </a:solidFill>
                <a:latin typeface="Calibri"/>
              </a:rPr>
              <a:t>What This Section Covers</a:t>
            </a:r>
          </a:p>
        </p:txBody>
      </p:sp>
      <p:sp>
        <p:nvSpPr>
          <p:cNvPr id="21" name="Rectangle 20"/>
          <p:cNvSpPr/>
          <p:nvPr/>
        </p:nvSpPr>
        <p:spPr>
          <a:xfrm>
            <a:off x="276225" y="4525508"/>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611233"/>
            <a:ext cx="116395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Manufacturer-level pricing ex-works / producer price benchmarked for each geography.</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Distribution &amp; channel pricing logistics and channel margin layered onto the producer price.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Retail / end-market pricing the average price paid by the end customer across geographies.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Value-chain margin build-up cumulative margin from manufacturer to retail, by geography (prices derived as Value ÷ Volume).</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3594387" y="2566777"/>
            <a:ext cx="366712" cy="533400"/>
          </a:xfrm>
          <a:prstGeom prst="rect">
            <a:avLst/>
          </a:prstGeom>
        </p:spPr>
      </p:pic>
      <p:pic>
        <p:nvPicPr>
          <p:cNvPr id="25" name="Picture 24" descr="lock.png"/>
          <p:cNvPicPr>
            <a:picLocks noChangeAspect="1"/>
          </p:cNvPicPr>
          <p:nvPr/>
        </p:nvPicPr>
        <p:blipFill>
          <a:blip r:embed="rId4"/>
          <a:stretch>
            <a:fillRect/>
          </a:stretch>
        </p:blipFill>
        <p:spPr>
          <a:xfrm>
            <a:off x="9957639" y="2566777"/>
            <a:ext cx="366712" cy="533400"/>
          </a:xfrm>
          <a:prstGeom prst="rect">
            <a:avLst/>
          </a:prstGeom>
        </p:spPr>
      </p:pic>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Waterproof Coatings Market Global Pricing Benchmarking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Benchmarking of price range by region and sub-segment against the weighted average price of each region</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Development-stage price assumptions and manufacturer benchmarking price range by product type / chemistry type and region (US$/Units).</a:t>
            </a:r>
          </a:p>
        </p:txBody>
      </p:sp>
      <p:sp>
        <p:nvSpPr>
          <p:cNvPr id="11" name="Rounded Rectangle 10"/>
          <p:cNvSpPr/>
          <p:nvPr/>
        </p:nvSpPr>
        <p:spPr>
          <a:xfrm>
            <a:off x="142875" y="1314450"/>
            <a:ext cx="11906250" cy="3286125"/>
          </a:xfrm>
          <a:prstGeom prst="roundRect">
            <a:avLst>
              <a:gd name="adj" fmla="val 23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16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Benchmarking by Region &amp; Product Type / Chemistry (US$/Units)</a:t>
            </a:r>
          </a:p>
        </p:txBody>
      </p:sp>
      <p:graphicFrame>
        <p:nvGraphicFramePr>
          <p:cNvPr id="13" name="Table 12"/>
          <p:cNvGraphicFramePr>
            <a:graphicFrameLocks noGrp="1"/>
          </p:cNvGraphicFramePr>
          <p:nvPr/>
        </p:nvGraphicFramePr>
        <p:xfrm>
          <a:off x="152400" y="1571625"/>
          <a:ext cx="11888219" cy="2819400"/>
        </p:xfrm>
        <a:graphic>
          <a:graphicData uri="http://schemas.openxmlformats.org/drawingml/2006/table">
            <a:tbl>
              <a:tblPr>
                <a:tableStyleId>{5C22544A-7EE6-4342-B048-85BDC9FD1C3A}</a:tableStyleId>
              </a:tblPr>
              <a:tblGrid>
                <a:gridCol w="1348921"/>
                <a:gridCol w="1223144"/>
                <a:gridCol w="1245805"/>
                <a:gridCol w="1221960"/>
                <a:gridCol w="1225197"/>
                <a:gridCol w="1232461"/>
                <a:gridCol w="1236093"/>
                <a:gridCol w="1227408"/>
                <a:gridCol w="1227961"/>
                <a:gridCol w="699269"/>
              </a:tblGrid>
              <a:tr h="824484">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Acrylic Waterproof Coatings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Polyurethane (PU) Waterproof Coatings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Epoxy Waterproof Coatings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Silicone Waterproof Coatings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Bituminous Waterproof Coatings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Cementitious Waterproof Coatings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Polyurea Waterproof Coatings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Other Polymer-Based Coatings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Weighted Avg</a:t>
                      </a:r>
                      <a:endParaRPr sz="1100"/>
                    </a:p>
                  </a:txBody>
                  <a:tcPr marL="47625" marR="38100" marT="19050" marB="19050" anchor="ctr">
                    <a:solidFill>
                      <a:srgbClr val="E0E8EF"/>
                    </a:solidFill>
                  </a:tcPr>
                </a:tc>
              </a:tr>
              <a:tr h="284988">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4988">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84988">
                <a:tc>
                  <a:txBody>
                    <a:bodyPr wrap="none"/>
                    <a:lstStyle/>
                    <a:p>
                      <a:pPr algn="l"/>
                      <a:r>
                        <a:rPr sz="1100" b="1">
                          <a:solidFill>
                            <a:srgbClr val="2E2E2E"/>
                          </a:solidFill>
                          <a:latin typeface="Calibri"/>
                        </a:rPr>
                        <a:t>East Asia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4988">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84988">
                <a:tc>
                  <a:txBody>
                    <a:bodyPr wrap="none"/>
                    <a:lstStyle/>
                    <a:p>
                      <a:pPr algn="l"/>
                      <a:r>
                        <a:rPr sz="1100" b="1">
                          <a:solidFill>
                            <a:srgbClr val="2E2E2E"/>
                          </a:solidFill>
                          <a:latin typeface="Calibri"/>
                        </a:rPr>
                        <a:t>Western 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4988">
                <a:tc>
                  <a:txBody>
                    <a:bodyPr wrap="none"/>
                    <a:lstStyle/>
                    <a:p>
                      <a:pPr algn="l"/>
                      <a:r>
                        <a:rPr sz="1100" b="1">
                          <a:solidFill>
                            <a:srgbClr val="2E2E2E"/>
                          </a:solidFill>
                          <a:latin typeface="Calibri"/>
                        </a:rPr>
                        <a:t>Eastern Europe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84988">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4" name="TextBox 13"/>
          <p:cNvSpPr txBox="1"/>
          <p:nvPr/>
        </p:nvSpPr>
        <p:spPr>
          <a:xfrm>
            <a:off x="219075" y="44005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475297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838700"/>
            <a:ext cx="11639550" cy="209550"/>
          </a:xfrm>
          <a:prstGeom prst="rect">
            <a:avLst/>
          </a:prstGeom>
          <a:noFill/>
        </p:spPr>
        <p:txBody>
          <a:bodyPr wrap="square" lIns="0" rIns="19050" tIns="9525" bIns="9525">
            <a:spAutoFit/>
          </a:bodyPr>
          <a:lstStyle/>
          <a:p>
            <a:pPr algn="l"/>
            <a:r>
              <a:rPr sz="1300" b="1">
                <a:solidFill>
                  <a:srgbClr val="0B2E4A"/>
                </a:solidFill>
                <a:latin typeface="Calibri"/>
              </a:rPr>
              <a:t>Benchmarking Insights</a:t>
            </a:r>
          </a:p>
        </p:txBody>
      </p:sp>
      <p:sp>
        <p:nvSpPr>
          <p:cNvPr id="17" name="Rectangle 16"/>
          <p:cNvSpPr/>
          <p:nvPr/>
        </p:nvSpPr>
        <p:spPr>
          <a:xfrm>
            <a:off x="276225" y="50768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5162550"/>
            <a:ext cx="11639550" cy="13049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576076" y="3126866"/>
            <a:ext cx="366712" cy="533400"/>
          </a:xfrm>
          <a:prstGeom prst="rect">
            <a:avLst/>
          </a:prstGeom>
        </p:spPr>
      </p:pic>
      <p:sp>
        <p:nvSpPr>
          <p:cNvPr id="21" name="TextBox 20"/>
          <p:cNvSpPr txBox="1"/>
          <p:nvPr/>
        </p:nvSpPr>
        <p:spPr>
          <a:xfrm>
            <a:off x="276225" y="5172075"/>
            <a:ext cx="4641688" cy="194310"/>
          </a:xfrm>
          <a:prstGeom prst="rect">
            <a:avLst/>
          </a:prstGeom>
          <a:noFill/>
        </p:spPr>
        <p:txBody>
          <a:bodyPr wrap="none" lIns="0" rIns="0" tIns="0" bIns="0">
            <a:spAutoFit/>
          </a:bodyPr>
          <a:lstStyle/>
          <a:p>
            <a:r>
              <a:rPr sz="1150" b="0">
                <a:solidFill>
                  <a:srgbClr val="2E2E2E"/>
                </a:solidFill>
                <a:latin typeface="Calibri"/>
              </a:rPr>
              <a:t>▪ On a weighted-average basis 'North America' is the highest-priced region (~</a:t>
            </a:r>
          </a:p>
        </p:txBody>
      </p:sp>
      <p:pic>
        <p:nvPicPr>
          <p:cNvPr id="22" name="Picture 21" descr="lock.png"/>
          <p:cNvPicPr>
            <a:picLocks noChangeAspect="1"/>
          </p:cNvPicPr>
          <p:nvPr/>
        </p:nvPicPr>
        <p:blipFill>
          <a:blip r:embed="rId4"/>
          <a:stretch>
            <a:fillRect/>
          </a:stretch>
        </p:blipFill>
        <p:spPr>
          <a:xfrm>
            <a:off x="4867067" y="5161851"/>
            <a:ext cx="134549" cy="195707"/>
          </a:xfrm>
          <a:prstGeom prst="rect">
            <a:avLst/>
          </a:prstGeom>
        </p:spPr>
      </p:pic>
      <p:sp>
        <p:nvSpPr>
          <p:cNvPr id="23" name="TextBox 22"/>
          <p:cNvSpPr txBox="1"/>
          <p:nvPr/>
        </p:nvSpPr>
        <p:spPr>
          <a:xfrm>
            <a:off x="5042176" y="5172075"/>
            <a:ext cx="3704629" cy="194310"/>
          </a:xfrm>
          <a:prstGeom prst="rect">
            <a:avLst/>
          </a:prstGeom>
          <a:noFill/>
        </p:spPr>
        <p:txBody>
          <a:bodyPr wrap="none" lIns="0" rIns="0" tIns="0" bIns="0">
            <a:spAutoFit/>
          </a:bodyPr>
          <a:lstStyle/>
          <a:p>
            <a:r>
              <a:rPr sz="1150" b="0">
                <a:solidFill>
                  <a:srgbClr val="2E2E2E"/>
                </a:solidFill>
                <a:latin typeface="Calibri"/>
              </a:rPr>
              <a:t>US$/Units) and 'South Asia &amp; Pacific' the most competitive (~</a:t>
            </a:r>
          </a:p>
        </p:txBody>
      </p:sp>
      <p:pic>
        <p:nvPicPr>
          <p:cNvPr id="24" name="Picture 23" descr="lock.png"/>
          <p:cNvPicPr>
            <a:picLocks noChangeAspect="1"/>
          </p:cNvPicPr>
          <p:nvPr/>
        </p:nvPicPr>
        <p:blipFill>
          <a:blip r:embed="rId4"/>
          <a:stretch>
            <a:fillRect/>
          </a:stretch>
        </p:blipFill>
        <p:spPr>
          <a:xfrm>
            <a:off x="8695960" y="5161851"/>
            <a:ext cx="134549" cy="195707"/>
          </a:xfrm>
          <a:prstGeom prst="rect">
            <a:avLst/>
          </a:prstGeom>
        </p:spPr>
      </p:pic>
      <p:sp>
        <p:nvSpPr>
          <p:cNvPr id="25" name="TextBox 24"/>
          <p:cNvSpPr txBox="1"/>
          <p:nvPr/>
        </p:nvSpPr>
        <p:spPr>
          <a:xfrm>
            <a:off x="8871069" y="5172075"/>
            <a:ext cx="759097" cy="194310"/>
          </a:xfrm>
          <a:prstGeom prst="rect">
            <a:avLst/>
          </a:prstGeom>
          <a:noFill/>
        </p:spPr>
        <p:txBody>
          <a:bodyPr wrap="none" lIns="0" rIns="0" tIns="0" bIns="0">
            <a:spAutoFit/>
          </a:bodyPr>
          <a:lstStyle/>
          <a:p>
            <a:r>
              <a:rPr sz="1150" b="0">
                <a:solidFill>
                  <a:srgbClr val="2E2E2E"/>
                </a:solidFill>
                <a:latin typeface="Calibri"/>
              </a:rPr>
              <a:t>US$/Units).</a:t>
            </a:r>
          </a:p>
        </p:txBody>
      </p:sp>
      <p:sp>
        <p:nvSpPr>
          <p:cNvPr id="26" name="TextBox 25"/>
          <p:cNvSpPr txBox="1"/>
          <p:nvPr/>
        </p:nvSpPr>
        <p:spPr>
          <a:xfrm>
            <a:off x="276225" y="5399913"/>
            <a:ext cx="6637325" cy="194310"/>
          </a:xfrm>
          <a:prstGeom prst="rect">
            <a:avLst/>
          </a:prstGeom>
          <a:noFill/>
        </p:spPr>
        <p:txBody>
          <a:bodyPr wrap="none" lIns="0" rIns="0" tIns="0" bIns="0">
            <a:spAutoFit/>
          </a:bodyPr>
          <a:lstStyle/>
          <a:p>
            <a:r>
              <a:rPr sz="1150" b="0">
                <a:solidFill>
                  <a:srgbClr val="2E2E2E"/>
                </a:solidFill>
                <a:latin typeface="Calibri"/>
              </a:rPr>
              <a:t>▪ Price ranges are benchmarked per product type / chemistry type at 2026, derived as Value ÷ Volume with a ±</a:t>
            </a:r>
          </a:p>
        </p:txBody>
      </p:sp>
      <p:pic>
        <p:nvPicPr>
          <p:cNvPr id="27" name="Picture 26" descr="lock.png"/>
          <p:cNvPicPr>
            <a:picLocks noChangeAspect="1"/>
          </p:cNvPicPr>
          <p:nvPr/>
        </p:nvPicPr>
        <p:blipFill>
          <a:blip r:embed="rId4"/>
          <a:stretch>
            <a:fillRect/>
          </a:stretch>
        </p:blipFill>
        <p:spPr>
          <a:xfrm>
            <a:off x="6862704" y="5389689"/>
            <a:ext cx="134549" cy="195707"/>
          </a:xfrm>
          <a:prstGeom prst="rect">
            <a:avLst/>
          </a:prstGeom>
        </p:spPr>
      </p:pic>
      <p:sp>
        <p:nvSpPr>
          <p:cNvPr id="28" name="TextBox 27"/>
          <p:cNvSpPr txBox="1"/>
          <p:nvPr/>
        </p:nvSpPr>
        <p:spPr>
          <a:xfrm>
            <a:off x="7037813" y="5399913"/>
            <a:ext cx="1455117" cy="194310"/>
          </a:xfrm>
          <a:prstGeom prst="rect">
            <a:avLst/>
          </a:prstGeom>
          <a:noFill/>
        </p:spPr>
        <p:txBody>
          <a:bodyPr wrap="none" lIns="0" rIns="0" tIns="0" bIns="0">
            <a:spAutoFit/>
          </a:bodyPr>
          <a:lstStyle/>
          <a:p>
            <a:r>
              <a:rPr sz="1150" b="0">
                <a:solidFill>
                  <a:srgbClr val="2E2E2E"/>
                </a:solidFill>
                <a:latin typeface="Calibri"/>
              </a:rPr>
              <a:t>observed trading band.</a:t>
            </a:r>
          </a:p>
        </p:txBody>
      </p:sp>
      <p:sp>
        <p:nvSpPr>
          <p:cNvPr id="29" name="TextBox 28"/>
          <p:cNvSpPr txBox="1"/>
          <p:nvPr/>
        </p:nvSpPr>
        <p:spPr>
          <a:xfrm>
            <a:off x="276225" y="5627750"/>
            <a:ext cx="2140867" cy="194310"/>
          </a:xfrm>
          <a:prstGeom prst="rect">
            <a:avLst/>
          </a:prstGeom>
          <a:noFill/>
        </p:spPr>
        <p:txBody>
          <a:bodyPr wrap="none" lIns="0" rIns="0" tIns="0" bIns="0">
            <a:spAutoFit/>
          </a:bodyPr>
          <a:lstStyle/>
          <a:p>
            <a:r>
              <a:rPr sz="1150" b="0">
                <a:solidFill>
                  <a:srgbClr val="2E2E2E"/>
                </a:solidFill>
                <a:latin typeface="Calibri"/>
              </a:rPr>
              <a:t>▪ Cross-region price dispersion of ~</a:t>
            </a:r>
          </a:p>
        </p:txBody>
      </p:sp>
      <p:pic>
        <p:nvPicPr>
          <p:cNvPr id="30" name="Picture 29" descr="lock.png"/>
          <p:cNvPicPr>
            <a:picLocks noChangeAspect="1"/>
          </p:cNvPicPr>
          <p:nvPr/>
        </p:nvPicPr>
        <p:blipFill>
          <a:blip r:embed="rId4"/>
          <a:stretch>
            <a:fillRect/>
          </a:stretch>
        </p:blipFill>
        <p:spPr>
          <a:xfrm>
            <a:off x="2366246" y="5617527"/>
            <a:ext cx="134549" cy="195707"/>
          </a:xfrm>
          <a:prstGeom prst="rect">
            <a:avLst/>
          </a:prstGeom>
        </p:spPr>
      </p:pic>
      <p:sp>
        <p:nvSpPr>
          <p:cNvPr id="31" name="TextBox 30"/>
          <p:cNvSpPr txBox="1"/>
          <p:nvPr/>
        </p:nvSpPr>
        <p:spPr>
          <a:xfrm>
            <a:off x="2541355" y="5627750"/>
            <a:ext cx="3627040" cy="194310"/>
          </a:xfrm>
          <a:prstGeom prst="rect">
            <a:avLst/>
          </a:prstGeom>
          <a:noFill/>
        </p:spPr>
        <p:txBody>
          <a:bodyPr wrap="none" lIns="0" rIns="0" tIns="0" bIns="0">
            <a:spAutoFit/>
          </a:bodyPr>
          <a:lstStyle/>
          <a:p>
            <a:r>
              <a:rPr sz="1150" b="0">
                <a:solidFill>
                  <a:srgbClr val="2E2E2E"/>
                </a:solidFill>
                <a:latin typeface="Calibri"/>
              </a:rPr>
              <a:t>× reflects differences in mix, logistics and channel structure.</a:t>
            </a:r>
          </a:p>
        </p:txBody>
      </p:sp>
      <p:sp>
        <p:nvSpPr>
          <p:cNvPr id="32" name="TextBox 31"/>
          <p:cNvSpPr txBox="1"/>
          <p:nvPr/>
        </p:nvSpPr>
        <p:spPr>
          <a:xfrm>
            <a:off x="276225" y="5855588"/>
            <a:ext cx="5691708" cy="194310"/>
          </a:xfrm>
          <a:prstGeom prst="rect">
            <a:avLst/>
          </a:prstGeom>
          <a:noFill/>
        </p:spPr>
        <p:txBody>
          <a:bodyPr wrap="none" lIns="0" rIns="0" tIns="0" bIns="0">
            <a:spAutoFit/>
          </a:bodyPr>
          <a:lstStyle/>
          <a:p>
            <a:r>
              <a:rPr sz="1150" b="0">
                <a:solidFill>
                  <a:srgbClr val="2E2E2E"/>
                </a:solidFill>
                <a:latin typeface="Calibri"/>
              </a:rPr>
              <a:t>▪ Benchmarks support price-corridor setting and margin-defence decisions across geographies.</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Waterproof Coatings Market Price Forecast &amp; Dynamics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forecast by sub-segment, 2026–2036, with the factors and dynamics shaping the trajectory</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Forward price trajectory to 2036 by product type / chemistry type and the structural factors shaping it (US$/Units).</a:t>
            </a:r>
          </a:p>
        </p:txBody>
      </p:sp>
      <p:sp>
        <p:nvSpPr>
          <p:cNvPr id="11" name="Rounded Rectangle 10"/>
          <p:cNvSpPr/>
          <p:nvPr/>
        </p:nvSpPr>
        <p:spPr>
          <a:xfrm>
            <a:off x="142875" y="1317574"/>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Forecast to 2036 by Product Type / Chemistry (US$/Units)</a:t>
            </a:r>
          </a:p>
        </p:txBody>
      </p:sp>
      <p:graphicFrame>
        <p:nvGraphicFramePr>
          <p:cNvPr id="13" name="Table 12"/>
          <p:cNvGraphicFramePr>
            <a:graphicFrameLocks noGrp="1"/>
          </p:cNvGraphicFramePr>
          <p:nvPr/>
        </p:nvGraphicFramePr>
        <p:xfrm>
          <a:off x="152400" y="1574749"/>
          <a:ext cx="11887200" cy="1504674"/>
        </p:xfrm>
        <a:graphic>
          <a:graphicData uri="http://schemas.openxmlformats.org/drawingml/2006/table">
            <a:tbl>
              <a:tblPr>
                <a:tableStyleId>{5C22544A-7EE6-4342-B048-85BDC9FD1C3A}</a:tableStyleId>
              </a:tblPr>
              <a:tblGrid>
                <a:gridCol w="4226994"/>
                <a:gridCol w="1276701"/>
                <a:gridCol w="1276701"/>
                <a:gridCol w="1276701"/>
                <a:gridCol w="1276701"/>
                <a:gridCol w="1276701"/>
                <a:gridCol w="1276701"/>
              </a:tblGrid>
              <a:tr h="246126">
                <a:tc>
                  <a:txBody>
                    <a:bodyPr wrap="none"/>
                    <a:lstStyle/>
                    <a:p>
                      <a:pPr algn="l"/>
                      <a:r>
                        <a:rPr sz="1100" b="1">
                          <a:solidFill>
                            <a:srgbClr val="0B2E4A"/>
                          </a:solidFill>
                          <a:latin typeface="Calibri"/>
                        </a:rPr>
                        <a:t>Product Type / Chemistry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419516">
                <a:tc>
                  <a:txBody>
                    <a:bodyPr wrap="none"/>
                    <a:lstStyle/>
                    <a:p>
                      <a:pPr algn="l"/>
                      <a:r>
                        <a:rPr sz="1100" b="1">
                          <a:solidFill>
                            <a:srgbClr val="2E2E2E"/>
                          </a:solidFill>
                          <a:latin typeface="Calibri"/>
                        </a:rPr>
                        <a:t>Acrylic Waterproof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19516">
                <a:tc>
                  <a:txBody>
                    <a:bodyPr wrap="none"/>
                    <a:lstStyle/>
                    <a:p>
                      <a:pPr algn="l"/>
                      <a:r>
                        <a:rPr sz="1100" b="1">
                          <a:solidFill>
                            <a:srgbClr val="2E2E2E"/>
                          </a:solidFill>
                          <a:latin typeface="Calibri"/>
                        </a:rPr>
                        <a:t>Polyurethane (PU) Waterproof…</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19516">
                <a:tc>
                  <a:txBody>
                    <a:bodyPr wrap="none"/>
                    <a:lstStyle/>
                    <a:p>
                      <a:pPr algn="l"/>
                      <a:r>
                        <a:rPr sz="1100" b="1">
                          <a:solidFill>
                            <a:srgbClr val="2E2E2E"/>
                          </a:solidFill>
                          <a:latin typeface="Calibri"/>
                        </a:rPr>
                        <a:t>Epoxy Waterproof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4" name="TextBox 13"/>
          <p:cNvSpPr txBox="1"/>
          <p:nvPr/>
        </p:nvSpPr>
        <p:spPr>
          <a:xfrm>
            <a:off x="219075" y="3088948"/>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98495"/>
            <a:ext cx="590550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Factors Impacting Pricing</a:t>
            </a:r>
          </a:p>
        </p:txBody>
      </p:sp>
      <p:graphicFrame>
        <p:nvGraphicFramePr>
          <p:cNvPr id="17" name="Table 16"/>
          <p:cNvGraphicFramePr>
            <a:graphicFrameLocks noGrp="1"/>
          </p:cNvGraphicFramePr>
          <p:nvPr/>
        </p:nvGraphicFramePr>
        <p:xfrm>
          <a:off x="152400" y="3655670"/>
          <a:ext cx="5886449" cy="2714626"/>
        </p:xfrm>
        <a:graphic>
          <a:graphicData uri="http://schemas.openxmlformats.org/drawingml/2006/table">
            <a:tbl>
              <a:tblPr>
                <a:tableStyleId>{5C22544A-7EE6-4342-B048-85BDC9FD1C3A}</a:tableStyleId>
              </a:tblPr>
              <a:tblGrid>
                <a:gridCol w="2867491"/>
                <a:gridCol w="1509479"/>
                <a:gridCol w="1509479"/>
              </a:tblGrid>
              <a:tr h="246126">
                <a:tc>
                  <a:txBody>
                    <a:bodyPr wrap="none"/>
                    <a:lstStyle/>
                    <a:p>
                      <a:pPr algn="l"/>
                      <a:r>
                        <a:rPr sz="1100" b="1">
                          <a:solidFill>
                            <a:srgbClr val="0B2E4A"/>
                          </a:solidFill>
                          <a:latin typeface="Calibri"/>
                        </a:rPr>
                        <a:t>Pricing Factor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Direction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Impact (H/M/L)</a:t>
                      </a:r>
                      <a:endParaRPr sz="1100"/>
                    </a:p>
                  </a:txBody>
                  <a:tcPr marL="47625" marR="38100" marT="19050" marB="19050" anchor="ctr">
                    <a:solidFill>
                      <a:srgbClr val="E0E8EF"/>
                    </a:solidFill>
                  </a:tcPr>
                </a:tc>
              </a:tr>
              <a:tr h="246850">
                <a:tc>
                  <a:txBody>
                    <a:bodyPr wrap="none"/>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Labor &amp; Production Costs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Supply Chain &amp; Logistics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Demand &amp; Market Conditions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Competitive Landscape</a:t>
                      </a:r>
                      <a:endParaRPr sz="1100"/>
                    </a:p>
                  </a:txBody>
                  <a:tcPr marL="47625" marR="38100" marT="19050" marB="19050" anchor="ctr">
                    <a:solidFill>
                      <a:srgbClr val="F5F8FA"/>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Currency &amp; Trade Dynamics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Brand &amp; Value Perception</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Aftermarket &amp; Service Costs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r>
            </a:tbl>
          </a:graphicData>
        </a:graphic>
      </p:graphicFrame>
      <p:sp>
        <p:nvSpPr>
          <p:cNvPr id="18" name="TextBox 17"/>
          <p:cNvSpPr txBox="1"/>
          <p:nvPr/>
        </p:nvSpPr>
        <p:spPr>
          <a:xfrm>
            <a:off x="219075" y="6379820"/>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6200775" y="3398495"/>
            <a:ext cx="5848350" cy="3157890"/>
          </a:xfrm>
          <a:prstGeom prst="roundRect">
            <a:avLst>
              <a:gd name="adj" fmla="val 241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4125" y="3484220"/>
            <a:ext cx="5581650" cy="209550"/>
          </a:xfrm>
          <a:prstGeom prst="rect">
            <a:avLst/>
          </a:prstGeom>
          <a:noFill/>
        </p:spPr>
        <p:txBody>
          <a:bodyPr wrap="square" lIns="0" rIns="19050" tIns="9525" bIns="9525">
            <a:spAutoFit/>
          </a:bodyPr>
          <a:lstStyle/>
          <a:p>
            <a:pPr algn="l"/>
            <a:r>
              <a:rPr sz="1300" b="1">
                <a:solidFill>
                  <a:srgbClr val="0B2E4A"/>
                </a:solidFill>
                <a:latin typeface="Calibri"/>
              </a:rPr>
              <a:t>Pricing Dynamics &amp; Outlook</a:t>
            </a:r>
          </a:p>
        </p:txBody>
      </p:sp>
      <p:sp>
        <p:nvSpPr>
          <p:cNvPr id="21" name="Rectangle 20"/>
          <p:cNvSpPr/>
          <p:nvPr/>
        </p:nvSpPr>
        <p:spPr>
          <a:xfrm>
            <a:off x="6334125" y="3722345"/>
            <a:ext cx="5581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34125" y="3808070"/>
            <a:ext cx="5581650" cy="267211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8022806" y="2183449"/>
            <a:ext cx="366712" cy="533399"/>
          </a:xfrm>
          <a:prstGeom prst="rect">
            <a:avLst/>
          </a:prstGeom>
        </p:spPr>
      </p:pic>
      <p:sp>
        <p:nvSpPr>
          <p:cNvPr id="25" name="TextBox 24"/>
          <p:cNvSpPr txBox="1"/>
          <p:nvPr/>
        </p:nvSpPr>
        <p:spPr>
          <a:xfrm>
            <a:off x="6334125" y="3817595"/>
            <a:ext cx="4048320" cy="194310"/>
          </a:xfrm>
          <a:prstGeom prst="rect">
            <a:avLst/>
          </a:prstGeom>
          <a:noFill/>
        </p:spPr>
        <p:txBody>
          <a:bodyPr wrap="none" lIns="0" rIns="0" tIns="0" bIns="0">
            <a:spAutoFit/>
          </a:bodyPr>
          <a:lstStyle/>
          <a:p>
            <a:r>
              <a:rPr sz="1150" b="0">
                <a:solidFill>
                  <a:srgbClr val="2E2E2E"/>
                </a:solidFill>
                <a:latin typeface="Calibri"/>
              </a:rPr>
              <a:t>▪ Average product type / chemistry price is projected to rise from ~</a:t>
            </a:r>
          </a:p>
        </p:txBody>
      </p:sp>
      <p:pic>
        <p:nvPicPr>
          <p:cNvPr id="26" name="Picture 25" descr="lock.png"/>
          <p:cNvPicPr>
            <a:picLocks noChangeAspect="1"/>
          </p:cNvPicPr>
          <p:nvPr/>
        </p:nvPicPr>
        <p:blipFill>
          <a:blip r:embed="rId4"/>
          <a:stretch>
            <a:fillRect/>
          </a:stretch>
        </p:blipFill>
        <p:spPr>
          <a:xfrm>
            <a:off x="10331599" y="3807371"/>
            <a:ext cx="134549" cy="195707"/>
          </a:xfrm>
          <a:prstGeom prst="rect">
            <a:avLst/>
          </a:prstGeom>
        </p:spPr>
      </p:pic>
      <p:sp>
        <p:nvSpPr>
          <p:cNvPr id="27" name="TextBox 26"/>
          <p:cNvSpPr txBox="1"/>
          <p:nvPr/>
        </p:nvSpPr>
        <p:spPr>
          <a:xfrm>
            <a:off x="10506708" y="3817595"/>
            <a:ext cx="308111" cy="194310"/>
          </a:xfrm>
          <a:prstGeom prst="rect">
            <a:avLst/>
          </a:prstGeom>
          <a:noFill/>
        </p:spPr>
        <p:txBody>
          <a:bodyPr wrap="none" lIns="0" rIns="0" tIns="0" bIns="0">
            <a:spAutoFit/>
          </a:bodyPr>
          <a:lstStyle/>
          <a:p>
            <a:r>
              <a:rPr sz="1150" b="0">
                <a:solidFill>
                  <a:srgbClr val="2E2E2E"/>
                </a:solidFill>
                <a:latin typeface="Calibri"/>
              </a:rPr>
              <a:t>to ~</a:t>
            </a:r>
          </a:p>
        </p:txBody>
      </p:sp>
      <p:pic>
        <p:nvPicPr>
          <p:cNvPr id="28" name="Picture 27" descr="lock.png"/>
          <p:cNvPicPr>
            <a:picLocks noChangeAspect="1"/>
          </p:cNvPicPr>
          <p:nvPr/>
        </p:nvPicPr>
        <p:blipFill>
          <a:blip r:embed="rId4"/>
          <a:stretch>
            <a:fillRect/>
          </a:stretch>
        </p:blipFill>
        <p:spPr>
          <a:xfrm>
            <a:off x="10763974" y="3807371"/>
            <a:ext cx="134549" cy="195707"/>
          </a:xfrm>
          <a:prstGeom prst="rect">
            <a:avLst/>
          </a:prstGeom>
        </p:spPr>
      </p:pic>
      <p:sp>
        <p:nvSpPr>
          <p:cNvPr id="29" name="TextBox 28"/>
          <p:cNvSpPr txBox="1"/>
          <p:nvPr/>
        </p:nvSpPr>
        <p:spPr>
          <a:xfrm>
            <a:off x="10939083" y="3817595"/>
            <a:ext cx="854087" cy="194310"/>
          </a:xfrm>
          <a:prstGeom prst="rect">
            <a:avLst/>
          </a:prstGeom>
          <a:noFill/>
        </p:spPr>
        <p:txBody>
          <a:bodyPr wrap="none" lIns="0" rIns="0" tIns="0" bIns="0">
            <a:spAutoFit/>
          </a:bodyPr>
          <a:lstStyle/>
          <a:p>
            <a:r>
              <a:rPr sz="1150" b="0">
                <a:solidFill>
                  <a:srgbClr val="2E2E2E"/>
                </a:solidFill>
                <a:latin typeface="Calibri"/>
              </a:rPr>
              <a:t>US$/Units by</a:t>
            </a:r>
          </a:p>
        </p:txBody>
      </p:sp>
      <p:sp>
        <p:nvSpPr>
          <p:cNvPr id="30" name="TextBox 29"/>
          <p:cNvSpPr txBox="1"/>
          <p:nvPr/>
        </p:nvSpPr>
        <p:spPr>
          <a:xfrm>
            <a:off x="6334125" y="3992855"/>
            <a:ext cx="581669" cy="194310"/>
          </a:xfrm>
          <a:prstGeom prst="rect">
            <a:avLst/>
          </a:prstGeom>
          <a:noFill/>
        </p:spPr>
        <p:txBody>
          <a:bodyPr wrap="none" lIns="0" rIns="0" tIns="0" bIns="0">
            <a:spAutoFit/>
          </a:bodyPr>
          <a:lstStyle/>
          <a:p>
            <a:r>
              <a:rPr sz="1150" b="0">
                <a:solidFill>
                  <a:srgbClr val="2E2E2E"/>
                </a:solidFill>
                <a:latin typeface="Calibri"/>
              </a:rPr>
              <a:t>2036 a +</a:t>
            </a:r>
          </a:p>
        </p:txBody>
      </p:sp>
      <p:pic>
        <p:nvPicPr>
          <p:cNvPr id="31" name="Picture 30" descr="lock.png"/>
          <p:cNvPicPr>
            <a:picLocks noChangeAspect="1"/>
          </p:cNvPicPr>
          <p:nvPr/>
        </p:nvPicPr>
        <p:blipFill>
          <a:blip r:embed="rId4"/>
          <a:stretch>
            <a:fillRect/>
          </a:stretch>
        </p:blipFill>
        <p:spPr>
          <a:xfrm>
            <a:off x="6864948" y="3982631"/>
            <a:ext cx="134549" cy="195707"/>
          </a:xfrm>
          <a:prstGeom prst="rect">
            <a:avLst/>
          </a:prstGeom>
        </p:spPr>
      </p:pic>
      <p:sp>
        <p:nvSpPr>
          <p:cNvPr id="32" name="TextBox 31"/>
          <p:cNvSpPr txBox="1"/>
          <p:nvPr/>
        </p:nvSpPr>
        <p:spPr>
          <a:xfrm>
            <a:off x="7040058" y="399285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33" name="TextBox 32"/>
          <p:cNvSpPr txBox="1"/>
          <p:nvPr/>
        </p:nvSpPr>
        <p:spPr>
          <a:xfrm>
            <a:off x="6334125" y="4220692"/>
            <a:ext cx="4899843" cy="194310"/>
          </a:xfrm>
          <a:prstGeom prst="rect">
            <a:avLst/>
          </a:prstGeom>
          <a:noFill/>
        </p:spPr>
        <p:txBody>
          <a:bodyPr wrap="none" lIns="0" rIns="0" tIns="0" bIns="0">
            <a:spAutoFit/>
          </a:bodyPr>
          <a:lstStyle/>
          <a:p>
            <a:r>
              <a:rPr sz="1150" b="0">
                <a:solidFill>
                  <a:srgbClr val="2E2E2E"/>
                </a:solidFill>
                <a:latin typeface="Calibri"/>
              </a:rPr>
              <a:t>▪ 'Acrylic Waterproof Coatings' shows the strongest forecast price appreciation (+</a:t>
            </a:r>
          </a:p>
        </p:txBody>
      </p:sp>
      <p:pic>
        <p:nvPicPr>
          <p:cNvPr id="34" name="Picture 33" descr="lock.png"/>
          <p:cNvPicPr>
            <a:picLocks noChangeAspect="1"/>
          </p:cNvPicPr>
          <p:nvPr/>
        </p:nvPicPr>
        <p:blipFill>
          <a:blip r:embed="rId4"/>
          <a:stretch>
            <a:fillRect/>
          </a:stretch>
        </p:blipFill>
        <p:spPr>
          <a:xfrm>
            <a:off x="11183122" y="4210469"/>
            <a:ext cx="134549" cy="195707"/>
          </a:xfrm>
          <a:prstGeom prst="rect">
            <a:avLst/>
          </a:prstGeom>
        </p:spPr>
      </p:pic>
      <p:sp>
        <p:nvSpPr>
          <p:cNvPr id="35" name="TextBox 34"/>
          <p:cNvSpPr txBox="1"/>
          <p:nvPr/>
        </p:nvSpPr>
        <p:spPr>
          <a:xfrm>
            <a:off x="11358231" y="4220692"/>
            <a:ext cx="420216" cy="194310"/>
          </a:xfrm>
          <a:prstGeom prst="rect">
            <a:avLst/>
          </a:prstGeom>
          <a:noFill/>
        </p:spPr>
        <p:txBody>
          <a:bodyPr wrap="none" lIns="0" rIns="0" tIns="0" bIns="0">
            <a:spAutoFit/>
          </a:bodyPr>
          <a:lstStyle/>
          <a:p>
            <a:r>
              <a:rPr sz="1150" b="0">
                <a:solidFill>
                  <a:srgbClr val="2E2E2E"/>
                </a:solidFill>
                <a:latin typeface="Calibri"/>
              </a:rPr>
              <a:t>) over</a:t>
            </a:r>
          </a:p>
        </p:txBody>
      </p:sp>
      <p:sp>
        <p:nvSpPr>
          <p:cNvPr id="36" name="TextBox 35"/>
          <p:cNvSpPr txBox="1"/>
          <p:nvPr/>
        </p:nvSpPr>
        <p:spPr>
          <a:xfrm>
            <a:off x="6334125" y="4395952"/>
            <a:ext cx="794469" cy="194310"/>
          </a:xfrm>
          <a:prstGeom prst="rect">
            <a:avLst/>
          </a:prstGeom>
          <a:noFill/>
        </p:spPr>
        <p:txBody>
          <a:bodyPr wrap="none" lIns="0" rIns="0" tIns="0" bIns="0">
            <a:spAutoFit/>
          </a:bodyPr>
          <a:lstStyle/>
          <a:p>
            <a:r>
              <a:rPr sz="1150" b="0">
                <a:solidFill>
                  <a:srgbClr val="2E2E2E"/>
                </a:solidFill>
                <a:latin typeface="Calibri"/>
              </a:rPr>
              <a:t>the horizon.</a:t>
            </a:r>
          </a:p>
        </p:txBody>
      </p:sp>
      <p:sp>
        <p:nvSpPr>
          <p:cNvPr id="37" name="TextBox 36"/>
          <p:cNvSpPr txBox="1"/>
          <p:nvPr/>
        </p:nvSpPr>
        <p:spPr>
          <a:xfrm>
            <a:off x="6334125" y="4623790"/>
            <a:ext cx="5242433" cy="194310"/>
          </a:xfrm>
          <a:prstGeom prst="rect">
            <a:avLst/>
          </a:prstGeom>
          <a:noFill/>
        </p:spPr>
        <p:txBody>
          <a:bodyPr wrap="none" lIns="0" rIns="0" tIns="0" bIns="0">
            <a:spAutoFit/>
          </a:bodyPr>
          <a:lstStyle/>
          <a:p>
            <a:r>
              <a:rPr sz="1150" b="0">
                <a:solidFill>
                  <a:srgbClr val="2E2E2E"/>
                </a:solidFill>
                <a:latin typeface="Calibri"/>
              </a:rPr>
              <a:t>▪ Upward pressure is led by input cost and demand &amp; market conditions; efficiency and</a:t>
            </a:r>
          </a:p>
        </p:txBody>
      </p:sp>
      <p:sp>
        <p:nvSpPr>
          <p:cNvPr id="38" name="TextBox 37"/>
          <p:cNvSpPr txBox="1"/>
          <p:nvPr/>
        </p:nvSpPr>
        <p:spPr>
          <a:xfrm>
            <a:off x="6334125" y="4799050"/>
            <a:ext cx="2567037" cy="194310"/>
          </a:xfrm>
          <a:prstGeom prst="rect">
            <a:avLst/>
          </a:prstGeom>
          <a:noFill/>
        </p:spPr>
        <p:txBody>
          <a:bodyPr wrap="none" lIns="0" rIns="0" tIns="0" bIns="0">
            <a:spAutoFit/>
          </a:bodyPr>
          <a:lstStyle/>
          <a:p>
            <a:r>
              <a:rPr sz="1150" b="0">
                <a:solidFill>
                  <a:srgbClr val="2E2E2E"/>
                </a:solidFill>
                <a:latin typeface="Calibri"/>
              </a:rPr>
              <a:t>competitive intensity work the other way.</a:t>
            </a:r>
          </a:p>
        </p:txBody>
      </p:sp>
      <p:sp>
        <p:nvSpPr>
          <p:cNvPr id="39" name="TextBox 38"/>
          <p:cNvSpPr txBox="1"/>
          <p:nvPr/>
        </p:nvSpPr>
        <p:spPr>
          <a:xfrm>
            <a:off x="6334125" y="5026888"/>
            <a:ext cx="5203638" cy="194310"/>
          </a:xfrm>
          <a:prstGeom prst="rect">
            <a:avLst/>
          </a:prstGeom>
          <a:noFill/>
        </p:spPr>
        <p:txBody>
          <a:bodyPr wrap="none" lIns="0" rIns="0" tIns="0" bIns="0">
            <a:spAutoFit/>
          </a:bodyPr>
          <a:lstStyle/>
          <a:p>
            <a:r>
              <a:rPr sz="1150" b="0">
                <a:solidFill>
                  <a:srgbClr val="2E2E2E"/>
                </a:solidFill>
                <a:latin typeface="Calibri"/>
              </a:rPr>
              <a:t>▪ Net outlook: modest, structural price appreciation mix and geography will determine</a:t>
            </a:r>
          </a:p>
        </p:txBody>
      </p:sp>
      <p:sp>
        <p:nvSpPr>
          <p:cNvPr id="40" name="TextBox 39"/>
          <p:cNvSpPr txBox="1"/>
          <p:nvPr/>
        </p:nvSpPr>
        <p:spPr>
          <a:xfrm>
            <a:off x="6334125" y="5202148"/>
            <a:ext cx="1016111" cy="194310"/>
          </a:xfrm>
          <a:prstGeom prst="rect">
            <a:avLst/>
          </a:prstGeom>
          <a:noFill/>
        </p:spPr>
        <p:txBody>
          <a:bodyPr wrap="none" lIns="0" rIns="0" tIns="0" bIns="0">
            <a:spAutoFit/>
          </a:bodyPr>
          <a:lstStyle/>
          <a:p>
            <a:r>
              <a:rPr sz="1150" b="0">
                <a:solidFill>
                  <a:srgbClr val="2E2E2E"/>
                </a:solidFill>
                <a:latin typeface="Calibri"/>
              </a:rPr>
              <a:t>realised pricing.</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Waterproof Coatings Market Price Forecast &amp; Dynamics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forecast by sub-segment, 2026–2036, with the factors and dynamics shaping the trajectory</a:t>
            </a:r>
          </a:p>
        </p:txBody>
      </p:sp>
      <p:sp>
        <p:nvSpPr>
          <p:cNvPr id="10" name="Rounded Rectangle 9"/>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Forecast to 2036 by Product Type / Chemistry (US$/Units)</a:t>
            </a:r>
          </a:p>
        </p:txBody>
      </p:sp>
      <p:graphicFrame>
        <p:nvGraphicFramePr>
          <p:cNvPr id="12" name="Table 11"/>
          <p:cNvGraphicFramePr>
            <a:graphicFrameLocks noGrp="1"/>
          </p:cNvGraphicFramePr>
          <p:nvPr/>
        </p:nvGraphicFramePr>
        <p:xfrm>
          <a:off x="152400" y="1238250"/>
          <a:ext cx="11887197" cy="1485896"/>
        </p:xfrm>
        <a:graphic>
          <a:graphicData uri="http://schemas.openxmlformats.org/drawingml/2006/table">
            <a:tbl>
              <a:tblPr>
                <a:tableStyleId>{5C22544A-7EE6-4342-B048-85BDC9FD1C3A}</a:tableStyleId>
              </a:tblPr>
              <a:tblGrid>
                <a:gridCol w="4278729"/>
                <a:gridCol w="1268078"/>
                <a:gridCol w="1268078"/>
                <a:gridCol w="1268078"/>
                <a:gridCol w="1268078"/>
                <a:gridCol w="1268078"/>
                <a:gridCol w="1268078"/>
              </a:tblGrid>
              <a:tr h="246126">
                <a:tc>
                  <a:txBody>
                    <a:bodyPr wrap="none"/>
                    <a:lstStyle/>
                    <a:p>
                      <a:pPr algn="l"/>
                      <a:r>
                        <a:rPr sz="1100" b="1">
                          <a:solidFill>
                            <a:srgbClr val="0B2E4A"/>
                          </a:solidFill>
                          <a:latin typeface="Calibri"/>
                        </a:rPr>
                        <a:t>Product Type / Chemistry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Silicone Waterproof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Bituminous Waterproof Coatings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Cementitious Waterproof Coati…</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Polyurea Waterproof Coatings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Other Polymer-Based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3" name="TextBox 12"/>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8048673" y="1837563"/>
            <a:ext cx="366712" cy="533400"/>
          </a:xfrm>
          <a:prstGeom prst="rect">
            <a:avLst/>
          </a:prstGeom>
        </p:spPr>
      </p:pic>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Waterproof Coatings Market Competitor Pricing Strategies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leading players position price: tier, price position versus peers and strategy focus</a:t>
            </a:r>
          </a:p>
        </p:txBody>
      </p:sp>
      <p:sp>
        <p:nvSpPr>
          <p:cNvPr id="10" name="Rounded Rectangle 9"/>
          <p:cNvSpPr/>
          <p:nvPr/>
        </p:nvSpPr>
        <p:spPr>
          <a:xfrm>
            <a:off x="142875" y="1007261"/>
            <a:ext cx="769620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Competitor pricing strategies how leading players position price and the levers they use to sustain it.</a:t>
            </a:r>
          </a:p>
        </p:txBody>
      </p:sp>
      <p:sp>
        <p:nvSpPr>
          <p:cNvPr id="11" name="Rounded Rectangle 10"/>
          <p:cNvSpPr/>
          <p:nvPr/>
        </p:nvSpPr>
        <p:spPr>
          <a:xfrm>
            <a:off x="142875" y="1317574"/>
            <a:ext cx="7696200" cy="3924545"/>
          </a:xfrm>
          <a:prstGeom prst="roundRect">
            <a:avLst>
              <a:gd name="adj" fmla="val 194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1393774"/>
          <a:ext cx="7677150" cy="3619746"/>
        </p:xfrm>
        <a:graphic>
          <a:graphicData uri="http://schemas.openxmlformats.org/drawingml/2006/table">
            <a:tbl>
              <a:tblPr>
                <a:tableStyleId>{5C22544A-7EE6-4342-B048-85BDC9FD1C3A}</a:tableStyleId>
              </a:tblPr>
              <a:tblGrid>
                <a:gridCol w="1887552"/>
                <a:gridCol w="585947"/>
                <a:gridCol w="1231831"/>
                <a:gridCol w="1153145"/>
                <a:gridCol w="2818675"/>
              </a:tblGrid>
              <a:tr h="246126">
                <a:tc>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Tier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Price Position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ASP vs Peers</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Strategy Focus</a:t>
                      </a:r>
                      <a:endParaRPr sz="1100"/>
                    </a:p>
                  </a:txBody>
                  <a:tcPr marL="47625" marR="38100" marT="19050" marB="19050" anchor="ctr">
                    <a:solidFill>
                      <a:srgbClr val="E0E8EF"/>
                    </a:solidFill>
                  </a:tcPr>
                </a:tc>
              </a:tr>
              <a:tr h="562270">
                <a:tc>
                  <a:txBody>
                    <a:bodyPr wrap="none"/>
                    <a:lstStyle/>
                    <a:p>
                      <a:pPr algn="l"/>
                      <a:r>
                        <a:rPr sz="1100" b="1">
                          <a:solidFill>
                            <a:srgbClr val="2E2E2E"/>
                          </a:solidFill>
                          <a:latin typeface="Calibri"/>
                        </a:rPr>
                        <a:t>Sika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 brand-led pricing</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The Sherwin-Williams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Value-based premium pricing</a:t>
                      </a:r>
                      <a:endParaRPr sz="1100"/>
                    </a:p>
                  </a:txBody>
                  <a:tcPr marL="47625" marR="38100" marT="19050" marB="19050" anchor="ctr">
                    <a:solidFill>
                      <a:srgbClr val="F5F8FA"/>
                    </a:solidFill>
                  </a:tcPr>
                </a:tc>
              </a:tr>
              <a:tr h="562270">
                <a:tc>
                  <a:txBody>
                    <a:bodyPr wrap="none"/>
                    <a:lstStyle/>
                    <a:p>
                      <a:pPr algn="l"/>
                      <a:r>
                        <a:rPr sz="1100" b="1">
                          <a:solidFill>
                            <a:srgbClr val="2E2E2E"/>
                          </a:solidFill>
                          <a:latin typeface="Calibri"/>
                        </a:rPr>
                        <a:t>PPG Industries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Innovation-led price leadership</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Akzo Nobel</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Parity pricing with mix upsell</a:t>
                      </a:r>
                      <a:endParaRPr sz="1100"/>
                    </a:p>
                  </a:txBody>
                  <a:tcPr marL="47625" marR="38100" marT="19050" marB="19050" anchor="ctr">
                    <a:solidFill>
                      <a:srgbClr val="F5F8FA"/>
                    </a:solidFill>
                  </a:tcPr>
                </a:tc>
              </a:tr>
              <a:tr h="562270">
                <a:tc>
                  <a:txBody>
                    <a:bodyPr wrap="none"/>
                    <a:lstStyle/>
                    <a:p>
                      <a:pPr algn="l"/>
                      <a:r>
                        <a:rPr sz="1100" b="1">
                          <a:solidFill>
                            <a:srgbClr val="2E2E2E"/>
                          </a:solidFill>
                          <a:latin typeface="Calibri"/>
                        </a:rPr>
                        <a:t>BASF</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Penetration &amp; share-led pricing</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RPM International</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Tier 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Competitive / discount-led pricing</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5023044"/>
            <a:ext cx="75438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5351641"/>
            <a:ext cx="7696200" cy="365074"/>
          </a:xfrm>
          <a:prstGeom prst="roundRect">
            <a:avLst>
              <a:gd name="adj" fmla="val 2087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Note: competitor figures are indicative derived from market modelling and expert validation, not company disclosures.</a:t>
            </a:r>
          </a:p>
        </p:txBody>
      </p:sp>
      <p:sp>
        <p:nvSpPr>
          <p:cNvPr id="15" name="Rounded Rectangle 14"/>
          <p:cNvSpPr/>
          <p:nvPr/>
        </p:nvSpPr>
        <p:spPr>
          <a:xfrm>
            <a:off x="7915275" y="1317574"/>
            <a:ext cx="4133850" cy="5238811"/>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B2E4A"/>
                </a:solidFill>
                <a:latin typeface="Calibri"/>
              </a:rPr>
              <a:t>Competitive Pricing Themes</a:t>
            </a:r>
          </a:p>
        </p:txBody>
      </p:sp>
      <p:sp>
        <p:nvSpPr>
          <p:cNvPr id="17" name="Rectangle 16"/>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Tier 1 players anchor premium pricing, defending ASP through brand, product development and certification rather than discounting.</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Mid-tier players price at or just below parity, using launches and expansion to win share in fast-growing segments.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Emerging players compete on value pricing, trading margin for access and volume in price-sensitive regions.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Across tiers, R&amp;D investment and selective M&amp;A are the primary levers to move up the price ladder over time.</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4266281" y="3086680"/>
            <a:ext cx="330041" cy="480060"/>
          </a:xfrm>
          <a:prstGeom prst="rect">
            <a:avLst/>
          </a:prstGeom>
        </p:spPr>
      </p:pic>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Waterproof Coatings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Supply Chain Analysis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Supply Chain Analysis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Supply Chain Analysis</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Chain &amp; Stakeholder Mapping</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Operating Margin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Buyers Assessment</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Waterproof Coatings Market Value Chain &amp; Stakeholder Mapping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Mapping of the value chain stages, the stakeholders at each stage and the value added along the chain</a:t>
            </a:r>
          </a:p>
        </p:txBody>
      </p:sp>
      <p:sp>
        <p:nvSpPr>
          <p:cNvPr id="10" name="TextBox 9"/>
          <p:cNvSpPr txBox="1"/>
          <p:nvPr/>
        </p:nvSpPr>
        <p:spPr>
          <a:xfrm>
            <a:off x="285750" y="970754"/>
            <a:ext cx="10668000" cy="164283"/>
          </a:xfrm>
          <a:prstGeom prst="rect">
            <a:avLst/>
          </a:prstGeom>
          <a:noFill/>
        </p:spPr>
        <p:txBody>
          <a:bodyPr wrap="square" lIns="0" rIns="19050" tIns="0" bIns="0">
            <a:spAutoFit/>
          </a:bodyPr>
          <a:lstStyle/>
          <a:p>
            <a:pPr algn="l"/>
            <a:r>
              <a:rPr sz="1100" b="0">
                <a:solidFill>
                  <a:srgbClr val="6C7A89"/>
                </a:solidFill>
                <a:latin typeface="Calibri"/>
              </a:rPr>
              <a:t>End-to-end value chain with the key stakeholders at each stage and their indicative contribution to value addition.</a:t>
            </a:r>
          </a:p>
        </p:txBody>
      </p:sp>
      <p:sp>
        <p:nvSpPr>
          <p:cNvPr id="11" name="Right Arrow 10"/>
          <p:cNvSpPr/>
          <p:nvPr/>
        </p:nvSpPr>
        <p:spPr>
          <a:xfrm>
            <a:off x="1885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4171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6457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8743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9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Raw Material</a:t>
            </a:r>
          </a:p>
          <a:p>
            <a:pPr algn="ctr">
              <a:lnSpc>
                <a:spcPct val="100000"/>
              </a:lnSpc>
            </a:pPr>
            <a:r>
              <a:rPr sz="1100" b="1">
                <a:solidFill>
                  <a:srgbClr val="0B2E4A"/>
                </a:solidFill>
                <a:latin typeface="Calibri"/>
              </a:rPr>
              <a:t>Suppliers</a:t>
            </a:r>
          </a:p>
        </p:txBody>
      </p:sp>
      <p:sp>
        <p:nvSpPr>
          <p:cNvPr id="16" name="Oval 15"/>
          <p:cNvSpPr/>
          <p:nvPr/>
        </p:nvSpPr>
        <p:spPr>
          <a:xfrm>
            <a:off x="1076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23950" y="1719155"/>
            <a:ext cx="800100" cy="766655"/>
          </a:xfrm>
          <a:prstGeom prst="ellipse">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509712" y="2084229"/>
            <a:ext cx="28575" cy="1551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rot="19500000">
            <a:off x="1381125"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rot="2100000">
            <a:off x="1524000"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00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22" name="Rounded Rectangle 21"/>
          <p:cNvSpPr/>
          <p:nvPr/>
        </p:nvSpPr>
        <p:spPr>
          <a:xfrm>
            <a:off x="457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2905646"/>
            <a:ext cx="2133600" cy="4563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2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Raw Material Suppliers</a:t>
            </a:r>
          </a:p>
        </p:txBody>
      </p:sp>
      <p:sp>
        <p:nvSpPr>
          <p:cNvPr id="25" name="TextBox 24"/>
          <p:cNvSpPr txBox="1"/>
          <p:nvPr/>
        </p:nvSpPr>
        <p:spPr>
          <a:xfrm>
            <a:off x="542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26" name="TextBox 25"/>
          <p:cNvSpPr txBox="1"/>
          <p:nvPr/>
        </p:nvSpPr>
        <p:spPr>
          <a:xfrm>
            <a:off x="542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Growers and primary producers supply core inputs; some forward-integrate into small-scale processing.</a:t>
            </a:r>
          </a:p>
        </p:txBody>
      </p:sp>
      <p:sp>
        <p:nvSpPr>
          <p:cNvPr id="27" name="TextBox 26"/>
          <p:cNvSpPr txBox="1"/>
          <p:nvPr/>
        </p:nvSpPr>
        <p:spPr>
          <a:xfrm>
            <a:off x="2705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Manufacturers</a:t>
            </a:r>
          </a:p>
        </p:txBody>
      </p:sp>
      <p:sp>
        <p:nvSpPr>
          <p:cNvPr id="28" name="Oval 27"/>
          <p:cNvSpPr/>
          <p:nvPr/>
        </p:nvSpPr>
        <p:spPr>
          <a:xfrm>
            <a:off x="3362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409950" y="1719155"/>
            <a:ext cx="800100" cy="766655"/>
          </a:xfrm>
          <a:prstGeom prst="ellipse">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38550" y="2084229"/>
            <a:ext cx="34290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67125" y="1983834"/>
            <a:ext cx="66675" cy="10952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71900" y="2020341"/>
            <a:ext cx="66675" cy="730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876675" y="1992961"/>
            <a:ext cx="66675" cy="1003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86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35" name="Rounded Rectangle 34"/>
          <p:cNvSpPr/>
          <p:nvPr/>
        </p:nvSpPr>
        <p:spPr>
          <a:xfrm>
            <a:off x="2743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743200" y="2905646"/>
            <a:ext cx="2133600" cy="4563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28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Manufacturers / Processors</a:t>
            </a:r>
          </a:p>
        </p:txBody>
      </p:sp>
      <p:sp>
        <p:nvSpPr>
          <p:cNvPr id="38" name="TextBox 37"/>
          <p:cNvSpPr txBox="1"/>
          <p:nvPr/>
        </p:nvSpPr>
        <p:spPr>
          <a:xfrm>
            <a:off x="2828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39" name="TextBox 38"/>
          <p:cNvSpPr txBox="1"/>
          <p:nvPr/>
        </p:nvSpPr>
        <p:spPr>
          <a:xfrm>
            <a:off x="2828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Convert inputs into finished and semi-finished product the single largest value-addition stage.</a:t>
            </a:r>
          </a:p>
        </p:txBody>
      </p:sp>
      <p:sp>
        <p:nvSpPr>
          <p:cNvPr id="40" name="TextBox 39"/>
          <p:cNvSpPr txBox="1"/>
          <p:nvPr/>
        </p:nvSpPr>
        <p:spPr>
          <a:xfrm>
            <a:off x="4991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Distributors</a:t>
            </a:r>
          </a:p>
        </p:txBody>
      </p:sp>
      <p:sp>
        <p:nvSpPr>
          <p:cNvPr id="41" name="Oval 40"/>
          <p:cNvSpPr/>
          <p:nvPr/>
        </p:nvSpPr>
        <p:spPr>
          <a:xfrm>
            <a:off x="5648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695950" y="1719155"/>
            <a:ext cx="800100" cy="766655"/>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915025" y="2002088"/>
            <a:ext cx="20955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34100" y="2075102"/>
            <a:ext cx="123825" cy="912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5972175"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153150"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5572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48" name="Rounded Rectangle 47"/>
          <p:cNvSpPr/>
          <p:nvPr/>
        </p:nvSpPr>
        <p:spPr>
          <a:xfrm>
            <a:off x="5029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29200" y="2905646"/>
            <a:ext cx="2133600" cy="4563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114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Distributors &amp; Wholesalers</a:t>
            </a:r>
          </a:p>
        </p:txBody>
      </p:sp>
      <p:sp>
        <p:nvSpPr>
          <p:cNvPr id="51" name="TextBox 50"/>
          <p:cNvSpPr txBox="1"/>
          <p:nvPr/>
        </p:nvSpPr>
        <p:spPr>
          <a:xfrm>
            <a:off x="5114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52" name="TextBox 51"/>
          <p:cNvSpPr txBox="1"/>
          <p:nvPr/>
        </p:nvSpPr>
        <p:spPr>
          <a:xfrm>
            <a:off x="5114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Move product to market, hold inventory and provide logistics, reach and credit to downstream channels.</a:t>
            </a:r>
          </a:p>
        </p:txBody>
      </p:sp>
      <p:sp>
        <p:nvSpPr>
          <p:cNvPr id="53" name="TextBox 52"/>
          <p:cNvSpPr txBox="1"/>
          <p:nvPr/>
        </p:nvSpPr>
        <p:spPr>
          <a:xfrm>
            <a:off x="7277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Retailers</a:t>
            </a:r>
          </a:p>
        </p:txBody>
      </p:sp>
      <p:sp>
        <p:nvSpPr>
          <p:cNvPr id="54" name="Oval 53"/>
          <p:cNvSpPr/>
          <p:nvPr/>
        </p:nvSpPr>
        <p:spPr>
          <a:xfrm>
            <a:off x="7934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7981950" y="1719155"/>
            <a:ext cx="800100" cy="766655"/>
          </a:xfrm>
          <a:prstGeom prst="ellipse">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Isosceles Triangle 55"/>
          <p:cNvSpPr/>
          <p:nvPr/>
        </p:nvSpPr>
        <p:spPr>
          <a:xfrm>
            <a:off x="8201025" y="1965580"/>
            <a:ext cx="361950" cy="10952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239125" y="2065976"/>
            <a:ext cx="285750" cy="18253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343900" y="2138990"/>
            <a:ext cx="76200" cy="109522"/>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7858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60" name="Rounded Rectangle 59"/>
          <p:cNvSpPr/>
          <p:nvPr/>
        </p:nvSpPr>
        <p:spPr>
          <a:xfrm>
            <a:off x="7315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315200" y="2905646"/>
            <a:ext cx="2133600" cy="4563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400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Retailers &amp; Channels</a:t>
            </a:r>
          </a:p>
        </p:txBody>
      </p:sp>
      <p:sp>
        <p:nvSpPr>
          <p:cNvPr id="63" name="TextBox 62"/>
          <p:cNvSpPr txBox="1"/>
          <p:nvPr/>
        </p:nvSpPr>
        <p:spPr>
          <a:xfrm>
            <a:off x="7400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64" name="TextBox 63"/>
          <p:cNvSpPr txBox="1"/>
          <p:nvPr/>
        </p:nvSpPr>
        <p:spPr>
          <a:xfrm>
            <a:off x="7400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Sell to end customers across offline and online channels, capturing point-of-sale margin and brand visibility.</a:t>
            </a:r>
          </a:p>
        </p:txBody>
      </p:sp>
      <p:sp>
        <p:nvSpPr>
          <p:cNvPr id="65" name="TextBox 64"/>
          <p:cNvSpPr txBox="1"/>
          <p:nvPr/>
        </p:nvSpPr>
        <p:spPr>
          <a:xfrm>
            <a:off x="9563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End Users</a:t>
            </a:r>
          </a:p>
        </p:txBody>
      </p:sp>
      <p:sp>
        <p:nvSpPr>
          <p:cNvPr id="66" name="Oval 65"/>
          <p:cNvSpPr/>
          <p:nvPr/>
        </p:nvSpPr>
        <p:spPr>
          <a:xfrm>
            <a:off x="10220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0267950" y="1719155"/>
            <a:ext cx="800100" cy="766655"/>
          </a:xfrm>
          <a:prstGeom prst="ellipse">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0601325" y="1956453"/>
            <a:ext cx="133350" cy="1277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10544175" y="2111610"/>
            <a:ext cx="247650" cy="127776"/>
          </a:xfrm>
          <a:custGeom>
            <a:avLst/>
            <a:gdLst/>
            <a:ahLst/>
            <a:cxnLst/>
            <a:rect l="l" t="t" r="r" b="b"/>
            <a:pathLst>
              <a:path w="26" h="14">
                <a:moveTo>
                  <a:pt x="0" y="14"/>
                </a:moveTo>
                <a:lnTo>
                  <a:pt x="4" y="0"/>
                </a:lnTo>
                <a:lnTo>
                  <a:pt x="22" y="0"/>
                </a:lnTo>
                <a:lnTo>
                  <a:pt x="26" y="14"/>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10144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71" name="Rounded Rectangle 70"/>
          <p:cNvSpPr/>
          <p:nvPr/>
        </p:nvSpPr>
        <p:spPr>
          <a:xfrm>
            <a:off x="9601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601200" y="2905646"/>
            <a:ext cx="2133600" cy="4563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686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End Users</a:t>
            </a:r>
          </a:p>
        </p:txBody>
      </p:sp>
      <p:sp>
        <p:nvSpPr>
          <p:cNvPr id="74" name="TextBox 73"/>
          <p:cNvSpPr txBox="1"/>
          <p:nvPr/>
        </p:nvSpPr>
        <p:spPr>
          <a:xfrm>
            <a:off x="9686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75" name="TextBox 74"/>
          <p:cNvSpPr txBox="1"/>
          <p:nvPr/>
        </p:nvSpPr>
        <p:spPr>
          <a:xfrm>
            <a:off x="9686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Consumers and downstream industries; large end users sometimes backward-integrate to secure supply and cost.</a:t>
            </a:r>
          </a:p>
        </p:txBody>
      </p:sp>
      <p:sp>
        <p:nvSpPr>
          <p:cNvPr id="76" name="Rounded Rectangle 75"/>
          <p:cNvSpPr/>
          <p:nvPr/>
        </p:nvSpPr>
        <p:spPr>
          <a:xfrm>
            <a:off x="381000" y="5315134"/>
            <a:ext cx="11430000" cy="1204744"/>
          </a:xfrm>
          <a:prstGeom prst="roundRect">
            <a:avLst>
              <a:gd name="adj" fmla="val 60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14350" y="5397275"/>
            <a:ext cx="11163300" cy="200791"/>
          </a:xfrm>
          <a:prstGeom prst="rect">
            <a:avLst/>
          </a:prstGeom>
          <a:noFill/>
        </p:spPr>
        <p:txBody>
          <a:bodyPr wrap="square" lIns="0" rIns="19050" tIns="9525" bIns="9525">
            <a:spAutoFit/>
          </a:bodyPr>
          <a:lstStyle/>
          <a:p>
            <a:pPr algn="l"/>
            <a:r>
              <a:rPr sz="1300" b="1">
                <a:solidFill>
                  <a:srgbClr val="0B2E4A"/>
                </a:solidFill>
                <a:latin typeface="Calibri"/>
              </a:rPr>
              <a:t>Value-Added Read-out</a:t>
            </a:r>
          </a:p>
        </p:txBody>
      </p:sp>
      <p:sp>
        <p:nvSpPr>
          <p:cNvPr id="78" name="Rectangle 77"/>
          <p:cNvSpPr/>
          <p:nvPr/>
        </p:nvSpPr>
        <p:spPr>
          <a:xfrm>
            <a:off x="514350" y="5625447"/>
            <a:ext cx="111633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14350" y="5707588"/>
            <a:ext cx="11163300" cy="7392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80" name="TextBox 7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81" name="Picture 80" descr="lock.png"/>
          <p:cNvPicPr>
            <a:picLocks noChangeAspect="1"/>
          </p:cNvPicPr>
          <p:nvPr/>
        </p:nvPicPr>
        <p:blipFill>
          <a:blip r:embed="rId4"/>
          <a:stretch>
            <a:fillRect/>
          </a:stretch>
        </p:blipFill>
        <p:spPr>
          <a:xfrm>
            <a:off x="1459650" y="2611256"/>
            <a:ext cx="128699" cy="187198"/>
          </a:xfrm>
          <a:prstGeom prst="rect">
            <a:avLst/>
          </a:prstGeom>
        </p:spPr>
      </p:pic>
      <p:pic>
        <p:nvPicPr>
          <p:cNvPr id="82" name="Picture 81" descr="lock.png"/>
          <p:cNvPicPr>
            <a:picLocks noChangeAspect="1"/>
          </p:cNvPicPr>
          <p:nvPr/>
        </p:nvPicPr>
        <p:blipFill>
          <a:blip r:embed="rId4"/>
          <a:stretch>
            <a:fillRect/>
          </a:stretch>
        </p:blipFill>
        <p:spPr>
          <a:xfrm>
            <a:off x="3745650" y="2611256"/>
            <a:ext cx="128699" cy="187198"/>
          </a:xfrm>
          <a:prstGeom prst="rect">
            <a:avLst/>
          </a:prstGeom>
        </p:spPr>
      </p:pic>
      <p:pic>
        <p:nvPicPr>
          <p:cNvPr id="83" name="Picture 82" descr="lock.png"/>
          <p:cNvPicPr>
            <a:picLocks noChangeAspect="1"/>
          </p:cNvPicPr>
          <p:nvPr/>
        </p:nvPicPr>
        <p:blipFill>
          <a:blip r:embed="rId4"/>
          <a:stretch>
            <a:fillRect/>
          </a:stretch>
        </p:blipFill>
        <p:spPr>
          <a:xfrm>
            <a:off x="6031650" y="2611256"/>
            <a:ext cx="128699" cy="187198"/>
          </a:xfrm>
          <a:prstGeom prst="rect">
            <a:avLst/>
          </a:prstGeom>
        </p:spPr>
      </p:pic>
      <p:pic>
        <p:nvPicPr>
          <p:cNvPr id="84" name="Picture 83" descr="lock.png"/>
          <p:cNvPicPr>
            <a:picLocks noChangeAspect="1"/>
          </p:cNvPicPr>
          <p:nvPr/>
        </p:nvPicPr>
        <p:blipFill>
          <a:blip r:embed="rId4"/>
          <a:stretch>
            <a:fillRect/>
          </a:stretch>
        </p:blipFill>
        <p:spPr>
          <a:xfrm>
            <a:off x="8317650" y="2611256"/>
            <a:ext cx="128699" cy="187198"/>
          </a:xfrm>
          <a:prstGeom prst="rect">
            <a:avLst/>
          </a:prstGeom>
        </p:spPr>
      </p:pic>
      <p:pic>
        <p:nvPicPr>
          <p:cNvPr id="85" name="Picture 84" descr="lock.png"/>
          <p:cNvPicPr>
            <a:picLocks noChangeAspect="1"/>
          </p:cNvPicPr>
          <p:nvPr/>
        </p:nvPicPr>
        <p:blipFill>
          <a:blip r:embed="rId4"/>
          <a:stretch>
            <a:fillRect/>
          </a:stretch>
        </p:blipFill>
        <p:spPr>
          <a:xfrm>
            <a:off x="10603650" y="2611256"/>
            <a:ext cx="128699" cy="187198"/>
          </a:xfrm>
          <a:prstGeom prst="rect">
            <a:avLst/>
          </a:prstGeom>
        </p:spPr>
      </p:pic>
      <p:sp>
        <p:nvSpPr>
          <p:cNvPr id="86" name="TextBox 85"/>
          <p:cNvSpPr txBox="1"/>
          <p:nvPr/>
        </p:nvSpPr>
        <p:spPr>
          <a:xfrm>
            <a:off x="514350" y="5717113"/>
            <a:ext cx="6577270" cy="153161"/>
          </a:xfrm>
          <a:prstGeom prst="rect">
            <a:avLst/>
          </a:prstGeom>
          <a:noFill/>
        </p:spPr>
        <p:txBody>
          <a:bodyPr wrap="none" lIns="0" rIns="0" tIns="0" bIns="0">
            <a:spAutoFit/>
          </a:bodyPr>
          <a:lstStyle/>
          <a:p>
            <a:r>
              <a:rPr sz="879" b="0">
                <a:solidFill>
                  <a:srgbClr val="2E2E2E"/>
                </a:solidFill>
                <a:latin typeface="Calibri"/>
              </a:rPr>
              <a:t>▪ The Waterproof Coatings Market value chain runs from raw-material suppliers through manufacturers, distributors and retailers to end users.</a:t>
            </a:r>
          </a:p>
        </p:txBody>
      </p:sp>
      <p:sp>
        <p:nvSpPr>
          <p:cNvPr id="87" name="TextBox 86"/>
          <p:cNvSpPr txBox="1"/>
          <p:nvPr/>
        </p:nvSpPr>
        <p:spPr>
          <a:xfrm>
            <a:off x="514350" y="5891458"/>
            <a:ext cx="3108563" cy="153161"/>
          </a:xfrm>
          <a:prstGeom prst="rect">
            <a:avLst/>
          </a:prstGeom>
          <a:noFill/>
        </p:spPr>
        <p:txBody>
          <a:bodyPr wrap="none" lIns="0" rIns="0" tIns="0" bIns="0">
            <a:spAutoFit/>
          </a:bodyPr>
          <a:lstStyle/>
          <a:p>
            <a:r>
              <a:rPr sz="879" b="0">
                <a:solidFill>
                  <a:srgbClr val="2E2E2E"/>
                </a:solidFill>
                <a:latin typeface="Calibri"/>
              </a:rPr>
              <a:t>▪ 'Manufacturers / Processors' captures the largest value addition (</a:t>
            </a:r>
          </a:p>
        </p:txBody>
      </p:sp>
      <p:pic>
        <p:nvPicPr>
          <p:cNvPr id="88" name="Picture 87" descr="lock.png"/>
          <p:cNvPicPr>
            <a:picLocks noChangeAspect="1"/>
          </p:cNvPicPr>
          <p:nvPr/>
        </p:nvPicPr>
        <p:blipFill>
          <a:blip r:embed="rId4"/>
          <a:stretch>
            <a:fillRect/>
          </a:stretch>
        </p:blipFill>
        <p:spPr>
          <a:xfrm>
            <a:off x="3566114" y="5883635"/>
            <a:ext cx="102959" cy="149758"/>
          </a:xfrm>
          <a:prstGeom prst="rect">
            <a:avLst/>
          </a:prstGeom>
        </p:spPr>
      </p:pic>
      <p:sp>
        <p:nvSpPr>
          <p:cNvPr id="89" name="TextBox 88"/>
          <p:cNvSpPr txBox="1"/>
          <p:nvPr/>
        </p:nvSpPr>
        <p:spPr>
          <a:xfrm>
            <a:off x="3700111" y="5891458"/>
            <a:ext cx="2123678" cy="153161"/>
          </a:xfrm>
          <a:prstGeom prst="rect">
            <a:avLst/>
          </a:prstGeom>
          <a:noFill/>
        </p:spPr>
        <p:txBody>
          <a:bodyPr wrap="none" lIns="0" rIns="0" tIns="0" bIns="0">
            <a:spAutoFit/>
          </a:bodyPr>
          <a:lstStyle/>
          <a:p>
            <a:r>
              <a:rPr sz="879" b="0">
                <a:solidFill>
                  <a:srgbClr val="2E2E2E"/>
                </a:solidFill>
                <a:latin typeface="Calibri"/>
              </a:rPr>
              <a:t>), reflecting processing and scale advantages.</a:t>
            </a:r>
          </a:p>
        </p:txBody>
      </p:sp>
      <p:sp>
        <p:nvSpPr>
          <p:cNvPr id="90" name="TextBox 89"/>
          <p:cNvSpPr txBox="1"/>
          <p:nvPr/>
        </p:nvSpPr>
        <p:spPr>
          <a:xfrm>
            <a:off x="514350" y="6065804"/>
            <a:ext cx="5690369" cy="153161"/>
          </a:xfrm>
          <a:prstGeom prst="rect">
            <a:avLst/>
          </a:prstGeom>
          <a:noFill/>
        </p:spPr>
        <p:txBody>
          <a:bodyPr wrap="none" lIns="0" rIns="0" tIns="0" bIns="0">
            <a:spAutoFit/>
          </a:bodyPr>
          <a:lstStyle/>
          <a:p>
            <a:r>
              <a:rPr sz="879" b="0">
                <a:solidFill>
                  <a:srgbClr val="2E2E2E"/>
                </a:solidFill>
                <a:latin typeface="Calibri"/>
              </a:rPr>
              <a:t>▪ Forward and backward integration is common some suppliers process, and some large end users produce their own input.</a:t>
            </a:r>
          </a:p>
        </p:txBody>
      </p:sp>
      <p:sp>
        <p:nvSpPr>
          <p:cNvPr id="91" name="TextBox 90"/>
          <p:cNvSpPr txBox="1"/>
          <p:nvPr/>
        </p:nvSpPr>
        <p:spPr>
          <a:xfrm>
            <a:off x="514350" y="6240149"/>
            <a:ext cx="3730228" cy="153161"/>
          </a:xfrm>
          <a:prstGeom prst="rect">
            <a:avLst/>
          </a:prstGeom>
          <a:noFill/>
        </p:spPr>
        <p:txBody>
          <a:bodyPr wrap="none" lIns="0" rIns="0" tIns="0" bIns="0">
            <a:spAutoFit/>
          </a:bodyPr>
          <a:lstStyle/>
          <a:p>
            <a:r>
              <a:rPr sz="879" b="0">
                <a:solidFill>
                  <a:srgbClr val="2E2E2E"/>
                </a:solidFill>
                <a:latin typeface="Calibri"/>
              </a:rPr>
              <a:t>▪ Percentages show each stage's indicative share of value added along the chain.</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Waterproof Coatings Market Industry-Wide Operating Margin Analysis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Operating margin by region and value chain node, highlighting where value concentrates along the chain</a:t>
            </a:r>
          </a:p>
        </p:txBody>
      </p:sp>
      <p:sp>
        <p:nvSpPr>
          <p:cNvPr id="10" name="Rounded Rectangle 9"/>
          <p:cNvSpPr/>
          <p:nvPr/>
        </p:nvSpPr>
        <p:spPr>
          <a:xfrm>
            <a:off x="142875" y="981075"/>
            <a:ext cx="11906250" cy="3667125"/>
          </a:xfrm>
          <a:prstGeom prst="roundRect">
            <a:avLst>
              <a:gd name="adj" fmla="val 20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Waterproof Coatings Market Operating Margin by Region &amp; Node</a:t>
            </a:r>
          </a:p>
        </p:txBody>
      </p:sp>
      <p:graphicFrame>
        <p:nvGraphicFramePr>
          <p:cNvPr id="12" name="Table 11"/>
          <p:cNvGraphicFramePr>
            <a:graphicFrameLocks noGrp="1"/>
          </p:cNvGraphicFramePr>
          <p:nvPr/>
        </p:nvGraphicFramePr>
        <p:xfrm>
          <a:off x="152400" y="1238250"/>
          <a:ext cx="11887202" cy="3200406"/>
        </p:xfrm>
        <a:graphic>
          <a:graphicData uri="http://schemas.openxmlformats.org/drawingml/2006/table">
            <a:tbl>
              <a:tblPr>
                <a:tableStyleId>{5C22544A-7EE6-4342-B048-85BDC9FD1C3A}</a:tableStyleId>
              </a:tblPr>
              <a:tblGrid>
                <a:gridCol w="1208402"/>
                <a:gridCol w="2669700"/>
                <a:gridCol w="2669700"/>
                <a:gridCol w="2669700"/>
                <a:gridCol w="2669700"/>
              </a:tblGrid>
              <a:tr h="246126">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Node of Supply Chain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Operating Margin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Comparison to Parent Market</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Notes</a:t>
                      </a:r>
                      <a:endParaRPr sz="1100"/>
                    </a:p>
                  </a:txBody>
                  <a:tcPr marL="47625" marR="38100" marT="19050" marB="19050" anchor="ctr">
                    <a:solidFill>
                      <a:srgbClr val="E0E8EF"/>
                    </a:solidFill>
                  </a:tcPr>
                </a:tc>
              </a:tr>
              <a:tr h="246190">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East Asia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4448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781550"/>
            <a:ext cx="11906250"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867275"/>
            <a:ext cx="11639550" cy="209550"/>
          </a:xfrm>
          <a:prstGeom prst="rect">
            <a:avLst/>
          </a:prstGeom>
          <a:noFill/>
        </p:spPr>
        <p:txBody>
          <a:bodyPr wrap="square" lIns="0" rIns="19050" tIns="9525" bIns="9525">
            <a:spAutoFit/>
          </a:bodyPr>
          <a:lstStyle/>
          <a:p>
            <a:pPr algn="l"/>
            <a:r>
              <a:rPr sz="1300" b="1">
                <a:solidFill>
                  <a:srgbClr val="0B2E4A"/>
                </a:solidFill>
                <a:latin typeface="Calibri"/>
              </a:rPr>
              <a:t>How to Read This</a:t>
            </a:r>
          </a:p>
        </p:txBody>
      </p:sp>
      <p:sp>
        <p:nvSpPr>
          <p:cNvPr id="16" name="Rectangle 15"/>
          <p:cNvSpPr/>
          <p:nvPr/>
        </p:nvSpPr>
        <p:spPr>
          <a:xfrm>
            <a:off x="276225" y="51054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191125"/>
            <a:ext cx="11639550"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Node of Supply Chain: each major stage, from raw-material suppliers through to retailers.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Operating Margin: the indicative margin earned at each node, by region.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Comparison to Parent Market: margin versus the parent / associated market (e.g. the broader food or pharmaceutical value chain).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Margins are broken down by both region and node to surface where value concentrates along the chain.</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513512" y="2694815"/>
            <a:ext cx="366712" cy="533400"/>
          </a:xfrm>
          <a:prstGeom prst="rect">
            <a:avLst/>
          </a:prstGeom>
        </p:spPr>
      </p:pic>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Waterproof Coatings Market Buyers Assessment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Assessment of buyers and end users by volume, average price and revenue, highlighting purchasing power</a:t>
            </a:r>
          </a:p>
        </p:txBody>
      </p:sp>
      <p:sp>
        <p:nvSpPr>
          <p:cNvPr id="10" name="Rounded Rectangle 9"/>
          <p:cNvSpPr/>
          <p:nvPr/>
        </p:nvSpPr>
        <p:spPr>
          <a:xfrm>
            <a:off x="142875" y="981075"/>
            <a:ext cx="1190625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Waterproof Coatings Market Buyers / End-User Assessment</a:t>
            </a:r>
          </a:p>
        </p:txBody>
      </p:sp>
      <p:graphicFrame>
        <p:nvGraphicFramePr>
          <p:cNvPr id="12" name="Table 11"/>
          <p:cNvGraphicFramePr>
            <a:graphicFrameLocks noGrp="1"/>
          </p:cNvGraphicFramePr>
          <p:nvPr/>
        </p:nvGraphicFramePr>
        <p:xfrm>
          <a:off x="152400" y="1238250"/>
          <a:ext cx="11887199" cy="2714626"/>
        </p:xfrm>
        <a:graphic>
          <a:graphicData uri="http://schemas.openxmlformats.org/drawingml/2006/table">
            <a:tbl>
              <a:tblPr>
                <a:tableStyleId>{5C22544A-7EE6-4342-B048-85BDC9FD1C3A}</a:tableStyleId>
              </a:tblPr>
              <a:tblGrid>
                <a:gridCol w="1482468"/>
                <a:gridCol w="1370592"/>
                <a:gridCol w="1280998"/>
                <a:gridCol w="1042079"/>
                <a:gridCol w="1480096"/>
                <a:gridCol w="1181448"/>
                <a:gridCol w="1415350"/>
                <a:gridCol w="1246155"/>
                <a:gridCol w="1388013"/>
              </a:tblGrid>
              <a:tr h="246126">
                <a:tc>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Buyer Category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Buyer / End-User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Procurement Vol.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Avg Price (US$/Units)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Revenue (US$ Mn)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Key Selection Factor</a:t>
                      </a:r>
                      <a:endParaRPr sz="1100"/>
                    </a:p>
                  </a:txBody>
                  <a:tcPr marL="47625" marR="38100" marT="19050" marB="19050" anchor="ctr">
                    <a:solidFill>
                      <a:srgbClr val="E0E8EF"/>
                    </a:solidFill>
                  </a:tcPr>
                </a:tc>
              </a:tr>
              <a:tr h="246850">
                <a:tc>
                  <a:txBody>
                    <a:bodyPr wrap="none"/>
                    <a:lstStyle/>
                    <a:p>
                      <a:pPr algn="l"/>
                      <a:r>
                        <a:rPr sz="1100" b="1">
                          <a:solidFill>
                            <a:srgbClr val="2E2E2E"/>
                          </a:solidFill>
                          <a:latin typeface="Calibri"/>
                        </a:rPr>
                        <a:t>Sika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U.S.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Price &amp; reliability</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The Sherwin-Williams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Canada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North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Quality &amp; compliance</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PPG Industries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Mexico</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Retailer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B2C /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Lead time &amp; service</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Akzo Nobel</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Brazil</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Others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Contract / OEM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Capacity &amp; scale</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BASF</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Chile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Brand &amp; support</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RPM International</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Rest of Latin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Price &amp; reliability</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Saint-Gobain</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China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East Asia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Retailer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B2C /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Quality &amp; compliance</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Mapei</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Japan</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East Asia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Others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Contract / OEM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Lead time &amp; service</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Henkel AG &amp; Co. KGaA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South Korea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East Asia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Capacity &amp; scale</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Dow</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India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South Asia &amp; Pacific</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Brand &amp; support</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39624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295775"/>
            <a:ext cx="11906250" cy="2333625"/>
          </a:xfrm>
          <a:prstGeom prst="roundRect">
            <a:avLst>
              <a:gd name="adj" fmla="val 32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381500"/>
            <a:ext cx="11639550" cy="209550"/>
          </a:xfrm>
          <a:prstGeom prst="rect">
            <a:avLst/>
          </a:prstGeom>
          <a:noFill/>
        </p:spPr>
        <p:txBody>
          <a:bodyPr wrap="square" lIns="0" rIns="19050" tIns="9525" bIns="9525">
            <a:spAutoFit/>
          </a:bodyPr>
          <a:lstStyle/>
          <a:p>
            <a:pPr algn="l"/>
            <a:r>
              <a:rPr sz="1300" b="1">
                <a:solidFill>
                  <a:srgbClr val="0B2E4A"/>
                </a:solidFill>
                <a:latin typeface="Calibri"/>
              </a:rPr>
              <a:t>Notes</a:t>
            </a:r>
          </a:p>
        </p:txBody>
      </p:sp>
      <p:sp>
        <p:nvSpPr>
          <p:cNvPr id="16" name="Rectangle 15"/>
          <p:cNvSpPr/>
          <p:nvPr/>
        </p:nvSpPr>
        <p:spPr>
          <a:xfrm>
            <a:off x="276225" y="46196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705350"/>
            <a:ext cx="11639550" cy="18478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This is a representative subset the full assessment lists 20–30 active participants (with brands, specifications, procurement strategies and SWOT). Note: value-chain economics are indicative derived from market modelling and expert validation, not company disclosures.</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8543419" y="2451926"/>
            <a:ext cx="366712" cy="533400"/>
          </a:xfrm>
          <a:prstGeom prst="rect">
            <a:avLst/>
          </a:prstGeom>
        </p:spPr>
      </p:pic>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Waterproof Coatings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Market Dynamics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Dynamics &amp; Forces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Market Dynamics &amp; Forces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Restraints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Opportunities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Recent Developments &amp; Milestones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Five Forces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Waterproof Coatings Market Dynamics by Region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growth driver, restraint and opportunity shaping each region of the global market</a:t>
            </a:r>
          </a:p>
        </p:txBody>
      </p:sp>
      <p:sp>
        <p:nvSpPr>
          <p:cNvPr id="10" name="TextBox 9"/>
          <p:cNvSpPr txBox="1"/>
          <p:nvPr/>
        </p:nvSpPr>
        <p:spPr>
          <a:xfrm>
            <a:off x="180975" y="876300"/>
            <a:ext cx="8572500" cy="228600"/>
          </a:xfrm>
          <a:prstGeom prst="rect">
            <a:avLst/>
          </a:prstGeom>
          <a:noFill/>
        </p:spPr>
        <p:txBody>
          <a:bodyPr wrap="square" lIns="28575" rIns="28575" tIns="9525" bIns="9525" anchor="ctr">
            <a:spAutoFit/>
          </a:bodyPr>
          <a:lstStyle/>
          <a:p>
            <a:pPr algn="l"/>
            <a:r>
              <a:rPr sz="1150" b="1">
                <a:solidFill>
                  <a:srgbClr val="2E2E2E"/>
                </a:solidFill>
                <a:latin typeface="Calibri"/>
              </a:rPr>
              <a:t>Demand Dynamics by Region  ·  ranked by 2036 value</a:t>
            </a:r>
          </a:p>
        </p:txBody>
      </p:sp>
      <p:sp>
        <p:nvSpPr>
          <p:cNvPr id="11" name="Rectangle 10"/>
          <p:cNvSpPr/>
          <p:nvPr/>
        </p:nvSpPr>
        <p:spPr>
          <a:xfrm>
            <a:off x="142875" y="1123950"/>
            <a:ext cx="11906250" cy="266700"/>
          </a:xfrm>
          <a:prstGeom prst="rect">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0025" y="1123950"/>
            <a:ext cx="1428750" cy="266700"/>
          </a:xfrm>
          <a:prstGeom prst="rect">
            <a:avLst/>
          </a:prstGeom>
          <a:noFill/>
        </p:spPr>
        <p:txBody>
          <a:bodyPr wrap="square" lIns="28575" rIns="28575" tIns="9525" bIns="9525" anchor="ctr">
            <a:spAutoFit/>
          </a:bodyPr>
          <a:lstStyle/>
          <a:p>
            <a:pPr algn="l"/>
            <a:r>
              <a:rPr sz="1100" b="1">
                <a:solidFill>
                  <a:srgbClr val="0B2E4A"/>
                </a:solidFill>
                <a:latin typeface="Calibri"/>
              </a:rPr>
              <a:t>Region</a:t>
            </a:r>
          </a:p>
        </p:txBody>
      </p:sp>
      <p:sp>
        <p:nvSpPr>
          <p:cNvPr id="13" name="TextBox 12"/>
          <p:cNvSpPr txBox="1"/>
          <p:nvPr/>
        </p:nvSpPr>
        <p:spPr>
          <a:xfrm>
            <a:off x="1724025" y="1123950"/>
            <a:ext cx="3714750" cy="266700"/>
          </a:xfrm>
          <a:prstGeom prst="rect">
            <a:avLst/>
          </a:prstGeom>
          <a:noFill/>
        </p:spPr>
        <p:txBody>
          <a:bodyPr wrap="square" lIns="28575" rIns="28575" tIns="9525" bIns="9525" anchor="ctr">
            <a:spAutoFit/>
          </a:bodyPr>
          <a:lstStyle/>
          <a:p>
            <a:pPr algn="l"/>
            <a:r>
              <a:rPr sz="1100" b="1">
                <a:solidFill>
                  <a:srgbClr val="0B2E4A"/>
                </a:solidFill>
                <a:latin typeface="Calibri"/>
              </a:rPr>
              <a:t>Growth Drivers</a:t>
            </a:r>
          </a:p>
        </p:txBody>
      </p:sp>
      <p:sp>
        <p:nvSpPr>
          <p:cNvPr id="14" name="TextBox 13"/>
          <p:cNvSpPr txBox="1"/>
          <p:nvPr/>
        </p:nvSpPr>
        <p:spPr>
          <a:xfrm>
            <a:off x="5534025" y="1123950"/>
            <a:ext cx="2762250" cy="266700"/>
          </a:xfrm>
          <a:prstGeom prst="rect">
            <a:avLst/>
          </a:prstGeom>
          <a:noFill/>
        </p:spPr>
        <p:txBody>
          <a:bodyPr wrap="square" lIns="28575" rIns="28575" tIns="9525" bIns="9525" anchor="ctr">
            <a:spAutoFit/>
          </a:bodyPr>
          <a:lstStyle/>
          <a:p>
            <a:pPr algn="l"/>
            <a:r>
              <a:rPr sz="1100" b="1">
                <a:solidFill>
                  <a:srgbClr val="0B2E4A"/>
                </a:solidFill>
                <a:latin typeface="Calibri"/>
              </a:rPr>
              <a:t>Restraints</a:t>
            </a:r>
          </a:p>
        </p:txBody>
      </p:sp>
      <p:sp>
        <p:nvSpPr>
          <p:cNvPr id="15" name="TextBox 14"/>
          <p:cNvSpPr txBox="1"/>
          <p:nvPr/>
        </p:nvSpPr>
        <p:spPr>
          <a:xfrm>
            <a:off x="8391525" y="1123950"/>
            <a:ext cx="3619500" cy="266700"/>
          </a:xfrm>
          <a:prstGeom prst="rect">
            <a:avLst/>
          </a:prstGeom>
          <a:noFill/>
        </p:spPr>
        <p:txBody>
          <a:bodyPr wrap="square" lIns="28575" rIns="28575" tIns="9525" bIns="9525" anchor="ctr">
            <a:spAutoFit/>
          </a:bodyPr>
          <a:lstStyle/>
          <a:p>
            <a:pPr algn="l"/>
            <a:r>
              <a:rPr sz="1100" b="1">
                <a:solidFill>
                  <a:srgbClr val="0B2E4A"/>
                </a:solidFill>
                <a:latin typeface="Calibri"/>
              </a:rPr>
              <a:t>Priority Opportunities</a:t>
            </a:r>
          </a:p>
        </p:txBody>
      </p:sp>
      <p:sp>
        <p:nvSpPr>
          <p:cNvPr id="16" name="Rectangle 15"/>
          <p:cNvSpPr/>
          <p:nvPr/>
        </p:nvSpPr>
        <p:spPr>
          <a:xfrm>
            <a:off x="142875" y="1390650"/>
            <a:ext cx="11906250" cy="7334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0025" y="1390650"/>
            <a:ext cx="1428750" cy="733425"/>
          </a:xfrm>
          <a:prstGeom prst="rect">
            <a:avLst/>
          </a:prstGeom>
          <a:noFill/>
        </p:spPr>
        <p:txBody>
          <a:bodyPr wrap="square" lIns="28575" rIns="28575" tIns="9525" bIns="9525" anchor="ctr">
            <a:spAutoFit/>
          </a:bodyPr>
          <a:lstStyle/>
          <a:p>
            <a:pPr algn="l"/>
            <a:r>
              <a:rPr sz="1100" b="1">
                <a:solidFill>
                  <a:srgbClr val="2E2E2E"/>
                </a:solidFill>
                <a:latin typeface="Calibri"/>
              </a:rPr>
              <a:t>North America</a:t>
            </a:r>
          </a:p>
        </p:txBody>
      </p:sp>
      <p:sp>
        <p:nvSpPr>
          <p:cNvPr id="18" name="TextBox 17"/>
          <p:cNvSpPr txBox="1"/>
          <p:nvPr/>
        </p:nvSpPr>
        <p:spPr>
          <a:xfrm>
            <a:off x="1724025" y="1419225"/>
            <a:ext cx="367665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9" name="TextBox 18"/>
          <p:cNvSpPr txBox="1"/>
          <p:nvPr/>
        </p:nvSpPr>
        <p:spPr>
          <a:xfrm>
            <a:off x="5534025" y="1419225"/>
            <a:ext cx="272415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0" name="TextBox 19"/>
          <p:cNvSpPr txBox="1"/>
          <p:nvPr/>
        </p:nvSpPr>
        <p:spPr>
          <a:xfrm>
            <a:off x="8391525" y="1419225"/>
            <a:ext cx="358140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1" name="Rectangle 20"/>
          <p:cNvSpPr/>
          <p:nvPr/>
        </p:nvSpPr>
        <p:spPr>
          <a:xfrm>
            <a:off x="142875" y="2124075"/>
            <a:ext cx="11906250" cy="733425"/>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0025" y="2124075"/>
            <a:ext cx="1428750" cy="733425"/>
          </a:xfrm>
          <a:prstGeom prst="rect">
            <a:avLst/>
          </a:prstGeom>
          <a:noFill/>
        </p:spPr>
        <p:txBody>
          <a:bodyPr wrap="square" lIns="28575" rIns="28575" tIns="9525" bIns="9525" anchor="ctr">
            <a:spAutoFit/>
          </a:bodyPr>
          <a:lstStyle/>
          <a:p>
            <a:pPr algn="l"/>
            <a:r>
              <a:rPr sz="1100" b="1">
                <a:solidFill>
                  <a:srgbClr val="2E2E2E"/>
                </a:solidFill>
                <a:latin typeface="Calibri"/>
              </a:rPr>
              <a:t>South Asia &amp; Pacific</a:t>
            </a:r>
          </a:p>
        </p:txBody>
      </p:sp>
      <p:sp>
        <p:nvSpPr>
          <p:cNvPr id="23" name="TextBox 22"/>
          <p:cNvSpPr txBox="1"/>
          <p:nvPr/>
        </p:nvSpPr>
        <p:spPr>
          <a:xfrm>
            <a:off x="1724025" y="2152650"/>
            <a:ext cx="367665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4" name="TextBox 23"/>
          <p:cNvSpPr txBox="1"/>
          <p:nvPr/>
        </p:nvSpPr>
        <p:spPr>
          <a:xfrm>
            <a:off x="5534025" y="2152650"/>
            <a:ext cx="272415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Competitive intensity at scale.</a:t>
            </a:r>
          </a:p>
        </p:txBody>
      </p:sp>
      <p:sp>
        <p:nvSpPr>
          <p:cNvPr id="25" name="TextBox 24"/>
          <p:cNvSpPr txBox="1"/>
          <p:nvPr/>
        </p:nvSpPr>
        <p:spPr>
          <a:xfrm>
            <a:off x="8391525" y="2152650"/>
            <a:ext cx="358140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6" name="Rectangle 25"/>
          <p:cNvSpPr/>
          <p:nvPr/>
        </p:nvSpPr>
        <p:spPr>
          <a:xfrm>
            <a:off x="142875" y="2857500"/>
            <a:ext cx="11906250" cy="7334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00025" y="2857500"/>
            <a:ext cx="1428750" cy="733425"/>
          </a:xfrm>
          <a:prstGeom prst="rect">
            <a:avLst/>
          </a:prstGeom>
          <a:noFill/>
        </p:spPr>
        <p:txBody>
          <a:bodyPr wrap="square" lIns="28575" rIns="28575" tIns="9525" bIns="9525" anchor="ctr">
            <a:spAutoFit/>
          </a:bodyPr>
          <a:lstStyle/>
          <a:p>
            <a:pPr algn="l"/>
            <a:r>
              <a:rPr sz="1100" b="1">
                <a:solidFill>
                  <a:srgbClr val="2E2E2E"/>
                </a:solidFill>
                <a:latin typeface="Calibri"/>
              </a:rPr>
              <a:t>East Asia</a:t>
            </a:r>
          </a:p>
        </p:txBody>
      </p:sp>
      <p:sp>
        <p:nvSpPr>
          <p:cNvPr id="28" name="TextBox 27"/>
          <p:cNvSpPr txBox="1"/>
          <p:nvPr/>
        </p:nvSpPr>
        <p:spPr>
          <a:xfrm>
            <a:off x="1724025" y="2886075"/>
            <a:ext cx="367665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9" name="TextBox 28"/>
          <p:cNvSpPr txBox="1"/>
          <p:nvPr/>
        </p:nvSpPr>
        <p:spPr>
          <a:xfrm>
            <a:off x="5534025" y="2886075"/>
            <a:ext cx="272415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0" name="TextBox 29"/>
          <p:cNvSpPr txBox="1"/>
          <p:nvPr/>
        </p:nvSpPr>
        <p:spPr>
          <a:xfrm>
            <a:off x="8391525" y="2886075"/>
            <a:ext cx="358140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1" name="Rectangle 30"/>
          <p:cNvSpPr/>
          <p:nvPr/>
        </p:nvSpPr>
        <p:spPr>
          <a:xfrm>
            <a:off x="142875" y="3590925"/>
            <a:ext cx="11906250" cy="53340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00025" y="3590925"/>
            <a:ext cx="1428750" cy="533400"/>
          </a:xfrm>
          <a:prstGeom prst="rect">
            <a:avLst/>
          </a:prstGeom>
          <a:noFill/>
        </p:spPr>
        <p:txBody>
          <a:bodyPr wrap="square" lIns="28575" rIns="28575" tIns="9525" bIns="9525" anchor="ctr">
            <a:spAutoFit/>
          </a:bodyPr>
          <a:lstStyle/>
          <a:p>
            <a:pPr algn="l"/>
            <a:r>
              <a:rPr sz="1100" b="1">
                <a:solidFill>
                  <a:srgbClr val="2E2E2E"/>
                </a:solidFill>
                <a:latin typeface="Calibri"/>
              </a:rPr>
              <a:t>Latin America</a:t>
            </a:r>
          </a:p>
        </p:txBody>
      </p:sp>
      <p:sp>
        <p:nvSpPr>
          <p:cNvPr id="33" name="TextBox 32"/>
          <p:cNvSpPr txBox="1"/>
          <p:nvPr/>
        </p:nvSpPr>
        <p:spPr>
          <a:xfrm>
            <a:off x="1724025" y="3619500"/>
            <a:ext cx="3676650" cy="476250"/>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4" name="TextBox 33"/>
          <p:cNvSpPr txBox="1"/>
          <p:nvPr/>
        </p:nvSpPr>
        <p:spPr>
          <a:xfrm>
            <a:off x="5534025" y="3619500"/>
            <a:ext cx="2724150" cy="476250"/>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5" name="TextBox 34"/>
          <p:cNvSpPr txBox="1"/>
          <p:nvPr/>
        </p:nvSpPr>
        <p:spPr>
          <a:xfrm>
            <a:off x="8391525" y="3619500"/>
            <a:ext cx="3581400" cy="476250"/>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6" name="Rectangle 35"/>
          <p:cNvSpPr/>
          <p:nvPr/>
        </p:nvSpPr>
        <p:spPr>
          <a:xfrm>
            <a:off x="142875" y="4124325"/>
            <a:ext cx="1190625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0025" y="4124325"/>
            <a:ext cx="1428750" cy="533400"/>
          </a:xfrm>
          <a:prstGeom prst="rect">
            <a:avLst/>
          </a:prstGeom>
          <a:noFill/>
        </p:spPr>
        <p:txBody>
          <a:bodyPr wrap="square" lIns="28575" rIns="28575" tIns="9525" bIns="9525" anchor="ctr">
            <a:spAutoFit/>
          </a:bodyPr>
          <a:lstStyle/>
          <a:p>
            <a:pPr algn="l"/>
            <a:r>
              <a:rPr sz="1100" b="1">
                <a:solidFill>
                  <a:srgbClr val="2E2E2E"/>
                </a:solidFill>
                <a:latin typeface="Calibri"/>
              </a:rPr>
              <a:t>Middle East &amp; Africa</a:t>
            </a:r>
          </a:p>
        </p:txBody>
      </p:sp>
      <p:sp>
        <p:nvSpPr>
          <p:cNvPr id="38" name="TextBox 37"/>
          <p:cNvSpPr txBox="1"/>
          <p:nvPr/>
        </p:nvSpPr>
        <p:spPr>
          <a:xfrm>
            <a:off x="1724025" y="4152900"/>
            <a:ext cx="3676650" cy="476250"/>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9" name="TextBox 38"/>
          <p:cNvSpPr txBox="1"/>
          <p:nvPr/>
        </p:nvSpPr>
        <p:spPr>
          <a:xfrm>
            <a:off x="5534025" y="4152900"/>
            <a:ext cx="2724150" cy="476250"/>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0" name="TextBox 39"/>
          <p:cNvSpPr txBox="1"/>
          <p:nvPr/>
        </p:nvSpPr>
        <p:spPr>
          <a:xfrm>
            <a:off x="8391525" y="4152900"/>
            <a:ext cx="3581400" cy="476250"/>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1" name="Rectangle 40"/>
          <p:cNvSpPr/>
          <p:nvPr/>
        </p:nvSpPr>
        <p:spPr>
          <a:xfrm>
            <a:off x="142875" y="4657725"/>
            <a:ext cx="11906250" cy="53340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00025" y="4657725"/>
            <a:ext cx="1428750" cy="533400"/>
          </a:xfrm>
          <a:prstGeom prst="rect">
            <a:avLst/>
          </a:prstGeom>
          <a:noFill/>
        </p:spPr>
        <p:txBody>
          <a:bodyPr wrap="square" lIns="28575" rIns="28575" tIns="9525" bIns="9525" anchor="ctr">
            <a:spAutoFit/>
          </a:bodyPr>
          <a:lstStyle/>
          <a:p>
            <a:pPr algn="l"/>
            <a:r>
              <a:rPr sz="1100" b="1">
                <a:solidFill>
                  <a:srgbClr val="2E2E2E"/>
                </a:solidFill>
                <a:latin typeface="Calibri"/>
              </a:rPr>
              <a:t>Eastern Europe</a:t>
            </a:r>
          </a:p>
        </p:txBody>
      </p:sp>
      <p:sp>
        <p:nvSpPr>
          <p:cNvPr id="43" name="TextBox 42"/>
          <p:cNvSpPr txBox="1"/>
          <p:nvPr/>
        </p:nvSpPr>
        <p:spPr>
          <a:xfrm>
            <a:off x="1724025" y="4686300"/>
            <a:ext cx="3676650" cy="476250"/>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4" name="TextBox 43"/>
          <p:cNvSpPr txBox="1"/>
          <p:nvPr/>
        </p:nvSpPr>
        <p:spPr>
          <a:xfrm>
            <a:off x="5534025" y="4686300"/>
            <a:ext cx="2724150" cy="476250"/>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5" name="TextBox 44"/>
          <p:cNvSpPr txBox="1"/>
          <p:nvPr/>
        </p:nvSpPr>
        <p:spPr>
          <a:xfrm>
            <a:off x="8391525" y="4686300"/>
            <a:ext cx="3581400" cy="476250"/>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6" name="Rectangle 45"/>
          <p:cNvSpPr/>
          <p:nvPr/>
        </p:nvSpPr>
        <p:spPr>
          <a:xfrm>
            <a:off x="142875" y="5191125"/>
            <a:ext cx="1190625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00025" y="5191125"/>
            <a:ext cx="1428750" cy="533400"/>
          </a:xfrm>
          <a:prstGeom prst="rect">
            <a:avLst/>
          </a:prstGeom>
          <a:noFill/>
        </p:spPr>
        <p:txBody>
          <a:bodyPr wrap="square" lIns="28575" rIns="28575" tIns="9525" bIns="9525" anchor="ctr">
            <a:spAutoFit/>
          </a:bodyPr>
          <a:lstStyle/>
          <a:p>
            <a:pPr algn="l"/>
            <a:r>
              <a:rPr sz="1100" b="1">
                <a:solidFill>
                  <a:srgbClr val="2E2E2E"/>
                </a:solidFill>
                <a:latin typeface="Calibri"/>
              </a:rPr>
              <a:t>Western Europe</a:t>
            </a:r>
          </a:p>
        </p:txBody>
      </p:sp>
      <p:sp>
        <p:nvSpPr>
          <p:cNvPr id="48" name="TextBox 47"/>
          <p:cNvSpPr txBox="1"/>
          <p:nvPr/>
        </p:nvSpPr>
        <p:spPr>
          <a:xfrm>
            <a:off x="1724025" y="5219700"/>
            <a:ext cx="3676650" cy="476250"/>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9" name="TextBox 48"/>
          <p:cNvSpPr txBox="1"/>
          <p:nvPr/>
        </p:nvSpPr>
        <p:spPr>
          <a:xfrm>
            <a:off x="5534025" y="5219700"/>
            <a:ext cx="2724150" cy="476250"/>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0" name="TextBox 49"/>
          <p:cNvSpPr txBox="1"/>
          <p:nvPr/>
        </p:nvSpPr>
        <p:spPr>
          <a:xfrm>
            <a:off x="8391525" y="5219700"/>
            <a:ext cx="3581400" cy="476250"/>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cxnSp>
        <p:nvCxnSpPr>
          <p:cNvPr id="51" name="Connector 50"/>
          <p:cNvCxnSpPr/>
          <p:nvPr/>
        </p:nvCxnSpPr>
        <p:spPr>
          <a:xfrm>
            <a:off x="142875" y="5724525"/>
            <a:ext cx="11906250" cy="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200025" y="5743575"/>
            <a:ext cx="3810000" cy="190500"/>
          </a:xfrm>
          <a:prstGeom prst="rect">
            <a:avLst/>
          </a:prstGeom>
          <a:noFill/>
        </p:spPr>
        <p:txBody>
          <a:bodyPr wrap="square" lIns="28575" rIns="28575" tIns="9525" bIns="9525" anchor="ctr">
            <a:spAutoFit/>
          </a:bodyPr>
          <a:lstStyle/>
          <a:p>
            <a:pPr algn="l"/>
            <a:r>
              <a:rPr sz="1100" b="0">
                <a:solidFill>
                  <a:srgbClr val="6C7A89"/>
                </a:solidFill>
                <a:latin typeface="Calibri"/>
              </a:rPr>
              <a:t>Source: FMI Analysis, 2026</a:t>
            </a:r>
          </a:p>
        </p:txBody>
      </p:sp>
      <p:sp>
        <p:nvSpPr>
          <p:cNvPr id="53" name="TextBox 5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54" name="TextBox 53"/>
          <p:cNvSpPr txBox="1"/>
          <p:nvPr/>
        </p:nvSpPr>
        <p:spPr>
          <a:xfrm>
            <a:off x="1752600" y="1589722"/>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55" name="Picture 54" descr="lock.png"/>
          <p:cNvPicPr>
            <a:picLocks noChangeAspect="1"/>
          </p:cNvPicPr>
          <p:nvPr/>
        </p:nvPicPr>
        <p:blipFill>
          <a:blip r:embed="rId4"/>
          <a:stretch>
            <a:fillRect/>
          </a:stretch>
        </p:blipFill>
        <p:spPr>
          <a:xfrm>
            <a:off x="2438789" y="1579943"/>
            <a:ext cx="128699" cy="187198"/>
          </a:xfrm>
          <a:prstGeom prst="rect">
            <a:avLst/>
          </a:prstGeom>
        </p:spPr>
      </p:pic>
      <p:sp>
        <p:nvSpPr>
          <p:cNvPr id="56" name="TextBox 55"/>
          <p:cNvSpPr txBox="1"/>
          <p:nvPr/>
        </p:nvSpPr>
        <p:spPr>
          <a:xfrm>
            <a:off x="2606285" y="1589722"/>
            <a:ext cx="1556419" cy="186689"/>
          </a:xfrm>
          <a:prstGeom prst="rect">
            <a:avLst/>
          </a:prstGeom>
          <a:noFill/>
        </p:spPr>
        <p:txBody>
          <a:bodyPr wrap="none" lIns="0" rIns="0" tIns="0" bIns="0">
            <a:spAutoFit/>
          </a:bodyPr>
          <a:lstStyle/>
          <a:p>
            <a:r>
              <a:rPr sz="1100" b="0">
                <a:solidFill>
                  <a:srgbClr val="2E2E2E"/>
                </a:solidFill>
                <a:latin typeface="Calibri"/>
              </a:rPr>
              <a:t>share), Installed demand (</a:t>
            </a:r>
          </a:p>
        </p:txBody>
      </p:sp>
      <p:pic>
        <p:nvPicPr>
          <p:cNvPr id="57" name="Picture 56" descr="lock.png"/>
          <p:cNvPicPr>
            <a:picLocks noChangeAspect="1"/>
          </p:cNvPicPr>
          <p:nvPr/>
        </p:nvPicPr>
        <p:blipFill>
          <a:blip r:embed="rId4"/>
          <a:stretch>
            <a:fillRect/>
          </a:stretch>
        </p:blipFill>
        <p:spPr>
          <a:xfrm>
            <a:off x="4110756" y="1579943"/>
            <a:ext cx="128699" cy="187198"/>
          </a:xfrm>
          <a:prstGeom prst="rect">
            <a:avLst/>
          </a:prstGeom>
        </p:spPr>
      </p:pic>
      <p:sp>
        <p:nvSpPr>
          <p:cNvPr id="58" name="TextBox 57"/>
          <p:cNvSpPr txBox="1"/>
          <p:nvPr/>
        </p:nvSpPr>
        <p:spPr>
          <a:xfrm>
            <a:off x="4278252" y="1589722"/>
            <a:ext cx="835528" cy="186689"/>
          </a:xfrm>
          <a:prstGeom prst="rect">
            <a:avLst/>
          </a:prstGeom>
          <a:noFill/>
        </p:spPr>
        <p:txBody>
          <a:bodyPr wrap="none" lIns="0" rIns="0" tIns="0" bIns="0">
            <a:spAutoFit/>
          </a:bodyPr>
          <a:lstStyle/>
          <a:p>
            <a:r>
              <a:rPr sz="1100" b="0">
                <a:solidFill>
                  <a:srgbClr val="2E2E2E"/>
                </a:solidFill>
                <a:latin typeface="Calibri"/>
              </a:rPr>
              <a:t>CAGR), Other</a:t>
            </a:r>
          </a:p>
        </p:txBody>
      </p:sp>
      <p:sp>
        <p:nvSpPr>
          <p:cNvPr id="59" name="TextBox 58"/>
          <p:cNvSpPr txBox="1"/>
          <p:nvPr/>
        </p:nvSpPr>
        <p:spPr>
          <a:xfrm>
            <a:off x="1752600" y="1757362"/>
            <a:ext cx="3330500" cy="186689"/>
          </a:xfrm>
          <a:prstGeom prst="rect">
            <a:avLst/>
          </a:prstGeom>
          <a:noFill/>
        </p:spPr>
        <p:txBody>
          <a:bodyPr wrap="none" lIns="0" rIns="0" tIns="0" bIns="0">
            <a:spAutoFit/>
          </a:bodyPr>
          <a:lstStyle/>
          <a:p>
            <a:r>
              <a:rPr sz="1100" b="0">
                <a:solidFill>
                  <a:srgbClr val="2E2E2E"/>
                </a:solidFill>
                <a:latin typeface="Calibri"/>
              </a:rPr>
              <a:t>Polymer-Based Coatings demand, Accelerating vs history.</a:t>
            </a:r>
          </a:p>
        </p:txBody>
      </p:sp>
      <p:sp>
        <p:nvSpPr>
          <p:cNvPr id="60" name="TextBox 59"/>
          <p:cNvSpPr txBox="1"/>
          <p:nvPr/>
        </p:nvSpPr>
        <p:spPr>
          <a:xfrm>
            <a:off x="5562600" y="1589722"/>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61" name="Picture 60" descr="lock.png"/>
          <p:cNvPicPr>
            <a:picLocks noChangeAspect="1"/>
          </p:cNvPicPr>
          <p:nvPr/>
        </p:nvPicPr>
        <p:blipFill>
          <a:blip r:embed="rId4"/>
          <a:stretch>
            <a:fillRect/>
          </a:stretch>
        </p:blipFill>
        <p:spPr>
          <a:xfrm>
            <a:off x="6797766" y="1579943"/>
            <a:ext cx="128699" cy="187198"/>
          </a:xfrm>
          <a:prstGeom prst="rect">
            <a:avLst/>
          </a:prstGeom>
        </p:spPr>
      </p:pic>
      <p:sp>
        <p:nvSpPr>
          <p:cNvPr id="62" name="TextBox 61"/>
          <p:cNvSpPr txBox="1"/>
          <p:nvPr/>
        </p:nvSpPr>
        <p:spPr>
          <a:xfrm>
            <a:off x="6965262" y="1589722"/>
            <a:ext cx="689297" cy="186689"/>
          </a:xfrm>
          <a:prstGeom prst="rect">
            <a:avLst/>
          </a:prstGeom>
          <a:noFill/>
        </p:spPr>
        <p:txBody>
          <a:bodyPr wrap="none" lIns="0" rIns="0" tIns="0" bIns="0">
            <a:spAutoFit/>
          </a:bodyPr>
          <a:lstStyle/>
          <a:p>
            <a:r>
              <a:rPr sz="1100" b="0">
                <a:solidFill>
                  <a:srgbClr val="2E2E2E"/>
                </a:solidFill>
                <a:latin typeface="Calibri"/>
              </a:rPr>
              <a:t>BPS, Rising</a:t>
            </a:r>
          </a:p>
        </p:txBody>
      </p:sp>
      <p:sp>
        <p:nvSpPr>
          <p:cNvPr id="63" name="TextBox 62"/>
          <p:cNvSpPr txBox="1"/>
          <p:nvPr/>
        </p:nvSpPr>
        <p:spPr>
          <a:xfrm>
            <a:off x="5562600" y="1757362"/>
            <a:ext cx="747414" cy="186689"/>
          </a:xfrm>
          <a:prstGeom prst="rect">
            <a:avLst/>
          </a:prstGeom>
          <a:noFill/>
        </p:spPr>
        <p:txBody>
          <a:bodyPr wrap="none" lIns="0" rIns="0" tIns="0" bIns="0">
            <a:spAutoFit/>
          </a:bodyPr>
          <a:lstStyle/>
          <a:p>
            <a:r>
              <a:rPr sz="1100" b="0">
                <a:solidFill>
                  <a:srgbClr val="2E2E2E"/>
                </a:solidFill>
                <a:latin typeface="Calibri"/>
              </a:rPr>
              <a:t>realisation (</a:t>
            </a:r>
          </a:p>
        </p:txBody>
      </p:sp>
      <p:pic>
        <p:nvPicPr>
          <p:cNvPr id="64" name="Picture 63" descr="lock.png"/>
          <p:cNvPicPr>
            <a:picLocks noChangeAspect="1"/>
          </p:cNvPicPr>
          <p:nvPr/>
        </p:nvPicPr>
        <p:blipFill>
          <a:blip r:embed="rId4"/>
          <a:stretch>
            <a:fillRect/>
          </a:stretch>
        </p:blipFill>
        <p:spPr>
          <a:xfrm>
            <a:off x="6258066" y="1747583"/>
            <a:ext cx="128699" cy="187198"/>
          </a:xfrm>
          <a:prstGeom prst="rect">
            <a:avLst/>
          </a:prstGeom>
        </p:spPr>
      </p:pic>
      <p:sp>
        <p:nvSpPr>
          <p:cNvPr id="65" name="TextBox 64"/>
          <p:cNvSpPr txBox="1"/>
          <p:nvPr/>
        </p:nvSpPr>
        <p:spPr>
          <a:xfrm>
            <a:off x="6425562" y="1757362"/>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66" name="TextBox 65"/>
          <p:cNvSpPr txBox="1"/>
          <p:nvPr/>
        </p:nvSpPr>
        <p:spPr>
          <a:xfrm>
            <a:off x="8420100" y="1589722"/>
            <a:ext cx="2130226" cy="186689"/>
          </a:xfrm>
          <a:prstGeom prst="rect">
            <a:avLst/>
          </a:prstGeom>
          <a:noFill/>
        </p:spPr>
        <p:txBody>
          <a:bodyPr wrap="none" lIns="0" rIns="0" tIns="0" bIns="0">
            <a:spAutoFit/>
          </a:bodyPr>
          <a:lstStyle/>
          <a:p>
            <a:r>
              <a:rPr sz="1100" b="0">
                <a:solidFill>
                  <a:srgbClr val="2E2E2E"/>
                </a:solidFill>
                <a:latin typeface="Calibri"/>
              </a:rPr>
              <a:t>Scale Silicone Waterproof Coatings (</a:t>
            </a:r>
          </a:p>
        </p:txBody>
      </p:sp>
      <p:pic>
        <p:nvPicPr>
          <p:cNvPr id="67" name="Picture 66" descr="lock.png"/>
          <p:cNvPicPr>
            <a:picLocks noChangeAspect="1"/>
          </p:cNvPicPr>
          <p:nvPr/>
        </p:nvPicPr>
        <p:blipFill>
          <a:blip r:embed="rId4"/>
          <a:stretch>
            <a:fillRect/>
          </a:stretch>
        </p:blipFill>
        <p:spPr>
          <a:xfrm>
            <a:off x="10498378" y="1579943"/>
            <a:ext cx="128699" cy="187198"/>
          </a:xfrm>
          <a:prstGeom prst="rect">
            <a:avLst/>
          </a:prstGeom>
        </p:spPr>
      </p:pic>
      <p:sp>
        <p:nvSpPr>
          <p:cNvPr id="68" name="TextBox 67"/>
          <p:cNvSpPr txBox="1"/>
          <p:nvPr/>
        </p:nvSpPr>
        <p:spPr>
          <a:xfrm>
            <a:off x="10665873" y="1589722"/>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69" name="Picture 68" descr="lock.png"/>
          <p:cNvPicPr>
            <a:picLocks noChangeAspect="1"/>
          </p:cNvPicPr>
          <p:nvPr/>
        </p:nvPicPr>
        <p:blipFill>
          <a:blip r:embed="rId4"/>
          <a:stretch>
            <a:fillRect/>
          </a:stretch>
        </p:blipFill>
        <p:spPr>
          <a:xfrm>
            <a:off x="10767342" y="1579943"/>
            <a:ext cx="128699" cy="187198"/>
          </a:xfrm>
          <a:prstGeom prst="rect">
            <a:avLst/>
          </a:prstGeom>
        </p:spPr>
      </p:pic>
      <p:sp>
        <p:nvSpPr>
          <p:cNvPr id="70" name="TextBox 69"/>
          <p:cNvSpPr txBox="1"/>
          <p:nvPr/>
        </p:nvSpPr>
        <p:spPr>
          <a:xfrm>
            <a:off x="10934838" y="1589722"/>
            <a:ext cx="52558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71" name="TextBox 70"/>
          <p:cNvSpPr txBox="1"/>
          <p:nvPr/>
        </p:nvSpPr>
        <p:spPr>
          <a:xfrm>
            <a:off x="8420100" y="1757362"/>
            <a:ext cx="702394" cy="186689"/>
          </a:xfrm>
          <a:prstGeom prst="rect">
            <a:avLst/>
          </a:prstGeom>
          <a:noFill/>
        </p:spPr>
        <p:txBody>
          <a:bodyPr wrap="none" lIns="0" rIns="0" tIns="0" bIns="0">
            <a:spAutoFit/>
          </a:bodyPr>
          <a:lstStyle/>
          <a:p>
            <a:r>
              <a:rPr sz="1100" b="0">
                <a:solidFill>
                  <a:srgbClr val="2E2E2E"/>
                </a:solidFill>
                <a:latin typeface="Calibri"/>
              </a:rPr>
              <a:t>headroom.</a:t>
            </a:r>
          </a:p>
        </p:txBody>
      </p:sp>
      <p:sp>
        <p:nvSpPr>
          <p:cNvPr id="72" name="TextBox 71"/>
          <p:cNvSpPr txBox="1"/>
          <p:nvPr/>
        </p:nvSpPr>
        <p:spPr>
          <a:xfrm>
            <a:off x="1752600" y="2323147"/>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73" name="Picture 72" descr="lock.png"/>
          <p:cNvPicPr>
            <a:picLocks noChangeAspect="1"/>
          </p:cNvPicPr>
          <p:nvPr/>
        </p:nvPicPr>
        <p:blipFill>
          <a:blip r:embed="rId4"/>
          <a:stretch>
            <a:fillRect/>
          </a:stretch>
        </p:blipFill>
        <p:spPr>
          <a:xfrm>
            <a:off x="2438789" y="2313368"/>
            <a:ext cx="128699" cy="187198"/>
          </a:xfrm>
          <a:prstGeom prst="rect">
            <a:avLst/>
          </a:prstGeom>
        </p:spPr>
      </p:pic>
      <p:sp>
        <p:nvSpPr>
          <p:cNvPr id="74" name="TextBox 73"/>
          <p:cNvSpPr txBox="1"/>
          <p:nvPr/>
        </p:nvSpPr>
        <p:spPr>
          <a:xfrm>
            <a:off x="2606285" y="2323147"/>
            <a:ext cx="1683568" cy="186689"/>
          </a:xfrm>
          <a:prstGeom prst="rect">
            <a:avLst/>
          </a:prstGeom>
          <a:noFill/>
        </p:spPr>
        <p:txBody>
          <a:bodyPr wrap="none" lIns="0" rIns="0" tIns="0" bIns="0">
            <a:spAutoFit/>
          </a:bodyPr>
          <a:lstStyle/>
          <a:p>
            <a:r>
              <a:rPr sz="1100" b="0">
                <a:solidFill>
                  <a:srgbClr val="2E2E2E"/>
                </a:solidFill>
                <a:latin typeface="Calibri"/>
              </a:rPr>
              <a:t>share), Above-market pace (</a:t>
            </a:r>
          </a:p>
        </p:txBody>
      </p:sp>
      <p:pic>
        <p:nvPicPr>
          <p:cNvPr id="75" name="Picture 74" descr="lock.png"/>
          <p:cNvPicPr>
            <a:picLocks noChangeAspect="1"/>
          </p:cNvPicPr>
          <p:nvPr/>
        </p:nvPicPr>
        <p:blipFill>
          <a:blip r:embed="rId4"/>
          <a:stretch>
            <a:fillRect/>
          </a:stretch>
        </p:blipFill>
        <p:spPr>
          <a:xfrm>
            <a:off x="4237905" y="2313368"/>
            <a:ext cx="128699" cy="187198"/>
          </a:xfrm>
          <a:prstGeom prst="rect">
            <a:avLst/>
          </a:prstGeom>
        </p:spPr>
      </p:pic>
      <p:sp>
        <p:nvSpPr>
          <p:cNvPr id="76" name="TextBox 75"/>
          <p:cNvSpPr txBox="1"/>
          <p:nvPr/>
        </p:nvSpPr>
        <p:spPr>
          <a:xfrm>
            <a:off x="4405401" y="2323147"/>
            <a:ext cx="516309" cy="186689"/>
          </a:xfrm>
          <a:prstGeom prst="rect">
            <a:avLst/>
          </a:prstGeom>
          <a:noFill/>
        </p:spPr>
        <p:txBody>
          <a:bodyPr wrap="none" lIns="0" rIns="0" tIns="0" bIns="0">
            <a:spAutoFit/>
          </a:bodyPr>
          <a:lstStyle/>
          <a:p>
            <a:r>
              <a:rPr sz="1100" b="0">
                <a:solidFill>
                  <a:srgbClr val="2E2E2E"/>
                </a:solidFill>
                <a:latin typeface="Calibri"/>
              </a:rPr>
              <a:t>), Other</a:t>
            </a:r>
          </a:p>
        </p:txBody>
      </p:sp>
      <p:sp>
        <p:nvSpPr>
          <p:cNvPr id="77" name="TextBox 76"/>
          <p:cNvSpPr txBox="1"/>
          <p:nvPr/>
        </p:nvSpPr>
        <p:spPr>
          <a:xfrm>
            <a:off x="1752600" y="2490787"/>
            <a:ext cx="3330500" cy="186689"/>
          </a:xfrm>
          <a:prstGeom prst="rect">
            <a:avLst/>
          </a:prstGeom>
          <a:noFill/>
        </p:spPr>
        <p:txBody>
          <a:bodyPr wrap="none" lIns="0" rIns="0" tIns="0" bIns="0">
            <a:spAutoFit/>
          </a:bodyPr>
          <a:lstStyle/>
          <a:p>
            <a:r>
              <a:rPr sz="1100" b="0">
                <a:solidFill>
                  <a:srgbClr val="2E2E2E"/>
                </a:solidFill>
                <a:latin typeface="Calibri"/>
              </a:rPr>
              <a:t>Polymer-Based Coatings demand, Accelerating vs history.</a:t>
            </a:r>
          </a:p>
        </p:txBody>
      </p:sp>
      <p:sp>
        <p:nvSpPr>
          <p:cNvPr id="78" name="TextBox 77"/>
          <p:cNvSpPr txBox="1"/>
          <p:nvPr/>
        </p:nvSpPr>
        <p:spPr>
          <a:xfrm>
            <a:off x="8420100" y="2323147"/>
            <a:ext cx="2130226" cy="186689"/>
          </a:xfrm>
          <a:prstGeom prst="rect">
            <a:avLst/>
          </a:prstGeom>
          <a:noFill/>
        </p:spPr>
        <p:txBody>
          <a:bodyPr wrap="none" lIns="0" rIns="0" tIns="0" bIns="0">
            <a:spAutoFit/>
          </a:bodyPr>
          <a:lstStyle/>
          <a:p>
            <a:r>
              <a:rPr sz="1100" b="0">
                <a:solidFill>
                  <a:srgbClr val="2E2E2E"/>
                </a:solidFill>
                <a:latin typeface="Calibri"/>
              </a:rPr>
              <a:t>Scale Silicone Waterproof Coatings (</a:t>
            </a:r>
          </a:p>
        </p:txBody>
      </p:sp>
      <p:pic>
        <p:nvPicPr>
          <p:cNvPr id="79" name="Picture 78" descr="lock.png"/>
          <p:cNvPicPr>
            <a:picLocks noChangeAspect="1"/>
          </p:cNvPicPr>
          <p:nvPr/>
        </p:nvPicPr>
        <p:blipFill>
          <a:blip r:embed="rId4"/>
          <a:stretch>
            <a:fillRect/>
          </a:stretch>
        </p:blipFill>
        <p:spPr>
          <a:xfrm>
            <a:off x="10498378" y="2313368"/>
            <a:ext cx="128699" cy="187198"/>
          </a:xfrm>
          <a:prstGeom prst="rect">
            <a:avLst/>
          </a:prstGeom>
        </p:spPr>
      </p:pic>
      <p:sp>
        <p:nvSpPr>
          <p:cNvPr id="80" name="TextBox 79"/>
          <p:cNvSpPr txBox="1"/>
          <p:nvPr/>
        </p:nvSpPr>
        <p:spPr>
          <a:xfrm>
            <a:off x="10665873" y="2323147"/>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81" name="Picture 80" descr="lock.png"/>
          <p:cNvPicPr>
            <a:picLocks noChangeAspect="1"/>
          </p:cNvPicPr>
          <p:nvPr/>
        </p:nvPicPr>
        <p:blipFill>
          <a:blip r:embed="rId4"/>
          <a:stretch>
            <a:fillRect/>
          </a:stretch>
        </p:blipFill>
        <p:spPr>
          <a:xfrm>
            <a:off x="10767342" y="2313368"/>
            <a:ext cx="128699" cy="187198"/>
          </a:xfrm>
          <a:prstGeom prst="rect">
            <a:avLst/>
          </a:prstGeom>
        </p:spPr>
      </p:pic>
      <p:sp>
        <p:nvSpPr>
          <p:cNvPr id="82" name="TextBox 81"/>
          <p:cNvSpPr txBox="1"/>
          <p:nvPr/>
        </p:nvSpPr>
        <p:spPr>
          <a:xfrm>
            <a:off x="10934838" y="2323147"/>
            <a:ext cx="52558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83" name="TextBox 82"/>
          <p:cNvSpPr txBox="1"/>
          <p:nvPr/>
        </p:nvSpPr>
        <p:spPr>
          <a:xfrm>
            <a:off x="8420100" y="2490787"/>
            <a:ext cx="702394" cy="186689"/>
          </a:xfrm>
          <a:prstGeom prst="rect">
            <a:avLst/>
          </a:prstGeom>
          <a:noFill/>
        </p:spPr>
        <p:txBody>
          <a:bodyPr wrap="none" lIns="0" rIns="0" tIns="0" bIns="0">
            <a:spAutoFit/>
          </a:bodyPr>
          <a:lstStyle/>
          <a:p>
            <a:r>
              <a:rPr sz="1100" b="0">
                <a:solidFill>
                  <a:srgbClr val="2E2E2E"/>
                </a:solidFill>
                <a:latin typeface="Calibri"/>
              </a:rPr>
              <a:t>headroom.</a:t>
            </a:r>
          </a:p>
        </p:txBody>
      </p:sp>
      <p:sp>
        <p:nvSpPr>
          <p:cNvPr id="84" name="TextBox 83"/>
          <p:cNvSpPr txBox="1"/>
          <p:nvPr/>
        </p:nvSpPr>
        <p:spPr>
          <a:xfrm>
            <a:off x="1752600" y="3056572"/>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85" name="Picture 84" descr="lock.png"/>
          <p:cNvPicPr>
            <a:picLocks noChangeAspect="1"/>
          </p:cNvPicPr>
          <p:nvPr/>
        </p:nvPicPr>
        <p:blipFill>
          <a:blip r:embed="rId4"/>
          <a:stretch>
            <a:fillRect/>
          </a:stretch>
        </p:blipFill>
        <p:spPr>
          <a:xfrm>
            <a:off x="2438789" y="3046793"/>
            <a:ext cx="128699" cy="187198"/>
          </a:xfrm>
          <a:prstGeom prst="rect">
            <a:avLst/>
          </a:prstGeom>
        </p:spPr>
      </p:pic>
      <p:sp>
        <p:nvSpPr>
          <p:cNvPr id="86" name="TextBox 85"/>
          <p:cNvSpPr txBox="1"/>
          <p:nvPr/>
        </p:nvSpPr>
        <p:spPr>
          <a:xfrm>
            <a:off x="2606285" y="3056572"/>
            <a:ext cx="1556419" cy="186689"/>
          </a:xfrm>
          <a:prstGeom prst="rect">
            <a:avLst/>
          </a:prstGeom>
          <a:noFill/>
        </p:spPr>
        <p:txBody>
          <a:bodyPr wrap="none" lIns="0" rIns="0" tIns="0" bIns="0">
            <a:spAutoFit/>
          </a:bodyPr>
          <a:lstStyle/>
          <a:p>
            <a:r>
              <a:rPr sz="1100" b="0">
                <a:solidFill>
                  <a:srgbClr val="2E2E2E"/>
                </a:solidFill>
                <a:latin typeface="Calibri"/>
              </a:rPr>
              <a:t>share), Installed demand (</a:t>
            </a:r>
          </a:p>
        </p:txBody>
      </p:sp>
      <p:pic>
        <p:nvPicPr>
          <p:cNvPr id="87" name="Picture 86" descr="lock.png"/>
          <p:cNvPicPr>
            <a:picLocks noChangeAspect="1"/>
          </p:cNvPicPr>
          <p:nvPr/>
        </p:nvPicPr>
        <p:blipFill>
          <a:blip r:embed="rId4"/>
          <a:stretch>
            <a:fillRect/>
          </a:stretch>
        </p:blipFill>
        <p:spPr>
          <a:xfrm>
            <a:off x="4110756" y="3046793"/>
            <a:ext cx="128699" cy="187198"/>
          </a:xfrm>
          <a:prstGeom prst="rect">
            <a:avLst/>
          </a:prstGeom>
        </p:spPr>
      </p:pic>
      <p:sp>
        <p:nvSpPr>
          <p:cNvPr id="88" name="TextBox 87"/>
          <p:cNvSpPr txBox="1"/>
          <p:nvPr/>
        </p:nvSpPr>
        <p:spPr>
          <a:xfrm>
            <a:off x="4278252" y="3056572"/>
            <a:ext cx="1004423" cy="186689"/>
          </a:xfrm>
          <a:prstGeom prst="rect">
            <a:avLst/>
          </a:prstGeom>
          <a:noFill/>
        </p:spPr>
        <p:txBody>
          <a:bodyPr wrap="none" lIns="0" rIns="0" tIns="0" bIns="0">
            <a:spAutoFit/>
          </a:bodyPr>
          <a:lstStyle/>
          <a:p>
            <a:r>
              <a:rPr sz="1100" b="0">
                <a:solidFill>
                  <a:srgbClr val="2E2E2E"/>
                </a:solidFill>
                <a:latin typeface="Calibri"/>
              </a:rPr>
              <a:t>CAGR), Polyurea</a:t>
            </a:r>
          </a:p>
        </p:txBody>
      </p:sp>
      <p:sp>
        <p:nvSpPr>
          <p:cNvPr id="89" name="TextBox 88"/>
          <p:cNvSpPr txBox="1"/>
          <p:nvPr/>
        </p:nvSpPr>
        <p:spPr>
          <a:xfrm>
            <a:off x="1752600" y="3224212"/>
            <a:ext cx="3144415" cy="186689"/>
          </a:xfrm>
          <a:prstGeom prst="rect">
            <a:avLst/>
          </a:prstGeom>
          <a:noFill/>
        </p:spPr>
        <p:txBody>
          <a:bodyPr wrap="none" lIns="0" rIns="0" tIns="0" bIns="0">
            <a:spAutoFit/>
          </a:bodyPr>
          <a:lstStyle/>
          <a:p>
            <a:r>
              <a:rPr sz="1100" b="0">
                <a:solidFill>
                  <a:srgbClr val="2E2E2E"/>
                </a:solidFill>
                <a:latin typeface="Calibri"/>
              </a:rPr>
              <a:t>Waterproof Coatings demand, Accelerating vs history.</a:t>
            </a:r>
          </a:p>
        </p:txBody>
      </p:sp>
      <p:sp>
        <p:nvSpPr>
          <p:cNvPr id="90" name="TextBox 89"/>
          <p:cNvSpPr txBox="1"/>
          <p:nvPr/>
        </p:nvSpPr>
        <p:spPr>
          <a:xfrm>
            <a:off x="5562600" y="3140392"/>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91" name="Picture 90" descr="lock.png"/>
          <p:cNvPicPr>
            <a:picLocks noChangeAspect="1"/>
          </p:cNvPicPr>
          <p:nvPr/>
        </p:nvPicPr>
        <p:blipFill>
          <a:blip r:embed="rId4"/>
          <a:stretch>
            <a:fillRect/>
          </a:stretch>
        </p:blipFill>
        <p:spPr>
          <a:xfrm>
            <a:off x="6797766" y="3130613"/>
            <a:ext cx="128699" cy="187198"/>
          </a:xfrm>
          <a:prstGeom prst="rect">
            <a:avLst/>
          </a:prstGeom>
        </p:spPr>
      </p:pic>
      <p:sp>
        <p:nvSpPr>
          <p:cNvPr id="92" name="TextBox 91"/>
          <p:cNvSpPr txBox="1"/>
          <p:nvPr/>
        </p:nvSpPr>
        <p:spPr>
          <a:xfrm>
            <a:off x="6965262" y="3140392"/>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93" name="TextBox 92"/>
          <p:cNvSpPr txBox="1"/>
          <p:nvPr/>
        </p:nvSpPr>
        <p:spPr>
          <a:xfrm>
            <a:off x="8420100" y="3056572"/>
            <a:ext cx="2130226" cy="186689"/>
          </a:xfrm>
          <a:prstGeom prst="rect">
            <a:avLst/>
          </a:prstGeom>
          <a:noFill/>
        </p:spPr>
        <p:txBody>
          <a:bodyPr wrap="none" lIns="0" rIns="0" tIns="0" bIns="0">
            <a:spAutoFit/>
          </a:bodyPr>
          <a:lstStyle/>
          <a:p>
            <a:r>
              <a:rPr sz="1100" b="0">
                <a:solidFill>
                  <a:srgbClr val="2E2E2E"/>
                </a:solidFill>
                <a:latin typeface="Calibri"/>
              </a:rPr>
              <a:t>Scale Silicone Waterproof Coatings (</a:t>
            </a:r>
          </a:p>
        </p:txBody>
      </p:sp>
      <p:pic>
        <p:nvPicPr>
          <p:cNvPr id="94" name="Picture 93" descr="lock.png"/>
          <p:cNvPicPr>
            <a:picLocks noChangeAspect="1"/>
          </p:cNvPicPr>
          <p:nvPr/>
        </p:nvPicPr>
        <p:blipFill>
          <a:blip r:embed="rId4"/>
          <a:stretch>
            <a:fillRect/>
          </a:stretch>
        </p:blipFill>
        <p:spPr>
          <a:xfrm>
            <a:off x="10498378" y="3046793"/>
            <a:ext cx="128699" cy="187198"/>
          </a:xfrm>
          <a:prstGeom prst="rect">
            <a:avLst/>
          </a:prstGeom>
        </p:spPr>
      </p:pic>
      <p:sp>
        <p:nvSpPr>
          <p:cNvPr id="95" name="TextBox 94"/>
          <p:cNvSpPr txBox="1"/>
          <p:nvPr/>
        </p:nvSpPr>
        <p:spPr>
          <a:xfrm>
            <a:off x="10665873" y="3056572"/>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96" name="Picture 95" descr="lock.png"/>
          <p:cNvPicPr>
            <a:picLocks noChangeAspect="1"/>
          </p:cNvPicPr>
          <p:nvPr/>
        </p:nvPicPr>
        <p:blipFill>
          <a:blip r:embed="rId4"/>
          <a:stretch>
            <a:fillRect/>
          </a:stretch>
        </p:blipFill>
        <p:spPr>
          <a:xfrm>
            <a:off x="10767342" y="3046793"/>
            <a:ext cx="128699" cy="187198"/>
          </a:xfrm>
          <a:prstGeom prst="rect">
            <a:avLst/>
          </a:prstGeom>
        </p:spPr>
      </p:pic>
      <p:sp>
        <p:nvSpPr>
          <p:cNvPr id="97" name="TextBox 96"/>
          <p:cNvSpPr txBox="1"/>
          <p:nvPr/>
        </p:nvSpPr>
        <p:spPr>
          <a:xfrm>
            <a:off x="10934838" y="3056572"/>
            <a:ext cx="52558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98" name="TextBox 97"/>
          <p:cNvSpPr txBox="1"/>
          <p:nvPr/>
        </p:nvSpPr>
        <p:spPr>
          <a:xfrm>
            <a:off x="8420100" y="3224212"/>
            <a:ext cx="702394" cy="186689"/>
          </a:xfrm>
          <a:prstGeom prst="rect">
            <a:avLst/>
          </a:prstGeom>
          <a:noFill/>
        </p:spPr>
        <p:txBody>
          <a:bodyPr wrap="none" lIns="0" rIns="0" tIns="0" bIns="0">
            <a:spAutoFit/>
          </a:bodyPr>
          <a:lstStyle/>
          <a:p>
            <a:r>
              <a:rPr sz="1100" b="0">
                <a:solidFill>
                  <a:srgbClr val="2E2E2E"/>
                </a:solidFill>
                <a:latin typeface="Calibri"/>
              </a:rPr>
              <a:t>headroom.</a:t>
            </a:r>
          </a:p>
        </p:txBody>
      </p:sp>
      <p:sp>
        <p:nvSpPr>
          <p:cNvPr id="99" name="TextBox 98"/>
          <p:cNvSpPr txBox="1"/>
          <p:nvPr/>
        </p:nvSpPr>
        <p:spPr>
          <a:xfrm>
            <a:off x="1752600" y="3689985"/>
            <a:ext cx="1261467" cy="186689"/>
          </a:xfrm>
          <a:prstGeom prst="rect">
            <a:avLst/>
          </a:prstGeom>
          <a:noFill/>
        </p:spPr>
        <p:txBody>
          <a:bodyPr wrap="none" lIns="0" rIns="0" tIns="0" bIns="0">
            <a:spAutoFit/>
          </a:bodyPr>
          <a:lstStyle/>
          <a:p>
            <a:r>
              <a:rPr sz="1100" b="0">
                <a:solidFill>
                  <a:srgbClr val="2E2E2E"/>
                </a:solidFill>
                <a:latin typeface="Calibri"/>
              </a:rPr>
              <a:t>Above-market pace (</a:t>
            </a:r>
          </a:p>
        </p:txBody>
      </p:sp>
      <p:pic>
        <p:nvPicPr>
          <p:cNvPr id="100" name="Picture 99" descr="lock.png"/>
          <p:cNvPicPr>
            <a:picLocks noChangeAspect="1"/>
          </p:cNvPicPr>
          <p:nvPr/>
        </p:nvPicPr>
        <p:blipFill>
          <a:blip r:embed="rId4"/>
          <a:stretch>
            <a:fillRect/>
          </a:stretch>
        </p:blipFill>
        <p:spPr>
          <a:xfrm>
            <a:off x="2962118" y="3680206"/>
            <a:ext cx="128699" cy="187198"/>
          </a:xfrm>
          <a:prstGeom prst="rect">
            <a:avLst/>
          </a:prstGeom>
        </p:spPr>
      </p:pic>
      <p:sp>
        <p:nvSpPr>
          <p:cNvPr id="101" name="TextBox 100"/>
          <p:cNvSpPr txBox="1"/>
          <p:nvPr/>
        </p:nvSpPr>
        <p:spPr>
          <a:xfrm>
            <a:off x="3129614" y="3689985"/>
            <a:ext cx="1905124" cy="186689"/>
          </a:xfrm>
          <a:prstGeom prst="rect">
            <a:avLst/>
          </a:prstGeom>
          <a:noFill/>
        </p:spPr>
        <p:txBody>
          <a:bodyPr wrap="none" lIns="0" rIns="0" tIns="0" bIns="0">
            <a:spAutoFit/>
          </a:bodyPr>
          <a:lstStyle/>
          <a:p>
            <a:r>
              <a:rPr sz="1100" b="0">
                <a:solidFill>
                  <a:srgbClr val="2E2E2E"/>
                </a:solidFill>
                <a:latin typeface="Calibri"/>
              </a:rPr>
              <a:t>), Polyurea Waterproof Coatings</a:t>
            </a:r>
          </a:p>
        </p:txBody>
      </p:sp>
      <p:sp>
        <p:nvSpPr>
          <p:cNvPr id="102" name="TextBox 101"/>
          <p:cNvSpPr txBox="1"/>
          <p:nvPr/>
        </p:nvSpPr>
        <p:spPr>
          <a:xfrm>
            <a:off x="1752600" y="3857625"/>
            <a:ext cx="1924496" cy="186689"/>
          </a:xfrm>
          <a:prstGeom prst="rect">
            <a:avLst/>
          </a:prstGeom>
          <a:noFill/>
        </p:spPr>
        <p:txBody>
          <a:bodyPr wrap="none" lIns="0" rIns="0" tIns="0" bIns="0">
            <a:spAutoFit/>
          </a:bodyPr>
          <a:lstStyle/>
          <a:p>
            <a:r>
              <a:rPr sz="1100" b="0">
                <a:solidFill>
                  <a:srgbClr val="2E2E2E"/>
                </a:solidFill>
                <a:latin typeface="Calibri"/>
              </a:rPr>
              <a:t>demand, Accelerating vs history.</a:t>
            </a:r>
          </a:p>
        </p:txBody>
      </p:sp>
      <p:sp>
        <p:nvSpPr>
          <p:cNvPr id="103" name="TextBox 102"/>
          <p:cNvSpPr txBox="1"/>
          <p:nvPr/>
        </p:nvSpPr>
        <p:spPr>
          <a:xfrm>
            <a:off x="5562600" y="3773805"/>
            <a:ext cx="1113035" cy="186689"/>
          </a:xfrm>
          <a:prstGeom prst="rect">
            <a:avLst/>
          </a:prstGeom>
          <a:noFill/>
        </p:spPr>
        <p:txBody>
          <a:bodyPr wrap="none" lIns="0" rIns="0" tIns="0" bIns="0">
            <a:spAutoFit/>
          </a:bodyPr>
          <a:lstStyle/>
          <a:p>
            <a:r>
              <a:rPr sz="1100" b="0">
                <a:solidFill>
                  <a:srgbClr val="2E2E2E"/>
                </a:solidFill>
                <a:latin typeface="Calibri"/>
              </a:rPr>
              <a:t>Rising realisation (</a:t>
            </a:r>
          </a:p>
        </p:txBody>
      </p:sp>
      <p:pic>
        <p:nvPicPr>
          <p:cNvPr id="104" name="Picture 103" descr="lock.png"/>
          <p:cNvPicPr>
            <a:picLocks noChangeAspect="1"/>
          </p:cNvPicPr>
          <p:nvPr/>
        </p:nvPicPr>
        <p:blipFill>
          <a:blip r:embed="rId4"/>
          <a:stretch>
            <a:fillRect/>
          </a:stretch>
        </p:blipFill>
        <p:spPr>
          <a:xfrm>
            <a:off x="6623687" y="3764026"/>
            <a:ext cx="128699" cy="187198"/>
          </a:xfrm>
          <a:prstGeom prst="rect">
            <a:avLst/>
          </a:prstGeom>
        </p:spPr>
      </p:pic>
      <p:sp>
        <p:nvSpPr>
          <p:cNvPr id="105" name="TextBox 104"/>
          <p:cNvSpPr txBox="1"/>
          <p:nvPr/>
        </p:nvSpPr>
        <p:spPr>
          <a:xfrm>
            <a:off x="6791183" y="3773805"/>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106" name="TextBox 105"/>
          <p:cNvSpPr txBox="1"/>
          <p:nvPr/>
        </p:nvSpPr>
        <p:spPr>
          <a:xfrm>
            <a:off x="8420100" y="3689985"/>
            <a:ext cx="2130226" cy="186689"/>
          </a:xfrm>
          <a:prstGeom prst="rect">
            <a:avLst/>
          </a:prstGeom>
          <a:noFill/>
        </p:spPr>
        <p:txBody>
          <a:bodyPr wrap="none" lIns="0" rIns="0" tIns="0" bIns="0">
            <a:spAutoFit/>
          </a:bodyPr>
          <a:lstStyle/>
          <a:p>
            <a:r>
              <a:rPr sz="1100" b="0">
                <a:solidFill>
                  <a:srgbClr val="2E2E2E"/>
                </a:solidFill>
                <a:latin typeface="Calibri"/>
              </a:rPr>
              <a:t>Scale Silicone Waterproof Coatings (</a:t>
            </a:r>
          </a:p>
        </p:txBody>
      </p:sp>
      <p:pic>
        <p:nvPicPr>
          <p:cNvPr id="107" name="Picture 106" descr="lock.png"/>
          <p:cNvPicPr>
            <a:picLocks noChangeAspect="1"/>
          </p:cNvPicPr>
          <p:nvPr/>
        </p:nvPicPr>
        <p:blipFill>
          <a:blip r:embed="rId4"/>
          <a:stretch>
            <a:fillRect/>
          </a:stretch>
        </p:blipFill>
        <p:spPr>
          <a:xfrm>
            <a:off x="10498378" y="3680206"/>
            <a:ext cx="128699" cy="187198"/>
          </a:xfrm>
          <a:prstGeom prst="rect">
            <a:avLst/>
          </a:prstGeom>
        </p:spPr>
      </p:pic>
      <p:sp>
        <p:nvSpPr>
          <p:cNvPr id="108" name="TextBox 107"/>
          <p:cNvSpPr txBox="1"/>
          <p:nvPr/>
        </p:nvSpPr>
        <p:spPr>
          <a:xfrm>
            <a:off x="10665873" y="3689985"/>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09" name="Picture 108" descr="lock.png"/>
          <p:cNvPicPr>
            <a:picLocks noChangeAspect="1"/>
          </p:cNvPicPr>
          <p:nvPr/>
        </p:nvPicPr>
        <p:blipFill>
          <a:blip r:embed="rId4"/>
          <a:stretch>
            <a:fillRect/>
          </a:stretch>
        </p:blipFill>
        <p:spPr>
          <a:xfrm>
            <a:off x="10767342" y="3680206"/>
            <a:ext cx="128699" cy="187198"/>
          </a:xfrm>
          <a:prstGeom prst="rect">
            <a:avLst/>
          </a:prstGeom>
        </p:spPr>
      </p:pic>
      <p:sp>
        <p:nvSpPr>
          <p:cNvPr id="110" name="TextBox 109"/>
          <p:cNvSpPr txBox="1"/>
          <p:nvPr/>
        </p:nvSpPr>
        <p:spPr>
          <a:xfrm>
            <a:off x="10934838" y="3689985"/>
            <a:ext cx="52558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111" name="TextBox 110"/>
          <p:cNvSpPr txBox="1"/>
          <p:nvPr/>
        </p:nvSpPr>
        <p:spPr>
          <a:xfrm>
            <a:off x="8420100" y="3857625"/>
            <a:ext cx="702394" cy="186689"/>
          </a:xfrm>
          <a:prstGeom prst="rect">
            <a:avLst/>
          </a:prstGeom>
          <a:noFill/>
        </p:spPr>
        <p:txBody>
          <a:bodyPr wrap="none" lIns="0" rIns="0" tIns="0" bIns="0">
            <a:spAutoFit/>
          </a:bodyPr>
          <a:lstStyle/>
          <a:p>
            <a:r>
              <a:rPr sz="1100" b="0">
                <a:solidFill>
                  <a:srgbClr val="2E2E2E"/>
                </a:solidFill>
                <a:latin typeface="Calibri"/>
              </a:rPr>
              <a:t>headroom.</a:t>
            </a:r>
          </a:p>
        </p:txBody>
      </p:sp>
      <p:sp>
        <p:nvSpPr>
          <p:cNvPr id="112" name="TextBox 111"/>
          <p:cNvSpPr txBox="1"/>
          <p:nvPr/>
        </p:nvSpPr>
        <p:spPr>
          <a:xfrm>
            <a:off x="1752600" y="4223385"/>
            <a:ext cx="1134318" cy="186689"/>
          </a:xfrm>
          <a:prstGeom prst="rect">
            <a:avLst/>
          </a:prstGeom>
          <a:noFill/>
        </p:spPr>
        <p:txBody>
          <a:bodyPr wrap="none" lIns="0" rIns="0" tIns="0" bIns="0">
            <a:spAutoFit/>
          </a:bodyPr>
          <a:lstStyle/>
          <a:p>
            <a:r>
              <a:rPr sz="1100" b="0">
                <a:solidFill>
                  <a:srgbClr val="2E2E2E"/>
                </a:solidFill>
                <a:latin typeface="Calibri"/>
              </a:rPr>
              <a:t>Installed demand (</a:t>
            </a:r>
          </a:p>
        </p:txBody>
      </p:sp>
      <p:pic>
        <p:nvPicPr>
          <p:cNvPr id="113" name="Picture 112" descr="lock.png"/>
          <p:cNvPicPr>
            <a:picLocks noChangeAspect="1"/>
          </p:cNvPicPr>
          <p:nvPr/>
        </p:nvPicPr>
        <p:blipFill>
          <a:blip r:embed="rId4"/>
          <a:stretch>
            <a:fillRect/>
          </a:stretch>
        </p:blipFill>
        <p:spPr>
          <a:xfrm>
            <a:off x="2834969" y="4213606"/>
            <a:ext cx="128699" cy="187198"/>
          </a:xfrm>
          <a:prstGeom prst="rect">
            <a:avLst/>
          </a:prstGeom>
        </p:spPr>
      </p:pic>
      <p:sp>
        <p:nvSpPr>
          <p:cNvPr id="114" name="TextBox 113"/>
          <p:cNvSpPr txBox="1"/>
          <p:nvPr/>
        </p:nvSpPr>
        <p:spPr>
          <a:xfrm>
            <a:off x="3002465" y="4223385"/>
            <a:ext cx="2241532" cy="186689"/>
          </a:xfrm>
          <a:prstGeom prst="rect">
            <a:avLst/>
          </a:prstGeom>
          <a:noFill/>
        </p:spPr>
        <p:txBody>
          <a:bodyPr wrap="none" lIns="0" rIns="0" tIns="0" bIns="0">
            <a:spAutoFit/>
          </a:bodyPr>
          <a:lstStyle/>
          <a:p>
            <a:r>
              <a:rPr sz="1100" b="0">
                <a:solidFill>
                  <a:srgbClr val="2E2E2E"/>
                </a:solidFill>
                <a:latin typeface="Calibri"/>
              </a:rPr>
              <a:t>CAGR), Other Polymer-Based Coatings</a:t>
            </a:r>
          </a:p>
        </p:txBody>
      </p:sp>
      <p:sp>
        <p:nvSpPr>
          <p:cNvPr id="115" name="TextBox 114"/>
          <p:cNvSpPr txBox="1"/>
          <p:nvPr/>
        </p:nvSpPr>
        <p:spPr>
          <a:xfrm>
            <a:off x="1752600" y="4391025"/>
            <a:ext cx="1924496" cy="186689"/>
          </a:xfrm>
          <a:prstGeom prst="rect">
            <a:avLst/>
          </a:prstGeom>
          <a:noFill/>
        </p:spPr>
        <p:txBody>
          <a:bodyPr wrap="none" lIns="0" rIns="0" tIns="0" bIns="0">
            <a:spAutoFit/>
          </a:bodyPr>
          <a:lstStyle/>
          <a:p>
            <a:r>
              <a:rPr sz="1100" b="0">
                <a:solidFill>
                  <a:srgbClr val="2E2E2E"/>
                </a:solidFill>
                <a:latin typeface="Calibri"/>
              </a:rPr>
              <a:t>demand, Accelerating vs history.</a:t>
            </a:r>
          </a:p>
        </p:txBody>
      </p:sp>
      <p:sp>
        <p:nvSpPr>
          <p:cNvPr id="116" name="TextBox 115"/>
          <p:cNvSpPr txBox="1"/>
          <p:nvPr/>
        </p:nvSpPr>
        <p:spPr>
          <a:xfrm>
            <a:off x="5562600" y="4307205"/>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117" name="Picture 116" descr="lock.png"/>
          <p:cNvPicPr>
            <a:picLocks noChangeAspect="1"/>
          </p:cNvPicPr>
          <p:nvPr/>
        </p:nvPicPr>
        <p:blipFill>
          <a:blip r:embed="rId4"/>
          <a:stretch>
            <a:fillRect/>
          </a:stretch>
        </p:blipFill>
        <p:spPr>
          <a:xfrm>
            <a:off x="6797766" y="4297426"/>
            <a:ext cx="128699" cy="187198"/>
          </a:xfrm>
          <a:prstGeom prst="rect">
            <a:avLst/>
          </a:prstGeom>
        </p:spPr>
      </p:pic>
      <p:sp>
        <p:nvSpPr>
          <p:cNvPr id="118" name="TextBox 117"/>
          <p:cNvSpPr txBox="1"/>
          <p:nvPr/>
        </p:nvSpPr>
        <p:spPr>
          <a:xfrm>
            <a:off x="6965262" y="4307205"/>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19" name="TextBox 118"/>
          <p:cNvSpPr txBox="1"/>
          <p:nvPr/>
        </p:nvSpPr>
        <p:spPr>
          <a:xfrm>
            <a:off x="8420100" y="4223385"/>
            <a:ext cx="2130226" cy="186689"/>
          </a:xfrm>
          <a:prstGeom prst="rect">
            <a:avLst/>
          </a:prstGeom>
          <a:noFill/>
        </p:spPr>
        <p:txBody>
          <a:bodyPr wrap="none" lIns="0" rIns="0" tIns="0" bIns="0">
            <a:spAutoFit/>
          </a:bodyPr>
          <a:lstStyle/>
          <a:p>
            <a:r>
              <a:rPr sz="1100" b="0">
                <a:solidFill>
                  <a:srgbClr val="2E2E2E"/>
                </a:solidFill>
                <a:latin typeface="Calibri"/>
              </a:rPr>
              <a:t>Scale Silicone Waterproof Coatings (</a:t>
            </a:r>
          </a:p>
        </p:txBody>
      </p:sp>
      <p:pic>
        <p:nvPicPr>
          <p:cNvPr id="120" name="Picture 119" descr="lock.png"/>
          <p:cNvPicPr>
            <a:picLocks noChangeAspect="1"/>
          </p:cNvPicPr>
          <p:nvPr/>
        </p:nvPicPr>
        <p:blipFill>
          <a:blip r:embed="rId4"/>
          <a:stretch>
            <a:fillRect/>
          </a:stretch>
        </p:blipFill>
        <p:spPr>
          <a:xfrm>
            <a:off x="10498378" y="4213606"/>
            <a:ext cx="128699" cy="187198"/>
          </a:xfrm>
          <a:prstGeom prst="rect">
            <a:avLst/>
          </a:prstGeom>
        </p:spPr>
      </p:pic>
      <p:sp>
        <p:nvSpPr>
          <p:cNvPr id="121" name="TextBox 120"/>
          <p:cNvSpPr txBox="1"/>
          <p:nvPr/>
        </p:nvSpPr>
        <p:spPr>
          <a:xfrm>
            <a:off x="10665873" y="4223385"/>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22" name="Picture 121" descr="lock.png"/>
          <p:cNvPicPr>
            <a:picLocks noChangeAspect="1"/>
          </p:cNvPicPr>
          <p:nvPr/>
        </p:nvPicPr>
        <p:blipFill>
          <a:blip r:embed="rId4"/>
          <a:stretch>
            <a:fillRect/>
          </a:stretch>
        </p:blipFill>
        <p:spPr>
          <a:xfrm>
            <a:off x="10767342" y="4213606"/>
            <a:ext cx="128699" cy="187198"/>
          </a:xfrm>
          <a:prstGeom prst="rect">
            <a:avLst/>
          </a:prstGeom>
        </p:spPr>
      </p:pic>
      <p:sp>
        <p:nvSpPr>
          <p:cNvPr id="123" name="TextBox 122"/>
          <p:cNvSpPr txBox="1"/>
          <p:nvPr/>
        </p:nvSpPr>
        <p:spPr>
          <a:xfrm>
            <a:off x="10934838" y="4223385"/>
            <a:ext cx="52558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124" name="TextBox 123"/>
          <p:cNvSpPr txBox="1"/>
          <p:nvPr/>
        </p:nvSpPr>
        <p:spPr>
          <a:xfrm>
            <a:off x="8420100" y="4391025"/>
            <a:ext cx="702394" cy="186689"/>
          </a:xfrm>
          <a:prstGeom prst="rect">
            <a:avLst/>
          </a:prstGeom>
          <a:noFill/>
        </p:spPr>
        <p:txBody>
          <a:bodyPr wrap="none" lIns="0" rIns="0" tIns="0" bIns="0">
            <a:spAutoFit/>
          </a:bodyPr>
          <a:lstStyle/>
          <a:p>
            <a:r>
              <a:rPr sz="1100" b="0">
                <a:solidFill>
                  <a:srgbClr val="2E2E2E"/>
                </a:solidFill>
                <a:latin typeface="Calibri"/>
              </a:rPr>
              <a:t>headroom.</a:t>
            </a:r>
          </a:p>
        </p:txBody>
      </p:sp>
      <p:sp>
        <p:nvSpPr>
          <p:cNvPr id="125" name="TextBox 124"/>
          <p:cNvSpPr txBox="1"/>
          <p:nvPr/>
        </p:nvSpPr>
        <p:spPr>
          <a:xfrm>
            <a:off x="1752600" y="4756785"/>
            <a:ext cx="1261467" cy="186689"/>
          </a:xfrm>
          <a:prstGeom prst="rect">
            <a:avLst/>
          </a:prstGeom>
          <a:noFill/>
        </p:spPr>
        <p:txBody>
          <a:bodyPr wrap="none" lIns="0" rIns="0" tIns="0" bIns="0">
            <a:spAutoFit/>
          </a:bodyPr>
          <a:lstStyle/>
          <a:p>
            <a:r>
              <a:rPr sz="1100" b="0">
                <a:solidFill>
                  <a:srgbClr val="2E2E2E"/>
                </a:solidFill>
                <a:latin typeface="Calibri"/>
              </a:rPr>
              <a:t>Above-market pace (</a:t>
            </a:r>
          </a:p>
        </p:txBody>
      </p:sp>
      <p:pic>
        <p:nvPicPr>
          <p:cNvPr id="126" name="Picture 125" descr="lock.png"/>
          <p:cNvPicPr>
            <a:picLocks noChangeAspect="1"/>
          </p:cNvPicPr>
          <p:nvPr/>
        </p:nvPicPr>
        <p:blipFill>
          <a:blip r:embed="rId4"/>
          <a:stretch>
            <a:fillRect/>
          </a:stretch>
        </p:blipFill>
        <p:spPr>
          <a:xfrm>
            <a:off x="2962118" y="4747006"/>
            <a:ext cx="128699" cy="187198"/>
          </a:xfrm>
          <a:prstGeom prst="rect">
            <a:avLst/>
          </a:prstGeom>
        </p:spPr>
      </p:pic>
      <p:sp>
        <p:nvSpPr>
          <p:cNvPr id="127" name="TextBox 126"/>
          <p:cNvSpPr txBox="1"/>
          <p:nvPr/>
        </p:nvSpPr>
        <p:spPr>
          <a:xfrm>
            <a:off x="3129614" y="4756785"/>
            <a:ext cx="1922313" cy="186689"/>
          </a:xfrm>
          <a:prstGeom prst="rect">
            <a:avLst/>
          </a:prstGeom>
          <a:noFill/>
        </p:spPr>
        <p:txBody>
          <a:bodyPr wrap="none" lIns="0" rIns="0" tIns="0" bIns="0">
            <a:spAutoFit/>
          </a:bodyPr>
          <a:lstStyle/>
          <a:p>
            <a:r>
              <a:rPr sz="1100" b="0">
                <a:solidFill>
                  <a:srgbClr val="2E2E2E"/>
                </a:solidFill>
                <a:latin typeface="Calibri"/>
              </a:rPr>
              <a:t>), Other Polymer-Based Coatings</a:t>
            </a:r>
          </a:p>
        </p:txBody>
      </p:sp>
      <p:sp>
        <p:nvSpPr>
          <p:cNvPr id="128" name="TextBox 127"/>
          <p:cNvSpPr txBox="1"/>
          <p:nvPr/>
        </p:nvSpPr>
        <p:spPr>
          <a:xfrm>
            <a:off x="1752600" y="4924425"/>
            <a:ext cx="1924496" cy="186689"/>
          </a:xfrm>
          <a:prstGeom prst="rect">
            <a:avLst/>
          </a:prstGeom>
          <a:noFill/>
        </p:spPr>
        <p:txBody>
          <a:bodyPr wrap="none" lIns="0" rIns="0" tIns="0" bIns="0">
            <a:spAutoFit/>
          </a:bodyPr>
          <a:lstStyle/>
          <a:p>
            <a:r>
              <a:rPr sz="1100" b="0">
                <a:solidFill>
                  <a:srgbClr val="2E2E2E"/>
                </a:solidFill>
                <a:latin typeface="Calibri"/>
              </a:rPr>
              <a:t>demand, Accelerating vs history.</a:t>
            </a:r>
          </a:p>
        </p:txBody>
      </p:sp>
      <p:sp>
        <p:nvSpPr>
          <p:cNvPr id="129" name="TextBox 128"/>
          <p:cNvSpPr txBox="1"/>
          <p:nvPr/>
        </p:nvSpPr>
        <p:spPr>
          <a:xfrm>
            <a:off x="5562600" y="4840605"/>
            <a:ext cx="1113035" cy="186689"/>
          </a:xfrm>
          <a:prstGeom prst="rect">
            <a:avLst/>
          </a:prstGeom>
          <a:noFill/>
        </p:spPr>
        <p:txBody>
          <a:bodyPr wrap="none" lIns="0" rIns="0" tIns="0" bIns="0">
            <a:spAutoFit/>
          </a:bodyPr>
          <a:lstStyle/>
          <a:p>
            <a:r>
              <a:rPr sz="1100" b="0">
                <a:solidFill>
                  <a:srgbClr val="2E2E2E"/>
                </a:solidFill>
                <a:latin typeface="Calibri"/>
              </a:rPr>
              <a:t>Rising realisation (</a:t>
            </a:r>
          </a:p>
        </p:txBody>
      </p:sp>
      <p:pic>
        <p:nvPicPr>
          <p:cNvPr id="130" name="Picture 129" descr="lock.png"/>
          <p:cNvPicPr>
            <a:picLocks noChangeAspect="1"/>
          </p:cNvPicPr>
          <p:nvPr/>
        </p:nvPicPr>
        <p:blipFill>
          <a:blip r:embed="rId4"/>
          <a:stretch>
            <a:fillRect/>
          </a:stretch>
        </p:blipFill>
        <p:spPr>
          <a:xfrm>
            <a:off x="6623687" y="4830826"/>
            <a:ext cx="128699" cy="187198"/>
          </a:xfrm>
          <a:prstGeom prst="rect">
            <a:avLst/>
          </a:prstGeom>
        </p:spPr>
      </p:pic>
      <p:sp>
        <p:nvSpPr>
          <p:cNvPr id="131" name="TextBox 130"/>
          <p:cNvSpPr txBox="1"/>
          <p:nvPr/>
        </p:nvSpPr>
        <p:spPr>
          <a:xfrm>
            <a:off x="6791183" y="4840605"/>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132" name="TextBox 131"/>
          <p:cNvSpPr txBox="1"/>
          <p:nvPr/>
        </p:nvSpPr>
        <p:spPr>
          <a:xfrm>
            <a:off x="8420100" y="4756785"/>
            <a:ext cx="2130226" cy="186689"/>
          </a:xfrm>
          <a:prstGeom prst="rect">
            <a:avLst/>
          </a:prstGeom>
          <a:noFill/>
        </p:spPr>
        <p:txBody>
          <a:bodyPr wrap="none" lIns="0" rIns="0" tIns="0" bIns="0">
            <a:spAutoFit/>
          </a:bodyPr>
          <a:lstStyle/>
          <a:p>
            <a:r>
              <a:rPr sz="1100" b="0">
                <a:solidFill>
                  <a:srgbClr val="2E2E2E"/>
                </a:solidFill>
                <a:latin typeface="Calibri"/>
              </a:rPr>
              <a:t>Scale Silicone Waterproof Coatings (</a:t>
            </a:r>
          </a:p>
        </p:txBody>
      </p:sp>
      <p:pic>
        <p:nvPicPr>
          <p:cNvPr id="133" name="Picture 132" descr="lock.png"/>
          <p:cNvPicPr>
            <a:picLocks noChangeAspect="1"/>
          </p:cNvPicPr>
          <p:nvPr/>
        </p:nvPicPr>
        <p:blipFill>
          <a:blip r:embed="rId4"/>
          <a:stretch>
            <a:fillRect/>
          </a:stretch>
        </p:blipFill>
        <p:spPr>
          <a:xfrm>
            <a:off x="10498378" y="4747006"/>
            <a:ext cx="128699" cy="187198"/>
          </a:xfrm>
          <a:prstGeom prst="rect">
            <a:avLst/>
          </a:prstGeom>
        </p:spPr>
      </p:pic>
      <p:sp>
        <p:nvSpPr>
          <p:cNvPr id="134" name="TextBox 133"/>
          <p:cNvSpPr txBox="1"/>
          <p:nvPr/>
        </p:nvSpPr>
        <p:spPr>
          <a:xfrm>
            <a:off x="10665873" y="4756785"/>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35" name="Picture 134" descr="lock.png"/>
          <p:cNvPicPr>
            <a:picLocks noChangeAspect="1"/>
          </p:cNvPicPr>
          <p:nvPr/>
        </p:nvPicPr>
        <p:blipFill>
          <a:blip r:embed="rId4"/>
          <a:stretch>
            <a:fillRect/>
          </a:stretch>
        </p:blipFill>
        <p:spPr>
          <a:xfrm>
            <a:off x="10767342" y="4747006"/>
            <a:ext cx="128699" cy="187198"/>
          </a:xfrm>
          <a:prstGeom prst="rect">
            <a:avLst/>
          </a:prstGeom>
        </p:spPr>
      </p:pic>
      <p:sp>
        <p:nvSpPr>
          <p:cNvPr id="136" name="TextBox 135"/>
          <p:cNvSpPr txBox="1"/>
          <p:nvPr/>
        </p:nvSpPr>
        <p:spPr>
          <a:xfrm>
            <a:off x="10934838" y="4756785"/>
            <a:ext cx="52558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137" name="TextBox 136"/>
          <p:cNvSpPr txBox="1"/>
          <p:nvPr/>
        </p:nvSpPr>
        <p:spPr>
          <a:xfrm>
            <a:off x="8420100" y="4924425"/>
            <a:ext cx="702394" cy="186689"/>
          </a:xfrm>
          <a:prstGeom prst="rect">
            <a:avLst/>
          </a:prstGeom>
          <a:noFill/>
        </p:spPr>
        <p:txBody>
          <a:bodyPr wrap="none" lIns="0" rIns="0" tIns="0" bIns="0">
            <a:spAutoFit/>
          </a:bodyPr>
          <a:lstStyle/>
          <a:p>
            <a:r>
              <a:rPr sz="1100" b="0">
                <a:solidFill>
                  <a:srgbClr val="2E2E2E"/>
                </a:solidFill>
                <a:latin typeface="Calibri"/>
              </a:rPr>
              <a:t>headroom.</a:t>
            </a:r>
          </a:p>
        </p:txBody>
      </p:sp>
      <p:sp>
        <p:nvSpPr>
          <p:cNvPr id="138" name="TextBox 137"/>
          <p:cNvSpPr txBox="1"/>
          <p:nvPr/>
        </p:nvSpPr>
        <p:spPr>
          <a:xfrm>
            <a:off x="1752600" y="5290185"/>
            <a:ext cx="1261467" cy="186689"/>
          </a:xfrm>
          <a:prstGeom prst="rect">
            <a:avLst/>
          </a:prstGeom>
          <a:noFill/>
        </p:spPr>
        <p:txBody>
          <a:bodyPr wrap="none" lIns="0" rIns="0" tIns="0" bIns="0">
            <a:spAutoFit/>
          </a:bodyPr>
          <a:lstStyle/>
          <a:p>
            <a:r>
              <a:rPr sz="1100" b="0">
                <a:solidFill>
                  <a:srgbClr val="2E2E2E"/>
                </a:solidFill>
                <a:latin typeface="Calibri"/>
              </a:rPr>
              <a:t>Above-market pace (</a:t>
            </a:r>
          </a:p>
        </p:txBody>
      </p:sp>
      <p:pic>
        <p:nvPicPr>
          <p:cNvPr id="139" name="Picture 138" descr="lock.png"/>
          <p:cNvPicPr>
            <a:picLocks noChangeAspect="1"/>
          </p:cNvPicPr>
          <p:nvPr/>
        </p:nvPicPr>
        <p:blipFill>
          <a:blip r:embed="rId4"/>
          <a:stretch>
            <a:fillRect/>
          </a:stretch>
        </p:blipFill>
        <p:spPr>
          <a:xfrm>
            <a:off x="2962118" y="5280405"/>
            <a:ext cx="128699" cy="187198"/>
          </a:xfrm>
          <a:prstGeom prst="rect">
            <a:avLst/>
          </a:prstGeom>
        </p:spPr>
      </p:pic>
      <p:sp>
        <p:nvSpPr>
          <p:cNvPr id="140" name="TextBox 139"/>
          <p:cNvSpPr txBox="1"/>
          <p:nvPr/>
        </p:nvSpPr>
        <p:spPr>
          <a:xfrm>
            <a:off x="3129614" y="5290185"/>
            <a:ext cx="1905124" cy="186689"/>
          </a:xfrm>
          <a:prstGeom prst="rect">
            <a:avLst/>
          </a:prstGeom>
          <a:noFill/>
        </p:spPr>
        <p:txBody>
          <a:bodyPr wrap="none" lIns="0" rIns="0" tIns="0" bIns="0">
            <a:spAutoFit/>
          </a:bodyPr>
          <a:lstStyle/>
          <a:p>
            <a:r>
              <a:rPr sz="1100" b="0">
                <a:solidFill>
                  <a:srgbClr val="2E2E2E"/>
                </a:solidFill>
                <a:latin typeface="Calibri"/>
              </a:rPr>
              <a:t>), Polyurea Waterproof Coatings</a:t>
            </a:r>
          </a:p>
        </p:txBody>
      </p:sp>
      <p:sp>
        <p:nvSpPr>
          <p:cNvPr id="141" name="TextBox 140"/>
          <p:cNvSpPr txBox="1"/>
          <p:nvPr/>
        </p:nvSpPr>
        <p:spPr>
          <a:xfrm>
            <a:off x="1752600" y="5457825"/>
            <a:ext cx="1924496" cy="186689"/>
          </a:xfrm>
          <a:prstGeom prst="rect">
            <a:avLst/>
          </a:prstGeom>
          <a:noFill/>
        </p:spPr>
        <p:txBody>
          <a:bodyPr wrap="none" lIns="0" rIns="0" tIns="0" bIns="0">
            <a:spAutoFit/>
          </a:bodyPr>
          <a:lstStyle/>
          <a:p>
            <a:r>
              <a:rPr sz="1100" b="0">
                <a:solidFill>
                  <a:srgbClr val="2E2E2E"/>
                </a:solidFill>
                <a:latin typeface="Calibri"/>
              </a:rPr>
              <a:t>demand, Accelerating vs history.</a:t>
            </a:r>
          </a:p>
        </p:txBody>
      </p:sp>
      <p:sp>
        <p:nvSpPr>
          <p:cNvPr id="142" name="TextBox 141"/>
          <p:cNvSpPr txBox="1"/>
          <p:nvPr/>
        </p:nvSpPr>
        <p:spPr>
          <a:xfrm>
            <a:off x="5562600" y="5374005"/>
            <a:ext cx="2011808" cy="186689"/>
          </a:xfrm>
          <a:prstGeom prst="rect">
            <a:avLst/>
          </a:prstGeom>
          <a:noFill/>
        </p:spPr>
        <p:txBody>
          <a:bodyPr wrap="none" lIns="0" rIns="0" tIns="0" bIns="0">
            <a:spAutoFit/>
          </a:bodyPr>
          <a:lstStyle/>
          <a:p>
            <a:r>
              <a:rPr sz="1100" b="0">
                <a:solidFill>
                  <a:srgbClr val="2E2E2E"/>
                </a:solidFill>
                <a:latin typeface="Calibri"/>
              </a:rPr>
              <a:t>Sub-scale base, Rising realisation (</a:t>
            </a:r>
          </a:p>
        </p:txBody>
      </p:sp>
      <p:pic>
        <p:nvPicPr>
          <p:cNvPr id="143" name="Picture 142" descr="lock.png"/>
          <p:cNvPicPr>
            <a:picLocks noChangeAspect="1"/>
          </p:cNvPicPr>
          <p:nvPr/>
        </p:nvPicPr>
        <p:blipFill>
          <a:blip r:embed="rId4"/>
          <a:stretch>
            <a:fillRect/>
          </a:stretch>
        </p:blipFill>
        <p:spPr>
          <a:xfrm>
            <a:off x="7522460" y="5364226"/>
            <a:ext cx="128699" cy="187198"/>
          </a:xfrm>
          <a:prstGeom prst="rect">
            <a:avLst/>
          </a:prstGeom>
        </p:spPr>
      </p:pic>
      <p:sp>
        <p:nvSpPr>
          <p:cNvPr id="144" name="TextBox 143"/>
          <p:cNvSpPr txBox="1"/>
          <p:nvPr/>
        </p:nvSpPr>
        <p:spPr>
          <a:xfrm>
            <a:off x="7689956" y="5374005"/>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145" name="TextBox 144"/>
          <p:cNvSpPr txBox="1"/>
          <p:nvPr/>
        </p:nvSpPr>
        <p:spPr>
          <a:xfrm>
            <a:off x="8420100" y="5290185"/>
            <a:ext cx="2130226" cy="186689"/>
          </a:xfrm>
          <a:prstGeom prst="rect">
            <a:avLst/>
          </a:prstGeom>
          <a:noFill/>
        </p:spPr>
        <p:txBody>
          <a:bodyPr wrap="none" lIns="0" rIns="0" tIns="0" bIns="0">
            <a:spAutoFit/>
          </a:bodyPr>
          <a:lstStyle/>
          <a:p>
            <a:r>
              <a:rPr sz="1100" b="0">
                <a:solidFill>
                  <a:srgbClr val="2E2E2E"/>
                </a:solidFill>
                <a:latin typeface="Calibri"/>
              </a:rPr>
              <a:t>Scale Silicone Waterproof Coatings (</a:t>
            </a:r>
          </a:p>
        </p:txBody>
      </p:sp>
      <p:pic>
        <p:nvPicPr>
          <p:cNvPr id="146" name="Picture 145" descr="lock.png"/>
          <p:cNvPicPr>
            <a:picLocks noChangeAspect="1"/>
          </p:cNvPicPr>
          <p:nvPr/>
        </p:nvPicPr>
        <p:blipFill>
          <a:blip r:embed="rId4"/>
          <a:stretch>
            <a:fillRect/>
          </a:stretch>
        </p:blipFill>
        <p:spPr>
          <a:xfrm>
            <a:off x="10498378" y="5280405"/>
            <a:ext cx="128699" cy="187198"/>
          </a:xfrm>
          <a:prstGeom prst="rect">
            <a:avLst/>
          </a:prstGeom>
        </p:spPr>
      </p:pic>
      <p:sp>
        <p:nvSpPr>
          <p:cNvPr id="147" name="TextBox 146"/>
          <p:cNvSpPr txBox="1"/>
          <p:nvPr/>
        </p:nvSpPr>
        <p:spPr>
          <a:xfrm>
            <a:off x="10665873" y="5290185"/>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48" name="Picture 147" descr="lock.png"/>
          <p:cNvPicPr>
            <a:picLocks noChangeAspect="1"/>
          </p:cNvPicPr>
          <p:nvPr/>
        </p:nvPicPr>
        <p:blipFill>
          <a:blip r:embed="rId4"/>
          <a:stretch>
            <a:fillRect/>
          </a:stretch>
        </p:blipFill>
        <p:spPr>
          <a:xfrm>
            <a:off x="10767342" y="5280405"/>
            <a:ext cx="128699" cy="187198"/>
          </a:xfrm>
          <a:prstGeom prst="rect">
            <a:avLst/>
          </a:prstGeom>
        </p:spPr>
      </p:pic>
      <p:sp>
        <p:nvSpPr>
          <p:cNvPr id="149" name="TextBox 148"/>
          <p:cNvSpPr txBox="1"/>
          <p:nvPr/>
        </p:nvSpPr>
        <p:spPr>
          <a:xfrm>
            <a:off x="10934838" y="5290185"/>
            <a:ext cx="52558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150" name="TextBox 149"/>
          <p:cNvSpPr txBox="1"/>
          <p:nvPr/>
        </p:nvSpPr>
        <p:spPr>
          <a:xfrm>
            <a:off x="8420100" y="5457825"/>
            <a:ext cx="702394" cy="186689"/>
          </a:xfrm>
          <a:prstGeom prst="rect">
            <a:avLst/>
          </a:prstGeom>
          <a:noFill/>
        </p:spPr>
        <p:txBody>
          <a:bodyPr wrap="none" lIns="0" rIns="0" tIns="0" bIns="0">
            <a:spAutoFit/>
          </a:bodyPr>
          <a:lstStyle/>
          <a:p>
            <a:r>
              <a:rPr sz="1100" b="0">
                <a:solidFill>
                  <a:srgbClr val="2E2E2E"/>
                </a:solidFill>
                <a:latin typeface="Calibri"/>
              </a:rPr>
              <a:t>headroom.</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Waterproof Coatings Market Dynamics by Region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growth driver, restraint and opportunity shaping each region of the global market</a:t>
            </a:r>
          </a:p>
        </p:txBody>
      </p:sp>
      <p:sp>
        <p:nvSpPr>
          <p:cNvPr id="10" name="Rounded Rectangle 9"/>
          <p:cNvSpPr/>
          <p:nvPr/>
        </p:nvSpPr>
        <p:spPr>
          <a:xfrm>
            <a:off x="142875" y="876300"/>
            <a:ext cx="11906250" cy="1038225"/>
          </a:xfrm>
          <a:prstGeom prst="roundRect">
            <a:avLst>
              <a:gd name="adj" fmla="val 479"/>
            </a:avLst>
          </a:prstGeom>
          <a:solidFill>
            <a:srgbClr val="FFFFFF"/>
          </a:solidFill>
          <a:ln w="1270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914400"/>
            <a:ext cx="3810000" cy="228600"/>
          </a:xfrm>
          <a:prstGeom prst="rect">
            <a:avLst/>
          </a:prstGeom>
          <a:noFill/>
        </p:spPr>
        <p:txBody>
          <a:bodyPr wrap="square" lIns="28575" rIns="28575" tIns="9525" bIns="9525" anchor="ctr">
            <a:spAutoFit/>
          </a:bodyPr>
          <a:lstStyle/>
          <a:p>
            <a:pPr algn="l"/>
            <a:r>
              <a:rPr sz="1200" b="1">
                <a:solidFill>
                  <a:srgbClr val="0B2E4A"/>
                </a:solidFill>
                <a:latin typeface="Calibri"/>
              </a:rPr>
              <a:t>KEY TAKEAWAY</a:t>
            </a:r>
          </a:p>
        </p:txBody>
      </p:sp>
      <p:cxnSp>
        <p:nvCxnSpPr>
          <p:cNvPr id="12" name="Connector 11"/>
          <p:cNvCxnSpPr/>
          <p:nvPr/>
        </p:nvCxnSpPr>
        <p:spPr>
          <a:xfrm>
            <a:off x="276225" y="1162050"/>
            <a:ext cx="11639550" cy="0"/>
          </a:xfrm>
          <a:prstGeom prst="line">
            <a:avLst/>
          </a:prstGeom>
          <a:ln w="15875">
            <a:solidFill>
              <a:srgbClr val="0B2E4A"/>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76225" y="1219200"/>
            <a:ext cx="11525250" cy="61912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15" name="TextBox 14"/>
          <p:cNvSpPr txBox="1"/>
          <p:nvPr/>
        </p:nvSpPr>
        <p:spPr>
          <a:xfrm>
            <a:off x="304800" y="1277302"/>
            <a:ext cx="4469076" cy="186689"/>
          </a:xfrm>
          <a:prstGeom prst="rect">
            <a:avLst/>
          </a:prstGeom>
          <a:noFill/>
        </p:spPr>
        <p:txBody>
          <a:bodyPr wrap="none" lIns="0" rIns="0" tIns="0" bIns="0">
            <a:spAutoFit/>
          </a:bodyPr>
          <a:lstStyle/>
          <a:p>
            <a:r>
              <a:rPr sz="1100" b="0">
                <a:solidFill>
                  <a:srgbClr val="2E2E2E"/>
                </a:solidFill>
                <a:latin typeface="Calibri"/>
              </a:rPr>
              <a:t>▪ North America, South Asia &amp; Pacific, East Asia anchor scale with a combined</a:t>
            </a:r>
          </a:p>
        </p:txBody>
      </p:sp>
      <p:pic>
        <p:nvPicPr>
          <p:cNvPr id="16" name="Picture 15" descr="lock.png"/>
          <p:cNvPicPr>
            <a:picLocks noChangeAspect="1"/>
          </p:cNvPicPr>
          <p:nvPr/>
        </p:nvPicPr>
        <p:blipFill>
          <a:blip r:embed="rId4"/>
          <a:stretch>
            <a:fillRect/>
          </a:stretch>
        </p:blipFill>
        <p:spPr>
          <a:xfrm>
            <a:off x="4721927" y="1267523"/>
            <a:ext cx="128699" cy="187198"/>
          </a:xfrm>
          <a:prstGeom prst="rect">
            <a:avLst/>
          </a:prstGeom>
        </p:spPr>
      </p:pic>
      <p:sp>
        <p:nvSpPr>
          <p:cNvPr id="17" name="TextBox 16"/>
          <p:cNvSpPr txBox="1"/>
          <p:nvPr/>
        </p:nvSpPr>
        <p:spPr>
          <a:xfrm>
            <a:off x="4889423" y="1277302"/>
            <a:ext cx="4622998" cy="186689"/>
          </a:xfrm>
          <a:prstGeom prst="rect">
            <a:avLst/>
          </a:prstGeom>
          <a:noFill/>
        </p:spPr>
        <p:txBody>
          <a:bodyPr wrap="none" lIns="0" rIns="0" tIns="0" bIns="0">
            <a:spAutoFit/>
          </a:bodyPr>
          <a:lstStyle/>
          <a:p>
            <a:r>
              <a:rPr sz="1100" b="0">
                <a:solidFill>
                  <a:srgbClr val="2E2E2E"/>
                </a:solidFill>
                <a:latin typeface="Calibri"/>
              </a:rPr>
              <a:t>of Global value in 2036, while 'South Asia &amp; Pacific' offers the steepest upside at</a:t>
            </a:r>
          </a:p>
        </p:txBody>
      </p:sp>
      <p:pic>
        <p:nvPicPr>
          <p:cNvPr id="18" name="Picture 17" descr="lock.png"/>
          <p:cNvPicPr>
            <a:picLocks noChangeAspect="1"/>
          </p:cNvPicPr>
          <p:nvPr/>
        </p:nvPicPr>
        <p:blipFill>
          <a:blip r:embed="rId4"/>
          <a:stretch>
            <a:fillRect/>
          </a:stretch>
        </p:blipFill>
        <p:spPr>
          <a:xfrm>
            <a:off x="9460473" y="1267523"/>
            <a:ext cx="128699" cy="187198"/>
          </a:xfrm>
          <a:prstGeom prst="rect">
            <a:avLst/>
          </a:prstGeom>
        </p:spPr>
      </p:pic>
      <p:sp>
        <p:nvSpPr>
          <p:cNvPr id="19" name="TextBox 18"/>
          <p:cNvSpPr txBox="1"/>
          <p:nvPr/>
        </p:nvSpPr>
        <p:spPr>
          <a:xfrm>
            <a:off x="9627969" y="1277302"/>
            <a:ext cx="1819704" cy="186689"/>
          </a:xfrm>
          <a:prstGeom prst="rect">
            <a:avLst/>
          </a:prstGeom>
          <a:noFill/>
        </p:spPr>
        <p:txBody>
          <a:bodyPr wrap="none" lIns="0" rIns="0" tIns="0" bIns="0">
            <a:spAutoFit/>
          </a:bodyPr>
          <a:lstStyle/>
          <a:p>
            <a:r>
              <a:rPr sz="1100" b="0">
                <a:solidFill>
                  <a:srgbClr val="2E2E2E"/>
                </a:solidFill>
                <a:latin typeface="Calibri"/>
              </a:rPr>
              <a:t>CAGR against a market pace of</a:t>
            </a:r>
          </a:p>
        </p:txBody>
      </p:sp>
      <p:pic>
        <p:nvPicPr>
          <p:cNvPr id="20" name="Picture 19" descr="lock.png"/>
          <p:cNvPicPr>
            <a:picLocks noChangeAspect="1"/>
          </p:cNvPicPr>
          <p:nvPr/>
        </p:nvPicPr>
        <p:blipFill>
          <a:blip r:embed="rId4"/>
          <a:stretch>
            <a:fillRect/>
          </a:stretch>
        </p:blipFill>
        <p:spPr>
          <a:xfrm>
            <a:off x="291332" y="1435163"/>
            <a:ext cx="128699" cy="187198"/>
          </a:xfrm>
          <a:prstGeom prst="rect">
            <a:avLst/>
          </a:prstGeom>
        </p:spPr>
      </p:pic>
      <p:sp>
        <p:nvSpPr>
          <p:cNvPr id="21" name="TextBox 20"/>
          <p:cNvSpPr txBox="1"/>
          <p:nvPr/>
        </p:nvSpPr>
        <p:spPr>
          <a:xfrm>
            <a:off x="458828" y="1444942"/>
            <a:ext cx="11008816" cy="186689"/>
          </a:xfrm>
          <a:prstGeom prst="rect">
            <a:avLst/>
          </a:prstGeom>
          <a:noFill/>
        </p:spPr>
        <p:txBody>
          <a:bodyPr wrap="none" lIns="0" rIns="0" tIns="0" bIns="0">
            <a:spAutoFit/>
          </a:bodyPr>
          <a:lstStyle/>
          <a:p>
            <a:r>
              <a:rPr sz="1100" b="0">
                <a:solidFill>
                  <a:srgbClr val="2E2E2E"/>
                </a:solidFill>
                <a:latin typeface="Calibri"/>
              </a:rPr>
              <a:t>. 4 of 7 regions grow at or above that pace, so entry logic has to differ by region scale defence in the leaders, mix and premiumisation in the mid-tier, and availability-led expansion in the fastest</a:t>
            </a:r>
          </a:p>
        </p:txBody>
      </p:sp>
      <p:sp>
        <p:nvSpPr>
          <p:cNvPr id="22" name="TextBox 21"/>
          <p:cNvSpPr txBox="1"/>
          <p:nvPr/>
        </p:nvSpPr>
        <p:spPr>
          <a:xfrm>
            <a:off x="304800" y="1612582"/>
            <a:ext cx="532680" cy="186689"/>
          </a:xfrm>
          <a:prstGeom prst="rect">
            <a:avLst/>
          </a:prstGeom>
          <a:noFill/>
        </p:spPr>
        <p:txBody>
          <a:bodyPr wrap="none" lIns="0" rIns="0" tIns="0" bIns="0">
            <a:spAutoFit/>
          </a:bodyPr>
          <a:lstStyle/>
          <a:p>
            <a:r>
              <a:rPr sz="1100" b="0">
                <a:solidFill>
                  <a:srgbClr val="2E2E2E"/>
                </a:solidFill>
                <a:latin typeface="Calibri"/>
              </a:rPr>
              <a:t>movers.</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Waterproof Coatings Market Global Driving Factors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economic and supply-side factors scored by their impact on the global market</a:t>
            </a:r>
          </a:p>
        </p:txBody>
      </p:sp>
      <p:sp>
        <p:nvSpPr>
          <p:cNvPr id="10" name="Oval 9"/>
          <p:cNvSpPr/>
          <p:nvPr/>
        </p:nvSpPr>
        <p:spPr>
          <a:xfrm>
            <a:off x="2381250" y="1609633"/>
            <a:ext cx="4762500" cy="4563424"/>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19375" y="1837804"/>
            <a:ext cx="4286250" cy="410708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857500" y="2065976"/>
            <a:ext cx="3810000" cy="365074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095625" y="2294147"/>
            <a:ext cx="3333750" cy="319439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333750" y="2522318"/>
            <a:ext cx="2857500" cy="273805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71875" y="2750489"/>
            <a:ext cx="2381250" cy="228171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810000" y="2978660"/>
            <a:ext cx="1905000" cy="182537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048125" y="3206832"/>
            <a:ext cx="1428750" cy="136902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286250" y="3435003"/>
            <a:ext cx="952500" cy="91268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524375" y="3663174"/>
            <a:ext cx="476250" cy="45634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4762500" y="1609633"/>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3729314" y="1835594"/>
            <a:ext cx="1033186" cy="205575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2900764" y="2468721"/>
            <a:ext cx="1861736" cy="142262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2440953" y="3383617"/>
            <a:ext cx="2321547" cy="507729"/>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2440953" y="3891345"/>
            <a:ext cx="2321547" cy="507729"/>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2900764" y="3891345"/>
            <a:ext cx="1861736" cy="142262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3729314" y="3891345"/>
            <a:ext cx="1033186" cy="205575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762500" y="3891345"/>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2438400" y="2595333"/>
            <a:ext cx="2324100" cy="3349554"/>
          </a:xfrm>
          <a:custGeom>
            <a:avLst/>
            <a:gdLst/>
            <a:ahLst/>
            <a:cxnLst/>
            <a:rect l="l" t="t" r="r" b="b"/>
            <a:pathLst>
              <a:path w="244" h="367">
                <a:moveTo>
                  <a:pt x="244" y="0"/>
                </a:moveTo>
                <a:lnTo>
                  <a:pt x="182" y="14"/>
                </a:lnTo>
                <a:lnTo>
                  <a:pt x="107" y="33"/>
                </a:lnTo>
                <a:lnTo>
                  <a:pt x="65" y="101"/>
                </a:lnTo>
                <a:lnTo>
                  <a:pt x="0" y="198"/>
                </a:lnTo>
                <a:lnTo>
                  <a:pt x="62" y="287"/>
                </a:lnTo>
                <a:lnTo>
                  <a:pt x="136" y="367"/>
                </a:lnTo>
                <a:lnTo>
                  <a:pt x="244" y="231"/>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714875" y="1563999"/>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400300" y="1281067"/>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1" name="Oval 30"/>
          <p:cNvSpPr/>
          <p:nvPr/>
        </p:nvSpPr>
        <p:spPr>
          <a:xfrm>
            <a:off x="3681689" y="1789960"/>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85456" y="1519681"/>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3" name="Oval 32"/>
          <p:cNvSpPr/>
          <p:nvPr/>
        </p:nvSpPr>
        <p:spPr>
          <a:xfrm>
            <a:off x="2853139" y="2423087"/>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0507" y="2270405"/>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5" name="Oval 34"/>
          <p:cNvSpPr/>
          <p:nvPr/>
        </p:nvSpPr>
        <p:spPr>
          <a:xfrm>
            <a:off x="2393328" y="3337982"/>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4946" y="3236535"/>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7" name="Oval 36"/>
          <p:cNvSpPr/>
          <p:nvPr/>
        </p:nvSpPr>
        <p:spPr>
          <a:xfrm>
            <a:off x="2393328" y="4353440"/>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4946" y="4308858"/>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9" name="Oval 38"/>
          <p:cNvSpPr/>
          <p:nvPr/>
        </p:nvSpPr>
        <p:spPr>
          <a:xfrm>
            <a:off x="2853139" y="5268335"/>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0507" y="5274987"/>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41" name="Oval 40"/>
          <p:cNvSpPr/>
          <p:nvPr/>
        </p:nvSpPr>
        <p:spPr>
          <a:xfrm>
            <a:off x="3681689" y="590146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385456" y="6025711"/>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43" name="Oval 42"/>
          <p:cNvSpPr/>
          <p:nvPr/>
        </p:nvSpPr>
        <p:spPr>
          <a:xfrm>
            <a:off x="4714875" y="612742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400300" y="6264326"/>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45" name="Rectangle 44"/>
          <p:cNvSpPr/>
          <p:nvPr/>
        </p:nvSpPr>
        <p:spPr>
          <a:xfrm>
            <a:off x="476250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MI Scale 0"/>
          <p:cNvSpPr txBox="1"/>
          <p:nvPr/>
        </p:nvSpPr>
        <p:spPr>
          <a:xfrm>
            <a:off x="4286250" y="3818331"/>
            <a:ext cx="419100" cy="146030"/>
          </a:xfrm>
          <a:prstGeom prst="rect">
            <a:avLst/>
          </a:prstGeom>
          <a:noFill/>
        </p:spPr>
        <p:txBody>
          <a:bodyPr wrap="none" lIns="0" rIns="0" tIns="0" bIns="0" anchor="ctr">
            <a:spAutoFit/>
          </a:bodyPr>
          <a:lstStyle/>
          <a:p>
            <a:pPr algn="r"/>
            <a:r>
              <a:rPr sz="1100" b="0">
                <a:solidFill>
                  <a:srgbClr val="6C7A89"/>
                </a:solidFill>
                <a:latin typeface="Calibri"/>
              </a:rPr>
              <a:t>0%</a:t>
            </a:r>
          </a:p>
        </p:txBody>
      </p:sp>
      <p:sp>
        <p:nvSpPr>
          <p:cNvPr id="47" name="FMI Scale 1"/>
          <p:cNvSpPr txBox="1"/>
          <p:nvPr/>
        </p:nvSpPr>
        <p:spPr>
          <a:xfrm>
            <a:off x="4286250" y="3590159"/>
            <a:ext cx="419100" cy="146030"/>
          </a:xfrm>
          <a:prstGeom prst="rect">
            <a:avLst/>
          </a:prstGeom>
          <a:noFill/>
        </p:spPr>
        <p:txBody>
          <a:bodyPr wrap="none" lIns="0" rIns="0" tIns="0" bIns="0" anchor="ctr">
            <a:spAutoFit/>
          </a:bodyPr>
          <a:lstStyle/>
          <a:p>
            <a:pPr algn="r"/>
            <a:r>
              <a:rPr sz="1100" b="0">
                <a:solidFill>
                  <a:srgbClr val="6C7A89"/>
                </a:solidFill>
                <a:latin typeface="Calibri"/>
              </a:rPr>
              <a:t>10%</a:t>
            </a:r>
          </a:p>
        </p:txBody>
      </p:sp>
      <p:sp>
        <p:nvSpPr>
          <p:cNvPr id="48" name="FMI Scale 2"/>
          <p:cNvSpPr txBox="1"/>
          <p:nvPr/>
        </p:nvSpPr>
        <p:spPr>
          <a:xfrm>
            <a:off x="4286250" y="3361988"/>
            <a:ext cx="419100" cy="146030"/>
          </a:xfrm>
          <a:prstGeom prst="rect">
            <a:avLst/>
          </a:prstGeom>
          <a:noFill/>
        </p:spPr>
        <p:txBody>
          <a:bodyPr wrap="none" lIns="0" rIns="0" tIns="0" bIns="0" anchor="ctr">
            <a:spAutoFit/>
          </a:bodyPr>
          <a:lstStyle/>
          <a:p>
            <a:pPr algn="r"/>
            <a:r>
              <a:rPr sz="1100" b="0">
                <a:solidFill>
                  <a:srgbClr val="6C7A89"/>
                </a:solidFill>
                <a:latin typeface="Calibri"/>
              </a:rPr>
              <a:t>20%</a:t>
            </a:r>
          </a:p>
        </p:txBody>
      </p:sp>
      <p:sp>
        <p:nvSpPr>
          <p:cNvPr id="49" name="FMI Scale 3"/>
          <p:cNvSpPr txBox="1"/>
          <p:nvPr/>
        </p:nvSpPr>
        <p:spPr>
          <a:xfrm>
            <a:off x="4286250" y="3133817"/>
            <a:ext cx="419100" cy="146030"/>
          </a:xfrm>
          <a:prstGeom prst="rect">
            <a:avLst/>
          </a:prstGeom>
          <a:noFill/>
        </p:spPr>
        <p:txBody>
          <a:bodyPr wrap="none" lIns="0" rIns="0" tIns="0" bIns="0" anchor="ctr">
            <a:spAutoFit/>
          </a:bodyPr>
          <a:lstStyle/>
          <a:p>
            <a:pPr algn="r"/>
            <a:r>
              <a:rPr sz="1100" b="0">
                <a:solidFill>
                  <a:srgbClr val="6C7A89"/>
                </a:solidFill>
                <a:latin typeface="Calibri"/>
              </a:rPr>
              <a:t>30%</a:t>
            </a:r>
          </a:p>
        </p:txBody>
      </p:sp>
      <p:sp>
        <p:nvSpPr>
          <p:cNvPr id="50" name="FMI Scale 4"/>
          <p:cNvSpPr txBox="1"/>
          <p:nvPr/>
        </p:nvSpPr>
        <p:spPr>
          <a:xfrm>
            <a:off x="4286250" y="2905646"/>
            <a:ext cx="419100" cy="146030"/>
          </a:xfrm>
          <a:prstGeom prst="rect">
            <a:avLst/>
          </a:prstGeom>
          <a:noFill/>
        </p:spPr>
        <p:txBody>
          <a:bodyPr wrap="none" lIns="0" rIns="0" tIns="0" bIns="0" anchor="ctr">
            <a:spAutoFit/>
          </a:bodyPr>
          <a:lstStyle/>
          <a:p>
            <a:pPr algn="r"/>
            <a:r>
              <a:rPr sz="1100" b="0">
                <a:solidFill>
                  <a:srgbClr val="6C7A89"/>
                </a:solidFill>
                <a:latin typeface="Calibri"/>
              </a:rPr>
              <a:t>40%</a:t>
            </a:r>
          </a:p>
        </p:txBody>
      </p:sp>
      <p:sp>
        <p:nvSpPr>
          <p:cNvPr id="51" name="FMI Scale 5"/>
          <p:cNvSpPr txBox="1"/>
          <p:nvPr/>
        </p:nvSpPr>
        <p:spPr>
          <a:xfrm>
            <a:off x="4286250" y="2677474"/>
            <a:ext cx="419100" cy="146030"/>
          </a:xfrm>
          <a:prstGeom prst="rect">
            <a:avLst/>
          </a:prstGeom>
          <a:noFill/>
        </p:spPr>
        <p:txBody>
          <a:bodyPr wrap="none" lIns="0" rIns="0" tIns="0" bIns="0" anchor="ctr">
            <a:spAutoFit/>
          </a:bodyPr>
          <a:lstStyle/>
          <a:p>
            <a:pPr algn="r"/>
            <a:r>
              <a:rPr sz="1100" b="0">
                <a:solidFill>
                  <a:srgbClr val="6C7A89"/>
                </a:solidFill>
                <a:latin typeface="Calibri"/>
              </a:rPr>
              <a:t>50%</a:t>
            </a:r>
          </a:p>
        </p:txBody>
      </p:sp>
      <p:sp>
        <p:nvSpPr>
          <p:cNvPr id="52" name="FMI Scale 6"/>
          <p:cNvSpPr txBox="1"/>
          <p:nvPr/>
        </p:nvSpPr>
        <p:spPr>
          <a:xfrm>
            <a:off x="4286250" y="2449303"/>
            <a:ext cx="419100" cy="146030"/>
          </a:xfrm>
          <a:prstGeom prst="rect">
            <a:avLst/>
          </a:prstGeom>
          <a:noFill/>
        </p:spPr>
        <p:txBody>
          <a:bodyPr wrap="none" lIns="0" rIns="0" tIns="0" bIns="0" anchor="ctr">
            <a:spAutoFit/>
          </a:bodyPr>
          <a:lstStyle/>
          <a:p>
            <a:pPr algn="r"/>
            <a:r>
              <a:rPr sz="1100" b="0">
                <a:solidFill>
                  <a:srgbClr val="6C7A89"/>
                </a:solidFill>
                <a:latin typeface="Calibri"/>
              </a:rPr>
              <a:t>60%</a:t>
            </a:r>
          </a:p>
        </p:txBody>
      </p:sp>
      <p:sp>
        <p:nvSpPr>
          <p:cNvPr id="53" name="FMI Scale 7"/>
          <p:cNvSpPr txBox="1"/>
          <p:nvPr/>
        </p:nvSpPr>
        <p:spPr>
          <a:xfrm>
            <a:off x="4286250" y="2221132"/>
            <a:ext cx="419100" cy="146030"/>
          </a:xfrm>
          <a:prstGeom prst="rect">
            <a:avLst/>
          </a:prstGeom>
          <a:noFill/>
        </p:spPr>
        <p:txBody>
          <a:bodyPr wrap="none" lIns="0" rIns="0" tIns="0" bIns="0" anchor="ctr">
            <a:spAutoFit/>
          </a:bodyPr>
          <a:lstStyle/>
          <a:p>
            <a:pPr algn="r"/>
            <a:r>
              <a:rPr sz="1100" b="0">
                <a:solidFill>
                  <a:srgbClr val="6C7A89"/>
                </a:solidFill>
                <a:latin typeface="Calibri"/>
              </a:rPr>
              <a:t>70%</a:t>
            </a:r>
          </a:p>
        </p:txBody>
      </p:sp>
      <p:sp>
        <p:nvSpPr>
          <p:cNvPr id="54" name="FMI Scale 8"/>
          <p:cNvSpPr txBox="1"/>
          <p:nvPr/>
        </p:nvSpPr>
        <p:spPr>
          <a:xfrm>
            <a:off x="4286250" y="1992961"/>
            <a:ext cx="419100" cy="146030"/>
          </a:xfrm>
          <a:prstGeom prst="rect">
            <a:avLst/>
          </a:prstGeom>
          <a:noFill/>
        </p:spPr>
        <p:txBody>
          <a:bodyPr wrap="none" lIns="0" rIns="0" tIns="0" bIns="0" anchor="ctr">
            <a:spAutoFit/>
          </a:bodyPr>
          <a:lstStyle/>
          <a:p>
            <a:pPr algn="r"/>
            <a:r>
              <a:rPr sz="1100" b="0">
                <a:solidFill>
                  <a:srgbClr val="6C7A89"/>
                </a:solidFill>
                <a:latin typeface="Calibri"/>
              </a:rPr>
              <a:t>80%</a:t>
            </a:r>
          </a:p>
        </p:txBody>
      </p:sp>
      <p:sp>
        <p:nvSpPr>
          <p:cNvPr id="55" name="FMI Scale 9"/>
          <p:cNvSpPr txBox="1"/>
          <p:nvPr/>
        </p:nvSpPr>
        <p:spPr>
          <a:xfrm>
            <a:off x="4286250" y="1764790"/>
            <a:ext cx="419100" cy="146030"/>
          </a:xfrm>
          <a:prstGeom prst="rect">
            <a:avLst/>
          </a:prstGeom>
          <a:noFill/>
        </p:spPr>
        <p:txBody>
          <a:bodyPr wrap="none" lIns="0" rIns="0" tIns="0" bIns="0" anchor="ctr">
            <a:spAutoFit/>
          </a:bodyPr>
          <a:lstStyle/>
          <a:p>
            <a:pPr algn="r"/>
            <a:r>
              <a:rPr sz="1100" b="0">
                <a:solidFill>
                  <a:srgbClr val="6C7A89"/>
                </a:solidFill>
                <a:latin typeface="Calibri"/>
              </a:rPr>
              <a:t>90%</a:t>
            </a:r>
          </a:p>
        </p:txBody>
      </p:sp>
      <p:sp>
        <p:nvSpPr>
          <p:cNvPr id="56" name="FMI Scale 10"/>
          <p:cNvSpPr txBox="1"/>
          <p:nvPr/>
        </p:nvSpPr>
        <p:spPr>
          <a:xfrm>
            <a:off x="4286250" y="1536618"/>
            <a:ext cx="419100" cy="146030"/>
          </a:xfrm>
          <a:prstGeom prst="rect">
            <a:avLst/>
          </a:prstGeom>
          <a:noFill/>
        </p:spPr>
        <p:txBody>
          <a:bodyPr wrap="none" lIns="0" rIns="0" tIns="0" bIns="0" anchor="ctr">
            <a:spAutoFit/>
          </a:bodyPr>
          <a:lstStyle/>
          <a:p>
            <a:pPr algn="r"/>
            <a:r>
              <a:rPr sz="1100" b="0">
                <a:solidFill>
                  <a:srgbClr val="6C7A89"/>
                </a:solidFill>
                <a:latin typeface="Calibri"/>
              </a:rPr>
              <a:t>100%</a:t>
            </a:r>
          </a:p>
        </p:txBody>
      </p:sp>
      <p:cxnSp>
        <p:nvCxnSpPr>
          <p:cNvPr id="57" name="Connector 56"/>
          <p:cNvCxnSpPr/>
          <p:nvPr/>
        </p:nvCxnSpPr>
        <p:spPr>
          <a:xfrm>
            <a:off x="4762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4972050" y="1080276"/>
            <a:ext cx="7077075" cy="219044"/>
          </a:xfrm>
          <a:prstGeom prst="rect">
            <a:avLst/>
          </a:prstGeom>
          <a:noFill/>
        </p:spPr>
        <p:txBody>
          <a:bodyPr wrap="square" lIns="28575" rIns="28575" tIns="9525" bIns="9525" anchor="ctr">
            <a:spAutoFit/>
          </a:bodyPr>
          <a:lstStyle/>
          <a:p>
            <a:pPr algn="l"/>
            <a:r>
              <a:rPr sz="1200" b="1">
                <a:solidFill>
                  <a:srgbClr val="0B2E4A"/>
                </a:solidFill>
                <a:latin typeface="Calibri"/>
              </a:rPr>
              <a:t>Economic and Supply-side Factors</a:t>
            </a:r>
          </a:p>
        </p:txBody>
      </p:sp>
      <p:cxnSp>
        <p:nvCxnSpPr>
          <p:cNvPr id="59" name="Connector 58"/>
          <p:cNvCxnSpPr/>
          <p:nvPr/>
        </p:nvCxnSpPr>
        <p:spPr>
          <a:xfrm>
            <a:off x="4972050" y="1335828"/>
            <a:ext cx="70770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4972050" y="1427096"/>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1" name="TextBox 60"/>
          <p:cNvSpPr txBox="1"/>
          <p:nvPr/>
        </p:nvSpPr>
        <p:spPr>
          <a:xfrm>
            <a:off x="4972050" y="1883439"/>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2" name="TextBox 61"/>
          <p:cNvSpPr txBox="1"/>
          <p:nvPr/>
        </p:nvSpPr>
        <p:spPr>
          <a:xfrm>
            <a:off x="4972050" y="2339781"/>
            <a:ext cx="70770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3" name="TextBox 62"/>
          <p:cNvSpPr txBox="1"/>
          <p:nvPr/>
        </p:nvSpPr>
        <p:spPr>
          <a:xfrm>
            <a:off x="4972050" y="2613586"/>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Portfolio breadth spans 8 product type / chemistry lines and 9 application routes, giving producers wide reformulation and channel latitude.</a:t>
            </a:r>
          </a:p>
        </p:txBody>
      </p:sp>
      <p:sp>
        <p:nvSpPr>
          <p:cNvPr id="64" name="TextBox 63"/>
          <p:cNvSpPr txBox="1"/>
          <p:nvPr/>
        </p:nvSpPr>
        <p:spPr>
          <a:xfrm>
            <a:off x="4972050" y="3069929"/>
            <a:ext cx="70770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5" name="TextBox 64"/>
          <p:cNvSpPr txBox="1"/>
          <p:nvPr/>
        </p:nvSpPr>
        <p:spPr>
          <a:xfrm>
            <a:off x="4972050" y="3343734"/>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Note: the dynamics framing is indicative factors, impact ratings and narrative are generated from the loaded dataset's own values.</a:t>
            </a:r>
          </a:p>
        </p:txBody>
      </p:sp>
      <p:sp>
        <p:nvSpPr>
          <p:cNvPr id="66" name="TextBox 6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7" name="TextBox 66"/>
          <p:cNvSpPr txBox="1"/>
          <p:nvPr/>
        </p:nvSpPr>
        <p:spPr>
          <a:xfrm>
            <a:off x="3466991" y="1322601"/>
            <a:ext cx="1125226" cy="173278"/>
          </a:xfrm>
          <a:prstGeom prst="rect">
            <a:avLst/>
          </a:prstGeom>
          <a:noFill/>
        </p:spPr>
        <p:txBody>
          <a:bodyPr wrap="none" lIns="0" rIns="0" tIns="0" bIns="0">
            <a:spAutoFit/>
          </a:bodyPr>
          <a:lstStyle/>
          <a:p>
            <a:r>
              <a:rPr sz="1011" b="0">
                <a:solidFill>
                  <a:srgbClr val="2E2E2E"/>
                </a:solidFill>
                <a:latin typeface="Calibri"/>
              </a:rPr>
              <a:t>Production Scale-up</a:t>
            </a:r>
          </a:p>
        </p:txBody>
      </p:sp>
      <p:pic>
        <p:nvPicPr>
          <p:cNvPr id="68" name="Picture 67" descr="lock.png"/>
          <p:cNvPicPr>
            <a:picLocks noChangeAspect="1"/>
          </p:cNvPicPr>
          <p:nvPr/>
        </p:nvPicPr>
        <p:blipFill>
          <a:blip r:embed="rId4"/>
          <a:stretch>
            <a:fillRect/>
          </a:stretch>
        </p:blipFill>
        <p:spPr>
          <a:xfrm>
            <a:off x="4538330" y="1313604"/>
            <a:ext cx="118403" cy="172222"/>
          </a:xfrm>
          <a:prstGeom prst="rect">
            <a:avLst/>
          </a:prstGeom>
        </p:spPr>
      </p:pic>
      <p:sp>
        <p:nvSpPr>
          <p:cNvPr id="69" name="TextBox 68"/>
          <p:cNvSpPr txBox="1"/>
          <p:nvPr/>
        </p:nvSpPr>
        <p:spPr>
          <a:xfrm>
            <a:off x="2482772" y="1561215"/>
            <a:ext cx="1094602" cy="173278"/>
          </a:xfrm>
          <a:prstGeom prst="rect">
            <a:avLst/>
          </a:prstGeom>
          <a:noFill/>
        </p:spPr>
        <p:txBody>
          <a:bodyPr wrap="none" lIns="0" rIns="0" tIns="0" bIns="0">
            <a:spAutoFit/>
          </a:bodyPr>
          <a:lstStyle/>
          <a:p>
            <a:r>
              <a:rPr sz="1011" b="0">
                <a:solidFill>
                  <a:srgbClr val="2E2E2E"/>
                </a:solidFill>
                <a:latin typeface="Calibri"/>
              </a:rPr>
              <a:t>Input Cost Pressure</a:t>
            </a:r>
          </a:p>
        </p:txBody>
      </p:sp>
      <p:pic>
        <p:nvPicPr>
          <p:cNvPr id="70" name="Picture 69" descr="lock.png"/>
          <p:cNvPicPr>
            <a:picLocks noChangeAspect="1"/>
          </p:cNvPicPr>
          <p:nvPr/>
        </p:nvPicPr>
        <p:blipFill>
          <a:blip r:embed="rId4"/>
          <a:stretch>
            <a:fillRect/>
          </a:stretch>
        </p:blipFill>
        <p:spPr>
          <a:xfrm>
            <a:off x="3523486" y="1552218"/>
            <a:ext cx="118403" cy="172222"/>
          </a:xfrm>
          <a:prstGeom prst="rect">
            <a:avLst/>
          </a:prstGeom>
        </p:spPr>
      </p:pic>
      <p:sp>
        <p:nvSpPr>
          <p:cNvPr id="71" name="TextBox 70"/>
          <p:cNvSpPr txBox="1"/>
          <p:nvPr/>
        </p:nvSpPr>
        <p:spPr>
          <a:xfrm>
            <a:off x="1943191" y="2311939"/>
            <a:ext cx="759234" cy="173278"/>
          </a:xfrm>
          <a:prstGeom prst="rect">
            <a:avLst/>
          </a:prstGeom>
          <a:noFill/>
        </p:spPr>
        <p:txBody>
          <a:bodyPr wrap="none" lIns="0" rIns="0" tIns="0" bIns="0">
            <a:spAutoFit/>
          </a:bodyPr>
          <a:lstStyle/>
          <a:p>
            <a:r>
              <a:rPr sz="1011" b="0">
                <a:solidFill>
                  <a:srgbClr val="2E2E2E"/>
                </a:solidFill>
                <a:latin typeface="Calibri"/>
              </a:rPr>
              <a:t>Capacity Add</a:t>
            </a:r>
          </a:p>
        </p:txBody>
      </p:sp>
      <p:pic>
        <p:nvPicPr>
          <p:cNvPr id="72" name="Picture 71" descr="lock.png"/>
          <p:cNvPicPr>
            <a:picLocks noChangeAspect="1"/>
          </p:cNvPicPr>
          <p:nvPr/>
        </p:nvPicPr>
        <p:blipFill>
          <a:blip r:embed="rId4"/>
          <a:stretch>
            <a:fillRect/>
          </a:stretch>
        </p:blipFill>
        <p:spPr>
          <a:xfrm>
            <a:off x="2648537" y="2302942"/>
            <a:ext cx="118403" cy="172222"/>
          </a:xfrm>
          <a:prstGeom prst="rect">
            <a:avLst/>
          </a:prstGeom>
        </p:spPr>
      </p:pic>
      <p:sp>
        <p:nvSpPr>
          <p:cNvPr id="73" name="TextBox 72"/>
          <p:cNvSpPr txBox="1"/>
          <p:nvPr/>
        </p:nvSpPr>
        <p:spPr>
          <a:xfrm>
            <a:off x="1014573" y="3278069"/>
            <a:ext cx="1202291" cy="173278"/>
          </a:xfrm>
          <a:prstGeom prst="rect">
            <a:avLst/>
          </a:prstGeom>
          <a:noFill/>
        </p:spPr>
        <p:txBody>
          <a:bodyPr wrap="none" lIns="0" rIns="0" tIns="0" bIns="0">
            <a:spAutoFit/>
          </a:bodyPr>
          <a:lstStyle/>
          <a:p>
            <a:r>
              <a:rPr sz="1011" b="0">
                <a:solidFill>
                  <a:srgbClr val="2E2E2E"/>
                </a:solidFill>
                <a:latin typeface="Calibri"/>
              </a:rPr>
              <a:t>Supply Concentration</a:t>
            </a:r>
          </a:p>
        </p:txBody>
      </p:sp>
      <p:pic>
        <p:nvPicPr>
          <p:cNvPr id="74" name="Picture 73" descr="lock.png"/>
          <p:cNvPicPr>
            <a:picLocks noChangeAspect="1"/>
          </p:cNvPicPr>
          <p:nvPr/>
        </p:nvPicPr>
        <p:blipFill>
          <a:blip r:embed="rId4"/>
          <a:stretch>
            <a:fillRect/>
          </a:stretch>
        </p:blipFill>
        <p:spPr>
          <a:xfrm>
            <a:off x="2162976" y="3269072"/>
            <a:ext cx="118403" cy="172222"/>
          </a:xfrm>
          <a:prstGeom prst="rect">
            <a:avLst/>
          </a:prstGeom>
        </p:spPr>
      </p:pic>
      <p:sp>
        <p:nvSpPr>
          <p:cNvPr id="75" name="TextBox 74"/>
          <p:cNvSpPr txBox="1"/>
          <p:nvPr/>
        </p:nvSpPr>
        <p:spPr>
          <a:xfrm>
            <a:off x="1148118" y="4350392"/>
            <a:ext cx="1068746" cy="173278"/>
          </a:xfrm>
          <a:prstGeom prst="rect">
            <a:avLst/>
          </a:prstGeom>
          <a:noFill/>
        </p:spPr>
        <p:txBody>
          <a:bodyPr wrap="none" lIns="0" rIns="0" tIns="0" bIns="0">
            <a:spAutoFit/>
          </a:bodyPr>
          <a:lstStyle/>
          <a:p>
            <a:r>
              <a:rPr sz="1011" b="0">
                <a:solidFill>
                  <a:srgbClr val="2E2E2E"/>
                </a:solidFill>
                <a:latin typeface="Calibri"/>
              </a:rPr>
              <a:t>Geographic Spread</a:t>
            </a:r>
          </a:p>
        </p:txBody>
      </p:sp>
      <p:pic>
        <p:nvPicPr>
          <p:cNvPr id="76" name="Picture 75" descr="lock.png"/>
          <p:cNvPicPr>
            <a:picLocks noChangeAspect="1"/>
          </p:cNvPicPr>
          <p:nvPr/>
        </p:nvPicPr>
        <p:blipFill>
          <a:blip r:embed="rId4"/>
          <a:stretch>
            <a:fillRect/>
          </a:stretch>
        </p:blipFill>
        <p:spPr>
          <a:xfrm>
            <a:off x="2162976" y="4341395"/>
            <a:ext cx="118403" cy="172222"/>
          </a:xfrm>
          <a:prstGeom prst="rect">
            <a:avLst/>
          </a:prstGeom>
        </p:spPr>
      </p:pic>
      <p:sp>
        <p:nvSpPr>
          <p:cNvPr id="77" name="TextBox 76"/>
          <p:cNvSpPr txBox="1"/>
          <p:nvPr/>
        </p:nvSpPr>
        <p:spPr>
          <a:xfrm>
            <a:off x="1722039" y="5316521"/>
            <a:ext cx="980386" cy="173278"/>
          </a:xfrm>
          <a:prstGeom prst="rect">
            <a:avLst/>
          </a:prstGeom>
          <a:noFill/>
        </p:spPr>
        <p:txBody>
          <a:bodyPr wrap="none" lIns="0" rIns="0" tIns="0" bIns="0">
            <a:spAutoFit/>
          </a:bodyPr>
          <a:lstStyle/>
          <a:p>
            <a:r>
              <a:rPr sz="1011" b="0">
                <a:solidFill>
                  <a:srgbClr val="2E2E2E"/>
                </a:solidFill>
                <a:latin typeface="Calibri"/>
              </a:rPr>
              <a:t>Portfolio Breadth</a:t>
            </a:r>
          </a:p>
        </p:txBody>
      </p:sp>
      <p:pic>
        <p:nvPicPr>
          <p:cNvPr id="78" name="Picture 77" descr="lock.png"/>
          <p:cNvPicPr>
            <a:picLocks noChangeAspect="1"/>
          </p:cNvPicPr>
          <p:nvPr/>
        </p:nvPicPr>
        <p:blipFill>
          <a:blip r:embed="rId4"/>
          <a:stretch>
            <a:fillRect/>
          </a:stretch>
        </p:blipFill>
        <p:spPr>
          <a:xfrm>
            <a:off x="2648537" y="5307524"/>
            <a:ext cx="118403" cy="172222"/>
          </a:xfrm>
          <a:prstGeom prst="rect">
            <a:avLst/>
          </a:prstGeom>
        </p:spPr>
      </p:pic>
      <p:sp>
        <p:nvSpPr>
          <p:cNvPr id="79" name="TextBox 78"/>
          <p:cNvSpPr txBox="1"/>
          <p:nvPr/>
        </p:nvSpPr>
        <p:spPr>
          <a:xfrm>
            <a:off x="2838472" y="6067245"/>
            <a:ext cx="738901" cy="173278"/>
          </a:xfrm>
          <a:prstGeom prst="rect">
            <a:avLst/>
          </a:prstGeom>
          <a:noFill/>
        </p:spPr>
        <p:txBody>
          <a:bodyPr wrap="none" lIns="0" rIns="0" tIns="0" bIns="0">
            <a:spAutoFit/>
          </a:bodyPr>
          <a:lstStyle/>
          <a:p>
            <a:r>
              <a:rPr sz="1011" b="0">
                <a:solidFill>
                  <a:srgbClr val="2E2E2E"/>
                </a:solidFill>
                <a:latin typeface="Calibri"/>
              </a:rPr>
              <a:t>Route Depth</a:t>
            </a:r>
          </a:p>
        </p:txBody>
      </p:sp>
      <p:pic>
        <p:nvPicPr>
          <p:cNvPr id="80" name="Picture 79" descr="lock.png"/>
          <p:cNvPicPr>
            <a:picLocks noChangeAspect="1"/>
          </p:cNvPicPr>
          <p:nvPr/>
        </p:nvPicPr>
        <p:blipFill>
          <a:blip r:embed="rId4"/>
          <a:stretch>
            <a:fillRect/>
          </a:stretch>
        </p:blipFill>
        <p:spPr>
          <a:xfrm>
            <a:off x="3523486" y="6058248"/>
            <a:ext cx="118403" cy="172222"/>
          </a:xfrm>
          <a:prstGeom prst="rect">
            <a:avLst/>
          </a:prstGeom>
        </p:spPr>
      </p:pic>
      <p:sp>
        <p:nvSpPr>
          <p:cNvPr id="81" name="TextBox 80"/>
          <p:cNvSpPr txBox="1"/>
          <p:nvPr/>
        </p:nvSpPr>
        <p:spPr>
          <a:xfrm>
            <a:off x="3616852" y="6305860"/>
            <a:ext cx="975365" cy="173278"/>
          </a:xfrm>
          <a:prstGeom prst="rect">
            <a:avLst/>
          </a:prstGeom>
          <a:noFill/>
        </p:spPr>
        <p:txBody>
          <a:bodyPr wrap="none" lIns="0" rIns="0" tIns="0" bIns="0">
            <a:spAutoFit/>
          </a:bodyPr>
          <a:lstStyle/>
          <a:p>
            <a:r>
              <a:rPr sz="1011" b="0">
                <a:solidFill>
                  <a:srgbClr val="2E2E2E"/>
                </a:solidFill>
                <a:latin typeface="Calibri"/>
              </a:rPr>
              <a:t>Value Realisation</a:t>
            </a:r>
          </a:p>
        </p:txBody>
      </p:sp>
      <p:pic>
        <p:nvPicPr>
          <p:cNvPr id="82" name="Picture 81" descr="lock.png"/>
          <p:cNvPicPr>
            <a:picLocks noChangeAspect="1"/>
          </p:cNvPicPr>
          <p:nvPr/>
        </p:nvPicPr>
        <p:blipFill>
          <a:blip r:embed="rId4"/>
          <a:stretch>
            <a:fillRect/>
          </a:stretch>
        </p:blipFill>
        <p:spPr>
          <a:xfrm>
            <a:off x="4538330" y="6296863"/>
            <a:ext cx="118403" cy="172222"/>
          </a:xfrm>
          <a:prstGeom prst="rect">
            <a:avLst/>
          </a:prstGeom>
        </p:spPr>
      </p:pic>
      <p:sp>
        <p:nvSpPr>
          <p:cNvPr id="83" name="TextBox 82"/>
          <p:cNvSpPr txBox="1"/>
          <p:nvPr/>
        </p:nvSpPr>
        <p:spPr>
          <a:xfrm>
            <a:off x="5000625" y="1496754"/>
            <a:ext cx="3210445" cy="186689"/>
          </a:xfrm>
          <a:prstGeom prst="rect">
            <a:avLst/>
          </a:prstGeom>
          <a:noFill/>
        </p:spPr>
        <p:txBody>
          <a:bodyPr wrap="none" lIns="0" rIns="0" tIns="0" bIns="0">
            <a:spAutoFit/>
          </a:bodyPr>
          <a:lstStyle/>
          <a:p>
            <a:r>
              <a:rPr sz="1100" b="0">
                <a:solidFill>
                  <a:srgbClr val="2E2E2E"/>
                </a:solidFill>
                <a:latin typeface="Calibri"/>
              </a:rPr>
              <a:t>▪ Supply-side conditions are led by Geographic Spread (</a:t>
            </a:r>
          </a:p>
        </p:txBody>
      </p:sp>
      <p:pic>
        <p:nvPicPr>
          <p:cNvPr id="84" name="Picture 83" descr="lock.png"/>
          <p:cNvPicPr>
            <a:picLocks noChangeAspect="1"/>
          </p:cNvPicPr>
          <p:nvPr/>
        </p:nvPicPr>
        <p:blipFill>
          <a:blip r:embed="rId4"/>
          <a:stretch>
            <a:fillRect/>
          </a:stretch>
        </p:blipFill>
        <p:spPr>
          <a:xfrm>
            <a:off x="8159122" y="1486975"/>
            <a:ext cx="128699" cy="187198"/>
          </a:xfrm>
          <a:prstGeom prst="rect">
            <a:avLst/>
          </a:prstGeom>
        </p:spPr>
      </p:pic>
      <p:sp>
        <p:nvSpPr>
          <p:cNvPr id="85" name="TextBox 84"/>
          <p:cNvSpPr txBox="1"/>
          <p:nvPr/>
        </p:nvSpPr>
        <p:spPr>
          <a:xfrm>
            <a:off x="8326618" y="1496754"/>
            <a:ext cx="1175246" cy="186689"/>
          </a:xfrm>
          <a:prstGeom prst="rect">
            <a:avLst/>
          </a:prstGeom>
          <a:noFill/>
        </p:spPr>
        <p:txBody>
          <a:bodyPr wrap="none" lIns="0" rIns="0" tIns="0" bIns="0">
            <a:spAutoFit/>
          </a:bodyPr>
          <a:lstStyle/>
          <a:p>
            <a:r>
              <a:rPr sz="1100" b="0">
                <a:solidFill>
                  <a:srgbClr val="2E2E2E"/>
                </a:solidFill>
                <a:latin typeface="Calibri"/>
              </a:rPr>
              <a:t>/10), Route Depth (</a:t>
            </a:r>
          </a:p>
        </p:txBody>
      </p:sp>
      <p:pic>
        <p:nvPicPr>
          <p:cNvPr id="86" name="Picture 85" descr="lock.png"/>
          <p:cNvPicPr>
            <a:picLocks noChangeAspect="1"/>
          </p:cNvPicPr>
          <p:nvPr/>
        </p:nvPicPr>
        <p:blipFill>
          <a:blip r:embed="rId4"/>
          <a:stretch>
            <a:fillRect/>
          </a:stretch>
        </p:blipFill>
        <p:spPr>
          <a:xfrm>
            <a:off x="9449916" y="1486975"/>
            <a:ext cx="128699" cy="187198"/>
          </a:xfrm>
          <a:prstGeom prst="rect">
            <a:avLst/>
          </a:prstGeom>
        </p:spPr>
      </p:pic>
      <p:sp>
        <p:nvSpPr>
          <p:cNvPr id="87" name="TextBox 86"/>
          <p:cNvSpPr txBox="1"/>
          <p:nvPr/>
        </p:nvSpPr>
        <p:spPr>
          <a:xfrm>
            <a:off x="9617411" y="1496754"/>
            <a:ext cx="1437729" cy="186689"/>
          </a:xfrm>
          <a:prstGeom prst="rect">
            <a:avLst/>
          </a:prstGeom>
          <a:noFill/>
        </p:spPr>
        <p:txBody>
          <a:bodyPr wrap="none" lIns="0" rIns="0" tIns="0" bIns="0">
            <a:spAutoFit/>
          </a:bodyPr>
          <a:lstStyle/>
          <a:p>
            <a:r>
              <a:rPr sz="1100" b="0">
                <a:solidFill>
                  <a:srgbClr val="2E2E2E"/>
                </a:solidFill>
                <a:latin typeface="Calibri"/>
              </a:rPr>
              <a:t>/10), Portfolio Breadth (</a:t>
            </a:r>
          </a:p>
        </p:txBody>
      </p:sp>
      <p:pic>
        <p:nvPicPr>
          <p:cNvPr id="88" name="Picture 87" descr="lock.png"/>
          <p:cNvPicPr>
            <a:picLocks noChangeAspect="1"/>
          </p:cNvPicPr>
          <p:nvPr/>
        </p:nvPicPr>
        <p:blipFill>
          <a:blip r:embed="rId4"/>
          <a:stretch>
            <a:fillRect/>
          </a:stretch>
        </p:blipFill>
        <p:spPr>
          <a:xfrm>
            <a:off x="11003192" y="1486975"/>
            <a:ext cx="128699" cy="187198"/>
          </a:xfrm>
          <a:prstGeom prst="rect">
            <a:avLst/>
          </a:prstGeom>
        </p:spPr>
      </p:pic>
      <p:sp>
        <p:nvSpPr>
          <p:cNvPr id="89" name="TextBox 88"/>
          <p:cNvSpPr txBox="1"/>
          <p:nvPr/>
        </p:nvSpPr>
        <p:spPr>
          <a:xfrm>
            <a:off x="11170688" y="1496754"/>
            <a:ext cx="591616" cy="186689"/>
          </a:xfrm>
          <a:prstGeom prst="rect">
            <a:avLst/>
          </a:prstGeom>
          <a:noFill/>
        </p:spPr>
        <p:txBody>
          <a:bodyPr wrap="none" lIns="0" rIns="0" tIns="0" bIns="0">
            <a:spAutoFit/>
          </a:bodyPr>
          <a:lstStyle/>
          <a:p>
            <a:r>
              <a:rPr sz="1100" b="0">
                <a:solidFill>
                  <a:srgbClr val="2E2E2E"/>
                </a:solidFill>
                <a:latin typeface="Calibri"/>
              </a:rPr>
              <a:t>/10) on a</a:t>
            </a:r>
          </a:p>
        </p:txBody>
      </p:sp>
      <p:sp>
        <p:nvSpPr>
          <p:cNvPr id="90" name="TextBox 89"/>
          <p:cNvSpPr txBox="1"/>
          <p:nvPr/>
        </p:nvSpPr>
        <p:spPr>
          <a:xfrm>
            <a:off x="5000625" y="1664394"/>
            <a:ext cx="2764060" cy="186689"/>
          </a:xfrm>
          <a:prstGeom prst="rect">
            <a:avLst/>
          </a:prstGeom>
          <a:noFill/>
        </p:spPr>
        <p:txBody>
          <a:bodyPr wrap="none" lIns="0" rIns="0" tIns="0" bIns="0">
            <a:spAutoFit/>
          </a:bodyPr>
          <a:lstStyle/>
          <a:p>
            <a:r>
              <a:rPr sz="1100" b="0">
                <a:solidFill>
                  <a:srgbClr val="2E2E2E"/>
                </a:solidFill>
                <a:latin typeface="Calibri"/>
              </a:rPr>
              <a:t>0-10 scale scored from the global dataset itself.</a:t>
            </a:r>
          </a:p>
        </p:txBody>
      </p:sp>
      <p:sp>
        <p:nvSpPr>
          <p:cNvPr id="91" name="TextBox 90"/>
          <p:cNvSpPr txBox="1"/>
          <p:nvPr/>
        </p:nvSpPr>
        <p:spPr>
          <a:xfrm>
            <a:off x="5000625" y="1953097"/>
            <a:ext cx="1245914" cy="186689"/>
          </a:xfrm>
          <a:prstGeom prst="rect">
            <a:avLst/>
          </a:prstGeom>
          <a:noFill/>
        </p:spPr>
        <p:txBody>
          <a:bodyPr wrap="none" lIns="0" rIns="0" tIns="0" bIns="0">
            <a:spAutoFit/>
          </a:bodyPr>
          <a:lstStyle/>
          <a:p>
            <a:r>
              <a:rPr sz="1100" b="0">
                <a:solidFill>
                  <a:srgbClr val="2E2E2E"/>
                </a:solidFill>
                <a:latin typeface="Calibri"/>
              </a:rPr>
              <a:t>▪ Volume expands at</a:t>
            </a:r>
          </a:p>
        </p:txBody>
      </p:sp>
      <p:pic>
        <p:nvPicPr>
          <p:cNvPr id="92" name="Picture 91" descr="lock.png"/>
          <p:cNvPicPr>
            <a:picLocks noChangeAspect="1"/>
          </p:cNvPicPr>
          <p:nvPr/>
        </p:nvPicPr>
        <p:blipFill>
          <a:blip r:embed="rId4"/>
          <a:stretch>
            <a:fillRect/>
          </a:stretch>
        </p:blipFill>
        <p:spPr>
          <a:xfrm>
            <a:off x="6194591" y="1943318"/>
            <a:ext cx="128699" cy="187198"/>
          </a:xfrm>
          <a:prstGeom prst="rect">
            <a:avLst/>
          </a:prstGeom>
        </p:spPr>
      </p:pic>
      <p:sp>
        <p:nvSpPr>
          <p:cNvPr id="93" name="TextBox 92"/>
          <p:cNvSpPr txBox="1"/>
          <p:nvPr/>
        </p:nvSpPr>
        <p:spPr>
          <a:xfrm>
            <a:off x="6362087" y="1953097"/>
            <a:ext cx="3002788" cy="186689"/>
          </a:xfrm>
          <a:prstGeom prst="rect">
            <a:avLst/>
          </a:prstGeom>
          <a:noFill/>
        </p:spPr>
        <p:txBody>
          <a:bodyPr wrap="none" lIns="0" rIns="0" tIns="0" bIns="0">
            <a:spAutoFit/>
          </a:bodyPr>
          <a:lstStyle/>
          <a:p>
            <a:r>
              <a:rPr sz="1100" b="0">
                <a:solidFill>
                  <a:srgbClr val="2E2E2E"/>
                </a:solidFill>
                <a:latin typeface="Calibri"/>
              </a:rPr>
              <a:t>CAGR (2026–2036) while average realisation moves</a:t>
            </a:r>
          </a:p>
        </p:txBody>
      </p:sp>
      <p:pic>
        <p:nvPicPr>
          <p:cNvPr id="94" name="Picture 93" descr="lock.png"/>
          <p:cNvPicPr>
            <a:picLocks noChangeAspect="1"/>
          </p:cNvPicPr>
          <p:nvPr/>
        </p:nvPicPr>
        <p:blipFill>
          <a:blip r:embed="rId4"/>
          <a:stretch>
            <a:fillRect/>
          </a:stretch>
        </p:blipFill>
        <p:spPr>
          <a:xfrm>
            <a:off x="9312927" y="1943318"/>
            <a:ext cx="128699" cy="187198"/>
          </a:xfrm>
          <a:prstGeom prst="rect">
            <a:avLst/>
          </a:prstGeom>
        </p:spPr>
      </p:pic>
      <p:sp>
        <p:nvSpPr>
          <p:cNvPr id="95" name="TextBox 94"/>
          <p:cNvSpPr txBox="1"/>
          <p:nvPr/>
        </p:nvSpPr>
        <p:spPr>
          <a:xfrm>
            <a:off x="9480423" y="1953097"/>
            <a:ext cx="2346597" cy="186689"/>
          </a:xfrm>
          <a:prstGeom prst="rect">
            <a:avLst/>
          </a:prstGeom>
          <a:noFill/>
        </p:spPr>
        <p:txBody>
          <a:bodyPr wrap="none" lIns="0" rIns="0" tIns="0" bIns="0">
            <a:spAutoFit/>
          </a:bodyPr>
          <a:lstStyle/>
          <a:p>
            <a:r>
              <a:rPr sz="1100" b="0">
                <a:solidFill>
                  <a:srgbClr val="2E2E2E"/>
                </a:solidFill>
                <a:latin typeface="Calibri"/>
              </a:rPr>
              <a:t>a year the balance of those two sets the</a:t>
            </a:r>
          </a:p>
        </p:txBody>
      </p:sp>
      <p:sp>
        <p:nvSpPr>
          <p:cNvPr id="96" name="TextBox 95"/>
          <p:cNvSpPr txBox="1"/>
          <p:nvPr/>
        </p:nvSpPr>
        <p:spPr>
          <a:xfrm>
            <a:off x="5000625" y="2120737"/>
            <a:ext cx="1571426" cy="186689"/>
          </a:xfrm>
          <a:prstGeom prst="rect">
            <a:avLst/>
          </a:prstGeom>
          <a:noFill/>
        </p:spPr>
        <p:txBody>
          <a:bodyPr wrap="none" lIns="0" rIns="0" tIns="0" bIns="0">
            <a:spAutoFit/>
          </a:bodyPr>
          <a:lstStyle/>
          <a:p>
            <a:r>
              <a:rPr sz="1100" b="0">
                <a:solidFill>
                  <a:srgbClr val="2E2E2E"/>
                </a:solidFill>
                <a:latin typeface="Calibri"/>
              </a:rPr>
              <a:t>cost-pass-through picture.</a:t>
            </a:r>
          </a:p>
        </p:txBody>
      </p:sp>
      <p:sp>
        <p:nvSpPr>
          <p:cNvPr id="97" name="TextBox 96"/>
          <p:cNvSpPr txBox="1"/>
          <p:nvPr/>
        </p:nvSpPr>
        <p:spPr>
          <a:xfrm>
            <a:off x="5000625" y="2401990"/>
            <a:ext cx="2751509" cy="186689"/>
          </a:xfrm>
          <a:prstGeom prst="rect">
            <a:avLst/>
          </a:prstGeom>
          <a:noFill/>
        </p:spPr>
        <p:txBody>
          <a:bodyPr wrap="none" lIns="0" rIns="0" tIns="0" bIns="0">
            <a:spAutoFit/>
          </a:bodyPr>
          <a:lstStyle/>
          <a:p>
            <a:r>
              <a:rPr sz="1100" b="0">
                <a:solidFill>
                  <a:srgbClr val="2E2E2E"/>
                </a:solidFill>
                <a:latin typeface="Calibri"/>
              </a:rPr>
              <a:t>▪ Supply is concentrated: 'North America' holds</a:t>
            </a:r>
          </a:p>
        </p:txBody>
      </p:sp>
      <p:pic>
        <p:nvPicPr>
          <p:cNvPr id="98" name="Picture 97" descr="lock.png"/>
          <p:cNvPicPr>
            <a:picLocks noChangeAspect="1"/>
          </p:cNvPicPr>
          <p:nvPr/>
        </p:nvPicPr>
        <p:blipFill>
          <a:blip r:embed="rId4"/>
          <a:stretch>
            <a:fillRect/>
          </a:stretch>
        </p:blipFill>
        <p:spPr>
          <a:xfrm>
            <a:off x="7700186" y="2392211"/>
            <a:ext cx="128699" cy="187198"/>
          </a:xfrm>
          <a:prstGeom prst="rect">
            <a:avLst/>
          </a:prstGeom>
        </p:spPr>
      </p:pic>
      <p:sp>
        <p:nvSpPr>
          <p:cNvPr id="99" name="TextBox 98"/>
          <p:cNvSpPr txBox="1"/>
          <p:nvPr/>
        </p:nvSpPr>
        <p:spPr>
          <a:xfrm>
            <a:off x="7867681" y="2401990"/>
            <a:ext cx="1821358" cy="186689"/>
          </a:xfrm>
          <a:prstGeom prst="rect">
            <a:avLst/>
          </a:prstGeom>
          <a:noFill/>
        </p:spPr>
        <p:txBody>
          <a:bodyPr wrap="none" lIns="0" rIns="0" tIns="0" bIns="0">
            <a:spAutoFit/>
          </a:bodyPr>
          <a:lstStyle/>
          <a:p>
            <a:r>
              <a:rPr sz="1100" b="0">
                <a:solidFill>
                  <a:srgbClr val="2E2E2E"/>
                </a:solidFill>
                <a:latin typeface="Calibri"/>
              </a:rPr>
              <a:t>of 2036 value across 7 regions.</a:t>
            </a:r>
          </a:p>
        </p:txBody>
      </p:sp>
      <p:sp>
        <p:nvSpPr>
          <p:cNvPr id="100" name="TextBox 99"/>
          <p:cNvSpPr txBox="1"/>
          <p:nvPr/>
        </p:nvSpPr>
        <p:spPr>
          <a:xfrm>
            <a:off x="5000625" y="3132138"/>
            <a:ext cx="2931591" cy="186689"/>
          </a:xfrm>
          <a:prstGeom prst="rect">
            <a:avLst/>
          </a:prstGeom>
          <a:noFill/>
        </p:spPr>
        <p:txBody>
          <a:bodyPr wrap="none" lIns="0" rIns="0" tIns="0" bIns="0">
            <a:spAutoFit/>
          </a:bodyPr>
          <a:lstStyle/>
          <a:p>
            <a:r>
              <a:rPr sz="1100" b="0">
                <a:solidFill>
                  <a:srgbClr val="2E2E2E"/>
                </a:solidFill>
                <a:latin typeface="Calibri"/>
              </a:rPr>
              <a:t>▪ Capacity added between 2026 and 2036 is worth</a:t>
            </a:r>
          </a:p>
        </p:txBody>
      </p:sp>
      <p:pic>
        <p:nvPicPr>
          <p:cNvPr id="101" name="Picture 100" descr="lock.png"/>
          <p:cNvPicPr>
            <a:picLocks noChangeAspect="1"/>
          </p:cNvPicPr>
          <p:nvPr/>
        </p:nvPicPr>
        <p:blipFill>
          <a:blip r:embed="rId4"/>
          <a:stretch>
            <a:fillRect/>
          </a:stretch>
        </p:blipFill>
        <p:spPr>
          <a:xfrm>
            <a:off x="7880268" y="3122359"/>
            <a:ext cx="128699" cy="187198"/>
          </a:xfrm>
          <a:prstGeom prst="rect">
            <a:avLst/>
          </a:prstGeom>
        </p:spPr>
      </p:pic>
      <p:sp>
        <p:nvSpPr>
          <p:cNvPr id="102" name="TextBox 101"/>
          <p:cNvSpPr txBox="1"/>
          <p:nvPr/>
        </p:nvSpPr>
        <p:spPr>
          <a:xfrm>
            <a:off x="8047764" y="3132138"/>
            <a:ext cx="659010" cy="186689"/>
          </a:xfrm>
          <a:prstGeom prst="rect">
            <a:avLst/>
          </a:prstGeom>
          <a:noFill/>
        </p:spPr>
        <p:txBody>
          <a:bodyPr wrap="none" lIns="0" rIns="0" tIns="0" bIns="0">
            <a:spAutoFit/>
          </a:bodyPr>
          <a:lstStyle/>
          <a:p>
            <a:r>
              <a:rPr sz="1100" b="0">
                <a:solidFill>
                  <a:srgbClr val="2E2E2E"/>
                </a:solidFill>
                <a:latin typeface="Calibri"/>
              </a:rPr>
              <a:t>US$ Mn, a</a:t>
            </a:r>
          </a:p>
        </p:txBody>
      </p:sp>
      <p:pic>
        <p:nvPicPr>
          <p:cNvPr id="103" name="Picture 102" descr="lock.png"/>
          <p:cNvPicPr>
            <a:picLocks noChangeAspect="1"/>
          </p:cNvPicPr>
          <p:nvPr/>
        </p:nvPicPr>
        <p:blipFill>
          <a:blip r:embed="rId4"/>
          <a:stretch>
            <a:fillRect/>
          </a:stretch>
        </p:blipFill>
        <p:spPr>
          <a:xfrm>
            <a:off x="8654826" y="3122359"/>
            <a:ext cx="128699" cy="187198"/>
          </a:xfrm>
          <a:prstGeom prst="rect">
            <a:avLst/>
          </a:prstGeom>
        </p:spPr>
      </p:pic>
      <p:sp>
        <p:nvSpPr>
          <p:cNvPr id="104" name="TextBox 103"/>
          <p:cNvSpPr txBox="1"/>
          <p:nvPr/>
        </p:nvSpPr>
        <p:spPr>
          <a:xfrm>
            <a:off x="8822322" y="3132138"/>
            <a:ext cx="1801986" cy="186689"/>
          </a:xfrm>
          <a:prstGeom prst="rect">
            <a:avLst/>
          </a:prstGeom>
          <a:noFill/>
        </p:spPr>
        <p:txBody>
          <a:bodyPr wrap="none" lIns="0" rIns="0" tIns="0" bIns="0">
            <a:spAutoFit/>
          </a:bodyPr>
          <a:lstStyle/>
          <a:p>
            <a:r>
              <a:rPr sz="1100" b="0">
                <a:solidFill>
                  <a:srgbClr val="2E2E2E"/>
                </a:solidFill>
                <a:latin typeface="Calibri"/>
              </a:rPr>
              <a:t>× expansion on the 2026 base.</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Waterproof Coatings Market Global Driving Factors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demand-side factors scored by their impact on the global market</a:t>
            </a:r>
          </a:p>
        </p:txBody>
      </p:sp>
      <p:sp>
        <p:nvSpPr>
          <p:cNvPr id="10" name="Oval 9"/>
          <p:cNvSpPr/>
          <p:nvPr/>
        </p:nvSpPr>
        <p:spPr>
          <a:xfrm>
            <a:off x="5048250" y="1609633"/>
            <a:ext cx="4762500" cy="4563424"/>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286375" y="1837804"/>
            <a:ext cx="4286250" cy="410708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524500" y="2065976"/>
            <a:ext cx="3810000" cy="365074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762625" y="2294147"/>
            <a:ext cx="3333750" cy="319439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000750" y="2522318"/>
            <a:ext cx="2857500" cy="273805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238875" y="2750489"/>
            <a:ext cx="2381250" cy="228171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77000" y="2978660"/>
            <a:ext cx="1905000" cy="182537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715125" y="3206832"/>
            <a:ext cx="1428750" cy="136902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953250" y="3435003"/>
            <a:ext cx="952500" cy="91268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91375" y="3663174"/>
            <a:ext cx="476250" cy="45634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7429500" y="1609633"/>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7429500" y="1835594"/>
            <a:ext cx="1033186" cy="205575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7429500" y="2468721"/>
            <a:ext cx="1861736" cy="142262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7429500" y="3383617"/>
            <a:ext cx="2321547" cy="507729"/>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429500" y="3891345"/>
            <a:ext cx="2321547" cy="507729"/>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429500" y="3891345"/>
            <a:ext cx="1861736" cy="142262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429500" y="3891345"/>
            <a:ext cx="1033186" cy="205575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429500" y="3891345"/>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7429500" y="2467557"/>
            <a:ext cx="1857375" cy="3568598"/>
          </a:xfrm>
          <a:custGeom>
            <a:avLst/>
            <a:gdLst/>
            <a:ahLst/>
            <a:cxnLst/>
            <a:rect l="l" t="t" r="r" b="b"/>
            <a:pathLst>
              <a:path w="195" h="391">
                <a:moveTo>
                  <a:pt x="0" y="31"/>
                </a:moveTo>
                <a:lnTo>
                  <a:pt x="62" y="27"/>
                </a:lnTo>
                <a:lnTo>
                  <a:pt x="195" y="0"/>
                </a:lnTo>
                <a:lnTo>
                  <a:pt x="103" y="132"/>
                </a:lnTo>
                <a:lnTo>
                  <a:pt x="160" y="193"/>
                </a:lnTo>
                <a:lnTo>
                  <a:pt x="101" y="236"/>
                </a:lnTo>
                <a:lnTo>
                  <a:pt x="29" y="216"/>
                </a:lnTo>
                <a:lnTo>
                  <a:pt x="0" y="391"/>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81875" y="1563999"/>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05700" y="1281067"/>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1" name="Oval 30"/>
          <p:cNvSpPr/>
          <p:nvPr/>
        </p:nvSpPr>
        <p:spPr>
          <a:xfrm>
            <a:off x="8415061" y="1789960"/>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20544" y="1519681"/>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3" name="Oval 32"/>
          <p:cNvSpPr/>
          <p:nvPr/>
        </p:nvSpPr>
        <p:spPr>
          <a:xfrm>
            <a:off x="9243611" y="2423087"/>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95493" y="2270405"/>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5" name="Oval 34"/>
          <p:cNvSpPr/>
          <p:nvPr/>
        </p:nvSpPr>
        <p:spPr>
          <a:xfrm>
            <a:off x="9703422" y="3337982"/>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881054" y="3236535"/>
            <a:ext cx="2168071"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7" name="Oval 36"/>
          <p:cNvSpPr/>
          <p:nvPr/>
        </p:nvSpPr>
        <p:spPr>
          <a:xfrm>
            <a:off x="9703422" y="4353440"/>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81054" y="4308858"/>
            <a:ext cx="2168071"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9" name="Oval 38"/>
          <p:cNvSpPr/>
          <p:nvPr/>
        </p:nvSpPr>
        <p:spPr>
          <a:xfrm>
            <a:off x="9243611" y="5268335"/>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95493" y="5274987"/>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41" name="Oval 40"/>
          <p:cNvSpPr/>
          <p:nvPr/>
        </p:nvSpPr>
        <p:spPr>
          <a:xfrm>
            <a:off x="8415061" y="590146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520544" y="6025711"/>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43" name="Oval 42"/>
          <p:cNvSpPr/>
          <p:nvPr/>
        </p:nvSpPr>
        <p:spPr>
          <a:xfrm>
            <a:off x="7381875" y="612742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505700" y="6264326"/>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45" name="Rectangle 44"/>
          <p:cNvSpPr/>
          <p:nvPr/>
        </p:nvSpPr>
        <p:spPr>
          <a:xfrm>
            <a:off x="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MI Scale 0"/>
          <p:cNvSpPr txBox="1"/>
          <p:nvPr/>
        </p:nvSpPr>
        <p:spPr>
          <a:xfrm>
            <a:off x="7486650" y="3818331"/>
            <a:ext cx="419100" cy="146030"/>
          </a:xfrm>
          <a:prstGeom prst="rect">
            <a:avLst/>
          </a:prstGeom>
          <a:noFill/>
        </p:spPr>
        <p:txBody>
          <a:bodyPr wrap="none" lIns="0" rIns="0" tIns="0" bIns="0" anchor="ctr">
            <a:spAutoFit/>
          </a:bodyPr>
          <a:lstStyle/>
          <a:p>
            <a:pPr algn="l"/>
            <a:r>
              <a:rPr sz="1100" b="0">
                <a:solidFill>
                  <a:srgbClr val="6C7A89"/>
                </a:solidFill>
                <a:latin typeface="Calibri"/>
              </a:rPr>
              <a:t>0%</a:t>
            </a:r>
          </a:p>
        </p:txBody>
      </p:sp>
      <p:sp>
        <p:nvSpPr>
          <p:cNvPr id="47" name="FMI Scale 1"/>
          <p:cNvSpPr txBox="1"/>
          <p:nvPr/>
        </p:nvSpPr>
        <p:spPr>
          <a:xfrm>
            <a:off x="7486650" y="3590159"/>
            <a:ext cx="419100" cy="146030"/>
          </a:xfrm>
          <a:prstGeom prst="rect">
            <a:avLst/>
          </a:prstGeom>
          <a:noFill/>
        </p:spPr>
        <p:txBody>
          <a:bodyPr wrap="none" lIns="0" rIns="0" tIns="0" bIns="0" anchor="ctr">
            <a:spAutoFit/>
          </a:bodyPr>
          <a:lstStyle/>
          <a:p>
            <a:pPr algn="l"/>
            <a:r>
              <a:rPr sz="1100" b="0">
                <a:solidFill>
                  <a:srgbClr val="6C7A89"/>
                </a:solidFill>
                <a:latin typeface="Calibri"/>
              </a:rPr>
              <a:t>10%</a:t>
            </a:r>
          </a:p>
        </p:txBody>
      </p:sp>
      <p:sp>
        <p:nvSpPr>
          <p:cNvPr id="48" name="FMI Scale 2"/>
          <p:cNvSpPr txBox="1"/>
          <p:nvPr/>
        </p:nvSpPr>
        <p:spPr>
          <a:xfrm>
            <a:off x="7486650" y="3361988"/>
            <a:ext cx="419100" cy="146030"/>
          </a:xfrm>
          <a:prstGeom prst="rect">
            <a:avLst/>
          </a:prstGeom>
          <a:noFill/>
        </p:spPr>
        <p:txBody>
          <a:bodyPr wrap="none" lIns="0" rIns="0" tIns="0" bIns="0" anchor="ctr">
            <a:spAutoFit/>
          </a:bodyPr>
          <a:lstStyle/>
          <a:p>
            <a:pPr algn="l"/>
            <a:r>
              <a:rPr sz="1100" b="0">
                <a:solidFill>
                  <a:srgbClr val="6C7A89"/>
                </a:solidFill>
                <a:latin typeface="Calibri"/>
              </a:rPr>
              <a:t>20%</a:t>
            </a:r>
          </a:p>
        </p:txBody>
      </p:sp>
      <p:sp>
        <p:nvSpPr>
          <p:cNvPr id="49" name="FMI Scale 3"/>
          <p:cNvSpPr txBox="1"/>
          <p:nvPr/>
        </p:nvSpPr>
        <p:spPr>
          <a:xfrm>
            <a:off x="7486650" y="3133817"/>
            <a:ext cx="419100" cy="146030"/>
          </a:xfrm>
          <a:prstGeom prst="rect">
            <a:avLst/>
          </a:prstGeom>
          <a:noFill/>
        </p:spPr>
        <p:txBody>
          <a:bodyPr wrap="none" lIns="0" rIns="0" tIns="0" bIns="0" anchor="ctr">
            <a:spAutoFit/>
          </a:bodyPr>
          <a:lstStyle/>
          <a:p>
            <a:pPr algn="l"/>
            <a:r>
              <a:rPr sz="1100" b="0">
                <a:solidFill>
                  <a:srgbClr val="6C7A89"/>
                </a:solidFill>
                <a:latin typeface="Calibri"/>
              </a:rPr>
              <a:t>30%</a:t>
            </a:r>
          </a:p>
        </p:txBody>
      </p:sp>
      <p:sp>
        <p:nvSpPr>
          <p:cNvPr id="50" name="FMI Scale 4"/>
          <p:cNvSpPr txBox="1"/>
          <p:nvPr/>
        </p:nvSpPr>
        <p:spPr>
          <a:xfrm>
            <a:off x="7486650" y="2905646"/>
            <a:ext cx="419100" cy="146030"/>
          </a:xfrm>
          <a:prstGeom prst="rect">
            <a:avLst/>
          </a:prstGeom>
          <a:noFill/>
        </p:spPr>
        <p:txBody>
          <a:bodyPr wrap="none" lIns="0" rIns="0" tIns="0" bIns="0" anchor="ctr">
            <a:spAutoFit/>
          </a:bodyPr>
          <a:lstStyle/>
          <a:p>
            <a:pPr algn="l"/>
            <a:r>
              <a:rPr sz="1100" b="0">
                <a:solidFill>
                  <a:srgbClr val="6C7A89"/>
                </a:solidFill>
                <a:latin typeface="Calibri"/>
              </a:rPr>
              <a:t>40%</a:t>
            </a:r>
          </a:p>
        </p:txBody>
      </p:sp>
      <p:sp>
        <p:nvSpPr>
          <p:cNvPr id="51" name="FMI Scale 5"/>
          <p:cNvSpPr txBox="1"/>
          <p:nvPr/>
        </p:nvSpPr>
        <p:spPr>
          <a:xfrm>
            <a:off x="7486650" y="2677474"/>
            <a:ext cx="419100" cy="146030"/>
          </a:xfrm>
          <a:prstGeom prst="rect">
            <a:avLst/>
          </a:prstGeom>
          <a:noFill/>
        </p:spPr>
        <p:txBody>
          <a:bodyPr wrap="none" lIns="0" rIns="0" tIns="0" bIns="0" anchor="ctr">
            <a:spAutoFit/>
          </a:bodyPr>
          <a:lstStyle/>
          <a:p>
            <a:pPr algn="l"/>
            <a:r>
              <a:rPr sz="1100" b="0">
                <a:solidFill>
                  <a:srgbClr val="6C7A89"/>
                </a:solidFill>
                <a:latin typeface="Calibri"/>
              </a:rPr>
              <a:t>50%</a:t>
            </a:r>
          </a:p>
        </p:txBody>
      </p:sp>
      <p:sp>
        <p:nvSpPr>
          <p:cNvPr id="52" name="FMI Scale 6"/>
          <p:cNvSpPr txBox="1"/>
          <p:nvPr/>
        </p:nvSpPr>
        <p:spPr>
          <a:xfrm>
            <a:off x="7486650" y="2449303"/>
            <a:ext cx="419100" cy="146030"/>
          </a:xfrm>
          <a:prstGeom prst="rect">
            <a:avLst/>
          </a:prstGeom>
          <a:noFill/>
        </p:spPr>
        <p:txBody>
          <a:bodyPr wrap="none" lIns="0" rIns="0" tIns="0" bIns="0" anchor="ctr">
            <a:spAutoFit/>
          </a:bodyPr>
          <a:lstStyle/>
          <a:p>
            <a:pPr algn="l"/>
            <a:r>
              <a:rPr sz="1100" b="0">
                <a:solidFill>
                  <a:srgbClr val="6C7A89"/>
                </a:solidFill>
                <a:latin typeface="Calibri"/>
              </a:rPr>
              <a:t>60%</a:t>
            </a:r>
          </a:p>
        </p:txBody>
      </p:sp>
      <p:sp>
        <p:nvSpPr>
          <p:cNvPr id="53" name="FMI Scale 7"/>
          <p:cNvSpPr txBox="1"/>
          <p:nvPr/>
        </p:nvSpPr>
        <p:spPr>
          <a:xfrm>
            <a:off x="7486650" y="2221132"/>
            <a:ext cx="419100" cy="146030"/>
          </a:xfrm>
          <a:prstGeom prst="rect">
            <a:avLst/>
          </a:prstGeom>
          <a:noFill/>
        </p:spPr>
        <p:txBody>
          <a:bodyPr wrap="none" lIns="0" rIns="0" tIns="0" bIns="0" anchor="ctr">
            <a:spAutoFit/>
          </a:bodyPr>
          <a:lstStyle/>
          <a:p>
            <a:pPr algn="l"/>
            <a:r>
              <a:rPr sz="1100" b="0">
                <a:solidFill>
                  <a:srgbClr val="6C7A89"/>
                </a:solidFill>
                <a:latin typeface="Calibri"/>
              </a:rPr>
              <a:t>70%</a:t>
            </a:r>
          </a:p>
        </p:txBody>
      </p:sp>
      <p:sp>
        <p:nvSpPr>
          <p:cNvPr id="54" name="FMI Scale 8"/>
          <p:cNvSpPr txBox="1"/>
          <p:nvPr/>
        </p:nvSpPr>
        <p:spPr>
          <a:xfrm>
            <a:off x="7486650" y="1992961"/>
            <a:ext cx="419100" cy="146030"/>
          </a:xfrm>
          <a:prstGeom prst="rect">
            <a:avLst/>
          </a:prstGeom>
          <a:noFill/>
        </p:spPr>
        <p:txBody>
          <a:bodyPr wrap="none" lIns="0" rIns="0" tIns="0" bIns="0" anchor="ctr">
            <a:spAutoFit/>
          </a:bodyPr>
          <a:lstStyle/>
          <a:p>
            <a:pPr algn="l"/>
            <a:r>
              <a:rPr sz="1100" b="0">
                <a:solidFill>
                  <a:srgbClr val="6C7A89"/>
                </a:solidFill>
                <a:latin typeface="Calibri"/>
              </a:rPr>
              <a:t>80%</a:t>
            </a:r>
          </a:p>
        </p:txBody>
      </p:sp>
      <p:sp>
        <p:nvSpPr>
          <p:cNvPr id="55" name="FMI Scale 9"/>
          <p:cNvSpPr txBox="1"/>
          <p:nvPr/>
        </p:nvSpPr>
        <p:spPr>
          <a:xfrm>
            <a:off x="7486650" y="1764790"/>
            <a:ext cx="419100" cy="146030"/>
          </a:xfrm>
          <a:prstGeom prst="rect">
            <a:avLst/>
          </a:prstGeom>
          <a:noFill/>
        </p:spPr>
        <p:txBody>
          <a:bodyPr wrap="none" lIns="0" rIns="0" tIns="0" bIns="0" anchor="ctr">
            <a:spAutoFit/>
          </a:bodyPr>
          <a:lstStyle/>
          <a:p>
            <a:pPr algn="l"/>
            <a:r>
              <a:rPr sz="1100" b="0">
                <a:solidFill>
                  <a:srgbClr val="6C7A89"/>
                </a:solidFill>
                <a:latin typeface="Calibri"/>
              </a:rPr>
              <a:t>90%</a:t>
            </a:r>
          </a:p>
        </p:txBody>
      </p:sp>
      <p:sp>
        <p:nvSpPr>
          <p:cNvPr id="56" name="FMI Scale 10"/>
          <p:cNvSpPr txBox="1"/>
          <p:nvPr/>
        </p:nvSpPr>
        <p:spPr>
          <a:xfrm>
            <a:off x="7486650" y="1536618"/>
            <a:ext cx="419100" cy="146030"/>
          </a:xfrm>
          <a:prstGeom prst="rect">
            <a:avLst/>
          </a:prstGeom>
          <a:noFill/>
        </p:spPr>
        <p:txBody>
          <a:bodyPr wrap="none" lIns="0" rIns="0" tIns="0" bIns="0" anchor="ctr">
            <a:spAutoFit/>
          </a:bodyPr>
          <a:lstStyle/>
          <a:p>
            <a:pPr algn="l"/>
            <a:r>
              <a:rPr sz="1100" b="0">
                <a:solidFill>
                  <a:srgbClr val="6C7A89"/>
                </a:solidFill>
                <a:latin typeface="Calibri"/>
              </a:rPr>
              <a:t>100%</a:t>
            </a:r>
          </a:p>
        </p:txBody>
      </p:sp>
      <p:cxnSp>
        <p:nvCxnSpPr>
          <p:cNvPr id="57" name="Connector 56"/>
          <p:cNvCxnSpPr/>
          <p:nvPr/>
        </p:nvCxnSpPr>
        <p:spPr>
          <a:xfrm>
            <a:off x="7429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180975" y="1080276"/>
            <a:ext cx="7038975" cy="219044"/>
          </a:xfrm>
          <a:prstGeom prst="rect">
            <a:avLst/>
          </a:prstGeom>
          <a:noFill/>
        </p:spPr>
        <p:txBody>
          <a:bodyPr wrap="square" lIns="28575" rIns="28575" tIns="9525" bIns="9525" anchor="ctr">
            <a:spAutoFit/>
          </a:bodyPr>
          <a:lstStyle/>
          <a:p>
            <a:pPr algn="l"/>
            <a:r>
              <a:rPr sz="1200" b="1">
                <a:solidFill>
                  <a:srgbClr val="0B2E4A"/>
                </a:solidFill>
                <a:latin typeface="Calibri"/>
              </a:rPr>
              <a:t>Demand-side Factors</a:t>
            </a:r>
          </a:p>
        </p:txBody>
      </p:sp>
      <p:cxnSp>
        <p:nvCxnSpPr>
          <p:cNvPr id="59" name="Connector 58"/>
          <p:cNvCxnSpPr/>
          <p:nvPr/>
        </p:nvCxnSpPr>
        <p:spPr>
          <a:xfrm>
            <a:off x="180975" y="1335828"/>
            <a:ext cx="70389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180975" y="1427096"/>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1" name="TextBox 60"/>
          <p:cNvSpPr txBox="1"/>
          <p:nvPr/>
        </p:nvSpPr>
        <p:spPr>
          <a:xfrm>
            <a:off x="180975" y="1883439"/>
            <a:ext cx="70389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2" name="TextBox 61"/>
          <p:cNvSpPr txBox="1"/>
          <p:nvPr/>
        </p:nvSpPr>
        <p:spPr>
          <a:xfrm>
            <a:off x="180975" y="2157244"/>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3" name="TextBox 62"/>
          <p:cNvSpPr txBox="1"/>
          <p:nvPr/>
        </p:nvSpPr>
        <p:spPr>
          <a:xfrm>
            <a:off x="180975" y="2613586"/>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4" name="TextBox 63"/>
          <p:cNvSpPr txBox="1"/>
          <p:nvPr/>
        </p:nvSpPr>
        <p:spPr>
          <a:xfrm>
            <a:off x="180975" y="3069929"/>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5" name="TextBox 64"/>
          <p:cNvSpPr txBox="1"/>
          <p:nvPr/>
        </p:nvSpPr>
        <p:spPr>
          <a:xfrm>
            <a:off x="180975" y="3526271"/>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Note: the dynamics framing is indicative factors, impact ratings and narrative are generated from the loaded dataset's own values.</a:t>
            </a:r>
          </a:p>
        </p:txBody>
      </p:sp>
      <p:sp>
        <p:nvSpPr>
          <p:cNvPr id="66" name="TextBox 6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7" name="TextBox 66"/>
          <p:cNvSpPr txBox="1"/>
          <p:nvPr/>
        </p:nvSpPr>
        <p:spPr>
          <a:xfrm>
            <a:off x="7534275" y="1322601"/>
            <a:ext cx="943988" cy="173278"/>
          </a:xfrm>
          <a:prstGeom prst="rect">
            <a:avLst/>
          </a:prstGeom>
          <a:noFill/>
        </p:spPr>
        <p:txBody>
          <a:bodyPr wrap="none" lIns="0" rIns="0" tIns="0" bIns="0">
            <a:spAutoFit/>
          </a:bodyPr>
          <a:lstStyle/>
          <a:p>
            <a:r>
              <a:rPr sz="1011" b="0">
                <a:solidFill>
                  <a:srgbClr val="2E2E2E"/>
                </a:solidFill>
                <a:latin typeface="Calibri"/>
              </a:rPr>
              <a:t>Demand Growth</a:t>
            </a:r>
          </a:p>
        </p:txBody>
      </p:sp>
      <p:pic>
        <p:nvPicPr>
          <p:cNvPr id="68" name="Picture 67" descr="lock.png"/>
          <p:cNvPicPr>
            <a:picLocks noChangeAspect="1"/>
          </p:cNvPicPr>
          <p:nvPr/>
        </p:nvPicPr>
        <p:blipFill>
          <a:blip r:embed="rId4"/>
          <a:stretch>
            <a:fillRect/>
          </a:stretch>
        </p:blipFill>
        <p:spPr>
          <a:xfrm>
            <a:off x="8424374" y="1313604"/>
            <a:ext cx="118403" cy="172222"/>
          </a:xfrm>
          <a:prstGeom prst="rect">
            <a:avLst/>
          </a:prstGeom>
        </p:spPr>
      </p:pic>
      <p:sp>
        <p:nvSpPr>
          <p:cNvPr id="69" name="TextBox 68"/>
          <p:cNvSpPr txBox="1"/>
          <p:nvPr/>
        </p:nvSpPr>
        <p:spPr>
          <a:xfrm>
            <a:off x="8549119" y="1561215"/>
            <a:ext cx="903573" cy="173278"/>
          </a:xfrm>
          <a:prstGeom prst="rect">
            <a:avLst/>
          </a:prstGeom>
          <a:noFill/>
        </p:spPr>
        <p:txBody>
          <a:bodyPr wrap="none" lIns="0" rIns="0" tIns="0" bIns="0">
            <a:spAutoFit/>
          </a:bodyPr>
          <a:lstStyle/>
          <a:p>
            <a:r>
              <a:rPr sz="1011" b="0">
                <a:solidFill>
                  <a:srgbClr val="2E2E2E"/>
                </a:solidFill>
                <a:latin typeface="Calibri"/>
              </a:rPr>
              <a:t>Premiumisation</a:t>
            </a:r>
          </a:p>
        </p:txBody>
      </p:sp>
      <p:pic>
        <p:nvPicPr>
          <p:cNvPr id="70" name="Picture 69" descr="lock.png"/>
          <p:cNvPicPr>
            <a:picLocks noChangeAspect="1"/>
          </p:cNvPicPr>
          <p:nvPr/>
        </p:nvPicPr>
        <p:blipFill>
          <a:blip r:embed="rId4"/>
          <a:stretch>
            <a:fillRect/>
          </a:stretch>
        </p:blipFill>
        <p:spPr>
          <a:xfrm>
            <a:off x="9398803" y="1552218"/>
            <a:ext cx="118403" cy="172222"/>
          </a:xfrm>
          <a:prstGeom prst="rect">
            <a:avLst/>
          </a:prstGeom>
        </p:spPr>
      </p:pic>
      <p:sp>
        <p:nvSpPr>
          <p:cNvPr id="71" name="TextBox 70"/>
          <p:cNvSpPr txBox="1"/>
          <p:nvPr/>
        </p:nvSpPr>
        <p:spPr>
          <a:xfrm>
            <a:off x="9424068" y="2311939"/>
            <a:ext cx="765761" cy="173278"/>
          </a:xfrm>
          <a:prstGeom prst="rect">
            <a:avLst/>
          </a:prstGeom>
          <a:noFill/>
        </p:spPr>
        <p:txBody>
          <a:bodyPr wrap="none" lIns="0" rIns="0" tIns="0" bIns="0">
            <a:spAutoFit/>
          </a:bodyPr>
          <a:lstStyle/>
          <a:p>
            <a:r>
              <a:rPr sz="1011" b="0">
                <a:solidFill>
                  <a:srgbClr val="2E2E2E"/>
                </a:solidFill>
                <a:latin typeface="Calibri"/>
              </a:rPr>
              <a:t>App. Breadth</a:t>
            </a:r>
          </a:p>
        </p:txBody>
      </p:sp>
      <p:pic>
        <p:nvPicPr>
          <p:cNvPr id="72" name="Picture 71" descr="lock.png"/>
          <p:cNvPicPr>
            <a:picLocks noChangeAspect="1"/>
          </p:cNvPicPr>
          <p:nvPr/>
        </p:nvPicPr>
        <p:blipFill>
          <a:blip r:embed="rId4"/>
          <a:stretch>
            <a:fillRect/>
          </a:stretch>
        </p:blipFill>
        <p:spPr>
          <a:xfrm>
            <a:off x="10135940" y="2302942"/>
            <a:ext cx="118403" cy="172222"/>
          </a:xfrm>
          <a:prstGeom prst="rect">
            <a:avLst/>
          </a:prstGeom>
        </p:spPr>
      </p:pic>
      <p:sp>
        <p:nvSpPr>
          <p:cNvPr id="73" name="TextBox 72"/>
          <p:cNvSpPr txBox="1"/>
          <p:nvPr/>
        </p:nvSpPr>
        <p:spPr>
          <a:xfrm>
            <a:off x="9909628" y="3278069"/>
            <a:ext cx="791114" cy="173278"/>
          </a:xfrm>
          <a:prstGeom prst="rect">
            <a:avLst/>
          </a:prstGeom>
          <a:noFill/>
        </p:spPr>
        <p:txBody>
          <a:bodyPr wrap="none" lIns="0" rIns="0" tIns="0" bIns="0">
            <a:spAutoFit/>
          </a:bodyPr>
          <a:lstStyle/>
          <a:p>
            <a:r>
              <a:rPr sz="1011" b="0">
                <a:solidFill>
                  <a:srgbClr val="2E2E2E"/>
                </a:solidFill>
                <a:latin typeface="Calibri"/>
              </a:rPr>
              <a:t>Emerging Pull</a:t>
            </a:r>
          </a:p>
        </p:txBody>
      </p:sp>
      <p:pic>
        <p:nvPicPr>
          <p:cNvPr id="74" name="Picture 73" descr="lock.png"/>
          <p:cNvPicPr>
            <a:picLocks noChangeAspect="1"/>
          </p:cNvPicPr>
          <p:nvPr/>
        </p:nvPicPr>
        <p:blipFill>
          <a:blip r:embed="rId4"/>
          <a:stretch>
            <a:fillRect/>
          </a:stretch>
        </p:blipFill>
        <p:spPr>
          <a:xfrm>
            <a:off x="10646855" y="3269072"/>
            <a:ext cx="118403" cy="172222"/>
          </a:xfrm>
          <a:prstGeom prst="rect">
            <a:avLst/>
          </a:prstGeom>
        </p:spPr>
      </p:pic>
      <p:sp>
        <p:nvSpPr>
          <p:cNvPr id="75" name="TextBox 74"/>
          <p:cNvSpPr txBox="1"/>
          <p:nvPr/>
        </p:nvSpPr>
        <p:spPr>
          <a:xfrm>
            <a:off x="9909628" y="4350392"/>
            <a:ext cx="1135267" cy="173278"/>
          </a:xfrm>
          <a:prstGeom prst="rect">
            <a:avLst/>
          </a:prstGeom>
          <a:noFill/>
        </p:spPr>
        <p:txBody>
          <a:bodyPr wrap="none" lIns="0" rIns="0" tIns="0" bIns="0">
            <a:spAutoFit/>
          </a:bodyPr>
          <a:lstStyle/>
          <a:p>
            <a:r>
              <a:rPr sz="1011" b="0">
                <a:solidFill>
                  <a:srgbClr val="2E2E2E"/>
                </a:solidFill>
                <a:latin typeface="Calibri"/>
              </a:rPr>
              <a:t>Volume Momentum</a:t>
            </a:r>
          </a:p>
        </p:txBody>
      </p:sp>
      <p:pic>
        <p:nvPicPr>
          <p:cNvPr id="76" name="Picture 75" descr="lock.png"/>
          <p:cNvPicPr>
            <a:picLocks noChangeAspect="1"/>
          </p:cNvPicPr>
          <p:nvPr/>
        </p:nvPicPr>
        <p:blipFill>
          <a:blip r:embed="rId4"/>
          <a:stretch>
            <a:fillRect/>
          </a:stretch>
        </p:blipFill>
        <p:spPr>
          <a:xfrm>
            <a:off x="10991008" y="4341395"/>
            <a:ext cx="118403" cy="172222"/>
          </a:xfrm>
          <a:prstGeom prst="rect">
            <a:avLst/>
          </a:prstGeom>
        </p:spPr>
      </p:pic>
      <p:sp>
        <p:nvSpPr>
          <p:cNvPr id="77" name="TextBox 76"/>
          <p:cNvSpPr txBox="1"/>
          <p:nvPr/>
        </p:nvSpPr>
        <p:spPr>
          <a:xfrm>
            <a:off x="9424068" y="5316521"/>
            <a:ext cx="1032097" cy="173278"/>
          </a:xfrm>
          <a:prstGeom prst="rect">
            <a:avLst/>
          </a:prstGeom>
          <a:noFill/>
        </p:spPr>
        <p:txBody>
          <a:bodyPr wrap="none" lIns="0" rIns="0" tIns="0" bIns="0">
            <a:spAutoFit/>
          </a:bodyPr>
          <a:lstStyle/>
          <a:p>
            <a:r>
              <a:rPr sz="1011" b="0">
                <a:solidFill>
                  <a:srgbClr val="2E2E2E"/>
                </a:solidFill>
                <a:latin typeface="Calibri"/>
              </a:rPr>
              <a:t>Category Maturity</a:t>
            </a:r>
          </a:p>
        </p:txBody>
      </p:sp>
      <p:pic>
        <p:nvPicPr>
          <p:cNvPr id="78" name="Picture 77" descr="lock.png"/>
          <p:cNvPicPr>
            <a:picLocks noChangeAspect="1"/>
          </p:cNvPicPr>
          <p:nvPr/>
        </p:nvPicPr>
        <p:blipFill>
          <a:blip r:embed="rId4"/>
          <a:stretch>
            <a:fillRect/>
          </a:stretch>
        </p:blipFill>
        <p:spPr>
          <a:xfrm>
            <a:off x="10402276" y="5307524"/>
            <a:ext cx="118403" cy="172222"/>
          </a:xfrm>
          <a:prstGeom prst="rect">
            <a:avLst/>
          </a:prstGeom>
        </p:spPr>
      </p:pic>
      <p:sp>
        <p:nvSpPr>
          <p:cNvPr id="79" name="TextBox 78"/>
          <p:cNvSpPr txBox="1"/>
          <p:nvPr/>
        </p:nvSpPr>
        <p:spPr>
          <a:xfrm>
            <a:off x="8549119" y="6067245"/>
            <a:ext cx="911857" cy="173278"/>
          </a:xfrm>
          <a:prstGeom prst="rect">
            <a:avLst/>
          </a:prstGeom>
          <a:noFill/>
        </p:spPr>
        <p:txBody>
          <a:bodyPr wrap="none" lIns="0" rIns="0" tIns="0" bIns="0">
            <a:spAutoFit/>
          </a:bodyPr>
          <a:lstStyle/>
          <a:p>
            <a:r>
              <a:rPr sz="1011" b="0">
                <a:solidFill>
                  <a:srgbClr val="2E2E2E"/>
                </a:solidFill>
                <a:latin typeface="Calibri"/>
              </a:rPr>
              <a:t>Adoption Depth</a:t>
            </a:r>
          </a:p>
        </p:txBody>
      </p:sp>
      <p:pic>
        <p:nvPicPr>
          <p:cNvPr id="80" name="Picture 79" descr="lock.png"/>
          <p:cNvPicPr>
            <a:picLocks noChangeAspect="1"/>
          </p:cNvPicPr>
          <p:nvPr/>
        </p:nvPicPr>
        <p:blipFill>
          <a:blip r:embed="rId4"/>
          <a:stretch>
            <a:fillRect/>
          </a:stretch>
        </p:blipFill>
        <p:spPr>
          <a:xfrm>
            <a:off x="9407087" y="6058248"/>
            <a:ext cx="118403" cy="172222"/>
          </a:xfrm>
          <a:prstGeom prst="rect">
            <a:avLst/>
          </a:prstGeom>
        </p:spPr>
      </p:pic>
      <p:sp>
        <p:nvSpPr>
          <p:cNvPr id="81" name="TextBox 80"/>
          <p:cNvSpPr txBox="1"/>
          <p:nvPr/>
        </p:nvSpPr>
        <p:spPr>
          <a:xfrm>
            <a:off x="7534275" y="6305860"/>
            <a:ext cx="955786" cy="173278"/>
          </a:xfrm>
          <a:prstGeom prst="rect">
            <a:avLst/>
          </a:prstGeom>
          <a:noFill/>
        </p:spPr>
        <p:txBody>
          <a:bodyPr wrap="none" lIns="0" rIns="0" tIns="0" bIns="0">
            <a:spAutoFit/>
          </a:bodyPr>
          <a:lstStyle/>
          <a:p>
            <a:r>
              <a:rPr sz="1011" b="0">
                <a:solidFill>
                  <a:srgbClr val="2E2E2E"/>
                </a:solidFill>
                <a:latin typeface="Calibri"/>
              </a:rPr>
              <a:t>Consumer Reach</a:t>
            </a:r>
          </a:p>
        </p:txBody>
      </p:sp>
      <p:pic>
        <p:nvPicPr>
          <p:cNvPr id="82" name="Picture 81" descr="lock.png"/>
          <p:cNvPicPr>
            <a:picLocks noChangeAspect="1"/>
          </p:cNvPicPr>
          <p:nvPr/>
        </p:nvPicPr>
        <p:blipFill>
          <a:blip r:embed="rId4"/>
          <a:stretch>
            <a:fillRect/>
          </a:stretch>
        </p:blipFill>
        <p:spPr>
          <a:xfrm>
            <a:off x="8436172" y="6296863"/>
            <a:ext cx="118403" cy="172222"/>
          </a:xfrm>
          <a:prstGeom prst="rect">
            <a:avLst/>
          </a:prstGeom>
        </p:spPr>
      </p:pic>
      <p:sp>
        <p:nvSpPr>
          <p:cNvPr id="83" name="TextBox 82"/>
          <p:cNvSpPr txBox="1"/>
          <p:nvPr/>
        </p:nvSpPr>
        <p:spPr>
          <a:xfrm>
            <a:off x="209550" y="1496754"/>
            <a:ext cx="2982069" cy="186689"/>
          </a:xfrm>
          <a:prstGeom prst="rect">
            <a:avLst/>
          </a:prstGeom>
          <a:noFill/>
        </p:spPr>
        <p:txBody>
          <a:bodyPr wrap="none" lIns="0" rIns="0" tIns="0" bIns="0">
            <a:spAutoFit/>
          </a:bodyPr>
          <a:lstStyle/>
          <a:p>
            <a:r>
              <a:rPr sz="1100" b="0">
                <a:solidFill>
                  <a:srgbClr val="2E2E2E"/>
                </a:solidFill>
                <a:latin typeface="Calibri"/>
              </a:rPr>
              <a:t>▪ Demand-side conditions are led by App. Breadth (</a:t>
            </a:r>
          </a:p>
        </p:txBody>
      </p:sp>
      <p:pic>
        <p:nvPicPr>
          <p:cNvPr id="84" name="Picture 83" descr="lock.png"/>
          <p:cNvPicPr>
            <a:picLocks noChangeAspect="1"/>
          </p:cNvPicPr>
          <p:nvPr/>
        </p:nvPicPr>
        <p:blipFill>
          <a:blip r:embed="rId4"/>
          <a:stretch>
            <a:fillRect/>
          </a:stretch>
        </p:blipFill>
        <p:spPr>
          <a:xfrm>
            <a:off x="3139670" y="1486975"/>
            <a:ext cx="128699" cy="187198"/>
          </a:xfrm>
          <a:prstGeom prst="rect">
            <a:avLst/>
          </a:prstGeom>
        </p:spPr>
      </p:pic>
      <p:sp>
        <p:nvSpPr>
          <p:cNvPr id="85" name="TextBox 84"/>
          <p:cNvSpPr txBox="1"/>
          <p:nvPr/>
        </p:nvSpPr>
        <p:spPr>
          <a:xfrm>
            <a:off x="3307166" y="1496754"/>
            <a:ext cx="1410989" cy="186689"/>
          </a:xfrm>
          <a:prstGeom prst="rect">
            <a:avLst/>
          </a:prstGeom>
          <a:noFill/>
        </p:spPr>
        <p:txBody>
          <a:bodyPr wrap="none" lIns="0" rIns="0" tIns="0" bIns="0">
            <a:spAutoFit/>
          </a:bodyPr>
          <a:lstStyle/>
          <a:p>
            <a:r>
              <a:rPr sz="1100" b="0">
                <a:solidFill>
                  <a:srgbClr val="2E2E2E"/>
                </a:solidFill>
                <a:latin typeface="Calibri"/>
              </a:rPr>
              <a:t>/10), Consumer Reach (</a:t>
            </a:r>
          </a:p>
        </p:txBody>
      </p:sp>
      <p:pic>
        <p:nvPicPr>
          <p:cNvPr id="86" name="Picture 85" descr="lock.png"/>
          <p:cNvPicPr>
            <a:picLocks noChangeAspect="1"/>
          </p:cNvPicPr>
          <p:nvPr/>
        </p:nvPicPr>
        <p:blipFill>
          <a:blip r:embed="rId4"/>
          <a:stretch>
            <a:fillRect/>
          </a:stretch>
        </p:blipFill>
        <p:spPr>
          <a:xfrm>
            <a:off x="4666207" y="1486975"/>
            <a:ext cx="128699" cy="187198"/>
          </a:xfrm>
          <a:prstGeom prst="rect">
            <a:avLst/>
          </a:prstGeom>
        </p:spPr>
      </p:pic>
      <p:sp>
        <p:nvSpPr>
          <p:cNvPr id="87" name="TextBox 86"/>
          <p:cNvSpPr txBox="1"/>
          <p:nvPr/>
        </p:nvSpPr>
        <p:spPr>
          <a:xfrm>
            <a:off x="4833703" y="1496754"/>
            <a:ext cx="1606078" cy="186689"/>
          </a:xfrm>
          <a:prstGeom prst="rect">
            <a:avLst/>
          </a:prstGeom>
          <a:noFill/>
        </p:spPr>
        <p:txBody>
          <a:bodyPr wrap="none" lIns="0" rIns="0" tIns="0" bIns="0">
            <a:spAutoFit/>
          </a:bodyPr>
          <a:lstStyle/>
          <a:p>
            <a:r>
              <a:rPr sz="1100" b="0">
                <a:solidFill>
                  <a:srgbClr val="2E2E2E"/>
                </a:solidFill>
                <a:latin typeface="Calibri"/>
              </a:rPr>
              <a:t>/10), Volume Momentum (</a:t>
            </a:r>
          </a:p>
        </p:txBody>
      </p:sp>
      <p:pic>
        <p:nvPicPr>
          <p:cNvPr id="88" name="Picture 87" descr="lock.png"/>
          <p:cNvPicPr>
            <a:picLocks noChangeAspect="1"/>
          </p:cNvPicPr>
          <p:nvPr/>
        </p:nvPicPr>
        <p:blipFill>
          <a:blip r:embed="rId4"/>
          <a:stretch>
            <a:fillRect/>
          </a:stretch>
        </p:blipFill>
        <p:spPr>
          <a:xfrm>
            <a:off x="6387834" y="1486975"/>
            <a:ext cx="128699" cy="187198"/>
          </a:xfrm>
          <a:prstGeom prst="rect">
            <a:avLst/>
          </a:prstGeom>
        </p:spPr>
      </p:pic>
      <p:sp>
        <p:nvSpPr>
          <p:cNvPr id="89" name="TextBox 88"/>
          <p:cNvSpPr txBox="1"/>
          <p:nvPr/>
        </p:nvSpPr>
        <p:spPr>
          <a:xfrm>
            <a:off x="6555329" y="1496754"/>
            <a:ext cx="493117" cy="186689"/>
          </a:xfrm>
          <a:prstGeom prst="rect">
            <a:avLst/>
          </a:prstGeom>
          <a:noFill/>
        </p:spPr>
        <p:txBody>
          <a:bodyPr wrap="none" lIns="0" rIns="0" tIns="0" bIns="0">
            <a:spAutoFit/>
          </a:bodyPr>
          <a:lstStyle/>
          <a:p>
            <a:r>
              <a:rPr sz="1100" b="0">
                <a:solidFill>
                  <a:srgbClr val="2E2E2E"/>
                </a:solidFill>
                <a:latin typeface="Calibri"/>
              </a:rPr>
              <a:t>/10) on</a:t>
            </a:r>
          </a:p>
        </p:txBody>
      </p:sp>
      <p:sp>
        <p:nvSpPr>
          <p:cNvPr id="90" name="TextBox 89"/>
          <p:cNvSpPr txBox="1"/>
          <p:nvPr/>
        </p:nvSpPr>
        <p:spPr>
          <a:xfrm>
            <a:off x="209550" y="1664394"/>
            <a:ext cx="2862560" cy="186689"/>
          </a:xfrm>
          <a:prstGeom prst="rect">
            <a:avLst/>
          </a:prstGeom>
          <a:noFill/>
        </p:spPr>
        <p:txBody>
          <a:bodyPr wrap="none" lIns="0" rIns="0" tIns="0" bIns="0">
            <a:spAutoFit/>
          </a:bodyPr>
          <a:lstStyle/>
          <a:p>
            <a:r>
              <a:rPr sz="1100" b="0">
                <a:solidFill>
                  <a:srgbClr val="2E2E2E"/>
                </a:solidFill>
                <a:latin typeface="Calibri"/>
              </a:rPr>
              <a:t>a 0-10 scale scored from the global dataset itself.</a:t>
            </a:r>
          </a:p>
        </p:txBody>
      </p:sp>
      <p:sp>
        <p:nvSpPr>
          <p:cNvPr id="91" name="TextBox 90"/>
          <p:cNvSpPr txBox="1"/>
          <p:nvPr/>
        </p:nvSpPr>
        <p:spPr>
          <a:xfrm>
            <a:off x="209550" y="1945648"/>
            <a:ext cx="998438" cy="186689"/>
          </a:xfrm>
          <a:prstGeom prst="rect">
            <a:avLst/>
          </a:prstGeom>
          <a:noFill/>
        </p:spPr>
        <p:txBody>
          <a:bodyPr wrap="none" lIns="0" rIns="0" tIns="0" bIns="0">
            <a:spAutoFit/>
          </a:bodyPr>
          <a:lstStyle/>
          <a:p>
            <a:r>
              <a:rPr sz="1100" b="0">
                <a:solidFill>
                  <a:srgbClr val="2E2E2E"/>
                </a:solidFill>
                <a:latin typeface="Calibri"/>
              </a:rPr>
              <a:t>▪ Value grows at</a:t>
            </a:r>
          </a:p>
        </p:txBody>
      </p:sp>
      <p:pic>
        <p:nvPicPr>
          <p:cNvPr id="92" name="Picture 91" descr="lock.png"/>
          <p:cNvPicPr>
            <a:picLocks noChangeAspect="1"/>
          </p:cNvPicPr>
          <p:nvPr/>
        </p:nvPicPr>
        <p:blipFill>
          <a:blip r:embed="rId4"/>
          <a:stretch>
            <a:fillRect/>
          </a:stretch>
        </p:blipFill>
        <p:spPr>
          <a:xfrm>
            <a:off x="1156039" y="1935869"/>
            <a:ext cx="128699" cy="187198"/>
          </a:xfrm>
          <a:prstGeom prst="rect">
            <a:avLst/>
          </a:prstGeom>
        </p:spPr>
      </p:pic>
      <p:sp>
        <p:nvSpPr>
          <p:cNvPr id="93" name="TextBox 92"/>
          <p:cNvSpPr txBox="1"/>
          <p:nvPr/>
        </p:nvSpPr>
        <p:spPr>
          <a:xfrm>
            <a:off x="1323535" y="1945648"/>
            <a:ext cx="1083295" cy="186689"/>
          </a:xfrm>
          <a:prstGeom prst="rect">
            <a:avLst/>
          </a:prstGeom>
          <a:noFill/>
        </p:spPr>
        <p:txBody>
          <a:bodyPr wrap="none" lIns="0" rIns="0" tIns="0" bIns="0">
            <a:spAutoFit/>
          </a:bodyPr>
          <a:lstStyle/>
          <a:p>
            <a:r>
              <a:rPr sz="1100" b="0">
                <a:solidFill>
                  <a:srgbClr val="2E2E2E"/>
                </a:solidFill>
                <a:latin typeface="Calibri"/>
              </a:rPr>
              <a:t>against volume at</a:t>
            </a:r>
          </a:p>
        </p:txBody>
      </p:sp>
      <p:pic>
        <p:nvPicPr>
          <p:cNvPr id="94" name="Picture 93" descr="lock.png"/>
          <p:cNvPicPr>
            <a:picLocks noChangeAspect="1"/>
          </p:cNvPicPr>
          <p:nvPr/>
        </p:nvPicPr>
        <p:blipFill>
          <a:blip r:embed="rId4"/>
          <a:stretch>
            <a:fillRect/>
          </a:stretch>
        </p:blipFill>
        <p:spPr>
          <a:xfrm>
            <a:off x="2354882" y="1935869"/>
            <a:ext cx="128699" cy="187198"/>
          </a:xfrm>
          <a:prstGeom prst="rect">
            <a:avLst/>
          </a:prstGeom>
        </p:spPr>
      </p:pic>
      <p:sp>
        <p:nvSpPr>
          <p:cNvPr id="95" name="TextBox 94"/>
          <p:cNvSpPr txBox="1"/>
          <p:nvPr/>
        </p:nvSpPr>
        <p:spPr>
          <a:xfrm>
            <a:off x="2522378" y="1945648"/>
            <a:ext cx="2230090" cy="186689"/>
          </a:xfrm>
          <a:prstGeom prst="rect">
            <a:avLst/>
          </a:prstGeom>
          <a:noFill/>
        </p:spPr>
        <p:txBody>
          <a:bodyPr wrap="none" lIns="0" rIns="0" tIns="0" bIns="0">
            <a:spAutoFit/>
          </a:bodyPr>
          <a:lstStyle/>
          <a:p>
            <a:r>
              <a:rPr sz="1100" b="0">
                <a:solidFill>
                  <a:srgbClr val="2E2E2E"/>
                </a:solidFill>
                <a:latin typeface="Calibri"/>
              </a:rPr>
              <a:t>a premiumising market through 2036.</a:t>
            </a:r>
          </a:p>
        </p:txBody>
      </p:sp>
      <p:sp>
        <p:nvSpPr>
          <p:cNvPr id="96" name="TextBox 95"/>
          <p:cNvSpPr txBox="1"/>
          <p:nvPr/>
        </p:nvSpPr>
        <p:spPr>
          <a:xfrm>
            <a:off x="209550" y="2226902"/>
            <a:ext cx="2367880" cy="186689"/>
          </a:xfrm>
          <a:prstGeom prst="rect">
            <a:avLst/>
          </a:prstGeom>
          <a:noFill/>
        </p:spPr>
        <p:txBody>
          <a:bodyPr wrap="none" lIns="0" rIns="0" tIns="0" bIns="0">
            <a:spAutoFit/>
          </a:bodyPr>
          <a:lstStyle/>
          <a:p>
            <a:r>
              <a:rPr sz="1100" b="0">
                <a:solidFill>
                  <a:srgbClr val="2E2E2E"/>
                </a:solidFill>
                <a:latin typeface="Calibri"/>
              </a:rPr>
              <a:t>▪ 'Other Polymer-Based Coatings' carries</a:t>
            </a:r>
          </a:p>
        </p:txBody>
      </p:sp>
      <p:pic>
        <p:nvPicPr>
          <p:cNvPr id="97" name="Picture 96" descr="lock.png"/>
          <p:cNvPicPr>
            <a:picLocks noChangeAspect="1"/>
          </p:cNvPicPr>
          <p:nvPr/>
        </p:nvPicPr>
        <p:blipFill>
          <a:blip r:embed="rId4"/>
          <a:stretch>
            <a:fillRect/>
          </a:stretch>
        </p:blipFill>
        <p:spPr>
          <a:xfrm>
            <a:off x="2525481" y="2217123"/>
            <a:ext cx="128699" cy="187198"/>
          </a:xfrm>
          <a:prstGeom prst="rect">
            <a:avLst/>
          </a:prstGeom>
        </p:spPr>
      </p:pic>
      <p:sp>
        <p:nvSpPr>
          <p:cNvPr id="98" name="TextBox 97"/>
          <p:cNvSpPr txBox="1"/>
          <p:nvPr/>
        </p:nvSpPr>
        <p:spPr>
          <a:xfrm>
            <a:off x="2692977" y="2226902"/>
            <a:ext cx="4223270" cy="186689"/>
          </a:xfrm>
          <a:prstGeom prst="rect">
            <a:avLst/>
          </a:prstGeom>
          <a:noFill/>
        </p:spPr>
        <p:txBody>
          <a:bodyPr wrap="none" lIns="0" rIns="0" tIns="0" bIns="0">
            <a:spAutoFit/>
          </a:bodyPr>
          <a:lstStyle/>
          <a:p>
            <a:r>
              <a:rPr sz="1100" b="0">
                <a:solidFill>
                  <a:srgbClr val="2E2E2E"/>
                </a:solidFill>
                <a:latin typeface="Calibri"/>
              </a:rPr>
              <a:t>of product type / chemistry demand while 'Silicone Waterproof Coatings'</a:t>
            </a:r>
          </a:p>
        </p:txBody>
      </p:sp>
      <p:sp>
        <p:nvSpPr>
          <p:cNvPr id="99" name="TextBox 98"/>
          <p:cNvSpPr txBox="1"/>
          <p:nvPr/>
        </p:nvSpPr>
        <p:spPr>
          <a:xfrm>
            <a:off x="209550" y="2394542"/>
            <a:ext cx="1301576" cy="186689"/>
          </a:xfrm>
          <a:prstGeom prst="rect">
            <a:avLst/>
          </a:prstGeom>
          <a:noFill/>
        </p:spPr>
        <p:txBody>
          <a:bodyPr wrap="none" lIns="0" rIns="0" tIns="0" bIns="0">
            <a:spAutoFit/>
          </a:bodyPr>
          <a:lstStyle/>
          <a:p>
            <a:r>
              <a:rPr sz="1100" b="0">
                <a:solidFill>
                  <a:srgbClr val="2E2E2E"/>
                </a:solidFill>
                <a:latin typeface="Calibri"/>
              </a:rPr>
              <a:t>compounds fastest at</a:t>
            </a:r>
          </a:p>
        </p:txBody>
      </p:sp>
      <p:pic>
        <p:nvPicPr>
          <p:cNvPr id="100" name="Picture 99" descr="lock.png"/>
          <p:cNvPicPr>
            <a:picLocks noChangeAspect="1"/>
          </p:cNvPicPr>
          <p:nvPr/>
        </p:nvPicPr>
        <p:blipFill>
          <a:blip r:embed="rId4"/>
          <a:stretch>
            <a:fillRect/>
          </a:stretch>
        </p:blipFill>
        <p:spPr>
          <a:xfrm>
            <a:off x="1459177" y="2384763"/>
            <a:ext cx="128699" cy="187198"/>
          </a:xfrm>
          <a:prstGeom prst="rect">
            <a:avLst/>
          </a:prstGeom>
        </p:spPr>
      </p:pic>
      <p:sp>
        <p:nvSpPr>
          <p:cNvPr id="101" name="TextBox 100"/>
          <p:cNvSpPr txBox="1"/>
          <p:nvPr/>
        </p:nvSpPr>
        <p:spPr>
          <a:xfrm>
            <a:off x="1626673" y="2394542"/>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102" name="TextBox 101"/>
          <p:cNvSpPr txBox="1"/>
          <p:nvPr/>
        </p:nvSpPr>
        <p:spPr>
          <a:xfrm>
            <a:off x="209550" y="2767064"/>
            <a:ext cx="2476748" cy="186689"/>
          </a:xfrm>
          <a:prstGeom prst="rect">
            <a:avLst/>
          </a:prstGeom>
          <a:noFill/>
        </p:spPr>
        <p:txBody>
          <a:bodyPr wrap="none" lIns="0" rIns="0" tIns="0" bIns="0">
            <a:spAutoFit/>
          </a:bodyPr>
          <a:lstStyle/>
          <a:p>
            <a:r>
              <a:rPr sz="1100" b="0">
                <a:solidFill>
                  <a:srgbClr val="2E2E2E"/>
                </a:solidFill>
                <a:latin typeface="Calibri"/>
              </a:rPr>
              <a:t>▪ Pull is strongest in 'South Asia &amp; Pacific' (</a:t>
            </a:r>
          </a:p>
        </p:txBody>
      </p:sp>
      <p:pic>
        <p:nvPicPr>
          <p:cNvPr id="103" name="Picture 102" descr="lock.png"/>
          <p:cNvPicPr>
            <a:picLocks noChangeAspect="1"/>
          </p:cNvPicPr>
          <p:nvPr/>
        </p:nvPicPr>
        <p:blipFill>
          <a:blip r:embed="rId4"/>
          <a:stretch>
            <a:fillRect/>
          </a:stretch>
        </p:blipFill>
        <p:spPr>
          <a:xfrm>
            <a:off x="2634349" y="2757285"/>
            <a:ext cx="128699" cy="187198"/>
          </a:xfrm>
          <a:prstGeom prst="rect">
            <a:avLst/>
          </a:prstGeom>
        </p:spPr>
      </p:pic>
      <p:sp>
        <p:nvSpPr>
          <p:cNvPr id="104" name="TextBox 103"/>
          <p:cNvSpPr txBox="1"/>
          <p:nvPr/>
        </p:nvSpPr>
        <p:spPr>
          <a:xfrm>
            <a:off x="2801845" y="2767064"/>
            <a:ext cx="531572" cy="186689"/>
          </a:xfrm>
          <a:prstGeom prst="rect">
            <a:avLst/>
          </a:prstGeom>
          <a:noFill/>
        </p:spPr>
        <p:txBody>
          <a:bodyPr wrap="none" lIns="0" rIns="0" tIns="0" bIns="0">
            <a:spAutoFit/>
          </a:bodyPr>
          <a:lstStyle/>
          <a:p>
            <a:r>
              <a:rPr sz="1100" b="0">
                <a:solidFill>
                  <a:srgbClr val="2E2E2E"/>
                </a:solidFill>
                <a:latin typeface="Calibri"/>
              </a:rPr>
              <a:t>CAGR, +</a:t>
            </a:r>
          </a:p>
        </p:txBody>
      </p:sp>
      <p:pic>
        <p:nvPicPr>
          <p:cNvPr id="105" name="Picture 104" descr="lock.png"/>
          <p:cNvPicPr>
            <a:picLocks noChangeAspect="1"/>
          </p:cNvPicPr>
          <p:nvPr/>
        </p:nvPicPr>
        <p:blipFill>
          <a:blip r:embed="rId4"/>
          <a:stretch>
            <a:fillRect/>
          </a:stretch>
        </p:blipFill>
        <p:spPr>
          <a:xfrm>
            <a:off x="3281469" y="2757285"/>
            <a:ext cx="128699" cy="187198"/>
          </a:xfrm>
          <a:prstGeom prst="rect">
            <a:avLst/>
          </a:prstGeom>
        </p:spPr>
      </p:pic>
      <p:sp>
        <p:nvSpPr>
          <p:cNvPr id="106" name="TextBox 105"/>
          <p:cNvSpPr txBox="1"/>
          <p:nvPr/>
        </p:nvSpPr>
        <p:spPr>
          <a:xfrm>
            <a:off x="3448965" y="2767064"/>
            <a:ext cx="3522588" cy="186689"/>
          </a:xfrm>
          <a:prstGeom prst="rect">
            <a:avLst/>
          </a:prstGeom>
          <a:noFill/>
        </p:spPr>
        <p:txBody>
          <a:bodyPr wrap="none" lIns="0" rIns="0" tIns="0" bIns="0">
            <a:spAutoFit/>
          </a:bodyPr>
          <a:lstStyle/>
          <a:p>
            <a:r>
              <a:rPr sz="1100" b="0">
                <a:solidFill>
                  <a:srgbClr val="2E2E2E"/>
                </a:solidFill>
                <a:latin typeface="Calibri"/>
              </a:rPr>
              <a:t>BPS versus the market), with 4 of 7 regions at or above pace.</a:t>
            </a:r>
          </a:p>
        </p:txBody>
      </p:sp>
      <p:sp>
        <p:nvSpPr>
          <p:cNvPr id="107" name="TextBox 106"/>
          <p:cNvSpPr txBox="1"/>
          <p:nvPr/>
        </p:nvSpPr>
        <p:spPr>
          <a:xfrm>
            <a:off x="209550" y="3139587"/>
            <a:ext cx="4165972" cy="186689"/>
          </a:xfrm>
          <a:prstGeom prst="rect">
            <a:avLst/>
          </a:prstGeom>
          <a:noFill/>
        </p:spPr>
        <p:txBody>
          <a:bodyPr wrap="none" lIns="0" rIns="0" tIns="0" bIns="0">
            <a:spAutoFit/>
          </a:bodyPr>
          <a:lstStyle/>
          <a:p>
            <a:r>
              <a:rPr sz="1100" b="0">
                <a:solidFill>
                  <a:srgbClr val="2E2E2E"/>
                </a:solidFill>
                <a:latin typeface="Calibri"/>
              </a:rPr>
              <a:t>▪ Reach runs through 9 application routes, led by 'Roofs and Terraces' at</a:t>
            </a:r>
          </a:p>
        </p:txBody>
      </p:sp>
      <p:pic>
        <p:nvPicPr>
          <p:cNvPr id="108" name="Picture 107" descr="lock.png"/>
          <p:cNvPicPr>
            <a:picLocks noChangeAspect="1"/>
          </p:cNvPicPr>
          <p:nvPr/>
        </p:nvPicPr>
        <p:blipFill>
          <a:blip r:embed="rId4"/>
          <a:stretch>
            <a:fillRect/>
          </a:stretch>
        </p:blipFill>
        <p:spPr>
          <a:xfrm>
            <a:off x="4323573" y="3129808"/>
            <a:ext cx="128699" cy="187198"/>
          </a:xfrm>
          <a:prstGeom prst="rect">
            <a:avLst/>
          </a:prstGeom>
        </p:spPr>
      </p:pic>
      <p:sp>
        <p:nvSpPr>
          <p:cNvPr id="109" name="TextBox 108"/>
          <p:cNvSpPr txBox="1"/>
          <p:nvPr/>
        </p:nvSpPr>
        <p:spPr>
          <a:xfrm>
            <a:off x="4491069" y="3139587"/>
            <a:ext cx="2654101" cy="186689"/>
          </a:xfrm>
          <a:prstGeom prst="rect">
            <a:avLst/>
          </a:prstGeom>
          <a:noFill/>
        </p:spPr>
        <p:txBody>
          <a:bodyPr wrap="none" lIns="0" rIns="0" tIns="0" bIns="0">
            <a:spAutoFit/>
          </a:bodyPr>
          <a:lstStyle/>
          <a:p>
            <a:r>
              <a:rPr sz="1100" b="0">
                <a:solidFill>
                  <a:srgbClr val="2E2E2E"/>
                </a:solidFill>
                <a:latin typeface="Calibri"/>
              </a:rPr>
              <a:t>and with 'Bathrooms and Wet Areas' growing</a:t>
            </a:r>
          </a:p>
        </p:txBody>
      </p:sp>
      <p:sp>
        <p:nvSpPr>
          <p:cNvPr id="110" name="TextBox 109"/>
          <p:cNvSpPr txBox="1"/>
          <p:nvPr/>
        </p:nvSpPr>
        <p:spPr>
          <a:xfrm>
            <a:off x="209550" y="3307227"/>
            <a:ext cx="603622" cy="186689"/>
          </a:xfrm>
          <a:prstGeom prst="rect">
            <a:avLst/>
          </a:prstGeom>
          <a:noFill/>
        </p:spPr>
        <p:txBody>
          <a:bodyPr wrap="none" lIns="0" rIns="0" tIns="0" bIns="0">
            <a:spAutoFit/>
          </a:bodyPr>
          <a:lstStyle/>
          <a:p>
            <a:r>
              <a:rPr sz="1100" b="0">
                <a:solidFill>
                  <a:srgbClr val="2E2E2E"/>
                </a:solidFill>
                <a:latin typeface="Calibri"/>
              </a:rPr>
              <a:t>fastest at</a:t>
            </a:r>
          </a:p>
        </p:txBody>
      </p:sp>
      <p:pic>
        <p:nvPicPr>
          <p:cNvPr id="111" name="Picture 110" descr="lock.png"/>
          <p:cNvPicPr>
            <a:picLocks noChangeAspect="1"/>
          </p:cNvPicPr>
          <p:nvPr/>
        </p:nvPicPr>
        <p:blipFill>
          <a:blip r:embed="rId4"/>
          <a:stretch>
            <a:fillRect/>
          </a:stretch>
        </p:blipFill>
        <p:spPr>
          <a:xfrm>
            <a:off x="761223" y="3297448"/>
            <a:ext cx="128699" cy="187198"/>
          </a:xfrm>
          <a:prstGeom prst="rect">
            <a:avLst/>
          </a:prstGeom>
        </p:spPr>
      </p:pic>
      <p:sp>
        <p:nvSpPr>
          <p:cNvPr id="112" name="TextBox 111"/>
          <p:cNvSpPr txBox="1"/>
          <p:nvPr/>
        </p:nvSpPr>
        <p:spPr>
          <a:xfrm>
            <a:off x="928719" y="3307227"/>
            <a:ext cx="111397" cy="186689"/>
          </a:xfrm>
          <a:prstGeom prst="rect">
            <a:avLst/>
          </a:prstGeom>
          <a:noFill/>
        </p:spPr>
        <p:txBody>
          <a:bodyPr wrap="none" lIns="0" rIns="0" tIns="0" bIns="0">
            <a:spAutoFit/>
          </a:bodyPr>
          <a:lstStyle/>
          <a:p>
            <a:r>
              <a:rPr sz="1100" b="0">
                <a:solidFill>
                  <a:srgbClr val="2E2E2E"/>
                </a:solidFill>
                <a:latin typeface="Calibri"/>
              </a:rPr>
              <a:t>.</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Waterproof Coatings Market Restraints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key restraints on the global market and the likelihood of their impact across 2021–2036</a:t>
            </a:r>
          </a:p>
        </p:txBody>
      </p:sp>
      <p:sp>
        <p:nvSpPr>
          <p:cNvPr id="10" name="Rounded Rectangle 9"/>
          <p:cNvSpPr/>
          <p:nvPr/>
        </p:nvSpPr>
        <p:spPr>
          <a:xfrm>
            <a:off x="142875" y="1025515"/>
            <a:ext cx="2038350" cy="255552"/>
          </a:xfrm>
          <a:prstGeom prst="roundRect">
            <a:avLst>
              <a:gd name="adj" fmla="val 1869"/>
            </a:avLst>
          </a:prstGeom>
          <a:solidFill>
            <a:srgbClr val="C0603A"/>
          </a:solidFill>
          <a:ln w="12700">
            <a:solidFill>
              <a:srgbClr val="C06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2875" y="1025515"/>
            <a:ext cx="2038350" cy="255552"/>
          </a:xfrm>
          <a:prstGeom prst="rect">
            <a:avLst/>
          </a:prstGeom>
          <a:noFill/>
        </p:spPr>
        <p:txBody>
          <a:bodyPr wrap="square" lIns="28575" rIns="28575" tIns="9525" bIns="9525" anchor="ctr">
            <a:spAutoFit/>
          </a:bodyPr>
          <a:lstStyle/>
          <a:p>
            <a:pPr algn="ctr"/>
            <a:r>
              <a:rPr sz="1100" b="1">
                <a:solidFill>
                  <a:srgbClr val="FFFFFF"/>
                </a:solidFill>
                <a:latin typeface="Calibri"/>
              </a:rPr>
              <a:t>Market Restraints</a:t>
            </a:r>
          </a:p>
        </p:txBody>
      </p:sp>
      <p:sp>
        <p:nvSpPr>
          <p:cNvPr id="12" name="Rectangle 11"/>
          <p:cNvSpPr/>
          <p:nvPr/>
        </p:nvSpPr>
        <p:spPr>
          <a:xfrm>
            <a:off x="142875" y="139058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58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Cementitious Waterproof Coatings Lags the Category and Dilutes Blended Growth</a:t>
            </a:r>
          </a:p>
        </p:txBody>
      </p:sp>
      <p:sp>
        <p:nvSpPr>
          <p:cNvPr id="14" name="TextBox 13"/>
          <p:cNvSpPr txBox="1"/>
          <p:nvPr/>
        </p:nvSpPr>
        <p:spPr>
          <a:xfrm>
            <a:off x="161925" y="1700902"/>
            <a:ext cx="9439275"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5" name="TextBox 14"/>
          <p:cNvSpPr txBox="1"/>
          <p:nvPr/>
        </p:nvSpPr>
        <p:spPr>
          <a:xfrm>
            <a:off x="9810750" y="139058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16" name="TextBox 15"/>
          <p:cNvSpPr txBox="1"/>
          <p:nvPr/>
        </p:nvSpPr>
        <p:spPr>
          <a:xfrm>
            <a:off x="981075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17" name="Rectangle 16"/>
          <p:cNvSpPr/>
          <p:nvPr/>
        </p:nvSpPr>
        <p:spPr>
          <a:xfrm>
            <a:off x="981075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10750" y="193820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19" name="TextBox 18"/>
          <p:cNvSpPr txBox="1"/>
          <p:nvPr/>
        </p:nvSpPr>
        <p:spPr>
          <a:xfrm>
            <a:off x="1089660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20" name="Rectangle 19"/>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896600" y="193820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22" name="TextBox 21"/>
          <p:cNvSpPr txBox="1"/>
          <p:nvPr/>
        </p:nvSpPr>
        <p:spPr>
          <a:xfrm>
            <a:off x="981075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23" name="Rectangle 22"/>
          <p:cNvSpPr/>
          <p:nvPr/>
        </p:nvSpPr>
        <p:spPr>
          <a:xfrm>
            <a:off x="981075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10750" y="245843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25" name="TextBox 24"/>
          <p:cNvSpPr txBox="1"/>
          <p:nvPr/>
        </p:nvSpPr>
        <p:spPr>
          <a:xfrm>
            <a:off x="1089660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26" name="Rectangle 25"/>
          <p:cNvSpPr/>
          <p:nvPr/>
        </p:nvSpPr>
        <p:spPr>
          <a:xfrm>
            <a:off x="10896600" y="2458430"/>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96600" y="245843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cxnSp>
        <p:nvCxnSpPr>
          <p:cNvPr id="28" name="Connector 27"/>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42875" y="3142944"/>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6225" y="3142944"/>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Uneven Region Performance Caps the Blended Rate</a:t>
            </a:r>
          </a:p>
        </p:txBody>
      </p:sp>
      <p:sp>
        <p:nvSpPr>
          <p:cNvPr id="31" name="TextBox 30"/>
          <p:cNvSpPr txBox="1"/>
          <p:nvPr/>
        </p:nvSpPr>
        <p:spPr>
          <a:xfrm>
            <a:off x="161925" y="3453257"/>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2" name="TextBox 31"/>
          <p:cNvSpPr txBox="1"/>
          <p:nvPr/>
        </p:nvSpPr>
        <p:spPr>
          <a:xfrm>
            <a:off x="9810750" y="3142944"/>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33" name="TextBox 32"/>
          <p:cNvSpPr txBox="1"/>
          <p:nvPr/>
        </p:nvSpPr>
        <p:spPr>
          <a:xfrm>
            <a:off x="981075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34" name="Rectangle 33"/>
          <p:cNvSpPr/>
          <p:nvPr/>
        </p:nvSpPr>
        <p:spPr>
          <a:xfrm>
            <a:off x="981075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10750" y="369055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36" name="TextBox 35"/>
          <p:cNvSpPr txBox="1"/>
          <p:nvPr/>
        </p:nvSpPr>
        <p:spPr>
          <a:xfrm>
            <a:off x="1089660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37" name="Rectangle 36"/>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896600" y="369055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39" name="TextBox 38"/>
          <p:cNvSpPr txBox="1"/>
          <p:nvPr/>
        </p:nvSpPr>
        <p:spPr>
          <a:xfrm>
            <a:off x="981075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40" name="Rectangle 39"/>
          <p:cNvSpPr/>
          <p:nvPr/>
        </p:nvSpPr>
        <p:spPr>
          <a:xfrm>
            <a:off x="981075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10750" y="421078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42" name="TextBox 41"/>
          <p:cNvSpPr txBox="1"/>
          <p:nvPr/>
        </p:nvSpPr>
        <p:spPr>
          <a:xfrm>
            <a:off x="1089660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43" name="Rectangle 42"/>
          <p:cNvSpPr/>
          <p:nvPr/>
        </p:nvSpPr>
        <p:spPr>
          <a:xfrm>
            <a:off x="10896600" y="4210785"/>
            <a:ext cx="990600" cy="310313"/>
          </a:xfrm>
          <a:prstGeom prst="rect">
            <a:avLst/>
          </a:prstGeom>
          <a:solidFill>
            <a:srgbClr val="FBF0C4"/>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896600" y="421078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cxnSp>
        <p:nvCxnSpPr>
          <p:cNvPr id="45" name="Connector 44"/>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142875" y="489529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76225" y="489529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Concentration Risk Limits Pricing and Sourcing Flexibility</a:t>
            </a:r>
          </a:p>
        </p:txBody>
      </p:sp>
      <p:sp>
        <p:nvSpPr>
          <p:cNvPr id="48" name="TextBox 47"/>
          <p:cNvSpPr txBox="1"/>
          <p:nvPr/>
        </p:nvSpPr>
        <p:spPr>
          <a:xfrm>
            <a:off x="161925" y="5205612"/>
            <a:ext cx="9439275"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9" name="TextBox 48"/>
          <p:cNvSpPr txBox="1"/>
          <p:nvPr/>
        </p:nvSpPr>
        <p:spPr>
          <a:xfrm>
            <a:off x="9810750" y="489529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50" name="TextBox 49"/>
          <p:cNvSpPr txBox="1"/>
          <p:nvPr/>
        </p:nvSpPr>
        <p:spPr>
          <a:xfrm>
            <a:off x="981075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51" name="Rectangle 50"/>
          <p:cNvSpPr/>
          <p:nvPr/>
        </p:nvSpPr>
        <p:spPr>
          <a:xfrm>
            <a:off x="981075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81075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3" name="TextBox 52"/>
          <p:cNvSpPr txBox="1"/>
          <p:nvPr/>
        </p:nvSpPr>
        <p:spPr>
          <a:xfrm>
            <a:off x="1089660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54" name="Rectangle 53"/>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89660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6" name="TextBox 55"/>
          <p:cNvSpPr txBox="1"/>
          <p:nvPr/>
        </p:nvSpPr>
        <p:spPr>
          <a:xfrm>
            <a:off x="981075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57" name="Rectangle 56"/>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81075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9" name="TextBox 58"/>
          <p:cNvSpPr txBox="1"/>
          <p:nvPr/>
        </p:nvSpPr>
        <p:spPr>
          <a:xfrm>
            <a:off x="1089660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60" name="Rectangle 59"/>
          <p:cNvSpPr/>
          <p:nvPr/>
        </p:nvSpPr>
        <p:spPr>
          <a:xfrm>
            <a:off x="10896600" y="5963140"/>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89660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190500" y="1753513"/>
            <a:ext cx="2910309" cy="186689"/>
          </a:xfrm>
          <a:prstGeom prst="rect">
            <a:avLst/>
          </a:prstGeom>
          <a:noFill/>
        </p:spPr>
        <p:txBody>
          <a:bodyPr wrap="none" lIns="0" rIns="0" tIns="0" bIns="0">
            <a:spAutoFit/>
          </a:bodyPr>
          <a:lstStyle/>
          <a:p>
            <a:r>
              <a:rPr sz="1100" b="0">
                <a:solidFill>
                  <a:srgbClr val="2E2E2E"/>
                </a:solidFill>
                <a:latin typeface="Calibri"/>
              </a:rPr>
              <a:t>'Cementitious Waterproof Coatings' grows at only</a:t>
            </a:r>
          </a:p>
        </p:txBody>
      </p:sp>
      <p:pic>
        <p:nvPicPr>
          <p:cNvPr id="64" name="Picture 63" descr="lock.png"/>
          <p:cNvPicPr>
            <a:picLocks noChangeAspect="1"/>
          </p:cNvPicPr>
          <p:nvPr/>
        </p:nvPicPr>
        <p:blipFill>
          <a:blip r:embed="rId4"/>
          <a:stretch>
            <a:fillRect/>
          </a:stretch>
        </p:blipFill>
        <p:spPr>
          <a:xfrm>
            <a:off x="3048860" y="1743734"/>
            <a:ext cx="128699" cy="187198"/>
          </a:xfrm>
          <a:prstGeom prst="rect">
            <a:avLst/>
          </a:prstGeom>
        </p:spPr>
      </p:pic>
      <p:sp>
        <p:nvSpPr>
          <p:cNvPr id="65" name="TextBox 64"/>
          <p:cNvSpPr txBox="1"/>
          <p:nvPr/>
        </p:nvSpPr>
        <p:spPr>
          <a:xfrm>
            <a:off x="3216356" y="1753513"/>
            <a:ext cx="1579595" cy="186689"/>
          </a:xfrm>
          <a:prstGeom prst="rect">
            <a:avLst/>
          </a:prstGeom>
          <a:noFill/>
        </p:spPr>
        <p:txBody>
          <a:bodyPr wrap="none" lIns="0" rIns="0" tIns="0" bIns="0">
            <a:spAutoFit/>
          </a:bodyPr>
          <a:lstStyle/>
          <a:p>
            <a:r>
              <a:rPr sz="1100" b="0">
                <a:solidFill>
                  <a:srgbClr val="2E2E2E"/>
                </a:solidFill>
                <a:latin typeface="Calibri"/>
              </a:rPr>
              <a:t>CAGR against the market's</a:t>
            </a:r>
          </a:p>
        </p:txBody>
      </p:sp>
      <p:pic>
        <p:nvPicPr>
          <p:cNvPr id="66" name="Picture 65" descr="lock.png"/>
          <p:cNvPicPr>
            <a:picLocks noChangeAspect="1"/>
          </p:cNvPicPr>
          <p:nvPr/>
        </p:nvPicPr>
        <p:blipFill>
          <a:blip r:embed="rId4"/>
          <a:stretch>
            <a:fillRect/>
          </a:stretch>
        </p:blipFill>
        <p:spPr>
          <a:xfrm>
            <a:off x="4744003" y="1743734"/>
            <a:ext cx="128699" cy="187198"/>
          </a:xfrm>
          <a:prstGeom prst="rect">
            <a:avLst/>
          </a:prstGeom>
        </p:spPr>
      </p:pic>
      <p:sp>
        <p:nvSpPr>
          <p:cNvPr id="67" name="TextBox 66"/>
          <p:cNvSpPr txBox="1"/>
          <p:nvPr/>
        </p:nvSpPr>
        <p:spPr>
          <a:xfrm>
            <a:off x="4911499" y="1753513"/>
            <a:ext cx="284112" cy="186689"/>
          </a:xfrm>
          <a:prstGeom prst="rect">
            <a:avLst/>
          </a:prstGeom>
          <a:noFill/>
        </p:spPr>
        <p:txBody>
          <a:bodyPr wrap="none" lIns="0" rIns="0" tIns="0" bIns="0">
            <a:spAutoFit/>
          </a:bodyPr>
          <a:lstStyle/>
          <a:p>
            <a:r>
              <a:rPr sz="1100" b="0">
                <a:solidFill>
                  <a:srgbClr val="2E2E2E"/>
                </a:solidFill>
                <a:latin typeface="Calibri"/>
              </a:rPr>
              <a:t>, a -</a:t>
            </a:r>
          </a:p>
        </p:txBody>
      </p:sp>
      <p:pic>
        <p:nvPicPr>
          <p:cNvPr id="68" name="Picture 67" descr="lock.png"/>
          <p:cNvPicPr>
            <a:picLocks noChangeAspect="1"/>
          </p:cNvPicPr>
          <p:nvPr/>
        </p:nvPicPr>
        <p:blipFill>
          <a:blip r:embed="rId4"/>
          <a:stretch>
            <a:fillRect/>
          </a:stretch>
        </p:blipFill>
        <p:spPr>
          <a:xfrm>
            <a:off x="5143663" y="1743734"/>
            <a:ext cx="128699" cy="187198"/>
          </a:xfrm>
          <a:prstGeom prst="rect">
            <a:avLst/>
          </a:prstGeom>
        </p:spPr>
      </p:pic>
      <p:sp>
        <p:nvSpPr>
          <p:cNvPr id="69" name="TextBox 68"/>
          <p:cNvSpPr txBox="1"/>
          <p:nvPr/>
        </p:nvSpPr>
        <p:spPr>
          <a:xfrm>
            <a:off x="5311159" y="1753513"/>
            <a:ext cx="3525043" cy="186689"/>
          </a:xfrm>
          <a:prstGeom prst="rect">
            <a:avLst/>
          </a:prstGeom>
          <a:noFill/>
        </p:spPr>
        <p:txBody>
          <a:bodyPr wrap="none" lIns="0" rIns="0" tIns="0" bIns="0">
            <a:spAutoFit/>
          </a:bodyPr>
          <a:lstStyle/>
          <a:p>
            <a:r>
              <a:rPr sz="1100" b="0">
                <a:solidFill>
                  <a:srgbClr val="2E2E2E"/>
                </a:solidFill>
                <a:latin typeface="Calibri"/>
              </a:rPr>
              <a:t>BPS gap, and 'Cementitious Waterproof Coatings' surrenders</a:t>
            </a:r>
          </a:p>
        </p:txBody>
      </p:sp>
      <p:pic>
        <p:nvPicPr>
          <p:cNvPr id="70" name="Picture 69" descr="lock.png"/>
          <p:cNvPicPr>
            <a:picLocks noChangeAspect="1"/>
          </p:cNvPicPr>
          <p:nvPr/>
        </p:nvPicPr>
        <p:blipFill>
          <a:blip r:embed="rId4"/>
          <a:stretch>
            <a:fillRect/>
          </a:stretch>
        </p:blipFill>
        <p:spPr>
          <a:xfrm>
            <a:off x="8784254" y="1743734"/>
            <a:ext cx="128699" cy="187198"/>
          </a:xfrm>
          <a:prstGeom prst="rect">
            <a:avLst/>
          </a:prstGeom>
        </p:spPr>
      </p:pic>
      <p:sp>
        <p:nvSpPr>
          <p:cNvPr id="71" name="TextBox 70"/>
          <p:cNvSpPr txBox="1"/>
          <p:nvPr/>
        </p:nvSpPr>
        <p:spPr>
          <a:xfrm>
            <a:off x="8951750" y="1753513"/>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72" name="TextBox 71"/>
          <p:cNvSpPr txBox="1"/>
          <p:nvPr/>
        </p:nvSpPr>
        <p:spPr>
          <a:xfrm>
            <a:off x="190500" y="1921153"/>
            <a:ext cx="9298037" cy="186689"/>
          </a:xfrm>
          <a:prstGeom prst="rect">
            <a:avLst/>
          </a:prstGeom>
          <a:noFill/>
        </p:spPr>
        <p:txBody>
          <a:bodyPr wrap="none" lIns="0" rIns="0" tIns="0" bIns="0">
            <a:spAutoFit/>
          </a:bodyPr>
          <a:lstStyle/>
          <a:p>
            <a:r>
              <a:rPr sz="1100" b="0">
                <a:solidFill>
                  <a:srgbClr val="2E2E2E"/>
                </a:solidFill>
                <a:latin typeface="Calibri"/>
              </a:rPr>
              <a:t>of product type / chemistry share between 2026 and 2036. Because these lines still carry meaningful volume, the drag is absorbed by the whole category: blended</a:t>
            </a:r>
          </a:p>
        </p:txBody>
      </p:sp>
      <p:sp>
        <p:nvSpPr>
          <p:cNvPr id="73" name="TextBox 72"/>
          <p:cNvSpPr txBox="1"/>
          <p:nvPr/>
        </p:nvSpPr>
        <p:spPr>
          <a:xfrm>
            <a:off x="190500" y="2088793"/>
            <a:ext cx="9098582" cy="186689"/>
          </a:xfrm>
          <a:prstGeom prst="rect">
            <a:avLst/>
          </a:prstGeom>
          <a:noFill/>
        </p:spPr>
        <p:txBody>
          <a:bodyPr wrap="none" lIns="0" rIns="0" tIns="0" bIns="0">
            <a:spAutoFit/>
          </a:bodyPr>
          <a:lstStyle/>
          <a:p>
            <a:r>
              <a:rPr sz="1100" b="0">
                <a:solidFill>
                  <a:srgbClr val="2E2E2E"/>
                </a:solidFill>
                <a:latin typeface="Calibri"/>
              </a:rPr>
              <a:t>growth sits below what the leading lines achieve on their own. Rationalising or repositioning the lagging end of a 8-line portfolio is therefore a precondition for</a:t>
            </a:r>
          </a:p>
        </p:txBody>
      </p:sp>
      <p:sp>
        <p:nvSpPr>
          <p:cNvPr id="74" name="TextBox 73"/>
          <p:cNvSpPr txBox="1"/>
          <p:nvPr/>
        </p:nvSpPr>
        <p:spPr>
          <a:xfrm>
            <a:off x="190500" y="2256433"/>
            <a:ext cx="1824632" cy="186689"/>
          </a:xfrm>
          <a:prstGeom prst="rect">
            <a:avLst/>
          </a:prstGeom>
          <a:noFill/>
        </p:spPr>
        <p:txBody>
          <a:bodyPr wrap="none" lIns="0" rIns="0" tIns="0" bIns="0">
            <a:spAutoFit/>
          </a:bodyPr>
          <a:lstStyle/>
          <a:p>
            <a:r>
              <a:rPr sz="1100" b="0">
                <a:solidFill>
                  <a:srgbClr val="2E2E2E"/>
                </a:solidFill>
                <a:latin typeface="Calibri"/>
              </a:rPr>
              <a:t>realising the headline forecast.</a:t>
            </a:r>
          </a:p>
        </p:txBody>
      </p:sp>
      <p:sp>
        <p:nvSpPr>
          <p:cNvPr id="75" name="TextBox 74"/>
          <p:cNvSpPr txBox="1"/>
          <p:nvPr/>
        </p:nvSpPr>
        <p:spPr>
          <a:xfrm>
            <a:off x="190500" y="3498419"/>
            <a:ext cx="1731590" cy="186689"/>
          </a:xfrm>
          <a:prstGeom prst="rect">
            <a:avLst/>
          </a:prstGeom>
          <a:noFill/>
        </p:spPr>
        <p:txBody>
          <a:bodyPr wrap="none" lIns="0" rIns="0" tIns="0" bIns="0">
            <a:spAutoFit/>
          </a:bodyPr>
          <a:lstStyle/>
          <a:p>
            <a:r>
              <a:rPr sz="1100" b="0">
                <a:solidFill>
                  <a:srgbClr val="2E2E2E"/>
                </a:solidFill>
                <a:latin typeface="Calibri"/>
              </a:rPr>
              <a:t>'North America' grows at just</a:t>
            </a:r>
          </a:p>
        </p:txBody>
      </p:sp>
      <p:pic>
        <p:nvPicPr>
          <p:cNvPr id="76" name="Picture 75" descr="lock.png"/>
          <p:cNvPicPr>
            <a:picLocks noChangeAspect="1"/>
          </p:cNvPicPr>
          <p:nvPr/>
        </p:nvPicPr>
        <p:blipFill>
          <a:blip r:embed="rId4"/>
          <a:stretch>
            <a:fillRect/>
          </a:stretch>
        </p:blipFill>
        <p:spPr>
          <a:xfrm>
            <a:off x="1870142" y="3488640"/>
            <a:ext cx="128699" cy="187198"/>
          </a:xfrm>
          <a:prstGeom prst="rect">
            <a:avLst/>
          </a:prstGeom>
        </p:spPr>
      </p:pic>
      <p:sp>
        <p:nvSpPr>
          <p:cNvPr id="77" name="TextBox 76"/>
          <p:cNvSpPr txBox="1"/>
          <p:nvPr/>
        </p:nvSpPr>
        <p:spPr>
          <a:xfrm>
            <a:off x="2037637" y="3498419"/>
            <a:ext cx="469907" cy="186689"/>
          </a:xfrm>
          <a:prstGeom prst="rect">
            <a:avLst/>
          </a:prstGeom>
          <a:noFill/>
        </p:spPr>
        <p:txBody>
          <a:bodyPr wrap="none" lIns="0" rIns="0" tIns="0" bIns="0">
            <a:spAutoFit/>
          </a:bodyPr>
          <a:lstStyle/>
          <a:p>
            <a:r>
              <a:rPr sz="1100" b="0">
                <a:solidFill>
                  <a:srgbClr val="2E2E2E"/>
                </a:solidFill>
                <a:latin typeface="Calibri"/>
              </a:rPr>
              <a:t>CAGR -</a:t>
            </a:r>
          </a:p>
        </p:txBody>
      </p:sp>
      <p:pic>
        <p:nvPicPr>
          <p:cNvPr id="78" name="Picture 77" descr="lock.png"/>
          <p:cNvPicPr>
            <a:picLocks noChangeAspect="1"/>
          </p:cNvPicPr>
          <p:nvPr/>
        </p:nvPicPr>
        <p:blipFill>
          <a:blip r:embed="rId4"/>
          <a:stretch>
            <a:fillRect/>
          </a:stretch>
        </p:blipFill>
        <p:spPr>
          <a:xfrm>
            <a:off x="2455597" y="3488640"/>
            <a:ext cx="128699" cy="187198"/>
          </a:xfrm>
          <a:prstGeom prst="rect">
            <a:avLst/>
          </a:prstGeom>
        </p:spPr>
      </p:pic>
      <p:sp>
        <p:nvSpPr>
          <p:cNvPr id="79" name="TextBox 78"/>
          <p:cNvSpPr txBox="1"/>
          <p:nvPr/>
        </p:nvSpPr>
        <p:spPr>
          <a:xfrm>
            <a:off x="2623093" y="3498419"/>
            <a:ext cx="6616997" cy="186689"/>
          </a:xfrm>
          <a:prstGeom prst="rect">
            <a:avLst/>
          </a:prstGeom>
          <a:noFill/>
        </p:spPr>
        <p:txBody>
          <a:bodyPr wrap="none" lIns="0" rIns="0" tIns="0" bIns="0">
            <a:spAutoFit/>
          </a:bodyPr>
          <a:lstStyle/>
          <a:p>
            <a:r>
              <a:rPr sz="1100" b="0">
                <a:solidFill>
                  <a:srgbClr val="2E2E2E"/>
                </a:solidFill>
                <a:latin typeface="Calibri"/>
              </a:rPr>
              <a:t>BPS against the market and 3 of 7 regions sit below the market pace altogether. Demand is therefore not uniformly</a:t>
            </a:r>
          </a:p>
        </p:txBody>
      </p:sp>
      <p:sp>
        <p:nvSpPr>
          <p:cNvPr id="80" name="TextBox 79"/>
          <p:cNvSpPr txBox="1"/>
          <p:nvPr/>
        </p:nvSpPr>
        <p:spPr>
          <a:xfrm>
            <a:off x="190500" y="3666059"/>
            <a:ext cx="8618091" cy="186689"/>
          </a:xfrm>
          <a:prstGeom prst="rect">
            <a:avLst/>
          </a:prstGeom>
          <a:noFill/>
        </p:spPr>
        <p:txBody>
          <a:bodyPr wrap="none" lIns="0" rIns="0" tIns="0" bIns="0">
            <a:spAutoFit/>
          </a:bodyPr>
          <a:lstStyle/>
          <a:p>
            <a:r>
              <a:rPr sz="1100" b="0">
                <a:solidFill>
                  <a:srgbClr val="2E2E2E"/>
                </a:solidFill>
                <a:latin typeface="Calibri"/>
              </a:rPr>
              <a:t>available: suppliers carrying a broad geographic footprint fund presence in slow regions out of returns earned in the fast ones. With 'North America' at</a:t>
            </a:r>
          </a:p>
        </p:txBody>
      </p:sp>
      <p:pic>
        <p:nvPicPr>
          <p:cNvPr id="81" name="Picture 80" descr="lock.png"/>
          <p:cNvPicPr>
            <a:picLocks noChangeAspect="1"/>
          </p:cNvPicPr>
          <p:nvPr/>
        </p:nvPicPr>
        <p:blipFill>
          <a:blip r:embed="rId4"/>
          <a:stretch>
            <a:fillRect/>
          </a:stretch>
        </p:blipFill>
        <p:spPr>
          <a:xfrm>
            <a:off x="8756642" y="3656280"/>
            <a:ext cx="128699" cy="187198"/>
          </a:xfrm>
          <a:prstGeom prst="rect">
            <a:avLst/>
          </a:prstGeom>
        </p:spPr>
      </p:pic>
      <p:sp>
        <p:nvSpPr>
          <p:cNvPr id="82" name="TextBox 81"/>
          <p:cNvSpPr txBox="1"/>
          <p:nvPr/>
        </p:nvSpPr>
        <p:spPr>
          <a:xfrm>
            <a:off x="8924138" y="3666059"/>
            <a:ext cx="564058" cy="186689"/>
          </a:xfrm>
          <a:prstGeom prst="rect">
            <a:avLst/>
          </a:prstGeom>
          <a:noFill/>
        </p:spPr>
        <p:txBody>
          <a:bodyPr wrap="none" lIns="0" rIns="0" tIns="0" bIns="0">
            <a:spAutoFit/>
          </a:bodyPr>
          <a:lstStyle/>
          <a:p>
            <a:r>
              <a:rPr sz="1100" b="0">
                <a:solidFill>
                  <a:srgbClr val="2E2E2E"/>
                </a:solidFill>
                <a:latin typeface="Calibri"/>
              </a:rPr>
              <a:t>of value,</a:t>
            </a:r>
          </a:p>
        </p:txBody>
      </p:sp>
      <p:sp>
        <p:nvSpPr>
          <p:cNvPr id="83" name="TextBox 82"/>
          <p:cNvSpPr txBox="1"/>
          <p:nvPr/>
        </p:nvSpPr>
        <p:spPr>
          <a:xfrm>
            <a:off x="190500" y="3833699"/>
            <a:ext cx="5170338" cy="186689"/>
          </a:xfrm>
          <a:prstGeom prst="rect">
            <a:avLst/>
          </a:prstGeom>
          <a:noFill/>
        </p:spPr>
        <p:txBody>
          <a:bodyPr wrap="none" lIns="0" rIns="0" tIns="0" bIns="0">
            <a:spAutoFit/>
          </a:bodyPr>
          <a:lstStyle/>
          <a:p>
            <a:r>
              <a:rPr sz="1100" b="0">
                <a:solidFill>
                  <a:srgbClr val="2E2E2E"/>
                </a:solidFill>
                <a:latin typeface="Calibri"/>
              </a:rPr>
              <a:t>a shortfall in a single leading region is difficult to offset elsewhere in the forecast window.</a:t>
            </a:r>
          </a:p>
        </p:txBody>
      </p:sp>
      <p:sp>
        <p:nvSpPr>
          <p:cNvPr id="84" name="TextBox 83"/>
          <p:cNvSpPr txBox="1"/>
          <p:nvPr/>
        </p:nvSpPr>
        <p:spPr>
          <a:xfrm>
            <a:off x="190500" y="5342043"/>
            <a:ext cx="3337594" cy="186689"/>
          </a:xfrm>
          <a:prstGeom prst="rect">
            <a:avLst/>
          </a:prstGeom>
          <a:noFill/>
        </p:spPr>
        <p:txBody>
          <a:bodyPr wrap="none" lIns="0" rIns="0" tIns="0" bIns="0">
            <a:spAutoFit/>
          </a:bodyPr>
          <a:lstStyle/>
          <a:p>
            <a:r>
              <a:rPr sz="1100" b="0">
                <a:solidFill>
                  <a:srgbClr val="2E2E2E"/>
                </a:solidFill>
                <a:latin typeface="Calibri"/>
              </a:rPr>
              <a:t>The market is concentrated: 'North America' accounts for</a:t>
            </a:r>
          </a:p>
        </p:txBody>
      </p:sp>
      <p:pic>
        <p:nvPicPr>
          <p:cNvPr id="85" name="Picture 84" descr="lock.png"/>
          <p:cNvPicPr>
            <a:picLocks noChangeAspect="1"/>
          </p:cNvPicPr>
          <p:nvPr/>
        </p:nvPicPr>
        <p:blipFill>
          <a:blip r:embed="rId4"/>
          <a:stretch>
            <a:fillRect/>
          </a:stretch>
        </p:blipFill>
        <p:spPr>
          <a:xfrm>
            <a:off x="3476146" y="5332264"/>
            <a:ext cx="128699" cy="187198"/>
          </a:xfrm>
          <a:prstGeom prst="rect">
            <a:avLst/>
          </a:prstGeom>
        </p:spPr>
      </p:pic>
      <p:sp>
        <p:nvSpPr>
          <p:cNvPr id="86" name="TextBox 85"/>
          <p:cNvSpPr txBox="1"/>
          <p:nvPr/>
        </p:nvSpPr>
        <p:spPr>
          <a:xfrm>
            <a:off x="3643642" y="5342043"/>
            <a:ext cx="3634457" cy="186689"/>
          </a:xfrm>
          <a:prstGeom prst="rect">
            <a:avLst/>
          </a:prstGeom>
          <a:noFill/>
        </p:spPr>
        <p:txBody>
          <a:bodyPr wrap="none" lIns="0" rIns="0" tIns="0" bIns="0">
            <a:spAutoFit/>
          </a:bodyPr>
          <a:lstStyle/>
          <a:p>
            <a:r>
              <a:rPr sz="1100" b="0">
                <a:solidFill>
                  <a:srgbClr val="2E2E2E"/>
                </a:solidFill>
                <a:latin typeface="Calibri"/>
              </a:rPr>
              <a:t>of 2036 value and the leading product type / chemistry line for</a:t>
            </a:r>
          </a:p>
        </p:txBody>
      </p:sp>
      <p:pic>
        <p:nvPicPr>
          <p:cNvPr id="87" name="Picture 86" descr="lock.png"/>
          <p:cNvPicPr>
            <a:picLocks noChangeAspect="1"/>
          </p:cNvPicPr>
          <p:nvPr/>
        </p:nvPicPr>
        <p:blipFill>
          <a:blip r:embed="rId4"/>
          <a:stretch>
            <a:fillRect/>
          </a:stretch>
        </p:blipFill>
        <p:spPr>
          <a:xfrm>
            <a:off x="7226150" y="5332264"/>
            <a:ext cx="128699" cy="187198"/>
          </a:xfrm>
          <a:prstGeom prst="rect">
            <a:avLst/>
          </a:prstGeom>
        </p:spPr>
      </p:pic>
      <p:sp>
        <p:nvSpPr>
          <p:cNvPr id="88" name="TextBox 87"/>
          <p:cNvSpPr txBox="1"/>
          <p:nvPr/>
        </p:nvSpPr>
        <p:spPr>
          <a:xfrm>
            <a:off x="7393646" y="5342043"/>
            <a:ext cx="1412042" cy="186689"/>
          </a:xfrm>
          <a:prstGeom prst="rect">
            <a:avLst/>
          </a:prstGeom>
          <a:noFill/>
        </p:spPr>
        <p:txBody>
          <a:bodyPr wrap="none" lIns="0" rIns="0" tIns="0" bIns="0">
            <a:spAutoFit/>
          </a:bodyPr>
          <a:lstStyle/>
          <a:p>
            <a:r>
              <a:rPr sz="1100" b="0">
                <a:solidFill>
                  <a:srgbClr val="2E2E2E"/>
                </a:solidFill>
                <a:latin typeface="Calibri"/>
              </a:rPr>
              <a:t>of its segment. Average</a:t>
            </a:r>
          </a:p>
        </p:txBody>
      </p:sp>
      <p:sp>
        <p:nvSpPr>
          <p:cNvPr id="89" name="TextBox 88"/>
          <p:cNvSpPr txBox="1"/>
          <p:nvPr/>
        </p:nvSpPr>
        <p:spPr>
          <a:xfrm>
            <a:off x="190500" y="5509683"/>
            <a:ext cx="1077565" cy="186689"/>
          </a:xfrm>
          <a:prstGeom prst="rect">
            <a:avLst/>
          </a:prstGeom>
          <a:noFill/>
        </p:spPr>
        <p:txBody>
          <a:bodyPr wrap="none" lIns="0" rIns="0" tIns="0" bIns="0">
            <a:spAutoFit/>
          </a:bodyPr>
          <a:lstStyle/>
          <a:p>
            <a:r>
              <a:rPr sz="1100" b="0">
                <a:solidFill>
                  <a:srgbClr val="2E2E2E"/>
                </a:solidFill>
                <a:latin typeface="Calibri"/>
              </a:rPr>
              <a:t>realisation moves</a:t>
            </a:r>
          </a:p>
        </p:txBody>
      </p:sp>
      <p:pic>
        <p:nvPicPr>
          <p:cNvPr id="90" name="Picture 89" descr="lock.png"/>
          <p:cNvPicPr>
            <a:picLocks noChangeAspect="1"/>
          </p:cNvPicPr>
          <p:nvPr/>
        </p:nvPicPr>
        <p:blipFill>
          <a:blip r:embed="rId4"/>
          <a:stretch>
            <a:fillRect/>
          </a:stretch>
        </p:blipFill>
        <p:spPr>
          <a:xfrm>
            <a:off x="1216116" y="5499904"/>
            <a:ext cx="128699" cy="187198"/>
          </a:xfrm>
          <a:prstGeom prst="rect">
            <a:avLst/>
          </a:prstGeom>
        </p:spPr>
      </p:pic>
      <p:sp>
        <p:nvSpPr>
          <p:cNvPr id="91" name="TextBox 90"/>
          <p:cNvSpPr txBox="1"/>
          <p:nvPr/>
        </p:nvSpPr>
        <p:spPr>
          <a:xfrm>
            <a:off x="1383612" y="5509683"/>
            <a:ext cx="8064748" cy="186689"/>
          </a:xfrm>
          <a:prstGeom prst="rect">
            <a:avLst/>
          </a:prstGeom>
          <a:noFill/>
        </p:spPr>
        <p:txBody>
          <a:bodyPr wrap="none" lIns="0" rIns="0" tIns="0" bIns="0">
            <a:spAutoFit/>
          </a:bodyPr>
          <a:lstStyle/>
          <a:p>
            <a:r>
              <a:rPr sz="1100" b="0">
                <a:solidFill>
                  <a:srgbClr val="2E2E2E"/>
                </a:solidFill>
                <a:latin typeface="Calibri"/>
              </a:rPr>
              <a:t>a year, so cost movements cannot be passed on evenly across 7 regions. The practical constraint is the same in either case commercial terms</a:t>
            </a:r>
          </a:p>
        </p:txBody>
      </p:sp>
      <p:sp>
        <p:nvSpPr>
          <p:cNvPr id="92" name="TextBox 91"/>
          <p:cNvSpPr txBox="1"/>
          <p:nvPr/>
        </p:nvSpPr>
        <p:spPr>
          <a:xfrm>
            <a:off x="190500" y="5677323"/>
            <a:ext cx="7251923" cy="186689"/>
          </a:xfrm>
          <a:prstGeom prst="rect">
            <a:avLst/>
          </a:prstGeom>
          <a:noFill/>
        </p:spPr>
        <p:txBody>
          <a:bodyPr wrap="none" lIns="0" rIns="0" tIns="0" bIns="0">
            <a:spAutoFit/>
          </a:bodyPr>
          <a:lstStyle/>
          <a:p>
            <a:r>
              <a:rPr sz="1100" b="0">
                <a:solidFill>
                  <a:srgbClr val="2E2E2E"/>
                </a:solidFill>
                <a:latin typeface="Calibri"/>
              </a:rPr>
              <a:t>set for the market as a whole underserve part of it, and margin is lost in the mismatch rather than in the headline growth rate.</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Waterproof Coatings Market Opportunities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key opportunities in the global market and the likelihood of their impact across 2021–2036</a:t>
            </a:r>
          </a:p>
        </p:txBody>
      </p:sp>
      <p:sp>
        <p:nvSpPr>
          <p:cNvPr id="10" name="Rounded Rectangle 9"/>
          <p:cNvSpPr/>
          <p:nvPr/>
        </p:nvSpPr>
        <p:spPr>
          <a:xfrm>
            <a:off x="142875" y="1025515"/>
            <a:ext cx="2038350" cy="255552"/>
          </a:xfrm>
          <a:prstGeom prst="roundRect">
            <a:avLst>
              <a:gd name="adj" fmla="val 1869"/>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2875" y="1025515"/>
            <a:ext cx="2038350" cy="255552"/>
          </a:xfrm>
          <a:prstGeom prst="rect">
            <a:avLst/>
          </a:prstGeom>
          <a:noFill/>
        </p:spPr>
        <p:txBody>
          <a:bodyPr wrap="square" lIns="28575" rIns="28575" tIns="9525" bIns="9525" anchor="ctr">
            <a:spAutoFit/>
          </a:bodyPr>
          <a:lstStyle/>
          <a:p>
            <a:pPr algn="ctr"/>
            <a:r>
              <a:rPr sz="1100" b="1">
                <a:solidFill>
                  <a:srgbClr val="FFFFFF"/>
                </a:solidFill>
                <a:latin typeface="Calibri"/>
              </a:rPr>
              <a:t>Market Opportunities</a:t>
            </a:r>
          </a:p>
        </p:txBody>
      </p:sp>
      <p:sp>
        <p:nvSpPr>
          <p:cNvPr id="12" name="Rectangle 11"/>
          <p:cNvSpPr/>
          <p:nvPr/>
        </p:nvSpPr>
        <p:spPr>
          <a:xfrm>
            <a:off x="142875" y="139058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58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U.S. Carries the Largest Absolute Opportunity</a:t>
            </a:r>
          </a:p>
        </p:txBody>
      </p:sp>
      <p:sp>
        <p:nvSpPr>
          <p:cNvPr id="14" name="TextBox 13"/>
          <p:cNvSpPr txBox="1"/>
          <p:nvPr/>
        </p:nvSpPr>
        <p:spPr>
          <a:xfrm>
            <a:off x="161925" y="170090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5" name="TextBox 14"/>
          <p:cNvSpPr txBox="1"/>
          <p:nvPr/>
        </p:nvSpPr>
        <p:spPr>
          <a:xfrm>
            <a:off x="9810750" y="139058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16" name="TextBox 15"/>
          <p:cNvSpPr txBox="1"/>
          <p:nvPr/>
        </p:nvSpPr>
        <p:spPr>
          <a:xfrm>
            <a:off x="981075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17" name="Rectangle 16"/>
          <p:cNvSpPr/>
          <p:nvPr/>
        </p:nvSpPr>
        <p:spPr>
          <a:xfrm>
            <a:off x="9810750" y="1938200"/>
            <a:ext cx="990600" cy="310313"/>
          </a:xfrm>
          <a:prstGeom prst="rect">
            <a:avLst/>
          </a:prstGeom>
          <a:solidFill>
            <a:srgbClr val="FBF0C4"/>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1075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19" name="TextBox 18"/>
          <p:cNvSpPr txBox="1"/>
          <p:nvPr/>
        </p:nvSpPr>
        <p:spPr>
          <a:xfrm>
            <a:off x="1089660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20" name="Rectangle 19"/>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89660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2" name="TextBox 21"/>
          <p:cNvSpPr txBox="1"/>
          <p:nvPr/>
        </p:nvSpPr>
        <p:spPr>
          <a:xfrm>
            <a:off x="981075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23" name="Rectangle 22"/>
          <p:cNvSpPr/>
          <p:nvPr/>
        </p:nvSpPr>
        <p:spPr>
          <a:xfrm>
            <a:off x="981075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1075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5" name="TextBox 24"/>
          <p:cNvSpPr txBox="1"/>
          <p:nvPr/>
        </p:nvSpPr>
        <p:spPr>
          <a:xfrm>
            <a:off x="1089660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26" name="Rectangle 25"/>
          <p:cNvSpPr/>
          <p:nvPr/>
        </p:nvSpPr>
        <p:spPr>
          <a:xfrm>
            <a:off x="1089660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9660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cxnSp>
        <p:nvCxnSpPr>
          <p:cNvPr id="28" name="Connector 27"/>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42875" y="3142944"/>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6225" y="3142944"/>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France Offers Under-penetrated, Above-pace Headroom</a:t>
            </a:r>
          </a:p>
        </p:txBody>
      </p:sp>
      <p:sp>
        <p:nvSpPr>
          <p:cNvPr id="31" name="TextBox 30"/>
          <p:cNvSpPr txBox="1"/>
          <p:nvPr/>
        </p:nvSpPr>
        <p:spPr>
          <a:xfrm>
            <a:off x="161925" y="3453257"/>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2" name="TextBox 31"/>
          <p:cNvSpPr txBox="1"/>
          <p:nvPr/>
        </p:nvSpPr>
        <p:spPr>
          <a:xfrm>
            <a:off x="9810750" y="3142944"/>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33" name="TextBox 32"/>
          <p:cNvSpPr txBox="1"/>
          <p:nvPr/>
        </p:nvSpPr>
        <p:spPr>
          <a:xfrm>
            <a:off x="981075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34" name="Rectangle 33"/>
          <p:cNvSpPr/>
          <p:nvPr/>
        </p:nvSpPr>
        <p:spPr>
          <a:xfrm>
            <a:off x="9810750" y="3690555"/>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10750" y="369055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36" name="TextBox 35"/>
          <p:cNvSpPr txBox="1"/>
          <p:nvPr/>
        </p:nvSpPr>
        <p:spPr>
          <a:xfrm>
            <a:off x="1089660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37" name="Rectangle 36"/>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896600" y="369055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39" name="TextBox 38"/>
          <p:cNvSpPr txBox="1"/>
          <p:nvPr/>
        </p:nvSpPr>
        <p:spPr>
          <a:xfrm>
            <a:off x="981075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40" name="Rectangle 39"/>
          <p:cNvSpPr/>
          <p:nvPr/>
        </p:nvSpPr>
        <p:spPr>
          <a:xfrm>
            <a:off x="981075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10750" y="421078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42" name="TextBox 41"/>
          <p:cNvSpPr txBox="1"/>
          <p:nvPr/>
        </p:nvSpPr>
        <p:spPr>
          <a:xfrm>
            <a:off x="1089660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43" name="Rectangle 42"/>
          <p:cNvSpPr/>
          <p:nvPr/>
        </p:nvSpPr>
        <p:spPr>
          <a:xfrm>
            <a:off x="1089660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896600" y="421078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cxnSp>
        <p:nvCxnSpPr>
          <p:cNvPr id="45" name="Connector 44"/>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142875" y="489529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76225" y="489529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Bathrooms and Wet Areas Opens the Fastest Route to Market</a:t>
            </a:r>
          </a:p>
        </p:txBody>
      </p:sp>
      <p:sp>
        <p:nvSpPr>
          <p:cNvPr id="48" name="TextBox 47"/>
          <p:cNvSpPr txBox="1"/>
          <p:nvPr/>
        </p:nvSpPr>
        <p:spPr>
          <a:xfrm>
            <a:off x="161925" y="520561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9" name="TextBox 48"/>
          <p:cNvSpPr txBox="1"/>
          <p:nvPr/>
        </p:nvSpPr>
        <p:spPr>
          <a:xfrm>
            <a:off x="9810750" y="489529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50" name="TextBox 49"/>
          <p:cNvSpPr txBox="1"/>
          <p:nvPr/>
        </p:nvSpPr>
        <p:spPr>
          <a:xfrm>
            <a:off x="981075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51" name="Rectangle 50"/>
          <p:cNvSpPr/>
          <p:nvPr/>
        </p:nvSpPr>
        <p:spPr>
          <a:xfrm>
            <a:off x="9810750" y="5442910"/>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81075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3" name="TextBox 52"/>
          <p:cNvSpPr txBox="1"/>
          <p:nvPr/>
        </p:nvSpPr>
        <p:spPr>
          <a:xfrm>
            <a:off x="1089660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54" name="Rectangle 53"/>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89660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6" name="TextBox 55"/>
          <p:cNvSpPr txBox="1"/>
          <p:nvPr/>
        </p:nvSpPr>
        <p:spPr>
          <a:xfrm>
            <a:off x="981075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57" name="Rectangle 56"/>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81075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9" name="TextBox 58"/>
          <p:cNvSpPr txBox="1"/>
          <p:nvPr/>
        </p:nvSpPr>
        <p:spPr>
          <a:xfrm>
            <a:off x="1089660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60" name="Rectangle 59"/>
          <p:cNvSpPr/>
          <p:nvPr/>
        </p:nvSpPr>
        <p:spPr>
          <a:xfrm>
            <a:off x="1089660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89660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190500" y="1746064"/>
            <a:ext cx="662012" cy="186689"/>
          </a:xfrm>
          <a:prstGeom prst="rect">
            <a:avLst/>
          </a:prstGeom>
          <a:noFill/>
        </p:spPr>
        <p:txBody>
          <a:bodyPr wrap="none" lIns="0" rIns="0" tIns="0" bIns="0">
            <a:spAutoFit/>
          </a:bodyPr>
          <a:lstStyle/>
          <a:p>
            <a:r>
              <a:rPr sz="1100" b="0">
                <a:solidFill>
                  <a:srgbClr val="2E2E2E"/>
                </a:solidFill>
                <a:latin typeface="Calibri"/>
              </a:rPr>
              <a:t>'U.S.' adds</a:t>
            </a:r>
          </a:p>
        </p:txBody>
      </p:sp>
      <p:pic>
        <p:nvPicPr>
          <p:cNvPr id="64" name="Picture 63" descr="lock.png"/>
          <p:cNvPicPr>
            <a:picLocks noChangeAspect="1"/>
          </p:cNvPicPr>
          <p:nvPr/>
        </p:nvPicPr>
        <p:blipFill>
          <a:blip r:embed="rId4"/>
          <a:stretch>
            <a:fillRect/>
          </a:stretch>
        </p:blipFill>
        <p:spPr>
          <a:xfrm>
            <a:off x="800563" y="1736285"/>
            <a:ext cx="128699" cy="187198"/>
          </a:xfrm>
          <a:prstGeom prst="rect">
            <a:avLst/>
          </a:prstGeom>
        </p:spPr>
      </p:pic>
      <p:sp>
        <p:nvSpPr>
          <p:cNvPr id="65" name="TextBox 64"/>
          <p:cNvSpPr txBox="1"/>
          <p:nvPr/>
        </p:nvSpPr>
        <p:spPr>
          <a:xfrm>
            <a:off x="968059" y="1746064"/>
            <a:ext cx="8433097" cy="186689"/>
          </a:xfrm>
          <a:prstGeom prst="rect">
            <a:avLst/>
          </a:prstGeom>
          <a:noFill/>
        </p:spPr>
        <p:txBody>
          <a:bodyPr wrap="none" lIns="0" rIns="0" tIns="0" bIns="0">
            <a:spAutoFit/>
          </a:bodyPr>
          <a:lstStyle/>
          <a:p>
            <a:r>
              <a:rPr sz="1100" b="0">
                <a:solidFill>
                  <a:srgbClr val="2E2E2E"/>
                </a:solidFill>
                <a:latin typeface="Calibri"/>
              </a:rPr>
              <a:t>US$ Mn between 2026 and 2036 the single largest absolute increment of any geography in the dataset. Capturing it is a question of scale execution</a:t>
            </a:r>
          </a:p>
        </p:txBody>
      </p:sp>
      <p:sp>
        <p:nvSpPr>
          <p:cNvPr id="66" name="TextBox 65"/>
          <p:cNvSpPr txBox="1"/>
          <p:nvPr/>
        </p:nvSpPr>
        <p:spPr>
          <a:xfrm>
            <a:off x="190500" y="1913704"/>
            <a:ext cx="3769245" cy="186689"/>
          </a:xfrm>
          <a:prstGeom prst="rect">
            <a:avLst/>
          </a:prstGeom>
          <a:noFill/>
        </p:spPr>
        <p:txBody>
          <a:bodyPr wrap="none" lIns="0" rIns="0" tIns="0" bIns="0">
            <a:spAutoFit/>
          </a:bodyPr>
          <a:lstStyle/>
          <a:p>
            <a:r>
              <a:rPr sz="1100" b="0">
                <a:solidFill>
                  <a:srgbClr val="2E2E2E"/>
                </a:solidFill>
                <a:latin typeface="Calibri"/>
              </a:rPr>
              <a:t>rather than market creation: demand already exists and grows at</a:t>
            </a:r>
          </a:p>
        </p:txBody>
      </p:sp>
      <p:pic>
        <p:nvPicPr>
          <p:cNvPr id="67" name="Picture 66" descr="lock.png"/>
          <p:cNvPicPr>
            <a:picLocks noChangeAspect="1"/>
          </p:cNvPicPr>
          <p:nvPr/>
        </p:nvPicPr>
        <p:blipFill>
          <a:blip r:embed="rId4"/>
          <a:stretch>
            <a:fillRect/>
          </a:stretch>
        </p:blipFill>
        <p:spPr>
          <a:xfrm>
            <a:off x="3907797" y="1903925"/>
            <a:ext cx="128699" cy="187198"/>
          </a:xfrm>
          <a:prstGeom prst="rect">
            <a:avLst/>
          </a:prstGeom>
        </p:spPr>
      </p:pic>
      <p:sp>
        <p:nvSpPr>
          <p:cNvPr id="68" name="TextBox 67"/>
          <p:cNvSpPr txBox="1"/>
          <p:nvPr/>
        </p:nvSpPr>
        <p:spPr>
          <a:xfrm>
            <a:off x="4075293" y="1913704"/>
            <a:ext cx="5402535" cy="186689"/>
          </a:xfrm>
          <a:prstGeom prst="rect">
            <a:avLst/>
          </a:prstGeom>
          <a:noFill/>
        </p:spPr>
        <p:txBody>
          <a:bodyPr wrap="none" lIns="0" rIns="0" tIns="0" bIns="0">
            <a:spAutoFit/>
          </a:bodyPr>
          <a:lstStyle/>
          <a:p>
            <a:r>
              <a:rPr sz="1100" b="0">
                <a:solidFill>
                  <a:srgbClr val="2E2E2E"/>
                </a:solidFill>
                <a:latin typeface="Calibri"/>
              </a:rPr>
              <a:t>at the market level. Prioritising supply, channel coverage and service levels there converts the</a:t>
            </a:r>
          </a:p>
        </p:txBody>
      </p:sp>
      <p:sp>
        <p:nvSpPr>
          <p:cNvPr id="69" name="TextBox 68"/>
          <p:cNvSpPr txBox="1"/>
          <p:nvPr/>
        </p:nvSpPr>
        <p:spPr>
          <a:xfrm>
            <a:off x="190500" y="2081344"/>
            <a:ext cx="1175246" cy="186689"/>
          </a:xfrm>
          <a:prstGeom prst="rect">
            <a:avLst/>
          </a:prstGeom>
          <a:noFill/>
        </p:spPr>
        <p:txBody>
          <a:bodyPr wrap="none" lIns="0" rIns="0" tIns="0" bIns="0">
            <a:spAutoFit/>
          </a:bodyPr>
          <a:lstStyle/>
          <a:p>
            <a:r>
              <a:rPr sz="1100" b="0">
                <a:solidFill>
                  <a:srgbClr val="2E2E2E"/>
                </a:solidFill>
                <a:latin typeface="Calibri"/>
              </a:rPr>
              <a:t>largest share of the</a:t>
            </a:r>
          </a:p>
        </p:txBody>
      </p:sp>
      <p:pic>
        <p:nvPicPr>
          <p:cNvPr id="70" name="Picture 69" descr="lock.png"/>
          <p:cNvPicPr>
            <a:picLocks noChangeAspect="1"/>
          </p:cNvPicPr>
          <p:nvPr/>
        </p:nvPicPr>
        <p:blipFill>
          <a:blip r:embed="rId4"/>
          <a:stretch>
            <a:fillRect/>
          </a:stretch>
        </p:blipFill>
        <p:spPr>
          <a:xfrm>
            <a:off x="1313797" y="2071565"/>
            <a:ext cx="128699" cy="187198"/>
          </a:xfrm>
          <a:prstGeom prst="rect">
            <a:avLst/>
          </a:prstGeom>
        </p:spPr>
      </p:pic>
      <p:sp>
        <p:nvSpPr>
          <p:cNvPr id="71" name="TextBox 70"/>
          <p:cNvSpPr txBox="1"/>
          <p:nvPr/>
        </p:nvSpPr>
        <p:spPr>
          <a:xfrm>
            <a:off x="1481293" y="2081344"/>
            <a:ext cx="3306489" cy="186689"/>
          </a:xfrm>
          <a:prstGeom prst="rect">
            <a:avLst/>
          </a:prstGeom>
          <a:noFill/>
        </p:spPr>
        <p:txBody>
          <a:bodyPr wrap="none" lIns="0" rIns="0" tIns="0" bIns="0">
            <a:spAutoFit/>
          </a:bodyPr>
          <a:lstStyle/>
          <a:p>
            <a:r>
              <a:rPr sz="1100" b="0">
                <a:solidFill>
                  <a:srgbClr val="2E2E2E"/>
                </a:solidFill>
                <a:latin typeface="Calibri"/>
              </a:rPr>
              <a:t>US$ Mn the whole market adds over the forecast period.</a:t>
            </a:r>
          </a:p>
        </p:txBody>
      </p:sp>
      <p:sp>
        <p:nvSpPr>
          <p:cNvPr id="72" name="TextBox 71"/>
          <p:cNvSpPr txBox="1"/>
          <p:nvPr/>
        </p:nvSpPr>
        <p:spPr>
          <a:xfrm>
            <a:off x="190500" y="3498419"/>
            <a:ext cx="1363240" cy="186689"/>
          </a:xfrm>
          <a:prstGeom prst="rect">
            <a:avLst/>
          </a:prstGeom>
          <a:noFill/>
        </p:spPr>
        <p:txBody>
          <a:bodyPr wrap="none" lIns="0" rIns="0" tIns="0" bIns="0">
            <a:spAutoFit/>
          </a:bodyPr>
          <a:lstStyle/>
          <a:p>
            <a:r>
              <a:rPr sz="1100" b="0">
                <a:solidFill>
                  <a:srgbClr val="2E2E2E"/>
                </a:solidFill>
                <a:latin typeface="Calibri"/>
              </a:rPr>
              <a:t>'France' compounds at</a:t>
            </a:r>
          </a:p>
        </p:txBody>
      </p:sp>
      <p:pic>
        <p:nvPicPr>
          <p:cNvPr id="73" name="Picture 72" descr="lock.png"/>
          <p:cNvPicPr>
            <a:picLocks noChangeAspect="1"/>
          </p:cNvPicPr>
          <p:nvPr/>
        </p:nvPicPr>
        <p:blipFill>
          <a:blip r:embed="rId4"/>
          <a:stretch>
            <a:fillRect/>
          </a:stretch>
        </p:blipFill>
        <p:spPr>
          <a:xfrm>
            <a:off x="1501792" y="3488640"/>
            <a:ext cx="128699" cy="187198"/>
          </a:xfrm>
          <a:prstGeom prst="rect">
            <a:avLst/>
          </a:prstGeom>
        </p:spPr>
      </p:pic>
      <p:sp>
        <p:nvSpPr>
          <p:cNvPr id="74" name="TextBox 73"/>
          <p:cNvSpPr txBox="1"/>
          <p:nvPr/>
        </p:nvSpPr>
        <p:spPr>
          <a:xfrm>
            <a:off x="1669288" y="3498419"/>
            <a:ext cx="7602247" cy="186689"/>
          </a:xfrm>
          <a:prstGeom prst="rect">
            <a:avLst/>
          </a:prstGeom>
          <a:noFill/>
        </p:spPr>
        <p:txBody>
          <a:bodyPr wrap="none" lIns="0" rIns="0" tIns="0" bIns="0">
            <a:spAutoFit/>
          </a:bodyPr>
          <a:lstStyle/>
          <a:p>
            <a:r>
              <a:rPr sz="1100" b="0">
                <a:solidFill>
                  <a:srgbClr val="2E2E2E"/>
                </a:solidFill>
                <a:latin typeface="Calibri"/>
              </a:rPr>
              <a:t>CAGR from a below-median base one of 6 geographies in the dataset combining above-median growth with below-median size. That</a:t>
            </a:r>
          </a:p>
        </p:txBody>
      </p:sp>
      <p:sp>
        <p:nvSpPr>
          <p:cNvPr id="75" name="TextBox 74"/>
          <p:cNvSpPr txBox="1"/>
          <p:nvPr/>
        </p:nvSpPr>
        <p:spPr>
          <a:xfrm>
            <a:off x="190500" y="3666059"/>
            <a:ext cx="4759151" cy="186689"/>
          </a:xfrm>
          <a:prstGeom prst="rect">
            <a:avLst/>
          </a:prstGeom>
          <a:noFill/>
        </p:spPr>
        <p:txBody>
          <a:bodyPr wrap="none" lIns="0" rIns="0" tIns="0" bIns="0">
            <a:spAutoFit/>
          </a:bodyPr>
          <a:lstStyle/>
          <a:p>
            <a:r>
              <a:rPr sz="1100" b="0">
                <a:solidFill>
                  <a:srgbClr val="2E2E2E"/>
                </a:solidFill>
                <a:latin typeface="Calibri"/>
              </a:rPr>
              <a:t>profile is where share is cheapest to buy: competitive intensity is lower than in the</a:t>
            </a:r>
          </a:p>
        </p:txBody>
      </p:sp>
      <p:pic>
        <p:nvPicPr>
          <p:cNvPr id="76" name="Picture 75" descr="lock.png"/>
          <p:cNvPicPr>
            <a:picLocks noChangeAspect="1"/>
          </p:cNvPicPr>
          <p:nvPr/>
        </p:nvPicPr>
        <p:blipFill>
          <a:blip r:embed="rId4"/>
          <a:stretch>
            <a:fillRect/>
          </a:stretch>
        </p:blipFill>
        <p:spPr>
          <a:xfrm>
            <a:off x="4897702" y="3656280"/>
            <a:ext cx="128699" cy="187198"/>
          </a:xfrm>
          <a:prstGeom prst="rect">
            <a:avLst/>
          </a:prstGeom>
        </p:spPr>
      </p:pic>
      <p:sp>
        <p:nvSpPr>
          <p:cNvPr id="77" name="TextBox 76"/>
          <p:cNvSpPr txBox="1"/>
          <p:nvPr/>
        </p:nvSpPr>
        <p:spPr>
          <a:xfrm>
            <a:off x="5065198" y="3666059"/>
            <a:ext cx="2075929" cy="186689"/>
          </a:xfrm>
          <a:prstGeom prst="rect">
            <a:avLst/>
          </a:prstGeom>
          <a:noFill/>
        </p:spPr>
        <p:txBody>
          <a:bodyPr wrap="none" lIns="0" rIns="0" tIns="0" bIns="0">
            <a:spAutoFit/>
          </a:bodyPr>
          <a:lstStyle/>
          <a:p>
            <a:r>
              <a:rPr sz="1100" b="0">
                <a:solidFill>
                  <a:srgbClr val="2E2E2E"/>
                </a:solidFill>
                <a:latin typeface="Calibri"/>
              </a:rPr>
              <a:t>-share leaders, while growth runs +</a:t>
            </a:r>
          </a:p>
        </p:txBody>
      </p:sp>
      <p:pic>
        <p:nvPicPr>
          <p:cNvPr id="78" name="Picture 77" descr="lock.png"/>
          <p:cNvPicPr>
            <a:picLocks noChangeAspect="1"/>
          </p:cNvPicPr>
          <p:nvPr/>
        </p:nvPicPr>
        <p:blipFill>
          <a:blip r:embed="rId4"/>
          <a:stretch>
            <a:fillRect/>
          </a:stretch>
        </p:blipFill>
        <p:spPr>
          <a:xfrm>
            <a:off x="7089179" y="3656280"/>
            <a:ext cx="128699" cy="187198"/>
          </a:xfrm>
          <a:prstGeom prst="rect">
            <a:avLst/>
          </a:prstGeom>
        </p:spPr>
      </p:pic>
      <p:sp>
        <p:nvSpPr>
          <p:cNvPr id="79" name="TextBox 78"/>
          <p:cNvSpPr txBox="1"/>
          <p:nvPr/>
        </p:nvSpPr>
        <p:spPr>
          <a:xfrm>
            <a:off x="7256675" y="3666059"/>
            <a:ext cx="1825144" cy="186689"/>
          </a:xfrm>
          <a:prstGeom prst="rect">
            <a:avLst/>
          </a:prstGeom>
          <a:noFill/>
        </p:spPr>
        <p:txBody>
          <a:bodyPr wrap="none" lIns="0" rIns="0" tIns="0" bIns="0">
            <a:spAutoFit/>
          </a:bodyPr>
          <a:lstStyle/>
          <a:p>
            <a:r>
              <a:rPr sz="1100" b="0">
                <a:solidFill>
                  <a:srgbClr val="2E2E2E"/>
                </a:solidFill>
                <a:latin typeface="Calibri"/>
              </a:rPr>
              <a:t>BPS ahead of the market. Early</a:t>
            </a:r>
          </a:p>
        </p:txBody>
      </p:sp>
      <p:sp>
        <p:nvSpPr>
          <p:cNvPr id="80" name="TextBox 79"/>
          <p:cNvSpPr txBox="1"/>
          <p:nvPr/>
        </p:nvSpPr>
        <p:spPr>
          <a:xfrm>
            <a:off x="190500" y="3833699"/>
            <a:ext cx="4556695" cy="186689"/>
          </a:xfrm>
          <a:prstGeom prst="rect">
            <a:avLst/>
          </a:prstGeom>
          <a:noFill/>
        </p:spPr>
        <p:txBody>
          <a:bodyPr wrap="none" lIns="0" rIns="0" tIns="0" bIns="0">
            <a:spAutoFit/>
          </a:bodyPr>
          <a:lstStyle/>
          <a:p>
            <a:r>
              <a:rPr sz="1100" b="0">
                <a:solidFill>
                  <a:srgbClr val="2E2E2E"/>
                </a:solidFill>
                <a:latin typeface="Calibri"/>
              </a:rPr>
              <a:t>distribution and reference accounts established here compound through 2036.</a:t>
            </a:r>
          </a:p>
        </p:txBody>
      </p:sp>
      <p:sp>
        <p:nvSpPr>
          <p:cNvPr id="81" name="TextBox 80"/>
          <p:cNvSpPr txBox="1"/>
          <p:nvPr/>
        </p:nvSpPr>
        <p:spPr>
          <a:xfrm>
            <a:off x="190500" y="5250774"/>
            <a:ext cx="2153418" cy="186689"/>
          </a:xfrm>
          <a:prstGeom prst="rect">
            <a:avLst/>
          </a:prstGeom>
          <a:noFill/>
        </p:spPr>
        <p:txBody>
          <a:bodyPr wrap="none" lIns="0" rIns="0" tIns="0" bIns="0">
            <a:spAutoFit/>
          </a:bodyPr>
          <a:lstStyle/>
          <a:p>
            <a:r>
              <a:rPr sz="1100" b="0">
                <a:solidFill>
                  <a:srgbClr val="2E2E2E"/>
                </a:solidFill>
                <a:latin typeface="Calibri"/>
              </a:rPr>
              <a:t>'Bathrooms and Wet Areas' grows at</a:t>
            </a:r>
          </a:p>
        </p:txBody>
      </p:sp>
      <p:pic>
        <p:nvPicPr>
          <p:cNvPr id="82" name="Picture 81" descr="lock.png"/>
          <p:cNvPicPr>
            <a:picLocks noChangeAspect="1"/>
          </p:cNvPicPr>
          <p:nvPr/>
        </p:nvPicPr>
        <p:blipFill>
          <a:blip r:embed="rId4"/>
          <a:stretch>
            <a:fillRect/>
          </a:stretch>
        </p:blipFill>
        <p:spPr>
          <a:xfrm>
            <a:off x="2291970" y="5240995"/>
            <a:ext cx="128699" cy="187198"/>
          </a:xfrm>
          <a:prstGeom prst="rect">
            <a:avLst/>
          </a:prstGeom>
        </p:spPr>
      </p:pic>
      <p:sp>
        <p:nvSpPr>
          <p:cNvPr id="83" name="TextBox 82"/>
          <p:cNvSpPr txBox="1"/>
          <p:nvPr/>
        </p:nvSpPr>
        <p:spPr>
          <a:xfrm>
            <a:off x="2459466" y="5250774"/>
            <a:ext cx="2956676" cy="186689"/>
          </a:xfrm>
          <a:prstGeom prst="rect">
            <a:avLst/>
          </a:prstGeom>
          <a:noFill/>
        </p:spPr>
        <p:txBody>
          <a:bodyPr wrap="none" lIns="0" rIns="0" tIns="0" bIns="0">
            <a:spAutoFit/>
          </a:bodyPr>
          <a:lstStyle/>
          <a:p>
            <a:r>
              <a:rPr sz="1100" b="0">
                <a:solidFill>
                  <a:srgbClr val="2E2E2E"/>
                </a:solidFill>
                <a:latin typeface="Calibri"/>
              </a:rPr>
              <a:t>CAGR, the fastest of 9 application routes, and adds</a:t>
            </a:r>
          </a:p>
        </p:txBody>
      </p:sp>
      <p:pic>
        <p:nvPicPr>
          <p:cNvPr id="84" name="Picture 83" descr="lock.png"/>
          <p:cNvPicPr>
            <a:picLocks noChangeAspect="1"/>
          </p:cNvPicPr>
          <p:nvPr/>
        </p:nvPicPr>
        <p:blipFill>
          <a:blip r:embed="rId4"/>
          <a:stretch>
            <a:fillRect/>
          </a:stretch>
        </p:blipFill>
        <p:spPr>
          <a:xfrm>
            <a:off x="5364194" y="5240995"/>
            <a:ext cx="128699" cy="187198"/>
          </a:xfrm>
          <a:prstGeom prst="rect">
            <a:avLst/>
          </a:prstGeom>
        </p:spPr>
      </p:pic>
      <p:sp>
        <p:nvSpPr>
          <p:cNvPr id="85" name="TextBox 84"/>
          <p:cNvSpPr txBox="1"/>
          <p:nvPr/>
        </p:nvSpPr>
        <p:spPr>
          <a:xfrm>
            <a:off x="5531690" y="5250774"/>
            <a:ext cx="3675384" cy="186689"/>
          </a:xfrm>
          <a:prstGeom prst="rect">
            <a:avLst/>
          </a:prstGeom>
          <a:noFill/>
        </p:spPr>
        <p:txBody>
          <a:bodyPr wrap="none" lIns="0" rIns="0" tIns="0" bIns="0">
            <a:spAutoFit/>
          </a:bodyPr>
          <a:lstStyle/>
          <a:p>
            <a:r>
              <a:rPr sz="1100" b="0">
                <a:solidFill>
                  <a:srgbClr val="2E2E2E"/>
                </a:solidFill>
                <a:latin typeface="Calibri"/>
              </a:rPr>
              <a:t>US$ Mn over the forecast period while 'Roofs and Terraces' still</a:t>
            </a:r>
          </a:p>
        </p:txBody>
      </p:sp>
      <p:sp>
        <p:nvSpPr>
          <p:cNvPr id="86" name="TextBox 85"/>
          <p:cNvSpPr txBox="1"/>
          <p:nvPr/>
        </p:nvSpPr>
        <p:spPr>
          <a:xfrm>
            <a:off x="190500" y="5418414"/>
            <a:ext cx="456282" cy="186689"/>
          </a:xfrm>
          <a:prstGeom prst="rect">
            <a:avLst/>
          </a:prstGeom>
          <a:noFill/>
        </p:spPr>
        <p:txBody>
          <a:bodyPr wrap="none" lIns="0" rIns="0" tIns="0" bIns="0">
            <a:spAutoFit/>
          </a:bodyPr>
          <a:lstStyle/>
          <a:p>
            <a:r>
              <a:rPr sz="1100" b="0">
                <a:solidFill>
                  <a:srgbClr val="2E2E2E"/>
                </a:solidFill>
                <a:latin typeface="Calibri"/>
              </a:rPr>
              <a:t>carries</a:t>
            </a:r>
          </a:p>
        </p:txBody>
      </p:sp>
      <p:pic>
        <p:nvPicPr>
          <p:cNvPr id="87" name="Picture 86" descr="lock.png"/>
          <p:cNvPicPr>
            <a:picLocks noChangeAspect="1"/>
          </p:cNvPicPr>
          <p:nvPr/>
        </p:nvPicPr>
        <p:blipFill>
          <a:blip r:embed="rId4"/>
          <a:stretch>
            <a:fillRect/>
          </a:stretch>
        </p:blipFill>
        <p:spPr>
          <a:xfrm>
            <a:off x="594833" y="5408635"/>
            <a:ext cx="128699" cy="187198"/>
          </a:xfrm>
          <a:prstGeom prst="rect">
            <a:avLst/>
          </a:prstGeom>
        </p:spPr>
      </p:pic>
      <p:sp>
        <p:nvSpPr>
          <p:cNvPr id="88" name="TextBox 87"/>
          <p:cNvSpPr txBox="1"/>
          <p:nvPr/>
        </p:nvSpPr>
        <p:spPr>
          <a:xfrm>
            <a:off x="762329" y="5418414"/>
            <a:ext cx="8138417" cy="186689"/>
          </a:xfrm>
          <a:prstGeom prst="rect">
            <a:avLst/>
          </a:prstGeom>
          <a:noFill/>
        </p:spPr>
        <p:txBody>
          <a:bodyPr wrap="none" lIns="0" rIns="0" tIns="0" bIns="0">
            <a:spAutoFit/>
          </a:bodyPr>
          <a:lstStyle/>
          <a:p>
            <a:r>
              <a:rPr sz="1100" b="0">
                <a:solidFill>
                  <a:srgbClr val="2E2E2E"/>
                </a:solidFill>
                <a:latin typeface="Calibri"/>
              </a:rPr>
              <a:t>of demand today. Pairing the incumbent route for volume with the fastest route for growth and leading with 'Silicone Waterproof Coatings' at</a:t>
            </a:r>
          </a:p>
        </p:txBody>
      </p:sp>
      <p:pic>
        <p:nvPicPr>
          <p:cNvPr id="89" name="Picture 88" descr="lock.png"/>
          <p:cNvPicPr>
            <a:picLocks noChangeAspect="1"/>
          </p:cNvPicPr>
          <p:nvPr/>
        </p:nvPicPr>
        <p:blipFill>
          <a:blip r:embed="rId4"/>
          <a:stretch>
            <a:fillRect/>
          </a:stretch>
        </p:blipFill>
        <p:spPr>
          <a:xfrm>
            <a:off x="8848799" y="5408635"/>
            <a:ext cx="128699" cy="187198"/>
          </a:xfrm>
          <a:prstGeom prst="rect">
            <a:avLst/>
          </a:prstGeom>
        </p:spPr>
      </p:pic>
      <p:sp>
        <p:nvSpPr>
          <p:cNvPr id="90" name="TextBox 89"/>
          <p:cNvSpPr txBox="1"/>
          <p:nvPr/>
        </p:nvSpPr>
        <p:spPr>
          <a:xfrm>
            <a:off x="9016295" y="5418414"/>
            <a:ext cx="384522" cy="186689"/>
          </a:xfrm>
          <a:prstGeom prst="rect">
            <a:avLst/>
          </a:prstGeom>
          <a:noFill/>
        </p:spPr>
        <p:txBody>
          <a:bodyPr wrap="none" lIns="0" rIns="0" tIns="0" bIns="0">
            <a:spAutoFit/>
          </a:bodyPr>
          <a:lstStyle/>
          <a:p>
            <a:r>
              <a:rPr sz="1100" b="0">
                <a:solidFill>
                  <a:srgbClr val="2E2E2E"/>
                </a:solidFill>
                <a:latin typeface="Calibri"/>
              </a:rPr>
              <a:t>is the</a:t>
            </a:r>
          </a:p>
        </p:txBody>
      </p:sp>
      <p:sp>
        <p:nvSpPr>
          <p:cNvPr id="91" name="TextBox 90"/>
          <p:cNvSpPr txBox="1"/>
          <p:nvPr/>
        </p:nvSpPr>
        <p:spPr>
          <a:xfrm>
            <a:off x="190500" y="5586054"/>
            <a:ext cx="2797621" cy="186689"/>
          </a:xfrm>
          <a:prstGeom prst="rect">
            <a:avLst/>
          </a:prstGeom>
          <a:noFill/>
        </p:spPr>
        <p:txBody>
          <a:bodyPr wrap="none" lIns="0" rIns="0" tIns="0" bIns="0">
            <a:spAutoFit/>
          </a:bodyPr>
          <a:lstStyle/>
          <a:p>
            <a:r>
              <a:rPr sz="1100" b="0">
                <a:solidFill>
                  <a:srgbClr val="2E2E2E"/>
                </a:solidFill>
                <a:latin typeface="Calibri"/>
              </a:rPr>
              <a:t>highest-yield combination the dataset supports.</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Waterproof Coatings Market Recent Developments &amp; Milestones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Recent developments and milestones shaping the global market, by year</a:t>
            </a:r>
          </a:p>
        </p:txBody>
      </p:sp>
      <p:sp>
        <p:nvSpPr>
          <p:cNvPr id="10" name="Rectangle 9"/>
          <p:cNvSpPr/>
          <p:nvPr/>
        </p:nvSpPr>
        <p:spPr>
          <a:xfrm>
            <a:off x="142875" y="1025515"/>
            <a:ext cx="11906250" cy="292059"/>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2875" y="1025515"/>
            <a:ext cx="1428750" cy="292059"/>
          </a:xfrm>
          <a:prstGeom prst="rect">
            <a:avLst/>
          </a:prstGeom>
          <a:noFill/>
        </p:spPr>
        <p:txBody>
          <a:bodyPr wrap="square" lIns="28575" rIns="28575" tIns="9525" bIns="9525" anchor="ctr">
            <a:spAutoFit/>
          </a:bodyPr>
          <a:lstStyle/>
          <a:p>
            <a:pPr algn="ctr"/>
            <a:r>
              <a:rPr sz="1150" b="1">
                <a:solidFill>
                  <a:srgbClr val="FFFFFF"/>
                </a:solidFill>
                <a:latin typeface="Calibri"/>
              </a:rPr>
              <a:t>Year</a:t>
            </a:r>
          </a:p>
        </p:txBody>
      </p:sp>
      <p:sp>
        <p:nvSpPr>
          <p:cNvPr id="12" name="TextBox 11"/>
          <p:cNvSpPr txBox="1"/>
          <p:nvPr/>
        </p:nvSpPr>
        <p:spPr>
          <a:xfrm>
            <a:off x="1714500" y="1025515"/>
            <a:ext cx="10239375" cy="292059"/>
          </a:xfrm>
          <a:prstGeom prst="rect">
            <a:avLst/>
          </a:prstGeom>
          <a:noFill/>
        </p:spPr>
        <p:txBody>
          <a:bodyPr wrap="square" lIns="28575" rIns="28575" tIns="9525" bIns="9525" anchor="ctr">
            <a:spAutoFit/>
          </a:bodyPr>
          <a:lstStyle/>
          <a:p>
            <a:pPr algn="ctr"/>
            <a:r>
              <a:rPr sz="1150" b="1">
                <a:solidFill>
                  <a:srgbClr val="FFFFFF"/>
                </a:solidFill>
                <a:latin typeface="Calibri"/>
              </a:rPr>
              <a:t>Recent Development</a:t>
            </a:r>
          </a:p>
        </p:txBody>
      </p:sp>
      <p:sp>
        <p:nvSpPr>
          <p:cNvPr id="13" name="Rectangle 12"/>
          <p:cNvSpPr/>
          <p:nvPr/>
        </p:nvSpPr>
        <p:spPr>
          <a:xfrm>
            <a:off x="142875" y="1317574"/>
            <a:ext cx="11906250" cy="1296013"/>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2875" y="1317574"/>
            <a:ext cx="1428750" cy="1296013"/>
          </a:xfrm>
          <a:prstGeom prst="rect">
            <a:avLst/>
          </a:prstGeom>
          <a:noFill/>
        </p:spPr>
        <p:txBody>
          <a:bodyPr wrap="square" lIns="28575" rIns="28575" tIns="9525" bIns="9525" anchor="ctr">
            <a:spAutoFit/>
          </a:bodyPr>
          <a:lstStyle/>
          <a:p>
            <a:pPr algn="ctr"/>
            <a:r>
              <a:rPr sz="1250" b="1">
                <a:solidFill>
                  <a:srgbClr val="0B2E4A"/>
                </a:solidFill>
                <a:latin typeface="Calibri"/>
              </a:rPr>
              <a:t>2025</a:t>
            </a:r>
          </a:p>
        </p:txBody>
      </p:sp>
      <p:cxnSp>
        <p:nvCxnSpPr>
          <p:cNvPr id="15" name="Connector 14"/>
          <p:cNvCxnSpPr/>
          <p:nvPr/>
        </p:nvCxnSpPr>
        <p:spPr>
          <a:xfrm>
            <a:off x="1571625" y="1317574"/>
            <a:ext cx="0" cy="1296013"/>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714500" y="1668957"/>
            <a:ext cx="102108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7" name="Rectangle 16"/>
          <p:cNvSpPr/>
          <p:nvPr/>
        </p:nvSpPr>
        <p:spPr>
          <a:xfrm>
            <a:off x="142875" y="2613586"/>
            <a:ext cx="11906250" cy="985700"/>
          </a:xfrm>
          <a:prstGeom prst="rect">
            <a:avLst/>
          </a:prstGeom>
          <a:solidFill>
            <a:srgbClr val="F5F8FA"/>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2875" y="26135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2026</a:t>
            </a:r>
          </a:p>
        </p:txBody>
      </p:sp>
      <p:cxnSp>
        <p:nvCxnSpPr>
          <p:cNvPr id="19" name="Connector 18"/>
          <p:cNvCxnSpPr/>
          <p:nvPr/>
        </p:nvCxnSpPr>
        <p:spPr>
          <a:xfrm>
            <a:off x="1571625" y="26135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714500" y="2905646"/>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1" name="Rectangle 20"/>
          <p:cNvSpPr/>
          <p:nvPr/>
        </p:nvSpPr>
        <p:spPr>
          <a:xfrm>
            <a:off x="142875" y="3599286"/>
            <a:ext cx="11906250" cy="985700"/>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2875" y="35992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2035</a:t>
            </a:r>
          </a:p>
        </p:txBody>
      </p:sp>
      <p:cxnSp>
        <p:nvCxnSpPr>
          <p:cNvPr id="23" name="Connector 22"/>
          <p:cNvCxnSpPr/>
          <p:nvPr/>
        </p:nvCxnSpPr>
        <p:spPr>
          <a:xfrm>
            <a:off x="1571625" y="35992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714500" y="38913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5" name="Rectangle 24"/>
          <p:cNvSpPr/>
          <p:nvPr/>
        </p:nvSpPr>
        <p:spPr>
          <a:xfrm>
            <a:off x="142875" y="4584986"/>
            <a:ext cx="11906250" cy="985700"/>
          </a:xfrm>
          <a:prstGeom prst="rect">
            <a:avLst/>
          </a:prstGeom>
          <a:solidFill>
            <a:srgbClr val="F5F8FA"/>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2875" y="45849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2031</a:t>
            </a:r>
          </a:p>
        </p:txBody>
      </p:sp>
      <p:cxnSp>
        <p:nvCxnSpPr>
          <p:cNvPr id="27" name="Connector 26"/>
          <p:cNvCxnSpPr/>
          <p:nvPr/>
        </p:nvCxnSpPr>
        <p:spPr>
          <a:xfrm>
            <a:off x="1571625" y="45849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714500" y="48770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9" name="Rectangle 28"/>
          <p:cNvSpPr/>
          <p:nvPr/>
        </p:nvSpPr>
        <p:spPr>
          <a:xfrm>
            <a:off x="142875" y="5570686"/>
            <a:ext cx="11906250" cy="985700"/>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42875" y="55706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2036</a:t>
            </a:r>
          </a:p>
        </p:txBody>
      </p:sp>
      <p:cxnSp>
        <p:nvCxnSpPr>
          <p:cNvPr id="31" name="Connector 30"/>
          <p:cNvCxnSpPr/>
          <p:nvPr/>
        </p:nvCxnSpPr>
        <p:spPr>
          <a:xfrm>
            <a:off x="1571625" y="55706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714500" y="58627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3" name="TextBox 3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4" name="TextBox 33"/>
          <p:cNvSpPr txBox="1"/>
          <p:nvPr/>
        </p:nvSpPr>
        <p:spPr>
          <a:xfrm>
            <a:off x="1743075" y="1797939"/>
            <a:ext cx="3516585" cy="186689"/>
          </a:xfrm>
          <a:prstGeom prst="rect">
            <a:avLst/>
          </a:prstGeom>
          <a:noFill/>
        </p:spPr>
        <p:txBody>
          <a:bodyPr wrap="none" lIns="0" rIns="0" tIns="0" bIns="0">
            <a:spAutoFit/>
          </a:bodyPr>
          <a:lstStyle/>
          <a:p>
            <a:r>
              <a:rPr sz="1100" b="0">
                <a:solidFill>
                  <a:srgbClr val="2E2E2E"/>
                </a:solidFill>
                <a:latin typeface="Calibri"/>
              </a:rPr>
              <a:t>Strongest historical expansion on record: Global value rose +</a:t>
            </a:r>
          </a:p>
        </p:txBody>
      </p:sp>
      <p:pic>
        <p:nvPicPr>
          <p:cNvPr id="35" name="Picture 34" descr="lock.png"/>
          <p:cNvPicPr>
            <a:picLocks noChangeAspect="1"/>
          </p:cNvPicPr>
          <p:nvPr/>
        </p:nvPicPr>
        <p:blipFill>
          <a:blip r:embed="rId4"/>
          <a:stretch>
            <a:fillRect/>
          </a:stretch>
        </p:blipFill>
        <p:spPr>
          <a:xfrm>
            <a:off x="5207711" y="1788160"/>
            <a:ext cx="128699" cy="187198"/>
          </a:xfrm>
          <a:prstGeom prst="rect">
            <a:avLst/>
          </a:prstGeom>
        </p:spPr>
      </p:pic>
      <p:sp>
        <p:nvSpPr>
          <p:cNvPr id="36" name="TextBox 35"/>
          <p:cNvSpPr txBox="1"/>
          <p:nvPr/>
        </p:nvSpPr>
        <p:spPr>
          <a:xfrm>
            <a:off x="5375207" y="1797939"/>
            <a:ext cx="935955" cy="186689"/>
          </a:xfrm>
          <a:prstGeom prst="rect">
            <a:avLst/>
          </a:prstGeom>
          <a:noFill/>
        </p:spPr>
        <p:txBody>
          <a:bodyPr wrap="none" lIns="0" rIns="0" tIns="0" bIns="0">
            <a:spAutoFit/>
          </a:bodyPr>
          <a:lstStyle/>
          <a:p>
            <a:r>
              <a:rPr sz="1100" b="0">
                <a:solidFill>
                  <a:srgbClr val="2E2E2E"/>
                </a:solidFill>
                <a:latin typeface="Calibri"/>
              </a:rPr>
              <a:t>year on year to</a:t>
            </a:r>
          </a:p>
        </p:txBody>
      </p:sp>
      <p:pic>
        <p:nvPicPr>
          <p:cNvPr id="37" name="Picture 36" descr="lock.png"/>
          <p:cNvPicPr>
            <a:picLocks noChangeAspect="1"/>
          </p:cNvPicPr>
          <p:nvPr/>
        </p:nvPicPr>
        <p:blipFill>
          <a:blip r:embed="rId4"/>
          <a:stretch>
            <a:fillRect/>
          </a:stretch>
        </p:blipFill>
        <p:spPr>
          <a:xfrm>
            <a:off x="6259214" y="1788160"/>
            <a:ext cx="128699" cy="187198"/>
          </a:xfrm>
          <a:prstGeom prst="rect">
            <a:avLst/>
          </a:prstGeom>
        </p:spPr>
      </p:pic>
      <p:sp>
        <p:nvSpPr>
          <p:cNvPr id="38" name="TextBox 37"/>
          <p:cNvSpPr txBox="1"/>
          <p:nvPr/>
        </p:nvSpPr>
        <p:spPr>
          <a:xfrm>
            <a:off x="6426710" y="1797939"/>
            <a:ext cx="4878114" cy="186689"/>
          </a:xfrm>
          <a:prstGeom prst="rect">
            <a:avLst/>
          </a:prstGeom>
          <a:noFill/>
        </p:spPr>
        <p:txBody>
          <a:bodyPr wrap="none" lIns="0" rIns="0" tIns="0" bIns="0">
            <a:spAutoFit/>
          </a:bodyPr>
          <a:lstStyle/>
          <a:p>
            <a:r>
              <a:rPr sz="1100" b="0">
                <a:solidFill>
                  <a:srgbClr val="2E2E2E"/>
                </a:solidFill>
                <a:latin typeface="Calibri"/>
              </a:rPr>
              <a:t>US$ Mn, the steepest single-year move of the 2021–2025 period. Demand for 'Other</a:t>
            </a:r>
          </a:p>
        </p:txBody>
      </p:sp>
      <p:sp>
        <p:nvSpPr>
          <p:cNvPr id="39" name="TextBox 38"/>
          <p:cNvSpPr txBox="1"/>
          <p:nvPr/>
        </p:nvSpPr>
        <p:spPr>
          <a:xfrm>
            <a:off x="1743075" y="1965579"/>
            <a:ext cx="1481385" cy="186689"/>
          </a:xfrm>
          <a:prstGeom prst="rect">
            <a:avLst/>
          </a:prstGeom>
          <a:noFill/>
        </p:spPr>
        <p:txBody>
          <a:bodyPr wrap="none" lIns="0" rIns="0" tIns="0" bIns="0">
            <a:spAutoFit/>
          </a:bodyPr>
          <a:lstStyle/>
          <a:p>
            <a:r>
              <a:rPr sz="1100" b="0">
                <a:solidFill>
                  <a:srgbClr val="2E2E2E"/>
                </a:solidFill>
                <a:latin typeface="Calibri"/>
              </a:rPr>
              <a:t>Polymer-Based Coatings'</a:t>
            </a:r>
          </a:p>
        </p:txBody>
      </p:sp>
      <p:pic>
        <p:nvPicPr>
          <p:cNvPr id="40" name="Picture 39" descr="lock.png"/>
          <p:cNvPicPr>
            <a:picLocks noChangeAspect="1"/>
          </p:cNvPicPr>
          <p:nvPr/>
        </p:nvPicPr>
        <p:blipFill>
          <a:blip r:embed="rId4"/>
          <a:stretch>
            <a:fillRect/>
          </a:stretch>
        </p:blipFill>
        <p:spPr>
          <a:xfrm>
            <a:off x="3172512" y="1955800"/>
            <a:ext cx="128699" cy="187198"/>
          </a:xfrm>
          <a:prstGeom prst="rect">
            <a:avLst/>
          </a:prstGeom>
        </p:spPr>
      </p:pic>
      <p:sp>
        <p:nvSpPr>
          <p:cNvPr id="41" name="TextBox 40"/>
          <p:cNvSpPr txBox="1"/>
          <p:nvPr/>
        </p:nvSpPr>
        <p:spPr>
          <a:xfrm>
            <a:off x="3340007" y="1965579"/>
            <a:ext cx="7670750" cy="186689"/>
          </a:xfrm>
          <a:prstGeom prst="rect">
            <a:avLst/>
          </a:prstGeom>
          <a:noFill/>
        </p:spPr>
        <p:txBody>
          <a:bodyPr wrap="none" lIns="0" rIns="0" tIns="0" bIns="0">
            <a:spAutoFit/>
          </a:bodyPr>
          <a:lstStyle/>
          <a:p>
            <a:r>
              <a:rPr sz="1100" b="0">
                <a:solidFill>
                  <a:srgbClr val="2E2E2E"/>
                </a:solidFill>
                <a:latin typeface="Calibri"/>
              </a:rPr>
              <a:t>of product type / chemistry value by 2036 set the pace, and the 9 application routes tracked here all carried volume through the year.</a:t>
            </a:r>
          </a:p>
        </p:txBody>
      </p:sp>
      <p:sp>
        <p:nvSpPr>
          <p:cNvPr id="42" name="TextBox 41"/>
          <p:cNvSpPr txBox="1"/>
          <p:nvPr/>
        </p:nvSpPr>
        <p:spPr>
          <a:xfrm>
            <a:off x="1743075" y="2945502"/>
            <a:ext cx="3340465" cy="179984"/>
          </a:xfrm>
          <a:prstGeom prst="rect">
            <a:avLst/>
          </a:prstGeom>
          <a:noFill/>
        </p:spPr>
        <p:txBody>
          <a:bodyPr wrap="none" lIns="0" rIns="0" tIns="0" bIns="0">
            <a:spAutoFit/>
          </a:bodyPr>
          <a:lstStyle/>
          <a:p>
            <a:r>
              <a:rPr sz="1055" b="0">
                <a:solidFill>
                  <a:srgbClr val="2E2E2E"/>
                </a:solidFill>
                <a:latin typeface="Calibri"/>
              </a:rPr>
              <a:t>Base year for the forecast: the global market is estimated at</a:t>
            </a:r>
          </a:p>
        </p:txBody>
      </p:sp>
      <p:pic>
        <p:nvPicPr>
          <p:cNvPr id="43" name="Picture 42" descr="lock.png"/>
          <p:cNvPicPr>
            <a:picLocks noChangeAspect="1"/>
          </p:cNvPicPr>
          <p:nvPr/>
        </p:nvPicPr>
        <p:blipFill>
          <a:blip r:embed="rId4"/>
          <a:stretch>
            <a:fillRect/>
          </a:stretch>
        </p:blipFill>
        <p:spPr>
          <a:xfrm>
            <a:off x="5030621" y="2936114"/>
            <a:ext cx="123551" cy="179710"/>
          </a:xfrm>
          <a:prstGeom prst="rect">
            <a:avLst/>
          </a:prstGeom>
        </p:spPr>
      </p:pic>
      <p:sp>
        <p:nvSpPr>
          <p:cNvPr id="44" name="TextBox 43"/>
          <p:cNvSpPr txBox="1"/>
          <p:nvPr/>
        </p:nvSpPr>
        <p:spPr>
          <a:xfrm>
            <a:off x="5191417" y="2945502"/>
            <a:ext cx="1825680" cy="179984"/>
          </a:xfrm>
          <a:prstGeom prst="rect">
            <a:avLst/>
          </a:prstGeom>
          <a:noFill/>
        </p:spPr>
        <p:txBody>
          <a:bodyPr wrap="none" lIns="0" rIns="0" tIns="0" bIns="0">
            <a:spAutoFit/>
          </a:bodyPr>
          <a:lstStyle/>
          <a:p>
            <a:r>
              <a:rPr sz="1055" b="0">
                <a:solidFill>
                  <a:srgbClr val="2E2E2E"/>
                </a:solidFill>
                <a:latin typeface="Calibri"/>
              </a:rPr>
              <a:t>US$ Mn, having compounded at</a:t>
            </a:r>
          </a:p>
        </p:txBody>
      </p:sp>
      <p:pic>
        <p:nvPicPr>
          <p:cNvPr id="45" name="Picture 44" descr="lock.png"/>
          <p:cNvPicPr>
            <a:picLocks noChangeAspect="1"/>
          </p:cNvPicPr>
          <p:nvPr/>
        </p:nvPicPr>
        <p:blipFill>
          <a:blip r:embed="rId4"/>
          <a:stretch>
            <a:fillRect/>
          </a:stretch>
        </p:blipFill>
        <p:spPr>
          <a:xfrm>
            <a:off x="6964179" y="2936114"/>
            <a:ext cx="123551" cy="179710"/>
          </a:xfrm>
          <a:prstGeom prst="rect">
            <a:avLst/>
          </a:prstGeom>
        </p:spPr>
      </p:pic>
      <p:sp>
        <p:nvSpPr>
          <p:cNvPr id="46" name="TextBox 45"/>
          <p:cNvSpPr txBox="1"/>
          <p:nvPr/>
        </p:nvSpPr>
        <p:spPr>
          <a:xfrm>
            <a:off x="7124975" y="2945502"/>
            <a:ext cx="2310788" cy="179984"/>
          </a:xfrm>
          <a:prstGeom prst="rect">
            <a:avLst/>
          </a:prstGeom>
          <a:noFill/>
        </p:spPr>
        <p:txBody>
          <a:bodyPr wrap="none" lIns="0" rIns="0" tIns="0" bIns="0">
            <a:spAutoFit/>
          </a:bodyPr>
          <a:lstStyle/>
          <a:p>
            <a:r>
              <a:rPr sz="1055" b="0">
                <a:solidFill>
                  <a:srgbClr val="2E2E2E"/>
                </a:solidFill>
                <a:latin typeface="Calibri"/>
              </a:rPr>
              <a:t>across 2021–2025. 'North America' holds</a:t>
            </a:r>
          </a:p>
        </p:txBody>
      </p:sp>
      <p:pic>
        <p:nvPicPr>
          <p:cNvPr id="47" name="Picture 46" descr="lock.png"/>
          <p:cNvPicPr>
            <a:picLocks noChangeAspect="1"/>
          </p:cNvPicPr>
          <p:nvPr/>
        </p:nvPicPr>
        <p:blipFill>
          <a:blip r:embed="rId4"/>
          <a:stretch>
            <a:fillRect/>
          </a:stretch>
        </p:blipFill>
        <p:spPr>
          <a:xfrm>
            <a:off x="9382846" y="2936114"/>
            <a:ext cx="123551" cy="179710"/>
          </a:xfrm>
          <a:prstGeom prst="rect">
            <a:avLst/>
          </a:prstGeom>
        </p:spPr>
      </p:pic>
      <p:sp>
        <p:nvSpPr>
          <p:cNvPr id="48" name="TextBox 47"/>
          <p:cNvSpPr txBox="1"/>
          <p:nvPr/>
        </p:nvSpPr>
        <p:spPr>
          <a:xfrm>
            <a:off x="9543642" y="2945502"/>
            <a:ext cx="1896665" cy="179984"/>
          </a:xfrm>
          <a:prstGeom prst="rect">
            <a:avLst/>
          </a:prstGeom>
          <a:noFill/>
        </p:spPr>
        <p:txBody>
          <a:bodyPr wrap="none" lIns="0" rIns="0" tIns="0" bIns="0">
            <a:spAutoFit/>
          </a:bodyPr>
          <a:lstStyle/>
          <a:p>
            <a:r>
              <a:rPr sz="1055" b="0">
                <a:solidFill>
                  <a:srgbClr val="2E2E2E"/>
                </a:solidFill>
                <a:latin typeface="Calibri"/>
              </a:rPr>
              <a:t>of value across 7 regions, and the</a:t>
            </a:r>
          </a:p>
        </p:txBody>
      </p:sp>
      <p:sp>
        <p:nvSpPr>
          <p:cNvPr id="49" name="TextBox 48"/>
          <p:cNvSpPr txBox="1"/>
          <p:nvPr/>
        </p:nvSpPr>
        <p:spPr>
          <a:xfrm>
            <a:off x="1743075" y="3106436"/>
            <a:ext cx="4803386" cy="179984"/>
          </a:xfrm>
          <a:prstGeom prst="rect">
            <a:avLst/>
          </a:prstGeom>
          <a:noFill/>
        </p:spPr>
        <p:txBody>
          <a:bodyPr wrap="none" lIns="0" rIns="0" tIns="0" bIns="0">
            <a:spAutoFit/>
          </a:bodyPr>
          <a:lstStyle/>
          <a:p>
            <a:r>
              <a:rPr sz="1055" b="0">
                <a:solidFill>
                  <a:srgbClr val="2E2E2E"/>
                </a:solidFill>
                <a:latin typeface="Calibri"/>
              </a:rPr>
              <a:t>forecast is built from 6 segment breakdowns covering 8 product type / chemistry lines.</a:t>
            </a:r>
          </a:p>
        </p:txBody>
      </p:sp>
      <p:sp>
        <p:nvSpPr>
          <p:cNvPr id="50" name="TextBox 49"/>
          <p:cNvSpPr txBox="1"/>
          <p:nvPr/>
        </p:nvSpPr>
        <p:spPr>
          <a:xfrm>
            <a:off x="1743075" y="3931201"/>
            <a:ext cx="1089374" cy="179984"/>
          </a:xfrm>
          <a:prstGeom prst="rect">
            <a:avLst/>
          </a:prstGeom>
          <a:noFill/>
        </p:spPr>
        <p:txBody>
          <a:bodyPr wrap="none" lIns="0" rIns="0" tIns="0" bIns="0">
            <a:spAutoFit/>
          </a:bodyPr>
          <a:lstStyle/>
          <a:p>
            <a:r>
              <a:rPr sz="1055" b="0">
                <a:solidFill>
                  <a:srgbClr val="2E2E2E"/>
                </a:solidFill>
                <a:latin typeface="Calibri"/>
              </a:rPr>
              <a:t>The market passes</a:t>
            </a:r>
          </a:p>
        </p:txBody>
      </p:sp>
      <p:pic>
        <p:nvPicPr>
          <p:cNvPr id="51" name="Picture 50" descr="lock.png"/>
          <p:cNvPicPr>
            <a:picLocks noChangeAspect="1"/>
          </p:cNvPicPr>
          <p:nvPr/>
        </p:nvPicPr>
        <p:blipFill>
          <a:blip r:embed="rId4"/>
          <a:stretch>
            <a:fillRect/>
          </a:stretch>
        </p:blipFill>
        <p:spPr>
          <a:xfrm>
            <a:off x="2779530" y="3921813"/>
            <a:ext cx="123551" cy="179710"/>
          </a:xfrm>
          <a:prstGeom prst="rect">
            <a:avLst/>
          </a:prstGeom>
        </p:spPr>
      </p:pic>
      <p:sp>
        <p:nvSpPr>
          <p:cNvPr id="52" name="TextBox 51"/>
          <p:cNvSpPr txBox="1"/>
          <p:nvPr/>
        </p:nvSpPr>
        <p:spPr>
          <a:xfrm>
            <a:off x="2940326" y="3931201"/>
            <a:ext cx="2945201" cy="179984"/>
          </a:xfrm>
          <a:prstGeom prst="rect">
            <a:avLst/>
          </a:prstGeom>
          <a:noFill/>
        </p:spPr>
        <p:txBody>
          <a:bodyPr wrap="none" lIns="0" rIns="0" tIns="0" bIns="0">
            <a:spAutoFit/>
          </a:bodyPr>
          <a:lstStyle/>
          <a:p>
            <a:r>
              <a:rPr sz="1055" b="0">
                <a:solidFill>
                  <a:srgbClr val="2E2E2E"/>
                </a:solidFill>
                <a:latin typeface="Calibri"/>
              </a:rPr>
              <a:t>US$ Mn one and a half times the 2026 base reaching</a:t>
            </a:r>
          </a:p>
        </p:txBody>
      </p:sp>
      <p:pic>
        <p:nvPicPr>
          <p:cNvPr id="53" name="Picture 52" descr="lock.png"/>
          <p:cNvPicPr>
            <a:picLocks noChangeAspect="1"/>
          </p:cNvPicPr>
          <p:nvPr/>
        </p:nvPicPr>
        <p:blipFill>
          <a:blip r:embed="rId4"/>
          <a:stretch>
            <a:fillRect/>
          </a:stretch>
        </p:blipFill>
        <p:spPr>
          <a:xfrm>
            <a:off x="5832609" y="3921813"/>
            <a:ext cx="123551" cy="179710"/>
          </a:xfrm>
          <a:prstGeom prst="rect">
            <a:avLst/>
          </a:prstGeom>
        </p:spPr>
      </p:pic>
      <p:sp>
        <p:nvSpPr>
          <p:cNvPr id="54" name="TextBox 53"/>
          <p:cNvSpPr txBox="1"/>
          <p:nvPr/>
        </p:nvSpPr>
        <p:spPr>
          <a:xfrm>
            <a:off x="5993405" y="3931201"/>
            <a:ext cx="3987450" cy="179984"/>
          </a:xfrm>
          <a:prstGeom prst="rect">
            <a:avLst/>
          </a:prstGeom>
          <a:noFill/>
        </p:spPr>
        <p:txBody>
          <a:bodyPr wrap="none" lIns="0" rIns="0" tIns="0" bIns="0">
            <a:spAutoFit/>
          </a:bodyPr>
          <a:lstStyle/>
          <a:p>
            <a:r>
              <a:rPr sz="1055" b="0">
                <a:solidFill>
                  <a:srgbClr val="2E2E2E"/>
                </a:solidFill>
                <a:latin typeface="Calibri"/>
              </a:rPr>
              <a:t>US$ Mn. Growth by this point is led by 'Silicone Waterproof Coatings' at</a:t>
            </a:r>
          </a:p>
        </p:txBody>
      </p:sp>
      <p:pic>
        <p:nvPicPr>
          <p:cNvPr id="55" name="Picture 54" descr="lock.png"/>
          <p:cNvPicPr>
            <a:picLocks noChangeAspect="1"/>
          </p:cNvPicPr>
          <p:nvPr/>
        </p:nvPicPr>
        <p:blipFill>
          <a:blip r:embed="rId4"/>
          <a:stretch>
            <a:fillRect/>
          </a:stretch>
        </p:blipFill>
        <p:spPr>
          <a:xfrm>
            <a:off x="9927938" y="3921813"/>
            <a:ext cx="123551" cy="179710"/>
          </a:xfrm>
          <a:prstGeom prst="rect">
            <a:avLst/>
          </a:prstGeom>
        </p:spPr>
      </p:pic>
      <p:sp>
        <p:nvSpPr>
          <p:cNvPr id="56" name="TextBox 55"/>
          <p:cNvSpPr txBox="1"/>
          <p:nvPr/>
        </p:nvSpPr>
        <p:spPr>
          <a:xfrm>
            <a:off x="10088733" y="3931201"/>
            <a:ext cx="1535175" cy="179984"/>
          </a:xfrm>
          <a:prstGeom prst="rect">
            <a:avLst/>
          </a:prstGeom>
          <a:noFill/>
        </p:spPr>
        <p:txBody>
          <a:bodyPr wrap="none" lIns="0" rIns="0" tIns="0" bIns="0">
            <a:spAutoFit/>
          </a:bodyPr>
          <a:lstStyle/>
          <a:p>
            <a:r>
              <a:rPr sz="1055" b="0">
                <a:solidFill>
                  <a:srgbClr val="2E2E2E"/>
                </a:solidFill>
                <a:latin typeface="Calibri"/>
              </a:rPr>
              <a:t>CAGR and by 'South Asia &amp;</a:t>
            </a:r>
          </a:p>
        </p:txBody>
      </p:sp>
      <p:sp>
        <p:nvSpPr>
          <p:cNvPr id="57" name="TextBox 56"/>
          <p:cNvSpPr txBox="1"/>
          <p:nvPr/>
        </p:nvSpPr>
        <p:spPr>
          <a:xfrm>
            <a:off x="1743075" y="4092135"/>
            <a:ext cx="1433036" cy="179984"/>
          </a:xfrm>
          <a:prstGeom prst="rect">
            <a:avLst/>
          </a:prstGeom>
          <a:noFill/>
        </p:spPr>
        <p:txBody>
          <a:bodyPr wrap="none" lIns="0" rIns="0" tIns="0" bIns="0">
            <a:spAutoFit/>
          </a:bodyPr>
          <a:lstStyle/>
          <a:p>
            <a:r>
              <a:rPr sz="1055" b="0">
                <a:solidFill>
                  <a:srgbClr val="2E2E2E"/>
                </a:solidFill>
                <a:latin typeface="Calibri"/>
              </a:rPr>
              <a:t>Pacific' among regions at</a:t>
            </a:r>
          </a:p>
        </p:txBody>
      </p:sp>
      <p:pic>
        <p:nvPicPr>
          <p:cNvPr id="58" name="Picture 57" descr="lock.png"/>
          <p:cNvPicPr>
            <a:picLocks noChangeAspect="1"/>
          </p:cNvPicPr>
          <p:nvPr/>
        </p:nvPicPr>
        <p:blipFill>
          <a:blip r:embed="rId4"/>
          <a:stretch>
            <a:fillRect/>
          </a:stretch>
        </p:blipFill>
        <p:spPr>
          <a:xfrm>
            <a:off x="3123192" y="4082747"/>
            <a:ext cx="123551" cy="179710"/>
          </a:xfrm>
          <a:prstGeom prst="rect">
            <a:avLst/>
          </a:prstGeom>
        </p:spPr>
      </p:pic>
      <p:sp>
        <p:nvSpPr>
          <p:cNvPr id="59" name="TextBox 58"/>
          <p:cNvSpPr txBox="1"/>
          <p:nvPr/>
        </p:nvSpPr>
        <p:spPr>
          <a:xfrm>
            <a:off x="3283988" y="4092135"/>
            <a:ext cx="3178063" cy="179984"/>
          </a:xfrm>
          <a:prstGeom prst="rect">
            <a:avLst/>
          </a:prstGeom>
          <a:noFill/>
        </p:spPr>
        <p:txBody>
          <a:bodyPr wrap="none" lIns="0" rIns="0" tIns="0" bIns="0">
            <a:spAutoFit/>
          </a:bodyPr>
          <a:lstStyle/>
          <a:p>
            <a:r>
              <a:rPr sz="1055" b="0">
                <a:solidFill>
                  <a:srgbClr val="2E2E2E"/>
                </a:solidFill>
                <a:latin typeface="Calibri"/>
              </a:rPr>
              <a:t>, with 4 of 7 regions running at or above the market rate.</a:t>
            </a:r>
          </a:p>
        </p:txBody>
      </p:sp>
      <p:sp>
        <p:nvSpPr>
          <p:cNvPr id="60" name="TextBox 59"/>
          <p:cNvSpPr txBox="1"/>
          <p:nvPr/>
        </p:nvSpPr>
        <p:spPr>
          <a:xfrm>
            <a:off x="1743075" y="4916901"/>
            <a:ext cx="2190297" cy="179984"/>
          </a:xfrm>
          <a:prstGeom prst="rect">
            <a:avLst/>
          </a:prstGeom>
          <a:noFill/>
        </p:spPr>
        <p:txBody>
          <a:bodyPr wrap="none" lIns="0" rIns="0" tIns="0" bIns="0">
            <a:spAutoFit/>
          </a:bodyPr>
          <a:lstStyle/>
          <a:p>
            <a:r>
              <a:rPr sz="1055" b="0">
                <a:solidFill>
                  <a:srgbClr val="2E2E2E"/>
                </a:solidFill>
                <a:latin typeface="Calibri"/>
              </a:rPr>
              <a:t>Mid-horizon checkpoint: value reaches</a:t>
            </a:r>
          </a:p>
        </p:txBody>
      </p:sp>
      <p:pic>
        <p:nvPicPr>
          <p:cNvPr id="61" name="Picture 60" descr="lock.png"/>
          <p:cNvPicPr>
            <a:picLocks noChangeAspect="1"/>
          </p:cNvPicPr>
          <p:nvPr/>
        </p:nvPicPr>
        <p:blipFill>
          <a:blip r:embed="rId4"/>
          <a:stretch>
            <a:fillRect/>
          </a:stretch>
        </p:blipFill>
        <p:spPr>
          <a:xfrm>
            <a:off x="3880454" y="4907513"/>
            <a:ext cx="123551" cy="179710"/>
          </a:xfrm>
          <a:prstGeom prst="rect">
            <a:avLst/>
          </a:prstGeom>
        </p:spPr>
      </p:pic>
      <p:sp>
        <p:nvSpPr>
          <p:cNvPr id="62" name="TextBox 61"/>
          <p:cNvSpPr txBox="1"/>
          <p:nvPr/>
        </p:nvSpPr>
        <p:spPr>
          <a:xfrm>
            <a:off x="4041250" y="4916901"/>
            <a:ext cx="541139" cy="179984"/>
          </a:xfrm>
          <a:prstGeom prst="rect">
            <a:avLst/>
          </a:prstGeom>
          <a:noFill/>
        </p:spPr>
        <p:txBody>
          <a:bodyPr wrap="none" lIns="0" rIns="0" tIns="0" bIns="0">
            <a:spAutoFit/>
          </a:bodyPr>
          <a:lstStyle/>
          <a:p>
            <a:r>
              <a:rPr sz="1055" b="0">
                <a:solidFill>
                  <a:srgbClr val="2E2E2E"/>
                </a:solidFill>
                <a:latin typeface="Calibri"/>
              </a:rPr>
              <a:t>US$ Mn,</a:t>
            </a:r>
          </a:p>
        </p:txBody>
      </p:sp>
      <p:pic>
        <p:nvPicPr>
          <p:cNvPr id="63" name="Picture 62" descr="lock.png"/>
          <p:cNvPicPr>
            <a:picLocks noChangeAspect="1"/>
          </p:cNvPicPr>
          <p:nvPr/>
        </p:nvPicPr>
        <p:blipFill>
          <a:blip r:embed="rId4"/>
          <a:stretch>
            <a:fillRect/>
          </a:stretch>
        </p:blipFill>
        <p:spPr>
          <a:xfrm>
            <a:off x="4529470" y="4907513"/>
            <a:ext cx="123551" cy="179710"/>
          </a:xfrm>
          <a:prstGeom prst="rect">
            <a:avLst/>
          </a:prstGeom>
        </p:spPr>
      </p:pic>
      <p:sp>
        <p:nvSpPr>
          <p:cNvPr id="64" name="TextBox 63"/>
          <p:cNvSpPr txBox="1"/>
          <p:nvPr/>
        </p:nvSpPr>
        <p:spPr>
          <a:xfrm>
            <a:off x="4690266" y="4916901"/>
            <a:ext cx="2581333" cy="179984"/>
          </a:xfrm>
          <a:prstGeom prst="rect">
            <a:avLst/>
          </a:prstGeom>
          <a:noFill/>
        </p:spPr>
        <p:txBody>
          <a:bodyPr wrap="none" lIns="0" rIns="0" tIns="0" bIns="0">
            <a:spAutoFit/>
          </a:bodyPr>
          <a:lstStyle/>
          <a:p>
            <a:r>
              <a:rPr sz="1055" b="0">
                <a:solidFill>
                  <a:srgbClr val="2E2E2E"/>
                </a:solidFill>
                <a:latin typeface="Calibri"/>
              </a:rPr>
              <a:t>× the 2026 base. Average realisation stands at</a:t>
            </a:r>
          </a:p>
        </p:txBody>
      </p:sp>
      <p:pic>
        <p:nvPicPr>
          <p:cNvPr id="65" name="Picture 64" descr="lock.png"/>
          <p:cNvPicPr>
            <a:picLocks noChangeAspect="1"/>
          </p:cNvPicPr>
          <p:nvPr/>
        </p:nvPicPr>
        <p:blipFill>
          <a:blip r:embed="rId4"/>
          <a:stretch>
            <a:fillRect/>
          </a:stretch>
        </p:blipFill>
        <p:spPr>
          <a:xfrm>
            <a:off x="7218681" y="4907513"/>
            <a:ext cx="123551" cy="179710"/>
          </a:xfrm>
          <a:prstGeom prst="rect">
            <a:avLst/>
          </a:prstGeom>
        </p:spPr>
      </p:pic>
      <p:sp>
        <p:nvSpPr>
          <p:cNvPr id="66" name="TextBox 65"/>
          <p:cNvSpPr txBox="1"/>
          <p:nvPr/>
        </p:nvSpPr>
        <p:spPr>
          <a:xfrm>
            <a:off x="7379477" y="4916901"/>
            <a:ext cx="1845063" cy="179984"/>
          </a:xfrm>
          <a:prstGeom prst="rect">
            <a:avLst/>
          </a:prstGeom>
          <a:noFill/>
        </p:spPr>
        <p:txBody>
          <a:bodyPr wrap="none" lIns="0" rIns="0" tIns="0" bIns="0">
            <a:spAutoFit/>
          </a:bodyPr>
          <a:lstStyle/>
          <a:p>
            <a:r>
              <a:rPr sz="1055" b="0">
                <a:solidFill>
                  <a:srgbClr val="2E2E2E"/>
                </a:solidFill>
                <a:latin typeface="Calibri"/>
              </a:rPr>
              <a:t>US$/Units, and mix has moved +</a:t>
            </a:r>
          </a:p>
        </p:txBody>
      </p:sp>
      <p:pic>
        <p:nvPicPr>
          <p:cNvPr id="67" name="Picture 66" descr="lock.png"/>
          <p:cNvPicPr>
            <a:picLocks noChangeAspect="1"/>
          </p:cNvPicPr>
          <p:nvPr/>
        </p:nvPicPr>
        <p:blipFill>
          <a:blip r:embed="rId4"/>
          <a:stretch>
            <a:fillRect/>
          </a:stretch>
        </p:blipFill>
        <p:spPr>
          <a:xfrm>
            <a:off x="9171623" y="4907513"/>
            <a:ext cx="123551" cy="179710"/>
          </a:xfrm>
          <a:prstGeom prst="rect">
            <a:avLst/>
          </a:prstGeom>
        </p:spPr>
      </p:pic>
      <p:sp>
        <p:nvSpPr>
          <p:cNvPr id="68" name="TextBox 67"/>
          <p:cNvSpPr txBox="1"/>
          <p:nvPr/>
        </p:nvSpPr>
        <p:spPr>
          <a:xfrm>
            <a:off x="9332419" y="4916901"/>
            <a:ext cx="1855279" cy="179984"/>
          </a:xfrm>
          <a:prstGeom prst="rect">
            <a:avLst/>
          </a:prstGeom>
          <a:noFill/>
        </p:spPr>
        <p:txBody>
          <a:bodyPr wrap="none" lIns="0" rIns="0" tIns="0" bIns="0">
            <a:spAutoFit/>
          </a:bodyPr>
          <a:lstStyle/>
          <a:p>
            <a:r>
              <a:rPr sz="1055" b="0">
                <a:solidFill>
                  <a:srgbClr val="2E2E2E"/>
                </a:solidFill>
                <a:latin typeface="Calibri"/>
              </a:rPr>
              <a:t>BPS toward 'Silicone Waterproof</a:t>
            </a:r>
          </a:p>
        </p:txBody>
      </p:sp>
      <p:sp>
        <p:nvSpPr>
          <p:cNvPr id="69" name="TextBox 68"/>
          <p:cNvSpPr txBox="1"/>
          <p:nvPr/>
        </p:nvSpPr>
        <p:spPr>
          <a:xfrm>
            <a:off x="1743075" y="5077835"/>
            <a:ext cx="3363777" cy="179984"/>
          </a:xfrm>
          <a:prstGeom prst="rect">
            <a:avLst/>
          </a:prstGeom>
          <a:noFill/>
        </p:spPr>
        <p:txBody>
          <a:bodyPr wrap="none" lIns="0" rIns="0" tIns="0" bIns="0">
            <a:spAutoFit/>
          </a:bodyPr>
          <a:lstStyle/>
          <a:p>
            <a:r>
              <a:rPr sz="1055" b="0">
                <a:solidFill>
                  <a:srgbClr val="2E2E2E"/>
                </a:solidFill>
                <a:latin typeface="Calibri"/>
              </a:rPr>
              <a:t>Coatings' while 'Cementitious Waterproof Coatings' gives up</a:t>
            </a:r>
          </a:p>
        </p:txBody>
      </p:sp>
      <p:pic>
        <p:nvPicPr>
          <p:cNvPr id="70" name="Picture 69" descr="lock.png"/>
          <p:cNvPicPr>
            <a:picLocks noChangeAspect="1"/>
          </p:cNvPicPr>
          <p:nvPr/>
        </p:nvPicPr>
        <p:blipFill>
          <a:blip r:embed="rId4"/>
          <a:stretch>
            <a:fillRect/>
          </a:stretch>
        </p:blipFill>
        <p:spPr>
          <a:xfrm>
            <a:off x="5053934" y="5068447"/>
            <a:ext cx="123551" cy="179710"/>
          </a:xfrm>
          <a:prstGeom prst="rect">
            <a:avLst/>
          </a:prstGeom>
        </p:spPr>
      </p:pic>
      <p:sp>
        <p:nvSpPr>
          <p:cNvPr id="71" name="TextBox 70"/>
          <p:cNvSpPr txBox="1"/>
          <p:nvPr/>
        </p:nvSpPr>
        <p:spPr>
          <a:xfrm>
            <a:off x="5214730" y="5077835"/>
            <a:ext cx="314039" cy="179984"/>
          </a:xfrm>
          <a:prstGeom prst="rect">
            <a:avLst/>
          </a:prstGeom>
          <a:noFill/>
        </p:spPr>
        <p:txBody>
          <a:bodyPr wrap="none" lIns="0" rIns="0" tIns="0" bIns="0">
            <a:spAutoFit/>
          </a:bodyPr>
          <a:lstStyle/>
          <a:p>
            <a:r>
              <a:rPr sz="1055" b="0">
                <a:solidFill>
                  <a:srgbClr val="2E2E2E"/>
                </a:solidFill>
                <a:latin typeface="Calibri"/>
              </a:rPr>
              <a:t>BPS.</a:t>
            </a:r>
          </a:p>
        </p:txBody>
      </p:sp>
      <p:sp>
        <p:nvSpPr>
          <p:cNvPr id="72" name="TextBox 71"/>
          <p:cNvSpPr txBox="1"/>
          <p:nvPr/>
        </p:nvSpPr>
        <p:spPr>
          <a:xfrm>
            <a:off x="1743075" y="5902601"/>
            <a:ext cx="2544146" cy="179984"/>
          </a:xfrm>
          <a:prstGeom prst="rect">
            <a:avLst/>
          </a:prstGeom>
          <a:noFill/>
        </p:spPr>
        <p:txBody>
          <a:bodyPr wrap="none" lIns="0" rIns="0" tIns="0" bIns="0">
            <a:spAutoFit/>
          </a:bodyPr>
          <a:lstStyle/>
          <a:p>
            <a:r>
              <a:rPr sz="1055" b="0">
                <a:solidFill>
                  <a:srgbClr val="2E2E2E"/>
                </a:solidFill>
                <a:latin typeface="Calibri"/>
              </a:rPr>
              <a:t>Forecast outcome: the global market reaches</a:t>
            </a:r>
          </a:p>
        </p:txBody>
      </p:sp>
      <p:pic>
        <p:nvPicPr>
          <p:cNvPr id="73" name="Picture 72" descr="lock.png"/>
          <p:cNvPicPr>
            <a:picLocks noChangeAspect="1"/>
          </p:cNvPicPr>
          <p:nvPr/>
        </p:nvPicPr>
        <p:blipFill>
          <a:blip r:embed="rId4"/>
          <a:stretch>
            <a:fillRect/>
          </a:stretch>
        </p:blipFill>
        <p:spPr>
          <a:xfrm>
            <a:off x="4234303" y="5893213"/>
            <a:ext cx="123551" cy="179710"/>
          </a:xfrm>
          <a:prstGeom prst="rect">
            <a:avLst/>
          </a:prstGeom>
        </p:spPr>
      </p:pic>
      <p:sp>
        <p:nvSpPr>
          <p:cNvPr id="74" name="TextBox 73"/>
          <p:cNvSpPr txBox="1"/>
          <p:nvPr/>
        </p:nvSpPr>
        <p:spPr>
          <a:xfrm>
            <a:off x="4395098" y="5902601"/>
            <a:ext cx="635698" cy="179984"/>
          </a:xfrm>
          <a:prstGeom prst="rect">
            <a:avLst/>
          </a:prstGeom>
          <a:noFill/>
        </p:spPr>
        <p:txBody>
          <a:bodyPr wrap="none" lIns="0" rIns="0" tIns="0" bIns="0">
            <a:spAutoFit/>
          </a:bodyPr>
          <a:lstStyle/>
          <a:p>
            <a:r>
              <a:rPr sz="1055" b="0">
                <a:solidFill>
                  <a:srgbClr val="2E2E2E"/>
                </a:solidFill>
                <a:latin typeface="Calibri"/>
              </a:rPr>
              <a:t>US$ Mn, a</a:t>
            </a:r>
          </a:p>
        </p:txBody>
      </p:sp>
      <p:pic>
        <p:nvPicPr>
          <p:cNvPr id="75" name="Picture 74" descr="lock.png"/>
          <p:cNvPicPr>
            <a:picLocks noChangeAspect="1"/>
          </p:cNvPicPr>
          <p:nvPr/>
        </p:nvPicPr>
        <p:blipFill>
          <a:blip r:embed="rId4"/>
          <a:stretch>
            <a:fillRect/>
          </a:stretch>
        </p:blipFill>
        <p:spPr>
          <a:xfrm>
            <a:off x="4977879" y="5893213"/>
            <a:ext cx="123551" cy="179710"/>
          </a:xfrm>
          <a:prstGeom prst="rect">
            <a:avLst/>
          </a:prstGeom>
        </p:spPr>
      </p:pic>
      <p:sp>
        <p:nvSpPr>
          <p:cNvPr id="76" name="TextBox 75"/>
          <p:cNvSpPr txBox="1"/>
          <p:nvPr/>
        </p:nvSpPr>
        <p:spPr>
          <a:xfrm>
            <a:off x="5138675" y="5902601"/>
            <a:ext cx="1437751" cy="179984"/>
          </a:xfrm>
          <a:prstGeom prst="rect">
            <a:avLst/>
          </a:prstGeom>
          <a:noFill/>
        </p:spPr>
        <p:txBody>
          <a:bodyPr wrap="none" lIns="0" rIns="0" tIns="0" bIns="0">
            <a:spAutoFit/>
          </a:bodyPr>
          <a:lstStyle/>
          <a:p>
            <a:r>
              <a:rPr sz="1055" b="0">
                <a:solidFill>
                  <a:srgbClr val="2E2E2E"/>
                </a:solidFill>
                <a:latin typeface="Calibri"/>
              </a:rPr>
              <a:t>× expansion on 2026 and</a:t>
            </a:r>
          </a:p>
        </p:txBody>
      </p:sp>
      <p:pic>
        <p:nvPicPr>
          <p:cNvPr id="77" name="Picture 76" descr="lock.png"/>
          <p:cNvPicPr>
            <a:picLocks noChangeAspect="1"/>
          </p:cNvPicPr>
          <p:nvPr/>
        </p:nvPicPr>
        <p:blipFill>
          <a:blip r:embed="rId4"/>
          <a:stretch>
            <a:fillRect/>
          </a:stretch>
        </p:blipFill>
        <p:spPr>
          <a:xfrm>
            <a:off x="6523507" y="5893213"/>
            <a:ext cx="123551" cy="179710"/>
          </a:xfrm>
          <a:prstGeom prst="rect">
            <a:avLst/>
          </a:prstGeom>
        </p:spPr>
      </p:pic>
      <p:sp>
        <p:nvSpPr>
          <p:cNvPr id="78" name="TextBox 77"/>
          <p:cNvSpPr txBox="1"/>
          <p:nvPr/>
        </p:nvSpPr>
        <p:spPr>
          <a:xfrm>
            <a:off x="6684303" y="5902601"/>
            <a:ext cx="1799224" cy="179984"/>
          </a:xfrm>
          <a:prstGeom prst="rect">
            <a:avLst/>
          </a:prstGeom>
          <a:noFill/>
        </p:spPr>
        <p:txBody>
          <a:bodyPr wrap="none" lIns="0" rIns="0" tIns="0" bIns="0">
            <a:spAutoFit/>
          </a:bodyPr>
          <a:lstStyle/>
          <a:p>
            <a:r>
              <a:rPr sz="1055" b="0">
                <a:solidFill>
                  <a:srgbClr val="2E2E2E"/>
                </a:solidFill>
                <a:latin typeface="Calibri"/>
              </a:rPr>
              <a:t>US$ Mn of incremental value at</a:t>
            </a:r>
          </a:p>
        </p:txBody>
      </p:sp>
      <p:pic>
        <p:nvPicPr>
          <p:cNvPr id="79" name="Picture 78" descr="lock.png"/>
          <p:cNvPicPr>
            <a:picLocks noChangeAspect="1"/>
          </p:cNvPicPr>
          <p:nvPr/>
        </p:nvPicPr>
        <p:blipFill>
          <a:blip r:embed="rId4"/>
          <a:stretch>
            <a:fillRect/>
          </a:stretch>
        </p:blipFill>
        <p:spPr>
          <a:xfrm>
            <a:off x="8430610" y="5893213"/>
            <a:ext cx="123551" cy="179710"/>
          </a:xfrm>
          <a:prstGeom prst="rect">
            <a:avLst/>
          </a:prstGeom>
        </p:spPr>
      </p:pic>
      <p:sp>
        <p:nvSpPr>
          <p:cNvPr id="80" name="TextBox 79"/>
          <p:cNvSpPr txBox="1"/>
          <p:nvPr/>
        </p:nvSpPr>
        <p:spPr>
          <a:xfrm>
            <a:off x="8591406" y="5902601"/>
            <a:ext cx="1678717" cy="179984"/>
          </a:xfrm>
          <a:prstGeom prst="rect">
            <a:avLst/>
          </a:prstGeom>
          <a:noFill/>
        </p:spPr>
        <p:txBody>
          <a:bodyPr wrap="none" lIns="0" rIns="0" tIns="0" bIns="0">
            <a:spAutoFit/>
          </a:bodyPr>
          <a:lstStyle/>
          <a:p>
            <a:r>
              <a:rPr sz="1055" b="0">
                <a:solidFill>
                  <a:srgbClr val="2E2E2E"/>
                </a:solidFill>
                <a:latin typeface="Calibri"/>
              </a:rPr>
              <a:t>CAGR. Volume compounds at</a:t>
            </a:r>
          </a:p>
        </p:txBody>
      </p:sp>
      <p:pic>
        <p:nvPicPr>
          <p:cNvPr id="81" name="Picture 80" descr="lock.png"/>
          <p:cNvPicPr>
            <a:picLocks noChangeAspect="1"/>
          </p:cNvPicPr>
          <p:nvPr/>
        </p:nvPicPr>
        <p:blipFill>
          <a:blip r:embed="rId4"/>
          <a:stretch>
            <a:fillRect/>
          </a:stretch>
        </p:blipFill>
        <p:spPr>
          <a:xfrm>
            <a:off x="10217204" y="5893213"/>
            <a:ext cx="123551" cy="179710"/>
          </a:xfrm>
          <a:prstGeom prst="rect">
            <a:avLst/>
          </a:prstGeom>
        </p:spPr>
      </p:pic>
      <p:sp>
        <p:nvSpPr>
          <p:cNvPr id="82" name="TextBox 81"/>
          <p:cNvSpPr txBox="1"/>
          <p:nvPr/>
        </p:nvSpPr>
        <p:spPr>
          <a:xfrm>
            <a:off x="10378000" y="5902601"/>
            <a:ext cx="854678" cy="179984"/>
          </a:xfrm>
          <a:prstGeom prst="rect">
            <a:avLst/>
          </a:prstGeom>
          <a:noFill/>
        </p:spPr>
        <p:txBody>
          <a:bodyPr wrap="none" lIns="0" rIns="0" tIns="0" bIns="0">
            <a:spAutoFit/>
          </a:bodyPr>
          <a:lstStyle/>
          <a:p>
            <a:r>
              <a:rPr sz="1055" b="0">
                <a:solidFill>
                  <a:srgbClr val="2E2E2E"/>
                </a:solidFill>
                <a:latin typeface="Calibri"/>
              </a:rPr>
              <a:t>over the same</a:t>
            </a:r>
          </a:p>
        </p:txBody>
      </p:sp>
      <p:sp>
        <p:nvSpPr>
          <p:cNvPr id="83" name="TextBox 82"/>
          <p:cNvSpPr txBox="1"/>
          <p:nvPr/>
        </p:nvSpPr>
        <p:spPr>
          <a:xfrm>
            <a:off x="1743075" y="6063535"/>
            <a:ext cx="1565052" cy="179984"/>
          </a:xfrm>
          <a:prstGeom prst="rect">
            <a:avLst/>
          </a:prstGeom>
          <a:noFill/>
        </p:spPr>
        <p:txBody>
          <a:bodyPr wrap="none" lIns="0" rIns="0" tIns="0" bIns="0">
            <a:spAutoFit/>
          </a:bodyPr>
          <a:lstStyle/>
          <a:p>
            <a:r>
              <a:rPr sz="1055" b="0">
                <a:solidFill>
                  <a:srgbClr val="2E2E2E"/>
                </a:solidFill>
                <a:latin typeface="Calibri"/>
              </a:rPr>
              <a:t>window, leaving realisation</a:t>
            </a:r>
          </a:p>
        </p:txBody>
      </p:sp>
      <p:pic>
        <p:nvPicPr>
          <p:cNvPr id="84" name="Picture 83" descr="lock.png"/>
          <p:cNvPicPr>
            <a:picLocks noChangeAspect="1"/>
          </p:cNvPicPr>
          <p:nvPr/>
        </p:nvPicPr>
        <p:blipFill>
          <a:blip r:embed="rId4"/>
          <a:stretch>
            <a:fillRect/>
          </a:stretch>
        </p:blipFill>
        <p:spPr>
          <a:xfrm>
            <a:off x="3255209" y="6054147"/>
            <a:ext cx="123551" cy="179710"/>
          </a:xfrm>
          <a:prstGeom prst="rect">
            <a:avLst/>
          </a:prstGeom>
        </p:spPr>
      </p:pic>
      <p:sp>
        <p:nvSpPr>
          <p:cNvPr id="85" name="TextBox 84"/>
          <p:cNvSpPr txBox="1"/>
          <p:nvPr/>
        </p:nvSpPr>
        <p:spPr>
          <a:xfrm>
            <a:off x="3416005" y="6063535"/>
            <a:ext cx="4255412" cy="179984"/>
          </a:xfrm>
          <a:prstGeom prst="rect">
            <a:avLst/>
          </a:prstGeom>
          <a:noFill/>
        </p:spPr>
        <p:txBody>
          <a:bodyPr wrap="none" lIns="0" rIns="0" tIns="0" bIns="0">
            <a:spAutoFit/>
          </a:bodyPr>
          <a:lstStyle/>
          <a:p>
            <a:r>
              <a:rPr sz="1055" b="0">
                <a:solidFill>
                  <a:srgbClr val="2E2E2E"/>
                </a:solidFill>
                <a:latin typeface="Calibri"/>
              </a:rPr>
              <a:t>a year the gap between the two is the premiumisation the forecast assumes.</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Porter's Five Forces Analysis Global Waterproof Coatings Market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supplier power, buyer power, competition, substitutes and entry barriers shaping the market's profitability</a:t>
            </a:r>
          </a:p>
        </p:txBody>
      </p:sp>
      <p:sp>
        <p:nvSpPr>
          <p:cNvPr id="10" name="TextBox 9"/>
          <p:cNvSpPr txBox="1"/>
          <p:nvPr/>
        </p:nvSpPr>
        <p:spPr>
          <a:xfrm>
            <a:off x="142875" y="989007"/>
            <a:ext cx="11906250" cy="328567"/>
          </a:xfrm>
          <a:prstGeom prst="rect">
            <a:avLst/>
          </a:prstGeom>
          <a:noFill/>
        </p:spPr>
        <p:txBody>
          <a:bodyPr wrap="square" lIns="28575" rIns="28575" tIns="9525" bIns="9525" anchor="ctr">
            <a:spAutoFit/>
          </a:bodyPr>
          <a:lstStyle/>
          <a:p>
            <a:pPr algn="l">
              <a:lnSpc>
                <a:spcPct val="115000"/>
              </a:lnSpc>
            </a:pPr>
            <a:r>
              <a:rPr sz="1100" b="0">
                <a:solidFill>
                  <a:srgbClr val="6C7A89"/>
                </a:solidFill>
                <a:latin typeface="Calibri"/>
              </a:rPr>
              <a:t/>
            </a:r>
          </a:p>
        </p:txBody>
      </p:sp>
      <p:sp>
        <p:nvSpPr>
          <p:cNvPr id="11" name="Oval 10"/>
          <p:cNvSpPr/>
          <p:nvPr/>
        </p:nvSpPr>
        <p:spPr>
          <a:xfrm>
            <a:off x="876300" y="1427096"/>
            <a:ext cx="914400" cy="876177"/>
          </a:xfrm>
          <a:prstGeom prst="ellipse">
            <a:avLst/>
          </a:prstGeom>
          <a:solidFill>
            <a:srgbClr val="F2D24B"/>
          </a:solidFill>
          <a:ln w="12700">
            <a:solidFill>
              <a:srgbClr val="F2D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7750" y="1664394"/>
            <a:ext cx="571500" cy="401581"/>
          </a:xfrm>
          <a:prstGeom prst="rect">
            <a:avLst/>
          </a:prstGeom>
          <a:noFill/>
        </p:spPr>
        <p:txBody>
          <a:bodyPr wrap="none" lIns="0" rIns="0" tIns="0" bIns="0" anchor="ctr">
            <a:spAutoFit/>
          </a:bodyPr>
          <a:lstStyle/>
          <a:p>
            <a:pPr algn="ctr"/>
            <a:r>
              <a:rPr sz="3400" b="1">
                <a:solidFill>
                  <a:srgbClr val="8A6A00"/>
                </a:solidFill>
                <a:latin typeface="Calibri"/>
              </a:rPr>
              <a:t>$</a:t>
            </a:r>
          </a:p>
        </p:txBody>
      </p:sp>
      <p:sp>
        <p:nvSpPr>
          <p:cNvPr id="13" name="TextBox 12"/>
          <p:cNvSpPr txBox="1"/>
          <p:nvPr/>
        </p:nvSpPr>
        <p:spPr>
          <a:xfrm>
            <a:off x="2190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Bargaining Power of Suppliers</a:t>
            </a:r>
          </a:p>
        </p:txBody>
      </p:sp>
      <p:sp>
        <p:nvSpPr>
          <p:cNvPr id="14" name="TextBox 13"/>
          <p:cNvSpPr txBox="1"/>
          <p:nvPr/>
        </p:nvSpPr>
        <p:spPr>
          <a:xfrm>
            <a:off x="2476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5" name="TextBox 14"/>
          <p:cNvSpPr txBox="1"/>
          <p:nvPr/>
        </p:nvSpPr>
        <p:spPr>
          <a:xfrm>
            <a:off x="247650" y="3663174"/>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6" name="TextBox 15"/>
          <p:cNvSpPr txBox="1"/>
          <p:nvPr/>
        </p:nvSpPr>
        <p:spPr>
          <a:xfrm>
            <a:off x="247650" y="4530225"/>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Buyers can rebalance across 8 product type / chemistry lines, which caps supplier leverage in commodity grades.</a:t>
            </a:r>
          </a:p>
        </p:txBody>
      </p:sp>
      <p:sp>
        <p:nvSpPr>
          <p:cNvPr id="17" name="Oval 16"/>
          <p:cNvSpPr/>
          <p:nvPr/>
        </p:nvSpPr>
        <p:spPr>
          <a:xfrm>
            <a:off x="3257550" y="1427096"/>
            <a:ext cx="914400" cy="876177"/>
          </a:xfrm>
          <a:prstGeom prst="ellipse">
            <a:avLst/>
          </a:prstGeom>
          <a:solidFill>
            <a:srgbClr val="D9D9D9"/>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3476625" y="1710028"/>
            <a:ext cx="152400" cy="209918"/>
          </a:xfrm>
          <a:custGeom>
            <a:avLst/>
            <a:gdLst/>
            <a:ahLst/>
            <a:cxnLst/>
            <a:rect l="l" t="t" r="r" b="b"/>
            <a:pathLst>
              <a:path w="16" h="23">
                <a:moveTo>
                  <a:pt x="0" y="0"/>
                </a:moveTo>
                <a:lnTo>
                  <a:pt x="8" y="0"/>
                </a:lnTo>
                <a:lnTo>
                  <a:pt x="16" y="23"/>
                </a:lnTo>
              </a:path>
            </a:pathLst>
          </a:custGeom>
          <a:noFill/>
          <a:ln w="4318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3609975" y="1783043"/>
            <a:ext cx="342900" cy="155156"/>
          </a:xfrm>
          <a:custGeom>
            <a:avLst/>
            <a:gdLst/>
            <a:ahLst/>
            <a:cxnLst/>
            <a:rect l="l" t="t" r="r" b="b"/>
            <a:pathLst>
              <a:path w="36" h="17">
                <a:moveTo>
                  <a:pt x="0" y="0"/>
                </a:moveTo>
                <a:lnTo>
                  <a:pt x="36" y="0"/>
                </a:lnTo>
                <a:lnTo>
                  <a:pt x="31" y="17"/>
                </a:lnTo>
                <a:lnTo>
                  <a:pt x="5" y="17"/>
                </a:lnTo>
                <a:close/>
              </a:path>
            </a:pathLst>
          </a:cu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648075"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829050"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0032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Bargaining Power of Buyers</a:t>
            </a:r>
          </a:p>
        </p:txBody>
      </p:sp>
      <p:sp>
        <p:nvSpPr>
          <p:cNvPr id="23" name="TextBox 22"/>
          <p:cNvSpPr txBox="1"/>
          <p:nvPr/>
        </p:nvSpPr>
        <p:spPr>
          <a:xfrm>
            <a:off x="2628900" y="2796123"/>
            <a:ext cx="2171700" cy="96744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4" name="TextBox 23"/>
          <p:cNvSpPr txBox="1"/>
          <p:nvPr/>
        </p:nvSpPr>
        <p:spPr>
          <a:xfrm>
            <a:off x="2628900" y="3854838"/>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5" name="TextBox 24"/>
          <p:cNvSpPr txBox="1"/>
          <p:nvPr/>
        </p:nvSpPr>
        <p:spPr>
          <a:xfrm>
            <a:off x="2628900" y="4539352"/>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Switching is easiest where 8 comparable product type / chemistry lines compete for the same demand.</a:t>
            </a:r>
          </a:p>
        </p:txBody>
      </p:sp>
      <p:sp>
        <p:nvSpPr>
          <p:cNvPr id="26" name="Oval 25"/>
          <p:cNvSpPr/>
          <p:nvPr/>
        </p:nvSpPr>
        <p:spPr>
          <a:xfrm>
            <a:off x="5638800" y="1427096"/>
            <a:ext cx="914400" cy="876177"/>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876925" y="1655267"/>
            <a:ext cx="438150" cy="419835"/>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943600" y="1719155"/>
            <a:ext cx="304800" cy="292059"/>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010275" y="1783043"/>
            <a:ext cx="171450" cy="164283"/>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062662" y="1833240"/>
            <a:ext cx="66675" cy="63888"/>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6134100" y="1627887"/>
            <a:ext cx="209550" cy="200791"/>
          </a:xfrm>
          <a:custGeom>
            <a:avLst/>
            <a:gdLst/>
            <a:ahLst/>
            <a:cxnLst/>
            <a:rect l="l" t="t" r="r" b="b"/>
            <a:pathLst>
              <a:path w="22" h="22">
                <a:moveTo>
                  <a:pt x="0" y="22"/>
                </a:moveTo>
                <a:lnTo>
                  <a:pt x="22" y="0"/>
                </a:lnTo>
              </a:path>
            </a:pathLst>
          </a:custGeom>
          <a:noFill/>
          <a:ln w="381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6267450" y="1591379"/>
            <a:ext cx="114300" cy="109522"/>
          </a:xfrm>
          <a:custGeom>
            <a:avLst/>
            <a:gdLst/>
            <a:ahLst/>
            <a:cxnLst/>
            <a:rect l="l" t="t" r="r" b="b"/>
            <a:pathLst>
              <a:path w="12" h="12">
                <a:moveTo>
                  <a:pt x="0" y="0"/>
                </a:moveTo>
                <a:lnTo>
                  <a:pt x="12" y="0"/>
                </a:lnTo>
                <a:lnTo>
                  <a:pt x="12" y="12"/>
                </a:lnTo>
                <a:close/>
              </a:path>
            </a:pathLst>
          </a:cu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9815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Intensity of Competition</a:t>
            </a:r>
          </a:p>
        </p:txBody>
      </p:sp>
      <p:sp>
        <p:nvSpPr>
          <p:cNvPr id="34" name="TextBox 33"/>
          <p:cNvSpPr txBox="1"/>
          <p:nvPr/>
        </p:nvSpPr>
        <p:spPr>
          <a:xfrm>
            <a:off x="50101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5" name="TextBox 34"/>
          <p:cNvSpPr txBox="1"/>
          <p:nvPr/>
        </p:nvSpPr>
        <p:spPr>
          <a:xfrm>
            <a:off x="5010150" y="3663174"/>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6" name="TextBox 35"/>
          <p:cNvSpPr txBox="1"/>
          <p:nvPr/>
        </p:nvSpPr>
        <p:spPr>
          <a:xfrm>
            <a:off x="5010150" y="4530225"/>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7" name="Oval 36"/>
          <p:cNvSpPr/>
          <p:nvPr/>
        </p:nvSpPr>
        <p:spPr>
          <a:xfrm>
            <a:off x="8020050" y="1427096"/>
            <a:ext cx="914400" cy="876177"/>
          </a:xfrm>
          <a:prstGeom prst="ellipse">
            <a:avLst/>
          </a:prstGeom>
          <a:solidFill>
            <a:srgbClr val="C9C0E0"/>
          </a:solidFill>
          <a:ln w="12700">
            <a:solidFill>
              <a:srgbClr val="C9C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382000" y="1637014"/>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2486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5153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6282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Threat of Substitutes</a:t>
            </a:r>
          </a:p>
        </p:txBody>
      </p:sp>
      <p:sp>
        <p:nvSpPr>
          <p:cNvPr id="42" name="TextBox 41"/>
          <p:cNvSpPr txBox="1"/>
          <p:nvPr/>
        </p:nvSpPr>
        <p:spPr>
          <a:xfrm>
            <a:off x="7391400" y="2796123"/>
            <a:ext cx="2171700" cy="1149983"/>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3" name="TextBox 42"/>
          <p:cNvSpPr txBox="1"/>
          <p:nvPr/>
        </p:nvSpPr>
        <p:spPr>
          <a:xfrm>
            <a:off x="7391400" y="4037375"/>
            <a:ext cx="21717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4" name="TextBox 43"/>
          <p:cNvSpPr txBox="1"/>
          <p:nvPr/>
        </p:nvSpPr>
        <p:spPr>
          <a:xfrm>
            <a:off x="7391400" y="4530225"/>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5" name="Oval 44"/>
          <p:cNvSpPr/>
          <p:nvPr/>
        </p:nvSpPr>
        <p:spPr>
          <a:xfrm>
            <a:off x="10401300" y="1427096"/>
            <a:ext cx="914400" cy="876177"/>
          </a:xfrm>
          <a:prstGeom prst="ellipse">
            <a:avLst/>
          </a:prstGeom>
          <a:solidFill>
            <a:srgbClr val="BFDCEA"/>
          </a:solidFill>
          <a:ln w="12700">
            <a:solidFill>
              <a:srgbClr val="BFDC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610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10563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991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10944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782300" y="1609633"/>
            <a:ext cx="152400" cy="146030"/>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10715625" y="1783043"/>
            <a:ext cx="285750" cy="255552"/>
          </a:xfrm>
          <a:custGeom>
            <a:avLst/>
            <a:gdLst/>
            <a:ahLst/>
            <a:cxnLst/>
            <a:rect l="l" t="t" r="r" b="b"/>
            <a:pathLst>
              <a:path w="30" h="28">
                <a:moveTo>
                  <a:pt x="0" y="28"/>
                </a:moveTo>
                <a:lnTo>
                  <a:pt x="4" y="0"/>
                </a:lnTo>
                <a:lnTo>
                  <a:pt x="26" y="0"/>
                </a:lnTo>
                <a:lnTo>
                  <a:pt x="30" y="28"/>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7440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Threat of New Entrants</a:t>
            </a:r>
          </a:p>
        </p:txBody>
      </p:sp>
      <p:sp>
        <p:nvSpPr>
          <p:cNvPr id="53" name="TextBox 52"/>
          <p:cNvSpPr txBox="1"/>
          <p:nvPr/>
        </p:nvSpPr>
        <p:spPr>
          <a:xfrm>
            <a:off x="97726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4" name="TextBox 53"/>
          <p:cNvSpPr txBox="1"/>
          <p:nvPr/>
        </p:nvSpPr>
        <p:spPr>
          <a:xfrm>
            <a:off x="9772650" y="3663174"/>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5" name="TextBox 54"/>
          <p:cNvSpPr txBox="1"/>
          <p:nvPr/>
        </p:nvSpPr>
        <p:spPr>
          <a:xfrm>
            <a:off x="9772650" y="4347688"/>
            <a:ext cx="2171700" cy="96744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6" name="TextBox 5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57" name="TextBox 56"/>
          <p:cNvSpPr txBox="1"/>
          <p:nvPr/>
        </p:nvSpPr>
        <p:spPr>
          <a:xfrm>
            <a:off x="171450" y="1069470"/>
            <a:ext cx="10556155" cy="186689"/>
          </a:xfrm>
          <a:prstGeom prst="rect">
            <a:avLst/>
          </a:prstGeom>
          <a:noFill/>
        </p:spPr>
        <p:txBody>
          <a:bodyPr wrap="none" lIns="0" rIns="0" tIns="0" bIns="0">
            <a:spAutoFit/>
          </a:bodyPr>
          <a:lstStyle/>
          <a:p>
            <a:r>
              <a:rPr sz="1100" b="0">
                <a:solidFill>
                  <a:srgbClr val="6C7A89"/>
                </a:solidFill>
                <a:latin typeface="Calibri"/>
              </a:rPr>
              <a:t>Supplier power, buyer power, competitive intensity, substitution and entry barriers scored from the global dataset 8 product type / chemistry lines, 9 application routes and 7 regions at</a:t>
            </a:r>
          </a:p>
        </p:txBody>
      </p:sp>
      <p:pic>
        <p:nvPicPr>
          <p:cNvPr id="58" name="Picture 57" descr="lock.png"/>
          <p:cNvPicPr>
            <a:picLocks noChangeAspect="1"/>
          </p:cNvPicPr>
          <p:nvPr/>
        </p:nvPicPr>
        <p:blipFill>
          <a:blip r:embed="rId4"/>
          <a:stretch>
            <a:fillRect/>
          </a:stretch>
        </p:blipFill>
        <p:spPr>
          <a:xfrm>
            <a:off x="10675657" y="1059691"/>
            <a:ext cx="128699" cy="187198"/>
          </a:xfrm>
          <a:prstGeom prst="rect">
            <a:avLst/>
          </a:prstGeom>
        </p:spPr>
      </p:pic>
      <p:sp>
        <p:nvSpPr>
          <p:cNvPr id="59" name="TextBox 58"/>
          <p:cNvSpPr txBox="1"/>
          <p:nvPr/>
        </p:nvSpPr>
        <p:spPr>
          <a:xfrm>
            <a:off x="10843153" y="1069470"/>
            <a:ext cx="430617" cy="186689"/>
          </a:xfrm>
          <a:prstGeom prst="rect">
            <a:avLst/>
          </a:prstGeom>
          <a:noFill/>
        </p:spPr>
        <p:txBody>
          <a:bodyPr wrap="none" lIns="0" rIns="0" tIns="0" bIns="0">
            <a:spAutoFit/>
          </a:bodyPr>
          <a:lstStyle/>
          <a:p>
            <a:r>
              <a:rPr sz="1100" b="0">
                <a:solidFill>
                  <a:srgbClr val="6C7A89"/>
                </a:solidFill>
                <a:latin typeface="Calibri"/>
              </a:rPr>
              <a:t>CAGR.</a:t>
            </a:r>
          </a:p>
        </p:txBody>
      </p:sp>
      <p:sp>
        <p:nvSpPr>
          <p:cNvPr id="60" name="TextBox 59"/>
          <p:cNvSpPr txBox="1"/>
          <p:nvPr/>
        </p:nvSpPr>
        <p:spPr>
          <a:xfrm>
            <a:off x="276225" y="2848734"/>
            <a:ext cx="2114550" cy="186689"/>
          </a:xfrm>
          <a:prstGeom prst="rect">
            <a:avLst/>
          </a:prstGeom>
          <a:noFill/>
        </p:spPr>
        <p:txBody>
          <a:bodyPr wrap="none" lIns="0" rIns="0" tIns="0" bIns="0">
            <a:spAutoFit/>
          </a:bodyPr>
          <a:lstStyle/>
          <a:p>
            <a:r>
              <a:rPr sz="1100" b="0">
                <a:solidFill>
                  <a:srgbClr val="2E2E2E"/>
                </a:solidFill>
                <a:latin typeface="Calibri"/>
              </a:rPr>
              <a:t>▸ Assessed moderate to high. 'North</a:t>
            </a:r>
          </a:p>
        </p:txBody>
      </p:sp>
      <p:sp>
        <p:nvSpPr>
          <p:cNvPr id="61" name="TextBox 60"/>
          <p:cNvSpPr txBox="1"/>
          <p:nvPr/>
        </p:nvSpPr>
        <p:spPr>
          <a:xfrm>
            <a:off x="276225" y="3016374"/>
            <a:ext cx="1071016" cy="186689"/>
          </a:xfrm>
          <a:prstGeom prst="rect">
            <a:avLst/>
          </a:prstGeom>
          <a:noFill/>
        </p:spPr>
        <p:txBody>
          <a:bodyPr wrap="none" lIns="0" rIns="0" tIns="0" bIns="0">
            <a:spAutoFit/>
          </a:bodyPr>
          <a:lstStyle/>
          <a:p>
            <a:r>
              <a:rPr sz="1100" b="0">
                <a:solidFill>
                  <a:srgbClr val="2E2E2E"/>
                </a:solidFill>
                <a:latin typeface="Calibri"/>
              </a:rPr>
              <a:t>America' supplies</a:t>
            </a:r>
          </a:p>
        </p:txBody>
      </p:sp>
      <p:pic>
        <p:nvPicPr>
          <p:cNvPr id="62" name="Picture 61" descr="lock.png"/>
          <p:cNvPicPr>
            <a:picLocks noChangeAspect="1"/>
          </p:cNvPicPr>
          <p:nvPr/>
        </p:nvPicPr>
        <p:blipFill>
          <a:blip r:embed="rId4"/>
          <a:stretch>
            <a:fillRect/>
          </a:stretch>
        </p:blipFill>
        <p:spPr>
          <a:xfrm>
            <a:off x="1295293" y="3006595"/>
            <a:ext cx="128699" cy="187198"/>
          </a:xfrm>
          <a:prstGeom prst="rect">
            <a:avLst/>
          </a:prstGeom>
        </p:spPr>
      </p:pic>
      <p:sp>
        <p:nvSpPr>
          <p:cNvPr id="63" name="TextBox 62"/>
          <p:cNvSpPr txBox="1"/>
          <p:nvPr/>
        </p:nvSpPr>
        <p:spPr>
          <a:xfrm>
            <a:off x="1462789" y="3016374"/>
            <a:ext cx="844549" cy="186689"/>
          </a:xfrm>
          <a:prstGeom prst="rect">
            <a:avLst/>
          </a:prstGeom>
          <a:noFill/>
        </p:spPr>
        <p:txBody>
          <a:bodyPr wrap="none" lIns="0" rIns="0" tIns="0" bIns="0">
            <a:spAutoFit/>
          </a:bodyPr>
          <a:lstStyle/>
          <a:p>
            <a:r>
              <a:rPr sz="1100" b="0">
                <a:solidFill>
                  <a:srgbClr val="2E2E2E"/>
                </a:solidFill>
                <a:latin typeface="Calibri"/>
              </a:rPr>
              <a:t>of 2036 value</a:t>
            </a:r>
          </a:p>
        </p:txBody>
      </p:sp>
      <p:sp>
        <p:nvSpPr>
          <p:cNvPr id="64" name="TextBox 63"/>
          <p:cNvSpPr txBox="1"/>
          <p:nvPr/>
        </p:nvSpPr>
        <p:spPr>
          <a:xfrm>
            <a:off x="276225" y="3184014"/>
            <a:ext cx="1842095" cy="186689"/>
          </a:xfrm>
          <a:prstGeom prst="rect">
            <a:avLst/>
          </a:prstGeom>
          <a:noFill/>
        </p:spPr>
        <p:txBody>
          <a:bodyPr wrap="none" lIns="0" rIns="0" tIns="0" bIns="0">
            <a:spAutoFit/>
          </a:bodyPr>
          <a:lstStyle/>
          <a:p>
            <a:r>
              <a:rPr sz="1100" b="0">
                <a:solidFill>
                  <a:srgbClr val="2E2E2E"/>
                </a:solidFill>
                <a:latin typeface="Calibri"/>
              </a:rPr>
              <a:t>across 7 regions, concentrating</a:t>
            </a:r>
          </a:p>
        </p:txBody>
      </p:sp>
      <p:sp>
        <p:nvSpPr>
          <p:cNvPr id="65" name="TextBox 64"/>
          <p:cNvSpPr txBox="1"/>
          <p:nvPr/>
        </p:nvSpPr>
        <p:spPr>
          <a:xfrm>
            <a:off x="276225" y="3351654"/>
            <a:ext cx="1173608" cy="186689"/>
          </a:xfrm>
          <a:prstGeom prst="rect">
            <a:avLst/>
          </a:prstGeom>
          <a:noFill/>
        </p:spPr>
        <p:txBody>
          <a:bodyPr wrap="none" lIns="0" rIns="0" tIns="0" bIns="0">
            <a:spAutoFit/>
          </a:bodyPr>
          <a:lstStyle/>
          <a:p>
            <a:r>
              <a:rPr sz="1100" b="0">
                <a:solidFill>
                  <a:srgbClr val="2E2E2E"/>
                </a:solidFill>
                <a:latin typeface="Calibri"/>
              </a:rPr>
              <a:t>upstream leverage.</a:t>
            </a:r>
          </a:p>
        </p:txBody>
      </p:sp>
      <p:sp>
        <p:nvSpPr>
          <p:cNvPr id="66" name="TextBox 65"/>
          <p:cNvSpPr txBox="1"/>
          <p:nvPr/>
        </p:nvSpPr>
        <p:spPr>
          <a:xfrm>
            <a:off x="276225" y="3799605"/>
            <a:ext cx="1676163" cy="186689"/>
          </a:xfrm>
          <a:prstGeom prst="rect">
            <a:avLst/>
          </a:prstGeom>
          <a:noFill/>
        </p:spPr>
        <p:txBody>
          <a:bodyPr wrap="none" lIns="0" rIns="0" tIns="0" bIns="0">
            <a:spAutoFit/>
          </a:bodyPr>
          <a:lstStyle/>
          <a:p>
            <a:r>
              <a:rPr sz="1100" b="0">
                <a:solidFill>
                  <a:srgbClr val="2E2E2E"/>
                </a:solidFill>
                <a:latin typeface="Calibri"/>
              </a:rPr>
              <a:t>▸ Average realisation moves</a:t>
            </a:r>
          </a:p>
        </p:txBody>
      </p:sp>
      <p:pic>
        <p:nvPicPr>
          <p:cNvPr id="67" name="Picture 66" descr="lock.png"/>
          <p:cNvPicPr>
            <a:picLocks noChangeAspect="1"/>
          </p:cNvPicPr>
          <p:nvPr/>
        </p:nvPicPr>
        <p:blipFill>
          <a:blip r:embed="rId4"/>
          <a:stretch>
            <a:fillRect/>
          </a:stretch>
        </p:blipFill>
        <p:spPr>
          <a:xfrm>
            <a:off x="1900439" y="3789826"/>
            <a:ext cx="128699" cy="187198"/>
          </a:xfrm>
          <a:prstGeom prst="rect">
            <a:avLst/>
          </a:prstGeom>
        </p:spPr>
      </p:pic>
      <p:sp>
        <p:nvSpPr>
          <p:cNvPr id="68" name="TextBox 67"/>
          <p:cNvSpPr txBox="1"/>
          <p:nvPr/>
        </p:nvSpPr>
        <p:spPr>
          <a:xfrm>
            <a:off x="2067935" y="3799605"/>
            <a:ext cx="143048" cy="186689"/>
          </a:xfrm>
          <a:prstGeom prst="rect">
            <a:avLst/>
          </a:prstGeom>
          <a:noFill/>
        </p:spPr>
        <p:txBody>
          <a:bodyPr wrap="none" lIns="0" rIns="0" tIns="0" bIns="0">
            <a:spAutoFit/>
          </a:bodyPr>
          <a:lstStyle/>
          <a:p>
            <a:r>
              <a:rPr sz="1100" b="0">
                <a:solidFill>
                  <a:srgbClr val="2E2E2E"/>
                </a:solidFill>
                <a:latin typeface="Calibri"/>
              </a:rPr>
              <a:t>a</a:t>
            </a:r>
          </a:p>
        </p:txBody>
      </p:sp>
      <p:sp>
        <p:nvSpPr>
          <p:cNvPr id="69" name="TextBox 68"/>
          <p:cNvSpPr txBox="1"/>
          <p:nvPr/>
        </p:nvSpPr>
        <p:spPr>
          <a:xfrm>
            <a:off x="276225" y="3967245"/>
            <a:ext cx="2031181" cy="186689"/>
          </a:xfrm>
          <a:prstGeom prst="rect">
            <a:avLst/>
          </a:prstGeom>
          <a:noFill/>
        </p:spPr>
        <p:txBody>
          <a:bodyPr wrap="none" lIns="0" rIns="0" tIns="0" bIns="0">
            <a:spAutoFit/>
          </a:bodyPr>
          <a:lstStyle/>
          <a:p>
            <a:r>
              <a:rPr sz="1100" b="0">
                <a:solidFill>
                  <a:srgbClr val="2E2E2E"/>
                </a:solidFill>
                <a:latin typeface="Calibri"/>
              </a:rPr>
              <a:t>year (2026–2036), indicating input</a:t>
            </a:r>
          </a:p>
        </p:txBody>
      </p:sp>
      <p:sp>
        <p:nvSpPr>
          <p:cNvPr id="70" name="TextBox 69"/>
          <p:cNvSpPr txBox="1"/>
          <p:nvPr/>
        </p:nvSpPr>
        <p:spPr>
          <a:xfrm>
            <a:off x="276225" y="4134885"/>
            <a:ext cx="1874291" cy="186689"/>
          </a:xfrm>
          <a:prstGeom prst="rect">
            <a:avLst/>
          </a:prstGeom>
          <a:noFill/>
        </p:spPr>
        <p:txBody>
          <a:bodyPr wrap="none" lIns="0" rIns="0" tIns="0" bIns="0">
            <a:spAutoFit/>
          </a:bodyPr>
          <a:lstStyle/>
          <a:p>
            <a:r>
              <a:rPr sz="1100" b="0">
                <a:solidFill>
                  <a:srgbClr val="2E2E2E"/>
                </a:solidFill>
                <a:latin typeface="Calibri"/>
              </a:rPr>
              <a:t>costs are being passed through.</a:t>
            </a:r>
          </a:p>
        </p:txBody>
      </p:sp>
      <p:sp>
        <p:nvSpPr>
          <p:cNvPr id="71" name="TextBox 70"/>
          <p:cNvSpPr txBox="1"/>
          <p:nvPr/>
        </p:nvSpPr>
        <p:spPr>
          <a:xfrm>
            <a:off x="2657475" y="2860746"/>
            <a:ext cx="1746324" cy="186689"/>
          </a:xfrm>
          <a:prstGeom prst="rect">
            <a:avLst/>
          </a:prstGeom>
          <a:noFill/>
        </p:spPr>
        <p:txBody>
          <a:bodyPr wrap="none" lIns="0" rIns="0" tIns="0" bIns="0">
            <a:spAutoFit/>
          </a:bodyPr>
          <a:lstStyle/>
          <a:p>
            <a:r>
              <a:rPr sz="1100" b="0">
                <a:solidFill>
                  <a:srgbClr val="2E2E2E"/>
                </a:solidFill>
                <a:latin typeface="Calibri"/>
              </a:rPr>
              <a:t>▸ Assessed moderate to high.</a:t>
            </a:r>
          </a:p>
        </p:txBody>
      </p:sp>
      <p:sp>
        <p:nvSpPr>
          <p:cNvPr id="72" name="TextBox 71"/>
          <p:cNvSpPr txBox="1"/>
          <p:nvPr/>
        </p:nvSpPr>
        <p:spPr>
          <a:xfrm>
            <a:off x="2657475" y="3028386"/>
            <a:ext cx="1545232" cy="186689"/>
          </a:xfrm>
          <a:prstGeom prst="rect">
            <a:avLst/>
          </a:prstGeom>
          <a:noFill/>
        </p:spPr>
        <p:txBody>
          <a:bodyPr wrap="none" lIns="0" rIns="0" tIns="0" bIns="0">
            <a:spAutoFit/>
          </a:bodyPr>
          <a:lstStyle/>
          <a:p>
            <a:r>
              <a:rPr sz="1100" b="0">
                <a:solidFill>
                  <a:srgbClr val="2E2E2E"/>
                </a:solidFill>
                <a:latin typeface="Calibri"/>
              </a:rPr>
              <a:t>Demand routes through 9</a:t>
            </a:r>
          </a:p>
        </p:txBody>
      </p:sp>
      <p:sp>
        <p:nvSpPr>
          <p:cNvPr id="73" name="TextBox 72"/>
          <p:cNvSpPr txBox="1"/>
          <p:nvPr/>
        </p:nvSpPr>
        <p:spPr>
          <a:xfrm>
            <a:off x="2657475" y="3196026"/>
            <a:ext cx="1998712" cy="186689"/>
          </a:xfrm>
          <a:prstGeom prst="rect">
            <a:avLst/>
          </a:prstGeom>
          <a:noFill/>
        </p:spPr>
        <p:txBody>
          <a:bodyPr wrap="none" lIns="0" rIns="0" tIns="0" bIns="0">
            <a:spAutoFit/>
          </a:bodyPr>
          <a:lstStyle/>
          <a:p>
            <a:r>
              <a:rPr sz="1100" b="0">
                <a:solidFill>
                  <a:srgbClr val="2E2E2E"/>
                </a:solidFill>
                <a:latin typeface="Calibri"/>
              </a:rPr>
              <a:t>application channels led by 'Roofs</a:t>
            </a:r>
          </a:p>
        </p:txBody>
      </p:sp>
      <p:sp>
        <p:nvSpPr>
          <p:cNvPr id="74" name="TextBox 73"/>
          <p:cNvSpPr txBox="1"/>
          <p:nvPr/>
        </p:nvSpPr>
        <p:spPr>
          <a:xfrm>
            <a:off x="2657475" y="3363666"/>
            <a:ext cx="983431" cy="186689"/>
          </a:xfrm>
          <a:prstGeom prst="rect">
            <a:avLst/>
          </a:prstGeom>
          <a:noFill/>
        </p:spPr>
        <p:txBody>
          <a:bodyPr wrap="none" lIns="0" rIns="0" tIns="0" bIns="0">
            <a:spAutoFit/>
          </a:bodyPr>
          <a:lstStyle/>
          <a:p>
            <a:r>
              <a:rPr sz="1100" b="0">
                <a:solidFill>
                  <a:srgbClr val="2E2E2E"/>
                </a:solidFill>
                <a:latin typeface="Calibri"/>
              </a:rPr>
              <a:t>and Terraces' at</a:t>
            </a:r>
          </a:p>
        </p:txBody>
      </p:sp>
      <p:pic>
        <p:nvPicPr>
          <p:cNvPr id="75" name="Picture 74" descr="lock.png"/>
          <p:cNvPicPr>
            <a:picLocks noChangeAspect="1"/>
          </p:cNvPicPr>
          <p:nvPr/>
        </p:nvPicPr>
        <p:blipFill>
          <a:blip r:embed="rId4"/>
          <a:stretch>
            <a:fillRect/>
          </a:stretch>
        </p:blipFill>
        <p:spPr>
          <a:xfrm>
            <a:off x="3588958" y="3353887"/>
            <a:ext cx="128699" cy="187198"/>
          </a:xfrm>
          <a:prstGeom prst="rect">
            <a:avLst/>
          </a:prstGeom>
        </p:spPr>
      </p:pic>
      <p:sp>
        <p:nvSpPr>
          <p:cNvPr id="76" name="TextBox 75"/>
          <p:cNvSpPr txBox="1"/>
          <p:nvPr/>
        </p:nvSpPr>
        <p:spPr>
          <a:xfrm>
            <a:off x="3756453" y="3363666"/>
            <a:ext cx="789979" cy="186689"/>
          </a:xfrm>
          <a:prstGeom prst="rect">
            <a:avLst/>
          </a:prstGeom>
          <a:noFill/>
        </p:spPr>
        <p:txBody>
          <a:bodyPr wrap="none" lIns="0" rIns="0" tIns="0" bIns="0">
            <a:spAutoFit/>
          </a:bodyPr>
          <a:lstStyle/>
          <a:p>
            <a:r>
              <a:rPr sz="1100" b="0">
                <a:solidFill>
                  <a:srgbClr val="2E2E2E"/>
                </a:solidFill>
                <a:latin typeface="Calibri"/>
              </a:rPr>
              <a:t>, giving large</a:t>
            </a:r>
          </a:p>
        </p:txBody>
      </p:sp>
      <p:sp>
        <p:nvSpPr>
          <p:cNvPr id="77" name="TextBox 76"/>
          <p:cNvSpPr txBox="1"/>
          <p:nvPr/>
        </p:nvSpPr>
        <p:spPr>
          <a:xfrm>
            <a:off x="2657475" y="3531306"/>
            <a:ext cx="808533" cy="186689"/>
          </a:xfrm>
          <a:prstGeom prst="rect">
            <a:avLst/>
          </a:prstGeom>
          <a:noFill/>
        </p:spPr>
        <p:txBody>
          <a:bodyPr wrap="none" lIns="0" rIns="0" tIns="0" bIns="0">
            <a:spAutoFit/>
          </a:bodyPr>
          <a:lstStyle/>
          <a:p>
            <a:r>
              <a:rPr sz="1100" b="0">
                <a:solidFill>
                  <a:srgbClr val="2E2E2E"/>
                </a:solidFill>
                <a:latin typeface="Calibri"/>
              </a:rPr>
              <a:t>buyers scale.</a:t>
            </a:r>
          </a:p>
        </p:txBody>
      </p:sp>
      <p:sp>
        <p:nvSpPr>
          <p:cNvPr id="78" name="TextBox 77"/>
          <p:cNvSpPr txBox="1"/>
          <p:nvPr/>
        </p:nvSpPr>
        <p:spPr>
          <a:xfrm>
            <a:off x="2657475" y="3900000"/>
            <a:ext cx="2062013" cy="186689"/>
          </a:xfrm>
          <a:prstGeom prst="rect">
            <a:avLst/>
          </a:prstGeom>
          <a:noFill/>
        </p:spPr>
        <p:txBody>
          <a:bodyPr wrap="none" lIns="0" rIns="0" tIns="0" bIns="0">
            <a:spAutoFit/>
          </a:bodyPr>
          <a:lstStyle/>
          <a:p>
            <a:r>
              <a:rPr sz="1100" b="0">
                <a:solidFill>
                  <a:srgbClr val="2E2E2E"/>
                </a:solidFill>
                <a:latin typeface="Calibri"/>
              </a:rPr>
              <a:t>▸ Price sensitivity tracks realisation</a:t>
            </a:r>
          </a:p>
        </p:txBody>
      </p:sp>
      <p:sp>
        <p:nvSpPr>
          <p:cNvPr id="79" name="TextBox 78"/>
          <p:cNvSpPr txBox="1"/>
          <p:nvPr/>
        </p:nvSpPr>
        <p:spPr>
          <a:xfrm>
            <a:off x="2657475" y="4067640"/>
            <a:ext cx="495845" cy="186689"/>
          </a:xfrm>
          <a:prstGeom prst="rect">
            <a:avLst/>
          </a:prstGeom>
          <a:noFill/>
        </p:spPr>
        <p:txBody>
          <a:bodyPr wrap="none" lIns="0" rIns="0" tIns="0" bIns="0">
            <a:spAutoFit/>
          </a:bodyPr>
          <a:lstStyle/>
          <a:p>
            <a:r>
              <a:rPr sz="1100" b="0">
                <a:solidFill>
                  <a:srgbClr val="2E2E2E"/>
                </a:solidFill>
                <a:latin typeface="Calibri"/>
              </a:rPr>
              <a:t>moving</a:t>
            </a:r>
          </a:p>
        </p:txBody>
      </p:sp>
      <p:pic>
        <p:nvPicPr>
          <p:cNvPr id="80" name="Picture 79" descr="lock.png"/>
          <p:cNvPicPr>
            <a:picLocks noChangeAspect="1"/>
          </p:cNvPicPr>
          <p:nvPr/>
        </p:nvPicPr>
        <p:blipFill>
          <a:blip r:embed="rId4"/>
          <a:stretch>
            <a:fillRect/>
          </a:stretch>
        </p:blipFill>
        <p:spPr>
          <a:xfrm>
            <a:off x="3101372" y="4057861"/>
            <a:ext cx="128699" cy="187198"/>
          </a:xfrm>
          <a:prstGeom prst="rect">
            <a:avLst/>
          </a:prstGeom>
        </p:spPr>
      </p:pic>
      <p:sp>
        <p:nvSpPr>
          <p:cNvPr id="81" name="TextBox 80"/>
          <p:cNvSpPr txBox="1"/>
          <p:nvPr/>
        </p:nvSpPr>
        <p:spPr>
          <a:xfrm>
            <a:off x="3268868" y="4067640"/>
            <a:ext cx="1316583" cy="186689"/>
          </a:xfrm>
          <a:prstGeom prst="rect">
            <a:avLst/>
          </a:prstGeom>
          <a:noFill/>
        </p:spPr>
        <p:txBody>
          <a:bodyPr wrap="none" lIns="0" rIns="0" tIns="0" bIns="0">
            <a:spAutoFit/>
          </a:bodyPr>
          <a:lstStyle/>
          <a:p>
            <a:r>
              <a:rPr sz="1100" b="0">
                <a:solidFill>
                  <a:srgbClr val="2E2E2E"/>
                </a:solidFill>
                <a:latin typeface="Calibri"/>
              </a:rPr>
              <a:t>a year against volume</a:t>
            </a:r>
          </a:p>
        </p:txBody>
      </p:sp>
      <p:sp>
        <p:nvSpPr>
          <p:cNvPr id="82" name="TextBox 81"/>
          <p:cNvSpPr txBox="1"/>
          <p:nvPr/>
        </p:nvSpPr>
        <p:spPr>
          <a:xfrm>
            <a:off x="2657475" y="4235280"/>
            <a:ext cx="632544" cy="186689"/>
          </a:xfrm>
          <a:prstGeom prst="rect">
            <a:avLst/>
          </a:prstGeom>
          <a:noFill/>
        </p:spPr>
        <p:txBody>
          <a:bodyPr wrap="none" lIns="0" rIns="0" tIns="0" bIns="0">
            <a:spAutoFit/>
          </a:bodyPr>
          <a:lstStyle/>
          <a:p>
            <a:r>
              <a:rPr sz="1100" b="0">
                <a:solidFill>
                  <a:srgbClr val="2E2E2E"/>
                </a:solidFill>
                <a:latin typeface="Calibri"/>
              </a:rPr>
              <a:t>growth of</a:t>
            </a:r>
          </a:p>
        </p:txBody>
      </p:sp>
      <p:pic>
        <p:nvPicPr>
          <p:cNvPr id="83" name="Picture 82" descr="lock.png"/>
          <p:cNvPicPr>
            <a:picLocks noChangeAspect="1"/>
          </p:cNvPicPr>
          <p:nvPr/>
        </p:nvPicPr>
        <p:blipFill>
          <a:blip r:embed="rId4"/>
          <a:stretch>
            <a:fillRect/>
          </a:stretch>
        </p:blipFill>
        <p:spPr>
          <a:xfrm>
            <a:off x="3238070" y="4225501"/>
            <a:ext cx="128699" cy="187198"/>
          </a:xfrm>
          <a:prstGeom prst="rect">
            <a:avLst/>
          </a:prstGeom>
        </p:spPr>
      </p:pic>
      <p:sp>
        <p:nvSpPr>
          <p:cNvPr id="84" name="TextBox 83"/>
          <p:cNvSpPr txBox="1"/>
          <p:nvPr/>
        </p:nvSpPr>
        <p:spPr>
          <a:xfrm>
            <a:off x="3405566" y="423528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85" name="TextBox 84"/>
          <p:cNvSpPr txBox="1"/>
          <p:nvPr/>
        </p:nvSpPr>
        <p:spPr>
          <a:xfrm>
            <a:off x="5038725" y="2932554"/>
            <a:ext cx="1955601" cy="186689"/>
          </a:xfrm>
          <a:prstGeom prst="rect">
            <a:avLst/>
          </a:prstGeom>
          <a:noFill/>
        </p:spPr>
        <p:txBody>
          <a:bodyPr wrap="none" lIns="0" rIns="0" tIns="0" bIns="0">
            <a:spAutoFit/>
          </a:bodyPr>
          <a:lstStyle/>
          <a:p>
            <a:r>
              <a:rPr sz="1100" b="0">
                <a:solidFill>
                  <a:srgbClr val="2E2E2E"/>
                </a:solidFill>
                <a:latin typeface="Calibri"/>
              </a:rPr>
              <a:t>▸ Assessed high. 8 product type /</a:t>
            </a:r>
          </a:p>
        </p:txBody>
      </p:sp>
      <p:sp>
        <p:nvSpPr>
          <p:cNvPr id="86" name="TextBox 85"/>
          <p:cNvSpPr txBox="1"/>
          <p:nvPr/>
        </p:nvSpPr>
        <p:spPr>
          <a:xfrm>
            <a:off x="5038725" y="3100194"/>
            <a:ext cx="2053555" cy="186689"/>
          </a:xfrm>
          <a:prstGeom prst="rect">
            <a:avLst/>
          </a:prstGeom>
          <a:noFill/>
        </p:spPr>
        <p:txBody>
          <a:bodyPr wrap="none" lIns="0" rIns="0" tIns="0" bIns="0">
            <a:spAutoFit/>
          </a:bodyPr>
          <a:lstStyle/>
          <a:p>
            <a:r>
              <a:rPr sz="1100" b="0">
                <a:solidFill>
                  <a:srgbClr val="2E2E2E"/>
                </a:solidFill>
                <a:latin typeface="Calibri"/>
              </a:rPr>
              <a:t>chemistry lines compete inside the</a:t>
            </a:r>
          </a:p>
        </p:txBody>
      </p:sp>
      <p:sp>
        <p:nvSpPr>
          <p:cNvPr id="87" name="TextBox 86"/>
          <p:cNvSpPr txBox="1"/>
          <p:nvPr/>
        </p:nvSpPr>
        <p:spPr>
          <a:xfrm>
            <a:off x="5038725" y="3267834"/>
            <a:ext cx="1557511" cy="186689"/>
          </a:xfrm>
          <a:prstGeom prst="rect">
            <a:avLst/>
          </a:prstGeom>
          <a:noFill/>
        </p:spPr>
        <p:txBody>
          <a:bodyPr wrap="none" lIns="0" rIns="0" tIns="0" bIns="0">
            <a:spAutoFit/>
          </a:bodyPr>
          <a:lstStyle/>
          <a:p>
            <a:r>
              <a:rPr sz="1100" b="0">
                <a:solidFill>
                  <a:srgbClr val="2E2E2E"/>
                </a:solidFill>
                <a:latin typeface="Calibri"/>
              </a:rPr>
              <a:t>segment; the leader holds</a:t>
            </a:r>
          </a:p>
        </p:txBody>
      </p:sp>
      <p:pic>
        <p:nvPicPr>
          <p:cNvPr id="88" name="Picture 87" descr="lock.png"/>
          <p:cNvPicPr>
            <a:picLocks noChangeAspect="1"/>
          </p:cNvPicPr>
          <p:nvPr/>
        </p:nvPicPr>
        <p:blipFill>
          <a:blip r:embed="rId4"/>
          <a:stretch>
            <a:fillRect/>
          </a:stretch>
        </p:blipFill>
        <p:spPr>
          <a:xfrm>
            <a:off x="6544287" y="3258055"/>
            <a:ext cx="128699" cy="187198"/>
          </a:xfrm>
          <a:prstGeom prst="rect">
            <a:avLst/>
          </a:prstGeom>
        </p:spPr>
      </p:pic>
      <p:sp>
        <p:nvSpPr>
          <p:cNvPr id="89" name="TextBox 88"/>
          <p:cNvSpPr txBox="1"/>
          <p:nvPr/>
        </p:nvSpPr>
        <p:spPr>
          <a:xfrm>
            <a:off x="6711783" y="3267834"/>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90" name="TextBox 89"/>
          <p:cNvSpPr txBox="1"/>
          <p:nvPr/>
        </p:nvSpPr>
        <p:spPr>
          <a:xfrm>
            <a:off x="5038725" y="3715785"/>
            <a:ext cx="1934046" cy="186689"/>
          </a:xfrm>
          <a:prstGeom prst="rect">
            <a:avLst/>
          </a:prstGeom>
          <a:noFill/>
        </p:spPr>
        <p:txBody>
          <a:bodyPr wrap="none" lIns="0" rIns="0" tIns="0" bIns="0">
            <a:spAutoFit/>
          </a:bodyPr>
          <a:lstStyle/>
          <a:p>
            <a:r>
              <a:rPr sz="1100" b="0">
                <a:solidFill>
                  <a:srgbClr val="2E2E2E"/>
                </a:solidFill>
                <a:latin typeface="Calibri"/>
              </a:rPr>
              <a:t>▸ Growth is unevenly distributed</a:t>
            </a:r>
          </a:p>
        </p:txBody>
      </p:sp>
      <p:sp>
        <p:nvSpPr>
          <p:cNvPr id="91" name="TextBox 90"/>
          <p:cNvSpPr txBox="1"/>
          <p:nvPr/>
        </p:nvSpPr>
        <p:spPr>
          <a:xfrm>
            <a:off x="5038725" y="3883425"/>
            <a:ext cx="1939776" cy="186689"/>
          </a:xfrm>
          <a:prstGeom prst="rect">
            <a:avLst/>
          </a:prstGeom>
          <a:noFill/>
        </p:spPr>
        <p:txBody>
          <a:bodyPr wrap="none" lIns="0" rIns="0" tIns="0" bIns="0">
            <a:spAutoFit/>
          </a:bodyPr>
          <a:lstStyle/>
          <a:p>
            <a:r>
              <a:rPr sz="1100" b="0">
                <a:solidFill>
                  <a:srgbClr val="2E2E2E"/>
                </a:solidFill>
                <a:latin typeface="Calibri"/>
              </a:rPr>
              <a:t>'Silicone Waterproof Coatings' at</a:t>
            </a:r>
          </a:p>
        </p:txBody>
      </p:sp>
      <p:pic>
        <p:nvPicPr>
          <p:cNvPr id="92" name="Picture 91" descr="lock.png"/>
          <p:cNvPicPr>
            <a:picLocks noChangeAspect="1"/>
          </p:cNvPicPr>
          <p:nvPr/>
        </p:nvPicPr>
        <p:blipFill>
          <a:blip r:embed="rId4"/>
          <a:stretch>
            <a:fillRect/>
          </a:stretch>
        </p:blipFill>
        <p:spPr>
          <a:xfrm>
            <a:off x="5025257" y="4041286"/>
            <a:ext cx="128699" cy="187198"/>
          </a:xfrm>
          <a:prstGeom prst="rect">
            <a:avLst/>
          </a:prstGeom>
        </p:spPr>
      </p:pic>
      <p:sp>
        <p:nvSpPr>
          <p:cNvPr id="93" name="TextBox 92"/>
          <p:cNvSpPr txBox="1"/>
          <p:nvPr/>
        </p:nvSpPr>
        <p:spPr>
          <a:xfrm>
            <a:off x="5192753" y="4051065"/>
            <a:ext cx="1303759" cy="186689"/>
          </a:xfrm>
          <a:prstGeom prst="rect">
            <a:avLst/>
          </a:prstGeom>
          <a:noFill/>
        </p:spPr>
        <p:txBody>
          <a:bodyPr wrap="none" lIns="0" rIns="0" tIns="0" bIns="0">
            <a:spAutoFit/>
          </a:bodyPr>
          <a:lstStyle/>
          <a:p>
            <a:r>
              <a:rPr sz="1100" b="0">
                <a:solidFill>
                  <a:srgbClr val="2E2E2E"/>
                </a:solidFill>
                <a:latin typeface="Calibri"/>
              </a:rPr>
              <a:t>against 'Cementitious</a:t>
            </a:r>
          </a:p>
        </p:txBody>
      </p:sp>
      <p:sp>
        <p:nvSpPr>
          <p:cNvPr id="94" name="TextBox 93"/>
          <p:cNvSpPr txBox="1"/>
          <p:nvPr/>
        </p:nvSpPr>
        <p:spPr>
          <a:xfrm>
            <a:off x="5038725" y="4218705"/>
            <a:ext cx="1440730" cy="186689"/>
          </a:xfrm>
          <a:prstGeom prst="rect">
            <a:avLst/>
          </a:prstGeom>
          <a:noFill/>
        </p:spPr>
        <p:txBody>
          <a:bodyPr wrap="none" lIns="0" rIns="0" tIns="0" bIns="0">
            <a:spAutoFit/>
          </a:bodyPr>
          <a:lstStyle/>
          <a:p>
            <a:r>
              <a:rPr sz="1100" b="0">
                <a:solidFill>
                  <a:srgbClr val="2E2E2E"/>
                </a:solidFill>
                <a:latin typeface="Calibri"/>
              </a:rPr>
              <a:t>Waterproof Coatings' at</a:t>
            </a:r>
          </a:p>
        </p:txBody>
      </p:sp>
      <p:pic>
        <p:nvPicPr>
          <p:cNvPr id="95" name="Picture 94" descr="lock.png"/>
          <p:cNvPicPr>
            <a:picLocks noChangeAspect="1"/>
          </p:cNvPicPr>
          <p:nvPr/>
        </p:nvPicPr>
        <p:blipFill>
          <a:blip r:embed="rId4"/>
          <a:stretch>
            <a:fillRect/>
          </a:stretch>
        </p:blipFill>
        <p:spPr>
          <a:xfrm>
            <a:off x="6427507" y="4208926"/>
            <a:ext cx="128699" cy="187198"/>
          </a:xfrm>
          <a:prstGeom prst="rect">
            <a:avLst/>
          </a:prstGeom>
        </p:spPr>
      </p:pic>
      <p:sp>
        <p:nvSpPr>
          <p:cNvPr id="96" name="TextBox 95"/>
          <p:cNvSpPr txBox="1"/>
          <p:nvPr/>
        </p:nvSpPr>
        <p:spPr>
          <a:xfrm>
            <a:off x="6595003" y="421870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97" name="TextBox 96"/>
          <p:cNvSpPr txBox="1"/>
          <p:nvPr/>
        </p:nvSpPr>
        <p:spPr>
          <a:xfrm>
            <a:off x="5038725" y="4575387"/>
            <a:ext cx="2114550" cy="186689"/>
          </a:xfrm>
          <a:prstGeom prst="rect">
            <a:avLst/>
          </a:prstGeom>
          <a:noFill/>
        </p:spPr>
        <p:txBody>
          <a:bodyPr wrap="none" lIns="0" rIns="0" tIns="0" bIns="0">
            <a:spAutoFit/>
          </a:bodyPr>
          <a:lstStyle/>
          <a:p>
            <a:r>
              <a:rPr sz="1100" b="0">
                <a:solidFill>
                  <a:srgbClr val="2E2E2E"/>
                </a:solidFill>
                <a:latin typeface="Calibri"/>
              </a:rPr>
              <a:t>▸ 4 of 7 regions grow at or above the</a:t>
            </a:r>
          </a:p>
        </p:txBody>
      </p:sp>
      <p:pic>
        <p:nvPicPr>
          <p:cNvPr id="98" name="Picture 97" descr="lock.png"/>
          <p:cNvPicPr>
            <a:picLocks noChangeAspect="1"/>
          </p:cNvPicPr>
          <p:nvPr/>
        </p:nvPicPr>
        <p:blipFill>
          <a:blip r:embed="rId4"/>
          <a:stretch>
            <a:fillRect/>
          </a:stretch>
        </p:blipFill>
        <p:spPr>
          <a:xfrm>
            <a:off x="5025257" y="4733248"/>
            <a:ext cx="128699" cy="187198"/>
          </a:xfrm>
          <a:prstGeom prst="rect">
            <a:avLst/>
          </a:prstGeom>
        </p:spPr>
      </p:pic>
      <p:sp>
        <p:nvSpPr>
          <p:cNvPr id="99" name="TextBox 98"/>
          <p:cNvSpPr txBox="1"/>
          <p:nvPr/>
        </p:nvSpPr>
        <p:spPr>
          <a:xfrm>
            <a:off x="5192753" y="4743027"/>
            <a:ext cx="1643186" cy="186689"/>
          </a:xfrm>
          <a:prstGeom prst="rect">
            <a:avLst/>
          </a:prstGeom>
          <a:noFill/>
        </p:spPr>
        <p:txBody>
          <a:bodyPr wrap="none" lIns="0" rIns="0" tIns="0" bIns="0">
            <a:spAutoFit/>
          </a:bodyPr>
          <a:lstStyle/>
          <a:p>
            <a:r>
              <a:rPr sz="1100" b="0">
                <a:solidFill>
                  <a:srgbClr val="2E2E2E"/>
                </a:solidFill>
                <a:latin typeface="Calibri"/>
              </a:rPr>
              <a:t>market pace, keeping share</a:t>
            </a:r>
          </a:p>
        </p:txBody>
      </p:sp>
      <p:sp>
        <p:nvSpPr>
          <p:cNvPr id="100" name="TextBox 99"/>
          <p:cNvSpPr txBox="1"/>
          <p:nvPr/>
        </p:nvSpPr>
        <p:spPr>
          <a:xfrm>
            <a:off x="5038725" y="4910667"/>
            <a:ext cx="678656" cy="186689"/>
          </a:xfrm>
          <a:prstGeom prst="rect">
            <a:avLst/>
          </a:prstGeom>
          <a:noFill/>
        </p:spPr>
        <p:txBody>
          <a:bodyPr wrap="none" lIns="0" rIns="0" tIns="0" bIns="0">
            <a:spAutoFit/>
          </a:bodyPr>
          <a:lstStyle/>
          <a:p>
            <a:r>
              <a:rPr sz="1100" b="0">
                <a:solidFill>
                  <a:srgbClr val="2E2E2E"/>
                </a:solidFill>
                <a:latin typeface="Calibri"/>
              </a:rPr>
              <a:t>contested.</a:t>
            </a:r>
          </a:p>
        </p:txBody>
      </p:sp>
      <p:sp>
        <p:nvSpPr>
          <p:cNvPr id="101" name="TextBox 100"/>
          <p:cNvSpPr txBox="1"/>
          <p:nvPr/>
        </p:nvSpPr>
        <p:spPr>
          <a:xfrm>
            <a:off x="7419975" y="2952014"/>
            <a:ext cx="1822995" cy="186689"/>
          </a:xfrm>
          <a:prstGeom prst="rect">
            <a:avLst/>
          </a:prstGeom>
          <a:noFill/>
        </p:spPr>
        <p:txBody>
          <a:bodyPr wrap="none" lIns="0" rIns="0" tIns="0" bIns="0">
            <a:spAutoFit/>
          </a:bodyPr>
          <a:lstStyle/>
          <a:p>
            <a:r>
              <a:rPr sz="1100" b="0">
                <a:solidFill>
                  <a:srgbClr val="2E2E2E"/>
                </a:solidFill>
                <a:latin typeface="Calibri"/>
              </a:rPr>
              <a:t>▸ Assessed high. 'Cementitious</a:t>
            </a:r>
          </a:p>
        </p:txBody>
      </p:sp>
      <p:sp>
        <p:nvSpPr>
          <p:cNvPr id="102" name="TextBox 101"/>
          <p:cNvSpPr txBox="1"/>
          <p:nvPr/>
        </p:nvSpPr>
        <p:spPr>
          <a:xfrm>
            <a:off x="7419975" y="3119654"/>
            <a:ext cx="1611535" cy="186689"/>
          </a:xfrm>
          <a:prstGeom prst="rect">
            <a:avLst/>
          </a:prstGeom>
          <a:noFill/>
        </p:spPr>
        <p:txBody>
          <a:bodyPr wrap="none" lIns="0" rIns="0" tIns="0" bIns="0">
            <a:spAutoFit/>
          </a:bodyPr>
          <a:lstStyle/>
          <a:p>
            <a:r>
              <a:rPr sz="1100" b="0">
                <a:solidFill>
                  <a:srgbClr val="2E2E2E"/>
                </a:solidFill>
                <a:latin typeface="Calibri"/>
              </a:rPr>
              <a:t>Waterproof Coatings' loses</a:t>
            </a:r>
          </a:p>
        </p:txBody>
      </p:sp>
      <p:pic>
        <p:nvPicPr>
          <p:cNvPr id="103" name="Picture 102" descr="lock.png"/>
          <p:cNvPicPr>
            <a:picLocks noChangeAspect="1"/>
          </p:cNvPicPr>
          <p:nvPr/>
        </p:nvPicPr>
        <p:blipFill>
          <a:blip r:embed="rId4"/>
          <a:stretch>
            <a:fillRect/>
          </a:stretch>
        </p:blipFill>
        <p:spPr>
          <a:xfrm>
            <a:off x="8979562" y="3109875"/>
            <a:ext cx="128699" cy="187198"/>
          </a:xfrm>
          <a:prstGeom prst="rect">
            <a:avLst/>
          </a:prstGeom>
        </p:spPr>
      </p:pic>
      <p:sp>
        <p:nvSpPr>
          <p:cNvPr id="104" name="TextBox 103"/>
          <p:cNvSpPr txBox="1"/>
          <p:nvPr/>
        </p:nvSpPr>
        <p:spPr>
          <a:xfrm>
            <a:off x="9147058" y="3119654"/>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05" name="TextBox 104"/>
          <p:cNvSpPr txBox="1"/>
          <p:nvPr/>
        </p:nvSpPr>
        <p:spPr>
          <a:xfrm>
            <a:off x="7419975" y="3287294"/>
            <a:ext cx="1889025" cy="186689"/>
          </a:xfrm>
          <a:prstGeom prst="rect">
            <a:avLst/>
          </a:prstGeom>
          <a:noFill/>
        </p:spPr>
        <p:txBody>
          <a:bodyPr wrap="none" lIns="0" rIns="0" tIns="0" bIns="0">
            <a:spAutoFit/>
          </a:bodyPr>
          <a:lstStyle/>
          <a:p>
            <a:r>
              <a:rPr sz="1100" b="0">
                <a:solidFill>
                  <a:srgbClr val="2E2E2E"/>
                </a:solidFill>
                <a:latin typeface="Calibri"/>
              </a:rPr>
              <a:t>of share to 'Silicone Waterproof</a:t>
            </a:r>
          </a:p>
        </p:txBody>
      </p:sp>
      <p:sp>
        <p:nvSpPr>
          <p:cNvPr id="106" name="TextBox 105"/>
          <p:cNvSpPr txBox="1"/>
          <p:nvPr/>
        </p:nvSpPr>
        <p:spPr>
          <a:xfrm>
            <a:off x="7419975" y="3454934"/>
            <a:ext cx="738410" cy="186689"/>
          </a:xfrm>
          <a:prstGeom prst="rect">
            <a:avLst/>
          </a:prstGeom>
          <a:noFill/>
        </p:spPr>
        <p:txBody>
          <a:bodyPr wrap="none" lIns="0" rIns="0" tIns="0" bIns="0">
            <a:spAutoFit/>
          </a:bodyPr>
          <a:lstStyle/>
          <a:p>
            <a:r>
              <a:rPr sz="1100" b="0">
                <a:solidFill>
                  <a:srgbClr val="2E2E2E"/>
                </a:solidFill>
                <a:latin typeface="Calibri"/>
              </a:rPr>
              <a:t>Coatings' (+</a:t>
            </a:r>
          </a:p>
        </p:txBody>
      </p:sp>
      <p:pic>
        <p:nvPicPr>
          <p:cNvPr id="107" name="Picture 106" descr="lock.png"/>
          <p:cNvPicPr>
            <a:picLocks noChangeAspect="1"/>
          </p:cNvPicPr>
          <p:nvPr/>
        </p:nvPicPr>
        <p:blipFill>
          <a:blip r:embed="rId4"/>
          <a:stretch>
            <a:fillRect/>
          </a:stretch>
        </p:blipFill>
        <p:spPr>
          <a:xfrm>
            <a:off x="8106437" y="3445155"/>
            <a:ext cx="128699" cy="187198"/>
          </a:xfrm>
          <a:prstGeom prst="rect">
            <a:avLst/>
          </a:prstGeom>
        </p:spPr>
      </p:pic>
      <p:sp>
        <p:nvSpPr>
          <p:cNvPr id="108" name="TextBox 107"/>
          <p:cNvSpPr txBox="1"/>
          <p:nvPr/>
        </p:nvSpPr>
        <p:spPr>
          <a:xfrm>
            <a:off x="8273933" y="3454934"/>
            <a:ext cx="814809" cy="186689"/>
          </a:xfrm>
          <a:prstGeom prst="rect">
            <a:avLst/>
          </a:prstGeom>
          <a:noFill/>
        </p:spPr>
        <p:txBody>
          <a:bodyPr wrap="none" lIns="0" rIns="0" tIns="0" bIns="0">
            <a:spAutoFit/>
          </a:bodyPr>
          <a:lstStyle/>
          <a:p>
            <a:r>
              <a:rPr sz="1100" b="0">
                <a:solidFill>
                  <a:srgbClr val="2E2E2E"/>
                </a:solidFill>
                <a:latin typeface="Calibri"/>
              </a:rPr>
              <a:t>BPS) by 2036</a:t>
            </a:r>
          </a:p>
        </p:txBody>
      </p:sp>
      <p:sp>
        <p:nvSpPr>
          <p:cNvPr id="109" name="TextBox 108"/>
          <p:cNvSpPr txBox="1"/>
          <p:nvPr/>
        </p:nvSpPr>
        <p:spPr>
          <a:xfrm>
            <a:off x="7419975" y="3622574"/>
            <a:ext cx="2114550" cy="186689"/>
          </a:xfrm>
          <a:prstGeom prst="rect">
            <a:avLst/>
          </a:prstGeom>
          <a:noFill/>
        </p:spPr>
        <p:txBody>
          <a:bodyPr wrap="none" lIns="0" rIns="0" tIns="0" bIns="0">
            <a:spAutoFit/>
          </a:bodyPr>
          <a:lstStyle/>
          <a:p>
            <a:r>
              <a:rPr sz="1100" b="0">
                <a:solidFill>
                  <a:srgbClr val="2E2E2E"/>
                </a:solidFill>
                <a:latin typeface="Calibri"/>
              </a:rPr>
              <a:t>substitution is visible inside the mix.</a:t>
            </a:r>
          </a:p>
        </p:txBody>
      </p:sp>
      <p:sp>
        <p:nvSpPr>
          <p:cNvPr id="110" name="TextBox 109"/>
          <p:cNvSpPr txBox="1"/>
          <p:nvPr/>
        </p:nvSpPr>
        <p:spPr>
          <a:xfrm>
            <a:off x="7419975" y="4077231"/>
            <a:ext cx="1550384" cy="179984"/>
          </a:xfrm>
          <a:prstGeom prst="rect">
            <a:avLst/>
          </a:prstGeom>
          <a:noFill/>
        </p:spPr>
        <p:txBody>
          <a:bodyPr wrap="none" lIns="0" rIns="0" tIns="0" bIns="0">
            <a:spAutoFit/>
          </a:bodyPr>
          <a:lstStyle/>
          <a:p>
            <a:r>
              <a:rPr sz="1055" b="0">
                <a:solidFill>
                  <a:srgbClr val="2E2E2E"/>
                </a:solidFill>
                <a:latin typeface="Calibri"/>
              </a:rPr>
              <a:t>▸ The slowest line grows at</a:t>
            </a:r>
          </a:p>
        </p:txBody>
      </p:sp>
      <p:pic>
        <p:nvPicPr>
          <p:cNvPr id="111" name="Picture 110" descr="lock.png"/>
          <p:cNvPicPr>
            <a:picLocks noChangeAspect="1"/>
          </p:cNvPicPr>
          <p:nvPr/>
        </p:nvPicPr>
        <p:blipFill>
          <a:blip r:embed="rId4"/>
          <a:stretch>
            <a:fillRect/>
          </a:stretch>
        </p:blipFill>
        <p:spPr>
          <a:xfrm>
            <a:off x="8917440" y="4067843"/>
            <a:ext cx="123551" cy="179710"/>
          </a:xfrm>
          <a:prstGeom prst="rect">
            <a:avLst/>
          </a:prstGeom>
        </p:spPr>
      </p:pic>
      <p:sp>
        <p:nvSpPr>
          <p:cNvPr id="112" name="TextBox 111"/>
          <p:cNvSpPr txBox="1"/>
          <p:nvPr/>
        </p:nvSpPr>
        <p:spPr>
          <a:xfrm>
            <a:off x="9078236" y="4077231"/>
            <a:ext cx="181236" cy="179984"/>
          </a:xfrm>
          <a:prstGeom prst="rect">
            <a:avLst/>
          </a:prstGeom>
          <a:noFill/>
        </p:spPr>
        <p:txBody>
          <a:bodyPr wrap="none" lIns="0" rIns="0" tIns="0" bIns="0">
            <a:spAutoFit/>
          </a:bodyPr>
          <a:lstStyle/>
          <a:p>
            <a:r>
              <a:rPr sz="1055" b="0">
                <a:solidFill>
                  <a:srgbClr val="2E2E2E"/>
                </a:solidFill>
                <a:latin typeface="Calibri"/>
              </a:rPr>
              <a:t>, -</a:t>
            </a:r>
          </a:p>
        </p:txBody>
      </p:sp>
      <p:pic>
        <p:nvPicPr>
          <p:cNvPr id="113" name="Picture 112" descr="lock.png"/>
          <p:cNvPicPr>
            <a:picLocks noChangeAspect="1"/>
          </p:cNvPicPr>
          <p:nvPr/>
        </p:nvPicPr>
        <p:blipFill>
          <a:blip r:embed="rId4"/>
          <a:stretch>
            <a:fillRect/>
          </a:stretch>
        </p:blipFill>
        <p:spPr>
          <a:xfrm>
            <a:off x="9206555" y="4067843"/>
            <a:ext cx="123551" cy="179710"/>
          </a:xfrm>
          <a:prstGeom prst="rect">
            <a:avLst/>
          </a:prstGeom>
        </p:spPr>
      </p:pic>
      <p:sp>
        <p:nvSpPr>
          <p:cNvPr id="114" name="TextBox 113"/>
          <p:cNvSpPr txBox="1"/>
          <p:nvPr/>
        </p:nvSpPr>
        <p:spPr>
          <a:xfrm>
            <a:off x="7419975" y="4238165"/>
            <a:ext cx="1368861" cy="179984"/>
          </a:xfrm>
          <a:prstGeom prst="rect">
            <a:avLst/>
          </a:prstGeom>
          <a:noFill/>
        </p:spPr>
        <p:txBody>
          <a:bodyPr wrap="none" lIns="0" rIns="0" tIns="0" bIns="0">
            <a:spAutoFit/>
          </a:bodyPr>
          <a:lstStyle/>
          <a:p>
            <a:r>
              <a:rPr sz="1055" b="0">
                <a:solidFill>
                  <a:srgbClr val="2E2E2E"/>
                </a:solidFill>
                <a:latin typeface="Calibri"/>
              </a:rPr>
              <a:t>BPS against the market.</a:t>
            </a:r>
          </a:p>
        </p:txBody>
      </p:sp>
      <p:sp>
        <p:nvSpPr>
          <p:cNvPr id="115" name="TextBox 114"/>
          <p:cNvSpPr txBox="1"/>
          <p:nvPr/>
        </p:nvSpPr>
        <p:spPr>
          <a:xfrm>
            <a:off x="7419975" y="4575387"/>
            <a:ext cx="1254373" cy="186689"/>
          </a:xfrm>
          <a:prstGeom prst="rect">
            <a:avLst/>
          </a:prstGeom>
          <a:noFill/>
        </p:spPr>
        <p:txBody>
          <a:bodyPr wrap="none" lIns="0" rIns="0" tIns="0" bIns="0">
            <a:spAutoFit/>
          </a:bodyPr>
          <a:lstStyle/>
          <a:p>
            <a:r>
              <a:rPr sz="1100" b="0">
                <a:solidFill>
                  <a:srgbClr val="2E2E2E"/>
                </a:solidFill>
                <a:latin typeface="Calibri"/>
              </a:rPr>
              <a:t>▸ Realisation moving</a:t>
            </a:r>
          </a:p>
        </p:txBody>
      </p:sp>
      <p:pic>
        <p:nvPicPr>
          <p:cNvPr id="116" name="Picture 115" descr="lock.png"/>
          <p:cNvPicPr>
            <a:picLocks noChangeAspect="1"/>
          </p:cNvPicPr>
          <p:nvPr/>
        </p:nvPicPr>
        <p:blipFill>
          <a:blip r:embed="rId4"/>
          <a:stretch>
            <a:fillRect/>
          </a:stretch>
        </p:blipFill>
        <p:spPr>
          <a:xfrm>
            <a:off x="8622399" y="4565608"/>
            <a:ext cx="128699" cy="187198"/>
          </a:xfrm>
          <a:prstGeom prst="rect">
            <a:avLst/>
          </a:prstGeom>
        </p:spPr>
      </p:pic>
      <p:sp>
        <p:nvSpPr>
          <p:cNvPr id="117" name="TextBox 116"/>
          <p:cNvSpPr txBox="1"/>
          <p:nvPr/>
        </p:nvSpPr>
        <p:spPr>
          <a:xfrm>
            <a:off x="8789895" y="4575387"/>
            <a:ext cx="423267" cy="186689"/>
          </a:xfrm>
          <a:prstGeom prst="rect">
            <a:avLst/>
          </a:prstGeom>
          <a:noFill/>
        </p:spPr>
        <p:txBody>
          <a:bodyPr wrap="none" lIns="0" rIns="0" tIns="0" bIns="0">
            <a:spAutoFit/>
          </a:bodyPr>
          <a:lstStyle/>
          <a:p>
            <a:r>
              <a:rPr sz="1100" b="0">
                <a:solidFill>
                  <a:srgbClr val="2E2E2E"/>
                </a:solidFill>
                <a:latin typeface="Calibri"/>
              </a:rPr>
              <a:t>a year</a:t>
            </a:r>
          </a:p>
        </p:txBody>
      </p:sp>
      <p:sp>
        <p:nvSpPr>
          <p:cNvPr id="118" name="TextBox 117"/>
          <p:cNvSpPr txBox="1"/>
          <p:nvPr/>
        </p:nvSpPr>
        <p:spPr>
          <a:xfrm>
            <a:off x="7419975" y="4743027"/>
            <a:ext cx="1911399" cy="186689"/>
          </a:xfrm>
          <a:prstGeom prst="rect">
            <a:avLst/>
          </a:prstGeom>
          <a:noFill/>
        </p:spPr>
        <p:txBody>
          <a:bodyPr wrap="none" lIns="0" rIns="0" tIns="0" bIns="0">
            <a:spAutoFit/>
          </a:bodyPr>
          <a:lstStyle/>
          <a:p>
            <a:r>
              <a:rPr sz="1100" b="0">
                <a:solidFill>
                  <a:srgbClr val="2E2E2E"/>
                </a:solidFill>
                <a:latin typeface="Calibri"/>
              </a:rPr>
              <a:t>widens the price gap substitutes</a:t>
            </a:r>
          </a:p>
        </p:txBody>
      </p:sp>
      <p:sp>
        <p:nvSpPr>
          <p:cNvPr id="119" name="TextBox 118"/>
          <p:cNvSpPr txBox="1"/>
          <p:nvPr/>
        </p:nvSpPr>
        <p:spPr>
          <a:xfrm>
            <a:off x="7419975" y="4910667"/>
            <a:ext cx="718765" cy="186689"/>
          </a:xfrm>
          <a:prstGeom prst="rect">
            <a:avLst/>
          </a:prstGeom>
          <a:noFill/>
        </p:spPr>
        <p:txBody>
          <a:bodyPr wrap="none" lIns="0" rIns="0" tIns="0" bIns="0">
            <a:spAutoFit/>
          </a:bodyPr>
          <a:lstStyle/>
          <a:p>
            <a:r>
              <a:rPr sz="1100" b="0">
                <a:solidFill>
                  <a:srgbClr val="2E2E2E"/>
                </a:solidFill>
                <a:latin typeface="Calibri"/>
              </a:rPr>
              <a:t>must close.</a:t>
            </a:r>
          </a:p>
        </p:txBody>
      </p:sp>
      <p:sp>
        <p:nvSpPr>
          <p:cNvPr id="120" name="TextBox 119"/>
          <p:cNvSpPr txBox="1"/>
          <p:nvPr/>
        </p:nvSpPr>
        <p:spPr>
          <a:xfrm>
            <a:off x="9801225" y="2848734"/>
            <a:ext cx="1989162" cy="186689"/>
          </a:xfrm>
          <a:prstGeom prst="rect">
            <a:avLst/>
          </a:prstGeom>
          <a:noFill/>
        </p:spPr>
        <p:txBody>
          <a:bodyPr wrap="none" lIns="0" rIns="0" tIns="0" bIns="0">
            <a:spAutoFit/>
          </a:bodyPr>
          <a:lstStyle/>
          <a:p>
            <a:r>
              <a:rPr sz="1100" b="0">
                <a:solidFill>
                  <a:srgbClr val="2E2E2E"/>
                </a:solidFill>
                <a:latin typeface="Calibri"/>
              </a:rPr>
              <a:t>▸ Assessed moderate to high. The</a:t>
            </a:r>
          </a:p>
        </p:txBody>
      </p:sp>
      <p:sp>
        <p:nvSpPr>
          <p:cNvPr id="121" name="TextBox 120"/>
          <p:cNvSpPr txBox="1"/>
          <p:nvPr/>
        </p:nvSpPr>
        <p:spPr>
          <a:xfrm>
            <a:off x="9801225" y="3016374"/>
            <a:ext cx="1003349" cy="186689"/>
          </a:xfrm>
          <a:prstGeom prst="rect">
            <a:avLst/>
          </a:prstGeom>
          <a:noFill/>
        </p:spPr>
        <p:txBody>
          <a:bodyPr wrap="none" lIns="0" rIns="0" tIns="0" bIns="0">
            <a:spAutoFit/>
          </a:bodyPr>
          <a:lstStyle/>
          <a:p>
            <a:r>
              <a:rPr sz="1100" b="0">
                <a:solidFill>
                  <a:srgbClr val="2E2E2E"/>
                </a:solidFill>
                <a:latin typeface="Calibri"/>
              </a:rPr>
              <a:t>market grows at</a:t>
            </a:r>
          </a:p>
        </p:txBody>
      </p:sp>
      <p:pic>
        <p:nvPicPr>
          <p:cNvPr id="122" name="Picture 121" descr="lock.png"/>
          <p:cNvPicPr>
            <a:picLocks noChangeAspect="1"/>
          </p:cNvPicPr>
          <p:nvPr/>
        </p:nvPicPr>
        <p:blipFill>
          <a:blip r:embed="rId4"/>
          <a:stretch>
            <a:fillRect/>
          </a:stretch>
        </p:blipFill>
        <p:spPr>
          <a:xfrm>
            <a:off x="10752626" y="3006595"/>
            <a:ext cx="128699" cy="187198"/>
          </a:xfrm>
          <a:prstGeom prst="rect">
            <a:avLst/>
          </a:prstGeom>
        </p:spPr>
      </p:pic>
      <p:sp>
        <p:nvSpPr>
          <p:cNvPr id="123" name="TextBox 122"/>
          <p:cNvSpPr txBox="1"/>
          <p:nvPr/>
        </p:nvSpPr>
        <p:spPr>
          <a:xfrm>
            <a:off x="10920122" y="3016374"/>
            <a:ext cx="940576" cy="186689"/>
          </a:xfrm>
          <a:prstGeom prst="rect">
            <a:avLst/>
          </a:prstGeom>
          <a:noFill/>
        </p:spPr>
        <p:txBody>
          <a:bodyPr wrap="none" lIns="0" rIns="0" tIns="0" bIns="0">
            <a:spAutoFit/>
          </a:bodyPr>
          <a:lstStyle/>
          <a:p>
            <a:r>
              <a:rPr sz="1100" b="0">
                <a:solidFill>
                  <a:srgbClr val="2E2E2E"/>
                </a:solidFill>
                <a:latin typeface="Calibri"/>
              </a:rPr>
              <a:t>CAGR and adds</a:t>
            </a:r>
          </a:p>
        </p:txBody>
      </p:sp>
      <p:pic>
        <p:nvPicPr>
          <p:cNvPr id="124" name="Picture 123" descr="lock.png"/>
          <p:cNvPicPr>
            <a:picLocks noChangeAspect="1"/>
          </p:cNvPicPr>
          <p:nvPr/>
        </p:nvPicPr>
        <p:blipFill>
          <a:blip r:embed="rId4"/>
          <a:stretch>
            <a:fillRect/>
          </a:stretch>
        </p:blipFill>
        <p:spPr>
          <a:xfrm>
            <a:off x="9787757" y="3174235"/>
            <a:ext cx="128699" cy="187198"/>
          </a:xfrm>
          <a:prstGeom prst="rect">
            <a:avLst/>
          </a:prstGeom>
        </p:spPr>
      </p:pic>
      <p:sp>
        <p:nvSpPr>
          <p:cNvPr id="125" name="TextBox 124"/>
          <p:cNvSpPr txBox="1"/>
          <p:nvPr/>
        </p:nvSpPr>
        <p:spPr>
          <a:xfrm>
            <a:off x="9955253" y="3184014"/>
            <a:ext cx="1629816" cy="186689"/>
          </a:xfrm>
          <a:prstGeom prst="rect">
            <a:avLst/>
          </a:prstGeom>
          <a:noFill/>
        </p:spPr>
        <p:txBody>
          <a:bodyPr wrap="none" lIns="0" rIns="0" tIns="0" bIns="0">
            <a:spAutoFit/>
          </a:bodyPr>
          <a:lstStyle/>
          <a:p>
            <a:r>
              <a:rPr sz="1100" b="0">
                <a:solidFill>
                  <a:srgbClr val="2E2E2E"/>
                </a:solidFill>
                <a:latin typeface="Calibri"/>
              </a:rPr>
              <a:t>US$ Mn by 2036, attracting</a:t>
            </a:r>
          </a:p>
        </p:txBody>
      </p:sp>
      <p:sp>
        <p:nvSpPr>
          <p:cNvPr id="126" name="TextBox 125"/>
          <p:cNvSpPr txBox="1"/>
          <p:nvPr/>
        </p:nvSpPr>
        <p:spPr>
          <a:xfrm>
            <a:off x="9801225" y="3351654"/>
            <a:ext cx="413444" cy="186689"/>
          </a:xfrm>
          <a:prstGeom prst="rect">
            <a:avLst/>
          </a:prstGeom>
          <a:noFill/>
        </p:spPr>
        <p:txBody>
          <a:bodyPr wrap="none" lIns="0" rIns="0" tIns="0" bIns="0">
            <a:spAutoFit/>
          </a:bodyPr>
          <a:lstStyle/>
          <a:p>
            <a:r>
              <a:rPr sz="1100" b="0">
                <a:solidFill>
                  <a:srgbClr val="2E2E2E"/>
                </a:solidFill>
                <a:latin typeface="Calibri"/>
              </a:rPr>
              <a:t>entry.</a:t>
            </a:r>
          </a:p>
        </p:txBody>
      </p:sp>
      <p:sp>
        <p:nvSpPr>
          <p:cNvPr id="127" name="TextBox 126"/>
          <p:cNvSpPr txBox="1"/>
          <p:nvPr/>
        </p:nvSpPr>
        <p:spPr>
          <a:xfrm>
            <a:off x="9801225" y="3708336"/>
            <a:ext cx="1971426" cy="186689"/>
          </a:xfrm>
          <a:prstGeom prst="rect">
            <a:avLst/>
          </a:prstGeom>
          <a:noFill/>
        </p:spPr>
        <p:txBody>
          <a:bodyPr wrap="none" lIns="0" rIns="0" tIns="0" bIns="0">
            <a:spAutoFit/>
          </a:bodyPr>
          <a:lstStyle/>
          <a:p>
            <a:r>
              <a:rPr sz="1100" b="0">
                <a:solidFill>
                  <a:srgbClr val="2E2E2E"/>
                </a:solidFill>
                <a:latin typeface="Calibri"/>
              </a:rPr>
              <a:t>▸ Demand spreads over 7 regions</a:t>
            </a:r>
          </a:p>
        </p:txBody>
      </p:sp>
      <p:sp>
        <p:nvSpPr>
          <p:cNvPr id="128" name="TextBox 127"/>
          <p:cNvSpPr txBox="1"/>
          <p:nvPr/>
        </p:nvSpPr>
        <p:spPr>
          <a:xfrm>
            <a:off x="9801225" y="3875976"/>
            <a:ext cx="1493118" cy="186689"/>
          </a:xfrm>
          <a:prstGeom prst="rect">
            <a:avLst/>
          </a:prstGeom>
          <a:noFill/>
        </p:spPr>
        <p:txBody>
          <a:bodyPr wrap="none" lIns="0" rIns="0" tIns="0" bIns="0">
            <a:spAutoFit/>
          </a:bodyPr>
          <a:lstStyle/>
          <a:p>
            <a:r>
              <a:rPr sz="1100" b="0">
                <a:solidFill>
                  <a:srgbClr val="2E2E2E"/>
                </a:solidFill>
                <a:latin typeface="Calibri"/>
              </a:rPr>
              <a:t>with no single one above</a:t>
            </a:r>
          </a:p>
        </p:txBody>
      </p:sp>
      <p:pic>
        <p:nvPicPr>
          <p:cNvPr id="129" name="Picture 128" descr="lock.png"/>
          <p:cNvPicPr>
            <a:picLocks noChangeAspect="1"/>
          </p:cNvPicPr>
          <p:nvPr/>
        </p:nvPicPr>
        <p:blipFill>
          <a:blip r:embed="rId4"/>
          <a:stretch>
            <a:fillRect/>
          </a:stretch>
        </p:blipFill>
        <p:spPr>
          <a:xfrm>
            <a:off x="11242394" y="3866197"/>
            <a:ext cx="128699" cy="187198"/>
          </a:xfrm>
          <a:prstGeom prst="rect">
            <a:avLst/>
          </a:prstGeom>
        </p:spPr>
      </p:pic>
      <p:sp>
        <p:nvSpPr>
          <p:cNvPr id="130" name="TextBox 129"/>
          <p:cNvSpPr txBox="1"/>
          <p:nvPr/>
        </p:nvSpPr>
        <p:spPr>
          <a:xfrm>
            <a:off x="11409890" y="3875976"/>
            <a:ext cx="271016" cy="186689"/>
          </a:xfrm>
          <a:prstGeom prst="rect">
            <a:avLst/>
          </a:prstGeom>
          <a:noFill/>
        </p:spPr>
        <p:txBody>
          <a:bodyPr wrap="none" lIns="0" rIns="0" tIns="0" bIns="0">
            <a:spAutoFit/>
          </a:bodyPr>
          <a:lstStyle/>
          <a:p>
            <a:r>
              <a:rPr sz="1100" b="0">
                <a:solidFill>
                  <a:srgbClr val="2E2E2E"/>
                </a:solidFill>
                <a:latin typeface="Calibri"/>
              </a:rPr>
              <a:t>, so</a:t>
            </a:r>
          </a:p>
        </p:txBody>
      </p:sp>
      <p:sp>
        <p:nvSpPr>
          <p:cNvPr id="131" name="TextBox 130"/>
          <p:cNvSpPr txBox="1"/>
          <p:nvPr/>
        </p:nvSpPr>
        <p:spPr>
          <a:xfrm>
            <a:off x="9801225" y="4043616"/>
            <a:ext cx="1498575" cy="186689"/>
          </a:xfrm>
          <a:prstGeom prst="rect">
            <a:avLst/>
          </a:prstGeom>
          <a:noFill/>
        </p:spPr>
        <p:txBody>
          <a:bodyPr wrap="none" lIns="0" rIns="0" tIns="0" bIns="0">
            <a:spAutoFit/>
          </a:bodyPr>
          <a:lstStyle/>
          <a:p>
            <a:r>
              <a:rPr sz="1100" b="0">
                <a:solidFill>
                  <a:srgbClr val="2E2E2E"/>
                </a:solidFill>
                <a:latin typeface="Calibri"/>
              </a:rPr>
              <a:t>regional entry is feasible.</a:t>
            </a:r>
          </a:p>
        </p:txBody>
      </p:sp>
      <p:sp>
        <p:nvSpPr>
          <p:cNvPr id="132" name="TextBox 131"/>
          <p:cNvSpPr txBox="1"/>
          <p:nvPr/>
        </p:nvSpPr>
        <p:spPr>
          <a:xfrm>
            <a:off x="9801225" y="4496131"/>
            <a:ext cx="2114550" cy="186689"/>
          </a:xfrm>
          <a:prstGeom prst="rect">
            <a:avLst/>
          </a:prstGeom>
          <a:noFill/>
        </p:spPr>
        <p:txBody>
          <a:bodyPr wrap="none" lIns="0" rIns="0" tIns="0" bIns="0">
            <a:spAutoFit/>
          </a:bodyPr>
          <a:lstStyle/>
          <a:p>
            <a:r>
              <a:rPr sz="1100" b="0">
                <a:solidFill>
                  <a:srgbClr val="2E2E2E"/>
                </a:solidFill>
                <a:latin typeface="Calibri"/>
              </a:rPr>
              <a:t>▸ Incumbent scale in 'North America'</a:t>
            </a:r>
          </a:p>
        </p:txBody>
      </p:sp>
      <p:sp>
        <p:nvSpPr>
          <p:cNvPr id="133" name="TextBox 132"/>
          <p:cNvSpPr txBox="1"/>
          <p:nvPr/>
        </p:nvSpPr>
        <p:spPr>
          <a:xfrm>
            <a:off x="9801225" y="4663771"/>
            <a:ext cx="2114550" cy="186689"/>
          </a:xfrm>
          <a:prstGeom prst="rect">
            <a:avLst/>
          </a:prstGeom>
          <a:noFill/>
        </p:spPr>
        <p:txBody>
          <a:bodyPr wrap="none" lIns="0" rIns="0" tIns="0" bIns="0">
            <a:spAutoFit/>
          </a:bodyPr>
          <a:lstStyle/>
          <a:p>
            <a:r>
              <a:rPr sz="1100" b="0">
                <a:solidFill>
                  <a:srgbClr val="2E2E2E"/>
                </a:solidFill>
                <a:latin typeface="Calibri"/>
              </a:rPr>
              <a:t>and 'Other Polymer-Based Coatings'</a:t>
            </a:r>
          </a:p>
        </p:txBody>
      </p:sp>
      <p:sp>
        <p:nvSpPr>
          <p:cNvPr id="134" name="TextBox 133"/>
          <p:cNvSpPr txBox="1"/>
          <p:nvPr/>
        </p:nvSpPr>
        <p:spPr>
          <a:xfrm>
            <a:off x="9801225" y="4831411"/>
            <a:ext cx="118491"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35" name="Picture 134" descr="lock.png"/>
          <p:cNvPicPr>
            <a:picLocks noChangeAspect="1"/>
          </p:cNvPicPr>
          <p:nvPr/>
        </p:nvPicPr>
        <p:blipFill>
          <a:blip r:embed="rId4"/>
          <a:stretch>
            <a:fillRect/>
          </a:stretch>
        </p:blipFill>
        <p:spPr>
          <a:xfrm>
            <a:off x="9867768" y="4821632"/>
            <a:ext cx="128699" cy="187198"/>
          </a:xfrm>
          <a:prstGeom prst="rect">
            <a:avLst/>
          </a:prstGeom>
        </p:spPr>
      </p:pic>
      <p:sp>
        <p:nvSpPr>
          <p:cNvPr id="136" name="TextBox 135"/>
          <p:cNvSpPr txBox="1"/>
          <p:nvPr/>
        </p:nvSpPr>
        <p:spPr>
          <a:xfrm>
            <a:off x="10035264" y="4831411"/>
            <a:ext cx="1468015" cy="186689"/>
          </a:xfrm>
          <a:prstGeom prst="rect">
            <a:avLst/>
          </a:prstGeom>
          <a:noFill/>
        </p:spPr>
        <p:txBody>
          <a:bodyPr wrap="none" lIns="0" rIns="0" tIns="0" bIns="0">
            <a:spAutoFit/>
          </a:bodyPr>
          <a:lstStyle/>
          <a:p>
            <a:r>
              <a:rPr sz="1100" b="0">
                <a:solidFill>
                  <a:srgbClr val="2E2E2E"/>
                </a:solidFill>
                <a:latin typeface="Calibri"/>
              </a:rPr>
              <a:t>of segment) remains the</a:t>
            </a:r>
          </a:p>
        </p:txBody>
      </p:sp>
      <p:sp>
        <p:nvSpPr>
          <p:cNvPr id="137" name="TextBox 136"/>
          <p:cNvSpPr txBox="1"/>
          <p:nvPr/>
        </p:nvSpPr>
        <p:spPr>
          <a:xfrm>
            <a:off x="9801225" y="4999051"/>
            <a:ext cx="1023267" cy="186689"/>
          </a:xfrm>
          <a:prstGeom prst="rect">
            <a:avLst/>
          </a:prstGeom>
          <a:noFill/>
        </p:spPr>
        <p:txBody>
          <a:bodyPr wrap="none" lIns="0" rIns="0" tIns="0" bIns="0">
            <a:spAutoFit/>
          </a:bodyPr>
          <a:lstStyle/>
          <a:p>
            <a:r>
              <a:rPr sz="1100" b="0">
                <a:solidFill>
                  <a:srgbClr val="2E2E2E"/>
                </a:solidFill>
                <a:latin typeface="Calibri"/>
              </a:rPr>
              <a:t>principal barrier.</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000375"/>
            <a:ext cx="7239000" cy="247650"/>
          </a:xfrm>
          <a:prstGeom prst="rect">
            <a:avLst/>
          </a:prstGeom>
          <a:noFill/>
        </p:spPr>
        <p:txBody>
          <a:bodyPr wrap="none" lIns="0" tIns="0">
            <a:spAutoFit/>
          </a:bodyPr>
          <a:lstStyle/>
          <a:p>
            <a:r>
              <a:rPr sz="1400" b="0">
                <a:solidFill>
                  <a:srgbClr val="8FC8F2"/>
                </a:solidFill>
                <a:latin typeface="Calibri"/>
              </a:rPr>
              <a:t>Waterproof Coatings Market</a:t>
            </a:r>
          </a:p>
        </p:txBody>
      </p:sp>
      <p:sp>
        <p:nvSpPr>
          <p:cNvPr id="6" name="FMI Breaker Title"/>
          <p:cNvSpPr txBox="1"/>
          <p:nvPr/>
        </p:nvSpPr>
        <p:spPr>
          <a:xfrm>
            <a:off x="914400" y="3305175"/>
            <a:ext cx="7239000" cy="514350"/>
          </a:xfrm>
          <a:prstGeom prst="rect">
            <a:avLst/>
          </a:prstGeom>
          <a:noFill/>
        </p:spPr>
        <p:txBody>
          <a:bodyPr wrap="square" lIns="0" rIns="0" tIns="0">
            <a:spAutoFit/>
          </a:bodyPr>
          <a:lstStyle/>
          <a:p>
            <a:r>
              <a:rPr sz="3000" b="1" cap="all" spc="400">
                <a:solidFill>
                  <a:srgbClr val="FFFFFF"/>
                </a:solidFill>
                <a:latin typeface="Calibri"/>
              </a:rPr>
              <a:t>Competition Assessment</a:t>
            </a:r>
          </a:p>
        </p:txBody>
      </p:sp>
      <p:sp>
        <p:nvSpPr>
          <p:cNvPr id="7" name="TextBox 6"/>
          <p:cNvSpPr txBox="1"/>
          <p:nvPr/>
        </p:nvSpPr>
        <p:spPr>
          <a:xfrm>
            <a:off x="914400" y="4010025"/>
            <a:ext cx="71247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Competitive Landscape</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Share by Leading Players</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Company Profiles &amp; Strategic Benchmarking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Market Share by Leading Players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Advice for Vendors &amp; Suppliers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Value Share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Share by Product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Share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Who Shaped Growth</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Waterproof Coatings Market Advice for Market Vendors / Suppliers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Strategic advice for vendors and suppliers on pricing, product, geography, channel and competitive risk</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Strategic advice for vendors and suppliers where to compete, how to price, and which risks to manage across the Waterproof Coatings Market.</a:t>
            </a:r>
          </a:p>
        </p:txBody>
      </p:sp>
      <p:sp>
        <p:nvSpPr>
          <p:cNvPr id="11" name="Rounded Rectangle 10"/>
          <p:cNvSpPr/>
          <p:nvPr/>
        </p:nvSpPr>
        <p:spPr>
          <a:xfrm>
            <a:off x="142875" y="1354081"/>
            <a:ext cx="5857875"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1439806"/>
            <a:ext cx="5591175" cy="209550"/>
          </a:xfrm>
          <a:prstGeom prst="rect">
            <a:avLst/>
          </a:prstGeom>
          <a:noFill/>
        </p:spPr>
        <p:txBody>
          <a:bodyPr wrap="square" lIns="0" rIns="19050" tIns="9525" bIns="9525">
            <a:spAutoFit/>
          </a:bodyPr>
          <a:lstStyle/>
          <a:p>
            <a:pPr algn="l"/>
            <a:r>
              <a:rPr sz="1300" b="1">
                <a:solidFill>
                  <a:srgbClr val="0B2E4A"/>
                </a:solidFill>
                <a:latin typeface="Calibri"/>
              </a:rPr>
              <a:t>Pricing &amp; Margin Strategy</a:t>
            </a:r>
          </a:p>
        </p:txBody>
      </p:sp>
      <p:sp>
        <p:nvSpPr>
          <p:cNvPr id="13" name="Rectangle 12"/>
          <p:cNvSpPr/>
          <p:nvPr/>
        </p:nvSpPr>
        <p:spPr>
          <a:xfrm>
            <a:off x="276225" y="1677931"/>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1763656"/>
            <a:ext cx="5591175" cy="2115377"/>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5" name="Rounded Rectangle 14"/>
          <p:cNvSpPr/>
          <p:nvPr/>
        </p:nvSpPr>
        <p:spPr>
          <a:xfrm>
            <a:off x="6191250" y="1354081"/>
            <a:ext cx="5857875"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24600" y="1439806"/>
            <a:ext cx="5591175" cy="209550"/>
          </a:xfrm>
          <a:prstGeom prst="rect">
            <a:avLst/>
          </a:prstGeom>
          <a:noFill/>
        </p:spPr>
        <p:txBody>
          <a:bodyPr wrap="square" lIns="0" rIns="19050" tIns="9525" bIns="9525">
            <a:spAutoFit/>
          </a:bodyPr>
          <a:lstStyle/>
          <a:p>
            <a:pPr algn="l"/>
            <a:r>
              <a:rPr sz="1300" b="1">
                <a:solidFill>
                  <a:srgbClr val="0B2E4A"/>
                </a:solidFill>
                <a:latin typeface="Calibri"/>
              </a:rPr>
              <a:t>Product &amp; Innovation</a:t>
            </a:r>
          </a:p>
        </p:txBody>
      </p:sp>
      <p:sp>
        <p:nvSpPr>
          <p:cNvPr id="17" name="Rectangle 16"/>
          <p:cNvSpPr/>
          <p:nvPr/>
        </p:nvSpPr>
        <p:spPr>
          <a:xfrm>
            <a:off x="6324600" y="1677931"/>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24600" y="1763656"/>
            <a:ext cx="5591175" cy="2115377"/>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9" name="Rounded Rectangle 18"/>
          <p:cNvSpPr/>
          <p:nvPr/>
        </p:nvSpPr>
        <p:spPr>
          <a:xfrm>
            <a:off x="142875" y="4046502"/>
            <a:ext cx="5857875" cy="2509883"/>
          </a:xfrm>
          <a:prstGeom prst="roundRect">
            <a:avLst>
              <a:gd name="adj" fmla="val 303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132227"/>
            <a:ext cx="5591175" cy="209550"/>
          </a:xfrm>
          <a:prstGeom prst="rect">
            <a:avLst/>
          </a:prstGeom>
          <a:noFill/>
        </p:spPr>
        <p:txBody>
          <a:bodyPr wrap="square" lIns="0" rIns="19050" tIns="9525" bIns="9525">
            <a:spAutoFit/>
          </a:bodyPr>
          <a:lstStyle/>
          <a:p>
            <a:pPr algn="l"/>
            <a:r>
              <a:rPr sz="1300" b="1">
                <a:solidFill>
                  <a:srgbClr val="0B2E4A"/>
                </a:solidFill>
                <a:latin typeface="Calibri"/>
              </a:rPr>
              <a:t>Geographic &amp; Channel Expansion</a:t>
            </a:r>
          </a:p>
        </p:txBody>
      </p:sp>
      <p:sp>
        <p:nvSpPr>
          <p:cNvPr id="21" name="Rectangle 20"/>
          <p:cNvSpPr/>
          <p:nvPr/>
        </p:nvSpPr>
        <p:spPr>
          <a:xfrm>
            <a:off x="276225" y="4370352"/>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456077"/>
            <a:ext cx="5591175" cy="202410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Expand selectively into under-penetrated regions where the leaders are thin, rather than head-on in saturated markets.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Balance retail, hospital/clinic and online channels online is the fastest-shifting route to end customers.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Build reliable distribution and logistics partnerships to convert demand into fulfilled volume.</a:t>
            </a:r>
          </a:p>
        </p:txBody>
      </p:sp>
      <p:sp>
        <p:nvSpPr>
          <p:cNvPr id="23" name="Rounded Rectangle 22"/>
          <p:cNvSpPr/>
          <p:nvPr/>
        </p:nvSpPr>
        <p:spPr>
          <a:xfrm>
            <a:off x="6191250" y="4046502"/>
            <a:ext cx="5857875" cy="2509883"/>
          </a:xfrm>
          <a:prstGeom prst="roundRect">
            <a:avLst>
              <a:gd name="adj" fmla="val 303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24600" y="4132227"/>
            <a:ext cx="5591175" cy="209550"/>
          </a:xfrm>
          <a:prstGeom prst="rect">
            <a:avLst/>
          </a:prstGeom>
          <a:noFill/>
        </p:spPr>
        <p:txBody>
          <a:bodyPr wrap="square" lIns="0" rIns="19050" tIns="9525" bIns="9525">
            <a:spAutoFit/>
          </a:bodyPr>
          <a:lstStyle/>
          <a:p>
            <a:pPr algn="l"/>
            <a:r>
              <a:rPr sz="1300" b="1">
                <a:solidFill>
                  <a:srgbClr val="0B2E4A"/>
                </a:solidFill>
                <a:latin typeface="Calibri"/>
              </a:rPr>
              <a:t>Competitive &amp; Risk Positioning</a:t>
            </a:r>
          </a:p>
        </p:txBody>
      </p:sp>
      <p:sp>
        <p:nvSpPr>
          <p:cNvPr id="25" name="Rectangle 24"/>
          <p:cNvSpPr/>
          <p:nvPr/>
        </p:nvSpPr>
        <p:spPr>
          <a:xfrm>
            <a:off x="6324600" y="4370352"/>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24600" y="4456077"/>
            <a:ext cx="5591175" cy="202410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28" name="TextBox 27"/>
          <p:cNvSpPr txBox="1"/>
          <p:nvPr/>
        </p:nvSpPr>
        <p:spPr>
          <a:xfrm>
            <a:off x="276225" y="1773181"/>
            <a:ext cx="3235387" cy="194310"/>
          </a:xfrm>
          <a:prstGeom prst="rect">
            <a:avLst/>
          </a:prstGeom>
          <a:noFill/>
        </p:spPr>
        <p:txBody>
          <a:bodyPr wrap="none" lIns="0" rIns="0" tIns="0" bIns="0">
            <a:spAutoFit/>
          </a:bodyPr>
          <a:lstStyle/>
          <a:p>
            <a:r>
              <a:rPr sz="1150" b="0">
                <a:solidFill>
                  <a:srgbClr val="2E2E2E"/>
                </a:solidFill>
                <a:latin typeface="Calibri"/>
              </a:rPr>
              <a:t>▪ Hold price discipline: with the top three players at ~</a:t>
            </a:r>
          </a:p>
        </p:txBody>
      </p:sp>
      <p:pic>
        <p:nvPicPr>
          <p:cNvPr id="29" name="Picture 28" descr="lock.png"/>
          <p:cNvPicPr>
            <a:picLocks noChangeAspect="1"/>
          </p:cNvPicPr>
          <p:nvPr/>
        </p:nvPicPr>
        <p:blipFill>
          <a:blip r:embed="rId4"/>
          <a:stretch>
            <a:fillRect/>
          </a:stretch>
        </p:blipFill>
        <p:spPr>
          <a:xfrm>
            <a:off x="3460765" y="1762957"/>
            <a:ext cx="134549" cy="195707"/>
          </a:xfrm>
          <a:prstGeom prst="rect">
            <a:avLst/>
          </a:prstGeom>
        </p:spPr>
      </p:pic>
      <p:sp>
        <p:nvSpPr>
          <p:cNvPr id="30" name="TextBox 29"/>
          <p:cNvSpPr txBox="1"/>
          <p:nvPr/>
        </p:nvSpPr>
        <p:spPr>
          <a:xfrm>
            <a:off x="3635875" y="1773181"/>
            <a:ext cx="1859892" cy="194310"/>
          </a:xfrm>
          <a:prstGeom prst="rect">
            <a:avLst/>
          </a:prstGeom>
          <a:noFill/>
        </p:spPr>
        <p:txBody>
          <a:bodyPr wrap="none" lIns="0" rIns="0" tIns="0" bIns="0">
            <a:spAutoFit/>
          </a:bodyPr>
          <a:lstStyle/>
          <a:p>
            <a:r>
              <a:rPr sz="1150" b="0">
                <a:solidFill>
                  <a:srgbClr val="2E2E2E"/>
                </a:solidFill>
                <a:latin typeface="Calibri"/>
              </a:rPr>
              <a:t>share, avoid value-destructive</a:t>
            </a:r>
          </a:p>
        </p:txBody>
      </p:sp>
      <p:sp>
        <p:nvSpPr>
          <p:cNvPr id="31" name="TextBox 30"/>
          <p:cNvSpPr txBox="1"/>
          <p:nvPr/>
        </p:nvSpPr>
        <p:spPr>
          <a:xfrm>
            <a:off x="276225" y="1948441"/>
            <a:ext cx="3646723" cy="194310"/>
          </a:xfrm>
          <a:prstGeom prst="rect">
            <a:avLst/>
          </a:prstGeom>
          <a:noFill/>
        </p:spPr>
        <p:txBody>
          <a:bodyPr wrap="none" lIns="0" rIns="0" tIns="0" bIns="0">
            <a:spAutoFit/>
          </a:bodyPr>
          <a:lstStyle/>
          <a:p>
            <a:r>
              <a:rPr sz="1150" b="0">
                <a:solidFill>
                  <a:srgbClr val="2E2E2E"/>
                </a:solidFill>
                <a:latin typeface="Calibri"/>
              </a:rPr>
              <a:t>discounting compete on mix and service, not headline price.</a:t>
            </a:r>
          </a:p>
        </p:txBody>
      </p:sp>
      <p:sp>
        <p:nvSpPr>
          <p:cNvPr id="32" name="TextBox 31"/>
          <p:cNvSpPr txBox="1"/>
          <p:nvPr/>
        </p:nvSpPr>
        <p:spPr>
          <a:xfrm>
            <a:off x="276225" y="2176279"/>
            <a:ext cx="5504867" cy="194310"/>
          </a:xfrm>
          <a:prstGeom prst="rect">
            <a:avLst/>
          </a:prstGeom>
          <a:noFill/>
        </p:spPr>
        <p:txBody>
          <a:bodyPr wrap="none" lIns="0" rIns="0" tIns="0" bIns="0">
            <a:spAutoFit/>
          </a:bodyPr>
          <a:lstStyle/>
          <a:p>
            <a:r>
              <a:rPr sz="1150" b="0">
                <a:solidFill>
                  <a:srgbClr val="2E2E2E"/>
                </a:solidFill>
                <a:latin typeface="Calibri"/>
              </a:rPr>
              <a:t>▪ Premiumise toward higher-value formulations (e.g. 'Other Polymer-Based Coatings') to lift</a:t>
            </a:r>
          </a:p>
        </p:txBody>
      </p:sp>
      <p:sp>
        <p:nvSpPr>
          <p:cNvPr id="33" name="TextBox 32"/>
          <p:cNvSpPr txBox="1"/>
          <p:nvPr/>
        </p:nvSpPr>
        <p:spPr>
          <a:xfrm>
            <a:off x="276225" y="2351539"/>
            <a:ext cx="3225403" cy="194310"/>
          </a:xfrm>
          <a:prstGeom prst="rect">
            <a:avLst/>
          </a:prstGeom>
          <a:noFill/>
        </p:spPr>
        <p:txBody>
          <a:bodyPr wrap="none" lIns="0" rIns="0" tIns="0" bIns="0">
            <a:spAutoFit/>
          </a:bodyPr>
          <a:lstStyle/>
          <a:p>
            <a:r>
              <a:rPr sz="1150" b="0">
                <a:solidFill>
                  <a:srgbClr val="2E2E2E"/>
                </a:solidFill>
                <a:latin typeface="Calibri"/>
              </a:rPr>
              <a:t>blended ASP and defend margin as input costs move.</a:t>
            </a:r>
          </a:p>
        </p:txBody>
      </p:sp>
      <p:sp>
        <p:nvSpPr>
          <p:cNvPr id="34" name="TextBox 33"/>
          <p:cNvSpPr txBox="1"/>
          <p:nvPr/>
        </p:nvSpPr>
        <p:spPr>
          <a:xfrm>
            <a:off x="276225" y="2579377"/>
            <a:ext cx="4816264" cy="194310"/>
          </a:xfrm>
          <a:prstGeom prst="rect">
            <a:avLst/>
          </a:prstGeom>
          <a:noFill/>
        </p:spPr>
        <p:txBody>
          <a:bodyPr wrap="none" lIns="0" rIns="0" tIns="0" bIns="0">
            <a:spAutoFit/>
          </a:bodyPr>
          <a:lstStyle/>
          <a:p>
            <a:r>
              <a:rPr sz="1150" b="0">
                <a:solidFill>
                  <a:srgbClr val="2E2E2E"/>
                </a:solidFill>
                <a:latin typeface="Calibri"/>
              </a:rPr>
              <a:t>▪ Set transparent, corridor-based regional pricing to limit grey-market arbitrage.</a:t>
            </a:r>
          </a:p>
        </p:txBody>
      </p:sp>
      <p:sp>
        <p:nvSpPr>
          <p:cNvPr id="35" name="TextBox 34"/>
          <p:cNvSpPr txBox="1"/>
          <p:nvPr/>
        </p:nvSpPr>
        <p:spPr>
          <a:xfrm>
            <a:off x="6324600" y="1773181"/>
            <a:ext cx="5495453" cy="194310"/>
          </a:xfrm>
          <a:prstGeom prst="rect">
            <a:avLst/>
          </a:prstGeom>
          <a:noFill/>
        </p:spPr>
        <p:txBody>
          <a:bodyPr wrap="none" lIns="0" rIns="0" tIns="0" bIns="0">
            <a:spAutoFit/>
          </a:bodyPr>
          <a:lstStyle/>
          <a:p>
            <a:r>
              <a:rPr sz="1150" b="0">
                <a:solidFill>
                  <a:srgbClr val="2E2E2E"/>
                </a:solidFill>
                <a:latin typeface="Calibri"/>
              </a:rPr>
              <a:t>▪ Prioritise R&amp;D in the fastest-growing formulations a differentiated portfolio is the clearest</a:t>
            </a:r>
          </a:p>
        </p:txBody>
      </p:sp>
      <p:sp>
        <p:nvSpPr>
          <p:cNvPr id="36" name="TextBox 35"/>
          <p:cNvSpPr txBox="1"/>
          <p:nvPr/>
        </p:nvSpPr>
        <p:spPr>
          <a:xfrm>
            <a:off x="6324600" y="1948441"/>
            <a:ext cx="1660500" cy="194310"/>
          </a:xfrm>
          <a:prstGeom prst="rect">
            <a:avLst/>
          </a:prstGeom>
          <a:noFill/>
        </p:spPr>
        <p:txBody>
          <a:bodyPr wrap="none" lIns="0" rIns="0" tIns="0" bIns="0">
            <a:spAutoFit/>
          </a:bodyPr>
          <a:lstStyle/>
          <a:p>
            <a:r>
              <a:rPr sz="1150" b="0">
                <a:solidFill>
                  <a:srgbClr val="2E2E2E"/>
                </a:solidFill>
                <a:latin typeface="Calibri"/>
              </a:rPr>
              <a:t>route to out-growing the ~</a:t>
            </a:r>
          </a:p>
        </p:txBody>
      </p:sp>
      <p:pic>
        <p:nvPicPr>
          <p:cNvPr id="37" name="Picture 36" descr="lock.png"/>
          <p:cNvPicPr>
            <a:picLocks noChangeAspect="1"/>
          </p:cNvPicPr>
          <p:nvPr/>
        </p:nvPicPr>
        <p:blipFill>
          <a:blip r:embed="rId4"/>
          <a:stretch>
            <a:fillRect/>
          </a:stretch>
        </p:blipFill>
        <p:spPr>
          <a:xfrm>
            <a:off x="7934254" y="1938217"/>
            <a:ext cx="134549" cy="195707"/>
          </a:xfrm>
          <a:prstGeom prst="rect">
            <a:avLst/>
          </a:prstGeom>
        </p:spPr>
      </p:pic>
      <p:sp>
        <p:nvSpPr>
          <p:cNvPr id="38" name="TextBox 37"/>
          <p:cNvSpPr txBox="1"/>
          <p:nvPr/>
        </p:nvSpPr>
        <p:spPr>
          <a:xfrm>
            <a:off x="8109363" y="1948441"/>
            <a:ext cx="905700" cy="194310"/>
          </a:xfrm>
          <a:prstGeom prst="rect">
            <a:avLst/>
          </a:prstGeom>
          <a:noFill/>
        </p:spPr>
        <p:txBody>
          <a:bodyPr wrap="none" lIns="0" rIns="0" tIns="0" bIns="0">
            <a:spAutoFit/>
          </a:bodyPr>
          <a:lstStyle/>
          <a:p>
            <a:r>
              <a:rPr sz="1150" b="0">
                <a:solidFill>
                  <a:srgbClr val="2E2E2E"/>
                </a:solidFill>
                <a:latin typeface="Calibri"/>
              </a:rPr>
              <a:t>market CAGR.</a:t>
            </a:r>
          </a:p>
        </p:txBody>
      </p:sp>
      <p:sp>
        <p:nvSpPr>
          <p:cNvPr id="39" name="TextBox 38"/>
          <p:cNvSpPr txBox="1"/>
          <p:nvPr/>
        </p:nvSpPr>
        <p:spPr>
          <a:xfrm>
            <a:off x="6324600" y="2176279"/>
            <a:ext cx="5383919" cy="194310"/>
          </a:xfrm>
          <a:prstGeom prst="rect">
            <a:avLst/>
          </a:prstGeom>
          <a:noFill/>
        </p:spPr>
        <p:txBody>
          <a:bodyPr wrap="none" lIns="0" rIns="0" tIns="0" bIns="0">
            <a:spAutoFit/>
          </a:bodyPr>
          <a:lstStyle/>
          <a:p>
            <a:r>
              <a:rPr sz="1150" b="0">
                <a:solidFill>
                  <a:srgbClr val="2E2E2E"/>
                </a:solidFill>
                <a:latin typeface="Calibri"/>
              </a:rPr>
              <a:t>▪ Pursue certification and clinical validation to build switching costs and support premium</a:t>
            </a:r>
          </a:p>
        </p:txBody>
      </p:sp>
      <p:sp>
        <p:nvSpPr>
          <p:cNvPr id="40" name="TextBox 39"/>
          <p:cNvSpPr txBox="1"/>
          <p:nvPr/>
        </p:nvSpPr>
        <p:spPr>
          <a:xfrm>
            <a:off x="6324600" y="2351539"/>
            <a:ext cx="773075" cy="194310"/>
          </a:xfrm>
          <a:prstGeom prst="rect">
            <a:avLst/>
          </a:prstGeom>
          <a:noFill/>
        </p:spPr>
        <p:txBody>
          <a:bodyPr wrap="none" lIns="0" rIns="0" tIns="0" bIns="0">
            <a:spAutoFit/>
          </a:bodyPr>
          <a:lstStyle/>
          <a:p>
            <a:r>
              <a:rPr sz="1150" b="0">
                <a:solidFill>
                  <a:srgbClr val="2E2E2E"/>
                </a:solidFill>
                <a:latin typeface="Calibri"/>
              </a:rPr>
              <a:t>positioning.</a:t>
            </a:r>
          </a:p>
        </p:txBody>
      </p:sp>
      <p:sp>
        <p:nvSpPr>
          <p:cNvPr id="41" name="TextBox 40"/>
          <p:cNvSpPr txBox="1"/>
          <p:nvPr/>
        </p:nvSpPr>
        <p:spPr>
          <a:xfrm>
            <a:off x="6324600" y="2579377"/>
            <a:ext cx="3931406" cy="194310"/>
          </a:xfrm>
          <a:prstGeom prst="rect">
            <a:avLst/>
          </a:prstGeom>
          <a:noFill/>
        </p:spPr>
        <p:txBody>
          <a:bodyPr wrap="none" lIns="0" rIns="0" tIns="0" bIns="0">
            <a:spAutoFit/>
          </a:bodyPr>
          <a:lstStyle/>
          <a:p>
            <a:r>
              <a:rPr sz="1150" b="0">
                <a:solidFill>
                  <a:srgbClr val="2E2E2E"/>
                </a:solidFill>
                <a:latin typeface="Calibri"/>
              </a:rPr>
              <a:t>▪ Localise formats and pack sizes to each channel and geography.</a:t>
            </a:r>
          </a:p>
        </p:txBody>
      </p:sp>
      <p:sp>
        <p:nvSpPr>
          <p:cNvPr id="42" name="TextBox 41"/>
          <p:cNvSpPr txBox="1"/>
          <p:nvPr/>
        </p:nvSpPr>
        <p:spPr>
          <a:xfrm>
            <a:off x="6324600" y="4465602"/>
            <a:ext cx="2484883" cy="194310"/>
          </a:xfrm>
          <a:prstGeom prst="rect">
            <a:avLst/>
          </a:prstGeom>
          <a:noFill/>
        </p:spPr>
        <p:txBody>
          <a:bodyPr wrap="none" lIns="0" rIns="0" tIns="0" bIns="0">
            <a:spAutoFit/>
          </a:bodyPr>
          <a:lstStyle/>
          <a:p>
            <a:r>
              <a:rPr sz="1150" b="0">
                <a:solidFill>
                  <a:srgbClr val="2E2E2E"/>
                </a:solidFill>
                <a:latin typeface="Calibri"/>
              </a:rPr>
              <a:t>▪ Benchmark relentlessly against 'Sika' (~</a:t>
            </a:r>
          </a:p>
        </p:txBody>
      </p:sp>
      <p:pic>
        <p:nvPicPr>
          <p:cNvPr id="43" name="Picture 42" descr="lock.png"/>
          <p:cNvPicPr>
            <a:picLocks noChangeAspect="1"/>
          </p:cNvPicPr>
          <p:nvPr/>
        </p:nvPicPr>
        <p:blipFill>
          <a:blip r:embed="rId4"/>
          <a:stretch>
            <a:fillRect/>
          </a:stretch>
        </p:blipFill>
        <p:spPr>
          <a:xfrm>
            <a:off x="8758637" y="4455378"/>
            <a:ext cx="134549" cy="195707"/>
          </a:xfrm>
          <a:prstGeom prst="rect">
            <a:avLst/>
          </a:prstGeom>
        </p:spPr>
      </p:pic>
      <p:sp>
        <p:nvSpPr>
          <p:cNvPr id="44" name="TextBox 43"/>
          <p:cNvSpPr txBox="1"/>
          <p:nvPr/>
        </p:nvSpPr>
        <p:spPr>
          <a:xfrm>
            <a:off x="8933747" y="4465602"/>
            <a:ext cx="2889088" cy="194310"/>
          </a:xfrm>
          <a:prstGeom prst="rect">
            <a:avLst/>
          </a:prstGeom>
          <a:noFill/>
        </p:spPr>
        <p:txBody>
          <a:bodyPr wrap="none" lIns="0" rIns="0" tIns="0" bIns="0">
            <a:spAutoFit/>
          </a:bodyPr>
          <a:lstStyle/>
          <a:p>
            <a:r>
              <a:rPr sz="1150" b="0">
                <a:solidFill>
                  <a:srgbClr val="2E2E2E"/>
                </a:solidFill>
                <a:latin typeface="Calibri"/>
              </a:rPr>
              <a:t>share) match on service and lead on innovation</a:t>
            </a:r>
          </a:p>
        </p:txBody>
      </p:sp>
      <p:sp>
        <p:nvSpPr>
          <p:cNvPr id="45" name="TextBox 44"/>
          <p:cNvSpPr txBox="1"/>
          <p:nvPr/>
        </p:nvSpPr>
        <p:spPr>
          <a:xfrm>
            <a:off x="6324600" y="4640861"/>
            <a:ext cx="890885" cy="194310"/>
          </a:xfrm>
          <a:prstGeom prst="rect">
            <a:avLst/>
          </a:prstGeom>
          <a:noFill/>
        </p:spPr>
        <p:txBody>
          <a:bodyPr wrap="none" lIns="0" rIns="0" tIns="0" bIns="0">
            <a:spAutoFit/>
          </a:bodyPr>
          <a:lstStyle/>
          <a:p>
            <a:r>
              <a:rPr sz="1150" b="0">
                <a:solidFill>
                  <a:srgbClr val="2E2E2E"/>
                </a:solidFill>
                <a:latin typeface="Calibri"/>
              </a:rPr>
              <a:t>to take share.</a:t>
            </a:r>
          </a:p>
        </p:txBody>
      </p:sp>
      <p:sp>
        <p:nvSpPr>
          <p:cNvPr id="46" name="TextBox 45"/>
          <p:cNvSpPr txBox="1"/>
          <p:nvPr/>
        </p:nvSpPr>
        <p:spPr>
          <a:xfrm>
            <a:off x="6324600" y="4868699"/>
            <a:ext cx="5455518" cy="194310"/>
          </a:xfrm>
          <a:prstGeom prst="rect">
            <a:avLst/>
          </a:prstGeom>
          <a:noFill/>
        </p:spPr>
        <p:txBody>
          <a:bodyPr wrap="none" lIns="0" rIns="0" tIns="0" bIns="0">
            <a:spAutoFit/>
          </a:bodyPr>
          <a:lstStyle/>
          <a:p>
            <a:r>
              <a:rPr sz="1150" b="0">
                <a:solidFill>
                  <a:srgbClr val="2E2E2E"/>
                </a:solidFill>
                <a:latin typeface="Calibri"/>
              </a:rPr>
              <a:t>▪ Diversify the customer base to cut dependence on a few large accounts and single-region</a:t>
            </a:r>
          </a:p>
        </p:txBody>
      </p:sp>
      <p:sp>
        <p:nvSpPr>
          <p:cNvPr id="47" name="TextBox 46"/>
          <p:cNvSpPr txBox="1"/>
          <p:nvPr/>
        </p:nvSpPr>
        <p:spPr>
          <a:xfrm>
            <a:off x="6324600" y="5043959"/>
            <a:ext cx="660400" cy="194310"/>
          </a:xfrm>
          <a:prstGeom prst="rect">
            <a:avLst/>
          </a:prstGeom>
          <a:noFill/>
        </p:spPr>
        <p:txBody>
          <a:bodyPr wrap="none" lIns="0" rIns="0" tIns="0" bIns="0">
            <a:spAutoFit/>
          </a:bodyPr>
          <a:lstStyle/>
          <a:p>
            <a:r>
              <a:rPr sz="1150" b="0">
                <a:solidFill>
                  <a:srgbClr val="2E2E2E"/>
                </a:solidFill>
                <a:latin typeface="Calibri"/>
              </a:rPr>
              <a:t>exposure.</a:t>
            </a:r>
          </a:p>
        </p:txBody>
      </p:sp>
      <p:sp>
        <p:nvSpPr>
          <p:cNvPr id="48" name="TextBox 47"/>
          <p:cNvSpPr txBox="1"/>
          <p:nvPr/>
        </p:nvSpPr>
        <p:spPr>
          <a:xfrm>
            <a:off x="6324600" y="5271797"/>
            <a:ext cx="5230167" cy="194310"/>
          </a:xfrm>
          <a:prstGeom prst="rect">
            <a:avLst/>
          </a:prstGeom>
          <a:noFill/>
        </p:spPr>
        <p:txBody>
          <a:bodyPr wrap="none" lIns="0" rIns="0" tIns="0" bIns="0">
            <a:spAutoFit/>
          </a:bodyPr>
          <a:lstStyle/>
          <a:p>
            <a:r>
              <a:rPr sz="1150" b="0">
                <a:solidFill>
                  <a:srgbClr val="2E2E2E"/>
                </a:solidFill>
                <a:latin typeface="Calibri"/>
              </a:rPr>
              <a:t>▪ Stress-test for regulatory, currency and supply shocks; keep flexible capacity and dual</a:t>
            </a:r>
          </a:p>
        </p:txBody>
      </p:sp>
      <p:sp>
        <p:nvSpPr>
          <p:cNvPr id="49" name="TextBox 48"/>
          <p:cNvSpPr txBox="1"/>
          <p:nvPr/>
        </p:nvSpPr>
        <p:spPr>
          <a:xfrm>
            <a:off x="6324600" y="5447057"/>
            <a:ext cx="615900" cy="194310"/>
          </a:xfrm>
          <a:prstGeom prst="rect">
            <a:avLst/>
          </a:prstGeom>
          <a:noFill/>
        </p:spPr>
        <p:txBody>
          <a:bodyPr wrap="none" lIns="0" rIns="0" tIns="0" bIns="0">
            <a:spAutoFit/>
          </a:bodyPr>
          <a:lstStyle/>
          <a:p>
            <a:r>
              <a:rPr sz="1150" b="0">
                <a:solidFill>
                  <a:srgbClr val="2E2E2E"/>
                </a:solidFill>
                <a:latin typeface="Calibri"/>
              </a:rPr>
              <a:t>sourcing.</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Waterproof Coatings Market Company Value Share (Global)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company in the global market, 2025, highlighting leadership and the long tail</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Target market value share by key companies leadership, concentration and how the competitive mix shifts by region.</a:t>
            </a:r>
          </a:p>
        </p:txBody>
      </p:sp>
      <p:sp>
        <p:nvSpPr>
          <p:cNvPr id="11" name="Rounded Rectangle 10"/>
          <p:cNvSpPr/>
          <p:nvPr/>
        </p:nvSpPr>
        <p:spPr>
          <a:xfrm>
            <a:off x="142875" y="1354081"/>
            <a:ext cx="7543800" cy="5220558"/>
          </a:xfrm>
          <a:prstGeom prst="roundRect">
            <a:avLst>
              <a:gd name="adj" fmla="val 14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411231"/>
            <a:ext cx="73533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by Key Company (US$ Mn, 2026)</a:t>
            </a:r>
          </a:p>
        </p:txBody>
      </p:sp>
      <p:graphicFrame>
        <p:nvGraphicFramePr>
          <p:cNvPr id="13" name="Chart 12"/>
          <p:cNvGraphicFramePr>
            <a:graphicFrameLocks noGrp="1"/>
          </p:cNvGraphicFramePr>
          <p:nvPr/>
        </p:nvGraphicFramePr>
        <p:xfrm>
          <a:off x="238125" y="1639831"/>
          <a:ext cx="7353300" cy="4877658"/>
        </p:xfrm>
        <a:graphic>
          <a:graphicData uri="http://schemas.openxmlformats.org/drawingml/2006/chart">
            <c:chart xmlns:c="http://schemas.openxmlformats.org/drawingml/2006/chart" r:id="rId3"/>
          </a:graphicData>
        </a:graphic>
      </p:graphicFrame>
      <p:sp>
        <p:nvSpPr>
          <p:cNvPr id="14" name="TextBox 13"/>
          <p:cNvSpPr txBox="1"/>
          <p:nvPr/>
        </p:nvSpPr>
        <p:spPr>
          <a:xfrm>
            <a:off x="2049780" y="3878635"/>
            <a:ext cx="1524000" cy="400050"/>
          </a:xfrm>
          <a:prstGeom prst="rect">
            <a:avLst/>
          </a:prstGeom>
          <a:noFill/>
        </p:spPr>
        <p:txBody>
          <a:bodyPr wrap="square" lIns="28575" rIns="28575" tIns="9525" bIns="9525" anchor="ctr">
            <a:spAutoFit/>
          </a:bodyPr>
          <a:lstStyle/>
          <a:p>
            <a:pPr algn="ctr"/>
            <a:r>
              <a:rPr sz="1300" b="1">
                <a:solidFill>
                  <a:srgbClr val="2E2E2E"/>
                </a:solidFill>
                <a:latin typeface="Calibri"/>
              </a:rPr>
              <a:t/>
            </a:r>
          </a:p>
          <a:p>
            <a:pPr algn="ctr"/>
            <a:r>
              <a:rPr sz="1300" b="1">
                <a:solidFill>
                  <a:srgbClr val="2E2E2E"/>
                </a:solidFill>
                <a:latin typeface="Calibri"/>
              </a:rPr>
              <a:t/>
            </a:r>
          </a:p>
        </p:txBody>
      </p:sp>
      <p:sp>
        <p:nvSpPr>
          <p:cNvPr id="15" name="Rounded Rectangle 14"/>
          <p:cNvSpPr/>
          <p:nvPr/>
        </p:nvSpPr>
        <p:spPr>
          <a:xfrm>
            <a:off x="7800975" y="1354081"/>
            <a:ext cx="4248150" cy="5220558"/>
          </a:xfrm>
          <a:prstGeom prst="roundRect">
            <a:avLst>
              <a:gd name="adj" fmla="val 17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34325" y="1439806"/>
            <a:ext cx="39814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17" name="Rectangle 16"/>
          <p:cNvSpPr/>
          <p:nvPr/>
        </p:nvSpPr>
        <p:spPr>
          <a:xfrm>
            <a:off x="7934325" y="1677931"/>
            <a:ext cx="39814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34325" y="1763656"/>
            <a:ext cx="3981450" cy="4734783"/>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5"/>
          <a:stretch>
            <a:fillRect/>
          </a:stretch>
        </p:blipFill>
        <p:spPr>
          <a:xfrm>
            <a:off x="2533173" y="3678610"/>
            <a:ext cx="523875" cy="762000"/>
          </a:xfrm>
          <a:prstGeom prst="rect">
            <a:avLst/>
          </a:prstGeom>
        </p:spPr>
      </p:pic>
      <p:sp>
        <p:nvSpPr>
          <p:cNvPr id="21" name="TextBox 20"/>
          <p:cNvSpPr txBox="1"/>
          <p:nvPr/>
        </p:nvSpPr>
        <p:spPr>
          <a:xfrm>
            <a:off x="2634865" y="3914616"/>
            <a:ext cx="430029" cy="161696"/>
          </a:xfrm>
          <a:prstGeom prst="rect">
            <a:avLst/>
          </a:prstGeom>
          <a:noFill/>
        </p:spPr>
        <p:txBody>
          <a:bodyPr wrap="none" lIns="0" rIns="0" tIns="0" bIns="0">
            <a:spAutoFit/>
          </a:bodyPr>
          <a:lstStyle/>
          <a:p>
            <a:r>
              <a:rPr sz="935" b="1">
                <a:solidFill>
                  <a:srgbClr val="2E2E2E"/>
                </a:solidFill>
                <a:latin typeface="Calibri"/>
              </a:rPr>
              <a:t>100% =</a:t>
            </a:r>
          </a:p>
        </p:txBody>
      </p:sp>
      <p:pic>
        <p:nvPicPr>
          <p:cNvPr id="22" name="Picture 21" descr="lock.png"/>
          <p:cNvPicPr>
            <a:picLocks noChangeAspect="1"/>
          </p:cNvPicPr>
          <p:nvPr/>
        </p:nvPicPr>
        <p:blipFill>
          <a:blip r:embed="rId5"/>
          <a:stretch>
            <a:fillRect/>
          </a:stretch>
        </p:blipFill>
        <p:spPr>
          <a:xfrm>
            <a:off x="2540344" y="4091735"/>
            <a:ext cx="109510" cy="159288"/>
          </a:xfrm>
          <a:prstGeom prst="rect">
            <a:avLst/>
          </a:prstGeom>
        </p:spPr>
      </p:pic>
      <p:sp>
        <p:nvSpPr>
          <p:cNvPr id="23" name="TextBox 22"/>
          <p:cNvSpPr txBox="1"/>
          <p:nvPr/>
        </p:nvSpPr>
        <p:spPr>
          <a:xfrm>
            <a:off x="2682868" y="4100056"/>
            <a:ext cx="465087" cy="161696"/>
          </a:xfrm>
          <a:prstGeom prst="rect">
            <a:avLst/>
          </a:prstGeom>
          <a:noFill/>
        </p:spPr>
        <p:txBody>
          <a:bodyPr wrap="none" lIns="0" rIns="0" tIns="0" bIns="0">
            <a:spAutoFit/>
          </a:bodyPr>
          <a:lstStyle/>
          <a:p>
            <a:r>
              <a:rPr sz="935" b="1">
                <a:solidFill>
                  <a:srgbClr val="2E2E2E"/>
                </a:solidFill>
                <a:latin typeface="Calibri"/>
              </a:rPr>
              <a:t>US$ Mn</a:t>
            </a:r>
          </a:p>
        </p:txBody>
      </p:sp>
      <p:sp>
        <p:nvSpPr>
          <p:cNvPr id="24" name="TextBox 23"/>
          <p:cNvSpPr txBox="1"/>
          <p:nvPr/>
        </p:nvSpPr>
        <p:spPr>
          <a:xfrm>
            <a:off x="7934325" y="1773181"/>
            <a:ext cx="3687799" cy="194310"/>
          </a:xfrm>
          <a:prstGeom prst="rect">
            <a:avLst/>
          </a:prstGeom>
          <a:noFill/>
        </p:spPr>
        <p:txBody>
          <a:bodyPr wrap="none" lIns="0" rIns="0" tIns="0" bIns="0">
            <a:spAutoFit/>
          </a:bodyPr>
          <a:lstStyle/>
          <a:p>
            <a:r>
              <a:rPr sz="1150" b="0">
                <a:solidFill>
                  <a:srgbClr val="2E2E2E"/>
                </a:solidFill>
                <a:latin typeface="Calibri"/>
              </a:rPr>
              <a:t>Sika accounted for the largest share of the global waterproof</a:t>
            </a:r>
          </a:p>
        </p:txBody>
      </p:sp>
      <p:sp>
        <p:nvSpPr>
          <p:cNvPr id="25" name="TextBox 24"/>
          <p:cNvSpPr txBox="1"/>
          <p:nvPr/>
        </p:nvSpPr>
        <p:spPr>
          <a:xfrm>
            <a:off x="7934325" y="1948441"/>
            <a:ext cx="3962400" cy="194310"/>
          </a:xfrm>
          <a:prstGeom prst="rect">
            <a:avLst/>
          </a:prstGeom>
          <a:noFill/>
        </p:spPr>
        <p:txBody>
          <a:bodyPr wrap="none" lIns="0" rIns="0" tIns="0" bIns="0">
            <a:spAutoFit/>
          </a:bodyPr>
          <a:lstStyle/>
          <a:p>
            <a:r>
              <a:rPr sz="1150" b="0">
                <a:solidFill>
                  <a:srgbClr val="2E2E2E"/>
                </a:solidFill>
                <a:latin typeface="Calibri"/>
              </a:rPr>
              <a:t>coatings market in 2026. The global waterproof coatings market is</a:t>
            </a:r>
          </a:p>
        </p:txBody>
      </p:sp>
      <p:sp>
        <p:nvSpPr>
          <p:cNvPr id="26" name="TextBox 25"/>
          <p:cNvSpPr txBox="1"/>
          <p:nvPr/>
        </p:nvSpPr>
        <p:spPr>
          <a:xfrm>
            <a:off x="7934325" y="2123701"/>
            <a:ext cx="3462734" cy="194310"/>
          </a:xfrm>
          <a:prstGeom prst="rect">
            <a:avLst/>
          </a:prstGeom>
          <a:noFill/>
        </p:spPr>
        <p:txBody>
          <a:bodyPr wrap="none" lIns="0" rIns="0" tIns="0" bIns="0">
            <a:spAutoFit/>
          </a:bodyPr>
          <a:lstStyle/>
          <a:p>
            <a:r>
              <a:rPr sz="1150" b="0">
                <a:solidFill>
                  <a:srgbClr val="2E2E2E"/>
                </a:solidFill>
                <a:latin typeface="Calibri"/>
              </a:rPr>
              <a:t>fragmented, with the top three players accounting for an</a:t>
            </a:r>
          </a:p>
        </p:txBody>
      </p:sp>
      <p:sp>
        <p:nvSpPr>
          <p:cNvPr id="27" name="TextBox 26"/>
          <p:cNvSpPr txBox="1"/>
          <p:nvPr/>
        </p:nvSpPr>
        <p:spPr>
          <a:xfrm>
            <a:off x="7934325" y="2298961"/>
            <a:ext cx="673806" cy="194310"/>
          </a:xfrm>
          <a:prstGeom prst="rect">
            <a:avLst/>
          </a:prstGeom>
          <a:noFill/>
        </p:spPr>
        <p:txBody>
          <a:bodyPr wrap="none" lIns="0" rIns="0" tIns="0" bIns="0">
            <a:spAutoFit/>
          </a:bodyPr>
          <a:lstStyle/>
          <a:p>
            <a:r>
              <a:rPr sz="1150" b="0">
                <a:solidFill>
                  <a:srgbClr val="2E2E2E"/>
                </a:solidFill>
                <a:latin typeface="Calibri"/>
              </a:rPr>
              <a:t>estimated</a:t>
            </a:r>
          </a:p>
        </p:txBody>
      </p:sp>
      <p:pic>
        <p:nvPicPr>
          <p:cNvPr id="28" name="Picture 27" descr="lock.png"/>
          <p:cNvPicPr>
            <a:picLocks noChangeAspect="1"/>
          </p:cNvPicPr>
          <p:nvPr/>
        </p:nvPicPr>
        <p:blipFill>
          <a:blip r:embed="rId5"/>
          <a:stretch>
            <a:fillRect/>
          </a:stretch>
        </p:blipFill>
        <p:spPr>
          <a:xfrm>
            <a:off x="8557285" y="2288737"/>
            <a:ext cx="134549" cy="195707"/>
          </a:xfrm>
          <a:prstGeom prst="rect">
            <a:avLst/>
          </a:prstGeom>
        </p:spPr>
      </p:pic>
      <p:sp>
        <p:nvSpPr>
          <p:cNvPr id="29" name="TextBox 28"/>
          <p:cNvSpPr txBox="1"/>
          <p:nvPr/>
        </p:nvSpPr>
        <p:spPr>
          <a:xfrm>
            <a:off x="8732395" y="2298961"/>
            <a:ext cx="1758912" cy="194310"/>
          </a:xfrm>
          <a:prstGeom prst="rect">
            <a:avLst/>
          </a:prstGeom>
          <a:noFill/>
        </p:spPr>
        <p:txBody>
          <a:bodyPr wrap="none" lIns="0" rIns="0" tIns="0" bIns="0">
            <a:spAutoFit/>
          </a:bodyPr>
          <a:lstStyle/>
          <a:p>
            <a:r>
              <a:rPr sz="1150" b="0">
                <a:solidFill>
                  <a:srgbClr val="2E2E2E"/>
                </a:solidFill>
                <a:latin typeface="Calibri"/>
              </a:rPr>
              <a:t>share of the market in 2026.</a:t>
            </a:r>
          </a:p>
        </p:txBody>
      </p:sp>
      <p:sp>
        <p:nvSpPr>
          <p:cNvPr id="30" name="TextBox 29"/>
          <p:cNvSpPr txBox="1"/>
          <p:nvPr/>
        </p:nvSpPr>
        <p:spPr>
          <a:xfrm>
            <a:off x="7934325" y="2526799"/>
            <a:ext cx="1985119" cy="194310"/>
          </a:xfrm>
          <a:prstGeom prst="rect">
            <a:avLst/>
          </a:prstGeom>
          <a:noFill/>
        </p:spPr>
        <p:txBody>
          <a:bodyPr wrap="none" lIns="0" rIns="0" tIns="0" bIns="0">
            <a:spAutoFit/>
          </a:bodyPr>
          <a:lstStyle/>
          <a:p>
            <a:r>
              <a:rPr sz="1150" b="0">
                <a:solidFill>
                  <a:srgbClr val="2E2E2E"/>
                </a:solidFill>
                <a:latin typeface="Calibri"/>
              </a:rPr>
              <a:t>Sika accounted for an estimated</a:t>
            </a:r>
          </a:p>
        </p:txBody>
      </p:sp>
      <p:pic>
        <p:nvPicPr>
          <p:cNvPr id="31" name="Picture 30" descr="lock.png"/>
          <p:cNvPicPr>
            <a:picLocks noChangeAspect="1"/>
          </p:cNvPicPr>
          <p:nvPr/>
        </p:nvPicPr>
        <p:blipFill>
          <a:blip r:embed="rId5"/>
          <a:stretch>
            <a:fillRect/>
          </a:stretch>
        </p:blipFill>
        <p:spPr>
          <a:xfrm>
            <a:off x="9868598" y="2516575"/>
            <a:ext cx="134549" cy="195707"/>
          </a:xfrm>
          <a:prstGeom prst="rect">
            <a:avLst/>
          </a:prstGeom>
        </p:spPr>
      </p:pic>
      <p:sp>
        <p:nvSpPr>
          <p:cNvPr id="32" name="TextBox 31"/>
          <p:cNvSpPr txBox="1"/>
          <p:nvPr/>
        </p:nvSpPr>
        <p:spPr>
          <a:xfrm>
            <a:off x="10043707" y="2526799"/>
            <a:ext cx="1285391" cy="194310"/>
          </a:xfrm>
          <a:prstGeom prst="rect">
            <a:avLst/>
          </a:prstGeom>
          <a:noFill/>
        </p:spPr>
        <p:txBody>
          <a:bodyPr wrap="none" lIns="0" rIns="0" tIns="0" bIns="0">
            <a:spAutoFit/>
          </a:bodyPr>
          <a:lstStyle/>
          <a:p>
            <a:r>
              <a:rPr sz="1150" b="0">
                <a:solidFill>
                  <a:srgbClr val="2E2E2E"/>
                </a:solidFill>
                <a:latin typeface="Calibri"/>
              </a:rPr>
              <a:t>share of the market,</a:t>
            </a:r>
          </a:p>
        </p:txBody>
      </p:sp>
      <p:sp>
        <p:nvSpPr>
          <p:cNvPr id="33" name="TextBox 32"/>
          <p:cNvSpPr txBox="1"/>
          <p:nvPr/>
        </p:nvSpPr>
        <p:spPr>
          <a:xfrm>
            <a:off x="7934325" y="2702058"/>
            <a:ext cx="2391320" cy="194310"/>
          </a:xfrm>
          <a:prstGeom prst="rect">
            <a:avLst/>
          </a:prstGeom>
          <a:noFill/>
        </p:spPr>
        <p:txBody>
          <a:bodyPr wrap="none" lIns="0" rIns="0" tIns="0" bIns="0">
            <a:spAutoFit/>
          </a:bodyPr>
          <a:lstStyle/>
          <a:p>
            <a:r>
              <a:rPr sz="1150" b="0">
                <a:solidFill>
                  <a:srgbClr val="2E2E2E"/>
                </a:solidFill>
                <a:latin typeface="Calibri"/>
              </a:rPr>
              <a:t>followed by The Sherwin-Williams with</a:t>
            </a:r>
          </a:p>
        </p:txBody>
      </p:sp>
      <p:pic>
        <p:nvPicPr>
          <p:cNvPr id="34" name="Picture 33" descr="lock.png"/>
          <p:cNvPicPr>
            <a:picLocks noChangeAspect="1"/>
          </p:cNvPicPr>
          <p:nvPr/>
        </p:nvPicPr>
        <p:blipFill>
          <a:blip r:embed="rId5"/>
          <a:stretch>
            <a:fillRect/>
          </a:stretch>
        </p:blipFill>
        <p:spPr>
          <a:xfrm>
            <a:off x="10274799" y="2691835"/>
            <a:ext cx="134549" cy="195707"/>
          </a:xfrm>
          <a:prstGeom prst="rect">
            <a:avLst/>
          </a:prstGeom>
        </p:spPr>
      </p:pic>
      <p:sp>
        <p:nvSpPr>
          <p:cNvPr id="35" name="TextBox 34"/>
          <p:cNvSpPr txBox="1"/>
          <p:nvPr/>
        </p:nvSpPr>
        <p:spPr>
          <a:xfrm>
            <a:off x="10449908" y="2702058"/>
            <a:ext cx="1048019" cy="194310"/>
          </a:xfrm>
          <a:prstGeom prst="rect">
            <a:avLst/>
          </a:prstGeom>
          <a:noFill/>
        </p:spPr>
        <p:txBody>
          <a:bodyPr wrap="none" lIns="0" rIns="0" tIns="0" bIns="0">
            <a:spAutoFit/>
          </a:bodyPr>
          <a:lstStyle/>
          <a:p>
            <a:r>
              <a:rPr sz="1150" b="0">
                <a:solidFill>
                  <a:srgbClr val="2E2E2E"/>
                </a:solidFill>
                <a:latin typeface="Calibri"/>
              </a:rPr>
              <a:t>. Key players are</a:t>
            </a:r>
          </a:p>
        </p:txBody>
      </p:sp>
      <p:sp>
        <p:nvSpPr>
          <p:cNvPr id="36" name="TextBox 35"/>
          <p:cNvSpPr txBox="1"/>
          <p:nvPr/>
        </p:nvSpPr>
        <p:spPr>
          <a:xfrm>
            <a:off x="7934325" y="2877318"/>
            <a:ext cx="3551448" cy="194310"/>
          </a:xfrm>
          <a:prstGeom prst="rect">
            <a:avLst/>
          </a:prstGeom>
          <a:noFill/>
        </p:spPr>
        <p:txBody>
          <a:bodyPr wrap="none" lIns="0" rIns="0" tIns="0" bIns="0">
            <a:spAutoFit/>
          </a:bodyPr>
          <a:lstStyle/>
          <a:p>
            <a:r>
              <a:rPr sz="1150" b="0">
                <a:solidFill>
                  <a:srgbClr val="2E2E2E"/>
                </a:solidFill>
                <a:latin typeface="Calibri"/>
              </a:rPr>
              <a:t>focusing on product innovation, geographic expansion and</a:t>
            </a:r>
          </a:p>
        </p:txBody>
      </p:sp>
      <p:sp>
        <p:nvSpPr>
          <p:cNvPr id="37" name="TextBox 36"/>
          <p:cNvSpPr txBox="1"/>
          <p:nvPr/>
        </p:nvSpPr>
        <p:spPr>
          <a:xfrm>
            <a:off x="7934325" y="3052578"/>
            <a:ext cx="3540038" cy="194310"/>
          </a:xfrm>
          <a:prstGeom prst="rect">
            <a:avLst/>
          </a:prstGeom>
          <a:noFill/>
        </p:spPr>
        <p:txBody>
          <a:bodyPr wrap="none" lIns="0" rIns="0" tIns="0" bIns="0">
            <a:spAutoFit/>
          </a:bodyPr>
          <a:lstStyle/>
          <a:p>
            <a:r>
              <a:rPr sz="1150" b="0">
                <a:solidFill>
                  <a:srgbClr val="2E2E2E"/>
                </a:solidFill>
                <a:latin typeface="Calibri"/>
              </a:rPr>
              <a:t>strategic partnerships to strengthen their market position.</a:t>
            </a:r>
          </a:p>
        </p:txBody>
      </p:sp>
      <p:sp>
        <p:nvSpPr>
          <p:cNvPr id="38" name="TextBox 37"/>
          <p:cNvSpPr txBox="1"/>
          <p:nvPr/>
        </p:nvSpPr>
        <p:spPr>
          <a:xfrm>
            <a:off x="7934325" y="3280416"/>
            <a:ext cx="3647864" cy="194310"/>
          </a:xfrm>
          <a:prstGeom prst="rect">
            <a:avLst/>
          </a:prstGeom>
          <a:noFill/>
        </p:spPr>
        <p:txBody>
          <a:bodyPr wrap="none" lIns="0" rIns="0" tIns="0" bIns="0">
            <a:spAutoFit/>
          </a:bodyPr>
          <a:lstStyle/>
          <a:p>
            <a:r>
              <a:rPr sz="1150" b="0">
                <a:solidFill>
                  <a:srgbClr val="2E2E2E"/>
                </a:solidFill>
                <a:latin typeface="Calibri"/>
              </a:rPr>
              <a:t>Regional share differs from the global picture use the region</a:t>
            </a:r>
          </a:p>
        </p:txBody>
      </p:sp>
      <p:sp>
        <p:nvSpPr>
          <p:cNvPr id="39" name="TextBox 38"/>
          <p:cNvSpPr txBox="1"/>
          <p:nvPr/>
        </p:nvSpPr>
        <p:spPr>
          <a:xfrm>
            <a:off x="7934325" y="3455676"/>
            <a:ext cx="3444763" cy="194310"/>
          </a:xfrm>
          <a:prstGeom prst="rect">
            <a:avLst/>
          </a:prstGeom>
          <a:noFill/>
        </p:spPr>
        <p:txBody>
          <a:bodyPr wrap="none" lIns="0" rIns="0" tIns="0" bIns="0">
            <a:spAutoFit/>
          </a:bodyPr>
          <a:lstStyle/>
          <a:p>
            <a:r>
              <a:rPr sz="1150" b="0">
                <a:solidFill>
                  <a:srgbClr val="2E2E2E"/>
                </a:solidFill>
                <a:latin typeface="Calibri"/>
              </a:rPr>
              <a:t>selector to see how leadership shifts across geographies.</a:t>
            </a:r>
          </a:p>
        </p:txBody>
      </p:sp>
      <p:sp>
        <p:nvSpPr>
          <p:cNvPr id="40" name="lockshield_13"/>
          <p:cNvSpPr/>
          <p:nvPr/>
        </p:nvSpPr>
        <p:spPr>
          <a:xfrm>
            <a:off x="238125" y="1639831"/>
            <a:ext cx="7353300" cy="4877658"/>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Waterproof Coatings Market Company Share by Product Type (Top 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company value share within each leading product type / chemistry, highlighting where leadership differs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Company value share within each of the leading product types where each player concentrates, and how leadership varies by formulation.</a:t>
            </a:r>
          </a:p>
        </p:txBody>
      </p:sp>
      <p:sp>
        <p:nvSpPr>
          <p:cNvPr id="11" name="Rounded Rectangle 10"/>
          <p:cNvSpPr/>
          <p:nvPr/>
        </p:nvSpPr>
        <p:spPr>
          <a:xfrm>
            <a:off x="14287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Other Polymer-Based Coatings</a:t>
            </a:r>
          </a:p>
        </p:txBody>
      </p:sp>
      <p:graphicFrame>
        <p:nvGraphicFramePr>
          <p:cNvPr id="13" name="Chart 12"/>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r:id="rId3"/>
          </a:graphicData>
        </a:graphic>
      </p:graphicFrame>
      <p:sp>
        <p:nvSpPr>
          <p:cNvPr id="14" name="Rounded Rectangle 13"/>
          <p:cNvSpPr/>
          <p:nvPr/>
        </p:nvSpPr>
        <p:spPr>
          <a:xfrm>
            <a:off x="412432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957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Polyurea Waterproof Coatings</a:t>
            </a:r>
          </a:p>
        </p:txBody>
      </p:sp>
      <p:graphicFrame>
        <p:nvGraphicFramePr>
          <p:cNvPr id="16" name="Chart 15"/>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r:id="rId4"/>
          </a:graphicData>
        </a:graphic>
      </p:graphicFrame>
      <p:sp>
        <p:nvSpPr>
          <p:cNvPr id="17" name="Rounded Rectangle 16"/>
          <p:cNvSpPr/>
          <p:nvPr/>
        </p:nvSpPr>
        <p:spPr>
          <a:xfrm>
            <a:off x="8105775" y="1299320"/>
            <a:ext cx="39433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1025" y="135647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Silicone Waterproof Coatings</a:t>
            </a:r>
          </a:p>
        </p:txBody>
      </p:sp>
      <p:graphicFrame>
        <p:nvGraphicFramePr>
          <p:cNvPr id="19" name="Chart 18"/>
          <p:cNvGraphicFramePr>
            <a:graphicFrameLocks noGrp="1"/>
          </p:cNvGraphicFramePr>
          <p:nvPr/>
        </p:nvGraphicFramePr>
        <p:xfrm>
          <a:off x="8201025" y="1585070"/>
          <a:ext cx="3752850" cy="2869751"/>
        </p:xfrm>
        <a:graphic>
          <a:graphicData uri="http://schemas.openxmlformats.org/drawingml/2006/chart">
            <c:chart xmlns:c="http://schemas.openxmlformats.org/drawingml/2006/chart" r:id="rId5"/>
          </a:graphicData>
        </a:graphic>
      </p:graphicFrame>
      <p:sp>
        <p:nvSpPr>
          <p:cNvPr id="20" name="Rounded Rectangle 19"/>
          <p:cNvSpPr/>
          <p:nvPr/>
        </p:nvSpPr>
        <p:spPr>
          <a:xfrm>
            <a:off x="142875" y="4603240"/>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68896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Company Share Key Takeaways</a:t>
            </a:r>
          </a:p>
        </p:txBody>
      </p:sp>
      <p:sp>
        <p:nvSpPr>
          <p:cNvPr id="22" name="Rectangle 21"/>
          <p:cNvSpPr/>
          <p:nvPr/>
        </p:nvSpPr>
        <p:spPr>
          <a:xfrm>
            <a:off x="276225" y="492709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5012815"/>
            <a:ext cx="11639550" cy="148562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1233011" y="2619895"/>
            <a:ext cx="523875" cy="762000"/>
          </a:xfrm>
          <a:prstGeom prst="rect">
            <a:avLst/>
          </a:prstGeom>
        </p:spPr>
      </p:pic>
      <p:pic>
        <p:nvPicPr>
          <p:cNvPr id="26" name="Picture 25" descr="lock.png"/>
          <p:cNvPicPr>
            <a:picLocks noChangeAspect="1"/>
          </p:cNvPicPr>
          <p:nvPr/>
        </p:nvPicPr>
        <p:blipFill>
          <a:blip r:embed="rId7"/>
          <a:stretch>
            <a:fillRect/>
          </a:stretch>
        </p:blipFill>
        <p:spPr>
          <a:xfrm>
            <a:off x="5214461" y="2619895"/>
            <a:ext cx="523875" cy="762000"/>
          </a:xfrm>
          <a:prstGeom prst="rect">
            <a:avLst/>
          </a:prstGeom>
        </p:spPr>
      </p:pic>
      <p:pic>
        <p:nvPicPr>
          <p:cNvPr id="27" name="Picture 26" descr="lock.png"/>
          <p:cNvPicPr>
            <a:picLocks noChangeAspect="1"/>
          </p:cNvPicPr>
          <p:nvPr/>
        </p:nvPicPr>
        <p:blipFill>
          <a:blip r:embed="rId7"/>
          <a:stretch>
            <a:fillRect/>
          </a:stretch>
        </p:blipFill>
        <p:spPr>
          <a:xfrm>
            <a:off x="9235916" y="2619895"/>
            <a:ext cx="523875" cy="762000"/>
          </a:xfrm>
          <a:prstGeom prst="rect">
            <a:avLst/>
          </a:prstGeom>
        </p:spPr>
      </p:pic>
      <p:sp>
        <p:nvSpPr>
          <p:cNvPr id="28" name="TextBox 27"/>
          <p:cNvSpPr txBox="1"/>
          <p:nvPr/>
        </p:nvSpPr>
        <p:spPr>
          <a:xfrm>
            <a:off x="276225" y="5022340"/>
            <a:ext cx="2951844" cy="194310"/>
          </a:xfrm>
          <a:prstGeom prst="rect">
            <a:avLst/>
          </a:prstGeom>
          <a:noFill/>
        </p:spPr>
        <p:txBody>
          <a:bodyPr wrap="none" lIns="0" rIns="0" tIns="0" bIns="0">
            <a:spAutoFit/>
          </a:bodyPr>
          <a:lstStyle/>
          <a:p>
            <a:r>
              <a:rPr sz="1150" b="0">
                <a:solidFill>
                  <a:srgbClr val="2E2E2E"/>
                </a:solidFill>
                <a:latin typeface="Calibri"/>
              </a:rPr>
              <a:t>▪ Other Polymer-Based Coatings: 'Sika' leads at ~</a:t>
            </a:r>
          </a:p>
        </p:txBody>
      </p:sp>
      <p:pic>
        <p:nvPicPr>
          <p:cNvPr id="29" name="Picture 28" descr="lock.png"/>
          <p:cNvPicPr>
            <a:picLocks noChangeAspect="1"/>
          </p:cNvPicPr>
          <p:nvPr/>
        </p:nvPicPr>
        <p:blipFill>
          <a:blip r:embed="rId7"/>
          <a:stretch>
            <a:fillRect/>
          </a:stretch>
        </p:blipFill>
        <p:spPr>
          <a:xfrm>
            <a:off x="3177223" y="5012116"/>
            <a:ext cx="134549" cy="195707"/>
          </a:xfrm>
          <a:prstGeom prst="rect">
            <a:avLst/>
          </a:prstGeom>
        </p:spPr>
      </p:pic>
      <p:sp>
        <p:nvSpPr>
          <p:cNvPr id="30" name="TextBox 29"/>
          <p:cNvSpPr txBox="1"/>
          <p:nvPr/>
        </p:nvSpPr>
        <p:spPr>
          <a:xfrm>
            <a:off x="3352332" y="5022340"/>
            <a:ext cx="1587189" cy="194310"/>
          </a:xfrm>
          <a:prstGeom prst="rect">
            <a:avLst/>
          </a:prstGeom>
          <a:noFill/>
        </p:spPr>
        <p:txBody>
          <a:bodyPr wrap="none" lIns="0" rIns="0" tIns="0" bIns="0">
            <a:spAutoFit/>
          </a:bodyPr>
          <a:lstStyle/>
          <a:p>
            <a:r>
              <a:rPr sz="1150" b="0">
                <a:solidFill>
                  <a:srgbClr val="2E2E2E"/>
                </a:solidFill>
                <a:latin typeface="Calibri"/>
              </a:rPr>
              <a:t>, ahead of 'Akzo Nobel' (~</a:t>
            </a:r>
          </a:p>
        </p:txBody>
      </p:sp>
      <p:pic>
        <p:nvPicPr>
          <p:cNvPr id="31" name="Picture 30" descr="lock.png"/>
          <p:cNvPicPr>
            <a:picLocks noChangeAspect="1"/>
          </p:cNvPicPr>
          <p:nvPr/>
        </p:nvPicPr>
        <p:blipFill>
          <a:blip r:embed="rId7"/>
          <a:stretch>
            <a:fillRect/>
          </a:stretch>
        </p:blipFill>
        <p:spPr>
          <a:xfrm>
            <a:off x="4888676" y="5012116"/>
            <a:ext cx="134549" cy="195707"/>
          </a:xfrm>
          <a:prstGeom prst="rect">
            <a:avLst/>
          </a:prstGeom>
        </p:spPr>
      </p:pic>
      <p:sp>
        <p:nvSpPr>
          <p:cNvPr id="32" name="TextBox 31"/>
          <p:cNvSpPr txBox="1"/>
          <p:nvPr/>
        </p:nvSpPr>
        <p:spPr>
          <a:xfrm>
            <a:off x="5063785" y="5022340"/>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33" name="Picture 32" descr="lock.png"/>
          <p:cNvPicPr>
            <a:picLocks noChangeAspect="1"/>
          </p:cNvPicPr>
          <p:nvPr/>
        </p:nvPicPr>
        <p:blipFill>
          <a:blip r:embed="rId7"/>
          <a:stretch>
            <a:fillRect/>
          </a:stretch>
        </p:blipFill>
        <p:spPr>
          <a:xfrm>
            <a:off x="6398455" y="5012116"/>
            <a:ext cx="134549" cy="195707"/>
          </a:xfrm>
          <a:prstGeom prst="rect">
            <a:avLst/>
          </a:prstGeom>
        </p:spPr>
      </p:pic>
      <p:sp>
        <p:nvSpPr>
          <p:cNvPr id="34" name="TextBox 33"/>
          <p:cNvSpPr txBox="1"/>
          <p:nvPr/>
        </p:nvSpPr>
        <p:spPr>
          <a:xfrm>
            <a:off x="6573564" y="5022340"/>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35" name="Picture 34" descr="lock.png"/>
          <p:cNvPicPr>
            <a:picLocks noChangeAspect="1"/>
          </p:cNvPicPr>
          <p:nvPr/>
        </p:nvPicPr>
        <p:blipFill>
          <a:blip r:embed="rId7"/>
          <a:stretch>
            <a:fillRect/>
          </a:stretch>
        </p:blipFill>
        <p:spPr>
          <a:xfrm>
            <a:off x="8129020" y="5012116"/>
            <a:ext cx="134549" cy="195707"/>
          </a:xfrm>
          <a:prstGeom prst="rect">
            <a:avLst/>
          </a:prstGeom>
        </p:spPr>
      </p:pic>
      <p:sp>
        <p:nvSpPr>
          <p:cNvPr id="36" name="TextBox 35"/>
          <p:cNvSpPr txBox="1"/>
          <p:nvPr/>
        </p:nvSpPr>
        <p:spPr>
          <a:xfrm>
            <a:off x="8304129" y="5022340"/>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7" name="TextBox 36"/>
          <p:cNvSpPr txBox="1"/>
          <p:nvPr/>
        </p:nvSpPr>
        <p:spPr>
          <a:xfrm>
            <a:off x="276225" y="5250177"/>
            <a:ext cx="3560861" cy="194310"/>
          </a:xfrm>
          <a:prstGeom prst="rect">
            <a:avLst/>
          </a:prstGeom>
          <a:noFill/>
        </p:spPr>
        <p:txBody>
          <a:bodyPr wrap="none" lIns="0" rIns="0" tIns="0" bIns="0">
            <a:spAutoFit/>
          </a:bodyPr>
          <a:lstStyle/>
          <a:p>
            <a:r>
              <a:rPr sz="1150" b="0">
                <a:solidFill>
                  <a:srgbClr val="2E2E2E"/>
                </a:solidFill>
                <a:latin typeface="Calibri"/>
              </a:rPr>
              <a:t>▪ Polyurea Waterproof Coatings: 'PPG Industries' leads at ~</a:t>
            </a:r>
          </a:p>
        </p:txBody>
      </p:sp>
      <p:pic>
        <p:nvPicPr>
          <p:cNvPr id="38" name="Picture 37" descr="lock.png"/>
          <p:cNvPicPr>
            <a:picLocks noChangeAspect="1"/>
          </p:cNvPicPr>
          <p:nvPr/>
        </p:nvPicPr>
        <p:blipFill>
          <a:blip r:embed="rId7"/>
          <a:stretch>
            <a:fillRect/>
          </a:stretch>
        </p:blipFill>
        <p:spPr>
          <a:xfrm>
            <a:off x="3786240" y="5239954"/>
            <a:ext cx="134549" cy="195707"/>
          </a:xfrm>
          <a:prstGeom prst="rect">
            <a:avLst/>
          </a:prstGeom>
        </p:spPr>
      </p:pic>
      <p:sp>
        <p:nvSpPr>
          <p:cNvPr id="39" name="TextBox 38"/>
          <p:cNvSpPr txBox="1"/>
          <p:nvPr/>
        </p:nvSpPr>
        <p:spPr>
          <a:xfrm>
            <a:off x="3961349" y="5250177"/>
            <a:ext cx="2203338" cy="194310"/>
          </a:xfrm>
          <a:prstGeom prst="rect">
            <a:avLst/>
          </a:prstGeom>
          <a:noFill/>
        </p:spPr>
        <p:txBody>
          <a:bodyPr wrap="none" lIns="0" rIns="0" tIns="0" bIns="0">
            <a:spAutoFit/>
          </a:bodyPr>
          <a:lstStyle/>
          <a:p>
            <a:r>
              <a:rPr sz="1150" b="0">
                <a:solidFill>
                  <a:srgbClr val="2E2E2E"/>
                </a:solidFill>
                <a:latin typeface="Calibri"/>
              </a:rPr>
              <a:t>, ahead of 'The Sherwin-Williams' (~</a:t>
            </a:r>
          </a:p>
        </p:txBody>
      </p:sp>
      <p:pic>
        <p:nvPicPr>
          <p:cNvPr id="40" name="Picture 39" descr="lock.png"/>
          <p:cNvPicPr>
            <a:picLocks noChangeAspect="1"/>
          </p:cNvPicPr>
          <p:nvPr/>
        </p:nvPicPr>
        <p:blipFill>
          <a:blip r:embed="rId7"/>
          <a:stretch>
            <a:fillRect/>
          </a:stretch>
        </p:blipFill>
        <p:spPr>
          <a:xfrm>
            <a:off x="6113842" y="5239954"/>
            <a:ext cx="134549" cy="195707"/>
          </a:xfrm>
          <a:prstGeom prst="rect">
            <a:avLst/>
          </a:prstGeom>
        </p:spPr>
      </p:pic>
      <p:sp>
        <p:nvSpPr>
          <p:cNvPr id="41" name="TextBox 40"/>
          <p:cNvSpPr txBox="1"/>
          <p:nvPr/>
        </p:nvSpPr>
        <p:spPr>
          <a:xfrm>
            <a:off x="6288951" y="5250177"/>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42" name="Picture 41" descr="lock.png"/>
          <p:cNvPicPr>
            <a:picLocks noChangeAspect="1"/>
          </p:cNvPicPr>
          <p:nvPr/>
        </p:nvPicPr>
        <p:blipFill>
          <a:blip r:embed="rId7"/>
          <a:stretch>
            <a:fillRect/>
          </a:stretch>
        </p:blipFill>
        <p:spPr>
          <a:xfrm>
            <a:off x="7623620" y="5239954"/>
            <a:ext cx="134549" cy="195707"/>
          </a:xfrm>
          <a:prstGeom prst="rect">
            <a:avLst/>
          </a:prstGeom>
        </p:spPr>
      </p:pic>
      <p:sp>
        <p:nvSpPr>
          <p:cNvPr id="43" name="TextBox 42"/>
          <p:cNvSpPr txBox="1"/>
          <p:nvPr/>
        </p:nvSpPr>
        <p:spPr>
          <a:xfrm>
            <a:off x="7798730" y="5250177"/>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44" name="Picture 43" descr="lock.png"/>
          <p:cNvPicPr>
            <a:picLocks noChangeAspect="1"/>
          </p:cNvPicPr>
          <p:nvPr/>
        </p:nvPicPr>
        <p:blipFill>
          <a:blip r:embed="rId7"/>
          <a:stretch>
            <a:fillRect/>
          </a:stretch>
        </p:blipFill>
        <p:spPr>
          <a:xfrm>
            <a:off x="9354186" y="5239954"/>
            <a:ext cx="134549" cy="195707"/>
          </a:xfrm>
          <a:prstGeom prst="rect">
            <a:avLst/>
          </a:prstGeom>
        </p:spPr>
      </p:pic>
      <p:sp>
        <p:nvSpPr>
          <p:cNvPr id="45" name="TextBox 44"/>
          <p:cNvSpPr txBox="1"/>
          <p:nvPr/>
        </p:nvSpPr>
        <p:spPr>
          <a:xfrm>
            <a:off x="9529295" y="5250177"/>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6" name="TextBox 45"/>
          <p:cNvSpPr txBox="1"/>
          <p:nvPr/>
        </p:nvSpPr>
        <p:spPr>
          <a:xfrm>
            <a:off x="276225" y="5478015"/>
            <a:ext cx="2867409" cy="194310"/>
          </a:xfrm>
          <a:prstGeom prst="rect">
            <a:avLst/>
          </a:prstGeom>
          <a:noFill/>
        </p:spPr>
        <p:txBody>
          <a:bodyPr wrap="none" lIns="0" rIns="0" tIns="0" bIns="0">
            <a:spAutoFit/>
          </a:bodyPr>
          <a:lstStyle/>
          <a:p>
            <a:r>
              <a:rPr sz="1150" b="0">
                <a:solidFill>
                  <a:srgbClr val="2E2E2E"/>
                </a:solidFill>
                <a:latin typeface="Calibri"/>
              </a:rPr>
              <a:t>▪ Silicone Waterproof Coatings: 'Sika' leads at ~</a:t>
            </a:r>
          </a:p>
        </p:txBody>
      </p:sp>
      <p:pic>
        <p:nvPicPr>
          <p:cNvPr id="47" name="Picture 46" descr="lock.png"/>
          <p:cNvPicPr>
            <a:picLocks noChangeAspect="1"/>
          </p:cNvPicPr>
          <p:nvPr/>
        </p:nvPicPr>
        <p:blipFill>
          <a:blip r:embed="rId7"/>
          <a:stretch>
            <a:fillRect/>
          </a:stretch>
        </p:blipFill>
        <p:spPr>
          <a:xfrm>
            <a:off x="3092788" y="5467792"/>
            <a:ext cx="134549" cy="195707"/>
          </a:xfrm>
          <a:prstGeom prst="rect">
            <a:avLst/>
          </a:prstGeom>
        </p:spPr>
      </p:pic>
      <p:sp>
        <p:nvSpPr>
          <p:cNvPr id="48" name="TextBox 47"/>
          <p:cNvSpPr txBox="1"/>
          <p:nvPr/>
        </p:nvSpPr>
        <p:spPr>
          <a:xfrm>
            <a:off x="3267897" y="5478015"/>
            <a:ext cx="2203338" cy="194310"/>
          </a:xfrm>
          <a:prstGeom prst="rect">
            <a:avLst/>
          </a:prstGeom>
          <a:noFill/>
        </p:spPr>
        <p:txBody>
          <a:bodyPr wrap="none" lIns="0" rIns="0" tIns="0" bIns="0">
            <a:spAutoFit/>
          </a:bodyPr>
          <a:lstStyle/>
          <a:p>
            <a:r>
              <a:rPr sz="1150" b="0">
                <a:solidFill>
                  <a:srgbClr val="2E2E2E"/>
                </a:solidFill>
                <a:latin typeface="Calibri"/>
              </a:rPr>
              <a:t>, ahead of 'The Sherwin-Williams' (~</a:t>
            </a:r>
          </a:p>
        </p:txBody>
      </p:sp>
      <p:pic>
        <p:nvPicPr>
          <p:cNvPr id="49" name="Picture 48" descr="lock.png"/>
          <p:cNvPicPr>
            <a:picLocks noChangeAspect="1"/>
          </p:cNvPicPr>
          <p:nvPr/>
        </p:nvPicPr>
        <p:blipFill>
          <a:blip r:embed="rId7"/>
          <a:stretch>
            <a:fillRect/>
          </a:stretch>
        </p:blipFill>
        <p:spPr>
          <a:xfrm>
            <a:off x="5420389" y="5467792"/>
            <a:ext cx="134549" cy="195707"/>
          </a:xfrm>
          <a:prstGeom prst="rect">
            <a:avLst/>
          </a:prstGeom>
        </p:spPr>
      </p:pic>
      <p:sp>
        <p:nvSpPr>
          <p:cNvPr id="50" name="TextBox 49"/>
          <p:cNvSpPr txBox="1"/>
          <p:nvPr/>
        </p:nvSpPr>
        <p:spPr>
          <a:xfrm>
            <a:off x="5595499" y="5478015"/>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51" name="Picture 50" descr="lock.png"/>
          <p:cNvPicPr>
            <a:picLocks noChangeAspect="1"/>
          </p:cNvPicPr>
          <p:nvPr/>
        </p:nvPicPr>
        <p:blipFill>
          <a:blip r:embed="rId7"/>
          <a:stretch>
            <a:fillRect/>
          </a:stretch>
        </p:blipFill>
        <p:spPr>
          <a:xfrm>
            <a:off x="6930168" y="5467792"/>
            <a:ext cx="134549" cy="195707"/>
          </a:xfrm>
          <a:prstGeom prst="rect">
            <a:avLst/>
          </a:prstGeom>
        </p:spPr>
      </p:pic>
      <p:sp>
        <p:nvSpPr>
          <p:cNvPr id="52" name="TextBox 51"/>
          <p:cNvSpPr txBox="1"/>
          <p:nvPr/>
        </p:nvSpPr>
        <p:spPr>
          <a:xfrm>
            <a:off x="7105277" y="5478015"/>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53" name="Picture 52" descr="lock.png"/>
          <p:cNvPicPr>
            <a:picLocks noChangeAspect="1"/>
          </p:cNvPicPr>
          <p:nvPr/>
        </p:nvPicPr>
        <p:blipFill>
          <a:blip r:embed="rId7"/>
          <a:stretch>
            <a:fillRect/>
          </a:stretch>
        </p:blipFill>
        <p:spPr>
          <a:xfrm>
            <a:off x="8660733" y="5467792"/>
            <a:ext cx="134549" cy="195707"/>
          </a:xfrm>
          <a:prstGeom prst="rect">
            <a:avLst/>
          </a:prstGeom>
        </p:spPr>
      </p:pic>
      <p:sp>
        <p:nvSpPr>
          <p:cNvPr id="54" name="TextBox 53"/>
          <p:cNvSpPr txBox="1"/>
          <p:nvPr/>
        </p:nvSpPr>
        <p:spPr>
          <a:xfrm>
            <a:off x="8835843" y="547801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55" name="TextBox 54"/>
          <p:cNvSpPr txBox="1"/>
          <p:nvPr/>
        </p:nvSpPr>
        <p:spPr>
          <a:xfrm>
            <a:off x="276225" y="5705853"/>
            <a:ext cx="8908516" cy="194310"/>
          </a:xfrm>
          <a:prstGeom prst="rect">
            <a:avLst/>
          </a:prstGeom>
          <a:noFill/>
        </p:spPr>
        <p:txBody>
          <a:bodyPr wrap="none" lIns="0" rIns="0" tIns="0" bIns="0">
            <a:spAutoFit/>
          </a:bodyPr>
          <a:lstStyle/>
          <a:p>
            <a:r>
              <a:rPr sz="1150" b="0">
                <a:solidFill>
                  <a:srgbClr val="2E2E2E"/>
                </a:solidFill>
                <a:latin typeface="Calibri"/>
              </a:rPr>
              <a:t>▪ Leadership shifts across formulations a strong position in one product type does not carry over to the others, so product-level targeting is essential.</a:t>
            </a:r>
          </a:p>
        </p:txBody>
      </p:sp>
      <p:sp>
        <p:nvSpPr>
          <p:cNvPr id="56" name="TextBox 55"/>
          <p:cNvSpPr txBox="1"/>
          <p:nvPr/>
        </p:nvSpPr>
        <p:spPr>
          <a:xfrm>
            <a:off x="276225" y="5933691"/>
            <a:ext cx="7218957" cy="194310"/>
          </a:xfrm>
          <a:prstGeom prst="rect">
            <a:avLst/>
          </a:prstGeom>
          <a:noFill/>
        </p:spPr>
        <p:txBody>
          <a:bodyPr wrap="none" lIns="0" rIns="0" tIns="0" bIns="0">
            <a:spAutoFit/>
          </a:bodyPr>
          <a:lstStyle/>
          <a:p>
            <a:r>
              <a:rPr sz="1150" b="0">
                <a:solidFill>
                  <a:srgbClr val="2E2E2E"/>
                </a:solidFill>
                <a:latin typeface="Calibri"/>
              </a:rPr>
              <a:t>▪ Note: competitor figures are indicative derived from market modelling and expert validation, not company disclosures.</a:t>
            </a:r>
          </a:p>
        </p:txBody>
      </p:sp>
      <p:sp>
        <p:nvSpPr>
          <p:cNvPr id="57" name="lockshield_13"/>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ockshield_16"/>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ockshield_19"/>
          <p:cNvSpPr/>
          <p:nvPr/>
        </p:nvSpPr>
        <p:spPr>
          <a:xfrm>
            <a:off x="8201025" y="1585070"/>
            <a:ext cx="37528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Waterproof Coatings Market Company Share by Region (Top 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Company value share within the largest regions, highlighting where leadership shifts across geographies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Company value share within each of the largest regions where each player concentrates, and how leadership varies by geography.</a:t>
            </a:r>
          </a:p>
        </p:txBody>
      </p:sp>
      <p:sp>
        <p:nvSpPr>
          <p:cNvPr id="11" name="Rounded Rectangle 10"/>
          <p:cNvSpPr/>
          <p:nvPr/>
        </p:nvSpPr>
        <p:spPr>
          <a:xfrm>
            <a:off x="14287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a:t>
            </a:r>
          </a:p>
        </p:txBody>
      </p:sp>
      <p:graphicFrame>
        <p:nvGraphicFramePr>
          <p:cNvPr id="13" name="Chart 12"/>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r:id="rId3"/>
          </a:graphicData>
        </a:graphic>
      </p:graphicFrame>
      <p:sp>
        <p:nvSpPr>
          <p:cNvPr id="14" name="Rounded Rectangle 13"/>
          <p:cNvSpPr/>
          <p:nvPr/>
        </p:nvSpPr>
        <p:spPr>
          <a:xfrm>
            <a:off x="412432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957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South Asia &amp; Pacific</a:t>
            </a:r>
          </a:p>
        </p:txBody>
      </p:sp>
      <p:graphicFrame>
        <p:nvGraphicFramePr>
          <p:cNvPr id="16" name="Chart 15"/>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r:id="rId4"/>
          </a:graphicData>
        </a:graphic>
      </p:graphicFrame>
      <p:sp>
        <p:nvSpPr>
          <p:cNvPr id="17" name="Rounded Rectangle 16"/>
          <p:cNvSpPr/>
          <p:nvPr/>
        </p:nvSpPr>
        <p:spPr>
          <a:xfrm>
            <a:off x="8105775" y="1299320"/>
            <a:ext cx="39433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1025" y="135647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East Asia</a:t>
            </a:r>
          </a:p>
        </p:txBody>
      </p:sp>
      <p:graphicFrame>
        <p:nvGraphicFramePr>
          <p:cNvPr id="19" name="Chart 18"/>
          <p:cNvGraphicFramePr>
            <a:graphicFrameLocks noGrp="1"/>
          </p:cNvGraphicFramePr>
          <p:nvPr/>
        </p:nvGraphicFramePr>
        <p:xfrm>
          <a:off x="8201025" y="1585070"/>
          <a:ext cx="3752850" cy="2869751"/>
        </p:xfrm>
        <a:graphic>
          <a:graphicData uri="http://schemas.openxmlformats.org/drawingml/2006/chart">
            <c:chart xmlns:c="http://schemas.openxmlformats.org/drawingml/2006/chart" r:id="rId5"/>
          </a:graphicData>
        </a:graphic>
      </p:graphicFrame>
      <p:sp>
        <p:nvSpPr>
          <p:cNvPr id="20" name="Rounded Rectangle 19"/>
          <p:cNvSpPr/>
          <p:nvPr/>
        </p:nvSpPr>
        <p:spPr>
          <a:xfrm>
            <a:off x="142875" y="4603240"/>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68896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Company Share Key Takeaways</a:t>
            </a:r>
          </a:p>
        </p:txBody>
      </p:sp>
      <p:sp>
        <p:nvSpPr>
          <p:cNvPr id="22" name="Rectangle 21"/>
          <p:cNvSpPr/>
          <p:nvPr/>
        </p:nvSpPr>
        <p:spPr>
          <a:xfrm>
            <a:off x="276225" y="492709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5012815"/>
            <a:ext cx="11639550" cy="148562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1233011" y="2619895"/>
            <a:ext cx="523875" cy="762000"/>
          </a:xfrm>
          <a:prstGeom prst="rect">
            <a:avLst/>
          </a:prstGeom>
        </p:spPr>
      </p:pic>
      <p:pic>
        <p:nvPicPr>
          <p:cNvPr id="26" name="Picture 25" descr="lock.png"/>
          <p:cNvPicPr>
            <a:picLocks noChangeAspect="1"/>
          </p:cNvPicPr>
          <p:nvPr/>
        </p:nvPicPr>
        <p:blipFill>
          <a:blip r:embed="rId7"/>
          <a:stretch>
            <a:fillRect/>
          </a:stretch>
        </p:blipFill>
        <p:spPr>
          <a:xfrm>
            <a:off x="5214461" y="2619895"/>
            <a:ext cx="523875" cy="762000"/>
          </a:xfrm>
          <a:prstGeom prst="rect">
            <a:avLst/>
          </a:prstGeom>
        </p:spPr>
      </p:pic>
      <p:pic>
        <p:nvPicPr>
          <p:cNvPr id="27" name="Picture 26" descr="lock.png"/>
          <p:cNvPicPr>
            <a:picLocks noChangeAspect="1"/>
          </p:cNvPicPr>
          <p:nvPr/>
        </p:nvPicPr>
        <p:blipFill>
          <a:blip r:embed="rId7"/>
          <a:stretch>
            <a:fillRect/>
          </a:stretch>
        </p:blipFill>
        <p:spPr>
          <a:xfrm>
            <a:off x="9235916" y="2619895"/>
            <a:ext cx="523875" cy="762000"/>
          </a:xfrm>
          <a:prstGeom prst="rect">
            <a:avLst/>
          </a:prstGeom>
        </p:spPr>
      </p:pic>
      <p:sp>
        <p:nvSpPr>
          <p:cNvPr id="28" name="TextBox 27"/>
          <p:cNvSpPr txBox="1"/>
          <p:nvPr/>
        </p:nvSpPr>
        <p:spPr>
          <a:xfrm>
            <a:off x="276225" y="5022340"/>
            <a:ext cx="2007368" cy="194310"/>
          </a:xfrm>
          <a:prstGeom prst="rect">
            <a:avLst/>
          </a:prstGeom>
          <a:noFill/>
        </p:spPr>
        <p:txBody>
          <a:bodyPr wrap="none" lIns="0" rIns="0" tIns="0" bIns="0">
            <a:spAutoFit/>
          </a:bodyPr>
          <a:lstStyle/>
          <a:p>
            <a:r>
              <a:rPr sz="1150" b="0">
                <a:solidFill>
                  <a:srgbClr val="2E2E2E"/>
                </a:solidFill>
                <a:latin typeface="Calibri"/>
              </a:rPr>
              <a:t>▪ North America: 'Sika' leads at ~</a:t>
            </a:r>
          </a:p>
        </p:txBody>
      </p:sp>
      <p:pic>
        <p:nvPicPr>
          <p:cNvPr id="29" name="Picture 28" descr="lock.png"/>
          <p:cNvPicPr>
            <a:picLocks noChangeAspect="1"/>
          </p:cNvPicPr>
          <p:nvPr/>
        </p:nvPicPr>
        <p:blipFill>
          <a:blip r:embed="rId7"/>
          <a:stretch>
            <a:fillRect/>
          </a:stretch>
        </p:blipFill>
        <p:spPr>
          <a:xfrm>
            <a:off x="2232747" y="5012116"/>
            <a:ext cx="134549" cy="195707"/>
          </a:xfrm>
          <a:prstGeom prst="rect">
            <a:avLst/>
          </a:prstGeom>
        </p:spPr>
      </p:pic>
      <p:sp>
        <p:nvSpPr>
          <p:cNvPr id="30" name="TextBox 29"/>
          <p:cNvSpPr txBox="1"/>
          <p:nvPr/>
        </p:nvSpPr>
        <p:spPr>
          <a:xfrm>
            <a:off x="2407857" y="5022340"/>
            <a:ext cx="2203338" cy="194310"/>
          </a:xfrm>
          <a:prstGeom prst="rect">
            <a:avLst/>
          </a:prstGeom>
          <a:noFill/>
        </p:spPr>
        <p:txBody>
          <a:bodyPr wrap="none" lIns="0" rIns="0" tIns="0" bIns="0">
            <a:spAutoFit/>
          </a:bodyPr>
          <a:lstStyle/>
          <a:p>
            <a:r>
              <a:rPr sz="1150" b="0">
                <a:solidFill>
                  <a:srgbClr val="2E2E2E"/>
                </a:solidFill>
                <a:latin typeface="Calibri"/>
              </a:rPr>
              <a:t>, ahead of 'The Sherwin-Williams' (~</a:t>
            </a:r>
          </a:p>
        </p:txBody>
      </p:sp>
      <p:pic>
        <p:nvPicPr>
          <p:cNvPr id="31" name="Picture 30" descr="lock.png"/>
          <p:cNvPicPr>
            <a:picLocks noChangeAspect="1"/>
          </p:cNvPicPr>
          <p:nvPr/>
        </p:nvPicPr>
        <p:blipFill>
          <a:blip r:embed="rId7"/>
          <a:stretch>
            <a:fillRect/>
          </a:stretch>
        </p:blipFill>
        <p:spPr>
          <a:xfrm>
            <a:off x="4560349" y="5012116"/>
            <a:ext cx="134549" cy="195707"/>
          </a:xfrm>
          <a:prstGeom prst="rect">
            <a:avLst/>
          </a:prstGeom>
        </p:spPr>
      </p:pic>
      <p:sp>
        <p:nvSpPr>
          <p:cNvPr id="32" name="TextBox 31"/>
          <p:cNvSpPr txBox="1"/>
          <p:nvPr/>
        </p:nvSpPr>
        <p:spPr>
          <a:xfrm>
            <a:off x="4735458" y="5022340"/>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33" name="Picture 32" descr="lock.png"/>
          <p:cNvPicPr>
            <a:picLocks noChangeAspect="1"/>
          </p:cNvPicPr>
          <p:nvPr/>
        </p:nvPicPr>
        <p:blipFill>
          <a:blip r:embed="rId7"/>
          <a:stretch>
            <a:fillRect/>
          </a:stretch>
        </p:blipFill>
        <p:spPr>
          <a:xfrm>
            <a:off x="6070128" y="5012116"/>
            <a:ext cx="134549" cy="195707"/>
          </a:xfrm>
          <a:prstGeom prst="rect">
            <a:avLst/>
          </a:prstGeom>
        </p:spPr>
      </p:pic>
      <p:sp>
        <p:nvSpPr>
          <p:cNvPr id="34" name="TextBox 33"/>
          <p:cNvSpPr txBox="1"/>
          <p:nvPr/>
        </p:nvSpPr>
        <p:spPr>
          <a:xfrm>
            <a:off x="6245237" y="5022340"/>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35" name="Picture 34" descr="lock.png"/>
          <p:cNvPicPr>
            <a:picLocks noChangeAspect="1"/>
          </p:cNvPicPr>
          <p:nvPr/>
        </p:nvPicPr>
        <p:blipFill>
          <a:blip r:embed="rId7"/>
          <a:stretch>
            <a:fillRect/>
          </a:stretch>
        </p:blipFill>
        <p:spPr>
          <a:xfrm>
            <a:off x="7800693" y="5012116"/>
            <a:ext cx="134549" cy="195707"/>
          </a:xfrm>
          <a:prstGeom prst="rect">
            <a:avLst/>
          </a:prstGeom>
        </p:spPr>
      </p:pic>
      <p:sp>
        <p:nvSpPr>
          <p:cNvPr id="36" name="TextBox 35"/>
          <p:cNvSpPr txBox="1"/>
          <p:nvPr/>
        </p:nvSpPr>
        <p:spPr>
          <a:xfrm>
            <a:off x="7975802" y="5022340"/>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7" name="TextBox 36"/>
          <p:cNvSpPr txBox="1"/>
          <p:nvPr/>
        </p:nvSpPr>
        <p:spPr>
          <a:xfrm>
            <a:off x="276225" y="5250177"/>
            <a:ext cx="2307170" cy="194310"/>
          </a:xfrm>
          <a:prstGeom prst="rect">
            <a:avLst/>
          </a:prstGeom>
          <a:noFill/>
        </p:spPr>
        <p:txBody>
          <a:bodyPr wrap="none" lIns="0" rIns="0" tIns="0" bIns="0">
            <a:spAutoFit/>
          </a:bodyPr>
          <a:lstStyle/>
          <a:p>
            <a:r>
              <a:rPr sz="1150" b="0">
                <a:solidFill>
                  <a:srgbClr val="2E2E2E"/>
                </a:solidFill>
                <a:latin typeface="Calibri"/>
              </a:rPr>
              <a:t>▪ South Asia &amp; Pacific: 'Sika' leads at ~</a:t>
            </a:r>
          </a:p>
        </p:txBody>
      </p:sp>
      <p:pic>
        <p:nvPicPr>
          <p:cNvPr id="38" name="Picture 37" descr="lock.png"/>
          <p:cNvPicPr>
            <a:picLocks noChangeAspect="1"/>
          </p:cNvPicPr>
          <p:nvPr/>
        </p:nvPicPr>
        <p:blipFill>
          <a:blip r:embed="rId7"/>
          <a:stretch>
            <a:fillRect/>
          </a:stretch>
        </p:blipFill>
        <p:spPr>
          <a:xfrm>
            <a:off x="2532549" y="5239954"/>
            <a:ext cx="134549" cy="195707"/>
          </a:xfrm>
          <a:prstGeom prst="rect">
            <a:avLst/>
          </a:prstGeom>
        </p:spPr>
      </p:pic>
      <p:sp>
        <p:nvSpPr>
          <p:cNvPr id="39" name="TextBox 38"/>
          <p:cNvSpPr txBox="1"/>
          <p:nvPr/>
        </p:nvSpPr>
        <p:spPr>
          <a:xfrm>
            <a:off x="2707659" y="5250177"/>
            <a:ext cx="1778024" cy="194310"/>
          </a:xfrm>
          <a:prstGeom prst="rect">
            <a:avLst/>
          </a:prstGeom>
          <a:noFill/>
        </p:spPr>
        <p:txBody>
          <a:bodyPr wrap="none" lIns="0" rIns="0" tIns="0" bIns="0">
            <a:spAutoFit/>
          </a:bodyPr>
          <a:lstStyle/>
          <a:p>
            <a:r>
              <a:rPr sz="1150" b="0">
                <a:solidFill>
                  <a:srgbClr val="2E2E2E"/>
                </a:solidFill>
                <a:latin typeface="Calibri"/>
              </a:rPr>
              <a:t>, ahead of 'PPG Industries' (~</a:t>
            </a:r>
          </a:p>
        </p:txBody>
      </p:sp>
      <p:pic>
        <p:nvPicPr>
          <p:cNvPr id="40" name="Picture 39" descr="lock.png"/>
          <p:cNvPicPr>
            <a:picLocks noChangeAspect="1"/>
          </p:cNvPicPr>
          <p:nvPr/>
        </p:nvPicPr>
        <p:blipFill>
          <a:blip r:embed="rId7"/>
          <a:stretch>
            <a:fillRect/>
          </a:stretch>
        </p:blipFill>
        <p:spPr>
          <a:xfrm>
            <a:off x="4434837" y="5239954"/>
            <a:ext cx="134549" cy="195707"/>
          </a:xfrm>
          <a:prstGeom prst="rect">
            <a:avLst/>
          </a:prstGeom>
        </p:spPr>
      </p:pic>
      <p:sp>
        <p:nvSpPr>
          <p:cNvPr id="41" name="TextBox 40"/>
          <p:cNvSpPr txBox="1"/>
          <p:nvPr/>
        </p:nvSpPr>
        <p:spPr>
          <a:xfrm>
            <a:off x="4609947" y="5250177"/>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42" name="Picture 41" descr="lock.png"/>
          <p:cNvPicPr>
            <a:picLocks noChangeAspect="1"/>
          </p:cNvPicPr>
          <p:nvPr/>
        </p:nvPicPr>
        <p:blipFill>
          <a:blip r:embed="rId7"/>
          <a:stretch>
            <a:fillRect/>
          </a:stretch>
        </p:blipFill>
        <p:spPr>
          <a:xfrm>
            <a:off x="5944616" y="5239954"/>
            <a:ext cx="134549" cy="195707"/>
          </a:xfrm>
          <a:prstGeom prst="rect">
            <a:avLst/>
          </a:prstGeom>
        </p:spPr>
      </p:pic>
      <p:sp>
        <p:nvSpPr>
          <p:cNvPr id="43" name="TextBox 42"/>
          <p:cNvSpPr txBox="1"/>
          <p:nvPr/>
        </p:nvSpPr>
        <p:spPr>
          <a:xfrm>
            <a:off x="6119725" y="5250177"/>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44" name="Picture 43" descr="lock.png"/>
          <p:cNvPicPr>
            <a:picLocks noChangeAspect="1"/>
          </p:cNvPicPr>
          <p:nvPr/>
        </p:nvPicPr>
        <p:blipFill>
          <a:blip r:embed="rId7"/>
          <a:stretch>
            <a:fillRect/>
          </a:stretch>
        </p:blipFill>
        <p:spPr>
          <a:xfrm>
            <a:off x="7675181" y="5239954"/>
            <a:ext cx="134549" cy="195707"/>
          </a:xfrm>
          <a:prstGeom prst="rect">
            <a:avLst/>
          </a:prstGeom>
        </p:spPr>
      </p:pic>
      <p:sp>
        <p:nvSpPr>
          <p:cNvPr id="45" name="TextBox 44"/>
          <p:cNvSpPr txBox="1"/>
          <p:nvPr/>
        </p:nvSpPr>
        <p:spPr>
          <a:xfrm>
            <a:off x="7850290" y="5250177"/>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6" name="TextBox 45"/>
          <p:cNvSpPr txBox="1"/>
          <p:nvPr/>
        </p:nvSpPr>
        <p:spPr>
          <a:xfrm>
            <a:off x="276225" y="5478015"/>
            <a:ext cx="1661035" cy="194310"/>
          </a:xfrm>
          <a:prstGeom prst="rect">
            <a:avLst/>
          </a:prstGeom>
          <a:noFill/>
        </p:spPr>
        <p:txBody>
          <a:bodyPr wrap="none" lIns="0" rIns="0" tIns="0" bIns="0">
            <a:spAutoFit/>
          </a:bodyPr>
          <a:lstStyle/>
          <a:p>
            <a:r>
              <a:rPr sz="1150" b="0">
                <a:solidFill>
                  <a:srgbClr val="2E2E2E"/>
                </a:solidFill>
                <a:latin typeface="Calibri"/>
              </a:rPr>
              <a:t>▪ East Asia: 'Sika' leads at ~</a:t>
            </a:r>
          </a:p>
        </p:txBody>
      </p:sp>
      <p:pic>
        <p:nvPicPr>
          <p:cNvPr id="47" name="Picture 46" descr="lock.png"/>
          <p:cNvPicPr>
            <a:picLocks noChangeAspect="1"/>
          </p:cNvPicPr>
          <p:nvPr/>
        </p:nvPicPr>
        <p:blipFill>
          <a:blip r:embed="rId7"/>
          <a:stretch>
            <a:fillRect/>
          </a:stretch>
        </p:blipFill>
        <p:spPr>
          <a:xfrm>
            <a:off x="1886413" y="5467792"/>
            <a:ext cx="134549" cy="195707"/>
          </a:xfrm>
          <a:prstGeom prst="rect">
            <a:avLst/>
          </a:prstGeom>
        </p:spPr>
      </p:pic>
      <p:sp>
        <p:nvSpPr>
          <p:cNvPr id="48" name="TextBox 47"/>
          <p:cNvSpPr txBox="1"/>
          <p:nvPr/>
        </p:nvSpPr>
        <p:spPr>
          <a:xfrm>
            <a:off x="2061523" y="5478015"/>
            <a:ext cx="1587189" cy="194310"/>
          </a:xfrm>
          <a:prstGeom prst="rect">
            <a:avLst/>
          </a:prstGeom>
          <a:noFill/>
        </p:spPr>
        <p:txBody>
          <a:bodyPr wrap="none" lIns="0" rIns="0" tIns="0" bIns="0">
            <a:spAutoFit/>
          </a:bodyPr>
          <a:lstStyle/>
          <a:p>
            <a:r>
              <a:rPr sz="1150" b="0">
                <a:solidFill>
                  <a:srgbClr val="2E2E2E"/>
                </a:solidFill>
                <a:latin typeface="Calibri"/>
              </a:rPr>
              <a:t>, ahead of 'Akzo Nobel' (~</a:t>
            </a:r>
          </a:p>
        </p:txBody>
      </p:sp>
      <p:pic>
        <p:nvPicPr>
          <p:cNvPr id="49" name="Picture 48" descr="lock.png"/>
          <p:cNvPicPr>
            <a:picLocks noChangeAspect="1"/>
          </p:cNvPicPr>
          <p:nvPr/>
        </p:nvPicPr>
        <p:blipFill>
          <a:blip r:embed="rId7"/>
          <a:stretch>
            <a:fillRect/>
          </a:stretch>
        </p:blipFill>
        <p:spPr>
          <a:xfrm>
            <a:off x="3597867" y="5467792"/>
            <a:ext cx="134549" cy="195707"/>
          </a:xfrm>
          <a:prstGeom prst="rect">
            <a:avLst/>
          </a:prstGeom>
        </p:spPr>
      </p:pic>
      <p:sp>
        <p:nvSpPr>
          <p:cNvPr id="50" name="TextBox 49"/>
          <p:cNvSpPr txBox="1"/>
          <p:nvPr/>
        </p:nvSpPr>
        <p:spPr>
          <a:xfrm>
            <a:off x="3772976" y="5478015"/>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51" name="Picture 50" descr="lock.png"/>
          <p:cNvPicPr>
            <a:picLocks noChangeAspect="1"/>
          </p:cNvPicPr>
          <p:nvPr/>
        </p:nvPicPr>
        <p:blipFill>
          <a:blip r:embed="rId7"/>
          <a:stretch>
            <a:fillRect/>
          </a:stretch>
        </p:blipFill>
        <p:spPr>
          <a:xfrm>
            <a:off x="5107645" y="5467792"/>
            <a:ext cx="134549" cy="195707"/>
          </a:xfrm>
          <a:prstGeom prst="rect">
            <a:avLst/>
          </a:prstGeom>
        </p:spPr>
      </p:pic>
      <p:sp>
        <p:nvSpPr>
          <p:cNvPr id="52" name="TextBox 51"/>
          <p:cNvSpPr txBox="1"/>
          <p:nvPr/>
        </p:nvSpPr>
        <p:spPr>
          <a:xfrm>
            <a:off x="5282755" y="5478015"/>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53" name="Picture 52" descr="lock.png"/>
          <p:cNvPicPr>
            <a:picLocks noChangeAspect="1"/>
          </p:cNvPicPr>
          <p:nvPr/>
        </p:nvPicPr>
        <p:blipFill>
          <a:blip r:embed="rId7"/>
          <a:stretch>
            <a:fillRect/>
          </a:stretch>
        </p:blipFill>
        <p:spPr>
          <a:xfrm>
            <a:off x="6838210" y="5467792"/>
            <a:ext cx="134549" cy="195707"/>
          </a:xfrm>
          <a:prstGeom prst="rect">
            <a:avLst/>
          </a:prstGeom>
        </p:spPr>
      </p:pic>
      <p:sp>
        <p:nvSpPr>
          <p:cNvPr id="54" name="TextBox 53"/>
          <p:cNvSpPr txBox="1"/>
          <p:nvPr/>
        </p:nvSpPr>
        <p:spPr>
          <a:xfrm>
            <a:off x="7013320" y="547801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55" name="TextBox 54"/>
          <p:cNvSpPr txBox="1"/>
          <p:nvPr/>
        </p:nvSpPr>
        <p:spPr>
          <a:xfrm>
            <a:off x="276225" y="5705853"/>
            <a:ext cx="9705801" cy="194310"/>
          </a:xfrm>
          <a:prstGeom prst="rect">
            <a:avLst/>
          </a:prstGeom>
          <a:noFill/>
        </p:spPr>
        <p:txBody>
          <a:bodyPr wrap="none" lIns="0" rIns="0" tIns="0" bIns="0">
            <a:spAutoFit/>
          </a:bodyPr>
          <a:lstStyle/>
          <a:p>
            <a:r>
              <a:rPr sz="1150" b="0">
                <a:solidFill>
                  <a:srgbClr val="2E2E2E"/>
                </a:solidFill>
                <a:latin typeface="Calibri"/>
              </a:rPr>
              <a:t>▪ Leadership is not uniform across geographies a strong position in one region does not carry over to the others, so region-level go-to-market planning is essential.</a:t>
            </a:r>
          </a:p>
        </p:txBody>
      </p:sp>
      <p:sp>
        <p:nvSpPr>
          <p:cNvPr id="56" name="TextBox 55"/>
          <p:cNvSpPr txBox="1"/>
          <p:nvPr/>
        </p:nvSpPr>
        <p:spPr>
          <a:xfrm>
            <a:off x="276225" y="5933691"/>
            <a:ext cx="7218957" cy="194310"/>
          </a:xfrm>
          <a:prstGeom prst="rect">
            <a:avLst/>
          </a:prstGeom>
          <a:noFill/>
        </p:spPr>
        <p:txBody>
          <a:bodyPr wrap="none" lIns="0" rIns="0" tIns="0" bIns="0">
            <a:spAutoFit/>
          </a:bodyPr>
          <a:lstStyle/>
          <a:p>
            <a:r>
              <a:rPr sz="1150" b="0">
                <a:solidFill>
                  <a:srgbClr val="2E2E2E"/>
                </a:solidFill>
                <a:latin typeface="Calibri"/>
              </a:rPr>
              <a:t>▪ Note: competitor figures are indicative derived from market modelling and expert validation, not company disclosures.</a:t>
            </a:r>
          </a:p>
        </p:txBody>
      </p:sp>
      <p:sp>
        <p:nvSpPr>
          <p:cNvPr id="57" name="lockshield_13"/>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ockshield_16"/>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ockshield_19"/>
          <p:cNvSpPr/>
          <p:nvPr/>
        </p:nvSpPr>
        <p:spPr>
          <a:xfrm>
            <a:off x="8201025" y="1585070"/>
            <a:ext cx="37528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Waterproof Coatings Market Who Shaped Growth</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Ranking of the players that shaped growth, by value share, growth role and signature move</a:t>
            </a:r>
          </a:p>
        </p:txBody>
      </p:sp>
      <p:sp>
        <p:nvSpPr>
          <p:cNvPr id="10" name="TextBox 9"/>
          <p:cNvSpPr txBox="1"/>
          <p:nvPr/>
        </p:nvSpPr>
        <p:spPr>
          <a:xfrm>
            <a:off x="142875" y="970754"/>
            <a:ext cx="11906250" cy="182537"/>
          </a:xfrm>
          <a:prstGeom prst="rect">
            <a:avLst/>
          </a:prstGeom>
          <a:noFill/>
        </p:spPr>
        <p:txBody>
          <a:bodyPr wrap="square" lIns="28575" rIns="28575" tIns="9525" bIns="9525" anchor="ctr">
            <a:spAutoFit/>
          </a:bodyPr>
          <a:lstStyle/>
          <a:p>
            <a:pPr algn="l"/>
            <a:r>
              <a:rPr sz="1100" b="0">
                <a:solidFill>
                  <a:srgbClr val="6C7A89"/>
                </a:solidFill>
                <a:latin typeface="Calibri"/>
              </a:rPr>
              <a:t>A framework to identify the companies that most influenced annual Waterproof Coatings Market growth, ranked by growth-shaping impact.</a:t>
            </a:r>
          </a:p>
        </p:txBody>
      </p:sp>
      <p:sp>
        <p:nvSpPr>
          <p:cNvPr id="11" name="Rounded Rectangle 10"/>
          <p:cNvSpPr/>
          <p:nvPr/>
        </p:nvSpPr>
        <p:spPr>
          <a:xfrm>
            <a:off x="3619500" y="1189798"/>
            <a:ext cx="4953000" cy="419835"/>
          </a:xfrm>
          <a:prstGeom prst="roundRect">
            <a:avLst>
              <a:gd name="adj" fmla="val 1538"/>
            </a:avLst>
          </a:prstGeom>
          <a:solidFill>
            <a:srgbClr val="F4F8FB"/>
          </a:solidFill>
          <a:ln w="12700">
            <a:solidFill>
              <a:srgbClr val="CF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33800" y="1226305"/>
            <a:ext cx="4724400" cy="173410"/>
          </a:xfrm>
          <a:prstGeom prst="rect">
            <a:avLst/>
          </a:prstGeom>
          <a:noFill/>
        </p:spPr>
        <p:txBody>
          <a:bodyPr wrap="square" lIns="28575" rIns="28575" tIns="9525" bIns="9525" anchor="ctr">
            <a:spAutoFit/>
          </a:bodyPr>
          <a:lstStyle/>
          <a:p>
            <a:pPr algn="ctr"/>
            <a:r>
              <a:rPr sz="1100" b="1">
                <a:solidFill>
                  <a:srgbClr val="0B2E4A"/>
                </a:solidFill>
                <a:latin typeface="Calibri"/>
              </a:rPr>
              <a:t>RANKED BY GROWTH-SHAPING IMPACT</a:t>
            </a:r>
          </a:p>
        </p:txBody>
      </p:sp>
      <p:sp>
        <p:nvSpPr>
          <p:cNvPr id="13" name="TextBox 12"/>
          <p:cNvSpPr txBox="1"/>
          <p:nvPr/>
        </p:nvSpPr>
        <p:spPr>
          <a:xfrm>
            <a:off x="3733800" y="1399716"/>
            <a:ext cx="4724400" cy="173410"/>
          </a:xfrm>
          <a:prstGeom prst="rect">
            <a:avLst/>
          </a:prstGeom>
          <a:noFill/>
        </p:spPr>
        <p:txBody>
          <a:bodyPr wrap="square" lIns="28575" rIns="28575" tIns="9525" bIns="9525" anchor="ctr">
            <a:spAutoFit/>
          </a:bodyPr>
          <a:lstStyle/>
          <a:p>
            <a:pPr algn="ctr"/>
            <a:r>
              <a:rPr sz="1100" b="0">
                <a:solidFill>
                  <a:srgbClr val="6C7A89"/>
                </a:solidFill>
                <a:latin typeface="Calibri"/>
              </a:rPr>
              <a:t>Ranked by overall contribution to category growth, not share alone.</a:t>
            </a:r>
          </a:p>
        </p:txBody>
      </p:sp>
      <p:cxnSp>
        <p:nvCxnSpPr>
          <p:cNvPr id="14" name="Connector 13"/>
          <p:cNvCxnSpPr/>
          <p:nvPr/>
        </p:nvCxnSpPr>
        <p:spPr>
          <a:xfrm>
            <a:off x="428625"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743950"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23875" y="1792170"/>
            <a:ext cx="11106150" cy="0"/>
          </a:xfrm>
          <a:prstGeom prst="line">
            <a:avLst/>
          </a:prstGeom>
          <a:ln w="25400">
            <a:solidFill>
              <a:srgbClr val="0B2E4A"/>
            </a:solidFill>
          </a:ln>
          <a:effectLst/>
        </p:spPr>
        <p:style>
          <a:lnRef idx="2">
            <a:schemeClr val="accent1"/>
          </a:lnRef>
          <a:fillRef idx="0">
            <a:schemeClr val="accent1"/>
          </a:fillRef>
          <a:effectRef idx="1">
            <a:schemeClr val="accent1"/>
          </a:effectRef>
          <a:fontRef idx="minor">
            <a:schemeClr val="tx1"/>
          </a:fontRef>
        </p:style>
      </p:cxnSp>
      <p:sp>
        <p:nvSpPr>
          <p:cNvPr id="17" name="Freeform 16"/>
          <p:cNvSpPr/>
          <p:nvPr/>
        </p:nvSpPr>
        <p:spPr>
          <a:xfrm>
            <a:off x="11630025" y="1728282"/>
            <a:ext cx="171450" cy="127776"/>
          </a:xfrm>
          <a:custGeom>
            <a:avLst/>
            <a:gdLst/>
            <a:ahLst/>
            <a:cxnLst/>
            <a:rect l="l" t="t" r="r" b="b"/>
            <a:pathLst>
              <a:path w="18" h="14">
                <a:moveTo>
                  <a:pt x="0" y="0"/>
                </a:moveTo>
                <a:lnTo>
                  <a:pt x="18" y="7"/>
                </a:lnTo>
                <a:lnTo>
                  <a:pt x="0" y="14"/>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52525" y="1655267"/>
            <a:ext cx="285750" cy="273805"/>
          </a:xfrm>
          <a:prstGeom prst="ellipse">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525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0" name="Rounded Rectangle 19"/>
          <p:cNvSpPr/>
          <p:nvPr/>
        </p:nvSpPr>
        <p:spPr>
          <a:xfrm>
            <a:off x="142875" y="1992961"/>
            <a:ext cx="2305050" cy="2135683"/>
          </a:xfrm>
          <a:prstGeom prst="roundRect">
            <a:avLst>
              <a:gd name="adj" fmla="val 3719"/>
            </a:avLst>
          </a:prstGeom>
          <a:solidFill>
            <a:srgbClr val="FFFFFF"/>
          </a:solidFill>
          <a:ln w="2032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42875" y="1992961"/>
            <a:ext cx="2305050" cy="310313"/>
          </a:xfrm>
          <a:prstGeom prst="roundRect">
            <a:avLst>
              <a:gd name="adj" fmla="val 3719"/>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571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71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24" name="TextBox 23"/>
          <p:cNvSpPr txBox="1"/>
          <p:nvPr/>
        </p:nvSpPr>
        <p:spPr>
          <a:xfrm>
            <a:off x="5238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Sika</a:t>
            </a:r>
          </a:p>
        </p:txBody>
      </p:sp>
      <p:sp>
        <p:nvSpPr>
          <p:cNvPr id="25" name="TextBox 24"/>
          <p:cNvSpPr txBox="1"/>
          <p:nvPr/>
        </p:nvSpPr>
        <p:spPr>
          <a:xfrm>
            <a:off x="2381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 name="TextBox 25"/>
          <p:cNvSpPr txBox="1"/>
          <p:nvPr/>
        </p:nvSpPr>
        <p:spPr>
          <a:xfrm>
            <a:off x="4286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27" name="Connector 26"/>
          <p:cNvCxnSpPr/>
          <p:nvPr/>
        </p:nvCxnSpPr>
        <p:spPr>
          <a:xfrm>
            <a:off x="2381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381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9" name="TextBox 28"/>
          <p:cNvSpPr txBox="1"/>
          <p:nvPr/>
        </p:nvSpPr>
        <p:spPr>
          <a:xfrm>
            <a:off x="4286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30" name="TextBox 29"/>
          <p:cNvSpPr txBox="1"/>
          <p:nvPr/>
        </p:nvSpPr>
        <p:spPr>
          <a:xfrm>
            <a:off x="428625" y="2805250"/>
            <a:ext cx="1924050" cy="164283"/>
          </a:xfrm>
          <a:prstGeom prst="rect">
            <a:avLst/>
          </a:prstGeom>
          <a:noFill/>
        </p:spPr>
        <p:txBody>
          <a:bodyPr wrap="square" lIns="28575" rIns="28575" tIns="9525" bIns="9525" anchor="ctr">
            <a:spAutoFit/>
          </a:bodyPr>
          <a:lstStyle/>
          <a:p>
            <a:pPr algn="l"/>
            <a:r>
              <a:rPr sz="1100" b="1">
                <a:solidFill>
                  <a:srgbClr val="0E72AE"/>
                </a:solidFill>
                <a:latin typeface="Calibri"/>
              </a:rPr>
              <a:t>Market leader</a:t>
            </a:r>
          </a:p>
        </p:txBody>
      </p:sp>
      <p:cxnSp>
        <p:nvCxnSpPr>
          <p:cNvPr id="31" name="Connector 30"/>
          <p:cNvCxnSpPr/>
          <p:nvPr/>
        </p:nvCxnSpPr>
        <p:spPr>
          <a:xfrm>
            <a:off x="2381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381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3" name="TextBox 32"/>
          <p:cNvSpPr txBox="1"/>
          <p:nvPr/>
        </p:nvSpPr>
        <p:spPr>
          <a:xfrm>
            <a:off x="4286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34" name="TextBox 33"/>
          <p:cNvSpPr txBox="1"/>
          <p:nvPr/>
        </p:nvSpPr>
        <p:spPr>
          <a:xfrm>
            <a:off x="4286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Expanded reach across its core segment</a:t>
            </a:r>
          </a:p>
        </p:txBody>
      </p:sp>
      <p:cxnSp>
        <p:nvCxnSpPr>
          <p:cNvPr id="35" name="Connector 34"/>
          <p:cNvCxnSpPr/>
          <p:nvPr/>
        </p:nvCxnSpPr>
        <p:spPr>
          <a:xfrm>
            <a:off x="2381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381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7" name="TextBox 36"/>
          <p:cNvSpPr txBox="1"/>
          <p:nvPr/>
        </p:nvSpPr>
        <p:spPr>
          <a:xfrm>
            <a:off x="4286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38" name="TextBox 37"/>
          <p:cNvSpPr txBox="1"/>
          <p:nvPr/>
        </p:nvSpPr>
        <p:spPr>
          <a:xfrm>
            <a:off x="4286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New launch</a:t>
            </a:r>
          </a:p>
        </p:txBody>
      </p:sp>
      <p:sp>
        <p:nvSpPr>
          <p:cNvPr id="39" name="Oval 38"/>
          <p:cNvSpPr/>
          <p:nvPr/>
        </p:nvSpPr>
        <p:spPr>
          <a:xfrm>
            <a:off x="3552825" y="1655267"/>
            <a:ext cx="285750" cy="27380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528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1" name="Rounded Rectangle 40"/>
          <p:cNvSpPr/>
          <p:nvPr/>
        </p:nvSpPr>
        <p:spPr>
          <a:xfrm>
            <a:off x="2543175" y="1992961"/>
            <a:ext cx="2305050" cy="2135683"/>
          </a:xfrm>
          <a:prstGeom prst="roundRect">
            <a:avLst>
              <a:gd name="adj" fmla="val 3719"/>
            </a:avLst>
          </a:prstGeom>
          <a:solidFill>
            <a:srgbClr val="FFFFFF"/>
          </a:solidFill>
          <a:ln w="2032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2543175" y="1992961"/>
            <a:ext cx="2305050" cy="310313"/>
          </a:xfrm>
          <a:prstGeom prst="roundRect">
            <a:avLst>
              <a:gd name="adj" fmla="val 3719"/>
            </a:avLst>
          </a:prstGeom>
          <a:solidFill>
            <a:srgbClr val="A35313"/>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26574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6574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45" name="TextBox 44"/>
          <p:cNvSpPr txBox="1"/>
          <p:nvPr/>
        </p:nvSpPr>
        <p:spPr>
          <a:xfrm>
            <a:off x="29241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The Sherwin-Williams</a:t>
            </a:r>
          </a:p>
        </p:txBody>
      </p:sp>
      <p:sp>
        <p:nvSpPr>
          <p:cNvPr id="46" name="TextBox 45"/>
          <p:cNvSpPr txBox="1"/>
          <p:nvPr/>
        </p:nvSpPr>
        <p:spPr>
          <a:xfrm>
            <a:off x="26384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7" name="TextBox 46"/>
          <p:cNvSpPr txBox="1"/>
          <p:nvPr/>
        </p:nvSpPr>
        <p:spPr>
          <a:xfrm>
            <a:off x="28289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48" name="Connector 47"/>
          <p:cNvCxnSpPr/>
          <p:nvPr/>
        </p:nvCxnSpPr>
        <p:spPr>
          <a:xfrm>
            <a:off x="26384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26384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0" name="TextBox 49"/>
          <p:cNvSpPr txBox="1"/>
          <p:nvPr/>
        </p:nvSpPr>
        <p:spPr>
          <a:xfrm>
            <a:off x="28289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51" name="TextBox 50"/>
          <p:cNvSpPr txBox="1"/>
          <p:nvPr/>
        </p:nvSpPr>
        <p:spPr>
          <a:xfrm>
            <a:off x="2828925" y="2805250"/>
            <a:ext cx="1924050" cy="164283"/>
          </a:xfrm>
          <a:prstGeom prst="rect">
            <a:avLst/>
          </a:prstGeom>
          <a:noFill/>
        </p:spPr>
        <p:txBody>
          <a:bodyPr wrap="square" lIns="28575" rIns="28575" tIns="9525" bIns="9525" anchor="ctr">
            <a:spAutoFit/>
          </a:bodyPr>
          <a:lstStyle/>
          <a:p>
            <a:pPr algn="l"/>
            <a:r>
              <a:rPr sz="1100" b="1">
                <a:solidFill>
                  <a:srgbClr val="A35313"/>
                </a:solidFill>
                <a:latin typeface="Calibri"/>
              </a:rPr>
              <a:t>Portfolio expander</a:t>
            </a:r>
          </a:p>
        </p:txBody>
      </p:sp>
      <p:cxnSp>
        <p:nvCxnSpPr>
          <p:cNvPr id="52" name="Connector 51"/>
          <p:cNvCxnSpPr/>
          <p:nvPr/>
        </p:nvCxnSpPr>
        <p:spPr>
          <a:xfrm>
            <a:off x="26384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26384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4" name="TextBox 53"/>
          <p:cNvSpPr txBox="1"/>
          <p:nvPr/>
        </p:nvSpPr>
        <p:spPr>
          <a:xfrm>
            <a:off x="28289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55" name="TextBox 54"/>
          <p:cNvSpPr txBox="1"/>
          <p:nvPr/>
        </p:nvSpPr>
        <p:spPr>
          <a:xfrm>
            <a:off x="28289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Drove new customer adoption</a:t>
            </a:r>
          </a:p>
        </p:txBody>
      </p:sp>
      <p:cxnSp>
        <p:nvCxnSpPr>
          <p:cNvPr id="56" name="Connector 55"/>
          <p:cNvCxnSpPr/>
          <p:nvPr/>
        </p:nvCxnSpPr>
        <p:spPr>
          <a:xfrm>
            <a:off x="26384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26384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8" name="TextBox 57"/>
          <p:cNvSpPr txBox="1"/>
          <p:nvPr/>
        </p:nvSpPr>
        <p:spPr>
          <a:xfrm>
            <a:off x="28289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59" name="TextBox 58"/>
          <p:cNvSpPr txBox="1"/>
          <p:nvPr/>
        </p:nvSpPr>
        <p:spPr>
          <a:xfrm>
            <a:off x="28289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Channel expansion</a:t>
            </a:r>
          </a:p>
        </p:txBody>
      </p:sp>
      <p:sp>
        <p:nvSpPr>
          <p:cNvPr id="60" name="Oval 59"/>
          <p:cNvSpPr/>
          <p:nvPr/>
        </p:nvSpPr>
        <p:spPr>
          <a:xfrm>
            <a:off x="5953125" y="1655267"/>
            <a:ext cx="285750" cy="273805"/>
          </a:xfrm>
          <a:prstGeom prst="ellipse">
            <a:avLst/>
          </a:prstGeom>
          <a:solidFill>
            <a:srgbClr val="69B1E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9531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3</a:t>
            </a:r>
          </a:p>
        </p:txBody>
      </p:sp>
      <p:sp>
        <p:nvSpPr>
          <p:cNvPr id="62" name="Rounded Rectangle 61"/>
          <p:cNvSpPr/>
          <p:nvPr/>
        </p:nvSpPr>
        <p:spPr>
          <a:xfrm>
            <a:off x="4943475" y="1992961"/>
            <a:ext cx="2305050" cy="2135683"/>
          </a:xfrm>
          <a:prstGeom prst="roundRect">
            <a:avLst>
              <a:gd name="adj" fmla="val 3719"/>
            </a:avLst>
          </a:prstGeom>
          <a:solidFill>
            <a:srgbClr val="FFFFFF"/>
          </a:solidFill>
          <a:ln w="2032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4943475" y="1992961"/>
            <a:ext cx="2305050" cy="310313"/>
          </a:xfrm>
          <a:prstGeom prst="roundRect">
            <a:avLst>
              <a:gd name="adj" fmla="val 3719"/>
            </a:avLst>
          </a:prstGeom>
          <a:solidFill>
            <a:srgbClr val="69B1E0"/>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50577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577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66" name="TextBox 65"/>
          <p:cNvSpPr txBox="1"/>
          <p:nvPr/>
        </p:nvSpPr>
        <p:spPr>
          <a:xfrm>
            <a:off x="53244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PPG Industries</a:t>
            </a:r>
          </a:p>
        </p:txBody>
      </p:sp>
      <p:sp>
        <p:nvSpPr>
          <p:cNvPr id="67" name="TextBox 66"/>
          <p:cNvSpPr txBox="1"/>
          <p:nvPr/>
        </p:nvSpPr>
        <p:spPr>
          <a:xfrm>
            <a:off x="50387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8" name="TextBox 67"/>
          <p:cNvSpPr txBox="1"/>
          <p:nvPr/>
        </p:nvSpPr>
        <p:spPr>
          <a:xfrm>
            <a:off x="52292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69" name="Connector 68"/>
          <p:cNvCxnSpPr/>
          <p:nvPr/>
        </p:nvCxnSpPr>
        <p:spPr>
          <a:xfrm>
            <a:off x="50387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50387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1" name="TextBox 70"/>
          <p:cNvSpPr txBox="1"/>
          <p:nvPr/>
        </p:nvSpPr>
        <p:spPr>
          <a:xfrm>
            <a:off x="52292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72" name="TextBox 71"/>
          <p:cNvSpPr txBox="1"/>
          <p:nvPr/>
        </p:nvSpPr>
        <p:spPr>
          <a:xfrm>
            <a:off x="5229225" y="2805250"/>
            <a:ext cx="1924050" cy="164283"/>
          </a:xfrm>
          <a:prstGeom prst="rect">
            <a:avLst/>
          </a:prstGeom>
          <a:noFill/>
        </p:spPr>
        <p:txBody>
          <a:bodyPr wrap="square" lIns="28575" rIns="28575" tIns="9525" bIns="9525" anchor="ctr">
            <a:spAutoFit/>
          </a:bodyPr>
          <a:lstStyle/>
          <a:p>
            <a:pPr algn="l"/>
            <a:r>
              <a:rPr sz="1100" b="1">
                <a:solidFill>
                  <a:srgbClr val="69B1E0"/>
                </a:solidFill>
                <a:latin typeface="Calibri"/>
              </a:rPr>
              <a:t>Access builder</a:t>
            </a:r>
          </a:p>
        </p:txBody>
      </p:sp>
      <p:cxnSp>
        <p:nvCxnSpPr>
          <p:cNvPr id="73" name="Connector 72"/>
          <p:cNvCxnSpPr/>
          <p:nvPr/>
        </p:nvCxnSpPr>
        <p:spPr>
          <a:xfrm>
            <a:off x="50387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0387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5" name="TextBox 74"/>
          <p:cNvSpPr txBox="1"/>
          <p:nvPr/>
        </p:nvSpPr>
        <p:spPr>
          <a:xfrm>
            <a:off x="52292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76" name="TextBox 75"/>
          <p:cNvSpPr txBox="1"/>
          <p:nvPr/>
        </p:nvSpPr>
        <p:spPr>
          <a:xfrm>
            <a:off x="52292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Won through wider channel availability</a:t>
            </a:r>
          </a:p>
        </p:txBody>
      </p:sp>
      <p:cxnSp>
        <p:nvCxnSpPr>
          <p:cNvPr id="77" name="Connector 76"/>
          <p:cNvCxnSpPr/>
          <p:nvPr/>
        </p:nvCxnSpPr>
        <p:spPr>
          <a:xfrm>
            <a:off x="50387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50387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9" name="TextBox 78"/>
          <p:cNvSpPr txBox="1"/>
          <p:nvPr/>
        </p:nvSpPr>
        <p:spPr>
          <a:xfrm>
            <a:off x="52292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80" name="TextBox 79"/>
          <p:cNvSpPr txBox="1"/>
          <p:nvPr/>
        </p:nvSpPr>
        <p:spPr>
          <a:xfrm>
            <a:off x="52292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Pricing strategy</a:t>
            </a:r>
          </a:p>
        </p:txBody>
      </p:sp>
      <p:sp>
        <p:nvSpPr>
          <p:cNvPr id="81" name="Oval 80"/>
          <p:cNvSpPr/>
          <p:nvPr/>
        </p:nvSpPr>
        <p:spPr>
          <a:xfrm>
            <a:off x="8353425" y="1655267"/>
            <a:ext cx="285750" cy="273805"/>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3534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4</a:t>
            </a:r>
          </a:p>
        </p:txBody>
      </p:sp>
      <p:sp>
        <p:nvSpPr>
          <p:cNvPr id="83" name="Rounded Rectangle 82"/>
          <p:cNvSpPr/>
          <p:nvPr/>
        </p:nvSpPr>
        <p:spPr>
          <a:xfrm>
            <a:off x="7343775" y="1992961"/>
            <a:ext cx="2305050" cy="2135683"/>
          </a:xfrm>
          <a:prstGeom prst="roundRect">
            <a:avLst>
              <a:gd name="adj" fmla="val 3719"/>
            </a:avLst>
          </a:prstGeom>
          <a:solidFill>
            <a:srgbClr val="FFFFFF"/>
          </a:solidFill>
          <a:ln w="2032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7343775" y="1992961"/>
            <a:ext cx="2305050" cy="310313"/>
          </a:xfrm>
          <a:prstGeom prst="roundRect">
            <a:avLst>
              <a:gd name="adj" fmla="val 3719"/>
            </a:avLst>
          </a:prstGeom>
          <a:solidFill>
            <a:srgbClr val="6F3CC2"/>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74580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4580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87" name="TextBox 86"/>
          <p:cNvSpPr txBox="1"/>
          <p:nvPr/>
        </p:nvSpPr>
        <p:spPr>
          <a:xfrm>
            <a:off x="77247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Akzo Nobel</a:t>
            </a:r>
          </a:p>
        </p:txBody>
      </p:sp>
      <p:sp>
        <p:nvSpPr>
          <p:cNvPr id="88" name="TextBox 87"/>
          <p:cNvSpPr txBox="1"/>
          <p:nvPr/>
        </p:nvSpPr>
        <p:spPr>
          <a:xfrm>
            <a:off x="74390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9" name="TextBox 88"/>
          <p:cNvSpPr txBox="1"/>
          <p:nvPr/>
        </p:nvSpPr>
        <p:spPr>
          <a:xfrm>
            <a:off x="76295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90" name="Connector 89"/>
          <p:cNvCxnSpPr/>
          <p:nvPr/>
        </p:nvCxnSpPr>
        <p:spPr>
          <a:xfrm>
            <a:off x="74390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74390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2" name="TextBox 91"/>
          <p:cNvSpPr txBox="1"/>
          <p:nvPr/>
        </p:nvSpPr>
        <p:spPr>
          <a:xfrm>
            <a:off x="76295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93" name="TextBox 92"/>
          <p:cNvSpPr txBox="1"/>
          <p:nvPr/>
        </p:nvSpPr>
        <p:spPr>
          <a:xfrm>
            <a:off x="7629525" y="2805250"/>
            <a:ext cx="1924050" cy="164283"/>
          </a:xfrm>
          <a:prstGeom prst="rect">
            <a:avLst/>
          </a:prstGeom>
          <a:noFill/>
        </p:spPr>
        <p:txBody>
          <a:bodyPr wrap="square" lIns="28575" rIns="28575" tIns="9525" bIns="9525" anchor="ctr">
            <a:spAutoFit/>
          </a:bodyPr>
          <a:lstStyle/>
          <a:p>
            <a:pPr algn="l"/>
            <a:r>
              <a:rPr sz="1100" b="1">
                <a:solidFill>
                  <a:srgbClr val="6F3CC2"/>
                </a:solidFill>
                <a:latin typeface="Calibri"/>
              </a:rPr>
              <a:t>Premiumiser</a:t>
            </a:r>
          </a:p>
        </p:txBody>
      </p:sp>
      <p:cxnSp>
        <p:nvCxnSpPr>
          <p:cNvPr id="94" name="Connector 93"/>
          <p:cNvCxnSpPr/>
          <p:nvPr/>
        </p:nvCxnSpPr>
        <p:spPr>
          <a:xfrm>
            <a:off x="74390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74390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6" name="TextBox 95"/>
          <p:cNvSpPr txBox="1"/>
          <p:nvPr/>
        </p:nvSpPr>
        <p:spPr>
          <a:xfrm>
            <a:off x="76295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97" name="TextBox 96"/>
          <p:cNvSpPr txBox="1"/>
          <p:nvPr/>
        </p:nvSpPr>
        <p:spPr>
          <a:xfrm>
            <a:off x="76295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Supported premium SKU growth</a:t>
            </a:r>
          </a:p>
        </p:txBody>
      </p:sp>
      <p:cxnSp>
        <p:nvCxnSpPr>
          <p:cNvPr id="98" name="Connector 97"/>
          <p:cNvCxnSpPr/>
          <p:nvPr/>
        </p:nvCxnSpPr>
        <p:spPr>
          <a:xfrm>
            <a:off x="74390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74390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0" name="TextBox 99"/>
          <p:cNvSpPr txBox="1"/>
          <p:nvPr/>
        </p:nvSpPr>
        <p:spPr>
          <a:xfrm>
            <a:off x="76295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101" name="TextBox 100"/>
          <p:cNvSpPr txBox="1"/>
          <p:nvPr/>
        </p:nvSpPr>
        <p:spPr>
          <a:xfrm>
            <a:off x="76295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Portfolio/brand investment</a:t>
            </a:r>
          </a:p>
        </p:txBody>
      </p:sp>
      <p:sp>
        <p:nvSpPr>
          <p:cNvPr id="102" name="Oval 101"/>
          <p:cNvSpPr/>
          <p:nvPr/>
        </p:nvSpPr>
        <p:spPr>
          <a:xfrm>
            <a:off x="10753725" y="1655267"/>
            <a:ext cx="285750" cy="27380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07537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5</a:t>
            </a:r>
          </a:p>
        </p:txBody>
      </p:sp>
      <p:sp>
        <p:nvSpPr>
          <p:cNvPr id="104" name="Rounded Rectangle 103"/>
          <p:cNvSpPr/>
          <p:nvPr/>
        </p:nvSpPr>
        <p:spPr>
          <a:xfrm>
            <a:off x="9744075" y="1992961"/>
            <a:ext cx="2305050" cy="2135683"/>
          </a:xfrm>
          <a:prstGeom prst="roundRect">
            <a:avLst>
              <a:gd name="adj" fmla="val 3719"/>
            </a:avLst>
          </a:prstGeom>
          <a:solidFill>
            <a:srgbClr val="FFFFFF"/>
          </a:solidFill>
          <a:ln w="2032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ounded Rectangle 104"/>
          <p:cNvSpPr/>
          <p:nvPr/>
        </p:nvSpPr>
        <p:spPr>
          <a:xfrm>
            <a:off x="9744075" y="1992961"/>
            <a:ext cx="2305050" cy="310313"/>
          </a:xfrm>
          <a:prstGeom prst="roundRect">
            <a:avLst>
              <a:gd name="adj" fmla="val 3719"/>
            </a:avLst>
          </a:prstGeom>
          <a:solidFill>
            <a:srgbClr val="A86F00"/>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98583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98583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108" name="TextBox 107"/>
          <p:cNvSpPr txBox="1"/>
          <p:nvPr/>
        </p:nvSpPr>
        <p:spPr>
          <a:xfrm>
            <a:off x="101250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BASF</a:t>
            </a:r>
          </a:p>
        </p:txBody>
      </p:sp>
      <p:sp>
        <p:nvSpPr>
          <p:cNvPr id="109" name="TextBox 108"/>
          <p:cNvSpPr txBox="1"/>
          <p:nvPr/>
        </p:nvSpPr>
        <p:spPr>
          <a:xfrm>
            <a:off x="98393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0" name="TextBox 109"/>
          <p:cNvSpPr txBox="1"/>
          <p:nvPr/>
        </p:nvSpPr>
        <p:spPr>
          <a:xfrm>
            <a:off x="100298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111" name="Connector 110"/>
          <p:cNvCxnSpPr/>
          <p:nvPr/>
        </p:nvCxnSpPr>
        <p:spPr>
          <a:xfrm>
            <a:off x="98393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98393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3" name="TextBox 112"/>
          <p:cNvSpPr txBox="1"/>
          <p:nvPr/>
        </p:nvSpPr>
        <p:spPr>
          <a:xfrm>
            <a:off x="100298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114" name="TextBox 113"/>
          <p:cNvSpPr txBox="1"/>
          <p:nvPr/>
        </p:nvSpPr>
        <p:spPr>
          <a:xfrm>
            <a:off x="10029825" y="2805250"/>
            <a:ext cx="1924050" cy="164283"/>
          </a:xfrm>
          <a:prstGeom prst="rect">
            <a:avLst/>
          </a:prstGeom>
          <a:noFill/>
        </p:spPr>
        <p:txBody>
          <a:bodyPr wrap="square" lIns="28575" rIns="28575" tIns="9525" bIns="9525" anchor="ctr">
            <a:spAutoFit/>
          </a:bodyPr>
          <a:lstStyle/>
          <a:p>
            <a:pPr algn="l"/>
            <a:r>
              <a:rPr sz="1100" b="1">
                <a:solidFill>
                  <a:srgbClr val="A86F00"/>
                </a:solidFill>
                <a:latin typeface="Calibri"/>
              </a:rPr>
              <a:t>Disruptor</a:t>
            </a:r>
          </a:p>
        </p:txBody>
      </p:sp>
      <p:cxnSp>
        <p:nvCxnSpPr>
          <p:cNvPr id="115" name="Connector 114"/>
          <p:cNvCxnSpPr/>
          <p:nvPr/>
        </p:nvCxnSpPr>
        <p:spPr>
          <a:xfrm>
            <a:off x="98393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98393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7" name="TextBox 116"/>
          <p:cNvSpPr txBox="1"/>
          <p:nvPr/>
        </p:nvSpPr>
        <p:spPr>
          <a:xfrm>
            <a:off x="100298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118" name="TextBox 117"/>
          <p:cNvSpPr txBox="1"/>
          <p:nvPr/>
        </p:nvSpPr>
        <p:spPr>
          <a:xfrm>
            <a:off x="100298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Strengthened end-user and specifier pull</a:t>
            </a:r>
          </a:p>
        </p:txBody>
      </p:sp>
      <p:cxnSp>
        <p:nvCxnSpPr>
          <p:cNvPr id="119" name="Connector 118"/>
          <p:cNvCxnSpPr/>
          <p:nvPr/>
        </p:nvCxnSpPr>
        <p:spPr>
          <a:xfrm>
            <a:off x="98393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98393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1" name="TextBox 120"/>
          <p:cNvSpPr txBox="1"/>
          <p:nvPr/>
        </p:nvSpPr>
        <p:spPr>
          <a:xfrm>
            <a:off x="100298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122" name="TextBox 121"/>
          <p:cNvSpPr txBox="1"/>
          <p:nvPr/>
        </p:nvSpPr>
        <p:spPr>
          <a:xfrm>
            <a:off x="100298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Partnership / acquisition</a:t>
            </a:r>
          </a:p>
        </p:txBody>
      </p:sp>
      <p:sp>
        <p:nvSpPr>
          <p:cNvPr id="123" name="Rounded Rectangle 122"/>
          <p:cNvSpPr/>
          <p:nvPr/>
        </p:nvSpPr>
        <p:spPr>
          <a:xfrm>
            <a:off x="142875" y="4238166"/>
            <a:ext cx="7886700" cy="2391234"/>
          </a:xfrm>
          <a:prstGeom prst="roundRect">
            <a:avLst>
              <a:gd name="adj" fmla="val 1086"/>
            </a:avLst>
          </a:prstGeom>
          <a:solidFill>
            <a:srgbClr val="F7FAFC"/>
          </a:solidFill>
          <a:ln w="12700">
            <a:solidFill>
              <a:srgbClr val="DC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42875" y="4311180"/>
            <a:ext cx="7886700" cy="182537"/>
          </a:xfrm>
          <a:prstGeom prst="rect">
            <a:avLst/>
          </a:prstGeom>
          <a:noFill/>
        </p:spPr>
        <p:txBody>
          <a:bodyPr wrap="square" lIns="28575" rIns="28575" tIns="9525" bIns="9525" anchor="ctr">
            <a:spAutoFit/>
          </a:bodyPr>
          <a:lstStyle/>
          <a:p>
            <a:pPr algn="ctr"/>
            <a:r>
              <a:rPr sz="1100" b="1">
                <a:solidFill>
                  <a:srgbClr val="0B2E4A"/>
                </a:solidFill>
                <a:latin typeface="Calibri"/>
              </a:rPr>
              <a:t>HOW TO DECIDE WHO SHAPED GROWTH</a:t>
            </a:r>
          </a:p>
        </p:txBody>
      </p:sp>
      <p:sp>
        <p:nvSpPr>
          <p:cNvPr id="125" name="Oval 124"/>
          <p:cNvSpPr/>
          <p:nvPr/>
        </p:nvSpPr>
        <p:spPr>
          <a:xfrm>
            <a:off x="815340" y="4539352"/>
            <a:ext cx="400050" cy="383328"/>
          </a:xfrm>
          <a:prstGeom prst="ellipse">
            <a:avLst/>
          </a:prstGeom>
          <a:solidFill>
            <a:srgbClr val="FFFFFF"/>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81534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27" name="TextBox 126"/>
          <p:cNvSpPr txBox="1"/>
          <p:nvPr/>
        </p:nvSpPr>
        <p:spPr>
          <a:xfrm>
            <a:off x="27622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0E72AE"/>
                </a:solidFill>
                <a:latin typeface="Calibri"/>
              </a:rPr>
              <a:t>1. SHARE GAIN</a:t>
            </a:r>
          </a:p>
        </p:txBody>
      </p:sp>
      <p:sp>
        <p:nvSpPr>
          <p:cNvPr id="128" name="TextBox 127"/>
          <p:cNvSpPr txBox="1"/>
          <p:nvPr/>
        </p:nvSpPr>
        <p:spPr>
          <a:xfrm>
            <a:off x="27622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Company gained value or volume share</a:t>
            </a:r>
          </a:p>
        </p:txBody>
      </p:sp>
      <p:sp>
        <p:nvSpPr>
          <p:cNvPr id="129" name="Rounded Rectangle 128"/>
          <p:cNvSpPr/>
          <p:nvPr/>
        </p:nvSpPr>
        <p:spPr>
          <a:xfrm>
            <a:off x="520065" y="6027028"/>
            <a:ext cx="990600" cy="237298"/>
          </a:xfrm>
          <a:prstGeom prst="roundRect">
            <a:avLst>
              <a:gd name="adj" fmla="val 11538"/>
            </a:avLst>
          </a:prstGeom>
          <a:solidFill>
            <a:srgbClr val="FFFFFF"/>
          </a:solidFill>
          <a:ln w="1524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520065" y="6036155"/>
            <a:ext cx="990600" cy="219044"/>
          </a:xfrm>
          <a:prstGeom prst="rect">
            <a:avLst/>
          </a:prstGeom>
          <a:noFill/>
        </p:spPr>
        <p:txBody>
          <a:bodyPr wrap="square" lIns="28575" rIns="28575" tIns="9525" bIns="9525" anchor="ctr">
            <a:spAutoFit/>
          </a:bodyPr>
          <a:lstStyle/>
          <a:p>
            <a:pPr algn="ctr"/>
            <a:r>
              <a:rPr sz="1100" b="1">
                <a:solidFill>
                  <a:srgbClr val="0E72AE"/>
                </a:solidFill>
                <a:latin typeface="Calibri"/>
              </a:rPr>
              <a:t> </a:t>
            </a:r>
          </a:p>
        </p:txBody>
      </p:sp>
      <p:sp>
        <p:nvSpPr>
          <p:cNvPr id="131" name="TextBox 130"/>
          <p:cNvSpPr txBox="1"/>
          <p:nvPr/>
        </p:nvSpPr>
        <p:spPr>
          <a:xfrm>
            <a:off x="175450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32" name="Oval 131"/>
          <p:cNvSpPr/>
          <p:nvPr/>
        </p:nvSpPr>
        <p:spPr>
          <a:xfrm>
            <a:off x="2350770" y="4539352"/>
            <a:ext cx="400050" cy="383328"/>
          </a:xfrm>
          <a:prstGeom prst="ellipse">
            <a:avLst/>
          </a:prstGeom>
          <a:solidFill>
            <a:srgbClr val="FFFFFF"/>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35077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34" name="TextBox 133"/>
          <p:cNvSpPr txBox="1"/>
          <p:nvPr/>
        </p:nvSpPr>
        <p:spPr>
          <a:xfrm>
            <a:off x="181165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A35313"/>
                </a:solidFill>
                <a:latin typeface="Calibri"/>
              </a:rPr>
              <a:t>2. DISTRIBUTION EXPANSION</a:t>
            </a:r>
          </a:p>
        </p:txBody>
      </p:sp>
      <p:sp>
        <p:nvSpPr>
          <p:cNvPr id="135" name="TextBox 134"/>
          <p:cNvSpPr txBox="1"/>
          <p:nvPr/>
        </p:nvSpPr>
        <p:spPr>
          <a:xfrm>
            <a:off x="181165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Expanded channel, retail or e-commerce reach</a:t>
            </a:r>
          </a:p>
        </p:txBody>
      </p:sp>
      <p:sp>
        <p:nvSpPr>
          <p:cNvPr id="136" name="Rounded Rectangle 135"/>
          <p:cNvSpPr/>
          <p:nvPr/>
        </p:nvSpPr>
        <p:spPr>
          <a:xfrm>
            <a:off x="2055495" y="6027028"/>
            <a:ext cx="990600" cy="237298"/>
          </a:xfrm>
          <a:prstGeom prst="roundRect">
            <a:avLst>
              <a:gd name="adj" fmla="val 11538"/>
            </a:avLst>
          </a:prstGeom>
          <a:solidFill>
            <a:srgbClr val="FFFFFF"/>
          </a:solidFill>
          <a:ln w="1524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2055495" y="6036155"/>
            <a:ext cx="990600" cy="219044"/>
          </a:xfrm>
          <a:prstGeom prst="rect">
            <a:avLst/>
          </a:prstGeom>
          <a:noFill/>
        </p:spPr>
        <p:txBody>
          <a:bodyPr wrap="square" lIns="28575" rIns="28575" tIns="9525" bIns="9525" anchor="ctr">
            <a:spAutoFit/>
          </a:bodyPr>
          <a:lstStyle/>
          <a:p>
            <a:pPr algn="ctr"/>
            <a:r>
              <a:rPr sz="1100" b="1">
                <a:solidFill>
                  <a:srgbClr val="A35313"/>
                </a:solidFill>
                <a:latin typeface="Calibri"/>
              </a:rPr>
              <a:t> </a:t>
            </a:r>
          </a:p>
        </p:txBody>
      </p:sp>
      <p:sp>
        <p:nvSpPr>
          <p:cNvPr id="138" name="TextBox 137"/>
          <p:cNvSpPr txBox="1"/>
          <p:nvPr/>
        </p:nvSpPr>
        <p:spPr>
          <a:xfrm>
            <a:off x="328993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39" name="Oval 138"/>
          <p:cNvSpPr/>
          <p:nvPr/>
        </p:nvSpPr>
        <p:spPr>
          <a:xfrm>
            <a:off x="3886200" y="4539352"/>
            <a:ext cx="400050" cy="383328"/>
          </a:xfrm>
          <a:prstGeom prst="ellipse">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388620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41" name="TextBox 140"/>
          <p:cNvSpPr txBox="1"/>
          <p:nvPr/>
        </p:nvSpPr>
        <p:spPr>
          <a:xfrm>
            <a:off x="334708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69B1E0"/>
                </a:solidFill>
                <a:latin typeface="Calibri"/>
              </a:rPr>
              <a:t>3. INNOVATION / LAUNCHES</a:t>
            </a:r>
          </a:p>
        </p:txBody>
      </p:sp>
      <p:sp>
        <p:nvSpPr>
          <p:cNvPr id="142" name="TextBox 141"/>
          <p:cNvSpPr txBox="1"/>
          <p:nvPr/>
        </p:nvSpPr>
        <p:spPr>
          <a:xfrm>
            <a:off x="334708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New SKUs, pack sizes or product improvements</a:t>
            </a:r>
          </a:p>
        </p:txBody>
      </p:sp>
      <p:sp>
        <p:nvSpPr>
          <p:cNvPr id="143" name="Rounded Rectangle 142"/>
          <p:cNvSpPr/>
          <p:nvPr/>
        </p:nvSpPr>
        <p:spPr>
          <a:xfrm>
            <a:off x="3590925" y="6027028"/>
            <a:ext cx="990600" cy="237298"/>
          </a:xfrm>
          <a:prstGeom prst="roundRect">
            <a:avLst>
              <a:gd name="adj" fmla="val 11538"/>
            </a:avLst>
          </a:prstGeom>
          <a:solidFill>
            <a:srgbClr val="FFFFFF"/>
          </a:solidFill>
          <a:ln w="1524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3590925" y="6036155"/>
            <a:ext cx="990600" cy="219044"/>
          </a:xfrm>
          <a:prstGeom prst="rect">
            <a:avLst/>
          </a:prstGeom>
          <a:noFill/>
        </p:spPr>
        <p:txBody>
          <a:bodyPr wrap="square" lIns="28575" rIns="28575" tIns="9525" bIns="9525" anchor="ctr">
            <a:spAutoFit/>
          </a:bodyPr>
          <a:lstStyle/>
          <a:p>
            <a:pPr algn="ctr"/>
            <a:r>
              <a:rPr sz="1100" b="1">
                <a:solidFill>
                  <a:srgbClr val="69B1E0"/>
                </a:solidFill>
                <a:latin typeface="Calibri"/>
              </a:rPr>
              <a:t> </a:t>
            </a:r>
          </a:p>
        </p:txBody>
      </p:sp>
      <p:sp>
        <p:nvSpPr>
          <p:cNvPr id="145" name="TextBox 144"/>
          <p:cNvSpPr txBox="1"/>
          <p:nvPr/>
        </p:nvSpPr>
        <p:spPr>
          <a:xfrm>
            <a:off x="482536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46" name="Oval 145"/>
          <p:cNvSpPr/>
          <p:nvPr/>
        </p:nvSpPr>
        <p:spPr>
          <a:xfrm>
            <a:off x="5421630" y="4539352"/>
            <a:ext cx="400050" cy="383328"/>
          </a:xfrm>
          <a:prstGeom prst="ellipse">
            <a:avLst/>
          </a:prstGeom>
          <a:solidFill>
            <a:srgbClr val="FFFFFF"/>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542163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48" name="TextBox 147"/>
          <p:cNvSpPr txBox="1"/>
          <p:nvPr/>
        </p:nvSpPr>
        <p:spPr>
          <a:xfrm>
            <a:off x="488251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6F3CC2"/>
                </a:solidFill>
                <a:latin typeface="Calibri"/>
              </a:rPr>
              <a:t>4. BUYER INFLUENCE</a:t>
            </a:r>
          </a:p>
        </p:txBody>
      </p:sp>
      <p:sp>
        <p:nvSpPr>
          <p:cNvPr id="149" name="TextBox 148"/>
          <p:cNvSpPr txBox="1"/>
          <p:nvPr/>
        </p:nvSpPr>
        <p:spPr>
          <a:xfrm>
            <a:off x="488251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Stronger specifier, channel or end-user pull</a:t>
            </a:r>
          </a:p>
        </p:txBody>
      </p:sp>
      <p:sp>
        <p:nvSpPr>
          <p:cNvPr id="150" name="Rounded Rectangle 149"/>
          <p:cNvSpPr/>
          <p:nvPr/>
        </p:nvSpPr>
        <p:spPr>
          <a:xfrm>
            <a:off x="5126355" y="6027028"/>
            <a:ext cx="990600" cy="237298"/>
          </a:xfrm>
          <a:prstGeom prst="roundRect">
            <a:avLst>
              <a:gd name="adj" fmla="val 11538"/>
            </a:avLst>
          </a:prstGeom>
          <a:solidFill>
            <a:srgbClr val="FFFFFF"/>
          </a:solidFill>
          <a:ln w="1524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126355" y="6036155"/>
            <a:ext cx="990600" cy="219044"/>
          </a:xfrm>
          <a:prstGeom prst="rect">
            <a:avLst/>
          </a:prstGeom>
          <a:noFill/>
        </p:spPr>
        <p:txBody>
          <a:bodyPr wrap="square" lIns="28575" rIns="28575" tIns="9525" bIns="9525" anchor="ctr">
            <a:spAutoFit/>
          </a:bodyPr>
          <a:lstStyle/>
          <a:p>
            <a:pPr algn="ctr"/>
            <a:r>
              <a:rPr sz="1100" b="1">
                <a:solidFill>
                  <a:srgbClr val="6F3CC2"/>
                </a:solidFill>
                <a:latin typeface="Calibri"/>
              </a:rPr>
              <a:t> </a:t>
            </a:r>
          </a:p>
        </p:txBody>
      </p:sp>
      <p:sp>
        <p:nvSpPr>
          <p:cNvPr id="152" name="TextBox 151"/>
          <p:cNvSpPr txBox="1"/>
          <p:nvPr/>
        </p:nvSpPr>
        <p:spPr>
          <a:xfrm>
            <a:off x="636079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53" name="Oval 152"/>
          <p:cNvSpPr/>
          <p:nvPr/>
        </p:nvSpPr>
        <p:spPr>
          <a:xfrm>
            <a:off x="6957060" y="4539352"/>
            <a:ext cx="400050" cy="383328"/>
          </a:xfrm>
          <a:prstGeom prst="ellipse">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695706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55" name="TextBox 154"/>
          <p:cNvSpPr txBox="1"/>
          <p:nvPr/>
        </p:nvSpPr>
        <p:spPr>
          <a:xfrm>
            <a:off x="641794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A86F00"/>
                </a:solidFill>
                <a:latin typeface="Calibri"/>
              </a:rPr>
              <a:t>5. BRAND / PRICING POWER</a:t>
            </a:r>
          </a:p>
        </p:txBody>
      </p:sp>
      <p:sp>
        <p:nvSpPr>
          <p:cNvPr id="156" name="TextBox 155"/>
          <p:cNvSpPr txBox="1"/>
          <p:nvPr/>
        </p:nvSpPr>
        <p:spPr>
          <a:xfrm>
            <a:off x="641794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Premiumisation, positioning or pricing execution</a:t>
            </a:r>
          </a:p>
        </p:txBody>
      </p:sp>
      <p:sp>
        <p:nvSpPr>
          <p:cNvPr id="157" name="Rounded Rectangle 156"/>
          <p:cNvSpPr/>
          <p:nvPr/>
        </p:nvSpPr>
        <p:spPr>
          <a:xfrm>
            <a:off x="6661785" y="6027028"/>
            <a:ext cx="990600" cy="237298"/>
          </a:xfrm>
          <a:prstGeom prst="roundRect">
            <a:avLst>
              <a:gd name="adj" fmla="val 11538"/>
            </a:avLst>
          </a:prstGeom>
          <a:solidFill>
            <a:srgbClr val="FFFFFF"/>
          </a:solidFill>
          <a:ln w="1524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6661785" y="6036155"/>
            <a:ext cx="990600" cy="219044"/>
          </a:xfrm>
          <a:prstGeom prst="rect">
            <a:avLst/>
          </a:prstGeom>
          <a:noFill/>
        </p:spPr>
        <p:txBody>
          <a:bodyPr wrap="square" lIns="28575" rIns="28575" tIns="9525" bIns="9525" anchor="ctr">
            <a:spAutoFit/>
          </a:bodyPr>
          <a:lstStyle/>
          <a:p>
            <a:pPr algn="ctr"/>
            <a:r>
              <a:rPr sz="1100" b="1">
                <a:solidFill>
                  <a:srgbClr val="A86F00"/>
                </a:solidFill>
                <a:latin typeface="Calibri"/>
              </a:rPr>
              <a:t> </a:t>
            </a:r>
          </a:p>
        </p:txBody>
      </p:sp>
      <p:sp>
        <p:nvSpPr>
          <p:cNvPr id="159" name="Rounded Rectangle 158"/>
          <p:cNvSpPr/>
          <p:nvPr/>
        </p:nvSpPr>
        <p:spPr>
          <a:xfrm>
            <a:off x="8191500" y="4238166"/>
            <a:ext cx="3857625" cy="2391234"/>
          </a:xfrm>
          <a:prstGeom prst="roundRect">
            <a:avLst>
              <a:gd name="adj" fmla="val 2222"/>
            </a:avLst>
          </a:prstGeom>
          <a:solidFill>
            <a:srgbClr val="F4FAF9"/>
          </a:solidFill>
          <a:ln w="12700">
            <a:solidFill>
              <a:srgbClr val="CF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8191500" y="4311180"/>
            <a:ext cx="3857625" cy="182537"/>
          </a:xfrm>
          <a:prstGeom prst="rect">
            <a:avLst/>
          </a:prstGeom>
          <a:noFill/>
        </p:spPr>
        <p:txBody>
          <a:bodyPr wrap="square" lIns="28575" rIns="28575" tIns="9525" bIns="9525" anchor="ctr">
            <a:spAutoFit/>
          </a:bodyPr>
          <a:lstStyle/>
          <a:p>
            <a:pPr algn="ctr"/>
            <a:r>
              <a:rPr sz="1100" b="1">
                <a:solidFill>
                  <a:srgbClr val="1F6F63"/>
                </a:solidFill>
                <a:latin typeface="Calibri"/>
              </a:rPr>
              <a:t>BEST WAY TO USE THIS SLIDE</a:t>
            </a:r>
          </a:p>
        </p:txBody>
      </p:sp>
      <p:cxnSp>
        <p:nvCxnSpPr>
          <p:cNvPr id="161" name="Connector 160"/>
          <p:cNvCxnSpPr/>
          <p:nvPr/>
        </p:nvCxnSpPr>
        <p:spPr>
          <a:xfrm>
            <a:off x="8343900" y="4548478"/>
            <a:ext cx="3552825" cy="0"/>
          </a:xfrm>
          <a:prstGeom prst="line">
            <a:avLst/>
          </a:prstGeom>
          <a:ln w="12700">
            <a:solidFill>
              <a:srgbClr val="CFE3E0"/>
            </a:solidFill>
          </a:ln>
          <a:effectLst/>
        </p:spPr>
        <p:style>
          <a:lnRef idx="2">
            <a:schemeClr val="accent1"/>
          </a:lnRef>
          <a:fillRef idx="0">
            <a:schemeClr val="accent1"/>
          </a:fillRef>
          <a:effectRef idx="1">
            <a:schemeClr val="accent1"/>
          </a:effectRef>
          <a:fontRef idx="minor">
            <a:schemeClr val="tx1"/>
          </a:fontRef>
        </p:style>
      </p:cxnSp>
      <p:sp>
        <p:nvSpPr>
          <p:cNvPr id="162" name="Oval 161"/>
          <p:cNvSpPr/>
          <p:nvPr/>
        </p:nvSpPr>
        <p:spPr>
          <a:xfrm>
            <a:off x="8372475" y="4721889"/>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8372475" y="4767523"/>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4" name="TextBox 163"/>
          <p:cNvSpPr txBox="1"/>
          <p:nvPr/>
        </p:nvSpPr>
        <p:spPr>
          <a:xfrm>
            <a:off x="8743950" y="4694508"/>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Rank companies by impact on category growth</a:t>
            </a:r>
          </a:p>
        </p:txBody>
      </p:sp>
      <p:sp>
        <p:nvSpPr>
          <p:cNvPr id="165" name="Oval 164"/>
          <p:cNvSpPr/>
          <p:nvPr/>
        </p:nvSpPr>
        <p:spPr>
          <a:xfrm>
            <a:off x="8372475" y="5360768"/>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372475" y="5406402"/>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7" name="TextBox 166"/>
          <p:cNvSpPr txBox="1"/>
          <p:nvPr/>
        </p:nvSpPr>
        <p:spPr>
          <a:xfrm>
            <a:off x="8743950" y="5333387"/>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Mention the one move that explains their impact</a:t>
            </a:r>
          </a:p>
        </p:txBody>
      </p:sp>
      <p:sp>
        <p:nvSpPr>
          <p:cNvPr id="168" name="Oval 167"/>
          <p:cNvSpPr/>
          <p:nvPr/>
        </p:nvSpPr>
        <p:spPr>
          <a:xfrm>
            <a:off x="8372475" y="5999647"/>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8372475" y="6045282"/>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70" name="TextBox 169"/>
          <p:cNvSpPr txBox="1"/>
          <p:nvPr/>
        </p:nvSpPr>
        <p:spPr>
          <a:xfrm>
            <a:off x="8743950" y="5972267"/>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Do not rely on market share alone</a:t>
            </a:r>
          </a:p>
        </p:txBody>
      </p:sp>
      <p:sp>
        <p:nvSpPr>
          <p:cNvPr id="171" name="TextBox 17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2" name="Picture 171" descr="lock.png"/>
          <p:cNvPicPr>
            <a:picLocks noChangeAspect="1"/>
          </p:cNvPicPr>
          <p:nvPr/>
        </p:nvPicPr>
        <p:blipFill>
          <a:blip r:embed="rId4"/>
          <a:stretch>
            <a:fillRect/>
          </a:stretch>
        </p:blipFill>
        <p:spPr>
          <a:xfrm>
            <a:off x="951015" y="6052078"/>
            <a:ext cx="128699" cy="187198"/>
          </a:xfrm>
          <a:prstGeom prst="rect">
            <a:avLst/>
          </a:prstGeom>
        </p:spPr>
      </p:pic>
      <p:pic>
        <p:nvPicPr>
          <p:cNvPr id="173" name="Picture 172" descr="lock.png"/>
          <p:cNvPicPr>
            <a:picLocks noChangeAspect="1"/>
          </p:cNvPicPr>
          <p:nvPr/>
        </p:nvPicPr>
        <p:blipFill>
          <a:blip r:embed="rId4"/>
          <a:stretch>
            <a:fillRect/>
          </a:stretch>
        </p:blipFill>
        <p:spPr>
          <a:xfrm>
            <a:off x="2486445" y="6052078"/>
            <a:ext cx="128699" cy="187198"/>
          </a:xfrm>
          <a:prstGeom prst="rect">
            <a:avLst/>
          </a:prstGeom>
        </p:spPr>
      </p:pic>
      <p:pic>
        <p:nvPicPr>
          <p:cNvPr id="174" name="Picture 173" descr="lock.png"/>
          <p:cNvPicPr>
            <a:picLocks noChangeAspect="1"/>
          </p:cNvPicPr>
          <p:nvPr/>
        </p:nvPicPr>
        <p:blipFill>
          <a:blip r:embed="rId4"/>
          <a:stretch>
            <a:fillRect/>
          </a:stretch>
        </p:blipFill>
        <p:spPr>
          <a:xfrm>
            <a:off x="4021875" y="6052078"/>
            <a:ext cx="128699" cy="187198"/>
          </a:xfrm>
          <a:prstGeom prst="rect">
            <a:avLst/>
          </a:prstGeom>
        </p:spPr>
      </p:pic>
      <p:pic>
        <p:nvPicPr>
          <p:cNvPr id="175" name="Picture 174" descr="lock.png"/>
          <p:cNvPicPr>
            <a:picLocks noChangeAspect="1"/>
          </p:cNvPicPr>
          <p:nvPr/>
        </p:nvPicPr>
        <p:blipFill>
          <a:blip r:embed="rId4"/>
          <a:stretch>
            <a:fillRect/>
          </a:stretch>
        </p:blipFill>
        <p:spPr>
          <a:xfrm>
            <a:off x="5557305" y="6052078"/>
            <a:ext cx="128699" cy="187198"/>
          </a:xfrm>
          <a:prstGeom prst="rect">
            <a:avLst/>
          </a:prstGeom>
        </p:spPr>
      </p:pic>
      <p:pic>
        <p:nvPicPr>
          <p:cNvPr id="176" name="Picture 175" descr="lock.png"/>
          <p:cNvPicPr>
            <a:picLocks noChangeAspect="1"/>
          </p:cNvPicPr>
          <p:nvPr/>
        </p:nvPicPr>
        <p:blipFill>
          <a:blip r:embed="rId4"/>
          <a:stretch>
            <a:fillRect/>
          </a:stretch>
        </p:blipFill>
        <p:spPr>
          <a:xfrm>
            <a:off x="7092735" y="6052078"/>
            <a:ext cx="128699" cy="187198"/>
          </a:xfrm>
          <a:prstGeom prst="rect">
            <a:avLst/>
          </a:prstGeom>
        </p:spPr>
      </p:pic>
      <p:sp>
        <p:nvSpPr>
          <p:cNvPr id="177" name="TextBox 176"/>
          <p:cNvSpPr txBox="1"/>
          <p:nvPr/>
        </p:nvSpPr>
        <p:spPr>
          <a:xfrm>
            <a:off x="4572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78" name="Picture 177" descr="lock.png"/>
          <p:cNvPicPr>
            <a:picLocks noChangeAspect="1"/>
          </p:cNvPicPr>
          <p:nvPr/>
        </p:nvPicPr>
        <p:blipFill>
          <a:blip r:embed="rId4"/>
          <a:stretch>
            <a:fillRect/>
          </a:stretch>
        </p:blipFill>
        <p:spPr>
          <a:xfrm>
            <a:off x="994083" y="2391038"/>
            <a:ext cx="92663" cy="134782"/>
          </a:xfrm>
          <a:prstGeom prst="rect">
            <a:avLst/>
          </a:prstGeom>
        </p:spPr>
      </p:pic>
      <p:sp>
        <p:nvSpPr>
          <p:cNvPr id="179" name="TextBox 178"/>
          <p:cNvSpPr txBox="1"/>
          <p:nvPr/>
        </p:nvSpPr>
        <p:spPr>
          <a:xfrm>
            <a:off x="28575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0" name="Picture 179" descr="lock.png"/>
          <p:cNvPicPr>
            <a:picLocks noChangeAspect="1"/>
          </p:cNvPicPr>
          <p:nvPr/>
        </p:nvPicPr>
        <p:blipFill>
          <a:blip r:embed="rId4"/>
          <a:stretch>
            <a:fillRect/>
          </a:stretch>
        </p:blipFill>
        <p:spPr>
          <a:xfrm>
            <a:off x="3394383" y="2391038"/>
            <a:ext cx="92663" cy="134782"/>
          </a:xfrm>
          <a:prstGeom prst="rect">
            <a:avLst/>
          </a:prstGeom>
        </p:spPr>
      </p:pic>
      <p:sp>
        <p:nvSpPr>
          <p:cNvPr id="181" name="TextBox 180"/>
          <p:cNvSpPr txBox="1"/>
          <p:nvPr/>
        </p:nvSpPr>
        <p:spPr>
          <a:xfrm>
            <a:off x="52578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2" name="Picture 181" descr="lock.png"/>
          <p:cNvPicPr>
            <a:picLocks noChangeAspect="1"/>
          </p:cNvPicPr>
          <p:nvPr/>
        </p:nvPicPr>
        <p:blipFill>
          <a:blip r:embed="rId4"/>
          <a:stretch>
            <a:fillRect/>
          </a:stretch>
        </p:blipFill>
        <p:spPr>
          <a:xfrm>
            <a:off x="5794683" y="2391038"/>
            <a:ext cx="92663" cy="134782"/>
          </a:xfrm>
          <a:prstGeom prst="rect">
            <a:avLst/>
          </a:prstGeom>
        </p:spPr>
      </p:pic>
      <p:sp>
        <p:nvSpPr>
          <p:cNvPr id="183" name="TextBox 182"/>
          <p:cNvSpPr txBox="1"/>
          <p:nvPr/>
        </p:nvSpPr>
        <p:spPr>
          <a:xfrm>
            <a:off x="76581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4" name="Picture 183" descr="lock.png"/>
          <p:cNvPicPr>
            <a:picLocks noChangeAspect="1"/>
          </p:cNvPicPr>
          <p:nvPr/>
        </p:nvPicPr>
        <p:blipFill>
          <a:blip r:embed="rId4"/>
          <a:stretch>
            <a:fillRect/>
          </a:stretch>
        </p:blipFill>
        <p:spPr>
          <a:xfrm>
            <a:off x="8194983" y="2391038"/>
            <a:ext cx="92663" cy="134782"/>
          </a:xfrm>
          <a:prstGeom prst="rect">
            <a:avLst/>
          </a:prstGeom>
        </p:spPr>
      </p:pic>
      <p:sp>
        <p:nvSpPr>
          <p:cNvPr id="185" name="TextBox 184"/>
          <p:cNvSpPr txBox="1"/>
          <p:nvPr/>
        </p:nvSpPr>
        <p:spPr>
          <a:xfrm>
            <a:off x="100584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6" name="Picture 185" descr="lock.png"/>
          <p:cNvPicPr>
            <a:picLocks noChangeAspect="1"/>
          </p:cNvPicPr>
          <p:nvPr/>
        </p:nvPicPr>
        <p:blipFill>
          <a:blip r:embed="rId4"/>
          <a:stretch>
            <a:fillRect/>
          </a:stretch>
        </p:blipFill>
        <p:spPr>
          <a:xfrm>
            <a:off x="10595283" y="2391038"/>
            <a:ext cx="92663" cy="134782"/>
          </a:xfrm>
          <a:prstGeom prst="rect">
            <a:avLst/>
          </a:prstGeom>
        </p:spPr>
      </p:pic>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17</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Company Profiles &amp; Strategic Benchmarking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Sika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Sika Penetration &amp; Win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Sika SWOT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Sika Key Financials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Sika Strategy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Sika Executive Market Snapshot (1/5)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total market, addressable opportunity and share of market by end-market, region and product</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Executive snapshot and strategic positioning Sika: market, addressable opportunity and SOM splits by end-market, region and product.</a:t>
            </a:r>
          </a:p>
        </p:txBody>
      </p:sp>
      <p:sp>
        <p:nvSpPr>
          <p:cNvPr id="11" name="Rounded Rectangle 10"/>
          <p:cNvSpPr/>
          <p:nvPr/>
        </p:nvSpPr>
        <p:spPr>
          <a:xfrm>
            <a:off x="14287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TAM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Total market</a:t>
            </a:r>
          </a:p>
        </p:txBody>
      </p:sp>
      <p:sp>
        <p:nvSpPr>
          <p:cNvPr id="12" name="Rounded Rectangle 11"/>
          <p:cNvSpPr/>
          <p:nvPr/>
        </p:nvSpPr>
        <p:spPr>
          <a:xfrm>
            <a:off x="254317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SAM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Addressable</a:t>
            </a:r>
          </a:p>
        </p:txBody>
      </p:sp>
      <p:sp>
        <p:nvSpPr>
          <p:cNvPr id="13" name="Rounded Rectangle 12"/>
          <p:cNvSpPr/>
          <p:nvPr/>
        </p:nvSpPr>
        <p:spPr>
          <a:xfrm>
            <a:off x="4953000"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4" name="Rounded Rectangle 13"/>
          <p:cNvSpPr/>
          <p:nvPr/>
        </p:nvSpPr>
        <p:spPr>
          <a:xfrm>
            <a:off x="7353300"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BOOK-TO-BILL</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Order momentum</a:t>
            </a:r>
          </a:p>
        </p:txBody>
      </p:sp>
      <p:sp>
        <p:nvSpPr>
          <p:cNvPr id="15" name="Rounded Rectangle 14"/>
          <p:cNvSpPr/>
          <p:nvPr/>
        </p:nvSpPr>
        <p:spPr>
          <a:xfrm>
            <a:off x="976312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EBITDA MARGIN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Profitability</a:t>
            </a:r>
          </a:p>
        </p:txBody>
      </p:sp>
      <p:sp>
        <p:nvSpPr>
          <p:cNvPr id="16" name="Rounded Rectangle 15"/>
          <p:cNvSpPr/>
          <p:nvPr/>
        </p:nvSpPr>
        <p:spPr>
          <a:xfrm>
            <a:off x="142875" y="2065976"/>
            <a:ext cx="38290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2123126"/>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End-Market (US$ Mn)</a:t>
            </a:r>
          </a:p>
        </p:txBody>
      </p:sp>
      <p:graphicFrame>
        <p:nvGraphicFramePr>
          <p:cNvPr id="18" name="Chart 17"/>
          <p:cNvGraphicFramePr>
            <a:graphicFrameLocks noGrp="1"/>
          </p:cNvGraphicFramePr>
          <p:nvPr/>
        </p:nvGraphicFramePr>
        <p:xfrm>
          <a:off x="238125" y="2351726"/>
          <a:ext cx="3638550" cy="2267379"/>
        </p:xfrm>
        <a:graphic>
          <a:graphicData uri="http://schemas.openxmlformats.org/drawingml/2006/chart">
            <c:chart xmlns:c="http://schemas.openxmlformats.org/drawingml/2006/chart" r:id="rId3"/>
          </a:graphicData>
        </a:graphic>
      </p:graphicFrame>
      <p:sp>
        <p:nvSpPr>
          <p:cNvPr id="19" name="Rounded Rectangle 18"/>
          <p:cNvSpPr/>
          <p:nvPr/>
        </p:nvSpPr>
        <p:spPr>
          <a:xfrm>
            <a:off x="4124325" y="2065976"/>
            <a:ext cx="38290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19575" y="2123126"/>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Region (US$ Mn)</a:t>
            </a:r>
          </a:p>
        </p:txBody>
      </p:sp>
      <p:graphicFrame>
        <p:nvGraphicFramePr>
          <p:cNvPr id="21" name="Chart 20"/>
          <p:cNvGraphicFramePr>
            <a:graphicFrameLocks noGrp="1"/>
          </p:cNvGraphicFramePr>
          <p:nvPr/>
        </p:nvGraphicFramePr>
        <p:xfrm>
          <a:off x="4219575" y="2351726"/>
          <a:ext cx="3638550" cy="2267379"/>
        </p:xfrm>
        <a:graphic>
          <a:graphicData uri="http://schemas.openxmlformats.org/drawingml/2006/chart">
            <c:chart xmlns:c="http://schemas.openxmlformats.org/drawingml/2006/chart" r:id="rId4"/>
          </a:graphicData>
        </a:graphic>
      </p:graphicFrame>
      <p:sp>
        <p:nvSpPr>
          <p:cNvPr id="22" name="Rounded Rectangle 21"/>
          <p:cNvSpPr/>
          <p:nvPr/>
        </p:nvSpPr>
        <p:spPr>
          <a:xfrm>
            <a:off x="8105775" y="2065976"/>
            <a:ext cx="39433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01025" y="2123126"/>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Product Line (US$ Mn)</a:t>
            </a:r>
          </a:p>
        </p:txBody>
      </p:sp>
      <p:graphicFrame>
        <p:nvGraphicFramePr>
          <p:cNvPr id="24" name="Chart 23"/>
          <p:cNvGraphicFramePr>
            <a:graphicFrameLocks noGrp="1"/>
          </p:cNvGraphicFramePr>
          <p:nvPr/>
        </p:nvGraphicFramePr>
        <p:xfrm>
          <a:off x="8201025" y="2351726"/>
          <a:ext cx="3752850" cy="2267379"/>
        </p:xfrm>
        <a:graphic>
          <a:graphicData uri="http://schemas.openxmlformats.org/drawingml/2006/chart">
            <c:chart xmlns:c="http://schemas.openxmlformats.org/drawingml/2006/chart" r:id="rId5"/>
          </a:graphicData>
        </a:graphic>
      </p:graphicFrame>
      <p:sp>
        <p:nvSpPr>
          <p:cNvPr id="25" name="Rounded Rectangle 24"/>
          <p:cNvSpPr/>
          <p:nvPr/>
        </p:nvSpPr>
        <p:spPr>
          <a:xfrm>
            <a:off x="142875" y="4785777"/>
            <a:ext cx="11906250" cy="1807116"/>
          </a:xfrm>
          <a:prstGeom prst="roundRect">
            <a:avLst>
              <a:gd name="adj" fmla="val 42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6225" y="4871502"/>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27" name="Rectangle 26"/>
          <p:cNvSpPr/>
          <p:nvPr/>
        </p:nvSpPr>
        <p:spPr>
          <a:xfrm>
            <a:off x="276225" y="5109627"/>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6225" y="5195352"/>
            <a:ext cx="11639550" cy="1321341"/>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9" name="TextBox 2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0" name="Picture 29" descr="lock.png"/>
          <p:cNvPicPr>
            <a:picLocks noChangeAspect="1"/>
          </p:cNvPicPr>
          <p:nvPr/>
        </p:nvPicPr>
        <p:blipFill>
          <a:blip r:embed="rId7"/>
          <a:stretch>
            <a:fillRect/>
          </a:stretch>
        </p:blipFill>
        <p:spPr>
          <a:xfrm>
            <a:off x="1202531" y="1522714"/>
            <a:ext cx="157162" cy="228600"/>
          </a:xfrm>
          <a:prstGeom prst="rect">
            <a:avLst/>
          </a:prstGeom>
        </p:spPr>
      </p:pic>
      <p:pic>
        <p:nvPicPr>
          <p:cNvPr id="31" name="Picture 30" descr="lock.png"/>
          <p:cNvPicPr>
            <a:picLocks noChangeAspect="1"/>
          </p:cNvPicPr>
          <p:nvPr/>
        </p:nvPicPr>
        <p:blipFill>
          <a:blip r:embed="rId7"/>
          <a:stretch>
            <a:fillRect/>
          </a:stretch>
        </p:blipFill>
        <p:spPr>
          <a:xfrm>
            <a:off x="3602831" y="1522714"/>
            <a:ext cx="157162" cy="228600"/>
          </a:xfrm>
          <a:prstGeom prst="rect">
            <a:avLst/>
          </a:prstGeom>
        </p:spPr>
      </p:pic>
      <p:pic>
        <p:nvPicPr>
          <p:cNvPr id="32" name="Picture 31" descr="lock.png"/>
          <p:cNvPicPr>
            <a:picLocks noChangeAspect="1"/>
          </p:cNvPicPr>
          <p:nvPr/>
        </p:nvPicPr>
        <p:blipFill>
          <a:blip r:embed="rId7"/>
          <a:stretch>
            <a:fillRect/>
          </a:stretch>
        </p:blipFill>
        <p:spPr>
          <a:xfrm>
            <a:off x="8412956" y="1522714"/>
            <a:ext cx="157162" cy="228600"/>
          </a:xfrm>
          <a:prstGeom prst="rect">
            <a:avLst/>
          </a:prstGeom>
        </p:spPr>
      </p:pic>
      <p:pic>
        <p:nvPicPr>
          <p:cNvPr id="33" name="Picture 32" descr="lock.png"/>
          <p:cNvPicPr>
            <a:picLocks noChangeAspect="1"/>
          </p:cNvPicPr>
          <p:nvPr/>
        </p:nvPicPr>
        <p:blipFill>
          <a:blip r:embed="rId7"/>
          <a:stretch>
            <a:fillRect/>
          </a:stretch>
        </p:blipFill>
        <p:spPr>
          <a:xfrm>
            <a:off x="10822781" y="1522714"/>
            <a:ext cx="157162" cy="228600"/>
          </a:xfrm>
          <a:prstGeom prst="rect">
            <a:avLst/>
          </a:prstGeom>
        </p:spPr>
      </p:pic>
      <p:pic>
        <p:nvPicPr>
          <p:cNvPr id="34" name="Picture 33" descr="lock.png"/>
          <p:cNvPicPr>
            <a:picLocks noChangeAspect="1"/>
          </p:cNvPicPr>
          <p:nvPr/>
        </p:nvPicPr>
        <p:blipFill>
          <a:blip r:embed="rId7"/>
          <a:stretch>
            <a:fillRect/>
          </a:stretch>
        </p:blipFill>
        <p:spPr>
          <a:xfrm>
            <a:off x="2104623" y="3299104"/>
            <a:ext cx="197242" cy="286897"/>
          </a:xfrm>
          <a:prstGeom prst="rect">
            <a:avLst/>
          </a:prstGeom>
        </p:spPr>
      </p:pic>
      <p:pic>
        <p:nvPicPr>
          <p:cNvPr id="35" name="Picture 34" descr="lock.png"/>
          <p:cNvPicPr>
            <a:picLocks noChangeAspect="1"/>
          </p:cNvPicPr>
          <p:nvPr/>
        </p:nvPicPr>
        <p:blipFill>
          <a:blip r:embed="rId7"/>
          <a:stretch>
            <a:fillRect/>
          </a:stretch>
        </p:blipFill>
        <p:spPr>
          <a:xfrm>
            <a:off x="6086073" y="3299104"/>
            <a:ext cx="197242" cy="286897"/>
          </a:xfrm>
          <a:prstGeom prst="rect">
            <a:avLst/>
          </a:prstGeom>
        </p:spPr>
      </p:pic>
      <p:pic>
        <p:nvPicPr>
          <p:cNvPr id="36" name="Picture 35" descr="lock.png"/>
          <p:cNvPicPr>
            <a:picLocks noChangeAspect="1"/>
          </p:cNvPicPr>
          <p:nvPr/>
        </p:nvPicPr>
        <p:blipFill>
          <a:blip r:embed="rId7"/>
          <a:stretch>
            <a:fillRect/>
          </a:stretch>
        </p:blipFill>
        <p:spPr>
          <a:xfrm>
            <a:off x="9278088" y="3145920"/>
            <a:ext cx="444576" cy="646656"/>
          </a:xfrm>
          <a:prstGeom prst="rect">
            <a:avLst/>
          </a:prstGeom>
        </p:spPr>
      </p:pic>
      <p:sp>
        <p:nvSpPr>
          <p:cNvPr id="37" name="TextBox 36"/>
          <p:cNvSpPr txBox="1"/>
          <p:nvPr/>
        </p:nvSpPr>
        <p:spPr>
          <a:xfrm>
            <a:off x="5758516" y="1377568"/>
            <a:ext cx="741641" cy="146456"/>
          </a:xfrm>
          <a:prstGeom prst="rect">
            <a:avLst/>
          </a:prstGeom>
          <a:noFill/>
        </p:spPr>
        <p:txBody>
          <a:bodyPr wrap="none" lIns="0" rIns="0" tIns="0" bIns="0">
            <a:spAutoFit/>
          </a:bodyPr>
          <a:lstStyle/>
          <a:p>
            <a:r>
              <a:rPr sz="835" b="1">
                <a:solidFill>
                  <a:srgbClr val="6C7A89"/>
                </a:solidFill>
                <a:latin typeface="Calibri"/>
              </a:rPr>
              <a:t>SOM (US$ MN)</a:t>
            </a:r>
          </a:p>
        </p:txBody>
      </p:sp>
      <p:pic>
        <p:nvPicPr>
          <p:cNvPr id="38" name="Picture 37" descr="lock.png"/>
          <p:cNvPicPr>
            <a:picLocks noChangeAspect="1"/>
          </p:cNvPicPr>
          <p:nvPr/>
        </p:nvPicPr>
        <p:blipFill>
          <a:blip r:embed="rId7"/>
          <a:stretch>
            <a:fillRect/>
          </a:stretch>
        </p:blipFill>
        <p:spPr>
          <a:xfrm>
            <a:off x="6017010" y="1533061"/>
            <a:ext cx="133378" cy="194005"/>
          </a:xfrm>
          <a:prstGeom prst="rect">
            <a:avLst/>
          </a:prstGeom>
        </p:spPr>
      </p:pic>
      <p:pic>
        <p:nvPicPr>
          <p:cNvPr id="39" name="Picture 38" descr="lock.png"/>
          <p:cNvPicPr>
            <a:picLocks noChangeAspect="1"/>
          </p:cNvPicPr>
          <p:nvPr/>
        </p:nvPicPr>
        <p:blipFill>
          <a:blip r:embed="rId7"/>
          <a:stretch>
            <a:fillRect/>
          </a:stretch>
        </p:blipFill>
        <p:spPr>
          <a:xfrm>
            <a:off x="5865805" y="1761621"/>
            <a:ext cx="97811" cy="142270"/>
          </a:xfrm>
          <a:prstGeom prst="rect">
            <a:avLst/>
          </a:prstGeom>
        </p:spPr>
      </p:pic>
      <p:sp>
        <p:nvSpPr>
          <p:cNvPr id="40" name="TextBox 39"/>
          <p:cNvSpPr txBox="1"/>
          <p:nvPr/>
        </p:nvSpPr>
        <p:spPr>
          <a:xfrm>
            <a:off x="5993102" y="1769053"/>
            <a:ext cx="389531" cy="146456"/>
          </a:xfrm>
          <a:prstGeom prst="rect">
            <a:avLst/>
          </a:prstGeom>
          <a:noFill/>
        </p:spPr>
        <p:txBody>
          <a:bodyPr wrap="none" lIns="0" rIns="0" tIns="0" bIns="0">
            <a:spAutoFit/>
          </a:bodyPr>
          <a:lstStyle/>
          <a:p>
            <a:r>
              <a:rPr sz="835" b="0">
                <a:solidFill>
                  <a:srgbClr val="6C7A89"/>
                </a:solidFill>
                <a:latin typeface="Calibri"/>
              </a:rPr>
              <a:t>of SAM</a:t>
            </a:r>
          </a:p>
        </p:txBody>
      </p:sp>
      <p:sp>
        <p:nvSpPr>
          <p:cNvPr id="41" name="TextBox 40"/>
          <p:cNvSpPr txBox="1"/>
          <p:nvPr/>
        </p:nvSpPr>
        <p:spPr>
          <a:xfrm>
            <a:off x="276225" y="5204877"/>
            <a:ext cx="2071265" cy="194310"/>
          </a:xfrm>
          <a:prstGeom prst="rect">
            <a:avLst/>
          </a:prstGeom>
          <a:noFill/>
        </p:spPr>
        <p:txBody>
          <a:bodyPr wrap="none" lIns="0" rIns="0" tIns="0" bIns="0">
            <a:spAutoFit/>
          </a:bodyPr>
          <a:lstStyle/>
          <a:p>
            <a:r>
              <a:rPr sz="1150" b="0">
                <a:solidFill>
                  <a:srgbClr val="2E2E2E"/>
                </a:solidFill>
                <a:latin typeface="Calibri"/>
              </a:rPr>
              <a:t>▪ Market Position: Sika captures ~</a:t>
            </a:r>
          </a:p>
        </p:txBody>
      </p:sp>
      <p:pic>
        <p:nvPicPr>
          <p:cNvPr id="42" name="Picture 41" descr="lock.png"/>
          <p:cNvPicPr>
            <a:picLocks noChangeAspect="1"/>
          </p:cNvPicPr>
          <p:nvPr/>
        </p:nvPicPr>
        <p:blipFill>
          <a:blip r:embed="rId7"/>
          <a:stretch>
            <a:fillRect/>
          </a:stretch>
        </p:blipFill>
        <p:spPr>
          <a:xfrm>
            <a:off x="2296644" y="5194653"/>
            <a:ext cx="134549" cy="195707"/>
          </a:xfrm>
          <a:prstGeom prst="rect">
            <a:avLst/>
          </a:prstGeom>
        </p:spPr>
      </p:pic>
      <p:sp>
        <p:nvSpPr>
          <p:cNvPr id="43" name="TextBox 42"/>
          <p:cNvSpPr txBox="1"/>
          <p:nvPr/>
        </p:nvSpPr>
        <p:spPr>
          <a:xfrm>
            <a:off x="2471754" y="5204877"/>
            <a:ext cx="4782604" cy="194310"/>
          </a:xfrm>
          <a:prstGeom prst="rect">
            <a:avLst/>
          </a:prstGeom>
          <a:noFill/>
        </p:spPr>
        <p:txBody>
          <a:bodyPr wrap="none" lIns="0" rIns="0" tIns="0" bIns="0">
            <a:spAutoFit/>
          </a:bodyPr>
          <a:lstStyle/>
          <a:p>
            <a:r>
              <a:rPr sz="1150" b="0">
                <a:solidFill>
                  <a:srgbClr val="2E2E2E"/>
                </a:solidFill>
                <a:latin typeface="Calibri"/>
              </a:rPr>
              <a:t>of a US$ Mn SAM, with its strongest end-market in 'Bathrooms and Wet Areas'.</a:t>
            </a:r>
          </a:p>
        </p:txBody>
      </p:sp>
      <p:sp>
        <p:nvSpPr>
          <p:cNvPr id="44" name="TextBox 43"/>
          <p:cNvSpPr txBox="1"/>
          <p:nvPr/>
        </p:nvSpPr>
        <p:spPr>
          <a:xfrm>
            <a:off x="276225" y="5432715"/>
            <a:ext cx="7358446" cy="194310"/>
          </a:xfrm>
          <a:prstGeom prst="rect">
            <a:avLst/>
          </a:prstGeom>
          <a:noFill/>
        </p:spPr>
        <p:txBody>
          <a:bodyPr wrap="none" lIns="0" rIns="0" tIns="0" bIns="0">
            <a:spAutoFit/>
          </a:bodyPr>
          <a:lstStyle/>
          <a:p>
            <a:r>
              <a:rPr sz="1150" b="0">
                <a:solidFill>
                  <a:srgbClr val="2E2E2E"/>
                </a:solidFill>
                <a:latin typeface="Calibri"/>
              </a:rPr>
              <a:t>▪ Geographic Balance: 'North America' is the largest SOM region; 'Rest of the World' shows the highest SAM penetration (~</a:t>
            </a:r>
          </a:p>
        </p:txBody>
      </p:sp>
      <p:pic>
        <p:nvPicPr>
          <p:cNvPr id="45" name="Picture 44" descr="lock.png"/>
          <p:cNvPicPr>
            <a:picLocks noChangeAspect="1"/>
          </p:cNvPicPr>
          <p:nvPr/>
        </p:nvPicPr>
        <p:blipFill>
          <a:blip r:embed="rId7"/>
          <a:stretch>
            <a:fillRect/>
          </a:stretch>
        </p:blipFill>
        <p:spPr>
          <a:xfrm>
            <a:off x="7583825" y="5422491"/>
            <a:ext cx="134549" cy="195707"/>
          </a:xfrm>
          <a:prstGeom prst="rect">
            <a:avLst/>
          </a:prstGeom>
        </p:spPr>
      </p:pic>
      <p:sp>
        <p:nvSpPr>
          <p:cNvPr id="46" name="TextBox 45"/>
          <p:cNvSpPr txBox="1"/>
          <p:nvPr/>
        </p:nvSpPr>
        <p:spPr>
          <a:xfrm>
            <a:off x="7758935" y="543271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7" name="TextBox 46"/>
          <p:cNvSpPr txBox="1"/>
          <p:nvPr/>
        </p:nvSpPr>
        <p:spPr>
          <a:xfrm>
            <a:off x="276225" y="5660552"/>
            <a:ext cx="1391791" cy="194310"/>
          </a:xfrm>
          <a:prstGeom prst="rect">
            <a:avLst/>
          </a:prstGeom>
          <a:noFill/>
        </p:spPr>
        <p:txBody>
          <a:bodyPr wrap="none" lIns="0" rIns="0" tIns="0" bIns="0">
            <a:spAutoFit/>
          </a:bodyPr>
          <a:lstStyle/>
          <a:p>
            <a:r>
              <a:rPr sz="1150" b="0">
                <a:solidFill>
                  <a:srgbClr val="2E2E2E"/>
                </a:solidFill>
                <a:latin typeface="Calibri"/>
              </a:rPr>
              <a:t>▪ Growth Trajectory: a</a:t>
            </a:r>
          </a:p>
        </p:txBody>
      </p:sp>
      <p:pic>
        <p:nvPicPr>
          <p:cNvPr id="48" name="Picture 47" descr="lock.png"/>
          <p:cNvPicPr>
            <a:picLocks noChangeAspect="1"/>
          </p:cNvPicPr>
          <p:nvPr/>
        </p:nvPicPr>
        <p:blipFill>
          <a:blip r:embed="rId7"/>
          <a:stretch>
            <a:fillRect/>
          </a:stretch>
        </p:blipFill>
        <p:spPr>
          <a:xfrm>
            <a:off x="1617169" y="5650329"/>
            <a:ext cx="134549" cy="195707"/>
          </a:xfrm>
          <a:prstGeom prst="rect">
            <a:avLst/>
          </a:prstGeom>
        </p:spPr>
      </p:pic>
      <p:sp>
        <p:nvSpPr>
          <p:cNvPr id="49" name="TextBox 48"/>
          <p:cNvSpPr txBox="1"/>
          <p:nvPr/>
        </p:nvSpPr>
        <p:spPr>
          <a:xfrm>
            <a:off x="1792279" y="5660552"/>
            <a:ext cx="1129072" cy="194310"/>
          </a:xfrm>
          <a:prstGeom prst="rect">
            <a:avLst/>
          </a:prstGeom>
          <a:noFill/>
        </p:spPr>
        <p:txBody>
          <a:bodyPr wrap="none" lIns="0" rIns="0" tIns="0" bIns="0">
            <a:spAutoFit/>
          </a:bodyPr>
          <a:lstStyle/>
          <a:p>
            <a:r>
              <a:rPr sz="1150" b="0">
                <a:solidFill>
                  <a:srgbClr val="2E2E2E"/>
                </a:solidFill>
                <a:latin typeface="Calibri"/>
              </a:rPr>
              <a:t>book-to-bill and ~</a:t>
            </a:r>
          </a:p>
        </p:txBody>
      </p:sp>
      <p:pic>
        <p:nvPicPr>
          <p:cNvPr id="50" name="Picture 49" descr="lock.png"/>
          <p:cNvPicPr>
            <a:picLocks noChangeAspect="1"/>
          </p:cNvPicPr>
          <p:nvPr/>
        </p:nvPicPr>
        <p:blipFill>
          <a:blip r:embed="rId7"/>
          <a:stretch>
            <a:fillRect/>
          </a:stretch>
        </p:blipFill>
        <p:spPr>
          <a:xfrm>
            <a:off x="2870505" y="5650329"/>
            <a:ext cx="134549" cy="195707"/>
          </a:xfrm>
          <a:prstGeom prst="rect">
            <a:avLst/>
          </a:prstGeom>
        </p:spPr>
      </p:pic>
      <p:sp>
        <p:nvSpPr>
          <p:cNvPr id="51" name="TextBox 50"/>
          <p:cNvSpPr txBox="1"/>
          <p:nvPr/>
        </p:nvSpPr>
        <p:spPr>
          <a:xfrm>
            <a:off x="3045614" y="5660552"/>
            <a:ext cx="4503594" cy="194310"/>
          </a:xfrm>
          <a:prstGeom prst="rect">
            <a:avLst/>
          </a:prstGeom>
          <a:noFill/>
        </p:spPr>
        <p:txBody>
          <a:bodyPr wrap="none" lIns="0" rIns="0" tIns="0" bIns="0">
            <a:spAutoFit/>
          </a:bodyPr>
          <a:lstStyle/>
          <a:p>
            <a:r>
              <a:rPr sz="1150" b="0">
                <a:solidFill>
                  <a:srgbClr val="2E2E2E"/>
                </a:solidFill>
                <a:latin typeface="Calibri"/>
              </a:rPr>
              <a:t>EBITDA margin point to a path to capture more of the addressable market.</a:t>
            </a:r>
          </a:p>
        </p:txBody>
      </p:sp>
      <p:sp>
        <p:nvSpPr>
          <p:cNvPr id="52" name="TextBox 51"/>
          <p:cNvSpPr txBox="1"/>
          <p:nvPr/>
        </p:nvSpPr>
        <p:spPr>
          <a:xfrm>
            <a:off x="276225" y="5888390"/>
            <a:ext cx="1353535" cy="194310"/>
          </a:xfrm>
          <a:prstGeom prst="rect">
            <a:avLst/>
          </a:prstGeom>
          <a:noFill/>
        </p:spPr>
        <p:txBody>
          <a:bodyPr wrap="none" lIns="0" rIns="0" tIns="0" bIns="0">
            <a:spAutoFit/>
          </a:bodyPr>
          <a:lstStyle/>
          <a:p>
            <a:r>
              <a:rPr sz="1150" b="0">
                <a:solidFill>
                  <a:srgbClr val="2E2E2E"/>
                </a:solidFill>
                <a:latin typeface="Calibri"/>
              </a:rPr>
              <a:t>▪ Competitive Edge: ~</a:t>
            </a:r>
          </a:p>
        </p:txBody>
      </p:sp>
      <p:pic>
        <p:nvPicPr>
          <p:cNvPr id="53" name="Picture 52" descr="lock.png"/>
          <p:cNvPicPr>
            <a:picLocks noChangeAspect="1"/>
          </p:cNvPicPr>
          <p:nvPr/>
        </p:nvPicPr>
        <p:blipFill>
          <a:blip r:embed="rId7"/>
          <a:stretch>
            <a:fillRect/>
          </a:stretch>
        </p:blipFill>
        <p:spPr>
          <a:xfrm>
            <a:off x="1578914" y="5878167"/>
            <a:ext cx="134549" cy="195707"/>
          </a:xfrm>
          <a:prstGeom prst="rect">
            <a:avLst/>
          </a:prstGeom>
        </p:spPr>
      </p:pic>
      <p:sp>
        <p:nvSpPr>
          <p:cNvPr id="54" name="TextBox 53"/>
          <p:cNvSpPr txBox="1"/>
          <p:nvPr/>
        </p:nvSpPr>
        <p:spPr>
          <a:xfrm>
            <a:off x="1754024" y="5888390"/>
            <a:ext cx="1072591" cy="194310"/>
          </a:xfrm>
          <a:prstGeom prst="rect">
            <a:avLst/>
          </a:prstGeom>
          <a:noFill/>
        </p:spPr>
        <p:txBody>
          <a:bodyPr wrap="none" lIns="0" rIns="0" tIns="0" bIns="0">
            <a:spAutoFit/>
          </a:bodyPr>
          <a:lstStyle/>
          <a:p>
            <a:r>
              <a:rPr sz="1150" b="0">
                <a:solidFill>
                  <a:srgbClr val="2E2E2E"/>
                </a:solidFill>
                <a:latin typeface="Calibri"/>
              </a:rPr>
              <a:t>win rate with a +</a:t>
            </a:r>
          </a:p>
        </p:txBody>
      </p:sp>
      <p:pic>
        <p:nvPicPr>
          <p:cNvPr id="55" name="Picture 54" descr="lock.png"/>
          <p:cNvPicPr>
            <a:picLocks noChangeAspect="1"/>
          </p:cNvPicPr>
          <p:nvPr/>
        </p:nvPicPr>
        <p:blipFill>
          <a:blip r:embed="rId7"/>
          <a:stretch>
            <a:fillRect/>
          </a:stretch>
        </p:blipFill>
        <p:spPr>
          <a:xfrm>
            <a:off x="2775769" y="5878167"/>
            <a:ext cx="134549" cy="195707"/>
          </a:xfrm>
          <a:prstGeom prst="rect">
            <a:avLst/>
          </a:prstGeom>
        </p:spPr>
      </p:pic>
      <p:sp>
        <p:nvSpPr>
          <p:cNvPr id="56" name="TextBox 55"/>
          <p:cNvSpPr txBox="1"/>
          <p:nvPr/>
        </p:nvSpPr>
        <p:spPr>
          <a:xfrm>
            <a:off x="2950879" y="5888390"/>
            <a:ext cx="1137059" cy="194310"/>
          </a:xfrm>
          <a:prstGeom prst="rect">
            <a:avLst/>
          </a:prstGeom>
          <a:noFill/>
        </p:spPr>
        <p:txBody>
          <a:bodyPr wrap="none" lIns="0" rIns="0" tIns="0" bIns="0">
            <a:spAutoFit/>
          </a:bodyPr>
          <a:lstStyle/>
          <a:p>
            <a:r>
              <a:rPr sz="1150" b="0">
                <a:solidFill>
                  <a:srgbClr val="2E2E2E"/>
                </a:solidFill>
                <a:latin typeface="Calibri"/>
              </a:rPr>
              <a:t>ASP premium and</a:t>
            </a:r>
          </a:p>
        </p:txBody>
      </p:sp>
      <p:pic>
        <p:nvPicPr>
          <p:cNvPr id="57" name="Picture 56" descr="lock.png"/>
          <p:cNvPicPr>
            <a:picLocks noChangeAspect="1"/>
          </p:cNvPicPr>
          <p:nvPr/>
        </p:nvPicPr>
        <p:blipFill>
          <a:blip r:embed="rId7"/>
          <a:stretch>
            <a:fillRect/>
          </a:stretch>
        </p:blipFill>
        <p:spPr>
          <a:xfrm>
            <a:off x="4037092" y="5878167"/>
            <a:ext cx="134549" cy="195707"/>
          </a:xfrm>
          <a:prstGeom prst="rect">
            <a:avLst/>
          </a:prstGeom>
        </p:spPr>
      </p:pic>
      <p:sp>
        <p:nvSpPr>
          <p:cNvPr id="58" name="TextBox 57"/>
          <p:cNvSpPr txBox="1"/>
          <p:nvPr/>
        </p:nvSpPr>
        <p:spPr>
          <a:xfrm>
            <a:off x="4212201" y="5888390"/>
            <a:ext cx="1259147" cy="194310"/>
          </a:xfrm>
          <a:prstGeom prst="rect">
            <a:avLst/>
          </a:prstGeom>
          <a:noFill/>
        </p:spPr>
        <p:txBody>
          <a:bodyPr wrap="none" lIns="0" rIns="0" tIns="0" bIns="0">
            <a:spAutoFit/>
          </a:bodyPr>
          <a:lstStyle/>
          <a:p>
            <a:r>
              <a:rPr sz="1150" b="0">
                <a:solidFill>
                  <a:srgbClr val="2E2E2E"/>
                </a:solidFill>
                <a:latin typeface="Calibri"/>
              </a:rPr>
              <a:t>x pipeline coverage.</a:t>
            </a:r>
          </a:p>
        </p:txBody>
      </p:sp>
      <p:sp>
        <p:nvSpPr>
          <p:cNvPr id="59" name="lockshield_18"/>
          <p:cNvSpPr/>
          <p:nvPr/>
        </p:nvSpPr>
        <p:spPr>
          <a:xfrm>
            <a:off x="23812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lockshield_21"/>
          <p:cNvSpPr/>
          <p:nvPr/>
        </p:nvSpPr>
        <p:spPr>
          <a:xfrm>
            <a:off x="421957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lockshield_24"/>
          <p:cNvSpPr/>
          <p:nvPr/>
        </p:nvSpPr>
        <p:spPr>
          <a:xfrm>
            <a:off x="8201025" y="2351726"/>
            <a:ext cx="37528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Sika Regional Penetration &amp; Win Position (2/5)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penetration and competitive positioning highlighting growth potential, win rates and sales efficiency</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Regional penetration and competitive positioning Sika: SOM vs SAM by region, win position, TAM/SAM/SOM and go-to-market benchmarks.</a:t>
            </a:r>
          </a:p>
        </p:txBody>
      </p:sp>
      <p:sp>
        <p:nvSpPr>
          <p:cNvPr id="11" name="Rounded Rectangle 10"/>
          <p:cNvSpPr/>
          <p:nvPr/>
        </p:nvSpPr>
        <p:spPr>
          <a:xfrm>
            <a:off x="142875" y="1299320"/>
            <a:ext cx="5905500" cy="2263459"/>
          </a:xfrm>
          <a:prstGeom prst="roundRect">
            <a:avLst>
              <a:gd name="adj" fmla="val 33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5647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vs SAM Penetration by Region</a:t>
            </a:r>
          </a:p>
        </p:txBody>
      </p:sp>
      <p:graphicFrame>
        <p:nvGraphicFramePr>
          <p:cNvPr id="13" name="Chart 12"/>
          <p:cNvGraphicFramePr>
            <a:graphicFrameLocks noGrp="1"/>
          </p:cNvGraphicFramePr>
          <p:nvPr/>
        </p:nvGraphicFramePr>
        <p:xfrm>
          <a:off x="238125" y="1585070"/>
          <a:ext cx="5715000" cy="1920559"/>
        </p:xfrm>
        <a:graphic>
          <a:graphicData uri="http://schemas.openxmlformats.org/drawingml/2006/chart">
            <c:chart xmlns:c="http://schemas.openxmlformats.org/drawingml/2006/chart" r:id="rId3"/>
          </a:graphicData>
        </a:graphic>
      </p:graphicFrame>
      <p:sp>
        <p:nvSpPr>
          <p:cNvPr id="14" name="Rounded Rectangle 13"/>
          <p:cNvSpPr/>
          <p:nvPr/>
        </p:nvSpPr>
        <p:spPr>
          <a:xfrm>
            <a:off x="6162675" y="1299320"/>
            <a:ext cx="5886450" cy="2263459"/>
          </a:xfrm>
          <a:prstGeom prst="roundRect">
            <a:avLst>
              <a:gd name="adj" fmla="val 33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57925" y="1356470"/>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Competitive Win Position</a:t>
            </a:r>
          </a:p>
        </p:txBody>
      </p:sp>
      <p:cxnSp>
        <p:nvCxnSpPr>
          <p:cNvPr id="16" name="Connector 15"/>
          <p:cNvCxnSpPr/>
          <p:nvPr/>
        </p:nvCxnSpPr>
        <p:spPr>
          <a:xfrm>
            <a:off x="6581775" y="3219879"/>
            <a:ext cx="5257800" cy="0"/>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81775" y="1680320"/>
            <a:ext cx="0" cy="1539559"/>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67475" y="3238929"/>
            <a:ext cx="228600" cy="114300"/>
          </a:xfrm>
          <a:prstGeom prst="rect">
            <a:avLst/>
          </a:prstGeom>
          <a:noFill/>
        </p:spPr>
        <p:txBody>
          <a:bodyPr wrap="none" lIns="0" rIns="0" tIns="0" bIns="0">
            <a:spAutoFit/>
          </a:bodyPr>
          <a:lstStyle/>
          <a:p>
            <a:pPr algn="ctr"/>
            <a:r>
              <a:rPr sz="1100" b="0">
                <a:solidFill>
                  <a:srgbClr val="6C7A89"/>
                </a:solidFill>
                <a:latin typeface="Calibri"/>
              </a:rPr>
              <a:t>0</a:t>
            </a:r>
          </a:p>
        </p:txBody>
      </p:sp>
      <p:sp>
        <p:nvSpPr>
          <p:cNvPr id="19" name="TextBox 18"/>
          <p:cNvSpPr txBox="1"/>
          <p:nvPr/>
        </p:nvSpPr>
        <p:spPr>
          <a:xfrm>
            <a:off x="7969704" y="3238929"/>
            <a:ext cx="228600" cy="114300"/>
          </a:xfrm>
          <a:prstGeom prst="rect">
            <a:avLst/>
          </a:prstGeom>
          <a:noFill/>
        </p:spPr>
        <p:txBody>
          <a:bodyPr wrap="none" lIns="0" rIns="0" tIns="0" bIns="0">
            <a:spAutoFit/>
          </a:bodyPr>
          <a:lstStyle/>
          <a:p>
            <a:pPr algn="ctr"/>
            <a:r>
              <a:rPr sz="1100" b="0">
                <a:solidFill>
                  <a:srgbClr val="6C7A89"/>
                </a:solidFill>
                <a:latin typeface="Calibri"/>
              </a:rPr>
              <a:t>1</a:t>
            </a:r>
          </a:p>
        </p:txBody>
      </p:sp>
      <p:sp>
        <p:nvSpPr>
          <p:cNvPr id="20" name="TextBox 19"/>
          <p:cNvSpPr txBox="1"/>
          <p:nvPr/>
        </p:nvSpPr>
        <p:spPr>
          <a:xfrm>
            <a:off x="9471932" y="3238929"/>
            <a:ext cx="228600" cy="114300"/>
          </a:xfrm>
          <a:prstGeom prst="rect">
            <a:avLst/>
          </a:prstGeom>
          <a:noFill/>
        </p:spPr>
        <p:txBody>
          <a:bodyPr wrap="none" lIns="0" rIns="0" tIns="0" bIns="0">
            <a:spAutoFit/>
          </a:bodyPr>
          <a:lstStyle/>
          <a:p>
            <a:pPr algn="ctr"/>
            <a:r>
              <a:rPr sz="1100" b="0">
                <a:solidFill>
                  <a:srgbClr val="6C7A89"/>
                </a:solidFill>
                <a:latin typeface="Calibri"/>
              </a:rPr>
              <a:t>2</a:t>
            </a:r>
          </a:p>
        </p:txBody>
      </p:sp>
      <p:sp>
        <p:nvSpPr>
          <p:cNvPr id="21" name="TextBox 20"/>
          <p:cNvSpPr txBox="1"/>
          <p:nvPr/>
        </p:nvSpPr>
        <p:spPr>
          <a:xfrm>
            <a:off x="10974161" y="3238929"/>
            <a:ext cx="228600" cy="114300"/>
          </a:xfrm>
          <a:prstGeom prst="rect">
            <a:avLst/>
          </a:prstGeom>
          <a:noFill/>
        </p:spPr>
        <p:txBody>
          <a:bodyPr wrap="none" lIns="0" rIns="0" tIns="0" bIns="0">
            <a:spAutoFit/>
          </a:bodyPr>
          <a:lstStyle/>
          <a:p>
            <a:pPr algn="ctr"/>
            <a:r>
              <a:rPr sz="1100" b="0">
                <a:solidFill>
                  <a:srgbClr val="6C7A89"/>
                </a:solidFill>
                <a:latin typeface="Calibri"/>
              </a:rPr>
              <a:t>3</a:t>
            </a:r>
          </a:p>
        </p:txBody>
      </p:sp>
      <p:sp>
        <p:nvSpPr>
          <p:cNvPr id="22" name="TextBox 21"/>
          <p:cNvSpPr txBox="1"/>
          <p:nvPr/>
        </p:nvSpPr>
        <p:spPr>
          <a:xfrm>
            <a:off x="6581775" y="3353229"/>
            <a:ext cx="5257800" cy="114300"/>
          </a:xfrm>
          <a:prstGeom prst="rect">
            <a:avLst/>
          </a:prstGeom>
          <a:noFill/>
        </p:spPr>
        <p:txBody>
          <a:bodyPr wrap="square" lIns="28575" rIns="28575" tIns="9525" bIns="9525">
            <a:spAutoFit/>
          </a:bodyPr>
          <a:lstStyle/>
          <a:p>
            <a:pPr algn="ctr"/>
            <a:r>
              <a:rPr sz="1100" b="0">
                <a:solidFill>
                  <a:srgbClr val="6C7A89"/>
                </a:solidFill>
                <a:latin typeface="Calibri"/>
              </a:rPr>
              <a:t>Win Rate %</a:t>
            </a:r>
          </a:p>
        </p:txBody>
      </p:sp>
      <p:sp>
        <p:nvSpPr>
          <p:cNvPr id="23" name="TextBox 22"/>
          <p:cNvSpPr txBox="1"/>
          <p:nvPr/>
        </p:nvSpPr>
        <p:spPr>
          <a:xfrm rot="16200000">
            <a:off x="6029325" y="2373900"/>
            <a:ext cx="571500" cy="152400"/>
          </a:xfrm>
          <a:prstGeom prst="rect">
            <a:avLst/>
          </a:prstGeom>
          <a:noFill/>
        </p:spPr>
        <p:txBody>
          <a:bodyPr wrap="square" lIns="28575" rIns="28575" tIns="9525" bIns="9525">
            <a:spAutoFit/>
          </a:bodyPr>
          <a:lstStyle/>
          <a:p>
            <a:pPr algn="ctr"/>
            <a:r>
              <a:rPr sz="1100" b="0">
                <a:solidFill>
                  <a:srgbClr val="6C7A89"/>
                </a:solidFill>
                <a:latin typeface="Calibri"/>
              </a:rPr>
              <a:t>ASP vs Peer</a:t>
            </a:r>
          </a:p>
        </p:txBody>
      </p:sp>
      <p:sp>
        <p:nvSpPr>
          <p:cNvPr id="24" name="Oval 23"/>
          <p:cNvSpPr/>
          <p:nvPr/>
        </p:nvSpPr>
        <p:spPr>
          <a:xfrm>
            <a:off x="7359287" y="1979874"/>
            <a:ext cx="247650" cy="247650"/>
          </a:xfrm>
          <a:prstGeom prst="ellipse">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45037" y="2017974"/>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Sika</a:t>
            </a:r>
          </a:p>
        </p:txBody>
      </p:sp>
      <p:sp>
        <p:nvSpPr>
          <p:cNvPr id="26" name="Oval 25"/>
          <p:cNvSpPr/>
          <p:nvPr/>
        </p:nvSpPr>
        <p:spPr>
          <a:xfrm>
            <a:off x="9283609" y="1912810"/>
            <a:ext cx="304800" cy="304800"/>
          </a:xfrm>
          <a:prstGeom prst="ellipse">
            <a:avLst/>
          </a:prstGeom>
          <a:solidFill>
            <a:srgbClr val="8C8C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26509" y="1979485"/>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Industry Avg.</a:t>
            </a:r>
          </a:p>
        </p:txBody>
      </p:sp>
      <p:sp>
        <p:nvSpPr>
          <p:cNvPr id="28" name="Oval 27"/>
          <p:cNvSpPr/>
          <p:nvPr/>
        </p:nvSpPr>
        <p:spPr>
          <a:xfrm>
            <a:off x="10513967" y="2711164"/>
            <a:ext cx="247650" cy="247650"/>
          </a:xfrm>
          <a:prstGeom prst="ellipse">
            <a:avLst/>
          </a:prstGeom>
          <a:solidFill>
            <a:srgbClr val="0E72A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706100" y="2749264"/>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Market Leader</a:t>
            </a:r>
          </a:p>
        </p:txBody>
      </p:sp>
      <p:sp>
        <p:nvSpPr>
          <p:cNvPr id="30" name="Rounded Rectangle 29"/>
          <p:cNvSpPr/>
          <p:nvPr/>
        </p:nvSpPr>
        <p:spPr>
          <a:xfrm>
            <a:off x="142875" y="3635794"/>
            <a:ext cx="5905500" cy="1661086"/>
          </a:xfrm>
          <a:prstGeom prst="roundRect">
            <a:avLst>
              <a:gd name="adj" fmla="val 4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 y="3692944"/>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TAM · SAM · SOM (US$ Mn)</a:t>
            </a:r>
          </a:p>
        </p:txBody>
      </p:sp>
      <p:sp>
        <p:nvSpPr>
          <p:cNvPr id="32" name="Rectangle 31"/>
          <p:cNvSpPr/>
          <p:nvPr/>
        </p:nvSpPr>
        <p:spPr>
          <a:xfrm>
            <a:off x="238125" y="3921544"/>
            <a:ext cx="5715000" cy="363195"/>
          </a:xfrm>
          <a:prstGeom prst="rect">
            <a:avLst/>
          </a:prstGeom>
          <a:solidFill>
            <a:srgbClr val="0A2E4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3" name="Rectangle 32"/>
          <p:cNvSpPr/>
          <p:nvPr/>
        </p:nvSpPr>
        <p:spPr>
          <a:xfrm>
            <a:off x="238125" y="4399039"/>
            <a:ext cx="4400550" cy="363195"/>
          </a:xfrm>
          <a:prstGeom prst="rect">
            <a:avLst/>
          </a:prstGeom>
          <a:solidFill>
            <a:srgbClr val="1668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4" name="Rectangle 33"/>
          <p:cNvSpPr/>
          <p:nvPr/>
        </p:nvSpPr>
        <p:spPr>
          <a:xfrm>
            <a:off x="238125" y="4876535"/>
            <a:ext cx="3086100" cy="363195"/>
          </a:xfrm>
          <a:prstGeom prst="rect">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5" name="Rounded Rectangle 34"/>
          <p:cNvSpPr/>
          <p:nvPr/>
        </p:nvSpPr>
        <p:spPr>
          <a:xfrm>
            <a:off x="6162675" y="3635794"/>
            <a:ext cx="5886450" cy="1661086"/>
          </a:xfrm>
          <a:prstGeom prst="roundRect">
            <a:avLst>
              <a:gd name="adj" fmla="val 4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57925" y="3692944"/>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Go-to-Market Benchmarks (Target vs Actual)</a:t>
            </a:r>
          </a:p>
        </p:txBody>
      </p:sp>
      <p:sp>
        <p:nvSpPr>
          <p:cNvPr id="37" name="Rectangle 36"/>
          <p:cNvSpPr/>
          <p:nvPr/>
        </p:nvSpPr>
        <p:spPr>
          <a:xfrm>
            <a:off x="10391775" y="3940594"/>
            <a:ext cx="95250" cy="95250"/>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06075" y="3912019"/>
            <a:ext cx="571500" cy="133350"/>
          </a:xfrm>
          <a:prstGeom prst="rect">
            <a:avLst/>
          </a:prstGeom>
          <a:noFill/>
        </p:spPr>
        <p:txBody>
          <a:bodyPr wrap="square" lIns="28575" rIns="28575" tIns="9525" bIns="9525">
            <a:spAutoFit/>
          </a:bodyPr>
          <a:lstStyle/>
          <a:p>
            <a:pPr algn="l"/>
            <a:r>
              <a:rPr sz="1100" b="0">
                <a:solidFill>
                  <a:srgbClr val="2E2E2E"/>
                </a:solidFill>
                <a:latin typeface="Calibri"/>
              </a:rPr>
              <a:t>Target</a:t>
            </a:r>
          </a:p>
        </p:txBody>
      </p:sp>
      <p:sp>
        <p:nvSpPr>
          <p:cNvPr id="39" name="Rectangle 38"/>
          <p:cNvSpPr/>
          <p:nvPr/>
        </p:nvSpPr>
        <p:spPr>
          <a:xfrm>
            <a:off x="11134725" y="3940594"/>
            <a:ext cx="95250" cy="95250"/>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249025" y="3912019"/>
            <a:ext cx="571500" cy="133350"/>
          </a:xfrm>
          <a:prstGeom prst="rect">
            <a:avLst/>
          </a:prstGeom>
          <a:noFill/>
        </p:spPr>
        <p:txBody>
          <a:bodyPr wrap="square" lIns="28575" rIns="28575" tIns="9525" bIns="9525">
            <a:spAutoFit/>
          </a:bodyPr>
          <a:lstStyle/>
          <a:p>
            <a:pPr algn="l"/>
            <a:r>
              <a:rPr sz="1100" b="0">
                <a:solidFill>
                  <a:srgbClr val="2E2E2E"/>
                </a:solidFill>
                <a:latin typeface="Calibri"/>
              </a:rPr>
              <a:t>Actual</a:t>
            </a:r>
          </a:p>
        </p:txBody>
      </p:sp>
      <p:sp>
        <p:nvSpPr>
          <p:cNvPr id="41" name="TextBox 40"/>
          <p:cNvSpPr txBox="1"/>
          <p:nvPr/>
        </p:nvSpPr>
        <p:spPr>
          <a:xfrm>
            <a:off x="6276975" y="4153941"/>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Conversion (%)</a:t>
            </a:r>
          </a:p>
        </p:txBody>
      </p:sp>
      <p:sp>
        <p:nvSpPr>
          <p:cNvPr id="42" name="Rectangle 41"/>
          <p:cNvSpPr/>
          <p:nvPr/>
        </p:nvSpPr>
        <p:spPr>
          <a:xfrm>
            <a:off x="7381875" y="4164998"/>
            <a:ext cx="1597914"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381875" y="4277766"/>
            <a:ext cx="3018282"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6975" y="4466337"/>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Sales Cycle (Days)</a:t>
            </a:r>
          </a:p>
        </p:txBody>
      </p:sp>
      <p:sp>
        <p:nvSpPr>
          <p:cNvPr id="45" name="Rectangle 44"/>
          <p:cNvSpPr/>
          <p:nvPr/>
        </p:nvSpPr>
        <p:spPr>
          <a:xfrm>
            <a:off x="7381875" y="4477393"/>
            <a:ext cx="3817239"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381875" y="4590162"/>
            <a:ext cx="2219325"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76975" y="4778732"/>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Pipeline Coverage</a:t>
            </a:r>
          </a:p>
        </p:txBody>
      </p:sp>
      <p:sp>
        <p:nvSpPr>
          <p:cNvPr id="48" name="Rectangle 47"/>
          <p:cNvSpPr/>
          <p:nvPr/>
        </p:nvSpPr>
        <p:spPr>
          <a:xfrm>
            <a:off x="7381875" y="4789789"/>
            <a:ext cx="2130552"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381875" y="4902557"/>
            <a:ext cx="3906012"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142875" y="5369895"/>
            <a:ext cx="11906250" cy="1259505"/>
          </a:xfrm>
          <a:prstGeom prst="roundRect">
            <a:avLst>
              <a:gd name="adj" fmla="val 60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6225" y="5455620"/>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52" name="Rectangle 51"/>
          <p:cNvSpPr/>
          <p:nvPr/>
        </p:nvSpPr>
        <p:spPr>
          <a:xfrm>
            <a:off x="276225" y="569374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6225" y="5779470"/>
            <a:ext cx="11639550" cy="77373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p:txBody>
      </p:sp>
      <p:sp>
        <p:nvSpPr>
          <p:cNvPr id="54" name="TextBox 5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5" name="Picture 54" descr="lock.png"/>
          <p:cNvPicPr>
            <a:picLocks noChangeAspect="1"/>
          </p:cNvPicPr>
          <p:nvPr/>
        </p:nvPicPr>
        <p:blipFill>
          <a:blip r:embed="rId5"/>
          <a:stretch>
            <a:fillRect/>
          </a:stretch>
        </p:blipFill>
        <p:spPr>
          <a:xfrm>
            <a:off x="3327425" y="2314517"/>
            <a:ext cx="199521" cy="290213"/>
          </a:xfrm>
          <a:prstGeom prst="rect">
            <a:avLst/>
          </a:prstGeom>
        </p:spPr>
      </p:pic>
      <p:sp>
        <p:nvSpPr>
          <p:cNvPr id="56" name="TextBox 55"/>
          <p:cNvSpPr txBox="1"/>
          <p:nvPr/>
        </p:nvSpPr>
        <p:spPr>
          <a:xfrm>
            <a:off x="352425" y="4015511"/>
            <a:ext cx="871202" cy="194310"/>
          </a:xfrm>
          <a:prstGeom prst="rect">
            <a:avLst/>
          </a:prstGeom>
          <a:noFill/>
        </p:spPr>
        <p:txBody>
          <a:bodyPr wrap="none" lIns="0" rIns="0" tIns="0" bIns="0">
            <a:spAutoFit/>
          </a:bodyPr>
          <a:lstStyle/>
          <a:p>
            <a:r>
              <a:rPr sz="1150" b="1">
                <a:solidFill>
                  <a:srgbClr val="FFFFFF"/>
                </a:solidFill>
                <a:latin typeface="Calibri"/>
              </a:rPr>
              <a:t>TAM · 100% ·</a:t>
            </a:r>
          </a:p>
        </p:txBody>
      </p:sp>
      <p:pic>
        <p:nvPicPr>
          <p:cNvPr id="57" name="Picture 56" descr="lock.png"/>
          <p:cNvPicPr>
            <a:picLocks noChangeAspect="1"/>
          </p:cNvPicPr>
          <p:nvPr/>
        </p:nvPicPr>
        <p:blipFill>
          <a:blip r:embed="rId5"/>
          <a:stretch>
            <a:fillRect/>
          </a:stretch>
        </p:blipFill>
        <p:spPr>
          <a:xfrm>
            <a:off x="1172781" y="4005288"/>
            <a:ext cx="134549" cy="195707"/>
          </a:xfrm>
          <a:prstGeom prst="rect">
            <a:avLst/>
          </a:prstGeom>
        </p:spPr>
      </p:pic>
      <p:sp>
        <p:nvSpPr>
          <p:cNvPr id="58" name="TextBox 57"/>
          <p:cNvSpPr txBox="1"/>
          <p:nvPr/>
        </p:nvSpPr>
        <p:spPr>
          <a:xfrm>
            <a:off x="1347890" y="4015511"/>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59" name="TextBox 58"/>
          <p:cNvSpPr txBox="1"/>
          <p:nvPr/>
        </p:nvSpPr>
        <p:spPr>
          <a:xfrm>
            <a:off x="352425" y="4493006"/>
            <a:ext cx="433623" cy="194310"/>
          </a:xfrm>
          <a:prstGeom prst="rect">
            <a:avLst/>
          </a:prstGeom>
          <a:noFill/>
        </p:spPr>
        <p:txBody>
          <a:bodyPr wrap="none" lIns="0" rIns="0" tIns="0" bIns="0">
            <a:spAutoFit/>
          </a:bodyPr>
          <a:lstStyle/>
          <a:p>
            <a:r>
              <a:rPr sz="1150" b="1">
                <a:solidFill>
                  <a:srgbClr val="FFFFFF"/>
                </a:solidFill>
                <a:latin typeface="Calibri"/>
              </a:rPr>
              <a:t>SAM ·</a:t>
            </a:r>
          </a:p>
        </p:txBody>
      </p:sp>
      <p:pic>
        <p:nvPicPr>
          <p:cNvPr id="60" name="Picture 59" descr="lock.png"/>
          <p:cNvPicPr>
            <a:picLocks noChangeAspect="1"/>
          </p:cNvPicPr>
          <p:nvPr/>
        </p:nvPicPr>
        <p:blipFill>
          <a:blip r:embed="rId5"/>
          <a:stretch>
            <a:fillRect/>
          </a:stretch>
        </p:blipFill>
        <p:spPr>
          <a:xfrm>
            <a:off x="735202" y="4482783"/>
            <a:ext cx="134549" cy="195707"/>
          </a:xfrm>
          <a:prstGeom prst="rect">
            <a:avLst/>
          </a:prstGeom>
        </p:spPr>
      </p:pic>
      <p:sp>
        <p:nvSpPr>
          <p:cNvPr id="61" name="TextBox 60"/>
          <p:cNvSpPr txBox="1"/>
          <p:nvPr/>
        </p:nvSpPr>
        <p:spPr>
          <a:xfrm>
            <a:off x="910311" y="4493006"/>
            <a:ext cx="594791" cy="194310"/>
          </a:xfrm>
          <a:prstGeom prst="rect">
            <a:avLst/>
          </a:prstGeom>
          <a:noFill/>
        </p:spPr>
        <p:txBody>
          <a:bodyPr wrap="none" lIns="0" rIns="0" tIns="0" bIns="0">
            <a:spAutoFit/>
          </a:bodyPr>
          <a:lstStyle/>
          <a:p>
            <a:r>
              <a:rPr sz="1150" b="1">
                <a:solidFill>
                  <a:srgbClr val="FFFFFF"/>
                </a:solidFill>
                <a:latin typeface="Calibri"/>
              </a:rPr>
              <a:t>of TAM ·</a:t>
            </a:r>
          </a:p>
        </p:txBody>
      </p:sp>
      <p:pic>
        <p:nvPicPr>
          <p:cNvPr id="62" name="Picture 61" descr="lock.png"/>
          <p:cNvPicPr>
            <a:picLocks noChangeAspect="1"/>
          </p:cNvPicPr>
          <p:nvPr/>
        </p:nvPicPr>
        <p:blipFill>
          <a:blip r:embed="rId5"/>
          <a:stretch>
            <a:fillRect/>
          </a:stretch>
        </p:blipFill>
        <p:spPr>
          <a:xfrm>
            <a:off x="1454256" y="4482783"/>
            <a:ext cx="134549" cy="195707"/>
          </a:xfrm>
          <a:prstGeom prst="rect">
            <a:avLst/>
          </a:prstGeom>
        </p:spPr>
      </p:pic>
      <p:sp>
        <p:nvSpPr>
          <p:cNvPr id="63" name="TextBox 62"/>
          <p:cNvSpPr txBox="1"/>
          <p:nvPr/>
        </p:nvSpPr>
        <p:spPr>
          <a:xfrm>
            <a:off x="1629366" y="4493006"/>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64" name="TextBox 63"/>
          <p:cNvSpPr txBox="1"/>
          <p:nvPr/>
        </p:nvSpPr>
        <p:spPr>
          <a:xfrm>
            <a:off x="352425" y="4970502"/>
            <a:ext cx="443892" cy="194310"/>
          </a:xfrm>
          <a:prstGeom prst="rect">
            <a:avLst/>
          </a:prstGeom>
          <a:noFill/>
        </p:spPr>
        <p:txBody>
          <a:bodyPr wrap="none" lIns="0" rIns="0" tIns="0" bIns="0">
            <a:spAutoFit/>
          </a:bodyPr>
          <a:lstStyle/>
          <a:p>
            <a:r>
              <a:rPr sz="1150" b="1">
                <a:solidFill>
                  <a:srgbClr val="FFFFFF"/>
                </a:solidFill>
                <a:latin typeface="Calibri"/>
              </a:rPr>
              <a:t>SOM ·</a:t>
            </a:r>
          </a:p>
        </p:txBody>
      </p:sp>
      <p:pic>
        <p:nvPicPr>
          <p:cNvPr id="65" name="Picture 64" descr="lock.png"/>
          <p:cNvPicPr>
            <a:picLocks noChangeAspect="1"/>
          </p:cNvPicPr>
          <p:nvPr/>
        </p:nvPicPr>
        <p:blipFill>
          <a:blip r:embed="rId5"/>
          <a:stretch>
            <a:fillRect/>
          </a:stretch>
        </p:blipFill>
        <p:spPr>
          <a:xfrm>
            <a:off x="745471" y="4960279"/>
            <a:ext cx="134549" cy="195707"/>
          </a:xfrm>
          <a:prstGeom prst="rect">
            <a:avLst/>
          </a:prstGeom>
        </p:spPr>
      </p:pic>
      <p:sp>
        <p:nvSpPr>
          <p:cNvPr id="66" name="TextBox 65"/>
          <p:cNvSpPr txBox="1"/>
          <p:nvPr/>
        </p:nvSpPr>
        <p:spPr>
          <a:xfrm>
            <a:off x="920580" y="4970502"/>
            <a:ext cx="591368" cy="194310"/>
          </a:xfrm>
          <a:prstGeom prst="rect">
            <a:avLst/>
          </a:prstGeom>
          <a:noFill/>
        </p:spPr>
        <p:txBody>
          <a:bodyPr wrap="none" lIns="0" rIns="0" tIns="0" bIns="0">
            <a:spAutoFit/>
          </a:bodyPr>
          <a:lstStyle/>
          <a:p>
            <a:r>
              <a:rPr sz="1150" b="1">
                <a:solidFill>
                  <a:srgbClr val="FFFFFF"/>
                </a:solidFill>
                <a:latin typeface="Calibri"/>
              </a:rPr>
              <a:t>of SAM ·</a:t>
            </a:r>
          </a:p>
        </p:txBody>
      </p:sp>
      <p:pic>
        <p:nvPicPr>
          <p:cNvPr id="67" name="Picture 66" descr="lock.png"/>
          <p:cNvPicPr>
            <a:picLocks noChangeAspect="1"/>
          </p:cNvPicPr>
          <p:nvPr/>
        </p:nvPicPr>
        <p:blipFill>
          <a:blip r:embed="rId5"/>
          <a:stretch>
            <a:fillRect/>
          </a:stretch>
        </p:blipFill>
        <p:spPr>
          <a:xfrm>
            <a:off x="1461102" y="4960279"/>
            <a:ext cx="134549" cy="195707"/>
          </a:xfrm>
          <a:prstGeom prst="rect">
            <a:avLst/>
          </a:prstGeom>
        </p:spPr>
      </p:pic>
      <p:sp>
        <p:nvSpPr>
          <p:cNvPr id="68" name="TextBox 67"/>
          <p:cNvSpPr txBox="1"/>
          <p:nvPr/>
        </p:nvSpPr>
        <p:spPr>
          <a:xfrm>
            <a:off x="1636212" y="4970502"/>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69" name="TextBox 68"/>
          <p:cNvSpPr txBox="1"/>
          <p:nvPr/>
        </p:nvSpPr>
        <p:spPr>
          <a:xfrm>
            <a:off x="276225" y="5788995"/>
            <a:ext cx="7663656" cy="186689"/>
          </a:xfrm>
          <a:prstGeom prst="rect">
            <a:avLst/>
          </a:prstGeom>
          <a:noFill/>
        </p:spPr>
        <p:txBody>
          <a:bodyPr wrap="none" lIns="0" rIns="0" tIns="0" bIns="0">
            <a:spAutoFit/>
          </a:bodyPr>
          <a:lstStyle/>
          <a:p>
            <a:r>
              <a:rPr sz="1100" b="0">
                <a:solidFill>
                  <a:srgbClr val="2E2E2E"/>
                </a:solidFill>
                <a:latin typeface="Calibri"/>
              </a:rPr>
              <a:t>▪ Regional Opportunity: 'Rest of the World' shows the highest SAM penetration; lower-penetration regions are the growth headroom.</a:t>
            </a:r>
          </a:p>
        </p:txBody>
      </p:sp>
      <p:sp>
        <p:nvSpPr>
          <p:cNvPr id="70" name="TextBox 69"/>
          <p:cNvSpPr txBox="1"/>
          <p:nvPr/>
        </p:nvSpPr>
        <p:spPr>
          <a:xfrm>
            <a:off x="276225" y="6006927"/>
            <a:ext cx="1297999" cy="186689"/>
          </a:xfrm>
          <a:prstGeom prst="rect">
            <a:avLst/>
          </a:prstGeom>
          <a:noFill/>
        </p:spPr>
        <p:txBody>
          <a:bodyPr wrap="none" lIns="0" rIns="0" tIns="0" bIns="0">
            <a:spAutoFit/>
          </a:bodyPr>
          <a:lstStyle/>
          <a:p>
            <a:r>
              <a:rPr sz="1100" b="0">
                <a:solidFill>
                  <a:srgbClr val="2E2E2E"/>
                </a:solidFill>
                <a:latin typeface="Calibri"/>
              </a:rPr>
              <a:t>▪ Competitive Edge: ~</a:t>
            </a:r>
          </a:p>
        </p:txBody>
      </p:sp>
      <p:pic>
        <p:nvPicPr>
          <p:cNvPr id="71" name="Picture 70" descr="lock.png"/>
          <p:cNvPicPr>
            <a:picLocks noChangeAspect="1"/>
          </p:cNvPicPr>
          <p:nvPr/>
        </p:nvPicPr>
        <p:blipFill>
          <a:blip r:embed="rId5"/>
          <a:stretch>
            <a:fillRect/>
          </a:stretch>
        </p:blipFill>
        <p:spPr>
          <a:xfrm>
            <a:off x="1522276" y="5997147"/>
            <a:ext cx="128699" cy="187198"/>
          </a:xfrm>
          <a:prstGeom prst="rect">
            <a:avLst/>
          </a:prstGeom>
        </p:spPr>
      </p:pic>
      <p:sp>
        <p:nvSpPr>
          <p:cNvPr id="72" name="TextBox 71"/>
          <p:cNvSpPr txBox="1"/>
          <p:nvPr/>
        </p:nvSpPr>
        <p:spPr>
          <a:xfrm>
            <a:off x="1689771" y="6006927"/>
            <a:ext cx="1029270" cy="186689"/>
          </a:xfrm>
          <a:prstGeom prst="rect">
            <a:avLst/>
          </a:prstGeom>
          <a:noFill/>
        </p:spPr>
        <p:txBody>
          <a:bodyPr wrap="none" lIns="0" rIns="0" tIns="0" bIns="0">
            <a:spAutoFit/>
          </a:bodyPr>
          <a:lstStyle/>
          <a:p>
            <a:r>
              <a:rPr sz="1100" b="0">
                <a:solidFill>
                  <a:srgbClr val="2E2E2E"/>
                </a:solidFill>
                <a:latin typeface="Calibri"/>
              </a:rPr>
              <a:t>win rate with a +</a:t>
            </a:r>
          </a:p>
        </p:txBody>
      </p:sp>
      <p:pic>
        <p:nvPicPr>
          <p:cNvPr id="73" name="Picture 72" descr="lock.png"/>
          <p:cNvPicPr>
            <a:picLocks noChangeAspect="1"/>
          </p:cNvPicPr>
          <p:nvPr/>
        </p:nvPicPr>
        <p:blipFill>
          <a:blip r:embed="rId5"/>
          <a:stretch>
            <a:fillRect/>
          </a:stretch>
        </p:blipFill>
        <p:spPr>
          <a:xfrm>
            <a:off x="2667093" y="5997147"/>
            <a:ext cx="128699" cy="187198"/>
          </a:xfrm>
          <a:prstGeom prst="rect">
            <a:avLst/>
          </a:prstGeom>
        </p:spPr>
      </p:pic>
      <p:sp>
        <p:nvSpPr>
          <p:cNvPr id="74" name="TextBox 73"/>
          <p:cNvSpPr txBox="1"/>
          <p:nvPr/>
        </p:nvSpPr>
        <p:spPr>
          <a:xfrm>
            <a:off x="2834589" y="6006927"/>
            <a:ext cx="2311400" cy="186689"/>
          </a:xfrm>
          <a:prstGeom prst="rect">
            <a:avLst/>
          </a:prstGeom>
          <a:noFill/>
        </p:spPr>
        <p:txBody>
          <a:bodyPr wrap="none" lIns="0" rIns="0" tIns="0" bIns="0">
            <a:spAutoFit/>
          </a:bodyPr>
          <a:lstStyle/>
          <a:p>
            <a:r>
              <a:rPr sz="1100" b="0">
                <a:solidFill>
                  <a:srgbClr val="2E2E2E"/>
                </a:solidFill>
                <a:latin typeface="Calibri"/>
              </a:rPr>
              <a:t>ASP premium signals value recognition;</a:t>
            </a:r>
          </a:p>
        </p:txBody>
      </p:sp>
      <p:pic>
        <p:nvPicPr>
          <p:cNvPr id="75" name="Picture 74" descr="lock.png"/>
          <p:cNvPicPr>
            <a:picLocks noChangeAspect="1"/>
          </p:cNvPicPr>
          <p:nvPr/>
        </p:nvPicPr>
        <p:blipFill>
          <a:blip r:embed="rId5"/>
          <a:stretch>
            <a:fillRect/>
          </a:stretch>
        </p:blipFill>
        <p:spPr>
          <a:xfrm>
            <a:off x="5094041" y="5997147"/>
            <a:ext cx="128699" cy="187198"/>
          </a:xfrm>
          <a:prstGeom prst="rect">
            <a:avLst/>
          </a:prstGeom>
        </p:spPr>
      </p:pic>
      <p:sp>
        <p:nvSpPr>
          <p:cNvPr id="76" name="TextBox 75"/>
          <p:cNvSpPr txBox="1"/>
          <p:nvPr/>
        </p:nvSpPr>
        <p:spPr>
          <a:xfrm>
            <a:off x="5261537" y="6006927"/>
            <a:ext cx="2251645" cy="186689"/>
          </a:xfrm>
          <a:prstGeom prst="rect">
            <a:avLst/>
          </a:prstGeom>
          <a:noFill/>
        </p:spPr>
        <p:txBody>
          <a:bodyPr wrap="none" lIns="0" rIns="0" tIns="0" bIns="0">
            <a:spAutoFit/>
          </a:bodyPr>
          <a:lstStyle/>
          <a:p>
            <a:r>
              <a:rPr sz="1100" b="0">
                <a:solidFill>
                  <a:srgbClr val="2E2E2E"/>
                </a:solidFill>
                <a:latin typeface="Calibri"/>
              </a:rPr>
              <a:t>x pipeline coverage underpins growth.</a:t>
            </a:r>
          </a:p>
        </p:txBody>
      </p:sp>
      <p:sp>
        <p:nvSpPr>
          <p:cNvPr id="77" name="TextBox 76"/>
          <p:cNvSpPr txBox="1"/>
          <p:nvPr/>
        </p:nvSpPr>
        <p:spPr>
          <a:xfrm>
            <a:off x="276225" y="6224859"/>
            <a:ext cx="2615015" cy="186689"/>
          </a:xfrm>
          <a:prstGeom prst="rect">
            <a:avLst/>
          </a:prstGeom>
          <a:noFill/>
        </p:spPr>
        <p:txBody>
          <a:bodyPr wrap="none" lIns="0" rIns="0" tIns="0" bIns="0">
            <a:spAutoFit/>
          </a:bodyPr>
          <a:lstStyle/>
          <a:p>
            <a:r>
              <a:rPr sz="1100" b="0">
                <a:solidFill>
                  <a:srgbClr val="2E2E2E"/>
                </a:solidFill>
                <a:latin typeface="Calibri"/>
              </a:rPr>
              <a:t>▪ Sales Efficiency: a ~95-day sales cycle and ~</a:t>
            </a:r>
          </a:p>
        </p:txBody>
      </p:sp>
      <p:pic>
        <p:nvPicPr>
          <p:cNvPr id="78" name="Picture 77" descr="lock.png"/>
          <p:cNvPicPr>
            <a:picLocks noChangeAspect="1"/>
          </p:cNvPicPr>
          <p:nvPr/>
        </p:nvPicPr>
        <p:blipFill>
          <a:blip r:embed="rId5"/>
          <a:stretch>
            <a:fillRect/>
          </a:stretch>
        </p:blipFill>
        <p:spPr>
          <a:xfrm>
            <a:off x="2839292" y="6215079"/>
            <a:ext cx="128699" cy="187198"/>
          </a:xfrm>
          <a:prstGeom prst="rect">
            <a:avLst/>
          </a:prstGeom>
        </p:spPr>
      </p:pic>
      <p:sp>
        <p:nvSpPr>
          <p:cNvPr id="79" name="TextBox 78"/>
          <p:cNvSpPr txBox="1"/>
          <p:nvPr/>
        </p:nvSpPr>
        <p:spPr>
          <a:xfrm>
            <a:off x="3006787" y="6224859"/>
            <a:ext cx="2384524" cy="186689"/>
          </a:xfrm>
          <a:prstGeom prst="rect">
            <a:avLst/>
          </a:prstGeom>
          <a:noFill/>
        </p:spPr>
        <p:txBody>
          <a:bodyPr wrap="none" lIns="0" rIns="0" tIns="0" bIns="0">
            <a:spAutoFit/>
          </a:bodyPr>
          <a:lstStyle/>
          <a:p>
            <a:r>
              <a:rPr sz="1100" b="0">
                <a:solidFill>
                  <a:srgbClr val="2E2E2E"/>
                </a:solidFill>
                <a:latin typeface="Calibri"/>
              </a:rPr>
              <a:t>conversion support faster share capture.</a:t>
            </a:r>
          </a:p>
        </p:txBody>
      </p:sp>
      <p:sp>
        <p:nvSpPr>
          <p:cNvPr id="80" name="lockshield_13"/>
          <p:cNvSpPr/>
          <p:nvPr/>
        </p:nvSpPr>
        <p:spPr>
          <a:xfrm>
            <a:off x="238125" y="1585070"/>
            <a:ext cx="5715000" cy="192055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Sika SWOT Analysis (3/5)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SWOT assessment of Sika: strengths, weaknesses, opportunities and threats shaping its competitive position</a:t>
            </a:r>
          </a:p>
        </p:txBody>
      </p:sp>
      <p:sp>
        <p:nvSpPr>
          <p:cNvPr id="10" name="TextBox 9"/>
          <p:cNvSpPr txBox="1"/>
          <p:nvPr/>
        </p:nvSpPr>
        <p:spPr>
          <a:xfrm>
            <a:off x="142875" y="1007261"/>
            <a:ext cx="11906250" cy="164283"/>
          </a:xfrm>
          <a:prstGeom prst="rect">
            <a:avLst/>
          </a:prstGeom>
          <a:noFill/>
        </p:spPr>
        <p:txBody>
          <a:bodyPr wrap="square" lIns="28575" rIns="28575" tIns="9525" bIns="9525" anchor="ctr">
            <a:spAutoFit/>
          </a:bodyPr>
          <a:lstStyle/>
          <a:p>
            <a:pPr algn="l"/>
            <a:r>
              <a:rPr sz="1150" b="0">
                <a:solidFill>
                  <a:srgbClr val="2E2E2E"/>
                </a:solidFill>
                <a:latin typeface="Calibri"/>
              </a:rPr>
              <a:t>SWOT assessment Sika: strengths, weaknesses, opportunities and threats (indicative).</a:t>
            </a:r>
          </a:p>
        </p:txBody>
      </p:sp>
      <p:cxnSp>
        <p:nvCxnSpPr>
          <p:cNvPr id="11" name="Connector 10"/>
          <p:cNvCxnSpPr/>
          <p:nvPr/>
        </p:nvCxnSpPr>
        <p:spPr>
          <a:xfrm>
            <a:off x="3810000" y="3891345"/>
            <a:ext cx="4572000" cy="0"/>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6000" y="1919946"/>
            <a:ext cx="0" cy="3942799"/>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757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29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043612" y="1869748"/>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043612" y="58125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724400" y="2577079"/>
            <a:ext cx="1257300" cy="1204744"/>
          </a:xfrm>
          <a:prstGeom prst="roundRect">
            <a:avLst>
              <a:gd name="adj" fmla="val 12121"/>
            </a:avLst>
          </a:prstGeom>
          <a:noFill/>
          <a:ln w="19050">
            <a:solidFill>
              <a:srgbClr val="69B1E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0300" y="2577079"/>
            <a:ext cx="1257300" cy="1204744"/>
          </a:xfrm>
          <a:prstGeom prst="roundRect">
            <a:avLst>
              <a:gd name="adj" fmla="val 12121"/>
            </a:avLst>
          </a:prstGeom>
          <a:noFill/>
          <a:ln w="19050">
            <a:solidFill>
              <a:srgbClr val="0B2E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724400" y="4000868"/>
            <a:ext cx="1257300" cy="1204744"/>
          </a:xfrm>
          <a:prstGeom prst="roundRect">
            <a:avLst>
              <a:gd name="adj" fmla="val 12121"/>
            </a:avLst>
          </a:prstGeom>
          <a:noFill/>
          <a:ln w="19050">
            <a:solidFill>
              <a:srgbClr val="A3531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10300" y="4000868"/>
            <a:ext cx="1257300" cy="1204744"/>
          </a:xfrm>
          <a:prstGeom prst="roundRect">
            <a:avLst>
              <a:gd name="adj" fmla="val 12121"/>
            </a:avLst>
          </a:prstGeom>
          <a:noFill/>
          <a:ln w="19050">
            <a:solidFill>
              <a:srgbClr val="A86F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5524500" y="2978660"/>
            <a:ext cx="1143000" cy="803163"/>
          </a:xfrm>
          <a:custGeom>
            <a:avLst/>
            <a:gdLst/>
            <a:ahLst/>
            <a:cxnLst/>
            <a:rect l="l" t="t" r="r" b="b"/>
            <a:pathLst>
              <a:path w="120" h="88">
                <a:moveTo>
                  <a:pt x="0" y="0"/>
                </a:moveTo>
                <a:lnTo>
                  <a:pt x="120" y="0"/>
                </a:lnTo>
                <a:lnTo>
                  <a:pt x="60" y="88"/>
                </a:lnTo>
                <a:close/>
              </a:path>
            </a:pathLst>
          </a:cu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5524500" y="4000868"/>
            <a:ext cx="1143000" cy="803163"/>
          </a:xfrm>
          <a:custGeom>
            <a:avLst/>
            <a:gdLst/>
            <a:ahLst/>
            <a:cxnLst/>
            <a:rect l="l" t="t" r="r" b="b"/>
            <a:pathLst>
              <a:path w="120" h="88">
                <a:moveTo>
                  <a:pt x="0" y="88"/>
                </a:moveTo>
                <a:lnTo>
                  <a:pt x="120" y="88"/>
                </a:lnTo>
                <a:lnTo>
                  <a:pt x="60" y="0"/>
                </a:lnTo>
                <a:close/>
              </a:path>
            </a:pathLst>
          </a:cu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5143500" y="3343734"/>
            <a:ext cx="838200" cy="1095222"/>
          </a:xfrm>
          <a:custGeom>
            <a:avLst/>
            <a:gdLst/>
            <a:ahLst/>
            <a:cxnLst/>
            <a:rect l="l" t="t" r="r" b="b"/>
            <a:pathLst>
              <a:path w="88" h="120">
                <a:moveTo>
                  <a:pt x="0" y="0"/>
                </a:moveTo>
                <a:lnTo>
                  <a:pt x="0" y="120"/>
                </a:lnTo>
                <a:lnTo>
                  <a:pt x="88" y="60"/>
                </a:lnTo>
                <a:close/>
              </a:path>
            </a:pathLst>
          </a:cu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6210300" y="3343734"/>
            <a:ext cx="838200" cy="1095222"/>
          </a:xfrm>
          <a:custGeom>
            <a:avLst/>
            <a:gdLst/>
            <a:ahLst/>
            <a:cxnLst/>
            <a:rect l="l" t="t" r="r" b="b"/>
            <a:pathLst>
              <a:path w="88" h="120">
                <a:moveTo>
                  <a:pt x="88" y="0"/>
                </a:moveTo>
                <a:lnTo>
                  <a:pt x="88" y="120"/>
                </a:lnTo>
                <a:lnTo>
                  <a:pt x="0" y="60"/>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86450" y="3243339"/>
            <a:ext cx="419100" cy="273805"/>
          </a:xfrm>
          <a:prstGeom prst="rect">
            <a:avLst/>
          </a:prstGeom>
          <a:noFill/>
        </p:spPr>
        <p:txBody>
          <a:bodyPr wrap="none" lIns="0" rIns="0" tIns="0" bIns="0" anchor="ctr">
            <a:spAutoFit/>
          </a:bodyPr>
          <a:lstStyle/>
          <a:p>
            <a:pPr algn="ctr"/>
            <a:r>
              <a:rPr sz="2100" b="1">
                <a:solidFill>
                  <a:srgbClr val="1F2933"/>
                </a:solidFill>
                <a:latin typeface="Calibri"/>
              </a:rPr>
              <a:t>S</a:t>
            </a:r>
          </a:p>
        </p:txBody>
      </p:sp>
      <p:sp>
        <p:nvSpPr>
          <p:cNvPr id="26" name="TextBox 25"/>
          <p:cNvSpPr txBox="1"/>
          <p:nvPr/>
        </p:nvSpPr>
        <p:spPr>
          <a:xfrm>
            <a:off x="5886450" y="4265546"/>
            <a:ext cx="419100" cy="273805"/>
          </a:xfrm>
          <a:prstGeom prst="rect">
            <a:avLst/>
          </a:prstGeom>
          <a:noFill/>
        </p:spPr>
        <p:txBody>
          <a:bodyPr wrap="none" lIns="0" rIns="0" tIns="0" bIns="0" anchor="ctr">
            <a:spAutoFit/>
          </a:bodyPr>
          <a:lstStyle/>
          <a:p>
            <a:pPr algn="ctr"/>
            <a:r>
              <a:rPr sz="2100" b="1">
                <a:solidFill>
                  <a:srgbClr val="FFFFFF"/>
                </a:solidFill>
                <a:latin typeface="Calibri"/>
              </a:rPr>
              <a:t>O</a:t>
            </a:r>
          </a:p>
        </p:txBody>
      </p:sp>
      <p:sp>
        <p:nvSpPr>
          <p:cNvPr id="27" name="TextBox 26"/>
          <p:cNvSpPr txBox="1"/>
          <p:nvPr/>
        </p:nvSpPr>
        <p:spPr>
          <a:xfrm>
            <a:off x="5353050" y="3754443"/>
            <a:ext cx="419100" cy="273805"/>
          </a:xfrm>
          <a:prstGeom prst="rect">
            <a:avLst/>
          </a:prstGeom>
          <a:noFill/>
        </p:spPr>
        <p:txBody>
          <a:bodyPr wrap="none" lIns="0" rIns="0" tIns="0" bIns="0" anchor="ctr">
            <a:spAutoFit/>
          </a:bodyPr>
          <a:lstStyle/>
          <a:p>
            <a:pPr algn="ctr"/>
            <a:r>
              <a:rPr sz="2100" b="1">
                <a:solidFill>
                  <a:srgbClr val="FFFFFF"/>
                </a:solidFill>
                <a:latin typeface="Calibri"/>
              </a:rPr>
              <a:t>T</a:t>
            </a:r>
          </a:p>
        </p:txBody>
      </p:sp>
      <p:sp>
        <p:nvSpPr>
          <p:cNvPr id="28" name="TextBox 27"/>
          <p:cNvSpPr txBox="1"/>
          <p:nvPr/>
        </p:nvSpPr>
        <p:spPr>
          <a:xfrm>
            <a:off x="6419850" y="3754443"/>
            <a:ext cx="419100" cy="273805"/>
          </a:xfrm>
          <a:prstGeom prst="rect">
            <a:avLst/>
          </a:prstGeom>
          <a:noFill/>
        </p:spPr>
        <p:txBody>
          <a:bodyPr wrap="none" lIns="0" rIns="0" tIns="0" bIns="0" anchor="ctr">
            <a:spAutoFit/>
          </a:bodyPr>
          <a:lstStyle/>
          <a:p>
            <a:pPr algn="ctr"/>
            <a:r>
              <a:rPr sz="2100" b="1">
                <a:solidFill>
                  <a:srgbClr val="FFFFFF"/>
                </a:solidFill>
                <a:latin typeface="Calibri"/>
              </a:rPr>
              <a:t>W</a:t>
            </a:r>
          </a:p>
        </p:txBody>
      </p:sp>
      <p:sp>
        <p:nvSpPr>
          <p:cNvPr id="29" name="TextBox 28"/>
          <p:cNvSpPr txBox="1"/>
          <p:nvPr/>
        </p:nvSpPr>
        <p:spPr>
          <a:xfrm>
            <a:off x="190500" y="1299320"/>
            <a:ext cx="3667125" cy="182537"/>
          </a:xfrm>
          <a:prstGeom prst="rect">
            <a:avLst/>
          </a:prstGeom>
          <a:noFill/>
        </p:spPr>
        <p:txBody>
          <a:bodyPr wrap="square" lIns="28575" rIns="28575" tIns="9525" bIns="9525" anchor="ctr">
            <a:spAutoFit/>
          </a:bodyPr>
          <a:lstStyle/>
          <a:p>
            <a:pPr algn="l"/>
            <a:r>
              <a:rPr sz="1350" b="1">
                <a:solidFill>
                  <a:srgbClr val="0B2E4A"/>
                </a:solidFill>
                <a:latin typeface="Calibri"/>
              </a:rPr>
              <a:t>Strengths</a:t>
            </a:r>
          </a:p>
        </p:txBody>
      </p:sp>
      <p:sp>
        <p:nvSpPr>
          <p:cNvPr id="30" name="Rectangle 29"/>
          <p:cNvSpPr/>
          <p:nvPr/>
        </p:nvSpPr>
        <p:spPr>
          <a:xfrm>
            <a:off x="190500" y="1500111"/>
            <a:ext cx="1428750" cy="1825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04788" y="1605070"/>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3375" y="1573126"/>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3" name="Oval 32"/>
          <p:cNvSpPr/>
          <p:nvPr/>
        </p:nvSpPr>
        <p:spPr>
          <a:xfrm>
            <a:off x="204788" y="2116174"/>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3375" y="2084229"/>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Balanced SOM across regions and end-markets; strongest in 'North America'.</a:t>
            </a:r>
          </a:p>
        </p:txBody>
      </p:sp>
      <p:sp>
        <p:nvSpPr>
          <p:cNvPr id="35" name="Oval 34"/>
          <p:cNvSpPr/>
          <p:nvPr/>
        </p:nvSpPr>
        <p:spPr>
          <a:xfrm>
            <a:off x="204788" y="2627277"/>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33375" y="2595333"/>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7" name="TextBox 36"/>
          <p:cNvSpPr txBox="1"/>
          <p:nvPr/>
        </p:nvSpPr>
        <p:spPr>
          <a:xfrm>
            <a:off x="8334375" y="1299320"/>
            <a:ext cx="3667125" cy="182537"/>
          </a:xfrm>
          <a:prstGeom prst="rect">
            <a:avLst/>
          </a:prstGeom>
          <a:noFill/>
        </p:spPr>
        <p:txBody>
          <a:bodyPr wrap="square" lIns="28575" rIns="28575" tIns="9525" bIns="9525" anchor="ctr">
            <a:spAutoFit/>
          </a:bodyPr>
          <a:lstStyle/>
          <a:p>
            <a:pPr algn="l"/>
            <a:r>
              <a:rPr sz="1350" b="1">
                <a:solidFill>
                  <a:srgbClr val="082238"/>
                </a:solidFill>
                <a:latin typeface="Calibri"/>
              </a:rPr>
              <a:t>Weaknesses</a:t>
            </a:r>
          </a:p>
        </p:txBody>
      </p:sp>
      <p:sp>
        <p:nvSpPr>
          <p:cNvPr id="38" name="Rectangle 37"/>
          <p:cNvSpPr/>
          <p:nvPr/>
        </p:nvSpPr>
        <p:spPr>
          <a:xfrm>
            <a:off x="8334375" y="1500111"/>
            <a:ext cx="1428750" cy="18254"/>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348662" y="1605070"/>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77250" y="1573126"/>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1" name="Oval 40"/>
          <p:cNvSpPr/>
          <p:nvPr/>
        </p:nvSpPr>
        <p:spPr>
          <a:xfrm>
            <a:off x="8348662" y="2116174"/>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77250" y="2084229"/>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Uneven SAM penetration strong in 'Rest of the World', thin elsewhere.</a:t>
            </a:r>
          </a:p>
        </p:txBody>
      </p:sp>
      <p:sp>
        <p:nvSpPr>
          <p:cNvPr id="43" name="Oval 42"/>
          <p:cNvSpPr/>
          <p:nvPr/>
        </p:nvSpPr>
        <p:spPr>
          <a:xfrm>
            <a:off x="8348662" y="2627277"/>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77250" y="2595333"/>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Reliance on a few large accounts/regions raises concentration risk.</a:t>
            </a:r>
          </a:p>
        </p:txBody>
      </p:sp>
      <p:sp>
        <p:nvSpPr>
          <p:cNvPr id="45" name="TextBox 44"/>
          <p:cNvSpPr txBox="1"/>
          <p:nvPr/>
        </p:nvSpPr>
        <p:spPr>
          <a:xfrm>
            <a:off x="190500" y="4055629"/>
            <a:ext cx="3667125" cy="182537"/>
          </a:xfrm>
          <a:prstGeom prst="rect">
            <a:avLst/>
          </a:prstGeom>
          <a:noFill/>
        </p:spPr>
        <p:txBody>
          <a:bodyPr wrap="square" lIns="28575" rIns="28575" tIns="9525" bIns="9525" anchor="ctr">
            <a:spAutoFit/>
          </a:bodyPr>
          <a:lstStyle/>
          <a:p>
            <a:pPr algn="l"/>
            <a:r>
              <a:rPr sz="1350" b="1">
                <a:solidFill>
                  <a:srgbClr val="A35313"/>
                </a:solidFill>
                <a:latin typeface="Calibri"/>
              </a:rPr>
              <a:t>Threats</a:t>
            </a:r>
          </a:p>
        </p:txBody>
      </p:sp>
      <p:sp>
        <p:nvSpPr>
          <p:cNvPr id="46" name="Rectangle 45"/>
          <p:cNvSpPr/>
          <p:nvPr/>
        </p:nvSpPr>
        <p:spPr>
          <a:xfrm>
            <a:off x="190500" y="4256419"/>
            <a:ext cx="1428750" cy="1825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204788" y="4361379"/>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33375" y="4329434"/>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9" name="Oval 48"/>
          <p:cNvSpPr/>
          <p:nvPr/>
        </p:nvSpPr>
        <p:spPr>
          <a:xfrm>
            <a:off x="204788" y="4872482"/>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33375" y="4840538"/>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Input-cost inflation and price pressure can squeeze margin.</a:t>
            </a:r>
          </a:p>
        </p:txBody>
      </p:sp>
      <p:sp>
        <p:nvSpPr>
          <p:cNvPr id="51" name="Oval 50"/>
          <p:cNvSpPr/>
          <p:nvPr/>
        </p:nvSpPr>
        <p:spPr>
          <a:xfrm>
            <a:off x="204788" y="5383586"/>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33375" y="5351641"/>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Tier-1 incumbents and regulation raise barriers and switching friction.</a:t>
            </a:r>
          </a:p>
        </p:txBody>
      </p:sp>
      <p:sp>
        <p:nvSpPr>
          <p:cNvPr id="53" name="TextBox 52"/>
          <p:cNvSpPr txBox="1"/>
          <p:nvPr/>
        </p:nvSpPr>
        <p:spPr>
          <a:xfrm>
            <a:off x="8334375" y="4055629"/>
            <a:ext cx="3667125" cy="182537"/>
          </a:xfrm>
          <a:prstGeom prst="rect">
            <a:avLst/>
          </a:prstGeom>
          <a:noFill/>
        </p:spPr>
        <p:txBody>
          <a:bodyPr wrap="square" lIns="28575" rIns="28575" tIns="9525" bIns="9525" anchor="ctr">
            <a:spAutoFit/>
          </a:bodyPr>
          <a:lstStyle/>
          <a:p>
            <a:pPr algn="l"/>
            <a:r>
              <a:rPr sz="1350" b="1">
                <a:solidFill>
                  <a:srgbClr val="A86F00"/>
                </a:solidFill>
                <a:latin typeface="Calibri"/>
              </a:rPr>
              <a:t>Opportunities</a:t>
            </a:r>
          </a:p>
        </p:txBody>
      </p:sp>
      <p:sp>
        <p:nvSpPr>
          <p:cNvPr id="54" name="Rectangle 53"/>
          <p:cNvSpPr/>
          <p:nvPr/>
        </p:nvSpPr>
        <p:spPr>
          <a:xfrm>
            <a:off x="8334375" y="4256419"/>
            <a:ext cx="1428750" cy="1825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8348662" y="4361379"/>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77250" y="4329434"/>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Premiumisation headroom in 'Other Polymer-Based Coatings' and adjacent high-value lines.</a:t>
            </a:r>
          </a:p>
        </p:txBody>
      </p:sp>
      <p:sp>
        <p:nvSpPr>
          <p:cNvPr id="57" name="Oval 56"/>
          <p:cNvSpPr/>
          <p:nvPr/>
        </p:nvSpPr>
        <p:spPr>
          <a:xfrm>
            <a:off x="8348662" y="4872482"/>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77250" y="4840538"/>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Under-penetrated regions offer share-capture runway.</a:t>
            </a:r>
          </a:p>
        </p:txBody>
      </p:sp>
      <p:sp>
        <p:nvSpPr>
          <p:cNvPr id="59" name="Oval 58"/>
          <p:cNvSpPr/>
          <p:nvPr/>
        </p:nvSpPr>
        <p:spPr>
          <a:xfrm>
            <a:off x="8348662" y="5383586"/>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77250" y="5351641"/>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Channel shift to online and clinics opens new demand pools.</a:t>
            </a:r>
          </a:p>
        </p:txBody>
      </p:sp>
      <p:sp>
        <p:nvSpPr>
          <p:cNvPr id="61" name="TextBox 60"/>
          <p:cNvSpPr txBox="1"/>
          <p:nvPr/>
        </p:nvSpPr>
        <p:spPr>
          <a:xfrm>
            <a:off x="2857500" y="6428609"/>
            <a:ext cx="9191625" cy="182537"/>
          </a:xfrm>
          <a:prstGeom prst="rect">
            <a:avLst/>
          </a:prstGeom>
          <a:noFill/>
        </p:spPr>
        <p:txBody>
          <a:bodyPr wrap="square" lIns="28575" rIns="28575" tIns="9525" bIns="9525" anchor="ctr">
            <a:spAutoFit/>
          </a:bodyPr>
          <a:lstStyle/>
          <a:p>
            <a:pPr algn="l"/>
            <a:r>
              <a:rPr sz="1100" b="0">
                <a:solidFill>
                  <a:srgbClr val="C0392B"/>
                </a:solidFill>
                <a:latin typeface="Calibri"/>
              </a:rPr>
              <a:t>Note: competitor figures are indicative derived from market modelling and expert validation, not company disclosures.</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361950" y="1642784"/>
            <a:ext cx="14577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64" name="Picture 63" descr="lock.png"/>
          <p:cNvPicPr>
            <a:picLocks noChangeAspect="1"/>
          </p:cNvPicPr>
          <p:nvPr/>
        </p:nvPicPr>
        <p:blipFill>
          <a:blip r:embed="rId4"/>
          <a:stretch>
            <a:fillRect/>
          </a:stretch>
        </p:blipFill>
        <p:spPr>
          <a:xfrm>
            <a:off x="455778" y="1633005"/>
            <a:ext cx="128699" cy="187198"/>
          </a:xfrm>
          <a:prstGeom prst="rect">
            <a:avLst/>
          </a:prstGeom>
        </p:spPr>
      </p:pic>
      <p:sp>
        <p:nvSpPr>
          <p:cNvPr id="65" name="TextBox 64"/>
          <p:cNvSpPr txBox="1"/>
          <p:nvPr/>
        </p:nvSpPr>
        <p:spPr>
          <a:xfrm>
            <a:off x="623274" y="1642784"/>
            <a:ext cx="1029270" cy="186689"/>
          </a:xfrm>
          <a:prstGeom prst="rect">
            <a:avLst/>
          </a:prstGeom>
          <a:noFill/>
        </p:spPr>
        <p:txBody>
          <a:bodyPr wrap="none" lIns="0" rIns="0" tIns="0" bIns="0">
            <a:spAutoFit/>
          </a:bodyPr>
          <a:lstStyle/>
          <a:p>
            <a:r>
              <a:rPr sz="1100" b="0">
                <a:solidFill>
                  <a:srgbClr val="2E2E2E"/>
                </a:solidFill>
                <a:latin typeface="Calibri"/>
              </a:rPr>
              <a:t>win rate with a +</a:t>
            </a:r>
          </a:p>
        </p:txBody>
      </p:sp>
      <p:pic>
        <p:nvPicPr>
          <p:cNvPr id="66" name="Picture 65" descr="lock.png"/>
          <p:cNvPicPr>
            <a:picLocks noChangeAspect="1"/>
          </p:cNvPicPr>
          <p:nvPr/>
        </p:nvPicPr>
        <p:blipFill>
          <a:blip r:embed="rId4"/>
          <a:stretch>
            <a:fillRect/>
          </a:stretch>
        </p:blipFill>
        <p:spPr>
          <a:xfrm>
            <a:off x="1600596" y="1633005"/>
            <a:ext cx="128699" cy="187198"/>
          </a:xfrm>
          <a:prstGeom prst="rect">
            <a:avLst/>
          </a:prstGeom>
        </p:spPr>
      </p:pic>
      <p:sp>
        <p:nvSpPr>
          <p:cNvPr id="67" name="TextBox 66"/>
          <p:cNvSpPr txBox="1"/>
          <p:nvPr/>
        </p:nvSpPr>
        <p:spPr>
          <a:xfrm>
            <a:off x="1768092" y="1642784"/>
            <a:ext cx="1490662" cy="186689"/>
          </a:xfrm>
          <a:prstGeom prst="rect">
            <a:avLst/>
          </a:prstGeom>
          <a:noFill/>
        </p:spPr>
        <p:txBody>
          <a:bodyPr wrap="none" lIns="0" rIns="0" tIns="0" bIns="0">
            <a:spAutoFit/>
          </a:bodyPr>
          <a:lstStyle/>
          <a:p>
            <a:r>
              <a:rPr sz="1100" b="0">
                <a:solidFill>
                  <a:srgbClr val="2E2E2E"/>
                </a:solidFill>
                <a:latin typeface="Calibri"/>
              </a:rPr>
              <a:t>ASP premium clear value</a:t>
            </a:r>
          </a:p>
        </p:txBody>
      </p:sp>
      <p:sp>
        <p:nvSpPr>
          <p:cNvPr id="68" name="TextBox 67"/>
          <p:cNvSpPr txBox="1"/>
          <p:nvPr/>
        </p:nvSpPr>
        <p:spPr>
          <a:xfrm>
            <a:off x="361950" y="1810424"/>
            <a:ext cx="760238" cy="186689"/>
          </a:xfrm>
          <a:prstGeom prst="rect">
            <a:avLst/>
          </a:prstGeom>
          <a:noFill/>
        </p:spPr>
        <p:txBody>
          <a:bodyPr wrap="none" lIns="0" rIns="0" tIns="0" bIns="0">
            <a:spAutoFit/>
          </a:bodyPr>
          <a:lstStyle/>
          <a:p>
            <a:r>
              <a:rPr sz="1100" b="0">
                <a:solidFill>
                  <a:srgbClr val="2E2E2E"/>
                </a:solidFill>
                <a:latin typeface="Calibri"/>
              </a:rPr>
              <a:t>recognition.</a:t>
            </a:r>
          </a:p>
        </p:txBody>
      </p:sp>
      <p:pic>
        <p:nvPicPr>
          <p:cNvPr id="69" name="Picture 68" descr="lock.png"/>
          <p:cNvPicPr>
            <a:picLocks noChangeAspect="1"/>
          </p:cNvPicPr>
          <p:nvPr/>
        </p:nvPicPr>
        <p:blipFill>
          <a:blip r:embed="rId4"/>
          <a:stretch>
            <a:fillRect/>
          </a:stretch>
        </p:blipFill>
        <p:spPr>
          <a:xfrm>
            <a:off x="348482" y="2655212"/>
            <a:ext cx="128699" cy="187198"/>
          </a:xfrm>
          <a:prstGeom prst="rect">
            <a:avLst/>
          </a:prstGeom>
        </p:spPr>
      </p:pic>
      <p:sp>
        <p:nvSpPr>
          <p:cNvPr id="70" name="TextBox 69"/>
          <p:cNvSpPr txBox="1"/>
          <p:nvPr/>
        </p:nvSpPr>
        <p:spPr>
          <a:xfrm>
            <a:off x="515978" y="2664991"/>
            <a:ext cx="1083295" cy="186689"/>
          </a:xfrm>
          <a:prstGeom prst="rect">
            <a:avLst/>
          </a:prstGeom>
          <a:noFill/>
        </p:spPr>
        <p:txBody>
          <a:bodyPr wrap="none" lIns="0" rIns="0" tIns="0" bIns="0">
            <a:spAutoFit/>
          </a:bodyPr>
          <a:lstStyle/>
          <a:p>
            <a:r>
              <a:rPr sz="1100" b="0">
                <a:solidFill>
                  <a:srgbClr val="2E2E2E"/>
                </a:solidFill>
                <a:latin typeface="Calibri"/>
              </a:rPr>
              <a:t>book-to-bill and ~</a:t>
            </a:r>
          </a:p>
        </p:txBody>
      </p:sp>
      <p:pic>
        <p:nvPicPr>
          <p:cNvPr id="71" name="Picture 70" descr="lock.png"/>
          <p:cNvPicPr>
            <a:picLocks noChangeAspect="1"/>
          </p:cNvPicPr>
          <p:nvPr/>
        </p:nvPicPr>
        <p:blipFill>
          <a:blip r:embed="rId4"/>
          <a:stretch>
            <a:fillRect/>
          </a:stretch>
        </p:blipFill>
        <p:spPr>
          <a:xfrm>
            <a:off x="1547325" y="2655212"/>
            <a:ext cx="128699" cy="187198"/>
          </a:xfrm>
          <a:prstGeom prst="rect">
            <a:avLst/>
          </a:prstGeom>
        </p:spPr>
      </p:pic>
      <p:sp>
        <p:nvSpPr>
          <p:cNvPr id="72" name="TextBox 71"/>
          <p:cNvSpPr txBox="1"/>
          <p:nvPr/>
        </p:nvSpPr>
        <p:spPr>
          <a:xfrm>
            <a:off x="1714820" y="2664991"/>
            <a:ext cx="1304547" cy="186689"/>
          </a:xfrm>
          <a:prstGeom prst="rect">
            <a:avLst/>
          </a:prstGeom>
          <a:noFill/>
        </p:spPr>
        <p:txBody>
          <a:bodyPr wrap="none" lIns="0" rIns="0" tIns="0" bIns="0">
            <a:spAutoFit/>
          </a:bodyPr>
          <a:lstStyle/>
          <a:p>
            <a:r>
              <a:rPr sz="1100" b="0">
                <a:solidFill>
                  <a:srgbClr val="2E2E2E"/>
                </a:solidFill>
                <a:latin typeface="Calibri"/>
              </a:rPr>
              <a:t>EBITDA signal healthy</a:t>
            </a:r>
          </a:p>
        </p:txBody>
      </p:sp>
      <p:sp>
        <p:nvSpPr>
          <p:cNvPr id="73" name="TextBox 72"/>
          <p:cNvSpPr txBox="1"/>
          <p:nvPr/>
        </p:nvSpPr>
        <p:spPr>
          <a:xfrm>
            <a:off x="361950" y="2832631"/>
            <a:ext cx="783158" cy="186689"/>
          </a:xfrm>
          <a:prstGeom prst="rect">
            <a:avLst/>
          </a:prstGeom>
          <a:noFill/>
        </p:spPr>
        <p:txBody>
          <a:bodyPr wrap="none" lIns="0" rIns="0" tIns="0" bIns="0">
            <a:spAutoFit/>
          </a:bodyPr>
          <a:lstStyle/>
          <a:p>
            <a:r>
              <a:rPr sz="1100" b="0">
                <a:solidFill>
                  <a:srgbClr val="2E2E2E"/>
                </a:solidFill>
                <a:latin typeface="Calibri"/>
              </a:rPr>
              <a:t>momentum.</a:t>
            </a:r>
          </a:p>
        </p:txBody>
      </p:sp>
      <p:sp>
        <p:nvSpPr>
          <p:cNvPr id="74" name="TextBox 73"/>
          <p:cNvSpPr txBox="1"/>
          <p:nvPr/>
        </p:nvSpPr>
        <p:spPr>
          <a:xfrm>
            <a:off x="8505825" y="1726603"/>
            <a:ext cx="14577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75" name="Picture 74" descr="lock.png"/>
          <p:cNvPicPr>
            <a:picLocks noChangeAspect="1"/>
          </p:cNvPicPr>
          <p:nvPr/>
        </p:nvPicPr>
        <p:blipFill>
          <a:blip r:embed="rId4"/>
          <a:stretch>
            <a:fillRect/>
          </a:stretch>
        </p:blipFill>
        <p:spPr>
          <a:xfrm>
            <a:off x="8599653" y="1716825"/>
            <a:ext cx="128699" cy="187198"/>
          </a:xfrm>
          <a:prstGeom prst="rect">
            <a:avLst/>
          </a:prstGeom>
        </p:spPr>
      </p:pic>
      <p:sp>
        <p:nvSpPr>
          <p:cNvPr id="76" name="TextBox 75"/>
          <p:cNvSpPr txBox="1"/>
          <p:nvPr/>
        </p:nvSpPr>
        <p:spPr>
          <a:xfrm>
            <a:off x="8767149" y="1726603"/>
            <a:ext cx="2910582" cy="186689"/>
          </a:xfrm>
          <a:prstGeom prst="rect">
            <a:avLst/>
          </a:prstGeom>
          <a:noFill/>
        </p:spPr>
        <p:txBody>
          <a:bodyPr wrap="none" lIns="0" rIns="0" tIns="0" bIns="0">
            <a:spAutoFit/>
          </a:bodyPr>
          <a:lstStyle/>
          <a:p>
            <a:r>
              <a:rPr sz="1100" b="0">
                <a:solidFill>
                  <a:srgbClr val="2E2E2E"/>
                </a:solidFill>
                <a:latin typeface="Calibri"/>
              </a:rPr>
              <a:t>share leaves a scale gap versus the market leader.</a:t>
            </a:r>
          </a:p>
        </p:txBody>
      </p:sp>
      <p:sp>
        <p:nvSpPr>
          <p:cNvPr id="77" name="TextBox 76"/>
          <p:cNvSpPr txBox="1"/>
          <p:nvPr/>
        </p:nvSpPr>
        <p:spPr>
          <a:xfrm>
            <a:off x="361950" y="4482912"/>
            <a:ext cx="1324495" cy="186689"/>
          </a:xfrm>
          <a:prstGeom prst="rect">
            <a:avLst/>
          </a:prstGeom>
          <a:noFill/>
        </p:spPr>
        <p:txBody>
          <a:bodyPr wrap="none" lIns="0" rIns="0" tIns="0" bIns="0">
            <a:spAutoFit/>
          </a:bodyPr>
          <a:lstStyle/>
          <a:p>
            <a:r>
              <a:rPr sz="1100" b="0">
                <a:solidFill>
                  <a:srgbClr val="2E2E2E"/>
                </a:solidFill>
                <a:latin typeface="Calibri"/>
              </a:rPr>
              <a:t>Intense competition ~</a:t>
            </a:r>
          </a:p>
        </p:txBody>
      </p:sp>
      <p:pic>
        <p:nvPicPr>
          <p:cNvPr id="78" name="Picture 77" descr="lock.png"/>
          <p:cNvPicPr>
            <a:picLocks noChangeAspect="1"/>
          </p:cNvPicPr>
          <p:nvPr/>
        </p:nvPicPr>
        <p:blipFill>
          <a:blip r:embed="rId4"/>
          <a:stretch>
            <a:fillRect/>
          </a:stretch>
        </p:blipFill>
        <p:spPr>
          <a:xfrm>
            <a:off x="1634497" y="4473133"/>
            <a:ext cx="128699" cy="187198"/>
          </a:xfrm>
          <a:prstGeom prst="rect">
            <a:avLst/>
          </a:prstGeom>
        </p:spPr>
      </p:pic>
      <p:sp>
        <p:nvSpPr>
          <p:cNvPr id="79" name="TextBox 78"/>
          <p:cNvSpPr txBox="1"/>
          <p:nvPr/>
        </p:nvSpPr>
        <p:spPr>
          <a:xfrm>
            <a:off x="1801993" y="4482912"/>
            <a:ext cx="1738684" cy="186689"/>
          </a:xfrm>
          <a:prstGeom prst="rect">
            <a:avLst/>
          </a:prstGeom>
          <a:noFill/>
        </p:spPr>
        <p:txBody>
          <a:bodyPr wrap="none" lIns="0" rIns="0" tIns="0" bIns="0">
            <a:spAutoFit/>
          </a:bodyPr>
          <a:lstStyle/>
          <a:p>
            <a:r>
              <a:rPr sz="1100" b="0">
                <a:solidFill>
                  <a:srgbClr val="2E2E2E"/>
                </a:solidFill>
                <a:latin typeface="Calibri"/>
              </a:rPr>
              <a:t>x pipeline needed to convert.</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Sika Key Financials (4/5)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Sika's financial performance, key ratios and pricing, highlighting margin and momentum</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Key financials and pricing Sika (all figures indicative, USD Mn unless noted).</a:t>
            </a:r>
          </a:p>
        </p:txBody>
      </p:sp>
      <p:sp>
        <p:nvSpPr>
          <p:cNvPr id="11" name="Rounded Rectangle 10"/>
          <p:cNvSpPr/>
          <p:nvPr/>
        </p:nvSpPr>
        <p:spPr>
          <a:xfrm>
            <a:off x="142875" y="1354081"/>
            <a:ext cx="5905500" cy="1916638"/>
          </a:xfrm>
          <a:prstGeom prst="roundRect">
            <a:avLst>
              <a:gd name="adj" fmla="val 397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411231"/>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Sika Financial Performance</a:t>
            </a:r>
          </a:p>
        </p:txBody>
      </p:sp>
      <p:graphicFrame>
        <p:nvGraphicFramePr>
          <p:cNvPr id="13" name="Table 12"/>
          <p:cNvGraphicFramePr>
            <a:graphicFrameLocks noGrp="1"/>
          </p:cNvGraphicFramePr>
          <p:nvPr/>
        </p:nvGraphicFramePr>
        <p:xfrm>
          <a:off x="152400" y="1611256"/>
          <a:ext cx="5886449" cy="1449914"/>
        </p:xfrm>
        <a:graphic>
          <a:graphicData uri="http://schemas.openxmlformats.org/drawingml/2006/table">
            <a:tbl>
              <a:tblPr>
                <a:tableStyleId>{5C22544A-7EE6-4342-B048-85BDC9FD1C3A}</a:tableStyleId>
              </a:tblPr>
              <a:tblGrid>
                <a:gridCol w="2446649"/>
                <a:gridCol w="687960"/>
                <a:gridCol w="687960"/>
                <a:gridCol w="687960"/>
                <a:gridCol w="687960"/>
                <a:gridCol w="687960"/>
              </a:tblGrid>
              <a:tr h="246126">
                <a:tc>
                  <a:txBody>
                    <a:bodyPr wrap="none"/>
                    <a:lstStyle/>
                    <a:p>
                      <a:pPr algn="l"/>
                      <a:r>
                        <a:rPr sz="1100" b="1">
                          <a:solidFill>
                            <a:srgbClr val="0B2E4A"/>
                          </a:solidFill>
                          <a:latin typeface="Calibri"/>
                        </a:rPr>
                        <a:t>USD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r>
              <a:tr h="300947">
                <a:tc>
                  <a:txBody>
                    <a:bodyPr wrap="none"/>
                    <a:lstStyle/>
                    <a:p>
                      <a:pPr algn="l"/>
                      <a:r>
                        <a:rPr sz="1100" b="1">
                          <a:solidFill>
                            <a:srgbClr val="2E2E2E"/>
                          </a:solidFill>
                          <a:latin typeface="Calibri"/>
                        </a:rPr>
                        <a:t>Revenue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0947">
                <a:tc>
                  <a:txBody>
                    <a:bodyPr wrap="none"/>
                    <a:lstStyle/>
                    <a:p>
                      <a:pPr algn="l"/>
                      <a:r>
                        <a:rPr sz="1100" b="1">
                          <a:solidFill>
                            <a:srgbClr val="2E2E2E"/>
                          </a:solidFill>
                          <a:latin typeface="Calibri"/>
                        </a:rPr>
                        <a:t>Gross Profit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00947">
                <a:tc>
                  <a:txBody>
                    <a:bodyPr wrap="none"/>
                    <a:lstStyle/>
                    <a:p>
                      <a:pPr algn="l"/>
                      <a:r>
                        <a:rPr sz="1100" b="1">
                          <a:solidFill>
                            <a:srgbClr val="2E2E2E"/>
                          </a:solidFill>
                          <a:latin typeface="Calibri"/>
                        </a:rPr>
                        <a:t>Pre-Tax Profit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0947">
                <a:tc>
                  <a:txBody>
                    <a:bodyPr wrap="none"/>
                    <a:lstStyle/>
                    <a:p>
                      <a:pPr algn="l"/>
                      <a:r>
                        <a:rPr sz="1100" b="1">
                          <a:solidFill>
                            <a:srgbClr val="2E2E2E"/>
                          </a:solidFill>
                          <a:latin typeface="Calibri"/>
                        </a:rPr>
                        <a:t>Profit After Tax / Net Profit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3070695"/>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98495"/>
            <a:ext cx="5905500" cy="3194397"/>
          </a:xfrm>
          <a:prstGeom prst="roundRect">
            <a:avLst>
              <a:gd name="adj" fmla="val 238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Sika Key Ratios</a:t>
            </a:r>
          </a:p>
        </p:txBody>
      </p:sp>
      <p:graphicFrame>
        <p:nvGraphicFramePr>
          <p:cNvPr id="17" name="Table 16"/>
          <p:cNvGraphicFramePr>
            <a:graphicFrameLocks noGrp="1"/>
          </p:cNvGraphicFramePr>
          <p:nvPr/>
        </p:nvGraphicFramePr>
        <p:xfrm>
          <a:off x="152400" y="3655670"/>
          <a:ext cx="5886450" cy="2727671"/>
        </p:xfrm>
        <a:graphic>
          <a:graphicData uri="http://schemas.openxmlformats.org/drawingml/2006/table">
            <a:tbl>
              <a:tblPr>
                <a:tableStyleId>{5C22544A-7EE6-4342-B048-85BDC9FD1C3A}</a:tableStyleId>
              </a:tblPr>
              <a:tblGrid>
                <a:gridCol w="1859260"/>
                <a:gridCol w="805438"/>
                <a:gridCol w="805438"/>
                <a:gridCol w="805438"/>
                <a:gridCol w="805438"/>
                <a:gridCol w="805438"/>
              </a:tblGrid>
              <a:tr h="246126">
                <a:tc>
                  <a:txBody>
                    <a:bodyPr wrap="none"/>
                    <a:lstStyle/>
                    <a:p>
                      <a:pPr algn="l"/>
                      <a:r>
                        <a:rPr sz="1100" b="1">
                          <a:solidFill>
                            <a:srgbClr val="0B2E4A"/>
                          </a:solidFill>
                          <a:latin typeface="Calibri"/>
                        </a:rPr>
                        <a:t>Key Ratios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r>
              <a:tr h="496309">
                <a:tc>
                  <a:txBody>
                    <a:bodyPr wrap="none"/>
                    <a:lstStyle/>
                    <a:p>
                      <a:pPr algn="l"/>
                      <a:r>
                        <a:rPr sz="1100" b="1">
                          <a:solidFill>
                            <a:srgbClr val="2E2E2E"/>
                          </a:solidFill>
                          <a:latin typeface="Calibri"/>
                        </a:rPr>
                        <a:t>Gross Margin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96309">
                <a:tc>
                  <a:txBody>
                    <a:bodyPr wrap="none"/>
                    <a:lstStyle/>
                    <a:p>
                      <a:pPr algn="l"/>
                      <a:r>
                        <a:rPr sz="1100" b="1">
                          <a:solidFill>
                            <a:srgbClr val="2E2E2E"/>
                          </a:solidFill>
                          <a:latin typeface="Calibri"/>
                        </a:rPr>
                        <a:t>Pre-Tax Margin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96309">
                <a:tc>
                  <a:txBody>
                    <a:bodyPr wrap="none"/>
                    <a:lstStyle/>
                    <a:p>
                      <a:pPr algn="l"/>
                      <a:r>
                        <a:rPr sz="1100" b="1">
                          <a:solidFill>
                            <a:srgbClr val="2E2E2E"/>
                          </a:solidFill>
                          <a:latin typeface="Calibri"/>
                        </a:rPr>
                        <a:t>Net Margin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96309">
                <a:tc>
                  <a:txBody>
                    <a:bodyPr wrap="none"/>
                    <a:lstStyle/>
                    <a:p>
                      <a:pPr algn="l"/>
                      <a:r>
                        <a:rPr sz="1100" b="1">
                          <a:solidFill>
                            <a:srgbClr val="2E2E2E"/>
                          </a:solidFill>
                          <a:latin typeface="Calibri"/>
                        </a:rPr>
                        <a:t>Return on Equity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96309">
                <a:tc>
                  <a:txBody>
                    <a:bodyPr wrap="none"/>
                    <a:lstStyle/>
                    <a:p>
                      <a:pPr algn="l"/>
                      <a:r>
                        <a:rPr sz="1100" b="1">
                          <a:solidFill>
                            <a:srgbClr val="2E2E2E"/>
                          </a:solidFill>
                          <a:latin typeface="Calibri"/>
                        </a:rPr>
                        <a:t>Return on Assets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8" name="TextBox 17"/>
          <p:cNvSpPr txBox="1"/>
          <p:nvPr/>
        </p:nvSpPr>
        <p:spPr>
          <a:xfrm>
            <a:off x="219075" y="6392868"/>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6200775" y="1354081"/>
            <a:ext cx="5848350" cy="5238811"/>
          </a:xfrm>
          <a:prstGeom prst="roundRect">
            <a:avLst>
              <a:gd name="adj" fmla="val 14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6025" y="1411231"/>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Sika Pricing Analysis (US$/Units)</a:t>
            </a:r>
          </a:p>
        </p:txBody>
      </p:sp>
      <p:graphicFrame>
        <p:nvGraphicFramePr>
          <p:cNvPr id="21" name="Table 20"/>
          <p:cNvGraphicFramePr>
            <a:graphicFrameLocks noGrp="1"/>
          </p:cNvGraphicFramePr>
          <p:nvPr/>
        </p:nvGraphicFramePr>
        <p:xfrm>
          <a:off x="6210300" y="1611256"/>
          <a:ext cx="5829299" cy="4772086"/>
        </p:xfrm>
        <a:graphic>
          <a:graphicData uri="http://schemas.openxmlformats.org/drawingml/2006/table">
            <a:tbl>
              <a:tblPr>
                <a:tableStyleId>{5C22544A-7EE6-4342-B048-85BDC9FD1C3A}</a:tableStyleId>
              </a:tblPr>
              <a:tblGrid>
                <a:gridCol w="4036343"/>
                <a:gridCol w="896478"/>
                <a:gridCol w="896478"/>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r>
              <a:tr h="1131490">
                <a:tc>
                  <a:txBody>
                    <a:bodyPr wrap="none"/>
                    <a:lstStyle/>
                    <a:p>
                      <a:pPr algn="l"/>
                      <a:r>
                        <a:rPr sz="1100" b="1">
                          <a:solidFill>
                            <a:srgbClr val="2E2E2E"/>
                          </a:solidFill>
                          <a:latin typeface="Calibri"/>
                        </a:rPr>
                        <a:t>Other Polymer-Based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131490">
                <a:tc>
                  <a:txBody>
                    <a:bodyPr wrap="none"/>
                    <a:lstStyle/>
                    <a:p>
                      <a:pPr algn="l"/>
                      <a:r>
                        <a:rPr sz="1100" b="1">
                          <a:solidFill>
                            <a:srgbClr val="2E2E2E"/>
                          </a:solidFill>
                          <a:latin typeface="Calibri"/>
                        </a:rPr>
                        <a:t>Polyurea Waterproof Coatings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1131490">
                <a:tc>
                  <a:txBody>
                    <a:bodyPr wrap="none"/>
                    <a:lstStyle/>
                    <a:p>
                      <a:pPr algn="l"/>
                      <a:r>
                        <a:rPr sz="1100" b="1">
                          <a:solidFill>
                            <a:srgbClr val="2E2E2E"/>
                          </a:solidFill>
                          <a:latin typeface="Calibri"/>
                        </a:rPr>
                        <a:t>Silicone Waterproof Coatings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131490">
                <a:tc>
                  <a:txBody>
                    <a:bodyPr wrap="none"/>
                    <a:lstStyle/>
                    <a:p>
                      <a:pPr algn="l"/>
                      <a:r>
                        <a:rPr sz="1100" b="1">
                          <a:solidFill>
                            <a:srgbClr val="2E2E2E"/>
                          </a:solidFill>
                          <a:latin typeface="Calibri"/>
                        </a:rPr>
                        <a:t>Cementitious Waterproof Coatings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22" name="TextBox 21"/>
          <p:cNvSpPr txBox="1"/>
          <p:nvPr/>
        </p:nvSpPr>
        <p:spPr>
          <a:xfrm>
            <a:off x="6276975" y="6392868"/>
            <a:ext cx="56959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4150927" y="2219246"/>
            <a:ext cx="330041" cy="480060"/>
          </a:xfrm>
          <a:prstGeom prst="rect">
            <a:avLst/>
          </a:prstGeom>
        </p:spPr>
      </p:pic>
      <p:pic>
        <p:nvPicPr>
          <p:cNvPr id="25" name="Picture 24" descr="lock.png"/>
          <p:cNvPicPr>
            <a:picLocks noChangeAspect="1"/>
          </p:cNvPicPr>
          <p:nvPr/>
        </p:nvPicPr>
        <p:blipFill>
          <a:blip r:embed="rId4"/>
          <a:stretch>
            <a:fillRect/>
          </a:stretch>
        </p:blipFill>
        <p:spPr>
          <a:xfrm>
            <a:off x="3838564" y="4875868"/>
            <a:ext cx="366712" cy="533400"/>
          </a:xfrm>
          <a:prstGeom prst="rect">
            <a:avLst/>
          </a:prstGeom>
        </p:spPr>
      </p:pic>
      <p:pic>
        <p:nvPicPr>
          <p:cNvPr id="26" name="Picture 25" descr="lock.png"/>
          <p:cNvPicPr>
            <a:picLocks noChangeAspect="1"/>
          </p:cNvPicPr>
          <p:nvPr/>
        </p:nvPicPr>
        <p:blipFill>
          <a:blip r:embed="rId4"/>
          <a:stretch>
            <a:fillRect/>
          </a:stretch>
        </p:blipFill>
        <p:spPr>
          <a:xfrm>
            <a:off x="10956431" y="3853662"/>
            <a:ext cx="366712" cy="533400"/>
          </a:xfrm>
          <a:prstGeom prst="rect">
            <a:avLst/>
          </a:prstGeom>
        </p:spPr>
      </p:pic>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Sika Strategy Analysis (5/5)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Sika's strategic priorities and the competitive moves that support them</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Strategy analysis Sika: strategic priorities and the competitive moves that support them (indicative).</a:t>
            </a:r>
          </a:p>
        </p:txBody>
      </p:sp>
      <p:sp>
        <p:nvSpPr>
          <p:cNvPr id="11" name="Rounded Rectangle 10"/>
          <p:cNvSpPr/>
          <p:nvPr/>
        </p:nvSpPr>
        <p:spPr>
          <a:xfrm>
            <a:off x="14287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MARKET SHARE</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of global value</a:t>
            </a:r>
          </a:p>
        </p:txBody>
      </p:sp>
      <p:sp>
        <p:nvSpPr>
          <p:cNvPr id="12" name="Rounded Rectangle 11"/>
          <p:cNvSpPr/>
          <p:nvPr/>
        </p:nvSpPr>
        <p:spPr>
          <a:xfrm>
            <a:off x="254317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WIN RATE</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deals won</a:t>
            </a:r>
          </a:p>
        </p:txBody>
      </p:sp>
      <p:sp>
        <p:nvSpPr>
          <p:cNvPr id="13" name="Rounded Rectangle 12"/>
          <p:cNvSpPr/>
          <p:nvPr/>
        </p:nvSpPr>
        <p:spPr>
          <a:xfrm>
            <a:off x="4953000"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ASP PREMIUM</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vs peers</a:t>
            </a:r>
          </a:p>
        </p:txBody>
      </p:sp>
      <p:sp>
        <p:nvSpPr>
          <p:cNvPr id="14" name="Rounded Rectangle 13"/>
          <p:cNvSpPr/>
          <p:nvPr/>
        </p:nvSpPr>
        <p:spPr>
          <a:xfrm>
            <a:off x="7353300"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BOOK-TO-BILL</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order momentum</a:t>
            </a:r>
          </a:p>
        </p:txBody>
      </p:sp>
      <p:sp>
        <p:nvSpPr>
          <p:cNvPr id="15" name="Rounded Rectangle 14"/>
          <p:cNvSpPr/>
          <p:nvPr/>
        </p:nvSpPr>
        <p:spPr>
          <a:xfrm>
            <a:off x="976312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EBITDA MARGIN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profitability</a:t>
            </a:r>
          </a:p>
        </p:txBody>
      </p:sp>
      <p:sp>
        <p:nvSpPr>
          <p:cNvPr id="16" name="Rounded Rectangle 15"/>
          <p:cNvSpPr/>
          <p:nvPr/>
        </p:nvSpPr>
        <p:spPr>
          <a:xfrm>
            <a:off x="142875" y="2084229"/>
            <a:ext cx="5905500" cy="4490410"/>
          </a:xfrm>
          <a:prstGeom prst="roundRect">
            <a:avLst>
              <a:gd name="adj" fmla="val 169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169954"/>
            <a:ext cx="5638800" cy="209550"/>
          </a:xfrm>
          <a:prstGeom prst="rect">
            <a:avLst/>
          </a:prstGeom>
          <a:noFill/>
        </p:spPr>
        <p:txBody>
          <a:bodyPr wrap="square" lIns="0" rIns="19050" tIns="9525" bIns="9525">
            <a:spAutoFit/>
          </a:bodyPr>
          <a:lstStyle/>
          <a:p>
            <a:pPr algn="l"/>
            <a:r>
              <a:rPr sz="1300" b="1">
                <a:solidFill>
                  <a:srgbClr val="0B2E4A"/>
                </a:solidFill>
                <a:latin typeface="Calibri"/>
              </a:rPr>
              <a:t>Strategic Priorities</a:t>
            </a:r>
          </a:p>
        </p:txBody>
      </p:sp>
      <p:sp>
        <p:nvSpPr>
          <p:cNvPr id="18" name="Rectangle 17"/>
          <p:cNvSpPr/>
          <p:nvPr/>
        </p:nvSpPr>
        <p:spPr>
          <a:xfrm>
            <a:off x="276225" y="2408079"/>
            <a:ext cx="56388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493804"/>
            <a:ext cx="5638800" cy="40046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0" name="Rounded Rectangle 19"/>
          <p:cNvSpPr/>
          <p:nvPr/>
        </p:nvSpPr>
        <p:spPr>
          <a:xfrm>
            <a:off x="6200775" y="2084229"/>
            <a:ext cx="5848350" cy="4490410"/>
          </a:xfrm>
          <a:prstGeom prst="roundRect">
            <a:avLst>
              <a:gd name="adj" fmla="val 169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34125" y="2169954"/>
            <a:ext cx="5581650" cy="209550"/>
          </a:xfrm>
          <a:prstGeom prst="rect">
            <a:avLst/>
          </a:prstGeom>
          <a:noFill/>
        </p:spPr>
        <p:txBody>
          <a:bodyPr wrap="square" lIns="0" rIns="19050" tIns="9525" bIns="9525">
            <a:spAutoFit/>
          </a:bodyPr>
          <a:lstStyle/>
          <a:p>
            <a:pPr algn="l"/>
            <a:r>
              <a:rPr sz="1300" b="1">
                <a:solidFill>
                  <a:srgbClr val="0B2E4A"/>
                </a:solidFill>
                <a:latin typeface="Calibri"/>
              </a:rPr>
              <a:t>Competitive Moves</a:t>
            </a:r>
          </a:p>
        </p:txBody>
      </p:sp>
      <p:sp>
        <p:nvSpPr>
          <p:cNvPr id="22" name="Rectangle 21"/>
          <p:cNvSpPr/>
          <p:nvPr/>
        </p:nvSpPr>
        <p:spPr>
          <a:xfrm>
            <a:off x="6334125" y="2408079"/>
            <a:ext cx="5581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34125" y="2493804"/>
            <a:ext cx="5581650" cy="40046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4"/>
          <a:stretch>
            <a:fillRect/>
          </a:stretch>
        </p:blipFill>
        <p:spPr>
          <a:xfrm>
            <a:off x="1202531" y="1540967"/>
            <a:ext cx="157162" cy="228600"/>
          </a:xfrm>
          <a:prstGeom prst="rect">
            <a:avLst/>
          </a:prstGeom>
        </p:spPr>
      </p:pic>
      <p:pic>
        <p:nvPicPr>
          <p:cNvPr id="26" name="Picture 25" descr="lock.png"/>
          <p:cNvPicPr>
            <a:picLocks noChangeAspect="1"/>
          </p:cNvPicPr>
          <p:nvPr/>
        </p:nvPicPr>
        <p:blipFill>
          <a:blip r:embed="rId4"/>
          <a:stretch>
            <a:fillRect/>
          </a:stretch>
        </p:blipFill>
        <p:spPr>
          <a:xfrm>
            <a:off x="3602831" y="1540967"/>
            <a:ext cx="157162" cy="228600"/>
          </a:xfrm>
          <a:prstGeom prst="rect">
            <a:avLst/>
          </a:prstGeom>
        </p:spPr>
      </p:pic>
      <p:pic>
        <p:nvPicPr>
          <p:cNvPr id="27" name="Picture 26" descr="lock.png"/>
          <p:cNvPicPr>
            <a:picLocks noChangeAspect="1"/>
          </p:cNvPicPr>
          <p:nvPr/>
        </p:nvPicPr>
        <p:blipFill>
          <a:blip r:embed="rId4"/>
          <a:stretch>
            <a:fillRect/>
          </a:stretch>
        </p:blipFill>
        <p:spPr>
          <a:xfrm>
            <a:off x="6012656" y="1540967"/>
            <a:ext cx="157162" cy="228600"/>
          </a:xfrm>
          <a:prstGeom prst="rect">
            <a:avLst/>
          </a:prstGeom>
        </p:spPr>
      </p:pic>
      <p:pic>
        <p:nvPicPr>
          <p:cNvPr id="28" name="Picture 27" descr="lock.png"/>
          <p:cNvPicPr>
            <a:picLocks noChangeAspect="1"/>
          </p:cNvPicPr>
          <p:nvPr/>
        </p:nvPicPr>
        <p:blipFill>
          <a:blip r:embed="rId4"/>
          <a:stretch>
            <a:fillRect/>
          </a:stretch>
        </p:blipFill>
        <p:spPr>
          <a:xfrm>
            <a:off x="8412956" y="1540967"/>
            <a:ext cx="157162" cy="228600"/>
          </a:xfrm>
          <a:prstGeom prst="rect">
            <a:avLst/>
          </a:prstGeom>
        </p:spPr>
      </p:pic>
      <p:pic>
        <p:nvPicPr>
          <p:cNvPr id="29" name="Picture 28" descr="lock.png"/>
          <p:cNvPicPr>
            <a:picLocks noChangeAspect="1"/>
          </p:cNvPicPr>
          <p:nvPr/>
        </p:nvPicPr>
        <p:blipFill>
          <a:blip r:embed="rId4"/>
          <a:stretch>
            <a:fillRect/>
          </a:stretch>
        </p:blipFill>
        <p:spPr>
          <a:xfrm>
            <a:off x="10822781" y="1540967"/>
            <a:ext cx="157162" cy="228600"/>
          </a:xfrm>
          <a:prstGeom prst="rect">
            <a:avLst/>
          </a:prstGeom>
        </p:spPr>
      </p:pic>
      <p:sp>
        <p:nvSpPr>
          <p:cNvPr id="30" name="TextBox 29"/>
          <p:cNvSpPr txBox="1"/>
          <p:nvPr/>
        </p:nvSpPr>
        <p:spPr>
          <a:xfrm>
            <a:off x="276225" y="2503329"/>
            <a:ext cx="5434979" cy="194310"/>
          </a:xfrm>
          <a:prstGeom prst="rect">
            <a:avLst/>
          </a:prstGeom>
          <a:noFill/>
        </p:spPr>
        <p:txBody>
          <a:bodyPr wrap="none" lIns="0" rIns="0" tIns="0" bIns="0">
            <a:spAutoFit/>
          </a:bodyPr>
          <a:lstStyle/>
          <a:p>
            <a:r>
              <a:rPr sz="1150" b="0">
                <a:solidFill>
                  <a:srgbClr val="2E2E2E"/>
                </a:solidFill>
                <a:latin typeface="Calibri"/>
              </a:rPr>
              <a:t>▪ Defend and extend leadership in 'Bathrooms and Wet Areas' Sika's strongest end-market</a:t>
            </a:r>
          </a:p>
        </p:txBody>
      </p:sp>
      <p:sp>
        <p:nvSpPr>
          <p:cNvPr id="31" name="TextBox 30"/>
          <p:cNvSpPr txBox="1"/>
          <p:nvPr/>
        </p:nvSpPr>
        <p:spPr>
          <a:xfrm>
            <a:off x="276225" y="2678589"/>
            <a:ext cx="2444948" cy="194310"/>
          </a:xfrm>
          <a:prstGeom prst="rect">
            <a:avLst/>
          </a:prstGeom>
          <a:noFill/>
        </p:spPr>
        <p:txBody>
          <a:bodyPr wrap="none" lIns="0" rIns="0" tIns="0" bIns="0">
            <a:spAutoFit/>
          </a:bodyPr>
          <a:lstStyle/>
          <a:p>
            <a:r>
              <a:rPr sz="1150" b="0">
                <a:solidFill>
                  <a:srgbClr val="2E2E2E"/>
                </a:solidFill>
                <a:latin typeface="Calibri"/>
              </a:rPr>
              <a:t>while scaling the next-best applications.</a:t>
            </a:r>
          </a:p>
        </p:txBody>
      </p:sp>
      <p:sp>
        <p:nvSpPr>
          <p:cNvPr id="32" name="TextBox 31"/>
          <p:cNvSpPr txBox="1"/>
          <p:nvPr/>
        </p:nvSpPr>
        <p:spPr>
          <a:xfrm>
            <a:off x="276225" y="2906426"/>
            <a:ext cx="909997" cy="194310"/>
          </a:xfrm>
          <a:prstGeom prst="rect">
            <a:avLst/>
          </a:prstGeom>
          <a:noFill/>
        </p:spPr>
        <p:txBody>
          <a:bodyPr wrap="none" lIns="0" rIns="0" tIns="0" bIns="0">
            <a:spAutoFit/>
          </a:bodyPr>
          <a:lstStyle/>
          <a:p>
            <a:r>
              <a:rPr sz="1150" b="0">
                <a:solidFill>
                  <a:srgbClr val="2E2E2E"/>
                </a:solidFill>
                <a:latin typeface="Calibri"/>
              </a:rPr>
              <a:t>▪ Convert its ~</a:t>
            </a:r>
          </a:p>
        </p:txBody>
      </p:sp>
      <p:pic>
        <p:nvPicPr>
          <p:cNvPr id="33" name="Picture 32" descr="lock.png"/>
          <p:cNvPicPr>
            <a:picLocks noChangeAspect="1"/>
          </p:cNvPicPr>
          <p:nvPr/>
        </p:nvPicPr>
        <p:blipFill>
          <a:blip r:embed="rId4"/>
          <a:stretch>
            <a:fillRect/>
          </a:stretch>
        </p:blipFill>
        <p:spPr>
          <a:xfrm>
            <a:off x="1135376" y="2896203"/>
            <a:ext cx="134549" cy="195707"/>
          </a:xfrm>
          <a:prstGeom prst="rect">
            <a:avLst/>
          </a:prstGeom>
        </p:spPr>
      </p:pic>
      <p:sp>
        <p:nvSpPr>
          <p:cNvPr id="34" name="TextBox 33"/>
          <p:cNvSpPr txBox="1"/>
          <p:nvPr/>
        </p:nvSpPr>
        <p:spPr>
          <a:xfrm>
            <a:off x="1310485" y="2906426"/>
            <a:ext cx="929109" cy="194310"/>
          </a:xfrm>
          <a:prstGeom prst="rect">
            <a:avLst/>
          </a:prstGeom>
          <a:noFill/>
        </p:spPr>
        <p:txBody>
          <a:bodyPr wrap="none" lIns="0" rIns="0" tIns="0" bIns="0">
            <a:spAutoFit/>
          </a:bodyPr>
          <a:lstStyle/>
          <a:p>
            <a:r>
              <a:rPr sz="1150" b="0">
                <a:solidFill>
                  <a:srgbClr val="2E2E2E"/>
                </a:solidFill>
                <a:latin typeface="Calibri"/>
              </a:rPr>
              <a:t>win rate and +</a:t>
            </a:r>
          </a:p>
        </p:txBody>
      </p:sp>
      <p:pic>
        <p:nvPicPr>
          <p:cNvPr id="35" name="Picture 34" descr="lock.png"/>
          <p:cNvPicPr>
            <a:picLocks noChangeAspect="1"/>
          </p:cNvPicPr>
          <p:nvPr/>
        </p:nvPicPr>
        <p:blipFill>
          <a:blip r:embed="rId4"/>
          <a:stretch>
            <a:fillRect/>
          </a:stretch>
        </p:blipFill>
        <p:spPr>
          <a:xfrm>
            <a:off x="2188748" y="2896203"/>
            <a:ext cx="134549" cy="195707"/>
          </a:xfrm>
          <a:prstGeom prst="rect">
            <a:avLst/>
          </a:prstGeom>
        </p:spPr>
      </p:pic>
      <p:sp>
        <p:nvSpPr>
          <p:cNvPr id="36" name="TextBox 35"/>
          <p:cNvSpPr txBox="1"/>
          <p:nvPr/>
        </p:nvSpPr>
        <p:spPr>
          <a:xfrm>
            <a:off x="2363857" y="2906426"/>
            <a:ext cx="3109019" cy="194310"/>
          </a:xfrm>
          <a:prstGeom prst="rect">
            <a:avLst/>
          </a:prstGeom>
          <a:noFill/>
        </p:spPr>
        <p:txBody>
          <a:bodyPr wrap="none" lIns="0" rIns="0" tIns="0" bIns="0">
            <a:spAutoFit/>
          </a:bodyPr>
          <a:lstStyle/>
          <a:p>
            <a:r>
              <a:rPr sz="1150" b="0">
                <a:solidFill>
                  <a:srgbClr val="2E2E2E"/>
                </a:solidFill>
                <a:latin typeface="Calibri"/>
              </a:rPr>
              <a:t>ASP premium into share gains through value-based</a:t>
            </a:r>
          </a:p>
        </p:txBody>
      </p:sp>
      <p:sp>
        <p:nvSpPr>
          <p:cNvPr id="37" name="TextBox 36"/>
          <p:cNvSpPr txBox="1"/>
          <p:nvPr/>
        </p:nvSpPr>
        <p:spPr>
          <a:xfrm>
            <a:off x="276225" y="3081686"/>
            <a:ext cx="489247" cy="194310"/>
          </a:xfrm>
          <a:prstGeom prst="rect">
            <a:avLst/>
          </a:prstGeom>
          <a:noFill/>
        </p:spPr>
        <p:txBody>
          <a:bodyPr wrap="none" lIns="0" rIns="0" tIns="0" bIns="0">
            <a:spAutoFit/>
          </a:bodyPr>
          <a:lstStyle/>
          <a:p>
            <a:r>
              <a:rPr sz="1150" b="0">
                <a:solidFill>
                  <a:srgbClr val="2E2E2E"/>
                </a:solidFill>
                <a:latin typeface="Calibri"/>
              </a:rPr>
              <a:t>selling.</a:t>
            </a:r>
          </a:p>
        </p:txBody>
      </p:sp>
      <p:sp>
        <p:nvSpPr>
          <p:cNvPr id="38" name="TextBox 37"/>
          <p:cNvSpPr txBox="1"/>
          <p:nvPr/>
        </p:nvSpPr>
        <p:spPr>
          <a:xfrm>
            <a:off x="276225" y="3309524"/>
            <a:ext cx="3294434" cy="194310"/>
          </a:xfrm>
          <a:prstGeom prst="rect">
            <a:avLst/>
          </a:prstGeom>
          <a:noFill/>
        </p:spPr>
        <p:txBody>
          <a:bodyPr wrap="none" lIns="0" rIns="0" tIns="0" bIns="0">
            <a:spAutoFit/>
          </a:bodyPr>
          <a:lstStyle/>
          <a:p>
            <a:r>
              <a:rPr sz="1150" b="0">
                <a:solidFill>
                  <a:srgbClr val="2E2E2E"/>
                </a:solidFill>
                <a:latin typeface="Calibri"/>
              </a:rPr>
              <a:t>▪ Raise SAM penetration beyond 'Rest of the World' (~</a:t>
            </a:r>
          </a:p>
        </p:txBody>
      </p:sp>
      <p:pic>
        <p:nvPicPr>
          <p:cNvPr id="39" name="Picture 38" descr="lock.png"/>
          <p:cNvPicPr>
            <a:picLocks noChangeAspect="1"/>
          </p:cNvPicPr>
          <p:nvPr/>
        </p:nvPicPr>
        <p:blipFill>
          <a:blip r:embed="rId4"/>
          <a:stretch>
            <a:fillRect/>
          </a:stretch>
        </p:blipFill>
        <p:spPr>
          <a:xfrm>
            <a:off x="3519813" y="3299301"/>
            <a:ext cx="134549" cy="195707"/>
          </a:xfrm>
          <a:prstGeom prst="rect">
            <a:avLst/>
          </a:prstGeom>
        </p:spPr>
      </p:pic>
      <p:sp>
        <p:nvSpPr>
          <p:cNvPr id="40" name="TextBox 39"/>
          <p:cNvSpPr txBox="1"/>
          <p:nvPr/>
        </p:nvSpPr>
        <p:spPr>
          <a:xfrm>
            <a:off x="3694922" y="3309524"/>
            <a:ext cx="2019064" cy="194310"/>
          </a:xfrm>
          <a:prstGeom prst="rect">
            <a:avLst/>
          </a:prstGeom>
          <a:noFill/>
        </p:spPr>
        <p:txBody>
          <a:bodyPr wrap="none" lIns="0" rIns="0" tIns="0" bIns="0">
            <a:spAutoFit/>
          </a:bodyPr>
          <a:lstStyle/>
          <a:p>
            <a:r>
              <a:rPr sz="1150" b="0">
                <a:solidFill>
                  <a:srgbClr val="2E2E2E"/>
                </a:solidFill>
                <a:latin typeface="Calibri"/>
              </a:rPr>
              <a:t>) into lower-penetration regions.</a:t>
            </a:r>
          </a:p>
        </p:txBody>
      </p:sp>
      <p:sp>
        <p:nvSpPr>
          <p:cNvPr id="41" name="TextBox 40"/>
          <p:cNvSpPr txBox="1"/>
          <p:nvPr/>
        </p:nvSpPr>
        <p:spPr>
          <a:xfrm>
            <a:off x="276225" y="3537362"/>
            <a:ext cx="694059" cy="194310"/>
          </a:xfrm>
          <a:prstGeom prst="rect">
            <a:avLst/>
          </a:prstGeom>
          <a:noFill/>
        </p:spPr>
        <p:txBody>
          <a:bodyPr wrap="none" lIns="0" rIns="0" tIns="0" bIns="0">
            <a:spAutoFit/>
          </a:bodyPr>
          <a:lstStyle/>
          <a:p>
            <a:r>
              <a:rPr sz="1150" b="0">
                <a:solidFill>
                  <a:srgbClr val="2E2E2E"/>
                </a:solidFill>
                <a:latin typeface="Calibri"/>
              </a:rPr>
              <a:t>▪ Sustain a</a:t>
            </a:r>
          </a:p>
        </p:txBody>
      </p:sp>
      <p:pic>
        <p:nvPicPr>
          <p:cNvPr id="42" name="Picture 41" descr="lock.png"/>
          <p:cNvPicPr>
            <a:picLocks noChangeAspect="1"/>
          </p:cNvPicPr>
          <p:nvPr/>
        </p:nvPicPr>
        <p:blipFill>
          <a:blip r:embed="rId4"/>
          <a:stretch>
            <a:fillRect/>
          </a:stretch>
        </p:blipFill>
        <p:spPr>
          <a:xfrm>
            <a:off x="919438" y="3527139"/>
            <a:ext cx="134549" cy="195707"/>
          </a:xfrm>
          <a:prstGeom prst="rect">
            <a:avLst/>
          </a:prstGeom>
        </p:spPr>
      </p:pic>
      <p:sp>
        <p:nvSpPr>
          <p:cNvPr id="43" name="TextBox 42"/>
          <p:cNvSpPr txBox="1"/>
          <p:nvPr/>
        </p:nvSpPr>
        <p:spPr>
          <a:xfrm>
            <a:off x="1094548" y="3537362"/>
            <a:ext cx="3750555" cy="194310"/>
          </a:xfrm>
          <a:prstGeom prst="rect">
            <a:avLst/>
          </a:prstGeom>
          <a:noFill/>
        </p:spPr>
        <p:txBody>
          <a:bodyPr wrap="none" lIns="0" rIns="0" tIns="0" bIns="0">
            <a:spAutoFit/>
          </a:bodyPr>
          <a:lstStyle/>
          <a:p>
            <a:r>
              <a:rPr sz="1150" b="0">
                <a:solidFill>
                  <a:srgbClr val="2E2E2E"/>
                </a:solidFill>
                <a:latin typeface="Calibri"/>
              </a:rPr>
              <a:t>book-to-bill with disciplined capacity and channel investment.</a:t>
            </a:r>
          </a:p>
        </p:txBody>
      </p:sp>
      <p:sp>
        <p:nvSpPr>
          <p:cNvPr id="44" name="TextBox 43"/>
          <p:cNvSpPr txBox="1"/>
          <p:nvPr/>
        </p:nvSpPr>
        <p:spPr>
          <a:xfrm>
            <a:off x="276225" y="3765200"/>
            <a:ext cx="5321163" cy="194310"/>
          </a:xfrm>
          <a:prstGeom prst="rect">
            <a:avLst/>
          </a:prstGeom>
          <a:noFill/>
        </p:spPr>
        <p:txBody>
          <a:bodyPr wrap="none" lIns="0" rIns="0" tIns="0" bIns="0">
            <a:spAutoFit/>
          </a:bodyPr>
          <a:lstStyle/>
          <a:p>
            <a:r>
              <a:rPr sz="1150" b="0">
                <a:solidFill>
                  <a:srgbClr val="2E2E2E"/>
                </a:solidFill>
                <a:latin typeface="Calibri"/>
              </a:rPr>
              <a:t>▪ Protect margin through corridor-based pricing and cost discipline as input prices move.</a:t>
            </a:r>
          </a:p>
        </p:txBody>
      </p:sp>
      <p:sp>
        <p:nvSpPr>
          <p:cNvPr id="45" name="TextBox 44"/>
          <p:cNvSpPr txBox="1"/>
          <p:nvPr/>
        </p:nvSpPr>
        <p:spPr>
          <a:xfrm>
            <a:off x="6334125" y="2503329"/>
            <a:ext cx="5481191" cy="194310"/>
          </a:xfrm>
          <a:prstGeom prst="rect">
            <a:avLst/>
          </a:prstGeom>
          <a:noFill/>
        </p:spPr>
        <p:txBody>
          <a:bodyPr wrap="none" lIns="0" rIns="0" tIns="0" bIns="0">
            <a:spAutoFit/>
          </a:bodyPr>
          <a:lstStyle/>
          <a:p>
            <a:r>
              <a:rPr sz="1150" b="0">
                <a:solidFill>
                  <a:srgbClr val="2E2E2E"/>
                </a:solidFill>
                <a:latin typeface="Calibri"/>
              </a:rPr>
              <a:t>▪ Premiumise the portfolio around 'Other Polymer-Based Coatings' and adjacent high-value</a:t>
            </a:r>
          </a:p>
        </p:txBody>
      </p:sp>
      <p:sp>
        <p:nvSpPr>
          <p:cNvPr id="46" name="TextBox 45"/>
          <p:cNvSpPr txBox="1"/>
          <p:nvPr/>
        </p:nvSpPr>
        <p:spPr>
          <a:xfrm>
            <a:off x="6334125" y="2678589"/>
            <a:ext cx="1694730" cy="194310"/>
          </a:xfrm>
          <a:prstGeom prst="rect">
            <a:avLst/>
          </a:prstGeom>
          <a:noFill/>
        </p:spPr>
        <p:txBody>
          <a:bodyPr wrap="none" lIns="0" rIns="0" tIns="0" bIns="0">
            <a:spAutoFit/>
          </a:bodyPr>
          <a:lstStyle/>
          <a:p>
            <a:r>
              <a:rPr sz="1150" b="0">
                <a:solidFill>
                  <a:srgbClr val="2E2E2E"/>
                </a:solidFill>
                <a:latin typeface="Calibri"/>
              </a:rPr>
              <a:t>lines to lift blended pricing.</a:t>
            </a:r>
          </a:p>
        </p:txBody>
      </p:sp>
      <p:sp>
        <p:nvSpPr>
          <p:cNvPr id="47" name="TextBox 46"/>
          <p:cNvSpPr txBox="1"/>
          <p:nvPr/>
        </p:nvSpPr>
        <p:spPr>
          <a:xfrm>
            <a:off x="6334125" y="2906426"/>
            <a:ext cx="5219613" cy="194310"/>
          </a:xfrm>
          <a:prstGeom prst="rect">
            <a:avLst/>
          </a:prstGeom>
          <a:noFill/>
        </p:spPr>
        <p:txBody>
          <a:bodyPr wrap="none" lIns="0" rIns="0" tIns="0" bIns="0">
            <a:spAutoFit/>
          </a:bodyPr>
          <a:lstStyle/>
          <a:p>
            <a:r>
              <a:rPr sz="1150" b="0">
                <a:solidFill>
                  <a:srgbClr val="2E2E2E"/>
                </a:solidFill>
                <a:latin typeface="Calibri"/>
              </a:rPr>
              <a:t>▪ Deepen presence in 'North America' (largest SOM region) and build out under-served</a:t>
            </a:r>
          </a:p>
        </p:txBody>
      </p:sp>
      <p:sp>
        <p:nvSpPr>
          <p:cNvPr id="48" name="TextBox 47"/>
          <p:cNvSpPr txBox="1"/>
          <p:nvPr/>
        </p:nvSpPr>
        <p:spPr>
          <a:xfrm>
            <a:off x="6334125" y="3081686"/>
            <a:ext cx="838113" cy="194310"/>
          </a:xfrm>
          <a:prstGeom prst="rect">
            <a:avLst/>
          </a:prstGeom>
          <a:noFill/>
        </p:spPr>
        <p:txBody>
          <a:bodyPr wrap="none" lIns="0" rIns="0" tIns="0" bIns="0">
            <a:spAutoFit/>
          </a:bodyPr>
          <a:lstStyle/>
          <a:p>
            <a:r>
              <a:rPr sz="1150" b="0">
                <a:solidFill>
                  <a:srgbClr val="2E2E2E"/>
                </a:solidFill>
                <a:latin typeface="Calibri"/>
              </a:rPr>
              <a:t>geographies.</a:t>
            </a:r>
          </a:p>
        </p:txBody>
      </p:sp>
      <p:sp>
        <p:nvSpPr>
          <p:cNvPr id="49" name="TextBox 48"/>
          <p:cNvSpPr txBox="1"/>
          <p:nvPr/>
        </p:nvSpPr>
        <p:spPr>
          <a:xfrm>
            <a:off x="6334125" y="3309524"/>
            <a:ext cx="5471144" cy="194310"/>
          </a:xfrm>
          <a:prstGeom prst="rect">
            <a:avLst/>
          </a:prstGeom>
          <a:noFill/>
        </p:spPr>
        <p:txBody>
          <a:bodyPr wrap="none" lIns="0" rIns="0" tIns="0" bIns="0">
            <a:spAutoFit/>
          </a:bodyPr>
          <a:lstStyle/>
          <a:p>
            <a:r>
              <a:rPr sz="1150" b="0">
                <a:solidFill>
                  <a:srgbClr val="2E2E2E"/>
                </a:solidFill>
                <a:latin typeface="Calibri"/>
              </a:rPr>
              <a:t>▪ Invest in R&amp;D, certification and selective M&amp;A to move up the price ladder and widen the</a:t>
            </a:r>
          </a:p>
        </p:txBody>
      </p:sp>
      <p:sp>
        <p:nvSpPr>
          <p:cNvPr id="50" name="TextBox 49"/>
          <p:cNvSpPr txBox="1"/>
          <p:nvPr/>
        </p:nvSpPr>
        <p:spPr>
          <a:xfrm>
            <a:off x="6334125" y="3484784"/>
            <a:ext cx="425636" cy="194310"/>
          </a:xfrm>
          <a:prstGeom prst="rect">
            <a:avLst/>
          </a:prstGeom>
          <a:noFill/>
        </p:spPr>
        <p:txBody>
          <a:bodyPr wrap="none" lIns="0" rIns="0" tIns="0" bIns="0">
            <a:spAutoFit/>
          </a:bodyPr>
          <a:lstStyle/>
          <a:p>
            <a:r>
              <a:rPr sz="1150" b="0">
                <a:solidFill>
                  <a:srgbClr val="2E2E2E"/>
                </a:solidFill>
                <a:latin typeface="Calibri"/>
              </a:rPr>
              <a:t>moat.</a:t>
            </a:r>
          </a:p>
        </p:txBody>
      </p:sp>
      <p:sp>
        <p:nvSpPr>
          <p:cNvPr id="51" name="TextBox 50"/>
          <p:cNvSpPr txBox="1"/>
          <p:nvPr/>
        </p:nvSpPr>
        <p:spPr>
          <a:xfrm>
            <a:off x="6334125" y="3712622"/>
            <a:ext cx="5267535" cy="194310"/>
          </a:xfrm>
          <a:prstGeom prst="rect">
            <a:avLst/>
          </a:prstGeom>
          <a:noFill/>
        </p:spPr>
        <p:txBody>
          <a:bodyPr wrap="none" lIns="0" rIns="0" tIns="0" bIns="0">
            <a:spAutoFit/>
          </a:bodyPr>
          <a:lstStyle/>
          <a:p>
            <a:r>
              <a:rPr sz="1150" b="0">
                <a:solidFill>
                  <a:srgbClr val="2E2E2E"/>
                </a:solidFill>
                <a:latin typeface="Calibri"/>
              </a:rPr>
              <a:t>▪ Diversify the customer base and secure supply to de-risk concentration and input-cost</a:t>
            </a:r>
          </a:p>
        </p:txBody>
      </p:sp>
      <p:sp>
        <p:nvSpPr>
          <p:cNvPr id="52" name="TextBox 51"/>
          <p:cNvSpPr txBox="1"/>
          <p:nvPr/>
        </p:nvSpPr>
        <p:spPr>
          <a:xfrm>
            <a:off x="6334125" y="3887882"/>
            <a:ext cx="509215" cy="194310"/>
          </a:xfrm>
          <a:prstGeom prst="rect">
            <a:avLst/>
          </a:prstGeom>
          <a:noFill/>
        </p:spPr>
        <p:txBody>
          <a:bodyPr wrap="none" lIns="0" rIns="0" tIns="0" bIns="0">
            <a:spAutoFit/>
          </a:bodyPr>
          <a:lstStyle/>
          <a:p>
            <a:r>
              <a:rPr sz="1150" b="0">
                <a:solidFill>
                  <a:srgbClr val="2E2E2E"/>
                </a:solidFill>
                <a:latin typeface="Calibri"/>
              </a:rPr>
              <a:t>shocks.</a:t>
            </a:r>
          </a:p>
        </p:txBody>
      </p:sp>
      <p:sp>
        <p:nvSpPr>
          <p:cNvPr id="53" name="TextBox 52"/>
          <p:cNvSpPr txBox="1"/>
          <p:nvPr/>
        </p:nvSpPr>
        <p:spPr>
          <a:xfrm>
            <a:off x="6334125" y="4115720"/>
            <a:ext cx="3102173" cy="194310"/>
          </a:xfrm>
          <a:prstGeom prst="rect">
            <a:avLst/>
          </a:prstGeom>
          <a:noFill/>
        </p:spPr>
        <p:txBody>
          <a:bodyPr wrap="none" lIns="0" rIns="0" tIns="0" bIns="0">
            <a:spAutoFit/>
          </a:bodyPr>
          <a:lstStyle/>
          <a:p>
            <a:r>
              <a:rPr sz="1150" b="0">
                <a:solidFill>
                  <a:srgbClr val="2E2E2E"/>
                </a:solidFill>
                <a:latin typeface="Calibri"/>
              </a:rPr>
              <a:t>▪ Sharpen go-to-market a ~95-day sales cycle and ~</a:t>
            </a:r>
          </a:p>
        </p:txBody>
      </p:sp>
      <p:pic>
        <p:nvPicPr>
          <p:cNvPr id="54" name="Picture 53" descr="lock.png"/>
          <p:cNvPicPr>
            <a:picLocks noChangeAspect="1"/>
          </p:cNvPicPr>
          <p:nvPr/>
        </p:nvPicPr>
        <p:blipFill>
          <a:blip r:embed="rId4"/>
          <a:stretch>
            <a:fillRect/>
          </a:stretch>
        </p:blipFill>
        <p:spPr>
          <a:xfrm>
            <a:off x="9385452" y="4105497"/>
            <a:ext cx="134549" cy="195707"/>
          </a:xfrm>
          <a:prstGeom prst="rect">
            <a:avLst/>
          </a:prstGeom>
        </p:spPr>
      </p:pic>
      <p:sp>
        <p:nvSpPr>
          <p:cNvPr id="55" name="TextBox 54"/>
          <p:cNvSpPr txBox="1"/>
          <p:nvPr/>
        </p:nvSpPr>
        <p:spPr>
          <a:xfrm>
            <a:off x="9560561" y="4115720"/>
            <a:ext cx="2003660" cy="194310"/>
          </a:xfrm>
          <a:prstGeom prst="rect">
            <a:avLst/>
          </a:prstGeom>
          <a:noFill/>
        </p:spPr>
        <p:txBody>
          <a:bodyPr wrap="none" lIns="0" rIns="0" tIns="0" bIns="0">
            <a:spAutoFit/>
          </a:bodyPr>
          <a:lstStyle/>
          <a:p>
            <a:r>
              <a:rPr sz="1150" b="0">
                <a:solidFill>
                  <a:srgbClr val="2E2E2E"/>
                </a:solidFill>
                <a:latin typeface="Calibri"/>
              </a:rPr>
              <a:t>conversion speed share capture.</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18</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Waterproof Coatings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Competitive Landscape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Pipeline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Strategic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Competition Dashboard</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Waterproof Coatings Market Competitive Landscape at a Glance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Market concentration, segment leadership and the moves that will shift share, 2026–2036, in one page</a:t>
            </a:r>
          </a:p>
        </p:txBody>
      </p:sp>
      <p:cxnSp>
        <p:nvCxnSpPr>
          <p:cNvPr id="10" name="Connector 9"/>
          <p:cNvCxnSpPr/>
          <p:nvPr/>
        </p:nvCxnSpPr>
        <p:spPr>
          <a:xfrm>
            <a:off x="190500" y="10477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4765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3 share, 2026</a:t>
            </a:r>
          </a:p>
        </p:txBody>
      </p:sp>
      <p:sp>
        <p:nvSpPr>
          <p:cNvPr id="12" name="TextBox 11"/>
          <p:cNvSpPr txBox="1"/>
          <p:nvPr/>
        </p:nvSpPr>
        <p:spPr>
          <a:xfrm>
            <a:off x="24765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E87722"/>
                </a:solidFill>
                <a:latin typeface="Calibri"/>
              </a:rPr>
              <a:t>38%</a:t>
            </a:r>
          </a:p>
        </p:txBody>
      </p:sp>
      <p:cxnSp>
        <p:nvCxnSpPr>
          <p:cNvPr id="13" name="Connector 12"/>
          <p:cNvCxnSpPr/>
          <p:nvPr/>
        </p:nvCxnSpPr>
        <p:spPr>
          <a:xfrm>
            <a:off x="16668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72402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5 share</a:t>
            </a:r>
          </a:p>
        </p:txBody>
      </p:sp>
      <p:sp>
        <p:nvSpPr>
          <p:cNvPr id="15" name="TextBox 14"/>
          <p:cNvSpPr txBox="1"/>
          <p:nvPr/>
        </p:nvSpPr>
        <p:spPr>
          <a:xfrm>
            <a:off x="172402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51%</a:t>
            </a:r>
          </a:p>
        </p:txBody>
      </p:sp>
      <p:cxnSp>
        <p:nvCxnSpPr>
          <p:cNvPr id="16" name="Connector 15"/>
          <p:cNvCxnSpPr/>
          <p:nvPr/>
        </p:nvCxnSpPr>
        <p:spPr>
          <a:xfrm>
            <a:off x="31432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20040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3 product types</a:t>
            </a:r>
          </a:p>
        </p:txBody>
      </p:sp>
      <p:sp>
        <p:nvSpPr>
          <p:cNvPr id="18" name="TextBox 17"/>
          <p:cNvSpPr txBox="1"/>
          <p:nvPr/>
        </p:nvSpPr>
        <p:spPr>
          <a:xfrm>
            <a:off x="320040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25 / 18 / 17%</a:t>
            </a:r>
          </a:p>
        </p:txBody>
      </p:sp>
      <p:cxnSp>
        <p:nvCxnSpPr>
          <p:cNvPr id="19" name="Connector 18"/>
          <p:cNvCxnSpPr/>
          <p:nvPr/>
        </p:nvCxnSpPr>
        <p:spPr>
          <a:xfrm>
            <a:off x="46196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67677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Largest end use</a:t>
            </a:r>
          </a:p>
        </p:txBody>
      </p:sp>
      <p:sp>
        <p:nvSpPr>
          <p:cNvPr id="21" name="TextBox 20"/>
          <p:cNvSpPr txBox="1"/>
          <p:nvPr/>
        </p:nvSpPr>
        <p:spPr>
          <a:xfrm>
            <a:off x="467677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r>
          </a:p>
        </p:txBody>
      </p:sp>
      <p:cxnSp>
        <p:nvCxnSpPr>
          <p:cNvPr id="22" name="Connector 21"/>
          <p:cNvCxnSpPr/>
          <p:nvPr/>
        </p:nvCxnSpPr>
        <p:spPr>
          <a:xfrm>
            <a:off x="609600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15315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Named competitors</a:t>
            </a:r>
          </a:p>
        </p:txBody>
      </p:sp>
      <p:sp>
        <p:nvSpPr>
          <p:cNvPr id="24" name="TextBox 23"/>
          <p:cNvSpPr txBox="1"/>
          <p:nvPr/>
        </p:nvSpPr>
        <p:spPr>
          <a:xfrm>
            <a:off x="615315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10</a:t>
            </a:r>
          </a:p>
        </p:txBody>
      </p:sp>
      <p:cxnSp>
        <p:nvCxnSpPr>
          <p:cNvPr id="25" name="Connector 24"/>
          <p:cNvCxnSpPr/>
          <p:nvPr/>
        </p:nvCxnSpPr>
        <p:spPr>
          <a:xfrm>
            <a:off x="75723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62952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Moves tracked</a:t>
            </a:r>
          </a:p>
        </p:txBody>
      </p:sp>
      <p:sp>
        <p:nvSpPr>
          <p:cNvPr id="27" name="TextBox 26"/>
          <p:cNvSpPr txBox="1"/>
          <p:nvPr/>
        </p:nvSpPr>
        <p:spPr>
          <a:xfrm>
            <a:off x="762952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50</a:t>
            </a:r>
          </a:p>
        </p:txBody>
      </p:sp>
      <p:cxnSp>
        <p:nvCxnSpPr>
          <p:cNvPr id="28" name="Connector 27"/>
          <p:cNvCxnSpPr/>
          <p:nvPr/>
        </p:nvCxnSpPr>
        <p:spPr>
          <a:xfrm>
            <a:off x="90487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10590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Largest player</a:t>
            </a:r>
          </a:p>
        </p:txBody>
      </p:sp>
      <p:sp>
        <p:nvSpPr>
          <p:cNvPr id="30" name="TextBox 29"/>
          <p:cNvSpPr txBox="1"/>
          <p:nvPr/>
        </p:nvSpPr>
        <p:spPr>
          <a:xfrm>
            <a:off x="910590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Sika</a:t>
            </a:r>
          </a:p>
        </p:txBody>
      </p:sp>
      <p:cxnSp>
        <p:nvCxnSpPr>
          <p:cNvPr id="31" name="Connector 30"/>
          <p:cNvCxnSpPr/>
          <p:nvPr/>
        </p:nvCxnSpPr>
        <p:spPr>
          <a:xfrm>
            <a:off x="105251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58227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sp>
        <p:nvSpPr>
          <p:cNvPr id="33" name="TextBox 32"/>
          <p:cNvSpPr txBox="1"/>
          <p:nvPr/>
        </p:nvSpPr>
        <p:spPr>
          <a:xfrm>
            <a:off x="1058227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34" name="Connector 33"/>
          <p:cNvCxnSpPr/>
          <p:nvPr/>
        </p:nvCxnSpPr>
        <p:spPr>
          <a:xfrm>
            <a:off x="190500" y="17335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0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90500" y="1924050"/>
            <a:ext cx="209550" cy="209550"/>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37" name="TextBox 36"/>
          <p:cNvSpPr txBox="1"/>
          <p:nvPr/>
        </p:nvSpPr>
        <p:spPr>
          <a:xfrm>
            <a:off x="495300" y="19050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Leadership is concentrated in value, spread in capability</a:t>
            </a:r>
          </a:p>
        </p:txBody>
      </p:sp>
      <p:sp>
        <p:nvSpPr>
          <p:cNvPr id="38" name="TextBox 37"/>
          <p:cNvSpPr txBox="1"/>
          <p:nvPr/>
        </p:nvSpPr>
        <p:spPr>
          <a:xfrm>
            <a:off x="495300" y="21145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39" name="Rectangle 38"/>
          <p:cNvSpPr/>
          <p:nvPr/>
        </p:nvSpPr>
        <p:spPr>
          <a:xfrm>
            <a:off x="190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90500" y="3028950"/>
            <a:ext cx="209550" cy="209550"/>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1" name="TextBox 40"/>
          <p:cNvSpPr txBox="1"/>
          <p:nvPr/>
        </p:nvSpPr>
        <p:spPr>
          <a:xfrm>
            <a:off x="495300" y="30099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The tier structure is steep</a:t>
            </a:r>
          </a:p>
        </p:txBody>
      </p:sp>
      <p:sp>
        <p:nvSpPr>
          <p:cNvPr id="42" name="TextBox 41"/>
          <p:cNvSpPr txBox="1"/>
          <p:nvPr/>
        </p:nvSpPr>
        <p:spPr>
          <a:xfrm>
            <a:off x="495300" y="32194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43" name="Rectangle 42"/>
          <p:cNvSpPr/>
          <p:nvPr/>
        </p:nvSpPr>
        <p:spPr>
          <a:xfrm>
            <a:off x="190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90500" y="4133850"/>
            <a:ext cx="209550" cy="209550"/>
          </a:xfrm>
          <a:prstGeom prst="rect">
            <a:avLst/>
          </a:prstGeom>
          <a:noFill/>
        </p:spPr>
        <p:txBody>
          <a:bodyPr wrap="none" lIns="0" rIns="0" tIns="0" bIns="0" anchor="ctr">
            <a:spAutoFit/>
          </a:bodyPr>
          <a:lstStyle/>
          <a:p>
            <a:pPr algn="ctr"/>
            <a:r>
              <a:rPr sz="1100" b="1">
                <a:solidFill>
                  <a:srgbClr val="FFFFFF"/>
                </a:solidFill>
                <a:latin typeface="Calibri"/>
              </a:rPr>
              <a:t>3</a:t>
            </a:r>
          </a:p>
        </p:txBody>
      </p:sp>
      <p:sp>
        <p:nvSpPr>
          <p:cNvPr id="45" name="TextBox 44"/>
          <p:cNvSpPr txBox="1"/>
          <p:nvPr/>
        </p:nvSpPr>
        <p:spPr>
          <a:xfrm>
            <a:off x="495300" y="41148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Growth is shifting inside the product mix</a:t>
            </a:r>
          </a:p>
        </p:txBody>
      </p:sp>
      <p:sp>
        <p:nvSpPr>
          <p:cNvPr id="46" name="TextBox 45"/>
          <p:cNvSpPr txBox="1"/>
          <p:nvPr/>
        </p:nvSpPr>
        <p:spPr>
          <a:xfrm>
            <a:off x="495300" y="43243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47" name="Rectangle 46"/>
          <p:cNvSpPr/>
          <p:nvPr/>
        </p:nvSpPr>
        <p:spPr>
          <a:xfrm>
            <a:off x="6286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86500" y="1924050"/>
            <a:ext cx="209550" cy="209550"/>
          </a:xfrm>
          <a:prstGeom prst="rect">
            <a:avLst/>
          </a:prstGeom>
          <a:noFill/>
        </p:spPr>
        <p:txBody>
          <a:bodyPr wrap="none" lIns="0" rIns="0" tIns="0" bIns="0" anchor="ctr">
            <a:spAutoFit/>
          </a:bodyPr>
          <a:lstStyle/>
          <a:p>
            <a:pPr algn="ctr"/>
            <a:r>
              <a:rPr sz="1100" b="1">
                <a:solidFill>
                  <a:srgbClr val="FFFFFF"/>
                </a:solidFill>
                <a:latin typeface="Calibri"/>
              </a:rPr>
              <a:t>4</a:t>
            </a:r>
          </a:p>
        </p:txBody>
      </p:sp>
      <p:sp>
        <p:nvSpPr>
          <p:cNvPr id="49" name="TextBox 48"/>
          <p:cNvSpPr txBox="1"/>
          <p:nvPr/>
        </p:nvSpPr>
        <p:spPr>
          <a:xfrm>
            <a:off x="6591300" y="19050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Reach divides the field</a:t>
            </a:r>
          </a:p>
        </p:txBody>
      </p:sp>
      <p:sp>
        <p:nvSpPr>
          <p:cNvPr id="50" name="TextBox 49"/>
          <p:cNvSpPr txBox="1"/>
          <p:nvPr/>
        </p:nvSpPr>
        <p:spPr>
          <a:xfrm>
            <a:off x="6591300" y="21145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4 players compete globally, 2 regionally and 4 in one market or niche.</a:t>
            </a:r>
          </a:p>
        </p:txBody>
      </p:sp>
      <p:sp>
        <p:nvSpPr>
          <p:cNvPr id="51" name="Rectangle 50"/>
          <p:cNvSpPr/>
          <p:nvPr/>
        </p:nvSpPr>
        <p:spPr>
          <a:xfrm>
            <a:off x="6286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86500" y="3028950"/>
            <a:ext cx="209550" cy="209550"/>
          </a:xfrm>
          <a:prstGeom prst="rect">
            <a:avLst/>
          </a:prstGeom>
          <a:noFill/>
        </p:spPr>
        <p:txBody>
          <a:bodyPr wrap="none" lIns="0" rIns="0" tIns="0" bIns="0" anchor="ctr">
            <a:spAutoFit/>
          </a:bodyPr>
          <a:lstStyle/>
          <a:p>
            <a:pPr algn="ctr"/>
            <a:r>
              <a:rPr sz="1100" b="1">
                <a:solidFill>
                  <a:srgbClr val="FFFFFF"/>
                </a:solidFill>
                <a:latin typeface="Calibri"/>
              </a:rPr>
              <a:t>5</a:t>
            </a:r>
          </a:p>
        </p:txBody>
      </p:sp>
      <p:sp>
        <p:nvSpPr>
          <p:cNvPr id="53" name="TextBox 52"/>
          <p:cNvSpPr txBox="1"/>
          <p:nvPr/>
        </p:nvSpPr>
        <p:spPr>
          <a:xfrm>
            <a:off x="6591300" y="30099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Consolidation is an active lever</a:t>
            </a:r>
          </a:p>
        </p:txBody>
      </p:sp>
      <p:sp>
        <p:nvSpPr>
          <p:cNvPr id="54" name="TextBox 53"/>
          <p:cNvSpPr txBox="1"/>
          <p:nvPr/>
        </p:nvSpPr>
        <p:spPr>
          <a:xfrm>
            <a:off x="6591300" y="32194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is an active strategy at 5 of 10 named players; the independent target list is shrinking.</a:t>
            </a:r>
          </a:p>
        </p:txBody>
      </p:sp>
      <p:sp>
        <p:nvSpPr>
          <p:cNvPr id="55" name="Rectangle 54"/>
          <p:cNvSpPr/>
          <p:nvPr/>
        </p:nvSpPr>
        <p:spPr>
          <a:xfrm>
            <a:off x="6286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86500" y="4133850"/>
            <a:ext cx="209550" cy="209550"/>
          </a:xfrm>
          <a:prstGeom prst="rect">
            <a:avLst/>
          </a:prstGeom>
          <a:noFill/>
        </p:spPr>
        <p:txBody>
          <a:bodyPr wrap="none" lIns="0" rIns="0" tIns="0" bIns="0" anchor="ctr">
            <a:spAutoFit/>
          </a:bodyPr>
          <a:lstStyle/>
          <a:p>
            <a:pPr algn="ctr"/>
            <a:r>
              <a:rPr sz="1100" b="1">
                <a:solidFill>
                  <a:srgbClr val="FFFFFF"/>
                </a:solidFill>
                <a:latin typeface="Calibri"/>
              </a:rPr>
              <a:t>6</a:t>
            </a:r>
          </a:p>
        </p:txBody>
      </p:sp>
      <p:sp>
        <p:nvSpPr>
          <p:cNvPr id="57" name="TextBox 56"/>
          <p:cNvSpPr txBox="1"/>
          <p:nvPr/>
        </p:nvSpPr>
        <p:spPr>
          <a:xfrm>
            <a:off x="6591300" y="41148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Success factors, in order</a:t>
            </a:r>
          </a:p>
        </p:txBody>
      </p:sp>
      <p:sp>
        <p:nvSpPr>
          <p:cNvPr id="58" name="TextBox 57"/>
          <p:cNvSpPr txBox="1"/>
          <p:nvPr/>
        </p:nvSpPr>
        <p:spPr>
          <a:xfrm>
            <a:off x="6591300" y="43243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1 segment breadth, 2 scale and share, 3 geographic reach, 4 innovation pipeline, 5 strategic momentum.  Ranking leads: The Sherwin-Williams, Sika, PPG Industries.</a:t>
            </a:r>
          </a:p>
        </p:txBody>
      </p:sp>
      <p:cxnSp>
        <p:nvCxnSpPr>
          <p:cNvPr id="59" name="Connector 58"/>
          <p:cNvCxnSpPr/>
          <p:nvPr/>
        </p:nvCxnSpPr>
        <p:spPr>
          <a:xfrm>
            <a:off x="190500" y="521970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190500" y="5276850"/>
            <a:ext cx="3810000" cy="152400"/>
          </a:xfrm>
          <a:prstGeom prst="rect">
            <a:avLst/>
          </a:prstGeom>
          <a:noFill/>
        </p:spPr>
        <p:txBody>
          <a:bodyPr wrap="square" lIns="28575" rIns="28575" tIns="9525" bIns="9525" anchor="t">
            <a:spAutoFit/>
          </a:bodyPr>
          <a:lstStyle/>
          <a:p>
            <a:pPr algn="l"/>
            <a:r>
              <a:rPr sz="1100" b="1">
                <a:solidFill>
                  <a:srgbClr val="0F2D52"/>
                </a:solidFill>
                <a:latin typeface="Calibri"/>
              </a:rPr>
              <a:t>HOW THIS SECTION IS BUILT</a:t>
            </a:r>
          </a:p>
        </p:txBody>
      </p:sp>
      <p:sp>
        <p:nvSpPr>
          <p:cNvPr id="61" name="TextBox 60"/>
          <p:cNvSpPr txBox="1"/>
          <p:nvPr/>
        </p:nvSpPr>
        <p:spPr>
          <a:xfrm>
            <a:off x="190500" y="5448300"/>
            <a:ext cx="11811000" cy="5715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Pages 2 to 4 show where the market is and who plays.  Pages 5 to 7 rate every named company on twenty Ps (who they are, what they sell, how they win); a cell reads n/a where no evidence exists.  Page 8 turns the pattern into five success factors and a ranking.  Pages 9 and 10 list what each player is doing and what each of your departments should do about it.</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lock.png"/>
          <p:cNvPicPr>
            <a:picLocks noChangeAspect="1"/>
          </p:cNvPicPr>
          <p:nvPr/>
        </p:nvPicPr>
        <p:blipFill>
          <a:blip r:embed="rId4"/>
          <a:stretch>
            <a:fillRect/>
          </a:stretch>
        </p:blipFill>
        <p:spPr>
          <a:xfrm>
            <a:off x="11208488" y="1401826"/>
            <a:ext cx="128699" cy="187198"/>
          </a:xfrm>
          <a:prstGeom prst="rect">
            <a:avLst/>
          </a:prstGeom>
        </p:spPr>
      </p:pic>
      <p:sp>
        <p:nvSpPr>
          <p:cNvPr id="64" name="TextBox 63"/>
          <p:cNvSpPr txBox="1"/>
          <p:nvPr/>
        </p:nvSpPr>
        <p:spPr>
          <a:xfrm>
            <a:off x="4705350" y="1304925"/>
            <a:ext cx="1170051" cy="179984"/>
          </a:xfrm>
          <a:prstGeom prst="rect">
            <a:avLst/>
          </a:prstGeom>
          <a:noFill/>
        </p:spPr>
        <p:txBody>
          <a:bodyPr wrap="none" lIns="0" rIns="0" tIns="0" bIns="0">
            <a:spAutoFit/>
          </a:bodyPr>
          <a:lstStyle/>
          <a:p>
            <a:r>
              <a:rPr sz="1055" b="1">
                <a:solidFill>
                  <a:srgbClr val="0F2D52"/>
                </a:solidFill>
                <a:latin typeface="Calibri"/>
              </a:rPr>
              <a:t>Roofs and Terraces,</a:t>
            </a:r>
          </a:p>
        </p:txBody>
      </p:sp>
      <p:pic>
        <p:nvPicPr>
          <p:cNvPr id="65" name="Picture 64" descr="lock.png"/>
          <p:cNvPicPr>
            <a:picLocks noChangeAspect="1"/>
          </p:cNvPicPr>
          <p:nvPr/>
        </p:nvPicPr>
        <p:blipFill>
          <a:blip r:embed="rId4"/>
          <a:stretch>
            <a:fillRect/>
          </a:stretch>
        </p:blipFill>
        <p:spPr>
          <a:xfrm>
            <a:off x="4692421" y="1456471"/>
            <a:ext cx="123551" cy="179710"/>
          </a:xfrm>
          <a:prstGeom prst="rect">
            <a:avLst/>
          </a:prstGeom>
        </p:spPr>
      </p:pic>
      <p:sp>
        <p:nvSpPr>
          <p:cNvPr id="66" name="TextBox 65"/>
          <p:cNvSpPr txBox="1"/>
          <p:nvPr/>
        </p:nvSpPr>
        <p:spPr>
          <a:xfrm>
            <a:off x="523875" y="2124075"/>
            <a:ext cx="1137319" cy="186689"/>
          </a:xfrm>
          <a:prstGeom prst="rect">
            <a:avLst/>
          </a:prstGeom>
          <a:noFill/>
        </p:spPr>
        <p:txBody>
          <a:bodyPr wrap="none" lIns="0" rIns="0" tIns="0" bIns="0">
            <a:spAutoFit/>
          </a:bodyPr>
          <a:lstStyle/>
          <a:p>
            <a:r>
              <a:rPr sz="1100" b="0">
                <a:solidFill>
                  <a:srgbClr val="1F2933"/>
                </a:solidFill>
                <a:latin typeface="Calibri"/>
              </a:rPr>
              <a:t>The top three hold</a:t>
            </a:r>
          </a:p>
        </p:txBody>
      </p:sp>
      <p:pic>
        <p:nvPicPr>
          <p:cNvPr id="67" name="Picture 66" descr="lock.png"/>
          <p:cNvPicPr>
            <a:picLocks noChangeAspect="1"/>
          </p:cNvPicPr>
          <p:nvPr/>
        </p:nvPicPr>
        <p:blipFill>
          <a:blip r:embed="rId4"/>
          <a:stretch>
            <a:fillRect/>
          </a:stretch>
        </p:blipFill>
        <p:spPr>
          <a:xfrm>
            <a:off x="1609246" y="2114296"/>
            <a:ext cx="128699" cy="187198"/>
          </a:xfrm>
          <a:prstGeom prst="rect">
            <a:avLst/>
          </a:prstGeom>
        </p:spPr>
      </p:pic>
      <p:sp>
        <p:nvSpPr>
          <p:cNvPr id="68" name="TextBox 67"/>
          <p:cNvSpPr txBox="1"/>
          <p:nvPr/>
        </p:nvSpPr>
        <p:spPr>
          <a:xfrm>
            <a:off x="1776742" y="2124075"/>
            <a:ext cx="3949327" cy="186689"/>
          </a:xfrm>
          <a:prstGeom prst="rect">
            <a:avLst/>
          </a:prstGeom>
          <a:noFill/>
        </p:spPr>
        <p:txBody>
          <a:bodyPr wrap="none" lIns="0" rIns="0" tIns="0" bIns="0">
            <a:spAutoFit/>
          </a:bodyPr>
          <a:lstStyle/>
          <a:p>
            <a:r>
              <a:rPr sz="1100" b="0">
                <a:solidFill>
                  <a:srgbClr val="1F2933"/>
                </a:solidFill>
                <a:latin typeface="Calibri"/>
              </a:rPr>
              <a:t>of 2026 value, but 3 companies lead the 8 sub-segments tracked; no</a:t>
            </a:r>
          </a:p>
        </p:txBody>
      </p:sp>
      <p:sp>
        <p:nvSpPr>
          <p:cNvPr id="69" name="TextBox 68"/>
          <p:cNvSpPr txBox="1"/>
          <p:nvPr/>
        </p:nvSpPr>
        <p:spPr>
          <a:xfrm>
            <a:off x="523875" y="2291715"/>
            <a:ext cx="1386433" cy="186689"/>
          </a:xfrm>
          <a:prstGeom prst="rect">
            <a:avLst/>
          </a:prstGeom>
          <a:noFill/>
        </p:spPr>
        <p:txBody>
          <a:bodyPr wrap="none" lIns="0" rIns="0" tIns="0" bIns="0">
            <a:spAutoFit/>
          </a:bodyPr>
          <a:lstStyle/>
          <a:p>
            <a:r>
              <a:rPr sz="1100" b="0">
                <a:solidFill>
                  <a:srgbClr val="1F2933"/>
                </a:solidFill>
                <a:latin typeface="Calibri"/>
              </a:rPr>
              <a:t>one leads more than 5.</a:t>
            </a:r>
          </a:p>
        </p:txBody>
      </p:sp>
      <p:sp>
        <p:nvSpPr>
          <p:cNvPr id="70" name="TextBox 69"/>
          <p:cNvSpPr txBox="1"/>
          <p:nvPr/>
        </p:nvSpPr>
        <p:spPr>
          <a:xfrm>
            <a:off x="523875" y="3228975"/>
            <a:ext cx="1364059" cy="186689"/>
          </a:xfrm>
          <a:prstGeom prst="rect">
            <a:avLst/>
          </a:prstGeom>
          <a:noFill/>
        </p:spPr>
        <p:txBody>
          <a:bodyPr wrap="none" lIns="0" rIns="0" tIns="0" bIns="0">
            <a:spAutoFit/>
          </a:bodyPr>
          <a:lstStyle/>
          <a:p>
            <a:r>
              <a:rPr sz="1100" b="0">
                <a:solidFill>
                  <a:srgbClr val="1F2933"/>
                </a:solidFill>
                <a:latin typeface="Calibri"/>
              </a:rPr>
              <a:t>Tier 1 (4 players) holds</a:t>
            </a:r>
          </a:p>
        </p:txBody>
      </p:sp>
      <p:pic>
        <p:nvPicPr>
          <p:cNvPr id="71" name="Picture 70" descr="lock.png"/>
          <p:cNvPicPr>
            <a:picLocks noChangeAspect="1"/>
          </p:cNvPicPr>
          <p:nvPr/>
        </p:nvPicPr>
        <p:blipFill>
          <a:blip r:embed="rId4"/>
          <a:stretch>
            <a:fillRect/>
          </a:stretch>
        </p:blipFill>
        <p:spPr>
          <a:xfrm>
            <a:off x="1835985" y="3219196"/>
            <a:ext cx="128699" cy="187198"/>
          </a:xfrm>
          <a:prstGeom prst="rect">
            <a:avLst/>
          </a:prstGeom>
        </p:spPr>
      </p:pic>
      <p:sp>
        <p:nvSpPr>
          <p:cNvPr id="72" name="TextBox 71"/>
          <p:cNvSpPr txBox="1"/>
          <p:nvPr/>
        </p:nvSpPr>
        <p:spPr>
          <a:xfrm>
            <a:off x="2003481" y="3228975"/>
            <a:ext cx="1875656" cy="186689"/>
          </a:xfrm>
          <a:prstGeom prst="rect">
            <a:avLst/>
          </a:prstGeom>
          <a:noFill/>
        </p:spPr>
        <p:txBody>
          <a:bodyPr wrap="none" lIns="0" rIns="0" tIns="0" bIns="0">
            <a:spAutoFit/>
          </a:bodyPr>
          <a:lstStyle/>
          <a:p>
            <a:r>
              <a:rPr sz="1100" b="0">
                <a:solidFill>
                  <a:srgbClr val="1F2933"/>
                </a:solidFill>
                <a:latin typeface="Calibri"/>
              </a:rPr>
              <a:t>; Tier 2 and Tier 3 together hold</a:t>
            </a:r>
          </a:p>
        </p:txBody>
      </p:sp>
      <p:pic>
        <p:nvPicPr>
          <p:cNvPr id="73" name="Picture 72" descr="lock.png"/>
          <p:cNvPicPr>
            <a:picLocks noChangeAspect="1"/>
          </p:cNvPicPr>
          <p:nvPr/>
        </p:nvPicPr>
        <p:blipFill>
          <a:blip r:embed="rId4"/>
          <a:stretch>
            <a:fillRect/>
          </a:stretch>
        </p:blipFill>
        <p:spPr>
          <a:xfrm>
            <a:off x="3827189" y="3219196"/>
            <a:ext cx="128699" cy="187198"/>
          </a:xfrm>
          <a:prstGeom prst="rect">
            <a:avLst/>
          </a:prstGeom>
        </p:spPr>
      </p:pic>
      <p:sp>
        <p:nvSpPr>
          <p:cNvPr id="74" name="TextBox 73"/>
          <p:cNvSpPr txBox="1"/>
          <p:nvPr/>
        </p:nvSpPr>
        <p:spPr>
          <a:xfrm>
            <a:off x="3994685" y="3228975"/>
            <a:ext cx="111397" cy="186689"/>
          </a:xfrm>
          <a:prstGeom prst="rect">
            <a:avLst/>
          </a:prstGeom>
          <a:noFill/>
        </p:spPr>
        <p:txBody>
          <a:bodyPr wrap="none" lIns="0" rIns="0" tIns="0" bIns="0">
            <a:spAutoFit/>
          </a:bodyPr>
          <a:lstStyle/>
          <a:p>
            <a:r>
              <a:rPr sz="1100" b="0">
                <a:solidFill>
                  <a:srgbClr val="1F2933"/>
                </a:solidFill>
                <a:latin typeface="Calibri"/>
              </a:rPr>
              <a:t>.</a:t>
            </a:r>
          </a:p>
        </p:txBody>
      </p:sp>
      <p:sp>
        <p:nvSpPr>
          <p:cNvPr id="75" name="TextBox 74"/>
          <p:cNvSpPr txBox="1"/>
          <p:nvPr/>
        </p:nvSpPr>
        <p:spPr>
          <a:xfrm>
            <a:off x="523875" y="4333875"/>
            <a:ext cx="5353050" cy="186689"/>
          </a:xfrm>
          <a:prstGeom prst="rect">
            <a:avLst/>
          </a:prstGeom>
          <a:noFill/>
        </p:spPr>
        <p:txBody>
          <a:bodyPr wrap="none" lIns="0" rIns="0" tIns="0" bIns="0">
            <a:spAutoFit/>
          </a:bodyPr>
          <a:lstStyle/>
          <a:p>
            <a:r>
              <a:rPr sz="1100" b="0">
                <a:solidFill>
                  <a:srgbClr val="1F2933"/>
                </a:solidFill>
                <a:latin typeface="Calibri"/>
              </a:rPr>
              <a:t>'Other Polymer-Based Coatings' is the largest line; 'Silicone Waterproof Coatings' compounds</a:t>
            </a:r>
          </a:p>
        </p:txBody>
      </p:sp>
      <p:sp>
        <p:nvSpPr>
          <p:cNvPr id="76" name="TextBox 75"/>
          <p:cNvSpPr txBox="1"/>
          <p:nvPr/>
        </p:nvSpPr>
        <p:spPr>
          <a:xfrm>
            <a:off x="523875" y="4501515"/>
            <a:ext cx="603622" cy="186689"/>
          </a:xfrm>
          <a:prstGeom prst="rect">
            <a:avLst/>
          </a:prstGeom>
          <a:noFill/>
        </p:spPr>
        <p:txBody>
          <a:bodyPr wrap="none" lIns="0" rIns="0" tIns="0" bIns="0">
            <a:spAutoFit/>
          </a:bodyPr>
          <a:lstStyle/>
          <a:p>
            <a:r>
              <a:rPr sz="1100" b="0">
                <a:solidFill>
                  <a:srgbClr val="1F2933"/>
                </a:solidFill>
                <a:latin typeface="Calibri"/>
              </a:rPr>
              <a:t>fastest at</a:t>
            </a:r>
          </a:p>
        </p:txBody>
      </p:sp>
      <p:pic>
        <p:nvPicPr>
          <p:cNvPr id="77" name="Picture 76" descr="lock.png"/>
          <p:cNvPicPr>
            <a:picLocks noChangeAspect="1"/>
          </p:cNvPicPr>
          <p:nvPr/>
        </p:nvPicPr>
        <p:blipFill>
          <a:blip r:embed="rId4"/>
          <a:stretch>
            <a:fillRect/>
          </a:stretch>
        </p:blipFill>
        <p:spPr>
          <a:xfrm>
            <a:off x="1075548" y="4491736"/>
            <a:ext cx="128699" cy="187198"/>
          </a:xfrm>
          <a:prstGeom prst="rect">
            <a:avLst/>
          </a:prstGeom>
        </p:spPr>
      </p:pic>
      <p:sp>
        <p:nvSpPr>
          <p:cNvPr id="78" name="TextBox 77"/>
          <p:cNvSpPr txBox="1"/>
          <p:nvPr/>
        </p:nvSpPr>
        <p:spPr>
          <a:xfrm>
            <a:off x="1243044" y="4501515"/>
            <a:ext cx="430617" cy="186689"/>
          </a:xfrm>
          <a:prstGeom prst="rect">
            <a:avLst/>
          </a:prstGeom>
          <a:noFill/>
        </p:spPr>
        <p:txBody>
          <a:bodyPr wrap="none" lIns="0" rIns="0" tIns="0" bIns="0">
            <a:spAutoFit/>
          </a:bodyPr>
          <a:lstStyle/>
          <a:p>
            <a:r>
              <a:rPr sz="1100" b="0">
                <a:solidFill>
                  <a:srgbClr val="1F2933"/>
                </a:solidFill>
                <a:latin typeface="Calibri"/>
              </a:rPr>
              <a:t>CAGR.</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Waterproof Coatings Market Segment Leadership Map</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Share by player group and which named player leads or is active in each sub-segment, 2026</a:t>
            </a:r>
          </a:p>
        </p:txBody>
      </p:sp>
      <p:sp>
        <p:nvSpPr>
          <p:cNvPr id="10" name="TextBox 9"/>
          <p:cNvSpPr txBox="1"/>
          <p:nvPr/>
        </p:nvSpPr>
        <p:spPr>
          <a:xfrm>
            <a:off x="190500" y="1047750"/>
            <a:ext cx="5715000" cy="171450"/>
          </a:xfrm>
          <a:prstGeom prst="rect">
            <a:avLst/>
          </a:prstGeom>
          <a:noFill/>
        </p:spPr>
        <p:txBody>
          <a:bodyPr wrap="square" lIns="28575" rIns="28575" tIns="9525" bIns="9525" anchor="t">
            <a:spAutoFit/>
          </a:bodyPr>
          <a:lstStyle/>
          <a:p>
            <a:pPr algn="l"/>
            <a:r>
              <a:rPr sz="1100" b="1">
                <a:solidFill>
                  <a:srgbClr val="0F2D52"/>
                </a:solidFill>
                <a:latin typeface="Calibri"/>
              </a:rPr>
              <a:t>Who holds the market, 2026</a:t>
            </a:r>
          </a:p>
        </p:txBody>
      </p:sp>
      <p:sp>
        <p:nvSpPr>
          <p:cNvPr id="11" name="Rectangle 10"/>
          <p:cNvSpPr/>
          <p:nvPr/>
        </p:nvSpPr>
        <p:spPr>
          <a:xfrm>
            <a:off x="190500" y="1257300"/>
            <a:ext cx="4509884" cy="266700"/>
          </a:xfrm>
          <a:prstGeom prst="rect">
            <a:avLst/>
          </a:prstGeom>
          <a:solidFill>
            <a:srgbClr val="0F2D52"/>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650" y="1257300"/>
            <a:ext cx="4433684"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3" name="Rectangle 12"/>
          <p:cNvSpPr/>
          <p:nvPr/>
        </p:nvSpPr>
        <p:spPr>
          <a:xfrm>
            <a:off x="4700384" y="1257300"/>
            <a:ext cx="1536162" cy="266700"/>
          </a:xfrm>
          <a:prstGeom prst="rect">
            <a:avLst/>
          </a:prstGeom>
          <a:solidFill>
            <a:srgbClr val="1F6FA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7534" y="1257300"/>
            <a:ext cx="1459962"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5" name="Rectangle 14"/>
          <p:cNvSpPr/>
          <p:nvPr/>
        </p:nvSpPr>
        <p:spPr>
          <a:xfrm>
            <a:off x="6236546" y="1257300"/>
            <a:ext cx="2242416" cy="266700"/>
          </a:xfrm>
          <a:prstGeom prst="rect">
            <a:avLst/>
          </a:prstGeom>
          <a:solidFill>
            <a:srgbClr val="6FA0C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3696" y="1257300"/>
            <a:ext cx="2166216"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7" name="Rectangle 16"/>
          <p:cNvSpPr/>
          <p:nvPr/>
        </p:nvSpPr>
        <p:spPr>
          <a:xfrm>
            <a:off x="8478962" y="1257300"/>
            <a:ext cx="3522538" cy="266700"/>
          </a:xfrm>
          <a:prstGeom prst="rect">
            <a:avLst/>
          </a:prstGeom>
          <a:solidFill>
            <a:srgbClr val="A9C6E3"/>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36112" y="1257300"/>
            <a:ext cx="3446338" cy="266700"/>
          </a:xfrm>
          <a:prstGeom prst="rect">
            <a:avLst/>
          </a:prstGeom>
          <a:noFill/>
        </p:spPr>
        <p:txBody>
          <a:bodyPr wrap="square" lIns="28575" rIns="28575" tIns="9525" bIns="9525" anchor="ctr">
            <a:spAutoFit/>
          </a:bodyPr>
          <a:lstStyle/>
          <a:p>
            <a:pPr algn="l"/>
            <a:r>
              <a:rPr sz="1100" b="1">
                <a:solidFill>
                  <a:srgbClr val="0F2D52"/>
                </a:solidFill>
                <a:latin typeface="Calibri"/>
              </a:rPr>
              <a:t/>
            </a:r>
          </a:p>
        </p:txBody>
      </p:sp>
      <p:sp>
        <p:nvSpPr>
          <p:cNvPr id="19" name="Rectangle 18"/>
          <p:cNvSpPr/>
          <p:nvPr/>
        </p:nvSpPr>
        <p:spPr>
          <a:xfrm>
            <a:off x="190500" y="1600200"/>
            <a:ext cx="85725" cy="857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432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Sika, The Sherwin-Williams, PPG Industries</a:t>
            </a:r>
          </a:p>
        </p:txBody>
      </p:sp>
      <p:sp>
        <p:nvSpPr>
          <p:cNvPr id="21" name="Rectangle 20"/>
          <p:cNvSpPr/>
          <p:nvPr/>
        </p:nvSpPr>
        <p:spPr>
          <a:xfrm>
            <a:off x="3143250" y="1600200"/>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6707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Akzo Nobel, BASF</a:t>
            </a:r>
          </a:p>
        </p:txBody>
      </p:sp>
      <p:sp>
        <p:nvSpPr>
          <p:cNvPr id="23" name="Rectangle 22"/>
          <p:cNvSpPr/>
          <p:nvPr/>
        </p:nvSpPr>
        <p:spPr>
          <a:xfrm>
            <a:off x="6096000" y="1600200"/>
            <a:ext cx="85725" cy="85725"/>
          </a:xfrm>
          <a:prstGeom prst="rect">
            <a:avLst/>
          </a:prstGeom>
          <a:solidFill>
            <a:srgbClr val="6FA0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982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RPM International, Saint-Gobain, Mapei, Henkel AG &amp; Co. KGaA, Dow</a:t>
            </a:r>
          </a:p>
        </p:txBody>
      </p:sp>
      <p:sp>
        <p:nvSpPr>
          <p:cNvPr id="25" name="Rectangle 24"/>
          <p:cNvSpPr/>
          <p:nvPr/>
        </p:nvSpPr>
        <p:spPr>
          <a:xfrm>
            <a:off x="9048750" y="1600200"/>
            <a:ext cx="85725" cy="857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7257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Long tail of regional and niche suppliers</a:t>
            </a:r>
          </a:p>
        </p:txBody>
      </p:sp>
      <p:cxnSp>
        <p:nvCxnSpPr>
          <p:cNvPr id="27" name="Connector 26"/>
          <p:cNvCxnSpPr/>
          <p:nvPr/>
        </p:nvCxnSpPr>
        <p:spPr>
          <a:xfrm>
            <a:off x="190500" y="19240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90500" y="1981200"/>
            <a:ext cx="8572500" cy="171450"/>
          </a:xfrm>
          <a:prstGeom prst="rect">
            <a:avLst/>
          </a:prstGeom>
          <a:noFill/>
        </p:spPr>
        <p:txBody>
          <a:bodyPr wrap="square" lIns="28575" rIns="28575" tIns="9525" bIns="9525" anchor="t">
            <a:spAutoFit/>
          </a:bodyPr>
          <a:lstStyle/>
          <a:p>
            <a:pPr algn="l"/>
            <a:r>
              <a:rPr sz="1100" b="1">
                <a:solidFill>
                  <a:srgbClr val="0F2D52"/>
                </a:solidFill>
                <a:latin typeface="Calibri"/>
              </a:rPr>
              <a:t>Who leads which sub-segment, 2026  (full = leader, half = active)</a:t>
            </a:r>
          </a:p>
        </p:txBody>
      </p:sp>
      <p:sp>
        <p:nvSpPr>
          <p:cNvPr id="29" name="TextBox 28"/>
          <p:cNvSpPr txBox="1"/>
          <p:nvPr/>
        </p:nvSpPr>
        <p:spPr>
          <a:xfrm>
            <a:off x="2114550" y="2114550"/>
            <a:ext cx="1200150"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Other Polymer-Based Coatings</a:t>
            </a:r>
          </a:p>
        </p:txBody>
      </p:sp>
      <p:sp>
        <p:nvSpPr>
          <p:cNvPr id="30" name="TextBox 29"/>
          <p:cNvSpPr txBox="1"/>
          <p:nvPr/>
        </p:nvSpPr>
        <p:spPr>
          <a:xfrm>
            <a:off x="3352800" y="2114550"/>
            <a:ext cx="1200150"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Cementitious Waterproof Coatings</a:t>
            </a:r>
          </a:p>
        </p:txBody>
      </p:sp>
      <p:sp>
        <p:nvSpPr>
          <p:cNvPr id="31" name="TextBox 30"/>
          <p:cNvSpPr txBox="1"/>
          <p:nvPr/>
        </p:nvSpPr>
        <p:spPr>
          <a:xfrm>
            <a:off x="4591050" y="2114550"/>
            <a:ext cx="1200150"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Polyurea Waterproof Coatings</a:t>
            </a:r>
          </a:p>
        </p:txBody>
      </p:sp>
      <p:sp>
        <p:nvSpPr>
          <p:cNvPr id="32" name="TextBox 31"/>
          <p:cNvSpPr txBox="1"/>
          <p:nvPr/>
        </p:nvSpPr>
        <p:spPr>
          <a:xfrm>
            <a:off x="5829300" y="2114550"/>
            <a:ext cx="1200150"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Silicone Waterproof Coatings</a:t>
            </a:r>
          </a:p>
        </p:txBody>
      </p:sp>
      <p:sp>
        <p:nvSpPr>
          <p:cNvPr id="33" name="TextBox 32"/>
          <p:cNvSpPr txBox="1"/>
          <p:nvPr/>
        </p:nvSpPr>
        <p:spPr>
          <a:xfrm>
            <a:off x="7067550" y="2114550"/>
            <a:ext cx="1200150"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Roofs and Terraces</a:t>
            </a:r>
          </a:p>
        </p:txBody>
      </p:sp>
      <p:sp>
        <p:nvSpPr>
          <p:cNvPr id="34" name="TextBox 33"/>
          <p:cNvSpPr txBox="1"/>
          <p:nvPr/>
        </p:nvSpPr>
        <p:spPr>
          <a:xfrm>
            <a:off x="8305800" y="2114550"/>
            <a:ext cx="1200150"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Bathrooms and Wet Areas</a:t>
            </a:r>
          </a:p>
        </p:txBody>
      </p:sp>
      <p:sp>
        <p:nvSpPr>
          <p:cNvPr id="35" name="TextBox 34"/>
          <p:cNvSpPr txBox="1"/>
          <p:nvPr/>
        </p:nvSpPr>
        <p:spPr>
          <a:xfrm>
            <a:off x="9544050" y="2114550"/>
            <a:ext cx="1200150"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Walls and Building Facades</a:t>
            </a:r>
          </a:p>
        </p:txBody>
      </p:sp>
      <p:sp>
        <p:nvSpPr>
          <p:cNvPr id="36" name="TextBox 35"/>
          <p:cNvSpPr txBox="1"/>
          <p:nvPr/>
        </p:nvSpPr>
        <p:spPr>
          <a:xfrm>
            <a:off x="10782300" y="2114550"/>
            <a:ext cx="1200150"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Water Tanks and Swimming Pools</a:t>
            </a:r>
          </a:p>
        </p:txBody>
      </p:sp>
      <p:cxnSp>
        <p:nvCxnSpPr>
          <p:cNvPr id="37" name="Connector 36"/>
          <p:cNvCxnSpPr/>
          <p:nvPr/>
        </p:nvCxnSpPr>
        <p:spPr>
          <a:xfrm>
            <a:off x="190500" y="2609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190500" y="2638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85750" y="26289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Sika</a:t>
            </a:r>
          </a:p>
        </p:txBody>
      </p:sp>
      <p:sp>
        <p:nvSpPr>
          <p:cNvPr id="40" name="TextBox 39"/>
          <p:cNvSpPr txBox="1"/>
          <p:nvPr/>
        </p:nvSpPr>
        <p:spPr>
          <a:xfrm>
            <a:off x="285750" y="27908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1" name="Oval 40"/>
          <p:cNvSpPr/>
          <p:nvPr/>
        </p:nvSpPr>
        <p:spPr>
          <a:xfrm>
            <a:off x="2638425"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2714625" y="27051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3876675"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5114925"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353175"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7591425"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7667625" y="27051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829675"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8905875" y="27051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067925"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1306175"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Connector 51"/>
          <p:cNvCxnSpPr/>
          <p:nvPr/>
        </p:nvCxnSpPr>
        <p:spPr>
          <a:xfrm>
            <a:off x="190500" y="2952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190500" y="2981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85750" y="29718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The Sherwin-Williams</a:t>
            </a:r>
          </a:p>
        </p:txBody>
      </p:sp>
      <p:sp>
        <p:nvSpPr>
          <p:cNvPr id="55" name="TextBox 54"/>
          <p:cNvSpPr txBox="1"/>
          <p:nvPr/>
        </p:nvSpPr>
        <p:spPr>
          <a:xfrm>
            <a:off x="285750" y="31337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6" name="Oval 55"/>
          <p:cNvSpPr/>
          <p:nvPr/>
        </p:nvSpPr>
        <p:spPr>
          <a:xfrm>
            <a:off x="263842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271462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387667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reeform 58"/>
          <p:cNvSpPr/>
          <p:nvPr/>
        </p:nvSpPr>
        <p:spPr>
          <a:xfrm>
            <a:off x="395287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511492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519112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635317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759142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766762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8829675" y="3048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006792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reeform 66"/>
          <p:cNvSpPr/>
          <p:nvPr/>
        </p:nvSpPr>
        <p:spPr>
          <a:xfrm>
            <a:off x="1014412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130617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1138237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Connector 69"/>
          <p:cNvCxnSpPr/>
          <p:nvPr/>
        </p:nvCxnSpPr>
        <p:spPr>
          <a:xfrm>
            <a:off x="190500" y="3295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1" name="Rectangle 70"/>
          <p:cNvSpPr/>
          <p:nvPr/>
        </p:nvSpPr>
        <p:spPr>
          <a:xfrm>
            <a:off x="190500" y="3324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85750" y="33147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PPG Industries</a:t>
            </a:r>
          </a:p>
        </p:txBody>
      </p:sp>
      <p:sp>
        <p:nvSpPr>
          <p:cNvPr id="73" name="TextBox 72"/>
          <p:cNvSpPr txBox="1"/>
          <p:nvPr/>
        </p:nvSpPr>
        <p:spPr>
          <a:xfrm>
            <a:off x="285750" y="34766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74" name="Oval 73"/>
          <p:cNvSpPr/>
          <p:nvPr/>
        </p:nvSpPr>
        <p:spPr>
          <a:xfrm>
            <a:off x="2638425"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387667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3952875"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511492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635317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Freeform 78"/>
          <p:cNvSpPr/>
          <p:nvPr/>
        </p:nvSpPr>
        <p:spPr>
          <a:xfrm>
            <a:off x="6429375"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7591425"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882967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8905875"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006792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Freeform 83"/>
          <p:cNvSpPr/>
          <p:nvPr/>
        </p:nvSpPr>
        <p:spPr>
          <a:xfrm>
            <a:off x="10144125"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1130617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11382375"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7" name="Connector 86"/>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8" name="Rectangle 87"/>
          <p:cNvSpPr/>
          <p:nvPr/>
        </p:nvSpPr>
        <p:spPr>
          <a:xfrm>
            <a:off x="190500" y="3667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85750" y="36576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Akzo Nobel</a:t>
            </a:r>
          </a:p>
        </p:txBody>
      </p:sp>
      <p:sp>
        <p:nvSpPr>
          <p:cNvPr id="90" name="TextBox 89"/>
          <p:cNvSpPr txBox="1"/>
          <p:nvPr/>
        </p:nvSpPr>
        <p:spPr>
          <a:xfrm>
            <a:off x="285750" y="38195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91" name="Oval 90"/>
          <p:cNvSpPr/>
          <p:nvPr/>
        </p:nvSpPr>
        <p:spPr>
          <a:xfrm>
            <a:off x="263842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387667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511492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Freeform 93"/>
          <p:cNvSpPr/>
          <p:nvPr/>
        </p:nvSpPr>
        <p:spPr>
          <a:xfrm>
            <a:off x="5191125" y="3733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635317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6429375" y="3733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759142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Freeform 97"/>
          <p:cNvSpPr/>
          <p:nvPr/>
        </p:nvSpPr>
        <p:spPr>
          <a:xfrm>
            <a:off x="7667625" y="3733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882967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Freeform 99"/>
          <p:cNvSpPr/>
          <p:nvPr/>
        </p:nvSpPr>
        <p:spPr>
          <a:xfrm>
            <a:off x="8905875" y="3733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1006792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1130617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3" name="Connector 102"/>
          <p:cNvCxnSpPr/>
          <p:nvPr/>
        </p:nvCxnSpPr>
        <p:spPr>
          <a:xfrm>
            <a:off x="190500" y="3981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4" name="Rectangle 103"/>
          <p:cNvSpPr/>
          <p:nvPr/>
        </p:nvSpPr>
        <p:spPr>
          <a:xfrm>
            <a:off x="190500" y="4010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85750" y="40005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BASF</a:t>
            </a:r>
          </a:p>
        </p:txBody>
      </p:sp>
      <p:sp>
        <p:nvSpPr>
          <p:cNvPr id="106" name="TextBox 105"/>
          <p:cNvSpPr txBox="1"/>
          <p:nvPr/>
        </p:nvSpPr>
        <p:spPr>
          <a:xfrm>
            <a:off x="285750" y="41624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107" name="Oval 106"/>
          <p:cNvSpPr/>
          <p:nvPr/>
        </p:nvSpPr>
        <p:spPr>
          <a:xfrm>
            <a:off x="263842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2714625"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387667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511492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Freeform 110"/>
          <p:cNvSpPr/>
          <p:nvPr/>
        </p:nvSpPr>
        <p:spPr>
          <a:xfrm>
            <a:off x="5191125"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635317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Freeform 112"/>
          <p:cNvSpPr/>
          <p:nvPr/>
        </p:nvSpPr>
        <p:spPr>
          <a:xfrm>
            <a:off x="6429375"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759142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Freeform 114"/>
          <p:cNvSpPr/>
          <p:nvPr/>
        </p:nvSpPr>
        <p:spPr>
          <a:xfrm>
            <a:off x="7667625"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882967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1006792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10144125"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1130617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0" name="Connector 119"/>
          <p:cNvCxnSpPr/>
          <p:nvPr/>
        </p:nvCxnSpPr>
        <p:spPr>
          <a:xfrm>
            <a:off x="190500" y="4324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1" name="Rectangle 120"/>
          <p:cNvSpPr/>
          <p:nvPr/>
        </p:nvSpPr>
        <p:spPr>
          <a:xfrm>
            <a:off x="190500" y="4352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285750" y="43434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RPM International</a:t>
            </a:r>
          </a:p>
        </p:txBody>
      </p:sp>
      <p:sp>
        <p:nvSpPr>
          <p:cNvPr id="123" name="TextBox 122"/>
          <p:cNvSpPr txBox="1"/>
          <p:nvPr/>
        </p:nvSpPr>
        <p:spPr>
          <a:xfrm>
            <a:off x="285750" y="45053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124" name="Oval 123"/>
          <p:cNvSpPr/>
          <p:nvPr/>
        </p:nvSpPr>
        <p:spPr>
          <a:xfrm>
            <a:off x="263842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Freeform 124"/>
          <p:cNvSpPr/>
          <p:nvPr/>
        </p:nvSpPr>
        <p:spPr>
          <a:xfrm>
            <a:off x="2714625"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387667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511492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Freeform 127"/>
          <p:cNvSpPr/>
          <p:nvPr/>
        </p:nvSpPr>
        <p:spPr>
          <a:xfrm>
            <a:off x="5191125"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635317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759142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882967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Freeform 131"/>
          <p:cNvSpPr/>
          <p:nvPr/>
        </p:nvSpPr>
        <p:spPr>
          <a:xfrm>
            <a:off x="8905875"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1006792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reeform 133"/>
          <p:cNvSpPr/>
          <p:nvPr/>
        </p:nvSpPr>
        <p:spPr>
          <a:xfrm>
            <a:off x="10144125"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1130617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6" name="Connector 135"/>
          <p:cNvCxnSpPr/>
          <p:nvPr/>
        </p:nvCxnSpPr>
        <p:spPr>
          <a:xfrm>
            <a:off x="190500" y="4667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7" name="Rectangle 136"/>
          <p:cNvSpPr/>
          <p:nvPr/>
        </p:nvSpPr>
        <p:spPr>
          <a:xfrm>
            <a:off x="190500" y="4695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285750" y="46863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Saint-Gobain</a:t>
            </a:r>
          </a:p>
        </p:txBody>
      </p:sp>
      <p:sp>
        <p:nvSpPr>
          <p:cNvPr id="139" name="TextBox 138"/>
          <p:cNvSpPr txBox="1"/>
          <p:nvPr/>
        </p:nvSpPr>
        <p:spPr>
          <a:xfrm>
            <a:off x="285750" y="48482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40" name="Oval 139"/>
          <p:cNvSpPr/>
          <p:nvPr/>
        </p:nvSpPr>
        <p:spPr>
          <a:xfrm>
            <a:off x="263842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Freeform 140"/>
          <p:cNvSpPr/>
          <p:nvPr/>
        </p:nvSpPr>
        <p:spPr>
          <a:xfrm>
            <a:off x="2714625" y="4762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387667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511492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635317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Freeform 144"/>
          <p:cNvSpPr/>
          <p:nvPr/>
        </p:nvSpPr>
        <p:spPr>
          <a:xfrm>
            <a:off x="6429375" y="4762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759142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Freeform 146"/>
          <p:cNvSpPr/>
          <p:nvPr/>
        </p:nvSpPr>
        <p:spPr>
          <a:xfrm>
            <a:off x="7667625" y="4762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882967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Freeform 148"/>
          <p:cNvSpPr/>
          <p:nvPr/>
        </p:nvSpPr>
        <p:spPr>
          <a:xfrm>
            <a:off x="8905875" y="4762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1006792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1130617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2" name="Connector 151"/>
          <p:cNvCxnSpPr/>
          <p:nvPr/>
        </p:nvCxnSpPr>
        <p:spPr>
          <a:xfrm>
            <a:off x="190500" y="5010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53" name="Rectangle 152"/>
          <p:cNvSpPr/>
          <p:nvPr/>
        </p:nvSpPr>
        <p:spPr>
          <a:xfrm>
            <a:off x="190500" y="5038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285750" y="50292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Mapei</a:t>
            </a:r>
          </a:p>
        </p:txBody>
      </p:sp>
      <p:sp>
        <p:nvSpPr>
          <p:cNvPr id="155" name="TextBox 154"/>
          <p:cNvSpPr txBox="1"/>
          <p:nvPr/>
        </p:nvSpPr>
        <p:spPr>
          <a:xfrm>
            <a:off x="285750" y="51911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56" name="Oval 155"/>
          <p:cNvSpPr/>
          <p:nvPr/>
        </p:nvSpPr>
        <p:spPr>
          <a:xfrm>
            <a:off x="263842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387667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511492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Freeform 158"/>
          <p:cNvSpPr/>
          <p:nvPr/>
        </p:nvSpPr>
        <p:spPr>
          <a:xfrm>
            <a:off x="5191125" y="5105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635317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Freeform 160"/>
          <p:cNvSpPr/>
          <p:nvPr/>
        </p:nvSpPr>
        <p:spPr>
          <a:xfrm>
            <a:off x="6429375" y="5105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759142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Freeform 162"/>
          <p:cNvSpPr/>
          <p:nvPr/>
        </p:nvSpPr>
        <p:spPr>
          <a:xfrm>
            <a:off x="7667625" y="5105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882967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1006792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Freeform 165"/>
          <p:cNvSpPr/>
          <p:nvPr/>
        </p:nvSpPr>
        <p:spPr>
          <a:xfrm>
            <a:off x="10144125" y="5105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1130617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8" name="Connector 167"/>
          <p:cNvCxnSpPr/>
          <p:nvPr/>
        </p:nvCxnSpPr>
        <p:spPr>
          <a:xfrm>
            <a:off x="190500" y="5353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69" name="Rectangle 168"/>
          <p:cNvSpPr/>
          <p:nvPr/>
        </p:nvSpPr>
        <p:spPr>
          <a:xfrm>
            <a:off x="190500" y="5381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285750" y="53721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Henkel AG &amp; Co. KGaA</a:t>
            </a:r>
          </a:p>
        </p:txBody>
      </p:sp>
      <p:sp>
        <p:nvSpPr>
          <p:cNvPr id="171" name="TextBox 170"/>
          <p:cNvSpPr txBox="1"/>
          <p:nvPr/>
        </p:nvSpPr>
        <p:spPr>
          <a:xfrm>
            <a:off x="285750" y="55340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72" name="Oval 171"/>
          <p:cNvSpPr/>
          <p:nvPr/>
        </p:nvSpPr>
        <p:spPr>
          <a:xfrm>
            <a:off x="263842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Freeform 172"/>
          <p:cNvSpPr/>
          <p:nvPr/>
        </p:nvSpPr>
        <p:spPr>
          <a:xfrm>
            <a:off x="2714625" y="5448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387667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Oval 174"/>
          <p:cNvSpPr/>
          <p:nvPr/>
        </p:nvSpPr>
        <p:spPr>
          <a:xfrm>
            <a:off x="511492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Freeform 175"/>
          <p:cNvSpPr/>
          <p:nvPr/>
        </p:nvSpPr>
        <p:spPr>
          <a:xfrm>
            <a:off x="5191125" y="5448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Oval 176"/>
          <p:cNvSpPr/>
          <p:nvPr/>
        </p:nvSpPr>
        <p:spPr>
          <a:xfrm>
            <a:off x="635317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Freeform 177"/>
          <p:cNvSpPr/>
          <p:nvPr/>
        </p:nvSpPr>
        <p:spPr>
          <a:xfrm>
            <a:off x="6429375" y="5448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759142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Oval 179"/>
          <p:cNvSpPr/>
          <p:nvPr/>
        </p:nvSpPr>
        <p:spPr>
          <a:xfrm>
            <a:off x="882967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Freeform 180"/>
          <p:cNvSpPr/>
          <p:nvPr/>
        </p:nvSpPr>
        <p:spPr>
          <a:xfrm>
            <a:off x="8905875" y="5448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val 181"/>
          <p:cNvSpPr/>
          <p:nvPr/>
        </p:nvSpPr>
        <p:spPr>
          <a:xfrm>
            <a:off x="1006792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Freeform 182"/>
          <p:cNvSpPr/>
          <p:nvPr/>
        </p:nvSpPr>
        <p:spPr>
          <a:xfrm>
            <a:off x="10144125" y="5448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Oval 183"/>
          <p:cNvSpPr/>
          <p:nvPr/>
        </p:nvSpPr>
        <p:spPr>
          <a:xfrm>
            <a:off x="1130617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5" name="Connector 184"/>
          <p:cNvCxnSpPr/>
          <p:nvPr/>
        </p:nvCxnSpPr>
        <p:spPr>
          <a:xfrm>
            <a:off x="190500" y="5695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86" name="Rectangle 185"/>
          <p:cNvSpPr/>
          <p:nvPr/>
        </p:nvSpPr>
        <p:spPr>
          <a:xfrm>
            <a:off x="190500" y="5724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285750" y="57150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Dow</a:t>
            </a:r>
          </a:p>
        </p:txBody>
      </p:sp>
      <p:sp>
        <p:nvSpPr>
          <p:cNvPr id="188" name="TextBox 187"/>
          <p:cNvSpPr txBox="1"/>
          <p:nvPr/>
        </p:nvSpPr>
        <p:spPr>
          <a:xfrm>
            <a:off x="285750" y="58769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89" name="Oval 188"/>
          <p:cNvSpPr/>
          <p:nvPr/>
        </p:nvSpPr>
        <p:spPr>
          <a:xfrm>
            <a:off x="263842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Freeform 189"/>
          <p:cNvSpPr/>
          <p:nvPr/>
        </p:nvSpPr>
        <p:spPr>
          <a:xfrm>
            <a:off x="2714625" y="5791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Oval 190"/>
          <p:cNvSpPr/>
          <p:nvPr/>
        </p:nvSpPr>
        <p:spPr>
          <a:xfrm>
            <a:off x="387667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Oval 191"/>
          <p:cNvSpPr/>
          <p:nvPr/>
        </p:nvSpPr>
        <p:spPr>
          <a:xfrm>
            <a:off x="511492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Freeform 192"/>
          <p:cNvSpPr/>
          <p:nvPr/>
        </p:nvSpPr>
        <p:spPr>
          <a:xfrm>
            <a:off x="5191125" y="5791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val 193"/>
          <p:cNvSpPr/>
          <p:nvPr/>
        </p:nvSpPr>
        <p:spPr>
          <a:xfrm>
            <a:off x="635317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Oval 194"/>
          <p:cNvSpPr/>
          <p:nvPr/>
        </p:nvSpPr>
        <p:spPr>
          <a:xfrm>
            <a:off x="759142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Freeform 195"/>
          <p:cNvSpPr/>
          <p:nvPr/>
        </p:nvSpPr>
        <p:spPr>
          <a:xfrm>
            <a:off x="7667625" y="5791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882967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Freeform 197"/>
          <p:cNvSpPr/>
          <p:nvPr/>
        </p:nvSpPr>
        <p:spPr>
          <a:xfrm>
            <a:off x="8905875" y="5791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1006792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Oval 199"/>
          <p:cNvSpPr/>
          <p:nvPr/>
        </p:nvSpPr>
        <p:spPr>
          <a:xfrm>
            <a:off x="1130617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1" name="Connector 200"/>
          <p:cNvCxnSpPr/>
          <p:nvPr/>
        </p:nvCxnSpPr>
        <p:spPr>
          <a:xfrm>
            <a:off x="190500" y="6038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202" name="Rectangle 201"/>
          <p:cNvSpPr/>
          <p:nvPr/>
        </p:nvSpPr>
        <p:spPr>
          <a:xfrm>
            <a:off x="190500" y="6124575"/>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314325"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1</a:t>
            </a:r>
          </a:p>
        </p:txBody>
      </p:sp>
      <p:sp>
        <p:nvSpPr>
          <p:cNvPr id="204" name="Rectangle 203"/>
          <p:cNvSpPr/>
          <p:nvPr/>
        </p:nvSpPr>
        <p:spPr>
          <a:xfrm>
            <a:off x="847725" y="6124575"/>
            <a:ext cx="85725" cy="85725"/>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971550"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2</a:t>
            </a:r>
          </a:p>
        </p:txBody>
      </p:sp>
      <p:sp>
        <p:nvSpPr>
          <p:cNvPr id="206" name="Rectangle 205"/>
          <p:cNvSpPr/>
          <p:nvPr/>
        </p:nvSpPr>
        <p:spPr>
          <a:xfrm>
            <a:off x="1504950" y="6124575"/>
            <a:ext cx="85725" cy="85725"/>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1628775"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3</a:t>
            </a:r>
          </a:p>
        </p:txBody>
      </p:sp>
      <p:sp>
        <p:nvSpPr>
          <p:cNvPr id="208" name="TextBox 207"/>
          <p:cNvSpPr txBox="1"/>
          <p:nvPr/>
        </p:nvSpPr>
        <p:spPr>
          <a:xfrm>
            <a:off x="190500" y="62865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209" name="TextBox 208"/>
          <p:cNvSpPr txBox="1"/>
          <p:nvPr/>
        </p:nvSpPr>
        <p:spPr>
          <a:xfrm>
            <a:off x="190500" y="64008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Read across a row to see breadth; down a column to see contestability.  'Other Polymer-Based Coatings' is the most contested column (8 players active); 'Cementitious Waterproof Coatings' is the most open (3).</a:t>
            </a:r>
          </a:p>
        </p:txBody>
      </p:sp>
      <p:sp>
        <p:nvSpPr>
          <p:cNvPr id="210" name="TextBox 20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211" name="TextBox 210"/>
          <p:cNvSpPr txBox="1"/>
          <p:nvPr/>
        </p:nvSpPr>
        <p:spPr>
          <a:xfrm>
            <a:off x="276225" y="1306830"/>
            <a:ext cx="398164" cy="186689"/>
          </a:xfrm>
          <a:prstGeom prst="rect">
            <a:avLst/>
          </a:prstGeom>
          <a:noFill/>
        </p:spPr>
        <p:txBody>
          <a:bodyPr wrap="none" lIns="0" rIns="0" tIns="0" bIns="0">
            <a:spAutoFit/>
          </a:bodyPr>
          <a:lstStyle/>
          <a:p>
            <a:r>
              <a:rPr sz="1100" b="1">
                <a:solidFill>
                  <a:srgbClr val="FFFFFF"/>
                </a:solidFill>
                <a:latin typeface="Calibri"/>
              </a:rPr>
              <a:t>Top 3</a:t>
            </a:r>
          </a:p>
        </p:txBody>
      </p:sp>
      <p:pic>
        <p:nvPicPr>
          <p:cNvPr id="212" name="Picture 211" descr="lock.png"/>
          <p:cNvPicPr>
            <a:picLocks noChangeAspect="1"/>
          </p:cNvPicPr>
          <p:nvPr/>
        </p:nvPicPr>
        <p:blipFill>
          <a:blip r:embed="rId4"/>
          <a:stretch>
            <a:fillRect/>
          </a:stretch>
        </p:blipFill>
        <p:spPr>
          <a:xfrm>
            <a:off x="622441" y="1297051"/>
            <a:ext cx="128699" cy="187198"/>
          </a:xfrm>
          <a:prstGeom prst="rect">
            <a:avLst/>
          </a:prstGeom>
        </p:spPr>
      </p:pic>
      <p:sp>
        <p:nvSpPr>
          <p:cNvPr id="213" name="TextBox 212"/>
          <p:cNvSpPr txBox="1"/>
          <p:nvPr/>
        </p:nvSpPr>
        <p:spPr>
          <a:xfrm>
            <a:off x="4786109" y="1306830"/>
            <a:ext cx="813172" cy="186689"/>
          </a:xfrm>
          <a:prstGeom prst="rect">
            <a:avLst/>
          </a:prstGeom>
          <a:noFill/>
        </p:spPr>
        <p:txBody>
          <a:bodyPr wrap="none" lIns="0" rIns="0" tIns="0" bIns="0">
            <a:spAutoFit/>
          </a:bodyPr>
          <a:lstStyle/>
          <a:p>
            <a:r>
              <a:rPr sz="1100" b="1">
                <a:solidFill>
                  <a:srgbClr val="FFFFFF"/>
                </a:solidFill>
                <a:latin typeface="Calibri"/>
              </a:rPr>
              <a:t>Rest of top 5</a:t>
            </a:r>
          </a:p>
        </p:txBody>
      </p:sp>
      <p:pic>
        <p:nvPicPr>
          <p:cNvPr id="214" name="Picture 213" descr="lock.png"/>
          <p:cNvPicPr>
            <a:picLocks noChangeAspect="1"/>
          </p:cNvPicPr>
          <p:nvPr/>
        </p:nvPicPr>
        <p:blipFill>
          <a:blip r:embed="rId4"/>
          <a:stretch>
            <a:fillRect/>
          </a:stretch>
        </p:blipFill>
        <p:spPr>
          <a:xfrm>
            <a:off x="5547332" y="1297051"/>
            <a:ext cx="128699" cy="187198"/>
          </a:xfrm>
          <a:prstGeom prst="rect">
            <a:avLst/>
          </a:prstGeom>
        </p:spPr>
      </p:pic>
      <p:sp>
        <p:nvSpPr>
          <p:cNvPr id="215" name="TextBox 214"/>
          <p:cNvSpPr txBox="1"/>
          <p:nvPr/>
        </p:nvSpPr>
        <p:spPr>
          <a:xfrm>
            <a:off x="6322271" y="1306830"/>
            <a:ext cx="620266" cy="186689"/>
          </a:xfrm>
          <a:prstGeom prst="rect">
            <a:avLst/>
          </a:prstGeom>
          <a:noFill/>
        </p:spPr>
        <p:txBody>
          <a:bodyPr wrap="none" lIns="0" rIns="0" tIns="0" bIns="0">
            <a:spAutoFit/>
          </a:bodyPr>
          <a:lstStyle/>
          <a:p>
            <a:r>
              <a:rPr sz="1100" b="1">
                <a:solidFill>
                  <a:srgbClr val="FFFFFF"/>
                </a:solidFill>
                <a:latin typeface="Calibri"/>
              </a:rPr>
              <a:t>Emerging</a:t>
            </a:r>
          </a:p>
        </p:txBody>
      </p:sp>
      <p:pic>
        <p:nvPicPr>
          <p:cNvPr id="216" name="Picture 215" descr="lock.png"/>
          <p:cNvPicPr>
            <a:picLocks noChangeAspect="1"/>
          </p:cNvPicPr>
          <p:nvPr/>
        </p:nvPicPr>
        <p:blipFill>
          <a:blip r:embed="rId4"/>
          <a:stretch>
            <a:fillRect/>
          </a:stretch>
        </p:blipFill>
        <p:spPr>
          <a:xfrm>
            <a:off x="6890588" y="1297051"/>
            <a:ext cx="128699" cy="187198"/>
          </a:xfrm>
          <a:prstGeom prst="rect">
            <a:avLst/>
          </a:prstGeom>
        </p:spPr>
      </p:pic>
      <p:sp>
        <p:nvSpPr>
          <p:cNvPr id="217" name="TextBox 216"/>
          <p:cNvSpPr txBox="1"/>
          <p:nvPr/>
        </p:nvSpPr>
        <p:spPr>
          <a:xfrm>
            <a:off x="8564687" y="1306830"/>
            <a:ext cx="469924" cy="186689"/>
          </a:xfrm>
          <a:prstGeom prst="rect">
            <a:avLst/>
          </a:prstGeom>
          <a:noFill/>
        </p:spPr>
        <p:txBody>
          <a:bodyPr wrap="none" lIns="0" rIns="0" tIns="0" bIns="0">
            <a:spAutoFit/>
          </a:bodyPr>
          <a:lstStyle/>
          <a:p>
            <a:r>
              <a:rPr sz="1100" b="1">
                <a:solidFill>
                  <a:srgbClr val="0F2D52"/>
                </a:solidFill>
                <a:latin typeface="Calibri"/>
              </a:rPr>
              <a:t>Others</a:t>
            </a:r>
          </a:p>
        </p:txBody>
      </p:sp>
      <p:pic>
        <p:nvPicPr>
          <p:cNvPr id="218" name="Picture 217" descr="lock.png"/>
          <p:cNvPicPr>
            <a:picLocks noChangeAspect="1"/>
          </p:cNvPicPr>
          <p:nvPr/>
        </p:nvPicPr>
        <p:blipFill>
          <a:blip r:embed="rId4"/>
          <a:stretch>
            <a:fillRect/>
          </a:stretch>
        </p:blipFill>
        <p:spPr>
          <a:xfrm>
            <a:off x="8982663" y="1297051"/>
            <a:ext cx="128699" cy="187198"/>
          </a:xfrm>
          <a:prstGeom prst="rect">
            <a:avLst/>
          </a:prstGeom>
        </p:spPr>
      </p:pic>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Waterproof Coatings Market Value Chain Positioning of Leading Players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How the market is organised by product type and end use, and who leads at each stage</a:t>
            </a:r>
          </a:p>
        </p:txBody>
      </p:sp>
      <p:sp>
        <p:nvSpPr>
          <p:cNvPr id="10" name="TextBox 9"/>
          <p:cNvSpPr txBox="1"/>
          <p:nvPr/>
        </p:nvSpPr>
        <p:spPr>
          <a:xfrm>
            <a:off x="2476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Top 3 share, 2026</a:t>
            </a:r>
          </a:p>
        </p:txBody>
      </p:sp>
      <p:sp>
        <p:nvSpPr>
          <p:cNvPr id="11" name="TextBox 10"/>
          <p:cNvSpPr txBox="1"/>
          <p:nvPr/>
        </p:nvSpPr>
        <p:spPr>
          <a:xfrm>
            <a:off x="247650" y="1238250"/>
            <a:ext cx="2266950" cy="228600"/>
          </a:xfrm>
          <a:prstGeom prst="rect">
            <a:avLst/>
          </a:prstGeom>
          <a:noFill/>
        </p:spPr>
        <p:txBody>
          <a:bodyPr wrap="square" lIns="28575" rIns="28575" tIns="9525" bIns="9525" anchor="t">
            <a:spAutoFit/>
          </a:bodyPr>
          <a:lstStyle/>
          <a:p>
            <a:pPr algn="l"/>
            <a:r>
              <a:rPr sz="1100" b="1">
                <a:solidFill>
                  <a:srgbClr val="E87722"/>
                </a:solidFill>
                <a:latin typeface="Calibri"/>
              </a:rPr>
              <a:t> </a:t>
            </a:r>
          </a:p>
        </p:txBody>
      </p:sp>
      <p:cxnSp>
        <p:nvCxnSpPr>
          <p:cNvPr id="12" name="Connector 11"/>
          <p:cNvCxnSpPr/>
          <p:nvPr/>
        </p:nvCxnSpPr>
        <p:spPr>
          <a:xfrm>
            <a:off x="25527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6098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Top 5 share</a:t>
            </a:r>
          </a:p>
        </p:txBody>
      </p:sp>
      <p:sp>
        <p:nvSpPr>
          <p:cNvPr id="14" name="TextBox 13"/>
          <p:cNvSpPr txBox="1"/>
          <p:nvPr/>
        </p:nvSpPr>
        <p:spPr>
          <a:xfrm>
            <a:off x="26098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15" name="Connector 14"/>
          <p:cNvCxnSpPr/>
          <p:nvPr/>
        </p:nvCxnSpPr>
        <p:spPr>
          <a:xfrm>
            <a:off x="49149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9720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Other Polymer-Based Coatings, share</a:t>
            </a:r>
          </a:p>
        </p:txBody>
      </p:sp>
      <p:sp>
        <p:nvSpPr>
          <p:cNvPr id="17" name="TextBox 16"/>
          <p:cNvSpPr txBox="1"/>
          <p:nvPr/>
        </p:nvSpPr>
        <p:spPr>
          <a:xfrm>
            <a:off x="49720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18" name="Connector 17"/>
          <p:cNvCxnSpPr/>
          <p:nvPr/>
        </p:nvCxnSpPr>
        <p:spPr>
          <a:xfrm>
            <a:off x="72771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3342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Cementitious Waterproof Coatings, share</a:t>
            </a:r>
          </a:p>
        </p:txBody>
      </p:sp>
      <p:sp>
        <p:nvSpPr>
          <p:cNvPr id="20" name="TextBox 19"/>
          <p:cNvSpPr txBox="1"/>
          <p:nvPr/>
        </p:nvSpPr>
        <p:spPr>
          <a:xfrm>
            <a:off x="73342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21" name="Connector 20"/>
          <p:cNvCxnSpPr/>
          <p:nvPr/>
        </p:nvCxnSpPr>
        <p:spPr>
          <a:xfrm>
            <a:off x="96393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6964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Polyurea Waterproof Coatings, share</a:t>
            </a:r>
          </a:p>
        </p:txBody>
      </p:sp>
      <p:sp>
        <p:nvSpPr>
          <p:cNvPr id="23" name="TextBox 22"/>
          <p:cNvSpPr txBox="1"/>
          <p:nvPr/>
        </p:nvSpPr>
        <p:spPr>
          <a:xfrm>
            <a:off x="96964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24" name="Connector 23"/>
          <p:cNvCxnSpPr/>
          <p:nvPr/>
        </p:nvCxnSpPr>
        <p:spPr>
          <a:xfrm>
            <a:off x="190500" y="154305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90500"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5750"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1. Other Polymer-Based Coatings</a:t>
            </a:r>
          </a:p>
        </p:txBody>
      </p:sp>
      <p:sp>
        <p:nvSpPr>
          <p:cNvPr id="28" name="TextBox 27"/>
          <p:cNvSpPr txBox="1"/>
          <p:nvPr/>
        </p:nvSpPr>
        <p:spPr>
          <a:xfrm>
            <a:off x="285750" y="1924050"/>
            <a:ext cx="666750" cy="190500"/>
          </a:xfrm>
          <a:prstGeom prst="rect">
            <a:avLst/>
          </a:prstGeom>
          <a:noFill/>
        </p:spPr>
        <p:txBody>
          <a:bodyPr wrap="none" lIns="0" rIns="0" tIns="0" bIns="0" anchor="t">
            <a:spAutoFit/>
          </a:bodyPr>
          <a:lstStyle/>
          <a:p>
            <a:pPr algn="l"/>
            <a:r>
              <a:rPr sz="1100" b="1">
                <a:solidFill>
                  <a:srgbClr val="1F2933"/>
                </a:solidFill>
                <a:latin typeface="Calibri"/>
              </a:rPr>
              <a:t> </a:t>
            </a:r>
          </a:p>
        </p:txBody>
      </p:sp>
      <p:sp>
        <p:nvSpPr>
          <p:cNvPr id="29" name="TextBox 28"/>
          <p:cNvSpPr txBox="1"/>
          <p:nvPr/>
        </p:nvSpPr>
        <p:spPr>
          <a:xfrm>
            <a:off x="971550"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30" name="TextBox 29"/>
          <p:cNvSpPr txBox="1"/>
          <p:nvPr/>
        </p:nvSpPr>
        <p:spPr>
          <a:xfrm>
            <a:off x="285750"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31" name="TextBox 30"/>
          <p:cNvSpPr txBox="1"/>
          <p:nvPr/>
        </p:nvSpPr>
        <p:spPr>
          <a:xfrm>
            <a:off x="971550"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32" name="Connector 31"/>
          <p:cNvCxnSpPr/>
          <p:nvPr/>
        </p:nvCxnSpPr>
        <p:spPr>
          <a:xfrm>
            <a:off x="285750"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85750"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34" name="TextBox 33"/>
          <p:cNvSpPr txBox="1"/>
          <p:nvPr/>
        </p:nvSpPr>
        <p:spPr>
          <a:xfrm>
            <a:off x="285750"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PPG Industries</a:t>
            </a:r>
          </a:p>
        </p:txBody>
      </p:sp>
      <p:sp>
        <p:nvSpPr>
          <p:cNvPr id="35" name="TextBox 34"/>
          <p:cNvSpPr txBox="1"/>
          <p:nvPr/>
        </p:nvSpPr>
        <p:spPr>
          <a:xfrm>
            <a:off x="285750"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36" name="TextBox 35"/>
          <p:cNvSpPr txBox="1"/>
          <p:nvPr/>
        </p:nvSpPr>
        <p:spPr>
          <a:xfrm>
            <a:off x="285750"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Sika</a:t>
            </a:r>
          </a:p>
        </p:txBody>
      </p:sp>
      <p:sp>
        <p:nvSpPr>
          <p:cNvPr id="37" name="TextBox 36"/>
          <p:cNvSpPr txBox="1"/>
          <p:nvPr/>
        </p:nvSpPr>
        <p:spPr>
          <a:xfrm>
            <a:off x="285750"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The Sherwin-Williams</a:t>
            </a:r>
          </a:p>
        </p:txBody>
      </p:sp>
      <p:sp>
        <p:nvSpPr>
          <p:cNvPr id="38" name="TextBox 37"/>
          <p:cNvSpPr txBox="1"/>
          <p:nvPr/>
        </p:nvSpPr>
        <p:spPr>
          <a:xfrm>
            <a:off x="285750"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BASF</a:t>
            </a:r>
          </a:p>
        </p:txBody>
      </p:sp>
      <p:sp>
        <p:nvSpPr>
          <p:cNvPr id="39" name="TextBox 38"/>
          <p:cNvSpPr txBox="1"/>
          <p:nvPr/>
        </p:nvSpPr>
        <p:spPr>
          <a:xfrm>
            <a:off x="285750"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RPM International</a:t>
            </a:r>
          </a:p>
        </p:txBody>
      </p:sp>
      <p:cxnSp>
        <p:nvCxnSpPr>
          <p:cNvPr id="40" name="Connector 39"/>
          <p:cNvCxnSpPr/>
          <p:nvPr/>
        </p:nvCxnSpPr>
        <p:spPr>
          <a:xfrm>
            <a:off x="285750"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285750"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42" name="TextBox 41"/>
          <p:cNvSpPr txBox="1"/>
          <p:nvPr/>
        </p:nvSpPr>
        <p:spPr>
          <a:xfrm>
            <a:off x="285750"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43" name="Connector 42"/>
          <p:cNvCxnSpPr/>
          <p:nvPr/>
        </p:nvCxnSpPr>
        <p:spPr>
          <a:xfrm>
            <a:off x="2995612"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44" name="Freeform 43"/>
          <p:cNvSpPr/>
          <p:nvPr/>
        </p:nvSpPr>
        <p:spPr>
          <a:xfrm>
            <a:off x="3105150" y="3448050"/>
            <a:ext cx="57150" cy="95250"/>
          </a:xfrm>
          <a:custGeom>
            <a:avLst/>
            <a:gdLst/>
            <a:ahLst/>
            <a:cxnLst/>
            <a:rect l="l" t="t" r="r" b="b"/>
            <a:pathLst>
              <a:path w="6" h="10">
                <a:moveTo>
                  <a:pt x="6"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205162"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205162"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300412"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2. Cementitious Waterproof Coatings</a:t>
            </a:r>
          </a:p>
        </p:txBody>
      </p:sp>
      <p:sp>
        <p:nvSpPr>
          <p:cNvPr id="48" name="TextBox 47"/>
          <p:cNvSpPr txBox="1"/>
          <p:nvPr/>
        </p:nvSpPr>
        <p:spPr>
          <a:xfrm>
            <a:off x="3300412" y="1924050"/>
            <a:ext cx="666750" cy="190500"/>
          </a:xfrm>
          <a:prstGeom prst="rect">
            <a:avLst/>
          </a:prstGeom>
          <a:noFill/>
        </p:spPr>
        <p:txBody>
          <a:bodyPr wrap="none" lIns="0" rIns="0" tIns="0" bIns="0" anchor="t">
            <a:spAutoFit/>
          </a:bodyPr>
          <a:lstStyle/>
          <a:p>
            <a:pPr algn="l"/>
            <a:r>
              <a:rPr sz="1100" b="1">
                <a:solidFill>
                  <a:srgbClr val="1F2933"/>
                </a:solidFill>
                <a:latin typeface="Calibri"/>
              </a:rPr>
              <a:t> </a:t>
            </a:r>
          </a:p>
        </p:txBody>
      </p:sp>
      <p:sp>
        <p:nvSpPr>
          <p:cNvPr id="49" name="TextBox 48"/>
          <p:cNvSpPr txBox="1"/>
          <p:nvPr/>
        </p:nvSpPr>
        <p:spPr>
          <a:xfrm>
            <a:off x="3986212"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50" name="TextBox 49"/>
          <p:cNvSpPr txBox="1"/>
          <p:nvPr/>
        </p:nvSpPr>
        <p:spPr>
          <a:xfrm>
            <a:off x="3300412"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51" name="TextBox 50"/>
          <p:cNvSpPr txBox="1"/>
          <p:nvPr/>
        </p:nvSpPr>
        <p:spPr>
          <a:xfrm>
            <a:off x="3986212"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52" name="Connector 51"/>
          <p:cNvCxnSpPr/>
          <p:nvPr/>
        </p:nvCxnSpPr>
        <p:spPr>
          <a:xfrm>
            <a:off x="3300412" y="236220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3300412"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54" name="TextBox 53"/>
          <p:cNvSpPr txBox="1"/>
          <p:nvPr/>
        </p:nvSpPr>
        <p:spPr>
          <a:xfrm>
            <a:off x="3300412"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Sika</a:t>
            </a:r>
          </a:p>
        </p:txBody>
      </p:sp>
      <p:sp>
        <p:nvSpPr>
          <p:cNvPr id="55" name="TextBox 54"/>
          <p:cNvSpPr txBox="1"/>
          <p:nvPr/>
        </p:nvSpPr>
        <p:spPr>
          <a:xfrm>
            <a:off x="3300412"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56" name="TextBox 55"/>
          <p:cNvSpPr txBox="1"/>
          <p:nvPr/>
        </p:nvSpPr>
        <p:spPr>
          <a:xfrm>
            <a:off x="3300412"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The Sherwin-Williams</a:t>
            </a:r>
          </a:p>
        </p:txBody>
      </p:sp>
      <p:sp>
        <p:nvSpPr>
          <p:cNvPr id="57" name="TextBox 56"/>
          <p:cNvSpPr txBox="1"/>
          <p:nvPr/>
        </p:nvSpPr>
        <p:spPr>
          <a:xfrm>
            <a:off x="3300412"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PPG Industries</a:t>
            </a:r>
          </a:p>
        </p:txBody>
      </p:sp>
      <p:cxnSp>
        <p:nvCxnSpPr>
          <p:cNvPr id="58" name="Connector 57"/>
          <p:cNvCxnSpPr/>
          <p:nvPr/>
        </p:nvCxnSpPr>
        <p:spPr>
          <a:xfrm>
            <a:off x="3300412" y="443865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3300412"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60" name="TextBox 59"/>
          <p:cNvSpPr txBox="1"/>
          <p:nvPr/>
        </p:nvSpPr>
        <p:spPr>
          <a:xfrm>
            <a:off x="3300412"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61" name="Connector 60"/>
          <p:cNvCxnSpPr/>
          <p:nvPr/>
        </p:nvCxnSpPr>
        <p:spPr>
          <a:xfrm>
            <a:off x="6010275"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62" name="Freeform 61"/>
          <p:cNvSpPr/>
          <p:nvPr/>
        </p:nvSpPr>
        <p:spPr>
          <a:xfrm>
            <a:off x="6115050" y="3448050"/>
            <a:ext cx="66675" cy="95250"/>
          </a:xfrm>
          <a:custGeom>
            <a:avLst/>
            <a:gdLst/>
            <a:ahLst/>
            <a:cxnLst/>
            <a:rect l="l" t="t" r="r" b="b"/>
            <a:pathLst>
              <a:path w="7" h="10">
                <a:moveTo>
                  <a:pt x="7"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219825"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219825"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15075"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3. Polyurea Waterproof Coatings</a:t>
            </a:r>
          </a:p>
        </p:txBody>
      </p:sp>
      <p:sp>
        <p:nvSpPr>
          <p:cNvPr id="66" name="TextBox 65"/>
          <p:cNvSpPr txBox="1"/>
          <p:nvPr/>
        </p:nvSpPr>
        <p:spPr>
          <a:xfrm>
            <a:off x="6315075" y="1924050"/>
            <a:ext cx="666750" cy="190500"/>
          </a:xfrm>
          <a:prstGeom prst="rect">
            <a:avLst/>
          </a:prstGeom>
          <a:noFill/>
        </p:spPr>
        <p:txBody>
          <a:bodyPr wrap="none" lIns="0" rIns="0" tIns="0" bIns="0" anchor="t">
            <a:spAutoFit/>
          </a:bodyPr>
          <a:lstStyle/>
          <a:p>
            <a:pPr algn="l"/>
            <a:r>
              <a:rPr sz="1100" b="1">
                <a:solidFill>
                  <a:srgbClr val="1F2933"/>
                </a:solidFill>
                <a:latin typeface="Calibri"/>
              </a:rPr>
              <a:t> </a:t>
            </a:r>
          </a:p>
        </p:txBody>
      </p:sp>
      <p:sp>
        <p:nvSpPr>
          <p:cNvPr id="67" name="TextBox 66"/>
          <p:cNvSpPr txBox="1"/>
          <p:nvPr/>
        </p:nvSpPr>
        <p:spPr>
          <a:xfrm>
            <a:off x="7000875"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68" name="TextBox 67"/>
          <p:cNvSpPr txBox="1"/>
          <p:nvPr/>
        </p:nvSpPr>
        <p:spPr>
          <a:xfrm>
            <a:off x="6315075"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69" name="TextBox 68"/>
          <p:cNvSpPr txBox="1"/>
          <p:nvPr/>
        </p:nvSpPr>
        <p:spPr>
          <a:xfrm>
            <a:off x="7000875"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70" name="Connector 69"/>
          <p:cNvCxnSpPr/>
          <p:nvPr/>
        </p:nvCxnSpPr>
        <p:spPr>
          <a:xfrm>
            <a:off x="6315075" y="236220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6315075"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72" name="TextBox 71"/>
          <p:cNvSpPr txBox="1"/>
          <p:nvPr/>
        </p:nvSpPr>
        <p:spPr>
          <a:xfrm>
            <a:off x="6315075"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Sika</a:t>
            </a:r>
          </a:p>
        </p:txBody>
      </p:sp>
      <p:sp>
        <p:nvSpPr>
          <p:cNvPr id="73" name="TextBox 72"/>
          <p:cNvSpPr txBox="1"/>
          <p:nvPr/>
        </p:nvSpPr>
        <p:spPr>
          <a:xfrm>
            <a:off x="6315075"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74" name="TextBox 73"/>
          <p:cNvSpPr txBox="1"/>
          <p:nvPr/>
        </p:nvSpPr>
        <p:spPr>
          <a:xfrm>
            <a:off x="6315075"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The Sherwin-Williams</a:t>
            </a:r>
          </a:p>
        </p:txBody>
      </p:sp>
      <p:sp>
        <p:nvSpPr>
          <p:cNvPr id="75" name="TextBox 74"/>
          <p:cNvSpPr txBox="1"/>
          <p:nvPr/>
        </p:nvSpPr>
        <p:spPr>
          <a:xfrm>
            <a:off x="6315075"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Akzo Nobel</a:t>
            </a:r>
          </a:p>
        </p:txBody>
      </p:sp>
      <p:sp>
        <p:nvSpPr>
          <p:cNvPr id="76" name="TextBox 75"/>
          <p:cNvSpPr txBox="1"/>
          <p:nvPr/>
        </p:nvSpPr>
        <p:spPr>
          <a:xfrm>
            <a:off x="6315075"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BASF</a:t>
            </a:r>
          </a:p>
        </p:txBody>
      </p:sp>
      <p:sp>
        <p:nvSpPr>
          <p:cNvPr id="77" name="TextBox 76"/>
          <p:cNvSpPr txBox="1"/>
          <p:nvPr/>
        </p:nvSpPr>
        <p:spPr>
          <a:xfrm>
            <a:off x="6315075"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RPM International</a:t>
            </a:r>
          </a:p>
        </p:txBody>
      </p:sp>
      <p:cxnSp>
        <p:nvCxnSpPr>
          <p:cNvPr id="78" name="Connector 77"/>
          <p:cNvCxnSpPr/>
          <p:nvPr/>
        </p:nvCxnSpPr>
        <p:spPr>
          <a:xfrm>
            <a:off x="6315075" y="443865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315075"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80" name="TextBox 79"/>
          <p:cNvSpPr txBox="1"/>
          <p:nvPr/>
        </p:nvSpPr>
        <p:spPr>
          <a:xfrm>
            <a:off x="6315075"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81" name="Connector 80"/>
          <p:cNvCxnSpPr/>
          <p:nvPr/>
        </p:nvCxnSpPr>
        <p:spPr>
          <a:xfrm>
            <a:off x="9024938"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82" name="Freeform 81"/>
          <p:cNvSpPr/>
          <p:nvPr/>
        </p:nvSpPr>
        <p:spPr>
          <a:xfrm>
            <a:off x="9124950" y="3448050"/>
            <a:ext cx="76200" cy="95250"/>
          </a:xfrm>
          <a:custGeom>
            <a:avLst/>
            <a:gdLst/>
            <a:ahLst/>
            <a:cxnLst/>
            <a:rect l="l" t="t" r="r" b="b"/>
            <a:pathLst>
              <a:path w="8" h="10">
                <a:moveTo>
                  <a:pt x="8"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234488"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9234488"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329738"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4. Application</a:t>
            </a:r>
          </a:p>
        </p:txBody>
      </p:sp>
      <p:sp>
        <p:nvSpPr>
          <p:cNvPr id="86" name="TextBox 85"/>
          <p:cNvSpPr txBox="1"/>
          <p:nvPr/>
        </p:nvSpPr>
        <p:spPr>
          <a:xfrm>
            <a:off x="9329738" y="1924050"/>
            <a:ext cx="2576512" cy="190500"/>
          </a:xfrm>
          <a:prstGeom prst="rect">
            <a:avLst/>
          </a:prstGeom>
          <a:noFill/>
        </p:spPr>
        <p:txBody>
          <a:bodyPr wrap="square" lIns="28575" rIns="28575" tIns="9525" bIns="9525" anchor="t">
            <a:spAutoFit/>
          </a:bodyPr>
          <a:lstStyle/>
          <a:p>
            <a:pPr algn="l"/>
            <a:r>
              <a:rPr sz="1100" b="1">
                <a:solidFill>
                  <a:srgbClr val="1F2933"/>
                </a:solidFill>
                <a:latin typeface="Calibri"/>
              </a:rPr>
              <a:t>By application</a:t>
            </a:r>
          </a:p>
        </p:txBody>
      </p:sp>
      <p:sp>
        <p:nvSpPr>
          <p:cNvPr id="87" name="TextBox 86"/>
          <p:cNvSpPr txBox="1"/>
          <p:nvPr/>
        </p:nvSpPr>
        <p:spPr>
          <a:xfrm>
            <a:off x="9329738" y="2133600"/>
            <a:ext cx="2576512" cy="190500"/>
          </a:xfrm>
          <a:prstGeom prst="rect">
            <a:avLst/>
          </a:prstGeom>
          <a:noFill/>
        </p:spPr>
        <p:txBody>
          <a:bodyPr wrap="square" lIns="28575" rIns="28575" tIns="9525" bIns="9525" anchor="t">
            <a:spAutoFit/>
          </a:bodyPr>
          <a:lstStyle/>
          <a:p>
            <a:pPr algn="l"/>
            <a:r>
              <a:rPr sz="1100" b="0">
                <a:solidFill>
                  <a:srgbClr val="5F6B7A"/>
                </a:solidFill>
                <a:latin typeface="Calibri"/>
              </a:rPr>
              <a:t>Who buys the output.</a:t>
            </a:r>
          </a:p>
        </p:txBody>
      </p:sp>
      <p:cxnSp>
        <p:nvCxnSpPr>
          <p:cNvPr id="88" name="Connector 87"/>
          <p:cNvCxnSpPr/>
          <p:nvPr/>
        </p:nvCxnSpPr>
        <p:spPr>
          <a:xfrm>
            <a:off x="9329738"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9329738" y="24193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Roofs and Terraces</a:t>
            </a:r>
          </a:p>
        </p:txBody>
      </p:sp>
      <p:sp>
        <p:nvSpPr>
          <p:cNvPr id="90" name="Rectangle 89"/>
          <p:cNvSpPr/>
          <p:nvPr/>
        </p:nvSpPr>
        <p:spPr>
          <a:xfrm>
            <a:off x="10682288" y="2524125"/>
            <a:ext cx="766762"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1487150" y="24860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92" name="TextBox 91"/>
          <p:cNvSpPr txBox="1"/>
          <p:nvPr/>
        </p:nvSpPr>
        <p:spPr>
          <a:xfrm>
            <a:off x="9329738" y="27432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Bathrooms and Wet Areas</a:t>
            </a:r>
          </a:p>
        </p:txBody>
      </p:sp>
      <p:sp>
        <p:nvSpPr>
          <p:cNvPr id="93" name="Rectangle 92"/>
          <p:cNvSpPr/>
          <p:nvPr/>
        </p:nvSpPr>
        <p:spPr>
          <a:xfrm>
            <a:off x="10682288" y="2847975"/>
            <a:ext cx="463633"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1184020" y="28098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95" name="TextBox 94"/>
          <p:cNvSpPr txBox="1"/>
          <p:nvPr/>
        </p:nvSpPr>
        <p:spPr>
          <a:xfrm>
            <a:off x="9329738" y="30670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Walls and Building Facades</a:t>
            </a:r>
          </a:p>
        </p:txBody>
      </p:sp>
      <p:sp>
        <p:nvSpPr>
          <p:cNvPr id="96" name="Rectangle 95"/>
          <p:cNvSpPr/>
          <p:nvPr/>
        </p:nvSpPr>
        <p:spPr>
          <a:xfrm>
            <a:off x="10682288" y="3171825"/>
            <a:ext cx="443847"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1164235" y="31337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98" name="TextBox 97"/>
          <p:cNvSpPr txBox="1"/>
          <p:nvPr/>
        </p:nvSpPr>
        <p:spPr>
          <a:xfrm>
            <a:off x="9329738" y="33909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Water Tanks and Swimming Pools</a:t>
            </a:r>
          </a:p>
        </p:txBody>
      </p:sp>
      <p:sp>
        <p:nvSpPr>
          <p:cNvPr id="99" name="Rectangle 98"/>
          <p:cNvSpPr/>
          <p:nvPr/>
        </p:nvSpPr>
        <p:spPr>
          <a:xfrm>
            <a:off x="10682288" y="3495675"/>
            <a:ext cx="352376"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11072763" y="34575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101" name="TextBox 100"/>
          <p:cNvSpPr txBox="1"/>
          <p:nvPr/>
        </p:nvSpPr>
        <p:spPr>
          <a:xfrm>
            <a:off x="9329738" y="37147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Bridges, Tunnels and Other Infrastructure</a:t>
            </a:r>
          </a:p>
        </p:txBody>
      </p:sp>
      <p:sp>
        <p:nvSpPr>
          <p:cNvPr id="102" name="Rectangle 101"/>
          <p:cNvSpPr/>
          <p:nvPr/>
        </p:nvSpPr>
        <p:spPr>
          <a:xfrm>
            <a:off x="10682288" y="3819525"/>
            <a:ext cx="310816"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1031203" y="37814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104" name="TextBox 103"/>
          <p:cNvSpPr txBox="1"/>
          <p:nvPr/>
        </p:nvSpPr>
        <p:spPr>
          <a:xfrm>
            <a:off x="9329738" y="40386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Basements and Foundations</a:t>
            </a:r>
          </a:p>
        </p:txBody>
      </p:sp>
      <p:sp>
        <p:nvSpPr>
          <p:cNvPr id="105" name="Rectangle 104"/>
          <p:cNvSpPr/>
          <p:nvPr/>
        </p:nvSpPr>
        <p:spPr>
          <a:xfrm>
            <a:off x="10682288" y="4143375"/>
            <a:ext cx="302090"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1022478" y="41052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07" name="Connector 106"/>
          <p:cNvCxnSpPr/>
          <p:nvPr/>
        </p:nvCxnSpPr>
        <p:spPr>
          <a:xfrm>
            <a:off x="9329738"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9329738"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109" name="TextBox 108"/>
          <p:cNvSpPr txBox="1"/>
          <p:nvPr/>
        </p:nvSpPr>
        <p:spPr>
          <a:xfrm>
            <a:off x="9329738"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110" name="Rectangle 109"/>
          <p:cNvSpPr/>
          <p:nvPr/>
        </p:nvSpPr>
        <p:spPr>
          <a:xfrm>
            <a:off x="190500" y="54673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90500" y="5467350"/>
            <a:ext cx="47625" cy="4000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304800" y="5467350"/>
            <a:ext cx="1047750" cy="400050"/>
          </a:xfrm>
          <a:prstGeom prst="rect">
            <a:avLst/>
          </a:prstGeom>
          <a:noFill/>
        </p:spPr>
        <p:txBody>
          <a:bodyPr wrap="square" lIns="28575" rIns="28575" tIns="9525" bIns="9525" anchor="ctr">
            <a:spAutoFit/>
          </a:bodyPr>
          <a:lstStyle/>
          <a:p>
            <a:pPr algn="l"/>
            <a:r>
              <a:rPr sz="1100" b="1">
                <a:solidFill>
                  <a:srgbClr val="0F2D52"/>
                </a:solidFill>
                <a:latin typeface="Calibri"/>
              </a:rPr>
              <a:t>ENABLERS</a:t>
            </a:r>
          </a:p>
        </p:txBody>
      </p:sp>
      <p:sp>
        <p:nvSpPr>
          <p:cNvPr id="113" name="TextBox 112"/>
          <p:cNvSpPr txBox="1"/>
          <p:nvPr/>
        </p:nvSpPr>
        <p:spPr>
          <a:xfrm>
            <a:off x="1428750" y="5467350"/>
            <a:ext cx="10477500" cy="4000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Silicone Waterproof Coatings Compounds Fastest Across the Product Type / Chemistry Mix  |  South Asia &amp; Pacific Emerges as the Growth Engine Among Regions  |  Premiumisation Lifts Average Realisation</a:t>
            </a:r>
          </a:p>
        </p:txBody>
      </p:sp>
      <p:sp>
        <p:nvSpPr>
          <p:cNvPr id="114" name="Rectangle 113"/>
          <p:cNvSpPr/>
          <p:nvPr/>
        </p:nvSpPr>
        <p:spPr>
          <a:xfrm>
            <a:off x="190500" y="59245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190500" y="5924550"/>
            <a:ext cx="47625" cy="400050"/>
          </a:xfrm>
          <a:prstGeom prst="rect">
            <a:avLst/>
          </a:prstGeom>
          <a:solidFill>
            <a:srgbClr val="8B1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304800" y="5924550"/>
            <a:ext cx="1047750" cy="400050"/>
          </a:xfrm>
          <a:prstGeom prst="rect">
            <a:avLst/>
          </a:prstGeom>
          <a:noFill/>
        </p:spPr>
        <p:txBody>
          <a:bodyPr wrap="square" lIns="28575" rIns="28575" tIns="9525" bIns="9525" anchor="ctr">
            <a:spAutoFit/>
          </a:bodyPr>
          <a:lstStyle/>
          <a:p>
            <a:pPr algn="l"/>
            <a:r>
              <a:rPr sz="1100" b="1">
                <a:solidFill>
                  <a:srgbClr val="8B1E2D"/>
                </a:solidFill>
                <a:latin typeface="Calibri"/>
              </a:rPr>
              <a:t>CONSTRAINTS</a:t>
            </a:r>
          </a:p>
        </p:txBody>
      </p:sp>
      <p:sp>
        <p:nvSpPr>
          <p:cNvPr id="117" name="TextBox 116"/>
          <p:cNvSpPr txBox="1"/>
          <p:nvPr/>
        </p:nvSpPr>
        <p:spPr>
          <a:xfrm>
            <a:off x="1428750" y="5924550"/>
            <a:ext cx="10477500" cy="4000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Cementitious Waterproof Coatings Lags the Category and Dilutes Blended Growth  |  Uneven Region Performance Caps the Blended Rate  |  Concentration Risk Limits Pricing and Sourcing Flexibility</a:t>
            </a:r>
          </a:p>
        </p:txBody>
      </p:sp>
      <p:sp>
        <p:nvSpPr>
          <p:cNvPr id="118" name="TextBox 1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19" name="Picture 118" descr="lock.png"/>
          <p:cNvPicPr>
            <a:picLocks noChangeAspect="1"/>
          </p:cNvPicPr>
          <p:nvPr/>
        </p:nvPicPr>
        <p:blipFill>
          <a:blip r:embed="rId4"/>
          <a:stretch>
            <a:fillRect/>
          </a:stretch>
        </p:blipFill>
        <p:spPr>
          <a:xfrm>
            <a:off x="1316775" y="1258951"/>
            <a:ext cx="128699" cy="187198"/>
          </a:xfrm>
          <a:prstGeom prst="rect">
            <a:avLst/>
          </a:prstGeom>
        </p:spPr>
      </p:pic>
      <p:pic>
        <p:nvPicPr>
          <p:cNvPr id="120" name="Picture 119" descr="lock.png"/>
          <p:cNvPicPr>
            <a:picLocks noChangeAspect="1"/>
          </p:cNvPicPr>
          <p:nvPr/>
        </p:nvPicPr>
        <p:blipFill>
          <a:blip r:embed="rId4"/>
          <a:stretch>
            <a:fillRect/>
          </a:stretch>
        </p:blipFill>
        <p:spPr>
          <a:xfrm>
            <a:off x="3678975" y="1258951"/>
            <a:ext cx="128699" cy="187198"/>
          </a:xfrm>
          <a:prstGeom prst="rect">
            <a:avLst/>
          </a:prstGeom>
        </p:spPr>
      </p:pic>
      <p:pic>
        <p:nvPicPr>
          <p:cNvPr id="121" name="Picture 120" descr="lock.png"/>
          <p:cNvPicPr>
            <a:picLocks noChangeAspect="1"/>
          </p:cNvPicPr>
          <p:nvPr/>
        </p:nvPicPr>
        <p:blipFill>
          <a:blip r:embed="rId4"/>
          <a:stretch>
            <a:fillRect/>
          </a:stretch>
        </p:blipFill>
        <p:spPr>
          <a:xfrm>
            <a:off x="6041175" y="1258951"/>
            <a:ext cx="128699" cy="187198"/>
          </a:xfrm>
          <a:prstGeom prst="rect">
            <a:avLst/>
          </a:prstGeom>
        </p:spPr>
      </p:pic>
      <p:pic>
        <p:nvPicPr>
          <p:cNvPr id="122" name="Picture 121" descr="lock.png"/>
          <p:cNvPicPr>
            <a:picLocks noChangeAspect="1"/>
          </p:cNvPicPr>
          <p:nvPr/>
        </p:nvPicPr>
        <p:blipFill>
          <a:blip r:embed="rId4"/>
          <a:stretch>
            <a:fillRect/>
          </a:stretch>
        </p:blipFill>
        <p:spPr>
          <a:xfrm>
            <a:off x="8403375" y="1258951"/>
            <a:ext cx="128699" cy="187198"/>
          </a:xfrm>
          <a:prstGeom prst="rect">
            <a:avLst/>
          </a:prstGeom>
        </p:spPr>
      </p:pic>
      <p:pic>
        <p:nvPicPr>
          <p:cNvPr id="123" name="Picture 122" descr="lock.png"/>
          <p:cNvPicPr>
            <a:picLocks noChangeAspect="1"/>
          </p:cNvPicPr>
          <p:nvPr/>
        </p:nvPicPr>
        <p:blipFill>
          <a:blip r:embed="rId4"/>
          <a:stretch>
            <a:fillRect/>
          </a:stretch>
        </p:blipFill>
        <p:spPr>
          <a:xfrm>
            <a:off x="10765575" y="1258951"/>
            <a:ext cx="128699" cy="187198"/>
          </a:xfrm>
          <a:prstGeom prst="rect">
            <a:avLst/>
          </a:prstGeom>
        </p:spPr>
      </p:pic>
      <p:pic>
        <p:nvPicPr>
          <p:cNvPr id="124" name="Picture 123" descr="lock.png"/>
          <p:cNvPicPr>
            <a:picLocks noChangeAspect="1"/>
          </p:cNvPicPr>
          <p:nvPr/>
        </p:nvPicPr>
        <p:blipFill>
          <a:blip r:embed="rId4"/>
          <a:stretch>
            <a:fillRect/>
          </a:stretch>
        </p:blipFill>
        <p:spPr>
          <a:xfrm>
            <a:off x="554775" y="1925701"/>
            <a:ext cx="128699" cy="187198"/>
          </a:xfrm>
          <a:prstGeom prst="rect">
            <a:avLst/>
          </a:prstGeom>
        </p:spPr>
      </p:pic>
      <p:pic>
        <p:nvPicPr>
          <p:cNvPr id="125" name="Picture 124" descr="lock.png"/>
          <p:cNvPicPr>
            <a:picLocks noChangeAspect="1"/>
          </p:cNvPicPr>
          <p:nvPr/>
        </p:nvPicPr>
        <p:blipFill>
          <a:blip r:embed="rId4"/>
          <a:stretch>
            <a:fillRect/>
          </a:stretch>
        </p:blipFill>
        <p:spPr>
          <a:xfrm>
            <a:off x="554775" y="2135251"/>
            <a:ext cx="128699" cy="187198"/>
          </a:xfrm>
          <a:prstGeom prst="rect">
            <a:avLst/>
          </a:prstGeom>
        </p:spPr>
      </p:pic>
      <p:pic>
        <p:nvPicPr>
          <p:cNvPr id="126" name="Picture 125" descr="lock.png"/>
          <p:cNvPicPr>
            <a:picLocks noChangeAspect="1"/>
          </p:cNvPicPr>
          <p:nvPr/>
        </p:nvPicPr>
        <p:blipFill>
          <a:blip r:embed="rId4"/>
          <a:stretch>
            <a:fillRect/>
          </a:stretch>
        </p:blipFill>
        <p:spPr>
          <a:xfrm>
            <a:off x="3569437" y="1925701"/>
            <a:ext cx="128699" cy="187198"/>
          </a:xfrm>
          <a:prstGeom prst="rect">
            <a:avLst/>
          </a:prstGeom>
        </p:spPr>
      </p:pic>
      <p:pic>
        <p:nvPicPr>
          <p:cNvPr id="127" name="Picture 126" descr="lock.png"/>
          <p:cNvPicPr>
            <a:picLocks noChangeAspect="1"/>
          </p:cNvPicPr>
          <p:nvPr/>
        </p:nvPicPr>
        <p:blipFill>
          <a:blip r:embed="rId4"/>
          <a:stretch>
            <a:fillRect/>
          </a:stretch>
        </p:blipFill>
        <p:spPr>
          <a:xfrm>
            <a:off x="3569437" y="2135251"/>
            <a:ext cx="128699" cy="187198"/>
          </a:xfrm>
          <a:prstGeom prst="rect">
            <a:avLst/>
          </a:prstGeom>
        </p:spPr>
      </p:pic>
      <p:pic>
        <p:nvPicPr>
          <p:cNvPr id="128" name="Picture 127" descr="lock.png"/>
          <p:cNvPicPr>
            <a:picLocks noChangeAspect="1"/>
          </p:cNvPicPr>
          <p:nvPr/>
        </p:nvPicPr>
        <p:blipFill>
          <a:blip r:embed="rId4"/>
          <a:stretch>
            <a:fillRect/>
          </a:stretch>
        </p:blipFill>
        <p:spPr>
          <a:xfrm>
            <a:off x="6584100" y="1925701"/>
            <a:ext cx="128699" cy="187198"/>
          </a:xfrm>
          <a:prstGeom prst="rect">
            <a:avLst/>
          </a:prstGeom>
        </p:spPr>
      </p:pic>
      <p:pic>
        <p:nvPicPr>
          <p:cNvPr id="129" name="Picture 128" descr="lock.png"/>
          <p:cNvPicPr>
            <a:picLocks noChangeAspect="1"/>
          </p:cNvPicPr>
          <p:nvPr/>
        </p:nvPicPr>
        <p:blipFill>
          <a:blip r:embed="rId4"/>
          <a:stretch>
            <a:fillRect/>
          </a:stretch>
        </p:blipFill>
        <p:spPr>
          <a:xfrm>
            <a:off x="6584100" y="2135251"/>
            <a:ext cx="128699" cy="187198"/>
          </a:xfrm>
          <a:prstGeom prst="rect">
            <a:avLst/>
          </a:prstGeom>
        </p:spPr>
      </p:pic>
      <p:pic>
        <p:nvPicPr>
          <p:cNvPr id="130" name="Picture 129" descr="lock.png"/>
          <p:cNvPicPr>
            <a:picLocks noChangeAspect="1"/>
          </p:cNvPicPr>
          <p:nvPr/>
        </p:nvPicPr>
        <p:blipFill>
          <a:blip r:embed="rId4"/>
          <a:stretch>
            <a:fillRect/>
          </a:stretch>
        </p:blipFill>
        <p:spPr>
          <a:xfrm>
            <a:off x="11660925" y="2487676"/>
            <a:ext cx="128699" cy="187198"/>
          </a:xfrm>
          <a:prstGeom prst="rect">
            <a:avLst/>
          </a:prstGeom>
        </p:spPr>
      </p:pic>
      <p:pic>
        <p:nvPicPr>
          <p:cNvPr id="131" name="Picture 130" descr="lock.png"/>
          <p:cNvPicPr>
            <a:picLocks noChangeAspect="1"/>
          </p:cNvPicPr>
          <p:nvPr/>
        </p:nvPicPr>
        <p:blipFill>
          <a:blip r:embed="rId4"/>
          <a:stretch>
            <a:fillRect/>
          </a:stretch>
        </p:blipFill>
        <p:spPr>
          <a:xfrm>
            <a:off x="11357795" y="2811526"/>
            <a:ext cx="128699" cy="187198"/>
          </a:xfrm>
          <a:prstGeom prst="rect">
            <a:avLst/>
          </a:prstGeom>
        </p:spPr>
      </p:pic>
      <p:pic>
        <p:nvPicPr>
          <p:cNvPr id="132" name="Picture 131" descr="lock.png"/>
          <p:cNvPicPr>
            <a:picLocks noChangeAspect="1"/>
          </p:cNvPicPr>
          <p:nvPr/>
        </p:nvPicPr>
        <p:blipFill>
          <a:blip r:embed="rId4"/>
          <a:stretch>
            <a:fillRect/>
          </a:stretch>
        </p:blipFill>
        <p:spPr>
          <a:xfrm>
            <a:off x="11338010" y="3135376"/>
            <a:ext cx="128699" cy="187198"/>
          </a:xfrm>
          <a:prstGeom prst="rect">
            <a:avLst/>
          </a:prstGeom>
        </p:spPr>
      </p:pic>
      <p:pic>
        <p:nvPicPr>
          <p:cNvPr id="133" name="Picture 132" descr="lock.png"/>
          <p:cNvPicPr>
            <a:picLocks noChangeAspect="1"/>
          </p:cNvPicPr>
          <p:nvPr/>
        </p:nvPicPr>
        <p:blipFill>
          <a:blip r:embed="rId4"/>
          <a:stretch>
            <a:fillRect/>
          </a:stretch>
        </p:blipFill>
        <p:spPr>
          <a:xfrm>
            <a:off x="11246538" y="3459226"/>
            <a:ext cx="128699" cy="187198"/>
          </a:xfrm>
          <a:prstGeom prst="rect">
            <a:avLst/>
          </a:prstGeom>
        </p:spPr>
      </p:pic>
      <p:pic>
        <p:nvPicPr>
          <p:cNvPr id="134" name="Picture 133" descr="lock.png"/>
          <p:cNvPicPr>
            <a:picLocks noChangeAspect="1"/>
          </p:cNvPicPr>
          <p:nvPr/>
        </p:nvPicPr>
        <p:blipFill>
          <a:blip r:embed="rId4"/>
          <a:stretch>
            <a:fillRect/>
          </a:stretch>
        </p:blipFill>
        <p:spPr>
          <a:xfrm>
            <a:off x="11204978" y="3783076"/>
            <a:ext cx="128699" cy="187198"/>
          </a:xfrm>
          <a:prstGeom prst="rect">
            <a:avLst/>
          </a:prstGeom>
        </p:spPr>
      </p:pic>
      <p:pic>
        <p:nvPicPr>
          <p:cNvPr id="135" name="Picture 134" descr="lock.png"/>
          <p:cNvPicPr>
            <a:picLocks noChangeAspect="1"/>
          </p:cNvPicPr>
          <p:nvPr/>
        </p:nvPicPr>
        <p:blipFill>
          <a:blip r:embed="rId4"/>
          <a:stretch>
            <a:fillRect/>
          </a:stretch>
        </p:blipFill>
        <p:spPr>
          <a:xfrm>
            <a:off x="11196253" y="4106926"/>
            <a:ext cx="128699" cy="187198"/>
          </a:xfrm>
          <a:prstGeom prst="rect">
            <a:avLst/>
          </a:prstGeom>
        </p:spPr>
      </p:pic>
      <p:sp>
        <p:nvSpPr>
          <p:cNvPr id="136" name="TextBox 135"/>
          <p:cNvSpPr txBox="1"/>
          <p:nvPr/>
        </p:nvSpPr>
        <p:spPr>
          <a:xfrm>
            <a:off x="314325" y="4676775"/>
            <a:ext cx="2273746" cy="186689"/>
          </a:xfrm>
          <a:prstGeom prst="rect">
            <a:avLst/>
          </a:prstGeom>
          <a:noFill/>
        </p:spPr>
        <p:txBody>
          <a:bodyPr wrap="none" lIns="0" rIns="0" tIns="0" bIns="0">
            <a:spAutoFit/>
          </a:bodyPr>
          <a:lstStyle/>
          <a:p>
            <a:r>
              <a:rPr sz="1100" b="0">
                <a:solidFill>
                  <a:srgbClr val="1F2933"/>
                </a:solidFill>
                <a:latin typeface="Calibri"/>
              </a:rPr>
              <a:t>5 named players compete here; 'Other</a:t>
            </a:r>
          </a:p>
        </p:txBody>
      </p:sp>
      <p:sp>
        <p:nvSpPr>
          <p:cNvPr id="137" name="TextBox 136"/>
          <p:cNvSpPr txBox="1"/>
          <p:nvPr/>
        </p:nvSpPr>
        <p:spPr>
          <a:xfrm>
            <a:off x="314325" y="4844415"/>
            <a:ext cx="1781249" cy="186689"/>
          </a:xfrm>
          <a:prstGeom prst="rect">
            <a:avLst/>
          </a:prstGeom>
          <a:noFill/>
        </p:spPr>
        <p:txBody>
          <a:bodyPr wrap="none" lIns="0" rIns="0" tIns="0" bIns="0">
            <a:spAutoFit/>
          </a:bodyPr>
          <a:lstStyle/>
          <a:p>
            <a:r>
              <a:rPr sz="1100" b="0">
                <a:solidFill>
                  <a:srgbClr val="1F2933"/>
                </a:solidFill>
                <a:latin typeface="Calibri"/>
              </a:rPr>
              <a:t>Polymer-Based Coatings' adds</a:t>
            </a:r>
          </a:p>
        </p:txBody>
      </p:sp>
      <p:pic>
        <p:nvPicPr>
          <p:cNvPr id="138" name="Picture 137" descr="lock.png"/>
          <p:cNvPicPr>
            <a:picLocks noChangeAspect="1"/>
          </p:cNvPicPr>
          <p:nvPr/>
        </p:nvPicPr>
        <p:blipFill>
          <a:blip r:embed="rId4"/>
          <a:stretch>
            <a:fillRect/>
          </a:stretch>
        </p:blipFill>
        <p:spPr>
          <a:xfrm>
            <a:off x="2043626" y="4834636"/>
            <a:ext cx="128699" cy="187198"/>
          </a:xfrm>
          <a:prstGeom prst="rect">
            <a:avLst/>
          </a:prstGeom>
        </p:spPr>
      </p:pic>
      <p:sp>
        <p:nvSpPr>
          <p:cNvPr id="139" name="TextBox 138"/>
          <p:cNvSpPr txBox="1"/>
          <p:nvPr/>
        </p:nvSpPr>
        <p:spPr>
          <a:xfrm>
            <a:off x="2211121" y="4844415"/>
            <a:ext cx="525586" cy="186689"/>
          </a:xfrm>
          <a:prstGeom prst="rect">
            <a:avLst/>
          </a:prstGeom>
          <a:noFill/>
        </p:spPr>
        <p:txBody>
          <a:bodyPr wrap="none" lIns="0" rIns="0" tIns="0" bIns="0">
            <a:spAutoFit/>
          </a:bodyPr>
          <a:lstStyle/>
          <a:p>
            <a:r>
              <a:rPr sz="1100" b="0">
                <a:solidFill>
                  <a:srgbClr val="1F2933"/>
                </a:solidFill>
                <a:latin typeface="Calibri"/>
              </a:rPr>
              <a:t>US$ Mn</a:t>
            </a:r>
          </a:p>
        </p:txBody>
      </p:sp>
      <p:sp>
        <p:nvSpPr>
          <p:cNvPr id="140" name="TextBox 139"/>
          <p:cNvSpPr txBox="1"/>
          <p:nvPr/>
        </p:nvSpPr>
        <p:spPr>
          <a:xfrm>
            <a:off x="314325" y="5012055"/>
            <a:ext cx="563512" cy="186689"/>
          </a:xfrm>
          <a:prstGeom prst="rect">
            <a:avLst/>
          </a:prstGeom>
          <a:noFill/>
        </p:spPr>
        <p:txBody>
          <a:bodyPr wrap="none" lIns="0" rIns="0" tIns="0" bIns="0">
            <a:spAutoFit/>
          </a:bodyPr>
          <a:lstStyle/>
          <a:p>
            <a:r>
              <a:rPr sz="1100" b="0">
                <a:solidFill>
                  <a:srgbClr val="1F2933"/>
                </a:solidFill>
                <a:latin typeface="Calibri"/>
              </a:rPr>
              <a:t>by 2036.</a:t>
            </a:r>
          </a:p>
        </p:txBody>
      </p:sp>
      <p:sp>
        <p:nvSpPr>
          <p:cNvPr id="141" name="TextBox 140"/>
          <p:cNvSpPr txBox="1"/>
          <p:nvPr/>
        </p:nvSpPr>
        <p:spPr>
          <a:xfrm>
            <a:off x="3328987" y="4676775"/>
            <a:ext cx="1880021" cy="186689"/>
          </a:xfrm>
          <a:prstGeom prst="rect">
            <a:avLst/>
          </a:prstGeom>
          <a:noFill/>
        </p:spPr>
        <p:txBody>
          <a:bodyPr wrap="none" lIns="0" rIns="0" tIns="0" bIns="0">
            <a:spAutoFit/>
          </a:bodyPr>
          <a:lstStyle/>
          <a:p>
            <a:r>
              <a:rPr sz="1100" b="0">
                <a:solidFill>
                  <a:srgbClr val="1F2933"/>
                </a:solidFill>
                <a:latin typeface="Calibri"/>
              </a:rPr>
              <a:t>3 named players compete here;</a:t>
            </a:r>
          </a:p>
        </p:txBody>
      </p:sp>
      <p:sp>
        <p:nvSpPr>
          <p:cNvPr id="142" name="TextBox 141"/>
          <p:cNvSpPr txBox="1"/>
          <p:nvPr/>
        </p:nvSpPr>
        <p:spPr>
          <a:xfrm>
            <a:off x="3328987" y="4844415"/>
            <a:ext cx="2416175" cy="186689"/>
          </a:xfrm>
          <a:prstGeom prst="rect">
            <a:avLst/>
          </a:prstGeom>
          <a:noFill/>
        </p:spPr>
        <p:txBody>
          <a:bodyPr wrap="none" lIns="0" rIns="0" tIns="0" bIns="0">
            <a:spAutoFit/>
          </a:bodyPr>
          <a:lstStyle/>
          <a:p>
            <a:r>
              <a:rPr sz="1100" b="0">
                <a:solidFill>
                  <a:srgbClr val="1F2933"/>
                </a:solidFill>
                <a:latin typeface="Calibri"/>
              </a:rPr>
              <a:t>'Cementitious Waterproof Coatings' adds</a:t>
            </a:r>
          </a:p>
        </p:txBody>
      </p:sp>
      <p:pic>
        <p:nvPicPr>
          <p:cNvPr id="143" name="Picture 142" descr="lock.png"/>
          <p:cNvPicPr>
            <a:picLocks noChangeAspect="1"/>
          </p:cNvPicPr>
          <p:nvPr/>
        </p:nvPicPr>
        <p:blipFill>
          <a:blip r:embed="rId4"/>
          <a:stretch>
            <a:fillRect/>
          </a:stretch>
        </p:blipFill>
        <p:spPr>
          <a:xfrm>
            <a:off x="3315519" y="5002276"/>
            <a:ext cx="128699" cy="187198"/>
          </a:xfrm>
          <a:prstGeom prst="rect">
            <a:avLst/>
          </a:prstGeom>
        </p:spPr>
      </p:pic>
      <p:sp>
        <p:nvSpPr>
          <p:cNvPr id="144" name="TextBox 143"/>
          <p:cNvSpPr txBox="1"/>
          <p:nvPr/>
        </p:nvSpPr>
        <p:spPr>
          <a:xfrm>
            <a:off x="3483015" y="5012055"/>
            <a:ext cx="1044550" cy="186689"/>
          </a:xfrm>
          <a:prstGeom prst="rect">
            <a:avLst/>
          </a:prstGeom>
          <a:noFill/>
        </p:spPr>
        <p:txBody>
          <a:bodyPr wrap="none" lIns="0" rIns="0" tIns="0" bIns="0">
            <a:spAutoFit/>
          </a:bodyPr>
          <a:lstStyle/>
          <a:p>
            <a:r>
              <a:rPr sz="1100" b="0">
                <a:solidFill>
                  <a:srgbClr val="1F2933"/>
                </a:solidFill>
                <a:latin typeface="Calibri"/>
              </a:rPr>
              <a:t>US$ Mn by 2036.</a:t>
            </a:r>
          </a:p>
        </p:txBody>
      </p:sp>
      <p:sp>
        <p:nvSpPr>
          <p:cNvPr id="145" name="TextBox 144"/>
          <p:cNvSpPr txBox="1"/>
          <p:nvPr/>
        </p:nvSpPr>
        <p:spPr>
          <a:xfrm>
            <a:off x="6343650" y="4676775"/>
            <a:ext cx="2442641" cy="186689"/>
          </a:xfrm>
          <a:prstGeom prst="rect">
            <a:avLst/>
          </a:prstGeom>
          <a:noFill/>
        </p:spPr>
        <p:txBody>
          <a:bodyPr wrap="none" lIns="0" rIns="0" tIns="0" bIns="0">
            <a:spAutoFit/>
          </a:bodyPr>
          <a:lstStyle/>
          <a:p>
            <a:r>
              <a:rPr sz="1100" b="0">
                <a:solidFill>
                  <a:srgbClr val="1F2933"/>
                </a:solidFill>
                <a:latin typeface="Calibri"/>
              </a:rPr>
              <a:t>5 named players compete here; 'Polyurea</a:t>
            </a:r>
          </a:p>
        </p:txBody>
      </p:sp>
      <p:sp>
        <p:nvSpPr>
          <p:cNvPr id="146" name="TextBox 145"/>
          <p:cNvSpPr txBox="1"/>
          <p:nvPr/>
        </p:nvSpPr>
        <p:spPr>
          <a:xfrm>
            <a:off x="6343650" y="4844415"/>
            <a:ext cx="1595164" cy="186689"/>
          </a:xfrm>
          <a:prstGeom prst="rect">
            <a:avLst/>
          </a:prstGeom>
          <a:noFill/>
        </p:spPr>
        <p:txBody>
          <a:bodyPr wrap="none" lIns="0" rIns="0" tIns="0" bIns="0">
            <a:spAutoFit/>
          </a:bodyPr>
          <a:lstStyle/>
          <a:p>
            <a:r>
              <a:rPr sz="1100" b="0">
                <a:solidFill>
                  <a:srgbClr val="1F2933"/>
                </a:solidFill>
                <a:latin typeface="Calibri"/>
              </a:rPr>
              <a:t>Waterproof Coatings' adds</a:t>
            </a:r>
          </a:p>
        </p:txBody>
      </p:sp>
      <p:pic>
        <p:nvPicPr>
          <p:cNvPr id="147" name="Picture 146" descr="lock.png"/>
          <p:cNvPicPr>
            <a:picLocks noChangeAspect="1"/>
          </p:cNvPicPr>
          <p:nvPr/>
        </p:nvPicPr>
        <p:blipFill>
          <a:blip r:embed="rId4"/>
          <a:stretch>
            <a:fillRect/>
          </a:stretch>
        </p:blipFill>
        <p:spPr>
          <a:xfrm>
            <a:off x="7886866" y="4834636"/>
            <a:ext cx="128699" cy="187198"/>
          </a:xfrm>
          <a:prstGeom prst="rect">
            <a:avLst/>
          </a:prstGeom>
        </p:spPr>
      </p:pic>
      <p:sp>
        <p:nvSpPr>
          <p:cNvPr id="148" name="TextBox 147"/>
          <p:cNvSpPr txBox="1"/>
          <p:nvPr/>
        </p:nvSpPr>
        <p:spPr>
          <a:xfrm>
            <a:off x="8054362" y="4844415"/>
            <a:ext cx="693935" cy="186689"/>
          </a:xfrm>
          <a:prstGeom prst="rect">
            <a:avLst/>
          </a:prstGeom>
          <a:noFill/>
        </p:spPr>
        <p:txBody>
          <a:bodyPr wrap="none" lIns="0" rIns="0" tIns="0" bIns="0">
            <a:spAutoFit/>
          </a:bodyPr>
          <a:lstStyle/>
          <a:p>
            <a:r>
              <a:rPr sz="1100" b="0">
                <a:solidFill>
                  <a:srgbClr val="1F2933"/>
                </a:solidFill>
                <a:latin typeface="Calibri"/>
              </a:rPr>
              <a:t>US$ Mn by</a:t>
            </a:r>
          </a:p>
        </p:txBody>
      </p:sp>
      <p:sp>
        <p:nvSpPr>
          <p:cNvPr id="149" name="TextBox 148"/>
          <p:cNvSpPr txBox="1"/>
          <p:nvPr/>
        </p:nvSpPr>
        <p:spPr>
          <a:xfrm>
            <a:off x="6343650" y="5012055"/>
            <a:ext cx="395163" cy="186689"/>
          </a:xfrm>
          <a:prstGeom prst="rect">
            <a:avLst/>
          </a:prstGeom>
          <a:noFill/>
        </p:spPr>
        <p:txBody>
          <a:bodyPr wrap="none" lIns="0" rIns="0" tIns="0" bIns="0">
            <a:spAutoFit/>
          </a:bodyPr>
          <a:lstStyle/>
          <a:p>
            <a:r>
              <a:rPr sz="1100" b="0">
                <a:solidFill>
                  <a:srgbClr val="1F2933"/>
                </a:solidFill>
                <a:latin typeface="Calibri"/>
              </a:rPr>
              <a:t>2036.</a:t>
            </a:r>
          </a:p>
        </p:txBody>
      </p:sp>
      <p:sp>
        <p:nvSpPr>
          <p:cNvPr id="150" name="TextBox 149"/>
          <p:cNvSpPr txBox="1"/>
          <p:nvPr/>
        </p:nvSpPr>
        <p:spPr>
          <a:xfrm>
            <a:off x="9358313" y="4676775"/>
            <a:ext cx="1728861" cy="186689"/>
          </a:xfrm>
          <a:prstGeom prst="rect">
            <a:avLst/>
          </a:prstGeom>
          <a:noFill/>
        </p:spPr>
        <p:txBody>
          <a:bodyPr wrap="none" lIns="0" rIns="0" tIns="0" bIns="0">
            <a:spAutoFit/>
          </a:bodyPr>
          <a:lstStyle/>
          <a:p>
            <a:r>
              <a:rPr sz="1100" b="0">
                <a:solidFill>
                  <a:srgbClr val="1F2933"/>
                </a:solidFill>
                <a:latin typeface="Calibri"/>
              </a:rPr>
              <a:t>The top two end uses pay for</a:t>
            </a:r>
          </a:p>
        </p:txBody>
      </p:sp>
      <p:pic>
        <p:nvPicPr>
          <p:cNvPr id="151" name="Picture 150" descr="lock.png"/>
          <p:cNvPicPr>
            <a:picLocks noChangeAspect="1"/>
          </p:cNvPicPr>
          <p:nvPr/>
        </p:nvPicPr>
        <p:blipFill>
          <a:blip r:embed="rId4"/>
          <a:stretch>
            <a:fillRect/>
          </a:stretch>
        </p:blipFill>
        <p:spPr>
          <a:xfrm>
            <a:off x="11035226" y="4666996"/>
            <a:ext cx="128699" cy="187198"/>
          </a:xfrm>
          <a:prstGeom prst="rect">
            <a:avLst/>
          </a:prstGeom>
        </p:spPr>
      </p:pic>
      <p:sp>
        <p:nvSpPr>
          <p:cNvPr id="152" name="TextBox 151"/>
          <p:cNvSpPr txBox="1"/>
          <p:nvPr/>
        </p:nvSpPr>
        <p:spPr>
          <a:xfrm>
            <a:off x="11202722" y="4676775"/>
            <a:ext cx="413990" cy="186689"/>
          </a:xfrm>
          <a:prstGeom prst="rect">
            <a:avLst/>
          </a:prstGeom>
          <a:noFill/>
        </p:spPr>
        <p:txBody>
          <a:bodyPr wrap="none" lIns="0" rIns="0" tIns="0" bIns="0">
            <a:spAutoFit/>
          </a:bodyPr>
          <a:lstStyle/>
          <a:p>
            <a:r>
              <a:rPr sz="1100" b="0">
                <a:solidFill>
                  <a:srgbClr val="1F2933"/>
                </a:solidFill>
                <a:latin typeface="Calibri"/>
              </a:rPr>
              <a:t>of the</a:t>
            </a:r>
          </a:p>
        </p:txBody>
      </p:sp>
      <p:sp>
        <p:nvSpPr>
          <p:cNvPr id="153" name="TextBox 152"/>
          <p:cNvSpPr txBox="1"/>
          <p:nvPr/>
        </p:nvSpPr>
        <p:spPr>
          <a:xfrm>
            <a:off x="9358313" y="4844415"/>
            <a:ext cx="2519361" cy="186689"/>
          </a:xfrm>
          <a:prstGeom prst="rect">
            <a:avLst/>
          </a:prstGeom>
          <a:noFill/>
        </p:spPr>
        <p:txBody>
          <a:bodyPr wrap="none" lIns="0" rIns="0" tIns="0" bIns="0">
            <a:spAutoFit/>
          </a:bodyPr>
          <a:lstStyle/>
          <a:p>
            <a:r>
              <a:rPr sz="1100" b="0">
                <a:solidFill>
                  <a:srgbClr val="1F2933"/>
                </a:solidFill>
                <a:latin typeface="Calibri"/>
              </a:rPr>
              <a:t>market; vendors package for one vertical at</a:t>
            </a:r>
          </a:p>
        </p:txBody>
      </p:sp>
      <p:sp>
        <p:nvSpPr>
          <p:cNvPr id="154" name="TextBox 153"/>
          <p:cNvSpPr txBox="1"/>
          <p:nvPr/>
        </p:nvSpPr>
        <p:spPr>
          <a:xfrm>
            <a:off x="9358313" y="5012055"/>
            <a:ext cx="470197" cy="186689"/>
          </a:xfrm>
          <a:prstGeom prst="rect">
            <a:avLst/>
          </a:prstGeom>
          <a:noFill/>
        </p:spPr>
        <p:txBody>
          <a:bodyPr wrap="none" lIns="0" rIns="0" tIns="0" bIns="0">
            <a:spAutoFit/>
          </a:bodyPr>
          <a:lstStyle/>
          <a:p>
            <a:r>
              <a:rPr sz="1100" b="0">
                <a:solidFill>
                  <a:srgbClr val="1F2933"/>
                </a:solidFill>
                <a:latin typeface="Calibri"/>
              </a:rPr>
              <a:t>a time.</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Waterproof Coatings Market Player Landscape by Business Type and Reach</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Named players by business type and geographic reach, with how each group competes</a:t>
            </a:r>
          </a:p>
        </p:txBody>
      </p:sp>
      <p:sp>
        <p:nvSpPr>
          <p:cNvPr id="10" name="Rectangle 9"/>
          <p:cNvSpPr/>
          <p:nvPr/>
        </p:nvSpPr>
        <p:spPr>
          <a:xfrm>
            <a:off x="1638300" y="1047750"/>
            <a:ext cx="3422650" cy="2667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1450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1  (4)</a:t>
            </a:r>
          </a:p>
        </p:txBody>
      </p:sp>
      <p:sp>
        <p:nvSpPr>
          <p:cNvPr id="12" name="Rectangle 11"/>
          <p:cNvSpPr/>
          <p:nvPr/>
        </p:nvSpPr>
        <p:spPr>
          <a:xfrm>
            <a:off x="5099050" y="1047750"/>
            <a:ext cx="3422650" cy="2667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7525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2  (2)</a:t>
            </a:r>
          </a:p>
        </p:txBody>
      </p:sp>
      <p:sp>
        <p:nvSpPr>
          <p:cNvPr id="14" name="Rectangle 13"/>
          <p:cNvSpPr/>
          <p:nvPr/>
        </p:nvSpPr>
        <p:spPr>
          <a:xfrm>
            <a:off x="8559800" y="1047750"/>
            <a:ext cx="3422650" cy="2667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3600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3  (4)</a:t>
            </a:r>
          </a:p>
        </p:txBody>
      </p:sp>
      <p:sp>
        <p:nvSpPr>
          <p:cNvPr id="16" name="TextBox 15"/>
          <p:cNvSpPr txBox="1"/>
          <p:nvPr/>
        </p:nvSpPr>
        <p:spPr>
          <a:xfrm>
            <a:off x="190500" y="14097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Global (4)</a:t>
            </a:r>
          </a:p>
        </p:txBody>
      </p:sp>
      <p:sp>
        <p:nvSpPr>
          <p:cNvPr id="17" name="TextBox 16"/>
          <p:cNvSpPr txBox="1"/>
          <p:nvPr/>
        </p:nvSpPr>
        <p:spPr>
          <a:xfrm>
            <a:off x="190500" y="15811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Sells in most major regions</a:t>
            </a:r>
          </a:p>
        </p:txBody>
      </p:sp>
      <p:cxnSp>
        <p:nvCxnSpPr>
          <p:cNvPr id="18" name="Connector 17"/>
          <p:cNvCxnSpPr/>
          <p:nvPr/>
        </p:nvCxnSpPr>
        <p:spPr>
          <a:xfrm>
            <a:off x="1647825" y="13906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733550" y="1447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33550" y="14382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1" name="TextBox 20"/>
          <p:cNvSpPr txBox="1"/>
          <p:nvPr/>
        </p:nvSpPr>
        <p:spPr>
          <a:xfrm>
            <a:off x="1924050" y="14287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Sika</a:t>
            </a:r>
          </a:p>
        </p:txBody>
      </p:sp>
      <p:sp>
        <p:nvSpPr>
          <p:cNvPr id="22" name="Rectangle 21"/>
          <p:cNvSpPr/>
          <p:nvPr/>
        </p:nvSpPr>
        <p:spPr>
          <a:xfrm>
            <a:off x="1733550" y="1638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33550" y="16287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4" name="TextBox 23"/>
          <p:cNvSpPr txBox="1"/>
          <p:nvPr/>
        </p:nvSpPr>
        <p:spPr>
          <a:xfrm>
            <a:off x="1924050" y="16192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The Sherwin-Williams</a:t>
            </a:r>
          </a:p>
        </p:txBody>
      </p:sp>
      <p:sp>
        <p:nvSpPr>
          <p:cNvPr id="25" name="Rectangle 24"/>
          <p:cNvSpPr/>
          <p:nvPr/>
        </p:nvSpPr>
        <p:spPr>
          <a:xfrm>
            <a:off x="1733550" y="1828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33550" y="18192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7" name="TextBox 26"/>
          <p:cNvSpPr txBox="1"/>
          <p:nvPr/>
        </p:nvSpPr>
        <p:spPr>
          <a:xfrm>
            <a:off x="1924050" y="18097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PPG Industries</a:t>
            </a:r>
          </a:p>
        </p:txBody>
      </p:sp>
      <p:sp>
        <p:nvSpPr>
          <p:cNvPr id="28" name="Rectangle 27"/>
          <p:cNvSpPr/>
          <p:nvPr/>
        </p:nvSpPr>
        <p:spPr>
          <a:xfrm>
            <a:off x="1733550" y="2019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733550" y="20097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30" name="TextBox 29"/>
          <p:cNvSpPr txBox="1"/>
          <p:nvPr/>
        </p:nvSpPr>
        <p:spPr>
          <a:xfrm>
            <a:off x="1924050" y="20002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Akzo Nobel</a:t>
            </a:r>
          </a:p>
        </p:txBody>
      </p:sp>
      <p:cxnSp>
        <p:nvCxnSpPr>
          <p:cNvPr id="31" name="Connector 30"/>
          <p:cNvCxnSpPr/>
          <p:nvPr/>
        </p:nvCxnSpPr>
        <p:spPr>
          <a:xfrm>
            <a:off x="5108575" y="13906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569325" y="13906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90500" y="24384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Regional (2)</a:t>
            </a:r>
          </a:p>
        </p:txBody>
      </p:sp>
      <p:sp>
        <p:nvSpPr>
          <p:cNvPr id="34" name="TextBox 33"/>
          <p:cNvSpPr txBox="1"/>
          <p:nvPr/>
        </p:nvSpPr>
        <p:spPr>
          <a:xfrm>
            <a:off x="190500" y="26098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Strong in one or two regions</a:t>
            </a:r>
          </a:p>
        </p:txBody>
      </p:sp>
      <p:cxnSp>
        <p:nvCxnSpPr>
          <p:cNvPr id="35" name="Connector 34"/>
          <p:cNvCxnSpPr/>
          <p:nvPr/>
        </p:nvCxnSpPr>
        <p:spPr>
          <a:xfrm>
            <a:off x="190500" y="24003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647825" y="24193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108575" y="24193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5194300" y="24765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94300" y="2466975"/>
            <a:ext cx="142875" cy="161925"/>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0" name="TextBox 39"/>
          <p:cNvSpPr txBox="1"/>
          <p:nvPr/>
        </p:nvSpPr>
        <p:spPr>
          <a:xfrm>
            <a:off x="5384800" y="24574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BASF</a:t>
            </a:r>
          </a:p>
        </p:txBody>
      </p:sp>
      <p:sp>
        <p:nvSpPr>
          <p:cNvPr id="41" name="Rectangle 40"/>
          <p:cNvSpPr/>
          <p:nvPr/>
        </p:nvSpPr>
        <p:spPr>
          <a:xfrm>
            <a:off x="5194300" y="26670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94300" y="2657475"/>
            <a:ext cx="142875" cy="161925"/>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3" name="TextBox 42"/>
          <p:cNvSpPr txBox="1"/>
          <p:nvPr/>
        </p:nvSpPr>
        <p:spPr>
          <a:xfrm>
            <a:off x="5384800" y="26479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RPM International</a:t>
            </a:r>
          </a:p>
        </p:txBody>
      </p:sp>
      <p:cxnSp>
        <p:nvCxnSpPr>
          <p:cNvPr id="44" name="Connector 43"/>
          <p:cNvCxnSpPr/>
          <p:nvPr/>
        </p:nvCxnSpPr>
        <p:spPr>
          <a:xfrm>
            <a:off x="8569325" y="24193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90500" y="34671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Local or niche (4)</a:t>
            </a:r>
          </a:p>
        </p:txBody>
      </p:sp>
      <p:sp>
        <p:nvSpPr>
          <p:cNvPr id="46" name="TextBox 45"/>
          <p:cNvSpPr txBox="1"/>
          <p:nvPr/>
        </p:nvSpPr>
        <p:spPr>
          <a:xfrm>
            <a:off x="190500" y="36385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One market or one specialist use</a:t>
            </a:r>
          </a:p>
        </p:txBody>
      </p:sp>
      <p:cxnSp>
        <p:nvCxnSpPr>
          <p:cNvPr id="47" name="Connector 46"/>
          <p:cNvCxnSpPr/>
          <p:nvPr/>
        </p:nvCxnSpPr>
        <p:spPr>
          <a:xfrm>
            <a:off x="190500" y="34290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647825" y="34480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108575" y="34480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569325" y="34480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8655050" y="35052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55050" y="34956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3" name="TextBox 52"/>
          <p:cNvSpPr txBox="1"/>
          <p:nvPr/>
        </p:nvSpPr>
        <p:spPr>
          <a:xfrm>
            <a:off x="8845550" y="34861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Saint-Gobain</a:t>
            </a:r>
          </a:p>
        </p:txBody>
      </p:sp>
      <p:sp>
        <p:nvSpPr>
          <p:cNvPr id="54" name="Rectangle 53"/>
          <p:cNvSpPr/>
          <p:nvPr/>
        </p:nvSpPr>
        <p:spPr>
          <a:xfrm>
            <a:off x="8655050" y="36957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55050" y="36861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6" name="TextBox 55"/>
          <p:cNvSpPr txBox="1"/>
          <p:nvPr/>
        </p:nvSpPr>
        <p:spPr>
          <a:xfrm>
            <a:off x="8845550" y="36766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Mapei</a:t>
            </a:r>
          </a:p>
        </p:txBody>
      </p:sp>
      <p:sp>
        <p:nvSpPr>
          <p:cNvPr id="57" name="Rectangle 56"/>
          <p:cNvSpPr/>
          <p:nvPr/>
        </p:nvSpPr>
        <p:spPr>
          <a:xfrm>
            <a:off x="8655050" y="38862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655050" y="38766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9" name="TextBox 58"/>
          <p:cNvSpPr txBox="1"/>
          <p:nvPr/>
        </p:nvSpPr>
        <p:spPr>
          <a:xfrm>
            <a:off x="8845550" y="38671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Henkel AG &amp; Co. KGaA</a:t>
            </a:r>
          </a:p>
        </p:txBody>
      </p:sp>
      <p:sp>
        <p:nvSpPr>
          <p:cNvPr id="60" name="Rectangle 59"/>
          <p:cNvSpPr/>
          <p:nvPr/>
        </p:nvSpPr>
        <p:spPr>
          <a:xfrm>
            <a:off x="8655050" y="40767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655050" y="40671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62" name="TextBox 61"/>
          <p:cNvSpPr txBox="1"/>
          <p:nvPr/>
        </p:nvSpPr>
        <p:spPr>
          <a:xfrm>
            <a:off x="8845550" y="40576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Dow</a:t>
            </a:r>
          </a:p>
        </p:txBody>
      </p:sp>
      <p:sp>
        <p:nvSpPr>
          <p:cNvPr id="63" name="Rectangle 62"/>
          <p:cNvSpPr/>
          <p:nvPr/>
        </p:nvSpPr>
        <p:spPr>
          <a:xfrm>
            <a:off x="190500" y="4524375"/>
            <a:ext cx="123825" cy="1238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6195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1</a:t>
            </a:r>
          </a:p>
        </p:txBody>
      </p:sp>
      <p:sp>
        <p:nvSpPr>
          <p:cNvPr id="65" name="TextBox 64"/>
          <p:cNvSpPr txBox="1"/>
          <p:nvPr/>
        </p:nvSpPr>
        <p:spPr>
          <a:xfrm>
            <a:off x="81915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66" name="TextBox 65"/>
          <p:cNvSpPr txBox="1"/>
          <p:nvPr/>
        </p:nvSpPr>
        <p:spPr>
          <a:xfrm>
            <a:off x="144780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67" name="Rectangle 66"/>
          <p:cNvSpPr/>
          <p:nvPr/>
        </p:nvSpPr>
        <p:spPr>
          <a:xfrm>
            <a:off x="2952750" y="4524375"/>
            <a:ext cx="123825" cy="1238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12420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2</a:t>
            </a:r>
          </a:p>
        </p:txBody>
      </p:sp>
      <p:sp>
        <p:nvSpPr>
          <p:cNvPr id="69" name="TextBox 68"/>
          <p:cNvSpPr txBox="1"/>
          <p:nvPr/>
        </p:nvSpPr>
        <p:spPr>
          <a:xfrm>
            <a:off x="358140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70" name="TextBox 69"/>
          <p:cNvSpPr txBox="1"/>
          <p:nvPr/>
        </p:nvSpPr>
        <p:spPr>
          <a:xfrm>
            <a:off x="421005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71" name="Rectangle 70"/>
          <p:cNvSpPr/>
          <p:nvPr/>
        </p:nvSpPr>
        <p:spPr>
          <a:xfrm>
            <a:off x="5715000" y="4524375"/>
            <a:ext cx="123825" cy="1238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88645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3</a:t>
            </a:r>
          </a:p>
        </p:txBody>
      </p:sp>
      <p:sp>
        <p:nvSpPr>
          <p:cNvPr id="73" name="TextBox 72"/>
          <p:cNvSpPr txBox="1"/>
          <p:nvPr/>
        </p:nvSpPr>
        <p:spPr>
          <a:xfrm>
            <a:off x="634365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74" name="TextBox 73"/>
          <p:cNvSpPr txBox="1"/>
          <p:nvPr/>
        </p:nvSpPr>
        <p:spPr>
          <a:xfrm>
            <a:off x="697230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75" name="TextBox 74"/>
          <p:cNvSpPr txBox="1"/>
          <p:nvPr/>
        </p:nvSpPr>
        <p:spPr>
          <a:xfrm>
            <a:off x="190500" y="4705350"/>
            <a:ext cx="11811000" cy="171450"/>
          </a:xfrm>
          <a:prstGeom prst="rect">
            <a:avLst/>
          </a:prstGeom>
          <a:noFill/>
        </p:spPr>
        <p:txBody>
          <a:bodyPr wrap="square" lIns="28575" rIns="28575" tIns="9525" bIns="9525" anchor="t">
            <a:spAutoFit/>
          </a:bodyPr>
          <a:lstStyle/>
          <a:p>
            <a:pPr algn="l"/>
            <a:r>
              <a:rPr sz="1100" b="0">
                <a:solidFill>
                  <a:srgbClr val="1F2933"/>
                </a:solidFill>
                <a:latin typeface="Calibri"/>
              </a:rPr>
              <a:t>BY TYPE   Tier 1 4   |   Tier 2 2   |   Tier 3 4      BY REACH   Global 4   |   Regional 2   |   Local or niche 4</a:t>
            </a:r>
          </a:p>
        </p:txBody>
      </p:sp>
      <p:sp>
        <p:nvSpPr>
          <p:cNvPr id="76" name="Rectangle 75"/>
          <p:cNvSpPr/>
          <p:nvPr/>
        </p:nvSpPr>
        <p:spPr>
          <a:xfrm>
            <a:off x="190500" y="4972050"/>
            <a:ext cx="2809875" cy="38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90500"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1</a:t>
            </a:r>
          </a:p>
        </p:txBody>
      </p:sp>
      <p:sp>
        <p:nvSpPr>
          <p:cNvPr id="78" name="TextBox 77"/>
          <p:cNvSpPr txBox="1"/>
          <p:nvPr/>
        </p:nvSpPr>
        <p:spPr>
          <a:xfrm>
            <a:off x="190500"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79" name="TextBox 78"/>
          <p:cNvSpPr txBox="1"/>
          <p:nvPr/>
        </p:nvSpPr>
        <p:spPr>
          <a:xfrm>
            <a:off x="190500"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Direct + key accounts; premium / bundled positioning.</a:t>
            </a:r>
          </a:p>
        </p:txBody>
      </p:sp>
      <p:sp>
        <p:nvSpPr>
          <p:cNvPr id="80" name="TextBox 79"/>
          <p:cNvSpPr txBox="1"/>
          <p:nvPr/>
        </p:nvSpPr>
        <p:spPr>
          <a:xfrm>
            <a:off x="190500"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81" name="TextBox 80"/>
          <p:cNvSpPr txBox="1"/>
          <p:nvPr/>
        </p:nvSpPr>
        <p:spPr>
          <a:xfrm>
            <a:off x="190500"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82" name="Rectangle 81"/>
          <p:cNvSpPr/>
          <p:nvPr/>
        </p:nvSpPr>
        <p:spPr>
          <a:xfrm>
            <a:off x="3190875" y="4972050"/>
            <a:ext cx="2809875" cy="38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190875"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2</a:t>
            </a:r>
          </a:p>
        </p:txBody>
      </p:sp>
      <p:sp>
        <p:nvSpPr>
          <p:cNvPr id="84" name="TextBox 83"/>
          <p:cNvSpPr txBox="1"/>
          <p:nvPr/>
        </p:nvSpPr>
        <p:spPr>
          <a:xfrm>
            <a:off x="3190875"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85" name="TextBox 84"/>
          <p:cNvSpPr txBox="1"/>
          <p:nvPr/>
        </p:nvSpPr>
        <p:spPr>
          <a:xfrm>
            <a:off x="3190875"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Distributors; mid / value-added positioning.</a:t>
            </a:r>
          </a:p>
        </p:txBody>
      </p:sp>
      <p:sp>
        <p:nvSpPr>
          <p:cNvPr id="86" name="TextBox 85"/>
          <p:cNvSpPr txBox="1"/>
          <p:nvPr/>
        </p:nvSpPr>
        <p:spPr>
          <a:xfrm>
            <a:off x="3190875"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87" name="TextBox 86"/>
          <p:cNvSpPr txBox="1"/>
          <p:nvPr/>
        </p:nvSpPr>
        <p:spPr>
          <a:xfrm>
            <a:off x="3190875"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88" name="Rectangle 87"/>
          <p:cNvSpPr/>
          <p:nvPr/>
        </p:nvSpPr>
        <p:spPr>
          <a:xfrm>
            <a:off x="6191250" y="4972050"/>
            <a:ext cx="2809875" cy="38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191250"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3</a:t>
            </a:r>
          </a:p>
        </p:txBody>
      </p:sp>
      <p:sp>
        <p:nvSpPr>
          <p:cNvPr id="90" name="TextBox 89"/>
          <p:cNvSpPr txBox="1"/>
          <p:nvPr/>
        </p:nvSpPr>
        <p:spPr>
          <a:xfrm>
            <a:off x="6191250"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91" name="TextBox 90"/>
          <p:cNvSpPr txBox="1"/>
          <p:nvPr/>
        </p:nvSpPr>
        <p:spPr>
          <a:xfrm>
            <a:off x="6191250"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Regional partners; value / entry positioning.</a:t>
            </a:r>
          </a:p>
        </p:txBody>
      </p:sp>
      <p:sp>
        <p:nvSpPr>
          <p:cNvPr id="92" name="TextBox 91"/>
          <p:cNvSpPr txBox="1"/>
          <p:nvPr/>
        </p:nvSpPr>
        <p:spPr>
          <a:xfrm>
            <a:off x="6191250"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93" name="TextBox 92"/>
          <p:cNvSpPr txBox="1"/>
          <p:nvPr/>
        </p:nvSpPr>
        <p:spPr>
          <a:xfrm>
            <a:off x="6191250"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94" name="TextBox 9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95" name="Picture 94" descr="lock.png"/>
          <p:cNvPicPr>
            <a:picLocks noChangeAspect="1"/>
          </p:cNvPicPr>
          <p:nvPr/>
        </p:nvPicPr>
        <p:blipFill>
          <a:blip r:embed="rId4"/>
          <a:stretch>
            <a:fillRect/>
          </a:stretch>
        </p:blipFill>
        <p:spPr>
          <a:xfrm>
            <a:off x="1059600" y="4487926"/>
            <a:ext cx="128699" cy="187198"/>
          </a:xfrm>
          <a:prstGeom prst="rect">
            <a:avLst/>
          </a:prstGeom>
        </p:spPr>
      </p:pic>
      <p:pic>
        <p:nvPicPr>
          <p:cNvPr id="96" name="Picture 95" descr="lock.png"/>
          <p:cNvPicPr>
            <a:picLocks noChangeAspect="1"/>
          </p:cNvPicPr>
          <p:nvPr/>
        </p:nvPicPr>
        <p:blipFill>
          <a:blip r:embed="rId4"/>
          <a:stretch>
            <a:fillRect/>
          </a:stretch>
        </p:blipFill>
        <p:spPr>
          <a:xfrm>
            <a:off x="3821850" y="4487926"/>
            <a:ext cx="128699" cy="187198"/>
          </a:xfrm>
          <a:prstGeom prst="rect">
            <a:avLst/>
          </a:prstGeom>
        </p:spPr>
      </p:pic>
      <p:pic>
        <p:nvPicPr>
          <p:cNvPr id="97" name="Picture 96" descr="lock.png"/>
          <p:cNvPicPr>
            <a:picLocks noChangeAspect="1"/>
          </p:cNvPicPr>
          <p:nvPr/>
        </p:nvPicPr>
        <p:blipFill>
          <a:blip r:embed="rId4"/>
          <a:stretch>
            <a:fillRect/>
          </a:stretch>
        </p:blipFill>
        <p:spPr>
          <a:xfrm>
            <a:off x="6584100" y="4487926"/>
            <a:ext cx="128699" cy="187198"/>
          </a:xfrm>
          <a:prstGeom prst="rect">
            <a:avLst/>
          </a:prstGeom>
        </p:spPr>
      </p:pic>
      <p:sp>
        <p:nvSpPr>
          <p:cNvPr id="98" name="TextBox 97"/>
          <p:cNvSpPr txBox="1"/>
          <p:nvPr/>
        </p:nvSpPr>
        <p:spPr>
          <a:xfrm>
            <a:off x="219075" y="5876925"/>
            <a:ext cx="792708" cy="186689"/>
          </a:xfrm>
          <a:prstGeom prst="rect">
            <a:avLst/>
          </a:prstGeom>
          <a:noFill/>
        </p:spPr>
        <p:txBody>
          <a:bodyPr wrap="none" lIns="0" rIns="0" tIns="0" bIns="0">
            <a:spAutoFit/>
          </a:bodyPr>
          <a:lstStyle/>
          <a:p>
            <a:r>
              <a:rPr sz="1100" b="0">
                <a:solidFill>
                  <a:srgbClr val="1F2933"/>
                </a:solidFill>
                <a:latin typeface="Calibri"/>
              </a:rPr>
              <a:t>Buy to scale;</a:t>
            </a:r>
          </a:p>
        </p:txBody>
      </p:sp>
      <p:pic>
        <p:nvPicPr>
          <p:cNvPr id="99" name="Picture 98" descr="lock.png"/>
          <p:cNvPicPr>
            <a:picLocks noChangeAspect="1"/>
          </p:cNvPicPr>
          <p:nvPr/>
        </p:nvPicPr>
        <p:blipFill>
          <a:blip r:embed="rId4"/>
          <a:stretch>
            <a:fillRect/>
          </a:stretch>
        </p:blipFill>
        <p:spPr>
          <a:xfrm>
            <a:off x="959834" y="5867145"/>
            <a:ext cx="128699" cy="187198"/>
          </a:xfrm>
          <a:prstGeom prst="rect">
            <a:avLst/>
          </a:prstGeom>
        </p:spPr>
      </p:pic>
      <p:sp>
        <p:nvSpPr>
          <p:cNvPr id="100" name="TextBox 99"/>
          <p:cNvSpPr txBox="1"/>
          <p:nvPr/>
        </p:nvSpPr>
        <p:spPr>
          <a:xfrm>
            <a:off x="1127330"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
        <p:nvSpPr>
          <p:cNvPr id="101" name="TextBox 100"/>
          <p:cNvSpPr txBox="1"/>
          <p:nvPr/>
        </p:nvSpPr>
        <p:spPr>
          <a:xfrm>
            <a:off x="3219450" y="5876925"/>
            <a:ext cx="792708" cy="186689"/>
          </a:xfrm>
          <a:prstGeom prst="rect">
            <a:avLst/>
          </a:prstGeom>
          <a:noFill/>
        </p:spPr>
        <p:txBody>
          <a:bodyPr wrap="none" lIns="0" rIns="0" tIns="0" bIns="0">
            <a:spAutoFit/>
          </a:bodyPr>
          <a:lstStyle/>
          <a:p>
            <a:r>
              <a:rPr sz="1100" b="0">
                <a:solidFill>
                  <a:srgbClr val="1F2933"/>
                </a:solidFill>
                <a:latin typeface="Calibri"/>
              </a:rPr>
              <a:t>Buy to scale;</a:t>
            </a:r>
          </a:p>
        </p:txBody>
      </p:sp>
      <p:pic>
        <p:nvPicPr>
          <p:cNvPr id="102" name="Picture 101" descr="lock.png"/>
          <p:cNvPicPr>
            <a:picLocks noChangeAspect="1"/>
          </p:cNvPicPr>
          <p:nvPr/>
        </p:nvPicPr>
        <p:blipFill>
          <a:blip r:embed="rId4"/>
          <a:stretch>
            <a:fillRect/>
          </a:stretch>
        </p:blipFill>
        <p:spPr>
          <a:xfrm>
            <a:off x="3960209" y="5867145"/>
            <a:ext cx="128699" cy="187198"/>
          </a:xfrm>
          <a:prstGeom prst="rect">
            <a:avLst/>
          </a:prstGeom>
        </p:spPr>
      </p:pic>
      <p:sp>
        <p:nvSpPr>
          <p:cNvPr id="103" name="TextBox 102"/>
          <p:cNvSpPr txBox="1"/>
          <p:nvPr/>
        </p:nvSpPr>
        <p:spPr>
          <a:xfrm>
            <a:off x="4127705"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
        <p:nvSpPr>
          <p:cNvPr id="104" name="TextBox 103"/>
          <p:cNvSpPr txBox="1"/>
          <p:nvPr/>
        </p:nvSpPr>
        <p:spPr>
          <a:xfrm>
            <a:off x="6219825" y="5876925"/>
            <a:ext cx="792708" cy="186689"/>
          </a:xfrm>
          <a:prstGeom prst="rect">
            <a:avLst/>
          </a:prstGeom>
          <a:noFill/>
        </p:spPr>
        <p:txBody>
          <a:bodyPr wrap="none" lIns="0" rIns="0" tIns="0" bIns="0">
            <a:spAutoFit/>
          </a:bodyPr>
          <a:lstStyle/>
          <a:p>
            <a:r>
              <a:rPr sz="1100" b="0">
                <a:solidFill>
                  <a:srgbClr val="1F2933"/>
                </a:solidFill>
                <a:latin typeface="Calibri"/>
              </a:rPr>
              <a:t>Buy to scale;</a:t>
            </a:r>
          </a:p>
        </p:txBody>
      </p:sp>
      <p:pic>
        <p:nvPicPr>
          <p:cNvPr id="105" name="Picture 104" descr="lock.png"/>
          <p:cNvPicPr>
            <a:picLocks noChangeAspect="1"/>
          </p:cNvPicPr>
          <p:nvPr/>
        </p:nvPicPr>
        <p:blipFill>
          <a:blip r:embed="rId4"/>
          <a:stretch>
            <a:fillRect/>
          </a:stretch>
        </p:blipFill>
        <p:spPr>
          <a:xfrm>
            <a:off x="6960584" y="5867145"/>
            <a:ext cx="128699" cy="187198"/>
          </a:xfrm>
          <a:prstGeom prst="rect">
            <a:avLst/>
          </a:prstGeom>
        </p:spPr>
      </p:pic>
      <p:sp>
        <p:nvSpPr>
          <p:cNvPr id="106" name="TextBox 105"/>
          <p:cNvSpPr txBox="1"/>
          <p:nvPr/>
        </p:nvSpPr>
        <p:spPr>
          <a:xfrm>
            <a:off x="7128080"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Waterproof Coatings Market Corporate Scorecard: Who They Are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Eight corporate Ps for every named competitor: ownership, strategy, breadth, presence, scale and performance</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1, CORPORATE: WHO THEY ARE</a:t>
            </a:r>
          </a:p>
        </p:txBody>
      </p:sp>
      <p:sp>
        <p:nvSpPr>
          <p:cNvPr id="12" name="TextBox 11"/>
          <p:cNvSpPr txBox="1"/>
          <p:nvPr/>
        </p:nvSpPr>
        <p:spPr>
          <a:xfrm>
            <a:off x="2038350" y="1295400"/>
            <a:ext cx="230505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Parent and ownership</a:t>
            </a:r>
          </a:p>
        </p:txBody>
      </p:sp>
      <p:sp>
        <p:nvSpPr>
          <p:cNvPr id="13" name="TextBox 12"/>
          <p:cNvSpPr txBox="1"/>
          <p:nvPr/>
        </p:nvSpPr>
        <p:spPr>
          <a:xfrm>
            <a:off x="2038350" y="1657350"/>
            <a:ext cx="230505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From the company roster</a:t>
            </a:r>
          </a:p>
        </p:txBody>
      </p:sp>
      <p:sp>
        <p:nvSpPr>
          <p:cNvPr id="14" name="TextBox 13"/>
          <p:cNvSpPr txBox="1"/>
          <p:nvPr/>
        </p:nvSpPr>
        <p:spPr>
          <a:xfrm>
            <a:off x="4419600" y="1295400"/>
            <a:ext cx="119380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Purpose (strategy)</a:t>
            </a:r>
          </a:p>
        </p:txBody>
      </p:sp>
      <p:sp>
        <p:nvSpPr>
          <p:cNvPr id="15" name="TextBox 14"/>
          <p:cNvSpPr txBox="1"/>
          <p:nvPr/>
        </p:nvSpPr>
        <p:spPr>
          <a:xfrm>
            <a:off x="4419600" y="1657350"/>
            <a:ext cx="119380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Dominant active move</a:t>
            </a:r>
          </a:p>
        </p:txBody>
      </p:sp>
      <p:sp>
        <p:nvSpPr>
          <p:cNvPr id="16" name="TextBox 15"/>
          <p:cNvSpPr txBox="1"/>
          <p:nvPr/>
        </p:nvSpPr>
        <p:spPr>
          <a:xfrm>
            <a:off x="5689600" y="1295400"/>
            <a:ext cx="98213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Portfolio breadth</a:t>
            </a:r>
          </a:p>
        </p:txBody>
      </p:sp>
      <p:sp>
        <p:nvSpPr>
          <p:cNvPr id="17" name="TextBox 16"/>
          <p:cNvSpPr txBox="1"/>
          <p:nvPr/>
        </p:nvSpPr>
        <p:spPr>
          <a:xfrm>
            <a:off x="5689600" y="1657350"/>
            <a:ext cx="98213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Sub-segments: 6+ 3, 4+ 2, 2+ 1</a:t>
            </a:r>
          </a:p>
        </p:txBody>
      </p:sp>
      <p:sp>
        <p:nvSpPr>
          <p:cNvPr id="18" name="TextBox 17"/>
          <p:cNvSpPr txBox="1"/>
          <p:nvPr/>
        </p:nvSpPr>
        <p:spPr>
          <a:xfrm>
            <a:off x="6747933" y="1295400"/>
            <a:ext cx="98213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Presence</a:t>
            </a:r>
          </a:p>
        </p:txBody>
      </p:sp>
      <p:sp>
        <p:nvSpPr>
          <p:cNvPr id="19" name="TextBox 18"/>
          <p:cNvSpPr txBox="1"/>
          <p:nvPr/>
        </p:nvSpPr>
        <p:spPr>
          <a:xfrm>
            <a:off x="6747933" y="1657350"/>
            <a:ext cx="98213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Global 3, regional 2, local 1</a:t>
            </a:r>
          </a:p>
        </p:txBody>
      </p:sp>
      <p:sp>
        <p:nvSpPr>
          <p:cNvPr id="20" name="TextBox 19"/>
          <p:cNvSpPr txBox="1"/>
          <p:nvPr/>
        </p:nvSpPr>
        <p:spPr>
          <a:xfrm>
            <a:off x="7806267" y="1295400"/>
            <a:ext cx="98213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Power (scale)</a:t>
            </a:r>
          </a:p>
        </p:txBody>
      </p:sp>
      <p:sp>
        <p:nvSpPr>
          <p:cNvPr id="21" name="TextBox 20"/>
          <p:cNvSpPr txBox="1"/>
          <p:nvPr/>
        </p:nvSpPr>
        <p:spPr>
          <a:xfrm>
            <a:off x="7806267" y="1657350"/>
            <a:ext cx="98213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Tier 1 = 3, 2 = 2, 3 = 1</a:t>
            </a:r>
          </a:p>
        </p:txBody>
      </p:sp>
      <p:sp>
        <p:nvSpPr>
          <p:cNvPr id="22" name="TextBox 21"/>
          <p:cNvSpPr txBox="1"/>
          <p:nvPr/>
        </p:nvSpPr>
        <p:spPr>
          <a:xfrm>
            <a:off x="8864600" y="1295400"/>
            <a:ext cx="98213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Performance</a:t>
            </a:r>
          </a:p>
        </p:txBody>
      </p:sp>
      <p:sp>
        <p:nvSpPr>
          <p:cNvPr id="23" name="TextBox 22"/>
          <p:cNvSpPr txBox="1"/>
          <p:nvPr/>
        </p:nvSpPr>
        <p:spPr>
          <a:xfrm>
            <a:off x="8864600" y="1657350"/>
            <a:ext cx="98213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
            </a:r>
          </a:p>
        </p:txBody>
      </p:sp>
      <p:sp>
        <p:nvSpPr>
          <p:cNvPr id="24" name="TextBox 23"/>
          <p:cNvSpPr txBox="1"/>
          <p:nvPr/>
        </p:nvSpPr>
        <p:spPr>
          <a:xfrm>
            <a:off x="9922933" y="1295400"/>
            <a:ext cx="98213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People</a:t>
            </a:r>
          </a:p>
        </p:txBody>
      </p:sp>
      <p:sp>
        <p:nvSpPr>
          <p:cNvPr id="25" name="TextBox 24"/>
          <p:cNvSpPr txBox="1"/>
          <p:nvPr/>
        </p:nvSpPr>
        <p:spPr>
          <a:xfrm>
            <a:off x="9922933" y="1657350"/>
            <a:ext cx="98213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Talent; not assessed</a:t>
            </a:r>
          </a:p>
        </p:txBody>
      </p:sp>
      <p:sp>
        <p:nvSpPr>
          <p:cNvPr id="26" name="TextBox 25"/>
          <p:cNvSpPr txBox="1"/>
          <p:nvPr/>
        </p:nvSpPr>
        <p:spPr>
          <a:xfrm>
            <a:off x="10981267" y="1295400"/>
            <a:ext cx="98213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Partnerships</a:t>
            </a:r>
          </a:p>
        </p:txBody>
      </p:sp>
      <p:sp>
        <p:nvSpPr>
          <p:cNvPr id="27" name="TextBox 26"/>
          <p:cNvSpPr txBox="1"/>
          <p:nvPr/>
        </p:nvSpPr>
        <p:spPr>
          <a:xfrm>
            <a:off x="10981267" y="1657350"/>
            <a:ext cx="98213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Named alliances</a:t>
            </a:r>
          </a:p>
        </p:txBody>
      </p:sp>
      <p:cxnSp>
        <p:nvCxnSpPr>
          <p:cNvPr id="28" name="Connector 27"/>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5750" y="22479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Sika</a:t>
            </a:r>
          </a:p>
        </p:txBody>
      </p:sp>
      <p:sp>
        <p:nvSpPr>
          <p:cNvPr id="31" name="TextBox 30"/>
          <p:cNvSpPr txBox="1"/>
          <p:nvPr/>
        </p:nvSpPr>
        <p:spPr>
          <a:xfrm>
            <a:off x="285750" y="24098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2" name="TextBox 31"/>
          <p:cNvSpPr txBox="1"/>
          <p:nvPr/>
        </p:nvSpPr>
        <p:spPr>
          <a:xfrm>
            <a:off x="2000250" y="2228850"/>
            <a:ext cx="238125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3" name="TextBox 32"/>
          <p:cNvSpPr txBox="1"/>
          <p:nvPr/>
        </p:nvSpPr>
        <p:spPr>
          <a:xfrm>
            <a:off x="4419600" y="22288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34" name="Oval 33"/>
          <p:cNvSpPr/>
          <p:nvPr/>
        </p:nvSpPr>
        <p:spPr>
          <a:xfrm>
            <a:off x="6104467"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162800"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221133"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279467"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84833" y="22288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9" name="TextBox 38"/>
          <p:cNvSpPr txBox="1"/>
          <p:nvPr/>
        </p:nvSpPr>
        <p:spPr>
          <a:xfrm>
            <a:off x="10943167" y="22288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40" name="Connector 39"/>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5750" y="25908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The Sherwin-Williams</a:t>
            </a:r>
          </a:p>
        </p:txBody>
      </p:sp>
      <p:sp>
        <p:nvSpPr>
          <p:cNvPr id="43" name="TextBox 42"/>
          <p:cNvSpPr txBox="1"/>
          <p:nvPr/>
        </p:nvSpPr>
        <p:spPr>
          <a:xfrm>
            <a:off x="285750" y="27527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4" name="TextBox 43"/>
          <p:cNvSpPr txBox="1"/>
          <p:nvPr/>
        </p:nvSpPr>
        <p:spPr>
          <a:xfrm>
            <a:off x="2000250" y="2571750"/>
            <a:ext cx="238125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5" name="TextBox 44"/>
          <p:cNvSpPr txBox="1"/>
          <p:nvPr/>
        </p:nvSpPr>
        <p:spPr>
          <a:xfrm>
            <a:off x="4419600" y="25717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46" name="Oval 45"/>
          <p:cNvSpPr/>
          <p:nvPr/>
        </p:nvSpPr>
        <p:spPr>
          <a:xfrm>
            <a:off x="6104467"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7162800"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221133"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279467"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884833" y="25717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1" name="TextBox 50"/>
          <p:cNvSpPr txBox="1"/>
          <p:nvPr/>
        </p:nvSpPr>
        <p:spPr>
          <a:xfrm>
            <a:off x="10943167" y="25717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52" name="Connector 51"/>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85750" y="29337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PPG Industries</a:t>
            </a:r>
          </a:p>
        </p:txBody>
      </p:sp>
      <p:sp>
        <p:nvSpPr>
          <p:cNvPr id="55" name="TextBox 54"/>
          <p:cNvSpPr txBox="1"/>
          <p:nvPr/>
        </p:nvSpPr>
        <p:spPr>
          <a:xfrm>
            <a:off x="285750" y="30956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6" name="TextBox 55"/>
          <p:cNvSpPr txBox="1"/>
          <p:nvPr/>
        </p:nvSpPr>
        <p:spPr>
          <a:xfrm>
            <a:off x="2000250" y="2914650"/>
            <a:ext cx="238125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7" name="TextBox 56"/>
          <p:cNvSpPr txBox="1"/>
          <p:nvPr/>
        </p:nvSpPr>
        <p:spPr>
          <a:xfrm>
            <a:off x="4419600" y="29146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58" name="Oval 57"/>
          <p:cNvSpPr/>
          <p:nvPr/>
        </p:nvSpPr>
        <p:spPr>
          <a:xfrm>
            <a:off x="6104467"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7162800"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8221133"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9279467"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reeform 61"/>
          <p:cNvSpPr/>
          <p:nvPr/>
        </p:nvSpPr>
        <p:spPr>
          <a:xfrm>
            <a:off x="9353550" y="3009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884833" y="29146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4" name="TextBox 63"/>
          <p:cNvSpPr txBox="1"/>
          <p:nvPr/>
        </p:nvSpPr>
        <p:spPr>
          <a:xfrm>
            <a:off x="10943167" y="29146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65" name="Connector 64"/>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85750" y="32766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Akzo Nobel</a:t>
            </a:r>
          </a:p>
        </p:txBody>
      </p:sp>
      <p:sp>
        <p:nvSpPr>
          <p:cNvPr id="68" name="TextBox 67"/>
          <p:cNvSpPr txBox="1"/>
          <p:nvPr/>
        </p:nvSpPr>
        <p:spPr>
          <a:xfrm>
            <a:off x="285750" y="34385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69" name="TextBox 68"/>
          <p:cNvSpPr txBox="1"/>
          <p:nvPr/>
        </p:nvSpPr>
        <p:spPr>
          <a:xfrm>
            <a:off x="2000250" y="3257550"/>
            <a:ext cx="238125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0" name="TextBox 69"/>
          <p:cNvSpPr txBox="1"/>
          <p:nvPr/>
        </p:nvSpPr>
        <p:spPr>
          <a:xfrm>
            <a:off x="4419600" y="32575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71" name="Oval 70"/>
          <p:cNvSpPr/>
          <p:nvPr/>
        </p:nvSpPr>
        <p:spPr>
          <a:xfrm>
            <a:off x="6104467"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6181725" y="3352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7162800"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8221133"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9279467"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9353550" y="3352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884833" y="32575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8" name="TextBox 77"/>
          <p:cNvSpPr txBox="1"/>
          <p:nvPr/>
        </p:nvSpPr>
        <p:spPr>
          <a:xfrm>
            <a:off x="10943167" y="32575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79" name="Connector 78"/>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0" name="Rectangle 79"/>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85750" y="36195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BASF</a:t>
            </a:r>
          </a:p>
        </p:txBody>
      </p:sp>
      <p:sp>
        <p:nvSpPr>
          <p:cNvPr id="82" name="TextBox 81"/>
          <p:cNvSpPr txBox="1"/>
          <p:nvPr/>
        </p:nvSpPr>
        <p:spPr>
          <a:xfrm>
            <a:off x="285750" y="37814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83" name="TextBox 82"/>
          <p:cNvSpPr txBox="1"/>
          <p:nvPr/>
        </p:nvSpPr>
        <p:spPr>
          <a:xfrm>
            <a:off x="2000250" y="3600450"/>
            <a:ext cx="238125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4" name="TextBox 83"/>
          <p:cNvSpPr txBox="1"/>
          <p:nvPr/>
        </p:nvSpPr>
        <p:spPr>
          <a:xfrm>
            <a:off x="4419600" y="36004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85" name="Oval 84"/>
          <p:cNvSpPr/>
          <p:nvPr/>
        </p:nvSpPr>
        <p:spPr>
          <a:xfrm>
            <a:off x="6104467"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6181725"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7162800"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reeform 87"/>
          <p:cNvSpPr/>
          <p:nvPr/>
        </p:nvSpPr>
        <p:spPr>
          <a:xfrm>
            <a:off x="7239000"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8221133"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reeform 89"/>
          <p:cNvSpPr/>
          <p:nvPr/>
        </p:nvSpPr>
        <p:spPr>
          <a:xfrm>
            <a:off x="8296275" y="3695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9279467"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Freeform 91"/>
          <p:cNvSpPr/>
          <p:nvPr/>
        </p:nvSpPr>
        <p:spPr>
          <a:xfrm>
            <a:off x="9353550" y="3695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884833" y="36004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4" name="TextBox 93"/>
          <p:cNvSpPr txBox="1"/>
          <p:nvPr/>
        </p:nvSpPr>
        <p:spPr>
          <a:xfrm>
            <a:off x="10943167" y="36004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95" name="Connector 94"/>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6" name="Rectangle 95"/>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85750" y="39624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RPM International</a:t>
            </a:r>
          </a:p>
        </p:txBody>
      </p:sp>
      <p:sp>
        <p:nvSpPr>
          <p:cNvPr id="98" name="TextBox 97"/>
          <p:cNvSpPr txBox="1"/>
          <p:nvPr/>
        </p:nvSpPr>
        <p:spPr>
          <a:xfrm>
            <a:off x="285750" y="41243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99" name="TextBox 98"/>
          <p:cNvSpPr txBox="1"/>
          <p:nvPr/>
        </p:nvSpPr>
        <p:spPr>
          <a:xfrm>
            <a:off x="2000250" y="3943350"/>
            <a:ext cx="238125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0" name="TextBox 99"/>
          <p:cNvSpPr txBox="1"/>
          <p:nvPr/>
        </p:nvSpPr>
        <p:spPr>
          <a:xfrm>
            <a:off x="4419600" y="39433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01" name="Oval 100"/>
          <p:cNvSpPr/>
          <p:nvPr/>
        </p:nvSpPr>
        <p:spPr>
          <a:xfrm>
            <a:off x="6104467"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Freeform 101"/>
          <p:cNvSpPr/>
          <p:nvPr/>
        </p:nvSpPr>
        <p:spPr>
          <a:xfrm>
            <a:off x="6181725"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7162800"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Freeform 103"/>
          <p:cNvSpPr/>
          <p:nvPr/>
        </p:nvSpPr>
        <p:spPr>
          <a:xfrm>
            <a:off x="7239000"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8221133"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Freeform 105"/>
          <p:cNvSpPr/>
          <p:nvPr/>
        </p:nvSpPr>
        <p:spPr>
          <a:xfrm>
            <a:off x="8296275"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9279467"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9353550"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9884833" y="39433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0" name="TextBox 109"/>
          <p:cNvSpPr txBox="1"/>
          <p:nvPr/>
        </p:nvSpPr>
        <p:spPr>
          <a:xfrm>
            <a:off x="10943167" y="39433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11" name="Connector 110"/>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2" name="Rectangle 111"/>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85750" y="43053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Saint-Gobain</a:t>
            </a:r>
          </a:p>
        </p:txBody>
      </p:sp>
      <p:sp>
        <p:nvSpPr>
          <p:cNvPr id="114" name="TextBox 113"/>
          <p:cNvSpPr txBox="1"/>
          <p:nvPr/>
        </p:nvSpPr>
        <p:spPr>
          <a:xfrm>
            <a:off x="285750" y="44672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5" name="TextBox 114"/>
          <p:cNvSpPr txBox="1"/>
          <p:nvPr/>
        </p:nvSpPr>
        <p:spPr>
          <a:xfrm>
            <a:off x="2000250" y="4286250"/>
            <a:ext cx="238125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6" name="TextBox 115"/>
          <p:cNvSpPr txBox="1"/>
          <p:nvPr/>
        </p:nvSpPr>
        <p:spPr>
          <a:xfrm>
            <a:off x="4419600" y="42862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117" name="Oval 116"/>
          <p:cNvSpPr/>
          <p:nvPr/>
        </p:nvSpPr>
        <p:spPr>
          <a:xfrm>
            <a:off x="6104467"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6181725" y="4381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7162800"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reeform 119"/>
          <p:cNvSpPr/>
          <p:nvPr/>
        </p:nvSpPr>
        <p:spPr>
          <a:xfrm>
            <a:off x="7239000" y="43815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8221133"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Freeform 121"/>
          <p:cNvSpPr/>
          <p:nvPr/>
        </p:nvSpPr>
        <p:spPr>
          <a:xfrm>
            <a:off x="8296275" y="43815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9279467"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Freeform 123"/>
          <p:cNvSpPr/>
          <p:nvPr/>
        </p:nvSpPr>
        <p:spPr>
          <a:xfrm>
            <a:off x="9353550" y="4381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9884833" y="42862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6" name="TextBox 125"/>
          <p:cNvSpPr txBox="1"/>
          <p:nvPr/>
        </p:nvSpPr>
        <p:spPr>
          <a:xfrm>
            <a:off x="10943167" y="42862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27" name="Connector 126"/>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8" name="Rectangle 127"/>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285750" y="46482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Mapei</a:t>
            </a:r>
          </a:p>
        </p:txBody>
      </p:sp>
      <p:sp>
        <p:nvSpPr>
          <p:cNvPr id="130" name="TextBox 129"/>
          <p:cNvSpPr txBox="1"/>
          <p:nvPr/>
        </p:nvSpPr>
        <p:spPr>
          <a:xfrm>
            <a:off x="285750" y="48101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31" name="TextBox 130"/>
          <p:cNvSpPr txBox="1"/>
          <p:nvPr/>
        </p:nvSpPr>
        <p:spPr>
          <a:xfrm>
            <a:off x="2000250" y="4629150"/>
            <a:ext cx="238125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32" name="TextBox 131"/>
          <p:cNvSpPr txBox="1"/>
          <p:nvPr/>
        </p:nvSpPr>
        <p:spPr>
          <a:xfrm>
            <a:off x="4419600" y="46291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33" name="Oval 132"/>
          <p:cNvSpPr/>
          <p:nvPr/>
        </p:nvSpPr>
        <p:spPr>
          <a:xfrm>
            <a:off x="6104467"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reeform 133"/>
          <p:cNvSpPr/>
          <p:nvPr/>
        </p:nvSpPr>
        <p:spPr>
          <a:xfrm>
            <a:off x="6181725" y="4724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7162800"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Freeform 135"/>
          <p:cNvSpPr/>
          <p:nvPr/>
        </p:nvSpPr>
        <p:spPr>
          <a:xfrm>
            <a:off x="7239000" y="47244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8221133"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Freeform 137"/>
          <p:cNvSpPr/>
          <p:nvPr/>
        </p:nvSpPr>
        <p:spPr>
          <a:xfrm>
            <a:off x="8296275" y="47244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9279467"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9353550" y="47244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9884833" y="46291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42" name="TextBox 141"/>
          <p:cNvSpPr txBox="1"/>
          <p:nvPr/>
        </p:nvSpPr>
        <p:spPr>
          <a:xfrm>
            <a:off x="10943167" y="46291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43" name="Connector 142"/>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44" name="Rectangle 143"/>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285750" y="49911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Henkel AG &amp; Co. KGaA</a:t>
            </a:r>
          </a:p>
        </p:txBody>
      </p:sp>
      <p:sp>
        <p:nvSpPr>
          <p:cNvPr id="146" name="TextBox 145"/>
          <p:cNvSpPr txBox="1"/>
          <p:nvPr/>
        </p:nvSpPr>
        <p:spPr>
          <a:xfrm>
            <a:off x="285750" y="51530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47" name="TextBox 146"/>
          <p:cNvSpPr txBox="1"/>
          <p:nvPr/>
        </p:nvSpPr>
        <p:spPr>
          <a:xfrm>
            <a:off x="2000250" y="4972050"/>
            <a:ext cx="238125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48" name="TextBox 147"/>
          <p:cNvSpPr txBox="1"/>
          <p:nvPr/>
        </p:nvSpPr>
        <p:spPr>
          <a:xfrm>
            <a:off x="4419600" y="49720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149" name="Oval 148"/>
          <p:cNvSpPr/>
          <p:nvPr/>
        </p:nvSpPr>
        <p:spPr>
          <a:xfrm>
            <a:off x="6104467"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Freeform 149"/>
          <p:cNvSpPr/>
          <p:nvPr/>
        </p:nvSpPr>
        <p:spPr>
          <a:xfrm>
            <a:off x="6181725" y="5067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7162800"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Freeform 151"/>
          <p:cNvSpPr/>
          <p:nvPr/>
        </p:nvSpPr>
        <p:spPr>
          <a:xfrm>
            <a:off x="7239000" y="50673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8221133"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Freeform 153"/>
          <p:cNvSpPr/>
          <p:nvPr/>
        </p:nvSpPr>
        <p:spPr>
          <a:xfrm>
            <a:off x="8296275" y="50673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9279467"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Freeform 155"/>
          <p:cNvSpPr/>
          <p:nvPr/>
        </p:nvSpPr>
        <p:spPr>
          <a:xfrm>
            <a:off x="9353550" y="50673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9884833" y="49720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58" name="TextBox 157"/>
          <p:cNvSpPr txBox="1"/>
          <p:nvPr/>
        </p:nvSpPr>
        <p:spPr>
          <a:xfrm>
            <a:off x="10943167" y="49720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59" name="Connector 158"/>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60" name="Rectangle 159"/>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285750" y="53340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Dow</a:t>
            </a:r>
          </a:p>
        </p:txBody>
      </p:sp>
      <p:sp>
        <p:nvSpPr>
          <p:cNvPr id="162" name="TextBox 161"/>
          <p:cNvSpPr txBox="1"/>
          <p:nvPr/>
        </p:nvSpPr>
        <p:spPr>
          <a:xfrm>
            <a:off x="285750" y="54959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63" name="TextBox 162"/>
          <p:cNvSpPr txBox="1"/>
          <p:nvPr/>
        </p:nvSpPr>
        <p:spPr>
          <a:xfrm>
            <a:off x="2000250" y="5314950"/>
            <a:ext cx="238125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64" name="TextBox 163"/>
          <p:cNvSpPr txBox="1"/>
          <p:nvPr/>
        </p:nvSpPr>
        <p:spPr>
          <a:xfrm>
            <a:off x="4419600" y="53149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65" name="Oval 164"/>
          <p:cNvSpPr/>
          <p:nvPr/>
        </p:nvSpPr>
        <p:spPr>
          <a:xfrm>
            <a:off x="6104467"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Freeform 165"/>
          <p:cNvSpPr/>
          <p:nvPr/>
        </p:nvSpPr>
        <p:spPr>
          <a:xfrm>
            <a:off x="6181725" y="5410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7162800"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Freeform 167"/>
          <p:cNvSpPr/>
          <p:nvPr/>
        </p:nvSpPr>
        <p:spPr>
          <a:xfrm>
            <a:off x="7239000" y="54102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8221133"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Freeform 169"/>
          <p:cNvSpPr/>
          <p:nvPr/>
        </p:nvSpPr>
        <p:spPr>
          <a:xfrm>
            <a:off x="8296275" y="54102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9279467"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Freeform 171"/>
          <p:cNvSpPr/>
          <p:nvPr/>
        </p:nvSpPr>
        <p:spPr>
          <a:xfrm>
            <a:off x="9353550" y="54102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9884833" y="53149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74" name="TextBox 173"/>
          <p:cNvSpPr txBox="1"/>
          <p:nvPr/>
        </p:nvSpPr>
        <p:spPr>
          <a:xfrm>
            <a:off x="10943167" y="53149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75" name="Connector 174"/>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76" name="Oval 175"/>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78" name="Oval 177"/>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Freeform 178"/>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81" name="Oval 180"/>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Freeform 181"/>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84" name="Oval 183"/>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86" name="TextBox 185"/>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87" name="TextBox 186"/>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4 of 10 named players compete globally; scale and share follow the tier structure.</a:t>
            </a:r>
          </a:p>
        </p:txBody>
      </p:sp>
      <p:sp>
        <p:nvSpPr>
          <p:cNvPr id="188" name="TextBox 18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189" name="TextBox 188"/>
          <p:cNvSpPr txBox="1"/>
          <p:nvPr/>
        </p:nvSpPr>
        <p:spPr>
          <a:xfrm>
            <a:off x="8893175" y="1666875"/>
            <a:ext cx="398983" cy="186689"/>
          </a:xfrm>
          <a:prstGeom prst="rect">
            <a:avLst/>
          </a:prstGeom>
          <a:noFill/>
        </p:spPr>
        <p:txBody>
          <a:bodyPr wrap="none" lIns="0" rIns="0" tIns="0" bIns="0">
            <a:spAutoFit/>
          </a:bodyPr>
          <a:lstStyle/>
          <a:p>
            <a:r>
              <a:rPr sz="1100" b="0">
                <a:solidFill>
                  <a:srgbClr val="5F6B7A"/>
                </a:solidFill>
                <a:latin typeface="Calibri"/>
              </a:rPr>
              <a:t>Share</a:t>
            </a:r>
          </a:p>
        </p:txBody>
      </p:sp>
      <p:pic>
        <p:nvPicPr>
          <p:cNvPr id="190" name="Picture 189" descr="lock.png"/>
          <p:cNvPicPr>
            <a:picLocks noChangeAspect="1"/>
          </p:cNvPicPr>
          <p:nvPr/>
        </p:nvPicPr>
        <p:blipFill>
          <a:blip r:embed="rId4"/>
          <a:stretch>
            <a:fillRect/>
          </a:stretch>
        </p:blipFill>
        <p:spPr>
          <a:xfrm>
            <a:off x="9240209" y="1657096"/>
            <a:ext cx="128699" cy="187198"/>
          </a:xfrm>
          <a:prstGeom prst="rect">
            <a:avLst/>
          </a:prstGeom>
        </p:spPr>
      </p:pic>
      <p:sp>
        <p:nvSpPr>
          <p:cNvPr id="191" name="TextBox 190"/>
          <p:cNvSpPr txBox="1"/>
          <p:nvPr/>
        </p:nvSpPr>
        <p:spPr>
          <a:xfrm>
            <a:off x="9407705" y="1666875"/>
            <a:ext cx="384522" cy="186689"/>
          </a:xfrm>
          <a:prstGeom prst="rect">
            <a:avLst/>
          </a:prstGeom>
          <a:noFill/>
        </p:spPr>
        <p:txBody>
          <a:bodyPr wrap="none" lIns="0" rIns="0" tIns="0" bIns="0">
            <a:spAutoFit/>
          </a:bodyPr>
          <a:lstStyle/>
          <a:p>
            <a:r>
              <a:rPr sz="1100" b="0">
                <a:solidFill>
                  <a:srgbClr val="5F6B7A"/>
                </a:solidFill>
                <a:latin typeface="Calibri"/>
              </a:rPr>
              <a:t>+ = 3,</a:t>
            </a:r>
          </a:p>
        </p:txBody>
      </p:sp>
      <p:pic>
        <p:nvPicPr>
          <p:cNvPr id="192" name="Picture 191" descr="lock.png"/>
          <p:cNvPicPr>
            <a:picLocks noChangeAspect="1"/>
          </p:cNvPicPr>
          <p:nvPr/>
        </p:nvPicPr>
        <p:blipFill>
          <a:blip r:embed="rId4"/>
          <a:stretch>
            <a:fillRect/>
          </a:stretch>
        </p:blipFill>
        <p:spPr>
          <a:xfrm>
            <a:off x="8879707" y="1824736"/>
            <a:ext cx="128699" cy="187198"/>
          </a:xfrm>
          <a:prstGeom prst="rect">
            <a:avLst/>
          </a:prstGeom>
        </p:spPr>
      </p:pic>
      <p:sp>
        <p:nvSpPr>
          <p:cNvPr id="193" name="TextBox 192"/>
          <p:cNvSpPr txBox="1"/>
          <p:nvPr/>
        </p:nvSpPr>
        <p:spPr>
          <a:xfrm>
            <a:off x="9047203" y="1834515"/>
            <a:ext cx="643458" cy="186689"/>
          </a:xfrm>
          <a:prstGeom prst="rect">
            <a:avLst/>
          </a:prstGeom>
          <a:noFill/>
        </p:spPr>
        <p:txBody>
          <a:bodyPr wrap="none" lIns="0" rIns="0" tIns="0" bIns="0">
            <a:spAutoFit/>
          </a:bodyPr>
          <a:lstStyle/>
          <a:p>
            <a:r>
              <a:rPr sz="1100" b="0">
                <a:solidFill>
                  <a:srgbClr val="5F6B7A"/>
                </a:solidFill>
                <a:latin typeface="Calibri"/>
              </a:rPr>
              <a:t>= 2, else 1</a:t>
            </a:r>
          </a:p>
        </p:txBody>
      </p:sp>
      <p:pic>
        <p:nvPicPr>
          <p:cNvPr id="194" name="Picture 193" descr="lock.png"/>
          <p:cNvPicPr>
            <a:picLocks noChangeAspect="1"/>
          </p:cNvPicPr>
          <p:nvPr/>
        </p:nvPicPr>
        <p:blipFill>
          <a:blip r:embed="rId4"/>
          <a:stretch>
            <a:fillRect/>
          </a:stretch>
        </p:blipFill>
        <p:spPr>
          <a:xfrm>
            <a:off x="3126525" y="2306701"/>
            <a:ext cx="128699" cy="187198"/>
          </a:xfrm>
          <a:prstGeom prst="rect">
            <a:avLst/>
          </a:prstGeom>
        </p:spPr>
      </p:pic>
      <p:pic>
        <p:nvPicPr>
          <p:cNvPr id="195" name="Picture 194" descr="lock.png"/>
          <p:cNvPicPr>
            <a:picLocks noChangeAspect="1"/>
          </p:cNvPicPr>
          <p:nvPr/>
        </p:nvPicPr>
        <p:blipFill>
          <a:blip r:embed="rId4"/>
          <a:stretch>
            <a:fillRect/>
          </a:stretch>
        </p:blipFill>
        <p:spPr>
          <a:xfrm>
            <a:off x="10349650" y="2306701"/>
            <a:ext cx="128699" cy="187198"/>
          </a:xfrm>
          <a:prstGeom prst="rect">
            <a:avLst/>
          </a:prstGeom>
        </p:spPr>
      </p:pic>
      <p:pic>
        <p:nvPicPr>
          <p:cNvPr id="196" name="Picture 195" descr="lock.png"/>
          <p:cNvPicPr>
            <a:picLocks noChangeAspect="1"/>
          </p:cNvPicPr>
          <p:nvPr/>
        </p:nvPicPr>
        <p:blipFill>
          <a:blip r:embed="rId4"/>
          <a:stretch>
            <a:fillRect/>
          </a:stretch>
        </p:blipFill>
        <p:spPr>
          <a:xfrm>
            <a:off x="11407984" y="2306701"/>
            <a:ext cx="128699" cy="187198"/>
          </a:xfrm>
          <a:prstGeom prst="rect">
            <a:avLst/>
          </a:prstGeom>
        </p:spPr>
      </p:pic>
      <p:pic>
        <p:nvPicPr>
          <p:cNvPr id="197" name="Picture 196" descr="lock.png"/>
          <p:cNvPicPr>
            <a:picLocks noChangeAspect="1"/>
          </p:cNvPicPr>
          <p:nvPr/>
        </p:nvPicPr>
        <p:blipFill>
          <a:blip r:embed="rId4"/>
          <a:stretch>
            <a:fillRect/>
          </a:stretch>
        </p:blipFill>
        <p:spPr>
          <a:xfrm>
            <a:off x="3126525" y="2649601"/>
            <a:ext cx="128699" cy="187198"/>
          </a:xfrm>
          <a:prstGeom prst="rect">
            <a:avLst/>
          </a:prstGeom>
        </p:spPr>
      </p:pic>
      <p:pic>
        <p:nvPicPr>
          <p:cNvPr id="198" name="Picture 197" descr="lock.png"/>
          <p:cNvPicPr>
            <a:picLocks noChangeAspect="1"/>
          </p:cNvPicPr>
          <p:nvPr/>
        </p:nvPicPr>
        <p:blipFill>
          <a:blip r:embed="rId4"/>
          <a:stretch>
            <a:fillRect/>
          </a:stretch>
        </p:blipFill>
        <p:spPr>
          <a:xfrm>
            <a:off x="10349650" y="2649601"/>
            <a:ext cx="128699" cy="187198"/>
          </a:xfrm>
          <a:prstGeom prst="rect">
            <a:avLst/>
          </a:prstGeom>
        </p:spPr>
      </p:pic>
      <p:pic>
        <p:nvPicPr>
          <p:cNvPr id="199" name="Picture 198" descr="lock.png"/>
          <p:cNvPicPr>
            <a:picLocks noChangeAspect="1"/>
          </p:cNvPicPr>
          <p:nvPr/>
        </p:nvPicPr>
        <p:blipFill>
          <a:blip r:embed="rId4"/>
          <a:stretch>
            <a:fillRect/>
          </a:stretch>
        </p:blipFill>
        <p:spPr>
          <a:xfrm>
            <a:off x="11407984" y="2649601"/>
            <a:ext cx="128699" cy="187198"/>
          </a:xfrm>
          <a:prstGeom prst="rect">
            <a:avLst/>
          </a:prstGeom>
        </p:spPr>
      </p:pic>
      <p:pic>
        <p:nvPicPr>
          <p:cNvPr id="200" name="Picture 199" descr="lock.png"/>
          <p:cNvPicPr>
            <a:picLocks noChangeAspect="1"/>
          </p:cNvPicPr>
          <p:nvPr/>
        </p:nvPicPr>
        <p:blipFill>
          <a:blip r:embed="rId4"/>
          <a:stretch>
            <a:fillRect/>
          </a:stretch>
        </p:blipFill>
        <p:spPr>
          <a:xfrm>
            <a:off x="3126525" y="2992501"/>
            <a:ext cx="128699" cy="187198"/>
          </a:xfrm>
          <a:prstGeom prst="rect">
            <a:avLst/>
          </a:prstGeom>
        </p:spPr>
      </p:pic>
      <p:pic>
        <p:nvPicPr>
          <p:cNvPr id="201" name="Picture 200" descr="lock.png"/>
          <p:cNvPicPr>
            <a:picLocks noChangeAspect="1"/>
          </p:cNvPicPr>
          <p:nvPr/>
        </p:nvPicPr>
        <p:blipFill>
          <a:blip r:embed="rId4"/>
          <a:stretch>
            <a:fillRect/>
          </a:stretch>
        </p:blipFill>
        <p:spPr>
          <a:xfrm>
            <a:off x="10349650" y="2992501"/>
            <a:ext cx="128699" cy="187198"/>
          </a:xfrm>
          <a:prstGeom prst="rect">
            <a:avLst/>
          </a:prstGeom>
        </p:spPr>
      </p:pic>
      <p:pic>
        <p:nvPicPr>
          <p:cNvPr id="202" name="Picture 201" descr="lock.png"/>
          <p:cNvPicPr>
            <a:picLocks noChangeAspect="1"/>
          </p:cNvPicPr>
          <p:nvPr/>
        </p:nvPicPr>
        <p:blipFill>
          <a:blip r:embed="rId4"/>
          <a:stretch>
            <a:fillRect/>
          </a:stretch>
        </p:blipFill>
        <p:spPr>
          <a:xfrm>
            <a:off x="11407984" y="2992501"/>
            <a:ext cx="128699" cy="187198"/>
          </a:xfrm>
          <a:prstGeom prst="rect">
            <a:avLst/>
          </a:prstGeom>
        </p:spPr>
      </p:pic>
      <p:pic>
        <p:nvPicPr>
          <p:cNvPr id="203" name="Picture 202" descr="lock.png"/>
          <p:cNvPicPr>
            <a:picLocks noChangeAspect="1"/>
          </p:cNvPicPr>
          <p:nvPr/>
        </p:nvPicPr>
        <p:blipFill>
          <a:blip r:embed="rId4"/>
          <a:stretch>
            <a:fillRect/>
          </a:stretch>
        </p:blipFill>
        <p:spPr>
          <a:xfrm>
            <a:off x="3126525" y="3335401"/>
            <a:ext cx="128699" cy="187198"/>
          </a:xfrm>
          <a:prstGeom prst="rect">
            <a:avLst/>
          </a:prstGeom>
        </p:spPr>
      </p:pic>
      <p:pic>
        <p:nvPicPr>
          <p:cNvPr id="204" name="Picture 203" descr="lock.png"/>
          <p:cNvPicPr>
            <a:picLocks noChangeAspect="1"/>
          </p:cNvPicPr>
          <p:nvPr/>
        </p:nvPicPr>
        <p:blipFill>
          <a:blip r:embed="rId4"/>
          <a:stretch>
            <a:fillRect/>
          </a:stretch>
        </p:blipFill>
        <p:spPr>
          <a:xfrm>
            <a:off x="10349650" y="3335401"/>
            <a:ext cx="128699" cy="187198"/>
          </a:xfrm>
          <a:prstGeom prst="rect">
            <a:avLst/>
          </a:prstGeom>
        </p:spPr>
      </p:pic>
      <p:pic>
        <p:nvPicPr>
          <p:cNvPr id="205" name="Picture 204" descr="lock.png"/>
          <p:cNvPicPr>
            <a:picLocks noChangeAspect="1"/>
          </p:cNvPicPr>
          <p:nvPr/>
        </p:nvPicPr>
        <p:blipFill>
          <a:blip r:embed="rId4"/>
          <a:stretch>
            <a:fillRect/>
          </a:stretch>
        </p:blipFill>
        <p:spPr>
          <a:xfrm>
            <a:off x="11407984" y="3335401"/>
            <a:ext cx="128699" cy="187198"/>
          </a:xfrm>
          <a:prstGeom prst="rect">
            <a:avLst/>
          </a:prstGeom>
        </p:spPr>
      </p:pic>
      <p:pic>
        <p:nvPicPr>
          <p:cNvPr id="206" name="Picture 205" descr="lock.png"/>
          <p:cNvPicPr>
            <a:picLocks noChangeAspect="1"/>
          </p:cNvPicPr>
          <p:nvPr/>
        </p:nvPicPr>
        <p:blipFill>
          <a:blip r:embed="rId4"/>
          <a:stretch>
            <a:fillRect/>
          </a:stretch>
        </p:blipFill>
        <p:spPr>
          <a:xfrm>
            <a:off x="3126525" y="3678301"/>
            <a:ext cx="128699" cy="187198"/>
          </a:xfrm>
          <a:prstGeom prst="rect">
            <a:avLst/>
          </a:prstGeom>
        </p:spPr>
      </p:pic>
      <p:pic>
        <p:nvPicPr>
          <p:cNvPr id="207" name="Picture 206" descr="lock.png"/>
          <p:cNvPicPr>
            <a:picLocks noChangeAspect="1"/>
          </p:cNvPicPr>
          <p:nvPr/>
        </p:nvPicPr>
        <p:blipFill>
          <a:blip r:embed="rId4"/>
          <a:stretch>
            <a:fillRect/>
          </a:stretch>
        </p:blipFill>
        <p:spPr>
          <a:xfrm>
            <a:off x="10349650" y="3678301"/>
            <a:ext cx="128699" cy="187198"/>
          </a:xfrm>
          <a:prstGeom prst="rect">
            <a:avLst/>
          </a:prstGeom>
        </p:spPr>
      </p:pic>
      <p:pic>
        <p:nvPicPr>
          <p:cNvPr id="208" name="Picture 207" descr="lock.png"/>
          <p:cNvPicPr>
            <a:picLocks noChangeAspect="1"/>
          </p:cNvPicPr>
          <p:nvPr/>
        </p:nvPicPr>
        <p:blipFill>
          <a:blip r:embed="rId4"/>
          <a:stretch>
            <a:fillRect/>
          </a:stretch>
        </p:blipFill>
        <p:spPr>
          <a:xfrm>
            <a:off x="11407984" y="3678301"/>
            <a:ext cx="128699" cy="187198"/>
          </a:xfrm>
          <a:prstGeom prst="rect">
            <a:avLst/>
          </a:prstGeom>
        </p:spPr>
      </p:pic>
      <p:pic>
        <p:nvPicPr>
          <p:cNvPr id="209" name="Picture 208" descr="lock.png"/>
          <p:cNvPicPr>
            <a:picLocks noChangeAspect="1"/>
          </p:cNvPicPr>
          <p:nvPr/>
        </p:nvPicPr>
        <p:blipFill>
          <a:blip r:embed="rId4"/>
          <a:stretch>
            <a:fillRect/>
          </a:stretch>
        </p:blipFill>
        <p:spPr>
          <a:xfrm>
            <a:off x="3126525" y="4021201"/>
            <a:ext cx="128699" cy="187198"/>
          </a:xfrm>
          <a:prstGeom prst="rect">
            <a:avLst/>
          </a:prstGeom>
        </p:spPr>
      </p:pic>
      <p:pic>
        <p:nvPicPr>
          <p:cNvPr id="210" name="Picture 209" descr="lock.png"/>
          <p:cNvPicPr>
            <a:picLocks noChangeAspect="1"/>
          </p:cNvPicPr>
          <p:nvPr/>
        </p:nvPicPr>
        <p:blipFill>
          <a:blip r:embed="rId4"/>
          <a:stretch>
            <a:fillRect/>
          </a:stretch>
        </p:blipFill>
        <p:spPr>
          <a:xfrm>
            <a:off x="10349650" y="4021201"/>
            <a:ext cx="128699" cy="187198"/>
          </a:xfrm>
          <a:prstGeom prst="rect">
            <a:avLst/>
          </a:prstGeom>
        </p:spPr>
      </p:pic>
      <p:pic>
        <p:nvPicPr>
          <p:cNvPr id="211" name="Picture 210" descr="lock.png"/>
          <p:cNvPicPr>
            <a:picLocks noChangeAspect="1"/>
          </p:cNvPicPr>
          <p:nvPr/>
        </p:nvPicPr>
        <p:blipFill>
          <a:blip r:embed="rId4"/>
          <a:stretch>
            <a:fillRect/>
          </a:stretch>
        </p:blipFill>
        <p:spPr>
          <a:xfrm>
            <a:off x="11407984" y="4021201"/>
            <a:ext cx="128699" cy="187198"/>
          </a:xfrm>
          <a:prstGeom prst="rect">
            <a:avLst/>
          </a:prstGeom>
        </p:spPr>
      </p:pic>
      <p:pic>
        <p:nvPicPr>
          <p:cNvPr id="212" name="Picture 211" descr="lock.png"/>
          <p:cNvPicPr>
            <a:picLocks noChangeAspect="1"/>
          </p:cNvPicPr>
          <p:nvPr/>
        </p:nvPicPr>
        <p:blipFill>
          <a:blip r:embed="rId4"/>
          <a:stretch>
            <a:fillRect/>
          </a:stretch>
        </p:blipFill>
        <p:spPr>
          <a:xfrm>
            <a:off x="3126525" y="4364101"/>
            <a:ext cx="128699" cy="187198"/>
          </a:xfrm>
          <a:prstGeom prst="rect">
            <a:avLst/>
          </a:prstGeom>
        </p:spPr>
      </p:pic>
      <p:pic>
        <p:nvPicPr>
          <p:cNvPr id="213" name="Picture 212" descr="lock.png"/>
          <p:cNvPicPr>
            <a:picLocks noChangeAspect="1"/>
          </p:cNvPicPr>
          <p:nvPr/>
        </p:nvPicPr>
        <p:blipFill>
          <a:blip r:embed="rId4"/>
          <a:stretch>
            <a:fillRect/>
          </a:stretch>
        </p:blipFill>
        <p:spPr>
          <a:xfrm>
            <a:off x="10349650" y="4364101"/>
            <a:ext cx="128699" cy="187198"/>
          </a:xfrm>
          <a:prstGeom prst="rect">
            <a:avLst/>
          </a:prstGeom>
        </p:spPr>
      </p:pic>
      <p:pic>
        <p:nvPicPr>
          <p:cNvPr id="214" name="Picture 213" descr="lock.png"/>
          <p:cNvPicPr>
            <a:picLocks noChangeAspect="1"/>
          </p:cNvPicPr>
          <p:nvPr/>
        </p:nvPicPr>
        <p:blipFill>
          <a:blip r:embed="rId4"/>
          <a:stretch>
            <a:fillRect/>
          </a:stretch>
        </p:blipFill>
        <p:spPr>
          <a:xfrm>
            <a:off x="11407984" y="4364101"/>
            <a:ext cx="128699" cy="187198"/>
          </a:xfrm>
          <a:prstGeom prst="rect">
            <a:avLst/>
          </a:prstGeom>
        </p:spPr>
      </p:pic>
      <p:pic>
        <p:nvPicPr>
          <p:cNvPr id="215" name="Picture 214" descr="lock.png"/>
          <p:cNvPicPr>
            <a:picLocks noChangeAspect="1"/>
          </p:cNvPicPr>
          <p:nvPr/>
        </p:nvPicPr>
        <p:blipFill>
          <a:blip r:embed="rId4"/>
          <a:stretch>
            <a:fillRect/>
          </a:stretch>
        </p:blipFill>
        <p:spPr>
          <a:xfrm>
            <a:off x="3126525" y="4707001"/>
            <a:ext cx="128699" cy="187198"/>
          </a:xfrm>
          <a:prstGeom prst="rect">
            <a:avLst/>
          </a:prstGeom>
        </p:spPr>
      </p:pic>
      <p:pic>
        <p:nvPicPr>
          <p:cNvPr id="216" name="Picture 215" descr="lock.png"/>
          <p:cNvPicPr>
            <a:picLocks noChangeAspect="1"/>
          </p:cNvPicPr>
          <p:nvPr/>
        </p:nvPicPr>
        <p:blipFill>
          <a:blip r:embed="rId4"/>
          <a:stretch>
            <a:fillRect/>
          </a:stretch>
        </p:blipFill>
        <p:spPr>
          <a:xfrm>
            <a:off x="10349650" y="4707001"/>
            <a:ext cx="128699" cy="187198"/>
          </a:xfrm>
          <a:prstGeom prst="rect">
            <a:avLst/>
          </a:prstGeom>
        </p:spPr>
      </p:pic>
      <p:pic>
        <p:nvPicPr>
          <p:cNvPr id="217" name="Picture 216" descr="lock.png"/>
          <p:cNvPicPr>
            <a:picLocks noChangeAspect="1"/>
          </p:cNvPicPr>
          <p:nvPr/>
        </p:nvPicPr>
        <p:blipFill>
          <a:blip r:embed="rId4"/>
          <a:stretch>
            <a:fillRect/>
          </a:stretch>
        </p:blipFill>
        <p:spPr>
          <a:xfrm>
            <a:off x="11407984" y="4707001"/>
            <a:ext cx="128699" cy="187198"/>
          </a:xfrm>
          <a:prstGeom prst="rect">
            <a:avLst/>
          </a:prstGeom>
        </p:spPr>
      </p:pic>
      <p:pic>
        <p:nvPicPr>
          <p:cNvPr id="218" name="Picture 217" descr="lock.png"/>
          <p:cNvPicPr>
            <a:picLocks noChangeAspect="1"/>
          </p:cNvPicPr>
          <p:nvPr/>
        </p:nvPicPr>
        <p:blipFill>
          <a:blip r:embed="rId4"/>
          <a:stretch>
            <a:fillRect/>
          </a:stretch>
        </p:blipFill>
        <p:spPr>
          <a:xfrm>
            <a:off x="3126525" y="5049901"/>
            <a:ext cx="128699" cy="187198"/>
          </a:xfrm>
          <a:prstGeom prst="rect">
            <a:avLst/>
          </a:prstGeom>
        </p:spPr>
      </p:pic>
      <p:pic>
        <p:nvPicPr>
          <p:cNvPr id="219" name="Picture 218" descr="lock.png"/>
          <p:cNvPicPr>
            <a:picLocks noChangeAspect="1"/>
          </p:cNvPicPr>
          <p:nvPr/>
        </p:nvPicPr>
        <p:blipFill>
          <a:blip r:embed="rId4"/>
          <a:stretch>
            <a:fillRect/>
          </a:stretch>
        </p:blipFill>
        <p:spPr>
          <a:xfrm>
            <a:off x="10349650" y="5049901"/>
            <a:ext cx="128699" cy="187198"/>
          </a:xfrm>
          <a:prstGeom prst="rect">
            <a:avLst/>
          </a:prstGeom>
        </p:spPr>
      </p:pic>
      <p:pic>
        <p:nvPicPr>
          <p:cNvPr id="220" name="Picture 219" descr="lock.png"/>
          <p:cNvPicPr>
            <a:picLocks noChangeAspect="1"/>
          </p:cNvPicPr>
          <p:nvPr/>
        </p:nvPicPr>
        <p:blipFill>
          <a:blip r:embed="rId4"/>
          <a:stretch>
            <a:fillRect/>
          </a:stretch>
        </p:blipFill>
        <p:spPr>
          <a:xfrm>
            <a:off x="11407984" y="5049901"/>
            <a:ext cx="128699" cy="187198"/>
          </a:xfrm>
          <a:prstGeom prst="rect">
            <a:avLst/>
          </a:prstGeom>
        </p:spPr>
      </p:pic>
      <p:pic>
        <p:nvPicPr>
          <p:cNvPr id="221" name="Picture 220" descr="lock.png"/>
          <p:cNvPicPr>
            <a:picLocks noChangeAspect="1"/>
          </p:cNvPicPr>
          <p:nvPr/>
        </p:nvPicPr>
        <p:blipFill>
          <a:blip r:embed="rId4"/>
          <a:stretch>
            <a:fillRect/>
          </a:stretch>
        </p:blipFill>
        <p:spPr>
          <a:xfrm>
            <a:off x="3126525" y="5392801"/>
            <a:ext cx="128699" cy="187198"/>
          </a:xfrm>
          <a:prstGeom prst="rect">
            <a:avLst/>
          </a:prstGeom>
        </p:spPr>
      </p:pic>
      <p:pic>
        <p:nvPicPr>
          <p:cNvPr id="222" name="Picture 221" descr="lock.png"/>
          <p:cNvPicPr>
            <a:picLocks noChangeAspect="1"/>
          </p:cNvPicPr>
          <p:nvPr/>
        </p:nvPicPr>
        <p:blipFill>
          <a:blip r:embed="rId4"/>
          <a:stretch>
            <a:fillRect/>
          </a:stretch>
        </p:blipFill>
        <p:spPr>
          <a:xfrm>
            <a:off x="10349650" y="5392801"/>
            <a:ext cx="128699" cy="187198"/>
          </a:xfrm>
          <a:prstGeom prst="rect">
            <a:avLst/>
          </a:prstGeom>
        </p:spPr>
      </p:pic>
      <p:pic>
        <p:nvPicPr>
          <p:cNvPr id="223" name="Picture 222" descr="lock.png"/>
          <p:cNvPicPr>
            <a:picLocks noChangeAspect="1"/>
          </p:cNvPicPr>
          <p:nvPr/>
        </p:nvPicPr>
        <p:blipFill>
          <a:blip r:embed="rId4"/>
          <a:stretch>
            <a:fillRect/>
          </a:stretch>
        </p:blipFill>
        <p:spPr>
          <a:xfrm>
            <a:off x="11407984" y="5392801"/>
            <a:ext cx="128699" cy="187198"/>
          </a:xfrm>
          <a:prstGeom prst="rect">
            <a:avLst/>
          </a:prstGeom>
        </p:spPr>
      </p:pic>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Waterproof Coatings Market Offering Scorecard: What They Sell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Six offering Ps: product, technology, price and model, verticals, proof and IP</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2, OFFERING: WHAT THEY SELL</a:t>
            </a:r>
          </a:p>
        </p:txBody>
      </p:sp>
      <p:sp>
        <p:nvSpPr>
          <p:cNvPr id="12" name="TextBox 11"/>
          <p:cNvSpPr txBox="1"/>
          <p:nvPr/>
        </p:nvSpPr>
        <p:spPr>
          <a:xfrm>
            <a:off x="2038350" y="1295400"/>
            <a:ext cx="139457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Product</a:t>
            </a:r>
          </a:p>
        </p:txBody>
      </p:sp>
      <p:sp>
        <p:nvSpPr>
          <p:cNvPr id="13" name="TextBox 12"/>
          <p:cNvSpPr txBox="1"/>
          <p:nvPr/>
        </p:nvSpPr>
        <p:spPr>
          <a:xfrm>
            <a:off x="2038350" y="1657350"/>
            <a:ext cx="139457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Of the top three types offered</a:t>
            </a:r>
          </a:p>
        </p:txBody>
      </p:sp>
      <p:sp>
        <p:nvSpPr>
          <p:cNvPr id="14" name="TextBox 13"/>
          <p:cNvSpPr txBox="1"/>
          <p:nvPr/>
        </p:nvSpPr>
        <p:spPr>
          <a:xfrm>
            <a:off x="3509122" y="1295400"/>
            <a:ext cx="139457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Platform (technology)</a:t>
            </a:r>
          </a:p>
        </p:txBody>
      </p:sp>
      <p:sp>
        <p:nvSpPr>
          <p:cNvPr id="15" name="TextBox 14"/>
          <p:cNvSpPr txBox="1"/>
          <p:nvPr/>
        </p:nvSpPr>
        <p:spPr>
          <a:xfrm>
            <a:off x="3509122" y="1657350"/>
            <a:ext cx="139457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R&amp;D and development: both 3, one 2</a:t>
            </a:r>
          </a:p>
        </p:txBody>
      </p:sp>
      <p:sp>
        <p:nvSpPr>
          <p:cNvPr id="16" name="TextBox 15"/>
          <p:cNvSpPr txBox="1"/>
          <p:nvPr/>
        </p:nvSpPr>
        <p:spPr>
          <a:xfrm>
            <a:off x="4979894" y="1295400"/>
            <a:ext cx="168872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Price and model</a:t>
            </a:r>
          </a:p>
        </p:txBody>
      </p:sp>
      <p:sp>
        <p:nvSpPr>
          <p:cNvPr id="17" name="TextBox 16"/>
          <p:cNvSpPr txBox="1"/>
          <p:nvPr/>
        </p:nvSpPr>
        <p:spPr>
          <a:xfrm>
            <a:off x="4979894" y="1657350"/>
            <a:ext cx="168872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Positioning by tier</a:t>
            </a:r>
          </a:p>
        </p:txBody>
      </p:sp>
      <p:sp>
        <p:nvSpPr>
          <p:cNvPr id="18" name="TextBox 17"/>
          <p:cNvSpPr txBox="1"/>
          <p:nvPr/>
        </p:nvSpPr>
        <p:spPr>
          <a:xfrm>
            <a:off x="6744821" y="1295400"/>
            <a:ext cx="168872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Positioning (verticals)</a:t>
            </a:r>
          </a:p>
        </p:txBody>
      </p:sp>
      <p:sp>
        <p:nvSpPr>
          <p:cNvPr id="19" name="TextBox 18"/>
          <p:cNvSpPr txBox="1"/>
          <p:nvPr/>
        </p:nvSpPr>
        <p:spPr>
          <a:xfrm>
            <a:off x="6744821" y="1657350"/>
            <a:ext cx="168872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End uses served</a:t>
            </a:r>
          </a:p>
        </p:txBody>
      </p:sp>
      <p:sp>
        <p:nvSpPr>
          <p:cNvPr id="20" name="TextBox 19"/>
          <p:cNvSpPr txBox="1"/>
          <p:nvPr/>
        </p:nvSpPr>
        <p:spPr>
          <a:xfrm>
            <a:off x="8509747" y="1295400"/>
            <a:ext cx="168872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Proof</a:t>
            </a:r>
          </a:p>
        </p:txBody>
      </p:sp>
      <p:sp>
        <p:nvSpPr>
          <p:cNvPr id="21" name="TextBox 20"/>
          <p:cNvSpPr txBox="1"/>
          <p:nvPr/>
        </p:nvSpPr>
        <p:spPr>
          <a:xfrm>
            <a:off x="8509747" y="1657350"/>
            <a:ext cx="168872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Named customer references</a:t>
            </a:r>
          </a:p>
        </p:txBody>
      </p:sp>
      <p:sp>
        <p:nvSpPr>
          <p:cNvPr id="22" name="TextBox 21"/>
          <p:cNvSpPr txBox="1"/>
          <p:nvPr/>
        </p:nvSpPr>
        <p:spPr>
          <a:xfrm>
            <a:off x="10274674" y="1295400"/>
            <a:ext cx="168872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Patents and IP</a:t>
            </a:r>
          </a:p>
        </p:txBody>
      </p:sp>
      <p:sp>
        <p:nvSpPr>
          <p:cNvPr id="23" name="TextBox 22"/>
          <p:cNvSpPr txBox="1"/>
          <p:nvPr/>
        </p:nvSpPr>
        <p:spPr>
          <a:xfrm>
            <a:off x="10274674" y="1657350"/>
            <a:ext cx="168872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Where the study covers patents</a:t>
            </a:r>
          </a:p>
        </p:txBody>
      </p:sp>
      <p:cxnSp>
        <p:nvCxnSpPr>
          <p:cNvPr id="24" name="Connector 23"/>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5750" y="22479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Sika</a:t>
            </a:r>
          </a:p>
        </p:txBody>
      </p:sp>
      <p:sp>
        <p:nvSpPr>
          <p:cNvPr id="27" name="TextBox 26"/>
          <p:cNvSpPr txBox="1"/>
          <p:nvPr/>
        </p:nvSpPr>
        <p:spPr>
          <a:xfrm>
            <a:off x="285750" y="24098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28" name="Oval 27"/>
          <p:cNvSpPr/>
          <p:nvPr/>
        </p:nvSpPr>
        <p:spPr>
          <a:xfrm>
            <a:off x="2659436"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130208" y="2324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4210050" y="23241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79894" y="22288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32" name="TextBox 31"/>
          <p:cNvSpPr txBox="1"/>
          <p:nvPr/>
        </p:nvSpPr>
        <p:spPr>
          <a:xfrm>
            <a:off x="6744821" y="22288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Roofs and Terraces, Bathrooms and Wet Areas</a:t>
            </a:r>
          </a:p>
        </p:txBody>
      </p:sp>
      <p:sp>
        <p:nvSpPr>
          <p:cNvPr id="33" name="TextBox 32"/>
          <p:cNvSpPr txBox="1"/>
          <p:nvPr/>
        </p:nvSpPr>
        <p:spPr>
          <a:xfrm>
            <a:off x="8471647" y="22288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4" name="TextBox 33"/>
          <p:cNvSpPr txBox="1"/>
          <p:nvPr/>
        </p:nvSpPr>
        <p:spPr>
          <a:xfrm>
            <a:off x="10236574" y="22288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35" name="Connector 34"/>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5750" y="25908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The Sherwin-Williams</a:t>
            </a:r>
          </a:p>
        </p:txBody>
      </p:sp>
      <p:sp>
        <p:nvSpPr>
          <p:cNvPr id="38" name="TextBox 37"/>
          <p:cNvSpPr txBox="1"/>
          <p:nvPr/>
        </p:nvSpPr>
        <p:spPr>
          <a:xfrm>
            <a:off x="285750" y="27527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9" name="Oval 38"/>
          <p:cNvSpPr/>
          <p:nvPr/>
        </p:nvSpPr>
        <p:spPr>
          <a:xfrm>
            <a:off x="2659436" y="2667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733675" y="26670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130208"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979894" y="25717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43" name="TextBox 42"/>
          <p:cNvSpPr txBox="1"/>
          <p:nvPr/>
        </p:nvSpPr>
        <p:spPr>
          <a:xfrm>
            <a:off x="6744821" y="25717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Roofs and Terraces, Walls and Building Facades</a:t>
            </a:r>
          </a:p>
        </p:txBody>
      </p:sp>
      <p:sp>
        <p:nvSpPr>
          <p:cNvPr id="44" name="TextBox 43"/>
          <p:cNvSpPr txBox="1"/>
          <p:nvPr/>
        </p:nvSpPr>
        <p:spPr>
          <a:xfrm>
            <a:off x="8471647" y="25717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5" name="TextBox 44"/>
          <p:cNvSpPr txBox="1"/>
          <p:nvPr/>
        </p:nvSpPr>
        <p:spPr>
          <a:xfrm>
            <a:off x="10236574" y="25717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46" name="Connector 45"/>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85750" y="29337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PPG Industries</a:t>
            </a:r>
          </a:p>
        </p:txBody>
      </p:sp>
      <p:sp>
        <p:nvSpPr>
          <p:cNvPr id="49" name="TextBox 48"/>
          <p:cNvSpPr txBox="1"/>
          <p:nvPr/>
        </p:nvSpPr>
        <p:spPr>
          <a:xfrm>
            <a:off x="285750" y="30956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0" name="Oval 49"/>
          <p:cNvSpPr/>
          <p:nvPr/>
        </p:nvSpPr>
        <p:spPr>
          <a:xfrm>
            <a:off x="2659436"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2733675" y="3009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130208"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4210050" y="30099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979894" y="29146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55" name="TextBox 54"/>
          <p:cNvSpPr txBox="1"/>
          <p:nvPr/>
        </p:nvSpPr>
        <p:spPr>
          <a:xfrm>
            <a:off x="6744821" y="29146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Bathrooms and Wet Areas, Walls and Building Facades</a:t>
            </a:r>
          </a:p>
        </p:txBody>
      </p:sp>
      <p:sp>
        <p:nvSpPr>
          <p:cNvPr id="56" name="TextBox 55"/>
          <p:cNvSpPr txBox="1"/>
          <p:nvPr/>
        </p:nvSpPr>
        <p:spPr>
          <a:xfrm>
            <a:off x="8471647" y="29146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7" name="TextBox 56"/>
          <p:cNvSpPr txBox="1"/>
          <p:nvPr/>
        </p:nvSpPr>
        <p:spPr>
          <a:xfrm>
            <a:off x="10236574" y="29146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58" name="Connector 57"/>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85750" y="32766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Akzo Nobel</a:t>
            </a:r>
          </a:p>
        </p:txBody>
      </p:sp>
      <p:sp>
        <p:nvSpPr>
          <p:cNvPr id="61" name="TextBox 60"/>
          <p:cNvSpPr txBox="1"/>
          <p:nvPr/>
        </p:nvSpPr>
        <p:spPr>
          <a:xfrm>
            <a:off x="285750" y="34385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62" name="Oval 61"/>
          <p:cNvSpPr/>
          <p:nvPr/>
        </p:nvSpPr>
        <p:spPr>
          <a:xfrm>
            <a:off x="2659436"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2733675" y="3352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4130208"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979894" y="32575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66" name="TextBox 65"/>
          <p:cNvSpPr txBox="1"/>
          <p:nvPr/>
        </p:nvSpPr>
        <p:spPr>
          <a:xfrm>
            <a:off x="6744821" y="32575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Roofs and Terraces, Bathrooms and Wet Areas</a:t>
            </a:r>
          </a:p>
        </p:txBody>
      </p:sp>
      <p:sp>
        <p:nvSpPr>
          <p:cNvPr id="67" name="TextBox 66"/>
          <p:cNvSpPr txBox="1"/>
          <p:nvPr/>
        </p:nvSpPr>
        <p:spPr>
          <a:xfrm>
            <a:off x="8471647" y="32575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8" name="TextBox 67"/>
          <p:cNvSpPr txBox="1"/>
          <p:nvPr/>
        </p:nvSpPr>
        <p:spPr>
          <a:xfrm>
            <a:off x="10236574" y="32575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69" name="Connector 68"/>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85750" y="36195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BASF</a:t>
            </a:r>
          </a:p>
        </p:txBody>
      </p:sp>
      <p:sp>
        <p:nvSpPr>
          <p:cNvPr id="72" name="TextBox 71"/>
          <p:cNvSpPr txBox="1"/>
          <p:nvPr/>
        </p:nvSpPr>
        <p:spPr>
          <a:xfrm>
            <a:off x="285750" y="37814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73" name="Oval 72"/>
          <p:cNvSpPr/>
          <p:nvPr/>
        </p:nvSpPr>
        <p:spPr>
          <a:xfrm>
            <a:off x="2659436"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4130208"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4210050" y="3695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979894" y="36004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Mid / value-added</a:t>
            </a:r>
          </a:p>
        </p:txBody>
      </p:sp>
      <p:sp>
        <p:nvSpPr>
          <p:cNvPr id="77" name="TextBox 76"/>
          <p:cNvSpPr txBox="1"/>
          <p:nvPr/>
        </p:nvSpPr>
        <p:spPr>
          <a:xfrm>
            <a:off x="6744821" y="36004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Roofs and Terraces, Walls and Building Facades</a:t>
            </a:r>
          </a:p>
        </p:txBody>
      </p:sp>
      <p:sp>
        <p:nvSpPr>
          <p:cNvPr id="78" name="TextBox 77"/>
          <p:cNvSpPr txBox="1"/>
          <p:nvPr/>
        </p:nvSpPr>
        <p:spPr>
          <a:xfrm>
            <a:off x="8471647" y="36004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9" name="TextBox 78"/>
          <p:cNvSpPr txBox="1"/>
          <p:nvPr/>
        </p:nvSpPr>
        <p:spPr>
          <a:xfrm>
            <a:off x="10236574" y="36004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80" name="Connector 79"/>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85750" y="39624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RPM International</a:t>
            </a:r>
          </a:p>
        </p:txBody>
      </p:sp>
      <p:sp>
        <p:nvSpPr>
          <p:cNvPr id="83" name="TextBox 82"/>
          <p:cNvSpPr txBox="1"/>
          <p:nvPr/>
        </p:nvSpPr>
        <p:spPr>
          <a:xfrm>
            <a:off x="285750" y="41243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84" name="Oval 83"/>
          <p:cNvSpPr/>
          <p:nvPr/>
        </p:nvSpPr>
        <p:spPr>
          <a:xfrm>
            <a:off x="2659436"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2733675"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4130208"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979894" y="39433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Mid / value-added</a:t>
            </a:r>
          </a:p>
        </p:txBody>
      </p:sp>
      <p:sp>
        <p:nvSpPr>
          <p:cNvPr id="88" name="TextBox 87"/>
          <p:cNvSpPr txBox="1"/>
          <p:nvPr/>
        </p:nvSpPr>
        <p:spPr>
          <a:xfrm>
            <a:off x="6744821" y="39433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Bathrooms and Wet Areas, Walls and Building Facades</a:t>
            </a:r>
          </a:p>
        </p:txBody>
      </p:sp>
      <p:sp>
        <p:nvSpPr>
          <p:cNvPr id="89" name="TextBox 88"/>
          <p:cNvSpPr txBox="1"/>
          <p:nvPr/>
        </p:nvSpPr>
        <p:spPr>
          <a:xfrm>
            <a:off x="8471647" y="39433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0" name="TextBox 89"/>
          <p:cNvSpPr txBox="1"/>
          <p:nvPr/>
        </p:nvSpPr>
        <p:spPr>
          <a:xfrm>
            <a:off x="10236574" y="39433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91" name="Connector 90"/>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85750" y="43053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Saint-Gobain</a:t>
            </a:r>
          </a:p>
        </p:txBody>
      </p:sp>
      <p:sp>
        <p:nvSpPr>
          <p:cNvPr id="94" name="TextBox 93"/>
          <p:cNvSpPr txBox="1"/>
          <p:nvPr/>
        </p:nvSpPr>
        <p:spPr>
          <a:xfrm>
            <a:off x="285750" y="44672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95" name="Oval 94"/>
          <p:cNvSpPr/>
          <p:nvPr/>
        </p:nvSpPr>
        <p:spPr>
          <a:xfrm>
            <a:off x="2659436"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2733675" y="4381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4130208"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Freeform 97"/>
          <p:cNvSpPr/>
          <p:nvPr/>
        </p:nvSpPr>
        <p:spPr>
          <a:xfrm>
            <a:off x="4210050" y="43815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979894" y="42862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00" name="TextBox 99"/>
          <p:cNvSpPr txBox="1"/>
          <p:nvPr/>
        </p:nvSpPr>
        <p:spPr>
          <a:xfrm>
            <a:off x="6744821" y="42862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Roofs and Terraces, Bathrooms and Wet Areas</a:t>
            </a:r>
          </a:p>
        </p:txBody>
      </p:sp>
      <p:sp>
        <p:nvSpPr>
          <p:cNvPr id="101" name="TextBox 100"/>
          <p:cNvSpPr txBox="1"/>
          <p:nvPr/>
        </p:nvSpPr>
        <p:spPr>
          <a:xfrm>
            <a:off x="8471647" y="42862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2" name="TextBox 101"/>
          <p:cNvSpPr txBox="1"/>
          <p:nvPr/>
        </p:nvSpPr>
        <p:spPr>
          <a:xfrm>
            <a:off x="10236574" y="42862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03" name="Connector 102"/>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4" name="Rectangle 103"/>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85750" y="46482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Mapei</a:t>
            </a:r>
          </a:p>
        </p:txBody>
      </p:sp>
      <p:sp>
        <p:nvSpPr>
          <p:cNvPr id="106" name="TextBox 105"/>
          <p:cNvSpPr txBox="1"/>
          <p:nvPr/>
        </p:nvSpPr>
        <p:spPr>
          <a:xfrm>
            <a:off x="285750" y="48101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07" name="Oval 106"/>
          <p:cNvSpPr/>
          <p:nvPr/>
        </p:nvSpPr>
        <p:spPr>
          <a:xfrm>
            <a:off x="2659436"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2733675" y="47244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4130208"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4979894" y="46291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11" name="TextBox 110"/>
          <p:cNvSpPr txBox="1"/>
          <p:nvPr/>
        </p:nvSpPr>
        <p:spPr>
          <a:xfrm>
            <a:off x="6744821" y="46291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Roofs and Terraces, Walls and Building Facades</a:t>
            </a:r>
          </a:p>
        </p:txBody>
      </p:sp>
      <p:sp>
        <p:nvSpPr>
          <p:cNvPr id="112" name="TextBox 111"/>
          <p:cNvSpPr txBox="1"/>
          <p:nvPr/>
        </p:nvSpPr>
        <p:spPr>
          <a:xfrm>
            <a:off x="8471647" y="46291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3" name="TextBox 112"/>
          <p:cNvSpPr txBox="1"/>
          <p:nvPr/>
        </p:nvSpPr>
        <p:spPr>
          <a:xfrm>
            <a:off x="10236574" y="46291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14" name="Connector 113"/>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5" name="Rectangle 114"/>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285750" y="49911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Henkel AG &amp; Co. KGaA</a:t>
            </a:r>
          </a:p>
        </p:txBody>
      </p:sp>
      <p:sp>
        <p:nvSpPr>
          <p:cNvPr id="117" name="TextBox 116"/>
          <p:cNvSpPr txBox="1"/>
          <p:nvPr/>
        </p:nvSpPr>
        <p:spPr>
          <a:xfrm>
            <a:off x="285750" y="51530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8" name="Oval 117"/>
          <p:cNvSpPr/>
          <p:nvPr/>
        </p:nvSpPr>
        <p:spPr>
          <a:xfrm>
            <a:off x="2659436" y="50673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4130208"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reeform 119"/>
          <p:cNvSpPr/>
          <p:nvPr/>
        </p:nvSpPr>
        <p:spPr>
          <a:xfrm>
            <a:off x="4210050" y="50673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4979894" y="49720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22" name="TextBox 121"/>
          <p:cNvSpPr txBox="1"/>
          <p:nvPr/>
        </p:nvSpPr>
        <p:spPr>
          <a:xfrm>
            <a:off x="6744821" y="49720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Bathrooms and Wet Areas, Walls and Building Facades</a:t>
            </a:r>
          </a:p>
        </p:txBody>
      </p:sp>
      <p:sp>
        <p:nvSpPr>
          <p:cNvPr id="123" name="TextBox 122"/>
          <p:cNvSpPr txBox="1"/>
          <p:nvPr/>
        </p:nvSpPr>
        <p:spPr>
          <a:xfrm>
            <a:off x="8471647" y="49720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4" name="TextBox 123"/>
          <p:cNvSpPr txBox="1"/>
          <p:nvPr/>
        </p:nvSpPr>
        <p:spPr>
          <a:xfrm>
            <a:off x="10236574" y="49720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25" name="Connector 124"/>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6" name="Rectangle 125"/>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285750" y="53340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Dow</a:t>
            </a:r>
          </a:p>
        </p:txBody>
      </p:sp>
      <p:sp>
        <p:nvSpPr>
          <p:cNvPr id="128" name="TextBox 127"/>
          <p:cNvSpPr txBox="1"/>
          <p:nvPr/>
        </p:nvSpPr>
        <p:spPr>
          <a:xfrm>
            <a:off x="285750" y="54959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9" name="Oval 128"/>
          <p:cNvSpPr/>
          <p:nvPr/>
        </p:nvSpPr>
        <p:spPr>
          <a:xfrm>
            <a:off x="2659436"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Freeform 129"/>
          <p:cNvSpPr/>
          <p:nvPr/>
        </p:nvSpPr>
        <p:spPr>
          <a:xfrm>
            <a:off x="2733675" y="54102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4130208" y="54102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4979894" y="53149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33" name="TextBox 132"/>
          <p:cNvSpPr txBox="1"/>
          <p:nvPr/>
        </p:nvSpPr>
        <p:spPr>
          <a:xfrm>
            <a:off x="6744821" y="53149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Roofs and Terraces, Bathrooms and Wet Areas</a:t>
            </a:r>
          </a:p>
        </p:txBody>
      </p:sp>
      <p:sp>
        <p:nvSpPr>
          <p:cNvPr id="134" name="TextBox 133"/>
          <p:cNvSpPr txBox="1"/>
          <p:nvPr/>
        </p:nvSpPr>
        <p:spPr>
          <a:xfrm>
            <a:off x="8471647" y="53149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35" name="TextBox 134"/>
          <p:cNvSpPr txBox="1"/>
          <p:nvPr/>
        </p:nvSpPr>
        <p:spPr>
          <a:xfrm>
            <a:off x="10236574" y="53149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36" name="Connector 135"/>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7" name="Oval 136"/>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39" name="Oval 138"/>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42" name="Oval 141"/>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Freeform 142"/>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45" name="Oval 144"/>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47" name="TextBox 146"/>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48" name="TextBox 147"/>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breadth and technology strength do not always go together; the end uses each player serves show where it competes head to head.  Proof needs customer research.</a:t>
            </a:r>
          </a:p>
        </p:txBody>
      </p:sp>
      <p:sp>
        <p:nvSpPr>
          <p:cNvPr id="149" name="TextBox 14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0" name="Picture 149" descr="lock.png"/>
          <p:cNvPicPr>
            <a:picLocks noChangeAspect="1"/>
          </p:cNvPicPr>
          <p:nvPr/>
        </p:nvPicPr>
        <p:blipFill>
          <a:blip r:embed="rId4"/>
          <a:stretch>
            <a:fillRect/>
          </a:stretch>
        </p:blipFill>
        <p:spPr>
          <a:xfrm>
            <a:off x="9289760" y="2306701"/>
            <a:ext cx="128699" cy="187198"/>
          </a:xfrm>
          <a:prstGeom prst="rect">
            <a:avLst/>
          </a:prstGeom>
        </p:spPr>
      </p:pic>
      <p:pic>
        <p:nvPicPr>
          <p:cNvPr id="151" name="Picture 150" descr="lock.png"/>
          <p:cNvPicPr>
            <a:picLocks noChangeAspect="1"/>
          </p:cNvPicPr>
          <p:nvPr/>
        </p:nvPicPr>
        <p:blipFill>
          <a:blip r:embed="rId4"/>
          <a:stretch>
            <a:fillRect/>
          </a:stretch>
        </p:blipFill>
        <p:spPr>
          <a:xfrm>
            <a:off x="11054687" y="2306701"/>
            <a:ext cx="128699" cy="187198"/>
          </a:xfrm>
          <a:prstGeom prst="rect">
            <a:avLst/>
          </a:prstGeom>
        </p:spPr>
      </p:pic>
      <p:pic>
        <p:nvPicPr>
          <p:cNvPr id="152" name="Picture 151" descr="lock.png"/>
          <p:cNvPicPr>
            <a:picLocks noChangeAspect="1"/>
          </p:cNvPicPr>
          <p:nvPr/>
        </p:nvPicPr>
        <p:blipFill>
          <a:blip r:embed="rId4"/>
          <a:stretch>
            <a:fillRect/>
          </a:stretch>
        </p:blipFill>
        <p:spPr>
          <a:xfrm>
            <a:off x="9289760" y="2649601"/>
            <a:ext cx="128699" cy="187198"/>
          </a:xfrm>
          <a:prstGeom prst="rect">
            <a:avLst/>
          </a:prstGeom>
        </p:spPr>
      </p:pic>
      <p:pic>
        <p:nvPicPr>
          <p:cNvPr id="153" name="Picture 152" descr="lock.png"/>
          <p:cNvPicPr>
            <a:picLocks noChangeAspect="1"/>
          </p:cNvPicPr>
          <p:nvPr/>
        </p:nvPicPr>
        <p:blipFill>
          <a:blip r:embed="rId4"/>
          <a:stretch>
            <a:fillRect/>
          </a:stretch>
        </p:blipFill>
        <p:spPr>
          <a:xfrm>
            <a:off x="11054687" y="2649601"/>
            <a:ext cx="128699" cy="187198"/>
          </a:xfrm>
          <a:prstGeom prst="rect">
            <a:avLst/>
          </a:prstGeom>
        </p:spPr>
      </p:pic>
      <p:pic>
        <p:nvPicPr>
          <p:cNvPr id="154" name="Picture 153" descr="lock.png"/>
          <p:cNvPicPr>
            <a:picLocks noChangeAspect="1"/>
          </p:cNvPicPr>
          <p:nvPr/>
        </p:nvPicPr>
        <p:blipFill>
          <a:blip r:embed="rId4"/>
          <a:stretch>
            <a:fillRect/>
          </a:stretch>
        </p:blipFill>
        <p:spPr>
          <a:xfrm>
            <a:off x="9289760" y="2992501"/>
            <a:ext cx="128699" cy="187198"/>
          </a:xfrm>
          <a:prstGeom prst="rect">
            <a:avLst/>
          </a:prstGeom>
        </p:spPr>
      </p:pic>
      <p:pic>
        <p:nvPicPr>
          <p:cNvPr id="155" name="Picture 154" descr="lock.png"/>
          <p:cNvPicPr>
            <a:picLocks noChangeAspect="1"/>
          </p:cNvPicPr>
          <p:nvPr/>
        </p:nvPicPr>
        <p:blipFill>
          <a:blip r:embed="rId4"/>
          <a:stretch>
            <a:fillRect/>
          </a:stretch>
        </p:blipFill>
        <p:spPr>
          <a:xfrm>
            <a:off x="11054687" y="2992501"/>
            <a:ext cx="128699" cy="187198"/>
          </a:xfrm>
          <a:prstGeom prst="rect">
            <a:avLst/>
          </a:prstGeom>
        </p:spPr>
      </p:pic>
      <p:pic>
        <p:nvPicPr>
          <p:cNvPr id="156" name="Picture 155" descr="lock.png"/>
          <p:cNvPicPr>
            <a:picLocks noChangeAspect="1"/>
          </p:cNvPicPr>
          <p:nvPr/>
        </p:nvPicPr>
        <p:blipFill>
          <a:blip r:embed="rId4"/>
          <a:stretch>
            <a:fillRect/>
          </a:stretch>
        </p:blipFill>
        <p:spPr>
          <a:xfrm>
            <a:off x="9289760" y="3335401"/>
            <a:ext cx="128699" cy="187198"/>
          </a:xfrm>
          <a:prstGeom prst="rect">
            <a:avLst/>
          </a:prstGeom>
        </p:spPr>
      </p:pic>
      <p:pic>
        <p:nvPicPr>
          <p:cNvPr id="157" name="Picture 156" descr="lock.png"/>
          <p:cNvPicPr>
            <a:picLocks noChangeAspect="1"/>
          </p:cNvPicPr>
          <p:nvPr/>
        </p:nvPicPr>
        <p:blipFill>
          <a:blip r:embed="rId4"/>
          <a:stretch>
            <a:fillRect/>
          </a:stretch>
        </p:blipFill>
        <p:spPr>
          <a:xfrm>
            <a:off x="11054687" y="3335401"/>
            <a:ext cx="128699" cy="187198"/>
          </a:xfrm>
          <a:prstGeom prst="rect">
            <a:avLst/>
          </a:prstGeom>
        </p:spPr>
      </p:pic>
      <p:pic>
        <p:nvPicPr>
          <p:cNvPr id="158" name="Picture 157" descr="lock.png"/>
          <p:cNvPicPr>
            <a:picLocks noChangeAspect="1"/>
          </p:cNvPicPr>
          <p:nvPr/>
        </p:nvPicPr>
        <p:blipFill>
          <a:blip r:embed="rId4"/>
          <a:stretch>
            <a:fillRect/>
          </a:stretch>
        </p:blipFill>
        <p:spPr>
          <a:xfrm>
            <a:off x="9289760" y="3678301"/>
            <a:ext cx="128699" cy="187198"/>
          </a:xfrm>
          <a:prstGeom prst="rect">
            <a:avLst/>
          </a:prstGeom>
        </p:spPr>
      </p:pic>
      <p:pic>
        <p:nvPicPr>
          <p:cNvPr id="159" name="Picture 158" descr="lock.png"/>
          <p:cNvPicPr>
            <a:picLocks noChangeAspect="1"/>
          </p:cNvPicPr>
          <p:nvPr/>
        </p:nvPicPr>
        <p:blipFill>
          <a:blip r:embed="rId4"/>
          <a:stretch>
            <a:fillRect/>
          </a:stretch>
        </p:blipFill>
        <p:spPr>
          <a:xfrm>
            <a:off x="11054687" y="3678301"/>
            <a:ext cx="128699" cy="187198"/>
          </a:xfrm>
          <a:prstGeom prst="rect">
            <a:avLst/>
          </a:prstGeom>
        </p:spPr>
      </p:pic>
      <p:pic>
        <p:nvPicPr>
          <p:cNvPr id="160" name="Picture 159" descr="lock.png"/>
          <p:cNvPicPr>
            <a:picLocks noChangeAspect="1"/>
          </p:cNvPicPr>
          <p:nvPr/>
        </p:nvPicPr>
        <p:blipFill>
          <a:blip r:embed="rId4"/>
          <a:stretch>
            <a:fillRect/>
          </a:stretch>
        </p:blipFill>
        <p:spPr>
          <a:xfrm>
            <a:off x="9289760" y="4021201"/>
            <a:ext cx="128699" cy="187198"/>
          </a:xfrm>
          <a:prstGeom prst="rect">
            <a:avLst/>
          </a:prstGeom>
        </p:spPr>
      </p:pic>
      <p:pic>
        <p:nvPicPr>
          <p:cNvPr id="161" name="Picture 160" descr="lock.png"/>
          <p:cNvPicPr>
            <a:picLocks noChangeAspect="1"/>
          </p:cNvPicPr>
          <p:nvPr/>
        </p:nvPicPr>
        <p:blipFill>
          <a:blip r:embed="rId4"/>
          <a:stretch>
            <a:fillRect/>
          </a:stretch>
        </p:blipFill>
        <p:spPr>
          <a:xfrm>
            <a:off x="11054687" y="4021201"/>
            <a:ext cx="128699" cy="187198"/>
          </a:xfrm>
          <a:prstGeom prst="rect">
            <a:avLst/>
          </a:prstGeom>
        </p:spPr>
      </p:pic>
      <p:pic>
        <p:nvPicPr>
          <p:cNvPr id="162" name="Picture 161" descr="lock.png"/>
          <p:cNvPicPr>
            <a:picLocks noChangeAspect="1"/>
          </p:cNvPicPr>
          <p:nvPr/>
        </p:nvPicPr>
        <p:blipFill>
          <a:blip r:embed="rId4"/>
          <a:stretch>
            <a:fillRect/>
          </a:stretch>
        </p:blipFill>
        <p:spPr>
          <a:xfrm>
            <a:off x="9289760" y="4364101"/>
            <a:ext cx="128699" cy="187198"/>
          </a:xfrm>
          <a:prstGeom prst="rect">
            <a:avLst/>
          </a:prstGeom>
        </p:spPr>
      </p:pic>
      <p:pic>
        <p:nvPicPr>
          <p:cNvPr id="163" name="Picture 162" descr="lock.png"/>
          <p:cNvPicPr>
            <a:picLocks noChangeAspect="1"/>
          </p:cNvPicPr>
          <p:nvPr/>
        </p:nvPicPr>
        <p:blipFill>
          <a:blip r:embed="rId4"/>
          <a:stretch>
            <a:fillRect/>
          </a:stretch>
        </p:blipFill>
        <p:spPr>
          <a:xfrm>
            <a:off x="11054687" y="4364101"/>
            <a:ext cx="128699" cy="187198"/>
          </a:xfrm>
          <a:prstGeom prst="rect">
            <a:avLst/>
          </a:prstGeom>
        </p:spPr>
      </p:pic>
      <p:pic>
        <p:nvPicPr>
          <p:cNvPr id="164" name="Picture 163" descr="lock.png"/>
          <p:cNvPicPr>
            <a:picLocks noChangeAspect="1"/>
          </p:cNvPicPr>
          <p:nvPr/>
        </p:nvPicPr>
        <p:blipFill>
          <a:blip r:embed="rId4"/>
          <a:stretch>
            <a:fillRect/>
          </a:stretch>
        </p:blipFill>
        <p:spPr>
          <a:xfrm>
            <a:off x="9289760" y="4707001"/>
            <a:ext cx="128699" cy="187198"/>
          </a:xfrm>
          <a:prstGeom prst="rect">
            <a:avLst/>
          </a:prstGeom>
        </p:spPr>
      </p:pic>
      <p:pic>
        <p:nvPicPr>
          <p:cNvPr id="165" name="Picture 164" descr="lock.png"/>
          <p:cNvPicPr>
            <a:picLocks noChangeAspect="1"/>
          </p:cNvPicPr>
          <p:nvPr/>
        </p:nvPicPr>
        <p:blipFill>
          <a:blip r:embed="rId4"/>
          <a:stretch>
            <a:fillRect/>
          </a:stretch>
        </p:blipFill>
        <p:spPr>
          <a:xfrm>
            <a:off x="11054687" y="4707001"/>
            <a:ext cx="128699" cy="187198"/>
          </a:xfrm>
          <a:prstGeom prst="rect">
            <a:avLst/>
          </a:prstGeom>
        </p:spPr>
      </p:pic>
      <p:pic>
        <p:nvPicPr>
          <p:cNvPr id="166" name="Picture 165" descr="lock.png"/>
          <p:cNvPicPr>
            <a:picLocks noChangeAspect="1"/>
          </p:cNvPicPr>
          <p:nvPr/>
        </p:nvPicPr>
        <p:blipFill>
          <a:blip r:embed="rId4"/>
          <a:stretch>
            <a:fillRect/>
          </a:stretch>
        </p:blipFill>
        <p:spPr>
          <a:xfrm>
            <a:off x="9289760" y="5049901"/>
            <a:ext cx="128699" cy="187198"/>
          </a:xfrm>
          <a:prstGeom prst="rect">
            <a:avLst/>
          </a:prstGeom>
        </p:spPr>
      </p:pic>
      <p:pic>
        <p:nvPicPr>
          <p:cNvPr id="167" name="Picture 166" descr="lock.png"/>
          <p:cNvPicPr>
            <a:picLocks noChangeAspect="1"/>
          </p:cNvPicPr>
          <p:nvPr/>
        </p:nvPicPr>
        <p:blipFill>
          <a:blip r:embed="rId4"/>
          <a:stretch>
            <a:fillRect/>
          </a:stretch>
        </p:blipFill>
        <p:spPr>
          <a:xfrm>
            <a:off x="11054687" y="5049901"/>
            <a:ext cx="128699" cy="187198"/>
          </a:xfrm>
          <a:prstGeom prst="rect">
            <a:avLst/>
          </a:prstGeom>
        </p:spPr>
      </p:pic>
      <p:pic>
        <p:nvPicPr>
          <p:cNvPr id="168" name="Picture 167" descr="lock.png"/>
          <p:cNvPicPr>
            <a:picLocks noChangeAspect="1"/>
          </p:cNvPicPr>
          <p:nvPr/>
        </p:nvPicPr>
        <p:blipFill>
          <a:blip r:embed="rId4"/>
          <a:stretch>
            <a:fillRect/>
          </a:stretch>
        </p:blipFill>
        <p:spPr>
          <a:xfrm>
            <a:off x="9289760" y="5392801"/>
            <a:ext cx="128699" cy="187198"/>
          </a:xfrm>
          <a:prstGeom prst="rect">
            <a:avLst/>
          </a:prstGeom>
        </p:spPr>
      </p:pic>
      <p:pic>
        <p:nvPicPr>
          <p:cNvPr id="169" name="Picture 168" descr="lock.png"/>
          <p:cNvPicPr>
            <a:picLocks noChangeAspect="1"/>
          </p:cNvPicPr>
          <p:nvPr/>
        </p:nvPicPr>
        <p:blipFill>
          <a:blip r:embed="rId4"/>
          <a:stretch>
            <a:fillRect/>
          </a:stretch>
        </p:blipFill>
        <p:spPr>
          <a:xfrm>
            <a:off x="11054687" y="5392801"/>
            <a:ext cx="128699" cy="187198"/>
          </a:xfrm>
          <a:prstGeom prst="rect">
            <a:avLst/>
          </a:prstGeom>
        </p:spPr>
      </p:pic>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Waterproof Coatings Market Execution Scorecard: How They Win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Six execution Ps: channel, promotion, momentum, pipeline, policy exposure and prospects</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3, EXECUTION: HOW THEY WIN</a:t>
            </a:r>
          </a:p>
        </p:txBody>
      </p:sp>
      <p:sp>
        <p:nvSpPr>
          <p:cNvPr id="12" name="TextBox 11"/>
          <p:cNvSpPr txBox="1"/>
          <p:nvPr/>
        </p:nvSpPr>
        <p:spPr>
          <a:xfrm>
            <a:off x="2038350" y="1295400"/>
            <a:ext cx="168872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Place (channel)</a:t>
            </a:r>
          </a:p>
        </p:txBody>
      </p:sp>
      <p:sp>
        <p:nvSpPr>
          <p:cNvPr id="13" name="TextBox 12"/>
          <p:cNvSpPr txBox="1"/>
          <p:nvPr/>
        </p:nvSpPr>
        <p:spPr>
          <a:xfrm>
            <a:off x="2038350" y="1657350"/>
            <a:ext cx="168872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Route to market by tier</a:t>
            </a:r>
          </a:p>
        </p:txBody>
      </p:sp>
      <p:sp>
        <p:nvSpPr>
          <p:cNvPr id="14" name="TextBox 13"/>
          <p:cNvSpPr txBox="1"/>
          <p:nvPr/>
        </p:nvSpPr>
        <p:spPr>
          <a:xfrm>
            <a:off x="3803276" y="1295400"/>
            <a:ext cx="168872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Promotion</a:t>
            </a:r>
          </a:p>
        </p:txBody>
      </p:sp>
      <p:sp>
        <p:nvSpPr>
          <p:cNvPr id="15" name="TextBox 14"/>
          <p:cNvSpPr txBox="1"/>
          <p:nvPr/>
        </p:nvSpPr>
        <p:spPr>
          <a:xfrm>
            <a:off x="3803276" y="1657350"/>
            <a:ext cx="168872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Go-to-market; not assessed</a:t>
            </a:r>
          </a:p>
        </p:txBody>
      </p:sp>
      <p:sp>
        <p:nvSpPr>
          <p:cNvPr id="16" name="TextBox 15"/>
          <p:cNvSpPr txBox="1"/>
          <p:nvPr/>
        </p:nvSpPr>
        <p:spPr>
          <a:xfrm>
            <a:off x="5568203" y="1295400"/>
            <a:ext cx="139457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Pace (momentum)</a:t>
            </a:r>
          </a:p>
        </p:txBody>
      </p:sp>
      <p:sp>
        <p:nvSpPr>
          <p:cNvPr id="17" name="TextBox 16"/>
          <p:cNvSpPr txBox="1"/>
          <p:nvPr/>
        </p:nvSpPr>
        <p:spPr>
          <a:xfrm>
            <a:off x="5568203" y="1657350"/>
            <a:ext cx="139457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Active moves: 5+ = 3, 3-4 = 2</a:t>
            </a:r>
          </a:p>
        </p:txBody>
      </p:sp>
      <p:sp>
        <p:nvSpPr>
          <p:cNvPr id="18" name="TextBox 17"/>
          <p:cNvSpPr txBox="1"/>
          <p:nvPr/>
        </p:nvSpPr>
        <p:spPr>
          <a:xfrm>
            <a:off x="7038975" y="1295400"/>
            <a:ext cx="168872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Pipeline</a:t>
            </a:r>
          </a:p>
        </p:txBody>
      </p:sp>
      <p:sp>
        <p:nvSpPr>
          <p:cNvPr id="19" name="TextBox 18"/>
          <p:cNvSpPr txBox="1"/>
          <p:nvPr/>
        </p:nvSpPr>
        <p:spPr>
          <a:xfrm>
            <a:off x="7038975" y="1657350"/>
            <a:ext cx="168872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Launch or development in motion</a:t>
            </a:r>
          </a:p>
        </p:txBody>
      </p:sp>
      <p:sp>
        <p:nvSpPr>
          <p:cNvPr id="20" name="TextBox 19"/>
          <p:cNvSpPr txBox="1"/>
          <p:nvPr/>
        </p:nvSpPr>
        <p:spPr>
          <a:xfrm>
            <a:off x="8803901" y="1295400"/>
            <a:ext cx="168872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Policy exposure</a:t>
            </a:r>
          </a:p>
        </p:txBody>
      </p:sp>
      <p:sp>
        <p:nvSpPr>
          <p:cNvPr id="21" name="TextBox 20"/>
          <p:cNvSpPr txBox="1"/>
          <p:nvPr/>
        </p:nvSpPr>
        <p:spPr>
          <a:xfrm>
            <a:off x="8803901" y="1657350"/>
            <a:ext cx="168872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Regulation in its favour or against</a:t>
            </a:r>
          </a:p>
        </p:txBody>
      </p:sp>
      <p:sp>
        <p:nvSpPr>
          <p:cNvPr id="22" name="TextBox 21"/>
          <p:cNvSpPr txBox="1"/>
          <p:nvPr/>
        </p:nvSpPr>
        <p:spPr>
          <a:xfrm>
            <a:off x="10568828" y="1295400"/>
            <a:ext cx="139457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Prospects</a:t>
            </a:r>
          </a:p>
        </p:txBody>
      </p:sp>
      <p:sp>
        <p:nvSpPr>
          <p:cNvPr id="23" name="TextBox 22"/>
          <p:cNvSpPr txBox="1"/>
          <p:nvPr/>
        </p:nvSpPr>
        <p:spPr>
          <a:xfrm>
            <a:off x="10568828" y="1657350"/>
            <a:ext cx="139457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Gaining 3, holding 2, at risk 1</a:t>
            </a:r>
          </a:p>
        </p:txBody>
      </p:sp>
      <p:cxnSp>
        <p:nvCxnSpPr>
          <p:cNvPr id="24" name="Connector 23"/>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5750" y="22479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Sika</a:t>
            </a:r>
          </a:p>
        </p:txBody>
      </p:sp>
      <p:sp>
        <p:nvSpPr>
          <p:cNvPr id="27" name="TextBox 26"/>
          <p:cNvSpPr txBox="1"/>
          <p:nvPr/>
        </p:nvSpPr>
        <p:spPr>
          <a:xfrm>
            <a:off x="285750" y="24098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28" name="TextBox 27"/>
          <p:cNvSpPr txBox="1"/>
          <p:nvPr/>
        </p:nvSpPr>
        <p:spPr>
          <a:xfrm>
            <a:off x="2038350" y="22288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29" name="TextBox 28"/>
          <p:cNvSpPr txBox="1"/>
          <p:nvPr/>
        </p:nvSpPr>
        <p:spPr>
          <a:xfrm>
            <a:off x="3765176" y="22288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0" name="Oval 29"/>
          <p:cNvSpPr/>
          <p:nvPr/>
        </p:nvSpPr>
        <p:spPr>
          <a:xfrm>
            <a:off x="6189289"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00875" y="22288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2" name="TextBox 31"/>
          <p:cNvSpPr txBox="1"/>
          <p:nvPr/>
        </p:nvSpPr>
        <p:spPr>
          <a:xfrm>
            <a:off x="8765801" y="22288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3" name="Oval 32"/>
          <p:cNvSpPr/>
          <p:nvPr/>
        </p:nvSpPr>
        <p:spPr>
          <a:xfrm>
            <a:off x="11189914"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85750" y="25908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The Sherwin-Williams</a:t>
            </a:r>
          </a:p>
        </p:txBody>
      </p:sp>
      <p:sp>
        <p:nvSpPr>
          <p:cNvPr id="37" name="TextBox 36"/>
          <p:cNvSpPr txBox="1"/>
          <p:nvPr/>
        </p:nvSpPr>
        <p:spPr>
          <a:xfrm>
            <a:off x="285750" y="27527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8" name="TextBox 37"/>
          <p:cNvSpPr txBox="1"/>
          <p:nvPr/>
        </p:nvSpPr>
        <p:spPr>
          <a:xfrm>
            <a:off x="2038350" y="25717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39" name="TextBox 38"/>
          <p:cNvSpPr txBox="1"/>
          <p:nvPr/>
        </p:nvSpPr>
        <p:spPr>
          <a:xfrm>
            <a:off x="3765176" y="25717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0" name="Oval 39"/>
          <p:cNvSpPr/>
          <p:nvPr/>
        </p:nvSpPr>
        <p:spPr>
          <a:xfrm>
            <a:off x="6189289"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38975" y="25717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42" name="TextBox 41"/>
          <p:cNvSpPr txBox="1"/>
          <p:nvPr/>
        </p:nvSpPr>
        <p:spPr>
          <a:xfrm>
            <a:off x="8765801" y="25717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3" name="Oval 42"/>
          <p:cNvSpPr/>
          <p:nvPr/>
        </p:nvSpPr>
        <p:spPr>
          <a:xfrm>
            <a:off x="11189914"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85750" y="29337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PPG Industries</a:t>
            </a:r>
          </a:p>
        </p:txBody>
      </p:sp>
      <p:sp>
        <p:nvSpPr>
          <p:cNvPr id="47" name="TextBox 46"/>
          <p:cNvSpPr txBox="1"/>
          <p:nvPr/>
        </p:nvSpPr>
        <p:spPr>
          <a:xfrm>
            <a:off x="285750" y="30956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8" name="TextBox 47"/>
          <p:cNvSpPr txBox="1"/>
          <p:nvPr/>
        </p:nvSpPr>
        <p:spPr>
          <a:xfrm>
            <a:off x="2038350" y="29146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49" name="TextBox 48"/>
          <p:cNvSpPr txBox="1"/>
          <p:nvPr/>
        </p:nvSpPr>
        <p:spPr>
          <a:xfrm>
            <a:off x="3765176" y="29146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0" name="Oval 49"/>
          <p:cNvSpPr/>
          <p:nvPr/>
        </p:nvSpPr>
        <p:spPr>
          <a:xfrm>
            <a:off x="6189289"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000875" y="29146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2" name="TextBox 51"/>
          <p:cNvSpPr txBox="1"/>
          <p:nvPr/>
        </p:nvSpPr>
        <p:spPr>
          <a:xfrm>
            <a:off x="8765801" y="29146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3" name="Oval 52"/>
          <p:cNvSpPr/>
          <p:nvPr/>
        </p:nvSpPr>
        <p:spPr>
          <a:xfrm>
            <a:off x="11189914"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85750" y="32766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Akzo Nobel</a:t>
            </a:r>
          </a:p>
        </p:txBody>
      </p:sp>
      <p:sp>
        <p:nvSpPr>
          <p:cNvPr id="57" name="TextBox 56"/>
          <p:cNvSpPr txBox="1"/>
          <p:nvPr/>
        </p:nvSpPr>
        <p:spPr>
          <a:xfrm>
            <a:off x="285750" y="34385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8" name="TextBox 57"/>
          <p:cNvSpPr txBox="1"/>
          <p:nvPr/>
        </p:nvSpPr>
        <p:spPr>
          <a:xfrm>
            <a:off x="2038350" y="32575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59" name="TextBox 58"/>
          <p:cNvSpPr txBox="1"/>
          <p:nvPr/>
        </p:nvSpPr>
        <p:spPr>
          <a:xfrm>
            <a:off x="3765176" y="32575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0" name="Oval 59"/>
          <p:cNvSpPr/>
          <p:nvPr/>
        </p:nvSpPr>
        <p:spPr>
          <a:xfrm>
            <a:off x="6189289"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038975" y="32575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62" name="TextBox 61"/>
          <p:cNvSpPr txBox="1"/>
          <p:nvPr/>
        </p:nvSpPr>
        <p:spPr>
          <a:xfrm>
            <a:off x="8765801" y="32575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3" name="Oval 62"/>
          <p:cNvSpPr/>
          <p:nvPr/>
        </p:nvSpPr>
        <p:spPr>
          <a:xfrm>
            <a:off x="11189914"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85750" y="36195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BASF</a:t>
            </a:r>
          </a:p>
        </p:txBody>
      </p:sp>
      <p:sp>
        <p:nvSpPr>
          <p:cNvPr id="67" name="TextBox 66"/>
          <p:cNvSpPr txBox="1"/>
          <p:nvPr/>
        </p:nvSpPr>
        <p:spPr>
          <a:xfrm>
            <a:off x="285750" y="37814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68" name="TextBox 67"/>
          <p:cNvSpPr txBox="1"/>
          <p:nvPr/>
        </p:nvSpPr>
        <p:spPr>
          <a:xfrm>
            <a:off x="2038350" y="36004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Distributors</a:t>
            </a:r>
          </a:p>
        </p:txBody>
      </p:sp>
      <p:sp>
        <p:nvSpPr>
          <p:cNvPr id="69" name="TextBox 68"/>
          <p:cNvSpPr txBox="1"/>
          <p:nvPr/>
        </p:nvSpPr>
        <p:spPr>
          <a:xfrm>
            <a:off x="3765176" y="36004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0" name="Oval 69"/>
          <p:cNvSpPr/>
          <p:nvPr/>
        </p:nvSpPr>
        <p:spPr>
          <a:xfrm>
            <a:off x="6189289"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000875" y="36004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2" name="TextBox 71"/>
          <p:cNvSpPr txBox="1"/>
          <p:nvPr/>
        </p:nvSpPr>
        <p:spPr>
          <a:xfrm>
            <a:off x="8765801" y="36004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3" name="Oval 72"/>
          <p:cNvSpPr/>
          <p:nvPr/>
        </p:nvSpPr>
        <p:spPr>
          <a:xfrm>
            <a:off x="11189914"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11268075"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5" name="Connector 74"/>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6" name="Rectangle 75"/>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85750" y="39624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RPM International</a:t>
            </a:r>
          </a:p>
        </p:txBody>
      </p:sp>
      <p:sp>
        <p:nvSpPr>
          <p:cNvPr id="78" name="TextBox 77"/>
          <p:cNvSpPr txBox="1"/>
          <p:nvPr/>
        </p:nvSpPr>
        <p:spPr>
          <a:xfrm>
            <a:off x="285750" y="41243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79" name="TextBox 78"/>
          <p:cNvSpPr txBox="1"/>
          <p:nvPr/>
        </p:nvSpPr>
        <p:spPr>
          <a:xfrm>
            <a:off x="2038350" y="39433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Distributors</a:t>
            </a:r>
          </a:p>
        </p:txBody>
      </p:sp>
      <p:sp>
        <p:nvSpPr>
          <p:cNvPr id="80" name="TextBox 79"/>
          <p:cNvSpPr txBox="1"/>
          <p:nvPr/>
        </p:nvSpPr>
        <p:spPr>
          <a:xfrm>
            <a:off x="3765176" y="39433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1" name="Oval 80"/>
          <p:cNvSpPr/>
          <p:nvPr/>
        </p:nvSpPr>
        <p:spPr>
          <a:xfrm>
            <a:off x="6189289"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038975" y="39433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83" name="TextBox 82"/>
          <p:cNvSpPr txBox="1"/>
          <p:nvPr/>
        </p:nvSpPr>
        <p:spPr>
          <a:xfrm>
            <a:off x="8765801" y="39433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4" name="Oval 83"/>
          <p:cNvSpPr/>
          <p:nvPr/>
        </p:nvSpPr>
        <p:spPr>
          <a:xfrm>
            <a:off x="11189914"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11268075"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6" name="Connector 85"/>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85750" y="43053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Saint-Gobain</a:t>
            </a:r>
          </a:p>
        </p:txBody>
      </p:sp>
      <p:sp>
        <p:nvSpPr>
          <p:cNvPr id="89" name="TextBox 88"/>
          <p:cNvSpPr txBox="1"/>
          <p:nvPr/>
        </p:nvSpPr>
        <p:spPr>
          <a:xfrm>
            <a:off x="285750" y="44672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90" name="TextBox 89"/>
          <p:cNvSpPr txBox="1"/>
          <p:nvPr/>
        </p:nvSpPr>
        <p:spPr>
          <a:xfrm>
            <a:off x="2038350" y="42862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91" name="TextBox 90"/>
          <p:cNvSpPr txBox="1"/>
          <p:nvPr/>
        </p:nvSpPr>
        <p:spPr>
          <a:xfrm>
            <a:off x="3765176" y="42862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2" name="Oval 91"/>
          <p:cNvSpPr/>
          <p:nvPr/>
        </p:nvSpPr>
        <p:spPr>
          <a:xfrm>
            <a:off x="6189289" y="43815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000875" y="42862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4" name="TextBox 93"/>
          <p:cNvSpPr txBox="1"/>
          <p:nvPr/>
        </p:nvSpPr>
        <p:spPr>
          <a:xfrm>
            <a:off x="8765801" y="42862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5" name="Oval 94"/>
          <p:cNvSpPr/>
          <p:nvPr/>
        </p:nvSpPr>
        <p:spPr>
          <a:xfrm>
            <a:off x="11189914"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11268075" y="4381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7" name="Connector 96"/>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8" name="Rectangle 97"/>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285750" y="46482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Mapei</a:t>
            </a:r>
          </a:p>
        </p:txBody>
      </p:sp>
      <p:sp>
        <p:nvSpPr>
          <p:cNvPr id="100" name="TextBox 99"/>
          <p:cNvSpPr txBox="1"/>
          <p:nvPr/>
        </p:nvSpPr>
        <p:spPr>
          <a:xfrm>
            <a:off x="285750" y="48101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01" name="TextBox 100"/>
          <p:cNvSpPr txBox="1"/>
          <p:nvPr/>
        </p:nvSpPr>
        <p:spPr>
          <a:xfrm>
            <a:off x="2038350" y="46291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02" name="TextBox 101"/>
          <p:cNvSpPr txBox="1"/>
          <p:nvPr/>
        </p:nvSpPr>
        <p:spPr>
          <a:xfrm>
            <a:off x="3765176" y="46291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3" name="Oval 102"/>
          <p:cNvSpPr/>
          <p:nvPr/>
        </p:nvSpPr>
        <p:spPr>
          <a:xfrm>
            <a:off x="6189289"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7038975" y="46291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105" name="TextBox 104"/>
          <p:cNvSpPr txBox="1"/>
          <p:nvPr/>
        </p:nvSpPr>
        <p:spPr>
          <a:xfrm>
            <a:off x="8765801" y="46291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6" name="Oval 105"/>
          <p:cNvSpPr/>
          <p:nvPr/>
        </p:nvSpPr>
        <p:spPr>
          <a:xfrm>
            <a:off x="11189914"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Freeform 106"/>
          <p:cNvSpPr/>
          <p:nvPr/>
        </p:nvSpPr>
        <p:spPr>
          <a:xfrm>
            <a:off x="11268075" y="4724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8" name="Connector 107"/>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9" name="Rectangle 108"/>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285750" y="49911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Henkel AG &amp; Co. KGaA</a:t>
            </a:r>
          </a:p>
        </p:txBody>
      </p:sp>
      <p:sp>
        <p:nvSpPr>
          <p:cNvPr id="111" name="TextBox 110"/>
          <p:cNvSpPr txBox="1"/>
          <p:nvPr/>
        </p:nvSpPr>
        <p:spPr>
          <a:xfrm>
            <a:off x="285750" y="51530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2" name="TextBox 111"/>
          <p:cNvSpPr txBox="1"/>
          <p:nvPr/>
        </p:nvSpPr>
        <p:spPr>
          <a:xfrm>
            <a:off x="2038350" y="49720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13" name="TextBox 112"/>
          <p:cNvSpPr txBox="1"/>
          <p:nvPr/>
        </p:nvSpPr>
        <p:spPr>
          <a:xfrm>
            <a:off x="3765176" y="49720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4" name="Oval 113"/>
          <p:cNvSpPr/>
          <p:nvPr/>
        </p:nvSpPr>
        <p:spPr>
          <a:xfrm>
            <a:off x="6189289" y="50673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7000875" y="49720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6" name="TextBox 115"/>
          <p:cNvSpPr txBox="1"/>
          <p:nvPr/>
        </p:nvSpPr>
        <p:spPr>
          <a:xfrm>
            <a:off x="8765801" y="49720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7" name="Oval 116"/>
          <p:cNvSpPr/>
          <p:nvPr/>
        </p:nvSpPr>
        <p:spPr>
          <a:xfrm>
            <a:off x="11189914"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11268075" y="5067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9" name="Connector 118"/>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0" name="Rectangle 119"/>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285750" y="53340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Dow</a:t>
            </a:r>
          </a:p>
        </p:txBody>
      </p:sp>
      <p:sp>
        <p:nvSpPr>
          <p:cNvPr id="122" name="TextBox 121"/>
          <p:cNvSpPr txBox="1"/>
          <p:nvPr/>
        </p:nvSpPr>
        <p:spPr>
          <a:xfrm>
            <a:off x="285750" y="54959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3" name="TextBox 122"/>
          <p:cNvSpPr txBox="1"/>
          <p:nvPr/>
        </p:nvSpPr>
        <p:spPr>
          <a:xfrm>
            <a:off x="2038350" y="53149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24" name="TextBox 123"/>
          <p:cNvSpPr txBox="1"/>
          <p:nvPr/>
        </p:nvSpPr>
        <p:spPr>
          <a:xfrm>
            <a:off x="3765176" y="53149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5" name="Oval 124"/>
          <p:cNvSpPr/>
          <p:nvPr/>
        </p:nvSpPr>
        <p:spPr>
          <a:xfrm>
            <a:off x="6189289" y="54102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7038975" y="53149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127" name="TextBox 126"/>
          <p:cNvSpPr txBox="1"/>
          <p:nvPr/>
        </p:nvSpPr>
        <p:spPr>
          <a:xfrm>
            <a:off x="8765801" y="53149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8" name="Oval 127"/>
          <p:cNvSpPr/>
          <p:nvPr/>
        </p:nvSpPr>
        <p:spPr>
          <a:xfrm>
            <a:off x="11189914"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Freeform 128"/>
          <p:cNvSpPr/>
          <p:nvPr/>
        </p:nvSpPr>
        <p:spPr>
          <a:xfrm>
            <a:off x="11268075" y="5410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0" name="Connector 129"/>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1" name="Oval 130"/>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33" name="Oval 132"/>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reeform 133"/>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36" name="Oval 135"/>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Freeform 136"/>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39" name="Oval 138"/>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41" name="TextBox 140"/>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42" name="TextBox 141"/>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Momentum sits with the players running the most strategic moves; prospects combine breadth, reach, scale and pace.  Promotion and policy exposure need market and regulatory research.</a:t>
            </a:r>
          </a:p>
        </p:txBody>
      </p:sp>
      <p:sp>
        <p:nvSpPr>
          <p:cNvPr id="143" name="TextBox 14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44" name="Picture 143" descr="lock.png"/>
          <p:cNvPicPr>
            <a:picLocks noChangeAspect="1"/>
          </p:cNvPicPr>
          <p:nvPr/>
        </p:nvPicPr>
        <p:blipFill>
          <a:blip r:embed="rId4"/>
          <a:stretch>
            <a:fillRect/>
          </a:stretch>
        </p:blipFill>
        <p:spPr>
          <a:xfrm>
            <a:off x="4583289" y="2306701"/>
            <a:ext cx="128699" cy="187198"/>
          </a:xfrm>
          <a:prstGeom prst="rect">
            <a:avLst/>
          </a:prstGeom>
        </p:spPr>
      </p:pic>
      <p:pic>
        <p:nvPicPr>
          <p:cNvPr id="145" name="Picture 144" descr="lock.png"/>
          <p:cNvPicPr>
            <a:picLocks noChangeAspect="1"/>
          </p:cNvPicPr>
          <p:nvPr/>
        </p:nvPicPr>
        <p:blipFill>
          <a:blip r:embed="rId4"/>
          <a:stretch>
            <a:fillRect/>
          </a:stretch>
        </p:blipFill>
        <p:spPr>
          <a:xfrm>
            <a:off x="7818988" y="2306701"/>
            <a:ext cx="128699" cy="187198"/>
          </a:xfrm>
          <a:prstGeom prst="rect">
            <a:avLst/>
          </a:prstGeom>
        </p:spPr>
      </p:pic>
      <p:pic>
        <p:nvPicPr>
          <p:cNvPr id="146" name="Picture 145" descr="lock.png"/>
          <p:cNvPicPr>
            <a:picLocks noChangeAspect="1"/>
          </p:cNvPicPr>
          <p:nvPr/>
        </p:nvPicPr>
        <p:blipFill>
          <a:blip r:embed="rId4"/>
          <a:stretch>
            <a:fillRect/>
          </a:stretch>
        </p:blipFill>
        <p:spPr>
          <a:xfrm>
            <a:off x="9583914" y="2306701"/>
            <a:ext cx="128699" cy="187198"/>
          </a:xfrm>
          <a:prstGeom prst="rect">
            <a:avLst/>
          </a:prstGeom>
        </p:spPr>
      </p:pic>
      <p:pic>
        <p:nvPicPr>
          <p:cNvPr id="147" name="Picture 146" descr="lock.png"/>
          <p:cNvPicPr>
            <a:picLocks noChangeAspect="1"/>
          </p:cNvPicPr>
          <p:nvPr/>
        </p:nvPicPr>
        <p:blipFill>
          <a:blip r:embed="rId4"/>
          <a:stretch>
            <a:fillRect/>
          </a:stretch>
        </p:blipFill>
        <p:spPr>
          <a:xfrm>
            <a:off x="4583289" y="2649601"/>
            <a:ext cx="128699" cy="187198"/>
          </a:xfrm>
          <a:prstGeom prst="rect">
            <a:avLst/>
          </a:prstGeom>
        </p:spPr>
      </p:pic>
      <p:pic>
        <p:nvPicPr>
          <p:cNvPr id="148" name="Picture 147" descr="lock.png"/>
          <p:cNvPicPr>
            <a:picLocks noChangeAspect="1"/>
          </p:cNvPicPr>
          <p:nvPr/>
        </p:nvPicPr>
        <p:blipFill>
          <a:blip r:embed="rId4"/>
          <a:stretch>
            <a:fillRect/>
          </a:stretch>
        </p:blipFill>
        <p:spPr>
          <a:xfrm>
            <a:off x="9583914" y="2649601"/>
            <a:ext cx="128699" cy="187198"/>
          </a:xfrm>
          <a:prstGeom prst="rect">
            <a:avLst/>
          </a:prstGeom>
        </p:spPr>
      </p:pic>
      <p:pic>
        <p:nvPicPr>
          <p:cNvPr id="149" name="Picture 148" descr="lock.png"/>
          <p:cNvPicPr>
            <a:picLocks noChangeAspect="1"/>
          </p:cNvPicPr>
          <p:nvPr/>
        </p:nvPicPr>
        <p:blipFill>
          <a:blip r:embed="rId4"/>
          <a:stretch>
            <a:fillRect/>
          </a:stretch>
        </p:blipFill>
        <p:spPr>
          <a:xfrm>
            <a:off x="4583289" y="2992501"/>
            <a:ext cx="128699" cy="187198"/>
          </a:xfrm>
          <a:prstGeom prst="rect">
            <a:avLst/>
          </a:prstGeom>
        </p:spPr>
      </p:pic>
      <p:pic>
        <p:nvPicPr>
          <p:cNvPr id="150" name="Picture 149" descr="lock.png"/>
          <p:cNvPicPr>
            <a:picLocks noChangeAspect="1"/>
          </p:cNvPicPr>
          <p:nvPr/>
        </p:nvPicPr>
        <p:blipFill>
          <a:blip r:embed="rId4"/>
          <a:stretch>
            <a:fillRect/>
          </a:stretch>
        </p:blipFill>
        <p:spPr>
          <a:xfrm>
            <a:off x="7818988" y="2992501"/>
            <a:ext cx="128699" cy="187198"/>
          </a:xfrm>
          <a:prstGeom prst="rect">
            <a:avLst/>
          </a:prstGeom>
        </p:spPr>
      </p:pic>
      <p:pic>
        <p:nvPicPr>
          <p:cNvPr id="151" name="Picture 150" descr="lock.png"/>
          <p:cNvPicPr>
            <a:picLocks noChangeAspect="1"/>
          </p:cNvPicPr>
          <p:nvPr/>
        </p:nvPicPr>
        <p:blipFill>
          <a:blip r:embed="rId4"/>
          <a:stretch>
            <a:fillRect/>
          </a:stretch>
        </p:blipFill>
        <p:spPr>
          <a:xfrm>
            <a:off x="9583914" y="2992501"/>
            <a:ext cx="128699" cy="187198"/>
          </a:xfrm>
          <a:prstGeom prst="rect">
            <a:avLst/>
          </a:prstGeom>
        </p:spPr>
      </p:pic>
      <p:pic>
        <p:nvPicPr>
          <p:cNvPr id="152" name="Picture 151" descr="lock.png"/>
          <p:cNvPicPr>
            <a:picLocks noChangeAspect="1"/>
          </p:cNvPicPr>
          <p:nvPr/>
        </p:nvPicPr>
        <p:blipFill>
          <a:blip r:embed="rId4"/>
          <a:stretch>
            <a:fillRect/>
          </a:stretch>
        </p:blipFill>
        <p:spPr>
          <a:xfrm>
            <a:off x="4583289" y="3335401"/>
            <a:ext cx="128699" cy="187198"/>
          </a:xfrm>
          <a:prstGeom prst="rect">
            <a:avLst/>
          </a:prstGeom>
        </p:spPr>
      </p:pic>
      <p:pic>
        <p:nvPicPr>
          <p:cNvPr id="153" name="Picture 152" descr="lock.png"/>
          <p:cNvPicPr>
            <a:picLocks noChangeAspect="1"/>
          </p:cNvPicPr>
          <p:nvPr/>
        </p:nvPicPr>
        <p:blipFill>
          <a:blip r:embed="rId4"/>
          <a:stretch>
            <a:fillRect/>
          </a:stretch>
        </p:blipFill>
        <p:spPr>
          <a:xfrm>
            <a:off x="9583914" y="3335401"/>
            <a:ext cx="128699" cy="187198"/>
          </a:xfrm>
          <a:prstGeom prst="rect">
            <a:avLst/>
          </a:prstGeom>
        </p:spPr>
      </p:pic>
      <p:pic>
        <p:nvPicPr>
          <p:cNvPr id="154" name="Picture 153" descr="lock.png"/>
          <p:cNvPicPr>
            <a:picLocks noChangeAspect="1"/>
          </p:cNvPicPr>
          <p:nvPr/>
        </p:nvPicPr>
        <p:blipFill>
          <a:blip r:embed="rId4"/>
          <a:stretch>
            <a:fillRect/>
          </a:stretch>
        </p:blipFill>
        <p:spPr>
          <a:xfrm>
            <a:off x="4583289" y="3678301"/>
            <a:ext cx="128699" cy="187198"/>
          </a:xfrm>
          <a:prstGeom prst="rect">
            <a:avLst/>
          </a:prstGeom>
        </p:spPr>
      </p:pic>
      <p:pic>
        <p:nvPicPr>
          <p:cNvPr id="155" name="Picture 154" descr="lock.png"/>
          <p:cNvPicPr>
            <a:picLocks noChangeAspect="1"/>
          </p:cNvPicPr>
          <p:nvPr/>
        </p:nvPicPr>
        <p:blipFill>
          <a:blip r:embed="rId4"/>
          <a:stretch>
            <a:fillRect/>
          </a:stretch>
        </p:blipFill>
        <p:spPr>
          <a:xfrm>
            <a:off x="7818988" y="3678301"/>
            <a:ext cx="128699" cy="187198"/>
          </a:xfrm>
          <a:prstGeom prst="rect">
            <a:avLst/>
          </a:prstGeom>
        </p:spPr>
      </p:pic>
      <p:pic>
        <p:nvPicPr>
          <p:cNvPr id="156" name="Picture 155" descr="lock.png"/>
          <p:cNvPicPr>
            <a:picLocks noChangeAspect="1"/>
          </p:cNvPicPr>
          <p:nvPr/>
        </p:nvPicPr>
        <p:blipFill>
          <a:blip r:embed="rId4"/>
          <a:stretch>
            <a:fillRect/>
          </a:stretch>
        </p:blipFill>
        <p:spPr>
          <a:xfrm>
            <a:off x="9583914" y="3678301"/>
            <a:ext cx="128699" cy="187198"/>
          </a:xfrm>
          <a:prstGeom prst="rect">
            <a:avLst/>
          </a:prstGeom>
        </p:spPr>
      </p:pic>
      <p:pic>
        <p:nvPicPr>
          <p:cNvPr id="157" name="Picture 156" descr="lock.png"/>
          <p:cNvPicPr>
            <a:picLocks noChangeAspect="1"/>
          </p:cNvPicPr>
          <p:nvPr/>
        </p:nvPicPr>
        <p:blipFill>
          <a:blip r:embed="rId4"/>
          <a:stretch>
            <a:fillRect/>
          </a:stretch>
        </p:blipFill>
        <p:spPr>
          <a:xfrm>
            <a:off x="4583289" y="4021201"/>
            <a:ext cx="128699" cy="187198"/>
          </a:xfrm>
          <a:prstGeom prst="rect">
            <a:avLst/>
          </a:prstGeom>
        </p:spPr>
      </p:pic>
      <p:pic>
        <p:nvPicPr>
          <p:cNvPr id="158" name="Picture 157" descr="lock.png"/>
          <p:cNvPicPr>
            <a:picLocks noChangeAspect="1"/>
          </p:cNvPicPr>
          <p:nvPr/>
        </p:nvPicPr>
        <p:blipFill>
          <a:blip r:embed="rId4"/>
          <a:stretch>
            <a:fillRect/>
          </a:stretch>
        </p:blipFill>
        <p:spPr>
          <a:xfrm>
            <a:off x="9583914" y="4021201"/>
            <a:ext cx="128699" cy="187198"/>
          </a:xfrm>
          <a:prstGeom prst="rect">
            <a:avLst/>
          </a:prstGeom>
        </p:spPr>
      </p:pic>
      <p:pic>
        <p:nvPicPr>
          <p:cNvPr id="159" name="Picture 158" descr="lock.png"/>
          <p:cNvPicPr>
            <a:picLocks noChangeAspect="1"/>
          </p:cNvPicPr>
          <p:nvPr/>
        </p:nvPicPr>
        <p:blipFill>
          <a:blip r:embed="rId4"/>
          <a:stretch>
            <a:fillRect/>
          </a:stretch>
        </p:blipFill>
        <p:spPr>
          <a:xfrm>
            <a:off x="4583289" y="4364101"/>
            <a:ext cx="128699" cy="187198"/>
          </a:xfrm>
          <a:prstGeom prst="rect">
            <a:avLst/>
          </a:prstGeom>
        </p:spPr>
      </p:pic>
      <p:pic>
        <p:nvPicPr>
          <p:cNvPr id="160" name="Picture 159" descr="lock.png"/>
          <p:cNvPicPr>
            <a:picLocks noChangeAspect="1"/>
          </p:cNvPicPr>
          <p:nvPr/>
        </p:nvPicPr>
        <p:blipFill>
          <a:blip r:embed="rId4"/>
          <a:stretch>
            <a:fillRect/>
          </a:stretch>
        </p:blipFill>
        <p:spPr>
          <a:xfrm>
            <a:off x="7818988" y="4364101"/>
            <a:ext cx="128699" cy="187198"/>
          </a:xfrm>
          <a:prstGeom prst="rect">
            <a:avLst/>
          </a:prstGeom>
        </p:spPr>
      </p:pic>
      <p:pic>
        <p:nvPicPr>
          <p:cNvPr id="161" name="Picture 160" descr="lock.png"/>
          <p:cNvPicPr>
            <a:picLocks noChangeAspect="1"/>
          </p:cNvPicPr>
          <p:nvPr/>
        </p:nvPicPr>
        <p:blipFill>
          <a:blip r:embed="rId4"/>
          <a:stretch>
            <a:fillRect/>
          </a:stretch>
        </p:blipFill>
        <p:spPr>
          <a:xfrm>
            <a:off x="9583914" y="4364101"/>
            <a:ext cx="128699" cy="187198"/>
          </a:xfrm>
          <a:prstGeom prst="rect">
            <a:avLst/>
          </a:prstGeom>
        </p:spPr>
      </p:pic>
      <p:pic>
        <p:nvPicPr>
          <p:cNvPr id="162" name="Picture 161" descr="lock.png"/>
          <p:cNvPicPr>
            <a:picLocks noChangeAspect="1"/>
          </p:cNvPicPr>
          <p:nvPr/>
        </p:nvPicPr>
        <p:blipFill>
          <a:blip r:embed="rId4"/>
          <a:stretch>
            <a:fillRect/>
          </a:stretch>
        </p:blipFill>
        <p:spPr>
          <a:xfrm>
            <a:off x="4583289" y="4707001"/>
            <a:ext cx="128699" cy="187198"/>
          </a:xfrm>
          <a:prstGeom prst="rect">
            <a:avLst/>
          </a:prstGeom>
        </p:spPr>
      </p:pic>
      <p:pic>
        <p:nvPicPr>
          <p:cNvPr id="163" name="Picture 162" descr="lock.png"/>
          <p:cNvPicPr>
            <a:picLocks noChangeAspect="1"/>
          </p:cNvPicPr>
          <p:nvPr/>
        </p:nvPicPr>
        <p:blipFill>
          <a:blip r:embed="rId4"/>
          <a:stretch>
            <a:fillRect/>
          </a:stretch>
        </p:blipFill>
        <p:spPr>
          <a:xfrm>
            <a:off x="9583914" y="4707001"/>
            <a:ext cx="128699" cy="187198"/>
          </a:xfrm>
          <a:prstGeom prst="rect">
            <a:avLst/>
          </a:prstGeom>
        </p:spPr>
      </p:pic>
      <p:pic>
        <p:nvPicPr>
          <p:cNvPr id="164" name="Picture 163" descr="lock.png"/>
          <p:cNvPicPr>
            <a:picLocks noChangeAspect="1"/>
          </p:cNvPicPr>
          <p:nvPr/>
        </p:nvPicPr>
        <p:blipFill>
          <a:blip r:embed="rId4"/>
          <a:stretch>
            <a:fillRect/>
          </a:stretch>
        </p:blipFill>
        <p:spPr>
          <a:xfrm>
            <a:off x="4583289" y="5049901"/>
            <a:ext cx="128699" cy="187198"/>
          </a:xfrm>
          <a:prstGeom prst="rect">
            <a:avLst/>
          </a:prstGeom>
        </p:spPr>
      </p:pic>
      <p:pic>
        <p:nvPicPr>
          <p:cNvPr id="165" name="Picture 164" descr="lock.png"/>
          <p:cNvPicPr>
            <a:picLocks noChangeAspect="1"/>
          </p:cNvPicPr>
          <p:nvPr/>
        </p:nvPicPr>
        <p:blipFill>
          <a:blip r:embed="rId4"/>
          <a:stretch>
            <a:fillRect/>
          </a:stretch>
        </p:blipFill>
        <p:spPr>
          <a:xfrm>
            <a:off x="7818988" y="5049901"/>
            <a:ext cx="128699" cy="187198"/>
          </a:xfrm>
          <a:prstGeom prst="rect">
            <a:avLst/>
          </a:prstGeom>
        </p:spPr>
      </p:pic>
      <p:pic>
        <p:nvPicPr>
          <p:cNvPr id="166" name="Picture 165" descr="lock.png"/>
          <p:cNvPicPr>
            <a:picLocks noChangeAspect="1"/>
          </p:cNvPicPr>
          <p:nvPr/>
        </p:nvPicPr>
        <p:blipFill>
          <a:blip r:embed="rId4"/>
          <a:stretch>
            <a:fillRect/>
          </a:stretch>
        </p:blipFill>
        <p:spPr>
          <a:xfrm>
            <a:off x="9583914" y="5049901"/>
            <a:ext cx="128699" cy="187198"/>
          </a:xfrm>
          <a:prstGeom prst="rect">
            <a:avLst/>
          </a:prstGeom>
        </p:spPr>
      </p:pic>
      <p:pic>
        <p:nvPicPr>
          <p:cNvPr id="167" name="Picture 166" descr="lock.png"/>
          <p:cNvPicPr>
            <a:picLocks noChangeAspect="1"/>
          </p:cNvPicPr>
          <p:nvPr/>
        </p:nvPicPr>
        <p:blipFill>
          <a:blip r:embed="rId4"/>
          <a:stretch>
            <a:fillRect/>
          </a:stretch>
        </p:blipFill>
        <p:spPr>
          <a:xfrm>
            <a:off x="4583289" y="5392801"/>
            <a:ext cx="128699" cy="187198"/>
          </a:xfrm>
          <a:prstGeom prst="rect">
            <a:avLst/>
          </a:prstGeom>
        </p:spPr>
      </p:pic>
      <p:pic>
        <p:nvPicPr>
          <p:cNvPr id="168" name="Picture 167" descr="lock.png"/>
          <p:cNvPicPr>
            <a:picLocks noChangeAspect="1"/>
          </p:cNvPicPr>
          <p:nvPr/>
        </p:nvPicPr>
        <p:blipFill>
          <a:blip r:embed="rId4"/>
          <a:stretch>
            <a:fillRect/>
          </a:stretch>
        </p:blipFill>
        <p:spPr>
          <a:xfrm>
            <a:off x="9583914" y="5392801"/>
            <a:ext cx="128699" cy="187198"/>
          </a:xfrm>
          <a:prstGeom prst="rect">
            <a:avLst/>
          </a:prstGeom>
        </p:spPr>
      </p:pic>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Waterproof Coatings Market Success Factors and Composite Ranking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Five weighted success factors and the composite ranking they produce</a:t>
            </a:r>
          </a:p>
        </p:txBody>
      </p:sp>
      <p:sp>
        <p:nvSpPr>
          <p:cNvPr id="10" name="TextBox 9"/>
          <p:cNvSpPr txBox="1"/>
          <p:nvPr/>
        </p:nvSpPr>
        <p:spPr>
          <a:xfrm>
            <a:off x="21336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1. Segment breadth</a:t>
            </a:r>
          </a:p>
        </p:txBody>
      </p:sp>
      <p:sp>
        <p:nvSpPr>
          <p:cNvPr id="11" name="TextBox 10"/>
          <p:cNvSpPr txBox="1"/>
          <p:nvPr/>
        </p:nvSpPr>
        <p:spPr>
          <a:xfrm>
            <a:off x="21336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2" name="TextBox 11"/>
          <p:cNvSpPr txBox="1"/>
          <p:nvPr/>
        </p:nvSpPr>
        <p:spPr>
          <a:xfrm>
            <a:off x="21336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Lead or be active in several sub-segments</a:t>
            </a:r>
          </a:p>
        </p:txBody>
      </p:sp>
      <p:sp>
        <p:nvSpPr>
          <p:cNvPr id="13" name="TextBox 12"/>
          <p:cNvSpPr txBox="1"/>
          <p:nvPr/>
        </p:nvSpPr>
        <p:spPr>
          <a:xfrm>
            <a:off x="379095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2. Scale and share</a:t>
            </a:r>
          </a:p>
        </p:txBody>
      </p:sp>
      <p:sp>
        <p:nvSpPr>
          <p:cNvPr id="14" name="TextBox 13"/>
          <p:cNvSpPr txBox="1"/>
          <p:nvPr/>
        </p:nvSpPr>
        <p:spPr>
          <a:xfrm>
            <a:off x="379095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5" name="TextBox 14"/>
          <p:cNvSpPr txBox="1"/>
          <p:nvPr/>
        </p:nvSpPr>
        <p:spPr>
          <a:xfrm>
            <a:off x="379095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Tier position and share of market value</a:t>
            </a:r>
          </a:p>
        </p:txBody>
      </p:sp>
      <p:sp>
        <p:nvSpPr>
          <p:cNvPr id="16" name="TextBox 15"/>
          <p:cNvSpPr txBox="1"/>
          <p:nvPr/>
        </p:nvSpPr>
        <p:spPr>
          <a:xfrm>
            <a:off x="54483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3. Geographic reach</a:t>
            </a:r>
          </a:p>
        </p:txBody>
      </p:sp>
      <p:sp>
        <p:nvSpPr>
          <p:cNvPr id="17" name="TextBox 16"/>
          <p:cNvSpPr txBox="1"/>
          <p:nvPr/>
        </p:nvSpPr>
        <p:spPr>
          <a:xfrm>
            <a:off x="54483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8" name="TextBox 17"/>
          <p:cNvSpPr txBox="1"/>
          <p:nvPr/>
        </p:nvSpPr>
        <p:spPr>
          <a:xfrm>
            <a:off x="54483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Global, regional or single-market footprint</a:t>
            </a:r>
          </a:p>
        </p:txBody>
      </p:sp>
      <p:sp>
        <p:nvSpPr>
          <p:cNvPr id="19" name="TextBox 18"/>
          <p:cNvSpPr txBox="1"/>
          <p:nvPr/>
        </p:nvSpPr>
        <p:spPr>
          <a:xfrm>
            <a:off x="710565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4. Innovation pipeline</a:t>
            </a:r>
          </a:p>
        </p:txBody>
      </p:sp>
      <p:sp>
        <p:nvSpPr>
          <p:cNvPr id="20" name="TextBox 19"/>
          <p:cNvSpPr txBox="1"/>
          <p:nvPr/>
        </p:nvSpPr>
        <p:spPr>
          <a:xfrm>
            <a:off x="710565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21" name="TextBox 20"/>
          <p:cNvSpPr txBox="1"/>
          <p:nvPr/>
        </p:nvSpPr>
        <p:spPr>
          <a:xfrm>
            <a:off x="710565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R&amp;D and product development in motion</a:t>
            </a:r>
          </a:p>
        </p:txBody>
      </p:sp>
      <p:sp>
        <p:nvSpPr>
          <p:cNvPr id="22" name="TextBox 21"/>
          <p:cNvSpPr txBox="1"/>
          <p:nvPr/>
        </p:nvSpPr>
        <p:spPr>
          <a:xfrm>
            <a:off x="87630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5. Strategic momentum</a:t>
            </a:r>
          </a:p>
        </p:txBody>
      </p:sp>
      <p:sp>
        <p:nvSpPr>
          <p:cNvPr id="23" name="TextBox 22"/>
          <p:cNvSpPr txBox="1"/>
          <p:nvPr/>
        </p:nvSpPr>
        <p:spPr>
          <a:xfrm>
            <a:off x="87630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24" name="TextBox 23"/>
          <p:cNvSpPr txBox="1"/>
          <p:nvPr/>
        </p:nvSpPr>
        <p:spPr>
          <a:xfrm>
            <a:off x="87630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Number of active strategic moves</a:t>
            </a:r>
          </a:p>
        </p:txBody>
      </p:sp>
      <p:sp>
        <p:nvSpPr>
          <p:cNvPr id="25" name="TextBox 24"/>
          <p:cNvSpPr txBox="1"/>
          <p:nvPr/>
        </p:nvSpPr>
        <p:spPr>
          <a:xfrm>
            <a:off x="10420350" y="1047750"/>
            <a:ext cx="1619250" cy="171450"/>
          </a:xfrm>
          <a:prstGeom prst="rect">
            <a:avLst/>
          </a:prstGeom>
          <a:noFill/>
        </p:spPr>
        <p:txBody>
          <a:bodyPr wrap="square" lIns="28575" rIns="28575" tIns="9525" bIns="9525" anchor="t">
            <a:spAutoFit/>
          </a:bodyPr>
          <a:lstStyle/>
          <a:p>
            <a:pPr algn="l"/>
            <a:r>
              <a:rPr sz="1100" b="1">
                <a:solidFill>
                  <a:srgbClr val="0F2D52"/>
                </a:solidFill>
                <a:latin typeface="Calibri"/>
              </a:rPr>
              <a:t>Composite</a:t>
            </a:r>
          </a:p>
        </p:txBody>
      </p:sp>
      <p:sp>
        <p:nvSpPr>
          <p:cNvPr id="26" name="TextBox 25"/>
          <p:cNvSpPr txBox="1"/>
          <p:nvPr/>
        </p:nvSpPr>
        <p:spPr>
          <a:xfrm>
            <a:off x="10420350" y="1219200"/>
            <a:ext cx="1619250" cy="152400"/>
          </a:xfrm>
          <a:prstGeom prst="rect">
            <a:avLst/>
          </a:prstGeom>
          <a:noFill/>
        </p:spPr>
        <p:txBody>
          <a:bodyPr wrap="square" lIns="28575" rIns="28575" tIns="9525" bIns="9525" anchor="t">
            <a:spAutoFit/>
          </a:bodyPr>
          <a:lstStyle/>
          <a:p>
            <a:pPr algn="l"/>
            <a:r>
              <a:rPr sz="1100" b="0">
                <a:solidFill>
                  <a:srgbClr val="1F2933"/>
                </a:solidFill>
                <a:latin typeface="Calibri"/>
              </a:rPr>
              <a:t>weighted 0 to 3</a:t>
            </a:r>
          </a:p>
        </p:txBody>
      </p:sp>
      <p:cxnSp>
        <p:nvCxnSpPr>
          <p:cNvPr id="27" name="Connector 26"/>
          <p:cNvCxnSpPr/>
          <p:nvPr/>
        </p:nvCxnSpPr>
        <p:spPr>
          <a:xfrm>
            <a:off x="190500" y="17526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190500" y="18478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5750" y="18097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The Sherwin-Williams</a:t>
            </a:r>
          </a:p>
        </p:txBody>
      </p:sp>
      <p:sp>
        <p:nvSpPr>
          <p:cNvPr id="30" name="Oval 29"/>
          <p:cNvSpPr/>
          <p:nvPr/>
        </p:nvSpPr>
        <p:spPr>
          <a:xfrm>
            <a:off x="28479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0532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1626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2002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4773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420350" y="1895475"/>
            <a:ext cx="11430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601450" y="18097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37" name="Connector 36"/>
          <p:cNvCxnSpPr/>
          <p:nvPr/>
        </p:nvCxnSpPr>
        <p:spPr>
          <a:xfrm>
            <a:off x="190500" y="2114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190500" y="21526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85750" y="21145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Sika</a:t>
            </a:r>
          </a:p>
        </p:txBody>
      </p:sp>
      <p:sp>
        <p:nvSpPr>
          <p:cNvPr id="40" name="Oval 39"/>
          <p:cNvSpPr/>
          <p:nvPr/>
        </p:nvSpPr>
        <p:spPr>
          <a:xfrm>
            <a:off x="28479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50532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1626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820025" y="2190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7896225" y="2190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4773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420350" y="2200275"/>
            <a:ext cx="10858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544300" y="21145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48" name="Connector 47"/>
          <p:cNvCxnSpPr/>
          <p:nvPr/>
        </p:nvCxnSpPr>
        <p:spPr>
          <a:xfrm>
            <a:off x="190500" y="2419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190500" y="24574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85750" y="24193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PPG Industries</a:t>
            </a:r>
          </a:p>
        </p:txBody>
      </p:sp>
      <p:sp>
        <p:nvSpPr>
          <p:cNvPr id="51" name="Oval 50"/>
          <p:cNvSpPr/>
          <p:nvPr/>
        </p:nvSpPr>
        <p:spPr>
          <a:xfrm>
            <a:off x="28479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50532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61626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7820025" y="2495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reeform 54"/>
          <p:cNvSpPr/>
          <p:nvPr/>
        </p:nvSpPr>
        <p:spPr>
          <a:xfrm>
            <a:off x="7896225" y="2495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94773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420350" y="2505075"/>
            <a:ext cx="10858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1544300" y="24193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59" name="Connector 58"/>
          <p:cNvCxnSpPr/>
          <p:nvPr/>
        </p:nvCxnSpPr>
        <p:spPr>
          <a:xfrm>
            <a:off x="190500" y="2724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190500" y="27622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85750" y="27241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Akzo Nobel</a:t>
            </a:r>
          </a:p>
        </p:txBody>
      </p:sp>
      <p:sp>
        <p:nvSpPr>
          <p:cNvPr id="62" name="Oval 61"/>
          <p:cNvSpPr/>
          <p:nvPr/>
        </p:nvSpPr>
        <p:spPr>
          <a:xfrm>
            <a:off x="2847975" y="2800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2924175" y="2800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450532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61626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782002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94773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0420350" y="2809875"/>
            <a:ext cx="10287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487150" y="27241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70" name="Connector 69"/>
          <p:cNvCxnSpPr/>
          <p:nvPr/>
        </p:nvCxnSpPr>
        <p:spPr>
          <a:xfrm>
            <a:off x="190500" y="3028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1" name="Rectangle 70"/>
          <p:cNvSpPr/>
          <p:nvPr/>
        </p:nvSpPr>
        <p:spPr>
          <a:xfrm>
            <a:off x="190500" y="30670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85750" y="30289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RPM International</a:t>
            </a:r>
          </a:p>
        </p:txBody>
      </p:sp>
      <p:sp>
        <p:nvSpPr>
          <p:cNvPr id="73" name="Oval 72"/>
          <p:cNvSpPr/>
          <p:nvPr/>
        </p:nvSpPr>
        <p:spPr>
          <a:xfrm>
            <a:off x="28479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29241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450532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458152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1626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62388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782002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947737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10420350" y="3114675"/>
            <a:ext cx="8763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1334750" y="30289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83" name="Connector 82"/>
          <p:cNvCxnSpPr/>
          <p:nvPr/>
        </p:nvCxnSpPr>
        <p:spPr>
          <a:xfrm>
            <a:off x="190500" y="3333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4" name="Rectangle 83"/>
          <p:cNvSpPr/>
          <p:nvPr/>
        </p:nvSpPr>
        <p:spPr>
          <a:xfrm>
            <a:off x="190500" y="33718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85750" y="33337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BASF</a:t>
            </a:r>
          </a:p>
        </p:txBody>
      </p:sp>
      <p:sp>
        <p:nvSpPr>
          <p:cNvPr id="86" name="Oval 85"/>
          <p:cNvSpPr/>
          <p:nvPr/>
        </p:nvSpPr>
        <p:spPr>
          <a:xfrm>
            <a:off x="28479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Freeform 86"/>
          <p:cNvSpPr/>
          <p:nvPr/>
        </p:nvSpPr>
        <p:spPr>
          <a:xfrm>
            <a:off x="292417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450532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reeform 88"/>
          <p:cNvSpPr/>
          <p:nvPr/>
        </p:nvSpPr>
        <p:spPr>
          <a:xfrm>
            <a:off x="458152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61626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Freeform 90"/>
          <p:cNvSpPr/>
          <p:nvPr/>
        </p:nvSpPr>
        <p:spPr>
          <a:xfrm>
            <a:off x="623887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782002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789622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9477375" y="3409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420350" y="3419475"/>
            <a:ext cx="8191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1277600" y="33337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97" name="Connector 96"/>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8" name="Rectangle 97"/>
          <p:cNvSpPr/>
          <p:nvPr/>
        </p:nvSpPr>
        <p:spPr>
          <a:xfrm>
            <a:off x="190500" y="36766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285750" y="36385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Mapei</a:t>
            </a:r>
          </a:p>
        </p:txBody>
      </p:sp>
      <p:sp>
        <p:nvSpPr>
          <p:cNvPr id="100" name="Oval 99"/>
          <p:cNvSpPr/>
          <p:nvPr/>
        </p:nvSpPr>
        <p:spPr>
          <a:xfrm>
            <a:off x="28479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Freeform 100"/>
          <p:cNvSpPr/>
          <p:nvPr/>
        </p:nvSpPr>
        <p:spPr>
          <a:xfrm>
            <a:off x="2924175" y="3714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450532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Freeform 102"/>
          <p:cNvSpPr/>
          <p:nvPr/>
        </p:nvSpPr>
        <p:spPr>
          <a:xfrm>
            <a:off x="458152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61626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reeform 104"/>
          <p:cNvSpPr/>
          <p:nvPr/>
        </p:nvSpPr>
        <p:spPr>
          <a:xfrm>
            <a:off x="623887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782002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947737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0420350" y="3724275"/>
            <a:ext cx="7239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1182350" y="36385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10" name="Connector 109"/>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1" name="Rectangle 110"/>
          <p:cNvSpPr/>
          <p:nvPr/>
        </p:nvSpPr>
        <p:spPr>
          <a:xfrm>
            <a:off x="190500" y="39814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285750" y="39433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Dow</a:t>
            </a:r>
          </a:p>
        </p:txBody>
      </p:sp>
      <p:sp>
        <p:nvSpPr>
          <p:cNvPr id="113" name="Oval 112"/>
          <p:cNvSpPr/>
          <p:nvPr/>
        </p:nvSpPr>
        <p:spPr>
          <a:xfrm>
            <a:off x="28479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Freeform 113"/>
          <p:cNvSpPr/>
          <p:nvPr/>
        </p:nvSpPr>
        <p:spPr>
          <a:xfrm>
            <a:off x="2924175" y="4019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450532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Freeform 115"/>
          <p:cNvSpPr/>
          <p:nvPr/>
        </p:nvSpPr>
        <p:spPr>
          <a:xfrm>
            <a:off x="458152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61626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623887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7820025" y="4019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9477375" y="4019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0420350" y="4029075"/>
            <a:ext cx="7239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11182350" y="39433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23" name="Connector 122"/>
          <p:cNvCxnSpPr/>
          <p:nvPr/>
        </p:nvCxnSpPr>
        <p:spPr>
          <a:xfrm>
            <a:off x="190500" y="4248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4" name="Rectangle 123"/>
          <p:cNvSpPr/>
          <p:nvPr/>
        </p:nvSpPr>
        <p:spPr>
          <a:xfrm>
            <a:off x="190500" y="42862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285750" y="42481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Saint-Gobain</a:t>
            </a:r>
          </a:p>
        </p:txBody>
      </p:sp>
      <p:sp>
        <p:nvSpPr>
          <p:cNvPr id="126" name="Oval 125"/>
          <p:cNvSpPr/>
          <p:nvPr/>
        </p:nvSpPr>
        <p:spPr>
          <a:xfrm>
            <a:off x="284797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Freeform 126"/>
          <p:cNvSpPr/>
          <p:nvPr/>
        </p:nvSpPr>
        <p:spPr>
          <a:xfrm>
            <a:off x="2924175" y="4324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450532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Freeform 128"/>
          <p:cNvSpPr/>
          <p:nvPr/>
        </p:nvSpPr>
        <p:spPr>
          <a:xfrm>
            <a:off x="4581525" y="4324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616267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Freeform 130"/>
          <p:cNvSpPr/>
          <p:nvPr/>
        </p:nvSpPr>
        <p:spPr>
          <a:xfrm>
            <a:off x="6238875" y="4324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782002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Freeform 132"/>
          <p:cNvSpPr/>
          <p:nvPr/>
        </p:nvSpPr>
        <p:spPr>
          <a:xfrm>
            <a:off x="7896225" y="4324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9477375" y="4324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0420350" y="4333875"/>
            <a:ext cx="6667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11125200" y="42481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37" name="Connector 136"/>
          <p:cNvCxnSpPr/>
          <p:nvPr/>
        </p:nvCxnSpPr>
        <p:spPr>
          <a:xfrm>
            <a:off x="190500" y="4552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8" name="Rectangle 137"/>
          <p:cNvSpPr/>
          <p:nvPr/>
        </p:nvSpPr>
        <p:spPr>
          <a:xfrm>
            <a:off x="190500" y="45910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285750" y="45529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Henkel AG &amp; Co. KGaA</a:t>
            </a:r>
          </a:p>
        </p:txBody>
      </p:sp>
      <p:sp>
        <p:nvSpPr>
          <p:cNvPr id="140" name="Oval 139"/>
          <p:cNvSpPr/>
          <p:nvPr/>
        </p:nvSpPr>
        <p:spPr>
          <a:xfrm>
            <a:off x="284797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Freeform 140"/>
          <p:cNvSpPr/>
          <p:nvPr/>
        </p:nvSpPr>
        <p:spPr>
          <a:xfrm>
            <a:off x="2924175" y="4629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450532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Freeform 142"/>
          <p:cNvSpPr/>
          <p:nvPr/>
        </p:nvSpPr>
        <p:spPr>
          <a:xfrm>
            <a:off x="458152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616267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Freeform 144"/>
          <p:cNvSpPr/>
          <p:nvPr/>
        </p:nvSpPr>
        <p:spPr>
          <a:xfrm>
            <a:off x="623887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782002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Freeform 146"/>
          <p:cNvSpPr/>
          <p:nvPr/>
        </p:nvSpPr>
        <p:spPr>
          <a:xfrm>
            <a:off x="7896225" y="4629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9477375" y="4629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10420350" y="4638675"/>
            <a:ext cx="6667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1125200" y="45529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51" name="Connector 150"/>
          <p:cNvCxnSpPr/>
          <p:nvPr/>
        </p:nvCxnSpPr>
        <p:spPr>
          <a:xfrm>
            <a:off x="190500" y="4857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52" name="Oval 151"/>
          <p:cNvSpPr/>
          <p:nvPr/>
        </p:nvSpPr>
        <p:spPr>
          <a:xfrm>
            <a:off x="200025" y="49339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38100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54" name="Oval 153"/>
          <p:cNvSpPr/>
          <p:nvPr/>
        </p:nvSpPr>
        <p:spPr>
          <a:xfrm>
            <a:off x="2065020"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Freeform 154"/>
          <p:cNvSpPr/>
          <p:nvPr/>
        </p:nvSpPr>
        <p:spPr>
          <a:xfrm>
            <a:off x="2133600" y="49339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2245995"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57" name="Oval 156"/>
          <p:cNvSpPr/>
          <p:nvPr/>
        </p:nvSpPr>
        <p:spPr>
          <a:xfrm>
            <a:off x="3678555"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Freeform 157"/>
          <p:cNvSpPr/>
          <p:nvPr/>
        </p:nvSpPr>
        <p:spPr>
          <a:xfrm>
            <a:off x="3743325" y="49339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385953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60" name="Oval 159"/>
          <p:cNvSpPr/>
          <p:nvPr/>
        </p:nvSpPr>
        <p:spPr>
          <a:xfrm>
            <a:off x="5103495"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528447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62" name="TextBox 161"/>
          <p:cNvSpPr txBox="1"/>
          <p:nvPr/>
        </p:nvSpPr>
        <p:spPr>
          <a:xfrm>
            <a:off x="190500" y="51435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STRATEGIC GROUPS</a:t>
            </a:r>
          </a:p>
        </p:txBody>
      </p:sp>
      <p:sp>
        <p:nvSpPr>
          <p:cNvPr id="163" name="Rectangle 162"/>
          <p:cNvSpPr/>
          <p:nvPr/>
        </p:nvSpPr>
        <p:spPr>
          <a:xfrm>
            <a:off x="1905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1905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1</a:t>
            </a:r>
          </a:p>
        </p:txBody>
      </p:sp>
      <p:sp>
        <p:nvSpPr>
          <p:cNvPr id="165" name="TextBox 164"/>
          <p:cNvSpPr txBox="1"/>
          <p:nvPr/>
        </p:nvSpPr>
        <p:spPr>
          <a:xfrm>
            <a:off x="1905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The Sherwin-Williams, Sika, PPG Industries, Akzo Nobel</a:t>
            </a:r>
          </a:p>
        </p:txBody>
      </p:sp>
      <p:sp>
        <p:nvSpPr>
          <p:cNvPr id="166" name="TextBox 165"/>
          <p:cNvSpPr txBox="1"/>
          <p:nvPr/>
        </p:nvSpPr>
        <p:spPr>
          <a:xfrm>
            <a:off x="1905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scale and share; weakest on innovation pipeline.</a:t>
            </a:r>
          </a:p>
        </p:txBody>
      </p:sp>
      <p:sp>
        <p:nvSpPr>
          <p:cNvPr id="167" name="Rectangle 166"/>
          <p:cNvSpPr/>
          <p:nvPr/>
        </p:nvSpPr>
        <p:spPr>
          <a:xfrm>
            <a:off x="41910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41910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2</a:t>
            </a:r>
          </a:p>
        </p:txBody>
      </p:sp>
      <p:sp>
        <p:nvSpPr>
          <p:cNvPr id="169" name="TextBox 168"/>
          <p:cNvSpPr txBox="1"/>
          <p:nvPr/>
        </p:nvSpPr>
        <p:spPr>
          <a:xfrm>
            <a:off x="41910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RPM International, BASF</a:t>
            </a:r>
          </a:p>
        </p:txBody>
      </p:sp>
      <p:sp>
        <p:nvSpPr>
          <p:cNvPr id="170" name="TextBox 169"/>
          <p:cNvSpPr txBox="1"/>
          <p:nvPr/>
        </p:nvSpPr>
        <p:spPr>
          <a:xfrm>
            <a:off x="41910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strategic momentum; weakest on segment breadth.</a:t>
            </a:r>
          </a:p>
        </p:txBody>
      </p:sp>
      <p:sp>
        <p:nvSpPr>
          <p:cNvPr id="171" name="Rectangle 170"/>
          <p:cNvSpPr/>
          <p:nvPr/>
        </p:nvSpPr>
        <p:spPr>
          <a:xfrm>
            <a:off x="81915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81915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3</a:t>
            </a:r>
          </a:p>
        </p:txBody>
      </p:sp>
      <p:sp>
        <p:nvSpPr>
          <p:cNvPr id="173" name="TextBox 172"/>
          <p:cNvSpPr txBox="1"/>
          <p:nvPr/>
        </p:nvSpPr>
        <p:spPr>
          <a:xfrm>
            <a:off x="81915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Mapei, Dow, Saint-Gobain, Henkel AG &amp; Co. KGaA</a:t>
            </a:r>
          </a:p>
        </p:txBody>
      </p:sp>
      <p:sp>
        <p:nvSpPr>
          <p:cNvPr id="174" name="TextBox 173"/>
          <p:cNvSpPr txBox="1"/>
          <p:nvPr/>
        </p:nvSpPr>
        <p:spPr>
          <a:xfrm>
            <a:off x="81915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strategic momentum; weakest on scale and share.</a:t>
            </a:r>
          </a:p>
        </p:txBody>
      </p:sp>
      <p:sp>
        <p:nvSpPr>
          <p:cNvPr id="175" name="TextBox 17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6" name="Picture 175" descr="lock.png"/>
          <p:cNvPicPr>
            <a:picLocks noChangeAspect="1"/>
          </p:cNvPicPr>
          <p:nvPr/>
        </p:nvPicPr>
        <p:blipFill>
          <a:blip r:embed="rId4"/>
          <a:stretch>
            <a:fillRect/>
          </a:stretch>
        </p:blipFill>
        <p:spPr>
          <a:xfrm>
            <a:off x="11746650" y="1868551"/>
            <a:ext cx="128699" cy="187198"/>
          </a:xfrm>
          <a:prstGeom prst="rect">
            <a:avLst/>
          </a:prstGeom>
        </p:spPr>
      </p:pic>
      <p:pic>
        <p:nvPicPr>
          <p:cNvPr id="177" name="Picture 176" descr="lock.png"/>
          <p:cNvPicPr>
            <a:picLocks noChangeAspect="1"/>
          </p:cNvPicPr>
          <p:nvPr/>
        </p:nvPicPr>
        <p:blipFill>
          <a:blip r:embed="rId4"/>
          <a:stretch>
            <a:fillRect/>
          </a:stretch>
        </p:blipFill>
        <p:spPr>
          <a:xfrm>
            <a:off x="11689500" y="2173351"/>
            <a:ext cx="128699" cy="187198"/>
          </a:xfrm>
          <a:prstGeom prst="rect">
            <a:avLst/>
          </a:prstGeom>
        </p:spPr>
      </p:pic>
      <p:pic>
        <p:nvPicPr>
          <p:cNvPr id="178" name="Picture 177" descr="lock.png"/>
          <p:cNvPicPr>
            <a:picLocks noChangeAspect="1"/>
          </p:cNvPicPr>
          <p:nvPr/>
        </p:nvPicPr>
        <p:blipFill>
          <a:blip r:embed="rId4"/>
          <a:stretch>
            <a:fillRect/>
          </a:stretch>
        </p:blipFill>
        <p:spPr>
          <a:xfrm>
            <a:off x="11689500" y="2478151"/>
            <a:ext cx="128699" cy="187198"/>
          </a:xfrm>
          <a:prstGeom prst="rect">
            <a:avLst/>
          </a:prstGeom>
        </p:spPr>
      </p:pic>
      <p:pic>
        <p:nvPicPr>
          <p:cNvPr id="179" name="Picture 178" descr="lock.png"/>
          <p:cNvPicPr>
            <a:picLocks noChangeAspect="1"/>
          </p:cNvPicPr>
          <p:nvPr/>
        </p:nvPicPr>
        <p:blipFill>
          <a:blip r:embed="rId4"/>
          <a:stretch>
            <a:fillRect/>
          </a:stretch>
        </p:blipFill>
        <p:spPr>
          <a:xfrm>
            <a:off x="11632350" y="2782951"/>
            <a:ext cx="128699" cy="187198"/>
          </a:xfrm>
          <a:prstGeom prst="rect">
            <a:avLst/>
          </a:prstGeom>
        </p:spPr>
      </p:pic>
      <p:pic>
        <p:nvPicPr>
          <p:cNvPr id="180" name="Picture 179" descr="lock.png"/>
          <p:cNvPicPr>
            <a:picLocks noChangeAspect="1"/>
          </p:cNvPicPr>
          <p:nvPr/>
        </p:nvPicPr>
        <p:blipFill>
          <a:blip r:embed="rId4"/>
          <a:stretch>
            <a:fillRect/>
          </a:stretch>
        </p:blipFill>
        <p:spPr>
          <a:xfrm>
            <a:off x="11479950" y="3087751"/>
            <a:ext cx="128699" cy="187198"/>
          </a:xfrm>
          <a:prstGeom prst="rect">
            <a:avLst/>
          </a:prstGeom>
        </p:spPr>
      </p:pic>
      <p:pic>
        <p:nvPicPr>
          <p:cNvPr id="181" name="Picture 180" descr="lock.png"/>
          <p:cNvPicPr>
            <a:picLocks noChangeAspect="1"/>
          </p:cNvPicPr>
          <p:nvPr/>
        </p:nvPicPr>
        <p:blipFill>
          <a:blip r:embed="rId4"/>
          <a:stretch>
            <a:fillRect/>
          </a:stretch>
        </p:blipFill>
        <p:spPr>
          <a:xfrm>
            <a:off x="11422800" y="3392551"/>
            <a:ext cx="128699" cy="187198"/>
          </a:xfrm>
          <a:prstGeom prst="rect">
            <a:avLst/>
          </a:prstGeom>
        </p:spPr>
      </p:pic>
      <p:pic>
        <p:nvPicPr>
          <p:cNvPr id="182" name="Picture 181" descr="lock.png"/>
          <p:cNvPicPr>
            <a:picLocks noChangeAspect="1"/>
          </p:cNvPicPr>
          <p:nvPr/>
        </p:nvPicPr>
        <p:blipFill>
          <a:blip r:embed="rId4"/>
          <a:stretch>
            <a:fillRect/>
          </a:stretch>
        </p:blipFill>
        <p:spPr>
          <a:xfrm>
            <a:off x="11327550" y="3697351"/>
            <a:ext cx="128699" cy="187198"/>
          </a:xfrm>
          <a:prstGeom prst="rect">
            <a:avLst/>
          </a:prstGeom>
        </p:spPr>
      </p:pic>
      <p:pic>
        <p:nvPicPr>
          <p:cNvPr id="183" name="Picture 182" descr="lock.png"/>
          <p:cNvPicPr>
            <a:picLocks noChangeAspect="1"/>
          </p:cNvPicPr>
          <p:nvPr/>
        </p:nvPicPr>
        <p:blipFill>
          <a:blip r:embed="rId4"/>
          <a:stretch>
            <a:fillRect/>
          </a:stretch>
        </p:blipFill>
        <p:spPr>
          <a:xfrm>
            <a:off x="11327550" y="4002151"/>
            <a:ext cx="128699" cy="187198"/>
          </a:xfrm>
          <a:prstGeom prst="rect">
            <a:avLst/>
          </a:prstGeom>
        </p:spPr>
      </p:pic>
      <p:pic>
        <p:nvPicPr>
          <p:cNvPr id="184" name="Picture 183" descr="lock.png"/>
          <p:cNvPicPr>
            <a:picLocks noChangeAspect="1"/>
          </p:cNvPicPr>
          <p:nvPr/>
        </p:nvPicPr>
        <p:blipFill>
          <a:blip r:embed="rId4"/>
          <a:stretch>
            <a:fillRect/>
          </a:stretch>
        </p:blipFill>
        <p:spPr>
          <a:xfrm>
            <a:off x="11270400" y="4306951"/>
            <a:ext cx="128699" cy="187198"/>
          </a:xfrm>
          <a:prstGeom prst="rect">
            <a:avLst/>
          </a:prstGeom>
        </p:spPr>
      </p:pic>
      <p:pic>
        <p:nvPicPr>
          <p:cNvPr id="185" name="Picture 184" descr="lock.png"/>
          <p:cNvPicPr>
            <a:picLocks noChangeAspect="1"/>
          </p:cNvPicPr>
          <p:nvPr/>
        </p:nvPicPr>
        <p:blipFill>
          <a:blip r:embed="rId4"/>
          <a:stretch>
            <a:fillRect/>
          </a:stretch>
        </p:blipFill>
        <p:spPr>
          <a:xfrm>
            <a:off x="11270400" y="4611751"/>
            <a:ext cx="128699" cy="187198"/>
          </a:xfrm>
          <a:prstGeom prst="rect">
            <a:avLst/>
          </a:prstGeom>
        </p:spPr>
      </p:pic>
      <p:sp>
        <p:nvSpPr>
          <p:cNvPr id="186" name="TextBox 185"/>
          <p:cNvSpPr txBox="1"/>
          <p:nvPr/>
        </p:nvSpPr>
        <p:spPr>
          <a:xfrm>
            <a:off x="21621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87" name="Picture 186" descr="lock.png"/>
          <p:cNvPicPr>
            <a:picLocks noChangeAspect="1"/>
          </p:cNvPicPr>
          <p:nvPr/>
        </p:nvPicPr>
        <p:blipFill>
          <a:blip r:embed="rId4"/>
          <a:stretch>
            <a:fillRect/>
          </a:stretch>
        </p:blipFill>
        <p:spPr>
          <a:xfrm>
            <a:off x="2482959" y="1212159"/>
            <a:ext cx="92663" cy="134782"/>
          </a:xfrm>
          <a:prstGeom prst="rect">
            <a:avLst/>
          </a:prstGeom>
        </p:spPr>
      </p:pic>
      <p:sp>
        <p:nvSpPr>
          <p:cNvPr id="188" name="TextBox 187"/>
          <p:cNvSpPr txBox="1"/>
          <p:nvPr/>
        </p:nvSpPr>
        <p:spPr>
          <a:xfrm>
            <a:off x="381952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89" name="Picture 188" descr="lock.png"/>
          <p:cNvPicPr>
            <a:picLocks noChangeAspect="1"/>
          </p:cNvPicPr>
          <p:nvPr/>
        </p:nvPicPr>
        <p:blipFill>
          <a:blip r:embed="rId4"/>
          <a:stretch>
            <a:fillRect/>
          </a:stretch>
        </p:blipFill>
        <p:spPr>
          <a:xfrm>
            <a:off x="4140309" y="1212159"/>
            <a:ext cx="92663" cy="134782"/>
          </a:xfrm>
          <a:prstGeom prst="rect">
            <a:avLst/>
          </a:prstGeom>
        </p:spPr>
      </p:pic>
      <p:sp>
        <p:nvSpPr>
          <p:cNvPr id="190" name="TextBox 189"/>
          <p:cNvSpPr txBox="1"/>
          <p:nvPr/>
        </p:nvSpPr>
        <p:spPr>
          <a:xfrm>
            <a:off x="54768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1" name="Picture 190" descr="lock.png"/>
          <p:cNvPicPr>
            <a:picLocks noChangeAspect="1"/>
          </p:cNvPicPr>
          <p:nvPr/>
        </p:nvPicPr>
        <p:blipFill>
          <a:blip r:embed="rId4"/>
          <a:stretch>
            <a:fillRect/>
          </a:stretch>
        </p:blipFill>
        <p:spPr>
          <a:xfrm>
            <a:off x="5797659" y="1212159"/>
            <a:ext cx="92663" cy="134782"/>
          </a:xfrm>
          <a:prstGeom prst="rect">
            <a:avLst/>
          </a:prstGeom>
        </p:spPr>
      </p:pic>
      <p:sp>
        <p:nvSpPr>
          <p:cNvPr id="192" name="TextBox 191"/>
          <p:cNvSpPr txBox="1"/>
          <p:nvPr/>
        </p:nvSpPr>
        <p:spPr>
          <a:xfrm>
            <a:off x="713422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3" name="Picture 192" descr="lock.png"/>
          <p:cNvPicPr>
            <a:picLocks noChangeAspect="1"/>
          </p:cNvPicPr>
          <p:nvPr/>
        </p:nvPicPr>
        <p:blipFill>
          <a:blip r:embed="rId4"/>
          <a:stretch>
            <a:fillRect/>
          </a:stretch>
        </p:blipFill>
        <p:spPr>
          <a:xfrm>
            <a:off x="7455009" y="1212159"/>
            <a:ext cx="92663" cy="134782"/>
          </a:xfrm>
          <a:prstGeom prst="rect">
            <a:avLst/>
          </a:prstGeom>
        </p:spPr>
      </p:pic>
      <p:sp>
        <p:nvSpPr>
          <p:cNvPr id="194" name="TextBox 193"/>
          <p:cNvSpPr txBox="1"/>
          <p:nvPr/>
        </p:nvSpPr>
        <p:spPr>
          <a:xfrm>
            <a:off x="87915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5" name="Picture 194" descr="lock.png"/>
          <p:cNvPicPr>
            <a:picLocks noChangeAspect="1"/>
          </p:cNvPicPr>
          <p:nvPr/>
        </p:nvPicPr>
        <p:blipFill>
          <a:blip r:embed="rId4"/>
          <a:stretch>
            <a:fillRect/>
          </a:stretch>
        </p:blipFill>
        <p:spPr>
          <a:xfrm>
            <a:off x="9112359" y="1212159"/>
            <a:ext cx="92663" cy="134782"/>
          </a:xfrm>
          <a:prstGeom prst="rect">
            <a:avLst/>
          </a:prstGeom>
        </p:spPr>
      </p:pic>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Waterproof Coatings Market Strategic Activity Tracker</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Each player's active strategic moves: what, type, source department, signal and who should act</a:t>
            </a:r>
          </a:p>
        </p:txBody>
      </p:sp>
      <p:sp>
        <p:nvSpPr>
          <p:cNvPr id="10" name="TextBox 9"/>
          <p:cNvSpPr txBox="1"/>
          <p:nvPr/>
        </p:nvSpPr>
        <p:spPr>
          <a:xfrm>
            <a:off x="209550" y="1047750"/>
            <a:ext cx="1295400" cy="171450"/>
          </a:xfrm>
          <a:prstGeom prst="rect">
            <a:avLst/>
          </a:prstGeom>
          <a:noFill/>
        </p:spPr>
        <p:txBody>
          <a:bodyPr wrap="square" lIns="28575" rIns="28575" tIns="9525" bIns="9525" anchor="t">
            <a:spAutoFit/>
          </a:bodyPr>
          <a:lstStyle/>
          <a:p>
            <a:pPr algn="l"/>
            <a:r>
              <a:rPr sz="1100" b="1">
                <a:solidFill>
                  <a:srgbClr val="0F2D52"/>
                </a:solidFill>
                <a:latin typeface="Calibri"/>
              </a:rPr>
              <a:t>COMPANY</a:t>
            </a:r>
          </a:p>
        </p:txBody>
      </p:sp>
      <p:sp>
        <p:nvSpPr>
          <p:cNvPr id="11" name="TextBox 10"/>
          <p:cNvSpPr txBox="1"/>
          <p:nvPr/>
        </p:nvSpPr>
        <p:spPr>
          <a:xfrm>
            <a:off x="1543050" y="1047750"/>
            <a:ext cx="2343150" cy="171450"/>
          </a:xfrm>
          <a:prstGeom prst="rect">
            <a:avLst/>
          </a:prstGeom>
          <a:noFill/>
        </p:spPr>
        <p:txBody>
          <a:bodyPr wrap="square" lIns="28575" rIns="28575" tIns="9525" bIns="9525" anchor="t">
            <a:spAutoFit/>
          </a:bodyPr>
          <a:lstStyle/>
          <a:p>
            <a:pPr algn="l"/>
            <a:r>
              <a:rPr sz="1100" b="1">
                <a:solidFill>
                  <a:srgbClr val="0F2D52"/>
                </a:solidFill>
                <a:latin typeface="Calibri"/>
              </a:rPr>
              <a:t>DEVELOPMENT (WHAT IS HAPPENING)</a:t>
            </a:r>
          </a:p>
        </p:txBody>
      </p:sp>
      <p:sp>
        <p:nvSpPr>
          <p:cNvPr id="12" name="TextBox 11"/>
          <p:cNvSpPr txBox="1"/>
          <p:nvPr/>
        </p:nvSpPr>
        <p:spPr>
          <a:xfrm>
            <a:off x="3924300" y="1047750"/>
            <a:ext cx="533400" cy="171450"/>
          </a:xfrm>
          <a:prstGeom prst="rect">
            <a:avLst/>
          </a:prstGeom>
          <a:noFill/>
        </p:spPr>
        <p:txBody>
          <a:bodyPr wrap="none" lIns="0" rIns="0" tIns="0" bIns="0" anchor="t">
            <a:spAutoFit/>
          </a:bodyPr>
          <a:lstStyle/>
          <a:p>
            <a:pPr algn="l"/>
            <a:r>
              <a:rPr sz="1100" b="1">
                <a:solidFill>
                  <a:srgbClr val="0F2D52"/>
                </a:solidFill>
                <a:latin typeface="Calibri"/>
              </a:rPr>
              <a:t>DATE</a:t>
            </a:r>
          </a:p>
        </p:txBody>
      </p:sp>
      <p:sp>
        <p:nvSpPr>
          <p:cNvPr id="13" name="TextBox 12"/>
          <p:cNvSpPr txBox="1"/>
          <p:nvPr/>
        </p:nvSpPr>
        <p:spPr>
          <a:xfrm>
            <a:off x="4495800" y="1047750"/>
            <a:ext cx="438150" cy="171450"/>
          </a:xfrm>
          <a:prstGeom prst="rect">
            <a:avLst/>
          </a:prstGeom>
          <a:noFill/>
        </p:spPr>
        <p:txBody>
          <a:bodyPr wrap="none" lIns="0" rIns="0" tIns="0" bIns="0" anchor="t">
            <a:spAutoFit/>
          </a:bodyPr>
          <a:lstStyle/>
          <a:p>
            <a:pPr algn="l"/>
            <a:r>
              <a:rPr sz="1100" b="1">
                <a:solidFill>
                  <a:srgbClr val="0F2D52"/>
                </a:solidFill>
                <a:latin typeface="Calibri"/>
              </a:rPr>
              <a:t>TYPE</a:t>
            </a:r>
          </a:p>
        </p:txBody>
      </p:sp>
      <p:sp>
        <p:nvSpPr>
          <p:cNvPr id="14" name="TextBox 13"/>
          <p:cNvSpPr txBox="1"/>
          <p:nvPr/>
        </p:nvSpPr>
        <p:spPr>
          <a:xfrm>
            <a:off x="4972050" y="1047750"/>
            <a:ext cx="1200150" cy="171450"/>
          </a:xfrm>
          <a:prstGeom prst="rect">
            <a:avLst/>
          </a:prstGeom>
          <a:noFill/>
        </p:spPr>
        <p:txBody>
          <a:bodyPr wrap="square" lIns="28575" rIns="28575" tIns="9525" bIns="9525" anchor="t">
            <a:spAutoFit/>
          </a:bodyPr>
          <a:lstStyle/>
          <a:p>
            <a:pPr algn="l"/>
            <a:r>
              <a:rPr sz="1100" b="1">
                <a:solidFill>
                  <a:srgbClr val="0F2D52"/>
                </a:solidFill>
                <a:latin typeface="Calibri"/>
              </a:rPr>
              <a:t>SOURCE DEPT</a:t>
            </a:r>
          </a:p>
        </p:txBody>
      </p:sp>
      <p:sp>
        <p:nvSpPr>
          <p:cNvPr id="15" name="TextBox 14"/>
          <p:cNvSpPr txBox="1"/>
          <p:nvPr/>
        </p:nvSpPr>
        <p:spPr>
          <a:xfrm>
            <a:off x="6210300" y="1047750"/>
            <a:ext cx="914400" cy="171450"/>
          </a:xfrm>
          <a:prstGeom prst="rect">
            <a:avLst/>
          </a:prstGeom>
          <a:noFill/>
        </p:spPr>
        <p:txBody>
          <a:bodyPr wrap="square" lIns="28575" rIns="28575" tIns="9525" bIns="9525" anchor="t">
            <a:spAutoFit/>
          </a:bodyPr>
          <a:lstStyle/>
          <a:p>
            <a:pPr algn="l"/>
            <a:r>
              <a:rPr sz="1100" b="1">
                <a:solidFill>
                  <a:srgbClr val="0F2D52"/>
                </a:solidFill>
                <a:latin typeface="Calibri"/>
              </a:rPr>
              <a:t>EVIDENCE</a:t>
            </a:r>
          </a:p>
        </p:txBody>
      </p:sp>
      <p:sp>
        <p:nvSpPr>
          <p:cNvPr id="16" name="TextBox 15"/>
          <p:cNvSpPr txBox="1"/>
          <p:nvPr/>
        </p:nvSpPr>
        <p:spPr>
          <a:xfrm>
            <a:off x="7162800" y="1047750"/>
            <a:ext cx="2152650" cy="171450"/>
          </a:xfrm>
          <a:prstGeom prst="rect">
            <a:avLst/>
          </a:prstGeom>
          <a:noFill/>
        </p:spPr>
        <p:txBody>
          <a:bodyPr wrap="square" lIns="28575" rIns="28575" tIns="9525" bIns="9525" anchor="t">
            <a:spAutoFit/>
          </a:bodyPr>
          <a:lstStyle/>
          <a:p>
            <a:pPr algn="l"/>
            <a:r>
              <a:rPr sz="1100" b="1">
                <a:solidFill>
                  <a:srgbClr val="0F2D52"/>
                </a:solidFill>
                <a:latin typeface="Calibri"/>
              </a:rPr>
              <a:t>SIGNAL (WHAT IT INDICATES)</a:t>
            </a:r>
          </a:p>
        </p:txBody>
      </p:sp>
      <p:sp>
        <p:nvSpPr>
          <p:cNvPr id="17" name="TextBox 16"/>
          <p:cNvSpPr txBox="1"/>
          <p:nvPr/>
        </p:nvSpPr>
        <p:spPr>
          <a:xfrm>
            <a:off x="9353550" y="1047750"/>
            <a:ext cx="2628900" cy="171450"/>
          </a:xfrm>
          <a:prstGeom prst="rect">
            <a:avLst/>
          </a:prstGeom>
          <a:noFill/>
        </p:spPr>
        <p:txBody>
          <a:bodyPr wrap="square" lIns="28575" rIns="28575" tIns="9525" bIns="9525" anchor="t">
            <a:spAutoFit/>
          </a:bodyPr>
          <a:lstStyle/>
          <a:p>
            <a:pPr algn="l"/>
            <a:r>
              <a:rPr sz="1100" b="1">
                <a:solidFill>
                  <a:srgbClr val="0F2D52"/>
                </a:solidFill>
                <a:latin typeface="Calibri"/>
              </a:rPr>
              <a:t>WHO SHOULD ACT</a:t>
            </a:r>
          </a:p>
        </p:txBody>
      </p:sp>
      <p:cxnSp>
        <p:nvCxnSpPr>
          <p:cNvPr id="18" name="Connector 17"/>
          <p:cNvCxnSpPr/>
          <p:nvPr/>
        </p:nvCxnSpPr>
        <p:spPr>
          <a:xfrm>
            <a:off x="190500" y="12382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90500" y="12954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6700" y="12858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Sika</a:t>
            </a:r>
          </a:p>
        </p:txBody>
      </p:sp>
      <p:sp>
        <p:nvSpPr>
          <p:cNvPr id="21" name="TextBox 20"/>
          <p:cNvSpPr txBox="1"/>
          <p:nvPr/>
        </p:nvSpPr>
        <p:spPr>
          <a:xfrm>
            <a:off x="1543050" y="12858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North America</a:t>
            </a:r>
          </a:p>
        </p:txBody>
      </p:sp>
      <p:sp>
        <p:nvSpPr>
          <p:cNvPr id="22" name="TextBox 21"/>
          <p:cNvSpPr txBox="1"/>
          <p:nvPr/>
        </p:nvSpPr>
        <p:spPr>
          <a:xfrm>
            <a:off x="3924300" y="12858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23" name="Rectangle 22"/>
          <p:cNvSpPr/>
          <p:nvPr/>
        </p:nvSpPr>
        <p:spPr>
          <a:xfrm>
            <a:off x="4514850" y="13144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14850" y="13144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25" name="TextBox 24"/>
          <p:cNvSpPr txBox="1"/>
          <p:nvPr/>
        </p:nvSpPr>
        <p:spPr>
          <a:xfrm>
            <a:off x="4972050" y="12858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26" name="TextBox 25"/>
          <p:cNvSpPr txBox="1"/>
          <p:nvPr/>
        </p:nvSpPr>
        <p:spPr>
          <a:xfrm>
            <a:off x="6210300" y="12858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27" name="TextBox 26"/>
          <p:cNvSpPr txBox="1"/>
          <p:nvPr/>
        </p:nvSpPr>
        <p:spPr>
          <a:xfrm>
            <a:off x="7162800" y="12858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28" name="TextBox 27"/>
          <p:cNvSpPr txBox="1"/>
          <p:nvPr/>
        </p:nvSpPr>
        <p:spPr>
          <a:xfrm>
            <a:off x="9353550" y="12858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29" name="Connector 28"/>
          <p:cNvCxnSpPr/>
          <p:nvPr/>
        </p:nvCxnSpPr>
        <p:spPr>
          <a:xfrm>
            <a:off x="190500" y="17526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190500" y="17907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66700" y="17811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The Sherwin-Williams</a:t>
            </a:r>
          </a:p>
        </p:txBody>
      </p:sp>
      <p:sp>
        <p:nvSpPr>
          <p:cNvPr id="32" name="TextBox 31"/>
          <p:cNvSpPr txBox="1"/>
          <p:nvPr/>
        </p:nvSpPr>
        <p:spPr>
          <a:xfrm>
            <a:off x="1543050" y="17811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Other Polymer-Based Coatings</a:t>
            </a:r>
          </a:p>
        </p:txBody>
      </p:sp>
      <p:sp>
        <p:nvSpPr>
          <p:cNvPr id="33" name="TextBox 32"/>
          <p:cNvSpPr txBox="1"/>
          <p:nvPr/>
        </p:nvSpPr>
        <p:spPr>
          <a:xfrm>
            <a:off x="3924300" y="17811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34" name="Rectangle 33"/>
          <p:cNvSpPr/>
          <p:nvPr/>
        </p:nvSpPr>
        <p:spPr>
          <a:xfrm>
            <a:off x="4514850" y="18097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14850" y="18097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36" name="TextBox 35"/>
          <p:cNvSpPr txBox="1"/>
          <p:nvPr/>
        </p:nvSpPr>
        <p:spPr>
          <a:xfrm>
            <a:off x="4972050" y="17811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37" name="TextBox 36"/>
          <p:cNvSpPr txBox="1"/>
          <p:nvPr/>
        </p:nvSpPr>
        <p:spPr>
          <a:xfrm>
            <a:off x="6210300" y="17811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38" name="TextBox 37"/>
          <p:cNvSpPr txBox="1"/>
          <p:nvPr/>
        </p:nvSpPr>
        <p:spPr>
          <a:xfrm>
            <a:off x="7162800" y="17811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39" name="TextBox 38"/>
          <p:cNvSpPr txBox="1"/>
          <p:nvPr/>
        </p:nvSpPr>
        <p:spPr>
          <a:xfrm>
            <a:off x="9353550" y="17811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40" name="Connector 39"/>
          <p:cNvCxnSpPr/>
          <p:nvPr/>
        </p:nvCxnSpPr>
        <p:spPr>
          <a:xfrm>
            <a:off x="190500" y="22479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190500" y="22860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6700" y="22764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PPG Industries</a:t>
            </a:r>
          </a:p>
        </p:txBody>
      </p:sp>
      <p:sp>
        <p:nvSpPr>
          <p:cNvPr id="43" name="TextBox 42"/>
          <p:cNvSpPr txBox="1"/>
          <p:nvPr/>
        </p:nvSpPr>
        <p:spPr>
          <a:xfrm>
            <a:off x="1543050" y="22764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East Asia</a:t>
            </a:r>
          </a:p>
        </p:txBody>
      </p:sp>
      <p:sp>
        <p:nvSpPr>
          <p:cNvPr id="44" name="TextBox 43"/>
          <p:cNvSpPr txBox="1"/>
          <p:nvPr/>
        </p:nvSpPr>
        <p:spPr>
          <a:xfrm>
            <a:off x="3924300" y="22764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45" name="Rectangle 44"/>
          <p:cNvSpPr/>
          <p:nvPr/>
        </p:nvSpPr>
        <p:spPr>
          <a:xfrm>
            <a:off x="4514850" y="23050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14850" y="23050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47" name="TextBox 46"/>
          <p:cNvSpPr txBox="1"/>
          <p:nvPr/>
        </p:nvSpPr>
        <p:spPr>
          <a:xfrm>
            <a:off x="4972050" y="22764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48" name="TextBox 47"/>
          <p:cNvSpPr txBox="1"/>
          <p:nvPr/>
        </p:nvSpPr>
        <p:spPr>
          <a:xfrm>
            <a:off x="6210300" y="22764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49" name="TextBox 48"/>
          <p:cNvSpPr txBox="1"/>
          <p:nvPr/>
        </p:nvSpPr>
        <p:spPr>
          <a:xfrm>
            <a:off x="7162800" y="22764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50" name="TextBox 49"/>
          <p:cNvSpPr txBox="1"/>
          <p:nvPr/>
        </p:nvSpPr>
        <p:spPr>
          <a:xfrm>
            <a:off x="9353550" y="22764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51" name="Connector 50"/>
          <p:cNvCxnSpPr/>
          <p:nvPr/>
        </p:nvCxnSpPr>
        <p:spPr>
          <a:xfrm>
            <a:off x="190500" y="27432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190500" y="27813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66700" y="27717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Akzo Nobel</a:t>
            </a:r>
          </a:p>
        </p:txBody>
      </p:sp>
      <p:sp>
        <p:nvSpPr>
          <p:cNvPr id="54" name="TextBox 53"/>
          <p:cNvSpPr txBox="1"/>
          <p:nvPr/>
        </p:nvSpPr>
        <p:spPr>
          <a:xfrm>
            <a:off x="1543050" y="27717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Polyurea Waterproof Coatings</a:t>
            </a:r>
          </a:p>
        </p:txBody>
      </p:sp>
      <p:sp>
        <p:nvSpPr>
          <p:cNvPr id="55" name="TextBox 54"/>
          <p:cNvSpPr txBox="1"/>
          <p:nvPr/>
        </p:nvSpPr>
        <p:spPr>
          <a:xfrm>
            <a:off x="3924300" y="27717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56" name="Rectangle 55"/>
          <p:cNvSpPr/>
          <p:nvPr/>
        </p:nvSpPr>
        <p:spPr>
          <a:xfrm>
            <a:off x="4514850" y="28003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14850" y="28003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58" name="TextBox 57"/>
          <p:cNvSpPr txBox="1"/>
          <p:nvPr/>
        </p:nvSpPr>
        <p:spPr>
          <a:xfrm>
            <a:off x="4972050" y="27717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59" name="TextBox 58"/>
          <p:cNvSpPr txBox="1"/>
          <p:nvPr/>
        </p:nvSpPr>
        <p:spPr>
          <a:xfrm>
            <a:off x="6210300" y="27717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60" name="TextBox 59"/>
          <p:cNvSpPr txBox="1"/>
          <p:nvPr/>
        </p:nvSpPr>
        <p:spPr>
          <a:xfrm>
            <a:off x="7162800" y="27717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61" name="TextBox 60"/>
          <p:cNvSpPr txBox="1"/>
          <p:nvPr/>
        </p:nvSpPr>
        <p:spPr>
          <a:xfrm>
            <a:off x="9353550" y="27717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62" name="Connector 61"/>
          <p:cNvCxnSpPr/>
          <p:nvPr/>
        </p:nvCxnSpPr>
        <p:spPr>
          <a:xfrm>
            <a:off x="190500" y="32385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190500" y="32766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66700" y="32670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BASF</a:t>
            </a:r>
          </a:p>
        </p:txBody>
      </p:sp>
      <p:sp>
        <p:nvSpPr>
          <p:cNvPr id="65" name="TextBox 64"/>
          <p:cNvSpPr txBox="1"/>
          <p:nvPr/>
        </p:nvSpPr>
        <p:spPr>
          <a:xfrm>
            <a:off x="1543050" y="32670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Middle East &amp; Africa</a:t>
            </a:r>
          </a:p>
        </p:txBody>
      </p:sp>
      <p:sp>
        <p:nvSpPr>
          <p:cNvPr id="66" name="TextBox 65"/>
          <p:cNvSpPr txBox="1"/>
          <p:nvPr/>
        </p:nvSpPr>
        <p:spPr>
          <a:xfrm>
            <a:off x="3924300" y="32670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67" name="Rectangle 66"/>
          <p:cNvSpPr/>
          <p:nvPr/>
        </p:nvSpPr>
        <p:spPr>
          <a:xfrm>
            <a:off x="4514850" y="32956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514850" y="32956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69" name="TextBox 68"/>
          <p:cNvSpPr txBox="1"/>
          <p:nvPr/>
        </p:nvSpPr>
        <p:spPr>
          <a:xfrm>
            <a:off x="4972050" y="32670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70" name="TextBox 69"/>
          <p:cNvSpPr txBox="1"/>
          <p:nvPr/>
        </p:nvSpPr>
        <p:spPr>
          <a:xfrm>
            <a:off x="6210300" y="32670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71" name="TextBox 70"/>
          <p:cNvSpPr txBox="1"/>
          <p:nvPr/>
        </p:nvSpPr>
        <p:spPr>
          <a:xfrm>
            <a:off x="7162800" y="32670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72" name="TextBox 71"/>
          <p:cNvSpPr txBox="1"/>
          <p:nvPr/>
        </p:nvSpPr>
        <p:spPr>
          <a:xfrm>
            <a:off x="9353550" y="32670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73" name="Connector 72"/>
          <p:cNvCxnSpPr/>
          <p:nvPr/>
        </p:nvCxnSpPr>
        <p:spPr>
          <a:xfrm>
            <a:off x="190500" y="37338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4" name="Rectangle 73"/>
          <p:cNvSpPr/>
          <p:nvPr/>
        </p:nvSpPr>
        <p:spPr>
          <a:xfrm>
            <a:off x="190500" y="37719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66700" y="37623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RPM International</a:t>
            </a:r>
          </a:p>
        </p:txBody>
      </p:sp>
      <p:sp>
        <p:nvSpPr>
          <p:cNvPr id="76" name="TextBox 75"/>
          <p:cNvSpPr txBox="1"/>
          <p:nvPr/>
        </p:nvSpPr>
        <p:spPr>
          <a:xfrm>
            <a:off x="1543050" y="37623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Other Polymer-Based Coatings</a:t>
            </a:r>
          </a:p>
        </p:txBody>
      </p:sp>
      <p:sp>
        <p:nvSpPr>
          <p:cNvPr id="77" name="TextBox 76"/>
          <p:cNvSpPr txBox="1"/>
          <p:nvPr/>
        </p:nvSpPr>
        <p:spPr>
          <a:xfrm>
            <a:off x="3924300" y="37623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78" name="Rectangle 77"/>
          <p:cNvSpPr/>
          <p:nvPr/>
        </p:nvSpPr>
        <p:spPr>
          <a:xfrm>
            <a:off x="4514850" y="37909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514850" y="37909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80" name="TextBox 79"/>
          <p:cNvSpPr txBox="1"/>
          <p:nvPr/>
        </p:nvSpPr>
        <p:spPr>
          <a:xfrm>
            <a:off x="4972050" y="37623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81" name="TextBox 80"/>
          <p:cNvSpPr txBox="1"/>
          <p:nvPr/>
        </p:nvSpPr>
        <p:spPr>
          <a:xfrm>
            <a:off x="6210300" y="37623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82" name="TextBox 81"/>
          <p:cNvSpPr txBox="1"/>
          <p:nvPr/>
        </p:nvSpPr>
        <p:spPr>
          <a:xfrm>
            <a:off x="7162800" y="37623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83" name="TextBox 82"/>
          <p:cNvSpPr txBox="1"/>
          <p:nvPr/>
        </p:nvSpPr>
        <p:spPr>
          <a:xfrm>
            <a:off x="9353550" y="37623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84" name="Connector 83"/>
          <p:cNvCxnSpPr/>
          <p:nvPr/>
        </p:nvCxnSpPr>
        <p:spPr>
          <a:xfrm>
            <a:off x="190500" y="42291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190500" y="42672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66700" y="42576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Saint-Gobain</a:t>
            </a:r>
          </a:p>
        </p:txBody>
      </p:sp>
      <p:sp>
        <p:nvSpPr>
          <p:cNvPr id="87" name="TextBox 86"/>
          <p:cNvSpPr txBox="1"/>
          <p:nvPr/>
        </p:nvSpPr>
        <p:spPr>
          <a:xfrm>
            <a:off x="1543050" y="42576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Western Europe</a:t>
            </a:r>
          </a:p>
        </p:txBody>
      </p:sp>
      <p:sp>
        <p:nvSpPr>
          <p:cNvPr id="88" name="TextBox 87"/>
          <p:cNvSpPr txBox="1"/>
          <p:nvPr/>
        </p:nvSpPr>
        <p:spPr>
          <a:xfrm>
            <a:off x="3924300" y="42576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89" name="Rectangle 88"/>
          <p:cNvSpPr/>
          <p:nvPr/>
        </p:nvSpPr>
        <p:spPr>
          <a:xfrm>
            <a:off x="4514850" y="42862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514850" y="42862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91" name="TextBox 90"/>
          <p:cNvSpPr txBox="1"/>
          <p:nvPr/>
        </p:nvSpPr>
        <p:spPr>
          <a:xfrm>
            <a:off x="4972050" y="42576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92" name="TextBox 91"/>
          <p:cNvSpPr txBox="1"/>
          <p:nvPr/>
        </p:nvSpPr>
        <p:spPr>
          <a:xfrm>
            <a:off x="6210300" y="42576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93" name="TextBox 92"/>
          <p:cNvSpPr txBox="1"/>
          <p:nvPr/>
        </p:nvSpPr>
        <p:spPr>
          <a:xfrm>
            <a:off x="7162800" y="42576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94" name="TextBox 93"/>
          <p:cNvSpPr txBox="1"/>
          <p:nvPr/>
        </p:nvSpPr>
        <p:spPr>
          <a:xfrm>
            <a:off x="9353550" y="42576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95" name="Connector 94"/>
          <p:cNvCxnSpPr/>
          <p:nvPr/>
        </p:nvCxnSpPr>
        <p:spPr>
          <a:xfrm>
            <a:off x="190500" y="47244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6" name="Rectangle 95"/>
          <p:cNvSpPr/>
          <p:nvPr/>
        </p:nvSpPr>
        <p:spPr>
          <a:xfrm>
            <a:off x="190500" y="47625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66700" y="47529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Mapei</a:t>
            </a:r>
          </a:p>
        </p:txBody>
      </p:sp>
      <p:sp>
        <p:nvSpPr>
          <p:cNvPr id="98" name="TextBox 97"/>
          <p:cNvSpPr txBox="1"/>
          <p:nvPr/>
        </p:nvSpPr>
        <p:spPr>
          <a:xfrm>
            <a:off x="1543050" y="47529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Polyurea Waterproof Coatings</a:t>
            </a:r>
          </a:p>
        </p:txBody>
      </p:sp>
      <p:sp>
        <p:nvSpPr>
          <p:cNvPr id="99" name="TextBox 98"/>
          <p:cNvSpPr txBox="1"/>
          <p:nvPr/>
        </p:nvSpPr>
        <p:spPr>
          <a:xfrm>
            <a:off x="3924300" y="47529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00" name="Rectangle 99"/>
          <p:cNvSpPr/>
          <p:nvPr/>
        </p:nvSpPr>
        <p:spPr>
          <a:xfrm>
            <a:off x="4514850" y="47815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514850" y="47815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02" name="TextBox 101"/>
          <p:cNvSpPr txBox="1"/>
          <p:nvPr/>
        </p:nvSpPr>
        <p:spPr>
          <a:xfrm>
            <a:off x="4972050" y="47529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103" name="TextBox 102"/>
          <p:cNvSpPr txBox="1"/>
          <p:nvPr/>
        </p:nvSpPr>
        <p:spPr>
          <a:xfrm>
            <a:off x="6210300" y="47529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104" name="TextBox 103"/>
          <p:cNvSpPr txBox="1"/>
          <p:nvPr/>
        </p:nvSpPr>
        <p:spPr>
          <a:xfrm>
            <a:off x="7162800" y="47529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105" name="TextBox 104"/>
          <p:cNvSpPr txBox="1"/>
          <p:nvPr/>
        </p:nvSpPr>
        <p:spPr>
          <a:xfrm>
            <a:off x="9353550" y="47529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106" name="Connector 105"/>
          <p:cNvCxnSpPr/>
          <p:nvPr/>
        </p:nvCxnSpPr>
        <p:spPr>
          <a:xfrm>
            <a:off x="190500" y="52197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7" name="Rectangle 106"/>
          <p:cNvSpPr/>
          <p:nvPr/>
        </p:nvSpPr>
        <p:spPr>
          <a:xfrm>
            <a:off x="190500" y="52578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266700" y="52482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Henkel AG &amp; Co. KGaA</a:t>
            </a:r>
          </a:p>
        </p:txBody>
      </p:sp>
      <p:sp>
        <p:nvSpPr>
          <p:cNvPr id="109" name="TextBox 108"/>
          <p:cNvSpPr txBox="1"/>
          <p:nvPr/>
        </p:nvSpPr>
        <p:spPr>
          <a:xfrm>
            <a:off x="1543050" y="52482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South Asia &amp; Pacific</a:t>
            </a:r>
          </a:p>
        </p:txBody>
      </p:sp>
      <p:sp>
        <p:nvSpPr>
          <p:cNvPr id="110" name="TextBox 109"/>
          <p:cNvSpPr txBox="1"/>
          <p:nvPr/>
        </p:nvSpPr>
        <p:spPr>
          <a:xfrm>
            <a:off x="3924300" y="52482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11" name="Rectangle 110"/>
          <p:cNvSpPr/>
          <p:nvPr/>
        </p:nvSpPr>
        <p:spPr>
          <a:xfrm>
            <a:off x="4514850" y="52768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4514850" y="52768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113" name="TextBox 112"/>
          <p:cNvSpPr txBox="1"/>
          <p:nvPr/>
        </p:nvSpPr>
        <p:spPr>
          <a:xfrm>
            <a:off x="4972050" y="52482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114" name="TextBox 113"/>
          <p:cNvSpPr txBox="1"/>
          <p:nvPr/>
        </p:nvSpPr>
        <p:spPr>
          <a:xfrm>
            <a:off x="6210300" y="52482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115" name="TextBox 114"/>
          <p:cNvSpPr txBox="1"/>
          <p:nvPr/>
        </p:nvSpPr>
        <p:spPr>
          <a:xfrm>
            <a:off x="7162800" y="52482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116" name="TextBox 115"/>
          <p:cNvSpPr txBox="1"/>
          <p:nvPr/>
        </p:nvSpPr>
        <p:spPr>
          <a:xfrm>
            <a:off x="9353550" y="52482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117" name="Connector 116"/>
          <p:cNvCxnSpPr/>
          <p:nvPr/>
        </p:nvCxnSpPr>
        <p:spPr>
          <a:xfrm>
            <a:off x="190500" y="57150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8" name="Rectangle 117"/>
          <p:cNvSpPr/>
          <p:nvPr/>
        </p:nvSpPr>
        <p:spPr>
          <a:xfrm>
            <a:off x="190500" y="57531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266700" y="57435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Dow</a:t>
            </a:r>
          </a:p>
        </p:txBody>
      </p:sp>
      <p:sp>
        <p:nvSpPr>
          <p:cNvPr id="120" name="TextBox 119"/>
          <p:cNvSpPr txBox="1"/>
          <p:nvPr/>
        </p:nvSpPr>
        <p:spPr>
          <a:xfrm>
            <a:off x="1543050" y="57435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Other Polymer-Based Coatings</a:t>
            </a:r>
          </a:p>
        </p:txBody>
      </p:sp>
      <p:sp>
        <p:nvSpPr>
          <p:cNvPr id="121" name="TextBox 120"/>
          <p:cNvSpPr txBox="1"/>
          <p:nvPr/>
        </p:nvSpPr>
        <p:spPr>
          <a:xfrm>
            <a:off x="3924300" y="57435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22" name="Rectangle 121"/>
          <p:cNvSpPr/>
          <p:nvPr/>
        </p:nvSpPr>
        <p:spPr>
          <a:xfrm>
            <a:off x="4514850" y="57721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4514850" y="57721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24" name="TextBox 123"/>
          <p:cNvSpPr txBox="1"/>
          <p:nvPr/>
        </p:nvSpPr>
        <p:spPr>
          <a:xfrm>
            <a:off x="4972050" y="57435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125" name="TextBox 124"/>
          <p:cNvSpPr txBox="1"/>
          <p:nvPr/>
        </p:nvSpPr>
        <p:spPr>
          <a:xfrm>
            <a:off x="6210300" y="57435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126" name="TextBox 125"/>
          <p:cNvSpPr txBox="1"/>
          <p:nvPr/>
        </p:nvSpPr>
        <p:spPr>
          <a:xfrm>
            <a:off x="7162800" y="57435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127" name="TextBox 126"/>
          <p:cNvSpPr txBox="1"/>
          <p:nvPr/>
        </p:nvSpPr>
        <p:spPr>
          <a:xfrm>
            <a:off x="9353550" y="57435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128" name="Connector 127"/>
          <p:cNvCxnSpPr/>
          <p:nvPr/>
        </p:nvCxnSpPr>
        <p:spPr>
          <a:xfrm>
            <a:off x="190500" y="62103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9" name="Rectangle 128"/>
          <p:cNvSpPr/>
          <p:nvPr/>
        </p:nvSpPr>
        <p:spPr>
          <a:xfrm>
            <a:off x="190500" y="6276975"/>
            <a:ext cx="285750" cy="15240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9050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131" name="TextBox 130"/>
          <p:cNvSpPr txBox="1"/>
          <p:nvPr/>
        </p:nvSpPr>
        <p:spPr>
          <a:xfrm>
            <a:off x="51435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M&amp;A</a:t>
            </a:r>
          </a:p>
        </p:txBody>
      </p:sp>
      <p:sp>
        <p:nvSpPr>
          <p:cNvPr id="132" name="Rectangle 131"/>
          <p:cNvSpPr/>
          <p:nvPr/>
        </p:nvSpPr>
        <p:spPr>
          <a:xfrm>
            <a:off x="923925" y="6276975"/>
            <a:ext cx="285750" cy="1524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9239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34" name="TextBox 133"/>
          <p:cNvSpPr txBox="1"/>
          <p:nvPr/>
        </p:nvSpPr>
        <p:spPr>
          <a:xfrm>
            <a:off x="12477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Product / portfolio</a:t>
            </a:r>
          </a:p>
        </p:txBody>
      </p:sp>
      <p:sp>
        <p:nvSpPr>
          <p:cNvPr id="135" name="Rectangle 134"/>
          <p:cNvSpPr/>
          <p:nvPr/>
        </p:nvSpPr>
        <p:spPr>
          <a:xfrm>
            <a:off x="2724150" y="6276975"/>
            <a:ext cx="285750" cy="1524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272415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EX</a:t>
            </a:r>
          </a:p>
        </p:txBody>
      </p:sp>
      <p:sp>
        <p:nvSpPr>
          <p:cNvPr id="137" name="TextBox 136"/>
          <p:cNvSpPr txBox="1"/>
          <p:nvPr/>
        </p:nvSpPr>
        <p:spPr>
          <a:xfrm>
            <a:off x="304800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Expansion</a:t>
            </a:r>
          </a:p>
        </p:txBody>
      </p:sp>
      <p:sp>
        <p:nvSpPr>
          <p:cNvPr id="138" name="Rectangle 137"/>
          <p:cNvSpPr/>
          <p:nvPr/>
        </p:nvSpPr>
        <p:spPr>
          <a:xfrm>
            <a:off x="3857625" y="6276975"/>
            <a:ext cx="285750" cy="1524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38576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RD</a:t>
            </a:r>
          </a:p>
        </p:txBody>
      </p:sp>
      <p:sp>
        <p:nvSpPr>
          <p:cNvPr id="140" name="TextBox 139"/>
          <p:cNvSpPr txBox="1"/>
          <p:nvPr/>
        </p:nvSpPr>
        <p:spPr>
          <a:xfrm>
            <a:off x="41814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R&amp;D / technology</a:t>
            </a:r>
          </a:p>
        </p:txBody>
      </p:sp>
      <p:sp>
        <p:nvSpPr>
          <p:cNvPr id="141" name="Rectangle 140"/>
          <p:cNvSpPr/>
          <p:nvPr/>
        </p:nvSpPr>
        <p:spPr>
          <a:xfrm>
            <a:off x="5457825" y="6276975"/>
            <a:ext cx="285750" cy="152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54578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RG</a:t>
            </a:r>
          </a:p>
        </p:txBody>
      </p:sp>
      <p:sp>
        <p:nvSpPr>
          <p:cNvPr id="143" name="TextBox 142"/>
          <p:cNvSpPr txBox="1"/>
          <p:nvPr/>
        </p:nvSpPr>
        <p:spPr>
          <a:xfrm>
            <a:off x="57816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Regulation / compliance</a:t>
            </a:r>
          </a:p>
        </p:txBody>
      </p:sp>
      <p:sp>
        <p:nvSpPr>
          <p:cNvPr id="144" name="Rectangle 143"/>
          <p:cNvSpPr/>
          <p:nvPr/>
        </p:nvSpPr>
        <p:spPr>
          <a:xfrm>
            <a:off x="7524750" y="6276975"/>
            <a:ext cx="285750" cy="152400"/>
          </a:xfrm>
          <a:prstGeom prst="rect">
            <a:avLst/>
          </a:prstGeom>
          <a:solidFill>
            <a:srgbClr val="177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752475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CP</a:t>
            </a:r>
          </a:p>
        </p:txBody>
      </p:sp>
      <p:sp>
        <p:nvSpPr>
          <p:cNvPr id="146" name="TextBox 145"/>
          <p:cNvSpPr txBox="1"/>
          <p:nvPr/>
        </p:nvSpPr>
        <p:spPr>
          <a:xfrm>
            <a:off x="784860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Capital / funding</a:t>
            </a:r>
          </a:p>
        </p:txBody>
      </p:sp>
      <p:sp>
        <p:nvSpPr>
          <p:cNvPr id="147" name="TextBox 146"/>
          <p:cNvSpPr txBox="1"/>
          <p:nvPr/>
        </p:nvSpPr>
        <p:spPr>
          <a:xfrm>
            <a:off x="190500" y="6457950"/>
            <a:ext cx="11811000" cy="171450"/>
          </a:xfrm>
          <a:prstGeom prst="rect">
            <a:avLst/>
          </a:prstGeom>
          <a:noFill/>
        </p:spPr>
        <p:txBody>
          <a:bodyPr wrap="square" lIns="28575" rIns="28575" tIns="9525" bIns="9525" anchor="t">
            <a:spAutoFit/>
          </a:bodyPr>
          <a:lstStyle/>
          <a:p>
            <a:pPr algn="l"/>
            <a:r>
              <a:rPr sz="1100" b="0">
                <a:solidFill>
                  <a:srgbClr val="5F6B7A"/>
                </a:solidFill>
                <a:latin typeface="Calibri"/>
              </a:rPr>
              <a:t>Dates, deal values and evidence sources populate from the research feed; until then each row reads the player's most telling active strategy.</a:t>
            </a:r>
          </a:p>
        </p:txBody>
      </p:sp>
      <p:sp>
        <p:nvSpPr>
          <p:cNvPr id="148" name="TextBox 1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49" name="Picture 148" descr="lock.png"/>
          <p:cNvPicPr>
            <a:picLocks noChangeAspect="1"/>
          </p:cNvPicPr>
          <p:nvPr/>
        </p:nvPicPr>
        <p:blipFill>
          <a:blip r:embed="rId4"/>
          <a:stretch>
            <a:fillRect/>
          </a:stretch>
        </p:blipFill>
        <p:spPr>
          <a:xfrm>
            <a:off x="4126650" y="1278001"/>
            <a:ext cx="128699" cy="187198"/>
          </a:xfrm>
          <a:prstGeom prst="rect">
            <a:avLst/>
          </a:prstGeom>
        </p:spPr>
      </p:pic>
      <p:pic>
        <p:nvPicPr>
          <p:cNvPr id="150" name="Picture 149" descr="lock.png"/>
          <p:cNvPicPr>
            <a:picLocks noChangeAspect="1"/>
          </p:cNvPicPr>
          <p:nvPr/>
        </p:nvPicPr>
        <p:blipFill>
          <a:blip r:embed="rId4"/>
          <a:stretch>
            <a:fillRect/>
          </a:stretch>
        </p:blipFill>
        <p:spPr>
          <a:xfrm>
            <a:off x="4126650" y="1773301"/>
            <a:ext cx="128699" cy="187198"/>
          </a:xfrm>
          <a:prstGeom prst="rect">
            <a:avLst/>
          </a:prstGeom>
        </p:spPr>
      </p:pic>
      <p:pic>
        <p:nvPicPr>
          <p:cNvPr id="151" name="Picture 150" descr="lock.png"/>
          <p:cNvPicPr>
            <a:picLocks noChangeAspect="1"/>
          </p:cNvPicPr>
          <p:nvPr/>
        </p:nvPicPr>
        <p:blipFill>
          <a:blip r:embed="rId4"/>
          <a:stretch>
            <a:fillRect/>
          </a:stretch>
        </p:blipFill>
        <p:spPr>
          <a:xfrm>
            <a:off x="4126650" y="2268601"/>
            <a:ext cx="128699" cy="187198"/>
          </a:xfrm>
          <a:prstGeom prst="rect">
            <a:avLst/>
          </a:prstGeom>
        </p:spPr>
      </p:pic>
      <p:pic>
        <p:nvPicPr>
          <p:cNvPr id="152" name="Picture 151" descr="lock.png"/>
          <p:cNvPicPr>
            <a:picLocks noChangeAspect="1"/>
          </p:cNvPicPr>
          <p:nvPr/>
        </p:nvPicPr>
        <p:blipFill>
          <a:blip r:embed="rId4"/>
          <a:stretch>
            <a:fillRect/>
          </a:stretch>
        </p:blipFill>
        <p:spPr>
          <a:xfrm>
            <a:off x="4126650" y="2763901"/>
            <a:ext cx="128699" cy="187198"/>
          </a:xfrm>
          <a:prstGeom prst="rect">
            <a:avLst/>
          </a:prstGeom>
        </p:spPr>
      </p:pic>
      <p:pic>
        <p:nvPicPr>
          <p:cNvPr id="153" name="Picture 152" descr="lock.png"/>
          <p:cNvPicPr>
            <a:picLocks noChangeAspect="1"/>
          </p:cNvPicPr>
          <p:nvPr/>
        </p:nvPicPr>
        <p:blipFill>
          <a:blip r:embed="rId4"/>
          <a:stretch>
            <a:fillRect/>
          </a:stretch>
        </p:blipFill>
        <p:spPr>
          <a:xfrm>
            <a:off x="4126650" y="3259201"/>
            <a:ext cx="128699" cy="187198"/>
          </a:xfrm>
          <a:prstGeom prst="rect">
            <a:avLst/>
          </a:prstGeom>
        </p:spPr>
      </p:pic>
      <p:pic>
        <p:nvPicPr>
          <p:cNvPr id="154" name="Picture 153" descr="lock.png"/>
          <p:cNvPicPr>
            <a:picLocks noChangeAspect="1"/>
          </p:cNvPicPr>
          <p:nvPr/>
        </p:nvPicPr>
        <p:blipFill>
          <a:blip r:embed="rId4"/>
          <a:stretch>
            <a:fillRect/>
          </a:stretch>
        </p:blipFill>
        <p:spPr>
          <a:xfrm>
            <a:off x="4126650" y="3754501"/>
            <a:ext cx="128699" cy="187198"/>
          </a:xfrm>
          <a:prstGeom prst="rect">
            <a:avLst/>
          </a:prstGeom>
        </p:spPr>
      </p:pic>
      <p:pic>
        <p:nvPicPr>
          <p:cNvPr id="155" name="Picture 154" descr="lock.png"/>
          <p:cNvPicPr>
            <a:picLocks noChangeAspect="1"/>
          </p:cNvPicPr>
          <p:nvPr/>
        </p:nvPicPr>
        <p:blipFill>
          <a:blip r:embed="rId4"/>
          <a:stretch>
            <a:fillRect/>
          </a:stretch>
        </p:blipFill>
        <p:spPr>
          <a:xfrm>
            <a:off x="4126650" y="4249801"/>
            <a:ext cx="128699" cy="187198"/>
          </a:xfrm>
          <a:prstGeom prst="rect">
            <a:avLst/>
          </a:prstGeom>
        </p:spPr>
      </p:pic>
      <p:pic>
        <p:nvPicPr>
          <p:cNvPr id="156" name="Picture 155" descr="lock.png"/>
          <p:cNvPicPr>
            <a:picLocks noChangeAspect="1"/>
          </p:cNvPicPr>
          <p:nvPr/>
        </p:nvPicPr>
        <p:blipFill>
          <a:blip r:embed="rId4"/>
          <a:stretch>
            <a:fillRect/>
          </a:stretch>
        </p:blipFill>
        <p:spPr>
          <a:xfrm>
            <a:off x="4126650" y="4745101"/>
            <a:ext cx="128699" cy="187198"/>
          </a:xfrm>
          <a:prstGeom prst="rect">
            <a:avLst/>
          </a:prstGeom>
        </p:spPr>
      </p:pic>
      <p:pic>
        <p:nvPicPr>
          <p:cNvPr id="157" name="Picture 156" descr="lock.png"/>
          <p:cNvPicPr>
            <a:picLocks noChangeAspect="1"/>
          </p:cNvPicPr>
          <p:nvPr/>
        </p:nvPicPr>
        <p:blipFill>
          <a:blip r:embed="rId4"/>
          <a:stretch>
            <a:fillRect/>
          </a:stretch>
        </p:blipFill>
        <p:spPr>
          <a:xfrm>
            <a:off x="4126650" y="5240401"/>
            <a:ext cx="128699" cy="187198"/>
          </a:xfrm>
          <a:prstGeom prst="rect">
            <a:avLst/>
          </a:prstGeom>
        </p:spPr>
      </p:pic>
      <p:pic>
        <p:nvPicPr>
          <p:cNvPr id="158" name="Picture 157" descr="lock.png"/>
          <p:cNvPicPr>
            <a:picLocks noChangeAspect="1"/>
          </p:cNvPicPr>
          <p:nvPr/>
        </p:nvPicPr>
        <p:blipFill>
          <a:blip r:embed="rId4"/>
          <a:stretch>
            <a:fillRect/>
          </a:stretch>
        </p:blipFill>
        <p:spPr>
          <a:xfrm>
            <a:off x="4126650" y="5735701"/>
            <a:ext cx="128699" cy="187198"/>
          </a:xfrm>
          <a:prstGeom prst="rect">
            <a:avLst/>
          </a:prstGeom>
        </p:spPr>
      </p:pic>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Waterproof Coatings Market Strategic Activity by Function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Where competitor activity concentrates by type and department, and what it means for each function</a:t>
            </a:r>
          </a:p>
        </p:txBody>
      </p:sp>
      <p:sp>
        <p:nvSpPr>
          <p:cNvPr id="10" name="Rectangle 9"/>
          <p:cNvSpPr/>
          <p:nvPr/>
        </p:nvSpPr>
        <p:spPr>
          <a:xfrm>
            <a:off x="190500" y="16383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5750" y="16002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Sika</a:t>
            </a:r>
          </a:p>
        </p:txBody>
      </p:sp>
      <p:sp>
        <p:nvSpPr>
          <p:cNvPr id="12" name="Rectangle 11"/>
          <p:cNvSpPr/>
          <p:nvPr/>
        </p:nvSpPr>
        <p:spPr>
          <a:xfrm>
            <a:off x="190500" y="18859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5750" y="18478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The Sherwin-Williams</a:t>
            </a:r>
          </a:p>
        </p:txBody>
      </p:sp>
      <p:sp>
        <p:nvSpPr>
          <p:cNvPr id="14" name="Rectangle 13"/>
          <p:cNvSpPr/>
          <p:nvPr/>
        </p:nvSpPr>
        <p:spPr>
          <a:xfrm>
            <a:off x="190500" y="21336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5750" y="20955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PPG Industries</a:t>
            </a:r>
          </a:p>
        </p:txBody>
      </p:sp>
      <p:sp>
        <p:nvSpPr>
          <p:cNvPr id="16" name="Rectangle 15"/>
          <p:cNvSpPr/>
          <p:nvPr/>
        </p:nvSpPr>
        <p:spPr>
          <a:xfrm>
            <a:off x="190500" y="23812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5750" y="23431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Akzo Nobel</a:t>
            </a:r>
          </a:p>
        </p:txBody>
      </p:sp>
      <p:sp>
        <p:nvSpPr>
          <p:cNvPr id="18" name="Rectangle 17"/>
          <p:cNvSpPr/>
          <p:nvPr/>
        </p:nvSpPr>
        <p:spPr>
          <a:xfrm>
            <a:off x="190500" y="262890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5750" y="25908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BASF</a:t>
            </a:r>
          </a:p>
        </p:txBody>
      </p:sp>
      <p:sp>
        <p:nvSpPr>
          <p:cNvPr id="20" name="Rectangle 19"/>
          <p:cNvSpPr/>
          <p:nvPr/>
        </p:nvSpPr>
        <p:spPr>
          <a:xfrm>
            <a:off x="190500" y="287655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5750" y="28384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RPM International</a:t>
            </a:r>
          </a:p>
        </p:txBody>
      </p:sp>
      <p:sp>
        <p:nvSpPr>
          <p:cNvPr id="22" name="Rectangle 21"/>
          <p:cNvSpPr/>
          <p:nvPr/>
        </p:nvSpPr>
        <p:spPr>
          <a:xfrm>
            <a:off x="190500" y="312420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5750" y="30861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Saint-Gobain</a:t>
            </a:r>
          </a:p>
        </p:txBody>
      </p:sp>
      <p:sp>
        <p:nvSpPr>
          <p:cNvPr id="24" name="Rectangle 23"/>
          <p:cNvSpPr/>
          <p:nvPr/>
        </p:nvSpPr>
        <p:spPr>
          <a:xfrm>
            <a:off x="190500" y="337185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5750" y="33337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Mapei</a:t>
            </a:r>
          </a:p>
        </p:txBody>
      </p:sp>
      <p:sp>
        <p:nvSpPr>
          <p:cNvPr id="26" name="Rectangle 25"/>
          <p:cNvSpPr/>
          <p:nvPr/>
        </p:nvSpPr>
        <p:spPr>
          <a:xfrm>
            <a:off x="190500" y="361950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5750" y="35814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Henkel AG &amp; Co. KGaA</a:t>
            </a:r>
          </a:p>
        </p:txBody>
      </p:sp>
      <p:sp>
        <p:nvSpPr>
          <p:cNvPr id="28" name="Rectangle 27"/>
          <p:cNvSpPr/>
          <p:nvPr/>
        </p:nvSpPr>
        <p:spPr>
          <a:xfrm>
            <a:off x="190500" y="386715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5750" y="38290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Dow</a:t>
            </a:r>
          </a:p>
        </p:txBody>
      </p:sp>
      <p:sp>
        <p:nvSpPr>
          <p:cNvPr id="30" name="TextBox 29"/>
          <p:cNvSpPr txBox="1"/>
          <p:nvPr/>
        </p:nvSpPr>
        <p:spPr>
          <a:xfrm>
            <a:off x="17145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Moves by type (count)</a:t>
            </a:r>
          </a:p>
        </p:txBody>
      </p:sp>
      <p:sp>
        <p:nvSpPr>
          <p:cNvPr id="31" name="TextBox 30"/>
          <p:cNvSpPr txBox="1"/>
          <p:nvPr/>
        </p:nvSpPr>
        <p:spPr>
          <a:xfrm>
            <a:off x="1714500"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MA</a:t>
            </a:r>
          </a:p>
        </p:txBody>
      </p:sp>
      <p:sp>
        <p:nvSpPr>
          <p:cNvPr id="32" name="TextBox 31"/>
          <p:cNvSpPr txBox="1"/>
          <p:nvPr/>
        </p:nvSpPr>
        <p:spPr>
          <a:xfrm>
            <a:off x="2264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PR</a:t>
            </a:r>
          </a:p>
        </p:txBody>
      </p:sp>
      <p:sp>
        <p:nvSpPr>
          <p:cNvPr id="33" name="TextBox 32"/>
          <p:cNvSpPr txBox="1"/>
          <p:nvPr/>
        </p:nvSpPr>
        <p:spPr>
          <a:xfrm>
            <a:off x="2815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EX</a:t>
            </a:r>
          </a:p>
        </p:txBody>
      </p:sp>
      <p:sp>
        <p:nvSpPr>
          <p:cNvPr id="34" name="TextBox 33"/>
          <p:cNvSpPr txBox="1"/>
          <p:nvPr/>
        </p:nvSpPr>
        <p:spPr>
          <a:xfrm>
            <a:off x="3365500"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RD</a:t>
            </a:r>
          </a:p>
        </p:txBody>
      </p:sp>
      <p:sp>
        <p:nvSpPr>
          <p:cNvPr id="35" name="TextBox 34"/>
          <p:cNvSpPr txBox="1"/>
          <p:nvPr/>
        </p:nvSpPr>
        <p:spPr>
          <a:xfrm>
            <a:off x="3915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RG</a:t>
            </a:r>
          </a:p>
        </p:txBody>
      </p:sp>
      <p:sp>
        <p:nvSpPr>
          <p:cNvPr id="36" name="TextBox 35"/>
          <p:cNvSpPr txBox="1"/>
          <p:nvPr/>
        </p:nvSpPr>
        <p:spPr>
          <a:xfrm>
            <a:off x="4466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CP</a:t>
            </a:r>
          </a:p>
        </p:txBody>
      </p:sp>
      <p:sp>
        <p:nvSpPr>
          <p:cNvPr id="37" name="Rectangle 36"/>
          <p:cNvSpPr/>
          <p:nvPr/>
        </p:nvSpPr>
        <p:spPr>
          <a:xfrm>
            <a:off x="1724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714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9" name="Rectangle 38"/>
          <p:cNvSpPr/>
          <p:nvPr/>
        </p:nvSpPr>
        <p:spPr>
          <a:xfrm>
            <a:off x="2274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824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815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2" name="Rectangle 41"/>
          <p:cNvSpPr/>
          <p:nvPr/>
        </p:nvSpPr>
        <p:spPr>
          <a:xfrm>
            <a:off x="3375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365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4" name="Rectangle 43"/>
          <p:cNvSpPr/>
          <p:nvPr/>
        </p:nvSpPr>
        <p:spPr>
          <a:xfrm>
            <a:off x="3925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915833"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6" name="Rectangle 45"/>
          <p:cNvSpPr/>
          <p:nvPr/>
        </p:nvSpPr>
        <p:spPr>
          <a:xfrm>
            <a:off x="4475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466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8" name="Rectangle 47"/>
          <p:cNvSpPr/>
          <p:nvPr/>
        </p:nvSpPr>
        <p:spPr>
          <a:xfrm>
            <a:off x="1724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274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264833"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51" name="Rectangle 50"/>
          <p:cNvSpPr/>
          <p:nvPr/>
        </p:nvSpPr>
        <p:spPr>
          <a:xfrm>
            <a:off x="2824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815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3" name="Rectangle 52"/>
          <p:cNvSpPr/>
          <p:nvPr/>
        </p:nvSpPr>
        <p:spPr>
          <a:xfrm>
            <a:off x="3375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365500"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5" name="Rectangle 54"/>
          <p:cNvSpPr/>
          <p:nvPr/>
        </p:nvSpPr>
        <p:spPr>
          <a:xfrm>
            <a:off x="3925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475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466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8" name="Rectangle 57"/>
          <p:cNvSpPr/>
          <p:nvPr/>
        </p:nvSpPr>
        <p:spPr>
          <a:xfrm>
            <a:off x="1724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714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0" name="Rectangle 59"/>
          <p:cNvSpPr/>
          <p:nvPr/>
        </p:nvSpPr>
        <p:spPr>
          <a:xfrm>
            <a:off x="2274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824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815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3" name="Rectangle 62"/>
          <p:cNvSpPr/>
          <p:nvPr/>
        </p:nvSpPr>
        <p:spPr>
          <a:xfrm>
            <a:off x="3375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365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5" name="Rectangle 64"/>
          <p:cNvSpPr/>
          <p:nvPr/>
        </p:nvSpPr>
        <p:spPr>
          <a:xfrm>
            <a:off x="3925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915833"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7" name="Rectangle 66"/>
          <p:cNvSpPr/>
          <p:nvPr/>
        </p:nvSpPr>
        <p:spPr>
          <a:xfrm>
            <a:off x="4475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466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9" name="Rectangle 68"/>
          <p:cNvSpPr/>
          <p:nvPr/>
        </p:nvSpPr>
        <p:spPr>
          <a:xfrm>
            <a:off x="1724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2274358"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264833"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72" name="Rectangle 71"/>
          <p:cNvSpPr/>
          <p:nvPr/>
        </p:nvSpPr>
        <p:spPr>
          <a:xfrm>
            <a:off x="2824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815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4" name="Rectangle 73"/>
          <p:cNvSpPr/>
          <p:nvPr/>
        </p:nvSpPr>
        <p:spPr>
          <a:xfrm>
            <a:off x="3375025"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365500"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6" name="Rectangle 75"/>
          <p:cNvSpPr/>
          <p:nvPr/>
        </p:nvSpPr>
        <p:spPr>
          <a:xfrm>
            <a:off x="3925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4475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466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9" name="Rectangle 78"/>
          <p:cNvSpPr/>
          <p:nvPr/>
        </p:nvSpPr>
        <p:spPr>
          <a:xfrm>
            <a:off x="1724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714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1" name="Rectangle 80"/>
          <p:cNvSpPr/>
          <p:nvPr/>
        </p:nvSpPr>
        <p:spPr>
          <a:xfrm>
            <a:off x="2274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2824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815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4" name="Rectangle 83"/>
          <p:cNvSpPr/>
          <p:nvPr/>
        </p:nvSpPr>
        <p:spPr>
          <a:xfrm>
            <a:off x="3375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365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6" name="Rectangle 85"/>
          <p:cNvSpPr/>
          <p:nvPr/>
        </p:nvSpPr>
        <p:spPr>
          <a:xfrm>
            <a:off x="3925358"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915833"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8" name="Rectangle 87"/>
          <p:cNvSpPr/>
          <p:nvPr/>
        </p:nvSpPr>
        <p:spPr>
          <a:xfrm>
            <a:off x="4475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466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0" name="Rectangle 89"/>
          <p:cNvSpPr/>
          <p:nvPr/>
        </p:nvSpPr>
        <p:spPr>
          <a:xfrm>
            <a:off x="1724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2274358"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264833"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93" name="Rectangle 92"/>
          <p:cNvSpPr/>
          <p:nvPr/>
        </p:nvSpPr>
        <p:spPr>
          <a:xfrm>
            <a:off x="2824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815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5" name="Rectangle 94"/>
          <p:cNvSpPr/>
          <p:nvPr/>
        </p:nvSpPr>
        <p:spPr>
          <a:xfrm>
            <a:off x="3375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3365500"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7" name="Rectangle 96"/>
          <p:cNvSpPr/>
          <p:nvPr/>
        </p:nvSpPr>
        <p:spPr>
          <a:xfrm>
            <a:off x="3925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4475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466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0" name="Rectangle 99"/>
          <p:cNvSpPr/>
          <p:nvPr/>
        </p:nvSpPr>
        <p:spPr>
          <a:xfrm>
            <a:off x="1724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714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2" name="Rectangle 101"/>
          <p:cNvSpPr/>
          <p:nvPr/>
        </p:nvSpPr>
        <p:spPr>
          <a:xfrm>
            <a:off x="2274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2824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2815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5" name="Rectangle 104"/>
          <p:cNvSpPr/>
          <p:nvPr/>
        </p:nvSpPr>
        <p:spPr>
          <a:xfrm>
            <a:off x="3375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3365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7" name="Rectangle 106"/>
          <p:cNvSpPr/>
          <p:nvPr/>
        </p:nvSpPr>
        <p:spPr>
          <a:xfrm>
            <a:off x="3925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3915833"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9" name="Rectangle 108"/>
          <p:cNvSpPr/>
          <p:nvPr/>
        </p:nvSpPr>
        <p:spPr>
          <a:xfrm>
            <a:off x="4475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4466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1" name="Rectangle 110"/>
          <p:cNvSpPr/>
          <p:nvPr/>
        </p:nvSpPr>
        <p:spPr>
          <a:xfrm>
            <a:off x="1724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2274358"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264833"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114" name="Rectangle 113"/>
          <p:cNvSpPr/>
          <p:nvPr/>
        </p:nvSpPr>
        <p:spPr>
          <a:xfrm>
            <a:off x="2824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2815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6" name="Rectangle 115"/>
          <p:cNvSpPr/>
          <p:nvPr/>
        </p:nvSpPr>
        <p:spPr>
          <a:xfrm>
            <a:off x="3375025"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3365500"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8" name="Rectangle 117"/>
          <p:cNvSpPr/>
          <p:nvPr/>
        </p:nvSpPr>
        <p:spPr>
          <a:xfrm>
            <a:off x="3925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4475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466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1" name="Rectangle 120"/>
          <p:cNvSpPr/>
          <p:nvPr/>
        </p:nvSpPr>
        <p:spPr>
          <a:xfrm>
            <a:off x="1724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1714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3" name="Rectangle 122"/>
          <p:cNvSpPr/>
          <p:nvPr/>
        </p:nvSpPr>
        <p:spPr>
          <a:xfrm>
            <a:off x="2274358"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2824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2815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6" name="Rectangle 125"/>
          <p:cNvSpPr/>
          <p:nvPr/>
        </p:nvSpPr>
        <p:spPr>
          <a:xfrm>
            <a:off x="3375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3365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8" name="Rectangle 127"/>
          <p:cNvSpPr/>
          <p:nvPr/>
        </p:nvSpPr>
        <p:spPr>
          <a:xfrm>
            <a:off x="3925358"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3915833"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0" name="Rectangle 129"/>
          <p:cNvSpPr/>
          <p:nvPr/>
        </p:nvSpPr>
        <p:spPr>
          <a:xfrm>
            <a:off x="4475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4466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2" name="Rectangle 131"/>
          <p:cNvSpPr/>
          <p:nvPr/>
        </p:nvSpPr>
        <p:spPr>
          <a:xfrm>
            <a:off x="1724025"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2274358" y="38385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2264833"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135" name="Rectangle 134"/>
          <p:cNvSpPr/>
          <p:nvPr/>
        </p:nvSpPr>
        <p:spPr>
          <a:xfrm>
            <a:off x="2824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2815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7" name="Rectangle 136"/>
          <p:cNvSpPr/>
          <p:nvPr/>
        </p:nvSpPr>
        <p:spPr>
          <a:xfrm>
            <a:off x="3375025"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365500"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9" name="Rectangle 138"/>
          <p:cNvSpPr/>
          <p:nvPr/>
        </p:nvSpPr>
        <p:spPr>
          <a:xfrm>
            <a:off x="3925358"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4475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4466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42" name="TextBox 141"/>
          <p:cNvSpPr txBox="1"/>
          <p:nvPr/>
        </p:nvSpPr>
        <p:spPr>
          <a:xfrm>
            <a:off x="52070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By department</a:t>
            </a:r>
          </a:p>
        </p:txBody>
      </p:sp>
      <p:sp>
        <p:nvSpPr>
          <p:cNvPr id="143" name="TextBox 142"/>
          <p:cNvSpPr txBox="1"/>
          <p:nvPr/>
        </p:nvSpPr>
        <p:spPr>
          <a:xfrm>
            <a:off x="52070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Product &amp; R&amp;D</a:t>
            </a:r>
          </a:p>
        </p:txBody>
      </p:sp>
      <p:sp>
        <p:nvSpPr>
          <p:cNvPr id="144" name="TextBox 143"/>
          <p:cNvSpPr txBox="1"/>
          <p:nvPr/>
        </p:nvSpPr>
        <p:spPr>
          <a:xfrm>
            <a:off x="60325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Corp. dev.</a:t>
            </a:r>
          </a:p>
        </p:txBody>
      </p:sp>
      <p:sp>
        <p:nvSpPr>
          <p:cNvPr id="145" name="TextBox 144"/>
          <p:cNvSpPr txBox="1"/>
          <p:nvPr/>
        </p:nvSpPr>
        <p:spPr>
          <a:xfrm>
            <a:off x="68580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Operations</a:t>
            </a:r>
          </a:p>
        </p:txBody>
      </p:sp>
      <p:sp>
        <p:nvSpPr>
          <p:cNvPr id="146" name="TextBox 145"/>
          <p:cNvSpPr txBox="1"/>
          <p:nvPr/>
        </p:nvSpPr>
        <p:spPr>
          <a:xfrm>
            <a:off x="76835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Legal &amp; reg.</a:t>
            </a:r>
          </a:p>
        </p:txBody>
      </p:sp>
      <p:sp>
        <p:nvSpPr>
          <p:cNvPr id="147" name="Rectangle 146"/>
          <p:cNvSpPr/>
          <p:nvPr/>
        </p:nvSpPr>
        <p:spPr>
          <a:xfrm>
            <a:off x="5216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52070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49" name="Rectangle 148"/>
          <p:cNvSpPr/>
          <p:nvPr/>
        </p:nvSpPr>
        <p:spPr>
          <a:xfrm>
            <a:off x="6042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60325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1" name="Rectangle 150"/>
          <p:cNvSpPr/>
          <p:nvPr/>
        </p:nvSpPr>
        <p:spPr>
          <a:xfrm>
            <a:off x="6867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68580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3" name="Rectangle 152"/>
          <p:cNvSpPr/>
          <p:nvPr/>
        </p:nvSpPr>
        <p:spPr>
          <a:xfrm>
            <a:off x="7693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76835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5" name="Rectangle 154"/>
          <p:cNvSpPr/>
          <p:nvPr/>
        </p:nvSpPr>
        <p:spPr>
          <a:xfrm>
            <a:off x="5216525" y="18573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5207000" y="18573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57" name="Rectangle 156"/>
          <p:cNvSpPr/>
          <p:nvPr/>
        </p:nvSpPr>
        <p:spPr>
          <a:xfrm>
            <a:off x="6042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6867525" y="18573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6858000" y="18573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0" name="Rectangle 159"/>
          <p:cNvSpPr/>
          <p:nvPr/>
        </p:nvSpPr>
        <p:spPr>
          <a:xfrm>
            <a:off x="7693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5216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52070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3" name="Rectangle 162"/>
          <p:cNvSpPr/>
          <p:nvPr/>
        </p:nvSpPr>
        <p:spPr>
          <a:xfrm>
            <a:off x="6042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0325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5" name="Rectangle 164"/>
          <p:cNvSpPr/>
          <p:nvPr/>
        </p:nvSpPr>
        <p:spPr>
          <a:xfrm>
            <a:off x="6867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68580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7" name="Rectangle 166"/>
          <p:cNvSpPr/>
          <p:nvPr/>
        </p:nvSpPr>
        <p:spPr>
          <a:xfrm>
            <a:off x="7693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76835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9" name="Rectangle 168"/>
          <p:cNvSpPr/>
          <p:nvPr/>
        </p:nvSpPr>
        <p:spPr>
          <a:xfrm>
            <a:off x="5216525" y="23526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5207000" y="23526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71" name="Rectangle 170"/>
          <p:cNvSpPr/>
          <p:nvPr/>
        </p:nvSpPr>
        <p:spPr>
          <a:xfrm>
            <a:off x="6042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6867525" y="23526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6858000" y="23526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4" name="Rectangle 173"/>
          <p:cNvSpPr/>
          <p:nvPr/>
        </p:nvSpPr>
        <p:spPr>
          <a:xfrm>
            <a:off x="7693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5216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52070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7" name="Rectangle 176"/>
          <p:cNvSpPr/>
          <p:nvPr/>
        </p:nvSpPr>
        <p:spPr>
          <a:xfrm>
            <a:off x="6042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60325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9" name="Rectangle 178"/>
          <p:cNvSpPr/>
          <p:nvPr/>
        </p:nvSpPr>
        <p:spPr>
          <a:xfrm>
            <a:off x="6867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68580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1" name="Rectangle 180"/>
          <p:cNvSpPr/>
          <p:nvPr/>
        </p:nvSpPr>
        <p:spPr>
          <a:xfrm>
            <a:off x="7693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76835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3" name="Rectangle 182"/>
          <p:cNvSpPr/>
          <p:nvPr/>
        </p:nvSpPr>
        <p:spPr>
          <a:xfrm>
            <a:off x="5216525" y="28479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5207000" y="28479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85" name="Rectangle 184"/>
          <p:cNvSpPr/>
          <p:nvPr/>
        </p:nvSpPr>
        <p:spPr>
          <a:xfrm>
            <a:off x="6042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6867525" y="28479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6858000" y="28479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8" name="Rectangle 187"/>
          <p:cNvSpPr/>
          <p:nvPr/>
        </p:nvSpPr>
        <p:spPr>
          <a:xfrm>
            <a:off x="7693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5216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52070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1" name="Rectangle 190"/>
          <p:cNvSpPr/>
          <p:nvPr/>
        </p:nvSpPr>
        <p:spPr>
          <a:xfrm>
            <a:off x="6042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60325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3" name="Rectangle 192"/>
          <p:cNvSpPr/>
          <p:nvPr/>
        </p:nvSpPr>
        <p:spPr>
          <a:xfrm>
            <a:off x="6867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68580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5" name="Rectangle 194"/>
          <p:cNvSpPr/>
          <p:nvPr/>
        </p:nvSpPr>
        <p:spPr>
          <a:xfrm>
            <a:off x="7693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76835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7" name="Rectangle 196"/>
          <p:cNvSpPr/>
          <p:nvPr/>
        </p:nvSpPr>
        <p:spPr>
          <a:xfrm>
            <a:off x="5216525" y="33432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5207000" y="33432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99" name="Rectangle 198"/>
          <p:cNvSpPr/>
          <p:nvPr/>
        </p:nvSpPr>
        <p:spPr>
          <a:xfrm>
            <a:off x="6042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6867525" y="33432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6858000" y="33432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2" name="Rectangle 201"/>
          <p:cNvSpPr/>
          <p:nvPr/>
        </p:nvSpPr>
        <p:spPr>
          <a:xfrm>
            <a:off x="7693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52165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52070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5" name="Rectangle 204"/>
          <p:cNvSpPr/>
          <p:nvPr/>
        </p:nvSpPr>
        <p:spPr>
          <a:xfrm>
            <a:off x="60420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60325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7" name="Rectangle 206"/>
          <p:cNvSpPr/>
          <p:nvPr/>
        </p:nvSpPr>
        <p:spPr>
          <a:xfrm>
            <a:off x="68675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68580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9" name="Rectangle 208"/>
          <p:cNvSpPr/>
          <p:nvPr/>
        </p:nvSpPr>
        <p:spPr>
          <a:xfrm>
            <a:off x="76930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76835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11" name="Rectangle 210"/>
          <p:cNvSpPr/>
          <p:nvPr/>
        </p:nvSpPr>
        <p:spPr>
          <a:xfrm>
            <a:off x="5216525" y="38385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5207000" y="38385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213" name="Rectangle 212"/>
          <p:cNvSpPr/>
          <p:nvPr/>
        </p:nvSpPr>
        <p:spPr>
          <a:xfrm>
            <a:off x="6042025" y="38385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6867525" y="38385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6858000" y="38385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16" name="Rectangle 215"/>
          <p:cNvSpPr/>
          <p:nvPr/>
        </p:nvSpPr>
        <p:spPr>
          <a:xfrm>
            <a:off x="7693025" y="38385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86995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By region of activity</a:t>
            </a:r>
          </a:p>
        </p:txBody>
      </p:sp>
      <p:sp>
        <p:nvSpPr>
          <p:cNvPr id="218" name="TextBox 217"/>
          <p:cNvSpPr txBox="1"/>
          <p:nvPr/>
        </p:nvSpPr>
        <p:spPr>
          <a:xfrm>
            <a:off x="8699500"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N. America</a:t>
            </a:r>
          </a:p>
        </p:txBody>
      </p:sp>
      <p:sp>
        <p:nvSpPr>
          <p:cNvPr id="219" name="TextBox 218"/>
          <p:cNvSpPr txBox="1"/>
          <p:nvPr/>
        </p:nvSpPr>
        <p:spPr>
          <a:xfrm>
            <a:off x="9249833"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S. Asia &amp; Pac.</a:t>
            </a:r>
          </a:p>
        </p:txBody>
      </p:sp>
      <p:sp>
        <p:nvSpPr>
          <p:cNvPr id="220" name="TextBox 219"/>
          <p:cNvSpPr txBox="1"/>
          <p:nvPr/>
        </p:nvSpPr>
        <p:spPr>
          <a:xfrm>
            <a:off x="9800167"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E. Asia</a:t>
            </a:r>
          </a:p>
        </p:txBody>
      </p:sp>
      <p:sp>
        <p:nvSpPr>
          <p:cNvPr id="221" name="TextBox 220"/>
          <p:cNvSpPr txBox="1"/>
          <p:nvPr/>
        </p:nvSpPr>
        <p:spPr>
          <a:xfrm>
            <a:off x="10350500"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LATAM</a:t>
            </a:r>
          </a:p>
        </p:txBody>
      </p:sp>
      <p:sp>
        <p:nvSpPr>
          <p:cNvPr id="222" name="TextBox 221"/>
          <p:cNvSpPr txBox="1"/>
          <p:nvPr/>
        </p:nvSpPr>
        <p:spPr>
          <a:xfrm>
            <a:off x="10900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MEA</a:t>
            </a:r>
          </a:p>
        </p:txBody>
      </p:sp>
      <p:sp>
        <p:nvSpPr>
          <p:cNvPr id="223" name="TextBox 222"/>
          <p:cNvSpPr txBox="1"/>
          <p:nvPr/>
        </p:nvSpPr>
        <p:spPr>
          <a:xfrm>
            <a:off x="11451167"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E. Europe</a:t>
            </a:r>
          </a:p>
        </p:txBody>
      </p:sp>
      <p:sp>
        <p:nvSpPr>
          <p:cNvPr id="224" name="Rectangle 223"/>
          <p:cNvSpPr/>
          <p:nvPr/>
        </p:nvSpPr>
        <p:spPr>
          <a:xfrm>
            <a:off x="8709025" y="16097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TextBox 224"/>
          <p:cNvSpPr txBox="1"/>
          <p:nvPr/>
        </p:nvSpPr>
        <p:spPr>
          <a:xfrm>
            <a:off x="8699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26" name="Rectangle 225"/>
          <p:cNvSpPr/>
          <p:nvPr/>
        </p:nvSpPr>
        <p:spPr>
          <a:xfrm>
            <a:off x="9259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9249833"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28" name="Rectangle 227"/>
          <p:cNvSpPr/>
          <p:nvPr/>
        </p:nvSpPr>
        <p:spPr>
          <a:xfrm>
            <a:off x="9809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9800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30" name="Rectangle 229"/>
          <p:cNvSpPr/>
          <p:nvPr/>
        </p:nvSpPr>
        <p:spPr>
          <a:xfrm>
            <a:off x="10360025"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10910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11460692"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8709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9259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9249833"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36" name="Rectangle 235"/>
          <p:cNvSpPr/>
          <p:nvPr/>
        </p:nvSpPr>
        <p:spPr>
          <a:xfrm>
            <a:off x="9809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TextBox 236"/>
          <p:cNvSpPr txBox="1"/>
          <p:nvPr/>
        </p:nvSpPr>
        <p:spPr>
          <a:xfrm>
            <a:off x="9800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38" name="Rectangle 237"/>
          <p:cNvSpPr/>
          <p:nvPr/>
        </p:nvSpPr>
        <p:spPr>
          <a:xfrm>
            <a:off x="10360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TextBox 238"/>
          <p:cNvSpPr txBox="1"/>
          <p:nvPr/>
        </p:nvSpPr>
        <p:spPr>
          <a:xfrm>
            <a:off x="10350500"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40" name="Rectangle 239"/>
          <p:cNvSpPr/>
          <p:nvPr/>
        </p:nvSpPr>
        <p:spPr>
          <a:xfrm>
            <a:off x="10910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11460692"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8709025"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9259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9809692" y="21050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TextBox 244"/>
          <p:cNvSpPr txBox="1"/>
          <p:nvPr/>
        </p:nvSpPr>
        <p:spPr>
          <a:xfrm>
            <a:off x="9800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46" name="Rectangle 245"/>
          <p:cNvSpPr/>
          <p:nvPr/>
        </p:nvSpPr>
        <p:spPr>
          <a:xfrm>
            <a:off x="10360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TextBox 246"/>
          <p:cNvSpPr txBox="1"/>
          <p:nvPr/>
        </p:nvSpPr>
        <p:spPr>
          <a:xfrm>
            <a:off x="10350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48" name="Rectangle 247"/>
          <p:cNvSpPr/>
          <p:nvPr/>
        </p:nvSpPr>
        <p:spPr>
          <a:xfrm>
            <a:off x="10910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TextBox 248"/>
          <p:cNvSpPr txBox="1"/>
          <p:nvPr/>
        </p:nvSpPr>
        <p:spPr>
          <a:xfrm>
            <a:off x="10900833"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50" name="Rectangle 249"/>
          <p:cNvSpPr/>
          <p:nvPr/>
        </p:nvSpPr>
        <p:spPr>
          <a:xfrm>
            <a:off x="11460692"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8709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9259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9809692"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10360025"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TextBox 254"/>
          <p:cNvSpPr txBox="1"/>
          <p:nvPr/>
        </p:nvSpPr>
        <p:spPr>
          <a:xfrm>
            <a:off x="10350500"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56" name="Rectangle 255"/>
          <p:cNvSpPr/>
          <p:nvPr/>
        </p:nvSpPr>
        <p:spPr>
          <a:xfrm>
            <a:off x="10910358"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TextBox 256"/>
          <p:cNvSpPr txBox="1"/>
          <p:nvPr/>
        </p:nvSpPr>
        <p:spPr>
          <a:xfrm>
            <a:off x="10900833"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58" name="Rectangle 257"/>
          <p:cNvSpPr/>
          <p:nvPr/>
        </p:nvSpPr>
        <p:spPr>
          <a:xfrm>
            <a:off x="11460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11451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60" name="Rectangle 259"/>
          <p:cNvSpPr/>
          <p:nvPr/>
        </p:nvSpPr>
        <p:spPr>
          <a:xfrm>
            <a:off x="8709025"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Rectangle 260"/>
          <p:cNvSpPr/>
          <p:nvPr/>
        </p:nvSpPr>
        <p:spPr>
          <a:xfrm>
            <a:off x="9259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ectangle 261"/>
          <p:cNvSpPr/>
          <p:nvPr/>
        </p:nvSpPr>
        <p:spPr>
          <a:xfrm>
            <a:off x="9809692"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angle 262"/>
          <p:cNvSpPr/>
          <p:nvPr/>
        </p:nvSpPr>
        <p:spPr>
          <a:xfrm>
            <a:off x="10360025"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angle 263"/>
          <p:cNvSpPr/>
          <p:nvPr/>
        </p:nvSpPr>
        <p:spPr>
          <a:xfrm>
            <a:off x="10910358" y="26003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10900833"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66" name="Rectangle 265"/>
          <p:cNvSpPr/>
          <p:nvPr/>
        </p:nvSpPr>
        <p:spPr>
          <a:xfrm>
            <a:off x="11460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11451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68" name="Rectangle 267"/>
          <p:cNvSpPr/>
          <p:nvPr/>
        </p:nvSpPr>
        <p:spPr>
          <a:xfrm>
            <a:off x="8709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8699500"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70" name="Rectangle 269"/>
          <p:cNvSpPr/>
          <p:nvPr/>
        </p:nvSpPr>
        <p:spPr>
          <a:xfrm>
            <a:off x="9259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Rectangle 270"/>
          <p:cNvSpPr/>
          <p:nvPr/>
        </p:nvSpPr>
        <p:spPr>
          <a:xfrm>
            <a:off x="9809692"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Rectangle 271"/>
          <p:cNvSpPr/>
          <p:nvPr/>
        </p:nvSpPr>
        <p:spPr>
          <a:xfrm>
            <a:off x="10360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Rectangle 272"/>
          <p:cNvSpPr/>
          <p:nvPr/>
        </p:nvSpPr>
        <p:spPr>
          <a:xfrm>
            <a:off x="10910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Rectangle 273"/>
          <p:cNvSpPr/>
          <p:nvPr/>
        </p:nvSpPr>
        <p:spPr>
          <a:xfrm>
            <a:off x="11460692"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TextBox 274"/>
          <p:cNvSpPr txBox="1"/>
          <p:nvPr/>
        </p:nvSpPr>
        <p:spPr>
          <a:xfrm>
            <a:off x="11451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76" name="Rectangle 275"/>
          <p:cNvSpPr/>
          <p:nvPr/>
        </p:nvSpPr>
        <p:spPr>
          <a:xfrm>
            <a:off x="8709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TextBox 276"/>
          <p:cNvSpPr txBox="1"/>
          <p:nvPr/>
        </p:nvSpPr>
        <p:spPr>
          <a:xfrm>
            <a:off x="8699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78" name="Rectangle 277"/>
          <p:cNvSpPr/>
          <p:nvPr/>
        </p:nvSpPr>
        <p:spPr>
          <a:xfrm>
            <a:off x="9259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TextBox 278"/>
          <p:cNvSpPr txBox="1"/>
          <p:nvPr/>
        </p:nvSpPr>
        <p:spPr>
          <a:xfrm>
            <a:off x="9249833"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80" name="Rectangle 279"/>
          <p:cNvSpPr/>
          <p:nvPr/>
        </p:nvSpPr>
        <p:spPr>
          <a:xfrm>
            <a:off x="9809692"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Rectangle 280"/>
          <p:cNvSpPr/>
          <p:nvPr/>
        </p:nvSpPr>
        <p:spPr>
          <a:xfrm>
            <a:off x="10360025"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Rectangle 281"/>
          <p:cNvSpPr/>
          <p:nvPr/>
        </p:nvSpPr>
        <p:spPr>
          <a:xfrm>
            <a:off x="10910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Rectangle 282"/>
          <p:cNvSpPr/>
          <p:nvPr/>
        </p:nvSpPr>
        <p:spPr>
          <a:xfrm>
            <a:off x="11460692"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Rectangle 283"/>
          <p:cNvSpPr/>
          <p:nvPr/>
        </p:nvSpPr>
        <p:spPr>
          <a:xfrm>
            <a:off x="8709025"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TextBox 284"/>
          <p:cNvSpPr txBox="1"/>
          <p:nvPr/>
        </p:nvSpPr>
        <p:spPr>
          <a:xfrm>
            <a:off x="8699500"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86" name="Rectangle 285"/>
          <p:cNvSpPr/>
          <p:nvPr/>
        </p:nvSpPr>
        <p:spPr>
          <a:xfrm>
            <a:off x="9259358"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TextBox 286"/>
          <p:cNvSpPr txBox="1"/>
          <p:nvPr/>
        </p:nvSpPr>
        <p:spPr>
          <a:xfrm>
            <a:off x="9249833"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88" name="Rectangle 287"/>
          <p:cNvSpPr/>
          <p:nvPr/>
        </p:nvSpPr>
        <p:spPr>
          <a:xfrm>
            <a:off x="9809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TextBox 288"/>
          <p:cNvSpPr txBox="1"/>
          <p:nvPr/>
        </p:nvSpPr>
        <p:spPr>
          <a:xfrm>
            <a:off x="9800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90" name="Rectangle 289"/>
          <p:cNvSpPr/>
          <p:nvPr/>
        </p:nvSpPr>
        <p:spPr>
          <a:xfrm>
            <a:off x="10360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Rectangle 290"/>
          <p:cNvSpPr/>
          <p:nvPr/>
        </p:nvSpPr>
        <p:spPr>
          <a:xfrm>
            <a:off x="10910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Rectangle 291"/>
          <p:cNvSpPr/>
          <p:nvPr/>
        </p:nvSpPr>
        <p:spPr>
          <a:xfrm>
            <a:off x="11460692"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Rectangle 292"/>
          <p:cNvSpPr/>
          <p:nvPr/>
        </p:nvSpPr>
        <p:spPr>
          <a:xfrm>
            <a:off x="8709025"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Rectangle 293"/>
          <p:cNvSpPr/>
          <p:nvPr/>
        </p:nvSpPr>
        <p:spPr>
          <a:xfrm>
            <a:off x="9259358" y="35909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TextBox 294"/>
          <p:cNvSpPr txBox="1"/>
          <p:nvPr/>
        </p:nvSpPr>
        <p:spPr>
          <a:xfrm>
            <a:off x="9249833"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96" name="Rectangle 295"/>
          <p:cNvSpPr/>
          <p:nvPr/>
        </p:nvSpPr>
        <p:spPr>
          <a:xfrm>
            <a:off x="9809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TextBox 296"/>
          <p:cNvSpPr txBox="1"/>
          <p:nvPr/>
        </p:nvSpPr>
        <p:spPr>
          <a:xfrm>
            <a:off x="9800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98" name="Rectangle 297"/>
          <p:cNvSpPr/>
          <p:nvPr/>
        </p:nvSpPr>
        <p:spPr>
          <a:xfrm>
            <a:off x="10360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TextBox 298"/>
          <p:cNvSpPr txBox="1"/>
          <p:nvPr/>
        </p:nvSpPr>
        <p:spPr>
          <a:xfrm>
            <a:off x="10350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00" name="Rectangle 299"/>
          <p:cNvSpPr/>
          <p:nvPr/>
        </p:nvSpPr>
        <p:spPr>
          <a:xfrm>
            <a:off x="10910358"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Rectangle 300"/>
          <p:cNvSpPr/>
          <p:nvPr/>
        </p:nvSpPr>
        <p:spPr>
          <a:xfrm>
            <a:off x="11460692"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Rectangle 301"/>
          <p:cNvSpPr/>
          <p:nvPr/>
        </p:nvSpPr>
        <p:spPr>
          <a:xfrm>
            <a:off x="8709025"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ectangle 302"/>
          <p:cNvSpPr/>
          <p:nvPr/>
        </p:nvSpPr>
        <p:spPr>
          <a:xfrm>
            <a:off x="9259358"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Rectangle 303"/>
          <p:cNvSpPr/>
          <p:nvPr/>
        </p:nvSpPr>
        <p:spPr>
          <a:xfrm>
            <a:off x="9809692" y="38385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TextBox 304"/>
          <p:cNvSpPr txBox="1"/>
          <p:nvPr/>
        </p:nvSpPr>
        <p:spPr>
          <a:xfrm>
            <a:off x="9800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306" name="Rectangle 305"/>
          <p:cNvSpPr/>
          <p:nvPr/>
        </p:nvSpPr>
        <p:spPr>
          <a:xfrm>
            <a:off x="10360025"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TextBox 306"/>
          <p:cNvSpPr txBox="1"/>
          <p:nvPr/>
        </p:nvSpPr>
        <p:spPr>
          <a:xfrm>
            <a:off x="10350500"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08" name="Rectangle 307"/>
          <p:cNvSpPr/>
          <p:nvPr/>
        </p:nvSpPr>
        <p:spPr>
          <a:xfrm>
            <a:off x="10910358"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TextBox 308"/>
          <p:cNvSpPr txBox="1"/>
          <p:nvPr/>
        </p:nvSpPr>
        <p:spPr>
          <a:xfrm>
            <a:off x="10900833"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10" name="Rectangle 309"/>
          <p:cNvSpPr/>
          <p:nvPr/>
        </p:nvSpPr>
        <p:spPr>
          <a:xfrm>
            <a:off x="11460692"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Rectangle 310"/>
          <p:cNvSpPr/>
          <p:nvPr/>
        </p:nvSpPr>
        <p:spPr>
          <a:xfrm>
            <a:off x="190500" y="4171950"/>
            <a:ext cx="209550" cy="123825"/>
          </a:xfrm>
          <a:prstGeom prst="rect">
            <a:avLst/>
          </a:prstGeom>
          <a:solidFill>
            <a:srgbClr val="CFE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TextBox 311"/>
          <p:cNvSpPr txBox="1"/>
          <p:nvPr/>
        </p:nvSpPr>
        <p:spPr>
          <a:xfrm>
            <a:off x="43815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1 move</a:t>
            </a:r>
          </a:p>
        </p:txBody>
      </p:sp>
      <p:sp>
        <p:nvSpPr>
          <p:cNvPr id="313" name="Rectangle 312"/>
          <p:cNvSpPr/>
          <p:nvPr/>
        </p:nvSpPr>
        <p:spPr>
          <a:xfrm>
            <a:off x="1238250" y="4171950"/>
            <a:ext cx="209550" cy="123825"/>
          </a:xfrm>
          <a:prstGeom prst="rect">
            <a:avLst/>
          </a:prstGeom>
          <a:solidFill>
            <a:srgbClr val="8FB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TextBox 313"/>
          <p:cNvSpPr txBox="1"/>
          <p:nvPr/>
        </p:nvSpPr>
        <p:spPr>
          <a:xfrm>
            <a:off x="148590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2 moves</a:t>
            </a:r>
          </a:p>
        </p:txBody>
      </p:sp>
      <p:sp>
        <p:nvSpPr>
          <p:cNvPr id="315" name="Rectangle 314"/>
          <p:cNvSpPr/>
          <p:nvPr/>
        </p:nvSpPr>
        <p:spPr>
          <a:xfrm>
            <a:off x="2286000" y="4171950"/>
            <a:ext cx="209550" cy="123825"/>
          </a:xfrm>
          <a:prstGeom prst="rect">
            <a:avLst/>
          </a:prstGeom>
          <a:solidFill>
            <a:srgbClr val="3D7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TextBox 315"/>
          <p:cNvSpPr txBox="1"/>
          <p:nvPr/>
        </p:nvSpPr>
        <p:spPr>
          <a:xfrm>
            <a:off x="253365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3+ moves</a:t>
            </a:r>
          </a:p>
        </p:txBody>
      </p:sp>
      <p:sp>
        <p:nvSpPr>
          <p:cNvPr id="317" name="TextBox 316"/>
          <p:cNvSpPr txBox="1"/>
          <p:nvPr/>
        </p:nvSpPr>
        <p:spPr>
          <a:xfrm>
            <a:off x="3524250" y="4133850"/>
            <a:ext cx="8477250" cy="190500"/>
          </a:xfrm>
          <a:prstGeom prst="rect">
            <a:avLst/>
          </a:prstGeom>
          <a:noFill/>
        </p:spPr>
        <p:txBody>
          <a:bodyPr wrap="square" lIns="28575" rIns="28575" tIns="9525" bIns="9525" anchor="ctr">
            <a:spAutoFit/>
          </a:bodyPr>
          <a:lstStyle/>
          <a:p>
            <a:pPr algn="l"/>
            <a:r>
              <a:rPr sz="1100" b="0">
                <a:solidFill>
                  <a:srgbClr val="5F6B7A"/>
                </a:solidFill>
                <a:latin typeface="Calibri"/>
              </a:rPr>
              <a:t>Type codes: MA M&amp;A, PR Product / portfolio, EX Expansion, RD R&amp;D / technology, RG Regulation / compliance, CP Capital / funding</a:t>
            </a:r>
          </a:p>
        </p:txBody>
      </p:sp>
      <p:cxnSp>
        <p:nvCxnSpPr>
          <p:cNvPr id="318" name="Connector 317"/>
          <p:cNvCxnSpPr/>
          <p:nvPr/>
        </p:nvCxnSpPr>
        <p:spPr>
          <a:xfrm>
            <a:off x="190500" y="44005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19" name="TextBox 318"/>
          <p:cNvSpPr txBox="1"/>
          <p:nvPr/>
        </p:nvSpPr>
        <p:spPr>
          <a:xfrm>
            <a:off x="190500" y="4457700"/>
            <a:ext cx="5715000" cy="171450"/>
          </a:xfrm>
          <a:prstGeom prst="rect">
            <a:avLst/>
          </a:prstGeom>
          <a:noFill/>
        </p:spPr>
        <p:txBody>
          <a:bodyPr wrap="square" lIns="28575" rIns="28575" tIns="9525" bIns="9525" anchor="t">
            <a:spAutoFit/>
          </a:bodyPr>
          <a:lstStyle/>
          <a:p>
            <a:pPr algn="l"/>
            <a:r>
              <a:rPr sz="1100" b="1">
                <a:solidFill>
                  <a:srgbClr val="0F2D52"/>
                </a:solidFill>
                <a:latin typeface="Calibri"/>
              </a:rPr>
              <a:t>WHAT IT MEANS FOR EACH OF YOUR DEPARTMENTS</a:t>
            </a:r>
          </a:p>
        </p:txBody>
      </p:sp>
      <p:sp>
        <p:nvSpPr>
          <p:cNvPr id="320" name="Rectangle 319"/>
          <p:cNvSpPr/>
          <p:nvPr/>
        </p:nvSpPr>
        <p:spPr>
          <a:xfrm>
            <a:off x="1905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TextBox 320"/>
          <p:cNvSpPr txBox="1"/>
          <p:nvPr/>
        </p:nvSpPr>
        <p:spPr>
          <a:xfrm>
            <a:off x="2667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Sales</a:t>
            </a:r>
          </a:p>
        </p:txBody>
      </p:sp>
      <p:sp>
        <p:nvSpPr>
          <p:cNvPr id="322" name="TextBox 321"/>
          <p:cNvSpPr txBox="1"/>
          <p:nvPr/>
        </p:nvSpPr>
        <p:spPr>
          <a:xfrm>
            <a:off x="1905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10 expansion moves target new regions and volume tiers: defend key accounts where rivals expand.</a:t>
            </a:r>
          </a:p>
        </p:txBody>
      </p:sp>
      <p:sp>
        <p:nvSpPr>
          <p:cNvPr id="323" name="Rectangle 322"/>
          <p:cNvSpPr/>
          <p:nvPr/>
        </p:nvSpPr>
        <p:spPr>
          <a:xfrm>
            <a:off x="21780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TextBox 323"/>
          <p:cNvSpPr txBox="1"/>
          <p:nvPr/>
        </p:nvSpPr>
        <p:spPr>
          <a:xfrm>
            <a:off x="22542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Marketing</a:t>
            </a:r>
          </a:p>
        </p:txBody>
      </p:sp>
      <p:sp>
        <p:nvSpPr>
          <p:cNvPr id="325" name="TextBox 324"/>
          <p:cNvSpPr txBox="1"/>
          <p:nvPr/>
        </p:nvSpPr>
        <p:spPr>
          <a:xfrm>
            <a:off x="21780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Certification and compliance are being used as trust signals; make your own credentials visible.</a:t>
            </a:r>
          </a:p>
        </p:txBody>
      </p:sp>
      <p:sp>
        <p:nvSpPr>
          <p:cNvPr id="326" name="Rectangle 325"/>
          <p:cNvSpPr/>
          <p:nvPr/>
        </p:nvSpPr>
        <p:spPr>
          <a:xfrm>
            <a:off x="41656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TextBox 326"/>
          <p:cNvSpPr txBox="1"/>
          <p:nvPr/>
        </p:nvSpPr>
        <p:spPr>
          <a:xfrm>
            <a:off x="42418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Product and R&amp;D</a:t>
            </a:r>
          </a:p>
        </p:txBody>
      </p:sp>
      <p:sp>
        <p:nvSpPr>
          <p:cNvPr id="328" name="TextBox 327"/>
          <p:cNvSpPr txBox="1"/>
          <p:nvPr/>
        </p:nvSpPr>
        <p:spPr>
          <a:xfrm>
            <a:off x="41656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20 product and R&amp;D moves: benchmark launches and the technology roadmap.</a:t>
            </a:r>
          </a:p>
        </p:txBody>
      </p:sp>
      <p:sp>
        <p:nvSpPr>
          <p:cNvPr id="329" name="Rectangle 328"/>
          <p:cNvSpPr/>
          <p:nvPr/>
        </p:nvSpPr>
        <p:spPr>
          <a:xfrm>
            <a:off x="61531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TextBox 329"/>
          <p:cNvSpPr txBox="1"/>
          <p:nvPr/>
        </p:nvSpPr>
        <p:spPr>
          <a:xfrm>
            <a:off x="62293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Corporate development</a:t>
            </a:r>
          </a:p>
        </p:txBody>
      </p:sp>
      <p:sp>
        <p:nvSpPr>
          <p:cNvPr id="331" name="TextBox 330"/>
          <p:cNvSpPr txBox="1"/>
          <p:nvPr/>
        </p:nvSpPr>
        <p:spPr>
          <a:xfrm>
            <a:off x="61531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5 players are acquiring; the independent target list is shrinking.</a:t>
            </a:r>
          </a:p>
        </p:txBody>
      </p:sp>
      <p:sp>
        <p:nvSpPr>
          <p:cNvPr id="332" name="Rectangle 331"/>
          <p:cNvSpPr/>
          <p:nvPr/>
        </p:nvSpPr>
        <p:spPr>
          <a:xfrm>
            <a:off x="81407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TextBox 332"/>
          <p:cNvSpPr txBox="1"/>
          <p:nvPr/>
        </p:nvSpPr>
        <p:spPr>
          <a:xfrm>
            <a:off x="82169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Operations</a:t>
            </a:r>
          </a:p>
        </p:txBody>
      </p:sp>
      <p:sp>
        <p:nvSpPr>
          <p:cNvPr id="334" name="TextBox 333"/>
          <p:cNvSpPr txBox="1"/>
          <p:nvPr/>
        </p:nvSpPr>
        <p:spPr>
          <a:xfrm>
            <a:off x="81407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Expansion moves add capacity in rivals' home regions; review supply and lead times.</a:t>
            </a:r>
          </a:p>
        </p:txBody>
      </p:sp>
      <p:sp>
        <p:nvSpPr>
          <p:cNvPr id="335" name="Rectangle 334"/>
          <p:cNvSpPr/>
          <p:nvPr/>
        </p:nvSpPr>
        <p:spPr>
          <a:xfrm>
            <a:off x="101282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TextBox 335"/>
          <p:cNvSpPr txBox="1"/>
          <p:nvPr/>
        </p:nvSpPr>
        <p:spPr>
          <a:xfrm>
            <a:off x="102044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Legal and regulatory</a:t>
            </a:r>
          </a:p>
        </p:txBody>
      </p:sp>
      <p:sp>
        <p:nvSpPr>
          <p:cNvPr id="337" name="TextBox 336"/>
          <p:cNvSpPr txBox="1"/>
          <p:nvPr/>
        </p:nvSpPr>
        <p:spPr>
          <a:xfrm>
            <a:off x="101282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5 players lean on certification; audit your own compliance position.</a:t>
            </a:r>
          </a:p>
        </p:txBody>
      </p:sp>
      <p:sp>
        <p:nvSpPr>
          <p:cNvPr id="338" name="TextBox 33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Industry Structure Landscape – Waterproof Coatings Market, Global 2026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Tier ladder, market concentration and tier profile, and the structural shift 2026→2036 shaping the tier structure</a:t>
            </a:r>
          </a:p>
        </p:txBody>
      </p:sp>
      <p:sp>
        <p:nvSpPr>
          <p:cNvPr id="10" name="Rounded Rectangle 9"/>
          <p:cNvSpPr/>
          <p:nvPr/>
        </p:nvSpPr>
        <p:spPr>
          <a:xfrm>
            <a:off x="142875" y="1047750"/>
            <a:ext cx="5810250" cy="4000500"/>
          </a:xfrm>
          <a:prstGeom prst="roundRect">
            <a:avLst>
              <a:gd name="adj" fmla="val 131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04900"/>
            <a:ext cx="5619750" cy="209550"/>
          </a:xfrm>
          <a:prstGeom prst="rect">
            <a:avLst/>
          </a:prstGeom>
          <a:noFill/>
        </p:spPr>
        <p:txBody>
          <a:bodyPr wrap="square" lIns="28575" rIns="28575" tIns="9525" bIns="9525" anchor="ctr">
            <a:spAutoFit/>
          </a:bodyPr>
          <a:lstStyle/>
          <a:p>
            <a:pPr algn="l"/>
            <a:r>
              <a:rPr sz="1200" b="1">
                <a:solidFill>
                  <a:srgbClr val="2E2E2E"/>
                </a:solidFill>
                <a:latin typeface="Calibri"/>
              </a:rPr>
              <a:t>Tier Ladder – Share of Market Value, 2026</a:t>
            </a:r>
          </a:p>
        </p:txBody>
      </p:sp>
      <p:sp>
        <p:nvSpPr>
          <p:cNvPr id="12" name="TextBox 11"/>
          <p:cNvSpPr txBox="1"/>
          <p:nvPr/>
        </p:nvSpPr>
        <p:spPr>
          <a:xfrm>
            <a:off x="238125" y="1304925"/>
            <a:ext cx="5619750" cy="247650"/>
          </a:xfrm>
          <a:prstGeom prst="rect">
            <a:avLst/>
          </a:prstGeom>
          <a:noFill/>
        </p:spPr>
        <p:txBody>
          <a:bodyPr wrap="square" lIns="28575" rIns="28575" tIns="9525" bIns="9525" anchor="ctr">
            <a:spAutoFit/>
          </a:bodyPr>
          <a:lstStyle/>
          <a:p>
            <a:pPr algn="l"/>
            <a:r>
              <a:rPr sz="1100" b="0">
                <a:solidFill>
                  <a:srgbClr val="6B7280"/>
                </a:solidFill>
                <a:latin typeface="Calibri"/>
              </a:rPr>
              <a:t/>
            </a:r>
          </a:p>
        </p:txBody>
      </p:sp>
      <p:sp>
        <p:nvSpPr>
          <p:cNvPr id="13" name="TextBox 12"/>
          <p:cNvSpPr txBox="1"/>
          <p:nvPr/>
        </p:nvSpPr>
        <p:spPr>
          <a:xfrm>
            <a:off x="257175" y="160020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1</a:t>
            </a:r>
          </a:p>
        </p:txBody>
      </p:sp>
      <p:sp>
        <p:nvSpPr>
          <p:cNvPr id="14" name="TextBox 13"/>
          <p:cNvSpPr txBox="1"/>
          <p:nvPr/>
        </p:nvSpPr>
        <p:spPr>
          <a:xfrm>
            <a:off x="257175" y="180975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Top / global players</a:t>
            </a:r>
          </a:p>
        </p:txBody>
      </p:sp>
      <p:sp>
        <p:nvSpPr>
          <p:cNvPr id="15" name="Rectangle 14"/>
          <p:cNvSpPr/>
          <p:nvPr/>
        </p:nvSpPr>
        <p:spPr>
          <a:xfrm>
            <a:off x="1266825" y="1581150"/>
            <a:ext cx="4533900" cy="476250"/>
          </a:xfrm>
          <a:prstGeom prst="rect">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62075" y="160972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17" name="TextBox 16"/>
          <p:cNvSpPr txBox="1"/>
          <p:nvPr/>
        </p:nvSpPr>
        <p:spPr>
          <a:xfrm>
            <a:off x="1362075" y="1809750"/>
            <a:ext cx="4381500"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18" name="TextBox 17"/>
          <p:cNvSpPr txBox="1"/>
          <p:nvPr/>
        </p:nvSpPr>
        <p:spPr>
          <a:xfrm>
            <a:off x="1266825" y="206692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Sika · The Sherwin-Williams · PPG Industries · Akzo Nobel</a:t>
            </a:r>
          </a:p>
        </p:txBody>
      </p:sp>
      <p:sp>
        <p:nvSpPr>
          <p:cNvPr id="19" name="TextBox 18"/>
          <p:cNvSpPr txBox="1"/>
          <p:nvPr/>
        </p:nvSpPr>
        <p:spPr>
          <a:xfrm>
            <a:off x="257175" y="245745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2</a:t>
            </a:r>
          </a:p>
        </p:txBody>
      </p:sp>
      <p:sp>
        <p:nvSpPr>
          <p:cNvPr id="20" name="TextBox 19"/>
          <p:cNvSpPr txBox="1"/>
          <p:nvPr/>
        </p:nvSpPr>
        <p:spPr>
          <a:xfrm>
            <a:off x="257175" y="266700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Mid-sized players</a:t>
            </a:r>
          </a:p>
        </p:txBody>
      </p:sp>
      <p:sp>
        <p:nvSpPr>
          <p:cNvPr id="21" name="Rectangle 20"/>
          <p:cNvSpPr/>
          <p:nvPr/>
        </p:nvSpPr>
        <p:spPr>
          <a:xfrm>
            <a:off x="1266825" y="2438400"/>
            <a:ext cx="3786554" cy="47625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62075" y="246697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23" name="TextBox 22"/>
          <p:cNvSpPr txBox="1"/>
          <p:nvPr/>
        </p:nvSpPr>
        <p:spPr>
          <a:xfrm>
            <a:off x="1362075" y="2667000"/>
            <a:ext cx="3634154"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24" name="TextBox 23"/>
          <p:cNvSpPr txBox="1"/>
          <p:nvPr/>
        </p:nvSpPr>
        <p:spPr>
          <a:xfrm>
            <a:off x="1266825" y="292417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BASF · RPM International</a:t>
            </a:r>
          </a:p>
        </p:txBody>
      </p:sp>
      <p:sp>
        <p:nvSpPr>
          <p:cNvPr id="25" name="TextBox 24"/>
          <p:cNvSpPr txBox="1"/>
          <p:nvPr/>
        </p:nvSpPr>
        <p:spPr>
          <a:xfrm>
            <a:off x="257175" y="331470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3</a:t>
            </a:r>
          </a:p>
        </p:txBody>
      </p:sp>
      <p:sp>
        <p:nvSpPr>
          <p:cNvPr id="26" name="TextBox 25"/>
          <p:cNvSpPr txBox="1"/>
          <p:nvPr/>
        </p:nvSpPr>
        <p:spPr>
          <a:xfrm>
            <a:off x="257175" y="352425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Emerging / local players</a:t>
            </a:r>
          </a:p>
        </p:txBody>
      </p:sp>
      <p:sp>
        <p:nvSpPr>
          <p:cNvPr id="27" name="Rectangle 26"/>
          <p:cNvSpPr/>
          <p:nvPr/>
        </p:nvSpPr>
        <p:spPr>
          <a:xfrm>
            <a:off x="1266825" y="3295650"/>
            <a:ext cx="3487615" cy="47625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62075" y="332422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29" name="TextBox 28"/>
          <p:cNvSpPr txBox="1"/>
          <p:nvPr/>
        </p:nvSpPr>
        <p:spPr>
          <a:xfrm>
            <a:off x="1362075" y="3524250"/>
            <a:ext cx="3335215"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30" name="TextBox 29"/>
          <p:cNvSpPr txBox="1"/>
          <p:nvPr/>
        </p:nvSpPr>
        <p:spPr>
          <a:xfrm>
            <a:off x="1266825" y="378142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Saint-Gobain · Mapei · Henkel AG &amp; Co. KGaA · Dow</a:t>
            </a:r>
          </a:p>
        </p:txBody>
      </p:sp>
      <p:sp>
        <p:nvSpPr>
          <p:cNvPr id="31" name="TextBox 30"/>
          <p:cNvSpPr txBox="1"/>
          <p:nvPr/>
        </p:nvSpPr>
        <p:spPr>
          <a:xfrm>
            <a:off x="257175" y="417195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Others</a:t>
            </a:r>
          </a:p>
        </p:txBody>
      </p:sp>
      <p:sp>
        <p:nvSpPr>
          <p:cNvPr id="32" name="TextBox 31"/>
          <p:cNvSpPr txBox="1"/>
          <p:nvPr/>
        </p:nvSpPr>
        <p:spPr>
          <a:xfrm>
            <a:off x="257175" y="438150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Long tail</a:t>
            </a:r>
          </a:p>
        </p:txBody>
      </p:sp>
      <p:sp>
        <p:nvSpPr>
          <p:cNvPr id="33" name="Rectangle 32"/>
          <p:cNvSpPr/>
          <p:nvPr/>
        </p:nvSpPr>
        <p:spPr>
          <a:xfrm>
            <a:off x="1266825" y="4152900"/>
            <a:ext cx="3637085" cy="476250"/>
          </a:xfrm>
          <a:prstGeom prst="rect">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362075" y="4181475"/>
            <a:ext cx="666750" cy="209550"/>
          </a:xfrm>
          <a:prstGeom prst="rect">
            <a:avLst/>
          </a:prstGeom>
          <a:noFill/>
        </p:spPr>
        <p:txBody>
          <a:bodyPr wrap="square" lIns="28575" rIns="28575" tIns="9525" bIns="9525" anchor="ctr">
            <a:spAutoFit/>
          </a:bodyPr>
          <a:lstStyle/>
          <a:p>
            <a:pPr algn="l"/>
            <a:r>
              <a:rPr sz="1100" b="1">
                <a:solidFill>
                  <a:srgbClr val="14213D"/>
                </a:solidFill>
                <a:latin typeface="Calibri"/>
              </a:rPr>
              <a:t> </a:t>
            </a:r>
          </a:p>
        </p:txBody>
      </p:sp>
      <p:sp>
        <p:nvSpPr>
          <p:cNvPr id="35" name="TextBox 34"/>
          <p:cNvSpPr txBox="1"/>
          <p:nvPr/>
        </p:nvSpPr>
        <p:spPr>
          <a:xfrm>
            <a:off x="1362075" y="4381500"/>
            <a:ext cx="3484685" cy="247650"/>
          </a:xfrm>
          <a:prstGeom prst="rect">
            <a:avLst/>
          </a:prstGeom>
          <a:noFill/>
        </p:spPr>
        <p:txBody>
          <a:bodyPr wrap="square" lIns="28575" rIns="28575" tIns="9525" bIns="9525" anchor="ctr">
            <a:spAutoFit/>
          </a:bodyPr>
          <a:lstStyle/>
          <a:p>
            <a:pPr algn="l"/>
            <a:r>
              <a:rPr sz="1100" b="0">
                <a:solidFill>
                  <a:srgbClr val="14213D"/>
                </a:solidFill>
                <a:latin typeface="Calibri"/>
              </a:rPr>
              <a:t/>
            </a:r>
          </a:p>
        </p:txBody>
      </p:sp>
      <p:sp>
        <p:nvSpPr>
          <p:cNvPr id="36" name="TextBox 35"/>
          <p:cNvSpPr txBox="1"/>
          <p:nvPr/>
        </p:nvSpPr>
        <p:spPr>
          <a:xfrm>
            <a:off x="1266825" y="463867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Regional &amp; niche suppliers</a:t>
            </a:r>
          </a:p>
        </p:txBody>
      </p:sp>
      <p:sp>
        <p:nvSpPr>
          <p:cNvPr id="37" name="Rounded Rectangle 36"/>
          <p:cNvSpPr/>
          <p:nvPr/>
        </p:nvSpPr>
        <p:spPr>
          <a:xfrm>
            <a:off x="142875" y="5162550"/>
            <a:ext cx="5810250" cy="1466850"/>
          </a:xfrm>
          <a:prstGeom prst="roundRect">
            <a:avLst>
              <a:gd name="adj" fmla="val 131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38125" y="5219700"/>
            <a:ext cx="5619750" cy="209550"/>
          </a:xfrm>
          <a:prstGeom prst="rect">
            <a:avLst/>
          </a:prstGeom>
          <a:noFill/>
        </p:spPr>
        <p:txBody>
          <a:bodyPr wrap="square" lIns="28575" rIns="28575" tIns="9525" bIns="9525" anchor="ctr">
            <a:spAutoFit/>
          </a:bodyPr>
          <a:lstStyle/>
          <a:p>
            <a:pPr algn="l"/>
            <a:r>
              <a:rPr sz="1200" b="1">
                <a:solidFill>
                  <a:srgbClr val="2E2E2E"/>
                </a:solidFill>
                <a:latin typeface="Calibri"/>
              </a:rPr>
              <a:t>Concentration Read-out</a:t>
            </a:r>
          </a:p>
        </p:txBody>
      </p:sp>
      <p:sp>
        <p:nvSpPr>
          <p:cNvPr id="39" name="Rectangle 38"/>
          <p:cNvSpPr/>
          <p:nvPr/>
        </p:nvSpPr>
        <p:spPr>
          <a:xfrm>
            <a:off x="276225" y="5505450"/>
            <a:ext cx="1847850" cy="247650"/>
          </a:xfrm>
          <a:prstGeom prst="rect">
            <a:avLst/>
          </a:prstGeom>
          <a:solidFill>
            <a:srgbClr val="C9DAF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6225" y="5505450"/>
            <a:ext cx="1847850" cy="247650"/>
          </a:xfrm>
          <a:prstGeom prst="rect">
            <a:avLst/>
          </a:prstGeom>
          <a:noFill/>
        </p:spPr>
        <p:txBody>
          <a:bodyPr wrap="square" lIns="28575" rIns="28575" tIns="9525" bIns="9525" anchor="ctr">
            <a:spAutoFit/>
          </a:bodyPr>
          <a:lstStyle/>
          <a:p>
            <a:pPr algn="ctr"/>
            <a:r>
              <a:rPr sz="1100" b="1">
                <a:solidFill>
                  <a:srgbClr val="14213D"/>
                </a:solidFill>
                <a:latin typeface="Calibri"/>
              </a:rPr>
              <a:t>Fragmented HHI &lt; 1,500</a:t>
            </a:r>
          </a:p>
        </p:txBody>
      </p:sp>
      <p:sp>
        <p:nvSpPr>
          <p:cNvPr id="41" name="Rectangle 40"/>
          <p:cNvSpPr/>
          <p:nvPr/>
        </p:nvSpPr>
        <p:spPr>
          <a:xfrm>
            <a:off x="2124075" y="5505450"/>
            <a:ext cx="1847850"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124075" y="5505450"/>
            <a:ext cx="1847850" cy="247650"/>
          </a:xfrm>
          <a:prstGeom prst="rect">
            <a:avLst/>
          </a:prstGeom>
          <a:noFill/>
        </p:spPr>
        <p:txBody>
          <a:bodyPr wrap="square" lIns="28575" rIns="28575" tIns="9525" bIns="9525" anchor="ctr">
            <a:spAutoFit/>
          </a:bodyPr>
          <a:lstStyle/>
          <a:p>
            <a:pPr algn="ctr"/>
            <a:r>
              <a:rPr sz="1100" b="1">
                <a:solidFill>
                  <a:srgbClr val="FFFFFF"/>
                </a:solidFill>
                <a:latin typeface="Calibri"/>
              </a:rPr>
              <a:t>Moderate 1,500–2,500</a:t>
            </a:r>
          </a:p>
        </p:txBody>
      </p:sp>
      <p:sp>
        <p:nvSpPr>
          <p:cNvPr id="43" name="Rectangle 42"/>
          <p:cNvSpPr/>
          <p:nvPr/>
        </p:nvSpPr>
        <p:spPr>
          <a:xfrm>
            <a:off x="3971925" y="5505450"/>
            <a:ext cx="18478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71925" y="5505450"/>
            <a:ext cx="1847850" cy="247650"/>
          </a:xfrm>
          <a:prstGeom prst="rect">
            <a:avLst/>
          </a:prstGeom>
          <a:noFill/>
        </p:spPr>
        <p:txBody>
          <a:bodyPr wrap="square" lIns="28575" rIns="28575" tIns="9525" bIns="9525" anchor="ctr">
            <a:spAutoFit/>
          </a:bodyPr>
          <a:lstStyle/>
          <a:p>
            <a:pPr algn="ctr"/>
            <a:r>
              <a:rPr sz="1100" b="1">
                <a:solidFill>
                  <a:srgbClr val="FFFFFF"/>
                </a:solidFill>
                <a:latin typeface="Calibri"/>
              </a:rPr>
              <a:t>Concentrated &gt; 2,500</a:t>
            </a:r>
          </a:p>
        </p:txBody>
      </p:sp>
      <p:sp>
        <p:nvSpPr>
          <p:cNvPr id="45" name="TextBox 44"/>
          <p:cNvSpPr txBox="1"/>
          <p:nvPr/>
        </p:nvSpPr>
        <p:spPr>
          <a:xfrm>
            <a:off x="669665" y="5762625"/>
            <a:ext cx="1714500" cy="247650"/>
          </a:xfrm>
          <a:prstGeom prst="rect">
            <a:avLst/>
          </a:prstGeom>
          <a:noFill/>
        </p:spPr>
        <p:txBody>
          <a:bodyPr wrap="square" lIns="28575" rIns="28575" tIns="9525" bIns="9525" anchor="ctr">
            <a:spAutoFit/>
          </a:bodyPr>
          <a:lstStyle/>
          <a:p>
            <a:pPr algn="ctr"/>
            <a:r>
              <a:rPr sz="1100" b="1">
                <a:solidFill>
                  <a:srgbClr val="14213D"/>
                </a:solidFill>
                <a:latin typeface="Calibri"/>
              </a:rPr>
              <a:t/>
            </a:r>
          </a:p>
        </p:txBody>
      </p:sp>
      <p:sp>
        <p:nvSpPr>
          <p:cNvPr id="46" name="TextBox 45"/>
          <p:cNvSpPr txBox="1"/>
          <p:nvPr/>
        </p:nvSpPr>
        <p:spPr>
          <a:xfrm>
            <a:off x="238125" y="5981700"/>
            <a:ext cx="5619750" cy="419100"/>
          </a:xfrm>
          <a:prstGeom prst="rect">
            <a:avLst/>
          </a:prstGeom>
          <a:noFill/>
        </p:spPr>
        <p:txBody>
          <a:bodyPr wrap="square" lIns="28575" rIns="28575" tIns="9525" bIns="9525" anchor="ctr">
            <a:spAutoFit/>
          </a:bodyPr>
          <a:lstStyle/>
          <a:p>
            <a:pPr algn="ctr"/>
            <a:r>
              <a:rPr sz="1100" b="1">
                <a:solidFill>
                  <a:srgbClr val="14213D"/>
                </a:solidFill>
                <a:latin typeface="Calibri"/>
              </a:rPr>
              <a:t/>
            </a:r>
          </a:p>
        </p:txBody>
      </p:sp>
      <p:sp>
        <p:nvSpPr>
          <p:cNvPr id="47" name="Rounded Rectangle 46"/>
          <p:cNvSpPr/>
          <p:nvPr/>
        </p:nvSpPr>
        <p:spPr>
          <a:xfrm>
            <a:off x="6096000" y="1047750"/>
            <a:ext cx="5953125" cy="4000500"/>
          </a:xfrm>
          <a:prstGeom prst="roundRect">
            <a:avLst>
              <a:gd name="adj" fmla="val 12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191250" y="1104900"/>
            <a:ext cx="5762625" cy="209550"/>
          </a:xfrm>
          <a:prstGeom prst="rect">
            <a:avLst/>
          </a:prstGeom>
          <a:noFill/>
        </p:spPr>
        <p:txBody>
          <a:bodyPr wrap="square" lIns="28575" rIns="28575" tIns="9525" bIns="9525" anchor="ctr">
            <a:spAutoFit/>
          </a:bodyPr>
          <a:lstStyle/>
          <a:p>
            <a:pPr algn="l"/>
            <a:r>
              <a:rPr sz="1200" b="1">
                <a:solidFill>
                  <a:srgbClr val="2E2E2E"/>
                </a:solidFill>
                <a:latin typeface="Calibri"/>
              </a:rPr>
              <a:t>Tier Profile Matrix</a:t>
            </a:r>
          </a:p>
        </p:txBody>
      </p:sp>
      <p:sp>
        <p:nvSpPr>
          <p:cNvPr id="49" name="TextBox 48"/>
          <p:cNvSpPr txBox="1"/>
          <p:nvPr/>
        </p:nvSpPr>
        <p:spPr>
          <a:xfrm>
            <a:off x="6191250" y="1304925"/>
            <a:ext cx="5762625" cy="247650"/>
          </a:xfrm>
          <a:prstGeom prst="rect">
            <a:avLst/>
          </a:prstGeom>
          <a:noFill/>
        </p:spPr>
        <p:txBody>
          <a:bodyPr wrap="square" lIns="28575" rIns="28575" tIns="9525" bIns="9525" anchor="ctr">
            <a:spAutoFit/>
          </a:bodyPr>
          <a:lstStyle/>
          <a:p>
            <a:pPr algn="l"/>
            <a:r>
              <a:rPr sz="1100" b="0">
                <a:solidFill>
                  <a:srgbClr val="6B7280"/>
                </a:solidFill>
                <a:latin typeface="Calibri"/>
              </a:rPr>
              <a:t>Size, growth and competitive characteristics of each tier</a:t>
            </a:r>
          </a:p>
        </p:txBody>
      </p:sp>
      <p:sp>
        <p:nvSpPr>
          <p:cNvPr id="50" name="Rectangle 49"/>
          <p:cNvSpPr/>
          <p:nvPr/>
        </p:nvSpPr>
        <p:spPr>
          <a:xfrm>
            <a:off x="6191250" y="1562100"/>
            <a:ext cx="16192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48400" y="1562100"/>
            <a:ext cx="1543050" cy="247650"/>
          </a:xfrm>
          <a:prstGeom prst="rect">
            <a:avLst/>
          </a:prstGeom>
          <a:noFill/>
        </p:spPr>
        <p:txBody>
          <a:bodyPr wrap="square" lIns="28575" rIns="28575" tIns="9525" bIns="9525" anchor="ctr">
            <a:spAutoFit/>
          </a:bodyPr>
          <a:lstStyle/>
          <a:p>
            <a:pPr algn="l"/>
            <a:r>
              <a:rPr sz="1100" b="1">
                <a:solidFill>
                  <a:srgbClr val="FFFFFF"/>
                </a:solidFill>
                <a:latin typeface="Calibri"/>
              </a:rPr>
              <a:t>Metric</a:t>
            </a:r>
          </a:p>
        </p:txBody>
      </p:sp>
      <p:sp>
        <p:nvSpPr>
          <p:cNvPr id="52" name="Rectangle 51"/>
          <p:cNvSpPr/>
          <p:nvPr/>
        </p:nvSpPr>
        <p:spPr>
          <a:xfrm>
            <a:off x="7810500" y="1562100"/>
            <a:ext cx="82867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81050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1</a:t>
            </a:r>
          </a:p>
        </p:txBody>
      </p:sp>
      <p:sp>
        <p:nvSpPr>
          <p:cNvPr id="54" name="Rectangle 53"/>
          <p:cNvSpPr/>
          <p:nvPr/>
        </p:nvSpPr>
        <p:spPr>
          <a:xfrm>
            <a:off x="8639175" y="1562100"/>
            <a:ext cx="828675" cy="247650"/>
          </a:xfrm>
          <a:prstGeom prst="rect">
            <a:avLst/>
          </a:prstGeom>
          <a:solidFill>
            <a:srgbClr val="2E6DB4"/>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39175"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2</a:t>
            </a:r>
          </a:p>
        </p:txBody>
      </p:sp>
      <p:sp>
        <p:nvSpPr>
          <p:cNvPr id="56" name="Rectangle 55"/>
          <p:cNvSpPr/>
          <p:nvPr/>
        </p:nvSpPr>
        <p:spPr>
          <a:xfrm>
            <a:off x="9467850" y="1562100"/>
            <a:ext cx="828675"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46785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3</a:t>
            </a:r>
          </a:p>
        </p:txBody>
      </p:sp>
      <p:sp>
        <p:nvSpPr>
          <p:cNvPr id="58" name="Rectangle 57"/>
          <p:cNvSpPr/>
          <p:nvPr/>
        </p:nvSpPr>
        <p:spPr>
          <a:xfrm>
            <a:off x="10296525" y="1562100"/>
            <a:ext cx="828675" cy="247650"/>
          </a:xfrm>
          <a:prstGeom prst="rect">
            <a:avLst/>
          </a:prstGeom>
          <a:solidFill>
            <a:srgbClr val="9FC5E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296525" y="1562100"/>
            <a:ext cx="828675" cy="247650"/>
          </a:xfrm>
          <a:prstGeom prst="rect">
            <a:avLst/>
          </a:prstGeom>
          <a:noFill/>
        </p:spPr>
        <p:txBody>
          <a:bodyPr wrap="square" lIns="28575" rIns="28575" tIns="9525" bIns="9525" anchor="ctr">
            <a:spAutoFit/>
          </a:bodyPr>
          <a:lstStyle/>
          <a:p>
            <a:pPr algn="ctr"/>
            <a:r>
              <a:rPr sz="1100" b="1">
                <a:solidFill>
                  <a:srgbClr val="14213D"/>
                </a:solidFill>
                <a:latin typeface="Calibri"/>
              </a:rPr>
              <a:t>Others</a:t>
            </a:r>
          </a:p>
        </p:txBody>
      </p:sp>
      <p:sp>
        <p:nvSpPr>
          <p:cNvPr id="60" name="Rectangle 59"/>
          <p:cNvSpPr/>
          <p:nvPr/>
        </p:nvSpPr>
        <p:spPr>
          <a:xfrm>
            <a:off x="11125200" y="1562100"/>
            <a:ext cx="828675" cy="247650"/>
          </a:xfrm>
          <a:prstGeom prst="rect">
            <a:avLst/>
          </a:prstGeom>
          <a:solidFill>
            <a:srgbClr val="102447"/>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112520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Total</a:t>
            </a:r>
          </a:p>
        </p:txBody>
      </p:sp>
      <p:sp>
        <p:nvSpPr>
          <p:cNvPr id="62" name="Rectangle 61"/>
          <p:cNvSpPr/>
          <p:nvPr/>
        </p:nvSpPr>
        <p:spPr>
          <a:xfrm>
            <a:off x="6191250" y="1809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248400" y="18097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Players</a:t>
            </a:r>
          </a:p>
        </p:txBody>
      </p:sp>
      <p:sp>
        <p:nvSpPr>
          <p:cNvPr id="64" name="Rectangle 63"/>
          <p:cNvSpPr/>
          <p:nvPr/>
        </p:nvSpPr>
        <p:spPr>
          <a:xfrm>
            <a:off x="78105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829550"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4</a:t>
            </a:r>
          </a:p>
        </p:txBody>
      </p:sp>
      <p:sp>
        <p:nvSpPr>
          <p:cNvPr id="66" name="Rectangle 65"/>
          <p:cNvSpPr/>
          <p:nvPr/>
        </p:nvSpPr>
        <p:spPr>
          <a:xfrm>
            <a:off x="863917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658225"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2</a:t>
            </a:r>
          </a:p>
        </p:txBody>
      </p:sp>
      <p:sp>
        <p:nvSpPr>
          <p:cNvPr id="68" name="Rectangle 67"/>
          <p:cNvSpPr/>
          <p:nvPr/>
        </p:nvSpPr>
        <p:spPr>
          <a:xfrm>
            <a:off x="946785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486900"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4</a:t>
            </a:r>
          </a:p>
        </p:txBody>
      </p:sp>
      <p:sp>
        <p:nvSpPr>
          <p:cNvPr id="70" name="Rectangle 69"/>
          <p:cNvSpPr/>
          <p:nvPr/>
        </p:nvSpPr>
        <p:spPr>
          <a:xfrm>
            <a:off x="1029652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315575"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Long tail</a:t>
            </a:r>
          </a:p>
        </p:txBody>
      </p:sp>
      <p:sp>
        <p:nvSpPr>
          <p:cNvPr id="72" name="Rectangle 71"/>
          <p:cNvSpPr/>
          <p:nvPr/>
        </p:nvSpPr>
        <p:spPr>
          <a:xfrm>
            <a:off x="111252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1144250" y="18097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 </a:t>
            </a:r>
          </a:p>
        </p:txBody>
      </p:sp>
      <p:sp>
        <p:nvSpPr>
          <p:cNvPr id="74" name="Rectangle 73"/>
          <p:cNvSpPr/>
          <p:nvPr/>
        </p:nvSpPr>
        <p:spPr>
          <a:xfrm>
            <a:off x="6191250" y="2038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248400" y="20383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Value 2026 (US$ Mn)</a:t>
            </a:r>
          </a:p>
        </p:txBody>
      </p:sp>
      <p:sp>
        <p:nvSpPr>
          <p:cNvPr id="76" name="Rectangle 75"/>
          <p:cNvSpPr/>
          <p:nvPr/>
        </p:nvSpPr>
        <p:spPr>
          <a:xfrm>
            <a:off x="78105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829550"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78" name="Rectangle 77"/>
          <p:cNvSpPr/>
          <p:nvPr/>
        </p:nvSpPr>
        <p:spPr>
          <a:xfrm>
            <a:off x="863917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658225"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0" name="Rectangle 79"/>
          <p:cNvSpPr/>
          <p:nvPr/>
        </p:nvSpPr>
        <p:spPr>
          <a:xfrm>
            <a:off x="946785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486900"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2" name="Rectangle 81"/>
          <p:cNvSpPr/>
          <p:nvPr/>
        </p:nvSpPr>
        <p:spPr>
          <a:xfrm>
            <a:off x="1029652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0315575"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4" name="Rectangle 83"/>
          <p:cNvSpPr/>
          <p:nvPr/>
        </p:nvSpPr>
        <p:spPr>
          <a:xfrm>
            <a:off x="111252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1144250" y="20383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 </a:t>
            </a:r>
          </a:p>
        </p:txBody>
      </p:sp>
      <p:sp>
        <p:nvSpPr>
          <p:cNvPr id="86" name="Rectangle 85"/>
          <p:cNvSpPr/>
          <p:nvPr/>
        </p:nvSpPr>
        <p:spPr>
          <a:xfrm>
            <a:off x="6191250" y="22669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248400" y="22669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of value 2026</a:t>
            </a:r>
          </a:p>
        </p:txBody>
      </p:sp>
      <p:sp>
        <p:nvSpPr>
          <p:cNvPr id="88" name="Rectangle 87"/>
          <p:cNvSpPr/>
          <p:nvPr/>
        </p:nvSpPr>
        <p:spPr>
          <a:xfrm>
            <a:off x="78105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076248"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0" name="TextBox 89"/>
          <p:cNvSpPr txBox="1"/>
          <p:nvPr/>
        </p:nvSpPr>
        <p:spPr>
          <a:xfrm>
            <a:off x="8363902"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1" name="Rectangle 90"/>
          <p:cNvSpPr/>
          <p:nvPr/>
        </p:nvSpPr>
        <p:spPr>
          <a:xfrm>
            <a:off x="863917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904922"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3" name="TextBox 92"/>
          <p:cNvSpPr txBox="1"/>
          <p:nvPr/>
        </p:nvSpPr>
        <p:spPr>
          <a:xfrm>
            <a:off x="9192578"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4" name="Rectangle 93"/>
          <p:cNvSpPr/>
          <p:nvPr/>
        </p:nvSpPr>
        <p:spPr>
          <a:xfrm>
            <a:off x="946785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733598"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6" name="TextBox 95"/>
          <p:cNvSpPr txBox="1"/>
          <p:nvPr/>
        </p:nvSpPr>
        <p:spPr>
          <a:xfrm>
            <a:off x="10021252"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7" name="Rectangle 96"/>
          <p:cNvSpPr/>
          <p:nvPr/>
        </p:nvSpPr>
        <p:spPr>
          <a:xfrm>
            <a:off x="1029652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0562272"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9" name="TextBox 98"/>
          <p:cNvSpPr txBox="1"/>
          <p:nvPr/>
        </p:nvSpPr>
        <p:spPr>
          <a:xfrm>
            <a:off x="10849928"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00" name="Rectangle 99"/>
          <p:cNvSpPr/>
          <p:nvPr/>
        </p:nvSpPr>
        <p:spPr>
          <a:xfrm>
            <a:off x="111252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1144250" y="22669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02" name="Rectangle 101"/>
          <p:cNvSpPr/>
          <p:nvPr/>
        </p:nvSpPr>
        <p:spPr>
          <a:xfrm>
            <a:off x="6191250" y="24955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248400" y="24955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of value 2036</a:t>
            </a:r>
          </a:p>
        </p:txBody>
      </p:sp>
      <p:sp>
        <p:nvSpPr>
          <p:cNvPr id="104" name="Rectangle 103"/>
          <p:cNvSpPr/>
          <p:nvPr/>
        </p:nvSpPr>
        <p:spPr>
          <a:xfrm>
            <a:off x="78105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076248"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06" name="TextBox 105"/>
          <p:cNvSpPr txBox="1"/>
          <p:nvPr/>
        </p:nvSpPr>
        <p:spPr>
          <a:xfrm>
            <a:off x="8363902"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07" name="Rectangle 106"/>
          <p:cNvSpPr/>
          <p:nvPr/>
        </p:nvSpPr>
        <p:spPr>
          <a:xfrm>
            <a:off x="863917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8904922"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09" name="TextBox 108"/>
          <p:cNvSpPr txBox="1"/>
          <p:nvPr/>
        </p:nvSpPr>
        <p:spPr>
          <a:xfrm>
            <a:off x="9192578"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0" name="Rectangle 109"/>
          <p:cNvSpPr/>
          <p:nvPr/>
        </p:nvSpPr>
        <p:spPr>
          <a:xfrm>
            <a:off x="946785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9733598"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12" name="TextBox 111"/>
          <p:cNvSpPr txBox="1"/>
          <p:nvPr/>
        </p:nvSpPr>
        <p:spPr>
          <a:xfrm>
            <a:off x="10021252"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3" name="Rectangle 112"/>
          <p:cNvSpPr/>
          <p:nvPr/>
        </p:nvSpPr>
        <p:spPr>
          <a:xfrm>
            <a:off x="1029652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0562272"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15" name="TextBox 114"/>
          <p:cNvSpPr txBox="1"/>
          <p:nvPr/>
        </p:nvSpPr>
        <p:spPr>
          <a:xfrm>
            <a:off x="10849928"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6" name="Rectangle 115"/>
          <p:cNvSpPr/>
          <p:nvPr/>
        </p:nvSpPr>
        <p:spPr>
          <a:xfrm>
            <a:off x="111252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11144250" y="24955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18" name="Rectangle 117"/>
          <p:cNvSpPr/>
          <p:nvPr/>
        </p:nvSpPr>
        <p:spPr>
          <a:xfrm>
            <a:off x="6191250" y="27241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6248400" y="27241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change (pp)</a:t>
            </a:r>
          </a:p>
        </p:txBody>
      </p:sp>
      <p:sp>
        <p:nvSpPr>
          <p:cNvPr id="120" name="Rectangle 119"/>
          <p:cNvSpPr/>
          <p:nvPr/>
        </p:nvSpPr>
        <p:spPr>
          <a:xfrm>
            <a:off x="78105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7975282"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2" name="TextBox 121"/>
          <p:cNvSpPr txBox="1"/>
          <p:nvPr/>
        </p:nvSpPr>
        <p:spPr>
          <a:xfrm>
            <a:off x="8108632"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3" name="Rectangle 122"/>
          <p:cNvSpPr/>
          <p:nvPr/>
        </p:nvSpPr>
        <p:spPr>
          <a:xfrm>
            <a:off x="863917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8803958"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5" name="TextBox 124"/>
          <p:cNvSpPr txBox="1"/>
          <p:nvPr/>
        </p:nvSpPr>
        <p:spPr>
          <a:xfrm>
            <a:off x="8937308"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6" name="Rectangle 125"/>
          <p:cNvSpPr/>
          <p:nvPr/>
        </p:nvSpPr>
        <p:spPr>
          <a:xfrm>
            <a:off x="946785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9632632"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8" name="TextBox 127"/>
          <p:cNvSpPr txBox="1"/>
          <p:nvPr/>
        </p:nvSpPr>
        <p:spPr>
          <a:xfrm>
            <a:off x="9765982"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9" name="Rectangle 128"/>
          <p:cNvSpPr/>
          <p:nvPr/>
        </p:nvSpPr>
        <p:spPr>
          <a:xfrm>
            <a:off x="1029652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0461308"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31" name="TextBox 130"/>
          <p:cNvSpPr txBox="1"/>
          <p:nvPr/>
        </p:nvSpPr>
        <p:spPr>
          <a:xfrm>
            <a:off x="10594658"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32" name="Rectangle 131"/>
          <p:cNvSpPr/>
          <p:nvPr/>
        </p:nvSpPr>
        <p:spPr>
          <a:xfrm>
            <a:off x="111252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11144250" y="27241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a:t>
            </a:r>
          </a:p>
        </p:txBody>
      </p:sp>
      <p:sp>
        <p:nvSpPr>
          <p:cNvPr id="134" name="Rectangle 133"/>
          <p:cNvSpPr/>
          <p:nvPr/>
        </p:nvSpPr>
        <p:spPr>
          <a:xfrm>
            <a:off x="6191250" y="2952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6248400" y="29527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CAGR 2026–2036</a:t>
            </a:r>
          </a:p>
        </p:txBody>
      </p:sp>
      <p:sp>
        <p:nvSpPr>
          <p:cNvPr id="136" name="Rectangle 135"/>
          <p:cNvSpPr/>
          <p:nvPr/>
        </p:nvSpPr>
        <p:spPr>
          <a:xfrm>
            <a:off x="78105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8108632"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38" name="TextBox 137"/>
          <p:cNvSpPr txBox="1"/>
          <p:nvPr/>
        </p:nvSpPr>
        <p:spPr>
          <a:xfrm>
            <a:off x="8331518"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39" name="Rectangle 138"/>
          <p:cNvSpPr/>
          <p:nvPr/>
        </p:nvSpPr>
        <p:spPr>
          <a:xfrm>
            <a:off x="863917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8937308"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1" name="TextBox 140"/>
          <p:cNvSpPr txBox="1"/>
          <p:nvPr/>
        </p:nvSpPr>
        <p:spPr>
          <a:xfrm>
            <a:off x="9160192"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2" name="Rectangle 141"/>
          <p:cNvSpPr/>
          <p:nvPr/>
        </p:nvSpPr>
        <p:spPr>
          <a:xfrm>
            <a:off x="946785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9765982"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4" name="TextBox 143"/>
          <p:cNvSpPr txBox="1"/>
          <p:nvPr/>
        </p:nvSpPr>
        <p:spPr>
          <a:xfrm>
            <a:off x="9988868"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5" name="Rectangle 144"/>
          <p:cNvSpPr/>
          <p:nvPr/>
        </p:nvSpPr>
        <p:spPr>
          <a:xfrm>
            <a:off x="1029652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10594658"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7" name="TextBox 146"/>
          <p:cNvSpPr txBox="1"/>
          <p:nvPr/>
        </p:nvSpPr>
        <p:spPr>
          <a:xfrm>
            <a:off x="10817542"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8" name="Rectangle 147"/>
          <p:cNvSpPr/>
          <p:nvPr/>
        </p:nvSpPr>
        <p:spPr>
          <a:xfrm>
            <a:off x="111252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11423332" y="2952750"/>
            <a:ext cx="232410" cy="228600"/>
          </a:xfrm>
          <a:prstGeom prst="rect">
            <a:avLst/>
          </a:prstGeom>
          <a:noFill/>
        </p:spPr>
        <p:txBody>
          <a:bodyPr wrap="none" lIns="0" rIns="0" tIns="0" bIns="0" anchor="ctr">
            <a:spAutoFit/>
          </a:bodyPr>
          <a:lstStyle/>
          <a:p>
            <a:pPr algn="ctr"/>
            <a:r>
              <a:rPr sz="1100" b="1">
                <a:solidFill>
                  <a:srgbClr val="14213D"/>
                </a:solidFill>
                <a:latin typeface="Calibri"/>
              </a:rPr>
              <a:t> </a:t>
            </a:r>
          </a:p>
        </p:txBody>
      </p:sp>
      <p:sp>
        <p:nvSpPr>
          <p:cNvPr id="150" name="TextBox 149"/>
          <p:cNvSpPr txBox="1"/>
          <p:nvPr/>
        </p:nvSpPr>
        <p:spPr>
          <a:xfrm>
            <a:off x="11646218" y="2952750"/>
            <a:ext cx="133350" cy="228600"/>
          </a:xfrm>
          <a:prstGeom prst="rect">
            <a:avLst/>
          </a:prstGeom>
          <a:noFill/>
        </p:spPr>
        <p:txBody>
          <a:bodyPr wrap="none" lIns="0" rIns="0" tIns="0" bIns="0" anchor="ctr">
            <a:spAutoFit/>
          </a:bodyPr>
          <a:lstStyle/>
          <a:p>
            <a:pPr algn="l"/>
            <a:r>
              <a:rPr sz="1100" b="1">
                <a:solidFill>
                  <a:srgbClr val="14213D"/>
                </a:solidFill>
                <a:latin typeface="Calibri"/>
              </a:rPr>
              <a:t>%</a:t>
            </a:r>
          </a:p>
        </p:txBody>
      </p:sp>
      <p:sp>
        <p:nvSpPr>
          <p:cNvPr id="151" name="Rectangle 150"/>
          <p:cNvSpPr/>
          <p:nvPr/>
        </p:nvSpPr>
        <p:spPr>
          <a:xfrm>
            <a:off x="6191250" y="3181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6248400" y="31813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Avg / player (US$ Mn)</a:t>
            </a:r>
          </a:p>
        </p:txBody>
      </p:sp>
      <p:sp>
        <p:nvSpPr>
          <p:cNvPr id="153" name="Rectangle 152"/>
          <p:cNvSpPr/>
          <p:nvPr/>
        </p:nvSpPr>
        <p:spPr>
          <a:xfrm>
            <a:off x="78105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7829550"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5" name="Rectangle 154"/>
          <p:cNvSpPr/>
          <p:nvPr/>
        </p:nvSpPr>
        <p:spPr>
          <a:xfrm>
            <a:off x="863917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8658225"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7" name="Rectangle 156"/>
          <p:cNvSpPr/>
          <p:nvPr/>
        </p:nvSpPr>
        <p:spPr>
          <a:xfrm>
            <a:off x="946785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9486900"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9" name="Rectangle 158"/>
          <p:cNvSpPr/>
          <p:nvPr/>
        </p:nvSpPr>
        <p:spPr>
          <a:xfrm>
            <a:off x="1029652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10315575"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a:t>
            </a:r>
          </a:p>
        </p:txBody>
      </p:sp>
      <p:sp>
        <p:nvSpPr>
          <p:cNvPr id="161" name="Rectangle 160"/>
          <p:cNvSpPr/>
          <p:nvPr/>
        </p:nvSpPr>
        <p:spPr>
          <a:xfrm>
            <a:off x="111252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11144250" y="31813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a:t>
            </a:r>
          </a:p>
        </p:txBody>
      </p:sp>
      <p:sp>
        <p:nvSpPr>
          <p:cNvPr id="163" name="Rectangle 162"/>
          <p:cNvSpPr/>
          <p:nvPr/>
        </p:nvSpPr>
        <p:spPr>
          <a:xfrm>
            <a:off x="6191250" y="34099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248400" y="34099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Installed base share (units)</a:t>
            </a:r>
          </a:p>
        </p:txBody>
      </p:sp>
      <p:sp>
        <p:nvSpPr>
          <p:cNvPr id="165" name="Rectangle 164"/>
          <p:cNvSpPr/>
          <p:nvPr/>
        </p:nvSpPr>
        <p:spPr>
          <a:xfrm>
            <a:off x="78105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076248"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67" name="TextBox 166"/>
          <p:cNvSpPr txBox="1"/>
          <p:nvPr/>
        </p:nvSpPr>
        <p:spPr>
          <a:xfrm>
            <a:off x="8363902"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68" name="Rectangle 167"/>
          <p:cNvSpPr/>
          <p:nvPr/>
        </p:nvSpPr>
        <p:spPr>
          <a:xfrm>
            <a:off x="863917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8904922"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0" name="TextBox 169"/>
          <p:cNvSpPr txBox="1"/>
          <p:nvPr/>
        </p:nvSpPr>
        <p:spPr>
          <a:xfrm>
            <a:off x="9192578"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1" name="Rectangle 170"/>
          <p:cNvSpPr/>
          <p:nvPr/>
        </p:nvSpPr>
        <p:spPr>
          <a:xfrm>
            <a:off x="946785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9733598"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3" name="TextBox 172"/>
          <p:cNvSpPr txBox="1"/>
          <p:nvPr/>
        </p:nvSpPr>
        <p:spPr>
          <a:xfrm>
            <a:off x="10021252"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4" name="Rectangle 173"/>
          <p:cNvSpPr/>
          <p:nvPr/>
        </p:nvSpPr>
        <p:spPr>
          <a:xfrm>
            <a:off x="1029652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10562272"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6" name="TextBox 175"/>
          <p:cNvSpPr txBox="1"/>
          <p:nvPr/>
        </p:nvSpPr>
        <p:spPr>
          <a:xfrm>
            <a:off x="10849928"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7" name="Rectangle 176"/>
          <p:cNvSpPr/>
          <p:nvPr/>
        </p:nvSpPr>
        <p:spPr>
          <a:xfrm>
            <a:off x="111252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11144250" y="3409950"/>
            <a:ext cx="790575" cy="32385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79" name="Rectangle 178"/>
          <p:cNvSpPr/>
          <p:nvPr/>
        </p:nvSpPr>
        <p:spPr>
          <a:xfrm>
            <a:off x="6191250" y="37338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6248400" y="373380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Price positioning</a:t>
            </a:r>
          </a:p>
        </p:txBody>
      </p:sp>
      <p:sp>
        <p:nvSpPr>
          <p:cNvPr id="181" name="Rectangle 180"/>
          <p:cNvSpPr/>
          <p:nvPr/>
        </p:nvSpPr>
        <p:spPr>
          <a:xfrm>
            <a:off x="78105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7829550"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Premium</a:t>
            </a:r>
          </a:p>
        </p:txBody>
      </p:sp>
      <p:sp>
        <p:nvSpPr>
          <p:cNvPr id="183" name="Rectangle 182"/>
          <p:cNvSpPr/>
          <p:nvPr/>
        </p:nvSpPr>
        <p:spPr>
          <a:xfrm>
            <a:off x="863917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8658225"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Mid / value</a:t>
            </a:r>
          </a:p>
        </p:txBody>
      </p:sp>
      <p:sp>
        <p:nvSpPr>
          <p:cNvPr id="185" name="Rectangle 184"/>
          <p:cNvSpPr/>
          <p:nvPr/>
        </p:nvSpPr>
        <p:spPr>
          <a:xfrm>
            <a:off x="946785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9486900"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Value / entry</a:t>
            </a:r>
          </a:p>
        </p:txBody>
      </p:sp>
      <p:sp>
        <p:nvSpPr>
          <p:cNvPr id="187" name="Rectangle 186"/>
          <p:cNvSpPr/>
          <p:nvPr/>
        </p:nvSpPr>
        <p:spPr>
          <a:xfrm>
            <a:off x="1029652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10315575"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Mixed</a:t>
            </a:r>
          </a:p>
        </p:txBody>
      </p:sp>
      <p:sp>
        <p:nvSpPr>
          <p:cNvPr id="189" name="Rectangle 188"/>
          <p:cNvSpPr/>
          <p:nvPr/>
        </p:nvSpPr>
        <p:spPr>
          <a:xfrm>
            <a:off x="111252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11144250" y="373380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191" name="Rectangle 190"/>
          <p:cNvSpPr/>
          <p:nvPr/>
        </p:nvSpPr>
        <p:spPr>
          <a:xfrm>
            <a:off x="6191250" y="40576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6248400" y="40576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Route-to-market</a:t>
            </a:r>
          </a:p>
        </p:txBody>
      </p:sp>
      <p:sp>
        <p:nvSpPr>
          <p:cNvPr id="193" name="Rectangle 192"/>
          <p:cNvSpPr/>
          <p:nvPr/>
        </p:nvSpPr>
        <p:spPr>
          <a:xfrm>
            <a:off x="78105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7829550"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Direct / key accounts</a:t>
            </a:r>
          </a:p>
        </p:txBody>
      </p:sp>
      <p:sp>
        <p:nvSpPr>
          <p:cNvPr id="195" name="Rectangle 194"/>
          <p:cNvSpPr/>
          <p:nvPr/>
        </p:nvSpPr>
        <p:spPr>
          <a:xfrm>
            <a:off x="863917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8658225"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Distributors</a:t>
            </a:r>
          </a:p>
        </p:txBody>
      </p:sp>
      <p:sp>
        <p:nvSpPr>
          <p:cNvPr id="197" name="Rectangle 196"/>
          <p:cNvSpPr/>
          <p:nvPr/>
        </p:nvSpPr>
        <p:spPr>
          <a:xfrm>
            <a:off x="946785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9486900"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Regional partners</a:t>
            </a:r>
          </a:p>
        </p:txBody>
      </p:sp>
      <p:sp>
        <p:nvSpPr>
          <p:cNvPr id="199" name="Rectangle 198"/>
          <p:cNvSpPr/>
          <p:nvPr/>
        </p:nvSpPr>
        <p:spPr>
          <a:xfrm>
            <a:off x="1029652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10315575"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Local / online</a:t>
            </a:r>
          </a:p>
        </p:txBody>
      </p:sp>
      <p:sp>
        <p:nvSpPr>
          <p:cNvPr id="201" name="Rectangle 200"/>
          <p:cNvSpPr/>
          <p:nvPr/>
        </p:nvSpPr>
        <p:spPr>
          <a:xfrm>
            <a:off x="111252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11144250" y="40576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03" name="Rectangle 202"/>
          <p:cNvSpPr/>
          <p:nvPr/>
        </p:nvSpPr>
        <p:spPr>
          <a:xfrm>
            <a:off x="6191250" y="43815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6248400" y="438150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Portfolio breadth</a:t>
            </a:r>
          </a:p>
        </p:txBody>
      </p:sp>
      <p:sp>
        <p:nvSpPr>
          <p:cNvPr id="205" name="Rectangle 204"/>
          <p:cNvSpPr/>
          <p:nvPr/>
        </p:nvSpPr>
        <p:spPr>
          <a:xfrm>
            <a:off x="78105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7829550"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Full portfolio</a:t>
            </a:r>
          </a:p>
        </p:txBody>
      </p:sp>
      <p:sp>
        <p:nvSpPr>
          <p:cNvPr id="207" name="Rectangle 206"/>
          <p:cNvSpPr/>
          <p:nvPr/>
        </p:nvSpPr>
        <p:spPr>
          <a:xfrm>
            <a:off x="863917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8658225"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2–3 core lines</a:t>
            </a:r>
          </a:p>
        </p:txBody>
      </p:sp>
      <p:sp>
        <p:nvSpPr>
          <p:cNvPr id="209" name="Rectangle 208"/>
          <p:cNvSpPr/>
          <p:nvPr/>
        </p:nvSpPr>
        <p:spPr>
          <a:xfrm>
            <a:off x="946785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9486900"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Single line</a:t>
            </a:r>
          </a:p>
        </p:txBody>
      </p:sp>
      <p:sp>
        <p:nvSpPr>
          <p:cNvPr id="211" name="Rectangle 210"/>
          <p:cNvSpPr/>
          <p:nvPr/>
        </p:nvSpPr>
        <p:spPr>
          <a:xfrm>
            <a:off x="1029652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10315575"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Niche</a:t>
            </a:r>
          </a:p>
        </p:txBody>
      </p:sp>
      <p:sp>
        <p:nvSpPr>
          <p:cNvPr id="213" name="Rectangle 212"/>
          <p:cNvSpPr/>
          <p:nvPr/>
        </p:nvSpPr>
        <p:spPr>
          <a:xfrm>
            <a:off x="111252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11144250" y="438150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15" name="Rectangle 214"/>
          <p:cNvSpPr/>
          <p:nvPr/>
        </p:nvSpPr>
        <p:spPr>
          <a:xfrm>
            <a:off x="6191250" y="47053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6248400" y="47053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Strategic posture</a:t>
            </a:r>
          </a:p>
        </p:txBody>
      </p:sp>
      <p:sp>
        <p:nvSpPr>
          <p:cNvPr id="217" name="Rectangle 216"/>
          <p:cNvSpPr/>
          <p:nvPr/>
        </p:nvSpPr>
        <p:spPr>
          <a:xfrm>
            <a:off x="781050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TextBox 217"/>
          <p:cNvSpPr txBox="1"/>
          <p:nvPr/>
        </p:nvSpPr>
        <p:spPr>
          <a:xfrm>
            <a:off x="782955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Defend &amp; bundle</a:t>
            </a:r>
          </a:p>
        </p:txBody>
      </p:sp>
      <p:sp>
        <p:nvSpPr>
          <p:cNvPr id="219" name="Rectangle 218"/>
          <p:cNvSpPr/>
          <p:nvPr/>
        </p:nvSpPr>
        <p:spPr>
          <a:xfrm>
            <a:off x="863917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8658225"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Niche deepening</a:t>
            </a:r>
          </a:p>
        </p:txBody>
      </p:sp>
      <p:sp>
        <p:nvSpPr>
          <p:cNvPr id="221" name="Rectangle 220"/>
          <p:cNvSpPr/>
          <p:nvPr/>
        </p:nvSpPr>
        <p:spPr>
          <a:xfrm>
            <a:off x="946785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948690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Scale-up or exit</a:t>
            </a:r>
          </a:p>
        </p:txBody>
      </p:sp>
      <p:sp>
        <p:nvSpPr>
          <p:cNvPr id="223" name="Rectangle 222"/>
          <p:cNvSpPr/>
          <p:nvPr/>
        </p:nvSpPr>
        <p:spPr>
          <a:xfrm>
            <a:off x="1029652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10315575"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Long-tail</a:t>
            </a:r>
          </a:p>
        </p:txBody>
      </p:sp>
      <p:sp>
        <p:nvSpPr>
          <p:cNvPr id="225" name="Rectangle 224"/>
          <p:cNvSpPr/>
          <p:nvPr/>
        </p:nvSpPr>
        <p:spPr>
          <a:xfrm>
            <a:off x="11125200" y="47053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1114425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27" name="Rounded Rectangle 226"/>
          <p:cNvSpPr/>
          <p:nvPr/>
        </p:nvSpPr>
        <p:spPr>
          <a:xfrm>
            <a:off x="6096000" y="5162550"/>
            <a:ext cx="5953125" cy="1466850"/>
          </a:xfrm>
          <a:prstGeom prst="roundRect">
            <a:avLst>
              <a:gd name="adj" fmla="val 12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TextBox 227"/>
          <p:cNvSpPr txBox="1"/>
          <p:nvPr/>
        </p:nvSpPr>
        <p:spPr>
          <a:xfrm>
            <a:off x="6191250" y="5219700"/>
            <a:ext cx="5762625" cy="209550"/>
          </a:xfrm>
          <a:prstGeom prst="rect">
            <a:avLst/>
          </a:prstGeom>
          <a:noFill/>
        </p:spPr>
        <p:txBody>
          <a:bodyPr wrap="square" lIns="28575" rIns="28575" tIns="9525" bIns="9525" anchor="ctr">
            <a:spAutoFit/>
          </a:bodyPr>
          <a:lstStyle/>
          <a:p>
            <a:pPr algn="l"/>
            <a:r>
              <a:rPr sz="1200" b="1">
                <a:solidFill>
                  <a:srgbClr val="2E2E2E"/>
                </a:solidFill>
                <a:latin typeface="Calibri"/>
              </a:rPr>
              <a:t>Key Takeaways</a:t>
            </a:r>
          </a:p>
        </p:txBody>
      </p:sp>
      <p:sp>
        <p:nvSpPr>
          <p:cNvPr id="229" name="TextBox 228"/>
          <p:cNvSpPr txBox="1"/>
          <p:nvPr/>
        </p:nvSpPr>
        <p:spPr>
          <a:xfrm>
            <a:off x="6210300" y="54673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230" name="TextBox 229"/>
          <p:cNvSpPr txBox="1"/>
          <p:nvPr/>
        </p:nvSpPr>
        <p:spPr>
          <a:xfrm>
            <a:off x="6343650" y="5467350"/>
            <a:ext cx="5591175"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1" name="TextBox 230"/>
          <p:cNvSpPr txBox="1"/>
          <p:nvPr/>
        </p:nvSpPr>
        <p:spPr>
          <a:xfrm>
            <a:off x="6210300" y="58483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232" name="TextBox 231"/>
          <p:cNvSpPr txBox="1"/>
          <p:nvPr/>
        </p:nvSpPr>
        <p:spPr>
          <a:xfrm>
            <a:off x="6343650" y="5848350"/>
            <a:ext cx="5591175" cy="37147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3" name="TextBox 232"/>
          <p:cNvSpPr txBox="1"/>
          <p:nvPr/>
        </p:nvSpPr>
        <p:spPr>
          <a:xfrm>
            <a:off x="6210300" y="6067425"/>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234" name="TextBox 233"/>
          <p:cNvSpPr txBox="1"/>
          <p:nvPr/>
        </p:nvSpPr>
        <p:spPr>
          <a:xfrm>
            <a:off x="6343650" y="6067425"/>
            <a:ext cx="5591175"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5" name="TextBox 2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6" name="Picture 235" descr="lock.png"/>
          <p:cNvPicPr>
            <a:picLocks noChangeAspect="1"/>
          </p:cNvPicPr>
          <p:nvPr/>
        </p:nvPicPr>
        <p:blipFill>
          <a:blip r:embed="rId4"/>
          <a:stretch>
            <a:fillRect/>
          </a:stretch>
        </p:blipFill>
        <p:spPr>
          <a:xfrm>
            <a:off x="1631100" y="1620901"/>
            <a:ext cx="128699" cy="187198"/>
          </a:xfrm>
          <a:prstGeom prst="rect">
            <a:avLst/>
          </a:prstGeom>
        </p:spPr>
      </p:pic>
      <p:pic>
        <p:nvPicPr>
          <p:cNvPr id="237" name="Picture 236" descr="lock.png"/>
          <p:cNvPicPr>
            <a:picLocks noChangeAspect="1"/>
          </p:cNvPicPr>
          <p:nvPr/>
        </p:nvPicPr>
        <p:blipFill>
          <a:blip r:embed="rId4"/>
          <a:stretch>
            <a:fillRect/>
          </a:stretch>
        </p:blipFill>
        <p:spPr>
          <a:xfrm>
            <a:off x="1631100" y="2478151"/>
            <a:ext cx="128699" cy="187198"/>
          </a:xfrm>
          <a:prstGeom prst="rect">
            <a:avLst/>
          </a:prstGeom>
        </p:spPr>
      </p:pic>
      <p:pic>
        <p:nvPicPr>
          <p:cNvPr id="238" name="Picture 237" descr="lock.png"/>
          <p:cNvPicPr>
            <a:picLocks noChangeAspect="1"/>
          </p:cNvPicPr>
          <p:nvPr/>
        </p:nvPicPr>
        <p:blipFill>
          <a:blip r:embed="rId4"/>
          <a:stretch>
            <a:fillRect/>
          </a:stretch>
        </p:blipFill>
        <p:spPr>
          <a:xfrm>
            <a:off x="1631100" y="3335401"/>
            <a:ext cx="128699" cy="187198"/>
          </a:xfrm>
          <a:prstGeom prst="rect">
            <a:avLst/>
          </a:prstGeom>
        </p:spPr>
      </p:pic>
      <p:pic>
        <p:nvPicPr>
          <p:cNvPr id="239" name="Picture 238" descr="lock.png"/>
          <p:cNvPicPr>
            <a:picLocks noChangeAspect="1"/>
          </p:cNvPicPr>
          <p:nvPr/>
        </p:nvPicPr>
        <p:blipFill>
          <a:blip r:embed="rId4"/>
          <a:stretch>
            <a:fillRect/>
          </a:stretch>
        </p:blipFill>
        <p:spPr>
          <a:xfrm>
            <a:off x="1631100" y="4192651"/>
            <a:ext cx="128699" cy="187198"/>
          </a:xfrm>
          <a:prstGeom prst="rect">
            <a:avLst/>
          </a:prstGeom>
        </p:spPr>
      </p:pic>
      <p:pic>
        <p:nvPicPr>
          <p:cNvPr id="240" name="Picture 239" descr="lock.png"/>
          <p:cNvPicPr>
            <a:picLocks noChangeAspect="1"/>
          </p:cNvPicPr>
          <p:nvPr/>
        </p:nvPicPr>
        <p:blipFill>
          <a:blip r:embed="rId4"/>
          <a:stretch>
            <a:fillRect/>
          </a:stretch>
        </p:blipFill>
        <p:spPr>
          <a:xfrm>
            <a:off x="11475188" y="1830451"/>
            <a:ext cx="128699" cy="187198"/>
          </a:xfrm>
          <a:prstGeom prst="rect">
            <a:avLst/>
          </a:prstGeom>
        </p:spPr>
      </p:pic>
      <p:pic>
        <p:nvPicPr>
          <p:cNvPr id="241" name="Picture 240" descr="lock.png"/>
          <p:cNvPicPr>
            <a:picLocks noChangeAspect="1"/>
          </p:cNvPicPr>
          <p:nvPr/>
        </p:nvPicPr>
        <p:blipFill>
          <a:blip r:embed="rId4"/>
          <a:stretch>
            <a:fillRect/>
          </a:stretch>
        </p:blipFill>
        <p:spPr>
          <a:xfrm>
            <a:off x="8160488" y="2059051"/>
            <a:ext cx="128699" cy="187198"/>
          </a:xfrm>
          <a:prstGeom prst="rect">
            <a:avLst/>
          </a:prstGeom>
        </p:spPr>
      </p:pic>
      <p:pic>
        <p:nvPicPr>
          <p:cNvPr id="242" name="Picture 241" descr="lock.png"/>
          <p:cNvPicPr>
            <a:picLocks noChangeAspect="1"/>
          </p:cNvPicPr>
          <p:nvPr/>
        </p:nvPicPr>
        <p:blipFill>
          <a:blip r:embed="rId4"/>
          <a:stretch>
            <a:fillRect/>
          </a:stretch>
        </p:blipFill>
        <p:spPr>
          <a:xfrm>
            <a:off x="8989163" y="2059051"/>
            <a:ext cx="128699" cy="187198"/>
          </a:xfrm>
          <a:prstGeom prst="rect">
            <a:avLst/>
          </a:prstGeom>
        </p:spPr>
      </p:pic>
      <p:pic>
        <p:nvPicPr>
          <p:cNvPr id="243" name="Picture 242" descr="lock.png"/>
          <p:cNvPicPr>
            <a:picLocks noChangeAspect="1"/>
          </p:cNvPicPr>
          <p:nvPr/>
        </p:nvPicPr>
        <p:blipFill>
          <a:blip r:embed="rId4"/>
          <a:stretch>
            <a:fillRect/>
          </a:stretch>
        </p:blipFill>
        <p:spPr>
          <a:xfrm>
            <a:off x="9817838" y="2059051"/>
            <a:ext cx="128699" cy="187198"/>
          </a:xfrm>
          <a:prstGeom prst="rect">
            <a:avLst/>
          </a:prstGeom>
        </p:spPr>
      </p:pic>
      <p:pic>
        <p:nvPicPr>
          <p:cNvPr id="244" name="Picture 243" descr="lock.png"/>
          <p:cNvPicPr>
            <a:picLocks noChangeAspect="1"/>
          </p:cNvPicPr>
          <p:nvPr/>
        </p:nvPicPr>
        <p:blipFill>
          <a:blip r:embed="rId4"/>
          <a:stretch>
            <a:fillRect/>
          </a:stretch>
        </p:blipFill>
        <p:spPr>
          <a:xfrm>
            <a:off x="10646513" y="2059051"/>
            <a:ext cx="128699" cy="187198"/>
          </a:xfrm>
          <a:prstGeom prst="rect">
            <a:avLst/>
          </a:prstGeom>
        </p:spPr>
      </p:pic>
      <p:pic>
        <p:nvPicPr>
          <p:cNvPr id="245" name="Picture 244" descr="lock.png"/>
          <p:cNvPicPr>
            <a:picLocks noChangeAspect="1"/>
          </p:cNvPicPr>
          <p:nvPr/>
        </p:nvPicPr>
        <p:blipFill>
          <a:blip r:embed="rId4"/>
          <a:stretch>
            <a:fillRect/>
          </a:stretch>
        </p:blipFill>
        <p:spPr>
          <a:xfrm>
            <a:off x="11475188" y="2059051"/>
            <a:ext cx="128699" cy="187198"/>
          </a:xfrm>
          <a:prstGeom prst="rect">
            <a:avLst/>
          </a:prstGeom>
        </p:spPr>
      </p:pic>
      <p:pic>
        <p:nvPicPr>
          <p:cNvPr id="246" name="Picture 245" descr="lock.png"/>
          <p:cNvPicPr>
            <a:picLocks noChangeAspect="1"/>
          </p:cNvPicPr>
          <p:nvPr/>
        </p:nvPicPr>
        <p:blipFill>
          <a:blip r:embed="rId4"/>
          <a:stretch>
            <a:fillRect/>
          </a:stretch>
        </p:blipFill>
        <p:spPr>
          <a:xfrm>
            <a:off x="8160488" y="2287651"/>
            <a:ext cx="128699" cy="187198"/>
          </a:xfrm>
          <a:prstGeom prst="rect">
            <a:avLst/>
          </a:prstGeom>
        </p:spPr>
      </p:pic>
      <p:pic>
        <p:nvPicPr>
          <p:cNvPr id="247" name="Picture 246" descr="lock.png"/>
          <p:cNvPicPr>
            <a:picLocks noChangeAspect="1"/>
          </p:cNvPicPr>
          <p:nvPr/>
        </p:nvPicPr>
        <p:blipFill>
          <a:blip r:embed="rId4"/>
          <a:stretch>
            <a:fillRect/>
          </a:stretch>
        </p:blipFill>
        <p:spPr>
          <a:xfrm>
            <a:off x="8989162" y="2287651"/>
            <a:ext cx="128699" cy="187198"/>
          </a:xfrm>
          <a:prstGeom prst="rect">
            <a:avLst/>
          </a:prstGeom>
        </p:spPr>
      </p:pic>
      <p:pic>
        <p:nvPicPr>
          <p:cNvPr id="248" name="Picture 247" descr="lock.png"/>
          <p:cNvPicPr>
            <a:picLocks noChangeAspect="1"/>
          </p:cNvPicPr>
          <p:nvPr/>
        </p:nvPicPr>
        <p:blipFill>
          <a:blip r:embed="rId4"/>
          <a:stretch>
            <a:fillRect/>
          </a:stretch>
        </p:blipFill>
        <p:spPr>
          <a:xfrm>
            <a:off x="9817838" y="2287651"/>
            <a:ext cx="128699" cy="187198"/>
          </a:xfrm>
          <a:prstGeom prst="rect">
            <a:avLst/>
          </a:prstGeom>
        </p:spPr>
      </p:pic>
      <p:pic>
        <p:nvPicPr>
          <p:cNvPr id="249" name="Picture 248" descr="lock.png"/>
          <p:cNvPicPr>
            <a:picLocks noChangeAspect="1"/>
          </p:cNvPicPr>
          <p:nvPr/>
        </p:nvPicPr>
        <p:blipFill>
          <a:blip r:embed="rId4"/>
          <a:stretch>
            <a:fillRect/>
          </a:stretch>
        </p:blipFill>
        <p:spPr>
          <a:xfrm>
            <a:off x="10646512" y="2287651"/>
            <a:ext cx="128699" cy="187198"/>
          </a:xfrm>
          <a:prstGeom prst="rect">
            <a:avLst/>
          </a:prstGeom>
        </p:spPr>
      </p:pic>
      <p:pic>
        <p:nvPicPr>
          <p:cNvPr id="250" name="Picture 249" descr="lock.png"/>
          <p:cNvPicPr>
            <a:picLocks noChangeAspect="1"/>
          </p:cNvPicPr>
          <p:nvPr/>
        </p:nvPicPr>
        <p:blipFill>
          <a:blip r:embed="rId4"/>
          <a:stretch>
            <a:fillRect/>
          </a:stretch>
        </p:blipFill>
        <p:spPr>
          <a:xfrm>
            <a:off x="8160488" y="2516251"/>
            <a:ext cx="128699" cy="187198"/>
          </a:xfrm>
          <a:prstGeom prst="rect">
            <a:avLst/>
          </a:prstGeom>
        </p:spPr>
      </p:pic>
      <p:pic>
        <p:nvPicPr>
          <p:cNvPr id="251" name="Picture 250" descr="lock.png"/>
          <p:cNvPicPr>
            <a:picLocks noChangeAspect="1"/>
          </p:cNvPicPr>
          <p:nvPr/>
        </p:nvPicPr>
        <p:blipFill>
          <a:blip r:embed="rId4"/>
          <a:stretch>
            <a:fillRect/>
          </a:stretch>
        </p:blipFill>
        <p:spPr>
          <a:xfrm>
            <a:off x="8989162" y="2516251"/>
            <a:ext cx="128699" cy="187198"/>
          </a:xfrm>
          <a:prstGeom prst="rect">
            <a:avLst/>
          </a:prstGeom>
        </p:spPr>
      </p:pic>
      <p:pic>
        <p:nvPicPr>
          <p:cNvPr id="252" name="Picture 251" descr="lock.png"/>
          <p:cNvPicPr>
            <a:picLocks noChangeAspect="1"/>
          </p:cNvPicPr>
          <p:nvPr/>
        </p:nvPicPr>
        <p:blipFill>
          <a:blip r:embed="rId4"/>
          <a:stretch>
            <a:fillRect/>
          </a:stretch>
        </p:blipFill>
        <p:spPr>
          <a:xfrm>
            <a:off x="9817838" y="2516251"/>
            <a:ext cx="128699" cy="187198"/>
          </a:xfrm>
          <a:prstGeom prst="rect">
            <a:avLst/>
          </a:prstGeom>
        </p:spPr>
      </p:pic>
      <p:pic>
        <p:nvPicPr>
          <p:cNvPr id="253" name="Picture 252" descr="lock.png"/>
          <p:cNvPicPr>
            <a:picLocks noChangeAspect="1"/>
          </p:cNvPicPr>
          <p:nvPr/>
        </p:nvPicPr>
        <p:blipFill>
          <a:blip r:embed="rId4"/>
          <a:stretch>
            <a:fillRect/>
          </a:stretch>
        </p:blipFill>
        <p:spPr>
          <a:xfrm>
            <a:off x="10646512" y="2516251"/>
            <a:ext cx="128699" cy="187198"/>
          </a:xfrm>
          <a:prstGeom prst="rect">
            <a:avLst/>
          </a:prstGeom>
        </p:spPr>
      </p:pic>
      <p:pic>
        <p:nvPicPr>
          <p:cNvPr id="254" name="Picture 253" descr="lock.png"/>
          <p:cNvPicPr>
            <a:picLocks noChangeAspect="1"/>
          </p:cNvPicPr>
          <p:nvPr/>
        </p:nvPicPr>
        <p:blipFill>
          <a:blip r:embed="rId4"/>
          <a:stretch>
            <a:fillRect/>
          </a:stretch>
        </p:blipFill>
        <p:spPr>
          <a:xfrm>
            <a:off x="8160487" y="2744851"/>
            <a:ext cx="128699" cy="187198"/>
          </a:xfrm>
          <a:prstGeom prst="rect">
            <a:avLst/>
          </a:prstGeom>
        </p:spPr>
      </p:pic>
      <p:pic>
        <p:nvPicPr>
          <p:cNvPr id="255" name="Picture 254" descr="lock.png"/>
          <p:cNvPicPr>
            <a:picLocks noChangeAspect="1"/>
          </p:cNvPicPr>
          <p:nvPr/>
        </p:nvPicPr>
        <p:blipFill>
          <a:blip r:embed="rId4"/>
          <a:stretch>
            <a:fillRect/>
          </a:stretch>
        </p:blipFill>
        <p:spPr>
          <a:xfrm>
            <a:off x="8989163" y="2744851"/>
            <a:ext cx="128699" cy="187198"/>
          </a:xfrm>
          <a:prstGeom prst="rect">
            <a:avLst/>
          </a:prstGeom>
        </p:spPr>
      </p:pic>
      <p:pic>
        <p:nvPicPr>
          <p:cNvPr id="256" name="Picture 255" descr="lock.png"/>
          <p:cNvPicPr>
            <a:picLocks noChangeAspect="1"/>
          </p:cNvPicPr>
          <p:nvPr/>
        </p:nvPicPr>
        <p:blipFill>
          <a:blip r:embed="rId4"/>
          <a:stretch>
            <a:fillRect/>
          </a:stretch>
        </p:blipFill>
        <p:spPr>
          <a:xfrm>
            <a:off x="9817837" y="2744851"/>
            <a:ext cx="128699" cy="187198"/>
          </a:xfrm>
          <a:prstGeom prst="rect">
            <a:avLst/>
          </a:prstGeom>
        </p:spPr>
      </p:pic>
      <p:pic>
        <p:nvPicPr>
          <p:cNvPr id="257" name="Picture 256" descr="lock.png"/>
          <p:cNvPicPr>
            <a:picLocks noChangeAspect="1"/>
          </p:cNvPicPr>
          <p:nvPr/>
        </p:nvPicPr>
        <p:blipFill>
          <a:blip r:embed="rId4"/>
          <a:stretch>
            <a:fillRect/>
          </a:stretch>
        </p:blipFill>
        <p:spPr>
          <a:xfrm>
            <a:off x="10646513" y="2744851"/>
            <a:ext cx="128699" cy="187198"/>
          </a:xfrm>
          <a:prstGeom prst="rect">
            <a:avLst/>
          </a:prstGeom>
        </p:spPr>
      </p:pic>
      <p:pic>
        <p:nvPicPr>
          <p:cNvPr id="258" name="Picture 257" descr="lock.png"/>
          <p:cNvPicPr>
            <a:picLocks noChangeAspect="1"/>
          </p:cNvPicPr>
          <p:nvPr/>
        </p:nvPicPr>
        <p:blipFill>
          <a:blip r:embed="rId4"/>
          <a:stretch>
            <a:fillRect/>
          </a:stretch>
        </p:blipFill>
        <p:spPr>
          <a:xfrm>
            <a:off x="8160487" y="2973451"/>
            <a:ext cx="128699" cy="187198"/>
          </a:xfrm>
          <a:prstGeom prst="rect">
            <a:avLst/>
          </a:prstGeom>
        </p:spPr>
      </p:pic>
      <p:pic>
        <p:nvPicPr>
          <p:cNvPr id="259" name="Picture 258" descr="lock.png"/>
          <p:cNvPicPr>
            <a:picLocks noChangeAspect="1"/>
          </p:cNvPicPr>
          <p:nvPr/>
        </p:nvPicPr>
        <p:blipFill>
          <a:blip r:embed="rId4"/>
          <a:stretch>
            <a:fillRect/>
          </a:stretch>
        </p:blipFill>
        <p:spPr>
          <a:xfrm>
            <a:off x="8989163" y="2973451"/>
            <a:ext cx="128699" cy="187198"/>
          </a:xfrm>
          <a:prstGeom prst="rect">
            <a:avLst/>
          </a:prstGeom>
        </p:spPr>
      </p:pic>
      <p:pic>
        <p:nvPicPr>
          <p:cNvPr id="260" name="Picture 259" descr="lock.png"/>
          <p:cNvPicPr>
            <a:picLocks noChangeAspect="1"/>
          </p:cNvPicPr>
          <p:nvPr/>
        </p:nvPicPr>
        <p:blipFill>
          <a:blip r:embed="rId4"/>
          <a:stretch>
            <a:fillRect/>
          </a:stretch>
        </p:blipFill>
        <p:spPr>
          <a:xfrm>
            <a:off x="9817837" y="2973451"/>
            <a:ext cx="128699" cy="187198"/>
          </a:xfrm>
          <a:prstGeom prst="rect">
            <a:avLst/>
          </a:prstGeom>
        </p:spPr>
      </p:pic>
      <p:pic>
        <p:nvPicPr>
          <p:cNvPr id="261" name="Picture 260" descr="lock.png"/>
          <p:cNvPicPr>
            <a:picLocks noChangeAspect="1"/>
          </p:cNvPicPr>
          <p:nvPr/>
        </p:nvPicPr>
        <p:blipFill>
          <a:blip r:embed="rId4"/>
          <a:stretch>
            <a:fillRect/>
          </a:stretch>
        </p:blipFill>
        <p:spPr>
          <a:xfrm>
            <a:off x="10646513" y="2973451"/>
            <a:ext cx="128699" cy="187198"/>
          </a:xfrm>
          <a:prstGeom prst="rect">
            <a:avLst/>
          </a:prstGeom>
        </p:spPr>
      </p:pic>
      <p:pic>
        <p:nvPicPr>
          <p:cNvPr id="262" name="Picture 261" descr="lock.png"/>
          <p:cNvPicPr>
            <a:picLocks noChangeAspect="1"/>
          </p:cNvPicPr>
          <p:nvPr/>
        </p:nvPicPr>
        <p:blipFill>
          <a:blip r:embed="rId4"/>
          <a:stretch>
            <a:fillRect/>
          </a:stretch>
        </p:blipFill>
        <p:spPr>
          <a:xfrm>
            <a:off x="11475187" y="2973451"/>
            <a:ext cx="128699" cy="187198"/>
          </a:xfrm>
          <a:prstGeom prst="rect">
            <a:avLst/>
          </a:prstGeom>
        </p:spPr>
      </p:pic>
      <p:pic>
        <p:nvPicPr>
          <p:cNvPr id="263" name="Picture 262" descr="lock.png"/>
          <p:cNvPicPr>
            <a:picLocks noChangeAspect="1"/>
          </p:cNvPicPr>
          <p:nvPr/>
        </p:nvPicPr>
        <p:blipFill>
          <a:blip r:embed="rId4"/>
          <a:stretch>
            <a:fillRect/>
          </a:stretch>
        </p:blipFill>
        <p:spPr>
          <a:xfrm>
            <a:off x="8160488" y="3202051"/>
            <a:ext cx="128699" cy="187198"/>
          </a:xfrm>
          <a:prstGeom prst="rect">
            <a:avLst/>
          </a:prstGeom>
        </p:spPr>
      </p:pic>
      <p:pic>
        <p:nvPicPr>
          <p:cNvPr id="264" name="Picture 263" descr="lock.png"/>
          <p:cNvPicPr>
            <a:picLocks noChangeAspect="1"/>
          </p:cNvPicPr>
          <p:nvPr/>
        </p:nvPicPr>
        <p:blipFill>
          <a:blip r:embed="rId4"/>
          <a:stretch>
            <a:fillRect/>
          </a:stretch>
        </p:blipFill>
        <p:spPr>
          <a:xfrm>
            <a:off x="8989163" y="3202051"/>
            <a:ext cx="128699" cy="187198"/>
          </a:xfrm>
          <a:prstGeom prst="rect">
            <a:avLst/>
          </a:prstGeom>
        </p:spPr>
      </p:pic>
      <p:pic>
        <p:nvPicPr>
          <p:cNvPr id="265" name="Picture 264" descr="lock.png"/>
          <p:cNvPicPr>
            <a:picLocks noChangeAspect="1"/>
          </p:cNvPicPr>
          <p:nvPr/>
        </p:nvPicPr>
        <p:blipFill>
          <a:blip r:embed="rId4"/>
          <a:stretch>
            <a:fillRect/>
          </a:stretch>
        </p:blipFill>
        <p:spPr>
          <a:xfrm>
            <a:off x="9817838" y="3202051"/>
            <a:ext cx="128699" cy="187198"/>
          </a:xfrm>
          <a:prstGeom prst="rect">
            <a:avLst/>
          </a:prstGeom>
        </p:spPr>
      </p:pic>
      <p:pic>
        <p:nvPicPr>
          <p:cNvPr id="266" name="Picture 265" descr="lock.png"/>
          <p:cNvPicPr>
            <a:picLocks noChangeAspect="1"/>
          </p:cNvPicPr>
          <p:nvPr/>
        </p:nvPicPr>
        <p:blipFill>
          <a:blip r:embed="rId4"/>
          <a:stretch>
            <a:fillRect/>
          </a:stretch>
        </p:blipFill>
        <p:spPr>
          <a:xfrm>
            <a:off x="8160488" y="3478276"/>
            <a:ext cx="128699" cy="187198"/>
          </a:xfrm>
          <a:prstGeom prst="rect">
            <a:avLst/>
          </a:prstGeom>
        </p:spPr>
      </p:pic>
      <p:pic>
        <p:nvPicPr>
          <p:cNvPr id="267" name="Picture 266" descr="lock.png"/>
          <p:cNvPicPr>
            <a:picLocks noChangeAspect="1"/>
          </p:cNvPicPr>
          <p:nvPr/>
        </p:nvPicPr>
        <p:blipFill>
          <a:blip r:embed="rId4"/>
          <a:stretch>
            <a:fillRect/>
          </a:stretch>
        </p:blipFill>
        <p:spPr>
          <a:xfrm>
            <a:off x="8989162" y="3478276"/>
            <a:ext cx="128699" cy="187198"/>
          </a:xfrm>
          <a:prstGeom prst="rect">
            <a:avLst/>
          </a:prstGeom>
        </p:spPr>
      </p:pic>
      <p:pic>
        <p:nvPicPr>
          <p:cNvPr id="268" name="Picture 267" descr="lock.png"/>
          <p:cNvPicPr>
            <a:picLocks noChangeAspect="1"/>
          </p:cNvPicPr>
          <p:nvPr/>
        </p:nvPicPr>
        <p:blipFill>
          <a:blip r:embed="rId4"/>
          <a:stretch>
            <a:fillRect/>
          </a:stretch>
        </p:blipFill>
        <p:spPr>
          <a:xfrm>
            <a:off x="9817838" y="3478276"/>
            <a:ext cx="128699" cy="187198"/>
          </a:xfrm>
          <a:prstGeom prst="rect">
            <a:avLst/>
          </a:prstGeom>
        </p:spPr>
      </p:pic>
      <p:pic>
        <p:nvPicPr>
          <p:cNvPr id="269" name="Picture 268" descr="lock.png"/>
          <p:cNvPicPr>
            <a:picLocks noChangeAspect="1"/>
          </p:cNvPicPr>
          <p:nvPr/>
        </p:nvPicPr>
        <p:blipFill>
          <a:blip r:embed="rId4"/>
          <a:stretch>
            <a:fillRect/>
          </a:stretch>
        </p:blipFill>
        <p:spPr>
          <a:xfrm>
            <a:off x="10646512" y="3478276"/>
            <a:ext cx="128699" cy="187198"/>
          </a:xfrm>
          <a:prstGeom prst="rect">
            <a:avLst/>
          </a:prstGeom>
        </p:spPr>
      </p:pic>
      <p:sp>
        <p:nvSpPr>
          <p:cNvPr id="270" name="TextBox 269"/>
          <p:cNvSpPr txBox="1"/>
          <p:nvPr/>
        </p:nvSpPr>
        <p:spPr>
          <a:xfrm>
            <a:off x="266700" y="1344930"/>
            <a:ext cx="491480" cy="186689"/>
          </a:xfrm>
          <a:prstGeom prst="rect">
            <a:avLst/>
          </a:prstGeom>
          <a:noFill/>
        </p:spPr>
        <p:txBody>
          <a:bodyPr wrap="none" lIns="0" rIns="0" tIns="0" bIns="0">
            <a:spAutoFit/>
          </a:bodyPr>
          <a:lstStyle/>
          <a:p>
            <a:r>
              <a:rPr sz="1100" b="0">
                <a:solidFill>
                  <a:srgbClr val="6B7280"/>
                </a:solidFill>
                <a:latin typeface="Calibri"/>
              </a:rPr>
              <a:t>Market</a:t>
            </a:r>
          </a:p>
        </p:txBody>
      </p:sp>
      <p:pic>
        <p:nvPicPr>
          <p:cNvPr id="271" name="Picture 270" descr="lock.png"/>
          <p:cNvPicPr>
            <a:picLocks noChangeAspect="1"/>
          </p:cNvPicPr>
          <p:nvPr/>
        </p:nvPicPr>
        <p:blipFill>
          <a:blip r:embed="rId4"/>
          <a:stretch>
            <a:fillRect/>
          </a:stretch>
        </p:blipFill>
        <p:spPr>
          <a:xfrm>
            <a:off x="706231" y="1335151"/>
            <a:ext cx="128699" cy="187198"/>
          </a:xfrm>
          <a:prstGeom prst="rect">
            <a:avLst/>
          </a:prstGeom>
        </p:spPr>
      </p:pic>
      <p:sp>
        <p:nvSpPr>
          <p:cNvPr id="272" name="TextBox 271"/>
          <p:cNvSpPr txBox="1"/>
          <p:nvPr/>
        </p:nvSpPr>
        <p:spPr>
          <a:xfrm>
            <a:off x="873727" y="1344930"/>
            <a:ext cx="1290389" cy="186689"/>
          </a:xfrm>
          <a:prstGeom prst="rect">
            <a:avLst/>
          </a:prstGeom>
          <a:noFill/>
        </p:spPr>
        <p:txBody>
          <a:bodyPr wrap="none" lIns="0" rIns="0" tIns="0" bIns="0">
            <a:spAutoFit/>
          </a:bodyPr>
          <a:lstStyle/>
          <a:p>
            <a:r>
              <a:rPr sz="1100" b="0">
                <a:solidFill>
                  <a:srgbClr val="6B7280"/>
                </a:solidFill>
                <a:latin typeface="Calibri"/>
              </a:rPr>
              <a:t>US$ Mn · Tier 1 share</a:t>
            </a:r>
          </a:p>
        </p:txBody>
      </p:sp>
      <p:pic>
        <p:nvPicPr>
          <p:cNvPr id="273" name="Picture 272" descr="lock.png"/>
          <p:cNvPicPr>
            <a:picLocks noChangeAspect="1"/>
          </p:cNvPicPr>
          <p:nvPr/>
        </p:nvPicPr>
        <p:blipFill>
          <a:blip r:embed="rId4"/>
          <a:stretch>
            <a:fillRect/>
          </a:stretch>
        </p:blipFill>
        <p:spPr>
          <a:xfrm>
            <a:off x="2112168" y="1335151"/>
            <a:ext cx="128699" cy="187198"/>
          </a:xfrm>
          <a:prstGeom prst="rect">
            <a:avLst/>
          </a:prstGeom>
        </p:spPr>
      </p:pic>
      <p:sp>
        <p:nvSpPr>
          <p:cNvPr id="274" name="TextBox 273"/>
          <p:cNvSpPr txBox="1"/>
          <p:nvPr/>
        </p:nvSpPr>
        <p:spPr>
          <a:xfrm>
            <a:off x="2279664" y="1344930"/>
            <a:ext cx="202803" cy="186689"/>
          </a:xfrm>
          <a:prstGeom prst="rect">
            <a:avLst/>
          </a:prstGeom>
          <a:noFill/>
        </p:spPr>
        <p:txBody>
          <a:bodyPr wrap="none" lIns="0" rIns="0" tIns="0" bIns="0">
            <a:spAutoFit/>
          </a:bodyPr>
          <a:lstStyle/>
          <a:p>
            <a:r>
              <a:rPr sz="1100" b="0">
                <a:solidFill>
                  <a:srgbClr val="6B7280"/>
                </a:solidFill>
                <a:latin typeface="Calibri"/>
              </a:rPr>
              <a:t>→</a:t>
            </a:r>
          </a:p>
        </p:txBody>
      </p:sp>
      <p:pic>
        <p:nvPicPr>
          <p:cNvPr id="275" name="Picture 274" descr="lock.png"/>
          <p:cNvPicPr>
            <a:picLocks noChangeAspect="1"/>
          </p:cNvPicPr>
          <p:nvPr/>
        </p:nvPicPr>
        <p:blipFill>
          <a:blip r:embed="rId4"/>
          <a:stretch>
            <a:fillRect/>
          </a:stretch>
        </p:blipFill>
        <p:spPr>
          <a:xfrm>
            <a:off x="2430519" y="1335151"/>
            <a:ext cx="128699" cy="187198"/>
          </a:xfrm>
          <a:prstGeom prst="rect">
            <a:avLst/>
          </a:prstGeom>
        </p:spPr>
      </p:pic>
      <p:sp>
        <p:nvSpPr>
          <p:cNvPr id="276" name="TextBox 275"/>
          <p:cNvSpPr txBox="1"/>
          <p:nvPr/>
        </p:nvSpPr>
        <p:spPr>
          <a:xfrm>
            <a:off x="2598014" y="1344930"/>
            <a:ext cx="528315" cy="186689"/>
          </a:xfrm>
          <a:prstGeom prst="rect">
            <a:avLst/>
          </a:prstGeom>
          <a:noFill/>
        </p:spPr>
        <p:txBody>
          <a:bodyPr wrap="none" lIns="0" rIns="0" tIns="0" bIns="0">
            <a:spAutoFit/>
          </a:bodyPr>
          <a:lstStyle/>
          <a:p>
            <a:r>
              <a:rPr sz="1100" b="0">
                <a:solidFill>
                  <a:srgbClr val="6B7280"/>
                </a:solidFill>
                <a:latin typeface="Calibri"/>
              </a:rPr>
              <a:t>by 2036</a:t>
            </a:r>
          </a:p>
        </p:txBody>
      </p:sp>
      <p:pic>
        <p:nvPicPr>
          <p:cNvPr id="277" name="Picture 276" descr="lock.png"/>
          <p:cNvPicPr>
            <a:picLocks noChangeAspect="1"/>
          </p:cNvPicPr>
          <p:nvPr/>
        </p:nvPicPr>
        <p:blipFill>
          <a:blip r:embed="rId4"/>
          <a:stretch>
            <a:fillRect/>
          </a:stretch>
        </p:blipFill>
        <p:spPr>
          <a:xfrm>
            <a:off x="1377182" y="1839976"/>
            <a:ext cx="128699" cy="187198"/>
          </a:xfrm>
          <a:prstGeom prst="rect">
            <a:avLst/>
          </a:prstGeom>
        </p:spPr>
      </p:pic>
      <p:sp>
        <p:nvSpPr>
          <p:cNvPr id="278" name="TextBox 277"/>
          <p:cNvSpPr txBox="1"/>
          <p:nvPr/>
        </p:nvSpPr>
        <p:spPr>
          <a:xfrm>
            <a:off x="1544678" y="1849755"/>
            <a:ext cx="1429543" cy="186689"/>
          </a:xfrm>
          <a:prstGeom prst="rect">
            <a:avLst/>
          </a:prstGeom>
          <a:noFill/>
        </p:spPr>
        <p:txBody>
          <a:bodyPr wrap="none" lIns="0" rIns="0" tIns="0" bIns="0">
            <a:spAutoFit/>
          </a:bodyPr>
          <a:lstStyle/>
          <a:p>
            <a:r>
              <a:rPr sz="1100" b="0">
                <a:solidFill>
                  <a:srgbClr val="FFFFFF"/>
                </a:solidFill>
                <a:latin typeface="Calibri"/>
              </a:rPr>
              <a:t>US$ Mn · 4 players · avg</a:t>
            </a:r>
          </a:p>
        </p:txBody>
      </p:sp>
      <p:pic>
        <p:nvPicPr>
          <p:cNvPr id="279" name="Picture 278" descr="lock.png"/>
          <p:cNvPicPr>
            <a:picLocks noChangeAspect="1"/>
          </p:cNvPicPr>
          <p:nvPr/>
        </p:nvPicPr>
        <p:blipFill>
          <a:blip r:embed="rId4"/>
          <a:stretch>
            <a:fillRect/>
          </a:stretch>
        </p:blipFill>
        <p:spPr>
          <a:xfrm>
            <a:off x="2922273" y="1839976"/>
            <a:ext cx="128699" cy="187198"/>
          </a:xfrm>
          <a:prstGeom prst="rect">
            <a:avLst/>
          </a:prstGeom>
        </p:spPr>
      </p:pic>
      <p:sp>
        <p:nvSpPr>
          <p:cNvPr id="280" name="TextBox 279"/>
          <p:cNvSpPr txBox="1"/>
          <p:nvPr/>
        </p:nvSpPr>
        <p:spPr>
          <a:xfrm>
            <a:off x="3089769" y="184975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1" name="Picture 280" descr="lock.png"/>
          <p:cNvPicPr>
            <a:picLocks noChangeAspect="1"/>
          </p:cNvPicPr>
          <p:nvPr/>
        </p:nvPicPr>
        <p:blipFill>
          <a:blip r:embed="rId4"/>
          <a:stretch>
            <a:fillRect/>
          </a:stretch>
        </p:blipFill>
        <p:spPr>
          <a:xfrm>
            <a:off x="1377182" y="2697226"/>
            <a:ext cx="128699" cy="187198"/>
          </a:xfrm>
          <a:prstGeom prst="rect">
            <a:avLst/>
          </a:prstGeom>
        </p:spPr>
      </p:pic>
      <p:sp>
        <p:nvSpPr>
          <p:cNvPr id="282" name="TextBox 281"/>
          <p:cNvSpPr txBox="1"/>
          <p:nvPr/>
        </p:nvSpPr>
        <p:spPr>
          <a:xfrm>
            <a:off x="1544678" y="2707005"/>
            <a:ext cx="1429543" cy="186689"/>
          </a:xfrm>
          <a:prstGeom prst="rect">
            <a:avLst/>
          </a:prstGeom>
          <a:noFill/>
        </p:spPr>
        <p:txBody>
          <a:bodyPr wrap="none" lIns="0" rIns="0" tIns="0" bIns="0">
            <a:spAutoFit/>
          </a:bodyPr>
          <a:lstStyle/>
          <a:p>
            <a:r>
              <a:rPr sz="1100" b="0">
                <a:solidFill>
                  <a:srgbClr val="FFFFFF"/>
                </a:solidFill>
                <a:latin typeface="Calibri"/>
              </a:rPr>
              <a:t>US$ Mn · 2 players · avg</a:t>
            </a:r>
          </a:p>
        </p:txBody>
      </p:sp>
      <p:pic>
        <p:nvPicPr>
          <p:cNvPr id="283" name="Picture 282" descr="lock.png"/>
          <p:cNvPicPr>
            <a:picLocks noChangeAspect="1"/>
          </p:cNvPicPr>
          <p:nvPr/>
        </p:nvPicPr>
        <p:blipFill>
          <a:blip r:embed="rId4"/>
          <a:stretch>
            <a:fillRect/>
          </a:stretch>
        </p:blipFill>
        <p:spPr>
          <a:xfrm>
            <a:off x="2922273" y="2697226"/>
            <a:ext cx="128699" cy="187198"/>
          </a:xfrm>
          <a:prstGeom prst="rect">
            <a:avLst/>
          </a:prstGeom>
        </p:spPr>
      </p:pic>
      <p:sp>
        <p:nvSpPr>
          <p:cNvPr id="284" name="TextBox 283"/>
          <p:cNvSpPr txBox="1"/>
          <p:nvPr/>
        </p:nvSpPr>
        <p:spPr>
          <a:xfrm>
            <a:off x="3089769" y="270700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5" name="Picture 284" descr="lock.png"/>
          <p:cNvPicPr>
            <a:picLocks noChangeAspect="1"/>
          </p:cNvPicPr>
          <p:nvPr/>
        </p:nvPicPr>
        <p:blipFill>
          <a:blip r:embed="rId4"/>
          <a:stretch>
            <a:fillRect/>
          </a:stretch>
        </p:blipFill>
        <p:spPr>
          <a:xfrm>
            <a:off x="1377182" y="3554476"/>
            <a:ext cx="128699" cy="187198"/>
          </a:xfrm>
          <a:prstGeom prst="rect">
            <a:avLst/>
          </a:prstGeom>
        </p:spPr>
      </p:pic>
      <p:sp>
        <p:nvSpPr>
          <p:cNvPr id="286" name="TextBox 285"/>
          <p:cNvSpPr txBox="1"/>
          <p:nvPr/>
        </p:nvSpPr>
        <p:spPr>
          <a:xfrm>
            <a:off x="1544678" y="3564255"/>
            <a:ext cx="1429543" cy="186689"/>
          </a:xfrm>
          <a:prstGeom prst="rect">
            <a:avLst/>
          </a:prstGeom>
          <a:noFill/>
        </p:spPr>
        <p:txBody>
          <a:bodyPr wrap="none" lIns="0" rIns="0" tIns="0" bIns="0">
            <a:spAutoFit/>
          </a:bodyPr>
          <a:lstStyle/>
          <a:p>
            <a:r>
              <a:rPr sz="1100" b="0">
                <a:solidFill>
                  <a:srgbClr val="FFFFFF"/>
                </a:solidFill>
                <a:latin typeface="Calibri"/>
              </a:rPr>
              <a:t>US$ Mn · 4 players · avg</a:t>
            </a:r>
          </a:p>
        </p:txBody>
      </p:sp>
      <p:pic>
        <p:nvPicPr>
          <p:cNvPr id="287" name="Picture 286" descr="lock.png"/>
          <p:cNvPicPr>
            <a:picLocks noChangeAspect="1"/>
          </p:cNvPicPr>
          <p:nvPr/>
        </p:nvPicPr>
        <p:blipFill>
          <a:blip r:embed="rId4"/>
          <a:stretch>
            <a:fillRect/>
          </a:stretch>
        </p:blipFill>
        <p:spPr>
          <a:xfrm>
            <a:off x="2922273" y="3554476"/>
            <a:ext cx="128699" cy="187198"/>
          </a:xfrm>
          <a:prstGeom prst="rect">
            <a:avLst/>
          </a:prstGeom>
        </p:spPr>
      </p:pic>
      <p:sp>
        <p:nvSpPr>
          <p:cNvPr id="288" name="TextBox 287"/>
          <p:cNvSpPr txBox="1"/>
          <p:nvPr/>
        </p:nvSpPr>
        <p:spPr>
          <a:xfrm>
            <a:off x="3089769" y="356425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9" name="Picture 288" descr="lock.png"/>
          <p:cNvPicPr>
            <a:picLocks noChangeAspect="1"/>
          </p:cNvPicPr>
          <p:nvPr/>
        </p:nvPicPr>
        <p:blipFill>
          <a:blip r:embed="rId4"/>
          <a:stretch>
            <a:fillRect/>
          </a:stretch>
        </p:blipFill>
        <p:spPr>
          <a:xfrm>
            <a:off x="1377182" y="4411726"/>
            <a:ext cx="128699" cy="187198"/>
          </a:xfrm>
          <a:prstGeom prst="rect">
            <a:avLst/>
          </a:prstGeom>
        </p:spPr>
      </p:pic>
      <p:sp>
        <p:nvSpPr>
          <p:cNvPr id="290" name="TextBox 289"/>
          <p:cNvSpPr txBox="1"/>
          <p:nvPr/>
        </p:nvSpPr>
        <p:spPr>
          <a:xfrm>
            <a:off x="1544678" y="4421505"/>
            <a:ext cx="1247006" cy="186689"/>
          </a:xfrm>
          <a:prstGeom prst="rect">
            <a:avLst/>
          </a:prstGeom>
          <a:noFill/>
        </p:spPr>
        <p:txBody>
          <a:bodyPr wrap="none" lIns="0" rIns="0" tIns="0" bIns="0">
            <a:spAutoFit/>
          </a:bodyPr>
          <a:lstStyle/>
          <a:p>
            <a:r>
              <a:rPr sz="1100" b="0">
                <a:solidFill>
                  <a:srgbClr val="14213D"/>
                </a:solidFill>
                <a:latin typeface="Calibri"/>
              </a:rPr>
              <a:t>US$ Mn · – · long tail</a:t>
            </a:r>
          </a:p>
        </p:txBody>
      </p:sp>
      <p:sp>
        <p:nvSpPr>
          <p:cNvPr id="291" name="TextBox 290"/>
          <p:cNvSpPr txBox="1"/>
          <p:nvPr/>
        </p:nvSpPr>
        <p:spPr>
          <a:xfrm>
            <a:off x="1241169" y="5802630"/>
            <a:ext cx="493662" cy="186689"/>
          </a:xfrm>
          <a:prstGeom prst="rect">
            <a:avLst/>
          </a:prstGeom>
          <a:noFill/>
        </p:spPr>
        <p:txBody>
          <a:bodyPr wrap="none" lIns="0" rIns="0" tIns="0" bIns="0">
            <a:spAutoFit/>
          </a:bodyPr>
          <a:lstStyle/>
          <a:p>
            <a:r>
              <a:rPr sz="1100" b="1">
                <a:solidFill>
                  <a:srgbClr val="2E7D32"/>
                </a:solidFill>
                <a:latin typeface="Calibri"/>
              </a:rPr>
              <a:t>▲</a:t>
            </a:r>
            <a:r>
              <a:rPr sz="1100" b="1">
                <a:solidFill>
                  <a:srgbClr val="14213D"/>
                </a:solidFill>
                <a:latin typeface="Calibri"/>
              </a:rPr>
              <a:t> HHI =</a:t>
            </a:r>
          </a:p>
        </p:txBody>
      </p:sp>
      <p:pic>
        <p:nvPicPr>
          <p:cNvPr id="292" name="Picture 291" descr="lock.png"/>
          <p:cNvPicPr>
            <a:picLocks noChangeAspect="1"/>
          </p:cNvPicPr>
          <p:nvPr/>
        </p:nvPicPr>
        <p:blipFill>
          <a:blip r:embed="rId4"/>
          <a:stretch>
            <a:fillRect/>
          </a:stretch>
        </p:blipFill>
        <p:spPr>
          <a:xfrm>
            <a:off x="1682883" y="5792851"/>
            <a:ext cx="128699" cy="187198"/>
          </a:xfrm>
          <a:prstGeom prst="rect">
            <a:avLst/>
          </a:prstGeom>
        </p:spPr>
      </p:pic>
      <p:sp>
        <p:nvSpPr>
          <p:cNvPr id="293" name="TextBox 292"/>
          <p:cNvSpPr txBox="1"/>
          <p:nvPr/>
        </p:nvSpPr>
        <p:spPr>
          <a:xfrm>
            <a:off x="876202" y="6107430"/>
            <a:ext cx="400893" cy="186689"/>
          </a:xfrm>
          <a:prstGeom prst="rect">
            <a:avLst/>
          </a:prstGeom>
          <a:noFill/>
        </p:spPr>
        <p:txBody>
          <a:bodyPr wrap="none" lIns="0" rIns="0" tIns="0" bIns="0">
            <a:spAutoFit/>
          </a:bodyPr>
          <a:lstStyle/>
          <a:p>
            <a:r>
              <a:rPr sz="1100" b="1">
                <a:solidFill>
                  <a:srgbClr val="14213D"/>
                </a:solidFill>
                <a:latin typeface="Calibri"/>
              </a:rPr>
              <a:t>CR4 =</a:t>
            </a:r>
          </a:p>
        </p:txBody>
      </p:sp>
      <p:pic>
        <p:nvPicPr>
          <p:cNvPr id="294" name="Picture 293" descr="lock.png"/>
          <p:cNvPicPr>
            <a:picLocks noChangeAspect="1"/>
          </p:cNvPicPr>
          <p:nvPr/>
        </p:nvPicPr>
        <p:blipFill>
          <a:blip r:embed="rId4"/>
          <a:stretch>
            <a:fillRect/>
          </a:stretch>
        </p:blipFill>
        <p:spPr>
          <a:xfrm>
            <a:off x="1225147" y="6097651"/>
            <a:ext cx="128699" cy="187198"/>
          </a:xfrm>
          <a:prstGeom prst="rect">
            <a:avLst/>
          </a:prstGeom>
        </p:spPr>
      </p:pic>
      <p:sp>
        <p:nvSpPr>
          <p:cNvPr id="295" name="TextBox 294"/>
          <p:cNvSpPr txBox="1"/>
          <p:nvPr/>
        </p:nvSpPr>
        <p:spPr>
          <a:xfrm>
            <a:off x="1392643" y="6107430"/>
            <a:ext cx="1068288" cy="186689"/>
          </a:xfrm>
          <a:prstGeom prst="rect">
            <a:avLst/>
          </a:prstGeom>
          <a:noFill/>
        </p:spPr>
        <p:txBody>
          <a:bodyPr wrap="none" lIns="0" rIns="0" tIns="0" bIns="0">
            <a:spAutoFit/>
          </a:bodyPr>
          <a:lstStyle/>
          <a:p>
            <a:r>
              <a:rPr sz="1100" b="1">
                <a:solidFill>
                  <a:srgbClr val="14213D"/>
                </a:solidFill>
                <a:latin typeface="Calibri"/>
              </a:rPr>
              <a:t>· Tier 1 : Others =</a:t>
            </a:r>
          </a:p>
        </p:txBody>
      </p:sp>
      <p:pic>
        <p:nvPicPr>
          <p:cNvPr id="296" name="Picture 295" descr="lock.png"/>
          <p:cNvPicPr>
            <a:picLocks noChangeAspect="1"/>
          </p:cNvPicPr>
          <p:nvPr/>
        </p:nvPicPr>
        <p:blipFill>
          <a:blip r:embed="rId4"/>
          <a:stretch>
            <a:fillRect/>
          </a:stretch>
        </p:blipFill>
        <p:spPr>
          <a:xfrm>
            <a:off x="2408983" y="6097651"/>
            <a:ext cx="128699" cy="187198"/>
          </a:xfrm>
          <a:prstGeom prst="rect">
            <a:avLst/>
          </a:prstGeom>
        </p:spPr>
      </p:pic>
      <p:sp>
        <p:nvSpPr>
          <p:cNvPr id="297" name="TextBox 296"/>
          <p:cNvSpPr txBox="1"/>
          <p:nvPr/>
        </p:nvSpPr>
        <p:spPr>
          <a:xfrm>
            <a:off x="2576478" y="6107430"/>
            <a:ext cx="1397620" cy="186689"/>
          </a:xfrm>
          <a:prstGeom prst="rect">
            <a:avLst/>
          </a:prstGeom>
          <a:noFill/>
        </p:spPr>
        <p:txBody>
          <a:bodyPr wrap="none" lIns="0" rIns="0" tIns="0" bIns="0">
            <a:spAutoFit/>
          </a:bodyPr>
          <a:lstStyle/>
          <a:p>
            <a:r>
              <a:rPr sz="1100" b="1">
                <a:solidFill>
                  <a:srgbClr val="14213D"/>
                </a:solidFill>
                <a:latin typeface="Calibri"/>
              </a:rPr>
              <a:t>: 1 · Top-player share =</a:t>
            </a:r>
          </a:p>
        </p:txBody>
      </p:sp>
      <p:pic>
        <p:nvPicPr>
          <p:cNvPr id="298" name="Picture 297" descr="lock.png"/>
          <p:cNvPicPr>
            <a:picLocks noChangeAspect="1"/>
          </p:cNvPicPr>
          <p:nvPr/>
        </p:nvPicPr>
        <p:blipFill>
          <a:blip r:embed="rId4"/>
          <a:stretch>
            <a:fillRect/>
          </a:stretch>
        </p:blipFill>
        <p:spPr>
          <a:xfrm>
            <a:off x="3922150" y="6097651"/>
            <a:ext cx="128699" cy="187198"/>
          </a:xfrm>
          <a:prstGeom prst="rect">
            <a:avLst/>
          </a:prstGeom>
        </p:spPr>
      </p:pic>
      <p:sp>
        <p:nvSpPr>
          <p:cNvPr id="299" name="TextBox 298"/>
          <p:cNvSpPr txBox="1"/>
          <p:nvPr/>
        </p:nvSpPr>
        <p:spPr>
          <a:xfrm>
            <a:off x="4089646" y="6107430"/>
            <a:ext cx="1206351" cy="186689"/>
          </a:xfrm>
          <a:prstGeom prst="rect">
            <a:avLst/>
          </a:prstGeom>
          <a:noFill/>
        </p:spPr>
        <p:txBody>
          <a:bodyPr wrap="none" lIns="0" rIns="0" tIns="0" bIns="0">
            <a:spAutoFit/>
          </a:bodyPr>
          <a:lstStyle/>
          <a:p>
            <a:r>
              <a:rPr sz="1100" b="1">
                <a:solidFill>
                  <a:srgbClr val="14213D"/>
                </a:solidFill>
                <a:latin typeface="Calibri"/>
              </a:rPr>
              <a:t>· Class: Fragmented</a:t>
            </a:r>
          </a:p>
        </p:txBody>
      </p:sp>
      <p:sp>
        <p:nvSpPr>
          <p:cNvPr id="300" name="TextBox 299"/>
          <p:cNvSpPr txBox="1"/>
          <p:nvPr/>
        </p:nvSpPr>
        <p:spPr>
          <a:xfrm>
            <a:off x="6372225" y="5476875"/>
            <a:ext cx="471561" cy="186689"/>
          </a:xfrm>
          <a:prstGeom prst="rect">
            <a:avLst/>
          </a:prstGeom>
          <a:noFill/>
        </p:spPr>
        <p:txBody>
          <a:bodyPr wrap="none" lIns="0" rIns="0" tIns="0" bIns="0">
            <a:spAutoFit/>
          </a:bodyPr>
          <a:lstStyle/>
          <a:p>
            <a:r>
              <a:rPr sz="1100" b="0">
                <a:solidFill>
                  <a:srgbClr val="14213D"/>
                </a:solidFill>
                <a:latin typeface="Calibri"/>
              </a:rPr>
              <a:t>Tier 1 (</a:t>
            </a:r>
          </a:p>
        </p:txBody>
      </p:sp>
      <p:pic>
        <p:nvPicPr>
          <p:cNvPr id="301" name="Picture 300" descr="lock.png"/>
          <p:cNvPicPr>
            <a:picLocks noChangeAspect="1"/>
          </p:cNvPicPr>
          <p:nvPr/>
        </p:nvPicPr>
        <p:blipFill>
          <a:blip r:embed="rId4"/>
          <a:stretch>
            <a:fillRect/>
          </a:stretch>
        </p:blipFill>
        <p:spPr>
          <a:xfrm>
            <a:off x="6791838" y="5467095"/>
            <a:ext cx="128699" cy="187198"/>
          </a:xfrm>
          <a:prstGeom prst="rect">
            <a:avLst/>
          </a:prstGeom>
        </p:spPr>
      </p:pic>
      <p:sp>
        <p:nvSpPr>
          <p:cNvPr id="302" name="TextBox 301"/>
          <p:cNvSpPr txBox="1"/>
          <p:nvPr/>
        </p:nvSpPr>
        <p:spPr>
          <a:xfrm>
            <a:off x="6959334" y="5476875"/>
            <a:ext cx="2550145" cy="186689"/>
          </a:xfrm>
          <a:prstGeom prst="rect">
            <a:avLst/>
          </a:prstGeom>
          <a:noFill/>
        </p:spPr>
        <p:txBody>
          <a:bodyPr wrap="none" lIns="0" rIns="0" tIns="0" bIns="0">
            <a:spAutoFit/>
          </a:bodyPr>
          <a:lstStyle/>
          <a:p>
            <a:r>
              <a:rPr sz="1100" b="0">
                <a:solidFill>
                  <a:srgbClr val="14213D"/>
                </a:solidFill>
                <a:latin typeface="Calibri"/>
              </a:rPr>
              <a:t>) holds the largest single block of value on a</a:t>
            </a:r>
          </a:p>
        </p:txBody>
      </p:sp>
      <p:pic>
        <p:nvPicPr>
          <p:cNvPr id="303" name="Picture 302" descr="lock.png"/>
          <p:cNvPicPr>
            <a:picLocks noChangeAspect="1"/>
          </p:cNvPicPr>
          <p:nvPr/>
        </p:nvPicPr>
        <p:blipFill>
          <a:blip r:embed="rId4"/>
          <a:stretch>
            <a:fillRect/>
          </a:stretch>
        </p:blipFill>
        <p:spPr>
          <a:xfrm>
            <a:off x="9457531" y="5467095"/>
            <a:ext cx="128699" cy="187198"/>
          </a:xfrm>
          <a:prstGeom prst="rect">
            <a:avLst/>
          </a:prstGeom>
        </p:spPr>
      </p:pic>
      <p:sp>
        <p:nvSpPr>
          <p:cNvPr id="304" name="TextBox 303"/>
          <p:cNvSpPr txBox="1"/>
          <p:nvPr/>
        </p:nvSpPr>
        <p:spPr>
          <a:xfrm>
            <a:off x="9625026" y="5476875"/>
            <a:ext cx="1259830" cy="186689"/>
          </a:xfrm>
          <a:prstGeom prst="rect">
            <a:avLst/>
          </a:prstGeom>
          <a:noFill/>
        </p:spPr>
        <p:txBody>
          <a:bodyPr wrap="none" lIns="0" rIns="0" tIns="0" bIns="0">
            <a:spAutoFit/>
          </a:bodyPr>
          <a:lstStyle/>
          <a:p>
            <a:r>
              <a:rPr sz="1100" b="0">
                <a:solidFill>
                  <a:srgbClr val="14213D"/>
                </a:solidFill>
                <a:latin typeface="Calibri"/>
              </a:rPr>
              <a:t>US$ Mn base; CR4 of</a:t>
            </a:r>
          </a:p>
        </p:txBody>
      </p:sp>
      <p:pic>
        <p:nvPicPr>
          <p:cNvPr id="305" name="Picture 304" descr="lock.png"/>
          <p:cNvPicPr>
            <a:picLocks noChangeAspect="1"/>
          </p:cNvPicPr>
          <p:nvPr/>
        </p:nvPicPr>
        <p:blipFill>
          <a:blip r:embed="rId4"/>
          <a:stretch>
            <a:fillRect/>
          </a:stretch>
        </p:blipFill>
        <p:spPr>
          <a:xfrm>
            <a:off x="10832908" y="5467095"/>
            <a:ext cx="128699" cy="187198"/>
          </a:xfrm>
          <a:prstGeom prst="rect">
            <a:avLst/>
          </a:prstGeom>
        </p:spPr>
      </p:pic>
      <p:sp>
        <p:nvSpPr>
          <p:cNvPr id="306" name="TextBox 305"/>
          <p:cNvSpPr txBox="1"/>
          <p:nvPr/>
        </p:nvSpPr>
        <p:spPr>
          <a:xfrm>
            <a:off x="11000404" y="5476875"/>
            <a:ext cx="678656" cy="186689"/>
          </a:xfrm>
          <a:prstGeom prst="rect">
            <a:avLst/>
          </a:prstGeom>
          <a:noFill/>
        </p:spPr>
        <p:txBody>
          <a:bodyPr wrap="none" lIns="0" rIns="0" tIns="0" bIns="0">
            <a:spAutoFit/>
          </a:bodyPr>
          <a:lstStyle/>
          <a:p>
            <a:r>
              <a:rPr sz="1100" b="0">
                <a:solidFill>
                  <a:srgbClr val="14213D"/>
                </a:solidFill>
                <a:latin typeface="Calibri"/>
              </a:rPr>
              <a:t>and HHI of</a:t>
            </a:r>
          </a:p>
        </p:txBody>
      </p:sp>
      <p:pic>
        <p:nvPicPr>
          <p:cNvPr id="307" name="Picture 306" descr="lock.png"/>
          <p:cNvPicPr>
            <a:picLocks noChangeAspect="1"/>
          </p:cNvPicPr>
          <p:nvPr/>
        </p:nvPicPr>
        <p:blipFill>
          <a:blip r:embed="rId4"/>
          <a:stretch>
            <a:fillRect/>
          </a:stretch>
        </p:blipFill>
        <p:spPr>
          <a:xfrm>
            <a:off x="6358757" y="5634735"/>
            <a:ext cx="128699" cy="187198"/>
          </a:xfrm>
          <a:prstGeom prst="rect">
            <a:avLst/>
          </a:prstGeom>
        </p:spPr>
      </p:pic>
      <p:sp>
        <p:nvSpPr>
          <p:cNvPr id="308" name="TextBox 307"/>
          <p:cNvSpPr txBox="1"/>
          <p:nvPr/>
        </p:nvSpPr>
        <p:spPr>
          <a:xfrm>
            <a:off x="6526253" y="5644515"/>
            <a:ext cx="2030635" cy="186689"/>
          </a:xfrm>
          <a:prstGeom prst="rect">
            <a:avLst/>
          </a:prstGeom>
          <a:noFill/>
        </p:spPr>
        <p:txBody>
          <a:bodyPr wrap="none" lIns="0" rIns="0" tIns="0" bIns="0">
            <a:spAutoFit/>
          </a:bodyPr>
          <a:lstStyle/>
          <a:p>
            <a:r>
              <a:rPr sz="1100" b="0">
                <a:solidFill>
                  <a:srgbClr val="14213D"/>
                </a:solidFill>
                <a:latin typeface="Calibri"/>
              </a:rPr>
              <a:t>classify the market as fragmented.</a:t>
            </a:r>
          </a:p>
        </p:txBody>
      </p:sp>
      <p:sp>
        <p:nvSpPr>
          <p:cNvPr id="309" name="TextBox 308"/>
          <p:cNvSpPr txBox="1"/>
          <p:nvPr/>
        </p:nvSpPr>
        <p:spPr>
          <a:xfrm>
            <a:off x="6372225" y="5857875"/>
            <a:ext cx="1331044" cy="186689"/>
          </a:xfrm>
          <a:prstGeom prst="rect">
            <a:avLst/>
          </a:prstGeom>
          <a:noFill/>
        </p:spPr>
        <p:txBody>
          <a:bodyPr wrap="none" lIns="0" rIns="0" tIns="0" bIns="0">
            <a:spAutoFit/>
          </a:bodyPr>
          <a:lstStyle/>
          <a:p>
            <a:r>
              <a:rPr sz="1100" b="0">
                <a:solidFill>
                  <a:srgbClr val="14213D"/>
                </a:solidFill>
                <a:latin typeface="Calibri"/>
              </a:rPr>
              <a:t>Tier 2 grows fastest at</a:t>
            </a:r>
          </a:p>
        </p:txBody>
      </p:sp>
      <p:pic>
        <p:nvPicPr>
          <p:cNvPr id="310" name="Picture 309" descr="lock.png"/>
          <p:cNvPicPr>
            <a:picLocks noChangeAspect="1"/>
          </p:cNvPicPr>
          <p:nvPr/>
        </p:nvPicPr>
        <p:blipFill>
          <a:blip r:embed="rId4"/>
          <a:stretch>
            <a:fillRect/>
          </a:stretch>
        </p:blipFill>
        <p:spPr>
          <a:xfrm>
            <a:off x="7651320" y="5848095"/>
            <a:ext cx="128699" cy="187198"/>
          </a:xfrm>
          <a:prstGeom prst="rect">
            <a:avLst/>
          </a:prstGeom>
        </p:spPr>
      </p:pic>
      <p:sp>
        <p:nvSpPr>
          <p:cNvPr id="311" name="TextBox 310"/>
          <p:cNvSpPr txBox="1"/>
          <p:nvPr/>
        </p:nvSpPr>
        <p:spPr>
          <a:xfrm>
            <a:off x="7818816" y="5857875"/>
            <a:ext cx="982868" cy="186689"/>
          </a:xfrm>
          <a:prstGeom prst="rect">
            <a:avLst/>
          </a:prstGeom>
          <a:noFill/>
        </p:spPr>
        <p:txBody>
          <a:bodyPr wrap="none" lIns="0" rIns="0" tIns="0" bIns="0">
            <a:spAutoFit/>
          </a:bodyPr>
          <a:lstStyle/>
          <a:p>
            <a:r>
              <a:rPr sz="1100" b="0">
                <a:solidFill>
                  <a:srgbClr val="14213D"/>
                </a:solidFill>
                <a:latin typeface="Calibri"/>
              </a:rPr>
              <a:t>CAGR, moving +</a:t>
            </a:r>
          </a:p>
        </p:txBody>
      </p:sp>
      <p:pic>
        <p:nvPicPr>
          <p:cNvPr id="312" name="Picture 311" descr="lock.png"/>
          <p:cNvPicPr>
            <a:picLocks noChangeAspect="1"/>
          </p:cNvPicPr>
          <p:nvPr/>
        </p:nvPicPr>
        <p:blipFill>
          <a:blip r:embed="rId4"/>
          <a:stretch>
            <a:fillRect/>
          </a:stretch>
        </p:blipFill>
        <p:spPr>
          <a:xfrm>
            <a:off x="8749737" y="5848095"/>
            <a:ext cx="128699" cy="187198"/>
          </a:xfrm>
          <a:prstGeom prst="rect">
            <a:avLst/>
          </a:prstGeom>
        </p:spPr>
      </p:pic>
      <p:sp>
        <p:nvSpPr>
          <p:cNvPr id="313" name="TextBox 312"/>
          <p:cNvSpPr txBox="1"/>
          <p:nvPr/>
        </p:nvSpPr>
        <p:spPr>
          <a:xfrm>
            <a:off x="8917232" y="5857875"/>
            <a:ext cx="1234727" cy="186689"/>
          </a:xfrm>
          <a:prstGeom prst="rect">
            <a:avLst/>
          </a:prstGeom>
          <a:noFill/>
        </p:spPr>
        <p:txBody>
          <a:bodyPr wrap="none" lIns="0" rIns="0" tIns="0" bIns="0">
            <a:spAutoFit/>
          </a:bodyPr>
          <a:lstStyle/>
          <a:p>
            <a:r>
              <a:rPr sz="1100" b="0">
                <a:solidFill>
                  <a:srgbClr val="14213D"/>
                </a:solidFill>
                <a:latin typeface="Calibri"/>
              </a:rPr>
              <a:t>pp of share by 2036.</a:t>
            </a:r>
          </a:p>
        </p:txBody>
      </p:sp>
      <p:sp>
        <p:nvSpPr>
          <p:cNvPr id="314" name="TextBox 313"/>
          <p:cNvSpPr txBox="1"/>
          <p:nvPr/>
        </p:nvSpPr>
        <p:spPr>
          <a:xfrm>
            <a:off x="6372225" y="6076950"/>
            <a:ext cx="2161604" cy="186689"/>
          </a:xfrm>
          <a:prstGeom prst="rect">
            <a:avLst/>
          </a:prstGeom>
          <a:noFill/>
        </p:spPr>
        <p:txBody>
          <a:bodyPr wrap="none" lIns="0" rIns="0" tIns="0" bIns="0">
            <a:spAutoFit/>
          </a:bodyPr>
          <a:lstStyle/>
          <a:p>
            <a:r>
              <a:rPr sz="1100" b="0">
                <a:solidFill>
                  <a:srgbClr val="14213D"/>
                </a:solidFill>
                <a:latin typeface="Calibri"/>
              </a:rPr>
              <a:t>Tier 3 and the long tail together hold</a:t>
            </a:r>
          </a:p>
        </p:txBody>
      </p:sp>
      <p:pic>
        <p:nvPicPr>
          <p:cNvPr id="315" name="Picture 314" descr="lock.png"/>
          <p:cNvPicPr>
            <a:picLocks noChangeAspect="1"/>
          </p:cNvPicPr>
          <p:nvPr/>
        </p:nvPicPr>
        <p:blipFill>
          <a:blip r:embed="rId4"/>
          <a:stretch>
            <a:fillRect/>
          </a:stretch>
        </p:blipFill>
        <p:spPr>
          <a:xfrm>
            <a:off x="8481881" y="6067170"/>
            <a:ext cx="128699" cy="187198"/>
          </a:xfrm>
          <a:prstGeom prst="rect">
            <a:avLst/>
          </a:prstGeom>
        </p:spPr>
      </p:pic>
      <p:sp>
        <p:nvSpPr>
          <p:cNvPr id="316" name="TextBox 315"/>
          <p:cNvSpPr txBox="1"/>
          <p:nvPr/>
        </p:nvSpPr>
        <p:spPr>
          <a:xfrm>
            <a:off x="8649376" y="6076950"/>
            <a:ext cx="2127498" cy="186689"/>
          </a:xfrm>
          <a:prstGeom prst="rect">
            <a:avLst/>
          </a:prstGeom>
          <a:noFill/>
        </p:spPr>
        <p:txBody>
          <a:bodyPr wrap="none" lIns="0" rIns="0" tIns="0" bIns="0">
            <a:spAutoFit/>
          </a:bodyPr>
          <a:lstStyle/>
          <a:p>
            <a:r>
              <a:rPr sz="1100" b="0">
                <a:solidFill>
                  <a:srgbClr val="14213D"/>
                </a:solidFill>
                <a:latin typeface="Calibri"/>
              </a:rPr>
              <a:t>of value; the average Tier 3 player is</a:t>
            </a:r>
          </a:p>
        </p:txBody>
      </p:sp>
      <p:pic>
        <p:nvPicPr>
          <p:cNvPr id="317" name="Picture 316" descr="lock.png"/>
          <p:cNvPicPr>
            <a:picLocks noChangeAspect="1"/>
          </p:cNvPicPr>
          <p:nvPr/>
        </p:nvPicPr>
        <p:blipFill>
          <a:blip r:embed="rId4"/>
          <a:stretch>
            <a:fillRect/>
          </a:stretch>
        </p:blipFill>
        <p:spPr>
          <a:xfrm>
            <a:off x="10724926" y="6067170"/>
            <a:ext cx="128699" cy="187198"/>
          </a:xfrm>
          <a:prstGeom prst="rect">
            <a:avLst/>
          </a:prstGeom>
        </p:spPr>
      </p:pic>
      <p:sp>
        <p:nvSpPr>
          <p:cNvPr id="318" name="TextBox 317"/>
          <p:cNvSpPr txBox="1"/>
          <p:nvPr/>
        </p:nvSpPr>
        <p:spPr>
          <a:xfrm>
            <a:off x="10892422" y="6076950"/>
            <a:ext cx="876473" cy="186689"/>
          </a:xfrm>
          <a:prstGeom prst="rect">
            <a:avLst/>
          </a:prstGeom>
          <a:noFill/>
        </p:spPr>
        <p:txBody>
          <a:bodyPr wrap="none" lIns="0" rIns="0" tIns="0" bIns="0">
            <a:spAutoFit/>
          </a:bodyPr>
          <a:lstStyle/>
          <a:p>
            <a:r>
              <a:rPr sz="1100" b="0">
                <a:solidFill>
                  <a:srgbClr val="14213D"/>
                </a:solidFill>
                <a:latin typeface="Calibri"/>
              </a:rPr>
              <a:t>x smaller than</a:t>
            </a:r>
          </a:p>
        </p:txBody>
      </p:sp>
      <p:sp>
        <p:nvSpPr>
          <p:cNvPr id="319" name="TextBox 318"/>
          <p:cNvSpPr txBox="1"/>
          <p:nvPr/>
        </p:nvSpPr>
        <p:spPr>
          <a:xfrm>
            <a:off x="6372225" y="6244590"/>
            <a:ext cx="1020539" cy="186689"/>
          </a:xfrm>
          <a:prstGeom prst="rect">
            <a:avLst/>
          </a:prstGeom>
          <a:noFill/>
        </p:spPr>
        <p:txBody>
          <a:bodyPr wrap="none" lIns="0" rIns="0" tIns="0" bIns="0">
            <a:spAutoFit/>
          </a:bodyPr>
          <a:lstStyle/>
          <a:p>
            <a:r>
              <a:rPr sz="1100" b="0">
                <a:solidFill>
                  <a:srgbClr val="14213D"/>
                </a:solidFill>
                <a:latin typeface="Calibri"/>
              </a:rPr>
              <a:t>a Tier 1 supplier.</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Industry Structure Landscape – Waterproof Coatings Market, Global 2026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Tier ladder, market concentration and tier profile, and the structural shift 2026→2036 shaping the tier structure</a:t>
            </a:r>
          </a:p>
        </p:txBody>
      </p:sp>
      <p:sp>
        <p:nvSpPr>
          <p:cNvPr id="10" name="Rounded Rectangle 9"/>
          <p:cNvSpPr/>
          <p:nvPr/>
        </p:nvSpPr>
        <p:spPr>
          <a:xfrm>
            <a:off x="142875" y="1047750"/>
            <a:ext cx="11906250" cy="2381250"/>
          </a:xfrm>
          <a:prstGeom prst="roundRect">
            <a:avLst>
              <a:gd name="adj" fmla="val 6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04900"/>
            <a:ext cx="11715750" cy="209550"/>
          </a:xfrm>
          <a:prstGeom prst="rect">
            <a:avLst/>
          </a:prstGeom>
          <a:noFill/>
        </p:spPr>
        <p:txBody>
          <a:bodyPr wrap="square" lIns="28575" rIns="28575" tIns="9525" bIns="9525" anchor="ctr">
            <a:spAutoFit/>
          </a:bodyPr>
          <a:lstStyle/>
          <a:p>
            <a:pPr algn="l"/>
            <a:r>
              <a:rPr sz="1200" b="1">
                <a:solidFill>
                  <a:srgbClr val="2E2E2E"/>
                </a:solidFill>
                <a:latin typeface="Calibri"/>
              </a:rPr>
              <a:t>Structural Shift, 2026 → 2036 – Tier Migration and Entry / Exit</a:t>
            </a:r>
          </a:p>
        </p:txBody>
      </p:sp>
      <p:sp>
        <p:nvSpPr>
          <p:cNvPr id="12" name="Rounded Rectangle 11"/>
          <p:cNvSpPr/>
          <p:nvPr/>
        </p:nvSpPr>
        <p:spPr>
          <a:xfrm>
            <a:off x="257175" y="1390650"/>
            <a:ext cx="1905000" cy="876300"/>
          </a:xfrm>
          <a:prstGeom prst="roundRect">
            <a:avLst>
              <a:gd name="adj" fmla="val 4000"/>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717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1</a:t>
            </a:r>
          </a:p>
        </p:txBody>
      </p:sp>
      <p:sp>
        <p:nvSpPr>
          <p:cNvPr id="14" name="TextBox 13"/>
          <p:cNvSpPr txBox="1"/>
          <p:nvPr/>
        </p:nvSpPr>
        <p:spPr>
          <a:xfrm>
            <a:off x="25717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Top / global players</a:t>
            </a:r>
          </a:p>
        </p:txBody>
      </p:sp>
      <p:sp>
        <p:nvSpPr>
          <p:cNvPr id="15" name="TextBox 14"/>
          <p:cNvSpPr txBox="1"/>
          <p:nvPr/>
        </p:nvSpPr>
        <p:spPr>
          <a:xfrm>
            <a:off x="29527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16" name="TextBox 15"/>
          <p:cNvSpPr txBox="1"/>
          <p:nvPr/>
        </p:nvSpPr>
        <p:spPr>
          <a:xfrm>
            <a:off x="223837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1 up-tier (M&amp;A)</a:t>
            </a:r>
          </a:p>
        </p:txBody>
      </p:sp>
      <p:cxnSp>
        <p:nvCxnSpPr>
          <p:cNvPr id="17" name="Connector 16"/>
          <p:cNvCxnSpPr/>
          <p:nvPr/>
        </p:nvCxnSpPr>
        <p:spPr>
          <a:xfrm>
            <a:off x="23145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18" name="Freeform 17"/>
          <p:cNvSpPr/>
          <p:nvPr/>
        </p:nvSpPr>
        <p:spPr>
          <a:xfrm>
            <a:off x="22383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22383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20" name="Freeform 19"/>
          <p:cNvSpPr/>
          <p:nvPr/>
        </p:nvSpPr>
        <p:spPr>
          <a:xfrm>
            <a:off x="33432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3837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0 down / exit</a:t>
            </a:r>
          </a:p>
        </p:txBody>
      </p:sp>
      <p:sp>
        <p:nvSpPr>
          <p:cNvPr id="22" name="Rounded Rectangle 21"/>
          <p:cNvSpPr/>
          <p:nvPr/>
        </p:nvSpPr>
        <p:spPr>
          <a:xfrm>
            <a:off x="3514725" y="1390650"/>
            <a:ext cx="1905000" cy="876300"/>
          </a:xfrm>
          <a:prstGeom prst="roundRect">
            <a:avLst>
              <a:gd name="adj" fmla="val 4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1472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2</a:t>
            </a:r>
          </a:p>
        </p:txBody>
      </p:sp>
      <p:sp>
        <p:nvSpPr>
          <p:cNvPr id="24" name="TextBox 23"/>
          <p:cNvSpPr txBox="1"/>
          <p:nvPr/>
        </p:nvSpPr>
        <p:spPr>
          <a:xfrm>
            <a:off x="351472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Mid-sized players</a:t>
            </a:r>
          </a:p>
        </p:txBody>
      </p:sp>
      <p:sp>
        <p:nvSpPr>
          <p:cNvPr id="25" name="TextBox 24"/>
          <p:cNvSpPr txBox="1"/>
          <p:nvPr/>
        </p:nvSpPr>
        <p:spPr>
          <a:xfrm>
            <a:off x="355282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26" name="TextBox 25"/>
          <p:cNvSpPr txBox="1"/>
          <p:nvPr/>
        </p:nvSpPr>
        <p:spPr>
          <a:xfrm>
            <a:off x="549592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1 up-tier (M&amp;A)</a:t>
            </a:r>
          </a:p>
        </p:txBody>
      </p:sp>
      <p:cxnSp>
        <p:nvCxnSpPr>
          <p:cNvPr id="27" name="Connector 26"/>
          <p:cNvCxnSpPr/>
          <p:nvPr/>
        </p:nvCxnSpPr>
        <p:spPr>
          <a:xfrm>
            <a:off x="557212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549592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549592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60082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9592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0 down / exit</a:t>
            </a:r>
          </a:p>
        </p:txBody>
      </p:sp>
      <p:sp>
        <p:nvSpPr>
          <p:cNvPr id="32" name="Rounded Rectangle 31"/>
          <p:cNvSpPr/>
          <p:nvPr/>
        </p:nvSpPr>
        <p:spPr>
          <a:xfrm>
            <a:off x="6772275" y="1390650"/>
            <a:ext cx="1905000" cy="876300"/>
          </a:xfrm>
          <a:prstGeom prst="roundRect">
            <a:avLst>
              <a:gd name="adj" fmla="val 4000"/>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7227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3</a:t>
            </a:r>
          </a:p>
        </p:txBody>
      </p:sp>
      <p:sp>
        <p:nvSpPr>
          <p:cNvPr id="34" name="TextBox 33"/>
          <p:cNvSpPr txBox="1"/>
          <p:nvPr/>
        </p:nvSpPr>
        <p:spPr>
          <a:xfrm>
            <a:off x="677227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Emerging / local players</a:t>
            </a:r>
          </a:p>
        </p:txBody>
      </p:sp>
      <p:sp>
        <p:nvSpPr>
          <p:cNvPr id="35" name="TextBox 34"/>
          <p:cNvSpPr txBox="1"/>
          <p:nvPr/>
        </p:nvSpPr>
        <p:spPr>
          <a:xfrm>
            <a:off x="681037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36" name="TextBox 35"/>
          <p:cNvSpPr txBox="1"/>
          <p:nvPr/>
        </p:nvSpPr>
        <p:spPr>
          <a:xfrm>
            <a:off x="875347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2 up-tier (M&amp;A)</a:t>
            </a:r>
          </a:p>
        </p:txBody>
      </p:sp>
      <p:cxnSp>
        <p:nvCxnSpPr>
          <p:cNvPr id="37" name="Connector 36"/>
          <p:cNvCxnSpPr/>
          <p:nvPr/>
        </p:nvCxnSpPr>
        <p:spPr>
          <a:xfrm>
            <a:off x="88296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38" name="Freeform 37"/>
          <p:cNvSpPr/>
          <p:nvPr/>
        </p:nvSpPr>
        <p:spPr>
          <a:xfrm>
            <a:off x="87534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87534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40" name="Freeform 39"/>
          <p:cNvSpPr/>
          <p:nvPr/>
        </p:nvSpPr>
        <p:spPr>
          <a:xfrm>
            <a:off x="98583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75347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1 down / exit</a:t>
            </a:r>
          </a:p>
        </p:txBody>
      </p:sp>
      <p:sp>
        <p:nvSpPr>
          <p:cNvPr id="42" name="Rounded Rectangle 41"/>
          <p:cNvSpPr/>
          <p:nvPr/>
        </p:nvSpPr>
        <p:spPr>
          <a:xfrm>
            <a:off x="10029825" y="1390650"/>
            <a:ext cx="1905000" cy="876300"/>
          </a:xfrm>
          <a:prstGeom prst="roundRect">
            <a:avLst>
              <a:gd name="adj" fmla="val 4000"/>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29825" y="1447800"/>
            <a:ext cx="1905000" cy="209550"/>
          </a:xfrm>
          <a:prstGeom prst="rect">
            <a:avLst/>
          </a:prstGeom>
          <a:noFill/>
        </p:spPr>
        <p:txBody>
          <a:bodyPr wrap="square" lIns="28575" rIns="28575" tIns="9525" bIns="9525" anchor="ctr">
            <a:spAutoFit/>
          </a:bodyPr>
          <a:lstStyle/>
          <a:p>
            <a:pPr algn="ctr"/>
            <a:r>
              <a:rPr sz="1100" b="1">
                <a:solidFill>
                  <a:srgbClr val="14213D"/>
                </a:solidFill>
                <a:latin typeface="Calibri"/>
              </a:rPr>
              <a:t>Others</a:t>
            </a:r>
          </a:p>
        </p:txBody>
      </p:sp>
      <p:sp>
        <p:nvSpPr>
          <p:cNvPr id="44" name="TextBox 43"/>
          <p:cNvSpPr txBox="1"/>
          <p:nvPr/>
        </p:nvSpPr>
        <p:spPr>
          <a:xfrm>
            <a:off x="10029825" y="1676400"/>
            <a:ext cx="1905000" cy="171450"/>
          </a:xfrm>
          <a:prstGeom prst="rect">
            <a:avLst/>
          </a:prstGeom>
          <a:noFill/>
        </p:spPr>
        <p:txBody>
          <a:bodyPr wrap="square" lIns="28575" rIns="28575" tIns="9525" bIns="9525" anchor="ctr">
            <a:spAutoFit/>
          </a:bodyPr>
          <a:lstStyle/>
          <a:p>
            <a:pPr algn="ctr"/>
            <a:r>
              <a:rPr sz="1100" b="0">
                <a:solidFill>
                  <a:srgbClr val="14213D"/>
                </a:solidFill>
                <a:latin typeface="Calibri"/>
              </a:rPr>
              <a:t>Long tail</a:t>
            </a:r>
          </a:p>
        </p:txBody>
      </p:sp>
      <p:sp>
        <p:nvSpPr>
          <p:cNvPr id="45" name="TextBox 44"/>
          <p:cNvSpPr txBox="1"/>
          <p:nvPr/>
        </p:nvSpPr>
        <p:spPr>
          <a:xfrm>
            <a:off x="1006792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r>
          </a:p>
        </p:txBody>
      </p:sp>
      <p:sp>
        <p:nvSpPr>
          <p:cNvPr id="46" name="Rounded Rectangle 45"/>
          <p:cNvSpPr/>
          <p:nvPr/>
        </p:nvSpPr>
        <p:spPr>
          <a:xfrm>
            <a:off x="2571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MI KPI Value"/>
          <p:cNvSpPr txBox="1"/>
          <p:nvPr/>
        </p:nvSpPr>
        <p:spPr>
          <a:xfrm>
            <a:off x="35242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48" name="TextBox 47"/>
          <p:cNvSpPr txBox="1"/>
          <p:nvPr/>
        </p:nvSpPr>
        <p:spPr>
          <a:xfrm>
            <a:off x="119062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New entrants 2026–2036</a:t>
            </a:r>
          </a:p>
        </p:txBody>
      </p:sp>
      <p:sp>
        <p:nvSpPr>
          <p:cNvPr id="49" name="TextBox 48"/>
          <p:cNvSpPr txBox="1"/>
          <p:nvPr/>
        </p:nvSpPr>
        <p:spPr>
          <a:xfrm>
            <a:off x="119062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scaling up from the long tail</a:t>
            </a:r>
          </a:p>
        </p:txBody>
      </p:sp>
      <p:sp>
        <p:nvSpPr>
          <p:cNvPr id="50" name="Rounded Rectangle 49"/>
          <p:cNvSpPr/>
          <p:nvPr/>
        </p:nvSpPr>
        <p:spPr>
          <a:xfrm>
            <a:off x="32099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MI KPI Value"/>
          <p:cNvSpPr txBox="1"/>
          <p:nvPr/>
        </p:nvSpPr>
        <p:spPr>
          <a:xfrm>
            <a:off x="330517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52" name="TextBox 51"/>
          <p:cNvSpPr txBox="1"/>
          <p:nvPr/>
        </p:nvSpPr>
        <p:spPr>
          <a:xfrm>
            <a:off x="414337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Exits / acquisitions</a:t>
            </a:r>
          </a:p>
        </p:txBody>
      </p:sp>
      <p:sp>
        <p:nvSpPr>
          <p:cNvPr id="53" name="TextBox 52"/>
          <p:cNvSpPr txBox="1"/>
          <p:nvPr/>
        </p:nvSpPr>
        <p:spPr>
          <a:xfrm>
            <a:off x="414337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absorbed mainly by Tier 1–2 acquirers</a:t>
            </a:r>
          </a:p>
        </p:txBody>
      </p:sp>
      <p:sp>
        <p:nvSpPr>
          <p:cNvPr id="54" name="Rounded Rectangle 53"/>
          <p:cNvSpPr/>
          <p:nvPr/>
        </p:nvSpPr>
        <p:spPr>
          <a:xfrm>
            <a:off x="61626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MI KPI Value"/>
          <p:cNvSpPr txBox="1"/>
          <p:nvPr/>
        </p:nvSpPr>
        <p:spPr>
          <a:xfrm>
            <a:off x="625792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56" name="TextBox 55"/>
          <p:cNvSpPr txBox="1"/>
          <p:nvPr/>
        </p:nvSpPr>
        <p:spPr>
          <a:xfrm>
            <a:off x="709612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Net change in player count</a:t>
            </a:r>
          </a:p>
        </p:txBody>
      </p:sp>
      <p:sp>
        <p:nvSpPr>
          <p:cNvPr id="57" name="TextBox 56"/>
          <p:cNvSpPr txBox="1"/>
          <p:nvPr/>
        </p:nvSpPr>
        <p:spPr>
          <a:xfrm>
            <a:off x="709612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Between 2026 and 2036</a:t>
            </a:r>
          </a:p>
        </p:txBody>
      </p:sp>
      <p:sp>
        <p:nvSpPr>
          <p:cNvPr id="58" name="Rounded Rectangle 57"/>
          <p:cNvSpPr/>
          <p:nvPr/>
        </p:nvSpPr>
        <p:spPr>
          <a:xfrm>
            <a:off x="91154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MI KPI Value"/>
          <p:cNvSpPr txBox="1"/>
          <p:nvPr/>
        </p:nvSpPr>
        <p:spPr>
          <a:xfrm>
            <a:off x="921067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60" name="TextBox 59"/>
          <p:cNvSpPr txBox="1"/>
          <p:nvPr/>
        </p:nvSpPr>
        <p:spPr>
          <a:xfrm>
            <a:off x="1004887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Share moving between tiers</a:t>
            </a:r>
          </a:p>
        </p:txBody>
      </p:sp>
      <p:sp>
        <p:nvSpPr>
          <p:cNvPr id="61" name="TextBox 60"/>
          <p:cNvSpPr txBox="1"/>
          <p:nvPr/>
        </p:nvSpPr>
        <p:spPr>
          <a:xfrm>
            <a:off x="1004887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largest transfer: Others → Tier 2</a:t>
            </a:r>
          </a:p>
        </p:txBody>
      </p:sp>
      <p:sp>
        <p:nvSpPr>
          <p:cNvPr id="62" name="Rounded Rectangle 61"/>
          <p:cNvSpPr/>
          <p:nvPr/>
        </p:nvSpPr>
        <p:spPr>
          <a:xfrm>
            <a:off x="142875" y="3543300"/>
            <a:ext cx="7096125" cy="3086100"/>
          </a:xfrm>
          <a:prstGeom prst="roundRect">
            <a:avLst>
              <a:gd name="adj" fmla="val 107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38125" y="3600450"/>
            <a:ext cx="6905625" cy="209550"/>
          </a:xfrm>
          <a:prstGeom prst="rect">
            <a:avLst/>
          </a:prstGeom>
          <a:noFill/>
        </p:spPr>
        <p:txBody>
          <a:bodyPr wrap="square" lIns="28575" rIns="28575" tIns="9525" bIns="9525" anchor="ctr">
            <a:spAutoFit/>
          </a:bodyPr>
          <a:lstStyle/>
          <a:p>
            <a:pPr algn="l"/>
            <a:r>
              <a:rPr sz="1200" b="1">
                <a:solidFill>
                  <a:srgbClr val="2E2E2E"/>
                </a:solidFill>
                <a:latin typeface="Calibri"/>
              </a:rPr>
              <a:t>Structural Forces Shaping the Tier Structure (1 = weak, 5 = strong)</a:t>
            </a:r>
          </a:p>
        </p:txBody>
      </p:sp>
      <p:sp>
        <p:nvSpPr>
          <p:cNvPr id="64" name="Rectangle 63"/>
          <p:cNvSpPr/>
          <p:nvPr/>
        </p:nvSpPr>
        <p:spPr>
          <a:xfrm>
            <a:off x="238125" y="3867150"/>
            <a:ext cx="1428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95275" y="3867150"/>
            <a:ext cx="1352550" cy="247650"/>
          </a:xfrm>
          <a:prstGeom prst="rect">
            <a:avLst/>
          </a:prstGeom>
          <a:noFill/>
        </p:spPr>
        <p:txBody>
          <a:bodyPr wrap="square" lIns="28575" rIns="28575" tIns="9525" bIns="9525" anchor="ctr">
            <a:spAutoFit/>
          </a:bodyPr>
          <a:lstStyle/>
          <a:p>
            <a:pPr algn="l"/>
            <a:r>
              <a:rPr sz="1100" b="1">
                <a:solidFill>
                  <a:srgbClr val="FFFFFF"/>
                </a:solidFill>
                <a:latin typeface="Calibri"/>
              </a:rPr>
              <a:t>Force</a:t>
            </a:r>
          </a:p>
        </p:txBody>
      </p:sp>
      <p:sp>
        <p:nvSpPr>
          <p:cNvPr id="66" name="Rectangle 65"/>
          <p:cNvSpPr/>
          <p:nvPr/>
        </p:nvSpPr>
        <p:spPr>
          <a:xfrm>
            <a:off x="1666875" y="3867150"/>
            <a:ext cx="233362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724025" y="3867150"/>
            <a:ext cx="2257425" cy="247650"/>
          </a:xfrm>
          <a:prstGeom prst="rect">
            <a:avLst/>
          </a:prstGeom>
          <a:noFill/>
        </p:spPr>
        <p:txBody>
          <a:bodyPr wrap="square" lIns="28575" rIns="28575" tIns="9525" bIns="9525" anchor="ctr">
            <a:spAutoFit/>
          </a:bodyPr>
          <a:lstStyle/>
          <a:p>
            <a:pPr algn="l"/>
            <a:r>
              <a:rPr sz="1100" b="1">
                <a:solidFill>
                  <a:srgbClr val="FFFFFF"/>
                </a:solidFill>
                <a:latin typeface="Calibri"/>
              </a:rPr>
              <a:t>Drivers in the market</a:t>
            </a:r>
          </a:p>
        </p:txBody>
      </p:sp>
      <p:sp>
        <p:nvSpPr>
          <p:cNvPr id="68" name="Rectangle 67"/>
          <p:cNvSpPr/>
          <p:nvPr/>
        </p:nvSpPr>
        <p:spPr>
          <a:xfrm>
            <a:off x="4000500" y="3867150"/>
            <a:ext cx="666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057650" y="3867150"/>
            <a:ext cx="590550" cy="247650"/>
          </a:xfrm>
          <a:prstGeom prst="rect">
            <a:avLst/>
          </a:prstGeom>
          <a:noFill/>
        </p:spPr>
        <p:txBody>
          <a:bodyPr wrap="square" lIns="28575" rIns="28575" tIns="9525" bIns="9525" anchor="ctr">
            <a:spAutoFit/>
          </a:bodyPr>
          <a:lstStyle/>
          <a:p>
            <a:pPr algn="l"/>
            <a:r>
              <a:rPr sz="1100" b="1">
                <a:solidFill>
                  <a:srgbClr val="FFFFFF"/>
                </a:solidFill>
                <a:latin typeface="Calibri"/>
              </a:rPr>
              <a:t>Score</a:t>
            </a:r>
          </a:p>
        </p:txBody>
      </p:sp>
      <p:sp>
        <p:nvSpPr>
          <p:cNvPr id="70" name="Rectangle 69"/>
          <p:cNvSpPr/>
          <p:nvPr/>
        </p:nvSpPr>
        <p:spPr>
          <a:xfrm>
            <a:off x="4667250" y="3867150"/>
            <a:ext cx="2476500" cy="247650"/>
          </a:xfrm>
          <a:prstGeom prst="rect">
            <a:avLst/>
          </a:prstGeom>
          <a:solidFill>
            <a:srgbClr val="0E8C8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724400" y="3867150"/>
            <a:ext cx="2400300" cy="247650"/>
          </a:xfrm>
          <a:prstGeom prst="rect">
            <a:avLst/>
          </a:prstGeom>
          <a:noFill/>
        </p:spPr>
        <p:txBody>
          <a:bodyPr wrap="square" lIns="28575" rIns="28575" tIns="9525" bIns="9525" anchor="ctr">
            <a:spAutoFit/>
          </a:bodyPr>
          <a:lstStyle/>
          <a:p>
            <a:pPr algn="l"/>
            <a:r>
              <a:rPr sz="1100" b="1">
                <a:solidFill>
                  <a:srgbClr val="FFFFFF"/>
                </a:solidFill>
                <a:latin typeface="Calibri"/>
              </a:rPr>
              <a:t>Effect on tier structure</a:t>
            </a:r>
          </a:p>
        </p:txBody>
      </p:sp>
      <p:sp>
        <p:nvSpPr>
          <p:cNvPr id="72" name="Rectangle 71"/>
          <p:cNvSpPr/>
          <p:nvPr/>
        </p:nvSpPr>
        <p:spPr>
          <a:xfrm>
            <a:off x="238125" y="41148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95275" y="411480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Entry barriers</a:t>
            </a:r>
          </a:p>
        </p:txBody>
      </p:sp>
      <p:sp>
        <p:nvSpPr>
          <p:cNvPr id="74" name="Rectangle 73"/>
          <p:cNvSpPr/>
          <p:nvPr/>
        </p:nvSpPr>
        <p:spPr>
          <a:xfrm>
            <a:off x="1666875" y="41148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724025" y="411480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Certification, qualification, scale economics</a:t>
            </a:r>
          </a:p>
        </p:txBody>
      </p:sp>
      <p:sp>
        <p:nvSpPr>
          <p:cNvPr id="76" name="Rectangle 75"/>
          <p:cNvSpPr/>
          <p:nvPr/>
        </p:nvSpPr>
        <p:spPr>
          <a:xfrm>
            <a:off x="4000500" y="41148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057650" y="411480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2 / 5</a:t>
            </a:r>
          </a:p>
        </p:txBody>
      </p:sp>
      <p:sp>
        <p:nvSpPr>
          <p:cNvPr id="78" name="Rectangle 77"/>
          <p:cNvSpPr/>
          <p:nvPr/>
        </p:nvSpPr>
        <p:spPr>
          <a:xfrm>
            <a:off x="4667250" y="41148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724400" y="411480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Protects Tier 1–2; slows new entry</a:t>
            </a:r>
          </a:p>
        </p:txBody>
      </p:sp>
      <p:sp>
        <p:nvSpPr>
          <p:cNvPr id="80" name="Rectangle 79"/>
          <p:cNvSpPr/>
          <p:nvPr/>
        </p:nvSpPr>
        <p:spPr>
          <a:xfrm>
            <a:off x="238125" y="45243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95275" y="452437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Buyer power</a:t>
            </a:r>
          </a:p>
        </p:txBody>
      </p:sp>
      <p:sp>
        <p:nvSpPr>
          <p:cNvPr id="82" name="Rectangle 81"/>
          <p:cNvSpPr/>
          <p:nvPr/>
        </p:nvSpPr>
        <p:spPr>
          <a:xfrm>
            <a:off x="1666875" y="45243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724025" y="4524375"/>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Key-account purchasing, multi-year supply contracts</a:t>
            </a:r>
          </a:p>
        </p:txBody>
      </p:sp>
      <p:sp>
        <p:nvSpPr>
          <p:cNvPr id="84" name="Rectangle 83"/>
          <p:cNvSpPr/>
          <p:nvPr/>
        </p:nvSpPr>
        <p:spPr>
          <a:xfrm>
            <a:off x="4000500" y="45243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057650" y="452437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4 / 5</a:t>
            </a:r>
          </a:p>
        </p:txBody>
      </p:sp>
      <p:sp>
        <p:nvSpPr>
          <p:cNvPr id="86" name="Rectangle 85"/>
          <p:cNvSpPr/>
          <p:nvPr/>
        </p:nvSpPr>
        <p:spPr>
          <a:xfrm>
            <a:off x="4667250" y="45243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724400" y="4524375"/>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Compresses Tier 3 pricing</a:t>
            </a:r>
          </a:p>
        </p:txBody>
      </p:sp>
      <p:sp>
        <p:nvSpPr>
          <p:cNvPr id="88" name="Rectangle 87"/>
          <p:cNvSpPr/>
          <p:nvPr/>
        </p:nvSpPr>
        <p:spPr>
          <a:xfrm>
            <a:off x="238125" y="493395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95275" y="493395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Switching costs</a:t>
            </a:r>
          </a:p>
        </p:txBody>
      </p:sp>
      <p:sp>
        <p:nvSpPr>
          <p:cNvPr id="90" name="Rectangle 89"/>
          <p:cNvSpPr/>
          <p:nvPr/>
        </p:nvSpPr>
        <p:spPr>
          <a:xfrm>
            <a:off x="1666875" y="493395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724025" y="493395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Requalification, integration and retraining</a:t>
            </a:r>
          </a:p>
        </p:txBody>
      </p:sp>
      <p:sp>
        <p:nvSpPr>
          <p:cNvPr id="92" name="Rectangle 91"/>
          <p:cNvSpPr/>
          <p:nvPr/>
        </p:nvSpPr>
        <p:spPr>
          <a:xfrm>
            <a:off x="4000500" y="493395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057650" y="493395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1 / 5</a:t>
            </a:r>
          </a:p>
        </p:txBody>
      </p:sp>
      <p:sp>
        <p:nvSpPr>
          <p:cNvPr id="94" name="Rectangle 93"/>
          <p:cNvSpPr/>
          <p:nvPr/>
        </p:nvSpPr>
        <p:spPr>
          <a:xfrm>
            <a:off x="4667250" y="493395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724400" y="493395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Locks in the installed base</a:t>
            </a:r>
          </a:p>
        </p:txBody>
      </p:sp>
      <p:sp>
        <p:nvSpPr>
          <p:cNvPr id="96" name="Rectangle 95"/>
          <p:cNvSpPr/>
          <p:nvPr/>
        </p:nvSpPr>
        <p:spPr>
          <a:xfrm>
            <a:off x="238125" y="534352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95275" y="534352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Technology substitution</a:t>
            </a:r>
          </a:p>
        </p:txBody>
      </p:sp>
      <p:sp>
        <p:nvSpPr>
          <p:cNvPr id="98" name="Rectangle 97"/>
          <p:cNvSpPr/>
          <p:nvPr/>
        </p:nvSpPr>
        <p:spPr>
          <a:xfrm>
            <a:off x="1666875" y="534352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724025" y="5343525"/>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Alternative materials and next-generation formats</a:t>
            </a:r>
          </a:p>
        </p:txBody>
      </p:sp>
      <p:sp>
        <p:nvSpPr>
          <p:cNvPr id="100" name="Rectangle 99"/>
          <p:cNvSpPr/>
          <p:nvPr/>
        </p:nvSpPr>
        <p:spPr>
          <a:xfrm>
            <a:off x="4000500" y="534352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057650" y="534352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4 / 5</a:t>
            </a:r>
          </a:p>
        </p:txBody>
      </p:sp>
      <p:sp>
        <p:nvSpPr>
          <p:cNvPr id="102" name="Rectangle 101"/>
          <p:cNvSpPr/>
          <p:nvPr/>
        </p:nvSpPr>
        <p:spPr>
          <a:xfrm>
            <a:off x="4667250" y="534352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4724400" y="5343525"/>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Opens demand to Tier 2–3 innovators</a:t>
            </a:r>
          </a:p>
        </p:txBody>
      </p:sp>
      <p:sp>
        <p:nvSpPr>
          <p:cNvPr id="104" name="Rectangle 103"/>
          <p:cNvSpPr/>
          <p:nvPr/>
        </p:nvSpPr>
        <p:spPr>
          <a:xfrm>
            <a:off x="238125" y="57531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95275" y="575310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Supplier power</a:t>
            </a:r>
          </a:p>
        </p:txBody>
      </p:sp>
      <p:sp>
        <p:nvSpPr>
          <p:cNvPr id="106" name="Rectangle 105"/>
          <p:cNvSpPr/>
          <p:nvPr/>
        </p:nvSpPr>
        <p:spPr>
          <a:xfrm>
            <a:off x="1666875" y="57531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724025" y="575310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Few qualified input and component suppliers</a:t>
            </a:r>
          </a:p>
        </p:txBody>
      </p:sp>
      <p:sp>
        <p:nvSpPr>
          <p:cNvPr id="108" name="Rectangle 107"/>
          <p:cNvSpPr/>
          <p:nvPr/>
        </p:nvSpPr>
        <p:spPr>
          <a:xfrm>
            <a:off x="4000500" y="57531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4057650" y="575310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4 / 5</a:t>
            </a:r>
          </a:p>
        </p:txBody>
      </p:sp>
      <p:sp>
        <p:nvSpPr>
          <p:cNvPr id="110" name="Rectangle 109"/>
          <p:cNvSpPr/>
          <p:nvPr/>
        </p:nvSpPr>
        <p:spPr>
          <a:xfrm>
            <a:off x="4667250" y="57531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4724400" y="575310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Raises input cost for sub-scale players</a:t>
            </a:r>
          </a:p>
        </p:txBody>
      </p:sp>
      <p:sp>
        <p:nvSpPr>
          <p:cNvPr id="112" name="Rectangle 111"/>
          <p:cNvSpPr/>
          <p:nvPr/>
        </p:nvSpPr>
        <p:spPr>
          <a:xfrm>
            <a:off x="238125" y="61626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95275" y="616267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Overall structural pressure</a:t>
            </a:r>
          </a:p>
        </p:txBody>
      </p:sp>
      <p:sp>
        <p:nvSpPr>
          <p:cNvPr id="114" name="Rectangle 113"/>
          <p:cNvSpPr/>
          <p:nvPr/>
        </p:nvSpPr>
        <p:spPr>
          <a:xfrm>
            <a:off x="1666875" y="61626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724025" y="6162675"/>
            <a:ext cx="2238375"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Average of the five forces</a:t>
            </a:r>
          </a:p>
        </p:txBody>
      </p:sp>
      <p:sp>
        <p:nvSpPr>
          <p:cNvPr id="116" name="Rectangle 115"/>
          <p:cNvSpPr/>
          <p:nvPr/>
        </p:nvSpPr>
        <p:spPr>
          <a:xfrm>
            <a:off x="4000500" y="61626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057650" y="616267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3.0 / 5</a:t>
            </a:r>
          </a:p>
        </p:txBody>
      </p:sp>
      <p:sp>
        <p:nvSpPr>
          <p:cNvPr id="118" name="Rectangle 117"/>
          <p:cNvSpPr/>
          <p:nvPr/>
        </p:nvSpPr>
        <p:spPr>
          <a:xfrm>
            <a:off x="4667250" y="61626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4724400" y="6162675"/>
            <a:ext cx="238125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Consolidation towards Tier 1–2</a:t>
            </a:r>
          </a:p>
        </p:txBody>
      </p:sp>
      <p:sp>
        <p:nvSpPr>
          <p:cNvPr id="120" name="Rounded Rectangle 119"/>
          <p:cNvSpPr/>
          <p:nvPr/>
        </p:nvSpPr>
        <p:spPr>
          <a:xfrm>
            <a:off x="7381875" y="3543300"/>
            <a:ext cx="4667250" cy="3086100"/>
          </a:xfrm>
          <a:prstGeom prst="roundRect">
            <a:avLst>
              <a:gd name="adj" fmla="val 163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7477125" y="3600450"/>
            <a:ext cx="4476750" cy="209550"/>
          </a:xfrm>
          <a:prstGeom prst="rect">
            <a:avLst/>
          </a:prstGeom>
          <a:noFill/>
        </p:spPr>
        <p:txBody>
          <a:bodyPr wrap="square" lIns="28575" rIns="28575" tIns="9525" bIns="9525" anchor="ctr">
            <a:spAutoFit/>
          </a:bodyPr>
          <a:lstStyle/>
          <a:p>
            <a:pPr algn="l"/>
            <a:r>
              <a:rPr sz="1200" b="1">
                <a:solidFill>
                  <a:srgbClr val="2E2E2E"/>
                </a:solidFill>
                <a:latin typeface="Calibri"/>
              </a:rPr>
              <a:t>Key Takeaways</a:t>
            </a:r>
          </a:p>
        </p:txBody>
      </p:sp>
      <p:sp>
        <p:nvSpPr>
          <p:cNvPr id="122" name="TextBox 121"/>
          <p:cNvSpPr txBox="1"/>
          <p:nvPr/>
        </p:nvSpPr>
        <p:spPr>
          <a:xfrm>
            <a:off x="7496175" y="384810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3" name="TextBox 122"/>
          <p:cNvSpPr txBox="1"/>
          <p:nvPr/>
        </p:nvSpPr>
        <p:spPr>
          <a:xfrm>
            <a:off x="7629525" y="3848100"/>
            <a:ext cx="4305300" cy="69532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124" name="TextBox 123"/>
          <p:cNvSpPr txBox="1"/>
          <p:nvPr/>
        </p:nvSpPr>
        <p:spPr>
          <a:xfrm>
            <a:off x="7496175" y="4429125"/>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5" name="TextBox 124"/>
          <p:cNvSpPr txBox="1"/>
          <p:nvPr/>
        </p:nvSpPr>
        <p:spPr>
          <a:xfrm>
            <a:off x="7629525" y="4429125"/>
            <a:ext cx="4305300" cy="69532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1 Tier 2 player is positioned to move up-tier by 2036 through M&amp;A and key-account wins – the main structural change of the decade.</a:t>
            </a:r>
          </a:p>
        </p:txBody>
      </p:sp>
      <p:sp>
        <p:nvSpPr>
          <p:cNvPr id="126" name="TextBox 125"/>
          <p:cNvSpPr txBox="1"/>
          <p:nvPr/>
        </p:nvSpPr>
        <p:spPr>
          <a:xfrm>
            <a:off x="7496175" y="50101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7" name="TextBox 126"/>
          <p:cNvSpPr txBox="1"/>
          <p:nvPr/>
        </p:nvSpPr>
        <p:spPr>
          <a:xfrm>
            <a:off x="7629525" y="5010150"/>
            <a:ext cx="4305300"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128" name="TextBox 127"/>
          <p:cNvSpPr txBox="1"/>
          <p:nvPr/>
        </p:nvSpPr>
        <p:spPr>
          <a:xfrm>
            <a:off x="7496175" y="54292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9" name="TextBox 128"/>
          <p:cNvSpPr txBox="1"/>
          <p:nvPr/>
        </p:nvSpPr>
        <p:spPr>
          <a:xfrm>
            <a:off x="7629525" y="5429250"/>
            <a:ext cx="4305300"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Buyer power (4 / 5) and technology substitution (4 / 5) are the dominant forces shaping the tier structure.</a:t>
            </a:r>
          </a:p>
        </p:txBody>
      </p:sp>
      <p:sp>
        <p:nvSpPr>
          <p:cNvPr id="130" name="TextBox 1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31" name="Picture 130" descr="lock.png"/>
          <p:cNvPicPr>
            <a:picLocks noChangeAspect="1"/>
          </p:cNvPicPr>
          <p:nvPr/>
        </p:nvPicPr>
        <p:blipFill>
          <a:blip r:embed="rId4"/>
          <a:stretch>
            <a:fillRect/>
          </a:stretch>
        </p:blipFill>
        <p:spPr>
          <a:xfrm>
            <a:off x="604726" y="2545080"/>
            <a:ext cx="257397" cy="374396"/>
          </a:xfrm>
          <a:prstGeom prst="rect">
            <a:avLst/>
          </a:prstGeom>
        </p:spPr>
      </p:pic>
      <p:pic>
        <p:nvPicPr>
          <p:cNvPr id="132" name="Picture 131" descr="lock.png"/>
          <p:cNvPicPr>
            <a:picLocks noChangeAspect="1"/>
          </p:cNvPicPr>
          <p:nvPr/>
        </p:nvPicPr>
        <p:blipFill>
          <a:blip r:embed="rId4"/>
          <a:stretch>
            <a:fillRect/>
          </a:stretch>
        </p:blipFill>
        <p:spPr>
          <a:xfrm>
            <a:off x="3557476" y="2545080"/>
            <a:ext cx="257397" cy="374396"/>
          </a:xfrm>
          <a:prstGeom prst="rect">
            <a:avLst/>
          </a:prstGeom>
        </p:spPr>
      </p:pic>
      <p:pic>
        <p:nvPicPr>
          <p:cNvPr id="133" name="Picture 132" descr="lock.png"/>
          <p:cNvPicPr>
            <a:picLocks noChangeAspect="1"/>
          </p:cNvPicPr>
          <p:nvPr/>
        </p:nvPicPr>
        <p:blipFill>
          <a:blip r:embed="rId4"/>
          <a:stretch>
            <a:fillRect/>
          </a:stretch>
        </p:blipFill>
        <p:spPr>
          <a:xfrm>
            <a:off x="6510226" y="2545080"/>
            <a:ext cx="257397" cy="374396"/>
          </a:xfrm>
          <a:prstGeom prst="rect">
            <a:avLst/>
          </a:prstGeom>
        </p:spPr>
      </p:pic>
      <p:pic>
        <p:nvPicPr>
          <p:cNvPr id="134" name="Picture 133" descr="lock.png"/>
          <p:cNvPicPr>
            <a:picLocks noChangeAspect="1"/>
          </p:cNvPicPr>
          <p:nvPr/>
        </p:nvPicPr>
        <p:blipFill>
          <a:blip r:embed="rId4"/>
          <a:stretch>
            <a:fillRect/>
          </a:stretch>
        </p:blipFill>
        <p:spPr>
          <a:xfrm>
            <a:off x="9462976" y="2545080"/>
            <a:ext cx="257397" cy="374396"/>
          </a:xfrm>
          <a:prstGeom prst="rect">
            <a:avLst/>
          </a:prstGeom>
        </p:spPr>
      </p:pic>
      <p:sp>
        <p:nvSpPr>
          <p:cNvPr id="135" name="TextBox 134"/>
          <p:cNvSpPr txBox="1"/>
          <p:nvPr/>
        </p:nvSpPr>
        <p:spPr>
          <a:xfrm>
            <a:off x="547018" y="1870710"/>
            <a:ext cx="929133" cy="186689"/>
          </a:xfrm>
          <a:prstGeom prst="rect">
            <a:avLst/>
          </a:prstGeom>
          <a:noFill/>
        </p:spPr>
        <p:txBody>
          <a:bodyPr wrap="none" lIns="0" rIns="0" tIns="0" bIns="0">
            <a:spAutoFit/>
          </a:bodyPr>
          <a:lstStyle/>
          <a:p>
            <a:r>
              <a:rPr sz="1100" b="1">
                <a:solidFill>
                  <a:srgbClr val="FFFFFF"/>
                </a:solidFill>
                <a:latin typeface="Calibri"/>
              </a:rPr>
              <a:t>4 → 5 players ·</a:t>
            </a:r>
          </a:p>
        </p:txBody>
      </p:sp>
      <p:pic>
        <p:nvPicPr>
          <p:cNvPr id="136" name="Picture 135" descr="lock.png"/>
          <p:cNvPicPr>
            <a:picLocks noChangeAspect="1"/>
          </p:cNvPicPr>
          <p:nvPr/>
        </p:nvPicPr>
        <p:blipFill>
          <a:blip r:embed="rId4"/>
          <a:stretch>
            <a:fillRect/>
          </a:stretch>
        </p:blipFill>
        <p:spPr>
          <a:xfrm>
            <a:off x="1424204" y="1860931"/>
            <a:ext cx="128699" cy="187198"/>
          </a:xfrm>
          <a:prstGeom prst="rect">
            <a:avLst/>
          </a:prstGeom>
        </p:spPr>
      </p:pic>
      <p:sp>
        <p:nvSpPr>
          <p:cNvPr id="137" name="TextBox 136"/>
          <p:cNvSpPr txBox="1"/>
          <p:nvPr/>
        </p:nvSpPr>
        <p:spPr>
          <a:xfrm>
            <a:off x="159169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38" name="Picture 137" descr="lock.png"/>
          <p:cNvPicPr>
            <a:picLocks noChangeAspect="1"/>
          </p:cNvPicPr>
          <p:nvPr/>
        </p:nvPicPr>
        <p:blipFill>
          <a:blip r:embed="rId4"/>
          <a:stretch>
            <a:fillRect/>
          </a:stretch>
        </p:blipFill>
        <p:spPr>
          <a:xfrm>
            <a:off x="1742554" y="1860931"/>
            <a:ext cx="128699" cy="187198"/>
          </a:xfrm>
          <a:prstGeom prst="rect">
            <a:avLst/>
          </a:prstGeom>
        </p:spPr>
      </p:pic>
      <p:sp>
        <p:nvSpPr>
          <p:cNvPr id="139" name="TextBox 138"/>
          <p:cNvSpPr txBox="1"/>
          <p:nvPr/>
        </p:nvSpPr>
        <p:spPr>
          <a:xfrm>
            <a:off x="104978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40" name="TextBox 139"/>
          <p:cNvSpPr txBox="1"/>
          <p:nvPr/>
        </p:nvSpPr>
        <p:spPr>
          <a:xfrm>
            <a:off x="3804568" y="1870710"/>
            <a:ext cx="929133" cy="186689"/>
          </a:xfrm>
          <a:prstGeom prst="rect">
            <a:avLst/>
          </a:prstGeom>
          <a:noFill/>
        </p:spPr>
        <p:txBody>
          <a:bodyPr wrap="none" lIns="0" rIns="0" tIns="0" bIns="0">
            <a:spAutoFit/>
          </a:bodyPr>
          <a:lstStyle/>
          <a:p>
            <a:r>
              <a:rPr sz="1100" b="1">
                <a:solidFill>
                  <a:srgbClr val="FFFFFF"/>
                </a:solidFill>
                <a:latin typeface="Calibri"/>
              </a:rPr>
              <a:t>2 → 2 players ·</a:t>
            </a:r>
          </a:p>
        </p:txBody>
      </p:sp>
      <p:pic>
        <p:nvPicPr>
          <p:cNvPr id="141" name="Picture 140" descr="lock.png"/>
          <p:cNvPicPr>
            <a:picLocks noChangeAspect="1"/>
          </p:cNvPicPr>
          <p:nvPr/>
        </p:nvPicPr>
        <p:blipFill>
          <a:blip r:embed="rId4"/>
          <a:stretch>
            <a:fillRect/>
          </a:stretch>
        </p:blipFill>
        <p:spPr>
          <a:xfrm>
            <a:off x="4681754" y="1860931"/>
            <a:ext cx="128699" cy="187198"/>
          </a:xfrm>
          <a:prstGeom prst="rect">
            <a:avLst/>
          </a:prstGeom>
        </p:spPr>
      </p:pic>
      <p:sp>
        <p:nvSpPr>
          <p:cNvPr id="142" name="TextBox 141"/>
          <p:cNvSpPr txBox="1"/>
          <p:nvPr/>
        </p:nvSpPr>
        <p:spPr>
          <a:xfrm>
            <a:off x="484924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43" name="Picture 142" descr="lock.png"/>
          <p:cNvPicPr>
            <a:picLocks noChangeAspect="1"/>
          </p:cNvPicPr>
          <p:nvPr/>
        </p:nvPicPr>
        <p:blipFill>
          <a:blip r:embed="rId4"/>
          <a:stretch>
            <a:fillRect/>
          </a:stretch>
        </p:blipFill>
        <p:spPr>
          <a:xfrm>
            <a:off x="5000104" y="1860931"/>
            <a:ext cx="128699" cy="187198"/>
          </a:xfrm>
          <a:prstGeom prst="rect">
            <a:avLst/>
          </a:prstGeom>
        </p:spPr>
      </p:pic>
      <p:sp>
        <p:nvSpPr>
          <p:cNvPr id="144" name="TextBox 143"/>
          <p:cNvSpPr txBox="1"/>
          <p:nvPr/>
        </p:nvSpPr>
        <p:spPr>
          <a:xfrm>
            <a:off x="430733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45" name="TextBox 144"/>
          <p:cNvSpPr txBox="1"/>
          <p:nvPr/>
        </p:nvSpPr>
        <p:spPr>
          <a:xfrm>
            <a:off x="7062118" y="1870710"/>
            <a:ext cx="929133" cy="186689"/>
          </a:xfrm>
          <a:prstGeom prst="rect">
            <a:avLst/>
          </a:prstGeom>
          <a:noFill/>
        </p:spPr>
        <p:txBody>
          <a:bodyPr wrap="none" lIns="0" rIns="0" tIns="0" bIns="0">
            <a:spAutoFit/>
          </a:bodyPr>
          <a:lstStyle/>
          <a:p>
            <a:r>
              <a:rPr sz="1100" b="1">
                <a:solidFill>
                  <a:srgbClr val="FFFFFF"/>
                </a:solidFill>
                <a:latin typeface="Calibri"/>
              </a:rPr>
              <a:t>4 → 4 players ·</a:t>
            </a:r>
          </a:p>
        </p:txBody>
      </p:sp>
      <p:pic>
        <p:nvPicPr>
          <p:cNvPr id="146" name="Picture 145" descr="lock.png"/>
          <p:cNvPicPr>
            <a:picLocks noChangeAspect="1"/>
          </p:cNvPicPr>
          <p:nvPr/>
        </p:nvPicPr>
        <p:blipFill>
          <a:blip r:embed="rId4"/>
          <a:stretch>
            <a:fillRect/>
          </a:stretch>
        </p:blipFill>
        <p:spPr>
          <a:xfrm>
            <a:off x="7939304" y="1860931"/>
            <a:ext cx="128699" cy="187198"/>
          </a:xfrm>
          <a:prstGeom prst="rect">
            <a:avLst/>
          </a:prstGeom>
        </p:spPr>
      </p:pic>
      <p:sp>
        <p:nvSpPr>
          <p:cNvPr id="147" name="TextBox 146"/>
          <p:cNvSpPr txBox="1"/>
          <p:nvPr/>
        </p:nvSpPr>
        <p:spPr>
          <a:xfrm>
            <a:off x="810679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48" name="Picture 147" descr="lock.png"/>
          <p:cNvPicPr>
            <a:picLocks noChangeAspect="1"/>
          </p:cNvPicPr>
          <p:nvPr/>
        </p:nvPicPr>
        <p:blipFill>
          <a:blip r:embed="rId4"/>
          <a:stretch>
            <a:fillRect/>
          </a:stretch>
        </p:blipFill>
        <p:spPr>
          <a:xfrm>
            <a:off x="8257654" y="1860931"/>
            <a:ext cx="128699" cy="187198"/>
          </a:xfrm>
          <a:prstGeom prst="rect">
            <a:avLst/>
          </a:prstGeom>
        </p:spPr>
      </p:pic>
      <p:sp>
        <p:nvSpPr>
          <p:cNvPr id="149" name="TextBox 148"/>
          <p:cNvSpPr txBox="1"/>
          <p:nvPr/>
        </p:nvSpPr>
        <p:spPr>
          <a:xfrm>
            <a:off x="756488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50" name="TextBox 149"/>
          <p:cNvSpPr txBox="1"/>
          <p:nvPr/>
        </p:nvSpPr>
        <p:spPr>
          <a:xfrm>
            <a:off x="10286075" y="1954530"/>
            <a:ext cx="638819" cy="186689"/>
          </a:xfrm>
          <a:prstGeom prst="rect">
            <a:avLst/>
          </a:prstGeom>
          <a:noFill/>
        </p:spPr>
        <p:txBody>
          <a:bodyPr wrap="none" lIns="0" rIns="0" tIns="0" bIns="0">
            <a:spAutoFit/>
          </a:bodyPr>
          <a:lstStyle/>
          <a:p>
            <a:r>
              <a:rPr sz="1100" b="1">
                <a:solidFill>
                  <a:srgbClr val="14213D"/>
                </a:solidFill>
                <a:latin typeface="Calibri"/>
              </a:rPr>
              <a:t>Long tail ·</a:t>
            </a:r>
          </a:p>
        </p:txBody>
      </p:sp>
      <p:pic>
        <p:nvPicPr>
          <p:cNvPr id="151" name="Picture 150" descr="lock.png"/>
          <p:cNvPicPr>
            <a:picLocks noChangeAspect="1"/>
          </p:cNvPicPr>
          <p:nvPr/>
        </p:nvPicPr>
        <p:blipFill>
          <a:blip r:embed="rId4"/>
          <a:stretch>
            <a:fillRect/>
          </a:stretch>
        </p:blipFill>
        <p:spPr>
          <a:xfrm>
            <a:off x="10872946" y="1944751"/>
            <a:ext cx="128699" cy="187198"/>
          </a:xfrm>
          <a:prstGeom prst="rect">
            <a:avLst/>
          </a:prstGeom>
        </p:spPr>
      </p:pic>
      <p:sp>
        <p:nvSpPr>
          <p:cNvPr id="152" name="TextBox 151"/>
          <p:cNvSpPr txBox="1"/>
          <p:nvPr/>
        </p:nvSpPr>
        <p:spPr>
          <a:xfrm>
            <a:off x="11040442" y="1954530"/>
            <a:ext cx="202803" cy="186689"/>
          </a:xfrm>
          <a:prstGeom prst="rect">
            <a:avLst/>
          </a:prstGeom>
          <a:noFill/>
        </p:spPr>
        <p:txBody>
          <a:bodyPr wrap="none" lIns="0" rIns="0" tIns="0" bIns="0">
            <a:spAutoFit/>
          </a:bodyPr>
          <a:lstStyle/>
          <a:p>
            <a:r>
              <a:rPr sz="1100" b="1">
                <a:solidFill>
                  <a:srgbClr val="14213D"/>
                </a:solidFill>
                <a:latin typeface="Calibri"/>
              </a:rPr>
              <a:t>→</a:t>
            </a:r>
          </a:p>
        </p:txBody>
      </p:sp>
      <p:pic>
        <p:nvPicPr>
          <p:cNvPr id="153" name="Picture 152" descr="lock.png"/>
          <p:cNvPicPr>
            <a:picLocks noChangeAspect="1"/>
          </p:cNvPicPr>
          <p:nvPr/>
        </p:nvPicPr>
        <p:blipFill>
          <a:blip r:embed="rId4"/>
          <a:stretch>
            <a:fillRect/>
          </a:stretch>
        </p:blipFill>
        <p:spPr>
          <a:xfrm>
            <a:off x="11191297" y="1944751"/>
            <a:ext cx="128699" cy="187198"/>
          </a:xfrm>
          <a:prstGeom prst="rect">
            <a:avLst/>
          </a:prstGeom>
        </p:spPr>
      </p:pic>
      <p:sp>
        <p:nvSpPr>
          <p:cNvPr id="154" name="TextBox 153"/>
          <p:cNvSpPr txBox="1"/>
          <p:nvPr/>
        </p:nvSpPr>
        <p:spPr>
          <a:xfrm>
            <a:off x="11358792" y="1954530"/>
            <a:ext cx="395982" cy="186689"/>
          </a:xfrm>
          <a:prstGeom prst="rect">
            <a:avLst/>
          </a:prstGeom>
          <a:noFill/>
        </p:spPr>
        <p:txBody>
          <a:bodyPr wrap="none" lIns="0" rIns="0" tIns="0" bIns="0">
            <a:spAutoFit/>
          </a:bodyPr>
          <a:lstStyle/>
          <a:p>
            <a:r>
              <a:rPr sz="1100" b="1">
                <a:solidFill>
                  <a:srgbClr val="14213D"/>
                </a:solidFill>
                <a:latin typeface="Calibri"/>
              </a:rPr>
              <a:t>share</a:t>
            </a:r>
          </a:p>
        </p:txBody>
      </p:sp>
      <p:sp>
        <p:nvSpPr>
          <p:cNvPr id="155" name="TextBox 154"/>
          <p:cNvSpPr txBox="1"/>
          <p:nvPr/>
        </p:nvSpPr>
        <p:spPr>
          <a:xfrm>
            <a:off x="7658100" y="3857625"/>
            <a:ext cx="1828179" cy="186689"/>
          </a:xfrm>
          <a:prstGeom prst="rect">
            <a:avLst/>
          </a:prstGeom>
          <a:noFill/>
        </p:spPr>
        <p:txBody>
          <a:bodyPr wrap="none" lIns="0" rIns="0" tIns="0" bIns="0">
            <a:spAutoFit/>
          </a:bodyPr>
          <a:lstStyle/>
          <a:p>
            <a:r>
              <a:rPr sz="1100" b="0">
                <a:solidFill>
                  <a:srgbClr val="14213D"/>
                </a:solidFill>
                <a:latin typeface="Calibri"/>
              </a:rPr>
              <a:t>The market is fragmented (HHI</a:t>
            </a:r>
          </a:p>
        </p:txBody>
      </p:sp>
      <p:pic>
        <p:nvPicPr>
          <p:cNvPr id="156" name="Picture 155" descr="lock.png"/>
          <p:cNvPicPr>
            <a:picLocks noChangeAspect="1"/>
          </p:cNvPicPr>
          <p:nvPr/>
        </p:nvPicPr>
        <p:blipFill>
          <a:blip r:embed="rId4"/>
          <a:stretch>
            <a:fillRect/>
          </a:stretch>
        </p:blipFill>
        <p:spPr>
          <a:xfrm>
            <a:off x="9434331" y="3847846"/>
            <a:ext cx="128699" cy="187198"/>
          </a:xfrm>
          <a:prstGeom prst="rect">
            <a:avLst/>
          </a:prstGeom>
        </p:spPr>
      </p:pic>
      <p:sp>
        <p:nvSpPr>
          <p:cNvPr id="157" name="TextBox 156"/>
          <p:cNvSpPr txBox="1"/>
          <p:nvPr/>
        </p:nvSpPr>
        <p:spPr>
          <a:xfrm>
            <a:off x="9601827" y="3857625"/>
            <a:ext cx="2068562" cy="186689"/>
          </a:xfrm>
          <a:prstGeom prst="rect">
            <a:avLst/>
          </a:prstGeom>
          <a:noFill/>
        </p:spPr>
        <p:txBody>
          <a:bodyPr wrap="none" lIns="0" rIns="0" tIns="0" bIns="0">
            <a:spAutoFit/>
          </a:bodyPr>
          <a:lstStyle/>
          <a:p>
            <a:r>
              <a:rPr sz="1100" b="0">
                <a:solidFill>
                  <a:srgbClr val="14213D"/>
                </a:solidFill>
                <a:latin typeface="Calibri"/>
              </a:rPr>
              <a:t>); Tier 1 sets pricing and innovation</a:t>
            </a:r>
          </a:p>
        </p:txBody>
      </p:sp>
      <p:sp>
        <p:nvSpPr>
          <p:cNvPr id="158" name="TextBox 157"/>
          <p:cNvSpPr txBox="1"/>
          <p:nvPr/>
        </p:nvSpPr>
        <p:spPr>
          <a:xfrm>
            <a:off x="7658100" y="4025265"/>
            <a:ext cx="2124769" cy="186689"/>
          </a:xfrm>
          <a:prstGeom prst="rect">
            <a:avLst/>
          </a:prstGeom>
          <a:noFill/>
        </p:spPr>
        <p:txBody>
          <a:bodyPr wrap="none" lIns="0" rIns="0" tIns="0" bIns="0">
            <a:spAutoFit/>
          </a:bodyPr>
          <a:lstStyle/>
          <a:p>
            <a:r>
              <a:rPr sz="1100" b="0">
                <a:solidFill>
                  <a:srgbClr val="14213D"/>
                </a:solidFill>
                <a:latin typeface="Calibri"/>
              </a:rPr>
              <a:t>benchmarks and is expected to hold</a:t>
            </a:r>
          </a:p>
        </p:txBody>
      </p:sp>
      <p:pic>
        <p:nvPicPr>
          <p:cNvPr id="159" name="Picture 158" descr="lock.png"/>
          <p:cNvPicPr>
            <a:picLocks noChangeAspect="1"/>
          </p:cNvPicPr>
          <p:nvPr/>
        </p:nvPicPr>
        <p:blipFill>
          <a:blip r:embed="rId4"/>
          <a:stretch>
            <a:fillRect/>
          </a:stretch>
        </p:blipFill>
        <p:spPr>
          <a:xfrm>
            <a:off x="9730921" y="4015486"/>
            <a:ext cx="128699" cy="187198"/>
          </a:xfrm>
          <a:prstGeom prst="rect">
            <a:avLst/>
          </a:prstGeom>
        </p:spPr>
      </p:pic>
      <p:sp>
        <p:nvSpPr>
          <p:cNvPr id="160" name="TextBox 159"/>
          <p:cNvSpPr txBox="1"/>
          <p:nvPr/>
        </p:nvSpPr>
        <p:spPr>
          <a:xfrm>
            <a:off x="9898416" y="4025265"/>
            <a:ext cx="1016992" cy="186689"/>
          </a:xfrm>
          <a:prstGeom prst="rect">
            <a:avLst/>
          </a:prstGeom>
          <a:noFill/>
        </p:spPr>
        <p:txBody>
          <a:bodyPr wrap="none" lIns="0" rIns="0" tIns="0" bIns="0">
            <a:spAutoFit/>
          </a:bodyPr>
          <a:lstStyle/>
          <a:p>
            <a:r>
              <a:rPr sz="1100" b="0">
                <a:solidFill>
                  <a:srgbClr val="14213D"/>
                </a:solidFill>
                <a:latin typeface="Calibri"/>
              </a:rPr>
              <a:t>of value in 2036.</a:t>
            </a:r>
          </a:p>
        </p:txBody>
      </p:sp>
      <p:sp>
        <p:nvSpPr>
          <p:cNvPr id="161" name="TextBox 160"/>
          <p:cNvSpPr txBox="1"/>
          <p:nvPr/>
        </p:nvSpPr>
        <p:spPr>
          <a:xfrm>
            <a:off x="7658100" y="5019675"/>
            <a:ext cx="3471019" cy="186689"/>
          </a:xfrm>
          <a:prstGeom prst="rect">
            <a:avLst/>
          </a:prstGeom>
          <a:noFill/>
        </p:spPr>
        <p:txBody>
          <a:bodyPr wrap="none" lIns="0" rIns="0" tIns="0" bIns="0">
            <a:spAutoFit/>
          </a:bodyPr>
          <a:lstStyle/>
          <a:p>
            <a:r>
              <a:rPr sz="1100" b="0">
                <a:solidFill>
                  <a:srgbClr val="14213D"/>
                </a:solidFill>
                <a:latin typeface="Calibri"/>
              </a:rPr>
              <a:t>Tier 3 and the long tail face the highest structural pressure (</a:t>
            </a:r>
          </a:p>
        </p:txBody>
      </p:sp>
      <p:pic>
        <p:nvPicPr>
          <p:cNvPr id="162" name="Picture 161" descr="lock.png"/>
          <p:cNvPicPr>
            <a:picLocks noChangeAspect="1"/>
          </p:cNvPicPr>
          <p:nvPr/>
        </p:nvPicPr>
        <p:blipFill>
          <a:blip r:embed="rId4"/>
          <a:stretch>
            <a:fillRect/>
          </a:stretch>
        </p:blipFill>
        <p:spPr>
          <a:xfrm>
            <a:off x="11077170" y="5009895"/>
            <a:ext cx="128699" cy="187198"/>
          </a:xfrm>
          <a:prstGeom prst="rect">
            <a:avLst/>
          </a:prstGeom>
        </p:spPr>
      </p:pic>
      <p:sp>
        <p:nvSpPr>
          <p:cNvPr id="163" name="TextBox 162"/>
          <p:cNvSpPr txBox="1"/>
          <p:nvPr/>
        </p:nvSpPr>
        <p:spPr>
          <a:xfrm>
            <a:off x="11244666" y="5019675"/>
            <a:ext cx="415081" cy="186689"/>
          </a:xfrm>
          <a:prstGeom prst="rect">
            <a:avLst/>
          </a:prstGeom>
          <a:noFill/>
        </p:spPr>
        <p:txBody>
          <a:bodyPr wrap="none" lIns="0" rIns="0" tIns="0" bIns="0">
            <a:spAutoFit/>
          </a:bodyPr>
          <a:lstStyle/>
          <a:p>
            <a:r>
              <a:rPr sz="1100" b="0">
                <a:solidFill>
                  <a:srgbClr val="14213D"/>
                </a:solidFill>
                <a:latin typeface="Calibri"/>
              </a:rPr>
              <a:t>/ 5); 2</a:t>
            </a:r>
          </a:p>
        </p:txBody>
      </p:sp>
      <p:sp>
        <p:nvSpPr>
          <p:cNvPr id="164" name="TextBox 163"/>
          <p:cNvSpPr txBox="1"/>
          <p:nvPr/>
        </p:nvSpPr>
        <p:spPr>
          <a:xfrm>
            <a:off x="7658100" y="5187315"/>
            <a:ext cx="2541413" cy="186689"/>
          </a:xfrm>
          <a:prstGeom prst="rect">
            <a:avLst/>
          </a:prstGeom>
          <a:noFill/>
        </p:spPr>
        <p:txBody>
          <a:bodyPr wrap="none" lIns="0" rIns="0" tIns="0" bIns="0">
            <a:spAutoFit/>
          </a:bodyPr>
          <a:lstStyle/>
          <a:p>
            <a:r>
              <a:rPr sz="1100" b="0">
                <a:solidFill>
                  <a:srgbClr val="14213D"/>
                </a:solidFill>
                <a:latin typeface="Calibri"/>
              </a:rPr>
              <a:t>players are expected to exit or be acquired.</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Waterproof Coatings Market Competitive Dashboard View (2026)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Benchmarking of companies on portfolio, coverage, revenue, share, regional presence and strategy</a:t>
            </a:r>
          </a:p>
        </p:txBody>
      </p:sp>
      <p:sp>
        <p:nvSpPr>
          <p:cNvPr id="10" name="TextBox 9"/>
          <p:cNvSpPr txBox="1"/>
          <p:nvPr/>
        </p:nvSpPr>
        <p:spPr>
          <a:xfrm>
            <a:off x="285750" y="970754"/>
            <a:ext cx="10477500" cy="164283"/>
          </a:xfrm>
          <a:prstGeom prst="rect">
            <a:avLst/>
          </a:prstGeom>
          <a:noFill/>
        </p:spPr>
        <p:txBody>
          <a:bodyPr wrap="square" lIns="0" rIns="19050" tIns="0" bIns="0">
            <a:spAutoFit/>
          </a:bodyPr>
          <a:lstStyle/>
          <a:p>
            <a:pPr algn="l"/>
            <a:r>
              <a:rPr sz="1100" b="0">
                <a:solidFill>
                  <a:srgbClr val="6C7A89"/>
                </a:solidFill>
                <a:latin typeface="Calibri"/>
              </a:rPr>
              <a:t>Intensified competition across the leading players portfolio, revenue, share, regional presence and strategy.  All figures 2026.</a:t>
            </a:r>
          </a:p>
        </p:txBody>
      </p:sp>
      <p:sp>
        <p:nvSpPr>
          <p:cNvPr id="11" name="Rounded Rectangle 10"/>
          <p:cNvSpPr/>
          <p:nvPr/>
        </p:nvSpPr>
        <p:spPr>
          <a:xfrm>
            <a:off x="133350" y="1153291"/>
            <a:ext cx="11925300" cy="4563424"/>
          </a:xfrm>
          <a:prstGeom prst="roundRect">
            <a:avLst>
              <a:gd name="adj" fmla="val 16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33350" y="1171544"/>
            <a:ext cx="11925300" cy="365074"/>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33350" y="1171544"/>
            <a:ext cx="1143000" cy="4526917"/>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33350" y="1536618"/>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33350" y="179217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33350" y="263184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3350" y="2960407"/>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33350" y="3288973"/>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33350" y="4055629"/>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33350" y="5041328"/>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333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20586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2954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3717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4480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52437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007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6770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7533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82967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9060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9823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20586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33350" y="5698461"/>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71450" y="1536618"/>
            <a:ext cx="1085850" cy="255552"/>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Company / Brand</a:t>
            </a:r>
          </a:p>
        </p:txBody>
      </p:sp>
      <p:sp>
        <p:nvSpPr>
          <p:cNvPr id="36" name="TextBox 35"/>
          <p:cNvSpPr txBox="1"/>
          <p:nvPr/>
        </p:nvSpPr>
        <p:spPr>
          <a:xfrm>
            <a:off x="171450" y="1792170"/>
            <a:ext cx="1085850" cy="839670"/>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Product Portfolio</a:t>
            </a:r>
          </a:p>
        </p:txBody>
      </p:sp>
      <p:sp>
        <p:nvSpPr>
          <p:cNvPr id="37" name="TextBox 36"/>
          <p:cNvSpPr txBox="1"/>
          <p:nvPr/>
        </p:nvSpPr>
        <p:spPr>
          <a:xfrm>
            <a:off x="171450" y="2631840"/>
            <a:ext cx="1085850" cy="328567"/>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Overall Rev (US$ Mn)</a:t>
            </a:r>
          </a:p>
        </p:txBody>
      </p:sp>
      <p:sp>
        <p:nvSpPr>
          <p:cNvPr id="38" name="TextBox 37"/>
          <p:cNvSpPr txBox="1"/>
          <p:nvPr/>
        </p:nvSpPr>
        <p:spPr>
          <a:xfrm>
            <a:off x="171450" y="2960407"/>
            <a:ext cx="1085850" cy="328567"/>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Target Rev (US$ Mn)</a:t>
            </a:r>
          </a:p>
        </p:txBody>
      </p:sp>
      <p:sp>
        <p:nvSpPr>
          <p:cNvPr id="39" name="TextBox 38"/>
          <p:cNvSpPr txBox="1"/>
          <p:nvPr/>
        </p:nvSpPr>
        <p:spPr>
          <a:xfrm>
            <a:off x="171450" y="3288973"/>
            <a:ext cx="1085850" cy="766655"/>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Market Share (%)</a:t>
            </a:r>
          </a:p>
        </p:txBody>
      </p:sp>
      <p:sp>
        <p:nvSpPr>
          <p:cNvPr id="40" name="TextBox 39"/>
          <p:cNvSpPr txBox="1"/>
          <p:nvPr/>
        </p:nvSpPr>
        <p:spPr>
          <a:xfrm>
            <a:off x="171450" y="4055629"/>
            <a:ext cx="1085850" cy="985700"/>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Regional Presence</a:t>
            </a:r>
          </a:p>
        </p:txBody>
      </p:sp>
      <p:sp>
        <p:nvSpPr>
          <p:cNvPr id="41" name="TextBox 40"/>
          <p:cNvSpPr txBox="1"/>
          <p:nvPr/>
        </p:nvSpPr>
        <p:spPr>
          <a:xfrm>
            <a:off x="171450" y="5041328"/>
            <a:ext cx="1085850" cy="657133"/>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Strategies</a:t>
            </a:r>
          </a:p>
        </p:txBody>
      </p:sp>
      <p:sp>
        <p:nvSpPr>
          <p:cNvPr id="42" name="TextBox 41"/>
          <p:cNvSpPr txBox="1"/>
          <p:nvPr/>
        </p:nvSpPr>
        <p:spPr>
          <a:xfrm>
            <a:off x="13239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Sika</a:t>
            </a:r>
          </a:p>
        </p:txBody>
      </p:sp>
      <p:cxnSp>
        <p:nvCxnSpPr>
          <p:cNvPr id="43" name="Connector 42"/>
          <p:cNvCxnSpPr/>
          <p:nvPr/>
        </p:nvCxnSpPr>
        <p:spPr>
          <a:xfrm>
            <a:off x="160496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3239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A</a:t>
            </a:r>
          </a:p>
        </p:txBody>
      </p:sp>
      <p:sp>
        <p:nvSpPr>
          <p:cNvPr id="45" name="TextBox 44"/>
          <p:cNvSpPr txBox="1"/>
          <p:nvPr/>
        </p:nvSpPr>
        <p:spPr>
          <a:xfrm>
            <a:off x="13144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46" name="TextBox 45"/>
          <p:cNvSpPr txBox="1"/>
          <p:nvPr/>
        </p:nvSpPr>
        <p:spPr>
          <a:xfrm>
            <a:off x="131445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47" name="Rectangle 46"/>
          <p:cNvSpPr/>
          <p:nvPr/>
        </p:nvSpPr>
        <p:spPr>
          <a:xfrm>
            <a:off x="16049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7764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9478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3239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51" name="TextBox 50"/>
          <p:cNvSpPr txBox="1"/>
          <p:nvPr/>
        </p:nvSpPr>
        <p:spPr>
          <a:xfrm>
            <a:off x="13239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52" name="Oval 51"/>
          <p:cNvSpPr/>
          <p:nvPr/>
        </p:nvSpPr>
        <p:spPr>
          <a:xfrm>
            <a:off x="15859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1828800" y="3416749"/>
            <a:ext cx="209550" cy="237298"/>
          </a:xfrm>
          <a:custGeom>
            <a:avLst/>
            <a:gdLst/>
            <a:ahLst/>
            <a:cxnLst/>
            <a:rect l="l" t="t" r="r" b="b"/>
            <a:pathLst>
              <a:path w="22" h="26">
                <a:moveTo>
                  <a:pt x="0" y="26"/>
                </a:moveTo>
                <a:lnTo>
                  <a:pt x="0" y="0"/>
                </a:lnTo>
                <a:lnTo>
                  <a:pt x="4" y="0"/>
                </a:lnTo>
                <a:lnTo>
                  <a:pt x="8" y="1"/>
                </a:lnTo>
                <a:lnTo>
                  <a:pt x="11" y="2"/>
                </a:lnTo>
                <a:lnTo>
                  <a:pt x="14" y="4"/>
                </a:lnTo>
                <a:lnTo>
                  <a:pt x="17" y="6"/>
                </a:lnTo>
                <a:lnTo>
                  <a:pt x="20" y="8"/>
                </a:lnTo>
                <a:lnTo>
                  <a:pt x="22" y="11"/>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69487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585912" y="3590159"/>
            <a:ext cx="495300" cy="127776"/>
          </a:xfrm>
          <a:prstGeom prst="rect">
            <a:avLst/>
          </a:prstGeom>
          <a:noFill/>
        </p:spPr>
        <p:txBody>
          <a:bodyPr wrap="square" lIns="28575" rIns="28575" tIns="9525" bIns="9525" anchor="ctr">
            <a:spAutoFit/>
          </a:bodyPr>
          <a:lstStyle/>
          <a:p>
            <a:pPr algn="ctr"/>
            <a:r>
              <a:rPr sz="1100" b="1">
                <a:solidFill>
                  <a:srgbClr val="0B2E4A"/>
                </a:solidFill>
                <a:latin typeface="Calibri"/>
              </a:rPr>
              <a:t> </a:t>
            </a:r>
          </a:p>
        </p:txBody>
      </p:sp>
      <p:sp>
        <p:nvSpPr>
          <p:cNvPr id="56" name="TextBox 55"/>
          <p:cNvSpPr txBox="1"/>
          <p:nvPr/>
        </p:nvSpPr>
        <p:spPr>
          <a:xfrm>
            <a:off x="13430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North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9AA3A8"/>
                </a:solidFill>
                <a:latin typeface="Calibri"/>
              </a:rPr>
              <a:t>▲</a:t>
            </a:r>
          </a:p>
        </p:txBody>
      </p:sp>
      <p:sp>
        <p:nvSpPr>
          <p:cNvPr id="57" name="Oval 56"/>
          <p:cNvSpPr/>
          <p:nvPr/>
        </p:nvSpPr>
        <p:spPr>
          <a:xfrm>
            <a:off x="14287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4287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59" name="Oval 58"/>
          <p:cNvSpPr/>
          <p:nvPr/>
        </p:nvSpPr>
        <p:spPr>
          <a:xfrm>
            <a:off x="16383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6383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61" name="Oval 60"/>
          <p:cNvSpPr/>
          <p:nvPr/>
        </p:nvSpPr>
        <p:spPr>
          <a:xfrm>
            <a:off x="18478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8478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63" name="Oval 62"/>
          <p:cNvSpPr/>
          <p:nvPr/>
        </p:nvSpPr>
        <p:spPr>
          <a:xfrm>
            <a:off x="20574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0574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65" name="Oval 64"/>
          <p:cNvSpPr/>
          <p:nvPr/>
        </p:nvSpPr>
        <p:spPr>
          <a:xfrm>
            <a:off x="15335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5335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67" name="Oval 66"/>
          <p:cNvSpPr/>
          <p:nvPr/>
        </p:nvSpPr>
        <p:spPr>
          <a:xfrm>
            <a:off x="17430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7430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69" name="Oval 68"/>
          <p:cNvSpPr/>
          <p:nvPr/>
        </p:nvSpPr>
        <p:spPr>
          <a:xfrm>
            <a:off x="19526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9526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71" name="TextBox 70"/>
          <p:cNvSpPr txBox="1"/>
          <p:nvPr/>
        </p:nvSpPr>
        <p:spPr>
          <a:xfrm>
            <a:off x="24003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The Sherwin-Williams</a:t>
            </a:r>
          </a:p>
        </p:txBody>
      </p:sp>
      <p:cxnSp>
        <p:nvCxnSpPr>
          <p:cNvPr id="72" name="Connector 71"/>
          <p:cNvCxnSpPr/>
          <p:nvPr/>
        </p:nvCxnSpPr>
        <p:spPr>
          <a:xfrm>
            <a:off x="268128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24003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B</a:t>
            </a:r>
          </a:p>
        </p:txBody>
      </p:sp>
      <p:sp>
        <p:nvSpPr>
          <p:cNvPr id="74" name="TextBox 73"/>
          <p:cNvSpPr txBox="1"/>
          <p:nvPr/>
        </p:nvSpPr>
        <p:spPr>
          <a:xfrm>
            <a:off x="23907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75" name="TextBox 74"/>
          <p:cNvSpPr txBox="1"/>
          <p:nvPr/>
        </p:nvSpPr>
        <p:spPr>
          <a:xfrm>
            <a:off x="239077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76" name="Rectangle 75"/>
          <p:cNvSpPr/>
          <p:nvPr/>
        </p:nvSpPr>
        <p:spPr>
          <a:xfrm>
            <a:off x="26812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8527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30241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4003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80" name="TextBox 79"/>
          <p:cNvSpPr txBox="1"/>
          <p:nvPr/>
        </p:nvSpPr>
        <p:spPr>
          <a:xfrm>
            <a:off x="24003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81" name="Oval 80"/>
          <p:cNvSpPr/>
          <p:nvPr/>
        </p:nvSpPr>
        <p:spPr>
          <a:xfrm>
            <a:off x="26622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2914650" y="3416749"/>
            <a:ext cx="180975" cy="237298"/>
          </a:xfrm>
          <a:custGeom>
            <a:avLst/>
            <a:gdLst/>
            <a:ahLst/>
            <a:cxnLst/>
            <a:rect l="l" t="t" r="r" b="b"/>
            <a:pathLst>
              <a:path w="19" h="26">
                <a:moveTo>
                  <a:pt x="0" y="26"/>
                </a:moveTo>
                <a:lnTo>
                  <a:pt x="0" y="0"/>
                </a:lnTo>
                <a:lnTo>
                  <a:pt x="3" y="0"/>
                </a:lnTo>
                <a:lnTo>
                  <a:pt x="7" y="1"/>
                </a:lnTo>
                <a:lnTo>
                  <a:pt x="10" y="2"/>
                </a:lnTo>
                <a:lnTo>
                  <a:pt x="13" y="4"/>
                </a:lnTo>
                <a:lnTo>
                  <a:pt x="16" y="6"/>
                </a:lnTo>
                <a:lnTo>
                  <a:pt x="19" y="9"/>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27712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2662238" y="3590159"/>
            <a:ext cx="495300" cy="127776"/>
          </a:xfrm>
          <a:prstGeom prst="rect">
            <a:avLst/>
          </a:prstGeom>
          <a:noFill/>
        </p:spPr>
        <p:txBody>
          <a:bodyPr wrap="square" lIns="28575" rIns="28575" tIns="9525" bIns="9525" anchor="ctr">
            <a:spAutoFit/>
          </a:bodyPr>
          <a:lstStyle/>
          <a:p>
            <a:pPr algn="ctr"/>
            <a:r>
              <a:rPr sz="1100" b="1">
                <a:solidFill>
                  <a:srgbClr val="0B2E4A"/>
                </a:solidFill>
                <a:latin typeface="Calibri"/>
              </a:rPr>
              <a:t> </a:t>
            </a:r>
          </a:p>
        </p:txBody>
      </p:sp>
      <p:sp>
        <p:nvSpPr>
          <p:cNvPr id="85" name="TextBox 84"/>
          <p:cNvSpPr txBox="1"/>
          <p:nvPr/>
        </p:nvSpPr>
        <p:spPr>
          <a:xfrm>
            <a:off x="24193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South Asia &amp; Pacific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9AA3A8"/>
                </a:solidFill>
                <a:latin typeface="Calibri"/>
              </a:rPr>
              <a:t>▲</a:t>
            </a:r>
          </a:p>
        </p:txBody>
      </p:sp>
      <p:sp>
        <p:nvSpPr>
          <p:cNvPr id="86" name="Oval 85"/>
          <p:cNvSpPr/>
          <p:nvPr/>
        </p:nvSpPr>
        <p:spPr>
          <a:xfrm>
            <a:off x="25050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25050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88" name="Oval 87"/>
          <p:cNvSpPr/>
          <p:nvPr/>
        </p:nvSpPr>
        <p:spPr>
          <a:xfrm>
            <a:off x="27146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7146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90" name="Oval 89"/>
          <p:cNvSpPr/>
          <p:nvPr/>
        </p:nvSpPr>
        <p:spPr>
          <a:xfrm>
            <a:off x="29241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9241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92" name="Oval 91"/>
          <p:cNvSpPr/>
          <p:nvPr/>
        </p:nvSpPr>
        <p:spPr>
          <a:xfrm>
            <a:off x="31337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1337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94" name="Oval 93"/>
          <p:cNvSpPr/>
          <p:nvPr/>
        </p:nvSpPr>
        <p:spPr>
          <a:xfrm>
            <a:off x="26098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26098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96" name="Oval 95"/>
          <p:cNvSpPr/>
          <p:nvPr/>
        </p:nvSpPr>
        <p:spPr>
          <a:xfrm>
            <a:off x="28194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8194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98" name="Oval 97"/>
          <p:cNvSpPr/>
          <p:nvPr/>
        </p:nvSpPr>
        <p:spPr>
          <a:xfrm>
            <a:off x="30289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30289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00" name="TextBox 99"/>
          <p:cNvSpPr txBox="1"/>
          <p:nvPr/>
        </p:nvSpPr>
        <p:spPr>
          <a:xfrm>
            <a:off x="347662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PPG Industries</a:t>
            </a:r>
          </a:p>
        </p:txBody>
      </p:sp>
      <p:cxnSp>
        <p:nvCxnSpPr>
          <p:cNvPr id="101" name="Connector 100"/>
          <p:cNvCxnSpPr/>
          <p:nvPr/>
        </p:nvCxnSpPr>
        <p:spPr>
          <a:xfrm>
            <a:off x="375761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347662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C</a:t>
            </a:r>
          </a:p>
        </p:txBody>
      </p:sp>
      <p:sp>
        <p:nvSpPr>
          <p:cNvPr id="103" name="TextBox 102"/>
          <p:cNvSpPr txBox="1"/>
          <p:nvPr/>
        </p:nvSpPr>
        <p:spPr>
          <a:xfrm>
            <a:off x="346710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04" name="TextBox 103"/>
          <p:cNvSpPr txBox="1"/>
          <p:nvPr/>
        </p:nvSpPr>
        <p:spPr>
          <a:xfrm>
            <a:off x="3467100"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105" name="Rectangle 104"/>
          <p:cNvSpPr/>
          <p:nvPr/>
        </p:nvSpPr>
        <p:spPr>
          <a:xfrm>
            <a:off x="375761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3929062" y="2303274"/>
            <a:ext cx="114300" cy="109522"/>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410051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347662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09" name="TextBox 108"/>
          <p:cNvSpPr txBox="1"/>
          <p:nvPr/>
        </p:nvSpPr>
        <p:spPr>
          <a:xfrm>
            <a:off x="347662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10" name="Oval 109"/>
          <p:cNvSpPr/>
          <p:nvPr/>
        </p:nvSpPr>
        <p:spPr>
          <a:xfrm>
            <a:off x="373856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Freeform 110"/>
          <p:cNvSpPr/>
          <p:nvPr/>
        </p:nvSpPr>
        <p:spPr>
          <a:xfrm>
            <a:off x="3981450" y="3416749"/>
            <a:ext cx="142875" cy="237298"/>
          </a:xfrm>
          <a:custGeom>
            <a:avLst/>
            <a:gdLst/>
            <a:ahLst/>
            <a:cxnLst/>
            <a:rect l="l" t="t" r="r" b="b"/>
            <a:pathLst>
              <a:path w="15" h="26">
                <a:moveTo>
                  <a:pt x="0" y="26"/>
                </a:moveTo>
                <a:lnTo>
                  <a:pt x="0" y="0"/>
                </a:lnTo>
                <a:lnTo>
                  <a:pt x="4" y="0"/>
                </a:lnTo>
                <a:lnTo>
                  <a:pt x="8" y="1"/>
                </a:lnTo>
                <a:lnTo>
                  <a:pt x="12" y="2"/>
                </a:lnTo>
                <a:lnTo>
                  <a:pt x="15" y="4"/>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384752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373856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114" name="TextBox 113"/>
          <p:cNvSpPr txBox="1"/>
          <p:nvPr/>
        </p:nvSpPr>
        <p:spPr>
          <a:xfrm>
            <a:off x="349567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East Asia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9AA3A8"/>
                </a:solidFill>
                <a:latin typeface="Calibri"/>
              </a:rPr>
              <a:t>▲</a:t>
            </a:r>
          </a:p>
        </p:txBody>
      </p:sp>
      <p:sp>
        <p:nvSpPr>
          <p:cNvPr id="115" name="Oval 114"/>
          <p:cNvSpPr/>
          <p:nvPr/>
        </p:nvSpPr>
        <p:spPr>
          <a:xfrm>
            <a:off x="35814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35814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17" name="Oval 116"/>
          <p:cNvSpPr/>
          <p:nvPr/>
        </p:nvSpPr>
        <p:spPr>
          <a:xfrm>
            <a:off x="37909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37909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19" name="Oval 118"/>
          <p:cNvSpPr/>
          <p:nvPr/>
        </p:nvSpPr>
        <p:spPr>
          <a:xfrm>
            <a:off x="40005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0005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21" name="Oval 120"/>
          <p:cNvSpPr/>
          <p:nvPr/>
        </p:nvSpPr>
        <p:spPr>
          <a:xfrm>
            <a:off x="421005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42100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23" name="Oval 122"/>
          <p:cNvSpPr/>
          <p:nvPr/>
        </p:nvSpPr>
        <p:spPr>
          <a:xfrm>
            <a:off x="36861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36861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25" name="Oval 124"/>
          <p:cNvSpPr/>
          <p:nvPr/>
        </p:nvSpPr>
        <p:spPr>
          <a:xfrm>
            <a:off x="389572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38957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27" name="Oval 126"/>
          <p:cNvSpPr/>
          <p:nvPr/>
        </p:nvSpPr>
        <p:spPr>
          <a:xfrm>
            <a:off x="41052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41052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29" name="TextBox 128"/>
          <p:cNvSpPr txBox="1"/>
          <p:nvPr/>
        </p:nvSpPr>
        <p:spPr>
          <a:xfrm>
            <a:off x="455295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Akzo Nobel</a:t>
            </a:r>
          </a:p>
        </p:txBody>
      </p:sp>
      <p:cxnSp>
        <p:nvCxnSpPr>
          <p:cNvPr id="130" name="Connector 129"/>
          <p:cNvCxnSpPr/>
          <p:nvPr/>
        </p:nvCxnSpPr>
        <p:spPr>
          <a:xfrm>
            <a:off x="483393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455295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D</a:t>
            </a:r>
          </a:p>
        </p:txBody>
      </p:sp>
      <p:sp>
        <p:nvSpPr>
          <p:cNvPr id="132" name="TextBox 131"/>
          <p:cNvSpPr txBox="1"/>
          <p:nvPr/>
        </p:nvSpPr>
        <p:spPr>
          <a:xfrm>
            <a:off x="454342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133" name="TextBox 132"/>
          <p:cNvSpPr txBox="1"/>
          <p:nvPr/>
        </p:nvSpPr>
        <p:spPr>
          <a:xfrm>
            <a:off x="454342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134" name="Rectangle 133"/>
          <p:cNvSpPr/>
          <p:nvPr/>
        </p:nvSpPr>
        <p:spPr>
          <a:xfrm>
            <a:off x="4833938" y="2303274"/>
            <a:ext cx="114300" cy="109522"/>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500538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5176838"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455295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38" name="TextBox 137"/>
          <p:cNvSpPr txBox="1"/>
          <p:nvPr/>
        </p:nvSpPr>
        <p:spPr>
          <a:xfrm>
            <a:off x="455295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39" name="Oval 138"/>
          <p:cNvSpPr/>
          <p:nvPr/>
        </p:nvSpPr>
        <p:spPr>
          <a:xfrm>
            <a:off x="481488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5067300" y="3416749"/>
            <a:ext cx="95250" cy="237298"/>
          </a:xfrm>
          <a:custGeom>
            <a:avLst/>
            <a:gdLst/>
            <a:ahLst/>
            <a:cxnLst/>
            <a:rect l="l" t="t" r="r" b="b"/>
            <a:pathLst>
              <a:path w="10" h="26">
                <a:moveTo>
                  <a:pt x="0" y="26"/>
                </a:moveTo>
                <a:lnTo>
                  <a:pt x="0" y="0"/>
                </a:lnTo>
                <a:lnTo>
                  <a:pt x="3" y="0"/>
                </a:lnTo>
                <a:lnTo>
                  <a:pt x="7" y="1"/>
                </a:lnTo>
                <a:lnTo>
                  <a:pt x="10"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492385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481488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143" name="TextBox 142"/>
          <p:cNvSpPr txBox="1"/>
          <p:nvPr/>
        </p:nvSpPr>
        <p:spPr>
          <a:xfrm>
            <a:off x="457200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Latin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Eastern Europe  </a:t>
            </a:r>
            <a:r>
              <a:rPr sz="1100" b="1">
                <a:solidFill>
                  <a:srgbClr val="9AA3A8"/>
                </a:solidFill>
                <a:latin typeface="Calibri"/>
              </a:rPr>
              <a:t>▲</a:t>
            </a:r>
          </a:p>
        </p:txBody>
      </p:sp>
      <p:sp>
        <p:nvSpPr>
          <p:cNvPr id="144" name="Oval 143"/>
          <p:cNvSpPr/>
          <p:nvPr/>
        </p:nvSpPr>
        <p:spPr>
          <a:xfrm>
            <a:off x="46577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46577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46" name="Oval 145"/>
          <p:cNvSpPr/>
          <p:nvPr/>
        </p:nvSpPr>
        <p:spPr>
          <a:xfrm>
            <a:off x="48672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48672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48" name="Oval 147"/>
          <p:cNvSpPr/>
          <p:nvPr/>
        </p:nvSpPr>
        <p:spPr>
          <a:xfrm>
            <a:off x="50768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50768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50" name="Oval 149"/>
          <p:cNvSpPr/>
          <p:nvPr/>
        </p:nvSpPr>
        <p:spPr>
          <a:xfrm>
            <a:off x="52863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2863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52" name="Oval 151"/>
          <p:cNvSpPr/>
          <p:nvPr/>
        </p:nvSpPr>
        <p:spPr>
          <a:xfrm>
            <a:off x="47625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47625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54" name="Oval 153"/>
          <p:cNvSpPr/>
          <p:nvPr/>
        </p:nvSpPr>
        <p:spPr>
          <a:xfrm>
            <a:off x="497205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49720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56" name="Oval 155"/>
          <p:cNvSpPr/>
          <p:nvPr/>
        </p:nvSpPr>
        <p:spPr>
          <a:xfrm>
            <a:off x="51816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51816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58" name="TextBox 157"/>
          <p:cNvSpPr txBox="1"/>
          <p:nvPr/>
        </p:nvSpPr>
        <p:spPr>
          <a:xfrm>
            <a:off x="56292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BASF</a:t>
            </a:r>
          </a:p>
        </p:txBody>
      </p:sp>
      <p:cxnSp>
        <p:nvCxnSpPr>
          <p:cNvPr id="159" name="Connector 158"/>
          <p:cNvCxnSpPr/>
          <p:nvPr/>
        </p:nvCxnSpPr>
        <p:spPr>
          <a:xfrm>
            <a:off x="591026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60" name="TextBox 159"/>
          <p:cNvSpPr txBox="1"/>
          <p:nvPr/>
        </p:nvSpPr>
        <p:spPr>
          <a:xfrm>
            <a:off x="56292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E</a:t>
            </a:r>
          </a:p>
        </p:txBody>
      </p:sp>
      <p:sp>
        <p:nvSpPr>
          <p:cNvPr id="161" name="TextBox 160"/>
          <p:cNvSpPr txBox="1"/>
          <p:nvPr/>
        </p:nvSpPr>
        <p:spPr>
          <a:xfrm>
            <a:off x="56197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162" name="TextBox 161"/>
          <p:cNvSpPr txBox="1"/>
          <p:nvPr/>
        </p:nvSpPr>
        <p:spPr>
          <a:xfrm>
            <a:off x="561975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163" name="Rectangle 162"/>
          <p:cNvSpPr/>
          <p:nvPr/>
        </p:nvSpPr>
        <p:spPr>
          <a:xfrm>
            <a:off x="59102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60817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62531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56292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67" name="TextBox 166"/>
          <p:cNvSpPr txBox="1"/>
          <p:nvPr/>
        </p:nvSpPr>
        <p:spPr>
          <a:xfrm>
            <a:off x="56292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68" name="Oval 167"/>
          <p:cNvSpPr/>
          <p:nvPr/>
        </p:nvSpPr>
        <p:spPr>
          <a:xfrm>
            <a:off x="58912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Freeform 168"/>
          <p:cNvSpPr/>
          <p:nvPr/>
        </p:nvSpPr>
        <p:spPr>
          <a:xfrm>
            <a:off x="6134100" y="3416749"/>
            <a:ext cx="104775" cy="237298"/>
          </a:xfrm>
          <a:custGeom>
            <a:avLst/>
            <a:gdLst/>
            <a:ahLst/>
            <a:cxnLst/>
            <a:rect l="l" t="t" r="r" b="b"/>
            <a:pathLst>
              <a:path w="11" h="26">
                <a:moveTo>
                  <a:pt x="0" y="26"/>
                </a:moveTo>
                <a:lnTo>
                  <a:pt x="0" y="0"/>
                </a:lnTo>
                <a:lnTo>
                  <a:pt x="4" y="0"/>
                </a:lnTo>
                <a:lnTo>
                  <a:pt x="7" y="1"/>
                </a:lnTo>
                <a:lnTo>
                  <a:pt x="11"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6000179"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589121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172" name="TextBox 171"/>
          <p:cNvSpPr txBox="1"/>
          <p:nvPr/>
        </p:nvSpPr>
        <p:spPr>
          <a:xfrm>
            <a:off x="56483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Middle East &amp; Africa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Eastern Europe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Western Europe  </a:t>
            </a:r>
            <a:r>
              <a:rPr sz="1100" b="1">
                <a:solidFill>
                  <a:srgbClr val="9AA3A8"/>
                </a:solidFill>
                <a:latin typeface="Calibri"/>
              </a:rPr>
              <a:t>▲</a:t>
            </a:r>
          </a:p>
        </p:txBody>
      </p:sp>
      <p:sp>
        <p:nvSpPr>
          <p:cNvPr id="173" name="Oval 172"/>
          <p:cNvSpPr/>
          <p:nvPr/>
        </p:nvSpPr>
        <p:spPr>
          <a:xfrm>
            <a:off x="57340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57340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75" name="Oval 174"/>
          <p:cNvSpPr/>
          <p:nvPr/>
        </p:nvSpPr>
        <p:spPr>
          <a:xfrm>
            <a:off x="59436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59436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77" name="Oval 176"/>
          <p:cNvSpPr/>
          <p:nvPr/>
        </p:nvSpPr>
        <p:spPr>
          <a:xfrm>
            <a:off x="61531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61531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79" name="Oval 178"/>
          <p:cNvSpPr/>
          <p:nvPr/>
        </p:nvSpPr>
        <p:spPr>
          <a:xfrm>
            <a:off x="63627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63627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81" name="Oval 180"/>
          <p:cNvSpPr/>
          <p:nvPr/>
        </p:nvSpPr>
        <p:spPr>
          <a:xfrm>
            <a:off x="58388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58388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83" name="Oval 182"/>
          <p:cNvSpPr/>
          <p:nvPr/>
        </p:nvSpPr>
        <p:spPr>
          <a:xfrm>
            <a:off x="60483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60483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85" name="Oval 184"/>
          <p:cNvSpPr/>
          <p:nvPr/>
        </p:nvSpPr>
        <p:spPr>
          <a:xfrm>
            <a:off x="62579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62579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87" name="TextBox 186"/>
          <p:cNvSpPr txBox="1"/>
          <p:nvPr/>
        </p:nvSpPr>
        <p:spPr>
          <a:xfrm>
            <a:off x="67056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RPM International</a:t>
            </a:r>
          </a:p>
        </p:txBody>
      </p:sp>
      <p:cxnSp>
        <p:nvCxnSpPr>
          <p:cNvPr id="188" name="Connector 187"/>
          <p:cNvCxnSpPr/>
          <p:nvPr/>
        </p:nvCxnSpPr>
        <p:spPr>
          <a:xfrm>
            <a:off x="698658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89" name="TextBox 188"/>
          <p:cNvSpPr txBox="1"/>
          <p:nvPr/>
        </p:nvSpPr>
        <p:spPr>
          <a:xfrm>
            <a:off x="67056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F</a:t>
            </a:r>
          </a:p>
        </p:txBody>
      </p:sp>
      <p:sp>
        <p:nvSpPr>
          <p:cNvPr id="190" name="TextBox 189"/>
          <p:cNvSpPr txBox="1"/>
          <p:nvPr/>
        </p:nvSpPr>
        <p:spPr>
          <a:xfrm>
            <a:off x="66960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91" name="TextBox 190"/>
          <p:cNvSpPr txBox="1"/>
          <p:nvPr/>
        </p:nvSpPr>
        <p:spPr>
          <a:xfrm>
            <a:off x="6696075"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192" name="Rectangle 191"/>
          <p:cNvSpPr/>
          <p:nvPr/>
        </p:nvSpPr>
        <p:spPr>
          <a:xfrm>
            <a:off x="69865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71580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73294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67056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96" name="TextBox 195"/>
          <p:cNvSpPr txBox="1"/>
          <p:nvPr/>
        </p:nvSpPr>
        <p:spPr>
          <a:xfrm>
            <a:off x="67056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97" name="Oval 196"/>
          <p:cNvSpPr/>
          <p:nvPr/>
        </p:nvSpPr>
        <p:spPr>
          <a:xfrm>
            <a:off x="69675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Freeform 197"/>
          <p:cNvSpPr/>
          <p:nvPr/>
        </p:nvSpPr>
        <p:spPr>
          <a:xfrm>
            <a:off x="7219950" y="3416749"/>
            <a:ext cx="95250" cy="237298"/>
          </a:xfrm>
          <a:custGeom>
            <a:avLst/>
            <a:gdLst/>
            <a:ahLst/>
            <a:cxnLst/>
            <a:rect l="l" t="t" r="r" b="b"/>
            <a:pathLst>
              <a:path w="10" h="26">
                <a:moveTo>
                  <a:pt x="0" y="26"/>
                </a:moveTo>
                <a:lnTo>
                  <a:pt x="0" y="0"/>
                </a:lnTo>
                <a:lnTo>
                  <a:pt x="3" y="0"/>
                </a:lnTo>
                <a:lnTo>
                  <a:pt x="6" y="1"/>
                </a:lnTo>
                <a:lnTo>
                  <a:pt x="10"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70765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696753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01" name="TextBox 200"/>
          <p:cNvSpPr txBox="1"/>
          <p:nvPr/>
        </p:nvSpPr>
        <p:spPr>
          <a:xfrm>
            <a:off x="67246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Eastern Europe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Western Europe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North America  </a:t>
            </a:r>
            <a:r>
              <a:rPr sz="1100" b="1">
                <a:solidFill>
                  <a:srgbClr val="9AA3A8"/>
                </a:solidFill>
                <a:latin typeface="Calibri"/>
              </a:rPr>
              <a:t>▲</a:t>
            </a:r>
          </a:p>
        </p:txBody>
      </p:sp>
      <p:sp>
        <p:nvSpPr>
          <p:cNvPr id="202" name="Oval 201"/>
          <p:cNvSpPr/>
          <p:nvPr/>
        </p:nvSpPr>
        <p:spPr>
          <a:xfrm>
            <a:off x="68103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68103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04" name="Oval 203"/>
          <p:cNvSpPr/>
          <p:nvPr/>
        </p:nvSpPr>
        <p:spPr>
          <a:xfrm>
            <a:off x="70199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70199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06" name="Oval 205"/>
          <p:cNvSpPr/>
          <p:nvPr/>
        </p:nvSpPr>
        <p:spPr>
          <a:xfrm>
            <a:off x="72294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72294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08" name="Oval 207"/>
          <p:cNvSpPr/>
          <p:nvPr/>
        </p:nvSpPr>
        <p:spPr>
          <a:xfrm>
            <a:off x="74390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74390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10" name="Oval 209"/>
          <p:cNvSpPr/>
          <p:nvPr/>
        </p:nvSpPr>
        <p:spPr>
          <a:xfrm>
            <a:off x="69151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69151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12" name="Oval 211"/>
          <p:cNvSpPr/>
          <p:nvPr/>
        </p:nvSpPr>
        <p:spPr>
          <a:xfrm>
            <a:off x="71247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71247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14" name="Oval 213"/>
          <p:cNvSpPr/>
          <p:nvPr/>
        </p:nvSpPr>
        <p:spPr>
          <a:xfrm>
            <a:off x="73342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73342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16" name="TextBox 215"/>
          <p:cNvSpPr txBox="1"/>
          <p:nvPr/>
        </p:nvSpPr>
        <p:spPr>
          <a:xfrm>
            <a:off x="778192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Saint-Gobain</a:t>
            </a:r>
          </a:p>
        </p:txBody>
      </p:sp>
      <p:cxnSp>
        <p:nvCxnSpPr>
          <p:cNvPr id="217" name="Connector 216"/>
          <p:cNvCxnSpPr/>
          <p:nvPr/>
        </p:nvCxnSpPr>
        <p:spPr>
          <a:xfrm>
            <a:off x="806291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18" name="TextBox 217"/>
          <p:cNvSpPr txBox="1"/>
          <p:nvPr/>
        </p:nvSpPr>
        <p:spPr>
          <a:xfrm>
            <a:off x="778192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G</a:t>
            </a:r>
          </a:p>
        </p:txBody>
      </p:sp>
      <p:sp>
        <p:nvSpPr>
          <p:cNvPr id="219" name="TextBox 218"/>
          <p:cNvSpPr txBox="1"/>
          <p:nvPr/>
        </p:nvSpPr>
        <p:spPr>
          <a:xfrm>
            <a:off x="777240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220" name="TextBox 219"/>
          <p:cNvSpPr txBox="1"/>
          <p:nvPr/>
        </p:nvSpPr>
        <p:spPr>
          <a:xfrm>
            <a:off x="777240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221" name="Rectangle 220"/>
          <p:cNvSpPr/>
          <p:nvPr/>
        </p:nvSpPr>
        <p:spPr>
          <a:xfrm>
            <a:off x="806291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8234362" y="2303274"/>
            <a:ext cx="114300" cy="109522"/>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840581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778192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25" name="TextBox 224"/>
          <p:cNvSpPr txBox="1"/>
          <p:nvPr/>
        </p:nvSpPr>
        <p:spPr>
          <a:xfrm>
            <a:off x="778192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26" name="Oval 225"/>
          <p:cNvSpPr/>
          <p:nvPr/>
        </p:nvSpPr>
        <p:spPr>
          <a:xfrm>
            <a:off x="804386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Freeform 226"/>
          <p:cNvSpPr/>
          <p:nvPr/>
        </p:nvSpPr>
        <p:spPr>
          <a:xfrm>
            <a:off x="8286750" y="3416749"/>
            <a:ext cx="85725" cy="237298"/>
          </a:xfrm>
          <a:custGeom>
            <a:avLst/>
            <a:gdLst/>
            <a:ahLst/>
            <a:cxnLst/>
            <a:rect l="l" t="t" r="r" b="b"/>
            <a:pathLst>
              <a:path w="9" h="26">
                <a:moveTo>
                  <a:pt x="0" y="26"/>
                </a:moveTo>
                <a:lnTo>
                  <a:pt x="0" y="0"/>
                </a:lnTo>
                <a:lnTo>
                  <a:pt x="5" y="0"/>
                </a:lnTo>
                <a:lnTo>
                  <a:pt x="9" y="1"/>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Oval 227"/>
          <p:cNvSpPr/>
          <p:nvPr/>
        </p:nvSpPr>
        <p:spPr>
          <a:xfrm>
            <a:off x="8152829"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804386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30" name="TextBox 229"/>
          <p:cNvSpPr txBox="1"/>
          <p:nvPr/>
        </p:nvSpPr>
        <p:spPr>
          <a:xfrm>
            <a:off x="780097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Western Europe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North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9AA3A8"/>
                </a:solidFill>
                <a:latin typeface="Calibri"/>
              </a:rPr>
              <a:t>▲</a:t>
            </a:r>
          </a:p>
        </p:txBody>
      </p:sp>
      <p:sp>
        <p:nvSpPr>
          <p:cNvPr id="231" name="Oval 230"/>
          <p:cNvSpPr/>
          <p:nvPr/>
        </p:nvSpPr>
        <p:spPr>
          <a:xfrm>
            <a:off x="78867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TextBox 231"/>
          <p:cNvSpPr txBox="1"/>
          <p:nvPr/>
        </p:nvSpPr>
        <p:spPr>
          <a:xfrm>
            <a:off x="78867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33" name="Oval 232"/>
          <p:cNvSpPr/>
          <p:nvPr/>
        </p:nvSpPr>
        <p:spPr>
          <a:xfrm>
            <a:off x="80962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233"/>
          <p:cNvSpPr txBox="1"/>
          <p:nvPr/>
        </p:nvSpPr>
        <p:spPr>
          <a:xfrm>
            <a:off x="80962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35" name="Oval 234"/>
          <p:cNvSpPr/>
          <p:nvPr/>
        </p:nvSpPr>
        <p:spPr>
          <a:xfrm>
            <a:off x="83058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235"/>
          <p:cNvSpPr txBox="1"/>
          <p:nvPr/>
        </p:nvSpPr>
        <p:spPr>
          <a:xfrm>
            <a:off x="83058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37" name="Oval 236"/>
          <p:cNvSpPr/>
          <p:nvPr/>
        </p:nvSpPr>
        <p:spPr>
          <a:xfrm>
            <a:off x="851535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85153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39" name="Oval 238"/>
          <p:cNvSpPr/>
          <p:nvPr/>
        </p:nvSpPr>
        <p:spPr>
          <a:xfrm>
            <a:off x="79914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TextBox 239"/>
          <p:cNvSpPr txBox="1"/>
          <p:nvPr/>
        </p:nvSpPr>
        <p:spPr>
          <a:xfrm>
            <a:off x="79914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41" name="Oval 240"/>
          <p:cNvSpPr/>
          <p:nvPr/>
        </p:nvSpPr>
        <p:spPr>
          <a:xfrm>
            <a:off x="820102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241"/>
          <p:cNvSpPr txBox="1"/>
          <p:nvPr/>
        </p:nvSpPr>
        <p:spPr>
          <a:xfrm>
            <a:off x="82010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43" name="Oval 242"/>
          <p:cNvSpPr/>
          <p:nvPr/>
        </p:nvSpPr>
        <p:spPr>
          <a:xfrm>
            <a:off x="84105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TextBox 243"/>
          <p:cNvSpPr txBox="1"/>
          <p:nvPr/>
        </p:nvSpPr>
        <p:spPr>
          <a:xfrm>
            <a:off x="84105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45" name="TextBox 244"/>
          <p:cNvSpPr txBox="1"/>
          <p:nvPr/>
        </p:nvSpPr>
        <p:spPr>
          <a:xfrm>
            <a:off x="885825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Mapei</a:t>
            </a:r>
          </a:p>
        </p:txBody>
      </p:sp>
      <p:cxnSp>
        <p:nvCxnSpPr>
          <p:cNvPr id="246" name="Connector 245"/>
          <p:cNvCxnSpPr/>
          <p:nvPr/>
        </p:nvCxnSpPr>
        <p:spPr>
          <a:xfrm>
            <a:off x="913923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47" name="TextBox 246"/>
          <p:cNvSpPr txBox="1"/>
          <p:nvPr/>
        </p:nvSpPr>
        <p:spPr>
          <a:xfrm>
            <a:off x="885825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H</a:t>
            </a:r>
          </a:p>
        </p:txBody>
      </p:sp>
      <p:sp>
        <p:nvSpPr>
          <p:cNvPr id="248" name="TextBox 247"/>
          <p:cNvSpPr txBox="1"/>
          <p:nvPr/>
        </p:nvSpPr>
        <p:spPr>
          <a:xfrm>
            <a:off x="884872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249" name="TextBox 248"/>
          <p:cNvSpPr txBox="1"/>
          <p:nvPr/>
        </p:nvSpPr>
        <p:spPr>
          <a:xfrm>
            <a:off x="884872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250" name="Rectangle 249"/>
          <p:cNvSpPr/>
          <p:nvPr/>
        </p:nvSpPr>
        <p:spPr>
          <a:xfrm>
            <a:off x="9139238" y="2303274"/>
            <a:ext cx="114300" cy="109522"/>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931068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9482138"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TextBox 252"/>
          <p:cNvSpPr txBox="1"/>
          <p:nvPr/>
        </p:nvSpPr>
        <p:spPr>
          <a:xfrm>
            <a:off x="885825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54" name="TextBox 253"/>
          <p:cNvSpPr txBox="1"/>
          <p:nvPr/>
        </p:nvSpPr>
        <p:spPr>
          <a:xfrm>
            <a:off x="885825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55" name="Oval 254"/>
          <p:cNvSpPr/>
          <p:nvPr/>
        </p:nvSpPr>
        <p:spPr>
          <a:xfrm>
            <a:off x="912018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Freeform 255"/>
          <p:cNvSpPr/>
          <p:nvPr/>
        </p:nvSpPr>
        <p:spPr>
          <a:xfrm>
            <a:off x="9372600" y="3416749"/>
            <a:ext cx="47625" cy="237298"/>
          </a:xfrm>
          <a:custGeom>
            <a:avLst/>
            <a:gdLst/>
            <a:ahLst/>
            <a:cxnLst/>
            <a:rect l="l" t="t" r="r" b="b"/>
            <a:pathLst>
              <a:path w="5" h="26">
                <a:moveTo>
                  <a:pt x="0" y="26"/>
                </a:moveTo>
                <a:lnTo>
                  <a:pt x="0" y="0"/>
                </a:lnTo>
                <a:lnTo>
                  <a:pt x="2" y="0"/>
                </a:lnTo>
                <a:lnTo>
                  <a:pt x="5"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Oval 256"/>
          <p:cNvSpPr/>
          <p:nvPr/>
        </p:nvSpPr>
        <p:spPr>
          <a:xfrm>
            <a:off x="922915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TextBox 257"/>
          <p:cNvSpPr txBox="1"/>
          <p:nvPr/>
        </p:nvSpPr>
        <p:spPr>
          <a:xfrm>
            <a:off x="912018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59" name="TextBox 258"/>
          <p:cNvSpPr txBox="1"/>
          <p:nvPr/>
        </p:nvSpPr>
        <p:spPr>
          <a:xfrm>
            <a:off x="887730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North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9AA3A8"/>
                </a:solidFill>
                <a:latin typeface="Calibri"/>
              </a:rPr>
              <a:t>▲</a:t>
            </a:r>
          </a:p>
        </p:txBody>
      </p:sp>
      <p:sp>
        <p:nvSpPr>
          <p:cNvPr id="260" name="Oval 259"/>
          <p:cNvSpPr/>
          <p:nvPr/>
        </p:nvSpPr>
        <p:spPr>
          <a:xfrm>
            <a:off x="89630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89630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62" name="Oval 261"/>
          <p:cNvSpPr/>
          <p:nvPr/>
        </p:nvSpPr>
        <p:spPr>
          <a:xfrm>
            <a:off x="91725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TextBox 262"/>
          <p:cNvSpPr txBox="1"/>
          <p:nvPr/>
        </p:nvSpPr>
        <p:spPr>
          <a:xfrm>
            <a:off x="91725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64" name="Oval 263"/>
          <p:cNvSpPr/>
          <p:nvPr/>
        </p:nvSpPr>
        <p:spPr>
          <a:xfrm>
            <a:off x="93821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93821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66" name="Oval 265"/>
          <p:cNvSpPr/>
          <p:nvPr/>
        </p:nvSpPr>
        <p:spPr>
          <a:xfrm>
            <a:off x="95916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95916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68" name="Oval 267"/>
          <p:cNvSpPr/>
          <p:nvPr/>
        </p:nvSpPr>
        <p:spPr>
          <a:xfrm>
            <a:off x="90678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90678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70" name="Oval 269"/>
          <p:cNvSpPr/>
          <p:nvPr/>
        </p:nvSpPr>
        <p:spPr>
          <a:xfrm>
            <a:off x="927735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TextBox 270"/>
          <p:cNvSpPr txBox="1"/>
          <p:nvPr/>
        </p:nvSpPr>
        <p:spPr>
          <a:xfrm>
            <a:off x="92773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72" name="Oval 271"/>
          <p:cNvSpPr/>
          <p:nvPr/>
        </p:nvSpPr>
        <p:spPr>
          <a:xfrm>
            <a:off x="94869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TextBox 272"/>
          <p:cNvSpPr txBox="1"/>
          <p:nvPr/>
        </p:nvSpPr>
        <p:spPr>
          <a:xfrm>
            <a:off x="94869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74" name="TextBox 273"/>
          <p:cNvSpPr txBox="1"/>
          <p:nvPr/>
        </p:nvSpPr>
        <p:spPr>
          <a:xfrm>
            <a:off x="99345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Henkel AG &amp; Co. KGaA</a:t>
            </a:r>
          </a:p>
        </p:txBody>
      </p:sp>
      <p:cxnSp>
        <p:nvCxnSpPr>
          <p:cNvPr id="275" name="Connector 274"/>
          <p:cNvCxnSpPr/>
          <p:nvPr/>
        </p:nvCxnSpPr>
        <p:spPr>
          <a:xfrm>
            <a:off x="1021556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76" name="TextBox 275"/>
          <p:cNvSpPr txBox="1"/>
          <p:nvPr/>
        </p:nvSpPr>
        <p:spPr>
          <a:xfrm>
            <a:off x="99345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I</a:t>
            </a:r>
          </a:p>
        </p:txBody>
      </p:sp>
      <p:sp>
        <p:nvSpPr>
          <p:cNvPr id="277" name="TextBox 276"/>
          <p:cNvSpPr txBox="1"/>
          <p:nvPr/>
        </p:nvSpPr>
        <p:spPr>
          <a:xfrm>
            <a:off x="99250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278" name="TextBox 277"/>
          <p:cNvSpPr txBox="1"/>
          <p:nvPr/>
        </p:nvSpPr>
        <p:spPr>
          <a:xfrm>
            <a:off x="9925050"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279" name="Rectangle 278"/>
          <p:cNvSpPr/>
          <p:nvPr/>
        </p:nvSpPr>
        <p:spPr>
          <a:xfrm>
            <a:off x="102155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Rectangle 279"/>
          <p:cNvSpPr/>
          <p:nvPr/>
        </p:nvSpPr>
        <p:spPr>
          <a:xfrm>
            <a:off x="103870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Rectangle 280"/>
          <p:cNvSpPr/>
          <p:nvPr/>
        </p:nvSpPr>
        <p:spPr>
          <a:xfrm>
            <a:off x="105584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TextBox 281"/>
          <p:cNvSpPr txBox="1"/>
          <p:nvPr/>
        </p:nvSpPr>
        <p:spPr>
          <a:xfrm>
            <a:off x="99345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83" name="TextBox 282"/>
          <p:cNvSpPr txBox="1"/>
          <p:nvPr/>
        </p:nvSpPr>
        <p:spPr>
          <a:xfrm>
            <a:off x="99345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84" name="Oval 283"/>
          <p:cNvSpPr/>
          <p:nvPr/>
        </p:nvSpPr>
        <p:spPr>
          <a:xfrm>
            <a:off x="101965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Freeform 284"/>
          <p:cNvSpPr/>
          <p:nvPr/>
        </p:nvSpPr>
        <p:spPr>
          <a:xfrm>
            <a:off x="10439400" y="3416749"/>
            <a:ext cx="38100" cy="237298"/>
          </a:xfrm>
          <a:custGeom>
            <a:avLst/>
            <a:gdLst/>
            <a:ahLst/>
            <a:cxnLst/>
            <a:rect l="l" t="t" r="r" b="b"/>
            <a:pathLst>
              <a:path w="4" h="26">
                <a:moveTo>
                  <a:pt x="0" y="26"/>
                </a:moveTo>
                <a:lnTo>
                  <a:pt x="0" y="0"/>
                </a:lnTo>
                <a:lnTo>
                  <a:pt x="2" y="0"/>
                </a:lnTo>
                <a:lnTo>
                  <a:pt x="4"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Oval 285"/>
          <p:cNvSpPr/>
          <p:nvPr/>
        </p:nvSpPr>
        <p:spPr>
          <a:xfrm>
            <a:off x="1030547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TextBox 286"/>
          <p:cNvSpPr txBox="1"/>
          <p:nvPr/>
        </p:nvSpPr>
        <p:spPr>
          <a:xfrm>
            <a:off x="1019651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88" name="TextBox 287"/>
          <p:cNvSpPr txBox="1"/>
          <p:nvPr/>
        </p:nvSpPr>
        <p:spPr>
          <a:xfrm>
            <a:off x="99536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South Asia &amp; Pacific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9AA3A8"/>
                </a:solidFill>
                <a:latin typeface="Calibri"/>
              </a:rPr>
              <a:t>▲</a:t>
            </a:r>
          </a:p>
        </p:txBody>
      </p:sp>
      <p:sp>
        <p:nvSpPr>
          <p:cNvPr id="289" name="Oval 288"/>
          <p:cNvSpPr/>
          <p:nvPr/>
        </p:nvSpPr>
        <p:spPr>
          <a:xfrm>
            <a:off x="100393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TextBox 289"/>
          <p:cNvSpPr txBox="1"/>
          <p:nvPr/>
        </p:nvSpPr>
        <p:spPr>
          <a:xfrm>
            <a:off x="100393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91" name="Oval 290"/>
          <p:cNvSpPr/>
          <p:nvPr/>
        </p:nvSpPr>
        <p:spPr>
          <a:xfrm>
            <a:off x="102489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TextBox 291"/>
          <p:cNvSpPr txBox="1"/>
          <p:nvPr/>
        </p:nvSpPr>
        <p:spPr>
          <a:xfrm>
            <a:off x="102489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93" name="Oval 292"/>
          <p:cNvSpPr/>
          <p:nvPr/>
        </p:nvSpPr>
        <p:spPr>
          <a:xfrm>
            <a:off x="104584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TextBox 293"/>
          <p:cNvSpPr txBox="1"/>
          <p:nvPr/>
        </p:nvSpPr>
        <p:spPr>
          <a:xfrm>
            <a:off x="104584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95" name="Oval 294"/>
          <p:cNvSpPr/>
          <p:nvPr/>
        </p:nvSpPr>
        <p:spPr>
          <a:xfrm>
            <a:off x="106680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TextBox 295"/>
          <p:cNvSpPr txBox="1"/>
          <p:nvPr/>
        </p:nvSpPr>
        <p:spPr>
          <a:xfrm>
            <a:off x="106680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97" name="Oval 296"/>
          <p:cNvSpPr/>
          <p:nvPr/>
        </p:nvSpPr>
        <p:spPr>
          <a:xfrm>
            <a:off x="101441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TextBox 297"/>
          <p:cNvSpPr txBox="1"/>
          <p:nvPr/>
        </p:nvSpPr>
        <p:spPr>
          <a:xfrm>
            <a:off x="101441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99" name="Oval 298"/>
          <p:cNvSpPr/>
          <p:nvPr/>
        </p:nvSpPr>
        <p:spPr>
          <a:xfrm>
            <a:off x="103536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TextBox 299"/>
          <p:cNvSpPr txBox="1"/>
          <p:nvPr/>
        </p:nvSpPr>
        <p:spPr>
          <a:xfrm>
            <a:off x="103536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01" name="Oval 300"/>
          <p:cNvSpPr/>
          <p:nvPr/>
        </p:nvSpPr>
        <p:spPr>
          <a:xfrm>
            <a:off x="105632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TextBox 301"/>
          <p:cNvSpPr txBox="1"/>
          <p:nvPr/>
        </p:nvSpPr>
        <p:spPr>
          <a:xfrm>
            <a:off x="105632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03" name="TextBox 302"/>
          <p:cNvSpPr txBox="1"/>
          <p:nvPr/>
        </p:nvSpPr>
        <p:spPr>
          <a:xfrm>
            <a:off x="110109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Dow</a:t>
            </a:r>
          </a:p>
        </p:txBody>
      </p:sp>
      <p:cxnSp>
        <p:nvCxnSpPr>
          <p:cNvPr id="304" name="Connector 303"/>
          <p:cNvCxnSpPr/>
          <p:nvPr/>
        </p:nvCxnSpPr>
        <p:spPr>
          <a:xfrm>
            <a:off x="1129188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05" name="TextBox 304"/>
          <p:cNvSpPr txBox="1"/>
          <p:nvPr/>
        </p:nvSpPr>
        <p:spPr>
          <a:xfrm>
            <a:off x="110109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J</a:t>
            </a:r>
          </a:p>
        </p:txBody>
      </p:sp>
      <p:sp>
        <p:nvSpPr>
          <p:cNvPr id="306" name="TextBox 305"/>
          <p:cNvSpPr txBox="1"/>
          <p:nvPr/>
        </p:nvSpPr>
        <p:spPr>
          <a:xfrm>
            <a:off x="110013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307" name="TextBox 306"/>
          <p:cNvSpPr txBox="1"/>
          <p:nvPr/>
        </p:nvSpPr>
        <p:spPr>
          <a:xfrm>
            <a:off x="1100137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308" name="Rectangle 307"/>
          <p:cNvSpPr/>
          <p:nvPr/>
        </p:nvSpPr>
        <p:spPr>
          <a:xfrm>
            <a:off x="112918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ectangle 308"/>
          <p:cNvSpPr/>
          <p:nvPr/>
        </p:nvSpPr>
        <p:spPr>
          <a:xfrm>
            <a:off x="114633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Rectangle 309"/>
          <p:cNvSpPr/>
          <p:nvPr/>
        </p:nvSpPr>
        <p:spPr>
          <a:xfrm>
            <a:off x="116347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TextBox 310"/>
          <p:cNvSpPr txBox="1"/>
          <p:nvPr/>
        </p:nvSpPr>
        <p:spPr>
          <a:xfrm>
            <a:off x="110109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312" name="TextBox 311"/>
          <p:cNvSpPr txBox="1"/>
          <p:nvPr/>
        </p:nvSpPr>
        <p:spPr>
          <a:xfrm>
            <a:off x="110109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313" name="Oval 312"/>
          <p:cNvSpPr/>
          <p:nvPr/>
        </p:nvSpPr>
        <p:spPr>
          <a:xfrm>
            <a:off x="112728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Freeform 313"/>
          <p:cNvSpPr/>
          <p:nvPr/>
        </p:nvSpPr>
        <p:spPr>
          <a:xfrm>
            <a:off x="11525250" y="3416749"/>
            <a:ext cx="28575" cy="237298"/>
          </a:xfrm>
          <a:custGeom>
            <a:avLst/>
            <a:gdLst/>
            <a:ahLst/>
            <a:cxnLst/>
            <a:rect l="l" t="t" r="r" b="b"/>
            <a:pathLst>
              <a:path w="3" h="26">
                <a:moveTo>
                  <a:pt x="0" y="26"/>
                </a:moveTo>
                <a:lnTo>
                  <a:pt x="0" y="0"/>
                </a:lnTo>
                <a:lnTo>
                  <a:pt x="1" y="0"/>
                </a:lnTo>
                <a:lnTo>
                  <a:pt x="3"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Oval 314"/>
          <p:cNvSpPr/>
          <p:nvPr/>
        </p:nvSpPr>
        <p:spPr>
          <a:xfrm>
            <a:off x="113818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TextBox 315"/>
          <p:cNvSpPr txBox="1"/>
          <p:nvPr/>
        </p:nvSpPr>
        <p:spPr>
          <a:xfrm>
            <a:off x="1127283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317" name="TextBox 316"/>
          <p:cNvSpPr txBox="1"/>
          <p:nvPr/>
        </p:nvSpPr>
        <p:spPr>
          <a:xfrm>
            <a:off x="110299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East Asia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9AA3A8"/>
                </a:solidFill>
                <a:latin typeface="Calibri"/>
              </a:rPr>
              <a:t>▲</a:t>
            </a:r>
          </a:p>
        </p:txBody>
      </p:sp>
      <p:sp>
        <p:nvSpPr>
          <p:cNvPr id="318" name="Oval 317"/>
          <p:cNvSpPr/>
          <p:nvPr/>
        </p:nvSpPr>
        <p:spPr>
          <a:xfrm>
            <a:off x="111156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TextBox 318"/>
          <p:cNvSpPr txBox="1"/>
          <p:nvPr/>
        </p:nvSpPr>
        <p:spPr>
          <a:xfrm>
            <a:off x="111156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320" name="Oval 319"/>
          <p:cNvSpPr/>
          <p:nvPr/>
        </p:nvSpPr>
        <p:spPr>
          <a:xfrm>
            <a:off x="113252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TextBox 320"/>
          <p:cNvSpPr txBox="1"/>
          <p:nvPr/>
        </p:nvSpPr>
        <p:spPr>
          <a:xfrm>
            <a:off x="113252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322" name="Oval 321"/>
          <p:cNvSpPr/>
          <p:nvPr/>
        </p:nvSpPr>
        <p:spPr>
          <a:xfrm>
            <a:off x="115347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TextBox 322"/>
          <p:cNvSpPr txBox="1"/>
          <p:nvPr/>
        </p:nvSpPr>
        <p:spPr>
          <a:xfrm>
            <a:off x="115347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324" name="Oval 323"/>
          <p:cNvSpPr/>
          <p:nvPr/>
        </p:nvSpPr>
        <p:spPr>
          <a:xfrm>
            <a:off x="117443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TextBox 324"/>
          <p:cNvSpPr txBox="1"/>
          <p:nvPr/>
        </p:nvSpPr>
        <p:spPr>
          <a:xfrm>
            <a:off x="117443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326" name="Oval 325"/>
          <p:cNvSpPr/>
          <p:nvPr/>
        </p:nvSpPr>
        <p:spPr>
          <a:xfrm>
            <a:off x="112204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TextBox 326"/>
          <p:cNvSpPr txBox="1"/>
          <p:nvPr/>
        </p:nvSpPr>
        <p:spPr>
          <a:xfrm>
            <a:off x="112204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328" name="Oval 327"/>
          <p:cNvSpPr/>
          <p:nvPr/>
        </p:nvSpPr>
        <p:spPr>
          <a:xfrm>
            <a:off x="114300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TextBox 328"/>
          <p:cNvSpPr txBox="1"/>
          <p:nvPr/>
        </p:nvSpPr>
        <p:spPr>
          <a:xfrm>
            <a:off x="114300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30" name="Oval 329"/>
          <p:cNvSpPr/>
          <p:nvPr/>
        </p:nvSpPr>
        <p:spPr>
          <a:xfrm>
            <a:off x="116395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TextBox 330"/>
          <p:cNvSpPr txBox="1"/>
          <p:nvPr/>
        </p:nvSpPr>
        <p:spPr>
          <a:xfrm>
            <a:off x="116395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32" name="TextBox 331"/>
          <p:cNvSpPr txBox="1"/>
          <p:nvPr/>
        </p:nvSpPr>
        <p:spPr>
          <a:xfrm>
            <a:off x="285750" y="5716715"/>
            <a:ext cx="1116806" cy="164283"/>
          </a:xfrm>
          <a:prstGeom prst="rect">
            <a:avLst/>
          </a:prstGeom>
          <a:noFill/>
        </p:spPr>
        <p:txBody>
          <a:bodyPr wrap="square" lIns="0" rIns="0" tIns="0" bIns="0" anchor="ctr">
            <a:spAutoFit/>
          </a:bodyPr>
          <a:lstStyle/>
          <a:p>
            <a:pPr algn="l"/>
            <a:r>
              <a:rPr sz="1100" b="1">
                <a:solidFill>
                  <a:srgbClr val="2E2E2E"/>
                </a:solidFill>
                <a:latin typeface="Calibri"/>
              </a:rPr>
              <a:t>Product Portfolio:</a:t>
            </a:r>
          </a:p>
        </p:txBody>
      </p:sp>
      <p:sp>
        <p:nvSpPr>
          <p:cNvPr id="333" name="Rectangle 332"/>
          <p:cNvSpPr/>
          <p:nvPr/>
        </p:nvSpPr>
        <p:spPr>
          <a:xfrm>
            <a:off x="1383506" y="5744096"/>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TextBox 333"/>
          <p:cNvSpPr txBox="1"/>
          <p:nvPr/>
        </p:nvSpPr>
        <p:spPr>
          <a:xfrm>
            <a:off x="1535906" y="5716715"/>
            <a:ext cx="1819275" cy="164283"/>
          </a:xfrm>
          <a:prstGeom prst="rect">
            <a:avLst/>
          </a:prstGeom>
          <a:noFill/>
        </p:spPr>
        <p:txBody>
          <a:bodyPr wrap="square" lIns="0" rIns="0" tIns="0" bIns="0" anchor="ctr">
            <a:spAutoFit/>
          </a:bodyPr>
          <a:lstStyle/>
          <a:p>
            <a:pPr algn="l"/>
            <a:r>
              <a:rPr sz="1100" b="0">
                <a:solidFill>
                  <a:srgbClr val="2E2E2E"/>
                </a:solidFill>
                <a:latin typeface="Calibri"/>
              </a:rPr>
              <a:t>Other Polymer-Based Coatings</a:t>
            </a:r>
          </a:p>
        </p:txBody>
      </p:sp>
      <p:sp>
        <p:nvSpPr>
          <p:cNvPr id="335" name="Rectangle 334"/>
          <p:cNvSpPr/>
          <p:nvPr/>
        </p:nvSpPr>
        <p:spPr>
          <a:xfrm>
            <a:off x="3412331" y="5744096"/>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TextBox 335"/>
          <p:cNvSpPr txBox="1"/>
          <p:nvPr/>
        </p:nvSpPr>
        <p:spPr>
          <a:xfrm>
            <a:off x="3564731" y="5716715"/>
            <a:ext cx="1802606" cy="164283"/>
          </a:xfrm>
          <a:prstGeom prst="rect">
            <a:avLst/>
          </a:prstGeom>
          <a:noFill/>
        </p:spPr>
        <p:txBody>
          <a:bodyPr wrap="square" lIns="0" rIns="0" tIns="0" bIns="0" anchor="ctr">
            <a:spAutoFit/>
          </a:bodyPr>
          <a:lstStyle/>
          <a:p>
            <a:pPr algn="l"/>
            <a:r>
              <a:rPr sz="1100" b="0">
                <a:solidFill>
                  <a:srgbClr val="2E2E2E"/>
                </a:solidFill>
                <a:latin typeface="Calibri"/>
              </a:rPr>
              <a:t>Polyurea Waterproof Coatings</a:t>
            </a:r>
          </a:p>
        </p:txBody>
      </p:sp>
      <p:sp>
        <p:nvSpPr>
          <p:cNvPr id="337" name="Rectangle 336"/>
          <p:cNvSpPr/>
          <p:nvPr/>
        </p:nvSpPr>
        <p:spPr>
          <a:xfrm>
            <a:off x="5424488" y="5744096"/>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TextBox 337"/>
          <p:cNvSpPr txBox="1"/>
          <p:nvPr/>
        </p:nvSpPr>
        <p:spPr>
          <a:xfrm>
            <a:off x="5576888" y="5716715"/>
            <a:ext cx="1740694" cy="164283"/>
          </a:xfrm>
          <a:prstGeom prst="rect">
            <a:avLst/>
          </a:prstGeom>
          <a:noFill/>
        </p:spPr>
        <p:txBody>
          <a:bodyPr wrap="square" lIns="0" rIns="0" tIns="0" bIns="0" anchor="ctr">
            <a:spAutoFit/>
          </a:bodyPr>
          <a:lstStyle/>
          <a:p>
            <a:pPr algn="l"/>
            <a:r>
              <a:rPr sz="1100" b="0">
                <a:solidFill>
                  <a:srgbClr val="2E2E2E"/>
                </a:solidFill>
                <a:latin typeface="Calibri"/>
              </a:rPr>
              <a:t>Silicone Waterproof Coatings</a:t>
            </a:r>
          </a:p>
        </p:txBody>
      </p:sp>
      <p:sp>
        <p:nvSpPr>
          <p:cNvPr id="339" name="Rectangle 338"/>
          <p:cNvSpPr/>
          <p:nvPr/>
        </p:nvSpPr>
        <p:spPr>
          <a:xfrm>
            <a:off x="7374731" y="5744096"/>
            <a:ext cx="114300" cy="109522"/>
          </a:xfrm>
          <a:prstGeom prst="rect">
            <a:avLst/>
          </a:prstGeom>
          <a:solidFill>
            <a:srgbClr val="FFFFFF"/>
          </a:solidFill>
          <a:ln w="12700">
            <a:solidFill>
              <a:srgbClr val="6C7A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TextBox 339"/>
          <p:cNvSpPr txBox="1"/>
          <p:nvPr/>
        </p:nvSpPr>
        <p:spPr>
          <a:xfrm>
            <a:off x="7527131" y="5716715"/>
            <a:ext cx="740569" cy="164283"/>
          </a:xfrm>
          <a:prstGeom prst="rect">
            <a:avLst/>
          </a:prstGeom>
          <a:noFill/>
        </p:spPr>
        <p:txBody>
          <a:bodyPr wrap="square" lIns="0" rIns="0" tIns="0" bIns="0" anchor="ctr">
            <a:spAutoFit/>
          </a:bodyPr>
          <a:lstStyle/>
          <a:p>
            <a:pPr algn="l"/>
            <a:r>
              <a:rPr sz="1100" b="0">
                <a:solidFill>
                  <a:srgbClr val="2E2E2E"/>
                </a:solidFill>
                <a:latin typeface="Calibri"/>
              </a:rPr>
              <a:t>Not offered</a:t>
            </a:r>
          </a:p>
        </p:txBody>
      </p:sp>
      <p:sp>
        <p:nvSpPr>
          <p:cNvPr id="341" name="TextBox 340"/>
          <p:cNvSpPr txBox="1"/>
          <p:nvPr/>
        </p:nvSpPr>
        <p:spPr>
          <a:xfrm>
            <a:off x="285750" y="5890125"/>
            <a:ext cx="208915" cy="164283"/>
          </a:xfrm>
          <a:prstGeom prst="rect">
            <a:avLst/>
          </a:prstGeom>
          <a:noFill/>
        </p:spPr>
        <p:txBody>
          <a:bodyPr wrap="none" lIns="0" rIns="0" tIns="0" bIns="0" anchor="ctr">
            <a:spAutoFit/>
          </a:bodyPr>
          <a:lstStyle/>
          <a:p>
            <a:pPr algn="l"/>
            <a:r>
              <a:rPr sz="1100" b="1">
                <a:solidFill>
                  <a:srgbClr val="008189"/>
                </a:solidFill>
                <a:latin typeface="Calibri"/>
              </a:rPr>
              <a:t>✔</a:t>
            </a:r>
          </a:p>
        </p:txBody>
      </p:sp>
      <p:sp>
        <p:nvSpPr>
          <p:cNvPr id="342" name="TextBox 341"/>
          <p:cNvSpPr txBox="1"/>
          <p:nvPr/>
        </p:nvSpPr>
        <p:spPr>
          <a:xfrm>
            <a:off x="475615" y="5890125"/>
            <a:ext cx="457200" cy="164283"/>
          </a:xfrm>
          <a:prstGeom prst="rect">
            <a:avLst/>
          </a:prstGeom>
          <a:noFill/>
        </p:spPr>
        <p:txBody>
          <a:bodyPr wrap="square" lIns="0" rIns="0" tIns="0" bIns="0" anchor="ctr">
            <a:spAutoFit/>
          </a:bodyPr>
          <a:lstStyle/>
          <a:p>
            <a:pPr algn="l"/>
            <a:r>
              <a:rPr sz="1100" b="0">
                <a:solidFill>
                  <a:srgbClr val="2E2E2E"/>
                </a:solidFill>
                <a:latin typeface="Calibri"/>
              </a:rPr>
              <a:t>served</a:t>
            </a:r>
          </a:p>
        </p:txBody>
      </p:sp>
      <p:sp>
        <p:nvSpPr>
          <p:cNvPr id="343" name="TextBox 342"/>
          <p:cNvSpPr txBox="1"/>
          <p:nvPr/>
        </p:nvSpPr>
        <p:spPr>
          <a:xfrm>
            <a:off x="913765" y="5890125"/>
            <a:ext cx="208915" cy="164283"/>
          </a:xfrm>
          <a:prstGeom prst="rect">
            <a:avLst/>
          </a:prstGeom>
          <a:noFill/>
        </p:spPr>
        <p:txBody>
          <a:bodyPr wrap="none" lIns="0" rIns="0" tIns="0" bIns="0" anchor="ctr">
            <a:spAutoFit/>
          </a:bodyPr>
          <a:lstStyle/>
          <a:p>
            <a:pPr algn="l"/>
            <a:r>
              <a:rPr sz="1100" b="1">
                <a:solidFill>
                  <a:srgbClr val="E44D3A"/>
                </a:solidFill>
                <a:latin typeface="Calibri"/>
              </a:rPr>
              <a:t>✘</a:t>
            </a:r>
          </a:p>
        </p:txBody>
      </p:sp>
      <p:sp>
        <p:nvSpPr>
          <p:cNvPr id="344" name="TextBox 343"/>
          <p:cNvSpPr txBox="1"/>
          <p:nvPr/>
        </p:nvSpPr>
        <p:spPr>
          <a:xfrm>
            <a:off x="1103630" y="5890125"/>
            <a:ext cx="683419" cy="164283"/>
          </a:xfrm>
          <a:prstGeom prst="rect">
            <a:avLst/>
          </a:prstGeom>
          <a:noFill/>
        </p:spPr>
        <p:txBody>
          <a:bodyPr wrap="square" lIns="0" rIns="0" tIns="0" bIns="0" anchor="ctr">
            <a:spAutoFit/>
          </a:bodyPr>
          <a:lstStyle/>
          <a:p>
            <a:pPr algn="l"/>
            <a:r>
              <a:rPr sz="1100" b="0">
                <a:solidFill>
                  <a:srgbClr val="2E2E2E"/>
                </a:solidFill>
                <a:latin typeface="Calibri"/>
              </a:rPr>
              <a:t>not served</a:t>
            </a:r>
          </a:p>
        </p:txBody>
      </p:sp>
      <p:sp>
        <p:nvSpPr>
          <p:cNvPr id="345" name="TextBox 344"/>
          <p:cNvSpPr txBox="1"/>
          <p:nvPr/>
        </p:nvSpPr>
        <p:spPr>
          <a:xfrm>
            <a:off x="1939449" y="5890125"/>
            <a:ext cx="1183481" cy="164283"/>
          </a:xfrm>
          <a:prstGeom prst="rect">
            <a:avLst/>
          </a:prstGeom>
          <a:noFill/>
        </p:spPr>
        <p:txBody>
          <a:bodyPr wrap="square" lIns="0" rIns="0" tIns="0" bIns="0" anchor="ctr">
            <a:spAutoFit/>
          </a:bodyPr>
          <a:lstStyle/>
          <a:p>
            <a:pPr algn="l"/>
            <a:r>
              <a:rPr sz="1100" b="1">
                <a:solidFill>
                  <a:srgbClr val="2E2E2E"/>
                </a:solidFill>
                <a:latin typeface="Calibri"/>
              </a:rPr>
              <a:t>Regional presence:</a:t>
            </a:r>
          </a:p>
        </p:txBody>
      </p:sp>
      <p:sp>
        <p:nvSpPr>
          <p:cNvPr id="346" name="TextBox 345"/>
          <p:cNvSpPr txBox="1"/>
          <p:nvPr/>
        </p:nvSpPr>
        <p:spPr>
          <a:xfrm>
            <a:off x="3103880" y="5890125"/>
            <a:ext cx="208915" cy="164283"/>
          </a:xfrm>
          <a:prstGeom prst="rect">
            <a:avLst/>
          </a:prstGeom>
          <a:noFill/>
        </p:spPr>
        <p:txBody>
          <a:bodyPr wrap="none" lIns="0" rIns="0" tIns="0" bIns="0" anchor="ctr">
            <a:spAutoFit/>
          </a:bodyPr>
          <a:lstStyle/>
          <a:p>
            <a:pPr algn="l"/>
            <a:r>
              <a:rPr sz="1100" b="1">
                <a:solidFill>
                  <a:srgbClr val="0E72AE"/>
                </a:solidFill>
                <a:latin typeface="Calibri"/>
              </a:rPr>
              <a:t>▲</a:t>
            </a:r>
          </a:p>
        </p:txBody>
      </p:sp>
      <p:sp>
        <p:nvSpPr>
          <p:cNvPr id="347" name="TextBox 346"/>
          <p:cNvSpPr txBox="1"/>
          <p:nvPr/>
        </p:nvSpPr>
        <p:spPr>
          <a:xfrm>
            <a:off x="3293745" y="5890125"/>
            <a:ext cx="338138" cy="164283"/>
          </a:xfrm>
          <a:prstGeom prst="rect">
            <a:avLst/>
          </a:prstGeom>
          <a:noFill/>
        </p:spPr>
        <p:txBody>
          <a:bodyPr wrap="none" lIns="0" rIns="0" tIns="0" bIns="0" anchor="ctr">
            <a:spAutoFit/>
          </a:bodyPr>
          <a:lstStyle/>
          <a:p>
            <a:pPr algn="l"/>
            <a:r>
              <a:rPr sz="1100" b="0">
                <a:solidFill>
                  <a:srgbClr val="2E2E2E"/>
                </a:solidFill>
                <a:latin typeface="Calibri"/>
              </a:rPr>
              <a:t>High</a:t>
            </a:r>
          </a:p>
        </p:txBody>
      </p:sp>
      <p:sp>
        <p:nvSpPr>
          <p:cNvPr id="348" name="TextBox 347"/>
          <p:cNvSpPr txBox="1"/>
          <p:nvPr/>
        </p:nvSpPr>
        <p:spPr>
          <a:xfrm>
            <a:off x="3612832" y="5890125"/>
            <a:ext cx="208915" cy="164283"/>
          </a:xfrm>
          <a:prstGeom prst="rect">
            <a:avLst/>
          </a:prstGeom>
          <a:noFill/>
        </p:spPr>
        <p:txBody>
          <a:bodyPr wrap="none" lIns="0" rIns="0" tIns="0" bIns="0" anchor="ctr">
            <a:spAutoFit/>
          </a:bodyPr>
          <a:lstStyle/>
          <a:p>
            <a:pPr algn="l"/>
            <a:r>
              <a:rPr sz="1100" b="1">
                <a:solidFill>
                  <a:srgbClr val="A86F00"/>
                </a:solidFill>
                <a:latin typeface="Calibri"/>
              </a:rPr>
              <a:t>▲</a:t>
            </a:r>
          </a:p>
        </p:txBody>
      </p:sp>
      <p:sp>
        <p:nvSpPr>
          <p:cNvPr id="349" name="TextBox 348"/>
          <p:cNvSpPr txBox="1"/>
          <p:nvPr/>
        </p:nvSpPr>
        <p:spPr>
          <a:xfrm>
            <a:off x="3802698" y="5890125"/>
            <a:ext cx="576262" cy="164283"/>
          </a:xfrm>
          <a:prstGeom prst="rect">
            <a:avLst/>
          </a:prstGeom>
          <a:noFill/>
        </p:spPr>
        <p:txBody>
          <a:bodyPr wrap="square" lIns="0" rIns="0" tIns="0" bIns="0" anchor="ctr">
            <a:spAutoFit/>
          </a:bodyPr>
          <a:lstStyle/>
          <a:p>
            <a:pPr algn="l"/>
            <a:r>
              <a:rPr sz="1100" b="0">
                <a:solidFill>
                  <a:srgbClr val="2E2E2E"/>
                </a:solidFill>
                <a:latin typeface="Calibri"/>
              </a:rPr>
              <a:t>Medium</a:t>
            </a:r>
          </a:p>
        </p:txBody>
      </p:sp>
      <p:sp>
        <p:nvSpPr>
          <p:cNvPr id="350" name="TextBox 349"/>
          <p:cNvSpPr txBox="1"/>
          <p:nvPr/>
        </p:nvSpPr>
        <p:spPr>
          <a:xfrm>
            <a:off x="4340860" y="5890125"/>
            <a:ext cx="208915" cy="164283"/>
          </a:xfrm>
          <a:prstGeom prst="rect">
            <a:avLst/>
          </a:prstGeom>
          <a:noFill/>
        </p:spPr>
        <p:txBody>
          <a:bodyPr wrap="none" lIns="0" rIns="0" tIns="0" bIns="0" anchor="ctr">
            <a:spAutoFit/>
          </a:bodyPr>
          <a:lstStyle/>
          <a:p>
            <a:pPr algn="l"/>
            <a:r>
              <a:rPr sz="1100" b="1">
                <a:solidFill>
                  <a:srgbClr val="9AA3A8"/>
                </a:solidFill>
                <a:latin typeface="Calibri"/>
              </a:rPr>
              <a:t>▲</a:t>
            </a:r>
          </a:p>
        </p:txBody>
      </p:sp>
      <p:sp>
        <p:nvSpPr>
          <p:cNvPr id="351" name="TextBox 350"/>
          <p:cNvSpPr txBox="1"/>
          <p:nvPr/>
        </p:nvSpPr>
        <p:spPr>
          <a:xfrm>
            <a:off x="4530725" y="5890125"/>
            <a:ext cx="309562" cy="164283"/>
          </a:xfrm>
          <a:prstGeom prst="rect">
            <a:avLst/>
          </a:prstGeom>
          <a:noFill/>
        </p:spPr>
        <p:txBody>
          <a:bodyPr wrap="none" lIns="0" rIns="0" tIns="0" bIns="0" anchor="ctr">
            <a:spAutoFit/>
          </a:bodyPr>
          <a:lstStyle/>
          <a:p>
            <a:pPr algn="l"/>
            <a:r>
              <a:rPr sz="1100" b="0">
                <a:solidFill>
                  <a:srgbClr val="2E2E2E"/>
                </a:solidFill>
                <a:latin typeface="Calibri"/>
              </a:rPr>
              <a:t>Low</a:t>
            </a:r>
          </a:p>
        </p:txBody>
      </p:sp>
      <p:sp>
        <p:nvSpPr>
          <p:cNvPr id="352" name="Oval 351"/>
          <p:cNvSpPr/>
          <p:nvPr/>
        </p:nvSpPr>
        <p:spPr>
          <a:xfrm>
            <a:off x="285750"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TextBox 352"/>
          <p:cNvSpPr txBox="1"/>
          <p:nvPr/>
        </p:nvSpPr>
        <p:spPr>
          <a:xfrm>
            <a:off x="285750"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354" name="TextBox 353"/>
          <p:cNvSpPr txBox="1"/>
          <p:nvPr/>
        </p:nvSpPr>
        <p:spPr>
          <a:xfrm>
            <a:off x="495300" y="6072662"/>
            <a:ext cx="657225" cy="182537"/>
          </a:xfrm>
          <a:prstGeom prst="rect">
            <a:avLst/>
          </a:prstGeom>
          <a:noFill/>
        </p:spPr>
        <p:txBody>
          <a:bodyPr wrap="square" lIns="0" rIns="0" tIns="0" bIns="0" anchor="ctr">
            <a:spAutoFit/>
          </a:bodyPr>
          <a:lstStyle/>
          <a:p>
            <a:pPr algn="l"/>
            <a:r>
              <a:rPr sz="1100" b="0">
                <a:solidFill>
                  <a:srgbClr val="2E2E2E"/>
                </a:solidFill>
                <a:latin typeface="Calibri"/>
              </a:rPr>
              <a:t>Expansion</a:t>
            </a:r>
          </a:p>
        </p:txBody>
      </p:sp>
      <p:sp>
        <p:nvSpPr>
          <p:cNvPr id="355" name="Oval 354"/>
          <p:cNvSpPr/>
          <p:nvPr/>
        </p:nvSpPr>
        <p:spPr>
          <a:xfrm>
            <a:off x="1247775"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TextBox 355"/>
          <p:cNvSpPr txBox="1"/>
          <p:nvPr/>
        </p:nvSpPr>
        <p:spPr>
          <a:xfrm>
            <a:off x="1247775"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357" name="TextBox 356"/>
          <p:cNvSpPr txBox="1"/>
          <p:nvPr/>
        </p:nvSpPr>
        <p:spPr>
          <a:xfrm>
            <a:off x="1457325" y="6072662"/>
            <a:ext cx="1012031" cy="182537"/>
          </a:xfrm>
          <a:prstGeom prst="rect">
            <a:avLst/>
          </a:prstGeom>
          <a:noFill/>
        </p:spPr>
        <p:txBody>
          <a:bodyPr wrap="square" lIns="0" rIns="0" tIns="0" bIns="0" anchor="ctr">
            <a:spAutoFit/>
          </a:bodyPr>
          <a:lstStyle/>
          <a:p>
            <a:pPr algn="l"/>
            <a:r>
              <a:rPr sz="1100" b="0">
                <a:solidFill>
                  <a:srgbClr val="2E2E2E"/>
                </a:solidFill>
                <a:latin typeface="Calibri"/>
              </a:rPr>
              <a:t>R&amp;D Investment</a:t>
            </a:r>
          </a:p>
        </p:txBody>
      </p:sp>
      <p:sp>
        <p:nvSpPr>
          <p:cNvPr id="358" name="Oval 357"/>
          <p:cNvSpPr/>
          <p:nvPr/>
        </p:nvSpPr>
        <p:spPr>
          <a:xfrm>
            <a:off x="2564606"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TextBox 358"/>
          <p:cNvSpPr txBox="1"/>
          <p:nvPr/>
        </p:nvSpPr>
        <p:spPr>
          <a:xfrm>
            <a:off x="2564606"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360" name="TextBox 359"/>
          <p:cNvSpPr txBox="1"/>
          <p:nvPr/>
        </p:nvSpPr>
        <p:spPr>
          <a:xfrm>
            <a:off x="2774156" y="6072662"/>
            <a:ext cx="800100" cy="182537"/>
          </a:xfrm>
          <a:prstGeom prst="rect">
            <a:avLst/>
          </a:prstGeom>
          <a:noFill/>
        </p:spPr>
        <p:txBody>
          <a:bodyPr wrap="square" lIns="0" rIns="0" tIns="0" bIns="0" anchor="ctr">
            <a:spAutoFit/>
          </a:bodyPr>
          <a:lstStyle/>
          <a:p>
            <a:pPr algn="l"/>
            <a:r>
              <a:rPr sz="1100" b="0">
                <a:solidFill>
                  <a:srgbClr val="2E2E2E"/>
                </a:solidFill>
                <a:latin typeface="Calibri"/>
              </a:rPr>
              <a:t>Financial Aid</a:t>
            </a:r>
          </a:p>
        </p:txBody>
      </p:sp>
      <p:sp>
        <p:nvSpPr>
          <p:cNvPr id="361" name="Oval 360"/>
          <p:cNvSpPr/>
          <p:nvPr/>
        </p:nvSpPr>
        <p:spPr>
          <a:xfrm>
            <a:off x="3669506"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3669506"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363" name="TextBox 362"/>
          <p:cNvSpPr txBox="1"/>
          <p:nvPr/>
        </p:nvSpPr>
        <p:spPr>
          <a:xfrm>
            <a:off x="3879056" y="6072662"/>
            <a:ext cx="1328738" cy="182537"/>
          </a:xfrm>
          <a:prstGeom prst="rect">
            <a:avLst/>
          </a:prstGeom>
          <a:noFill/>
        </p:spPr>
        <p:txBody>
          <a:bodyPr wrap="square" lIns="0" rIns="0" tIns="0" bIns="0" anchor="ctr">
            <a:spAutoFit/>
          </a:bodyPr>
          <a:lstStyle/>
          <a:p>
            <a:pPr algn="l"/>
            <a:r>
              <a:rPr sz="1100" b="0">
                <a:solidFill>
                  <a:srgbClr val="2E2E2E"/>
                </a:solidFill>
                <a:latin typeface="Calibri"/>
              </a:rPr>
              <a:t>Product Development</a:t>
            </a:r>
          </a:p>
        </p:txBody>
      </p:sp>
      <p:sp>
        <p:nvSpPr>
          <p:cNvPr id="364" name="Oval 363"/>
          <p:cNvSpPr/>
          <p:nvPr/>
        </p:nvSpPr>
        <p:spPr>
          <a:xfrm>
            <a:off x="5303044"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TextBox 364"/>
          <p:cNvSpPr txBox="1"/>
          <p:nvPr/>
        </p:nvSpPr>
        <p:spPr>
          <a:xfrm>
            <a:off x="5303044"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366" name="TextBox 365"/>
          <p:cNvSpPr txBox="1"/>
          <p:nvPr/>
        </p:nvSpPr>
        <p:spPr>
          <a:xfrm>
            <a:off x="5512594" y="6072662"/>
            <a:ext cx="714375" cy="182537"/>
          </a:xfrm>
          <a:prstGeom prst="rect">
            <a:avLst/>
          </a:prstGeom>
          <a:noFill/>
        </p:spPr>
        <p:txBody>
          <a:bodyPr wrap="square" lIns="0" rIns="0" tIns="0" bIns="0" anchor="ctr">
            <a:spAutoFit/>
          </a:bodyPr>
          <a:lstStyle/>
          <a:p>
            <a:pPr algn="l"/>
            <a:r>
              <a:rPr sz="1100" b="0">
                <a:solidFill>
                  <a:srgbClr val="2E2E2E"/>
                </a:solidFill>
                <a:latin typeface="Calibri"/>
              </a:rPr>
              <a:t>Acquisition</a:t>
            </a:r>
          </a:p>
        </p:txBody>
      </p:sp>
      <p:sp>
        <p:nvSpPr>
          <p:cNvPr id="367" name="Oval 366"/>
          <p:cNvSpPr/>
          <p:nvPr/>
        </p:nvSpPr>
        <p:spPr>
          <a:xfrm>
            <a:off x="6322219"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TextBox 367"/>
          <p:cNvSpPr txBox="1"/>
          <p:nvPr/>
        </p:nvSpPr>
        <p:spPr>
          <a:xfrm>
            <a:off x="6322219"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69" name="TextBox 368"/>
          <p:cNvSpPr txBox="1"/>
          <p:nvPr/>
        </p:nvSpPr>
        <p:spPr>
          <a:xfrm>
            <a:off x="6531769" y="6072662"/>
            <a:ext cx="964406" cy="182537"/>
          </a:xfrm>
          <a:prstGeom prst="rect">
            <a:avLst/>
          </a:prstGeom>
          <a:noFill/>
        </p:spPr>
        <p:txBody>
          <a:bodyPr wrap="square" lIns="0" rIns="0" tIns="0" bIns="0" anchor="ctr">
            <a:spAutoFit/>
          </a:bodyPr>
          <a:lstStyle/>
          <a:p>
            <a:pPr algn="l"/>
            <a:r>
              <a:rPr sz="1100" b="0">
                <a:solidFill>
                  <a:srgbClr val="2E2E2E"/>
                </a:solidFill>
                <a:latin typeface="Calibri"/>
              </a:rPr>
              <a:t>Product Launch</a:t>
            </a:r>
          </a:p>
        </p:txBody>
      </p:sp>
      <p:sp>
        <p:nvSpPr>
          <p:cNvPr id="370" name="Oval 369"/>
          <p:cNvSpPr/>
          <p:nvPr/>
        </p:nvSpPr>
        <p:spPr>
          <a:xfrm>
            <a:off x="7591425"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TextBox 370"/>
          <p:cNvSpPr txBox="1"/>
          <p:nvPr/>
        </p:nvSpPr>
        <p:spPr>
          <a:xfrm>
            <a:off x="7591425"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72" name="TextBox 371"/>
          <p:cNvSpPr txBox="1"/>
          <p:nvPr/>
        </p:nvSpPr>
        <p:spPr>
          <a:xfrm>
            <a:off x="7800975" y="6072662"/>
            <a:ext cx="781050" cy="182537"/>
          </a:xfrm>
          <a:prstGeom prst="rect">
            <a:avLst/>
          </a:prstGeom>
          <a:noFill/>
        </p:spPr>
        <p:txBody>
          <a:bodyPr wrap="square" lIns="0" rIns="0" tIns="0" bIns="0" anchor="ctr">
            <a:spAutoFit/>
          </a:bodyPr>
          <a:lstStyle/>
          <a:p>
            <a:pPr algn="l"/>
            <a:r>
              <a:rPr sz="1100" b="0">
                <a:solidFill>
                  <a:srgbClr val="2E2E2E"/>
                </a:solidFill>
                <a:latin typeface="Calibri"/>
              </a:rPr>
              <a:t>Certification</a:t>
            </a:r>
          </a:p>
        </p:txBody>
      </p:sp>
      <p:sp>
        <p:nvSpPr>
          <p:cNvPr id="373" name="TextBox 372"/>
          <p:cNvSpPr txBox="1"/>
          <p:nvPr/>
        </p:nvSpPr>
        <p:spPr>
          <a:xfrm>
            <a:off x="285750" y="6273453"/>
            <a:ext cx="11620500" cy="155156"/>
          </a:xfrm>
          <a:prstGeom prst="rect">
            <a:avLst/>
          </a:prstGeom>
          <a:noFill/>
        </p:spPr>
        <p:txBody>
          <a:bodyPr wrap="square" lIns="0" rIns="0" tIns="0" bIns="0">
            <a:spAutoFit/>
          </a:bodyPr>
          <a:lstStyle/>
          <a:p>
            <a:pPr algn="l"/>
            <a:r>
              <a:rPr sz="1100" b="1">
                <a:solidFill>
                  <a:srgbClr val="A35313"/>
                </a:solidFill>
                <a:latin typeface="Calibri"/>
              </a:rPr>
              <a:t>Note: Market Share indicates the contribution of target revenue in Market</a:t>
            </a:r>
          </a:p>
        </p:txBody>
      </p:sp>
      <p:sp>
        <p:nvSpPr>
          <p:cNvPr id="374" name="TextBox 373"/>
          <p:cNvSpPr txBox="1"/>
          <p:nvPr/>
        </p:nvSpPr>
        <p:spPr>
          <a:xfrm>
            <a:off x="285750" y="6428609"/>
            <a:ext cx="11620500" cy="155156"/>
          </a:xfrm>
          <a:prstGeom prst="rect">
            <a:avLst/>
          </a:prstGeom>
          <a:noFill/>
        </p:spPr>
        <p:txBody>
          <a:bodyPr wrap="square" lIns="0" rIns="0" tIns="0" bIns="0">
            <a:spAutoFit/>
          </a:bodyPr>
          <a:lstStyle/>
          <a:p>
            <a:pPr algn="l"/>
            <a:r>
              <a:rPr sz="1100" b="1">
                <a:solidFill>
                  <a:srgbClr val="A35313"/>
                </a:solidFill>
                <a:latin typeface="Calibri"/>
              </a:rPr>
              <a:t>Revenue represents sales of the company from target market</a:t>
            </a:r>
          </a:p>
        </p:txBody>
      </p:sp>
      <p:sp>
        <p:nvSpPr>
          <p:cNvPr id="375" name="TextBox 37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76" name="Picture 375" descr="lock.png"/>
          <p:cNvPicPr>
            <a:picLocks noChangeAspect="1"/>
          </p:cNvPicPr>
          <p:nvPr/>
        </p:nvPicPr>
        <p:blipFill>
          <a:blip r:embed="rId4"/>
          <a:stretch>
            <a:fillRect/>
          </a:stretch>
        </p:blipFill>
        <p:spPr>
          <a:xfrm>
            <a:off x="1769213" y="2702524"/>
            <a:ext cx="128699" cy="187198"/>
          </a:xfrm>
          <a:prstGeom prst="rect">
            <a:avLst/>
          </a:prstGeom>
        </p:spPr>
      </p:pic>
      <p:pic>
        <p:nvPicPr>
          <p:cNvPr id="377" name="Picture 376" descr="lock.png"/>
          <p:cNvPicPr>
            <a:picLocks noChangeAspect="1"/>
          </p:cNvPicPr>
          <p:nvPr/>
        </p:nvPicPr>
        <p:blipFill>
          <a:blip r:embed="rId4"/>
          <a:stretch>
            <a:fillRect/>
          </a:stretch>
        </p:blipFill>
        <p:spPr>
          <a:xfrm>
            <a:off x="1769213" y="3031091"/>
            <a:ext cx="128699" cy="187198"/>
          </a:xfrm>
          <a:prstGeom prst="rect">
            <a:avLst/>
          </a:prstGeom>
        </p:spPr>
      </p:pic>
      <p:pic>
        <p:nvPicPr>
          <p:cNvPr id="378" name="Picture 377" descr="lock.png"/>
          <p:cNvPicPr>
            <a:picLocks noChangeAspect="1"/>
          </p:cNvPicPr>
          <p:nvPr/>
        </p:nvPicPr>
        <p:blipFill>
          <a:blip r:embed="rId4"/>
          <a:stretch>
            <a:fillRect/>
          </a:stretch>
        </p:blipFill>
        <p:spPr>
          <a:xfrm>
            <a:off x="1769212" y="3560448"/>
            <a:ext cx="128699" cy="187198"/>
          </a:xfrm>
          <a:prstGeom prst="rect">
            <a:avLst/>
          </a:prstGeom>
        </p:spPr>
      </p:pic>
      <p:pic>
        <p:nvPicPr>
          <p:cNvPr id="379" name="Picture 378" descr="lock.png"/>
          <p:cNvPicPr>
            <a:picLocks noChangeAspect="1"/>
          </p:cNvPicPr>
          <p:nvPr/>
        </p:nvPicPr>
        <p:blipFill>
          <a:blip r:embed="rId4"/>
          <a:stretch>
            <a:fillRect/>
          </a:stretch>
        </p:blipFill>
        <p:spPr>
          <a:xfrm>
            <a:off x="2845538" y="2702524"/>
            <a:ext cx="128699" cy="187198"/>
          </a:xfrm>
          <a:prstGeom prst="rect">
            <a:avLst/>
          </a:prstGeom>
        </p:spPr>
      </p:pic>
      <p:pic>
        <p:nvPicPr>
          <p:cNvPr id="380" name="Picture 379" descr="lock.png"/>
          <p:cNvPicPr>
            <a:picLocks noChangeAspect="1"/>
          </p:cNvPicPr>
          <p:nvPr/>
        </p:nvPicPr>
        <p:blipFill>
          <a:blip r:embed="rId4"/>
          <a:stretch>
            <a:fillRect/>
          </a:stretch>
        </p:blipFill>
        <p:spPr>
          <a:xfrm>
            <a:off x="2845538" y="3031091"/>
            <a:ext cx="128699" cy="187198"/>
          </a:xfrm>
          <a:prstGeom prst="rect">
            <a:avLst/>
          </a:prstGeom>
        </p:spPr>
      </p:pic>
      <p:pic>
        <p:nvPicPr>
          <p:cNvPr id="381" name="Picture 380" descr="lock.png"/>
          <p:cNvPicPr>
            <a:picLocks noChangeAspect="1"/>
          </p:cNvPicPr>
          <p:nvPr/>
        </p:nvPicPr>
        <p:blipFill>
          <a:blip r:embed="rId4"/>
          <a:stretch>
            <a:fillRect/>
          </a:stretch>
        </p:blipFill>
        <p:spPr>
          <a:xfrm>
            <a:off x="2845538" y="3560448"/>
            <a:ext cx="128699" cy="187198"/>
          </a:xfrm>
          <a:prstGeom prst="rect">
            <a:avLst/>
          </a:prstGeom>
        </p:spPr>
      </p:pic>
      <p:pic>
        <p:nvPicPr>
          <p:cNvPr id="382" name="Picture 381" descr="lock.png"/>
          <p:cNvPicPr>
            <a:picLocks noChangeAspect="1"/>
          </p:cNvPicPr>
          <p:nvPr/>
        </p:nvPicPr>
        <p:blipFill>
          <a:blip r:embed="rId4"/>
          <a:stretch>
            <a:fillRect/>
          </a:stretch>
        </p:blipFill>
        <p:spPr>
          <a:xfrm>
            <a:off x="3921863" y="2702524"/>
            <a:ext cx="128699" cy="187198"/>
          </a:xfrm>
          <a:prstGeom prst="rect">
            <a:avLst/>
          </a:prstGeom>
        </p:spPr>
      </p:pic>
      <p:pic>
        <p:nvPicPr>
          <p:cNvPr id="383" name="Picture 382" descr="lock.png"/>
          <p:cNvPicPr>
            <a:picLocks noChangeAspect="1"/>
          </p:cNvPicPr>
          <p:nvPr/>
        </p:nvPicPr>
        <p:blipFill>
          <a:blip r:embed="rId4"/>
          <a:stretch>
            <a:fillRect/>
          </a:stretch>
        </p:blipFill>
        <p:spPr>
          <a:xfrm>
            <a:off x="3921863" y="3031091"/>
            <a:ext cx="128699" cy="187198"/>
          </a:xfrm>
          <a:prstGeom prst="rect">
            <a:avLst/>
          </a:prstGeom>
        </p:spPr>
      </p:pic>
      <p:pic>
        <p:nvPicPr>
          <p:cNvPr id="384" name="Picture 383" descr="lock.png"/>
          <p:cNvPicPr>
            <a:picLocks noChangeAspect="1"/>
          </p:cNvPicPr>
          <p:nvPr/>
        </p:nvPicPr>
        <p:blipFill>
          <a:blip r:embed="rId4"/>
          <a:stretch>
            <a:fillRect/>
          </a:stretch>
        </p:blipFill>
        <p:spPr>
          <a:xfrm>
            <a:off x="3921862" y="3560448"/>
            <a:ext cx="128699" cy="187198"/>
          </a:xfrm>
          <a:prstGeom prst="rect">
            <a:avLst/>
          </a:prstGeom>
        </p:spPr>
      </p:pic>
      <p:pic>
        <p:nvPicPr>
          <p:cNvPr id="385" name="Picture 384" descr="lock.png"/>
          <p:cNvPicPr>
            <a:picLocks noChangeAspect="1"/>
          </p:cNvPicPr>
          <p:nvPr/>
        </p:nvPicPr>
        <p:blipFill>
          <a:blip r:embed="rId4"/>
          <a:stretch>
            <a:fillRect/>
          </a:stretch>
        </p:blipFill>
        <p:spPr>
          <a:xfrm>
            <a:off x="4998188" y="2702524"/>
            <a:ext cx="128699" cy="187198"/>
          </a:xfrm>
          <a:prstGeom prst="rect">
            <a:avLst/>
          </a:prstGeom>
        </p:spPr>
      </p:pic>
      <p:pic>
        <p:nvPicPr>
          <p:cNvPr id="386" name="Picture 385" descr="lock.png"/>
          <p:cNvPicPr>
            <a:picLocks noChangeAspect="1"/>
          </p:cNvPicPr>
          <p:nvPr/>
        </p:nvPicPr>
        <p:blipFill>
          <a:blip r:embed="rId4"/>
          <a:stretch>
            <a:fillRect/>
          </a:stretch>
        </p:blipFill>
        <p:spPr>
          <a:xfrm>
            <a:off x="4998188" y="3031091"/>
            <a:ext cx="128699" cy="187198"/>
          </a:xfrm>
          <a:prstGeom prst="rect">
            <a:avLst/>
          </a:prstGeom>
        </p:spPr>
      </p:pic>
      <p:pic>
        <p:nvPicPr>
          <p:cNvPr id="387" name="Picture 386" descr="lock.png"/>
          <p:cNvPicPr>
            <a:picLocks noChangeAspect="1"/>
          </p:cNvPicPr>
          <p:nvPr/>
        </p:nvPicPr>
        <p:blipFill>
          <a:blip r:embed="rId4"/>
          <a:stretch>
            <a:fillRect/>
          </a:stretch>
        </p:blipFill>
        <p:spPr>
          <a:xfrm>
            <a:off x="4998188" y="3560448"/>
            <a:ext cx="128699" cy="187198"/>
          </a:xfrm>
          <a:prstGeom prst="rect">
            <a:avLst/>
          </a:prstGeom>
        </p:spPr>
      </p:pic>
      <p:pic>
        <p:nvPicPr>
          <p:cNvPr id="388" name="Picture 387" descr="lock.png"/>
          <p:cNvPicPr>
            <a:picLocks noChangeAspect="1"/>
          </p:cNvPicPr>
          <p:nvPr/>
        </p:nvPicPr>
        <p:blipFill>
          <a:blip r:embed="rId4"/>
          <a:stretch>
            <a:fillRect/>
          </a:stretch>
        </p:blipFill>
        <p:spPr>
          <a:xfrm>
            <a:off x="6074513" y="2702524"/>
            <a:ext cx="128699" cy="187198"/>
          </a:xfrm>
          <a:prstGeom prst="rect">
            <a:avLst/>
          </a:prstGeom>
        </p:spPr>
      </p:pic>
      <p:pic>
        <p:nvPicPr>
          <p:cNvPr id="389" name="Picture 388" descr="lock.png"/>
          <p:cNvPicPr>
            <a:picLocks noChangeAspect="1"/>
          </p:cNvPicPr>
          <p:nvPr/>
        </p:nvPicPr>
        <p:blipFill>
          <a:blip r:embed="rId4"/>
          <a:stretch>
            <a:fillRect/>
          </a:stretch>
        </p:blipFill>
        <p:spPr>
          <a:xfrm>
            <a:off x="6074513" y="3031091"/>
            <a:ext cx="128699" cy="187198"/>
          </a:xfrm>
          <a:prstGeom prst="rect">
            <a:avLst/>
          </a:prstGeom>
        </p:spPr>
      </p:pic>
      <p:pic>
        <p:nvPicPr>
          <p:cNvPr id="390" name="Picture 389" descr="lock.png"/>
          <p:cNvPicPr>
            <a:picLocks noChangeAspect="1"/>
          </p:cNvPicPr>
          <p:nvPr/>
        </p:nvPicPr>
        <p:blipFill>
          <a:blip r:embed="rId4"/>
          <a:stretch>
            <a:fillRect/>
          </a:stretch>
        </p:blipFill>
        <p:spPr>
          <a:xfrm>
            <a:off x="6074512" y="3560448"/>
            <a:ext cx="128699" cy="187198"/>
          </a:xfrm>
          <a:prstGeom prst="rect">
            <a:avLst/>
          </a:prstGeom>
        </p:spPr>
      </p:pic>
      <p:pic>
        <p:nvPicPr>
          <p:cNvPr id="391" name="Picture 390" descr="lock.png"/>
          <p:cNvPicPr>
            <a:picLocks noChangeAspect="1"/>
          </p:cNvPicPr>
          <p:nvPr/>
        </p:nvPicPr>
        <p:blipFill>
          <a:blip r:embed="rId4"/>
          <a:stretch>
            <a:fillRect/>
          </a:stretch>
        </p:blipFill>
        <p:spPr>
          <a:xfrm>
            <a:off x="7150838" y="2702524"/>
            <a:ext cx="128699" cy="187198"/>
          </a:xfrm>
          <a:prstGeom prst="rect">
            <a:avLst/>
          </a:prstGeom>
        </p:spPr>
      </p:pic>
      <p:pic>
        <p:nvPicPr>
          <p:cNvPr id="392" name="Picture 391" descr="lock.png"/>
          <p:cNvPicPr>
            <a:picLocks noChangeAspect="1"/>
          </p:cNvPicPr>
          <p:nvPr/>
        </p:nvPicPr>
        <p:blipFill>
          <a:blip r:embed="rId4"/>
          <a:stretch>
            <a:fillRect/>
          </a:stretch>
        </p:blipFill>
        <p:spPr>
          <a:xfrm>
            <a:off x="7150838" y="3031091"/>
            <a:ext cx="128699" cy="187198"/>
          </a:xfrm>
          <a:prstGeom prst="rect">
            <a:avLst/>
          </a:prstGeom>
        </p:spPr>
      </p:pic>
      <p:pic>
        <p:nvPicPr>
          <p:cNvPr id="393" name="Picture 392" descr="lock.png"/>
          <p:cNvPicPr>
            <a:picLocks noChangeAspect="1"/>
          </p:cNvPicPr>
          <p:nvPr/>
        </p:nvPicPr>
        <p:blipFill>
          <a:blip r:embed="rId4"/>
          <a:stretch>
            <a:fillRect/>
          </a:stretch>
        </p:blipFill>
        <p:spPr>
          <a:xfrm>
            <a:off x="7150838" y="3560448"/>
            <a:ext cx="128699" cy="187198"/>
          </a:xfrm>
          <a:prstGeom prst="rect">
            <a:avLst/>
          </a:prstGeom>
        </p:spPr>
      </p:pic>
      <p:pic>
        <p:nvPicPr>
          <p:cNvPr id="394" name="Picture 393" descr="lock.png"/>
          <p:cNvPicPr>
            <a:picLocks noChangeAspect="1"/>
          </p:cNvPicPr>
          <p:nvPr/>
        </p:nvPicPr>
        <p:blipFill>
          <a:blip r:embed="rId4"/>
          <a:stretch>
            <a:fillRect/>
          </a:stretch>
        </p:blipFill>
        <p:spPr>
          <a:xfrm>
            <a:off x="8227163" y="2702524"/>
            <a:ext cx="128699" cy="187198"/>
          </a:xfrm>
          <a:prstGeom prst="rect">
            <a:avLst/>
          </a:prstGeom>
        </p:spPr>
      </p:pic>
      <p:pic>
        <p:nvPicPr>
          <p:cNvPr id="395" name="Picture 394" descr="lock.png"/>
          <p:cNvPicPr>
            <a:picLocks noChangeAspect="1"/>
          </p:cNvPicPr>
          <p:nvPr/>
        </p:nvPicPr>
        <p:blipFill>
          <a:blip r:embed="rId4"/>
          <a:stretch>
            <a:fillRect/>
          </a:stretch>
        </p:blipFill>
        <p:spPr>
          <a:xfrm>
            <a:off x="8227163" y="3031091"/>
            <a:ext cx="128699" cy="187198"/>
          </a:xfrm>
          <a:prstGeom prst="rect">
            <a:avLst/>
          </a:prstGeom>
        </p:spPr>
      </p:pic>
      <p:pic>
        <p:nvPicPr>
          <p:cNvPr id="396" name="Picture 395" descr="lock.png"/>
          <p:cNvPicPr>
            <a:picLocks noChangeAspect="1"/>
          </p:cNvPicPr>
          <p:nvPr/>
        </p:nvPicPr>
        <p:blipFill>
          <a:blip r:embed="rId4"/>
          <a:stretch>
            <a:fillRect/>
          </a:stretch>
        </p:blipFill>
        <p:spPr>
          <a:xfrm>
            <a:off x="8227162" y="3560448"/>
            <a:ext cx="128699" cy="187198"/>
          </a:xfrm>
          <a:prstGeom prst="rect">
            <a:avLst/>
          </a:prstGeom>
        </p:spPr>
      </p:pic>
      <p:pic>
        <p:nvPicPr>
          <p:cNvPr id="397" name="Picture 396" descr="lock.png"/>
          <p:cNvPicPr>
            <a:picLocks noChangeAspect="1"/>
          </p:cNvPicPr>
          <p:nvPr/>
        </p:nvPicPr>
        <p:blipFill>
          <a:blip r:embed="rId4"/>
          <a:stretch>
            <a:fillRect/>
          </a:stretch>
        </p:blipFill>
        <p:spPr>
          <a:xfrm>
            <a:off x="9303488" y="2702524"/>
            <a:ext cx="128699" cy="187198"/>
          </a:xfrm>
          <a:prstGeom prst="rect">
            <a:avLst/>
          </a:prstGeom>
        </p:spPr>
      </p:pic>
      <p:pic>
        <p:nvPicPr>
          <p:cNvPr id="398" name="Picture 397" descr="lock.png"/>
          <p:cNvPicPr>
            <a:picLocks noChangeAspect="1"/>
          </p:cNvPicPr>
          <p:nvPr/>
        </p:nvPicPr>
        <p:blipFill>
          <a:blip r:embed="rId4"/>
          <a:stretch>
            <a:fillRect/>
          </a:stretch>
        </p:blipFill>
        <p:spPr>
          <a:xfrm>
            <a:off x="9303488" y="3031091"/>
            <a:ext cx="128699" cy="187198"/>
          </a:xfrm>
          <a:prstGeom prst="rect">
            <a:avLst/>
          </a:prstGeom>
        </p:spPr>
      </p:pic>
      <p:pic>
        <p:nvPicPr>
          <p:cNvPr id="399" name="Picture 398" descr="lock.png"/>
          <p:cNvPicPr>
            <a:picLocks noChangeAspect="1"/>
          </p:cNvPicPr>
          <p:nvPr/>
        </p:nvPicPr>
        <p:blipFill>
          <a:blip r:embed="rId4"/>
          <a:stretch>
            <a:fillRect/>
          </a:stretch>
        </p:blipFill>
        <p:spPr>
          <a:xfrm>
            <a:off x="9303488" y="3560448"/>
            <a:ext cx="128699" cy="187198"/>
          </a:xfrm>
          <a:prstGeom prst="rect">
            <a:avLst/>
          </a:prstGeom>
        </p:spPr>
      </p:pic>
      <p:pic>
        <p:nvPicPr>
          <p:cNvPr id="400" name="Picture 399" descr="lock.png"/>
          <p:cNvPicPr>
            <a:picLocks noChangeAspect="1"/>
          </p:cNvPicPr>
          <p:nvPr/>
        </p:nvPicPr>
        <p:blipFill>
          <a:blip r:embed="rId4"/>
          <a:stretch>
            <a:fillRect/>
          </a:stretch>
        </p:blipFill>
        <p:spPr>
          <a:xfrm>
            <a:off x="10379813" y="2702524"/>
            <a:ext cx="128699" cy="187198"/>
          </a:xfrm>
          <a:prstGeom prst="rect">
            <a:avLst/>
          </a:prstGeom>
        </p:spPr>
      </p:pic>
      <p:pic>
        <p:nvPicPr>
          <p:cNvPr id="401" name="Picture 400" descr="lock.png"/>
          <p:cNvPicPr>
            <a:picLocks noChangeAspect="1"/>
          </p:cNvPicPr>
          <p:nvPr/>
        </p:nvPicPr>
        <p:blipFill>
          <a:blip r:embed="rId4"/>
          <a:stretch>
            <a:fillRect/>
          </a:stretch>
        </p:blipFill>
        <p:spPr>
          <a:xfrm>
            <a:off x="10379813" y="3031091"/>
            <a:ext cx="128699" cy="187198"/>
          </a:xfrm>
          <a:prstGeom prst="rect">
            <a:avLst/>
          </a:prstGeom>
        </p:spPr>
      </p:pic>
      <p:pic>
        <p:nvPicPr>
          <p:cNvPr id="402" name="Picture 401" descr="lock.png"/>
          <p:cNvPicPr>
            <a:picLocks noChangeAspect="1"/>
          </p:cNvPicPr>
          <p:nvPr/>
        </p:nvPicPr>
        <p:blipFill>
          <a:blip r:embed="rId4"/>
          <a:stretch>
            <a:fillRect/>
          </a:stretch>
        </p:blipFill>
        <p:spPr>
          <a:xfrm>
            <a:off x="10379812" y="3560448"/>
            <a:ext cx="128699" cy="187198"/>
          </a:xfrm>
          <a:prstGeom prst="rect">
            <a:avLst/>
          </a:prstGeom>
        </p:spPr>
      </p:pic>
      <p:pic>
        <p:nvPicPr>
          <p:cNvPr id="403" name="Picture 402" descr="lock.png"/>
          <p:cNvPicPr>
            <a:picLocks noChangeAspect="1"/>
          </p:cNvPicPr>
          <p:nvPr/>
        </p:nvPicPr>
        <p:blipFill>
          <a:blip r:embed="rId4"/>
          <a:stretch>
            <a:fillRect/>
          </a:stretch>
        </p:blipFill>
        <p:spPr>
          <a:xfrm>
            <a:off x="11456138" y="2702524"/>
            <a:ext cx="128699" cy="187198"/>
          </a:xfrm>
          <a:prstGeom prst="rect">
            <a:avLst/>
          </a:prstGeom>
        </p:spPr>
      </p:pic>
      <p:pic>
        <p:nvPicPr>
          <p:cNvPr id="404" name="Picture 403" descr="lock.png"/>
          <p:cNvPicPr>
            <a:picLocks noChangeAspect="1"/>
          </p:cNvPicPr>
          <p:nvPr/>
        </p:nvPicPr>
        <p:blipFill>
          <a:blip r:embed="rId4"/>
          <a:stretch>
            <a:fillRect/>
          </a:stretch>
        </p:blipFill>
        <p:spPr>
          <a:xfrm>
            <a:off x="11456138" y="3031091"/>
            <a:ext cx="128699" cy="187198"/>
          </a:xfrm>
          <a:prstGeom prst="rect">
            <a:avLst/>
          </a:prstGeom>
        </p:spPr>
      </p:pic>
      <p:pic>
        <p:nvPicPr>
          <p:cNvPr id="405" name="Picture 404" descr="lock.png"/>
          <p:cNvPicPr>
            <a:picLocks noChangeAspect="1"/>
          </p:cNvPicPr>
          <p:nvPr/>
        </p:nvPicPr>
        <p:blipFill>
          <a:blip r:embed="rId4"/>
          <a:stretch>
            <a:fillRect/>
          </a:stretch>
        </p:blipFill>
        <p:spPr>
          <a:xfrm>
            <a:off x="11456138" y="3560448"/>
            <a:ext cx="128699" cy="187198"/>
          </a:xfrm>
          <a:prstGeom prst="rect">
            <a:avLst/>
          </a:prstGeom>
        </p:spPr>
      </p:pic>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2">
            <a:extLst>
              <a:ext uri="{FF2B5EF4-FFF2-40B4-BE49-F238E27FC236}">
                <a16:creationId xmlns:a16="http://schemas.microsoft.com/office/drawing/2014/main" id="{CCC9DC92-CC39-269D-F4F6-1BCD7363F9A2}"/>
              </a:ext>
            </a:extLst>
          </p:cNvPr>
          <p:cNvSpPr/>
          <p:nvPr/>
        </p:nvSpPr>
        <p:spPr>
          <a:xfrm>
            <a:off x="0" y="0"/>
            <a:ext cx="12192000" cy="6858000"/>
          </a:xfrm>
          <a:prstGeom prst="rect">
            <a:avLst/>
          </a:prstGeom>
          <a:solidFill>
            <a:srgbClr val="FFFFFF"/>
          </a:solidFill>
          <a:ln>
            <a:solidFill>
              <a:srgbClr val="FFFFFF"/>
            </a:solidFill>
          </a:ln>
        </p:spPr>
        <p:style>
          <a:lnRef idx="2">
            <a:srgbClr val="2A5F8F">
              <a:shade val="15000"/>
            </a:srgbClr>
          </a:lnRef>
          <a:fillRef idx="1">
            <a:srgbClr val="2A5F8F"/>
          </a:fillRef>
          <a:effectRef idx="0">
            <a:srgbClr val="2A5F8F"/>
          </a:effectRef>
          <a:fontRef idx="minor">
            <a:srgbClr val="FFFFFF"/>
          </a:fontRef>
        </p:style>
        <p:txBody>
          <a:bodyPr rtlCol="0" anchor="ctr"/>
          <a:lstStyle/>
          <a:p>
            <a:pPr algn="ctr"/>
            <a:endParaRPr lang="en-US"/>
          </a:p>
        </p:txBody>
      </p:sp>
      <p:grpSp>
        <p:nvGrpSpPr>
          <p:cNvPr id="4" name="Group 23">
            <a:extLst>
              <a:ext uri="{FF2B5EF4-FFF2-40B4-BE49-F238E27FC236}">
                <a16:creationId xmlns:a16="http://schemas.microsoft.com/office/drawing/2014/main" id="{85B8B5CB-8306-A876-1A56-F5D391EBE3A2}"/>
              </a:ext>
            </a:extLst>
          </p:cNvPr>
          <p:cNvGrpSpPr>
            <a:grpSpLocks/>
          </p:cNvGrpSpPr>
          <p:nvPr/>
        </p:nvGrpSpPr>
        <p:grpSpPr bwMode="auto">
          <a:xfrm>
            <a:off x="152400" y="164419"/>
            <a:ext cx="12039600" cy="6021387"/>
            <a:chOff x="76010" y="229820"/>
            <a:chExt cx="12039981" cy="6021526"/>
          </a:xfrm>
        </p:grpSpPr>
        <p:sp>
          <p:nvSpPr>
            <p:cNvPr id="5" name="Rectangle 22">
              <a:extLst>
                <a:ext uri="{FF2B5EF4-FFF2-40B4-BE49-F238E27FC236}">
                  <a16:creationId xmlns:a16="http://schemas.microsoft.com/office/drawing/2014/main" id="{899C401F-7B85-B769-45BD-852117B2EFA8}"/>
                </a:ext>
              </a:extLst>
            </p:cNvPr>
            <p:cNvSpPr>
              <a:spLocks noChangeArrowheads="1"/>
            </p:cNvSpPr>
            <p:nvPr/>
          </p:nvSpPr>
          <p:spPr bwMode="auto">
            <a:xfrm>
              <a:off x="4523037" y="5943569"/>
              <a:ext cx="31459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tabLst>
                  <a:tab pos="930275" algn="l"/>
                </a:tabLst>
                <a:defRPr>
                  <a:solidFill>
                    <a:srgbClr val="000000"/>
                  </a:solidFill>
                  <a:latin typeface="Arial" panose="020B0604020202020204" pitchFamily="34" charset="0"/>
                  <a:cs typeface="Arial" panose="020B0604020202020204" pitchFamily="34" charset="0"/>
                </a:defRPr>
              </a:lvl1pPr>
              <a:lvl2pPr marL="742950" indent="-285750">
                <a:tabLst>
                  <a:tab pos="930275" algn="l"/>
                </a:tabLst>
                <a:defRPr>
                  <a:solidFill>
                    <a:srgbClr val="000000"/>
                  </a:solidFill>
                  <a:latin typeface="Arial" panose="020B0604020202020204" pitchFamily="34" charset="0"/>
                  <a:cs typeface="Arial" panose="020B0604020202020204" pitchFamily="34" charset="0"/>
                </a:defRPr>
              </a:lvl2pPr>
              <a:lvl3pPr marL="1143000" indent="-228600">
                <a:tabLst>
                  <a:tab pos="930275" algn="l"/>
                </a:tabLst>
                <a:defRPr>
                  <a:solidFill>
                    <a:srgbClr val="000000"/>
                  </a:solidFill>
                  <a:latin typeface="Arial" panose="020B0604020202020204" pitchFamily="34" charset="0"/>
                  <a:cs typeface="Arial" panose="020B0604020202020204" pitchFamily="34" charset="0"/>
                </a:defRPr>
              </a:lvl3pPr>
              <a:lvl4pPr marL="1600200" indent="-228600">
                <a:tabLst>
                  <a:tab pos="930275" algn="l"/>
                </a:tabLst>
                <a:defRPr>
                  <a:solidFill>
                    <a:srgbClr val="000000"/>
                  </a:solidFill>
                  <a:latin typeface="Arial" panose="020B0604020202020204" pitchFamily="34" charset="0"/>
                  <a:cs typeface="Arial" panose="020B0604020202020204" pitchFamily="34" charset="0"/>
                </a:defRPr>
              </a:lvl4pPr>
              <a:lvl5pPr marL="2057400" indent="-228600">
                <a:tabLst>
                  <a:tab pos="930275" algn="l"/>
                </a:tabLst>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9pPr>
            </a:lstStyle>
            <a:p>
              <a:pPr algn="ctr">
                <a:spcBef>
                  <a:spcPts val="200"/>
                </a:spcBef>
                <a:spcAft>
                  <a:spcPts val="200"/>
                </a:spcAft>
              </a:pPr>
              <a:r>
                <a:rPr lang="en-GB" altLang="en-US" sz="1400" b="1">
                  <a:ea typeface="MS PGothic" panose="020B0600070205080204" pitchFamily="34" charset="-128"/>
                </a:rPr>
                <a:t>Email: sales@futuremarketinsights.com</a:t>
              </a:r>
            </a:p>
          </p:txBody>
        </p:sp>
        <p:grpSp>
          <p:nvGrpSpPr>
            <p:cNvPr id="6" name="Group 21">
              <a:extLst>
                <a:ext uri="{FF2B5EF4-FFF2-40B4-BE49-F238E27FC236}">
                  <a16:creationId xmlns:a16="http://schemas.microsoft.com/office/drawing/2014/main" id="{5FBB3E24-8D41-905A-6BA3-11149D7E0A50}"/>
                </a:ext>
              </a:extLst>
            </p:cNvPr>
            <p:cNvGrpSpPr>
              <a:grpSpLocks/>
            </p:cNvGrpSpPr>
            <p:nvPr/>
          </p:nvGrpSpPr>
          <p:grpSpPr bwMode="auto">
            <a:xfrm>
              <a:off x="76010" y="229820"/>
              <a:ext cx="12039981" cy="5526596"/>
              <a:chOff x="76010" y="229820"/>
              <a:chExt cx="12039981" cy="5526596"/>
            </a:xfrm>
          </p:grpSpPr>
          <p:grpSp>
            <p:nvGrpSpPr>
              <p:cNvPr id="7" name="Group 24">
                <a:extLst>
                  <a:ext uri="{FF2B5EF4-FFF2-40B4-BE49-F238E27FC236}">
                    <a16:creationId xmlns:a16="http://schemas.microsoft.com/office/drawing/2014/main" id="{34C0848D-58FD-B698-603B-B8D2C7863B12}"/>
                  </a:ext>
                </a:extLst>
              </p:cNvPr>
              <p:cNvGrpSpPr>
                <a:grpSpLocks/>
              </p:cNvGrpSpPr>
              <p:nvPr/>
            </p:nvGrpSpPr>
            <p:grpSpPr bwMode="auto">
              <a:xfrm>
                <a:off x="76010" y="3513022"/>
                <a:ext cx="12039981" cy="54864"/>
                <a:chOff x="980685" y="3697699"/>
                <a:chExt cx="9950397" cy="54864"/>
              </a:xfrm>
            </p:grpSpPr>
            <p:sp>
              <p:nvSpPr>
                <p:cNvPr id="8" name="Rectangle 44">
                  <a:extLst>
                    <a:ext uri="{FF2B5EF4-FFF2-40B4-BE49-F238E27FC236}">
                      <a16:creationId xmlns:a16="http://schemas.microsoft.com/office/drawing/2014/main" id="{4C55A7B5-34B4-8F78-1AE4-63BEB5D835CF}"/>
                    </a:ext>
                  </a:extLst>
                </p:cNvPr>
                <p:cNvSpPr/>
                <p:nvPr/>
              </p:nvSpPr>
              <p:spPr>
                <a:xfrm>
                  <a:off x="980685" y="3697523"/>
                  <a:ext cx="3109499" cy="55563"/>
                </a:xfrm>
                <a:prstGeom prst="rect">
                  <a:avLst/>
                </a:prstGeom>
                <a:solidFill>
                  <a:srgbClr val="92C73E"/>
                </a:solidFill>
                <a:ln>
                  <a:noFill/>
                </a:ln>
              </p:spPr>
              <p:style>
                <a:lnRef idx="2">
                  <a:srgbClr val="2A5F8F">
                    <a:shade val="50000"/>
                  </a:srgbClr>
                </a:lnRef>
                <a:fillRef idx="1">
                  <a:srgbClr val="2A5F8F"/>
                </a:fillRef>
                <a:effectRef idx="0">
                  <a:srgbClr val="2A5F8F"/>
                </a:effectRef>
                <a:fontRef idx="minor">
                  <a:srgbClr val="FFFFFF"/>
                </a:fontRef>
              </p:style>
              <p:txBody>
                <a:bodyPr anchor="ctr"/>
                <a:lstStyle/>
                <a:p>
                  <a:pPr algn="ctr">
                    <a:defRPr/>
                  </a:pPr>
                  <a:endParaRPr lang="en-IN"/>
                </a:p>
              </p:txBody>
            </p:sp>
            <p:sp>
              <p:nvSpPr>
                <p:cNvPr id="9" name="Rectangle 45">
                  <a:extLst>
                    <a:ext uri="{FF2B5EF4-FFF2-40B4-BE49-F238E27FC236}">
                      <a16:creationId xmlns:a16="http://schemas.microsoft.com/office/drawing/2014/main" id="{F34EF18C-34C1-6B37-6F48-1B3AC01098EE}"/>
                    </a:ext>
                  </a:extLst>
                </p:cNvPr>
                <p:cNvSpPr/>
                <p:nvPr/>
              </p:nvSpPr>
              <p:spPr>
                <a:xfrm>
                  <a:off x="4401134" y="3697523"/>
                  <a:ext cx="3109499" cy="55563"/>
                </a:xfrm>
                <a:prstGeom prst="rect">
                  <a:avLst/>
                </a:prstGeom>
                <a:solidFill>
                  <a:srgbClr val="EF5123"/>
                </a:solidFill>
                <a:ln>
                  <a:noFill/>
                </a:ln>
              </p:spPr>
              <p:style>
                <a:lnRef idx="2">
                  <a:srgbClr val="2A5F8F">
                    <a:shade val="50000"/>
                  </a:srgbClr>
                </a:lnRef>
                <a:fillRef idx="1">
                  <a:srgbClr val="2A5F8F"/>
                </a:fillRef>
                <a:effectRef idx="0">
                  <a:srgbClr val="2A5F8F"/>
                </a:effectRef>
                <a:fontRef idx="minor">
                  <a:srgbClr val="FFFFFF"/>
                </a:fontRef>
              </p:style>
              <p:txBody>
                <a:bodyPr anchor="ctr"/>
                <a:lstStyle/>
                <a:p>
                  <a:pPr algn="ctr">
                    <a:defRPr/>
                  </a:pPr>
                  <a:endParaRPr lang="en-IN"/>
                </a:p>
              </p:txBody>
            </p:sp>
            <p:sp>
              <p:nvSpPr>
                <p:cNvPr id="10" name="Rectangle 46">
                  <a:extLst>
                    <a:ext uri="{FF2B5EF4-FFF2-40B4-BE49-F238E27FC236}">
                      <a16:creationId xmlns:a16="http://schemas.microsoft.com/office/drawing/2014/main" id="{1DC20229-C001-A2E1-EEF4-879BB49DF54C}"/>
                    </a:ext>
                  </a:extLst>
                </p:cNvPr>
                <p:cNvSpPr/>
                <p:nvPr/>
              </p:nvSpPr>
              <p:spPr>
                <a:xfrm>
                  <a:off x="7821583" y="3697523"/>
                  <a:ext cx="3109499" cy="55563"/>
                </a:xfrm>
                <a:prstGeom prst="rect">
                  <a:avLst/>
                </a:prstGeom>
                <a:solidFill>
                  <a:srgbClr val="8F288C"/>
                </a:solidFill>
                <a:ln>
                  <a:noFill/>
                </a:ln>
              </p:spPr>
              <p:style>
                <a:lnRef idx="2">
                  <a:srgbClr val="2A5F8F">
                    <a:shade val="50000"/>
                  </a:srgbClr>
                </a:lnRef>
                <a:fillRef idx="1">
                  <a:srgbClr val="2A5F8F"/>
                </a:fillRef>
                <a:effectRef idx="0">
                  <a:srgbClr val="2A5F8F"/>
                </a:effectRef>
                <a:fontRef idx="minor">
                  <a:srgbClr val="FFFFFF"/>
                </a:fontRef>
              </p:style>
              <p:txBody>
                <a:bodyPr anchor="ctr"/>
                <a:lstStyle/>
                <a:p>
                  <a:pPr algn="ctr">
                    <a:defRPr/>
                  </a:pPr>
                  <a:endParaRPr lang="en-IN"/>
                </a:p>
              </p:txBody>
            </p:sp>
          </p:grpSp>
          <p:grpSp>
            <p:nvGrpSpPr>
              <p:cNvPr id="11" name="Group 7">
                <a:extLst>
                  <a:ext uri="{FF2B5EF4-FFF2-40B4-BE49-F238E27FC236}">
                    <a16:creationId xmlns:a16="http://schemas.microsoft.com/office/drawing/2014/main" id="{F5B19A97-FB1F-FD32-44EF-0C72BC8DD69D}"/>
                  </a:ext>
                </a:extLst>
              </p:cNvPr>
              <p:cNvGrpSpPr>
                <a:grpSpLocks/>
              </p:cNvGrpSpPr>
              <p:nvPr/>
            </p:nvGrpSpPr>
            <p:grpSpPr bwMode="auto">
              <a:xfrm>
                <a:off x="249774" y="3716063"/>
                <a:ext cx="11668690" cy="2040353"/>
                <a:chOff x="249774" y="3716063"/>
                <a:chExt cx="11668690" cy="2040353"/>
              </a:xfrm>
            </p:grpSpPr>
            <p:cxnSp>
              <p:nvCxnSpPr>
                <p:cNvPr id="12" name="Straight Connector 13">
                  <a:extLst>
                    <a:ext uri="{FF2B5EF4-FFF2-40B4-BE49-F238E27FC236}">
                      <a16:creationId xmlns:a16="http://schemas.microsoft.com/office/drawing/2014/main" id="{6212A6C9-95CF-65EB-6160-29A1FA8799D8}"/>
                    </a:ext>
                  </a:extLst>
                </p:cNvPr>
                <p:cNvCxnSpPr/>
                <p:nvPr/>
              </p:nvCxnSpPr>
              <p:spPr>
                <a:xfrm>
                  <a:off x="2973289" y="3736688"/>
                  <a:ext cx="0" cy="2011409"/>
                </a:xfrm>
                <a:prstGeom prst="line">
                  <a:avLst/>
                </a:prstGeom>
                <a:ln w="12700" cap="rnd">
                  <a:solidFill>
                    <a:srgbClr val="00B0F0"/>
                  </a:solidFill>
                  <a:prstDash val="sysDash"/>
                  <a:round/>
                </a:ln>
              </p:spPr>
              <p:style>
                <a:lnRef idx="1">
                  <a:srgbClr val="2A5F8F"/>
                </a:lnRef>
                <a:fillRef idx="0">
                  <a:srgbClr val="2A5F8F"/>
                </a:fillRef>
                <a:effectRef idx="0">
                  <a:srgbClr val="2A5F8F"/>
                </a:effectRef>
                <a:fontRef idx="minor">
                  <a:srgbClr val="000000"/>
                </a:fontRef>
              </p:style>
            </p:cxnSp>
            <p:cxnSp>
              <p:nvCxnSpPr>
                <p:cNvPr id="13" name="Straight Connector 14">
                  <a:extLst>
                    <a:ext uri="{FF2B5EF4-FFF2-40B4-BE49-F238E27FC236}">
                      <a16:creationId xmlns:a16="http://schemas.microsoft.com/office/drawing/2014/main" id="{5569CE85-C66C-AE72-E1E5-D22A37A01501}"/>
                    </a:ext>
                  </a:extLst>
                </p:cNvPr>
                <p:cNvCxnSpPr/>
                <p:nvPr/>
              </p:nvCxnSpPr>
              <p:spPr>
                <a:xfrm>
                  <a:off x="6226179" y="3736688"/>
                  <a:ext cx="0" cy="2011409"/>
                </a:xfrm>
                <a:prstGeom prst="line">
                  <a:avLst/>
                </a:prstGeom>
                <a:ln w="12700" cap="rnd">
                  <a:solidFill>
                    <a:srgbClr val="00B0F0"/>
                  </a:solidFill>
                  <a:prstDash val="sysDash"/>
                  <a:round/>
                </a:ln>
              </p:spPr>
              <p:style>
                <a:lnRef idx="1">
                  <a:srgbClr val="2A5F8F"/>
                </a:lnRef>
                <a:fillRef idx="0">
                  <a:srgbClr val="2A5F8F"/>
                </a:fillRef>
                <a:effectRef idx="0">
                  <a:srgbClr val="2A5F8F"/>
                </a:effectRef>
                <a:fontRef idx="minor">
                  <a:srgbClr val="000000"/>
                </a:fontRef>
              </p:style>
            </p:cxnSp>
            <p:cxnSp>
              <p:nvCxnSpPr>
                <p:cNvPr id="14" name="Straight Connector 15">
                  <a:extLst>
                    <a:ext uri="{FF2B5EF4-FFF2-40B4-BE49-F238E27FC236}">
                      <a16:creationId xmlns:a16="http://schemas.microsoft.com/office/drawing/2014/main" id="{7FFA3833-E6A1-2A12-9739-19E5C6B0D04D}"/>
                    </a:ext>
                  </a:extLst>
                </p:cNvPr>
                <p:cNvCxnSpPr/>
                <p:nvPr/>
              </p:nvCxnSpPr>
              <p:spPr>
                <a:xfrm>
                  <a:off x="9426680" y="3736688"/>
                  <a:ext cx="0" cy="2011409"/>
                </a:xfrm>
                <a:prstGeom prst="line">
                  <a:avLst/>
                </a:prstGeom>
                <a:ln w="12700" cap="rnd">
                  <a:solidFill>
                    <a:srgbClr val="00B0F0"/>
                  </a:solidFill>
                  <a:prstDash val="sysDash"/>
                  <a:round/>
                </a:ln>
              </p:spPr>
              <p:style>
                <a:lnRef idx="1">
                  <a:srgbClr val="2A5F8F"/>
                </a:lnRef>
                <a:fillRef idx="0">
                  <a:srgbClr val="2A5F8F"/>
                </a:fillRef>
                <a:effectRef idx="0">
                  <a:srgbClr val="2A5F8F"/>
                </a:effectRef>
                <a:fontRef idx="minor">
                  <a:srgbClr val="000000"/>
                </a:fontRef>
              </p:style>
            </p:cxnSp>
            <p:grpSp>
              <p:nvGrpSpPr>
                <p:cNvPr id="15" name="Group 3">
                  <a:extLst>
                    <a:ext uri="{FF2B5EF4-FFF2-40B4-BE49-F238E27FC236}">
                      <a16:creationId xmlns:a16="http://schemas.microsoft.com/office/drawing/2014/main" id="{D6026827-3752-097F-C4B9-B5B0A33C1EE7}"/>
                    </a:ext>
                  </a:extLst>
                </p:cNvPr>
                <p:cNvGrpSpPr>
                  <a:grpSpLocks/>
                </p:cNvGrpSpPr>
                <p:nvPr/>
              </p:nvGrpSpPr>
              <p:grpSpPr bwMode="auto">
                <a:xfrm>
                  <a:off x="6746181" y="3731157"/>
                  <a:ext cx="2280186" cy="1706483"/>
                  <a:chOff x="6498583" y="3532655"/>
                  <a:chExt cx="2280186" cy="1706483"/>
                </a:xfrm>
              </p:grpSpPr>
              <p:grpSp>
                <p:nvGrpSpPr>
                  <p:cNvPr id="16" name="Group 28">
                    <a:extLst>
                      <a:ext uri="{FF2B5EF4-FFF2-40B4-BE49-F238E27FC236}">
                        <a16:creationId xmlns:a16="http://schemas.microsoft.com/office/drawing/2014/main" id="{F6A97133-09A9-4882-223C-0670F6DFD7E0}"/>
                      </a:ext>
                    </a:extLst>
                  </p:cNvPr>
                  <p:cNvGrpSpPr>
                    <a:grpSpLocks/>
                  </p:cNvGrpSpPr>
                  <p:nvPr/>
                </p:nvGrpSpPr>
                <p:grpSpPr bwMode="auto">
                  <a:xfrm>
                    <a:off x="6498583" y="3653110"/>
                    <a:ext cx="2280186" cy="1586028"/>
                    <a:chOff x="6373418" y="3837787"/>
                    <a:chExt cx="2280186" cy="1586028"/>
                  </a:xfrm>
                </p:grpSpPr>
                <p:sp>
                  <p:nvSpPr>
                    <p:cNvPr id="17" name="TextBox 39">
                      <a:extLst>
                        <a:ext uri="{FF2B5EF4-FFF2-40B4-BE49-F238E27FC236}">
                          <a16:creationId xmlns:a16="http://schemas.microsoft.com/office/drawing/2014/main" id="{46D75380-0311-71C0-CC91-426529CAAF89}"/>
                        </a:ext>
                      </a:extLst>
                    </p:cNvPr>
                    <p:cNvSpPr txBox="1">
                      <a:spLocks noChangeArrowheads="1"/>
                    </p:cNvSpPr>
                    <p:nvPr/>
                  </p:nvSpPr>
                  <p:spPr bwMode="auto">
                    <a:xfrm>
                      <a:off x="6734296" y="3837787"/>
                      <a:ext cx="19193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IN" altLang="en-US" sz="1600" b="1">
                          <a:solidFill>
                            <a:srgbClr val="FF4500"/>
                          </a:solidFill>
                        </a:rPr>
                        <a:t>Middle East &amp; Africa</a:t>
                      </a:r>
                    </a:p>
                  </p:txBody>
                </p:sp>
                <p:sp>
                  <p:nvSpPr>
                    <p:cNvPr id="18" name="TextBox 42">
                      <a:extLst>
                        <a:ext uri="{FF2B5EF4-FFF2-40B4-BE49-F238E27FC236}">
                          <a16:creationId xmlns:a16="http://schemas.microsoft.com/office/drawing/2014/main" id="{5809E9B9-E741-68AD-D217-E199E00794EE}"/>
                        </a:ext>
                      </a:extLst>
                    </p:cNvPr>
                    <p:cNvSpPr txBox="1"/>
                    <p:nvPr/>
                  </p:nvSpPr>
                  <p:spPr>
                    <a:xfrm>
                      <a:off x="6374132" y="4322952"/>
                      <a:ext cx="1760594" cy="306395"/>
                    </a:xfrm>
                    <a:prstGeom prst="rect">
                      <a:avLst/>
                    </a:prstGeom>
                    <a:noFill/>
                  </p:spPr>
                  <p:txBody>
                    <a:bodyPr wrap="none">
                      <a:spAutoFit/>
                    </a:bodyPr>
                    <a:lstStyle/>
                    <a:p>
                      <a:pPr>
                        <a:defRPr/>
                      </a:pPr>
                      <a:r>
                        <a:rPr lang="en-IN" sz="1400" b="1" dirty="0">
                          <a:solidFill>
                            <a:srgbClr val="F8F8F8">
                              <a:lumMod val="25000"/>
                            </a:srgbClr>
                          </a:solidFill>
                        </a:rPr>
                        <a:t>Market Access DMCC</a:t>
                      </a:r>
                    </a:p>
                  </p:txBody>
                </p:sp>
                <p:sp>
                  <p:nvSpPr>
                    <p:cNvPr id="19" name="TextBox 41">
                      <a:extLst>
                        <a:ext uri="{FF2B5EF4-FFF2-40B4-BE49-F238E27FC236}">
                          <a16:creationId xmlns:a16="http://schemas.microsoft.com/office/drawing/2014/main" id="{9B546961-C861-56A8-7E65-8596A932CE67}"/>
                        </a:ext>
                      </a:extLst>
                    </p:cNvPr>
                    <p:cNvSpPr txBox="1">
                      <a:spLocks noChangeArrowheads="1"/>
                    </p:cNvSpPr>
                    <p:nvPr/>
                  </p:nvSpPr>
                  <p:spPr bwMode="auto">
                    <a:xfrm>
                      <a:off x="6373418" y="4592818"/>
                      <a:ext cx="212314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1602-6 Jumeirah Bay X2 Tower,</a:t>
                      </a:r>
                    </a:p>
                    <a:p>
                      <a:r>
                        <a:rPr lang="en-US" altLang="en-US" sz="1200"/>
                        <a:t>Plot No: JLT-PH2-X2A,</a:t>
                      </a:r>
                    </a:p>
                    <a:p>
                      <a:r>
                        <a:rPr lang="en-US" altLang="en-US" sz="1200"/>
                        <a:t>Jumeirah Lakes Towers, Dubai,</a:t>
                      </a:r>
                    </a:p>
                    <a:p>
                      <a:r>
                        <a:rPr lang="en-US" altLang="en-US" sz="1200"/>
                        <a:t>United Arab Emirates</a:t>
                      </a:r>
                      <a:endParaRPr lang="en-IN" altLang="en-US" sz="1200"/>
                    </a:p>
                  </p:txBody>
                </p:sp>
              </p:grpSp>
              <p:pic>
                <p:nvPicPr>
                  <p:cNvPr id="20" name="Picture 40">
                    <a:extLst>
                      <a:ext uri="{FF2B5EF4-FFF2-40B4-BE49-F238E27FC236}">
                        <a16:creationId xmlns:a16="http://schemas.microsoft.com/office/drawing/2014/main" id="{5156A16E-B887-4177-3106-696D2F06FC26}"/>
                      </a:ext>
                    </a:extLst>
                  </p:cNvPr>
                  <p:cNvPicPr>
                    <a:picLocks noChangeAspect="1"/>
                  </p:cNvPicPr>
                  <p:nvPr/>
                </p:nvPicPr>
                <p:blipFill>
                  <a:blip r:embed="rId2">
                    <a:duotone>
                      <a:srgbClr val="A35313">
                        <a:shade val="45000"/>
                        <a:satMod val="135000"/>
                      </a:srgbClr>
                      <a:prstClr val="white"/>
                    </a:duotone>
                  </a:blip>
                  <a:stretch>
                    <a:fillRect/>
                  </a:stretch>
                </p:blipFill>
                <p:spPr>
                  <a:xfrm>
                    <a:off x="6553299" y="3532655"/>
                    <a:ext cx="314753" cy="579465"/>
                  </a:xfrm>
                  <a:prstGeom prst="rect">
                    <a:avLst/>
                  </a:prstGeom>
                </p:spPr>
              </p:pic>
            </p:grpSp>
            <p:grpSp>
              <p:nvGrpSpPr>
                <p:cNvPr id="21" name="Group 5">
                  <a:extLst>
                    <a:ext uri="{FF2B5EF4-FFF2-40B4-BE49-F238E27FC236}">
                      <a16:creationId xmlns:a16="http://schemas.microsoft.com/office/drawing/2014/main" id="{2A4B2992-1262-B6DC-A65D-C0A800D496DF}"/>
                    </a:ext>
                  </a:extLst>
                </p:cNvPr>
                <p:cNvGrpSpPr>
                  <a:grpSpLocks/>
                </p:cNvGrpSpPr>
                <p:nvPr/>
              </p:nvGrpSpPr>
              <p:grpSpPr bwMode="auto">
                <a:xfrm>
                  <a:off x="3461337" y="3716063"/>
                  <a:ext cx="2276777" cy="2040353"/>
                  <a:chOff x="3837718" y="3645035"/>
                  <a:chExt cx="2276777" cy="2040353"/>
                </a:xfrm>
              </p:grpSpPr>
              <p:grpSp>
                <p:nvGrpSpPr>
                  <p:cNvPr id="22" name="Group 27">
                    <a:extLst>
                      <a:ext uri="{FF2B5EF4-FFF2-40B4-BE49-F238E27FC236}">
                        <a16:creationId xmlns:a16="http://schemas.microsoft.com/office/drawing/2014/main" id="{6828E551-2150-B3BA-D2CA-97B824FA8924}"/>
                      </a:ext>
                    </a:extLst>
                  </p:cNvPr>
                  <p:cNvGrpSpPr>
                    <a:grpSpLocks/>
                  </p:cNvGrpSpPr>
                  <p:nvPr/>
                </p:nvGrpSpPr>
                <p:grpSpPr bwMode="auto">
                  <a:xfrm>
                    <a:off x="3837718" y="3780584"/>
                    <a:ext cx="2276777" cy="1904804"/>
                    <a:chOff x="3358345" y="3965261"/>
                    <a:chExt cx="2276777" cy="1904804"/>
                  </a:xfrm>
                </p:grpSpPr>
                <p:sp>
                  <p:nvSpPr>
                    <p:cNvPr id="23" name="TextBox 42">
                      <a:extLst>
                        <a:ext uri="{FF2B5EF4-FFF2-40B4-BE49-F238E27FC236}">
                          <a16:creationId xmlns:a16="http://schemas.microsoft.com/office/drawing/2014/main" id="{A41A6F39-951D-AE17-5A44-85C21DFFF8C3}"/>
                        </a:ext>
                      </a:extLst>
                    </p:cNvPr>
                    <p:cNvSpPr txBox="1">
                      <a:spLocks noChangeArrowheads="1"/>
                    </p:cNvSpPr>
                    <p:nvPr/>
                  </p:nvSpPr>
                  <p:spPr bwMode="auto">
                    <a:xfrm>
                      <a:off x="3744196" y="3965261"/>
                      <a:ext cx="9705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IN" altLang="en-US" sz="1600" b="1">
                          <a:solidFill>
                            <a:srgbClr val="048B42"/>
                          </a:solidFill>
                        </a:rPr>
                        <a:t>Americas</a:t>
                      </a:r>
                    </a:p>
                  </p:txBody>
                </p:sp>
                <p:sp>
                  <p:nvSpPr>
                    <p:cNvPr id="24" name="TextBox 36">
                      <a:extLst>
                        <a:ext uri="{FF2B5EF4-FFF2-40B4-BE49-F238E27FC236}">
                          <a16:creationId xmlns:a16="http://schemas.microsoft.com/office/drawing/2014/main" id="{40F1E73B-005C-8069-CCAA-3318246B265D}"/>
                        </a:ext>
                      </a:extLst>
                    </p:cNvPr>
                    <p:cNvSpPr txBox="1"/>
                    <p:nvPr/>
                  </p:nvSpPr>
                  <p:spPr>
                    <a:xfrm>
                      <a:off x="3357675" y="4448839"/>
                      <a:ext cx="1871722" cy="307982"/>
                    </a:xfrm>
                    <a:prstGeom prst="rect">
                      <a:avLst/>
                    </a:prstGeom>
                    <a:noFill/>
                  </p:spPr>
                  <p:txBody>
                    <a:bodyPr wrap="none">
                      <a:spAutoFit/>
                    </a:bodyPr>
                    <a:lstStyle/>
                    <a:p>
                      <a:pPr>
                        <a:defRPr/>
                      </a:pPr>
                      <a:r>
                        <a:rPr lang="en-IN" sz="1400" b="1" dirty="0">
                          <a:solidFill>
                            <a:srgbClr val="F8F8F8">
                              <a:lumMod val="25000"/>
                            </a:srgbClr>
                          </a:solidFill>
                        </a:rPr>
                        <a:t>Future Market Insights</a:t>
                      </a:r>
                    </a:p>
                  </p:txBody>
                </p:sp>
                <p:sp>
                  <p:nvSpPr>
                    <p:cNvPr id="25" name="TextBox 44">
                      <a:extLst>
                        <a:ext uri="{FF2B5EF4-FFF2-40B4-BE49-F238E27FC236}">
                          <a16:creationId xmlns:a16="http://schemas.microsoft.com/office/drawing/2014/main" id="{4ACA2C08-410D-CEED-63E0-EB4A1E0D76C3}"/>
                        </a:ext>
                      </a:extLst>
                    </p:cNvPr>
                    <p:cNvSpPr txBox="1">
                      <a:spLocks noChangeArrowheads="1"/>
                    </p:cNvSpPr>
                    <p:nvPr/>
                  </p:nvSpPr>
                  <p:spPr bwMode="auto">
                    <a:xfrm>
                      <a:off x="3358345" y="4720292"/>
                      <a:ext cx="227677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616 Corporate Way, Suite 2-9018,</a:t>
                      </a:r>
                    </a:p>
                    <a:p>
                      <a:r>
                        <a:rPr lang="en-US" altLang="en-US" sz="1200"/>
                        <a:t>Valley Cottage, NY 10989,</a:t>
                      </a:r>
                    </a:p>
                    <a:p>
                      <a:r>
                        <a:rPr lang="en-US" altLang="en-US" sz="1200"/>
                        <a:t>United States</a:t>
                      </a:r>
                      <a:endParaRPr lang="en-IN" altLang="en-US" sz="1200"/>
                    </a:p>
                  </p:txBody>
                </p:sp>
                <p:sp>
                  <p:nvSpPr>
                    <p:cNvPr id="26" name="TextBox 45">
                      <a:extLst>
                        <a:ext uri="{FF2B5EF4-FFF2-40B4-BE49-F238E27FC236}">
                          <a16:creationId xmlns:a16="http://schemas.microsoft.com/office/drawing/2014/main" id="{FE65EAAC-CE25-57B8-E88C-905CD3E8F924}"/>
                        </a:ext>
                      </a:extLst>
                    </p:cNvPr>
                    <p:cNvSpPr txBox="1">
                      <a:spLocks noChangeArrowheads="1"/>
                    </p:cNvSpPr>
                    <p:nvPr/>
                  </p:nvSpPr>
                  <p:spPr bwMode="auto">
                    <a:xfrm>
                      <a:off x="3358345" y="5593066"/>
                      <a:ext cx="14073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T: +1-347-918-3531</a:t>
                      </a:r>
                      <a:endParaRPr lang="en-IN" altLang="en-US" sz="1200"/>
                    </a:p>
                  </p:txBody>
                </p:sp>
              </p:grpSp>
              <p:pic>
                <p:nvPicPr>
                  <p:cNvPr id="27" name="Picture 34">
                    <a:extLst>
                      <a:ext uri="{FF2B5EF4-FFF2-40B4-BE49-F238E27FC236}">
                        <a16:creationId xmlns:a16="http://schemas.microsoft.com/office/drawing/2014/main" id="{AE4DE93F-AF7B-7477-A367-DD4AF96A40A2}"/>
                      </a:ext>
                    </a:extLst>
                  </p:cNvPr>
                  <p:cNvPicPr>
                    <a:picLocks noChangeAspect="1"/>
                  </p:cNvPicPr>
                  <p:nvPr/>
                </p:nvPicPr>
                <p:blipFill>
                  <a:blip r:embed="rId3">
                    <a:duotone>
                      <a:srgbClr val="008189">
                        <a:shade val="45000"/>
                        <a:satMod val="135000"/>
                      </a:srgbClr>
                      <a:prstClr val="white"/>
                    </a:duotone>
                  </a:blip>
                  <a:stretch>
                    <a:fillRect/>
                  </a:stretch>
                </p:blipFill>
                <p:spPr>
                  <a:xfrm>
                    <a:off x="3941302" y="3645035"/>
                    <a:ext cx="304826" cy="609653"/>
                  </a:xfrm>
                  <a:prstGeom prst="rect">
                    <a:avLst/>
                  </a:prstGeom>
                </p:spPr>
              </p:pic>
            </p:grpSp>
            <p:grpSp>
              <p:nvGrpSpPr>
                <p:cNvPr id="28" name="Group 6">
                  <a:extLst>
                    <a:ext uri="{FF2B5EF4-FFF2-40B4-BE49-F238E27FC236}">
                      <a16:creationId xmlns:a16="http://schemas.microsoft.com/office/drawing/2014/main" id="{190EABA1-B31E-3B09-B1F2-A13884B8AD17}"/>
                    </a:ext>
                  </a:extLst>
                </p:cNvPr>
                <p:cNvGrpSpPr>
                  <a:grpSpLocks/>
                </p:cNvGrpSpPr>
                <p:nvPr/>
              </p:nvGrpSpPr>
              <p:grpSpPr bwMode="auto">
                <a:xfrm>
                  <a:off x="249774" y="3783125"/>
                  <a:ext cx="2236703" cy="1973291"/>
                  <a:chOff x="1216927" y="3772923"/>
                  <a:chExt cx="2236703" cy="1973291"/>
                </a:xfrm>
              </p:grpSpPr>
              <p:grpSp>
                <p:nvGrpSpPr>
                  <p:cNvPr id="29" name="Group 25">
                    <a:extLst>
                      <a:ext uri="{FF2B5EF4-FFF2-40B4-BE49-F238E27FC236}">
                        <a16:creationId xmlns:a16="http://schemas.microsoft.com/office/drawing/2014/main" id="{A1A8DC19-AF5B-6C89-F2CD-2778F01B419C}"/>
                      </a:ext>
                    </a:extLst>
                  </p:cNvPr>
                  <p:cNvGrpSpPr>
                    <a:grpSpLocks/>
                  </p:cNvGrpSpPr>
                  <p:nvPr/>
                </p:nvGrpSpPr>
                <p:grpSpPr bwMode="auto">
                  <a:xfrm>
                    <a:off x="1216927" y="3841410"/>
                    <a:ext cx="2236703" cy="1904804"/>
                    <a:chOff x="343272" y="4026087"/>
                    <a:chExt cx="2236703" cy="1904804"/>
                  </a:xfrm>
                </p:grpSpPr>
                <p:sp>
                  <p:nvSpPr>
                    <p:cNvPr id="30" name="TextBox 29">
                      <a:extLst>
                        <a:ext uri="{FF2B5EF4-FFF2-40B4-BE49-F238E27FC236}">
                          <a16:creationId xmlns:a16="http://schemas.microsoft.com/office/drawing/2014/main" id="{C78C136C-FF65-10A5-69D0-6976A498591E}"/>
                        </a:ext>
                      </a:extLst>
                    </p:cNvPr>
                    <p:cNvSpPr txBox="1"/>
                    <p:nvPr/>
                  </p:nvSpPr>
                  <p:spPr>
                    <a:xfrm>
                      <a:off x="963283" y="4025467"/>
                      <a:ext cx="1347831" cy="338146"/>
                    </a:xfrm>
                    <a:prstGeom prst="rect">
                      <a:avLst/>
                    </a:prstGeom>
                    <a:noFill/>
                  </p:spPr>
                  <p:txBody>
                    <a:bodyPr wrap="none">
                      <a:spAutoFit/>
                    </a:bodyPr>
                    <a:lstStyle/>
                    <a:p>
                      <a:pPr>
                        <a:defRPr/>
                      </a:pPr>
                      <a:r>
                        <a:rPr lang="en-IN" sz="1600" b="1" dirty="0">
                          <a:solidFill>
                            <a:srgbClr val="2A5F8F">
                              <a:lumMod val="50000"/>
                            </a:srgbClr>
                          </a:solidFill>
                        </a:rPr>
                        <a:t>Headquarters</a:t>
                      </a:r>
                    </a:p>
                  </p:txBody>
                </p:sp>
                <p:sp>
                  <p:nvSpPr>
                    <p:cNvPr id="31" name="TextBox 30">
                      <a:extLst>
                        <a:ext uri="{FF2B5EF4-FFF2-40B4-BE49-F238E27FC236}">
                          <a16:creationId xmlns:a16="http://schemas.microsoft.com/office/drawing/2014/main" id="{5CFB6527-6D97-69B5-C71C-CC03EB68BBF7}"/>
                        </a:ext>
                      </a:extLst>
                    </p:cNvPr>
                    <p:cNvSpPr txBox="1"/>
                    <p:nvPr/>
                  </p:nvSpPr>
                  <p:spPr>
                    <a:xfrm>
                      <a:off x="342551" y="4509666"/>
                      <a:ext cx="2225746" cy="307982"/>
                    </a:xfrm>
                    <a:prstGeom prst="rect">
                      <a:avLst/>
                    </a:prstGeom>
                    <a:noFill/>
                  </p:spPr>
                  <p:txBody>
                    <a:bodyPr wrap="none">
                      <a:spAutoFit/>
                    </a:bodyPr>
                    <a:lstStyle/>
                    <a:p>
                      <a:pPr>
                        <a:defRPr/>
                      </a:pPr>
                      <a:r>
                        <a:rPr lang="en-IN" sz="1400" b="1" dirty="0">
                          <a:solidFill>
                            <a:srgbClr val="F8F8F8">
                              <a:lumMod val="25000"/>
                            </a:srgbClr>
                          </a:solidFill>
                        </a:rPr>
                        <a:t>Future Market Insights, Inc.</a:t>
                      </a:r>
                    </a:p>
                  </p:txBody>
                </p:sp>
                <p:sp>
                  <p:nvSpPr>
                    <p:cNvPr id="32" name="TextBox 48">
                      <a:extLst>
                        <a:ext uri="{FF2B5EF4-FFF2-40B4-BE49-F238E27FC236}">
                          <a16:creationId xmlns:a16="http://schemas.microsoft.com/office/drawing/2014/main" id="{5E42A1C6-BB29-D226-788C-C515B7D7F676}"/>
                        </a:ext>
                      </a:extLst>
                    </p:cNvPr>
                    <p:cNvSpPr txBox="1">
                      <a:spLocks noChangeArrowheads="1"/>
                    </p:cNvSpPr>
                    <p:nvPr/>
                  </p:nvSpPr>
                  <p:spPr bwMode="auto">
                    <a:xfrm>
                      <a:off x="343272" y="4781118"/>
                      <a:ext cx="223670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Christiana Corporate,</a:t>
                      </a:r>
                    </a:p>
                    <a:p>
                      <a:r>
                        <a:rPr lang="en-US" altLang="en-US" sz="1200"/>
                        <a:t>200 Continental Drive, Suite 401,</a:t>
                      </a:r>
                    </a:p>
                    <a:p>
                      <a:r>
                        <a:rPr lang="en-US" altLang="en-US" sz="1200"/>
                        <a:t>Newark, Delaware - 19713,</a:t>
                      </a:r>
                    </a:p>
                    <a:p>
                      <a:r>
                        <a:rPr lang="en-US" altLang="en-US" sz="1200"/>
                        <a:t>United States</a:t>
                      </a:r>
                      <a:endParaRPr lang="en-IN" altLang="en-US" sz="1200"/>
                    </a:p>
                  </p:txBody>
                </p:sp>
                <p:sp>
                  <p:nvSpPr>
                    <p:cNvPr id="33" name="TextBox 49">
                      <a:extLst>
                        <a:ext uri="{FF2B5EF4-FFF2-40B4-BE49-F238E27FC236}">
                          <a16:creationId xmlns:a16="http://schemas.microsoft.com/office/drawing/2014/main" id="{7B0EBAC2-0F15-2082-71DE-E18F4A36524D}"/>
                        </a:ext>
                      </a:extLst>
                    </p:cNvPr>
                    <p:cNvSpPr txBox="1">
                      <a:spLocks noChangeArrowheads="1"/>
                    </p:cNvSpPr>
                    <p:nvPr/>
                  </p:nvSpPr>
                  <p:spPr bwMode="auto">
                    <a:xfrm>
                      <a:off x="343272" y="5653892"/>
                      <a:ext cx="14073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T: +1-845-579-5705</a:t>
                      </a:r>
                      <a:endParaRPr lang="en-IN" altLang="en-US" sz="1200"/>
                    </a:p>
                  </p:txBody>
                </p:sp>
              </p:grpSp>
              <p:pic>
                <p:nvPicPr>
                  <p:cNvPr id="34" name="Picture 28">
                    <a:extLst>
                      <a:ext uri="{FF2B5EF4-FFF2-40B4-BE49-F238E27FC236}">
                        <a16:creationId xmlns:a16="http://schemas.microsoft.com/office/drawing/2014/main" id="{B598E670-72B9-922C-CBE9-A98B47FD87DC}"/>
                      </a:ext>
                    </a:extLst>
                  </p:cNvPr>
                  <p:cNvPicPr>
                    <a:picLocks noChangeAspect="1"/>
                  </p:cNvPicPr>
                  <p:nvPr/>
                </p:nvPicPr>
                <p:blipFill>
                  <a:blip r:embed="rId4">
                    <a:duotone>
                      <a:srgbClr val="2A5F8F">
                        <a:shade val="45000"/>
                        <a:satMod val="135000"/>
                      </a:srgbClr>
                      <a:prstClr val="white"/>
                    </a:duotone>
                  </a:blip>
                  <a:stretch>
                    <a:fillRect/>
                  </a:stretch>
                </p:blipFill>
                <p:spPr>
                  <a:xfrm>
                    <a:off x="1306513" y="3772923"/>
                    <a:ext cx="469433" cy="475529"/>
                  </a:xfrm>
                  <a:prstGeom prst="rect">
                    <a:avLst/>
                  </a:prstGeom>
                </p:spPr>
              </p:pic>
            </p:grpSp>
            <p:grpSp>
              <p:nvGrpSpPr>
                <p:cNvPr id="35" name="Group 2">
                  <a:extLst>
                    <a:ext uri="{FF2B5EF4-FFF2-40B4-BE49-F238E27FC236}">
                      <a16:creationId xmlns:a16="http://schemas.microsoft.com/office/drawing/2014/main" id="{4F9635CF-9D3F-75B0-5B7E-AEF9828266C3}"/>
                    </a:ext>
                  </a:extLst>
                </p:cNvPr>
                <p:cNvGrpSpPr>
                  <a:grpSpLocks/>
                </p:cNvGrpSpPr>
                <p:nvPr/>
              </p:nvGrpSpPr>
              <p:grpSpPr bwMode="auto">
                <a:xfrm>
                  <a:off x="9935559" y="3767762"/>
                  <a:ext cx="1982905" cy="1988654"/>
                  <a:chOff x="9005815" y="3745083"/>
                  <a:chExt cx="1982905" cy="1988654"/>
                </a:xfrm>
              </p:grpSpPr>
              <p:grpSp>
                <p:nvGrpSpPr>
                  <p:cNvPr id="36" name="Group 29">
                    <a:extLst>
                      <a:ext uri="{FF2B5EF4-FFF2-40B4-BE49-F238E27FC236}">
                        <a16:creationId xmlns:a16="http://schemas.microsoft.com/office/drawing/2014/main" id="{17F31F47-291F-4405-8AEA-EC1AAB6AA332}"/>
                      </a:ext>
                    </a:extLst>
                  </p:cNvPr>
                  <p:cNvGrpSpPr>
                    <a:grpSpLocks/>
                  </p:cNvGrpSpPr>
                  <p:nvPr/>
                </p:nvGrpSpPr>
                <p:grpSpPr bwMode="auto">
                  <a:xfrm>
                    <a:off x="9005815" y="3828933"/>
                    <a:ext cx="1982905" cy="1904804"/>
                    <a:chOff x="9388489" y="4013610"/>
                    <a:chExt cx="1982905" cy="1904804"/>
                  </a:xfrm>
                </p:grpSpPr>
                <p:sp>
                  <p:nvSpPr>
                    <p:cNvPr id="37" name="TextBox 32">
                      <a:extLst>
                        <a:ext uri="{FF2B5EF4-FFF2-40B4-BE49-F238E27FC236}">
                          <a16:creationId xmlns:a16="http://schemas.microsoft.com/office/drawing/2014/main" id="{C20F854C-8002-E239-0772-DDA0A057E702}"/>
                        </a:ext>
                      </a:extLst>
                    </p:cNvPr>
                    <p:cNvSpPr txBox="1">
                      <a:spLocks noChangeArrowheads="1"/>
                    </p:cNvSpPr>
                    <p:nvPr/>
                  </p:nvSpPr>
                  <p:spPr bwMode="auto">
                    <a:xfrm>
                      <a:off x="9829414" y="4013610"/>
                      <a:ext cx="7897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IN" altLang="en-US" sz="1600" b="1">
                          <a:solidFill>
                            <a:srgbClr val="8F288C"/>
                          </a:solidFill>
                        </a:rPr>
                        <a:t>Europe</a:t>
                      </a:r>
                    </a:p>
                  </p:txBody>
                </p:sp>
                <p:sp>
                  <p:nvSpPr>
                    <p:cNvPr id="38" name="TextBox 23">
                      <a:extLst>
                        <a:ext uri="{FF2B5EF4-FFF2-40B4-BE49-F238E27FC236}">
                          <a16:creationId xmlns:a16="http://schemas.microsoft.com/office/drawing/2014/main" id="{3322F8A5-D2B8-33CA-96AC-DF4EE7ACCB80}"/>
                        </a:ext>
                      </a:extLst>
                    </p:cNvPr>
                    <p:cNvSpPr txBox="1"/>
                    <p:nvPr/>
                  </p:nvSpPr>
                  <p:spPr>
                    <a:xfrm>
                      <a:off x="9389214" y="4498775"/>
                      <a:ext cx="1870134" cy="307982"/>
                    </a:xfrm>
                    <a:prstGeom prst="rect">
                      <a:avLst/>
                    </a:prstGeom>
                    <a:noFill/>
                  </p:spPr>
                  <p:txBody>
                    <a:bodyPr wrap="none">
                      <a:spAutoFit/>
                    </a:bodyPr>
                    <a:lstStyle/>
                    <a:p>
                      <a:pPr>
                        <a:defRPr/>
                      </a:pPr>
                      <a:r>
                        <a:rPr lang="en-IN" sz="1400" b="1" dirty="0">
                          <a:solidFill>
                            <a:srgbClr val="F8F8F8">
                              <a:lumMod val="25000"/>
                            </a:srgbClr>
                          </a:solidFill>
                        </a:rPr>
                        <a:t>Future Market Insights</a:t>
                      </a:r>
                    </a:p>
                  </p:txBody>
                </p:sp>
                <p:sp>
                  <p:nvSpPr>
                    <p:cNvPr id="39" name="TextBox 36">
                      <a:extLst>
                        <a:ext uri="{FF2B5EF4-FFF2-40B4-BE49-F238E27FC236}">
                          <a16:creationId xmlns:a16="http://schemas.microsoft.com/office/drawing/2014/main" id="{BF5AF88F-6B60-2785-4EAA-4D18C1EE2E10}"/>
                        </a:ext>
                      </a:extLst>
                    </p:cNvPr>
                    <p:cNvSpPr txBox="1">
                      <a:spLocks noChangeArrowheads="1"/>
                    </p:cNvSpPr>
                    <p:nvPr/>
                  </p:nvSpPr>
                  <p:spPr bwMode="auto">
                    <a:xfrm>
                      <a:off x="9402137" y="4768641"/>
                      <a:ext cx="196925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3rd Floor, 207 Regent Street,</a:t>
                      </a:r>
                    </a:p>
                    <a:p>
                      <a:r>
                        <a:rPr lang="en-US" altLang="en-US" sz="1200"/>
                        <a:t>London W1B 3HH</a:t>
                      </a:r>
                    </a:p>
                    <a:p>
                      <a:r>
                        <a:rPr lang="en-US" altLang="en-US" sz="1200"/>
                        <a:t>United Kingdom</a:t>
                      </a:r>
                      <a:endParaRPr lang="en-IN" altLang="en-US" sz="1200"/>
                    </a:p>
                  </p:txBody>
                </p:sp>
                <p:sp>
                  <p:nvSpPr>
                    <p:cNvPr id="40" name="TextBox 37">
                      <a:extLst>
                        <a:ext uri="{FF2B5EF4-FFF2-40B4-BE49-F238E27FC236}">
                          <a16:creationId xmlns:a16="http://schemas.microsoft.com/office/drawing/2014/main" id="{6C7DE665-66A8-41DE-5008-32252CDA85C7}"/>
                        </a:ext>
                      </a:extLst>
                    </p:cNvPr>
                    <p:cNvSpPr txBox="1">
                      <a:spLocks noChangeArrowheads="1"/>
                    </p:cNvSpPr>
                    <p:nvPr/>
                  </p:nvSpPr>
                  <p:spPr bwMode="auto">
                    <a:xfrm>
                      <a:off x="9388489" y="5641415"/>
                      <a:ext cx="168828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D: +44 (0) 20 3287 4268</a:t>
                      </a:r>
                      <a:endParaRPr lang="en-IN" altLang="en-US" sz="1200"/>
                    </a:p>
                  </p:txBody>
                </p:sp>
                <p:sp>
                  <p:nvSpPr>
                    <p:cNvPr id="41" name="TextBox 38">
                      <a:extLst>
                        <a:ext uri="{FF2B5EF4-FFF2-40B4-BE49-F238E27FC236}">
                          <a16:creationId xmlns:a16="http://schemas.microsoft.com/office/drawing/2014/main" id="{7192F681-8D30-360D-BE9D-3B3024A1F2DD}"/>
                        </a:ext>
                      </a:extLst>
                    </p:cNvPr>
                    <p:cNvSpPr txBox="1">
                      <a:spLocks noChangeArrowheads="1"/>
                    </p:cNvSpPr>
                    <p:nvPr/>
                  </p:nvSpPr>
                  <p:spPr bwMode="auto">
                    <a:xfrm>
                      <a:off x="9388489" y="5392439"/>
                      <a:ext cx="169424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T: + 44 (0) 20 8123 9659</a:t>
                      </a:r>
                      <a:endParaRPr lang="en-IN" altLang="en-US" sz="1200"/>
                    </a:p>
                  </p:txBody>
                </p:sp>
              </p:grpSp>
              <p:pic>
                <p:nvPicPr>
                  <p:cNvPr id="42" name="Picture 21">
                    <a:extLst>
                      <a:ext uri="{FF2B5EF4-FFF2-40B4-BE49-F238E27FC236}">
                        <a16:creationId xmlns:a16="http://schemas.microsoft.com/office/drawing/2014/main" id="{0DB190B5-E4D9-2234-7560-F46B079C348A}"/>
                      </a:ext>
                    </a:extLst>
                  </p:cNvPr>
                  <p:cNvPicPr>
                    <a:picLocks noChangeAspect="1"/>
                  </p:cNvPicPr>
                  <p:nvPr/>
                </p:nvPicPr>
                <p:blipFill>
                  <a:blip r:embed="rId5">
                    <a:duotone>
                      <a:srgbClr val="40315E">
                        <a:shade val="45000"/>
                        <a:satMod val="135000"/>
                      </a:srgbClr>
                      <a:prstClr val="white"/>
                    </a:duotone>
                  </a:blip>
                  <a:stretch>
                    <a:fillRect/>
                  </a:stretch>
                </p:blipFill>
                <p:spPr>
                  <a:xfrm>
                    <a:off x="9124235" y="3745083"/>
                    <a:ext cx="348835" cy="506254"/>
                  </a:xfrm>
                  <a:prstGeom prst="rect">
                    <a:avLst/>
                  </a:prstGeom>
                </p:spPr>
              </p:pic>
            </p:grpSp>
          </p:grpSp>
          <p:sp>
            <p:nvSpPr>
              <p:cNvPr id="43" name="TextBox 55">
                <a:extLst>
                  <a:ext uri="{FF2B5EF4-FFF2-40B4-BE49-F238E27FC236}">
                    <a16:creationId xmlns:a16="http://schemas.microsoft.com/office/drawing/2014/main" id="{143EC9E9-5458-9CB8-6ACE-446AFE79BB51}"/>
                  </a:ext>
                </a:extLst>
              </p:cNvPr>
              <p:cNvSpPr txBox="1">
                <a:spLocks noChangeArrowheads="1"/>
              </p:cNvSpPr>
              <p:nvPr/>
            </p:nvSpPr>
            <p:spPr bwMode="auto">
              <a:xfrm>
                <a:off x="274514" y="798871"/>
                <a:ext cx="1890261" cy="2041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pPr algn="ctr">
                  <a:lnSpc>
                    <a:spcPts val="7600"/>
                  </a:lnSpc>
                </a:pPr>
                <a:r>
                  <a:rPr lang="en-IN" altLang="en-US" sz="8000">
                    <a:solidFill>
                      <a:srgbClr val="00B0F0"/>
                    </a:solidFill>
                    <a:latin typeface="Juxtaposer"/>
                  </a:rPr>
                  <a:t>Thank</a:t>
                </a:r>
                <a:br>
                  <a:rPr lang="en-IN" altLang="en-US" sz="8000">
                    <a:solidFill>
                      <a:srgbClr val="00B0F0"/>
                    </a:solidFill>
                    <a:latin typeface="Juxtaposer"/>
                  </a:rPr>
                </a:br>
                <a:r>
                  <a:rPr lang="en-IN" altLang="en-US" sz="8000">
                    <a:solidFill>
                      <a:srgbClr val="00B0F0"/>
                    </a:solidFill>
                    <a:latin typeface="Juxtaposer"/>
                  </a:rPr>
                  <a:t>You</a:t>
                </a:r>
              </a:p>
            </p:txBody>
          </p:sp>
          <p:pic>
            <p:nvPicPr>
              <p:cNvPr id="44" name="Picture 10">
                <a:extLst>
                  <a:ext uri="{FF2B5EF4-FFF2-40B4-BE49-F238E27FC236}">
                    <a16:creationId xmlns:a16="http://schemas.microsoft.com/office/drawing/2014/main" id="{BB144989-CF53-8B1E-220B-C1AE23628EE7}"/>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492719" y="229820"/>
                <a:ext cx="3171090" cy="3179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5" name="Group 19">
                <a:extLst>
                  <a:ext uri="{FF2B5EF4-FFF2-40B4-BE49-F238E27FC236}">
                    <a16:creationId xmlns:a16="http://schemas.microsoft.com/office/drawing/2014/main" id="{31EE7083-91D9-EAE9-7B4A-61CD2CD28015}"/>
                  </a:ext>
                </a:extLst>
              </p:cNvPr>
              <p:cNvGrpSpPr>
                <a:grpSpLocks/>
              </p:cNvGrpSpPr>
              <p:nvPr/>
            </p:nvGrpSpPr>
            <p:grpSpPr bwMode="auto">
              <a:xfrm>
                <a:off x="6166925" y="272562"/>
                <a:ext cx="5750562" cy="3051976"/>
                <a:chOff x="6166925" y="272562"/>
                <a:chExt cx="5750562" cy="3051976"/>
              </a:xfrm>
            </p:grpSpPr>
            <p:pic>
              <p:nvPicPr>
                <p:cNvPr id="46" name="Picture 1">
                  <a:extLst>
                    <a:ext uri="{FF2B5EF4-FFF2-40B4-BE49-F238E27FC236}">
                      <a16:creationId xmlns:a16="http://schemas.microsoft.com/office/drawing/2014/main" id="{021C83A4-8483-5171-EA6C-FF76CE65A12D}"/>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166925" y="2103900"/>
                  <a:ext cx="5750562" cy="12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Picture 58">
                  <a:extLst>
                    <a:ext uri="{FF2B5EF4-FFF2-40B4-BE49-F238E27FC236}">
                      <a16:creationId xmlns:a16="http://schemas.microsoft.com/office/drawing/2014/main" id="{38693FBE-DE43-1025-B0DC-2ADDCCB25AB1}"/>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7493725" y="272562"/>
                  <a:ext cx="3096962" cy="1740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spTree>
  </p:cSld>
  <p:clrMapOvr>
    <a:masterClrMapping/>
  </p:clrMapOvr>
</p:sld>
</file>

<file path=ppt/theme/theme1.xml><?xml version="1.0" encoding="utf-8"?>
<a:theme xmlns:a="http://schemas.openxmlformats.org/drawingml/2006/main" name="Office Theme">
  <a:themeElements>
    <a:clrScheme name="Custom 70">
      <a:dk1>
        <a:sysClr val="windowText" lastClr="000000"/>
      </a:dk1>
      <a:lt1>
        <a:sysClr val="window" lastClr="FFFFFF"/>
      </a:lt1>
      <a:dk2>
        <a:srgbClr val="000000"/>
      </a:dk2>
      <a:lt2>
        <a:srgbClr val="F8F8F8"/>
      </a:lt2>
      <a:accent1>
        <a:srgbClr val="3D85C6"/>
      </a:accent1>
      <a:accent2>
        <a:srgbClr val="9E7E0A"/>
      </a:accent2>
      <a:accent3>
        <a:srgbClr val="40315E"/>
      </a:accent3>
      <a:accent4>
        <a:srgbClr val="008189"/>
      </a:accent4>
      <a:accent5>
        <a:srgbClr val="A35313"/>
      </a:accent5>
      <a:accent6>
        <a:srgbClr val="5F5F5F"/>
      </a:accent6>
      <a:hlink>
        <a:srgbClr val="5F5F5F"/>
      </a:hlink>
      <a:folHlink>
        <a:srgbClr val="919191"/>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