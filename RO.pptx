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394" r:id="rId2"/>
    <p:sldId id="39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60802-33F2-4A85-B06A-BCF2B85BBBB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FE434-453B-488B-BC7D-CB62D25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538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Paper Bottle Market Market Dynamics Market Dynamics &amp; Forces Market Restraints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Paper Bottle Market Market Dynamics Market Dynamics &amp; Forces Market Opportunities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945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958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594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900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99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94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853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02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54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39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49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Paper Bottle Market Market Restraints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of the key restraints on the global market and the likelihood of their impact across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400" y="1008180"/>
            <a:ext cx="2038350" cy="259840"/>
          </a:xfrm>
          <a:prstGeom prst="roundRect">
            <a:avLst>
              <a:gd name="adj" fmla="val 1869"/>
            </a:avLst>
          </a:prstGeom>
          <a:solidFill>
            <a:srgbClr val="C0603A"/>
          </a:solidFill>
          <a:ln w="12700">
            <a:solidFill>
              <a:srgbClr val="C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2400" y="1008180"/>
            <a:ext cx="2038350" cy="25984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Market Restraints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" y="1397939"/>
            <a:ext cx="9496425" cy="259840"/>
          </a:xfrm>
          <a:prstGeom prst="rect">
            <a:avLst/>
          </a:prstGeom>
          <a:solidFill>
            <a:srgbClr val="F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6225" y="1397939"/>
            <a:ext cx="9267825" cy="25984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Paper with Plastic (PE/PP) Lining Lags the Category and Dilutes Blended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925" y="1713459"/>
            <a:ext cx="9439275" cy="788799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810750" y="1397939"/>
            <a:ext cx="2238375" cy="371199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Likelihood of impact on 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0750" y="1787699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2021–22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10750" y="1954738"/>
            <a:ext cx="990600" cy="315519"/>
          </a:xfrm>
          <a:prstGeom prst="rect">
            <a:avLst/>
          </a:prstGeom>
          <a:solidFill>
            <a:schemeClr val="bg1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810750" y="2018241"/>
            <a:ext cx="990600" cy="188513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6B561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96600" y="1787699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2023–25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96600" y="1954738"/>
            <a:ext cx="990600" cy="315519"/>
          </a:xfrm>
          <a:prstGeom prst="rect">
            <a:avLst/>
          </a:prstGeom>
          <a:solidFill>
            <a:srgbClr val="F9E4A6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896600" y="1954738"/>
            <a:ext cx="990600" cy="315519"/>
          </a:xfrm>
          <a:prstGeom prst="rect">
            <a:avLst/>
          </a:prstGeom>
          <a:solidFill>
            <a:schemeClr val="bg1"/>
          </a:solidFill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B561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0750" y="2316658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2026–28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10750" y="2483697"/>
            <a:ext cx="990600" cy="315519"/>
          </a:xfrm>
          <a:prstGeom prst="rect">
            <a:avLst/>
          </a:prstGeom>
          <a:solidFill>
            <a:srgbClr val="F9E4A6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810750" y="2483697"/>
            <a:ext cx="990600" cy="315519"/>
          </a:xfrm>
          <a:prstGeom prst="rect">
            <a:avLst/>
          </a:prstGeom>
          <a:solidFill>
            <a:schemeClr val="bg1"/>
          </a:solidFill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B561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96600" y="2316658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2029–36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96600" y="2483697"/>
            <a:ext cx="990600" cy="315519"/>
          </a:xfrm>
          <a:prstGeom prst="rect">
            <a:avLst/>
          </a:prstGeom>
          <a:solidFill>
            <a:srgbClr val="F9E4A6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896600" y="2483697"/>
            <a:ext cx="990600" cy="3155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6B561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Medium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2875" y="3124016"/>
            <a:ext cx="1190625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42875" y="3179696"/>
            <a:ext cx="9496425" cy="259840"/>
          </a:xfrm>
          <a:prstGeom prst="rect">
            <a:avLst/>
          </a:prstGeom>
          <a:solidFill>
            <a:srgbClr val="F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76225" y="3179696"/>
            <a:ext cx="9267825" cy="25984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Uneven Region Performance Caps the Blended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1925" y="3495216"/>
            <a:ext cx="9439275" cy="603199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810750" y="3179696"/>
            <a:ext cx="2238375" cy="371199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Likelihood of impact on timeline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0750" y="3569455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2021–22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10750" y="3736495"/>
            <a:ext cx="990600" cy="315519"/>
          </a:xfrm>
          <a:prstGeom prst="rect">
            <a:avLst/>
          </a:prstGeom>
          <a:solidFill>
            <a:srgbClr val="FFFFFF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810750" y="3736495"/>
            <a:ext cx="990600" cy="3155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96600" y="3569455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2023–25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896600" y="3736495"/>
            <a:ext cx="990600" cy="315519"/>
          </a:xfrm>
          <a:prstGeom prst="rect">
            <a:avLst/>
          </a:prstGeom>
          <a:solidFill>
            <a:srgbClr val="FFFFFF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896600" y="3736495"/>
            <a:ext cx="990600" cy="315519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10750" y="4098415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2026–28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10750" y="4265454"/>
            <a:ext cx="990600" cy="315519"/>
          </a:xfrm>
          <a:prstGeom prst="rect">
            <a:avLst/>
          </a:prstGeom>
          <a:solidFill>
            <a:srgbClr val="FFFFFF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810750" y="4265454"/>
            <a:ext cx="990600" cy="315519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96600" y="4098415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2029–36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896600" y="4265454"/>
            <a:ext cx="990600" cy="315519"/>
          </a:xfrm>
          <a:prstGeom prst="rect">
            <a:avLst/>
          </a:prstGeom>
          <a:solidFill>
            <a:srgbClr val="FFFFFF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896600" y="4265454"/>
            <a:ext cx="990600" cy="315519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Low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42875" y="4905773"/>
            <a:ext cx="1190625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42875" y="4961453"/>
            <a:ext cx="9496425" cy="259840"/>
          </a:xfrm>
          <a:prstGeom prst="rect">
            <a:avLst/>
          </a:prstGeom>
          <a:solidFill>
            <a:srgbClr val="F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76225" y="4961453"/>
            <a:ext cx="9267825" cy="25984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Concentration Risk Limits Pricing and Sourcing Flexibility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1925" y="5276973"/>
            <a:ext cx="9439275" cy="603199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810750" y="4961453"/>
            <a:ext cx="2238375" cy="371199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Likelihood of impact on timeline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10750" y="5351212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2021–22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10750" y="5518252"/>
            <a:ext cx="990600" cy="315519"/>
          </a:xfrm>
          <a:prstGeom prst="rect">
            <a:avLst/>
          </a:prstGeom>
          <a:solidFill>
            <a:srgbClr val="F2C230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810750" y="5518252"/>
            <a:ext cx="990600" cy="315519"/>
          </a:xfrm>
          <a:prstGeom prst="rect">
            <a:avLst/>
          </a:prstGeom>
          <a:solidFill>
            <a:schemeClr val="bg1"/>
          </a:solidFill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4A3A0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96600" y="5351212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2023–25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896600" y="5527532"/>
            <a:ext cx="990600" cy="306239"/>
          </a:xfrm>
          <a:prstGeom prst="rect">
            <a:avLst/>
          </a:prstGeom>
          <a:solidFill>
            <a:srgbClr val="F2C230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0896600" y="5546091"/>
            <a:ext cx="990600" cy="315519"/>
          </a:xfrm>
          <a:prstGeom prst="rect">
            <a:avLst/>
          </a:prstGeom>
          <a:solidFill>
            <a:schemeClr val="bg1"/>
          </a:solidFill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4A3A0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10750" y="5880171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2026–28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10750" y="6047211"/>
            <a:ext cx="990600" cy="315519"/>
          </a:xfrm>
          <a:prstGeom prst="rect">
            <a:avLst/>
          </a:prstGeom>
          <a:solidFill>
            <a:srgbClr val="F2C230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810750" y="6047211"/>
            <a:ext cx="990600" cy="315519"/>
          </a:xfrm>
          <a:prstGeom prst="rect">
            <a:avLst/>
          </a:prstGeom>
          <a:solidFill>
            <a:srgbClr val="CC9900"/>
          </a:solidFill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4A3A0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96600" y="5849081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2029–36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896600" y="6047211"/>
            <a:ext cx="990600" cy="315519"/>
          </a:xfrm>
          <a:prstGeom prst="rect">
            <a:avLst/>
          </a:prstGeom>
          <a:solidFill>
            <a:srgbClr val="F2C230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896600" y="6047211"/>
            <a:ext cx="990600" cy="315519"/>
          </a:xfrm>
          <a:prstGeom prst="rect">
            <a:avLst/>
          </a:prstGeom>
          <a:solidFill>
            <a:schemeClr val="bg1"/>
          </a:solidFill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4A3A0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0500" y="1772578"/>
            <a:ext cx="2765425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'Paper with Plastic (PE/PP) Lining' grows at only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976" y="1762799"/>
            <a:ext cx="128699" cy="18719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3071472" y="1772578"/>
            <a:ext cx="5349585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CAGR against the market's 19.9%, a -475 BPS gap, and 'Paperboard (Uncoated)' surrenders</a:t>
            </a:r>
          </a:p>
        </p:txBody>
      </p:sp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109" y="1762799"/>
            <a:ext cx="128699" cy="18719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536604" y="1772578"/>
            <a:ext cx="436636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BPS of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0500" y="1940218"/>
            <a:ext cx="9159428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material type share between 2026 and 2036. Because these lines still carry meaningful volume, the drag is absorbed by the whole category: blended growth sits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0500" y="2107858"/>
            <a:ext cx="9167341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below what the leading lines achieve on their own. Rationalising or repositioning the lagging end of a 5-line portfolio is therefore a precondition for realising the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0500" y="2275498"/>
            <a:ext cx="1095846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headline forecast.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0500" y="3545355"/>
            <a:ext cx="1304850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'Europe' grows at just</a:t>
            </a:r>
          </a:p>
        </p:txBody>
      </p:sp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402" y="3535576"/>
            <a:ext cx="128699" cy="18719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610898" y="3545355"/>
            <a:ext cx="601422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CAGR -</a:t>
            </a:r>
          </a:p>
        </p:txBody>
      </p:sp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371" y="3535576"/>
            <a:ext cx="128699" cy="18719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2327867" y="3545355"/>
            <a:ext cx="6616997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BPS against the market and 2 of 6 regions sit below the market pace altogether. Demand is therefore not uniformly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0500" y="3712995"/>
            <a:ext cx="8191351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available: suppliers carrying a broad geographic footprint fund presence in slow regions out of returns earned in the fast ones. With 'Europe' at</a:t>
            </a:r>
          </a:p>
        </p:txBody>
      </p:sp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9902" y="3703216"/>
            <a:ext cx="128699" cy="18719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8497398" y="3712995"/>
            <a:ext cx="794072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of value, 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90500" y="3880635"/>
            <a:ext cx="5071839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shortfall in a single leading region is difficult to offset elsewhere in the forecast window.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0500" y="5327112"/>
            <a:ext cx="2910854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market is concentrated: 'Europe' accounts for</a:t>
            </a:r>
          </a:p>
        </p:txBody>
      </p:sp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406" y="5317333"/>
            <a:ext cx="128699" cy="18719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3216902" y="5327112"/>
            <a:ext cx="3115220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of 2036 value and the leading material type line for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74" y="5317333"/>
            <a:ext cx="128699" cy="18719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447670" y="5327112"/>
            <a:ext cx="2576573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of its segment. Average realisation moves</a:t>
            </a:r>
          </a:p>
        </p:txBody>
      </p:sp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295" y="5317333"/>
            <a:ext cx="128699" cy="18719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9139791" y="5327112"/>
            <a:ext cx="176063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0500" y="5494752"/>
            <a:ext cx="9376345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year, so cost movements cannot be passed on evenly across 6 regions. The practical constraint is the same in either case commercial terms set for the market as 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0500" y="5662392"/>
            <a:ext cx="5940325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whole underserve part of it, and margin is lost in the mismatch rather than in the headline growth rate.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Paper Bottle Market Market Opportunities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 of the key opportunities in the global market and the likelihood of their impact across 2021–2036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825" y="1026740"/>
            <a:ext cx="2038350" cy="259840"/>
          </a:xfrm>
          <a:prstGeom prst="roundRect">
            <a:avLst>
              <a:gd name="adj" fmla="val 1869"/>
            </a:avLst>
          </a:prstGeom>
          <a:solidFill>
            <a:srgbClr val="5B7C99"/>
          </a:solidFill>
          <a:ln w="12700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3825" y="1026740"/>
            <a:ext cx="2038350" cy="25984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Market Opportunities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" y="1397939"/>
            <a:ext cx="9496425" cy="25984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6225" y="1397939"/>
            <a:ext cx="9267825" cy="25984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U.S. Carries the Largest Absolute Opportunity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925" y="1713459"/>
            <a:ext cx="9439275" cy="603199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810750" y="1397939"/>
            <a:ext cx="2238375" cy="371199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Likelihood of impact on 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0750" y="1787699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2021–22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10750" y="1954738"/>
            <a:ext cx="990600" cy="315519"/>
          </a:xfrm>
          <a:prstGeom prst="rect">
            <a:avLst/>
          </a:prstGeom>
          <a:solidFill>
            <a:srgbClr val="FFFFFF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810750" y="1954738"/>
            <a:ext cx="990600" cy="3155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96600" y="1787699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2023–25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96600" y="1954738"/>
            <a:ext cx="990600" cy="315519"/>
          </a:xfrm>
          <a:prstGeom prst="rect">
            <a:avLst/>
          </a:prstGeom>
          <a:solidFill>
            <a:srgbClr val="FFFFFF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896600" y="1954738"/>
            <a:ext cx="990600" cy="315519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0750" y="2316658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2026–28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10750" y="2483697"/>
            <a:ext cx="990600" cy="315519"/>
          </a:xfrm>
          <a:prstGeom prst="rect">
            <a:avLst/>
          </a:prstGeom>
          <a:solidFill>
            <a:srgbClr val="FFFFFF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810750" y="2483697"/>
            <a:ext cx="990600" cy="315519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96600" y="2316658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2029–36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96600" y="2483697"/>
            <a:ext cx="990600" cy="315519"/>
          </a:xfrm>
          <a:prstGeom prst="rect">
            <a:avLst/>
          </a:prstGeom>
          <a:solidFill>
            <a:srgbClr val="FFFFFF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896600" y="2483697"/>
            <a:ext cx="990600" cy="315519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9AA0A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Low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2875" y="3124016"/>
            <a:ext cx="1190625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42875" y="3179696"/>
            <a:ext cx="9496425" cy="25984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76225" y="3179696"/>
            <a:ext cx="9267825" cy="25984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New Zealand Offers Under-penetrated, Above-pace Headroom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1925" y="3495216"/>
            <a:ext cx="9439275" cy="603199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810750" y="3179696"/>
            <a:ext cx="2238375" cy="371199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Likelihood of impact on timeline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0750" y="3569455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2021–22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10750" y="3736495"/>
            <a:ext cx="990600" cy="315519"/>
          </a:xfrm>
          <a:prstGeom prst="rect">
            <a:avLst/>
          </a:prstGeom>
          <a:solidFill>
            <a:srgbClr val="F2C230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810750" y="3736495"/>
            <a:ext cx="990600" cy="315519"/>
          </a:xfrm>
          <a:prstGeom prst="rect">
            <a:avLst/>
          </a:prstGeom>
          <a:solidFill>
            <a:schemeClr val="bg1"/>
          </a:solidFill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4A3A0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96600" y="3569455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2023–25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896600" y="3736495"/>
            <a:ext cx="990600" cy="315519"/>
          </a:xfrm>
          <a:prstGeom prst="rect">
            <a:avLst/>
          </a:prstGeom>
          <a:solidFill>
            <a:srgbClr val="F2C230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896600" y="3736495"/>
            <a:ext cx="990600" cy="315519"/>
          </a:xfrm>
          <a:prstGeom prst="rect">
            <a:avLst/>
          </a:prstGeom>
          <a:solidFill>
            <a:schemeClr val="bg1"/>
          </a:solidFill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4A3A0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10750" y="4098415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2026–28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10750" y="4265454"/>
            <a:ext cx="990600" cy="315519"/>
          </a:xfrm>
          <a:prstGeom prst="rect">
            <a:avLst/>
          </a:prstGeom>
          <a:solidFill>
            <a:srgbClr val="F2C230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810750" y="4265454"/>
            <a:ext cx="990600" cy="315519"/>
          </a:xfrm>
          <a:prstGeom prst="rect">
            <a:avLst/>
          </a:prstGeom>
          <a:solidFill>
            <a:schemeClr val="bg1"/>
          </a:solidFill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4A3A0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96600" y="4098415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2029–36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896600" y="4265454"/>
            <a:ext cx="990600" cy="315519"/>
          </a:xfrm>
          <a:prstGeom prst="rect">
            <a:avLst/>
          </a:prstGeom>
          <a:solidFill>
            <a:srgbClr val="F2C230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896600" y="4265454"/>
            <a:ext cx="990600" cy="315519"/>
          </a:xfrm>
          <a:prstGeom prst="rect">
            <a:avLst/>
          </a:prstGeom>
          <a:solidFill>
            <a:srgbClr val="CC9900"/>
          </a:solidFill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4A3A0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42875" y="4905773"/>
            <a:ext cx="11906250" cy="0"/>
          </a:xfrm>
          <a:prstGeom prst="line">
            <a:avLst/>
          </a:prstGeom>
          <a:ln w="1270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42875" y="4961453"/>
            <a:ext cx="9496425" cy="259840"/>
          </a:xfrm>
          <a:prstGeom prst="rect">
            <a:avLst/>
          </a:prstGeom>
          <a:solidFill>
            <a:srgbClr val="E8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76225" y="4961453"/>
            <a:ext cx="9267825" cy="25984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Household Chemicals &amp; Cleaning Products Opens the Fastest Route to Market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1925" y="5276973"/>
            <a:ext cx="9439275" cy="788799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810750" y="4961453"/>
            <a:ext cx="2238375" cy="371199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Likelihood of impact on timeline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10750" y="5351212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2021–22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10750" y="5518252"/>
            <a:ext cx="990600" cy="315519"/>
          </a:xfrm>
          <a:prstGeom prst="rect">
            <a:avLst/>
          </a:prstGeom>
          <a:solidFill>
            <a:srgbClr val="F9E4A6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810750" y="5518252"/>
            <a:ext cx="990600" cy="315519"/>
          </a:xfrm>
          <a:prstGeom prst="rect">
            <a:avLst/>
          </a:prstGeom>
          <a:solidFill>
            <a:schemeClr val="bg1"/>
          </a:solidFill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B561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Medium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96600" y="5351212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2023–25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896600" y="5518252"/>
            <a:ext cx="990600" cy="315519"/>
          </a:xfrm>
          <a:prstGeom prst="rect">
            <a:avLst/>
          </a:prstGeom>
          <a:solidFill>
            <a:srgbClr val="F9E4A6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0896600" y="5518252"/>
            <a:ext cx="990600" cy="315519"/>
          </a:xfrm>
          <a:prstGeom prst="rect">
            <a:avLst/>
          </a:prstGeom>
          <a:solidFill>
            <a:schemeClr val="bg1"/>
          </a:solidFill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6B561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Medium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10750" y="5880171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2026–28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10750" y="6047211"/>
            <a:ext cx="990600" cy="315519"/>
          </a:xfrm>
          <a:prstGeom prst="rect">
            <a:avLst/>
          </a:prstGeom>
          <a:solidFill>
            <a:srgbClr val="F9E4A6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810750" y="6047211"/>
            <a:ext cx="990600" cy="3155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6B561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Medium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96600" y="5880171"/>
            <a:ext cx="990600" cy="157760"/>
          </a:xfrm>
          <a:prstGeom prst="rect">
            <a:avLst/>
          </a:prstGeom>
          <a:noFill/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2029–36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896600" y="6047211"/>
            <a:ext cx="990600" cy="315519"/>
          </a:xfrm>
          <a:prstGeom prst="rect">
            <a:avLst/>
          </a:prstGeom>
          <a:solidFill>
            <a:srgbClr val="F9E4A6"/>
          </a:solidFill>
          <a:ln w="15875">
            <a:solidFill>
              <a:srgbClr val="A8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896600" y="6047211"/>
            <a:ext cx="990600" cy="315519"/>
          </a:xfrm>
          <a:prstGeom prst="rect">
            <a:avLst/>
          </a:prstGeom>
          <a:solidFill>
            <a:schemeClr val="bg1"/>
          </a:solidFill>
        </p:spPr>
        <p:txBody>
          <a:bodyPr wrap="square" lIns="28575" tIns="9525" rIns="28575" bIns="9525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B561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Medium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0500" y="1763598"/>
            <a:ext cx="662012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'U.S.' adds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63" y="1753819"/>
            <a:ext cx="128699" cy="18719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68059" y="1763598"/>
            <a:ext cx="8433097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US$ Mn between 2026 and 2036 the single largest absolute increment of any geography in the dataset. Capturing it is a question of scale execution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0500" y="1931238"/>
            <a:ext cx="3769245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rather than market creation: demand already exists and grows at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7797" y="1921459"/>
            <a:ext cx="128699" cy="18719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075293" y="1931238"/>
            <a:ext cx="5312494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at the market level. Prioritising supply, channel coverage and service levels there converts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0500" y="2098878"/>
            <a:ext cx="1396801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largest share of the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353" y="2089099"/>
            <a:ext cx="128699" cy="18719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702848" y="2098878"/>
            <a:ext cx="3306489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US$ Mn the whole market adds over the forecast period.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0500" y="3545355"/>
            <a:ext cx="1720403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'New Zealand' compounds at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955" y="3535576"/>
            <a:ext cx="128699" cy="18719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2026450" y="3545355"/>
            <a:ext cx="7517663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CAGR from a below-median base one of 12 geographies in the dataset combining above-median growth with below-median size.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90500" y="3712995"/>
            <a:ext cx="7425456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That profile is where share is cheapest to buy: competitive intensity is lower than in the 34.8%-share leaders, while growth runs +</a:t>
            </a:r>
          </a:p>
        </p:txBody>
      </p:sp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008" y="3703216"/>
            <a:ext cx="128699" cy="18719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7731504" y="3712995"/>
            <a:ext cx="1825144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BPS ahead of the market. Early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0500" y="3880635"/>
            <a:ext cx="4556695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distribution and reference accounts established here compound through 2036.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90500" y="5419912"/>
            <a:ext cx="3054647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'Household Chemicals &amp; Cleaning Products' grows at</a:t>
            </a:r>
          </a:p>
        </p:txBody>
      </p:sp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3199" y="5410133"/>
            <a:ext cx="128699" cy="18719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3360695" y="5419912"/>
            <a:ext cx="3565408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CAGR, the fastest of 6 end use application routes, and adds</a:t>
            </a:r>
          </a:p>
        </p:txBody>
      </p:sp>
      <p:pic>
        <p:nvPicPr>
          <p:cNvPr id="87" name="Picture 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155" y="5410133"/>
            <a:ext cx="128699" cy="187198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7041651" y="5419912"/>
            <a:ext cx="2269380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US$ Mn over the forecast period while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0500" y="5587552"/>
            <a:ext cx="3798441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'Beverages (Water, Juices, Dairy, Alcoholic Beverages)' still carries</a:t>
            </a:r>
          </a:p>
        </p:txBody>
      </p:sp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992" y="5577773"/>
            <a:ext cx="128699" cy="18719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104488" y="5587552"/>
            <a:ext cx="5400352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of demand today. Pairing the incumbent route for volume with the fastest route for growth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0500" y="5755192"/>
            <a:ext cx="2764333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leading with 'Recycled Paper Composite' at</a:t>
            </a:r>
          </a:p>
        </p:txBody>
      </p:sp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2885" y="5745413"/>
            <a:ext cx="128699" cy="187198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3070381" y="5755192"/>
            <a:ext cx="3269108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is the highest-yield combination the dataset supports.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70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3D85C6"/>
      </a:accent1>
      <a:accent2>
        <a:srgbClr val="9E7E0A"/>
      </a:accent2>
      <a:accent3>
        <a:srgbClr val="40315E"/>
      </a:accent3>
      <a:accent4>
        <a:srgbClr val="008189"/>
      </a:accent4>
      <a:accent5>
        <a:srgbClr val="A35313"/>
      </a:accent5>
      <a:accent6>
        <a:srgbClr val="5F5F5F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698</Words>
  <Application>Microsoft Office PowerPoint</Application>
  <PresentationFormat>Widescreen</PresentationFormat>
  <Paragraphs>108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1_Office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Sayali Patil</dc:creator>
  <cp:lastModifiedBy>Sayali Patil</cp:lastModifiedBy>
  <cp:revision>1</cp:revision>
  <dcterms:created xsi:type="dcterms:W3CDTF">2026-10-01T08:57:39Z</dcterms:created>
  <dcterms:modified xsi:type="dcterms:W3CDTF">2026-10-01T08:59:31Z</dcterms:modified>
</cp:coreProperties>
</file>